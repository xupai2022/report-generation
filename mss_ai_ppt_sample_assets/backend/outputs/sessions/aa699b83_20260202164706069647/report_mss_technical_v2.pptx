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1365" cy="6858000" type="screen4x3"/>
  <p:notesSz cx="6858000" cy="9144000"/>
  <p:custDataLst>
    <p:tags r:id="rId1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ableStyles" Target="tableStyles.xml"/><Relationship Id="rId16" Type="http://schemas.openxmlformats.org/officeDocument/2006/relationships/tags" Target="tags/tag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microsoft.com/office/2011/relationships/chartStyle" Target="style1.xml"/><Relationship Id="rId3" Type="http://schemas.microsoft.com/office/2011/relationships/chartColorStyle" Target="colors1.xml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openxmlformats.org/officeDocument/2006/relationships/themeOverride" Target="../theme/themeOverride1.xml"/><Relationship Id="rId3" Type="http://schemas.microsoft.com/office/2011/relationships/chartStyle" Target="style2.xml"/><Relationship Id="rId4" Type="http://schemas.microsoft.com/office/2011/relationships/chartColorStyle" Target="colors2.xm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openxmlformats.org/officeDocument/2006/relationships/themeOverride" Target="../theme/themeOverride2.xml"/><Relationship Id="rId3" Type="http://schemas.microsoft.com/office/2011/relationships/chartStyle" Target="style3.xml"/><Relationship Id="rId4" Type="http://schemas.microsoft.com/office/2011/relationships/chartColorStyle" Target="colors3.xml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openxmlformats.org/officeDocument/2006/relationships/themeOverride" Target="../theme/themeOverride3.xml"/><Relationship Id="rId3" Type="http://schemas.microsoft.com/office/2011/relationships/chartStyle" Target="style4.xml"/><Relationship Id="rId4" Type="http://schemas.microsoft.com/office/2011/relationships/chartColorStyle" Target="colors4.xml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microsoft.com/office/2011/relationships/chartStyle" Target="style5.xml"/><Relationship Id="rId3" Type="http://schemas.microsoft.com/office/2011/relationships/chartColorStyle" Target="colors5.xml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Relationship Id="rId2" Type="http://schemas.microsoft.com/office/2011/relationships/chartStyle" Target="style6.xml"/><Relationship Id="rId3" Type="http://schemas.microsoft.com/office/2011/relationships/chartColorStyle" Target="colors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614410134600158"/>
          <c:y val="0.197183098591549"/>
          <c:w val="0.909527579836368"/>
          <c:h val="0.64321382842509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告警数量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1099</c:v>
                </c:pt>
                <c:pt idx="1">
                  <c:v>1005</c:v>
                </c:pt>
                <c:pt idx="2">
                  <c:v>1002</c:v>
                </c:pt>
                <c:pt idx="3">
                  <c:v>2988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46"/>
        <c:overlap val="-28"/>
        <c:axId val="590885613"/>
        <c:axId val="82692506"/>
      </c:barChart>
      <c:catAx>
        <c:axId val="590885613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82692506"/>
        <c:crosses val="autoZero"/>
        <c:auto val="1"/>
        <c:lblAlgn val="ctr"/>
        <c:lblOffset val="100"/>
        <c:noMultiLvlLbl val="0"/>
      </c:catAx>
      <c:valAx>
        <c:axId val="82692506"/>
        <c:scaling>
          <c:orientation val="minMax"/>
        </c:scaling>
        <c:delete val="0"/>
        <c:axPos val="l"/>
        <c:numFmt formatCode="0.0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59088561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prstDash val="solid"/>
      <a:round/>
    </a:ln>
    <a:effectLst/>
  </c:spPr>
  <c:txPr>
    <a:bodyPr/>
    <a:lstStyle/>
    <a:p>
      <a:pPr>
        <a:defRPr lang="zh-CN">
          <a:solidFill>
            <a:schemeClr val="tx1"/>
          </a:solidFill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</c:spPr>
          <c:explosion val="0"/>
          <c:dPt>
            <c:idx val="0"/>
            <c:bubble3D val="0"/>
            <c:spPr>
              <a:solidFill>
                <a:schemeClr val="accent1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 forceAA="0">
                <a:spAutoFit/>
              </a:bodyPr>
              <a:lstStyle/>
              <a:p>
                <a:pPr>
                  <a:defRPr lang="zh-CN" sz="900" b="0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挖矿</c:v>
                </c:pt>
                <c:pt idx="1">
                  <c:v>僵尸网络</c:v>
                </c:pt>
                <c:pt idx="2">
                  <c:v>木马</c:v>
                </c:pt>
                <c:pt idx="3">
                  <c:v>账号爆破</c:v>
                </c:pt>
                <c:pt idx="4">
                  <c:v>代理工具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200</c:v>
                </c:pt>
                <c:pt idx="3">
                  <c:v>200</c:v>
                </c:pt>
                <c:pt idx="4">
                  <c:v>400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4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ayout>
        <c:manualLayout>
          <c:xMode val="edge"/>
          <c:yMode val="edge"/>
          <c:x val="0.753644622860765"/>
          <c:y val="0.229474852071006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bg2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</a:p>
      </c:txPr>
    </c:legend>
    <c:plotVisOnly val="1"/>
    <c:dispBlanksAs val="gap"/>
    <c:showDLblsOverMax val="0"/>
  </c:chart>
  <c:spPr>
    <a:noFill/>
    <a:ln w="6350" cap="flat" cmpd="sng" algn="ctr">
      <a:noFill/>
      <a:round/>
    </a:ln>
    <a:effectLst/>
  </c:spPr>
  <c:txPr>
    <a:bodyPr/>
    <a:lstStyle/>
    <a:p>
      <a:pPr>
        <a:defRPr lang="zh-CN">
          <a:solidFill>
            <a:schemeClr val="bg2">
              <a:lumMod val="10000"/>
            </a:schemeClr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>
                <a:solidFill>
                  <a:schemeClr val="bg1"/>
                </a:solidFill>
              </a:ln>
              <a:effectLst/>
            </c:spPr>
          </c:dPt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 forceAA="0"/>
              <a:lstStyle/>
              <a:p>
                <a:pPr>
                  <a:defRPr lang="zh-CN" sz="800" b="0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服务器</c:v>
                </c:pt>
                <c:pt idx="1">
                  <c:v>终端</c:v>
                </c:pt>
                <c:pt idx="2">
                  <c:v>网络设备</c:v>
                </c:pt>
                <c:pt idx="3">
                  <c:v>安全设备</c:v>
                </c:pt>
                <c:pt idx="4">
                  <c:v>物联网设备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120</c:v>
                </c:pt>
                <c:pt idx="1">
                  <c:v>100</c:v>
                </c:pt>
                <c:pt idx="2">
                  <c:v>200</c:v>
                </c:pt>
                <c:pt idx="3">
                  <c:v>200</c:v>
                </c:pt>
                <c:pt idx="4">
                  <c:v>400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4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ayout>
        <c:manualLayout>
          <c:xMode val="edge"/>
          <c:yMode val="edge"/>
          <c:x val="0.752842459804959"/>
          <c:y val="0.255978230895547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>
            <a:defRPr lang="zh-CN" sz="800" b="0" i="0" u="none" strike="noStrike" kern="1200" baseline="0">
              <a:solidFill>
                <a:schemeClr val="bg2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</a:p>
      </c:txPr>
    </c:legend>
    <c:plotVisOnly val="1"/>
    <c:dispBlanksAs val="gap"/>
    <c:showDLblsOverMax val="0"/>
  </c:chart>
  <c:spPr>
    <a:noFill/>
    <a:ln w="6350" cap="flat" cmpd="sng" algn="ctr">
      <a:noFill/>
      <a:round/>
    </a:ln>
    <a:effectLst/>
  </c:spPr>
  <c:txPr>
    <a:bodyPr/>
    <a:lstStyle/>
    <a:p>
      <a:pPr>
        <a:defRPr lang="zh-CN" sz="800">
          <a:solidFill>
            <a:schemeClr val="tx1">
              <a:lumMod val="75000"/>
              <a:lumOff val="25000"/>
            </a:schemeClr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rgbClr val="70AD47"/>
              </a:solidFill>
              <a:ln>
                <a:solidFill>
                  <a:srgbClr val="FFFFFF"/>
                </a:solidFill>
              </a:ln>
              <a:effectLst/>
            </c:spPr>
          </c:dPt>
          <c:dPt>
            <c:idx val="1"/>
            <c:bubble3D val="0"/>
            <c:spPr>
              <a:solidFill>
                <a:srgbClr val="5B9BD5"/>
              </a:solidFill>
              <a:ln>
                <a:solidFill>
                  <a:srgbClr val="FFFFFF"/>
                </a:solidFill>
              </a:ln>
              <a:effectLst/>
            </c:spPr>
          </c:dPt>
          <c:dPt>
            <c:idx val="2"/>
            <c:bubble3D val="0"/>
            <c:spPr>
              <a:solidFill>
                <a:srgbClr val="FFC000"/>
              </a:solidFill>
              <a:ln>
                <a:solidFill>
                  <a:srgbClr val="FFFFFF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rgbClr val="000000">
                          <a:lumMod val="35000"/>
                          <a:lumOff val="65000"/>
                        </a:srgb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高危</c:v>
                </c:pt>
                <c:pt idx="1">
                  <c:v>中危</c:v>
                </c:pt>
                <c:pt idx="2">
                  <c:v>低危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</c:v>
                </c:pt>
                <c:pt idx="1">
                  <c:v>837</c:v>
                </c:pt>
                <c:pt idx="2">
                  <c:v>9914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>
            <a:defRPr lang="zh-CN" sz="800" b="0" i="0" u="none" strike="noStrike" kern="1200" baseline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</a:p>
      </c:txPr>
    </c:legend>
    <c:plotVisOnly val="1"/>
    <c:dispBlanksAs val="gap"/>
    <c:showDLblsOverMax val="0"/>
  </c:chart>
  <c:spPr>
    <a:noFill/>
    <a:ln w="6350" cap="flat" cmpd="sng" algn="ctr">
      <a:noFill/>
      <a:round/>
    </a:ln>
    <a:effectLst/>
  </c:spPr>
  <c:txPr>
    <a:bodyPr/>
    <a:lstStyle/>
    <a:p>
      <a:pPr>
        <a:defRPr lang="zh-CN" sz="800">
          <a:solidFill>
            <a:srgbClr val="000000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外部攻击数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tx>
                <c:rich>
                  <a:bodyPr/>
                  <a:lstStyle/>
                  <a:p>
                    <a:r>
                      <a:t>12万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13.8万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14.2万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12.8万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0.2万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12.0</c:v>
                </c:pt>
                <c:pt idx="1">
                  <c:v>13.7897</c:v>
                </c:pt>
                <c:pt idx="2">
                  <c:v>14.2</c:v>
                </c:pt>
                <c:pt idx="3">
                  <c:v>12.7558</c:v>
                </c:pt>
                <c:pt idx="4">
                  <c:v>0.1867</c:v>
                </c:pt>
                <c:pt idx="5">
                  <c:v>0.0178</c:v>
                </c:pt>
                <c:pt idx="6">
                  <c:v>0.0165</c:v>
                </c:pt>
                <c:pt idx="7">
                  <c:v>0.0182</c:v>
                </c:pt>
                <c:pt idx="8">
                  <c:v>0.0195</c:v>
                </c:pt>
                <c:pt idx="9">
                  <c:v>0.0201</c:v>
                </c:pt>
                <c:pt idx="10">
                  <c:v>0.0188</c:v>
                </c:pt>
                <c:pt idx="11">
                  <c:v>0.0175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恶意外联数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tx>
                <c:rich>
                  <a:bodyPr/>
                  <a:lstStyle/>
                  <a:p>
                    <a:r>
                      <a:t>45.7万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50.7万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76.8万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68.0万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0.0万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45.6756</c:v>
                </c:pt>
                <c:pt idx="1">
                  <c:v>50.7297</c:v>
                </c:pt>
                <c:pt idx="2">
                  <c:v>76.7648</c:v>
                </c:pt>
                <c:pt idx="3">
                  <c:v>67.9771</c:v>
                </c:pt>
                <c:pt idx="4">
                  <c:v>0.0073</c:v>
                </c:pt>
                <c:pt idx="5">
                  <c:v>0.0068</c:v>
                </c:pt>
                <c:pt idx="6">
                  <c:v>0.0082</c:v>
                </c:pt>
                <c:pt idx="7">
                  <c:v>0.0079</c:v>
                </c:pt>
                <c:pt idx="8">
                  <c:v>0.0088</c:v>
                </c:pt>
                <c:pt idx="9">
                  <c:v>0.0095</c:v>
                </c:pt>
                <c:pt idx="10">
                  <c:v>0.0091</c:v>
                </c:pt>
                <c:pt idx="11">
                  <c:v>0.0086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0"/>
        <c:smooth val="0"/>
        <c:axId val="829985891"/>
        <c:axId val="617127009"/>
      </c:lineChart>
      <c:dateAx>
        <c:axId val="829985891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17127009"/>
        <c:crosses val="autoZero"/>
        <c:auto val="1"/>
        <c:lblOffset val="100"/>
        <c:baseTimeUnit val="months"/>
      </c:dateAx>
      <c:valAx>
        <c:axId val="617127009"/>
        <c:scaling>
          <c:orientation val="minMax"/>
        </c:scaling>
        <c:delete val="1"/>
        <c:axPos val="l"/>
        <c:numFmt formatCode="0\.0,&quot;万&quot;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8299858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rgbClr val="333333"/>
              </a:solidFill>
              <a:latin typeface="微软雅黑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zh-CN" sz="600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日均攻击数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500" b="0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中秋（24/9/15-9/17）</c:v>
                </c:pt>
                <c:pt idx="1">
                  <c:v>国庆（24/10/1-10/7）</c:v>
                </c:pt>
                <c:pt idx="2">
                  <c:v>元旦（25/1/1）</c:v>
                </c:pt>
                <c:pt idx="3">
                  <c:v>周四</c:v>
                </c:pt>
                <c:pt idx="4">
                  <c:v>周五</c:v>
                </c:pt>
                <c:pt idx="5">
                  <c:v>周六</c:v>
                </c:pt>
                <c:pt idx="6">
                  <c:v>周日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654</c:v>
                </c:pt>
                <c:pt idx="1">
                  <c:v>145</c:v>
                </c:pt>
                <c:pt idx="2">
                  <c:v>167</c:v>
                </c:pt>
                <c:pt idx="3">
                  <c:v>189</c:v>
                </c:pt>
                <c:pt idx="4">
                  <c:v>201</c:v>
                </c:pt>
                <c:pt idx="5">
                  <c:v>178</c:v>
                </c:pt>
                <c:pt idx="6">
                  <c:v>156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52361593"/>
        <c:axId val="478519395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防御率</c:v>
                </c:pt>
              </c:strCache>
            </c:strRef>
          </c:tx>
          <c:spPr>
            <a:ln w="28575" cap="rnd">
              <a:solidFill>
                <a:srgbClr val="00D860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Sheet1!$A$2:$A$8</c:f>
              <c:strCache>
                <c:ptCount val="7"/>
                <c:pt idx="0">
                  <c:v>中秋（24/9/15-9/17）</c:v>
                </c:pt>
                <c:pt idx="1">
                  <c:v>国庆（24/10/1-10/7）</c:v>
                </c:pt>
                <c:pt idx="2">
                  <c:v>元旦（25/1/1）</c:v>
                </c:pt>
                <c:pt idx="3">
                  <c:v>周四</c:v>
                </c:pt>
                <c:pt idx="4">
                  <c:v>周五</c:v>
                </c:pt>
                <c:pt idx="5">
                  <c:v>周六</c:v>
                </c:pt>
                <c:pt idx="6">
                  <c:v>周日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1.0</c:v>
                </c:pt>
                <c:pt idx="1">
                  <c:v>0.98</c:v>
                </c:pt>
                <c:pt idx="2">
                  <c:v>0.99</c:v>
                </c:pt>
                <c:pt idx="3">
                  <c:v>1.0</c:v>
                </c:pt>
                <c:pt idx="4">
                  <c:v>0.97</c:v>
                </c:pt>
                <c:pt idx="5">
                  <c:v>0.99</c:v>
                </c:pt>
                <c:pt idx="6">
                  <c:v>1.0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725296953"/>
        <c:axId val="406196429"/>
      </c:lineChart>
      <c:catAx>
        <c:axId val="452361593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78519395"/>
        <c:crosses val="autoZero"/>
        <c:auto val="1"/>
        <c:lblAlgn val="ctr"/>
        <c:lblOffset val="100"/>
        <c:noMultiLvlLbl val="0"/>
      </c:catAx>
      <c:valAx>
        <c:axId val="478519395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52361593"/>
        <c:crosses val="autoZero"/>
        <c:crossBetween val="between"/>
      </c:valAx>
      <c:catAx>
        <c:axId val="725296953"/>
        <c:scaling>
          <c:orientation val="minMax"/>
        </c:scaling>
        <c:delete val="1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06196429"/>
        <c:crosses val="autoZero"/>
        <c:auto val="1"/>
        <c:lblAlgn val="ctr"/>
        <c:lblOffset val="100"/>
        <c:noMultiLvlLbl val="0"/>
      </c:catAx>
      <c:valAx>
        <c:axId val="406196429"/>
        <c:scaling>
          <c:orientation val="minMax"/>
        </c:scaling>
        <c:delete val="0"/>
        <c:axPos val="r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25296953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500" b="0" i="0" u="none" strike="noStrike" kern="1200" baseline="0">
              <a:solidFill>
                <a:schemeClr val="bg2">
                  <a:lumMod val="10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zh-CN" sz="500">
          <a:solidFill>
            <a:schemeClr val="bg2">
              <a:lumMod val="10000"/>
            </a:schemeClr>
          </a:solidFill>
        </a:defRPr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1010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10109">
  <cs:axisTitle>
    <cs:lnRef idx="0"/>
    <cs:fillRef idx="0"/>
    <cs:effectRef idx="0"/>
    <cs:fontRef idx="minor">
      <a:srgbClr val="000000">
        <a:lumMod val="65000"/>
        <a:lumOff val="35000"/>
      </a:srgbClr>
    </cs:fontRef>
    <cs:defRPr sz="1000" kern="1200"/>
  </cs:axisTitle>
  <cs:categoryAxis>
    <cs:lnRef idx="0"/>
    <cs:fillRef idx="0"/>
    <cs:effectRef idx="0"/>
    <cs:fontRef idx="minor">
      <a:srgbClr val="000000">
        <a:lumMod val="65000"/>
        <a:lumOff val="35000"/>
      </a:srgbClr>
    </cs:fontRef>
    <cs:spPr>
      <a:ln w="9525" cap="flat" cmpd="sng" algn="ctr">
        <a:solidFill>
          <a:srgbClr val="000000">
            <a:lumMod val="15000"/>
            <a:lumOff val="85000"/>
          </a:srgb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rgbClr val="000000"/>
    </cs:fontRef>
    <cs:spPr>
      <a:solidFill>
        <a:srgbClr val="FFFFFF"/>
      </a:solidFill>
      <a:ln w="9525" cap="flat" cmpd="sng" algn="ctr">
        <a:solidFill>
          <a:srgbClr val="000000">
            <a:lumMod val="15000"/>
            <a:lumOff val="85000"/>
          </a:srgbClr>
        </a:solidFill>
        <a:round/>
      </a:ln>
    </cs:spPr>
    <cs:defRPr sz="900" kern="1200"/>
  </cs:chartArea>
  <cs:dataLabel>
    <cs:lnRef idx="0"/>
    <cs:fillRef idx="0"/>
    <cs:effectRef idx="0"/>
    <cs:fontRef idx="minor">
      <a:srgbClr val="000000">
        <a:lumMod val="75000"/>
        <a:lumOff val="25000"/>
      </a:srgbClr>
    </cs:fontRef>
    <cs:defRPr sz="1000" kern="1200"/>
  </cs:dataLabel>
  <cs:dataLabelCallout>
    <cs:lnRef idx="0"/>
    <cs:fillRef idx="0"/>
    <cs:effectRef idx="0"/>
    <cs:fontRef idx="minor">
      <a:srgbClr val="000000">
        <a:lumMod val="65000"/>
        <a:lumOff val="35000"/>
      </a:srgbClr>
    </cs:fontRef>
    <cs:spPr>
      <a:solidFill>
        <a:srgbClr val="FFFFFF"/>
      </a:solidFill>
      <a:ln>
        <a:solidFill>
          <a:srgbClr val="000000">
            <a:lumMod val="25000"/>
            <a:lumOff val="75000"/>
          </a:srgb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rgbClr val="000000"/>
    </cs:fontRef>
    <cs:spPr>
      <a:ln>
        <a:solidFill>
          <a:srgbClr val="FFFFFF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rgbClr val="000000"/>
    </cs:fontRef>
    <cs:spPr>
      <a:ln w="25400">
        <a:solidFill>
          <a:srgbClr val="FFFFFF"/>
        </a:solidFill>
      </a:ln>
    </cs:spPr>
  </cs:dataPoint3D>
  <cs:dataPointLine>
    <cs:lnRef idx="0">
      <cs:styleClr val="auto"/>
    </cs:lnRef>
    <cs:fillRef idx="0"/>
    <cs:effectRef idx="0"/>
    <cs:fontRef idx="minor">
      <a:srgbClr val="000000"/>
    </cs:fontRef>
    <cs:spPr>
      <a:ln w="28575" cap="rnd">
        <a:solidFill>
          <a:srgbClr val="FFFFFF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rgbClr val="000000"/>
    </cs:fontRef>
    <cs:spPr>
      <a:ln w="9525">
        <a:solidFill>
          <a:srgbClr val="FFFFFF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rgbClr val="000000"/>
    </cs:fontRef>
    <cs:spPr>
      <a:ln w="9525" cap="rnd">
        <a:solidFill>
          <a:srgbClr val="FFFFFF"/>
        </a:solidFill>
        <a:round/>
      </a:ln>
    </cs:spPr>
  </cs:dataPointWireframe>
  <cs:dataTable>
    <cs:lnRef idx="0"/>
    <cs:fillRef idx="0"/>
    <cs:effectRef idx="0"/>
    <cs:fontRef idx="minor">
      <a:srgbClr val="000000">
        <a:lumMod val="65000"/>
        <a:lumOff val="35000"/>
      </a:srgbClr>
    </cs:fontRef>
    <cs:spPr>
      <a:noFill/>
      <a:ln w="9525" cap="flat" cmpd="sng" algn="ctr">
        <a:solidFill>
          <a:srgbClr val="000000">
            <a:lumMod val="15000"/>
            <a:lumOff val="85000"/>
          </a:srgbClr>
        </a:solidFill>
        <a:round/>
      </a:ln>
    </cs:spPr>
    <cs:defRPr sz="900" kern="1200"/>
  </cs:dataTable>
  <cs:downBar>
    <cs:lnRef idx="0"/>
    <cs:fillRef idx="0"/>
    <cs:effectRef idx="0"/>
    <cs:fontRef idx="minor">
      <a:srgbClr val="000000"/>
    </cs:fontRef>
    <cs:spPr>
      <a:solidFill>
        <a:srgbClr val="000000">
          <a:lumMod val="75000"/>
          <a:lumOff val="25000"/>
        </a:srgbClr>
      </a:solidFill>
      <a:ln w="9525" cap="flat" cmpd="sng" algn="ctr">
        <a:solidFill>
          <a:srgbClr val="000000">
            <a:lumMod val="65000"/>
            <a:lumOff val="35000"/>
          </a:srgbClr>
        </a:solidFill>
        <a:round/>
      </a:ln>
    </cs:spPr>
  </cs:downBar>
  <cs:dropLine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35000"/>
            <a:lumOff val="65000"/>
          </a:srgbClr>
        </a:solidFill>
        <a:round/>
      </a:ln>
    </cs:spPr>
  </cs:dropLine>
  <cs:errorBar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65000"/>
            <a:lumOff val="35000"/>
          </a:srgbClr>
        </a:solidFill>
        <a:round/>
      </a:ln>
    </cs:spPr>
  </cs:errorBar>
  <cs:floor>
    <cs:lnRef idx="0"/>
    <cs:fillRef idx="0"/>
    <cs:effectRef idx="0"/>
    <cs:fontRef idx="minor">
      <a:srgbClr val="000000"/>
    </cs:fontRef>
    <cs:spPr>
      <a:noFill/>
      <a:ln>
        <a:noFill/>
      </a:ln>
    </cs:spPr>
  </cs:floor>
  <cs:gridlineMajor>
    <cs:lnRef idx="0"/>
    <cs:fillRef idx="0"/>
    <cs:effectRef idx="0"/>
    <cs:fontRef idx="minor">
      <a:srgbClr val="000000"/>
    </cs:fontRef>
    <cs:spPr>
      <a:ln w="9525" cap="flat" cmpd="sng" algn="ctr">
        <a:solidFill>
          <a:srgbClr val="FFFFFF">
            <a:lumMod val="90200"/>
          </a:srgbClr>
        </a:solidFill>
        <a:round/>
      </a:ln>
    </cs:spPr>
  </cs:gridlineMajor>
  <cs:gridlineMinor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5000"/>
            <a:lumOff val="95000"/>
          </a:srgbClr>
        </a:solidFill>
        <a:round/>
      </a:ln>
    </cs:spPr>
  </cs:gridlineMinor>
  <cs:hiLoLine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50000"/>
            <a:lumOff val="50000"/>
          </a:srgbClr>
        </a:solidFill>
        <a:round/>
      </a:ln>
    </cs:spPr>
  </cs:hiLoLine>
  <cs:leaderLine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35000"/>
            <a:lumOff val="65000"/>
          </a:srgbClr>
        </a:solidFill>
        <a:round/>
      </a:ln>
    </cs:spPr>
  </cs:leaderLine>
  <cs:legend>
    <cs:lnRef idx="0"/>
    <cs:fillRef idx="0"/>
    <cs:effectRef idx="0"/>
    <cs:fontRef idx="minor">
      <a:srgbClr val="000000">
        <a:lumMod val="65000"/>
        <a:lumOff val="35000"/>
      </a:srgbClr>
    </cs:fontRef>
    <cs:defRPr sz="900" kern="1200"/>
  </cs:legend>
  <cs:plotArea mods="allowNoFillOverride allowNoLineOverride">
    <cs:lnRef idx="0"/>
    <cs:fillRef idx="0"/>
    <cs:effectRef idx="0"/>
    <cs:fontRef idx="minor">
      <a:srgbClr val="000000"/>
    </cs:fontRef>
  </cs:plotArea>
  <cs:plotArea3D mods="allowNoFillOverride allowNoLineOverride">
    <cs:lnRef idx="0"/>
    <cs:fillRef idx="0"/>
    <cs:effectRef idx="0"/>
    <cs:fontRef idx="minor">
      <a:srgbClr val="000000"/>
    </cs:fontRef>
  </cs:plotArea3D>
  <cs:seriesAxis>
    <cs:lnRef idx="0"/>
    <cs:fillRef idx="0"/>
    <cs:effectRef idx="0"/>
    <cs:fontRef idx="minor">
      <a:srgbClr val="000000">
        <a:lumMod val="65000"/>
        <a:lumOff val="35000"/>
      </a:srgbClr>
    </cs:fontRef>
    <cs:defRPr sz="900" kern="1200"/>
  </cs:seriesAxis>
  <cs:seriesLine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35000"/>
            <a:lumOff val="65000"/>
          </a:srgbClr>
        </a:solidFill>
        <a:round/>
      </a:ln>
    </cs:spPr>
  </cs:seriesLine>
  <cs:title>
    <cs:lnRef idx="0"/>
    <cs:fillRef idx="0"/>
    <cs:effectRef idx="0"/>
    <cs:fontRef idx="minor">
      <a:srgbClr val="000000">
        <a:lumMod val="75000"/>
        <a:lumOff val="25000"/>
      </a:srgbClr>
    </cs:fontRef>
    <cs:defRPr sz="1400" b="1" kern="1200" baseline="0"/>
  </cs:title>
  <cs:trendline>
    <cs:lnRef idx="0">
      <cs:styleClr val="auto"/>
    </cs:lnRef>
    <cs:fillRef idx="0"/>
    <cs:effectRef idx="0"/>
    <cs:fontRef idx="minor">
      <a:srgbClr val="000000"/>
    </cs:fontRef>
    <cs:spPr>
      <a:ln w="19050" cap="rnd">
        <a:solidFill>
          <a:srgbClr val="FFFFFF"/>
        </a:solidFill>
        <a:prstDash val="sysDot"/>
      </a:ln>
    </cs:spPr>
  </cs:trendline>
  <cs:trendlineLabel>
    <cs:lnRef idx="0"/>
    <cs:fillRef idx="0"/>
    <cs:effectRef idx="0"/>
    <cs:fontRef idx="minor">
      <a:srgbClr val="000000">
        <a:lumMod val="65000"/>
        <a:lumOff val="35000"/>
      </a:srgbClr>
    </cs:fontRef>
    <cs:defRPr sz="900" kern="1200"/>
  </cs:trendlineLabel>
  <cs:upBar>
    <cs:lnRef idx="0"/>
    <cs:fillRef idx="0"/>
    <cs:effectRef idx="0"/>
    <cs:fontRef idx="minor">
      <a:srgbClr val="000000"/>
    </cs:fontRef>
    <cs:spPr>
      <a:solidFill>
        <a:srgbClr val="FFFFFF"/>
      </a:solidFill>
      <a:ln w="9525" cap="flat" cmpd="sng" algn="ctr">
        <a:solidFill>
          <a:srgbClr val="000000">
            <a:lumMod val="65000"/>
            <a:lumOff val="35000"/>
          </a:srgbClr>
        </a:solidFill>
        <a:round/>
      </a:ln>
    </cs:spPr>
  </cs:upBar>
  <cs:valueAxis>
    <cs:lnRef idx="0"/>
    <cs:fillRef idx="0"/>
    <cs:effectRef idx="0"/>
    <cs:fontRef idx="minor">
      <a:srgbClr val="000000">
        <a:lumMod val="65000"/>
        <a:lumOff val="35000"/>
      </a:srgbClr>
    </cs:fontRef>
    <cs:defRPr sz="900" kern="1200"/>
  </cs:valueAxis>
  <cs:wall>
    <cs:lnRef idx="0"/>
    <cs:fillRef idx="0"/>
    <cs:effectRef idx="0"/>
    <cs:fontRef idx="minor">
      <a:srgbClr val="000000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1002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solidFill>
          <a:schemeClr val="phClr"/>
        </a:soli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10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chart" Target="../charts/chart4.xml"/><Relationship Id="rId3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6.xml"/><Relationship Id="rId2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10881360" cy="8686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3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ACME 电子商务 MSS月度安全报告（技术版）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315968"/>
            <a:ext cx="676656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客户：ACME 电子商务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873752"/>
            <a:ext cx="676656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报告周期：2025-11-01 ~ 2025-11-30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330952"/>
            <a:ext cx="676656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技术详细版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742432"/>
            <a:ext cx="676656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密级：INTERNAL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153912"/>
            <a:ext cx="676656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生成时间：2025-12-10T09:29:56Z</a:t>
            </a:r>
          </a:p>
        </p:txBody>
      </p:sp>
      <p:graphicFrame>
        <p:nvGraphicFramePr>
          <p:cNvPr id="25" name="图表 24"/>
          <p:cNvGraphicFramePr/>
          <p:nvPr/>
        </p:nvGraphicFramePr>
        <p:xfrm>
          <a:off x="8156575" y="4389120"/>
          <a:ext cx="3390265" cy="22948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4" name="图表 13" descr="7b0a202020202263686172745265734964223a20223230343736383734220a7d0a"/>
          <p:cNvGraphicFramePr/>
          <p:nvPr/>
        </p:nvGraphicFramePr>
        <p:xfrm>
          <a:off x="5151120" y="1000125"/>
          <a:ext cx="3005455" cy="1717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安全态势仪表盘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78992"/>
            <a:ext cx="10881360" cy="31089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52628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技术评估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892040"/>
            <a:ext cx="10881360" cy="1600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本期检测到12,414条告警（高危62/中危837/低危9,914），威胁类型以账号爆破（+11%）和云配置错误（+25%）增长显著。MTTD 31分钟/MTTR 2.8小时，EDR覆盖率达91%，但低危告警占比超80%暴露检测精度不足。云环境暴露面存在12个公网IP和17台SSH服务暴露资产，需加强最小化暴露策略。</a:t>
            </a:r>
          </a:p>
        </p:txBody>
      </p:sp>
      <p:graphicFrame>
        <p:nvGraphicFramePr>
          <p:cNvPr id="30" name="图表 29" descr="7b0a202020202263686172745265734964223a20223230323931393734220a7d0a"/>
          <p:cNvGraphicFramePr/>
          <p:nvPr/>
        </p:nvGraphicFramePr>
        <p:xfrm>
          <a:off x="1065530" y="1953260"/>
          <a:ext cx="2987993" cy="16862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0" name="图表 9" descr="7b0a202020202263686172745265734964223a20223230323931393734220a7d0a"/>
          <p:cNvGraphicFramePr/>
          <p:nvPr/>
        </p:nvGraphicFramePr>
        <p:xfrm>
          <a:off x="6983095" y="2689543"/>
          <a:ext cx="3010535" cy="18364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告警深度分析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严重程度分布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231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Top告警规则</a:t>
            </a:r>
          </a:p>
        </p:txBody>
      </p:sp>
      <p:sp>
        <p:nvSpPr>
          <p:cNvPr id="16" name="TextBox 5"/>
          <p:cNvSpPr txBox="1"/>
          <p:nvPr/>
        </p:nvSpPr>
        <p:spPr>
          <a:xfrm>
            <a:off x="777240" y="1417320"/>
            <a:ext cx="10881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1624330" y="3891915"/>
            <a:ext cx="11106150" cy="3486785"/>
            <a:chOff x="2042" y="13744"/>
            <a:chExt cx="34390" cy="3714"/>
          </a:xfrm>
        </p:grpSpPr>
        <p:sp>
          <p:nvSpPr>
            <p:cNvPr id="20" name="Shape 1"/>
            <p:cNvSpPr/>
            <p:nvPr/>
          </p:nvSpPr>
          <p:spPr>
            <a:xfrm>
              <a:off x="2042" y="13744"/>
              <a:ext cx="34390" cy="3714"/>
            </a:xfrm>
            <a:prstGeom prst="roundRect">
              <a:avLst>
                <a:gd name="adj" fmla="val 6757"/>
              </a:avLst>
            </a:prstGeom>
            <a:noFill/>
            <a:ln w="12700">
              <a:solidFill>
                <a:srgbClr val="CCE1F5"/>
              </a:solidFill>
              <a:prstDash val="solid"/>
            </a:ln>
          </p:spPr>
        </p:sp>
        <p:graphicFrame>
          <p:nvGraphicFramePr>
            <p:cNvPr id="29" name="图表 28"/>
            <p:cNvGraphicFramePr/>
            <p:nvPr/>
          </p:nvGraphicFramePr>
          <p:xfrm>
            <a:off x="2318" y="13879"/>
            <a:ext cx="33839" cy="339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"/>
            </a:graphicData>
          </a:graphic>
        </p:graphicFrame>
      </p:grp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777240" y="2788920"/>
          <a:ext cx="51663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1590"/>
                <a:gridCol w="1291590"/>
                <a:gridCol w="1291590"/>
                <a:gridCol w="129159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规则ID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规则名称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触发次数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误报率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R-SSH-BRUTE-01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SSH 暴力破解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857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R-O365-PHISH-02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O365 钓鱼邮件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785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23%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R-CLOUD-S3-OPEN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对象存储公开访问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475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事件时间线与处置轨迹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事件时间线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21488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graphicFrame>
        <p:nvGraphicFramePr>
          <p:cNvPr id="15" name="图表 14"/>
          <p:cNvGraphicFramePr/>
          <p:nvPr/>
        </p:nvGraphicFramePr>
        <p:xfrm>
          <a:off x="890270" y="3889375"/>
          <a:ext cx="3971608" cy="28178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77240" y="1417320"/>
          <a:ext cx="1088136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554480"/>
                <a:gridCol w="1554480"/>
                <a:gridCol w="1554480"/>
                <a:gridCol w="1554480"/>
                <a:gridCol w="1554480"/>
                <a:gridCol w="1554480"/>
              </a:tblGrid>
              <a:tr h="35814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事件ID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事件标题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级别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检测时间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MTTD(分钟)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MTTR(分钟)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云侧AccessKey泄露风险处置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2025-11-01T03:49:00Z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生产环境对外暴露服务被扫描利用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2025-11-01T08:47:00Z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38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179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生产环境对外暴露服务被扫描利用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2025-11-01T07:45:00Z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monitoring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疑似勒索前置横向移动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2025-11-01T02:35:00Z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可疑账号异常登录与提权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2025-11-01T01:40:00Z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高危事件详情分析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1247120" cy="2423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【高危】可疑账号异常登录与提权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1874519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1）事件概述：攻击者通过异常登录行为突破边界防护后尝试提权，最终被EDR和行为分析规则捕获。判定依据：攻击链涉及横向移动行为且影响核心K8s节点。2）攻击向量：利用未启用MFA的管理员账号尝试密码喷洒攻击，成功登录后使用提权工具获取root权限。3）影响范围：仅k8s-node-03节点被入侵，未扩散至集群其他节点。4）处置措施：立即隔离受感染节点，封禁源IP 192.168.1.100，强制重置关联账号凭据并启用MFA，部署新版WAF规则拦截恶意流量。5）根因分析：管理员账号未启用MFA且使用弱密码，建议启用强制密码策略和多因素认证。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520440"/>
            <a:ext cx="11247120" cy="2423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61188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【中危】生产环境对外暴露服务被扫描利用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977639"/>
            <a:ext cx="10881360" cy="1874519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1）事件概述：攻击者扫描暴露的RDP和Kibana服务端口，尝试利用已知漏洞。判定依据：检测到多个IP对db-core-01的3389端口进行暴力破解。2）攻击向量：通过互联网暴露的RDP服务进行弱密码爆破攻击，同时扫描Kibana未授权访问漏洞。3）影响范围：db-core-01、bastion-01和prod-web-01服务受影响，但未发现数据泄露。4）处置措施：隔离受影响资产，封禁10个可疑IP，重置所有数据库账号密码并启用MFA，部署补丁修复RDP服务漏洞，更新WAF规则阻止异常扫描流量。5）根因分析：关键服务未限制源IP访问且未及时打补丁，建议实施最小化暴露原则并建立补丁管理流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355080"/>
            <a:ext cx="1124712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9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本期攻击模式呈现以下特征：1）TTP方面：大量使用自动化工具进行端口扫描（如nmap）、暴力破解（hydra）和漏洞利用（exploit-db），结合横向移动技术；2）主要针对RDP、SSH、Kibana等暴露服务，以及未启用MFA的管理员账号；3）利用漏洞集中在未打补丁的RDP服务（CVE-2023-46604）和弱密码配置；4）与LockBit勒索团伙的攻击手法相似，但未发现直接关联证据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漏洞态势详情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1247120" cy="1965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漏洞分布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14173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063240"/>
            <a:ext cx="11247120" cy="2148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15468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CVE技术分析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10881360" cy="1600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1）CVE-2024-3094（XZ Utils后门风险）：攻击者通过编译时植入的后门代码实现任意代码执行。影响所有使用xz-5.4.0版本的系统。当前环境影响2台包管理器服务器，需升级至xz-5.4.1。2）CVE-2023-46604（ActiveMQ RCE）：通过构造恶意JMS消息触发远程代码执行，影响Apache ActiveMQ 5.18.0之前版本。当前环境影响2台消息中间件服务器，已部署补丁但未完成验证。3）CVE-2024-6387（OpenSSH regreSSHion）：利用SSH密钥认证过程中的正则表达式漏洞实现权限提升，影响OpenSSH 9.3-9.4p1。当前环境影响1台跳板机，已升级至9.5p1版本。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5349240"/>
            <a:ext cx="11247120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44068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补丁状态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06440"/>
            <a:ext cx="10881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1. 已修复：CVE-2024-3094、CVE-2024-6387（补丁验证中）
2. 修复中：CVE-2023-46604预计12月5日前完成补丁验证
3. 未修复：无临时缓解措施（无相关漏洞）
4. 优先级：ActiveMQ漏洞需在12月5日前完成修复
5. 遗留风险：需持续监控OpenSSH 9.5p1版本稳定性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577840" y="1417320"/>
          <a:ext cx="608076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6152"/>
                <a:gridCol w="1216152"/>
                <a:gridCol w="1216152"/>
                <a:gridCol w="1216152"/>
                <a:gridCol w="1216152"/>
              </a:tblGrid>
              <a:tr h="35433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CVE编号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漏洞名称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严重程度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影响资产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修复状态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CVE-2024-3094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XZ Utils 后门风险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critical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CVE-2023-46604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ActiveMQ RCE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in_progress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CVE-2024-6387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OpenSSH regreSSHion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攻击面与暴露分析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5532120" cy="1920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暴露服务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5166360" cy="13716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9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{{EXPOSED_SERVICES_TABLE}}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960120"/>
            <a:ext cx="5532120" cy="1920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0515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暴露分析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417320"/>
            <a:ext cx="5166360" cy="13716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当前暴露服务存在以下风险：1）SSH(22)暴露在17台服务器上，未实施IP白名单防护，存在暴力破解风险；2）RDP(3389)暴露在1台数据库服务器上，未启用NLA和网络层ACL限制；3）Kibana(5601)和Grafana(3000)暴露在公网，未配置身份验证和访问控制；4）建议实施最小化暴露策略，SSH服务需配置端口转发或使用跳板机，RDP服务应限制仅允许运维IP访问，监控工具需通过VPC内部网络访问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017520"/>
            <a:ext cx="5532120" cy="3566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1089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攻击面趋势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474720"/>
            <a:ext cx="5166360" cy="30175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本期攻击面持续扩大：1）外部IP从9个增至12个；2）新增3个暴露服务（Grafana、Kibana、SSH）；3）暴露面整体呈扩散趋势，需优先收敛RDP和监控服务暴露；4）盲区包括物联网设备（400台）和办公终端（495台）的暴露面监测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3017520"/>
            <a:ext cx="5532120" cy="3566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1089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收敛建议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474720"/>
            <a:ext cx="5166360" cy="30175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1. SSH服务：立即启用端口转发并限制源IP，优先级高（2人天）
2. RDP服务：配置网络ACL仅允许运维IP访问，优先级高（1人天）
3. Kibana服务：迁移至内网VPC并启用单点登录，优先级中（3人天）
4. Grafana服务：通过反向代理配置身份验证，优先级中（2人天）
5. 物联网设备：部署EDR并建立设备指纹库，优先级高（5人天）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77240" y="1417320"/>
          <a:ext cx="51663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3180"/>
                <a:gridCol w="258318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服务类型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暴露资产数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SSH(22)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RDP(3389)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Kibana(5601)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Grafana(3000)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云安全详细分析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1247120" cy="2468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云配置问题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1874519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611880"/>
            <a:ext cx="5532120" cy="2971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70332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IAM风险分析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069080"/>
            <a:ext cx="516636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当前IAM风险包括：1）1个高权限账号未启用MFA，需立即启用；2）7个安全组配置0.0.0.0/0暴露，需收紧规则；3）发现3个长期有效的AccessKey未设置过期时间；4）建议实施基于角色的最小权限模型，启用强制MFA策略，建立AccessKey生命周期管理制度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3611880"/>
            <a:ext cx="5532120" cy="2971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70332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合规检查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4069080"/>
            <a:ext cx="516636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1. 已满足：CIS-1.1（关闭不必要的服务）
2. 未达标：CIS-2.4（MFA强制启用）
3. 高风险项：CIS-3.1（安全组默认拒绝）
4. 优先整改：CIS-2.4（MFA）和CIS-3.1（安全组）
5. 建议部署云安全态势管理平台实现CIS基准自动合规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77240" y="1417320"/>
          <a:ext cx="10881360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468629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风险类型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数量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趋势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0.安全组0.0.0/0暴露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对象存储公开访问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flat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468632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未启用MFA的高权限账号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down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技术整改建议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1247120" cy="2240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整改方案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16916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1. 修复ActiveMQ RCE漏洞（CVE-2023-46604）
目标：消除远程代码执行风险
步骤：升级到Apache ActiveMQ 5.19.0+，执行`apt-get upgrade activemq`
预期效果：阻断已知漏洞利用路径
风险：升级前需在测试环境验证兼容性
2. 限制SSH暴露面
目标：减少攻击入口
步骤：配置iptables限制源IP（例：`iptables -A INPUT -p tcp --dport 22 -s 192.168.1.0/24 -j ACCEPT`）
预期效果：降低暴力破解成功率
风险：需确保运维团队IP地址已正确授权
3. 强化对象存储访问控制
目标：防止数据泄露
步骤：在AWS S3中设置Bucket Policy（例：`"Principal": {"AWS": "*"}, "Effect": "Deny"`）
预期效果：阻止公网访问敏感数据
风险：需同步更新CI/CD流程中的访问凭证
4. 修复OpenSSH regreSSHion漏洞
目标：防止提权攻击
步骤：升级OpenSSH至9.3p1+，执行`yum update openssh`
预期效果：消除已知后门风险
风险：需在非业务高峰期操作
5. 实施网络分段策略
目标：限制横向移动
步骤：通过VLAN划分核心业务区（如数据库集群）
预期效果：阻止攻击者跨网段渗透
风险：需重新规划现有网络拓扑
6. 强制MFA认证
目标：提升账号安全性
步骤：在AWS IAM中为所有用户启用多因素认证
预期效果：降低凭证泄露风险
风险：需提前培训运维人员使用硬件令牌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337560"/>
            <a:ext cx="5532120" cy="3246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4290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检测能力提升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794760"/>
            <a:ext cx="5166360" cy="2697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建议新增检测规则：
1. 增加云配置变更追踪规则（如AWS Config异常修改）
2. 新增勒索软件行为检测（如大量文件扩展名修改）
现有规则调优：
- R-SSH-BRUTE-01：将失败登录阈值从5次/分钟调整为3次/分钟
- R-O365-PHISH-02：增加发件人域名验证逻辑降低误报
日志源覆盖改进：
- 补充Kubernetes审计日志采集
- 增加容器运行时安全日志（如Docker daemon日志）
检测盲区补充：
- 建立云函数（Lambda）执行异常检测机制
- 部署API网关日志监控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3337560"/>
            <a:ext cx="5532120" cy="3246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4290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安全加固清单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794760"/>
            <a:ext cx="5166360" cy="2697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1. 检查SSH配置（/etc/ssh/sshd_config）禁用密码登录
2. 验证应用最小权限原则（如数据库连接使用专用账号）
3. 检查网络ACL是否限制非必要端口开放
4. 确认所有云账号已启用MFA
5. 检查操作系统补丁状态（使用`apt list --upgradable`）
6. 验证Web服务器目录遍历防护（如Nginx的location block配置）
7. 检查容器镜像扫描结果（使用`trivy image nginx:latest`）
8. 验证安全组规则是否限制0.0.0.0/0访问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附录：数据与证据索引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553212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证据索引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5166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9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告警数据 | qry_alerts_total_v7
告警趋势 | qry_alerts_trend_weekly_v4
告警分类 | qry_top_categories_v5
检测规则 | qry_top_rules_v3
事件数据 | qry_incidents_v3
漏洞数据 | qry_vuln_summary_v2
暴露面数据 | qry_exposure_v2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960120"/>
            <a:ext cx="553212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05156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数据时效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325880"/>
            <a:ext cx="5166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数据时效性：T+1天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148840"/>
            <a:ext cx="11247120" cy="777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40280"/>
            <a:ext cx="31089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数据范围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2240280"/>
            <a:ext cx="7955279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本报告数据来源于MSS安全运营平台，包含告警、事件、漏洞、云安全等多维度数据。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017520"/>
            <a:ext cx="5532120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10896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漏洞说明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83280"/>
            <a:ext cx="5166360" cy="7772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漏洞数据来源于定期安全扫描，覆盖主机、应用和网络设备。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017520"/>
            <a:ext cx="5532120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10896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证据说明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383280"/>
            <a:ext cx="5166360" cy="7772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原始日志和证据数据保存于安全运营平台，可通过查询ID追溯。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343400"/>
            <a:ext cx="5532120" cy="10515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43484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资产范围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709160"/>
            <a:ext cx="5166360" cy="594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{{ASSET_GROUPS_LIST}}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4343400"/>
            <a:ext cx="5532120" cy="10515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43484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关键服务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709160"/>
            <a:ext cx="5166360" cy="594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Kubernetes, MySQL, Redis, Nginx, Office 365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486400"/>
            <a:ext cx="1124712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577840"/>
            <a:ext cx="10881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术语表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852160"/>
            <a:ext cx="1088136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9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MTTD：平均检测时间
MTTR：平均响应时间
TTP：战术技术程序
IOC：失陷指标
EDR：终端检测响应
SIEM：安全信息事件管理
WAF：Web应用防火墙
MFA：多因素认证
RCE：远程代码执行
ACL：访问控制列表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777240" y="4709160"/>
          <a:ext cx="5166360" cy="18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2120"/>
                <a:gridCol w="1722120"/>
                <a:gridCol w="1722120"/>
              </a:tblGrid>
              <a:tr h="609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资产组ID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资产组名称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资产数量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609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ag-core-prod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核心生产资产组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9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ag-office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办公终端资产组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495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zBiN2QxNGQ4NjIwZWE5Mjc3ZDY1N2NlMGYwOTU3MDU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彩色5">
    <a:dk1>
      <a:srgbClr val="000000"/>
    </a:dk1>
    <a:lt1>
      <a:srgbClr val="FFFFFF"/>
    </a:lt1>
    <a:dk2>
      <a:srgbClr val="212745"/>
    </a:dk2>
    <a:lt2>
      <a:srgbClr val="B4DCFA"/>
    </a:lt2>
    <a:accent1>
      <a:srgbClr val="4E67C8"/>
    </a:accent1>
    <a:accent2>
      <a:srgbClr val="5ECCF3"/>
    </a:accent2>
    <a:accent3>
      <a:srgbClr val="A7EA52"/>
    </a:accent3>
    <a:accent4>
      <a:srgbClr val="5DCEAF"/>
    </a:accent4>
    <a:accent5>
      <a:srgbClr val="FF8021"/>
    </a:accent5>
    <a:accent6>
      <a:srgbClr val="F14124"/>
    </a:accent6>
    <a:hlink>
      <a:srgbClr val="56C7AA"/>
    </a:hlink>
    <a:folHlink>
      <a:srgbClr val="59A8D1"/>
    </a:folHlink>
  </a:clrScheme>
  <a:fontScheme name="Office">
    <a:majorFont>
      <a:latin typeface="Calibri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WPS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874CB"/>
    </a:accent1>
    <a:accent2>
      <a:srgbClr val="EE822F"/>
    </a:accent2>
    <a:accent3>
      <a:srgbClr val="F2BA02"/>
    </a:accent3>
    <a:accent4>
      <a:srgbClr val="75BD42"/>
    </a:accent4>
    <a:accent5>
      <a:srgbClr val="30C0B4"/>
    </a:accent5>
    <a:accent6>
      <a:srgbClr val="E54C5E"/>
    </a:accent6>
    <a:hlink>
      <a:srgbClr val="0026E5"/>
    </a:hlink>
    <a:folHlink>
      <a:srgbClr val="7E1FAD"/>
    </a:folHlink>
  </a:clrScheme>
  <a:fontScheme name="Office">
    <a:majorFont>
      <a:latin typeface="Calibri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"/>
      <a:ea typeface=""/>
      <a:cs typeface=""/>
    </a:majorFont>
    <a:minorFont>
      <a:latin typeface="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satMod val="110000"/>
              <a:lum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satMod val="105000"/>
              <a:lum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shade val="94000"/>
            </a:schemeClr>
          </a:gs>
          <a:gs pos="50000">
            <a:schemeClr val="phClr">
              <a:lumMod val="110000"/>
              <a:satMod val="100000"/>
              <a:tint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1505</Words>
  <Application>WPS 演示</Application>
  <PresentationFormat>On-screen Show (4:3)</PresentationFormat>
  <Paragraphs>156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User</cp:lastModifiedBy>
  <cp:revision>14</cp:revision>
  <dcterms:created xsi:type="dcterms:W3CDTF">2013-01-27T09:14:00Z</dcterms:created>
  <dcterms:modified xsi:type="dcterms:W3CDTF">2026-01-27T11:40:18Z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8A093E51843841BCAA984D1F304BD387_12</vt:lpwstr>
  </property>
  <property fmtid="{D5CDD505-2E9C-101B-9397-08002B2CF9AE}" pid="3" name="KSOProductBuildVer">
    <vt:lpwstr>2052-12.1.0.16729</vt:lpwstr>
  </property>
</Properties>
</file>