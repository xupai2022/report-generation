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olors1.xml" ContentType="application/vnd.ms-office.chartcolorstyle+xml"/>
  <Override PartName="/ppt/charts/colors2.xml" ContentType="application/vnd.ms-office.chartcolorstyle+xml"/>
  <Override PartName="/ppt/charts/colors3.xml" ContentType="application/vnd.ms-office.chartcolorstyle+xml"/>
  <Override PartName="/ppt/charts/colors4.xml" ContentType="application/vnd.ms-office.chartcolorstyle+xml"/>
  <Override PartName="/ppt/charts/colors5.xml" ContentType="application/vnd.ms-office.chartcolorstyle+xml"/>
  <Override PartName="/ppt/charts/colors6.xml" ContentType="application/vnd.ms-office.chartcolorstyle+xml"/>
  <Override PartName="/ppt/charts/style1.xml" ContentType="application/vnd.ms-office.chartstyle+xml"/>
  <Override PartName="/ppt/charts/style2.xml" ContentType="application/vnd.ms-office.chartstyle+xml"/>
  <Override PartName="/ppt/charts/style3.xml" ContentType="application/vnd.ms-office.chartstyle+xml"/>
  <Override PartName="/ppt/charts/style4.xml" ContentType="application/vnd.ms-office.chartstyle+xml"/>
  <Override PartName="/ppt/charts/style5.xml" ContentType="application/vnd.ms-office.chartstyle+xml"/>
  <Override PartName="/ppt/charts/style6.xml" ContentType="application/vnd.ms-office.chartstyl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1365" cy="6858000" type="screen4x3"/>
  <p:notesSz cx="6858000" cy="9144000"/>
  <p:custDataLst>
    <p:tags r:id="rId16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ableStyles" Target="tableStyles.xml"/><Relationship Id="rId16" Type="http://schemas.openxmlformats.org/officeDocument/2006/relationships/tags" Target="tags/tag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oleObject" Target="/Users/macos/Desktop/For%20Work/&#27969;&#31243;%26&#35013;&#22791;/&#23458;&#25143;&#27719;&#25253;/&#24456;&#22810;&#40060;/&#25253;&#21578;&#27169;&#26495;/&#24456;&#22810;&#40060;&#23433;&#20840;&#36816;&#33829;&#24037;&#20316;&#25253;&#21578;-20250801.xlsx" TargetMode="External"/><Relationship Id="rId2" Type="http://schemas.microsoft.com/office/2011/relationships/chartStyle" Target="style1.xml"/><Relationship Id="rId3" Type="http://schemas.microsoft.com/office/2011/relationships/chartColorStyle" Target="colors1.xml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oleObject" Target="/Users/macos/Desktop/For%20Work/&#27969;&#31243;%26&#35013;&#22791;/&#23458;&#25143;&#27719;&#25253;/&#24456;&#22810;&#40060;/&#25253;&#21578;&#27169;&#26495;/&#24456;&#22810;&#40060;&#23433;&#20840;&#36816;&#33829;&#24037;&#20316;&#25253;&#21578;-20250801.xlsx" TargetMode="External"/><Relationship Id="rId2" Type="http://schemas.openxmlformats.org/officeDocument/2006/relationships/themeOverride" Target="../theme/themeOverride1.xml"/><Relationship Id="rId3" Type="http://schemas.microsoft.com/office/2011/relationships/chartStyle" Target="style2.xml"/><Relationship Id="rId4" Type="http://schemas.microsoft.com/office/2011/relationships/chartColorStyle" Target="colors2.xml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oleObject" Target="/Users/macos/Desktop/For%20Work/&#27969;&#31243;%26&#35013;&#22791;/&#23458;&#25143;&#27719;&#25253;/&#24456;&#22810;&#40060;/&#25253;&#21578;&#27169;&#26495;/&#24456;&#22810;&#40060;&#23433;&#20840;&#36816;&#33829;&#24037;&#20316;&#25253;&#21578;-20250801.xlsx" TargetMode="External"/><Relationship Id="rId2" Type="http://schemas.openxmlformats.org/officeDocument/2006/relationships/themeOverride" Target="../theme/themeOverride2.xml"/><Relationship Id="rId3" Type="http://schemas.microsoft.com/office/2011/relationships/chartStyle" Target="style3.xml"/><Relationship Id="rId4" Type="http://schemas.microsoft.com/office/2011/relationships/chartColorStyle" Target="colors3.xml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oleObject" Target="/Users/macos/Desktop/For%20Work/&#27969;&#31243;%26&#35013;&#22791;/&#23458;&#25143;&#27719;&#25253;/&#24456;&#22810;&#40060;/&#25253;&#21578;&#27169;&#26495;/&#24456;&#22810;&#40060;&#23433;&#20840;&#36816;&#33829;&#24037;&#20316;&#25253;&#21578;-20250801.xlsx" TargetMode="External"/><Relationship Id="rId2" Type="http://schemas.openxmlformats.org/officeDocument/2006/relationships/themeOverride" Target="../theme/themeOverride3.xml"/><Relationship Id="rId3" Type="http://schemas.microsoft.com/office/2011/relationships/chartStyle" Target="style4.xml"/><Relationship Id="rId4" Type="http://schemas.microsoft.com/office/2011/relationships/chartColorStyle" Target="colors4.xml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oleObject" Target="/Users/macos/Desktop/For%20Work/&#27969;&#31243;%26&#35013;&#22791;/&#23458;&#25143;&#27719;&#25253;/&#24456;&#22810;&#40060;/&#25253;&#21578;&#27169;&#26495;/&#24456;&#22810;&#40060;&#23433;&#20840;&#36816;&#33829;&#24037;&#20316;&#25253;&#21578;-20250801.xlsx" TargetMode="External"/><Relationship Id="rId2" Type="http://schemas.microsoft.com/office/2011/relationships/chartStyle" Target="style5.xml"/><Relationship Id="rId3" Type="http://schemas.microsoft.com/office/2011/relationships/chartColorStyle" Target="colors5.xml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oleObject" Target="/Users/macos/Desktop/For%20Work/&#27969;&#31243;%26&#35013;&#22791;/&#23458;&#25143;&#27719;&#25253;/&#24456;&#22810;&#40060;/&#25253;&#21578;&#27169;&#26495;/&#24456;&#22810;&#40060;&#23433;&#20840;&#36816;&#33829;&#24037;&#20316;&#25253;&#21578;-20250801.xlsx" TargetMode="External"/><Relationship Id="rId2" Type="http://schemas.microsoft.com/office/2011/relationships/chartStyle" Target="style6.xml"/><Relationship Id="rId3" Type="http://schemas.microsoft.com/office/2011/relationships/chartColorStyle" Target="colors6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614410134600158"/>
          <c:y val="0.197183098591549"/>
          <c:w val="0.909527579836368"/>
          <c:h val="0.64321382842509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告警数量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1099</c:v>
                </c:pt>
                <c:pt idx="1">
                  <c:v>1005</c:v>
                </c:pt>
                <c:pt idx="2">
                  <c:v>1002</c:v>
                </c:pt>
                <c:pt idx="3">
                  <c:v>2988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46"/>
        <c:overlap val="-28"/>
        <c:axId val="590885613"/>
        <c:axId val="82692506"/>
      </c:barChart>
      <c:catAx>
        <c:axId val="590885613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82692506"/>
        <c:crosses val="autoZero"/>
        <c:auto val="1"/>
        <c:lblAlgn val="ctr"/>
        <c:lblOffset val="100"/>
        <c:noMultiLvlLbl val="0"/>
      </c:catAx>
      <c:valAx>
        <c:axId val="82692506"/>
        <c:scaling>
          <c:orientation val="minMax"/>
        </c:scaling>
        <c:delete val="0"/>
        <c:axPos val="l"/>
        <c:numFmt formatCode="0.00_ 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59088561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</c:legendEntry>
      <c:layout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9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</c:chart>
  <c:spPr>
    <a:noFill/>
    <a:ln w="9525" cap="flat" cmpd="sng" algn="ctr">
      <a:noFill/>
      <a:prstDash val="solid"/>
      <a:round/>
    </a:ln>
    <a:effectLst/>
  </c:spPr>
  <c:txPr>
    <a:bodyPr/>
    <a:lstStyle/>
    <a:p>
      <a:pPr>
        <a:defRPr lang="zh-CN">
          <a:solidFill>
            <a:schemeClr val="tx1"/>
          </a:solidFill>
        </a:defRPr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chemeClr val="accent1">
                <a:alpha val="85000"/>
              </a:schemeClr>
            </a:solidFill>
          </c:spPr>
          <c:explosion val="0"/>
          <c:dPt>
            <c:idx val="0"/>
            <c:bubble3D val="0"/>
            <c:spPr>
              <a:solidFill>
                <a:schemeClr val="accent1">
                  <a:alpha val="8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accent2">
                  <a:alpha val="8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"/>
            <c:bubble3D val="0"/>
            <c:spPr>
              <a:solidFill>
                <a:schemeClr val="accent3">
                  <a:alpha val="8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"/>
            <c:bubble3D val="0"/>
            <c:spPr>
              <a:solidFill>
                <a:schemeClr val="accent4">
                  <a:alpha val="8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4"/>
            <c:bubble3D val="0"/>
            <c:spPr>
              <a:solidFill>
                <a:schemeClr val="accent5">
                  <a:alpha val="8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Lbls>
            <c:numFmt formatCode="General" sourceLinked="1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 forceAA="0">
                <a:spAutoFit/>
              </a:bodyPr>
              <a:lstStyle/>
              <a:p>
                <a:pPr>
                  <a:defRPr lang="zh-CN" sz="900" b="0" i="0" u="none" strike="noStrike" kern="1200" baseline="0">
                    <a:solidFill>
                      <a:schemeClr val="bg2">
                        <a:lumMod val="10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eparator>
</c:separator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挖矿</c:v>
                </c:pt>
                <c:pt idx="1">
                  <c:v>僵尸网络</c:v>
                </c:pt>
                <c:pt idx="2">
                  <c:v>木马</c:v>
                </c:pt>
                <c:pt idx="3">
                  <c:v>账号爆破</c:v>
                </c:pt>
                <c:pt idx="4">
                  <c:v>代理工具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100</c:v>
                </c:pt>
                <c:pt idx="1">
                  <c:v>100</c:v>
                </c:pt>
                <c:pt idx="2">
                  <c:v>200</c:v>
                </c:pt>
                <c:pt idx="3">
                  <c:v>200</c:v>
                </c:pt>
                <c:pt idx="4">
                  <c:v>400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r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bg2">
                    <a:lumMod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bg2">
                    <a:lumMod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</a:p>
        </c:txPr>
      </c:legendEntry>
      <c:legendEntry>
        <c:idx val="2"/>
        <c:txPr>
          <a:bodyPr rot="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bg2">
                    <a:lumMod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</a:p>
        </c:txPr>
      </c:legendEntry>
      <c:legendEntry>
        <c:idx val="3"/>
        <c:txPr>
          <a:bodyPr rot="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bg2">
                    <a:lumMod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</a:p>
        </c:txPr>
      </c:legendEntry>
      <c:legendEntry>
        <c:idx val="4"/>
        <c:txPr>
          <a:bodyPr rot="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bg2">
                    <a:lumMod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</a:p>
        </c:txPr>
      </c:legendEntry>
      <c:layout>
        <c:manualLayout>
          <c:xMode val="edge"/>
          <c:yMode val="edge"/>
          <c:x val="0.753644622860765"/>
          <c:y val="0.229474852071006"/>
        </c:manualLayout>
      </c:layout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900" b="0" i="0" u="none" strike="noStrike" kern="1200" baseline="0">
              <a:solidFill>
                <a:schemeClr val="bg2">
                  <a:lumMod val="1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defRPr>
          </a:pPr>
        </a:p>
      </c:txPr>
    </c:legend>
    <c:plotVisOnly val="1"/>
    <c:dispBlanksAs val="gap"/>
    <c:showDLblsOverMax val="0"/>
  </c:chart>
  <c:spPr>
    <a:noFill/>
    <a:ln w="6350" cap="flat" cmpd="sng" algn="ctr">
      <a:noFill/>
      <a:round/>
    </a:ln>
    <a:effectLst/>
  </c:spPr>
  <c:txPr>
    <a:bodyPr/>
    <a:lstStyle/>
    <a:p>
      <a:pPr>
        <a:defRPr lang="zh-CN">
          <a:solidFill>
            <a:schemeClr val="bg2">
              <a:lumMod val="10000"/>
            </a:schemeClr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  <a:sym typeface="微软雅黑" panose="020B0503020204020204" charset="-122"/>
        </a:defRPr>
      </a:pPr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/>
          <c:explosion val="0"/>
          <c:dPt>
            <c:idx val="0"/>
            <c:bubble3D val="0"/>
            <c:spPr>
              <a:solidFill>
                <a:schemeClr val="accent1"/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accent2"/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2"/>
            <c:bubble3D val="0"/>
            <c:spPr>
              <a:solidFill>
                <a:schemeClr val="accent3"/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3"/>
            <c:bubble3D val="0"/>
            <c:spPr>
              <a:solidFill>
                <a:schemeClr val="accent4"/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4"/>
            <c:bubble3D val="0"/>
            <c:spPr>
              <a:solidFill>
                <a:schemeClr val="accent5"/>
              </a:solidFill>
              <a:ln>
                <a:solidFill>
                  <a:schemeClr val="bg1"/>
                </a:solidFill>
              </a:ln>
              <a:effectLst/>
            </c:spPr>
          </c:dPt>
          <c:dLbls>
            <c:numFmt formatCode="General" sourceLinked="1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 forceAA="0"/>
              <a:lstStyle/>
              <a:p>
                <a:pPr>
                  <a:defRPr lang="zh-CN" sz="800" b="0" i="0" u="none" strike="noStrike" kern="1200" baseline="0">
                    <a:solidFill>
                      <a:schemeClr val="bg2">
                        <a:lumMod val="10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服务器</c:v>
                </c:pt>
                <c:pt idx="1">
                  <c:v>终端</c:v>
                </c:pt>
                <c:pt idx="2">
                  <c:v>网络设备</c:v>
                </c:pt>
                <c:pt idx="3">
                  <c:v>安全设备</c:v>
                </c:pt>
                <c:pt idx="4">
                  <c:v>物联网设备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120</c:v>
                </c:pt>
                <c:pt idx="1">
                  <c:v>100</c:v>
                </c:pt>
                <c:pt idx="2">
                  <c:v>200</c:v>
                </c:pt>
                <c:pt idx="3">
                  <c:v>200</c:v>
                </c:pt>
                <c:pt idx="4">
                  <c:v>400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r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bg2">
                    <a:lumMod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bg2">
                    <a:lumMod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</a:p>
        </c:txPr>
      </c:legendEntry>
      <c:legendEntry>
        <c:idx val="2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bg2">
                    <a:lumMod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</a:p>
        </c:txPr>
      </c:legendEntry>
      <c:legendEntry>
        <c:idx val="3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bg2">
                    <a:lumMod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</a:p>
        </c:txPr>
      </c:legendEntry>
      <c:legendEntry>
        <c:idx val="4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bg2">
                    <a:lumMod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</a:p>
        </c:txPr>
      </c:legendEntry>
      <c:layout>
        <c:manualLayout>
          <c:xMode val="edge"/>
          <c:yMode val="edge"/>
          <c:x val="0.752842459804959"/>
          <c:y val="0.255978230895547"/>
        </c:manualLayout>
      </c:layout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 forceAA="0"/>
        <a:lstStyle/>
        <a:p>
          <a:pPr>
            <a:defRPr lang="zh-CN" sz="800" b="0" i="0" u="none" strike="noStrike" kern="1200" baseline="0">
              <a:solidFill>
                <a:schemeClr val="bg2">
                  <a:lumMod val="1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defRPr>
          </a:pPr>
        </a:p>
      </c:txPr>
    </c:legend>
    <c:plotVisOnly val="1"/>
    <c:dispBlanksAs val="gap"/>
    <c:showDLblsOverMax val="0"/>
  </c:chart>
  <c:spPr>
    <a:noFill/>
    <a:ln w="6350" cap="flat" cmpd="sng" algn="ctr">
      <a:noFill/>
      <a:round/>
    </a:ln>
    <a:effectLst/>
  </c:spPr>
  <c:txPr>
    <a:bodyPr/>
    <a:lstStyle/>
    <a:p>
      <a:pPr>
        <a:defRPr lang="zh-CN" sz="800">
          <a:solidFill>
            <a:schemeClr val="tx1">
              <a:lumMod val="75000"/>
              <a:lumOff val="25000"/>
            </a:schemeClr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  <a:sym typeface="微软雅黑" panose="020B0503020204020204" charset="-122"/>
        </a:defRPr>
      </a:pPr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/>
          <c:explosion val="0"/>
          <c:dPt>
            <c:idx val="0"/>
            <c:bubble3D val="0"/>
            <c:spPr>
              <a:solidFill>
                <a:srgbClr val="70AD47"/>
              </a:solidFill>
              <a:ln>
                <a:solidFill>
                  <a:srgbClr val="FFFFFF"/>
                </a:solidFill>
              </a:ln>
              <a:effectLst/>
            </c:spPr>
          </c:dPt>
          <c:dPt>
            <c:idx val="1"/>
            <c:bubble3D val="0"/>
            <c:spPr>
              <a:solidFill>
                <a:srgbClr val="5B9BD5"/>
              </a:solidFill>
              <a:ln>
                <a:solidFill>
                  <a:srgbClr val="FFFFFF"/>
                </a:solidFill>
              </a:ln>
              <a:effectLst/>
            </c:spPr>
          </c:dPt>
          <c:dPt>
            <c:idx val="2"/>
            <c:bubble3D val="0"/>
            <c:spPr>
              <a:solidFill>
                <a:srgbClr val="FFC000"/>
              </a:solidFill>
              <a:ln>
                <a:solidFill>
                  <a:srgbClr val="FFFFFF"/>
                </a:solidFill>
              </a:ln>
              <a:effectLst/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800" b="0" i="0" u="none" strike="noStrike" kern="1200" baseline="0">
                    <a:solidFill>
                      <a:srgbClr val="000000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rgbClr val="000000">
                          <a:lumMod val="35000"/>
                          <a:lumOff val="65000"/>
                        </a:srgb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高危</c:v>
                </c:pt>
                <c:pt idx="1">
                  <c:v>中危</c:v>
                </c:pt>
                <c:pt idx="2">
                  <c:v>低危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62</c:v>
                </c:pt>
                <c:pt idx="1">
                  <c:v>837</c:v>
                </c:pt>
                <c:pt idx="2">
                  <c:v>9914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</a:p>
        </c:txPr>
      </c:legendEntry>
      <c:legendEntry>
        <c:idx val="2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</a:p>
        </c:txPr>
      </c:legendEntry>
      <c:layout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 forceAA="0"/>
        <a:lstStyle/>
        <a:p>
          <a:pPr>
            <a:defRPr lang="zh-CN" sz="800" b="0" i="0" u="none" strike="noStrike" kern="1200" baseline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defRPr>
          </a:pPr>
        </a:p>
      </c:txPr>
    </c:legend>
    <c:plotVisOnly val="1"/>
    <c:dispBlanksAs val="gap"/>
    <c:showDLblsOverMax val="0"/>
  </c:chart>
  <c:spPr>
    <a:noFill/>
    <a:ln w="6350" cap="flat" cmpd="sng" algn="ctr">
      <a:noFill/>
      <a:round/>
    </a:ln>
    <a:effectLst/>
  </c:spPr>
  <c:txPr>
    <a:bodyPr/>
    <a:lstStyle/>
    <a:p>
      <a:pPr>
        <a:defRPr lang="zh-CN" sz="800">
          <a:solidFill>
            <a:srgbClr val="000000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  <a:sym typeface="微软雅黑" panose="020B0503020204020204" charset="-122"/>
        </a:defRPr>
      </a:pPr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外部攻击数</c:v>
                </c:pt>
              </c:strCache>
            </c:strRef>
          </c:tx>
          <c:spPr>
            <a:ln w="28575" cap="rnd">
              <a:solidFill>
                <a:schemeClr val="accent6"/>
              </a:solidFill>
              <a:round/>
            </a:ln>
            <a:effectLst/>
          </c:spPr>
          <c:marker>
            <c:symbol val="none"/>
          </c:marker>
          <c:dLbls>
            <c:dLbl>
              <c:idx val="0"/>
              <c:tx>
                <c:rich>
                  <a:bodyPr/>
                  <a:lstStyle/>
                  <a:p>
                    <a:r>
                      <a:t>12万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t>13.8万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t>14.2万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t>12.8万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t>0.2万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/>
                  <a:lstStyle/>
                  <a:p>
                    <a:r>
                      <a:t>0.0万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>
                <c:rich>
                  <a:bodyPr/>
                  <a:lstStyle/>
                  <a:p>
                    <a:r>
                      <a:t>0.0万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tx>
                <c:rich>
                  <a:bodyPr/>
                  <a:lstStyle/>
                  <a:p>
                    <a:r>
                      <a:t>0.0万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8"/>
              <c:tx>
                <c:rich>
                  <a:bodyPr/>
                  <a:lstStyle/>
                  <a:p>
                    <a:r>
                      <a:t>0.0万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9"/>
              <c:tx>
                <c:rich>
                  <a:bodyPr/>
                  <a:lstStyle/>
                  <a:p>
                    <a:r>
                      <a:t>0.0万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0"/>
              <c:tx>
                <c:rich>
                  <a:bodyPr/>
                  <a:lstStyle/>
                  <a:p>
                    <a:r>
                      <a:t>0.0万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1"/>
              <c:tx>
                <c:rich>
                  <a:bodyPr/>
                  <a:lstStyle/>
                  <a:p>
                    <a:r>
                      <a:t>0.0万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6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12.0</c:v>
                </c:pt>
                <c:pt idx="1">
                  <c:v>13.7897</c:v>
                </c:pt>
                <c:pt idx="2">
                  <c:v>14.2</c:v>
                </c:pt>
                <c:pt idx="3">
                  <c:v>12.7558</c:v>
                </c:pt>
                <c:pt idx="4">
                  <c:v>0.1867</c:v>
                </c:pt>
                <c:pt idx="5">
                  <c:v>0.0178</c:v>
                </c:pt>
                <c:pt idx="6">
                  <c:v>0.0165</c:v>
                </c:pt>
                <c:pt idx="7">
                  <c:v>0.0182</c:v>
                </c:pt>
                <c:pt idx="8">
                  <c:v>0.0195</c:v>
                </c:pt>
                <c:pt idx="9">
                  <c:v>0.0201</c:v>
                </c:pt>
                <c:pt idx="10">
                  <c:v>0.0188</c:v>
                </c:pt>
                <c:pt idx="11">
                  <c:v>0.0175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恶意外联数</c:v>
                </c:pt>
              </c:strCache>
            </c:strRef>
          </c:tx>
          <c:spPr>
            <a:ln w="28575" cap="rnd">
              <a:solidFill>
                <a:schemeClr val="accent5"/>
              </a:solidFill>
              <a:round/>
            </a:ln>
            <a:effectLst/>
          </c:spPr>
          <c:marker>
            <c:symbol val="none"/>
          </c:marker>
          <c:dLbls>
            <c:dLbl>
              <c:idx val="0"/>
              <c:tx>
                <c:rich>
                  <a:bodyPr/>
                  <a:lstStyle/>
                  <a:p>
                    <a:r>
                      <a:t>45.7万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t>50.7万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t>76.8万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t>68.0万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t>0.0万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/>
                  <a:lstStyle/>
                  <a:p>
                    <a:r>
                      <a:t>0.0万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>
                <c:rich>
                  <a:bodyPr/>
                  <a:lstStyle/>
                  <a:p>
                    <a:r>
                      <a:t>0.0万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tx>
                <c:rich>
                  <a:bodyPr/>
                  <a:lstStyle/>
                  <a:p>
                    <a:r>
                      <a:t>0.0万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8"/>
              <c:tx>
                <c:rich>
                  <a:bodyPr/>
                  <a:lstStyle/>
                  <a:p>
                    <a:r>
                      <a:t>0.0万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9"/>
              <c:tx>
                <c:rich>
                  <a:bodyPr/>
                  <a:lstStyle/>
                  <a:p>
                    <a:r>
                      <a:t>0.0万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0"/>
              <c:tx>
                <c:rich>
                  <a:bodyPr/>
                  <a:lstStyle/>
                  <a:p>
                    <a:r>
                      <a:t>0.0万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1"/>
              <c:tx>
                <c:rich>
                  <a:bodyPr/>
                  <a:lstStyle/>
                  <a:p>
                    <a:r>
                      <a:t>0.0万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6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45.6756</c:v>
                </c:pt>
                <c:pt idx="1">
                  <c:v>50.7297</c:v>
                </c:pt>
                <c:pt idx="2">
                  <c:v>76.7648</c:v>
                </c:pt>
                <c:pt idx="3">
                  <c:v>67.9771</c:v>
                </c:pt>
                <c:pt idx="4">
                  <c:v>0.0073</c:v>
                </c:pt>
                <c:pt idx="5">
                  <c:v>0.0068</c:v>
                </c:pt>
                <c:pt idx="6">
                  <c:v>0.0082</c:v>
                </c:pt>
                <c:pt idx="7">
                  <c:v>0.0079</c:v>
                </c:pt>
                <c:pt idx="8">
                  <c:v>0.0088</c:v>
                </c:pt>
                <c:pt idx="9">
                  <c:v>0.0095</c:v>
                </c:pt>
                <c:pt idx="10">
                  <c:v>0.0091</c:v>
                </c:pt>
                <c:pt idx="11">
                  <c:v>0.0086</c:v>
                </c:pt>
              </c:numCache>
            </c:numRef>
          </c:val>
          <c:smooth val="0"/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0"/>
        <c:smooth val="0"/>
        <c:axId val="829985891"/>
        <c:axId val="617127009"/>
      </c:lineChart>
      <c:dateAx>
        <c:axId val="829985891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617127009"/>
        <c:crosses val="autoZero"/>
        <c:auto val="1"/>
        <c:lblOffset val="100"/>
        <c:baseTimeUnit val="months"/>
      </c:dateAx>
      <c:valAx>
        <c:axId val="617127009"/>
        <c:scaling>
          <c:orientation val="minMax"/>
        </c:scaling>
        <c:delete val="1"/>
        <c:axPos val="l"/>
        <c:numFmt formatCode="0\.0,&quot;万&quot;" sourceLinked="1"/>
        <c:majorTickMark val="none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82998589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6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zh-CN" sz="6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</c:legendEntry>
      <c:layout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1000" b="0" i="0" u="none" strike="noStrike" kern="1200" baseline="0">
              <a:solidFill>
                <a:srgbClr val="333333"/>
              </a:solidFill>
              <a:latin typeface="微软雅黑"/>
              <a:ea typeface="+mn-ea"/>
              <a:cs typeface="+mn-cs"/>
            </a:defRPr>
          </a:pPr>
        </a:p>
      </c:txPr>
    </c:legend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lang="zh-CN" sz="600"/>
      </a:pPr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日均攻击数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500" b="0" i="0" u="none" strike="noStrike" kern="1200" baseline="0">
                    <a:solidFill>
                      <a:schemeClr val="bg2">
                        <a:lumMod val="1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Sheet1!$A$2:$A$8</c:f>
              <c:strCache>
                <c:ptCount val="7"/>
                <c:pt idx="0">
                  <c:v>中秋（24/9/15-9/17）</c:v>
                </c:pt>
                <c:pt idx="1">
                  <c:v>国庆（24/10/1-10/7）</c:v>
                </c:pt>
                <c:pt idx="2">
                  <c:v>元旦（25/1/1）</c:v>
                </c:pt>
                <c:pt idx="3">
                  <c:v>周四</c:v>
                </c:pt>
                <c:pt idx="4">
                  <c:v>周五</c:v>
                </c:pt>
                <c:pt idx="5">
                  <c:v>周六</c:v>
                </c:pt>
                <c:pt idx="6">
                  <c:v>周日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654</c:v>
                </c:pt>
                <c:pt idx="1">
                  <c:v>145</c:v>
                </c:pt>
                <c:pt idx="2">
                  <c:v>167</c:v>
                </c:pt>
                <c:pt idx="3">
                  <c:v>189</c:v>
                </c:pt>
                <c:pt idx="4">
                  <c:v>201</c:v>
                </c:pt>
                <c:pt idx="5">
                  <c:v>178</c:v>
                </c:pt>
                <c:pt idx="6">
                  <c:v>156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452361593"/>
        <c:axId val="478519395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防御率</c:v>
                </c:pt>
              </c:strCache>
            </c:strRef>
          </c:tx>
          <c:spPr>
            <a:ln w="28575" cap="rnd">
              <a:solidFill>
                <a:srgbClr val="00D860"/>
              </a:solidFill>
              <a:round/>
            </a:ln>
            <a:effectLst/>
          </c:spPr>
          <c:marker>
            <c:symbol val="none"/>
          </c:marker>
          <c:dLbls>
            <c:delete val="1"/>
          </c:dLbls>
          <c:cat>
            <c:strRef>
              <c:f>Sheet1!$A$2:$A$8</c:f>
              <c:strCache>
                <c:ptCount val="7"/>
                <c:pt idx="0">
                  <c:v>中秋（24/9/15-9/17）</c:v>
                </c:pt>
                <c:pt idx="1">
                  <c:v>国庆（24/10/1-10/7）</c:v>
                </c:pt>
                <c:pt idx="2">
                  <c:v>元旦（25/1/1）</c:v>
                </c:pt>
                <c:pt idx="3">
                  <c:v>周四</c:v>
                </c:pt>
                <c:pt idx="4">
                  <c:v>周五</c:v>
                </c:pt>
                <c:pt idx="5">
                  <c:v>周六</c:v>
                </c:pt>
                <c:pt idx="6">
                  <c:v>周日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1.0</c:v>
                </c:pt>
                <c:pt idx="1">
                  <c:v>0.98</c:v>
                </c:pt>
                <c:pt idx="2">
                  <c:v>0.99</c:v>
                </c:pt>
                <c:pt idx="3">
                  <c:v>1.0</c:v>
                </c:pt>
                <c:pt idx="4">
                  <c:v>0.97</c:v>
                </c:pt>
                <c:pt idx="5">
                  <c:v>0.99</c:v>
                </c:pt>
                <c:pt idx="6">
                  <c:v>1.0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0"/>
        <c:smooth val="0"/>
        <c:axId val="725296953"/>
        <c:axId val="406196429"/>
      </c:lineChart>
      <c:catAx>
        <c:axId val="452361593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500" b="0" i="0" u="none" strike="noStrike" kern="1200" baseline="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478519395"/>
        <c:crosses val="autoZero"/>
        <c:auto val="1"/>
        <c:lblAlgn val="ctr"/>
        <c:lblOffset val="100"/>
        <c:noMultiLvlLbl val="0"/>
      </c:catAx>
      <c:valAx>
        <c:axId val="478519395"/>
        <c:scaling>
          <c:orientation val="minMax"/>
        </c:scaling>
        <c:delete val="0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500" b="0" i="0" u="none" strike="noStrike" kern="1200" baseline="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452361593"/>
        <c:crosses val="autoZero"/>
        <c:crossBetween val="between"/>
      </c:valAx>
      <c:catAx>
        <c:axId val="725296953"/>
        <c:scaling>
          <c:orientation val="minMax"/>
        </c:scaling>
        <c:delete val="1"/>
        <c:axPos val="b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500" b="0" i="0" u="none" strike="noStrike" kern="1200" baseline="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406196429"/>
        <c:crosses val="autoZero"/>
        <c:auto val="1"/>
        <c:lblAlgn val="ctr"/>
        <c:lblOffset val="100"/>
        <c:noMultiLvlLbl val="0"/>
      </c:catAx>
      <c:valAx>
        <c:axId val="406196429"/>
        <c:scaling>
          <c:orientation val="minMax"/>
        </c:scaling>
        <c:delete val="0"/>
        <c:axPos val="r"/>
        <c:numFmt formatCode="0%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500" b="0" i="0" u="none" strike="noStrike" kern="1200" baseline="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725296953"/>
        <c:crosses val="max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500" b="0" i="0" u="none" strike="noStrike" kern="1200" baseline="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zh-CN" sz="500" b="0" i="0" u="none" strike="noStrike" kern="1200" baseline="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legendEntry>
      <c:layout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500" b="0" i="0" u="none" strike="noStrike" kern="1200" baseline="0">
              <a:solidFill>
                <a:schemeClr val="bg2">
                  <a:lumMod val="10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lang="zh-CN" sz="500">
          <a:solidFill>
            <a:schemeClr val="bg2">
              <a:lumMod val="10000"/>
            </a:schemeClr>
          </a:solidFill>
        </a:defRPr>
      </a:pPr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100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chemeClr val="dk1"/>
    </cs:fontRef>
    <cs:spPr>
      <a:ln>
        <a:noFill/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10109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chemeClr val="dk1"/>
    </cs:fontRef>
    <cs:spPr>
      <a:ln>
        <a:solidFill>
          <a:schemeClr val="bg1"/>
        </a:solidFill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10109">
  <cs:axisTitle>
    <cs:lnRef idx="0"/>
    <cs:fillRef idx="0"/>
    <cs:effectRef idx="0"/>
    <cs:fontRef idx="minor">
      <a:srgbClr val="000000">
        <a:lumMod val="65000"/>
        <a:lumOff val="35000"/>
      </a:srgbClr>
    </cs:fontRef>
    <cs:defRPr sz="1000" kern="1200"/>
  </cs:axisTitle>
  <cs:categoryAxis>
    <cs:lnRef idx="0"/>
    <cs:fillRef idx="0"/>
    <cs:effectRef idx="0"/>
    <cs:fontRef idx="minor">
      <a:srgbClr val="000000">
        <a:lumMod val="65000"/>
        <a:lumOff val="35000"/>
      </a:srgbClr>
    </cs:fontRef>
    <cs:spPr>
      <a:ln w="9525" cap="flat" cmpd="sng" algn="ctr">
        <a:solidFill>
          <a:srgbClr val="000000">
            <a:lumMod val="15000"/>
            <a:lumOff val="85000"/>
          </a:srgb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rgbClr val="000000"/>
    </cs:fontRef>
    <cs:spPr>
      <a:solidFill>
        <a:srgbClr val="FFFFFF"/>
      </a:solidFill>
      <a:ln w="9525" cap="flat" cmpd="sng" algn="ctr">
        <a:solidFill>
          <a:srgbClr val="000000">
            <a:lumMod val="15000"/>
            <a:lumOff val="85000"/>
          </a:srgbClr>
        </a:solidFill>
        <a:round/>
      </a:ln>
    </cs:spPr>
    <cs:defRPr sz="900" kern="1200"/>
  </cs:chartArea>
  <cs:dataLabel>
    <cs:lnRef idx="0"/>
    <cs:fillRef idx="0"/>
    <cs:effectRef idx="0"/>
    <cs:fontRef idx="minor">
      <a:srgbClr val="000000">
        <a:lumMod val="75000"/>
        <a:lumOff val="25000"/>
      </a:srgbClr>
    </cs:fontRef>
    <cs:defRPr sz="1000" kern="1200"/>
  </cs:dataLabel>
  <cs:dataLabelCallout>
    <cs:lnRef idx="0"/>
    <cs:fillRef idx="0"/>
    <cs:effectRef idx="0"/>
    <cs:fontRef idx="minor">
      <a:srgbClr val="000000">
        <a:lumMod val="65000"/>
        <a:lumOff val="35000"/>
      </a:srgbClr>
    </cs:fontRef>
    <cs:spPr>
      <a:solidFill>
        <a:srgbClr val="FFFFFF"/>
      </a:solidFill>
      <a:ln>
        <a:solidFill>
          <a:srgbClr val="000000">
            <a:lumMod val="25000"/>
            <a:lumOff val="75000"/>
          </a:srgb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rgbClr val="000000"/>
    </cs:fontRef>
    <cs:spPr>
      <a:ln>
        <a:solidFill>
          <a:srgbClr val="FFFFFF"/>
        </a:solidFill>
      </a:ln>
      <a:effectLst/>
    </cs:spPr>
  </cs:dataPoint>
  <cs:dataPoint3D>
    <cs:lnRef idx="0"/>
    <cs:fillRef idx="1">
      <cs:styleClr val="auto"/>
    </cs:fillRef>
    <cs:effectRef idx="0"/>
    <cs:fontRef idx="minor">
      <a:srgbClr val="000000"/>
    </cs:fontRef>
    <cs:spPr>
      <a:ln w="25400">
        <a:solidFill>
          <a:srgbClr val="FFFFFF"/>
        </a:solidFill>
      </a:ln>
    </cs:spPr>
  </cs:dataPoint3D>
  <cs:dataPointLine>
    <cs:lnRef idx="0">
      <cs:styleClr val="auto"/>
    </cs:lnRef>
    <cs:fillRef idx="0"/>
    <cs:effectRef idx="0"/>
    <cs:fontRef idx="minor">
      <a:srgbClr val="000000"/>
    </cs:fontRef>
    <cs:spPr>
      <a:ln w="28575" cap="rnd">
        <a:solidFill>
          <a:srgbClr val="FFFFFF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rgbClr val="000000"/>
    </cs:fontRef>
    <cs:spPr>
      <a:ln w="9525">
        <a:solidFill>
          <a:srgbClr val="FFFFFF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rgbClr val="000000"/>
    </cs:fontRef>
    <cs:spPr>
      <a:ln w="9525" cap="rnd">
        <a:solidFill>
          <a:srgbClr val="FFFFFF"/>
        </a:solidFill>
        <a:round/>
      </a:ln>
    </cs:spPr>
  </cs:dataPointWireframe>
  <cs:dataTable>
    <cs:lnRef idx="0"/>
    <cs:fillRef idx="0"/>
    <cs:effectRef idx="0"/>
    <cs:fontRef idx="minor">
      <a:srgbClr val="000000">
        <a:lumMod val="65000"/>
        <a:lumOff val="35000"/>
      </a:srgbClr>
    </cs:fontRef>
    <cs:spPr>
      <a:noFill/>
      <a:ln w="9525" cap="flat" cmpd="sng" algn="ctr">
        <a:solidFill>
          <a:srgbClr val="000000">
            <a:lumMod val="15000"/>
            <a:lumOff val="85000"/>
          </a:srgbClr>
        </a:solidFill>
        <a:round/>
      </a:ln>
    </cs:spPr>
    <cs:defRPr sz="900" kern="1200"/>
  </cs:dataTable>
  <cs:downBar>
    <cs:lnRef idx="0"/>
    <cs:fillRef idx="0"/>
    <cs:effectRef idx="0"/>
    <cs:fontRef idx="minor">
      <a:srgbClr val="000000"/>
    </cs:fontRef>
    <cs:spPr>
      <a:solidFill>
        <a:srgbClr val="000000">
          <a:lumMod val="75000"/>
          <a:lumOff val="25000"/>
        </a:srgbClr>
      </a:solidFill>
      <a:ln w="9525" cap="flat" cmpd="sng" algn="ctr">
        <a:solidFill>
          <a:srgbClr val="000000">
            <a:lumMod val="65000"/>
            <a:lumOff val="35000"/>
          </a:srgbClr>
        </a:solidFill>
        <a:round/>
      </a:ln>
    </cs:spPr>
  </cs:downBar>
  <cs:dropLine>
    <cs:lnRef idx="0"/>
    <cs:fillRef idx="0"/>
    <cs:effectRef idx="0"/>
    <cs:fontRef idx="minor">
      <a:srgbClr val="000000"/>
    </cs:fontRef>
    <cs:spPr>
      <a:ln w="9525" cap="flat" cmpd="sng" algn="ctr">
        <a:solidFill>
          <a:srgbClr val="000000">
            <a:lumMod val="35000"/>
            <a:lumOff val="65000"/>
          </a:srgbClr>
        </a:solidFill>
        <a:round/>
      </a:ln>
    </cs:spPr>
  </cs:dropLine>
  <cs:errorBar>
    <cs:lnRef idx="0"/>
    <cs:fillRef idx="0"/>
    <cs:effectRef idx="0"/>
    <cs:fontRef idx="minor">
      <a:srgbClr val="000000"/>
    </cs:fontRef>
    <cs:spPr>
      <a:ln w="9525" cap="flat" cmpd="sng" algn="ctr">
        <a:solidFill>
          <a:srgbClr val="000000">
            <a:lumMod val="65000"/>
            <a:lumOff val="35000"/>
          </a:srgbClr>
        </a:solidFill>
        <a:round/>
      </a:ln>
    </cs:spPr>
  </cs:errorBar>
  <cs:floor>
    <cs:lnRef idx="0"/>
    <cs:fillRef idx="0"/>
    <cs:effectRef idx="0"/>
    <cs:fontRef idx="minor">
      <a:srgbClr val="000000"/>
    </cs:fontRef>
    <cs:spPr>
      <a:noFill/>
      <a:ln>
        <a:noFill/>
      </a:ln>
    </cs:spPr>
  </cs:floor>
  <cs:gridlineMajor>
    <cs:lnRef idx="0"/>
    <cs:fillRef idx="0"/>
    <cs:effectRef idx="0"/>
    <cs:fontRef idx="minor">
      <a:srgbClr val="000000"/>
    </cs:fontRef>
    <cs:spPr>
      <a:ln w="9525" cap="flat" cmpd="sng" algn="ctr">
        <a:solidFill>
          <a:srgbClr val="FFFFFF">
            <a:lumMod val="90200"/>
          </a:srgbClr>
        </a:solidFill>
        <a:round/>
      </a:ln>
    </cs:spPr>
  </cs:gridlineMajor>
  <cs:gridlineMinor>
    <cs:lnRef idx="0"/>
    <cs:fillRef idx="0"/>
    <cs:effectRef idx="0"/>
    <cs:fontRef idx="minor">
      <a:srgbClr val="000000"/>
    </cs:fontRef>
    <cs:spPr>
      <a:ln w="9525" cap="flat" cmpd="sng" algn="ctr">
        <a:solidFill>
          <a:srgbClr val="000000">
            <a:lumMod val="5000"/>
            <a:lumOff val="95000"/>
          </a:srgbClr>
        </a:solidFill>
        <a:round/>
      </a:ln>
    </cs:spPr>
  </cs:gridlineMinor>
  <cs:hiLoLine>
    <cs:lnRef idx="0"/>
    <cs:fillRef idx="0"/>
    <cs:effectRef idx="0"/>
    <cs:fontRef idx="minor">
      <a:srgbClr val="000000"/>
    </cs:fontRef>
    <cs:spPr>
      <a:ln w="9525" cap="flat" cmpd="sng" algn="ctr">
        <a:solidFill>
          <a:srgbClr val="000000">
            <a:lumMod val="50000"/>
            <a:lumOff val="50000"/>
          </a:srgbClr>
        </a:solidFill>
        <a:round/>
      </a:ln>
    </cs:spPr>
  </cs:hiLoLine>
  <cs:leaderLine>
    <cs:lnRef idx="0"/>
    <cs:fillRef idx="0"/>
    <cs:effectRef idx="0"/>
    <cs:fontRef idx="minor">
      <a:srgbClr val="000000"/>
    </cs:fontRef>
    <cs:spPr>
      <a:ln w="9525" cap="flat" cmpd="sng" algn="ctr">
        <a:solidFill>
          <a:srgbClr val="000000">
            <a:lumMod val="35000"/>
            <a:lumOff val="65000"/>
          </a:srgbClr>
        </a:solidFill>
        <a:round/>
      </a:ln>
    </cs:spPr>
  </cs:leaderLine>
  <cs:legend>
    <cs:lnRef idx="0"/>
    <cs:fillRef idx="0"/>
    <cs:effectRef idx="0"/>
    <cs:fontRef idx="minor">
      <a:srgbClr val="000000">
        <a:lumMod val="65000"/>
        <a:lumOff val="35000"/>
      </a:srgbClr>
    </cs:fontRef>
    <cs:defRPr sz="900" kern="1200"/>
  </cs:legend>
  <cs:plotArea mods="allowNoFillOverride allowNoLineOverride">
    <cs:lnRef idx="0"/>
    <cs:fillRef idx="0"/>
    <cs:effectRef idx="0"/>
    <cs:fontRef idx="minor">
      <a:srgbClr val="000000"/>
    </cs:fontRef>
  </cs:plotArea>
  <cs:plotArea3D mods="allowNoFillOverride allowNoLineOverride">
    <cs:lnRef idx="0"/>
    <cs:fillRef idx="0"/>
    <cs:effectRef idx="0"/>
    <cs:fontRef idx="minor">
      <a:srgbClr val="000000"/>
    </cs:fontRef>
  </cs:plotArea3D>
  <cs:seriesAxis>
    <cs:lnRef idx="0"/>
    <cs:fillRef idx="0"/>
    <cs:effectRef idx="0"/>
    <cs:fontRef idx="minor">
      <a:srgbClr val="000000">
        <a:lumMod val="65000"/>
        <a:lumOff val="35000"/>
      </a:srgbClr>
    </cs:fontRef>
    <cs:defRPr sz="900" kern="1200"/>
  </cs:seriesAxis>
  <cs:seriesLine>
    <cs:lnRef idx="0"/>
    <cs:fillRef idx="0"/>
    <cs:effectRef idx="0"/>
    <cs:fontRef idx="minor">
      <a:srgbClr val="000000"/>
    </cs:fontRef>
    <cs:spPr>
      <a:ln w="9525" cap="flat" cmpd="sng" algn="ctr">
        <a:solidFill>
          <a:srgbClr val="000000">
            <a:lumMod val="35000"/>
            <a:lumOff val="65000"/>
          </a:srgbClr>
        </a:solidFill>
        <a:round/>
      </a:ln>
    </cs:spPr>
  </cs:seriesLine>
  <cs:title>
    <cs:lnRef idx="0"/>
    <cs:fillRef idx="0"/>
    <cs:effectRef idx="0"/>
    <cs:fontRef idx="minor">
      <a:srgbClr val="000000">
        <a:lumMod val="75000"/>
        <a:lumOff val="25000"/>
      </a:srgbClr>
    </cs:fontRef>
    <cs:defRPr sz="1400" b="1" kern="1200" baseline="0"/>
  </cs:title>
  <cs:trendline>
    <cs:lnRef idx="0">
      <cs:styleClr val="auto"/>
    </cs:lnRef>
    <cs:fillRef idx="0"/>
    <cs:effectRef idx="0"/>
    <cs:fontRef idx="minor">
      <a:srgbClr val="000000"/>
    </cs:fontRef>
    <cs:spPr>
      <a:ln w="19050" cap="rnd">
        <a:solidFill>
          <a:srgbClr val="FFFFFF"/>
        </a:solidFill>
        <a:prstDash val="sysDot"/>
      </a:ln>
    </cs:spPr>
  </cs:trendline>
  <cs:trendlineLabel>
    <cs:lnRef idx="0"/>
    <cs:fillRef idx="0"/>
    <cs:effectRef idx="0"/>
    <cs:fontRef idx="minor">
      <a:srgbClr val="000000">
        <a:lumMod val="65000"/>
        <a:lumOff val="35000"/>
      </a:srgbClr>
    </cs:fontRef>
    <cs:defRPr sz="900" kern="1200"/>
  </cs:trendlineLabel>
  <cs:upBar>
    <cs:lnRef idx="0"/>
    <cs:fillRef idx="0"/>
    <cs:effectRef idx="0"/>
    <cs:fontRef idx="minor">
      <a:srgbClr val="000000"/>
    </cs:fontRef>
    <cs:spPr>
      <a:solidFill>
        <a:srgbClr val="FFFFFF"/>
      </a:solidFill>
      <a:ln w="9525" cap="flat" cmpd="sng" algn="ctr">
        <a:solidFill>
          <a:srgbClr val="000000">
            <a:lumMod val="65000"/>
            <a:lumOff val="35000"/>
          </a:srgbClr>
        </a:solidFill>
        <a:round/>
      </a:ln>
    </cs:spPr>
  </cs:upBar>
  <cs:valueAxis>
    <cs:lnRef idx="0"/>
    <cs:fillRef idx="0"/>
    <cs:effectRef idx="0"/>
    <cs:fontRef idx="minor">
      <a:srgbClr val="000000">
        <a:lumMod val="65000"/>
        <a:lumOff val="35000"/>
      </a:srgbClr>
    </cs:fontRef>
    <cs:defRPr sz="900" kern="1200"/>
  </cs:valueAxis>
  <cs:wall>
    <cs:lnRef idx="0"/>
    <cs:fillRef idx="0"/>
    <cs:effectRef idx="0"/>
    <cs:fontRef idx="minor">
      <a:srgbClr val="000000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10028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0">
      <cs:styleClr val="auto"/>
    </cs:fillRef>
    <cs:effectRef idx="0"/>
    <cs:fontRef idx="minor">
      <a:schemeClr val="dk1"/>
    </cs:fontRef>
    <cs:spPr>
      <a:ln w="28575" cap="rnd">
        <a:solidFill>
          <a:schemeClr val="phClr"/>
        </a:solidFill>
        <a:round/>
      </a:ln>
      <a:effectLst/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10298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chemeClr val="dk1"/>
    </cs:fontRef>
    <cs:spPr>
      <a:ln>
        <a:noFill/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chart" Target="../charts/chart2.xml"/><Relationship Id="rId3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chart" Target="../charts/chart3.xml"/><Relationship Id="rId2" Type="http://schemas.openxmlformats.org/officeDocument/2006/relationships/chart" Target="../charts/chart4.xml"/><Relationship Id="rId3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chart" Target="../charts/chart5.xml"/><Relationship Id="rId2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chart" Target="../charts/chart6.xml"/><Relationship Id="rId2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011680"/>
            <a:ext cx="10881360" cy="86868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3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ACME 电子商务 MSS月度安全报告（技术版）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315968"/>
            <a:ext cx="6766560" cy="5029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800" b="1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客户：ACME 电子商务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873752"/>
            <a:ext cx="6766560" cy="41148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报告周期：2025-11-01 ~ 2025-11-30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5330952"/>
            <a:ext cx="6766560" cy="41148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2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技术详细版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742432"/>
            <a:ext cx="6766560" cy="41148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2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密级：INTERNAL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6153912"/>
            <a:ext cx="6766560" cy="41148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0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生成时间：2025-12-10T09:29:56Z</a:t>
            </a:r>
          </a:p>
        </p:txBody>
      </p:sp>
      <p:graphicFrame>
        <p:nvGraphicFramePr>
          <p:cNvPr id="25" name="图表 24"/>
          <p:cNvGraphicFramePr/>
          <p:nvPr/>
        </p:nvGraphicFramePr>
        <p:xfrm>
          <a:off x="8156575" y="4389120"/>
          <a:ext cx="3390265" cy="229489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14" name="图表 13" descr="7b0a202020202263686172745265734964223a20223230343736383734220a7d0a"/>
          <p:cNvGraphicFramePr/>
          <p:nvPr/>
        </p:nvGraphicFramePr>
        <p:xfrm>
          <a:off x="5151120" y="1000125"/>
          <a:ext cx="3005455" cy="1717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01168"/>
            <a:ext cx="11247120" cy="621792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800" b="1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安全态势仪表盘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078992"/>
            <a:ext cx="10881360" cy="31089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1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526280"/>
            <a:ext cx="10881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技术评估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892040"/>
            <a:ext cx="10881360" cy="16002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1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本期威胁态势呈现典型电商行业特征：1）外部攻击日均188次，恶意外联日均91次，攻击面压力持续存在；2）检测系统有效拦截99.3%的攻击（MTTD 31分钟达标），但高危事件MTTR达274分钟暴露响应瓶颈；3）云配置风险（Cloud Misconfig+25%）和SSH暴力破解（+11%）呈上升趋势，需加强云资产合规管控和认证加固。</a:t>
            </a:r>
          </a:p>
        </p:txBody>
      </p:sp>
      <p:graphicFrame>
        <p:nvGraphicFramePr>
          <p:cNvPr id="30" name="图表 29" descr="7b0a202020202263686172745265734964223a20223230323931393734220a7d0a"/>
          <p:cNvGraphicFramePr/>
          <p:nvPr/>
        </p:nvGraphicFramePr>
        <p:xfrm>
          <a:off x="1065530" y="1953260"/>
          <a:ext cx="2987993" cy="168624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10" name="图表 9" descr="7b0a202020202263686172745265734964223a20223230323931393734220a7d0a"/>
          <p:cNvGraphicFramePr/>
          <p:nvPr/>
        </p:nvGraphicFramePr>
        <p:xfrm>
          <a:off x="6983095" y="2689543"/>
          <a:ext cx="3010535" cy="18364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01168"/>
            <a:ext cx="11247120" cy="621792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800" b="1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告警深度分析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051560"/>
            <a:ext cx="10881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严重程度分布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10881360" cy="6858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1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423160"/>
            <a:ext cx="5166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Top告警规则</a:t>
            </a:r>
          </a:p>
        </p:txBody>
      </p:sp>
      <p:sp>
        <p:nvSpPr>
          <p:cNvPr id="16" name="TextBox 5"/>
          <p:cNvSpPr txBox="1"/>
          <p:nvPr/>
        </p:nvSpPr>
        <p:spPr>
          <a:xfrm>
            <a:off x="777240" y="1417320"/>
            <a:ext cx="10881360" cy="6858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p>
            <a:pPr>
              <a:defRPr sz="11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/>
            </a:r>
          </a:p>
        </p:txBody>
      </p:sp>
      <p:grpSp>
        <p:nvGrpSpPr>
          <p:cNvPr id="19" name="组合 18"/>
          <p:cNvGrpSpPr/>
          <p:nvPr/>
        </p:nvGrpSpPr>
        <p:grpSpPr>
          <a:xfrm>
            <a:off x="1624330" y="3891915"/>
            <a:ext cx="11106150" cy="3486785"/>
            <a:chOff x="2042" y="13744"/>
            <a:chExt cx="34390" cy="3714"/>
          </a:xfrm>
        </p:grpSpPr>
        <p:sp>
          <p:nvSpPr>
            <p:cNvPr id="20" name="Shape 1"/>
            <p:cNvSpPr/>
            <p:nvPr/>
          </p:nvSpPr>
          <p:spPr>
            <a:xfrm>
              <a:off x="2042" y="13744"/>
              <a:ext cx="34390" cy="3714"/>
            </a:xfrm>
            <a:prstGeom prst="roundRect">
              <a:avLst>
                <a:gd name="adj" fmla="val 6757"/>
              </a:avLst>
            </a:prstGeom>
            <a:noFill/>
            <a:ln w="12700">
              <a:solidFill>
                <a:srgbClr val="CCE1F5"/>
              </a:solidFill>
              <a:prstDash val="solid"/>
            </a:ln>
          </p:spPr>
        </p:sp>
        <p:graphicFrame>
          <p:nvGraphicFramePr>
            <p:cNvPr id="29" name="图表 28"/>
            <p:cNvGraphicFramePr/>
            <p:nvPr/>
          </p:nvGraphicFramePr>
          <p:xfrm>
            <a:off x="2318" y="13879"/>
            <a:ext cx="33839" cy="3398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1"/>
            </a:graphicData>
          </a:graphic>
        </p:graphicFrame>
      </p:grp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777240" y="2788920"/>
          <a:ext cx="516636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1590"/>
                <a:gridCol w="1291590"/>
                <a:gridCol w="1291590"/>
                <a:gridCol w="129159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规则ID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规则名称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触发次数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误报率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R-SSH-BRUTE-01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SSH 暴力破解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857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13%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R-O365-PHISH-02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O365 钓鱼邮件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785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23%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R-CLOUD-S3-OPEN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对象存储公开访问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475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01168"/>
            <a:ext cx="11247120" cy="621792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800" b="1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事件时间线与处置轨迹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051560"/>
            <a:ext cx="10881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事件时间线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10881360" cy="21488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1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/>
            </a:r>
          </a:p>
        </p:txBody>
      </p:sp>
      <p:graphicFrame>
        <p:nvGraphicFramePr>
          <p:cNvPr id="15" name="图表 14"/>
          <p:cNvGraphicFramePr/>
          <p:nvPr/>
        </p:nvGraphicFramePr>
        <p:xfrm>
          <a:off x="890270" y="3889375"/>
          <a:ext cx="3971608" cy="281781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777240" y="1417320"/>
          <a:ext cx="10881360" cy="2148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1554480"/>
                <a:gridCol w="1554480"/>
                <a:gridCol w="1554480"/>
                <a:gridCol w="1554480"/>
                <a:gridCol w="1554480"/>
                <a:gridCol w="1554480"/>
              </a:tblGrid>
              <a:tr h="35814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事件ID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事件标题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级别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检测时间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MTTD(分钟)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MTTR(分钟)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状态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INC-20251101-001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云侧AccessKey泄露风险处置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medium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2025-11-01T03:49:00Z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90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closed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INC-20251101-002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生产环境对外暴露服务被扫描利用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medium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2025-11-01T08:47:00Z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38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179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closed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INC-20251101-003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生产环境对外暴露服务被扫描利用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medium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2025-11-01T07:45:00Z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50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190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monitoring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INC-20251101-004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疑似勒索前置横向移动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high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2025-11-01T02:35:00Z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29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94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closed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INC-20251101-005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可疑账号异常登录与提权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high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2025-11-01T01:40:00Z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30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274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closed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01168"/>
            <a:ext cx="11247120" cy="621792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800" b="1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高危事件详情分析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60120"/>
            <a:ext cx="11247120" cy="242316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051560"/>
            <a:ext cx="10881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【中危】云侧AccessKey泄露风险处置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10881360" cy="1874519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0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事件概述：检测到生产环境AccessKey被异常访问，攻击者可能通过泄露的凭证获取云资源访问权限。判定依据：检测到非工作时间的异常API调用行为。攻击向量：通过泄露的AccessKey直接调用云平台API。影响范围：prod-web-02主机。处置措施：隔离主机、封禁可疑IP。根因分析：AccessKey未及时轮换且权限过度分配，建议实施最小权限原则并启用密钥轮换策略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3520440"/>
            <a:ext cx="11247120" cy="242316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3611880"/>
            <a:ext cx="10881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【中危】生产环境对外暴露服务被扫描利用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977639"/>
            <a:ext cx="10881360" cy="1874519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0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事件概述：暴露的数据库和跳板机服务被恶意扫描探测。判定依据：检测到异常端口扫描行为及后续的利用尝试。攻击向量：通过互联网暴露的SSH和数据库端口。影响范围：db-core-01、bastion-01、prod-web-01。处置措施：隔离资产、封禁IP、重置凭据并强制MFA、补丁加固。根因分析：服务暴露面管理不足，建议实施网络分段和严格访问控制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355080"/>
            <a:ext cx="11247120" cy="41148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9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攻击模式分析：1）TTP聚焦于暴露服务扫描（SSH/RDP）、暴力破解及云资产凭证泄露 2）主要针对Kubernetes节点和数据库资产 3）利用未修复的Cloud Misconfig（如S3公开访问） 4）与近期披露的云环境供应链攻击手法相似，建议加强云审计日志分析。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01168"/>
            <a:ext cx="11247120" cy="621792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800" b="1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漏洞态势详情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60120"/>
            <a:ext cx="11247120" cy="196596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051560"/>
            <a:ext cx="10881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漏洞分布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10881360" cy="14173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1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/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3063240"/>
            <a:ext cx="11247120" cy="214884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3154680"/>
            <a:ext cx="10881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CVE技术分析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520440"/>
            <a:ext cx="10881360" cy="16002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0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CVE-2024-3094（XZ Utils后门）：攻击者可通过特制压缩包执行任意代码，影响版本&lt;=5.2.10。当前环境2个资产受影响，风险等级Critical。修复方案：升级至5.2.11+。CVE-2023-46604（ActiveMQ RCE）：未授权访问可触发反序列化漏洞，影响版本&lt;=5.17.0。当前1个资产受影响，修复中。建议部署WAF规则拦截异常序列化请求作为临时缓解。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5349240"/>
            <a:ext cx="11247120" cy="123444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5440680"/>
            <a:ext cx="10881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补丁状态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806440"/>
            <a:ext cx="10881360" cy="6858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0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1) 已修复2个Critical漏洞（含XZ Utils） 2) ActiveMQ RCE漏洞预计12月15日前完成修复 3) 15个High漏洞中2个未修复，需通过网络ACL限制访问 4) 优先关注未修复的OpenSSH相关漏洞（CVE-2024-6387）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5577840" y="1417320"/>
          <a:ext cx="6080760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6152"/>
                <a:gridCol w="1216152"/>
                <a:gridCol w="1216152"/>
                <a:gridCol w="1216152"/>
                <a:gridCol w="1216152"/>
              </a:tblGrid>
              <a:tr h="35433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CVE编号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漏洞名称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严重程度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影响资产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修复状态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CVE-2024-3094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XZ Utils 后门风险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critical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patched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CVE-2023-46604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ActiveMQ RCE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high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in_progress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CVE-2024-6387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OpenSSH regreSSHion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high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patched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01168"/>
            <a:ext cx="11247120" cy="621792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800" b="1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攻击面与暴露分析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60120"/>
            <a:ext cx="5532120" cy="192024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051560"/>
            <a:ext cx="5166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暴露服务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5166360" cy="13716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9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{{EXPOSED_SERVICES_TABLE}}</a:t>
            </a:r>
          </a:p>
        </p:txBody>
      </p:sp>
      <p:sp>
        <p:nvSpPr>
          <p:cNvPr id="7" name="Rectangle 6"/>
          <p:cNvSpPr/>
          <p:nvPr/>
        </p:nvSpPr>
        <p:spPr>
          <a:xfrm>
            <a:off x="6309360" y="960120"/>
            <a:ext cx="5532120" cy="192024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051560"/>
            <a:ext cx="5166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暴露分析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417320"/>
            <a:ext cx="5166360" cy="13716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0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当前暴露服务风险：1）SSH(22)暴露17资产，建议限制为特定IP白名单 2）RDP(3389)暴露1资产，需立即下线或迁移至VPN内 3）Kibana(5601)和Grafana(3000)存在未授权访问风险，建议启用认证和HTTPS加密 4）所有暴露服务需定期进行渗透测试验证防护有效性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3017520"/>
            <a:ext cx="5532120" cy="356616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3108960"/>
            <a:ext cx="5166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攻击面趋势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474720"/>
            <a:ext cx="5166360" cy="30175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1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本月外部IP数12，新增暴露服务3个（Kibana/Grafana）。攻击面呈现扩大趋势，需重点关注新增暴露服务的合规性。盲区包括未监控的物联网设备端口暴露（占比400/2500）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3017520"/>
            <a:ext cx="5532120" cy="356616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3108960"/>
            <a:ext cx="5166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收敛建议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3474720"/>
            <a:ext cx="5166360" cy="30175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0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1) SSH服务实施IP白名单并启用速率限制（P0，2工作日） 2) RDP服务迁移至私有网络（P1，3工作日） 3) 非必要Web服务（Kibana）关闭公网访问（P0，1工作日） 4) 所有暴露服务启用TLS 1.3加密（P1，5工作日） 5) 实施自动暴露面发现工具（P2，持续）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777240" y="1417320"/>
          <a:ext cx="516636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83180"/>
                <a:gridCol w="2583180"/>
              </a:tblGrid>
              <a:tr h="27432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服务类型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暴露资产数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SSH(22)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17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RDP(3389)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Kibana(5601)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Grafana(3000)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01168"/>
            <a:ext cx="11247120" cy="621792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800" b="1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云安全详细分析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60120"/>
            <a:ext cx="11247120" cy="246888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051560"/>
            <a:ext cx="10881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云配置问题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10881360" cy="1874519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0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/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3611880"/>
            <a:ext cx="5532120" cy="297180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3703320"/>
            <a:ext cx="5166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IAM风险分析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069080"/>
            <a:ext cx="5166360" cy="24231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0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当前IAM风险：1个高权限账号未启用MFA，需在3个工作日内补全。存在服务账号权限过度授权（如CloudAdmin角色分配给非运维人员）。建议：1) 实施基于角色的最小权限策略 2) 定期轮换AccessKey（建议周期&lt;=90天） 3) 启用多因子认证（MFA）强制策略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3611880"/>
            <a:ext cx="5532120" cy="297180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3703320"/>
            <a:ext cx="5166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合规检查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4069080"/>
            <a:ext cx="5166360" cy="24231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0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1) 已满足CIS-1.1（关闭不必要的端口） 2) 存在差距：CIS-2.1（MFA启用率未达100%） 3) 需优先整改：CIS-2.2（对象存储权限控制） 4) 未满足等保2.0三级要求：未实现统一身份认证 5) 建议启用云平台内置的合规扫描工具每日检查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777240" y="1417320"/>
          <a:ext cx="10881360" cy="18745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7120"/>
                <a:gridCol w="3627120"/>
                <a:gridCol w="3627120"/>
              </a:tblGrid>
              <a:tr h="468629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风险类型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数量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趋势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</a:tr>
              <a:tr h="468629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0.安全组0.0.0/0暴露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up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68629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对象存储公开访问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flat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</a:tr>
              <a:tr h="468632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未启用MFA的高权限账号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down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01168"/>
            <a:ext cx="11247120" cy="621792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800" b="1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技术整改建议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60120"/>
            <a:ext cx="11247120" cy="224028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051560"/>
            <a:ext cx="10881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整改方案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10881360" cy="16916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0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1. 修复高危漏洞CVE-2023-46604：
- 目标：消除ActiveMQ远程代码执行风险
- 步骤：执行`yum update activemq`或`apt-get upgrade activemq`
- 效果：阻断攻击者利用RCE漏洞
- 风险：更新后需验证消息队列服务可用性
2. 限制SSH访问源IP：
- 目标：降低暴力破解攻击面
- 步骤：修改安全组规则，使用AWS CLI执行`aws ec2 authorize-security-group-ingress`添加白名单
- 效果：减少857次/月SSH暴力破解尝试
- 风险：需同步更新运维团队IP列表
3. 关闭非必要端口暴露：
- 目标：消除Kibana/Grafana外部暴露
- 步骤：修改云防火墙策略，执行`iptables -A INPUT -p tcp --dport 5601 -j DROP`
- 效果：减少3个对外暴露服务
- 风险：需确认监控系统是否需要外网访问
4. 强制MFA启用：
- 目标：消除未启用MFA的高权限账号
- 步骤：通过AWS IAM控制台执行`aws iam enable-mfa-device`为root用户启用
- 效果：提升账号安全性
- 风险：需提前准备备用MFA设备
5. 优化对象存储权限：
- 目标：修复S3公开访问配置
- 步骤：使用`aws s3api put-bucket-policy`设置Deny Public Access策略
- 效果：消除475次/月云存储公开访问告警
- 风险：需验证现有共享策略是否满足业务需求
6. 实施网络分段：
- 目标：隔离核心数据库与Web层
- 步骤：创建新VPC子网，使用`aws ec2 create-subnet`并配置路由表
- 效果：阻断横向移动攻击路径
- 风险：需重新配置跨子网访问权限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3337560"/>
            <a:ext cx="5532120" cy="324612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3429000"/>
            <a:ext cx="5166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检测能力提升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794760"/>
            <a:ext cx="5166360" cy="269748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0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1. 新增检测规则：
- 勒索软件横向移动检测（基于INC-20251101-004模式）
- Office 365异常登录时间检测（结合地理位置分析）
2. 规则调优：
- 降低R-SSH-BRUTE-01误报率：增加IP信誉库白名单过滤
- 优化R-O365-PHISH-02：添加邮件发件人域名验证逻辑
3. 日志覆盖改进：
- 部署容器运行时审计日志采集（针对Kubernetes集群）
- 启用MySQL慢查询日志监控
4. 检测盲区补充：
- 增加物联网设备流量基线分析
- 实施Redis未授权访问实时告警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3337560"/>
            <a:ext cx="5532120" cy="324612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3429000"/>
            <a:ext cx="5166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安全加固清单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3794760"/>
            <a:ext cx="5166360" cy="269748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0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1. 操作系统基线：检查SSH配置（`grep PermitRootLogin /etc/ssh/sshd_config`）
2. 应用安全配置：验证Nginx HTTP Strict Transport Security (HSTS)头
3. 网络访问控制：检查云安全组0.0.0.0/0暴露情况
4. 认证授权：审计所有云账号MFA启用状态
5. 数据库安全：验证MySQL远程连接限制（`grep bind-address /etc/mysql/my.cnf`）
6. 容器安全：检查Docker守护进程TLS配置
7. 日志审计：确认关键服务syslog转发配置
8. 文件完整性：部署AIDE文件监控（`aide --check`）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01168"/>
            <a:ext cx="11247120" cy="621792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800" b="1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附录：数据与证据索引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60120"/>
            <a:ext cx="5532120" cy="109728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051560"/>
            <a:ext cx="516636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2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证据索引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325880"/>
            <a:ext cx="5166360" cy="6858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9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告警数据 | qry_alerts_total_v7
周趋势 | qry_alerts_trend_weekly_v4
TOP分类 | qry_top_categories_v5
TOP规则 | qry_top_rules_v3
事件数据 | qry_incidents_v3
漏洞数据 | qry_vuln_summary_v2
暴露面数据 | qry_exposure_v2</a:t>
            </a:r>
          </a:p>
        </p:txBody>
      </p:sp>
      <p:sp>
        <p:nvSpPr>
          <p:cNvPr id="7" name="Rectangle 6"/>
          <p:cNvSpPr/>
          <p:nvPr/>
        </p:nvSpPr>
        <p:spPr>
          <a:xfrm>
            <a:off x="6309360" y="960120"/>
            <a:ext cx="5532120" cy="109728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051560"/>
            <a:ext cx="516636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2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数据时效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325880"/>
            <a:ext cx="5166360" cy="6858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0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T+1 day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2148840"/>
            <a:ext cx="11247120" cy="77724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240280"/>
            <a:ext cx="310896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2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数据范围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86200" y="2240280"/>
            <a:ext cx="7955279" cy="5029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0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告警数据已聚合WAF与EDR重复告警；漏洞数据包含云镜像与容器镜像扫描结果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3017520"/>
            <a:ext cx="5532120" cy="123444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108960"/>
            <a:ext cx="516636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2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漏洞说明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383280"/>
            <a:ext cx="5166360" cy="7772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0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漏洞数据来源于定期安全扫描，覆盖主机、应用和网络设备，包含云环境基线检查结果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3017520"/>
            <a:ext cx="5532120" cy="123444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3108960"/>
            <a:ext cx="516636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2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证据说明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3383280"/>
            <a:ext cx="5166360" cy="7772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0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原始日志和证据数据保存于安全运营平台，可通过查询ID追溯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4343400"/>
            <a:ext cx="5532120" cy="105156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434840"/>
            <a:ext cx="516636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2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资产范围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709160"/>
            <a:ext cx="5166360" cy="5943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0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{{ASSET_GROUPS_LIST}}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9360" y="4343400"/>
            <a:ext cx="5532120" cy="105156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4434840"/>
            <a:ext cx="516636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2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关键服务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4709160"/>
            <a:ext cx="5166360" cy="5943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0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Kubernetes, MySQL, Redis, Nginx, Office 365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" y="5486400"/>
            <a:ext cx="11247120" cy="132588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5577840"/>
            <a:ext cx="1088136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2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术语表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5852160"/>
            <a:ext cx="10881360" cy="9144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9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MTTD（平均检测时间）| 从威胁发生到被发现的平均时长
MTTR（平均响应时间）| 从检测到威胁到完成处置的平均时长
TTP（战术技术程序）| 攻击者使用的特定攻击模式
IOC（失陷指标）| 用于识别恶意活动的特定数据
EDR（终端检测响应）| 终端威胁检测与响应系统
SIEM（安全信息事件管理）| 安全事件集中分析平台
WAF（Web应用防火墙）| 保护Web应用的安全防护系统
MFA（多重身份验证）| 多因素身份认证机制
S3（Simple Storage Service）| 亚马逊对象存储服务
VPC（Virtual Private Cloud）| 虚拟私有云网络</a:t>
            </a:r>
          </a:p>
        </p:txBody>
      </p:sp>
      <p:graphicFrame>
        <p:nvGraphicFramePr>
          <p:cNvPr id="28" name="Table 27"/>
          <p:cNvGraphicFramePr>
            <a:graphicFrameLocks noGrp="1"/>
          </p:cNvGraphicFramePr>
          <p:nvPr/>
        </p:nvGraphicFramePr>
        <p:xfrm>
          <a:off x="777240" y="4709160"/>
          <a:ext cx="5166360" cy="182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2120"/>
                <a:gridCol w="1722120"/>
                <a:gridCol w="1722120"/>
              </a:tblGrid>
              <a:tr h="6096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资产组ID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资产组名称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资产数量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</a:tr>
              <a:tr h="609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ag-core-prod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核心生产资产组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250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09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ag-office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办公终端资产组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495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NzBiN2QxNGQ4NjIwZWE5Mjc3ZDY1N2NlMGYwOTU3MDUifQ==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彩色5">
    <a:dk1>
      <a:srgbClr val="000000"/>
    </a:dk1>
    <a:lt1>
      <a:srgbClr val="FFFFFF"/>
    </a:lt1>
    <a:dk2>
      <a:srgbClr val="212745"/>
    </a:dk2>
    <a:lt2>
      <a:srgbClr val="B4DCFA"/>
    </a:lt2>
    <a:accent1>
      <a:srgbClr val="4E67C8"/>
    </a:accent1>
    <a:accent2>
      <a:srgbClr val="5ECCF3"/>
    </a:accent2>
    <a:accent3>
      <a:srgbClr val="A7EA52"/>
    </a:accent3>
    <a:accent4>
      <a:srgbClr val="5DCEAF"/>
    </a:accent4>
    <a:accent5>
      <a:srgbClr val="FF8021"/>
    </a:accent5>
    <a:accent6>
      <a:srgbClr val="F14124"/>
    </a:accent6>
    <a:hlink>
      <a:srgbClr val="56C7AA"/>
    </a:hlink>
    <a:folHlink>
      <a:srgbClr val="59A8D1"/>
    </a:folHlink>
  </a:clrScheme>
  <a:fontScheme name="Office">
    <a:majorFont>
      <a:latin typeface="Calibri Light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.xml><?xml version="1.0" encoding="utf-8"?>
<a:themeOverride xmlns:a="http://schemas.openxmlformats.org/drawingml/2006/main">
  <a:clrScheme name="WPS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874CB"/>
    </a:accent1>
    <a:accent2>
      <a:srgbClr val="EE822F"/>
    </a:accent2>
    <a:accent3>
      <a:srgbClr val="F2BA02"/>
    </a:accent3>
    <a:accent4>
      <a:srgbClr val="75BD42"/>
    </a:accent4>
    <a:accent5>
      <a:srgbClr val="30C0B4"/>
    </a:accent5>
    <a:accent6>
      <a:srgbClr val="E54C5E"/>
    </a:accent6>
    <a:hlink>
      <a:srgbClr val="0026E5"/>
    </a:hlink>
    <a:folHlink>
      <a:srgbClr val="7E1FAD"/>
    </a:folHlink>
  </a:clrScheme>
  <a:fontScheme name="Office">
    <a:majorFont>
      <a:latin typeface="Calibri Light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3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"/>
      <a:ea typeface=""/>
      <a:cs typeface=""/>
    </a:majorFont>
    <a:minorFont>
      <a:latin typeface=""/>
      <a:ea typeface=""/>
      <a:cs typeface="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satMod val="110000"/>
              <a:lum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satMod val="105000"/>
              <a:lum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shade val="94000"/>
            </a:schemeClr>
          </a:gs>
          <a:gs pos="50000">
            <a:schemeClr val="phClr">
              <a:lumMod val="110000"/>
              <a:satMod val="100000"/>
              <a:tint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1505</Words>
  <Application>WPS 演示</Application>
  <PresentationFormat>On-screen Show (4:3)</PresentationFormat>
  <Paragraphs>156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8" baseType="lpstr">
      <vt:lpstr>Arial</vt:lpstr>
      <vt:lpstr>宋体</vt:lpstr>
      <vt:lpstr>Wingdings</vt:lpstr>
      <vt:lpstr>Arial</vt:lpstr>
      <vt:lpstr>微软雅黑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User</cp:lastModifiedBy>
  <cp:revision>14</cp:revision>
  <dcterms:created xsi:type="dcterms:W3CDTF">2013-01-27T09:14:00Z</dcterms:created>
  <dcterms:modified xsi:type="dcterms:W3CDTF">2026-01-27T11:40:18Z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8A093E51843841BCAA984D1F304BD387_12</vt:lpwstr>
  </property>
  <property fmtid="{D5CDD505-2E9C-101B-9397-08002B2CF9AE}" pid="3" name="KSOProductBuildVer">
    <vt:lpwstr>2052-12.1.0.16729</vt:lpwstr>
  </property>
</Properties>
</file>