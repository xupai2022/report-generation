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1365" cy="6858000" type="screen4x3"/>
  <p:notesSz cx="6858000" cy="9144000"/>
  <p:custDataLst>
    <p:tags r:id="rId16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ableStyles" Target="tableStyles.xml"/><Relationship Id="rId16" Type="http://schemas.openxmlformats.org/officeDocument/2006/relationships/tags" Target="tags/tag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oleObject" Target="/Users/macos/Desktop/For%20Work/&#27969;&#31243;%26&#35013;&#22791;/&#23458;&#25143;&#27719;&#25253;/&#24456;&#22810;&#40060;/&#25253;&#21578;&#27169;&#26495;/&#24456;&#22810;&#40060;&#23433;&#20840;&#36816;&#33829;&#24037;&#20316;&#25253;&#21578;-20250801.xlsx" TargetMode="External"/><Relationship Id="rId2" Type="http://schemas.microsoft.com/office/2011/relationships/chartStyle" Target="style1.xml"/><Relationship Id="rId3" Type="http://schemas.microsoft.com/office/2011/relationships/chartColorStyle" Target="colors1.xml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oleObject" Target="/Users/macos/Desktop/For%20Work/&#27969;&#31243;%26&#35013;&#22791;/&#23458;&#25143;&#27719;&#25253;/&#24456;&#22810;&#40060;/&#25253;&#21578;&#27169;&#26495;/&#24456;&#22810;&#40060;&#23433;&#20840;&#36816;&#33829;&#24037;&#20316;&#25253;&#21578;-20250801.xlsx" TargetMode="External"/><Relationship Id="rId2" Type="http://schemas.openxmlformats.org/officeDocument/2006/relationships/themeOverride" Target="../theme/themeOverride1.xml"/><Relationship Id="rId3" Type="http://schemas.microsoft.com/office/2011/relationships/chartStyle" Target="style2.xml"/><Relationship Id="rId4" Type="http://schemas.microsoft.com/office/2011/relationships/chartColorStyle" Target="colors2.xml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oleObject" Target="/Users/macos/Desktop/For%20Work/&#27969;&#31243;%26&#35013;&#22791;/&#23458;&#25143;&#27719;&#25253;/&#24456;&#22810;&#40060;/&#25253;&#21578;&#27169;&#26495;/&#24456;&#22810;&#40060;&#23433;&#20840;&#36816;&#33829;&#24037;&#20316;&#25253;&#21578;-20250801.xlsx" TargetMode="External"/><Relationship Id="rId2" Type="http://schemas.openxmlformats.org/officeDocument/2006/relationships/themeOverride" Target="../theme/themeOverride2.xml"/><Relationship Id="rId3" Type="http://schemas.microsoft.com/office/2011/relationships/chartStyle" Target="style3.xml"/><Relationship Id="rId4" Type="http://schemas.microsoft.com/office/2011/relationships/chartColorStyle" Target="colors3.xml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oleObject" Target="/Users/macos/Desktop/For%20Work/&#27969;&#31243;%26&#35013;&#22791;/&#23458;&#25143;&#27719;&#25253;/&#24456;&#22810;&#40060;/&#25253;&#21578;&#27169;&#26495;/&#24456;&#22810;&#40060;&#23433;&#20840;&#36816;&#33829;&#24037;&#20316;&#25253;&#21578;-20250801.xlsx" TargetMode="External"/><Relationship Id="rId2" Type="http://schemas.openxmlformats.org/officeDocument/2006/relationships/themeOverride" Target="../theme/themeOverride3.xml"/><Relationship Id="rId3" Type="http://schemas.microsoft.com/office/2011/relationships/chartStyle" Target="style4.xml"/><Relationship Id="rId4" Type="http://schemas.microsoft.com/office/2011/relationships/chartColorStyle" Target="colors4.xml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oleObject" Target="/Users/macos/Desktop/For%20Work/&#27969;&#31243;%26&#35013;&#22791;/&#23458;&#25143;&#27719;&#25253;/&#24456;&#22810;&#40060;/&#25253;&#21578;&#27169;&#26495;/&#24456;&#22810;&#40060;&#23433;&#20840;&#36816;&#33829;&#24037;&#20316;&#25253;&#21578;-20250801.xlsx" TargetMode="External"/><Relationship Id="rId2" Type="http://schemas.microsoft.com/office/2011/relationships/chartStyle" Target="style5.xml"/><Relationship Id="rId3" Type="http://schemas.microsoft.com/office/2011/relationships/chartColorStyle" Target="colors5.xml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oleObject" Target="/Users/macos/Desktop/For%20Work/&#27969;&#31243;%26&#35013;&#22791;/&#23458;&#25143;&#27719;&#25253;/&#24456;&#22810;&#40060;/&#25253;&#21578;&#27169;&#26495;/&#24456;&#22810;&#40060;&#23433;&#20840;&#36816;&#33829;&#24037;&#20316;&#25253;&#21578;-20250801.xlsx" TargetMode="External"/><Relationship Id="rId2" Type="http://schemas.microsoft.com/office/2011/relationships/chartStyle" Target="style6.xml"/><Relationship Id="rId3" Type="http://schemas.microsoft.com/office/2011/relationships/chartColorStyle" Target="colors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614410134600158"/>
          <c:y val="0.197183098591549"/>
          <c:w val="0.909527579836368"/>
          <c:h val="0.64321382842509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告警数量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1099</c:v>
                </c:pt>
                <c:pt idx="1">
                  <c:v>1005</c:v>
                </c:pt>
                <c:pt idx="2">
                  <c:v>1002</c:v>
                </c:pt>
                <c:pt idx="3">
                  <c:v>2988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46"/>
        <c:overlap val="-28"/>
        <c:axId val="590885613"/>
        <c:axId val="82692506"/>
      </c:barChart>
      <c:catAx>
        <c:axId val="590885613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82692506"/>
        <c:crosses val="autoZero"/>
        <c:auto val="1"/>
        <c:lblAlgn val="ctr"/>
        <c:lblOffset val="100"/>
        <c:noMultiLvlLbl val="0"/>
      </c:catAx>
      <c:valAx>
        <c:axId val="82692506"/>
        <c:scaling>
          <c:orientation val="minMax"/>
        </c:scaling>
        <c:delete val="0"/>
        <c:axPos val="l"/>
        <c:numFmt formatCode="0.00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59088561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 w="9525" cap="flat" cmpd="sng" algn="ctr">
      <a:noFill/>
      <a:prstDash val="solid"/>
      <a:round/>
    </a:ln>
    <a:effectLst/>
  </c:spPr>
  <c:txPr>
    <a:bodyPr/>
    <a:lstStyle/>
    <a:p>
      <a:pPr>
        <a:defRPr lang="zh-CN">
          <a:solidFill>
            <a:schemeClr val="tx1"/>
          </a:solidFill>
        </a:defRPr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chemeClr val="accent1">
                <a:alpha val="85000"/>
              </a:schemeClr>
            </a:solidFill>
          </c:spPr>
          <c:explosion val="0"/>
          <c:dPt>
            <c:idx val="0"/>
            <c:bubble3D val="0"/>
            <c:spPr>
              <a:solidFill>
                <a:schemeClr val="accent1">
                  <a:alpha val="8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>
                  <a:alpha val="8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>
                  <a:alpha val="8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>
                  <a:alpha val="8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"/>
            <c:bubble3D val="0"/>
            <c:spPr>
              <a:solidFill>
                <a:schemeClr val="accent5">
                  <a:alpha val="8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 forceAA="0">
                <a:spAutoFit/>
              </a:bodyPr>
              <a:lstStyle/>
              <a:p>
                <a:pPr>
                  <a:defRPr lang="zh-CN" sz="900" b="0" i="0" u="none" strike="noStrike" kern="1200" baseline="0">
                    <a:solidFill>
                      <a:schemeClr val="bg2">
                        <a:lumMod val="1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eparator>
</c:separator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挖矿</c:v>
                </c:pt>
                <c:pt idx="1">
                  <c:v>僵尸网络</c:v>
                </c:pt>
                <c:pt idx="2">
                  <c:v>木马</c:v>
                </c:pt>
                <c:pt idx="3">
                  <c:v>账号爆破</c:v>
                </c:pt>
                <c:pt idx="4">
                  <c:v>代理工具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100</c:v>
                </c:pt>
                <c:pt idx="2">
                  <c:v>200</c:v>
                </c:pt>
                <c:pt idx="3">
                  <c:v>200</c:v>
                </c:pt>
                <c:pt idx="4">
                  <c:v>400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3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4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ayout>
        <c:manualLayout>
          <c:xMode val="edge"/>
          <c:yMode val="edge"/>
          <c:x val="0.753644622860765"/>
          <c:y val="0.229474852071006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bg2">
                  <a:lumMod val="1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defRPr>
          </a:pPr>
        </a:p>
      </c:txPr>
    </c:legend>
    <c:plotVisOnly val="1"/>
    <c:dispBlanksAs val="gap"/>
    <c:showDLblsOverMax val="0"/>
  </c:chart>
  <c:spPr>
    <a:noFill/>
    <a:ln w="6350" cap="flat" cmpd="sng" algn="ctr">
      <a:noFill/>
      <a:round/>
    </a:ln>
    <a:effectLst/>
  </c:spPr>
  <c:txPr>
    <a:bodyPr/>
    <a:lstStyle/>
    <a:p>
      <a:pPr>
        <a:defRPr lang="zh-CN">
          <a:solidFill>
            <a:schemeClr val="bg2">
              <a:lumMod val="10000"/>
            </a:schemeClr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  <a:sym typeface="微软雅黑" panose="020B0503020204020204" charset="-122"/>
        </a:defRPr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chemeClr val="accent1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4"/>
            <c:bubble3D val="0"/>
            <c:spPr>
              <a:solidFill>
                <a:schemeClr val="accent5"/>
              </a:solidFill>
              <a:ln>
                <a:solidFill>
                  <a:schemeClr val="bg1"/>
                </a:solidFill>
              </a:ln>
              <a:effectLst/>
            </c:spPr>
          </c:dPt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 forceAA="0"/>
              <a:lstStyle/>
              <a:p>
                <a:pPr>
                  <a:defRPr lang="zh-CN" sz="800" b="0" i="0" u="none" strike="noStrike" kern="1200" baseline="0">
                    <a:solidFill>
                      <a:schemeClr val="bg2">
                        <a:lumMod val="1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服务器</c:v>
                </c:pt>
                <c:pt idx="1">
                  <c:v>终端</c:v>
                </c:pt>
                <c:pt idx="2">
                  <c:v>网络设备</c:v>
                </c:pt>
                <c:pt idx="3">
                  <c:v>安全设备</c:v>
                </c:pt>
                <c:pt idx="4">
                  <c:v>物联网设备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120</c:v>
                </c:pt>
                <c:pt idx="1">
                  <c:v>100</c:v>
                </c:pt>
                <c:pt idx="2">
                  <c:v>200</c:v>
                </c:pt>
                <c:pt idx="3">
                  <c:v>200</c:v>
                </c:pt>
                <c:pt idx="4">
                  <c:v>400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3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4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ayout>
        <c:manualLayout>
          <c:xMode val="edge"/>
          <c:yMode val="edge"/>
          <c:x val="0.752842459804959"/>
          <c:y val="0.255978230895547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 forceAA="0"/>
        <a:lstStyle/>
        <a:p>
          <a:pPr>
            <a:defRPr lang="zh-CN" sz="800" b="0" i="0" u="none" strike="noStrike" kern="1200" baseline="0">
              <a:solidFill>
                <a:schemeClr val="bg2">
                  <a:lumMod val="1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defRPr>
          </a:pPr>
        </a:p>
      </c:txPr>
    </c:legend>
    <c:plotVisOnly val="1"/>
    <c:dispBlanksAs val="gap"/>
    <c:showDLblsOverMax val="0"/>
  </c:chart>
  <c:spPr>
    <a:noFill/>
    <a:ln w="6350" cap="flat" cmpd="sng" algn="ctr">
      <a:noFill/>
      <a:round/>
    </a:ln>
    <a:effectLst/>
  </c:spPr>
  <c:txPr>
    <a:bodyPr/>
    <a:lstStyle/>
    <a:p>
      <a:pPr>
        <a:defRPr lang="zh-CN" sz="800">
          <a:solidFill>
            <a:schemeClr val="tx1">
              <a:lumMod val="75000"/>
              <a:lumOff val="25000"/>
            </a:schemeClr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  <a:sym typeface="微软雅黑" panose="020B0503020204020204" charset="-122"/>
        </a:defRPr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rgbClr val="70AD47"/>
              </a:solidFill>
              <a:ln>
                <a:solidFill>
                  <a:srgbClr val="FFFFFF"/>
                </a:solidFill>
              </a:ln>
              <a:effectLst/>
            </c:spPr>
          </c:dPt>
          <c:dPt>
            <c:idx val="1"/>
            <c:bubble3D val="0"/>
            <c:spPr>
              <a:solidFill>
                <a:srgbClr val="5B9BD5"/>
              </a:solidFill>
              <a:ln>
                <a:solidFill>
                  <a:srgbClr val="FFFFFF"/>
                </a:solidFill>
              </a:ln>
              <a:effectLst/>
            </c:spPr>
          </c:dPt>
          <c:dPt>
            <c:idx val="2"/>
            <c:bubble3D val="0"/>
            <c:spPr>
              <a:solidFill>
                <a:srgbClr val="FFC000"/>
              </a:solidFill>
              <a:ln>
                <a:solidFill>
                  <a:srgbClr val="FFFFFF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rgbClr val="000000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rgbClr val="000000">
                          <a:lumMod val="35000"/>
                          <a:lumOff val="65000"/>
                        </a:srgb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高危</c:v>
                </c:pt>
                <c:pt idx="1">
                  <c:v>中危</c:v>
                </c:pt>
                <c:pt idx="2">
                  <c:v>低危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62</c:v>
                </c:pt>
                <c:pt idx="1">
                  <c:v>837</c:v>
                </c:pt>
                <c:pt idx="2">
                  <c:v>9914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 forceAA="0"/>
        <a:lstStyle/>
        <a:p>
          <a:pPr>
            <a:defRPr lang="zh-CN" sz="800" b="0" i="0" u="none" strike="noStrike" kern="1200" baseline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defRPr>
          </a:pPr>
        </a:p>
      </c:txPr>
    </c:legend>
    <c:plotVisOnly val="1"/>
    <c:dispBlanksAs val="gap"/>
    <c:showDLblsOverMax val="0"/>
  </c:chart>
  <c:spPr>
    <a:noFill/>
    <a:ln w="6350" cap="flat" cmpd="sng" algn="ctr">
      <a:noFill/>
      <a:round/>
    </a:ln>
    <a:effectLst/>
  </c:spPr>
  <c:txPr>
    <a:bodyPr/>
    <a:lstStyle/>
    <a:p>
      <a:pPr>
        <a:defRPr lang="zh-CN" sz="800">
          <a:solidFill>
            <a:srgbClr val="000000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  <a:sym typeface="微软雅黑" panose="020B0503020204020204" charset="-122"/>
        </a:defRPr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外部攻击数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tx>
                <c:rich>
                  <a:bodyPr/>
                  <a:lstStyle/>
                  <a:p>
                    <a:r>
                      <a:t>12万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13.8万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14.2万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12.8万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0.2万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12.0</c:v>
                </c:pt>
                <c:pt idx="1">
                  <c:v>13.7897</c:v>
                </c:pt>
                <c:pt idx="2">
                  <c:v>14.2</c:v>
                </c:pt>
                <c:pt idx="3">
                  <c:v>12.7558</c:v>
                </c:pt>
                <c:pt idx="4">
                  <c:v>0.1867</c:v>
                </c:pt>
                <c:pt idx="5">
                  <c:v>0.0178</c:v>
                </c:pt>
                <c:pt idx="6">
                  <c:v>0.0165</c:v>
                </c:pt>
                <c:pt idx="7">
                  <c:v>0.0182</c:v>
                </c:pt>
                <c:pt idx="8">
                  <c:v>0.0195</c:v>
                </c:pt>
                <c:pt idx="9">
                  <c:v>0.0201</c:v>
                </c:pt>
                <c:pt idx="10">
                  <c:v>0.0188</c:v>
                </c:pt>
                <c:pt idx="11">
                  <c:v>0.0175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恶意外联数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tx>
                <c:rich>
                  <a:bodyPr/>
                  <a:lstStyle/>
                  <a:p>
                    <a:r>
                      <a:t>45.7万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50.7万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76.8万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68.0万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45.6756</c:v>
                </c:pt>
                <c:pt idx="1">
                  <c:v>50.7297</c:v>
                </c:pt>
                <c:pt idx="2">
                  <c:v>76.7648</c:v>
                </c:pt>
                <c:pt idx="3">
                  <c:v>67.9771</c:v>
                </c:pt>
                <c:pt idx="4">
                  <c:v>0.0073</c:v>
                </c:pt>
                <c:pt idx="5">
                  <c:v>0.0068</c:v>
                </c:pt>
                <c:pt idx="6">
                  <c:v>0.0082</c:v>
                </c:pt>
                <c:pt idx="7">
                  <c:v>0.0079</c:v>
                </c:pt>
                <c:pt idx="8">
                  <c:v>0.0088</c:v>
                </c:pt>
                <c:pt idx="9">
                  <c:v>0.0095</c:v>
                </c:pt>
                <c:pt idx="10">
                  <c:v>0.0091</c:v>
                </c:pt>
                <c:pt idx="11">
                  <c:v>0.0086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0"/>
        <c:smooth val="0"/>
        <c:axId val="829985891"/>
        <c:axId val="617127009"/>
      </c:lineChart>
      <c:dateAx>
        <c:axId val="829985891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617127009"/>
        <c:crosses val="autoZero"/>
        <c:auto val="1"/>
        <c:lblOffset val="100"/>
        <c:baseTimeUnit val="months"/>
      </c:dateAx>
      <c:valAx>
        <c:axId val="617127009"/>
        <c:scaling>
          <c:orientation val="minMax"/>
        </c:scaling>
        <c:delete val="1"/>
        <c:axPos val="l"/>
        <c:numFmt formatCode="0\.0,&quot;万&quot;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82998589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1000" b="0" i="0" u="none" strike="noStrike" kern="1200" baseline="0">
              <a:solidFill>
                <a:srgbClr val="333333"/>
              </a:solidFill>
              <a:latin typeface="微软雅黑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zh-CN" sz="600"/>
      </a:pPr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日均攻击数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500" b="0" i="0" u="none" strike="noStrike" kern="1200" baseline="0">
                    <a:solidFill>
                      <a:schemeClr val="bg2">
                        <a:lumMod val="1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Sheet1!$A$2:$A$8</c:f>
              <c:strCache>
                <c:ptCount val="7"/>
                <c:pt idx="0">
                  <c:v>中秋（24/9/15-9/17）</c:v>
                </c:pt>
                <c:pt idx="1">
                  <c:v>国庆（24/10/1-10/7）</c:v>
                </c:pt>
                <c:pt idx="2">
                  <c:v>元旦（25/1/1）</c:v>
                </c:pt>
                <c:pt idx="3">
                  <c:v>周四</c:v>
                </c:pt>
                <c:pt idx="4">
                  <c:v>周五</c:v>
                </c:pt>
                <c:pt idx="5">
                  <c:v>周六</c:v>
                </c:pt>
                <c:pt idx="6">
                  <c:v>周日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654</c:v>
                </c:pt>
                <c:pt idx="1">
                  <c:v>145</c:v>
                </c:pt>
                <c:pt idx="2">
                  <c:v>167</c:v>
                </c:pt>
                <c:pt idx="3">
                  <c:v>189</c:v>
                </c:pt>
                <c:pt idx="4">
                  <c:v>201</c:v>
                </c:pt>
                <c:pt idx="5">
                  <c:v>178</c:v>
                </c:pt>
                <c:pt idx="6">
                  <c:v>156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52361593"/>
        <c:axId val="478519395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防御率</c:v>
                </c:pt>
              </c:strCache>
            </c:strRef>
          </c:tx>
          <c:spPr>
            <a:ln w="28575" cap="rnd">
              <a:solidFill>
                <a:srgbClr val="00D860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strRef>
              <c:f>Sheet1!$A$2:$A$8</c:f>
              <c:strCache>
                <c:ptCount val="7"/>
                <c:pt idx="0">
                  <c:v>中秋（24/9/15-9/17）</c:v>
                </c:pt>
                <c:pt idx="1">
                  <c:v>国庆（24/10/1-10/7）</c:v>
                </c:pt>
                <c:pt idx="2">
                  <c:v>元旦（25/1/1）</c:v>
                </c:pt>
                <c:pt idx="3">
                  <c:v>周四</c:v>
                </c:pt>
                <c:pt idx="4">
                  <c:v>周五</c:v>
                </c:pt>
                <c:pt idx="5">
                  <c:v>周六</c:v>
                </c:pt>
                <c:pt idx="6">
                  <c:v>周日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1.0</c:v>
                </c:pt>
                <c:pt idx="1">
                  <c:v>0.98</c:v>
                </c:pt>
                <c:pt idx="2">
                  <c:v>0.99</c:v>
                </c:pt>
                <c:pt idx="3">
                  <c:v>1.0</c:v>
                </c:pt>
                <c:pt idx="4">
                  <c:v>0.97</c:v>
                </c:pt>
                <c:pt idx="5">
                  <c:v>0.99</c:v>
                </c:pt>
                <c:pt idx="6">
                  <c:v>1.0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725296953"/>
        <c:axId val="406196429"/>
      </c:lineChart>
      <c:catAx>
        <c:axId val="452361593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5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478519395"/>
        <c:crosses val="autoZero"/>
        <c:auto val="1"/>
        <c:lblAlgn val="ctr"/>
        <c:lblOffset val="100"/>
        <c:noMultiLvlLbl val="0"/>
      </c:catAx>
      <c:valAx>
        <c:axId val="478519395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5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452361593"/>
        <c:crosses val="autoZero"/>
        <c:crossBetween val="between"/>
      </c:valAx>
      <c:catAx>
        <c:axId val="725296953"/>
        <c:scaling>
          <c:orientation val="minMax"/>
        </c:scaling>
        <c:delete val="1"/>
        <c:axPos val="b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5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406196429"/>
        <c:crosses val="autoZero"/>
        <c:auto val="1"/>
        <c:lblAlgn val="ctr"/>
        <c:lblOffset val="100"/>
        <c:noMultiLvlLbl val="0"/>
      </c:catAx>
      <c:valAx>
        <c:axId val="406196429"/>
        <c:scaling>
          <c:orientation val="minMax"/>
        </c:scaling>
        <c:delete val="0"/>
        <c:axPos val="r"/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5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725296953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5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5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500" b="0" i="0" u="none" strike="noStrike" kern="1200" baseline="0">
              <a:solidFill>
                <a:schemeClr val="bg2">
                  <a:lumMod val="10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zh-CN" sz="500">
          <a:solidFill>
            <a:schemeClr val="bg2">
              <a:lumMod val="10000"/>
            </a:schemeClr>
          </a:solidFill>
        </a:defRPr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100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1010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solidFill>
          <a:schemeClr val="bg1"/>
        </a:solidFill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10109">
  <cs:axisTitle>
    <cs:lnRef idx="0"/>
    <cs:fillRef idx="0"/>
    <cs:effectRef idx="0"/>
    <cs:fontRef idx="minor">
      <a:srgbClr val="000000">
        <a:lumMod val="65000"/>
        <a:lumOff val="35000"/>
      </a:srgbClr>
    </cs:fontRef>
    <cs:defRPr sz="1000" kern="1200"/>
  </cs:axisTitle>
  <cs:categoryAxis>
    <cs:lnRef idx="0"/>
    <cs:fillRef idx="0"/>
    <cs:effectRef idx="0"/>
    <cs:fontRef idx="minor">
      <a:srgbClr val="000000">
        <a:lumMod val="65000"/>
        <a:lumOff val="35000"/>
      </a:srgbClr>
    </cs:fontRef>
    <cs:spPr>
      <a:ln w="9525" cap="flat" cmpd="sng" algn="ctr">
        <a:solidFill>
          <a:srgbClr val="000000">
            <a:lumMod val="15000"/>
            <a:lumOff val="85000"/>
          </a:srgb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rgbClr val="000000"/>
    </cs:fontRef>
    <cs:spPr>
      <a:solidFill>
        <a:srgbClr val="FFFFFF"/>
      </a:solidFill>
      <a:ln w="9525" cap="flat" cmpd="sng" algn="ctr">
        <a:solidFill>
          <a:srgbClr val="000000">
            <a:lumMod val="15000"/>
            <a:lumOff val="85000"/>
          </a:srgbClr>
        </a:solidFill>
        <a:round/>
      </a:ln>
    </cs:spPr>
    <cs:defRPr sz="900" kern="1200"/>
  </cs:chartArea>
  <cs:dataLabel>
    <cs:lnRef idx="0"/>
    <cs:fillRef idx="0"/>
    <cs:effectRef idx="0"/>
    <cs:fontRef idx="minor">
      <a:srgbClr val="000000">
        <a:lumMod val="75000"/>
        <a:lumOff val="25000"/>
      </a:srgbClr>
    </cs:fontRef>
    <cs:defRPr sz="1000" kern="1200"/>
  </cs:dataLabel>
  <cs:dataLabelCallout>
    <cs:lnRef idx="0"/>
    <cs:fillRef idx="0"/>
    <cs:effectRef idx="0"/>
    <cs:fontRef idx="minor">
      <a:srgbClr val="000000">
        <a:lumMod val="65000"/>
        <a:lumOff val="35000"/>
      </a:srgbClr>
    </cs:fontRef>
    <cs:spPr>
      <a:solidFill>
        <a:srgbClr val="FFFFFF"/>
      </a:solidFill>
      <a:ln>
        <a:solidFill>
          <a:srgbClr val="000000">
            <a:lumMod val="25000"/>
            <a:lumOff val="75000"/>
          </a:srgb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rgbClr val="000000"/>
    </cs:fontRef>
    <cs:spPr>
      <a:ln>
        <a:solidFill>
          <a:srgbClr val="FFFFFF"/>
        </a:solidFill>
      </a:ln>
      <a:effectLst/>
    </cs:spPr>
  </cs:dataPoint>
  <cs:dataPoint3D>
    <cs:lnRef idx="0"/>
    <cs:fillRef idx="1">
      <cs:styleClr val="auto"/>
    </cs:fillRef>
    <cs:effectRef idx="0"/>
    <cs:fontRef idx="minor">
      <a:srgbClr val="000000"/>
    </cs:fontRef>
    <cs:spPr>
      <a:ln w="25400">
        <a:solidFill>
          <a:srgbClr val="FFFFFF"/>
        </a:solidFill>
      </a:ln>
    </cs:spPr>
  </cs:dataPoint3D>
  <cs:dataPointLine>
    <cs:lnRef idx="0">
      <cs:styleClr val="auto"/>
    </cs:lnRef>
    <cs:fillRef idx="0"/>
    <cs:effectRef idx="0"/>
    <cs:fontRef idx="minor">
      <a:srgbClr val="000000"/>
    </cs:fontRef>
    <cs:spPr>
      <a:ln w="28575" cap="rnd">
        <a:solidFill>
          <a:srgbClr val="FFFFFF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rgbClr val="000000"/>
    </cs:fontRef>
    <cs:spPr>
      <a:ln w="9525">
        <a:solidFill>
          <a:srgbClr val="FFFFFF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rgbClr val="000000"/>
    </cs:fontRef>
    <cs:spPr>
      <a:ln w="9525" cap="rnd">
        <a:solidFill>
          <a:srgbClr val="FFFFFF"/>
        </a:solidFill>
        <a:round/>
      </a:ln>
    </cs:spPr>
  </cs:dataPointWireframe>
  <cs:dataTable>
    <cs:lnRef idx="0"/>
    <cs:fillRef idx="0"/>
    <cs:effectRef idx="0"/>
    <cs:fontRef idx="minor">
      <a:srgbClr val="000000">
        <a:lumMod val="65000"/>
        <a:lumOff val="35000"/>
      </a:srgbClr>
    </cs:fontRef>
    <cs:spPr>
      <a:noFill/>
      <a:ln w="9525" cap="flat" cmpd="sng" algn="ctr">
        <a:solidFill>
          <a:srgbClr val="000000">
            <a:lumMod val="15000"/>
            <a:lumOff val="85000"/>
          </a:srgbClr>
        </a:solidFill>
        <a:round/>
      </a:ln>
    </cs:spPr>
    <cs:defRPr sz="900" kern="1200"/>
  </cs:dataTable>
  <cs:downBar>
    <cs:lnRef idx="0"/>
    <cs:fillRef idx="0"/>
    <cs:effectRef idx="0"/>
    <cs:fontRef idx="minor">
      <a:srgbClr val="000000"/>
    </cs:fontRef>
    <cs:spPr>
      <a:solidFill>
        <a:srgbClr val="000000">
          <a:lumMod val="75000"/>
          <a:lumOff val="25000"/>
        </a:srgbClr>
      </a:solidFill>
      <a:ln w="9525" cap="flat" cmpd="sng" algn="ctr">
        <a:solidFill>
          <a:srgbClr val="000000">
            <a:lumMod val="65000"/>
            <a:lumOff val="35000"/>
          </a:srgbClr>
        </a:solidFill>
        <a:round/>
      </a:ln>
    </cs:spPr>
  </cs:downBar>
  <cs:dropLine>
    <cs:lnRef idx="0"/>
    <cs:fillRef idx="0"/>
    <cs:effectRef idx="0"/>
    <cs:fontRef idx="minor">
      <a:srgbClr val="000000"/>
    </cs:fontRef>
    <cs:spPr>
      <a:ln w="9525" cap="flat" cmpd="sng" algn="ctr">
        <a:solidFill>
          <a:srgbClr val="000000">
            <a:lumMod val="35000"/>
            <a:lumOff val="65000"/>
          </a:srgbClr>
        </a:solidFill>
        <a:round/>
      </a:ln>
    </cs:spPr>
  </cs:dropLine>
  <cs:errorBar>
    <cs:lnRef idx="0"/>
    <cs:fillRef idx="0"/>
    <cs:effectRef idx="0"/>
    <cs:fontRef idx="minor">
      <a:srgbClr val="000000"/>
    </cs:fontRef>
    <cs:spPr>
      <a:ln w="9525" cap="flat" cmpd="sng" algn="ctr">
        <a:solidFill>
          <a:srgbClr val="000000">
            <a:lumMod val="65000"/>
            <a:lumOff val="35000"/>
          </a:srgbClr>
        </a:solidFill>
        <a:round/>
      </a:ln>
    </cs:spPr>
  </cs:errorBar>
  <cs:floor>
    <cs:lnRef idx="0"/>
    <cs:fillRef idx="0"/>
    <cs:effectRef idx="0"/>
    <cs:fontRef idx="minor">
      <a:srgbClr val="000000"/>
    </cs:fontRef>
    <cs:spPr>
      <a:noFill/>
      <a:ln>
        <a:noFill/>
      </a:ln>
    </cs:spPr>
  </cs:floor>
  <cs:gridlineMajor>
    <cs:lnRef idx="0"/>
    <cs:fillRef idx="0"/>
    <cs:effectRef idx="0"/>
    <cs:fontRef idx="minor">
      <a:srgbClr val="000000"/>
    </cs:fontRef>
    <cs:spPr>
      <a:ln w="9525" cap="flat" cmpd="sng" algn="ctr">
        <a:solidFill>
          <a:srgbClr val="FFFFFF">
            <a:lumMod val="90200"/>
          </a:srgbClr>
        </a:solidFill>
        <a:round/>
      </a:ln>
    </cs:spPr>
  </cs:gridlineMajor>
  <cs:gridlineMinor>
    <cs:lnRef idx="0"/>
    <cs:fillRef idx="0"/>
    <cs:effectRef idx="0"/>
    <cs:fontRef idx="minor">
      <a:srgbClr val="000000"/>
    </cs:fontRef>
    <cs:spPr>
      <a:ln w="9525" cap="flat" cmpd="sng" algn="ctr">
        <a:solidFill>
          <a:srgbClr val="000000">
            <a:lumMod val="5000"/>
            <a:lumOff val="95000"/>
          </a:srgbClr>
        </a:solidFill>
        <a:round/>
      </a:ln>
    </cs:spPr>
  </cs:gridlineMinor>
  <cs:hiLoLine>
    <cs:lnRef idx="0"/>
    <cs:fillRef idx="0"/>
    <cs:effectRef idx="0"/>
    <cs:fontRef idx="minor">
      <a:srgbClr val="000000"/>
    </cs:fontRef>
    <cs:spPr>
      <a:ln w="9525" cap="flat" cmpd="sng" algn="ctr">
        <a:solidFill>
          <a:srgbClr val="000000">
            <a:lumMod val="50000"/>
            <a:lumOff val="50000"/>
          </a:srgbClr>
        </a:solidFill>
        <a:round/>
      </a:ln>
    </cs:spPr>
  </cs:hiLoLine>
  <cs:leaderLine>
    <cs:lnRef idx="0"/>
    <cs:fillRef idx="0"/>
    <cs:effectRef idx="0"/>
    <cs:fontRef idx="minor">
      <a:srgbClr val="000000"/>
    </cs:fontRef>
    <cs:spPr>
      <a:ln w="9525" cap="flat" cmpd="sng" algn="ctr">
        <a:solidFill>
          <a:srgbClr val="000000">
            <a:lumMod val="35000"/>
            <a:lumOff val="65000"/>
          </a:srgbClr>
        </a:solidFill>
        <a:round/>
      </a:ln>
    </cs:spPr>
  </cs:leaderLine>
  <cs:legend>
    <cs:lnRef idx="0"/>
    <cs:fillRef idx="0"/>
    <cs:effectRef idx="0"/>
    <cs:fontRef idx="minor">
      <a:srgbClr val="000000">
        <a:lumMod val="65000"/>
        <a:lumOff val="35000"/>
      </a:srgbClr>
    </cs:fontRef>
    <cs:defRPr sz="900" kern="1200"/>
  </cs:legend>
  <cs:plotArea mods="allowNoFillOverride allowNoLineOverride">
    <cs:lnRef idx="0"/>
    <cs:fillRef idx="0"/>
    <cs:effectRef idx="0"/>
    <cs:fontRef idx="minor">
      <a:srgbClr val="000000"/>
    </cs:fontRef>
  </cs:plotArea>
  <cs:plotArea3D mods="allowNoFillOverride allowNoLineOverride">
    <cs:lnRef idx="0"/>
    <cs:fillRef idx="0"/>
    <cs:effectRef idx="0"/>
    <cs:fontRef idx="minor">
      <a:srgbClr val="000000"/>
    </cs:fontRef>
  </cs:plotArea3D>
  <cs:seriesAxis>
    <cs:lnRef idx="0"/>
    <cs:fillRef idx="0"/>
    <cs:effectRef idx="0"/>
    <cs:fontRef idx="minor">
      <a:srgbClr val="000000">
        <a:lumMod val="65000"/>
        <a:lumOff val="35000"/>
      </a:srgbClr>
    </cs:fontRef>
    <cs:defRPr sz="900" kern="1200"/>
  </cs:seriesAxis>
  <cs:seriesLine>
    <cs:lnRef idx="0"/>
    <cs:fillRef idx="0"/>
    <cs:effectRef idx="0"/>
    <cs:fontRef idx="minor">
      <a:srgbClr val="000000"/>
    </cs:fontRef>
    <cs:spPr>
      <a:ln w="9525" cap="flat" cmpd="sng" algn="ctr">
        <a:solidFill>
          <a:srgbClr val="000000">
            <a:lumMod val="35000"/>
            <a:lumOff val="65000"/>
          </a:srgbClr>
        </a:solidFill>
        <a:round/>
      </a:ln>
    </cs:spPr>
  </cs:seriesLine>
  <cs:title>
    <cs:lnRef idx="0"/>
    <cs:fillRef idx="0"/>
    <cs:effectRef idx="0"/>
    <cs:fontRef idx="minor">
      <a:srgbClr val="000000">
        <a:lumMod val="75000"/>
        <a:lumOff val="25000"/>
      </a:srgbClr>
    </cs:fontRef>
    <cs:defRPr sz="1400" b="1" kern="1200" baseline="0"/>
  </cs:title>
  <cs:trendline>
    <cs:lnRef idx="0">
      <cs:styleClr val="auto"/>
    </cs:lnRef>
    <cs:fillRef idx="0"/>
    <cs:effectRef idx="0"/>
    <cs:fontRef idx="minor">
      <a:srgbClr val="000000"/>
    </cs:fontRef>
    <cs:spPr>
      <a:ln w="19050" cap="rnd">
        <a:solidFill>
          <a:srgbClr val="FFFFFF"/>
        </a:solidFill>
        <a:prstDash val="sysDot"/>
      </a:ln>
    </cs:spPr>
  </cs:trendline>
  <cs:trendlineLabel>
    <cs:lnRef idx="0"/>
    <cs:fillRef idx="0"/>
    <cs:effectRef idx="0"/>
    <cs:fontRef idx="minor">
      <a:srgbClr val="000000">
        <a:lumMod val="65000"/>
        <a:lumOff val="35000"/>
      </a:srgbClr>
    </cs:fontRef>
    <cs:defRPr sz="900" kern="1200"/>
  </cs:trendlineLabel>
  <cs:upBar>
    <cs:lnRef idx="0"/>
    <cs:fillRef idx="0"/>
    <cs:effectRef idx="0"/>
    <cs:fontRef idx="minor">
      <a:srgbClr val="000000"/>
    </cs:fontRef>
    <cs:spPr>
      <a:solidFill>
        <a:srgbClr val="FFFFFF"/>
      </a:solidFill>
      <a:ln w="9525" cap="flat" cmpd="sng" algn="ctr">
        <a:solidFill>
          <a:srgbClr val="000000">
            <a:lumMod val="65000"/>
            <a:lumOff val="35000"/>
          </a:srgbClr>
        </a:solidFill>
        <a:round/>
      </a:ln>
    </cs:spPr>
  </cs:upBar>
  <cs:valueAxis>
    <cs:lnRef idx="0"/>
    <cs:fillRef idx="0"/>
    <cs:effectRef idx="0"/>
    <cs:fontRef idx="minor">
      <a:srgbClr val="000000">
        <a:lumMod val="65000"/>
        <a:lumOff val="35000"/>
      </a:srgbClr>
    </cs:fontRef>
    <cs:defRPr sz="900" kern="1200"/>
  </cs:valueAxis>
  <cs:wall>
    <cs:lnRef idx="0"/>
    <cs:fillRef idx="0"/>
    <cs:effectRef idx="0"/>
    <cs:fontRef idx="minor">
      <a:srgbClr val="000000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1002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0">
      <cs:styleClr val="auto"/>
    </cs:fillRef>
    <cs:effectRef idx="0"/>
    <cs:fontRef idx="minor">
      <a:schemeClr val="dk1"/>
    </cs:fontRef>
    <cs:spPr>
      <a:ln w="28575" cap="rnd">
        <a:solidFill>
          <a:schemeClr val="phClr"/>
        </a:solidFill>
        <a:round/>
      </a:ln>
      <a:effectLst/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1029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chart" Target="../charts/chart2.xml"/><Relationship Id="rId3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chart" Target="../charts/chart4.xml"/><Relationship Id="rId3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chart" Target="../charts/chart5.xml"/><Relationship Id="rId2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chart" Target="../charts/chart6.xml"/><Relationship Id="rId2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011680"/>
            <a:ext cx="10881360" cy="8686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3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ACME 电子商务 MSS月度安全报告（技术版）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315968"/>
            <a:ext cx="676656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客户：ACME 电子商务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873752"/>
            <a:ext cx="6766560" cy="411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报告周期：2025-11-01 ~ 2025-11-30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330952"/>
            <a:ext cx="6766560" cy="411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技术详细版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742432"/>
            <a:ext cx="6766560" cy="411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密级：INTERNAL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153912"/>
            <a:ext cx="6766560" cy="411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生成时间：2025-12-10T09:29:56Z</a:t>
            </a:r>
          </a:p>
        </p:txBody>
      </p:sp>
      <p:graphicFrame>
        <p:nvGraphicFramePr>
          <p:cNvPr id="25" name="图表 24"/>
          <p:cNvGraphicFramePr/>
          <p:nvPr/>
        </p:nvGraphicFramePr>
        <p:xfrm>
          <a:off x="8156575" y="4389120"/>
          <a:ext cx="3390265" cy="22948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14" name="图表 13" descr="7b0a202020202263686172745265734964223a20223230343736383734220a7d0a"/>
          <p:cNvGraphicFramePr/>
          <p:nvPr/>
        </p:nvGraphicFramePr>
        <p:xfrm>
          <a:off x="5151120" y="1000125"/>
          <a:ext cx="3005455" cy="1717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安全态势仪表盘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78992"/>
            <a:ext cx="10881360" cy="31089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52628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技术评估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892040"/>
            <a:ext cx="10881360" cy="16002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1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本期威胁态势呈现双峰特征：低危告警占比80%（9914/12414），但高危事件处置及时率100%（5/5）。检测有效性方面，MTTD 31分钟优于行业基准（&lt;1小时），但MTTR 2.8小时存在优化空间。技术短板集中在云配置风险（7个0.0.0/0暴露）和SSH/RDP暴露面（17+1=18资产），建议优先加固暴露服务并建立云安全组自动修复流程。</a:t>
            </a:r>
          </a:p>
        </p:txBody>
      </p:sp>
      <p:graphicFrame>
        <p:nvGraphicFramePr>
          <p:cNvPr id="30" name="图表 29" descr="7b0a202020202263686172745265734964223a20223230323931393734220a7d0a"/>
          <p:cNvGraphicFramePr/>
          <p:nvPr/>
        </p:nvGraphicFramePr>
        <p:xfrm>
          <a:off x="1065530" y="1953260"/>
          <a:ext cx="2987993" cy="16862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10" name="图表 9" descr="7b0a202020202263686172745265734964223a20223230323931393734220a7d0a"/>
          <p:cNvGraphicFramePr/>
          <p:nvPr/>
        </p:nvGraphicFramePr>
        <p:xfrm>
          <a:off x="6983095" y="2689543"/>
          <a:ext cx="3010535" cy="18364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告警深度分析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严重程度分布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881360" cy="6858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2316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Top告警规则</a:t>
            </a:r>
          </a:p>
        </p:txBody>
      </p:sp>
      <p:sp>
        <p:nvSpPr>
          <p:cNvPr id="16" name="TextBox 5"/>
          <p:cNvSpPr txBox="1"/>
          <p:nvPr/>
        </p:nvSpPr>
        <p:spPr>
          <a:xfrm>
            <a:off x="777240" y="1417320"/>
            <a:ext cx="10881360" cy="6858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p>
            <a:pPr>
              <a:defRPr sz="11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grpSp>
        <p:nvGrpSpPr>
          <p:cNvPr id="19" name="组合 18"/>
          <p:cNvGrpSpPr/>
          <p:nvPr/>
        </p:nvGrpSpPr>
        <p:grpSpPr>
          <a:xfrm>
            <a:off x="1624330" y="3891915"/>
            <a:ext cx="11106150" cy="3486785"/>
            <a:chOff x="2042" y="13744"/>
            <a:chExt cx="34390" cy="3714"/>
          </a:xfrm>
        </p:grpSpPr>
        <p:sp>
          <p:nvSpPr>
            <p:cNvPr id="20" name="Shape 1"/>
            <p:cNvSpPr/>
            <p:nvPr/>
          </p:nvSpPr>
          <p:spPr>
            <a:xfrm>
              <a:off x="2042" y="13744"/>
              <a:ext cx="34390" cy="3714"/>
            </a:xfrm>
            <a:prstGeom prst="roundRect">
              <a:avLst>
                <a:gd name="adj" fmla="val 6757"/>
              </a:avLst>
            </a:prstGeom>
            <a:noFill/>
            <a:ln w="12700">
              <a:solidFill>
                <a:srgbClr val="CCE1F5"/>
              </a:solidFill>
              <a:prstDash val="solid"/>
            </a:ln>
          </p:spPr>
        </p:sp>
        <p:graphicFrame>
          <p:nvGraphicFramePr>
            <p:cNvPr id="29" name="图表 28"/>
            <p:cNvGraphicFramePr/>
            <p:nvPr/>
          </p:nvGraphicFramePr>
          <p:xfrm>
            <a:off x="2318" y="13879"/>
            <a:ext cx="33839" cy="339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"/>
            </a:graphicData>
          </a:graphic>
        </p:graphicFrame>
      </p:grp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777240" y="2788920"/>
          <a:ext cx="516636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1590"/>
                <a:gridCol w="1291590"/>
                <a:gridCol w="1291590"/>
                <a:gridCol w="129159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规则ID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规则名称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触发次数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误报率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R-SSH-BRUTE-01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SSH 暴力破解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857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R-O365-PHISH-02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O365 钓鱼邮件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785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23%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R-CLOUD-S3-OPEN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对象存储公开访问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475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事件时间线与处置轨迹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事件时间线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881360" cy="21488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graphicFrame>
        <p:nvGraphicFramePr>
          <p:cNvPr id="15" name="图表 14"/>
          <p:cNvGraphicFramePr/>
          <p:nvPr/>
        </p:nvGraphicFramePr>
        <p:xfrm>
          <a:off x="890270" y="3889375"/>
          <a:ext cx="3971608" cy="28178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777240" y="1417320"/>
          <a:ext cx="1088136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554480"/>
                <a:gridCol w="1554480"/>
                <a:gridCol w="1554480"/>
                <a:gridCol w="1554480"/>
                <a:gridCol w="1554480"/>
                <a:gridCol w="1554480"/>
              </a:tblGrid>
              <a:tr h="35814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事件ID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事件标题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级别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检测时间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MTTD(分钟)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MTTR(分钟)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状态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云侧AccessKey泄露风险处置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2025-11-01T03:49:00Z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INC-20251101-002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生产环境对外暴露服务被扫描利用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2025-11-01T08:47:00Z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38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179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生产环境对外暴露服务被扫描利用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2025-11-01T07:45:00Z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monitoring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INC-20251101-004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疑似勒索前置横向移动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2025-11-01T02:35:00Z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29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94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可疑账号异常登录与提权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2025-11-01T01:40:00Z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274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高危事件详情分析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1247120" cy="24231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【中危】云侧AccessKey泄露风险处置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881360" cy="1874519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事件概述：检测到生产环境云账户AccessKey存在异常访问行为，攻击者可能通过泄露的凭证进行横向移动。严重程度判定依据为中危，因其涉及生产环境核心资产但未造成数据泄露。攻击向量为云账号凭证泄露，可能通过钓鱼或社工手段获取。影响范围包括prod-web-02主机。处置措施包含隔离主机、封禁可疑IP。根因分析显示AccessKey管理流程存在疏漏，建议启用MFA并定期轮换密钥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3520440"/>
            <a:ext cx="11247120" cy="24231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61188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【中危】生产环境对外暴露服务被扫描利用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977639"/>
            <a:ext cx="10881360" cy="1874519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事件概述：攻击者扫描并利用生产环境暴露的对外服务（db-core-01, bastion-01等），尝试进行漏洞利用。攻击向量为暴露的数据库和跳板机端口被自动化工具扫描。影响范围涉及多台关键资产。处置措施包括隔离主机、封禁IP、重置凭据并强制MFA，以及补丁加固。复盘发现服务暴露面未及时收敛，建议实施最小化暴露策略并部署WAF规则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355080"/>
            <a:ext cx="11247120" cy="411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9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本期攻击模式主要表现为针对暴露服务的自动化扫描（如SSH、RDP）、凭证泄露后的横向移动、以及利用未修补漏洞。攻击者使用暴力破解和云配置缺陷作为初始入侵点，重点关注生产环境资产。TTP包括使用自动化工具进行端口扫描、利用弱凭证进行访问控制绕过。与已知APT组织Tropic Trooper的攻击手法部分重合，建议加强云资产访问控制和日志审计。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漏洞态势详情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1247120" cy="19659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漏洞分布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881360" cy="14173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3063240"/>
            <a:ext cx="11247120" cy="21488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15468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CVE技术分析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520440"/>
            <a:ext cx="10881360" cy="16002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1) CVE-2024-3094（XZ Utils后门风险）：攻击者可通过特制压缩包触发后门代码执行，影响所有使用XZ Utils 5.4.2的系统。当前环境涉及2台资产，需升级至5.4.3或更高版本。2) CVE-2023-46604（ActiveMQ RCE）：未授权远程代码执行漏洞，影响Apache ActiveMQ 5.18.0前版本。当前2台资产受影响，建议部署补丁或限制端口访问。3) CVE-2024-6387（OpenSSH regreSSHion）：攻击者可利用SSH客户端协议解析漏洞进行中间人攻击，需升级至OpenSSH 9.8p1以上版本。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5349240"/>
            <a:ext cx="11247120" cy="12344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44068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补丁状态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806440"/>
            <a:ext cx="10881360" cy="6858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已修复：CVE-2024-3094和CVE-2024-6387已完成补丁部署。
修复中：CVE-2023-46604预计12月5日前完成，临时措施为限制5672端口访问。
未修复漏洞暂无可用补丁，需实施网络隔离和最小权限策略。
优先关注ActiveMQ RCE漏洞的潜在横向移动风险。
建议12月15日前完成所有漏洞修复状态复查。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577840" y="1417320"/>
          <a:ext cx="608076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6152"/>
                <a:gridCol w="1216152"/>
                <a:gridCol w="1216152"/>
                <a:gridCol w="1216152"/>
                <a:gridCol w="1216152"/>
              </a:tblGrid>
              <a:tr h="35433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CVE编号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漏洞名称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严重程度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影响资产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修复状态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CVE-2024-3094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XZ Utils 后门风险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critical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patched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CVE-2023-46604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ActiveMQ RCE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in_progress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CVE-2024-6387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OpenSSH regreSSHion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patched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攻击面与暴露分析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5532120" cy="19202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暴露服务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5166360" cy="13716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9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{{EXPOSED_SERVICES_TABLE}}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960120"/>
            <a:ext cx="5532120" cy="19202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05156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暴露分析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417320"/>
            <a:ext cx="5166360" cy="13716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当前暴露服务包括SSH(17台)、RDP(1台)、Kibana(1台)和Grafana(3台)。SSH暴露风险最高，建议通过跳板机集中访问并限制源IP。RDP直接暴露存在暴力破解风险，应迁移至内网或启用MFA。Kibana和Grafana的Web界面暴露可能被利用未授权访问漏洞，需配置身份验证和限制访问来源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3017520"/>
            <a:ext cx="5532120" cy="35661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10896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攻击面趋势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474720"/>
            <a:ext cx="5166360" cy="30175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1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本期新增3个暴露服务，总对外IP数量12个。攻击面呈现扩大趋势，主要由于新部署的监控服务未及时收敛暴露面。需重点关注非必要服务暴露，如Grafana和Kibana的默认端口开放。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3017520"/>
            <a:ext cx="5532120" cy="35661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10896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收敛建议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474720"/>
            <a:ext cx="5166360" cy="30175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SSH服务：迁移至跳板机并限制源IP白名单（高优先级，2人日）
RDP服务：禁用并改用VPN访问（高优先级，1人日）
Kibana/Grafana：配置HTTP Basic Auth并限制IP（中优先级，1人日）
所有暴露服务：部署WAF规则过滤异常请求（中优先级，3人日）
定期执行暴露面扫描并自动化收敛（持续性措施）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777240" y="1417320"/>
          <a:ext cx="516636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3180"/>
                <a:gridCol w="2583180"/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服务类型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暴露资产数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SSH(22)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RDP(3389)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Kibana(5601)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Grafana(3000)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云安全详细分析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1247120" cy="24688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云配置问题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881360" cy="1874519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3611880"/>
            <a:ext cx="5532120" cy="2971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70332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IAM风险分析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069080"/>
            <a:ext cx="5166360" cy="24231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检测到1个未启用MFA的高权限账号，存在凭证泄露风险。存在过度授权现象，如部分开发账号具备生产环境访问权限。建议：1) 强制所有高权限账号启用MFA；2) 实施基于角色的最小权限策略；3) 定期审计AccessKey生命周期，禁用长期有效的密钥；4) 使用临时凭证进行敏感操作。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3611880"/>
            <a:ext cx="5532120" cy="2971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370332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合规检查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4069080"/>
            <a:ext cx="5166360" cy="24231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已满足：CIS-1.1（确保MFA启用）已覆盖90%账号
差距项：CIS-4.2（对象存储公开访问限制）未完全合规
需整改：CIS-5.1（云审计日志保留180天）当前仅保留90天
优先级：修复安全组0.0.0/0暴露（CIS-2.3）
建议部署云安全态势管理（CSPM）工具实现自动化合规检查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777240" y="1417320"/>
          <a:ext cx="10881360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468629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风险类型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数量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趋势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468629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0.安全组0.0.0/0暴露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up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68629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对象存储公开访问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flat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468632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未启用MFA的高权限账号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down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技术整改建议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1247120" cy="22402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整改方案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881360" cy="16916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1. 云配置加固：关闭SSH/RDP公网暴露
整改目标：消除外部扫描攻击面
实施步骤：
- 通过AWS Security Group移除0.0.0/0对22/3389的开放
- 使用VPC内网访问替代公网暴露
- 执行`aws ec2 revoke-security-group-ingress`命令
预期效果：减少50%外部扫描攻击
实施风险：需确保内网访问路径可用
2. 修复ActiveMQ RCE漏洞
整改目标：消除高危漏洞风险
实施步骤：
- 升级Apache ActiveMQ至2.20.0以上
- 执行`systemctl restart activemq`重启服务
- 配置防火墙限制5672端口访问
预期效果：消除CVE-2023-46604风险
实施风险：版本升级需验证兼容性
3. 完善MFA强制策略
整改目标：提升账号安全性
实施步骤：
- 在AWS IAM中启用MFA强制策略
- 执行`aws iam enable-mfa-device`命令
- 通过Office 365 Admin Center配置MFA
预期效果：消除未启用MFA账号风险
实施风险：需提前准备备用认证方式
4. 优化Kubernetes网络策略
整改目标：防止横向移动攻击
实施步骤：
- 部署NetworkPolicy限制容器间通信
- 配置`kubectl apply -f network-policy.yaml`
- 启用Pod安全策略（PSP）
预期效果：阻断勒索软件横向传播
实施风险：需测试策略对业务的影响
5. Redis服务安全加固
整改目标：防止未授权访问
实施步骤：
- 修改redis.conf配置：`bind 127.0.0.1`
- 启用密码认证`requirepass &lt;强密码&gt;`
- 配置防火墙限制3000端口访问
预期效果：消除Grafana/Redis暴露风险
实施风险：需验证应用连接配置
6. 建立漏洞修复SLA
整改目标：规范漏洞修复流程
实施步骤：
- 制定分级修复时限（Critical&lt;24h/High&lt;72h）
- 部署自动化补丁管理系统
- 建立修复验证机制
预期效果：提升漏洞修复时效性
实施风险：需协调运维团队资源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3337560"/>
            <a:ext cx="5532120" cy="324612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42900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检测能力提升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794760"/>
            <a:ext cx="5166360" cy="2697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1. 新增检测规则：
- 针对Kubernetes异常Pod创建行为
- 对接Redis未授权访问特征
- 增加对对象存储公开访问的实时监控
2. 规则调优方向：
- 优化R-SSH-BRUTE-01阈值（当前误报率13%）：建议将失败尝试次数从5次提升至8次
- 调整R-O365-PHISH-02检测逻辑，增加邮件发件人域名验证机制
3. 日志源覆盖改进：
- 增加Kubernetes审计日志采集
- 部署Redis访问日志SIEM集成
- 扩展CDN访问日志监控
4. 检测盲区补充：
- 建立容器镜像扫描机制
- 增加对DNS隧道的检测能力
- 部署API网关日志监控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3337560"/>
            <a:ext cx="5532120" cy="324612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342900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安全加固清单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794760"/>
            <a:ext cx="5166360" cy="2697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1. 操作系统基线检查：
检查/etc/ssh/sshd_config是否禁用root登录
2. 应用安全配置：
验证Redis绑定地址是否为127.0.0.1
3. 网络访问控制：
确认5601(Kibana)端口仅内网可达
4. 认证策略：
检查所有云账号是否启用MFA
5. 安全组配置：
验证VPC安全组是否限制公网访问
6. 服务最小化：
关闭非必要的3000(Grafana)端口暴露
7. 密码策略：
确保所有服务使用12位以上复杂密码
8. 补丁管理：
检查高危漏洞修复完成率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附录：数据与证据索引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5532120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证据索引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5166360" cy="6858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9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告警数据 | qry_alerts_total_v7
周趋势 | qry_alerts_trend_weekly_v4
TOP分类 | qry_top_categories_v5
TOP规则 | qry_top_rules_v3
事件列表 | qry_incidents_v3
漏洞汇总 | qry_vuln_summary_v2
暴露面数据 | qry_exposure_v2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960120"/>
            <a:ext cx="5532120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05156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数据时效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325880"/>
            <a:ext cx="5166360" cy="6858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T+1 day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2148840"/>
            <a:ext cx="11247120" cy="7772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240280"/>
            <a:ext cx="31089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数据范围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86200" y="2240280"/>
            <a:ext cx="7955279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本报告数据来源于MSS安全运营平台，包含告警、事件、漏洞、云安全等多维度数据。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3017520"/>
            <a:ext cx="5532120" cy="12344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10896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漏洞说明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383280"/>
            <a:ext cx="5166360" cy="7772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漏洞数据来源于定期安全扫描，覆盖主机、应用和网络设备，包含云镜像与容器镜像基线扫描结果。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3017520"/>
            <a:ext cx="5532120" cy="12344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310896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证据说明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383280"/>
            <a:ext cx="5166360" cy="7772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原始日志和证据数据保存于安全运营平台，可通过查询ID追溯。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4343400"/>
            <a:ext cx="5532120" cy="10515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43484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资产范围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709160"/>
            <a:ext cx="5166360" cy="5943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{{ASSET_GROUPS_LIST}}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4343400"/>
            <a:ext cx="5532120" cy="10515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443484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关键服务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709160"/>
            <a:ext cx="5166360" cy="5943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Kubernetes, MySQL, Redis, Nginx, Office 365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5486400"/>
            <a:ext cx="11247120" cy="13258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577840"/>
            <a:ext cx="10881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术语表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852160"/>
            <a:ext cx="10881360" cy="9144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9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MTTD（平均检测时间）：从攻击发生到被发现的平均时间
MTTR（平均响应时间）：从发现到处置完成的平均时间
TTP（战术技术程序）：攻击者使用的具体攻击方法
IOC（失陷指标）：用于识别恶意活动的行为特征
EDR（终端检测响应）：终端安全监控与响应系统
SIEM（安全信息事件管理）：安全日志与事件集中管理系统
WAF（Web应用防火墙）：保护Web应用的安全防护系统
MFA（多因素认证）：需要两种以上认证方式的验证机制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777240" y="4709160"/>
          <a:ext cx="5166360" cy="18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2120"/>
                <a:gridCol w="1722120"/>
                <a:gridCol w="1722120"/>
              </a:tblGrid>
              <a:tr h="6096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资产组ID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资产组名称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资产数量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609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ag-core-prod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核心生产资产组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09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ag-office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办公终端资产组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495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NzBiN2QxNGQ4NjIwZWE5Mjc3ZDY1N2NlMGYwOTU3MDU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彩色5">
    <a:dk1>
      <a:srgbClr val="000000"/>
    </a:dk1>
    <a:lt1>
      <a:srgbClr val="FFFFFF"/>
    </a:lt1>
    <a:dk2>
      <a:srgbClr val="212745"/>
    </a:dk2>
    <a:lt2>
      <a:srgbClr val="B4DCFA"/>
    </a:lt2>
    <a:accent1>
      <a:srgbClr val="4E67C8"/>
    </a:accent1>
    <a:accent2>
      <a:srgbClr val="5ECCF3"/>
    </a:accent2>
    <a:accent3>
      <a:srgbClr val="A7EA52"/>
    </a:accent3>
    <a:accent4>
      <a:srgbClr val="5DCEAF"/>
    </a:accent4>
    <a:accent5>
      <a:srgbClr val="FF8021"/>
    </a:accent5>
    <a:accent6>
      <a:srgbClr val="F14124"/>
    </a:accent6>
    <a:hlink>
      <a:srgbClr val="56C7AA"/>
    </a:hlink>
    <a:folHlink>
      <a:srgbClr val="59A8D1"/>
    </a:folHlink>
  </a:clrScheme>
  <a:fontScheme name="Office">
    <a:majorFont>
      <a:latin typeface="Calibri Light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WPS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874CB"/>
    </a:accent1>
    <a:accent2>
      <a:srgbClr val="EE822F"/>
    </a:accent2>
    <a:accent3>
      <a:srgbClr val="F2BA02"/>
    </a:accent3>
    <a:accent4>
      <a:srgbClr val="75BD42"/>
    </a:accent4>
    <a:accent5>
      <a:srgbClr val="30C0B4"/>
    </a:accent5>
    <a:accent6>
      <a:srgbClr val="E54C5E"/>
    </a:accent6>
    <a:hlink>
      <a:srgbClr val="0026E5"/>
    </a:hlink>
    <a:folHlink>
      <a:srgbClr val="7E1FAD"/>
    </a:folHlink>
  </a:clrScheme>
  <a:fontScheme name="Office">
    <a:majorFont>
      <a:latin typeface="Calibri Light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"/>
      <a:ea typeface=""/>
      <a:cs typeface=""/>
    </a:majorFont>
    <a:minorFont>
      <a:latin typeface="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satMod val="110000"/>
              <a:lum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satMod val="105000"/>
              <a:lum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shade val="94000"/>
            </a:schemeClr>
          </a:gs>
          <a:gs pos="50000">
            <a:schemeClr val="phClr">
              <a:lumMod val="110000"/>
              <a:satMod val="100000"/>
              <a:tint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1505</Words>
  <Application>WPS 演示</Application>
  <PresentationFormat>On-screen Show (4:3)</PresentationFormat>
  <Paragraphs>156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User</cp:lastModifiedBy>
  <cp:revision>14</cp:revision>
  <dcterms:created xsi:type="dcterms:W3CDTF">2013-01-27T09:14:00Z</dcterms:created>
  <dcterms:modified xsi:type="dcterms:W3CDTF">2026-01-27T11:40:18Z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8A093E51843841BCAA984D1F304BD387_12</vt:lpwstr>
  </property>
  <property fmtid="{D5CDD505-2E9C-101B-9397-08002B2CF9AE}" pid="3" name="KSOProductBuildVer">
    <vt:lpwstr>2052-12.1.0.16729</vt:lpwstr>
  </property>
</Properties>
</file>