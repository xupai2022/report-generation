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3.xml"/><Relationship Id="rId4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4.xml"/><Relationship Id="rId4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告警数量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1099</c:v>
                </c:pt>
                <c:pt idx="1">
                  <c:v>1005</c:v>
                </c:pt>
                <c:pt idx="2">
                  <c:v>1002</c:v>
                </c:pt>
                <c:pt idx="3">
                  <c:v>2988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挖矿</c:v>
                </c:pt>
                <c:pt idx="1">
                  <c:v>僵尸网络</c:v>
                </c:pt>
                <c:pt idx="2">
                  <c:v>木马</c:v>
                </c:pt>
                <c:pt idx="3">
                  <c:v>账号爆破</c:v>
                </c:pt>
                <c:pt idx="4">
                  <c:v>代理工具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服务器</c:v>
                </c:pt>
                <c:pt idx="1">
                  <c:v>终端</c:v>
                </c:pt>
                <c:pt idx="2">
                  <c:v>网络设备</c:v>
                </c:pt>
                <c:pt idx="3">
                  <c:v>安全设备</c:v>
                </c:pt>
                <c:pt idx="4">
                  <c:v>物联网设备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高危</c:v>
                </c:pt>
                <c:pt idx="1">
                  <c:v>中危</c:v>
                </c:pt>
                <c:pt idx="2">
                  <c:v>低危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837</c:v>
                </c:pt>
                <c:pt idx="2">
                  <c:v>9914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12万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13.8万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12.8万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12.0</c:v>
                </c:pt>
                <c:pt idx="1">
                  <c:v>13.7897</c:v>
                </c:pt>
                <c:pt idx="2">
                  <c:v>14.2</c:v>
                </c:pt>
                <c:pt idx="3">
                  <c:v>12.7558</c:v>
                </c:pt>
                <c:pt idx="4">
                  <c:v>0.1867</c:v>
                </c:pt>
                <c:pt idx="5">
                  <c:v>0.0178</c:v>
                </c:pt>
                <c:pt idx="6">
                  <c:v>0.0165</c:v>
                </c:pt>
                <c:pt idx="7">
                  <c:v>0.0182</c:v>
                </c:pt>
                <c:pt idx="8">
                  <c:v>0.0195</c:v>
                </c:pt>
                <c:pt idx="9">
                  <c:v>0.0201</c:v>
                </c:pt>
                <c:pt idx="10">
                  <c:v>0.0188</c:v>
                </c:pt>
                <c:pt idx="11">
                  <c:v>0.0175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45.7万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50.7万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76.8万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68.0万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45.6756</c:v>
                </c:pt>
                <c:pt idx="1">
                  <c:v>50.7297</c:v>
                </c:pt>
                <c:pt idx="2">
                  <c:v>76.7648</c:v>
                </c:pt>
                <c:pt idx="3">
                  <c:v>67.9771</c:v>
                </c:pt>
                <c:pt idx="4">
                  <c:v>0.0073</c:v>
                </c:pt>
                <c:pt idx="5">
                  <c:v>0.0068</c:v>
                </c:pt>
                <c:pt idx="6">
                  <c:v>0.0082</c:v>
                </c:pt>
                <c:pt idx="7">
                  <c:v>0.0079</c:v>
                </c:pt>
                <c:pt idx="8">
                  <c:v>0.0088</c:v>
                </c:pt>
                <c:pt idx="9">
                  <c:v>0.0095</c:v>
                </c:pt>
                <c:pt idx="10">
                  <c:v>0.0091</c:v>
                </c:pt>
                <c:pt idx="11">
                  <c:v>0.0086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33333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654</c:v>
                </c:pt>
                <c:pt idx="1">
                  <c:v>145</c:v>
                </c:pt>
                <c:pt idx="2">
                  <c:v>167</c:v>
                </c:pt>
                <c:pt idx="3">
                  <c:v>189</c:v>
                </c:pt>
                <c:pt idx="4">
                  <c:v>201</c:v>
                </c:pt>
                <c:pt idx="5">
                  <c:v>178</c:v>
                </c:pt>
                <c:pt idx="6">
                  <c:v>156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1.0</c:v>
                </c:pt>
                <c:pt idx="1">
                  <c:v>0.98</c:v>
                </c:pt>
                <c:pt idx="2">
                  <c:v>0.99</c:v>
                </c:pt>
                <c:pt idx="3">
                  <c:v>1.0</c:v>
                </c:pt>
                <c:pt idx="4">
                  <c:v>0.97</c:v>
                </c:pt>
                <c:pt idx="5">
                  <c:v>0.99</c:v>
                </c:pt>
                <c:pt idx="6">
                  <c:v>1.0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881360" cy="8686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3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ACME 电子商务 MSS月度安全报告（技术版）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676656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技术详细版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密级：INTERNAL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生成时间：2025-12-10T09:29:56Z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安全态势仪表盘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本期检测到12,414条去重告警，高危事件62起，云环境暴露面较上期扩大3%。MTTD 31分钟/MTTR 2.8小时的响应效率较基准值滞后18%。需重点关注SSH暴力破解（+11%）与云配置错误（+25%）两类风险。建议加强容器镜像基线扫描和暴露服务自动收敛能力。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严重程度分布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Top告警规则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78892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触发次数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误报率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R-SSH-BRUTE-01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 暴力破解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R-O365-PHISH-02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O365 钓鱼邮件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R-CLOUD-S3-OPEN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事件时间线与处置轨迹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事件时间线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581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检测时间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MTTD(分钟)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2025-11-01T03:49:00Z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2025-11-01T08:47:00Z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2025-11-01T07:45:00Z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2025-11-01T02:35:00Z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2025-11-01T01:40:00Z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高危事件详情分析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【中危】云侧AccessKey泄露风险处置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生产环境云访问密钥存在异常使用行为，攻击者可能通过泄露的AccessKey获取云资源访问权限。严重程度判定依据：涉及核心生产资产组且存在横向移动风险。攻击向量：通过泄露的AccessKey直接访问云API接口。影响范围：prod-web-02主机被隔离。处置措施：立即隔离受影响主机、封禁可疑IP、重置AccessKey并启用MFA。根因分析：AccessKey管理流程存在漏洞，未及时轮换密钥且未启用多因素认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【中危】生产环境对外暴露服务被扫描利用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生产环境对外暴露的服务（db-core-01、bastion-01等）遭受端口扫描和漏洞利用尝试。严重程度判定依据：影响数据库和跳板机等关键资产。攻击向量：通过暴露的SSH和数据库端口进行自动化扫描。影响范围：db-core-01、bastion-01、prod-web-01被隔离。处置措施：隔离主机、封禁IP、重置凭据并强制MFA，同时更新WAF规则。根因分析：暴露服务缺乏最小化原则，未及时关闭非必要端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攻击模式呈现自动化扫描特征，主要针对暴露的SSH、数据库和云管理接口。TTP包括：1）使用泄露凭证或默认凭据进行爆破 2）利用已知漏洞（如未修补的RCE） 3）通过暴露服务横向移动。攻击者优先针对生产环境核心资产，与Raccoon、Tarrask等APT组织的TTP部分吻合。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漏洞态势详情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CVE技术分析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1）CVE-2024-3094（XZ Utils后门风险）：攻击者可通过恶意压缩文件触发后门代码，影响所有使用xz2.0.0-rc1至5.2.5版本的系统。当前环境存在2个受影响资产，需立即升级至6.0.0+。2）CVE-2023-46604（ActiveMQ RCE）：未授权访问可导致远程代码执行，影响Apache ActiveMQ 5.0.0-5.17.0版本。当前2个资产受影响，补丁正在部署中。3）CVE-2024-6387（OpenSSH regreSSHion）：通过修改SSH配置触发权限提升，影响OpenSSH 9.0-9.3p1版本。当前1个资产已修复。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补丁状态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已修复：CVE-2024-3094（2/2资产完成）
修复中：CVE-2023-46604（预计12月15日前完成）
未修复：CVE-2024-6387（部分测试环境未升级）
临时缓解：ActiveMQ 5.17.0+启用访问控制策略
遗留风险：未启用MFA的高权限账号（CVE-2023-46604利用路径）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17320"/>
          <a:ext cx="6080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攻击面与暴露分析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暴露服务风险：17台主机开放SSH(22)，1台开放RDP(3389)，4台开放监控服务（Kibana/Grafana）。SSH暴露风险最高，攻击者可通过爆破或已知漏洞（如CVE-2024-6387）入侵。RDP直接暴露存在勒索攻击风险。监控服务暴露可能被用于信息收集。建议：1）SSH限制源IP并启用密钥认证 2）RDP迁移至内网 3）监控服务启用HTTPS和访问控制。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攻击面趋势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当前外部IP数量12个，较上期新增3个暴露服务（Kibana/Grafana）。攻击面呈现扩大趋势，新增暴露服务主要为监控组件。需重点关注未必要求的暴露服务（如Grafana 3000端口），建议实施最小暴露原则。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收敛建议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SSH服务：限制源IP白名单（优先级P0，工作量低）
RDP服务：迁移至内网并启用VPN（优先级P1，工作量中）
Kibana暴露：关闭公网访问或启用身份验证（优先级P2，工作量高）
Grafana暴露：配置HTTPS并限制访问IP（优先级P2，工作量中）
监控服务：统一通过跳板机访问（优先级P3，工作量高）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5166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暴露资产数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SSH(22)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RDP(3389)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Kibana(5601)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Grafana(3000)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云安全详细分析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云配置问题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IAM风险分析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当前云环境存在1个未启用MFA的高权限账号，违反最小权限原则。建议：1）强制所有高权限账号启用MFA 2）定期审计AccessKey生命周期 3）实施基于角色的临时凭证（RBAC） 4）禁用非必要长期AccessKey。服务账号需遵循最小权限原则，当前7个安全组存在0.0.0.0/0暴露，需立即收敛。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合规检查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已满足：CIS-1.1（启用MFA）
未满足：CIS-2.1（安全组0.0.0.0/0暴露）
未满足：CIS-5.1（对象存储公开访问）
需整改：等保2.0三级-访问控制策略
优先项：修复安全组规则（预计完成时间：2025-12-15）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17320"/>
          <a:ext cx="10881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技术整改建议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整改方案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修复高危漏洞CVE-2023-46604：
- 目标：消除ActiveMQ远程代码执行风险
- 步骤：执行`yum update activemq`或`apt-get upgrade activemq`
- 效果：阻断潜在RCE攻击路径
- 风险：需验证更新后服务兼容性
2. 限制安全组0.0.0.0/0暴露：
- 目标：减少攻击面
- 步骤：在AWS控制台/CLI执行`aws ec2 authorize-security-group-ingress`添加白名单
- 效果：阻断非授权访问
- 风险：需预配置白名单IP段
3. 修复对象存储公开访问：
- 目标：保护敏感数据泄露
- 步骤：执行`aws s3 put-bucket-policy`设置`"Effect": "Deny"`规则
- 效果：防止未授权数据访问
- 风险：需确保业务访问权限不受影响
4. 关闭非必要暴露服务：
- 目标：减少攻击面
- 步骤：在iptables执行`iptables -A INPUT -p tcp --dport 5601 -j DROP`
- 效果：隐藏Kibana等敏感服务
- 风险：需确认业务系统访问需求
5. 强化SSH认证：
- 目标：防止暴力破解
- 步骤：修改/etc/ssh/sshd_config设置`PasswordAuthentication no`
- 效果：降低账户破解风险
- 风险：需确保密钥认证已部署
6. 配置容器镜像扫描：
- 目标：阻断漏洞镜像部署
- 步骤：在Kubernetes中配置Clair或Trivy扫描策略
- 效果：防止带漏洞容器运行
- 风险：可能增加CI/CD流程耗时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检测能力提升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建议新增检测规则：
1. 勒索软件横向移动行为检测（基于文件加密模式+异常网络连接）
2. 云账号多因子认证失效告警（结合IAM审计日志）
3. 容器逃逸攻击特征检测（基于eBPF系统调用监控）
规则调优方向：
- R-SSH-BRUTE-01：将误报率13%的规则阈值从当前5次失败提升至10次
- R-O365-PHISH-02：增加邮件发件人域验证上下文分析，降低误报率（当前23%）
- R-CLOUD-S3-OPEN：建议增加S3访问日志分析维度
日志源改进：
1. 补充容器运行时日志（如containerd日志）
2. 增加数据库审计日志采集（MySQL slow query log）
3. 启用Kubernetes API审计日志
检测盲区补充：
- 网络层：部署TLS解密能力监控HTTPS异常流量
- 终端层：扩展EDR到容器运行时保护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操作系统基线：检查`/etc/ssh/sshd_config`是否禁用root登录
2. 应用安全配置：确认Nginx配置中`server_tokens off;`已启用
3. 网络访问控制：验证安全组是否限制SSH访问源IP
4. 认证强化：检查Office 365账号是否启用MFA
5. 数据库安全：验证MySQL是否关闭远程root登录
6. 容器安全：检查Docker守护进程是否启用--insecure-registries限制
7. 系统更新：确认所有主机已应用最新安全补丁
8. 日志保护：验证syslog配置是否启用TLS加密传输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附录：数据与证据索引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告警数据 | qry_alerts_total_v7
周趋势 | qry_alerts_trend_weekly_v4
分类统计 | qry_top_categories_v5
规则分析 | qry_top_rules_v3
事件记录 | qry_incidents_v3
漏洞汇总 | qry_vuln_summary_v2
暴露面数据 | qry_exposure_v2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数据时效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数据时效：T+1天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本报告数据来源于MSS安全运营平台，包含告警、事件、漏洞、云安全等多维度数据。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漏洞数据来源于定期安全扫描，覆盖主机、应用和网络设备。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原始日志和证据数据保存于安全运营平台，可通过查询ID追溯。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资产范围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关键服务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Kubernetes,MySQL,Redis,Nginx,Office 365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术语表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MTTD - 平均检测时间（Mean Time To Detect）
MTTR - 平均响应时间（Mean Time To Respond）
TTP - 战术技术程序（Tactics, Techniques, Procedures）
IOC - 失陷指标（Indicators Of Compromise）
EDR - 终端检测响应（Endpoint Detection and Response）
SIEM - 安全信息事件管理（Security Information and Event Management）
WAF - Web应用防火墙（Web Application Firewall）
MFA - 多因素认证（Multi-Factor Authentication）
CVE - 漏洞公开编号（Common Vulnerabilities and Exposures）
RCE - 远程代码执行（Remote Code Execution）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709160"/>
          <a:ext cx="516636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ag-core-prod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核心生产资产组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ag-office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办公终端资产组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495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On-screen Show (4:3)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14</cp:revision>
  <dcterms:created xsi:type="dcterms:W3CDTF">2013-01-27T09:14:00Z</dcterms:created>
  <dcterms:modified xsi:type="dcterms:W3CDTF">2026-01-27T11:40:18Z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2052-12.1.0.16729</vt:lpwstr>
  </property>
</Properties>
</file>