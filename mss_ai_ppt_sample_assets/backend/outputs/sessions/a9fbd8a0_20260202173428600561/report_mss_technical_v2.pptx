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2846</c:v>
                </c:pt>
                <c:pt idx="1">
                  <c:v>3244</c:v>
                </c:pt>
                <c:pt idx="2">
                  <c:v>3112</c:v>
                </c:pt>
                <c:pt idx="3">
                  <c:v>3253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'[很多鱼安全运营工作报告-20250801.xlsx]数据统计'!$C$65:$C$69</c:f>
              <c:strCache>
                <c:ptCount val="5"/>
                <c:pt idx="0">
                  <c:v>挖矿</c:v>
                </c:pt>
                <c:pt idx="1" c:formatCode="mmm\-yy">
                  <c:v>僵尸网络</c:v>
                </c:pt>
                <c:pt idx="2" c:formatCode="mmm\-yy">
                  <c:v>木马</c:v>
                </c:pt>
                <c:pt idx="3" c:formatCode="mmm\-yy">
                  <c:v>账号爆破</c:v>
                </c:pt>
                <c:pt idx="4" c:formatCode="mmm\-yy">
                  <c:v>代理工具</c:v>
                </c:pt>
              </c:strCache>
            </c:strRef>
          </c:cat>
          <c:val>
            <c:numRef>
              <c:f>'[很多鱼安全运营工作报告-20250801.xlsx]数据统计'!$D$65:$D$69</c:f>
              <c:numCache>
                <c:formatCode>General</c:formatCode>
                <c:ptCount val="5"/>
                <c:pt idx="0">
                  <c:v>76</c:v>
                </c:pt>
                <c:pt idx="1">
                  <c:v>39</c:v>
                </c:pt>
                <c:pt idx="2">
                  <c:v>31</c:v>
                </c:pt>
                <c:pt idx="3">
                  <c:v>26</c:v>
                </c:pt>
                <c:pt idx="4">
                  <c:v>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'[很多鱼安全运营工作报告-20250801.xlsx]数据统计'!$F$73:$F$77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'[很多鱼安全运营工作报告-20250801.xlsx]数据统计'!$G$73:$G$77</c:f>
              <c:numCache>
                <c:formatCode>General</c:formatCode>
                <c:ptCount val="5"/>
                <c:pt idx="0">
                  <c:v>125</c:v>
                </c:pt>
                <c:pt idx="1">
                  <c:v>31</c:v>
                </c:pt>
                <c:pt idx="2">
                  <c:v>12</c:v>
                </c:pt>
                <c:pt idx="3">
                  <c:v>23</c:v>
                </c:pt>
                <c:pt idx="4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'[很多鱼安全运营工作报告-20250801.xlsx]数据统计'!$C$88:$C$90</c:f>
              <c:strCache>
                <c:ptCount val="3"/>
                <c:pt idx="0">
                  <c:v>高危漏洞</c:v>
                </c:pt>
                <c:pt idx="1">
                  <c:v>中危漏洞</c:v>
                </c:pt>
                <c:pt idx="2">
                  <c:v>低危漏洞</c:v>
                </c:pt>
              </c:strCache>
            </c:strRef>
          </c:cat>
          <c:val>
            <c:numRef>
              <c:f>'[很多鱼安全运营工作报告-20250801.xlsx]数据统计'!$D$88:$D$90</c:f>
              <c:numCache>
                <c:formatCode>General</c:formatCode>
                <c:ptCount val="3"/>
                <c:pt idx="0">
                  <c:v>2537</c:v>
                </c:pt>
                <c:pt idx="1">
                  <c:v>3633</c:v>
                </c:pt>
                <c:pt idx="2">
                  <c:v>3284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'[很多鱼安全运营工作报告-20250801.xlsx]数据统计'!$C$47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'[很多鱼安全运营工作报告-20250801.xlsx]数据统计'!$D$46:$O$46</c:f>
              <c:numCache>
                <c:formatCode>mmm\-yy</c:formatCode>
                <c:ptCount val="12"/>
                <c:pt idx="0" c:formatCode="mmm\-yy">
                  <c:v>45505</c:v>
                </c:pt>
                <c:pt idx="1" c:formatCode="mmm\-yy">
                  <c:v>45536</c:v>
                </c:pt>
                <c:pt idx="2" c:formatCode="mmm\-yy">
                  <c:v>45566</c:v>
                </c:pt>
                <c:pt idx="3" c:formatCode="mmm\-yy">
                  <c:v>45597</c:v>
                </c:pt>
                <c:pt idx="4" c:formatCode="mmm\-yy">
                  <c:v>45627</c:v>
                </c:pt>
                <c:pt idx="5" c:formatCode="mmm\-yy">
                  <c:v>45658</c:v>
                </c:pt>
                <c:pt idx="6" c:formatCode="mmm\-yy">
                  <c:v>45689</c:v>
                </c:pt>
                <c:pt idx="7" c:formatCode="mmm\-yy">
                  <c:v>45717</c:v>
                </c:pt>
                <c:pt idx="8" c:formatCode="mmm\-yy">
                  <c:v>45748</c:v>
                </c:pt>
                <c:pt idx="9" c:formatCode="mmm\-yy">
                  <c:v>45778</c:v>
                </c:pt>
                <c:pt idx="10" c:formatCode="mmm\-yy">
                  <c:v>45809</c:v>
                </c:pt>
                <c:pt idx="11" c:formatCode="mmm\-yy">
                  <c:v>45839</c:v>
                </c:pt>
              </c:numCache>
            </c:numRef>
          </c:cat>
          <c:val>
            <c:numRef>
              <c:f>'[很多鱼安全运营工作报告-20250801.xlsx]数据统计'!$D$47:$O$47</c:f>
              <c:numCache>
                <c:formatCode>0\.0,"万"</c:formatCode>
                <c:ptCount val="12"/>
                <c:pt idx="0">
                  <c:v>64198</c:v>
                </c:pt>
                <c:pt idx="1">
                  <c:v>35890</c:v>
                </c:pt>
                <c:pt idx="2">
                  <c:v>12478</c:v>
                </c:pt>
                <c:pt idx="3">
                  <c:v>5613</c:v>
                </c:pt>
                <c:pt idx="4">
                  <c:v>704</c:v>
                </c:pt>
                <c:pt idx="5">
                  <c:v>902</c:v>
                </c:pt>
                <c:pt idx="6">
                  <c:v>2412</c:v>
                </c:pt>
                <c:pt idx="7">
                  <c:v>1362</c:v>
                </c:pt>
                <c:pt idx="8">
                  <c:v>5696</c:v>
                </c:pt>
                <c:pt idx="9">
                  <c:v>9140</c:v>
                </c:pt>
                <c:pt idx="10">
                  <c:v>4126</c:v>
                </c:pt>
                <c:pt idx="11">
                  <c:v>4675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'[很多鱼安全运营工作报告-20250801.xlsx]数据统计'!$C$48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'[很多鱼安全运营工作报告-20250801.xlsx]数据统计'!$D$46:$O$46</c:f>
              <c:numCache>
                <c:formatCode>mmm\-yy</c:formatCode>
                <c:ptCount val="12"/>
                <c:pt idx="0" c:formatCode="mmm\-yy">
                  <c:v>45505</c:v>
                </c:pt>
                <c:pt idx="1" c:formatCode="mmm\-yy">
                  <c:v>45536</c:v>
                </c:pt>
                <c:pt idx="2" c:formatCode="mmm\-yy">
                  <c:v>45566</c:v>
                </c:pt>
                <c:pt idx="3" c:formatCode="mmm\-yy">
                  <c:v>45597</c:v>
                </c:pt>
                <c:pt idx="4" c:formatCode="mmm\-yy">
                  <c:v>45627</c:v>
                </c:pt>
                <c:pt idx="5" c:formatCode="mmm\-yy">
                  <c:v>45658</c:v>
                </c:pt>
                <c:pt idx="6" c:formatCode="mmm\-yy">
                  <c:v>45689</c:v>
                </c:pt>
                <c:pt idx="7" c:formatCode="mmm\-yy">
                  <c:v>45717</c:v>
                </c:pt>
                <c:pt idx="8" c:formatCode="mmm\-yy">
                  <c:v>45748</c:v>
                </c:pt>
                <c:pt idx="9" c:formatCode="mmm\-yy">
                  <c:v>45778</c:v>
                </c:pt>
                <c:pt idx="10" c:formatCode="mmm\-yy">
                  <c:v>45809</c:v>
                </c:pt>
                <c:pt idx="11" c:formatCode="mmm\-yy">
                  <c:v>45839</c:v>
                </c:pt>
              </c:numCache>
            </c:numRef>
          </c:cat>
          <c:val>
            <c:numRef>
              <c:f>'[很多鱼安全运营工作报告-20250801.xlsx]数据统计'!$D$48:$O$48</c:f>
              <c:numCache>
                <c:formatCode>0\.0,"万"</c:formatCode>
                <c:ptCount val="12"/>
                <c:pt idx="0">
                  <c:v>770729</c:v>
                </c:pt>
                <c:pt idx="1">
                  <c:v>665038</c:v>
                </c:pt>
                <c:pt idx="2">
                  <c:v>1739364</c:v>
                </c:pt>
                <c:pt idx="3">
                  <c:v>616425</c:v>
                </c:pt>
                <c:pt idx="4">
                  <c:v>394727</c:v>
                </c:pt>
                <c:pt idx="5">
                  <c:v>333492</c:v>
                </c:pt>
                <c:pt idx="6">
                  <c:v>194377</c:v>
                </c:pt>
                <c:pt idx="7">
                  <c:v>82013</c:v>
                </c:pt>
                <c:pt idx="8">
                  <c:v>141130</c:v>
                </c:pt>
                <c:pt idx="9">
                  <c:v>197098</c:v>
                </c:pt>
                <c:pt idx="10">
                  <c:v>186542</c:v>
                </c:pt>
                <c:pt idx="11">
                  <c:v>240504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"日均攻击数"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'[很多鱼安全运营工作报告-20250801.xlsx]数据统计'!$C$89:$C$95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春节（25/1/23-2/5）</c:v>
                </c:pt>
                <c:pt idx="4">
                  <c:v>清明（25/4/4-4/6）</c:v>
                </c:pt>
                <c:pt idx="5">
                  <c:v>五一（25/5/1-5/5）</c:v>
                </c:pt>
                <c:pt idx="6">
                  <c:v>端午（25/5/31-6/2）</c:v>
                </c:pt>
              </c:strCache>
            </c:strRef>
          </c:cat>
          <c:val>
            <c:numRef>
              <c:f>'[很多鱼安全运营工作报告-20250801.xlsx]数据统计'!$D$89:$D$95</c:f>
              <c:numCache>
                <c:formatCode>General</c:formatCode>
                <c:ptCount val="7"/>
                <c:pt idx="0">
                  <c:v>9623</c:v>
                </c:pt>
                <c:pt idx="1">
                  <c:v>28655</c:v>
                </c:pt>
                <c:pt idx="2">
                  <c:v>3461</c:v>
                </c:pt>
                <c:pt idx="3">
                  <c:v>16440</c:v>
                </c:pt>
                <c:pt idx="4">
                  <c:v>2238</c:v>
                </c:pt>
                <c:pt idx="5">
                  <c:v>7218</c:v>
                </c:pt>
                <c:pt idx="6">
                  <c:v>5570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"防御率"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'[很多鱼安全运营工作报告-20250801.xlsx]数据统计'!$C$89:$C$95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春节（25/1/23-2/5）</c:v>
                </c:pt>
                <c:pt idx="4">
                  <c:v>清明（25/4/4-4/6）</c:v>
                </c:pt>
                <c:pt idx="5">
                  <c:v>五一（25/5/1-5/5）</c:v>
                </c:pt>
                <c:pt idx="6">
                  <c:v>端午（25/5/31-6/2）</c:v>
                </c:pt>
              </c:strCache>
            </c:strRef>
          </c:cat>
          <c:val>
            <c:numRef>
              <c:f>'[很多鱼安全运营工作报告-20250801.xlsx]数据统计'!$E$89:$E$95</c:f>
              <c:numCache>
                <c:formatCode>0%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[REPORT_TITLE: AI生成内容占位]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[CUSTOMER_LABEL: AI生成内容占位]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[PERIOD_LABEL: AI生成内容占位]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[CONFIDENTIALITY_LABEL: AI生成内容占位]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[GENERATED_AT_LABEL: AI生成内容占位]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208145" y="5645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{{</a:t>
            </a:r>
            <a:r>
              <a:rPr lang="en-US" altLang="zh-CN">
                <a:sym typeface="+mn-ea"/>
              </a:rPr>
              <a:t>P12_pie}</a:t>
            </a:r>
            <a:r>
              <a:rPr lang="zh-CN" altLang="en-US">
                <a:sym typeface="+mn-ea"/>
              </a:rPr>
              <a:t>}</a:t>
            </a:r>
            <a:endParaRPr lang="zh-CN" altLang="en-US">
              <a:sym typeface="+mn-ea"/>
            </a:endParaRPr>
          </a:p>
        </p:txBody>
      </p:sp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[TECHNICAL_ASSESSMENT: AI生成内容占位]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77240" y="15405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{{</a:t>
            </a:r>
            <a:r>
              <a:rPr lang="en-US" altLang="zh-CN"/>
              <a:t>P13_pie</a:t>
            </a:r>
            <a:r>
              <a:rPr lang="zh-CN" altLang="en-US"/>
              <a:t>}}</a:t>
            </a:r>
            <a:endParaRPr lang="zh-CN" altLang="en-US"/>
          </a:p>
        </p:txBody>
      </p:sp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570345" y="22980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{{</a:t>
            </a:r>
            <a:r>
              <a:rPr lang="en-US" altLang="zh-CN"/>
              <a:t>P14_pie</a:t>
            </a:r>
            <a:r>
              <a:rPr lang="zh-CN" altLang="en-US"/>
              <a:t>}}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sp>
        <p:nvSpPr>
          <p:cNvPr id="21" name="文本框 20"/>
          <p:cNvSpPr txBox="1"/>
          <p:nvPr/>
        </p:nvSpPr>
        <p:spPr>
          <a:xfrm>
            <a:off x="312420" y="59734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{{</a:t>
            </a:r>
            <a:r>
              <a:rPr lang="en-US" altLang="zh-CN">
                <a:sym typeface="+mn-ea"/>
              </a:rPr>
              <a:t>P15_line</a:t>
            </a:r>
            <a:r>
              <a:rPr lang="zh-CN" altLang="en-US">
                <a:sym typeface="+mn-ea"/>
              </a:rPr>
              <a:t>}}</a:t>
            </a:r>
            <a:endParaRPr lang="zh-CN" altLang="en-US">
              <a:sym typeface="+mn-ea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897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207135" y="33185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{{P16_combo}}</a:t>
            </a:r>
            <a:endParaRPr lang="zh-CN" altLang="en-US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INC-20251201-001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2025-12-01T04:14:00Z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INC-20251201-002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邮件投递导致终端恶意软件执行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2025-12-01T08:17:00Z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336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INC-20251201-003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2025-12-01T02:35:00Z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[INCIDENT1_TITLE: AI生成内容占位]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[INCIDENT_DETAIL_1: AI生成内容占位]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[INCIDENT2_TITLE: AI生成内容占位]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[INCIDENT_DETAIL_2: AI生成内容占位]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[ATTACK_PATTERN_SUMMARY: AI生成内容占位]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[CVE_TECHNICAL_ANALYSIS: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[EXTERNAL_EXPOSURE: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[ATTACK_SURFACE_TREND: AI生成内容占位]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[IAM_RISK_ANALYSIS: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安全组0.0.0.0/0暴露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[DETECTION_IMPROVEMENTS: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[EVIDENCE_INDEX: AI生成内容占位]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[DATA_FRESHNESS: AI生成内容占位]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[DATA_SCOPE_NOTES: AI生成内容占位]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[VULN_NOTES: AI生成内容占位]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[EVIDENCE_NOTES: AI生成内容占位]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[KEY_SERVICES_LIST: AI生成内容占位]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• [AI生成内容占位]
• [请启用LLM以生成实际内容]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740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