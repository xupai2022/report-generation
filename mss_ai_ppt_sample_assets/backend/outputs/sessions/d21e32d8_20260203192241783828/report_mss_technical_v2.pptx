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tags" Target="tags/tag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1.xml"/><Relationship Id="rId3" Type="http://schemas.microsoft.com/office/2011/relationships/chartStyle" Target="style2.xml"/><Relationship Id="rId4" Type="http://schemas.microsoft.com/office/2011/relationships/chartColorStyle" Target="colors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2.xml"/><Relationship Id="rId3" Type="http://schemas.microsoft.com/office/2011/relationships/chartStyle" Target="style3.xml"/><Relationship Id="rId4" Type="http://schemas.microsoft.com/office/2011/relationships/chartColorStyle" Target="colors3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3.xml"/><Relationship Id="rId3" Type="http://schemas.microsoft.com/office/2011/relationships/chartStyle" Target="style4.xml"/><Relationship Id="rId4" Type="http://schemas.microsoft.com/office/2011/relationships/chartColorStyle" Target="colors4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5.xml"/><Relationship Id="rId3" Type="http://schemas.microsoft.com/office/2011/relationships/chartColorStyle" Target="colors5.xm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6.xml"/><Relationship Id="rId3" Type="http://schemas.microsoft.com/office/2011/relationships/chartColorStyle" Target="colors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14410134600158"/>
          <c:y val="0.197183098591549"/>
          <c:w val="0.909527579836368"/>
          <c:h val="0.6432138284250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告警数量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2846</c:v>
                </c:pt>
                <c:pt idx="1">
                  <c:v>3244</c:v>
                </c:pt>
                <c:pt idx="2">
                  <c:v>3112</c:v>
                </c:pt>
                <c:pt idx="3">
                  <c:v>3253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590885613"/>
        <c:axId val="82692506"/>
      </c:barChart>
      <c:catAx>
        <c:axId val="59088561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82692506"/>
        <c:crosses val="autoZero"/>
        <c:auto val="1"/>
        <c:lblAlgn val="ctr"/>
        <c:lblOffset val="100"/>
        <c:noMultiLvlLbl val="0"/>
      </c:catAx>
      <c:valAx>
        <c:axId val="82692506"/>
        <c:scaling>
          <c:orientation val="minMax"/>
        </c:scaling>
        <c:delete val="0"/>
        <c:axPos val="l"/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59088561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spPr>
            <a:solidFill>
              <a:schemeClr val="accent1">
                <a:alpha val="85000"/>
              </a:schemeClr>
            </a:solidFill>
          </c:spPr>
          <c:explosion val="0"/>
          <c:dPt>
            <c:idx val="0"/>
            <c:bubble3D val="0"/>
            <c:spPr>
              <a:solidFill>
                <a:schemeClr val="accent1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'[很多鱼安全运营工作报告-20250801.xlsx]数据统计'!$C$65:$C$69</c:f>
              <c:strCache>
                <c:ptCount val="5"/>
                <c:pt idx="0">
                  <c:v>挖矿</c:v>
                </c:pt>
                <c:pt idx="1" c:formatCode="mmm\-yy">
                  <c:v>僵尸网络</c:v>
                </c:pt>
                <c:pt idx="2" c:formatCode="mmm\-yy">
                  <c:v>木马</c:v>
                </c:pt>
                <c:pt idx="3" c:formatCode="mmm\-yy">
                  <c:v>账号爆破</c:v>
                </c:pt>
                <c:pt idx="4" c:formatCode="mmm\-yy">
                  <c:v>代理工具</c:v>
                </c:pt>
              </c:strCache>
            </c:strRef>
          </c:cat>
          <c:val>
            <c:numRef>
              <c:f>'[很多鱼安全运营工作报告-20250801.xlsx]数据统计'!$D$65:$D$69</c:f>
              <c:numCache>
                <c:formatCode>General</c:formatCode>
                <c:ptCount val="5"/>
                <c:pt idx="0">
                  <c:v>76</c:v>
                </c:pt>
                <c:pt idx="1">
                  <c:v>39</c:v>
                </c:pt>
                <c:pt idx="2">
                  <c:v>31</c:v>
                </c:pt>
                <c:pt idx="3">
                  <c:v>26</c:v>
                </c:pt>
                <c:pt idx="4">
                  <c:v>11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753644622860765"/>
          <c:y val="0.229474852071006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>
          <a:solidFill>
            <a:schemeClr val="bg2">
              <a:lumMod val="10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8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'[很多鱼安全运营工作报告-20250801.xlsx]数据统计'!$F$73:$F$77</c:f>
              <c:strCache>
                <c:ptCount val="5"/>
                <c:pt idx="0">
                  <c:v>服务器</c:v>
                </c:pt>
                <c:pt idx="1">
                  <c:v>终端</c:v>
                </c:pt>
                <c:pt idx="2">
                  <c:v>网络设备</c:v>
                </c:pt>
                <c:pt idx="3">
                  <c:v>安全设备</c:v>
                </c:pt>
                <c:pt idx="4">
                  <c:v>物联网设备</c:v>
                </c:pt>
              </c:strCache>
            </c:strRef>
          </c:cat>
          <c:val>
            <c:numRef>
              <c:f>'[很多鱼安全运营工作报告-20250801.xlsx]数据统计'!$G$73:$G$77</c:f>
              <c:numCache>
                <c:formatCode>General</c:formatCode>
                <c:ptCount val="5"/>
                <c:pt idx="0">
                  <c:v>125</c:v>
                </c:pt>
                <c:pt idx="1">
                  <c:v>31</c:v>
                </c:pt>
                <c:pt idx="2">
                  <c:v>12</c:v>
                </c:pt>
                <c:pt idx="3">
                  <c:v>23</c:v>
                </c:pt>
                <c:pt idx="4">
                  <c:v>10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752842459804959"/>
          <c:y val="0.255978230895547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spPr/>
          <c:explosion val="0"/>
          <c:dPt>
            <c:idx val="0"/>
            <c:bubble3D val="0"/>
            <c:spPr>
              <a:solidFill>
                <a:srgbClr val="70AD47"/>
              </a:solidFill>
              <a:ln>
                <a:solidFill>
                  <a:srgbClr val="FFFFFF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5B9BD5"/>
              </a:solidFill>
              <a:ln>
                <a:solidFill>
                  <a:srgbClr val="FFFFFF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FFC000"/>
              </a:solidFill>
              <a:ln>
                <a:solidFill>
                  <a:srgbClr val="FFFFFF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rgbClr val="000000">
                          <a:lumMod val="35000"/>
                          <a:lumOff val="65000"/>
                        </a:srgb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'[很多鱼安全运营工作报告-20250801.xlsx]数据统计'!$C$88:$C$90</c:f>
              <c:strCache>
                <c:ptCount val="3"/>
                <c:pt idx="0">
                  <c:v>高危漏洞</c:v>
                </c:pt>
                <c:pt idx="1">
                  <c:v>中危漏洞</c:v>
                </c:pt>
                <c:pt idx="2">
                  <c:v>低危漏洞</c:v>
                </c:pt>
              </c:strCache>
            </c:strRef>
          </c:cat>
          <c:val>
            <c:numRef>
              <c:f>'[很多鱼安全运营工作报告-20250801.xlsx]数据统计'!$D$88:$D$90</c:f>
              <c:numCache>
                <c:formatCode>General</c:formatCode>
                <c:ptCount val="3"/>
                <c:pt idx="0">
                  <c:v>2537</c:v>
                </c:pt>
                <c:pt idx="1">
                  <c:v>3633</c:v>
                </c:pt>
                <c:pt idx="2">
                  <c:v>3284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>
          <a:solidFill>
            <a:srgbClr val="000000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'[很多鱼安全运营工作报告-20250801.xlsx]数据统计'!$C$47</c:f>
              <c:strCache>
                <c:ptCount val="1"/>
                <c:pt idx="0">
                  <c:v>外部攻击数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'[很多鱼安全运营工作报告-20250801.xlsx]数据统计'!$D$46:$O$46</c:f>
              <c:numCache>
                <c:formatCode>mmm\-yy</c:formatCode>
                <c:ptCount val="12"/>
                <c:pt idx="0" c:formatCode="mmm\-yy">
                  <c:v>45505</c:v>
                </c:pt>
                <c:pt idx="1" c:formatCode="mmm\-yy">
                  <c:v>45536</c:v>
                </c:pt>
                <c:pt idx="2" c:formatCode="mmm\-yy">
                  <c:v>45566</c:v>
                </c:pt>
                <c:pt idx="3" c:formatCode="mmm\-yy">
                  <c:v>45597</c:v>
                </c:pt>
                <c:pt idx="4" c:formatCode="mmm\-yy">
                  <c:v>45627</c:v>
                </c:pt>
                <c:pt idx="5" c:formatCode="mmm\-yy">
                  <c:v>45658</c:v>
                </c:pt>
                <c:pt idx="6" c:formatCode="mmm\-yy">
                  <c:v>45689</c:v>
                </c:pt>
                <c:pt idx="7" c:formatCode="mmm\-yy">
                  <c:v>45717</c:v>
                </c:pt>
                <c:pt idx="8" c:formatCode="mmm\-yy">
                  <c:v>45748</c:v>
                </c:pt>
                <c:pt idx="9" c:formatCode="mmm\-yy">
                  <c:v>45778</c:v>
                </c:pt>
                <c:pt idx="10" c:formatCode="mmm\-yy">
                  <c:v>45809</c:v>
                </c:pt>
                <c:pt idx="11" c:formatCode="mmm\-yy">
                  <c:v>45839</c:v>
                </c:pt>
              </c:numCache>
            </c:numRef>
          </c:cat>
          <c:val>
            <c:numRef>
              <c:f>'[很多鱼安全运营工作报告-20250801.xlsx]数据统计'!$D$47:$O$47</c:f>
              <c:numCache>
                <c:formatCode>0\.0,"万"</c:formatCode>
                <c:ptCount val="12"/>
                <c:pt idx="0">
                  <c:v>64198</c:v>
                </c:pt>
                <c:pt idx="1">
                  <c:v>35890</c:v>
                </c:pt>
                <c:pt idx="2">
                  <c:v>12478</c:v>
                </c:pt>
                <c:pt idx="3">
                  <c:v>5613</c:v>
                </c:pt>
                <c:pt idx="4">
                  <c:v>704</c:v>
                </c:pt>
                <c:pt idx="5">
                  <c:v>902</c:v>
                </c:pt>
                <c:pt idx="6">
                  <c:v>2412</c:v>
                </c:pt>
                <c:pt idx="7">
                  <c:v>1362</c:v>
                </c:pt>
                <c:pt idx="8">
                  <c:v>5696</c:v>
                </c:pt>
                <c:pt idx="9">
                  <c:v>9140</c:v>
                </c:pt>
                <c:pt idx="10">
                  <c:v>4126</c:v>
                </c:pt>
                <c:pt idx="11">
                  <c:v>4675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'[很多鱼安全运营工作报告-20250801.xlsx]数据统计'!$C$48</c:f>
              <c:strCache>
                <c:ptCount val="1"/>
                <c:pt idx="0">
                  <c:v>恶意外联数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'[很多鱼安全运营工作报告-20250801.xlsx]数据统计'!$D$46:$O$46</c:f>
              <c:numCache>
                <c:formatCode>mmm\-yy</c:formatCode>
                <c:ptCount val="12"/>
                <c:pt idx="0" c:formatCode="mmm\-yy">
                  <c:v>45505</c:v>
                </c:pt>
                <c:pt idx="1" c:formatCode="mmm\-yy">
                  <c:v>45536</c:v>
                </c:pt>
                <c:pt idx="2" c:formatCode="mmm\-yy">
                  <c:v>45566</c:v>
                </c:pt>
                <c:pt idx="3" c:formatCode="mmm\-yy">
                  <c:v>45597</c:v>
                </c:pt>
                <c:pt idx="4" c:formatCode="mmm\-yy">
                  <c:v>45627</c:v>
                </c:pt>
                <c:pt idx="5" c:formatCode="mmm\-yy">
                  <c:v>45658</c:v>
                </c:pt>
                <c:pt idx="6" c:formatCode="mmm\-yy">
                  <c:v>45689</c:v>
                </c:pt>
                <c:pt idx="7" c:formatCode="mmm\-yy">
                  <c:v>45717</c:v>
                </c:pt>
                <c:pt idx="8" c:formatCode="mmm\-yy">
                  <c:v>45748</c:v>
                </c:pt>
                <c:pt idx="9" c:formatCode="mmm\-yy">
                  <c:v>45778</c:v>
                </c:pt>
                <c:pt idx="10" c:formatCode="mmm\-yy">
                  <c:v>45809</c:v>
                </c:pt>
                <c:pt idx="11" c:formatCode="mmm\-yy">
                  <c:v>45839</c:v>
                </c:pt>
              </c:numCache>
            </c:numRef>
          </c:cat>
          <c:val>
            <c:numRef>
              <c:f>'[很多鱼安全运营工作报告-20250801.xlsx]数据统计'!$D$48:$O$48</c:f>
              <c:numCache>
                <c:formatCode>0\.0,"万"</c:formatCode>
                <c:ptCount val="12"/>
                <c:pt idx="0">
                  <c:v>770729</c:v>
                </c:pt>
                <c:pt idx="1">
                  <c:v>665038</c:v>
                </c:pt>
                <c:pt idx="2">
                  <c:v>1739364</c:v>
                </c:pt>
                <c:pt idx="3">
                  <c:v>616425</c:v>
                </c:pt>
                <c:pt idx="4">
                  <c:v>394727</c:v>
                </c:pt>
                <c:pt idx="5">
                  <c:v>333492</c:v>
                </c:pt>
                <c:pt idx="6">
                  <c:v>194377</c:v>
                </c:pt>
                <c:pt idx="7">
                  <c:v>82013</c:v>
                </c:pt>
                <c:pt idx="8">
                  <c:v>141130</c:v>
                </c:pt>
                <c:pt idx="9">
                  <c:v>197098</c:v>
                </c:pt>
                <c:pt idx="10">
                  <c:v>186542</c:v>
                </c:pt>
                <c:pt idx="11">
                  <c:v>240504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829985891"/>
        <c:axId val="617127009"/>
      </c:lineChart>
      <c:dateAx>
        <c:axId val="829985891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7127009"/>
        <c:crosses val="autoZero"/>
        <c:auto val="1"/>
        <c:lblOffset val="100"/>
        <c:baseTimeUnit val="months"/>
      </c:dateAx>
      <c:valAx>
        <c:axId val="617127009"/>
        <c:scaling>
          <c:orientation val="minMax"/>
        </c:scaling>
        <c:delete val="1"/>
        <c:axPos val="l"/>
        <c:numFmt formatCode="0\.0,&quot;万&quot;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299858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600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"日均攻击数"</c:f>
              <c:strCache>
                <c:ptCount val="1"/>
                <c:pt idx="0">
                  <c:v>日均攻击数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5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'[很多鱼安全运营工作报告-20250801.xlsx]数据统计'!$C$89:$C$95</c:f>
              <c:strCache>
                <c:ptCount val="7"/>
                <c:pt idx="0">
                  <c:v>中秋（24/9/15-9/17）</c:v>
                </c:pt>
                <c:pt idx="1">
                  <c:v>国庆（24/10/1-10/7）</c:v>
                </c:pt>
                <c:pt idx="2">
                  <c:v>元旦（25/1/1）</c:v>
                </c:pt>
                <c:pt idx="3">
                  <c:v>春节（25/1/23-2/5）</c:v>
                </c:pt>
                <c:pt idx="4">
                  <c:v>清明（25/4/4-4/6）</c:v>
                </c:pt>
                <c:pt idx="5">
                  <c:v>五一（25/5/1-5/5）</c:v>
                </c:pt>
                <c:pt idx="6">
                  <c:v>端午（25/5/31-6/2）</c:v>
                </c:pt>
              </c:strCache>
            </c:strRef>
          </c:cat>
          <c:val>
            <c:numRef>
              <c:f>'[很多鱼安全运营工作报告-20250801.xlsx]数据统计'!$D$89:$D$95</c:f>
              <c:numCache>
                <c:formatCode>General</c:formatCode>
                <c:ptCount val="7"/>
                <c:pt idx="0">
                  <c:v>9623</c:v>
                </c:pt>
                <c:pt idx="1">
                  <c:v>28655</c:v>
                </c:pt>
                <c:pt idx="2">
                  <c:v>3461</c:v>
                </c:pt>
                <c:pt idx="3">
                  <c:v>16440</c:v>
                </c:pt>
                <c:pt idx="4">
                  <c:v>2238</c:v>
                </c:pt>
                <c:pt idx="5">
                  <c:v>7218</c:v>
                </c:pt>
                <c:pt idx="6">
                  <c:v>5570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2361593"/>
        <c:axId val="478519395"/>
      </c:barChart>
      <c:lineChart>
        <c:grouping val="standard"/>
        <c:varyColors val="0"/>
        <c:ser>
          <c:idx val="1"/>
          <c:order val="1"/>
          <c:tx>
            <c:strRef>
              <c:f>"防御率"</c:f>
              <c:strCache>
                <c:ptCount val="1"/>
                <c:pt idx="0">
                  <c:v>防御率</c:v>
                </c:pt>
              </c:strCache>
            </c:strRef>
          </c:tx>
          <c:spPr>
            <a:ln w="28575" cap="rnd">
              <a:solidFill>
                <a:srgbClr val="00D860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'[很多鱼安全运营工作报告-20250801.xlsx]数据统计'!$C$89:$C$95</c:f>
              <c:strCache>
                <c:ptCount val="7"/>
                <c:pt idx="0">
                  <c:v>中秋（24/9/15-9/17）</c:v>
                </c:pt>
                <c:pt idx="1">
                  <c:v>国庆（24/10/1-10/7）</c:v>
                </c:pt>
                <c:pt idx="2">
                  <c:v>元旦（25/1/1）</c:v>
                </c:pt>
                <c:pt idx="3">
                  <c:v>春节（25/1/23-2/5）</c:v>
                </c:pt>
                <c:pt idx="4">
                  <c:v>清明（25/4/4-4/6）</c:v>
                </c:pt>
                <c:pt idx="5">
                  <c:v>五一（25/5/1-5/5）</c:v>
                </c:pt>
                <c:pt idx="6">
                  <c:v>端午（25/5/31-6/2）</c:v>
                </c:pt>
              </c:strCache>
            </c:strRef>
          </c:cat>
          <c:val>
            <c:numRef>
              <c:f>'[很多鱼安全运营工作报告-20250801.xlsx]数据统计'!$E$89:$E$95</c:f>
              <c:numCache>
                <c:formatCode>0%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725296953"/>
        <c:axId val="406196429"/>
      </c:lineChart>
      <c:catAx>
        <c:axId val="45236159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78519395"/>
        <c:crosses val="autoZero"/>
        <c:auto val="1"/>
        <c:lblAlgn val="ctr"/>
        <c:lblOffset val="100"/>
        <c:noMultiLvlLbl val="0"/>
      </c:catAx>
      <c:valAx>
        <c:axId val="478519395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52361593"/>
        <c:crosses val="autoZero"/>
        <c:crossBetween val="between"/>
      </c:valAx>
      <c:catAx>
        <c:axId val="725296953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06196429"/>
        <c:crosses val="autoZero"/>
        <c:auto val="1"/>
        <c:lblAlgn val="ctr"/>
        <c:lblOffset val="100"/>
        <c:noMultiLvlLbl val="0"/>
      </c:catAx>
      <c:valAx>
        <c:axId val="406196429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25296953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500" b="0" i="0" u="none" strike="noStrike" kern="1200" baseline="0">
              <a:solidFill>
                <a:schemeClr val="bg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500">
          <a:solidFill>
            <a:schemeClr val="bg2">
              <a:lumMod val="10000"/>
            </a:schemeClr>
          </a:solidFill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rgbClr val="000000">
        <a:lumMod val="65000"/>
        <a:lumOff val="35000"/>
      </a:srgbClr>
    </cs:fontRef>
    <cs:defRPr sz="1000" kern="1200"/>
  </cs:axisTitle>
  <cs:categoryAxis>
    <cs:lnRef idx="0"/>
    <cs:fillRef idx="0"/>
    <cs:effectRef idx="0"/>
    <cs:fontRef idx="minor">
      <a:srgbClr val="000000">
        <a:lumMod val="65000"/>
        <a:lumOff val="35000"/>
      </a:srgbClr>
    </cs:fontRef>
    <cs:spPr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rgbClr val="000000"/>
    </cs:fontRef>
    <cs:spPr>
      <a:solidFill>
        <a:srgbClr val="FFFFFF"/>
      </a:solidFill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chartArea>
  <cs:dataLabel>
    <cs:lnRef idx="0"/>
    <cs:fillRef idx="0"/>
    <cs:effectRef idx="0"/>
    <cs:fontRef idx="minor">
      <a:srgbClr val="000000">
        <a:lumMod val="75000"/>
        <a:lumOff val="25000"/>
      </a:srgbClr>
    </cs:fontRef>
    <cs:defRPr sz="1000" kern="1200"/>
  </cs:dataLabel>
  <cs:dataLabelCallout>
    <cs:lnRef idx="0"/>
    <cs:fillRef idx="0"/>
    <cs:effectRef idx="0"/>
    <cs:fontRef idx="minor">
      <a:srgbClr val="000000">
        <a:lumMod val="65000"/>
        <a:lumOff val="35000"/>
      </a:srgbClr>
    </cs:fontRef>
    <cs:spPr>
      <a:solidFill>
        <a:srgbClr val="FFFFFF"/>
      </a:solidFill>
      <a:ln>
        <a:solidFill>
          <a:srgbClr val="000000">
            <a:lumMod val="25000"/>
            <a:lumOff val="75000"/>
          </a:srgb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rgbClr val="000000"/>
    </cs:fontRef>
    <cs:spPr>
      <a:ln>
        <a:solidFill>
          <a:srgbClr val="FFFFFF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rgbClr val="000000"/>
    </cs:fontRef>
    <cs:spPr>
      <a:ln w="25400">
        <a:solidFill>
          <a:srgbClr val="FFFFFF"/>
        </a:solidFill>
      </a:ln>
    </cs:spPr>
  </cs:dataPoint3D>
  <cs:dataPointLine>
    <cs:lnRef idx="0">
      <cs:styleClr val="auto"/>
    </cs:lnRef>
    <cs:fillRef idx="0"/>
    <cs:effectRef idx="0"/>
    <cs:fontRef idx="minor">
      <a:srgbClr val="000000"/>
    </cs:fontRef>
    <cs:spPr>
      <a:ln w="28575" cap="rnd">
        <a:solidFill>
          <a:srgbClr val="FFFFFF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rgbClr val="000000"/>
    </cs:fontRef>
    <cs:spPr>
      <a:ln w="9525">
        <a:solidFill>
          <a:srgbClr val="FFFFFF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rgbClr val="000000"/>
    </cs:fontRef>
    <cs:spPr>
      <a:ln w="9525" cap="rnd">
        <a:solidFill>
          <a:srgbClr val="FFFFFF"/>
        </a:solidFill>
        <a:round/>
      </a:ln>
    </cs:spPr>
  </cs:dataPointWireframe>
  <cs:dataTable>
    <cs:lnRef idx="0"/>
    <cs:fillRef idx="0"/>
    <cs:effectRef idx="0"/>
    <cs:fontRef idx="minor">
      <a:srgbClr val="000000">
        <a:lumMod val="65000"/>
        <a:lumOff val="35000"/>
      </a:srgbClr>
    </cs:fontRef>
    <cs:spPr>
      <a:noFill/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dataTable>
  <cs:downBar>
    <cs:lnRef idx="0"/>
    <cs:fillRef idx="0"/>
    <cs:effectRef idx="0"/>
    <cs:fontRef idx="minor">
      <a:srgbClr val="000000"/>
    </cs:fontRef>
    <cs:spPr>
      <a:solidFill>
        <a:srgbClr val="000000">
          <a:lumMod val="75000"/>
          <a:lumOff val="25000"/>
        </a:srgbClr>
      </a:solidFill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downBar>
  <cs:drop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dropLine>
  <cs:errorBa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errorBar>
  <cs:floor>
    <cs:lnRef idx="0"/>
    <cs:fillRef idx="0"/>
    <cs:effectRef idx="0"/>
    <cs:fontRef idx="minor">
      <a:srgbClr val="000000"/>
    </cs:fontRef>
    <cs:spPr>
      <a:noFill/>
      <a:ln>
        <a:noFill/>
      </a:ln>
    </cs:spPr>
  </cs:floor>
  <cs:gridlineMajor>
    <cs:lnRef idx="0"/>
    <cs:fillRef idx="0"/>
    <cs:effectRef idx="0"/>
    <cs:fontRef idx="minor">
      <a:srgbClr val="000000"/>
    </cs:fontRef>
    <cs:spPr>
      <a:ln w="9525" cap="flat" cmpd="sng" algn="ctr">
        <a:solidFill>
          <a:srgbClr val="FFFFFF">
            <a:lumMod val="90200"/>
          </a:srgbClr>
        </a:solidFill>
        <a:round/>
      </a:ln>
    </cs:spPr>
  </cs:gridlineMajor>
  <cs:gridlineMino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5000"/>
            <a:lumOff val="95000"/>
          </a:srgbClr>
        </a:solidFill>
        <a:round/>
      </a:ln>
    </cs:spPr>
  </cs:gridlineMinor>
  <cs:hiLo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50000"/>
            <a:lumOff val="50000"/>
          </a:srgbClr>
        </a:solidFill>
        <a:round/>
      </a:ln>
    </cs:spPr>
  </cs:hiLoLine>
  <cs:leader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leaderLine>
  <cs:legend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legend>
  <cs:plotArea mods="allowNoFillOverride allowNoLineOverride">
    <cs:lnRef idx="0"/>
    <cs:fillRef idx="0"/>
    <cs:effectRef idx="0"/>
    <cs:fontRef idx="minor">
      <a:srgbClr val="000000"/>
    </cs:fontRef>
  </cs:plotArea>
  <cs:plotArea3D mods="allowNoFillOverride allowNoLineOverride">
    <cs:lnRef idx="0"/>
    <cs:fillRef idx="0"/>
    <cs:effectRef idx="0"/>
    <cs:fontRef idx="minor">
      <a:srgbClr val="000000"/>
    </cs:fontRef>
  </cs:plotArea3D>
  <cs:seriesAxis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seriesAxis>
  <cs:series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seriesLine>
  <cs:title>
    <cs:lnRef idx="0"/>
    <cs:fillRef idx="0"/>
    <cs:effectRef idx="0"/>
    <cs:fontRef idx="minor">
      <a:srgbClr val="000000">
        <a:lumMod val="75000"/>
        <a:lumOff val="25000"/>
      </a:srgbClr>
    </cs:fontRef>
    <cs:defRPr sz="1400" b="1" kern="1200" baseline="0"/>
  </cs:title>
  <cs:trendline>
    <cs:lnRef idx="0">
      <cs:styleClr val="auto"/>
    </cs:lnRef>
    <cs:fillRef idx="0"/>
    <cs:effectRef idx="0"/>
    <cs:fontRef idx="minor">
      <a:srgbClr val="000000"/>
    </cs:fontRef>
    <cs:spPr>
      <a:ln w="19050" cap="rnd">
        <a:solidFill>
          <a:srgbClr val="FFFFFF"/>
        </a:solidFill>
        <a:prstDash val="sysDot"/>
      </a:ln>
    </cs:spPr>
  </cs:trendline>
  <cs:trendlineLabel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trendlineLabel>
  <cs:upBar>
    <cs:lnRef idx="0"/>
    <cs:fillRef idx="0"/>
    <cs:effectRef idx="0"/>
    <cs:fontRef idx="minor">
      <a:srgbClr val="000000"/>
    </cs:fontRef>
    <cs:spPr>
      <a:solidFill>
        <a:srgbClr val="FFFFFF"/>
      </a:solidFill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upBar>
  <cs:valueAxis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valueAxis>
  <cs:wall>
    <cs:lnRef idx="0"/>
    <cs:fillRef idx="0"/>
    <cs:effectRef idx="0"/>
    <cs:fontRef idx="minor">
      <a:srgbClr val="000000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10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0881360" cy="8686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3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[REPORT_TITLE: AI生成内容占位]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15968"/>
            <a:ext cx="676656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[CUSTOMER_LABEL: AI生成内容占位]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7375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[PERIOD_LABEL: AI生成内容占位]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3095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技术详细版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74243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[CONFIDENTIALITY_LABEL: AI生成内容占位]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15391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[GENERATED_AT_LABEL: AI生成内容占位]</a:t>
            </a:r>
          </a:p>
        </p:txBody>
      </p:sp>
      <p:graphicFrame>
        <p:nvGraphicFramePr>
          <p:cNvPr id="25" name="图表 24"/>
          <p:cNvGraphicFramePr/>
          <p:nvPr/>
        </p:nvGraphicFramePr>
        <p:xfrm>
          <a:off x="8156575" y="4389120"/>
          <a:ext cx="3390265" cy="2294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4208145" y="56451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{{</a:t>
            </a:r>
            <a:r>
              <a:rPr lang="en-US" altLang="zh-CN">
                <a:sym typeface="+mn-ea"/>
              </a:rPr>
              <a:t>P12_pie}</a:t>
            </a:r>
            <a:r>
              <a:rPr lang="zh-CN" altLang="en-US">
                <a:sym typeface="+mn-ea"/>
              </a:rPr>
              <a:t>}</a:t>
            </a:r>
            <a:endParaRPr lang="zh-CN" altLang="en-US">
              <a:sym typeface="+mn-ea"/>
            </a:endParaRPr>
          </a:p>
        </p:txBody>
      </p:sp>
      <p:graphicFrame>
        <p:nvGraphicFramePr>
          <p:cNvPr id="14" name="图表 13" descr="7b0a202020202263686172745265734964223a20223230343736383734220a7d0a"/>
          <p:cNvGraphicFramePr/>
          <p:nvPr/>
        </p:nvGraphicFramePr>
        <p:xfrm>
          <a:off x="5151120" y="1000125"/>
          <a:ext cx="3005455" cy="1717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安全态势仪表盘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78992"/>
            <a:ext cx="10881360" cy="3108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262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技术评估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92040"/>
            <a:ext cx="10881360" cy="1600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[TECHNICAL_ASSESSMENT: Ai哦屁哦I生成内容占位]</a:t>
            </a:r>
          </a:p>
        </p:txBody>
      </p:sp>
      <p:graphicFrame>
        <p:nvGraphicFramePr>
          <p:cNvPr id="30" name="图表 29" descr="7b0a202020202263686172745265734964223a20223230323931393734220a7d0a"/>
          <p:cNvGraphicFramePr/>
          <p:nvPr/>
        </p:nvGraphicFramePr>
        <p:xfrm>
          <a:off x="1065530" y="1953260"/>
          <a:ext cx="2987993" cy="1686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777240" y="154051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{{</a:t>
            </a:r>
            <a:r>
              <a:rPr lang="en-US" altLang="zh-CN"/>
              <a:t>P13_pie</a:t>
            </a:r>
            <a:r>
              <a:rPr lang="zh-CN" altLang="en-US"/>
              <a:t>}}</a:t>
            </a:r>
            <a:endParaRPr lang="zh-CN" altLang="en-US"/>
          </a:p>
        </p:txBody>
      </p:sp>
      <p:graphicFrame>
        <p:nvGraphicFramePr>
          <p:cNvPr id="10" name="图表 9" descr="7b0a202020202263686172745265734964223a20223230323931393734220a7d0a"/>
          <p:cNvGraphicFramePr/>
          <p:nvPr/>
        </p:nvGraphicFramePr>
        <p:xfrm>
          <a:off x="6983095" y="2689543"/>
          <a:ext cx="3010535" cy="1836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6570345" y="229806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{{</a:t>
            </a:r>
            <a:r>
              <a:rPr lang="en-US" altLang="zh-CN"/>
              <a:t>P14_pie</a:t>
            </a:r>
            <a:r>
              <a:rPr lang="zh-CN" altLang="en-US"/>
              <a:t>}}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告警深度分析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严重程度分布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Top告警规则</a:t>
            </a:r>
          </a:p>
        </p:txBody>
      </p:sp>
      <p:sp>
        <p:nvSpPr>
          <p:cNvPr id="16" name="TextBox 5"/>
          <p:cNvSpPr txBox="1"/>
          <p:nvPr/>
        </p:nvSpPr>
        <p:spPr>
          <a:xfrm>
            <a:off x="777240" y="141732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1624330" y="3891915"/>
            <a:ext cx="11106150" cy="3486785"/>
            <a:chOff x="2042" y="13744"/>
            <a:chExt cx="34390" cy="3714"/>
          </a:xfrm>
        </p:grpSpPr>
        <p:sp>
          <p:nvSpPr>
            <p:cNvPr id="20" name="Shape 1"/>
            <p:cNvSpPr/>
            <p:nvPr/>
          </p:nvSpPr>
          <p:spPr>
            <a:xfrm>
              <a:off x="2042" y="13744"/>
              <a:ext cx="34390" cy="3714"/>
            </a:xfrm>
            <a:prstGeom prst="roundRect">
              <a:avLst>
                <a:gd name="adj" fmla="val 6757"/>
              </a:avLst>
            </a:prstGeom>
            <a:noFill/>
            <a:ln w="12700">
              <a:solidFill>
                <a:srgbClr val="CCE1F5"/>
              </a:solidFill>
              <a:prstDash val="solid"/>
            </a:ln>
          </p:spPr>
        </p:sp>
        <p:graphicFrame>
          <p:nvGraphicFramePr>
            <p:cNvPr id="29" name="图表 28"/>
            <p:cNvGraphicFramePr/>
            <p:nvPr/>
          </p:nvGraphicFramePr>
          <p:xfrm>
            <a:off x="2318" y="13879"/>
            <a:ext cx="33839" cy="33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</p:grpSp>
      <p:sp>
        <p:nvSpPr>
          <p:cNvPr id="21" name="文本框 20"/>
          <p:cNvSpPr txBox="1"/>
          <p:nvPr/>
        </p:nvSpPr>
        <p:spPr>
          <a:xfrm>
            <a:off x="312420" y="597344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{{</a:t>
            </a:r>
            <a:r>
              <a:rPr lang="en-US" altLang="zh-CN">
                <a:sym typeface="+mn-ea"/>
              </a:rPr>
              <a:t>P15_line</a:t>
            </a:r>
            <a:r>
              <a:rPr lang="zh-CN" altLang="en-US">
                <a:sym typeface="+mn-ea"/>
              </a:rPr>
              <a:t>}}</a:t>
            </a:r>
            <a:endParaRPr lang="zh-CN" altLang="en-US">
              <a:sym typeface="+mn-ea"/>
            </a:endParaRP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77240" y="2788920"/>
          <a:ext cx="5166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590"/>
                <a:gridCol w="1291590"/>
                <a:gridCol w="1291590"/>
                <a:gridCol w="129159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规则ID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规则名称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触发次数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误报率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R-SSH-BRUTE-01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SSH 暴力破解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R-O365-PHISH-02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O365 钓鱼邮件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897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R-CLOUD-S3-OPEN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事件时间线与处置轨迹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事件时间线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21488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graphicFrame>
        <p:nvGraphicFramePr>
          <p:cNvPr id="15" name="图表 14"/>
          <p:cNvGraphicFramePr/>
          <p:nvPr/>
        </p:nvGraphicFramePr>
        <p:xfrm>
          <a:off x="890270" y="3889375"/>
          <a:ext cx="3971608" cy="2817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1207135" y="331851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{{P16_combo}}</a:t>
            </a:r>
            <a:endParaRPr lang="zh-CN" altLang="en-US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77240" y="1417320"/>
          <a:ext cx="10881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53721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检测时间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MTTD(分钟)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INC-20251201-001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2025-12-01T04:14:00Z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INC-20251201-002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邮件投递导致终端恶意软件执行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2025-12-01T08:17:00Z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336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INC-20251201-003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2025-12-01T02:35:00Z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高危事件详情分析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[INCIDENT1_TITLE: AI生成内容占位]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[INCIDENT_DETAIL_1: AI生成内容占位]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520440"/>
            <a:ext cx="1124712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6118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[INCIDENT2_TITLE: AI生成内容占位]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[INCIDENT_DETAIL_2: AI生成内容占位]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355080"/>
            <a:ext cx="1124712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[ATTACK_PATTERN_SUMMARY: AI生成内容占位]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漏洞态势详情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漏洞分布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4173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063240"/>
            <a:ext cx="11247120" cy="2148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CVE技术分析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10881360" cy="1600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[CVE_TECHNICAL_ANALYSIS: AI生成内容占位]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349240"/>
            <a:ext cx="11247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406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补丁状态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0644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• [AI生成内容占位]
• [请启用LLM以生成实际内容]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577840" y="1417320"/>
          <a:ext cx="60807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152"/>
                <a:gridCol w="1216152"/>
                <a:gridCol w="1216152"/>
                <a:gridCol w="1216152"/>
                <a:gridCol w="1216152"/>
              </a:tblGrid>
              <a:tr h="3543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攻击面与暴露分析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553212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暴露服务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16636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{{EXPOSED_SERVICES_TABLE}}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53212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暴露分析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516636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[EXTERNAL_EXPOSURE: AI生成内容占位]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17520"/>
            <a:ext cx="553212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089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攻击面趋势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74720"/>
            <a:ext cx="5166360" cy="3017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[ATTACK_SURFACE_TREND: AI生成内容占位]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017520"/>
            <a:ext cx="553212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收敛建议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5166360" cy="3017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• [AI生成内容占位]
• [请启用LLM以生成实际内容]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1417320"/>
          <a:ext cx="5166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服务类型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暴露资产数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SSH(22)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RDP(3389)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Kibana(5601)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Grafana(3000)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云安全详细分析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468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云配置问题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611880"/>
            <a:ext cx="553212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70332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IAM风险分析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[IAM_RISK_ANALYSIS: AI生成内容占位]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611880"/>
            <a:ext cx="553212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70332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合规检查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0690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• [AI生成内容占位]
• [请启用LLM以生成实际内容]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1417320"/>
          <a:ext cx="1088136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68629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安全组0.0.0.0/0暴露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6863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技术整改建议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240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整改方案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6916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• [AI生成内容占位]
• [请启用LLM以生成实际内容]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337560"/>
            <a:ext cx="553212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检测能力提升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94760"/>
            <a:ext cx="5166360" cy="2697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[DETECTION_IMPROVEMENTS: AI生成内容占位]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337560"/>
            <a:ext cx="553212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4290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安全加固清单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794760"/>
            <a:ext cx="5166360" cy="2697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• [AI生成内容占位]
• [请启用LLM以生成实际内容]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附录：数据与证据索引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55321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证据索引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5166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[EVIDENCE_INDEX: AI生成内容占位]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5321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数据时效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5166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[DATA_FRESHNESS: AI生成内容占位]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148840"/>
            <a:ext cx="1124712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31089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7955279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[DATA_SCOPE_NOTES: AI生成内容占位]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017520"/>
            <a:ext cx="5532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漏洞说明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83280"/>
            <a:ext cx="5166360" cy="777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[VULN_NOTES: AI生成内容占位]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17520"/>
            <a:ext cx="5532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1089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证据说明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83280"/>
            <a:ext cx="5166360" cy="777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[EVIDENCE_NOTES: AI生成内容占位]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343400"/>
            <a:ext cx="55321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资产范围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09160"/>
            <a:ext cx="516636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{{ASSET_GROUPS_LIST}}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343400"/>
            <a:ext cx="55321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4348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关键服务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709160"/>
            <a:ext cx="516636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[KEY_SERVICES_LIST: AI生成内容占位]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486400"/>
            <a:ext cx="1124712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77840"/>
            <a:ext cx="10881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术语表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52160"/>
            <a:ext cx="10881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• [AI生成内容占位]
• [请启用LLM以生成实际内容]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77240" y="4709160"/>
          <a:ext cx="5166360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/>
                <a:gridCol w="1722120"/>
                <a:gridCol w="1722120"/>
              </a:tblGrid>
              <a:tr h="60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资产组ID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资产组名称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ag-core-prod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核心生产资产组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ag-office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办公终端资产组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740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彩色5">
    <a:dk1>
      <a:srgbClr val="000000"/>
    </a:dk1>
    <a:lt1>
      <a:srgbClr val="FFFFFF"/>
    </a:lt1>
    <a:dk2>
      <a:srgbClr val="212745"/>
    </a:dk2>
    <a:lt2>
      <a:srgbClr val="B4DCFA"/>
    </a:lt2>
    <a:accent1>
      <a:srgbClr val="4E67C8"/>
    </a:accent1>
    <a:accent2>
      <a:srgbClr val="5ECCF3"/>
    </a:accent2>
    <a:accent3>
      <a:srgbClr val="A7EA52"/>
    </a:accent3>
    <a:accent4>
      <a:srgbClr val="5DCEAF"/>
    </a:accent4>
    <a:accent5>
      <a:srgbClr val="FF8021"/>
    </a:accent5>
    <a:accent6>
      <a:srgbClr val="F14124"/>
    </a:accent6>
    <a:hlink>
      <a:srgbClr val="56C7AA"/>
    </a:hlink>
    <a:folHlink>
      <a:srgbClr val="59A8D1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"/>
      <a:ea typeface=""/>
      <a:cs typeface=""/>
    </a:majorFont>
    <a:minorFont>
      <a:latin typeface="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satMod val="110000"/>
              <a:lum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satMod val="105000"/>
              <a:lum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shade val="94000"/>
            </a:schemeClr>
          </a:gs>
          <a:gs pos="50000">
            <a:schemeClr val="phClr">
              <a:lumMod val="110000"/>
              <a:satMod val="100000"/>
              <a:tint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1505</Words>
  <Application>WPS 演示</Application>
  <PresentationFormat>On-screen Show (4:3)</PresentationFormat>
  <Paragraphs>156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14</cp:revision>
  <dcterms:created xsi:type="dcterms:W3CDTF">2013-01-27T09:14:00Z</dcterms:created>
  <dcterms:modified xsi:type="dcterms:W3CDTF">2026-01-27T11:40:18Z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8A093E51843841BCAA984D1F304BD387_12</vt:lpwstr>
  </property>
  <property fmtid="{D5CDD505-2E9C-101B-9397-08002B2CF9AE}" pid="3" name="KSOProductBuildVer">
    <vt:lpwstr>2052-12.1.0.16729</vt:lpwstr>
  </property>
</Properties>
</file>