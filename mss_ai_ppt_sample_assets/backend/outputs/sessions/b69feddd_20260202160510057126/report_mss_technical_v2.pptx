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tags" Target="tags/tag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1.xml"/><Relationship Id="rId3" Type="http://schemas.microsoft.com/office/2011/relationships/chartStyle" Target="style2.xml"/><Relationship Id="rId4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2.xml"/><Relationship Id="rId3" Type="http://schemas.microsoft.com/office/2011/relationships/chartStyle" Target="style3.xml"/><Relationship Id="rId4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3.xml"/><Relationship Id="rId3" Type="http://schemas.microsoft.com/office/2011/relationships/chartStyle" Target="style4.xml"/><Relationship Id="rId4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14410134600158"/>
          <c:y val="0.197183098591549"/>
          <c:w val="0.909527579836368"/>
          <c:h val="0.643213828425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告警数量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1099</c:v>
                </c:pt>
                <c:pt idx="1">
                  <c:v>1005</c:v>
                </c:pt>
                <c:pt idx="2">
                  <c:v>1002</c:v>
                </c:pt>
                <c:pt idx="3">
                  <c:v>2988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590885613"/>
        <c:axId val="82692506"/>
      </c:barChart>
      <c:catAx>
        <c:axId val="59088561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82692506"/>
        <c:crosses val="autoZero"/>
        <c:auto val="1"/>
        <c:lblAlgn val="ctr"/>
        <c:lblOffset val="100"/>
        <c:noMultiLvlLbl val="0"/>
      </c:catAx>
      <c:valAx>
        <c:axId val="82692506"/>
        <c:scaling>
          <c:orientation val="minMax"/>
        </c:scaling>
        <c:delete val="0"/>
        <c:axPos val="l"/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59088561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1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挖矿</c:v>
                </c:pt>
                <c:pt idx="1">
                  <c:v>僵尸网络</c:v>
                </c:pt>
                <c:pt idx="2">
                  <c:v>木马</c:v>
                </c:pt>
                <c:pt idx="3">
                  <c:v>账号爆破</c:v>
                </c:pt>
                <c:pt idx="4">
                  <c:v>代理工具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3644622860765"/>
          <c:y val="0.22947485207100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>
          <a:solidFill>
            <a:schemeClr val="bg2">
              <a:lumMod val="10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服务器</c:v>
                </c:pt>
                <c:pt idx="1">
                  <c:v>终端</c:v>
                </c:pt>
                <c:pt idx="2">
                  <c:v>网络设备</c:v>
                </c:pt>
                <c:pt idx="3">
                  <c:v>安全设备</c:v>
                </c:pt>
                <c:pt idx="4">
                  <c:v>物联网设备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2842459804959"/>
          <c:y val="0.25597823089554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70AD47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5B9BD5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FFC000"/>
              </a:solidFill>
              <a:ln>
                <a:solidFill>
                  <a:srgbClr val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rgbClr val="000000">
                          <a:lumMod val="35000"/>
                          <a:lumOff val="65000"/>
                        </a:srgb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高危</c:v>
                </c:pt>
                <c:pt idx="1">
                  <c:v>中危</c:v>
                </c:pt>
                <c:pt idx="2">
                  <c:v>低危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837</c:v>
                </c:pt>
                <c:pt idx="2">
                  <c:v>9914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rgbClr val="000000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外部攻击数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12万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13.8万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12.8万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12.0</c:v>
                </c:pt>
                <c:pt idx="1">
                  <c:v>13.7897</c:v>
                </c:pt>
                <c:pt idx="2">
                  <c:v>14.2</c:v>
                </c:pt>
                <c:pt idx="3">
                  <c:v>12.7558</c:v>
                </c:pt>
                <c:pt idx="4">
                  <c:v>0.1867</c:v>
                </c:pt>
                <c:pt idx="5">
                  <c:v>0.0178</c:v>
                </c:pt>
                <c:pt idx="6">
                  <c:v>0.0165</c:v>
                </c:pt>
                <c:pt idx="7">
                  <c:v>0.0182</c:v>
                </c:pt>
                <c:pt idx="8">
                  <c:v>0.0195</c:v>
                </c:pt>
                <c:pt idx="9">
                  <c:v>0.0201</c:v>
                </c:pt>
                <c:pt idx="10">
                  <c:v>0.0188</c:v>
                </c:pt>
                <c:pt idx="11">
                  <c:v>0.0175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恶意外联数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45.7万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50.7万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76.8万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68.0万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45.6756</c:v>
                </c:pt>
                <c:pt idx="1">
                  <c:v>50.7297</c:v>
                </c:pt>
                <c:pt idx="2">
                  <c:v>76.7648</c:v>
                </c:pt>
                <c:pt idx="3">
                  <c:v>67.9771</c:v>
                </c:pt>
                <c:pt idx="4">
                  <c:v>0.0073</c:v>
                </c:pt>
                <c:pt idx="5">
                  <c:v>0.0068</c:v>
                </c:pt>
                <c:pt idx="6">
                  <c:v>0.0082</c:v>
                </c:pt>
                <c:pt idx="7">
                  <c:v>0.0079</c:v>
                </c:pt>
                <c:pt idx="8">
                  <c:v>0.0088</c:v>
                </c:pt>
                <c:pt idx="9">
                  <c:v>0.0095</c:v>
                </c:pt>
                <c:pt idx="10">
                  <c:v>0.0091</c:v>
                </c:pt>
                <c:pt idx="11">
                  <c:v>0.0086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29985891"/>
        <c:axId val="617127009"/>
      </c:lineChart>
      <c:dateAx>
        <c:axId val="82998589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7127009"/>
        <c:crosses val="autoZero"/>
        <c:auto val="1"/>
        <c:lblOffset val="100"/>
        <c:baseTimeUnit val="months"/>
      </c:dateAx>
      <c:valAx>
        <c:axId val="617127009"/>
        <c:scaling>
          <c:orientation val="minMax"/>
        </c:scaling>
        <c:delete val="1"/>
        <c:axPos val="l"/>
        <c:numFmt formatCode="0\.0,&quot;万&quot;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99858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333333"/>
              </a:solidFill>
              <a:latin typeface="微软雅黑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6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日均攻击数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5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654</c:v>
                </c:pt>
                <c:pt idx="1">
                  <c:v>145</c:v>
                </c:pt>
                <c:pt idx="2">
                  <c:v>167</c:v>
                </c:pt>
                <c:pt idx="3">
                  <c:v>189</c:v>
                </c:pt>
                <c:pt idx="4">
                  <c:v>201</c:v>
                </c:pt>
                <c:pt idx="5">
                  <c:v>178</c:v>
                </c:pt>
                <c:pt idx="6">
                  <c:v>156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2361593"/>
        <c:axId val="47851939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防御率</c:v>
                </c:pt>
              </c:strCache>
            </c:strRef>
          </c:tx>
          <c:spPr>
            <a:ln w="28575" cap="rnd">
              <a:solidFill>
                <a:srgbClr val="00D86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1.0</c:v>
                </c:pt>
                <c:pt idx="1">
                  <c:v>0.98</c:v>
                </c:pt>
                <c:pt idx="2">
                  <c:v>0.99</c:v>
                </c:pt>
                <c:pt idx="3">
                  <c:v>1.0</c:v>
                </c:pt>
                <c:pt idx="4">
                  <c:v>0.97</c:v>
                </c:pt>
                <c:pt idx="5">
                  <c:v>0.99</c:v>
                </c:pt>
                <c:pt idx="6">
                  <c:v>1.0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25296953"/>
        <c:axId val="406196429"/>
      </c:lineChart>
      <c:catAx>
        <c:axId val="45236159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8519395"/>
        <c:crosses val="autoZero"/>
        <c:auto val="1"/>
        <c:lblAlgn val="ctr"/>
        <c:lblOffset val="100"/>
        <c:noMultiLvlLbl val="0"/>
      </c:catAx>
      <c:valAx>
        <c:axId val="47851939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52361593"/>
        <c:crosses val="autoZero"/>
        <c:crossBetween val="between"/>
      </c:valAx>
      <c:catAx>
        <c:axId val="725296953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06196429"/>
        <c:crosses val="autoZero"/>
        <c:auto val="1"/>
        <c:lblAlgn val="ctr"/>
        <c:lblOffset val="100"/>
        <c:noMultiLvlLbl val="0"/>
      </c:catAx>
      <c:valAx>
        <c:axId val="406196429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252969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500" b="0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500">
          <a:solidFill>
            <a:schemeClr val="bg2">
              <a:lumMod val="10000"/>
            </a:schemeClr>
          </a:solid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rgbClr val="000000">
        <a:lumMod val="65000"/>
        <a:lumOff val="35000"/>
      </a:srgbClr>
    </cs:fontRef>
    <cs:defRPr sz="1000" kern="1200"/>
  </cs:axisTitle>
  <cs:categoryAxis>
    <cs:lnRef idx="0"/>
    <cs:fillRef idx="0"/>
    <cs:effectRef idx="0"/>
    <cs:fontRef idx="minor">
      <a:srgbClr val="000000">
        <a:lumMod val="65000"/>
        <a:lumOff val="35000"/>
      </a:srgbClr>
    </cs:fontRef>
    <cs:spPr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hartArea>
  <cs:dataLabel>
    <cs:lnRef idx="0"/>
    <cs:fillRef idx="0"/>
    <cs:effectRef idx="0"/>
    <cs:fontRef idx="minor">
      <a:srgbClr val="000000">
        <a:lumMod val="75000"/>
        <a:lumOff val="25000"/>
      </a:srgbClr>
    </cs:fontRef>
    <cs:defRPr sz="1000" kern="1200"/>
  </cs:dataLabel>
  <cs:dataLabelCallout>
    <cs:lnRef idx="0"/>
    <cs:fillRef idx="0"/>
    <cs:effectRef idx="0"/>
    <cs:fontRef idx="minor">
      <a:srgbClr val="000000">
        <a:lumMod val="65000"/>
        <a:lumOff val="35000"/>
      </a:srgbClr>
    </cs:fontRef>
    <cs:spPr>
      <a:solidFill>
        <a:srgbClr val="FFFFFF"/>
      </a:solidFill>
      <a:ln>
        <a:solidFill>
          <a:srgbClr val="000000">
            <a:lumMod val="25000"/>
            <a:lumOff val="75000"/>
          </a:srgb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>
        <a:solidFill>
          <a:srgbClr val="FFFFFF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rgbClr val="000000"/>
    </cs:fontRef>
    <cs:spPr>
      <a:ln w="25400">
        <a:solidFill>
          <a:srgbClr val="FFFFFF"/>
        </a:solidFill>
      </a:ln>
    </cs:spPr>
  </cs:dataPoint3D>
  <cs:dataPointLine>
    <cs:lnRef idx="0">
      <cs:styleClr val="auto"/>
    </cs:lnRef>
    <cs:fillRef idx="0"/>
    <cs:effectRef idx="0"/>
    <cs:fontRef idx="minor">
      <a:srgbClr val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rgbClr val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rgbClr val="000000">
        <a:lumMod val="65000"/>
        <a:lumOff val="35000"/>
      </a:srgbClr>
    </cs:fontRef>
    <cs:spPr>
      <a:noFill/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dataTable>
  <cs:downBar>
    <cs:lnRef idx="0"/>
    <cs:fillRef idx="0"/>
    <cs:effectRef idx="0"/>
    <cs:fontRef idx="minor">
      <a:srgbClr val="000000"/>
    </cs:fontRef>
    <cs:spPr>
      <a:solidFill>
        <a:srgbClr val="000000">
          <a:lumMod val="75000"/>
          <a:lumOff val="25000"/>
        </a:srgbClr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downBar>
  <cs:drop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dropLine>
  <cs:errorBa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errorBar>
  <cs:floor>
    <cs:lnRef idx="0"/>
    <cs:fillRef idx="0"/>
    <cs:effectRef idx="0"/>
    <cs:fontRef idx="minor">
      <a:srgbClr val="000000"/>
    </cs:fontRef>
    <cs:spPr>
      <a:noFill/>
      <a:ln>
        <a:noFill/>
      </a:ln>
    </cs:spPr>
  </cs:floor>
  <cs:gridlineMajor>
    <cs:lnRef idx="0"/>
    <cs:fillRef idx="0"/>
    <cs:effectRef idx="0"/>
    <cs:fontRef idx="minor">
      <a:srgbClr val="000000"/>
    </cs:fontRef>
    <cs:spPr>
      <a:ln w="9525" cap="flat" cmpd="sng" algn="ctr">
        <a:solidFill>
          <a:srgbClr val="FFFFFF">
            <a:lumMod val="90200"/>
          </a:srgbClr>
        </a:solidFill>
        <a:round/>
      </a:ln>
    </cs:spPr>
  </cs:gridlineMajor>
  <cs:gridlineMino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"/>
            <a:lumOff val="95000"/>
          </a:srgbClr>
        </a:solidFill>
        <a:round/>
      </a:ln>
    </cs:spPr>
  </cs:gridlineMinor>
  <cs:hiLo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0"/>
            <a:lumOff val="50000"/>
          </a:srgbClr>
        </a:solidFill>
        <a:round/>
      </a:ln>
    </cs:spPr>
  </cs:hiLoLine>
  <cs:leader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leaderLine>
  <cs:legend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legend>
  <cs:plotArea mods="allowNoFillOverride allowNoLineOverride">
    <cs:lnRef idx="0"/>
    <cs:fillRef idx="0"/>
    <cs:effectRef idx="0"/>
    <cs:fontRef idx="minor">
      <a:srgbClr val="000000"/>
    </cs:fontRef>
  </cs:plotArea>
  <cs:plotArea3D mods="allowNoFillOverride allowNoLineOverride">
    <cs:lnRef idx="0"/>
    <cs:fillRef idx="0"/>
    <cs:effectRef idx="0"/>
    <cs:fontRef idx="minor">
      <a:srgbClr val="000000"/>
    </cs:fontRef>
  </cs:plotArea3D>
  <cs:series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seriesAxis>
  <cs:series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seriesLine>
  <cs:title>
    <cs:lnRef idx="0"/>
    <cs:fillRef idx="0"/>
    <cs:effectRef idx="0"/>
    <cs:fontRef idx="minor">
      <a:srgbClr val="000000">
        <a:lumMod val="75000"/>
        <a:lumOff val="25000"/>
      </a:srgbClr>
    </cs:fontRef>
    <cs:defRPr sz="1400" b="1" kern="1200" baseline="0"/>
  </cs:title>
  <cs:trendline>
    <cs:lnRef idx="0">
      <cs:styleClr val="auto"/>
    </cs:lnRef>
    <cs:fillRef idx="0"/>
    <cs:effectRef idx="0"/>
    <cs:fontRef idx="minor">
      <a:srgbClr val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trendlineLabel>
  <cs:upBar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upBar>
  <cs:value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valueAxis>
  <cs:wall>
    <cs:lnRef idx="0"/>
    <cs:fillRef idx="0"/>
    <cs:effectRef idx="0"/>
    <cs:fontRef idx="minor">
      <a:srgbClr val="000000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881360" cy="8686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3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ACME 电子商务 MSS月度安全报告（技术版）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15968"/>
            <a:ext cx="676656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737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309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技术详细版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4243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密级：INTERNAL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5391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生成时间：2025-12-10</a:t>
            </a:r>
          </a:p>
        </p:txBody>
      </p:sp>
      <p:graphicFrame>
        <p:nvGraphicFramePr>
          <p:cNvPr id="25" name="图表 24"/>
          <p:cNvGraphicFramePr/>
          <p:nvPr/>
        </p:nvGraphicFramePr>
        <p:xfrm>
          <a:off x="8156575" y="4389120"/>
          <a:ext cx="3390265" cy="2294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4" name="图表 13" descr="7b0a202020202263686172745265734964223a20223230343736383734220a7d0a"/>
          <p:cNvGraphicFramePr/>
          <p:nvPr/>
        </p:nvGraphicFramePr>
        <p:xfrm>
          <a:off x="5151120" y="1000125"/>
          <a:ext cx="3005455" cy="171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安全态势仪表盘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10881360" cy="3108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本期威胁态势呈现两极分化特征：高危告警(62)与低危告警(9,914)数量悬殊，威胁类型集中于账号爆破(200)和代理工具(400)。检测响应效率方面，MTTD 31分钟与MTTR 2.8小时均优于SLA要求，但低危告警量级过大可能影响响应效率。技术短板体现在云配置风险(7个0.0.0/0暴露)和暴露服务(SSH/RDP开放)的持续存在，需加强自动化合规检查与最小化暴露面管控。</a:t>
            </a:r>
          </a:p>
        </p:txBody>
      </p:sp>
      <p:graphicFrame>
        <p:nvGraphicFramePr>
          <p:cNvPr id="30" name="图表 29" descr="7b0a202020202263686172745265734964223a20223230323931393734220a7d0a"/>
          <p:cNvGraphicFramePr/>
          <p:nvPr/>
        </p:nvGraphicFramePr>
        <p:xfrm>
          <a:off x="1065530" y="1953260"/>
          <a:ext cx="2987993" cy="1686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图表 9" descr="7b0a202020202263686172745265734964223a20223230323931393734220a7d0a"/>
          <p:cNvGraphicFramePr/>
          <p:nvPr/>
        </p:nvGraphicFramePr>
        <p:xfrm>
          <a:off x="6983095" y="2689543"/>
          <a:ext cx="3010535" cy="1836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严重程度分布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Top告警规则</a:t>
            </a:r>
          </a:p>
        </p:txBody>
      </p:sp>
      <p:sp>
        <p:nvSpPr>
          <p:cNvPr id="1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624330" y="3891915"/>
            <a:ext cx="11106150" cy="3486785"/>
            <a:chOff x="2042" y="13744"/>
            <a:chExt cx="34390" cy="3714"/>
          </a:xfrm>
        </p:grpSpPr>
        <p:sp>
          <p:nvSpPr>
            <p:cNvPr id="20" name="Shape 1"/>
            <p:cNvSpPr/>
            <p:nvPr/>
          </p:nvSpPr>
          <p:spPr>
            <a:xfrm>
              <a:off x="2042" y="13744"/>
              <a:ext cx="34390" cy="3714"/>
            </a:xfrm>
            <a:prstGeom prst="roundRect">
              <a:avLst>
                <a:gd name="adj" fmla="val 6757"/>
              </a:avLst>
            </a:prstGeom>
            <a:noFill/>
            <a:ln w="12700">
              <a:solidFill>
                <a:srgbClr val="CCE1F5"/>
              </a:solidFill>
              <a:prstDash val="solid"/>
            </a:ln>
          </p:spPr>
        </p:sp>
        <p:graphicFrame>
          <p:nvGraphicFramePr>
            <p:cNvPr id="29" name="图表 28"/>
            <p:cNvGraphicFramePr/>
            <p:nvPr/>
          </p:nvGraphicFramePr>
          <p:xfrm>
            <a:off x="2318" y="13879"/>
            <a:ext cx="33839" cy="33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77240" y="2788920"/>
          <a:ext cx="5166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590"/>
                <a:gridCol w="1291590"/>
                <a:gridCol w="1291590"/>
                <a:gridCol w="129159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触发次数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误报率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R-SSH-BRUTE-01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 暴力破解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R-O365-PHISH-02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O365 钓鱼邮件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785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R-CLOUD-S3-OPEN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事件时间线与处置轨迹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事件时间线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21488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aphicFrame>
        <p:nvGraphicFramePr>
          <p:cNvPr id="15" name="图表 14"/>
          <p:cNvGraphicFramePr/>
          <p:nvPr/>
        </p:nvGraphicFramePr>
        <p:xfrm>
          <a:off x="890270" y="3889375"/>
          <a:ext cx="3971608" cy="2817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10881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3581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检测时间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MTTD(分钟)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2025-11-01T03:49:00Z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2025-11-01T08:47:00Z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2025-11-01T07:45:00Z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2025-11-01T02:35:00Z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2025-11-01T01:40:00Z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高危事件详情分析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【中危】云侧AccessKey泄露风险处置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事件概述：检测到云环境AccessKey异常访问行为，触发泄露风险告警。严重程度判定依据为：1）AccessKey具有生产环境数据库访问权限 2）存在未授权访问风险。攻击向量分析：攻击者可能通过钓鱼邮件或社工手段获取AccessKey，利用其访问敏感数据。影响范围：涉及prod-web-02主机及关联的MySQL数据库。处置措施：1）立即隔离受影响主机 2）封禁来源IP 3）重置AccessKey并启用临时凭证机制 4）启用MFA强制认证。根因分析：开发人员AccessKey未遵循最小权限原则，且未设置使用时间限制。建议建立AccessKey生命周期管理制度，定期轮换密钥。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52044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【中危】生产环境对外暴露服务被扫描利用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检测到暴露的数据库服务（db-core-01）遭受大规模端口扫描和弱口令攻击。攻击向量：攻击者通过自动化工具扫描暴露在公网的3306端口，尝试利用默认凭据或弱密码登录。影响范围：db-core-01数据库服务器、bastion-01跳板机和prod-web-01应用服务器均被攻击者探测。处置措施：1）隔离受影响资产 2）封禁攻击源IP段 3）强制重置所有数据库账号密码 4）部署WAF规则限制非业务IP访问 5）升级数据库到最新补丁版本。根因分析：数据库服务未正确配置IP白名单，且密码复杂度策略未强制实施。建议建立服务暴露审批流程，实施最小化暴露原则。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355080"/>
            <a:ext cx="1124712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本期事件显示攻击者采用标准化TTP：1）优先针对暴露在公网的SSH/数据库服务进行扫描 2）利用弱口令或默认凭证进行横向移动 3）尝试通过云存储配置缺陷窃取敏感数据。主要攻击目标为生产环境数据库和容器服务。攻击者利用了安全组配置不当（0.0.0/0开放）和AccessKey管理缺陷。与已知APT组织TA505的攻击模式相似，该组织惯常通过钓鱼获取初始访问权限后横向渗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漏洞态势详情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4173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063240"/>
            <a:ext cx="11247120" cy="2148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CVE技术分析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CVE-2024-3094（XZ Utils后门风险）：攻击者可通过特制压缩包触发后门，影响Ubuntu 22.04及CentOS 8.5版本。当前环境2台CI服务器受影响，已通过yum/apt升级修复。2. CVE-2023-46604（ActiveMQ RCE）：未授权访问可发送恶意消息执行任意代码，影响Apache ActiveMQ 5.18.0以下版本。当前2台消息队列服务器未完成修复。3. CVE-2024-6387（OpenSSH regreSSHion）：SSH密钥认证存在越权漏洞，影响OpenSSH 9.4p1版本。1台跳板机已通过升级OpenSSH 9.4p2修复。建议所有受影响系统立即应用补丁，未修复系统应限制SSH访问源IP并启用多因素认证。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349240"/>
            <a:ext cx="11247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补丁状态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已修复：CVE-2024-3094（2025-11-02修复完成），CVE-2024-6387（2025-11-03修复完成）
2. 修复中：CVE-2023-46604（预计2025-12-05完成，需等待消息队列服务版本兼容性测试）
3. 未修复：无
4. 临时措施：对ActiveMQ服务启用IP白名单和请求频率限制
5. 遗留风险：未修复的ActiveMQ RCE漏洞需重点监控，建议优先升级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77840" y="1417320"/>
          <a:ext cx="60807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152"/>
                <a:gridCol w="1216152"/>
                <a:gridCol w="1216152"/>
                <a:gridCol w="1216152"/>
                <a:gridCol w="1216152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攻击面与暴露分析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{{EXPOSED_SERVICES_TABLE}}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当前暴露服务存在显著风险：1）17台服务器开放SSH（22端口），仅3台配置IP白名单，存在暴力破解风险 2）1台RDP服务（3389端口）直接暴露，可能成为勒索攻击入口 3）4台Kibana/Grafana服务（5601/3000端口）未启用HTTPS，存在中间人攻击风险。建议立即实施最小化暴露策略，所有非必要服务应下线公网访问，关键服务需迁移至内网并通过VPN访问。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攻击面趋势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月外部IP数量维持12个，但新增暴露服务3个（Kibana/Grafana实例）。攻击面呈现扩大趋势，主要风险来自开发测试环境服务的误配置。需重点关注容器编排平台暴露的API接口，以及第三方SaaS集成可能引入的暴露点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收敛建议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SSH服务：立即为所有SSH服务配置IP白名单，启用密钥认证禁用密码登录（优先级高，实施工作量低）
2. RDP服务：将RDP服务迁移至VPN后，通过跳板机访问（优先级高，需网络架构改造）
3. Kibana/Grafana：关闭公网访问，通过反向代理启用HTTPS和JWT认证（优先级中）
4. 数据库服务：实施数据库IP白名单，限制仅允许应用服务器访问（优先级高）
5. 定期审计：部署自动化工具每周扫描暴露服务，建立暴露面收敛SLA（优先级中）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5166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服务类型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暴露资产数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SSH(22)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RDP(3389)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Kibana(5601)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Grafana(3000)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云安全详细分析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云配置问题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IAM风险分析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当前IAM风险：1）1个高权限账号（root）未启用MFA，存在凭证泄露风险 2）3个服务账号拥有过度授权的CloudAdmin角色 3）AccessKey轮换周期超过90天，违反CIS AWS 2.3要求。加固建议：1）强制所有高权限账号启用MFA 2）通过RBAC细化服务账号权限，遵循最小权限原则 3）设置AccessKey自动轮换策略（周期≤30天） 4）启用CloudTrail审计所有管理操作。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合规检查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已满足：启用CloudTrail审计日志存储（符合CIS 4.1）
2. 未满足：安全组0.0.0/0开放（违反CIS 3.1）
3. 未满足：未启用EBS卷加密（违反CIS 5.2）
4. 未满足：未配置跨区域复制的加密传输（违反等保2.0三级要求）
5. 优先整改：立即修复安全组配置，为所有存储卷启用加密，建立加密传输策略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417320"/>
          <a:ext cx="108813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6862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技术整改建议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整改方案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6916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1.【高危漏洞修复】针对CVE-2023-46604 ActiveMQ RCE漏洞：
   - 目标：消除远程代码执行风险
   - 步骤：升级至ActiveMQ 5.18.1+，配置/etc/activemq/jetty.xml禁用非必要端点
   - 预期效果：阻断攻击者利用已知漏洞
   - 风险：升级前需在测试环境验证应用兼容性
2.【暴露服务加固】限制SSH/RDP暴露：
   - 目标：减少攻击入口
   - 步骤：修改sshd_config设置PermitRootLogin no，通过防火墙规则限制源IP（ufw allow from 192.168.1.0/24）
   - 预期效果：降低暴力破解成功率
   - 风险：需同步更新运维白名单
3.【云安全组优化】修复0.0.0.0/0暴露：
   - 目标：消除全网段开放风险
   - 步骤：在云平台控制台修改安全组规则，将入站规则限制为具体业务IP（如sg-xxx）
   - 预期效果：减少横向移动攻击面
   - 风险：需与业务团队确认访问需求
4.【MFA强制启用】修复未启用MFA的高权限账号：
   - 目标：增强身份认证强度
   - 步骤：通过IAM控制台为admin用户组开启TOTP多因素认证，配置MFA登录强制策略
   - 预期效果：防御凭证泄露攻击
   - 风险：需提前准备备用认证方式
5.【日志源覆盖补充】部署容器审计日志：
   - 目标：提升威胁可追溯性
   - 步骤：在Kubernetes集群启用audit logging，配置Fluentd收集/var/log/pods/日志至SIEM
   - 预期效果：实现容器级行为审计
   - 风险：需预留日志存储资源
6.【攻击链检测补充】新增勒索软件横向移动检测：
   - 目标：提前发现异常内网扫描
   - 步骤：在Suricata规则库添加检测内网IP高频ICMP扫描的规则（msg:"Lateral Movement"; sid:1001;）
   - 预期效果：提升0day攻击响应速度
   - 风险：需持续优化规则阈值减少误报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检测能力提升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检测能力提升建议：
1. 新增检测规则：
   - 勒索软件行为模式检测（文件加密、大量文件修改时间戳变更）
   - 云环境异常API调用（如批量创建IAM用户）
2. 现有规则调优：
   - 降低R-SSH-BRUTE-01的误报率（当前13%）：增加时间窗口（from 5分钟调整为15分钟）并引入IP信誉白名单
   - 优化R-O365-PHISH-02的正则匹配规则，提升钓鱼邮件识别准确率
3. 日志源补充：
   - 部署MySQL慢查询日志审计
   - 启用Kubernetes audit日志采集
4. 检测盲区：
   - 物联网设备流量分析需部署专用流量镜像探针
   - 容器逃逸攻击检测需启用eBPF运行时监控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安全加固清单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操作系统基线：检查/etc/pam.d/common-password配置是否启用pwquality模块（加固标准：密码长度≥12位）
2. 应用安全配置：验证Nginx配置文件中autoindex off是否启用
3. 网络访问控制：确认安全组入站规则是否限制非业务IP（标准：仅允许VPC CIDR）
4. 认证授权：检查S3存储桶ACL策略是否禁用public-read
5. 会话管理：验证Redis配置中requirepass参数是否设置强密码
6. 文件权限：确认关键配置文件权限是否≤644（如/etc/ssh/sshd_config）
7. 日志保护：检查rsyslog配置是否启用imfile模块保护日志完整性
8. 安全更新：确认apt-get upgrade是否包含所有安全补丁（标准：漏洞状态显示patched）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附录：数据与证据索引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告警数据 | qry_alerts_total_v7
告警趋势 | qry_alerts_trend_weekly_v4
威胁分类 | qry_top_categories_v5
检测规则 | qry_top_rules_v3
安全事件 | qry_incidents_v3
漏洞数据 | qry_vuln_summary_v2
暴露资产 | qry_exposure_v2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数据时效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数据更新周期：T+1个工作日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48840"/>
            <a:ext cx="112471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7955279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本报告数据来源于MSS安全运营平台，包含告警、事件、漏洞、云安全等多维度数据。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漏洞数据来源于定期安全扫描，覆盖主机、应用和网络设备。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原始日志和证据数据保存于安全运营平台，可通过查询ID追溯。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资产范围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{{ASSET_GROUPS_LIST}}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关键服务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Kubernetes,MySQL,Redis,Nginx,Office 365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486400"/>
            <a:ext cx="1124712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881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术语表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881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MTTD：平均检测时间（Minutes to Detect）
MTTR：平均响应时间（Minutes to Respond）
TTP：攻击者使用的战术技术程序
IOC：失陷指标（Indicators of Compromise）
EDR：终端检测与响应
SIEM：安全信息与事件管理系统
WAF：Web应用防火墙
MFA：多因素认证
CIDR：无类别域间路由
ACL：访问控制列表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77240" y="4709160"/>
          <a:ext cx="516636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60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ag-core-prod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核心生产资产组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ag-office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办公终端资产组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495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彩色5">
    <a:dk1>
      <a:srgbClr val="000000"/>
    </a:dk1>
    <a:lt1>
      <a:srgbClr val="FFFFFF"/>
    </a:lt1>
    <a:dk2>
      <a:srgbClr val="212745"/>
    </a:dk2>
    <a:lt2>
      <a:srgbClr val="B4DCFA"/>
    </a:lt2>
    <a:accent1>
      <a:srgbClr val="4E67C8"/>
    </a:accent1>
    <a:accent2>
      <a:srgbClr val="5ECCF3"/>
    </a:accent2>
    <a:accent3>
      <a:srgbClr val="A7EA52"/>
    </a:accent3>
    <a:accent4>
      <a:srgbClr val="5DCEAF"/>
    </a:accent4>
    <a:accent5>
      <a:srgbClr val="FF8021"/>
    </a:accent5>
    <a:accent6>
      <a:srgbClr val="F14124"/>
    </a:accent6>
    <a:hlink>
      <a:srgbClr val="56C7AA"/>
    </a:hlink>
    <a:folHlink>
      <a:srgbClr val="59A8D1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"/>
      <a:ea typeface=""/>
      <a:cs typeface=""/>
    </a:majorFont>
    <a:minorFont>
      <a:latin typeface="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satMod val="110000"/>
              <a:lum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satMod val="105000"/>
              <a:lum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shade val="94000"/>
            </a:schemeClr>
          </a:gs>
          <a:gs pos="50000">
            <a:schemeClr val="phClr">
              <a:lumMod val="110000"/>
              <a:satMod val="100000"/>
              <a:tint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WPS 演示</Application>
  <PresentationFormat>On-screen Show (4:3)</PresentationFormat>
  <Paragraphs>156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14</cp:revision>
  <dcterms:created xsi:type="dcterms:W3CDTF">2013-01-27T09:14:00Z</dcterms:created>
  <dcterms:modified xsi:type="dcterms:W3CDTF">2026-01-27T11:40:18Z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8A093E51843841BCAA984D1F304BD387_12</vt:lpwstr>
  </property>
  <property fmtid="{D5CDD505-2E9C-101B-9397-08002B2CF9AE}" pid="3" name="KSOProductBuildVer">
    <vt:lpwstr>2052-12.1.0.16729</vt:lpwstr>
  </property>
</Properties>
</file>