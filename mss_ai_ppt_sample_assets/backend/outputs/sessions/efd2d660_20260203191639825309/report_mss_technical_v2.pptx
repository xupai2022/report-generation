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2846</c:v>
                </c:pt>
                <c:pt idx="1">
                  <c:v>3244</c:v>
                </c:pt>
                <c:pt idx="2">
                  <c:v>3112</c:v>
                </c:pt>
                <c:pt idx="3">
                  <c:v>3253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'[很多鱼安全运营工作报告-20250801.xlsx]数据统计'!$C$65:$C$69</c:f>
              <c:strCache>
                <c:ptCount val="5"/>
                <c:pt idx="0">
                  <c:v>挖矿</c:v>
                </c:pt>
                <c:pt idx="1" c:formatCode="mmm\-yy">
                  <c:v>僵尸网络</c:v>
                </c:pt>
                <c:pt idx="2" c:formatCode="mmm\-yy">
                  <c:v>木马</c:v>
                </c:pt>
                <c:pt idx="3" c:formatCode="mmm\-yy">
                  <c:v>账号爆破</c:v>
                </c:pt>
                <c:pt idx="4" c:formatCode="mmm\-yy">
                  <c:v>代理工具</c:v>
                </c:pt>
              </c:strCache>
            </c:strRef>
          </c:cat>
          <c:val>
            <c:numRef>
              <c:f>'[很多鱼安全运营工作报告-20250801.xlsx]数据统计'!$D$65:$D$69</c:f>
              <c:numCache>
                <c:formatCode>General</c:formatCode>
                <c:ptCount val="5"/>
                <c:pt idx="0">
                  <c:v>76</c:v>
                </c:pt>
                <c:pt idx="1">
                  <c:v>39</c:v>
                </c:pt>
                <c:pt idx="2">
                  <c:v>31</c:v>
                </c:pt>
                <c:pt idx="3">
                  <c:v>26</c:v>
                </c:pt>
                <c:pt idx="4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'[很多鱼安全运营工作报告-20250801.xlsx]数据统计'!$F$73:$F$77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'[很多鱼安全运营工作报告-20250801.xlsx]数据统计'!$G$73:$G$77</c:f>
              <c:numCache>
                <c:formatCode>General</c:formatCode>
                <c:ptCount val="5"/>
                <c:pt idx="0">
                  <c:v>125</c:v>
                </c:pt>
                <c:pt idx="1">
                  <c:v>31</c:v>
                </c:pt>
                <c:pt idx="2">
                  <c:v>12</c:v>
                </c:pt>
                <c:pt idx="3">
                  <c:v>23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'[很多鱼安全运营工作报告-20250801.xlsx]数据统计'!$C$88:$C$90</c:f>
              <c:strCache>
                <c:ptCount val="3"/>
                <c:pt idx="0">
                  <c:v>高危漏洞</c:v>
                </c:pt>
                <c:pt idx="1">
                  <c:v>中危漏洞</c:v>
                </c:pt>
                <c:pt idx="2">
                  <c:v>低危漏洞</c:v>
                </c:pt>
              </c:strCache>
            </c:strRef>
          </c:cat>
          <c:val>
            <c:numRef>
              <c:f>'[很多鱼安全运营工作报告-20250801.xlsx]数据统计'!$D$88:$D$90</c:f>
              <c:numCache>
                <c:formatCode>General</c:formatCode>
                <c:ptCount val="3"/>
                <c:pt idx="0">
                  <c:v>2537</c:v>
                </c:pt>
                <c:pt idx="1">
                  <c:v>3633</c:v>
                </c:pt>
                <c:pt idx="2">
                  <c:v>3284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'[很多鱼安全运营工作报告-20250801.xlsx]数据统计'!$C$47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'[很多鱼安全运营工作报告-20250801.xlsx]数据统计'!$D$46:$O$46</c:f>
              <c:numCache>
                <c:formatCode>mmm\-yy</c:formatCode>
                <c:ptCount val="12"/>
                <c:pt idx="0" c:formatCode="mmm\-yy">
                  <c:v>45505</c:v>
                </c:pt>
                <c:pt idx="1" c:formatCode="mmm\-yy">
                  <c:v>45536</c:v>
                </c:pt>
                <c:pt idx="2" c:formatCode="mmm\-yy">
                  <c:v>45566</c:v>
                </c:pt>
                <c:pt idx="3" c:formatCode="mmm\-yy">
                  <c:v>45597</c:v>
                </c:pt>
                <c:pt idx="4" c:formatCode="mmm\-yy">
                  <c:v>45627</c:v>
                </c:pt>
                <c:pt idx="5" c:formatCode="mmm\-yy">
                  <c:v>45658</c:v>
                </c:pt>
                <c:pt idx="6" c:formatCode="mmm\-yy">
                  <c:v>45689</c:v>
                </c:pt>
                <c:pt idx="7" c:formatCode="mmm\-yy">
                  <c:v>45717</c:v>
                </c:pt>
                <c:pt idx="8" c:formatCode="mmm\-yy">
                  <c:v>45748</c:v>
                </c:pt>
                <c:pt idx="9" c:formatCode="mmm\-yy">
                  <c:v>45778</c:v>
                </c:pt>
                <c:pt idx="10" c:formatCode="mmm\-yy">
                  <c:v>45809</c:v>
                </c:pt>
                <c:pt idx="11" c:formatCode="mmm\-yy">
                  <c:v>45839</c:v>
                </c:pt>
              </c:numCache>
            </c:numRef>
          </c:cat>
          <c:val>
            <c:numRef>
              <c:f>'[很多鱼安全运营工作报告-20250801.xlsx]数据统计'!$D$47:$O$47</c:f>
              <c:numCache>
                <c:formatCode>0\.0,"万"</c:formatCode>
                <c:ptCount val="12"/>
                <c:pt idx="0">
                  <c:v>64198</c:v>
                </c:pt>
                <c:pt idx="1">
                  <c:v>35890</c:v>
                </c:pt>
                <c:pt idx="2">
                  <c:v>12478</c:v>
                </c:pt>
                <c:pt idx="3">
                  <c:v>5613</c:v>
                </c:pt>
                <c:pt idx="4">
                  <c:v>704</c:v>
                </c:pt>
                <c:pt idx="5">
                  <c:v>902</c:v>
                </c:pt>
                <c:pt idx="6">
                  <c:v>2412</c:v>
                </c:pt>
                <c:pt idx="7">
                  <c:v>1362</c:v>
                </c:pt>
                <c:pt idx="8">
                  <c:v>5696</c:v>
                </c:pt>
                <c:pt idx="9">
                  <c:v>9140</c:v>
                </c:pt>
                <c:pt idx="10">
                  <c:v>4126</c:v>
                </c:pt>
                <c:pt idx="11">
                  <c:v>4675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'[很多鱼安全运营工作报告-20250801.xlsx]数据统计'!$C$48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'[很多鱼安全运营工作报告-20250801.xlsx]数据统计'!$D$46:$O$46</c:f>
              <c:numCache>
                <c:formatCode>mmm\-yy</c:formatCode>
                <c:ptCount val="12"/>
                <c:pt idx="0" c:formatCode="mmm\-yy">
                  <c:v>45505</c:v>
                </c:pt>
                <c:pt idx="1" c:formatCode="mmm\-yy">
                  <c:v>45536</c:v>
                </c:pt>
                <c:pt idx="2" c:formatCode="mmm\-yy">
                  <c:v>45566</c:v>
                </c:pt>
                <c:pt idx="3" c:formatCode="mmm\-yy">
                  <c:v>45597</c:v>
                </c:pt>
                <c:pt idx="4" c:formatCode="mmm\-yy">
                  <c:v>45627</c:v>
                </c:pt>
                <c:pt idx="5" c:formatCode="mmm\-yy">
                  <c:v>45658</c:v>
                </c:pt>
                <c:pt idx="6" c:formatCode="mmm\-yy">
                  <c:v>45689</c:v>
                </c:pt>
                <c:pt idx="7" c:formatCode="mmm\-yy">
                  <c:v>45717</c:v>
                </c:pt>
                <c:pt idx="8" c:formatCode="mmm\-yy">
                  <c:v>45748</c:v>
                </c:pt>
                <c:pt idx="9" c:formatCode="mmm\-yy">
                  <c:v>45778</c:v>
                </c:pt>
                <c:pt idx="10" c:formatCode="mmm\-yy">
                  <c:v>45809</c:v>
                </c:pt>
                <c:pt idx="11" c:formatCode="mmm\-yy">
                  <c:v>45839</c:v>
                </c:pt>
              </c:numCache>
            </c:numRef>
          </c:cat>
          <c:val>
            <c:numRef>
              <c:f>'[很多鱼安全运营工作报告-20250801.xlsx]数据统计'!$D$48:$O$48</c:f>
              <c:numCache>
                <c:formatCode>0\.0,"万"</c:formatCode>
                <c:ptCount val="12"/>
                <c:pt idx="0">
                  <c:v>770729</c:v>
                </c:pt>
                <c:pt idx="1">
                  <c:v>665038</c:v>
                </c:pt>
                <c:pt idx="2">
                  <c:v>1739364</c:v>
                </c:pt>
                <c:pt idx="3">
                  <c:v>616425</c:v>
                </c:pt>
                <c:pt idx="4">
                  <c:v>394727</c:v>
                </c:pt>
                <c:pt idx="5">
                  <c:v>333492</c:v>
                </c:pt>
                <c:pt idx="6">
                  <c:v>194377</c:v>
                </c:pt>
                <c:pt idx="7">
                  <c:v>82013</c:v>
                </c:pt>
                <c:pt idx="8">
                  <c:v>141130</c:v>
                </c:pt>
                <c:pt idx="9">
                  <c:v>197098</c:v>
                </c:pt>
                <c:pt idx="10">
                  <c:v>186542</c:v>
                </c:pt>
                <c:pt idx="11">
                  <c:v>240504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"日均攻击数"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'[很多鱼安全运营工作报告-20250801.xlsx]数据统计'!$C$89:$C$95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春节（25/1/23-2/5）</c:v>
                </c:pt>
                <c:pt idx="4">
                  <c:v>清明（25/4/4-4/6）</c:v>
                </c:pt>
                <c:pt idx="5">
                  <c:v>五一（25/5/1-5/5）</c:v>
                </c:pt>
                <c:pt idx="6">
                  <c:v>端午（25/5/31-6/2）</c:v>
                </c:pt>
              </c:strCache>
            </c:strRef>
          </c:cat>
          <c:val>
            <c:numRef>
              <c:f>'[很多鱼安全运营工作报告-20250801.xlsx]数据统计'!$D$89:$D$95</c:f>
              <c:numCache>
                <c:formatCode>General</c:formatCode>
                <c:ptCount val="7"/>
                <c:pt idx="0">
                  <c:v>9623</c:v>
                </c:pt>
                <c:pt idx="1">
                  <c:v>28655</c:v>
                </c:pt>
                <c:pt idx="2">
                  <c:v>3461</c:v>
                </c:pt>
                <c:pt idx="3">
                  <c:v>16440</c:v>
                </c:pt>
                <c:pt idx="4">
                  <c:v>2238</c:v>
                </c:pt>
                <c:pt idx="5">
                  <c:v>7218</c:v>
                </c:pt>
                <c:pt idx="6">
                  <c:v>5570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"防御率"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'[很多鱼安全运营工作报告-20250801.xlsx]数据统计'!$C$89:$C$95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春节（25/1/23-2/5）</c:v>
                </c:pt>
                <c:pt idx="4">
                  <c:v>清明（25/4/4-4/6）</c:v>
                </c:pt>
                <c:pt idx="5">
                  <c:v>五一（25/5/1-5/5）</c:v>
                </c:pt>
                <c:pt idx="6">
                  <c:v>端午（25/5/31-6/2）</c:v>
                </c:pt>
              </c:strCache>
            </c:strRef>
          </c:cat>
          <c:val>
            <c:numRef>
              <c:f>'[很多鱼安全运营工作报告-20250801.xlsx]数据统计'!$E$89:$E$95</c:f>
              <c:numCache>
                <c:formatCode>0%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报告周期：2025-12-01 ~ 2025-12-31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208145" y="5645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P12_pie}</a:t>
            </a:r>
            <a:r>
              <a:rPr lang="zh-CN" altLang="en-US">
                <a:sym typeface="+mn-ea"/>
              </a:rPr>
              <a:t>}</a:t>
            </a:r>
            <a:endParaRPr lang="zh-CN" altLang="en-US">
              <a:sym typeface="+mn-ea"/>
            </a:endParaRPr>
          </a:p>
        </p:txBody>
      </p:sp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本期整体安全态势呈现以下特征：1）高危告警52起，主要集中在云配置错误（+30%环比）和恶意软件（+12%），表明外部攻击尝试增加；2）MTTD 39分钟、MTTR 5.2小时，符合7x24响应SLA，但云配置类事件处置耗时偏长（平均6小时）；3）暴露面存在13台SSH/RDP服务直连公网，建议优先收敛。需重点关注云环境安全基线和终端恶意软件防护能力提升。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77240" y="1540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</a:t>
            </a:r>
            <a:r>
              <a:rPr lang="en-US" altLang="zh-CN"/>
              <a:t>P13_pie</a:t>
            </a:r>
            <a:r>
              <a:rPr lang="zh-CN" altLang="en-US"/>
              <a:t>}}</a:t>
            </a:r>
            <a:endParaRPr lang="zh-CN" altLang="en-US"/>
          </a:p>
        </p:txBody>
      </p:sp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570345" y="22980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</a:t>
            </a:r>
            <a:r>
              <a:rPr lang="en-US" altLang="zh-CN"/>
              <a:t>P14_pie</a:t>
            </a:r>
            <a:r>
              <a:rPr lang="zh-CN" altLang="en-US"/>
              <a:t>}}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sp>
        <p:nvSpPr>
          <p:cNvPr id="21" name="文本框 20"/>
          <p:cNvSpPr txBox="1"/>
          <p:nvPr/>
        </p:nvSpPr>
        <p:spPr>
          <a:xfrm>
            <a:off x="312420" y="59734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P15_line</a:t>
            </a:r>
            <a:r>
              <a:rPr lang="zh-CN" altLang="en-US">
                <a:sym typeface="+mn-ea"/>
              </a:rPr>
              <a:t>}}</a:t>
            </a:r>
            <a:endParaRPr lang="zh-CN" altLang="en-US">
              <a:sym typeface="+mn-ea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897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207135" y="3318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{{P16_combo}}</a:t>
            </a:r>
            <a:endParaRPr lang="zh-CN" altLang="en-US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INC-20251201-001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2025-12-01T04:14:00Z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INC-20251201-002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邮件投递导致终端恶意软件执行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2025-12-01T08:17:00Z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336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INC-20251201-003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2025-12-01T02:35:00Z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【高危】云侧AccessKey泄露风险处置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涉及bastion-01和prod-web-01资产，攻击者通过暴露的SSH服务获取AccessKey。攻击向量为未防护的SSH端口（22），利用弱密码尝试（关联R-SSH-BRUTE-01告警）。处置措施包括主机隔离、IP封禁，但因涉及生产系统凭证重置耗时3.8小时。根本原因是未启用MFA和SSH访问控制策略缺失。建议：1）启用云账号MFA 2）SSH服务限制为跳板机IP白名单 3）实施AccessKey生命周期管理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【高危】邮件投递导致终端恶意软件执行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攻击者通过钓鱼邮件（关联R-O365-PHISH-02）在k8s-node-03部署恶意软件，利用容器逃逸技术横向移动至cdn-edge。检测到攻击后实施隔离和IP封禁，MTTR 5.6小时。暴露问题：1）终端EDR检测延迟 2）容器逃逸检测规则缺失。建议：1）优化EDR检测策略 2）部署容器运行时防护（CIS 7.1） 3）强化容器镜像安全扫描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攻击者采用「鱼叉邮件+云凭证泄露」组合拳，重点针对SSH暴露资产和O365用户。利用云环境MFA缺失和弱密码实现持久化访问，通过容器逃逸横向移动。与APT29组织的TTP（钓鱼邮件、云渗透）存在相似性，需加强针对云凭证的防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CVE-2024-3094（XZ Utils后门）：影响Linux工具链，已通过系统更新修复；2) CVE-2023-46604（ActiveMQ RCE）：影响Apache ActiveMQ 5.17.0-5.18.0，需升级至5.18.2或禁用JMX RMI；3) CVE-2024-6387（OpenSSH regreSSHion）：影响OpenSSH 9.3-9.4p1，已通过配置禁用SSHv1协议修复。建议：1）建立CVE响应流程 2）容器镜像扫描纳入CI/CD流水线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已修复漏洞：3个（含2个高危）
ActiveMQ RCE修复进度：预计2026-01-15完成，当前实施JMX端口防火墙限制
未修复漏洞：0个
优先级：ActiveMQ RCE需在2026-01-15前完成升级
临时缓解：禁用JMX RMI并限制ActiveMQ访问IP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当前暴露13台SSH服务（端口22）和4台RDP服务（3389），其中prod-web-01存在弱密码风险（关联INC-20251201-001）。暴露面防护措施不足：1）SSH未启用密钥认证 2）RDP缺乏网络层防护。建议：1）SSH服务迁移至跳板机 2）RDP限制为内网访问 3）启用Wazuh进行异常登录检测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对外IP稳定在24个，无新增暴露服务。SSH暴露量持续存在，需重点关注跳板机攻击风险。攻击面收敛建议：1）建立暴露面基线 2）实施自动收敛策略 3）监控异常端口开放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SSH服务：下线非必要SSH暴露，保留跳板机访问（预计1周）
RDP服务：限制为内网VPC访问，启用网络层ACL（高优先级）
Kibana暴露：迁移至内部服务，通过SSO访问（中优先级）
Grafana暴露：检查配置错误，确保未暴露公网（低优先级）
实施攻击面监控仪表盘，实时追踪暴露面变化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发现1个未启用MFA的高权限账号（trend down），但存在7处安全组0.0.0.0/0暴露（trend up）。建议：1）强制所有高权限账号启用MFA 2）审查安全组规则，实施最小权限原则 3）建立AccessKey生命周期管理策略 4）启用AWS IAM Access Analyzer进行自动检测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满足CIS 1.12：启用MFA登录
差距：CIS 3.1（安全组最小权限）未达标
优先整改：CIS 4.1（加密存储数据）
需关注：CIS 5.2（日志保留180天）
建议实施CIS AWS Foundations Benchmark v1.5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安全组0.0.0.0/0暴露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实施云凭证MFA强制：在AWS IAM策略中添加MFA_required条件（资源级策略）
优化SSH访问控制：将SSH端口22限制为跳板机IP（iptables -A INPUT -p tcp --dport 22 -s 10.0.0.0/16 -j ACCEPT）
容器逃逸检测：部署Falco规则（- rule: Container escape via mount - desc: Detect container escape via mount syscall）
邮件安全加固：在Office 365启用ATP沙箱和邮件附件扫描
漏洞管理自动化：集成Trivy到CI/CD流水线（trivy config . --severity HIGH --exit-code 1）
建立攻击面监控：使用Wazuh检测异常端口开放（wazuh-logcollector -c /etc/wazuh/wazuh-logcollector.conf）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1）新增容器逃逸检测规则（基于Sysdig Falco模板）；2）优化O365钓鱼邮件检测，增加发件人IP和用户行为基线关联；3）补充云API调用日志源（CloudTrail/Audit Logs）；4）建立SSH弱密码尝试与云凭证泄露的关联分析规则。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操作系统基线：禁用root SSH登录（PermitRootLogin no）
应用安全配置：ActiveMQ禁用JMX RMI（关闭jmxPort配置）
网络访问控制：实施最小化安全组策略（仅允许必需端口）
认证授权：启用所有高权限账号的MFA
容器安全：启用Notary签名验证（notary --trust-remote https://registry.example.com push）
日志审计：确保所有云审计日志保留180天
文件完整性监控：部署OSSEC HIDS监控关键配置文件
数据库安全：MySQL启用SSL连接（require_ssl=1）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告警趋势 | qry_alerts_trend_weekly_v4
告警分类 | qry_top_categories_v5
告警规则 | qry_top_rules_v3
事件记录 | qry_incidents_v3
漏洞统计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数据时效：T+1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告警数据为去重后的规则触发次数，WAF与EDR重复告警已合并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漏洞数据来源于定期安全扫描与资产清单比对，涵盖云镜像、容器镜像基线扫描结果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 MySQL, Redis, Nginx, 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MTTD：平均检测时间（分钟）
MTTR：平均响应时间（小时）
TTP：攻击战术技术程序
IOC：失陷指标
EDR：终端检测响应
SIEM：安全信息事件管理
WAF：Web应用防火墙
MFA：多因素认证
CVE：通用漏洞披露编号
RCE：远程代码执行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740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