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10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colors7.xml" ContentType="application/vnd.ms-office.chartcolorstyle+xml"/>
  <Override PartName="/ppt/charts/colors8.xml" ContentType="application/vnd.ms-office.chartcolorstyle+xml"/>
  <Override PartName="/ppt/charts/colors9.xml" ContentType="application/vnd.ms-office.chartcolorstyle+xml"/>
  <Override PartName="/ppt/charts/style1.xml" ContentType="application/vnd.ms-office.chartstyle+xml"/>
  <Override PartName="/ppt/charts/style10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charts/style7.xml" ContentType="application/vnd.ms-office.chartstyle+xml"/>
  <Override PartName="/ppt/charts/style8.xml" ContentType="application/vnd.ms-office.chartstyle+xml"/>
  <Override PartName="/ppt/charts/style9.xml" ContentType="application/vnd.ms-office.chartstyle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1.svg" ContentType="image/svg+xml"/>
  <Override PartName="/ppt/media/image13.svg" ContentType="image/svg+xml"/>
  <Override PartName="/ppt/media/image16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39.svg" ContentType="image/svg+xml"/>
  <Override PartName="/ppt/media/image41.svg" ContentType="image/svg+xml"/>
  <Override PartName="/ppt/media/image43.svg" ContentType="image/svg+xml"/>
  <Override PartName="/ppt/media/image45.svg" ContentType="image/svg+xml"/>
  <Override PartName="/ppt/media/image47.svg" ContentType="image/svg+xml"/>
  <Override PartName="/ppt/media/image49.svg" ContentType="image/svg+xml"/>
  <Override PartName="/ppt/media/image51.svg" ContentType="image/svg+xml"/>
  <Override PartName="/ppt/media/image53.svg" ContentType="image/svg+xml"/>
  <Override PartName="/ppt/media/image55.svg" ContentType="image/svg+xml"/>
  <Override PartName="/ppt/media/image57.svg" ContentType="image/svg+xml"/>
  <Override PartName="/ppt/media/image59.svg" ContentType="image/svg+xml"/>
  <Override PartName="/ppt/media/image61.svg" ContentType="image/svg+xml"/>
  <Override PartName="/ppt/media/image63.svg" ContentType="image/svg+xml"/>
  <Override PartName="/ppt/media/image65.svg" ContentType="image/svg+xml"/>
  <Override PartName="/ppt/media/image67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7" r:id="rId3"/>
    <p:sldMasterId id="2147483663" r:id="rId4"/>
  </p:sldMasterIdLst>
  <p:notesMasterIdLst>
    <p:notesMasterId r:id="rId6"/>
  </p:notesMasterIdLst>
  <p:handoutMasterIdLst>
    <p:handoutMasterId r:id="rId36"/>
  </p:handoutMasterIdLst>
  <p:sldIdLst>
    <p:sldId id="391" r:id="rId5"/>
    <p:sldId id="421" r:id="rId7"/>
    <p:sldId id="393" r:id="rId8"/>
    <p:sldId id="394" r:id="rId9"/>
    <p:sldId id="422" r:id="rId10"/>
    <p:sldId id="432" r:id="rId11"/>
    <p:sldId id="396" r:id="rId12"/>
    <p:sldId id="433" r:id="rId13"/>
    <p:sldId id="428" r:id="rId14"/>
    <p:sldId id="429" r:id="rId15"/>
    <p:sldId id="430" r:id="rId16"/>
    <p:sldId id="434" r:id="rId17"/>
    <p:sldId id="401" r:id="rId18"/>
    <p:sldId id="431" r:id="rId19"/>
    <p:sldId id="402" r:id="rId20"/>
    <p:sldId id="404" r:id="rId21"/>
    <p:sldId id="405" r:id="rId22"/>
    <p:sldId id="406" r:id="rId23"/>
    <p:sldId id="407" r:id="rId24"/>
    <p:sldId id="408" r:id="rId25"/>
    <p:sldId id="424" r:id="rId26"/>
    <p:sldId id="425" r:id="rId27"/>
    <p:sldId id="426" r:id="rId28"/>
    <p:sldId id="427" r:id="rId29"/>
    <p:sldId id="411" r:id="rId30"/>
    <p:sldId id="412" r:id="rId31"/>
    <p:sldId id="415" r:id="rId32"/>
    <p:sldId id="414" r:id="rId33"/>
    <p:sldId id="416" r:id="rId34"/>
    <p:sldId id="417" r:id="rId35"/>
  </p:sldIdLst>
  <p:sldSz cx="12192000" cy="6858000"/>
  <p:notesSz cx="6858000" cy="9144000"/>
  <p:custDataLst>
    <p:tags r:id="rId41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王帆" initials="WF" lastIdx="1" clrIdx="0"/>
  <p:cmAuthor id="1" name="Microsoft Office User" initials="MOU" lastIdx="5" clrIdx="0"/>
  <p:cmAuthor id="2" name="wangpq" initials="w" lastIdx="1" clrIdx="1"/>
  <p:cmAuthor id="3" name="yerunguo" initials="yerunguo" lastIdx="1" clrIdx="2"/>
  <p:cmAuthor id="4" name="KPMG Cyber" initials="WA(" lastIdx="1" clrIdx="3"/>
  <p:cmAuthor id="5" name="Wang, Autumn" initials="WA(" lastIdx="2" clrIdx="4"/>
  <p:cmAuthor id="312" name="000823681" initials="0" lastIdx="1" clrIdx="311"/>
  <p:cmAuthor id="6" name="chenyang" initials="c" lastIdx="1" clrIdx="5"/>
  <p:cmAuthor id="7" name="98802" initials="9" lastIdx="5" clrIdx="6"/>
  <p:cmAuthor id="8" name="AndyLee" initials="A" lastIdx="5" clrIdx="8"/>
  <p:cmAuthor id="9" name="duan" initials="d" lastIdx="3" clrIdx="8"/>
  <p:cmAuthor id="10" name="wei.xin" initials="w" lastIdx="2" clrIdx="9"/>
  <p:cmAuthor id="11" name="未知用户2" initials="未知用户2" lastIdx="1" clrIdx="5"/>
  <p:cmAuthor id="12" name="未知用户3" initials="未知用户3" lastIdx="1" clrIdx="6"/>
  <p:cmAuthor id="381437688" name="谢学斌" initials="谢" lastIdx="0" clrIdx="0"/>
  <p:cmAuthor id="13" name="吕品" initials="吕品" lastIdx="1" clrIdx="11"/>
  <p:cmAuthor id="15" name="wulifang" initials="wlf" lastIdx="1" clrIdx="14"/>
  <p:cmAuthor id="16" name="彭润" initials="彭" lastIdx="1" clrIdx="15"/>
  <p:cmAuthor id="17" name="未知用户4" initials="未知用户4" lastIdx="1" clrIdx="7"/>
  <p:cmAuthor id="18" name="gt" initials="g" lastIdx="10" clrIdx="17"/>
  <p:cmAuthor id="19" name="未知用户5" initials="未知用户5" lastIdx="1" clrIdx="8"/>
  <p:cmAuthor id="20" name="Jie" initials="J" lastIdx="5" clrIdx="19"/>
  <p:cmAuthor id="21" name="SXF-Admin" initials="S" lastIdx="1" clrIdx="20"/>
  <p:cmAuthor id="22" name="蔡建楠" initials="caijianna" lastIdx="15" clrIdx="17"/>
  <p:cmAuthor id="338605058" name="J I N G " initials="J" lastIdx="1" clrIdx="217"/>
  <p:cmAuthor id="23" name="Sangfor" initials="S" lastIdx="3" clrIdx="22"/>
  <p:cmAuthor id="24" name="李蕾00009994" initials="李" lastIdx="6" clrIdx="17"/>
  <p:cmAuthor id="25" name="wyz" initials="w" lastIdx="1" clrIdx="24"/>
  <p:cmAuthor id="26" name="10270945" initials="1" lastIdx="2" clrIdx="25"/>
  <p:cmAuthor id="27" name="杨艳霞" initials="杨" lastIdx="34" clrIdx="1"/>
  <p:cmAuthor id="28" name="Hou Yingfeng" initials="H" lastIdx="10" clrIdx="23"/>
  <p:cmAuthor id="29" name="吴军" initials="吴" lastIdx="1" clrIdx="0"/>
  <p:cmAuthor id="30" name="sangfor" initials="s" lastIdx="1" clrIdx="29"/>
  <p:cmAuthor id="31" name="Author" initials="A" lastIdx="0" clrIdx="30"/>
  <p:cmAuthor id="287643681" name="殷格非" initials="殷" lastIdx="2" clrIdx="0"/>
  <p:cmAuthor id="32" name="李楠10047711" initials="李楠10047711" lastIdx="2" clrIdx="31"/>
  <p:cmAuthor id="287643682" name="z r" initials="zr" lastIdx="5" clrIdx="12"/>
  <p:cmAuthor id="33" name="610007" initials="6" lastIdx="0" clrIdx="32"/>
  <p:cmAuthor id="287643683" name="lc xue" initials="lx" lastIdx="1" clrIdx="22"/>
  <p:cmAuthor id="34" name="未知用户6" initials="未知用户6" lastIdx="1" clrIdx="9"/>
  <p:cmAuthor id="287643684" name="孟芳芳（借调）" initials="V" lastIdx="1" clrIdx="37"/>
  <p:cmAuthor id="35" name="XUWEI" initials="X" lastIdx="1" clrIdx="10"/>
  <p:cmAuthor id="287643685" name="zhuxiangyi" initials="z" lastIdx="1" clrIdx="38"/>
  <p:cmAuthor id="36" name="俊贤" initials="俊贤" lastIdx="2" clrIdx="21"/>
  <p:cmAuthor id="37" name="Hu. Jimmy" initials="HJ" lastIdx="2" clrIdx="23"/>
  <p:cmAuthor id="38" name="hzq" initials="h" lastIdx="1" clrIdx="37"/>
  <p:cmAuthor id="39" name="Hdd" initials="Hdd" lastIdx="1" clrIdx="38"/>
  <p:cmAuthor id="40" name="张立鑫" initials="张" lastIdx="1" clrIdx="23"/>
  <p:cmAuthor id="41" name="吴铭锐" initials="吴" lastIdx="2" clrIdx="0"/>
  <p:cmAuthor id="42" name="未知用户77" initials="未知用户77" lastIdx="1" clrIdx="0"/>
  <p:cmAuthor id="43" name="YuQing" initials="Y" lastIdx="9" clrIdx="0"/>
  <p:cmAuthor id="44" name="Youwen Sun" initials="Y" lastIdx="3" clrIdx="1"/>
  <p:cmAuthor id="45" name="番茄花园" initials="番" lastIdx="1" clrIdx="0"/>
  <p:cmAuthor id="46" name="meng_" initials="m" lastIdx="7" clrIdx="45"/>
  <p:cmAuthor id="47" name="未知" initials="未" lastIdx="1" clrIdx="0"/>
  <p:cmAuthor id="48" name="周满红" initials="周" lastIdx="24" clrIdx="0"/>
  <p:cmAuthor id="49" name="taojiang" initials="t" lastIdx="2" clrIdx="48"/>
  <p:cmAuthor id="50" name="未知用户8" initials="未" lastIdx="2" clrIdx="4"/>
  <p:cmAuthor id="51" name="未知用户9" initials="未" lastIdx="3" clrIdx="5"/>
  <p:cmAuthor id="191251535" name="沈霄雷" initials="沈" lastIdx="833089" clrIdx="0"/>
  <p:cmAuthor id="52" name="未知用户10" initials="未" lastIdx="9" clrIdx="0"/>
  <p:cmAuthor id="191251536" name="SF" initials="S" lastIdx="6" clrIdx="11"/>
  <p:cmAuthor id="53" name="未知用户11" initials="未" lastIdx="1" clrIdx="0"/>
  <p:cmAuthor id="191251537" name="sammi" initials="s" lastIdx="0" clrIdx="12"/>
  <p:cmAuthor id="54" name="刘思蜀" initials="刘" lastIdx="1" clrIdx="0"/>
  <p:cmAuthor id="191251538" name="zhangmh@httz.cc" initials="z" lastIdx="3" clrIdx="13"/>
  <p:cmAuthor id="55" name="未知用户20" initials="未" lastIdx="1" clrIdx="0"/>
  <p:cmAuthor id="191251539" name="wang" initials="wang" lastIdx="1" clrIdx="14"/>
  <p:cmAuthor id="56" name="未知用户19" initials="未" lastIdx="1" clrIdx="0"/>
  <p:cmAuthor id="57" name="未知用户21" initials="未" lastIdx="1" clrIdx="0"/>
  <p:cmAuthor id="210492765" name="施普希（菜菜）" initials="施" lastIdx="0" clrIdx="0"/>
  <p:cmAuthor id="191251541" name="sjzx" initials="s" lastIdx="1" clrIdx="25"/>
  <p:cmAuthor id="210492766" name="AGK" initials="AGK" lastIdx="4" clrIdx="7"/>
  <p:cmAuthor id="58" name="未知用户14" initials="未" lastIdx="1" clrIdx="0"/>
  <p:cmAuthor id="191251542" name="yang.yuan" initials="y" lastIdx="0" clrIdx="17"/>
  <p:cmAuthor id="210492767" name="书佳 王" initials="书王" lastIdx="3" clrIdx="287"/>
  <p:cmAuthor id="59" name="未知用户15" initials="未" lastIdx="1" clrIdx="0"/>
  <p:cmAuthor id="60" name="未知用户16" initials="未" lastIdx="4" clrIdx="0"/>
  <p:cmAuthor id="210492768" name="zhang" initials="z" lastIdx="2" clrIdx="35"/>
  <p:cmAuthor id="61" name="郝崇" initials="郝" lastIdx="4" clrIdx="1"/>
  <p:cmAuthor id="1483810881" name="WPS_1679281038" initials="W" lastIdx="1" clrIdx="2"/>
  <p:cmAuthor id="62" name="吴杰" initials="吴" lastIdx="1" clrIdx="0"/>
  <p:cmAuthor id="63" name="刘丽仙" initials="刘" lastIdx="4" clrIdx="33"/>
  <p:cmAuthor id="64" name="陶川" initials="陶" lastIdx="1" clrIdx="0"/>
  <p:cmAuthor id="65" name="未知用户44" initials="未知用户44" lastIdx="1" clrIdx="0"/>
  <p:cmAuthor id="66" name="andres.x.gomez" initials="a" lastIdx="4" clrIdx="0"/>
  <p:cmAuthor id="67" name="user" initials="u" lastIdx="502" clrIdx="0"/>
  <p:cmAuthor id="68" name="未知用户45" initials="未知用户45" lastIdx="1" clrIdx="0"/>
  <p:cmAuthor id="69" name="贾清山" initials="贾" lastIdx="1" clrIdx="0"/>
  <p:cmAuthor id="70" name="丁芙蓉" initials="丁" lastIdx="4" clrIdx="1"/>
  <p:cmAuthor id="71" name="gtmc" initials="g" lastIdx="0" clrIdx="0"/>
  <p:cmAuthor id="72" name="王小忠" initials="王" lastIdx="2" clrIdx="2"/>
  <p:cmAuthor id="73" name="未知用户7" initials="未" lastIdx="2" clrIdx="2"/>
  <p:cmAuthor id="74" name="张 彬" initials="张" lastIdx="1" clrIdx="34"/>
  <p:cmAuthor id="75" name="作者" initials="A" lastIdx="0" clrIdx="24"/>
  <p:cmAuthor id="76" name="立峰 陈" initials="立陈" lastIdx="1" clrIdx="35"/>
  <p:cmAuthor id="77" name="未知用户27" initials="未" lastIdx="1" clrIdx="0"/>
  <p:cmAuthor id="78" name="未知用户28" initials="未" lastIdx="1" clrIdx="0"/>
  <p:cmAuthor id="79" name="未知用户29" initials="未" lastIdx="1" clrIdx="0"/>
  <p:cmAuthor id="80" name="未知用户30" initials="未" lastIdx="4" clrIdx="0"/>
  <p:cmAuthor id="81" name="yangkun" initials="y" lastIdx="0" clrIdx="0"/>
  <p:cmAuthor id="82" name="Lenovo User" initials="L" lastIdx="1" clrIdx="0"/>
  <p:cmAuthor id="83" name="hys2" initials="h" lastIdx="1" clrIdx="0"/>
  <p:cmAuthor id="84" name="朱绍春" initials="朱" lastIdx="13" clrIdx="0"/>
  <p:cmAuthor id="85" name="邹洋" initials="邹" lastIdx="2" clrIdx="0"/>
  <p:cmAuthor id="86" name="孟祥超" initials="孟" lastIdx="2" clrIdx="1"/>
  <p:cmAuthor id="87" name="贡鑫" initials="贡" lastIdx="2" clrIdx="0"/>
  <p:cmAuthor id="88" name="administrator1" initials="a" lastIdx="16" clrIdx="2"/>
  <p:cmAuthor id="89" name="杜雪梅" initials="杜" lastIdx="1" clrIdx="0"/>
  <p:cmAuthor id="90" name="仝德志" initials="仝" lastIdx="1" clrIdx="0"/>
  <p:cmAuthor id="91" name="马静" initials="马" lastIdx="0" clrIdx="0"/>
  <p:cmAuthor id="92" name="Qingyunli" initials="Q" lastIdx="24" clrIdx="0"/>
  <p:cmAuthor id="1455558931" name="王军领" initials="王" lastIdx="1" clrIdx="31"/>
  <p:cmAuthor id="93" name="dell" initials="d" lastIdx="1" clrIdx="4"/>
  <p:cmAuthor id="94" name="叶得会" initials="叶" lastIdx="8" clrIdx="0"/>
  <p:cmAuthor id="95" name="未知用户39" initials="未" lastIdx="1" clrIdx="0"/>
  <p:cmAuthor id="96" name="未知用户17" initials="未" lastIdx="1" clrIdx="1"/>
  <p:cmAuthor id="97" name="未知用户18" initials="未" lastIdx="1" clrIdx="0"/>
  <p:cmAuthor id="98" name="liying" initials="l" lastIdx="11" clrIdx="0"/>
  <p:cmAuthor id="99" name="lp" initials="l" lastIdx="1" clrIdx="0"/>
  <p:cmAuthor id="100" name="马海燕" initials="马" lastIdx="1" clrIdx="18"/>
  <p:cmAuthor id="101" name="张钦" initials="张" lastIdx="4" clrIdx="4"/>
  <p:cmAuthor id="102" name="桓蕾" initials="桓" lastIdx="1" clrIdx="101"/>
  <p:cmAuthor id="103" name="lenovo" initials="l" lastIdx="2" clrIdx="45"/>
  <p:cmAuthor id="104" name="鲍华明" initials="鲍" lastIdx="1" clrIdx="0"/>
  <p:cmAuthor id="105" name="刘广艳" initials="刘" lastIdx="10" clrIdx="1"/>
  <p:cmAuthor id="106" name="邹积逊" initials="邹" lastIdx="1" clrIdx="0"/>
  <p:cmAuthor id="107" name="yangyanxia" initials="y" lastIdx="1" clrIdx="0"/>
  <p:cmAuthor id="108" name="刘春辉" initials="刘" lastIdx="4" clrIdx="28"/>
  <p:cmAuthor id="109" name="赵兰玉" initials="赵" lastIdx="1" clrIdx="0"/>
  <p:cmAuthor id="110" name="杜娇龙" initials="杜" lastIdx="2" clrIdx="1"/>
  <p:cmAuthor id="111" name="libin1204@163.com" initials="l" lastIdx="1" clrIdx="102"/>
  <p:cmAuthor id="112" name="未知用户67" initials="未知用户67" lastIdx="1" clrIdx="0"/>
  <p:cmAuthor id="113" name="未知用户73" initials="未" lastIdx="4" clrIdx="0"/>
  <p:cmAuthor id="404272449" name="青山" initials="青" lastIdx="1" clrIdx="37"/>
  <p:cmAuthor id="114" name="魏永生" initials="魏" lastIdx="4" clrIdx="17"/>
  <p:cmAuthor id="115" name="未知用户69" initials="未知用户69" lastIdx="9" clrIdx="0"/>
  <p:cmAuthor id="116" name="未知用户70" initials="未知用户70" lastIdx="3" clrIdx="6"/>
  <p:cmAuthor id="117" name="许弘扬" initials="许" lastIdx="1" clrIdx="0"/>
  <p:cmAuthor id="118" name="新萝卜家园" initials="新" lastIdx="0" clrIdx="0"/>
  <p:cmAuthor id="119" name="未知用户71" initials="未知用户71" lastIdx="1" clrIdx="11"/>
  <p:cmAuthor id="120" name="未知用户80" initials="未" lastIdx="4" clrIdx="1"/>
  <p:cmAuthor id="121" name="未知用户81" initials="未" lastIdx="1" clrIdx="0"/>
  <p:cmAuthor id="122" name="未知用户82" initials="未" lastIdx="1" clrIdx="1"/>
  <p:cmAuthor id="123" name="未知用户83" initials="未" lastIdx="1" clrIdx="0"/>
  <p:cmAuthor id="124" name="未知用户84" initials="未" lastIdx="1" clrIdx="0"/>
  <p:cmAuthor id="125" name="未知用户31" initials="未" lastIdx="23" clrIdx="0"/>
  <p:cmAuthor id="126" name="未知用户62" initials="未" lastIdx="33" clrIdx="0"/>
  <p:cmAuthor id="127" name="Lzy" initials="L" lastIdx="1" clrIdx="0"/>
  <p:cmAuthor id="128" name="陈尚文" initials="陈" lastIdx="1" clrIdx="1"/>
  <p:cmAuthor id="129" name="邢志林" initials="邢" lastIdx="1" clrIdx="0"/>
  <p:cmAuthor id="130" name="张 开阔" initials="张" lastIdx="1" clrIdx="104"/>
  <p:cmAuthor id="131" name="原鹏" initials="y" lastIdx="1" clrIdx="105"/>
  <p:cmAuthor id="132" name="王怀璋" initials="王" lastIdx="1" clrIdx="0"/>
  <p:cmAuthor id="133" name="YANQING BAO" initials="Y" lastIdx="3" clrIdx="0"/>
  <p:cmAuthor id="134" name="Tracy Chen" initials="T" lastIdx="1" clrIdx="0"/>
  <p:cmAuthor id="135" name="dongwc0205" initials="d" lastIdx="1" clrIdx="15"/>
  <p:cmAuthor id="136" name="yuancc04" initials="y" lastIdx="3" clrIdx="0"/>
  <p:cmAuthor id="137" name="Xinyi" initials="X" lastIdx="1" clrIdx="136"/>
  <p:cmAuthor id="138" name="shwyq2008@163.com" initials="s" lastIdx="1" clrIdx="34"/>
  <p:cmAuthor id="139" name="未知用户13" initials="未" lastIdx="11" clrIdx="0"/>
  <p:cmAuthor id="140" name="levy" initials="l" lastIdx="2" clrIdx="0"/>
  <p:cmAuthor id="142" name="User" initials="U" lastIdx="12" clrIdx="0"/>
  <p:cmAuthor id="143" name="毕军(0212009)" initials="毕" lastIdx="10" clrIdx="0"/>
  <p:cmAuthor id="2972517" name="韩佳楠" initials="韩" lastIdx="1488322" clrIdx="0"/>
  <p:cmAuthor id="144" name="dadi" initials="d" lastIdx="2" clrIdx="1"/>
  <p:cmAuthor id="145" name="未知用户43" initials="未" lastIdx="4" clrIdx="1"/>
  <p:cmAuthor id="146" name="zhuqy3" initials="z" lastIdx="1" clrIdx="0"/>
  <p:cmAuthor id="147" name="njlife" initials="n" lastIdx="2" clrIdx="0"/>
  <p:cmAuthor id="148" name="未知用户46" initials="未" lastIdx="1" clrIdx="0"/>
  <p:cmAuthor id="149" name="未知用户47" initials="未" lastIdx="1" clrIdx="3"/>
  <p:cmAuthor id="150" name="未知用户48" initials="未" lastIdx="2" clrIdx="0"/>
  <p:cmAuthor id="151" name="未知用户49" initials="未" lastIdx="1" clrIdx="0"/>
  <p:cmAuthor id="152" name="未知用户50" initials="未" lastIdx="5" clrIdx="2"/>
  <p:cmAuthor id="153" name="未知用户133" initials="未" lastIdx="21" clrIdx="4"/>
  <p:cmAuthor id="154" name="未知用户134" initials="未" lastIdx="1" clrIdx="1"/>
  <p:cmAuthor id="155" name="未知用户135" initials="未" lastIdx="1" clrIdx="0"/>
  <p:cmAuthor id="156" name="未知用户54" initials="未" lastIdx="18" clrIdx="0"/>
  <p:cmAuthor id="157" name="未知用户55" initials="未" lastIdx="2" clrIdx="0"/>
  <p:cmAuthor id="158" name="未知用户56" initials="未" lastIdx="1" clrIdx="22"/>
  <p:cmAuthor id="2000" name="Teresa" initials="authorId_31822446" lastIdx="1024853" clrIdx="0"/>
  <p:cmAuthor id="159" name="未知用户57" initials="未" lastIdx="24" clrIdx="0"/>
  <p:cmAuthor id="2001" name="骆倩怡_Znauj26B" initials="authorId_382814100" lastIdx="0" clrIdx="0"/>
  <p:cmAuthor id="160" name="未知用户58" initials="未" lastIdx="0" clrIdx="0"/>
  <p:cmAuthor id="2002" name="demolong wang" initials="dw" lastIdx="1" clrIdx="38"/>
  <p:cmAuthor id="161" name="未知用户136" initials="未" lastIdx="1" clrIdx="0"/>
  <p:cmAuthor id="2003" name="杜晶晶-投资者关系部_vM3mnymA" initials="authorId_1323951053" lastIdx="1649699480" clrIdx="0"/>
  <p:cmAuthor id="162" name="未知用户137" initials="未" lastIdx="1" clrIdx="0"/>
  <p:cmAuthor id="2004" name="沈思铭" initials="沈思铭" lastIdx="19" clrIdx="34"/>
  <p:cmAuthor id="163" name="未知用户146" initials="未" lastIdx="1" clrIdx="0"/>
  <p:cmAuthor id="164" name="未知用户138" initials="未" lastIdx="1" clrIdx="0"/>
  <p:cmAuthor id="165" name="未知用户139" initials="未" lastIdx="4" clrIdx="0"/>
  <p:cmAuthor id="166" name="未知用户140" initials="未" lastIdx="13" clrIdx="0"/>
  <p:cmAuthor id="691587970" name="小延魔法师" initials="小" lastIdx="1126286" clrIdx="0"/>
  <p:cmAuthor id="167" name="未知用户141" initials="未" lastIdx="2" clrIdx="0"/>
  <p:cmAuthor id="168" name="未知用户142" initials="未" lastIdx="2" clrIdx="1"/>
  <p:cmAuthor id="169" name="未知用户143" initials="未" lastIdx="16" clrIdx="2"/>
  <p:cmAuthor id="170" name="未知用户144" initials="未" lastIdx="0" clrIdx="0"/>
  <p:cmAuthor id="171" name="王志刚" initials="王" lastIdx="1" clrIdx="0"/>
  <p:cmAuthor id="172" name="徐光宇" initials="徐" lastIdx="1" clrIdx="0"/>
  <p:cmAuthor id="173" name="mac" initials="m" lastIdx="1" clrIdx="0"/>
  <p:cmAuthor id="174" name="Liu, Leo (MBSHR cs)" initials="L" lastIdx="2" clrIdx="0"/>
  <p:cmAuthor id="175" name="刘豹" initials="刘" lastIdx="0" clrIdx="0"/>
  <p:cmAuthor id="176" name="张艳芳" initials="张" lastIdx="3" clrIdx="0"/>
  <p:cmAuthor id="177" name="超乎想象" initials="超" lastIdx="1" clrIdx="176"/>
  <p:cmAuthor id="178" name="志斌 杜" initials="志" lastIdx="5" clrIdx="103"/>
  <p:cmAuthor id="180" name="未知用户88" initials="未" lastIdx="3" clrIdx="0"/>
  <p:cmAuthor id="8535702" name="曾蓓/贝贝" initials="曾" lastIdx="0" clrIdx="0"/>
  <p:cmAuthor id="181" name="未知用户89" initials="未" lastIdx="21" clrIdx="4"/>
  <p:cmAuthor id="182" name="未知用户90" initials="未" lastIdx="1" clrIdx="1"/>
  <p:cmAuthor id="183" name="未知用户91" initials="未" lastIdx="1" clrIdx="0"/>
  <p:cmAuthor id="184" name="未知用户92" initials="未" lastIdx="1" clrIdx="0"/>
  <p:cmAuthor id="185" name="未知用户93" initials="未" lastIdx="1" clrIdx="0"/>
  <p:cmAuthor id="186" name="未知用户94" initials="未" lastIdx="1" clrIdx="0"/>
  <p:cmAuthor id="187" name="未知用户95" initials="未" lastIdx="4" clrIdx="0"/>
  <p:cmAuthor id="188" name="未知用户96" initials="未" lastIdx="13" clrIdx="0"/>
  <p:cmAuthor id="189" name="未知用户97" initials="未" lastIdx="2" clrIdx="0"/>
  <p:cmAuthor id="190" name="未知用户98" initials="未" lastIdx="2" clrIdx="1"/>
  <p:cmAuthor id="191" name="未知用户99" initials="未" lastIdx="16" clrIdx="2"/>
  <p:cmAuthor id="192" name="未知用户100" initials="未" lastIdx="0" clrIdx="0"/>
  <p:cmAuthor id="193" name="未知用户101" initials="未" lastIdx="3" clrIdx="0"/>
  <p:cmAuthor id="194" name="Temp" initials="T" lastIdx="0" clrIdx="0"/>
  <p:cmAuthor id="195" name="未知用户72" initials="未" lastIdx="2" clrIdx="1"/>
  <p:cmAuthor id="196" name="雍中婧" initials="雍" lastIdx="26" clrIdx="0"/>
  <p:cmAuthor id="197" name="未知用户74" initials="未" lastIdx="0" clrIdx="0"/>
  <p:cmAuthor id="198" name="未知用户75" initials="未" lastIdx="3" clrIdx="0"/>
  <p:cmAuthor id="199" name="未知用户76" initials="未" lastIdx="21" clrIdx="4"/>
  <p:cmAuthor id="200" name="lin lin" initials="l" lastIdx="1" clrIdx="0"/>
  <p:cmAuthor id="201" name="未知用户78" initials="未" lastIdx="1" clrIdx="0"/>
  <p:cmAuthor id="202" name="未知用户79" initials="未" lastIdx="2" clrIdx="0"/>
  <p:cmAuthor id="203" name="未知用户12" initials="未知用户12" lastIdx="4" clrIdx="0"/>
  <p:cmAuthor id="204" name="李明强" initials="李" lastIdx="1" clrIdx="203"/>
  <p:cmAuthor id="205" name="wang_cf" initials="w" lastIdx="8" clrIdx="204"/>
  <p:cmAuthor id="206" name="itw_chenfy01" initials="i" lastIdx="1" clrIdx="205"/>
  <p:cmAuthor id="207" name="wangll132" initials="w" lastIdx="1" clrIdx="206"/>
  <p:cmAuthor id="208" name="未知用户85" initials="未" lastIdx="2" clrIdx="1"/>
  <p:cmAuthor id="209" name="未知用户86" initials="未" lastIdx="16" clrIdx="2"/>
  <p:cmAuthor id="210" name="李刚" initials="李" lastIdx="3" clrIdx="0"/>
  <p:cmAuthor id="211" name="侯 林" initials="侯" lastIdx="2" clrIdx="35"/>
  <p:cmAuthor id="212" name="徐仕超" initials="徐" lastIdx="1" clrIdx="3"/>
  <p:cmAuthor id="213" name="Pei" initials="P" lastIdx="0" clrIdx="1"/>
  <p:cmAuthor id="214" name="Ying Li" initials="Y" lastIdx="1" clrIdx="2"/>
  <p:cmAuthor id="394525608" name="仇怿俊" initials="仇" lastIdx="0" clrIdx="0"/>
  <p:cmAuthor id="215" name="lou cynthia" initials="l" lastIdx="1" clrIdx="0"/>
  <p:cmAuthor id="394525609" name="mei shuo" initials="mei shuo" lastIdx="1" clrIdx="24"/>
  <p:cmAuthor id="216" name="未知的使用者197" initials="未" lastIdx="8" clrIdx="0"/>
  <p:cmAuthor id="394525610" name="dengwanting" initials="d" lastIdx="1" clrIdx="50"/>
  <p:cmAuthor id="217" name="马红" initials="马" lastIdx="7" clrIdx="0"/>
  <p:cmAuthor id="394525611" name="mouse zz" initials="mz" lastIdx="1" clrIdx="54"/>
  <p:cmAuthor id="218" name="Shi Xiao" initials="SX" lastIdx="1" clrIdx="106"/>
  <p:cmAuthor id="219" name="卢 米薇" initials="卢" lastIdx="1" clrIdx="107"/>
  <p:cmAuthor id="220" name="未知的使用者165" initials="未" lastIdx="1" clrIdx="0"/>
  <p:cmAuthor id="221" name="未知的使用者158" initials="未" lastIdx="1" clrIdx="0"/>
  <p:cmAuthor id="49837067" name="刘浩" initials="刘" lastIdx="180431" clrIdx="0"/>
  <p:cmAuthor id="222" name="LJ" initials="L" lastIdx="1" clrIdx="221"/>
  <p:cmAuthor id="223" name="未知的使用者149" initials="未" lastIdx="10" clrIdx="0"/>
  <p:cmAuthor id="49837068" name="Vivian Liu" initials="VL" lastIdx="1" clrIdx="1"/>
  <p:cmAuthor id="224" name="未知的使用者150" initials="未" lastIdx="1" clrIdx="0"/>
  <p:cmAuthor id="49837069" name="he zhirui" initials="hz" lastIdx="1" clrIdx="82"/>
  <p:cmAuthor id="225" name="未知的使用者166" initials="未" lastIdx="8" clrIdx="0"/>
  <p:cmAuthor id="49837070" name="伟哥" initials="伟哥" lastIdx="1" clrIdx="138"/>
  <p:cmAuthor id="226" name="未知的使用者167" initials="未" lastIdx="0" clrIdx="1"/>
  <p:cmAuthor id="227" name="未知的使用者159" initials="未" lastIdx="1" clrIdx="1"/>
  <p:cmAuthor id="228" name="Chris Kou" initials="C" lastIdx="1" clrIdx="0"/>
  <p:cmAuthor id="229" name="未知的使用者168" initials="未" lastIdx="1" clrIdx="0"/>
  <p:cmAuthor id="230" name="未知的使用者169" initials="未" lastIdx="1" clrIdx="0"/>
  <p:cmAuthor id="231" name="未知的使用者117" initials="未" lastIdx="1" clrIdx="0"/>
  <p:cmAuthor id="232" name="樊佳佳" initials="樊" lastIdx="59" clrIdx="5"/>
  <p:cmAuthor id="233" name="未知的使用者119" initials="未" lastIdx="1" clrIdx="2"/>
  <p:cmAuthor id="234" name="云峰 贾" initials="云" lastIdx="2" clrIdx="0"/>
  <p:cmAuthor id="237" name="杨彦伟" initials="杨" lastIdx="3" clrIdx="0"/>
  <p:cmAuthor id="238" name="Azfar Mir" initials="A" lastIdx="130" clrIdx="0"/>
  <p:cmAuthor id="239" name="张金玉" initials="张" lastIdx="1" clrIdx="0"/>
  <p:cmAuthor id="475196944" name="姚琳" initials="姚" lastIdx="1133934" clrIdx="0"/>
  <p:cmAuthor id="240" name="周平" initials="周" lastIdx="0" clrIdx="0"/>
  <p:cmAuthor id="475196945" name="chen" initials="c" lastIdx="1" clrIdx="2"/>
  <p:cmAuthor id="241" name="董 人美" initials="董" lastIdx="4" clrIdx="108"/>
  <p:cmAuthor id="1411827" name="黄晓平" initials="黄" lastIdx="0" clrIdx="0"/>
  <p:cmAuthor id="475196946" name="王 成岩" initials="王" lastIdx="1" clrIdx="23"/>
  <p:cmAuthor id="242" name="顾 Filizia" initials="顾" lastIdx="3" clrIdx="222"/>
  <p:cmAuthor id="475196947" name="陶夏溦" initials="陶夏溦" lastIdx="1" clrIdx="46"/>
  <p:cmAuthor id="243" name="未知的使用者183" initials="未" lastIdx="2" clrIdx="0"/>
  <p:cmAuthor id="475196948" name="uo G" initials="uG" lastIdx="1" clrIdx="223"/>
  <p:cmAuthor id="244" name="未知的使用者184" initials="未" lastIdx="8" clrIdx="0"/>
  <p:cmAuthor id="245" name="未知的使用者185" initials="未" lastIdx="5" clrIdx="0"/>
  <p:cmAuthor id="246" name="未知的使用者186" initials="未" lastIdx="10" clrIdx="0"/>
  <p:cmAuthor id="247" name="未知的使用者187" initials="未" lastIdx="1" clrIdx="0"/>
  <p:cmAuthor id="248" name="未知的使用者201" initials="未" lastIdx="8" clrIdx="0"/>
  <p:cmAuthor id="249" name="未知的使用者202" initials="未" lastIdx="0" clrIdx="1"/>
  <p:cmAuthor id="250" name="未知的使用者171" initials="未" lastIdx="3" clrIdx="1"/>
  <p:cmAuthor id="251" name="未知的使用者195" initials="未" lastIdx="1" clrIdx="1"/>
  <p:cmAuthor id="252" name="未知的使用者173" initials="未" lastIdx="6" clrIdx="0"/>
  <p:cmAuthor id="253" name="未知的使用者196" initials="未" lastIdx="1" clrIdx="0"/>
  <p:cmAuthor id="254" name="未知的使用者175" initials="未" lastIdx="2" clrIdx="0"/>
  <p:cmAuthor id="203790539" name="k" initials="k" lastIdx="4" clrIdx="36"/>
  <p:cmAuthor id="255" name="未知的使用者203" initials="未" lastIdx="1" clrIdx="0"/>
  <p:cmAuthor id="256" name="未知的使用者204" initials="未" lastIdx="1" clrIdx="0"/>
  <p:cmAuthor id="257" name="未知的使用者41" initials="未" lastIdx="5" clrIdx="1"/>
  <p:cmAuthor id="258" name="未知的使用者42" initials="未" lastIdx="1" clrIdx="1"/>
  <p:cmAuthor id="259" name="Evonlin" initials="E" lastIdx="2" clrIdx="2"/>
  <p:cmAuthor id="260" name="未知的使用者39" initials="未" lastIdx="10" clrIdx="0"/>
  <p:cmAuthor id="261" name="未知的使用者38" initials="未" lastIdx="1" clrIdx="0"/>
  <p:cmAuthor id="262" name="未知用户37" initials="未" lastIdx="8" clrIdx="0"/>
  <p:cmAuthor id="263" name="未知用户38" initials="未" lastIdx="8" clrIdx="0"/>
  <p:cmAuthor id="265" name="Admin" initials="A" lastIdx="1" clrIdx="2"/>
  <p:cmAuthor id="626391093" name="KQ" initials="K" lastIdx="1" clrIdx="214"/>
  <p:cmAuthor id="266" name="未知的使用者64" initials="未" lastIdx="8" clrIdx="0"/>
  <p:cmAuthor id="267" name="未知的使用者65" initials="未" lastIdx="1" clrIdx="0"/>
  <p:cmAuthor id="268" name="未知的使用者66" initials="未" lastIdx="1" clrIdx="0"/>
  <p:cmAuthor id="269" name="未知的使用者57" initials="未" lastIdx="1" clrIdx="0"/>
  <p:cmAuthor id="271" name="未知用户36" initials="未" lastIdx="1" clrIdx="0"/>
  <p:cmAuthor id="277" name="未知用户32" initials="未" lastIdx="1" clrIdx="0"/>
  <p:cmAuthor id="278" name="未知用户33" initials="未" lastIdx="1" clrIdx="0"/>
  <p:cmAuthor id="279" name="未知用户34" initials="未" lastIdx="2" clrIdx="0"/>
  <p:cmAuthor id="280" name="huang gerrard" initials="h" lastIdx="1" clrIdx="0"/>
  <p:cmAuthor id="281" name="xuanyuanxuanyi dad" initials="xd" lastIdx="1" clrIdx="50"/>
  <p:cmAuthor id="282" name="kingdee" initials="k" lastIdx="5" clrIdx="51"/>
  <p:cmAuthor id="284" name="LLM" initials="L" lastIdx="2" clrIdx="283"/>
  <p:cmAuthor id="285" name="hongmudan" initials="h" lastIdx="2" clrIdx="284"/>
  <p:cmAuthor id="287" name="kongtao" initials="k" lastIdx="8" clrIdx="286"/>
  <p:cmAuthor id="708433798" name="jialuo" initials="j" lastIdx="0" clrIdx="0"/>
  <p:cmAuthor id="708433799" name="清泺 戴" initials="清戴" lastIdx="25" clrIdx="36"/>
  <p:cmAuthor id="353158055" name="韩雨" initials="韩" lastIdx="0" clrIdx="0"/>
  <p:cmAuthor id="302" name="kfzx-lind" initials="k" lastIdx="1" clrIdx="301"/>
  <p:cmAuthor id="1034815950" name="刘威" initials="刘" lastIdx="2" clrIdx="1"/>
  <p:cmAuthor id="326" name="Lee, Arthur" initials="LA" lastIdx="0" clrIdx="325"/>
  <p:cmAuthor id="327" name="朱 宇轩" initials="朱" lastIdx="0" clrIdx="326"/>
  <p:cmAuthor id="328" name="先生 桑" initials="先" lastIdx="0" clrIdx="327"/>
  <p:cmAuthor id="329" name="吕 德" initials="吕" lastIdx="0" clrIdx="328"/>
  <p:cmAuthor id="330" name="李 武发" initials="李" lastIdx="0" clrIdx="329"/>
  <p:cmAuthor id="331" name="Administrator" initials="A" lastIdx="0" clrIdx="330"/>
  <p:cmAuthor id="332" name="xiaotaiyang" initials="x" lastIdx="0" clrIdx="331"/>
  <p:cmAuthor id="333" name="kangqingchun" initials="k" lastIdx="0" clrIdx="332"/>
  <p:cmAuthor id="334" name="幸全" initials="幸全" lastIdx="0" clrIdx="333"/>
  <p:cmAuthor id="335" name="琰 晞" initials="琰" lastIdx="0" clrIdx="334"/>
  <p:cmAuthor id="336" name="未知用户1" initials="未知用户1" lastIdx="0" clrIdx="335"/>
  <p:cmAuthor id="337" name="慕安 王" initials="慕王" lastIdx="0" clrIdx="336"/>
  <p:cmAuthor id="338" name="Dongbin" initials="S" lastIdx="0" clrIdx="337"/>
  <p:cmAuthor id="339" name="范作霖" initials="范" lastIdx="0" clrIdx="338"/>
  <p:cmAuthor id="340" name="叶 锦龙" initials="叶" lastIdx="0" clrIdx="339"/>
  <p:cmAuthor id="341" name="林夕" initials="林夕" lastIdx="0" clrIdx="340"/>
  <p:cmAuthor id="342" name="tommy tang" initials="tt" lastIdx="0" clrIdx="341"/>
  <p:cmAuthor id="343" name="丁大鹏" initials="ddp" lastIdx="0" clrIdx="342"/>
  <p:cmAuthor id="344" name="yeziapp" initials="y" lastIdx="0" clrIdx="343"/>
  <p:cmAuthor id="345" name="韦 体东" initials="韦" lastIdx="0" clrIdx="344"/>
  <p:cmAuthor id="346" name="WPS" initials="W" lastIdx="0" clrIdx="345"/>
  <p:cmAuthor id="347" name="Qiao" initials="authorId_196572682" lastIdx="0" clrIdx="346"/>
  <p:cmAuthor id="348" name="未知用户348" initials="未" lastIdx="0" clrIdx="347"/>
  <p:cmAuthor id="349" name="未知用户148" initials="未" lastIdx="0" clrIdx="348"/>
  <p:cmAuthor id="350" name="未知用户195" initials="未" lastIdx="0" clrIdx="349"/>
  <p:cmAuthor id="351" name="未知用户207" initials="未" lastIdx="0" clrIdx="350"/>
  <p:cmAuthor id="352" name="未知用户208" initials="未" lastIdx="0" clrIdx="351"/>
  <p:cmAuthor id="353" name="未知用户198" initials="未" lastIdx="0" clrIdx="352"/>
  <p:cmAuthor id="354" name="未知用户209" initials="未" lastIdx="0" clrIdx="353"/>
  <p:cmAuthor id="355" name="未知用户289" initials="未" lastIdx="0" clrIdx="354"/>
  <p:cmAuthor id="356" name="未知用户206" initials="未" lastIdx="0" clrIdx="355"/>
  <p:cmAuthor id="357" name="未知的使用者207" initials="未" lastIdx="0" clrIdx="356"/>
  <p:cmAuthor id="358" name="未知的使用者208" initials="未" lastIdx="0" clrIdx="357"/>
  <p:cmAuthor id="359" name="未知的使用者188" initials="未" lastIdx="0" clrIdx="358"/>
  <p:cmAuthor id="360" name="未知的使用者189" initials="未" lastIdx="0" clrIdx="359"/>
  <p:cmAuthor id="361" name="未知的使用者190" initials="未" lastIdx="0" clrIdx="360"/>
  <p:cmAuthor id="362" name="未知的使用者191" initials="未" lastIdx="0" clrIdx="361"/>
  <p:cmAuthor id="363" name="未知的使用者192" initials="未" lastIdx="0" clrIdx="362"/>
  <p:cmAuthor id="364" name="未知的使用者193" initials="未" lastIdx="0" clrIdx="363"/>
  <p:cmAuthor id="365" name="未知的使用者209" initials="未" lastIdx="0" clrIdx="364"/>
  <p:cmAuthor id="366" name="未知用户118" initials="未" lastIdx="0" clrIdx="365"/>
  <p:cmAuthor id="367" name="未知用户147" initials="未" lastIdx="0" clrIdx="366"/>
  <p:cmAuthor id="368" name="未知的使用者96" initials="未" lastIdx="0" clrIdx="367"/>
  <p:cmAuthor id="369" name="未知用户255" initials="未" lastIdx="0" clrIdx="368"/>
  <p:cmAuthor id="370" name="未知的使用者153" initials="未" lastIdx="0" clrIdx="369"/>
  <p:cmAuthor id="371" name="未知的使用者154" initials="未" lastIdx="0" clrIdx="370"/>
  <p:cmAuthor id="372" name="未知的使用者156" initials="未" lastIdx="0" clrIdx="371"/>
  <p:cmAuthor id="373" name="未知的使用者157" initials="未" lastIdx="0" clrIdx="372"/>
  <p:cmAuthor id="374" name="未知用户246" initials="未" lastIdx="0" clrIdx="373"/>
  <p:cmAuthor id="375" name="未知的使用者129" initials="未" lastIdx="0" clrIdx="374"/>
  <p:cmAuthor id="376" name="未知用户257" initials="未" lastIdx="0" clrIdx="375"/>
  <p:cmAuthor id="377" name="未知的使用者164" initials="未" lastIdx="0" clrIdx="376"/>
  <p:cmAuthor id="378" name="未知的使用者172" initials="未" lastIdx="0" clrIdx="377"/>
  <p:cmAuthor id="379" name="未知的使用者174" initials="未" lastIdx="0" clrIdx="378"/>
  <p:cmAuthor id="380" name="未知用户261" initials="未" lastIdx="0" clrIdx="379"/>
  <p:cmAuthor id="381" name="未知的使用者247" initials="未" lastIdx="0" clrIdx="380"/>
  <p:cmAuthor id="382" name="未知的使用者249" initials="未" lastIdx="0" clrIdx="381"/>
  <p:cmAuthor id="383" name="未知的使用者250" initials="未" lastIdx="0" clrIdx="382"/>
  <p:cmAuthor id="384" name="未知的使用者251" initials="未" lastIdx="0" clrIdx="383"/>
  <p:cmAuthor id="385" name="未知的使用者246" initials="未" lastIdx="0" clrIdx="384"/>
  <p:cmAuthor id="386" name="未知的使用者252" initials="未" lastIdx="0" clrIdx="385"/>
  <p:cmAuthor id="387" name="未知的使用者253" initials="未" lastIdx="0" clrIdx="386"/>
  <p:cmAuthor id="388" name="未知的使用者254" initials="未" lastIdx="0" clrIdx="387"/>
  <p:cmAuthor id="389" name="未知的使用者255" initials="未" lastIdx="0" clrIdx="388"/>
  <p:cmAuthor id="390" name="未知用户268" initials="未" lastIdx="0" clrIdx="389"/>
  <p:cmAuthor id="391" name="群智集" initials="群" lastIdx="0" clrIdx="390"/>
  <p:cmAuthor id="392" name="未知用户269" initials="未" lastIdx="0" clrIdx="391"/>
  <p:cmAuthor id="393" name="未知的使用者270" initials="未" lastIdx="0" clrIdx="392"/>
  <p:cmAuthor id="394" name="郏 鹏" initials="郏" lastIdx="0" clrIdx="393"/>
  <p:cmAuthor id="395" name="未知用户250" initials="未" lastIdx="0" clrIdx="394"/>
  <p:cmAuthor id="396" name="郏鹏" initials="郏" lastIdx="0" clrIdx="395"/>
  <p:cmAuthor id="397" name="未知用户272" initials="未" lastIdx="0" clrIdx="396"/>
  <p:cmAuthor id="398" name="石晓利" initials="石" lastIdx="0" clrIdx="397"/>
  <p:cmAuthor id="399" name="未知的使用者256" initials="未" lastIdx="0" clrIdx="398"/>
  <p:cmAuthor id="400" name="罗志军" initials="罗" lastIdx="0" clrIdx="399"/>
  <p:cmAuthor id="401" name="夜尽迟渊_UrQfrmQZ" initials="夜" lastIdx="0" clrIdx="400"/>
  <p:cmAuthor id="402" name="lvz" initials="l" lastIdx="0" clrIdx="401"/>
  <p:cmAuthor id="403" name="未知的使用者200" initials="未" lastIdx="0" clrIdx="402"/>
  <p:cmAuthor id="404" name="CMCC" initials="C" lastIdx="0" clrIdx="403"/>
  <p:cmAuthor id="405" name="王丰_aE3uARfm" initials="王" lastIdx="0" clrIdx="404"/>
  <p:cmAuthor id="406" name="Tianchi Yao" initials="TY" lastIdx="0" clrIdx="405"/>
  <p:cmAuthor id="407" name="未知的使用者257" initials="未" lastIdx="0" clrIdx="406"/>
  <p:cmAuthor id="408" name="方少_UbQfrimU" initials="方" lastIdx="0" clrIdx="407"/>
  <p:cmAuthor id="409" name="贾云雁" initials="贾" lastIdx="0" clrIdx="408"/>
  <p:cmAuthor id="410" name="叶盛_Q3A3IfEf" initials="叶" lastIdx="0" clrIdx="409"/>
  <p:cmAuthor id="411" name="Harley._bEJrUJ7r" initials="H" lastIdx="0" clrIdx="410"/>
  <p:cmAuthor id="412" name="罗平_VB7vJb2E" initials="罗" lastIdx="0" clrIdx="411"/>
  <p:cmAuthor id="413" name="未知的使用者240" initials="未" lastIdx="0" clrIdx="412"/>
  <p:cmAuthor id="414" name="xixi_nUjqe22E" initials="x" lastIdx="0" clrIdx="413"/>
  <p:cmAuthor id="415" name="未知的使用者241" initials="未" lastIdx="0" clrIdx="414"/>
  <p:cmAuthor id="416" name="安安_zm6nYnYZ" initials="安" lastIdx="0" clrIdx="415"/>
  <p:cmAuthor id="417" name="未知的使用者242" initials="未" lastIdx="0" clrIdx="416"/>
  <p:cmAuthor id="418" name="未知的使用者243" initials="未" lastIdx="0" clrIdx="417"/>
  <p:cmAuthor id="419" name="未知的使用者258" initials="未" lastIdx="0" clrIdx="418"/>
  <p:cmAuthor id="420" name="周君_MfIffYra" initials="周" lastIdx="0" clrIdx="419"/>
  <p:cmAuthor id="421" name="未知的使用者259" initials="未" lastIdx="0" clrIdx="420"/>
  <p:cmAuthor id="422" name="未知的使用者260" initials="未" lastIdx="0" clrIdx="421"/>
  <p:cmAuthor id="423" name="未知的使用者261" initials="未" lastIdx="0" clrIdx="422"/>
  <p:cmAuthor id="424" name="未知的使用者262" initials="未" lastIdx="0" clrIdx="423"/>
  <p:cmAuthor id="425" name="未知的使用者263" initials="未" lastIdx="0" clrIdx="424"/>
  <p:cmAuthor id="426" name="未知的使用者264" initials="未" lastIdx="0" clrIdx="425"/>
  <p:cmAuthor id="427" name="未知的使用者265" initials="未" lastIdx="0" clrIdx="426"/>
  <p:cmAuthor id="428" name="未知的使用者266" initials="未" lastIdx="0" clrIdx="427"/>
  <p:cmAuthor id="429" name="未知的使用者267" initials="未" lastIdx="0" clrIdx="428"/>
  <p:cmAuthor id="430" name="未知的使用者268" initials="未" lastIdx="0" clrIdx="429"/>
  <p:cmAuthor id="431" name="未知的使用者269" initials="未" lastIdx="0" clrIdx="430"/>
  <p:cmAuthor id="432" name="刘晖" initials="刘" lastIdx="0" clrIdx="431"/>
  <p:cmAuthor id="433" name="lillian" initials="l" lastIdx="0" clrIdx="432"/>
  <p:cmAuthor id="434" name="未知用户197" initials="未" lastIdx="0" clrIdx="433"/>
  <p:cmAuthor id="435" name="admin7" initials="a" lastIdx="0" clrIdx="434"/>
  <p:cmAuthor id="436" name="dd" initials="d" lastIdx="0" clrIdx="435"/>
  <p:cmAuthor id="437" name="未知用户240" initials="未" lastIdx="0" clrIdx="436"/>
  <p:cmAuthor id="438" name="未知的使用者67" initials="未" lastIdx="0" clrIdx="437"/>
  <p:cmAuthor id="439" name="未知的使用者46" initials="未" lastIdx="0" clrIdx="438"/>
  <p:cmAuthor id="440" name="未知用户106" initials="未" lastIdx="0" clrIdx="439"/>
  <p:cmAuthor id="441" name="未知的使用者8" initials="未" lastIdx="0" clrIdx="440"/>
  <p:cmAuthor id="442" name="不明使用者56" initials="不" lastIdx="0" clrIdx="441"/>
  <p:cmAuthor id="443" name="P00035_jeremy" initials="P" lastIdx="0" clrIdx="442"/>
  <p:cmAuthor id="444" name="Unknown User7" initials="U" lastIdx="0" clrIdx="443"/>
  <p:cmAuthor id="445" name="muzi wei" initials="m" lastIdx="0" clrIdx="444"/>
  <p:cmAuthor id="446" name="不明使用者21" initials="不" lastIdx="0" clrIdx="445"/>
  <p:cmAuthor id="447" name="goulei" initials="g" lastIdx="0" clrIdx="446"/>
  <p:cmAuthor id="448" name="未知用户109" initials="未" lastIdx="0" clrIdx="447"/>
  <p:cmAuthor id="449" name="thomas" initials="t" lastIdx="0" clrIdx="448"/>
  <p:cmAuthor id="450" name="未知的使用者3" initials="未" lastIdx="0" clrIdx="449"/>
  <p:cmAuthor id="451" name="Unknown User65" initials="U" lastIdx="0" clrIdx="450"/>
  <p:cmAuthor id="452" name="Unknown User67" initials="U" lastIdx="0" clrIdx="451"/>
  <p:cmAuthor id="453" name="未知用户61" initials="未" lastIdx="0" clrIdx="452"/>
  <p:cmAuthor id="454" name="張秀娟" initials="張" lastIdx="0" clrIdx="453"/>
  <p:cmAuthor id="455" name="Jason Wang" initials="J" lastIdx="0" clrIdx="454"/>
  <p:cmAuthor id="456" name="不明使用者18" initials="不" lastIdx="0" clrIdx="455"/>
  <p:cmAuthor id="457" name="未知的使用者72" initials="未" lastIdx="0" clrIdx="456"/>
  <p:cmAuthor id="458" name="未知的使用者48" initials="未" lastIdx="0" clrIdx="457"/>
  <p:cmAuthor id="459" name="Damon" initials="D" lastIdx="0" clrIdx="458"/>
  <p:cmAuthor id="460" name="未知用户60" initials="未" lastIdx="0" clrIdx="459"/>
  <p:cmAuthor id="461" name="Shawna Strickland" initials="S" lastIdx="0" clrIdx="460"/>
  <p:cmAuthor id="462" name="未知的使用者36" initials="未" lastIdx="0" clrIdx="461"/>
  <p:cmAuthor id="463" name="Daniel Wuu" initials="D" lastIdx="0" clrIdx="462"/>
  <p:cmAuthor id="464" name="未知的使用者14" initials="未" lastIdx="0" clrIdx="463"/>
  <p:cmAuthor id="465" name="Ashley Eberenz" initials="A" lastIdx="0" clrIdx="464"/>
  <p:cmAuthor id="466" name="不明使用者19" initials="不" lastIdx="0" clrIdx="465"/>
  <p:cmAuthor id="467" name="未知的使用者74" initials="未" lastIdx="0" clrIdx="466"/>
  <p:cmAuthor id="468" name="未知的使用者23" initials="未" lastIdx="0" clrIdx="467"/>
  <p:cmAuthor id="469" name="未知的使用者1" initials="未" lastIdx="0" clrIdx="468"/>
  <p:cmAuthor id="470" name="116304" initials="1" lastIdx="0" clrIdx="469"/>
  <p:cmAuthor id="471" name="R affer" initials="R" lastIdx="0" clrIdx="470"/>
  <p:cmAuthor id="472" name="qihua-DCMS" initials="q" lastIdx="0" clrIdx="471"/>
  <p:cmAuthor id="473" name="未知的使用者95" initials="未" lastIdx="0" clrIdx="472"/>
  <p:cmAuthor id="474" name="未知的使用者32" initials="未" lastIdx="0" clrIdx="473"/>
  <p:cmAuthor id="475" name="未知的使用者49" initials="未" lastIdx="0" clrIdx="474"/>
  <p:cmAuthor id="476" name="Unknown User26" initials="U" lastIdx="0" clrIdx="475"/>
  <p:cmAuthor id="477" name="yuexuejun" initials="y" lastIdx="0" clrIdx="476"/>
  <p:cmAuthor id="478" name="未知的使用者71" initials="未" lastIdx="0" clrIdx="477"/>
  <p:cmAuthor id="479" name="未知的使用者105" initials="未" lastIdx="0" clrIdx="478"/>
  <p:cmAuthor id="480" name="Unknown User70" initials="U" lastIdx="0" clrIdx="479"/>
  <p:cmAuthor id="481" name="clinchen" initials="c" lastIdx="0" clrIdx="480"/>
  <p:cmAuthor id="482" name="未知用户23" initials="未" lastIdx="0" clrIdx="481"/>
  <p:cmAuthor id="483" name="hanjuncompany" initials="h" lastIdx="0" clrIdx="482"/>
  <p:cmAuthor id="484" name="kathy chen" initials="k" lastIdx="0" clrIdx="483"/>
  <p:cmAuthor id="485" name="未知的使用者63" initials="未" lastIdx="0" clrIdx="484"/>
  <p:cmAuthor id="486" name="毕邺" initials="党委办公室" lastIdx="0" clrIdx="485"/>
  <p:cmAuthor id="487" name="未知的使用者47" initials="未" lastIdx="0" clrIdx="486"/>
  <p:cmAuthor id="488" name="未知的使用者60" initials="未" lastIdx="0" clrIdx="487"/>
  <p:cmAuthor id="489" name="未知的使用者59" initials="未" lastIdx="0" clrIdx="488"/>
  <p:cmAuthor id="490" name="未知的使用者54" initials="未" lastIdx="0" clrIdx="489"/>
  <p:cmAuthor id="491" name="未知的使用者106" initials="未" lastIdx="0" clrIdx="490"/>
  <p:cmAuthor id="492" name="未知的使用者107" initials="未" lastIdx="0" clrIdx="491"/>
  <p:cmAuthor id="493" name="未知的使用者108" initials="未" lastIdx="0" clrIdx="492"/>
  <p:cmAuthor id="494" name="未知的使用者86" initials="未" lastIdx="0" clrIdx="493"/>
  <p:cmAuthor id="495" name="未知的使用者116" initials="未" lastIdx="0" clrIdx="494"/>
  <p:cmAuthor id="496" name="未知的使用者44" initials="未" lastIdx="0" clrIdx="495"/>
  <p:cmAuthor id="497" name="未知的使用者37" initials="未" lastIdx="0" clrIdx="496"/>
  <p:cmAuthor id="498" name="未知的使用者126" initials="未" lastIdx="0" clrIdx="497"/>
  <p:cmAuthor id="499" name="未知的使用者127" initials="未" lastIdx="0" clrIdx="498"/>
  <p:cmAuthor id="500" name="未知的使用者128" initials="未" lastIdx="0" clrIdx="499"/>
  <p:cmAuthor id="501" name="未知的使用者124" initials="未" lastIdx="0" clrIdx="500"/>
  <p:cmAuthor id="502" name="未知的使用者125" initials="未" lastIdx="0" clrIdx="501"/>
  <p:cmAuthor id="503" name="Sara Chen" initials="S" lastIdx="0" clrIdx="502"/>
  <p:cmAuthor id="504" name="未知用户170" initials="未" lastIdx="0" clrIdx="503"/>
  <p:cmAuthor id="505" name="未知用户171" initials="未" lastIdx="0" clrIdx="504"/>
  <p:cmAuthor id="506" name="未知用户172" initials="未" lastIdx="0" clrIdx="505"/>
  <p:cmAuthor id="507" name="未知用户173" initials="未" lastIdx="0" clrIdx="506"/>
  <p:cmAuthor id="508" name="未知用户149" initials="未" lastIdx="0" clrIdx="507"/>
  <p:cmAuthor id="509" name="未知用户150" initials="未" lastIdx="0" clrIdx="508"/>
  <p:cmAuthor id="510" name="未知用户151" initials="未" lastIdx="0" clrIdx="509"/>
  <p:cmAuthor id="511" name="未知用户152" initials="未" lastIdx="0" clrIdx="510"/>
  <p:cmAuthor id="512" name="未知用户153" initials="未" lastIdx="0" clrIdx="511"/>
  <p:cmAuthor id="513" name="未知用户154" initials="未" lastIdx="0" clrIdx="512"/>
  <p:cmAuthor id="514" name="未知用户155" initials="未" lastIdx="0" clrIdx="513"/>
  <p:cmAuthor id="515" name="未知用户41" initials="未" lastIdx="0" clrIdx="514"/>
  <p:cmAuthor id="516" name="未知用户156" initials="未" lastIdx="0" clrIdx="515"/>
  <p:cmAuthor id="517" name="未知用户64" initials="未" lastIdx="0" clrIdx="516"/>
  <p:cmAuthor id="518" name="未知用户65" initials="未" lastIdx="0" clrIdx="517"/>
  <p:cmAuthor id="519" name="未知用户68" initials="未" lastIdx="0" clrIdx="518"/>
  <p:cmAuthor id="520" name="wangxiaoxuan@ha.cmcc" initials="w" lastIdx="0" clrIdx="519"/>
  <p:cmAuthor id="521" name="罗 罗" initials="罗" lastIdx="0" clrIdx="520"/>
  <p:cmAuthor id="522" name="86157" initials="8" lastIdx="0" clrIdx="521"/>
  <p:cmAuthor id="523" name="未知用户52" initials="未" lastIdx="0" clrIdx="522"/>
  <p:cmAuthor id="524" name="MA15" initials="M" lastIdx="0" clrIdx="523"/>
  <p:cmAuthor id="525" name="未知用户53" initials="未" lastIdx="0" clrIdx="524"/>
  <p:cmAuthor id="526" name="未知用户40" initials="未" lastIdx="0" clrIdx="525"/>
  <p:cmAuthor id="527" name="Mr.Wu" initials="M" lastIdx="0" clrIdx="526"/>
  <p:cmAuthor id="528" name="张静_Anua7Nne" initials="authorId_935319063" lastIdx="0" clrIdx="527"/>
  <p:cmAuthor id="529" name="未知用户26" initials="未" lastIdx="0" clrIdx="528"/>
  <p:cmAuthor id="530" name="tonghailan" initials="t" lastIdx="0" clrIdx="529"/>
  <p:cmAuthor id="531" name="未知用户42" initials="未" lastIdx="0" clrIdx="530"/>
  <p:cmAuthor id="532" name="未知的使用者109" initials="未" lastIdx="0" clrIdx="531"/>
  <p:cmAuthor id="533" name="未知的使用者122" initials="未" lastIdx="0" clrIdx="532"/>
  <p:cmAuthor id="534" name="未知的使用者123" initials="未" lastIdx="0" clrIdx="533"/>
  <p:cmAuthor id="535" name="Harry xu" initials="H" lastIdx="0" clrIdx="534"/>
  <p:cmAuthor id="536" name="未知用户35" initials="未" lastIdx="0" clrIdx="535"/>
  <p:cmAuthor id="537" name="未知用户111" initials="未" lastIdx="0" clrIdx="536"/>
  <p:cmAuthor id="538" name="alpha" initials="a" lastIdx="0" clrIdx="537"/>
  <p:cmAuthor id="539" name="Unknown User22" initials="U" lastIdx="0" clrIdx="538"/>
  <p:cmAuthor id="540" name="Unknown User23" initials="U" lastIdx="0" clrIdx="539"/>
  <p:cmAuthor id="541" name="未知的使用者75" initials="未" lastIdx="0" clrIdx="540"/>
  <p:cmAuthor id="542" name="未知的使用者77" initials="未" lastIdx="0" clrIdx="541"/>
  <p:cmAuthor id="543" name="未知的使用者78" initials="未" lastIdx="0" clrIdx="542"/>
  <p:cmAuthor id="544" name="程云静_Y3Azuy2A" initials="程" lastIdx="0" clrIdx="543"/>
  <p:cmAuthor id="545" name="未知的使用者80" initials="未" lastIdx="0" clrIdx="544"/>
  <p:cmAuthor id="546" name="方绍波|fangshaobo" initials="方" lastIdx="0" clrIdx="545"/>
  <p:cmAuthor id="547" name="未知的使用者82" initials="未" lastIdx="0" clrIdx="546"/>
  <p:cmAuthor id="548" name="15719214165@163.com" initials="1" lastIdx="0" clrIdx="547"/>
  <p:cmAuthor id="549" name="未知的使用者83" initials="未" lastIdx="0" clrIdx="548"/>
  <p:cmAuthor id="550" name="张 曦" initials="张" lastIdx="0" clrIdx="549"/>
  <p:cmAuthor id="551" name="未知的使用者84" initials="未" lastIdx="0" clrIdx="550"/>
  <p:cmAuthor id="552" name="zhangxiaodong@ha.cmcc" initials="z" lastIdx="0" clrIdx="551"/>
  <p:cmAuthor id="553" name="未知的使用者87" initials="未" lastIdx="0" clrIdx="552"/>
  <p:cmAuthor id="554" name="未知的使用者90" initials="未" lastIdx="0" clrIdx="553"/>
  <p:cmAuthor id="555" name="未知的使用者91" initials="未" lastIdx="0" clrIdx="554"/>
  <p:cmAuthor id="556" name="CHRISYU" initials="C" lastIdx="0" clrIdx="555"/>
  <p:cmAuthor id="557" name="胡益铭" initials="胡" lastIdx="0" clrIdx="556"/>
  <p:cmAuthor id="558" name="张璐" initials="张" lastIdx="0" clrIdx="557"/>
  <p:cmAuthor id="559" name="未知的使用者102" initials="未" lastIdx="0" clrIdx="558"/>
  <p:cmAuthor id="560" name="未知的使用者61" initials="未" lastIdx="0" clrIdx="559"/>
  <p:cmAuthor id="561" name="未知用户178" initials="未" lastIdx="0" clrIdx="560"/>
  <p:cmAuthor id="562" name="未知用户186" initials="未" lastIdx="0" clrIdx="561"/>
  <p:cmAuthor id="563" name="未知的使用者182" initials="未" lastIdx="0" clrIdx="562"/>
  <p:cmAuthor id="564" name="未知的使用者161" initials="未" lastIdx="0" clrIdx="563"/>
  <p:cmAuthor id="565" name="未知的使用者151" initials="未" lastIdx="0" clrIdx="564"/>
  <p:cmAuthor id="566" name="未知的使用者162" initials="未" lastIdx="0" clrIdx="565"/>
  <p:cmAuthor id="567" name="未知的使用者152" initials="未" lastIdx="0" clrIdx="566"/>
  <p:cmAuthor id="568" name="未知的使用者176" initials="未" lastIdx="0" clrIdx="567"/>
  <p:cmAuthor id="569" name="未知的使用者178" initials="未" lastIdx="0" clrIdx="568"/>
  <p:cmAuthor id="570" name="未知的使用者179" initials="未" lastIdx="0" clrIdx="569"/>
  <p:cmAuthor id="571" name="未知的使用者180" initials="未" lastIdx="0" clrIdx="570"/>
  <p:cmAuthor id="572" name="未知的使用者181" initials="未" lastIdx="0" clrIdx="571"/>
  <p:cmAuthor id="573" name="未知的使用者170" initials="未" lastIdx="0" clrIdx="572"/>
  <p:cmAuthor id="574" name="未知的使用者141" initials="未" lastIdx="0" clrIdx="573"/>
  <p:cmAuthor id="575" name="未知的使用者142" initials="未" lastIdx="0" clrIdx="574"/>
  <p:cmAuthor id="576" name="未知的使用者143" initials="未" lastIdx="0" clrIdx="575"/>
  <p:cmAuthor id="577" name="未知的使用者144" initials="未" lastIdx="0" clrIdx="576"/>
  <p:cmAuthor id="578" name="未知的使用者145" initials="未" lastIdx="0" clrIdx="577"/>
  <p:cmAuthor id="579" name="未知的使用者146" initials="未" lastIdx="0" clrIdx="578"/>
  <p:cmAuthor id="580" name="未知的使用者147" initials="未" lastIdx="0" clrIdx="579"/>
  <p:cmAuthor id="581" name="未知的使用者148" initials="未" lastIdx="0" clrIdx="580"/>
  <p:cmAuthor id="582" name="未知用户130" initials="未" lastIdx="0" clrIdx="581"/>
  <p:cmAuthor id="583" name="未知用户131" initials="未" lastIdx="0" clrIdx="582"/>
  <p:cmAuthor id="584" name="未知用户132" initials="未" lastIdx="0" clrIdx="583"/>
  <p:cmAuthor id="585" name="俊呈 賴" initials="俊" lastIdx="0" clrIdx="584"/>
  <p:cmAuthor id="586" name="Yoyo Wu" initials="Y" lastIdx="0" clrIdx="585"/>
  <p:cmAuthor id="587" name="超" initials="超" lastIdx="0" clrIdx="586"/>
  <p:cmAuthor id="588" name="zhangbin" initials="z" lastIdx="0" clrIdx="587"/>
  <p:cmAuthor id="589" name="haha" initials="h" lastIdx="0" clrIdx="588"/>
  <p:cmAuthor id="590" name="Arno.Du(杜明星)" initials="A" lastIdx="0" clrIdx="589"/>
  <p:cmAuthor id="591" name="未知用户174" initials="未" lastIdx="0" clrIdx="590"/>
  <p:cmAuthor id="592" name="Unknown User27" initials="U" lastIdx="0" clrIdx="591"/>
  <p:cmAuthor id="593" name="未知的使用者221" initials="未" lastIdx="0" clrIdx="592"/>
  <p:cmAuthor id="594" name="未知的使用者222" initials="未" lastIdx="0" clrIdx="593"/>
  <p:cmAuthor id="595" name="未知的使用者223" initials="未" lastIdx="0" clrIdx="594"/>
  <p:cmAuthor id="596" name="未知的使用者224" initials="未" lastIdx="0" clrIdx="595"/>
  <p:cmAuthor id="597" name="未知的使用者225" initials="未" lastIdx="0" clrIdx="596"/>
  <p:cmAuthor id="598" name="未知的使用者226" initials="未" lastIdx="0" clrIdx="597"/>
  <p:cmAuthor id="599" name="未知的使用者227" initials="未" lastIdx="0" clrIdx="598"/>
  <p:cmAuthor id="600" name="未知的使用者217" initials="未" lastIdx="0" clrIdx="599"/>
  <p:cmAuthor id="601" name="未知的使用者218" initials="未" lastIdx="0" clrIdx="600"/>
  <p:cmAuthor id="602" name="未知的使用者219" initials="未" lastIdx="0" clrIdx="601"/>
  <p:cmAuthor id="603" name="未知的使用者220" initials="未" lastIdx="0" clrIdx="602"/>
  <p:cmAuthor id="604" name="未知的使用者228" initials="未" lastIdx="0" clrIdx="603"/>
  <p:cmAuthor id="605" name="未知的使用者229" initials="未" lastIdx="0" clrIdx="604"/>
  <p:cmAuthor id="606" name="未知的使用者230" initials="未" lastIdx="0" clrIdx="605"/>
  <p:cmAuthor id="607" name="未知的使用者231" initials="未" lastIdx="0" clrIdx="606"/>
  <p:cmAuthor id="608" name="未知的使用者232" initials="未" lastIdx="0" clrIdx="607"/>
  <p:cmAuthor id="609" name="未知的使用者233" initials="未" lastIdx="0" clrIdx="608"/>
  <p:cmAuthor id="610" name="未知的使用者234" initials="未" lastIdx="0" clrIdx="609"/>
  <p:cmAuthor id="611" name="未知的使用者130" initials="未" lastIdx="0" clrIdx="610"/>
  <p:cmAuthor id="612" name="未知的使用者131" initials="未" lastIdx="0" clrIdx="611"/>
  <p:cmAuthor id="613" name="未知的使用者132" initials="未" lastIdx="0" clrIdx="612"/>
  <p:cmAuthor id="614" name="未知的使用者235" initials="未" lastIdx="0" clrIdx="613"/>
  <p:cmAuthor id="615" name="未知的使用者236" initials="未" lastIdx="0" clrIdx="614"/>
  <p:cmAuthor id="616" name="未知的使用者237" initials="未" lastIdx="0" clrIdx="615"/>
  <p:cmAuthor id="617" name="未知的使用者238" initials="未" lastIdx="0" clrIdx="616"/>
  <p:cmAuthor id="618" name="未知的使用者239" initials="未" lastIdx="0" clrIdx="617"/>
  <p:cmAuthor id="619" name="未知的使用者136" initials="未" lastIdx="0" clrIdx="618"/>
  <p:cmAuthor id="620" name="未知的使用者134" initials="未" lastIdx="0" clrIdx="619"/>
  <p:cmAuthor id="621" name="未知的使用者206" initials="未" lastIdx="0" clrIdx="620"/>
  <p:cmAuthor id="622" name="Kent" initials="K" lastIdx="0" clrIdx="621"/>
  <p:cmAuthor id="623" name="梅芬 吳" initials="梅" lastIdx="0" clrIdx="622"/>
  <p:cmAuthor id="624" name="王嘉偉" initials="王" lastIdx="0" clrIdx="623"/>
  <p:cmAuthor id="625" name="未知的使用者210" initials="未" lastIdx="0" clrIdx="624"/>
  <p:cmAuthor id="626" name="未知的使用者211" initials="未" lastIdx="0" clrIdx="625"/>
  <p:cmAuthor id="627" name="未知的使用者212" initials="未" lastIdx="0" clrIdx="626"/>
  <p:cmAuthor id="628" name="未知的使用者213" initials="未" lastIdx="0" clrIdx="627"/>
  <p:cmAuthor id="629" name="未知的使用者214" initials="未" lastIdx="0" clrIdx="628"/>
  <p:cmAuthor id="630" name="未知的使用者215" initials="未" lastIdx="0" clrIdx="629"/>
  <p:cmAuthor id="631" name="未知的使用者216" initials="未" lastIdx="0" clrIdx="630"/>
  <p:cmAuthor id="632" name="王丽君" initials="王" lastIdx="0" clrIdx="631"/>
  <p:cmAuthor id="633" name="Xia Ting" initials="X" lastIdx="0" clrIdx="632"/>
  <p:cmAuthor id="634" name="未知用户163" initials="未" lastIdx="0" clrIdx="633"/>
  <p:cmAuthor id="635" name="未知用户164" initials="未" lastIdx="0" clrIdx="634"/>
  <p:cmAuthor id="636" name="未知用户191" initials="未" lastIdx="0" clrIdx="635"/>
  <p:cmAuthor id="637" name="未知用户167" initials="未" lastIdx="0" clrIdx="636"/>
  <p:cmAuthor id="638" name="未知的使用者163" initials="未" lastIdx="0" clrIdx="637"/>
  <p:cmAuthor id="639" name="未知的使用者88" initials="未" lastIdx="0" clrIdx="638"/>
  <p:cmAuthor id="640" name="jerrychou" initials="j" lastIdx="0" clrIdx="639"/>
  <p:cmAuthor id="641" name="不明使用者12" initials="不" lastIdx="0" clrIdx="640"/>
  <p:cmAuthor id="642" name="不明使用者1" initials="不" lastIdx="0" clrIdx="641"/>
  <p:cmAuthor id="643" name="未知的使用者160" initials="未" lastIdx="0" clrIdx="642"/>
  <p:cmAuthor id="644" name="不明使用者7" initials="不" lastIdx="0" clrIdx="643"/>
  <p:cmAuthor id="645" name="未知用户120" initials="未" lastIdx="0" clrIdx="644"/>
  <p:cmAuthor id="646" name="未知用户122" initials="未" lastIdx="0" clrIdx="645"/>
  <p:cmAuthor id="647" name="不明使用者11" initials="不" lastIdx="0" clrIdx="646"/>
  <p:cmAuthor id="648" name="Unknown User24" initials="U" lastIdx="0" clrIdx="647"/>
  <p:cmAuthor id="649" name="未知用户145" initials="未" lastIdx="0" clrIdx="648"/>
  <p:cmAuthor id="650" name="未知用户119" initials="未" lastIdx="0" clrIdx="649"/>
  <p:cmAuthor id="651" name="丁生" initials="丁" lastIdx="0" clrIdx="650"/>
  <p:cmAuthor id="652" name="谢海英" initials="谢海英" lastIdx="0" clrIdx="651"/>
  <p:cmAuthor id="653" name="燕儿" initials="燕" lastIdx="0" clrIdx="652"/>
  <p:cmAuthor id="654" name="梁明珠" initials="梁明珠" lastIdx="0" clrIdx="653"/>
  <p:cmAuthor id="655" name="武智璇" initials="武" lastIdx="0" clrIdx="654"/>
  <p:cmAuthor id="656" name="liang ma" initials="l" lastIdx="0" clrIdx="655"/>
  <p:cmAuthor id="657" name="jinyaoguo" initials="j" lastIdx="0" clrIdx="656"/>
  <p:cmAuthor id="658" name="郭 里芬" initials="郭" lastIdx="0" clrIdx="657"/>
  <p:cmAuthor id="659" name="qsl" initials="q" lastIdx="0" clrIdx="658"/>
  <p:cmAuthor id="660" name="chw" initials="c" lastIdx="0" clrIdx="659"/>
  <p:cmAuthor id="661" name="张亚磊" initials="张" lastIdx="0" clrIdx="660"/>
  <p:cmAuthor id="662" name="刘小猛" initials="刘" lastIdx="0" clrIdx="661"/>
  <p:cmAuthor id="663" name="李博轩" initials="李" lastIdx="0" clrIdx="66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C61E7"/>
    <a:srgbClr val="204090"/>
    <a:srgbClr val="DAE3F3"/>
    <a:srgbClr val="F0F9F4"/>
    <a:srgbClr val="403080"/>
    <a:srgbClr val="FCFCFB"/>
    <a:srgbClr val="00C2C7"/>
    <a:srgbClr val="EAEEF1"/>
    <a:srgbClr val="0098D5"/>
    <a:srgbClr val="67BE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126E9F6-41A6-44B7-8387-491034A24550}" styleName="表样式 1 25">
    <a:wholeTbl>
      <a:tcTxStyle>
        <a:fontRef idx="none">
          <a:srgbClr val="000000"/>
        </a:fontRef>
      </a:tcTxStyle>
      <a:tcStyle>
        <a:tcBdr>
          <a:left>
            <a:ln w="9525" cmpd="sng">
              <a:solidFill>
                <a:srgbClr val="4A62C7"/>
              </a:solidFill>
              <a:prstDash val="solid"/>
            </a:ln>
          </a:left>
          <a:right>
            <a:ln w="9525" cmpd="sng">
              <a:solidFill>
                <a:srgbClr val="4A62C7"/>
              </a:solidFill>
              <a:prstDash val="solid"/>
            </a:ln>
          </a:right>
          <a:top>
            <a:ln w="9525" cmpd="sng">
              <a:solidFill>
                <a:srgbClr val="4A62C7"/>
              </a:solidFill>
              <a:prstDash val="solid"/>
            </a:ln>
          </a:top>
          <a:bottom>
            <a:ln w="9525" cmpd="sng">
              <a:solidFill>
                <a:srgbClr val="4A62C7"/>
              </a:solidFill>
              <a:prstDash val="solid"/>
            </a:ln>
          </a:bottom>
          <a:insideH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insideH>
          <a:insideV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4A62C7">
              <a:lumMod val="10000"/>
              <a:lumOff val="90000"/>
            </a:srgbClr>
          </a:solidFill>
        </a:fill>
      </a:tcStyle>
    </a:band2H>
    <a:band1V>
      <a:tcStyle>
        <a:tcBdr>
          <a:left>
            <a:ln w="9525" cmpd="sng">
              <a:solidFill>
                <a:srgbClr val="4A62C7"/>
              </a:solidFill>
              <a:prstDash val="solid"/>
            </a:ln>
          </a:left>
          <a:right>
            <a:ln w="9525" cmpd="sng">
              <a:solidFill>
                <a:srgbClr val="4A62C7"/>
              </a:solidFill>
              <a:prstDash val="solid"/>
            </a:ln>
          </a:right>
          <a:top>
            <a:ln w="9525" cmpd="sng">
              <a:solidFill>
                <a:srgbClr val="4A62C7"/>
              </a:solidFill>
              <a:prstDash val="solid"/>
            </a:ln>
          </a:top>
          <a:bottom>
            <a:ln w="9525" cmpd="sng">
              <a:solidFill>
                <a:srgbClr val="4A62C7"/>
              </a:solidFill>
              <a:prstDash val="solid"/>
            </a:ln>
          </a:bottom>
          <a:insideH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insideH>
          <a:insideV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insideV>
        </a:tcBdr>
        <a:fill>
          <a:solidFill>
            <a:srgbClr val="4A62C7">
              <a:lumMod val="10000"/>
              <a:lumOff val="90000"/>
            </a:srgbClr>
          </a:solidFill>
        </a:fill>
      </a:tcStyle>
    </a:band1V>
    <a:band2V>
      <a:tcStyle>
        <a:tcBdr>
          <a:left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left>
          <a:right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right>
          <a:top>
            <a:ln w="9525" cmpd="sng">
              <a:solidFill>
                <a:srgbClr val="4A62C7"/>
              </a:solidFill>
              <a:prstDash val="solid"/>
            </a:ln>
          </a:top>
          <a:bottom>
            <a:ln w="9525" cmpd="sng">
              <a:solidFill>
                <a:srgbClr val="4A62C7"/>
              </a:solidFill>
              <a:prstDash val="solid"/>
            </a:ln>
          </a:bottom>
          <a:insideH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insideH>
          <a:insideV>
            <a:ln>
              <a:noFill/>
            </a:ln>
          </a:insideV>
        </a:tcBdr>
      </a:tcStyle>
    </a:band2V>
    <a:lastCol>
      <a:tcTxStyle b="on">
        <a:fontRef idx="none">
          <a:srgbClr val="FFFFFF"/>
        </a:fontRef>
      </a:tcTxStyle>
      <a:tcStyle>
        <a:tcBdr>
          <a:left>
            <a:ln w="9525" cmpd="sng">
              <a:solidFill>
                <a:srgbClr val="4A62C7"/>
              </a:solidFill>
              <a:prstDash val="solid"/>
            </a:ln>
          </a:left>
          <a:right>
            <a:ln w="9525" cmpd="sng">
              <a:solidFill>
                <a:srgbClr val="4A62C7"/>
              </a:solidFill>
              <a:prstDash val="solid"/>
            </a:ln>
          </a:right>
          <a:top>
            <a:ln w="9525" cmpd="sng">
              <a:solidFill>
                <a:srgbClr val="4A62C7"/>
              </a:solidFill>
              <a:prstDash val="solid"/>
            </a:ln>
          </a:top>
          <a:bottom>
            <a:ln w="9525" cmpd="sng">
              <a:solidFill>
                <a:srgbClr val="4A62C7"/>
              </a:solidFill>
              <a:prstDash val="solid"/>
            </a:ln>
          </a:bottom>
          <a:insideH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4A62C7"/>
          </a:solidFill>
        </a:fill>
      </a:tcStyle>
    </a:lastCol>
    <a:fir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rgbClr val="4A62C7"/>
              </a:solidFill>
              <a:prstDash val="solid"/>
            </a:ln>
          </a:left>
          <a:right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right>
          <a:top>
            <a:ln w="9525" cmpd="sng">
              <a:solidFill>
                <a:srgbClr val="4A62C7"/>
              </a:solidFill>
              <a:prstDash val="solid"/>
            </a:ln>
          </a:top>
          <a:bottom>
            <a:ln w="9525" cmpd="sng">
              <a:solidFill>
                <a:srgbClr val="4A62C7"/>
              </a:solidFill>
              <a:prstDash val="solid"/>
            </a:ln>
          </a:bottom>
          <a:insideH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4A62C7">
              <a:lumMod val="20000"/>
              <a:lumOff val="80000"/>
            </a:srgbClr>
          </a:solidFill>
        </a:fill>
      </a:tcStyle>
    </a:firstCol>
    <a:lastRow>
      <a:tcTxStyle b="on">
        <a:fontRef idx="none">
          <a:srgbClr val="4A62C7"/>
        </a:fontRef>
      </a:tcTxStyle>
      <a:tcStyle>
        <a:tcBdr>
          <a:left>
            <a:ln w="9525" cmpd="sng">
              <a:solidFill>
                <a:srgbClr val="4A62C7"/>
              </a:solidFill>
              <a:prstDash val="solid"/>
            </a:ln>
          </a:left>
          <a:right>
            <a:ln w="9525" cmpd="sng">
              <a:solidFill>
                <a:srgbClr val="4A62C7"/>
              </a:solidFill>
              <a:prstDash val="solid"/>
            </a:ln>
          </a:right>
          <a:top>
            <a:ln w="9525" cmpd="sng">
              <a:solidFill>
                <a:srgbClr val="4A62C7"/>
              </a:solidFill>
              <a:prstDash val="solid"/>
            </a:ln>
          </a:top>
          <a:bottom>
            <a:ln w="9525" cmpd="sng">
              <a:solidFill>
                <a:srgbClr val="4A62C7"/>
              </a:solidFill>
              <a:prstDash val="solid"/>
            </a:ln>
          </a:bottom>
          <a:insideH>
            <a:ln>
              <a:noFill/>
            </a:ln>
          </a:insideH>
          <a:insideV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insideV>
        </a:tcBdr>
      </a:tcStyle>
    </a:lastRow>
    <a:seCell>
      <a:tcStyle>
        <a:tcBdr>
          <a:left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left>
          <a:right>
            <a:ln w="9525" cmpd="sng">
              <a:solidFill>
                <a:srgbClr val="4A62C7"/>
              </a:solidFill>
              <a:prstDash val="solid"/>
            </a:ln>
          </a:right>
          <a:top>
            <a:ln w="9525" cmpd="sng">
              <a:solidFill>
                <a:srgbClr val="4A62C7"/>
              </a:solidFill>
              <a:prstDash val="solid"/>
            </a:ln>
          </a:top>
          <a:bottom>
            <a:ln w="9525" cmpd="sng">
              <a:solidFill>
                <a:srgbClr val="4A62C7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eCell>
    <a:swCell>
      <a:tcTxStyle b="on">
        <a:fontRef idx="none">
          <a:srgbClr val="4A62C7"/>
        </a:fontRef>
      </a:tcTxStyle>
      <a:tcStyle>
        <a:tcBdr>
          <a:left>
            <a:ln w="9525" cmpd="sng">
              <a:solidFill>
                <a:srgbClr val="4A62C7"/>
              </a:solidFill>
              <a:prstDash val="solid"/>
            </a:ln>
          </a:left>
          <a:right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right>
          <a:top>
            <a:ln w="9525" cmpd="sng">
              <a:solidFill>
                <a:srgbClr val="4A62C7"/>
              </a:solidFill>
              <a:prstDash val="solid"/>
            </a:ln>
          </a:top>
          <a:bottom>
            <a:ln w="9525" cmpd="sng">
              <a:solidFill>
                <a:srgbClr val="4A62C7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wCell>
    <a:firstRow>
      <a:tcTxStyle b="on">
        <a:fontRef idx="none">
          <a:srgbClr val="FFFFFF"/>
        </a:fontRef>
      </a:tcTxStyle>
      <a:tcStyle>
        <a:tcBdr>
          <a:left>
            <a:ln w="9525" cmpd="sng">
              <a:solidFill>
                <a:srgbClr val="4A62C7"/>
              </a:solidFill>
              <a:prstDash val="solid"/>
            </a:ln>
          </a:left>
          <a:right>
            <a:ln w="9525" cmpd="sng">
              <a:solidFill>
                <a:srgbClr val="4A62C7"/>
              </a:solidFill>
              <a:prstDash val="solid"/>
            </a:ln>
          </a:right>
          <a:top>
            <a:ln w="9525" cmpd="sng">
              <a:solidFill>
                <a:srgbClr val="4A62C7"/>
              </a:solidFill>
              <a:prstDash val="solid"/>
            </a:ln>
          </a:top>
          <a:bottom>
            <a:ln w="9525" cmpd="sng">
              <a:solidFill>
                <a:srgbClr val="4A62C7"/>
              </a:solidFill>
              <a:prstDash val="solid"/>
            </a:ln>
          </a:bottom>
          <a:insideH>
            <a:ln>
              <a:noFill/>
            </a:ln>
          </a:insideH>
          <a:insideV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insideV>
        </a:tcBdr>
        <a:fill>
          <a:solidFill>
            <a:srgbClr val="4A62C7"/>
          </a:solidFill>
        </a:fill>
      </a:tcStyle>
    </a:firstRow>
    <a:neCell>
      <a:tcStyle>
        <a:tcBdr>
          <a:left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left>
          <a:right>
            <a:ln w="9525" cmpd="sng">
              <a:solidFill>
                <a:srgbClr val="4A62C7"/>
              </a:solidFill>
              <a:prstDash val="solid"/>
            </a:ln>
          </a:right>
          <a:top>
            <a:ln w="9525" cmpd="sng">
              <a:solidFill>
                <a:srgbClr val="4A62C7"/>
              </a:solidFill>
              <a:prstDash val="solid"/>
            </a:ln>
          </a:top>
          <a:bottom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neCell>
  </a:tblStyle>
  <a:tblStyle styleId="{5A111915-BE36-4E01-A7E5-04B1672EAD32}" styleName="浅色样式 2 - 强调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4.xml"/><Relationship Id="rId8" Type="http://schemas.openxmlformats.org/officeDocument/2006/relationships/slide" Target="slides/slide3.xml"/><Relationship Id="rId7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41" Type="http://schemas.openxmlformats.org/officeDocument/2006/relationships/tags" Target="tags/tag271.xml"/><Relationship Id="rId40" Type="http://schemas.openxmlformats.org/officeDocument/2006/relationships/commentAuthors" Target="commentAuthors.xml"/><Relationship Id="rId4" Type="http://schemas.openxmlformats.org/officeDocument/2006/relationships/slideMaster" Target="slideMasters/slideMaster3.xml"/><Relationship Id="rId39" Type="http://schemas.openxmlformats.org/officeDocument/2006/relationships/tableStyles" Target="tableStyles.xml"/><Relationship Id="rId38" Type="http://schemas.openxmlformats.org/officeDocument/2006/relationships/viewProps" Target="viewProps.xml"/><Relationship Id="rId37" Type="http://schemas.openxmlformats.org/officeDocument/2006/relationships/presProps" Target="presProps.xml"/><Relationship Id="rId36" Type="http://schemas.openxmlformats.org/officeDocument/2006/relationships/handoutMaster" Target="handoutMasters/handoutMaster1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4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0" Type="http://schemas.openxmlformats.org/officeDocument/2006/relationships/slide" Target="slides/slide15.xml"/><Relationship Id="rId2" Type="http://schemas.openxmlformats.org/officeDocument/2006/relationships/theme" Target="theme/theme1.xml"/><Relationship Id="rId19" Type="http://schemas.openxmlformats.org/officeDocument/2006/relationships/slide" Target="slides/slide14.xml"/><Relationship Id="rId18" Type="http://schemas.openxmlformats.org/officeDocument/2006/relationships/slide" Target="slides/slide1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4" Type="http://schemas.microsoft.com/office/2011/relationships/chartColorStyle" Target="colors1.xml"/><Relationship Id="rId3" Type="http://schemas.microsoft.com/office/2011/relationships/chartStyle" Target="style1.xml"/><Relationship Id="rId2" Type="http://schemas.openxmlformats.org/officeDocument/2006/relationships/themeOverride" Target="../theme/themeOverride1.xml"/><Relationship Id="rId1" Type="http://schemas.openxmlformats.org/officeDocument/2006/relationships/oleObject" Target="/Users/macos/Desktop/For%20Work/&#27969;&#31243;%26&#35013;&#22791;/&#23458;&#25143;&#27719;&#25253;/&#24456;&#22810;&#40060;/&#25253;&#21578;&#27169;&#26495;/&#24456;&#22810;&#40060;&#23433;&#20840;&#36816;&#33829;&#24037;&#20316;&#25253;&#21578;-20250801.xlsx" TargetMode="External"/></Relationships>
</file>

<file path=ppt/charts/_rels/chart2.xml.rels><?xml version="1.0" encoding="UTF-8" standalone="yes"?>
<Relationships xmlns="http://schemas.openxmlformats.org/package/2006/relationships"><Relationship Id="rId3" Type="http://schemas.microsoft.com/office/2011/relationships/chartColorStyle" Target="colors2.xml"/><Relationship Id="rId2" Type="http://schemas.microsoft.com/office/2011/relationships/chartStyle" Target="style2.xml"/><Relationship Id="rId1" Type="http://schemas.openxmlformats.org/officeDocument/2006/relationships/oleObject" Target="/Users/macos/Library/Containers/com.tencent.WeWorkMac/Data/WeDrive/&#28145;&#20449;&#26381;&#31185;&#25216;&#32929;&#20221;&#26377;&#38480;&#20844;&#21496;/CSM%20&#35013;&#22791;&#24211;-2025/&#27719;&#25253;%26&#27807;&#36890;/&#20215;&#20540;%26&#26041;&#26696;&#27719;&#25253;/&#12304;&#20225;&#19994;&#12305;&#23433;&#20840;&#36816;&#33829;&#24037;&#20316;&#25253;&#21578;&#25903;&#25745;&#25968;&#25454;.xlsx" TargetMode="External"/></Relationships>
</file>

<file path=ppt/charts/_rels/chart3.xml.rels><?xml version="1.0" encoding="UTF-8" standalone="yes"?>
<Relationships xmlns="http://schemas.openxmlformats.org/package/2006/relationships"><Relationship Id="rId4" Type="http://schemas.microsoft.com/office/2011/relationships/chartColorStyle" Target="colors3.xml"/><Relationship Id="rId3" Type="http://schemas.microsoft.com/office/2011/relationships/chartStyle" Target="style3.xml"/><Relationship Id="rId2" Type="http://schemas.openxmlformats.org/officeDocument/2006/relationships/themeOverride" Target="../theme/themeOverride2.xml"/><Relationship Id="rId1" Type="http://schemas.openxmlformats.org/officeDocument/2006/relationships/oleObject" Target="/Users/macos/Library/Containers/com.tencent.WeWorkMac/Data/WeDrive/&#28145;&#20449;&#26381;&#31185;&#25216;&#32929;&#20221;&#26377;&#38480;&#20844;&#21496;/CSM%20&#35013;&#22791;&#24211;-2025/&#27719;&#25253;%26&#27807;&#36890;/&#20215;&#20540;%26&#26041;&#26696;&#27719;&#25253;/&#12304;&#20225;&#19994;&#12305;&#23433;&#20840;&#36816;&#33829;&#24037;&#20316;&#25253;&#21578;&#25903;&#25745;&#25968;&#25454;.xlsx" TargetMode="External"/></Relationships>
</file>

<file path=ppt/charts/_rels/chart4.xml.rels><?xml version="1.0" encoding="UTF-8" standalone="yes"?>
<Relationships xmlns="http://schemas.openxmlformats.org/package/2006/relationships"><Relationship Id="rId3" Type="http://schemas.microsoft.com/office/2011/relationships/chartColorStyle" Target="colors4.xml"/><Relationship Id="rId2" Type="http://schemas.microsoft.com/office/2011/relationships/chartStyle" Target="style4.xml"/><Relationship Id="rId1" Type="http://schemas.openxmlformats.org/officeDocument/2006/relationships/oleObject" Target="/Users/macos/Desktop/For%20Work/&#27969;&#31243;%26&#35013;&#22791;/&#23458;&#25143;&#27719;&#25253;/&#24456;&#22810;&#40060;/&#25253;&#21578;&#27169;&#26495;/&#24456;&#22810;&#40060;&#23433;&#20840;&#36816;&#33829;&#24037;&#20316;&#25253;&#21578;-20250801.xlsx" TargetMode="External"/></Relationships>
</file>

<file path=ppt/charts/_rels/chart5.xml.rels><?xml version="1.0" encoding="UTF-8" standalone="yes"?>
<Relationships xmlns="http://schemas.openxmlformats.org/package/2006/relationships"><Relationship Id="rId3" Type="http://schemas.microsoft.com/office/2011/relationships/chartColorStyle" Target="colors5.xml"/><Relationship Id="rId2" Type="http://schemas.microsoft.com/office/2011/relationships/chartStyle" Target="style5.xml"/><Relationship Id="rId1" Type="http://schemas.openxmlformats.org/officeDocument/2006/relationships/oleObject" Target="/Users/macos/Desktop/For%20Work/&#27969;&#31243;%26&#35013;&#22791;/&#23458;&#25143;&#27719;&#25253;/&#24456;&#22810;&#40060;/&#25253;&#21578;&#27169;&#26495;/&#24456;&#22810;&#40060;&#23433;&#20840;&#36816;&#33829;&#24037;&#20316;&#25253;&#21578;-20250801.xlsx" TargetMode="External"/></Relationships>
</file>

<file path=ppt/charts/_rels/chart6.xml.rels><?xml version="1.0" encoding="UTF-8" standalone="yes"?>
<Relationships xmlns="http://schemas.openxmlformats.org/package/2006/relationships"><Relationship Id="rId3" Type="http://schemas.microsoft.com/office/2011/relationships/chartColorStyle" Target="colors6.xml"/><Relationship Id="rId2" Type="http://schemas.microsoft.com/office/2011/relationships/chartStyle" Target="style6.xml"/><Relationship Id="rId1" Type="http://schemas.openxmlformats.org/officeDocument/2006/relationships/oleObject" Target="/Users/macos/Desktop/For%20Work/&#27969;&#31243;%26&#35013;&#22791;/&#23458;&#25143;&#27719;&#25253;/&#24456;&#22810;&#40060;/20250731/&#22806;&#37096;&#25915;&#20987;&#25968;&#25454;&#30475;&#26495;.xlsx" TargetMode="External"/></Relationships>
</file>

<file path=ppt/charts/_rels/chart7.xml.rels><?xml version="1.0" encoding="UTF-8" standalone="yes"?>
<Relationships xmlns="http://schemas.openxmlformats.org/package/2006/relationships"><Relationship Id="rId3" Type="http://schemas.microsoft.com/office/2011/relationships/chartColorStyle" Target="colors7.xml"/><Relationship Id="rId2" Type="http://schemas.microsoft.com/office/2011/relationships/chartStyle" Target="style7.xml"/><Relationship Id="rId1" Type="http://schemas.openxmlformats.org/officeDocument/2006/relationships/oleObject" Target="/Users/macos/Desktop/For%20Work/&#27969;&#31243;%26&#35013;&#22791;/&#23458;&#25143;&#27719;&#25253;/&#24456;&#22810;&#40060;/20250731/&#22806;&#37096;&#25915;&#20987;&#25968;&#25454;&#30475;&#26495;.xlsx" TargetMode="External"/></Relationships>
</file>

<file path=ppt/charts/_rels/chart8.xml.rels><?xml version="1.0" encoding="UTF-8" standalone="yes"?>
<Relationships xmlns="http://schemas.openxmlformats.org/package/2006/relationships"><Relationship Id="rId4" Type="http://schemas.microsoft.com/office/2011/relationships/chartColorStyle" Target="colors8.xml"/><Relationship Id="rId3" Type="http://schemas.microsoft.com/office/2011/relationships/chartStyle" Target="style8.xml"/><Relationship Id="rId2" Type="http://schemas.openxmlformats.org/officeDocument/2006/relationships/themeOverride" Target="../theme/themeOverride3.xml"/><Relationship Id="rId1" Type="http://schemas.openxmlformats.org/officeDocument/2006/relationships/oleObject" Target="/Users/macos/Desktop/For%20Work/&#27969;&#31243;%26&#35013;&#22791;/&#23458;&#25143;&#27719;&#25253;/&#24456;&#22810;&#40060;/&#25253;&#21578;&#27169;&#26495;/&#24456;&#22810;&#40060;&#23433;&#20840;&#36816;&#33829;&#24037;&#20316;&#25253;&#21578;-20250801.xlsx" TargetMode="External"/></Relationships>
</file>

<file path=ppt/charts/_rels/chart9.xml.rels><?xml version="1.0" encoding="UTF-8" standalone="yes"?>
<Relationships xmlns="http://schemas.openxmlformats.org/package/2006/relationships"><Relationship Id="rId3" Type="http://schemas.microsoft.com/office/2011/relationships/chartColorStyle" Target="colors9.xml"/><Relationship Id="rId2" Type="http://schemas.microsoft.com/office/2011/relationships/chartStyle" Target="style9.xml"/><Relationship Id="rId1" Type="http://schemas.openxmlformats.org/officeDocument/2006/relationships/oleObject" Target="/Users/zenghl/Library/Containers/com.tencent.WeWorkMac/Data/WeDrive/&#28145;&#20449;&#26381;&#31185;&#25216;&#32929;&#20221;&#26377;&#38480;&#20844;&#21496;/CSM%20&#35013;&#22791;&#24211;/buyer%20&#20215;&#20540;&#29702;&#35299;&#19982;&#21576;&#29616;/&#20215;&#20540;%26&#26041;&#26696;&#27719;&#25253;/AI&#25253;&#21578;&#25903;&#25745;&#25968;&#25454;&#27169;&#26495;&#65288;%20&#20445;&#23384;&#26412;&#22320;&#20462;&#25913;&#25991;&#20214;&#21517;&#31216;&#21518;&#20877;&#32534;&#36753;&#65292;&#19981;&#35201;&#22312;&#24494;&#30424;&#30452;&#25509;&#32534;&#36753;&#65289;.xlsx" TargetMode="External"/></Relationships>
</file>

<file path=ppt/charts/_rels/chart10.xml.rels><?xml version="1.0" encoding="UTF-8" standalone="yes"?>
<Relationships xmlns="http://schemas.openxmlformats.org/package/2006/relationships"><Relationship Id="rId3" Type="http://schemas.microsoft.com/office/2011/relationships/chartColorStyle" Target="colors10.xml"/><Relationship Id="rId2" Type="http://schemas.microsoft.com/office/2011/relationships/chartStyle" Target="style10.xml"/><Relationship Id="rId1" Type="http://schemas.openxmlformats.org/officeDocument/2006/relationships/oleObject" Target="/Users/macos/Desktop/For%20Work/&#27969;&#31243;%26&#35013;&#22791;/&#23458;&#25143;&#27719;&#25253;/&#24456;&#22810;&#40060;/&#25253;&#21578;&#27169;&#26495;/&#24456;&#22810;&#40060;&#23433;&#20840;&#36816;&#33829;&#24037;&#20316;&#25253;&#21578;-20250801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doughnutChart>
        <c:varyColors val="1"/>
        <c:ser>
          <c:idx val="0"/>
          <c:order val="0"/>
          <c:spPr>
            <a:solidFill>
              <a:schemeClr val="accent1">
                <a:alpha val="85000"/>
              </a:schemeClr>
            </a:solidFill>
          </c:spPr>
          <c:explosion val="0"/>
          <c:dPt>
            <c:idx val="0"/>
            <c:bubble3D val="0"/>
            <c:spPr>
              <a:solidFill>
                <a:schemeClr val="accent1">
                  <a:alpha val="8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"/>
            <c:bubble3D val="0"/>
            <c:spPr>
              <a:solidFill>
                <a:schemeClr val="accent2">
                  <a:alpha val="8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2"/>
            <c:bubble3D val="0"/>
            <c:spPr>
              <a:solidFill>
                <a:schemeClr val="accent3">
                  <a:alpha val="8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3"/>
            <c:bubble3D val="0"/>
            <c:spPr>
              <a:solidFill>
                <a:schemeClr val="accent4">
                  <a:alpha val="8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4"/>
            <c:bubble3D val="0"/>
            <c:spPr>
              <a:solidFill>
                <a:schemeClr val="accent5">
                  <a:alpha val="8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</c:dPt>
          <c:dLbls>
            <c:numFmt formatCode="General" sourceLinked="1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 forceAA="0">
                <a:spAutoFit/>
              </a:bodyPr>
              <a:lstStyle/>
              <a:p>
                <a:pPr>
                  <a:defRPr lang="zh-CN" sz="900" b="0" i="0" u="none" strike="noStrike" kern="1200" baseline="0">
                    <a:solidFill>
                      <a:schemeClr val="bg2">
                        <a:lumMod val="10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  <a:sym typeface="微软雅黑" panose="020B0503020204020204" charset="-122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'[很多鱼安全运营工作报告-20250801.xlsx]数据统计'!$C$65:$C$69</c:f>
              <c:strCache>
                <c:ptCount val="5"/>
                <c:pt idx="0">
                  <c:v>挖矿</c:v>
                </c:pt>
                <c:pt idx="1" c:formatCode="mmm\-yy">
                  <c:v>僵尸网络</c:v>
                </c:pt>
                <c:pt idx="2" c:formatCode="mmm\-yy">
                  <c:v>木马</c:v>
                </c:pt>
                <c:pt idx="3" c:formatCode="mmm\-yy">
                  <c:v>账号爆破</c:v>
                </c:pt>
                <c:pt idx="4" c:formatCode="mmm\-yy">
                  <c:v>代理工具</c:v>
                </c:pt>
              </c:strCache>
            </c:strRef>
          </c:cat>
          <c:val>
            <c:numRef>
              <c:f>'[很多鱼安全运营工作报告-20250801.xlsx]数据统计'!$D$65:$D$69</c:f>
              <c:numCache>
                <c:formatCode>General</c:formatCode>
                <c:ptCount val="5"/>
                <c:pt idx="0">
                  <c:v>76</c:v>
                </c:pt>
                <c:pt idx="1">
                  <c:v>39</c:v>
                </c:pt>
                <c:pt idx="2">
                  <c:v>31</c:v>
                </c:pt>
                <c:pt idx="3">
                  <c:v>26</c:v>
                </c:pt>
                <c:pt idx="4">
                  <c:v>11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firstSliceAng val="0"/>
        <c:holeSize val="50"/>
      </c:doughnutChart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</a:p>
        </c:txPr>
      </c:legendEntry>
      <c:legendEntry>
        <c:idx val="4"/>
        <c:txPr>
          <a:bodyPr rot="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</a:p>
        </c:txPr>
      </c:legendEntry>
      <c:layout>
        <c:manualLayout>
          <c:xMode val="edge"/>
          <c:yMode val="edge"/>
          <c:x val="0.753644622860765"/>
          <c:y val="0.229474852071006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bg2">
                  <a:lumMod val="10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微软雅黑" panose="020B0503020204020204" charset="-122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cf5dbc7a-5cc6-4b26-af76-042b7a275857}"/>
      </c:ext>
    </c:extLst>
  </c:chart>
  <c:spPr>
    <a:noFill/>
    <a:ln w="6350" cap="flat" cmpd="sng" algn="ctr">
      <a:noFill/>
      <a:round/>
    </a:ln>
    <a:effectLst/>
  </c:spPr>
  <c:txPr>
    <a:bodyPr/>
    <a:lstStyle/>
    <a:p>
      <a:pPr>
        <a:defRPr lang="zh-CN">
          <a:solidFill>
            <a:schemeClr val="bg2">
              <a:lumMod val="10000"/>
            </a:schemeClr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  <a:sym typeface="微软雅黑" panose="020B0503020204020204" charset="-122"/>
        </a:defRPr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614410134600158"/>
          <c:y val="0.197183098591549"/>
          <c:w val="0.909527579836368"/>
          <c:h val="0.64321382842509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"平均处置时间（分钟）"</c:f>
              <c:strCache>
                <c:ptCount val="1"/>
                <c:pt idx="0">
                  <c:v>平均处置时间（分钟）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黑体-简" panose="02000000000000000000" charset="-122"/>
                    <a:ea typeface="黑体-简" panose="02000000000000000000" charset="-122"/>
                    <a:cs typeface="黑体-简" panose="02000000000000000000" charset="-122"/>
                    <a:sym typeface="黑体-简" panose="02000000000000000000" charset="-122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[【企业】安全运营工作报告支撑数据.xlsx]数据统计!$F$5:$F$8</c:f>
              <c:strCache>
                <c:ptCount val="4"/>
                <c:pt idx="0">
                  <c:v>识别</c:v>
                </c:pt>
                <c:pt idx="1">
                  <c:v>响应</c:v>
                </c:pt>
                <c:pt idx="2">
                  <c:v>处置</c:v>
                </c:pt>
                <c:pt idx="3">
                  <c:v>闭环</c:v>
                </c:pt>
              </c:strCache>
            </c:strRef>
          </c:cat>
          <c:val>
            <c:numRef>
              <c:f>[【企业】安全运营工作报告支撑数据.xlsx]数据统计!$G$5:$G$8</c:f>
              <c:numCache>
                <c:formatCode>0.00_ </c:formatCode>
                <c:ptCount val="4"/>
                <c:pt idx="0">
                  <c:v>6.41666666666667</c:v>
                </c:pt>
                <c:pt idx="1">
                  <c:v>25.4666666666667</c:v>
                </c:pt>
                <c:pt idx="2">
                  <c:v>572.016666666667</c:v>
                </c:pt>
                <c:pt idx="3">
                  <c:v>625.383333333333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246"/>
        <c:overlap val="-28"/>
        <c:axId val="590885613"/>
        <c:axId val="82692506"/>
      </c:barChart>
      <c:catAx>
        <c:axId val="590885613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黑体-简" panose="02000000000000000000" charset="-122"/>
                <a:ea typeface="黑体-简" panose="02000000000000000000" charset="-122"/>
                <a:cs typeface="黑体-简" panose="02000000000000000000" charset="-122"/>
                <a:sym typeface="黑体-简" panose="02000000000000000000" charset="-122"/>
              </a:defRPr>
            </a:pPr>
          </a:p>
        </c:txPr>
        <c:crossAx val="82692506"/>
        <c:crosses val="autoZero"/>
        <c:auto val="1"/>
        <c:lblAlgn val="ctr"/>
        <c:lblOffset val="100"/>
        <c:noMultiLvlLbl val="0"/>
      </c:catAx>
      <c:valAx>
        <c:axId val="82692506"/>
        <c:scaling>
          <c:orientation val="minMax"/>
        </c:scaling>
        <c:delete val="0"/>
        <c:axPos val="l"/>
        <c:numFmt formatCode="0.00_ 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黑体-简" panose="02000000000000000000" charset="-122"/>
                <a:ea typeface="黑体-简" panose="02000000000000000000" charset="-122"/>
                <a:cs typeface="黑体-简" panose="02000000000000000000" charset="-122"/>
                <a:sym typeface="黑体-简" panose="02000000000000000000" charset="-122"/>
              </a:defRPr>
            </a:pPr>
          </a:p>
        </c:txPr>
        <c:crossAx val="59088561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cef48926-0801-4678-bbba-55d6b9c9ec19}"/>
      </c:ext>
    </c:extLst>
  </c:chart>
  <c:spPr>
    <a:noFill/>
    <a:ln w="9525" cap="flat" cmpd="sng" algn="ctr">
      <a:noFill/>
      <a:prstDash val="solid"/>
      <a:round/>
    </a:ln>
    <a:effectLst/>
  </c:spPr>
  <c:txPr>
    <a:bodyPr/>
    <a:lstStyle/>
    <a:p>
      <a:pPr>
        <a:defRPr lang="zh-CN">
          <a:latin typeface="黑体-简" panose="02000000000000000000" charset="-122"/>
          <a:ea typeface="黑体-简" panose="02000000000000000000" charset="-122"/>
          <a:cs typeface="黑体-简" panose="02000000000000000000" charset="-122"/>
          <a:sym typeface="黑体-简" panose="02000000000000000000" charset="-122"/>
        </a:defRPr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[【企业】安全运营工作报告支撑数据.xlsx]数据统计!$L$84</c:f>
              <c:strCache>
                <c:ptCount val="1"/>
                <c:pt idx="0">
                  <c:v>平均响应时长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dLbls>
            <c:numFmt formatCode="General" sourceLinked="1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 forceAA="0"/>
              <a:lstStyle/>
              <a:p>
                <a:pPr>
                  <a:defRPr lang="zh-CN" sz="1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黑体-简" panose="02000000000000000000" charset="-122"/>
                    <a:ea typeface="黑体-简" panose="02000000000000000000" charset="-122"/>
                    <a:cs typeface="黑体-简" panose="02000000000000000000" charset="-122"/>
                    <a:sym typeface="黑体-简" panose="02000000000000000000" charset="-122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[【企业】安全运营工作报告支撑数据.xlsx]数据统计!$M$83:$U$83</c:f>
              <c:strCache>
                <c:ptCount val="9"/>
                <c:pt idx="0">
                  <c:v>2025-03</c:v>
                </c:pt>
                <c:pt idx="1" c:formatCode="yyyy/m/d">
                  <c:v>2025-04</c:v>
                </c:pt>
                <c:pt idx="2" c:formatCode="yyyy/m/d">
                  <c:v>2025-05</c:v>
                </c:pt>
                <c:pt idx="3" c:formatCode="yyyy/m/d">
                  <c:v>2025-06</c:v>
                </c:pt>
                <c:pt idx="4" c:formatCode="yyyy/m/d">
                  <c:v>2025-07</c:v>
                </c:pt>
                <c:pt idx="5" c:formatCode="yyyy/m/d">
                  <c:v>2025-08</c:v>
                </c:pt>
                <c:pt idx="6" c:formatCode="yyyy/m/d">
                  <c:v>2025-09</c:v>
                </c:pt>
                <c:pt idx="7" c:formatCode="yyyy/m/d">
                  <c:v>2025-10</c:v>
                </c:pt>
                <c:pt idx="8" c:formatCode="yyyy/m/d">
                  <c:v>2025-11</c:v>
                </c:pt>
              </c:strCache>
            </c:strRef>
          </c:cat>
          <c:val>
            <c:numRef>
              <c:f>[【企业】安全运营工作报告支撑数据.xlsx]数据统计!$M$84:$U$84</c:f>
              <c:numCache>
                <c:formatCode>0.00_ </c:formatCode>
                <c:ptCount val="9"/>
                <c:pt idx="0">
                  <c:v>26.6</c:v>
                </c:pt>
                <c:pt idx="1">
                  <c:v>15.25</c:v>
                </c:pt>
                <c:pt idx="2">
                  <c:v>0</c:v>
                </c:pt>
                <c:pt idx="3">
                  <c:v>18</c:v>
                </c:pt>
                <c:pt idx="4">
                  <c:v>10.6666666666667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  <c:smooth val="0"/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0"/>
        <c:smooth val="0"/>
        <c:axId val="926048702"/>
        <c:axId val="51301949"/>
      </c:lineChart>
      <c:catAx>
        <c:axId val="92604870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 forceAA="0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黑体-简" panose="02000000000000000000" charset="-122"/>
                <a:ea typeface="黑体-简" panose="02000000000000000000" charset="-122"/>
                <a:cs typeface="黑体-简" panose="02000000000000000000" charset="-122"/>
                <a:sym typeface="黑体-简" panose="02000000000000000000" charset="-122"/>
              </a:defRPr>
            </a:pPr>
          </a:p>
        </c:txPr>
        <c:crossAx val="51301949"/>
        <c:crosses val="autoZero"/>
        <c:auto val="1"/>
        <c:lblAlgn val="ctr"/>
        <c:lblOffset val="100"/>
        <c:noMultiLvlLbl val="0"/>
      </c:catAx>
      <c:valAx>
        <c:axId val="51301949"/>
        <c:scaling>
          <c:orientation val="minMax"/>
        </c:scaling>
        <c:delete val="0"/>
        <c:axPos val="l"/>
        <c:numFmt formatCode="0.00_ 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 forceAA="0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黑体-简" panose="02000000000000000000" charset="-122"/>
                <a:ea typeface="黑体-简" panose="02000000000000000000" charset="-122"/>
                <a:cs typeface="黑体-简" panose="02000000000000000000" charset="-122"/>
                <a:sym typeface="黑体-简" panose="02000000000000000000" charset="-122"/>
              </a:defRPr>
            </a:pPr>
          </a:p>
        </c:txPr>
        <c:crossAx val="92604870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7964f97f-5aff-427a-b710-d3e8487abdf3}"/>
      </c:ext>
    </c:extLst>
  </c:chart>
  <c:spPr>
    <a:noFill/>
    <a:ln w="9525" cap="flat" cmpd="sng" algn="ctr">
      <a:noFill/>
      <a:prstDash val="solid"/>
      <a:round/>
    </a:ln>
    <a:effectLst/>
  </c:spPr>
  <c:txPr>
    <a:bodyPr/>
    <a:lstStyle/>
    <a:p>
      <a:pPr>
        <a:defRPr lang="zh-CN" b="0">
          <a:latin typeface="黑体-简" panose="02000000000000000000" charset="-122"/>
          <a:ea typeface="黑体-简" panose="02000000000000000000" charset="-122"/>
          <a:cs typeface="黑体-简" panose="02000000000000000000" charset="-122"/>
          <a:sym typeface="黑体-简" panose="02000000000000000000" charset="-122"/>
        </a:defRPr>
      </a:pPr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'[很多鱼安全运营工作报告-20250801.xlsx]数据统计'!$C$47</c:f>
              <c:strCache>
                <c:ptCount val="1"/>
                <c:pt idx="0">
                  <c:v>外部攻击数</c:v>
                </c:pt>
              </c:strCache>
            </c:strRef>
          </c:tx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'[很多鱼安全运营工作报告-20250801.xlsx]数据统计'!$D$46:$O$46</c:f>
              <c:numCache>
                <c:formatCode>mmm\-yy</c:formatCode>
                <c:ptCount val="12"/>
                <c:pt idx="0" c:formatCode="mmm\-yy">
                  <c:v>45505</c:v>
                </c:pt>
                <c:pt idx="1" c:formatCode="mmm\-yy">
                  <c:v>45536</c:v>
                </c:pt>
                <c:pt idx="2" c:formatCode="mmm\-yy">
                  <c:v>45566</c:v>
                </c:pt>
                <c:pt idx="3" c:formatCode="mmm\-yy">
                  <c:v>45597</c:v>
                </c:pt>
                <c:pt idx="4" c:formatCode="mmm\-yy">
                  <c:v>45627</c:v>
                </c:pt>
                <c:pt idx="5" c:formatCode="mmm\-yy">
                  <c:v>45658</c:v>
                </c:pt>
                <c:pt idx="6" c:formatCode="mmm\-yy">
                  <c:v>45689</c:v>
                </c:pt>
                <c:pt idx="7" c:formatCode="mmm\-yy">
                  <c:v>45717</c:v>
                </c:pt>
                <c:pt idx="8" c:formatCode="mmm\-yy">
                  <c:v>45748</c:v>
                </c:pt>
                <c:pt idx="9" c:formatCode="mmm\-yy">
                  <c:v>45778</c:v>
                </c:pt>
                <c:pt idx="10" c:formatCode="mmm\-yy">
                  <c:v>45809</c:v>
                </c:pt>
                <c:pt idx="11" c:formatCode="mmm\-yy">
                  <c:v>45839</c:v>
                </c:pt>
              </c:numCache>
            </c:numRef>
          </c:cat>
          <c:val>
            <c:numRef>
              <c:f>'[很多鱼安全运营工作报告-20250801.xlsx]数据统计'!$D$47:$O$47</c:f>
              <c:numCache>
                <c:formatCode>0\.0,"万"</c:formatCode>
                <c:ptCount val="12"/>
                <c:pt idx="0">
                  <c:v>64198</c:v>
                </c:pt>
                <c:pt idx="1">
                  <c:v>35890</c:v>
                </c:pt>
                <c:pt idx="2">
                  <c:v>12478</c:v>
                </c:pt>
                <c:pt idx="3">
                  <c:v>5613</c:v>
                </c:pt>
                <c:pt idx="4">
                  <c:v>704</c:v>
                </c:pt>
                <c:pt idx="5">
                  <c:v>902</c:v>
                </c:pt>
                <c:pt idx="6">
                  <c:v>2412</c:v>
                </c:pt>
                <c:pt idx="7">
                  <c:v>1362</c:v>
                </c:pt>
                <c:pt idx="8">
                  <c:v>5696</c:v>
                </c:pt>
                <c:pt idx="9">
                  <c:v>9140</c:v>
                </c:pt>
                <c:pt idx="10">
                  <c:v>4126</c:v>
                </c:pt>
                <c:pt idx="11">
                  <c:v>4675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'[很多鱼安全运营工作报告-20250801.xlsx]数据统计'!$C$48</c:f>
              <c:strCache>
                <c:ptCount val="1"/>
                <c:pt idx="0">
                  <c:v>恶意外联数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'[很多鱼安全运营工作报告-20250801.xlsx]数据统计'!$D$46:$O$46</c:f>
              <c:numCache>
                <c:formatCode>mmm\-yy</c:formatCode>
                <c:ptCount val="12"/>
                <c:pt idx="0" c:formatCode="mmm\-yy">
                  <c:v>45505</c:v>
                </c:pt>
                <c:pt idx="1" c:formatCode="mmm\-yy">
                  <c:v>45536</c:v>
                </c:pt>
                <c:pt idx="2" c:formatCode="mmm\-yy">
                  <c:v>45566</c:v>
                </c:pt>
                <c:pt idx="3" c:formatCode="mmm\-yy">
                  <c:v>45597</c:v>
                </c:pt>
                <c:pt idx="4" c:formatCode="mmm\-yy">
                  <c:v>45627</c:v>
                </c:pt>
                <c:pt idx="5" c:formatCode="mmm\-yy">
                  <c:v>45658</c:v>
                </c:pt>
                <c:pt idx="6" c:formatCode="mmm\-yy">
                  <c:v>45689</c:v>
                </c:pt>
                <c:pt idx="7" c:formatCode="mmm\-yy">
                  <c:v>45717</c:v>
                </c:pt>
                <c:pt idx="8" c:formatCode="mmm\-yy">
                  <c:v>45748</c:v>
                </c:pt>
                <c:pt idx="9" c:formatCode="mmm\-yy">
                  <c:v>45778</c:v>
                </c:pt>
                <c:pt idx="10" c:formatCode="mmm\-yy">
                  <c:v>45809</c:v>
                </c:pt>
                <c:pt idx="11" c:formatCode="mmm\-yy">
                  <c:v>45839</c:v>
                </c:pt>
              </c:numCache>
            </c:numRef>
          </c:cat>
          <c:val>
            <c:numRef>
              <c:f>'[很多鱼安全运营工作报告-20250801.xlsx]数据统计'!$D$48:$O$48</c:f>
              <c:numCache>
                <c:formatCode>0\.0,"万"</c:formatCode>
                <c:ptCount val="12"/>
                <c:pt idx="0">
                  <c:v>770729</c:v>
                </c:pt>
                <c:pt idx="1">
                  <c:v>665038</c:v>
                </c:pt>
                <c:pt idx="2">
                  <c:v>1739364</c:v>
                </c:pt>
                <c:pt idx="3">
                  <c:v>616425</c:v>
                </c:pt>
                <c:pt idx="4">
                  <c:v>394727</c:v>
                </c:pt>
                <c:pt idx="5">
                  <c:v>333492</c:v>
                </c:pt>
                <c:pt idx="6">
                  <c:v>194377</c:v>
                </c:pt>
                <c:pt idx="7">
                  <c:v>82013</c:v>
                </c:pt>
                <c:pt idx="8">
                  <c:v>141130</c:v>
                </c:pt>
                <c:pt idx="9">
                  <c:v>197098</c:v>
                </c:pt>
                <c:pt idx="10">
                  <c:v>186542</c:v>
                </c:pt>
                <c:pt idx="11">
                  <c:v>240504</c:v>
                </c:pt>
              </c:numCache>
            </c:numRef>
          </c:val>
          <c:smooth val="0"/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0"/>
        <c:smooth val="0"/>
        <c:axId val="829985891"/>
        <c:axId val="617127009"/>
      </c:lineChart>
      <c:dateAx>
        <c:axId val="829985891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617127009"/>
        <c:crosses val="autoZero"/>
        <c:auto val="1"/>
        <c:lblOffset val="100"/>
        <c:baseTimeUnit val="months"/>
      </c:dateAx>
      <c:valAx>
        <c:axId val="617127009"/>
        <c:scaling>
          <c:orientation val="minMax"/>
        </c:scaling>
        <c:delete val="1"/>
        <c:axPos val="l"/>
        <c:numFmt formatCode="0\.0,&quot;万&quot;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82998589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6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78b0d5ea-8d43-42c5-be8f-fd925aecf35b}"/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lang="zh-CN" sz="600"/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'[很多鱼安全运营工作报告-20250801.xlsx]数据统计'!$I$76</c:f>
              <c:strCache>
                <c:ptCount val="1"/>
                <c:pt idx="0">
                  <c:v>被攻击次数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400" b="0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'[很多鱼安全运营工作报告-20250801.xlsx]数据统计'!$H$77:$H$81</c:f>
              <c:strCache>
                <c:ptCount val="5"/>
                <c:pt idx="0">
                  <c:v>192.168.4.217
(武汉金贵应用服务器)</c:v>
                </c:pt>
                <c:pt idx="1">
                  <c:v>192.168.4.203
(应用服务器主)</c:v>
                </c:pt>
                <c:pt idx="2">
                  <c:v>172.16.5.31
(泛微oa系统-应用服务器)</c:v>
                </c:pt>
                <c:pt idx="3">
                  <c:v>172.16.1.4
(上海)</c:v>
                </c:pt>
                <c:pt idx="4">
                  <c:v>192.168.22.54
(应用服务器)</c:v>
                </c:pt>
              </c:strCache>
            </c:strRef>
          </c:cat>
          <c:val>
            <c:numRef>
              <c:f>'[很多鱼安全运营工作报告-20250801.xlsx]数据统计'!$I$77:$I$81</c:f>
              <c:numCache>
                <c:formatCode>General</c:formatCode>
                <c:ptCount val="5"/>
                <c:pt idx="0">
                  <c:v>6766</c:v>
                </c:pt>
                <c:pt idx="1">
                  <c:v>4958</c:v>
                </c:pt>
                <c:pt idx="2">
                  <c:v>4817</c:v>
                </c:pt>
                <c:pt idx="3">
                  <c:v>4143</c:v>
                </c:pt>
                <c:pt idx="4">
                  <c:v>2507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-25"/>
        <c:axId val="170593429"/>
        <c:axId val="280355219"/>
      </c:barChart>
      <c:catAx>
        <c:axId val="170593429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4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280355219"/>
        <c:crosses val="autoZero"/>
        <c:auto val="1"/>
        <c:lblAlgn val="ctr"/>
        <c:lblOffset val="100"/>
        <c:noMultiLvlLbl val="0"/>
      </c:catAx>
      <c:valAx>
        <c:axId val="280355219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4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059342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4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400" b="0" i="0" u="none" strike="noStrike" kern="1200" baseline="0">
              <a:solidFill>
                <a:schemeClr val="tx1">
                  <a:lumMod val="95000"/>
                  <a:lumOff val="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b20ef17a-20b2-43cb-b57b-4673d0b096a1}"/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lang="zh-CN" sz="400">
          <a:solidFill>
            <a:schemeClr val="tx1">
              <a:lumMod val="95000"/>
              <a:lumOff val="5000"/>
            </a:schemeClr>
          </a:solidFill>
        </a:defRPr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[外部攻击数据看板.xlsx]数据填充!$O$1</c:f>
              <c:strCache>
                <c:ptCount val="1"/>
                <c:pt idx="0">
                  <c:v>日志数量</c:v>
                </c:pt>
              </c:strCache>
            </c:strRef>
          </c:tx>
          <c:spPr>
            <a:sp3d contourW="12700"/>
          </c:spPr>
          <c:explosion val="0"/>
          <c:dPt>
            <c:idx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  <a:sp3d contourW="12700"/>
            </c:spPr>
          </c:dPt>
          <c:dPt>
            <c:idx val="1"/>
            <c:bubble3D val="0"/>
            <c:spPr>
              <a:solidFill>
                <a:schemeClr val="accent5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  <a:sp3d contourW="12700"/>
            </c:spPr>
          </c:dPt>
          <c:dPt>
            <c:idx val="2"/>
            <c:bubble3D val="0"/>
            <c:spPr>
              <a:solidFill>
                <a:schemeClr val="accent4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  <a:sp3d contourW="12700"/>
            </c:spPr>
          </c:dPt>
          <c:dPt>
            <c:idx val="3"/>
            <c:bubble3D val="0"/>
            <c:spPr>
              <a:solidFill>
                <a:schemeClr val="accent6">
                  <a:lumMod val="60000"/>
                </a:schemeClr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  <a:sp3d contourW="12700"/>
            </c:spPr>
          </c:dPt>
          <c:dPt>
            <c:idx val="4"/>
            <c:bubble3D val="0"/>
            <c:spPr>
              <a:solidFill>
                <a:schemeClr val="accent5">
                  <a:lumMod val="60000"/>
                </a:schemeClr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  <a:sp3d contourW="12700"/>
            </c:spPr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500" b="1" i="0" u="none" strike="noStrike" kern="1200" baseline="0">
                    <a:solidFill>
                      <a:schemeClr val="bg2">
                        <a:lumMod val="10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外部攻击数据看板.xlsx!GSDd</c:f>
              <c:strCache>
                <c:ptCount val="5"/>
                <c:pt idx="0">
                  <c:v>俄罗斯 莫斯科</c:v>
                </c:pt>
                <c:pt idx="1">
                  <c:v>中国 上海市</c:v>
                </c:pt>
                <c:pt idx="2">
                  <c:v>中国 北京市</c:v>
                </c:pt>
                <c:pt idx="3">
                  <c:v>中国 江苏省</c:v>
                </c:pt>
                <c:pt idx="4">
                  <c:v>中国 四川省</c:v>
                </c:pt>
              </c:strCache>
            </c:strRef>
          </c:cat>
          <c:val>
            <c:numRef>
              <c:f>外部攻击数据看板.xlsx!GSDrzs2</c:f>
              <c:numCache>
                <c:formatCode>General</c:formatCode>
                <c:ptCount val="5"/>
                <c:pt idx="0">
                  <c:v>28234</c:v>
                </c:pt>
                <c:pt idx="1">
                  <c:v>10152</c:v>
                </c:pt>
                <c:pt idx="2">
                  <c:v>4883</c:v>
                </c:pt>
                <c:pt idx="3">
                  <c:v>2347</c:v>
                </c:pt>
                <c:pt idx="4">
                  <c:v>1588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277"/>
      </c:pieChart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4"/>
        <c:txPr>
          <a:bodyPr rot="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6888720666162"/>
          <c:y val="0.311075355323143"/>
        </c:manualLayout>
      </c:layout>
      <c:overlay val="0"/>
      <c:spPr>
        <a:solidFill>
          <a:schemeClr val="bg1">
            <a:alpha val="40000"/>
          </a:schemeClr>
        </a:solidFill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500" b="0" i="0" u="none" strike="noStrike" kern="1200" baseline="0">
              <a:solidFill>
                <a:schemeClr val="tx1">
                  <a:lumMod val="95000"/>
                  <a:lumOff val="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163e47df-74a0-40e7-8857-6dbba7596d9c}"/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lang="zh-CN" sz="500">
          <a:solidFill>
            <a:schemeClr val="bg2">
              <a:lumMod val="10000"/>
            </a:schemeClr>
          </a:solidFill>
        </a:defRPr>
      </a:pPr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797798927809734"/>
          <c:y val="0.130366847436346"/>
          <c:w val="0.558263056720128"/>
          <c:h val="0.739266305127308"/>
        </c:manualLayout>
      </c:layout>
      <c:pieChart>
        <c:varyColors val="1"/>
        <c:ser>
          <c:idx val="0"/>
          <c:order val="0"/>
          <c:tx>
            <c:strRef>
              <c:f>[外部攻击数据看板.xlsx]数据填充!$C$1</c:f>
              <c:strCache>
                <c:ptCount val="1"/>
                <c:pt idx="0">
                  <c:v>日志数量</c:v>
                </c:pt>
              </c:strCache>
            </c:strRef>
          </c:tx>
          <c:spPr>
            <a:sp3d contourW="12700"/>
          </c:spPr>
          <c:explosion val="0"/>
          <c:dPt>
            <c:idx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  <a:sp3d contourW="12700"/>
            </c:spPr>
          </c:dPt>
          <c:dPt>
            <c:idx val="1"/>
            <c:bubble3D val="0"/>
            <c:spPr>
              <a:solidFill>
                <a:schemeClr val="accent5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  <a:sp3d contourW="12700"/>
            </c:spPr>
          </c:dPt>
          <c:dPt>
            <c:idx val="2"/>
            <c:bubble3D val="0"/>
            <c:spPr>
              <a:solidFill>
                <a:schemeClr val="accent4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  <a:sp3d contourW="12700"/>
            </c:spPr>
          </c:dPt>
          <c:dPt>
            <c:idx val="3"/>
            <c:bubble3D val="0"/>
            <c:spPr>
              <a:solidFill>
                <a:schemeClr val="accent6">
                  <a:lumMod val="60000"/>
                </a:schemeClr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  <a:sp3d contourW="12700"/>
            </c:spPr>
          </c:dPt>
          <c:dPt>
            <c:idx val="4"/>
            <c:bubble3D val="0"/>
            <c:spPr>
              <a:solidFill>
                <a:schemeClr val="accent5">
                  <a:lumMod val="60000"/>
                </a:schemeClr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  <a:sp3d contourW="12700"/>
            </c:spPr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5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外部攻击数据看板.xlsx!WXLXX</c:f>
              <c:strCache>
                <c:ptCount val="5"/>
                <c:pt idx="0">
                  <c:v>弱口令</c:v>
                </c:pt>
                <c:pt idx="1">
                  <c:v>远控行为</c:v>
                </c:pt>
                <c:pt idx="2">
                  <c:v>端口转发</c:v>
                </c:pt>
                <c:pt idx="3">
                  <c:v>代码注入</c:v>
                </c:pt>
                <c:pt idx="4">
                  <c:v>账号爆破</c:v>
                </c:pt>
              </c:strCache>
            </c:strRef>
          </c:cat>
          <c:val>
            <c:numRef>
              <c:f>外部攻击数据看板.xlsx!WXLXXrzs</c:f>
              <c:numCache>
                <c:formatCode>General</c:formatCode>
                <c:ptCount val="5"/>
                <c:pt idx="0">
                  <c:v>27410</c:v>
                </c:pt>
                <c:pt idx="1">
                  <c:v>6138</c:v>
                </c:pt>
                <c:pt idx="2">
                  <c:v>5734</c:v>
                </c:pt>
                <c:pt idx="3">
                  <c:v>3751</c:v>
                </c:pt>
                <c:pt idx="4">
                  <c:v>2444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277"/>
      </c:pieChart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4"/>
        <c:txPr>
          <a:bodyPr rot="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solidFill>
          <a:schemeClr val="bg1">
            <a:alpha val="40000"/>
          </a:schemeClr>
        </a:solidFill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500" b="0" i="0" u="none" strike="noStrike" kern="1200" baseline="0">
              <a:solidFill>
                <a:schemeClr val="tx1">
                  <a:lumMod val="95000"/>
                  <a:lumOff val="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b460e45c-db7b-49c4-bfeb-8b3e7b20519f}"/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lang="zh-CN" sz="500">
          <a:solidFill>
            <a:schemeClr val="tx1">
              <a:lumMod val="95000"/>
              <a:lumOff val="5000"/>
            </a:schemeClr>
          </a:solidFill>
        </a:defRPr>
      </a:pPr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doughnutChart>
        <c:varyColors val="1"/>
        <c:ser>
          <c:idx val="0"/>
          <c:order val="0"/>
          <c:spPr/>
          <c:explosion val="0"/>
          <c:dPt>
            <c:idx val="0"/>
            <c:bubble3D val="0"/>
            <c:spPr>
              <a:solidFill>
                <a:srgbClr val="70AD47"/>
              </a:solidFill>
              <a:ln>
                <a:solidFill>
                  <a:srgbClr val="FFFFFF"/>
                </a:solidFill>
              </a:ln>
              <a:effectLst/>
            </c:spPr>
          </c:dPt>
          <c:dPt>
            <c:idx val="1"/>
            <c:bubble3D val="0"/>
            <c:spPr>
              <a:solidFill>
                <a:srgbClr val="5B9BD5"/>
              </a:solidFill>
              <a:ln>
                <a:solidFill>
                  <a:srgbClr val="FFFFFF"/>
                </a:solidFill>
              </a:ln>
              <a:effectLst/>
            </c:spPr>
          </c:dPt>
          <c:dPt>
            <c:idx val="2"/>
            <c:bubble3D val="0"/>
            <c:spPr>
              <a:solidFill>
                <a:srgbClr val="FFC000"/>
              </a:solidFill>
              <a:ln>
                <a:solidFill>
                  <a:srgbClr val="FFFFFF"/>
                </a:solidFill>
              </a:ln>
              <a:effectLst/>
            </c:spPr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000000"/>
                    </a:solidFill>
                    <a:latin typeface="黑体-简" panose="02000000000000000000" charset="-122"/>
                    <a:ea typeface="黑体-简" panose="02000000000000000000" charset="-122"/>
                    <a:cs typeface="黑体-简" panose="02000000000000000000" charset="-122"/>
                    <a:sym typeface="黑体-简" panose="02000000000000000000" charset="-122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rgbClr val="000000">
                          <a:lumMod val="35000"/>
                          <a:lumOff val="65000"/>
                        </a:srgb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'[很多鱼安全运营工作报告-20250801.xlsx]数据统计'!$C$88:$C$90</c:f>
              <c:strCache>
                <c:ptCount val="3"/>
                <c:pt idx="0">
                  <c:v>高危漏洞</c:v>
                </c:pt>
                <c:pt idx="1">
                  <c:v>中危漏洞</c:v>
                </c:pt>
                <c:pt idx="2">
                  <c:v>低危漏洞</c:v>
                </c:pt>
              </c:strCache>
            </c:strRef>
          </c:cat>
          <c:val>
            <c:numRef>
              <c:f>'[很多鱼安全运营工作报告-20250801.xlsx]数据统计'!$D$88:$D$90</c:f>
              <c:numCache>
                <c:formatCode>General</c:formatCode>
                <c:ptCount val="3"/>
                <c:pt idx="0">
                  <c:v>2537</c:v>
                </c:pt>
                <c:pt idx="1">
                  <c:v>3633</c:v>
                </c:pt>
                <c:pt idx="2">
                  <c:v>3284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000000"/>
                </a:solidFill>
                <a:latin typeface="黑体-简" panose="02000000000000000000" charset="-122"/>
                <a:ea typeface="黑体-简" panose="02000000000000000000" charset="-122"/>
                <a:cs typeface="黑体-简" panose="02000000000000000000" charset="-122"/>
                <a:sym typeface="黑体-简" panose="02000000000000000000" charset="-122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000000"/>
                </a:solidFill>
                <a:latin typeface="黑体-简" panose="02000000000000000000" charset="-122"/>
                <a:ea typeface="黑体-简" panose="02000000000000000000" charset="-122"/>
                <a:cs typeface="黑体-简" panose="02000000000000000000" charset="-122"/>
                <a:sym typeface="黑体-简" panose="02000000000000000000" charset="-122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000000"/>
                </a:solidFill>
                <a:latin typeface="黑体-简" panose="02000000000000000000" charset="-122"/>
                <a:ea typeface="黑体-简" panose="02000000000000000000" charset="-122"/>
                <a:cs typeface="黑体-简" panose="02000000000000000000" charset="-122"/>
                <a:sym typeface="黑体-简" panose="02000000000000000000" charset="-122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 forceAA="0"/>
        <a:lstStyle/>
        <a:p>
          <a:pPr>
            <a:defRPr lang="zh-CN" sz="800" b="0" i="0" u="none" strike="noStrike" kern="1200" baseline="0">
              <a:solidFill>
                <a:srgbClr val="000000"/>
              </a:solidFill>
              <a:latin typeface="黑体-简" panose="02000000000000000000" charset="-122"/>
              <a:ea typeface="黑体-简" panose="02000000000000000000" charset="-122"/>
              <a:cs typeface="黑体-简" panose="02000000000000000000" charset="-122"/>
              <a:sym typeface="黑体-简" panose="02000000000000000000" charset="-122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9b4eb4ca-8447-4d31-b2b3-4ab8ba42068e}"/>
      </c:ext>
    </c:extLst>
  </c:chart>
  <c:spPr>
    <a:solidFill>
      <a:srgbClr val="4472C4">
        <a:lumMod val="20000"/>
        <a:lumOff val="80000"/>
      </a:srgbClr>
    </a:solidFill>
    <a:ln w="6350" cap="flat" cmpd="sng" algn="ctr">
      <a:noFill/>
      <a:round/>
    </a:ln>
    <a:effectLst/>
  </c:spPr>
  <c:txPr>
    <a:bodyPr/>
    <a:lstStyle/>
    <a:p>
      <a:pPr>
        <a:defRPr lang="zh-CN" sz="800">
          <a:solidFill>
            <a:srgbClr val="000000"/>
          </a:solidFill>
          <a:latin typeface="黑体-简" panose="02000000000000000000" charset="-122"/>
          <a:ea typeface="黑体-简" panose="02000000000000000000" charset="-122"/>
          <a:cs typeface="黑体-简" panose="02000000000000000000" charset="-122"/>
          <a:sym typeface="黑体-简" panose="02000000000000000000" charset="-122"/>
        </a:defRPr>
      </a:pPr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'[AI报告支撑数据模板（ 保存本地修改文件名称后再编辑，不要在微盘直接编辑）.xlsx]数据统计'!$B$78</c:f>
              <c:strCache>
                <c:ptCount val="1"/>
                <c:pt idx="0">
                  <c:v>剩余漏洞数量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黑体-简" panose="02000000000000000000" charset="-122"/>
                    <a:ea typeface="黑体-简" panose="02000000000000000000" charset="-122"/>
                    <a:cs typeface="黑体-简" panose="02000000000000000000" charset="-122"/>
                    <a:sym typeface="黑体-简" panose="02000000000000000000" charset="-122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'[AI报告支撑数据模板（ 保存本地修改文件名称后再编辑，不要在微盘直接编辑）.xlsx]数据统计'!$C$77:$N$77</c:f>
              <c:strCache>
                <c:ptCount val="12"/>
                <c:pt idx="0">
                  <c:v>2025-08</c:v>
                </c:pt>
                <c:pt idx="1" c:formatCode="yyyy/m/d">
                  <c:v>2025-09</c:v>
                </c:pt>
                <c:pt idx="2" c:formatCode="yyyy/m/d">
                  <c:v>2025-10</c:v>
                </c:pt>
                <c:pt idx="3" c:formatCode="yyyy/m/d">
                  <c:v>2025-11</c:v>
                </c:pt>
                <c:pt idx="4" c:formatCode="yyyy/m/d">
                  <c:v>2025-12</c:v>
                </c:pt>
                <c:pt idx="5" c:formatCode="yyyy/m/d">
                  <c:v>2026-01</c:v>
                </c:pt>
                <c:pt idx="6" c:formatCode="yyyy/m/d">
                  <c:v>2026-02</c:v>
                </c:pt>
                <c:pt idx="7" c:formatCode="yyyy/m/d">
                  <c:v>2026-03</c:v>
                </c:pt>
                <c:pt idx="8" c:formatCode="yyyy/m/d">
                  <c:v>2026-04</c:v>
                </c:pt>
                <c:pt idx="9" c:formatCode="yyyy/m/d">
                  <c:v>2026-05</c:v>
                </c:pt>
                <c:pt idx="10" c:formatCode="yyyy/m/d">
                  <c:v>2026-06</c:v>
                </c:pt>
                <c:pt idx="11" c:formatCode="yyyy/m/d">
                  <c:v>2026-07</c:v>
                </c:pt>
              </c:strCache>
            </c:strRef>
          </c:cat>
          <c:val>
            <c:numRef>
              <c:f>'[AI报告支撑数据模板（ 保存本地修改文件名称后再编辑，不要在微盘直接编辑）.xlsx]数据统计'!$C$78:$N$78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8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'[AI报告支撑数据模板（ 保存本地修改文件名称后再编辑，不要在微盘直接编辑）.xlsx]数据统计'!$B$79</c:f>
              <c:strCache>
                <c:ptCount val="1"/>
                <c:pt idx="0">
                  <c:v>已闭环漏洞数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黑体-简" panose="02000000000000000000" charset="-122"/>
                    <a:ea typeface="黑体-简" panose="02000000000000000000" charset="-122"/>
                    <a:cs typeface="黑体-简" panose="02000000000000000000" charset="-122"/>
                    <a:sym typeface="黑体-简" panose="02000000000000000000" charset="-122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'[AI报告支撑数据模板（ 保存本地修改文件名称后再编辑，不要在微盘直接编辑）.xlsx]数据统计'!$C$77:$N$77</c:f>
              <c:strCache>
                <c:ptCount val="12"/>
                <c:pt idx="0">
                  <c:v>2025-08</c:v>
                </c:pt>
                <c:pt idx="1" c:formatCode="yyyy/m/d">
                  <c:v>2025-09</c:v>
                </c:pt>
                <c:pt idx="2" c:formatCode="yyyy/m/d">
                  <c:v>2025-10</c:v>
                </c:pt>
                <c:pt idx="3" c:formatCode="yyyy/m/d">
                  <c:v>2025-11</c:v>
                </c:pt>
                <c:pt idx="4" c:formatCode="yyyy/m/d">
                  <c:v>2025-12</c:v>
                </c:pt>
                <c:pt idx="5" c:formatCode="yyyy/m/d">
                  <c:v>2026-01</c:v>
                </c:pt>
                <c:pt idx="6" c:formatCode="yyyy/m/d">
                  <c:v>2026-02</c:v>
                </c:pt>
                <c:pt idx="7" c:formatCode="yyyy/m/d">
                  <c:v>2026-03</c:v>
                </c:pt>
                <c:pt idx="8" c:formatCode="yyyy/m/d">
                  <c:v>2026-04</c:v>
                </c:pt>
                <c:pt idx="9" c:formatCode="yyyy/m/d">
                  <c:v>2026-05</c:v>
                </c:pt>
                <c:pt idx="10" c:formatCode="yyyy/m/d">
                  <c:v>2026-06</c:v>
                </c:pt>
                <c:pt idx="11" c:formatCode="yyyy/m/d">
                  <c:v>2026-07</c:v>
                </c:pt>
              </c:strCache>
            </c:strRef>
          </c:cat>
          <c:val>
            <c:numRef>
              <c:f>'[AI报告支撑数据模板（ 保存本地修改文件名称后再编辑，不要在微盘直接编辑）.xlsx]数据统计'!$C$79:$N$79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0"/>
        <c:smooth val="0"/>
        <c:axId val="829985891"/>
        <c:axId val="617127009"/>
      </c:lineChart>
      <c:dateAx>
        <c:axId val="829985891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 forceAA="0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黑体-简" panose="02000000000000000000" charset="-122"/>
                <a:ea typeface="黑体-简" panose="02000000000000000000" charset="-122"/>
                <a:cs typeface="黑体-简" panose="02000000000000000000" charset="-122"/>
                <a:sym typeface="黑体-简" panose="02000000000000000000" charset="-122"/>
              </a:defRPr>
            </a:pPr>
          </a:p>
        </c:txPr>
        <c:crossAx val="617127009"/>
        <c:crosses val="autoZero"/>
        <c:auto val="1"/>
        <c:lblAlgn val="ctr"/>
        <c:lblOffset val="100"/>
        <c:baseTimeUnit val="days"/>
      </c:dateAx>
      <c:valAx>
        <c:axId val="617127009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黑体-简" panose="02000000000000000000" charset="-122"/>
                <a:ea typeface="黑体-简" panose="02000000000000000000" charset="-122"/>
                <a:cs typeface="黑体-简" panose="02000000000000000000" charset="-122"/>
                <a:sym typeface="黑体-简" panose="02000000000000000000" charset="-122"/>
              </a:defRPr>
            </a:pPr>
          </a:p>
        </c:txPr>
        <c:crossAx val="82998589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黑体-简" panose="02000000000000000000" charset="-122"/>
                <a:ea typeface="黑体-简" panose="02000000000000000000" charset="-122"/>
                <a:cs typeface="黑体-简" panose="02000000000000000000" charset="-122"/>
                <a:sym typeface="黑体-简" panose="02000000000000000000" charset="-122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黑体-简" panose="02000000000000000000" charset="-122"/>
                <a:ea typeface="黑体-简" panose="02000000000000000000" charset="-122"/>
                <a:cs typeface="黑体-简" panose="02000000000000000000" charset="-122"/>
                <a:sym typeface="黑体-简" panose="02000000000000000000" charset="-122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黑体-简" panose="02000000000000000000" charset="-122"/>
              <a:ea typeface="黑体-简" panose="02000000000000000000" charset="-122"/>
              <a:cs typeface="黑体-简" panose="02000000000000000000" charset="-122"/>
              <a:sym typeface="黑体-简" panose="02000000000000000000" charset="-122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102df013-bc02-4b13-9b33-920f674e959c}"/>
      </c:ext>
    </c:extLst>
  </c:chart>
  <c:spPr>
    <a:solidFill>
      <a:schemeClr val="accent6">
        <a:lumMod val="20000"/>
        <a:lumOff val="80000"/>
      </a:schemeClr>
    </a:solidFill>
    <a:ln w="9525" cap="flat" cmpd="sng" algn="ctr">
      <a:noFill/>
      <a:round/>
    </a:ln>
    <a:effectLst/>
  </c:spPr>
  <c:txPr>
    <a:bodyPr/>
    <a:lstStyle/>
    <a:p>
      <a:pPr>
        <a:defRPr lang="zh-CN">
          <a:latin typeface="黑体-简" panose="02000000000000000000" charset="-122"/>
          <a:ea typeface="黑体-简" panose="02000000000000000000" charset="-122"/>
          <a:cs typeface="黑体-简" panose="02000000000000000000" charset="-122"/>
          <a:sym typeface="黑体-简" panose="02000000000000000000" charset="-122"/>
        </a:defRPr>
      </a:pPr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"日均攻击数"</c:f>
              <c:strCache>
                <c:ptCount val="1"/>
                <c:pt idx="0">
                  <c:v>日均攻击数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500" b="0" i="0" u="none" strike="noStrike" kern="1200" baseline="0">
                    <a:solidFill>
                      <a:schemeClr val="bg2">
                        <a:lumMod val="10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'[很多鱼安全运营工作报告-20250801.xlsx]数据统计'!$C$89:$C$95</c:f>
              <c:strCache>
                <c:ptCount val="7"/>
                <c:pt idx="0">
                  <c:v>中秋（24/9/15-9/17）</c:v>
                </c:pt>
                <c:pt idx="1">
                  <c:v>国庆（24/10/1-10/7）</c:v>
                </c:pt>
                <c:pt idx="2">
                  <c:v>元旦（25/1/1）</c:v>
                </c:pt>
                <c:pt idx="3">
                  <c:v>春节（25/1/23-2/5）</c:v>
                </c:pt>
                <c:pt idx="4">
                  <c:v>清明（25/4/4-4/6）</c:v>
                </c:pt>
                <c:pt idx="5">
                  <c:v>五一（25/5/1-5/5）</c:v>
                </c:pt>
                <c:pt idx="6">
                  <c:v>端午（25/5/31-6/2）</c:v>
                </c:pt>
              </c:strCache>
            </c:strRef>
          </c:cat>
          <c:val>
            <c:numRef>
              <c:f>'[很多鱼安全运营工作报告-20250801.xlsx]数据统计'!$D$89:$D$95</c:f>
              <c:numCache>
                <c:formatCode>General</c:formatCode>
                <c:ptCount val="7"/>
                <c:pt idx="0">
                  <c:v>9623</c:v>
                </c:pt>
                <c:pt idx="1">
                  <c:v>28655</c:v>
                </c:pt>
                <c:pt idx="2">
                  <c:v>3461</c:v>
                </c:pt>
                <c:pt idx="3">
                  <c:v>16440</c:v>
                </c:pt>
                <c:pt idx="4">
                  <c:v>2238</c:v>
                </c:pt>
                <c:pt idx="5">
                  <c:v>7218</c:v>
                </c:pt>
                <c:pt idx="6">
                  <c:v>5570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52361593"/>
        <c:axId val="478519395"/>
      </c:barChart>
      <c:lineChart>
        <c:grouping val="standard"/>
        <c:varyColors val="0"/>
        <c:ser>
          <c:idx val="1"/>
          <c:order val="1"/>
          <c:tx>
            <c:strRef>
              <c:f>"防御率"</c:f>
              <c:strCache>
                <c:ptCount val="1"/>
                <c:pt idx="0">
                  <c:v>防御率</c:v>
                </c:pt>
              </c:strCache>
            </c:strRef>
          </c:tx>
          <c:spPr>
            <a:ln w="28575" cap="rnd">
              <a:solidFill>
                <a:srgbClr val="00D860"/>
              </a:solidFill>
              <a:round/>
            </a:ln>
            <a:effectLst/>
          </c:spPr>
          <c:marker>
            <c:symbol val="none"/>
          </c:marker>
          <c:dLbls>
            <c:delete val="1"/>
          </c:dLbls>
          <c:cat>
            <c:strRef>
              <c:f>'[很多鱼安全运营工作报告-20250801.xlsx]数据统计'!$C$89:$C$95</c:f>
              <c:strCache>
                <c:ptCount val="7"/>
                <c:pt idx="0">
                  <c:v>中秋（24/9/15-9/17）</c:v>
                </c:pt>
                <c:pt idx="1">
                  <c:v>国庆（24/10/1-10/7）</c:v>
                </c:pt>
                <c:pt idx="2">
                  <c:v>元旦（25/1/1）</c:v>
                </c:pt>
                <c:pt idx="3">
                  <c:v>春节（25/1/23-2/5）</c:v>
                </c:pt>
                <c:pt idx="4">
                  <c:v>清明（25/4/4-4/6）</c:v>
                </c:pt>
                <c:pt idx="5">
                  <c:v>五一（25/5/1-5/5）</c:v>
                </c:pt>
                <c:pt idx="6">
                  <c:v>端午（25/5/31-6/2）</c:v>
                </c:pt>
              </c:strCache>
            </c:strRef>
          </c:cat>
          <c:val>
            <c:numRef>
              <c:f>'[很多鱼安全运营工作报告-20250801.xlsx]数据统计'!$E$89:$E$95</c:f>
              <c:numCache>
                <c:formatCode>0%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0"/>
        <c:smooth val="0"/>
        <c:axId val="725296953"/>
        <c:axId val="406196429"/>
      </c:lineChart>
      <c:catAx>
        <c:axId val="452361593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78519395"/>
        <c:crosses val="autoZero"/>
        <c:auto val="1"/>
        <c:lblAlgn val="ctr"/>
        <c:lblOffset val="100"/>
        <c:noMultiLvlLbl val="0"/>
      </c:catAx>
      <c:valAx>
        <c:axId val="478519395"/>
        <c:scaling>
          <c:orientation val="minMax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52361593"/>
        <c:crosses val="autoZero"/>
        <c:crossBetween val="between"/>
      </c:valAx>
      <c:catAx>
        <c:axId val="725296953"/>
        <c:scaling>
          <c:orientation val="minMax"/>
        </c:scaling>
        <c:delete val="1"/>
        <c:axPos val="b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06196429"/>
        <c:crosses val="autoZero"/>
        <c:auto val="1"/>
        <c:lblAlgn val="ctr"/>
        <c:lblOffset val="100"/>
        <c:noMultiLvlLbl val="0"/>
      </c:catAx>
      <c:valAx>
        <c:axId val="406196429"/>
        <c:scaling>
          <c:orientation val="minMax"/>
        </c:scaling>
        <c:delete val="0"/>
        <c:axPos val="r"/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725296953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500" b="0" i="0" u="none" strike="noStrike" kern="1200" baseline="0">
              <a:solidFill>
                <a:schemeClr val="bg2">
                  <a:lumMod val="10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026f24e-bb0f-4c4d-9956-999e3625512c}"/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lang="zh-CN" sz="500">
          <a:solidFill>
            <a:schemeClr val="bg2">
              <a:lumMod val="10000"/>
            </a:schemeClr>
          </a:solidFill>
        </a:defRPr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100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noFill/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1002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0">
      <cs:styleClr val="auto"/>
    </cs:fillRef>
    <cs:effectRef idx="0"/>
    <cs:fontRef idx="minor">
      <a:schemeClr val="dk1"/>
    </cs:fontRef>
    <cs:spPr>
      <a:ln w="28575" cap="rnd">
        <a:solidFill>
          <a:schemeClr val="phClr"/>
        </a:solidFill>
        <a:round/>
      </a:ln>
      <a:effectLst/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1002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0">
      <cs:styleClr val="auto"/>
    </cs:fillRef>
    <cs:effectRef idx="0"/>
    <cs:fontRef idx="minor">
      <a:schemeClr val="dk1"/>
    </cs:fontRef>
    <cs:spPr>
      <a:ln w="28575" cap="rnd">
        <a:solidFill>
          <a:schemeClr val="phClr"/>
        </a:solidFill>
        <a:round/>
      </a:ln>
      <a:effectLst/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100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noFill/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3">
  <cs:axisTitle>
    <cs:lnRef idx="0"/>
    <cs:fillRef idx="0"/>
    <cs:effectRef idx="0"/>
    <cs:fontRef idx="minor">
      <a:schemeClr val="dk1">
        <a:lumMod val="75000"/>
        <a:lumOff val="25000"/>
      </a:schemeClr>
    </cs:fontRef>
    <cs:defRPr sz="900" b="1" kern="1200"/>
  </cs:axisTitle>
  <cs:categoryAxis>
    <cs:lnRef idx="0"/>
    <cs:fillRef idx="0"/>
    <cs:effectRef idx="0"/>
    <cs:fontRef idx="minor">
      <a:schemeClr val="dk1">
        <a:lumMod val="75000"/>
        <a:lumOff val="25000"/>
      </a:schemeClr>
    </cs:fontRef>
    <cs:spPr>
      <a:ln w="190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900" kern="1200" cap="all" baseline="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lt1"/>
          </a:gs>
          <a:gs pos="39000">
            <a:schemeClr val="lt1"/>
          </a:gs>
          <a:gs pos="100000">
            <a:schemeClr val="lt1">
              <a:lumMod val="75000"/>
            </a:schemeClr>
          </a:gs>
        </a:gsLst>
        <a:path path="circle">
          <a:fillToRect l="50000" t="-80000" r="50000" b="180000"/>
        </a:path>
      </a:gradFill>
      <a:ln w="9525" cap="flat" cmpd="sng" algn="ctr">
        <a:solidFill>
          <a:schemeClr val="dk1">
            <a:lumMod val="25000"/>
            <a:lumOff val="7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lt1"/>
    </cs:fontRef>
    <cs:spPr>
      <a:pattFill prst="pct75">
        <a:fgClr>
          <a:schemeClr val="dk1">
            <a:lumMod val="75000"/>
            <a:lumOff val="25000"/>
          </a:schemeClr>
        </a:fgClr>
        <a:bgClr>
          <a:schemeClr val="dk1">
            <a:lumMod val="65000"/>
            <a:lumOff val="35000"/>
          </a:schemeClr>
        </a:bgClr>
      </a:pattFill>
      <a:effectLst>
        <a:outerShdw blurRad="50800" dist="38100" dir="2700000" algn="tl" rotWithShape="0">
          <a:prstClr val="black">
            <a:alpha val="40000"/>
          </a:prstClr>
        </a:outerShdw>
      </a:effectLst>
    </cs:spPr>
    <cs:defRPr sz="1000" b="1" i="0" u="none" strike="noStrike" kern="1200" baseline="0"/>
  </cs:dataLabel>
  <cs:dataLabelCallout>
    <cs:lnRef idx="0"/>
    <cs:fillRef idx="0"/>
    <cs:effectRef idx="0"/>
    <cs:fontRef idx="minor">
      <a:schemeClr val="lt1"/>
    </cs:fontRef>
    <cs:spPr>
      <a:pattFill prst="pct75">
        <a:fgClr>
          <a:schemeClr val="dk1">
            <a:lumMod val="75000"/>
            <a:lumOff val="25000"/>
          </a:schemeClr>
        </a:fgClr>
        <a:bgClr>
          <a:schemeClr val="dk1">
            <a:lumMod val="65000"/>
            <a:lumOff val="35000"/>
          </a:schemeClr>
        </a:bgClr>
      </a:pattFill>
      <a:effectLst>
        <a:outerShdw blurRad="50800" dist="38100" dir="2700000" algn="tl" rotWithShape="0">
          <a:prstClr val="black">
            <a:alpha val="40000"/>
          </a:prstClr>
        </a:outerShdw>
      </a:effectLst>
    </cs:spPr>
    <cs:defRPr sz="1000" b="1" i="0" u="none" strike="noStrike" kern="1200" baseline="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254000" sx="102000" sy="102000" algn="ctr" rotWithShape="0">
          <a:prstClr val="black">
            <a:alpha val="20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254000" sx="102000" sy="102000" algn="ctr" rotWithShape="0">
          <a:prstClr val="black">
            <a:alpha val="20000"/>
          </a:prstClr>
        </a:outerShdw>
      </a:effectLst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31750" cap="rnd">
        <a:solidFill>
          <a:schemeClr val="phClr">
            <a:alpha val="85000"/>
          </a:schemeClr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85000"/>
        </a:schemeClr>
      </a:solidFill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75000"/>
        <a:lumOff val="25000"/>
      </a:schemeClr>
    </cs:fontRef>
    <cs:spPr>
      <a:ln w="9525">
        <a:solidFill>
          <a:schemeClr val="dk1">
            <a:lumMod val="35000"/>
            <a:lumOff val="6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50000"/>
          <a:lumOff val="50000"/>
        </a:schemeClr>
      </a:solidFill>
      <a:ln w="9525">
        <a:solidFill>
          <a:schemeClr val="dk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dk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</a:ln>
    </cs:spPr>
  </cs:leaderLine>
  <cs:legend>
    <cs:lnRef idx="0"/>
    <cs:fillRef idx="0"/>
    <cs:effectRef idx="0"/>
    <cs:fontRef idx="minor">
      <a:schemeClr val="dk1">
        <a:lumMod val="75000"/>
        <a:lumOff val="25000"/>
      </a:schemeClr>
    </cs:fontRef>
    <cs:spPr>
      <a:solidFill>
        <a:schemeClr val="lt1">
          <a:lumMod val="95000"/>
          <a:alpha val="39000"/>
        </a:schemeClr>
      </a:solidFill>
    </cs:spPr>
    <cs:defRPr sz="900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dk1">
        <a:lumMod val="75000"/>
        <a:lumOff val="25000"/>
      </a:schemeClr>
    </cs:fontRef>
    <cs:spPr>
      <a:ln w="317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seriesLine>
  <cs:title>
    <cs:lnRef idx="0"/>
    <cs:fillRef idx="0"/>
    <cs:effectRef idx="0"/>
    <cs:fontRef idx="minor">
      <a:schemeClr val="dk1">
        <a:lumMod val="75000"/>
        <a:lumOff val="25000"/>
      </a:schemeClr>
    </cs:fontRef>
    <cs:defRPr sz="1800" b="1" kern="120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dk1">
        <a:lumMod val="75000"/>
        <a:lumOff val="2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dk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dk1">
        <a:lumMod val="75000"/>
        <a:lumOff val="25000"/>
      </a:schemeClr>
    </cs:fontRef>
    <cs:spPr>
      <a:ln>
        <a:noFill/>
      </a:ln>
    </cs:spPr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7.xml><?xml version="1.0" encoding="utf-8"?>
<cs:chartStyle xmlns:cs="http://schemas.microsoft.com/office/drawing/2012/chartStyle" xmlns:a="http://schemas.openxmlformats.org/drawingml/2006/main" id="253">
  <cs:axisTitle>
    <cs:lnRef idx="0"/>
    <cs:fillRef idx="0"/>
    <cs:effectRef idx="0"/>
    <cs:fontRef idx="minor">
      <a:schemeClr val="dk1">
        <a:lumMod val="75000"/>
        <a:lumOff val="25000"/>
      </a:schemeClr>
    </cs:fontRef>
    <cs:defRPr sz="900" b="1" kern="1200"/>
  </cs:axisTitle>
  <cs:categoryAxis>
    <cs:lnRef idx="0"/>
    <cs:fillRef idx="0"/>
    <cs:effectRef idx="0"/>
    <cs:fontRef idx="minor">
      <a:schemeClr val="dk1">
        <a:lumMod val="75000"/>
        <a:lumOff val="25000"/>
      </a:schemeClr>
    </cs:fontRef>
    <cs:spPr>
      <a:ln w="190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900" kern="1200" cap="all" baseline="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lt1"/>
          </a:gs>
          <a:gs pos="39000">
            <a:schemeClr val="lt1"/>
          </a:gs>
          <a:gs pos="100000">
            <a:schemeClr val="lt1">
              <a:lumMod val="75000"/>
            </a:schemeClr>
          </a:gs>
        </a:gsLst>
        <a:path path="circle">
          <a:fillToRect l="50000" t="-80000" r="50000" b="180000"/>
        </a:path>
      </a:gradFill>
      <a:ln w="9525" cap="flat" cmpd="sng" algn="ctr">
        <a:solidFill>
          <a:schemeClr val="dk1">
            <a:lumMod val="25000"/>
            <a:lumOff val="7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lt1"/>
    </cs:fontRef>
    <cs:spPr>
      <a:pattFill prst="pct75">
        <a:fgClr>
          <a:schemeClr val="dk1">
            <a:lumMod val="75000"/>
            <a:lumOff val="25000"/>
          </a:schemeClr>
        </a:fgClr>
        <a:bgClr>
          <a:schemeClr val="dk1">
            <a:lumMod val="65000"/>
            <a:lumOff val="35000"/>
          </a:schemeClr>
        </a:bgClr>
      </a:pattFill>
      <a:effectLst>
        <a:outerShdw blurRad="50800" dist="38100" dir="2700000" algn="tl" rotWithShape="0">
          <a:prstClr val="black">
            <a:alpha val="40000"/>
          </a:prstClr>
        </a:outerShdw>
      </a:effectLst>
    </cs:spPr>
    <cs:defRPr sz="1000" b="1" i="0" u="none" strike="noStrike" kern="1200" baseline="0"/>
  </cs:dataLabel>
  <cs:dataLabelCallout>
    <cs:lnRef idx="0"/>
    <cs:fillRef idx="0"/>
    <cs:effectRef idx="0"/>
    <cs:fontRef idx="minor">
      <a:schemeClr val="lt1"/>
    </cs:fontRef>
    <cs:spPr>
      <a:pattFill prst="pct75">
        <a:fgClr>
          <a:schemeClr val="dk1">
            <a:lumMod val="75000"/>
            <a:lumOff val="25000"/>
          </a:schemeClr>
        </a:fgClr>
        <a:bgClr>
          <a:schemeClr val="dk1">
            <a:lumMod val="65000"/>
            <a:lumOff val="35000"/>
          </a:schemeClr>
        </a:bgClr>
      </a:pattFill>
      <a:effectLst>
        <a:outerShdw blurRad="50800" dist="38100" dir="2700000" algn="tl" rotWithShape="0">
          <a:prstClr val="black">
            <a:alpha val="40000"/>
          </a:prstClr>
        </a:outerShdw>
      </a:effectLst>
    </cs:spPr>
    <cs:defRPr sz="1000" b="1" i="0" u="none" strike="noStrike" kern="1200" baseline="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254000" sx="102000" sy="102000" algn="ctr" rotWithShape="0">
          <a:prstClr val="black">
            <a:alpha val="20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254000" sx="102000" sy="102000" algn="ctr" rotWithShape="0">
          <a:prstClr val="black">
            <a:alpha val="20000"/>
          </a:prstClr>
        </a:outerShdw>
      </a:effectLst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31750" cap="rnd">
        <a:solidFill>
          <a:schemeClr val="phClr">
            <a:alpha val="85000"/>
          </a:schemeClr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85000"/>
        </a:schemeClr>
      </a:solidFill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75000"/>
        <a:lumOff val="25000"/>
      </a:schemeClr>
    </cs:fontRef>
    <cs:spPr>
      <a:ln w="9525">
        <a:solidFill>
          <a:schemeClr val="dk1">
            <a:lumMod val="35000"/>
            <a:lumOff val="6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50000"/>
          <a:lumOff val="50000"/>
        </a:schemeClr>
      </a:solidFill>
      <a:ln w="9525">
        <a:solidFill>
          <a:schemeClr val="dk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dk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</a:ln>
    </cs:spPr>
  </cs:leaderLine>
  <cs:legend>
    <cs:lnRef idx="0"/>
    <cs:fillRef idx="0"/>
    <cs:effectRef idx="0"/>
    <cs:fontRef idx="minor">
      <a:schemeClr val="dk1">
        <a:lumMod val="75000"/>
        <a:lumOff val="25000"/>
      </a:schemeClr>
    </cs:fontRef>
    <cs:spPr>
      <a:solidFill>
        <a:schemeClr val="lt1">
          <a:lumMod val="95000"/>
          <a:alpha val="39000"/>
        </a:schemeClr>
      </a:solidFill>
    </cs:spPr>
    <cs:defRPr sz="900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dk1">
        <a:lumMod val="75000"/>
        <a:lumOff val="25000"/>
      </a:schemeClr>
    </cs:fontRef>
    <cs:spPr>
      <a:ln w="317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seriesLine>
  <cs:title>
    <cs:lnRef idx="0"/>
    <cs:fillRef idx="0"/>
    <cs:effectRef idx="0"/>
    <cs:fontRef idx="minor">
      <a:schemeClr val="dk1">
        <a:lumMod val="75000"/>
        <a:lumOff val="25000"/>
      </a:schemeClr>
    </cs:fontRef>
    <cs:defRPr sz="1800" b="1" kern="120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dk1">
        <a:lumMod val="75000"/>
        <a:lumOff val="2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dk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dk1">
        <a:lumMod val="75000"/>
        <a:lumOff val="25000"/>
      </a:schemeClr>
    </cs:fontRef>
    <cs:spPr>
      <a:ln>
        <a:noFill/>
      </a:ln>
    </cs:spPr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8.xml><?xml version="1.0" encoding="utf-8"?>
<cs:chartStyle xmlns:cs="http://schemas.microsoft.com/office/drawing/2012/chartStyle" xmlns:a="http://schemas.openxmlformats.org/drawingml/2006/main" id="10109">
  <cs:axisTitle>
    <cs:lnRef idx="0"/>
    <cs:fillRef idx="0"/>
    <cs:effectRef idx="0"/>
    <cs:fontRef idx="minor">
      <a:srgbClr val="000000">
        <a:lumMod val="65000"/>
        <a:lumOff val="35000"/>
      </a:srgbClr>
    </cs:fontRef>
    <cs:defRPr sz="1000" kern="1200"/>
  </cs:axisTitle>
  <cs:categoryAxis>
    <cs:lnRef idx="0"/>
    <cs:fillRef idx="0"/>
    <cs:effectRef idx="0"/>
    <cs:fontRef idx="minor">
      <a:srgbClr val="000000">
        <a:lumMod val="65000"/>
        <a:lumOff val="35000"/>
      </a:srgbClr>
    </cs:fontRef>
    <cs:spPr>
      <a:ln w="9525" cap="flat" cmpd="sng" algn="ctr">
        <a:solidFill>
          <a:srgbClr val="000000">
            <a:lumMod val="15000"/>
            <a:lumOff val="85000"/>
          </a:srgb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rgbClr val="000000"/>
    </cs:fontRef>
    <cs:spPr>
      <a:solidFill>
        <a:srgbClr val="FFFFFF"/>
      </a:solidFill>
      <a:ln w="9525" cap="flat" cmpd="sng" algn="ctr">
        <a:solidFill>
          <a:srgbClr val="000000">
            <a:lumMod val="15000"/>
            <a:lumOff val="85000"/>
          </a:srgbClr>
        </a:solidFill>
        <a:round/>
      </a:ln>
    </cs:spPr>
    <cs:defRPr sz="900" kern="1200"/>
  </cs:chartArea>
  <cs:dataLabel>
    <cs:lnRef idx="0"/>
    <cs:fillRef idx="0"/>
    <cs:effectRef idx="0"/>
    <cs:fontRef idx="minor">
      <a:srgbClr val="000000">
        <a:lumMod val="75000"/>
        <a:lumOff val="25000"/>
      </a:srgbClr>
    </cs:fontRef>
    <cs:defRPr sz="1000" kern="1200"/>
  </cs:dataLabel>
  <cs:dataLabelCallout>
    <cs:lnRef idx="0"/>
    <cs:fillRef idx="0"/>
    <cs:effectRef idx="0"/>
    <cs:fontRef idx="minor">
      <a:srgbClr val="000000">
        <a:lumMod val="65000"/>
        <a:lumOff val="35000"/>
      </a:srgbClr>
    </cs:fontRef>
    <cs:spPr>
      <a:solidFill>
        <a:srgbClr val="FFFFFF"/>
      </a:solidFill>
      <a:ln>
        <a:solidFill>
          <a:srgbClr val="000000">
            <a:lumMod val="25000"/>
            <a:lumOff val="75000"/>
          </a:srgb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rgbClr val="000000"/>
    </cs:fontRef>
    <cs:spPr>
      <a:ln>
        <a:solidFill>
          <a:srgbClr val="FFFFFF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rgbClr val="000000"/>
    </cs:fontRef>
    <cs:spPr>
      <a:ln w="25400">
        <a:solidFill>
          <a:srgbClr val="FFFFFF"/>
        </a:solidFill>
      </a:ln>
    </cs:spPr>
  </cs:dataPoint3D>
  <cs:dataPointLine>
    <cs:lnRef idx="0">
      <cs:styleClr val="auto"/>
    </cs:lnRef>
    <cs:fillRef idx="0"/>
    <cs:effectRef idx="0"/>
    <cs:fontRef idx="minor">
      <a:srgbClr val="000000"/>
    </cs:fontRef>
    <cs:spPr>
      <a:ln w="28575" cap="rnd">
        <a:solidFill>
          <a:srgbClr val="FFFFFF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rgbClr val="000000"/>
    </cs:fontRef>
    <cs:spPr>
      <a:ln w="9525">
        <a:solidFill>
          <a:srgbClr val="FFFFFF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rgbClr val="000000"/>
    </cs:fontRef>
    <cs:spPr>
      <a:ln w="9525" cap="rnd">
        <a:solidFill>
          <a:srgbClr val="FFFFFF"/>
        </a:solidFill>
        <a:round/>
      </a:ln>
    </cs:spPr>
  </cs:dataPointWireframe>
  <cs:dataTable>
    <cs:lnRef idx="0"/>
    <cs:fillRef idx="0"/>
    <cs:effectRef idx="0"/>
    <cs:fontRef idx="minor">
      <a:srgbClr val="000000">
        <a:lumMod val="65000"/>
        <a:lumOff val="35000"/>
      </a:srgbClr>
    </cs:fontRef>
    <cs:spPr>
      <a:noFill/>
      <a:ln w="9525" cap="flat" cmpd="sng" algn="ctr">
        <a:solidFill>
          <a:srgbClr val="000000">
            <a:lumMod val="15000"/>
            <a:lumOff val="85000"/>
          </a:srgbClr>
        </a:solidFill>
        <a:round/>
      </a:ln>
    </cs:spPr>
    <cs:defRPr sz="900" kern="1200"/>
  </cs:dataTable>
  <cs:downBar>
    <cs:lnRef idx="0"/>
    <cs:fillRef idx="0"/>
    <cs:effectRef idx="0"/>
    <cs:fontRef idx="minor">
      <a:srgbClr val="000000"/>
    </cs:fontRef>
    <cs:spPr>
      <a:solidFill>
        <a:srgbClr val="000000">
          <a:lumMod val="75000"/>
          <a:lumOff val="25000"/>
        </a:srgbClr>
      </a:solidFill>
      <a:ln w="9525" cap="flat" cmpd="sng" algn="ctr">
        <a:solidFill>
          <a:srgbClr val="000000">
            <a:lumMod val="65000"/>
            <a:lumOff val="35000"/>
          </a:srgbClr>
        </a:solidFill>
        <a:round/>
      </a:ln>
    </cs:spPr>
  </cs:downBar>
  <cs:dropLine>
    <cs:lnRef idx="0"/>
    <cs:fillRef idx="0"/>
    <cs:effectRef idx="0"/>
    <cs:fontRef idx="minor">
      <a:srgbClr val="000000"/>
    </cs:fontRef>
    <cs:spPr>
      <a:ln w="9525" cap="flat" cmpd="sng" algn="ctr">
        <a:solidFill>
          <a:srgbClr val="000000">
            <a:lumMod val="35000"/>
            <a:lumOff val="65000"/>
          </a:srgbClr>
        </a:solidFill>
        <a:round/>
      </a:ln>
    </cs:spPr>
  </cs:dropLine>
  <cs:errorBar>
    <cs:lnRef idx="0"/>
    <cs:fillRef idx="0"/>
    <cs:effectRef idx="0"/>
    <cs:fontRef idx="minor">
      <a:srgbClr val="000000"/>
    </cs:fontRef>
    <cs:spPr>
      <a:ln w="9525" cap="flat" cmpd="sng" algn="ctr">
        <a:solidFill>
          <a:srgbClr val="000000">
            <a:lumMod val="65000"/>
            <a:lumOff val="35000"/>
          </a:srgbClr>
        </a:solidFill>
        <a:round/>
      </a:ln>
    </cs:spPr>
  </cs:errorBar>
  <cs:floor>
    <cs:lnRef idx="0"/>
    <cs:fillRef idx="0"/>
    <cs:effectRef idx="0"/>
    <cs:fontRef idx="minor">
      <a:srgbClr val="000000"/>
    </cs:fontRef>
    <cs:spPr>
      <a:noFill/>
      <a:ln>
        <a:noFill/>
      </a:ln>
    </cs:spPr>
  </cs:floor>
  <cs:gridlineMajor>
    <cs:lnRef idx="0"/>
    <cs:fillRef idx="0"/>
    <cs:effectRef idx="0"/>
    <cs:fontRef idx="minor">
      <a:srgbClr val="000000"/>
    </cs:fontRef>
    <cs:spPr>
      <a:ln w="9525" cap="flat" cmpd="sng" algn="ctr">
        <a:solidFill>
          <a:srgbClr val="FFFFFF">
            <a:lumMod val="90200"/>
          </a:srgbClr>
        </a:solidFill>
        <a:round/>
      </a:ln>
    </cs:spPr>
  </cs:gridlineMajor>
  <cs:gridlineMinor>
    <cs:lnRef idx="0"/>
    <cs:fillRef idx="0"/>
    <cs:effectRef idx="0"/>
    <cs:fontRef idx="minor">
      <a:srgbClr val="000000"/>
    </cs:fontRef>
    <cs:spPr>
      <a:ln w="9525" cap="flat" cmpd="sng" algn="ctr">
        <a:solidFill>
          <a:srgbClr val="000000">
            <a:lumMod val="5000"/>
            <a:lumOff val="95000"/>
          </a:srgbClr>
        </a:solidFill>
        <a:round/>
      </a:ln>
    </cs:spPr>
  </cs:gridlineMinor>
  <cs:hiLoLine>
    <cs:lnRef idx="0"/>
    <cs:fillRef idx="0"/>
    <cs:effectRef idx="0"/>
    <cs:fontRef idx="minor">
      <a:srgbClr val="000000"/>
    </cs:fontRef>
    <cs:spPr>
      <a:ln w="9525" cap="flat" cmpd="sng" algn="ctr">
        <a:solidFill>
          <a:srgbClr val="000000">
            <a:lumMod val="50000"/>
            <a:lumOff val="50000"/>
          </a:srgbClr>
        </a:solidFill>
        <a:round/>
      </a:ln>
    </cs:spPr>
  </cs:hiLoLine>
  <cs:leaderLine>
    <cs:lnRef idx="0"/>
    <cs:fillRef idx="0"/>
    <cs:effectRef idx="0"/>
    <cs:fontRef idx="minor">
      <a:srgbClr val="000000"/>
    </cs:fontRef>
    <cs:spPr>
      <a:ln w="9525" cap="flat" cmpd="sng" algn="ctr">
        <a:solidFill>
          <a:srgbClr val="000000">
            <a:lumMod val="35000"/>
            <a:lumOff val="65000"/>
          </a:srgbClr>
        </a:solidFill>
        <a:round/>
      </a:ln>
    </cs:spPr>
  </cs:leaderLine>
  <cs:legend>
    <cs:lnRef idx="0"/>
    <cs:fillRef idx="0"/>
    <cs:effectRef idx="0"/>
    <cs:fontRef idx="minor">
      <a:srgbClr val="000000">
        <a:lumMod val="65000"/>
        <a:lumOff val="35000"/>
      </a:srgbClr>
    </cs:fontRef>
    <cs:defRPr sz="900" kern="1200"/>
  </cs:legend>
  <cs:plotArea mods="allowNoFillOverride allowNoLineOverride">
    <cs:lnRef idx="0"/>
    <cs:fillRef idx="0"/>
    <cs:effectRef idx="0"/>
    <cs:fontRef idx="minor">
      <a:srgbClr val="000000"/>
    </cs:fontRef>
  </cs:plotArea>
  <cs:plotArea3D mods="allowNoFillOverride allowNoLineOverride">
    <cs:lnRef idx="0"/>
    <cs:fillRef idx="0"/>
    <cs:effectRef idx="0"/>
    <cs:fontRef idx="minor">
      <a:srgbClr val="000000"/>
    </cs:fontRef>
  </cs:plotArea3D>
  <cs:seriesAxis>
    <cs:lnRef idx="0"/>
    <cs:fillRef idx="0"/>
    <cs:effectRef idx="0"/>
    <cs:fontRef idx="minor">
      <a:srgbClr val="000000">
        <a:lumMod val="65000"/>
        <a:lumOff val="35000"/>
      </a:srgbClr>
    </cs:fontRef>
    <cs:defRPr sz="900" kern="1200"/>
  </cs:seriesAxis>
  <cs:seriesLine>
    <cs:lnRef idx="0"/>
    <cs:fillRef idx="0"/>
    <cs:effectRef idx="0"/>
    <cs:fontRef idx="minor">
      <a:srgbClr val="000000"/>
    </cs:fontRef>
    <cs:spPr>
      <a:ln w="9525" cap="flat" cmpd="sng" algn="ctr">
        <a:solidFill>
          <a:srgbClr val="000000">
            <a:lumMod val="35000"/>
            <a:lumOff val="65000"/>
          </a:srgbClr>
        </a:solidFill>
        <a:round/>
      </a:ln>
    </cs:spPr>
  </cs:seriesLine>
  <cs:title>
    <cs:lnRef idx="0"/>
    <cs:fillRef idx="0"/>
    <cs:effectRef idx="0"/>
    <cs:fontRef idx="minor">
      <a:srgbClr val="000000">
        <a:lumMod val="75000"/>
        <a:lumOff val="25000"/>
      </a:srgbClr>
    </cs:fontRef>
    <cs:defRPr sz="1400" b="1" kern="1200" baseline="0"/>
  </cs:title>
  <cs:trendline>
    <cs:lnRef idx="0">
      <cs:styleClr val="auto"/>
    </cs:lnRef>
    <cs:fillRef idx="0"/>
    <cs:effectRef idx="0"/>
    <cs:fontRef idx="minor">
      <a:srgbClr val="000000"/>
    </cs:fontRef>
    <cs:spPr>
      <a:ln w="19050" cap="rnd">
        <a:solidFill>
          <a:srgbClr val="FFFFFF"/>
        </a:solidFill>
        <a:prstDash val="sysDot"/>
      </a:ln>
    </cs:spPr>
  </cs:trendline>
  <cs:trendlineLabel>
    <cs:lnRef idx="0"/>
    <cs:fillRef idx="0"/>
    <cs:effectRef idx="0"/>
    <cs:fontRef idx="minor">
      <a:srgbClr val="000000">
        <a:lumMod val="65000"/>
        <a:lumOff val="35000"/>
      </a:srgbClr>
    </cs:fontRef>
    <cs:defRPr sz="900" kern="1200"/>
  </cs:trendlineLabel>
  <cs:upBar>
    <cs:lnRef idx="0"/>
    <cs:fillRef idx="0"/>
    <cs:effectRef idx="0"/>
    <cs:fontRef idx="minor">
      <a:srgbClr val="000000"/>
    </cs:fontRef>
    <cs:spPr>
      <a:solidFill>
        <a:srgbClr val="FFFFFF"/>
      </a:solidFill>
      <a:ln w="9525" cap="flat" cmpd="sng" algn="ctr">
        <a:solidFill>
          <a:srgbClr val="000000">
            <a:lumMod val="65000"/>
            <a:lumOff val="35000"/>
          </a:srgbClr>
        </a:solidFill>
        <a:round/>
      </a:ln>
    </cs:spPr>
  </cs:upBar>
  <cs:valueAxis>
    <cs:lnRef idx="0"/>
    <cs:fillRef idx="0"/>
    <cs:effectRef idx="0"/>
    <cs:fontRef idx="minor">
      <a:srgbClr val="000000">
        <a:lumMod val="65000"/>
        <a:lumOff val="35000"/>
      </a:srgbClr>
    </cs:fontRef>
    <cs:defRPr sz="900" kern="1200"/>
  </cs:valueAxis>
  <cs:wall>
    <cs:lnRef idx="0"/>
    <cs:fillRef idx="0"/>
    <cs:effectRef idx="0"/>
    <cs:fontRef idx="minor">
      <a:srgbClr val="000000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1002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0">
      <cs:styleClr val="auto"/>
    </cs:fillRef>
    <cs:effectRef idx="0"/>
    <cs:fontRef idx="minor">
      <a:schemeClr val="dk1"/>
    </cs:fontRef>
    <cs:spPr>
      <a:ln w="28575" cap="rnd">
        <a:solidFill>
          <a:schemeClr val="phClr"/>
        </a:solidFill>
        <a:round/>
      </a:ln>
      <a:effectLst/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10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noFill/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en-US"/>
              <a:t>刚刚我们了解了项目启动会的基本信息，接下来至关重要的就是回顾项目背景与目标。同步项目信息、对齐运营目标是整个项目顺利推进的基础，只有对背景和目标清晰把握，才能让后续工作有的放矢。那具体的项目背景是怎样的，目标又如何达成呢，让我们一同深入探究。</a:t>
            </a:r>
            <a:endParaRPr lang="en-US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到底工作成果的变化是重点从哪个内容带来的，要明确出来；苦劳也要有，深信服比其他人为什么能做得更好？印象深刻的点，另甲方印象深刻的具体事件，可以</a:t>
            </a:r>
            <a:r>
              <a:rPr lang="zh-CN" altLang="en-US"/>
              <a:t>补充</a:t>
            </a:r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通过数字化运营，带来安全水位线的可视化和</a:t>
            </a:r>
            <a:r>
              <a:rPr lang="zh-CN" altLang="en-US"/>
              <a:t>提升，直接产生可量化的安全</a:t>
            </a:r>
            <a:r>
              <a:rPr lang="zh-CN" altLang="en-US"/>
              <a:t>价值</a:t>
            </a:r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当前方案职责范围内当前需要</a:t>
            </a:r>
            <a:r>
              <a:rPr lang="en-US" altLang="zh-CN"/>
              <a:t>buyer</a:t>
            </a:r>
            <a:r>
              <a:rPr lang="zh-CN" altLang="en-US"/>
              <a:t>决策和协调资源的；且一定要避免“出卖”</a:t>
            </a:r>
            <a:r>
              <a:rPr lang="en-US" altLang="zh-CN"/>
              <a:t>user</a:t>
            </a:r>
            <a:r>
              <a:rPr lang="zh-CN" altLang="en-US"/>
              <a:t>，尽量在</a:t>
            </a:r>
            <a:r>
              <a:rPr lang="en-US" altLang="zh-CN"/>
              <a:t>buyer</a:t>
            </a:r>
            <a:r>
              <a:rPr lang="zh-CN" altLang="en-US"/>
              <a:t>面前帮</a:t>
            </a:r>
            <a:r>
              <a:rPr lang="en-US" altLang="zh-CN"/>
              <a:t>user</a:t>
            </a:r>
            <a:r>
              <a:rPr lang="zh-CN" altLang="en-US"/>
              <a:t>“</a:t>
            </a:r>
            <a:r>
              <a:rPr lang="zh-CN" altLang="en-US"/>
              <a:t>挣面子”</a:t>
            </a:r>
            <a:endParaRPr lang="zh-CN" altLang="en-US"/>
          </a:p>
          <a:p>
            <a:r>
              <a:rPr lang="zh-CN" altLang="en-US"/>
              <a:t>方案范围外能更好提升其安全建设水平、达到行业领先的（整体解决方案</a:t>
            </a:r>
            <a:r>
              <a:rPr lang="zh-CN" altLang="en-US"/>
              <a:t>视角）</a:t>
            </a:r>
            <a:endParaRPr lang="zh-CN" altLang="en-US"/>
          </a:p>
          <a:p>
            <a:r>
              <a:rPr lang="en-US" altLang="zh-CN"/>
              <a:t>ppt</a:t>
            </a:r>
            <a:r>
              <a:rPr lang="zh-CN" altLang="en-US"/>
              <a:t>形式</a:t>
            </a:r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当前方案职责范围内当前需要</a:t>
            </a:r>
            <a:r>
              <a:rPr lang="en-US" altLang="zh-CN"/>
              <a:t>buyer</a:t>
            </a:r>
            <a:r>
              <a:rPr lang="zh-CN" altLang="en-US"/>
              <a:t>决策和协调资源的；且一定要避免“出卖”</a:t>
            </a:r>
            <a:r>
              <a:rPr lang="en-US" altLang="zh-CN"/>
              <a:t>user</a:t>
            </a:r>
            <a:r>
              <a:rPr lang="zh-CN" altLang="en-US"/>
              <a:t>，尽量在</a:t>
            </a:r>
            <a:r>
              <a:rPr lang="en-US" altLang="zh-CN"/>
              <a:t>buyer</a:t>
            </a:r>
            <a:r>
              <a:rPr lang="zh-CN" altLang="en-US"/>
              <a:t>面前帮</a:t>
            </a:r>
            <a:r>
              <a:rPr lang="en-US" altLang="zh-CN"/>
              <a:t>user</a:t>
            </a:r>
            <a:r>
              <a:rPr lang="zh-CN" altLang="en-US"/>
              <a:t>“</a:t>
            </a:r>
            <a:r>
              <a:rPr lang="zh-CN" altLang="en-US"/>
              <a:t>挣面子”</a:t>
            </a:r>
            <a:endParaRPr lang="zh-CN" altLang="en-US"/>
          </a:p>
          <a:p>
            <a:r>
              <a:rPr lang="zh-CN" altLang="en-US"/>
              <a:t>方案范围外能更好提升其安全建设水平、达到行业领先的（整体解决方案</a:t>
            </a:r>
            <a:r>
              <a:rPr lang="zh-CN" altLang="en-US"/>
              <a:t>视角）</a:t>
            </a:r>
            <a:endParaRPr lang="zh-CN" altLang="en-US"/>
          </a:p>
          <a:p>
            <a:r>
              <a:rPr lang="en-US" altLang="zh-CN"/>
              <a:t>ppt</a:t>
            </a:r>
            <a:r>
              <a:rPr lang="zh-CN" altLang="en-US"/>
              <a:t>形式</a:t>
            </a:r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5" Type="http://schemas.openxmlformats.org/officeDocument/2006/relationships/tags" Target="../tags/tag7.xml"/><Relationship Id="rId4" Type="http://schemas.openxmlformats.org/officeDocument/2006/relationships/tags" Target="../tags/tag6.xml"/><Relationship Id="rId3" Type="http://schemas.openxmlformats.org/officeDocument/2006/relationships/tags" Target="../tags/tag5.xml"/><Relationship Id="rId2" Type="http://schemas.openxmlformats.org/officeDocument/2006/relationships/tags" Target="../tags/tag4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9" Type="http://schemas.openxmlformats.org/officeDocument/2006/relationships/tags" Target="../tags/tag15.xml"/><Relationship Id="rId8" Type="http://schemas.openxmlformats.org/officeDocument/2006/relationships/tags" Target="../tags/tag14.xml"/><Relationship Id="rId7" Type="http://schemas.openxmlformats.org/officeDocument/2006/relationships/tags" Target="../tags/tag13.xml"/><Relationship Id="rId6" Type="http://schemas.openxmlformats.org/officeDocument/2006/relationships/tags" Target="../tags/tag12.xml"/><Relationship Id="rId5" Type="http://schemas.openxmlformats.org/officeDocument/2006/relationships/tags" Target="../tags/tag11.xml"/><Relationship Id="rId4" Type="http://schemas.openxmlformats.org/officeDocument/2006/relationships/tags" Target="../tags/tag10.xml"/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1" Type="http://schemas.openxmlformats.org/officeDocument/2006/relationships/tags" Target="../tags/tag17.xml"/><Relationship Id="rId10" Type="http://schemas.openxmlformats.org/officeDocument/2006/relationships/tags" Target="../tags/tag16.xml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4" Type="http://schemas.openxmlformats.org/officeDocument/2006/relationships/tags" Target="../tags/tag20.xml"/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9" Type="http://schemas.openxmlformats.org/officeDocument/2006/relationships/tags" Target="../tags/tag34.xml"/><Relationship Id="rId8" Type="http://schemas.openxmlformats.org/officeDocument/2006/relationships/tags" Target="../tags/tag33.xml"/><Relationship Id="rId7" Type="http://schemas.openxmlformats.org/officeDocument/2006/relationships/tags" Target="../tags/tag32.xml"/><Relationship Id="rId6" Type="http://schemas.openxmlformats.org/officeDocument/2006/relationships/tags" Target="../tags/tag31.xml"/><Relationship Id="rId5" Type="http://schemas.openxmlformats.org/officeDocument/2006/relationships/tags" Target="../tags/tag30.xml"/><Relationship Id="rId4" Type="http://schemas.openxmlformats.org/officeDocument/2006/relationships/tags" Target="../tags/tag29.xml"/><Relationship Id="rId3" Type="http://schemas.openxmlformats.org/officeDocument/2006/relationships/tags" Target="../tags/tag28.xml"/><Relationship Id="rId2" Type="http://schemas.openxmlformats.org/officeDocument/2006/relationships/tags" Target="../tags/tag27.xml"/><Relationship Id="rId13" Type="http://schemas.openxmlformats.org/officeDocument/2006/relationships/tags" Target="../tags/tag38.xml"/><Relationship Id="rId12" Type="http://schemas.openxmlformats.org/officeDocument/2006/relationships/tags" Target="../tags/tag37.xml"/><Relationship Id="rId11" Type="http://schemas.openxmlformats.org/officeDocument/2006/relationships/tags" Target="../tags/tag36.xml"/><Relationship Id="rId10" Type="http://schemas.openxmlformats.org/officeDocument/2006/relationships/tags" Target="../tags/tag35.xml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/>
          <p:cNvSpPr txBox="1">
            <a:spLocks noChangeArrowheads="1"/>
          </p:cNvSpPr>
          <p:nvPr userDrawn="1"/>
        </p:nvSpPr>
        <p:spPr bwMode="auto">
          <a:xfrm>
            <a:off x="7356763" y="2854805"/>
            <a:ext cx="3590862" cy="20082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68580" tIns="34290" rIns="68580" bIns="34290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6000" b="1" spc="60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谢谢聆听</a:t>
            </a:r>
            <a:endParaRPr lang="en-US" altLang="zh-CN" sz="6000" b="1" spc="600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endParaRPr lang="en-US" altLang="zh-CN" sz="6600" b="1" spc="600" dirty="0">
              <a:solidFill>
                <a:srgbClr val="66BC2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文本框 8"/>
          <p:cNvSpPr txBox="1">
            <a:spLocks noChangeArrowheads="1"/>
          </p:cNvSpPr>
          <p:nvPr userDrawn="1"/>
        </p:nvSpPr>
        <p:spPr bwMode="auto">
          <a:xfrm>
            <a:off x="6322065" y="3880143"/>
            <a:ext cx="4507677" cy="3462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68580" tIns="34290" rIns="68580" bIns="34290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9pPr>
          </a:lstStyle>
          <a:p>
            <a:pPr algn="dist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1800" b="1" i="0" kern="1200" dirty="0">
                <a:solidFill>
                  <a:schemeClr val="bg1"/>
                </a:solidFill>
                <a:effectLst/>
                <a:latin typeface="+mj-ea"/>
                <a:ea typeface="+mj-ea"/>
                <a:cs typeface="+mn-cs"/>
              </a:rPr>
              <a:t>让每个用户的数字化更简单、更安全</a:t>
            </a:r>
            <a:r>
              <a:rPr lang="en-US" altLang="zh-CN" sz="1800" b="1" i="0" kern="1200" dirty="0">
                <a:solidFill>
                  <a:schemeClr val="bg1"/>
                </a:solidFill>
                <a:effectLst/>
                <a:latin typeface="+mj-ea"/>
                <a:ea typeface="+mj-ea"/>
                <a:cs typeface="+mn-cs"/>
              </a:rPr>
              <a:t>!</a:t>
            </a:r>
            <a:endParaRPr lang="en-US" altLang="zh-CN" sz="2000" b="1" spc="6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pic>
        <p:nvPicPr>
          <p:cNvPr id="26" name="图片 2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8156" y="268011"/>
            <a:ext cx="2351905" cy="34120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4"/>
            <a:ext cx="9144000" cy="2387600"/>
          </a:xfrm>
        </p:spPr>
        <p:txBody>
          <a:bodyPr anchor="b"/>
          <a:lstStyle>
            <a:lvl1pPr algn="ctr">
              <a:defRPr sz="635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540"/>
            </a:lvl1pPr>
            <a:lvl2pPr marL="483870" indent="0" algn="ctr">
              <a:buNone/>
              <a:defRPr sz="2120"/>
            </a:lvl2pPr>
            <a:lvl3pPr marL="967740" indent="0" algn="ctr">
              <a:buNone/>
              <a:defRPr sz="1905"/>
            </a:lvl3pPr>
            <a:lvl4pPr marL="1451610" indent="0" algn="ctr">
              <a:buNone/>
              <a:defRPr sz="1695"/>
            </a:lvl4pPr>
            <a:lvl5pPr marL="1935480" indent="0" algn="ctr">
              <a:buNone/>
              <a:defRPr sz="1695"/>
            </a:lvl5pPr>
            <a:lvl6pPr marL="2419350" indent="0" algn="ctr">
              <a:buNone/>
              <a:defRPr sz="1695"/>
            </a:lvl6pPr>
            <a:lvl7pPr marL="2903220" indent="0" algn="ctr">
              <a:buNone/>
              <a:defRPr sz="1695"/>
            </a:lvl7pPr>
            <a:lvl8pPr marL="3387090" indent="0" algn="ctr">
              <a:buNone/>
              <a:defRPr sz="1695"/>
            </a:lvl8pPr>
            <a:lvl9pPr marL="3870960" indent="0" algn="ctr">
              <a:buNone/>
              <a:defRPr sz="1695"/>
            </a:lvl9pPr>
          </a:lstStyle>
          <a:p>
            <a:r>
              <a:rPr lang="zh-CN" altLang="en-US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</p:spPr>
        <p:txBody>
          <a:bodyPr/>
          <a:lstStyle/>
          <a:p>
            <a:fld id="{6651D2DA-4D49-4791-B475-FB8E6506C03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1" y="6356352"/>
            <a:ext cx="4114801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1" y="6356352"/>
            <a:ext cx="2743200" cy="365125"/>
          </a:xfrm>
        </p:spPr>
        <p:txBody>
          <a:bodyPr/>
          <a:lstStyle/>
          <a:p>
            <a:fld id="{1CFB67B4-4181-46E4-B4F3-B0465E53CD4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 showMasterSp="0">
  <p:cSld name="纯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幻灯片编号"/>
          <p:cNvSpPr txBox="1"/>
          <p:nvPr userDrawn="1"/>
        </p:nvSpPr>
        <p:spPr>
          <a:xfrm>
            <a:off x="11916226" y="6538569"/>
            <a:ext cx="114300" cy="189230"/>
          </a:xfrm>
          <a:prstGeom prst="rect">
            <a:avLst/>
          </a:prstGeom>
          <a:ln w="12700">
            <a:miter lim="400000"/>
          </a:ln>
        </p:spPr>
        <p:txBody>
          <a:bodyPr wrap="none" lIns="25400" tIns="25400" rIns="25400" bIns="25400" anchor="b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1pPr>
            <a:lvl2pPr marL="0" marR="0" indent="4572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2pPr>
            <a:lvl3pPr marL="0" marR="0" indent="9144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3pPr>
            <a:lvl4pPr marL="0" marR="0" indent="13716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4pPr>
            <a:lvl5pPr marL="0" marR="0" indent="18288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5pPr>
            <a:lvl6pPr marL="0" marR="0" indent="22860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6pPr>
            <a:lvl7pPr marL="0" marR="0" indent="27432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7pPr>
            <a:lvl8pPr marL="0" marR="0" indent="32004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8pPr>
            <a:lvl9pPr marL="0" marR="0" indent="36576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9pPr>
          </a:lstStyle>
          <a:p>
            <a:fld id="{86CB4B4D-7CA3-9044-876B-883B54F8677D}" type="slidenum">
              <a:rPr lang="en-US" altLang="zh-CN" sz="900" smtClean="0"/>
            </a:fld>
            <a:endParaRPr lang="en-US" altLang="zh-CN" sz="900" dirty="0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6404" y="107143"/>
            <a:ext cx="1389099" cy="364572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1555610" y="790571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5059610" y="790571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9821210" y="790571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97230" y="360000"/>
            <a:ext cx="10800000" cy="720000"/>
          </a:xfrm>
        </p:spPr>
        <p:txBody>
          <a:bodyPr wrap="square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695960" y="6356350"/>
            <a:ext cx="2743200" cy="365125"/>
          </a:xfrm>
        </p:spPr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753983" y="6356350"/>
            <a:ext cx="2743200" cy="365125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38925" y="2439035"/>
            <a:ext cx="4622800" cy="1866900"/>
          </a:xfrm>
        </p:spPr>
        <p:txBody>
          <a:bodyPr wrap="square" anchor="ctr" anchorCtr="0">
            <a:normAutofit/>
          </a:bodyPr>
          <a:lstStyle>
            <a:lvl1pPr algn="l">
              <a:defRPr sz="5400"/>
            </a:lvl1pPr>
          </a:lstStyle>
          <a:p>
            <a:r>
              <a:rPr dirty="0"/>
              <a:t>单击此处编辑母版标题样式</a:t>
            </a:r>
            <a:endParaRPr dirty="0"/>
          </a:p>
        </p:txBody>
      </p:sp>
      <p:sp>
        <p:nvSpPr>
          <p:cNvPr id="8" name="节编号 3"/>
          <p:cNvSpPr>
            <a:spLocks noGrp="1"/>
          </p:cNvSpPr>
          <p:nvPr>
            <p:ph type="body" sz="quarter" idx="13" hasCustomPrompt="1"/>
            <p:custDataLst>
              <p:tags r:id="rId3"/>
            </p:custDataLst>
          </p:nvPr>
        </p:nvSpPr>
        <p:spPr>
          <a:xfrm>
            <a:off x="1726565" y="2343785"/>
            <a:ext cx="3096895" cy="2061210"/>
          </a:xfrm>
        </p:spPr>
        <p:txBody>
          <a:bodyPr wrap="none" anchor="ctr" anchorCtr="0">
            <a:normAutofit/>
          </a:bodyPr>
          <a:lstStyle>
            <a:lvl1pPr marL="0" indent="0" algn="ctr">
              <a:buNone/>
              <a:defRPr sz="11500" b="1"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100000">
                      <a:schemeClr val="accent1"/>
                    </a:gs>
                  </a:gsLst>
                  <a:lin ang="3600000" scaled="0"/>
                </a:gradFill>
              </a:defRPr>
            </a:lvl1pPr>
          </a:lstStyle>
          <a:p>
            <a:pPr lvl="0"/>
            <a:r>
              <a:rPr lang="zh-CN" altLang="en-US" dirty="0"/>
              <a:t>编号</a:t>
            </a:r>
            <a:endParaRPr lang="zh-CN" altLang="en-US" dirty="0"/>
          </a:p>
        </p:txBody>
      </p:sp>
      <p:sp>
        <p:nvSpPr>
          <p:cNvPr id="4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9" name="弧形 8"/>
          <p:cNvSpPr>
            <a:spLocks noChangeAspect="1"/>
          </p:cNvSpPr>
          <p:nvPr userDrawn="1">
            <p:custDataLst>
              <p:tags r:id="rId7"/>
            </p:custDataLst>
          </p:nvPr>
        </p:nvSpPr>
        <p:spPr>
          <a:xfrm rot="16200000">
            <a:off x="971196" y="1125001"/>
            <a:ext cx="4608000" cy="4608000"/>
          </a:xfrm>
          <a:prstGeom prst="arc">
            <a:avLst>
              <a:gd name="adj1" fmla="val 6911636"/>
              <a:gd name="adj2" fmla="val 13883405"/>
            </a:avLst>
          </a:prstGeom>
          <a:noFill/>
          <a:ln>
            <a:gradFill flip="none" rotWithShape="1">
              <a:gsLst>
                <a:gs pos="0">
                  <a:schemeClr val="accent1">
                    <a:lumMod val="70000"/>
                    <a:lumOff val="30000"/>
                    <a:alpha val="60000"/>
                  </a:schemeClr>
                </a:gs>
                <a:gs pos="100000">
                  <a:schemeClr val="accent1">
                    <a:lumMod val="70000"/>
                    <a:lumOff val="30000"/>
                    <a:alpha val="20000"/>
                  </a:schemeClr>
                </a:gs>
              </a:gsLst>
              <a:lin ang="12000000" scaled="0"/>
              <a:tileRect/>
            </a:gra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 useBgFill="1">
        <p:nvSpPr>
          <p:cNvPr id="10" name="椭圆 9"/>
          <p:cNvSpPr>
            <a:spLocks noChangeAspect="1"/>
          </p:cNvSpPr>
          <p:nvPr userDrawn="1">
            <p:custDataLst>
              <p:tags r:id="rId8"/>
            </p:custDataLst>
          </p:nvPr>
        </p:nvSpPr>
        <p:spPr>
          <a:xfrm rot="16200000">
            <a:off x="3995627" y="5533172"/>
            <a:ext cx="144000" cy="144000"/>
          </a:xfrm>
          <a:prstGeom prst="ellipse">
            <a:avLst/>
          </a:prstGeom>
          <a:ln w="19050">
            <a:solidFill>
              <a:schemeClr val="accent1">
                <a:lumMod val="40000"/>
                <a:lumOff val="60000"/>
                <a:alpha val="6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1" name="椭圆 10"/>
          <p:cNvSpPr>
            <a:spLocks noChangeAspect="1"/>
          </p:cNvSpPr>
          <p:nvPr userDrawn="1">
            <p:custDataLst>
              <p:tags r:id="rId9"/>
            </p:custDataLst>
          </p:nvPr>
        </p:nvSpPr>
        <p:spPr>
          <a:xfrm rot="16200000">
            <a:off x="1295196" y="1449001"/>
            <a:ext cx="3960000" cy="3960000"/>
          </a:xfrm>
          <a:prstGeom prst="ellipse">
            <a:avLst/>
          </a:prstGeom>
          <a:noFill/>
          <a:ln w="19050">
            <a:solidFill>
              <a:schemeClr val="accent1">
                <a:lumMod val="40000"/>
                <a:lumOff val="60000"/>
                <a:alpha val="5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弧形 11"/>
          <p:cNvSpPr>
            <a:spLocks noChangeAspect="1"/>
          </p:cNvSpPr>
          <p:nvPr userDrawn="1">
            <p:custDataLst>
              <p:tags r:id="rId10"/>
            </p:custDataLst>
          </p:nvPr>
        </p:nvSpPr>
        <p:spPr>
          <a:xfrm rot="16200000">
            <a:off x="683196" y="837001"/>
            <a:ext cx="5184000" cy="5184000"/>
          </a:xfrm>
          <a:prstGeom prst="arc">
            <a:avLst>
              <a:gd name="adj1" fmla="val 11844446"/>
              <a:gd name="adj2" fmla="val 2553147"/>
            </a:avLst>
          </a:prstGeom>
          <a:noFill/>
          <a:ln>
            <a:gradFill flip="none" rotWithShape="1">
              <a:gsLst>
                <a:gs pos="0">
                  <a:schemeClr val="accent1">
                    <a:lumMod val="70000"/>
                    <a:lumOff val="30000"/>
                    <a:alpha val="70000"/>
                  </a:schemeClr>
                </a:gs>
                <a:gs pos="100000">
                  <a:schemeClr val="accent1">
                    <a:lumMod val="70000"/>
                    <a:lumOff val="30000"/>
                    <a:alpha val="20000"/>
                  </a:schemeClr>
                </a:gs>
              </a:gsLst>
              <a:lin ang="12000000" scaled="0"/>
              <a:tileRect/>
            </a:gra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 useBgFill="1">
        <p:nvSpPr>
          <p:cNvPr id="13" name="椭圆 12"/>
          <p:cNvSpPr>
            <a:spLocks noChangeAspect="1"/>
          </p:cNvSpPr>
          <p:nvPr userDrawn="1">
            <p:custDataLst>
              <p:tags r:id="rId11"/>
            </p:custDataLst>
          </p:nvPr>
        </p:nvSpPr>
        <p:spPr>
          <a:xfrm rot="16200000">
            <a:off x="1355848" y="1544326"/>
            <a:ext cx="144000" cy="144000"/>
          </a:xfrm>
          <a:prstGeom prst="ellipse">
            <a:avLst/>
          </a:prstGeom>
          <a:ln w="19050">
            <a:solidFill>
              <a:schemeClr val="accent1">
                <a:lumMod val="40000"/>
                <a:lumOff val="60000"/>
                <a:alpha val="6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 showMasterSp="0">
  <p:cSld name="纯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幻灯片编号"/>
          <p:cNvSpPr txBox="1"/>
          <p:nvPr userDrawn="1"/>
        </p:nvSpPr>
        <p:spPr>
          <a:xfrm>
            <a:off x="11916226" y="6538569"/>
            <a:ext cx="114300" cy="189230"/>
          </a:xfrm>
          <a:prstGeom prst="rect">
            <a:avLst/>
          </a:prstGeom>
          <a:ln w="12700">
            <a:miter lim="400000"/>
          </a:ln>
        </p:spPr>
        <p:txBody>
          <a:bodyPr wrap="none" lIns="25400" tIns="25400" rIns="25400" bIns="25400" anchor="b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1pPr>
            <a:lvl2pPr marL="0" marR="0" indent="4572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2pPr>
            <a:lvl3pPr marL="0" marR="0" indent="9144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3pPr>
            <a:lvl4pPr marL="0" marR="0" indent="13716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4pPr>
            <a:lvl5pPr marL="0" marR="0" indent="18288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5pPr>
            <a:lvl6pPr marL="0" marR="0" indent="22860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6pPr>
            <a:lvl7pPr marL="0" marR="0" indent="27432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7pPr>
            <a:lvl8pPr marL="0" marR="0" indent="32004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8pPr>
            <a:lvl9pPr marL="0" marR="0" indent="36576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9pPr>
          </a:lstStyle>
          <a:p>
            <a:fld id="{86CB4B4D-7CA3-9044-876B-883B54F8677D}" type="slidenum">
              <a:rPr lang="en-US" altLang="zh-CN" sz="900" smtClean="0"/>
            </a:fld>
            <a:endParaRPr lang="en-US" altLang="zh-CN" sz="900" dirty="0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6404" y="107143"/>
            <a:ext cx="1389099" cy="364572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1555610" y="790571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5059610" y="790571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9821210" y="790571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229304" y="1656000"/>
            <a:ext cx="4866696" cy="1800000"/>
          </a:xfrm>
        </p:spPr>
        <p:txBody>
          <a:bodyPr wrap="square" anchor="b">
            <a:normAutofit/>
          </a:bodyPr>
          <a:lstStyle>
            <a:lvl1pPr algn="l">
              <a:lnSpc>
                <a:spcPct val="100000"/>
              </a:lnSpc>
              <a:defRPr sz="6000"/>
            </a:lvl1pPr>
          </a:lstStyle>
          <a:p>
            <a:r>
              <a:rPr lang="zh-CN" altLang="en-US" dirty="0"/>
              <a:t>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229302" y="3600000"/>
            <a:ext cx="4866697" cy="972000"/>
          </a:xfrm>
        </p:spPr>
        <p:txBody>
          <a:bodyPr wrap="square">
            <a:normAutofit/>
          </a:bodyPr>
          <a:lstStyle>
            <a:lvl1pPr marL="0" indent="0" algn="l">
              <a:lnSpc>
                <a:spcPct val="100000"/>
              </a:lnSpc>
              <a:buNone/>
              <a:defRPr sz="4600" b="1">
                <a:solidFill>
                  <a:schemeClr val="tx1">
                    <a:alpha val="7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编辑副标题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610600" y="6356350"/>
            <a:ext cx="2743200" cy="365125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10" name="公司名占位符 6"/>
          <p:cNvSpPr>
            <a:spLocks noGrp="1"/>
          </p:cNvSpPr>
          <p:nvPr>
            <p:ph type="body" sz="quarter" idx="13" hasCustomPrompt="1"/>
            <p:custDataLst>
              <p:tags r:id="rId7"/>
            </p:custDataLst>
          </p:nvPr>
        </p:nvSpPr>
        <p:spPr>
          <a:xfrm>
            <a:off x="1229360" y="504190"/>
            <a:ext cx="4868545" cy="504190"/>
          </a:xfrm>
        </p:spPr>
        <p:txBody>
          <a:bodyPr wrap="square" anchor="ctr">
            <a:normAutofit/>
          </a:bodyPr>
          <a:lstStyle>
            <a:lvl1pPr marL="0" indent="0">
              <a:lnSpc>
                <a:spcPct val="100000"/>
              </a:lnSpc>
              <a:buNone/>
              <a:defRPr sz="1600"/>
            </a:lvl1pPr>
          </a:lstStyle>
          <a:p>
            <a:pPr lvl="0"/>
            <a:r>
              <a:rPr lang="zh-CN" altLang="en-US" dirty="0"/>
              <a:t>公司</a:t>
            </a:r>
            <a:endParaRPr lang="zh-CN" altLang="en-US" dirty="0"/>
          </a:p>
        </p:txBody>
      </p:sp>
      <p:sp>
        <p:nvSpPr>
          <p:cNvPr id="24" name="署名占位符 10"/>
          <p:cNvSpPr>
            <a:spLocks noGrp="1"/>
          </p:cNvSpPr>
          <p:nvPr>
            <p:ph type="body" sz="quarter" idx="17" hasCustomPrompt="1"/>
            <p:custDataLst>
              <p:tags r:id="rId8"/>
            </p:custDataLst>
          </p:nvPr>
        </p:nvSpPr>
        <p:spPr>
          <a:xfrm>
            <a:off x="1229360" y="4902835"/>
            <a:ext cx="2880000" cy="57600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2700000" scaled="0"/>
          </a:gradFill>
        </p:spPr>
        <p:txBody>
          <a:bodyPr vert="horz" wrap="square" lIns="0" tIns="0" rIns="0" bIns="0" rtlCol="0" anchor="ctr">
            <a:normAutofit/>
          </a:bodyPr>
          <a:lstStyle>
            <a:lvl1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buClrTx/>
              <a:buSzTx/>
              <a:buFont typeface="Arial" panose="020B0604020202020204" pitchFamily="34" charset="0"/>
              <a:buNone/>
              <a:defRPr kumimoji="0" lang="zh-CN" altLang="en-US" sz="2200" b="1" i="0" u="none" strike="noStrike" kern="1200" cap="none" spc="0" normalizeH="0" baseline="0" noProof="1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>
                <a:sym typeface="+mn-ea"/>
              </a:rPr>
              <a:t>署名</a:t>
            </a:r>
            <a:endParaRPr>
              <a:sym typeface="+mn-ea"/>
            </a:endParaRPr>
          </a:p>
        </p:txBody>
      </p:sp>
      <p:sp>
        <p:nvSpPr>
          <p:cNvPr id="12" name="弧形 11"/>
          <p:cNvSpPr>
            <a:spLocks noChangeAspect="1"/>
          </p:cNvSpPr>
          <p:nvPr userDrawn="1">
            <p:custDataLst>
              <p:tags r:id="rId9"/>
            </p:custDataLst>
          </p:nvPr>
        </p:nvSpPr>
        <p:spPr>
          <a:xfrm rot="16200000">
            <a:off x="6948696" y="1197000"/>
            <a:ext cx="4464000" cy="4464000"/>
          </a:xfrm>
          <a:prstGeom prst="arc">
            <a:avLst>
              <a:gd name="adj1" fmla="val 6911636"/>
              <a:gd name="adj2" fmla="val 13883405"/>
            </a:avLst>
          </a:prstGeom>
          <a:noFill/>
          <a:ln>
            <a:gradFill flip="none" rotWithShape="1">
              <a:gsLst>
                <a:gs pos="0">
                  <a:schemeClr val="accent1">
                    <a:lumMod val="70000"/>
                    <a:lumOff val="30000"/>
                    <a:alpha val="60000"/>
                  </a:schemeClr>
                </a:gs>
                <a:gs pos="100000">
                  <a:schemeClr val="accent1">
                    <a:lumMod val="70000"/>
                    <a:lumOff val="30000"/>
                    <a:alpha val="20000"/>
                  </a:schemeClr>
                </a:gs>
              </a:gsLst>
              <a:lin ang="12000000" scaled="0"/>
              <a:tileRect/>
            </a:gra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 useBgFill="1">
        <p:nvSpPr>
          <p:cNvPr id="13" name="椭圆 12"/>
          <p:cNvSpPr>
            <a:spLocks noChangeAspect="1"/>
          </p:cNvSpPr>
          <p:nvPr userDrawn="1">
            <p:custDataLst>
              <p:tags r:id="rId10"/>
            </p:custDataLst>
          </p:nvPr>
        </p:nvSpPr>
        <p:spPr>
          <a:xfrm rot="16200000">
            <a:off x="9901127" y="5447746"/>
            <a:ext cx="144000" cy="144000"/>
          </a:xfrm>
          <a:prstGeom prst="ellipse">
            <a:avLst/>
          </a:prstGeom>
          <a:ln w="19050">
            <a:solidFill>
              <a:schemeClr val="accent1">
                <a:lumMod val="40000"/>
                <a:lumOff val="60000"/>
                <a:alpha val="6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5" name="椭圆 14"/>
          <p:cNvSpPr>
            <a:spLocks noChangeAspect="1"/>
          </p:cNvSpPr>
          <p:nvPr userDrawn="1">
            <p:custDataLst>
              <p:tags r:id="rId11"/>
            </p:custDataLst>
          </p:nvPr>
        </p:nvSpPr>
        <p:spPr>
          <a:xfrm rot="16200000">
            <a:off x="7398696" y="1647000"/>
            <a:ext cx="3564000" cy="3564000"/>
          </a:xfrm>
          <a:prstGeom prst="ellipse">
            <a:avLst/>
          </a:prstGeom>
          <a:noFill/>
          <a:ln w="19050">
            <a:solidFill>
              <a:schemeClr val="accent1">
                <a:lumMod val="40000"/>
                <a:lumOff val="60000"/>
                <a:alpha val="7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弧形 15"/>
          <p:cNvSpPr>
            <a:spLocks noChangeAspect="1"/>
          </p:cNvSpPr>
          <p:nvPr userDrawn="1">
            <p:custDataLst>
              <p:tags r:id="rId12"/>
            </p:custDataLst>
          </p:nvPr>
        </p:nvSpPr>
        <p:spPr>
          <a:xfrm rot="16200000">
            <a:off x="6588696" y="837000"/>
            <a:ext cx="5184000" cy="5184000"/>
          </a:xfrm>
          <a:prstGeom prst="arc">
            <a:avLst>
              <a:gd name="adj1" fmla="val 11844446"/>
              <a:gd name="adj2" fmla="val 2553147"/>
            </a:avLst>
          </a:prstGeom>
          <a:noFill/>
          <a:ln>
            <a:gradFill flip="none" rotWithShape="1">
              <a:gsLst>
                <a:gs pos="0">
                  <a:schemeClr val="accent1">
                    <a:lumMod val="70000"/>
                    <a:lumOff val="30000"/>
                    <a:alpha val="70000"/>
                  </a:schemeClr>
                </a:gs>
                <a:gs pos="100000">
                  <a:schemeClr val="accent1">
                    <a:lumMod val="70000"/>
                    <a:lumOff val="30000"/>
                    <a:alpha val="20000"/>
                  </a:schemeClr>
                </a:gs>
              </a:gsLst>
              <a:lin ang="12000000" scaled="0"/>
              <a:tileRect/>
            </a:gra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 useBgFill="1">
        <p:nvSpPr>
          <p:cNvPr id="17" name="椭圆 16"/>
          <p:cNvSpPr>
            <a:spLocks noChangeAspect="1"/>
          </p:cNvSpPr>
          <p:nvPr userDrawn="1">
            <p:custDataLst>
              <p:tags r:id="rId13"/>
            </p:custDataLst>
          </p:nvPr>
        </p:nvSpPr>
        <p:spPr>
          <a:xfrm rot="16200000">
            <a:off x="7261348" y="1544325"/>
            <a:ext cx="144000" cy="144000"/>
          </a:xfrm>
          <a:prstGeom prst="ellipse">
            <a:avLst/>
          </a:prstGeom>
          <a:ln w="19050">
            <a:solidFill>
              <a:schemeClr val="accent1">
                <a:lumMod val="40000"/>
                <a:lumOff val="60000"/>
                <a:alpha val="6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tags" Target="../tags/tag24.xml"/><Relationship Id="rId8" Type="http://schemas.openxmlformats.org/officeDocument/2006/relationships/tags" Target="../tags/tag23.xml"/><Relationship Id="rId7" Type="http://schemas.openxmlformats.org/officeDocument/2006/relationships/tags" Target="../tags/tag22.xml"/><Relationship Id="rId6" Type="http://schemas.openxmlformats.org/officeDocument/2006/relationships/tags" Target="../tags/tag21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11" Type="http://schemas.openxmlformats.org/officeDocument/2006/relationships/tags" Target="../tags/tag26.xml"/><Relationship Id="rId10" Type="http://schemas.openxmlformats.org/officeDocument/2006/relationships/tags" Target="../tags/tag25.xml"/><Relationship Id="rId1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theme" Target="../theme/theme3.xml"/><Relationship Id="rId7" Type="http://schemas.openxmlformats.org/officeDocument/2006/relationships/tags" Target="../tags/tag44.xml"/><Relationship Id="rId6" Type="http://schemas.openxmlformats.org/officeDocument/2006/relationships/tags" Target="../tags/tag43.xml"/><Relationship Id="rId5" Type="http://schemas.openxmlformats.org/officeDocument/2006/relationships/tags" Target="../tags/tag42.xml"/><Relationship Id="rId4" Type="http://schemas.openxmlformats.org/officeDocument/2006/relationships/tags" Target="../tags/tag41.xml"/><Relationship Id="rId3" Type="http://schemas.openxmlformats.org/officeDocument/2006/relationships/tags" Target="../tags/tag40.xml"/><Relationship Id="rId2" Type="http://schemas.openxmlformats.org/officeDocument/2006/relationships/tags" Target="../tags/tag39.xml"/><Relationship Id="rId1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695960" y="360000"/>
            <a:ext cx="10800000" cy="72000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7"/>
            </p:custDataLst>
          </p:nvPr>
        </p:nvSpPr>
        <p:spPr>
          <a:xfrm>
            <a:off x="695960" y="1301749"/>
            <a:ext cx="10800000" cy="4873625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8"/>
            </p:custDataLst>
          </p:nvPr>
        </p:nvSpPr>
        <p:spPr>
          <a:xfrm>
            <a:off x="69596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9"/>
            </p:custDataLst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0"/>
            </p:custDataLst>
          </p:nvPr>
        </p:nvSpPr>
        <p:spPr>
          <a:xfrm>
            <a:off x="8753983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7" name="KSO_TEMPLATE" hidden="1"/>
          <p:cNvSpPr/>
          <p:nvPr userDrawn="1">
            <p:custDataLst>
              <p:tags r:id="rId11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38480" indent="-20637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798830" indent="-1619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030605" indent="-1492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235075" indent="-12700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95960" y="360000"/>
            <a:ext cx="10800000" cy="72000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3"/>
            </p:custDataLst>
          </p:nvPr>
        </p:nvSpPr>
        <p:spPr>
          <a:xfrm>
            <a:off x="695960" y="1301749"/>
            <a:ext cx="10800000" cy="4873625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4"/>
            </p:custDataLst>
          </p:nvPr>
        </p:nvSpPr>
        <p:spPr>
          <a:xfrm>
            <a:off x="69596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5"/>
            </p:custDataLst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6"/>
            </p:custDataLst>
          </p:nvPr>
        </p:nvSpPr>
        <p:spPr>
          <a:xfrm>
            <a:off x="8753983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8" name="KSO_TEMPLATE" hidden="1"/>
          <p:cNvSpPr/>
          <p:nvPr userDrawn="1">
            <p:custDataLst>
              <p:tags r:id="rId7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38480" indent="-20637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798830" indent="-1619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030605" indent="-1492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235075" indent="-12700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.png"/><Relationship Id="rId3" Type="http://schemas.openxmlformats.org/officeDocument/2006/relationships/tags" Target="../tags/tag46.xml"/><Relationship Id="rId2" Type="http://schemas.openxmlformats.org/officeDocument/2006/relationships/tags" Target="../tags/tag45.xml"/><Relationship Id="rId1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52.xml"/><Relationship Id="rId8" Type="http://schemas.openxmlformats.org/officeDocument/2006/relationships/tags" Target="../tags/tag51.xml"/><Relationship Id="rId7" Type="http://schemas.openxmlformats.org/officeDocument/2006/relationships/tags" Target="../tags/tag50.xml"/><Relationship Id="rId6" Type="http://schemas.openxmlformats.org/officeDocument/2006/relationships/tags" Target="../tags/tag49.xml"/><Relationship Id="rId5" Type="http://schemas.openxmlformats.org/officeDocument/2006/relationships/tags" Target="../tags/tag48.xml"/><Relationship Id="rId4" Type="http://schemas.openxmlformats.org/officeDocument/2006/relationships/tags" Target="../tags/tag47.xml"/><Relationship Id="rId3" Type="http://schemas.openxmlformats.org/officeDocument/2006/relationships/image" Target="../media/image7.png"/><Relationship Id="rId22" Type="http://schemas.openxmlformats.org/officeDocument/2006/relationships/notesSlide" Target="../notesSlides/notesSlide2.xml"/><Relationship Id="rId21" Type="http://schemas.openxmlformats.org/officeDocument/2006/relationships/slideLayout" Target="../slideLayouts/slideLayout6.xml"/><Relationship Id="rId20" Type="http://schemas.openxmlformats.org/officeDocument/2006/relationships/tags" Target="../tags/tag63.xml"/><Relationship Id="rId2" Type="http://schemas.openxmlformats.org/officeDocument/2006/relationships/image" Target="../media/image6.png"/><Relationship Id="rId19" Type="http://schemas.openxmlformats.org/officeDocument/2006/relationships/tags" Target="../tags/tag62.xml"/><Relationship Id="rId18" Type="http://schemas.openxmlformats.org/officeDocument/2006/relationships/tags" Target="../tags/tag61.xml"/><Relationship Id="rId17" Type="http://schemas.openxmlformats.org/officeDocument/2006/relationships/tags" Target="../tags/tag60.xml"/><Relationship Id="rId16" Type="http://schemas.openxmlformats.org/officeDocument/2006/relationships/tags" Target="../tags/tag59.xml"/><Relationship Id="rId15" Type="http://schemas.openxmlformats.org/officeDocument/2006/relationships/tags" Target="../tags/tag58.xml"/><Relationship Id="rId14" Type="http://schemas.openxmlformats.org/officeDocument/2006/relationships/tags" Target="../tags/tag57.xml"/><Relationship Id="rId13" Type="http://schemas.openxmlformats.org/officeDocument/2006/relationships/tags" Target="../tags/tag56.xml"/><Relationship Id="rId12" Type="http://schemas.openxmlformats.org/officeDocument/2006/relationships/tags" Target="../tags/tag55.xml"/><Relationship Id="rId11" Type="http://schemas.openxmlformats.org/officeDocument/2006/relationships/tags" Target="../tags/tag54.xml"/><Relationship Id="rId10" Type="http://schemas.openxmlformats.org/officeDocument/2006/relationships/tags" Target="../tags/tag53.xml"/><Relationship Id="rId1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9.xml"/><Relationship Id="rId5" Type="http://schemas.openxmlformats.org/officeDocument/2006/relationships/tags" Target="../tags/tag67.xml"/><Relationship Id="rId4" Type="http://schemas.openxmlformats.org/officeDocument/2006/relationships/image" Target="../media/image6.png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tags" Target="../tags/tag64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73.xml"/><Relationship Id="rId8" Type="http://schemas.openxmlformats.org/officeDocument/2006/relationships/image" Target="../media/image9.svg"/><Relationship Id="rId7" Type="http://schemas.openxmlformats.org/officeDocument/2006/relationships/image" Target="../media/image8.png"/><Relationship Id="rId6" Type="http://schemas.openxmlformats.org/officeDocument/2006/relationships/tags" Target="../tags/tag72.xml"/><Relationship Id="rId5" Type="http://schemas.openxmlformats.org/officeDocument/2006/relationships/tags" Target="../tags/tag71.xml"/><Relationship Id="rId4" Type="http://schemas.openxmlformats.org/officeDocument/2006/relationships/tags" Target="../tags/tag70.xml"/><Relationship Id="rId3" Type="http://schemas.openxmlformats.org/officeDocument/2006/relationships/image" Target="../media/image6.png"/><Relationship Id="rId29" Type="http://schemas.openxmlformats.org/officeDocument/2006/relationships/notesSlide" Target="../notesSlides/notesSlide3.xml"/><Relationship Id="rId28" Type="http://schemas.openxmlformats.org/officeDocument/2006/relationships/slideLayout" Target="../slideLayouts/slideLayout1.xml"/><Relationship Id="rId27" Type="http://schemas.openxmlformats.org/officeDocument/2006/relationships/tags" Target="../tags/tag86.xml"/><Relationship Id="rId26" Type="http://schemas.openxmlformats.org/officeDocument/2006/relationships/tags" Target="../tags/tag85.xml"/><Relationship Id="rId25" Type="http://schemas.openxmlformats.org/officeDocument/2006/relationships/tags" Target="../tags/tag84.xml"/><Relationship Id="rId24" Type="http://schemas.openxmlformats.org/officeDocument/2006/relationships/tags" Target="../tags/tag83.xml"/><Relationship Id="rId23" Type="http://schemas.openxmlformats.org/officeDocument/2006/relationships/image" Target="../media/image14.png"/><Relationship Id="rId22" Type="http://schemas.openxmlformats.org/officeDocument/2006/relationships/tags" Target="../tags/tag82.xml"/><Relationship Id="rId21" Type="http://schemas.openxmlformats.org/officeDocument/2006/relationships/tags" Target="../tags/tag81.xml"/><Relationship Id="rId20" Type="http://schemas.openxmlformats.org/officeDocument/2006/relationships/tags" Target="../tags/tag80.xml"/><Relationship Id="rId2" Type="http://schemas.openxmlformats.org/officeDocument/2006/relationships/tags" Target="../tags/tag69.xml"/><Relationship Id="rId19" Type="http://schemas.openxmlformats.org/officeDocument/2006/relationships/image" Target="../media/image13.svg"/><Relationship Id="rId18" Type="http://schemas.openxmlformats.org/officeDocument/2006/relationships/image" Target="../media/image12.png"/><Relationship Id="rId17" Type="http://schemas.openxmlformats.org/officeDocument/2006/relationships/tags" Target="../tags/tag79.xml"/><Relationship Id="rId16" Type="http://schemas.openxmlformats.org/officeDocument/2006/relationships/tags" Target="../tags/tag78.xml"/><Relationship Id="rId15" Type="http://schemas.openxmlformats.org/officeDocument/2006/relationships/tags" Target="../tags/tag77.xml"/><Relationship Id="rId14" Type="http://schemas.openxmlformats.org/officeDocument/2006/relationships/image" Target="../media/image11.svg"/><Relationship Id="rId13" Type="http://schemas.openxmlformats.org/officeDocument/2006/relationships/image" Target="../media/image10.png"/><Relationship Id="rId12" Type="http://schemas.openxmlformats.org/officeDocument/2006/relationships/tags" Target="../tags/tag76.xml"/><Relationship Id="rId11" Type="http://schemas.openxmlformats.org/officeDocument/2006/relationships/tags" Target="../tags/tag75.xml"/><Relationship Id="rId10" Type="http://schemas.openxmlformats.org/officeDocument/2006/relationships/tags" Target="../tags/tag74.xml"/><Relationship Id="rId1" Type="http://schemas.openxmlformats.org/officeDocument/2006/relationships/tags" Target="../tags/tag68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3.xml"/><Relationship Id="rId2" Type="http://schemas.openxmlformats.org/officeDocument/2006/relationships/tags" Target="../tags/tag88.xml"/><Relationship Id="rId1" Type="http://schemas.openxmlformats.org/officeDocument/2006/relationships/tags" Target="../tags/tag87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97.xml"/><Relationship Id="rId8" Type="http://schemas.openxmlformats.org/officeDocument/2006/relationships/tags" Target="../tags/tag96.xml"/><Relationship Id="rId7" Type="http://schemas.openxmlformats.org/officeDocument/2006/relationships/tags" Target="../tags/tag95.xml"/><Relationship Id="rId6" Type="http://schemas.openxmlformats.org/officeDocument/2006/relationships/tags" Target="../tags/tag94.xml"/><Relationship Id="rId5" Type="http://schemas.openxmlformats.org/officeDocument/2006/relationships/tags" Target="../tags/tag93.xml"/><Relationship Id="rId4" Type="http://schemas.openxmlformats.org/officeDocument/2006/relationships/tags" Target="../tags/tag92.xml"/><Relationship Id="rId3" Type="http://schemas.openxmlformats.org/officeDocument/2006/relationships/tags" Target="../tags/tag91.xml"/><Relationship Id="rId20" Type="http://schemas.openxmlformats.org/officeDocument/2006/relationships/notesSlide" Target="../notesSlides/notesSlide5.xml"/><Relationship Id="rId2" Type="http://schemas.openxmlformats.org/officeDocument/2006/relationships/tags" Target="../tags/tag90.xml"/><Relationship Id="rId19" Type="http://schemas.openxmlformats.org/officeDocument/2006/relationships/slideLayout" Target="../slideLayouts/slideLayout3.xml"/><Relationship Id="rId18" Type="http://schemas.openxmlformats.org/officeDocument/2006/relationships/tags" Target="../tags/tag106.xml"/><Relationship Id="rId17" Type="http://schemas.openxmlformats.org/officeDocument/2006/relationships/tags" Target="../tags/tag105.xml"/><Relationship Id="rId16" Type="http://schemas.openxmlformats.org/officeDocument/2006/relationships/tags" Target="../tags/tag104.xml"/><Relationship Id="rId15" Type="http://schemas.openxmlformats.org/officeDocument/2006/relationships/tags" Target="../tags/tag103.xml"/><Relationship Id="rId14" Type="http://schemas.openxmlformats.org/officeDocument/2006/relationships/tags" Target="../tags/tag102.xml"/><Relationship Id="rId13" Type="http://schemas.openxmlformats.org/officeDocument/2006/relationships/tags" Target="../tags/tag101.xml"/><Relationship Id="rId12" Type="http://schemas.openxmlformats.org/officeDocument/2006/relationships/tags" Target="../tags/tag100.xml"/><Relationship Id="rId11" Type="http://schemas.openxmlformats.org/officeDocument/2006/relationships/tags" Target="../tags/tag99.xml"/><Relationship Id="rId10" Type="http://schemas.openxmlformats.org/officeDocument/2006/relationships/tags" Target="../tags/tag98.xml"/><Relationship Id="rId1" Type="http://schemas.openxmlformats.org/officeDocument/2006/relationships/tags" Target="../tags/tag89.xml"/></Relationships>
</file>

<file path=ppt/slides/_rels/slide7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9.xml"/><Relationship Id="rId5" Type="http://schemas.openxmlformats.org/officeDocument/2006/relationships/tags" Target="../tags/tag110.xml"/><Relationship Id="rId4" Type="http://schemas.openxmlformats.org/officeDocument/2006/relationships/image" Target="../media/image6.png"/><Relationship Id="rId3" Type="http://schemas.openxmlformats.org/officeDocument/2006/relationships/tags" Target="../tags/tag109.xml"/><Relationship Id="rId2" Type="http://schemas.openxmlformats.org/officeDocument/2006/relationships/tags" Target="../tags/tag108.xml"/><Relationship Id="rId1" Type="http://schemas.openxmlformats.org/officeDocument/2006/relationships/tags" Target="../tags/tag107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115.xml"/><Relationship Id="rId8" Type="http://schemas.openxmlformats.org/officeDocument/2006/relationships/tags" Target="../tags/tag114.xml"/><Relationship Id="rId7" Type="http://schemas.openxmlformats.org/officeDocument/2006/relationships/tags" Target="../tags/tag113.xml"/><Relationship Id="rId6" Type="http://schemas.openxmlformats.org/officeDocument/2006/relationships/image" Target="../media/image17.png"/><Relationship Id="rId5" Type="http://schemas.openxmlformats.org/officeDocument/2006/relationships/image" Target="../media/image6.png"/><Relationship Id="rId4" Type="http://schemas.openxmlformats.org/officeDocument/2006/relationships/tags" Target="../tags/tag112.xml"/><Relationship Id="rId3" Type="http://schemas.openxmlformats.org/officeDocument/2006/relationships/tags" Target="../tags/tag111.xml"/><Relationship Id="rId2" Type="http://schemas.openxmlformats.org/officeDocument/2006/relationships/image" Target="../media/image16.svg"/><Relationship Id="rId13" Type="http://schemas.openxmlformats.org/officeDocument/2006/relationships/notesSlide" Target="../notesSlides/notesSlide6.xml"/><Relationship Id="rId12" Type="http://schemas.openxmlformats.org/officeDocument/2006/relationships/slideLayout" Target="../slideLayouts/slideLayout12.xml"/><Relationship Id="rId11" Type="http://schemas.openxmlformats.org/officeDocument/2006/relationships/tags" Target="../tags/tag117.xml"/><Relationship Id="rId10" Type="http://schemas.openxmlformats.org/officeDocument/2006/relationships/tags" Target="../tags/tag116.xml"/><Relationship Id="rId1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tags" Target="../tags/tag120.xml"/><Relationship Id="rId3" Type="http://schemas.openxmlformats.org/officeDocument/2006/relationships/tags" Target="../tags/tag119.xml"/><Relationship Id="rId2" Type="http://schemas.openxmlformats.org/officeDocument/2006/relationships/tags" Target="../tags/tag118.xml"/><Relationship Id="rId1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tags" Target="../tags/tag123.xml"/><Relationship Id="rId4" Type="http://schemas.openxmlformats.org/officeDocument/2006/relationships/tags" Target="../tags/tag122.xml"/><Relationship Id="rId3" Type="http://schemas.openxmlformats.org/officeDocument/2006/relationships/tags" Target="../tags/tag121.xml"/><Relationship Id="rId2" Type="http://schemas.openxmlformats.org/officeDocument/2006/relationships/image" Target="../media/image18.png"/><Relationship Id="rId1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tags" Target="../tags/tag126.xml"/><Relationship Id="rId4" Type="http://schemas.openxmlformats.org/officeDocument/2006/relationships/image" Target="../media/image18.png"/><Relationship Id="rId3" Type="http://schemas.openxmlformats.org/officeDocument/2006/relationships/tags" Target="../tags/tag125.xml"/><Relationship Id="rId2" Type="http://schemas.openxmlformats.org/officeDocument/2006/relationships/tags" Target="../tags/tag124.xml"/><Relationship Id="rId1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image" Target="../media/image21.png"/><Relationship Id="rId8" Type="http://schemas.openxmlformats.org/officeDocument/2006/relationships/tags" Target="../tags/tag131.xml"/><Relationship Id="rId7" Type="http://schemas.openxmlformats.org/officeDocument/2006/relationships/image" Target="../media/image20.svg"/><Relationship Id="rId6" Type="http://schemas.openxmlformats.org/officeDocument/2006/relationships/image" Target="../media/image19.png"/><Relationship Id="rId5" Type="http://schemas.openxmlformats.org/officeDocument/2006/relationships/tags" Target="../tags/tag130.xml"/><Relationship Id="rId4" Type="http://schemas.openxmlformats.org/officeDocument/2006/relationships/tags" Target="../tags/tag129.xml"/><Relationship Id="rId3" Type="http://schemas.openxmlformats.org/officeDocument/2006/relationships/image" Target="../media/image6.png"/><Relationship Id="rId22" Type="http://schemas.openxmlformats.org/officeDocument/2006/relationships/notesSlide" Target="../notesSlides/notesSlide7.xml"/><Relationship Id="rId21" Type="http://schemas.openxmlformats.org/officeDocument/2006/relationships/slideLayout" Target="../slideLayouts/slideLayout1.xml"/><Relationship Id="rId20" Type="http://schemas.openxmlformats.org/officeDocument/2006/relationships/tags" Target="../tags/tag139.xml"/><Relationship Id="rId2" Type="http://schemas.openxmlformats.org/officeDocument/2006/relationships/tags" Target="../tags/tag128.xml"/><Relationship Id="rId19" Type="http://schemas.openxmlformats.org/officeDocument/2006/relationships/image" Target="../media/image24.svg"/><Relationship Id="rId18" Type="http://schemas.openxmlformats.org/officeDocument/2006/relationships/image" Target="../media/image23.png"/><Relationship Id="rId17" Type="http://schemas.openxmlformats.org/officeDocument/2006/relationships/tags" Target="../tags/tag138.xml"/><Relationship Id="rId16" Type="http://schemas.openxmlformats.org/officeDocument/2006/relationships/tags" Target="../tags/tag137.xml"/><Relationship Id="rId15" Type="http://schemas.openxmlformats.org/officeDocument/2006/relationships/tags" Target="../tags/tag136.xml"/><Relationship Id="rId14" Type="http://schemas.openxmlformats.org/officeDocument/2006/relationships/tags" Target="../tags/tag135.xml"/><Relationship Id="rId13" Type="http://schemas.openxmlformats.org/officeDocument/2006/relationships/tags" Target="../tags/tag134.xml"/><Relationship Id="rId12" Type="http://schemas.openxmlformats.org/officeDocument/2006/relationships/tags" Target="../tags/tag133.xml"/><Relationship Id="rId11" Type="http://schemas.openxmlformats.org/officeDocument/2006/relationships/tags" Target="../tags/tag132.xml"/><Relationship Id="rId10" Type="http://schemas.openxmlformats.org/officeDocument/2006/relationships/image" Target="../media/image22.svg"/><Relationship Id="rId1" Type="http://schemas.openxmlformats.org/officeDocument/2006/relationships/tags" Target="../tags/tag127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146.xml"/><Relationship Id="rId8" Type="http://schemas.openxmlformats.org/officeDocument/2006/relationships/tags" Target="../tags/tag145.xml"/><Relationship Id="rId7" Type="http://schemas.openxmlformats.org/officeDocument/2006/relationships/tags" Target="../tags/tag144.xml"/><Relationship Id="rId6" Type="http://schemas.openxmlformats.org/officeDocument/2006/relationships/tags" Target="../tags/tag143.xml"/><Relationship Id="rId5" Type="http://schemas.openxmlformats.org/officeDocument/2006/relationships/image" Target="../media/image25.png"/><Relationship Id="rId4" Type="http://schemas.openxmlformats.org/officeDocument/2006/relationships/tags" Target="../tags/tag142.xml"/><Relationship Id="rId3" Type="http://schemas.openxmlformats.org/officeDocument/2006/relationships/image" Target="../media/image6.png"/><Relationship Id="rId25" Type="http://schemas.openxmlformats.org/officeDocument/2006/relationships/notesSlide" Target="../notesSlides/notesSlide8.xml"/><Relationship Id="rId24" Type="http://schemas.openxmlformats.org/officeDocument/2006/relationships/slideLayout" Target="../slideLayouts/slideLayout1.xml"/><Relationship Id="rId23" Type="http://schemas.openxmlformats.org/officeDocument/2006/relationships/tags" Target="../tags/tag160.xml"/><Relationship Id="rId22" Type="http://schemas.openxmlformats.org/officeDocument/2006/relationships/tags" Target="../tags/tag159.xml"/><Relationship Id="rId21" Type="http://schemas.openxmlformats.org/officeDocument/2006/relationships/tags" Target="../tags/tag158.xml"/><Relationship Id="rId20" Type="http://schemas.openxmlformats.org/officeDocument/2006/relationships/tags" Target="../tags/tag157.xml"/><Relationship Id="rId2" Type="http://schemas.openxmlformats.org/officeDocument/2006/relationships/tags" Target="../tags/tag141.xml"/><Relationship Id="rId19" Type="http://schemas.openxmlformats.org/officeDocument/2006/relationships/tags" Target="../tags/tag156.xml"/><Relationship Id="rId18" Type="http://schemas.openxmlformats.org/officeDocument/2006/relationships/tags" Target="../tags/tag155.xml"/><Relationship Id="rId17" Type="http://schemas.openxmlformats.org/officeDocument/2006/relationships/tags" Target="../tags/tag154.xml"/><Relationship Id="rId16" Type="http://schemas.openxmlformats.org/officeDocument/2006/relationships/tags" Target="../tags/tag153.xml"/><Relationship Id="rId15" Type="http://schemas.openxmlformats.org/officeDocument/2006/relationships/tags" Target="../tags/tag152.xml"/><Relationship Id="rId14" Type="http://schemas.openxmlformats.org/officeDocument/2006/relationships/tags" Target="../tags/tag151.xml"/><Relationship Id="rId13" Type="http://schemas.openxmlformats.org/officeDocument/2006/relationships/tags" Target="../tags/tag150.xml"/><Relationship Id="rId12" Type="http://schemas.openxmlformats.org/officeDocument/2006/relationships/tags" Target="../tags/tag149.xml"/><Relationship Id="rId11" Type="http://schemas.openxmlformats.org/officeDocument/2006/relationships/tags" Target="../tags/tag148.xml"/><Relationship Id="rId10" Type="http://schemas.openxmlformats.org/officeDocument/2006/relationships/tags" Target="../tags/tag147.xml"/><Relationship Id="rId1" Type="http://schemas.openxmlformats.org/officeDocument/2006/relationships/tags" Target="../tags/tag140.xml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165.xml"/><Relationship Id="rId7" Type="http://schemas.openxmlformats.org/officeDocument/2006/relationships/image" Target="../media/image26.png"/><Relationship Id="rId6" Type="http://schemas.openxmlformats.org/officeDocument/2006/relationships/tags" Target="../tags/tag164.xml"/><Relationship Id="rId5" Type="http://schemas.openxmlformats.org/officeDocument/2006/relationships/tags" Target="../tags/tag163.xml"/><Relationship Id="rId4" Type="http://schemas.openxmlformats.org/officeDocument/2006/relationships/image" Target="../media/image18.png"/><Relationship Id="rId3" Type="http://schemas.openxmlformats.org/officeDocument/2006/relationships/image" Target="../media/image6.png"/><Relationship Id="rId2" Type="http://schemas.openxmlformats.org/officeDocument/2006/relationships/tags" Target="../tags/tag162.xml"/><Relationship Id="rId10" Type="http://schemas.openxmlformats.org/officeDocument/2006/relationships/notesSlide" Target="../notesSlides/notesSlide9.xml"/><Relationship Id="rId1" Type="http://schemas.openxmlformats.org/officeDocument/2006/relationships/tags" Target="../tags/tag161.xml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tags" Target="../tags/tag173.xml"/><Relationship Id="rId8" Type="http://schemas.openxmlformats.org/officeDocument/2006/relationships/tags" Target="../tags/tag172.xml"/><Relationship Id="rId7" Type="http://schemas.openxmlformats.org/officeDocument/2006/relationships/tags" Target="../tags/tag171.xml"/><Relationship Id="rId6" Type="http://schemas.openxmlformats.org/officeDocument/2006/relationships/tags" Target="../tags/tag170.xml"/><Relationship Id="rId5" Type="http://schemas.openxmlformats.org/officeDocument/2006/relationships/tags" Target="../tags/tag169.xml"/><Relationship Id="rId4" Type="http://schemas.openxmlformats.org/officeDocument/2006/relationships/tags" Target="../tags/tag168.xml"/><Relationship Id="rId30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29" Type="http://schemas.openxmlformats.org/officeDocument/2006/relationships/slideLayout" Target="../slideLayouts/slideLayout1.xml"/><Relationship Id="rId28" Type="http://schemas.openxmlformats.org/officeDocument/2006/relationships/tags" Target="../tags/tag192.xml"/><Relationship Id="rId27" Type="http://schemas.openxmlformats.org/officeDocument/2006/relationships/tags" Target="../tags/tag191.xml"/><Relationship Id="rId26" Type="http://schemas.openxmlformats.org/officeDocument/2006/relationships/tags" Target="../tags/tag190.xml"/><Relationship Id="rId25" Type="http://schemas.openxmlformats.org/officeDocument/2006/relationships/tags" Target="../tags/tag189.xml"/><Relationship Id="rId24" Type="http://schemas.openxmlformats.org/officeDocument/2006/relationships/tags" Target="../tags/tag188.xml"/><Relationship Id="rId23" Type="http://schemas.openxmlformats.org/officeDocument/2006/relationships/tags" Target="../tags/tag187.xml"/><Relationship Id="rId22" Type="http://schemas.openxmlformats.org/officeDocument/2006/relationships/tags" Target="../tags/tag186.xml"/><Relationship Id="rId21" Type="http://schemas.openxmlformats.org/officeDocument/2006/relationships/tags" Target="../tags/tag185.xml"/><Relationship Id="rId20" Type="http://schemas.openxmlformats.org/officeDocument/2006/relationships/tags" Target="../tags/tag184.xml"/><Relationship Id="rId2" Type="http://schemas.openxmlformats.org/officeDocument/2006/relationships/tags" Target="../tags/tag167.xml"/><Relationship Id="rId19" Type="http://schemas.openxmlformats.org/officeDocument/2006/relationships/tags" Target="../tags/tag183.xml"/><Relationship Id="rId18" Type="http://schemas.openxmlformats.org/officeDocument/2006/relationships/tags" Target="../tags/tag182.xml"/><Relationship Id="rId17" Type="http://schemas.openxmlformats.org/officeDocument/2006/relationships/tags" Target="../tags/tag181.xml"/><Relationship Id="rId16" Type="http://schemas.openxmlformats.org/officeDocument/2006/relationships/tags" Target="../tags/tag180.xml"/><Relationship Id="rId15" Type="http://schemas.openxmlformats.org/officeDocument/2006/relationships/tags" Target="../tags/tag179.xml"/><Relationship Id="rId14" Type="http://schemas.openxmlformats.org/officeDocument/2006/relationships/tags" Target="../tags/tag178.xml"/><Relationship Id="rId13" Type="http://schemas.openxmlformats.org/officeDocument/2006/relationships/tags" Target="../tags/tag177.xml"/><Relationship Id="rId12" Type="http://schemas.openxmlformats.org/officeDocument/2006/relationships/tags" Target="../tags/tag176.xml"/><Relationship Id="rId11" Type="http://schemas.openxmlformats.org/officeDocument/2006/relationships/tags" Target="../tags/tag175.xml"/><Relationship Id="rId10" Type="http://schemas.openxmlformats.org/officeDocument/2006/relationships/tags" Target="../tags/tag174.xml"/><Relationship Id="rId1" Type="http://schemas.openxmlformats.org/officeDocument/2006/relationships/tags" Target="../tags/tag166.xml"/></Relationships>
</file>

<file path=ppt/slides/_rels/slide16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9.xml"/><Relationship Id="rId5" Type="http://schemas.openxmlformats.org/officeDocument/2006/relationships/tags" Target="../tags/tag196.xml"/><Relationship Id="rId4" Type="http://schemas.openxmlformats.org/officeDocument/2006/relationships/image" Target="../media/image6.png"/><Relationship Id="rId3" Type="http://schemas.openxmlformats.org/officeDocument/2006/relationships/tags" Target="../tags/tag195.xml"/><Relationship Id="rId2" Type="http://schemas.openxmlformats.org/officeDocument/2006/relationships/tags" Target="../tags/tag194.xml"/><Relationship Id="rId1" Type="http://schemas.openxmlformats.org/officeDocument/2006/relationships/tags" Target="../tags/tag193.xml"/></Relationships>
</file>

<file path=ppt/slides/_rels/slide17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1.xml"/><Relationship Id="rId5" Type="http://schemas.openxmlformats.org/officeDocument/2006/relationships/slideLayout" Target="../slideLayouts/slideLayout12.xml"/><Relationship Id="rId4" Type="http://schemas.openxmlformats.org/officeDocument/2006/relationships/tags" Target="../tags/tag199.xml"/><Relationship Id="rId3" Type="http://schemas.openxmlformats.org/officeDocument/2006/relationships/tags" Target="../tags/tag198.xml"/><Relationship Id="rId2" Type="http://schemas.openxmlformats.org/officeDocument/2006/relationships/tags" Target="../tags/tag197.xml"/><Relationship Id="rId1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2.xml"/><Relationship Id="rId5" Type="http://schemas.openxmlformats.org/officeDocument/2006/relationships/slideLayout" Target="../slideLayouts/slideLayout12.xml"/><Relationship Id="rId4" Type="http://schemas.openxmlformats.org/officeDocument/2006/relationships/tags" Target="../tags/tag202.xml"/><Relationship Id="rId3" Type="http://schemas.openxmlformats.org/officeDocument/2006/relationships/tags" Target="../tags/tag201.xml"/><Relationship Id="rId2" Type="http://schemas.openxmlformats.org/officeDocument/2006/relationships/tags" Target="../tags/tag200.xml"/><Relationship Id="rId1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3.xml"/><Relationship Id="rId5" Type="http://schemas.openxmlformats.org/officeDocument/2006/relationships/slideLayout" Target="../slideLayouts/slideLayout12.xml"/><Relationship Id="rId4" Type="http://schemas.openxmlformats.org/officeDocument/2006/relationships/tags" Target="../tags/tag205.xml"/><Relationship Id="rId3" Type="http://schemas.openxmlformats.org/officeDocument/2006/relationships/tags" Target="../tags/tag204.xml"/><Relationship Id="rId2" Type="http://schemas.openxmlformats.org/officeDocument/2006/relationships/tags" Target="../tags/tag203.xml"/><Relationship Id="rId1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9.xml"/><Relationship Id="rId5" Type="http://schemas.openxmlformats.org/officeDocument/2006/relationships/tags" Target="../tags/tag209.xml"/><Relationship Id="rId4" Type="http://schemas.openxmlformats.org/officeDocument/2006/relationships/image" Target="../media/image6.png"/><Relationship Id="rId3" Type="http://schemas.openxmlformats.org/officeDocument/2006/relationships/tags" Target="../tags/tag208.xml"/><Relationship Id="rId2" Type="http://schemas.openxmlformats.org/officeDocument/2006/relationships/tags" Target="../tags/tag207.xml"/><Relationship Id="rId1" Type="http://schemas.openxmlformats.org/officeDocument/2006/relationships/tags" Target="../tags/tag206.xml"/></Relationships>
</file>

<file path=ppt/slides/_rels/slide2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4.xml"/><Relationship Id="rId4" Type="http://schemas.openxmlformats.org/officeDocument/2006/relationships/slideLayout" Target="../slideLayouts/slideLayout13.xml"/><Relationship Id="rId3" Type="http://schemas.openxmlformats.org/officeDocument/2006/relationships/image" Target="../media/image6.png"/><Relationship Id="rId2" Type="http://schemas.openxmlformats.org/officeDocument/2006/relationships/tags" Target="../tags/tag211.xml"/><Relationship Id="rId1" Type="http://schemas.openxmlformats.org/officeDocument/2006/relationships/tags" Target="../tags/tag210.xml"/></Relationships>
</file>

<file path=ppt/slides/_rels/slide22.xml.rels><?xml version="1.0" encoding="UTF-8" standalone="yes"?>
<Relationships xmlns="http://schemas.openxmlformats.org/package/2006/relationships"><Relationship Id="rId9" Type="http://schemas.openxmlformats.org/officeDocument/2006/relationships/image" Target="../media/image29.png"/><Relationship Id="rId8" Type="http://schemas.openxmlformats.org/officeDocument/2006/relationships/image" Target="../media/image28.png"/><Relationship Id="rId7" Type="http://schemas.openxmlformats.org/officeDocument/2006/relationships/image" Target="../media/image27.png"/><Relationship Id="rId6" Type="http://schemas.openxmlformats.org/officeDocument/2006/relationships/tags" Target="../tags/tag216.xml"/><Relationship Id="rId5" Type="http://schemas.openxmlformats.org/officeDocument/2006/relationships/tags" Target="../tags/tag215.xml"/><Relationship Id="rId4" Type="http://schemas.openxmlformats.org/officeDocument/2006/relationships/tags" Target="../tags/tag214.xml"/><Relationship Id="rId3" Type="http://schemas.openxmlformats.org/officeDocument/2006/relationships/image" Target="../media/image6.png"/><Relationship Id="rId2" Type="http://schemas.openxmlformats.org/officeDocument/2006/relationships/tags" Target="../tags/tag213.xml"/><Relationship Id="rId16" Type="http://schemas.openxmlformats.org/officeDocument/2006/relationships/notesSlide" Target="../notesSlides/notesSlide15.xml"/><Relationship Id="rId15" Type="http://schemas.openxmlformats.org/officeDocument/2006/relationships/slideLayout" Target="../slideLayouts/slideLayout12.xml"/><Relationship Id="rId14" Type="http://schemas.openxmlformats.org/officeDocument/2006/relationships/image" Target="../media/image34.png"/><Relationship Id="rId13" Type="http://schemas.openxmlformats.org/officeDocument/2006/relationships/image" Target="../media/image33.png"/><Relationship Id="rId12" Type="http://schemas.openxmlformats.org/officeDocument/2006/relationships/image" Target="../media/image32.png"/><Relationship Id="rId11" Type="http://schemas.openxmlformats.org/officeDocument/2006/relationships/image" Target="../media/image31.png"/><Relationship Id="rId10" Type="http://schemas.openxmlformats.org/officeDocument/2006/relationships/image" Target="../media/image30.png"/><Relationship Id="rId1" Type="http://schemas.openxmlformats.org/officeDocument/2006/relationships/tags" Target="../tags/tag212.xml"/></Relationships>
</file>

<file path=ppt/slides/_rels/slide2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6.xml"/><Relationship Id="rId4" Type="http://schemas.openxmlformats.org/officeDocument/2006/relationships/slideLayout" Target="../slideLayouts/slideLayout3.xml"/><Relationship Id="rId3" Type="http://schemas.openxmlformats.org/officeDocument/2006/relationships/tags" Target="../tags/tag218.xml"/><Relationship Id="rId2" Type="http://schemas.openxmlformats.org/officeDocument/2006/relationships/tags" Target="../tags/tag217.xml"/><Relationship Id="rId1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tags" Target="../tags/tag222.xml"/><Relationship Id="rId5" Type="http://schemas.openxmlformats.org/officeDocument/2006/relationships/tags" Target="../tags/tag221.xml"/><Relationship Id="rId4" Type="http://schemas.openxmlformats.org/officeDocument/2006/relationships/tags" Target="../tags/tag220.xml"/><Relationship Id="rId3" Type="http://schemas.openxmlformats.org/officeDocument/2006/relationships/tags" Target="../tags/tag219.xml"/><Relationship Id="rId2" Type="http://schemas.openxmlformats.org/officeDocument/2006/relationships/image" Target="../media/image35.png"/><Relationship Id="rId1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9" Type="http://schemas.openxmlformats.org/officeDocument/2006/relationships/image" Target="../media/image37.jpeg"/><Relationship Id="rId8" Type="http://schemas.openxmlformats.org/officeDocument/2006/relationships/tags" Target="../tags/tag228.xml"/><Relationship Id="rId7" Type="http://schemas.openxmlformats.org/officeDocument/2006/relationships/image" Target="../media/image36.png"/><Relationship Id="rId6" Type="http://schemas.openxmlformats.org/officeDocument/2006/relationships/tags" Target="../tags/tag227.xml"/><Relationship Id="rId5" Type="http://schemas.openxmlformats.org/officeDocument/2006/relationships/tags" Target="../tags/tag226.xml"/><Relationship Id="rId4" Type="http://schemas.openxmlformats.org/officeDocument/2006/relationships/tags" Target="../tags/tag225.xml"/><Relationship Id="rId3" Type="http://schemas.openxmlformats.org/officeDocument/2006/relationships/tags" Target="../tags/tag224.xml"/><Relationship Id="rId2" Type="http://schemas.openxmlformats.org/officeDocument/2006/relationships/tags" Target="../tags/tag223.xml"/><Relationship Id="rId11" Type="http://schemas.openxmlformats.org/officeDocument/2006/relationships/slideLayout" Target="../slideLayouts/slideLayout14.xml"/><Relationship Id="rId10" Type="http://schemas.openxmlformats.org/officeDocument/2006/relationships/tags" Target="../tags/tag229.xml"/><Relationship Id="rId1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9.xml"/><Relationship Id="rId5" Type="http://schemas.openxmlformats.org/officeDocument/2006/relationships/tags" Target="../tags/tag233.xml"/><Relationship Id="rId4" Type="http://schemas.openxmlformats.org/officeDocument/2006/relationships/image" Target="../media/image6.png"/><Relationship Id="rId3" Type="http://schemas.openxmlformats.org/officeDocument/2006/relationships/tags" Target="../tags/tag232.xml"/><Relationship Id="rId2" Type="http://schemas.openxmlformats.org/officeDocument/2006/relationships/tags" Target="../tags/tag231.xml"/><Relationship Id="rId1" Type="http://schemas.openxmlformats.org/officeDocument/2006/relationships/tags" Target="../tags/tag230.xml"/></Relationships>
</file>

<file path=ppt/slides/_rels/slide27.xml.rels><?xml version="1.0" encoding="UTF-8" standalone="yes"?>
<Relationships xmlns="http://schemas.openxmlformats.org/package/2006/relationships"><Relationship Id="rId9" Type="http://schemas.openxmlformats.org/officeDocument/2006/relationships/image" Target="../media/image40.png"/><Relationship Id="rId8" Type="http://schemas.openxmlformats.org/officeDocument/2006/relationships/image" Target="../media/image39.svg"/><Relationship Id="rId7" Type="http://schemas.openxmlformats.org/officeDocument/2006/relationships/image" Target="../media/image38.png"/><Relationship Id="rId6" Type="http://schemas.openxmlformats.org/officeDocument/2006/relationships/image" Target="../media/image6.png"/><Relationship Id="rId5" Type="http://schemas.openxmlformats.org/officeDocument/2006/relationships/tags" Target="../tags/tag235.xml"/><Relationship Id="rId4" Type="http://schemas.openxmlformats.org/officeDocument/2006/relationships/tags" Target="../tags/tag234.xml"/><Relationship Id="rId3" Type="http://schemas.openxmlformats.org/officeDocument/2006/relationships/chart" Target="../charts/chart3.xml"/><Relationship Id="rId28" Type="http://schemas.openxmlformats.org/officeDocument/2006/relationships/slideLayout" Target="../slideLayouts/slideLayout1.xml"/><Relationship Id="rId27" Type="http://schemas.openxmlformats.org/officeDocument/2006/relationships/tags" Target="../tags/tag248.xml"/><Relationship Id="rId26" Type="http://schemas.openxmlformats.org/officeDocument/2006/relationships/tags" Target="../tags/tag247.xml"/><Relationship Id="rId25" Type="http://schemas.openxmlformats.org/officeDocument/2006/relationships/tags" Target="../tags/tag246.xml"/><Relationship Id="rId24" Type="http://schemas.openxmlformats.org/officeDocument/2006/relationships/tags" Target="../tags/tag245.xml"/><Relationship Id="rId23" Type="http://schemas.openxmlformats.org/officeDocument/2006/relationships/tags" Target="../tags/tag244.xml"/><Relationship Id="rId22" Type="http://schemas.openxmlformats.org/officeDocument/2006/relationships/tags" Target="../tags/tag243.xml"/><Relationship Id="rId21" Type="http://schemas.openxmlformats.org/officeDocument/2006/relationships/tags" Target="../tags/tag242.xml"/><Relationship Id="rId20" Type="http://schemas.openxmlformats.org/officeDocument/2006/relationships/tags" Target="../tags/tag241.xml"/><Relationship Id="rId2" Type="http://schemas.openxmlformats.org/officeDocument/2006/relationships/chart" Target="../charts/chart2.xml"/><Relationship Id="rId19" Type="http://schemas.openxmlformats.org/officeDocument/2006/relationships/tags" Target="../tags/tag240.xml"/><Relationship Id="rId18" Type="http://schemas.openxmlformats.org/officeDocument/2006/relationships/tags" Target="../tags/tag239.xml"/><Relationship Id="rId17" Type="http://schemas.openxmlformats.org/officeDocument/2006/relationships/tags" Target="../tags/tag238.xml"/><Relationship Id="rId16" Type="http://schemas.openxmlformats.org/officeDocument/2006/relationships/tags" Target="../tags/tag237.xml"/><Relationship Id="rId15" Type="http://schemas.openxmlformats.org/officeDocument/2006/relationships/tags" Target="../tags/tag236.xml"/><Relationship Id="rId14" Type="http://schemas.openxmlformats.org/officeDocument/2006/relationships/image" Target="../media/image45.svg"/><Relationship Id="rId13" Type="http://schemas.openxmlformats.org/officeDocument/2006/relationships/image" Target="../media/image44.png"/><Relationship Id="rId12" Type="http://schemas.openxmlformats.org/officeDocument/2006/relationships/image" Target="../media/image43.svg"/><Relationship Id="rId11" Type="http://schemas.openxmlformats.org/officeDocument/2006/relationships/image" Target="../media/image42.png"/><Relationship Id="rId10" Type="http://schemas.openxmlformats.org/officeDocument/2006/relationships/image" Target="../media/image41.svg"/><Relationship Id="rId1" Type="http://schemas.openxmlformats.org/officeDocument/2006/relationships/chart" Target="../charts/chart1.xml"/></Relationships>
</file>

<file path=ppt/slides/_rels/slide28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.png"/><Relationship Id="rId8" Type="http://schemas.openxmlformats.org/officeDocument/2006/relationships/tags" Target="../tags/tag252.xml"/><Relationship Id="rId7" Type="http://schemas.openxmlformats.org/officeDocument/2006/relationships/tags" Target="../tags/tag251.xml"/><Relationship Id="rId6" Type="http://schemas.openxmlformats.org/officeDocument/2006/relationships/tags" Target="../tags/tag250.xml"/><Relationship Id="rId5" Type="http://schemas.openxmlformats.org/officeDocument/2006/relationships/tags" Target="../tags/tag249.xml"/><Relationship Id="rId4" Type="http://schemas.openxmlformats.org/officeDocument/2006/relationships/chart" Target="../charts/chart7.xml"/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1" Type="http://schemas.openxmlformats.org/officeDocument/2006/relationships/slideLayout" Target="../slideLayouts/slideLayout1.xml"/><Relationship Id="rId10" Type="http://schemas.openxmlformats.org/officeDocument/2006/relationships/image" Target="../media/image6.png"/><Relationship Id="rId1" Type="http://schemas.openxmlformats.org/officeDocument/2006/relationships/chart" Target="../charts/chart4.xml"/></Relationships>
</file>

<file path=ppt/slides/_rels/slide29.xml.rels><?xml version="1.0" encoding="UTF-8" standalone="yes"?>
<Relationships xmlns="http://schemas.openxmlformats.org/package/2006/relationships"><Relationship Id="rId9" Type="http://schemas.openxmlformats.org/officeDocument/2006/relationships/tags" Target="../tags/tag259.xml"/><Relationship Id="rId8" Type="http://schemas.openxmlformats.org/officeDocument/2006/relationships/tags" Target="../tags/tag258.xml"/><Relationship Id="rId7" Type="http://schemas.openxmlformats.org/officeDocument/2006/relationships/tags" Target="../tags/tag257.xml"/><Relationship Id="rId6" Type="http://schemas.openxmlformats.org/officeDocument/2006/relationships/tags" Target="../tags/tag256.xml"/><Relationship Id="rId5" Type="http://schemas.openxmlformats.org/officeDocument/2006/relationships/tags" Target="../tags/tag255.xml"/><Relationship Id="rId4" Type="http://schemas.openxmlformats.org/officeDocument/2006/relationships/tags" Target="../tags/tag254.xml"/><Relationship Id="rId3" Type="http://schemas.openxmlformats.org/officeDocument/2006/relationships/tags" Target="../tags/tag253.xml"/><Relationship Id="rId24" Type="http://schemas.openxmlformats.org/officeDocument/2006/relationships/slideLayout" Target="../slideLayouts/slideLayout1.xml"/><Relationship Id="rId23" Type="http://schemas.openxmlformats.org/officeDocument/2006/relationships/image" Target="../media/image53.svg"/><Relationship Id="rId22" Type="http://schemas.openxmlformats.org/officeDocument/2006/relationships/image" Target="../media/image52.png"/><Relationship Id="rId21" Type="http://schemas.openxmlformats.org/officeDocument/2006/relationships/image" Target="../media/image51.svg"/><Relationship Id="rId20" Type="http://schemas.openxmlformats.org/officeDocument/2006/relationships/image" Target="../media/image50.png"/><Relationship Id="rId2" Type="http://schemas.openxmlformats.org/officeDocument/2006/relationships/chart" Target="../charts/chart9.xml"/><Relationship Id="rId19" Type="http://schemas.openxmlformats.org/officeDocument/2006/relationships/image" Target="../media/image49.svg"/><Relationship Id="rId18" Type="http://schemas.openxmlformats.org/officeDocument/2006/relationships/image" Target="../media/image48.png"/><Relationship Id="rId17" Type="http://schemas.openxmlformats.org/officeDocument/2006/relationships/image" Target="../media/image47.svg"/><Relationship Id="rId16" Type="http://schemas.openxmlformats.org/officeDocument/2006/relationships/image" Target="../media/image46.png"/><Relationship Id="rId15" Type="http://schemas.openxmlformats.org/officeDocument/2006/relationships/image" Target="../media/image6.png"/><Relationship Id="rId14" Type="http://schemas.openxmlformats.org/officeDocument/2006/relationships/tags" Target="../tags/tag264.xml"/><Relationship Id="rId13" Type="http://schemas.openxmlformats.org/officeDocument/2006/relationships/tags" Target="../tags/tag263.xml"/><Relationship Id="rId12" Type="http://schemas.openxmlformats.org/officeDocument/2006/relationships/tags" Target="../tags/tag262.xml"/><Relationship Id="rId11" Type="http://schemas.openxmlformats.org/officeDocument/2006/relationships/tags" Target="../tags/tag261.xml"/><Relationship Id="rId10" Type="http://schemas.openxmlformats.org/officeDocument/2006/relationships/tags" Target="../tags/tag260.xml"/><Relationship Id="rId1" Type="http://schemas.openxmlformats.org/officeDocument/2006/relationships/chart" Target="../charts/chart8.xml"/></Relationships>
</file>

<file path=ppt/slides/_rels/slide30.xml.rels><?xml version="1.0" encoding="UTF-8" standalone="yes"?>
<Relationships xmlns="http://schemas.openxmlformats.org/package/2006/relationships"><Relationship Id="rId9" Type="http://schemas.openxmlformats.org/officeDocument/2006/relationships/image" Target="../media/image58.png"/><Relationship Id="rId8" Type="http://schemas.openxmlformats.org/officeDocument/2006/relationships/image" Target="../media/image57.svg"/><Relationship Id="rId7" Type="http://schemas.openxmlformats.org/officeDocument/2006/relationships/image" Target="../media/image56.png"/><Relationship Id="rId6" Type="http://schemas.openxmlformats.org/officeDocument/2006/relationships/tags" Target="../tags/tag267.xml"/><Relationship Id="rId5" Type="http://schemas.openxmlformats.org/officeDocument/2006/relationships/image" Target="../media/image55.svg"/><Relationship Id="rId4" Type="http://schemas.openxmlformats.org/officeDocument/2006/relationships/image" Target="../media/image54.png"/><Relationship Id="rId3" Type="http://schemas.openxmlformats.org/officeDocument/2006/relationships/tags" Target="../tags/tag266.xml"/><Relationship Id="rId24" Type="http://schemas.openxmlformats.org/officeDocument/2006/relationships/slideLayout" Target="../slideLayouts/slideLayout1.xml"/><Relationship Id="rId23" Type="http://schemas.openxmlformats.org/officeDocument/2006/relationships/image" Target="../media/image6.png"/><Relationship Id="rId22" Type="http://schemas.openxmlformats.org/officeDocument/2006/relationships/image" Target="../media/image67.svg"/><Relationship Id="rId21" Type="http://schemas.openxmlformats.org/officeDocument/2006/relationships/image" Target="../media/image66.png"/><Relationship Id="rId20" Type="http://schemas.openxmlformats.org/officeDocument/2006/relationships/tags" Target="../tags/tag270.xml"/><Relationship Id="rId2" Type="http://schemas.openxmlformats.org/officeDocument/2006/relationships/tags" Target="../tags/tag265.xml"/><Relationship Id="rId19" Type="http://schemas.openxmlformats.org/officeDocument/2006/relationships/image" Target="../media/image65.svg"/><Relationship Id="rId18" Type="http://schemas.openxmlformats.org/officeDocument/2006/relationships/image" Target="../media/image64.png"/><Relationship Id="rId17" Type="http://schemas.openxmlformats.org/officeDocument/2006/relationships/image" Target="../media/image63.svg"/><Relationship Id="rId16" Type="http://schemas.openxmlformats.org/officeDocument/2006/relationships/image" Target="../media/image62.png"/><Relationship Id="rId15" Type="http://schemas.openxmlformats.org/officeDocument/2006/relationships/tags" Target="../tags/tag269.xml"/><Relationship Id="rId14" Type="http://schemas.openxmlformats.org/officeDocument/2006/relationships/image" Target="../media/image61.svg"/><Relationship Id="rId13" Type="http://schemas.openxmlformats.org/officeDocument/2006/relationships/image" Target="../media/image60.png"/><Relationship Id="rId12" Type="http://schemas.openxmlformats.org/officeDocument/2006/relationships/tags" Target="../tags/tag268.xml"/><Relationship Id="rId11" Type="http://schemas.openxmlformats.org/officeDocument/2006/relationships/image" Target="../media/image14.png"/><Relationship Id="rId10" Type="http://schemas.openxmlformats.org/officeDocument/2006/relationships/image" Target="../media/image59.svg"/><Relationship Id="rId1" Type="http://schemas.openxmlformats.org/officeDocument/2006/relationships/chart" Target="../charts/char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8"/>
          <p:cNvSpPr txBox="1">
            <a:spLocks noChangeArrowheads="1"/>
          </p:cNvSpPr>
          <p:nvPr/>
        </p:nvSpPr>
        <p:spPr bwMode="auto">
          <a:xfrm>
            <a:off x="5744845" y="3801110"/>
            <a:ext cx="5744210" cy="3454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68580" tIns="34290" rIns="68580" bIns="34290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1800" dirty="0">
                <a:solidFill>
                  <a:srgbClr val="216EE3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rPr>
              <a:t>保护业务</a:t>
            </a:r>
            <a:r>
              <a:rPr lang="en-US" altLang="zh-CN" sz="1800" dirty="0">
                <a:solidFill>
                  <a:srgbClr val="216EE3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rPr>
              <a:t> ·</a:t>
            </a:r>
            <a:r>
              <a:rPr lang="zh-CN" altLang="en-US" sz="1800" dirty="0">
                <a:solidFill>
                  <a:srgbClr val="216EE3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rPr>
              <a:t>通报应对</a:t>
            </a:r>
            <a:r>
              <a:rPr lang="en-US" altLang="zh-CN" sz="1800" dirty="0">
                <a:solidFill>
                  <a:srgbClr val="216EE3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rPr>
              <a:t>· </a:t>
            </a:r>
            <a:r>
              <a:rPr lang="zh-CN" altLang="en-US" sz="1800" dirty="0">
                <a:solidFill>
                  <a:srgbClr val="216EE3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rPr>
              <a:t>安全价值量化</a:t>
            </a:r>
            <a:r>
              <a:rPr lang="en-US" altLang="zh-CN" sz="1800" dirty="0">
                <a:solidFill>
                  <a:srgbClr val="216EE3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rPr>
              <a:t> · </a:t>
            </a:r>
            <a:r>
              <a:rPr lang="zh-CN" altLang="en-US" sz="1800" dirty="0">
                <a:solidFill>
                  <a:srgbClr val="216EE3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rPr>
              <a:t>安全水位提升</a:t>
            </a:r>
            <a:endParaRPr lang="zh-CN" altLang="en-US" sz="1800" dirty="0">
              <a:solidFill>
                <a:srgbClr val="216EE3"/>
              </a:solidFill>
              <a:latin typeface="Arial" panose="020B0604020202020204" pitchFamily="34" charset="0"/>
              <a:ea typeface="黑体-简" panose="02000000000000000000" charset="-122"/>
              <a:cs typeface="微软雅黑" panose="020B0503020204020204" charset="-122"/>
              <a:sym typeface="+mn-ea"/>
            </a:endParaRPr>
          </a:p>
        </p:txBody>
      </p:sp>
      <p:grpSp>
        <p:nvGrpSpPr>
          <p:cNvPr id="7" name="组合 6"/>
          <p:cNvGrpSpPr/>
          <p:nvPr/>
        </p:nvGrpSpPr>
        <p:grpSpPr>
          <a:xfrm>
            <a:off x="5271770" y="2325370"/>
            <a:ext cx="6217285" cy="1490980"/>
            <a:chOff x="8301" y="2872"/>
            <a:chExt cx="9791" cy="2348"/>
          </a:xfrm>
        </p:grpSpPr>
        <p:sp>
          <p:nvSpPr>
            <p:cNvPr id="5" name="文本框 8"/>
            <p:cNvSpPr txBox="1"/>
            <p:nvPr>
              <p:custDataLst>
                <p:tags r:id="rId2"/>
              </p:custDataLst>
            </p:nvPr>
          </p:nvSpPr>
          <p:spPr>
            <a:xfrm>
              <a:off x="8301" y="3755"/>
              <a:ext cx="9791" cy="1465"/>
            </a:xfrm>
            <a:prstGeom prst="rect">
              <a:avLst/>
            </a:prstGeom>
            <a:ln w="12700">
              <a:miter lim="400000"/>
            </a:ln>
          </p:spPr>
          <p:txBody>
            <a:bodyPr wrap="square" lIns="34290" tIns="34290" rIns="34290" bIns="34290">
              <a:spAutoFit/>
            </a:bodyPr>
            <a:lstStyle>
              <a:lvl1pPr>
                <a:defRPr sz="3200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defRPr>
              </a:lvl1pPr>
            </a:lstStyle>
            <a:p>
              <a:pPr algn="r"/>
              <a:r>
                <a:rPr lang="en-US" altLang="zh-CN" sz="2800" dirty="0" smtClean="0">
                  <a:gradFill>
                    <a:gsLst>
                      <a:gs pos="50000">
                        <a:schemeClr val="tx1"/>
                      </a:gs>
                      <a:gs pos="0">
                        <a:schemeClr val="tx1">
                          <a:lumMod val="25000"/>
                          <a:lumOff val="75000"/>
                        </a:schemeClr>
                      </a:gs>
                      <a:gs pos="100000">
                        <a:schemeClr val="tx1">
                          <a:lumMod val="85000"/>
                        </a:schemeClr>
                      </a:gs>
                    </a:gsLst>
                    <a:lin ang="5400000" scaled="1"/>
                  </a:gradFill>
                  <a:latin typeface="Arial" panose="020B0604020202020204" pitchFamily="34" charset="0"/>
                  <a:ea typeface="黑体-简" panose="02000000000000000000" charset="-122"/>
                </a:rPr>
                <a:t>2025</a:t>
              </a:r>
              <a:r>
                <a:rPr lang="zh-CN" altLang="en-US" sz="2800" dirty="0" smtClean="0">
                  <a:gradFill>
                    <a:gsLst>
                      <a:gs pos="50000">
                        <a:schemeClr val="tx1"/>
                      </a:gs>
                      <a:gs pos="0">
                        <a:schemeClr val="tx1">
                          <a:lumMod val="25000"/>
                          <a:lumOff val="75000"/>
                        </a:schemeClr>
                      </a:gs>
                      <a:gs pos="100000">
                        <a:schemeClr val="tx1">
                          <a:lumMod val="85000"/>
                        </a:schemeClr>
                      </a:gs>
                    </a:gsLst>
                    <a:lin ang="5400000" scaled="1"/>
                  </a:gradFill>
                  <a:latin typeface="Arial" panose="020B0604020202020204" pitchFamily="34" charset="0"/>
                  <a:ea typeface="黑体-简" panose="02000000000000000000" charset="-122"/>
                </a:rPr>
                <a:t>年网络安全工作复盘暨</a:t>
              </a:r>
              <a:r>
                <a:rPr lang="en-US" altLang="zh-CN" sz="2800" dirty="0" smtClean="0">
                  <a:gradFill>
                    <a:gsLst>
                      <a:gs pos="50000">
                        <a:schemeClr val="tx1"/>
                      </a:gs>
                      <a:gs pos="0">
                        <a:schemeClr val="tx1">
                          <a:lumMod val="25000"/>
                          <a:lumOff val="75000"/>
                        </a:schemeClr>
                      </a:gs>
                      <a:gs pos="100000">
                        <a:schemeClr val="tx1">
                          <a:lumMod val="85000"/>
                        </a:schemeClr>
                      </a:gs>
                    </a:gsLst>
                    <a:lin ang="5400000" scaled="1"/>
                  </a:gradFill>
                  <a:latin typeface="Arial" panose="020B0604020202020204" pitchFamily="34" charset="0"/>
                  <a:ea typeface="黑体-简" panose="02000000000000000000" charset="-122"/>
                </a:rPr>
                <a:t>2026</a:t>
              </a:r>
              <a:r>
                <a:rPr lang="zh-CN" altLang="en-US" sz="2800" dirty="0" smtClean="0">
                  <a:gradFill>
                    <a:gsLst>
                      <a:gs pos="50000">
                        <a:schemeClr val="tx1"/>
                      </a:gs>
                      <a:gs pos="0">
                        <a:schemeClr val="tx1">
                          <a:lumMod val="25000"/>
                          <a:lumOff val="75000"/>
                        </a:schemeClr>
                      </a:gs>
                      <a:gs pos="100000">
                        <a:schemeClr val="tx1">
                          <a:lumMod val="85000"/>
                        </a:schemeClr>
                      </a:gs>
                    </a:gsLst>
                    <a:lin ang="5400000" scaled="1"/>
                  </a:gradFill>
                  <a:latin typeface="Arial" panose="020B0604020202020204" pitchFamily="34" charset="0"/>
                  <a:ea typeface="黑体-简" panose="02000000000000000000" charset="-122"/>
                </a:rPr>
                <a:t>展望</a:t>
              </a:r>
              <a:endParaRPr lang="zh-CN" altLang="en-US" sz="2800" dirty="0" smtClean="0">
                <a:gradFill>
                  <a:gsLst>
                    <a:gs pos="50000">
                      <a:schemeClr val="tx1"/>
                    </a:gs>
                    <a:gs pos="0">
                      <a:schemeClr val="tx1">
                        <a:lumMod val="25000"/>
                        <a:lumOff val="75000"/>
                      </a:schemeClr>
                    </a:gs>
                    <a:gs pos="100000">
                      <a:schemeClr val="tx1">
                        <a:lumMod val="85000"/>
                      </a:schemeClr>
                    </a:gs>
                  </a:gsLst>
                  <a:lin ang="5400000" scaled="1"/>
                </a:gradFill>
                <a:latin typeface="Arial" panose="020B0604020202020204" pitchFamily="34" charset="0"/>
                <a:ea typeface="黑体-简" panose="02000000000000000000" charset="-122"/>
              </a:endParaRPr>
            </a:p>
          </p:txBody>
        </p:sp>
        <p:sp>
          <p:nvSpPr>
            <p:cNvPr id="4" name="文本框 8"/>
            <p:cNvSpPr txBox="1"/>
            <p:nvPr>
              <p:custDataLst>
                <p:tags r:id="rId3"/>
              </p:custDataLst>
            </p:nvPr>
          </p:nvSpPr>
          <p:spPr>
            <a:xfrm>
              <a:off x="8695" y="2872"/>
              <a:ext cx="9397" cy="883"/>
            </a:xfrm>
            <a:prstGeom prst="rect">
              <a:avLst/>
            </a:prstGeom>
            <a:ln w="12700">
              <a:miter lim="400000"/>
            </a:ln>
          </p:spPr>
          <p:txBody>
            <a:bodyPr wrap="square" lIns="34290" tIns="34290" rIns="34290" bIns="34290">
              <a:spAutoFit/>
            </a:bodyPr>
            <a:lstStyle>
              <a:lvl1pPr>
                <a:defRPr sz="3200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defRPr>
              </a:lvl1pPr>
            </a:lstStyle>
            <a:p>
              <a:pPr algn="r"/>
              <a:r>
                <a:rPr lang="en-US" altLang="zh-CN" dirty="0" smtClean="0">
                  <a:gradFill>
                    <a:gsLst>
                      <a:gs pos="50000">
                        <a:schemeClr val="tx1"/>
                      </a:gs>
                      <a:gs pos="0">
                        <a:schemeClr val="tx1">
                          <a:lumMod val="25000"/>
                          <a:lumOff val="75000"/>
                        </a:schemeClr>
                      </a:gs>
                      <a:gs pos="100000">
                        <a:schemeClr val="tx1">
                          <a:lumMod val="85000"/>
                        </a:schemeClr>
                      </a:gs>
                    </a:gsLst>
                    <a:lin ang="5400000" scaled="1"/>
                  </a:gradFill>
                  <a:latin typeface="Arial Black" panose="020B0A04020102020204" pitchFamily="34" charset="0"/>
                  <a:ea typeface="微软雅黑" panose="020B0503020204020204" charset="-122"/>
                </a:rPr>
                <a:t>{{company}}&amp;</a:t>
              </a:r>
              <a:r>
                <a:rPr lang="zh-CN" altLang="en-US" dirty="0" smtClean="0">
                  <a:gradFill>
                    <a:gsLst>
                      <a:gs pos="50000">
                        <a:schemeClr val="tx1"/>
                      </a:gs>
                      <a:gs pos="0">
                        <a:schemeClr val="tx1">
                          <a:lumMod val="25000"/>
                          <a:lumOff val="75000"/>
                        </a:schemeClr>
                      </a:gs>
                      <a:gs pos="100000">
                        <a:schemeClr val="tx1">
                          <a:lumMod val="85000"/>
                        </a:schemeClr>
                      </a:gs>
                    </a:gsLst>
                    <a:lin ang="5400000" scaled="1"/>
                  </a:gradFill>
                  <a:latin typeface="Arial Black" panose="020B0A04020102020204" pitchFamily="34" charset="0"/>
                  <a:ea typeface="微软雅黑" panose="020B0503020204020204" charset="-122"/>
                </a:rPr>
                <a:t>深信服科技</a:t>
              </a:r>
              <a:endParaRPr lang="zh-CN" altLang="en-US" dirty="0" smtClean="0">
                <a:gradFill>
                  <a:gsLst>
                    <a:gs pos="50000">
                      <a:schemeClr val="tx1"/>
                    </a:gs>
                    <a:gs pos="0">
                      <a:schemeClr val="tx1">
                        <a:lumMod val="25000"/>
                        <a:lumOff val="75000"/>
                      </a:schemeClr>
                    </a:gs>
                    <a:gs pos="100000">
                      <a:schemeClr val="tx1">
                        <a:lumMod val="85000"/>
                      </a:schemeClr>
                    </a:gs>
                  </a:gsLst>
                  <a:lin ang="5400000" scaled="1"/>
                </a:gradFill>
                <a:latin typeface="Arial Black" panose="020B0A04020102020204" pitchFamily="34" charset="0"/>
                <a:ea typeface="微软雅黑" panose="020B0503020204020204" charset="-122"/>
              </a:endParaRPr>
            </a:p>
          </p:txBody>
        </p:sp>
      </p:grpSp>
      <p:sp>
        <p:nvSpPr>
          <p:cNvPr id="6" name="文本框 8"/>
          <p:cNvSpPr txBox="1">
            <a:spLocks noChangeArrowheads="1"/>
          </p:cNvSpPr>
          <p:nvPr/>
        </p:nvSpPr>
        <p:spPr bwMode="auto">
          <a:xfrm>
            <a:off x="6732905" y="4562475"/>
            <a:ext cx="4755515" cy="3454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68580" tIns="34290" rIns="68580" bIns="34290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1800" dirty="0">
                <a:solidFill>
                  <a:srgbClr val="515151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rPr>
              <a:t>运营周期</a:t>
            </a:r>
            <a:r>
              <a:rPr lang="en-US" altLang="zh-CN" sz="1800" dirty="0">
                <a:solidFill>
                  <a:srgbClr val="515151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rPr>
              <a:t>：</a:t>
            </a:r>
            <a:r>
              <a:rPr lang="en-US" altLang="zh-CN" sz="1800" dirty="0">
                <a:solidFill>
                  <a:srgbClr val="5151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{{period_start}} </a:t>
            </a:r>
            <a:r>
              <a:rPr lang="en-US" altLang="zh-CN" sz="1800" b="1" dirty="0">
                <a:solidFill>
                  <a:srgbClr val="5151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~ </a:t>
            </a:r>
            <a:r>
              <a:rPr lang="en-US" altLang="zh-CN" sz="1800" dirty="0">
                <a:solidFill>
                  <a:srgbClr val="5151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{{period_end}}</a:t>
            </a:r>
            <a:endParaRPr lang="en-US" altLang="zh-CN" sz="1800" dirty="0">
              <a:solidFill>
                <a:srgbClr val="51515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pic>
        <p:nvPicPr>
          <p:cNvPr id="8" name="图片 7" descr="LOGO-深信服&amp;智安全@4x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255" y="5992495"/>
            <a:ext cx="3002280" cy="42418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box 18"/>
          <p:cNvSpPr/>
          <p:nvPr/>
        </p:nvSpPr>
        <p:spPr>
          <a:xfrm>
            <a:off x="0" y="676910"/>
            <a:ext cx="5527675" cy="136800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 anchor="ctr" anchorCtr="0"/>
          <a:p>
            <a:pPr algn="l" rtl="0" eaLnBrk="0">
              <a:lnSpc>
                <a:spcPct val="96000"/>
              </a:lnSpc>
            </a:pPr>
            <a:r>
              <a:rPr lang="en-US" altLang="zh-CN" sz="8800" b="1" kern="0" spc="60" dirty="0">
                <a:ln>
                  <a:gradFill>
                    <a:gsLst>
                      <a:gs pos="0">
                        <a:srgbClr val="FFFFFF"/>
                      </a:gs>
                      <a:gs pos="100000">
                        <a:srgbClr val="FFFFFF">
                          <a:alpha val="36000"/>
                        </a:srgbClr>
                      </a:gs>
                    </a:gsLst>
                    <a:lin ang="5400000" scaled="1"/>
                  </a:gradFill>
                </a:ln>
                <a:noFill/>
                <a:latin typeface="微软雅黑" panose="020B0503020204020204" charset="-122"/>
                <a:ea typeface="微软雅黑" panose="020B0503020204020204" charset="-122"/>
                <a:cs typeface="黑体" panose="02010609060101010101" charset="-122"/>
              </a:rPr>
              <a:t>contents</a:t>
            </a:r>
            <a:endParaRPr lang="en-US" altLang="zh-CN" sz="8800" b="1" kern="0" spc="60" dirty="0">
              <a:ln>
                <a:gradFill>
                  <a:gsLst>
                    <a:gs pos="0">
                      <a:srgbClr val="FFFFFF"/>
                    </a:gs>
                    <a:gs pos="100000">
                      <a:srgbClr val="FFFFFF">
                        <a:alpha val="36000"/>
                      </a:srgbClr>
                    </a:gs>
                  </a:gsLst>
                  <a:lin ang="5400000" scaled="1"/>
                </a:gradFill>
              </a:ln>
              <a:noFill/>
              <a:latin typeface="微软雅黑" panose="020B0503020204020204" charset="-122"/>
              <a:ea typeface="微软雅黑" panose="020B0503020204020204" charset="-122"/>
              <a:cs typeface="黑体" panose="02010609060101010101" charset="-122"/>
            </a:endParaRPr>
          </a:p>
        </p:txBody>
      </p:sp>
      <p:sp>
        <p:nvSpPr>
          <p:cNvPr id="23" name="textbox 18"/>
          <p:cNvSpPr/>
          <p:nvPr/>
        </p:nvSpPr>
        <p:spPr>
          <a:xfrm>
            <a:off x="2851150" y="1457325"/>
            <a:ext cx="2094865" cy="91884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 anchor="ctr" anchorCtr="0"/>
          <a:p>
            <a:pPr algn="l" rtl="0" eaLnBrk="0">
              <a:lnSpc>
                <a:spcPct val="96000"/>
              </a:lnSpc>
            </a:pPr>
            <a:r>
              <a:rPr sz="6600" b="1" kern="0" spc="60" dirty="0">
                <a:solidFill>
                  <a:srgbClr val="0C51C2"/>
                </a:solidFill>
                <a:latin typeface="微软雅黑" panose="020B0503020204020204" charset="-122"/>
                <a:ea typeface="微软雅黑" panose="020B0503020204020204" charset="-122"/>
                <a:cs typeface="黑体" panose="02010609060101010101" charset="-122"/>
              </a:rPr>
              <a:t>目</a:t>
            </a:r>
            <a:r>
              <a:rPr lang="en-US" sz="6600" b="1" kern="0" spc="60" dirty="0">
                <a:solidFill>
                  <a:srgbClr val="0C51C2"/>
                </a:solidFill>
                <a:latin typeface="微软雅黑" panose="020B0503020204020204" charset="-122"/>
                <a:ea typeface="微软雅黑" panose="020B0503020204020204" charset="-122"/>
                <a:cs typeface="黑体" panose="02010609060101010101" charset="-122"/>
              </a:rPr>
              <a:t> </a:t>
            </a:r>
            <a:r>
              <a:rPr sz="6600" b="1" kern="0" spc="60" dirty="0">
                <a:solidFill>
                  <a:srgbClr val="0C51C2"/>
                </a:solidFill>
                <a:latin typeface="微软雅黑" panose="020B0503020204020204" charset="-122"/>
                <a:ea typeface="微软雅黑" panose="020B0503020204020204" charset="-122"/>
                <a:cs typeface="黑体" panose="02010609060101010101" charset="-122"/>
              </a:rPr>
              <a:t>录</a:t>
            </a:r>
            <a:endParaRPr sz="6600" b="1" kern="0" spc="60" dirty="0">
              <a:solidFill>
                <a:srgbClr val="0C51C2"/>
              </a:solidFill>
              <a:latin typeface="微软雅黑" panose="020B0503020204020204" charset="-122"/>
              <a:ea typeface="微软雅黑" panose="020B0503020204020204" charset="-122"/>
              <a:cs typeface="黑体" panose="02010609060101010101" charset="-122"/>
            </a:endParaRPr>
          </a:p>
        </p:txBody>
      </p:sp>
      <p:pic>
        <p:nvPicPr>
          <p:cNvPr id="68" name="图片 67" descr="深信服 + 智安全"/>
          <p:cNvPicPr>
            <a:picLocks noChangeAspect="1"/>
          </p:cNvPicPr>
          <p:nvPr/>
        </p:nvPicPr>
        <p:blipFill>
          <a:blip r:embed="rId2"/>
          <a:srcRect l="5232" t="26576" r="4938" b="29565"/>
          <a:stretch>
            <a:fillRect/>
          </a:stretch>
        </p:blipFill>
        <p:spPr>
          <a:xfrm>
            <a:off x="10330815" y="273073"/>
            <a:ext cx="1629867" cy="360000"/>
          </a:xfrm>
          <a:prstGeom prst="rect">
            <a:avLst/>
          </a:prstGeom>
        </p:spPr>
      </p:pic>
      <p:pic>
        <p:nvPicPr>
          <p:cNvPr id="62" name="图片 61" descr="病毒检测@4x"/>
          <p:cNvPicPr>
            <a:picLocks noChangeAspect="1"/>
          </p:cNvPicPr>
          <p:nvPr/>
        </p:nvPicPr>
        <p:blipFill>
          <a:blip r:embed="rId3">
            <a:alphaModFix amt="84000"/>
          </a:blip>
          <a:srcRect l="-4651" t="-6497" r="18828" b="21030"/>
          <a:stretch>
            <a:fillRect/>
          </a:stretch>
        </p:blipFill>
        <p:spPr>
          <a:xfrm flipH="1">
            <a:off x="0" y="2709545"/>
            <a:ext cx="8221980" cy="4148455"/>
          </a:xfrm>
          <a:prstGeom prst="rect">
            <a:avLst/>
          </a:prstGeom>
        </p:spPr>
      </p:pic>
      <p:grpSp>
        <p:nvGrpSpPr>
          <p:cNvPr id="24" name="组合 23"/>
          <p:cNvGrpSpPr/>
          <p:nvPr>
            <p:custDataLst>
              <p:tags r:id="rId4"/>
            </p:custDataLst>
          </p:nvPr>
        </p:nvGrpSpPr>
        <p:grpSpPr>
          <a:xfrm rot="0">
            <a:off x="7091045" y="1797320"/>
            <a:ext cx="3239770" cy="468000"/>
            <a:chOff x="10673" y="2666"/>
            <a:chExt cx="5102" cy="874"/>
          </a:xfrm>
        </p:grpSpPr>
        <p:sp>
          <p:nvSpPr>
            <p:cNvPr id="25" name="文本框 24"/>
            <p:cNvSpPr txBox="1"/>
            <p:nvPr>
              <p:custDataLst>
                <p:tags r:id="rId5"/>
              </p:custDataLst>
            </p:nvPr>
          </p:nvSpPr>
          <p:spPr>
            <a:xfrm>
              <a:off x="10673" y="2666"/>
              <a:ext cx="4692" cy="484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>
              <a:noAutofit/>
            </a:bodyPr>
            <a:p>
              <a:pPr algn="l"/>
              <a:r>
                <a:rPr lang="zh-CN" altLang="en-US" b="1" kern="0">
                  <a:uFillTx/>
                  <a:latin typeface="Arial" panose="020B0604020202020204" pitchFamily="34" charset="0"/>
                  <a:ea typeface="黑体-简" panose="02000000000000000000" charset="-122"/>
                  <a:cs typeface="微软雅黑" panose="020B0503020204020204" charset="-122"/>
                  <a:sym typeface="+mn-ea"/>
                </a:rPr>
                <a:t>目标与协作机制回顾</a:t>
              </a:r>
              <a:endParaRPr lang="zh-CN" altLang="en-US" b="1" u="none" strike="noStrike" kern="0"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endParaRPr>
            </a:p>
          </p:txBody>
        </p:sp>
        <p:sp>
          <p:nvSpPr>
            <p:cNvPr id="26" name="文本框 25"/>
            <p:cNvSpPr txBox="1"/>
            <p:nvPr>
              <p:custDataLst>
                <p:tags r:id="rId6"/>
              </p:custDataLst>
            </p:nvPr>
          </p:nvSpPr>
          <p:spPr>
            <a:xfrm>
              <a:off x="10673" y="3200"/>
              <a:ext cx="5102" cy="34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ctr" anchorCtr="0">
              <a:noAutofit/>
            </a:bodyPr>
            <a:p>
              <a:pPr marL="20955" algn="l" rtl="0" eaLnBrk="0">
                <a:lnSpc>
                  <a:spcPct val="89000"/>
                </a:lnSpc>
                <a:spcBef>
                  <a:spcPts val="85"/>
                </a:spcBef>
              </a:pPr>
              <a:r>
                <a:rPr lang="zh-CN" altLang="en-US" sz="1200" kern="0" spc="6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回顾预期目标与协作机制</a:t>
              </a:r>
              <a:endParaRPr lang="zh-CN" altLang="en-US" sz="1200" kern="0" spc="6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endParaRPr>
            </a:p>
          </p:txBody>
        </p:sp>
      </p:grpSp>
      <p:grpSp>
        <p:nvGrpSpPr>
          <p:cNvPr id="29" name="组合 28"/>
          <p:cNvGrpSpPr/>
          <p:nvPr>
            <p:custDataLst>
              <p:tags r:id="rId7"/>
            </p:custDataLst>
          </p:nvPr>
        </p:nvGrpSpPr>
        <p:grpSpPr>
          <a:xfrm>
            <a:off x="7091045" y="2729772"/>
            <a:ext cx="3239770" cy="468000"/>
            <a:chOff x="11278" y="3926"/>
            <a:chExt cx="5102" cy="859"/>
          </a:xfrm>
        </p:grpSpPr>
        <p:sp>
          <p:nvSpPr>
            <p:cNvPr id="30" name="文本框 29"/>
            <p:cNvSpPr txBox="1"/>
            <p:nvPr>
              <p:custDataLst>
                <p:tags r:id="rId8"/>
              </p:custDataLst>
            </p:nvPr>
          </p:nvSpPr>
          <p:spPr>
            <a:xfrm>
              <a:off x="11278" y="3926"/>
              <a:ext cx="4692" cy="484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>
              <a:noAutofit/>
            </a:bodyPr>
            <a:p>
              <a:pPr algn="l"/>
              <a:r>
                <a:rPr lang="zh-CN" altLang="en-US" b="1" kern="0">
                  <a:uFillTx/>
                  <a:latin typeface="Arial" panose="020B0604020202020204" pitchFamily="34" charset="0"/>
                  <a:ea typeface="黑体-简" panose="02000000000000000000" charset="-122"/>
                  <a:cs typeface="微软雅黑" panose="020B0503020204020204" charset="-122"/>
                  <a:sym typeface="+mn-ea"/>
                </a:rPr>
                <a:t>共同的工作成果总结</a:t>
              </a:r>
              <a:endParaRPr lang="en-US" altLang="zh-CN" b="1" u="none" strike="noStrike" kern="0"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endParaRPr>
            </a:p>
          </p:txBody>
        </p:sp>
        <p:sp>
          <p:nvSpPr>
            <p:cNvPr id="35" name="文本框 34"/>
            <p:cNvSpPr txBox="1"/>
            <p:nvPr>
              <p:custDataLst>
                <p:tags r:id="rId9"/>
              </p:custDataLst>
            </p:nvPr>
          </p:nvSpPr>
          <p:spPr>
            <a:xfrm>
              <a:off x="11278" y="4445"/>
              <a:ext cx="5102" cy="34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ctr" anchorCtr="0">
              <a:noAutofit/>
            </a:bodyPr>
            <a:p>
              <a:pPr marL="12700" algn="l" rtl="0" eaLnBrk="0">
                <a:lnSpc>
                  <a:spcPct val="100000"/>
                </a:lnSpc>
                <a:spcBef>
                  <a:spcPts val="5"/>
                </a:spcBef>
              </a:pPr>
              <a:r>
                <a:rPr lang="zh-CN" altLang="en-US" sz="1200" kern="0" spc="7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保护业务安全、提升安全水位线</a:t>
              </a:r>
              <a:endParaRPr lang="zh-CN" altLang="en-US" sz="1200" kern="0" spc="7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endParaRPr>
            </a:p>
          </p:txBody>
        </p:sp>
      </p:grpSp>
      <p:grpSp>
        <p:nvGrpSpPr>
          <p:cNvPr id="36" name="组合 35"/>
          <p:cNvGrpSpPr/>
          <p:nvPr>
            <p:custDataLst>
              <p:tags r:id="rId10"/>
            </p:custDataLst>
          </p:nvPr>
        </p:nvGrpSpPr>
        <p:grpSpPr>
          <a:xfrm rot="0">
            <a:off x="7091045" y="3661952"/>
            <a:ext cx="3239770" cy="468000"/>
            <a:chOff x="11278" y="3926"/>
            <a:chExt cx="5102" cy="859"/>
          </a:xfrm>
        </p:grpSpPr>
        <p:sp>
          <p:nvSpPr>
            <p:cNvPr id="37" name="文本框 36"/>
            <p:cNvSpPr txBox="1"/>
            <p:nvPr>
              <p:custDataLst>
                <p:tags r:id="rId11"/>
              </p:custDataLst>
            </p:nvPr>
          </p:nvSpPr>
          <p:spPr>
            <a:xfrm>
              <a:off x="11278" y="3926"/>
              <a:ext cx="4692" cy="484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>
              <a:noAutofit/>
            </a:bodyPr>
            <a:p>
              <a:pPr lvl="0" algn="l">
                <a:buClrTx/>
                <a:buSzTx/>
                <a:buFontTx/>
              </a:pPr>
              <a:r>
                <a:rPr lang="zh-CN" altLang="en-US" b="1" u="none" strike="noStrike" kern="0">
                  <a:solidFill>
                    <a:schemeClr val="tx1"/>
                  </a:solidFill>
                  <a:uFillTx/>
                  <a:latin typeface="Arial" panose="020B0604020202020204" pitchFamily="34" charset="0"/>
                  <a:ea typeface="黑体-简" panose="02000000000000000000" charset="-122"/>
                  <a:cs typeface="微软雅黑" panose="020B0503020204020204" charset="-122"/>
                  <a:sym typeface="+mn-ea"/>
                </a:rPr>
                <a:t>共同挑战与应对思路</a:t>
              </a:r>
              <a:endParaRPr lang="zh-CN" altLang="en-US" b="1" u="none" strike="noStrike" kern="0"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endParaRPr>
            </a:p>
          </p:txBody>
        </p:sp>
        <p:sp>
          <p:nvSpPr>
            <p:cNvPr id="38" name="文本框 37"/>
            <p:cNvSpPr txBox="1"/>
            <p:nvPr>
              <p:custDataLst>
                <p:tags r:id="rId12"/>
              </p:custDataLst>
            </p:nvPr>
          </p:nvSpPr>
          <p:spPr>
            <a:xfrm>
              <a:off x="11278" y="4445"/>
              <a:ext cx="5102" cy="34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ctr" anchorCtr="0">
              <a:noAutofit/>
            </a:bodyPr>
            <a:p>
              <a:pPr algn="l"/>
              <a:r>
                <a:rPr lang="zh-CN" sz="1200" kern="0" spc="6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关键问题与应对思路</a:t>
              </a:r>
              <a:endParaRPr lang="zh-CN" sz="1200" kern="0" spc="6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endParaRPr>
            </a:p>
          </p:txBody>
        </p:sp>
      </p:grpSp>
      <p:grpSp>
        <p:nvGrpSpPr>
          <p:cNvPr id="39" name="组合 38"/>
          <p:cNvGrpSpPr/>
          <p:nvPr>
            <p:custDataLst>
              <p:tags r:id="rId13"/>
            </p:custDataLst>
          </p:nvPr>
        </p:nvGrpSpPr>
        <p:grpSpPr>
          <a:xfrm rot="0">
            <a:off x="7091045" y="4594132"/>
            <a:ext cx="3239770" cy="468000"/>
            <a:chOff x="11278" y="3926"/>
            <a:chExt cx="5102" cy="859"/>
          </a:xfrm>
        </p:grpSpPr>
        <p:sp>
          <p:nvSpPr>
            <p:cNvPr id="40" name="文本框 39"/>
            <p:cNvSpPr txBox="1"/>
            <p:nvPr>
              <p:custDataLst>
                <p:tags r:id="rId14"/>
              </p:custDataLst>
            </p:nvPr>
          </p:nvSpPr>
          <p:spPr>
            <a:xfrm>
              <a:off x="11278" y="3926"/>
              <a:ext cx="4692" cy="484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>
              <a:noAutofit/>
            </a:bodyPr>
            <a:p>
              <a:pPr lvl="0" algn="l">
                <a:buClrTx/>
                <a:buSzTx/>
                <a:buFontTx/>
              </a:pPr>
              <a:r>
                <a:rPr lang="zh-CN" altLang="en-US" b="1" kern="0">
                  <a:uFillTx/>
                  <a:latin typeface="Arial" panose="020B0604020202020204" pitchFamily="34" charset="0"/>
                  <a:ea typeface="黑体-简" panose="02000000000000000000" charset="-122"/>
                  <a:cs typeface="微软雅黑" panose="020B0503020204020204" charset="-122"/>
                  <a:sym typeface="+mn-ea"/>
                </a:rPr>
                <a:t>下阶段目标与协作计划</a:t>
              </a:r>
              <a:endParaRPr lang="zh-CN" altLang="en-US" b="1" u="none" strike="noStrike" kern="0"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endParaRPr>
            </a:p>
          </p:txBody>
        </p:sp>
        <p:sp>
          <p:nvSpPr>
            <p:cNvPr id="42" name="文本框 41"/>
            <p:cNvSpPr txBox="1"/>
            <p:nvPr>
              <p:custDataLst>
                <p:tags r:id="rId15"/>
              </p:custDataLst>
            </p:nvPr>
          </p:nvSpPr>
          <p:spPr>
            <a:xfrm>
              <a:off x="11278" y="4445"/>
              <a:ext cx="5102" cy="34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ctr" anchorCtr="0">
              <a:noAutofit/>
            </a:bodyPr>
            <a:p>
              <a:pPr marL="12700" algn="l" rtl="0" eaLnBrk="0">
                <a:lnSpc>
                  <a:spcPct val="100000"/>
                </a:lnSpc>
                <a:spcBef>
                  <a:spcPts val="0"/>
                </a:spcBef>
              </a:pPr>
              <a:r>
                <a:rPr lang="zh-CN" sz="1200" kern="0" spc="6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共同的目标与协作计划刷新</a:t>
              </a:r>
              <a:endParaRPr lang="zh-CN" sz="1200" kern="0" spc="6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endParaRPr>
            </a:p>
          </p:txBody>
        </p:sp>
      </p:grpSp>
      <p:sp>
        <p:nvSpPr>
          <p:cNvPr id="43" name="节编号"/>
          <p:cNvSpPr>
            <a:spLocks noGrp="1"/>
          </p:cNvSpPr>
          <p:nvPr>
            <p:custDataLst>
              <p:tags r:id="rId16"/>
            </p:custDataLst>
          </p:nvPr>
        </p:nvSpPr>
        <p:spPr>
          <a:xfrm>
            <a:off x="6029960" y="1671320"/>
            <a:ext cx="1008000" cy="72000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500" b="1" kern="1200"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100000">
                      <a:schemeClr val="accent1"/>
                    </a:gs>
                  </a:gsLst>
                  <a:lin ang="3600000" scaled="0"/>
                </a:gradFill>
                <a:latin typeface="+mn-lt"/>
                <a:ea typeface="+mn-ea"/>
                <a:cs typeface="+mn-cs"/>
              </a:defRPr>
            </a:lvl1pPr>
            <a:lvl2pPr marL="538480" indent="-20637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98830" indent="-16192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30605" indent="-14922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35075" indent="-12700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</a:pPr>
            <a:r>
              <a:rPr lang="en-US" altLang="en-US" sz="3600">
                <a:solidFill>
                  <a:srgbClr val="0C51C2"/>
                </a:solidFill>
                <a:latin typeface="Arial" panose="020B0604020202020204" pitchFamily="34" charset="0"/>
                <a:ea typeface="黑体-简" panose="02000000000000000000" charset="-122"/>
                <a:cs typeface="DINPro Bold" panose="02000503030000020004" charset="0"/>
              </a:rPr>
              <a:t>01</a:t>
            </a:r>
            <a:endParaRPr lang="en-US" altLang="en-US" sz="3600">
              <a:solidFill>
                <a:srgbClr val="0C51C2"/>
              </a:solidFill>
              <a:latin typeface="Arial" panose="020B0604020202020204" pitchFamily="34" charset="0"/>
              <a:ea typeface="黑体-简" panose="02000000000000000000" charset="-122"/>
              <a:cs typeface="DINPro Bold" panose="02000503030000020004" charset="0"/>
            </a:endParaRPr>
          </a:p>
        </p:txBody>
      </p:sp>
      <p:sp>
        <p:nvSpPr>
          <p:cNvPr id="45" name="节编号"/>
          <p:cNvSpPr>
            <a:spLocks noGrp="1"/>
          </p:cNvSpPr>
          <p:nvPr>
            <p:custDataLst>
              <p:tags r:id="rId17"/>
            </p:custDataLst>
          </p:nvPr>
        </p:nvSpPr>
        <p:spPr>
          <a:xfrm>
            <a:off x="6029960" y="2604045"/>
            <a:ext cx="1008000" cy="719455"/>
          </a:xfrm>
          <a:prstGeom prst="rect">
            <a:avLst/>
          </a:prstGeom>
        </p:spPr>
        <p:txBody>
          <a:bodyPr vert="horz" wrap="none" lIns="0" tIns="0" rIns="0" bIns="0" rtlCol="0"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500" b="1" kern="1200"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100000">
                      <a:schemeClr val="accent1"/>
                    </a:gs>
                  </a:gsLst>
                  <a:lin ang="3600000" scaled="0"/>
                </a:gradFill>
                <a:latin typeface="+mn-lt"/>
                <a:ea typeface="+mn-ea"/>
                <a:cs typeface="+mn-cs"/>
              </a:defRPr>
            </a:lvl1pPr>
            <a:lvl2pPr marL="538480" indent="-20637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98830" indent="-16192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30605" indent="-14922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35075" indent="-12700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</a:pPr>
            <a:r>
              <a:rPr lang="en-US" altLang="en-US" sz="3600">
                <a:solidFill>
                  <a:srgbClr val="0C51C2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rPr>
              <a:t>02</a:t>
            </a:r>
            <a:endParaRPr lang="en-US" altLang="en-US" sz="3600">
              <a:solidFill>
                <a:srgbClr val="0C51C2"/>
              </a:solidFill>
              <a:latin typeface="Arial" panose="020B0604020202020204" pitchFamily="34" charset="0"/>
              <a:ea typeface="微软雅黑" panose="020B0503020204020204" charset="-122"/>
              <a:cs typeface="Arial" panose="020B0604020202020204" pitchFamily="34" charset="0"/>
            </a:endParaRPr>
          </a:p>
        </p:txBody>
      </p:sp>
      <p:sp>
        <p:nvSpPr>
          <p:cNvPr id="46" name="节编号"/>
          <p:cNvSpPr>
            <a:spLocks noGrp="1"/>
          </p:cNvSpPr>
          <p:nvPr>
            <p:custDataLst>
              <p:tags r:id="rId18"/>
            </p:custDataLst>
          </p:nvPr>
        </p:nvSpPr>
        <p:spPr>
          <a:xfrm>
            <a:off x="6029960" y="3536225"/>
            <a:ext cx="1008000" cy="719455"/>
          </a:xfrm>
          <a:prstGeom prst="rect">
            <a:avLst/>
          </a:prstGeom>
        </p:spPr>
        <p:txBody>
          <a:bodyPr vert="horz" wrap="none" lIns="0" tIns="0" rIns="0" bIns="0" rtlCol="0"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500" b="1" kern="1200"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100000">
                      <a:schemeClr val="accent1"/>
                    </a:gs>
                  </a:gsLst>
                  <a:lin ang="3600000" scaled="0"/>
                </a:gradFill>
                <a:latin typeface="+mn-lt"/>
                <a:ea typeface="+mn-ea"/>
                <a:cs typeface="+mn-cs"/>
              </a:defRPr>
            </a:lvl1pPr>
            <a:lvl2pPr marL="538480" indent="-20637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98830" indent="-16192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30605" indent="-14922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35075" indent="-12700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</a:pPr>
            <a:r>
              <a:rPr lang="en-US" altLang="en-US" sz="3600">
                <a:solidFill>
                  <a:srgbClr val="0C51C2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rPr>
              <a:t>03</a:t>
            </a:r>
            <a:endParaRPr lang="en-US" altLang="en-US" sz="3600">
              <a:solidFill>
                <a:srgbClr val="0C51C2"/>
              </a:solidFill>
              <a:latin typeface="Arial" panose="020B0604020202020204" pitchFamily="34" charset="0"/>
              <a:ea typeface="微软雅黑" panose="020B0503020204020204" charset="-122"/>
              <a:cs typeface="Arial" panose="020B0604020202020204" pitchFamily="34" charset="0"/>
            </a:endParaRPr>
          </a:p>
        </p:txBody>
      </p:sp>
      <p:sp>
        <p:nvSpPr>
          <p:cNvPr id="47" name="节编号"/>
          <p:cNvSpPr>
            <a:spLocks noGrp="1"/>
          </p:cNvSpPr>
          <p:nvPr>
            <p:custDataLst>
              <p:tags r:id="rId19"/>
            </p:custDataLst>
          </p:nvPr>
        </p:nvSpPr>
        <p:spPr>
          <a:xfrm>
            <a:off x="6029960" y="4468405"/>
            <a:ext cx="1008000" cy="719455"/>
          </a:xfrm>
          <a:prstGeom prst="rect">
            <a:avLst/>
          </a:prstGeom>
        </p:spPr>
        <p:txBody>
          <a:bodyPr vert="horz" wrap="none" lIns="0" tIns="0" rIns="0" bIns="0" rtlCol="0"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500" b="1" kern="1200"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100000">
                      <a:schemeClr val="accent1"/>
                    </a:gs>
                  </a:gsLst>
                  <a:lin ang="3600000" scaled="0"/>
                </a:gradFill>
                <a:latin typeface="+mn-lt"/>
                <a:ea typeface="+mn-ea"/>
                <a:cs typeface="+mn-cs"/>
              </a:defRPr>
            </a:lvl1pPr>
            <a:lvl2pPr marL="538480" indent="-20637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98830" indent="-16192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30605" indent="-14922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35075" indent="-12700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</a:pPr>
            <a:r>
              <a:rPr lang="en-US" altLang="en-US" sz="3600">
                <a:solidFill>
                  <a:srgbClr val="0C51C2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rPr>
              <a:t>04</a:t>
            </a:r>
            <a:endParaRPr lang="en-US" altLang="en-US" sz="3600">
              <a:solidFill>
                <a:srgbClr val="0C51C2"/>
              </a:solidFill>
              <a:latin typeface="Arial" panose="020B0604020202020204" pitchFamily="34" charset="0"/>
              <a:ea typeface="微软雅黑" panose="020B0503020204020204" charset="-122"/>
              <a:cs typeface="Arial" panose="020B0604020202020204" pitchFamily="34" charset="0"/>
            </a:endParaRPr>
          </a:p>
        </p:txBody>
      </p:sp>
    </p:spTree>
    <p:custDataLst>
      <p:tags r:id="rId20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文本框 43"/>
          <p:cNvSpPr txBox="1"/>
          <p:nvPr>
            <p:custDataLst>
              <p:tags r:id="rId1"/>
            </p:custDataLst>
          </p:nvPr>
        </p:nvSpPr>
        <p:spPr>
          <a:xfrm>
            <a:off x="6092825" y="3663315"/>
            <a:ext cx="4703445" cy="42481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p>
            <a:pPr marL="12700" algn="l" rtl="0" eaLnBrk="0">
              <a:lnSpc>
                <a:spcPct val="100000"/>
              </a:lnSpc>
              <a:spcBef>
                <a:spcPts val="5"/>
              </a:spcBef>
            </a:pPr>
            <a:r>
              <a:rPr lang="zh-CN" altLang="en-US" sz="1400" kern="0" spc="60" dirty="0">
                <a:solidFill>
                  <a:schemeClr val="dk1"/>
                </a:solidFill>
                <a:effectLst/>
                <a:uFillTx/>
                <a:latin typeface="Arial Black" panose="020B0A04020102020204" pitchFamily="34" charset="0"/>
                <a:ea typeface="微软雅黑" panose="020B0503020204020204" charset="-122"/>
                <a:cs typeface="黑体" panose="02010609060101010101" charset="-122"/>
                <a:sym typeface="+mn-ea"/>
              </a:rPr>
              <a:t>回顾预期目标与协作机制</a:t>
            </a:r>
            <a:endParaRPr lang="zh-CN" altLang="en-US" sz="1400" b="0" u="none" strike="noStrike" kern="0" spc="60" dirty="0">
              <a:solidFill>
                <a:schemeClr val="dk1"/>
              </a:solidFill>
              <a:effectLst/>
              <a:uFillTx/>
              <a:latin typeface="Arial Black" panose="020B0A04020102020204" pitchFamily="34" charset="0"/>
              <a:ea typeface="微软雅黑" panose="020B0503020204020204" charset="-122"/>
              <a:cs typeface="黑体" panose="02010609060101010101" charset="-122"/>
              <a:sym typeface="+mn-ea"/>
            </a:endParaRPr>
          </a:p>
        </p:txBody>
      </p:sp>
      <p:sp>
        <p:nvSpPr>
          <p:cNvPr id="4" name="标题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92825" y="2439035"/>
            <a:ext cx="4622800" cy="1224000"/>
          </a:xfrm>
        </p:spPr>
        <p:txBody>
          <a:bodyPr>
            <a:noAutofit/>
          </a:bodyPr>
          <a:lstStyle/>
          <a:p>
            <a:r>
              <a:rPr lang="zh-CN" altLang="en-US" sz="3200">
                <a:solidFill>
                  <a:srgbClr val="4C61E7"/>
                </a:solidFill>
                <a:latin typeface="Arial Black" panose="020B0A04020102020204" pitchFamily="34" charset="0"/>
                <a:ea typeface="微软雅黑" panose="020B0503020204020204" charset="-122"/>
                <a:sym typeface="+mn-ea"/>
              </a:rPr>
              <a:t>目标与协作机制回顾</a:t>
            </a:r>
            <a:endParaRPr lang="zh-CN" altLang="en-US" sz="3200">
              <a:solidFill>
                <a:srgbClr val="4C61E7"/>
              </a:solidFill>
              <a:latin typeface="Arial Black" panose="020B0A04020102020204" pitchFamily="34" charset="0"/>
              <a:ea typeface="微软雅黑" panose="020B0503020204020204" charset="-122"/>
            </a:endParaRPr>
          </a:p>
        </p:txBody>
      </p:sp>
      <p:sp>
        <p:nvSpPr>
          <p:cNvPr id="6" name="节编号"/>
          <p:cNvSpPr>
            <a:spLocks noGrp="1"/>
          </p:cNvSpPr>
          <p:nvPr>
            <p:ph type="body" sz="quarter" idx="13"/>
            <p:custDataLst>
              <p:tags r:id="rId3"/>
            </p:custDataLst>
          </p:nvPr>
        </p:nvSpPr>
        <p:spPr/>
        <p:txBody>
          <a:bodyPr>
            <a:normAutofit lnSpcReduction="20000"/>
          </a:bodyPr>
          <a:lstStyle/>
          <a:p>
            <a:r>
              <a:rPr lang="en-US" altLang="en-US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</a:rPr>
              <a:t>01</a:t>
            </a:r>
            <a:endParaRPr lang="en-US" altLang="en-US">
              <a:solidFill>
                <a:srgbClr val="4C61E7"/>
              </a:solidFill>
              <a:latin typeface="Arial" panose="020B0604020202020204" pitchFamily="34" charset="0"/>
              <a:ea typeface="黑体-简" panose="02000000000000000000" charset="-122"/>
            </a:endParaRPr>
          </a:p>
        </p:txBody>
      </p:sp>
      <p:pic>
        <p:nvPicPr>
          <p:cNvPr id="7" name="图片 6" descr="深信服 + 智安全"/>
          <p:cNvPicPr>
            <a:picLocks noChangeAspect="1"/>
          </p:cNvPicPr>
          <p:nvPr/>
        </p:nvPicPr>
        <p:blipFill>
          <a:blip r:embed="rId4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/>
          <p:cNvGrpSpPr/>
          <p:nvPr/>
        </p:nvGrpSpPr>
        <p:grpSpPr>
          <a:xfrm>
            <a:off x="224790" y="289878"/>
            <a:ext cx="4279900" cy="327025"/>
            <a:chOff x="533" y="646"/>
            <a:chExt cx="6740" cy="515"/>
          </a:xfrm>
        </p:grpSpPr>
        <p:grpSp>
          <p:nvGrpSpPr>
            <p:cNvPr id="13" name="组合 12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14" name="燕尾形 86"/>
              <p:cNvSpPr/>
              <p:nvPr>
                <p:custDataLst>
                  <p:tags r:id="rId1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16" name="燕尾形 103"/>
              <p:cNvSpPr/>
              <p:nvPr>
                <p:custDataLst>
                  <p:tags r:id="rId2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3" name="textbox 158"/>
            <p:cNvSpPr/>
            <p:nvPr/>
          </p:nvSpPr>
          <p:spPr>
            <a:xfrm>
              <a:off x="1345" y="646"/>
              <a:ext cx="5928" cy="51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p>
              <a:pPr algn="l" rtl="0" eaLnBrk="0">
                <a:lnSpc>
                  <a:spcPct val="78000"/>
                </a:lnSpc>
              </a:pPr>
              <a:endParaRPr sz="1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  <a:ea typeface="微软雅黑" panose="020B0503020204020204" charset="-122"/>
                <a:cs typeface="Arial" panose="020B0604020202020204"/>
              </a:endParaRPr>
            </a:p>
            <a:p>
              <a:pPr algn="l" rtl="0" eaLnBrk="0">
                <a:lnSpc>
                  <a:spcPct val="101000"/>
                </a:lnSpc>
              </a:pPr>
              <a:r>
                <a:rPr lang="zh-CN" altLang="en-US" sz="1900" b="1" noProof="0" dirty="0">
                  <a:solidFill>
                    <a:schemeClr val="tx1">
                      <a:lumMod val="85000"/>
                      <a:lumOff val="15000"/>
                    </a:schemeClr>
                  </a:solidFill>
                  <a:uLnTx/>
                  <a:latin typeface="Arial Black" panose="020B0A04020102020204" pitchFamily="34" charset="0"/>
                  <a:ea typeface="微软雅黑" panose="020B0503020204020204" charset="-122"/>
                  <a:sym typeface="Calibri" panose="020F0502020204030204" charset="0"/>
                </a:rPr>
                <a:t>我们共同的目标回顾</a:t>
              </a:r>
              <a:endPara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endParaRPr>
            </a:p>
          </p:txBody>
        </p:sp>
      </p:grpSp>
      <p:pic>
        <p:nvPicPr>
          <p:cNvPr id="5" name="图片 4" descr="深信服 + 智安全"/>
          <p:cNvPicPr>
            <a:picLocks noChangeAspect="1"/>
          </p:cNvPicPr>
          <p:nvPr/>
        </p:nvPicPr>
        <p:blipFill>
          <a:blip r:embed="rId3"/>
          <a:srcRect l="5232" t="26576" r="4938" b="29565"/>
          <a:stretch>
            <a:fillRect/>
          </a:stretch>
        </p:blipFill>
        <p:spPr>
          <a:xfrm>
            <a:off x="10330815" y="273073"/>
            <a:ext cx="1629867" cy="360000"/>
          </a:xfrm>
          <a:prstGeom prst="rect">
            <a:avLst/>
          </a:prstGeom>
        </p:spPr>
      </p:pic>
      <p:sp>
        <p:nvSpPr>
          <p:cNvPr id="21" name="正文"/>
          <p:cNvSpPr txBox="1"/>
          <p:nvPr>
            <p:custDataLst>
              <p:tags r:id="rId4"/>
            </p:custDataLst>
          </p:nvPr>
        </p:nvSpPr>
        <p:spPr>
          <a:xfrm>
            <a:off x="8653475" y="3302211"/>
            <a:ext cx="2086316" cy="315268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p>
            <a:pPr indent="0" algn="ctr" fontAlgn="auto">
              <a:lnSpc>
                <a:spcPct val="130000"/>
              </a:lnSpc>
            </a:pPr>
            <a:r>
              <a:rPr lang="zh-CN" altLang="en-US" sz="1500" b="1" spc="150" dirty="0">
                <a:solidFill>
                  <a:schemeClr val="accent5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rPr>
              <a:t>重要时期防守保障</a:t>
            </a:r>
            <a:endParaRPr lang="zh-CN" altLang="en-US" sz="1500" b="1" spc="150" dirty="0">
              <a:solidFill>
                <a:schemeClr val="accent5"/>
              </a:solidFill>
              <a:latin typeface="Arial" panose="020B0604020202020204" pitchFamily="34" charset="0"/>
              <a:ea typeface="黑体-简" panose="02000000000000000000" charset="-122"/>
              <a:cs typeface="微软雅黑" panose="020B0503020204020204" charset="-122"/>
            </a:endParaRPr>
          </a:p>
        </p:txBody>
      </p:sp>
      <p:sp>
        <p:nvSpPr>
          <p:cNvPr id="11" name="椭圆 10"/>
          <p:cNvSpPr/>
          <p:nvPr>
            <p:custDataLst>
              <p:tags r:id="rId5"/>
            </p:custDataLst>
          </p:nvPr>
        </p:nvSpPr>
        <p:spPr>
          <a:xfrm>
            <a:off x="9446456" y="2680628"/>
            <a:ext cx="500354" cy="500354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</a:endParaRPr>
          </a:p>
        </p:txBody>
      </p:sp>
      <p:pic>
        <p:nvPicPr>
          <p:cNvPr id="2" name="3" descr="斗争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p:blipFill>
        <p:spPr>
          <a:xfrm>
            <a:off x="9561356" y="2787604"/>
            <a:ext cx="270553" cy="270553"/>
          </a:xfrm>
          <a:prstGeom prst="rect">
            <a:avLst/>
          </a:prstGeom>
        </p:spPr>
      </p:pic>
      <p:sp>
        <p:nvSpPr>
          <p:cNvPr id="4" name="矩形 3"/>
          <p:cNvSpPr/>
          <p:nvPr>
            <p:custDataLst>
              <p:tags r:id="rId9"/>
            </p:custDataLst>
          </p:nvPr>
        </p:nvSpPr>
        <p:spPr>
          <a:xfrm>
            <a:off x="4460308" y="2257742"/>
            <a:ext cx="3240000" cy="3823970"/>
          </a:xfrm>
          <a:prstGeom prst="rect">
            <a:avLst/>
          </a:prstGeom>
          <a:noFill/>
          <a:ln>
            <a:gradFill>
              <a:gsLst>
                <a:gs pos="100000">
                  <a:schemeClr val="accent6">
                    <a:lumMod val="5000"/>
                    <a:lumOff val="95000"/>
                    <a:alpha val="0"/>
                  </a:schemeClr>
                </a:gs>
                <a:gs pos="55000">
                  <a:schemeClr val="accent6">
                    <a:alpha val="25000"/>
                  </a:schemeClr>
                </a:gs>
              </a:gsLst>
              <a:lin ang="5400000" scaled="1"/>
            </a:gradFill>
          </a:ln>
          <a:effectLst>
            <a:outerShdw blurRad="114300" sx="101000" sy="101000" algn="ctr" rotWithShape="0">
              <a:schemeClr val="accent6">
                <a:alpha val="59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ln>
                <a:noFill/>
              </a:ln>
              <a:solidFill>
                <a:schemeClr val="lt1"/>
              </a:solidFill>
              <a:sym typeface="+mn-ea"/>
            </a:endParaRPr>
          </a:p>
        </p:txBody>
      </p:sp>
      <p:sp>
        <p:nvSpPr>
          <p:cNvPr id="6" name="正文"/>
          <p:cNvSpPr txBox="1"/>
          <p:nvPr>
            <p:custDataLst>
              <p:tags r:id="rId10"/>
            </p:custDataLst>
          </p:nvPr>
        </p:nvSpPr>
        <p:spPr>
          <a:xfrm>
            <a:off x="5037150" y="3026951"/>
            <a:ext cx="2086316" cy="315268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p>
            <a:pPr indent="0" algn="ctr" fontAlgn="auto">
              <a:lnSpc>
                <a:spcPct val="130000"/>
              </a:lnSpc>
            </a:pPr>
            <a:r>
              <a:rPr lang="zh-CN" altLang="en-US" sz="1500" b="1" spc="150" dirty="0">
                <a:solidFill>
                  <a:schemeClr val="accent6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rPr>
              <a:t>核心业务安全保护</a:t>
            </a:r>
            <a:endParaRPr lang="zh-CN" altLang="en-US" sz="1500" b="1" spc="150" dirty="0">
              <a:solidFill>
                <a:schemeClr val="accent6"/>
              </a:solidFill>
              <a:latin typeface="Arial" panose="020B0604020202020204" pitchFamily="34" charset="0"/>
              <a:ea typeface="黑体-简" panose="02000000000000000000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8" name="椭圆 7"/>
          <p:cNvSpPr/>
          <p:nvPr>
            <p:custDataLst>
              <p:tags r:id="rId11"/>
            </p:custDataLst>
          </p:nvPr>
        </p:nvSpPr>
        <p:spPr>
          <a:xfrm>
            <a:off x="5830131" y="2405368"/>
            <a:ext cx="500354" cy="500354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</a:endParaRPr>
          </a:p>
        </p:txBody>
      </p:sp>
      <p:pic>
        <p:nvPicPr>
          <p:cNvPr id="9" name="2" descr="盾牌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>
            <a:fillRect/>
          </a:stretch>
        </p:blipFill>
        <p:spPr>
          <a:xfrm>
            <a:off x="5939937" y="2514042"/>
            <a:ext cx="280741" cy="280741"/>
          </a:xfrm>
          <a:prstGeom prst="rect">
            <a:avLst/>
          </a:prstGeom>
        </p:spPr>
      </p:pic>
      <p:sp>
        <p:nvSpPr>
          <p:cNvPr id="10" name="正文"/>
          <p:cNvSpPr txBox="1"/>
          <p:nvPr>
            <p:custDataLst>
              <p:tags r:id="rId15"/>
            </p:custDataLst>
          </p:nvPr>
        </p:nvSpPr>
        <p:spPr>
          <a:xfrm>
            <a:off x="1421185" y="3309196"/>
            <a:ext cx="2086316" cy="315268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p>
            <a:pPr indent="0" algn="ctr" fontAlgn="auto">
              <a:lnSpc>
                <a:spcPct val="130000"/>
              </a:lnSpc>
            </a:pPr>
            <a:r>
              <a:rPr lang="zh-CN" altLang="en-US" sz="1500" b="1" spc="150" dirty="0">
                <a:solidFill>
                  <a:schemeClr val="accent5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rPr>
              <a:t>安全考核与通报应对</a:t>
            </a:r>
            <a:endParaRPr lang="zh-CN" altLang="en-US" sz="1500" b="1" spc="150" dirty="0">
              <a:solidFill>
                <a:schemeClr val="accent5"/>
              </a:solidFill>
              <a:latin typeface="Arial" panose="020B0604020202020204" pitchFamily="34" charset="0"/>
              <a:ea typeface="黑体-简" panose="02000000000000000000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18" name="椭圆 17"/>
          <p:cNvSpPr/>
          <p:nvPr>
            <p:custDataLst>
              <p:tags r:id="rId16"/>
            </p:custDataLst>
          </p:nvPr>
        </p:nvSpPr>
        <p:spPr>
          <a:xfrm>
            <a:off x="2214166" y="2696503"/>
            <a:ext cx="500354" cy="500354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</a:endParaRPr>
          </a:p>
        </p:txBody>
      </p:sp>
      <p:pic>
        <p:nvPicPr>
          <p:cNvPr id="51" name="1" descr="审核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rcRect/>
          <a:stretch>
            <a:fillRect/>
          </a:stretch>
        </p:blipFill>
        <p:spPr>
          <a:xfrm>
            <a:off x="2327934" y="2802630"/>
            <a:ext cx="272817" cy="272817"/>
          </a:xfrm>
          <a:prstGeom prst="rect">
            <a:avLst/>
          </a:prstGeom>
        </p:spPr>
      </p:pic>
      <p:sp>
        <p:nvSpPr>
          <p:cNvPr id="19" name="矩形 18"/>
          <p:cNvSpPr/>
          <p:nvPr>
            <p:custDataLst>
              <p:tags r:id="rId20"/>
            </p:custDataLst>
          </p:nvPr>
        </p:nvSpPr>
        <p:spPr>
          <a:xfrm>
            <a:off x="8076633" y="2533003"/>
            <a:ext cx="3240000" cy="3560775"/>
          </a:xfrm>
          <a:prstGeom prst="rect">
            <a:avLst/>
          </a:prstGeom>
          <a:noFill/>
          <a:ln>
            <a:gradFill>
              <a:gsLst>
                <a:gs pos="100000">
                  <a:schemeClr val="accent5">
                    <a:lumMod val="5000"/>
                    <a:lumOff val="95000"/>
                    <a:alpha val="0"/>
                  </a:schemeClr>
                </a:gs>
                <a:gs pos="55000">
                  <a:schemeClr val="accent5">
                    <a:alpha val="25000"/>
                  </a:schemeClr>
                </a:gs>
              </a:gsLst>
              <a:lin ang="5400000" scaled="1"/>
            </a:gradFill>
          </a:ln>
          <a:effectLst>
            <a:outerShdw blurRad="114300" sx="101000" sy="101000" algn="ctr" rotWithShape="0">
              <a:schemeClr val="accent5">
                <a:alpha val="59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ln>
                <a:noFill/>
              </a:ln>
              <a:solidFill>
                <a:schemeClr val="lt1"/>
              </a:solidFill>
              <a:sym typeface="+mn-ea"/>
            </a:endParaRPr>
          </a:p>
        </p:txBody>
      </p:sp>
      <p:sp>
        <p:nvSpPr>
          <p:cNvPr id="20" name="矩形 19"/>
          <p:cNvSpPr/>
          <p:nvPr>
            <p:custDataLst>
              <p:tags r:id="rId21"/>
            </p:custDataLst>
          </p:nvPr>
        </p:nvSpPr>
        <p:spPr>
          <a:xfrm>
            <a:off x="844343" y="2539988"/>
            <a:ext cx="3240000" cy="3560775"/>
          </a:xfrm>
          <a:prstGeom prst="rect">
            <a:avLst/>
          </a:prstGeom>
          <a:noFill/>
          <a:ln>
            <a:gradFill>
              <a:gsLst>
                <a:gs pos="100000">
                  <a:schemeClr val="accent5">
                    <a:lumMod val="5000"/>
                    <a:lumOff val="95000"/>
                    <a:alpha val="0"/>
                  </a:schemeClr>
                </a:gs>
                <a:gs pos="55000">
                  <a:schemeClr val="accent5">
                    <a:alpha val="25000"/>
                  </a:schemeClr>
                </a:gs>
              </a:gsLst>
              <a:lin ang="5400000" scaled="1"/>
            </a:gradFill>
          </a:ln>
          <a:effectLst>
            <a:outerShdw blurRad="114300" sx="101000" sy="101000" algn="ctr" rotWithShape="0">
              <a:schemeClr val="accent5">
                <a:alpha val="59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ln>
                <a:noFill/>
              </a:ln>
              <a:solidFill>
                <a:schemeClr val="lt1"/>
              </a:solidFill>
              <a:sym typeface="+mn-ea"/>
            </a:endParaRPr>
          </a:p>
        </p:txBody>
      </p:sp>
      <p:sp>
        <p:nvSpPr>
          <p:cNvPr id="693" name="圆角矩形 692"/>
          <p:cNvSpPr/>
          <p:nvPr>
            <p:custDataLst>
              <p:tags r:id="rId22"/>
            </p:custDataLst>
          </p:nvPr>
        </p:nvSpPr>
        <p:spPr>
          <a:xfrm>
            <a:off x="669608" y="1215390"/>
            <a:ext cx="10800000" cy="865505"/>
          </a:xfrm>
          <a:prstGeom prst="roundRect">
            <a:avLst>
              <a:gd name="adj" fmla="val 11225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  <a:effectLst>
            <a:outerShdw blurRad="114300" dist="88900" dir="2700000" algn="tl" rotWithShape="0">
              <a:schemeClr val="accent5">
                <a:lumMod val="75000"/>
                <a:alpha val="15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zh-CN" altLang="en-US" sz="12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Calibri" panose="020F0502020204030204" pitchFamily="34" charset="-120"/>
                <a:sym typeface="+mn-ea"/>
              </a:rPr>
              <a:t>在国家及行业网络安全安全实战效果要求越来越高，外部网络安全态势愈加严峻多变的时代背景下。为</a:t>
            </a:r>
            <a:r>
              <a:rPr lang="en-US" sz="12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Calibri" panose="020F0502020204030204" pitchFamily="34" charset="-120"/>
                <a:sym typeface="+mn-ea"/>
              </a:rPr>
              <a:t>{{company}}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Calibri" panose="020F0502020204030204" pitchFamily="34" charset="-120"/>
                <a:sym typeface="+mn-ea"/>
              </a:rPr>
              <a:t>共同构建</a:t>
            </a:r>
            <a:r>
              <a:rPr lang="zh-CN" altLang="en-US" sz="12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Calibri" panose="020F0502020204030204" pitchFamily="34" charset="-120"/>
                <a:sym typeface="+mn-ea"/>
              </a:rPr>
              <a:t>起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Calibri" panose="020F0502020204030204" pitchFamily="34" charset="-120"/>
                <a:sym typeface="+mn-ea"/>
              </a:rPr>
              <a:t>以</a:t>
            </a:r>
            <a:r>
              <a:rPr lang="zh-CN" altLang="en-US" sz="12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Calibri" panose="020F0502020204030204" pitchFamily="34" charset="-120"/>
                <a:sym typeface="+mn-ea"/>
              </a:rPr>
              <a:t>保护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Calibri" panose="020F0502020204030204" pitchFamily="34" charset="-120"/>
                <a:sym typeface="+mn-ea"/>
              </a:rPr>
              <a:t>核心业务系统安全稳定运行</a:t>
            </a:r>
            <a:r>
              <a:rPr lang="zh-CN" altLang="en-US" sz="12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Calibri" panose="020F0502020204030204" pitchFamily="34" charset="-120"/>
                <a:sym typeface="+mn-ea"/>
              </a:rPr>
              <a:t>为中心的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Calibri" panose="020F0502020204030204" pitchFamily="34" charset="-120"/>
                <a:sym typeface="+mn-ea"/>
              </a:rPr>
              <a:t>主动防御、持续监测、快速响应的全面安全运营体系，为</a:t>
            </a:r>
            <a:r>
              <a:rPr lang="en-US" sz="12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Calibri" panose="020F0502020204030204" pitchFamily="34" charset="-120"/>
                <a:sym typeface="+mn-ea"/>
              </a:rPr>
              <a:t>{{company}}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Calibri" panose="020F0502020204030204" pitchFamily="34" charset="-120"/>
                <a:sym typeface="+mn-ea"/>
              </a:rPr>
              <a:t>的数字化转型保驾护航。</a:t>
            </a:r>
            <a:endParaRPr lang="en-US" altLang="en-US" sz="1200" b="1" dirty="0">
              <a:solidFill>
                <a:schemeClr val="tx1"/>
              </a:solidFill>
              <a:uFillTx/>
              <a:latin typeface="Arial" panose="020B0604020202020204" pitchFamily="34" charset="0"/>
              <a:ea typeface="黑体-简" panose="02000000000000000000" charset="-122"/>
              <a:cs typeface="Calibri" panose="020F0502020204030204" pitchFamily="34" charset="-120"/>
              <a:sym typeface="+mn-ea"/>
            </a:endParaRPr>
          </a:p>
        </p:txBody>
      </p:sp>
      <p:pic>
        <p:nvPicPr>
          <p:cNvPr id="705" name="图片 704" descr="1755071818846"/>
          <p:cNvPicPr/>
          <p:nvPr/>
        </p:nvPicPr>
        <p:blipFill>
          <a:blip r:embed="rId23"/>
          <a:stretch>
            <a:fillRect/>
          </a:stretch>
        </p:blipFill>
        <p:spPr>
          <a:xfrm>
            <a:off x="669608" y="6019800"/>
            <a:ext cx="10800000" cy="502285"/>
          </a:xfrm>
          <a:prstGeom prst="rect">
            <a:avLst/>
          </a:prstGeom>
        </p:spPr>
      </p:pic>
      <p:sp>
        <p:nvSpPr>
          <p:cNvPr id="706" name="文本框 705"/>
          <p:cNvSpPr txBox="1"/>
          <p:nvPr/>
        </p:nvSpPr>
        <p:spPr>
          <a:xfrm>
            <a:off x="859155" y="6052185"/>
            <a:ext cx="10575290" cy="43370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25400" tIns="25400" rIns="25400" bIns="25400" numCol="1" spcCol="38100" rtlCol="0" anchor="ctr" anchorCtr="0" forceAA="0">
            <a:noAutofit/>
          </a:bodyPr>
          <a:p>
            <a:pPr marL="0" marR="0" indent="0" algn="l" defTabSz="2438400" rtl="0" fontAlgn="auto" latinLnBrk="0" hangingPunc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zh-CN" sz="100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相互的信任和高效的协作是达成这一工作目标的坚实基础，每一次恶意外联拦截和清除主机风险、每一个被修复的漏洞和弱口令，都离不开</a:t>
            </a:r>
            <a:r>
              <a:rPr lang="en-US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Calibri" panose="020F0502020204030204" pitchFamily="34" charset="-120"/>
                <a:sym typeface="+mn-ea"/>
              </a:rPr>
              <a:t>{{company}}</a:t>
            </a:r>
            <a:r>
              <a:rPr lang="zh-CN" sz="1000" dirty="0">
                <a:solidFill>
                  <a:schemeClr val="tx1">
                    <a:alpha val="100000"/>
                  </a:scheme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同仁</a:t>
            </a:r>
            <a:r>
              <a:rPr lang="zh-CN" sz="100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的信任与支持，工作目标的</a:t>
            </a:r>
            <a:r>
              <a:rPr lang="zh-CN" sz="100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达成是我们共同的努力成果</a:t>
            </a:r>
            <a:endParaRPr lang="zh-CN" sz="1000" dirty="0">
              <a:solidFill>
                <a:srgbClr val="000000">
                  <a:alpha val="100000"/>
                </a:srgbClr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</p:txBody>
      </p:sp>
      <p:sp>
        <p:nvSpPr>
          <p:cNvPr id="32" name="正文"/>
          <p:cNvSpPr txBox="1"/>
          <p:nvPr>
            <p:custDataLst>
              <p:tags r:id="rId24"/>
            </p:custDataLst>
          </p:nvPr>
        </p:nvSpPr>
        <p:spPr>
          <a:xfrm>
            <a:off x="984885" y="3949065"/>
            <a:ext cx="2988310" cy="184594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p>
            <a:pPr lvl="0" indent="0" algn="l">
              <a:lnSpc>
                <a:spcPct val="130000"/>
              </a:lnSpc>
              <a:buClrTx/>
              <a:buSzTx/>
              <a:buFont typeface="Wingdings" panose="05000000000000000000" charset="0"/>
              <a:buNone/>
            </a:pPr>
            <a:r>
              <a:rPr lang="zh-CN" altLang="en-US" sz="1200" b="1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Heiti SC Medium" panose="02000000000000000000" charset="-122"/>
                <a:ea typeface="Heiti SC Medium" panose="02000000000000000000" charset="-122"/>
                <a:cs typeface="微软雅黑" panose="020B0503020204020204" charset="-122"/>
                <a:sym typeface="+mn-ea"/>
              </a:rPr>
              <a:t>持续降低被通报风险，高效响应被通报问题</a:t>
            </a:r>
            <a:endParaRPr lang="zh-CN" altLang="en-US" sz="1200" b="1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uFillTx/>
              <a:latin typeface="Heiti SC Medium" panose="02000000000000000000" charset="-122"/>
              <a:ea typeface="Heiti SC Medium" panose="02000000000000000000" charset="-122"/>
              <a:cs typeface="微软雅黑" panose="020B0503020204020204" charset="-122"/>
              <a:sym typeface="+mn-ea"/>
            </a:endParaRPr>
          </a:p>
          <a:p>
            <a:pPr lvl="0" indent="0" algn="l">
              <a:lnSpc>
                <a:spcPct val="130000"/>
              </a:lnSpc>
              <a:buClrTx/>
              <a:buSzTx/>
              <a:buFont typeface="Wingdings" panose="05000000000000000000" charset="0"/>
              <a:buNone/>
            </a:pPr>
            <a:endParaRPr lang="zh-CN" altLang="en-US" sz="1200" b="1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uFillTx/>
              <a:latin typeface="Heiti SC Medium" panose="02000000000000000000" charset="-122"/>
              <a:ea typeface="Heiti SC Medium" panose="02000000000000000000" charset="-122"/>
              <a:cs typeface="微软雅黑" panose="020B0503020204020204" charset="-122"/>
              <a:sym typeface="+mn-ea"/>
            </a:endParaRPr>
          </a:p>
          <a:p>
            <a:pPr marL="0" indent="0" algn="l">
              <a:buNone/>
            </a:pPr>
            <a:r>
              <a:rPr lang="en-US" altLang="zh-CN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</a:t>
            </a:r>
            <a:r>
              <a:rPr lang="zh-CN" altLang="en-US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、互联网资产两高一弱等潜在被通报风险能够主动发现并持续收敛；</a:t>
            </a:r>
            <a:endParaRPr lang="zh-CN" altLang="en-US" sz="1200" dirty="0">
              <a:solidFill>
                <a:schemeClr val="tx1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0" indent="0" algn="l">
              <a:buNone/>
            </a:pPr>
            <a:r>
              <a:rPr lang="en-US" altLang="zh-CN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2</a:t>
            </a:r>
            <a:r>
              <a:rPr lang="zh-CN" altLang="en-US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、恶意外联类问题构建自主发现能力，有效减少被监管通报的概率；</a:t>
            </a:r>
            <a:endParaRPr lang="zh-CN" altLang="en-US" sz="1200" dirty="0">
              <a:solidFill>
                <a:schemeClr val="tx1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0" indent="0" algn="l">
              <a:buNone/>
            </a:pPr>
            <a:r>
              <a:rPr lang="en-US" altLang="zh-CN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3</a:t>
            </a:r>
            <a:r>
              <a:rPr lang="zh-CN" altLang="en-US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、被通报问题的有效排查和响应回函不超过48</a:t>
            </a:r>
            <a:r>
              <a:rPr lang="en-US" altLang="zh-CN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H。</a:t>
            </a:r>
            <a:endParaRPr lang="en-US" altLang="zh-CN" sz="1200" dirty="0">
              <a:solidFill>
                <a:schemeClr val="tx1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lvl="0" indent="0" algn="ctr">
              <a:lnSpc>
                <a:spcPct val="130000"/>
              </a:lnSpc>
              <a:buClrTx/>
              <a:buSzTx/>
              <a:buFont typeface="Wingdings" panose="05000000000000000000" charset="0"/>
              <a:buNone/>
            </a:pPr>
            <a:endParaRPr lang="zh-CN" altLang="en-US" sz="12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uFillTx/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15" name="正文"/>
          <p:cNvSpPr txBox="1"/>
          <p:nvPr>
            <p:custDataLst>
              <p:tags r:id="rId25"/>
            </p:custDataLst>
          </p:nvPr>
        </p:nvSpPr>
        <p:spPr>
          <a:xfrm>
            <a:off x="4585970" y="3667125"/>
            <a:ext cx="2988310" cy="200977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p>
            <a:pPr indent="0" algn="l" fontAlgn="auto">
              <a:lnSpc>
                <a:spcPct val="130000"/>
              </a:lnSpc>
              <a:buFont typeface="Wingdings" panose="05000000000000000000" charset="0"/>
              <a:buNone/>
            </a:pPr>
            <a:r>
              <a:rPr lang="zh-CN" altLang="en-US" sz="1200" b="1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微软雅黑" panose="020B0503020204020204" charset="-122"/>
              </a:rPr>
              <a:t>保障核心业务系统0安全事故，有效规避业务损失</a:t>
            </a:r>
            <a:endParaRPr lang="zh-CN" altLang="en-US" sz="1200" b="1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uFillTx/>
              <a:latin typeface="Arial" panose="020B0604020202020204" pitchFamily="34" charset="0"/>
              <a:ea typeface="黑体-简" panose="02000000000000000000" charset="-122"/>
              <a:cs typeface="微软雅黑" panose="020B0503020204020204" charset="-122"/>
              <a:sym typeface="微软雅黑" panose="020B0503020204020204" charset="-122"/>
            </a:endParaRPr>
          </a:p>
          <a:p>
            <a:pPr indent="0" algn="l" fontAlgn="auto">
              <a:lnSpc>
                <a:spcPct val="130000"/>
              </a:lnSpc>
              <a:buFont typeface="Wingdings" panose="05000000000000000000" charset="0"/>
              <a:buNone/>
            </a:pPr>
            <a:endParaRPr lang="zh-CN" altLang="en-US" sz="1200" b="1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uFillTx/>
              <a:latin typeface="Arial" panose="020B0604020202020204" pitchFamily="34" charset="0"/>
              <a:ea typeface="黑体-简" panose="02000000000000000000" charset="-122"/>
              <a:cs typeface="微软雅黑" panose="020B0503020204020204" charset="-122"/>
              <a:sym typeface="微软雅黑" panose="020B0503020204020204" charset="-122"/>
            </a:endParaRPr>
          </a:p>
          <a:p>
            <a:pPr algn="l">
              <a:lnSpc>
                <a:spcPct val="120000"/>
              </a:lnSpc>
            </a:pPr>
            <a:r>
              <a:rPr lang="en-US" altLang="zh-CN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、零重大事件：</a:t>
            </a:r>
            <a:r>
              <a:rPr lang="zh-CN" altLang="en-US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核心业务（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core_system_1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 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core_system_2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 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core_system_3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等）平稳运行，</a:t>
            </a:r>
            <a:r>
              <a:rPr lang="en-US" altLang="zh-CN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0</a:t>
            </a:r>
            <a:r>
              <a:rPr lang="zh-CN" altLang="en-US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重大事故；</a:t>
            </a:r>
            <a:endParaRPr lang="zh-CN" altLang="en-US" sz="12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algn="l">
              <a:lnSpc>
                <a:spcPct val="120000"/>
              </a:lnSpc>
            </a:pPr>
            <a:r>
              <a:rPr lang="en-US" altLang="zh-CN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2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、风险有效收敛：</a:t>
            </a:r>
            <a:r>
              <a:rPr lang="zh-CN" altLang="en-US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主动发现核心系统的重大风险并进行缓解，降低风险被利用带来的损失；</a:t>
            </a:r>
            <a:endParaRPr lang="zh-CN" altLang="en-US" sz="1200" dirty="0">
              <a:solidFill>
                <a:schemeClr val="tx1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indent="0" algn="ctr" fontAlgn="auto">
              <a:lnSpc>
                <a:spcPct val="130000"/>
              </a:lnSpc>
              <a:buFont typeface="Wingdings" panose="05000000000000000000" charset="0"/>
              <a:buNone/>
            </a:pPr>
            <a:endParaRPr lang="zh-CN" altLang="en-US" sz="12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uFillTx/>
              <a:latin typeface="Arial" panose="020B0604020202020204" pitchFamily="34" charset="0"/>
              <a:ea typeface="黑体-简" panose="02000000000000000000" charset="-122"/>
              <a:cs typeface="微软雅黑" panose="020B0503020204020204" charset="-122"/>
              <a:sym typeface="微软雅黑" panose="020B0503020204020204" charset="-122"/>
            </a:endParaRPr>
          </a:p>
        </p:txBody>
      </p:sp>
      <p:sp>
        <p:nvSpPr>
          <p:cNvPr id="23" name="正文"/>
          <p:cNvSpPr txBox="1"/>
          <p:nvPr>
            <p:custDataLst>
              <p:tags r:id="rId26"/>
            </p:custDataLst>
          </p:nvPr>
        </p:nvSpPr>
        <p:spPr>
          <a:xfrm>
            <a:off x="8202930" y="3942080"/>
            <a:ext cx="2988310" cy="173482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p>
            <a:pPr lvl="0" algn="l">
              <a:lnSpc>
                <a:spcPct val="130000"/>
              </a:lnSpc>
              <a:buClrTx/>
              <a:buSzTx/>
              <a:buFont typeface="Wingdings" panose="05000000000000000000" charset="0"/>
            </a:pPr>
            <a:r>
              <a:rPr lang="zh-CN" altLang="en-US" sz="1200" b="1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Heiti SC Medium" panose="02000000000000000000" charset="-122"/>
                <a:ea typeface="Heiti SC Medium" panose="02000000000000000000" charset="-122"/>
                <a:cs typeface="微软雅黑" panose="020B0503020204020204" charset="-122"/>
                <a:sym typeface="+mn-ea"/>
              </a:rPr>
              <a:t>提升攻防演练场景</a:t>
            </a:r>
            <a:r>
              <a:rPr lang="zh-CN" altLang="en-US" sz="1200" b="1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Heiti SC Medium" panose="02000000000000000000" charset="-122"/>
                <a:ea typeface="Heiti SC Medium" panose="02000000000000000000" charset="-122"/>
                <a:cs typeface="微软雅黑" panose="020B0503020204020204" charset="-122"/>
                <a:sym typeface="+mn-ea"/>
              </a:rPr>
              <a:t>的防守保障能力，助力单位安全水平通过实战检验</a:t>
            </a:r>
            <a:endParaRPr lang="zh-CN" altLang="en-US" sz="1200" b="1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uFillTx/>
              <a:latin typeface="Heiti SC Medium" panose="02000000000000000000" charset="-122"/>
              <a:ea typeface="Heiti SC Medium" panose="02000000000000000000" charset="-122"/>
              <a:cs typeface="微软雅黑" panose="020B0503020204020204" charset="-122"/>
              <a:sym typeface="+mn-ea"/>
            </a:endParaRPr>
          </a:p>
          <a:p>
            <a:pPr lvl="0" algn="l">
              <a:lnSpc>
                <a:spcPct val="130000"/>
              </a:lnSpc>
              <a:buClrTx/>
              <a:buSzTx/>
              <a:buFont typeface="Wingdings" panose="05000000000000000000" charset="0"/>
            </a:pPr>
            <a:endParaRPr lang="zh-CN" altLang="en-US" sz="1200" b="1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uFillTx/>
              <a:latin typeface="Heiti SC Medium" panose="02000000000000000000" charset="-122"/>
              <a:ea typeface="Heiti SC Medium" panose="02000000000000000000" charset="-122"/>
              <a:cs typeface="微软雅黑" panose="020B0503020204020204" charset="-122"/>
              <a:sym typeface="+mn-ea"/>
            </a:endParaRPr>
          </a:p>
          <a:p>
            <a:pPr algn="l">
              <a:lnSpc>
                <a:spcPct val="120000"/>
              </a:lnSpc>
              <a:buClrTx/>
              <a:buSzTx/>
              <a:buFontTx/>
              <a:buNone/>
            </a:pPr>
            <a:r>
              <a:rPr lang="en-US" altLang="zh-CN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、威胁快速发现</a:t>
            </a:r>
            <a:r>
              <a:rPr lang="zh-CN" altLang="en-US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：保护范围内的核心资产的有效攻击事件</a:t>
            </a:r>
            <a:r>
              <a:rPr lang="en-US" altLang="zh-CN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30</a:t>
            </a:r>
            <a:r>
              <a:rPr lang="zh-CN" altLang="en-US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分钟内通告；</a:t>
            </a:r>
            <a:endParaRPr lang="zh-CN" altLang="en-US" sz="1200" b="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algn="l">
              <a:lnSpc>
                <a:spcPct val="120000"/>
              </a:lnSpc>
              <a:buClrTx/>
              <a:buSzTx/>
              <a:buFontTx/>
              <a:buNone/>
            </a:pPr>
            <a:r>
              <a:rPr lang="en-US" altLang="zh-CN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2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、有效处置闭环</a:t>
            </a:r>
            <a:r>
              <a:rPr lang="zh-CN" altLang="en-US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：研判为有效攻击的事件</a:t>
            </a:r>
            <a:r>
              <a:rPr lang="en-US" altLang="zh-CN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100%</a:t>
            </a:r>
            <a:r>
              <a:rPr lang="zh-CN" altLang="en-US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闭环</a:t>
            </a:r>
            <a:endParaRPr lang="zh-CN" altLang="en-US" sz="12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lvl="0" algn="l">
              <a:lnSpc>
                <a:spcPct val="130000"/>
              </a:lnSpc>
              <a:buClrTx/>
              <a:buSzTx/>
              <a:buFont typeface="Wingdings" panose="05000000000000000000" charset="0"/>
            </a:pPr>
            <a:endParaRPr lang="zh-CN" altLang="en-US" sz="1200" b="1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uFillTx/>
              <a:latin typeface="Heiti SC Medium" panose="02000000000000000000" charset="-122"/>
              <a:ea typeface="Heiti SC Medium" panose="02000000000000000000" charset="-122"/>
              <a:cs typeface="微软雅黑" panose="020B0503020204020204" charset="-122"/>
              <a:sym typeface="+mn-ea"/>
            </a:endParaRPr>
          </a:p>
        </p:txBody>
      </p:sp>
    </p:spTree>
    <p:custDataLst>
      <p:tags r:id="rId27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10363200" y="219456"/>
            <a:ext cx="1463040" cy="609600"/>
          </a:xfrm>
          <a:prstGeom prst="roundRect">
            <a:avLst>
              <a:gd name="adj" fmla="val 10000"/>
            </a:avLst>
          </a:prstGeom>
          <a:solidFill>
            <a:srgbClr val="FFFFFF">
              <a:alpha val="15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10363200" y="219456"/>
            <a:ext cx="146304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3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深信服</a:t>
            </a:r>
            <a:endParaRPr lang="en-US" sz="1335" dirty="0"/>
          </a:p>
        </p:txBody>
      </p:sp>
      <p:sp>
        <p:nvSpPr>
          <p:cNvPr id="88" name="Shape 86"/>
          <p:cNvSpPr/>
          <p:nvPr/>
        </p:nvSpPr>
        <p:spPr>
          <a:xfrm>
            <a:off x="0" y="6339840"/>
            <a:ext cx="12192000" cy="609600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89" name="Text 87"/>
          <p:cNvSpPr/>
          <p:nvPr/>
        </p:nvSpPr>
        <p:spPr>
          <a:xfrm>
            <a:off x="365760" y="6363970"/>
            <a:ext cx="11638280" cy="2679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5" b="1" dirty="0">
                <a:solidFill>
                  <a:srgbClr val="1A3A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⚙ 分工逻辑：</a:t>
            </a:r>
            <a:r>
              <a:rPr lang="en-US" sz="1065" b="1" dirty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深信服</a:t>
            </a: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提供技术底座与7×24运营能力 · </a:t>
            </a:r>
            <a:r>
              <a:rPr lang="en-US" sz="1065" b="1" dirty="0">
                <a:solidFill>
                  <a:srgbClr val="D9770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渠道</a:t>
            </a: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负责本地化</a:t>
            </a:r>
            <a:r>
              <a:rPr lang="zh-CN" alt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运维</a:t>
            </a: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与现场支撑 · </a:t>
            </a:r>
            <a:r>
              <a:rPr lang="en-US" sz="1065" b="1" dirty="0">
                <a:solidFill>
                  <a:srgbClr val="05966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客户</a:t>
            </a: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承担决策确认</a:t>
            </a:r>
            <a:r>
              <a:rPr lang="zh-CN" alt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与内部</a:t>
            </a: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协调</a:t>
            </a:r>
            <a:endParaRPr lang="en-US" sz="1065" dirty="0"/>
          </a:p>
        </p:txBody>
      </p:sp>
      <p:sp>
        <p:nvSpPr>
          <p:cNvPr id="91" name="Text 89"/>
          <p:cNvSpPr/>
          <p:nvPr/>
        </p:nvSpPr>
        <p:spPr>
          <a:xfrm>
            <a:off x="365760" y="6656832"/>
            <a:ext cx="10972800" cy="243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5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✅ </a:t>
            </a: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职责无重叠、无盲区：技术能力（深信服）+ 现场交付（渠道）+ 资源决策（客户）形成完整闭环</a:t>
            </a:r>
            <a:endParaRPr lang="en-US" sz="1065" dirty="0"/>
          </a:p>
        </p:txBody>
      </p:sp>
      <p:grpSp>
        <p:nvGrpSpPr>
          <p:cNvPr id="9" name="组合 8"/>
          <p:cNvGrpSpPr/>
          <p:nvPr/>
        </p:nvGrpSpPr>
        <p:grpSpPr>
          <a:xfrm>
            <a:off x="224790" y="289878"/>
            <a:ext cx="5322570" cy="327025"/>
            <a:chOff x="533" y="646"/>
            <a:chExt cx="8382" cy="515"/>
          </a:xfrm>
        </p:grpSpPr>
        <p:grpSp>
          <p:nvGrpSpPr>
            <p:cNvPr id="10" name="组合 9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11" name="燕尾形 86"/>
              <p:cNvSpPr/>
              <p:nvPr>
                <p:custDataLst>
                  <p:tags r:id="rId1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12" name="燕尾形 103"/>
              <p:cNvSpPr/>
              <p:nvPr>
                <p:custDataLst>
                  <p:tags r:id="rId2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7" name="textbox 158"/>
            <p:cNvSpPr/>
            <p:nvPr/>
          </p:nvSpPr>
          <p:spPr>
            <a:xfrm>
              <a:off x="1345" y="646"/>
              <a:ext cx="7570" cy="51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p>
              <a:pPr algn="l" rtl="0" eaLnBrk="0">
                <a:lnSpc>
                  <a:spcPct val="78000"/>
                </a:lnSpc>
              </a:pPr>
              <a:endParaRPr sz="100" dirty="0">
                <a:solidFill>
                  <a:schemeClr val="tx1">
                    <a:lumMod val="85000"/>
                    <a:lumOff val="15000"/>
                  </a:schemeClr>
                </a:solidFill>
                <a:latin typeface="Source Han Sans CN Medium" panose="020B0600000000000000" charset="-122"/>
                <a:ea typeface="Source Han Sans CN Medium" panose="020B0600000000000000" charset="-122"/>
                <a:cs typeface="Arial" panose="020B0604020202020204"/>
              </a:endParaRPr>
            </a:p>
            <a:p>
              <a:pPr algn="l" rtl="0" eaLnBrk="0">
                <a:lnSpc>
                  <a:spcPct val="101000"/>
                </a:lnSpc>
              </a:pPr>
              <a:r>
                <a:rPr lang="zh-CN" altLang="en-US" sz="1900" b="1" noProof="0" dirty="0">
                  <a:solidFill>
                    <a:schemeClr val="tx1">
                      <a:lumMod val="85000"/>
                      <a:lumOff val="15000"/>
                    </a:schemeClr>
                  </a:solidFill>
                  <a:uLnTx/>
                  <a:latin typeface="Source Han Sans CN Bold" panose="020B0600000000000000" charset="-122"/>
                  <a:ea typeface="Source Han Sans CN Bold" panose="020B0600000000000000" charset="-122"/>
                  <a:sym typeface="Calibri" panose="020F0502020204030204" charset="0"/>
                </a:rPr>
                <a:t>关键价值成果与分工协作机制</a:t>
              </a:r>
              <a:r>
                <a:rPr lang="zh-CN" altLang="en-US" sz="1900" b="1" noProof="0" dirty="0">
                  <a:solidFill>
                    <a:schemeClr val="tx1">
                      <a:lumMod val="85000"/>
                      <a:lumOff val="15000"/>
                    </a:schemeClr>
                  </a:solidFill>
                  <a:highlight>
                    <a:srgbClr val="FFFF00"/>
                  </a:highlight>
                  <a:uLnTx/>
                  <a:latin typeface="Source Han Sans CN Bold" panose="020B0600000000000000" charset="-122"/>
                  <a:ea typeface="Source Han Sans CN Bold" panose="020B0600000000000000" charset="-122"/>
                  <a:sym typeface="Calibri" panose="020F0502020204030204" charset="0"/>
                </a:rPr>
                <a:t>（渠道版）</a:t>
              </a:r>
              <a:endPara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Source Han Sans CN Bold" panose="020B0600000000000000" charset="-122"/>
                <a:ea typeface="Source Han Sans CN Bold" panose="020B0600000000000000" charset="-122"/>
                <a:sym typeface="Calibri" panose="020F0502020204030204" charset="0"/>
              </a:endParaRPr>
            </a:p>
          </p:txBody>
        </p:sp>
      </p:grpSp>
      <p:sp>
        <p:nvSpPr>
          <p:cNvPr id="95" name="Shape 11"/>
          <p:cNvSpPr/>
          <p:nvPr/>
        </p:nvSpPr>
        <p:spPr>
          <a:xfrm>
            <a:off x="304800" y="1102360"/>
            <a:ext cx="1404000" cy="548640"/>
          </a:xfrm>
          <a:prstGeom prst="rect">
            <a:avLst/>
          </a:prstGeom>
          <a:solidFill>
            <a:srgbClr val="1A3A5C"/>
          </a:solidFill>
        </p:spPr>
      </p:sp>
      <p:sp>
        <p:nvSpPr>
          <p:cNvPr id="96" name="Text 12"/>
          <p:cNvSpPr/>
          <p:nvPr/>
        </p:nvSpPr>
        <p:spPr>
          <a:xfrm>
            <a:off x="304800" y="1102360"/>
            <a:ext cx="1404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目标</a:t>
            </a: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项</a:t>
            </a:r>
            <a:endParaRPr lang="zh-CN" alt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97" name="Shape 13"/>
          <p:cNvSpPr/>
          <p:nvPr/>
        </p:nvSpPr>
        <p:spPr>
          <a:xfrm>
            <a:off x="1706880" y="1102360"/>
            <a:ext cx="2682240" cy="548640"/>
          </a:xfrm>
          <a:prstGeom prst="rect">
            <a:avLst/>
          </a:prstGeom>
          <a:solidFill>
            <a:srgbClr val="1A3A5C"/>
          </a:solidFill>
        </p:spPr>
      </p:sp>
      <p:sp>
        <p:nvSpPr>
          <p:cNvPr id="98" name="Text 14"/>
          <p:cNvSpPr/>
          <p:nvPr/>
        </p:nvSpPr>
        <p:spPr>
          <a:xfrm>
            <a:off x="1706880" y="1102360"/>
            <a:ext cx="26822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关键</a:t>
            </a: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价值</a:t>
            </a: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成果</a:t>
            </a:r>
            <a:endParaRPr lang="zh-CN" alt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99" name="Shape 15"/>
          <p:cNvSpPr/>
          <p:nvPr/>
        </p:nvSpPr>
        <p:spPr>
          <a:xfrm>
            <a:off x="4389120" y="1102360"/>
            <a:ext cx="3096000" cy="54864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100" name="Text 16"/>
          <p:cNvSpPr/>
          <p:nvPr/>
        </p:nvSpPr>
        <p:spPr>
          <a:xfrm>
            <a:off x="4389120" y="1102360"/>
            <a:ext cx="26822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深信服做什么</a:t>
            </a:r>
            <a:endParaRPr 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  <a:p>
            <a:pPr marL="0" indent="0" algn="ctr">
              <a:buNone/>
            </a:pPr>
            <a:r>
              <a:rPr lang="en-US" sz="1065" dirty="0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深信服（技术底座+运营服务）</a:t>
            </a:r>
            <a:endParaRPr lang="en-US" sz="1065" dirty="0">
              <a:solidFill>
                <a:srgbClr val="FFFF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01" name="Shape 17"/>
          <p:cNvSpPr/>
          <p:nvPr/>
        </p:nvSpPr>
        <p:spPr>
          <a:xfrm>
            <a:off x="7487920" y="1102360"/>
            <a:ext cx="2194560" cy="54864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102" name="Text 18"/>
          <p:cNvSpPr/>
          <p:nvPr/>
        </p:nvSpPr>
        <p:spPr>
          <a:xfrm>
            <a:off x="7487920" y="110236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1265" b="1" dirty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「</a:t>
            </a:r>
            <a:r>
              <a:rPr lang="en-US" altLang="zh-CN" sz="1265" b="1" dirty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XX</a:t>
            </a:r>
            <a:r>
              <a:rPr lang="zh-CN" altLang="en-US" sz="1265" b="1" dirty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渠道</a:t>
            </a:r>
            <a:r>
              <a:rPr lang="zh-CN" sz="1265" b="1" dirty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」</a:t>
            </a:r>
            <a:r>
              <a:rPr 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做什么</a:t>
            </a:r>
            <a:endParaRPr 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  <a:p>
            <a:pPr marL="0" indent="0" algn="ctr">
              <a:buNone/>
            </a:pPr>
            <a:r>
              <a:rPr lang="en-US" sz="1065" dirty="0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现场支撑+本地化</a:t>
            </a:r>
            <a:r>
              <a:rPr lang="zh-CN" altLang="en-US" sz="1065" dirty="0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服务</a:t>
            </a:r>
            <a:endParaRPr lang="zh-CN" altLang="en-US" sz="1065" dirty="0">
              <a:solidFill>
                <a:srgbClr val="FFFF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03" name="Shape 19"/>
          <p:cNvSpPr/>
          <p:nvPr/>
        </p:nvSpPr>
        <p:spPr>
          <a:xfrm>
            <a:off x="9682480" y="1102360"/>
            <a:ext cx="2194560" cy="54864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104" name="Text 20"/>
          <p:cNvSpPr/>
          <p:nvPr/>
        </p:nvSpPr>
        <p:spPr>
          <a:xfrm>
            <a:off x="9682480" y="110236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1265" b="1" dirty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{{company}}</a:t>
            </a:r>
            <a:r>
              <a:rPr 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做什么</a:t>
            </a:r>
            <a:endParaRPr 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  <a:p>
            <a:pPr marL="0" indent="0" algn="ctr">
              <a:buNone/>
            </a:pPr>
            <a:r>
              <a:rPr lang="en-US" sz="1065" dirty="0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资源协调+决策确认</a:t>
            </a:r>
            <a:endParaRPr lang="en-US" sz="1065" dirty="0">
              <a:solidFill>
                <a:srgbClr val="FFFF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  <a:sym typeface="+mn-ea"/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304800" y="1651000"/>
            <a:ext cx="11572240" cy="1440180"/>
            <a:chOff x="480" y="2600"/>
            <a:chExt cx="18224" cy="2268"/>
          </a:xfrm>
        </p:grpSpPr>
        <p:sp>
          <p:nvSpPr>
            <p:cNvPr id="105" name="Shape 21"/>
            <p:cNvSpPr/>
            <p:nvPr/>
          </p:nvSpPr>
          <p:spPr>
            <a:xfrm>
              <a:off x="480" y="2600"/>
              <a:ext cx="2211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en-US" sz="12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业务安全与连续性</a:t>
              </a:r>
              <a:endParaRPr lang="en-US" alt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  <p:sp>
          <p:nvSpPr>
            <p:cNvPr id="106" name="Shape 23"/>
            <p:cNvSpPr/>
            <p:nvPr/>
          </p:nvSpPr>
          <p:spPr>
            <a:xfrm>
              <a:off x="2688" y="2600"/>
              <a:ext cx="4224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algn="l">
                <a:lnSpc>
                  <a:spcPct val="120000"/>
                </a:lnSpc>
              </a:pPr>
              <a:r>
                <a:rPr lang="en-US" altLang="zh-CN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</a:t>
              </a:r>
              <a:r>
                <a:rPr lang="zh-CN" altLang="en-US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、零重大事件：</a:t>
              </a:r>
              <a:r>
                <a:rPr lang="zh-CN" altLang="en-US" sz="1000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核心业务（</a:t>
              </a:r>
              <a:r>
                <a:rPr lang="en-US" altLang="zh-CN" sz="1000" dirty="0">
                  <a:solidFill>
                    <a:srgbClr val="4C61E7"/>
                  </a:solidFill>
                  <a:latin typeface="Arial" panose="020B0604020202020204" pitchFamily="34" charset="0"/>
                  <a:ea typeface="黑体-简" panose="02000000000000000000" charset="-122"/>
                  <a:sym typeface="+mn-ea"/>
                </a:rPr>
                <a:t>{{core_system_1}}</a:t>
              </a:r>
              <a:r>
                <a:rPr lang="zh-CN" altLang="en-US" sz="1000" dirty="0">
                  <a:solidFill>
                    <a:srgbClr val="4C61E7"/>
                  </a:solidFill>
                  <a:latin typeface="Arial" panose="020B0604020202020204" pitchFamily="34" charset="0"/>
                  <a:ea typeface="黑体-简" panose="02000000000000000000" charset="-122"/>
                  <a:sym typeface="+mn-ea"/>
                </a:rPr>
                <a:t>、</a:t>
              </a:r>
              <a:r>
                <a:rPr lang="en-US" altLang="zh-CN" sz="1000" dirty="0">
                  <a:solidFill>
                    <a:srgbClr val="4C61E7"/>
                  </a:solidFill>
                  <a:latin typeface="Arial" panose="020B0604020202020204" pitchFamily="34" charset="0"/>
                  <a:ea typeface="黑体-简" panose="02000000000000000000" charset="-122"/>
                  <a:sym typeface="+mn-ea"/>
                </a:rPr>
                <a:t>{{core_system_2}}</a:t>
              </a:r>
              <a:r>
                <a:rPr lang="zh-CN" altLang="en-US" sz="1000" dirty="0">
                  <a:solidFill>
                    <a:srgbClr val="4C61E7"/>
                  </a:solidFill>
                  <a:latin typeface="Arial" panose="020B0604020202020204" pitchFamily="34" charset="0"/>
                  <a:ea typeface="黑体-简" panose="02000000000000000000" charset="-122"/>
                  <a:sym typeface="+mn-ea"/>
                </a:rPr>
                <a:t>、</a:t>
              </a:r>
              <a:r>
                <a:rPr lang="en-US" altLang="zh-CN" sz="1000" dirty="0">
                  <a:solidFill>
                    <a:srgbClr val="4C61E7"/>
                  </a:solidFill>
                  <a:latin typeface="Arial" panose="020B0604020202020204" pitchFamily="34" charset="0"/>
                  <a:ea typeface="黑体-简" panose="02000000000000000000" charset="-122"/>
                  <a:sym typeface="+mn-ea"/>
                </a:rPr>
                <a:t>{{core_system_3}}</a:t>
              </a:r>
              <a:r>
                <a:rPr lang="zh-CN" altLang="en-US" sz="1000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等）平稳运行，</a:t>
              </a:r>
              <a:r>
                <a:rPr lang="en-US" altLang="zh-CN" sz="1000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0</a:t>
              </a:r>
              <a:r>
                <a:rPr lang="zh-CN" altLang="en-US" sz="1000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重大事故；</a:t>
              </a:r>
              <a:endPara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endParaRPr>
            </a:p>
            <a:p>
              <a:pPr algn="l">
                <a:lnSpc>
                  <a:spcPct val="120000"/>
                </a:lnSpc>
              </a:pPr>
              <a:r>
                <a:rPr lang="en-US" altLang="zh-CN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2</a:t>
              </a:r>
              <a:r>
                <a:rPr lang="zh-CN" altLang="en-US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、风险有效收敛：</a:t>
              </a:r>
              <a:r>
                <a:rPr lang="zh-CN" altLang="en-US" sz="1000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主动发现核心系统的重大风险并进行缓解，降低风险被利用带来的</a:t>
              </a:r>
              <a:r>
                <a:rPr lang="zh-CN" altLang="en-US" sz="1000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损失；</a:t>
              </a:r>
              <a:endPara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07" name="Shape 25"/>
            <p:cNvSpPr/>
            <p:nvPr/>
          </p:nvSpPr>
          <p:spPr>
            <a:xfrm>
              <a:off x="6912" y="2600"/>
              <a:ext cx="4876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1、7x24H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威胁监测，对潜在攻击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威胁和脆弱性利用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风险准确预警、遏制攻击（联动</a:t>
              </a: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AF/AES）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；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2、安全事件快速响应，针对入侵成功事件的应急处置与溯源分析并提供加固建议，跟进闭环；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3、对核心资产定期开展脆弱性扫描、漏洞优先级排序，为业务侧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风险闭环提供技术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支持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08" name="Shape 26"/>
            <p:cNvSpPr/>
            <p:nvPr/>
          </p:nvSpPr>
          <p:spPr>
            <a:xfrm>
              <a:off x="6912" y="2600"/>
              <a:ext cx="77" cy="2268"/>
            </a:xfrm>
            <a:prstGeom prst="rect">
              <a:avLst/>
            </a:prstGeom>
            <a:solidFill>
              <a:srgbClr val="2563EB">
                <a:alpha val="50000"/>
              </a:srgbClr>
            </a:solidFill>
          </p:spPr>
        </p:sp>
        <p:sp>
          <p:nvSpPr>
            <p:cNvPr id="109" name="Shape 28"/>
            <p:cNvSpPr/>
            <p:nvPr/>
          </p:nvSpPr>
          <p:spPr>
            <a:xfrm>
              <a:off x="11792" y="2600"/>
              <a:ext cx="3456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1、现场与业务方的沟通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协调；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2、执行网络及端点侧处置策略实施与协调，保障现场实施举措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落地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3、收集并反馈业务方的需求与安全痛点，助力安全运营优化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  <p:sp>
          <p:nvSpPr>
            <p:cNvPr id="110" name="Shape 29"/>
            <p:cNvSpPr/>
            <p:nvPr/>
          </p:nvSpPr>
          <p:spPr>
            <a:xfrm>
              <a:off x="11792" y="2600"/>
              <a:ext cx="77" cy="2268"/>
            </a:xfrm>
            <a:prstGeom prst="rect">
              <a:avLst/>
            </a:prstGeom>
            <a:solidFill>
              <a:srgbClr val="D97706">
                <a:alpha val="50000"/>
              </a:srgbClr>
            </a:solidFill>
          </p:spPr>
        </p:sp>
        <p:sp>
          <p:nvSpPr>
            <p:cNvPr id="111" name="Shape 31"/>
            <p:cNvSpPr/>
            <p:nvPr/>
          </p:nvSpPr>
          <p:spPr>
            <a:xfrm>
              <a:off x="15248" y="2600"/>
              <a:ext cx="3456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1、业务弱点整改加固的协调；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2、安全事件的处置审核及授权，如需远程上机的帮忙协调远程环境；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3、推动业务安全管理机制优化和落地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  <p:sp>
          <p:nvSpPr>
            <p:cNvPr id="112" name="Shape 32"/>
            <p:cNvSpPr/>
            <p:nvPr/>
          </p:nvSpPr>
          <p:spPr>
            <a:xfrm>
              <a:off x="15248" y="2600"/>
              <a:ext cx="77" cy="2268"/>
            </a:xfrm>
            <a:prstGeom prst="rect">
              <a:avLst/>
            </a:prstGeom>
            <a:solidFill>
              <a:srgbClr val="059669">
                <a:alpha val="50000"/>
              </a:srgbClr>
            </a:solidFill>
          </p:spPr>
        </p:sp>
      </p:grpSp>
      <p:grpSp>
        <p:nvGrpSpPr>
          <p:cNvPr id="3" name="组合 2"/>
          <p:cNvGrpSpPr/>
          <p:nvPr/>
        </p:nvGrpSpPr>
        <p:grpSpPr>
          <a:xfrm>
            <a:off x="304800" y="3096895"/>
            <a:ext cx="11572240" cy="1440815"/>
            <a:chOff x="480" y="4296"/>
            <a:chExt cx="18224" cy="2269"/>
          </a:xfrm>
        </p:grpSpPr>
        <p:sp>
          <p:nvSpPr>
            <p:cNvPr id="113" name="Shape 34"/>
            <p:cNvSpPr/>
            <p:nvPr/>
          </p:nvSpPr>
          <p:spPr>
            <a:xfrm>
              <a:off x="480" y="4296"/>
              <a:ext cx="2211" cy="2268"/>
            </a:xfrm>
            <a:prstGeom prst="rect">
              <a:avLst/>
            </a:prstGeom>
            <a:solidFill>
              <a:srgbClr val="FFFFFF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 algn="ctr">
                <a:buNone/>
              </a:pPr>
              <a:r>
                <a:rPr lang="en-US" sz="12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安全考核与通报应对</a:t>
              </a:r>
              <a:endParaRPr lang="en-US" alt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  <p:sp>
          <p:nvSpPr>
            <p:cNvPr id="114" name="Shape 36"/>
            <p:cNvSpPr/>
            <p:nvPr/>
          </p:nvSpPr>
          <p:spPr>
            <a:xfrm>
              <a:off x="2688" y="4297"/>
              <a:ext cx="4224" cy="2268"/>
            </a:xfrm>
            <a:prstGeom prst="rect">
              <a:avLst/>
            </a:prstGeom>
            <a:solidFill>
              <a:srgbClr val="FFFFFF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 algn="l">
                <a:buNone/>
              </a:pPr>
              <a:r>
                <a:rPr lang="en-US" altLang="zh-CN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</a:t>
              </a:r>
              <a:r>
                <a:rPr lang="zh-CN" altLang="en-US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、互联网资产两高一弱等潜在被通报风险能够主动发现并持续收敛；</a:t>
              </a:r>
              <a:endPara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marL="0" indent="0" algn="l">
                <a:buNone/>
              </a:pPr>
              <a:r>
                <a:rPr lang="en-US" altLang="zh-CN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2</a:t>
              </a:r>
              <a:r>
                <a:rPr lang="zh-CN" altLang="en-US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、恶意外联类问题构建自主发现能力，有效减少被监管通报的</a:t>
              </a:r>
              <a:r>
                <a:rPr lang="zh-CN" altLang="en-US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概率；</a:t>
              </a:r>
              <a:endPara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marL="0" indent="0" algn="l">
                <a:buNone/>
              </a:pPr>
              <a:r>
                <a:rPr lang="en-US" altLang="zh-CN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3</a:t>
              </a:r>
              <a:r>
                <a:rPr lang="zh-CN" altLang="en-US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、被通报问题的有效排查</a:t>
              </a:r>
              <a:r>
                <a:rPr lang="zh-CN" altLang="en-US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和响应回函不超过48</a:t>
              </a:r>
              <a:r>
                <a:rPr lang="en-US" altLang="zh-CN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H。</a:t>
              </a:r>
              <a:endParaRPr lang="en-US" altLang="zh-CN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15" name="Shape 38"/>
            <p:cNvSpPr/>
            <p:nvPr/>
          </p:nvSpPr>
          <p:spPr>
            <a:xfrm>
              <a:off x="6912" y="4296"/>
              <a:ext cx="4876" cy="2268"/>
            </a:xfrm>
            <a:prstGeom prst="rect">
              <a:avLst/>
            </a:prstGeom>
            <a:solidFill>
              <a:schemeClr val="bg1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>
              <a:noAutofit/>
            </a:bodyPr>
            <a:p>
              <a:pPr lvl="0" algn="l">
                <a:buClrTx/>
                <a:buSzTx/>
                <a:buFontTx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</a:t>
              </a: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</a:t>
              </a: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7x24</a:t>
              </a: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H</a:t>
              </a: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实时监测发现恶意外联行为，准确预警和遏制（联动</a:t>
              </a: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AF/AES</a:t>
              </a: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）；</a:t>
              </a:r>
              <a:endPara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2</a:t>
              </a: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、定期开展两高一弱风险排查，漏洞优先级分析，协助防护方案优化和落地；</a:t>
              </a:r>
              <a:endPara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3</a:t>
              </a: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、对被通报问题及时响应排查溯源，给出结论支持快速回函；</a:t>
              </a:r>
              <a:endPara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16" name="Shape 39"/>
            <p:cNvSpPr/>
            <p:nvPr/>
          </p:nvSpPr>
          <p:spPr>
            <a:xfrm>
              <a:off x="6912" y="4296"/>
              <a:ext cx="77" cy="2268"/>
            </a:xfrm>
            <a:prstGeom prst="rect">
              <a:avLst/>
            </a:prstGeom>
            <a:solidFill>
              <a:srgbClr val="2563EB">
                <a:alpha val="50000"/>
              </a:srgbClr>
            </a:solidFill>
          </p:spPr>
        </p:sp>
        <p:sp>
          <p:nvSpPr>
            <p:cNvPr id="117" name="Shape 41"/>
            <p:cNvSpPr/>
            <p:nvPr/>
          </p:nvSpPr>
          <p:spPr>
            <a:xfrm>
              <a:off x="11792" y="4296"/>
              <a:ext cx="3456" cy="2268"/>
            </a:xfrm>
            <a:prstGeom prst="rect">
              <a:avLst/>
            </a:prstGeom>
            <a:solidFill>
              <a:srgbClr val="FFFFFF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zh-CN" altLang="en-US" sz="1000" dirty="0">
                  <a:solidFill>
                    <a:srgbClr val="4C61E7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1、渗透测试发现互联网暴露面漏洞风险，协助业务方加固；</a:t>
              </a:r>
              <a:endParaRPr lang="zh-CN" altLang="en-US" sz="1000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2、协助定位恶意外联终端，提供主机侧处置；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3、网络/业务运维的响应实施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  <p:sp>
          <p:nvSpPr>
            <p:cNvPr id="118" name="Shape 42"/>
            <p:cNvSpPr/>
            <p:nvPr/>
          </p:nvSpPr>
          <p:spPr>
            <a:xfrm>
              <a:off x="11792" y="4296"/>
              <a:ext cx="77" cy="2268"/>
            </a:xfrm>
            <a:prstGeom prst="rect">
              <a:avLst/>
            </a:prstGeom>
            <a:solidFill>
              <a:srgbClr val="D97706">
                <a:alpha val="50000"/>
              </a:srgbClr>
            </a:solidFill>
          </p:spPr>
        </p:sp>
        <p:sp>
          <p:nvSpPr>
            <p:cNvPr id="119" name="Shape 44"/>
            <p:cNvSpPr/>
            <p:nvPr/>
          </p:nvSpPr>
          <p:spPr>
            <a:xfrm>
              <a:off x="15248" y="4296"/>
              <a:ext cx="3456" cy="2268"/>
            </a:xfrm>
            <a:prstGeom prst="rect">
              <a:avLst/>
            </a:prstGeom>
            <a:solidFill>
              <a:srgbClr val="FFFFFF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1、审批遏制操作的授权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2、协助落实脆弱性问题的管理机制，协调业务侧修复加固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3、接收通报问题，同步信息发起排查指令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  <p:sp>
          <p:nvSpPr>
            <p:cNvPr id="120" name="Shape 45"/>
            <p:cNvSpPr/>
            <p:nvPr/>
          </p:nvSpPr>
          <p:spPr>
            <a:xfrm>
              <a:off x="15248" y="4296"/>
              <a:ext cx="77" cy="2268"/>
            </a:xfrm>
            <a:prstGeom prst="rect">
              <a:avLst/>
            </a:prstGeom>
            <a:solidFill>
              <a:srgbClr val="059669">
                <a:alpha val="50000"/>
              </a:srgbClr>
            </a:solidFill>
          </p:spPr>
        </p:sp>
      </p:grpSp>
      <p:grpSp>
        <p:nvGrpSpPr>
          <p:cNvPr id="2" name="组合 1"/>
          <p:cNvGrpSpPr/>
          <p:nvPr/>
        </p:nvGrpSpPr>
        <p:grpSpPr>
          <a:xfrm>
            <a:off x="304800" y="4543425"/>
            <a:ext cx="11572240" cy="1445260"/>
            <a:chOff x="480" y="7310"/>
            <a:chExt cx="18224" cy="2276"/>
          </a:xfrm>
        </p:grpSpPr>
        <p:sp>
          <p:nvSpPr>
            <p:cNvPr id="121" name="Shape 47"/>
            <p:cNvSpPr/>
            <p:nvPr/>
          </p:nvSpPr>
          <p:spPr>
            <a:xfrm>
              <a:off x="480" y="7316"/>
              <a:ext cx="2211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 algn="ctr">
                <a:buNone/>
              </a:pPr>
              <a:r>
                <a:rPr lang="en-US" sz="12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重要时期</a:t>
              </a:r>
              <a:r>
                <a:rPr lang="zh-CN" altLang="en-US" sz="12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安全</a:t>
              </a:r>
              <a:r>
                <a:rPr lang="zh-CN" altLang="en-US" sz="12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保障</a:t>
              </a:r>
              <a:endParaRPr lang="zh-CN" alt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22" name="Shape 49"/>
            <p:cNvSpPr/>
            <p:nvPr/>
          </p:nvSpPr>
          <p:spPr>
            <a:xfrm>
              <a:off x="2688" y="7318"/>
              <a:ext cx="4224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algn="l">
                <a:lnSpc>
                  <a:spcPct val="120000"/>
                </a:lnSpc>
                <a:buClrTx/>
                <a:buSzTx/>
                <a:buFontTx/>
                <a:buNone/>
              </a:pPr>
              <a:r>
                <a:rPr lang="en-US" altLang="zh-CN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</a:t>
              </a:r>
              <a:r>
                <a:rPr lang="zh-CN" altLang="en-US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、威胁快速发现</a:t>
              </a:r>
              <a:r>
                <a:rPr lang="zh-CN" altLang="en-US" sz="1000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：保护范围内的核心资产的有效攻击事件</a:t>
              </a:r>
              <a:r>
                <a:rPr lang="en-US" altLang="zh-CN" sz="1000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30</a:t>
              </a:r>
              <a:r>
                <a:rPr lang="zh-CN" altLang="en-US" sz="1000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分钟内</a:t>
              </a:r>
              <a:r>
                <a:rPr lang="zh-CN" altLang="en-US" sz="1000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通告；</a:t>
              </a:r>
              <a:endParaRPr lang="zh-CN" altLang="en-US" sz="1000" b="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endParaRPr>
            </a:p>
            <a:p>
              <a:pPr algn="l">
                <a:lnSpc>
                  <a:spcPct val="120000"/>
                </a:lnSpc>
                <a:buClrTx/>
                <a:buSzTx/>
                <a:buFontTx/>
                <a:buNone/>
              </a:pPr>
              <a:r>
                <a:rPr lang="en-US" altLang="zh-CN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2</a:t>
              </a:r>
              <a:r>
                <a:rPr lang="zh-CN" altLang="en-US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、有效处置闭环</a:t>
              </a:r>
              <a:r>
                <a:rPr lang="zh-CN" altLang="en-US" sz="1000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：研判为有效攻击的事件</a:t>
              </a:r>
              <a:r>
                <a:rPr lang="en-US" altLang="zh-CN" sz="1000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100%</a:t>
              </a:r>
              <a:r>
                <a:rPr lang="zh-CN" altLang="en-US" sz="1000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闭环</a:t>
              </a:r>
              <a:endPara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23" name="Shape 51"/>
            <p:cNvSpPr/>
            <p:nvPr/>
          </p:nvSpPr>
          <p:spPr>
            <a:xfrm>
              <a:off x="6916" y="7310"/>
              <a:ext cx="4876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1、重保前系统的梳理剩余风险，针对性加固支持；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marL="0" indent="0">
                <a:buNone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2、7x24H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实时监测威胁，准确预警和遏制有效攻击（联动</a:t>
              </a: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AF/AES）；</a:t>
              </a:r>
              <a:endPara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3、安全事件快速响应，针对入侵成功事件的应急处置与溯源分析并提供加固建议，跟进闭环；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24" name="Shape 52"/>
            <p:cNvSpPr/>
            <p:nvPr/>
          </p:nvSpPr>
          <p:spPr>
            <a:xfrm>
              <a:off x="6912" y="7317"/>
              <a:ext cx="77" cy="2268"/>
            </a:xfrm>
            <a:prstGeom prst="rect">
              <a:avLst/>
            </a:prstGeom>
            <a:solidFill>
              <a:srgbClr val="2563EB">
                <a:alpha val="50000"/>
              </a:srgbClr>
            </a:solidFill>
          </p:spPr>
        </p:sp>
        <p:sp>
          <p:nvSpPr>
            <p:cNvPr id="125" name="Shape 54"/>
            <p:cNvSpPr/>
            <p:nvPr/>
          </p:nvSpPr>
          <p:spPr>
            <a:xfrm>
              <a:off x="11792" y="7317"/>
              <a:ext cx="3456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>
              <a:noAutofit/>
            </a:bodyPr>
            <a:p>
              <a:pPr lvl="0" algn="l">
                <a:buClrTx/>
                <a:buSzTx/>
                <a:buFontTx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现场值守与一线处置、联络与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协调；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2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渗透测试发现互联网暴露面漏洞风险，前置加固；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26" name="Shape 55"/>
            <p:cNvSpPr/>
            <p:nvPr/>
          </p:nvSpPr>
          <p:spPr>
            <a:xfrm>
              <a:off x="11792" y="7317"/>
              <a:ext cx="77" cy="2268"/>
            </a:xfrm>
            <a:prstGeom prst="rect">
              <a:avLst/>
            </a:prstGeom>
            <a:solidFill>
              <a:srgbClr val="D97706">
                <a:alpha val="50000"/>
              </a:srgbClr>
            </a:solidFill>
          </p:spPr>
        </p:sp>
        <p:sp>
          <p:nvSpPr>
            <p:cNvPr id="127" name="Shape 57"/>
            <p:cNvSpPr/>
            <p:nvPr/>
          </p:nvSpPr>
          <p:spPr>
            <a:xfrm>
              <a:off x="15248" y="7317"/>
              <a:ext cx="3456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1、重保前期单位内部动员、工作部署；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2、内部员工安全意识宣贯和管理机制优化；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3、各项操作的决策审批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  <p:sp>
          <p:nvSpPr>
            <p:cNvPr id="128" name="Shape 58"/>
            <p:cNvSpPr/>
            <p:nvPr/>
          </p:nvSpPr>
          <p:spPr>
            <a:xfrm>
              <a:off x="15248" y="7317"/>
              <a:ext cx="77" cy="2268"/>
            </a:xfrm>
            <a:prstGeom prst="rect">
              <a:avLst/>
            </a:prstGeom>
            <a:solidFill>
              <a:srgbClr val="059669">
                <a:alpha val="50000"/>
              </a:srgbClr>
            </a:solidFill>
          </p:spPr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10363200" y="219456"/>
            <a:ext cx="1463040" cy="609600"/>
          </a:xfrm>
          <a:prstGeom prst="roundRect">
            <a:avLst>
              <a:gd name="adj" fmla="val 10000"/>
            </a:avLst>
          </a:prstGeom>
          <a:solidFill>
            <a:srgbClr val="FFFFFF">
              <a:alpha val="15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10363200" y="219456"/>
            <a:ext cx="146304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3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深信服</a:t>
            </a:r>
            <a:endParaRPr lang="en-US" sz="1335" dirty="0"/>
          </a:p>
        </p:txBody>
      </p:sp>
      <p:sp>
        <p:nvSpPr>
          <p:cNvPr id="88" name="Shape 86"/>
          <p:cNvSpPr/>
          <p:nvPr/>
        </p:nvSpPr>
        <p:spPr>
          <a:xfrm>
            <a:off x="0" y="6339840"/>
            <a:ext cx="12192000" cy="609600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89" name="Text 87"/>
          <p:cNvSpPr/>
          <p:nvPr/>
        </p:nvSpPr>
        <p:spPr>
          <a:xfrm>
            <a:off x="365760" y="6363970"/>
            <a:ext cx="11638280" cy="2679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5" b="1" dirty="0">
                <a:solidFill>
                  <a:srgbClr val="1A3A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⚙ 分工逻辑：</a:t>
            </a:r>
            <a:r>
              <a:rPr lang="en-US" sz="1065" b="1" dirty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深信服</a:t>
            </a: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提供技术底座与7×24运营能力 · </a:t>
            </a:r>
            <a:r>
              <a:rPr lang="en-US" sz="1065" b="1" dirty="0">
                <a:solidFill>
                  <a:srgbClr val="05966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客户</a:t>
            </a:r>
            <a:r>
              <a:rPr lang="zh-CN" alt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负责</a:t>
            </a: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决策确认</a:t>
            </a:r>
            <a:r>
              <a:rPr lang="zh-CN" alt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与现场处置</a:t>
            </a: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协调</a:t>
            </a:r>
            <a:endParaRPr lang="en-US" sz="1065" dirty="0"/>
          </a:p>
        </p:txBody>
      </p:sp>
      <p:sp>
        <p:nvSpPr>
          <p:cNvPr id="91" name="Text 89"/>
          <p:cNvSpPr/>
          <p:nvPr/>
        </p:nvSpPr>
        <p:spPr>
          <a:xfrm>
            <a:off x="365760" y="6656832"/>
            <a:ext cx="10972800" cy="243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5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✅ </a:t>
            </a: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职责无重叠、无盲区：技术能力（深信服）+ 资源决策</a:t>
            </a:r>
            <a:r>
              <a:rPr lang="zh-CN" alt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与线下处置协调</a:t>
            </a: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（客户）形成完整闭环</a:t>
            </a:r>
            <a:endParaRPr lang="en-US" sz="1065" dirty="0"/>
          </a:p>
        </p:txBody>
      </p:sp>
      <p:grpSp>
        <p:nvGrpSpPr>
          <p:cNvPr id="9" name="组合 8"/>
          <p:cNvGrpSpPr/>
          <p:nvPr/>
        </p:nvGrpSpPr>
        <p:grpSpPr>
          <a:xfrm>
            <a:off x="224790" y="289878"/>
            <a:ext cx="5351145" cy="327025"/>
            <a:chOff x="533" y="646"/>
            <a:chExt cx="8427" cy="515"/>
          </a:xfrm>
        </p:grpSpPr>
        <p:grpSp>
          <p:nvGrpSpPr>
            <p:cNvPr id="10" name="组合 9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11" name="燕尾形 86"/>
              <p:cNvSpPr/>
              <p:nvPr>
                <p:custDataLst>
                  <p:tags r:id="rId1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12" name="燕尾形 103"/>
              <p:cNvSpPr/>
              <p:nvPr>
                <p:custDataLst>
                  <p:tags r:id="rId2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7" name="textbox 158"/>
            <p:cNvSpPr/>
            <p:nvPr/>
          </p:nvSpPr>
          <p:spPr>
            <a:xfrm>
              <a:off x="1345" y="646"/>
              <a:ext cx="7615" cy="51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p>
              <a:pPr algn="l" rtl="0" eaLnBrk="0">
                <a:lnSpc>
                  <a:spcPct val="78000"/>
                </a:lnSpc>
              </a:pPr>
              <a:endParaRPr sz="100" dirty="0">
                <a:solidFill>
                  <a:schemeClr val="tx1">
                    <a:lumMod val="85000"/>
                    <a:lumOff val="15000"/>
                  </a:schemeClr>
                </a:solidFill>
                <a:latin typeface="Source Han Sans CN Medium" panose="020B0600000000000000" charset="-122"/>
                <a:ea typeface="Source Han Sans CN Medium" panose="020B0600000000000000" charset="-122"/>
                <a:cs typeface="Arial" panose="020B0604020202020204"/>
              </a:endParaRPr>
            </a:p>
            <a:p>
              <a:pPr algn="l" rtl="0" eaLnBrk="0">
                <a:lnSpc>
                  <a:spcPct val="101000"/>
                </a:lnSpc>
              </a:pPr>
              <a:r>
                <a:rPr lang="zh-CN" altLang="en-US" sz="1900" b="1" noProof="0" dirty="0">
                  <a:solidFill>
                    <a:schemeClr val="tx1">
                      <a:lumMod val="85000"/>
                      <a:lumOff val="15000"/>
                    </a:schemeClr>
                  </a:solidFill>
                  <a:uLnTx/>
                  <a:latin typeface="Source Han Sans CN Bold" panose="020B0600000000000000" charset="-122"/>
                  <a:ea typeface="Source Han Sans CN Bold" panose="020B0600000000000000" charset="-122"/>
                  <a:sym typeface="Calibri" panose="020F0502020204030204" charset="0"/>
                </a:rPr>
                <a:t>关键价值成果与分工协作机制</a:t>
              </a:r>
              <a:r>
                <a:rPr lang="zh-CN" altLang="en-US" sz="1900" b="1" noProof="0" dirty="0">
                  <a:solidFill>
                    <a:schemeClr val="tx1">
                      <a:lumMod val="85000"/>
                      <a:lumOff val="15000"/>
                    </a:schemeClr>
                  </a:solidFill>
                  <a:highlight>
                    <a:srgbClr val="FFFF00"/>
                  </a:highlight>
                  <a:uLnTx/>
                  <a:latin typeface="Source Han Sans CN Bold" panose="020B0600000000000000" charset="-122"/>
                  <a:ea typeface="Source Han Sans CN Bold" panose="020B0600000000000000" charset="-122"/>
                  <a:sym typeface="Calibri" panose="020F0502020204030204" charset="0"/>
                </a:rPr>
                <a:t>（无渠道</a:t>
              </a:r>
              <a:r>
                <a:rPr lang="zh-CN" altLang="en-US" sz="1900" b="1" noProof="0" dirty="0">
                  <a:solidFill>
                    <a:schemeClr val="tx1">
                      <a:lumMod val="85000"/>
                      <a:lumOff val="15000"/>
                    </a:schemeClr>
                  </a:solidFill>
                  <a:highlight>
                    <a:srgbClr val="FFFF00"/>
                  </a:highlight>
                  <a:uLnTx/>
                  <a:latin typeface="Source Han Sans CN Bold" panose="020B0600000000000000" charset="-122"/>
                  <a:ea typeface="Source Han Sans CN Bold" panose="020B0600000000000000" charset="-122"/>
                  <a:sym typeface="Calibri" panose="020F0502020204030204" charset="0"/>
                </a:rPr>
                <a:t>版）</a:t>
              </a:r>
              <a:endPara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  <a:uLnTx/>
                <a:latin typeface="Source Han Sans CN Bold" panose="020B0600000000000000" charset="-122"/>
                <a:ea typeface="Source Han Sans CN Bold" panose="020B0600000000000000" charset="-122"/>
                <a:sym typeface="Calibri" panose="020F0502020204030204" charset="0"/>
              </a:endParaRPr>
            </a:p>
          </p:txBody>
        </p:sp>
      </p:grpSp>
      <p:sp>
        <p:nvSpPr>
          <p:cNvPr id="95" name="Shape 11"/>
          <p:cNvSpPr/>
          <p:nvPr/>
        </p:nvSpPr>
        <p:spPr>
          <a:xfrm>
            <a:off x="304800" y="1102360"/>
            <a:ext cx="1404000" cy="548640"/>
          </a:xfrm>
          <a:prstGeom prst="rect">
            <a:avLst/>
          </a:prstGeom>
          <a:solidFill>
            <a:srgbClr val="1A3A5C"/>
          </a:solidFill>
        </p:spPr>
      </p:sp>
      <p:sp>
        <p:nvSpPr>
          <p:cNvPr id="96" name="Text 12"/>
          <p:cNvSpPr/>
          <p:nvPr/>
        </p:nvSpPr>
        <p:spPr>
          <a:xfrm>
            <a:off x="304800" y="1102360"/>
            <a:ext cx="1404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目标</a:t>
            </a: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项</a:t>
            </a:r>
            <a:endParaRPr lang="zh-CN" alt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97" name="Shape 13"/>
          <p:cNvSpPr/>
          <p:nvPr/>
        </p:nvSpPr>
        <p:spPr>
          <a:xfrm>
            <a:off x="1706880" y="1102360"/>
            <a:ext cx="2682240" cy="548640"/>
          </a:xfrm>
          <a:prstGeom prst="rect">
            <a:avLst/>
          </a:prstGeom>
          <a:solidFill>
            <a:srgbClr val="1A3A5C"/>
          </a:solidFill>
        </p:spPr>
      </p:sp>
      <p:sp>
        <p:nvSpPr>
          <p:cNvPr id="98" name="Text 14"/>
          <p:cNvSpPr/>
          <p:nvPr/>
        </p:nvSpPr>
        <p:spPr>
          <a:xfrm>
            <a:off x="1706880" y="1102360"/>
            <a:ext cx="26822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关键</a:t>
            </a: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价值</a:t>
            </a: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成果</a:t>
            </a:r>
            <a:endParaRPr lang="zh-CN" alt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99" name="Shape 15"/>
          <p:cNvSpPr/>
          <p:nvPr>
            <p:custDataLst>
              <p:tags r:id="rId3"/>
            </p:custDataLst>
          </p:nvPr>
        </p:nvSpPr>
        <p:spPr>
          <a:xfrm>
            <a:off x="4389120" y="1102360"/>
            <a:ext cx="4321175" cy="54864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100" name="Text 16"/>
          <p:cNvSpPr/>
          <p:nvPr>
            <p:custDataLst>
              <p:tags r:id="rId4"/>
            </p:custDataLst>
          </p:nvPr>
        </p:nvSpPr>
        <p:spPr>
          <a:xfrm>
            <a:off x="4389120" y="1102360"/>
            <a:ext cx="432244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深信服做什么</a:t>
            </a:r>
            <a:endParaRPr 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  <a:p>
            <a:pPr marL="0" indent="0" algn="ctr">
              <a:buNone/>
            </a:pPr>
            <a:r>
              <a:rPr lang="en-US" sz="1065" dirty="0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深信服（技术底座+运营服务）</a:t>
            </a:r>
            <a:endParaRPr lang="en-US" sz="1065" dirty="0">
              <a:solidFill>
                <a:srgbClr val="FFFF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03" name="Shape 19"/>
          <p:cNvSpPr/>
          <p:nvPr>
            <p:custDataLst>
              <p:tags r:id="rId5"/>
            </p:custDataLst>
          </p:nvPr>
        </p:nvSpPr>
        <p:spPr>
          <a:xfrm>
            <a:off x="8710930" y="1102360"/>
            <a:ext cx="3166110" cy="54864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104" name="Text 20"/>
          <p:cNvSpPr/>
          <p:nvPr>
            <p:custDataLst>
              <p:tags r:id="rId6"/>
            </p:custDataLst>
          </p:nvPr>
        </p:nvSpPr>
        <p:spPr>
          <a:xfrm>
            <a:off x="8749665" y="1102360"/>
            <a:ext cx="312737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1265" b="1" dirty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{{company}}</a:t>
            </a:r>
            <a:r>
              <a:rPr 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做什么</a:t>
            </a:r>
            <a:endParaRPr 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  <a:p>
            <a:pPr marL="0" indent="0" algn="ctr">
              <a:buNone/>
            </a:pPr>
            <a:r>
              <a:rPr lang="en-US" sz="1065" dirty="0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资源协调+决策确认</a:t>
            </a:r>
            <a:endParaRPr lang="en-US" sz="1065" dirty="0">
              <a:solidFill>
                <a:srgbClr val="FFFF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05" name="Shape 21"/>
          <p:cNvSpPr/>
          <p:nvPr/>
        </p:nvSpPr>
        <p:spPr>
          <a:xfrm>
            <a:off x="304800" y="1651000"/>
            <a:ext cx="1403985" cy="14401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业务安全与连续性</a:t>
            </a:r>
            <a:endParaRPr lang="en-US" altLang="en-US" sz="12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06" name="Shape 23"/>
          <p:cNvSpPr/>
          <p:nvPr/>
        </p:nvSpPr>
        <p:spPr>
          <a:xfrm>
            <a:off x="1706880" y="1651000"/>
            <a:ext cx="2682240" cy="14401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algn="l">
              <a:lnSpc>
                <a:spcPct val="120000"/>
              </a:lnSpc>
            </a:pPr>
            <a:r>
              <a:rPr lang="en-US" altLang="zh-CN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</a:t>
            </a:r>
            <a:r>
              <a:rPr lang="zh-CN" altLang="en-US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、零重大事件：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核心业务（</a:t>
            </a:r>
            <a:r>
              <a:rPr lang="en-US" altLang="zh-CN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{{core_system_1}}</a:t>
            </a:r>
            <a:r>
              <a:rPr lang="zh-CN" altLang="en-US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、</a:t>
            </a:r>
            <a:r>
              <a:rPr lang="en-US" altLang="zh-CN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{{core_system_2}}</a:t>
            </a:r>
            <a:r>
              <a:rPr lang="zh-CN" altLang="en-US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、</a:t>
            </a:r>
            <a:r>
              <a:rPr lang="en-US" altLang="zh-CN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{{core_system_3}}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等）平稳运行，</a:t>
            </a:r>
            <a:r>
              <a:rPr lang="en-US" altLang="zh-CN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0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重大事故；</a:t>
            </a:r>
            <a:endParaRPr lang="zh-CN" altLang="en-US" sz="10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algn="l">
              <a:lnSpc>
                <a:spcPct val="120000"/>
              </a:lnSpc>
            </a:pPr>
            <a:r>
              <a:rPr lang="en-US" altLang="zh-CN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2</a:t>
            </a:r>
            <a:r>
              <a:rPr lang="zh-CN" altLang="en-US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、风险有效收敛：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主动发现核心系统的重大风险并进行缓解，降低风险被利用带来的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损失；</a:t>
            </a:r>
            <a:endParaRPr lang="zh-CN" altLang="en-US" sz="1000" dirty="0">
              <a:solidFill>
                <a:schemeClr val="tx1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107" name="Shape 25"/>
          <p:cNvSpPr/>
          <p:nvPr>
            <p:custDataLst>
              <p:tags r:id="rId7"/>
            </p:custDataLst>
          </p:nvPr>
        </p:nvSpPr>
        <p:spPr>
          <a:xfrm>
            <a:off x="4389120" y="1651000"/>
            <a:ext cx="4309745" cy="14401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>
              <a:buNone/>
            </a:pP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1、7x24H</a:t>
            </a: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威胁监测，对潜在攻击</a:t>
            </a: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威胁和脆弱性利用</a:t>
            </a: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风险准确预警、遏制攻击（联动</a:t>
            </a: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AF/AES）</a:t>
            </a: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；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2、安全事件快速响应，针对入侵成功事件的应急处置与溯源分析并提供加固建议，跟进闭环；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3、对核心资产定期开展脆弱性扫描、漏洞优先级排序，为业务侧</a:t>
            </a: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风险闭环提供技术</a:t>
            </a: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支持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108" name="Shape 26"/>
          <p:cNvSpPr/>
          <p:nvPr>
            <p:custDataLst>
              <p:tags r:id="rId8"/>
            </p:custDataLst>
          </p:nvPr>
        </p:nvSpPr>
        <p:spPr>
          <a:xfrm>
            <a:off x="4389120" y="1651000"/>
            <a:ext cx="48895" cy="1440180"/>
          </a:xfrm>
          <a:prstGeom prst="rect">
            <a:avLst/>
          </a:prstGeom>
          <a:solidFill>
            <a:srgbClr val="2563EB">
              <a:alpha val="50000"/>
            </a:srgbClr>
          </a:solidFill>
        </p:spPr>
      </p:sp>
      <p:sp>
        <p:nvSpPr>
          <p:cNvPr id="111" name="Shape 31"/>
          <p:cNvSpPr/>
          <p:nvPr>
            <p:custDataLst>
              <p:tags r:id="rId9"/>
            </p:custDataLst>
          </p:nvPr>
        </p:nvSpPr>
        <p:spPr>
          <a:xfrm>
            <a:off x="8742045" y="1651000"/>
            <a:ext cx="3134995" cy="14401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1、业务弱点整改加固的协调；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2、安全事件的处置审核及授权，需要现场处置的事件和本地网络</a:t>
            </a: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侧设备策略操作的</a:t>
            </a: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执行，如需远程上机的帮忙协调远程环境；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3、推动业务安全管理机制优化和落地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12" name="Shape 32"/>
          <p:cNvSpPr/>
          <p:nvPr>
            <p:custDataLst>
              <p:tags r:id="rId10"/>
            </p:custDataLst>
          </p:nvPr>
        </p:nvSpPr>
        <p:spPr>
          <a:xfrm>
            <a:off x="8700135" y="1647190"/>
            <a:ext cx="48895" cy="1440180"/>
          </a:xfrm>
          <a:prstGeom prst="rect">
            <a:avLst/>
          </a:prstGeom>
          <a:solidFill>
            <a:srgbClr val="059669">
              <a:alpha val="50000"/>
            </a:srgbClr>
          </a:solidFill>
        </p:spPr>
      </p:sp>
      <p:sp>
        <p:nvSpPr>
          <p:cNvPr id="113" name="Shape 34"/>
          <p:cNvSpPr/>
          <p:nvPr/>
        </p:nvSpPr>
        <p:spPr>
          <a:xfrm>
            <a:off x="304800" y="3096895"/>
            <a:ext cx="1403985" cy="14401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安全考核与通报应对</a:t>
            </a:r>
            <a:endParaRPr lang="en-US" altLang="en-US" sz="12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14" name="Shape 36"/>
          <p:cNvSpPr/>
          <p:nvPr/>
        </p:nvSpPr>
        <p:spPr>
          <a:xfrm>
            <a:off x="1706880" y="3097530"/>
            <a:ext cx="2682240" cy="14401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 algn="l">
              <a:buNone/>
            </a:pPr>
            <a:r>
              <a:rPr lang="en-US" altLang="zh-CN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</a:t>
            </a:r>
            <a:r>
              <a: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、互联网资产两高一弱等潜在被通报风险能够主动发现并持续收敛；</a:t>
            </a:r>
            <a:endParaRPr lang="zh-CN" altLang="en-US" sz="1000" dirty="0">
              <a:solidFill>
                <a:schemeClr val="tx1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0" indent="0" algn="l">
              <a:buNone/>
            </a:pPr>
            <a:r>
              <a:rPr lang="en-US" altLang="zh-CN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2</a:t>
            </a:r>
            <a:r>
              <a: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、恶意外联类问题构建自主发现能力，有效减少被监管通报的</a:t>
            </a:r>
            <a:r>
              <a: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概率；</a:t>
            </a:r>
            <a:endParaRPr lang="zh-CN" altLang="en-US" sz="1000" dirty="0">
              <a:solidFill>
                <a:schemeClr val="tx1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0" indent="0" algn="l">
              <a:buNone/>
            </a:pPr>
            <a:r>
              <a:rPr lang="en-US" altLang="zh-CN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3</a:t>
            </a:r>
            <a:r>
              <a: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、被通报问题的有效排查</a:t>
            </a:r>
            <a:r>
              <a: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和响应回函不超过48</a:t>
            </a:r>
            <a:r>
              <a:rPr lang="en-US" altLang="zh-CN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H。</a:t>
            </a:r>
            <a:endParaRPr lang="en-US" altLang="zh-CN" sz="1000" dirty="0">
              <a:solidFill>
                <a:schemeClr val="tx1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115" name="Shape 38"/>
          <p:cNvSpPr/>
          <p:nvPr>
            <p:custDataLst>
              <p:tags r:id="rId11"/>
            </p:custDataLst>
          </p:nvPr>
        </p:nvSpPr>
        <p:spPr>
          <a:xfrm>
            <a:off x="4389120" y="3096895"/>
            <a:ext cx="4309745" cy="1440180"/>
          </a:xfrm>
          <a:prstGeom prst="rect">
            <a:avLst/>
          </a:prstGeom>
          <a:solidFill>
            <a:schemeClr val="bg1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>
            <a:noAutofit/>
          </a:bodyPr>
          <a:p>
            <a:pPr lvl="0" algn="l">
              <a:buClrTx/>
              <a:buSzTx/>
              <a:buFontTx/>
            </a:pP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</a:t>
            </a: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</a:t>
            </a: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7x24</a:t>
            </a: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H</a:t>
            </a: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实时监测发现恶意外联行为，准确预警和遏制（联动</a:t>
            </a: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AF/AES</a:t>
            </a: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）；</a:t>
            </a:r>
            <a:endParaRPr lang="en-US" altLang="zh-CN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lvl="0" algn="l">
              <a:buClrTx/>
              <a:buSzTx/>
              <a:buFontTx/>
            </a:pP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2</a:t>
            </a: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、定期开展两高一弱风险排查，漏洞优先级分析，协助防护方案优化和落地；</a:t>
            </a:r>
            <a:endParaRPr lang="en-US" altLang="zh-CN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lvl="0" algn="l">
              <a:buClrTx/>
              <a:buSzTx/>
              <a:buFontTx/>
            </a:pP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3</a:t>
            </a: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、对被通报问题及时响应排查溯源，给出结论支持快速回函；</a:t>
            </a:r>
            <a:endParaRPr lang="en-US" altLang="zh-CN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116" name="Shape 39"/>
          <p:cNvSpPr/>
          <p:nvPr>
            <p:custDataLst>
              <p:tags r:id="rId12"/>
            </p:custDataLst>
          </p:nvPr>
        </p:nvSpPr>
        <p:spPr>
          <a:xfrm>
            <a:off x="4389120" y="3096895"/>
            <a:ext cx="48895" cy="1440180"/>
          </a:xfrm>
          <a:prstGeom prst="rect">
            <a:avLst/>
          </a:prstGeom>
          <a:solidFill>
            <a:srgbClr val="2563EB">
              <a:alpha val="50000"/>
            </a:srgbClr>
          </a:solidFill>
        </p:spPr>
      </p:sp>
      <p:sp>
        <p:nvSpPr>
          <p:cNvPr id="119" name="Shape 44"/>
          <p:cNvSpPr/>
          <p:nvPr>
            <p:custDataLst>
              <p:tags r:id="rId13"/>
            </p:custDataLst>
          </p:nvPr>
        </p:nvSpPr>
        <p:spPr>
          <a:xfrm>
            <a:off x="8711565" y="3096895"/>
            <a:ext cx="3165475" cy="14401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1、审批遏制操作的授权，</a:t>
            </a: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需要现场处置的恶意外联事件的响应执行</a:t>
            </a: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以及本地网络侧设备策略操作的执行；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2、协助落实脆弱性问题的管理机制，协调业务侧修复加固；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3、接收通报问题，同步信息发起排查指令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20" name="Shape 45"/>
          <p:cNvSpPr/>
          <p:nvPr>
            <p:custDataLst>
              <p:tags r:id="rId14"/>
            </p:custDataLst>
          </p:nvPr>
        </p:nvSpPr>
        <p:spPr>
          <a:xfrm>
            <a:off x="8700135" y="3096895"/>
            <a:ext cx="48895" cy="1440180"/>
          </a:xfrm>
          <a:prstGeom prst="rect">
            <a:avLst/>
          </a:prstGeom>
          <a:solidFill>
            <a:srgbClr val="059669">
              <a:alpha val="50000"/>
            </a:srgbClr>
          </a:solidFill>
        </p:spPr>
      </p:sp>
      <p:sp>
        <p:nvSpPr>
          <p:cNvPr id="121" name="Shape 47"/>
          <p:cNvSpPr/>
          <p:nvPr/>
        </p:nvSpPr>
        <p:spPr>
          <a:xfrm>
            <a:off x="304800" y="4547235"/>
            <a:ext cx="1403985" cy="14401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重要时期</a:t>
            </a:r>
            <a:r>
              <a:rPr lang="zh-CN" alt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安全</a:t>
            </a:r>
            <a:r>
              <a:rPr lang="zh-CN" alt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保障</a:t>
            </a:r>
            <a:endParaRPr lang="zh-CN" altLang="en-US" sz="12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122" name="Shape 49"/>
          <p:cNvSpPr/>
          <p:nvPr/>
        </p:nvSpPr>
        <p:spPr>
          <a:xfrm>
            <a:off x="1706880" y="4548505"/>
            <a:ext cx="2682240" cy="14401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algn="l">
              <a:lnSpc>
                <a:spcPct val="120000"/>
              </a:lnSpc>
              <a:buClrTx/>
              <a:buSzTx/>
              <a:buFontTx/>
              <a:buNone/>
            </a:pPr>
            <a:r>
              <a:rPr lang="en-US" altLang="zh-CN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</a:t>
            </a:r>
            <a:r>
              <a:rPr lang="zh-CN" altLang="en-US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、威胁快速发现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：保护范围内的核心资产的有效攻击事件</a:t>
            </a:r>
            <a:r>
              <a:rPr lang="en-US" altLang="zh-CN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30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分钟内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通告；</a:t>
            </a:r>
            <a:endParaRPr lang="zh-CN" altLang="en-US" sz="1000" b="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algn="l">
              <a:lnSpc>
                <a:spcPct val="120000"/>
              </a:lnSpc>
              <a:buClrTx/>
              <a:buSzTx/>
              <a:buFontTx/>
              <a:buNone/>
            </a:pPr>
            <a:r>
              <a:rPr lang="en-US" altLang="zh-CN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2</a:t>
            </a:r>
            <a:r>
              <a:rPr lang="zh-CN" altLang="en-US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、有效处置闭环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：研判为有效攻击的事件</a:t>
            </a:r>
            <a:r>
              <a:rPr lang="en-US" altLang="zh-CN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100%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闭环</a:t>
            </a:r>
            <a:endParaRPr lang="zh-CN" altLang="en-US" sz="10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123" name="Shape 51"/>
          <p:cNvSpPr/>
          <p:nvPr>
            <p:custDataLst>
              <p:tags r:id="rId15"/>
            </p:custDataLst>
          </p:nvPr>
        </p:nvSpPr>
        <p:spPr>
          <a:xfrm>
            <a:off x="4391660" y="4547870"/>
            <a:ext cx="4307205" cy="14401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1、重保前系统的梳理剩余风险，针对性加固支持；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0" indent="0">
              <a:buNone/>
            </a:pP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2、7x24H</a:t>
            </a: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实时监测威胁，准确预警和遏制有效攻击（联动</a:t>
            </a: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AF/AES）；</a:t>
            </a:r>
            <a:endParaRPr lang="en-US" altLang="zh-CN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3、安全事件快速响应，针对入侵成功事件的应急处置与溯源分析并提供加固建议，跟进闭环；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124" name="Shape 52"/>
          <p:cNvSpPr/>
          <p:nvPr>
            <p:custDataLst>
              <p:tags r:id="rId16"/>
            </p:custDataLst>
          </p:nvPr>
        </p:nvSpPr>
        <p:spPr>
          <a:xfrm>
            <a:off x="4389120" y="4547870"/>
            <a:ext cx="48895" cy="1440180"/>
          </a:xfrm>
          <a:prstGeom prst="rect">
            <a:avLst/>
          </a:prstGeom>
          <a:solidFill>
            <a:srgbClr val="2563EB">
              <a:alpha val="50000"/>
            </a:srgbClr>
          </a:solidFill>
        </p:spPr>
      </p:sp>
      <p:sp>
        <p:nvSpPr>
          <p:cNvPr id="127" name="Shape 57"/>
          <p:cNvSpPr/>
          <p:nvPr>
            <p:custDataLst>
              <p:tags r:id="rId17"/>
            </p:custDataLst>
          </p:nvPr>
        </p:nvSpPr>
        <p:spPr>
          <a:xfrm>
            <a:off x="8741410" y="4547870"/>
            <a:ext cx="3135630" cy="14401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1、重保前期单位内部动员、工作部署；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2、内部员工安全意识宣贯和管理机制优化；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3、各项操作的决策审批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28" name="Shape 58"/>
          <p:cNvSpPr/>
          <p:nvPr>
            <p:custDataLst>
              <p:tags r:id="rId18"/>
            </p:custDataLst>
          </p:nvPr>
        </p:nvSpPr>
        <p:spPr>
          <a:xfrm>
            <a:off x="8700135" y="4547870"/>
            <a:ext cx="48895" cy="1440180"/>
          </a:xfrm>
          <a:prstGeom prst="rect">
            <a:avLst/>
          </a:prstGeom>
          <a:solidFill>
            <a:srgbClr val="059669">
              <a:alpha val="50000"/>
            </a:srgbClr>
          </a:solid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文本框 43"/>
          <p:cNvSpPr txBox="1"/>
          <p:nvPr>
            <p:custDataLst>
              <p:tags r:id="rId1"/>
            </p:custDataLst>
          </p:nvPr>
        </p:nvSpPr>
        <p:spPr>
          <a:xfrm>
            <a:off x="6092825" y="3663315"/>
            <a:ext cx="4703445" cy="42481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p>
            <a:pPr marL="12700" algn="l" rtl="0" eaLnBrk="0">
              <a:lnSpc>
                <a:spcPct val="100000"/>
              </a:lnSpc>
              <a:spcBef>
                <a:spcPts val="5"/>
              </a:spcBef>
            </a:pPr>
            <a:r>
              <a:rPr lang="zh-CN" altLang="en-US" sz="1400" b="0" u="none" strike="noStrike" kern="0" spc="60" dirty="0">
                <a:solidFill>
                  <a:schemeClr val="dk1"/>
                </a:solidFill>
                <a:effectLst/>
                <a:uFillTx/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保护业务安全、提升安全水位线</a:t>
            </a:r>
            <a:endParaRPr lang="zh-CN" altLang="en-US" sz="1400" b="0" u="none" strike="noStrike" kern="0" spc="60" dirty="0">
              <a:solidFill>
                <a:schemeClr val="dk1"/>
              </a:solidFill>
              <a:effectLst/>
              <a:uFillTx/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</p:txBody>
      </p:sp>
      <p:sp>
        <p:nvSpPr>
          <p:cNvPr id="4" name="标题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92825" y="2439035"/>
            <a:ext cx="4622800" cy="1224000"/>
          </a:xfrm>
        </p:spPr>
        <p:txBody>
          <a:bodyPr>
            <a:noAutofit/>
          </a:bodyPr>
          <a:lstStyle/>
          <a:p>
            <a:r>
              <a:rPr lang="zh-CN" altLang="en-US" sz="3200">
                <a:solidFill>
                  <a:srgbClr val="4C61E7"/>
                </a:solidFill>
                <a:latin typeface="Arial Black" panose="020B0A04020102020204" pitchFamily="34" charset="0"/>
                <a:ea typeface="微软雅黑" panose="020B0503020204020204" charset="-122"/>
                <a:sym typeface="+mn-ea"/>
              </a:rPr>
              <a:t>我们共同的工作成果总结</a:t>
            </a:r>
            <a:endParaRPr lang="zh-CN" altLang="en-US" sz="3200">
              <a:solidFill>
                <a:srgbClr val="4C61E7"/>
              </a:solidFill>
              <a:latin typeface="Arial Black" panose="020B0A04020102020204" pitchFamily="34" charset="0"/>
              <a:ea typeface="微软雅黑" panose="020B0503020204020204" charset="-122"/>
            </a:endParaRPr>
          </a:p>
        </p:txBody>
      </p:sp>
      <p:sp>
        <p:nvSpPr>
          <p:cNvPr id="6" name="节编号"/>
          <p:cNvSpPr>
            <a:spLocks noGrp="1"/>
          </p:cNvSpPr>
          <p:nvPr>
            <p:ph type="body" sz="quarter" idx="13"/>
            <p:custDataLst>
              <p:tags r:id="rId3"/>
            </p:custDataLst>
          </p:nvPr>
        </p:nvSpPr>
        <p:spPr/>
        <p:txBody>
          <a:bodyPr>
            <a:normAutofit lnSpcReduction="20000"/>
          </a:bodyPr>
          <a:lstStyle/>
          <a:p>
            <a:r>
              <a:rPr lang="en-US" altLang="en-US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</a:rPr>
              <a:t>02</a:t>
            </a:r>
            <a:endParaRPr lang="en-US" altLang="en-US">
              <a:solidFill>
                <a:srgbClr val="4C61E7"/>
              </a:solidFill>
              <a:latin typeface="Arial" panose="020B0604020202020204" pitchFamily="34" charset="0"/>
              <a:ea typeface="黑体-简" panose="02000000000000000000" charset="-122"/>
            </a:endParaRPr>
          </a:p>
        </p:txBody>
      </p:sp>
      <p:pic>
        <p:nvPicPr>
          <p:cNvPr id="7" name="图片 6" descr="深信服 + 智安全"/>
          <p:cNvPicPr>
            <a:picLocks noChangeAspect="1"/>
          </p:cNvPicPr>
          <p:nvPr/>
        </p:nvPicPr>
        <p:blipFill>
          <a:blip r:embed="rId4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图片 24" descr="shield-symmetric-blue-green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631055" y="2298700"/>
            <a:ext cx="2959735" cy="3256280"/>
          </a:xfrm>
          <a:prstGeom prst="rect">
            <a:avLst/>
          </a:prstGeom>
        </p:spPr>
      </p:pic>
      <p:grpSp>
        <p:nvGrpSpPr>
          <p:cNvPr id="12" name="组合 11"/>
          <p:cNvGrpSpPr/>
          <p:nvPr/>
        </p:nvGrpSpPr>
        <p:grpSpPr>
          <a:xfrm>
            <a:off x="224790" y="289878"/>
            <a:ext cx="7886065" cy="327025"/>
            <a:chOff x="533" y="646"/>
            <a:chExt cx="12419" cy="515"/>
          </a:xfrm>
        </p:grpSpPr>
        <p:grpSp>
          <p:nvGrpSpPr>
            <p:cNvPr id="13" name="组合 12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14" name="燕尾形 86"/>
              <p:cNvSpPr/>
              <p:nvPr>
                <p:custDataLst>
                  <p:tags r:id="rId3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16" name="燕尾形 103"/>
              <p:cNvSpPr/>
              <p:nvPr>
                <p:custDataLst>
                  <p:tags r:id="rId4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3" name="textbox 158"/>
            <p:cNvSpPr/>
            <p:nvPr/>
          </p:nvSpPr>
          <p:spPr>
            <a:xfrm>
              <a:off x="1345" y="646"/>
              <a:ext cx="5928" cy="51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p>
              <a:pPr algn="l" rtl="0" eaLnBrk="0">
                <a:lnSpc>
                  <a:spcPct val="78000"/>
                </a:lnSpc>
              </a:pPr>
              <a:endParaRPr sz="1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  <a:ea typeface="微软雅黑" panose="020B0503020204020204" charset="-122"/>
                <a:cs typeface="Arial" panose="020B0604020202020204"/>
              </a:endParaRPr>
            </a:p>
            <a:p>
              <a:pPr algn="l" rtl="0" eaLnBrk="0">
                <a:lnSpc>
                  <a:spcPct val="101000"/>
                </a:lnSpc>
              </a:pPr>
              <a:r>
                <a:rPr lang="en-US" sz="1900" b="1">
                  <a:solidFill>
                    <a:srgbClr val="262626"/>
                  </a:solidFill>
                  <a:latin typeface="Arial Black" panose="020B0A04020102020204" pitchFamily="34" charset="0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保护业务，全年实现0安全事故</a:t>
              </a:r>
              <a:endParaRPr lang="en-US" sz="1900">
                <a:latin typeface="Arial Black" panose="020B0A04020102020204" pitchFamily="34" charset="0"/>
                <a:ea typeface="微软雅黑" panose="020B0503020204020204" charset="-122"/>
              </a:endParaRPr>
            </a:p>
            <a:p>
              <a:pPr algn="l" rtl="0" eaLnBrk="0">
                <a:lnSpc>
                  <a:spcPct val="101000"/>
                </a:lnSpc>
              </a:pPr>
              <a:endPara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endParaRPr>
            </a:p>
          </p:txBody>
        </p:sp>
        <p:sp>
          <p:nvSpPr>
            <p:cNvPr id="4" name="textbox 158"/>
            <p:cNvSpPr/>
            <p:nvPr/>
          </p:nvSpPr>
          <p:spPr>
            <a:xfrm>
              <a:off x="7272" y="715"/>
              <a:ext cx="5680" cy="422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 anchor="t" anchorCtr="0"/>
            <a:p>
              <a:pPr algn="l" rtl="0" eaLnBrk="0">
                <a:lnSpc>
                  <a:spcPct val="100000"/>
                </a:lnSpc>
              </a:pPr>
              <a:r>
                <a:rPr lang="zh-CN" altLang="en-US" sz="1400" b="1" noProof="0" dirty="0">
                  <a:solidFill>
                    <a:srgbClr val="0B4CBB"/>
                  </a:solidFill>
                  <a:uLnTx/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Calibri" panose="020F0502020204030204" charset="0"/>
                </a:rPr>
                <a:t>安全风险主动预防，</a:t>
              </a:r>
              <a:r>
                <a:rPr lang="en-US" altLang="zh-CN" sz="1400" b="1" noProof="0" dirty="0">
                  <a:solidFill>
                    <a:srgbClr val="0B4CBB"/>
                  </a:solidFill>
                  <a:uLnTx/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Calibri" panose="020F0502020204030204" charset="0"/>
                </a:rPr>
                <a:t>7*24</a:t>
              </a:r>
              <a:r>
                <a:rPr lang="zh-CN" altLang="en-US" sz="1400" b="1" noProof="0" dirty="0">
                  <a:solidFill>
                    <a:srgbClr val="0B4CBB"/>
                  </a:solidFill>
                  <a:uLnTx/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Calibri" panose="020F0502020204030204" charset="0"/>
                </a:rPr>
                <a:t>小时威胁</a:t>
              </a:r>
              <a:r>
                <a:rPr lang="zh-CN" altLang="en-US" sz="1400" b="1" noProof="0" dirty="0">
                  <a:solidFill>
                    <a:srgbClr val="0B4CBB"/>
                  </a:solidFill>
                  <a:uLnTx/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Calibri" panose="020F0502020204030204" charset="0"/>
                </a:rPr>
                <a:t>对抗</a:t>
              </a:r>
              <a:endParaRPr lang="zh-CN" altLang="en-US" sz="1400" b="1" noProof="0" dirty="0">
                <a:solidFill>
                  <a:srgbClr val="0B4CBB"/>
                </a:solidFill>
                <a:uLn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Calibri" panose="020F0502020204030204" charset="0"/>
              </a:endParaRPr>
            </a:p>
          </p:txBody>
        </p:sp>
      </p:grpSp>
      <p:pic>
        <p:nvPicPr>
          <p:cNvPr id="5" name="图片 4" descr="深信服 + 智安全"/>
          <p:cNvPicPr>
            <a:picLocks noChangeAspect="1"/>
          </p:cNvPicPr>
          <p:nvPr/>
        </p:nvPicPr>
        <p:blipFill>
          <a:blip r:embed="rId5"/>
          <a:srcRect l="5232" t="26576" r="4938" b="29565"/>
          <a:stretch>
            <a:fillRect/>
          </a:stretch>
        </p:blipFill>
        <p:spPr>
          <a:xfrm>
            <a:off x="10330815" y="273073"/>
            <a:ext cx="1629867" cy="360000"/>
          </a:xfrm>
          <a:prstGeom prst="rect">
            <a:avLst/>
          </a:prstGeom>
        </p:spPr>
      </p:pic>
      <p:pic>
        <p:nvPicPr>
          <p:cNvPr id="112" name="图片 111" descr="组 3169@1x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5283" y="6097905"/>
            <a:ext cx="8941435" cy="590550"/>
          </a:xfrm>
          <a:prstGeom prst="rect">
            <a:avLst/>
          </a:prstGeom>
        </p:spPr>
      </p:pic>
      <p:sp>
        <p:nvSpPr>
          <p:cNvPr id="128" name="文本框 127"/>
          <p:cNvSpPr txBox="1"/>
          <p:nvPr/>
        </p:nvSpPr>
        <p:spPr>
          <a:xfrm>
            <a:off x="3827145" y="6097905"/>
            <a:ext cx="4707890" cy="4914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en-US" sz="1300">
                <a:solidFill>
                  <a:srgbClr val="404040"/>
                </a:solidFill>
                <a:latin typeface="Noto Sans SC"/>
                <a:ea typeface="Noto Sans SC"/>
                <a:cs typeface="Noto Sans SC"/>
                <a:sym typeface="Noto Sans SC"/>
              </a:rPr>
              <a:t>核心IT系统</a:t>
            </a:r>
            <a:r>
              <a:rPr lang="en-US" sz="13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3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core_system_1</a:t>
            </a:r>
            <a:r>
              <a:rPr lang="en-US" sz="13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3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、</a:t>
            </a:r>
            <a:r>
              <a:rPr lang="en-US" sz="13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3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core_system_2</a:t>
            </a:r>
            <a:r>
              <a:rPr lang="en-US" sz="13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3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、</a:t>
            </a:r>
            <a:r>
              <a:rPr lang="en-US" sz="13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3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core_system_3</a:t>
            </a:r>
            <a:r>
              <a:rPr lang="en-US" sz="13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en-US" sz="1300">
                <a:solidFill>
                  <a:srgbClr val="404040"/>
                </a:solidFill>
                <a:latin typeface="Noto Sans SC"/>
                <a:ea typeface="Noto Sans SC"/>
                <a:cs typeface="Noto Sans SC"/>
                <a:sym typeface="Noto Sans SC"/>
              </a:rPr>
              <a:t>等)覆盖</a:t>
            </a:r>
            <a:r>
              <a:rPr lang="zh-CN" altLang="en-US" sz="1300">
                <a:solidFill>
                  <a:srgbClr val="404040"/>
                </a:solidFill>
                <a:latin typeface="Noto Sans SC"/>
                <a:ea typeface="Noto Sans SC"/>
                <a:cs typeface="Noto Sans SC"/>
                <a:sym typeface="Noto Sans SC"/>
              </a:rPr>
              <a:t>率</a:t>
            </a:r>
            <a:r>
              <a:rPr lang="zh-CN" altLang="en-US" sz="1300">
                <a:solidFill>
                  <a:srgbClr val="4C61E7"/>
                </a:solidFill>
                <a:latin typeface="Noto Sans SC"/>
                <a:ea typeface="Noto Sans SC"/>
                <a:cs typeface="Noto Sans SC"/>
                <a:sym typeface="Noto Sans SC"/>
              </a:rPr>
              <a:t>{XX%}</a:t>
            </a:r>
            <a:endParaRPr lang="zh-CN" altLang="en-US" sz="1300">
              <a:solidFill>
                <a:srgbClr val="4C61E7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863918" y="874395"/>
            <a:ext cx="10464165" cy="77406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>
              <a:lnSpc>
                <a:spcPct val="130000"/>
              </a:lnSpc>
            </a:pPr>
            <a:r>
              <a:rPr lang="zh-CN" altLang="en-US" sz="1200" dirty="0">
                <a:latin typeface="Arial" panose="020B0604020202020204" pitchFamily="34" charset="0"/>
                <a:ea typeface="黑体-简" panose="02000000000000000000" charset="-122"/>
              </a:rPr>
              <a:t>主动发现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core_system_1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、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core_system_2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、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core_system_3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</a:rPr>
              <a:t>等</a:t>
            </a:r>
            <a:r>
              <a:rPr lang="zh-CN" altLang="en-US" sz="1200" dirty="0"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核心业务系统</a:t>
            </a:r>
            <a:r>
              <a:rPr lang="zh-CN" altLang="en-US" sz="1200" dirty="0">
                <a:latin typeface="Arial" panose="020B0604020202020204" pitchFamily="34" charset="0"/>
                <a:ea typeface="黑体-简" panose="02000000000000000000" charset="-122"/>
              </a:rPr>
              <a:t>的</a:t>
            </a:r>
            <a:r>
              <a:rPr lang="en-US" altLang="zh-CN" sz="12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</a:rPr>
              <a:t>{{core_system_risk_total}}</a:t>
            </a:r>
            <a:r>
              <a:rPr lang="zh-CN" altLang="en-US" sz="1200" dirty="0">
                <a:latin typeface="Arial" panose="020B0604020202020204" pitchFamily="34" charset="0"/>
                <a:ea typeface="黑体-简" panose="02000000000000000000" charset="-122"/>
              </a:rPr>
              <a:t>个安全风险，并协同闭环了</a:t>
            </a:r>
            <a:r>
              <a:rPr lang="en-US" altLang="zh-CN" sz="12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{{core_system_closed_risk_count}}</a:t>
            </a:r>
            <a:r>
              <a:rPr lang="zh-CN" altLang="en-US" sz="1200" dirty="0">
                <a:latin typeface="Arial" panose="020B0604020202020204" pitchFamily="34" charset="0"/>
                <a:ea typeface="黑体-简" panose="02000000000000000000" charset="-122"/>
              </a:rPr>
              <a:t>个</a:t>
            </a:r>
            <a:r>
              <a:rPr lang="zh-CN" altLang="en-US" sz="1200" dirty="0">
                <a:latin typeface="Arial" panose="020B0604020202020204" pitchFamily="34" charset="0"/>
                <a:ea typeface="黑体-简" panose="02000000000000000000" charset="-122"/>
              </a:rPr>
              <a:t>风险；</a:t>
            </a:r>
            <a:endParaRPr lang="zh-CN" altLang="en-US" sz="1200" dirty="0">
              <a:latin typeface="Arial" panose="020B0604020202020204" pitchFamily="34" charset="0"/>
              <a:ea typeface="黑体-简" panose="02000000000000000000" charset="-122"/>
            </a:endParaRPr>
          </a:p>
          <a:p>
            <a:pPr algn="l">
              <a:lnSpc>
                <a:spcPct val="130000"/>
              </a:lnSpc>
            </a:pPr>
            <a:r>
              <a:rPr lang="zh-CN" altLang="en-US" sz="1200" dirty="0">
                <a:latin typeface="Arial" panose="020B0604020202020204" pitchFamily="34" charset="0"/>
                <a:ea typeface="黑体-简" panose="02000000000000000000" charset="-122"/>
              </a:rPr>
              <a:t>快速识别并遏制了针对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core_system_1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、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core_system_2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、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core_system_3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等</a:t>
            </a:r>
            <a:r>
              <a:rPr lang="zh-CN" altLang="en-US" sz="1200" dirty="0"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核心业务系统的</a:t>
            </a:r>
            <a:r>
              <a:rPr lang="en-US" altLang="zh-CN" sz="12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{{core_system_threat_incident_total}}</a:t>
            </a:r>
            <a:r>
              <a:rPr lang="zh-CN" altLang="en-US" sz="1200" dirty="0"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次安全威胁和事件，规避了</a:t>
            </a:r>
            <a:r>
              <a:rPr lang="en-US" altLang="zh-CN" sz="12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{{core_system_threat_incident_total}}</a:t>
            </a:r>
            <a:r>
              <a:rPr lang="zh-CN" altLang="en-US" sz="1200" dirty="0"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次潜在业务中断损失；整体上有效</a:t>
            </a:r>
            <a:r>
              <a:rPr lang="en-US" sz="1200"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保障</a:t>
            </a:r>
            <a:r>
              <a:rPr lang="zh-CN" altLang="en-US" sz="1200"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了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研发/生产/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办公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/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供应链</a:t>
            </a:r>
            <a:r>
              <a:rPr lang="zh-CN" altLang="en-US" sz="1200"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等</a:t>
            </a:r>
            <a:r>
              <a:rPr lang="en-US" sz="1200"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核心</a:t>
            </a:r>
            <a:r>
              <a:rPr lang="zh-CN" altLang="en-US" sz="1200"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业务运行</a:t>
            </a:r>
            <a:r>
              <a:rPr lang="en-US" sz="1200"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顺畅</a:t>
            </a:r>
            <a:r>
              <a:rPr lang="zh-CN" altLang="en-US" sz="1200" dirty="0">
                <a:latin typeface="Arial" panose="020B0604020202020204" pitchFamily="34" charset="0"/>
                <a:ea typeface="黑体-简" panose="02000000000000000000" charset="-122"/>
              </a:rPr>
              <a:t>。</a:t>
            </a:r>
            <a:endParaRPr lang="zh-CN" altLang="en-US" sz="1200" dirty="0">
              <a:effectLst/>
              <a:latin typeface="Arial" panose="020B0604020202020204" pitchFamily="34" charset="0"/>
              <a:ea typeface="黑体-简" panose="02000000000000000000" charset="-122"/>
            </a:endParaRPr>
          </a:p>
        </p:txBody>
      </p:sp>
      <p:sp>
        <p:nvSpPr>
          <p:cNvPr id="21" name="Shape 7"/>
          <p:cNvSpPr/>
          <p:nvPr/>
        </p:nvSpPr>
        <p:spPr>
          <a:xfrm>
            <a:off x="792480" y="1809115"/>
            <a:ext cx="106070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8"/>
          <p:cNvSpPr/>
          <p:nvPr/>
        </p:nvSpPr>
        <p:spPr>
          <a:xfrm>
            <a:off x="793115" y="2068830"/>
            <a:ext cx="3708000" cy="3740785"/>
          </a:xfrm>
          <a:prstGeom prst="rect">
            <a:avLst/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blurRad="50800" dist="12700" dir="8100000" algn="bl" rotWithShape="0">
              <a:srgbClr val="2563EB">
                <a:alpha val="8000"/>
              </a:srgbClr>
            </a:outerShdw>
          </a:effectLst>
        </p:spPr>
      </p:sp>
      <p:sp>
        <p:nvSpPr>
          <p:cNvPr id="23" name="Shape 9"/>
          <p:cNvSpPr/>
          <p:nvPr/>
        </p:nvSpPr>
        <p:spPr>
          <a:xfrm>
            <a:off x="793115" y="2077720"/>
            <a:ext cx="3708000" cy="36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122" name="矩形 121"/>
          <p:cNvSpPr/>
          <p:nvPr>
            <p:custDataLst>
              <p:tags r:id="rId7"/>
            </p:custDataLst>
          </p:nvPr>
        </p:nvSpPr>
        <p:spPr>
          <a:xfrm>
            <a:off x="854710" y="2628265"/>
            <a:ext cx="3606800" cy="399669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200" b="1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主动</a:t>
            </a:r>
            <a:r>
              <a:rPr lang="en-US" sz="1200" b="1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风险识别：</a:t>
            </a:r>
            <a:r>
              <a:rPr 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提前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发现</a:t>
            </a:r>
            <a:r>
              <a:rPr 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了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{security_risk_total}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</a:t>
            </a:r>
            <a:r>
              <a:rPr 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个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脆弱性</a:t>
            </a:r>
            <a:r>
              <a:rPr 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风险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；其中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{{high_risk_exploitable_vuln_count}}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个高风险漏洞，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{{admin_weak_pwd_num}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</a:t>
            </a:r>
            <a:r>
              <a:rPr 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个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高风险</a:t>
            </a:r>
            <a:r>
              <a:rPr 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弱口令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；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{{latest_vuln_asset_count}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个最新漏洞风险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资产；</a:t>
            </a:r>
            <a:endParaRPr lang="zh-CN" altLang="en-US" sz="1200">
              <a:solidFill>
                <a:schemeClr val="tx1"/>
              </a:solidFill>
              <a:latin typeface="Arial" panose="020B0604020202020204" pitchFamily="34" charset="0"/>
              <a:ea typeface="黑体-简" panose="02000000000000000000" charset="-122"/>
              <a:cs typeface="Songti SC" panose="02010800040101010101" charset="-122"/>
              <a:sym typeface="Noto Sans SC" panose="020B0200000000000000" charset="-122"/>
            </a:endParaRPr>
          </a:p>
          <a:p>
            <a:pPr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core_system_1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system1_risk_count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个风险，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core_system_2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system2_risk_count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个风险，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core_system_3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system3_risk_count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风险</a:t>
            </a:r>
            <a:endParaRPr lang="zh-CN" altLang="en-US" sz="1200">
              <a:solidFill>
                <a:schemeClr val="tx1"/>
              </a:solidFill>
              <a:latin typeface="Arial" panose="020B0604020202020204" pitchFamily="34" charset="0"/>
              <a:ea typeface="黑体-简" panose="02000000000000000000" charset="-122"/>
              <a:cs typeface="Songti SC" panose="02010800040101010101" charset="-122"/>
              <a:sym typeface="Noto Sans SC" panose="020B0200000000000000" charset="-122"/>
            </a:endParaRPr>
          </a:p>
          <a:p>
            <a:pPr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200" b="1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高效</a:t>
            </a:r>
            <a:r>
              <a:rPr lang="en-US" sz="1200" b="1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消除</a:t>
            </a:r>
            <a:r>
              <a:rPr lang="en-US" sz="1200" b="1"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隐患</a:t>
            </a:r>
            <a:r>
              <a:rPr lang="en-US" sz="1200" b="1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：</a:t>
            </a:r>
            <a:r>
              <a:rPr 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共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闭环</a:t>
            </a:r>
            <a:r>
              <a:rPr 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风险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{closed_risk_total}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</a:t>
            </a:r>
            <a:r>
              <a:rPr 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个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，包含已防护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{{protected_vuln_count}}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个高风险漏洞，已修复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{{fixed_vuln_count}}</a:t>
            </a:r>
            <a:r>
              <a:rPr lang="zh-CN" altLang="en-US" sz="1200"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个高风险漏洞，已整改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disposed_weak_pwd_num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个高风险弱口令风险，已加固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affected_latest_vuln_count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个最新漏洞）</a:t>
            </a:r>
            <a:endParaRPr lang="zh-CN" altLang="en-US" sz="1200">
              <a:solidFill>
                <a:schemeClr val="tx1"/>
              </a:solidFill>
              <a:latin typeface="Arial" panose="020B0604020202020204" pitchFamily="34" charset="0"/>
              <a:ea typeface="黑体-简" panose="02000000000000000000" charset="-122"/>
              <a:cs typeface="Songti SC" panose="02010800040101010101" charset="-122"/>
              <a:sym typeface="Noto Sans SC" panose="020B0200000000000000" charset="-122"/>
            </a:endParaRPr>
          </a:p>
          <a:p>
            <a:pPr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core_system_1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闭环了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{{system1_closed_risk_count}}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个风险，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core_system_2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闭环了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{{system2_closed_risk_count}}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个风险，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core_system_3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闭环了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{{system3_closed_risk_count}}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个风险</a:t>
            </a:r>
            <a:endParaRPr lang="en-US" altLang="en-US" sz="1200" dirty="0">
              <a:solidFill>
                <a:schemeClr val="tx1"/>
              </a:solidFill>
              <a:latin typeface="Arial" panose="020B0604020202020204" pitchFamily="34" charset="0"/>
              <a:ea typeface="黑体-简" panose="02000000000000000000" charset="-122"/>
              <a:cs typeface="Songti SC" panose="02010800040101010101" charset="-122"/>
              <a:sym typeface="Noto Sans SC" panose="020B0200000000000000" charset="-122"/>
            </a:endParaRPr>
          </a:p>
        </p:txBody>
      </p:sp>
      <p:sp>
        <p:nvSpPr>
          <p:cNvPr id="121" name="矩形 120"/>
          <p:cNvSpPr/>
          <p:nvPr>
            <p:custDataLst>
              <p:tags r:id="rId8"/>
            </p:custDataLst>
          </p:nvPr>
        </p:nvSpPr>
        <p:spPr>
          <a:xfrm>
            <a:off x="793115" y="2222500"/>
            <a:ext cx="3707765" cy="288290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 dirty="0">
                <a:solidFill>
                  <a:srgbClr val="2563EB"/>
                </a:solidFill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风险主动预防</a:t>
            </a:r>
            <a:endParaRPr lang="zh-CN" altLang="en-US" sz="2000" b="1" dirty="0">
              <a:solidFill>
                <a:srgbClr val="2563EB"/>
              </a:solidFill>
              <a:latin typeface="Arial" panose="020B0604020202020204" pitchFamily="34" charset="0"/>
              <a:ea typeface="黑体-简" panose="02000000000000000000" charset="-122"/>
              <a:cs typeface="+mn-ea"/>
              <a:sym typeface="+mn-ea"/>
            </a:endParaRPr>
          </a:p>
        </p:txBody>
      </p:sp>
      <p:sp>
        <p:nvSpPr>
          <p:cNvPr id="6" name="Shape 8"/>
          <p:cNvSpPr/>
          <p:nvPr/>
        </p:nvSpPr>
        <p:spPr>
          <a:xfrm>
            <a:off x="7677785" y="2073275"/>
            <a:ext cx="3708000" cy="3740785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6">
                <a:lumMod val="20000"/>
                <a:lumOff val="80000"/>
              </a:schemeClr>
            </a:solidFill>
            <a:prstDash val="solid"/>
          </a:ln>
          <a:effectLst>
            <a:outerShdw blurRad="50800" dist="12700" dir="8100000" algn="bl" rotWithShape="0">
              <a:srgbClr val="2563EB">
                <a:alpha val="8000"/>
              </a:srgbClr>
            </a:outerShdw>
          </a:effectLst>
        </p:spPr>
      </p:sp>
      <p:sp>
        <p:nvSpPr>
          <p:cNvPr id="7" name="Shape 9"/>
          <p:cNvSpPr/>
          <p:nvPr/>
        </p:nvSpPr>
        <p:spPr>
          <a:xfrm>
            <a:off x="7677785" y="2082165"/>
            <a:ext cx="3708000" cy="36000"/>
          </a:xfrm>
          <a:prstGeom prst="rect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</p:sp>
      <p:sp>
        <p:nvSpPr>
          <p:cNvPr id="124" name="矩形 123"/>
          <p:cNvSpPr/>
          <p:nvPr>
            <p:custDataLst>
              <p:tags r:id="rId9"/>
            </p:custDataLst>
          </p:nvPr>
        </p:nvSpPr>
        <p:spPr>
          <a:xfrm>
            <a:off x="7689215" y="2171700"/>
            <a:ext cx="3693795" cy="359410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altLang="zh-CN" sz="2000" b="1" dirty="0">
                <a:solidFill>
                  <a:srgbClr val="70AD47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7*24H</a:t>
            </a:r>
            <a:r>
              <a:rPr lang="zh-CN" altLang="en-US" sz="2000" b="1" dirty="0">
                <a:solidFill>
                  <a:srgbClr val="70AD47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威胁</a:t>
            </a:r>
            <a:r>
              <a:rPr lang="zh-CN" altLang="en-US" sz="2000" b="1" dirty="0">
                <a:solidFill>
                  <a:srgbClr val="70AD47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实时</a:t>
            </a:r>
            <a:r>
              <a:rPr lang="zh-CN" altLang="en-US" sz="2000" b="1" dirty="0">
                <a:solidFill>
                  <a:srgbClr val="70AD47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对抗</a:t>
            </a:r>
            <a:endParaRPr lang="zh-CN" altLang="en-US" sz="2000" b="1" dirty="0">
              <a:solidFill>
                <a:srgbClr val="70AD47"/>
              </a:solidFill>
              <a:latin typeface="Heiti SC Medium" panose="02000000000000000000" charset="-122"/>
              <a:ea typeface="Heiti SC Medium" panose="02000000000000000000" charset="-122"/>
              <a:cs typeface="Heiti SC Medium" panose="02000000000000000000" charset="-122"/>
              <a:sym typeface="+mn-ea"/>
            </a:endParaRPr>
          </a:p>
        </p:txBody>
      </p:sp>
      <p:sp>
        <p:nvSpPr>
          <p:cNvPr id="126" name="矩形 125"/>
          <p:cNvSpPr/>
          <p:nvPr>
            <p:custDataLst>
              <p:tags r:id="rId10"/>
            </p:custDataLst>
          </p:nvPr>
        </p:nvSpPr>
        <p:spPr>
          <a:xfrm>
            <a:off x="7738745" y="2628265"/>
            <a:ext cx="3606800" cy="314769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200" b="1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安全策略调优：</a:t>
            </a:r>
            <a:r>
              <a:rPr lang="zh-CN" altLang="en-US" sz="120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Songti SC" panose="02010800040101010101" charset="-122"/>
                <a:sym typeface="Noto Sans SC"/>
              </a:rPr>
              <a:t>主动监测策略有效性，发现并调优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{{security_policy_optimize_num}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}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项异常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策略；</a:t>
            </a:r>
            <a:endParaRPr lang="zh-CN" altLang="en-US" sz="1200">
              <a:solidFill>
                <a:schemeClr val="tx1"/>
              </a:solidFill>
              <a:latin typeface="Arial" panose="020B0604020202020204" pitchFamily="34" charset="0"/>
              <a:ea typeface="黑体-简" panose="02000000000000000000" charset="-122"/>
              <a:cs typeface="Songti SC" panose="02010800040101010101" charset="-122"/>
              <a:sym typeface="Noto Sans SC"/>
            </a:endParaRPr>
          </a:p>
          <a:p>
            <a:pPr algn="l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200" b="1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实时威胁对抗：</a:t>
            </a:r>
            <a:r>
              <a:rPr 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Arial" panose="020B0604020202020204" pitchFamily="34" charset="0"/>
                <a:sym typeface="Noto Sans SC"/>
              </a:rPr>
              <a:t>7*24H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监测并发现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{threat_alert_total}}</a:t>
            </a:r>
            <a:r>
              <a:rPr 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次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威胁告警</a:t>
            </a:r>
            <a:r>
              <a:rPr 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，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其中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core_system_1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{{core_system1_threat_alert_distribution}}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次威胁、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core_system_2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{{core_system2_threat_alert_distribution}}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次威胁、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core_system_3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{{core_system3_threat_alert_distribution}}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次威胁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，</a:t>
            </a:r>
            <a:r>
              <a:rPr lang="zh-CN" altLang="en-US" sz="1200"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避免了黑客进一步入侵，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平均遏制时间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{{threat_average_containment_time}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}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分钟；</a:t>
            </a:r>
            <a:endParaRPr lang="zh-CN" altLang="en-US" sz="1200">
              <a:solidFill>
                <a:schemeClr val="tx1"/>
              </a:solidFill>
              <a:latin typeface="Arial" panose="020B0604020202020204" pitchFamily="34" charset="0"/>
              <a:ea typeface="黑体-简" panose="02000000000000000000" charset="-122"/>
              <a:cs typeface="Songti SC" panose="02010800040101010101" charset="-122"/>
              <a:sym typeface="Noto Sans SC"/>
            </a:endParaRPr>
          </a:p>
          <a:p>
            <a:pPr algn="l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200" b="1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事件快速处置：</a:t>
            </a:r>
            <a:r>
              <a:rPr lang="en-US" sz="1200">
                <a:latin typeface="Arial" panose="020B0604020202020204" pitchFamily="34" charset="0"/>
                <a:ea typeface="黑体-简" panose="02000000000000000000" charset="-122"/>
                <a:cs typeface="Arial" panose="020B0604020202020204" pitchFamily="34" charset="0"/>
                <a:sym typeface="Noto Sans SC"/>
              </a:rPr>
              <a:t>7*24H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主动发现并及时处置了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{{incident_total}}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起安全事件，</a:t>
            </a:r>
            <a:r>
              <a:rPr lang="zh-CN" altLang="en-US" sz="1200"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避免了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{{incident_total}}</a:t>
            </a:r>
            <a:r>
              <a:rPr lang="zh-CN" altLang="en-US" sz="1200"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次业务损失；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其中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core_system_1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、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core_system_2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、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core_system_3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等核心系统的事件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{{core_system_incident_count}}</a:t>
            </a:r>
            <a:r>
              <a:rPr lang="zh-CN" altLang="en-US" sz="12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次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；事件平均响应时间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{{incident_avg_response_time}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}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分钟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。</a:t>
            </a:r>
            <a:endParaRPr lang="zh-CN" altLang="en-US" sz="1200">
              <a:solidFill>
                <a:srgbClr val="4C61E7"/>
              </a:solidFill>
              <a:latin typeface="Arial" panose="020B0604020202020204" pitchFamily="34" charset="0"/>
              <a:ea typeface="黑体-简" panose="02000000000000000000" charset="-122"/>
              <a:cs typeface="Songti SC" panose="02010800040101010101" charset="-122"/>
              <a:sym typeface="Noto Sans SC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5546725" y="2876550"/>
            <a:ext cx="114617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 b="1" dirty="0"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保护对象</a:t>
            </a:r>
            <a:endParaRPr lang="zh-CN" altLang="en-US" b="1" dirty="0">
              <a:latin typeface="Arial" panose="020B0604020202020204" pitchFamily="34" charset="0"/>
              <a:ea typeface="黑体-简" panose="02000000000000000000" charset="-122"/>
              <a:cs typeface="+mn-ea"/>
              <a:sym typeface="+mn-ea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5279390" y="3341370"/>
            <a:ext cx="900000" cy="36000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algn="dist"/>
            <a:r>
              <a:rPr lang="zh-CN" altLang="en-US" sz="1400" dirty="0">
                <a:latin typeface="Arial" panose="020B0604020202020204" pitchFamily="34" charset="0"/>
                <a:ea typeface="黑体-简" panose="02000000000000000000" charset="-122"/>
                <a:cs typeface="Source Han Sans CN Normal" panose="020B0600000000000000" charset="-122"/>
                <a:sym typeface="+mn-ea"/>
              </a:rPr>
              <a:t>业务</a:t>
            </a:r>
            <a:r>
              <a:rPr lang="zh-CN" altLang="en-US" sz="1400" dirty="0">
                <a:latin typeface="Arial" panose="020B0604020202020204" pitchFamily="34" charset="0"/>
                <a:ea typeface="黑体-简" panose="02000000000000000000" charset="-122"/>
                <a:cs typeface="Source Han Sans CN Normal" panose="020B0600000000000000" charset="-122"/>
                <a:sym typeface="+mn-ea"/>
              </a:rPr>
              <a:t>系统</a:t>
            </a:r>
            <a:endParaRPr lang="zh-CN" altLang="en-US" sz="1400" dirty="0">
              <a:latin typeface="Arial" panose="020B0604020202020204" pitchFamily="34" charset="0"/>
              <a:ea typeface="黑体-简" panose="02000000000000000000" charset="-122"/>
              <a:cs typeface="Source Han Sans CN Normal" panose="020B0600000000000000" charset="-122"/>
              <a:sym typeface="+mn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5279390" y="3786482"/>
            <a:ext cx="900000" cy="35941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algn="dist"/>
            <a:r>
              <a:rPr lang="zh-CN" altLang="en-US" sz="1400" dirty="0">
                <a:latin typeface="Arial" panose="020B0604020202020204" pitchFamily="34" charset="0"/>
                <a:ea typeface="黑体-简" panose="02000000000000000000" charset="-122"/>
                <a:cs typeface="Source Han Sans CN Normal" panose="020B0600000000000000" charset="-122"/>
                <a:sym typeface="+mn-ea"/>
              </a:rPr>
              <a:t>服务器</a:t>
            </a:r>
            <a:endParaRPr lang="zh-CN" altLang="en-US" sz="1400" dirty="0">
              <a:latin typeface="Arial" panose="020B0604020202020204" pitchFamily="34" charset="0"/>
              <a:ea typeface="黑体-简" panose="02000000000000000000" charset="-122"/>
              <a:cs typeface="Source Han Sans CN Normal" panose="020B0600000000000000" charset="-122"/>
              <a:sym typeface="+mn-ea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5279390" y="4255090"/>
            <a:ext cx="900000" cy="35941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algn="dist"/>
            <a:r>
              <a:rPr lang="zh-CN" altLang="en-US" sz="1400" dirty="0">
                <a:latin typeface="Arial" panose="020B0604020202020204" pitchFamily="34" charset="0"/>
                <a:ea typeface="黑体-简" panose="02000000000000000000" charset="-122"/>
                <a:cs typeface="Source Han Sans CN Normal" panose="020B0600000000000000" charset="-122"/>
                <a:sym typeface="+mn-ea"/>
              </a:rPr>
              <a:t>重要</a:t>
            </a:r>
            <a:r>
              <a:rPr lang="zh-CN" altLang="en-US" sz="1400" dirty="0">
                <a:latin typeface="Arial" panose="020B0604020202020204" pitchFamily="34" charset="0"/>
                <a:ea typeface="黑体-简" panose="02000000000000000000" charset="-122"/>
                <a:cs typeface="Source Han Sans CN Normal" panose="020B0600000000000000" charset="-122"/>
                <a:sym typeface="+mn-ea"/>
              </a:rPr>
              <a:t>终端</a:t>
            </a:r>
            <a:endParaRPr lang="zh-CN" altLang="en-US" sz="1400" dirty="0">
              <a:latin typeface="Arial" panose="020B0604020202020204" pitchFamily="34" charset="0"/>
              <a:ea typeface="黑体-简" panose="02000000000000000000" charset="-122"/>
              <a:cs typeface="Source Han Sans CN Normal" panose="020B0600000000000000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6198235" y="3368017"/>
            <a:ext cx="1584000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l">
              <a:spcBef>
                <a:spcPct val="0"/>
              </a:spcBef>
              <a:spcAft>
                <a:spcPct val="0"/>
              </a:spcAft>
            </a:pPr>
            <a:r>
              <a:rPr lang="en-US" altLang="zh-CN" sz="14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urce Han Sans CN Normal" panose="020B0600000000000000" charset="-122"/>
                <a:sym typeface="+mn-ea"/>
              </a:rPr>
              <a:t>{{business_system_count}</a:t>
            </a:r>
            <a:r>
              <a:rPr lang="en-US" altLang="zh-CN" sz="14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urce Han Sans CN Normal" panose="020B0600000000000000" charset="-122"/>
                <a:sym typeface="+mn-ea"/>
              </a:rPr>
              <a:t>}</a:t>
            </a:r>
            <a:endParaRPr lang="en-US" altLang="zh-CN" sz="1400" dirty="0">
              <a:solidFill>
                <a:srgbClr val="4C61E7"/>
              </a:solidFill>
              <a:latin typeface="Arial" panose="020B0604020202020204" pitchFamily="34" charset="0"/>
              <a:ea typeface="黑体-简" panose="02000000000000000000" charset="-122"/>
              <a:cs typeface="Source Han Sans CN Normal" panose="020B0600000000000000" charset="-122"/>
              <a:sym typeface="+mn-ea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6198235" y="3812835"/>
            <a:ext cx="1584000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14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urce Han Sans CN Normal" panose="020B0600000000000000" charset="-122"/>
                <a:sym typeface="+mn-ea"/>
              </a:rPr>
              <a:t>{{server_asset_count}</a:t>
            </a:r>
            <a:r>
              <a:rPr lang="en-US" altLang="zh-CN" sz="14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urce Han Sans CN Normal" panose="020B0600000000000000" charset="-122"/>
                <a:sym typeface="+mn-ea"/>
              </a:rPr>
              <a:t>}</a:t>
            </a:r>
            <a:endParaRPr lang="en-US" altLang="zh-CN" sz="1400" dirty="0">
              <a:solidFill>
                <a:srgbClr val="4C61E7"/>
              </a:solidFill>
              <a:latin typeface="Arial" panose="020B0604020202020204" pitchFamily="34" charset="0"/>
              <a:ea typeface="黑体-简" panose="02000000000000000000" charset="-122"/>
              <a:cs typeface="Source Han Sans CN Normal" panose="020B0600000000000000" charset="-122"/>
              <a:sym typeface="+mn-ea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6198235" y="4281442"/>
            <a:ext cx="1584000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4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urce Han Sans CN Normal" panose="020B0600000000000000" charset="-122"/>
                <a:sym typeface="+mn-ea"/>
              </a:rPr>
              <a:t>{{</a:t>
            </a:r>
            <a:r>
              <a:rPr lang="en-US" altLang="zh-CN" sz="14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urce Han Sans CN Normal" panose="020B0600000000000000" charset="-122"/>
                <a:sym typeface="+mn-ea"/>
              </a:rPr>
              <a:t>pc_asset_count</a:t>
            </a:r>
            <a:r>
              <a:rPr lang="en-US" sz="14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urce Han Sans CN Normal" panose="020B0600000000000000" charset="-122"/>
                <a:sym typeface="+mn-ea"/>
              </a:rPr>
              <a:t>}}</a:t>
            </a:r>
            <a:endParaRPr lang="en-US" altLang="en-US" sz="1400" dirty="0">
              <a:solidFill>
                <a:srgbClr val="4C61E7"/>
              </a:solidFill>
              <a:latin typeface="Arial" panose="020B0604020202020204" pitchFamily="34" charset="0"/>
              <a:ea typeface="黑体-简" panose="02000000000000000000" charset="-122"/>
              <a:cs typeface="Source Han Sans CN Normal" panose="020B0600000000000000" charset="-122"/>
              <a:sym typeface="+mn-ea"/>
            </a:endParaRPr>
          </a:p>
        </p:txBody>
      </p:sp>
    </p:spTree>
    <p:custDataLst>
      <p:tags r:id="rId1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深信服 + 智安全"/>
          <p:cNvPicPr>
            <a:picLocks noChangeAspect="1"/>
          </p:cNvPicPr>
          <p:nvPr/>
        </p:nvPicPr>
        <p:blipFill>
          <a:blip r:embed="rId1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  <p:grpSp>
        <p:nvGrpSpPr>
          <p:cNvPr id="12" name="组合 11"/>
          <p:cNvGrpSpPr/>
          <p:nvPr/>
        </p:nvGrpSpPr>
        <p:grpSpPr>
          <a:xfrm>
            <a:off x="224790" y="289878"/>
            <a:ext cx="4279900" cy="327025"/>
            <a:chOff x="533" y="646"/>
            <a:chExt cx="6740" cy="515"/>
          </a:xfrm>
        </p:grpSpPr>
        <p:grpSp>
          <p:nvGrpSpPr>
            <p:cNvPr id="13" name="组合 12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14" name="燕尾形 86"/>
              <p:cNvSpPr/>
              <p:nvPr>
                <p:custDataLst>
                  <p:tags r:id="rId2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16" name="燕尾形 103"/>
              <p:cNvSpPr/>
              <p:nvPr>
                <p:custDataLst>
                  <p:tags r:id="rId3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9" name="textbox 158"/>
            <p:cNvSpPr/>
            <p:nvPr/>
          </p:nvSpPr>
          <p:spPr>
            <a:xfrm>
              <a:off x="1345" y="646"/>
              <a:ext cx="5928" cy="51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p>
              <a:pPr algn="l" rtl="0" eaLnBrk="0">
                <a:lnSpc>
                  <a:spcPct val="78000"/>
                </a:lnSpc>
              </a:pPr>
              <a:endParaRPr sz="1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  <a:ea typeface="微软雅黑" panose="020B0503020204020204" charset="-122"/>
                <a:cs typeface="Arial" panose="020B0604020202020204"/>
              </a:endParaRPr>
            </a:p>
            <a:p>
              <a:pPr algn="l" rtl="0" eaLnBrk="0">
                <a:lnSpc>
                  <a:spcPct val="101000"/>
                </a:lnSpc>
              </a:pPr>
              <a:r>
                <a:rPr lang="en-US" sz="1900" b="1">
                  <a:solidFill>
                    <a:srgbClr val="262626"/>
                  </a:solidFill>
                  <a:latin typeface="Arial Black" panose="020B0A04020102020204" pitchFamily="34" charset="0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保护业务</a:t>
              </a:r>
              <a:r>
                <a:rPr lang="zh-CN" altLang="en-US" sz="1900" b="1">
                  <a:solidFill>
                    <a:srgbClr val="262626"/>
                  </a:solidFill>
                  <a:latin typeface="Arial Black" panose="020B0A04020102020204" pitchFamily="34" charset="0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安全典型事例</a:t>
              </a:r>
              <a:endParaRPr lang="en-US" sz="1900">
                <a:latin typeface="Arial Black" panose="020B0A04020102020204" pitchFamily="34" charset="0"/>
                <a:ea typeface="微软雅黑" panose="020B0503020204020204" charset="-122"/>
              </a:endParaRPr>
            </a:p>
            <a:p>
              <a:pPr algn="l" rtl="0" eaLnBrk="0">
                <a:lnSpc>
                  <a:spcPct val="101000"/>
                </a:lnSpc>
              </a:pPr>
              <a:endPara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endParaRPr>
            </a:p>
          </p:txBody>
        </p:sp>
      </p:grpSp>
      <p:graphicFrame>
        <p:nvGraphicFramePr>
          <p:cNvPr id="47" name="表格 46"/>
          <p:cNvGraphicFramePr/>
          <p:nvPr>
            <p:custDataLst>
              <p:tags r:id="rId4"/>
            </p:custDataLst>
          </p:nvPr>
        </p:nvGraphicFramePr>
        <p:xfrm>
          <a:off x="6257290" y="1151890"/>
          <a:ext cx="5535295" cy="5471795"/>
        </p:xfrm>
        <a:graphic>
          <a:graphicData uri="http://schemas.openxmlformats.org/drawingml/2006/table">
            <a:tbl>
              <a:tblPr firstRow="1" lastCol="1" bandCol="1">
                <a:tableStyleId>{0126E9F6-41A6-44B7-8387-491034A24550}</a:tableStyleId>
              </a:tblPr>
              <a:tblGrid>
                <a:gridCol w="883285"/>
                <a:gridCol w="4652010"/>
              </a:tblGrid>
              <a:tr h="85153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潜在损失维度</a:t>
                      </a:r>
                      <a:endParaRPr lang="zh-CN" altLang="en-US" sz="120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 algn="l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漏洞利用攻击如果未及时发现和对抗，可能导致核心系统敏感数据泄露、主机被控挖矿、数据勒索加密等重大</a:t>
                      </a: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危害事件</a:t>
                      </a:r>
                      <a:endParaRPr lang="zh-CN" altLang="en-US" sz="120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  <a:tr h="112014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潜在损失规避评估</a:t>
                      </a:r>
                      <a:endParaRPr lang="zh-CN" altLang="en-US" sz="120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（影响面）</a:t>
                      </a:r>
                      <a:endParaRPr lang="zh-CN" altLang="en-US" sz="1200" b="1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sym typeface="+mn-ea"/>
                        </a:rPr>
                        <a:t>2</a:t>
                      </a:r>
                      <a:r>
                        <a:rPr lang="zh-CN" altLang="en-US" sz="120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sym typeface="+mn-ea"/>
                        </a:rPr>
                        <a:t>个高危可利用漏洞</a:t>
                      </a: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sym typeface="+mn-ea"/>
                        </a:rPr>
                        <a:t>*100</a:t>
                      </a:r>
                      <a:r>
                        <a:rPr lang="zh-CN" altLang="en-US" sz="120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sym typeface="+mn-ea"/>
                        </a:rPr>
                        <a:t>万元</a:t>
                      </a: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sym typeface="+mn-ea"/>
                        </a:rPr>
                        <a:t>≈200</a:t>
                      </a:r>
                      <a:r>
                        <a:rPr lang="zh-CN" altLang="en-US" sz="120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sym typeface="+mn-ea"/>
                        </a:rPr>
                        <a:t>万元</a:t>
                      </a:r>
                      <a:endParaRPr lang="zh-CN" altLang="en-US" sz="1200">
                        <a:solidFill>
                          <a:srgbClr val="FF0000"/>
                        </a:solidFill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buSzTx/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（基于行业公开事例评估测算，单个漏洞利用攻击入侵成功导致的平均安全损失约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100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万元；）</a:t>
                      </a:r>
                      <a:endParaRPr lang="zh-CN" altLang="en-US" sz="120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  <a:tr h="350012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实际案例损失情况</a:t>
                      </a:r>
                      <a:endParaRPr lang="zh-CN" altLang="en-US" sz="1200" b="1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 indent="0" algn="l" defTabSz="914400">
                        <a:lnSpc>
                          <a:spcPct val="150000"/>
                        </a:lnSpc>
                        <a:buClrTx/>
                        <a:buSzTx/>
                        <a:buFont typeface="+mj-lt"/>
                        <a:buNone/>
                      </a:pPr>
                      <a:r>
                        <a:rPr lang="zh-CN" altLang="en-US" sz="12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当前规模化的</a:t>
                      </a:r>
                      <a:r>
                        <a:rPr lang="en-US" altLang="zh-CN" sz="12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RaaS</a:t>
                      </a:r>
                      <a:r>
                        <a:rPr lang="zh-CN" altLang="en-US" sz="12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攻击手段主要探测识别</a:t>
                      </a:r>
                      <a:r>
                        <a:rPr lang="en-US" altLang="zh-CN" sz="12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1DAY</a:t>
                      </a:r>
                      <a:r>
                        <a:rPr lang="zh-CN" altLang="en-US" sz="12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高危可利用漏洞后进行自动化利用攻击</a:t>
                      </a:r>
                      <a:endParaRPr lang="en-US" altLang="zh-CN" sz="1200" b="1" dirty="0">
                        <a:solidFill>
                          <a:srgbClr val="14161A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pitchFamily="34" charset="-120"/>
                        <a:sym typeface="宋体" panose="02010600030101010101" pitchFamily="2" charset="-122"/>
                      </a:endParaRPr>
                    </a:p>
                    <a:p>
                      <a:pPr indent="0" algn="l" defTabSz="914400">
                        <a:lnSpc>
                          <a:spcPct val="150000"/>
                        </a:lnSpc>
                        <a:buClrTx/>
                        <a:buSzTx/>
                        <a:buFont typeface="+mj-lt"/>
                        <a:buNone/>
                      </a:pP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捷豹路虎遭勒索攻击致全球系统瘫痪</a:t>
                      </a:r>
                      <a:endParaRPr lang="en-US" altLang="zh-CN" sz="1200" b="0" dirty="0">
                        <a:solidFill>
                          <a:srgbClr val="14161A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pitchFamily="34" charset="-120"/>
                      </a:endParaRPr>
                    </a:p>
                    <a:p>
                      <a:pPr indent="0" algn="l" defTabSz="914400">
                        <a:lnSpc>
                          <a:spcPct val="150000"/>
                        </a:lnSpc>
                        <a:buClrTx/>
                        <a:buSzTx/>
                        <a:buFont typeface="+mj-lt"/>
                        <a:buNone/>
                      </a:pP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日期：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2025.9 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至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 2025.10.8</a:t>
                      </a:r>
                      <a:endParaRPr lang="en-US" altLang="zh-CN" sz="1200" b="0" dirty="0">
                        <a:solidFill>
                          <a:srgbClr val="14161A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pitchFamily="34" charset="-120"/>
                        <a:sym typeface="+mn-ea"/>
                      </a:endParaRPr>
                    </a:p>
                    <a:p>
                      <a:pPr indent="0" algn="l" defTabSz="914400">
                        <a:lnSpc>
                          <a:spcPct val="150000"/>
                        </a:lnSpc>
                        <a:buClrTx/>
                        <a:buSzTx/>
                        <a:buFont typeface="+mj-lt"/>
                        <a:buNone/>
                      </a:pP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事件概要：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"Scattered Lapsus$ Hunters"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黑客组织利用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SAP NetWeaver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（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CVE-2025-31324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）远程执行漏洞入侵内部网络，部署勒索软件并窃取数据。</a:t>
                      </a:r>
                      <a:endParaRPr lang="en-US" altLang="zh-CN" sz="1200" b="0" dirty="0">
                        <a:solidFill>
                          <a:srgbClr val="14161A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pitchFamily="34" charset="-120"/>
                      </a:endParaRPr>
                    </a:p>
                    <a:p>
                      <a:pPr indent="0" algn="l" defTabSz="914400">
                        <a:lnSpc>
                          <a:spcPct val="150000"/>
                        </a:lnSpc>
                        <a:buClrTx/>
                        <a:buSzTx/>
                        <a:buFont typeface="+mj-lt"/>
                        <a:buNone/>
                      </a:pP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影响描述：全球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IT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系统关闭，生产、销售、售后服务全面瘫痪；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33,000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名员工被安排休假；财务损失达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 1.96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亿英镑；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10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月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8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日才完成系统重启。</a:t>
                      </a:r>
                      <a:endParaRPr lang="en-US" altLang="zh-CN" sz="1200" b="0" dirty="0">
                        <a:solidFill>
                          <a:srgbClr val="14161A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pitchFamily="34" charset="-120"/>
                        <a:sym typeface="宋体" panose="02010600030101010101" pitchFamily="2" charset="-122"/>
                      </a:endParaRPr>
                    </a:p>
                    <a:p>
                      <a:pPr indent="0" algn="l" defTabSz="914400">
                        <a:lnSpc>
                          <a:spcPct val="150000"/>
                        </a:lnSpc>
                        <a:buClrTx/>
                        <a:buSzTx/>
                        <a:buFont typeface="+mj-lt"/>
                        <a:buNone/>
                      </a:pPr>
                      <a:r>
                        <a:rPr lang="en-US" altLang="zh-CN" sz="12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基于</a:t>
                      </a:r>
                      <a:r>
                        <a:rPr lang="zh-CN" altLang="en-US" sz="12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国内安全咨询机构及厂商综合披露的数据显示，国内政企勒索支付的中位数为</a:t>
                      </a:r>
                      <a:r>
                        <a:rPr lang="en-US" altLang="zh-CN" sz="12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100</a:t>
                      </a:r>
                      <a:r>
                        <a:rPr lang="zh-CN" altLang="en-US" sz="12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万元</a:t>
                      </a:r>
                      <a:endParaRPr lang="zh-CN" altLang="en-US" sz="120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2" name="Text 1"/>
          <p:cNvSpPr/>
          <p:nvPr/>
        </p:nvSpPr>
        <p:spPr>
          <a:xfrm>
            <a:off x="431165" y="1151255"/>
            <a:ext cx="5760000" cy="576000"/>
          </a:xfrm>
          <a:prstGeom prst="rect">
            <a:avLst/>
          </a:prstGeom>
          <a:solidFill>
            <a:srgbClr val="E6514E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</a:rPr>
              <a:t>主机存在动态脚本上传成功</a:t>
            </a:r>
            <a:endParaRPr lang="en-US" altLang="en-US" sz="1400" dirty="0">
              <a:solidFill>
                <a:srgbClr val="FFFFFF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31165" y="1727200"/>
            <a:ext cx="5760000" cy="4896000"/>
          </a:xfrm>
          <a:prstGeom prst="rect">
            <a:avLst/>
          </a:prstGeom>
          <a:solidFill>
            <a:srgbClr val="FDF1F1"/>
          </a:solidFill>
        </p:spPr>
        <p:txBody>
          <a:bodyPr wrap="square" lIns="283464" tIns="137160" rIns="283464" bIns="13716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Light" panose="02000000000000000000" charset="-122"/>
              </a:rPr>
              <a:t>攻击者通过文件上传漏洞，成功上传脚本文件，尝试执行脚本文件获取服务器权限</a:t>
            </a:r>
            <a:r>
              <a:rPr lang="en-US" sz="1200" b="1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
</a:t>
            </a:r>
            <a:endParaRPr lang="en-US" sz="1200" b="1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【</a:t>
            </a:r>
            <a:r>
              <a:rPr lang="en-US" sz="1200" b="1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发现时间</a:t>
            </a:r>
            <a:r>
              <a:rPr lang="zh-CN" altLang="en-US" sz="1200" b="1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】</a:t>
            </a:r>
            <a:r>
              <a:rPr 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2025-10-29 18:19:26</a:t>
            </a:r>
            <a:endParaRPr lang="en-US" sz="12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【影响资产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】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XX.XX.XX.XX</a:t>
            </a:r>
            <a:r>
              <a:rPr 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(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XX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应用</a:t>
            </a:r>
            <a:r>
              <a:rPr 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)</a:t>
            </a:r>
            <a:endParaRPr lang="en-US" altLang="zh-CN" sz="12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【事件危害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】</a:t>
            </a:r>
            <a:r>
              <a:rPr 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服务器</a:t>
            </a:r>
            <a:r>
              <a:rPr lang="en-US" sz="1200" b="1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存在</a:t>
            </a:r>
            <a:r>
              <a:rPr 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文件上传</a:t>
            </a:r>
            <a:r>
              <a:rPr lang="en-US" sz="1200" b="1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漏洞</a:t>
            </a:r>
            <a:r>
              <a:rPr 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，</a:t>
            </a:r>
            <a:r>
              <a:rPr 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如未</a:t>
            </a:r>
            <a:r>
              <a:rPr lang="zh-CN" sz="1200" b="1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发现脚本落盘和攻击动向</a:t>
            </a:r>
            <a:r>
              <a:rPr 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，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攻击者</a:t>
            </a:r>
            <a:r>
              <a:rPr lang="en-US" sz="1200" b="1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可</a:t>
            </a:r>
            <a:r>
              <a:rPr lang="zh-CN" altLang="en-US" sz="1200" b="1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直接控制服务器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执行命令，对</a:t>
            </a:r>
            <a:r>
              <a:rPr lang="zh-CN" altLang="en-US" sz="1200" b="1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收银业务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进行</a:t>
            </a:r>
            <a:r>
              <a:rPr lang="zh-CN" altLang="en-US" sz="1200" b="1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数据窃取甚至进一步投放勒索病毒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，从而导致</a:t>
            </a:r>
            <a:r>
              <a:rPr lang="zh-CN" altLang="en-US" sz="1200" b="1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集团出现</a:t>
            </a:r>
            <a:r>
              <a:rPr lang="zh-CN" altLang="en-US" sz="1200" b="1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信息泄露、业务中断以及数据被加密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的状况，进一步造成</a:t>
            </a:r>
            <a:r>
              <a:rPr lang="zh-CN" altLang="en-US" sz="1200" b="1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资金</a:t>
            </a:r>
            <a:r>
              <a:rPr lang="en-US" altLang="zh-CN" sz="1200" b="1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/ </a:t>
            </a:r>
            <a:r>
              <a:rPr lang="zh-CN" altLang="en-US" sz="1200" b="1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名誉损失和监管单位通报处罚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等；</a:t>
            </a:r>
            <a:endParaRPr 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【影响范围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】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攻击行为的</a:t>
            </a:r>
            <a:r>
              <a:rPr lang="zh-CN" altLang="en-US" sz="1200" b="1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阻断和处置加固及时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，将</a:t>
            </a:r>
            <a:r>
              <a:rPr lang="zh-CN" altLang="en-US" sz="1200" b="1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影响范围限制在单台业务服务器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且</a:t>
            </a:r>
            <a:r>
              <a:rPr lang="zh-CN" altLang="en-US" sz="1200" b="1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未造成损失，未影响其它业务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。</a:t>
            </a:r>
            <a:endParaRPr lang="en-US" sz="12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【事件处置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】</a:t>
            </a:r>
            <a:endParaRPr lang="zh-CN" altLang="en-US" sz="1200" b="1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228600" indent="-228600">
              <a:lnSpc>
                <a:spcPct val="150000"/>
              </a:lnSpc>
              <a:buFont typeface="+mj-ea"/>
              <a:buAutoNum type="circleNumDbPlain"/>
            </a:pP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云端服务经理：发现告警后对事件完成分析定性和通报预警，</a:t>
            </a:r>
            <a:r>
              <a:rPr lang="en-US" sz="1200" b="1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封堵恶意IP</a:t>
            </a:r>
            <a:r>
              <a:rPr lang="zh-CN" altLang="en-US" sz="1200" b="1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完成攻击抑制；应急响应，开展紧急溯源分析和处置；</a:t>
            </a:r>
            <a:endParaRPr lang="en-US" altLang="en-US" sz="1200" b="1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228600" indent="-228600">
              <a:lnSpc>
                <a:spcPct val="150000"/>
              </a:lnSpc>
              <a:buFont typeface="+mj-ea"/>
              <a:buAutoNum type="circleNumDbPlain"/>
            </a:pP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「客户单位</a:t>
            </a:r>
            <a:r>
              <a:rPr lang="en-US" alt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+</a:t>
            </a:r>
            <a:r>
              <a:rPr lang="zh-CN" altLang="en-US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对接人称呼</a:t>
            </a: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」</a:t>
            </a:r>
            <a:r>
              <a:rPr lang="zh-CN" sz="1200" b="1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：</a:t>
            </a:r>
            <a:r>
              <a:rPr lang="zh-CN" sz="12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结合业务判断审核事件属性，决策处置策略</a:t>
            </a:r>
            <a:endParaRPr 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228600" indent="-228600">
              <a:lnSpc>
                <a:spcPct val="150000"/>
              </a:lnSpc>
              <a:buFont typeface="+mj-ea"/>
              <a:buAutoNum type="circleNumDbPlain"/>
            </a:pP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「线下驻场</a:t>
            </a:r>
            <a:r>
              <a:rPr lang="en-US" alt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/</a:t>
            </a:r>
            <a:r>
              <a:rPr lang="zh-CN" altLang="en-US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渠道工程师</a:t>
            </a: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」</a:t>
            </a:r>
            <a:r>
              <a:rPr lang="zh-CN" sz="1200" b="1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对主机的恶意脚本文件进行清除；同步开展漏洞加固，通过</a:t>
            </a:r>
            <a:r>
              <a:rPr 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配置防护策略，针对性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完成风险闭环</a:t>
            </a:r>
            <a:endParaRPr lang="zh-CN" sz="1200" dirty="0">
              <a:solidFill>
                <a:schemeClr val="tx1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pic>
        <p:nvPicPr>
          <p:cNvPr id="5" name="Image 0" descr="/opt/sangfor/app/report-generation/soar/apps/report_generation/front/threat-management-report/static/images/quarterly-report/event-manage/finish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1344" y="4854448"/>
            <a:ext cx="1088136" cy="877824"/>
          </a:xfrm>
          <a:prstGeom prst="rect">
            <a:avLst/>
          </a:prstGeom>
        </p:spPr>
      </p:pic>
      <p:sp>
        <p:nvSpPr>
          <p:cNvPr id="6" name="textbox 158"/>
          <p:cNvSpPr/>
          <p:nvPr/>
        </p:nvSpPr>
        <p:spPr>
          <a:xfrm>
            <a:off x="3480435" y="306070"/>
            <a:ext cx="1430655" cy="26797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 anchor="ctr" anchorCtr="0"/>
          <a:p>
            <a:pPr algn="l" rtl="0" eaLnBrk="0">
              <a:lnSpc>
                <a:spcPct val="100000"/>
              </a:lnSpc>
            </a:pPr>
            <a:r>
              <a:rPr lang="zh-CN" altLang="en-US" sz="1400" b="1" noProof="0" dirty="0">
                <a:solidFill>
                  <a:srgbClr val="0B4CBB"/>
                </a:solidFill>
                <a:uLn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Calibri" panose="020F0502020204030204" charset="0"/>
              </a:rPr>
              <a:t>威胁</a:t>
            </a:r>
            <a:r>
              <a:rPr lang="zh-CN" altLang="en-US" sz="1400" b="1" noProof="0" dirty="0">
                <a:solidFill>
                  <a:srgbClr val="0B4CBB"/>
                </a:solidFill>
                <a:uLn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Calibri" panose="020F0502020204030204" charset="0"/>
              </a:rPr>
              <a:t>对抗</a:t>
            </a:r>
            <a:endParaRPr lang="zh-CN" altLang="en-US" sz="1400" b="1" noProof="0" dirty="0">
              <a:solidFill>
                <a:srgbClr val="0B4CBB"/>
              </a:solidFill>
              <a:uLnTx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Calibri" panose="020F0502020204030204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599440" y="682625"/>
            <a:ext cx="6096000" cy="2298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TIPs</a:t>
            </a:r>
            <a:r>
              <a:rPr lang="zh-CN" altLang="en-US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：</a:t>
            </a:r>
            <a:r>
              <a:rPr lang="en-US" altLang="zh-CN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{</a:t>
            </a:r>
            <a:r>
              <a:rPr lang="zh-CN" altLang="en-US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选择跟保护核心业务相关，并且跟用户共同协作完成处置的典型事件样例</a:t>
            </a:r>
            <a:r>
              <a:rPr lang="en-US" altLang="zh-CN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}</a:t>
            </a:r>
            <a:endParaRPr lang="en-US" altLang="zh-CN" sz="900" dirty="0">
              <a:solidFill>
                <a:srgbClr val="4C61E7"/>
              </a:solidFill>
              <a:highlight>
                <a:srgbClr val="FFFF00"/>
              </a:highlight>
              <a:latin typeface="Arial" panose="020B0604020202020204" pitchFamily="34" charset="0"/>
              <a:ea typeface="黑体-简" panose="02000000000000000000" charset="-122"/>
              <a:cs typeface="微软雅黑" panose="020B0503020204020204" pitchFamily="34" charset="-120"/>
              <a:sym typeface="+mn-e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深信服 + 智安全"/>
          <p:cNvPicPr>
            <a:picLocks noChangeAspect="1"/>
          </p:cNvPicPr>
          <p:nvPr/>
        </p:nvPicPr>
        <p:blipFill>
          <a:blip r:embed="rId1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599440" y="682625"/>
            <a:ext cx="6096000" cy="2298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TIPs</a:t>
            </a:r>
            <a:r>
              <a:rPr lang="zh-CN" altLang="en-US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：</a:t>
            </a:r>
            <a:r>
              <a:rPr lang="en-US" altLang="zh-CN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{</a:t>
            </a:r>
            <a:r>
              <a:rPr lang="zh-CN" altLang="en-US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选择跟保护核心业务相关，并且跟用户共同协作完成处置的典型事件样例</a:t>
            </a:r>
            <a:r>
              <a:rPr lang="en-US" altLang="zh-CN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}</a:t>
            </a:r>
            <a:endParaRPr lang="en-US" altLang="zh-CN" sz="900" dirty="0">
              <a:solidFill>
                <a:srgbClr val="4C61E7"/>
              </a:solidFill>
              <a:highlight>
                <a:srgbClr val="FFFF00"/>
              </a:highlight>
              <a:latin typeface="Arial" panose="020B0604020202020204" pitchFamily="34" charset="0"/>
              <a:ea typeface="黑体-简" panose="02000000000000000000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20" name="Text 1"/>
          <p:cNvSpPr/>
          <p:nvPr/>
        </p:nvSpPr>
        <p:spPr>
          <a:xfrm>
            <a:off x="428625" y="1155065"/>
            <a:ext cx="5760000" cy="576000"/>
          </a:xfrm>
          <a:prstGeom prst="rect">
            <a:avLst/>
          </a:prstGeom>
          <a:solidFill>
            <a:srgbClr val="E6514E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</a:rPr>
              <a:t>主机</a:t>
            </a:r>
            <a:r>
              <a:rPr lang="zh-CN" altLang="en-US" sz="1400" dirty="0">
                <a:solidFill>
                  <a:srgbClr val="FFFFFF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</a:rPr>
              <a:t>感染银狐病毒进行内网传播</a:t>
            </a:r>
            <a:endParaRPr lang="zh-CN" altLang="en-US" sz="1400" dirty="0">
              <a:solidFill>
                <a:srgbClr val="FFFFFF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</a:endParaRPr>
          </a:p>
        </p:txBody>
      </p:sp>
      <p:sp>
        <p:nvSpPr>
          <p:cNvPr id="21" name="Text 2"/>
          <p:cNvSpPr/>
          <p:nvPr/>
        </p:nvSpPr>
        <p:spPr>
          <a:xfrm>
            <a:off x="428625" y="1731010"/>
            <a:ext cx="5760000" cy="4896000"/>
          </a:xfrm>
          <a:prstGeom prst="rect">
            <a:avLst/>
          </a:prstGeom>
          <a:solidFill>
            <a:srgbClr val="FDF1F1"/>
          </a:solidFill>
        </p:spPr>
        <p:txBody>
          <a:bodyPr wrap="square" lIns="283464" tIns="137160" rIns="283464" bIns="13716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</a:rPr>
              <a:t>攻击者通过伪造盗版谷歌浏览器，诱导员工下载安装从而植入银狐木马，通过</a:t>
            </a:r>
            <a:r>
              <a:rPr lang="en-US" altLang="zh-CN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</a:rPr>
              <a:t>OA</a:t>
            </a: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</a:rPr>
              <a:t>系统进行横向传播。</a:t>
            </a:r>
            <a:r>
              <a:rPr lang="en-US" sz="1000" b="1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
</a:t>
            </a:r>
            <a:endParaRPr lang="en-US" sz="10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【发现时间】：</a:t>
            </a:r>
            <a:r>
              <a:rPr 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2025-9-11 05:48</a:t>
            </a:r>
            <a:endParaRPr 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【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影响资产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】</a:t>
            </a:r>
            <a:r>
              <a:rPr lang="en-US" sz="1200" dirty="0">
                <a:solidFill>
                  <a:srgbClr val="666666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：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XX.XX.XX.XX</a:t>
            </a:r>
            <a:r>
              <a:rPr 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(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XX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资产</a:t>
            </a:r>
            <a:r>
              <a:rPr 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)</a:t>
            </a:r>
            <a:endParaRPr lang="en-US" altLang="zh-CN" sz="12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【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事件危害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】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：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终端电脑</a:t>
            </a:r>
            <a:r>
              <a:rPr lang="en-US" altLang="zh-CN" sz="12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感染银狐病毒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后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，攻击者可控制该PC通过即时通讯软件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（微信等）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或办公OA系统进行钓鱼从而</a:t>
            </a:r>
            <a:r>
              <a:rPr lang="zh-CN" altLang="en-US" sz="1200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无差别</a:t>
            </a:r>
            <a:r>
              <a:rPr lang="en-US" altLang="zh-CN" sz="1200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骗取</a:t>
            </a:r>
            <a:r>
              <a:rPr lang="zh-CN" altLang="en-US" sz="1200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钱财或投放勒索病毒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，</a:t>
            </a:r>
            <a:r>
              <a:rPr lang="zh-CN" altLang="en-US" sz="1200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影响员工乃至单位领导的正常办公并造成个人损失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；</a:t>
            </a:r>
            <a:endParaRPr 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【影响范围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】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：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攻击者控制该电脑主机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通过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OA向集团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员工</a:t>
            </a:r>
            <a:r>
              <a:rPr lang="zh-CN" altLang="en-US" sz="1200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批量</a:t>
            </a:r>
            <a:r>
              <a:rPr lang="en-US" altLang="zh-CN" sz="1200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发送了钓鱼邮件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，单位内部存在</a:t>
            </a:r>
            <a:r>
              <a:rPr lang="en-US" altLang="zh-CN" sz="1200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部分员工访问钓鱼链接遭受风险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，最终</a:t>
            </a:r>
            <a:r>
              <a:rPr lang="zh-CN" altLang="en-US" sz="1200" dirty="0">
                <a:solidFill>
                  <a:srgbClr val="666666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通过</a:t>
            </a:r>
            <a:r>
              <a:rPr lang="zh-CN" altLang="en-US" sz="1200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快速的应急排查和处置闭环规避了损失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。</a:t>
            </a:r>
            <a:endParaRPr lang="zh-CN" alt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【事件处置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】</a:t>
            </a:r>
            <a:endParaRPr lang="en-US" sz="12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228600" indent="-228600">
              <a:lnSpc>
                <a:spcPct val="150000"/>
              </a:lnSpc>
              <a:buFont typeface="+mj-ea"/>
              <a:buAutoNum type="circleNumDbPlain"/>
            </a:pP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云端服务经理</a:t>
            </a:r>
            <a:r>
              <a:rPr lang="zh-CN" altLang="en-US" sz="1200" dirty="0">
                <a:solidFill>
                  <a:srgbClr val="666666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：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应急响应专家对该中招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PC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进行排查和攻击路径分析溯源，协助线下找到并清除了木马文件，快速定位了中招原因</a:t>
            </a:r>
            <a:r>
              <a:rPr 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和攻击路径</a:t>
            </a:r>
            <a:endParaRPr lang="en-US" altLang="en-US" sz="1200" b="1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228600" indent="-228600">
              <a:lnSpc>
                <a:spcPct val="150000"/>
              </a:lnSpc>
              <a:buFont typeface="+mj-ea"/>
              <a:buAutoNum type="circleNumDbPlain"/>
            </a:pP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「客户单位</a:t>
            </a:r>
            <a:r>
              <a:rPr lang="en-US" alt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+</a:t>
            </a:r>
            <a:r>
              <a:rPr lang="zh-CN" altLang="en-US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对接人姓名</a:t>
            </a: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」</a:t>
            </a:r>
            <a:r>
              <a:rPr lang="zh-CN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</a:t>
            </a:r>
            <a:r>
              <a:rPr lang="zh-CN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协助快速定位到事发主机，决策处置预案；</a:t>
            </a:r>
            <a:endParaRPr 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228600" indent="-228600">
              <a:lnSpc>
                <a:spcPct val="150000"/>
              </a:lnSpc>
              <a:buFont typeface="+mj-ea"/>
              <a:buAutoNum type="circleNumDbPlain"/>
            </a:pP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「线下驻场</a:t>
            </a:r>
            <a:r>
              <a:rPr lang="en-US" alt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/</a:t>
            </a:r>
            <a:r>
              <a:rPr lang="zh-CN" altLang="en-US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渠道工程师</a:t>
            </a: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」</a:t>
            </a:r>
            <a:r>
              <a:rPr lang="zh-CN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进行了攻击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IP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封堵、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PC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网络链接断开的初步遏制</a:t>
            </a:r>
            <a:endParaRPr lang="zh-CN" alt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</p:txBody>
      </p:sp>
      <p:pic>
        <p:nvPicPr>
          <p:cNvPr id="22" name="Image 0" descr="/opt/sangfor/app/report-generation/soar/apps/report_generation/front/threat-management-report/static/images/quarterly-report/event-manage/finish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4314" y="4698238"/>
            <a:ext cx="1088136" cy="877824"/>
          </a:xfrm>
          <a:prstGeom prst="rect">
            <a:avLst/>
          </a:prstGeom>
        </p:spPr>
      </p:pic>
      <p:graphicFrame>
        <p:nvGraphicFramePr>
          <p:cNvPr id="47" name="表格 46"/>
          <p:cNvGraphicFramePr/>
          <p:nvPr>
            <p:custDataLst>
              <p:tags r:id="rId3"/>
            </p:custDataLst>
          </p:nvPr>
        </p:nvGraphicFramePr>
        <p:xfrm>
          <a:off x="6257290" y="1155065"/>
          <a:ext cx="5535295" cy="5471795"/>
        </p:xfrm>
        <a:graphic>
          <a:graphicData uri="http://schemas.openxmlformats.org/drawingml/2006/table">
            <a:tbl>
              <a:tblPr firstRow="1" lastCol="1" bandCol="1">
                <a:tableStyleId>{0126E9F6-41A6-44B7-8387-491034A24550}</a:tableStyleId>
              </a:tblPr>
              <a:tblGrid>
                <a:gridCol w="883285"/>
                <a:gridCol w="4652010"/>
              </a:tblGrid>
              <a:tr h="85725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潜在损失维度</a:t>
                      </a:r>
                      <a:endParaRPr lang="zh-CN" altLang="en-US" sz="120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主机外联成功将被感染银狐木马</a:t>
                      </a:r>
                      <a:r>
                        <a:rPr 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，利用主机的即时通讯软件在单位内部执行诈骗，或以内部员工合法身份窃取内部</a:t>
                      </a:r>
                      <a:r>
                        <a:rPr 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敏感数据</a:t>
                      </a:r>
                      <a:endParaRPr lang="zh-CN" sz="120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  <a:tr h="130111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潜在损失规避评估</a:t>
                      </a:r>
                      <a:endParaRPr lang="zh-CN" altLang="en-US" sz="120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（影响面）</a:t>
                      </a:r>
                      <a:endParaRPr lang="zh-CN" altLang="en-US" sz="1200" b="1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600</a:t>
                      </a:r>
                      <a:r>
                        <a:rPr lang="zh-CN" altLang="en-US" sz="1200">
                          <a:solidFill>
                            <a:srgbClr val="FF0000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起银狐外联</a:t>
                      </a: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*2000</a:t>
                      </a:r>
                      <a:r>
                        <a:rPr lang="zh-CN" altLang="en-US" sz="1200">
                          <a:solidFill>
                            <a:srgbClr val="FF0000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元</a:t>
                      </a:r>
                      <a:endParaRPr lang="zh-CN" altLang="en-US" sz="1200">
                        <a:solidFill>
                          <a:srgbClr val="FF0000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≈120</a:t>
                      </a:r>
                      <a:r>
                        <a:rPr lang="zh-CN" altLang="en-US" sz="1200">
                          <a:solidFill>
                            <a:srgbClr val="FF0000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万元</a:t>
                      </a:r>
                      <a:endParaRPr lang="zh-CN" altLang="en-US" sz="120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buSzTx/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（基于深信服安全运营中心2025年统计，平均每起</a:t>
                      </a:r>
                      <a:endParaRPr lang="zh-CN" altLang="en-US" sz="120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  <a:sym typeface="+mn-ea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buSzTx/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银狐木马攻击造成的个人损失约2000元；）</a:t>
                      </a:r>
                      <a:endParaRPr lang="zh-CN" altLang="en-US" sz="120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  <a:tr h="331343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实际案例损失情况</a:t>
                      </a:r>
                      <a:endParaRPr lang="zh-CN" altLang="en-US" sz="1200" b="1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 indent="0" algn="l">
                        <a:lnSpc>
                          <a:spcPct val="150000"/>
                        </a:lnSpc>
                        <a:buClrTx/>
                        <a:buSzTx/>
                        <a:buFont typeface="+mj-lt"/>
                        <a:buNone/>
                      </a:pP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2025 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年，银狐木马以远程控制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+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财务诈骗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+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数据窃取为主，非传统勒索加密，但造成企业直接经济损失超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20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亿元、受害企事业单位超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 1000 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家，以下为权威披露的典型高损失案例：</a:t>
                      </a:r>
                      <a:endParaRPr lang="zh-CN" altLang="en-US" sz="120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</a:endParaRPr>
                    </a:p>
                    <a:p>
                      <a:pPr indent="0" algn="l">
                        <a:lnSpc>
                          <a:spcPct val="150000"/>
                        </a:lnSpc>
                        <a:buClrTx/>
                        <a:buSzTx/>
                        <a:buFont typeface="+mj-lt"/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杭州某跨境电商（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2025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年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5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月，损失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800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万元）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</a:endParaRPr>
                    </a:p>
                    <a:p>
                      <a:pPr indent="0" algn="l">
                        <a:lnSpc>
                          <a:spcPct val="150000"/>
                        </a:lnSpc>
                        <a:buClrTx/>
                        <a:buSzTx/>
                        <a:buFont typeface="+mj-lt"/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攻击路径：伪装成银行账户年审通知约鱼邮件，财务电脑中招，木马潜伏两周，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</a:endParaRPr>
                    </a:p>
                    <a:p>
                      <a:pPr indent="0" algn="l">
                        <a:lnSpc>
                          <a:spcPct val="150000"/>
                        </a:lnSpc>
                        <a:buClrTx/>
                        <a:buSzTx/>
                        <a:buFont typeface="+mj-lt"/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作案手法：监控微信聊天，自动篡改指令：将财务汇报的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“ 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暂不付款”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 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篡改为“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 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立即支付”，并伪造老板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“ 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已阅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” 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回复。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</a:endParaRPr>
                    </a:p>
                    <a:p>
                      <a:pPr indent="0" algn="l">
                        <a:lnSpc>
                          <a:spcPct val="150000"/>
                        </a:lnSpc>
                        <a:buClrTx/>
                        <a:buSzTx/>
                        <a:buFont typeface="+mj-lt"/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损失：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15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分钟内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 800 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万货款转至境外账户，追回难度极大。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</a:endParaRPr>
                    </a:p>
                    <a:p>
                      <a:pPr indent="0" algn="l">
                        <a:lnSpc>
                          <a:spcPct val="150000"/>
                        </a:lnSpc>
                        <a:buClrTx/>
                        <a:buSzTx/>
                        <a:buFont typeface="+mj-lt"/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来源：浙江警方（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2025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年经济犯罪典型案例）</a:t>
                      </a:r>
                      <a:endParaRPr lang="zh-CN" altLang="en-US" sz="120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23" name="图片 22" descr="深信服 + 智安全"/>
          <p:cNvPicPr>
            <a:picLocks noChangeAspect="1"/>
          </p:cNvPicPr>
          <p:nvPr/>
        </p:nvPicPr>
        <p:blipFill>
          <a:blip r:embed="rId1"/>
          <a:srcRect l="5232" t="26576" r="4938" b="29565"/>
          <a:stretch>
            <a:fillRect/>
          </a:stretch>
        </p:blipFill>
        <p:spPr>
          <a:xfrm>
            <a:off x="10144125" y="365760"/>
            <a:ext cx="1629867" cy="360000"/>
          </a:xfrm>
          <a:prstGeom prst="rect">
            <a:avLst/>
          </a:prstGeom>
        </p:spPr>
      </p:pic>
      <p:grpSp>
        <p:nvGrpSpPr>
          <p:cNvPr id="24" name="组合 23"/>
          <p:cNvGrpSpPr/>
          <p:nvPr/>
        </p:nvGrpSpPr>
        <p:grpSpPr>
          <a:xfrm>
            <a:off x="224790" y="289878"/>
            <a:ext cx="4279900" cy="327025"/>
            <a:chOff x="533" y="646"/>
            <a:chExt cx="6740" cy="515"/>
          </a:xfrm>
        </p:grpSpPr>
        <p:grpSp>
          <p:nvGrpSpPr>
            <p:cNvPr id="25" name="组合 24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26" name="燕尾形 86"/>
              <p:cNvSpPr/>
              <p:nvPr>
                <p:custDataLst>
                  <p:tags r:id="rId4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27" name="燕尾形 103"/>
              <p:cNvSpPr/>
              <p:nvPr>
                <p:custDataLst>
                  <p:tags r:id="rId5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28" name="textbox 158"/>
            <p:cNvSpPr/>
            <p:nvPr/>
          </p:nvSpPr>
          <p:spPr>
            <a:xfrm>
              <a:off x="1345" y="646"/>
              <a:ext cx="5928" cy="51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p>
              <a:pPr algn="l" rtl="0" eaLnBrk="0">
                <a:lnSpc>
                  <a:spcPct val="78000"/>
                </a:lnSpc>
              </a:pPr>
              <a:endParaRPr sz="1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  <a:ea typeface="微软雅黑" panose="020B0503020204020204" charset="-122"/>
                <a:cs typeface="Arial" panose="020B0604020202020204"/>
              </a:endParaRPr>
            </a:p>
            <a:p>
              <a:pPr algn="l" rtl="0" eaLnBrk="0">
                <a:lnSpc>
                  <a:spcPct val="101000"/>
                </a:lnSpc>
              </a:pPr>
              <a:r>
                <a:rPr lang="en-US" sz="1900" b="1">
                  <a:solidFill>
                    <a:srgbClr val="262626"/>
                  </a:solidFill>
                  <a:latin typeface="Arial Black" panose="020B0A04020102020204" pitchFamily="34" charset="0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保护业务</a:t>
              </a:r>
              <a:r>
                <a:rPr lang="zh-CN" altLang="en-US" sz="1900" b="1">
                  <a:solidFill>
                    <a:srgbClr val="262626"/>
                  </a:solidFill>
                  <a:latin typeface="Arial Black" panose="020B0A04020102020204" pitchFamily="34" charset="0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安全典型事例</a:t>
              </a:r>
              <a:endParaRPr lang="en-US" sz="1900">
                <a:latin typeface="Arial Black" panose="020B0A04020102020204" pitchFamily="34" charset="0"/>
                <a:ea typeface="微软雅黑" panose="020B0503020204020204" charset="-122"/>
              </a:endParaRPr>
            </a:p>
            <a:p>
              <a:pPr algn="l" rtl="0" eaLnBrk="0">
                <a:lnSpc>
                  <a:spcPct val="101000"/>
                </a:lnSpc>
              </a:pPr>
              <a:endPara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endParaRPr>
            </a:p>
          </p:txBody>
        </p:sp>
      </p:grpSp>
      <p:sp>
        <p:nvSpPr>
          <p:cNvPr id="29" name="textbox 158"/>
          <p:cNvSpPr/>
          <p:nvPr/>
        </p:nvSpPr>
        <p:spPr>
          <a:xfrm>
            <a:off x="3480435" y="306070"/>
            <a:ext cx="1430655" cy="26797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 anchor="ctr" anchorCtr="0"/>
          <a:p>
            <a:pPr algn="l" rtl="0" eaLnBrk="0">
              <a:lnSpc>
                <a:spcPct val="100000"/>
              </a:lnSpc>
            </a:pPr>
            <a:r>
              <a:rPr lang="zh-CN" altLang="en-US" sz="1400" b="1" noProof="0" dirty="0">
                <a:solidFill>
                  <a:srgbClr val="0B4CBB"/>
                </a:solidFill>
                <a:uLn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Calibri" panose="020F0502020204030204" charset="0"/>
              </a:rPr>
              <a:t>威胁</a:t>
            </a:r>
            <a:r>
              <a:rPr lang="zh-CN" altLang="en-US" sz="1400" b="1" noProof="0" dirty="0">
                <a:solidFill>
                  <a:srgbClr val="0B4CBB"/>
                </a:solidFill>
                <a:uLn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Calibri" panose="020F0502020204030204" charset="0"/>
              </a:rPr>
              <a:t>对抗</a:t>
            </a:r>
            <a:endParaRPr lang="zh-CN" altLang="en-US" sz="1400" b="1" noProof="0" dirty="0">
              <a:solidFill>
                <a:srgbClr val="0B4CBB"/>
              </a:solidFill>
              <a:uLnTx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Calibri" panose="020F050202020403020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深信服 + 智安全"/>
          <p:cNvPicPr>
            <a:picLocks noChangeAspect="1"/>
          </p:cNvPicPr>
          <p:nvPr/>
        </p:nvPicPr>
        <p:blipFill>
          <a:blip r:embed="rId1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  <p:grpSp>
        <p:nvGrpSpPr>
          <p:cNvPr id="24" name="组合 23"/>
          <p:cNvGrpSpPr/>
          <p:nvPr/>
        </p:nvGrpSpPr>
        <p:grpSpPr>
          <a:xfrm>
            <a:off x="224790" y="289878"/>
            <a:ext cx="4279900" cy="327025"/>
            <a:chOff x="533" y="646"/>
            <a:chExt cx="6740" cy="515"/>
          </a:xfrm>
        </p:grpSpPr>
        <p:grpSp>
          <p:nvGrpSpPr>
            <p:cNvPr id="25" name="组合 24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26" name="燕尾形 86"/>
              <p:cNvSpPr/>
              <p:nvPr>
                <p:custDataLst>
                  <p:tags r:id="rId2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27" name="燕尾形 103"/>
              <p:cNvSpPr/>
              <p:nvPr>
                <p:custDataLst>
                  <p:tags r:id="rId3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28" name="textbox 158"/>
            <p:cNvSpPr/>
            <p:nvPr/>
          </p:nvSpPr>
          <p:spPr>
            <a:xfrm>
              <a:off x="1345" y="646"/>
              <a:ext cx="5928" cy="51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p>
              <a:pPr algn="l" rtl="0" eaLnBrk="0">
                <a:lnSpc>
                  <a:spcPct val="78000"/>
                </a:lnSpc>
              </a:pPr>
              <a:endParaRPr sz="1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  <a:ea typeface="微软雅黑" panose="020B0503020204020204" charset="-122"/>
                <a:cs typeface="Arial" panose="020B0604020202020204"/>
              </a:endParaRPr>
            </a:p>
            <a:p>
              <a:pPr algn="l" rtl="0" eaLnBrk="0">
                <a:lnSpc>
                  <a:spcPct val="101000"/>
                </a:lnSpc>
              </a:pPr>
              <a:r>
                <a:rPr lang="en-US" sz="1900" b="1">
                  <a:solidFill>
                    <a:srgbClr val="262626"/>
                  </a:solidFill>
                  <a:latin typeface="Arial Black" panose="020B0A04020102020204" pitchFamily="34" charset="0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保护业务</a:t>
              </a:r>
              <a:r>
                <a:rPr lang="zh-CN" altLang="en-US" sz="1900" b="1">
                  <a:solidFill>
                    <a:srgbClr val="262626"/>
                  </a:solidFill>
                  <a:latin typeface="Arial Black" panose="020B0A04020102020204" pitchFamily="34" charset="0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安全典型事例</a:t>
              </a:r>
              <a:endParaRPr lang="en-US" sz="1900">
                <a:latin typeface="Arial Black" panose="020B0A04020102020204" pitchFamily="34" charset="0"/>
                <a:ea typeface="微软雅黑" panose="020B0503020204020204" charset="-122"/>
              </a:endParaRPr>
            </a:p>
            <a:p>
              <a:pPr algn="l" rtl="0" eaLnBrk="0">
                <a:lnSpc>
                  <a:spcPct val="101000"/>
                </a:lnSpc>
              </a:pPr>
              <a:endPara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endParaRPr>
            </a:p>
          </p:txBody>
        </p:sp>
      </p:grpSp>
      <p:sp>
        <p:nvSpPr>
          <p:cNvPr id="29" name="textbox 158"/>
          <p:cNvSpPr/>
          <p:nvPr/>
        </p:nvSpPr>
        <p:spPr>
          <a:xfrm>
            <a:off x="3480435" y="306070"/>
            <a:ext cx="1430655" cy="26797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 anchor="ctr" anchorCtr="0"/>
          <a:p>
            <a:pPr algn="l" rtl="0" eaLnBrk="0">
              <a:lnSpc>
                <a:spcPct val="100000"/>
              </a:lnSpc>
            </a:pPr>
            <a:r>
              <a:rPr lang="zh-CN" altLang="en-US" sz="1400" b="1" noProof="0" dirty="0">
                <a:solidFill>
                  <a:srgbClr val="0B4CBB"/>
                </a:solidFill>
                <a:uLn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Calibri" panose="020F0502020204030204" charset="0"/>
              </a:rPr>
              <a:t>风险预防</a:t>
            </a:r>
            <a:endParaRPr lang="zh-CN" altLang="en-US" sz="1400" b="1" noProof="0" dirty="0">
              <a:solidFill>
                <a:srgbClr val="0B4CBB"/>
              </a:solidFill>
              <a:uLnTx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Calibri" panose="020F0502020204030204" charset="0"/>
            </a:endParaRPr>
          </a:p>
        </p:txBody>
      </p:sp>
      <p:sp>
        <p:nvSpPr>
          <p:cNvPr id="20" name="Text 1"/>
          <p:cNvSpPr/>
          <p:nvPr/>
        </p:nvSpPr>
        <p:spPr>
          <a:xfrm>
            <a:off x="428625" y="1155065"/>
            <a:ext cx="5760000" cy="576000"/>
          </a:xfrm>
          <a:prstGeom prst="rect">
            <a:avLst/>
          </a:prstGeom>
          <a:solidFill>
            <a:srgbClr val="E6514E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400" dirty="0">
                <a:solidFill>
                  <a:srgbClr val="FFFFFF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</a:rPr>
              <a:t>监控系统存在未授权访问</a:t>
            </a:r>
            <a:r>
              <a:rPr lang="zh-CN" altLang="en-US" sz="1400" dirty="0">
                <a:solidFill>
                  <a:srgbClr val="FFFFFF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</a:rPr>
              <a:t>漏洞</a:t>
            </a:r>
            <a:endParaRPr lang="zh-CN" altLang="en-US" sz="1400" dirty="0">
              <a:solidFill>
                <a:srgbClr val="FFFFFF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</a:endParaRPr>
          </a:p>
        </p:txBody>
      </p:sp>
      <p:sp>
        <p:nvSpPr>
          <p:cNvPr id="21" name="Text 2"/>
          <p:cNvSpPr/>
          <p:nvPr/>
        </p:nvSpPr>
        <p:spPr>
          <a:xfrm>
            <a:off x="428625" y="1731010"/>
            <a:ext cx="5760000" cy="4896000"/>
          </a:xfrm>
          <a:prstGeom prst="rect">
            <a:avLst/>
          </a:prstGeom>
          <a:solidFill>
            <a:srgbClr val="FDF1F1"/>
          </a:solidFill>
        </p:spPr>
        <p:txBody>
          <a:bodyPr wrap="square" lIns="283464" tIns="137160" rIns="283464" bIns="13716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</a:rPr>
              <a:t>通过监测分析，识别出监控系统存在未授权访问漏洞，经验证攻击者可以利用此漏洞直接控制单位公共区域摄像头，窃取国家机密</a:t>
            </a: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</a:rPr>
              <a:t>信息。</a:t>
            </a:r>
            <a:r>
              <a:rPr lang="en-US" sz="1000" b="1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
</a:t>
            </a:r>
            <a:endParaRPr lang="en-US" sz="10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【发现时间】：</a:t>
            </a:r>
            <a:r>
              <a:rPr 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2025-9-11 05:48</a:t>
            </a:r>
            <a:endParaRPr 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【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影响资产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】</a:t>
            </a:r>
            <a:r>
              <a:rPr lang="en-US" sz="1200" dirty="0">
                <a:solidFill>
                  <a:srgbClr val="666666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：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XX.XX.XX.XX</a:t>
            </a:r>
            <a:r>
              <a:rPr 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(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XX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资产</a:t>
            </a:r>
            <a:r>
              <a:rPr 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)</a:t>
            </a:r>
            <a:endParaRPr lang="en-US" altLang="zh-CN" sz="12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【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风险危害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】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：监控系统可被未经授权即可被访问，控制园区摄像头，窃取国家机密信息，一旦泄露将会导致组织面临国家安全部门处罚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；</a:t>
            </a:r>
            <a:endParaRPr 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【影响范围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】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：监控系统被控制，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敏感信息窃取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。</a:t>
            </a:r>
            <a:endParaRPr lang="zh-CN" alt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【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风险处置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】</a:t>
            </a:r>
            <a:endParaRPr lang="en-US" sz="12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228600" indent="-228600">
              <a:lnSpc>
                <a:spcPct val="150000"/>
              </a:lnSpc>
              <a:buFont typeface="+mj-ea"/>
              <a:buAutoNum type="circleNumDbPlain"/>
            </a:pP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云端服务经理</a:t>
            </a:r>
            <a:r>
              <a:rPr lang="zh-CN" altLang="en-US" sz="1200" dirty="0">
                <a:solidFill>
                  <a:srgbClr val="666666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：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发现漏洞之后立即同步到服务群，并验证漏洞利用危害，提供漏洞防护和加固建议方案，通过边界防火墙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设备；</a:t>
            </a:r>
            <a:endParaRPr lang="en-US" altLang="en-US" sz="1200" b="1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228600" indent="-228600">
              <a:lnSpc>
                <a:spcPct val="150000"/>
              </a:lnSpc>
              <a:buFont typeface="+mj-ea"/>
              <a:buAutoNum type="circleNumDbPlain"/>
            </a:pP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「客户单位</a:t>
            </a:r>
            <a:r>
              <a:rPr lang="en-US" alt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+</a:t>
            </a:r>
            <a:r>
              <a:rPr lang="zh-CN" altLang="en-US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对接人姓名</a:t>
            </a: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」</a:t>
            </a:r>
            <a:r>
              <a:rPr lang="zh-CN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：创建漏洞通告工单，分发给业务负责人，同步督促业务方开展漏洞整改加固</a:t>
            </a:r>
            <a:r>
              <a:rPr lang="zh-CN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；</a:t>
            </a:r>
            <a:endParaRPr 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228600" indent="-228600">
              <a:lnSpc>
                <a:spcPct val="150000"/>
              </a:lnSpc>
              <a:buFont typeface="+mj-ea"/>
              <a:buAutoNum type="circleNumDbPlain"/>
            </a:pP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「线下驻场</a:t>
            </a:r>
            <a:r>
              <a:rPr lang="en-US" alt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/</a:t>
            </a:r>
            <a:r>
              <a:rPr lang="zh-CN" altLang="en-US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渠道工程师</a:t>
            </a: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」</a:t>
            </a:r>
            <a:r>
              <a:rPr lang="zh-CN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进行了攻击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IP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封堵、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PC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网络链接断开的初步遏制</a:t>
            </a:r>
            <a:endParaRPr lang="zh-CN" alt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</p:txBody>
      </p:sp>
      <p:pic>
        <p:nvPicPr>
          <p:cNvPr id="22" name="Image 0" descr="/opt/sangfor/app/report-generation/soar/apps/report_generation/front/threat-management-report/static/images/quarterly-report/event-manage/finish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4314" y="4698238"/>
            <a:ext cx="1088136" cy="877824"/>
          </a:xfrm>
          <a:prstGeom prst="rect">
            <a:avLst/>
          </a:prstGeom>
        </p:spPr>
      </p:pic>
      <p:graphicFrame>
        <p:nvGraphicFramePr>
          <p:cNvPr id="47" name="表格 46"/>
          <p:cNvGraphicFramePr/>
          <p:nvPr>
            <p:custDataLst>
              <p:tags r:id="rId5"/>
            </p:custDataLst>
          </p:nvPr>
        </p:nvGraphicFramePr>
        <p:xfrm>
          <a:off x="6257290" y="1155065"/>
          <a:ext cx="5535295" cy="5471795"/>
        </p:xfrm>
        <a:graphic>
          <a:graphicData uri="http://schemas.openxmlformats.org/drawingml/2006/table">
            <a:tbl>
              <a:tblPr firstRow="1" lastCol="1" bandCol="1">
                <a:tableStyleId>{0126E9F6-41A6-44B7-8387-491034A24550}</a:tableStyleId>
              </a:tblPr>
              <a:tblGrid>
                <a:gridCol w="883285"/>
                <a:gridCol w="4652010"/>
              </a:tblGrid>
              <a:tr h="85725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潜在损失维度</a:t>
                      </a:r>
                      <a:endParaRPr lang="zh-CN" altLang="en-US" sz="120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主机外联成功将被感染银狐木马</a:t>
                      </a:r>
                      <a:r>
                        <a:rPr 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，利用主机的即时通讯软件在单位内部执行诈骗，或以内部员工合法身份窃取内部</a:t>
                      </a:r>
                      <a:r>
                        <a:rPr 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敏感数据</a:t>
                      </a:r>
                      <a:endParaRPr lang="zh-CN" sz="120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  <a:tr h="130111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潜在损失规避评估</a:t>
                      </a:r>
                      <a:endParaRPr lang="zh-CN" altLang="en-US" sz="120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（影响面）</a:t>
                      </a:r>
                      <a:endParaRPr lang="zh-CN" altLang="en-US" sz="1200" b="1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600</a:t>
                      </a:r>
                      <a:r>
                        <a:rPr lang="zh-CN" altLang="en-US" sz="1200">
                          <a:solidFill>
                            <a:srgbClr val="FF0000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起银狐外联</a:t>
                      </a: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*2000</a:t>
                      </a:r>
                      <a:r>
                        <a:rPr lang="zh-CN" altLang="en-US" sz="1200">
                          <a:solidFill>
                            <a:srgbClr val="FF0000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元</a:t>
                      </a:r>
                      <a:endParaRPr lang="zh-CN" altLang="en-US" sz="1200">
                        <a:solidFill>
                          <a:srgbClr val="FF0000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≈120</a:t>
                      </a:r>
                      <a:r>
                        <a:rPr lang="zh-CN" altLang="en-US" sz="1200">
                          <a:solidFill>
                            <a:srgbClr val="FF0000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万元</a:t>
                      </a:r>
                      <a:endParaRPr lang="zh-CN" altLang="en-US" sz="120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buSzTx/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（基于深信服安全运营中心2025年统计，平均每起</a:t>
                      </a:r>
                      <a:endParaRPr lang="zh-CN" altLang="en-US" sz="120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  <a:sym typeface="+mn-ea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buSzTx/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银狐木马攻击造成的个人损失约2000元；）</a:t>
                      </a:r>
                      <a:endParaRPr lang="zh-CN" altLang="en-US" sz="120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  <a:tr h="331343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实际案例损失情况</a:t>
                      </a:r>
                      <a:endParaRPr lang="zh-CN" altLang="en-US" sz="1200" b="1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 indent="0" algn="l">
                        <a:lnSpc>
                          <a:spcPct val="150000"/>
                        </a:lnSpc>
                        <a:buClrTx/>
                        <a:buSzTx/>
                        <a:buFont typeface="+mj-lt"/>
                        <a:buNone/>
                      </a:pP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2024 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年，上海某央企子公司单位，接收到国家安全部门通报，单位某处摄像头监控画面被泄露到外网，引起国家安全部门高度重视，对应企业相关人员连夜摸排，最终确认为下属单位部署的监控系统存在越权漏洞，被境外黑客利用，控制摄像头监控画面传输到外网，涉嫌泄露机密信息，经过大量的调查分析，摸排自监控系统上线以来的所有监控画面，确认没有拍到敏感信息画面，才得以平息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事态。</a:t>
                      </a:r>
                      <a:endParaRPr lang="zh-CN" altLang="en-US" sz="120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  <a:sym typeface="+mn-ea"/>
                      </a:endParaRPr>
                    </a:p>
                    <a:p>
                      <a:pPr indent="0" algn="l">
                        <a:lnSpc>
                          <a:spcPct val="150000"/>
                        </a:lnSpc>
                        <a:buClrTx/>
                        <a:buSzTx/>
                        <a:buFont typeface="+mj-lt"/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事件影响：该企业被国家安全部门严肃通告，未履行好企业信息安全保护基本职责，一旦被境外势力利用，单位负责人将涉嫌泄露国家机密信息、危害国家安全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罪</a:t>
                      </a:r>
                      <a:endParaRPr lang="zh-CN" altLang="en-US" sz="120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3" name="文本框 2"/>
          <p:cNvSpPr txBox="1"/>
          <p:nvPr/>
        </p:nvSpPr>
        <p:spPr>
          <a:xfrm>
            <a:off x="599440" y="682625"/>
            <a:ext cx="6096000" cy="2298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TIPs</a:t>
            </a:r>
            <a:r>
              <a:rPr lang="zh-CN" altLang="en-US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：</a:t>
            </a:r>
            <a:r>
              <a:rPr lang="en-US" altLang="zh-CN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{</a:t>
            </a:r>
            <a:r>
              <a:rPr lang="zh-CN" altLang="en-US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选择跟保护核心业务相关，并且跟用户共同协作完成处置的典型风险</a:t>
            </a:r>
            <a:r>
              <a:rPr lang="zh-CN" altLang="en-US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预防样例</a:t>
            </a:r>
            <a:r>
              <a:rPr lang="en-US" altLang="zh-CN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}</a:t>
            </a:r>
            <a:endParaRPr lang="en-US" altLang="zh-CN" sz="900" dirty="0">
              <a:solidFill>
                <a:srgbClr val="4C61E7"/>
              </a:solidFill>
              <a:highlight>
                <a:srgbClr val="FFFF00"/>
              </a:highlight>
              <a:latin typeface="Arial" panose="020B0604020202020204" pitchFamily="34" charset="0"/>
              <a:ea typeface="黑体-简" panose="02000000000000000000" charset="-122"/>
              <a:cs typeface="微软雅黑" panose="020B0503020204020204" pitchFamily="34" charset="-120"/>
              <a:sym typeface="+mn-e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/>
          <p:cNvGrpSpPr/>
          <p:nvPr/>
        </p:nvGrpSpPr>
        <p:grpSpPr>
          <a:xfrm>
            <a:off x="224790" y="289878"/>
            <a:ext cx="4279900" cy="327025"/>
            <a:chOff x="533" y="646"/>
            <a:chExt cx="6740" cy="515"/>
          </a:xfrm>
        </p:grpSpPr>
        <p:grpSp>
          <p:nvGrpSpPr>
            <p:cNvPr id="13" name="组合 12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14" name="燕尾形 86"/>
              <p:cNvSpPr/>
              <p:nvPr>
                <p:custDataLst>
                  <p:tags r:id="rId1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16" name="燕尾形 103"/>
              <p:cNvSpPr/>
              <p:nvPr>
                <p:custDataLst>
                  <p:tags r:id="rId2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3" name="textbox 158"/>
            <p:cNvSpPr/>
            <p:nvPr/>
          </p:nvSpPr>
          <p:spPr>
            <a:xfrm>
              <a:off x="1345" y="646"/>
              <a:ext cx="5928" cy="51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p>
              <a:pPr algn="l" rtl="0" eaLnBrk="0">
                <a:lnSpc>
                  <a:spcPct val="78000"/>
                </a:lnSpc>
              </a:pPr>
              <a:endParaRPr sz="1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  <a:ea typeface="微软雅黑" panose="020B0503020204020204" charset="-122"/>
                <a:cs typeface="Arial" panose="020B0604020202020204"/>
              </a:endParaRPr>
            </a:p>
            <a:p>
              <a:pPr algn="l" rtl="0" eaLnBrk="0">
                <a:lnSpc>
                  <a:spcPct val="101000"/>
                </a:lnSpc>
              </a:pPr>
              <a:r>
                <a:rPr lang="zh-CN" altLang="en-US" sz="1900" b="1">
                  <a:solidFill>
                    <a:srgbClr val="262626"/>
                  </a:solidFill>
                  <a:latin typeface="Arial Black" panose="020B0A04020102020204" pitchFamily="34" charset="0"/>
                  <a:ea typeface="微软雅黑" panose="020B0503020204020204" charset="-122"/>
                  <a:cs typeface="Noto Sans SC"/>
                  <a:sym typeface="Noto Sans SC"/>
                </a:rPr>
                <a:t>降低被通报</a:t>
              </a:r>
              <a:r>
                <a:rPr lang="zh-CN" altLang="en-US" sz="1900" b="1">
                  <a:solidFill>
                    <a:srgbClr val="262626"/>
                  </a:solidFill>
                  <a:latin typeface="Arial Black" panose="020B0A04020102020204" pitchFamily="34" charset="0"/>
                  <a:ea typeface="微软雅黑" panose="020B0503020204020204" charset="-122"/>
                  <a:cs typeface="Noto Sans SC"/>
                  <a:sym typeface="Noto Sans SC"/>
                </a:rPr>
                <a:t>风险</a:t>
              </a:r>
              <a:endParaRPr lang="zh-CN" altLang="en-US" sz="1900" b="1">
                <a:solidFill>
                  <a:srgbClr val="262626"/>
                </a:solidFill>
                <a:latin typeface="Arial Black" panose="020B0A04020102020204" pitchFamily="34" charset="0"/>
                <a:ea typeface="微软雅黑" panose="020B0503020204020204" charset="-122"/>
                <a:cs typeface="Noto Sans SC"/>
                <a:sym typeface="Noto Sans SC"/>
              </a:endParaRPr>
            </a:p>
          </p:txBody>
        </p:sp>
      </p:grpSp>
      <p:pic>
        <p:nvPicPr>
          <p:cNvPr id="5" name="图片 4" descr="深信服 + 智安全"/>
          <p:cNvPicPr>
            <a:picLocks noChangeAspect="1"/>
          </p:cNvPicPr>
          <p:nvPr/>
        </p:nvPicPr>
        <p:blipFill>
          <a:blip r:embed="rId3"/>
          <a:srcRect l="5232" t="26576" r="4938" b="29565"/>
          <a:stretch>
            <a:fillRect/>
          </a:stretch>
        </p:blipFill>
        <p:spPr>
          <a:xfrm>
            <a:off x="10330815" y="273073"/>
            <a:ext cx="1629867" cy="360000"/>
          </a:xfrm>
          <a:prstGeom prst="rect">
            <a:avLst/>
          </a:prstGeom>
        </p:spPr>
      </p:pic>
      <p:sp>
        <p:nvSpPr>
          <p:cNvPr id="693" name="圆角矩形 692"/>
          <p:cNvSpPr/>
          <p:nvPr>
            <p:custDataLst>
              <p:tags r:id="rId4"/>
            </p:custDataLst>
          </p:nvPr>
        </p:nvSpPr>
        <p:spPr>
          <a:xfrm>
            <a:off x="638810" y="1416050"/>
            <a:ext cx="10948670" cy="671830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  <a:effectLst>
            <a:outerShdw blurRad="114300" dist="88900" dir="2700000" algn="tl" rotWithShape="0">
              <a:schemeClr val="accent5">
                <a:lumMod val="75000"/>
                <a:alpha val="15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>
              <a:lnSpc>
                <a:spcPct val="140000"/>
              </a:lnSpc>
            </a:pPr>
            <a:r>
              <a:rPr lang="zh-CN" altLang="en-US" sz="1400" b="1">
                <a:solidFill>
                  <a:schemeClr val="tx1"/>
                </a:solidFill>
                <a:uFillTx/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通过持续的脆弱性风险管理和</a:t>
            </a:r>
            <a:r>
              <a:rPr lang="en-US" altLang="zh-CN" sz="1400" b="1">
                <a:solidFill>
                  <a:schemeClr val="tx1"/>
                </a:solidFill>
                <a:uFillTx/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7*24H</a:t>
            </a:r>
            <a:r>
              <a:rPr lang="zh-CN" altLang="en-US" sz="1400" b="1">
                <a:solidFill>
                  <a:schemeClr val="tx1"/>
                </a:solidFill>
                <a:uFillTx/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的威胁监测与遏制，发现并协助缓解了</a:t>
            </a:r>
            <a:r>
              <a:rPr lang="en-US" altLang="zh-CN" sz="1400" b="1">
                <a:solidFill>
                  <a:srgbClr val="4C61E7"/>
                </a:solidFill>
                <a:uFillTx/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{{notified_risk_total}}</a:t>
            </a:r>
            <a:r>
              <a:rPr lang="zh-CN" altLang="en-US" sz="1400" b="1">
                <a:solidFill>
                  <a:schemeClr val="tx1"/>
                </a:solidFill>
                <a:uFillTx/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潜在的被通报风险。通过快速溯源与闭环整改，结合专业书面回函高效应对了</a:t>
            </a:r>
            <a:r>
              <a:rPr lang="en-US" altLang="zh-CN" sz="1400" b="1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{{current_report_cycle_notify_count}}</a:t>
            </a:r>
            <a:r>
              <a:rPr lang="zh-CN" altLang="en-US" sz="1400" b="1">
                <a:solidFill>
                  <a:schemeClr val="tx1"/>
                </a:solidFill>
                <a:uFillTx/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，提升了单位面向监管机构和上级单位安全问题通报的响应</a:t>
            </a:r>
            <a:r>
              <a:rPr lang="zh-CN" altLang="en-US" sz="1400" b="1">
                <a:solidFill>
                  <a:schemeClr val="tx1"/>
                </a:solidFill>
                <a:uFillTx/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效率。</a:t>
            </a:r>
            <a:endParaRPr lang="zh-CN" altLang="en-US" sz="1400" b="1">
              <a:solidFill>
                <a:schemeClr val="tx1"/>
              </a:solidFill>
              <a:uFillTx/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</p:txBody>
      </p:sp>
      <p:pic>
        <p:nvPicPr>
          <p:cNvPr id="696" name="图片 695" descr="盾牌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>
            <a:fillRect/>
          </a:stretch>
        </p:blipFill>
        <p:spPr>
          <a:xfrm>
            <a:off x="2227673" y="2577539"/>
            <a:ext cx="395605" cy="396194"/>
          </a:xfrm>
          <a:prstGeom prst="rect">
            <a:avLst/>
          </a:prstGeom>
          <a:effectLst>
            <a:outerShdw blurRad="127000" dist="63500" dir="5400000" algn="t" rotWithShape="0">
              <a:schemeClr val="accent5">
                <a:lumMod val="75000"/>
                <a:alpha val="10000"/>
              </a:schemeClr>
            </a:outerShdw>
          </a:effectLst>
        </p:spPr>
      </p:pic>
      <p:pic>
        <p:nvPicPr>
          <p:cNvPr id="697" name="图片 696" descr="维修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p:blipFill>
        <p:spPr>
          <a:xfrm>
            <a:off x="5933964" y="2595931"/>
            <a:ext cx="359368" cy="358775"/>
          </a:xfrm>
          <a:prstGeom prst="rect">
            <a:avLst/>
          </a:prstGeom>
          <a:effectLst>
            <a:outerShdw blurRad="127000" dist="63500" dir="5400000" algn="t" rotWithShape="0">
              <a:schemeClr val="accent6">
                <a:lumMod val="75000"/>
                <a:alpha val="10000"/>
              </a:schemeClr>
            </a:outerShdw>
          </a:effectLst>
        </p:spPr>
      </p:pic>
      <p:sp>
        <p:nvSpPr>
          <p:cNvPr id="698" name="圆角矩形 697"/>
          <p:cNvSpPr/>
          <p:nvPr>
            <p:custDataLst>
              <p:tags r:id="rId11"/>
            </p:custDataLst>
          </p:nvPr>
        </p:nvSpPr>
        <p:spPr>
          <a:xfrm>
            <a:off x="625475" y="3527425"/>
            <a:ext cx="3600000" cy="2667635"/>
          </a:xfrm>
          <a:prstGeom prst="roundRect">
            <a:avLst>
              <a:gd name="adj" fmla="val 3023"/>
            </a:avLst>
          </a:prstGeom>
          <a:solidFill>
            <a:schemeClr val="accent5">
              <a:lumMod val="40000"/>
              <a:lumOff val="60000"/>
              <a:alpha val="1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144145" rIns="144145" rtlCol="0" anchor="t" anchorCtr="0"/>
          <a:lstStyle/>
          <a:p>
            <a:pPr indent="0" algn="l" fontAlgn="auto">
              <a:lnSpc>
                <a:spcPct val="140000"/>
              </a:lnSpc>
            </a:pPr>
            <a:r>
              <a:rPr lang="en-US" sz="1200" b="1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7*24H</a:t>
            </a:r>
            <a:r>
              <a:rPr lang="zh-CN" altLang="en-US" sz="1200" b="1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持续监测安全防护策略有效性和恶意外联威胁的实时监测处置，人机协同避免了</a:t>
            </a:r>
            <a:r>
              <a:rPr lang="en-US" altLang="zh-CN" sz="1200" b="1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{{external_notify_risk_times}</a:t>
            </a:r>
            <a:r>
              <a:rPr lang="en-US" altLang="zh-CN" sz="1200" b="1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}</a:t>
            </a:r>
            <a:r>
              <a:rPr lang="zh-CN" altLang="en-US" sz="1200" b="1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次恶意外联通报风险。</a:t>
            </a:r>
            <a:endParaRPr lang="zh-CN" altLang="en-US" sz="1200" b="1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Heiti SC Medium" panose="02000000000000000000" charset="-122"/>
              <a:ea typeface="Heiti SC Medium" panose="02000000000000000000" charset="-122"/>
              <a:cs typeface="Heiti SC Medium" panose="02000000000000000000" charset="-122"/>
              <a:sym typeface="+mn-ea"/>
            </a:endParaRPr>
          </a:p>
          <a:p>
            <a:pPr marL="228600" indent="-228600" algn="l" fontAlgn="auto">
              <a:lnSpc>
                <a:spcPct val="140000"/>
              </a:lnSpc>
              <a:buFont typeface="+mj-lt"/>
              <a:buAutoNum type="arabicPeriod"/>
            </a:pPr>
            <a:r>
              <a:rPr lang="zh-CN" altLang="en-US" sz="120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Noto Sans SC"/>
              </a:rPr>
              <a:t>发现并调优</a:t>
            </a:r>
            <a:r>
              <a:rPr lang="en-US" sz="120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Noto Sans SC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Noto Sans SC"/>
              </a:rPr>
              <a:t>security_policy_optimize_count</a:t>
            </a:r>
            <a:r>
              <a:rPr lang="en-US" sz="120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Noto Sans SC"/>
              </a:rPr>
              <a:t>}</a:t>
            </a:r>
            <a:r>
              <a:rPr lang="en-US" altLang="zh-CN" sz="120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Noto Sans SC"/>
              </a:rPr>
              <a:t>}</a:t>
            </a:r>
            <a:r>
              <a:rPr lang="zh-CN" altLang="en-US" sz="120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Noto Sans SC"/>
              </a:rPr>
              <a:t>项异常策略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，保持安全防护组件的规则库及时更新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和策略有效，精准识别并联动防火墙自动阻断恶意外联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{{blocked_external_connection_times}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}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次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；</a:t>
            </a:r>
            <a:endParaRPr lang="zh-CN" altLang="en-US" sz="12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228600" indent="-228600" algn="l" fontAlgn="auto">
              <a:lnSpc>
                <a:spcPct val="140000"/>
              </a:lnSpc>
              <a:buFont typeface="+mj-lt"/>
              <a:buAutoNum type="arabicPeriod"/>
            </a:pPr>
            <a:r>
              <a:rPr lang="en-US" altLang="zh-CN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7*24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小时全天候监测，专家分析补充发现了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{{malicious_external_alert_count}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}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次恶意外联告警并补充处置。</a:t>
            </a:r>
            <a:endParaRPr lang="zh-CN" altLang="en-US" sz="12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699" name="圆角矩形 698"/>
          <p:cNvSpPr/>
          <p:nvPr>
            <p:custDataLst>
              <p:tags r:id="rId12"/>
            </p:custDataLst>
          </p:nvPr>
        </p:nvSpPr>
        <p:spPr>
          <a:xfrm>
            <a:off x="4313740" y="3527425"/>
            <a:ext cx="3599815" cy="2667635"/>
          </a:xfrm>
          <a:prstGeom prst="roundRect">
            <a:avLst>
              <a:gd name="adj" fmla="val 3737"/>
            </a:avLst>
          </a:prstGeom>
          <a:solidFill>
            <a:schemeClr val="accent6">
              <a:lumMod val="40000"/>
              <a:lumOff val="60000"/>
              <a:alpha val="1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lIns="144145" rIns="144145" numCol="1" spcCol="0" rtlCol="0" fromWordArt="0" anchor="t" anchorCtr="0" forceAA="0" compatLnSpc="1">
            <a:noAutofit/>
          </a:bodyPr>
          <a:lstStyle/>
          <a:p>
            <a:pPr lvl="0" algn="l">
              <a:lnSpc>
                <a:spcPct val="140000"/>
              </a:lnSpc>
              <a:buClrTx/>
              <a:buSzTx/>
              <a:buFontTx/>
            </a:pPr>
            <a:r>
              <a:rPr lang="zh-CN" altLang="en-US" sz="1200" b="1" kern="0" dirty="0">
                <a:ln>
                  <a:noFill/>
                  <a:prstDash val="sysDot"/>
                </a:ln>
                <a:solidFill>
                  <a:schemeClr val="tx1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开展</a:t>
            </a:r>
            <a:r>
              <a:rPr lang="en-US" altLang="zh-CN" sz="1200" b="1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{{missed_scan_count}}</a:t>
            </a:r>
            <a:r>
              <a:rPr lang="zh-CN" altLang="en-US" sz="1200" b="1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次漏洞扫描与漏洞优先级分析，提供针对性加固建议，对互联网资产漏洞潜在的被通报风险做到主动识别和有效防御，总共减少了</a:t>
            </a:r>
            <a:r>
              <a:rPr lang="en-US" altLang="zh-CN" sz="1200" b="1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{{closed_vulnerability_total}</a:t>
            </a:r>
            <a:r>
              <a:rPr lang="en-US" altLang="zh-CN" sz="1200" b="1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}</a:t>
            </a:r>
            <a:r>
              <a:rPr lang="zh-CN" altLang="en-US" sz="1200" b="1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个漏洞被通报风险。</a:t>
            </a:r>
            <a:endParaRPr lang="zh-CN" altLang="en-US" sz="1200" b="1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Heiti SC Medium" panose="02000000000000000000" charset="-122"/>
              <a:ea typeface="Heiti SC Medium" panose="02000000000000000000" charset="-122"/>
              <a:cs typeface="Heiti SC Medium" panose="02000000000000000000" charset="-122"/>
              <a:sym typeface="+mn-ea"/>
            </a:endParaRPr>
          </a:p>
          <a:p>
            <a:pPr marL="228600" lvl="0" indent="-228600" algn="l">
              <a:lnSpc>
                <a:spcPct val="140000"/>
              </a:lnSpc>
              <a:buClrTx/>
              <a:buSzTx/>
              <a:buFont typeface="+mj-lt"/>
              <a:buAutoNum type="arabicPeriod"/>
            </a:pP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通过联动下一代防火墙的防护规则或者访问控制策略实现了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{{protected_vulnerability_count}}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个漏洞的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有效保护；</a:t>
            </a:r>
            <a:endParaRPr lang="zh-CN" altLang="en-US" sz="12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228600" lvl="0" indent="-228600" algn="l">
              <a:lnSpc>
                <a:spcPct val="140000"/>
              </a:lnSpc>
              <a:buClrTx/>
              <a:buSzTx/>
              <a:buFont typeface="+mj-lt"/>
              <a:buAutoNum type="arabicPeriod"/>
            </a:pP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协同业务运维，修复了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{{fixed_vulnerability_count}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}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个漏洞。</a:t>
            </a:r>
            <a:endParaRPr lang="zh-CN" altLang="en-US" sz="12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700" name="圆角矩形 699"/>
          <p:cNvSpPr/>
          <p:nvPr>
            <p:custDataLst>
              <p:tags r:id="rId13"/>
            </p:custDataLst>
          </p:nvPr>
        </p:nvSpPr>
        <p:spPr>
          <a:xfrm>
            <a:off x="7988076" y="3528060"/>
            <a:ext cx="3599815" cy="2667635"/>
          </a:xfrm>
          <a:prstGeom prst="roundRect">
            <a:avLst>
              <a:gd name="adj" fmla="val 3023"/>
            </a:avLst>
          </a:prstGeom>
          <a:solidFill>
            <a:schemeClr val="accent5">
              <a:lumMod val="40000"/>
              <a:lumOff val="60000"/>
              <a:alpha val="1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lIns="144145" rIns="144145" numCol="1" spcCol="0" rtlCol="0" fromWordArt="0" anchor="t" anchorCtr="0" forceAA="0" compatLnSpc="1">
            <a:noAutofit/>
          </a:bodyPr>
          <a:lstStyle/>
          <a:p>
            <a:pPr lvl="0" algn="l">
              <a:lnSpc>
                <a:spcPct val="140000"/>
              </a:lnSpc>
              <a:buClrTx/>
              <a:buSzTx/>
              <a:buFontTx/>
            </a:pPr>
            <a:r>
              <a:rPr lang="zh-CN" altLang="en-US" sz="1200" b="1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接收并排查了</a:t>
            </a:r>
            <a:r>
              <a:rPr lang="en-US" altLang="zh-CN" sz="1200" b="1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{</a:t>
            </a:r>
            <a:r>
              <a:rPr lang="en-US" altLang="zh-CN" sz="1200" b="1">
                <a:solidFill>
                  <a:srgbClr val="4C61E7"/>
                </a:solidFill>
                <a:uFillTx/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{current_report_cycle_notify_count}</a:t>
            </a:r>
            <a:r>
              <a:rPr lang="en-US" altLang="zh-CN" sz="1200" b="1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}</a:t>
            </a:r>
            <a:r>
              <a:rPr lang="zh-CN" altLang="en-US" sz="1200" b="1" kern="0" dirty="0">
                <a:ln>
                  <a:noFill/>
                  <a:prstDash val="sysDot"/>
                </a:ln>
                <a:solidFill>
                  <a:schemeClr val="tx1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次被通报问题，排查结果和响应时效均达到预期。</a:t>
            </a:r>
            <a:endParaRPr lang="zh-CN" altLang="en-US" sz="1200" b="1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Heiti SC Medium" panose="02000000000000000000" charset="-122"/>
              <a:ea typeface="Heiti SC Medium" panose="02000000000000000000" charset="-122"/>
              <a:cs typeface="Heiti SC Medium" panose="02000000000000000000" charset="-122"/>
              <a:sym typeface="+mn-ea"/>
            </a:endParaRPr>
          </a:p>
          <a:p>
            <a:pPr lvl="0" algn="l">
              <a:lnSpc>
                <a:spcPct val="140000"/>
              </a:lnSpc>
              <a:buClrTx/>
              <a:buSzTx/>
              <a:buFontTx/>
            </a:pPr>
            <a:endParaRPr lang="zh-CN" altLang="en-US" sz="12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228600" lvl="0" indent="-228600" algn="l">
              <a:lnSpc>
                <a:spcPct val="140000"/>
              </a:lnSpc>
              <a:buClrTx/>
              <a:buSzTx/>
              <a:buFont typeface="+mj-lt"/>
              <a:buAutoNum type="arabicPeriod"/>
            </a:pP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针对被通报问题场景，构建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“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接收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-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溯源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-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处置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-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回函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--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归档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”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的全链路标准作业程序（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SOP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），确保即便面对突发情况也能极速响应，完全满足监管回函时效与质量要求。</a:t>
            </a:r>
            <a:endParaRPr lang="zh-CN" altLang="en-US" sz="12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lvl="0" algn="l">
              <a:lnSpc>
                <a:spcPct val="140000"/>
              </a:lnSpc>
              <a:buClrTx/>
              <a:buSzTx/>
              <a:buFontTx/>
            </a:pPr>
            <a:endParaRPr lang="zh-CN" altLang="en-US" sz="12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701" name="文本框 700"/>
          <p:cNvSpPr txBox="1"/>
          <p:nvPr>
            <p:custDataLst>
              <p:tags r:id="rId14"/>
            </p:custDataLst>
          </p:nvPr>
        </p:nvSpPr>
        <p:spPr>
          <a:xfrm>
            <a:off x="897842" y="3056256"/>
            <a:ext cx="3055267" cy="38857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r>
              <a:rPr lang="zh-CN" altLang="en-US" sz="1200" b="1">
                <a:solidFill>
                  <a:schemeClr val="accent5">
                    <a:lumMod val="7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sym typeface="+mn-ea"/>
              </a:rPr>
              <a:t>非法外联行为识别与阻断</a:t>
            </a:r>
            <a:endParaRPr lang="zh-CN" altLang="en-US" sz="1200" b="1">
              <a:solidFill>
                <a:schemeClr val="accent5">
                  <a:lumMod val="75000"/>
                </a:schemeClr>
              </a:solidFill>
              <a:latin typeface="Heiti SC Light" panose="02000000000000000000" charset="-122"/>
              <a:ea typeface="Heiti SC Light" panose="02000000000000000000" charset="-122"/>
              <a:sym typeface="+mn-ea"/>
            </a:endParaRPr>
          </a:p>
        </p:txBody>
      </p:sp>
      <p:sp>
        <p:nvSpPr>
          <p:cNvPr id="702" name="文本框 701"/>
          <p:cNvSpPr txBox="1"/>
          <p:nvPr>
            <p:custDataLst>
              <p:tags r:id="rId15"/>
            </p:custDataLst>
          </p:nvPr>
        </p:nvSpPr>
        <p:spPr>
          <a:xfrm>
            <a:off x="4586014" y="3056256"/>
            <a:ext cx="3055267" cy="38857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r>
              <a:rPr lang="zh-CN" altLang="en-US" sz="1200" b="1">
                <a:solidFill>
                  <a:schemeClr val="accent6">
                    <a:lumMod val="7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sym typeface="+mn-ea"/>
              </a:rPr>
              <a:t>高危漏洞识别与修复</a:t>
            </a:r>
            <a:endParaRPr lang="zh-CN" altLang="en-US" sz="1200" b="1">
              <a:solidFill>
                <a:schemeClr val="accent6">
                  <a:lumMod val="75000"/>
                </a:schemeClr>
              </a:solidFill>
              <a:latin typeface="Heiti SC Light" panose="02000000000000000000" charset="-122"/>
              <a:ea typeface="Heiti SC Light" panose="02000000000000000000" charset="-122"/>
              <a:sym typeface="+mn-ea"/>
            </a:endParaRPr>
          </a:p>
        </p:txBody>
      </p:sp>
      <p:sp>
        <p:nvSpPr>
          <p:cNvPr id="703" name="文本框 702"/>
          <p:cNvSpPr txBox="1"/>
          <p:nvPr>
            <p:custDataLst>
              <p:tags r:id="rId16"/>
            </p:custDataLst>
          </p:nvPr>
        </p:nvSpPr>
        <p:spPr>
          <a:xfrm>
            <a:off x="8260350" y="3056256"/>
            <a:ext cx="3055267" cy="38857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r>
              <a:rPr lang="zh-CN" altLang="en-US" sz="1200" b="1">
                <a:solidFill>
                  <a:schemeClr val="accent5">
                    <a:lumMod val="7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sym typeface="+mn-ea"/>
              </a:rPr>
              <a:t>通报问题高效应对</a:t>
            </a:r>
            <a:endParaRPr lang="zh-CN" altLang="en-US" sz="1200" b="1">
              <a:solidFill>
                <a:schemeClr val="accent5">
                  <a:lumMod val="75000"/>
                </a:schemeClr>
              </a:solidFill>
              <a:latin typeface="Heiti SC Light" panose="02000000000000000000" charset="-122"/>
              <a:ea typeface="Heiti SC Light" panose="02000000000000000000" charset="-122"/>
              <a:sym typeface="+mn-ea"/>
            </a:endParaRPr>
          </a:p>
        </p:txBody>
      </p:sp>
      <p:pic>
        <p:nvPicPr>
          <p:cNvPr id="704" name="图片 703" descr="职业资格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rcRect/>
          <a:stretch>
            <a:fillRect/>
          </a:stretch>
        </p:blipFill>
        <p:spPr>
          <a:xfrm>
            <a:off x="9590204" y="2578151"/>
            <a:ext cx="395559" cy="394970"/>
          </a:xfrm>
          <a:prstGeom prst="rect">
            <a:avLst/>
          </a:prstGeom>
          <a:effectLst>
            <a:outerShdw blurRad="127000" dist="63500" dir="5400000" algn="t" rotWithShape="0">
              <a:schemeClr val="accent5">
                <a:lumMod val="75000"/>
                <a:alpha val="10000"/>
              </a:schemeClr>
            </a:outerShdw>
          </a:effectLst>
        </p:spPr>
      </p:pic>
    </p:spTree>
    <p:custDataLst>
      <p:tags r:id="rId20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 rot="0">
            <a:off x="224790" y="306705"/>
            <a:ext cx="369570" cy="266700"/>
            <a:chOff x="533" y="672"/>
            <a:chExt cx="582" cy="420"/>
          </a:xfrm>
        </p:grpSpPr>
        <p:sp>
          <p:nvSpPr>
            <p:cNvPr id="4" name="燕尾形 86"/>
            <p:cNvSpPr/>
            <p:nvPr>
              <p:custDataLst>
                <p:tags r:id="rId1"/>
              </p:custDataLst>
            </p:nvPr>
          </p:nvSpPr>
          <p:spPr>
            <a:xfrm>
              <a:off x="533" y="672"/>
              <a:ext cx="326" cy="421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rgbClr val="006CD9">
                    <a:alpha val="100000"/>
                  </a:srgbClr>
                </a:gs>
                <a:gs pos="100000">
                  <a:srgbClr val="006CD9">
                    <a:alpha val="75000"/>
                  </a:srgbClr>
                </a:gs>
              </a:gsLst>
              <a:lin ang="5400000" scaled="1"/>
            </a:gra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p>
              <a:pPr algn="ctr">
                <a:defRPr sz="1300">
                  <a:latin typeface="+mn-lt"/>
                  <a:ea typeface="+mn-ea"/>
                  <a:cs typeface="+mn-cs"/>
                  <a:sym typeface="Calibri" panose="020F0502020204030204"/>
                </a:defRPr>
              </a:pPr>
              <a:endParaRPr>
                <a:solidFill>
                  <a:srgbClr val="FF0000"/>
                </a:solidFill>
              </a:endParaRPr>
            </a:p>
          </p:txBody>
        </p:sp>
        <p:sp>
          <p:nvSpPr>
            <p:cNvPr id="5" name="燕尾形 103"/>
            <p:cNvSpPr/>
            <p:nvPr>
              <p:custDataLst>
                <p:tags r:id="rId2"/>
              </p:custDataLst>
            </p:nvPr>
          </p:nvSpPr>
          <p:spPr>
            <a:xfrm>
              <a:off x="789" y="672"/>
              <a:ext cx="326" cy="421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rgbClr val="70AD47">
                    <a:alpha val="88000"/>
                  </a:srgbClr>
                </a:gs>
                <a:gs pos="100000">
                  <a:schemeClr val="accent6">
                    <a:lumMod val="85000"/>
                    <a:alpha val="63000"/>
                  </a:schemeClr>
                </a:gs>
              </a:gsLst>
              <a:lin ang="16200000" scaled="1"/>
            </a:gra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p>
              <a:pPr algn="ctr">
                <a:defRPr sz="1300">
                  <a:latin typeface="+mn-lt"/>
                  <a:ea typeface="+mn-ea"/>
                  <a:cs typeface="+mn-cs"/>
                  <a:sym typeface="Calibri" panose="020F0502020204030204"/>
                </a:defRPr>
              </a:pPr>
              <a:endParaRPr>
                <a:solidFill>
                  <a:srgbClr val="FF0000"/>
                </a:solidFill>
              </a:endParaRPr>
            </a:p>
          </p:txBody>
        </p:sp>
      </p:grpSp>
      <p:sp>
        <p:nvSpPr>
          <p:cNvPr id="16" name="textbox 158"/>
          <p:cNvSpPr/>
          <p:nvPr/>
        </p:nvSpPr>
        <p:spPr>
          <a:xfrm>
            <a:off x="740410" y="347980"/>
            <a:ext cx="7640955" cy="34353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78000"/>
              </a:lnSpc>
            </a:pPr>
            <a:r>
              <a: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rPr>
              <a:t>核心</a:t>
            </a:r>
            <a:r>
              <a:rPr lang="zh-CN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rPr>
              <a:t>工作目标</a:t>
            </a:r>
            <a:r>
              <a:rPr lang="en-US" altLang="zh-CN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rPr>
              <a:t>2</a:t>
            </a:r>
            <a:r>
              <a: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rPr>
              <a:t>：重要时期</a:t>
            </a:r>
            <a:r>
              <a:rPr lang="en-US" altLang="zh-CN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rPr>
              <a:t>0</a:t>
            </a:r>
            <a:r>
              <a: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rPr>
              <a:t>重大事件</a:t>
            </a:r>
            <a:endParaRPr lang="zh-CN" altLang="en-US" sz="1900" b="1" noProof="0" dirty="0">
              <a:solidFill>
                <a:schemeClr val="tx1">
                  <a:lumMod val="85000"/>
                  <a:lumOff val="15000"/>
                </a:schemeClr>
              </a:solidFill>
              <a:uLnTx/>
              <a:latin typeface="Arial Black" panose="020B0A04020102020204" pitchFamily="34" charset="0"/>
              <a:ea typeface="微软雅黑" panose="020B0503020204020204" charset="-122"/>
              <a:sym typeface="Calibri" panose="020F0502020204030204" charset="0"/>
            </a:endParaRPr>
          </a:p>
        </p:txBody>
      </p:sp>
      <p:pic>
        <p:nvPicPr>
          <p:cNvPr id="63" name="图片 62" descr="深信服 + 智安全"/>
          <p:cNvPicPr>
            <a:picLocks noChangeAspect="1"/>
          </p:cNvPicPr>
          <p:nvPr/>
        </p:nvPicPr>
        <p:blipFill>
          <a:blip r:embed="rId3"/>
          <a:srcRect l="5232" t="26576" r="4938" b="29565"/>
          <a:stretch>
            <a:fillRect/>
          </a:stretch>
        </p:blipFill>
        <p:spPr>
          <a:xfrm>
            <a:off x="10330815" y="273073"/>
            <a:ext cx="1629867" cy="360000"/>
          </a:xfrm>
          <a:prstGeom prst="rect">
            <a:avLst/>
          </a:prstGeom>
        </p:spPr>
      </p:pic>
      <p:grpSp>
        <p:nvGrpSpPr>
          <p:cNvPr id="125" name="组合 124"/>
          <p:cNvGrpSpPr/>
          <p:nvPr/>
        </p:nvGrpSpPr>
        <p:grpSpPr>
          <a:xfrm>
            <a:off x="852170" y="1021080"/>
            <a:ext cx="10556240" cy="1647190"/>
            <a:chOff x="1342" y="1608"/>
            <a:chExt cx="16624" cy="2594"/>
          </a:xfrm>
        </p:grpSpPr>
        <p:grpSp>
          <p:nvGrpSpPr>
            <p:cNvPr id="3" name="组合 2" descr="7b0a202020202274657874626f78223a20227b5c2269645c223a32303334383533362c5c227469645c223a5c225c227d220a7d0a"/>
            <p:cNvGrpSpPr/>
            <p:nvPr>
              <p:custDataLst>
                <p:tags r:id="rId4"/>
              </p:custDataLst>
            </p:nvPr>
          </p:nvGrpSpPr>
          <p:grpSpPr>
            <a:xfrm>
              <a:off x="1342" y="1608"/>
              <a:ext cx="16624" cy="2594"/>
              <a:chOff x="3067050" y="1761966"/>
              <a:chExt cx="6057900" cy="3684815"/>
            </a:xfrm>
          </p:grpSpPr>
          <p:grpSp>
            <p:nvGrpSpPr>
              <p:cNvPr id="7" name="组合 6"/>
              <p:cNvGrpSpPr/>
              <p:nvPr/>
            </p:nvGrpSpPr>
            <p:grpSpPr>
              <a:xfrm>
                <a:off x="3067050" y="1761966"/>
                <a:ext cx="6057900" cy="3684815"/>
                <a:chOff x="3064668" y="1247616"/>
                <a:chExt cx="6057900" cy="3684815"/>
              </a:xfrm>
            </p:grpSpPr>
            <p:grpSp>
              <p:nvGrpSpPr>
                <p:cNvPr id="8" name="组合 7"/>
                <p:cNvGrpSpPr/>
                <p:nvPr/>
              </p:nvGrpSpPr>
              <p:grpSpPr>
                <a:xfrm>
                  <a:off x="3064668" y="1247616"/>
                  <a:ext cx="6057900" cy="479210"/>
                  <a:chOff x="3064668" y="1247616"/>
                  <a:chExt cx="6057900" cy="479210"/>
                </a:xfrm>
              </p:grpSpPr>
              <p:sp>
                <p:nvSpPr>
                  <p:cNvPr id="39" name="任意多边形: 形状 9"/>
                  <p:cNvSpPr/>
                  <p:nvPr/>
                </p:nvSpPr>
                <p:spPr>
                  <a:xfrm rot="5400000">
                    <a:off x="3038475" y="1483938"/>
                    <a:ext cx="476250" cy="9525"/>
                  </a:xfrm>
                  <a:custGeom>
                    <a:avLst/>
                    <a:gdLst>
                      <a:gd name="connsiteX0" fmla="*/ -24 w 476250"/>
                      <a:gd name="connsiteY0" fmla="*/ 26 h 9525"/>
                      <a:gd name="connsiteX1" fmla="*/ 476226 w 476250"/>
                      <a:gd name="connsiteY1" fmla="*/ 26 h 9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476250" h="9525">
                        <a:moveTo>
                          <a:pt x="-24" y="26"/>
                        </a:moveTo>
                        <a:lnTo>
                          <a:pt x="476226" y="26"/>
                        </a:lnTo>
                      </a:path>
                    </a:pathLst>
                  </a:custGeom>
                  <a:ln w="19050" cap="flat">
                    <a:solidFill>
                      <a:srgbClr val="3F8BE8"/>
                    </a:solidFill>
                    <a:prstDash val="solid"/>
                    <a:miter/>
                  </a:ln>
                </p:spPr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noAutofit/>
                  </a:bodyPr>
                  <a:lstStyle/>
                  <a:p>
                    <a:pPr defTabSz="914400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zh-CN" altLang="en-US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  <a:sym typeface="+mn-ea"/>
                    </a:endParaRPr>
                  </a:p>
                </p:txBody>
              </p:sp>
              <p:sp>
                <p:nvSpPr>
                  <p:cNvPr id="40" name="任意多边形: 形状 10"/>
                  <p:cNvSpPr/>
                  <p:nvPr/>
                </p:nvSpPr>
                <p:spPr>
                  <a:xfrm rot="5400000">
                    <a:off x="3146425" y="1480978"/>
                    <a:ext cx="476250" cy="9525"/>
                  </a:xfrm>
                  <a:custGeom>
                    <a:avLst/>
                    <a:gdLst>
                      <a:gd name="connsiteX0" fmla="*/ -24 w 476250"/>
                      <a:gd name="connsiteY0" fmla="*/ 26 h 9525"/>
                      <a:gd name="connsiteX1" fmla="*/ 476226 w 476250"/>
                      <a:gd name="connsiteY1" fmla="*/ 26 h 9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476250" h="9525">
                        <a:moveTo>
                          <a:pt x="-24" y="26"/>
                        </a:moveTo>
                        <a:lnTo>
                          <a:pt x="476226" y="26"/>
                        </a:lnTo>
                      </a:path>
                    </a:pathLst>
                  </a:custGeom>
                  <a:solidFill>
                    <a:schemeClr val="accent6"/>
                  </a:solidFill>
                  <a:ln w="19050" cap="flat">
                    <a:solidFill>
                      <a:schemeClr val="accent6"/>
                    </a:solidFill>
                    <a:prstDash val="solid"/>
                    <a:miter/>
                  </a:ln>
                </p:spPr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noAutofit/>
                  </a:bodyPr>
                  <a:lstStyle/>
                  <a:p>
                    <a:pPr defTabSz="914400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zh-CN" altLang="en-US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  <a:sym typeface="+mn-ea"/>
                    </a:endParaRPr>
                  </a:p>
                </p:txBody>
              </p:sp>
              <p:sp>
                <p:nvSpPr>
                  <p:cNvPr id="41" name="任意多边形: 形状 11"/>
                  <p:cNvSpPr/>
                  <p:nvPr/>
                </p:nvSpPr>
                <p:spPr>
                  <a:xfrm flipV="1">
                    <a:off x="3064668" y="1425682"/>
                    <a:ext cx="6057900" cy="0"/>
                  </a:xfrm>
                  <a:custGeom>
                    <a:avLst/>
                    <a:gdLst>
                      <a:gd name="connsiteX0" fmla="*/ 0 w 5274310"/>
                      <a:gd name="connsiteY0" fmla="*/ 0 h 8255"/>
                      <a:gd name="connsiteX1" fmla="*/ 5274310 w 5274310"/>
                      <a:gd name="connsiteY1" fmla="*/ 0 h 825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5274310" h="8255">
                        <a:moveTo>
                          <a:pt x="0" y="0"/>
                        </a:moveTo>
                        <a:lnTo>
                          <a:pt x="5274310" y="0"/>
                        </a:lnTo>
                      </a:path>
                    </a:pathLst>
                  </a:custGeom>
                </p:spPr>
                <p:style>
                  <a:lnRef idx="3">
                    <a:schemeClr val="accent5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noAutofit/>
                  </a:bodyPr>
                  <a:lstStyle/>
                  <a:p>
                    <a:pPr defTabSz="914400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zh-CN" altLang="en-US" sz="1800" kern="1200">
                      <a:sym typeface="+mn-ea"/>
                    </a:endParaRPr>
                  </a:p>
                </p:txBody>
              </p:sp>
            </p:grpSp>
            <p:grpSp>
              <p:nvGrpSpPr>
                <p:cNvPr id="9" name="组合 8"/>
                <p:cNvGrpSpPr/>
                <p:nvPr/>
              </p:nvGrpSpPr>
              <p:grpSpPr>
                <a:xfrm>
                  <a:off x="3064668" y="4456181"/>
                  <a:ext cx="6057900" cy="476250"/>
                  <a:chOff x="3064668" y="4456181"/>
                  <a:chExt cx="6057900" cy="476250"/>
                </a:xfrm>
              </p:grpSpPr>
              <p:sp>
                <p:nvSpPr>
                  <p:cNvPr id="46" name="任意多边形: 形状 6"/>
                  <p:cNvSpPr/>
                  <p:nvPr/>
                </p:nvSpPr>
                <p:spPr>
                  <a:xfrm rot="5400000">
                    <a:off x="8651875" y="4689543"/>
                    <a:ext cx="476250" cy="9525"/>
                  </a:xfrm>
                  <a:custGeom>
                    <a:avLst/>
                    <a:gdLst>
                      <a:gd name="connsiteX0" fmla="*/ -24 w 476250"/>
                      <a:gd name="connsiteY0" fmla="*/ 26 h 9525"/>
                      <a:gd name="connsiteX1" fmla="*/ 476226 w 476250"/>
                      <a:gd name="connsiteY1" fmla="*/ 26 h 9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476250" h="9525">
                        <a:moveTo>
                          <a:pt x="-24" y="26"/>
                        </a:moveTo>
                        <a:lnTo>
                          <a:pt x="476226" y="26"/>
                        </a:lnTo>
                      </a:path>
                    </a:pathLst>
                  </a:custGeom>
                  <a:ln w="19050" cap="flat">
                    <a:solidFill>
                      <a:srgbClr val="3F8BE8"/>
                    </a:solidFill>
                    <a:prstDash val="solid"/>
                    <a:miter/>
                  </a:ln>
                </p:spPr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noAutofit/>
                  </a:bodyPr>
                  <a:lstStyle/>
                  <a:p>
                    <a:pPr defTabSz="914400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zh-CN" altLang="en-US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  <a:sym typeface="+mn-ea"/>
                    </a:endParaRPr>
                  </a:p>
                </p:txBody>
              </p:sp>
              <p:sp>
                <p:nvSpPr>
                  <p:cNvPr id="51" name="任意多边形: 形状 7"/>
                  <p:cNvSpPr/>
                  <p:nvPr/>
                </p:nvSpPr>
                <p:spPr>
                  <a:xfrm rot="5400000">
                    <a:off x="8550275" y="4689543"/>
                    <a:ext cx="476250" cy="9525"/>
                  </a:xfrm>
                  <a:custGeom>
                    <a:avLst/>
                    <a:gdLst>
                      <a:gd name="connsiteX0" fmla="*/ -24 w 476250"/>
                      <a:gd name="connsiteY0" fmla="*/ 26 h 9525"/>
                      <a:gd name="connsiteX1" fmla="*/ 476226 w 476250"/>
                      <a:gd name="connsiteY1" fmla="*/ 26 h 9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476250" h="9525">
                        <a:moveTo>
                          <a:pt x="-24" y="26"/>
                        </a:moveTo>
                        <a:lnTo>
                          <a:pt x="476226" y="26"/>
                        </a:lnTo>
                      </a:path>
                    </a:pathLst>
                  </a:custGeom>
                  <a:solidFill>
                    <a:schemeClr val="accent6"/>
                  </a:solidFill>
                  <a:ln w="19050" cap="flat">
                    <a:solidFill>
                      <a:schemeClr val="accent6"/>
                    </a:solidFill>
                    <a:prstDash val="solid"/>
                    <a:miter/>
                  </a:ln>
                </p:spPr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noAutofit/>
                  </a:bodyPr>
                  <a:lstStyle/>
                  <a:p>
                    <a:pPr defTabSz="914400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zh-CN" altLang="en-US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  <a:sym typeface="+mn-ea"/>
                    </a:endParaRPr>
                  </a:p>
                </p:txBody>
              </p:sp>
              <p:sp>
                <p:nvSpPr>
                  <p:cNvPr id="52" name="任意多边形: 形状 8"/>
                  <p:cNvSpPr/>
                  <p:nvPr/>
                </p:nvSpPr>
                <p:spPr>
                  <a:xfrm flipV="1">
                    <a:off x="3064668" y="4694304"/>
                    <a:ext cx="6057900" cy="0"/>
                  </a:xfrm>
                  <a:custGeom>
                    <a:avLst/>
                    <a:gdLst>
                      <a:gd name="connsiteX0" fmla="*/ 0 w 5274310"/>
                      <a:gd name="connsiteY0" fmla="*/ 0 h 8255"/>
                      <a:gd name="connsiteX1" fmla="*/ 5274310 w 5274310"/>
                      <a:gd name="connsiteY1" fmla="*/ 0 h 825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5274310" h="8255">
                        <a:moveTo>
                          <a:pt x="0" y="0"/>
                        </a:moveTo>
                        <a:lnTo>
                          <a:pt x="5274310" y="0"/>
                        </a:lnTo>
                      </a:path>
                    </a:pathLst>
                  </a:custGeom>
                </p:spPr>
                <p:style>
                  <a:lnRef idx="2">
                    <a:schemeClr val="accent6"/>
                  </a:lnRef>
                  <a:fillRef idx="0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tx1"/>
                  </a:fontRef>
                </p:style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noAutofit/>
                  </a:bodyPr>
                  <a:lstStyle/>
                  <a:p>
                    <a:pPr defTabSz="914400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zh-CN" altLang="en-US" sz="1800" kern="1200">
                      <a:sym typeface="+mn-ea"/>
                    </a:endParaRPr>
                  </a:p>
                </p:txBody>
              </p:sp>
            </p:grpSp>
          </p:grpSp>
          <p:sp>
            <p:nvSpPr>
              <p:cNvPr id="53" name="文本框 52"/>
              <p:cNvSpPr txBox="1"/>
              <p:nvPr/>
            </p:nvSpPr>
            <p:spPr>
              <a:xfrm>
                <a:off x="3121711" y="3194901"/>
                <a:ext cx="5948943" cy="1775247"/>
              </a:xfrm>
              <a:prstGeom prst="rect">
                <a:avLst/>
              </a:prstGeom>
              <a:noFill/>
            </p:spPr>
            <p:txBody>
              <a:bodyPr wrap="square" rtlCol="0" anchor="ctr"/>
              <a:lstStyle/>
              <a:p>
                <a:pPr indent="457200" algn="just">
                  <a:lnSpc>
                    <a:spcPct val="150000"/>
                  </a:lnSpc>
                </a:pPr>
                <a:r>
                  <a:rPr lang="zh-CN" sz="1400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黑体-简" panose="02000000000000000000" charset="-122"/>
                    <a:cs typeface="+mn-cs"/>
                    <a:sym typeface="+mn-ea"/>
                  </a:rPr>
                  <a:t>在重要时期云端团队实时</a:t>
                </a:r>
                <a:r>
                  <a:rPr lang="en-US" altLang="zh-CN" sz="1400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黑体-简" panose="02000000000000000000" charset="-122"/>
                    <a:cs typeface="+mn-cs"/>
                    <a:sym typeface="+mn-ea"/>
                  </a:rPr>
                  <a:t>7x24</a:t>
                </a:r>
                <a:r>
                  <a:rPr lang="zh-CN" altLang="en-US" sz="1400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黑体-简" panose="02000000000000000000" charset="-122"/>
                    <a:cs typeface="+mn-cs"/>
                    <a:sym typeface="+mn-ea"/>
                  </a:rPr>
                  <a:t>小时对设备的安全日志进行实时分析研判，对安全威胁进行持续对抗，每日通报安全态势情况，顺利保障重要时期（</a:t>
                </a:r>
                <a:r>
                  <a:rPr lang="en-US" altLang="zh-CN" sz="1400" kern="1200" dirty="0">
                    <a:solidFill>
                      <a:srgbClr val="4C61E7"/>
                    </a:solidFill>
                    <a:effectLst/>
                    <a:latin typeface="Arial" panose="020B0604020202020204" pitchFamily="34" charset="0"/>
                    <a:ea typeface="黑体-简" panose="02000000000000000000" charset="-122"/>
                    <a:cs typeface="+mn-cs"/>
                    <a:sym typeface="+mn-ea"/>
                  </a:rPr>
                  <a:t>{{critical_protection_periods_text}}</a:t>
                </a:r>
                <a:r>
                  <a:rPr lang="zh-CN" altLang="en-US" sz="1400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黑体-简" panose="02000000000000000000" charset="-122"/>
                    <a:cs typeface="+mn-cs"/>
                    <a:sym typeface="+mn-ea"/>
                  </a:rPr>
                  <a:t>）未出现重大安全事件或事故。</a:t>
                </a:r>
                <a:endParaRPr lang="zh-CN" altLang="en-US" sz="1400" kern="1200" dirty="0">
                  <a:solidFill>
                    <a:schemeClr val="tx1"/>
                  </a:solidFill>
                  <a:effectLst/>
                  <a:latin typeface="Arial" panose="020B0604020202020204" pitchFamily="34" charset="0"/>
                  <a:ea typeface="黑体-简" panose="02000000000000000000" charset="-122"/>
                  <a:cs typeface="+mn-cs"/>
                  <a:sym typeface="+mn-ea"/>
                </a:endParaRPr>
              </a:p>
            </p:txBody>
          </p:sp>
        </p:grpSp>
        <p:sp>
          <p:nvSpPr>
            <p:cNvPr id="69" name="文本框 68"/>
            <p:cNvSpPr txBox="1"/>
            <p:nvPr/>
          </p:nvSpPr>
          <p:spPr>
            <a:xfrm>
              <a:off x="1492" y="2037"/>
              <a:ext cx="9600" cy="580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marL="0" algn="l">
                <a:lnSpc>
                  <a:spcPct val="100000"/>
                </a:lnSpc>
                <a:buClrTx/>
                <a:buSzTx/>
                <a:buFontTx/>
                <a:buNone/>
              </a:pPr>
              <a:r>
                <a:rPr lang="zh-CN" altLang="en-US" sz="1800" b="1" dirty="0">
                  <a:gradFill>
                    <a:gsLst>
                      <a:gs pos="50000">
                        <a:schemeClr val="accent6"/>
                      </a:gs>
                      <a:gs pos="0">
                        <a:schemeClr val="accent6">
                          <a:lumMod val="25000"/>
                          <a:lumOff val="75000"/>
                        </a:schemeClr>
                      </a:gs>
                      <a:gs pos="100000">
                        <a:schemeClr val="accent6">
                          <a:lumMod val="85000"/>
                        </a:schemeClr>
                      </a:gs>
                    </a:gsLst>
                    <a:lin ang="5400000" scaled="1"/>
                  </a:gradFill>
                  <a:latin typeface="Arial" panose="020B0604020202020204" pitchFamily="34" charset="0"/>
                  <a:ea typeface="黑体-简" panose="02000000000000000000" charset="-122"/>
                  <a:cs typeface="微软雅黑" panose="020B0503020204020204" pitchFamily="34" charset="-120"/>
                  <a:sym typeface="+mn-ea"/>
                </a:rPr>
                <a:t>重保期间</a:t>
              </a:r>
              <a:r>
                <a:rPr lang="en-US" altLang="zh-CN" sz="1800" b="1" dirty="0">
                  <a:gradFill>
                    <a:gsLst>
                      <a:gs pos="50000">
                        <a:schemeClr val="accent6"/>
                      </a:gs>
                      <a:gs pos="0">
                        <a:schemeClr val="accent6">
                          <a:lumMod val="25000"/>
                          <a:lumOff val="75000"/>
                        </a:schemeClr>
                      </a:gs>
                      <a:gs pos="100000">
                        <a:schemeClr val="accent6">
                          <a:lumMod val="85000"/>
                        </a:schemeClr>
                      </a:gs>
                    </a:gsLst>
                    <a:lin ang="5400000" scaled="1"/>
                  </a:gradFill>
                  <a:latin typeface="Arial" panose="020B0604020202020204" pitchFamily="34" charset="0"/>
                  <a:ea typeface="黑体-简" panose="02000000000000000000" charset="-122"/>
                  <a:cs typeface="微软雅黑" panose="020B0503020204020204" pitchFamily="34" charset="-120"/>
                  <a:sym typeface="+mn-ea"/>
                </a:rPr>
                <a:t>未发生攻击成功事件，</a:t>
              </a:r>
              <a:r>
                <a:rPr lang="zh-CN" altLang="en-US" sz="1800" b="1" dirty="0">
                  <a:gradFill>
                    <a:gsLst>
                      <a:gs pos="50000">
                        <a:schemeClr val="accent6"/>
                      </a:gs>
                      <a:gs pos="0">
                        <a:schemeClr val="accent6">
                          <a:lumMod val="25000"/>
                          <a:lumOff val="75000"/>
                        </a:schemeClr>
                      </a:gs>
                      <a:gs pos="100000">
                        <a:schemeClr val="accent6">
                          <a:lumMod val="85000"/>
                        </a:schemeClr>
                      </a:gs>
                    </a:gsLst>
                    <a:lin ang="5400000" scaled="1"/>
                  </a:gradFill>
                  <a:latin typeface="Arial" panose="020B0604020202020204" pitchFamily="34" charset="0"/>
                  <a:ea typeface="黑体-简" panose="02000000000000000000" charset="-122"/>
                  <a:cs typeface="微软雅黑" panose="020B0503020204020204" pitchFamily="34" charset="-120"/>
                  <a:sym typeface="+mn-ea"/>
                </a:rPr>
                <a:t>安全威胁风险可控</a:t>
              </a:r>
              <a:endParaRPr lang="zh-CN" altLang="en-US" sz="1800" b="1" dirty="0">
                <a:gradFill>
                  <a:gsLst>
                    <a:gs pos="50000">
                      <a:schemeClr val="accent6"/>
                    </a:gs>
                    <a:gs pos="0">
                      <a:schemeClr val="accent6">
                        <a:lumMod val="25000"/>
                        <a:lumOff val="75000"/>
                      </a:schemeClr>
                    </a:gs>
                    <a:gs pos="100000">
                      <a:schemeClr val="accent6">
                        <a:lumMod val="85000"/>
                      </a:schemeClr>
                    </a:gs>
                  </a:gsLst>
                  <a:lin ang="5400000" scaled="1"/>
                </a:gra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</p:grpSp>
      <p:pic>
        <p:nvPicPr>
          <p:cNvPr id="124" name="图片 12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9840" y="3027680"/>
            <a:ext cx="5069205" cy="2606675"/>
          </a:xfrm>
          <a:prstGeom prst="rect">
            <a:avLst/>
          </a:prstGeom>
        </p:spPr>
      </p:pic>
      <p:sp>
        <p:nvSpPr>
          <p:cNvPr id="1844" name="wps右边框"/>
          <p:cNvSpPr/>
          <p:nvPr>
            <p:custDataLst>
              <p:tags r:id="rId6"/>
            </p:custDataLst>
          </p:nvPr>
        </p:nvSpPr>
        <p:spPr>
          <a:xfrm>
            <a:off x="2974975" y="3169920"/>
            <a:ext cx="2568575" cy="575945"/>
          </a:xfrm>
          <a:custGeom>
            <a:avLst/>
            <a:gdLst>
              <a:gd name="connsiteX0" fmla="*/ 0 w 914400"/>
              <a:gd name="connsiteY0" fmla="*/ 0 h 612648"/>
              <a:gd name="connsiteX1" fmla="*/ 914400 w 914400"/>
              <a:gd name="connsiteY1" fmla="*/ 0 h 612648"/>
              <a:gd name="connsiteX2" fmla="*/ 914400 w 914400"/>
              <a:gd name="connsiteY2" fmla="*/ 612648 h 612648"/>
              <a:gd name="connsiteX3" fmla="*/ 0 w 914400"/>
              <a:gd name="connsiteY3" fmla="*/ 612648 h 612648"/>
              <a:gd name="connsiteX4" fmla="*/ 0 w 914400"/>
              <a:gd name="connsiteY4" fmla="*/ 0 h 612648"/>
              <a:gd name="connsiteX0-1" fmla="*/ 2377 w 914400"/>
              <a:gd name="connsiteY0-2" fmla="*/ 7713 h 612648"/>
              <a:gd name="connsiteX1-3" fmla="*/ 916302 w 914400"/>
              <a:gd name="connsiteY1-4" fmla="*/ 1048 h 612648"/>
              <a:gd name="connsiteX0-5" fmla="*/ 0 w 916302"/>
              <a:gd name="connsiteY0-6" fmla="*/ 0 h 612648"/>
              <a:gd name="connsiteX1-7" fmla="*/ 914400 w 916302"/>
              <a:gd name="connsiteY1-8" fmla="*/ 0 h 612648"/>
              <a:gd name="connsiteX2-9" fmla="*/ 914400 w 916302"/>
              <a:gd name="connsiteY2-10" fmla="*/ 612648 h 612648"/>
              <a:gd name="connsiteX3-11" fmla="*/ 457200 w 916302"/>
              <a:gd name="connsiteY3-12" fmla="*/ 612624 h 612648"/>
              <a:gd name="connsiteX4-13" fmla="*/ 0 w 916302"/>
              <a:gd name="connsiteY4-14" fmla="*/ 612648 h 612648"/>
              <a:gd name="connsiteX5" fmla="*/ 0 w 916302"/>
              <a:gd name="connsiteY5" fmla="*/ 0 h 612648"/>
              <a:gd name="connsiteX0-15" fmla="*/ 2377 w 916302"/>
              <a:gd name="connsiteY0-16" fmla="*/ 7713 h 612648"/>
              <a:gd name="connsiteX1-17" fmla="*/ 916302 w 916302"/>
              <a:gd name="connsiteY1-18" fmla="*/ 1048 h 612648"/>
              <a:gd name="connsiteX0-19" fmla="*/ 0 w 914400"/>
              <a:gd name="connsiteY0-20" fmla="*/ 0 h 612648"/>
              <a:gd name="connsiteX1-21" fmla="*/ 914400 w 914400"/>
              <a:gd name="connsiteY1-22" fmla="*/ 0 h 612648"/>
              <a:gd name="connsiteX2-23" fmla="*/ 914400 w 914400"/>
              <a:gd name="connsiteY2-24" fmla="*/ 612648 h 612648"/>
              <a:gd name="connsiteX3-25" fmla="*/ 0 w 914400"/>
              <a:gd name="connsiteY3-26" fmla="*/ 612648 h 612648"/>
              <a:gd name="connsiteX4-27" fmla="*/ 0 w 914400"/>
              <a:gd name="connsiteY4-28" fmla="*/ 0 h 612648"/>
              <a:gd name="connsiteX0-29" fmla="*/ 914400 w 914400"/>
              <a:gd name="connsiteY0-30" fmla="*/ 0 h 612648"/>
              <a:gd name="connsiteX1-31" fmla="*/ 914400 w 914400"/>
              <a:gd name="connsiteY1-32" fmla="*/ 612648 h 61264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</a:cxnLst>
            <a:rect l="l" t="t" r="r" b="b"/>
            <a:pathLst>
              <a:path w="914400" h="612648" stroke="0" extrusionOk="0">
                <a:moveTo>
                  <a:pt x="0" y="0"/>
                </a:moveTo>
                <a:lnTo>
                  <a:pt x="914400" y="0"/>
                </a:lnTo>
                <a:lnTo>
                  <a:pt x="914400" y="612648"/>
                </a:lnTo>
                <a:lnTo>
                  <a:pt x="0" y="612648"/>
                </a:lnTo>
                <a:lnTo>
                  <a:pt x="0" y="0"/>
                </a:lnTo>
                <a:close/>
              </a:path>
              <a:path w="914400" h="612648" fill="none" extrusionOk="0">
                <a:moveTo>
                  <a:pt x="914400" y="0"/>
                </a:moveTo>
                <a:lnTo>
                  <a:pt x="914400" y="612648"/>
                </a:lnTo>
              </a:path>
            </a:pathLst>
          </a:custGeom>
          <a:gradFill>
            <a:gsLst>
              <a:gs pos="0">
                <a:schemeClr val="accent5">
                  <a:lumMod val="20000"/>
                  <a:lumOff val="80000"/>
                  <a:alpha val="8000"/>
                </a:schemeClr>
              </a:gs>
              <a:gs pos="13000">
                <a:schemeClr val="accent5">
                  <a:lumMod val="20000"/>
                  <a:lumOff val="80000"/>
                  <a:alpha val="25000"/>
                </a:schemeClr>
              </a:gs>
              <a:gs pos="100000">
                <a:schemeClr val="accent5">
                  <a:lumMod val="20000"/>
                  <a:lumOff val="80000"/>
                  <a:alpha val="69000"/>
                </a:schemeClr>
              </a:gs>
            </a:gsLst>
            <a:lin ang="0" scaled="0"/>
          </a:gradFill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rIns="215900" numCol="1" spcCol="0" rtlCol="0" fromWordArt="0" anchor="ctr" anchorCtr="0" forceAA="0" compatLnSpc="1">
            <a:noAutofit/>
          </a:bodyPr>
          <a:lstStyle/>
          <a:p>
            <a:pPr lvl="0" algn="r">
              <a:buClrTx/>
              <a:buSzTx/>
              <a:buFontTx/>
            </a:pPr>
            <a:r>
              <a:rPr lang="zh-CN" altLang="en-US" sz="20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安全日志数</a:t>
            </a:r>
            <a:endParaRPr lang="zh-CN" altLang="en-US" sz="20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sym typeface="+mn-ea"/>
            </a:endParaRPr>
          </a:p>
        </p:txBody>
      </p:sp>
      <p:sp>
        <p:nvSpPr>
          <p:cNvPr id="1845" name="wps右边框"/>
          <p:cNvSpPr/>
          <p:nvPr>
            <p:custDataLst>
              <p:tags r:id="rId7"/>
            </p:custDataLst>
          </p:nvPr>
        </p:nvSpPr>
        <p:spPr>
          <a:xfrm>
            <a:off x="2799715" y="3900805"/>
            <a:ext cx="2744470" cy="575945"/>
          </a:xfrm>
          <a:custGeom>
            <a:avLst/>
            <a:gdLst>
              <a:gd name="connsiteX0" fmla="*/ 0 w 914400"/>
              <a:gd name="connsiteY0" fmla="*/ 0 h 612648"/>
              <a:gd name="connsiteX1" fmla="*/ 914400 w 914400"/>
              <a:gd name="connsiteY1" fmla="*/ 0 h 612648"/>
              <a:gd name="connsiteX2" fmla="*/ 914400 w 914400"/>
              <a:gd name="connsiteY2" fmla="*/ 612648 h 612648"/>
              <a:gd name="connsiteX3" fmla="*/ 0 w 914400"/>
              <a:gd name="connsiteY3" fmla="*/ 612648 h 612648"/>
              <a:gd name="connsiteX4" fmla="*/ 0 w 914400"/>
              <a:gd name="connsiteY4" fmla="*/ 0 h 612648"/>
              <a:gd name="connsiteX0-1" fmla="*/ 2377 w 914400"/>
              <a:gd name="connsiteY0-2" fmla="*/ 7713 h 612648"/>
              <a:gd name="connsiteX1-3" fmla="*/ 916302 w 914400"/>
              <a:gd name="connsiteY1-4" fmla="*/ 1048 h 612648"/>
              <a:gd name="connsiteX0-5" fmla="*/ 0 w 916302"/>
              <a:gd name="connsiteY0-6" fmla="*/ 0 h 612648"/>
              <a:gd name="connsiteX1-7" fmla="*/ 914400 w 916302"/>
              <a:gd name="connsiteY1-8" fmla="*/ 0 h 612648"/>
              <a:gd name="connsiteX2-9" fmla="*/ 914400 w 916302"/>
              <a:gd name="connsiteY2-10" fmla="*/ 612648 h 612648"/>
              <a:gd name="connsiteX3-11" fmla="*/ 457200 w 916302"/>
              <a:gd name="connsiteY3-12" fmla="*/ 612624 h 612648"/>
              <a:gd name="connsiteX4-13" fmla="*/ 0 w 916302"/>
              <a:gd name="connsiteY4-14" fmla="*/ 612648 h 612648"/>
              <a:gd name="connsiteX5" fmla="*/ 0 w 916302"/>
              <a:gd name="connsiteY5" fmla="*/ 0 h 612648"/>
              <a:gd name="connsiteX0-15" fmla="*/ 2377 w 916302"/>
              <a:gd name="connsiteY0-16" fmla="*/ 7713 h 612648"/>
              <a:gd name="connsiteX1-17" fmla="*/ 916302 w 916302"/>
              <a:gd name="connsiteY1-18" fmla="*/ 1048 h 612648"/>
              <a:gd name="connsiteX0-19" fmla="*/ 0 w 914400"/>
              <a:gd name="connsiteY0-20" fmla="*/ 0 h 612648"/>
              <a:gd name="connsiteX1-21" fmla="*/ 914400 w 914400"/>
              <a:gd name="connsiteY1-22" fmla="*/ 0 h 612648"/>
              <a:gd name="connsiteX2-23" fmla="*/ 914400 w 914400"/>
              <a:gd name="connsiteY2-24" fmla="*/ 612648 h 612648"/>
              <a:gd name="connsiteX3-25" fmla="*/ 0 w 914400"/>
              <a:gd name="connsiteY3-26" fmla="*/ 612648 h 612648"/>
              <a:gd name="connsiteX4-27" fmla="*/ 0 w 914400"/>
              <a:gd name="connsiteY4-28" fmla="*/ 0 h 612648"/>
              <a:gd name="connsiteX0-29" fmla="*/ 914400 w 914400"/>
              <a:gd name="connsiteY0-30" fmla="*/ 0 h 612648"/>
              <a:gd name="connsiteX1-31" fmla="*/ 914400 w 914400"/>
              <a:gd name="connsiteY1-32" fmla="*/ 612648 h 61264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</a:cxnLst>
            <a:rect l="l" t="t" r="r" b="b"/>
            <a:pathLst>
              <a:path w="914400" h="612648" stroke="0" extrusionOk="0">
                <a:moveTo>
                  <a:pt x="0" y="0"/>
                </a:moveTo>
                <a:lnTo>
                  <a:pt x="914400" y="0"/>
                </a:lnTo>
                <a:lnTo>
                  <a:pt x="914400" y="612648"/>
                </a:lnTo>
                <a:lnTo>
                  <a:pt x="0" y="612648"/>
                </a:lnTo>
                <a:lnTo>
                  <a:pt x="0" y="0"/>
                </a:lnTo>
                <a:close/>
              </a:path>
              <a:path w="914400" h="612648" fill="none" extrusionOk="0">
                <a:moveTo>
                  <a:pt x="914400" y="0"/>
                </a:moveTo>
                <a:lnTo>
                  <a:pt x="914400" y="612648"/>
                </a:lnTo>
              </a:path>
            </a:pathLst>
          </a:custGeom>
          <a:gradFill>
            <a:gsLst>
              <a:gs pos="0">
                <a:schemeClr val="accent6">
                  <a:lumMod val="20000"/>
                  <a:lumOff val="80000"/>
                  <a:alpha val="8000"/>
                </a:schemeClr>
              </a:gs>
              <a:gs pos="13000">
                <a:schemeClr val="accent6">
                  <a:lumMod val="20000"/>
                  <a:lumOff val="80000"/>
                  <a:alpha val="25000"/>
                </a:schemeClr>
              </a:gs>
              <a:gs pos="100000">
                <a:schemeClr val="accent6">
                  <a:lumMod val="20000"/>
                  <a:lumOff val="80000"/>
                  <a:alpha val="69000"/>
                </a:schemeClr>
              </a:gs>
            </a:gsLst>
            <a:lin ang="0" scaled="0"/>
          </a:gradFill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rIns="215900" numCol="1" spcCol="0" rtlCol="0" fromWordArt="0" anchor="ctr" anchorCtr="0" forceAA="0" compatLnSpc="1">
            <a:noAutofit/>
          </a:bodyPr>
          <a:lstStyle/>
          <a:p>
            <a:pPr lvl="0" algn="r">
              <a:buClrTx/>
              <a:buSzTx/>
              <a:buFontTx/>
            </a:pPr>
            <a:r>
              <a:rPr lang="zh-CN" altLang="en-US" sz="20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安全告警数</a:t>
            </a:r>
            <a:endParaRPr lang="zh-CN" altLang="en-US" sz="20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sym typeface="+mn-ea"/>
            </a:endParaRPr>
          </a:p>
        </p:txBody>
      </p:sp>
      <p:sp>
        <p:nvSpPr>
          <p:cNvPr id="1846" name="wps右边框"/>
          <p:cNvSpPr/>
          <p:nvPr>
            <p:custDataLst>
              <p:tags r:id="rId8"/>
            </p:custDataLst>
          </p:nvPr>
        </p:nvSpPr>
        <p:spPr>
          <a:xfrm>
            <a:off x="2423160" y="4631690"/>
            <a:ext cx="3121025" cy="575945"/>
          </a:xfrm>
          <a:custGeom>
            <a:avLst/>
            <a:gdLst>
              <a:gd name="connsiteX0" fmla="*/ 0 w 914400"/>
              <a:gd name="connsiteY0" fmla="*/ 0 h 612648"/>
              <a:gd name="connsiteX1" fmla="*/ 914400 w 914400"/>
              <a:gd name="connsiteY1" fmla="*/ 0 h 612648"/>
              <a:gd name="connsiteX2" fmla="*/ 914400 w 914400"/>
              <a:gd name="connsiteY2" fmla="*/ 612648 h 612648"/>
              <a:gd name="connsiteX3" fmla="*/ 0 w 914400"/>
              <a:gd name="connsiteY3" fmla="*/ 612648 h 612648"/>
              <a:gd name="connsiteX4" fmla="*/ 0 w 914400"/>
              <a:gd name="connsiteY4" fmla="*/ 0 h 612648"/>
              <a:gd name="connsiteX0-1" fmla="*/ 2377 w 914400"/>
              <a:gd name="connsiteY0-2" fmla="*/ 7713 h 612648"/>
              <a:gd name="connsiteX1-3" fmla="*/ 916302 w 914400"/>
              <a:gd name="connsiteY1-4" fmla="*/ 1048 h 612648"/>
              <a:gd name="connsiteX0-5" fmla="*/ 0 w 916302"/>
              <a:gd name="connsiteY0-6" fmla="*/ 0 h 612648"/>
              <a:gd name="connsiteX1-7" fmla="*/ 914400 w 916302"/>
              <a:gd name="connsiteY1-8" fmla="*/ 0 h 612648"/>
              <a:gd name="connsiteX2-9" fmla="*/ 914400 w 916302"/>
              <a:gd name="connsiteY2-10" fmla="*/ 612648 h 612648"/>
              <a:gd name="connsiteX3-11" fmla="*/ 457200 w 916302"/>
              <a:gd name="connsiteY3-12" fmla="*/ 612624 h 612648"/>
              <a:gd name="connsiteX4-13" fmla="*/ 0 w 916302"/>
              <a:gd name="connsiteY4-14" fmla="*/ 612648 h 612648"/>
              <a:gd name="connsiteX5" fmla="*/ 0 w 916302"/>
              <a:gd name="connsiteY5" fmla="*/ 0 h 612648"/>
              <a:gd name="connsiteX0-15" fmla="*/ 2377 w 916302"/>
              <a:gd name="connsiteY0-16" fmla="*/ 7713 h 612648"/>
              <a:gd name="connsiteX1-17" fmla="*/ 916302 w 916302"/>
              <a:gd name="connsiteY1-18" fmla="*/ 1048 h 612648"/>
              <a:gd name="connsiteX0-19" fmla="*/ 0 w 914400"/>
              <a:gd name="connsiteY0-20" fmla="*/ 0 h 612648"/>
              <a:gd name="connsiteX1-21" fmla="*/ 914400 w 914400"/>
              <a:gd name="connsiteY1-22" fmla="*/ 0 h 612648"/>
              <a:gd name="connsiteX2-23" fmla="*/ 914400 w 914400"/>
              <a:gd name="connsiteY2-24" fmla="*/ 612648 h 612648"/>
              <a:gd name="connsiteX3-25" fmla="*/ 0 w 914400"/>
              <a:gd name="connsiteY3-26" fmla="*/ 612648 h 612648"/>
              <a:gd name="connsiteX4-27" fmla="*/ 0 w 914400"/>
              <a:gd name="connsiteY4-28" fmla="*/ 0 h 612648"/>
              <a:gd name="connsiteX0-29" fmla="*/ 914400 w 914400"/>
              <a:gd name="connsiteY0-30" fmla="*/ 0 h 612648"/>
              <a:gd name="connsiteX1-31" fmla="*/ 914400 w 914400"/>
              <a:gd name="connsiteY1-32" fmla="*/ 612648 h 61264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</a:cxnLst>
            <a:rect l="l" t="t" r="r" b="b"/>
            <a:pathLst>
              <a:path w="914400" h="612648" stroke="0" extrusionOk="0">
                <a:moveTo>
                  <a:pt x="0" y="0"/>
                </a:moveTo>
                <a:lnTo>
                  <a:pt x="914400" y="0"/>
                </a:lnTo>
                <a:lnTo>
                  <a:pt x="914400" y="612648"/>
                </a:lnTo>
                <a:lnTo>
                  <a:pt x="0" y="612648"/>
                </a:lnTo>
                <a:lnTo>
                  <a:pt x="0" y="0"/>
                </a:lnTo>
                <a:close/>
              </a:path>
              <a:path w="914400" h="612648" fill="none" extrusionOk="0">
                <a:moveTo>
                  <a:pt x="914400" y="0"/>
                </a:moveTo>
                <a:lnTo>
                  <a:pt x="914400" y="612648"/>
                </a:lnTo>
              </a:path>
            </a:pathLst>
          </a:custGeom>
          <a:gradFill>
            <a:gsLst>
              <a:gs pos="0">
                <a:schemeClr val="accent5">
                  <a:lumMod val="20000"/>
                  <a:lumOff val="80000"/>
                  <a:alpha val="8000"/>
                </a:schemeClr>
              </a:gs>
              <a:gs pos="13000">
                <a:schemeClr val="accent5">
                  <a:lumMod val="20000"/>
                  <a:lumOff val="80000"/>
                  <a:alpha val="25000"/>
                </a:schemeClr>
              </a:gs>
              <a:gs pos="100000">
                <a:schemeClr val="accent5">
                  <a:lumMod val="20000"/>
                  <a:lumOff val="80000"/>
                  <a:alpha val="69000"/>
                </a:schemeClr>
              </a:gs>
            </a:gsLst>
            <a:lin ang="0" scaled="0"/>
          </a:gradFill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rIns="215900" numCol="1" spcCol="0" rtlCol="0" fromWordArt="0" anchor="ctr" anchorCtr="0" forceAA="0" compatLnSpc="1">
            <a:noAutofit/>
          </a:bodyPr>
          <a:lstStyle/>
          <a:p>
            <a:pPr lvl="0" algn="r">
              <a:buClrTx/>
              <a:buSzTx/>
              <a:buFontTx/>
            </a:pPr>
            <a:r>
              <a:rPr lang="zh-CN" altLang="en-US" sz="20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威胁事件数</a:t>
            </a:r>
            <a:endParaRPr lang="zh-CN" altLang="en-US" sz="20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sym typeface="+mn-ea"/>
            </a:endParaRPr>
          </a:p>
        </p:txBody>
      </p:sp>
      <p:sp>
        <p:nvSpPr>
          <p:cNvPr id="1847" name="wps右边框"/>
          <p:cNvSpPr/>
          <p:nvPr>
            <p:custDataLst>
              <p:tags r:id="rId9"/>
            </p:custDataLst>
          </p:nvPr>
        </p:nvSpPr>
        <p:spPr>
          <a:xfrm>
            <a:off x="2518410" y="5362575"/>
            <a:ext cx="3025140" cy="575945"/>
          </a:xfrm>
          <a:custGeom>
            <a:avLst/>
            <a:gdLst>
              <a:gd name="connsiteX0" fmla="*/ 0 w 914400"/>
              <a:gd name="connsiteY0" fmla="*/ 0 h 612648"/>
              <a:gd name="connsiteX1" fmla="*/ 914400 w 914400"/>
              <a:gd name="connsiteY1" fmla="*/ 0 h 612648"/>
              <a:gd name="connsiteX2" fmla="*/ 914400 w 914400"/>
              <a:gd name="connsiteY2" fmla="*/ 612648 h 612648"/>
              <a:gd name="connsiteX3" fmla="*/ 0 w 914400"/>
              <a:gd name="connsiteY3" fmla="*/ 612648 h 612648"/>
              <a:gd name="connsiteX4" fmla="*/ 0 w 914400"/>
              <a:gd name="connsiteY4" fmla="*/ 0 h 612648"/>
              <a:gd name="connsiteX0-1" fmla="*/ 2377 w 914400"/>
              <a:gd name="connsiteY0-2" fmla="*/ 7713 h 612648"/>
              <a:gd name="connsiteX1-3" fmla="*/ 916302 w 914400"/>
              <a:gd name="connsiteY1-4" fmla="*/ 1048 h 612648"/>
              <a:gd name="connsiteX0-5" fmla="*/ 0 w 916302"/>
              <a:gd name="connsiteY0-6" fmla="*/ 0 h 612648"/>
              <a:gd name="connsiteX1-7" fmla="*/ 914400 w 916302"/>
              <a:gd name="connsiteY1-8" fmla="*/ 0 h 612648"/>
              <a:gd name="connsiteX2-9" fmla="*/ 914400 w 916302"/>
              <a:gd name="connsiteY2-10" fmla="*/ 612648 h 612648"/>
              <a:gd name="connsiteX3-11" fmla="*/ 457200 w 916302"/>
              <a:gd name="connsiteY3-12" fmla="*/ 612624 h 612648"/>
              <a:gd name="connsiteX4-13" fmla="*/ 0 w 916302"/>
              <a:gd name="connsiteY4-14" fmla="*/ 612648 h 612648"/>
              <a:gd name="connsiteX5" fmla="*/ 0 w 916302"/>
              <a:gd name="connsiteY5" fmla="*/ 0 h 612648"/>
              <a:gd name="connsiteX0-15" fmla="*/ 2377 w 916302"/>
              <a:gd name="connsiteY0-16" fmla="*/ 7713 h 612648"/>
              <a:gd name="connsiteX1-17" fmla="*/ 916302 w 916302"/>
              <a:gd name="connsiteY1-18" fmla="*/ 1048 h 612648"/>
              <a:gd name="connsiteX0-19" fmla="*/ 0 w 914400"/>
              <a:gd name="connsiteY0-20" fmla="*/ 0 h 612648"/>
              <a:gd name="connsiteX1-21" fmla="*/ 914400 w 914400"/>
              <a:gd name="connsiteY1-22" fmla="*/ 0 h 612648"/>
              <a:gd name="connsiteX2-23" fmla="*/ 914400 w 914400"/>
              <a:gd name="connsiteY2-24" fmla="*/ 612648 h 612648"/>
              <a:gd name="connsiteX3-25" fmla="*/ 0 w 914400"/>
              <a:gd name="connsiteY3-26" fmla="*/ 612648 h 612648"/>
              <a:gd name="connsiteX4-27" fmla="*/ 0 w 914400"/>
              <a:gd name="connsiteY4-28" fmla="*/ 0 h 612648"/>
              <a:gd name="connsiteX0-29" fmla="*/ 914400 w 914400"/>
              <a:gd name="connsiteY0-30" fmla="*/ 0 h 612648"/>
              <a:gd name="connsiteX1-31" fmla="*/ 914400 w 914400"/>
              <a:gd name="connsiteY1-32" fmla="*/ 612648 h 61264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</a:cxnLst>
            <a:rect l="l" t="t" r="r" b="b"/>
            <a:pathLst>
              <a:path w="914400" h="612648" stroke="0" extrusionOk="0">
                <a:moveTo>
                  <a:pt x="0" y="0"/>
                </a:moveTo>
                <a:lnTo>
                  <a:pt x="914400" y="0"/>
                </a:lnTo>
                <a:lnTo>
                  <a:pt x="914400" y="612648"/>
                </a:lnTo>
                <a:lnTo>
                  <a:pt x="0" y="612648"/>
                </a:lnTo>
                <a:lnTo>
                  <a:pt x="0" y="0"/>
                </a:lnTo>
                <a:close/>
              </a:path>
              <a:path w="914400" h="612648" fill="none" extrusionOk="0">
                <a:moveTo>
                  <a:pt x="914400" y="0"/>
                </a:moveTo>
                <a:lnTo>
                  <a:pt x="914400" y="612648"/>
                </a:lnTo>
              </a:path>
            </a:pathLst>
          </a:custGeom>
          <a:gradFill>
            <a:gsLst>
              <a:gs pos="0">
                <a:schemeClr val="accent6">
                  <a:lumMod val="20000"/>
                  <a:lumOff val="80000"/>
                  <a:alpha val="8000"/>
                </a:schemeClr>
              </a:gs>
              <a:gs pos="13000">
                <a:schemeClr val="accent6">
                  <a:lumMod val="20000"/>
                  <a:lumOff val="80000"/>
                  <a:alpha val="25000"/>
                </a:schemeClr>
              </a:gs>
              <a:gs pos="100000">
                <a:schemeClr val="accent6">
                  <a:lumMod val="20000"/>
                  <a:lumOff val="80000"/>
                  <a:alpha val="69000"/>
                </a:schemeClr>
              </a:gs>
            </a:gsLst>
            <a:lin ang="0" scaled="0"/>
          </a:gradFill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rIns="215900" numCol="1" spcCol="0" rtlCol="0" fromWordArt="0" anchor="ctr" anchorCtr="0" forceAA="0" compatLnSpc="1">
            <a:noAutofit/>
          </a:bodyPr>
          <a:lstStyle/>
          <a:p>
            <a:pPr algn="r"/>
            <a:r>
              <a:rPr lang="zh-CN" altLang="en-US" sz="20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重大事故数</a:t>
            </a:r>
            <a:endParaRPr lang="zh-CN" altLang="en-US" sz="20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sym typeface="+mn-ea"/>
            </a:endParaRPr>
          </a:p>
        </p:txBody>
      </p:sp>
      <p:sp>
        <p:nvSpPr>
          <p:cNvPr id="1848" name="任意多边形 1847"/>
          <p:cNvSpPr/>
          <p:nvPr>
            <p:custDataLst>
              <p:tags r:id="rId10"/>
            </p:custDataLst>
          </p:nvPr>
        </p:nvSpPr>
        <p:spPr>
          <a:xfrm flipV="1">
            <a:off x="1821180" y="5387975"/>
            <a:ext cx="838200" cy="535305"/>
          </a:xfrm>
          <a:custGeom>
            <a:avLst/>
            <a:gdLst>
              <a:gd name="connsiteX0" fmla="*/ 0 w 6535"/>
              <a:gd name="connsiteY0" fmla="*/ 1841 h 1841"/>
              <a:gd name="connsiteX1" fmla="*/ 667 w 6535"/>
              <a:gd name="connsiteY1" fmla="*/ 401 h 1841"/>
              <a:gd name="connsiteX2" fmla="*/ 5868 w 6535"/>
              <a:gd name="connsiteY2" fmla="*/ 401 h 1841"/>
              <a:gd name="connsiteX3" fmla="*/ 6535 w 6535"/>
              <a:gd name="connsiteY3" fmla="*/ 1841 h 1841"/>
              <a:gd name="connsiteX4" fmla="*/ 0 w 6535"/>
              <a:gd name="connsiteY4" fmla="*/ 1841 h 18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35" h="1841">
                <a:moveTo>
                  <a:pt x="0" y="1841"/>
                </a:moveTo>
                <a:lnTo>
                  <a:pt x="667" y="401"/>
                </a:lnTo>
                <a:cubicBezTo>
                  <a:pt x="1985" y="-290"/>
                  <a:pt x="5427" y="48"/>
                  <a:pt x="5868" y="401"/>
                </a:cubicBezTo>
                <a:lnTo>
                  <a:pt x="6535" y="1841"/>
                </a:lnTo>
                <a:lnTo>
                  <a:pt x="0" y="1841"/>
                </a:lnTo>
                <a:close/>
              </a:path>
            </a:pathLst>
          </a:custGeom>
          <a:gradFill>
            <a:gsLst>
              <a:gs pos="0">
                <a:schemeClr val="accent6">
                  <a:lumMod val="20000"/>
                  <a:lumOff val="80000"/>
                  <a:alpha val="100000"/>
                </a:schemeClr>
              </a:gs>
              <a:gs pos="63000">
                <a:schemeClr val="accent6">
                  <a:alpha val="100000"/>
                </a:schemeClr>
              </a:gs>
            </a:gsLst>
            <a:lin ang="8100000" scaled="0"/>
          </a:gradFill>
          <a:ln>
            <a:noFill/>
          </a:ln>
          <a:effectLst>
            <a:outerShdw blurRad="38100" dist="19050" dir="5400000" algn="t" rotWithShape="0">
              <a:schemeClr val="accent6">
                <a:lumMod val="75000"/>
                <a:alpha val="25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tIns="323850" bIns="107950" numCol="1" spcCol="0" rtlCol="0" fromWordArt="0" anchor="ctr" anchorCtr="0" forceAA="0" compatLnSpc="1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buClrTx/>
              <a:buSzTx/>
              <a:buFontTx/>
            </a:pPr>
            <a:endParaRPr lang="en-US" altLang="zh-CN" sz="2800" b="1" spc="300">
              <a:solidFill>
                <a:schemeClr val="bg1"/>
              </a:solidFill>
              <a:effectLst>
                <a:innerShdw blurRad="63500" dist="50800" dir="18900000">
                  <a:schemeClr val="accent6">
                    <a:lumMod val="50000"/>
                    <a:alpha val="25000"/>
                  </a:schemeClr>
                </a:innerShdw>
              </a:effectLst>
              <a:uFillTx/>
              <a:sym typeface="+mn-ea"/>
            </a:endParaRPr>
          </a:p>
        </p:txBody>
      </p:sp>
      <p:sp>
        <p:nvSpPr>
          <p:cNvPr id="1849" name="椭圆 1848"/>
          <p:cNvSpPr/>
          <p:nvPr>
            <p:custDataLst>
              <p:tags r:id="rId11"/>
            </p:custDataLst>
          </p:nvPr>
        </p:nvSpPr>
        <p:spPr>
          <a:xfrm>
            <a:off x="1821090" y="5274002"/>
            <a:ext cx="840171" cy="195580"/>
          </a:xfrm>
          <a:prstGeom prst="ellipse">
            <a:avLst/>
          </a:prstGeom>
          <a:gradFill>
            <a:gsLst>
              <a:gs pos="62000">
                <a:schemeClr val="accent6">
                  <a:lumMod val="75000"/>
                  <a:alpha val="100000"/>
                </a:schemeClr>
              </a:gs>
              <a:gs pos="100000">
                <a:schemeClr val="accent6">
                  <a:lumMod val="60000"/>
                  <a:lumOff val="40000"/>
                  <a:alpha val="100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tIns="45720" bIns="45720" numCol="1" spcCol="0" rtlCol="0" fromWordArt="0" anchor="ctr" anchorCtr="0" forceAA="0" compatLnSpc="1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sp>
        <p:nvSpPr>
          <p:cNvPr id="1850" name="任意多边形 1849"/>
          <p:cNvSpPr/>
          <p:nvPr>
            <p:custDataLst>
              <p:tags r:id="rId12"/>
            </p:custDataLst>
          </p:nvPr>
        </p:nvSpPr>
        <p:spPr>
          <a:xfrm flipV="1">
            <a:off x="1610360" y="4711065"/>
            <a:ext cx="1261110" cy="633095"/>
          </a:xfrm>
          <a:custGeom>
            <a:avLst/>
            <a:gdLst>
              <a:gd name="connsiteX0" fmla="*/ 0 w 6535"/>
              <a:gd name="connsiteY0" fmla="*/ 1841 h 1841"/>
              <a:gd name="connsiteX1" fmla="*/ 667 w 6535"/>
              <a:gd name="connsiteY1" fmla="*/ 401 h 1841"/>
              <a:gd name="connsiteX2" fmla="*/ 5868 w 6535"/>
              <a:gd name="connsiteY2" fmla="*/ 401 h 1841"/>
              <a:gd name="connsiteX3" fmla="*/ 6535 w 6535"/>
              <a:gd name="connsiteY3" fmla="*/ 1841 h 1841"/>
              <a:gd name="connsiteX4" fmla="*/ 0 w 6535"/>
              <a:gd name="connsiteY4" fmla="*/ 1841 h 18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35" h="1841">
                <a:moveTo>
                  <a:pt x="0" y="1841"/>
                </a:moveTo>
                <a:lnTo>
                  <a:pt x="667" y="401"/>
                </a:lnTo>
                <a:cubicBezTo>
                  <a:pt x="1985" y="-290"/>
                  <a:pt x="5427" y="48"/>
                  <a:pt x="5868" y="401"/>
                </a:cubicBezTo>
                <a:lnTo>
                  <a:pt x="6535" y="1841"/>
                </a:lnTo>
                <a:lnTo>
                  <a:pt x="0" y="1841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20000"/>
                  <a:lumOff val="80000"/>
                  <a:alpha val="100000"/>
                </a:schemeClr>
              </a:gs>
              <a:gs pos="63000">
                <a:schemeClr val="accent5">
                  <a:alpha val="100000"/>
                </a:schemeClr>
              </a:gs>
            </a:gsLst>
            <a:lin ang="8100000" scaled="0"/>
          </a:gradFill>
          <a:ln>
            <a:noFill/>
          </a:ln>
          <a:effectLst>
            <a:outerShdw blurRad="38100" dist="19050" dir="5400000" algn="t" rotWithShape="0">
              <a:schemeClr val="accent5">
                <a:lumMod val="75000"/>
                <a:alpha val="25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tIns="323850" bIns="107950" numCol="1" spcCol="0" rtlCol="0" fromWordArt="0" anchor="ctr" anchorCtr="0" forceAA="0" compatLnSpc="1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buClrTx/>
              <a:buSzTx/>
              <a:buFontTx/>
            </a:pPr>
            <a:endParaRPr lang="en-US" altLang="zh-CN" sz="2800" b="1" spc="300">
              <a:solidFill>
                <a:schemeClr val="bg1"/>
              </a:solidFill>
              <a:effectLst>
                <a:innerShdw blurRad="63500" dist="50800" dir="18900000">
                  <a:schemeClr val="accent5">
                    <a:lumMod val="50000"/>
                    <a:alpha val="25000"/>
                  </a:schemeClr>
                </a:innerShdw>
              </a:effectLst>
              <a:uFillTx/>
              <a:sym typeface="+mn-ea"/>
            </a:endParaRPr>
          </a:p>
        </p:txBody>
      </p:sp>
      <p:sp>
        <p:nvSpPr>
          <p:cNvPr id="1851" name="椭圆 1850"/>
          <p:cNvSpPr/>
          <p:nvPr>
            <p:custDataLst>
              <p:tags r:id="rId13"/>
            </p:custDataLst>
          </p:nvPr>
        </p:nvSpPr>
        <p:spPr>
          <a:xfrm>
            <a:off x="1609315" y="4584392"/>
            <a:ext cx="1263337" cy="288290"/>
          </a:xfrm>
          <a:prstGeom prst="ellipse">
            <a:avLst/>
          </a:prstGeom>
          <a:gradFill>
            <a:gsLst>
              <a:gs pos="62000">
                <a:schemeClr val="accent5">
                  <a:lumMod val="75000"/>
                  <a:alpha val="100000"/>
                </a:schemeClr>
              </a:gs>
              <a:gs pos="100000">
                <a:schemeClr val="accent5">
                  <a:lumMod val="60000"/>
                  <a:lumOff val="40000"/>
                  <a:alpha val="100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tIns="45720" bIns="45720" numCol="1" spcCol="0" rtlCol="0" fromWordArt="0" anchor="ctr" anchorCtr="0" forceAA="0" compatLnSpc="1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sp>
        <p:nvSpPr>
          <p:cNvPr id="1852" name="任意多边形 1851"/>
          <p:cNvSpPr/>
          <p:nvPr>
            <p:custDataLst>
              <p:tags r:id="rId14"/>
            </p:custDataLst>
          </p:nvPr>
        </p:nvSpPr>
        <p:spPr>
          <a:xfrm flipV="1">
            <a:off x="1321435" y="3994150"/>
            <a:ext cx="1838325" cy="708660"/>
          </a:xfrm>
          <a:custGeom>
            <a:avLst/>
            <a:gdLst>
              <a:gd name="connsiteX0" fmla="*/ 0 w 6535"/>
              <a:gd name="connsiteY0" fmla="*/ 1841 h 1841"/>
              <a:gd name="connsiteX1" fmla="*/ 667 w 6535"/>
              <a:gd name="connsiteY1" fmla="*/ 401 h 1841"/>
              <a:gd name="connsiteX2" fmla="*/ 5868 w 6535"/>
              <a:gd name="connsiteY2" fmla="*/ 401 h 1841"/>
              <a:gd name="connsiteX3" fmla="*/ 6535 w 6535"/>
              <a:gd name="connsiteY3" fmla="*/ 1841 h 1841"/>
              <a:gd name="connsiteX4" fmla="*/ 0 w 6535"/>
              <a:gd name="connsiteY4" fmla="*/ 1841 h 18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35" h="1841">
                <a:moveTo>
                  <a:pt x="0" y="1841"/>
                </a:moveTo>
                <a:lnTo>
                  <a:pt x="667" y="401"/>
                </a:lnTo>
                <a:cubicBezTo>
                  <a:pt x="1985" y="-290"/>
                  <a:pt x="5427" y="48"/>
                  <a:pt x="5868" y="401"/>
                </a:cubicBezTo>
                <a:lnTo>
                  <a:pt x="6535" y="1841"/>
                </a:lnTo>
                <a:lnTo>
                  <a:pt x="0" y="1841"/>
                </a:lnTo>
                <a:close/>
              </a:path>
            </a:pathLst>
          </a:custGeom>
          <a:gradFill>
            <a:gsLst>
              <a:gs pos="0">
                <a:schemeClr val="accent6">
                  <a:lumMod val="20000"/>
                  <a:lumOff val="80000"/>
                  <a:alpha val="100000"/>
                </a:schemeClr>
              </a:gs>
              <a:gs pos="63000">
                <a:schemeClr val="accent6">
                  <a:alpha val="100000"/>
                </a:schemeClr>
              </a:gs>
            </a:gsLst>
            <a:lin ang="8100000" scaled="0"/>
          </a:gradFill>
          <a:ln>
            <a:noFill/>
          </a:ln>
          <a:effectLst>
            <a:outerShdw blurRad="38100" dist="19050" dir="5400000" algn="t" rotWithShape="0">
              <a:schemeClr val="accent6">
                <a:lumMod val="75000"/>
                <a:alpha val="25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tIns="323850" bIns="107950" numCol="1" spcCol="0" rtlCol="0" fromWordArt="0" anchor="ctr" anchorCtr="0" forceAA="0" compatLnSpc="1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buClrTx/>
              <a:buSzTx/>
              <a:buFontTx/>
            </a:pPr>
            <a:endParaRPr lang="en-US" altLang="zh-CN" sz="2800" b="1" spc="300">
              <a:solidFill>
                <a:schemeClr val="bg1"/>
              </a:solidFill>
              <a:effectLst>
                <a:innerShdw blurRad="63500" dist="50800" dir="18900000">
                  <a:schemeClr val="accent6">
                    <a:lumMod val="50000"/>
                    <a:alpha val="25000"/>
                  </a:schemeClr>
                </a:innerShdw>
              </a:effectLst>
              <a:uFillTx/>
              <a:sym typeface="+mn-ea"/>
            </a:endParaRPr>
          </a:p>
        </p:txBody>
      </p:sp>
      <p:sp>
        <p:nvSpPr>
          <p:cNvPr id="1853" name="椭圆 1852"/>
          <p:cNvSpPr/>
          <p:nvPr>
            <p:custDataLst>
              <p:tags r:id="rId15"/>
            </p:custDataLst>
          </p:nvPr>
        </p:nvSpPr>
        <p:spPr>
          <a:xfrm>
            <a:off x="1321300" y="3830647"/>
            <a:ext cx="1840521" cy="378460"/>
          </a:xfrm>
          <a:prstGeom prst="ellipse">
            <a:avLst/>
          </a:prstGeom>
          <a:gradFill>
            <a:gsLst>
              <a:gs pos="62000">
                <a:schemeClr val="accent6">
                  <a:lumMod val="75000"/>
                  <a:alpha val="100000"/>
                </a:schemeClr>
              </a:gs>
              <a:gs pos="100000">
                <a:schemeClr val="accent6">
                  <a:lumMod val="60000"/>
                  <a:lumOff val="40000"/>
                  <a:alpha val="100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tIns="45720" bIns="45720" numCol="1" spcCol="0" rtlCol="0" fromWordArt="0" anchor="ctr" anchorCtr="0" forceAA="0" compatLnSpc="1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sp>
        <p:nvSpPr>
          <p:cNvPr id="1854" name="任意多边形 1853"/>
          <p:cNvSpPr/>
          <p:nvPr>
            <p:custDataLst>
              <p:tags r:id="rId16"/>
            </p:custDataLst>
          </p:nvPr>
        </p:nvSpPr>
        <p:spPr>
          <a:xfrm flipV="1">
            <a:off x="986155" y="3170555"/>
            <a:ext cx="2510790" cy="862965"/>
          </a:xfrm>
          <a:custGeom>
            <a:avLst/>
            <a:gdLst>
              <a:gd name="connsiteX0" fmla="*/ 0 w 6535"/>
              <a:gd name="connsiteY0" fmla="*/ 1841 h 1841"/>
              <a:gd name="connsiteX1" fmla="*/ 667 w 6535"/>
              <a:gd name="connsiteY1" fmla="*/ 401 h 1841"/>
              <a:gd name="connsiteX2" fmla="*/ 5868 w 6535"/>
              <a:gd name="connsiteY2" fmla="*/ 401 h 1841"/>
              <a:gd name="connsiteX3" fmla="*/ 6535 w 6535"/>
              <a:gd name="connsiteY3" fmla="*/ 1841 h 1841"/>
              <a:gd name="connsiteX4" fmla="*/ 0 w 6535"/>
              <a:gd name="connsiteY4" fmla="*/ 1841 h 18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35" h="1841">
                <a:moveTo>
                  <a:pt x="0" y="1841"/>
                </a:moveTo>
                <a:lnTo>
                  <a:pt x="667" y="401"/>
                </a:lnTo>
                <a:cubicBezTo>
                  <a:pt x="1985" y="-290"/>
                  <a:pt x="5427" y="48"/>
                  <a:pt x="5868" y="401"/>
                </a:cubicBezTo>
                <a:lnTo>
                  <a:pt x="6535" y="1841"/>
                </a:lnTo>
                <a:lnTo>
                  <a:pt x="0" y="1841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20000"/>
                  <a:lumOff val="80000"/>
                  <a:alpha val="100000"/>
                </a:schemeClr>
              </a:gs>
              <a:gs pos="63000">
                <a:schemeClr val="accent5">
                  <a:alpha val="100000"/>
                </a:schemeClr>
              </a:gs>
            </a:gsLst>
            <a:lin ang="8100000" scaled="0"/>
          </a:gradFill>
          <a:ln>
            <a:noFill/>
          </a:ln>
          <a:effectLst>
            <a:outerShdw blurRad="38100" dist="19050" dir="5400000" algn="t" rotWithShape="0">
              <a:schemeClr val="accent5">
                <a:lumMod val="75000"/>
                <a:alpha val="25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tIns="323850" bIns="107950" numCol="1" spcCol="0" rtlCol="0" fromWordArt="0" anchor="ctr" anchorCtr="0" forceAA="0" compatLnSpc="1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buClrTx/>
              <a:buSzTx/>
              <a:buFontTx/>
            </a:pPr>
            <a:endParaRPr lang="en-US" altLang="zh-CN" sz="2800" b="1" spc="300">
              <a:solidFill>
                <a:schemeClr val="bg1"/>
              </a:solidFill>
              <a:effectLst>
                <a:innerShdw blurRad="63500" dist="50800" dir="18900000">
                  <a:schemeClr val="accent5">
                    <a:lumMod val="50000"/>
                    <a:alpha val="25000"/>
                  </a:schemeClr>
                </a:innerShdw>
              </a:effectLst>
              <a:uFillTx/>
              <a:sym typeface="+mn-ea"/>
            </a:endParaRPr>
          </a:p>
        </p:txBody>
      </p:sp>
      <p:sp>
        <p:nvSpPr>
          <p:cNvPr id="1855" name="椭圆 1854"/>
          <p:cNvSpPr/>
          <p:nvPr>
            <p:custDataLst>
              <p:tags r:id="rId17"/>
            </p:custDataLst>
          </p:nvPr>
        </p:nvSpPr>
        <p:spPr>
          <a:xfrm>
            <a:off x="983615" y="2905666"/>
            <a:ext cx="2515892" cy="486698"/>
          </a:xfrm>
          <a:prstGeom prst="ellipse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100000"/>
                </a:schemeClr>
              </a:gs>
              <a:gs pos="100000">
                <a:schemeClr val="accent5">
                  <a:lumMod val="40000"/>
                  <a:lumOff val="60000"/>
                  <a:alpha val="10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1856" name="椭圆 1855"/>
          <p:cNvSpPr/>
          <p:nvPr>
            <p:custDataLst>
              <p:tags r:id="rId18"/>
            </p:custDataLst>
          </p:nvPr>
        </p:nvSpPr>
        <p:spPr>
          <a:xfrm>
            <a:off x="1500299" y="2960579"/>
            <a:ext cx="1442383" cy="333450"/>
          </a:xfrm>
          <a:prstGeom prst="ellipse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100000"/>
                </a:schemeClr>
              </a:gs>
              <a:gs pos="100000">
                <a:schemeClr val="accent5">
                  <a:lumMod val="40000"/>
                  <a:lumOff val="60000"/>
                  <a:alpha val="100000"/>
                </a:schemeClr>
              </a:gs>
            </a:gsLst>
            <a:lin ang="16140000" scaled="0"/>
          </a:gradFill>
          <a:ln>
            <a:noFill/>
          </a:ln>
          <a:effectLst>
            <a:innerShdw blurRad="292100" dist="152400" dir="13500000">
              <a:schemeClr val="accent5">
                <a:lumMod val="50000"/>
                <a:alpha val="18000"/>
              </a:schemeClr>
            </a:inn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sp>
        <p:nvSpPr>
          <p:cNvPr id="1858" name="矩形 1857"/>
          <p:cNvSpPr/>
          <p:nvPr>
            <p:custDataLst>
              <p:tags r:id="rId19"/>
            </p:custDataLst>
          </p:nvPr>
        </p:nvSpPr>
        <p:spPr>
          <a:xfrm>
            <a:off x="-222885" y="3267710"/>
            <a:ext cx="4988560" cy="58991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b="1" spc="300" dirty="0">
                <a:solidFill>
                  <a:schemeClr val="bg1">
                    <a:alpha val="60000"/>
                  </a:schemeClr>
                </a:solidFill>
                <a:uFillTx/>
                <a:latin typeface="+中文正文" charset="0"/>
                <a:cs typeface="+mn-ea"/>
                <a:sym typeface="+mn-ea"/>
              </a:rPr>
              <a:t>{{critical_period_security_log_count}}</a:t>
            </a:r>
            <a:endParaRPr lang="en-US" altLang="zh-CN" b="1" spc="300" dirty="0">
              <a:solidFill>
                <a:schemeClr val="bg1">
                  <a:alpha val="60000"/>
                </a:schemeClr>
              </a:solidFill>
              <a:uFillTx/>
              <a:latin typeface="+中文正文" charset="0"/>
              <a:cs typeface="+mn-ea"/>
              <a:sym typeface="+mn-ea"/>
            </a:endParaRPr>
          </a:p>
        </p:txBody>
      </p:sp>
      <p:sp>
        <p:nvSpPr>
          <p:cNvPr id="1859" name="矩形 1858"/>
          <p:cNvSpPr/>
          <p:nvPr>
            <p:custDataLst>
              <p:tags r:id="rId20"/>
            </p:custDataLst>
          </p:nvPr>
        </p:nvSpPr>
        <p:spPr>
          <a:xfrm>
            <a:off x="-658495" y="4079240"/>
            <a:ext cx="5753735" cy="53530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b="1" spc="300" dirty="0">
                <a:solidFill>
                  <a:schemeClr val="bg1">
                    <a:alpha val="70000"/>
                  </a:schemeClr>
                </a:solidFill>
                <a:uFillTx/>
                <a:latin typeface="+中文正文" charset="0"/>
                <a:cs typeface="+mn-ea"/>
                <a:sym typeface="+mn-ea"/>
              </a:rPr>
              <a:t>{{critical_period_alert_count}}</a:t>
            </a:r>
            <a:endParaRPr lang="en-US" altLang="zh-CN" b="1" spc="300" dirty="0">
              <a:solidFill>
                <a:schemeClr val="bg1">
                  <a:alpha val="70000"/>
                </a:schemeClr>
              </a:solidFill>
              <a:uFillTx/>
              <a:latin typeface="+中文正文" charset="0"/>
              <a:cs typeface="+mn-ea"/>
              <a:sym typeface="+mn-ea"/>
            </a:endParaRPr>
          </a:p>
        </p:txBody>
      </p:sp>
      <p:sp>
        <p:nvSpPr>
          <p:cNvPr id="1860" name="矩形 1859"/>
          <p:cNvSpPr/>
          <p:nvPr>
            <p:custDataLst>
              <p:tags r:id="rId21"/>
            </p:custDataLst>
          </p:nvPr>
        </p:nvSpPr>
        <p:spPr>
          <a:xfrm>
            <a:off x="198755" y="4709795"/>
            <a:ext cx="4131310" cy="53530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b="1" spc="300" dirty="0">
                <a:solidFill>
                  <a:schemeClr val="bg1">
                    <a:alpha val="70000"/>
                  </a:schemeClr>
                </a:solidFill>
                <a:uFillTx/>
                <a:latin typeface="+中文正文" charset="0"/>
                <a:cs typeface="+mn-ea"/>
                <a:sym typeface="+mn-ea"/>
              </a:rPr>
              <a:t>{{critical_period_incident_count}}</a:t>
            </a:r>
            <a:endParaRPr lang="zh-CN" altLang="en-US" b="1" spc="300" dirty="0">
              <a:solidFill>
                <a:schemeClr val="bg1">
                  <a:alpha val="70000"/>
                </a:schemeClr>
              </a:solidFill>
              <a:uFillTx/>
              <a:latin typeface="+中文正文" charset="0"/>
              <a:cs typeface="+mn-ea"/>
              <a:sym typeface="+mn-ea"/>
            </a:endParaRPr>
          </a:p>
        </p:txBody>
      </p:sp>
      <p:sp>
        <p:nvSpPr>
          <p:cNvPr id="1861" name="矩形 1860"/>
          <p:cNvSpPr/>
          <p:nvPr>
            <p:custDataLst>
              <p:tags r:id="rId22"/>
            </p:custDataLst>
          </p:nvPr>
        </p:nvSpPr>
        <p:spPr>
          <a:xfrm>
            <a:off x="1877060" y="5499100"/>
            <a:ext cx="659765" cy="37846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b="1" spc="300" dirty="0">
                <a:solidFill>
                  <a:schemeClr val="bg1">
                    <a:alpha val="60000"/>
                  </a:schemeClr>
                </a:solidFill>
                <a:uFillTx/>
                <a:latin typeface="+中文正文" charset="0"/>
                <a:cs typeface="+mn-ea"/>
                <a:sym typeface="+mn-ea"/>
              </a:rPr>
              <a:t>零</a:t>
            </a:r>
            <a:endParaRPr lang="zh-CN" altLang="en-US" b="1" spc="300" dirty="0">
              <a:solidFill>
                <a:schemeClr val="bg1">
                  <a:alpha val="60000"/>
                </a:schemeClr>
              </a:solidFill>
              <a:uFillTx/>
              <a:latin typeface="+中文正文" charset="0"/>
              <a:cs typeface="+mn-ea"/>
              <a:sym typeface="+mn-ea"/>
            </a:endParaRPr>
          </a:p>
        </p:txBody>
      </p:sp>
    </p:spTree>
    <p:custDataLst>
      <p:tags r:id="rId23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 rot="0">
            <a:off x="224790" y="306705"/>
            <a:ext cx="369570" cy="266700"/>
            <a:chOff x="533" y="672"/>
            <a:chExt cx="582" cy="420"/>
          </a:xfrm>
        </p:grpSpPr>
        <p:sp>
          <p:nvSpPr>
            <p:cNvPr id="7" name="燕尾形 86"/>
            <p:cNvSpPr/>
            <p:nvPr>
              <p:custDataLst>
                <p:tags r:id="rId1"/>
              </p:custDataLst>
            </p:nvPr>
          </p:nvSpPr>
          <p:spPr>
            <a:xfrm>
              <a:off x="533" y="672"/>
              <a:ext cx="326" cy="421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rgbClr val="006CD9">
                    <a:alpha val="100000"/>
                  </a:srgbClr>
                </a:gs>
                <a:gs pos="100000">
                  <a:srgbClr val="006CD9">
                    <a:alpha val="75000"/>
                  </a:srgbClr>
                </a:gs>
              </a:gsLst>
              <a:lin ang="5400000" scaled="1"/>
            </a:gra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p>
              <a:pPr algn="ctr">
                <a:defRPr sz="1300">
                  <a:latin typeface="+mn-lt"/>
                  <a:ea typeface="+mn-ea"/>
                  <a:cs typeface="+mn-cs"/>
                  <a:sym typeface="Calibri" panose="020F0502020204030204"/>
                </a:defRPr>
              </a:pPr>
              <a:endParaRPr>
                <a:solidFill>
                  <a:srgbClr val="FF0000"/>
                </a:solidFill>
              </a:endParaRPr>
            </a:p>
          </p:txBody>
        </p:sp>
        <p:sp>
          <p:nvSpPr>
            <p:cNvPr id="8" name="燕尾形 103"/>
            <p:cNvSpPr/>
            <p:nvPr>
              <p:custDataLst>
                <p:tags r:id="rId2"/>
              </p:custDataLst>
            </p:nvPr>
          </p:nvSpPr>
          <p:spPr>
            <a:xfrm>
              <a:off x="789" y="672"/>
              <a:ext cx="326" cy="421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rgbClr val="70AD47">
                    <a:alpha val="88000"/>
                  </a:srgbClr>
                </a:gs>
                <a:gs pos="100000">
                  <a:schemeClr val="accent6">
                    <a:lumMod val="85000"/>
                    <a:alpha val="63000"/>
                  </a:schemeClr>
                </a:gs>
              </a:gsLst>
              <a:lin ang="16200000" scaled="1"/>
            </a:gra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p>
              <a:pPr algn="ctr">
                <a:defRPr sz="1300">
                  <a:latin typeface="+mn-lt"/>
                  <a:ea typeface="+mn-ea"/>
                  <a:cs typeface="+mn-cs"/>
                  <a:sym typeface="Calibri" panose="020F0502020204030204"/>
                </a:defRPr>
              </a:pPr>
              <a:endParaRPr>
                <a:solidFill>
                  <a:srgbClr val="FF0000"/>
                </a:solidFill>
              </a:endParaRPr>
            </a:p>
          </p:txBody>
        </p:sp>
      </p:grpSp>
      <p:sp>
        <p:nvSpPr>
          <p:cNvPr id="9" name="textbox 158"/>
          <p:cNvSpPr/>
          <p:nvPr/>
        </p:nvSpPr>
        <p:spPr>
          <a:xfrm>
            <a:off x="740410" y="347980"/>
            <a:ext cx="7640955" cy="34353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78000"/>
              </a:lnSpc>
            </a:pPr>
            <a:r>
              <a: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Source Han Sans CN Bold" panose="020B0600000000000000" charset="-122"/>
                <a:ea typeface="Source Han Sans CN Bold" panose="020B0600000000000000" charset="-122"/>
                <a:sym typeface="Calibri" panose="020F0502020204030204" charset="0"/>
              </a:rPr>
              <a:t>重要时期保障</a:t>
            </a:r>
            <a:r>
              <a: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Source Han Sans CN Bold" panose="020B0600000000000000" charset="-122"/>
                <a:ea typeface="Source Han Sans CN Bold" panose="020B0600000000000000" charset="-122"/>
                <a:sym typeface="Calibri" panose="020F0502020204030204" charset="0"/>
              </a:rPr>
              <a:t>典型</a:t>
            </a:r>
            <a:r>
              <a: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Source Han Sans CN Bold" panose="020B0600000000000000" charset="-122"/>
                <a:ea typeface="Source Han Sans CN Bold" panose="020B0600000000000000" charset="-122"/>
                <a:sym typeface="Calibri" panose="020F0502020204030204" charset="0"/>
              </a:rPr>
              <a:t>事例</a:t>
            </a:r>
            <a:endParaRPr lang="zh-CN" altLang="en-US" sz="1900" b="1" noProof="0" dirty="0">
              <a:solidFill>
                <a:schemeClr val="tx1">
                  <a:lumMod val="85000"/>
                  <a:lumOff val="15000"/>
                </a:schemeClr>
              </a:solidFill>
              <a:uLnTx/>
              <a:latin typeface="Source Han Sans CN Bold" panose="020B0600000000000000" charset="-122"/>
              <a:ea typeface="Source Han Sans CN Bold" panose="020B0600000000000000" charset="-122"/>
              <a:sym typeface="Calibri" panose="020F0502020204030204" charset="0"/>
            </a:endParaRPr>
          </a:p>
        </p:txBody>
      </p:sp>
      <p:pic>
        <p:nvPicPr>
          <p:cNvPr id="10" name="图片 9" descr="深信服 + 智安全"/>
          <p:cNvPicPr>
            <a:picLocks noChangeAspect="1"/>
          </p:cNvPicPr>
          <p:nvPr/>
        </p:nvPicPr>
        <p:blipFill>
          <a:blip r:embed="rId3"/>
          <a:srcRect l="5232" t="26576" r="4938" b="29565"/>
          <a:stretch>
            <a:fillRect/>
          </a:stretch>
        </p:blipFill>
        <p:spPr>
          <a:xfrm>
            <a:off x="10330815" y="273073"/>
            <a:ext cx="1629867" cy="360000"/>
          </a:xfrm>
          <a:prstGeom prst="rect">
            <a:avLst/>
          </a:prstGeom>
        </p:spPr>
      </p:pic>
      <p:sp>
        <p:nvSpPr>
          <p:cNvPr id="11" name="Text 1"/>
          <p:cNvSpPr/>
          <p:nvPr/>
        </p:nvSpPr>
        <p:spPr>
          <a:xfrm>
            <a:off x="472440" y="1018540"/>
            <a:ext cx="5760000" cy="576000"/>
          </a:xfrm>
          <a:prstGeom prst="rect">
            <a:avLst/>
          </a:prstGeom>
          <a:solidFill>
            <a:srgbClr val="E6514E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Heiti SC Medium" panose="02000000000000000000" charset="-122"/>
                <a:ea typeface="Heiti SC Medium" panose="02000000000000000000" charset="-122"/>
                <a:cs typeface="微软雅黑" panose="020B0503020204020204" pitchFamily="34" charset="-120"/>
              </a:rPr>
              <a:t>主机</a:t>
            </a:r>
            <a:r>
              <a:rPr lang="zh-CN" altLang="en-US" sz="1400" b="1" dirty="0">
                <a:solidFill>
                  <a:srgbClr val="FFFFFF"/>
                </a:solidFill>
                <a:latin typeface="Heiti SC Medium" panose="02000000000000000000" charset="-122"/>
                <a:ea typeface="Heiti SC Medium" panose="02000000000000000000" charset="-122"/>
                <a:cs typeface="微软雅黑" panose="020B0503020204020204" pitchFamily="34" charset="-120"/>
              </a:rPr>
              <a:t>存在目标服务器开启目录浏览功能</a:t>
            </a:r>
            <a:endParaRPr lang="zh-CN" altLang="en-US" sz="1400" b="1" dirty="0">
              <a:solidFill>
                <a:srgbClr val="FFFFFF"/>
              </a:solidFill>
              <a:latin typeface="Heiti SC Medium" panose="02000000000000000000" charset="-122"/>
              <a:ea typeface="Heiti SC Medium" panose="02000000000000000000" charset="-122"/>
              <a:cs typeface="微软雅黑" panose="020B0503020204020204" pitchFamily="34" charset="-120"/>
            </a:endParaRPr>
          </a:p>
        </p:txBody>
      </p:sp>
      <p:sp>
        <p:nvSpPr>
          <p:cNvPr id="12" name="Text 2"/>
          <p:cNvSpPr/>
          <p:nvPr/>
        </p:nvSpPr>
        <p:spPr>
          <a:xfrm>
            <a:off x="472440" y="1594485"/>
            <a:ext cx="5760000" cy="4896000"/>
          </a:xfrm>
          <a:prstGeom prst="rect">
            <a:avLst/>
          </a:prstGeom>
          <a:solidFill>
            <a:srgbClr val="FDF1F1"/>
          </a:solidFill>
        </p:spPr>
        <p:txBody>
          <a:bodyPr wrap="square" lIns="283464" tIns="137160" rIns="283464" bIns="137160" rtlCol="0" anchor="t">
            <a:noAutofit/>
          </a:bodyPr>
          <a:lstStyle/>
          <a:p>
            <a:pPr lvl="0" algn="l">
              <a:lnSpc>
                <a:spcPts val="1600"/>
              </a:lnSpc>
              <a:buClrTx/>
              <a:buSzTx/>
              <a:buFontTx/>
            </a:pP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Light" panose="02000000000000000000" charset="-122"/>
                <a:sym typeface="+mn-ea"/>
              </a:rPr>
              <a:t>攻击者通过该漏洞可任意浏览根目录下相关文件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
</a:t>
            </a:r>
            <a:endParaRPr lang="zh-CN" alt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lvl="0" algn="l">
              <a:lnSpc>
                <a:spcPct val="136000"/>
              </a:lnSpc>
              <a:buClrTx/>
              <a:buSzTx/>
              <a:buFontTx/>
            </a:pP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【</a:t>
            </a: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Light" panose="02000000000000000000" charset="-122"/>
                <a:sym typeface="+mn-ea"/>
              </a:rPr>
              <a:t>发现时间</a:t>
            </a: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Light" panose="02000000000000000000" charset="-122"/>
                <a:sym typeface="+mn-ea"/>
              </a:rPr>
              <a:t>】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2025-06-09 11:25:42</a:t>
            </a:r>
            <a:endParaRPr lang="zh-CN" alt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lvl="0" algn="l">
              <a:lnSpc>
                <a:spcPct val="136000"/>
              </a:lnSpc>
              <a:buClrTx/>
              <a:buSzTx/>
              <a:buFontTx/>
            </a:pP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Light" panose="02000000000000000000" charset="-122"/>
                <a:sym typeface="+mn-ea"/>
              </a:rPr>
              <a:t>【影响资产</a:t>
            </a: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Light" panose="02000000000000000000" charset="-122"/>
                <a:sym typeface="+mn-ea"/>
              </a:rPr>
              <a:t>】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XX.XX.XX.XX(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XX资产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)</a:t>
            </a:r>
            <a:endParaRPr lang="zh-CN" altLang="en-US" sz="1200" b="1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lvl="0" algn="l">
              <a:lnSpc>
                <a:spcPct val="136000"/>
              </a:lnSpc>
              <a:buClrTx/>
              <a:buSzTx/>
              <a:buFontTx/>
            </a:pP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Light" panose="02000000000000000000" charset="-122"/>
                <a:sym typeface="+mn-ea"/>
              </a:rPr>
              <a:t>【事件危害</a:t>
            </a: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Light" panose="02000000000000000000" charset="-122"/>
                <a:sym typeface="+mn-ea"/>
              </a:rPr>
              <a:t>】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：业务系统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存在目录浏览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漏洞，如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没有实时对抗响应遏制，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攻击者可以轻松突破防线，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遍历下载根目录下的全部文件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，从而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获取敏感信息直接造成防守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失分；同时常见的配置文件、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数据库口令等会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存在默认管理后台等，可被攻击队利用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进一步获得业务主机权限，甚至突破边界直达内网其他核心业务，导致重大失分和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演习出局，甚至被列入负面典型。</a:t>
            </a:r>
            <a:endParaRPr lang="zh-CN" altLang="en-US" sz="1200" b="1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lvl="0" algn="l">
              <a:lnSpc>
                <a:spcPct val="136000"/>
              </a:lnSpc>
              <a:buClrTx/>
              <a:buSzTx/>
              <a:buFontTx/>
            </a:pP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Light" panose="02000000000000000000" charset="-122"/>
                <a:sym typeface="+mn-ea"/>
              </a:rPr>
              <a:t>【影响范围分析】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：通过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本次事件监测识别到了真实存在的业务漏洞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，而后快速完成了攻击源的封堵和业务的漏洞修复，收敛战线，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避免了更多资产受影响。</a:t>
            </a:r>
            <a:endParaRPr lang="zh-CN" altLang="en-US" sz="1200" b="1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lvl="0" algn="l">
              <a:lnSpc>
                <a:spcPct val="136000"/>
              </a:lnSpc>
              <a:buClrTx/>
              <a:buSzTx/>
              <a:buFontTx/>
            </a:pP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Light" panose="02000000000000000000" charset="-122"/>
                <a:sym typeface="+mn-ea"/>
              </a:rPr>
              <a:t>【事件处置</a:t>
            </a: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Light" panose="02000000000000000000" charset="-122"/>
                <a:sym typeface="+mn-ea"/>
              </a:rPr>
              <a:t>】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</a:t>
            </a:r>
            <a:endParaRPr lang="zh-CN" alt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228600" indent="-228600">
              <a:lnSpc>
                <a:spcPct val="136000"/>
              </a:lnSpc>
              <a:buFont typeface="+mj-ea"/>
              <a:buAutoNum type="circleNumDbPlain"/>
            </a:pP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云端服务经理</a:t>
            </a:r>
            <a:r>
              <a:rPr lang="zh-CN" altLang="en-US" sz="1200" dirty="0">
                <a:solidFill>
                  <a:srgbClr val="666666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快速分析并定性了事件和漏洞的真伪，联动安全设备进行了处置，紧急联系到</a:t>
            </a:r>
            <a:endParaRPr lang="en-US" altLang="en-US" sz="1200" b="1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228600" indent="-228600">
              <a:lnSpc>
                <a:spcPct val="136000"/>
              </a:lnSpc>
              <a:buFont typeface="+mj-ea"/>
              <a:buAutoNum type="circleNumDbPlain"/>
            </a:pP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「客户单位</a:t>
            </a:r>
            <a:r>
              <a:rPr lang="en-US" alt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+</a:t>
            </a:r>
            <a:r>
              <a:rPr lang="zh-CN" altLang="en-US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对接人姓名</a:t>
            </a: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」</a:t>
            </a:r>
            <a:r>
              <a:rPr lang="zh-CN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第一时间切断了该业务的访问入口，并同步相关系统管理员进行漏洞闭环，规避了后续潜在的攻击和失分；</a:t>
            </a:r>
            <a:r>
              <a:rPr lang="zh-CN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；</a:t>
            </a:r>
            <a:endParaRPr 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228600" indent="-228600">
              <a:lnSpc>
                <a:spcPct val="136000"/>
              </a:lnSpc>
              <a:buFont typeface="+mj-ea"/>
              <a:buAutoNum type="circleNumDbPlain"/>
            </a:pP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「线下驻场</a:t>
            </a:r>
            <a:r>
              <a:rPr lang="en-US" alt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/</a:t>
            </a:r>
            <a:r>
              <a:rPr lang="zh-CN" altLang="en-US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渠道工程师</a:t>
            </a: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」：现场处置（</a:t>
            </a: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如有）</a:t>
            </a:r>
            <a:endParaRPr lang="zh-CN" sz="1200" b="1" dirty="0">
              <a:solidFill>
                <a:srgbClr val="4C61E7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pic>
        <p:nvPicPr>
          <p:cNvPr id="13" name="Image 0" descr="/opt/sangfor/app/report-generation/soar/apps/report_generation/front/threat-management-report/static/images/quarterly-report/event-manage/finish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8474" y="5488813"/>
            <a:ext cx="1088136" cy="877824"/>
          </a:xfrm>
          <a:prstGeom prst="rect">
            <a:avLst/>
          </a:prstGeom>
        </p:spPr>
      </p:pic>
      <p:grpSp>
        <p:nvGrpSpPr>
          <p:cNvPr id="14" name="组合 13"/>
          <p:cNvGrpSpPr/>
          <p:nvPr/>
        </p:nvGrpSpPr>
        <p:grpSpPr>
          <a:xfrm>
            <a:off x="224790" y="306388"/>
            <a:ext cx="8690610" cy="295275"/>
            <a:chOff x="533" y="672"/>
            <a:chExt cx="13686" cy="465"/>
          </a:xfrm>
        </p:grpSpPr>
        <p:grpSp>
          <p:nvGrpSpPr>
            <p:cNvPr id="15" name="组合 14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17" name="燕尾形 86"/>
              <p:cNvSpPr/>
              <p:nvPr>
                <p:custDataLst>
                  <p:tags r:id="rId5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19" name="燕尾形 103"/>
              <p:cNvSpPr/>
              <p:nvPr>
                <p:custDataLst>
                  <p:tags r:id="rId6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20" name="textbox 158"/>
            <p:cNvSpPr/>
            <p:nvPr/>
          </p:nvSpPr>
          <p:spPr>
            <a:xfrm>
              <a:off x="5382" y="715"/>
              <a:ext cx="8837" cy="422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 anchor="t" anchorCtr="0"/>
            <a:p>
              <a:pPr algn="l" rtl="0" eaLnBrk="0">
                <a:lnSpc>
                  <a:spcPct val="100000"/>
                </a:lnSpc>
              </a:pPr>
              <a:endParaRPr lang="zh-CN" altLang="en-US" sz="1400" b="1" noProof="0" dirty="0">
                <a:solidFill>
                  <a:srgbClr val="0B4CBB"/>
                </a:solidFill>
                <a:uLn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Calibri" panose="020F0502020204030204" charset="0"/>
              </a:endParaRPr>
            </a:p>
          </p:txBody>
        </p:sp>
      </p:grpSp>
      <p:pic>
        <p:nvPicPr>
          <p:cNvPr id="5" name="图片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3020" y="1026795"/>
            <a:ext cx="4794250" cy="545782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599440" y="682625"/>
            <a:ext cx="6096000" cy="2298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TIPs</a:t>
            </a:r>
            <a:r>
              <a:rPr lang="zh-CN" altLang="en-US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：</a:t>
            </a:r>
            <a:r>
              <a:rPr lang="en-US" altLang="zh-CN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{</a:t>
            </a:r>
            <a:r>
              <a:rPr lang="zh-CN" altLang="en-US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选择重要时期发生</a:t>
            </a:r>
            <a:r>
              <a:rPr lang="zh-CN" altLang="en-US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的，并且跟用户共同协作完成处置的典型事件样例</a:t>
            </a:r>
            <a:r>
              <a:rPr lang="en-US" altLang="zh-CN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}</a:t>
            </a:r>
            <a:endParaRPr lang="en-US" altLang="zh-CN" sz="900" dirty="0">
              <a:solidFill>
                <a:srgbClr val="4C61E7"/>
              </a:solidFill>
              <a:highlight>
                <a:srgbClr val="FFFF00"/>
              </a:highlight>
              <a:latin typeface="Arial" panose="020B0604020202020204" pitchFamily="34" charset="0"/>
              <a:ea typeface="黑体-简" panose="02000000000000000000" charset="-122"/>
              <a:cs typeface="微软雅黑" panose="020B0503020204020204" pitchFamily="34" charset="-120"/>
              <a:sym typeface="+mn-ea"/>
            </a:endParaRPr>
          </a:p>
        </p:txBody>
      </p:sp>
    </p:spTree>
    <p:custDataLst>
      <p:tags r:id="rId8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/>
          <p:cNvGrpSpPr/>
          <p:nvPr/>
        </p:nvGrpSpPr>
        <p:grpSpPr>
          <a:xfrm>
            <a:off x="224790" y="289878"/>
            <a:ext cx="6565900" cy="327025"/>
            <a:chOff x="533" y="646"/>
            <a:chExt cx="10340" cy="515"/>
          </a:xfrm>
        </p:grpSpPr>
        <p:grpSp>
          <p:nvGrpSpPr>
            <p:cNvPr id="13" name="组合 12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14" name="燕尾形 86"/>
              <p:cNvSpPr/>
              <p:nvPr>
                <p:custDataLst>
                  <p:tags r:id="rId1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16" name="燕尾形 103"/>
              <p:cNvSpPr/>
              <p:nvPr>
                <p:custDataLst>
                  <p:tags r:id="rId2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3" name="textbox 158"/>
            <p:cNvSpPr/>
            <p:nvPr/>
          </p:nvSpPr>
          <p:spPr>
            <a:xfrm>
              <a:off x="1345" y="646"/>
              <a:ext cx="9528" cy="51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p>
              <a:pPr algn="l" rtl="0" eaLnBrk="0">
                <a:lnSpc>
                  <a:spcPct val="78000"/>
                </a:lnSpc>
              </a:pPr>
              <a:endParaRPr sz="1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  <a:ea typeface="微软雅黑" panose="020B0503020204020204" charset="-122"/>
                <a:cs typeface="Arial" panose="020B0604020202020204"/>
              </a:endParaRPr>
            </a:p>
            <a:p>
              <a:pPr algn="l" rtl="0" eaLnBrk="0">
                <a:lnSpc>
                  <a:spcPct val="101000"/>
                </a:lnSpc>
              </a:pPr>
              <a:r>
                <a:rPr lang="zh-CN" altLang="en-US" sz="1900" b="1">
                  <a:solidFill>
                    <a:srgbClr val="262626"/>
                  </a:solidFill>
                  <a:latin typeface="Arial Black" panose="020B0A04020102020204" pitchFamily="34" charset="0"/>
                  <a:ea typeface="微软雅黑" panose="020B0503020204020204" charset="-122"/>
                  <a:cs typeface="Noto Sans SC"/>
                  <a:sym typeface="Noto Sans SC"/>
                </a:rPr>
                <a:t>安全水位可量化</a:t>
              </a:r>
              <a:r>
                <a:rPr lang="zh-CN" altLang="en-US" sz="1900" b="1">
                  <a:solidFill>
                    <a:srgbClr val="262626"/>
                  </a:solidFill>
                  <a:highlight>
                    <a:srgbClr val="FFFF00"/>
                  </a:highlight>
                  <a:latin typeface="Arial Black" panose="020B0A04020102020204" pitchFamily="34" charset="0"/>
                  <a:ea typeface="微软雅黑" panose="020B0503020204020204" charset="-122"/>
                  <a:cs typeface="Noto Sans SC"/>
                  <a:sym typeface="Noto Sans SC"/>
                </a:rPr>
                <a:t>（结合协同运营的量化指标来优化）</a:t>
              </a:r>
              <a:endParaRPr lang="zh-CN" altLang="en-US" sz="1900" b="1">
                <a:solidFill>
                  <a:srgbClr val="262626"/>
                </a:solidFill>
                <a:latin typeface="Arial Black" panose="020B0A04020102020204" pitchFamily="34" charset="0"/>
                <a:ea typeface="微软雅黑" panose="020B0503020204020204" charset="-122"/>
                <a:cs typeface="Noto Sans SC"/>
                <a:sym typeface="Noto Sans SC"/>
              </a:endParaRPr>
            </a:p>
          </p:txBody>
        </p:sp>
      </p:grpSp>
      <p:pic>
        <p:nvPicPr>
          <p:cNvPr id="5" name="图片 4" descr="深信服 + 智安全"/>
          <p:cNvPicPr>
            <a:picLocks noChangeAspect="1"/>
          </p:cNvPicPr>
          <p:nvPr/>
        </p:nvPicPr>
        <p:blipFill>
          <a:blip r:embed="rId3"/>
          <a:srcRect l="5232" t="26576" r="4938" b="29565"/>
          <a:stretch>
            <a:fillRect/>
          </a:stretch>
        </p:blipFill>
        <p:spPr>
          <a:xfrm>
            <a:off x="10330815" y="273073"/>
            <a:ext cx="1629867" cy="360000"/>
          </a:xfrm>
          <a:prstGeom prst="rect">
            <a:avLst/>
          </a:prstGeom>
        </p:spPr>
      </p:pic>
      <p:sp>
        <p:nvSpPr>
          <p:cNvPr id="2" name="椭圆 1"/>
          <p:cNvSpPr/>
          <p:nvPr>
            <p:custDataLst>
              <p:tags r:id="rId4"/>
            </p:custDataLst>
          </p:nvPr>
        </p:nvSpPr>
        <p:spPr>
          <a:xfrm>
            <a:off x="4637220" y="3527151"/>
            <a:ext cx="2868025" cy="506420"/>
          </a:xfrm>
          <a:prstGeom prst="ellipse">
            <a:avLst/>
          </a:prstGeom>
          <a:gradFill>
            <a:gsLst>
              <a:gs pos="0">
                <a:schemeClr val="accent5">
                  <a:alpha val="0"/>
                </a:schemeClr>
              </a:gs>
              <a:gs pos="100000">
                <a:schemeClr val="accent5">
                  <a:alpha val="33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l"/>
            <a:endParaRPr lang="zh-CN" altLang="en-US" sz="160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6" name="椭圆 5"/>
          <p:cNvSpPr/>
          <p:nvPr>
            <p:custDataLst>
              <p:tags r:id="rId5"/>
            </p:custDataLst>
          </p:nvPr>
        </p:nvSpPr>
        <p:spPr>
          <a:xfrm>
            <a:off x="4304569" y="3741455"/>
            <a:ext cx="3532265" cy="506420"/>
          </a:xfrm>
          <a:prstGeom prst="ellipse">
            <a:avLst/>
          </a:prstGeom>
          <a:gradFill>
            <a:gsLst>
              <a:gs pos="10000">
                <a:schemeClr val="accent5">
                  <a:alpha val="0"/>
                </a:schemeClr>
              </a:gs>
              <a:gs pos="100000">
                <a:schemeClr val="accent5">
                  <a:alpha val="12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l"/>
            <a:endParaRPr lang="zh-CN" altLang="en-US" sz="160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7" name="椭圆 6"/>
          <p:cNvSpPr/>
          <p:nvPr>
            <p:custDataLst>
              <p:tags r:id="rId6"/>
            </p:custDataLst>
          </p:nvPr>
        </p:nvSpPr>
        <p:spPr>
          <a:xfrm>
            <a:off x="4171315" y="1600835"/>
            <a:ext cx="3742055" cy="3497580"/>
          </a:xfrm>
          <a:prstGeom prst="ellipse">
            <a:avLst/>
          </a:prstGeom>
          <a:noFill/>
          <a:ln>
            <a:gradFill>
              <a:gsLst>
                <a:gs pos="0">
                  <a:schemeClr val="accent5">
                    <a:alpha val="0"/>
                  </a:schemeClr>
                </a:gs>
                <a:gs pos="50000">
                  <a:schemeClr val="accent5">
                    <a:alpha val="40000"/>
                  </a:schemeClr>
                </a:gs>
                <a:gs pos="100000">
                  <a:schemeClr val="accent5">
                    <a:alpha val="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  <a:latin typeface="+mj-ea"/>
              <a:ea typeface="+mj-ea"/>
            </a:endParaRPr>
          </a:p>
        </p:txBody>
      </p:sp>
      <p:sp>
        <p:nvSpPr>
          <p:cNvPr id="15" name="平行四边形 14"/>
          <p:cNvSpPr/>
          <p:nvPr>
            <p:custDataLst>
              <p:tags r:id="rId7"/>
            </p:custDataLst>
          </p:nvPr>
        </p:nvSpPr>
        <p:spPr>
          <a:xfrm rot="5400000">
            <a:off x="6599217" y="3044169"/>
            <a:ext cx="874034" cy="188244"/>
          </a:xfrm>
          <a:prstGeom prst="parallelogram">
            <a:avLst/>
          </a:prstGeom>
          <a:gradFill flip="none" rotWithShape="0">
            <a:gsLst>
              <a:gs pos="100000">
                <a:schemeClr val="accent5">
                  <a:lumMod val="60000"/>
                  <a:lumOff val="40000"/>
                  <a:alpha val="0"/>
                </a:schemeClr>
              </a:gs>
              <a:gs pos="0">
                <a:schemeClr val="accent5">
                  <a:alpha val="2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  <a:latin typeface="+mj-ea"/>
              <a:ea typeface="+mj-ea"/>
            </a:endParaRPr>
          </a:p>
        </p:txBody>
      </p:sp>
      <p:sp>
        <p:nvSpPr>
          <p:cNvPr id="19" name="平行四边形 18"/>
          <p:cNvSpPr/>
          <p:nvPr>
            <p:custDataLst>
              <p:tags r:id="rId8"/>
            </p:custDataLst>
          </p:nvPr>
        </p:nvSpPr>
        <p:spPr>
          <a:xfrm rot="16200000" flipH="1">
            <a:off x="4740853" y="3044169"/>
            <a:ext cx="874034" cy="188244"/>
          </a:xfrm>
          <a:prstGeom prst="parallelogram">
            <a:avLst/>
          </a:prstGeom>
          <a:gradFill flip="none" rotWithShape="0">
            <a:gsLst>
              <a:gs pos="100000">
                <a:schemeClr val="accent5">
                  <a:lumMod val="60000"/>
                  <a:lumOff val="40000"/>
                  <a:alpha val="0"/>
                </a:schemeClr>
              </a:gs>
              <a:gs pos="0">
                <a:schemeClr val="accent5">
                  <a:alpha val="2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  <a:latin typeface="+mj-ea"/>
              <a:ea typeface="+mj-ea"/>
            </a:endParaRPr>
          </a:p>
        </p:txBody>
      </p:sp>
      <p:sp>
        <p:nvSpPr>
          <p:cNvPr id="20" name="平行四边形 19"/>
          <p:cNvSpPr/>
          <p:nvPr>
            <p:custDataLst>
              <p:tags r:id="rId9"/>
            </p:custDataLst>
          </p:nvPr>
        </p:nvSpPr>
        <p:spPr>
          <a:xfrm rot="16200000" flipH="1">
            <a:off x="4406283" y="3310289"/>
            <a:ext cx="794807" cy="69720"/>
          </a:xfrm>
          <a:prstGeom prst="parallelogram">
            <a:avLst/>
          </a:prstGeom>
          <a:gradFill flip="none" rotWithShape="0">
            <a:gsLst>
              <a:gs pos="100000">
                <a:schemeClr val="accent5">
                  <a:lumMod val="60000"/>
                  <a:lumOff val="40000"/>
                  <a:alpha val="0"/>
                </a:schemeClr>
              </a:gs>
              <a:gs pos="0">
                <a:schemeClr val="accent5">
                  <a:alpha val="2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  <a:latin typeface="+mj-ea"/>
              <a:ea typeface="+mj-ea"/>
            </a:endParaRPr>
          </a:p>
        </p:txBody>
      </p:sp>
      <p:sp>
        <p:nvSpPr>
          <p:cNvPr id="23" name="平行四边形 22"/>
          <p:cNvSpPr/>
          <p:nvPr>
            <p:custDataLst>
              <p:tags r:id="rId10"/>
            </p:custDataLst>
          </p:nvPr>
        </p:nvSpPr>
        <p:spPr>
          <a:xfrm rot="5400000">
            <a:off x="6883889" y="3397290"/>
            <a:ext cx="794807" cy="69720"/>
          </a:xfrm>
          <a:prstGeom prst="parallelogram">
            <a:avLst/>
          </a:prstGeom>
          <a:gradFill flip="none" rotWithShape="0">
            <a:gsLst>
              <a:gs pos="100000">
                <a:schemeClr val="accent5">
                  <a:lumMod val="60000"/>
                  <a:lumOff val="40000"/>
                  <a:alpha val="0"/>
                </a:schemeClr>
              </a:gs>
              <a:gs pos="0">
                <a:schemeClr val="accent5">
                  <a:alpha val="2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  <a:latin typeface="+mj-ea"/>
              <a:ea typeface="+mj-ea"/>
            </a:endParaRPr>
          </a:p>
        </p:txBody>
      </p:sp>
      <p:sp>
        <p:nvSpPr>
          <p:cNvPr id="24" name="平行四边形 23"/>
          <p:cNvSpPr/>
          <p:nvPr>
            <p:custDataLst>
              <p:tags r:id="rId11"/>
            </p:custDataLst>
          </p:nvPr>
        </p:nvSpPr>
        <p:spPr>
          <a:xfrm rot="5400000">
            <a:off x="6008123" y="2819630"/>
            <a:ext cx="1145942" cy="188244"/>
          </a:xfrm>
          <a:prstGeom prst="parallelogram">
            <a:avLst>
              <a:gd name="adj" fmla="val 39950"/>
            </a:avLst>
          </a:prstGeom>
          <a:gradFill flip="none" rotWithShape="0">
            <a:gsLst>
              <a:gs pos="100000">
                <a:schemeClr val="accent5">
                  <a:lumMod val="60000"/>
                  <a:lumOff val="40000"/>
                  <a:alpha val="0"/>
                </a:schemeClr>
              </a:gs>
              <a:gs pos="0">
                <a:schemeClr val="accent5">
                  <a:alpha val="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  <a:latin typeface="+mj-ea"/>
              <a:ea typeface="+mj-ea"/>
            </a:endParaRPr>
          </a:p>
        </p:txBody>
      </p:sp>
      <p:sp>
        <p:nvSpPr>
          <p:cNvPr id="25" name="平行四边形 24"/>
          <p:cNvSpPr/>
          <p:nvPr>
            <p:custDataLst>
              <p:tags r:id="rId12"/>
            </p:custDataLst>
          </p:nvPr>
        </p:nvSpPr>
        <p:spPr>
          <a:xfrm rot="16200000" flipH="1">
            <a:off x="4879671" y="2950771"/>
            <a:ext cx="1555389" cy="255429"/>
          </a:xfrm>
          <a:prstGeom prst="parallelogram">
            <a:avLst>
              <a:gd name="adj" fmla="val 39950"/>
            </a:avLst>
          </a:prstGeom>
          <a:gradFill flip="none" rotWithShape="0">
            <a:gsLst>
              <a:gs pos="100000">
                <a:schemeClr val="accent5">
                  <a:lumMod val="60000"/>
                  <a:lumOff val="40000"/>
                  <a:alpha val="0"/>
                </a:schemeClr>
              </a:gs>
              <a:gs pos="0">
                <a:schemeClr val="accent5">
                  <a:alpha val="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  <a:latin typeface="+mj-ea"/>
              <a:ea typeface="+mj-ea"/>
            </a:endParaRPr>
          </a:p>
        </p:txBody>
      </p:sp>
      <p:sp>
        <p:nvSpPr>
          <p:cNvPr id="17" name="平行四边形 16"/>
          <p:cNvSpPr/>
          <p:nvPr>
            <p:custDataLst>
              <p:tags r:id="rId13"/>
            </p:custDataLst>
          </p:nvPr>
        </p:nvSpPr>
        <p:spPr>
          <a:xfrm rot="5400000" flipH="1" flipV="1">
            <a:off x="5363933" y="2786365"/>
            <a:ext cx="1532570" cy="255429"/>
          </a:xfrm>
          <a:prstGeom prst="parallelogram">
            <a:avLst>
              <a:gd name="adj" fmla="val 39950"/>
            </a:avLst>
          </a:prstGeom>
          <a:gradFill flip="none" rotWithShape="0">
            <a:gsLst>
              <a:gs pos="100000">
                <a:schemeClr val="accent5">
                  <a:lumMod val="60000"/>
                  <a:lumOff val="40000"/>
                  <a:alpha val="0"/>
                </a:schemeClr>
              </a:gs>
              <a:gs pos="0">
                <a:schemeClr val="accent5">
                  <a:alpha val="1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  <a:latin typeface="+mj-ea"/>
              <a:ea typeface="+mj-ea"/>
            </a:endParaRPr>
          </a:p>
        </p:txBody>
      </p:sp>
      <p:sp>
        <p:nvSpPr>
          <p:cNvPr id="34" name="Oval 41+"/>
          <p:cNvSpPr/>
          <p:nvPr>
            <p:custDataLst>
              <p:tags r:id="rId14"/>
            </p:custDataLst>
          </p:nvPr>
        </p:nvSpPr>
        <p:spPr>
          <a:xfrm>
            <a:off x="4065905" y="1495425"/>
            <a:ext cx="3952875" cy="3696335"/>
          </a:xfrm>
          <a:prstGeom prst="ellipse">
            <a:avLst/>
          </a:prstGeom>
          <a:noFill/>
          <a:ln w="22225">
            <a:gradFill>
              <a:gsLst>
                <a:gs pos="0">
                  <a:schemeClr val="accent5">
                    <a:alpha val="0"/>
                  </a:schemeClr>
                </a:gs>
                <a:gs pos="50000">
                  <a:schemeClr val="accent5">
                    <a:alpha val="40000"/>
                  </a:schemeClr>
                </a:gs>
                <a:gs pos="100000">
                  <a:schemeClr val="accent5">
                    <a:alpha val="0"/>
                  </a:schemeClr>
                </a:gs>
              </a:gsLst>
              <a:lin ang="5400000" scaled="1"/>
            </a:gra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  <a:latin typeface="+mj-ea"/>
              <a:ea typeface="+mj-ea"/>
            </a:endParaRPr>
          </a:p>
        </p:txBody>
      </p:sp>
      <p:sp>
        <p:nvSpPr>
          <p:cNvPr id="35" name="矩形 34"/>
          <p:cNvSpPr/>
          <p:nvPr>
            <p:custDataLst>
              <p:tags r:id="rId15"/>
            </p:custDataLst>
          </p:nvPr>
        </p:nvSpPr>
        <p:spPr>
          <a:xfrm>
            <a:off x="390525" y="1307820"/>
            <a:ext cx="3456000" cy="360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lIns="46990" tIns="46990" rIns="36195" bIns="46990" rtlCol="0" anchor="t" anchorCtr="0">
            <a:noAutofit/>
          </a:bodyPr>
          <a:p>
            <a:pPr indent="0" algn="ctr">
              <a:lnSpc>
                <a:spcPct val="150000"/>
              </a:lnSpc>
            </a:pPr>
            <a:r>
              <a:rPr lang="zh-CN" altLang="en-US" sz="1200">
                <a:solidFill>
                  <a:srgbClr val="374151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资产覆盖范围内的入侵攻击全面做到主动防御</a:t>
            </a:r>
            <a:endParaRPr lang="zh-CN" altLang="en-US" sz="1200">
              <a:solidFill>
                <a:srgbClr val="374151"/>
              </a:solidFill>
              <a:latin typeface="Arial" panose="020B0604020202020204" pitchFamily="34" charset="0"/>
              <a:ea typeface="黑体-简" panose="02000000000000000000" charset="-122"/>
              <a:cs typeface="Noto Sans SC"/>
              <a:sym typeface="Noto Sans SC"/>
            </a:endParaRPr>
          </a:p>
          <a:p>
            <a:pPr indent="0" algn="ctr">
              <a:lnSpc>
                <a:spcPct val="150000"/>
              </a:lnSpc>
            </a:pPr>
            <a:r>
              <a:rPr lang="zh-CN" altLang="en-US" sz="1200">
                <a:solidFill>
                  <a:srgbClr val="374151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安全告警主动分析和响应覆盖率达到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{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urce Han Sans CN Normal" panose="020B0600000000000000" charset="-122"/>
                <a:sym typeface="+mn-ea"/>
              </a:rPr>
              <a:t>告警研判率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}</a:t>
            </a:r>
            <a:endParaRPr lang="en-US" altLang="zh-CN" sz="1200">
              <a:solidFill>
                <a:srgbClr val="4C61E7"/>
              </a:solidFill>
              <a:latin typeface="Arial" panose="020B0604020202020204" pitchFamily="34" charset="0"/>
              <a:ea typeface="黑体-简" panose="02000000000000000000" charset="-122"/>
              <a:cs typeface="Noto Sans SC"/>
              <a:sym typeface="Noto Sans SC"/>
            </a:endParaRPr>
          </a:p>
          <a:p>
            <a:pPr indent="0" algn="ctr">
              <a:lnSpc>
                <a:spcPct val="150000"/>
              </a:lnSpc>
            </a:pPr>
            <a:r>
              <a:rPr lang="zh-CN" altLang="en-US" sz="1200">
                <a:solidFill>
                  <a:srgbClr val="374151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安全运营各项关键指标达到国家标准</a:t>
            </a:r>
            <a:endParaRPr lang="en-US" sz="1200">
              <a:solidFill>
                <a:srgbClr val="374151"/>
              </a:solidFill>
              <a:latin typeface="Arial" panose="020B0604020202020204" pitchFamily="34" charset="0"/>
              <a:ea typeface="黑体-简" panose="02000000000000000000" charset="-122"/>
              <a:cs typeface="Noto Sans SC"/>
              <a:sym typeface="Noto Sans SC"/>
            </a:endParaRPr>
          </a:p>
          <a:p>
            <a:pPr indent="0"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lang="zh-CN" altLang="en-US" sz="1200" dirty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ea typeface="黑体-简" panose="02000000000000000000" charset="-122"/>
              <a:cs typeface="+mn-ea"/>
            </a:endParaRPr>
          </a:p>
        </p:txBody>
      </p:sp>
      <p:sp>
        <p:nvSpPr>
          <p:cNvPr id="37" name="矩形 36"/>
          <p:cNvSpPr/>
          <p:nvPr>
            <p:custDataLst>
              <p:tags r:id="rId16"/>
            </p:custDataLst>
          </p:nvPr>
        </p:nvSpPr>
        <p:spPr>
          <a:xfrm>
            <a:off x="8210653" y="1307820"/>
            <a:ext cx="3456000" cy="360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lIns="46990" tIns="46990" rIns="46990" bIns="46990" rtlCol="0" anchor="t" anchorCtr="0">
            <a:noAutofit/>
          </a:bodyPr>
          <a:p>
            <a:pPr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黑体-简" panose="02000000000000000000" charset="-122"/>
                <a:cs typeface="+mn-ea"/>
              </a:rPr>
              <a:t>服务上线以来安全水位线显著提升</a:t>
            </a:r>
            <a:endParaRPr lang="zh-CN" altLang="en-US" sz="120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ea typeface="黑体-简" panose="02000000000000000000" charset="-122"/>
              <a:cs typeface="+mn-ea"/>
            </a:endParaRPr>
          </a:p>
          <a:p>
            <a:pPr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黑体-简" panose="02000000000000000000" charset="-122"/>
                <a:cs typeface="+mn-ea"/>
              </a:rPr>
              <a:t>风险预防工作从无序被动响应变为有序主动开展</a:t>
            </a:r>
            <a:endParaRPr lang="zh-CN" altLang="en-US" sz="120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ea typeface="黑体-简" panose="02000000000000000000" charset="-122"/>
              <a:cs typeface="+mn-ea"/>
            </a:endParaRPr>
          </a:p>
          <a:p>
            <a:pPr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黑体-简" panose="02000000000000000000" charset="-122"/>
                <a:cs typeface="+mn-ea"/>
              </a:rPr>
              <a:t>安全威胁从事后被动处置变为事前主动运营</a:t>
            </a:r>
            <a:endParaRPr lang="zh-CN" altLang="en-US" sz="120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ea typeface="黑体-简" panose="02000000000000000000" charset="-122"/>
              <a:cs typeface="+mn-ea"/>
            </a:endParaRPr>
          </a:p>
          <a:p>
            <a:pPr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lang="zh-CN" altLang="en-US" sz="120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ea typeface="黑体-简" panose="02000000000000000000" charset="-122"/>
              <a:cs typeface="+mn-ea"/>
            </a:endParaRPr>
          </a:p>
          <a:p>
            <a:pPr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lang="zh-CN" altLang="en-US" sz="120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ea typeface="黑体-简" panose="02000000000000000000" charset="-122"/>
              <a:cs typeface="+mn-ea"/>
            </a:endParaRPr>
          </a:p>
        </p:txBody>
      </p:sp>
      <p:sp>
        <p:nvSpPr>
          <p:cNvPr id="38" name="箭头: V 形 20"/>
          <p:cNvSpPr/>
          <p:nvPr>
            <p:custDataLst>
              <p:tags r:id="rId17"/>
            </p:custDataLst>
          </p:nvPr>
        </p:nvSpPr>
        <p:spPr>
          <a:xfrm>
            <a:off x="3496102" y="990853"/>
            <a:ext cx="189995" cy="189995"/>
          </a:xfrm>
          <a:prstGeom prst="chevron">
            <a:avLst/>
          </a:prstGeom>
          <a:gradFill>
            <a:gsLst>
              <a:gs pos="99301">
                <a:schemeClr val="accent5">
                  <a:lumMod val="75000"/>
                  <a:alpha val="100000"/>
                </a:schemeClr>
              </a:gs>
              <a:gs pos="0">
                <a:schemeClr val="accent5">
                  <a:lumMod val="60000"/>
                  <a:lumOff val="40000"/>
                  <a:alpha val="100000"/>
                </a:schemeClr>
              </a:gs>
              <a:gs pos="68000">
                <a:schemeClr val="accent5">
                  <a:alpha val="100000"/>
                </a:schemeClr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39" name="箭头: V 形 21"/>
          <p:cNvSpPr/>
          <p:nvPr>
            <p:custDataLst>
              <p:tags r:id="rId18"/>
            </p:custDataLst>
          </p:nvPr>
        </p:nvSpPr>
        <p:spPr>
          <a:xfrm flipH="1">
            <a:off x="8398603" y="990853"/>
            <a:ext cx="189995" cy="189995"/>
          </a:xfrm>
          <a:prstGeom prst="chevron">
            <a:avLst/>
          </a:prstGeom>
          <a:gradFill>
            <a:gsLst>
              <a:gs pos="99301">
                <a:schemeClr val="accent6">
                  <a:lumMod val="75000"/>
                  <a:alpha val="100000"/>
                </a:schemeClr>
              </a:gs>
              <a:gs pos="0">
                <a:schemeClr val="accent6">
                  <a:lumMod val="60000"/>
                  <a:lumOff val="40000"/>
                  <a:alpha val="100000"/>
                </a:schemeClr>
              </a:gs>
              <a:gs pos="68000">
                <a:schemeClr val="accent6">
                  <a:alpha val="100000"/>
                </a:schemeClr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40" name="标题"/>
          <p:cNvSpPr txBox="1"/>
          <p:nvPr>
            <p:custDataLst>
              <p:tags r:id="rId19"/>
            </p:custDataLst>
          </p:nvPr>
        </p:nvSpPr>
        <p:spPr>
          <a:xfrm>
            <a:off x="4298315" y="2682240"/>
            <a:ext cx="3475355" cy="1322705"/>
          </a:xfrm>
          <a:prstGeom prst="rect">
            <a:avLst/>
          </a:prstGeom>
          <a:noFill/>
          <a:effectLst/>
        </p:spPr>
        <p:txBody>
          <a:bodyPr wrap="square" lIns="0" tIns="0" rIns="0" bIns="0" rtlCol="0" anchor="ctr">
            <a:noAutofit/>
          </a:bodyPr>
          <a:lstStyle/>
          <a:p>
            <a:pPr lvl="0" algn="ctr">
              <a:lnSpc>
                <a:spcPct val="150000"/>
              </a:lnSpc>
              <a:buClrTx/>
              <a:buSzTx/>
              <a:buFontTx/>
            </a:pPr>
            <a:r>
              <a:rPr lang="zh-CN" altLang="en-US" sz="2000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安全水位可视</a:t>
            </a:r>
            <a:r>
              <a:rPr lang="en-US" altLang="zh-CN" sz="2000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&amp;</a:t>
            </a:r>
            <a:r>
              <a:rPr lang="zh-CN" altLang="en-US" sz="2000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提升</a:t>
            </a:r>
            <a:endParaRPr lang="zh-CN" altLang="en-US" sz="2000" b="1" spc="300" dirty="0">
              <a:ln w="0">
                <a:noFill/>
              </a:ln>
              <a:solidFill>
                <a:schemeClr val="tx1"/>
              </a:solidFill>
              <a:uFillTx/>
              <a:latin typeface="Arial" panose="020B0604020202020204" pitchFamily="34" charset="0"/>
              <a:ea typeface="黑体-简" panose="02000000000000000000" charset="-122"/>
              <a:cs typeface="+mn-ea"/>
              <a:sym typeface="+mn-ea"/>
            </a:endParaRPr>
          </a:p>
          <a:p>
            <a:pPr lvl="0" algn="ctr">
              <a:lnSpc>
                <a:spcPct val="150000"/>
              </a:lnSpc>
              <a:buClrTx/>
              <a:buSzTx/>
              <a:buFontTx/>
            </a:pPr>
            <a:r>
              <a:rPr lang="zh-CN" altLang="en-US" sz="1400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从</a:t>
            </a:r>
            <a:r>
              <a:rPr lang="zh-CN" altLang="en-US" sz="1400" b="1" spc="300" dirty="0">
                <a:ln w="0">
                  <a:noFill/>
                </a:ln>
                <a:solidFill>
                  <a:schemeClr val="accent2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“基础合规”</a:t>
            </a:r>
            <a:r>
              <a:rPr lang="zh-CN" altLang="en-US" sz="1400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跃升至</a:t>
            </a:r>
            <a:r>
              <a:rPr lang="zh-CN" altLang="en-US" sz="1400" b="1" spc="300" dirty="0">
                <a:ln w="0">
                  <a:noFill/>
                </a:ln>
                <a:solidFill>
                  <a:schemeClr val="accent6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“主动防御”</a:t>
            </a:r>
            <a:endParaRPr lang="zh-CN" altLang="en-US" sz="1400" b="1" spc="300" dirty="0">
              <a:ln w="0">
                <a:noFill/>
              </a:ln>
              <a:solidFill>
                <a:schemeClr val="accent6">
                  <a:lumMod val="60000"/>
                  <a:lumOff val="40000"/>
                </a:schemeClr>
              </a:solidFill>
              <a:uFillTx/>
              <a:latin typeface="Arial" panose="020B0604020202020204" pitchFamily="34" charset="0"/>
              <a:ea typeface="黑体-简" panose="02000000000000000000" charset="-122"/>
              <a:cs typeface="+mn-ea"/>
              <a:sym typeface="+mn-ea"/>
            </a:endParaRPr>
          </a:p>
          <a:p>
            <a:pPr lvl="0" algn="ctr">
              <a:lnSpc>
                <a:spcPct val="150000"/>
              </a:lnSpc>
              <a:buClrTx/>
              <a:buSzTx/>
              <a:buFontTx/>
            </a:pPr>
            <a:r>
              <a:rPr lang="zh-CN" altLang="en-US" sz="1400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部分场景已实现</a:t>
            </a:r>
            <a:r>
              <a:rPr lang="zh-CN" altLang="en-US" sz="1400" b="1" spc="300" dirty="0">
                <a:ln w="0">
                  <a:noFill/>
                </a:ln>
                <a:solidFill>
                  <a:srgbClr val="00B050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“量化管理”</a:t>
            </a:r>
            <a:endParaRPr lang="zh-CN" altLang="en-US" sz="1400" b="1" spc="300" dirty="0">
              <a:ln w="0">
                <a:noFill/>
              </a:ln>
              <a:solidFill>
                <a:srgbClr val="00B050"/>
              </a:solidFill>
              <a:uFillTx/>
              <a:latin typeface="Arial" panose="020B0604020202020204" pitchFamily="34" charset="0"/>
              <a:ea typeface="黑体-简" panose="02000000000000000000" charset="-122"/>
              <a:cs typeface="+mn-ea"/>
              <a:sym typeface="+mn-ea"/>
            </a:endParaRPr>
          </a:p>
        </p:txBody>
      </p:sp>
      <p:graphicFrame>
        <p:nvGraphicFramePr>
          <p:cNvPr id="47" name="表格 46"/>
          <p:cNvGraphicFramePr/>
          <p:nvPr>
            <p:custDataLst>
              <p:tags r:id="rId20"/>
            </p:custDataLst>
          </p:nvPr>
        </p:nvGraphicFramePr>
        <p:xfrm>
          <a:off x="537845" y="2258060"/>
          <a:ext cx="3164205" cy="2286000"/>
        </p:xfrm>
        <a:graphic>
          <a:graphicData uri="http://schemas.openxmlformats.org/drawingml/2006/table">
            <a:tbl>
              <a:tblPr firstRow="1" lastCol="1" bandCol="1">
                <a:tableStyleId>{0126E9F6-41A6-44B7-8387-491034A24550}</a:tableStyleId>
              </a:tblPr>
              <a:tblGrid>
                <a:gridCol w="1179830"/>
                <a:gridCol w="1024890"/>
                <a:gridCol w="959485"/>
              </a:tblGrid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关键指标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当前水平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solidFill>
                            <a:srgbClr val="FFFF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国家</a:t>
                      </a:r>
                      <a:r>
                        <a:rPr lang="zh-CN" altLang="en-US" sz="1000">
                          <a:solidFill>
                            <a:srgbClr val="FFFF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sym typeface="+mn-ea"/>
                        </a:rPr>
                        <a:t>参考</a:t>
                      </a:r>
                      <a:r>
                        <a:rPr lang="zh-CN" altLang="en-US" sz="1000">
                          <a:solidFill>
                            <a:srgbClr val="FFFF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标准</a:t>
                      </a:r>
                      <a:endParaRPr lang="zh-CN" altLang="en-US" sz="1000">
                        <a:solidFill>
                          <a:srgbClr val="FFFF00"/>
                        </a:solidFill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资产覆盖率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{{asset_coverage_rate}}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80%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5"/>
                        </a:gs>
                        <a:gs pos="0">
                          <a:schemeClr val="accent5">
                            <a:lumMod val="25000"/>
                            <a:lumOff val="75000"/>
                          </a:schemeClr>
                        </a:gs>
                        <a:gs pos="100000">
                          <a:schemeClr val="accent5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威胁实时遏制率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{{threat_containment_rate}}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85%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5"/>
                        </a:gs>
                        <a:gs pos="0">
                          <a:schemeClr val="accent5">
                            <a:lumMod val="25000"/>
                            <a:lumOff val="75000"/>
                          </a:schemeClr>
                        </a:gs>
                        <a:gs pos="100000">
                          <a:schemeClr val="accent5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高危漏洞防护率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{{high_risk_vulnerability_protection_rate}}</a:t>
                      </a:r>
                      <a:endParaRPr lang="en-US" altLang="zh-CN" sz="1000" dirty="0">
                        <a:solidFill>
                          <a:srgbClr val="4C61E7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pitchFamily="34" charset="-120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75%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5"/>
                        </a:gs>
                        <a:gs pos="0">
                          <a:schemeClr val="accent5">
                            <a:lumMod val="25000"/>
                            <a:lumOff val="75000"/>
                          </a:schemeClr>
                        </a:gs>
                        <a:gs pos="100000">
                          <a:schemeClr val="accent5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MTTA</a:t>
                      </a: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（平均分析时间）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{{average_analysis_time}}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30min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5"/>
                        </a:gs>
                        <a:gs pos="0">
                          <a:schemeClr val="accent5">
                            <a:lumMod val="25000"/>
                            <a:lumOff val="75000"/>
                          </a:schemeClr>
                        </a:gs>
                        <a:gs pos="100000">
                          <a:schemeClr val="accent5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MTTR</a:t>
                      </a: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（平均响应时间）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{{average_response_time}}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8H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5"/>
                        </a:gs>
                        <a:gs pos="0">
                          <a:schemeClr val="accent5">
                            <a:lumMod val="25000"/>
                            <a:lumOff val="75000"/>
                          </a:schemeClr>
                        </a:gs>
                        <a:gs pos="100000">
                          <a:schemeClr val="accent5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</a:tr>
            </a:tbl>
          </a:graphicData>
        </a:graphic>
      </p:graphicFrame>
      <p:graphicFrame>
        <p:nvGraphicFramePr>
          <p:cNvPr id="50" name="表格 49"/>
          <p:cNvGraphicFramePr/>
          <p:nvPr>
            <p:custDataLst>
              <p:tags r:id="rId21"/>
            </p:custDataLst>
          </p:nvPr>
        </p:nvGraphicFramePr>
        <p:xfrm>
          <a:off x="8362315" y="2258060"/>
          <a:ext cx="3164205" cy="2255520"/>
        </p:xfrm>
        <a:graphic>
          <a:graphicData uri="http://schemas.openxmlformats.org/drawingml/2006/table">
            <a:tbl>
              <a:tblPr firstRow="1" lastCol="1" bandCol="1">
                <a:tableStyleId>{0126E9F6-41A6-44B7-8387-491034A24550}</a:tableStyleId>
              </a:tblPr>
              <a:tblGrid>
                <a:gridCol w="1188085"/>
                <a:gridCol w="1016635"/>
                <a:gridCol w="959485"/>
              </a:tblGrid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关键指标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当前水平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solidFill>
                            <a:srgbClr val="FFFF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初始水平</a:t>
                      </a:r>
                      <a:endParaRPr lang="zh-CN" altLang="en-US" sz="1000">
                        <a:solidFill>
                          <a:srgbClr val="FFFF00"/>
                        </a:solidFill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资产覆盖率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{{asset_coverage_rate}}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0%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6"/>
                        </a:gs>
                        <a:gs pos="0">
                          <a:schemeClr val="accent6">
                            <a:lumMod val="25000"/>
                            <a:lumOff val="75000"/>
                          </a:schemeClr>
                        </a:gs>
                        <a:gs pos="100000">
                          <a:schemeClr val="accent6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威胁实时遏制率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{{threat_containment_rate}}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仅依赖设备规则拦截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6"/>
                        </a:gs>
                        <a:gs pos="0">
                          <a:schemeClr val="accent6">
                            <a:lumMod val="25000"/>
                            <a:lumOff val="75000"/>
                          </a:schemeClr>
                        </a:gs>
                        <a:gs pos="100000">
                          <a:schemeClr val="accent6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高危漏洞防护率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{{high_risk_vulnerability_protection_rate}}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无数据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6"/>
                        </a:gs>
                        <a:gs pos="0">
                          <a:schemeClr val="accent6">
                            <a:lumMod val="25000"/>
                            <a:lumOff val="75000"/>
                          </a:schemeClr>
                        </a:gs>
                        <a:gs pos="100000">
                          <a:schemeClr val="accent6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MTTA</a:t>
                      </a: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（平均分析时间）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{{average_analysis_time}}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未开展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6"/>
                        </a:gs>
                        <a:gs pos="0">
                          <a:schemeClr val="accent6">
                            <a:lumMod val="25000"/>
                            <a:lumOff val="75000"/>
                          </a:schemeClr>
                        </a:gs>
                        <a:gs pos="100000">
                          <a:schemeClr val="accent6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MTTR</a:t>
                      </a: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（平均响应时间）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{{average_response_time}}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事后被动响应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6"/>
                        </a:gs>
                        <a:gs pos="0">
                          <a:schemeClr val="accent6">
                            <a:lumMod val="25000"/>
                            <a:lumOff val="75000"/>
                          </a:schemeClr>
                        </a:gs>
                        <a:gs pos="100000">
                          <a:schemeClr val="accent6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</a:tr>
            </a:tbl>
          </a:graphicData>
        </a:graphic>
      </p:graphicFrame>
      <p:sp>
        <p:nvSpPr>
          <p:cNvPr id="8" name="椭圆 7"/>
          <p:cNvSpPr/>
          <p:nvPr>
            <p:custDataLst>
              <p:tags r:id="rId22"/>
            </p:custDataLst>
          </p:nvPr>
        </p:nvSpPr>
        <p:spPr>
          <a:xfrm>
            <a:off x="2584419" y="5137785"/>
            <a:ext cx="6861238" cy="1121173"/>
          </a:xfrm>
          <a:prstGeom prst="ellipse">
            <a:avLst/>
          </a:prstGeom>
          <a:gradFill>
            <a:gsLst>
              <a:gs pos="0">
                <a:schemeClr val="accent5">
                  <a:alpha val="0"/>
                </a:schemeClr>
              </a:gs>
              <a:gs pos="100000">
                <a:schemeClr val="accent5">
                  <a:alpha val="40000"/>
                </a:schemeClr>
              </a:gs>
            </a:gsLst>
            <a:lin ang="5400000" scaled="0"/>
          </a:gradFill>
          <a:ln w="41275"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8" name="标题"/>
          <p:cNvSpPr txBox="1"/>
          <p:nvPr>
            <p:custDataLst>
              <p:tags r:id="rId23"/>
            </p:custDataLst>
          </p:nvPr>
        </p:nvSpPr>
        <p:spPr>
          <a:xfrm>
            <a:off x="3183130" y="5256733"/>
            <a:ext cx="5665036" cy="951594"/>
          </a:xfrm>
          <a:prstGeom prst="rect">
            <a:avLst/>
          </a:prstGeom>
          <a:noFill/>
          <a:effectLst/>
        </p:spPr>
        <p:txBody>
          <a:bodyPr wrap="square" lIns="0" tIns="0" rIns="0" bIns="0" rtlCol="0" anchor="ctr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产生的直接价值</a:t>
            </a:r>
            <a:r>
              <a:rPr lang="en-US" altLang="zh-CN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=</a:t>
            </a:r>
            <a:r>
              <a:rPr lang="zh-CN" altLang="en-US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减少潜在风险</a:t>
            </a:r>
            <a:r>
              <a:rPr lang="en-US" altLang="zh-CN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(</a:t>
            </a:r>
            <a:r>
              <a:rPr lang="en-US" altLang="zh-CN" b="1" spc="300" dirty="0">
                <a:ln w="0">
                  <a:noFill/>
                </a:ln>
                <a:solidFill>
                  <a:srgbClr val="4C61E7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{{closed_loop_vulnerability_count}}</a:t>
            </a:r>
            <a:r>
              <a:rPr lang="zh-CN" altLang="en-US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个</a:t>
            </a:r>
            <a:r>
              <a:rPr lang="en-US" altLang="zh-CN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) + </a:t>
            </a:r>
            <a:r>
              <a:rPr lang="zh-CN" altLang="en-US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避免安全攻击损失</a:t>
            </a:r>
            <a:r>
              <a:rPr lang="en-US" altLang="zh-CN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(</a:t>
            </a:r>
            <a:r>
              <a:rPr lang="en-US" altLang="zh-CN" b="1" spc="300" dirty="0">
                <a:ln w="0">
                  <a:noFill/>
                </a:ln>
                <a:solidFill>
                  <a:srgbClr val="4C61E7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{{threat_and_incident_count}}</a:t>
            </a:r>
            <a:r>
              <a:rPr lang="zh-CN" altLang="en-US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次</a:t>
            </a:r>
            <a:r>
              <a:rPr lang="en-US" altLang="zh-CN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) + </a:t>
            </a:r>
            <a:r>
              <a:rPr lang="zh-CN" altLang="en-US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节省人力成本</a:t>
            </a:r>
            <a:r>
              <a:rPr lang="en-US" altLang="zh-CN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(</a:t>
            </a:r>
            <a:r>
              <a:rPr lang="en-US" altLang="zh-CN" b="1" spc="300" dirty="0">
                <a:ln w="0">
                  <a:noFill/>
                </a:ln>
                <a:solidFill>
                  <a:srgbClr val="4C61E7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Noto Sans SC"/>
              </a:rPr>
              <a:t>{{two_senior_security_engineer_cost}}</a:t>
            </a:r>
            <a:r>
              <a:rPr lang="en-US" altLang="zh-CN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)</a:t>
            </a:r>
            <a:endParaRPr lang="en-US" altLang="zh-CN" b="1" spc="300" dirty="0">
              <a:ln w="0">
                <a:noFill/>
              </a:ln>
              <a:solidFill>
                <a:schemeClr val="tx1"/>
              </a:solidFill>
              <a:uFillTx/>
              <a:latin typeface="Arial" panose="020B0604020202020204" pitchFamily="34" charset="0"/>
              <a:ea typeface="黑体-简" panose="02000000000000000000" charset="-122"/>
              <a:cs typeface="+mn-ea"/>
              <a:sym typeface="+mn-ea"/>
            </a:endParaRPr>
          </a:p>
        </p:txBody>
      </p:sp>
      <p:sp>
        <p:nvSpPr>
          <p:cNvPr id="9" name="椭圆 8"/>
          <p:cNvSpPr/>
          <p:nvPr>
            <p:custDataLst>
              <p:tags r:id="rId24"/>
            </p:custDataLst>
          </p:nvPr>
        </p:nvSpPr>
        <p:spPr>
          <a:xfrm>
            <a:off x="1886583" y="5139005"/>
            <a:ext cx="8256910" cy="1305392"/>
          </a:xfrm>
          <a:prstGeom prst="ellipse">
            <a:avLst/>
          </a:prstGeom>
          <a:noFill/>
          <a:ln>
            <a:gradFill>
              <a:gsLst>
                <a:gs pos="0">
                  <a:schemeClr val="accent5">
                    <a:alpha val="0"/>
                  </a:schemeClr>
                </a:gs>
                <a:gs pos="100000">
                  <a:schemeClr val="accent5">
                    <a:alpha val="55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1" name="任意多边形: 形状 20"/>
          <p:cNvSpPr/>
          <p:nvPr>
            <p:custDataLst>
              <p:tags r:id="rId25"/>
            </p:custDataLst>
          </p:nvPr>
        </p:nvSpPr>
        <p:spPr>
          <a:xfrm>
            <a:off x="1993942" y="5987510"/>
            <a:ext cx="1293192" cy="471527"/>
          </a:xfrm>
          <a:custGeom>
            <a:avLst/>
            <a:gdLst>
              <a:gd name="connsiteX0" fmla="*/ 2116 w 2120"/>
              <a:gd name="connsiteY0" fmla="*/ 557 h 773"/>
              <a:gd name="connsiteX1" fmla="*/ 2120 w 2120"/>
              <a:gd name="connsiteY1" fmla="*/ 773 h 773"/>
              <a:gd name="connsiteX2" fmla="*/ 0 w 2120"/>
              <a:gd name="connsiteY2" fmla="*/ 201 h 773"/>
              <a:gd name="connsiteX3" fmla="*/ 15 w 2120"/>
              <a:gd name="connsiteY3" fmla="*/ 0 h 773"/>
              <a:gd name="connsiteX4" fmla="*/ 2116 w 2120"/>
              <a:gd name="connsiteY4" fmla="*/ 557 h 7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0" h="773">
                <a:moveTo>
                  <a:pt x="2116" y="557"/>
                </a:moveTo>
                <a:lnTo>
                  <a:pt x="2120" y="773"/>
                </a:lnTo>
                <a:cubicBezTo>
                  <a:pt x="2120" y="773"/>
                  <a:pt x="252" y="516"/>
                  <a:pt x="0" y="201"/>
                </a:cubicBezTo>
                <a:lnTo>
                  <a:pt x="15" y="0"/>
                </a:lnTo>
                <a:cubicBezTo>
                  <a:pt x="15" y="0"/>
                  <a:pt x="159" y="270"/>
                  <a:pt x="2116" y="557"/>
                </a:cubicBezTo>
                <a:close/>
              </a:path>
            </a:pathLst>
          </a:custGeom>
          <a:gradFill>
            <a:gsLst>
              <a:gs pos="12000">
                <a:schemeClr val="accent5">
                  <a:alpha val="0"/>
                </a:schemeClr>
              </a:gs>
              <a:gs pos="100000">
                <a:schemeClr val="accent5">
                  <a:alpha val="49000"/>
                </a:schemeClr>
              </a:gs>
            </a:gsLst>
            <a:lin ang="0" scaled="0"/>
          </a:gradFill>
          <a:ln w="952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2" name="任意多边形: 形状 21"/>
          <p:cNvSpPr/>
          <p:nvPr>
            <p:custDataLst>
              <p:tags r:id="rId26"/>
            </p:custDataLst>
          </p:nvPr>
        </p:nvSpPr>
        <p:spPr>
          <a:xfrm>
            <a:off x="8155515" y="5953350"/>
            <a:ext cx="2402165" cy="585596"/>
          </a:xfrm>
          <a:custGeom>
            <a:avLst/>
            <a:gdLst>
              <a:gd name="connsiteX0" fmla="*/ 3740 w 3740"/>
              <a:gd name="connsiteY0" fmla="*/ 0 h 960"/>
              <a:gd name="connsiteX1" fmla="*/ 3740 w 3740"/>
              <a:gd name="connsiteY1" fmla="*/ 234 h 960"/>
              <a:gd name="connsiteX2" fmla="*/ 11 w 3740"/>
              <a:gd name="connsiteY2" fmla="*/ 960 h 960"/>
              <a:gd name="connsiteX3" fmla="*/ 0 w 3740"/>
              <a:gd name="connsiteY3" fmla="*/ 758 h 960"/>
              <a:gd name="connsiteX4" fmla="*/ 3740 w 3740"/>
              <a:gd name="connsiteY4" fmla="*/ 0 h 9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40" h="960">
                <a:moveTo>
                  <a:pt x="3740" y="0"/>
                </a:moveTo>
                <a:lnTo>
                  <a:pt x="3740" y="234"/>
                </a:lnTo>
                <a:cubicBezTo>
                  <a:pt x="3740" y="234"/>
                  <a:pt x="2879" y="744"/>
                  <a:pt x="11" y="960"/>
                </a:cubicBezTo>
                <a:lnTo>
                  <a:pt x="0" y="758"/>
                </a:lnTo>
                <a:cubicBezTo>
                  <a:pt x="0" y="758"/>
                  <a:pt x="2513" y="657"/>
                  <a:pt x="3740" y="0"/>
                </a:cubicBezTo>
                <a:close/>
              </a:path>
            </a:pathLst>
          </a:custGeom>
          <a:gradFill>
            <a:gsLst>
              <a:gs pos="12000">
                <a:schemeClr val="accent5">
                  <a:lumMod val="60000"/>
                  <a:lumOff val="40000"/>
                  <a:alpha val="0"/>
                </a:schemeClr>
              </a:gs>
              <a:gs pos="100000">
                <a:schemeClr val="accent5">
                  <a:alpha val="49000"/>
                </a:schemeClr>
              </a:gs>
            </a:gsLst>
            <a:lin ang="0" scaled="0"/>
          </a:gradFill>
          <a:ln w="952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>
                <a:solidFill>
                  <a:schemeClr val="tx1"/>
                </a:solidFill>
              </a:rPr>
              <a:t>   </a:t>
            </a: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18" name="椭圆 17"/>
          <p:cNvSpPr/>
          <p:nvPr>
            <p:custDataLst>
              <p:tags r:id="rId27"/>
            </p:custDataLst>
          </p:nvPr>
        </p:nvSpPr>
        <p:spPr>
          <a:xfrm>
            <a:off x="1258897" y="5137785"/>
            <a:ext cx="9512282" cy="1487171"/>
          </a:xfrm>
          <a:prstGeom prst="ellipse">
            <a:avLst/>
          </a:prstGeom>
          <a:noFill/>
          <a:ln>
            <a:gradFill>
              <a:gsLst>
                <a:gs pos="66000">
                  <a:srgbClr val="376FFF">
                    <a:alpha val="0"/>
                  </a:srgbClr>
                </a:gs>
                <a:gs pos="14000">
                  <a:schemeClr val="accent5">
                    <a:alpha val="0"/>
                  </a:schemeClr>
                </a:gs>
                <a:gs pos="0">
                  <a:srgbClr val="376FFF">
                    <a:alpha val="16000"/>
                  </a:srgbClr>
                </a:gs>
                <a:gs pos="100000">
                  <a:schemeClr val="accent5">
                    <a:alpha val="20000"/>
                  </a:schemeClr>
                </a:gs>
              </a:gsLst>
              <a:lin ang="0" scaled="1"/>
            </a:gra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7" name="textbox 158"/>
          <p:cNvSpPr/>
          <p:nvPr/>
        </p:nvSpPr>
        <p:spPr>
          <a:xfrm>
            <a:off x="4090670" y="922020"/>
            <a:ext cx="3822700" cy="32766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 anchor="ctr" anchorCtr="0"/>
          <a:p>
            <a:pPr algn="ctr" rtl="0" eaLnBrk="0">
              <a:lnSpc>
                <a:spcPct val="100000"/>
              </a:lnSpc>
            </a:pPr>
            <a:r>
              <a:rPr lang="zh-CN" altLang="en-US" b="1" noProof="0" dirty="0">
                <a:solidFill>
                  <a:srgbClr val="0B4CBB"/>
                </a:solidFill>
                <a:uLnTx/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Calibri" panose="020F0502020204030204" charset="0"/>
              </a:rPr>
              <a:t>主动防御、量化运营</a:t>
            </a:r>
            <a:endParaRPr lang="zh-CN" altLang="en-US" b="1" noProof="0" dirty="0">
              <a:solidFill>
                <a:srgbClr val="0B4CBB"/>
              </a:solidFill>
              <a:uLnTx/>
              <a:latin typeface="Arial" panose="020B0604020202020204" pitchFamily="34" charset="0"/>
              <a:ea typeface="黑体-简" panose="02000000000000000000" charset="-122"/>
              <a:cs typeface="微软雅黑" panose="020B0503020204020204" charset="-122"/>
              <a:sym typeface="Calibri" panose="020F0502020204030204" charset="0"/>
            </a:endParaRPr>
          </a:p>
        </p:txBody>
      </p:sp>
      <p:cxnSp>
        <p:nvCxnSpPr>
          <p:cNvPr id="4" name="直接连接符 3"/>
          <p:cNvCxnSpPr/>
          <p:nvPr/>
        </p:nvCxnSpPr>
        <p:spPr>
          <a:xfrm>
            <a:off x="3302635" y="1244600"/>
            <a:ext cx="5545455" cy="0"/>
          </a:xfrm>
          <a:prstGeom prst="line">
            <a:avLst/>
          </a:prstGeom>
          <a:ln w="28575" cap="flat" cmpd="sng">
            <a:solidFill>
              <a:schemeClr val="accent1">
                <a:shade val="50000"/>
              </a:schemeClr>
            </a:solidFill>
            <a:prstDash val="solid"/>
            <a:miter lim="800000"/>
            <a:headEnd type="none"/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custDataLst>
      <p:tags r:id="rId28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文本框 43"/>
          <p:cNvSpPr txBox="1"/>
          <p:nvPr>
            <p:custDataLst>
              <p:tags r:id="rId1"/>
            </p:custDataLst>
          </p:nvPr>
        </p:nvSpPr>
        <p:spPr>
          <a:xfrm>
            <a:off x="6092825" y="3663315"/>
            <a:ext cx="4703445" cy="42481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p>
            <a:pPr algn="l"/>
            <a:r>
              <a:rPr lang="zh-CN" sz="1600" kern="0" spc="60" dirty="0">
                <a:solidFill>
                  <a:srgbClr val="000000">
                    <a:alpha val="100000"/>
                  </a:srgbClr>
                </a:solidFill>
                <a:latin typeface="Arial Black" panose="020B0A04020102020204" pitchFamily="34" charset="0"/>
                <a:ea typeface="微软雅黑" panose="020B0503020204020204" charset="-122"/>
                <a:cs typeface="黑体" panose="02010609060101010101" charset="-122"/>
                <a:sym typeface="+mn-ea"/>
              </a:rPr>
              <a:t>关键问题与应对思路</a:t>
            </a:r>
            <a:endParaRPr lang="zh-CN" sz="1600" kern="0" spc="60" dirty="0">
              <a:solidFill>
                <a:srgbClr val="000000">
                  <a:alpha val="100000"/>
                </a:srgbClr>
              </a:solidFill>
              <a:latin typeface="Arial Black" panose="020B0A04020102020204" pitchFamily="34" charset="0"/>
              <a:ea typeface="微软雅黑" panose="020B0503020204020204" charset="-122"/>
              <a:cs typeface="黑体" panose="02010609060101010101" charset="-122"/>
              <a:sym typeface="+mn-ea"/>
            </a:endParaRPr>
          </a:p>
        </p:txBody>
      </p:sp>
      <p:sp>
        <p:nvSpPr>
          <p:cNvPr id="4" name="标题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92825" y="2439035"/>
            <a:ext cx="5633720" cy="1224280"/>
          </a:xfrm>
        </p:spPr>
        <p:txBody>
          <a:bodyPr anchor="ctr" anchorCtr="0"/>
          <a:lstStyle/>
          <a:p>
            <a:r>
              <a:rPr lang="zh-CN" altLang="en-US" sz="3200">
                <a:solidFill>
                  <a:srgbClr val="4C61E7"/>
                </a:solidFill>
                <a:latin typeface="Arial Black" panose="020B0A04020102020204" pitchFamily="34" charset="0"/>
                <a:ea typeface="微软雅黑" panose="020B0503020204020204" charset="-122"/>
              </a:rPr>
              <a:t>共同的挑战与应对思路</a:t>
            </a:r>
            <a:endParaRPr lang="zh-CN" altLang="en-US" sz="3200">
              <a:solidFill>
                <a:srgbClr val="4C61E7"/>
              </a:solidFill>
              <a:latin typeface="Arial Black" panose="020B0A04020102020204" pitchFamily="34" charset="0"/>
              <a:ea typeface="微软雅黑" panose="020B0503020204020204" charset="-122"/>
            </a:endParaRPr>
          </a:p>
        </p:txBody>
      </p:sp>
      <p:sp>
        <p:nvSpPr>
          <p:cNvPr id="6" name="节编号"/>
          <p:cNvSpPr>
            <a:spLocks noGrp="1"/>
          </p:cNvSpPr>
          <p:nvPr>
            <p:ph type="body" sz="quarter" idx="13"/>
            <p:custDataLst>
              <p:tags r:id="rId3"/>
            </p:custDataLst>
          </p:nvPr>
        </p:nvSpPr>
        <p:spPr/>
        <p:txBody>
          <a:bodyPr>
            <a:normAutofit lnSpcReduction="20000"/>
          </a:bodyPr>
          <a:lstStyle/>
          <a:p>
            <a:r>
              <a:rPr lang="en-US" altLang="en-US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</a:rPr>
              <a:t>03</a:t>
            </a:r>
            <a:endParaRPr lang="en-US" altLang="en-US">
              <a:solidFill>
                <a:srgbClr val="4C61E7"/>
              </a:solidFill>
              <a:latin typeface="Arial" panose="020B0604020202020204" pitchFamily="34" charset="0"/>
              <a:ea typeface="黑体-简" panose="02000000000000000000" charset="-122"/>
            </a:endParaRPr>
          </a:p>
        </p:txBody>
      </p:sp>
      <p:pic>
        <p:nvPicPr>
          <p:cNvPr id="7" name="图片 6" descr="深信服 + 智安全"/>
          <p:cNvPicPr>
            <a:picLocks noChangeAspect="1"/>
          </p:cNvPicPr>
          <p:nvPr/>
        </p:nvPicPr>
        <p:blipFill>
          <a:blip r:embed="rId4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textbox 158"/>
          <p:cNvSpPr/>
          <p:nvPr/>
        </p:nvSpPr>
        <p:spPr>
          <a:xfrm>
            <a:off x="647700" y="360045"/>
            <a:ext cx="5448300" cy="60007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defTabSz="914400" rtl="0" eaLnBrk="0">
              <a:lnSpc>
                <a:spcPct val="78000"/>
              </a:lnSpc>
              <a:spcBef>
                <a:spcPct val="0"/>
              </a:spcBef>
              <a:spcAft>
                <a:spcPct val="0"/>
              </a:spcAft>
            </a:pPr>
            <a:endParaRPr sz="1900" kern="1200" dirty="0">
              <a:solidFill>
                <a:schemeClr val="tx1"/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  <a:p>
            <a:pPr algn="l" defTabSz="914400" rtl="0" eaLnBrk="0">
              <a:lnSpc>
                <a:spcPct val="101000"/>
              </a:lnSpc>
              <a:spcBef>
                <a:spcPct val="0"/>
              </a:spcBef>
              <a:spcAft>
                <a:spcPct val="0"/>
              </a:spcAft>
            </a:pPr>
            <a:endParaRPr sz="800" kern="1200" dirty="0">
              <a:solidFill>
                <a:schemeClr val="tx1"/>
              </a:solidFill>
              <a:latin typeface="Arial" panose="020B0604020202020204" pitchFamily="34" charset="0"/>
              <a:ea typeface="黑体-简" panose="02000000000000000000" charset="-122"/>
              <a:cs typeface="Arial" panose="020B0604020202020204"/>
              <a:sym typeface="+mn-ea"/>
            </a:endParaRPr>
          </a:p>
          <a:p>
            <a:pPr marL="12700" algn="l" defTabSz="914400" rtl="0" eaLnBrk="0">
              <a:lnSpc>
                <a:spcPct val="92000"/>
              </a:lnSpc>
              <a:spcBef>
                <a:spcPts val="5"/>
              </a:spcBef>
              <a:spcAft>
                <a:spcPct val="0"/>
              </a:spcAft>
            </a:pPr>
            <a:r>
              <a:rPr sz="1000" kern="0" spc="14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从业务价值分析安全挑战</a:t>
            </a:r>
            <a:r>
              <a:rPr lang="zh-CN" sz="1000" kern="0" spc="13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及后续安全工作投入</a:t>
            </a:r>
            <a:r>
              <a:rPr sz="1000" kern="0" spc="13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建议</a:t>
            </a:r>
            <a:endParaRPr lang="zh-CN" altLang="en-US" sz="1000" kern="0" spc="40" dirty="0">
              <a:solidFill>
                <a:srgbClr val="000000">
                  <a:alpha val="100000"/>
                </a:srgbClr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</p:txBody>
      </p:sp>
      <p:pic>
        <p:nvPicPr>
          <p:cNvPr id="9" name="图片 8" descr="深信服 + 智安全"/>
          <p:cNvPicPr>
            <a:picLocks noChangeAspect="1"/>
          </p:cNvPicPr>
          <p:nvPr/>
        </p:nvPicPr>
        <p:blipFill>
          <a:blip r:embed="rId1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  <p:grpSp>
        <p:nvGrpSpPr>
          <p:cNvPr id="6" name="组合 5"/>
          <p:cNvGrpSpPr/>
          <p:nvPr/>
        </p:nvGrpSpPr>
        <p:grpSpPr>
          <a:xfrm rot="0">
            <a:off x="224790" y="306705"/>
            <a:ext cx="369570" cy="266700"/>
            <a:chOff x="533" y="672"/>
            <a:chExt cx="582" cy="420"/>
          </a:xfrm>
        </p:grpSpPr>
        <p:sp>
          <p:nvSpPr>
            <p:cNvPr id="7" name="燕尾形 86"/>
            <p:cNvSpPr/>
            <p:nvPr>
              <p:custDataLst>
                <p:tags r:id="rId2"/>
              </p:custDataLst>
            </p:nvPr>
          </p:nvSpPr>
          <p:spPr>
            <a:xfrm>
              <a:off x="533" y="672"/>
              <a:ext cx="326" cy="421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rgbClr val="006CD9">
                    <a:alpha val="100000"/>
                  </a:srgbClr>
                </a:gs>
                <a:gs pos="100000">
                  <a:srgbClr val="006CD9">
                    <a:alpha val="75000"/>
                  </a:srgbClr>
                </a:gs>
              </a:gsLst>
              <a:lin ang="5400000" scaled="1"/>
            </a:gra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p>
              <a:pPr algn="ctr">
                <a:defRPr sz="1300">
                  <a:latin typeface="+mn-lt"/>
                  <a:ea typeface="+mn-ea"/>
                  <a:cs typeface="+mn-cs"/>
                  <a:sym typeface="Calibri" panose="020F0502020204030204"/>
                </a:defRPr>
              </a:pPr>
              <a:endParaRPr>
                <a:solidFill>
                  <a:srgbClr val="0B4CBB"/>
                </a:solidFill>
              </a:endParaRPr>
            </a:p>
          </p:txBody>
        </p:sp>
        <p:sp>
          <p:nvSpPr>
            <p:cNvPr id="10" name="燕尾形 103"/>
            <p:cNvSpPr/>
            <p:nvPr>
              <p:custDataLst>
                <p:tags r:id="rId3"/>
              </p:custDataLst>
            </p:nvPr>
          </p:nvSpPr>
          <p:spPr>
            <a:xfrm>
              <a:off x="789" y="672"/>
              <a:ext cx="326" cy="421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rgbClr val="70AD47">
                    <a:alpha val="88000"/>
                  </a:srgbClr>
                </a:gs>
                <a:gs pos="100000">
                  <a:schemeClr val="accent6">
                    <a:lumMod val="85000"/>
                    <a:alpha val="63000"/>
                  </a:schemeClr>
                </a:gs>
              </a:gsLst>
              <a:lin ang="16200000" scaled="1"/>
            </a:gra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p>
              <a:pPr algn="ctr">
                <a:defRPr sz="1300">
                  <a:latin typeface="+mn-lt"/>
                  <a:ea typeface="+mn-ea"/>
                  <a:cs typeface="+mn-cs"/>
                  <a:sym typeface="Calibri" panose="020F0502020204030204"/>
                </a:defRPr>
              </a:pPr>
              <a:endParaRPr>
                <a:solidFill>
                  <a:srgbClr val="0B4CBB"/>
                </a:solidFill>
              </a:endParaRPr>
            </a:p>
          </p:txBody>
        </p:sp>
      </p:grpSp>
      <p:sp>
        <p:nvSpPr>
          <p:cNvPr id="11" name="textbox 158"/>
          <p:cNvSpPr/>
          <p:nvPr/>
        </p:nvSpPr>
        <p:spPr>
          <a:xfrm>
            <a:off x="740410" y="347980"/>
            <a:ext cx="5708015" cy="32702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78000"/>
              </a:lnSpc>
            </a:pPr>
            <a:r>
              <a: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rPr>
              <a:t>关键问题分析与解决方案</a:t>
            </a:r>
            <a:endParaRPr lang="zh-CN" altLang="en-US" sz="1900" b="1" noProof="0" dirty="0">
              <a:solidFill>
                <a:schemeClr val="tx1">
                  <a:lumMod val="85000"/>
                  <a:lumOff val="15000"/>
                </a:schemeClr>
              </a:solidFill>
              <a:uLnTx/>
              <a:latin typeface="Arial Black" panose="020B0A04020102020204" pitchFamily="34" charset="0"/>
              <a:ea typeface="微软雅黑" panose="020B0503020204020204" charset="-122"/>
              <a:sym typeface="Calibri" panose="020F0502020204030204" charset="0"/>
            </a:endParaRPr>
          </a:p>
        </p:txBody>
      </p:sp>
      <p:graphicFrame>
        <p:nvGraphicFramePr>
          <p:cNvPr id="16" name="Table 15"/>
          <p:cNvGraphicFramePr>
            <a:graphicFrameLocks noGrp="1"/>
          </p:cNvGraphicFramePr>
          <p:nvPr>
            <p:custDataLst>
              <p:tags r:id="rId4"/>
            </p:custDataLst>
          </p:nvPr>
        </p:nvGraphicFramePr>
        <p:xfrm>
          <a:off x="527050" y="1086485"/>
          <a:ext cx="11205845" cy="5049520"/>
        </p:xfrm>
        <a:graphic>
          <a:graphicData uri="http://schemas.openxmlformats.org/drawingml/2006/table">
            <a:tbl>
              <a:tblPr firstRow="1" firstCol="1" bandRow="1">
                <a:tableStyleId>{5A111915-BE36-4E01-A7E5-04B1672EAD32}</a:tableStyleId>
              </a:tblPr>
              <a:tblGrid>
                <a:gridCol w="822960"/>
                <a:gridCol w="844550"/>
                <a:gridCol w="551815"/>
                <a:gridCol w="2082165"/>
                <a:gridCol w="1869440"/>
                <a:gridCol w="3914140"/>
                <a:gridCol w="1120775"/>
              </a:tblGrid>
              <a:tr h="6565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目标影响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安全隐患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优先级</a:t>
                      </a:r>
                      <a:endParaRPr lang="zh-CN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问题描述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风险影响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安全加固建议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现有进展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</a:tr>
              <a:tr h="4392930">
                <a:tc>
                  <a:txBody>
                    <a:bodyPr/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业务保护</a:t>
                      </a:r>
                      <a:endParaRPr lang="zh-CN" altLang="en-US" sz="1200" b="1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endParaRPr lang="zh-CN" altLang="en-US" sz="1200" b="1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安全监测防护不足</a:t>
                      </a:r>
                      <a:endParaRPr lang="zh-CN" altLang="en-US" sz="1200" b="1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endParaRPr lang="zh-CN" altLang="en-US" sz="1200" b="1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1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重要</a:t>
                      </a:r>
                      <a:endParaRPr lang="zh-CN" altLang="en-US" sz="1200" b="1" dirty="0">
                        <a:solidFill>
                          <a:srgbClr val="FF0000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1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紧急</a:t>
                      </a:r>
                      <a:endParaRPr lang="zh-CN" altLang="en-US" sz="1200" b="1" dirty="0">
                        <a:solidFill>
                          <a:srgbClr val="FF0000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just" rtl="0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 typeface="Arial" panose="020B0604020202020204" pitchFamily="34" charset="0"/>
                        <a:buNone/>
                      </a:pP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1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、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部分业务服务器EDR未安装覆盖（现网</a:t>
                      </a:r>
                      <a:r>
                        <a:rPr lang="en-US" altLang="zh-CN" sz="12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X.X.X.X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服务器网段仍有</a:t>
                      </a:r>
                      <a:r>
                        <a:rPr lang="en-US" altLang="zh-CN" sz="12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XX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台活跃主机未覆盖EDR）</a:t>
                      </a:r>
                      <a:endParaRPr lang="en-US" altLang="zh-CN" sz="1200" dirty="0"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charset="-122"/>
                      </a:endParaRPr>
                    </a:p>
                    <a:p>
                      <a:pPr algn="just" rtl="0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 typeface="Arial" panose="020B0604020202020204" pitchFamily="34" charset="0"/>
                        <a:buNone/>
                      </a:pPr>
                      <a:endParaRPr lang="en-US" altLang="zh-CN" sz="1200" dirty="0"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charset="-122"/>
                      </a:endParaRPr>
                    </a:p>
                    <a:p>
                      <a:pPr algn="just" rtl="0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 typeface="Arial" panose="020B0604020202020204" pitchFamily="34" charset="0"/>
                        <a:buNone/>
                      </a:pP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2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、</a:t>
                      </a:r>
                      <a:r>
                        <a:rPr 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出口防火墙存在较多的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IP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或者域名白名单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charset="-122"/>
                      </a:endParaRPr>
                    </a:p>
                    <a:p>
                      <a:pPr algn="just" rtl="0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 typeface="Arial" panose="020B0604020202020204" pitchFamily="34" charset="0"/>
                        <a:buNone/>
                      </a:pP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charset="-122"/>
                      </a:endParaRPr>
                    </a:p>
                    <a:p>
                      <a:pPr algn="just" rtl="0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 typeface="Arial" panose="020B0604020202020204" pitchFamily="34" charset="0"/>
                        <a:buNone/>
                      </a:pP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3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、</a:t>
                      </a:r>
                      <a:r>
                        <a:rPr lang="en-US" altLang="zh-CN" sz="12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XXX</a:t>
                      </a:r>
                      <a:r>
                        <a:rPr lang="zh-CN" altLang="en-US" sz="12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系统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采用加密传输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marL="25400" indent="0" algn="just" rtl="0" eaLnBrk="0">
                        <a:lnSpc>
                          <a:spcPct val="106000"/>
                        </a:lnSpc>
                        <a:spcBef>
                          <a:spcPts val="130"/>
                        </a:spcBef>
                        <a:buFont typeface="Arial" panose="020B0604020202020204" pitchFamily="34" charset="0"/>
                        <a:buNone/>
                      </a:pPr>
                      <a:r>
                        <a:rPr lang="zh-CN" altLang="en-US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主机防护缺失，业务主机一旦遭受安全攻击，对应的业务可能产生中断、数据泄露。</a:t>
                      </a:r>
                      <a:endParaRPr lang="zh-CN" altLang="en-US" sz="1200" kern="0" spc="-10" dirty="0">
                        <a:solidFill>
                          <a:srgbClr val="000000">
                            <a:alpha val="100000"/>
                          </a:srgbClr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charset="-122"/>
                        <a:sym typeface="+mn-ea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endParaRPr lang="en-US" altLang="zh-CN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1</a:t>
                      </a:r>
                      <a:r>
                        <a:rPr lang="zh-CN" altLang="en-US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、短期直接可落地方案（对齐落地）</a:t>
                      </a:r>
                      <a:endParaRPr lang="en-US" altLang="zh-CN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1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）梳理提供现有覆盖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EDR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的主机清单，梳理现有服务器网段未安装覆盖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EDR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的清单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——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深信服</a:t>
                      </a: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2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）核对推动覆盖业务服务器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EDR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覆盖安装落地。</a:t>
                      </a:r>
                      <a:r>
                        <a:rPr lang="en-US" altLang="zh-CN" sz="1200" b="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</a:rPr>
                        <a:t>——</a:t>
                      </a:r>
                      <a:r>
                        <a:rPr lang="zh-CN" altLang="en-US" sz="1200" b="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</a:rPr>
                        <a:t>客户单位</a:t>
                      </a: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b="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</a:rPr>
                        <a:t>3</a:t>
                      </a:r>
                      <a:r>
                        <a:rPr lang="zh-CN" altLang="en-US" sz="1200" b="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</a:rPr>
                        <a:t>）建议二次核对确认白名单清单，动态确认及调整，无需放置的及时去除</a:t>
                      </a:r>
                      <a:r>
                        <a:rPr lang="en-US" altLang="zh-CN" sz="1200" b="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</a:rPr>
                        <a:t>——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客户单位</a:t>
                      </a: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2</a:t>
                      </a:r>
                      <a:r>
                        <a:rPr lang="zh-CN" altLang="en-US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、长期需要补充方案（待决策）</a:t>
                      </a:r>
                      <a:endParaRPr lang="zh-CN" altLang="en-US" sz="1200" b="1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/</a:t>
                      </a: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endParaRPr lang="en-US" altLang="zh-CN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</a:rPr>
                        <a:t>已梳理待覆盖清单进行二次确认。</a:t>
                      </a: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textbox 158"/>
          <p:cNvSpPr/>
          <p:nvPr/>
        </p:nvSpPr>
        <p:spPr>
          <a:xfrm>
            <a:off x="647700" y="360045"/>
            <a:ext cx="5448300" cy="60007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defTabSz="914400" rtl="0" eaLnBrk="0">
              <a:lnSpc>
                <a:spcPct val="78000"/>
              </a:lnSpc>
              <a:spcBef>
                <a:spcPct val="0"/>
              </a:spcBef>
              <a:spcAft>
                <a:spcPct val="0"/>
              </a:spcAft>
            </a:pPr>
            <a:endParaRPr sz="1900" kern="1200" dirty="0">
              <a:solidFill>
                <a:schemeClr val="tx1"/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  <a:p>
            <a:pPr algn="l" defTabSz="914400" rtl="0" eaLnBrk="0">
              <a:lnSpc>
                <a:spcPct val="101000"/>
              </a:lnSpc>
              <a:spcBef>
                <a:spcPct val="0"/>
              </a:spcBef>
              <a:spcAft>
                <a:spcPct val="0"/>
              </a:spcAft>
            </a:pPr>
            <a:endParaRPr sz="800" kern="1200" dirty="0">
              <a:solidFill>
                <a:schemeClr val="tx1"/>
              </a:solidFill>
              <a:latin typeface="Arial" panose="020B0604020202020204" pitchFamily="34" charset="0"/>
              <a:ea typeface="黑体-简" panose="02000000000000000000" charset="-122"/>
              <a:cs typeface="Arial" panose="020B0604020202020204"/>
              <a:sym typeface="+mn-ea"/>
            </a:endParaRPr>
          </a:p>
          <a:p>
            <a:pPr marL="12700" algn="l" defTabSz="914400" rtl="0" eaLnBrk="0">
              <a:lnSpc>
                <a:spcPct val="92000"/>
              </a:lnSpc>
              <a:spcBef>
                <a:spcPts val="5"/>
              </a:spcBef>
              <a:spcAft>
                <a:spcPct val="0"/>
              </a:spcAft>
            </a:pPr>
            <a:r>
              <a:rPr sz="1000" kern="0" spc="14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从业务价值分析安全挑战</a:t>
            </a:r>
            <a:r>
              <a:rPr lang="zh-CN" sz="1000" kern="0" spc="13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及后续安全工作投入</a:t>
            </a:r>
            <a:r>
              <a:rPr sz="1000" kern="0" spc="13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建议</a:t>
            </a:r>
            <a:endParaRPr lang="zh-CN" altLang="en-US" sz="1000" kern="0" spc="40" dirty="0">
              <a:solidFill>
                <a:srgbClr val="000000">
                  <a:alpha val="100000"/>
                </a:srgbClr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</p:txBody>
      </p:sp>
      <p:pic>
        <p:nvPicPr>
          <p:cNvPr id="9" name="图片 8" descr="深信服 + 智安全"/>
          <p:cNvPicPr>
            <a:picLocks noChangeAspect="1"/>
          </p:cNvPicPr>
          <p:nvPr/>
        </p:nvPicPr>
        <p:blipFill>
          <a:blip r:embed="rId1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  <p:grpSp>
        <p:nvGrpSpPr>
          <p:cNvPr id="6" name="组合 5"/>
          <p:cNvGrpSpPr/>
          <p:nvPr/>
        </p:nvGrpSpPr>
        <p:grpSpPr>
          <a:xfrm rot="0">
            <a:off x="224790" y="306705"/>
            <a:ext cx="369570" cy="266700"/>
            <a:chOff x="533" y="672"/>
            <a:chExt cx="582" cy="420"/>
          </a:xfrm>
        </p:grpSpPr>
        <p:sp>
          <p:nvSpPr>
            <p:cNvPr id="7" name="燕尾形 86"/>
            <p:cNvSpPr/>
            <p:nvPr>
              <p:custDataLst>
                <p:tags r:id="rId2"/>
              </p:custDataLst>
            </p:nvPr>
          </p:nvSpPr>
          <p:spPr>
            <a:xfrm>
              <a:off x="533" y="672"/>
              <a:ext cx="326" cy="421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rgbClr val="006CD9">
                    <a:alpha val="100000"/>
                  </a:srgbClr>
                </a:gs>
                <a:gs pos="100000">
                  <a:srgbClr val="006CD9">
                    <a:alpha val="75000"/>
                  </a:srgbClr>
                </a:gs>
              </a:gsLst>
              <a:lin ang="5400000" scaled="1"/>
            </a:gra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p>
              <a:pPr algn="ctr">
                <a:defRPr sz="1300">
                  <a:latin typeface="+mn-lt"/>
                  <a:ea typeface="+mn-ea"/>
                  <a:cs typeface="+mn-cs"/>
                  <a:sym typeface="Calibri" panose="020F0502020204030204"/>
                </a:defRPr>
              </a:pPr>
              <a:endParaRPr>
                <a:solidFill>
                  <a:srgbClr val="0B4CBB"/>
                </a:solidFill>
              </a:endParaRPr>
            </a:p>
          </p:txBody>
        </p:sp>
        <p:sp>
          <p:nvSpPr>
            <p:cNvPr id="10" name="燕尾形 103"/>
            <p:cNvSpPr/>
            <p:nvPr>
              <p:custDataLst>
                <p:tags r:id="rId3"/>
              </p:custDataLst>
            </p:nvPr>
          </p:nvSpPr>
          <p:spPr>
            <a:xfrm>
              <a:off x="789" y="672"/>
              <a:ext cx="326" cy="421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rgbClr val="70AD47">
                    <a:alpha val="88000"/>
                  </a:srgbClr>
                </a:gs>
                <a:gs pos="100000">
                  <a:schemeClr val="accent6">
                    <a:lumMod val="85000"/>
                    <a:alpha val="63000"/>
                  </a:schemeClr>
                </a:gs>
              </a:gsLst>
              <a:lin ang="16200000" scaled="1"/>
            </a:gra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p>
              <a:pPr algn="ctr">
                <a:defRPr sz="1300">
                  <a:latin typeface="+mn-lt"/>
                  <a:ea typeface="+mn-ea"/>
                  <a:cs typeface="+mn-cs"/>
                  <a:sym typeface="Calibri" panose="020F0502020204030204"/>
                </a:defRPr>
              </a:pPr>
              <a:endParaRPr>
                <a:solidFill>
                  <a:srgbClr val="0B4CBB"/>
                </a:solidFill>
              </a:endParaRPr>
            </a:p>
          </p:txBody>
        </p:sp>
      </p:grpSp>
      <p:sp>
        <p:nvSpPr>
          <p:cNvPr id="11" name="textbox 158"/>
          <p:cNvSpPr/>
          <p:nvPr/>
        </p:nvSpPr>
        <p:spPr>
          <a:xfrm>
            <a:off x="740410" y="347980"/>
            <a:ext cx="5708015" cy="32702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78000"/>
              </a:lnSpc>
            </a:pPr>
            <a:r>
              <a: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rPr>
              <a:t>关键问题分析与解决方案</a:t>
            </a:r>
            <a:endParaRPr lang="zh-CN" altLang="en-US" sz="1900" b="1" noProof="0" dirty="0">
              <a:solidFill>
                <a:schemeClr val="tx1">
                  <a:lumMod val="85000"/>
                  <a:lumOff val="15000"/>
                </a:schemeClr>
              </a:solidFill>
              <a:uLnTx/>
              <a:latin typeface="Arial Black" panose="020B0A04020102020204" pitchFamily="34" charset="0"/>
              <a:ea typeface="微软雅黑" panose="020B0503020204020204" charset="-122"/>
              <a:sym typeface="Calibri" panose="020F0502020204030204" charset="0"/>
            </a:endParaRPr>
          </a:p>
        </p:txBody>
      </p:sp>
      <p:graphicFrame>
        <p:nvGraphicFramePr>
          <p:cNvPr id="16" name="Table 15"/>
          <p:cNvGraphicFramePr>
            <a:graphicFrameLocks noGrp="1"/>
          </p:cNvGraphicFramePr>
          <p:nvPr>
            <p:custDataLst>
              <p:tags r:id="rId4"/>
            </p:custDataLst>
          </p:nvPr>
        </p:nvGraphicFramePr>
        <p:xfrm>
          <a:off x="527050" y="1086485"/>
          <a:ext cx="11205845" cy="5049520"/>
        </p:xfrm>
        <a:graphic>
          <a:graphicData uri="http://schemas.openxmlformats.org/drawingml/2006/table">
            <a:tbl>
              <a:tblPr firstRow="1" firstCol="1" bandRow="1">
                <a:tableStyleId>{5A111915-BE36-4E01-A7E5-04B1672EAD32}</a:tableStyleId>
              </a:tblPr>
              <a:tblGrid>
                <a:gridCol w="833120"/>
                <a:gridCol w="834390"/>
                <a:gridCol w="551815"/>
                <a:gridCol w="2082165"/>
                <a:gridCol w="1869440"/>
                <a:gridCol w="3876040"/>
                <a:gridCol w="1158875"/>
              </a:tblGrid>
              <a:tr h="6565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目标影响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安全隐患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优先级</a:t>
                      </a:r>
                      <a:endParaRPr lang="zh-CN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问题描述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风险影响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安全加固建议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现有进展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</a:tr>
              <a:tr h="4392930">
                <a:tc>
                  <a:txBody>
                    <a:bodyPr/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业务保护</a:t>
                      </a:r>
                      <a:endParaRPr lang="zh-CN" altLang="en-US" sz="1200" b="1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钓鱼和社工病毒威胁感染概率大，人员安全意识待提升</a:t>
                      </a:r>
                      <a:endParaRPr lang="zh-CN" altLang="en-US" sz="1200" b="1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1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重要</a:t>
                      </a:r>
                      <a:endParaRPr lang="zh-CN" altLang="en-US" sz="1200" b="1" dirty="0">
                        <a:solidFill>
                          <a:srgbClr val="FF0000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1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紧急</a:t>
                      </a:r>
                      <a:endParaRPr lang="zh-CN" altLang="en-US" sz="1200" b="1" dirty="0">
                        <a:solidFill>
                          <a:srgbClr val="FF0000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marL="90805" indent="0" algn="l" rtl="0" eaLnBrk="0" fontAlgn="auto">
                        <a:lnSpc>
                          <a:spcPct val="100000"/>
                        </a:lnSpc>
                        <a:spcBef>
                          <a:spcPts val="600"/>
                        </a:spcBef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当季度单位内部存在僵木蠕、钓鱼的威胁事件较为高发（达到</a:t>
                      </a:r>
                      <a:r>
                        <a:rPr lang="en-US" altLang="zh-CN" sz="12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XXX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起，钓鱼存在</a:t>
                      </a:r>
                      <a:r>
                        <a:rPr lang="en-US" altLang="zh-CN" sz="12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XXX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起【</a:t>
                      </a:r>
                      <a:r>
                        <a:rPr lang="en-US" altLang="zh-CN" sz="12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XXX</a:t>
                      </a:r>
                      <a:r>
                        <a:rPr lang="zh-CN" altLang="en-US" sz="12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起是银狐病毒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】），终端感染银狐病毒钓鱼类风险较大，可能持续导致员工的财务损失。</a:t>
                      </a:r>
                      <a:endParaRPr lang="en-US" altLang="zh-CN" sz="1200" dirty="0"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marL="25400" indent="0" algn="just" rtl="0" eaLnBrk="0">
                        <a:lnSpc>
                          <a:spcPct val="106000"/>
                        </a:lnSpc>
                        <a:spcBef>
                          <a:spcPts val="130"/>
                        </a:spcBef>
                        <a:buFont typeface="Arial" panose="020B0604020202020204" pitchFamily="34" charset="0"/>
                        <a:buNone/>
                      </a:pPr>
                      <a:r>
                        <a:rPr lang="en-US" altLang="zh-CN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PC</a:t>
                      </a:r>
                      <a:r>
                        <a:rPr lang="zh-CN" altLang="en-US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终端遭受银狐或者钓鱼攻击，个人员工产生财产损失，主机失陷进而存在横向攻击</a:t>
                      </a:r>
                      <a:r>
                        <a:rPr lang="en-US" altLang="zh-CN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Pacs</a:t>
                      </a:r>
                      <a:r>
                        <a:rPr lang="zh-CN" altLang="en-US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、</a:t>
                      </a:r>
                      <a:r>
                        <a:rPr lang="en-US" altLang="zh-CN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ERAS</a:t>
                      </a:r>
                      <a:r>
                        <a:rPr lang="zh-CN" altLang="en-US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核心业务服务器的风险。</a:t>
                      </a:r>
                      <a:endParaRPr lang="zh-CN" altLang="en-US" sz="1200" kern="0" spc="-10" dirty="0">
                        <a:solidFill>
                          <a:srgbClr val="000000">
                            <a:alpha val="100000"/>
                          </a:srgbClr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charset="-122"/>
                        <a:sym typeface="+mn-ea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1</a:t>
                      </a:r>
                      <a:r>
                        <a:rPr lang="zh-CN" altLang="en-US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、短期直接可落地方案（对齐落地）</a:t>
                      </a:r>
                      <a:endParaRPr lang="en-US" altLang="zh-CN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1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）完善主机定位方案，提供资产清单，通过导入资产清单到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MSS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平台，事件通告可直接定位到资产归属责任人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——</a:t>
                      </a:r>
                      <a:r>
                        <a:rPr lang="zh-CN" altLang="en-US" sz="12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客户单位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&amp;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深信服（已完成）</a:t>
                      </a: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2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）核对推动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PC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主机安装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EDR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及覆盖安装及定期查杀机制落地。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——</a:t>
                      </a:r>
                      <a:r>
                        <a:rPr lang="zh-CN" altLang="en-US" sz="12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客户单位</a:t>
                      </a: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2</a:t>
                      </a:r>
                      <a:r>
                        <a:rPr lang="zh-CN" altLang="en-US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、长期需要补充方案（待决策）</a:t>
                      </a:r>
                      <a:endParaRPr lang="zh-CN" altLang="en-US" sz="1200" b="1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b="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</a:rPr>
                        <a:t>1</a:t>
                      </a:r>
                      <a:r>
                        <a:rPr lang="zh-CN" altLang="en-US" sz="1200" b="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</a:rPr>
                        <a:t>）增加钓鱼演练，模拟实战提升人员安全意识</a:t>
                      </a: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b="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</a:rPr>
                        <a:t>2</a:t>
                      </a:r>
                      <a:r>
                        <a:rPr lang="zh-CN" altLang="en-US" sz="1200" b="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</a:rPr>
                        <a:t>）每年开展增加安全意识培训，提升用户安全意识</a:t>
                      </a:r>
                      <a:endParaRPr lang="en-US" altLang="zh-CN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</a:rPr>
                        <a:t>资产定位方案目前已初步落地。</a:t>
                      </a: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textbox 158"/>
          <p:cNvSpPr/>
          <p:nvPr/>
        </p:nvSpPr>
        <p:spPr>
          <a:xfrm>
            <a:off x="647700" y="360045"/>
            <a:ext cx="5448300" cy="60007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defTabSz="914400" rtl="0" eaLnBrk="0">
              <a:lnSpc>
                <a:spcPct val="78000"/>
              </a:lnSpc>
              <a:spcBef>
                <a:spcPct val="0"/>
              </a:spcBef>
              <a:spcAft>
                <a:spcPct val="0"/>
              </a:spcAft>
            </a:pPr>
            <a:endParaRPr sz="1900" kern="1200" dirty="0">
              <a:solidFill>
                <a:schemeClr val="tx1"/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  <a:p>
            <a:pPr algn="l" defTabSz="914400" rtl="0" eaLnBrk="0">
              <a:lnSpc>
                <a:spcPct val="101000"/>
              </a:lnSpc>
              <a:spcBef>
                <a:spcPct val="0"/>
              </a:spcBef>
              <a:spcAft>
                <a:spcPct val="0"/>
              </a:spcAft>
            </a:pPr>
            <a:endParaRPr sz="800" kern="1200" dirty="0">
              <a:solidFill>
                <a:schemeClr val="tx1"/>
              </a:solidFill>
              <a:latin typeface="Arial" panose="020B0604020202020204" pitchFamily="34" charset="0"/>
              <a:ea typeface="黑体-简" panose="02000000000000000000" charset="-122"/>
              <a:cs typeface="Arial" panose="020B0604020202020204"/>
              <a:sym typeface="+mn-ea"/>
            </a:endParaRPr>
          </a:p>
          <a:p>
            <a:pPr marL="12700" algn="l" defTabSz="914400" rtl="0" eaLnBrk="0">
              <a:lnSpc>
                <a:spcPct val="92000"/>
              </a:lnSpc>
              <a:spcBef>
                <a:spcPts val="5"/>
              </a:spcBef>
              <a:spcAft>
                <a:spcPct val="0"/>
              </a:spcAft>
            </a:pPr>
            <a:r>
              <a:rPr sz="1000" kern="0" spc="14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从业务价值分析安全挑战</a:t>
            </a:r>
            <a:r>
              <a:rPr lang="zh-CN" sz="1000" kern="0" spc="13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及后续安全工作投入</a:t>
            </a:r>
            <a:r>
              <a:rPr sz="1000" kern="0" spc="13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建议</a:t>
            </a:r>
            <a:endParaRPr lang="zh-CN" altLang="en-US" sz="1000" kern="0" spc="40" dirty="0">
              <a:solidFill>
                <a:srgbClr val="000000">
                  <a:alpha val="100000"/>
                </a:srgbClr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</p:txBody>
      </p:sp>
      <p:pic>
        <p:nvPicPr>
          <p:cNvPr id="9" name="图片 8" descr="深信服 + 智安全"/>
          <p:cNvPicPr>
            <a:picLocks noChangeAspect="1"/>
          </p:cNvPicPr>
          <p:nvPr/>
        </p:nvPicPr>
        <p:blipFill>
          <a:blip r:embed="rId1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  <p:grpSp>
        <p:nvGrpSpPr>
          <p:cNvPr id="6" name="组合 5"/>
          <p:cNvGrpSpPr/>
          <p:nvPr/>
        </p:nvGrpSpPr>
        <p:grpSpPr>
          <a:xfrm rot="0">
            <a:off x="224790" y="306705"/>
            <a:ext cx="369570" cy="266700"/>
            <a:chOff x="533" y="672"/>
            <a:chExt cx="582" cy="420"/>
          </a:xfrm>
        </p:grpSpPr>
        <p:sp>
          <p:nvSpPr>
            <p:cNvPr id="7" name="燕尾形 86"/>
            <p:cNvSpPr/>
            <p:nvPr>
              <p:custDataLst>
                <p:tags r:id="rId2"/>
              </p:custDataLst>
            </p:nvPr>
          </p:nvSpPr>
          <p:spPr>
            <a:xfrm>
              <a:off x="533" y="672"/>
              <a:ext cx="326" cy="421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rgbClr val="006CD9">
                    <a:alpha val="100000"/>
                  </a:srgbClr>
                </a:gs>
                <a:gs pos="100000">
                  <a:srgbClr val="006CD9">
                    <a:alpha val="75000"/>
                  </a:srgbClr>
                </a:gs>
              </a:gsLst>
              <a:lin ang="5400000" scaled="1"/>
            </a:gra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p>
              <a:pPr algn="ctr">
                <a:defRPr sz="1300">
                  <a:latin typeface="+mn-lt"/>
                  <a:ea typeface="+mn-ea"/>
                  <a:cs typeface="+mn-cs"/>
                  <a:sym typeface="Calibri" panose="020F0502020204030204"/>
                </a:defRPr>
              </a:pPr>
              <a:endParaRPr>
                <a:solidFill>
                  <a:srgbClr val="0B4CBB"/>
                </a:solidFill>
              </a:endParaRPr>
            </a:p>
          </p:txBody>
        </p:sp>
        <p:sp>
          <p:nvSpPr>
            <p:cNvPr id="10" name="燕尾形 103"/>
            <p:cNvSpPr/>
            <p:nvPr>
              <p:custDataLst>
                <p:tags r:id="rId3"/>
              </p:custDataLst>
            </p:nvPr>
          </p:nvSpPr>
          <p:spPr>
            <a:xfrm>
              <a:off x="789" y="672"/>
              <a:ext cx="326" cy="421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rgbClr val="70AD47">
                    <a:alpha val="88000"/>
                  </a:srgbClr>
                </a:gs>
                <a:gs pos="100000">
                  <a:schemeClr val="accent6">
                    <a:lumMod val="85000"/>
                    <a:alpha val="63000"/>
                  </a:schemeClr>
                </a:gs>
              </a:gsLst>
              <a:lin ang="16200000" scaled="1"/>
            </a:gra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p>
              <a:pPr algn="ctr">
                <a:defRPr sz="1300">
                  <a:latin typeface="+mn-lt"/>
                  <a:ea typeface="+mn-ea"/>
                  <a:cs typeface="+mn-cs"/>
                  <a:sym typeface="Calibri" panose="020F0502020204030204"/>
                </a:defRPr>
              </a:pPr>
              <a:endParaRPr>
                <a:solidFill>
                  <a:srgbClr val="0B4CBB"/>
                </a:solidFill>
              </a:endParaRPr>
            </a:p>
          </p:txBody>
        </p:sp>
      </p:grpSp>
      <p:sp>
        <p:nvSpPr>
          <p:cNvPr id="11" name="textbox 158"/>
          <p:cNvSpPr/>
          <p:nvPr/>
        </p:nvSpPr>
        <p:spPr>
          <a:xfrm>
            <a:off x="740410" y="347980"/>
            <a:ext cx="5708015" cy="32702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78000"/>
              </a:lnSpc>
            </a:pPr>
            <a:r>
              <a: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rPr>
              <a:t>关键问题分析与解决方案</a:t>
            </a:r>
            <a:endParaRPr lang="zh-CN" altLang="en-US" sz="1900" b="1" noProof="0" dirty="0">
              <a:solidFill>
                <a:schemeClr val="tx1">
                  <a:lumMod val="85000"/>
                  <a:lumOff val="15000"/>
                </a:schemeClr>
              </a:solidFill>
              <a:uLnTx/>
              <a:latin typeface="Arial Black" panose="020B0A04020102020204" pitchFamily="34" charset="0"/>
              <a:ea typeface="微软雅黑" panose="020B0503020204020204" charset="-122"/>
              <a:sym typeface="Calibri" panose="020F0502020204030204" charset="0"/>
            </a:endParaRPr>
          </a:p>
        </p:txBody>
      </p:sp>
      <p:graphicFrame>
        <p:nvGraphicFramePr>
          <p:cNvPr id="16" name="Table 15"/>
          <p:cNvGraphicFramePr>
            <a:graphicFrameLocks noGrp="1"/>
          </p:cNvGraphicFramePr>
          <p:nvPr>
            <p:custDataLst>
              <p:tags r:id="rId4"/>
            </p:custDataLst>
          </p:nvPr>
        </p:nvGraphicFramePr>
        <p:xfrm>
          <a:off x="527050" y="1086485"/>
          <a:ext cx="11205845" cy="5049520"/>
        </p:xfrm>
        <a:graphic>
          <a:graphicData uri="http://schemas.openxmlformats.org/drawingml/2006/table">
            <a:tbl>
              <a:tblPr firstRow="1" firstCol="1" bandRow="1">
                <a:tableStyleId>{5A111915-BE36-4E01-A7E5-04B1672EAD32}</a:tableStyleId>
              </a:tblPr>
              <a:tblGrid>
                <a:gridCol w="833120"/>
                <a:gridCol w="1363345"/>
                <a:gridCol w="731520"/>
                <a:gridCol w="1384300"/>
                <a:gridCol w="1858645"/>
                <a:gridCol w="4184015"/>
                <a:gridCol w="850900"/>
              </a:tblGrid>
              <a:tr h="6565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目标影响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安全隐患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优先级</a:t>
                      </a:r>
                      <a:endParaRPr lang="zh-CN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问题描述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风险影响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安全加固建议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现有进展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</a:tr>
              <a:tr h="4392930">
                <a:tc>
                  <a:txBody>
                    <a:bodyPr/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业务保护、重保</a:t>
                      </a:r>
                      <a:endParaRPr lang="zh-CN" altLang="en-US" sz="1200" b="1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当前遗留部分业务（</a:t>
                      </a:r>
                      <a:r>
                        <a:rPr lang="en-US" altLang="zh-CN" sz="1200" b="1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XX</a:t>
                      </a:r>
                      <a:r>
                        <a:rPr lang="zh-CN" altLang="en-US" sz="1200" b="1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系统</a:t>
                      </a:r>
                      <a:r>
                        <a:rPr lang="zh-CN" altLang="en-US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等）存在高危安全漏洞待闭环</a:t>
                      </a:r>
                      <a:endParaRPr lang="en-US" altLang="zh-CN" sz="1200" b="1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1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重要</a:t>
                      </a:r>
                      <a:endParaRPr lang="zh-CN" altLang="en-US" sz="1200" b="1" dirty="0">
                        <a:solidFill>
                          <a:srgbClr val="FF0000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1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紧急</a:t>
                      </a:r>
                      <a:endParaRPr lang="zh-CN" altLang="en-US" sz="1200" b="1" dirty="0">
                        <a:solidFill>
                          <a:srgbClr val="FF0000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marL="25400" algn="just" rtl="0" eaLnBrk="0" fontAlgn="auto">
                        <a:lnSpc>
                          <a:spcPct val="106000"/>
                        </a:lnSpc>
                        <a:spcBef>
                          <a:spcPts val="130"/>
                        </a:spcBef>
                        <a:buClrTx/>
                        <a:buSzTx/>
                        <a:buFont typeface="Arial" panose="020B0604020202020204" pitchFamily="34" charset="0"/>
                      </a:pPr>
                      <a:r>
                        <a:rPr lang="zh-CN" altLang="en-US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当前遗留存在</a:t>
                      </a:r>
                      <a:r>
                        <a:rPr lang="en-US" altLang="zh-CN" sz="1200" kern="0" spc="-10" dirty="0">
                          <a:solidFill>
                            <a:srgbClr val="4C61E7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XX</a:t>
                      </a:r>
                      <a:r>
                        <a:rPr lang="zh-CN" altLang="en-US" sz="1200" kern="0" spc="-10" dirty="0">
                          <a:solidFill>
                            <a:srgbClr val="4C61E7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个</a:t>
                      </a:r>
                      <a:r>
                        <a:rPr lang="zh-CN" altLang="en-US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高危漏洞（</a:t>
                      </a:r>
                      <a:r>
                        <a:rPr lang="en-US" altLang="zh-CN" sz="1200" b="1" kern="0" spc="-10" dirty="0">
                          <a:solidFill>
                            <a:srgbClr val="4C61E7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XX</a:t>
                      </a:r>
                      <a:r>
                        <a:rPr lang="zh-CN" altLang="en-US" sz="1200" b="1" kern="0" spc="-10" dirty="0">
                          <a:solidFill>
                            <a:srgbClr val="4C61E7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系统</a:t>
                      </a:r>
                      <a:r>
                        <a:rPr lang="zh-CN" altLang="en-US" sz="1200" b="1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等业务）</a:t>
                      </a:r>
                      <a:r>
                        <a:rPr lang="zh-CN" altLang="en-US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，其中包含</a:t>
                      </a:r>
                      <a:r>
                        <a:rPr lang="en-US" altLang="zh-CN" sz="1200" kern="0" spc="-10" dirty="0">
                          <a:solidFill>
                            <a:srgbClr val="4C61E7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XX</a:t>
                      </a:r>
                      <a:r>
                        <a:rPr lang="zh-CN" altLang="en-US" sz="1200" kern="0" spc="-10" dirty="0">
                          <a:solidFill>
                            <a:srgbClr val="4C61E7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个</a:t>
                      </a:r>
                      <a:r>
                        <a:rPr lang="zh-CN" altLang="en-US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高危可利用漏洞（</a:t>
                      </a:r>
                      <a:r>
                        <a:rPr lang="en-US" altLang="zh-CN" sz="1200" kern="0" spc="-10" dirty="0">
                          <a:solidFill>
                            <a:srgbClr val="4C61E7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XX</a:t>
                      </a:r>
                      <a:r>
                        <a:rPr lang="zh-CN" altLang="en-US" sz="1200" kern="0" spc="-10" dirty="0">
                          <a:solidFill>
                            <a:srgbClr val="4C61E7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个</a:t>
                      </a:r>
                      <a:r>
                        <a:rPr lang="zh-CN" altLang="en-US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已防护）</a:t>
                      </a:r>
                      <a:endParaRPr lang="zh-CN" altLang="en-US" sz="1200" kern="0" spc="-10" dirty="0">
                        <a:solidFill>
                          <a:srgbClr val="000000">
                            <a:alpha val="100000"/>
                          </a:srgbClr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marL="25400" indent="0" algn="just" rtl="0" eaLnBrk="0">
                        <a:lnSpc>
                          <a:spcPct val="106000"/>
                        </a:lnSpc>
                        <a:spcBef>
                          <a:spcPts val="130"/>
                        </a:spcBef>
                        <a:buFont typeface="Arial" panose="020B0604020202020204" pitchFamily="34" charset="0"/>
                        <a:buNone/>
                      </a:pPr>
                      <a:r>
                        <a:rPr lang="zh-CN" altLang="en-US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外网主机（</a:t>
                      </a:r>
                      <a:r>
                        <a:rPr lang="zh-CN" altLang="en-US" sz="1200" b="1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如</a:t>
                      </a:r>
                      <a:r>
                        <a:rPr lang="en-US" altLang="zh-CN" sz="1200" b="1" kern="0" spc="-10" dirty="0">
                          <a:solidFill>
                            <a:srgbClr val="4C61E7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XX</a:t>
                      </a:r>
                      <a:r>
                        <a:rPr lang="zh-CN" altLang="en-US" sz="1200" b="1" kern="0" spc="-10" dirty="0">
                          <a:solidFill>
                            <a:srgbClr val="4C61E7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系统</a:t>
                      </a:r>
                      <a:r>
                        <a:rPr lang="zh-CN" altLang="en-US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）存在的高危漏洞一旦被攻击利用，进而形成跳板对内网的</a:t>
                      </a:r>
                      <a:r>
                        <a:rPr lang="en-US" altLang="zh-CN" sz="1200" kern="0" spc="-10" dirty="0">
                          <a:solidFill>
                            <a:srgbClr val="4C61E7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XXX</a:t>
                      </a:r>
                      <a:r>
                        <a:rPr lang="zh-CN" altLang="en-US" sz="1200" kern="0" spc="-10" dirty="0">
                          <a:solidFill>
                            <a:srgbClr val="4C61E7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核心系统</a:t>
                      </a:r>
                      <a:r>
                        <a:rPr lang="zh-CN" altLang="en-US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进行攻击，可能产生相关业务中断、数据泄露。</a:t>
                      </a:r>
                      <a:endParaRPr lang="zh-CN" altLang="en-US" sz="1200" kern="0" spc="-10" dirty="0">
                        <a:solidFill>
                          <a:srgbClr val="000000">
                            <a:alpha val="100000"/>
                          </a:srgbClr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charset="-122"/>
                        <a:sym typeface="+mn-ea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1</a:t>
                      </a:r>
                      <a:r>
                        <a:rPr lang="zh-CN" altLang="en-US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、短期直接可落地方案（对齐落地）</a:t>
                      </a:r>
                      <a:endParaRPr lang="en-US" altLang="zh-CN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1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）围绕业务核心程度、是否对外、漏洞等级、修复难度，进一步提供修复优先级的漏洞清单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——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深信服</a:t>
                      </a: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2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）根据修复落地漏洞清单，对齐修复方案和落地计划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——</a:t>
                      </a:r>
                      <a:r>
                        <a:rPr lang="zh-CN" altLang="en-US" sz="12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客户单位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&amp;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深信服</a:t>
                      </a:r>
                      <a:endParaRPr lang="en-US" altLang="zh-CN" sz="120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    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修复方案参考：修改配置（如</a:t>
                      </a:r>
                      <a:r>
                        <a:rPr lang="en-US" altLang="zh-CN" sz="12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XXX</a:t>
                      </a:r>
                      <a:r>
                        <a:rPr lang="zh-CN" altLang="en-US" sz="12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系统的未授权漏洞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）、漏洞补丁升级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&gt;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防火墙策略防护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&gt;EDR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轻补丁防护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&gt;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端口策略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3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）按照方案落地修复，反馈给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MSS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团队进行漏洞复测闭环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——</a:t>
                      </a:r>
                      <a:r>
                        <a:rPr lang="zh-CN" altLang="en-US" sz="12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客户单位</a:t>
                      </a: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2</a:t>
                      </a:r>
                      <a:r>
                        <a:rPr lang="zh-CN" altLang="en-US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、长期需要补充方案（待决策）</a:t>
                      </a:r>
                      <a:endParaRPr lang="zh-CN" altLang="en-US" sz="1200" b="1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b="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</a:rPr>
                        <a:t>/</a:t>
                      </a:r>
                      <a:endParaRPr lang="en-US" altLang="zh-CN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b="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</a:rPr>
                        <a:t>/</a:t>
                      </a:r>
                      <a:endParaRPr lang="en-US" altLang="zh-CN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文本框 43"/>
          <p:cNvSpPr txBox="1"/>
          <p:nvPr>
            <p:custDataLst>
              <p:tags r:id="rId1"/>
            </p:custDataLst>
          </p:nvPr>
        </p:nvSpPr>
        <p:spPr>
          <a:xfrm>
            <a:off x="6092825" y="3663315"/>
            <a:ext cx="4703445" cy="42481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p>
            <a:pPr algn="l"/>
            <a:r>
              <a:rPr lang="zh-CN" altLang="en-US" sz="1600" kern="0" spc="60" dirty="0">
                <a:solidFill>
                  <a:schemeClr val="dk1"/>
                </a:solidFill>
                <a:effectLst/>
                <a:uFillTx/>
                <a:latin typeface="Arial Black" panose="020B0A04020102020204" pitchFamily="34" charset="0"/>
                <a:ea typeface="微软雅黑" panose="020B0503020204020204" charset="-122"/>
                <a:cs typeface="黑体" panose="02010609060101010101" charset="-122"/>
                <a:sym typeface="+mn-ea"/>
              </a:rPr>
              <a:t>共同的目标与行动计划刷新</a:t>
            </a:r>
            <a:endParaRPr lang="zh-CN" altLang="en-US" sz="1600" b="0" u="none" strike="noStrike" kern="0" spc="60" dirty="0">
              <a:solidFill>
                <a:schemeClr val="dk1"/>
              </a:solidFill>
              <a:effectLst/>
              <a:uFillTx/>
              <a:latin typeface="Arial Black" panose="020B0A04020102020204" pitchFamily="34" charset="0"/>
              <a:ea typeface="微软雅黑" panose="020B0503020204020204" charset="-122"/>
              <a:cs typeface="黑体" panose="02010609060101010101" charset="-122"/>
              <a:sym typeface="+mn-ea"/>
            </a:endParaRPr>
          </a:p>
        </p:txBody>
      </p:sp>
      <p:sp>
        <p:nvSpPr>
          <p:cNvPr id="4" name="标题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92825" y="2439035"/>
            <a:ext cx="5633720" cy="1224280"/>
          </a:xfrm>
        </p:spPr>
        <p:txBody>
          <a:bodyPr anchor="ctr" anchorCtr="0">
            <a:normAutofit/>
          </a:bodyPr>
          <a:lstStyle/>
          <a:p>
            <a:r>
              <a:rPr lang="zh-CN" altLang="en-US" sz="3200">
                <a:solidFill>
                  <a:srgbClr val="4C61E7"/>
                </a:solidFill>
                <a:latin typeface="Arial Black" panose="020B0A04020102020204" pitchFamily="34" charset="0"/>
                <a:ea typeface="微软雅黑" panose="020B0503020204020204" charset="-122"/>
                <a:sym typeface="+mn-ea"/>
              </a:rPr>
              <a:t>下阶段目标与协作计划</a:t>
            </a:r>
            <a:endParaRPr lang="zh-CN" altLang="en-US" sz="3200">
              <a:solidFill>
                <a:srgbClr val="4C61E7"/>
              </a:solidFill>
              <a:latin typeface="Arial Black" panose="020B0A04020102020204" pitchFamily="34" charset="0"/>
              <a:ea typeface="微软雅黑" panose="020B0503020204020204" charset="-122"/>
            </a:endParaRPr>
          </a:p>
        </p:txBody>
      </p:sp>
      <p:sp>
        <p:nvSpPr>
          <p:cNvPr id="6" name="节编号"/>
          <p:cNvSpPr>
            <a:spLocks noGrp="1"/>
          </p:cNvSpPr>
          <p:nvPr>
            <p:ph type="body" sz="quarter" idx="13"/>
            <p:custDataLst>
              <p:tags r:id="rId3"/>
            </p:custDataLst>
          </p:nvPr>
        </p:nvSpPr>
        <p:spPr/>
        <p:txBody>
          <a:bodyPr>
            <a:normAutofit lnSpcReduction="20000"/>
          </a:bodyPr>
          <a:lstStyle/>
          <a:p>
            <a:r>
              <a:rPr lang="en-US" altLang="en-US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</a:rPr>
              <a:t>04</a:t>
            </a:r>
            <a:endParaRPr lang="en-US" altLang="en-US">
              <a:solidFill>
                <a:srgbClr val="4C61E7"/>
              </a:solidFill>
              <a:latin typeface="Arial" panose="020B0604020202020204" pitchFamily="34" charset="0"/>
              <a:ea typeface="黑体-简" panose="02000000000000000000" charset="-122"/>
            </a:endParaRPr>
          </a:p>
        </p:txBody>
      </p:sp>
      <p:pic>
        <p:nvPicPr>
          <p:cNvPr id="7" name="图片 6" descr="深信服 + 智安全"/>
          <p:cNvPicPr>
            <a:picLocks noChangeAspect="1"/>
          </p:cNvPicPr>
          <p:nvPr/>
        </p:nvPicPr>
        <p:blipFill>
          <a:blip r:embed="rId4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10363200" y="219456"/>
            <a:ext cx="1463040" cy="609600"/>
          </a:xfrm>
          <a:prstGeom prst="roundRect">
            <a:avLst>
              <a:gd name="adj" fmla="val 10000"/>
            </a:avLst>
          </a:prstGeom>
          <a:solidFill>
            <a:srgbClr val="FFFFFF">
              <a:alpha val="15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10363200" y="219456"/>
            <a:ext cx="146304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3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深信服</a:t>
            </a:r>
            <a:endParaRPr lang="en-US" sz="1335" dirty="0"/>
          </a:p>
        </p:txBody>
      </p:sp>
      <p:grpSp>
        <p:nvGrpSpPr>
          <p:cNvPr id="2" name="组合 1"/>
          <p:cNvGrpSpPr/>
          <p:nvPr/>
        </p:nvGrpSpPr>
        <p:grpSpPr>
          <a:xfrm>
            <a:off x="224790" y="289878"/>
            <a:ext cx="6011545" cy="327025"/>
            <a:chOff x="533" y="646"/>
            <a:chExt cx="9467" cy="515"/>
          </a:xfrm>
        </p:grpSpPr>
        <p:grpSp>
          <p:nvGrpSpPr>
            <p:cNvPr id="3" name="组合 2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4" name="燕尾形 86"/>
              <p:cNvSpPr/>
              <p:nvPr>
                <p:custDataLst>
                  <p:tags r:id="rId1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8" name="燕尾形 103"/>
              <p:cNvSpPr/>
              <p:nvPr>
                <p:custDataLst>
                  <p:tags r:id="rId2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24" name="textbox 158"/>
            <p:cNvSpPr/>
            <p:nvPr/>
          </p:nvSpPr>
          <p:spPr>
            <a:xfrm>
              <a:off x="1345" y="646"/>
              <a:ext cx="8655" cy="51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p>
              <a:pPr algn="l" rtl="0" eaLnBrk="0">
                <a:lnSpc>
                  <a:spcPct val="78000"/>
                </a:lnSpc>
              </a:pPr>
              <a:endParaRPr sz="1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  <a:ea typeface="微软雅黑" panose="020B0503020204020204" charset="-122"/>
                <a:cs typeface="Arial" panose="020B0604020202020204"/>
              </a:endParaRPr>
            </a:p>
            <a:p>
              <a:pPr algn="l" rtl="0" eaLnBrk="0">
                <a:lnSpc>
                  <a:spcPct val="101000"/>
                </a:lnSpc>
              </a:pPr>
              <a:r>
                <a:rPr lang="zh-CN" altLang="en-US" sz="1900" b="1" noProof="0" dirty="0">
                  <a:solidFill>
                    <a:schemeClr val="tx1">
                      <a:lumMod val="85000"/>
                      <a:lumOff val="15000"/>
                    </a:schemeClr>
                  </a:solidFill>
                  <a:uLnTx/>
                  <a:latin typeface="Arial Black" panose="020B0A04020102020204" pitchFamily="34" charset="0"/>
                  <a:ea typeface="微软雅黑" panose="020B0503020204020204" charset="-122"/>
                  <a:sym typeface="Calibri" panose="020F0502020204030204" charset="0"/>
                </a:rPr>
                <a:t>三年演进路线</a:t>
              </a:r>
              <a:endPara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endParaRPr>
            </a:p>
          </p:txBody>
        </p:sp>
      </p:grpSp>
      <p:pic>
        <p:nvPicPr>
          <p:cNvPr id="26" name="图片 25" descr="深信服 + 智安全"/>
          <p:cNvPicPr>
            <a:picLocks noChangeAspect="1"/>
          </p:cNvPicPr>
          <p:nvPr/>
        </p:nvPicPr>
        <p:blipFill>
          <a:blip r:embed="rId3"/>
          <a:srcRect l="5232" t="26576" r="4938" b="29565"/>
          <a:stretch>
            <a:fillRect/>
          </a:stretch>
        </p:blipFill>
        <p:spPr>
          <a:xfrm>
            <a:off x="10330815" y="273073"/>
            <a:ext cx="1629867" cy="360000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609600" y="1323340"/>
            <a:ext cx="3413760" cy="4632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162438"/>
                </a:solidFill>
              </a14:hiddenFill>
            </a:ext>
          </a:extLst>
        </p:spPr>
      </p:sp>
      <p:sp>
        <p:nvSpPr>
          <p:cNvPr id="12" name="Shape 6"/>
          <p:cNvSpPr/>
          <p:nvPr/>
        </p:nvSpPr>
        <p:spPr>
          <a:xfrm>
            <a:off x="609600" y="1323340"/>
            <a:ext cx="3413760" cy="48768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13" name="Text 7"/>
          <p:cNvSpPr/>
          <p:nvPr/>
        </p:nvSpPr>
        <p:spPr>
          <a:xfrm>
            <a:off x="792480" y="1567180"/>
            <a:ext cx="3048000" cy="8534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735" b="1" dirty="0">
                <a:solidFill>
                  <a:srgbClr val="10B98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阶段一</a:t>
            </a:r>
            <a:endParaRPr lang="en-US" sz="1735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735" b="1" dirty="0">
                <a:solidFill>
                  <a:srgbClr val="10B98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互联网防线</a:t>
            </a:r>
            <a:endParaRPr lang="en-US" sz="1735" dirty="0"/>
          </a:p>
        </p:txBody>
      </p:sp>
      <p:sp>
        <p:nvSpPr>
          <p:cNvPr id="14" name="Text 8"/>
          <p:cNvSpPr/>
          <p:nvPr/>
        </p:nvSpPr>
        <p:spPr>
          <a:xfrm>
            <a:off x="792480" y="2481580"/>
            <a:ext cx="30480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第1-12月</a:t>
            </a:r>
            <a:endParaRPr lang="en-US" sz="1335" dirty="0"/>
          </a:p>
        </p:txBody>
      </p:sp>
      <p:sp>
        <p:nvSpPr>
          <p:cNvPr id="15" name="Text 9"/>
          <p:cNvSpPr/>
          <p:nvPr/>
        </p:nvSpPr>
        <p:spPr>
          <a:xfrm>
            <a:off x="792480" y="2969260"/>
            <a:ext cx="3048000" cy="304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覆盖范围</a:t>
            </a:r>
            <a:endParaRPr lang="en-US" sz="1065" dirty="0"/>
          </a:p>
        </p:txBody>
      </p:sp>
      <p:sp>
        <p:nvSpPr>
          <p:cNvPr id="16" name="Text 10"/>
          <p:cNvSpPr/>
          <p:nvPr/>
        </p:nvSpPr>
        <p:spPr>
          <a:xfrm>
            <a:off x="792480" y="3213100"/>
            <a:ext cx="3048000" cy="426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20个互联网暴露资产</a:t>
            </a:r>
            <a:endParaRPr lang="en-US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17" name="Text 11"/>
          <p:cNvSpPr/>
          <p:nvPr/>
        </p:nvSpPr>
        <p:spPr>
          <a:xfrm>
            <a:off x="792480" y="3700780"/>
            <a:ext cx="3048000" cy="304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核心能力</a:t>
            </a:r>
            <a:endParaRPr lang="en-US" sz="1065" dirty="0"/>
          </a:p>
        </p:txBody>
      </p:sp>
      <p:sp>
        <p:nvSpPr>
          <p:cNvPr id="18" name="Text 12"/>
          <p:cNvSpPr/>
          <p:nvPr/>
        </p:nvSpPr>
        <p:spPr>
          <a:xfrm>
            <a:off x="792480" y="3944620"/>
            <a:ext cx="30480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zh-CN" altLang="en-US" sz="1200" dirty="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高风险入侵路径</a:t>
            </a:r>
            <a:r>
              <a:rPr lang="en-US" sz="1200" dirty="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流量监控+威胁检测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7×24运营+季度报告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792480" y="4798060"/>
            <a:ext cx="3048000" cy="304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投入产出</a:t>
            </a:r>
            <a:endParaRPr lang="en-US" sz="1065" dirty="0"/>
          </a:p>
        </p:txBody>
      </p:sp>
      <p:sp>
        <p:nvSpPr>
          <p:cNvPr id="20" name="Text 14"/>
          <p:cNvSpPr/>
          <p:nvPr/>
        </p:nvSpPr>
        <p:spPr>
          <a:xfrm>
            <a:off x="792480" y="5041900"/>
            <a:ext cx="3048000" cy="6705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0B98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最高ROI：80%攻击从互联网入口来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4389120" y="1323340"/>
            <a:ext cx="3413760" cy="4632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162438"/>
                </a:solidFill>
              </a14:hiddenFill>
            </a:ext>
          </a:extLst>
        </p:spPr>
      </p:sp>
      <p:sp>
        <p:nvSpPr>
          <p:cNvPr id="22" name="Shape 16"/>
          <p:cNvSpPr/>
          <p:nvPr/>
        </p:nvSpPr>
        <p:spPr>
          <a:xfrm>
            <a:off x="4389120" y="1323340"/>
            <a:ext cx="3413760" cy="48768"/>
          </a:xfrm>
          <a:prstGeom prst="rect">
            <a:avLst/>
          </a:prstGeom>
          <a:solidFill>
            <a:srgbClr val="0D7C66"/>
          </a:solidFill>
        </p:spPr>
      </p:sp>
      <p:sp>
        <p:nvSpPr>
          <p:cNvPr id="23" name="Text 17"/>
          <p:cNvSpPr/>
          <p:nvPr/>
        </p:nvSpPr>
        <p:spPr>
          <a:xfrm>
            <a:off x="4572000" y="1567180"/>
            <a:ext cx="3048000" cy="8534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735" b="1" dirty="0">
                <a:solidFill>
                  <a:srgbClr val="0D7C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阶段二</a:t>
            </a:r>
            <a:endParaRPr lang="en-US" sz="1735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735" b="1" dirty="0">
                <a:solidFill>
                  <a:srgbClr val="0D7C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内外联动</a:t>
            </a:r>
            <a:endParaRPr lang="en-US" sz="1735" dirty="0"/>
          </a:p>
        </p:txBody>
      </p:sp>
      <p:sp>
        <p:nvSpPr>
          <p:cNvPr id="25" name="Text 18"/>
          <p:cNvSpPr/>
          <p:nvPr/>
        </p:nvSpPr>
        <p:spPr>
          <a:xfrm>
            <a:off x="4572000" y="2481580"/>
            <a:ext cx="30480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第12-24月</a:t>
            </a:r>
            <a:endParaRPr lang="en-US" sz="1335" dirty="0"/>
          </a:p>
        </p:txBody>
      </p:sp>
      <p:sp>
        <p:nvSpPr>
          <p:cNvPr id="27" name="Text 19"/>
          <p:cNvSpPr/>
          <p:nvPr/>
        </p:nvSpPr>
        <p:spPr>
          <a:xfrm>
            <a:off x="4572000" y="2969260"/>
            <a:ext cx="3048000" cy="304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覆盖范围</a:t>
            </a:r>
            <a:endParaRPr lang="en-US" sz="1065" dirty="0"/>
          </a:p>
        </p:txBody>
      </p:sp>
      <p:sp>
        <p:nvSpPr>
          <p:cNvPr id="28" name="Text 20"/>
          <p:cNvSpPr/>
          <p:nvPr/>
        </p:nvSpPr>
        <p:spPr>
          <a:xfrm>
            <a:off x="4572000" y="3213100"/>
            <a:ext cx="3048000" cy="426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+内外网边界+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外网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办公终端</a:t>
            </a:r>
            <a:endParaRPr lang="zh-CN" altLang="en-US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29" name="Text 21"/>
          <p:cNvSpPr/>
          <p:nvPr/>
        </p:nvSpPr>
        <p:spPr>
          <a:xfrm>
            <a:off x="4572000" y="3700780"/>
            <a:ext cx="3048000" cy="304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核心能力</a:t>
            </a:r>
            <a:endParaRPr lang="en-US" sz="1065" dirty="0"/>
          </a:p>
        </p:txBody>
      </p:sp>
      <p:sp>
        <p:nvSpPr>
          <p:cNvPr id="30" name="Text 22"/>
          <p:cNvSpPr/>
          <p:nvPr/>
        </p:nvSpPr>
        <p:spPr>
          <a:xfrm>
            <a:off x="4572000" y="3944620"/>
            <a:ext cx="30480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zh-CN" altLang="en-US" sz="1200" dirty="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钓鱼</a:t>
            </a:r>
            <a:r>
              <a:rPr lang="zh-CN" altLang="en-US" sz="1200" dirty="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攻击主动发现</a:t>
            </a:r>
            <a:r>
              <a:rPr lang="en-US" sz="1200" dirty="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+横向移动检测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联调联处</a:t>
            </a:r>
            <a:endParaRPr lang="en-US" sz="1200" dirty="0"/>
          </a:p>
        </p:txBody>
      </p:sp>
      <p:sp>
        <p:nvSpPr>
          <p:cNvPr id="31" name="Text 23"/>
          <p:cNvSpPr/>
          <p:nvPr/>
        </p:nvSpPr>
        <p:spPr>
          <a:xfrm>
            <a:off x="4572000" y="4798060"/>
            <a:ext cx="3048000" cy="304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投入产出</a:t>
            </a:r>
            <a:endParaRPr lang="en-US" sz="1065" dirty="0"/>
          </a:p>
        </p:txBody>
      </p:sp>
      <p:sp>
        <p:nvSpPr>
          <p:cNvPr id="32" name="Text 24"/>
          <p:cNvSpPr/>
          <p:nvPr/>
        </p:nvSpPr>
        <p:spPr>
          <a:xfrm>
            <a:off x="4572000" y="5041900"/>
            <a:ext cx="3048000" cy="6705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0B98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消除盲区：</a:t>
            </a:r>
            <a:r>
              <a:rPr lang="zh-CN" altLang="en-US" sz="1200" dirty="0">
                <a:solidFill>
                  <a:srgbClr val="10B98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高风险入侵路径全面</a:t>
            </a:r>
            <a:r>
              <a:rPr lang="zh-CN" altLang="en-US" sz="1200" dirty="0">
                <a:solidFill>
                  <a:srgbClr val="10B98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覆盖</a:t>
            </a:r>
            <a:endParaRPr lang="zh-CN" altLang="en-US" sz="1200" dirty="0">
              <a:solidFill>
                <a:srgbClr val="10B98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33" name="Shape 25"/>
          <p:cNvSpPr/>
          <p:nvPr/>
        </p:nvSpPr>
        <p:spPr>
          <a:xfrm>
            <a:off x="8168640" y="1323340"/>
            <a:ext cx="3413760" cy="4632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162438"/>
                </a:solidFill>
              </a14:hiddenFill>
            </a:ext>
          </a:extLst>
        </p:spPr>
      </p:sp>
      <p:sp>
        <p:nvSpPr>
          <p:cNvPr id="34" name="Shape 26"/>
          <p:cNvSpPr/>
          <p:nvPr/>
        </p:nvSpPr>
        <p:spPr>
          <a:xfrm>
            <a:off x="8168640" y="1323340"/>
            <a:ext cx="3413760" cy="48768"/>
          </a:xfrm>
          <a:prstGeom prst="rect">
            <a:avLst/>
          </a:prstGeom>
          <a:solidFill>
            <a:srgbClr val="0A2E4D"/>
          </a:solidFill>
        </p:spPr>
      </p:sp>
      <p:sp>
        <p:nvSpPr>
          <p:cNvPr id="35" name="Text 27"/>
          <p:cNvSpPr/>
          <p:nvPr/>
        </p:nvSpPr>
        <p:spPr>
          <a:xfrm>
            <a:off x="8351520" y="1567180"/>
            <a:ext cx="3048000" cy="8534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735" b="1" dirty="0">
                <a:solidFill>
                  <a:srgbClr val="0A2E4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阶段三</a:t>
            </a:r>
            <a:endParaRPr lang="en-US" sz="1735" dirty="0"/>
          </a:p>
          <a:p>
            <a:pPr marL="0" indent="0">
              <a:lnSpc>
                <a:spcPct val="120000"/>
              </a:lnSpc>
              <a:buNone/>
            </a:pPr>
            <a:r>
              <a:rPr lang="zh-CN" altLang="en-US" sz="1735" b="1" dirty="0">
                <a:solidFill>
                  <a:srgbClr val="0A2E4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全网</a:t>
            </a:r>
            <a:r>
              <a:rPr lang="en-US" sz="1735" b="1" dirty="0">
                <a:solidFill>
                  <a:srgbClr val="0A2E4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一体化</a:t>
            </a:r>
            <a:endParaRPr lang="en-US" sz="1735" dirty="0"/>
          </a:p>
        </p:txBody>
      </p:sp>
      <p:sp>
        <p:nvSpPr>
          <p:cNvPr id="36" name="Text 28"/>
          <p:cNvSpPr/>
          <p:nvPr/>
        </p:nvSpPr>
        <p:spPr>
          <a:xfrm>
            <a:off x="8351520" y="2481580"/>
            <a:ext cx="30480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第24-36月</a:t>
            </a:r>
            <a:endParaRPr lang="en-US" sz="1335" dirty="0"/>
          </a:p>
        </p:txBody>
      </p:sp>
      <p:sp>
        <p:nvSpPr>
          <p:cNvPr id="37" name="Text 29"/>
          <p:cNvSpPr/>
          <p:nvPr/>
        </p:nvSpPr>
        <p:spPr>
          <a:xfrm>
            <a:off x="8351520" y="2969260"/>
            <a:ext cx="3048000" cy="304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覆盖范围</a:t>
            </a:r>
            <a:endParaRPr lang="en-US" sz="1065" dirty="0"/>
          </a:p>
        </p:txBody>
      </p:sp>
      <p:sp>
        <p:nvSpPr>
          <p:cNvPr id="38" name="Text 30"/>
          <p:cNvSpPr/>
          <p:nvPr/>
        </p:nvSpPr>
        <p:spPr>
          <a:xfrm>
            <a:off x="8351520" y="3213100"/>
            <a:ext cx="3048000" cy="426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全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网</a:t>
            </a:r>
            <a:r>
              <a:rPr 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IT资产</a:t>
            </a:r>
            <a:endParaRPr lang="en-US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39" name="Text 31"/>
          <p:cNvSpPr/>
          <p:nvPr/>
        </p:nvSpPr>
        <p:spPr>
          <a:xfrm>
            <a:off x="8351520" y="3700780"/>
            <a:ext cx="3048000" cy="304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核心能力</a:t>
            </a:r>
            <a:endParaRPr lang="en-US" sz="1065" dirty="0"/>
          </a:p>
        </p:txBody>
      </p:sp>
      <p:sp>
        <p:nvSpPr>
          <p:cNvPr id="40" name="Text 32"/>
          <p:cNvSpPr/>
          <p:nvPr/>
        </p:nvSpPr>
        <p:spPr>
          <a:xfrm>
            <a:off x="8351520" y="3944620"/>
            <a:ext cx="30480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SOAR编排+</a:t>
            </a:r>
            <a:r>
              <a:rPr lang="zh-CN" altLang="en-US" sz="1200" dirty="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量化运营</a:t>
            </a:r>
            <a:r>
              <a:rPr lang="en-US" altLang="zh-CN" sz="1200" dirty="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+</a:t>
            </a:r>
            <a:r>
              <a:rPr lang="zh-CN" altLang="en-US" sz="1200" dirty="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运营效率逐步攀升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zh-CN" altLang="en-US" sz="1200" dirty="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全网</a:t>
            </a:r>
            <a:r>
              <a:rPr lang="en-US" sz="1200" dirty="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运营体系</a:t>
            </a:r>
            <a:endParaRPr lang="en-US" sz="1200" dirty="0"/>
          </a:p>
        </p:txBody>
      </p:sp>
      <p:sp>
        <p:nvSpPr>
          <p:cNvPr id="41" name="Text 33"/>
          <p:cNvSpPr/>
          <p:nvPr/>
        </p:nvSpPr>
        <p:spPr>
          <a:xfrm>
            <a:off x="8351520" y="4798060"/>
            <a:ext cx="3048000" cy="304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投入产出</a:t>
            </a:r>
            <a:endParaRPr lang="en-US" sz="1065" dirty="0"/>
          </a:p>
        </p:txBody>
      </p:sp>
      <p:sp>
        <p:nvSpPr>
          <p:cNvPr id="42" name="Text 34"/>
          <p:cNvSpPr/>
          <p:nvPr/>
        </p:nvSpPr>
        <p:spPr>
          <a:xfrm>
            <a:off x="8351520" y="5041900"/>
            <a:ext cx="3048000" cy="6705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zh-CN" altLang="en-US" sz="1200" dirty="0">
                <a:solidFill>
                  <a:srgbClr val="10B98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量化运营</a:t>
            </a:r>
            <a:r>
              <a:rPr lang="en-US" sz="1200" dirty="0">
                <a:solidFill>
                  <a:srgbClr val="10B98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：常态化运营管理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/>
          <p:cNvGrpSpPr/>
          <p:nvPr/>
        </p:nvGrpSpPr>
        <p:grpSpPr>
          <a:xfrm>
            <a:off x="224790" y="289878"/>
            <a:ext cx="2818765" cy="327025"/>
            <a:chOff x="533" y="646"/>
            <a:chExt cx="4439" cy="515"/>
          </a:xfrm>
        </p:grpSpPr>
        <p:grpSp>
          <p:nvGrpSpPr>
            <p:cNvPr id="13" name="组合 12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14" name="燕尾形 86"/>
              <p:cNvSpPr/>
              <p:nvPr>
                <p:custDataLst>
                  <p:tags r:id="rId1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16" name="燕尾形 103"/>
              <p:cNvSpPr/>
              <p:nvPr>
                <p:custDataLst>
                  <p:tags r:id="rId2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18" name="textbox 158"/>
            <p:cNvSpPr/>
            <p:nvPr/>
          </p:nvSpPr>
          <p:spPr>
            <a:xfrm>
              <a:off x="1345" y="646"/>
              <a:ext cx="3627" cy="51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p>
              <a:pPr algn="l" rtl="0" eaLnBrk="0">
                <a:lnSpc>
                  <a:spcPct val="78000"/>
                </a:lnSpc>
              </a:pPr>
              <a:endParaRPr sz="100" dirty="0">
                <a:solidFill>
                  <a:schemeClr val="tx1">
                    <a:lumMod val="85000"/>
                    <a:lumOff val="15000"/>
                  </a:schemeClr>
                </a:solidFill>
                <a:latin typeface="Source Han Sans CN Medium" panose="020B0600000000000000" charset="-122"/>
                <a:ea typeface="Source Han Sans CN Medium" panose="020B0600000000000000" charset="-122"/>
                <a:cs typeface="Arial" panose="020B0604020202020204"/>
              </a:endParaRPr>
            </a:p>
            <a:p>
              <a:pPr algn="l" rtl="0" eaLnBrk="0">
                <a:lnSpc>
                  <a:spcPct val="101000"/>
                </a:lnSpc>
              </a:pPr>
              <a:r>
                <a:rPr lang="zh-CN" altLang="en-US" sz="1900" b="1" noProof="0" dirty="0">
                  <a:solidFill>
                    <a:schemeClr val="tx1">
                      <a:lumMod val="85000"/>
                      <a:lumOff val="15000"/>
                    </a:schemeClr>
                  </a:solidFill>
                  <a:uLnTx/>
                  <a:latin typeface="Source Han Sans CN Bold" panose="020B0600000000000000" charset="-122"/>
                  <a:ea typeface="Source Han Sans CN Bold" panose="020B0600000000000000" charset="-122"/>
                  <a:sym typeface="Calibri" panose="020F0502020204030204" charset="0"/>
                </a:rPr>
                <a:t>下一阶段运营</a:t>
              </a:r>
              <a:r>
                <a:rPr lang="zh-CN" altLang="en-US" sz="1900" b="1" noProof="0" dirty="0">
                  <a:solidFill>
                    <a:schemeClr val="tx1">
                      <a:lumMod val="85000"/>
                      <a:lumOff val="15000"/>
                    </a:schemeClr>
                  </a:solidFill>
                  <a:uLnTx/>
                  <a:latin typeface="Source Han Sans CN Bold" panose="020B0600000000000000" charset="-122"/>
                  <a:ea typeface="Source Han Sans CN Bold" panose="020B0600000000000000" charset="-122"/>
                  <a:sym typeface="Calibri" panose="020F0502020204030204" charset="0"/>
                </a:rPr>
                <a:t>规划</a:t>
              </a:r>
              <a:endPara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Source Han Sans CN Bold" panose="020B0600000000000000" charset="-122"/>
                <a:ea typeface="Source Han Sans CN Bold" panose="020B0600000000000000" charset="-122"/>
                <a:sym typeface="Calibri" panose="020F0502020204030204" charset="0"/>
              </a:endParaRPr>
            </a:p>
          </p:txBody>
        </p:sp>
      </p:grpSp>
      <p:pic>
        <p:nvPicPr>
          <p:cNvPr id="20" name="图片 19" descr="深信服 + 智安全"/>
          <p:cNvPicPr>
            <a:picLocks noChangeAspect="1"/>
          </p:cNvPicPr>
          <p:nvPr/>
        </p:nvPicPr>
        <p:blipFill>
          <a:blip r:embed="rId3"/>
          <a:srcRect l="5232" t="26576" r="4938" b="29565"/>
          <a:stretch>
            <a:fillRect/>
          </a:stretch>
        </p:blipFill>
        <p:spPr>
          <a:xfrm>
            <a:off x="10330815" y="273073"/>
            <a:ext cx="1629867" cy="360000"/>
          </a:xfrm>
          <a:prstGeom prst="rect">
            <a:avLst/>
          </a:prstGeom>
        </p:spPr>
      </p:pic>
      <p:sp>
        <p:nvSpPr>
          <p:cNvPr id="23" name="文本框 22"/>
          <p:cNvSpPr txBox="1"/>
          <p:nvPr/>
        </p:nvSpPr>
        <p:spPr>
          <a:xfrm>
            <a:off x="8820150" y="41148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  <p:sp>
        <p:nvSpPr>
          <p:cNvPr id="36" name="矩形 35"/>
          <p:cNvSpPr/>
          <p:nvPr>
            <p:custDataLst>
              <p:tags r:id="rId4"/>
            </p:custDataLst>
          </p:nvPr>
        </p:nvSpPr>
        <p:spPr>
          <a:xfrm>
            <a:off x="724535" y="1032510"/>
            <a:ext cx="10895330" cy="247650"/>
          </a:xfrm>
          <a:prstGeom prst="rect">
            <a:avLst/>
          </a:prstGeom>
          <a:solidFill>
            <a:srgbClr val="5B9BD5"/>
          </a:solidFill>
          <a:ln w="12700" cap="flat" cmpd="sng" algn="ctr">
            <a:noFill/>
            <a:prstDash val="solid"/>
            <a:miter lim="800000"/>
          </a:ln>
          <a:effectLst>
            <a:outerShdw blurRad="254000" dist="101600" dir="2700000" algn="tl" rotWithShape="0">
              <a:srgbClr val="FFFFFF">
                <a:lumMod val="75000"/>
                <a:alpha val="40000"/>
              </a:srgbClr>
            </a:outerShdw>
          </a:effectLst>
        </p:spPr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olidFill>
                <a:srgbClr val="000000"/>
              </a:solidFill>
              <a:sym typeface="+mn-ea"/>
            </a:endParaRPr>
          </a:p>
        </p:txBody>
      </p:sp>
      <p:sp>
        <p:nvSpPr>
          <p:cNvPr id="37" name="矩形 36"/>
          <p:cNvSpPr/>
          <p:nvPr>
            <p:custDataLst>
              <p:tags r:id="rId5"/>
            </p:custDataLst>
          </p:nvPr>
        </p:nvSpPr>
        <p:spPr>
          <a:xfrm>
            <a:off x="724535" y="1166495"/>
            <a:ext cx="10895330" cy="1829435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254000" dist="101600" dir="2700000" algn="tl" rotWithShape="0">
              <a:srgbClr val="000000">
                <a:lumMod val="75000"/>
                <a:lumOff val="25000"/>
                <a:alpha val="15000"/>
              </a:srgbClr>
            </a:outerShdw>
          </a:effectLst>
        </p:spPr>
        <p:txBody>
          <a:bodyPr rtlCol="0" anchor="ctr"/>
          <a:p>
            <a:pPr algn="ctr"/>
            <a:endParaRPr lang="zh-CN" altLang="en-US">
              <a:solidFill>
                <a:srgbClr val="FFFFFF"/>
              </a:solidFill>
            </a:endParaRPr>
          </a:p>
        </p:txBody>
      </p:sp>
      <p:sp>
        <p:nvSpPr>
          <p:cNvPr id="42" name="矩形 41"/>
          <p:cNvSpPr/>
          <p:nvPr>
            <p:custDataLst>
              <p:tags r:id="rId6"/>
            </p:custDataLst>
          </p:nvPr>
        </p:nvSpPr>
        <p:spPr>
          <a:xfrm>
            <a:off x="884555" y="1273175"/>
            <a:ext cx="10151110" cy="155829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400">
                <a:solidFill>
                  <a:srgbClr val="333333"/>
                </a:solidFill>
                <a:latin typeface="Heiti SC Light" panose="02000000000000000000" charset="-122"/>
                <a:ea typeface="Heiti SC Light" panose="02000000000000000000" charset="-122"/>
                <a:cs typeface="+mn-ea"/>
                <a:sym typeface="+mn-ea"/>
              </a:rPr>
              <a:t>1</a:t>
            </a:r>
            <a:r>
              <a:rPr lang="zh-CN" altLang="en-US" sz="1400">
                <a:solidFill>
                  <a:srgbClr val="333333"/>
                </a:solidFill>
                <a:latin typeface="Heiti SC Light" panose="02000000000000000000" charset="-122"/>
                <a:ea typeface="Heiti SC Light" panose="02000000000000000000" charset="-122"/>
                <a:cs typeface="+mn-ea"/>
                <a:sym typeface="+mn-ea"/>
              </a:rPr>
              <a:t>、</a:t>
            </a:r>
            <a:r>
              <a:rPr lang="en-US" altLang="zh-CN" sz="140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+mn-ea"/>
                <a:sym typeface="+mn-ea"/>
              </a:rPr>
              <a:t>XX</a:t>
            </a:r>
            <a:r>
              <a:rPr lang="zh-CN" altLang="en-US" sz="140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+mn-ea"/>
                <a:sym typeface="+mn-ea"/>
              </a:rPr>
              <a:t>核心业务</a:t>
            </a:r>
            <a:r>
              <a:rPr lang="zh-CN" altLang="en-US" sz="1400">
                <a:solidFill>
                  <a:srgbClr val="333333"/>
                </a:solidFill>
                <a:latin typeface="Heiti SC Light" panose="02000000000000000000" charset="-122"/>
                <a:ea typeface="Heiti SC Light" panose="02000000000000000000" charset="-122"/>
                <a:cs typeface="+mn-ea"/>
                <a:sym typeface="+mn-ea"/>
              </a:rPr>
              <a:t>的资产已实现安全绿区的覆盖，下一阶段重点推进安全橙区的</a:t>
            </a:r>
            <a:r>
              <a:rPr lang="en-US" altLang="zh-CN" sz="1400">
                <a:solidFill>
                  <a:srgbClr val="333333"/>
                </a:solidFill>
                <a:latin typeface="Heiti SC Light" panose="02000000000000000000" charset="-122"/>
                <a:ea typeface="Heiti SC Light" panose="02000000000000000000" charset="-122"/>
                <a:cs typeface="+mn-ea"/>
                <a:sym typeface="+mn-ea"/>
              </a:rPr>
              <a:t>XX</a:t>
            </a:r>
            <a:r>
              <a:rPr lang="zh-CN" altLang="en-US" sz="1400">
                <a:solidFill>
                  <a:srgbClr val="333333"/>
                </a:solidFill>
                <a:latin typeface="Heiti SC Light" panose="02000000000000000000" charset="-122"/>
                <a:ea typeface="Heiti SC Light" panose="02000000000000000000" charset="-122"/>
                <a:cs typeface="+mn-ea"/>
                <a:sym typeface="+mn-ea"/>
              </a:rPr>
              <a:t>系统的资产转换到安全绿区，实现安全运营能力的升级；</a:t>
            </a:r>
            <a:endParaRPr lang="zh-CN" altLang="en-US" sz="1400">
              <a:solidFill>
                <a:srgbClr val="333333"/>
              </a:solidFill>
              <a:latin typeface="Heiti SC Light" panose="02000000000000000000" charset="-122"/>
              <a:ea typeface="Heiti SC Light" panose="02000000000000000000" charset="-122"/>
              <a:cs typeface="+mn-ea"/>
              <a:sym typeface="+mn-ea"/>
            </a:endParaRPr>
          </a:p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400">
                <a:solidFill>
                  <a:srgbClr val="333333"/>
                </a:solidFill>
                <a:latin typeface="Heiti SC Light" panose="02000000000000000000" charset="-122"/>
                <a:ea typeface="Heiti SC Light" panose="02000000000000000000" charset="-122"/>
                <a:cs typeface="+mn-ea"/>
                <a:sym typeface="+mn-ea"/>
              </a:rPr>
              <a:t>2</a:t>
            </a:r>
            <a:r>
              <a:rPr lang="zh-CN" altLang="en-US" sz="1400">
                <a:solidFill>
                  <a:srgbClr val="333333"/>
                </a:solidFill>
                <a:latin typeface="Heiti SC Light" panose="02000000000000000000" charset="-122"/>
                <a:ea typeface="Heiti SC Light" panose="02000000000000000000" charset="-122"/>
                <a:cs typeface="+mn-ea"/>
                <a:sym typeface="+mn-ea"/>
              </a:rPr>
              <a:t>、快速消除安全红区，提升整体的安全水位底线，针对</a:t>
            </a:r>
            <a:r>
              <a:rPr lang="en-US" altLang="zh-CN" sz="140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+mn-ea"/>
                <a:sym typeface="+mn-ea"/>
              </a:rPr>
              <a:t>XX</a:t>
            </a:r>
            <a:r>
              <a:rPr lang="zh-CN" altLang="en-US" sz="140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+mn-ea"/>
                <a:sym typeface="+mn-ea"/>
              </a:rPr>
              <a:t>资产范围</a:t>
            </a:r>
            <a:r>
              <a:rPr lang="zh-CN" altLang="en-US" sz="1400">
                <a:solidFill>
                  <a:srgbClr val="333333"/>
                </a:solidFill>
                <a:latin typeface="Heiti SC Light" panose="02000000000000000000" charset="-122"/>
                <a:ea typeface="Heiti SC Light" panose="02000000000000000000" charset="-122"/>
                <a:cs typeface="+mn-ea"/>
                <a:sym typeface="+mn-ea"/>
              </a:rPr>
              <a:t>补充基础的端点安全能力和威胁监测响应能力；</a:t>
            </a:r>
            <a:endParaRPr lang="zh-CN" altLang="en-US" sz="1400">
              <a:solidFill>
                <a:srgbClr val="333333"/>
              </a:solidFill>
              <a:latin typeface="Heiti SC Light" panose="02000000000000000000" charset="-122"/>
              <a:ea typeface="Heiti SC Light" panose="02000000000000000000" charset="-122"/>
              <a:cs typeface="+mn-ea"/>
              <a:sym typeface="+mn-ea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611505" y="3247390"/>
            <a:ext cx="3600000" cy="3240000"/>
          </a:xfrm>
          <a:prstGeom prst="rect">
            <a:avLst/>
          </a:prstGeom>
          <a:solidFill>
            <a:srgbClr val="70AD47">
              <a:lumMod val="20000"/>
              <a:lumOff val="80000"/>
            </a:srgbClr>
          </a:solidFill>
          <a:ln w="12700" cap="flat" cmpd="sng" algn="ctr">
            <a:solidFill>
              <a:srgbClr val="4472C4">
                <a:shade val="50000"/>
              </a:srgbClr>
            </a:solidFill>
            <a:prstDash val="dashDot"/>
            <a:miter lim="800000"/>
          </a:ln>
          <a:effectLst/>
        </p:spPr>
        <p:txBody>
          <a:bodyPr rtlCol="0" anchor="ctr"/>
          <a:lstStyle/>
          <a:p>
            <a:pPr algn="ctr"/>
            <a:endParaRPr kumimoji="1" lang="zh-CN" altLang="en-US">
              <a:solidFill>
                <a:srgbClr val="FFFFFF"/>
              </a:solidFill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8175810" y="3246755"/>
            <a:ext cx="3599815" cy="3240000"/>
          </a:xfrm>
          <a:prstGeom prst="rect">
            <a:avLst/>
          </a:prstGeom>
          <a:solidFill>
            <a:srgbClr val="FF0000">
              <a:alpha val="40000"/>
            </a:srgbClr>
          </a:solidFill>
          <a:ln w="12700" cap="flat" cmpd="sng" algn="ctr">
            <a:solidFill>
              <a:srgbClr val="4472C4">
                <a:shade val="50000"/>
              </a:srgbClr>
            </a:solidFill>
            <a:prstDash val="dashDot"/>
            <a:miter lim="800000"/>
          </a:ln>
          <a:effectLst/>
        </p:spPr>
        <p:txBody>
          <a:bodyPr rtlCol="0" anchor="ctr"/>
          <a:lstStyle/>
          <a:p>
            <a:pPr algn="ctr"/>
            <a:endParaRPr kumimoji="1" lang="zh-CN" altLang="en-US">
              <a:solidFill>
                <a:srgbClr val="FFFFFF"/>
              </a:solidFill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4393750" y="3247390"/>
            <a:ext cx="3599815" cy="3240000"/>
          </a:xfrm>
          <a:prstGeom prst="rect">
            <a:avLst/>
          </a:prstGeom>
          <a:solidFill>
            <a:srgbClr val="ED7D31">
              <a:lumMod val="40000"/>
              <a:lumOff val="60000"/>
            </a:srgbClr>
          </a:solidFill>
          <a:ln w="12700" cap="flat" cmpd="sng" algn="ctr">
            <a:solidFill>
              <a:srgbClr val="4472C4">
                <a:shade val="50000"/>
              </a:srgbClr>
            </a:solidFill>
            <a:prstDash val="dashDot"/>
            <a:miter lim="800000"/>
          </a:ln>
          <a:effectLst/>
        </p:spPr>
        <p:txBody>
          <a:bodyPr rtlCol="0" anchor="ctr"/>
          <a:lstStyle/>
          <a:p>
            <a:pPr algn="ctr"/>
            <a:endParaRPr kumimoji="1" lang="zh-CN" altLang="en-US">
              <a:solidFill>
                <a:srgbClr val="FFFFFF"/>
              </a:solidFill>
            </a:endParaRPr>
          </a:p>
        </p:txBody>
      </p:sp>
      <p:pic>
        <p:nvPicPr>
          <p:cNvPr id="49" name="图片 48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1293" y="5622956"/>
            <a:ext cx="360745" cy="251460"/>
          </a:xfrm>
          <a:prstGeom prst="rect">
            <a:avLst/>
          </a:prstGeom>
        </p:spPr>
      </p:pic>
      <p:sp>
        <p:nvSpPr>
          <p:cNvPr id="50" name="Text Box 27"/>
          <p:cNvSpPr txBox="1">
            <a:spLocks noChangeArrowheads="1"/>
          </p:cNvSpPr>
          <p:nvPr/>
        </p:nvSpPr>
        <p:spPr bwMode="auto">
          <a:xfrm>
            <a:off x="688340" y="3301365"/>
            <a:ext cx="397510" cy="8299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zh-CN" altLang="en-US" sz="1200" dirty="0">
                <a:solidFill>
                  <a:srgbClr val="00B050"/>
                </a:solidFill>
                <a:latin typeface="Heiti SC Light" panose="02000000000000000000" charset="-122"/>
                <a:ea typeface="Heiti SC Light" panose="02000000000000000000" charset="-122"/>
              </a:rPr>
              <a:t>安全</a:t>
            </a:r>
            <a:r>
              <a:rPr lang="zh-CN" altLang="en-US" sz="1200" dirty="0">
                <a:solidFill>
                  <a:srgbClr val="00B050"/>
                </a:solidFill>
                <a:latin typeface="Heiti SC Light" panose="02000000000000000000" charset="-122"/>
                <a:ea typeface="Heiti SC Light" panose="02000000000000000000" charset="-122"/>
              </a:rPr>
              <a:t>绿区</a:t>
            </a:r>
            <a:endParaRPr lang="zh-CN" altLang="en-US" sz="1200" dirty="0">
              <a:solidFill>
                <a:srgbClr val="00B05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51" name="Text Box 27"/>
          <p:cNvSpPr txBox="1">
            <a:spLocks noChangeArrowheads="1"/>
          </p:cNvSpPr>
          <p:nvPr/>
        </p:nvSpPr>
        <p:spPr bwMode="auto">
          <a:xfrm>
            <a:off x="4569299" y="3301168"/>
            <a:ext cx="430821" cy="8299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zh-CN" altLang="en-US" sz="1200" dirty="0">
                <a:solidFill>
                  <a:srgbClr val="ED7D31"/>
                </a:solidFill>
                <a:latin typeface="Heiti SC Light" panose="02000000000000000000" charset="-122"/>
                <a:ea typeface="Heiti SC Light" panose="02000000000000000000" charset="-122"/>
              </a:rPr>
              <a:t>安全橙区</a:t>
            </a:r>
            <a:endParaRPr lang="zh-CN" altLang="en-US" sz="1200" dirty="0">
              <a:solidFill>
                <a:srgbClr val="ED7D31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pic>
        <p:nvPicPr>
          <p:cNvPr id="53" name="图片 52"/>
          <p:cNvPicPr/>
          <p:nvPr/>
        </p:nvPicPr>
        <p:blipFill>
          <a:blip r:embed="rId8"/>
          <a:stretch>
            <a:fillRect/>
          </a:stretch>
        </p:blipFill>
        <p:spPr>
          <a:xfrm>
            <a:off x="3102292" y="4757815"/>
            <a:ext cx="288000" cy="288290"/>
          </a:xfrm>
          <a:prstGeom prst="rect">
            <a:avLst/>
          </a:prstGeom>
        </p:spPr>
      </p:pic>
      <p:pic>
        <p:nvPicPr>
          <p:cNvPr id="54" name="图片 53"/>
          <p:cNvPicPr/>
          <p:nvPr/>
        </p:nvPicPr>
        <p:blipFill>
          <a:blip r:embed="rId9"/>
          <a:stretch>
            <a:fillRect/>
          </a:stretch>
        </p:blipFill>
        <p:spPr>
          <a:xfrm>
            <a:off x="3102465" y="3938320"/>
            <a:ext cx="287655" cy="288000"/>
          </a:xfrm>
          <a:prstGeom prst="rect">
            <a:avLst/>
          </a:prstGeom>
        </p:spPr>
      </p:pic>
      <p:pic>
        <p:nvPicPr>
          <p:cNvPr id="55" name="图片 54"/>
          <p:cNvPicPr/>
          <p:nvPr/>
        </p:nvPicPr>
        <p:blipFill>
          <a:blip r:embed="rId10"/>
          <a:stretch>
            <a:fillRect/>
          </a:stretch>
        </p:blipFill>
        <p:spPr>
          <a:xfrm flipH="1">
            <a:off x="3102293" y="4348240"/>
            <a:ext cx="288000" cy="287655"/>
          </a:xfrm>
          <a:prstGeom prst="rect">
            <a:avLst/>
          </a:prstGeom>
        </p:spPr>
      </p:pic>
      <p:sp>
        <p:nvSpPr>
          <p:cNvPr id="56" name="Text Box 27"/>
          <p:cNvSpPr txBox="1">
            <a:spLocks noChangeArrowheads="1"/>
          </p:cNvSpPr>
          <p:nvPr/>
        </p:nvSpPr>
        <p:spPr bwMode="auto">
          <a:xfrm>
            <a:off x="3479800" y="4398010"/>
            <a:ext cx="490855" cy="1797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 lIns="0" tIns="0" rIns="0" bIns="0" anchor="ctr" anchorCtr="0">
            <a:noAutofit/>
          </a:bodyPr>
          <a:lstStyle/>
          <a:p>
            <a:pPr algn="ctr"/>
            <a:r>
              <a:rPr lang="zh-CN" altLang="en-US" sz="800" dirty="0" err="1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端点</a:t>
            </a:r>
            <a:r>
              <a:rPr lang="zh-CN" altLang="en-US" sz="800" dirty="0" err="1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保护</a:t>
            </a:r>
            <a:endParaRPr lang="zh-CN" altLang="en-US" sz="800" dirty="0" err="1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60" name="Text Box 27"/>
          <p:cNvSpPr txBox="1">
            <a:spLocks noChangeArrowheads="1"/>
          </p:cNvSpPr>
          <p:nvPr/>
        </p:nvSpPr>
        <p:spPr bwMode="auto">
          <a:xfrm>
            <a:off x="3479800" y="3983990"/>
            <a:ext cx="490855" cy="1593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 lIns="0" tIns="0" rIns="0" bIns="0">
            <a:noAutofit/>
          </a:bodyPr>
          <a:lstStyle/>
          <a:p>
            <a:pPr algn="ctr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流量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监测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61" name="Text Box 27"/>
          <p:cNvSpPr txBox="1">
            <a:spLocks noChangeArrowheads="1"/>
          </p:cNvSpPr>
          <p:nvPr/>
        </p:nvSpPr>
        <p:spPr bwMode="auto">
          <a:xfrm>
            <a:off x="1673225" y="5609590"/>
            <a:ext cx="110617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核心</a:t>
            </a:r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PC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：</a:t>
            </a:r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XX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资产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pic>
        <p:nvPicPr>
          <p:cNvPr id="67" name="图片 66"/>
          <p:cNvPicPr/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2304" y="3907866"/>
            <a:ext cx="360000" cy="360000"/>
          </a:xfrm>
          <a:prstGeom prst="rect">
            <a:avLst/>
          </a:prstGeom>
        </p:spPr>
      </p:pic>
      <p:pic>
        <p:nvPicPr>
          <p:cNvPr id="71" name="图片 70"/>
          <p:cNvPicPr/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2240" y="4479956"/>
            <a:ext cx="360000" cy="359410"/>
          </a:xfrm>
          <a:prstGeom prst="rect">
            <a:avLst/>
          </a:prstGeom>
        </p:spPr>
      </p:pic>
      <p:sp>
        <p:nvSpPr>
          <p:cNvPr id="72" name="Text Box 27"/>
          <p:cNvSpPr txBox="1">
            <a:spLocks noChangeArrowheads="1"/>
          </p:cNvSpPr>
          <p:nvPr/>
        </p:nvSpPr>
        <p:spPr bwMode="auto">
          <a:xfrm>
            <a:off x="1624330" y="3912235"/>
            <a:ext cx="110617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生产系统：</a:t>
            </a:r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XX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资产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73" name="Text Box 27"/>
          <p:cNvSpPr txBox="1">
            <a:spLocks noChangeArrowheads="1"/>
          </p:cNvSpPr>
          <p:nvPr/>
        </p:nvSpPr>
        <p:spPr bwMode="auto">
          <a:xfrm>
            <a:off x="1624330" y="4478020"/>
            <a:ext cx="110617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研发系统：</a:t>
            </a:r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XX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资产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pic>
        <p:nvPicPr>
          <p:cNvPr id="74" name="图片 73"/>
          <p:cNvPicPr/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2240" y="5051456"/>
            <a:ext cx="360000" cy="359410"/>
          </a:xfrm>
          <a:prstGeom prst="rect">
            <a:avLst/>
          </a:prstGeom>
        </p:spPr>
      </p:pic>
      <p:sp>
        <p:nvSpPr>
          <p:cNvPr id="75" name="Text Box 27"/>
          <p:cNvSpPr txBox="1">
            <a:spLocks noChangeArrowheads="1"/>
          </p:cNvSpPr>
          <p:nvPr/>
        </p:nvSpPr>
        <p:spPr bwMode="auto">
          <a:xfrm>
            <a:off x="1624330" y="5043805"/>
            <a:ext cx="110617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办公系统：</a:t>
            </a:r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XX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资产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80" name="Text Box 27"/>
          <p:cNvSpPr txBox="1">
            <a:spLocks noChangeArrowheads="1"/>
          </p:cNvSpPr>
          <p:nvPr/>
        </p:nvSpPr>
        <p:spPr bwMode="auto">
          <a:xfrm>
            <a:off x="3479800" y="4832350"/>
            <a:ext cx="490855" cy="1225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边界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防护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81" name="Text Box 27"/>
          <p:cNvSpPr txBox="1">
            <a:spLocks noChangeArrowheads="1"/>
          </p:cNvSpPr>
          <p:nvPr/>
        </p:nvSpPr>
        <p:spPr bwMode="auto">
          <a:xfrm>
            <a:off x="1211580" y="3347720"/>
            <a:ext cx="133604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业务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资产覆盖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范围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82" name="Text Box 27"/>
          <p:cNvSpPr txBox="1">
            <a:spLocks noChangeArrowheads="1"/>
          </p:cNvSpPr>
          <p:nvPr/>
        </p:nvSpPr>
        <p:spPr bwMode="auto">
          <a:xfrm>
            <a:off x="2964815" y="3352165"/>
            <a:ext cx="110617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安全保护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能力水平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83" name="Text Box 27"/>
          <p:cNvSpPr txBox="1">
            <a:spLocks noChangeArrowheads="1"/>
          </p:cNvSpPr>
          <p:nvPr/>
        </p:nvSpPr>
        <p:spPr bwMode="auto">
          <a:xfrm>
            <a:off x="3479800" y="5644102"/>
            <a:ext cx="489585" cy="1803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 lIns="0" tIns="0" rIns="0" bIns="0" anchor="ctr" anchorCtr="0">
            <a:noAutofit/>
          </a:bodyPr>
          <a:lstStyle/>
          <a:p>
            <a:pPr algn="ctr"/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MSS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服务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pic>
        <p:nvPicPr>
          <p:cNvPr id="84" name="图片 83"/>
          <p:cNvPicPr/>
          <p:nvPr/>
        </p:nvPicPr>
        <p:blipFill>
          <a:blip r:embed="rId12"/>
          <a:stretch>
            <a:fillRect/>
          </a:stretch>
        </p:blipFill>
        <p:spPr>
          <a:xfrm>
            <a:off x="3101767" y="5585559"/>
            <a:ext cx="288000" cy="288000"/>
          </a:xfrm>
          <a:prstGeom prst="rect">
            <a:avLst/>
          </a:prstGeom>
        </p:spPr>
      </p:pic>
      <p:pic>
        <p:nvPicPr>
          <p:cNvPr id="85" name="图片 84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9703" y="5628036"/>
            <a:ext cx="360745" cy="251460"/>
          </a:xfrm>
          <a:prstGeom prst="rect">
            <a:avLst/>
          </a:prstGeom>
        </p:spPr>
      </p:pic>
      <p:pic>
        <p:nvPicPr>
          <p:cNvPr id="87" name="图片 86"/>
          <p:cNvPicPr/>
          <p:nvPr/>
        </p:nvPicPr>
        <p:blipFill>
          <a:blip r:embed="rId8"/>
          <a:stretch>
            <a:fillRect/>
          </a:stretch>
        </p:blipFill>
        <p:spPr>
          <a:xfrm>
            <a:off x="6890702" y="4762895"/>
            <a:ext cx="288000" cy="288290"/>
          </a:xfrm>
          <a:prstGeom prst="rect">
            <a:avLst/>
          </a:prstGeom>
        </p:spPr>
      </p:pic>
      <p:pic>
        <p:nvPicPr>
          <p:cNvPr id="88" name="图片 87"/>
          <p:cNvPicPr/>
          <p:nvPr/>
        </p:nvPicPr>
        <p:blipFill>
          <a:blip r:embed="rId9"/>
          <a:stretch>
            <a:fillRect/>
          </a:stretch>
        </p:blipFill>
        <p:spPr>
          <a:xfrm>
            <a:off x="6890875" y="3943400"/>
            <a:ext cx="287655" cy="288000"/>
          </a:xfrm>
          <a:prstGeom prst="rect">
            <a:avLst/>
          </a:prstGeom>
        </p:spPr>
      </p:pic>
      <p:sp>
        <p:nvSpPr>
          <p:cNvPr id="89" name="Text Box 27"/>
          <p:cNvSpPr txBox="1">
            <a:spLocks noChangeArrowheads="1"/>
          </p:cNvSpPr>
          <p:nvPr/>
        </p:nvSpPr>
        <p:spPr bwMode="auto">
          <a:xfrm>
            <a:off x="7268210" y="3989070"/>
            <a:ext cx="490855" cy="1593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 lIns="0" tIns="0" rIns="0" bIns="0">
            <a:noAutofit/>
          </a:bodyPr>
          <a:lstStyle/>
          <a:p>
            <a:pPr algn="ctr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流量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监测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90" name="Text Box 27"/>
          <p:cNvSpPr txBox="1">
            <a:spLocks noChangeArrowheads="1"/>
          </p:cNvSpPr>
          <p:nvPr/>
        </p:nvSpPr>
        <p:spPr bwMode="auto">
          <a:xfrm>
            <a:off x="5461635" y="5614670"/>
            <a:ext cx="110617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办公</a:t>
            </a:r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PC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：</a:t>
            </a:r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XX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资产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pic>
        <p:nvPicPr>
          <p:cNvPr id="91" name="图片 90"/>
          <p:cNvPicPr/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0714" y="3912946"/>
            <a:ext cx="360000" cy="360000"/>
          </a:xfrm>
          <a:prstGeom prst="rect">
            <a:avLst/>
          </a:prstGeom>
        </p:spPr>
      </p:pic>
      <p:pic>
        <p:nvPicPr>
          <p:cNvPr id="92" name="图片 91"/>
          <p:cNvPicPr/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0650" y="4485036"/>
            <a:ext cx="360000" cy="359410"/>
          </a:xfrm>
          <a:prstGeom prst="rect">
            <a:avLst/>
          </a:prstGeom>
        </p:spPr>
      </p:pic>
      <p:sp>
        <p:nvSpPr>
          <p:cNvPr id="93" name="Text Box 27"/>
          <p:cNvSpPr txBox="1">
            <a:spLocks noChangeArrowheads="1"/>
          </p:cNvSpPr>
          <p:nvPr/>
        </p:nvSpPr>
        <p:spPr bwMode="auto">
          <a:xfrm>
            <a:off x="5412740" y="3917315"/>
            <a:ext cx="110617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生产系统：</a:t>
            </a:r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XX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资产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94" name="Text Box 27"/>
          <p:cNvSpPr txBox="1">
            <a:spLocks noChangeArrowheads="1"/>
          </p:cNvSpPr>
          <p:nvPr/>
        </p:nvSpPr>
        <p:spPr bwMode="auto">
          <a:xfrm>
            <a:off x="5412740" y="4483100"/>
            <a:ext cx="110617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研发系统：</a:t>
            </a:r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XX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资产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pic>
        <p:nvPicPr>
          <p:cNvPr id="95" name="图片 94"/>
          <p:cNvPicPr/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0650" y="5056536"/>
            <a:ext cx="360000" cy="359410"/>
          </a:xfrm>
          <a:prstGeom prst="rect">
            <a:avLst/>
          </a:prstGeom>
        </p:spPr>
      </p:pic>
      <p:sp>
        <p:nvSpPr>
          <p:cNvPr id="96" name="Text Box 27"/>
          <p:cNvSpPr txBox="1">
            <a:spLocks noChangeArrowheads="1"/>
          </p:cNvSpPr>
          <p:nvPr/>
        </p:nvSpPr>
        <p:spPr bwMode="auto">
          <a:xfrm>
            <a:off x="5412740" y="5048885"/>
            <a:ext cx="110617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办公系统：</a:t>
            </a:r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XX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资产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97" name="Text Box 27"/>
          <p:cNvSpPr txBox="1">
            <a:spLocks noChangeArrowheads="1"/>
          </p:cNvSpPr>
          <p:nvPr/>
        </p:nvSpPr>
        <p:spPr bwMode="auto">
          <a:xfrm>
            <a:off x="7268210" y="4837430"/>
            <a:ext cx="490855" cy="1225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边界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防护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98" name="Text Box 27"/>
          <p:cNvSpPr txBox="1">
            <a:spLocks noChangeArrowheads="1"/>
          </p:cNvSpPr>
          <p:nvPr/>
        </p:nvSpPr>
        <p:spPr bwMode="auto">
          <a:xfrm>
            <a:off x="7268210" y="5649182"/>
            <a:ext cx="489585" cy="1803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 lIns="0" tIns="0" rIns="0" bIns="0" anchor="ctr" anchorCtr="0">
            <a:noAutofit/>
          </a:bodyPr>
          <a:lstStyle/>
          <a:p>
            <a:pPr algn="ctr"/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MSS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服务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pic>
        <p:nvPicPr>
          <p:cNvPr id="99" name="图片 98"/>
          <p:cNvPicPr/>
          <p:nvPr/>
        </p:nvPicPr>
        <p:blipFill>
          <a:blip r:embed="rId12"/>
          <a:stretch>
            <a:fillRect/>
          </a:stretch>
        </p:blipFill>
        <p:spPr>
          <a:xfrm>
            <a:off x="6890177" y="5590639"/>
            <a:ext cx="288000" cy="288000"/>
          </a:xfrm>
          <a:prstGeom prst="rect">
            <a:avLst/>
          </a:prstGeom>
        </p:spPr>
      </p:pic>
      <p:sp>
        <p:nvSpPr>
          <p:cNvPr id="100" name="Text Box 27"/>
          <p:cNvSpPr txBox="1">
            <a:spLocks noChangeArrowheads="1"/>
          </p:cNvSpPr>
          <p:nvPr/>
        </p:nvSpPr>
        <p:spPr bwMode="auto">
          <a:xfrm>
            <a:off x="5033010" y="3352165"/>
            <a:ext cx="133604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业务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资产覆盖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范围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101" name="Text Box 27"/>
          <p:cNvSpPr txBox="1">
            <a:spLocks noChangeArrowheads="1"/>
          </p:cNvSpPr>
          <p:nvPr/>
        </p:nvSpPr>
        <p:spPr bwMode="auto">
          <a:xfrm>
            <a:off x="6786245" y="3356610"/>
            <a:ext cx="110617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安全保护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能力水平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102" name="Text Box 27"/>
          <p:cNvSpPr txBox="1">
            <a:spLocks noChangeArrowheads="1"/>
          </p:cNvSpPr>
          <p:nvPr/>
        </p:nvSpPr>
        <p:spPr bwMode="auto">
          <a:xfrm>
            <a:off x="6786245" y="5117465"/>
            <a:ext cx="1623695" cy="3987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zh-CN" altLang="en-US" sz="1000" dirty="0">
                <a:solidFill>
                  <a:srgbClr val="000000"/>
                </a:solidFill>
                <a:highlight>
                  <a:srgbClr val="FFFF00"/>
                </a:highlight>
                <a:latin typeface="Heiti SC Light" panose="02000000000000000000" charset="-122"/>
                <a:ea typeface="Heiti SC Light" panose="02000000000000000000" charset="-122"/>
              </a:rPr>
              <a:t>根据实际情况体现缺失的安全能力部分</a:t>
            </a:r>
            <a:endParaRPr lang="zh-CN" altLang="en-US" sz="1000" dirty="0">
              <a:solidFill>
                <a:srgbClr val="000000"/>
              </a:solidFill>
              <a:highlight>
                <a:srgbClr val="FFFF00"/>
              </a:highlight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103" name="Text Box 27"/>
          <p:cNvSpPr txBox="1">
            <a:spLocks noChangeArrowheads="1"/>
          </p:cNvSpPr>
          <p:nvPr/>
        </p:nvSpPr>
        <p:spPr bwMode="auto">
          <a:xfrm>
            <a:off x="8296749" y="3347523"/>
            <a:ext cx="430821" cy="8299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zh-CN" altLang="en-US" sz="1200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</a:rPr>
              <a:t>安全</a:t>
            </a:r>
            <a:r>
              <a:rPr lang="zh-CN" altLang="en-US" sz="1200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</a:rPr>
              <a:t>红区</a:t>
            </a:r>
            <a:endParaRPr lang="zh-CN" altLang="en-US" sz="1200" dirty="0">
              <a:solidFill>
                <a:srgbClr val="FF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pic>
        <p:nvPicPr>
          <p:cNvPr id="104" name="图片 10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0173" y="4916836"/>
            <a:ext cx="360745" cy="251460"/>
          </a:xfrm>
          <a:prstGeom prst="rect">
            <a:avLst/>
          </a:prstGeom>
        </p:spPr>
      </p:pic>
      <p:sp>
        <p:nvSpPr>
          <p:cNvPr id="105" name="Text Box 27"/>
          <p:cNvSpPr txBox="1">
            <a:spLocks noChangeArrowheads="1"/>
          </p:cNvSpPr>
          <p:nvPr/>
        </p:nvSpPr>
        <p:spPr bwMode="auto">
          <a:xfrm>
            <a:off x="9222105" y="4903470"/>
            <a:ext cx="110617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办公</a:t>
            </a:r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PC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：</a:t>
            </a:r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XX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资产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pic>
        <p:nvPicPr>
          <p:cNvPr id="106" name="图片 105"/>
          <p:cNvPicPr/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1120" y="4345336"/>
            <a:ext cx="360000" cy="359410"/>
          </a:xfrm>
          <a:prstGeom prst="rect">
            <a:avLst/>
          </a:prstGeom>
        </p:spPr>
      </p:pic>
      <p:sp>
        <p:nvSpPr>
          <p:cNvPr id="107" name="Text Box 27"/>
          <p:cNvSpPr txBox="1">
            <a:spLocks noChangeArrowheads="1"/>
          </p:cNvSpPr>
          <p:nvPr/>
        </p:nvSpPr>
        <p:spPr bwMode="auto">
          <a:xfrm>
            <a:off x="9173210" y="4337685"/>
            <a:ext cx="110617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办公系统：</a:t>
            </a:r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XX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资产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108" name="Text Box 27"/>
          <p:cNvSpPr txBox="1">
            <a:spLocks noChangeArrowheads="1"/>
          </p:cNvSpPr>
          <p:nvPr/>
        </p:nvSpPr>
        <p:spPr bwMode="auto">
          <a:xfrm>
            <a:off x="10995660" y="4623435"/>
            <a:ext cx="490855" cy="1225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边界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保护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109" name="Text Box 27"/>
          <p:cNvSpPr txBox="1">
            <a:spLocks noChangeArrowheads="1"/>
          </p:cNvSpPr>
          <p:nvPr/>
        </p:nvSpPr>
        <p:spPr bwMode="auto">
          <a:xfrm>
            <a:off x="8760460" y="3398520"/>
            <a:ext cx="133604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业务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资产覆盖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范围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113" name="Text Box 27"/>
          <p:cNvSpPr txBox="1">
            <a:spLocks noChangeArrowheads="1"/>
          </p:cNvSpPr>
          <p:nvPr/>
        </p:nvSpPr>
        <p:spPr bwMode="auto">
          <a:xfrm>
            <a:off x="10513695" y="3402965"/>
            <a:ext cx="110617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安全保护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能力水平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pic>
        <p:nvPicPr>
          <p:cNvPr id="114" name="图片 113"/>
          <p:cNvPicPr/>
          <p:nvPr/>
        </p:nvPicPr>
        <p:blipFill>
          <a:blip r:embed="rId13"/>
          <a:stretch>
            <a:fillRect/>
          </a:stretch>
        </p:blipFill>
        <p:spPr>
          <a:xfrm flipH="1">
            <a:off x="3101434" y="5168175"/>
            <a:ext cx="288000" cy="288000"/>
          </a:xfrm>
          <a:prstGeom prst="rect">
            <a:avLst/>
          </a:prstGeom>
        </p:spPr>
      </p:pic>
      <p:sp>
        <p:nvSpPr>
          <p:cNvPr id="115" name="Text Box 27"/>
          <p:cNvSpPr txBox="1">
            <a:spLocks noChangeArrowheads="1"/>
          </p:cNvSpPr>
          <p:nvPr/>
        </p:nvSpPr>
        <p:spPr bwMode="auto">
          <a:xfrm>
            <a:off x="3479800" y="5191125"/>
            <a:ext cx="490855" cy="2457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安全运营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平台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pic>
        <p:nvPicPr>
          <p:cNvPr id="116" name="图片 115"/>
          <p:cNvPicPr/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7622" y="4544244"/>
            <a:ext cx="288000" cy="288000"/>
          </a:xfrm>
          <a:prstGeom prst="rect">
            <a:avLst/>
          </a:prstGeom>
        </p:spPr>
      </p:pic>
      <p:sp>
        <p:nvSpPr>
          <p:cNvPr id="119" name="Text 10"/>
          <p:cNvSpPr/>
          <p:nvPr/>
        </p:nvSpPr>
        <p:spPr>
          <a:xfrm>
            <a:off x="884555" y="5998210"/>
            <a:ext cx="3048000" cy="426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zh-CN" altLang="en-US" sz="12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具备相对完善的主动安全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保护能力</a:t>
            </a:r>
            <a:endParaRPr lang="zh-CN" altLang="en-US" sz="12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120" name="Text 10"/>
          <p:cNvSpPr/>
          <p:nvPr/>
        </p:nvSpPr>
        <p:spPr>
          <a:xfrm>
            <a:off x="4711065" y="5998210"/>
            <a:ext cx="3180715" cy="426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zh-CN" altLang="en-US" sz="12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安全防护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组件部分缺失或监测响应能力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缺失</a:t>
            </a:r>
            <a:endParaRPr lang="zh-CN" altLang="en-US" sz="12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121" name="Text 10"/>
          <p:cNvSpPr/>
          <p:nvPr/>
        </p:nvSpPr>
        <p:spPr>
          <a:xfrm>
            <a:off x="8439150" y="5998210"/>
            <a:ext cx="3180715" cy="426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zh-CN" altLang="en-US" sz="12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仅有基础的边界防护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能力</a:t>
            </a:r>
            <a:endParaRPr lang="zh-CN" altLang="en-US" sz="12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64" name="Text Box 27"/>
          <p:cNvSpPr txBox="1">
            <a:spLocks noChangeArrowheads="1"/>
          </p:cNvSpPr>
          <p:nvPr/>
        </p:nvSpPr>
        <p:spPr bwMode="auto">
          <a:xfrm>
            <a:off x="10567670" y="4954905"/>
            <a:ext cx="1624330" cy="3987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zh-CN" altLang="en-US" sz="1000" dirty="0">
                <a:solidFill>
                  <a:schemeClr val="tx1"/>
                </a:solidFill>
                <a:highlight>
                  <a:srgbClr val="FFFF00"/>
                </a:highlight>
                <a:latin typeface="Heiti SC Light" panose="02000000000000000000" charset="-122"/>
                <a:ea typeface="Heiti SC Light" panose="02000000000000000000" charset="-122"/>
              </a:rPr>
              <a:t>根据实际情况体现缺失的安全能力部分</a:t>
            </a:r>
            <a:endParaRPr lang="zh-CN" altLang="en-US" sz="1000" dirty="0">
              <a:solidFill>
                <a:schemeClr val="tx1"/>
              </a:solidFill>
              <a:highlight>
                <a:srgbClr val="FFFF00"/>
              </a:highlight>
              <a:latin typeface="Heiti SC Light" panose="02000000000000000000" charset="-122"/>
              <a:ea typeface="Heiti SC Light" panose="02000000000000000000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10363200" y="219456"/>
            <a:ext cx="1463040" cy="609600"/>
          </a:xfrm>
          <a:prstGeom prst="roundRect">
            <a:avLst>
              <a:gd name="adj" fmla="val 10000"/>
            </a:avLst>
          </a:prstGeom>
          <a:solidFill>
            <a:srgbClr val="FFFFFF">
              <a:alpha val="15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10363200" y="219456"/>
            <a:ext cx="146304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3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深信服</a:t>
            </a:r>
            <a:endParaRPr lang="en-US" sz="1335" dirty="0"/>
          </a:p>
        </p:txBody>
      </p:sp>
      <p:pic>
        <p:nvPicPr>
          <p:cNvPr id="26" name="图片 25" descr="深信服 + 智安全"/>
          <p:cNvPicPr>
            <a:picLocks noChangeAspect="1"/>
          </p:cNvPicPr>
          <p:nvPr/>
        </p:nvPicPr>
        <p:blipFill>
          <a:blip r:embed="rId1"/>
          <a:srcRect l="5232" t="26576" r="4938" b="29565"/>
          <a:stretch>
            <a:fillRect/>
          </a:stretch>
        </p:blipFill>
        <p:spPr>
          <a:xfrm>
            <a:off x="10330815" y="273073"/>
            <a:ext cx="1629867" cy="360000"/>
          </a:xfrm>
          <a:prstGeom prst="rect">
            <a:avLst/>
          </a:prstGeom>
        </p:spPr>
      </p:pic>
      <p:sp>
        <p:nvSpPr>
          <p:cNvPr id="95" name="Shape 11"/>
          <p:cNvSpPr/>
          <p:nvPr/>
        </p:nvSpPr>
        <p:spPr>
          <a:xfrm>
            <a:off x="304800" y="1102360"/>
            <a:ext cx="1404000" cy="548640"/>
          </a:xfrm>
          <a:prstGeom prst="rect">
            <a:avLst/>
          </a:prstGeom>
          <a:solidFill>
            <a:srgbClr val="1A3A5C"/>
          </a:solidFill>
        </p:spPr>
      </p:sp>
      <p:sp>
        <p:nvSpPr>
          <p:cNvPr id="96" name="Text 12"/>
          <p:cNvSpPr/>
          <p:nvPr/>
        </p:nvSpPr>
        <p:spPr>
          <a:xfrm>
            <a:off x="304800" y="1102360"/>
            <a:ext cx="1404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目标</a:t>
            </a: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项</a:t>
            </a:r>
            <a:endParaRPr lang="zh-CN" alt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97" name="Shape 13"/>
          <p:cNvSpPr/>
          <p:nvPr/>
        </p:nvSpPr>
        <p:spPr>
          <a:xfrm>
            <a:off x="1706880" y="1102360"/>
            <a:ext cx="2682240" cy="548640"/>
          </a:xfrm>
          <a:prstGeom prst="rect">
            <a:avLst/>
          </a:prstGeom>
          <a:solidFill>
            <a:srgbClr val="1A3A5C"/>
          </a:solidFill>
        </p:spPr>
      </p:sp>
      <p:sp>
        <p:nvSpPr>
          <p:cNvPr id="98" name="Text 14"/>
          <p:cNvSpPr/>
          <p:nvPr/>
        </p:nvSpPr>
        <p:spPr>
          <a:xfrm>
            <a:off x="1706880" y="1102360"/>
            <a:ext cx="26822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关键</a:t>
            </a: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价值成果</a:t>
            </a: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预期</a:t>
            </a:r>
            <a:endParaRPr lang="zh-CN" alt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99" name="Shape 15"/>
          <p:cNvSpPr/>
          <p:nvPr/>
        </p:nvSpPr>
        <p:spPr>
          <a:xfrm>
            <a:off x="4389120" y="1102360"/>
            <a:ext cx="3096000" cy="54864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100" name="Text 16"/>
          <p:cNvSpPr/>
          <p:nvPr/>
        </p:nvSpPr>
        <p:spPr>
          <a:xfrm>
            <a:off x="4389120" y="1102360"/>
            <a:ext cx="26822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深信服做什么</a:t>
            </a:r>
            <a:endParaRPr 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  <a:p>
            <a:pPr marL="0" indent="0" algn="ctr">
              <a:buNone/>
            </a:pPr>
            <a:r>
              <a:rPr lang="en-US" sz="1065" dirty="0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深信服（技术底座+运营服务）</a:t>
            </a:r>
            <a:endParaRPr lang="en-US" sz="1065" dirty="0">
              <a:solidFill>
                <a:srgbClr val="FFFF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01" name="Shape 17"/>
          <p:cNvSpPr/>
          <p:nvPr/>
        </p:nvSpPr>
        <p:spPr>
          <a:xfrm>
            <a:off x="7487920" y="1102360"/>
            <a:ext cx="2194560" cy="54864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102" name="Text 18"/>
          <p:cNvSpPr/>
          <p:nvPr/>
        </p:nvSpPr>
        <p:spPr>
          <a:xfrm>
            <a:off x="7487920" y="110236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1265" b="1" dirty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「</a:t>
            </a:r>
            <a:r>
              <a:rPr lang="en-US" altLang="zh-CN" sz="1265" b="1" dirty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XX</a:t>
            </a:r>
            <a:r>
              <a:rPr lang="zh-CN" altLang="en-US" sz="1265" b="1" dirty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渠道</a:t>
            </a:r>
            <a:r>
              <a:rPr lang="zh-CN" sz="1265" b="1" dirty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」</a:t>
            </a:r>
            <a:r>
              <a:rPr 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做什么</a:t>
            </a:r>
            <a:endParaRPr 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  <a:p>
            <a:pPr marL="0" indent="0" algn="ctr">
              <a:buNone/>
            </a:pPr>
            <a:r>
              <a:rPr lang="en-US" sz="1065" dirty="0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现场支撑+本地化</a:t>
            </a:r>
            <a:r>
              <a:rPr lang="zh-CN" altLang="en-US" sz="1065" dirty="0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服务</a:t>
            </a:r>
            <a:endParaRPr lang="zh-CN" altLang="en-US" sz="1065" dirty="0">
              <a:solidFill>
                <a:srgbClr val="FFFF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03" name="Shape 19"/>
          <p:cNvSpPr/>
          <p:nvPr/>
        </p:nvSpPr>
        <p:spPr>
          <a:xfrm>
            <a:off x="9682480" y="1102360"/>
            <a:ext cx="2194560" cy="54864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104" name="Text 20"/>
          <p:cNvSpPr/>
          <p:nvPr/>
        </p:nvSpPr>
        <p:spPr>
          <a:xfrm>
            <a:off x="9682480" y="110236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65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{{company</a:t>
            </a:r>
            <a:r>
              <a:rPr lang="en-US" altLang="zh-CN" sz="1265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}</a:t>
            </a:r>
            <a:r>
              <a:rPr lang="en-US" sz="1265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}</a:t>
            </a:r>
            <a:r>
              <a:rPr 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做什么</a:t>
            </a:r>
            <a:endParaRPr 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  <a:p>
            <a:pPr marL="0" indent="0" algn="ctr">
              <a:buNone/>
            </a:pPr>
            <a:r>
              <a:rPr lang="en-US" sz="1065" dirty="0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资源协调+决策确认</a:t>
            </a:r>
            <a:endParaRPr lang="en-US" sz="1065" dirty="0">
              <a:solidFill>
                <a:srgbClr val="FFFF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  <a:sym typeface="+mn-ea"/>
            </a:endParaRPr>
          </a:p>
        </p:txBody>
      </p:sp>
      <p:grpSp>
        <p:nvGrpSpPr>
          <p:cNvPr id="7" name="组合 6"/>
          <p:cNvGrpSpPr/>
          <p:nvPr/>
        </p:nvGrpSpPr>
        <p:grpSpPr>
          <a:xfrm>
            <a:off x="304800" y="1651000"/>
            <a:ext cx="11572240" cy="1440180"/>
            <a:chOff x="480" y="2600"/>
            <a:chExt cx="18224" cy="2268"/>
          </a:xfrm>
        </p:grpSpPr>
        <p:sp>
          <p:nvSpPr>
            <p:cNvPr id="105" name="Shape 21"/>
            <p:cNvSpPr/>
            <p:nvPr/>
          </p:nvSpPr>
          <p:spPr>
            <a:xfrm>
              <a:off x="480" y="2600"/>
              <a:ext cx="2211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en-US" sz="12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业务安全与连续性</a:t>
              </a:r>
              <a:endParaRPr lang="en-US" alt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  <p:sp>
          <p:nvSpPr>
            <p:cNvPr id="106" name="Shape 23"/>
            <p:cNvSpPr/>
            <p:nvPr/>
          </p:nvSpPr>
          <p:spPr>
            <a:xfrm>
              <a:off x="2688" y="2600"/>
              <a:ext cx="4224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algn="l">
                <a:lnSpc>
                  <a:spcPct val="120000"/>
                </a:lnSpc>
              </a:pPr>
              <a:r>
                <a:rPr lang="en-US" altLang="zh-CN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</a:t>
              </a:r>
              <a:r>
                <a:rPr lang="zh-CN" altLang="en-US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</a:t>
              </a:r>
              <a:endParaRPr lang="zh-CN" altLang="en-US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algn="l">
                <a:lnSpc>
                  <a:spcPct val="120000"/>
                </a:lnSpc>
              </a:pPr>
              <a:r>
                <a:rPr lang="en-US" altLang="zh-CN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2</a:t>
              </a:r>
              <a:r>
                <a:rPr lang="zh-CN" altLang="en-US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</a:t>
              </a:r>
              <a:endPara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07" name="Shape 25"/>
            <p:cNvSpPr/>
            <p:nvPr/>
          </p:nvSpPr>
          <p:spPr>
            <a:xfrm>
              <a:off x="6912" y="2600"/>
              <a:ext cx="4876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1、</a:t>
              </a:r>
              <a:endPara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2、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08" name="Shape 26"/>
            <p:cNvSpPr/>
            <p:nvPr/>
          </p:nvSpPr>
          <p:spPr>
            <a:xfrm>
              <a:off x="6912" y="2600"/>
              <a:ext cx="77" cy="2268"/>
            </a:xfrm>
            <a:prstGeom prst="rect">
              <a:avLst/>
            </a:prstGeom>
            <a:solidFill>
              <a:srgbClr val="2563EB">
                <a:alpha val="50000"/>
              </a:srgbClr>
            </a:solidFill>
          </p:spPr>
        </p:sp>
        <p:sp>
          <p:nvSpPr>
            <p:cNvPr id="109" name="Shape 28"/>
            <p:cNvSpPr/>
            <p:nvPr/>
          </p:nvSpPr>
          <p:spPr>
            <a:xfrm>
              <a:off x="11792" y="2600"/>
              <a:ext cx="3456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1、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2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  <p:sp>
          <p:nvSpPr>
            <p:cNvPr id="110" name="Shape 29"/>
            <p:cNvSpPr/>
            <p:nvPr/>
          </p:nvSpPr>
          <p:spPr>
            <a:xfrm>
              <a:off x="11792" y="2600"/>
              <a:ext cx="77" cy="2268"/>
            </a:xfrm>
            <a:prstGeom prst="rect">
              <a:avLst/>
            </a:prstGeom>
            <a:solidFill>
              <a:srgbClr val="D97706">
                <a:alpha val="50000"/>
              </a:srgbClr>
            </a:solidFill>
          </p:spPr>
        </p:sp>
        <p:sp>
          <p:nvSpPr>
            <p:cNvPr id="111" name="Shape 31"/>
            <p:cNvSpPr/>
            <p:nvPr/>
          </p:nvSpPr>
          <p:spPr>
            <a:xfrm>
              <a:off x="15248" y="2600"/>
              <a:ext cx="3456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1、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2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  <p:sp>
          <p:nvSpPr>
            <p:cNvPr id="112" name="Shape 32"/>
            <p:cNvSpPr/>
            <p:nvPr/>
          </p:nvSpPr>
          <p:spPr>
            <a:xfrm>
              <a:off x="15248" y="2600"/>
              <a:ext cx="77" cy="2268"/>
            </a:xfrm>
            <a:prstGeom prst="rect">
              <a:avLst/>
            </a:prstGeom>
            <a:solidFill>
              <a:srgbClr val="059669">
                <a:alpha val="50000"/>
              </a:srgbClr>
            </a:solidFill>
          </p:spPr>
        </p:sp>
      </p:grpSp>
      <p:grpSp>
        <p:nvGrpSpPr>
          <p:cNvPr id="9" name="组合 8"/>
          <p:cNvGrpSpPr/>
          <p:nvPr/>
        </p:nvGrpSpPr>
        <p:grpSpPr>
          <a:xfrm>
            <a:off x="304800" y="3096895"/>
            <a:ext cx="11572240" cy="1440815"/>
            <a:chOff x="480" y="4296"/>
            <a:chExt cx="18224" cy="2269"/>
          </a:xfrm>
        </p:grpSpPr>
        <p:sp>
          <p:nvSpPr>
            <p:cNvPr id="113" name="Shape 34"/>
            <p:cNvSpPr/>
            <p:nvPr/>
          </p:nvSpPr>
          <p:spPr>
            <a:xfrm>
              <a:off x="480" y="4296"/>
              <a:ext cx="2211" cy="2268"/>
            </a:xfrm>
            <a:prstGeom prst="rect">
              <a:avLst/>
            </a:prstGeom>
            <a:solidFill>
              <a:srgbClr val="FFFFFF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 algn="ctr">
                <a:buNone/>
              </a:pPr>
              <a:r>
                <a:rPr lang="en-US" sz="12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安全考核与通报应对</a:t>
              </a:r>
              <a:endParaRPr lang="en-US" alt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  <p:sp>
          <p:nvSpPr>
            <p:cNvPr id="114" name="Shape 36"/>
            <p:cNvSpPr/>
            <p:nvPr/>
          </p:nvSpPr>
          <p:spPr>
            <a:xfrm>
              <a:off x="2688" y="4297"/>
              <a:ext cx="4224" cy="2268"/>
            </a:xfrm>
            <a:prstGeom prst="rect">
              <a:avLst/>
            </a:prstGeom>
            <a:solidFill>
              <a:srgbClr val="FFFFFF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 algn="l">
                <a:buNone/>
              </a:pPr>
              <a:r>
                <a:rPr lang="en-US" altLang="zh-CN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</a:t>
              </a:r>
              <a:r>
                <a:rPr lang="zh-CN" altLang="en-US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</a:t>
              </a:r>
              <a:endPara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marL="0" indent="0" algn="l">
                <a:buNone/>
              </a:pPr>
              <a:r>
                <a:rPr lang="en-US" altLang="zh-CN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2</a:t>
              </a:r>
              <a:r>
                <a:rPr lang="zh-CN" altLang="en-US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</a:t>
              </a:r>
              <a:endPara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marL="0" indent="0" algn="l">
                <a:buNone/>
              </a:pPr>
              <a:r>
                <a:rPr lang="en-US" altLang="zh-CN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3</a:t>
              </a:r>
              <a:r>
                <a:rPr lang="zh-CN" altLang="en-US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</a:t>
              </a:r>
              <a:endParaRPr lang="en-US" altLang="zh-CN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15" name="Shape 38"/>
            <p:cNvSpPr/>
            <p:nvPr/>
          </p:nvSpPr>
          <p:spPr>
            <a:xfrm>
              <a:off x="6912" y="4296"/>
              <a:ext cx="4876" cy="2268"/>
            </a:xfrm>
            <a:prstGeom prst="rect">
              <a:avLst/>
            </a:prstGeom>
            <a:solidFill>
              <a:schemeClr val="bg1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>
              <a:noAutofit/>
            </a:bodyPr>
            <a:p>
              <a:pPr lvl="0" algn="l">
                <a:buClrTx/>
                <a:buSzTx/>
                <a:buFontTx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1、</a:t>
              </a:r>
              <a:endPara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2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16" name="Shape 39"/>
            <p:cNvSpPr/>
            <p:nvPr/>
          </p:nvSpPr>
          <p:spPr>
            <a:xfrm>
              <a:off x="6912" y="4296"/>
              <a:ext cx="77" cy="2268"/>
            </a:xfrm>
            <a:prstGeom prst="rect">
              <a:avLst/>
            </a:prstGeom>
            <a:solidFill>
              <a:srgbClr val="2563EB">
                <a:alpha val="50000"/>
              </a:srgbClr>
            </a:solidFill>
          </p:spPr>
        </p:sp>
        <p:sp>
          <p:nvSpPr>
            <p:cNvPr id="117" name="Shape 41"/>
            <p:cNvSpPr/>
            <p:nvPr/>
          </p:nvSpPr>
          <p:spPr>
            <a:xfrm>
              <a:off x="11792" y="4296"/>
              <a:ext cx="3456" cy="2268"/>
            </a:xfrm>
            <a:prstGeom prst="rect">
              <a:avLst/>
            </a:prstGeom>
            <a:solidFill>
              <a:srgbClr val="FFFFFF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zh-CN" altLang="en-US" sz="1000" dirty="0">
                  <a:solidFill>
                    <a:srgbClr val="4C61E7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1、</a:t>
              </a:r>
              <a:endParaRPr lang="zh-CN" altLang="en-US" sz="1000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2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  <p:sp>
          <p:nvSpPr>
            <p:cNvPr id="118" name="Shape 42"/>
            <p:cNvSpPr/>
            <p:nvPr/>
          </p:nvSpPr>
          <p:spPr>
            <a:xfrm>
              <a:off x="11792" y="4296"/>
              <a:ext cx="77" cy="2268"/>
            </a:xfrm>
            <a:prstGeom prst="rect">
              <a:avLst/>
            </a:prstGeom>
            <a:solidFill>
              <a:srgbClr val="D97706">
                <a:alpha val="50000"/>
              </a:srgbClr>
            </a:solidFill>
          </p:spPr>
        </p:sp>
        <p:sp>
          <p:nvSpPr>
            <p:cNvPr id="119" name="Shape 44"/>
            <p:cNvSpPr/>
            <p:nvPr/>
          </p:nvSpPr>
          <p:spPr>
            <a:xfrm>
              <a:off x="15248" y="4296"/>
              <a:ext cx="3456" cy="2268"/>
            </a:xfrm>
            <a:prstGeom prst="rect">
              <a:avLst/>
            </a:prstGeom>
            <a:solidFill>
              <a:srgbClr val="FFFFFF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1、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2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  <p:sp>
          <p:nvSpPr>
            <p:cNvPr id="120" name="Shape 45"/>
            <p:cNvSpPr/>
            <p:nvPr/>
          </p:nvSpPr>
          <p:spPr>
            <a:xfrm>
              <a:off x="15248" y="4296"/>
              <a:ext cx="77" cy="2268"/>
            </a:xfrm>
            <a:prstGeom prst="rect">
              <a:avLst/>
            </a:prstGeom>
            <a:solidFill>
              <a:srgbClr val="059669">
                <a:alpha val="50000"/>
              </a:srgbClr>
            </a:solidFill>
          </p:spPr>
        </p:sp>
      </p:grpSp>
      <p:grpSp>
        <p:nvGrpSpPr>
          <p:cNvPr id="10" name="组合 9"/>
          <p:cNvGrpSpPr/>
          <p:nvPr/>
        </p:nvGrpSpPr>
        <p:grpSpPr>
          <a:xfrm>
            <a:off x="304800" y="4543425"/>
            <a:ext cx="11572240" cy="1445260"/>
            <a:chOff x="480" y="7310"/>
            <a:chExt cx="18224" cy="2276"/>
          </a:xfrm>
        </p:grpSpPr>
        <p:sp>
          <p:nvSpPr>
            <p:cNvPr id="121" name="Shape 47"/>
            <p:cNvSpPr/>
            <p:nvPr/>
          </p:nvSpPr>
          <p:spPr>
            <a:xfrm>
              <a:off x="480" y="7316"/>
              <a:ext cx="2211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 algn="ctr">
                <a:buNone/>
              </a:pPr>
              <a:r>
                <a:rPr lang="en-US" sz="12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重要时期</a:t>
              </a:r>
              <a:r>
                <a:rPr lang="zh-CN" altLang="en-US" sz="12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安全</a:t>
              </a:r>
              <a:r>
                <a:rPr lang="zh-CN" altLang="en-US" sz="12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保障</a:t>
              </a:r>
              <a:endParaRPr lang="zh-CN" alt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22" name="Shape 49"/>
            <p:cNvSpPr/>
            <p:nvPr/>
          </p:nvSpPr>
          <p:spPr>
            <a:xfrm>
              <a:off x="2688" y="7318"/>
              <a:ext cx="4224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algn="l">
                <a:lnSpc>
                  <a:spcPct val="120000"/>
                </a:lnSpc>
                <a:buClrTx/>
                <a:buSzTx/>
                <a:buFontTx/>
                <a:buNone/>
              </a:pPr>
              <a:r>
                <a:rPr lang="en-US" altLang="zh-CN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</a:t>
              </a:r>
              <a:r>
                <a:rPr lang="zh-CN" altLang="en-US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</a:t>
              </a:r>
              <a:endParaRPr lang="zh-CN" altLang="en-US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algn="l">
                <a:lnSpc>
                  <a:spcPct val="120000"/>
                </a:lnSpc>
                <a:buClrTx/>
                <a:buSzTx/>
                <a:buFontTx/>
                <a:buNone/>
              </a:pPr>
              <a:r>
                <a:rPr lang="en-US" altLang="zh-CN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2</a:t>
              </a:r>
              <a:r>
                <a:rPr lang="zh-CN" altLang="en-US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</a:t>
              </a:r>
              <a:endPara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23" name="Shape 51"/>
            <p:cNvSpPr/>
            <p:nvPr/>
          </p:nvSpPr>
          <p:spPr>
            <a:xfrm>
              <a:off x="6916" y="7310"/>
              <a:ext cx="4876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marL="0" indent="0">
                <a:buNone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2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24" name="Shape 52"/>
            <p:cNvSpPr/>
            <p:nvPr/>
          </p:nvSpPr>
          <p:spPr>
            <a:xfrm>
              <a:off x="6912" y="7317"/>
              <a:ext cx="77" cy="2268"/>
            </a:xfrm>
            <a:prstGeom prst="rect">
              <a:avLst/>
            </a:prstGeom>
            <a:solidFill>
              <a:srgbClr val="2563EB">
                <a:alpha val="50000"/>
              </a:srgbClr>
            </a:solidFill>
          </p:spPr>
        </p:sp>
        <p:sp>
          <p:nvSpPr>
            <p:cNvPr id="125" name="Shape 54"/>
            <p:cNvSpPr/>
            <p:nvPr/>
          </p:nvSpPr>
          <p:spPr>
            <a:xfrm>
              <a:off x="11792" y="7317"/>
              <a:ext cx="3456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>
              <a:noAutofit/>
            </a:bodyPr>
            <a:p>
              <a:pPr lvl="0" algn="l">
                <a:buClrTx/>
                <a:buSzTx/>
                <a:buFontTx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2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26" name="Shape 55"/>
            <p:cNvSpPr/>
            <p:nvPr/>
          </p:nvSpPr>
          <p:spPr>
            <a:xfrm>
              <a:off x="11792" y="7317"/>
              <a:ext cx="77" cy="2268"/>
            </a:xfrm>
            <a:prstGeom prst="rect">
              <a:avLst/>
            </a:prstGeom>
            <a:solidFill>
              <a:srgbClr val="D97706">
                <a:alpha val="50000"/>
              </a:srgbClr>
            </a:solidFill>
          </p:spPr>
        </p:sp>
        <p:sp>
          <p:nvSpPr>
            <p:cNvPr id="127" name="Shape 57"/>
            <p:cNvSpPr/>
            <p:nvPr/>
          </p:nvSpPr>
          <p:spPr>
            <a:xfrm>
              <a:off x="15248" y="7317"/>
              <a:ext cx="3456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1、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2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  <p:sp>
          <p:nvSpPr>
            <p:cNvPr id="128" name="Shape 58"/>
            <p:cNvSpPr/>
            <p:nvPr/>
          </p:nvSpPr>
          <p:spPr>
            <a:xfrm>
              <a:off x="15248" y="7317"/>
              <a:ext cx="77" cy="2268"/>
            </a:xfrm>
            <a:prstGeom prst="rect">
              <a:avLst/>
            </a:prstGeom>
            <a:solidFill>
              <a:srgbClr val="059669">
                <a:alpha val="50000"/>
              </a:srgbClr>
            </a:solidFill>
          </p:spPr>
        </p:sp>
      </p:grpSp>
      <p:sp>
        <p:nvSpPr>
          <p:cNvPr id="11" name="Text Box 27"/>
          <p:cNvSpPr txBox="1">
            <a:spLocks noChangeArrowheads="1"/>
          </p:cNvSpPr>
          <p:nvPr/>
        </p:nvSpPr>
        <p:spPr bwMode="auto">
          <a:xfrm>
            <a:off x="2050415" y="1839595"/>
            <a:ext cx="1995170" cy="3987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zh-CN" altLang="en-US" sz="1000" dirty="0">
                <a:solidFill>
                  <a:schemeClr val="tx1"/>
                </a:solidFill>
                <a:highlight>
                  <a:srgbClr val="FFFF00"/>
                </a:highlight>
                <a:latin typeface="Heiti SC Light" panose="02000000000000000000" charset="-122"/>
                <a:ea typeface="Heiti SC Light" panose="02000000000000000000" charset="-122"/>
              </a:rPr>
              <a:t>根据客户讨论对齐的结论刷新预期成果和协作计划</a:t>
            </a:r>
            <a:endParaRPr lang="zh-CN" altLang="en-US" sz="1000" dirty="0">
              <a:solidFill>
                <a:schemeClr val="tx1"/>
              </a:solidFill>
              <a:highlight>
                <a:srgbClr val="FFFF00"/>
              </a:highlight>
              <a:latin typeface="Heiti SC Light" panose="02000000000000000000" charset="-122"/>
              <a:ea typeface="Heiti SC Light" panose="02000000000000000000" charset="-122"/>
            </a:endParaRPr>
          </a:p>
        </p:txBody>
      </p:sp>
      <p:grpSp>
        <p:nvGrpSpPr>
          <p:cNvPr id="12" name="组合 11"/>
          <p:cNvGrpSpPr/>
          <p:nvPr/>
        </p:nvGrpSpPr>
        <p:grpSpPr>
          <a:xfrm>
            <a:off x="224790" y="289878"/>
            <a:ext cx="4462780" cy="327025"/>
            <a:chOff x="533" y="646"/>
            <a:chExt cx="7028" cy="515"/>
          </a:xfrm>
        </p:grpSpPr>
        <p:grpSp>
          <p:nvGrpSpPr>
            <p:cNvPr id="13" name="组合 12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14" name="燕尾形 86"/>
              <p:cNvSpPr/>
              <p:nvPr>
                <p:custDataLst>
                  <p:tags r:id="rId2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15" name="燕尾形 103"/>
              <p:cNvSpPr/>
              <p:nvPr>
                <p:custDataLst>
                  <p:tags r:id="rId3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16" name="textbox 158"/>
            <p:cNvSpPr/>
            <p:nvPr/>
          </p:nvSpPr>
          <p:spPr>
            <a:xfrm>
              <a:off x="1345" y="646"/>
              <a:ext cx="6216" cy="51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p>
              <a:pPr algn="l" rtl="0" eaLnBrk="0">
                <a:lnSpc>
                  <a:spcPct val="78000"/>
                </a:lnSpc>
              </a:pPr>
              <a:endParaRPr sz="100" dirty="0">
                <a:solidFill>
                  <a:schemeClr val="tx1">
                    <a:lumMod val="85000"/>
                    <a:lumOff val="15000"/>
                  </a:schemeClr>
                </a:solidFill>
                <a:latin typeface="Source Han Sans CN Medium" panose="020B0600000000000000" charset="-122"/>
                <a:ea typeface="Source Han Sans CN Medium" panose="020B0600000000000000" charset="-122"/>
                <a:cs typeface="Arial" panose="020B0604020202020204"/>
              </a:endParaRPr>
            </a:p>
            <a:p>
              <a:pPr algn="l" rtl="0" eaLnBrk="0">
                <a:lnSpc>
                  <a:spcPct val="101000"/>
                </a:lnSpc>
              </a:pPr>
              <a:r>
                <a:rPr lang="zh-CN" altLang="en-US" sz="1900" b="1" noProof="0" dirty="0">
                  <a:solidFill>
                    <a:schemeClr val="tx1">
                      <a:lumMod val="85000"/>
                      <a:lumOff val="15000"/>
                    </a:schemeClr>
                  </a:solidFill>
                  <a:uLnTx/>
                  <a:latin typeface="Source Han Sans CN Bold" panose="020B0600000000000000" charset="-122"/>
                  <a:ea typeface="Source Han Sans CN Bold" panose="020B0600000000000000" charset="-122"/>
                  <a:sym typeface="Calibri" panose="020F0502020204030204" charset="0"/>
                </a:rPr>
                <a:t>关键价值成果与分工协作机制</a:t>
              </a:r>
              <a:r>
                <a:rPr lang="zh-CN" altLang="en-US" sz="1900" b="1" noProof="0" dirty="0">
                  <a:solidFill>
                    <a:schemeClr val="tx1">
                      <a:lumMod val="85000"/>
                      <a:lumOff val="15000"/>
                    </a:schemeClr>
                  </a:solidFill>
                  <a:uLnTx/>
                  <a:latin typeface="Source Han Sans CN Bold" panose="020B0600000000000000" charset="-122"/>
                  <a:ea typeface="Source Han Sans CN Bold" panose="020B0600000000000000" charset="-122"/>
                  <a:sym typeface="Calibri" panose="020F0502020204030204" charset="0"/>
                </a:rPr>
                <a:t>刷新</a:t>
              </a:r>
              <a:endPara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Source Han Sans CN Bold" panose="020B0600000000000000" charset="-122"/>
                <a:ea typeface="Source Han Sans CN Bold" panose="020B0600000000000000" charset="-122"/>
                <a:sym typeface="Calibri" panose="020F0502020204030204" charset="0"/>
              </a:endParaRP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 descr="深信服 + 智安全"/>
          <p:cNvPicPr>
            <a:picLocks noChangeAspect="1"/>
          </p:cNvPicPr>
          <p:nvPr/>
        </p:nvPicPr>
        <p:blipFill>
          <a:blip r:embed="rId1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  <p:pic>
        <p:nvPicPr>
          <p:cNvPr id="26" name="图片 25" descr="175514342129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700" y="5785485"/>
            <a:ext cx="10998835" cy="779145"/>
          </a:xfrm>
          <a:prstGeom prst="rect">
            <a:avLst/>
          </a:prstGeom>
        </p:spPr>
      </p:pic>
      <p:sp>
        <p:nvSpPr>
          <p:cNvPr id="27" name="文本框 26"/>
          <p:cNvSpPr txBox="1"/>
          <p:nvPr/>
        </p:nvSpPr>
        <p:spPr>
          <a:xfrm>
            <a:off x="860425" y="5890260"/>
            <a:ext cx="10523855" cy="5702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indent="0" algn="l">
              <a:lnSpc>
                <a:spcPct val="117000"/>
              </a:lnSpc>
            </a:pPr>
            <a:r>
              <a:rPr lang="en-US" sz="1200" b="1">
                <a:solidFill>
                  <a:srgbClr val="0052CC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我们的承诺：</a:t>
            </a:r>
            <a:r>
              <a:rPr lang="zh-CN" altLang="en-US" sz="1200" b="1">
                <a:solidFill>
                  <a:srgbClr val="0052CC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数智化</a:t>
            </a:r>
            <a:r>
              <a:rPr lang="en-US" sz="1200" b="1">
                <a:solidFill>
                  <a:srgbClr val="0052CC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转型的坚实后盾</a:t>
            </a:r>
            <a:endParaRPr lang="en-US" sz="1200" b="1" i="0" u="none" strike="noStrike">
              <a:solidFill>
                <a:srgbClr val="0052CC"/>
              </a:solidFill>
              <a:latin typeface="Arial" panose="020B0604020202020204" pitchFamily="34" charset="0"/>
              <a:ea typeface="黑体-简" panose="02000000000000000000" charset="-122"/>
              <a:cs typeface="Noto Sans SC"/>
              <a:sym typeface="Noto Sans SC"/>
            </a:endParaRPr>
          </a:p>
          <a:p>
            <a:pPr indent="0" algn="l">
              <a:lnSpc>
                <a:spcPct val="117000"/>
              </a:lnSpc>
            </a:pPr>
            <a:r>
              <a:rPr lang="en-US" sz="1200">
                <a:solidFill>
                  <a:srgbClr val="404040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安全运营中心将继续以专业能力、创新技术和高度责任感，作为公司数字转型的坚实后盾，为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{{company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}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}</a:t>
            </a:r>
            <a:r>
              <a:rPr lang="en-US" sz="1200">
                <a:solidFill>
                  <a:srgbClr val="404040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的未来稳健发展保驾护航。</a:t>
            </a:r>
            <a:endParaRPr lang="en-US" altLang="en-US" sz="1200" spc="90" dirty="0">
              <a:solidFill>
                <a:srgbClr val="404040"/>
              </a:solidFill>
              <a:latin typeface="Arial" panose="020B0604020202020204" pitchFamily="34" charset="0"/>
              <a:ea typeface="黑体-简" panose="02000000000000000000" charset="-122"/>
              <a:cs typeface="Noto Sans SC"/>
              <a:sym typeface="Noto Sans SC"/>
            </a:endParaRPr>
          </a:p>
        </p:txBody>
      </p:sp>
      <p:sp>
        <p:nvSpPr>
          <p:cNvPr id="17" name="textbox 746"/>
          <p:cNvSpPr/>
          <p:nvPr/>
        </p:nvSpPr>
        <p:spPr>
          <a:xfrm>
            <a:off x="647700" y="915670"/>
            <a:ext cx="5943600" cy="4700270"/>
          </a:xfrm>
          <a:prstGeom prst="rect">
            <a:avLst/>
          </a:prstGeom>
          <a:solidFill>
            <a:srgbClr val="EFF6FD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marL="127000" algn="l" defTabSz="914400" rtl="0" eaLnBrk="0">
              <a:lnSpc>
                <a:spcPct val="100000"/>
              </a:lnSpc>
              <a:spcBef>
                <a:spcPts val="975"/>
              </a:spcBef>
              <a:spcAft>
                <a:spcPct val="0"/>
              </a:spcAft>
            </a:pPr>
            <a:endParaRPr sz="1200" kern="0" spc="10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18" name="Text 2"/>
          <p:cNvSpPr/>
          <p:nvPr/>
        </p:nvSpPr>
        <p:spPr>
          <a:xfrm>
            <a:off x="760730" y="915670"/>
            <a:ext cx="1271270" cy="332740"/>
          </a:xfrm>
          <a:prstGeom prst="rect">
            <a:avLst/>
          </a:prstGeom>
          <a:noFill/>
        </p:spPr>
        <p:txBody>
          <a:bodyPr wrap="square" lIns="0" tIns="0" rIns="0" bIns="0" rtlCol="0" anchor="ctr" anchorCtr="0"/>
          <a:p>
            <a:pPr algn="l" defTabSz="914400" eaLnBrk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zh-CN" sz="1200" b="1" kern="0" dirty="0">
                <a:solidFill>
                  <a:srgbClr val="30408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关键事项</a:t>
            </a:r>
            <a:endParaRPr lang="zh-CN" sz="1200" b="1" kern="0" dirty="0">
              <a:solidFill>
                <a:srgbClr val="304080">
                  <a:alpha val="100000"/>
                </a:srgbClr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6692900" y="915670"/>
            <a:ext cx="4954270" cy="470027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 anchor="t">
            <a:noAutofit/>
          </a:bodyPr>
          <a:p>
            <a:pPr marL="11430" algn="l" defTabSz="914400" rtl="0" eaLnBrk="0">
              <a:lnSpc>
                <a:spcPct val="99000"/>
              </a:lnSpc>
              <a:spcBef>
                <a:spcPct val="0"/>
              </a:spcBef>
              <a:spcAft>
                <a:spcPct val="0"/>
              </a:spcAft>
            </a:pPr>
            <a:endParaRPr lang="zh-CN" sz="900" kern="0" spc="-1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20" name="Text 2"/>
          <p:cNvSpPr/>
          <p:nvPr/>
        </p:nvSpPr>
        <p:spPr>
          <a:xfrm>
            <a:off x="6820535" y="915670"/>
            <a:ext cx="1910715" cy="332740"/>
          </a:xfrm>
          <a:prstGeom prst="rect">
            <a:avLst/>
          </a:prstGeom>
          <a:noFill/>
        </p:spPr>
        <p:txBody>
          <a:bodyPr wrap="square" lIns="0" tIns="0" rIns="0" bIns="0" rtlCol="0" anchor="ctr" anchorCtr="0"/>
          <a:p>
            <a:pPr algn="l" defTabSz="914400" eaLnBrk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zh-CN" sz="1200" b="1" kern="0" dirty="0">
                <a:solidFill>
                  <a:srgbClr val="30408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需要客户方协作事项</a:t>
            </a:r>
            <a:endParaRPr lang="zh-CN" sz="1200" b="1" kern="0" dirty="0">
              <a:solidFill>
                <a:srgbClr val="304080">
                  <a:alpha val="100000"/>
                </a:srgbClr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</p:txBody>
      </p:sp>
      <p:graphicFrame>
        <p:nvGraphicFramePr>
          <p:cNvPr id="21" name="表格 20"/>
          <p:cNvGraphicFramePr/>
          <p:nvPr>
            <p:custDataLst>
              <p:tags r:id="rId3"/>
            </p:custDataLst>
          </p:nvPr>
        </p:nvGraphicFramePr>
        <p:xfrm>
          <a:off x="770890" y="1248410"/>
          <a:ext cx="5690870" cy="4218940"/>
        </p:xfrm>
        <a:graphic>
          <a:graphicData uri="http://schemas.openxmlformats.org/drawingml/2006/table">
            <a:tbl>
              <a:tblPr firstRow="1" lastCol="1" bandCol="1">
                <a:tableStyleId>{0126E9F6-41A6-44B7-8387-491034A24550}</a:tableStyleId>
              </a:tblPr>
              <a:tblGrid>
                <a:gridCol w="995680"/>
                <a:gridCol w="645795"/>
                <a:gridCol w="4049395"/>
              </a:tblGrid>
              <a:tr h="24384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事项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5"/>
                        </a:gs>
                        <a:gs pos="0">
                          <a:schemeClr val="accent5">
                            <a:lumMod val="25000"/>
                            <a:lumOff val="75000"/>
                          </a:schemeClr>
                        </a:gs>
                        <a:gs pos="100000">
                          <a:schemeClr val="accent5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计划完成时间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5"/>
                        </a:gs>
                        <a:gs pos="0">
                          <a:schemeClr val="accent5">
                            <a:lumMod val="25000"/>
                            <a:lumOff val="75000"/>
                          </a:schemeClr>
                        </a:gs>
                        <a:gs pos="100000">
                          <a:schemeClr val="accent5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solidFill>
                            <a:srgbClr val="FFFF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下一步工作计划</a:t>
                      </a:r>
                      <a:endParaRPr lang="zh-CN" altLang="en-US" sz="1000">
                        <a:solidFill>
                          <a:srgbClr val="FFFF00"/>
                        </a:solidFill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5"/>
                        </a:gs>
                        <a:gs pos="0">
                          <a:schemeClr val="accent5">
                            <a:lumMod val="25000"/>
                            <a:lumOff val="75000"/>
                          </a:schemeClr>
                        </a:gs>
                        <a:gs pos="100000">
                          <a:schemeClr val="accent5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</a:tr>
              <a:tr h="54864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暴露面扫描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0430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marL="101600" indent="-101600" algn="l" defTabSz="91440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SzPct val="100000"/>
                        <a:buFont typeface="+mj-lt"/>
                        <a:buAutoNum type="arabicPeriod"/>
                      </a:pPr>
                      <a:r>
                        <a:rPr lang="zh-CN" altLang="en-US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对最新的暴露面风险进行验证和确认，暴露面监测持续开展</a:t>
                      </a:r>
                      <a:r>
                        <a:rPr lang="en-US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。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  <a:tr h="95440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  <a:sym typeface="+mn-ea"/>
                        </a:rPr>
                        <a:t>勒索风险排查及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  <a:sym typeface="+mn-ea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  <a:sym typeface="+mn-ea"/>
                        </a:rPr>
                        <a:t>脆弱性梳理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0515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marL="101600" indent="-101600" algn="l">
                        <a:lnSpc>
                          <a:spcPct val="150000"/>
                        </a:lnSpc>
                        <a:buClrTx/>
                        <a:buSzTx/>
                        <a:buFont typeface="+mj-lt"/>
                        <a:buAutoNum type="arabicPeriod"/>
                      </a:pPr>
                      <a:r>
                        <a:rPr lang="en-US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对服务资产开展</a:t>
                      </a:r>
                      <a:r>
                        <a:rPr lang="zh-CN" altLang="en-US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勒索风险排查</a:t>
                      </a:r>
                      <a:r>
                        <a:rPr lang="en-US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，分析</a:t>
                      </a:r>
                      <a:r>
                        <a:rPr lang="zh-CN" altLang="en-US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勒索风险</a:t>
                      </a:r>
                      <a:r>
                        <a:rPr lang="en-US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情况</a:t>
                      </a:r>
                      <a:r>
                        <a:rPr lang="zh-CN" altLang="en-US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推动处置。</a:t>
                      </a:r>
                      <a:endParaRPr lang="en-US" sz="1000" dirty="0">
                        <a:solidFill>
                          <a:srgbClr val="14161A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pitchFamily="34" charset="-120"/>
                      </a:endParaRPr>
                    </a:p>
                    <a:p>
                      <a:pPr marL="101600" indent="-101600" algn="l">
                        <a:lnSpc>
                          <a:spcPct val="150000"/>
                        </a:lnSpc>
                        <a:buClrTx/>
                        <a:buSzTx/>
                        <a:buFont typeface="+mj-lt"/>
                        <a:buAutoNum type="arabicPeriod"/>
                      </a:pPr>
                      <a:r>
                        <a:rPr lang="zh-CN" altLang="en-US" sz="1000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完善</a:t>
                      </a:r>
                      <a:r>
                        <a:rPr lang="en-US" sz="1000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漏洞</a:t>
                      </a:r>
                      <a:r>
                        <a:rPr lang="zh-CN" altLang="en-US" sz="1000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修复优先级清单</a:t>
                      </a:r>
                      <a:r>
                        <a:rPr lang="en-US" sz="1000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，制定未闭环漏洞</a:t>
                      </a:r>
                      <a:r>
                        <a:rPr lang="zh-CN" altLang="en-US" sz="1000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的消减建议计划。</a:t>
                      </a:r>
                      <a:endParaRPr lang="en-US" sz="1000" dirty="0">
                        <a:solidFill>
                          <a:srgbClr val="FF0000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pitchFamily="34" charset="-120"/>
                      </a:endParaRPr>
                    </a:p>
                    <a:p>
                      <a:pPr marL="101600" indent="-101600" algn="l">
                        <a:lnSpc>
                          <a:spcPct val="150000"/>
                        </a:lnSpc>
                        <a:buClrTx/>
                        <a:buSzTx/>
                        <a:buFont typeface="+mj-lt"/>
                        <a:buAutoNum type="arabicPeriod"/>
                      </a:pPr>
                      <a:r>
                        <a:rPr lang="en-US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持续监测弱口令情况，重点关注外网高权限及管理员账号的弱口令进行跟进修复。</a:t>
                      </a:r>
                      <a:endParaRPr lang="en-US" sz="1000" dirty="0">
                        <a:solidFill>
                          <a:srgbClr val="14161A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pitchFamily="34" charset="-120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  <a:tr h="1294765"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  <a:sym typeface="+mn-ea"/>
                        </a:rPr>
                        <a:t>安全响应能力提升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0522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indent="0" algn="l" defTabSz="91440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1000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1.</a:t>
                      </a:r>
                      <a:r>
                        <a:rPr lang="zh-CN" altLang="en-US" sz="1000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提供当前服务器主机</a:t>
                      </a:r>
                      <a:r>
                        <a:rPr lang="en-US" altLang="zh-CN" sz="1000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EDR</a:t>
                      </a:r>
                      <a:r>
                        <a:rPr lang="zh-CN" altLang="en-US" sz="1000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覆盖的主机及检测到同网段未覆盖的主机清单；</a:t>
                      </a:r>
                      <a:endParaRPr lang="zh-CN" altLang="en-US" sz="1000" dirty="0">
                        <a:solidFill>
                          <a:srgbClr val="FF0000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pitchFamily="34" charset="-120"/>
                        <a:sym typeface="+mn-ea"/>
                      </a:endParaRPr>
                    </a:p>
                    <a:p>
                      <a:pPr marL="0" indent="0" algn="l" defTabSz="91440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2</a:t>
                      </a:r>
                      <a:r>
                        <a:rPr lang="zh-CN" altLang="en-US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、协助推动服务器</a:t>
                      </a:r>
                      <a:r>
                        <a:rPr lang="en-US" altLang="zh-CN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EDR</a:t>
                      </a:r>
                      <a:r>
                        <a:rPr lang="zh-CN" altLang="en-US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覆盖，提升主机安全问题响应处置效率。</a:t>
                      </a:r>
                      <a:endParaRPr lang="zh-CN" altLang="en-US" sz="1000" dirty="0">
                        <a:solidFill>
                          <a:srgbClr val="14161A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pitchFamily="34" charset="-120"/>
                        <a:sym typeface="+mn-ea"/>
                      </a:endParaRPr>
                    </a:p>
                    <a:p>
                      <a:pPr marL="0" algn="l" defTabSz="914400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zh-CN" altLang="en-US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3、开展安全组件策略巡检及跟进调优。</a:t>
                      </a:r>
                      <a:endParaRPr lang="zh-CN" altLang="en-US" sz="1000" dirty="0">
                        <a:solidFill>
                          <a:srgbClr val="14161A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pitchFamily="34" charset="-120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  <a:tr h="97345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安全运营机验证对齐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530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l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zh-CN" altLang="en-US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基于前期的协同优化项试点跑通情况进行复盘总结，对齐下一步运营迭代计划。</a:t>
                      </a:r>
                      <a:endParaRPr lang="zh-CN" altLang="en-US" sz="1000" dirty="0">
                        <a:solidFill>
                          <a:srgbClr val="14161A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pitchFamily="34" charset="-120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" name="表格 21"/>
          <p:cNvGraphicFramePr/>
          <p:nvPr>
            <p:custDataLst>
              <p:tags r:id="rId4"/>
            </p:custDataLst>
          </p:nvPr>
        </p:nvGraphicFramePr>
        <p:xfrm>
          <a:off x="6820535" y="1249045"/>
          <a:ext cx="4748530" cy="4218305"/>
        </p:xfrm>
        <a:graphic>
          <a:graphicData uri="http://schemas.openxmlformats.org/drawingml/2006/table">
            <a:tbl>
              <a:tblPr firstRow="1" lastCol="1" bandCol="1">
                <a:tableStyleId>{0126E9F6-41A6-44B7-8387-491034A24550}</a:tableStyleId>
              </a:tblPr>
              <a:tblGrid>
                <a:gridCol w="1614805"/>
                <a:gridCol w="904240"/>
                <a:gridCol w="2229485"/>
              </a:tblGrid>
              <a:tr h="34671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事项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6"/>
                        </a:gs>
                        <a:gs pos="0">
                          <a:schemeClr val="accent6">
                            <a:lumMod val="25000"/>
                            <a:lumOff val="75000"/>
                          </a:schemeClr>
                        </a:gs>
                        <a:gs pos="100000">
                          <a:schemeClr val="accent6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计划时间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6"/>
                        </a:gs>
                        <a:gs pos="0">
                          <a:schemeClr val="accent6">
                            <a:lumMod val="25000"/>
                            <a:lumOff val="75000"/>
                          </a:schemeClr>
                        </a:gs>
                        <a:gs pos="100000">
                          <a:schemeClr val="accent6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solidFill>
                            <a:srgbClr val="FFFF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下一次沟通计划</a:t>
                      </a:r>
                      <a:endParaRPr lang="zh-CN" altLang="en-US" sz="1000">
                        <a:solidFill>
                          <a:srgbClr val="FFFF00"/>
                        </a:solidFill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6"/>
                        </a:gs>
                        <a:gs pos="0">
                          <a:schemeClr val="accent6">
                            <a:lumMod val="25000"/>
                            <a:lumOff val="75000"/>
                          </a:schemeClr>
                        </a:gs>
                        <a:gs pos="100000">
                          <a:schemeClr val="accent6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</a:tr>
              <a:tr h="9613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确认最新的所有互联网出口</a:t>
                      </a: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IP</a:t>
                      </a: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和根域名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0428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0</a:t>
                      </a:r>
                      <a:r>
                        <a:rPr lang="en-US" altLang="zh-CN" sz="10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508</a:t>
                      </a:r>
                      <a:r>
                        <a:rPr lang="zh-CN" altLang="en-US" sz="10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：对暴露面梳理结果进行沟通对齐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  <a:tr h="91821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1</a:t>
                      </a: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、配合反馈脆弱性修复情况进展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  <a:p>
                      <a:pPr algn="ctr">
                        <a:buNone/>
                      </a:pP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2</a:t>
                      </a: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、对齐修复落地计划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0</a:t>
                      </a: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508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0</a:t>
                      </a:r>
                      <a:r>
                        <a:rPr lang="en-US" altLang="zh-CN" sz="10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522</a:t>
                      </a:r>
                      <a:r>
                        <a:rPr lang="zh-CN" altLang="en-US" sz="10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：对漏洞扫描结果进行沟通，确认修复方案。 </a:t>
                      </a:r>
                      <a:endParaRPr lang="zh-CN" altLang="en-US" sz="1000" b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  <a:tr h="99568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1</a:t>
                      </a: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、策略调优确认及授权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0515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zh-CN" altLang="en-US" sz="10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0522：对齐调优情况及结果</a:t>
                      </a:r>
                      <a:endParaRPr lang="zh-CN" altLang="en-US" sz="1000" b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  <a:tr h="99631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推进主机</a:t>
                      </a: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EDR</a:t>
                      </a: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的覆盖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0530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zh-CN" altLang="en-US" sz="10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0</a:t>
                      </a:r>
                      <a:r>
                        <a:rPr lang="en-US" altLang="zh-CN" sz="10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605</a:t>
                      </a:r>
                      <a:r>
                        <a:rPr lang="zh-CN" altLang="en-US" sz="10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：对齐覆盖情况。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grpSp>
        <p:nvGrpSpPr>
          <p:cNvPr id="2" name="组合 1"/>
          <p:cNvGrpSpPr/>
          <p:nvPr/>
        </p:nvGrpSpPr>
        <p:grpSpPr>
          <a:xfrm>
            <a:off x="224790" y="289878"/>
            <a:ext cx="6011545" cy="327025"/>
            <a:chOff x="533" y="646"/>
            <a:chExt cx="9467" cy="515"/>
          </a:xfrm>
        </p:grpSpPr>
        <p:grpSp>
          <p:nvGrpSpPr>
            <p:cNvPr id="3" name="组合 2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4" name="燕尾形 86"/>
              <p:cNvSpPr/>
              <p:nvPr>
                <p:custDataLst>
                  <p:tags r:id="rId5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8" name="燕尾形 103"/>
              <p:cNvSpPr/>
              <p:nvPr>
                <p:custDataLst>
                  <p:tags r:id="rId6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24" name="textbox 158"/>
            <p:cNvSpPr/>
            <p:nvPr/>
          </p:nvSpPr>
          <p:spPr>
            <a:xfrm>
              <a:off x="1345" y="646"/>
              <a:ext cx="8655" cy="51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p>
              <a:pPr algn="l" rtl="0" eaLnBrk="0">
                <a:lnSpc>
                  <a:spcPct val="78000"/>
                </a:lnSpc>
              </a:pPr>
              <a:endParaRPr sz="1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  <a:ea typeface="微软雅黑" panose="020B0503020204020204" charset="-122"/>
                <a:cs typeface="Arial" panose="020B0604020202020204"/>
              </a:endParaRPr>
            </a:p>
            <a:p>
              <a:pPr algn="l" rtl="0" eaLnBrk="0">
                <a:lnSpc>
                  <a:spcPct val="101000"/>
                </a:lnSpc>
              </a:pPr>
              <a:r>
                <a:rPr lang="zh-CN" altLang="en-US" sz="1900" b="1" noProof="0" dirty="0">
                  <a:solidFill>
                    <a:schemeClr val="tx1">
                      <a:lumMod val="85000"/>
                      <a:lumOff val="15000"/>
                    </a:schemeClr>
                  </a:solidFill>
                  <a:uLnTx/>
                  <a:latin typeface="Arial Black" panose="020B0A04020102020204" pitchFamily="34" charset="0"/>
                  <a:ea typeface="微软雅黑" panose="020B0503020204020204" charset="-122"/>
                  <a:sym typeface="Calibri" panose="020F0502020204030204" charset="0"/>
                </a:rPr>
                <a:t>下一阶段行动</a:t>
              </a:r>
              <a:r>
                <a:rPr lang="zh-CN" altLang="en-US" sz="1900" b="1" noProof="0" dirty="0">
                  <a:solidFill>
                    <a:schemeClr val="tx1">
                      <a:lumMod val="85000"/>
                      <a:lumOff val="15000"/>
                    </a:schemeClr>
                  </a:solidFill>
                  <a:uLnTx/>
                  <a:latin typeface="Arial Black" panose="020B0A04020102020204" pitchFamily="34" charset="0"/>
                  <a:ea typeface="微软雅黑" panose="020B0503020204020204" charset="-122"/>
                  <a:sym typeface="Calibri" panose="020F0502020204030204" charset="0"/>
                </a:rPr>
                <a:t>计划</a:t>
              </a:r>
              <a:endPara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endParaRP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图片 62" descr="深信服 + 智安全"/>
          <p:cNvPicPr>
            <a:picLocks noChangeAspect="1"/>
          </p:cNvPicPr>
          <p:nvPr/>
        </p:nvPicPr>
        <p:blipFill>
          <a:blip r:embed="rId1"/>
          <a:srcRect l="5232" t="26576" r="4938" b="29565"/>
          <a:stretch>
            <a:fillRect/>
          </a:stretch>
        </p:blipFill>
        <p:spPr>
          <a:xfrm>
            <a:off x="10330815" y="273073"/>
            <a:ext cx="1629867" cy="360000"/>
          </a:xfrm>
          <a:prstGeom prst="rect">
            <a:avLst/>
          </a:prstGeom>
        </p:spPr>
      </p:pic>
      <p:sp>
        <p:nvSpPr>
          <p:cNvPr id="1880" name="文本框 8"/>
          <p:cNvSpPr txBox="1"/>
          <p:nvPr/>
        </p:nvSpPr>
        <p:spPr>
          <a:xfrm>
            <a:off x="1229360" y="3956685"/>
            <a:ext cx="5427345" cy="240030"/>
          </a:xfrm>
          <a:prstGeom prst="rect">
            <a:avLst/>
          </a:prstGeom>
          <a:ln w="12700">
            <a:miter lim="400000"/>
          </a:ln>
        </p:spPr>
        <p:txBody>
          <a:bodyPr wrap="square" lIns="34290" tIns="34290" rIns="34290" bIns="34290">
            <a:spAutoFit/>
          </a:bodyPr>
          <a:lstStyle>
            <a:lvl1pPr algn="just">
              <a:lnSpc>
                <a:spcPct val="80000"/>
              </a:lnSpc>
              <a:spcBef>
                <a:spcPts val="1000"/>
              </a:spcBef>
              <a:defRPr sz="14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lvl1pPr>
          </a:lstStyle>
          <a:p>
            <a:pPr algn="l"/>
            <a:r>
              <a:rPr lang="zh-CN" altLang="en-US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</a:rPr>
              <a:t>感谢这份双向奔赴的信任，期待我们继续并肩，共同创造价值</a:t>
            </a:r>
            <a:endParaRPr lang="zh-CN" altLang="en-US">
              <a:solidFill>
                <a:schemeClr val="tx1"/>
              </a:solidFill>
              <a:latin typeface="Arial" panose="020B0604020202020204" pitchFamily="34" charset="0"/>
              <a:ea typeface="黑体-简" panose="02000000000000000000" charset="-122"/>
            </a:endParaRPr>
          </a:p>
        </p:txBody>
      </p:sp>
      <p:sp>
        <p:nvSpPr>
          <p:cNvPr id="4" name="标题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240155" y="2310765"/>
            <a:ext cx="5552440" cy="1230630"/>
          </a:xfrm>
        </p:spPr>
        <p:txBody>
          <a:bodyPr vert="horz" wrap="square" lIns="0" tIns="0" rIns="0" bIns="0" rtlCol="0" anchor="ctr" anchorCtr="0">
            <a:normAutofit fontScale="90000"/>
          </a:bodyPr>
          <a:lstStyle/>
          <a:p>
            <a:pPr lvl="0" algn="l">
              <a:buClrTx/>
              <a:buSzTx/>
              <a:buFontTx/>
            </a:pPr>
            <a:r>
              <a:rPr lang="zh-CN" altLang="en-US" sz="4800">
                <a:solidFill>
                  <a:srgbClr val="4C61E7"/>
                </a:solidFill>
                <a:latin typeface="Arial Black" panose="020B0A04020102020204" pitchFamily="34" charset="0"/>
                <a:ea typeface="微软雅黑" panose="020B0503020204020204" charset="-122"/>
                <a:sym typeface="+mn-ea"/>
              </a:rPr>
              <a:t>客户成功  </a:t>
            </a:r>
            <a:br>
              <a:rPr lang="zh-CN" altLang="en-US" sz="4800">
                <a:solidFill>
                  <a:srgbClr val="4C61E7"/>
                </a:solidFill>
                <a:latin typeface="Arial Black" panose="020B0A04020102020204" pitchFamily="34" charset="0"/>
                <a:ea typeface="微软雅黑" panose="020B0503020204020204" charset="-122"/>
                <a:sym typeface="+mn-ea"/>
              </a:rPr>
            </a:br>
            <a:r>
              <a:rPr lang="zh-CN" altLang="en-US" sz="4800">
                <a:solidFill>
                  <a:srgbClr val="4C61E7"/>
                </a:solidFill>
                <a:latin typeface="Arial Black" panose="020B0A04020102020204" pitchFamily="34" charset="0"/>
                <a:ea typeface="微软雅黑" panose="020B0503020204020204" charset="-122"/>
                <a:sym typeface="+mn-ea"/>
              </a:rPr>
              <a:t>才是深信服的成功</a:t>
            </a:r>
            <a:endParaRPr lang="zh-CN" altLang="en-US" sz="4800">
              <a:solidFill>
                <a:srgbClr val="4C61E7"/>
              </a:solidFill>
              <a:latin typeface="Arial Black" panose="020B0A04020102020204" pitchFamily="34" charset="0"/>
              <a:ea typeface="微软雅黑" panose="020B0503020204020204" charset="-122"/>
              <a:sym typeface="+mn-ea"/>
            </a:endParaRPr>
          </a:p>
        </p:txBody>
      </p:sp>
      <p:grpSp>
        <p:nvGrpSpPr>
          <p:cNvPr id="247" name="组合 246"/>
          <p:cNvGrpSpPr/>
          <p:nvPr>
            <p:custDataLst>
              <p:tags r:id="rId3"/>
            </p:custDataLst>
          </p:nvPr>
        </p:nvGrpSpPr>
        <p:grpSpPr>
          <a:xfrm rot="0">
            <a:off x="8006715" y="2411730"/>
            <a:ext cx="2171700" cy="2050415"/>
            <a:chOff x="2318" y="2339"/>
            <a:chExt cx="14664" cy="14559"/>
          </a:xfrm>
        </p:grpSpPr>
        <p:sp>
          <p:nvSpPr>
            <p:cNvPr id="248" name="任意多边形 247"/>
            <p:cNvSpPr/>
            <p:nvPr>
              <p:custDataLst>
                <p:tags r:id="rId4"/>
              </p:custDataLst>
            </p:nvPr>
          </p:nvSpPr>
          <p:spPr>
            <a:xfrm>
              <a:off x="6476" y="14814"/>
              <a:ext cx="10506" cy="1920"/>
            </a:xfrm>
            <a:custGeom>
              <a:avLst/>
              <a:gdLst>
                <a:gd name="connisteX0" fmla="*/ 0 w 3017520"/>
                <a:gd name="connsiteY0" fmla="*/ 533400 h 571500"/>
                <a:gd name="connisteX1" fmla="*/ 289560 w 3017520"/>
                <a:gd name="connsiteY1" fmla="*/ 571500 h 571500"/>
                <a:gd name="connisteX2" fmla="*/ 3017520 w 3017520"/>
                <a:gd name="connsiteY2" fmla="*/ 281940 h 571500"/>
                <a:gd name="connisteX3" fmla="*/ 2811780 w 3017520"/>
                <a:gd name="connsiteY3" fmla="*/ 0 h 571500"/>
                <a:gd name="connisteX4" fmla="*/ 0 w 3017520"/>
                <a:gd name="connsiteY4" fmla="*/ 533400 h 571500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3017520" h="571500">
                  <a:moveTo>
                    <a:pt x="0" y="533400"/>
                  </a:moveTo>
                  <a:lnTo>
                    <a:pt x="289560" y="571500"/>
                  </a:lnTo>
                  <a:lnTo>
                    <a:pt x="3017520" y="281940"/>
                  </a:lnTo>
                  <a:lnTo>
                    <a:pt x="2811780" y="0"/>
                  </a:lnTo>
                  <a:lnTo>
                    <a:pt x="0" y="533400"/>
                  </a:lnTo>
                  <a:close/>
                </a:path>
              </a:pathLst>
            </a:custGeom>
            <a:gradFill>
              <a:gsLst>
                <a:gs pos="10000">
                  <a:srgbClr val="CBCBCB">
                    <a:alpha val="0"/>
                  </a:srgbClr>
                </a:gs>
                <a:gs pos="51000">
                  <a:srgbClr val="676767"/>
                </a:gs>
                <a:gs pos="96000">
                  <a:srgbClr val="CBCBCB">
                    <a:alpha val="0"/>
                  </a:srgbClr>
                </a:gs>
              </a:gsLst>
              <a:path path="circle">
                <a:fillToRect t="100000" r="100000"/>
              </a:path>
              <a:tileRect l="-100000" b="-100000"/>
            </a:gra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9" name="椭圆 248"/>
            <p:cNvSpPr/>
            <p:nvPr>
              <p:custDataLst>
                <p:tags r:id="rId5"/>
              </p:custDataLst>
            </p:nvPr>
          </p:nvSpPr>
          <p:spPr>
            <a:xfrm>
              <a:off x="2318" y="15242"/>
              <a:ext cx="7523" cy="1656"/>
            </a:xfrm>
            <a:prstGeom prst="ellipse">
              <a:avLst/>
            </a:prstGeom>
            <a:gradFill>
              <a:gsLst>
                <a:gs pos="7000">
                  <a:srgbClr val="FFFFFF">
                    <a:alpha val="0"/>
                  </a:srgbClr>
                </a:gs>
                <a:gs pos="71000">
                  <a:srgbClr val="404040"/>
                </a:gs>
              </a:gsLst>
              <a:lin ang="18900000" scaled="0"/>
            </a:gra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250" name="图片 249" descr="44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7"/>
            <a:stretch>
              <a:fillRect/>
            </a:stretch>
          </p:blipFill>
          <p:spPr>
            <a:xfrm>
              <a:off x="5002" y="2339"/>
              <a:ext cx="11794" cy="14284"/>
            </a:xfrm>
            <a:prstGeom prst="rect">
              <a:avLst/>
            </a:prstGeom>
          </p:spPr>
        </p:pic>
        <p:pic>
          <p:nvPicPr>
            <p:cNvPr id="251" name="图片 250" descr="E:/设计图片素材/mads-schmidt-rasmussen-cdsjnp2hrXs-unsplash.jpgmads-schmidt-rasmussen-cdsjnp2hrXs-unsplash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9"/>
            <a:srcRect l="20806" t="-3" r="20806" b="-3"/>
            <a:stretch>
              <a:fillRect/>
            </a:stretch>
          </p:blipFill>
          <p:spPr>
            <a:xfrm>
              <a:off x="7550" y="4027"/>
              <a:ext cx="8086" cy="9283"/>
            </a:xfrm>
            <a:custGeom>
              <a:avLst/>
              <a:gdLst/>
              <a:ahLst/>
              <a:cxnLst>
                <a:cxn ang="3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4014" h="4608">
                  <a:moveTo>
                    <a:pt x="3354" y="0"/>
                  </a:moveTo>
                  <a:lnTo>
                    <a:pt x="4014" y="4242"/>
                  </a:lnTo>
                  <a:lnTo>
                    <a:pt x="606" y="4608"/>
                  </a:lnTo>
                  <a:lnTo>
                    <a:pt x="0" y="36"/>
                  </a:lnTo>
                  <a:lnTo>
                    <a:pt x="3354" y="0"/>
                  </a:lnTo>
                  <a:close/>
                </a:path>
              </a:pathLst>
            </a:custGeom>
            <a:effectLst>
              <a:innerShdw blurRad="114300">
                <a:prstClr val="black">
                  <a:alpha val="33000"/>
                </a:prstClr>
              </a:innerShdw>
            </a:effectLst>
          </p:spPr>
        </p:pic>
      </p:grpSp>
    </p:spTree>
    <p:custDataLst>
      <p:tags r:id="rId10"/>
    </p:custData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文本框 43"/>
          <p:cNvSpPr txBox="1"/>
          <p:nvPr>
            <p:custDataLst>
              <p:tags r:id="rId1"/>
            </p:custDataLst>
          </p:nvPr>
        </p:nvSpPr>
        <p:spPr>
          <a:xfrm>
            <a:off x="6092825" y="3663315"/>
            <a:ext cx="4703445" cy="42481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p>
            <a:pPr marL="12700" algn="l" rtl="0" eaLnBrk="0">
              <a:lnSpc>
                <a:spcPct val="100000"/>
              </a:lnSpc>
              <a:spcBef>
                <a:spcPts val="5"/>
              </a:spcBef>
            </a:pPr>
            <a:r>
              <a:rPr sz="1600" kern="0" spc="70" dirty="0">
                <a:solidFill>
                  <a:schemeClr val="dk1"/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资产管理、威胁监测、漏洞管理、事</a:t>
            </a:r>
            <a:r>
              <a:rPr sz="1600" kern="0" spc="60" dirty="0">
                <a:solidFill>
                  <a:schemeClr val="dk1"/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件处置</a:t>
            </a:r>
            <a:endParaRPr lang="en-US" sz="1600" b="0" u="none" strike="noStrike" kern="0" spc="60" dirty="0">
              <a:solidFill>
                <a:schemeClr val="dk1"/>
              </a:solidFill>
              <a:effectLst/>
              <a:uFillTx/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</p:txBody>
      </p:sp>
      <p:sp>
        <p:nvSpPr>
          <p:cNvPr id="4" name="标题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92825" y="2439035"/>
            <a:ext cx="4622800" cy="1224000"/>
          </a:xfrm>
        </p:spPr>
        <p:txBody>
          <a:bodyPr vert="horz" wrap="square" lIns="0" tIns="0" rIns="0" bIns="0" rtlCol="0" anchor="ctr" anchorCtr="0">
            <a:noAutofit/>
          </a:bodyPr>
          <a:lstStyle/>
          <a:p>
            <a:pPr lvl="0" algn="l">
              <a:buClrTx/>
              <a:buSzTx/>
              <a:buFontTx/>
            </a:pPr>
            <a:r>
              <a:rPr lang="zh-CN" altLang="en-US" sz="3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工作成果详情</a:t>
            </a:r>
            <a:endParaRPr lang="zh-CN" altLang="en-US" sz="3200">
              <a:solidFill>
                <a:srgbClr val="4C61E7"/>
              </a:solidFill>
              <a:latin typeface="Arial" panose="020B0604020202020204" pitchFamily="34" charset="0"/>
              <a:ea typeface="黑体-简" panose="02000000000000000000" charset="-122"/>
              <a:sym typeface="+mn-ea"/>
            </a:endParaRPr>
          </a:p>
        </p:txBody>
      </p:sp>
      <p:sp>
        <p:nvSpPr>
          <p:cNvPr id="6" name="节编号"/>
          <p:cNvSpPr>
            <a:spLocks noGrp="1"/>
          </p:cNvSpPr>
          <p:nvPr>
            <p:ph type="body" sz="quarter" idx="13"/>
            <p:custDataLst>
              <p:tags r:id="rId3"/>
            </p:custDataLst>
          </p:nvPr>
        </p:nvSpPr>
        <p:spPr/>
        <p:txBody>
          <a:bodyPr>
            <a:normAutofit lnSpcReduction="20000"/>
          </a:bodyPr>
          <a:lstStyle/>
          <a:p>
            <a:r>
              <a:rPr lang="zh-CN" altLang="en-US">
                <a:solidFill>
                  <a:srgbClr val="4C61E7"/>
                </a:solidFill>
                <a:latin typeface="Arial Black" panose="020B0A04020102020204" pitchFamily="34" charset="0"/>
                <a:ea typeface="微软雅黑" panose="020B0503020204020204" charset="-122"/>
              </a:rPr>
              <a:t>附录</a:t>
            </a:r>
            <a:endParaRPr lang="zh-CN" altLang="en-US">
              <a:solidFill>
                <a:srgbClr val="4C61E7"/>
              </a:solidFill>
              <a:latin typeface="Arial Black" panose="020B0A04020102020204" pitchFamily="34" charset="0"/>
              <a:ea typeface="微软雅黑" panose="020B0503020204020204" charset="-122"/>
            </a:endParaRPr>
          </a:p>
        </p:txBody>
      </p:sp>
      <p:pic>
        <p:nvPicPr>
          <p:cNvPr id="7" name="图片 6" descr="深信服 + 智安全"/>
          <p:cNvPicPr>
            <a:picLocks noChangeAspect="1"/>
          </p:cNvPicPr>
          <p:nvPr/>
        </p:nvPicPr>
        <p:blipFill>
          <a:blip r:embed="rId4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0"/>
          <p:cNvSpPr/>
          <p:nvPr/>
        </p:nvSpPr>
        <p:spPr>
          <a:xfrm>
            <a:off x="6888480" y="3974465"/>
            <a:ext cx="4751705" cy="237045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109000"/>
              </a:lnSpc>
            </a:pPr>
            <a:endParaRPr sz="2400" dirty="0">
              <a:highlight>
                <a:srgbClr val="FFFF00"/>
              </a:highlight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  <a:p>
            <a:pPr marL="710565" algn="l" rtl="0" eaLnBrk="0">
              <a:lnSpc>
                <a:spcPts val="1085"/>
              </a:lnSpc>
              <a:spcBef>
                <a:spcPts val="5"/>
              </a:spcBef>
            </a:pPr>
            <a:endParaRPr sz="900" kern="0" spc="130" dirty="0">
              <a:solidFill>
                <a:srgbClr val="307050">
                  <a:alpha val="100000"/>
                </a:srgbClr>
              </a:solidFill>
              <a:highlight>
                <a:srgbClr val="FFFF00"/>
              </a:highlight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83" name="textbox 50"/>
          <p:cNvSpPr/>
          <p:nvPr/>
        </p:nvSpPr>
        <p:spPr>
          <a:xfrm>
            <a:off x="875665" y="3982085"/>
            <a:ext cx="2744470" cy="237045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109000"/>
              </a:lnSpc>
            </a:pPr>
            <a:endParaRPr sz="2400" dirty="0">
              <a:highlight>
                <a:srgbClr val="FFFF00"/>
              </a:highlight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  <a:p>
            <a:pPr marL="710565" algn="l" rtl="0" eaLnBrk="0">
              <a:lnSpc>
                <a:spcPts val="1085"/>
              </a:lnSpc>
              <a:spcBef>
                <a:spcPts val="5"/>
              </a:spcBef>
            </a:pPr>
            <a:endParaRPr sz="900" kern="0" spc="130" dirty="0">
              <a:solidFill>
                <a:srgbClr val="307050">
                  <a:alpha val="100000"/>
                </a:srgbClr>
              </a:solidFill>
              <a:highlight>
                <a:srgbClr val="FFFF00"/>
              </a:highlight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85" name="textbox 158"/>
          <p:cNvSpPr/>
          <p:nvPr/>
        </p:nvSpPr>
        <p:spPr>
          <a:xfrm>
            <a:off x="647740" y="367818"/>
            <a:ext cx="3639820" cy="60007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5875" algn="l" rtl="0" eaLnBrk="0">
              <a:lnSpc>
                <a:spcPct val="98000"/>
              </a:lnSpc>
            </a:pPr>
            <a:r>
              <a:rPr lang="zh-CN" altLang="en-US" sz="1900" kern="0" noProof="0" dirty="0">
                <a:solidFill>
                  <a:srgbClr val="4C61E7"/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+mn-ea"/>
              </a:rPr>
              <a:t>安全事件管理详情</a:t>
            </a:r>
            <a:endParaRPr sz="19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algn="l" rtl="0" eaLnBrk="0">
              <a:lnSpc>
                <a:spcPct val="101000"/>
              </a:lnSpc>
            </a:pPr>
            <a:endParaRPr sz="8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92000"/>
              </a:lnSpc>
              <a:spcBef>
                <a:spcPts val="5"/>
              </a:spcBef>
            </a:pPr>
            <a:r>
              <a:rPr lang="zh-CN" altLang="en-US" sz="1000" dirty="0">
                <a:solidFill>
                  <a:sysClr val="windowText" lastClr="000000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主动管理，及时阻断，有效闭环，避免业务</a:t>
            </a:r>
            <a:r>
              <a:rPr lang="zh-CN" altLang="en-US" sz="1000" dirty="0">
                <a:solidFill>
                  <a:sysClr val="windowText" lastClr="000000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影响</a:t>
            </a:r>
            <a:endParaRPr lang="zh-CN" altLang="en-US" sz="1000" dirty="0">
              <a:solidFill>
                <a:sysClr val="windowText" lastClr="00000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86" name="textbox 50"/>
          <p:cNvSpPr/>
          <p:nvPr/>
        </p:nvSpPr>
        <p:spPr>
          <a:xfrm>
            <a:off x="3750945" y="3982085"/>
            <a:ext cx="3006725" cy="2370455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109000"/>
              </a:lnSpc>
            </a:pPr>
            <a:endParaRPr sz="2400" dirty="0">
              <a:highlight>
                <a:srgbClr val="FFFF00"/>
              </a:highlight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  <a:p>
            <a:pPr marL="710565" algn="l" rtl="0" eaLnBrk="0">
              <a:lnSpc>
                <a:spcPts val="1085"/>
              </a:lnSpc>
              <a:spcBef>
                <a:spcPts val="5"/>
              </a:spcBef>
            </a:pPr>
            <a:endParaRPr sz="900" kern="0" spc="130" dirty="0">
              <a:solidFill>
                <a:srgbClr val="307050">
                  <a:alpha val="100000"/>
                </a:srgbClr>
              </a:solidFill>
              <a:highlight>
                <a:srgbClr val="FFFF00"/>
              </a:highlight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87" name="íṥlïḍê"/>
          <p:cNvSpPr txBox="1"/>
          <p:nvPr>
            <p:custDataLst>
              <p:tags r:id="rId4"/>
            </p:custDataLst>
          </p:nvPr>
        </p:nvSpPr>
        <p:spPr>
          <a:xfrm>
            <a:off x="3881755" y="4065270"/>
            <a:ext cx="2336800" cy="242570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>
            <a:lvl1pPr marL="0" marR="0" indent="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0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1pPr>
            <a:lvl2pPr marL="0" marR="0" indent="457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2pPr>
            <a:lvl3pPr marL="0" marR="0" indent="914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3pPr>
            <a:lvl4pPr marL="0" marR="0" indent="1371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4pPr>
            <a:lvl5pPr marL="0" marR="0" indent="18288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5pPr>
            <a:lvl6pPr marL="0" marR="0" indent="22860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6pPr>
            <a:lvl7pPr marL="0" marR="0" indent="2743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7pPr>
            <a:lvl8pPr marL="0" marR="0" indent="3200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8pPr>
            <a:lvl9pPr marL="0" marR="0" indent="3657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9pPr>
          </a:lstStyle>
          <a:p>
            <a:pPr marL="28575" lvl="0" algn="l" defTabSz="2438400" eaLnBrk="0">
              <a:lnSpc>
                <a:spcPct val="98000"/>
              </a:lnSpc>
            </a:pPr>
            <a:r>
              <a:rPr lang="zh-CN" sz="1400" spc="3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平均处置时效（</a:t>
            </a:r>
            <a:r>
              <a:rPr lang="zh-CN" sz="1400" spc="3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分钟）</a:t>
            </a:r>
            <a:endParaRPr lang="zh-CN" sz="1400" spc="30" dirty="0">
              <a:solidFill>
                <a:srgbClr val="20408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grpSp>
        <p:nvGrpSpPr>
          <p:cNvPr id="89" name="组合 88"/>
          <p:cNvGrpSpPr/>
          <p:nvPr/>
        </p:nvGrpSpPr>
        <p:grpSpPr>
          <a:xfrm>
            <a:off x="3627755" y="2326640"/>
            <a:ext cx="8012430" cy="1512570"/>
            <a:chOff x="12177" y="-373"/>
            <a:chExt cx="24479" cy="4764"/>
          </a:xfrm>
        </p:grpSpPr>
        <p:sp>
          <p:nvSpPr>
            <p:cNvPr id="91" name="textbox 40"/>
            <p:cNvSpPr/>
            <p:nvPr/>
          </p:nvSpPr>
          <p:spPr>
            <a:xfrm>
              <a:off x="12564" y="294"/>
              <a:ext cx="24092" cy="4010"/>
            </a:xfrm>
            <a:prstGeom prst="rect">
              <a:avLst/>
            </a:prstGeom>
            <a:solidFill>
              <a:srgbClr val="DAE3F3"/>
            </a:solidFill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lstStyle/>
            <a:p>
              <a:pPr algn="l" rtl="0" eaLnBrk="0">
                <a:lnSpc>
                  <a:spcPct val="83000"/>
                </a:lnSpc>
              </a:pPr>
              <a:endParaRPr sz="1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19000"/>
                </a:lnSpc>
              </a:pPr>
              <a:endParaRPr sz="900" b="1" kern="0" spc="-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endParaRPr>
            </a:p>
            <a:p>
              <a:pPr algn="l" rtl="0" eaLnBrk="0">
                <a:lnSpc>
                  <a:spcPct val="108000"/>
                </a:lnSpc>
              </a:pPr>
              <a:endParaRPr sz="900" b="1" kern="0" spc="-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endParaRPr>
            </a:p>
            <a:p>
              <a:pPr algn="l" rtl="0" eaLnBrk="0">
                <a:lnSpc>
                  <a:spcPct val="108000"/>
                </a:lnSpc>
              </a:pPr>
              <a:endParaRPr sz="9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endParaRPr>
            </a:p>
          </p:txBody>
        </p:sp>
        <p:sp>
          <p:nvSpPr>
            <p:cNvPr id="102" name="文本框 101"/>
            <p:cNvSpPr txBox="1"/>
            <p:nvPr/>
          </p:nvSpPr>
          <p:spPr>
            <a:xfrm>
              <a:off x="12749" y="207"/>
              <a:ext cx="7708" cy="4076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p>
              <a:pPr algn="l" rtl="0" eaLnBrk="0">
                <a:lnSpc>
                  <a:spcPct val="155000"/>
                </a:lnSpc>
              </a:pPr>
              <a:r>
                <a:rPr sz="900" b="1" spc="-5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业务持续性保障</a:t>
              </a:r>
              <a:endParaRPr sz="9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endParaRPr>
            </a:p>
            <a:p>
              <a:pPr algn="just" rtl="0" eaLnBrk="0">
                <a:lnSpc>
                  <a:spcPct val="119000"/>
                </a:lnSpc>
                <a:spcBef>
                  <a:spcPts val="185"/>
                </a:spcBef>
                <a:buClrTx/>
                <a:buSzTx/>
                <a:buFontTx/>
              </a:pPr>
              <a:r>
                <a:rPr sz="80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{{</a:t>
              </a:r>
              <a:r>
                <a:rPr lang="en-US" altLang="zh-CN" sz="80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business_continuity_assurance_conclusion</a:t>
              </a:r>
              <a:r>
                <a:rPr sz="80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}}</a:t>
              </a:r>
              <a:endParaRPr sz="800" spc="1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104" name="文本框 103"/>
            <p:cNvSpPr txBox="1"/>
            <p:nvPr/>
          </p:nvSpPr>
          <p:spPr>
            <a:xfrm>
              <a:off x="20551" y="353"/>
              <a:ext cx="7742" cy="4038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p>
              <a:pPr algn="l" rtl="0" eaLnBrk="0">
                <a:lnSpc>
                  <a:spcPct val="119000"/>
                </a:lnSpc>
              </a:pPr>
              <a:r>
                <a:rPr lang="zh-CN" sz="900" b="1" spc="-4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用户信赖度保障</a:t>
              </a:r>
              <a:endParaRPr sz="900" b="1" kern="0" spc="-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endParaRPr>
            </a:p>
            <a:p>
              <a:pPr algn="just" rtl="0" eaLnBrk="0">
                <a:lnSpc>
                  <a:spcPct val="119000"/>
                </a:lnSpc>
              </a:pPr>
              <a:r>
                <a:rPr sz="80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{{</a:t>
              </a:r>
              <a:r>
                <a:rPr lang="en-US" altLang="zh-CN" sz="80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user_trust_assurance_conclusion</a:t>
              </a:r>
              <a:r>
                <a:rPr sz="80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}}</a:t>
              </a:r>
              <a:endParaRPr sz="800" spc="1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115" name="文本框 114"/>
            <p:cNvSpPr txBox="1"/>
            <p:nvPr/>
          </p:nvSpPr>
          <p:spPr>
            <a:xfrm>
              <a:off x="28496" y="428"/>
              <a:ext cx="7694" cy="2784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p>
              <a:pPr algn="l" rtl="0" eaLnBrk="0">
                <a:lnSpc>
                  <a:spcPct val="108000"/>
                </a:lnSpc>
              </a:pPr>
              <a:r>
                <a:rPr sz="900" b="1" spc="-4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运营风险与成本降低</a:t>
              </a:r>
              <a:endParaRPr sz="900" b="1" kern="0" spc="-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endParaRPr>
            </a:p>
            <a:p>
              <a:pPr algn="just" rtl="0" eaLnBrk="0">
                <a:lnSpc>
                  <a:spcPct val="108000"/>
                </a:lnSpc>
              </a:pPr>
              <a:r>
                <a:rPr lang="zh-CN" altLang="en-US" sz="800" spc="11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构建</a:t>
              </a:r>
              <a:r>
                <a:rPr lang="en-US" altLang="zh-CN" sz="800" spc="11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 7</a:t>
              </a:r>
              <a:r>
                <a:rPr lang="en-US" altLang="en-US" sz="800" spc="11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×</a:t>
              </a:r>
              <a:r>
                <a:rPr lang="en-US" altLang="zh-CN" sz="800" spc="11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24</a:t>
              </a:r>
              <a:r>
                <a:rPr lang="zh-CN" altLang="en-US" sz="800" spc="11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小时主动运营体系，实现持续监控与风险预警，及时发现并处理潜在问题，减少应急处置成本，避免业务中断损失；同时持续降低运营风险，有效支撑公司经营效率提升。</a:t>
              </a:r>
              <a:endParaRPr lang="zh-CN" altLang="en-US" sz="800" spc="1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116" name="íṥlïḍê"/>
            <p:cNvSpPr txBox="1"/>
            <p:nvPr>
              <p:custDataLst>
                <p:tags r:id="rId5"/>
              </p:custDataLst>
            </p:nvPr>
          </p:nvSpPr>
          <p:spPr>
            <a:xfrm>
              <a:off x="12177" y="-373"/>
              <a:ext cx="7359" cy="850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>
              <a:lvl1pPr marL="0" marR="0" indent="0" algn="l" defTabSz="825500" rtl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4000" b="1" i="0" u="none" strike="noStrike" cap="none" spc="0" baseline="0">
                  <a:solidFill>
                    <a:srgbClr val="000000"/>
                  </a:solidFill>
                  <a:uFillTx/>
                  <a:latin typeface="+mn-lt"/>
                  <a:ea typeface="+mn-ea"/>
                  <a:cs typeface="+mn-cs"/>
                  <a:sym typeface="Helvetica Neue" panose="02000503000000020004"/>
                </a:defRPr>
              </a:lvl1pPr>
              <a:lvl2pPr marL="0" marR="0" indent="457200" algn="l" defTabSz="825500" rtl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5500" b="1" i="0" u="none" strike="noStrike" cap="none" spc="0" baseline="0">
                  <a:solidFill>
                    <a:srgbClr val="000000"/>
                  </a:solidFill>
                  <a:uFillTx/>
                  <a:latin typeface="+mn-lt"/>
                  <a:ea typeface="+mn-ea"/>
                  <a:cs typeface="+mn-cs"/>
                  <a:sym typeface="Helvetica Neue" panose="02000503000000020004"/>
                </a:defRPr>
              </a:lvl2pPr>
              <a:lvl3pPr marL="0" marR="0" indent="914400" algn="l" defTabSz="825500" rtl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5500" b="1" i="0" u="none" strike="noStrike" cap="none" spc="0" baseline="0">
                  <a:solidFill>
                    <a:srgbClr val="000000"/>
                  </a:solidFill>
                  <a:uFillTx/>
                  <a:latin typeface="+mn-lt"/>
                  <a:ea typeface="+mn-ea"/>
                  <a:cs typeface="+mn-cs"/>
                  <a:sym typeface="Helvetica Neue" panose="02000503000000020004"/>
                </a:defRPr>
              </a:lvl3pPr>
              <a:lvl4pPr marL="0" marR="0" indent="1371600" algn="l" defTabSz="825500" rtl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5500" b="1" i="0" u="none" strike="noStrike" cap="none" spc="0" baseline="0">
                  <a:solidFill>
                    <a:srgbClr val="000000"/>
                  </a:solidFill>
                  <a:uFillTx/>
                  <a:latin typeface="+mn-lt"/>
                  <a:ea typeface="+mn-ea"/>
                  <a:cs typeface="+mn-cs"/>
                  <a:sym typeface="Helvetica Neue" panose="02000503000000020004"/>
                </a:defRPr>
              </a:lvl4pPr>
              <a:lvl5pPr marL="0" marR="0" indent="1828800" algn="l" defTabSz="825500" rtl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5500" b="1" i="0" u="none" strike="noStrike" cap="none" spc="0" baseline="0">
                  <a:solidFill>
                    <a:srgbClr val="000000"/>
                  </a:solidFill>
                  <a:uFillTx/>
                  <a:latin typeface="+mn-lt"/>
                  <a:ea typeface="+mn-ea"/>
                  <a:cs typeface="+mn-cs"/>
                  <a:sym typeface="Helvetica Neue" panose="02000503000000020004"/>
                </a:defRPr>
              </a:lvl5pPr>
              <a:lvl6pPr marL="0" marR="0" indent="2286000" algn="l" defTabSz="825500" rtl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5500" b="1" i="0" u="none" strike="noStrike" cap="none" spc="0" baseline="0">
                  <a:solidFill>
                    <a:srgbClr val="000000"/>
                  </a:solidFill>
                  <a:uFillTx/>
                  <a:latin typeface="+mn-lt"/>
                  <a:ea typeface="+mn-ea"/>
                  <a:cs typeface="+mn-cs"/>
                  <a:sym typeface="Helvetica Neue" panose="02000503000000020004"/>
                </a:defRPr>
              </a:lvl6pPr>
              <a:lvl7pPr marL="0" marR="0" indent="2743200" algn="l" defTabSz="825500" rtl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5500" b="1" i="0" u="none" strike="noStrike" cap="none" spc="0" baseline="0">
                  <a:solidFill>
                    <a:srgbClr val="000000"/>
                  </a:solidFill>
                  <a:uFillTx/>
                  <a:latin typeface="+mn-lt"/>
                  <a:ea typeface="+mn-ea"/>
                  <a:cs typeface="+mn-cs"/>
                  <a:sym typeface="Helvetica Neue" panose="02000503000000020004"/>
                </a:defRPr>
              </a:lvl7pPr>
              <a:lvl8pPr marL="0" marR="0" indent="3200400" algn="l" defTabSz="825500" rtl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5500" b="1" i="0" u="none" strike="noStrike" cap="none" spc="0" baseline="0">
                  <a:solidFill>
                    <a:srgbClr val="000000"/>
                  </a:solidFill>
                  <a:uFillTx/>
                  <a:latin typeface="+mn-lt"/>
                  <a:ea typeface="+mn-ea"/>
                  <a:cs typeface="+mn-cs"/>
                  <a:sym typeface="Helvetica Neue" panose="02000503000000020004"/>
                </a:defRPr>
              </a:lvl8pPr>
              <a:lvl9pPr marL="0" marR="0" indent="3657600" algn="l" defTabSz="825500" rtl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5500" b="1" i="0" u="none" strike="noStrike" cap="none" spc="0" baseline="0">
                  <a:solidFill>
                    <a:srgbClr val="000000"/>
                  </a:solidFill>
                  <a:uFillTx/>
                  <a:latin typeface="+mn-lt"/>
                  <a:ea typeface="+mn-ea"/>
                  <a:cs typeface="+mn-cs"/>
                  <a:sym typeface="Helvetica Neue" panose="02000503000000020004"/>
                </a:defRPr>
              </a:lvl9pPr>
            </a:lstStyle>
            <a:p>
              <a:pPr marL="28575" lvl="0" algn="l" defTabSz="2438400" eaLnBrk="0">
                <a:lnSpc>
                  <a:spcPct val="98000"/>
                </a:lnSpc>
              </a:pPr>
              <a:r>
                <a:rPr lang="zh-CN" sz="1200" spc="30" dirty="0">
                  <a:solidFill>
                    <a:srgbClr val="20408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关键结论</a:t>
              </a:r>
              <a:endParaRPr lang="zh-CN" sz="1200" spc="3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</p:grpSp>
      <p:pic>
        <p:nvPicPr>
          <p:cNvPr id="117" name="图片 116" descr="深信服 + 智安全"/>
          <p:cNvPicPr>
            <a:picLocks noChangeAspect="1"/>
          </p:cNvPicPr>
          <p:nvPr/>
        </p:nvPicPr>
        <p:blipFill>
          <a:blip r:embed="rId6"/>
          <a:srcRect l="5232" t="26576" r="4938" b="29565"/>
          <a:stretch>
            <a:fillRect/>
          </a:stretch>
        </p:blipFill>
        <p:spPr>
          <a:xfrm>
            <a:off x="10017125" y="246380"/>
            <a:ext cx="1629867" cy="360000"/>
          </a:xfrm>
          <a:prstGeom prst="rect">
            <a:avLst/>
          </a:prstGeom>
        </p:spPr>
      </p:pic>
      <p:grpSp>
        <p:nvGrpSpPr>
          <p:cNvPr id="134" name="组合 133"/>
          <p:cNvGrpSpPr/>
          <p:nvPr/>
        </p:nvGrpSpPr>
        <p:grpSpPr>
          <a:xfrm>
            <a:off x="3747770" y="1270000"/>
            <a:ext cx="1428433" cy="1080453"/>
            <a:chOff x="13504" y="5135"/>
            <a:chExt cx="4499" cy="3403"/>
          </a:xfrm>
        </p:grpSpPr>
        <p:sp>
          <p:nvSpPr>
            <p:cNvPr id="135" name="文本框 134"/>
            <p:cNvSpPr txBox="1"/>
            <p:nvPr/>
          </p:nvSpPr>
          <p:spPr>
            <a:xfrm>
              <a:off x="13504" y="6575"/>
              <a:ext cx="4499" cy="567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sz="900" kern="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安全事件</a:t>
              </a:r>
              <a:r>
                <a:rPr lang="zh-CN" sz="900" kern="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识别</a:t>
              </a:r>
              <a:endParaRPr lang="zh-CN" sz="900" kern="0" spc="1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137" name="文本框 136"/>
            <p:cNvSpPr txBox="1"/>
            <p:nvPr/>
          </p:nvSpPr>
          <p:spPr>
            <a:xfrm>
              <a:off x="13504" y="7971"/>
              <a:ext cx="4499" cy="567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en-US" altLang="zh-CN" sz="900" kern="0" spc="120" dirty="0">
                  <a:solidFill>
                    <a:srgbClr val="66A84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100%</a:t>
              </a:r>
              <a:r>
                <a:rPr lang="zh-CN" altLang="en-US" sz="900" kern="0" spc="120" dirty="0">
                  <a:solidFill>
                    <a:srgbClr val="66A84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响应率</a:t>
              </a:r>
              <a:endParaRPr lang="zh-CN" altLang="en-US" sz="900" kern="0" spc="120" dirty="0">
                <a:solidFill>
                  <a:srgbClr val="66A84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pic>
          <p:nvPicPr>
            <p:cNvPr id="138" name="图片 137" descr="警示"/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5187" y="5135"/>
              <a:ext cx="1134" cy="1134"/>
            </a:xfrm>
            <a:prstGeom prst="rect">
              <a:avLst/>
            </a:prstGeom>
          </p:spPr>
        </p:pic>
      </p:grpSp>
      <p:grpSp>
        <p:nvGrpSpPr>
          <p:cNvPr id="139" name="组合 138"/>
          <p:cNvGrpSpPr/>
          <p:nvPr/>
        </p:nvGrpSpPr>
        <p:grpSpPr>
          <a:xfrm>
            <a:off x="5424805" y="1270000"/>
            <a:ext cx="2378075" cy="1058863"/>
            <a:chOff x="17104" y="5135"/>
            <a:chExt cx="7490" cy="3335"/>
          </a:xfrm>
        </p:grpSpPr>
        <p:pic>
          <p:nvPicPr>
            <p:cNvPr id="140" name="图片 139" descr="极速响应"/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0219" y="5135"/>
              <a:ext cx="1134" cy="1134"/>
            </a:xfrm>
            <a:prstGeom prst="rect">
              <a:avLst/>
            </a:prstGeom>
          </p:spPr>
        </p:pic>
        <p:sp>
          <p:nvSpPr>
            <p:cNvPr id="141" name="文本框 140"/>
            <p:cNvSpPr txBox="1"/>
            <p:nvPr/>
          </p:nvSpPr>
          <p:spPr>
            <a:xfrm>
              <a:off x="18536" y="6575"/>
              <a:ext cx="4499" cy="567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zh-CN" sz="900" kern="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平均响应时间</a:t>
              </a:r>
              <a:endParaRPr lang="zh-CN" sz="900" kern="0" spc="1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142" name="文本框 141"/>
            <p:cNvSpPr txBox="1"/>
            <p:nvPr/>
          </p:nvSpPr>
          <p:spPr>
            <a:xfrm>
              <a:off x="17104" y="7187"/>
              <a:ext cx="7490" cy="984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marL="0" algn="ctr" rtl="0" eaLnBrk="0">
                <a:lnSpc>
                  <a:spcPct val="76000"/>
                </a:lnSpc>
                <a:spcBef>
                  <a:spcPts val="520"/>
                </a:spcBef>
              </a:pPr>
              <a:r>
                <a:rPr lang="en-US" altLang="zh-CN" sz="2000" dirty="0">
                  <a:solidFill>
                    <a:srgbClr val="365FD9"/>
                  </a:solidFill>
                  <a:latin typeface="Arial" panose="020B0604020202020204" pitchFamily="34" charset="0"/>
                  <a:ea typeface="微软雅黑" panose="020B0503020204020204" charset="-122"/>
                  <a:cs typeface="Arial" panose="020B0604020202020204" pitchFamily="34" charset="0"/>
                  <a:sym typeface="+mn-ea"/>
                </a:rPr>
                <a:t>{{average_response_time}}</a:t>
              </a:r>
              <a:r>
                <a:rPr lang="en-US" sz="2000" dirty="0">
                  <a:solidFill>
                    <a:srgbClr val="365FD9"/>
                  </a:solidFill>
                  <a:latin typeface="Arial" panose="020B0604020202020204" pitchFamily="34" charset="0"/>
                  <a:ea typeface="微软雅黑" panose="020B0503020204020204" charset="-122"/>
                  <a:cs typeface="Arial" panose="020B0604020202020204" pitchFamily="34" charset="0"/>
                  <a:sym typeface="+mn-ea"/>
                </a:rPr>
                <a:t> </a:t>
              </a:r>
              <a:endParaRPr lang="zh-CN" altLang="en-US" sz="2000" b="1" kern="0" spc="-20" dirty="0">
                <a:solidFill>
                  <a:srgbClr val="2040C0">
                    <a:alpha val="100000"/>
                  </a:srgbClr>
                </a:solidFill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143" name="文本框 142"/>
            <p:cNvSpPr txBox="1"/>
            <p:nvPr/>
          </p:nvSpPr>
          <p:spPr>
            <a:xfrm>
              <a:off x="18604" y="7903"/>
              <a:ext cx="4499" cy="567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zh-CN" altLang="en-US" sz="900" kern="0" spc="120" dirty="0">
                  <a:solidFill>
                    <a:srgbClr val="66A84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达到行业领先水平</a:t>
              </a:r>
              <a:endParaRPr lang="zh-CN" altLang="en-US" sz="900" kern="0" spc="120" dirty="0">
                <a:solidFill>
                  <a:srgbClr val="66A84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</p:grpSp>
      <p:grpSp>
        <p:nvGrpSpPr>
          <p:cNvPr id="144" name="组合 143"/>
          <p:cNvGrpSpPr/>
          <p:nvPr/>
        </p:nvGrpSpPr>
        <p:grpSpPr>
          <a:xfrm>
            <a:off x="7813040" y="1280795"/>
            <a:ext cx="1869440" cy="1021081"/>
            <a:chOff x="22605" y="5162"/>
            <a:chExt cx="5888" cy="3216"/>
          </a:xfrm>
        </p:grpSpPr>
        <p:sp>
          <p:nvSpPr>
            <p:cNvPr id="145" name="文本框 144"/>
            <p:cNvSpPr txBox="1"/>
            <p:nvPr/>
          </p:nvSpPr>
          <p:spPr>
            <a:xfrm>
              <a:off x="23235" y="6585"/>
              <a:ext cx="4499" cy="567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zh-CN" sz="900" kern="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平均处置时间</a:t>
              </a:r>
              <a:endParaRPr lang="zh-CN" sz="900" kern="0" spc="1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146" name="文本框 145"/>
            <p:cNvSpPr txBox="1"/>
            <p:nvPr/>
          </p:nvSpPr>
          <p:spPr>
            <a:xfrm>
              <a:off x="22605" y="7178"/>
              <a:ext cx="5888" cy="984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marL="0" algn="ctr" rtl="0" eaLnBrk="0">
                <a:lnSpc>
                  <a:spcPct val="76000"/>
                </a:lnSpc>
                <a:spcBef>
                  <a:spcPts val="520"/>
                </a:spcBef>
              </a:pPr>
              <a:r>
                <a:rPr lang="en-US" altLang="zh-CN" sz="2000" dirty="0">
                  <a:solidFill>
                    <a:srgbClr val="365FD9"/>
                  </a:solidFill>
                  <a:latin typeface="Arial" panose="020B0604020202020204" pitchFamily="34" charset="0"/>
                  <a:ea typeface="微软雅黑" panose="020B0503020204020204" charset="-122"/>
                  <a:cs typeface="Arial" panose="020B0604020202020204" pitchFamily="34" charset="0"/>
                  <a:sym typeface="+mn-ea"/>
                </a:rPr>
                <a:t>{{average_resolution_</a:t>
              </a:r>
              <a:r>
                <a:rPr lang="en-US" altLang="zh-CN" sz="2000" dirty="0">
                  <a:solidFill>
                    <a:srgbClr val="365FD9"/>
                  </a:solidFill>
                  <a:latin typeface="Arial" panose="020B0604020202020204" pitchFamily="34" charset="0"/>
                  <a:ea typeface="微软雅黑" panose="020B0503020204020204" charset="-122"/>
                  <a:cs typeface="Arial" panose="020B0604020202020204" pitchFamily="34" charset="0"/>
                  <a:sym typeface="+mn-ea"/>
                </a:rPr>
                <a:t>duration}}</a:t>
              </a:r>
              <a:r>
                <a:rPr lang="en-US" sz="2000" dirty="0">
                  <a:solidFill>
                    <a:srgbClr val="365FD9"/>
                  </a:solidFill>
                  <a:latin typeface="Arial" panose="020B0604020202020204" pitchFamily="34" charset="0"/>
                  <a:ea typeface="微软雅黑" panose="020B0503020204020204" charset="-122"/>
                  <a:cs typeface="Arial" panose="020B0604020202020204" pitchFamily="34" charset="0"/>
                  <a:sym typeface="+mn-ea"/>
                </a:rPr>
                <a:t> </a:t>
              </a:r>
              <a:endParaRPr lang="zh-CN" altLang="en-US" sz="2000" b="1" kern="0" spc="-20" dirty="0">
                <a:solidFill>
                  <a:srgbClr val="2040C0">
                    <a:alpha val="100000"/>
                  </a:srgbClr>
                </a:solidFill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147" name="文本框 146"/>
            <p:cNvSpPr txBox="1"/>
            <p:nvPr/>
          </p:nvSpPr>
          <p:spPr>
            <a:xfrm>
              <a:off x="23235" y="7811"/>
              <a:ext cx="4499" cy="567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zh-CN" altLang="en-US" sz="900" kern="0" spc="120" dirty="0">
                  <a:solidFill>
                    <a:srgbClr val="00B0F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基本符合预期水平</a:t>
              </a:r>
              <a:endParaRPr lang="zh-CN" altLang="en-US" sz="900" kern="0" spc="120" dirty="0">
                <a:solidFill>
                  <a:srgbClr val="00B0F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pic>
          <p:nvPicPr>
            <p:cNvPr id="148" name="图片 147" descr="打印机"/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24918" y="5162"/>
              <a:ext cx="1134" cy="1134"/>
            </a:xfrm>
            <a:prstGeom prst="rect">
              <a:avLst/>
            </a:prstGeom>
          </p:spPr>
        </p:pic>
      </p:grpSp>
      <p:grpSp>
        <p:nvGrpSpPr>
          <p:cNvPr id="149" name="组合 148"/>
          <p:cNvGrpSpPr/>
          <p:nvPr/>
        </p:nvGrpSpPr>
        <p:grpSpPr>
          <a:xfrm>
            <a:off x="9702405" y="1280795"/>
            <a:ext cx="2310913" cy="1048068"/>
            <a:chOff x="29119" y="5135"/>
            <a:chExt cx="7272" cy="3301"/>
          </a:xfrm>
        </p:grpSpPr>
        <p:pic>
          <p:nvPicPr>
            <p:cNvPr id="150" name="图片 149" descr="招标结束"/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32200" y="5135"/>
              <a:ext cx="1134" cy="1134"/>
            </a:xfrm>
            <a:prstGeom prst="rect">
              <a:avLst/>
            </a:prstGeom>
          </p:spPr>
        </p:pic>
        <p:sp>
          <p:nvSpPr>
            <p:cNvPr id="151" name="文本框 150"/>
            <p:cNvSpPr txBox="1"/>
            <p:nvPr/>
          </p:nvSpPr>
          <p:spPr>
            <a:xfrm>
              <a:off x="30517" y="6575"/>
              <a:ext cx="4499" cy="567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zh-CN" sz="900" kern="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事件闭环率</a:t>
              </a:r>
              <a:endParaRPr lang="zh-CN" sz="900" kern="0" spc="1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152" name="文本框 151"/>
            <p:cNvSpPr txBox="1"/>
            <p:nvPr/>
          </p:nvSpPr>
          <p:spPr>
            <a:xfrm>
              <a:off x="29119" y="7167"/>
              <a:ext cx="7272" cy="984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marL="0" algn="ctr" rtl="0" eaLnBrk="0">
                <a:lnSpc>
                  <a:spcPct val="76000"/>
                </a:lnSpc>
                <a:spcBef>
                  <a:spcPts val="520"/>
                </a:spcBef>
              </a:pPr>
              <a:r>
                <a:rPr lang="en-US" altLang="zh-CN" sz="2000" dirty="0">
                  <a:solidFill>
                    <a:srgbClr val="365FD9"/>
                  </a:solidFill>
                  <a:latin typeface="Arial" panose="020B0604020202020204" pitchFamily="34" charset="0"/>
                  <a:ea typeface="微软雅黑" panose="020B0503020204020204" charset="-122"/>
                  <a:cs typeface="Arial" panose="020B0604020202020204" pitchFamily="34" charset="0"/>
                  <a:sym typeface="+mn-ea"/>
                </a:rPr>
                <a:t>{{event_closed_loop_rate}}</a:t>
              </a:r>
              <a:r>
                <a:rPr lang="en-US" sz="2000" dirty="0">
                  <a:solidFill>
                    <a:srgbClr val="365FD9"/>
                  </a:solidFill>
                  <a:latin typeface="Arial" panose="020B0604020202020204" pitchFamily="34" charset="0"/>
                  <a:ea typeface="微软雅黑" panose="020B0503020204020204" charset="-122"/>
                  <a:cs typeface="Arial" panose="020B0604020202020204" pitchFamily="34" charset="0"/>
                  <a:sym typeface="+mn-ea"/>
                </a:rPr>
                <a:t> </a:t>
              </a:r>
              <a:endParaRPr lang="en-US" sz="2000" b="1" kern="0" spc="-20" dirty="0">
                <a:solidFill>
                  <a:srgbClr val="2040C0">
                    <a:alpha val="100000"/>
                  </a:srgbClr>
                </a:solidFill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153" name="文本框 152"/>
            <p:cNvSpPr txBox="1"/>
            <p:nvPr/>
          </p:nvSpPr>
          <p:spPr>
            <a:xfrm>
              <a:off x="30517" y="7869"/>
              <a:ext cx="4499" cy="567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en-US" altLang="zh-CN" sz="900" kern="0" spc="120" dirty="0">
                  <a:solidFill>
                    <a:srgbClr val="66A84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0</a:t>
              </a:r>
              <a:r>
                <a:rPr lang="zh-CN" altLang="en-US" sz="900" kern="0" spc="120" dirty="0">
                  <a:solidFill>
                    <a:srgbClr val="66A84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安全事故</a:t>
              </a:r>
              <a:endParaRPr lang="zh-CN" altLang="en-US" sz="900" kern="0" spc="120" dirty="0">
                <a:solidFill>
                  <a:srgbClr val="66A84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</p:grpSp>
      <p:graphicFrame>
        <p:nvGraphicFramePr>
          <p:cNvPr id="154" name="图表 153" descr="7b0a202020202263686172745265734964223a20223230343736383734220a7d0a"/>
          <p:cNvGraphicFramePr/>
          <p:nvPr/>
        </p:nvGraphicFramePr>
        <p:xfrm>
          <a:off x="941070" y="4453255"/>
          <a:ext cx="2476500" cy="18465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55" name="文本框 154"/>
          <p:cNvSpPr txBox="1"/>
          <p:nvPr/>
        </p:nvSpPr>
        <p:spPr>
          <a:xfrm>
            <a:off x="1062990" y="4016375"/>
            <a:ext cx="1800000" cy="288000"/>
          </a:xfrm>
          <a:prstGeom prst="rect">
            <a:avLst/>
          </a:prstGeom>
          <a:noFill/>
        </p:spPr>
        <p:txBody>
          <a:bodyPr rot="0" vert="horz" wrap="square" lIns="91440" tIns="45720" rIns="91440" bIns="45720" numCol="1" spcCol="0" rtlCol="0" anchor="t" anchorCtr="0" forceAA="0">
            <a:noAutofit/>
          </a:bodyPr>
          <a:lstStyle>
            <a:lvl1pPr marL="0" marR="0" indent="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0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1pPr>
            <a:lvl2pPr marL="0" marR="0" indent="457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2pPr>
            <a:lvl3pPr marL="0" marR="0" indent="914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3pPr>
            <a:lvl4pPr marL="0" marR="0" indent="1371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4pPr>
            <a:lvl5pPr marL="0" marR="0" indent="18288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5pPr>
            <a:lvl6pPr marL="0" marR="0" indent="22860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6pPr>
            <a:lvl7pPr marL="0" marR="0" indent="2743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7pPr>
            <a:lvl8pPr marL="0" marR="0" indent="3200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8pPr>
            <a:lvl9pPr marL="0" marR="0" indent="3657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9pPr>
          </a:lstStyle>
          <a:p>
            <a:pPr marL="12700" lvl="0" algn="l" defTabSz="2438400" eaLnBrk="0">
              <a:lnSpc>
                <a:spcPct val="98000"/>
              </a:lnSpc>
            </a:pPr>
            <a:r>
              <a:rPr sz="1400" spc="3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事件类型分布</a:t>
            </a:r>
            <a:endParaRPr sz="1400" spc="30" dirty="0">
              <a:solidFill>
                <a:srgbClr val="20408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160" name="文本框 159"/>
          <p:cNvSpPr txBox="1"/>
          <p:nvPr/>
        </p:nvSpPr>
        <p:spPr>
          <a:xfrm>
            <a:off x="798830" y="4307840"/>
            <a:ext cx="125666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>
                <a:sym typeface="+mn-ea"/>
              </a:rPr>
              <a:t>{{</a:t>
            </a:r>
            <a:r>
              <a:rPr lang="en-US" altLang="zh-CN">
                <a:sym typeface="+mn-ea"/>
              </a:rPr>
              <a:t>P27_pie}</a:t>
            </a:r>
            <a:r>
              <a:rPr lang="zh-CN" altLang="en-US">
                <a:sym typeface="+mn-ea"/>
              </a:rPr>
              <a:t>}</a:t>
            </a:r>
            <a:endParaRPr lang="zh-CN" altLang="en-US">
              <a:sym typeface="+mn-ea"/>
            </a:endParaRPr>
          </a:p>
        </p:txBody>
      </p:sp>
      <p:graphicFrame>
        <p:nvGraphicFramePr>
          <p:cNvPr id="4" name="图表 3"/>
          <p:cNvGraphicFramePr/>
          <p:nvPr/>
        </p:nvGraphicFramePr>
        <p:xfrm>
          <a:off x="3782695" y="4467225"/>
          <a:ext cx="2948305" cy="18459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33" name="图表 32" descr="7b0a202020202263686172745265734964223a20223230343731343133220a7d0a"/>
          <p:cNvGraphicFramePr/>
          <p:nvPr/>
        </p:nvGraphicFramePr>
        <p:xfrm>
          <a:off x="6888480" y="4445635"/>
          <a:ext cx="4751705" cy="194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5" name="íṥlïḍê"/>
          <p:cNvSpPr txBox="1"/>
          <p:nvPr>
            <p:custDataLst>
              <p:tags r:id="rId15"/>
            </p:custDataLst>
          </p:nvPr>
        </p:nvSpPr>
        <p:spPr>
          <a:xfrm>
            <a:off x="7019290" y="4057650"/>
            <a:ext cx="2396490" cy="242570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>
            <a:lvl1pPr marL="0" marR="0" indent="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0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1pPr>
            <a:lvl2pPr marL="0" marR="0" indent="457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2pPr>
            <a:lvl3pPr marL="0" marR="0" indent="914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3pPr>
            <a:lvl4pPr marL="0" marR="0" indent="1371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4pPr>
            <a:lvl5pPr marL="0" marR="0" indent="18288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5pPr>
            <a:lvl6pPr marL="0" marR="0" indent="22860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6pPr>
            <a:lvl7pPr marL="0" marR="0" indent="2743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7pPr>
            <a:lvl8pPr marL="0" marR="0" indent="3200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8pPr>
            <a:lvl9pPr marL="0" marR="0" indent="3657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9pPr>
          </a:lstStyle>
          <a:p>
            <a:pPr marL="28575" lvl="0" algn="l" defTabSz="2438400" eaLnBrk="0">
              <a:lnSpc>
                <a:spcPct val="98000"/>
              </a:lnSpc>
            </a:pPr>
            <a:r>
              <a:rPr lang="zh-CN" sz="1400" spc="30" dirty="0">
                <a:solidFill>
                  <a:srgbClr val="20408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平均响应趋势（分钟）</a:t>
            </a:r>
            <a:endParaRPr lang="zh-CN" sz="1400" spc="30" dirty="0">
              <a:solidFill>
                <a:srgbClr val="204080">
                  <a:alpha val="100000"/>
                </a:srgbClr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</p:txBody>
      </p:sp>
      <p:sp>
        <p:nvSpPr>
          <p:cNvPr id="7" name="textbox 48"/>
          <p:cNvSpPr/>
          <p:nvPr/>
        </p:nvSpPr>
        <p:spPr>
          <a:xfrm>
            <a:off x="875665" y="1275715"/>
            <a:ext cx="2745105" cy="2520315"/>
          </a:xfrm>
          <a:prstGeom prst="rect">
            <a:avLst/>
          </a:prstGeom>
          <a:solidFill>
            <a:srgbClr val="5B9BD5">
              <a:lumMod val="20000"/>
              <a:lumOff val="80000"/>
            </a:srgb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182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1000"/>
              </a:lnSpc>
            </a:pPr>
            <a:endParaRPr sz="5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16915" algn="l" rtl="0" eaLnBrk="0">
              <a:lnSpc>
                <a:spcPct val="100000"/>
              </a:lnSpc>
              <a:spcBef>
                <a:spcPts val="5"/>
              </a:spcBef>
            </a:pPr>
            <a:endParaRPr sz="9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941070" y="1305560"/>
            <a:ext cx="1824355" cy="288290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>
            <a:lvl1pPr marL="0" marR="0" indent="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0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1pPr>
            <a:lvl2pPr marL="0" marR="0" indent="457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2pPr>
            <a:lvl3pPr marL="0" marR="0" indent="914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3pPr>
            <a:lvl4pPr marL="0" marR="0" indent="1371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4pPr>
            <a:lvl5pPr marL="0" marR="0" indent="18288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5pPr>
            <a:lvl6pPr marL="0" marR="0" indent="22860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6pPr>
            <a:lvl7pPr marL="0" marR="0" indent="2743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7pPr>
            <a:lvl8pPr marL="0" marR="0" indent="3200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8pPr>
            <a:lvl9pPr marL="0" marR="0" indent="3657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9pPr>
          </a:lstStyle>
          <a:p>
            <a:pPr marL="28575" lvl="0" algn="l" defTabSz="2438400" eaLnBrk="0">
              <a:lnSpc>
                <a:spcPct val="98000"/>
              </a:lnSpc>
            </a:pPr>
            <a:r>
              <a:rPr sz="1400" spc="30" dirty="0">
                <a:solidFill>
                  <a:srgbClr val="20408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多级安全响应流程</a:t>
            </a:r>
            <a:endParaRPr sz="1400" spc="30" dirty="0">
              <a:solidFill>
                <a:srgbClr val="204080">
                  <a:alpha val="100000"/>
                </a:srgbClr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</p:txBody>
      </p:sp>
      <p:grpSp>
        <p:nvGrpSpPr>
          <p:cNvPr id="68" name="组合 67"/>
          <p:cNvGrpSpPr/>
          <p:nvPr>
            <p:custDataLst>
              <p:tags r:id="rId16"/>
            </p:custDataLst>
          </p:nvPr>
        </p:nvGrpSpPr>
        <p:grpSpPr>
          <a:xfrm>
            <a:off x="959480" y="1726109"/>
            <a:ext cx="2561008" cy="403783"/>
            <a:chOff x="3275" y="5404"/>
            <a:chExt cx="8112" cy="1279"/>
          </a:xfrm>
        </p:grpSpPr>
        <p:sp>
          <p:nvSpPr>
            <p:cNvPr id="69" name="圆角矩形 14"/>
            <p:cNvSpPr/>
            <p:nvPr>
              <p:custDataLst>
                <p:tags r:id="rId17"/>
              </p:custDataLst>
            </p:nvPr>
          </p:nvSpPr>
          <p:spPr>
            <a:xfrm>
              <a:off x="3275" y="5498"/>
              <a:ext cx="8112" cy="1185"/>
            </a:xfrm>
            <a:prstGeom prst="roundRect">
              <a:avLst>
                <a:gd name="adj" fmla="val 15982"/>
              </a:avLst>
            </a:prstGeom>
            <a:solidFill>
              <a:srgbClr val="4472C4">
                <a:lumMod val="60000"/>
                <a:lumOff val="40000"/>
                <a:alpha val="12000"/>
              </a:srgbClr>
            </a:solidFill>
            <a:ln w="9525" cap="flat" cmpd="sng" algn="ctr">
              <a:gradFill>
                <a:gsLst>
                  <a:gs pos="100000">
                    <a:srgbClr val="4472C4">
                      <a:alpha val="15000"/>
                    </a:srgbClr>
                  </a:gs>
                  <a:gs pos="0">
                    <a:srgbClr val="4472C4">
                      <a:alpha val="6000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prstDash val="solid"/>
              <a:miter lim="800000"/>
            </a:ln>
            <a:effectLst>
              <a:outerShdw blurRad="444500" dist="38100" dir="2700000" algn="tl" rotWithShape="0">
                <a:prstClr val="black">
                  <a:alpha val="7000"/>
                </a:prst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lIns="72072" tIns="0" rIns="72072" bIns="0" rtlCol="0" anchor="ctr"/>
            <a:p>
              <a:pPr marL="13970" algn="l" rtl="0" eaLnBrk="0">
                <a:lnSpc>
                  <a:spcPct val="100000"/>
                </a:lnSpc>
                <a:spcBef>
                  <a:spcPts val="215"/>
                </a:spcBef>
              </a:pPr>
              <a:r>
                <a:rPr sz="1000" b="1" spc="7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L1</a:t>
              </a:r>
              <a:r>
                <a:rPr lang="en-US" sz="1000" b="1" spc="7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 </a:t>
              </a:r>
              <a:r>
                <a:rPr sz="1000" b="1" spc="7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-</a:t>
              </a:r>
              <a:r>
                <a:rPr sz="1000" b="1" spc="10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 </a:t>
              </a:r>
              <a:r>
                <a:rPr sz="1000" b="1" spc="7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自动检测</a:t>
              </a:r>
              <a:endParaRPr sz="1000" b="1" dirty="0">
                <a:latin typeface="Arial" panose="020B0604020202020204" pitchFamily="34" charset="0"/>
                <a:ea typeface="黑体-简" panose="02000000000000000000" charset="-122"/>
                <a:cs typeface="宋体" panose="02010600030101010101" pitchFamily="2" charset="-122"/>
              </a:endParaRPr>
            </a:p>
            <a:p>
              <a:pPr marL="13970" algn="l" rtl="0" eaLnBrk="0">
                <a:lnSpc>
                  <a:spcPct val="100000"/>
                </a:lnSpc>
                <a:spcBef>
                  <a:spcPts val="110"/>
                </a:spcBef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7*24小时智能检测，平均检出时间</a:t>
              </a:r>
              <a:r>
                <a:rPr lang="en-US" sz="100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 </a:t>
              </a:r>
              <a:r>
                <a:rPr sz="1000" dirty="0">
                  <a:solidFill>
                    <a:srgbClr val="2040A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3分钟</a:t>
              </a:r>
              <a:endParaRPr lang="zh-CN" altLang="en-US" sz="1000" kern="0" dirty="0">
                <a:ln>
                  <a:noFill/>
                  <a:prstDash val="sysDot"/>
                </a:ln>
                <a:solidFill>
                  <a:srgbClr val="2040A0">
                    <a:alpha val="100000"/>
                  </a:srgbClr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70" name="圆角矩形 69"/>
            <p:cNvSpPr/>
            <p:nvPr>
              <p:custDataLst>
                <p:tags r:id="rId18"/>
              </p:custDataLst>
            </p:nvPr>
          </p:nvSpPr>
          <p:spPr>
            <a:xfrm>
              <a:off x="3636" y="5404"/>
              <a:ext cx="1108" cy="137"/>
            </a:xfrm>
            <a:prstGeom prst="roundRect">
              <a:avLst>
                <a:gd name="adj" fmla="val 50000"/>
              </a:avLst>
            </a:prstGeom>
            <a:gradFill>
              <a:gsLst>
                <a:gs pos="100000">
                  <a:srgbClr val="4472C4">
                    <a:lumMod val="60000"/>
                    <a:lumOff val="40000"/>
                    <a:alpha val="71000"/>
                  </a:srgbClr>
                </a:gs>
                <a:gs pos="0">
                  <a:srgbClr val="4472C4">
                    <a:alpha val="100000"/>
                  </a:srgbClr>
                </a:gs>
              </a:gsLst>
              <a:lin ang="0"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srgbClr val="4472C4">
                  <a:lumMod val="75000"/>
                  <a:alpha val="20000"/>
                </a:srgb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rtlCol="0" anchor="ctr"/>
            <a:p>
              <a:pPr algn="ctr"/>
              <a:endParaRPr lang="zh-CN" altLang="en-US" sz="1200">
                <a:solidFill>
                  <a:sysClr val="window" lastClr="FFFFFF"/>
                </a:solidFill>
              </a:endParaRPr>
            </a:p>
          </p:txBody>
        </p:sp>
      </p:grpSp>
      <p:grpSp>
        <p:nvGrpSpPr>
          <p:cNvPr id="71" name="组合 70"/>
          <p:cNvGrpSpPr/>
          <p:nvPr>
            <p:custDataLst>
              <p:tags r:id="rId19"/>
            </p:custDataLst>
          </p:nvPr>
        </p:nvGrpSpPr>
        <p:grpSpPr>
          <a:xfrm>
            <a:off x="958533" y="2248780"/>
            <a:ext cx="2561008" cy="408341"/>
            <a:chOff x="3275" y="7389"/>
            <a:chExt cx="8112" cy="1293"/>
          </a:xfrm>
        </p:grpSpPr>
        <p:sp>
          <p:nvSpPr>
            <p:cNvPr id="72" name="圆角矩形 14"/>
            <p:cNvSpPr/>
            <p:nvPr>
              <p:custDataLst>
                <p:tags r:id="rId20"/>
              </p:custDataLst>
            </p:nvPr>
          </p:nvSpPr>
          <p:spPr>
            <a:xfrm>
              <a:off x="3275" y="7497"/>
              <a:ext cx="8112" cy="1185"/>
            </a:xfrm>
            <a:prstGeom prst="roundRect">
              <a:avLst>
                <a:gd name="adj" fmla="val 15982"/>
              </a:avLst>
            </a:prstGeom>
            <a:solidFill>
              <a:srgbClr val="70AD47">
                <a:lumMod val="60000"/>
                <a:lumOff val="40000"/>
                <a:alpha val="12000"/>
              </a:srgbClr>
            </a:solidFill>
            <a:ln w="9525" cap="flat" cmpd="sng" algn="ctr">
              <a:gradFill>
                <a:gsLst>
                  <a:gs pos="100000">
                    <a:srgbClr val="70AD47">
                      <a:alpha val="15000"/>
                    </a:srgbClr>
                  </a:gs>
                  <a:gs pos="0">
                    <a:srgbClr val="70AD47">
                      <a:alpha val="6000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prstDash val="solid"/>
              <a:miter lim="800000"/>
            </a:ln>
            <a:effectLst>
              <a:outerShdw blurRad="444500" dist="38100" dir="2700000" algn="tl" rotWithShape="0">
                <a:prstClr val="black">
                  <a:alpha val="7000"/>
                </a:prst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vertOverflow="overflow" horzOverflow="overflow" vert="horz" wrap="square" lIns="72072" tIns="0" rIns="72072" bIns="0" numCol="1" spcCol="0" rtlCol="0" fromWordArt="0" anchor="ctr" anchorCtr="0" forceAA="0" compatLnSpc="1">
              <a:noAutofit/>
            </a:bodyPr>
            <a:p>
              <a:pPr marL="24130" algn="l" rtl="0" eaLnBrk="0">
                <a:lnSpc>
                  <a:spcPct val="100000"/>
                </a:lnSpc>
                <a:spcBef>
                  <a:spcPts val="215"/>
                </a:spcBef>
              </a:pPr>
              <a:r>
                <a:rPr sz="1000" b="1" spc="8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L2</a:t>
              </a:r>
              <a:r>
                <a:rPr lang="en-US" sz="1000" b="1" spc="8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 </a:t>
              </a:r>
              <a:r>
                <a:rPr sz="1000" b="1" spc="8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-</a:t>
              </a:r>
              <a:r>
                <a:rPr sz="1000" b="1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 </a:t>
              </a:r>
              <a:r>
                <a:rPr sz="1000" b="1" spc="8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专家分析</a:t>
              </a:r>
              <a:endParaRPr sz="1000" b="1" spc="8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宋体" panose="02010600030101010101" pitchFamily="2" charset="-122"/>
                <a:sym typeface="+mn-ea"/>
              </a:endParaRPr>
            </a:p>
            <a:p>
              <a:pPr marL="24130" algn="l" rtl="0" eaLnBrk="0">
                <a:lnSpc>
                  <a:spcPct val="100000"/>
                </a:lnSpc>
                <a:spcBef>
                  <a:spcPts val="215"/>
                </a:spcBef>
              </a:pPr>
              <a:r>
                <a:rPr sz="1000" spc="1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专家研判分析，平</a:t>
              </a: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均响应时间</a:t>
              </a:r>
              <a:r>
                <a:rPr lang="en-US" sz="100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 </a:t>
              </a:r>
              <a:r>
                <a:rPr sz="1000" dirty="0">
                  <a:solidFill>
                    <a:srgbClr val="2040A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30分钟</a:t>
              </a:r>
              <a:endParaRPr lang="zh-CN" altLang="en-US" sz="1000" kern="0" dirty="0">
                <a:ln>
                  <a:noFill/>
                  <a:prstDash val="sysDot"/>
                </a:ln>
                <a:solidFill>
                  <a:srgbClr val="2040A0">
                    <a:alpha val="100000"/>
                  </a:srgbClr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73" name="圆角矩形 72"/>
            <p:cNvSpPr/>
            <p:nvPr>
              <p:custDataLst>
                <p:tags r:id="rId21"/>
              </p:custDataLst>
            </p:nvPr>
          </p:nvSpPr>
          <p:spPr>
            <a:xfrm>
              <a:off x="3636" y="7389"/>
              <a:ext cx="1108" cy="137"/>
            </a:xfrm>
            <a:prstGeom prst="roundRect">
              <a:avLst>
                <a:gd name="adj" fmla="val 50000"/>
              </a:avLst>
            </a:prstGeom>
            <a:gradFill>
              <a:gsLst>
                <a:gs pos="100000">
                  <a:srgbClr val="70AD47">
                    <a:lumMod val="60000"/>
                    <a:lumOff val="40000"/>
                    <a:alpha val="71000"/>
                  </a:srgbClr>
                </a:gs>
                <a:gs pos="0">
                  <a:srgbClr val="70AD47">
                    <a:alpha val="100000"/>
                  </a:srgbClr>
                </a:gs>
              </a:gsLst>
              <a:lin ang="0"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srgbClr val="70AD47">
                  <a:lumMod val="75000"/>
                  <a:alpha val="20000"/>
                </a:srgb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rtlCol="0" anchor="ctr"/>
            <a:p>
              <a:pPr algn="ctr"/>
              <a:endParaRPr lang="zh-CN" altLang="en-US" sz="1200">
                <a:solidFill>
                  <a:sysClr val="window" lastClr="FFFFFF"/>
                </a:solidFill>
              </a:endParaRPr>
            </a:p>
          </p:txBody>
        </p:sp>
      </p:grpSp>
      <p:grpSp>
        <p:nvGrpSpPr>
          <p:cNvPr id="74" name="组合 73"/>
          <p:cNvGrpSpPr/>
          <p:nvPr>
            <p:custDataLst>
              <p:tags r:id="rId22"/>
            </p:custDataLst>
          </p:nvPr>
        </p:nvGrpSpPr>
        <p:grpSpPr>
          <a:xfrm>
            <a:off x="959480" y="2776166"/>
            <a:ext cx="2561008" cy="402818"/>
            <a:chOff x="3275" y="9388"/>
            <a:chExt cx="8112" cy="1276"/>
          </a:xfrm>
        </p:grpSpPr>
        <p:sp>
          <p:nvSpPr>
            <p:cNvPr id="78" name="圆角矩形 14"/>
            <p:cNvSpPr/>
            <p:nvPr>
              <p:custDataLst>
                <p:tags r:id="rId23"/>
              </p:custDataLst>
            </p:nvPr>
          </p:nvSpPr>
          <p:spPr>
            <a:xfrm>
              <a:off x="3275" y="9479"/>
              <a:ext cx="8112" cy="1185"/>
            </a:xfrm>
            <a:prstGeom prst="roundRect">
              <a:avLst>
                <a:gd name="adj" fmla="val 15982"/>
              </a:avLst>
            </a:prstGeom>
            <a:solidFill>
              <a:srgbClr val="4472C4">
                <a:lumMod val="60000"/>
                <a:lumOff val="40000"/>
                <a:alpha val="12000"/>
              </a:srgbClr>
            </a:solidFill>
            <a:ln w="9525" cap="flat" cmpd="sng" algn="ctr">
              <a:gradFill>
                <a:gsLst>
                  <a:gs pos="100000">
                    <a:srgbClr val="4472C4">
                      <a:alpha val="15000"/>
                    </a:srgbClr>
                  </a:gs>
                  <a:gs pos="0">
                    <a:srgbClr val="4472C4">
                      <a:alpha val="6000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prstDash val="solid"/>
              <a:miter lim="800000"/>
            </a:ln>
            <a:effectLst>
              <a:outerShdw blurRad="444500" dist="38100" dir="2700000" algn="tl" rotWithShape="0">
                <a:prstClr val="black">
                  <a:alpha val="7000"/>
                </a:prst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vertOverflow="overflow" horzOverflow="overflow" vert="horz" wrap="square" lIns="72072" tIns="0" rIns="72072" bIns="0" numCol="1" spcCol="0" rtlCol="0" fromWordArt="0" anchor="ctr" anchorCtr="0" forceAA="0" compatLnSpc="1">
              <a:noAutofit/>
            </a:bodyPr>
            <a:p>
              <a:pPr marL="0" algn="l" rtl="0" eaLnBrk="0">
                <a:lnSpc>
                  <a:spcPct val="150000"/>
                </a:lnSpc>
                <a:spcBef>
                  <a:spcPts val="215"/>
                </a:spcBef>
              </a:pPr>
              <a:r>
                <a:rPr sz="1000" b="1" spc="8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L3</a:t>
              </a:r>
              <a:r>
                <a:rPr lang="en-US" sz="1000" b="1" spc="8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 </a:t>
              </a:r>
              <a:r>
                <a:rPr sz="1000" b="1" spc="8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-  应急处置</a:t>
              </a:r>
              <a:endParaRPr sz="1000" b="1" spc="8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宋体" panose="02010600030101010101" pitchFamily="2" charset="-122"/>
                <a:sym typeface="+mn-ea"/>
              </a:endParaRPr>
            </a:p>
            <a:p>
              <a:pPr marL="0" algn="l" rtl="0" eaLnBrk="0">
                <a:lnSpc>
                  <a:spcPct val="100000"/>
                </a:lnSpc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制定处置方案，平均处置时间</a:t>
              </a:r>
              <a:r>
                <a:rPr lang="en-US" sz="100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 </a:t>
              </a:r>
              <a:r>
                <a:rPr sz="1000" dirty="0">
                  <a:solidFill>
                    <a:srgbClr val="2040A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2小时</a:t>
              </a:r>
              <a:endParaRPr lang="zh-CN" altLang="en-US" sz="100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80" name="圆角矩形 79"/>
            <p:cNvSpPr/>
            <p:nvPr>
              <p:custDataLst>
                <p:tags r:id="rId24"/>
              </p:custDataLst>
            </p:nvPr>
          </p:nvSpPr>
          <p:spPr>
            <a:xfrm>
              <a:off x="3636" y="9388"/>
              <a:ext cx="1108" cy="137"/>
            </a:xfrm>
            <a:prstGeom prst="roundRect">
              <a:avLst>
                <a:gd name="adj" fmla="val 50000"/>
              </a:avLst>
            </a:prstGeom>
            <a:gradFill>
              <a:gsLst>
                <a:gs pos="100000">
                  <a:srgbClr val="4472C4">
                    <a:lumMod val="60000"/>
                    <a:lumOff val="40000"/>
                    <a:alpha val="71000"/>
                  </a:srgbClr>
                </a:gs>
                <a:gs pos="0">
                  <a:srgbClr val="4472C4">
                    <a:alpha val="100000"/>
                  </a:srgbClr>
                </a:gs>
              </a:gsLst>
              <a:lin ang="0"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srgbClr val="4472C4">
                  <a:lumMod val="75000"/>
                  <a:alpha val="20000"/>
                </a:srgb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rtlCol="0" anchor="ctr"/>
            <a:p>
              <a:pPr algn="ctr"/>
              <a:endParaRPr lang="zh-CN" altLang="en-US" sz="1200">
                <a:solidFill>
                  <a:sysClr val="window" lastClr="FFFFFF"/>
                </a:solidFill>
              </a:endParaRPr>
            </a:p>
          </p:txBody>
        </p:sp>
      </p:grpSp>
      <p:grpSp>
        <p:nvGrpSpPr>
          <p:cNvPr id="82" name="组合 81"/>
          <p:cNvGrpSpPr/>
          <p:nvPr>
            <p:custDataLst>
              <p:tags r:id="rId25"/>
            </p:custDataLst>
          </p:nvPr>
        </p:nvGrpSpPr>
        <p:grpSpPr>
          <a:xfrm>
            <a:off x="958533" y="3297892"/>
            <a:ext cx="2561008" cy="378960"/>
            <a:chOff x="3275" y="11370"/>
            <a:chExt cx="8112" cy="1200"/>
          </a:xfrm>
        </p:grpSpPr>
        <p:sp>
          <p:nvSpPr>
            <p:cNvPr id="84" name="圆角矩形 14"/>
            <p:cNvSpPr/>
            <p:nvPr>
              <p:custDataLst>
                <p:tags r:id="rId26"/>
              </p:custDataLst>
            </p:nvPr>
          </p:nvSpPr>
          <p:spPr>
            <a:xfrm>
              <a:off x="3275" y="11442"/>
              <a:ext cx="8112" cy="1128"/>
            </a:xfrm>
            <a:prstGeom prst="roundRect">
              <a:avLst>
                <a:gd name="adj" fmla="val 15982"/>
              </a:avLst>
            </a:prstGeom>
            <a:solidFill>
              <a:srgbClr val="70AD47">
                <a:lumMod val="60000"/>
                <a:lumOff val="40000"/>
                <a:alpha val="12000"/>
              </a:srgbClr>
            </a:solidFill>
            <a:ln w="9525" cap="flat" cmpd="sng" algn="ctr">
              <a:gradFill>
                <a:gsLst>
                  <a:gs pos="100000">
                    <a:srgbClr val="70AD47">
                      <a:alpha val="15000"/>
                    </a:srgbClr>
                  </a:gs>
                  <a:gs pos="0">
                    <a:srgbClr val="70AD47">
                      <a:alpha val="6000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prstDash val="solid"/>
              <a:miter lim="800000"/>
            </a:ln>
            <a:effectLst>
              <a:outerShdw blurRad="444500" dist="38100" dir="2700000" algn="tl" rotWithShape="0">
                <a:prstClr val="black">
                  <a:alpha val="7000"/>
                </a:prst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vertOverflow="overflow" horzOverflow="overflow" vert="horz" wrap="square" lIns="72072" tIns="0" rIns="72072" bIns="0" numCol="1" spcCol="0" rtlCol="0" fromWordArt="0" anchor="ctr" anchorCtr="0" forceAA="0" compatLnSpc="1">
              <a:noAutofit/>
            </a:bodyPr>
            <a:p>
              <a:pPr marL="15875" algn="l" rtl="0" eaLnBrk="0">
                <a:lnSpc>
                  <a:spcPct val="150000"/>
                </a:lnSpc>
                <a:spcBef>
                  <a:spcPts val="220"/>
                </a:spcBef>
              </a:pPr>
              <a:r>
                <a:rPr sz="1000" b="1" spc="5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L4</a:t>
              </a:r>
              <a:r>
                <a:rPr lang="en-US" sz="1000" b="1" spc="5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 </a:t>
              </a:r>
              <a:r>
                <a:rPr sz="1000" b="1" spc="5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-  闭环验证</a:t>
              </a:r>
              <a:r>
                <a:rPr lang="en-US" sz="1000" b="1" spc="5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 </a:t>
              </a:r>
              <a:endParaRPr sz="1000" b="1" dirty="0">
                <a:latin typeface="Arial" panose="020B0604020202020204" pitchFamily="34" charset="0"/>
                <a:ea typeface="黑体-简" panose="02000000000000000000" charset="-122"/>
                <a:cs typeface="宋体" panose="02010600030101010101" pitchFamily="2" charset="-122"/>
              </a:endParaRPr>
            </a:p>
            <a:p>
              <a:pPr marL="15875" algn="l" rtl="0" eaLnBrk="0">
                <a:lnSpc>
                  <a:spcPct val="100000"/>
                </a:lnSpc>
                <a:spcBef>
                  <a:spcPts val="115"/>
                </a:spcBef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处置效果验证，平均闭环时间</a:t>
              </a:r>
              <a:r>
                <a:rPr lang="en-US" sz="100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 </a:t>
              </a:r>
              <a:r>
                <a:rPr lang="en-US" sz="1000" dirty="0">
                  <a:solidFill>
                    <a:srgbClr val="2040A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24</a:t>
              </a:r>
              <a:r>
                <a:rPr lang="zh-CN" sz="1000" dirty="0">
                  <a:solidFill>
                    <a:srgbClr val="2040A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小时</a:t>
              </a:r>
              <a:endParaRPr lang="zh-CN" sz="1000" dirty="0">
                <a:solidFill>
                  <a:srgbClr val="2040A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88" name="圆角矩形 87"/>
            <p:cNvSpPr/>
            <p:nvPr>
              <p:custDataLst>
                <p:tags r:id="rId27"/>
              </p:custDataLst>
            </p:nvPr>
          </p:nvSpPr>
          <p:spPr>
            <a:xfrm>
              <a:off x="3636" y="11370"/>
              <a:ext cx="1108" cy="137"/>
            </a:xfrm>
            <a:prstGeom prst="roundRect">
              <a:avLst>
                <a:gd name="adj" fmla="val 50000"/>
              </a:avLst>
            </a:prstGeom>
            <a:gradFill>
              <a:gsLst>
                <a:gs pos="100000">
                  <a:srgbClr val="70AD47">
                    <a:lumMod val="60000"/>
                    <a:lumOff val="40000"/>
                    <a:alpha val="71000"/>
                  </a:srgbClr>
                </a:gs>
                <a:gs pos="0">
                  <a:srgbClr val="70AD47">
                    <a:alpha val="100000"/>
                  </a:srgbClr>
                </a:gs>
              </a:gsLst>
              <a:lin ang="0"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srgbClr val="70AD47">
                  <a:lumMod val="75000"/>
                  <a:alpha val="20000"/>
                </a:srgb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rtlCol="0" anchor="ctr"/>
            <a:p>
              <a:pPr algn="ctr"/>
              <a:endParaRPr lang="zh-CN" altLang="en-US" sz="1200">
                <a:solidFill>
                  <a:sysClr val="window" lastClr="FFFFFF"/>
                </a:solidFill>
              </a:endParaRPr>
            </a:p>
          </p:txBody>
        </p:sp>
      </p:grpSp>
      <p:sp>
        <p:nvSpPr>
          <p:cNvPr id="8" name="文本框 7"/>
          <p:cNvSpPr txBox="1"/>
          <p:nvPr/>
        </p:nvSpPr>
        <p:spPr>
          <a:xfrm>
            <a:off x="3449955" y="1911985"/>
            <a:ext cx="2005965" cy="3244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algn="ctr" rtl="0" eaLnBrk="0">
              <a:lnSpc>
                <a:spcPct val="76000"/>
              </a:lnSpc>
              <a:spcBef>
                <a:spcPts val="520"/>
              </a:spcBef>
            </a:pPr>
            <a:r>
              <a:rPr lang="en-US" sz="2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{{incident_total}}</a:t>
            </a:r>
            <a:endParaRPr lang="en-US" sz="2000" dirty="0">
              <a:solidFill>
                <a:srgbClr val="365FD9"/>
              </a:solidFill>
              <a:latin typeface="Arial" panose="020B0604020202020204" pitchFamily="34" charset="0"/>
              <a:ea typeface="黑体-简" panose="02000000000000000000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59" name="文本框 158"/>
          <p:cNvSpPr txBox="1"/>
          <p:nvPr/>
        </p:nvSpPr>
        <p:spPr>
          <a:xfrm>
            <a:off x="4141470" y="4453255"/>
            <a:ext cx="150685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>
                <a:sym typeface="+mn-ea"/>
              </a:rPr>
              <a:t>{{</a:t>
            </a:r>
            <a:r>
              <a:rPr lang="en-US" altLang="zh-CN">
                <a:sym typeface="+mn-ea"/>
              </a:rPr>
              <a:t>P27_bar}</a:t>
            </a:r>
            <a:r>
              <a:rPr lang="zh-CN" altLang="en-US">
                <a:sym typeface="+mn-ea"/>
              </a:rPr>
              <a:t>}</a:t>
            </a:r>
            <a:endParaRPr lang="zh-CN" altLang="en-US">
              <a:sym typeface="+mn-ea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10146665" y="4821555"/>
            <a:ext cx="150685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>
                <a:sym typeface="+mn-ea"/>
              </a:rPr>
              <a:t>{{</a:t>
            </a:r>
            <a:r>
              <a:rPr lang="en-US" altLang="zh-CN">
                <a:sym typeface="+mn-ea"/>
              </a:rPr>
              <a:t>P27_line</a:t>
            </a:r>
            <a:r>
              <a:rPr lang="en-US" altLang="zh-CN">
                <a:sym typeface="+mn-ea"/>
              </a:rPr>
              <a:t>}</a:t>
            </a:r>
            <a:r>
              <a:rPr lang="zh-CN" altLang="en-US">
                <a:sym typeface="+mn-ea"/>
              </a:rPr>
              <a:t>}</a:t>
            </a:r>
            <a:endParaRPr lang="zh-CN" altLang="en-US">
              <a:sym typeface="+mn-ea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44"/>
          <p:cNvSpPr/>
          <p:nvPr/>
        </p:nvSpPr>
        <p:spPr>
          <a:xfrm>
            <a:off x="7811770" y="1202055"/>
            <a:ext cx="3747135" cy="2870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83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28575" algn="l" rtl="0" eaLnBrk="0">
              <a:lnSpc>
                <a:spcPct val="98000"/>
              </a:lnSpc>
            </a:pPr>
            <a:r>
              <a:rPr lang="en-US" altLang="zh-CN" sz="1200" b="1" kern="0" spc="3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威胁运营总结</a:t>
            </a:r>
            <a:endParaRPr sz="1000" kern="0" spc="2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5" name="textbox 246"/>
          <p:cNvSpPr/>
          <p:nvPr/>
        </p:nvSpPr>
        <p:spPr>
          <a:xfrm>
            <a:off x="647700" y="1202055"/>
            <a:ext cx="3003550" cy="2772410"/>
          </a:xfrm>
          <a:prstGeom prst="rect">
            <a:avLst/>
          </a:prstGeom>
          <a:solidFill>
            <a:srgbClr val="F1F6FF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130000"/>
              </a:lnSpc>
            </a:pPr>
            <a:endParaRPr sz="7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6" name="textbox 158"/>
          <p:cNvSpPr/>
          <p:nvPr/>
        </p:nvSpPr>
        <p:spPr>
          <a:xfrm>
            <a:off x="647700" y="360045"/>
            <a:ext cx="4261485" cy="60007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5875" algn="l" rtl="0" eaLnBrk="0">
              <a:lnSpc>
                <a:spcPct val="98000"/>
              </a:lnSpc>
            </a:pPr>
            <a:r>
              <a:rPr lang="zh-CN" altLang="en-US" sz="1900" kern="0" dirty="0">
                <a:solidFill>
                  <a:srgbClr val="4C61E7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威胁趋势分析</a:t>
            </a:r>
            <a:endParaRPr lang="zh-CN" altLang="en-US" sz="1900" dirty="0">
              <a:solidFill>
                <a:srgbClr val="4C61E7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algn="l" rtl="0" eaLnBrk="0">
              <a:lnSpc>
                <a:spcPct val="101000"/>
              </a:lnSpc>
            </a:pPr>
            <a:endParaRPr sz="8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92000"/>
              </a:lnSpc>
              <a:spcBef>
                <a:spcPts val="5"/>
              </a:spcBef>
            </a:pPr>
            <a:r>
              <a:rPr lang="zh-CN" altLang="en-US" sz="1000" kern="0" spc="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全方位防护体系，有效阻断网络攻击，保障业务安全</a:t>
            </a:r>
            <a:endParaRPr lang="zh-CN" altLang="en-US" sz="1000" kern="0" spc="4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grpSp>
        <p:nvGrpSpPr>
          <p:cNvPr id="7" name="组合 6"/>
          <p:cNvGrpSpPr/>
          <p:nvPr/>
        </p:nvGrpSpPr>
        <p:grpSpPr>
          <a:xfrm>
            <a:off x="648335" y="4287520"/>
            <a:ext cx="10918825" cy="1179024"/>
            <a:chOff x="2042" y="13744"/>
            <a:chExt cx="34390" cy="3714"/>
          </a:xfrm>
        </p:grpSpPr>
        <p:sp>
          <p:nvSpPr>
            <p:cNvPr id="8" name="Shape 1"/>
            <p:cNvSpPr/>
            <p:nvPr/>
          </p:nvSpPr>
          <p:spPr>
            <a:xfrm>
              <a:off x="2042" y="13744"/>
              <a:ext cx="34390" cy="3714"/>
            </a:xfrm>
            <a:prstGeom prst="roundRect">
              <a:avLst>
                <a:gd name="adj" fmla="val 6757"/>
              </a:avLst>
            </a:prstGeom>
            <a:noFill/>
            <a:ln w="12700">
              <a:solidFill>
                <a:srgbClr val="CCE1F5"/>
              </a:solidFill>
              <a:prstDash val="solid"/>
            </a:ln>
          </p:spPr>
        </p:sp>
        <p:graphicFrame>
          <p:nvGraphicFramePr>
            <p:cNvPr id="24" name="图表 23"/>
            <p:cNvGraphicFramePr/>
            <p:nvPr/>
          </p:nvGraphicFramePr>
          <p:xfrm>
            <a:off x="2318" y="13879"/>
            <a:ext cx="33839" cy="339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"/>
            </a:graphicData>
          </a:graphic>
        </p:graphicFrame>
      </p:grpSp>
      <p:sp>
        <p:nvSpPr>
          <p:cNvPr id="30" name="文本框 29"/>
          <p:cNvSpPr txBox="1"/>
          <p:nvPr/>
        </p:nvSpPr>
        <p:spPr>
          <a:xfrm>
            <a:off x="575945" y="4050983"/>
            <a:ext cx="1140778" cy="235903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marL="12700" algn="l" rtl="0" eaLnBrk="0">
              <a:lnSpc>
                <a:spcPct val="96000"/>
              </a:lnSpc>
            </a:pPr>
            <a:r>
              <a:rPr lang="zh-CN" sz="1000" b="1" spc="8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威胁分布</a:t>
            </a:r>
            <a:r>
              <a:rPr sz="1000" b="1" spc="8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趋势</a:t>
            </a:r>
            <a:endParaRPr lang="zh-CN" altLang="en-US" sz="1000" b="1" spc="8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735965" y="1253490"/>
            <a:ext cx="2299970" cy="269875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marL="28575" algn="l" rtl="0" eaLnBrk="0">
              <a:lnSpc>
                <a:spcPct val="98000"/>
              </a:lnSpc>
              <a:spcBef>
                <a:spcPts val="0"/>
              </a:spcBef>
            </a:pPr>
            <a:r>
              <a:rPr lang="en-US" altLang="zh-CN" sz="1000" b="1" spc="3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7*24</a:t>
            </a:r>
            <a:r>
              <a:rPr lang="zh-CN" altLang="en-US" sz="1000" b="1" spc="3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小时威胁对抗</a:t>
            </a:r>
            <a:endParaRPr lang="zh-CN" altLang="en-US" sz="1000" b="1" spc="30" dirty="0">
              <a:solidFill>
                <a:srgbClr val="20408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32" name="íṥlïḍê"/>
          <p:cNvSpPr txBox="1"/>
          <p:nvPr>
            <p:custDataLst>
              <p:tags r:id="rId5"/>
            </p:custDataLst>
          </p:nvPr>
        </p:nvSpPr>
        <p:spPr>
          <a:xfrm>
            <a:off x="982980" y="1506220"/>
            <a:ext cx="2746375" cy="269875"/>
          </a:xfrm>
          <a:prstGeom prst="rect">
            <a:avLst/>
          </a:prstGeom>
        </p:spPr>
        <p:txBody>
          <a:bodyPr wrap="square" rtlCol="0" anchor="ctr" anchorCtr="0">
            <a:noAutofit/>
          </a:bodyPr>
          <a:lstStyle>
            <a:lvl1pPr marL="0" marR="0" indent="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0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1pPr>
            <a:lvl2pPr marL="0" marR="0" indent="457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2pPr>
            <a:lvl3pPr marL="0" marR="0" indent="914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3pPr>
            <a:lvl4pPr marL="0" marR="0" indent="1371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4pPr>
            <a:lvl5pPr marL="0" marR="0" indent="18288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5pPr>
            <a:lvl6pPr marL="0" marR="0" indent="22860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6pPr>
            <a:lvl7pPr marL="0" marR="0" indent="2743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7pPr>
            <a:lvl8pPr marL="0" marR="0" indent="3200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8pPr>
            <a:lvl9pPr marL="0" marR="0" indent="3657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9pPr>
          </a:lstStyle>
          <a:p>
            <a:pPr lvl="0" algn="l" hangingPunct="1">
              <a:defRPr/>
            </a:pPr>
            <a:r>
              <a:rPr lang="en-US" altLang="zh-CN" sz="1000" dirty="0">
                <a:solidFill>
                  <a:srgbClr val="4C61E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{</a:t>
            </a:r>
            <a:r>
              <a:rPr lang="en-US" altLang="zh-CN" sz="1000" dirty="0">
                <a:solidFill>
                  <a:srgbClr val="365FD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{external_attack_log_count_XDR}}</a:t>
            </a:r>
            <a:r>
              <a:rPr lang="en-US" sz="1000" dirty="0">
                <a:solidFill>
                  <a:srgbClr val="365FD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 </a:t>
            </a:r>
            <a:r>
              <a:rPr lang="zh-CN" altLang="en-US" sz="900" spc="-30" dirty="0">
                <a:solidFill>
                  <a:schemeClr val="bg2">
                    <a:lumMod val="10000"/>
                    <a:alpha val="100000"/>
                  </a:schemeClr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余条内外部攻击日志</a:t>
            </a:r>
            <a:endParaRPr lang="zh-CN" altLang="en-US" sz="900" spc="-30" dirty="0">
              <a:solidFill>
                <a:schemeClr val="bg2">
                  <a:lumMod val="10000"/>
                  <a:alpha val="100000"/>
                </a:schemeClr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982663" y="2565718"/>
            <a:ext cx="2380298" cy="23558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1430" lvl="0" algn="l" eaLnBrk="0">
              <a:spcBef>
                <a:spcPts val="5"/>
              </a:spcBef>
            </a:pPr>
            <a:r>
              <a:rPr lang="en-US" altLang="zh-CN" sz="1000" b="1" dirty="0">
                <a:solidFill>
                  <a:srgbClr val="4C61E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{{security_device_policy_check_count}}</a:t>
            </a:r>
            <a:r>
              <a:rPr lang="en-US" sz="900" dirty="0">
                <a:solidFill>
                  <a:srgbClr val="365FD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 </a:t>
            </a:r>
            <a:r>
              <a:rPr lang="zh-CN" altLang="en-US" sz="1000" spc="120" dirty="0">
                <a:solidFill>
                  <a:schemeClr val="tx1">
                    <a:alpha val="100000"/>
                  </a:scheme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次策略有效性检查</a:t>
            </a:r>
            <a:endParaRPr lang="zh-CN" altLang="en-US" sz="1000" spc="120" dirty="0">
              <a:solidFill>
                <a:schemeClr val="tx1">
                  <a:alpha val="100000"/>
                </a:scheme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34" name="íṥlïḍê"/>
          <p:cNvSpPr txBox="1"/>
          <p:nvPr>
            <p:custDataLst>
              <p:tags r:id="rId6"/>
            </p:custDataLst>
          </p:nvPr>
        </p:nvSpPr>
        <p:spPr>
          <a:xfrm>
            <a:off x="982980" y="1744980"/>
            <a:ext cx="3094990" cy="269875"/>
          </a:xfrm>
          <a:prstGeom prst="rect">
            <a:avLst/>
          </a:prstGeom>
        </p:spPr>
        <p:txBody>
          <a:bodyPr wrap="square" rtlCol="0" anchor="ctr" anchorCtr="0">
            <a:noAutofit/>
          </a:bodyPr>
          <a:lstStyle>
            <a:lvl1pPr marL="0" marR="0" indent="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0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1pPr>
            <a:lvl2pPr marL="0" marR="0" indent="457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2pPr>
            <a:lvl3pPr marL="0" marR="0" indent="914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3pPr>
            <a:lvl4pPr marL="0" marR="0" indent="1371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4pPr>
            <a:lvl5pPr marL="0" marR="0" indent="18288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5pPr>
            <a:lvl6pPr marL="0" marR="0" indent="22860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6pPr>
            <a:lvl7pPr marL="0" marR="0" indent="2743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7pPr>
            <a:lvl8pPr marL="0" marR="0" indent="3200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8pPr>
            <a:lvl9pPr marL="0" marR="0" indent="3657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9pPr>
          </a:lstStyle>
          <a:p>
            <a:pPr lvl="0" algn="l" hangingPunct="1">
              <a:defRPr/>
            </a:pPr>
            <a:r>
              <a:rPr lang="en-US" altLang="zh-CN" sz="1000" dirty="0">
                <a:solidFill>
                  <a:srgbClr val="4C61E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{{real_time_threat_alert_count}}</a:t>
            </a:r>
            <a:r>
              <a:rPr lang="en-US" sz="1000" dirty="0">
                <a:solidFill>
                  <a:srgbClr val="365FD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 </a:t>
            </a:r>
            <a:r>
              <a:rPr lang="zh-CN" altLang="en-US" sz="900" spc="-30" dirty="0">
                <a:solidFill>
                  <a:schemeClr val="bg2">
                    <a:lumMod val="10000"/>
                    <a:alpha val="100000"/>
                  </a:schemeClr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条实时威胁告警</a:t>
            </a:r>
            <a:endParaRPr lang="zh-CN" altLang="en-US" sz="900" spc="-30" dirty="0">
              <a:solidFill>
                <a:schemeClr val="bg2">
                  <a:lumMod val="10000"/>
                  <a:alpha val="100000"/>
                </a:schemeClr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</p:txBody>
      </p:sp>
      <p:sp>
        <p:nvSpPr>
          <p:cNvPr id="36" name="íṥlïḍê"/>
          <p:cNvSpPr txBox="1"/>
          <p:nvPr>
            <p:custDataLst>
              <p:tags r:id="rId7"/>
            </p:custDataLst>
          </p:nvPr>
        </p:nvSpPr>
        <p:spPr>
          <a:xfrm>
            <a:off x="982663" y="1998663"/>
            <a:ext cx="2495233" cy="269875"/>
          </a:xfrm>
          <a:prstGeom prst="rect">
            <a:avLst/>
          </a:prstGeom>
        </p:spPr>
        <p:txBody>
          <a:bodyPr wrap="square" rtlCol="0" anchor="ctr" anchorCtr="0">
            <a:noAutofit/>
          </a:bodyPr>
          <a:lstStyle>
            <a:lvl1pPr marL="0" marR="0" indent="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0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1pPr>
            <a:lvl2pPr marL="0" marR="0" indent="457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2pPr>
            <a:lvl3pPr marL="0" marR="0" indent="914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3pPr>
            <a:lvl4pPr marL="0" marR="0" indent="1371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4pPr>
            <a:lvl5pPr marL="0" marR="0" indent="18288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5pPr>
            <a:lvl6pPr marL="0" marR="0" indent="22860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6pPr>
            <a:lvl7pPr marL="0" marR="0" indent="2743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7pPr>
            <a:lvl8pPr marL="0" marR="0" indent="3200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8pPr>
            <a:lvl9pPr marL="0" marR="0" indent="3657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9pPr>
          </a:lstStyle>
          <a:p>
            <a:pPr lvl="0" algn="l" hangingPunct="1">
              <a:defRPr/>
            </a:pPr>
            <a:r>
              <a:rPr lang="en-US" altLang="zh-CN" sz="1000" dirty="0">
                <a:solidFill>
                  <a:srgbClr val="4C61E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{{MSS_threat_ticket_count}}</a:t>
            </a:r>
            <a:r>
              <a:rPr lang="en-US" sz="1000" dirty="0">
                <a:solidFill>
                  <a:srgbClr val="365FD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 </a:t>
            </a:r>
            <a:r>
              <a:rPr lang="zh-CN" altLang="en-US" sz="900" spc="-30" dirty="0">
                <a:solidFill>
                  <a:schemeClr val="bg2">
                    <a:lumMod val="10000"/>
                    <a:alpha val="100000"/>
                  </a:schemeClr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条威胁工单及时处置，平均</a:t>
            </a:r>
            <a:r>
              <a:rPr lang="en-US" altLang="zh-CN" sz="900" spc="-30" dirty="0">
                <a:solidFill>
                  <a:schemeClr val="bg2">
                    <a:lumMod val="10000"/>
                    <a:alpha val="100000"/>
                  </a:schemeClr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  </a:t>
            </a:r>
            <a:r>
              <a:rPr lang="en-US" altLang="zh-CN" sz="1000" dirty="0">
                <a:solidFill>
                  <a:srgbClr val="4C61E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{{threat_ticket_average_response_time}}</a:t>
            </a:r>
            <a:r>
              <a:rPr lang="en-US" sz="1000" dirty="0">
                <a:solidFill>
                  <a:srgbClr val="365FD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 </a:t>
            </a:r>
            <a:r>
              <a:rPr lang="zh-CN" altLang="en-US" sz="900" spc="-30" dirty="0">
                <a:solidFill>
                  <a:schemeClr val="bg2">
                    <a:lumMod val="10000"/>
                    <a:alpha val="100000"/>
                  </a:schemeClr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分钟响应</a:t>
            </a:r>
            <a:endParaRPr lang="zh-CN" altLang="en-US" sz="900" spc="-30" dirty="0">
              <a:solidFill>
                <a:schemeClr val="bg2">
                  <a:lumMod val="10000"/>
                  <a:alpha val="100000"/>
                </a:schemeClr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735965" y="2332038"/>
            <a:ext cx="2299653" cy="2419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28575" lvl="0" algn="l" eaLnBrk="0">
              <a:lnSpc>
                <a:spcPct val="98000"/>
              </a:lnSpc>
              <a:spcBef>
                <a:spcPts val="0"/>
              </a:spcBef>
              <a:buClrTx/>
              <a:buSzTx/>
              <a:buFontTx/>
            </a:pPr>
            <a:r>
              <a:rPr lang="en-US" altLang="zh-CN" sz="1000" b="1" spc="3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策略有效性监测与预防</a:t>
            </a:r>
            <a:endParaRPr lang="en-US" altLang="zh-CN" sz="1000" b="1" spc="30" dirty="0">
              <a:solidFill>
                <a:srgbClr val="20408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982980" y="2782570"/>
            <a:ext cx="2494915" cy="23558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1430" lvl="0" algn="l" eaLnBrk="0">
              <a:spcBef>
                <a:spcPts val="5"/>
              </a:spcBef>
            </a:pPr>
            <a:r>
              <a:rPr lang="en-US" altLang="zh-CN" sz="1000" b="1" dirty="0">
                <a:solidFill>
                  <a:srgbClr val="4C61E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{{optimized_policy_risk_count}}</a:t>
            </a:r>
            <a:r>
              <a:rPr lang="en-US" sz="900" b="1" dirty="0">
                <a:solidFill>
                  <a:srgbClr val="365FD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 </a:t>
            </a:r>
            <a:r>
              <a:rPr lang="zh-CN" altLang="en-US" sz="1000" spc="120" dirty="0">
                <a:solidFill>
                  <a:schemeClr val="tx1">
                    <a:alpha val="100000"/>
                  </a:scheme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次策略隐患有效修复</a:t>
            </a:r>
            <a:endParaRPr lang="zh-CN" altLang="en-US" sz="1000" spc="120" dirty="0">
              <a:solidFill>
                <a:schemeClr val="tx1">
                  <a:alpha val="100000"/>
                </a:scheme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735965" y="3079433"/>
            <a:ext cx="2299653" cy="258763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marL="28575" lvl="0" algn="l" eaLnBrk="0">
              <a:lnSpc>
                <a:spcPct val="98000"/>
              </a:lnSpc>
            </a:pPr>
            <a:r>
              <a:rPr lang="en-US" altLang="zh-CN" sz="1000" b="1" spc="3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最新情报风险</a:t>
            </a:r>
            <a:r>
              <a:rPr lang="zh-CN" altLang="en-US" sz="1000" b="1" spc="3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排查</a:t>
            </a:r>
            <a:endParaRPr lang="zh-CN" altLang="en-US" sz="1000" b="1" spc="30" dirty="0">
              <a:solidFill>
                <a:srgbClr val="20408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40" name="íṥlïḍê"/>
          <p:cNvSpPr txBox="1"/>
          <p:nvPr>
            <p:custDataLst>
              <p:tags r:id="rId8"/>
            </p:custDataLst>
          </p:nvPr>
        </p:nvSpPr>
        <p:spPr>
          <a:xfrm>
            <a:off x="982663" y="3335338"/>
            <a:ext cx="2495233" cy="269875"/>
          </a:xfrm>
          <a:prstGeom prst="rect">
            <a:avLst/>
          </a:prstGeom>
        </p:spPr>
        <p:txBody>
          <a:bodyPr wrap="square" rtlCol="0" anchor="ctr" anchorCtr="0">
            <a:noAutofit/>
          </a:bodyPr>
          <a:lstStyle>
            <a:lvl1pPr marL="0" marR="0" indent="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0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1pPr>
            <a:lvl2pPr marL="0" marR="0" indent="457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2pPr>
            <a:lvl3pPr marL="0" marR="0" indent="914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3pPr>
            <a:lvl4pPr marL="0" marR="0" indent="1371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4pPr>
            <a:lvl5pPr marL="0" marR="0" indent="18288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5pPr>
            <a:lvl6pPr marL="0" marR="0" indent="22860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6pPr>
            <a:lvl7pPr marL="0" marR="0" indent="2743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7pPr>
            <a:lvl8pPr marL="0" marR="0" indent="3200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8pPr>
            <a:lvl9pPr marL="0" marR="0" indent="3657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9pPr>
          </a:lstStyle>
          <a:p>
            <a:pPr lvl="0" algn="l" hangingPunct="1">
              <a:defRPr/>
            </a:pPr>
            <a:r>
              <a:rPr lang="en-US" altLang="zh-CN" sz="1000" dirty="0">
                <a:solidFill>
                  <a:srgbClr val="365FD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{{latest_threat_intelligence_count}}</a:t>
            </a:r>
            <a:r>
              <a:rPr lang="en-US" sz="1000" dirty="0">
                <a:solidFill>
                  <a:srgbClr val="365FD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 </a:t>
            </a:r>
            <a:r>
              <a:rPr lang="zh-CN" altLang="en-US" sz="900" spc="-30" dirty="0">
                <a:solidFill>
                  <a:schemeClr val="bg2">
                    <a:lumMod val="10000"/>
                    <a:alpha val="100000"/>
                  </a:schemeClr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条最新威胁情报</a:t>
            </a:r>
            <a:endParaRPr lang="zh-CN" altLang="en-US" sz="900" spc="-30" dirty="0">
              <a:solidFill>
                <a:schemeClr val="bg2">
                  <a:lumMod val="10000"/>
                  <a:alpha val="100000"/>
                </a:schemeClr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982663" y="3605848"/>
            <a:ext cx="2299335" cy="229870"/>
          </a:xfrm>
          <a:prstGeom prst="rect">
            <a:avLst/>
          </a:prstGeom>
        </p:spPr>
        <p:txBody>
          <a:bodyPr rot="0" vert="horz" wrap="square" lIns="91440" tIns="45720" rIns="91440" bIns="45720" numCol="1" spcCol="0" rtlCol="0" anchor="ctr" anchorCtr="0" forceAA="0">
            <a:noAutofit/>
          </a:bodyPr>
          <a:lstStyle>
            <a:lvl1pPr marL="0" marR="0" indent="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0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1pPr>
            <a:lvl2pPr marL="0" marR="0" indent="457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2pPr>
            <a:lvl3pPr marL="0" marR="0" indent="914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3pPr>
            <a:lvl4pPr marL="0" marR="0" indent="1371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4pPr>
            <a:lvl5pPr marL="0" marR="0" indent="18288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5pPr>
            <a:lvl6pPr marL="0" marR="0" indent="22860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6pPr>
            <a:lvl7pPr marL="0" marR="0" indent="2743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7pPr>
            <a:lvl8pPr marL="0" marR="0" indent="3200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8pPr>
            <a:lvl9pPr marL="0" marR="0" indent="3657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9pPr>
          </a:lstStyle>
          <a:p>
            <a:pPr lvl="0" algn="l">
              <a:defRPr/>
            </a:pPr>
            <a:r>
              <a:rPr lang="en-US" altLang="zh-CN" sz="1000" dirty="0">
                <a:solidFill>
                  <a:srgbClr val="4C61E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{{latest_threat_impacted_asset_count}}</a:t>
            </a:r>
            <a:r>
              <a:rPr lang="en-US" sz="1000" dirty="0">
                <a:solidFill>
                  <a:srgbClr val="365FD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 </a:t>
            </a:r>
            <a:r>
              <a:rPr lang="en-US" sz="900" spc="-30" dirty="0">
                <a:solidFill>
                  <a:schemeClr val="bg2">
                    <a:lumMod val="10000"/>
                    <a:alpha val="100000"/>
                  </a:schemeClr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个受影响资产快速修复，遏制风险</a:t>
            </a:r>
            <a:endParaRPr lang="en-US" sz="900" spc="-30" dirty="0">
              <a:solidFill>
                <a:schemeClr val="bg2">
                  <a:lumMod val="10000"/>
                  <a:alpha val="100000"/>
                </a:schemeClr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</p:txBody>
      </p:sp>
      <p:graphicFrame>
        <p:nvGraphicFramePr>
          <p:cNvPr id="42" name="图表 41"/>
          <p:cNvGraphicFramePr/>
          <p:nvPr/>
        </p:nvGraphicFramePr>
        <p:xfrm>
          <a:off x="3896360" y="2966720"/>
          <a:ext cx="3826510" cy="10217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3" name="文本框 42"/>
          <p:cNvSpPr txBox="1"/>
          <p:nvPr/>
        </p:nvSpPr>
        <p:spPr>
          <a:xfrm>
            <a:off x="3896360" y="2721610"/>
            <a:ext cx="2299970" cy="23622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marL="12700" algn="l" rtl="0" eaLnBrk="0">
              <a:lnSpc>
                <a:spcPct val="96000"/>
              </a:lnSpc>
            </a:pPr>
            <a:r>
              <a:rPr lang="zh-CN" sz="1000" b="1" spc="8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遭受攻击业务主机</a:t>
            </a:r>
            <a:r>
              <a:rPr lang="en-US" altLang="zh-CN" sz="1000" b="1" spc="8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TOP5</a:t>
            </a:r>
            <a:endParaRPr lang="en-US" altLang="zh-CN" sz="1000" b="1" spc="8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3896360" y="1223010"/>
            <a:ext cx="1677035" cy="215265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marL="12700" algn="l" rtl="0" eaLnBrk="0">
              <a:lnSpc>
                <a:spcPct val="96000"/>
              </a:lnSpc>
            </a:pPr>
            <a:r>
              <a:rPr lang="zh-CN" sz="1000" b="1" spc="8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攻击来源地域分布</a:t>
            </a:r>
            <a:r>
              <a:rPr lang="en-US" altLang="zh-CN" sz="1000" b="1" spc="8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TOP5</a:t>
            </a:r>
            <a:endParaRPr lang="en-US" altLang="zh-CN" sz="1000" b="1" spc="8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graphicFrame>
        <p:nvGraphicFramePr>
          <p:cNvPr id="45" name="图表 44"/>
          <p:cNvGraphicFramePr/>
          <p:nvPr/>
        </p:nvGraphicFramePr>
        <p:xfrm>
          <a:off x="3896360" y="1489075"/>
          <a:ext cx="1858645" cy="12166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6" name="图表 45"/>
          <p:cNvGraphicFramePr/>
          <p:nvPr/>
        </p:nvGraphicFramePr>
        <p:xfrm>
          <a:off x="6024245" y="1488440"/>
          <a:ext cx="1698625" cy="122047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文本框 46"/>
          <p:cNvSpPr txBox="1"/>
          <p:nvPr/>
        </p:nvSpPr>
        <p:spPr>
          <a:xfrm>
            <a:off x="6024130" y="1222693"/>
            <a:ext cx="1620000" cy="215265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marL="12700" algn="l" rtl="0" eaLnBrk="0">
              <a:lnSpc>
                <a:spcPct val="96000"/>
              </a:lnSpc>
            </a:pPr>
            <a:r>
              <a:rPr lang="zh-CN" sz="1000" b="1" spc="8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攻击类型分布</a:t>
            </a:r>
            <a:r>
              <a:rPr lang="en-US" altLang="zh-CN" sz="1000" b="1" spc="8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TOP5</a:t>
            </a:r>
            <a:endParaRPr lang="en-US" altLang="zh-CN" sz="1000" b="1" spc="8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pic>
        <p:nvPicPr>
          <p:cNvPr id="48" name="图片 47" descr="175507181884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873" y="5719763"/>
            <a:ext cx="10940415" cy="801688"/>
          </a:xfrm>
          <a:prstGeom prst="rect">
            <a:avLst/>
          </a:prstGeom>
        </p:spPr>
      </p:pic>
      <p:sp>
        <p:nvSpPr>
          <p:cNvPr id="49" name="文本框 48"/>
          <p:cNvSpPr txBox="1"/>
          <p:nvPr/>
        </p:nvSpPr>
        <p:spPr>
          <a:xfrm>
            <a:off x="594043" y="5504180"/>
            <a:ext cx="1503998" cy="235903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marL="12700" algn="l" rtl="0" eaLnBrk="0">
              <a:lnSpc>
                <a:spcPct val="96000"/>
              </a:lnSpc>
            </a:pPr>
            <a:r>
              <a:rPr lang="zh-CN" sz="1000" b="1" spc="8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威胁运营待提升</a:t>
            </a:r>
            <a:r>
              <a:rPr lang="zh-CN" sz="1000" b="1" spc="8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项</a:t>
            </a:r>
            <a:endParaRPr lang="zh-CN" sz="1000" b="1" spc="8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50" name="文本框 49"/>
          <p:cNvSpPr txBox="1"/>
          <p:nvPr/>
        </p:nvSpPr>
        <p:spPr>
          <a:xfrm>
            <a:off x="758190" y="5788025"/>
            <a:ext cx="3376930" cy="65405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25400" tIns="25400" rIns="25400" bIns="25400" numCol="1" spcCol="38100" rtlCol="0" anchor="t" anchorCtr="0" forceAA="0">
            <a:noAutofit/>
          </a:bodyPr>
          <a:p>
            <a:pPr marL="0" marR="0" indent="0" algn="just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80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{{threat_improve1}}</a:t>
            </a:r>
            <a:endParaRPr lang="en-US" altLang="zh-CN" sz="80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4297680" y="5782310"/>
            <a:ext cx="3564890" cy="71310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25400" tIns="25400" rIns="25400" bIns="25400" numCol="1" spcCol="38100" rtlCol="0" anchor="t" anchorCtr="0" forceAA="0">
            <a:noAutofit/>
          </a:bodyPr>
          <a:p>
            <a:pPr marL="0" marR="0" indent="0" algn="just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80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{{threat_improve2}}</a:t>
            </a:r>
            <a:endParaRPr lang="en-US" altLang="zh-CN" sz="80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52" name="文本框 51"/>
          <p:cNvSpPr txBox="1"/>
          <p:nvPr/>
        </p:nvSpPr>
        <p:spPr>
          <a:xfrm>
            <a:off x="8025765" y="5796280"/>
            <a:ext cx="3460750" cy="62357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25400" tIns="25400" rIns="25400" bIns="25400" numCol="1" spcCol="38100" rtlCol="0" anchor="t" anchorCtr="0" forceAA="0">
            <a:noAutofit/>
          </a:bodyPr>
          <a:p>
            <a:pPr marL="0" marR="0" indent="0" algn="just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80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{{threat_improve3}}</a:t>
            </a:r>
            <a:endParaRPr lang="en-US" altLang="zh-CN" sz="80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pic>
        <p:nvPicPr>
          <p:cNvPr id="53" name="图片 52" descr="深信服 + 智安全"/>
          <p:cNvPicPr>
            <a:picLocks noChangeAspect="1"/>
          </p:cNvPicPr>
          <p:nvPr/>
        </p:nvPicPr>
        <p:blipFill>
          <a:blip r:embed="rId10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  <p:sp>
        <p:nvSpPr>
          <p:cNvPr id="54" name="文本框 53"/>
          <p:cNvSpPr txBox="1"/>
          <p:nvPr/>
        </p:nvSpPr>
        <p:spPr>
          <a:xfrm>
            <a:off x="7740650" y="1530985"/>
            <a:ext cx="3817620" cy="245808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just"/>
            <a:r>
              <a:rPr lang="en-US" altLang="zh-CN" sz="1000" spc="-5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{{threat_summary}}</a:t>
            </a:r>
            <a:endParaRPr lang="en-US" altLang="zh-CN" sz="1000" spc="-5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55" name="文本框 54"/>
          <p:cNvSpPr txBox="1"/>
          <p:nvPr/>
        </p:nvSpPr>
        <p:spPr>
          <a:xfrm>
            <a:off x="8744585" y="4549775"/>
            <a:ext cx="1654810" cy="2139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sz="800">
                <a:sym typeface="+mn-ea"/>
              </a:rPr>
              <a:t>{{</a:t>
            </a:r>
            <a:r>
              <a:rPr lang="en-US" altLang="zh-CN" sz="800">
                <a:sym typeface="+mn-ea"/>
              </a:rPr>
              <a:t>P28_line</a:t>
            </a:r>
            <a:r>
              <a:rPr lang="zh-CN" altLang="en-US" sz="800">
                <a:sym typeface="+mn-ea"/>
              </a:rPr>
              <a:t>}}</a:t>
            </a:r>
            <a:endParaRPr lang="zh-CN" altLang="en-US" sz="800">
              <a:sym typeface="+mn-ea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4135120" y="1016635"/>
            <a:ext cx="853440" cy="2139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sz="800">
                <a:sym typeface="+mn-ea"/>
              </a:rPr>
              <a:t>{{</a:t>
            </a:r>
            <a:r>
              <a:rPr lang="en-US" altLang="zh-CN" sz="800">
                <a:sym typeface="+mn-ea"/>
              </a:rPr>
              <a:t>P28_pie_1</a:t>
            </a:r>
            <a:r>
              <a:rPr lang="zh-CN" altLang="en-US" sz="800">
                <a:sym typeface="+mn-ea"/>
              </a:rPr>
              <a:t>}}</a:t>
            </a:r>
            <a:endParaRPr lang="zh-CN" altLang="en-US" sz="800">
              <a:sym typeface="+mn-ea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6163310" y="982980"/>
            <a:ext cx="876935" cy="2139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sz="800">
                <a:sym typeface="+mn-ea"/>
              </a:rPr>
              <a:t>{{</a:t>
            </a:r>
            <a:r>
              <a:rPr lang="en-US" altLang="zh-CN" sz="800">
                <a:sym typeface="+mn-ea"/>
              </a:rPr>
              <a:t>P28_pie_2</a:t>
            </a:r>
            <a:r>
              <a:rPr lang="zh-CN" altLang="en-US" sz="800">
                <a:sym typeface="+mn-ea"/>
              </a:rPr>
              <a:t>}}</a:t>
            </a:r>
            <a:endParaRPr lang="zh-CN" altLang="en-US" sz="800">
              <a:sym typeface="+mn-ea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6767195" y="3022600"/>
            <a:ext cx="876935" cy="2139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sz="800">
                <a:sym typeface="+mn-ea"/>
              </a:rPr>
              <a:t>{{</a:t>
            </a:r>
            <a:r>
              <a:rPr lang="en-US" altLang="zh-CN" sz="800">
                <a:sym typeface="+mn-ea"/>
              </a:rPr>
              <a:t>P28_bar</a:t>
            </a:r>
            <a:r>
              <a:rPr lang="zh-CN" altLang="en-US" sz="800">
                <a:sym typeface="+mn-ea"/>
              </a:rPr>
              <a:t>}}</a:t>
            </a:r>
            <a:endParaRPr lang="zh-CN" altLang="en-US" sz="800">
              <a:sym typeface="+mn-ea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48"/>
          <p:cNvSpPr/>
          <p:nvPr/>
        </p:nvSpPr>
        <p:spPr>
          <a:xfrm>
            <a:off x="647700" y="1275715"/>
            <a:ext cx="3006000" cy="2519998"/>
          </a:xfrm>
          <a:prstGeom prst="rect">
            <a:avLst/>
          </a:prstGeom>
          <a:solidFill>
            <a:srgbClr val="5B9BD5">
              <a:lumMod val="20000"/>
              <a:lumOff val="80000"/>
            </a:srgb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182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1000"/>
              </a:lnSpc>
            </a:pPr>
            <a:endParaRPr sz="5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16915" algn="l" rtl="0" eaLnBrk="0">
              <a:lnSpc>
                <a:spcPct val="100000"/>
              </a:lnSpc>
              <a:spcBef>
                <a:spcPts val="5"/>
              </a:spcBef>
            </a:pPr>
            <a:endParaRPr sz="9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65" name="textbox 158"/>
          <p:cNvSpPr/>
          <p:nvPr/>
        </p:nvSpPr>
        <p:spPr>
          <a:xfrm>
            <a:off x="647740" y="360198"/>
            <a:ext cx="3639820" cy="60007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 pitchFamily="34" charset="0"/>
              <a:ea typeface="黑体-简" panose="02000000000000000000" charset="-122"/>
              <a:cs typeface="Arial" panose="020B0604020202020204"/>
            </a:endParaRPr>
          </a:p>
          <a:p>
            <a:pPr algn="l" rtl="0" eaLnBrk="0">
              <a:lnSpc>
                <a:spcPct val="101000"/>
              </a:lnSpc>
            </a:pPr>
            <a:r>
              <a:rPr lang="zh-CN" altLang="en-US" sz="19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</a:rPr>
              <a:t>风险预防工作详情</a:t>
            </a:r>
            <a:endParaRPr lang="zh-CN" altLang="en-US" sz="1900" dirty="0">
              <a:solidFill>
                <a:srgbClr val="4C61E7"/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</a:endParaRPr>
          </a:p>
          <a:p>
            <a:pPr algn="l" rtl="0" eaLnBrk="0">
              <a:lnSpc>
                <a:spcPct val="101000"/>
              </a:lnSpc>
            </a:pPr>
            <a:endParaRPr sz="800" dirty="0">
              <a:latin typeface="Arial" panose="020B0604020202020204" pitchFamily="34" charset="0"/>
              <a:ea typeface="黑体-简" panose="02000000000000000000" charset="-122"/>
              <a:cs typeface="Arial" panose="020B0604020202020204"/>
            </a:endParaRPr>
          </a:p>
          <a:p>
            <a:pPr marL="12700" algn="l" rtl="0" eaLnBrk="0">
              <a:lnSpc>
                <a:spcPct val="92000"/>
              </a:lnSpc>
              <a:spcBef>
                <a:spcPts val="5"/>
              </a:spcBef>
            </a:pPr>
            <a:r>
              <a:rPr lang="zh-CN" altLang="en-US" sz="1000" dirty="0">
                <a:solidFill>
                  <a:sysClr val="windowText" lastClr="000000"/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持续治理业务脆弱性，防范风险于未然</a:t>
            </a:r>
            <a:endParaRPr lang="zh-CN" altLang="en-US" sz="1000" dirty="0">
              <a:solidFill>
                <a:sysClr val="windowText" lastClr="000000"/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758190" y="1305560"/>
            <a:ext cx="1824355" cy="288290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>
            <a:lvl1pPr marL="0" marR="0" indent="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0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1pPr>
            <a:lvl2pPr marL="0" marR="0" indent="457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2pPr>
            <a:lvl3pPr marL="0" marR="0" indent="914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3pPr>
            <a:lvl4pPr marL="0" marR="0" indent="1371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4pPr>
            <a:lvl5pPr marL="0" marR="0" indent="18288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5pPr>
            <a:lvl6pPr marL="0" marR="0" indent="22860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6pPr>
            <a:lvl7pPr marL="0" marR="0" indent="2743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7pPr>
            <a:lvl8pPr marL="0" marR="0" indent="3200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8pPr>
            <a:lvl9pPr marL="0" marR="0" indent="3657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9pPr>
          </a:lstStyle>
          <a:p>
            <a:pPr marL="28575" lvl="0" algn="l" defTabSz="2438400" eaLnBrk="0">
              <a:lnSpc>
                <a:spcPct val="98000"/>
              </a:lnSpc>
            </a:pPr>
            <a:r>
              <a:rPr lang="zh-CN" sz="1400" spc="30" dirty="0">
                <a:solidFill>
                  <a:srgbClr val="20408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漏洞优先级梳理</a:t>
            </a:r>
            <a:endParaRPr lang="zh-CN" sz="1400" spc="30" dirty="0">
              <a:solidFill>
                <a:srgbClr val="204080">
                  <a:alpha val="100000"/>
                </a:srgbClr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</p:txBody>
      </p:sp>
      <p:grpSp>
        <p:nvGrpSpPr>
          <p:cNvPr id="68" name="组合 67"/>
          <p:cNvGrpSpPr/>
          <p:nvPr>
            <p:custDataLst>
              <p:tags r:id="rId3"/>
            </p:custDataLst>
          </p:nvPr>
        </p:nvGrpSpPr>
        <p:grpSpPr>
          <a:xfrm>
            <a:off x="759127" y="1745375"/>
            <a:ext cx="2744509" cy="399474"/>
            <a:chOff x="3275" y="5404"/>
            <a:chExt cx="8787" cy="1279"/>
          </a:xfrm>
        </p:grpSpPr>
        <p:sp>
          <p:nvSpPr>
            <p:cNvPr id="69" name="圆角矩形 14"/>
            <p:cNvSpPr/>
            <p:nvPr>
              <p:custDataLst>
                <p:tags r:id="rId4"/>
              </p:custDataLst>
            </p:nvPr>
          </p:nvSpPr>
          <p:spPr>
            <a:xfrm>
              <a:off x="3275" y="5498"/>
              <a:ext cx="8787" cy="1185"/>
            </a:xfrm>
            <a:prstGeom prst="roundRect">
              <a:avLst>
                <a:gd name="adj" fmla="val 15982"/>
              </a:avLst>
            </a:prstGeom>
            <a:solidFill>
              <a:srgbClr val="4472C4">
                <a:lumMod val="60000"/>
                <a:lumOff val="40000"/>
                <a:alpha val="12000"/>
              </a:srgbClr>
            </a:solidFill>
            <a:ln w="9525" cap="flat" cmpd="sng" algn="ctr">
              <a:gradFill>
                <a:gsLst>
                  <a:gs pos="100000">
                    <a:srgbClr val="4472C4">
                      <a:alpha val="15000"/>
                    </a:srgbClr>
                  </a:gs>
                  <a:gs pos="0">
                    <a:srgbClr val="4472C4">
                      <a:alpha val="6000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prstDash val="solid"/>
              <a:miter lim="800000"/>
            </a:ln>
            <a:effectLst>
              <a:outerShdw blurRad="444500" dist="38100" dir="2700000" algn="tl" rotWithShape="0">
                <a:prstClr val="black">
                  <a:alpha val="7000"/>
                </a:prst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lIns="72072" tIns="0" rIns="72072" bIns="0" rtlCol="0" anchor="ctr"/>
            <a:p>
              <a:pPr marL="238125" algn="l" rtl="0" eaLnBrk="0">
                <a:lnSpc>
                  <a:spcPct val="100000"/>
                </a:lnSpc>
                <a:spcBef>
                  <a:spcPts val="215"/>
                </a:spcBef>
              </a:pPr>
              <a:r>
                <a:rPr lang="zh-CN" altLang="en-US" sz="1000" kern="0" dirty="0">
                  <a:ln>
                    <a:noFill/>
                    <a:prstDash val="sysDot"/>
                  </a:ln>
                  <a:solidFill>
                    <a:srgbClr val="2040A0">
                      <a:alpha val="100000"/>
                    </a:srgbClr>
                  </a:solidFill>
                  <a:uFillTx/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每季度扫描，优先级排序，提高管理效率</a:t>
              </a:r>
              <a:endParaRPr lang="zh-CN" altLang="en-US" sz="1000" kern="0" dirty="0">
                <a:ln>
                  <a:noFill/>
                  <a:prstDash val="sysDot"/>
                </a:ln>
                <a:solidFill>
                  <a:srgbClr val="2040A0">
                    <a:alpha val="100000"/>
                  </a:srgbClr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70" name="圆角矩形 69"/>
            <p:cNvSpPr/>
            <p:nvPr>
              <p:custDataLst>
                <p:tags r:id="rId5"/>
              </p:custDataLst>
            </p:nvPr>
          </p:nvSpPr>
          <p:spPr>
            <a:xfrm>
              <a:off x="3636" y="5404"/>
              <a:ext cx="1108" cy="137"/>
            </a:xfrm>
            <a:prstGeom prst="roundRect">
              <a:avLst>
                <a:gd name="adj" fmla="val 50000"/>
              </a:avLst>
            </a:prstGeom>
            <a:gradFill>
              <a:gsLst>
                <a:gs pos="100000">
                  <a:srgbClr val="4472C4">
                    <a:lumMod val="60000"/>
                    <a:lumOff val="40000"/>
                    <a:alpha val="71000"/>
                  </a:srgbClr>
                </a:gs>
                <a:gs pos="0">
                  <a:srgbClr val="4472C4">
                    <a:alpha val="100000"/>
                  </a:srgbClr>
                </a:gs>
              </a:gsLst>
              <a:lin ang="0"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srgbClr val="4472C4">
                  <a:lumMod val="75000"/>
                  <a:alpha val="20000"/>
                </a:srgb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rtlCol="0" anchor="ctr"/>
            <a:p>
              <a:pPr algn="ctr"/>
              <a:endParaRPr lang="zh-CN" altLang="en-US" sz="900">
                <a:solidFill>
                  <a:sysClr val="window" lastClr="FFFFFF"/>
                </a:solidFill>
              </a:endParaRPr>
            </a:p>
          </p:txBody>
        </p:sp>
      </p:grpSp>
      <p:grpSp>
        <p:nvGrpSpPr>
          <p:cNvPr id="71" name="组合 70"/>
          <p:cNvGrpSpPr/>
          <p:nvPr>
            <p:custDataLst>
              <p:tags r:id="rId6"/>
            </p:custDataLst>
          </p:nvPr>
        </p:nvGrpSpPr>
        <p:grpSpPr>
          <a:xfrm>
            <a:off x="758190" y="2262469"/>
            <a:ext cx="2744509" cy="403984"/>
            <a:chOff x="3275" y="7389"/>
            <a:chExt cx="8787" cy="1293"/>
          </a:xfrm>
        </p:grpSpPr>
        <p:sp>
          <p:nvSpPr>
            <p:cNvPr id="72" name="圆角矩形 14"/>
            <p:cNvSpPr/>
            <p:nvPr>
              <p:custDataLst>
                <p:tags r:id="rId7"/>
              </p:custDataLst>
            </p:nvPr>
          </p:nvSpPr>
          <p:spPr>
            <a:xfrm>
              <a:off x="3275" y="7497"/>
              <a:ext cx="8787" cy="1185"/>
            </a:xfrm>
            <a:prstGeom prst="roundRect">
              <a:avLst>
                <a:gd name="adj" fmla="val 15982"/>
              </a:avLst>
            </a:prstGeom>
            <a:solidFill>
              <a:srgbClr val="70AD47">
                <a:lumMod val="60000"/>
                <a:lumOff val="40000"/>
                <a:alpha val="12000"/>
              </a:srgbClr>
            </a:solidFill>
            <a:ln w="9525" cap="flat" cmpd="sng" algn="ctr">
              <a:gradFill>
                <a:gsLst>
                  <a:gs pos="100000">
                    <a:srgbClr val="70AD47">
                      <a:alpha val="15000"/>
                    </a:srgbClr>
                  </a:gs>
                  <a:gs pos="0">
                    <a:srgbClr val="70AD47">
                      <a:alpha val="6000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prstDash val="solid"/>
              <a:miter lim="800000"/>
            </a:ln>
            <a:effectLst>
              <a:outerShdw blurRad="444500" dist="38100" dir="2700000" algn="tl" rotWithShape="0">
                <a:prstClr val="black">
                  <a:alpha val="7000"/>
                </a:prst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vertOverflow="overflow" horzOverflow="overflow" vert="horz" wrap="square" lIns="72072" tIns="0" rIns="72072" bIns="0" numCol="1" spcCol="0" rtlCol="0" fromWordArt="0" anchor="ctr" anchorCtr="0" forceAA="0" compatLnSpc="1">
              <a:noAutofit/>
            </a:bodyPr>
            <a:p>
              <a:pPr marL="230505" algn="l" rtl="0" eaLnBrk="0">
                <a:lnSpc>
                  <a:spcPct val="100000"/>
                </a:lnSpc>
                <a:spcBef>
                  <a:spcPts val="215"/>
                </a:spcBef>
              </a:pPr>
              <a:r>
                <a:rPr lang="zh-CN" sz="1000" b="1" spc="8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互联网资产漏洞优先防护，高效降低被利用风险</a:t>
              </a:r>
              <a:endParaRPr lang="zh-CN" sz="1000" b="1" spc="8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宋体" panose="02010600030101010101" pitchFamily="2" charset="-122"/>
                <a:sym typeface="+mn-ea"/>
              </a:endParaRPr>
            </a:p>
          </p:txBody>
        </p:sp>
        <p:sp>
          <p:nvSpPr>
            <p:cNvPr id="73" name="圆角矩形 72"/>
            <p:cNvSpPr/>
            <p:nvPr>
              <p:custDataLst>
                <p:tags r:id="rId8"/>
              </p:custDataLst>
            </p:nvPr>
          </p:nvSpPr>
          <p:spPr>
            <a:xfrm>
              <a:off x="3636" y="7389"/>
              <a:ext cx="1108" cy="137"/>
            </a:xfrm>
            <a:prstGeom prst="roundRect">
              <a:avLst>
                <a:gd name="adj" fmla="val 50000"/>
              </a:avLst>
            </a:prstGeom>
            <a:gradFill>
              <a:gsLst>
                <a:gs pos="100000">
                  <a:srgbClr val="70AD47">
                    <a:lumMod val="60000"/>
                    <a:lumOff val="40000"/>
                    <a:alpha val="71000"/>
                  </a:srgbClr>
                </a:gs>
                <a:gs pos="0">
                  <a:srgbClr val="70AD47">
                    <a:alpha val="100000"/>
                  </a:srgbClr>
                </a:gs>
              </a:gsLst>
              <a:lin ang="0"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srgbClr val="70AD47">
                  <a:lumMod val="75000"/>
                  <a:alpha val="20000"/>
                </a:srgb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rtlCol="0" anchor="ctr"/>
            <a:p>
              <a:pPr algn="ctr"/>
              <a:endParaRPr lang="zh-CN" altLang="en-US" sz="900">
                <a:solidFill>
                  <a:sysClr val="window" lastClr="FFFFFF"/>
                </a:solidFill>
              </a:endParaRPr>
            </a:p>
          </p:txBody>
        </p:sp>
      </p:grpSp>
      <p:grpSp>
        <p:nvGrpSpPr>
          <p:cNvPr id="74" name="组合 73"/>
          <p:cNvGrpSpPr/>
          <p:nvPr>
            <p:custDataLst>
              <p:tags r:id="rId9"/>
            </p:custDataLst>
          </p:nvPr>
        </p:nvGrpSpPr>
        <p:grpSpPr>
          <a:xfrm>
            <a:off x="759127" y="2784227"/>
            <a:ext cx="2744509" cy="398520"/>
            <a:chOff x="3275" y="9388"/>
            <a:chExt cx="8787" cy="1276"/>
          </a:xfrm>
        </p:grpSpPr>
        <p:sp>
          <p:nvSpPr>
            <p:cNvPr id="78" name="圆角矩形 14"/>
            <p:cNvSpPr/>
            <p:nvPr>
              <p:custDataLst>
                <p:tags r:id="rId10"/>
              </p:custDataLst>
            </p:nvPr>
          </p:nvSpPr>
          <p:spPr>
            <a:xfrm>
              <a:off x="3275" y="9479"/>
              <a:ext cx="8787" cy="1185"/>
            </a:xfrm>
            <a:prstGeom prst="roundRect">
              <a:avLst>
                <a:gd name="adj" fmla="val 15982"/>
              </a:avLst>
            </a:prstGeom>
            <a:solidFill>
              <a:srgbClr val="4472C4">
                <a:lumMod val="60000"/>
                <a:lumOff val="40000"/>
                <a:alpha val="12000"/>
              </a:srgbClr>
            </a:solidFill>
            <a:ln w="9525" cap="flat" cmpd="sng" algn="ctr">
              <a:gradFill>
                <a:gsLst>
                  <a:gs pos="100000">
                    <a:srgbClr val="4472C4">
                      <a:alpha val="15000"/>
                    </a:srgbClr>
                  </a:gs>
                  <a:gs pos="0">
                    <a:srgbClr val="4472C4">
                      <a:alpha val="6000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prstDash val="solid"/>
              <a:miter lim="800000"/>
            </a:ln>
            <a:effectLst>
              <a:outerShdw blurRad="444500" dist="38100" dir="2700000" algn="tl" rotWithShape="0">
                <a:prstClr val="black">
                  <a:alpha val="7000"/>
                </a:prst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vertOverflow="overflow" horzOverflow="overflow" vert="horz" wrap="square" lIns="72072" tIns="0" rIns="72072" bIns="0" numCol="1" spcCol="0" rtlCol="0" fromWordArt="0" anchor="ctr" anchorCtr="0" forceAA="0" compatLnSpc="1">
              <a:noAutofit/>
            </a:bodyPr>
            <a:p>
              <a:pPr marL="238125" algn="l" rtl="0" eaLnBrk="0">
                <a:lnSpc>
                  <a:spcPct val="100000"/>
                </a:lnSpc>
                <a:spcBef>
                  <a:spcPts val="215"/>
                </a:spcBef>
              </a:pPr>
              <a:r>
                <a:rPr lang="zh-CN" sz="1000" b="1" spc="8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无法防护的可利用漏洞优先修复，精准定位修复对象</a:t>
              </a:r>
              <a:endParaRPr lang="zh-CN" sz="1000" b="1" spc="8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宋体" panose="02010600030101010101" pitchFamily="2" charset="-122"/>
                <a:sym typeface="+mn-ea"/>
              </a:endParaRPr>
            </a:p>
          </p:txBody>
        </p:sp>
        <p:sp>
          <p:nvSpPr>
            <p:cNvPr id="80" name="圆角矩形 79"/>
            <p:cNvSpPr/>
            <p:nvPr>
              <p:custDataLst>
                <p:tags r:id="rId11"/>
              </p:custDataLst>
            </p:nvPr>
          </p:nvSpPr>
          <p:spPr>
            <a:xfrm>
              <a:off x="3636" y="9388"/>
              <a:ext cx="1108" cy="137"/>
            </a:xfrm>
            <a:prstGeom prst="roundRect">
              <a:avLst>
                <a:gd name="adj" fmla="val 50000"/>
              </a:avLst>
            </a:prstGeom>
            <a:gradFill>
              <a:gsLst>
                <a:gs pos="100000">
                  <a:srgbClr val="4472C4">
                    <a:lumMod val="60000"/>
                    <a:lumOff val="40000"/>
                    <a:alpha val="71000"/>
                  </a:srgbClr>
                </a:gs>
                <a:gs pos="0">
                  <a:srgbClr val="4472C4">
                    <a:alpha val="100000"/>
                  </a:srgbClr>
                </a:gs>
              </a:gsLst>
              <a:lin ang="0"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srgbClr val="4472C4">
                  <a:lumMod val="75000"/>
                  <a:alpha val="20000"/>
                </a:srgb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rtlCol="0" anchor="ctr"/>
            <a:p>
              <a:pPr algn="ctr"/>
              <a:endParaRPr lang="zh-CN" altLang="en-US" sz="900">
                <a:solidFill>
                  <a:sysClr val="window" lastClr="FFFFFF"/>
                </a:solidFill>
              </a:endParaRPr>
            </a:p>
          </p:txBody>
        </p:sp>
      </p:grpSp>
      <p:grpSp>
        <p:nvGrpSpPr>
          <p:cNvPr id="82" name="组合 81"/>
          <p:cNvGrpSpPr/>
          <p:nvPr>
            <p:custDataLst>
              <p:tags r:id="rId12"/>
            </p:custDataLst>
          </p:nvPr>
        </p:nvGrpSpPr>
        <p:grpSpPr>
          <a:xfrm>
            <a:off x="758190" y="3300387"/>
            <a:ext cx="2744509" cy="374916"/>
            <a:chOff x="3275" y="11370"/>
            <a:chExt cx="8787" cy="1200"/>
          </a:xfrm>
        </p:grpSpPr>
        <p:sp>
          <p:nvSpPr>
            <p:cNvPr id="84" name="圆角矩形 14"/>
            <p:cNvSpPr/>
            <p:nvPr>
              <p:custDataLst>
                <p:tags r:id="rId13"/>
              </p:custDataLst>
            </p:nvPr>
          </p:nvSpPr>
          <p:spPr>
            <a:xfrm>
              <a:off x="3275" y="11442"/>
              <a:ext cx="8787" cy="1128"/>
            </a:xfrm>
            <a:prstGeom prst="roundRect">
              <a:avLst>
                <a:gd name="adj" fmla="val 15982"/>
              </a:avLst>
            </a:prstGeom>
            <a:solidFill>
              <a:srgbClr val="70AD47">
                <a:lumMod val="60000"/>
                <a:lumOff val="40000"/>
                <a:alpha val="12000"/>
              </a:srgbClr>
            </a:solidFill>
            <a:ln w="9525" cap="flat" cmpd="sng" algn="ctr">
              <a:gradFill>
                <a:gsLst>
                  <a:gs pos="100000">
                    <a:srgbClr val="70AD47">
                      <a:alpha val="15000"/>
                    </a:srgbClr>
                  </a:gs>
                  <a:gs pos="0">
                    <a:srgbClr val="70AD47">
                      <a:alpha val="6000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prstDash val="solid"/>
              <a:miter lim="800000"/>
            </a:ln>
            <a:effectLst>
              <a:outerShdw blurRad="444500" dist="38100" dir="2700000" algn="tl" rotWithShape="0">
                <a:prstClr val="black">
                  <a:alpha val="7000"/>
                </a:prst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vertOverflow="overflow" horzOverflow="overflow" vert="horz" wrap="square" lIns="72072" tIns="0" rIns="72072" bIns="0" numCol="1" spcCol="0" rtlCol="0" fromWordArt="0" anchor="ctr" anchorCtr="0" forceAA="0" compatLnSpc="1">
              <a:noAutofit/>
            </a:bodyPr>
            <a:p>
              <a:pPr marL="231775" algn="l" rtl="0" eaLnBrk="0">
                <a:lnSpc>
                  <a:spcPct val="100000"/>
                </a:lnSpc>
                <a:spcBef>
                  <a:spcPts val="220"/>
                </a:spcBef>
              </a:pPr>
              <a:r>
                <a:rPr lang="zh-CN" sz="1000" b="1" spc="5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关联威胁监测，无法修复的漏洞一旦发生被利用可快速发现和遏制</a:t>
              </a:r>
              <a:endParaRPr lang="zh-CN" sz="1000" b="1" spc="5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宋体" panose="02010600030101010101" pitchFamily="2" charset="-122"/>
                <a:sym typeface="+mn-ea"/>
              </a:endParaRPr>
            </a:p>
          </p:txBody>
        </p:sp>
        <p:sp>
          <p:nvSpPr>
            <p:cNvPr id="88" name="圆角矩形 87"/>
            <p:cNvSpPr/>
            <p:nvPr>
              <p:custDataLst>
                <p:tags r:id="rId14"/>
              </p:custDataLst>
            </p:nvPr>
          </p:nvSpPr>
          <p:spPr>
            <a:xfrm>
              <a:off x="3636" y="11370"/>
              <a:ext cx="1108" cy="137"/>
            </a:xfrm>
            <a:prstGeom prst="roundRect">
              <a:avLst>
                <a:gd name="adj" fmla="val 50000"/>
              </a:avLst>
            </a:prstGeom>
            <a:gradFill>
              <a:gsLst>
                <a:gs pos="100000">
                  <a:srgbClr val="70AD47">
                    <a:lumMod val="60000"/>
                    <a:lumOff val="40000"/>
                    <a:alpha val="71000"/>
                  </a:srgbClr>
                </a:gs>
                <a:gs pos="0">
                  <a:srgbClr val="70AD47">
                    <a:alpha val="100000"/>
                  </a:srgbClr>
                </a:gs>
              </a:gsLst>
              <a:lin ang="0"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srgbClr val="70AD47">
                  <a:lumMod val="75000"/>
                  <a:alpha val="20000"/>
                </a:srgb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rtlCol="0" anchor="ctr"/>
            <a:p>
              <a:pPr algn="ctr"/>
              <a:endParaRPr lang="zh-CN" altLang="en-US" sz="900">
                <a:solidFill>
                  <a:sysClr val="window" lastClr="FFFFFF"/>
                </a:solidFill>
              </a:endParaRPr>
            </a:p>
          </p:txBody>
        </p:sp>
      </p:grpSp>
      <p:sp>
        <p:nvSpPr>
          <p:cNvPr id="115" name="文本框 114"/>
          <p:cNvSpPr txBox="1"/>
          <p:nvPr/>
        </p:nvSpPr>
        <p:spPr>
          <a:xfrm>
            <a:off x="648335" y="6067425"/>
            <a:ext cx="10999470" cy="617855"/>
          </a:xfrm>
          <a:prstGeom prst="rect">
            <a:avLst/>
          </a:prstGeom>
          <a:solidFill>
            <a:sysClr val="window" lastClr="FFFFFF">
              <a:lumMod val="95000"/>
            </a:sysClr>
          </a:solidFill>
        </p:spPr>
        <p:txBody>
          <a:bodyPr wrap="square" rtlCol="0">
            <a:noAutofit/>
          </a:bodyPr>
          <a:p>
            <a:endParaRPr lang="zh-CN" altLang="en-US" sz="2400"/>
          </a:p>
        </p:txBody>
      </p:sp>
      <p:sp>
        <p:nvSpPr>
          <p:cNvPr id="122" name="文本框 121"/>
          <p:cNvSpPr txBox="1"/>
          <p:nvPr/>
        </p:nvSpPr>
        <p:spPr>
          <a:xfrm>
            <a:off x="871855" y="6087745"/>
            <a:ext cx="10774680" cy="60007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33350" algn="l" rtl="0" eaLnBrk="0">
              <a:lnSpc>
                <a:spcPct val="150000"/>
              </a:lnSpc>
              <a:spcBef>
                <a:spcPts val="5"/>
              </a:spcBef>
            </a:pPr>
            <a:r>
              <a:rPr lang="zh-CN" sz="1000" spc="20" dirty="0">
                <a:solidFill>
                  <a:srgbClr val="20409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风险预防总结</a:t>
            </a:r>
            <a:r>
              <a:rPr sz="1000" spc="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：</a:t>
            </a:r>
            <a:r>
              <a:rPr lang="zh-CN" altLang="en-US" sz="1000" spc="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开展</a:t>
            </a:r>
            <a:r>
              <a:rPr lang="en-US" altLang="zh-CN" sz="1000" dirty="0">
                <a:solidFill>
                  <a:srgbClr val="4C61E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{{vulnerability_scan_count}</a:t>
            </a:r>
            <a:r>
              <a:rPr lang="en-US" altLang="zh-CN" sz="1000" dirty="0">
                <a:solidFill>
                  <a:srgbClr val="4C61E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}</a:t>
            </a:r>
            <a:r>
              <a:rPr lang="en-US" sz="1000" dirty="0">
                <a:solidFill>
                  <a:srgbClr val="365FD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 </a:t>
            </a:r>
            <a:r>
              <a:rPr lang="zh-CN" altLang="en-US" sz="1000" spc="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漏洞扫描，提前发现并修复高风险漏洞，通过端、边分层防护，阻断潜在攻击路径，对未发生漏洞利用成功事件起到了先决的支撑</a:t>
            </a:r>
            <a:r>
              <a:rPr lang="zh-CN" altLang="en-US" sz="1000" spc="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作用；</a:t>
            </a:r>
            <a:r>
              <a:rPr sz="1000" spc="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通过</a:t>
            </a:r>
            <a:r>
              <a:rPr lang="zh-CN" sz="1000" spc="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持续的漏洞闭环管理</a:t>
            </a:r>
            <a:r>
              <a:rPr sz="1000" spc="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支撑合规自查，降低监管通报风</a:t>
            </a:r>
            <a:r>
              <a:rPr sz="100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险，避免</a:t>
            </a:r>
            <a:r>
              <a:rPr lang="zh-CN" sz="100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了企业</a:t>
            </a:r>
            <a:r>
              <a:rPr sz="100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声誉受损</a:t>
            </a:r>
            <a:r>
              <a:rPr lang="zh-CN" sz="100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。</a:t>
            </a:r>
            <a:endParaRPr lang="zh-CN" sz="1000" spc="1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647700" y="3895090"/>
            <a:ext cx="1506220" cy="22225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25400" tIns="25400" rIns="25400" bIns="25400" numCol="1" spcCol="38100" rtlCol="0" anchor="t" forceAA="0">
            <a:spAutoFit/>
          </a:bodyPr>
          <a:p>
            <a:pPr algn="l" rtl="0" eaLnBrk="0">
              <a:lnSpc>
                <a:spcPct val="80000"/>
              </a:lnSpc>
            </a:pPr>
            <a:r>
              <a:rPr lang="zh-CN" sz="1400" b="1" spc="-60" dirty="0">
                <a:solidFill>
                  <a:srgbClr val="20409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漏洞类型分布</a:t>
            </a:r>
            <a:endParaRPr kumimoji="0" lang="zh-CN" altLang="en-US" sz="1400" b="1" i="0" u="none" strike="noStrike" cap="none" spc="-60" normalizeH="0" baseline="0" dirty="0">
              <a:ln>
                <a:noFill/>
              </a:ln>
              <a:solidFill>
                <a:srgbClr val="204090">
                  <a:alpha val="100000"/>
                </a:srgbClr>
              </a:solidFill>
              <a:effectLst/>
              <a:uFillTx/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</p:txBody>
      </p:sp>
      <p:graphicFrame>
        <p:nvGraphicFramePr>
          <p:cNvPr id="5" name="图表 4" descr="7b0a202020202263686172745265734964223a20223230323931393734220a7d0a"/>
          <p:cNvGraphicFramePr/>
          <p:nvPr/>
        </p:nvGraphicFramePr>
        <p:xfrm>
          <a:off x="647700" y="4129723"/>
          <a:ext cx="3010535" cy="18364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pic>
        <p:nvPicPr>
          <p:cNvPr id="2" name="图片 1" descr="深信服 + 智安全"/>
          <p:cNvPicPr>
            <a:picLocks noChangeAspect="1"/>
          </p:cNvPicPr>
          <p:nvPr/>
        </p:nvPicPr>
        <p:blipFill>
          <a:blip r:embed="rId15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3850640" y="2713355"/>
            <a:ext cx="7796530" cy="1087755"/>
          </a:xfrm>
          <a:prstGeom prst="rect">
            <a:avLst/>
          </a:prstGeom>
          <a:solidFill>
            <a:srgbClr val="EAEEF1"/>
          </a:solidFill>
        </p:spPr>
        <p:txBody>
          <a:bodyPr wrap="square" rtlCol="0" anchor="t">
            <a:noAutofit/>
          </a:bodyPr>
          <a:p>
            <a:pPr marL="11430" algn="l" rtl="0" eaLnBrk="0">
              <a:lnSpc>
                <a:spcPct val="99000"/>
              </a:lnSpc>
            </a:pPr>
            <a:endParaRPr lang="zh-CN" sz="900" kern="0" spc="-1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51" name="Text 2"/>
          <p:cNvSpPr/>
          <p:nvPr/>
        </p:nvSpPr>
        <p:spPr>
          <a:xfrm>
            <a:off x="3948430" y="2794000"/>
            <a:ext cx="7519035" cy="949325"/>
          </a:xfrm>
          <a:prstGeom prst="rect">
            <a:avLst/>
          </a:prstGeom>
          <a:noFill/>
        </p:spPr>
        <p:txBody>
          <a:bodyPr wrap="square" lIns="0" tIns="0" rIns="0" bIns="0" rtlCol="0" anchor="t"/>
          <a:p>
            <a:pPr marL="101600" indent="-101600" algn="l">
              <a:lnSpc>
                <a:spcPct val="150000"/>
              </a:lnSpc>
              <a:buSzPct val="100000"/>
              <a:buChar char="•"/>
            </a:pPr>
            <a:r>
              <a:rPr lang="zh-CN" altLang="en-US" sz="1000" b="1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</a:rPr>
              <a:t>暴露面风险：</a:t>
            </a:r>
            <a:r>
              <a:rPr lang="zh-CN" alt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</a:rPr>
              <a:t>对</a:t>
            </a:r>
            <a:r>
              <a:rPr lang="zh-CN" altLang="en-US" sz="10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互联网</a:t>
            </a:r>
            <a:r>
              <a:rPr lang="zh-CN" altLang="en-US" sz="10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</a:rPr>
              <a:t>暴</a:t>
            </a:r>
            <a:r>
              <a:rPr lang="zh-CN" alt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</a:rPr>
              <a:t>露面进行扫描，总共发现开放的互联网</a:t>
            </a:r>
            <a:r>
              <a:rPr lang="en-US" altLang="zh-CN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</a:rPr>
              <a:t>IP</a:t>
            </a:r>
            <a:r>
              <a:rPr lang="en-US" altLang="zh-CN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</a:rPr>
              <a:t>{{internet_ip_count}}</a:t>
            </a:r>
            <a:r>
              <a:rPr lang="zh-CN" alt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</a:rPr>
              <a:t>个，可访问端口</a:t>
            </a:r>
            <a:r>
              <a:rPr lang="en-US" altLang="zh-CN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</a:rPr>
              <a:t>{</a:t>
            </a:r>
            <a:r>
              <a:rPr lang="en-US" altLang="zh-CN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</a:rPr>
              <a:t>{internet_port_count}}</a:t>
            </a:r>
            <a:r>
              <a:rPr lang="zh-CN" alt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</a:rPr>
              <a:t>个；其中高危端口开放</a:t>
            </a:r>
            <a:r>
              <a:rPr lang="en-US" altLang="zh-CN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</a:rPr>
              <a:t>{{exposed_risk_port_count}}</a:t>
            </a:r>
            <a:r>
              <a:rPr lang="zh-CN" alt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</a:rPr>
              <a:t>个，高危可利用漏洞</a:t>
            </a:r>
            <a:r>
              <a:rPr lang="en-US" altLang="zh-CN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</a:rPr>
              <a:t>{{external_network_asset_vulnerability_count}}</a:t>
            </a:r>
            <a:r>
              <a:rPr lang="zh-CN" alt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</a:rPr>
              <a:t>个</a:t>
            </a:r>
            <a:r>
              <a:rPr lang="zh-CN" alt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。</a:t>
            </a:r>
            <a:endParaRPr lang="zh-CN" altLang="en-US" sz="1000" dirty="0">
              <a:solidFill>
                <a:srgbClr val="14161A"/>
              </a:solidFill>
              <a:latin typeface="Arial" panose="020B0604020202020204" pitchFamily="34" charset="0"/>
              <a:ea typeface="黑体-简" panose="02000000000000000000" charset="-122"/>
              <a:cs typeface="微软雅黑" panose="020B0503020204020204" pitchFamily="34" charset="-120"/>
              <a:sym typeface="+mn-ea"/>
            </a:endParaRPr>
          </a:p>
          <a:p>
            <a:pPr marL="101600" indent="-101600" algn="l">
              <a:lnSpc>
                <a:spcPct val="150000"/>
              </a:lnSpc>
              <a:buSzPct val="100000"/>
              <a:buChar char="•"/>
            </a:pPr>
            <a:r>
              <a:rPr lang="zh-CN" altLang="en-US" sz="1000" b="1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内网漏洞风险梳理</a:t>
            </a:r>
            <a:r>
              <a:rPr lang="zh-CN" alt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：未对互联网映射的服务器网段识别到</a:t>
            </a:r>
            <a:r>
              <a:rPr lang="en-US" sz="1000" dirty="0">
                <a:solidFill>
                  <a:srgbClr val="365FD9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 </a:t>
            </a:r>
            <a:r>
              <a:rPr lang="en-US" altLang="zh-CN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{{server_asset_count}}</a:t>
            </a:r>
            <a:r>
              <a:rPr 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个</a:t>
            </a:r>
            <a:r>
              <a:rPr lang="zh-CN" alt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存活资产</a:t>
            </a:r>
            <a:r>
              <a:rPr 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，</a:t>
            </a:r>
            <a:r>
              <a:rPr lang="zh-CN" alt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对托管服务范围内的</a:t>
            </a:r>
            <a:r>
              <a:rPr lang="en-US" altLang="zh-CN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{{mss_service_asset_count}}</a:t>
            </a:r>
            <a:r>
              <a:rPr lang="zh-CN" alt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个服务器识别到</a:t>
            </a:r>
            <a:r>
              <a:rPr lang="en-US" altLang="zh-CN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{{total_vulnerability_count}}</a:t>
            </a:r>
            <a:r>
              <a:rPr lang="zh-CN" alt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个安全漏洞，累计已防护</a:t>
            </a:r>
            <a:r>
              <a:rPr lang="en-US" altLang="zh-CN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{{protected_vulnerability_count}}</a:t>
            </a:r>
            <a:r>
              <a:rPr lang="zh-CN" alt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个安全漏洞，已修复</a:t>
            </a:r>
            <a:r>
              <a:rPr lang="en-US" altLang="zh-CN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{{fixed_vulnerability_count}}</a:t>
            </a:r>
            <a:r>
              <a:rPr lang="zh-CN" alt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个安全漏洞；</a:t>
            </a:r>
            <a:endParaRPr lang="zh-CN" altLang="en-US" sz="1000" dirty="0">
              <a:solidFill>
                <a:srgbClr val="14161A"/>
              </a:solidFill>
              <a:latin typeface="Arial" panose="020B0604020202020204" pitchFamily="34" charset="0"/>
              <a:ea typeface="黑体-简" panose="02000000000000000000" charset="-122"/>
              <a:cs typeface="微软雅黑" panose="020B0503020204020204" pitchFamily="34" charset="-120"/>
            </a:endParaRPr>
          </a:p>
          <a:p>
            <a:pPr marL="101600" indent="-101600" algn="l">
              <a:lnSpc>
                <a:spcPct val="150000"/>
              </a:lnSpc>
              <a:buSzPct val="100000"/>
              <a:buChar char="•"/>
            </a:pPr>
            <a:endParaRPr lang="zh-CN" altLang="en-US" sz="1000" dirty="0">
              <a:solidFill>
                <a:srgbClr val="14161A"/>
              </a:solidFill>
              <a:latin typeface="Arial" panose="020B0604020202020204" pitchFamily="34" charset="0"/>
              <a:ea typeface="黑体-简" panose="02000000000000000000" charset="-122"/>
              <a:cs typeface="微软雅黑" panose="020B0503020204020204" pitchFamily="34" charset="-12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023360" y="3896995"/>
            <a:ext cx="1506220" cy="22225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25400" tIns="25400" rIns="25400" bIns="25400" numCol="1" spcCol="38100" rtlCol="0" anchor="t" forceAA="0">
            <a:spAutoFit/>
          </a:bodyPr>
          <a:p>
            <a:pPr algn="l" rtl="0" eaLnBrk="0">
              <a:lnSpc>
                <a:spcPct val="80000"/>
              </a:lnSpc>
            </a:pPr>
            <a:r>
              <a:rPr lang="zh-CN" sz="1400" b="1" spc="-60" dirty="0">
                <a:solidFill>
                  <a:srgbClr val="20409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漏洞风险趋势</a:t>
            </a:r>
            <a:endParaRPr lang="zh-CN" sz="1400" b="1" spc="-60" dirty="0">
              <a:solidFill>
                <a:srgbClr val="204090">
                  <a:alpha val="100000"/>
                </a:srgbClr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</p:txBody>
      </p:sp>
      <p:graphicFrame>
        <p:nvGraphicFramePr>
          <p:cNvPr id="9" name="图表 8"/>
          <p:cNvGraphicFramePr/>
          <p:nvPr/>
        </p:nvGraphicFramePr>
        <p:xfrm>
          <a:off x="3848735" y="4180205"/>
          <a:ext cx="7797165" cy="17799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5" name="文本框 14"/>
          <p:cNvSpPr txBox="1"/>
          <p:nvPr/>
        </p:nvSpPr>
        <p:spPr>
          <a:xfrm>
            <a:off x="701040" y="4262755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>
                <a:sym typeface="+mn-ea"/>
              </a:rPr>
              <a:t>{{</a:t>
            </a:r>
            <a:r>
              <a:rPr lang="en-US" altLang="zh-CN">
                <a:sym typeface="+mn-ea"/>
              </a:rPr>
              <a:t>P29_pie</a:t>
            </a:r>
            <a:r>
              <a:rPr lang="zh-CN" altLang="en-US">
                <a:sym typeface="+mn-ea"/>
              </a:rPr>
              <a:t>}}</a:t>
            </a:r>
            <a:endParaRPr lang="zh-CN" altLang="en-US">
              <a:sym typeface="+mn-ea"/>
            </a:endParaRPr>
          </a:p>
        </p:txBody>
      </p:sp>
      <p:grpSp>
        <p:nvGrpSpPr>
          <p:cNvPr id="36" name="组合 35"/>
          <p:cNvGrpSpPr/>
          <p:nvPr/>
        </p:nvGrpSpPr>
        <p:grpSpPr>
          <a:xfrm>
            <a:off x="3930650" y="1732915"/>
            <a:ext cx="1896745" cy="688340"/>
            <a:chOff x="12788" y="6575"/>
            <a:chExt cx="5974" cy="2168"/>
          </a:xfrm>
        </p:grpSpPr>
        <p:sp>
          <p:nvSpPr>
            <p:cNvPr id="37" name="文本框 36"/>
            <p:cNvSpPr txBox="1"/>
            <p:nvPr/>
          </p:nvSpPr>
          <p:spPr>
            <a:xfrm>
              <a:off x="13504" y="6575"/>
              <a:ext cx="4499" cy="567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zh-CN" sz="900" kern="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高危可利用漏洞</a:t>
              </a:r>
              <a:r>
                <a:rPr lang="zh-CN" sz="900" kern="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分析</a:t>
              </a:r>
              <a:endParaRPr lang="zh-CN" sz="900" kern="0" spc="1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12788" y="7483"/>
              <a:ext cx="5974" cy="984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marL="0" algn="ctr" rtl="0" eaLnBrk="0">
                <a:lnSpc>
                  <a:spcPct val="76000"/>
                </a:lnSpc>
                <a:spcBef>
                  <a:spcPts val="520"/>
                </a:spcBef>
              </a:pPr>
              <a:r>
                <a:rPr lang="en-US" altLang="zh-CN" sz="2000" dirty="0">
                  <a:solidFill>
                    <a:srgbClr val="4C61E7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pitchFamily="34" charset="-120"/>
                  <a:sym typeface="+mn-ea"/>
                </a:rPr>
                <a:t>{{high_risk_exploitable_vulnerability_count}}</a:t>
              </a:r>
              <a:r>
                <a:rPr lang="en-US" sz="2000" dirty="0">
                  <a:solidFill>
                    <a:srgbClr val="365FD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pitchFamily="34" charset="-120"/>
                  <a:sym typeface="+mn-ea"/>
                </a:rPr>
                <a:t> </a:t>
              </a:r>
              <a:endParaRPr lang="en-US" sz="2000" b="1" kern="0" spc="-20" dirty="0">
                <a:solidFill>
                  <a:srgbClr val="2040C0">
                    <a:alpha val="100000"/>
                  </a:srgbClr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3504" y="8175"/>
              <a:ext cx="4500" cy="568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en-US" altLang="zh-CN" sz="700" kern="0" spc="120" dirty="0">
                  <a:solidFill>
                    <a:srgbClr val="00B05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100%</a:t>
              </a:r>
              <a:r>
                <a:rPr lang="zh-CN" altLang="en-US" sz="700" kern="0" spc="120" dirty="0">
                  <a:solidFill>
                    <a:srgbClr val="00B05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验证可利用性</a:t>
              </a:r>
              <a:endParaRPr lang="zh-CN" altLang="en-US" sz="700" kern="0" spc="120" dirty="0">
                <a:solidFill>
                  <a:srgbClr val="00B05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</p:grpSp>
      <p:grpSp>
        <p:nvGrpSpPr>
          <p:cNvPr id="40" name="组合 39"/>
          <p:cNvGrpSpPr/>
          <p:nvPr/>
        </p:nvGrpSpPr>
        <p:grpSpPr>
          <a:xfrm>
            <a:off x="5751830" y="1732915"/>
            <a:ext cx="2358390" cy="688340"/>
            <a:chOff x="17210" y="6575"/>
            <a:chExt cx="7428" cy="2168"/>
          </a:xfrm>
        </p:grpSpPr>
        <p:sp>
          <p:nvSpPr>
            <p:cNvPr id="41" name="文本框 40"/>
            <p:cNvSpPr txBox="1"/>
            <p:nvPr/>
          </p:nvSpPr>
          <p:spPr>
            <a:xfrm>
              <a:off x="18536" y="6575"/>
              <a:ext cx="4499" cy="567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zh-CN" altLang="en-US" sz="900" kern="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外部风险收敛</a:t>
              </a:r>
              <a:endParaRPr lang="zh-CN" altLang="en-US" sz="900" kern="0" spc="1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7210" y="7483"/>
              <a:ext cx="7428" cy="984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marL="0" algn="ctr" rtl="0" eaLnBrk="0">
                <a:lnSpc>
                  <a:spcPct val="76000"/>
                </a:lnSpc>
                <a:spcBef>
                  <a:spcPts val="520"/>
                </a:spcBef>
              </a:pPr>
              <a:r>
                <a:rPr lang="en-US" altLang="zh-CN" sz="2000" dirty="0">
                  <a:solidFill>
                    <a:srgbClr val="4C61E7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pitchFamily="34" charset="-120"/>
                  <a:sym typeface="+mn-ea"/>
                </a:rPr>
                <a:t>{</a:t>
              </a:r>
              <a:r>
                <a:rPr lang="en-US" altLang="zh-CN" sz="2000" dirty="0">
                  <a:solidFill>
                    <a:srgbClr val="365FD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pitchFamily="34" charset="-120"/>
                  <a:sym typeface="+mn-ea"/>
                </a:rPr>
                <a:t>{closed_loop_external_asset_vulnerability_count}}</a:t>
              </a:r>
              <a:r>
                <a:rPr lang="en-US" sz="2000" dirty="0">
                  <a:solidFill>
                    <a:srgbClr val="365FD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pitchFamily="34" charset="-120"/>
                  <a:sym typeface="+mn-ea"/>
                </a:rPr>
                <a:t> </a:t>
              </a:r>
              <a:endParaRPr lang="en-US" sz="2000" b="1" kern="0" spc="-20" dirty="0">
                <a:solidFill>
                  <a:srgbClr val="2040C0">
                    <a:alpha val="100000"/>
                  </a:srgbClr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endParaRPr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18632" y="8175"/>
              <a:ext cx="4536" cy="568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zh-CN" altLang="en-US" sz="700" kern="0" spc="120" dirty="0">
                  <a:solidFill>
                    <a:srgbClr val="00B05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及时发现和收敛外部风险</a:t>
              </a:r>
              <a:endParaRPr lang="zh-CN" altLang="en-US" sz="700" kern="0" spc="120" dirty="0">
                <a:solidFill>
                  <a:srgbClr val="00B05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</p:grpSp>
      <p:grpSp>
        <p:nvGrpSpPr>
          <p:cNvPr id="44" name="组合 43"/>
          <p:cNvGrpSpPr/>
          <p:nvPr/>
        </p:nvGrpSpPr>
        <p:grpSpPr>
          <a:xfrm>
            <a:off x="7980680" y="1727518"/>
            <a:ext cx="1979296" cy="688023"/>
            <a:chOff x="22583" y="6585"/>
            <a:chExt cx="6234" cy="2167"/>
          </a:xfrm>
        </p:grpSpPr>
        <p:sp>
          <p:nvSpPr>
            <p:cNvPr id="45" name="文本框 44"/>
            <p:cNvSpPr txBox="1"/>
            <p:nvPr/>
          </p:nvSpPr>
          <p:spPr>
            <a:xfrm>
              <a:off x="23235" y="6585"/>
              <a:ext cx="4499" cy="567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zh-CN" sz="900" kern="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管理员弱密码</a:t>
              </a:r>
              <a:endParaRPr lang="zh-CN" sz="900" kern="0" spc="1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22583" y="7493"/>
              <a:ext cx="6234" cy="984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marL="0" algn="ctr" rtl="0" eaLnBrk="0">
                <a:lnSpc>
                  <a:spcPct val="76000"/>
                </a:lnSpc>
                <a:spcBef>
                  <a:spcPts val="520"/>
                </a:spcBef>
              </a:pPr>
              <a:r>
                <a:rPr lang="en-US" altLang="zh-CN" sz="2000" dirty="0">
                  <a:solidFill>
                    <a:srgbClr val="365FD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pitchFamily="34" charset="-120"/>
                  <a:sym typeface="+mn-ea"/>
                </a:rPr>
                <a:t>{{admin_weak_password_count}}</a:t>
              </a:r>
              <a:r>
                <a:rPr lang="en-US" sz="2000" dirty="0">
                  <a:solidFill>
                    <a:srgbClr val="365FD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pitchFamily="34" charset="-120"/>
                  <a:sym typeface="+mn-ea"/>
                </a:rPr>
                <a:t> </a:t>
              </a:r>
              <a:endParaRPr lang="en-US" sz="2000" b="1" kern="0" spc="-20" dirty="0">
                <a:solidFill>
                  <a:srgbClr val="2040C0">
                    <a:alpha val="100000"/>
                  </a:srgbClr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endParaRPr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23299" y="8185"/>
              <a:ext cx="4499" cy="567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zh-CN" altLang="en-US" sz="700" kern="0" spc="120" dirty="0">
                  <a:solidFill>
                    <a:srgbClr val="00B05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降低业务风险</a:t>
              </a:r>
              <a:endParaRPr lang="zh-CN" altLang="en-US" sz="700" kern="0" spc="120" dirty="0">
                <a:solidFill>
                  <a:srgbClr val="00B05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</p:grpSp>
      <p:grpSp>
        <p:nvGrpSpPr>
          <p:cNvPr id="48" name="组合 47"/>
          <p:cNvGrpSpPr/>
          <p:nvPr/>
        </p:nvGrpSpPr>
        <p:grpSpPr>
          <a:xfrm>
            <a:off x="9989820" y="1727835"/>
            <a:ext cx="1884680" cy="693420"/>
            <a:chOff x="29848" y="6559"/>
            <a:chExt cx="5957" cy="2183"/>
          </a:xfrm>
        </p:grpSpPr>
        <p:sp>
          <p:nvSpPr>
            <p:cNvPr id="49" name="文本框 48"/>
            <p:cNvSpPr txBox="1"/>
            <p:nvPr/>
          </p:nvSpPr>
          <p:spPr>
            <a:xfrm>
              <a:off x="30013" y="6559"/>
              <a:ext cx="5191" cy="584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zh-CN" sz="900" kern="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高危可利用漏洞闭环率</a:t>
              </a:r>
              <a:endParaRPr lang="zh-CN" sz="900" kern="0" spc="1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29848" y="7473"/>
              <a:ext cx="5957" cy="984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marL="0" algn="ctr" rtl="0" eaLnBrk="0">
                <a:lnSpc>
                  <a:spcPct val="76000"/>
                </a:lnSpc>
                <a:spcBef>
                  <a:spcPts val="520"/>
                </a:spcBef>
              </a:pPr>
              <a:r>
                <a:rPr lang="en-US" altLang="zh-CN" sz="2000" dirty="0">
                  <a:solidFill>
                    <a:srgbClr val="365FD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pitchFamily="34" charset="-120"/>
                  <a:sym typeface="+mn-ea"/>
                </a:rPr>
                <a:t>{{high_risk_exploitable_vulnerability_closure_rate}}</a:t>
              </a:r>
              <a:r>
                <a:rPr lang="en-US" sz="2000" dirty="0">
                  <a:solidFill>
                    <a:srgbClr val="365FD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pitchFamily="34" charset="-120"/>
                  <a:sym typeface="+mn-ea"/>
                </a:rPr>
                <a:t> </a:t>
              </a:r>
              <a:endParaRPr lang="en-US" sz="2000" b="1" kern="0" spc="-20" dirty="0">
                <a:solidFill>
                  <a:srgbClr val="2040C0">
                    <a:alpha val="100000"/>
                  </a:srgbClr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endParaRPr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30517" y="8175"/>
              <a:ext cx="4499" cy="567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en-US" altLang="zh-CN" sz="700" kern="0" spc="120" dirty="0">
                  <a:solidFill>
                    <a:srgbClr val="00B05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0</a:t>
              </a:r>
              <a:r>
                <a:rPr lang="zh-CN" altLang="en-US" sz="700" kern="0" spc="120" dirty="0">
                  <a:solidFill>
                    <a:srgbClr val="00B05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漏洞利用成功事故</a:t>
              </a:r>
              <a:endParaRPr lang="zh-CN" altLang="en-US" sz="700" kern="0" spc="120" dirty="0">
                <a:solidFill>
                  <a:srgbClr val="00B05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</p:grpSp>
      <p:pic>
        <p:nvPicPr>
          <p:cNvPr id="53" name="图片 52" descr="APP漏扫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691698" y="1270318"/>
            <a:ext cx="360000" cy="360000"/>
          </a:xfrm>
          <a:prstGeom prst="rect">
            <a:avLst/>
          </a:prstGeom>
        </p:spPr>
      </p:pic>
      <p:pic>
        <p:nvPicPr>
          <p:cNvPr id="54" name="图片 53" descr="项目风险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706870" y="1270318"/>
            <a:ext cx="360000" cy="360000"/>
          </a:xfrm>
          <a:prstGeom prst="rect">
            <a:avLst/>
          </a:prstGeom>
        </p:spPr>
      </p:pic>
      <p:pic>
        <p:nvPicPr>
          <p:cNvPr id="55" name="图片 54" descr="项目风险"/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8721725" y="1270318"/>
            <a:ext cx="360000" cy="360000"/>
          </a:xfrm>
          <a:prstGeom prst="rect">
            <a:avLst/>
          </a:prstGeom>
        </p:spPr>
      </p:pic>
      <p:pic>
        <p:nvPicPr>
          <p:cNvPr id="56" name="图片 55" descr="已办事项"/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10737533" y="1270318"/>
            <a:ext cx="360000" cy="360000"/>
          </a:xfrm>
          <a:prstGeom prst="rect">
            <a:avLst/>
          </a:prstGeom>
        </p:spPr>
      </p:pic>
      <p:sp>
        <p:nvSpPr>
          <p:cNvPr id="57" name="文本框 56"/>
          <p:cNvSpPr txBox="1"/>
          <p:nvPr/>
        </p:nvSpPr>
        <p:spPr>
          <a:xfrm>
            <a:off x="7980680" y="4601210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>
                <a:sym typeface="+mn-ea"/>
              </a:rPr>
              <a:t>{{</a:t>
            </a:r>
            <a:r>
              <a:rPr lang="en-US" altLang="zh-CN">
                <a:sym typeface="+mn-ea"/>
              </a:rPr>
              <a:t>P29_line</a:t>
            </a:r>
            <a:r>
              <a:rPr lang="zh-CN" altLang="en-US">
                <a:sym typeface="+mn-ea"/>
              </a:rPr>
              <a:t>}}</a:t>
            </a:r>
            <a:endParaRPr lang="zh-CN" altLang="en-US">
              <a:sym typeface="+mn-ea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0"/>
          <p:cNvSpPr/>
          <p:nvPr/>
        </p:nvSpPr>
        <p:spPr>
          <a:xfrm>
            <a:off x="647700" y="3670618"/>
            <a:ext cx="3005773" cy="1883093"/>
          </a:xfrm>
          <a:prstGeom prst="rect">
            <a:avLst/>
          </a:prstGeom>
          <a:solidFill>
            <a:schemeClr val="bg1">
              <a:lumMod val="95000"/>
            </a:scheme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83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19000"/>
              </a:lnSpc>
            </a:pPr>
            <a:endParaRPr sz="900" b="1" kern="0" spc="-4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algn="l" rtl="0" eaLnBrk="0">
              <a:lnSpc>
                <a:spcPct val="108000"/>
              </a:lnSpc>
            </a:pPr>
            <a:endParaRPr sz="900" b="1" kern="0" spc="-4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algn="l" rtl="0" eaLnBrk="0">
              <a:lnSpc>
                <a:spcPct val="108000"/>
              </a:lnSpc>
            </a:pPr>
            <a:endParaRPr sz="9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734060" y="3723323"/>
            <a:ext cx="2880000" cy="60007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l" rtl="0" eaLnBrk="0">
              <a:lnSpc>
                <a:spcPct val="155000"/>
              </a:lnSpc>
            </a:pPr>
            <a:r>
              <a:rPr lang="zh-CN" altLang="en-US" sz="1000" b="1" spc="-5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完备的保障机制</a:t>
            </a:r>
            <a:endParaRPr sz="10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11430" algn="l" rtl="0" eaLnBrk="0">
              <a:lnSpc>
                <a:spcPct val="97000"/>
              </a:lnSpc>
              <a:spcBef>
                <a:spcPts val="185"/>
              </a:spcBef>
            </a:pPr>
            <a:r>
              <a:rPr lang="zh-CN" altLang="en-US" sz="800" spc="1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结合业务运维，制定各类安全风险的分级分类响应标准和闭环流程；重要时期前进行潜在风险排查。</a:t>
            </a:r>
            <a:endParaRPr lang="zh-CN" altLang="en-US" sz="800" spc="12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734060" y="4338320"/>
            <a:ext cx="2880000" cy="5664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l" rtl="0" eaLnBrk="0">
              <a:lnSpc>
                <a:spcPct val="119000"/>
              </a:lnSpc>
            </a:pPr>
            <a:r>
              <a:rPr lang="zh-CN" sz="1000" b="1" spc="-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事件分级响应</a:t>
            </a:r>
            <a:r>
              <a:rPr lang="en-US" altLang="zh-CN" sz="1000" b="1" spc="-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 </a:t>
            </a:r>
            <a:endParaRPr lang="zh-CN" sz="1000" b="1" spc="-4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  <a:p>
            <a:pPr algn="l" rtl="0" eaLnBrk="0">
              <a:lnSpc>
                <a:spcPct val="119000"/>
              </a:lnSpc>
            </a:pPr>
            <a:r>
              <a:rPr lang="zh-CN" altLang="en-US" sz="800" spc="1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预先定义安全威胁和安全事件分级分类响应标准与执行规范</a:t>
            </a:r>
            <a:r>
              <a:rPr lang="zh-CN" sz="800" spc="1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。</a:t>
            </a:r>
            <a:endParaRPr lang="zh-CN" sz="800" spc="11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734060" y="4946650"/>
            <a:ext cx="2880000" cy="5549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l" rtl="0" eaLnBrk="0">
              <a:lnSpc>
                <a:spcPct val="108000"/>
              </a:lnSpc>
            </a:pPr>
            <a:r>
              <a:rPr lang="zh-CN" sz="1000" b="1" kern="0" spc="-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工单在线可视，微信群</a:t>
            </a:r>
            <a:r>
              <a:rPr lang="en-US" altLang="zh-CN" sz="1000" b="1" kern="0" spc="-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/</a:t>
            </a:r>
            <a:r>
              <a:rPr lang="zh-CN" altLang="en-US" sz="1000" b="1" kern="0" spc="-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小程序多通道协同</a:t>
            </a:r>
            <a:endParaRPr sz="1000" b="1" kern="0" spc="-4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algn="l" rtl="0" eaLnBrk="0">
              <a:lnSpc>
                <a:spcPct val="108000"/>
              </a:lnSpc>
            </a:pPr>
            <a:r>
              <a:rPr lang="zh-CN" sz="800" spc="1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告警和事件通过在线工单和微信群实现协同响应，高效便捷，有效降低运维压力。</a:t>
            </a:r>
            <a:endParaRPr lang="zh-CN" sz="800" spc="11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13" name="textbox 158"/>
          <p:cNvSpPr/>
          <p:nvPr/>
        </p:nvSpPr>
        <p:spPr>
          <a:xfrm>
            <a:off x="647700" y="360045"/>
            <a:ext cx="5448300" cy="60007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1000"/>
              </a:lnSpc>
            </a:pPr>
            <a:r>
              <a:rPr lang="zh-CN" altLang="en-US" sz="1900" kern="0" dirty="0">
                <a:solidFill>
                  <a:srgbClr val="4C61E7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重要时期保障工作详情</a:t>
            </a:r>
            <a:endParaRPr sz="8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92000"/>
              </a:lnSpc>
              <a:spcBef>
                <a:spcPts val="5"/>
              </a:spcBef>
            </a:pPr>
            <a:endParaRPr lang="zh-CN" altLang="en-US" sz="1000" kern="0" spc="4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12700" algn="l" rtl="0" eaLnBrk="0">
              <a:lnSpc>
                <a:spcPct val="92000"/>
              </a:lnSpc>
              <a:spcBef>
                <a:spcPts val="5"/>
              </a:spcBef>
            </a:pPr>
            <a:r>
              <a:rPr lang="zh-CN" altLang="en-US" sz="1000" kern="0" spc="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全天候应急响应机制与重要时期精细化保障，确保业务持续性与安全稳定</a:t>
            </a:r>
            <a:endParaRPr lang="zh-CN" altLang="en-US" sz="1000" kern="0" spc="4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25" name="textbox 48"/>
          <p:cNvSpPr/>
          <p:nvPr/>
        </p:nvSpPr>
        <p:spPr>
          <a:xfrm>
            <a:off x="647700" y="1196023"/>
            <a:ext cx="3006000" cy="2388870"/>
          </a:xfrm>
          <a:prstGeom prst="rect">
            <a:avLst/>
          </a:prstGeom>
          <a:solidFill>
            <a:srgbClr val="5B9BD5">
              <a:lumMod val="20000"/>
              <a:lumOff val="80000"/>
            </a:srgb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182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1000"/>
              </a:lnSpc>
            </a:pPr>
            <a:endParaRPr sz="5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16915" algn="l" rtl="0" eaLnBrk="0">
              <a:lnSpc>
                <a:spcPct val="100000"/>
              </a:lnSpc>
              <a:spcBef>
                <a:spcPts val="5"/>
              </a:spcBef>
            </a:pPr>
            <a:endParaRPr sz="9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grpSp>
        <p:nvGrpSpPr>
          <p:cNvPr id="26" name="组合 25"/>
          <p:cNvGrpSpPr/>
          <p:nvPr/>
        </p:nvGrpSpPr>
        <p:grpSpPr>
          <a:xfrm>
            <a:off x="1275398" y="1650365"/>
            <a:ext cx="2159635" cy="475615"/>
            <a:chOff x="4017" y="5198"/>
            <a:chExt cx="8006" cy="1498"/>
          </a:xfrm>
        </p:grpSpPr>
        <p:sp>
          <p:nvSpPr>
            <p:cNvPr id="39" name="文本框 38"/>
            <p:cNvSpPr txBox="1"/>
            <p:nvPr/>
          </p:nvSpPr>
          <p:spPr>
            <a:xfrm>
              <a:off x="4017" y="5198"/>
              <a:ext cx="8006" cy="624"/>
            </a:xfrm>
            <a:prstGeom prst="rect">
              <a:avLst/>
            </a:prstGeom>
            <a:noFill/>
            <a:ln w="12700" cap="flat">
              <a:noFill/>
              <a:miter lim="400000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vertOverflow="overflow" horzOverflow="overflow" vert="horz" wrap="square" lIns="25400" tIns="25400" rIns="25400" bIns="25400" numCol="1" spcCol="38100" rtlCol="0" anchor="t" forceAA="0">
              <a:spAutoFit/>
            </a:bodyPr>
            <a:p>
              <a:pPr marL="34290" algn="l" rtl="0" eaLnBrk="0">
                <a:lnSpc>
                  <a:spcPct val="96000"/>
                </a:lnSpc>
                <a:spcBef>
                  <a:spcPts val="1125"/>
                </a:spcBef>
              </a:pPr>
              <a:r>
                <a:rPr lang="zh-CN" sz="1000" spc="-1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重要时期值守次数</a:t>
              </a:r>
              <a:endParaRPr lang="zh-CN" sz="10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4701" y="6002"/>
              <a:ext cx="6643" cy="694"/>
            </a:xfrm>
            <a:prstGeom prst="rect">
              <a:avLst/>
            </a:prstGeom>
            <a:noFill/>
            <a:ln w="12700" cap="flat">
              <a:noFill/>
              <a:miter lim="400000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vertOverflow="overflow" horzOverflow="overflow" vert="horz" wrap="square" lIns="25400" tIns="25400" rIns="25400" bIns="25400" numCol="1" spcCol="38100" rtlCol="0" anchor="t" forceAA="0">
              <a:spAutoFit/>
            </a:bodyPr>
            <a:p>
              <a:pPr marL="34290" algn="l" rtl="0" eaLnBrk="0">
                <a:lnSpc>
                  <a:spcPct val="79000"/>
                </a:lnSpc>
                <a:spcBef>
                  <a:spcPts val="310"/>
                </a:spcBef>
              </a:pPr>
              <a:r>
                <a:rPr lang="en-US" altLang="zh-CN" sz="1400" b="1" dirty="0">
                  <a:solidFill>
                    <a:srgbClr val="4C61E7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pitchFamily="34" charset="-120"/>
                  <a:sym typeface="+mn-ea"/>
                </a:rPr>
                <a:t>{{duty_critical}}</a:t>
              </a:r>
              <a:r>
                <a:rPr lang="en-US" sz="1400" dirty="0">
                  <a:solidFill>
                    <a:srgbClr val="365FD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pitchFamily="34" charset="-120"/>
                  <a:sym typeface="+mn-ea"/>
                </a:rPr>
                <a:t> </a:t>
              </a:r>
              <a:r>
                <a:rPr lang="zh-CN" altLang="en-US" sz="1400" b="1" spc="-30" dirty="0">
                  <a:solidFill>
                    <a:srgbClr val="2040C0">
                      <a:alpha val="100000"/>
                    </a:srgb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次</a:t>
              </a:r>
              <a:endParaRPr lang="zh-CN" altLang="en-US" sz="1400" b="1" spc="-30" dirty="0">
                <a:solidFill>
                  <a:srgbClr val="2040C0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endParaRPr>
            </a:p>
          </p:txBody>
        </p:sp>
      </p:grpSp>
      <p:grpSp>
        <p:nvGrpSpPr>
          <p:cNvPr id="44" name="组合 43"/>
          <p:cNvGrpSpPr/>
          <p:nvPr/>
        </p:nvGrpSpPr>
        <p:grpSpPr>
          <a:xfrm>
            <a:off x="1275398" y="2854325"/>
            <a:ext cx="2159953" cy="487046"/>
            <a:chOff x="4017" y="8989"/>
            <a:chExt cx="8006" cy="1534"/>
          </a:xfrm>
        </p:grpSpPr>
        <p:sp>
          <p:nvSpPr>
            <p:cNvPr id="46" name="文本框 45"/>
            <p:cNvSpPr txBox="1"/>
            <p:nvPr/>
          </p:nvSpPr>
          <p:spPr>
            <a:xfrm>
              <a:off x="4017" y="8989"/>
              <a:ext cx="8006" cy="624"/>
            </a:xfrm>
            <a:prstGeom prst="rect">
              <a:avLst/>
            </a:prstGeom>
            <a:noFill/>
            <a:ln w="12700" cap="flat">
              <a:noFill/>
              <a:miter lim="400000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vertOverflow="overflow" horzOverflow="overflow" vert="horz" wrap="square" lIns="25400" tIns="25400" rIns="25400" bIns="25400" numCol="1" spcCol="38100" rtlCol="0" anchor="t" forceAA="0">
              <a:spAutoFit/>
            </a:bodyPr>
            <a:p>
              <a:pPr marL="34290" algn="l" rtl="0" eaLnBrk="0">
                <a:lnSpc>
                  <a:spcPct val="96000"/>
                </a:lnSpc>
                <a:spcBef>
                  <a:spcPts val="1125"/>
                </a:spcBef>
              </a:pPr>
              <a:r>
                <a:rPr lang="zh-CN" sz="1000" spc="-1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业务可用性保障</a:t>
              </a:r>
              <a:endParaRPr lang="zh-CN" sz="10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4632" y="9829"/>
              <a:ext cx="7245" cy="694"/>
            </a:xfrm>
            <a:prstGeom prst="rect">
              <a:avLst/>
            </a:prstGeom>
            <a:noFill/>
            <a:ln w="12700" cap="flat">
              <a:noFill/>
              <a:miter lim="400000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vertOverflow="overflow" horzOverflow="overflow" vert="horz" wrap="square" lIns="25400" tIns="25400" rIns="25400" bIns="25400" numCol="1" spcCol="38100" rtlCol="0" anchor="t" forceAA="0">
              <a:spAutoFit/>
            </a:bodyPr>
            <a:p>
              <a:pPr marL="34290" algn="l" rtl="0" eaLnBrk="0">
                <a:lnSpc>
                  <a:spcPct val="79000"/>
                </a:lnSpc>
                <a:spcBef>
                  <a:spcPts val="310"/>
                </a:spcBef>
              </a:pPr>
              <a:r>
                <a:rPr lang="en-US" altLang="zh-CN" sz="1400" b="1" dirty="0">
                  <a:solidFill>
                    <a:srgbClr val="4C61E7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pitchFamily="34" charset="-120"/>
                  <a:sym typeface="+mn-ea"/>
                </a:rPr>
                <a:t>{{availability_assure}}</a:t>
              </a:r>
              <a:endParaRPr lang="en-US" altLang="zh-CN" sz="1400" b="1" spc="-30" dirty="0">
                <a:solidFill>
                  <a:srgbClr val="2040C0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endParaRPr>
            </a:p>
          </p:txBody>
        </p:sp>
      </p:grpSp>
      <p:grpSp>
        <p:nvGrpSpPr>
          <p:cNvPr id="48" name="组合 47"/>
          <p:cNvGrpSpPr/>
          <p:nvPr/>
        </p:nvGrpSpPr>
        <p:grpSpPr>
          <a:xfrm>
            <a:off x="1275398" y="2252345"/>
            <a:ext cx="2113996" cy="656591"/>
            <a:chOff x="4017" y="7030"/>
            <a:chExt cx="6911" cy="2068"/>
          </a:xfrm>
        </p:grpSpPr>
        <p:sp>
          <p:nvSpPr>
            <p:cNvPr id="50" name="文本框 49"/>
            <p:cNvSpPr txBox="1"/>
            <p:nvPr/>
          </p:nvSpPr>
          <p:spPr>
            <a:xfrm>
              <a:off x="4017" y="7030"/>
              <a:ext cx="6336" cy="624"/>
            </a:xfrm>
            <a:prstGeom prst="rect">
              <a:avLst/>
            </a:prstGeom>
            <a:noFill/>
            <a:ln w="12700" cap="flat">
              <a:noFill/>
              <a:miter lim="400000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vertOverflow="overflow" horzOverflow="overflow" vert="horz" wrap="square" lIns="25400" tIns="25400" rIns="25400" bIns="25400" numCol="1" spcCol="38100" rtlCol="0" anchor="t" forceAA="0">
              <a:spAutoFit/>
            </a:bodyPr>
            <a:p>
              <a:pPr marL="34290" algn="l" rtl="0" eaLnBrk="0">
                <a:lnSpc>
                  <a:spcPct val="96000"/>
                </a:lnSpc>
                <a:spcBef>
                  <a:spcPts val="1125"/>
                </a:spcBef>
              </a:pPr>
              <a:r>
                <a:rPr lang="zh-CN" sz="1000" spc="-1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重要时期安全事件</a:t>
              </a:r>
              <a:endParaRPr lang="zh-CN" sz="10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4590" y="7868"/>
              <a:ext cx="6338" cy="1230"/>
            </a:xfrm>
            <a:prstGeom prst="rect">
              <a:avLst/>
            </a:prstGeom>
            <a:noFill/>
            <a:ln w="12700" cap="flat">
              <a:noFill/>
              <a:miter lim="400000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vertOverflow="overflow" horzOverflow="overflow" vert="horz" wrap="square" lIns="25400" tIns="25400" rIns="25400" bIns="25400" numCol="1" spcCol="38100" rtlCol="0" anchor="t" forceAA="0">
              <a:spAutoFit/>
            </a:bodyPr>
            <a:p>
              <a:pPr marL="34290" algn="l" rtl="0" eaLnBrk="0">
                <a:lnSpc>
                  <a:spcPct val="79000"/>
                </a:lnSpc>
                <a:spcBef>
                  <a:spcPts val="310"/>
                </a:spcBef>
              </a:pPr>
              <a:r>
                <a:rPr lang="en-US" altLang="zh-CN" sz="1400" b="1" dirty="0">
                  <a:solidFill>
                    <a:srgbClr val="4C61E7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pitchFamily="34" charset="-120"/>
                  <a:sym typeface="+mn-ea"/>
                </a:rPr>
                <a:t>{{incident_critical}}</a:t>
              </a:r>
              <a:r>
                <a:rPr lang="en-US" sz="1400" dirty="0">
                  <a:solidFill>
                    <a:srgbClr val="365FD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pitchFamily="34" charset="-120"/>
                  <a:sym typeface="+mn-ea"/>
                </a:rPr>
                <a:t> </a:t>
              </a:r>
              <a:r>
                <a:rPr lang="zh-CN" altLang="en-US" sz="1400" b="1" spc="-30" dirty="0">
                  <a:solidFill>
                    <a:srgbClr val="2040C0">
                      <a:alpha val="100000"/>
                    </a:srgb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起</a:t>
              </a:r>
              <a:endParaRPr lang="zh-CN" altLang="en-US" sz="800" b="1" spc="-30" dirty="0">
                <a:solidFill>
                  <a:schemeClr val="bg2">
                    <a:lumMod val="10000"/>
                    <a:alpha val="100000"/>
                  </a:schemeClr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/>
                <a:sym typeface="+mn-ea"/>
              </a:endParaRPr>
            </a:p>
          </p:txBody>
        </p:sp>
      </p:grpSp>
      <p:sp>
        <p:nvSpPr>
          <p:cNvPr id="53" name="椭圆 52"/>
          <p:cNvSpPr/>
          <p:nvPr>
            <p:custDataLst>
              <p:tags r:id="rId2"/>
            </p:custDataLst>
          </p:nvPr>
        </p:nvSpPr>
        <p:spPr bwMode="auto">
          <a:xfrm>
            <a:off x="733743" y="1696720"/>
            <a:ext cx="432118" cy="432118"/>
          </a:xfrm>
          <a:prstGeom prst="ellipse">
            <a:avLst/>
          </a:prstGeom>
          <a:gradFill>
            <a:gsLst>
              <a:gs pos="0">
                <a:srgbClr val="5B9BD5">
                  <a:satMod val="110000"/>
                  <a:lumMod val="105000"/>
                  <a:tint val="67000"/>
                </a:srgbClr>
              </a:gs>
              <a:gs pos="50000">
                <a:srgbClr val="5B9BD5">
                  <a:lumMod val="105000"/>
                  <a:satMod val="103000"/>
                  <a:tint val="73000"/>
                </a:srgbClr>
              </a:gs>
              <a:gs pos="100000">
                <a:srgbClr val="5B9BD5">
                  <a:satMod val="105000"/>
                  <a:lumMod val="109000"/>
                  <a:tint val="81000"/>
                </a:srgbClr>
              </a:gs>
              <a:gs pos="0">
                <a:srgbClr val="ADE1F9"/>
              </a:gs>
              <a:gs pos="100000">
                <a:srgbClr val="FFF2EC"/>
              </a:gs>
            </a:gsLst>
            <a:lin ang="17400000" scaled="0"/>
          </a:gradFill>
          <a:ln w="6350" cap="flat" cmpd="sng" algn="ctr">
            <a:noFill/>
            <a:prstDash val="solid"/>
            <a:miter lim="800000"/>
          </a:ln>
          <a:effectLst/>
        </p:spPr>
        <p:style>
          <a:lnRef idx="1">
            <a:srgbClr val="5B9BD5"/>
          </a:lnRef>
          <a:fillRef idx="2">
            <a:srgbClr val="5B9BD5"/>
          </a:fillRef>
          <a:effectRef idx="1">
            <a:srgbClr val="5B9BD5"/>
          </a:effectRef>
          <a:fontRef idx="minor">
            <a:sysClr val="windowText" lastClr="000000"/>
          </a:fontRef>
        </p:style>
        <p:txBody>
          <a:bodyPr rtlCol="0" anchor="ctr">
            <a:normAutofit/>
          </a:bodyPr>
          <a:p>
            <a:pPr algn="ctr"/>
            <a:endParaRPr lang="zh-CN" altLang="en-US" sz="900">
              <a:solidFill>
                <a:sysClr val="windowText" lastClr="000000"/>
              </a:solidFill>
              <a:cs typeface="+mn-ea"/>
            </a:endParaRPr>
          </a:p>
        </p:txBody>
      </p:sp>
      <p:grpSp>
        <p:nvGrpSpPr>
          <p:cNvPr id="54" name="组合 53"/>
          <p:cNvGrpSpPr/>
          <p:nvPr/>
        </p:nvGrpSpPr>
        <p:grpSpPr>
          <a:xfrm>
            <a:off x="728028" y="2298700"/>
            <a:ext cx="431800" cy="431800"/>
            <a:chOff x="2293" y="7118"/>
            <a:chExt cx="1360" cy="1360"/>
          </a:xfrm>
        </p:grpSpPr>
        <p:sp>
          <p:nvSpPr>
            <p:cNvPr id="57" name="椭圆 56"/>
            <p:cNvSpPr/>
            <p:nvPr>
              <p:custDataLst>
                <p:tags r:id="rId3"/>
              </p:custDataLst>
            </p:nvPr>
          </p:nvSpPr>
          <p:spPr bwMode="auto">
            <a:xfrm>
              <a:off x="2293" y="7118"/>
              <a:ext cx="1361" cy="1361"/>
            </a:xfrm>
            <a:prstGeom prst="ellipse">
              <a:avLst/>
            </a:prstGeom>
            <a:gradFill>
              <a:gsLst>
                <a:gs pos="0">
                  <a:srgbClr val="5B9BD5">
                    <a:satMod val="110000"/>
                    <a:lumMod val="105000"/>
                    <a:tint val="67000"/>
                  </a:srgbClr>
                </a:gs>
                <a:gs pos="50000">
                  <a:srgbClr val="5B9BD5">
                    <a:lumMod val="105000"/>
                    <a:satMod val="103000"/>
                    <a:tint val="73000"/>
                  </a:srgbClr>
                </a:gs>
                <a:gs pos="100000">
                  <a:srgbClr val="5B9BD5">
                    <a:satMod val="105000"/>
                    <a:lumMod val="109000"/>
                    <a:tint val="81000"/>
                  </a:srgbClr>
                </a:gs>
                <a:gs pos="0">
                  <a:srgbClr val="ADE1F9"/>
                </a:gs>
                <a:gs pos="100000">
                  <a:srgbClr val="FFF2EC"/>
                </a:gs>
              </a:gsLst>
              <a:lin ang="17400000" scaled="0"/>
            </a:gradFill>
            <a:ln w="6350" cap="flat" cmpd="sng" algn="ctr">
              <a:noFill/>
              <a:prstDash val="solid"/>
              <a:miter lim="800000"/>
            </a:ln>
            <a:effectLst/>
          </p:spPr>
          <p:style>
            <a:lnRef idx="1">
              <a:srgbClr val="5B9BD5"/>
            </a:lnRef>
            <a:fillRef idx="2">
              <a:srgbClr val="5B9BD5"/>
            </a:fillRef>
            <a:effectRef idx="1">
              <a:srgbClr val="5B9BD5"/>
            </a:effectRef>
            <a:fontRef idx="minor">
              <a:sysClr val="windowText" lastClr="000000"/>
            </a:fontRef>
          </p:style>
          <p:txBody>
            <a:bodyPr rtlCol="0" anchor="ctr">
              <a:normAutofit/>
            </a:bodyPr>
            <a:p>
              <a:pPr algn="ctr"/>
              <a:endParaRPr lang="zh-CN" altLang="en-US" sz="900">
                <a:solidFill>
                  <a:sysClr val="windowText" lastClr="000000"/>
                </a:solidFill>
                <a:cs typeface="+mn-ea"/>
              </a:endParaRPr>
            </a:p>
          </p:txBody>
        </p:sp>
        <p:pic>
          <p:nvPicPr>
            <p:cNvPr id="58" name="图片 57" descr="道路危险标志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548" y="7373"/>
              <a:ext cx="850" cy="850"/>
            </a:xfrm>
            <a:prstGeom prst="rect">
              <a:avLst/>
            </a:prstGeom>
          </p:spPr>
        </p:pic>
      </p:grpSp>
      <p:sp>
        <p:nvSpPr>
          <p:cNvPr id="61" name="椭圆 60"/>
          <p:cNvSpPr/>
          <p:nvPr>
            <p:custDataLst>
              <p:tags r:id="rId6"/>
            </p:custDataLst>
          </p:nvPr>
        </p:nvSpPr>
        <p:spPr bwMode="auto">
          <a:xfrm>
            <a:off x="734060" y="2906395"/>
            <a:ext cx="432118" cy="432118"/>
          </a:xfrm>
          <a:prstGeom prst="ellipse">
            <a:avLst/>
          </a:prstGeom>
          <a:gradFill>
            <a:gsLst>
              <a:gs pos="0">
                <a:srgbClr val="5B9BD5">
                  <a:satMod val="110000"/>
                  <a:lumMod val="105000"/>
                  <a:tint val="67000"/>
                </a:srgbClr>
              </a:gs>
              <a:gs pos="50000">
                <a:srgbClr val="5B9BD5">
                  <a:lumMod val="105000"/>
                  <a:satMod val="103000"/>
                  <a:tint val="73000"/>
                </a:srgbClr>
              </a:gs>
              <a:gs pos="100000">
                <a:srgbClr val="5B9BD5">
                  <a:satMod val="105000"/>
                  <a:lumMod val="109000"/>
                  <a:tint val="81000"/>
                </a:srgbClr>
              </a:gs>
              <a:gs pos="0">
                <a:srgbClr val="ADE1F9"/>
              </a:gs>
              <a:gs pos="100000">
                <a:srgbClr val="FFF2EC"/>
              </a:gs>
            </a:gsLst>
            <a:lin ang="17400000" scaled="0"/>
          </a:gradFill>
          <a:ln w="6350" cap="flat" cmpd="sng" algn="ctr">
            <a:noFill/>
            <a:prstDash val="solid"/>
            <a:miter lim="800000"/>
          </a:ln>
          <a:effectLst/>
        </p:spPr>
        <p:style>
          <a:lnRef idx="1">
            <a:srgbClr val="5B9BD5"/>
          </a:lnRef>
          <a:fillRef idx="2">
            <a:srgbClr val="5B9BD5"/>
          </a:fillRef>
          <a:effectRef idx="1">
            <a:srgbClr val="5B9BD5"/>
          </a:effectRef>
          <a:fontRef idx="minor">
            <a:sysClr val="windowText" lastClr="000000"/>
          </a:fontRef>
        </p:style>
        <p:txBody>
          <a:bodyPr rtlCol="0" anchor="ctr">
            <a:normAutofit/>
          </a:bodyPr>
          <a:p>
            <a:pPr algn="ctr"/>
            <a:endParaRPr lang="zh-CN" altLang="en-US" sz="900">
              <a:solidFill>
                <a:sysClr val="windowText" lastClr="000000"/>
              </a:solidFill>
              <a:cs typeface="+mn-ea"/>
            </a:endParaRPr>
          </a:p>
        </p:txBody>
      </p:sp>
      <p:sp>
        <p:nvSpPr>
          <p:cNvPr id="62" name="文本框 61"/>
          <p:cNvSpPr txBox="1"/>
          <p:nvPr/>
        </p:nvSpPr>
        <p:spPr>
          <a:xfrm>
            <a:off x="728028" y="1276985"/>
            <a:ext cx="1814195" cy="22225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25400" tIns="25400" rIns="25400" bIns="25400" numCol="1" spcCol="38100" rtlCol="0" anchor="t" forceAA="0">
            <a:spAutoFit/>
          </a:bodyPr>
          <a:p>
            <a:pPr algn="l" rtl="0" eaLnBrk="0">
              <a:lnSpc>
                <a:spcPct val="80000"/>
              </a:lnSpc>
            </a:pPr>
            <a:r>
              <a:rPr lang="zh-CN" sz="1400" b="1" spc="-60" dirty="0">
                <a:solidFill>
                  <a:srgbClr val="20409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重要时期值守保障</a:t>
            </a:r>
            <a:endParaRPr lang="zh-CN" sz="1400" b="1" spc="-60" dirty="0">
              <a:solidFill>
                <a:srgbClr val="20409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pic>
        <p:nvPicPr>
          <p:cNvPr id="63" name="图片 62" descr="重点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14802" y="1777779"/>
            <a:ext cx="270000" cy="270000"/>
          </a:xfrm>
          <a:prstGeom prst="rect">
            <a:avLst/>
          </a:prstGeom>
        </p:spPr>
      </p:pic>
      <p:pic>
        <p:nvPicPr>
          <p:cNvPr id="64" name="图片 63" descr="无尽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15119" y="2987454"/>
            <a:ext cx="270000" cy="270000"/>
          </a:xfrm>
          <a:prstGeom prst="rect">
            <a:avLst/>
          </a:prstGeom>
        </p:spPr>
      </p:pic>
      <p:graphicFrame>
        <p:nvGraphicFramePr>
          <p:cNvPr id="65" name="图表 64"/>
          <p:cNvGraphicFramePr/>
          <p:nvPr/>
        </p:nvGraphicFramePr>
        <p:xfrm>
          <a:off x="3942715" y="1484630"/>
          <a:ext cx="3971608" cy="281781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66" name="文本框 65"/>
          <p:cNvSpPr txBox="1"/>
          <p:nvPr/>
        </p:nvSpPr>
        <p:spPr>
          <a:xfrm>
            <a:off x="3945890" y="1196023"/>
            <a:ext cx="2010410" cy="235903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marL="12700" algn="l" rtl="0" eaLnBrk="0">
              <a:lnSpc>
                <a:spcPct val="96000"/>
              </a:lnSpc>
            </a:pPr>
            <a:r>
              <a:rPr lang="zh-CN" sz="1000" b="1" spc="8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重要时期安全态势对比</a:t>
            </a:r>
            <a:endParaRPr lang="zh-CN" sz="1000" b="1" spc="8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8211820" y="1196340"/>
            <a:ext cx="3359785" cy="23622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25400" tIns="25400" rIns="25400" bIns="25400" numCol="1" spcCol="38100" rtlCol="0" anchor="t" forceAA="0">
            <a:noAutofit/>
          </a:bodyPr>
          <a:p>
            <a:pPr marL="13970" algn="l" rtl="0" eaLnBrk="0">
              <a:lnSpc>
                <a:spcPct val="95000"/>
              </a:lnSpc>
            </a:pPr>
            <a:r>
              <a:rPr sz="1000" b="1" spc="13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重要时期值守</a:t>
            </a:r>
            <a:r>
              <a:rPr lang="zh-CN" sz="1000" b="1" spc="13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详情</a:t>
            </a:r>
            <a:endParaRPr kumimoji="0" lang="zh-CN" altLang="en-US" sz="800" b="0" i="0" u="none" strike="noStrike" cap="none" spc="50" normalizeH="0" baseline="0" dirty="0">
              <a:ln>
                <a:noFill/>
              </a:ln>
              <a:solidFill>
                <a:srgbClr val="000000">
                  <a:alpha val="100000"/>
                </a:srgbClr>
              </a:solidFill>
              <a:effectLst/>
              <a:uFillTx/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pic>
        <p:nvPicPr>
          <p:cNvPr id="68" name="图片 67" descr="175507181884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0873" y="5719763"/>
            <a:ext cx="10940415" cy="801688"/>
          </a:xfrm>
          <a:prstGeom prst="rect">
            <a:avLst/>
          </a:prstGeom>
        </p:spPr>
      </p:pic>
      <p:sp>
        <p:nvSpPr>
          <p:cNvPr id="69" name="文本框 68"/>
          <p:cNvSpPr txBox="1"/>
          <p:nvPr/>
        </p:nvSpPr>
        <p:spPr>
          <a:xfrm>
            <a:off x="815340" y="5792470"/>
            <a:ext cx="10667365" cy="6559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25400" tIns="25400" rIns="25400" bIns="25400" numCol="1" spcCol="38100" rtlCol="0" anchor="ctr" anchorCtr="0" forceAA="0">
            <a:noAutofit/>
          </a:bodyPr>
          <a:p>
            <a:pPr marL="0" marR="0" indent="0" algn="l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zh-CN" sz="900" spc="5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关键时期的</a:t>
            </a:r>
            <a:r>
              <a:rPr sz="900" spc="5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应急响应</a:t>
            </a:r>
            <a:r>
              <a:rPr sz="900" spc="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能力</a:t>
            </a:r>
            <a:r>
              <a:rPr lang="zh-CN" sz="900" spc="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是</a:t>
            </a:r>
            <a:r>
              <a:rPr sz="900" spc="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企业核心竞争力之一</a:t>
            </a:r>
            <a:r>
              <a:rPr lang="zh-CN" sz="900" spc="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，</a:t>
            </a:r>
            <a:r>
              <a:rPr sz="900" spc="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在重要节假日等业务高</a:t>
            </a:r>
            <a:r>
              <a:rPr sz="900" spc="5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峰期，我们的值守和应急响应机制直接保</a:t>
            </a:r>
            <a:r>
              <a:rPr sz="900" spc="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障了</a:t>
            </a:r>
            <a:r>
              <a:rPr lang="zh-CN" sz="900" spc="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公司的</a:t>
            </a:r>
            <a:r>
              <a:rPr sz="900" spc="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营收实现，有效避免了因安全事件导致的业务中断和客户流失</a:t>
            </a:r>
            <a:r>
              <a:rPr lang="zh-CN" sz="900" spc="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。</a:t>
            </a:r>
            <a:endParaRPr kumimoji="0" lang="zh-CN" sz="900" b="0" i="0" u="none" strike="noStrike" cap="none" spc="40" normalizeH="0" baseline="0" dirty="0">
              <a:ln>
                <a:noFill/>
              </a:ln>
              <a:solidFill>
                <a:srgbClr val="000000">
                  <a:alpha val="100000"/>
                </a:srgbClr>
              </a:solidFill>
              <a:effectLst/>
              <a:uFillTx/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70" name="textbox 104"/>
          <p:cNvSpPr/>
          <p:nvPr/>
        </p:nvSpPr>
        <p:spPr>
          <a:xfrm>
            <a:off x="3942715" y="4420870"/>
            <a:ext cx="7628573" cy="113315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89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95000"/>
              </a:lnSpc>
            </a:pPr>
            <a:endParaRPr sz="9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grpSp>
        <p:nvGrpSpPr>
          <p:cNvPr id="71" name="组合 70"/>
          <p:cNvGrpSpPr/>
          <p:nvPr/>
        </p:nvGrpSpPr>
        <p:grpSpPr>
          <a:xfrm rot="0">
            <a:off x="7106285" y="4794568"/>
            <a:ext cx="1439545" cy="692150"/>
            <a:chOff x="23598" y="12409"/>
            <a:chExt cx="4534" cy="2180"/>
          </a:xfrm>
        </p:grpSpPr>
        <p:sp>
          <p:nvSpPr>
            <p:cNvPr id="72" name="文本框 71"/>
            <p:cNvSpPr txBox="1"/>
            <p:nvPr/>
          </p:nvSpPr>
          <p:spPr>
            <a:xfrm>
              <a:off x="23598" y="13455"/>
              <a:ext cx="4534" cy="1134"/>
            </a:xfrm>
            <a:prstGeom prst="rect">
              <a:avLst/>
            </a:prstGeom>
            <a:ln>
              <a:solidFill>
                <a:srgbClr val="92D050"/>
              </a:solidFill>
            </a:ln>
          </p:spPr>
          <p:style>
            <a:lnRef idx="3">
              <a:schemeClr val="accent3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wrap="square" rtlCol="0" anchor="ctr" anchorCtr="0">
              <a:noAutofit/>
            </a:bodyPr>
            <a:p>
              <a:pPr lvl="0" algn="ctr" eaLnBrk="0"/>
              <a:r>
                <a:rPr lang="en-US" altLang="zh-CN" sz="1000" b="1" spc="-60" dirty="0">
                  <a:solidFill>
                    <a:srgbClr val="20409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{{security_value2}}</a:t>
              </a:r>
              <a:endParaRPr lang="en-US" altLang="zh-CN" sz="1000" b="1" spc="-60" dirty="0">
                <a:solidFill>
                  <a:srgbClr val="20409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grpSp>
          <p:nvGrpSpPr>
            <p:cNvPr id="73" name="组合 72"/>
            <p:cNvGrpSpPr/>
            <p:nvPr/>
          </p:nvGrpSpPr>
          <p:grpSpPr>
            <a:xfrm rot="0">
              <a:off x="25412" y="12409"/>
              <a:ext cx="907" cy="907"/>
              <a:chOff x="25500" y="11572"/>
              <a:chExt cx="907" cy="907"/>
            </a:xfrm>
          </p:grpSpPr>
          <p:sp>
            <p:nvSpPr>
              <p:cNvPr id="74" name="椭圆 73"/>
              <p:cNvSpPr/>
              <p:nvPr>
                <p:custDataLst>
                  <p:tags r:id="rId12"/>
                </p:custDataLst>
              </p:nvPr>
            </p:nvSpPr>
            <p:spPr bwMode="auto">
              <a:xfrm>
                <a:off x="25500" y="11572"/>
                <a:ext cx="907" cy="907"/>
              </a:xfrm>
              <a:prstGeom prst="ellipse">
                <a:avLst/>
              </a:prstGeom>
              <a:gradFill>
                <a:gsLst>
                  <a:gs pos="0">
                    <a:srgbClr val="5B9BD5">
                      <a:satMod val="110000"/>
                      <a:lumMod val="105000"/>
                      <a:tint val="67000"/>
                    </a:srgbClr>
                  </a:gs>
                  <a:gs pos="50000">
                    <a:srgbClr val="5B9BD5">
                      <a:lumMod val="105000"/>
                      <a:satMod val="103000"/>
                      <a:tint val="73000"/>
                    </a:srgbClr>
                  </a:gs>
                  <a:gs pos="100000">
                    <a:srgbClr val="5B9BD5">
                      <a:satMod val="105000"/>
                      <a:lumMod val="109000"/>
                      <a:tint val="81000"/>
                    </a:srgbClr>
                  </a:gs>
                  <a:gs pos="0">
                    <a:srgbClr val="ADE1F9"/>
                  </a:gs>
                  <a:gs pos="100000">
                    <a:srgbClr val="FFF2EC"/>
                  </a:gs>
                </a:gsLst>
                <a:lin ang="17400000" scaled="0"/>
              </a:gradFill>
              <a:ln w="6350" cap="flat" cmpd="sng" algn="ctr">
                <a:noFill/>
                <a:prstDash val="solid"/>
                <a:miter lim="800000"/>
              </a:ln>
              <a:effectLst/>
            </p:spPr>
            <p:style>
              <a:lnRef idx="1">
                <a:srgbClr val="5B9BD5"/>
              </a:lnRef>
              <a:fillRef idx="2">
                <a:srgbClr val="5B9BD5"/>
              </a:fillRef>
              <a:effectRef idx="1">
                <a:srgbClr val="5B9BD5"/>
              </a:effectRef>
              <a:fontRef idx="minor">
                <a:sysClr val="windowText" lastClr="000000"/>
              </a:fontRef>
            </p:style>
            <p:txBody>
              <a:bodyPr rtlCol="0" anchor="ctr">
                <a:normAutofit fontScale="80000"/>
              </a:bodyPr>
              <a:p>
                <a:pPr algn="ctr"/>
                <a:endParaRPr lang="zh-CN" altLang="en-US" sz="900">
                  <a:solidFill>
                    <a:sysClr val="windowText" lastClr="000000"/>
                  </a:solidFill>
                  <a:cs typeface="+mn-ea"/>
                </a:endParaRPr>
              </a:p>
            </p:txBody>
          </p:sp>
          <p:pic>
            <p:nvPicPr>
              <p:cNvPr id="75" name="图片 74" descr="闪电"/>
              <p:cNvPicPr>
                <a:picLocks noChangeAspect="1"/>
              </p:cNvPicPr>
              <p:nvPr/>
            </p:nvPicPr>
            <p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p:blipFill>
            <p:spPr>
              <a:xfrm>
                <a:off x="25670" y="11742"/>
                <a:ext cx="567" cy="567"/>
              </a:xfrm>
              <a:prstGeom prst="rect">
                <a:avLst/>
              </a:prstGeom>
            </p:spPr>
          </p:pic>
        </p:grpSp>
      </p:grpSp>
      <p:grpSp>
        <p:nvGrpSpPr>
          <p:cNvPr id="76" name="组合 75"/>
          <p:cNvGrpSpPr/>
          <p:nvPr/>
        </p:nvGrpSpPr>
        <p:grpSpPr>
          <a:xfrm rot="0">
            <a:off x="9695815" y="4794568"/>
            <a:ext cx="1439545" cy="692150"/>
            <a:chOff x="31276" y="12409"/>
            <a:chExt cx="4534" cy="2180"/>
          </a:xfrm>
        </p:grpSpPr>
        <p:sp>
          <p:nvSpPr>
            <p:cNvPr id="78" name="文本框 77"/>
            <p:cNvSpPr txBox="1"/>
            <p:nvPr/>
          </p:nvSpPr>
          <p:spPr>
            <a:xfrm>
              <a:off x="31276" y="13455"/>
              <a:ext cx="4534" cy="1134"/>
            </a:xfrm>
            <a:prstGeom prst="rect">
              <a:avLst/>
            </a:prstGeom>
            <a:ln>
              <a:solidFill>
                <a:srgbClr val="92D050"/>
              </a:solidFill>
            </a:ln>
          </p:spPr>
          <p:style>
            <a:lnRef idx="3">
              <a:schemeClr val="accent3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wrap="square" rtlCol="0" anchor="ctr" anchorCtr="0">
              <a:noAutofit/>
            </a:bodyPr>
            <a:p>
              <a:pPr lvl="0" algn="ctr" eaLnBrk="0"/>
              <a:r>
                <a:rPr lang="en-US" altLang="zh-CN" sz="1000" b="1" spc="-60" dirty="0">
                  <a:solidFill>
                    <a:srgbClr val="20409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{{security_value3}}</a:t>
              </a:r>
              <a:endParaRPr lang="en-US" altLang="zh-CN" sz="1000" b="1" spc="-60" dirty="0">
                <a:solidFill>
                  <a:srgbClr val="20409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grpSp>
          <p:nvGrpSpPr>
            <p:cNvPr id="79" name="组合 78"/>
            <p:cNvGrpSpPr/>
            <p:nvPr/>
          </p:nvGrpSpPr>
          <p:grpSpPr>
            <a:xfrm rot="0">
              <a:off x="33090" y="12409"/>
              <a:ext cx="907" cy="907"/>
              <a:chOff x="33129" y="11647"/>
              <a:chExt cx="907" cy="907"/>
            </a:xfrm>
          </p:grpSpPr>
          <p:sp>
            <p:nvSpPr>
              <p:cNvPr id="80" name="椭圆 79"/>
              <p:cNvSpPr/>
              <p:nvPr>
                <p:custDataLst>
                  <p:tags r:id="rId15"/>
                </p:custDataLst>
              </p:nvPr>
            </p:nvSpPr>
            <p:spPr bwMode="auto">
              <a:xfrm>
                <a:off x="33129" y="11647"/>
                <a:ext cx="907" cy="907"/>
              </a:xfrm>
              <a:prstGeom prst="ellipse">
                <a:avLst/>
              </a:prstGeom>
              <a:gradFill>
                <a:gsLst>
                  <a:gs pos="0">
                    <a:srgbClr val="5B9BD5">
                      <a:satMod val="110000"/>
                      <a:lumMod val="105000"/>
                      <a:tint val="67000"/>
                    </a:srgbClr>
                  </a:gs>
                  <a:gs pos="50000">
                    <a:srgbClr val="5B9BD5">
                      <a:lumMod val="105000"/>
                      <a:satMod val="103000"/>
                      <a:tint val="73000"/>
                    </a:srgbClr>
                  </a:gs>
                  <a:gs pos="100000">
                    <a:srgbClr val="5B9BD5">
                      <a:satMod val="105000"/>
                      <a:lumMod val="109000"/>
                      <a:tint val="81000"/>
                    </a:srgbClr>
                  </a:gs>
                  <a:gs pos="0">
                    <a:srgbClr val="ADE1F9"/>
                  </a:gs>
                  <a:gs pos="100000">
                    <a:srgbClr val="FFF2EC"/>
                  </a:gs>
                </a:gsLst>
                <a:lin ang="17400000" scaled="0"/>
              </a:gradFill>
              <a:ln w="6350" cap="flat" cmpd="sng" algn="ctr">
                <a:noFill/>
                <a:prstDash val="solid"/>
                <a:miter lim="800000"/>
              </a:ln>
              <a:effectLst/>
            </p:spPr>
            <p:style>
              <a:lnRef idx="1">
                <a:srgbClr val="5B9BD5"/>
              </a:lnRef>
              <a:fillRef idx="2">
                <a:srgbClr val="5B9BD5"/>
              </a:fillRef>
              <a:effectRef idx="1">
                <a:srgbClr val="5B9BD5"/>
              </a:effectRef>
              <a:fontRef idx="minor">
                <a:sysClr val="windowText" lastClr="000000"/>
              </a:fontRef>
            </p:style>
            <p:txBody>
              <a:bodyPr rtlCol="0" anchor="ctr">
                <a:normAutofit fontScale="80000"/>
              </a:bodyPr>
              <a:p>
                <a:pPr algn="ctr"/>
                <a:endParaRPr lang="zh-CN" altLang="en-US" sz="900">
                  <a:solidFill>
                    <a:sysClr val="windowText" lastClr="000000"/>
                  </a:solidFill>
                  <a:cs typeface="+mn-ea"/>
                </a:endParaRPr>
              </a:p>
            </p:txBody>
          </p:sp>
          <p:pic>
            <p:nvPicPr>
              <p:cNvPr id="81" name="图片 80" descr="人力费用"/>
              <p:cNvPicPr>
                <a:picLocks noChangeAspect="1"/>
              </p:cNvPicPr>
              <p:nvPr/>
            </p:nvPicPr>
            <p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p:blipFill>
            <p:spPr>
              <a:xfrm>
                <a:off x="33299" y="11817"/>
                <a:ext cx="567" cy="567"/>
              </a:xfrm>
              <a:prstGeom prst="rect">
                <a:avLst/>
              </a:prstGeom>
            </p:spPr>
          </p:pic>
        </p:grpSp>
      </p:grpSp>
      <p:pic>
        <p:nvPicPr>
          <p:cNvPr id="82" name="图片 81" descr="折线图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134168" y="4495165"/>
            <a:ext cx="215900" cy="215900"/>
          </a:xfrm>
          <a:prstGeom prst="rect">
            <a:avLst/>
          </a:prstGeom>
        </p:spPr>
      </p:pic>
      <p:sp>
        <p:nvSpPr>
          <p:cNvPr id="83" name="文本框 82"/>
          <p:cNvSpPr txBox="1"/>
          <p:nvPr/>
        </p:nvSpPr>
        <p:spPr>
          <a:xfrm>
            <a:off x="4513898" y="4458970"/>
            <a:ext cx="2719705" cy="28829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marL="12700" algn="l" rtl="0" eaLnBrk="0">
              <a:lnSpc>
                <a:spcPct val="95000"/>
              </a:lnSpc>
            </a:pPr>
            <a:r>
              <a:rPr lang="zh-CN" sz="900" b="1" kern="0" spc="23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重要时期网络安全保障工作价值</a:t>
            </a:r>
            <a:endParaRPr lang="zh-CN" sz="900" b="1" kern="0" spc="23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grpSp>
        <p:nvGrpSpPr>
          <p:cNvPr id="84" name="组合 83"/>
          <p:cNvGrpSpPr/>
          <p:nvPr/>
        </p:nvGrpSpPr>
        <p:grpSpPr>
          <a:xfrm rot="0">
            <a:off x="4516120" y="4794568"/>
            <a:ext cx="1440180" cy="692150"/>
            <a:chOff x="15001" y="12047"/>
            <a:chExt cx="4536" cy="2180"/>
          </a:xfrm>
        </p:grpSpPr>
        <p:sp>
          <p:nvSpPr>
            <p:cNvPr id="85" name="文本框 84"/>
            <p:cNvSpPr txBox="1"/>
            <p:nvPr/>
          </p:nvSpPr>
          <p:spPr>
            <a:xfrm>
              <a:off x="15001" y="13093"/>
              <a:ext cx="4536" cy="1134"/>
            </a:xfrm>
            <a:prstGeom prst="rect">
              <a:avLst/>
            </a:prstGeom>
            <a:ln>
              <a:solidFill>
                <a:srgbClr val="92D050"/>
              </a:solidFill>
            </a:ln>
          </p:spPr>
          <p:style>
            <a:lnRef idx="3">
              <a:schemeClr val="accent3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00000"/>
                </a:lnSpc>
              </a:pPr>
              <a:r>
                <a:rPr lang="en-US" altLang="zh-CN" sz="1000" b="1" kern="0" spc="-60" dirty="0">
                  <a:solidFill>
                    <a:srgbClr val="20409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{{security_value1}}</a:t>
              </a:r>
              <a:endParaRPr lang="en-US" altLang="zh-CN" sz="1000" b="1" kern="0" spc="-60" dirty="0">
                <a:solidFill>
                  <a:srgbClr val="20409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grpSp>
          <p:nvGrpSpPr>
            <p:cNvPr id="86" name="组合 85"/>
            <p:cNvGrpSpPr/>
            <p:nvPr/>
          </p:nvGrpSpPr>
          <p:grpSpPr>
            <a:xfrm>
              <a:off x="16816" y="12047"/>
              <a:ext cx="907" cy="907"/>
              <a:chOff x="16280" y="11640"/>
              <a:chExt cx="907" cy="907"/>
            </a:xfrm>
          </p:grpSpPr>
          <p:sp>
            <p:nvSpPr>
              <p:cNvPr id="87" name="椭圆 86"/>
              <p:cNvSpPr/>
              <p:nvPr>
                <p:custDataLst>
                  <p:tags r:id="rId20"/>
                </p:custDataLst>
              </p:nvPr>
            </p:nvSpPr>
            <p:spPr bwMode="auto">
              <a:xfrm>
                <a:off x="16280" y="11640"/>
                <a:ext cx="907" cy="907"/>
              </a:xfrm>
              <a:prstGeom prst="ellipse">
                <a:avLst/>
              </a:prstGeom>
              <a:gradFill>
                <a:gsLst>
                  <a:gs pos="0">
                    <a:srgbClr val="5B9BD5">
                      <a:satMod val="110000"/>
                      <a:lumMod val="105000"/>
                      <a:tint val="67000"/>
                    </a:srgbClr>
                  </a:gs>
                  <a:gs pos="50000">
                    <a:srgbClr val="5B9BD5">
                      <a:lumMod val="105000"/>
                      <a:satMod val="103000"/>
                      <a:tint val="73000"/>
                    </a:srgbClr>
                  </a:gs>
                  <a:gs pos="100000">
                    <a:srgbClr val="5B9BD5">
                      <a:satMod val="105000"/>
                      <a:lumMod val="109000"/>
                      <a:tint val="81000"/>
                    </a:srgbClr>
                  </a:gs>
                  <a:gs pos="0">
                    <a:srgbClr val="ADE1F9"/>
                  </a:gs>
                  <a:gs pos="100000">
                    <a:srgbClr val="FFF2EC"/>
                  </a:gs>
                </a:gsLst>
                <a:lin ang="17400000" scaled="0"/>
              </a:gradFill>
              <a:ln w="6350" cap="flat" cmpd="sng" algn="ctr">
                <a:noFill/>
                <a:prstDash val="solid"/>
                <a:miter lim="800000"/>
              </a:ln>
              <a:effectLst/>
            </p:spPr>
            <p:style>
              <a:lnRef idx="1">
                <a:srgbClr val="5B9BD5"/>
              </a:lnRef>
              <a:fillRef idx="2">
                <a:srgbClr val="5B9BD5"/>
              </a:fillRef>
              <a:effectRef idx="1">
                <a:srgbClr val="5B9BD5"/>
              </a:effectRef>
              <a:fontRef idx="minor">
                <a:sysClr val="windowText" lastClr="000000"/>
              </a:fontRef>
            </p:style>
            <p:txBody>
              <a:bodyPr rtlCol="0" anchor="ctr">
                <a:normAutofit fontScale="80000"/>
              </a:bodyPr>
              <a:p>
                <a:pPr algn="ctr"/>
                <a:endParaRPr lang="zh-CN" altLang="en-US" sz="900">
                  <a:solidFill>
                    <a:sysClr val="windowText" lastClr="000000"/>
                  </a:solidFill>
                  <a:cs typeface="+mn-ea"/>
                </a:endParaRPr>
              </a:p>
            </p:txBody>
          </p:sp>
          <p:pic>
            <p:nvPicPr>
              <p:cNvPr id="88" name="图片 87" descr="放大镜"/>
              <p:cNvPicPr>
                <a:picLocks noChangeAspect="1"/>
              </p:cNvPicPr>
              <p:nvPr/>
            </p:nvPicPr>
            <p:blipFill>
              <a:blip r:embed="rId21"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p:blipFill>
            <p:spPr>
              <a:xfrm>
                <a:off x="16471" y="11817"/>
                <a:ext cx="567" cy="567"/>
              </a:xfrm>
              <a:prstGeom prst="rect">
                <a:avLst/>
              </a:prstGeom>
            </p:spPr>
          </p:pic>
        </p:grpSp>
      </p:grpSp>
      <p:pic>
        <p:nvPicPr>
          <p:cNvPr id="89" name="图片 88" descr="深信服 + 智安全"/>
          <p:cNvPicPr>
            <a:picLocks noChangeAspect="1"/>
          </p:cNvPicPr>
          <p:nvPr/>
        </p:nvPicPr>
        <p:blipFill>
          <a:blip r:embed="rId23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  <p:sp>
        <p:nvSpPr>
          <p:cNvPr id="90" name="文本框 89"/>
          <p:cNvSpPr txBox="1"/>
          <p:nvPr/>
        </p:nvSpPr>
        <p:spPr>
          <a:xfrm>
            <a:off x="8013065" y="1371600"/>
            <a:ext cx="3558540" cy="25095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191770" indent="0" algn="l" rtl="0" eaLnBrk="0" fontAlgn="auto">
              <a:lnSpc>
                <a:spcPct val="150000"/>
              </a:lnSpc>
              <a:spcBef>
                <a:spcPts val="0"/>
              </a:spcBef>
            </a:pPr>
            <a:r>
              <a:rPr lang="zh-CN"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中秋节</a:t>
            </a:r>
            <a:r>
              <a:rPr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值守</a:t>
            </a:r>
            <a:r>
              <a:rPr lang="zh-CN"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保障</a:t>
            </a:r>
            <a:endParaRPr lang="zh-CN" sz="800" b="1" spc="40" dirty="0">
              <a:solidFill>
                <a:srgbClr val="20408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  <a:p>
            <a:pPr marL="191770" indent="0" algn="l" rtl="0" eaLnBrk="0" fontAlgn="auto">
              <a:lnSpc>
                <a:spcPct val="140000"/>
              </a:lnSpc>
              <a:spcBef>
                <a:spcPts val="0"/>
              </a:spcBef>
            </a:pPr>
            <a:r>
              <a:rPr lang="en-US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{{</a:t>
            </a:r>
            <a:r>
              <a:rPr lang="en-US" altLang="zh-CN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mid_autumn_festival</a:t>
            </a:r>
            <a:r>
              <a:rPr lang="en-US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}}</a:t>
            </a:r>
            <a:endParaRPr lang="zh-CN" sz="800" b="1" spc="40" dirty="0">
              <a:solidFill>
                <a:srgbClr val="20408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  <a:p>
            <a:pPr marL="191770" indent="0" algn="l" rtl="0" eaLnBrk="0" fontAlgn="auto">
              <a:lnSpc>
                <a:spcPct val="140000"/>
              </a:lnSpc>
              <a:spcBef>
                <a:spcPts val="0"/>
              </a:spcBef>
            </a:pPr>
            <a:r>
              <a:rPr lang="zh-CN"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国庆</a:t>
            </a:r>
            <a:r>
              <a:rPr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值守</a:t>
            </a:r>
            <a:r>
              <a:rPr lang="zh-CN"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保障</a:t>
            </a:r>
            <a:endParaRPr lang="zh-CN" sz="800" b="1" spc="40" dirty="0">
              <a:solidFill>
                <a:srgbClr val="20408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  <a:p>
            <a:pPr marL="191770" indent="0" algn="l" rtl="0" eaLnBrk="0" fontAlgn="auto">
              <a:lnSpc>
                <a:spcPct val="140000"/>
              </a:lnSpc>
              <a:spcBef>
                <a:spcPts val="0"/>
              </a:spcBef>
            </a:pPr>
            <a:r>
              <a:rPr lang="en-US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{{</a:t>
            </a:r>
            <a:r>
              <a:rPr lang="en-US" altLang="zh-CN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national_day</a:t>
            </a:r>
            <a:r>
              <a:rPr lang="en-US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}}</a:t>
            </a:r>
            <a:endParaRPr sz="800" b="1" spc="40" dirty="0">
              <a:solidFill>
                <a:srgbClr val="20408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  <a:p>
            <a:pPr marL="191770" indent="0" algn="l" defTabSz="2438400" rtl="0" eaLnBrk="0" fontAlgn="auto">
              <a:lnSpc>
                <a:spcPct val="140000"/>
              </a:lnSpc>
              <a:spcBef>
                <a:spcPts val="0"/>
              </a:spcBef>
            </a:pPr>
            <a:r>
              <a:rPr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元旦</a:t>
            </a:r>
            <a:r>
              <a:rPr lang="zh-CN"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节</a:t>
            </a:r>
            <a:r>
              <a:rPr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值守</a:t>
            </a:r>
            <a:r>
              <a:rPr lang="zh-CN"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保障</a:t>
            </a:r>
            <a:endParaRPr sz="800" b="1" spc="40" dirty="0">
              <a:solidFill>
                <a:srgbClr val="20408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191770" indent="0" algn="l" rtl="0" eaLnBrk="0" fontAlgn="auto">
              <a:lnSpc>
                <a:spcPct val="140000"/>
              </a:lnSpc>
              <a:spcBef>
                <a:spcPts val="0"/>
              </a:spcBef>
            </a:pPr>
            <a:r>
              <a:rPr lang="en-US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{{</a:t>
            </a:r>
            <a:r>
              <a:rPr lang="en-US" altLang="zh-CN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new_years_day</a:t>
            </a:r>
            <a:r>
              <a:rPr lang="en-US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}}</a:t>
            </a:r>
            <a:endParaRPr sz="800" spc="-1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  <a:p>
            <a:pPr marL="191770" indent="0" algn="l" rtl="0" eaLnBrk="0" fontAlgn="auto">
              <a:lnSpc>
                <a:spcPct val="140000"/>
              </a:lnSpc>
              <a:spcBef>
                <a:spcPts val="0"/>
              </a:spcBef>
            </a:pPr>
            <a:r>
              <a:rPr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春节值守</a:t>
            </a:r>
            <a:r>
              <a:rPr lang="zh-CN"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保障</a:t>
            </a:r>
            <a:endParaRPr sz="8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191770" indent="0" algn="l" rtl="0" eaLnBrk="0" fontAlgn="auto">
              <a:lnSpc>
                <a:spcPct val="140000"/>
              </a:lnSpc>
              <a:spcBef>
                <a:spcPts val="0"/>
              </a:spcBef>
            </a:pPr>
            <a:r>
              <a:rPr lang="en-US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{{</a:t>
            </a:r>
            <a:r>
              <a:rPr lang="en-US" altLang="zh-CN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spring_festival</a:t>
            </a:r>
            <a:r>
              <a:rPr lang="en-US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}}</a:t>
            </a:r>
            <a:endParaRPr lang="zh-CN" altLang="en-US" sz="800" spc="5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  <a:p>
            <a:pPr marL="191770" indent="0" algn="l" rtl="0" eaLnBrk="0" fontAlgn="auto">
              <a:lnSpc>
                <a:spcPct val="140000"/>
              </a:lnSpc>
              <a:spcBef>
                <a:spcPts val="0"/>
              </a:spcBef>
            </a:pPr>
            <a:r>
              <a:rPr lang="zh-CN"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清明节</a:t>
            </a:r>
            <a:r>
              <a:rPr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值守</a:t>
            </a:r>
            <a:r>
              <a:rPr lang="zh-CN"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保障</a:t>
            </a:r>
            <a:endParaRPr sz="8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191770" indent="0" algn="l" rtl="0" eaLnBrk="0" fontAlgn="auto">
              <a:lnSpc>
                <a:spcPct val="140000"/>
              </a:lnSpc>
              <a:spcBef>
                <a:spcPts val="0"/>
              </a:spcBef>
            </a:pPr>
            <a:r>
              <a:rPr lang="en-US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{{</a:t>
            </a:r>
            <a:r>
              <a:rPr lang="en-US" altLang="zh-CN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qingming_festival</a:t>
            </a:r>
            <a:r>
              <a:rPr lang="en-US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}}</a:t>
            </a:r>
            <a:endParaRPr sz="800" spc="-1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191770" indent="0" algn="l" defTabSz="2438400" rtl="0" eaLnBrk="0" fontAlgn="auto">
              <a:lnSpc>
                <a:spcPct val="140000"/>
              </a:lnSpc>
              <a:spcBef>
                <a:spcPts val="0"/>
              </a:spcBef>
            </a:pPr>
            <a:r>
              <a:rPr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五一值守</a:t>
            </a:r>
            <a:r>
              <a:rPr lang="zh-CN"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保障</a:t>
            </a:r>
            <a:endParaRPr sz="800" b="1" spc="40" dirty="0">
              <a:solidFill>
                <a:srgbClr val="20408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191770" indent="0" algn="l" rtl="0" eaLnBrk="0" fontAlgn="auto">
              <a:lnSpc>
                <a:spcPct val="140000"/>
              </a:lnSpc>
              <a:spcBef>
                <a:spcPts val="0"/>
              </a:spcBef>
            </a:pPr>
            <a:r>
              <a:rPr lang="en-US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{{</a:t>
            </a:r>
            <a:r>
              <a:rPr lang="en-US" altLang="zh-CN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labor_day</a:t>
            </a:r>
            <a:r>
              <a:rPr lang="en-US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}}</a:t>
            </a:r>
            <a:endParaRPr sz="800" spc="-1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  <a:p>
            <a:pPr marL="191770" indent="0" algn="l" rtl="0" eaLnBrk="0" fontAlgn="auto">
              <a:lnSpc>
                <a:spcPct val="140000"/>
              </a:lnSpc>
              <a:spcBef>
                <a:spcPts val="0"/>
              </a:spcBef>
            </a:pPr>
            <a:r>
              <a:rPr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端午节值守</a:t>
            </a:r>
            <a:r>
              <a:rPr lang="zh-CN"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保障</a:t>
            </a:r>
            <a:endParaRPr sz="800" b="1" spc="40" dirty="0">
              <a:solidFill>
                <a:srgbClr val="20408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191770" indent="0" algn="l" rtl="0" eaLnBrk="0" fontAlgn="auto">
              <a:lnSpc>
                <a:spcPct val="140000"/>
              </a:lnSpc>
              <a:spcBef>
                <a:spcPts val="0"/>
              </a:spcBef>
            </a:pPr>
            <a:r>
              <a:rPr lang="en-US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{{</a:t>
            </a:r>
            <a:r>
              <a:rPr lang="en-US" altLang="zh-CN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dragon_boat_festival</a:t>
            </a:r>
            <a:r>
              <a:rPr lang="en-US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}}</a:t>
            </a:r>
            <a:endParaRPr lang="zh-CN" altLang="en-US" sz="800" spc="5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91" name="文本框 90"/>
          <p:cNvSpPr txBox="1"/>
          <p:nvPr/>
        </p:nvSpPr>
        <p:spPr>
          <a:xfrm>
            <a:off x="5333365" y="1484630"/>
            <a:ext cx="188531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/>
              <a:t>{{P</a:t>
            </a:r>
            <a:r>
              <a:rPr lang="en-US" altLang="zh-CN"/>
              <a:t>30</a:t>
            </a:r>
            <a:r>
              <a:rPr lang="zh-CN" altLang="en-US"/>
              <a:t>_combo}}</a:t>
            </a:r>
            <a:endParaRPr lang="zh-CN" alt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8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4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14"/>
</p:tagLst>
</file>

<file path=ppt/tags/tag9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PRESET_TEXT" val="编号"/>
  <p:tag name="KSO_WM_UNIT_ID" val="_4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VALUE" val="2"/>
</p:tagLst>
</file>

<file path=ppt/tags/tag10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4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4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4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4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4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1.0"/>
  <p:tag name="KSO_WM_UNIT_PRESET_TEXT" val="单击此处编辑母版标题样式"/>
  <p:tag name="KSO_WM_UNIT_ID" val="_0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TEMPLATE_CATEGORY" val="custom"/>
  <p:tag name="KSO_WM_TEMPLATE_INDEX" val="20238577"/>
</p:tagLst>
</file>

<file path=ppt/tags/tag22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1.0"/>
  <p:tag name="KSO_WM_UNIT_PRESET_TEXT" val="单击此处编辑母版文本样式&#10;第二级&#10;第三级&#10;第四级&#10;第五级"/>
  <p:tag name="KSO_WM_UNIT_ID" val="_0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CATEGORY" val="custom"/>
  <p:tag name="KSO_WM_TEMPLATE_INDEX" val="20238577"/>
</p:tagLst>
</file>

<file path=ppt/tags/tag23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4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5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6.xml><?xml version="1.0" encoding="utf-8"?>
<p:tagLst xmlns:p="http://schemas.openxmlformats.org/presentationml/2006/main">
  <p:tag name="KSO_WM_TEMPLATE_SUBCATEGORY" val="29"/>
  <p:tag name="KSO_WM_TEMPLATE_COLOR_TYPE" val="0"/>
  <p:tag name="KSO_WM_TAG_VERSION" val="3.0"/>
  <p:tag name="KSO_WM_TEMPLATE_THUMBS_INDEX" val="1、9"/>
  <p:tag name="KSO_WM_BEAUTIFY_FLAG" val="#wm#"/>
  <p:tag name="KSO_WM_TEMPLATE_INDEX" val="20238577"/>
  <p:tag name="KSO_WM_TEMPLATE_CATEGORY" val="custom"/>
  <p:tag name="KSO_WM_TEMPLATE_MASTER_TYPE" val="0"/>
</p:tagLst>
</file>

<file path=ppt/tags/tag27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编辑标题"/>
  <p:tag name="KSO_WM_UNIT_ID" val="_11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12"/>
</p:tagLst>
</file>

<file path=ppt/tags/tag28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PRESET_TEXT" val="编辑副标题"/>
  <p:tag name="KSO_WM_UNIT_ID" val="_11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8"/>
</p:tagLst>
</file>

<file path=ppt/tags/tag29.xml><?xml version="1.0" encoding="utf-8"?>
<p:tagLst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0.xml><?xml version="1.0" encoding="utf-8"?>
<p:tagLst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1.xml><?xml version="1.0" encoding="utf-8"?>
<p:tagLst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2.xml><?xml version="1.0" encoding="utf-8"?>
<p:tagLst xmlns:p="http://schemas.openxmlformats.org/presentationml/2006/main">
  <p:tag name="KSO_WM_UNIT_TYPE" val="f"/>
  <p:tag name="KSO_WM_UNIT_SUBTYPE" val="g"/>
  <p:tag name="KSO_WM_UNIT_INDEX" val="2"/>
  <p:tag name="KSO_WM_BEAUTIFY_FLAG" val="#wm#"/>
  <p:tag name="KSO_WM_TAG_VERSION" val="3.0"/>
  <p:tag name="KSO_WM_UNIT_PRESET_TEXT" val="公司"/>
  <p:tag name="KSO_WM_UNIT_ID" val="_11*f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VALUE" val="23"/>
</p:tagLst>
</file>

<file path=ppt/tags/tag33.xml><?xml version="1.0" encoding="utf-8"?>
<p:tagLst xmlns:p="http://schemas.openxmlformats.org/presentationml/2006/main">
  <p:tag name="KSO_WM_UNIT_TYPE" val="f"/>
  <p:tag name="KSO_WM_UNIT_SUBTYPE" val="b"/>
  <p:tag name="KSO_WM_UNIT_INDEX" val="1"/>
  <p:tag name="KSO_WM_BEAUTIFY_FLAG" val="#wm#"/>
  <p:tag name="KSO_WM_TAG_VERSION" val="3.0"/>
  <p:tag name="KSO_WM_UNIT_PRESET_TEXT" val="署名"/>
  <p:tag name="KSO_WM_UNIT_ID" val="_11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VALUE" val="20"/>
</p:tagLst>
</file>

<file path=ppt/tags/tag34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11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5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  <p:tag name="KSO_WM_UNIT_ID" val="_11*i*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6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11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7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11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8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11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9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1.0"/>
  <p:tag name="KSO_WM_UNIT_PRESET_TEXT" val="单击此处编辑母版标题样式"/>
  <p:tag name="KSO_WM_UNIT_ID" val="_0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TEMPLATE_CATEGORY" val="custom"/>
  <p:tag name="KSO_WM_TEMPLATE_INDEX" val="20238577"/>
</p:tagLst>
</file>

<file path=ppt/tags/tag40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1.0"/>
  <p:tag name="KSO_WM_UNIT_PRESET_TEXT" val="单击此处编辑母版文本样式&#10;第二级&#10;第三级&#10;第四级&#10;第五级"/>
  <p:tag name="KSO_WM_UNIT_ID" val="_0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CATEGORY" val="custom"/>
  <p:tag name="KSO_WM_TEMPLATE_INDEX" val="20238577"/>
</p:tagLst>
</file>

<file path=ppt/tags/tag41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2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3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4.xml><?xml version="1.0" encoding="utf-8"?>
<p:tagLst xmlns:p="http://schemas.openxmlformats.org/presentationml/2006/main">
  <p:tag name="KSO_WM_TEMPLATE_SUBCATEGORY" val="29"/>
  <p:tag name="KSO_WM_TEMPLATE_COLOR_TYPE" val="0"/>
  <p:tag name="KSO_WM_TAG_VERSION" val="3.0"/>
  <p:tag name="KSO_WM_TEMPLATE_THUMBS_INDEX" val="1、9"/>
  <p:tag name="KSO_WM_BEAUTIFY_FLAG" val="#wm#"/>
  <p:tag name="KSO_WM_TEMPLATE_INDEX" val="20238577"/>
  <p:tag name="KSO_WM_TEMPLATE_CATEGORY" val="custom"/>
  <p:tag name="KSO_WM_TEMPLATE_MASTER_TYPE" val="0"/>
</p:tagLst>
</file>

<file path=ppt/tags/tag45.xml><?xml version="1.0" encoding="utf-8"?>
<p:tagLst xmlns:p="http://schemas.openxmlformats.org/presentationml/2006/main">
  <p:tag name="KSO_WM_BEAUTIFY_FLAG" val=""/>
</p:tagLst>
</file>

<file path=ppt/tags/tag46.xml><?xml version="1.0" encoding="utf-8"?>
<p:tagLst xmlns:p="http://schemas.openxmlformats.org/presentationml/2006/main">
  <p:tag name="KSO_WM_BEAUTIFY_FLAG" val=""/>
</p:tagLst>
</file>

<file path=ppt/tags/tag47.xml><?xml version="1.0" encoding="utf-8"?>
<p:tagLst xmlns:p="http://schemas.openxmlformats.org/presentationml/2006/main">
  <p:tag name="KSO_WM_DIAGRAM_VIRTUALLY_FRAME" val="{&quot;height&quot;:275.27181102362204,&quot;left&quot;:558.35,&quot;top&quot;:123.32125984251968,&quot;width&quot;:255.1}"/>
</p:tagLst>
</file>

<file path=ppt/tags/tag48.xml><?xml version="1.0" encoding="utf-8"?>
<p:tagLst xmlns:p="http://schemas.openxmlformats.org/presentationml/2006/main">
  <p:tag name="KSO_WM_DIAGRAM_VIRTUALLY_FRAME" val="{&quot;height&quot;:275.27181102362204,&quot;left&quot;:558.35,&quot;top&quot;:123.32125984251968,&quot;width&quot;:255.1}"/>
</p:tagLst>
</file>

<file path=ppt/tags/tag49.xml><?xml version="1.0" encoding="utf-8"?>
<p:tagLst xmlns:p="http://schemas.openxmlformats.org/presentationml/2006/main">
  <p:tag name="KSO_WM_DIAGRAM_VIRTUALLY_FRAME" val="{&quot;height&quot;:275.27181102362204,&quot;left&quot;:558.35,&quot;top&quot;:123.32125984251968,&quot;width&quot;:255.1}"/>
</p:tagLst>
</file>

<file path=ppt/tags/tag50.xml><?xml version="1.0" encoding="utf-8"?>
<p:tagLst xmlns:p="http://schemas.openxmlformats.org/presentationml/2006/main">
  <p:tag name="KSO_WM_DIAGRAM_VIRTUALLY_FRAME" val="{&quot;height&quot;:275.27181102362204,&quot;left&quot;:558.35,&quot;top&quot;:123.32125984251968,&quot;width&quot;:255.1}"/>
</p:tagLst>
</file>

<file path=ppt/tags/tag51.xml><?xml version="1.0" encoding="utf-8"?>
<p:tagLst xmlns:p="http://schemas.openxmlformats.org/presentationml/2006/main">
  <p:tag name="KSO_WM_DIAGRAM_VIRTUALLY_FRAME" val="{&quot;height&quot;:275.27181102362204,&quot;left&quot;:558.35,&quot;top&quot;:123.32125984251968,&quot;width&quot;:255.1}"/>
</p:tagLst>
</file>

<file path=ppt/tags/tag52.xml><?xml version="1.0" encoding="utf-8"?>
<p:tagLst xmlns:p="http://schemas.openxmlformats.org/presentationml/2006/main">
  <p:tag name="KSO_WM_DIAGRAM_VIRTUALLY_FRAME" val="{&quot;height&quot;:275.27181102362204,&quot;left&quot;:558.35,&quot;top&quot;:123.32125984251968,&quot;width&quot;:255.1}"/>
</p:tagLst>
</file>

<file path=ppt/tags/tag53.xml><?xml version="1.0" encoding="utf-8"?>
<p:tagLst xmlns:p="http://schemas.openxmlformats.org/presentationml/2006/main">
  <p:tag name="KSO_WM_DIAGRAM_VIRTUALLY_FRAME" val="{&quot;height&quot;:275.27181102362204,&quot;left&quot;:558.35,&quot;top&quot;:123.32125984251968,&quot;width&quot;:255.1}"/>
</p:tagLst>
</file>

<file path=ppt/tags/tag54.xml><?xml version="1.0" encoding="utf-8"?>
<p:tagLst xmlns:p="http://schemas.openxmlformats.org/presentationml/2006/main">
  <p:tag name="KSO_WM_DIAGRAM_VIRTUALLY_FRAME" val="{&quot;height&quot;:275.27181102362204,&quot;left&quot;:558.35,&quot;top&quot;:123.32125984251968,&quot;width&quot;:255.1}"/>
</p:tagLst>
</file>

<file path=ppt/tags/tag55.xml><?xml version="1.0" encoding="utf-8"?>
<p:tagLst xmlns:p="http://schemas.openxmlformats.org/presentationml/2006/main">
  <p:tag name="KSO_WM_DIAGRAM_VIRTUALLY_FRAME" val="{&quot;height&quot;:275.27181102362204,&quot;left&quot;:558.35,&quot;top&quot;:123.32125984251968,&quot;width&quot;:255.1}"/>
</p:tagLst>
</file>

<file path=ppt/tags/tag56.xml><?xml version="1.0" encoding="utf-8"?>
<p:tagLst xmlns:p="http://schemas.openxmlformats.org/presentationml/2006/main">
  <p:tag name="KSO_WM_DIAGRAM_VIRTUALLY_FRAME" val="{&quot;height&quot;:275.27181102362204,&quot;left&quot;:558.35,&quot;top&quot;:123.32125984251968,&quot;width&quot;:255.1}"/>
</p:tagLst>
</file>

<file path=ppt/tags/tag57.xml><?xml version="1.0" encoding="utf-8"?>
<p:tagLst xmlns:p="http://schemas.openxmlformats.org/presentationml/2006/main">
  <p:tag name="KSO_WM_DIAGRAM_VIRTUALLY_FRAME" val="{&quot;height&quot;:275.27181102362204,&quot;left&quot;:558.35,&quot;top&quot;:123.32125984251968,&quot;width&quot;:255.1}"/>
</p:tagLst>
</file>

<file path=ppt/tags/tag58.xml><?xml version="1.0" encoding="utf-8"?>
<p:tagLst xmlns:p="http://schemas.openxmlformats.org/presentationml/2006/main">
  <p:tag name="KSO_WM_DIAGRAM_VIRTUALLY_FRAME" val="{&quot;height&quot;:275.27181102362204,&quot;left&quot;:558.35,&quot;top&quot;:123.32125984251968,&quot;width&quot;:255.1}"/>
</p:tagLst>
</file>

<file path=ppt/tags/tag59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ID" val="custom20238577_7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VALUE" val="2"/>
</p:tagLst>
</file>

<file path=ppt/tags/tag60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ID" val="custom20238577_7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VALUE" val="2"/>
</p:tagLst>
</file>

<file path=ppt/tags/tag61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ID" val="custom20238577_7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VALUE" val="2"/>
</p:tagLst>
</file>

<file path=ppt/tags/tag62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ID" val="custom20238577_7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VALUE" val="2"/>
</p:tagLst>
</file>

<file path=ppt/tags/tag63.xml><?xml version="1.0" encoding="utf-8"?>
<p:tagLst xmlns:p="http://schemas.openxmlformats.org/presentationml/2006/main">
  <p:tag name="KSO_WM_SLIDE_TYPE" val="sectionTitle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BEAUTIFY_FLAG" val="#wm#"/>
  <p:tag name="KSO_WM_TEMPLATE_INDEX" val="20238577"/>
  <p:tag name="KSO_WM_TEMPLATE_CATEGORY" val="custom"/>
  <p:tag name="KSO_WM_SLIDE_INDEX" val="7"/>
  <p:tag name="KSO_WM_SLIDE_ID" val="custom20238577_7"/>
  <p:tag name="KSO_WM_TEMPLATE_MASTER_TYPE" val="0"/>
  <p:tag name="KSO_WM_SLIDE_LAYOUT" val="a_e"/>
  <p:tag name="KSO_WM_SLIDE_LAYOUT_CNT" val="1_1"/>
</p:tagLst>
</file>

<file path=ppt/tags/tag64.xml><?xml version="1.0" encoding="utf-8"?>
<p:tagLst xmlns:p="http://schemas.openxmlformats.org/presentationml/2006/main">
  <p:tag name="KSO_WM_DIAGRAM_VIRTUALLY_FRAME" val="{&quot;height&quot;:389.6,&quot;left&quot;:211.45,&quot;top&quot;:116.65,&quot;width&quot;:477.55}"/>
</p:tagLst>
</file>

<file path=ppt/tags/tag65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ID" val="custom20238577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ISCONTENTSTITLE" val="0"/>
  <p:tag name="KSO_WM_UNIT_VALUE" val="14"/>
  <p:tag name="KSO_WM_UNIT_TEXT_TYPE" val="1"/>
  <p:tag name="KSO_WM_UNIT_PRESET_TEXT" val="单击此处添加&#10;章节标题"/>
</p:tagLst>
</file>

<file path=ppt/tags/tag66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ID" val="custom20238577_7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VALUE" val="2"/>
</p:tagLst>
</file>

<file path=ppt/tags/tag67.xml><?xml version="1.0" encoding="utf-8"?>
<p:tagLst xmlns:p="http://schemas.openxmlformats.org/presentationml/2006/main">
  <p:tag name="KSO_WM_SLIDE_TYPE" val="sectionTitle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BEAUTIFY_FLAG" val="#wm#"/>
  <p:tag name="KSO_WM_TEMPLATE_INDEX" val="20238577"/>
  <p:tag name="KSO_WM_TEMPLATE_CATEGORY" val="custom"/>
  <p:tag name="KSO_WM_SLIDE_INDEX" val="7"/>
  <p:tag name="KSO_WM_SLIDE_ID" val="custom20238577_7"/>
  <p:tag name="KSO_WM_TEMPLATE_MASTER_TYPE" val="0"/>
  <p:tag name="KSO_WM_SLIDE_LAYOUT" val="a_e"/>
  <p:tag name="KSO_WM_SLIDE_LAYOUT_CNT" val="1_1"/>
</p:tagLst>
</file>

<file path=ppt/tags/tag68.xml><?xml version="1.0" encoding="utf-8"?>
<p:tagLst xmlns:p="http://schemas.openxmlformats.org/presentationml/2006/main">
  <p:tag name="KSO_WM_BEAUTIFY_FLAG" val=""/>
</p:tagLst>
</file>

<file path=ppt/tags/tag69.xml><?xml version="1.0" encoding="utf-8"?>
<p:tagLst xmlns:p="http://schemas.openxmlformats.org/presentationml/2006/main">
  <p:tag name="KSO_WM_BEAUTIFY_FLAG" val=""/>
</p:tagLst>
</file>

<file path=ppt/tags/tag70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3_1"/>
  <p:tag name="KSO_WM_UNIT_ID" val="diagram40494663_1*l_h_a*1_3_1"/>
  <p:tag name="KSO_WM_TEMPLATE_CATEGORY" val="diagram"/>
  <p:tag name="KSO_WM_TEMPLATE_INDEX" val="40494663"/>
  <p:tag name="KSO_WM_UNIT_LAYERLEVEL" val="1_1_1"/>
  <p:tag name="KSO_WM_TAG_VERSION" val="3.0"/>
  <p:tag name="KSO_WM_BEAUTIFY_FLAG" val="#wm#"/>
  <p:tag name="KSO_WM_UNIT_ISCONTENTSTITLE" val="0"/>
  <p:tag name="KSO_WM_UNIT_ISNUMDGMTITLE" val="0"/>
  <p:tag name="KSO_WM_DIAGRAM_GROUP_CODE" val="l1-1"/>
  <p:tag name="KSO_WM_UNIT_VALUE" val="12"/>
  <p:tag name="KSO_WM_DIAGRAM_VERSION" val="3"/>
  <p:tag name="KSO_WM_DIAGRAM_COLOR_TRICK" val="1"/>
  <p:tag name="KSO_WM_DIAGRAM_COLOR_TEXT_CAN_REMOVE" val="n"/>
  <p:tag name="KSO_WM_UNIT_PRESET_TEXT" val="加项标题"/>
  <p:tag name="KSO_WM_UNIT_TEXT_FILL_FORE_SCHEMECOLOR_INDEX" val="1"/>
  <p:tag name="KSO_WM_UNIT_TEXT_FILL_TYPE" val="1"/>
  <p:tag name="KSO_WM_UNIT_TEXT_TYPE" val="1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3_1"/>
  <p:tag name="KSO_WM_UNIT_ID" val="diagram40494663_1*l_h_i*1_3_1"/>
  <p:tag name="KSO_WM_TEMPLATE_CATEGORY" val="diagram"/>
  <p:tag name="KSO_WM_TEMPLATE_INDEX" val="40494663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1"/>
  <p:tag name="KSO_WM_UNIT_FILL_FORE_SCHEMECOLOR_INDEX" val="5"/>
  <p:tag name="KSO_WM_UNIT_FILL_FORE_SCHEMECOLOR_INDEX_BRIGHTNESS" val="0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72.xml><?xml version="1.0" encoding="utf-8"?>
<p:tagLst xmlns:p="http://schemas.openxmlformats.org/presentationml/2006/main">
  <p:tag name="KSO_WM_UNIT_VALUE" val="84*84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3_1"/>
  <p:tag name="KSO_WM_UNIT_ID" val="diagram40494663_1*l_h_x*1_3_1"/>
  <p:tag name="KSO_WM_TEMPLATE_CATEGORY" val="diagram"/>
  <p:tag name="KSO_WM_TEMPLATE_INDEX" val="40494663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DIAGRAM_USE_COLOR_VALUE" val="{&quot;color_scheme&quot;:1,&quot;color_type&quot;:1,&quot;theme_color_indexes&quot;:[9,10,9,10,9,10]}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2"/>
  <p:tag name="KSO_WM_UNIT_ID" val="diagram40494663_1*l_h_i*1_2_2"/>
  <p:tag name="KSO_WM_TEMPLATE_CATEGORY" val="diagram"/>
  <p:tag name="KSO_WM_TEMPLATE_INDEX" val="40494663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type&quot;:0},&quot;glow&quot;:{&quot;colorType&quot;:0},&quot;line&quot;:{&quot;gradient&quot;:[{&quot;brightness&quot;:0.949999988079071,&quot;colorType&quot;:1,&quot;foreColorIndex&quot;:5,&quot;pos&quot;:1,&quot;transparency&quot;:1},{&quot;brightness&quot;:0,&quot;colorType&quot;:1,&quot;foreColorIndex&quot;:5,&quot;pos&quot;:0.550000011920929,&quot;transparency&quot;:0.75}],&quot;type&quot;:2},&quot;shadow&quot;:{&quot;brightness&quot;:0,&quot;colorType&quot;:1,&quot;foreColorIndex&quot;:5,&quot;transparency&quot;:0.4099999964237213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74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2_1"/>
  <p:tag name="KSO_WM_UNIT_ID" val="diagram40494663_1*l_h_a*1_2_1"/>
  <p:tag name="KSO_WM_TEMPLATE_CATEGORY" val="diagram"/>
  <p:tag name="KSO_WM_TEMPLATE_INDEX" val="40494663"/>
  <p:tag name="KSO_WM_UNIT_LAYERLEVEL" val="1_1_1"/>
  <p:tag name="KSO_WM_TAG_VERSION" val="3.0"/>
  <p:tag name="KSO_WM_BEAUTIFY_FLAG" val="#wm#"/>
  <p:tag name="KSO_WM_UNIT_ISCONTENTSTITLE" val="0"/>
  <p:tag name="KSO_WM_UNIT_ISNUMDGMTITLE" val="0"/>
  <p:tag name="KSO_WM_DIAGRAM_GROUP_CODE" val="l1-1"/>
  <p:tag name="KSO_WM_UNIT_VALUE" val="12"/>
  <p:tag name="KSO_WM_DIAGRAM_VERSION" val="3"/>
  <p:tag name="KSO_WM_DIAGRAM_COLOR_TRICK" val="1"/>
  <p:tag name="KSO_WM_DIAGRAM_COLOR_TEXT_CAN_REMOVE" val="n"/>
  <p:tag name="KSO_WM_UNIT_PRESET_TEXT" val="加项标题"/>
  <p:tag name="KSO_WM_UNIT_TEXT_FILL_FORE_SCHEMECOLOR_INDEX" val="1"/>
  <p:tag name="KSO_WM_UNIT_TEXT_FILL_TYPE" val="1"/>
  <p:tag name="KSO_WM_UNIT_TEXT_TYPE" val="1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1"/>
  <p:tag name="KSO_WM_UNIT_ID" val="diagram40494663_1*l_h_i*1_2_1"/>
  <p:tag name="KSO_WM_TEMPLATE_CATEGORY" val="diagram"/>
  <p:tag name="KSO_WM_TEMPLATE_INDEX" val="40494663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1"/>
  <p:tag name="KSO_WM_UNIT_FILL_FORE_SCHEMECOLOR_INDEX" val="5"/>
  <p:tag name="KSO_WM_UNIT_FILL_FORE_SCHEMECOLOR_INDEX_BRIGHTNESS" val="0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76.xml><?xml version="1.0" encoding="utf-8"?>
<p:tagLst xmlns:p="http://schemas.openxmlformats.org/presentationml/2006/main">
  <p:tag name="KSO_WM_UNIT_VALUE" val="96*87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2_1"/>
  <p:tag name="KSO_WM_UNIT_ID" val="diagram40494663_1*l_h_x*1_2_1"/>
  <p:tag name="KSO_WM_TEMPLATE_CATEGORY" val="diagram"/>
  <p:tag name="KSO_WM_TEMPLATE_INDEX" val="40494663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DIAGRAM_USE_COLOR_VALUE" val="{&quot;color_scheme&quot;:1,&quot;color_type&quot;:1,&quot;theme_color_indexes&quot;:[9,10,9,10,9,10]}"/>
</p:tagLst>
</file>

<file path=ppt/tags/tag77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1_1"/>
  <p:tag name="KSO_WM_UNIT_ID" val="diagram40494663_1*l_h_a*1_1_1"/>
  <p:tag name="KSO_WM_TEMPLATE_CATEGORY" val="diagram"/>
  <p:tag name="KSO_WM_TEMPLATE_INDEX" val="40494663"/>
  <p:tag name="KSO_WM_UNIT_LAYERLEVEL" val="1_1_1"/>
  <p:tag name="KSO_WM_TAG_VERSION" val="3.0"/>
  <p:tag name="KSO_WM_BEAUTIFY_FLAG" val="#wm#"/>
  <p:tag name="KSO_WM_UNIT_ISCONTENTSTITLE" val="0"/>
  <p:tag name="KSO_WM_UNIT_ISNUMDGMTITLE" val="0"/>
  <p:tag name="KSO_WM_DIAGRAM_GROUP_CODE" val="l1-1"/>
  <p:tag name="KSO_WM_UNIT_VALUE" val="12"/>
  <p:tag name="KSO_WM_DIAGRAM_VERSION" val="3"/>
  <p:tag name="KSO_WM_DIAGRAM_COLOR_TRICK" val="1"/>
  <p:tag name="KSO_WM_DIAGRAM_COLOR_TEXT_CAN_REMOVE" val="n"/>
  <p:tag name="KSO_WM_UNIT_PRESET_TEXT" val="加项标题"/>
  <p:tag name="KSO_WM_UNIT_TEXT_FILL_FORE_SCHEMECOLOR_INDEX" val="1"/>
  <p:tag name="KSO_WM_UNIT_TEXT_FILL_TYPE" val="1"/>
  <p:tag name="KSO_WM_UNIT_TEXT_TYPE" val="1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1"/>
  <p:tag name="KSO_WM_UNIT_ID" val="diagram40494663_1*l_h_i*1_1_1"/>
  <p:tag name="KSO_WM_TEMPLATE_CATEGORY" val="diagram"/>
  <p:tag name="KSO_WM_TEMPLATE_INDEX" val="40494663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1"/>
  <p:tag name="KSO_WM_UNIT_FILL_FORE_SCHEMECOLOR_INDEX" val="5"/>
  <p:tag name="KSO_WM_UNIT_FILL_FORE_SCHEMECOLOR_INDEX_BRIGHTNESS" val="0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79.xml><?xml version="1.0" encoding="utf-8"?>
<p:tagLst xmlns:p="http://schemas.openxmlformats.org/presentationml/2006/main">
  <p:tag name="KSO_WM_UNIT_VALUE" val="85*85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1_1"/>
  <p:tag name="KSO_WM_UNIT_ID" val="diagram40494663_1*l_h_x*1_1_1"/>
  <p:tag name="KSO_WM_TEMPLATE_CATEGORY" val="diagram"/>
  <p:tag name="KSO_WM_TEMPLATE_INDEX" val="40494663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DIAGRAM_USE_COLOR_VALUE" val="{&quot;color_scheme&quot;:1,&quot;color_type&quot;:1,&quot;theme_color_indexes&quot;:[9,10,9,10,9,10]}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3_2"/>
  <p:tag name="KSO_WM_UNIT_ID" val="diagram40494663_1*l_h_i*1_3_2"/>
  <p:tag name="KSO_WM_TEMPLATE_CATEGORY" val="diagram"/>
  <p:tag name="KSO_WM_TEMPLATE_INDEX" val="40494663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type&quot;:0},&quot;glow&quot;:{&quot;colorType&quot;:0},&quot;line&quot;:{&quot;gradient&quot;:[{&quot;brightness&quot;:0.949999988079071,&quot;colorType&quot;:1,&quot;foreColorIndex&quot;:5,&quot;pos&quot;:1,&quot;transparency&quot;:1},{&quot;brightness&quot;:0,&quot;colorType&quot;:1,&quot;foreColorIndex&quot;:5,&quot;pos&quot;:0.550000011920929,&quot;transparency&quot;:0.75}],&quot;type&quot;:2},&quot;shadow&quot;:{&quot;brightness&quot;:0,&quot;colorType&quot;:1,&quot;foreColorIndex&quot;:5,&quot;transparency&quot;:0.4099999964237213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2"/>
  <p:tag name="KSO_WM_UNIT_ID" val="diagram40494663_1*l_h_i*1_1_2"/>
  <p:tag name="KSO_WM_TEMPLATE_CATEGORY" val="diagram"/>
  <p:tag name="KSO_WM_TEMPLATE_INDEX" val="40494663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type&quot;:0},&quot;glow&quot;:{&quot;colorType&quot;:0},&quot;line&quot;:{&quot;gradient&quot;:[{&quot;brightness&quot;:0.949999988079071,&quot;colorType&quot;:1,&quot;foreColorIndex&quot;:5,&quot;pos&quot;:1,&quot;transparency&quot;:1},{&quot;brightness&quot;:0,&quot;colorType&quot;:1,&quot;foreColorIndex&quot;:5,&quot;pos&quot;:0.550000011920929,&quot;transparency&quot;:0.75}],&quot;type&quot;:2},&quot;shadow&quot;:{&quot;brightness&quot;:0,&quot;colorType&quot;:1,&quot;foreColorIndex&quot;:5,&quot;transparency&quot;:0.4099999964237213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40493068_2*n_h_a*1_1_1"/>
  <p:tag name="KSO_WM_TEMPLATE_CATEGORY" val="diagram"/>
  <p:tag name="KSO_WM_TEMPLATE_INDEX" val="40493068"/>
  <p:tag name="KSO_WM_UNIT_LAYERLEVEL" val="1_1_1"/>
  <p:tag name="KSO_WM_TAG_VERSION" val="3.0"/>
  <p:tag name="KSO_WM_UNIT_ISCONTENTSTITLE" val="0"/>
  <p:tag name="KSO_WM_UNIT_ISNUMDGMTITLE" val="0"/>
  <p:tag name="KSO_WM_UNIT_NOCLEAR" val="0"/>
  <p:tag name="KSO_WM_DIAGRAM_GROUP_CODE" val="n1-1"/>
  <p:tag name="KSO_WM_UNIT_TYPE" val="n_h_a"/>
  <p:tag name="KSO_WM_UNIT_INDEX" val="1_1_1"/>
  <p:tag name="KSO_WM_UNIT_FILL_TYPE" val="3"/>
  <p:tag name="KSO_WM_UNIT_PRESET_TEXT" val="添加标题内容"/>
  <p:tag name="KSO_WM_UNIT_TEXT_TYPE" val="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16.9499938964844,&quot;left&quot;:46.8,&quot;top&quot;:95.05000305175781,&quot;width&quot;:866.85}"/>
  <p:tag name="KSO_WM_DIAGRAM_COLOR_MATCH_VALUE" val="{&quot;shape&quot;:{&quot;fill&quot;:{&quot;gradient&quot;:[{&quot;brightness&quot;:0.4000000059604645,&quot;colorType&quot;:1,&quot;foreColorIndex&quot;:5,&quot;pos&quot;:0,&quot;transparency&quot;:0.20000000298023224},{&quot;brightness&quot;:0,&quot;colorType&quot;:1,&quot;foreColorIndex&quot;:5,&quot;pos&quot;:0.8899999856948853,&quot;transparency&quot;:0}],&quot;type&quot;:3},&quot;glow&quot;:{&quot;colorType&quot;:0},&quot;line&quot;:{&quot;type&quot;:0},&quot;shadow&quot;:{&quot;brightness&quot;:-0.25,&quot;colorType&quot;:1,&quot;foreColorIndex&quot;:5,&quot;transparency&quot;:0.85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83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1_1"/>
  <p:tag name="KSO_WM_UNIT_ID" val="diagram40494663_1*l_h_f*1_1_1"/>
  <p:tag name="KSO_WM_TEMPLATE_CATEGORY" val="diagram"/>
  <p:tag name="KSO_WM_TEMPLATE_INDEX" val="40494663"/>
  <p:tag name="KSO_WM_UNIT_LAYERLEVEL" val="1_1_1"/>
  <p:tag name="KSO_WM_TAG_VERSION" val="3.0"/>
  <p:tag name="KSO_WM_UNIT_TEXT_LAYER_COUNT" val="1"/>
  <p:tag name="KSO_WM_DIAGRAM_GROUP_CODE" val="l1-1"/>
  <p:tag name="KSO_WM_DIAGRAM_VERSION" val="3"/>
  <p:tag name="KSO_WM_DIAGRAM_COLOR_TRICK" val="1"/>
  <p:tag name="KSO_WM_DIAGRAM_COLOR_TEXT_CAN_REMOVE" val="n"/>
  <p:tag name="KSO_WM_UNIT_PRESET_TEXT" val="单击此处添加文本内容，简明阐述观点。单击此处添加文本具体内容，简明扼要地阐述观点。单击此处添加文本内容，简明阐述观点。"/>
  <p:tag name="KSO_WM_UNIT_TEXT_FILL_FORE_SCHEMECOLOR_INDEX" val="1"/>
  <p:tag name="KSO_WM_UNIT_TEXT_FILL_TYPE" val="1"/>
  <p:tag name="KSO_WM_UNIT_TEXT_TYPE" val="1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84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2_1"/>
  <p:tag name="KSO_WM_UNIT_ID" val="diagram40494663_1*l_h_f*1_2_1"/>
  <p:tag name="KSO_WM_TEMPLATE_CATEGORY" val="diagram"/>
  <p:tag name="KSO_WM_TEMPLATE_INDEX" val="40494663"/>
  <p:tag name="KSO_WM_UNIT_LAYERLEVEL" val="1_1_1"/>
  <p:tag name="KSO_WM_TAG_VERSION" val="3.0"/>
  <p:tag name="KSO_WM_UNIT_TEXT_LAYER_COUNT" val="1"/>
  <p:tag name="KSO_WM_DIAGRAM_GROUP_CODE" val="l1-1"/>
  <p:tag name="KSO_WM_DIAGRAM_VERSION" val="3"/>
  <p:tag name="KSO_WM_DIAGRAM_COLOR_TRICK" val="1"/>
  <p:tag name="KSO_WM_DIAGRAM_COLOR_TEXT_CAN_REMOVE" val="n"/>
  <p:tag name="KSO_WM_UNIT_PRESET_TEXT" val="单击此处添加文本内容，简明阐述观点。单击此处添加文本内容，简明扼要地阐述您的观点。单击此处添加文本内容，简明扼要地阐述观点。单击此处添加文本内容。"/>
  <p:tag name="KSO_WM_UNIT_TEXT_FILL_FORE_SCHEMECOLOR_INDEX" val="1"/>
  <p:tag name="KSO_WM_UNIT_TEXT_FILL_TYPE" val="1"/>
  <p:tag name="KSO_WM_UNIT_TEXT_TYPE" val="1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85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3_1"/>
  <p:tag name="KSO_WM_UNIT_ID" val="diagram40494663_1*l_h_f*1_3_1"/>
  <p:tag name="KSO_WM_TEMPLATE_CATEGORY" val="diagram"/>
  <p:tag name="KSO_WM_TEMPLATE_INDEX" val="40494663"/>
  <p:tag name="KSO_WM_UNIT_LAYERLEVEL" val="1_1_1"/>
  <p:tag name="KSO_WM_TAG_VERSION" val="3.0"/>
  <p:tag name="KSO_WM_UNIT_TEXT_LAYER_COUNT" val="1"/>
  <p:tag name="KSO_WM_DIAGRAM_GROUP_CODE" val="l1-1"/>
  <p:tag name="KSO_WM_DIAGRAM_VERSION" val="3"/>
  <p:tag name="KSO_WM_DIAGRAM_COLOR_TRICK" val="1"/>
  <p:tag name="KSO_WM_DIAGRAM_COLOR_TEXT_CAN_REMOVE" val="n"/>
  <p:tag name="KSO_WM_UNIT_PRESET_TEXT" val="单击此处添加文本内容，简明阐述观点。单击此处添加文本具体内容，简明扼要地阐述观点。单击此处添加文本内容，简明阐述观点。"/>
  <p:tag name="KSO_WM_UNIT_TEXT_FILL_FORE_SCHEMECOLOR_INDEX" val="1"/>
  <p:tag name="KSO_WM_UNIT_TEXT_FILL_TYPE" val="1"/>
  <p:tag name="KSO_WM_UNIT_TEXT_TYPE" val="1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86.xml><?xml version="1.0" encoding="utf-8"?>
<p:tagLst xmlns:p="http://schemas.openxmlformats.org/presentationml/2006/main">
  <p:tag name="KSO_WM_SLIDE_ITEM_CNT" val="3"/>
  <p:tag name="resource_record_key" val="{&quot;10&quot;:[3505430,50036384,50034089,4590447],&quot;29&quot;:[50053024,50052948],&quot;70&quot;:[3405561,3319090,3312439,3312479,3429185]}"/>
</p:tagLst>
</file>

<file path=ppt/tags/tag87.xml><?xml version="1.0" encoding="utf-8"?>
<p:tagLst xmlns:p="http://schemas.openxmlformats.org/presentationml/2006/main">
  <p:tag name="KSO_WM_BEAUTIFY_FLAG" val=""/>
</p:tagLst>
</file>

<file path=ppt/tags/tag88.xml><?xml version="1.0" encoding="utf-8"?>
<p:tagLst xmlns:p="http://schemas.openxmlformats.org/presentationml/2006/main">
  <p:tag name="KSO_WM_BEAUTIFY_FLAG" val=""/>
</p:tagLst>
</file>

<file path=ppt/tags/tag89.xml><?xml version="1.0" encoding="utf-8"?>
<p:tagLst xmlns:p="http://schemas.openxmlformats.org/presentationml/2006/main">
  <p:tag name="KSO_WM_BEAUTIFY_FLAG" val=""/>
</p:tagLst>
</file>

<file path=ppt/tags/tag90.xml><?xml version="1.0" encoding="utf-8"?>
<p:tagLst xmlns:p="http://schemas.openxmlformats.org/presentationml/2006/main">
  <p:tag name="KSO_WM_BEAUTIFY_FLAG" val=""/>
</p:tagLst>
</file>

<file path=ppt/tags/tag91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92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93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94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95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96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97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98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99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100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101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102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103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104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105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106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107.xml><?xml version="1.0" encoding="utf-8"?>
<p:tagLst xmlns:p="http://schemas.openxmlformats.org/presentationml/2006/main">
  <p:tag name="KSO_WM_DIAGRAM_VIRTUALLY_FRAME" val="{&quot;height&quot;:389.6,&quot;left&quot;:211.45,&quot;top&quot;:116.65,&quot;width&quot;:477.55}"/>
</p:tagLst>
</file>

<file path=ppt/tags/tag108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ID" val="custom20238577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ISCONTENTSTITLE" val="0"/>
  <p:tag name="KSO_WM_UNIT_VALUE" val="14"/>
  <p:tag name="KSO_WM_UNIT_TEXT_TYPE" val="1"/>
  <p:tag name="KSO_WM_UNIT_PRESET_TEXT" val="单击此处添加&#10;章节标题"/>
</p:tagLst>
</file>

<file path=ppt/tags/tag109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ID" val="custom20238577_7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VALUE" val="2"/>
</p:tagLst>
</file>

<file path=ppt/tags/tag110.xml><?xml version="1.0" encoding="utf-8"?>
<p:tagLst xmlns:p="http://schemas.openxmlformats.org/presentationml/2006/main">
  <p:tag name="KSO_WM_SLIDE_TYPE" val="sectionTitle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BEAUTIFY_FLAG" val="#wm#"/>
  <p:tag name="KSO_WM_TEMPLATE_INDEX" val="20238577"/>
  <p:tag name="KSO_WM_TEMPLATE_CATEGORY" val="custom"/>
  <p:tag name="KSO_WM_SLIDE_INDEX" val="7"/>
  <p:tag name="KSO_WM_SLIDE_ID" val="custom20238577_7"/>
  <p:tag name="KSO_WM_TEMPLATE_MASTER_TYPE" val="0"/>
  <p:tag name="KSO_WM_SLIDE_LAYOUT" val="a_e"/>
  <p:tag name="KSO_WM_SLIDE_LAYOUT_CNT" val="1_1"/>
</p:tagLst>
</file>

<file path=ppt/tags/tag111.xml><?xml version="1.0" encoding="utf-8"?>
<p:tagLst xmlns:p="http://schemas.openxmlformats.org/presentationml/2006/main">
  <p:tag name="KSO_WM_BEAUTIFY_FLAG" val=""/>
</p:tagLst>
</file>

<file path=ppt/tags/tag112.xml><?xml version="1.0" encoding="utf-8"?>
<p:tagLst xmlns:p="http://schemas.openxmlformats.org/presentationml/2006/main">
  <p:tag name="KSO_WM_BEAUTIFY_FLAG" val=""/>
</p:tagLst>
</file>

<file path=ppt/tags/tag113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n_h_h_f"/>
  <p:tag name="KSO_WM_UNIT_INDEX" val="1_2_1_1"/>
  <p:tag name="KSO_WM_UNIT_ID" val="diagram20231092_1*n_h_h_f*1_2_1_1"/>
  <p:tag name="KSO_WM_TEMPLATE_CATEGORY" val="diagram"/>
  <p:tag name="KSO_WM_TEMPLATE_INDEX" val="20231092"/>
  <p:tag name="KSO_WM_UNIT_LAYERLEVEL" val="1_1_1_1"/>
  <p:tag name="KSO_WM_TAG_VERSION" val="3.0"/>
  <p:tag name="KSO_WM_DIAGRAM_GROUP_CODE" val="n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91.22212598425193,&quot;left&quot;:48.8792202782819,&quot;top&quot;:130.46220472440945,&quot;width&quot;:860.741638183593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UNIT_PRESET_TEXT" val="单击此处输入你的智能图&#10;形项正文内容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11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n_h_h_a"/>
  <p:tag name="KSO_WM_UNIT_INDEX" val="1_2_1_1"/>
  <p:tag name="KSO_WM_UNIT_ID" val="diagram20231092_1*n_h_h_a*1_2_1_1"/>
  <p:tag name="KSO_WM_TEMPLATE_CATEGORY" val="diagram"/>
  <p:tag name="KSO_WM_TEMPLATE_INDEX" val="20231092"/>
  <p:tag name="KSO_WM_UNIT_LAYERLEVEL" val="1_1_1_1"/>
  <p:tag name="KSO_WM_TAG_VERSION" val="3.0"/>
  <p:tag name="KSO_WM_DIAGRAM_GROUP_CODE" val="n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91.22212598425193,&quot;left&quot;:48.8792202782819,&quot;top&quot;:130.46220472440945,&quot;width&quot;:860.741638183593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PRESET_TEXT" val="添加项标题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11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n_h_h_a"/>
  <p:tag name="KSO_WM_UNIT_INDEX" val="1_2_2_1"/>
  <p:tag name="KSO_WM_UNIT_ID" val="diagram20231092_1*n_h_h_a*1_2_2_1"/>
  <p:tag name="KSO_WM_TEMPLATE_CATEGORY" val="diagram"/>
  <p:tag name="KSO_WM_TEMPLATE_INDEX" val="20231092"/>
  <p:tag name="KSO_WM_UNIT_LAYERLEVEL" val="1_1_1_1"/>
  <p:tag name="KSO_WM_TAG_VERSION" val="3.0"/>
  <p:tag name="KSO_WM_DIAGRAM_GROUP_CODE" val="n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91.22212598425193,&quot;left&quot;:48.8792202782819,&quot;top&quot;:130.46220472440945,&quot;width&quot;:860.741638183593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PRESET_TEXT" val="添加项标题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116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n_h_h_f"/>
  <p:tag name="KSO_WM_UNIT_INDEX" val="1_2_2_1"/>
  <p:tag name="KSO_WM_UNIT_ID" val="diagram20231092_1*n_h_h_f*1_2_2_1"/>
  <p:tag name="KSO_WM_TEMPLATE_CATEGORY" val="diagram"/>
  <p:tag name="KSO_WM_TEMPLATE_INDEX" val="20231092"/>
  <p:tag name="KSO_WM_UNIT_LAYERLEVEL" val="1_1_1_1"/>
  <p:tag name="KSO_WM_TAG_VERSION" val="3.0"/>
  <p:tag name="KSO_WM_DIAGRAM_GROUP_CODE" val="n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91.22212598425193,&quot;left&quot;:48.8792202782819,&quot;top&quot;:130.46220472440945,&quot;width&quot;:860.741638183593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UNIT_PRESET_TEXT" val="单击此处输入你的智能图&#10;形项正文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117.xml><?xml version="1.0" encoding="utf-8"?>
<p:tagLst xmlns:p="http://schemas.openxmlformats.org/presentationml/2006/main">
  <p:tag name="KSO_WM_SLIDE_ITEM_CNT" val="3"/>
  <p:tag name="resource_record_key" val="{&quot;10&quot;:[3505430,50036384,50034089,50021210,50042277,21579435,21573058,21572379,50047114],&quot;29&quot;:[50053024,50052948],&quot;70&quot;:[3405561,3319090,3312439]}"/>
</p:tagLst>
</file>

<file path=ppt/tags/tag118.xml><?xml version="1.0" encoding="utf-8"?>
<p:tagLst xmlns:p="http://schemas.openxmlformats.org/presentationml/2006/main">
  <p:tag name="KSO_WM_BEAUTIFY_FLAG" val=""/>
</p:tagLst>
</file>

<file path=ppt/tags/tag119.xml><?xml version="1.0" encoding="utf-8"?>
<p:tagLst xmlns:p="http://schemas.openxmlformats.org/presentationml/2006/main">
  <p:tag name="KSO_WM_BEAUTIFY_FLAG" val=""/>
</p:tagLst>
</file>

<file path=ppt/tags/tag120.xml><?xml version="1.0" encoding="utf-8"?>
<p:tagLst xmlns:p="http://schemas.openxmlformats.org/presentationml/2006/main">
  <p:tag name="TABLE_ENDDRAG_ORIGIN_RECT" val="435*430"/>
  <p:tag name="TABLE_ENDDRAG_RECT" val="492*90*435*430"/>
</p:tagLst>
</file>

<file path=ppt/tags/tag121.xml><?xml version="1.0" encoding="utf-8"?>
<p:tagLst xmlns:p="http://schemas.openxmlformats.org/presentationml/2006/main">
  <p:tag name="TABLE_ENDDRAG_ORIGIN_RECT" val="435*430"/>
  <p:tag name="TABLE_ENDDRAG_RECT" val="492*90*435*430"/>
</p:tagLst>
</file>

<file path=ppt/tags/tag122.xml><?xml version="1.0" encoding="utf-8"?>
<p:tagLst xmlns:p="http://schemas.openxmlformats.org/presentationml/2006/main">
  <p:tag name="KSO_WM_BEAUTIFY_FLAG" val=""/>
</p:tagLst>
</file>

<file path=ppt/tags/tag123.xml><?xml version="1.0" encoding="utf-8"?>
<p:tagLst xmlns:p="http://schemas.openxmlformats.org/presentationml/2006/main">
  <p:tag name="KSO_WM_BEAUTIFY_FLAG" val=""/>
</p:tagLst>
</file>

<file path=ppt/tags/tag124.xml><?xml version="1.0" encoding="utf-8"?>
<p:tagLst xmlns:p="http://schemas.openxmlformats.org/presentationml/2006/main">
  <p:tag name="KSO_WM_BEAUTIFY_FLAG" val=""/>
</p:tagLst>
</file>

<file path=ppt/tags/tag125.xml><?xml version="1.0" encoding="utf-8"?>
<p:tagLst xmlns:p="http://schemas.openxmlformats.org/presentationml/2006/main">
  <p:tag name="KSO_WM_BEAUTIFY_FLAG" val=""/>
</p:tagLst>
</file>

<file path=ppt/tags/tag126.xml><?xml version="1.0" encoding="utf-8"?>
<p:tagLst xmlns:p="http://schemas.openxmlformats.org/presentationml/2006/main">
  <p:tag name="TABLE_ENDDRAG_ORIGIN_RECT" val="435*430"/>
  <p:tag name="TABLE_ENDDRAG_RECT" val="492*90*435*430"/>
</p:tagLst>
</file>

<file path=ppt/tags/tag127.xml><?xml version="1.0" encoding="utf-8"?>
<p:tagLst xmlns:p="http://schemas.openxmlformats.org/presentationml/2006/main">
  <p:tag name="KSO_WM_BEAUTIFY_FLAG" val=""/>
</p:tagLst>
</file>

<file path=ppt/tags/tag128.xml><?xml version="1.0" encoding="utf-8"?>
<p:tagLst xmlns:p="http://schemas.openxmlformats.org/presentationml/2006/main">
  <p:tag name="KSO_WM_BEAUTIFY_FLAG" val=""/>
</p:tagLst>
</file>

<file path=ppt/tags/tag1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40493068_2*n_h_a*1_1_1"/>
  <p:tag name="KSO_WM_TEMPLATE_CATEGORY" val="diagram"/>
  <p:tag name="KSO_WM_TEMPLATE_INDEX" val="40493068"/>
  <p:tag name="KSO_WM_UNIT_LAYERLEVEL" val="1_1_1"/>
  <p:tag name="KSO_WM_TAG_VERSION" val="3.0"/>
  <p:tag name="KSO_WM_BEAUTIFY_FLAG" val="#wm#"/>
  <p:tag name="KSO_WM_UNIT_ISCONTENTSTITLE" val="0"/>
  <p:tag name="KSO_WM_UNIT_ISNUMDGMTITLE" val="0"/>
  <p:tag name="KSO_WM_UNIT_NOCLEAR" val="0"/>
  <p:tag name="KSO_WM_DIAGRAM_GROUP_CODE" val="n1-1"/>
  <p:tag name="KSO_WM_UNIT_TYPE" val="n_h_a"/>
  <p:tag name="KSO_WM_UNIT_INDEX" val="1_1_1"/>
  <p:tag name="KSO_WM_UNIT_FILL_TYPE" val="3"/>
  <p:tag name="KSO_WM_UNIT_PRESET_TEXT" val="添加标题内容"/>
  <p:tag name="KSO_WM_UNIT_TEXT_TYPE" val="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83.8999938964844,&quot;left&quot;:48.15,&quot;top&quot;:111.4000030517578,&quot;width&quot;:871.6145690917969}"/>
  <p:tag name="KSO_WM_DIAGRAM_COLOR_MATCH_VALUE" val="{&quot;shape&quot;:{&quot;fill&quot;:{&quot;gradient&quot;:[{&quot;brightness&quot;:0.4000000059604645,&quot;colorType&quot;:1,&quot;foreColorIndex&quot;:5,&quot;pos&quot;:0,&quot;transparency&quot;:0.20000000298023224},{&quot;brightness&quot;:0,&quot;colorType&quot;:1,&quot;foreColorIndex&quot;:5,&quot;pos&quot;:0.8899999856948853,&quot;transparency&quot;:0}],&quot;type&quot;:3},&quot;glow&quot;:{&quot;colorType&quot;:0},&quot;line&quot;:{&quot;type&quot;:0},&quot;shadow&quot;:{&quot;brightness&quot;:-0.25,&quot;colorType&quot;:1,&quot;foreColorIndex&quot;:5,&quot;transparency&quot;:0.85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1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40493068_2*n_h_h_x*1_2_1_1"/>
  <p:tag name="KSO_WM_TEMPLATE_CATEGORY" val="diagram"/>
  <p:tag name="KSO_WM_TEMPLATE_INDEX" val="40493068"/>
  <p:tag name="KSO_WM_UNIT_LAYERLEVEL" val="1_1_1_1"/>
  <p:tag name="KSO_WM_TAG_VERSION" val="3.0"/>
  <p:tag name="KSO_WM_BEAUTIFY_FLAG" val="#wm#"/>
  <p:tag name="KSO_WM_UNIT_VALUE" val="110*110"/>
  <p:tag name="KSO_WM_DIAGRAM_GROUP_CODE" val="n1-1"/>
  <p:tag name="KSO_WM_UNIT_TYPE" val="n_h_h_x"/>
  <p:tag name="KSO_WM_UNIT_INDEX" val="1_2_1_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83.8999938964844,&quot;left&quot;:48.15,&quot;top&quot;:111.4000030517578,&quot;width&quot;:871.6145690917969}"/>
  <p:tag name="KSO_WM_DIAGRAM_COLOR_MATCH_VALUE" val="{&quot;shape&quot;:{&quot;fill&quot;:{&quot;gradient&quot;:[{&quot;brightness&quot;:0.4000000059604645,&quot;colorType&quot;:1,&quot;foreColorIndex&quot;:5,&quot;pos&quot;:0,&quot;transparency&quot;:0},{&quot;brightness&quot;:0,&quot;colorType&quot;:1,&quot;foreColorIndex&quot;:5,&quot;pos&quot;:0.9300000071525574,&quot;transparency&quot;:0}],&quot;type&quot;:3},&quot;glow&quot;:{&quot;colorType&quot;:0},&quot;line&quot;:{&quot;type&quot;:0},&quot;shadow&quot;:{&quot;brightness&quot;:-0.25,&quot;colorType&quot;:1,&quot;foreColorIndex&quot;:5,&quot;transparency&quot;:0.8999999761581421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DIAGRAM_USE_COLOR_VALUE" val="{&quot;color_scheme&quot;:1,&quot;color_type&quot;:1,&quot;theme_color_indexes&quot;:[9,10,9,10,9,10]}"/>
</p:tagLst>
</file>

<file path=ppt/tags/tag1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40493068_2*n_h_h_x*1_2_2_1"/>
  <p:tag name="KSO_WM_TEMPLATE_CATEGORY" val="diagram"/>
  <p:tag name="KSO_WM_TEMPLATE_INDEX" val="40493068"/>
  <p:tag name="KSO_WM_UNIT_LAYERLEVEL" val="1_1_1_1"/>
  <p:tag name="KSO_WM_TAG_VERSION" val="3.0"/>
  <p:tag name="KSO_WM_BEAUTIFY_FLAG" val="#wm#"/>
  <p:tag name="KSO_WM_UNIT_VALUE" val="100*100"/>
  <p:tag name="KSO_WM_DIAGRAM_GROUP_CODE" val="n1-1"/>
  <p:tag name="KSO_WM_UNIT_TYPE" val="n_h_h_x"/>
  <p:tag name="KSO_WM_UNIT_INDEX" val="1_2_2_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83.8999938964844,&quot;left&quot;:48.15,&quot;top&quot;:111.4000030517578,&quot;width&quot;:871.6145690917969}"/>
  <p:tag name="KSO_WM_DIAGRAM_COLOR_MATCH_VALUE" val="{&quot;shape&quot;:{&quot;fill&quot;:{&quot;gradient&quot;:[{&quot;brightness&quot;:0.4000000059604645,&quot;colorType&quot;:1,&quot;foreColorIndex&quot;:5,&quot;pos&quot;:0,&quot;transparency&quot;:0},{&quot;brightness&quot;:0,&quot;colorType&quot;:1,&quot;foreColorIndex&quot;:5,&quot;pos&quot;:0.9300000071525574,&quot;transparency&quot;:0}],&quot;type&quot;:3},&quot;glow&quot;:{&quot;colorType&quot;:0},&quot;line&quot;:{&quot;type&quot;:0},&quot;shadow&quot;:{&quot;brightness&quot;:-0.25,&quot;colorType&quot;:1,&quot;foreColorIndex&quot;:5,&quot;transparency&quot;:0.8999999761581421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DIAGRAM_USE_COLOR_VALUE" val="{&quot;color_scheme&quot;:1,&quot;color_type&quot;:1,&quot;theme_color_indexes&quot;:[9,10,9,10,9,10]}"/>
</p:tagLst>
</file>

<file path=ppt/tags/tag1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40493068_2*n_h_h_f*1_2_1_1"/>
  <p:tag name="KSO_WM_TEMPLATE_CATEGORY" val="diagram"/>
  <p:tag name="KSO_WM_TEMPLATE_INDEX" val="40493068"/>
  <p:tag name="KSO_WM_UNIT_LAYERLEVEL" val="1_1_1_1"/>
  <p:tag name="KSO_WM_TAG_VERSION" val="3.0"/>
  <p:tag name="KSO_WM_BEAUTIFY_FLAG" val="#wm#"/>
  <p:tag name="KSO_WM_UNIT_SUBTYPE" val="a"/>
  <p:tag name="KSO_WM_UNIT_TEXT_LAYER_COUNT" val="1"/>
  <p:tag name="KSO_WM_UNIT_NOCLEAR" val="0"/>
  <p:tag name="KSO_WM_DIAGRAM_GROUP_CODE" val="n1-1"/>
  <p:tag name="KSO_WM_UNIT_TYPE" val="n_h_h_f"/>
  <p:tag name="KSO_WM_UNIT_INDEX" val="1_2_1_1"/>
  <p:tag name="KSO_WM_UNIT_FILL_TYPE" val="1"/>
  <p:tag name="KSO_WM_UNIT_FILL_FORE_SCHEMECOLOR_INDEX" val="5"/>
  <p:tag name="KSO_WM_UNIT_FILL_FORE_SCHEMECOLOR_INDEX_BRIGHTNESS" val="0.6"/>
  <p:tag name="KSO_WM_UNIT_TEXT_FILL_FORE_SCHEMECOLOR_INDEX" val="1"/>
  <p:tag name="KSO_WM_UNIT_TEXT_FILL_TYPE" val="1"/>
  <p:tag name="KSO_WM_UNIT_PRESET_TEXT" val="单击此处添加文本，简明扼要地阐述您的观点。根据需要可酌情增减文字"/>
  <p:tag name="KSO_WM_UNIT_TEXT_TYPE" val="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83.8999938964844,&quot;left&quot;:48.15,&quot;top&quot;:111.4000030517578,&quot;width&quot;:871.6145690917969}"/>
  <p:tag name="KSO_WM_DIAGRAM_COLOR_MATCH_VALUE" val="{&quot;shape&quot;:{&quot;fill&quot;:{&quot;solid&quot;:{&quot;brightness&quot;:0.6000000238418579,&quot;colorType&quot;:1,&quot;foreColorIndex&quot;:5,&quot;transparency&quot;:0.8500000238418579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1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40493068_2*n_h_h_f*1_2_2_1"/>
  <p:tag name="KSO_WM_TEMPLATE_CATEGORY" val="diagram"/>
  <p:tag name="KSO_WM_TEMPLATE_INDEX" val="40493068"/>
  <p:tag name="KSO_WM_UNIT_LAYERLEVEL" val="1_1_1_1"/>
  <p:tag name="KSO_WM_TAG_VERSION" val="3.0"/>
  <p:tag name="KSO_WM_BEAUTIFY_FLAG" val="#wm#"/>
  <p:tag name="KSO_WM_UNIT_SUBTYPE" val="a"/>
  <p:tag name="KSO_WM_UNIT_TEXT_LAYER_COUNT" val="1"/>
  <p:tag name="KSO_WM_UNIT_NOCLEAR" val="0"/>
  <p:tag name="KSO_WM_UNIT_VALUE" val="65"/>
  <p:tag name="KSO_WM_DIAGRAM_GROUP_CODE" val="n1-1"/>
  <p:tag name="KSO_WM_UNIT_TYPE" val="n_h_h_f"/>
  <p:tag name="KSO_WM_UNIT_INDEX" val="1_2_2_1"/>
  <p:tag name="KSO_WM_UNIT_FILL_TYPE" val="1"/>
  <p:tag name="KSO_WM_UNIT_FILL_FORE_SCHEMECOLOR_INDEX" val="5"/>
  <p:tag name="KSO_WM_UNIT_FILL_FORE_SCHEMECOLOR_INDEX_BRIGHTNESS" val="0.6"/>
  <p:tag name="KSO_WM_UNIT_TEXT_FILL_FORE_SCHEMECOLOR_INDEX" val="1"/>
  <p:tag name="KSO_WM_UNIT_TEXT_FILL_TYPE" val="1"/>
  <p:tag name="KSO_WM_UNIT_PRESET_TEXT" val="简明扼要地阐述您的观点。根据需要可酌情增减文字，以便观者准确地理解您传达的思想"/>
  <p:tag name="KSO_WM_UNIT_TEXT_TYPE" val="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83.8999938964844,&quot;left&quot;:48.15,&quot;top&quot;:111.4000030517578,&quot;width&quot;:871.6145690917969}"/>
  <p:tag name="KSO_WM_DIAGRAM_COLOR_MATCH_VALUE" val="{&quot;shape&quot;:{&quot;fill&quot;:{&quot;solid&quot;:{&quot;brightness&quot;:0.6000000238418579,&quot;colorType&quot;:1,&quot;foreColorIndex&quot;:5,&quot;transparency&quot;:0.8500000238418579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1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40493068_2*n_h_h_f*1_2_3_1"/>
  <p:tag name="KSO_WM_TEMPLATE_CATEGORY" val="diagram"/>
  <p:tag name="KSO_WM_TEMPLATE_INDEX" val="40493068"/>
  <p:tag name="KSO_WM_UNIT_LAYERLEVEL" val="1_1_1_1"/>
  <p:tag name="KSO_WM_TAG_VERSION" val="3.0"/>
  <p:tag name="KSO_WM_BEAUTIFY_FLAG" val="#wm#"/>
  <p:tag name="KSO_WM_UNIT_SUBTYPE" val="a"/>
  <p:tag name="KSO_WM_UNIT_TEXT_LAYER_COUNT" val="1"/>
  <p:tag name="KSO_WM_UNIT_NOCLEAR" val="0"/>
  <p:tag name="KSO_WM_DIAGRAM_GROUP_CODE" val="n1-1"/>
  <p:tag name="KSO_WM_UNIT_TYPE" val="n_h_h_f"/>
  <p:tag name="KSO_WM_UNIT_INDEX" val="1_2_3_1"/>
  <p:tag name="KSO_WM_UNIT_FILL_TYPE" val="1"/>
  <p:tag name="KSO_WM_UNIT_FILL_FORE_SCHEMECOLOR_INDEX" val="5"/>
  <p:tag name="KSO_WM_UNIT_FILL_FORE_SCHEMECOLOR_INDEX_BRIGHTNESS" val="0.6"/>
  <p:tag name="KSO_WM_UNIT_TEXT_FILL_FORE_SCHEMECOLOR_INDEX" val="1"/>
  <p:tag name="KSO_WM_UNIT_TEXT_FILL_TYPE" val="1"/>
  <p:tag name="KSO_WM_UNIT_PRESET_TEXT" val="单击此处添加文本，简明扼要地阐述您的观点。根据需要可酌情增减文字"/>
  <p:tag name="KSO_WM_UNIT_VALUE" val="65"/>
  <p:tag name="KSO_WM_UNIT_TEXT_TYPE" val="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83.8999938964844,&quot;left&quot;:48.15,&quot;top&quot;:111.4000030517578,&quot;width&quot;:871.6145690917969}"/>
  <p:tag name="KSO_WM_DIAGRAM_COLOR_MATCH_VALUE" val="{&quot;shape&quot;:{&quot;fill&quot;:{&quot;solid&quot;:{&quot;brightness&quot;:0.6000000238418579,&quot;colorType&quot;:1,&quot;foreColorIndex&quot;:5,&quot;transparency&quot;:0.8500000238418579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1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40493068_2*n_h_h_a*1_2_1_1"/>
  <p:tag name="KSO_WM_TEMPLATE_CATEGORY" val="diagram"/>
  <p:tag name="KSO_WM_TEMPLATE_INDEX" val="40493068"/>
  <p:tag name="KSO_WM_UNIT_LAYERLEVEL" val="1_1_1_1"/>
  <p:tag name="KSO_WM_TAG_VERSION" val="3.0"/>
  <p:tag name="KSO_WM_BEAUTIFY_FLAG" val="#wm#"/>
  <p:tag name="KSO_WM_UNIT_ISCONTENTSTITLE" val="0"/>
  <p:tag name="KSO_WM_UNIT_ISNUMDGMTITLE" val="0"/>
  <p:tag name="KSO_WM_UNIT_NOCLEAR" val="0"/>
  <p:tag name="KSO_WM_DIAGRAM_GROUP_CODE" val="n1-1"/>
  <p:tag name="KSO_WM_UNIT_TYPE" val="n_h_h_a"/>
  <p:tag name="KSO_WM_UNIT_INDEX" val="1_2_1_1"/>
  <p:tag name="KSO_WM_UNIT_TEXT_FILL_FORE_SCHEMECOLOR_INDEX" val="3"/>
  <p:tag name="KSO_WM_UNIT_TEXT_FILL_TYPE" val="3"/>
  <p:tag name="KSO_WM_UNIT_PRESET_TEXT" val="添加标题"/>
  <p:tag name="KSO_WM_UNIT_TEXT_TYPE" val="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83.8999938964844,&quot;left&quot;:48.15,&quot;top&quot;:111.4000030517578,&quot;width&quot;:871.6145690917969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5,&quot;pos&quot;:0.10999999940395355,&quot;transparency&quot;:0},{&quot;brightness&quot;:0.4000000059604645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1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40493068_2*n_h_h_a*1_2_2_1"/>
  <p:tag name="KSO_WM_TEMPLATE_CATEGORY" val="diagram"/>
  <p:tag name="KSO_WM_TEMPLATE_INDEX" val="40493068"/>
  <p:tag name="KSO_WM_UNIT_LAYERLEVEL" val="1_1_1_1"/>
  <p:tag name="KSO_WM_TAG_VERSION" val="3.0"/>
  <p:tag name="KSO_WM_BEAUTIFY_FLAG" val="#wm#"/>
  <p:tag name="KSO_WM_UNIT_ISCONTENTSTITLE" val="0"/>
  <p:tag name="KSO_WM_UNIT_ISNUMDGMTITLE" val="0"/>
  <p:tag name="KSO_WM_UNIT_NOCLEAR" val="0"/>
  <p:tag name="KSO_WM_DIAGRAM_GROUP_CODE" val="n1-1"/>
  <p:tag name="KSO_WM_UNIT_TYPE" val="n_h_h_a"/>
  <p:tag name="KSO_WM_UNIT_INDEX" val="1_2_2_1"/>
  <p:tag name="KSO_WM_UNIT_TEXT_FILL_FORE_SCHEMECOLOR_INDEX" val="3"/>
  <p:tag name="KSO_WM_UNIT_TEXT_FILL_TYPE" val="3"/>
  <p:tag name="KSO_WM_UNIT_PRESET_TEXT" val="添加标题"/>
  <p:tag name="KSO_WM_UNIT_TEXT_TYPE" val="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83.8999938964844,&quot;left&quot;:48.15,&quot;top&quot;:111.4000030517578,&quot;width&quot;:871.6145690917969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5,&quot;pos&quot;:0.10999999940395355,&quot;transparency&quot;:0},{&quot;brightness&quot;:0.4000000059604645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1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40493068_2*n_h_h_a*1_2_3_1"/>
  <p:tag name="KSO_WM_TEMPLATE_CATEGORY" val="diagram"/>
  <p:tag name="KSO_WM_TEMPLATE_INDEX" val="40493068"/>
  <p:tag name="KSO_WM_UNIT_LAYERLEVEL" val="1_1_1_1"/>
  <p:tag name="KSO_WM_TAG_VERSION" val="3.0"/>
  <p:tag name="KSO_WM_BEAUTIFY_FLAG" val="#wm#"/>
  <p:tag name="KSO_WM_UNIT_ISCONTENTSTITLE" val="0"/>
  <p:tag name="KSO_WM_UNIT_ISNUMDGMTITLE" val="0"/>
  <p:tag name="KSO_WM_UNIT_NOCLEAR" val="0"/>
  <p:tag name="KSO_WM_DIAGRAM_GROUP_CODE" val="n1-1"/>
  <p:tag name="KSO_WM_UNIT_TYPE" val="n_h_h_a"/>
  <p:tag name="KSO_WM_UNIT_INDEX" val="1_2_3_1"/>
  <p:tag name="KSO_WM_UNIT_TEXT_FILL_FORE_SCHEMECOLOR_INDEX" val="3"/>
  <p:tag name="KSO_WM_UNIT_TEXT_FILL_TYPE" val="3"/>
  <p:tag name="KSO_WM_UNIT_PRESET_TEXT" val="添加标题"/>
  <p:tag name="KSO_WM_UNIT_VALUE" val="13"/>
  <p:tag name="KSO_WM_UNIT_TEXT_TYPE" val="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83.8999938964844,&quot;left&quot;:48.15,&quot;top&quot;:111.4000030517578,&quot;width&quot;:871.6145690917969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5,&quot;pos&quot;:0.10999999940395355,&quot;transparency&quot;:0},{&quot;brightness&quot;:0.4000000059604645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1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40493068_2*n_h_h_x*1_2_3_1"/>
  <p:tag name="KSO_WM_TEMPLATE_CATEGORY" val="diagram"/>
  <p:tag name="KSO_WM_TEMPLATE_INDEX" val="40493068"/>
  <p:tag name="KSO_WM_UNIT_LAYERLEVEL" val="1_1_1_1"/>
  <p:tag name="KSO_WM_TAG_VERSION" val="3.0"/>
  <p:tag name="KSO_WM_BEAUTIFY_FLAG" val="#wm#"/>
  <p:tag name="KSO_WM_UNIT_VALUE" val="110*110"/>
  <p:tag name="KSO_WM_DIAGRAM_GROUP_CODE" val="n1-1"/>
  <p:tag name="KSO_WM_UNIT_TYPE" val="n_h_h_x"/>
  <p:tag name="KSO_WM_UNIT_INDEX" val="1_2_3_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83.8999938964844,&quot;left&quot;:48.15,&quot;top&quot;:111.4000030517578,&quot;width&quot;:871.6145690917969}"/>
  <p:tag name="KSO_WM_DIAGRAM_COLOR_MATCH_VALUE" val="{&quot;shape&quot;:{&quot;fill&quot;:{&quot;gradient&quot;:[{&quot;brightness&quot;:0.4000000059604645,&quot;colorType&quot;:1,&quot;foreColorIndex&quot;:5,&quot;pos&quot;:0,&quot;transparency&quot;:0},{&quot;brightness&quot;:0,&quot;colorType&quot;:1,&quot;foreColorIndex&quot;:5,&quot;pos&quot;:0.9300000071525574,&quot;transparency&quot;:0}],&quot;type&quot;:3},&quot;glow&quot;:{&quot;colorType&quot;:0},&quot;line&quot;:{&quot;type&quot;:0},&quot;shadow&quot;:{&quot;brightness&quot;:-0.25,&quot;colorType&quot;:1,&quot;foreColorIndex&quot;:5,&quot;transparency&quot;:0.8999999761581421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DIAGRAM_USE_COLOR_VALUE" val="{&quot;color_scheme&quot;:1,&quot;color_type&quot;:1,&quot;theme_color_indexes&quot;:[9,10,9,10,9,10]}"/>
</p:tagLst>
</file>

<file path=ppt/tags/tag139.xml><?xml version="1.0" encoding="utf-8"?>
<p:tagLst xmlns:p="http://schemas.openxmlformats.org/presentationml/2006/main">
  <p:tag name="KSO_WM_SLIDE_ITEM_CNT" val="3"/>
  <p:tag name="resource_record_key" val="{&quot;10&quot;:[3505430,50036384,3504219,4526305],&quot;29&quot;:[50053024,50052948],&quot;70&quot;:[3405561,3319090,3312439,3318441,3431215]}"/>
</p:tagLst>
</file>

<file path=ppt/tags/tag140.xml><?xml version="1.0" encoding="utf-8"?>
<p:tagLst xmlns:p="http://schemas.openxmlformats.org/presentationml/2006/main">
  <p:tag name="KSO_WM_BEAUTIFY_FLAG" val=""/>
</p:tagLst>
</file>

<file path=ppt/tags/tag141.xml><?xml version="1.0" encoding="utf-8"?>
<p:tagLst xmlns:p="http://schemas.openxmlformats.org/presentationml/2006/main">
  <p:tag name="KSO_WM_BEAUTIFY_FLAG" val=""/>
</p:tagLst>
</file>

<file path=ppt/tags/tag142.xml><?xml version="1.0" encoding="utf-8"?>
<p:tagLst xmlns:p="http://schemas.openxmlformats.org/presentationml/2006/main">
  <p:tag name="KSO_DOCER_RESOURCE_TRACE_INFO" val="{&quot;id&quot;:&quot;&quot;,&quot;origin&quot;:0,&quot;type&quot;:&quot;textbox&quot;,&quot;user&quot;:&quot;451439288&quot;}"/>
</p:tagLst>
</file>

<file path=ppt/tags/tag143.xml><?xml version="1.0" encoding="utf-8"?>
<p:tagLst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o_h_f"/>
  <p:tag name="KSO_WM_UNIT_INDEX" val="1_1_1"/>
  <p:tag name="KSO_WM_UNIT_ID" val="diagram20234924_3*o_h_f*1_1_1"/>
  <p:tag name="KSO_WM_TEMPLATE_CATEGORY" val="diagram"/>
  <p:tag name="KSO_WM_TEMPLATE_INDEX" val="20234924"/>
  <p:tag name="KSO_WM_UNIT_LAYERLEVEL" val="1_1_1"/>
  <p:tag name="KSO_WM_TAG_VERSION" val="3.0"/>
  <p:tag name="KSO_WM_UNIT_FROM" val="WPS"/>
  <p:tag name="KSO_WM_DIAGRAM_VERSION" val="3"/>
  <p:tag name="KSO_WM_DIAGRAM_COLOR_TRICK" val="1"/>
  <p:tag name="KSO_WM_DIAGRAM_COLOR_TEXT_CAN_REMOVE" val="n"/>
  <p:tag name="KSO_WM_DIAGRAM_GROUP_CODE" val="o1-1"/>
  <p:tag name="KSO_WM_DIAGRAM_MAX_ITEMCNT" val="5"/>
  <p:tag name="KSO_WM_DIAGRAM_MIN_ITEMCNT" val="2"/>
  <p:tag name="KSO_WM_DIAGRAM_VIRTUALLY_FRAME" val="{&quot;height&quot;:245.3810307076132,&quot;left&quot;:77.44998779296874,&quot;top&quot;:227.84258989785553,&quot;width&quot;:367.9000244140625}"/>
  <p:tag name="KSO_WM_DIAGRAM_COLOR_MATCH_VALUE" val="{&quot;shape&quot;:{&quot;fill&quot;:{&quot;gradient&quot;:[{&quot;brightness&quot;:0.800000011920929,&quot;colorType&quot;:1,&quot;foreColorIndex&quot;:5,&quot;pos&quot;:0,&quot;transparency&quot;:0.9200000166893005},{&quot;brightness&quot;:0.800000011920929,&quot;colorType&quot;:1,&quot;foreColorIndex&quot;:5,&quot;pos&quot;:0.12999999523162842,&quot;transparency&quot;:0.75},{&quot;brightness&quot;:0.800000011920929,&quot;colorType&quot;:1,&quot;foreColorIndex&quot;:5,&quot;pos&quot;:1,&quot;transparency&quot;:0.3100000023841858}],&quot;type&quot;:3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VALUE" val="81"/>
  <p:tag name="KSO_WM_UNIT_PRESET_TEXT" val="单击此处添加文本内容，简明扼要地阐述观点"/>
  <p:tag name="KSO_WM_UNIT_FILL_TYPE" val="3"/>
  <p:tag name="KSO_WM_UNIT_LINE_FORE_SCHEMECOLOR_INDEX" val="5"/>
  <p:tag name="KSO_WM_UNIT_TEXT_FILL_FORE_SCHEMECOLOR_INDEX" val="1"/>
  <p:tag name="KSO_WM_UNIT_TEXT_FILL_TYPE" val="1"/>
  <p:tag name="KSO_WM_UNIT_TEXT_TYPE" val="1"/>
  <p:tag name="KSO_WM_DIAGRAM_USE_COLOR_VALUE" val="{&quot;color_scheme&quot;:1,&quot;color_type&quot;:1,&quot;theme_color_indexes&quot;:[9,10,9,10,9,10]}"/>
</p:tagLst>
</file>

<file path=ppt/tags/tag144.xml><?xml version="1.0" encoding="utf-8"?>
<p:tagLst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o_h_f"/>
  <p:tag name="KSO_WM_UNIT_INDEX" val="1_2_1"/>
  <p:tag name="KSO_WM_UNIT_ID" val="diagram20234924_3*o_h_f*1_2_1"/>
  <p:tag name="KSO_WM_TEMPLATE_CATEGORY" val="diagram"/>
  <p:tag name="KSO_WM_TEMPLATE_INDEX" val="20234924"/>
  <p:tag name="KSO_WM_UNIT_LAYERLEVEL" val="1_1_1"/>
  <p:tag name="KSO_WM_TAG_VERSION" val="3.0"/>
  <p:tag name="KSO_WM_UNIT_FROM" val="WPS"/>
  <p:tag name="KSO_WM_DIAGRAM_VERSION" val="3"/>
  <p:tag name="KSO_WM_DIAGRAM_COLOR_TRICK" val="1"/>
  <p:tag name="KSO_WM_DIAGRAM_COLOR_TEXT_CAN_REMOVE" val="n"/>
  <p:tag name="KSO_WM_DIAGRAM_GROUP_CODE" val="o1-1"/>
  <p:tag name="KSO_WM_DIAGRAM_MAX_ITEMCNT" val="5"/>
  <p:tag name="KSO_WM_DIAGRAM_MIN_ITEMCNT" val="2"/>
  <p:tag name="KSO_WM_DIAGRAM_VIRTUALLY_FRAME" val="{&quot;height&quot;:245.3810307076132,&quot;left&quot;:77.44998779296874,&quot;top&quot;:227.84258989785553,&quot;width&quot;:367.9000244140625}"/>
  <p:tag name="KSO_WM_DIAGRAM_COLOR_MATCH_VALUE" val="{&quot;shape&quot;:{&quot;fill&quot;:{&quot;gradient&quot;:[{&quot;brightness&quot;:0.800000011920929,&quot;colorType&quot;:1,&quot;foreColorIndex&quot;:5,&quot;pos&quot;:0,&quot;transparency&quot;:0.9200000166893005},{&quot;brightness&quot;:0.800000011920929,&quot;colorType&quot;:1,&quot;foreColorIndex&quot;:5,&quot;pos&quot;:0.12999999523162842,&quot;transparency&quot;:0.75},{&quot;brightness&quot;:0.800000011920929,&quot;colorType&quot;:1,&quot;foreColorIndex&quot;:5,&quot;pos&quot;:1,&quot;transparency&quot;:0.3100000023841858}],&quot;type&quot;:3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此处添加文本内容，简明扼要地阐述观点"/>
  <p:tag name="KSO_WM_UNIT_FILL_TYPE" val="3"/>
  <p:tag name="KSO_WM_UNIT_LINE_FORE_SCHEMECOLOR_INDEX" val="5"/>
  <p:tag name="KSO_WM_UNIT_TEXT_FILL_FORE_SCHEMECOLOR_INDEX" val="1"/>
  <p:tag name="KSO_WM_UNIT_TEXT_FILL_TYPE" val="1"/>
  <p:tag name="KSO_WM_UNIT_TEXT_TYPE" val="1"/>
  <p:tag name="KSO_WM_DIAGRAM_USE_COLOR_VALUE" val="{&quot;color_scheme&quot;:1,&quot;color_type&quot;:1,&quot;theme_color_indexes&quot;:[9,10,9,10,9,10]}"/>
</p:tagLst>
</file>

<file path=ppt/tags/tag145.xml><?xml version="1.0" encoding="utf-8"?>
<p:tagLst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o_h_f"/>
  <p:tag name="KSO_WM_UNIT_INDEX" val="1_3_1"/>
  <p:tag name="KSO_WM_UNIT_ID" val="diagram20234924_3*o_h_f*1_3_1"/>
  <p:tag name="KSO_WM_TEMPLATE_CATEGORY" val="diagram"/>
  <p:tag name="KSO_WM_TEMPLATE_INDEX" val="20234924"/>
  <p:tag name="KSO_WM_UNIT_LAYERLEVEL" val="1_1_1"/>
  <p:tag name="KSO_WM_TAG_VERSION" val="3.0"/>
  <p:tag name="KSO_WM_UNIT_FROM" val="WPS"/>
  <p:tag name="KSO_WM_DIAGRAM_VERSION" val="3"/>
  <p:tag name="KSO_WM_DIAGRAM_COLOR_TRICK" val="1"/>
  <p:tag name="KSO_WM_DIAGRAM_COLOR_TEXT_CAN_REMOVE" val="n"/>
  <p:tag name="KSO_WM_DIAGRAM_GROUP_CODE" val="o1-1"/>
  <p:tag name="KSO_WM_DIAGRAM_MAX_ITEMCNT" val="5"/>
  <p:tag name="KSO_WM_DIAGRAM_MIN_ITEMCNT" val="2"/>
  <p:tag name="KSO_WM_DIAGRAM_VIRTUALLY_FRAME" val="{&quot;height&quot;:245.3810307076132,&quot;left&quot;:77.44998779296874,&quot;top&quot;:227.84258989785553,&quot;width&quot;:367.9000244140625}"/>
  <p:tag name="KSO_WM_DIAGRAM_COLOR_MATCH_VALUE" val="{&quot;shape&quot;:{&quot;fill&quot;:{&quot;gradient&quot;:[{&quot;brightness&quot;:0.800000011920929,&quot;colorType&quot;:1,&quot;foreColorIndex&quot;:5,&quot;pos&quot;:0,&quot;transparency&quot;:0.9200000166893005},{&quot;brightness&quot;:0.800000011920929,&quot;colorType&quot;:1,&quot;foreColorIndex&quot;:5,&quot;pos&quot;:0.12999999523162842,&quot;transparency&quot;:0.75},{&quot;brightness&quot;:0.800000011920929,&quot;colorType&quot;:1,&quot;foreColorIndex&quot;:5,&quot;pos&quot;:1,&quot;transparency&quot;:0.3100000023841858}],&quot;type&quot;:3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此处添加文本内容，简明扼要地阐述观点"/>
  <p:tag name="KSO_WM_UNIT_FILL_TYPE" val="3"/>
  <p:tag name="KSO_WM_UNIT_LINE_FORE_SCHEMECOLOR_INDEX" val="5"/>
  <p:tag name="KSO_WM_UNIT_TEXT_FILL_FORE_SCHEMECOLOR_INDEX" val="1"/>
  <p:tag name="KSO_WM_UNIT_TEXT_FILL_TYPE" val="1"/>
  <p:tag name="KSO_WM_UNIT_TEXT_TYPE" val="1"/>
  <p:tag name="KSO_WM_DIAGRAM_USE_COLOR_VALUE" val="{&quot;color_scheme&quot;:1,&quot;color_type&quot;:1,&quot;theme_color_indexes&quot;:[9,10,9,10,9,10]}"/>
</p:tagLst>
</file>

<file path=ppt/tags/tag146.xml><?xml version="1.0" encoding="utf-8"?>
<p:tagLst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o_h_f"/>
  <p:tag name="KSO_WM_UNIT_INDEX" val="1_4_1"/>
  <p:tag name="KSO_WM_UNIT_ID" val="diagram20234924_3*o_h_f*1_4_1"/>
  <p:tag name="KSO_WM_TEMPLATE_CATEGORY" val="diagram"/>
  <p:tag name="KSO_WM_TEMPLATE_INDEX" val="20234924"/>
  <p:tag name="KSO_WM_UNIT_LAYERLEVEL" val="1_1_1"/>
  <p:tag name="KSO_WM_TAG_VERSION" val="3.0"/>
  <p:tag name="KSO_WM_UNIT_FROM" val="WPS"/>
  <p:tag name="KSO_WM_DIAGRAM_VERSION" val="3"/>
  <p:tag name="KSO_WM_DIAGRAM_COLOR_TRICK" val="1"/>
  <p:tag name="KSO_WM_DIAGRAM_COLOR_TEXT_CAN_REMOVE" val="n"/>
  <p:tag name="KSO_WM_DIAGRAM_GROUP_CODE" val="o1-1"/>
  <p:tag name="KSO_WM_DIAGRAM_MAX_ITEMCNT" val="5"/>
  <p:tag name="KSO_WM_DIAGRAM_MIN_ITEMCNT" val="2"/>
  <p:tag name="KSO_WM_DIAGRAM_VIRTUALLY_FRAME" val="{&quot;height&quot;:245.3810307076132,&quot;left&quot;:77.44998779296874,&quot;top&quot;:227.84258989785553,&quot;width&quot;:367.9000244140625}"/>
  <p:tag name="KSO_WM_DIAGRAM_COLOR_MATCH_VALUE" val="{&quot;shape&quot;:{&quot;fill&quot;:{&quot;gradient&quot;:[{&quot;brightness&quot;:0.800000011920929,&quot;colorType&quot;:1,&quot;foreColorIndex&quot;:5,&quot;pos&quot;:0,&quot;transparency&quot;:0.9200000166893005},{&quot;brightness&quot;:0.800000011920929,&quot;colorType&quot;:1,&quot;foreColorIndex&quot;:5,&quot;pos&quot;:0.12999999523162842,&quot;transparency&quot;:0.75},{&quot;brightness&quot;:0.800000011920929,&quot;colorType&quot;:1,&quot;foreColorIndex&quot;:5,&quot;pos&quot;:1,&quot;transparency&quot;:0.3100000023841858}],&quot;type&quot;:3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此处添加文本内容，简明扼要地阐述观点"/>
  <p:tag name="KSO_WM_UNIT_FILL_TYPE" val="3"/>
  <p:tag name="KSO_WM_UNIT_LINE_FORE_SCHEMECOLOR_INDEX" val="5"/>
  <p:tag name="KSO_WM_UNIT_TEXT_FILL_FORE_SCHEMECOLOR_INDEX" val="1"/>
  <p:tag name="KSO_WM_UNIT_TEXT_FILL_TYPE" val="1"/>
  <p:tag name="KSO_WM_UNIT_TEXT_TYPE" val="1"/>
  <p:tag name="KSO_WM_DIAGRAM_USE_COLOR_VALUE" val="{&quot;color_scheme&quot;:1,&quot;color_type&quot;:1,&quot;theme_color_indexes&quot;:[9,10,9,10,9,10]}"/>
</p:tagLst>
</file>

<file path=ppt/tags/tag147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o1-1"/>
  <p:tag name="KSO_WM_UNIT_TYPE" val="o_h_i"/>
  <p:tag name="KSO_WM_UNIT_INDEX" val="1_4_2"/>
  <p:tag name="KSO_WM_UNIT_ID" val="diagram20234924_3*o_h_i*1_4_2"/>
  <p:tag name="KSO_WM_TEMPLATE_CATEGORY" val="diagram"/>
  <p:tag name="KSO_WM_TEMPLATE_INDEX" val="20234924"/>
  <p:tag name="KSO_WM_UNIT_LAYERLEVEL" val="1_1_1"/>
  <p:tag name="KSO_WM_TAG_VERSION" val="3.0"/>
  <p:tag name="KSO_WM_DIAGRAM_MAX_ITEMCNT" val="5"/>
  <p:tag name="KSO_WM_DIAGRAM_MIN_ITEMCNT" val="2"/>
  <p:tag name="KSO_WM_DIAGRAM_VIRTUALLY_FRAME" val="{&quot;height&quot;:245.3810307076132,&quot;left&quot;:77.44998779296874,&quot;top&quot;:227.84258989785553,&quot;width&quot;:367.9000244140625}"/>
  <p:tag name="KSO_WM_DIAGRAM_COLOR_MATCH_VALUE" val="{&quot;shape&quot;:{&quot;fill&quot;:{&quot;gradient&quot;:[{&quot;brightness&quot;:0.800000011920929,&quot;colorType&quot;:1,&quot;foreColorIndex&quot;:5,&quot;pos&quot;:0,&quot;transparency&quot;:0},{&quot;brightness&quot;:0,&quot;colorType&quot;:1,&quot;foreColorIndex&quot;:5,&quot;pos&quot;:0.6299999952316284,&quot;transparency&quot;:0}],&quot;type&quot;:3},&quot;glow&quot;:{&quot;colorType&quot;:0},&quot;line&quot;:{&quot;type&quot;:0},&quot;shadow&quot;:{&quot;brightness&quot;:-0.25,&quot;colorType&quot;:1,&quot;foreColorIndex&quot;:5,&quot;transparency&quot;:0.7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4,&quot;transparency&quot;:0},&quot;type&quot;:1},&quot;glow&quot;:{&quot;colorType&quot;:0},&quot;line&quot;:{&quot;type&quot;:0},&quot;shadow&quot;:{&quot;brightness&quot;:-0.5,&quot;colorType&quot;:1,&quot;foreColorIndex&quot;:5,&quot;transparency&quot;:0.75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9,10,9,10,9,10]}"/>
</p:tagLst>
</file>

<file path=ppt/tags/tag148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o1-1"/>
  <p:tag name="KSO_WM_UNIT_TYPE" val="o_h_i"/>
  <p:tag name="KSO_WM_UNIT_INDEX" val="1_4_1"/>
  <p:tag name="KSO_WM_UNIT_ID" val="diagram20234924_3*o_h_i*1_4_1"/>
  <p:tag name="KSO_WM_TEMPLATE_CATEGORY" val="diagram"/>
  <p:tag name="KSO_WM_TEMPLATE_INDEX" val="20234924"/>
  <p:tag name="KSO_WM_UNIT_LAYERLEVEL" val="1_1_1"/>
  <p:tag name="KSO_WM_TAG_VERSION" val="3.0"/>
  <p:tag name="KSO_WM_DIAGRAM_MAX_ITEMCNT" val="5"/>
  <p:tag name="KSO_WM_DIAGRAM_MIN_ITEMCNT" val="2"/>
  <p:tag name="KSO_WM_DIAGRAM_VIRTUALLY_FRAME" val="{&quot;height&quot;:245.3810307076132,&quot;left&quot;:77.44998779296874,&quot;top&quot;:227.84258989785553,&quot;width&quot;:367.9000244140625}"/>
  <p:tag name="KSO_WM_DIAGRAM_COLOR_MATCH_VALUE" val="{&quot;shape&quot;:{&quot;fill&quot;:{&quot;gradient&quot;:[{&quot;brightness&quot;:-0.25,&quot;colorType&quot;:1,&quot;foreColorIndex&quot;:5,&quot;pos&quot;:0.6200000047683716,&quot;transparency&quot;:0},{&quot;brightness&quot;:0.4000000059604645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9,10,9,10,9,10]}"/>
</p:tagLst>
</file>

<file path=ppt/tags/tag149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o1-1"/>
  <p:tag name="KSO_WM_UNIT_TYPE" val="o_h_i"/>
  <p:tag name="KSO_WM_UNIT_INDEX" val="1_3_2"/>
  <p:tag name="KSO_WM_UNIT_ID" val="diagram20234924_3*o_h_i*1_3_2"/>
  <p:tag name="KSO_WM_TEMPLATE_CATEGORY" val="diagram"/>
  <p:tag name="KSO_WM_TEMPLATE_INDEX" val="20234924"/>
  <p:tag name="KSO_WM_UNIT_LAYERLEVEL" val="1_1_1"/>
  <p:tag name="KSO_WM_TAG_VERSION" val="3.0"/>
  <p:tag name="KSO_WM_DIAGRAM_MAX_ITEMCNT" val="5"/>
  <p:tag name="KSO_WM_DIAGRAM_MIN_ITEMCNT" val="2"/>
  <p:tag name="KSO_WM_DIAGRAM_VIRTUALLY_FRAME" val="{&quot;height&quot;:245.3810307076132,&quot;left&quot;:77.44998779296874,&quot;top&quot;:227.84258989785553,&quot;width&quot;:367.9000244140625}"/>
  <p:tag name="KSO_WM_DIAGRAM_COLOR_MATCH_VALUE" val="{&quot;shape&quot;:{&quot;fill&quot;:{&quot;gradient&quot;:[{&quot;brightness&quot;:0.800000011920929,&quot;colorType&quot;:1,&quot;foreColorIndex&quot;:5,&quot;pos&quot;:0,&quot;transparency&quot;:0},{&quot;brightness&quot;:0,&quot;colorType&quot;:1,&quot;foreColorIndex&quot;:5,&quot;pos&quot;:0.6299999952316284,&quot;transparency&quot;:0}],&quot;type&quot;:3},&quot;glow&quot;:{&quot;colorType&quot;:0},&quot;line&quot;:{&quot;type&quot;:0},&quot;shadow&quot;:{&quot;brightness&quot;:-0.25,&quot;colorType&quot;:1,&quot;foreColorIndex&quot;:5,&quot;transparency&quot;:0.7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4,&quot;transparency&quot;:0},&quot;type&quot;:1},&quot;glow&quot;:{&quot;colorType&quot;:0},&quot;line&quot;:{&quot;type&quot;:0},&quot;shadow&quot;:{&quot;brightness&quot;:-0.5,&quot;colorType&quot;:1,&quot;foreColorIndex&quot;:5,&quot;transparency&quot;:0.75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9,10,9,10,9,10]}"/>
</p:tagLst>
</file>

<file path=ppt/tags/tag150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o1-1"/>
  <p:tag name="KSO_WM_UNIT_TYPE" val="o_h_i"/>
  <p:tag name="KSO_WM_UNIT_INDEX" val="1_3_1"/>
  <p:tag name="KSO_WM_UNIT_ID" val="diagram20234924_3*o_h_i*1_3_1"/>
  <p:tag name="KSO_WM_TEMPLATE_CATEGORY" val="diagram"/>
  <p:tag name="KSO_WM_TEMPLATE_INDEX" val="20234924"/>
  <p:tag name="KSO_WM_UNIT_LAYERLEVEL" val="1_1_1"/>
  <p:tag name="KSO_WM_TAG_VERSION" val="3.0"/>
  <p:tag name="KSO_WM_DIAGRAM_MAX_ITEMCNT" val="5"/>
  <p:tag name="KSO_WM_DIAGRAM_MIN_ITEMCNT" val="2"/>
  <p:tag name="KSO_WM_DIAGRAM_VIRTUALLY_FRAME" val="{&quot;height&quot;:245.3810307076132,&quot;left&quot;:77.44998779296874,&quot;top&quot;:227.84258989785553,&quot;width&quot;:367.9000244140625}"/>
  <p:tag name="KSO_WM_DIAGRAM_COLOR_MATCH_VALUE" val="{&quot;shape&quot;:{&quot;fill&quot;:{&quot;gradient&quot;:[{&quot;brightness&quot;:-0.25,&quot;colorType&quot;:1,&quot;foreColorIndex&quot;:5,&quot;pos&quot;:0.6200000047683716,&quot;transparency&quot;:0},{&quot;brightness&quot;:0.4000000059604645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9,10,9,10,9,10]}"/>
</p:tagLst>
</file>

<file path=ppt/tags/tag151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o1-1"/>
  <p:tag name="KSO_WM_UNIT_TYPE" val="o_h_i"/>
  <p:tag name="KSO_WM_UNIT_INDEX" val="1_2_2"/>
  <p:tag name="KSO_WM_UNIT_ID" val="diagram20234924_3*o_h_i*1_2_2"/>
  <p:tag name="KSO_WM_TEMPLATE_CATEGORY" val="diagram"/>
  <p:tag name="KSO_WM_TEMPLATE_INDEX" val="20234924"/>
  <p:tag name="KSO_WM_UNIT_LAYERLEVEL" val="1_1_1"/>
  <p:tag name="KSO_WM_TAG_VERSION" val="3.0"/>
  <p:tag name="KSO_WM_DIAGRAM_MAX_ITEMCNT" val="5"/>
  <p:tag name="KSO_WM_DIAGRAM_MIN_ITEMCNT" val="2"/>
  <p:tag name="KSO_WM_DIAGRAM_VIRTUALLY_FRAME" val="{&quot;height&quot;:245.3810307076132,&quot;left&quot;:77.44998779296874,&quot;top&quot;:227.84258989785553,&quot;width&quot;:367.9000244140625}"/>
  <p:tag name="KSO_WM_DIAGRAM_COLOR_MATCH_VALUE" val="{&quot;shape&quot;:{&quot;fill&quot;:{&quot;gradient&quot;:[{&quot;brightness&quot;:0.800000011920929,&quot;colorType&quot;:1,&quot;foreColorIndex&quot;:5,&quot;pos&quot;:0,&quot;transparency&quot;:0},{&quot;brightness&quot;:0,&quot;colorType&quot;:1,&quot;foreColorIndex&quot;:5,&quot;pos&quot;:0.6299999952316284,&quot;transparency&quot;:0}],&quot;type&quot;:3},&quot;glow&quot;:{&quot;colorType&quot;:0},&quot;line&quot;:{&quot;type&quot;:0},&quot;shadow&quot;:{&quot;brightness&quot;:-0.25,&quot;colorType&quot;:1,&quot;foreColorIndex&quot;:5,&quot;transparency&quot;:0.7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4,&quot;transparency&quot;:0},&quot;type&quot;:1},&quot;glow&quot;:{&quot;colorType&quot;:0},&quot;line&quot;:{&quot;type&quot;:0},&quot;shadow&quot;:{&quot;brightness&quot;:-0.5,&quot;colorType&quot;:1,&quot;foreColorIndex&quot;:5,&quot;transparency&quot;:0.75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9,10,9,10,9,10]}"/>
</p:tagLst>
</file>

<file path=ppt/tags/tag152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o1-1"/>
  <p:tag name="KSO_WM_UNIT_TYPE" val="o_h_i"/>
  <p:tag name="KSO_WM_UNIT_INDEX" val="1_2_1"/>
  <p:tag name="KSO_WM_UNIT_ID" val="diagram20234924_3*o_h_i*1_2_1"/>
  <p:tag name="KSO_WM_TEMPLATE_CATEGORY" val="diagram"/>
  <p:tag name="KSO_WM_TEMPLATE_INDEX" val="20234924"/>
  <p:tag name="KSO_WM_UNIT_LAYERLEVEL" val="1_1_1"/>
  <p:tag name="KSO_WM_TAG_VERSION" val="3.0"/>
  <p:tag name="KSO_WM_DIAGRAM_MAX_ITEMCNT" val="5"/>
  <p:tag name="KSO_WM_DIAGRAM_MIN_ITEMCNT" val="2"/>
  <p:tag name="KSO_WM_DIAGRAM_VIRTUALLY_FRAME" val="{&quot;height&quot;:245.3810307076132,&quot;left&quot;:77.44998779296874,&quot;top&quot;:227.84258989785553,&quot;width&quot;:367.9000244140625}"/>
  <p:tag name="KSO_WM_DIAGRAM_COLOR_MATCH_VALUE" val="{&quot;shape&quot;:{&quot;fill&quot;:{&quot;gradient&quot;:[{&quot;brightness&quot;:-0.25,&quot;colorType&quot;:1,&quot;foreColorIndex&quot;:5,&quot;pos&quot;:0.6200000047683716,&quot;transparency&quot;:0},{&quot;brightness&quot;:0.4000000059604645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9,10,9,10,9,10]}"/>
</p:tagLst>
</file>

<file path=ppt/tags/tag153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o1-1"/>
  <p:tag name="KSO_WM_UNIT_TYPE" val="o_h_i"/>
  <p:tag name="KSO_WM_UNIT_INDEX" val="1_1_2"/>
  <p:tag name="KSO_WM_UNIT_ID" val="diagram20234924_3*o_h_i*1_1_2"/>
  <p:tag name="KSO_WM_TEMPLATE_CATEGORY" val="diagram"/>
  <p:tag name="KSO_WM_TEMPLATE_INDEX" val="20234924"/>
  <p:tag name="KSO_WM_UNIT_LAYERLEVEL" val="1_1_1"/>
  <p:tag name="KSO_WM_TAG_VERSION" val="3.0"/>
  <p:tag name="KSO_WM_DIAGRAM_MAX_ITEMCNT" val="5"/>
  <p:tag name="KSO_WM_DIAGRAM_MIN_ITEMCNT" val="2"/>
  <p:tag name="KSO_WM_DIAGRAM_VIRTUALLY_FRAME" val="{&quot;height&quot;:245.3810307076132,&quot;left&quot;:77.44998779296874,&quot;top&quot;:227.84258989785553,&quot;width&quot;:367.9000244140625}"/>
  <p:tag name="KSO_WM_DIAGRAM_COLOR_MATCH_VALUE" val="{&quot;shape&quot;:{&quot;fill&quot;:{&quot;gradient&quot;:[{&quot;brightness&quot;:0.800000011920929,&quot;colorType&quot;:1,&quot;foreColorIndex&quot;:5,&quot;pos&quot;:0,&quot;transparency&quot;:0},{&quot;brightness&quot;:0,&quot;colorType&quot;:1,&quot;foreColorIndex&quot;:5,&quot;pos&quot;:0.6299999952316284,&quot;transparency&quot;:0}],&quot;type&quot;:3},&quot;glow&quot;:{&quot;colorType&quot;:0},&quot;line&quot;:{&quot;type&quot;:0},&quot;shadow&quot;:{&quot;brightness&quot;:-0.25,&quot;colorType&quot;:1,&quot;foreColorIndex&quot;:5,&quot;transparency&quot;:0.7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4,&quot;transparency&quot;:0},&quot;type&quot;:1},&quot;glow&quot;:{&quot;colorType&quot;:0},&quot;line&quot;:{&quot;type&quot;:0},&quot;shadow&quot;:{&quot;brightness&quot;:-0.5,&quot;colorType&quot;:1,&quot;foreColorIndex&quot;:5,&quot;transparency&quot;:0.75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9,10,9,10,9,10]}"/>
</p:tagLst>
</file>

<file path=ppt/tags/tag154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o1-1"/>
  <p:tag name="KSO_WM_UNIT_TYPE" val="o_h_i"/>
  <p:tag name="KSO_WM_UNIT_INDEX" val="1_1_1"/>
  <p:tag name="KSO_WM_UNIT_ID" val="diagram20234924_3*o_h_i*1_1_1"/>
  <p:tag name="KSO_WM_TEMPLATE_CATEGORY" val="diagram"/>
  <p:tag name="KSO_WM_TEMPLATE_INDEX" val="20234924"/>
  <p:tag name="KSO_WM_UNIT_LAYERLEVEL" val="1_1_1"/>
  <p:tag name="KSO_WM_TAG_VERSION" val="3.0"/>
  <p:tag name="KSO_WM_DIAGRAM_MAX_ITEMCNT" val="5"/>
  <p:tag name="KSO_WM_DIAGRAM_MIN_ITEMCNT" val="2"/>
  <p:tag name="KSO_WM_DIAGRAM_VIRTUALLY_FRAME" val="{&quot;height&quot;:245.3810307076132,&quot;left&quot;:77.44998779296874,&quot;top&quot;:227.84258989785553,&quot;width&quot;:367.9000244140625}"/>
  <p:tag name="KSO_WM_DIAGRAM_COLOR_MATCH_VALUE" val="{&quot;shape&quot;:{&quot;fill&quot;:{&quot;gradient&quot;:[{&quot;brightness&quot;:0.800000011920929,&quot;colorType&quot;:1,&quot;foreColorIndex&quot;:5,&quot;pos&quot;:0,&quot;transparency&quot;:0},{&quot;brightness&quot;:0.6000000238418579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9,10,9,10,9,10]}"/>
</p:tagLst>
</file>

<file path=ppt/tags/tag155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o1-1"/>
  <p:tag name="KSO_WM_UNIT_TYPE" val="o_h_i"/>
  <p:tag name="KSO_WM_UNIT_INDEX" val="1_1_3"/>
  <p:tag name="KSO_WM_UNIT_ID" val="diagram20234924_3*o_h_i*1_1_3"/>
  <p:tag name="KSO_WM_TEMPLATE_CATEGORY" val="diagram"/>
  <p:tag name="KSO_WM_TEMPLATE_INDEX" val="20234924"/>
  <p:tag name="KSO_WM_UNIT_LAYERLEVEL" val="1_1_1"/>
  <p:tag name="KSO_WM_TAG_VERSION" val="3.0"/>
  <p:tag name="KSO_WM_DIAGRAM_MAX_ITEMCNT" val="5"/>
  <p:tag name="KSO_WM_DIAGRAM_MIN_ITEMCNT" val="2"/>
  <p:tag name="KSO_WM_DIAGRAM_VIRTUALLY_FRAME" val="{&quot;height&quot;:245.3810307076132,&quot;left&quot;:77.44998779296874,&quot;top&quot;:227.84258989785553,&quot;width&quot;:367.9000244140625}"/>
  <p:tag name="KSO_WM_DIAGRAM_COLOR_MATCH_VALUE" val="{&quot;shape&quot;:{&quot;fill&quot;:{&quot;gradient&quot;:[{&quot;brightness&quot;:0.800000011920929,&quot;colorType&quot;:1,&quot;foreColorIndex&quot;:5,&quot;pos&quot;:0,&quot;transparency&quot;:0},{&quot;brightness&quot;:0.6000000238418579,&quot;colorType&quot;:1,&quot;foreColorIndex&quot;:5,&quot;pos&quot;:1,&quot;transparency&quot;:0}],&quot;type&quot;:3},&quot;glow&quot;:{&quot;colorType&quot;:0},&quot;line&quot;:{&quot;type&quot;:0},&quot;shadow&quot;:{&quot;brightness&quot;:-0.5,&quot;colorType&quot;:1,&quot;foreColorIndex&quot;:6,&quot;transparency&quot;:0.8199999928474426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9,10,9,10,9,10]}"/>
</p:tagLst>
</file>

<file path=ppt/tags/tag156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o1-1"/>
  <p:tag name="KSO_WM_UNIT_TYPE" val="o_h_a"/>
  <p:tag name="KSO_WM_UNIT_INDEX" val="1_1_1"/>
  <p:tag name="KSO_WM_UNIT_ID" val="diagram20234922_3*o_h_a*1_1_1"/>
  <p:tag name="KSO_WM_TEMPLATE_CATEGORY" val="diagram"/>
  <p:tag name="KSO_WM_TEMPLATE_INDEX" val="20234922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239.6596062992126,&quot;left&quot;:75.09999999999994,&quot;top&quot;:225.5903937007874,&quot;width&quot;:426.7205511811024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.4000000059604645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1"/>
  <p:tag name="KSO_WM_UNIT_TEXT_FILL_FORE_SCHEMECOLOR_INDEX" val="1"/>
  <p:tag name="KSO_WM_UNIT_TEXT_FILL_TYPE" val="1"/>
  <p:tag name="KSO_WM_UNIT_PRESET_TEXT" val="添加标题"/>
  <p:tag name="KSO_WM_UNIT_TEXT_TYPE" val="1"/>
  <p:tag name="KSO_WM_DIAGRAM_USE_COLOR_VALUE" val="{&quot;color_scheme&quot;:1,&quot;color_type&quot;:1,&quot;theme_color_indexes&quot;:[9,10,9,10,9,10]}"/>
</p:tagLst>
</file>

<file path=ppt/tags/tag157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o1-1"/>
  <p:tag name="KSO_WM_UNIT_TYPE" val="o_h_a"/>
  <p:tag name="KSO_WM_UNIT_INDEX" val="1_1_1"/>
  <p:tag name="KSO_WM_UNIT_ID" val="diagram20234922_3*o_h_a*1_1_1"/>
  <p:tag name="KSO_WM_TEMPLATE_CATEGORY" val="diagram"/>
  <p:tag name="KSO_WM_TEMPLATE_INDEX" val="20234922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239.6596062992126,&quot;left&quot;:75.09999999999994,&quot;top&quot;:225.5903937007874,&quot;width&quot;:426.7205511811024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.4000000059604645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1"/>
  <p:tag name="KSO_WM_UNIT_TEXT_FILL_FORE_SCHEMECOLOR_INDEX" val="1"/>
  <p:tag name="KSO_WM_UNIT_TEXT_FILL_TYPE" val="1"/>
  <p:tag name="KSO_WM_UNIT_PRESET_TEXT" val="添加标题"/>
  <p:tag name="KSO_WM_UNIT_TEXT_TYPE" val="1"/>
  <p:tag name="KSO_WM_DIAGRAM_USE_COLOR_VALUE" val="{&quot;color_scheme&quot;:1,&quot;color_type&quot;:1,&quot;theme_color_indexes&quot;:[9,10,9,10,9,10]}"/>
</p:tagLst>
</file>

<file path=ppt/tags/tag158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o1-1"/>
  <p:tag name="KSO_WM_UNIT_TYPE" val="o_h_a"/>
  <p:tag name="KSO_WM_UNIT_INDEX" val="1_1_1"/>
  <p:tag name="KSO_WM_UNIT_ID" val="diagram20234922_3*o_h_a*1_1_1"/>
  <p:tag name="KSO_WM_TEMPLATE_CATEGORY" val="diagram"/>
  <p:tag name="KSO_WM_TEMPLATE_INDEX" val="20234922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239.6596062992126,&quot;left&quot;:75.09999999999994,&quot;top&quot;:225.5903937007874,&quot;width&quot;:426.7205511811024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.4000000059604645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1"/>
  <p:tag name="KSO_WM_UNIT_TEXT_FILL_FORE_SCHEMECOLOR_INDEX" val="1"/>
  <p:tag name="KSO_WM_UNIT_TEXT_FILL_TYPE" val="1"/>
  <p:tag name="KSO_WM_UNIT_PRESET_TEXT" val="添加标题"/>
  <p:tag name="KSO_WM_UNIT_TEXT_TYPE" val="1"/>
  <p:tag name="KSO_WM_DIAGRAM_USE_COLOR_VALUE" val="{&quot;color_scheme&quot;:1,&quot;color_type&quot;:1,&quot;theme_color_indexes&quot;:[9,10,9,10,9,10]}"/>
</p:tagLst>
</file>

<file path=ppt/tags/tag15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o1-1"/>
  <p:tag name="KSO_WM_UNIT_TYPE" val="o_h_a"/>
  <p:tag name="KSO_WM_UNIT_INDEX" val="1_1_1"/>
  <p:tag name="KSO_WM_UNIT_ID" val="diagram20234922_3*o_h_a*1_1_1"/>
  <p:tag name="KSO_WM_TEMPLATE_CATEGORY" val="diagram"/>
  <p:tag name="KSO_WM_TEMPLATE_INDEX" val="20234922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239.6596062992126,&quot;left&quot;:75.09999999999994,&quot;top&quot;:225.5903937007874,&quot;width&quot;:426.7205511811024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.4000000059604645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1"/>
  <p:tag name="KSO_WM_UNIT_TEXT_FILL_FORE_SCHEMECOLOR_INDEX" val="1"/>
  <p:tag name="KSO_WM_UNIT_TEXT_FILL_TYPE" val="1"/>
  <p:tag name="KSO_WM_UNIT_PRESET_TEXT" val="添加标题"/>
  <p:tag name="KSO_WM_UNIT_TEXT_TYPE" val="1"/>
  <p:tag name="KSO_WM_DIAGRAM_USE_COLOR_VALUE" val="{&quot;color_scheme&quot;:1,&quot;color_type&quot;:1,&quot;theme_color_indexes&quot;:[9,10,9,10,9,10]}"/>
</p:tagLst>
</file>

<file path=ppt/tags/tag160.xml><?xml version="1.0" encoding="utf-8"?>
<p:tagLst xmlns:p="http://schemas.openxmlformats.org/presentationml/2006/main">
  <p:tag name="KSO_WM_SLIDE_ITEM_CNT" val="3"/>
  <p:tag name="resource_record_key" val="{&quot;70&quot;:[3429242]}"/>
</p:tagLst>
</file>

<file path=ppt/tags/tag161.xml><?xml version="1.0" encoding="utf-8"?>
<p:tagLst xmlns:p="http://schemas.openxmlformats.org/presentationml/2006/main">
  <p:tag name="KSO_WM_BEAUTIFY_FLAG" val=""/>
</p:tagLst>
</file>

<file path=ppt/tags/tag162.xml><?xml version="1.0" encoding="utf-8"?>
<p:tagLst xmlns:p="http://schemas.openxmlformats.org/presentationml/2006/main">
  <p:tag name="KSO_WM_BEAUTIFY_FLAG" val=""/>
</p:tagLst>
</file>

<file path=ppt/tags/tag163.xml><?xml version="1.0" encoding="utf-8"?>
<p:tagLst xmlns:p="http://schemas.openxmlformats.org/presentationml/2006/main">
  <p:tag name="KSO_WM_BEAUTIFY_FLAG" val=""/>
</p:tagLst>
</file>

<file path=ppt/tags/tag164.xml><?xml version="1.0" encoding="utf-8"?>
<p:tagLst xmlns:p="http://schemas.openxmlformats.org/presentationml/2006/main">
  <p:tag name="KSO_WM_BEAUTIFY_FLAG" val=""/>
</p:tagLst>
</file>

<file path=ppt/tags/tag165.xml><?xml version="1.0" encoding="utf-8"?>
<p:tagLst xmlns:p="http://schemas.openxmlformats.org/presentationml/2006/main">
  <p:tag name="KSO_WM_SLIDE_ITEM_CNT" val="3"/>
  <p:tag name="resource_record_key" val="{&quot;70&quot;:[3429242]}"/>
</p:tagLst>
</file>

<file path=ppt/tags/tag166.xml><?xml version="1.0" encoding="utf-8"?>
<p:tagLst xmlns:p="http://schemas.openxmlformats.org/presentationml/2006/main">
  <p:tag name="KSO_WM_BEAUTIFY_FLAG" val=""/>
</p:tagLst>
</file>

<file path=ppt/tags/tag167.xml><?xml version="1.0" encoding="utf-8"?>
<p:tagLst xmlns:p="http://schemas.openxmlformats.org/presentationml/2006/main">
  <p:tag name="KSO_WM_BEAUTIFY_FLAG" val=""/>
</p:tagLst>
</file>

<file path=ppt/tags/tag1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39_1*l_i*1_1"/>
  <p:tag name="KSO_WM_TEMPLATE_CATEGORY" val="diagram"/>
  <p:tag name="KSO_WM_TEMPLATE_INDEX" val="20231439"/>
  <p:tag name="KSO_WM_UNIT_LAYERLEVEL" val="1_1"/>
  <p:tag name="KSO_WM_TAG_VERSION" val="3.0"/>
  <p:tag name="KSO_WM_DIAGRAM_GROUP_CODE" val="l1-1"/>
  <p:tag name="KSO_WM_UNIT_TYPE" val="l_i"/>
  <p:tag name="KSO_WM_UNIT_INDEX" val="1_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gradient&quot;:[{&quot;brightness&quot;:0,&quot;colorType&quot;:1,&quot;foreColorIndex&quot;:5,&quot;pos&quot;:0,&quot;transparency&quot;:1},{&quot;brightness&quot;:0,&quot;colorType&quot;:1,&quot;foreColorIndex&quot;:5,&quot;pos&quot;:1,&quot;transparency&quot;:0.6700000166893005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4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9,10,9,10,9,10]}"/>
</p:tagLst>
</file>

<file path=ppt/tags/tag1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39_1*l_i*1_2"/>
  <p:tag name="KSO_WM_TEMPLATE_CATEGORY" val="diagram"/>
  <p:tag name="KSO_WM_TEMPLATE_INDEX" val="20231439"/>
  <p:tag name="KSO_WM_UNIT_LAYERLEVEL" val="1_1"/>
  <p:tag name="KSO_WM_TAG_VERSION" val="3.0"/>
  <p:tag name="KSO_WM_DIAGRAM_GROUP_CODE" val="l1-1"/>
  <p:tag name="KSO_WM_UNIT_TYPE" val="l_i"/>
  <p:tag name="KSO_WM_UNIT_INDEX" val="1_2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gradient&quot;:[{&quot;brightness&quot;:0,&quot;colorType&quot;:1,&quot;foreColorIndex&quot;:5,&quot;pos&quot;:0.10000000149011612,&quot;transparency&quot;:1},{&quot;brightness&quot;:0,&quot;colorType&quot;:1,&quot;foreColorIndex&quot;:5,&quot;pos&quot;:1,&quot;transparency&quot;:0.8799999952316284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4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9,10,9,10,9,10]}"/>
</p:tagLst>
</file>

<file path=ppt/tags/tag1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39_1*l_i*1_3"/>
  <p:tag name="KSO_WM_TEMPLATE_CATEGORY" val="diagram"/>
  <p:tag name="KSO_WM_TEMPLATE_INDEX" val="20231439"/>
  <p:tag name="KSO_WM_UNIT_LAYERLEVEL" val="1_1"/>
  <p:tag name="KSO_WM_TAG_VERSION" val="3.0"/>
  <p:tag name="KSO_WM_DIAGRAM_GROUP_CODE" val="l1-1"/>
  <p:tag name="KSO_WM_UNIT_TYPE" val="l_i"/>
  <p:tag name="KSO_WM_UNIT_INDEX" val="1_3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,&quot;transparency&quot;:1},{&quot;brightness&quot;:0,&quot;colorType&quot;:1,&quot;foreColorIndex&quot;:5,&quot;pos&quot;:0.5,&quot;transparency&quot;:0.6000000238418579},{&quot;brightness&quot;:0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DIAGRAM_USE_COLOR_VALUE" val="{&quot;color_scheme&quot;:1,&quot;color_type&quot;:1,&quot;theme_color_indexes&quot;:[9,10,9,10,9,10]}"/>
</p:tagLst>
</file>

<file path=ppt/tags/tag1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39_1*l_i*1_4"/>
  <p:tag name="KSO_WM_TEMPLATE_CATEGORY" val="diagram"/>
  <p:tag name="KSO_WM_TEMPLATE_INDEX" val="20231439"/>
  <p:tag name="KSO_WM_UNIT_LAYERLEVEL" val="1_1"/>
  <p:tag name="KSO_WM_TAG_VERSION" val="3.0"/>
  <p:tag name="KSO_WM_DIAGRAM_GROUP_CODE" val="l1-1"/>
  <p:tag name="KSO_WM_UNIT_TYPE" val="l_i"/>
  <p:tag name="KSO_WM_UNIT_INDEX" val="1_4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gradient&quot;:[{&quot;brightness&quot;:0.4000000059604645,&quot;colorType&quot;:1,&quot;foreColorIndex&quot;:5,&quot;pos&quot;:1,&quot;transparency&quot;:1},{&quot;brightness&quot;:0,&quot;colorType&quot;:1,&quot;foreColorIndex&quot;:5,&quot;pos&quot;:0,&quot;transparency&quot;:0.75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9,10,9,10,9,10]}"/>
</p:tagLst>
</file>

<file path=ppt/tags/tag1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39_1*l_i*1_5"/>
  <p:tag name="KSO_WM_TEMPLATE_CATEGORY" val="diagram"/>
  <p:tag name="KSO_WM_TEMPLATE_INDEX" val="20231439"/>
  <p:tag name="KSO_WM_UNIT_LAYERLEVEL" val="1_1"/>
  <p:tag name="KSO_WM_TAG_VERSION" val="3.0"/>
  <p:tag name="KSO_WM_DIAGRAM_GROUP_CODE" val="l1-1"/>
  <p:tag name="KSO_WM_UNIT_TYPE" val="l_i"/>
  <p:tag name="KSO_WM_UNIT_INDEX" val="1_5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gradient&quot;:[{&quot;brightness&quot;:0.4000000059604645,&quot;colorType&quot;:1,&quot;foreColorIndex&quot;:5,&quot;pos&quot;:1,&quot;transparency&quot;:1},{&quot;brightness&quot;:0,&quot;colorType&quot;:1,&quot;foreColorIndex&quot;:5,&quot;pos&quot;:0,&quot;transparency&quot;:0.75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9,10,9,10,9,10]}"/>
</p:tagLst>
</file>

<file path=ppt/tags/tag1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39_1*l_i*1_6"/>
  <p:tag name="KSO_WM_TEMPLATE_CATEGORY" val="diagram"/>
  <p:tag name="KSO_WM_TEMPLATE_INDEX" val="20231439"/>
  <p:tag name="KSO_WM_UNIT_LAYERLEVEL" val="1_1"/>
  <p:tag name="KSO_WM_TAG_VERSION" val="3.0"/>
  <p:tag name="KSO_WM_DIAGRAM_GROUP_CODE" val="l1-1"/>
  <p:tag name="KSO_WM_UNIT_TYPE" val="l_i"/>
  <p:tag name="KSO_WM_UNIT_INDEX" val="1_6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gradient&quot;:[{&quot;brightness&quot;:0.4000000059604645,&quot;colorType&quot;:1,&quot;foreColorIndex&quot;:5,&quot;pos&quot;:1,&quot;transparency&quot;:1},{&quot;brightness&quot;:0,&quot;colorType&quot;:1,&quot;foreColorIndex&quot;:5,&quot;pos&quot;:0,&quot;transparency&quot;:0.75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9,10,9,10,9,10]}"/>
</p:tagLst>
</file>

<file path=ppt/tags/tag1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39_1*l_i*1_7"/>
  <p:tag name="KSO_WM_TEMPLATE_CATEGORY" val="diagram"/>
  <p:tag name="KSO_WM_TEMPLATE_INDEX" val="20231439"/>
  <p:tag name="KSO_WM_UNIT_LAYERLEVEL" val="1_1"/>
  <p:tag name="KSO_WM_TAG_VERSION" val="3.0"/>
  <p:tag name="KSO_WM_DIAGRAM_GROUP_CODE" val="l1-1"/>
  <p:tag name="KSO_WM_UNIT_TYPE" val="l_i"/>
  <p:tag name="KSO_WM_UNIT_INDEX" val="1_7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gradient&quot;:[{&quot;brightness&quot;:0.4000000059604645,&quot;colorType&quot;:1,&quot;foreColorIndex&quot;:5,&quot;pos&quot;:1,&quot;transparency&quot;:1},{&quot;brightness&quot;:0,&quot;colorType&quot;:1,&quot;foreColorIndex&quot;:5,&quot;pos&quot;:0,&quot;transparency&quot;:0.75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9,10,9,10,9,10]}"/>
</p:tagLst>
</file>

<file path=ppt/tags/tag1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39_1*l_i*1_8"/>
  <p:tag name="KSO_WM_TEMPLATE_CATEGORY" val="diagram"/>
  <p:tag name="KSO_WM_TEMPLATE_INDEX" val="20231439"/>
  <p:tag name="KSO_WM_UNIT_LAYERLEVEL" val="1_1"/>
  <p:tag name="KSO_WM_TAG_VERSION" val="3.0"/>
  <p:tag name="KSO_WM_DIAGRAM_GROUP_CODE" val="l1-1"/>
  <p:tag name="KSO_WM_UNIT_TYPE" val="l_i"/>
  <p:tag name="KSO_WM_UNIT_INDEX" val="1_8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gradient&quot;:[{&quot;brightness&quot;:0.4000000059604645,&quot;colorType&quot;:1,&quot;foreColorIndex&quot;:5,&quot;pos&quot;:1,&quot;transparency&quot;:1},{&quot;brightness&quot;:0,&quot;colorType&quot;:1,&quot;foreColorIndex&quot;:5,&quot;pos&quot;:0,&quot;transparency&quot;:0.8500000238418579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9,10,9,10,9,10]}"/>
</p:tagLst>
</file>

<file path=ppt/tags/tag1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39_1*l_i*1_9"/>
  <p:tag name="KSO_WM_TEMPLATE_CATEGORY" val="diagram"/>
  <p:tag name="KSO_WM_TEMPLATE_INDEX" val="20231439"/>
  <p:tag name="KSO_WM_UNIT_LAYERLEVEL" val="1_1"/>
  <p:tag name="KSO_WM_TAG_VERSION" val="3.0"/>
  <p:tag name="KSO_WM_DIAGRAM_GROUP_CODE" val="l1-1"/>
  <p:tag name="KSO_WM_UNIT_TYPE" val="l_i"/>
  <p:tag name="KSO_WM_UNIT_INDEX" val="1_9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gradient&quot;:[{&quot;brightness&quot;:0.4000000059604645,&quot;colorType&quot;:1,&quot;foreColorIndex&quot;:5,&quot;pos&quot;:1,&quot;transparency&quot;:1},{&quot;brightness&quot;:0,&quot;colorType&quot;:1,&quot;foreColorIndex&quot;:5,&quot;pos&quot;:0,&quot;transparency&quot;:0.8500000238418579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9,10,9,10,9,10]}"/>
</p:tagLst>
</file>

<file path=ppt/tags/tag1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39_1*l_i*1_10"/>
  <p:tag name="KSO_WM_TEMPLATE_CATEGORY" val="diagram"/>
  <p:tag name="KSO_WM_TEMPLATE_INDEX" val="20231439"/>
  <p:tag name="KSO_WM_UNIT_LAYERLEVEL" val="1_1"/>
  <p:tag name="KSO_WM_TAG_VERSION" val="3.0"/>
  <p:tag name="KSO_WM_DIAGRAM_GROUP_CODE" val="l1-1"/>
  <p:tag name="KSO_WM_UNIT_TYPE" val="l_i"/>
  <p:tag name="KSO_WM_UNIT_INDEX" val="1_10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gradient&quot;:[{&quot;brightness&quot;:0.4000000059604645,&quot;colorType&quot;:1,&quot;foreColorIndex&quot;:5,&quot;pos&quot;:1,&quot;transparency&quot;:1},{&quot;brightness&quot;:0,&quot;colorType&quot;:1,&quot;foreColorIndex&quot;:5,&quot;pos&quot;:0,&quot;transparency&quot;:0.8999999761581421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9,10,9,10,9,10]}"/>
</p:tagLst>
</file>

<file path=ppt/tags/tag1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39_1*l_i*1_13"/>
  <p:tag name="KSO_WM_TEMPLATE_CATEGORY" val="diagram"/>
  <p:tag name="KSO_WM_TEMPLATE_INDEX" val="20231439"/>
  <p:tag name="KSO_WM_UNIT_LAYERLEVEL" val="1_1"/>
  <p:tag name="KSO_WM_TAG_VERSION" val="3.0"/>
  <p:tag name="KSO_WM_DIAGRAM_GROUP_CODE" val="l1-1"/>
  <p:tag name="KSO_WM_UNIT_TYPE" val="l_i"/>
  <p:tag name="KSO_WM_UNIT_INDEX" val="1_13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,&quot;transparency&quot;:1},{&quot;brightness&quot;:0,&quot;colorType&quot;:1,&quot;foreColorIndex&quot;:5,&quot;pos&quot;:0.5,&quot;transparency&quot;:0.6000000238418579},{&quot;brightness&quot;:0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DIAGRAM_USE_COLOR_VALUE" val="{&quot;color_scheme&quot;:1,&quot;color_type&quot;:1,&quot;theme_color_indexes&quot;:[9,10,9,10,9,10]}"/>
</p:tagLst>
</file>

<file path=ppt/tags/tag179.xml><?xml version="1.0" encoding="utf-8"?>
<p:tagLst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1_1"/>
  <p:tag name="KSO_WM_UNIT_ID" val="diagram20231439_1*l_h_f*1_1_1"/>
  <p:tag name="KSO_WM_TEMPLATE_CATEGORY" val="diagram"/>
  <p:tag name="KSO_WM_TEMPLATE_INDEX" val="20231439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UNIT_VALUE" val="42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UNIT_PRESET_TEXT" val="单击此处添加正文文本具体内容文字是您思想的提炼，请尽量言简意赅的阐述您的内容观点。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180.xml><?xml version="1.0" encoding="utf-8"?>
<p:tagLst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2_1"/>
  <p:tag name="KSO_WM_UNIT_ID" val="diagram20231439_1*l_h_f*1_2_1"/>
  <p:tag name="KSO_WM_TEMPLATE_CATEGORY" val="diagram"/>
  <p:tag name="KSO_WM_TEMPLATE_INDEX" val="20231439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UNIT_VALUE" val="42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UNIT_PRESET_TEXT" val="单击此处添加正文具体内容，文字是您思想的提炼，请言简意赅的阐述您的观点。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1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1"/>
  <p:tag name="KSO_WM_UNIT_ID" val="diagram20231439_1*l_h_i*1_1_1"/>
  <p:tag name="KSO_WM_TEMPLATE_CATEGORY" val="diagram"/>
  <p:tag name="KSO_WM_TEMPLATE_INDEX" val="20231439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gradient&quot;:[{&quot;brightness&quot;:-0.25,&quot;colorType&quot;:1,&quot;foreColorIndex&quot;:5,&quot;pos&quot;:0.9930099844932556,&quot;transparency&quot;:0},{&quot;brightness&quot;:0.4000000059604645,&quot;colorType&quot;:1,&quot;foreColorIndex&quot;:5,&quot;pos&quot;:0,&quot;transparency&quot;:0},{&quot;brightness&quot;:0,&quot;colorType&quot;:1,&quot;foreColorIndex&quot;:5,&quot;pos&quot;:0.6800000071525574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9,10,9,10,9,10]}"/>
</p:tagLst>
</file>

<file path=ppt/tags/tag1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1"/>
  <p:tag name="KSO_WM_UNIT_ID" val="diagram20231439_1*l_h_i*1_2_1"/>
  <p:tag name="KSO_WM_TEMPLATE_CATEGORY" val="diagram"/>
  <p:tag name="KSO_WM_TEMPLATE_INDEX" val="20231439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gradient&quot;:[{&quot;brightness&quot;:-0.25,&quot;colorType&quot;:1,&quot;foreColorIndex&quot;:5,&quot;pos&quot;:0.9930099844932556,&quot;transparency&quot;:0},{&quot;brightness&quot;:0.4000000059604645,&quot;colorType&quot;:1,&quot;foreColorIndex&quot;:5,&quot;pos&quot;:0,&quot;transparency&quot;:0},{&quot;brightness&quot;:0,&quot;colorType&quot;:1,&quot;foreColorIndex&quot;:5,&quot;pos&quot;:0.6800000071525574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9,10,9,10,9,10]}"/>
</p:tagLst>
</file>

<file path=ppt/tags/tag18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8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a"/>
  <p:tag name="KSO_WM_UNIT_INDEX" val="1_1_1"/>
  <p:tag name="KSO_WM_UNIT_ID" val="diagram20235023_1*n_h_a*1_1_1"/>
  <p:tag name="KSO_WM_TEMPLATE_CATEGORY" val="diagram"/>
  <p:tag name="KSO_WM_TEMPLATE_INDEX" val="20235023"/>
  <p:tag name="KSO_WM_UNIT_LAYERLEVEL" val="1_1_1"/>
  <p:tag name="KSO_WM_TAG_VERSION" val="3.0"/>
  <p:tag name="KSO_WM_DIAGRAM_MAX_ITEMCNT" val="5"/>
  <p:tag name="KSO_WM_DIAGRAM_MIN_ITEMCNT" val="3"/>
  <p:tag name="KSO_WM_DIAGRAM_VIRTUALLY_FRAME" val="{&quot;height&quot;:389.1749969482422,&quot;left&quot;:51.67501220703125,&quot;top&quot;:94,&quot;width&quot;:851.350027163047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TEXT_TYPE" val="1"/>
  <p:tag name="KSO_WM_UNIT_PRESET_TEXT" val="单击此处添加你的标题具体内容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184.xml><?xml version="1.0" encoding="utf-8"?>
<p:tagLst xmlns:p="http://schemas.openxmlformats.org/presentationml/2006/main">
  <p:tag name="TABLE_ENDDRAG_ORIGIN_RECT" val="249*143"/>
  <p:tag name="TABLE_ENDDRAG_RECT" val="50*226*249*143"/>
</p:tagLst>
</file>

<file path=ppt/tags/tag185.xml><?xml version="1.0" encoding="utf-8"?>
<p:tagLst xmlns:p="http://schemas.openxmlformats.org/presentationml/2006/main">
  <p:tag name="TABLE_ENDDRAG_ORIGIN_RECT" val="249*143"/>
  <p:tag name="TABLE_ENDDRAG_RECT" val="50*226*249*143"/>
</p:tagLst>
</file>

<file path=ppt/tags/tag1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2_1_3"/>
  <p:tag name="KSO_WM_UNIT_ID" val="diagram20235023_1*n_h_i*2_1_3"/>
  <p:tag name="KSO_WM_TEMPLATE_CATEGORY" val="diagram"/>
  <p:tag name="KSO_WM_TEMPLATE_INDEX" val="20235023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5"/>
  <p:tag name="KSO_WM_DIAGRAM_MIN_ITEMCNT" val="3"/>
  <p:tag name="KSO_WM_DIAGRAM_VIRTUALLY_FRAME" val="{&quot;height&quot;:117.10007874015756,&quot;left&quot;:47.97501220703125,&quot;top&quot;:404.55,&quot;width&quot;:851.3500271630476}"/>
  <p:tag name="KSO_WM_DIAGRAM_COLOR_MATCH_VALUE" val="{&quot;shape&quot;:{&quot;fill&quot;:{&quot;gradient&quot;:[{&quot;brightness&quot;:0,&quot;colorType&quot;:1,&quot;foreColorIndex&quot;:5,&quot;pos&quot;:0,&quot;transparency&quot;:1},{&quot;brightness&quot;:0,&quot;colorType&quot;:1,&quot;foreColorIndex&quot;:5,&quot;pos&quot;:1,&quot;transparency&quot;:0.6000000238418579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9,10,9,10,9,10]}"/>
</p:tagLst>
</file>

<file path=ppt/tags/tag187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8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a"/>
  <p:tag name="KSO_WM_UNIT_INDEX" val="2_1_1"/>
  <p:tag name="KSO_WM_UNIT_ID" val="diagram20235023_1*n_h_a*2_1_1"/>
  <p:tag name="KSO_WM_TEMPLATE_CATEGORY" val="diagram"/>
  <p:tag name="KSO_WM_TEMPLATE_INDEX" val="20235023"/>
  <p:tag name="KSO_WM_UNIT_LAYERLEVEL" val="1_1_1"/>
  <p:tag name="KSO_WM_TAG_VERSION" val="3.0"/>
  <p:tag name="KSO_WM_DIAGRAM_MAX_ITEMCNT" val="5"/>
  <p:tag name="KSO_WM_DIAGRAM_MIN_ITEMCNT" val="3"/>
  <p:tag name="KSO_WM_DIAGRAM_VIRTUALLY_FRAME" val="{&quot;height&quot;:117.10007874015756,&quot;left&quot;:47.97501220703125,&quot;top&quot;:404.55,&quot;width&quot;:851.350027163047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BEAUTIFY_FLAG" val="#wm#"/>
  <p:tag name="KSO_WM_UNIT_TEXT_TYPE" val="1"/>
  <p:tag name="KSO_WM_UNIT_PRESET_TEXT" val="单击此处添加你的标题具体内容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1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2_1_4"/>
  <p:tag name="KSO_WM_UNIT_ID" val="diagram20235023_1*n_h_i*2_1_4"/>
  <p:tag name="KSO_WM_TEMPLATE_CATEGORY" val="diagram"/>
  <p:tag name="KSO_WM_TEMPLATE_INDEX" val="20235023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5"/>
  <p:tag name="KSO_WM_DIAGRAM_MIN_ITEMCNT" val="3"/>
  <p:tag name="KSO_WM_DIAGRAM_VIRTUALLY_FRAME" val="{&quot;height&quot;:117.10007874015756,&quot;left&quot;:47.97501220703125,&quot;top&quot;:404.55,&quot;width&quot;:851.3500271630476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,&quot;transparency&quot;:1},{&quot;brightness&quot;:0,&quot;colorType&quot;:1,&quot;foreColorIndex&quot;:5,&quot;pos&quot;:1,&quot;transparency&quot;:0.44999998807907104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DIAGRAM_USE_COLOR_VALUE" val="{&quot;color_scheme&quot;:1,&quot;color_type&quot;:1,&quot;theme_color_indexes&quot;:[9,10,9,10,9,10]}"/>
</p:tagLst>
</file>

<file path=ppt/tags/tag1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2_1_1"/>
  <p:tag name="KSO_WM_UNIT_ID" val="diagram20235023_1*n_h_i*2_1_1"/>
  <p:tag name="KSO_WM_TEMPLATE_CATEGORY" val="diagram"/>
  <p:tag name="KSO_WM_TEMPLATE_INDEX" val="20235023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5"/>
  <p:tag name="KSO_WM_DIAGRAM_MIN_ITEMCNT" val="3"/>
  <p:tag name="KSO_WM_DIAGRAM_VIRTUALLY_FRAME" val="{&quot;height&quot;:117.10007874015756,&quot;left&quot;:47.97501220703125,&quot;top&quot;:404.55,&quot;width&quot;:851.3500271630476}"/>
  <p:tag name="KSO_WM_DIAGRAM_COLOR_MATCH_VALUE" val="{&quot;shape&quot;:{&quot;fill&quot;:{&quot;gradient&quot;:[{&quot;brightness&quot;:0,&quot;colorType&quot;:1,&quot;foreColorIndex&quot;:5,&quot;pos&quot;:0.11999999731779099,&quot;transparency&quot;:1},{&quot;brightness&quot;:0,&quot;colorType&quot;:1,&quot;foreColorIndex&quot;:5,&quot;pos&quot;:1,&quot;transparency&quot;:0.5099999904632568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9,10,9,10,9,10]}"/>
</p:tagLst>
</file>

<file path=ppt/tags/tag1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2_1_2"/>
  <p:tag name="KSO_WM_UNIT_ID" val="diagram20235023_1*n_h_i*2_1_2"/>
  <p:tag name="KSO_WM_TEMPLATE_CATEGORY" val="diagram"/>
  <p:tag name="KSO_WM_TEMPLATE_INDEX" val="20235023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5"/>
  <p:tag name="KSO_WM_DIAGRAM_MIN_ITEMCNT" val="3"/>
  <p:tag name="KSO_WM_DIAGRAM_VIRTUALLY_FRAME" val="{&quot;height&quot;:117.10007874015756,&quot;left&quot;:47.97501220703125,&quot;top&quot;:404.55,&quot;width&quot;:851.3500271630476}"/>
  <p:tag name="KSO_WM_DIAGRAM_COLOR_MATCH_VALUE" val="{&quot;shape&quot;:{&quot;fill&quot;:{&quot;gradient&quot;:[{&quot;brightness&quot;:0.4000000059604645,&quot;colorType&quot;:1,&quot;foreColorIndex&quot;:5,&quot;pos&quot;:0.11999999731779099,&quot;transparency&quot;:1},{&quot;brightness&quot;:0,&quot;colorType&quot;:1,&quot;foreColorIndex&quot;:5,&quot;pos&quot;:1,&quot;transparency&quot;:0.5099999904632568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1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2_1_5"/>
  <p:tag name="KSO_WM_UNIT_ID" val="diagram20235023_1*n_h_i*2_1_5"/>
  <p:tag name="KSO_WM_TEMPLATE_CATEGORY" val="diagram"/>
  <p:tag name="KSO_WM_TEMPLATE_INDEX" val="20235023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5"/>
  <p:tag name="KSO_WM_DIAGRAM_MIN_ITEMCNT" val="3"/>
  <p:tag name="KSO_WM_DIAGRAM_VIRTUALLY_FRAME" val="{&quot;height&quot;:117.10007874015756,&quot;left&quot;:47.97501220703125,&quot;top&quot;:404.55,&quot;width&quot;:851.3500271630476}"/>
  <p:tag name="KSO_WM_DIAGRAM_COLOR_MATCH_VALUE" val="{&quot;shape&quot;:{&quot;fill&quot;:{&quot;type&quot;:0},&quot;glow&quot;:{&quot;colorType&quot;:0},&quot;line&quot;:{&quot;gradient&quot;:[{&quot;brightness&quot;:0,&quot;colorType&quot;:2,&quot;pos&quot;:0.6600000262260437,&quot;rgb&quot;:&quot;#376fff&quot;,&quot;transparency&quot;:1},{&quot;brightness&quot;:0,&quot;colorType&quot;:1,&quot;foreColorIndex&quot;:5,&quot;pos&quot;:0.14000000059604645,&quot;transparency&quot;:1},{&quot;brightness&quot;:0,&quot;colorType&quot;:2,&quot;pos&quot;:0,&quot;rgb&quot;:&quot;#376fff&quot;,&quot;transparency&quot;:0.8399999737739563},{&quot;brightness&quot;:0,&quot;colorType&quot;:1,&quot;foreColorIndex&quot;:5,&quot;pos&quot;:1,&quot;transparency&quot;:0.800000011920929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DIAGRAM_USE_COLOR_VALUE" val="{&quot;color_scheme&quot;:1,&quot;color_type&quot;:1,&quot;theme_color_indexes&quot;:[9,10,9,10,9,10]}"/>
</p:tagLst>
</file>

<file path=ppt/tags/tag192.xml><?xml version="1.0" encoding="utf-8"?>
<p:tagLst xmlns:p="http://schemas.openxmlformats.org/presentationml/2006/main">
  <p:tag name="KSO_WM_SLIDE_ITEM_CNT" val="3"/>
  <p:tag name="resource_record_key" val="{&quot;10&quot;:[3505430,50036384,3504219,4526305],&quot;29&quot;:[50053024,50052948,50052445,50000144],&quot;70&quot;:[3405561,3319090,3312439,3318441,3431215,3332761,3318307]}"/>
</p:tagLst>
</file>

<file path=ppt/tags/tag193.xml><?xml version="1.0" encoding="utf-8"?>
<p:tagLst xmlns:p="http://schemas.openxmlformats.org/presentationml/2006/main">
  <p:tag name="KSO_WM_DIAGRAM_VIRTUALLY_FRAME" val="{&quot;height&quot;:389.6,&quot;left&quot;:211.45,&quot;top&quot;:116.65,&quot;width&quot;:477.55}"/>
</p:tagLst>
</file>

<file path=ppt/tags/tag194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ID" val="custom20238577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ISCONTENTSTITLE" val="0"/>
  <p:tag name="KSO_WM_UNIT_VALUE" val="14"/>
  <p:tag name="KSO_WM_UNIT_TEXT_TYPE" val="1"/>
  <p:tag name="KSO_WM_UNIT_PRESET_TEXT" val="单击此处添加&#10;章节标题"/>
</p:tagLst>
</file>

<file path=ppt/tags/tag195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ID" val="custom20238577_7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VALUE" val="2"/>
</p:tagLst>
</file>

<file path=ppt/tags/tag196.xml><?xml version="1.0" encoding="utf-8"?>
<p:tagLst xmlns:p="http://schemas.openxmlformats.org/presentationml/2006/main">
  <p:tag name="KSO_WM_SLIDE_TYPE" val="sectionTitle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BEAUTIFY_FLAG" val="#wm#"/>
  <p:tag name="KSO_WM_TEMPLATE_INDEX" val="20238577"/>
  <p:tag name="KSO_WM_TEMPLATE_CATEGORY" val="custom"/>
  <p:tag name="KSO_WM_SLIDE_INDEX" val="7"/>
  <p:tag name="KSO_WM_SLIDE_ID" val="custom20238577_7"/>
  <p:tag name="KSO_WM_TEMPLATE_MASTER_TYPE" val="0"/>
  <p:tag name="KSO_WM_SLIDE_LAYOUT" val="a_e"/>
  <p:tag name="KSO_WM_SLIDE_LAYOUT_CNT" val="1_1"/>
</p:tagLst>
</file>

<file path=ppt/tags/tag197.xml><?xml version="1.0" encoding="utf-8"?>
<p:tagLst xmlns:p="http://schemas.openxmlformats.org/presentationml/2006/main">
  <p:tag name="KSO_WM_BEAUTIFY_FLAG" val=""/>
</p:tagLst>
</file>

<file path=ppt/tags/tag198.xml><?xml version="1.0" encoding="utf-8"?>
<p:tagLst xmlns:p="http://schemas.openxmlformats.org/presentationml/2006/main">
  <p:tag name="KSO_WM_BEAUTIFY_FLAG" val=""/>
</p:tagLst>
</file>

<file path=ppt/tags/tag199.xml><?xml version="1.0" encoding="utf-8"?>
<p:tagLst xmlns:p="http://schemas.openxmlformats.org/presentationml/2006/main">
  <p:tag name="KSO_WM_UNIT_TABLE_BEAUTIFY" val="smartTable{308056d4-60e8-4828-8c13-09e13014fcb7}"/>
  <p:tag name="TABLE_ENDDRAG_ORIGIN_RECT" val="882*397"/>
  <p:tag name="TABLE_ENDDRAG_RECT" val="41*85*882*397"/>
</p:tagLst>
</file>

<file path=ppt/tags/tag200.xml><?xml version="1.0" encoding="utf-8"?>
<p:tagLst xmlns:p="http://schemas.openxmlformats.org/presentationml/2006/main">
  <p:tag name="KSO_WM_BEAUTIFY_FLAG" val=""/>
</p:tagLst>
</file>

<file path=ppt/tags/tag201.xml><?xml version="1.0" encoding="utf-8"?>
<p:tagLst xmlns:p="http://schemas.openxmlformats.org/presentationml/2006/main">
  <p:tag name="KSO_WM_BEAUTIFY_FLAG" val=""/>
</p:tagLst>
</file>

<file path=ppt/tags/tag202.xml><?xml version="1.0" encoding="utf-8"?>
<p:tagLst xmlns:p="http://schemas.openxmlformats.org/presentationml/2006/main">
  <p:tag name="KSO_WM_UNIT_TABLE_BEAUTIFY" val="smartTable{828b6f84-1146-45ed-a109-a4b2f2539ba7}"/>
  <p:tag name="TABLE_ENDDRAG_ORIGIN_RECT" val="882*397"/>
  <p:tag name="TABLE_ENDDRAG_RECT" val="41*85*882*397"/>
</p:tagLst>
</file>

<file path=ppt/tags/tag203.xml><?xml version="1.0" encoding="utf-8"?>
<p:tagLst xmlns:p="http://schemas.openxmlformats.org/presentationml/2006/main">
  <p:tag name="KSO_WM_BEAUTIFY_FLAG" val=""/>
</p:tagLst>
</file>

<file path=ppt/tags/tag204.xml><?xml version="1.0" encoding="utf-8"?>
<p:tagLst xmlns:p="http://schemas.openxmlformats.org/presentationml/2006/main">
  <p:tag name="KSO_WM_BEAUTIFY_FLAG" val=""/>
</p:tagLst>
</file>

<file path=ppt/tags/tag205.xml><?xml version="1.0" encoding="utf-8"?>
<p:tagLst xmlns:p="http://schemas.openxmlformats.org/presentationml/2006/main">
  <p:tag name="KSO_WM_UNIT_TABLE_BEAUTIFY" val="smartTable{8401f0c4-1a68-4e22-8787-7a5f1c3614e5}"/>
  <p:tag name="TABLE_ENDDRAG_ORIGIN_RECT" val="882*397"/>
  <p:tag name="TABLE_ENDDRAG_RECT" val="41*85*882*397"/>
</p:tagLst>
</file>

<file path=ppt/tags/tag206.xml><?xml version="1.0" encoding="utf-8"?>
<p:tagLst xmlns:p="http://schemas.openxmlformats.org/presentationml/2006/main">
  <p:tag name="KSO_WM_DIAGRAM_VIRTUALLY_FRAME" val="{&quot;height&quot;:389.6,&quot;left&quot;:211.45,&quot;top&quot;:116.65,&quot;width&quot;:477.55}"/>
</p:tagLst>
</file>

<file path=ppt/tags/tag207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ID" val="custom20238577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ISCONTENTSTITLE" val="0"/>
  <p:tag name="KSO_WM_UNIT_VALUE" val="14"/>
  <p:tag name="KSO_WM_UNIT_TEXT_TYPE" val="1"/>
  <p:tag name="KSO_WM_UNIT_PRESET_TEXT" val="单击此处添加&#10;章节标题"/>
</p:tagLst>
</file>

<file path=ppt/tags/tag208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ID" val="custom20238577_7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VALUE" val="2"/>
</p:tagLst>
</file>

<file path=ppt/tags/tag209.xml><?xml version="1.0" encoding="utf-8"?>
<p:tagLst xmlns:p="http://schemas.openxmlformats.org/presentationml/2006/main">
  <p:tag name="KSO_WM_SLIDE_TYPE" val="sectionTitle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BEAUTIFY_FLAG" val="#wm#"/>
  <p:tag name="KSO_WM_TEMPLATE_INDEX" val="20238577"/>
  <p:tag name="KSO_WM_TEMPLATE_CATEGORY" val="custom"/>
  <p:tag name="KSO_WM_SLIDE_INDEX" val="7"/>
  <p:tag name="KSO_WM_SLIDE_ID" val="custom20238577_7"/>
  <p:tag name="KSO_WM_TEMPLATE_MASTER_TYPE" val="0"/>
  <p:tag name="KSO_WM_SLIDE_LAYOUT" val="a_e"/>
  <p:tag name="KSO_WM_SLIDE_LAYOUT_CNT" val="1_1"/>
</p:tagLst>
</file>

<file path=ppt/tags/tag210.xml><?xml version="1.0" encoding="utf-8"?>
<p:tagLst xmlns:p="http://schemas.openxmlformats.org/presentationml/2006/main">
  <p:tag name="KSO_WM_BEAUTIFY_FLAG" val=""/>
</p:tagLst>
</file>

<file path=ppt/tags/tag211.xml><?xml version="1.0" encoding="utf-8"?>
<p:tagLst xmlns:p="http://schemas.openxmlformats.org/presentationml/2006/main">
  <p:tag name="KSO_WM_BEAUTIFY_FLAG" val=""/>
</p:tagLst>
</file>

<file path=ppt/tags/tag212.xml><?xml version="1.0" encoding="utf-8"?>
<p:tagLst xmlns:p="http://schemas.openxmlformats.org/presentationml/2006/main">
  <p:tag name="KSO_WM_BEAUTIFY_FLAG" val=""/>
</p:tagLst>
</file>

<file path=ppt/tags/tag213.xml><?xml version="1.0" encoding="utf-8"?>
<p:tagLst xmlns:p="http://schemas.openxmlformats.org/presentationml/2006/main">
  <p:tag name="KSO_WM_BEAUTIFY_FLAG" val=""/>
</p:tagLst>
</file>

<file path=ppt/tags/tag2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2"/>
  <p:tag name="KSO_WM_UNIT_ID" val="diagram20231799_1*l_h_i*1_1_2"/>
  <p:tag name="KSO_WM_TEMPLATE_CATEGORY" val="diagram"/>
  <p:tag name="KSO_WM_TEMPLATE_INDEX" val="20231799"/>
  <p:tag name="KSO_WM_UNIT_LAYERLEVEL" val="1_1_1"/>
  <p:tag name="KSO_WM_TAG_VERSION" val="3.0"/>
  <p:tag name="KSO_WM_DIAGRAM_GROUP_CODE" val="l1-1"/>
  <p:tag name="KSO_WM_DIAGRAM_VERSION" val="3"/>
  <p:tag name="KSO_WM_DIAGRAM_COLOR_TRICK" val="3"/>
  <p:tag name="KSO_WM_DIAGRAM_COLOR_TEXT_CAN_REMOVE" val="n"/>
  <p:tag name="KSO_WM_DIAGRAM_MAX_ITEMCNT" val="3"/>
  <p:tag name="KSO_WM_DIAGRAM_MIN_ITEMCNT" val="2"/>
  <p:tag name="KSO_WM_DIAGRAM_VIRTUALLY_FRAME" val="{&quot;height&quot;:158.51680856779802,&quot;left&quot;:57.0499267578125,&quot;top&quot;:81.29476623535156,&quot;width&quot;:857.9000732421875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brightness&quot;:-0.25,&quot;colorType&quot;:1,&quot;foreColorIndex&quot;:14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  <p:tag name="KSO_WM_DIAGRAM_USE_COLOR_VALUE" val="{&quot;color_scheme&quot;:1,&quot;color_type&quot;:1,&quot;theme_color_indexes&quot;:[9,10,9,10,9,10]}"/>
</p:tagLst>
</file>

<file path=ppt/tags/tag2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1"/>
  <p:tag name="KSO_WM_UNIT_ID" val="diagram20231799_1*l_h_i*1_1_1"/>
  <p:tag name="KSO_WM_TEMPLATE_CATEGORY" val="diagram"/>
  <p:tag name="KSO_WM_TEMPLATE_INDEX" val="20231799"/>
  <p:tag name="KSO_WM_UNIT_LAYERLEVEL" val="1_1_1"/>
  <p:tag name="KSO_WM_TAG_VERSION" val="3.0"/>
  <p:tag name="KSO_WM_DIAGRAM_GROUP_CODE" val="l1-1"/>
  <p:tag name="KSO_WM_DIAGRAM_VERSION" val="3"/>
  <p:tag name="KSO_WM_DIAGRAM_COLOR_TRICK" val="3"/>
  <p:tag name="KSO_WM_DIAGRAM_COLOR_TEXT_CAN_REMOVE" val="n"/>
  <p:tag name="KSO_WM_DIAGRAM_MAX_ITEMCNT" val="3"/>
  <p:tag name="KSO_WM_DIAGRAM_MIN_ITEMCNT" val="2"/>
  <p:tag name="KSO_WM_DIAGRAM_VIRTUALLY_FRAME" val="{&quot;height&quot;:158.51680856779802,&quot;left&quot;:57.0499267578125,&quot;top&quot;:81.29476623535156,&quot;width&quot;:857.9000732421875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brightness&quot;:0.25,&quot;colorType&quot;:1,&quot;foreColorIndex&quot;:13,&quot;transparency&quot;:0.85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216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1_1"/>
  <p:tag name="KSO_WM_UNIT_ID" val="diagram20231799_1*l_h_f*1_1_1"/>
  <p:tag name="KSO_WM_TEMPLATE_CATEGORY" val="diagram"/>
  <p:tag name="KSO_WM_TEMPLATE_INDEX" val="20231799"/>
  <p:tag name="KSO_WM_UNIT_LAYERLEVEL" val="1_1_1"/>
  <p:tag name="KSO_WM_TAG_VERSION" val="3.0"/>
  <p:tag name="KSO_WM_UNIT_TEXT_FILL_FORE_SCHEMECOLOR_INDEX_BRIGHTNESS" val="0.15"/>
  <p:tag name="KSO_WM_UNIT_TEXT_FILL_TYPE" val="1"/>
  <p:tag name="KSO_WM_DIAGRAM_VERSION" val="3"/>
  <p:tag name="KSO_WM_DIAGRAM_COLOR_TRICK" val="3"/>
  <p:tag name="KSO_WM_DIAGRAM_COLOR_TEXT_CAN_REMOVE" val="n"/>
  <p:tag name="KSO_WM_DIAGRAM_GROUP_CODE" val="l1-1"/>
  <p:tag name="KSO_WM_DIAGRAM_MAX_ITEMCNT" val="3"/>
  <p:tag name="KSO_WM_DIAGRAM_MIN_ITEMCNT" val="2"/>
  <p:tag name="KSO_WM_DIAGRAM_VIRTUALLY_FRAME" val="{&quot;height&quot;:158.51680856779802,&quot;left&quot;:57.0499267578125,&quot;top&quot;:81.29476623535156,&quot;width&quot;:857.90007324218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333333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，单击此处添加文本具体内容。"/>
  <p:tag name="KSO_WM_DIAGRAM_USE_COLOR_VALUE" val="{&quot;color_scheme&quot;:1,&quot;color_type&quot;:1,&quot;theme_color_indexes&quot;:[9,10,9,10,9,10]}"/>
</p:tagLst>
</file>

<file path=ppt/tags/tag217.xml><?xml version="1.0" encoding="utf-8"?>
<p:tagLst xmlns:p="http://schemas.openxmlformats.org/presentationml/2006/main">
  <p:tag name="KSO_WM_BEAUTIFY_FLAG" val=""/>
</p:tagLst>
</file>

<file path=ppt/tags/tag218.xml><?xml version="1.0" encoding="utf-8"?>
<p:tagLst xmlns:p="http://schemas.openxmlformats.org/presentationml/2006/main">
  <p:tag name="KSO_WM_BEAUTIFY_FLAG" val=""/>
</p:tagLst>
</file>

<file path=ppt/tags/tag219.xml><?xml version="1.0" encoding="utf-8"?>
<p:tagLst xmlns:p="http://schemas.openxmlformats.org/presentationml/2006/main">
  <p:tag name="TABLE_ENDDRAG_ORIGIN_RECT" val="448*343"/>
  <p:tag name="TABLE_ENDDRAG_RECT" val="60*98*448*343"/>
</p:tagLst>
</file>

<file path=ppt/tags/tag220.xml><?xml version="1.0" encoding="utf-8"?>
<p:tagLst xmlns:p="http://schemas.openxmlformats.org/presentationml/2006/main">
  <p:tag name="TABLE_ENDDRAG_ORIGIN_RECT" val="354*332"/>
  <p:tag name="TABLE_ENDDRAG_RECT" val="537*98*354*332"/>
</p:tagLst>
</file>

<file path=ppt/tags/tag221.xml><?xml version="1.0" encoding="utf-8"?>
<p:tagLst xmlns:p="http://schemas.openxmlformats.org/presentationml/2006/main">
  <p:tag name="KSO_WM_BEAUTIFY_FLAG" val=""/>
</p:tagLst>
</file>

<file path=ppt/tags/tag222.xml><?xml version="1.0" encoding="utf-8"?>
<p:tagLst xmlns:p="http://schemas.openxmlformats.org/presentationml/2006/main">
  <p:tag name="KSO_WM_BEAUTIFY_FLAG" val=""/>
</p:tagLst>
</file>

<file path=ppt/tags/tag223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ID" val="custom20238577_9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ISCONTENTSTITLE" val="0"/>
</p:tagLst>
</file>

<file path=ppt/tags/tag224.xml><?xml version="1.0" encoding="utf-8"?>
<p:tagLst xmlns:p="http://schemas.openxmlformats.org/presentationml/2006/main">
  <p:tag name="KSO_WM_UNIT_PIC_EFFECT" val="1"/>
</p:tagLst>
</file>

<file path=ppt/tags/tag225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custom20238488_1*i*1"/>
  <p:tag name="KSO_WM_TEMPLATE_CATEGORY" val="custom"/>
  <p:tag name="KSO_WM_TEMPLATE_INDEX" val="20238488"/>
  <p:tag name="KSO_WM_UNIT_LAYERLEVEL" val="1"/>
  <p:tag name="KSO_WM_TAG_VERSION" val="1.0"/>
  <p:tag name="KSO_WM_UNIT_PIC_EFFECT" val="1"/>
</p:tagLst>
</file>

<file path=ppt/tags/tag226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custom20238488_1*i*2"/>
  <p:tag name="KSO_WM_TEMPLATE_CATEGORY" val="custom"/>
  <p:tag name="KSO_WM_TEMPLATE_INDEX" val="20238488"/>
  <p:tag name="KSO_WM_UNIT_LAYERLEVEL" val="1"/>
  <p:tag name="KSO_WM_TAG_VERSION" val="1.0"/>
  <p:tag name="KSO_WM_UNIT_PIC_EFFECT" val="1"/>
</p:tagLst>
</file>

<file path=ppt/tags/tag227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custom20238488_1*i*3"/>
  <p:tag name="KSO_WM_TEMPLATE_CATEGORY" val="custom"/>
  <p:tag name="KSO_WM_TEMPLATE_INDEX" val="20238488"/>
  <p:tag name="KSO_WM_UNIT_LAYERLEVEL" val="1"/>
  <p:tag name="KSO_WM_TAG_VERSION" val="1.0"/>
  <p:tag name="KSO_WM_UNIT_PIC_EFFECT" val="1"/>
</p:tagLst>
</file>

<file path=ppt/tags/tag228.xml><?xml version="1.0" encoding="utf-8"?>
<p:tagLst xmlns:p="http://schemas.openxmlformats.org/presentationml/2006/main">
  <p:tag name="KSO_WM_BEAUTIFY_FLAG" val="#wm#"/>
  <p:tag name="KSO_WM_UNIT_VALUE" val="1636*1425"/>
  <p:tag name="KSO_WM_UNIT_HIGHLIGHT" val="0"/>
  <p:tag name="KSO_WM_UNIT_COMPATIBLE" val="0"/>
  <p:tag name="KSO_WM_UNIT_DIAGRAM_ISNUMVISUAL" val="0"/>
  <p:tag name="KSO_WM_UNIT_DIAGRAM_ISREFERUNIT" val="0"/>
  <p:tag name="KSO_WM_UNIT_TYPE" val="d"/>
  <p:tag name="KSO_WM_UNIT_INDEX" val="1"/>
  <p:tag name="KSO_WM_UNIT_ID" val="custom20238488_1*d*1"/>
  <p:tag name="KSO_WM_TEMPLATE_CATEGORY" val="custom"/>
  <p:tag name="KSO_WM_TEMPLATE_INDEX" val="20238488"/>
  <p:tag name="KSO_WM_UNIT_LAYERLEVEL" val="1"/>
  <p:tag name="KSO_WM_TAG_VERSION" val="1.0"/>
  <p:tag name="KSO_WM_UNIT_PIC_EFFECT" val="1"/>
</p:tagLst>
</file>

<file path=ppt/tags/tag229.xml><?xml version="1.0" encoding="utf-8"?>
<p:tagLst xmlns:p="http://schemas.openxmlformats.org/presentationml/2006/main">
  <p:tag name="KSO_WM_SLIDE_TYPE" val="endPage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BEAUTIFY_FLAG" val="#wm#"/>
  <p:tag name="KSO_WM_TEMPLATE_INDEX" val="20238577"/>
  <p:tag name="KSO_WM_TEMPLATE_CATEGORY" val="custom"/>
  <p:tag name="KSO_WM_SLIDE_INDEX" val="9"/>
  <p:tag name="KSO_WM_SLIDE_ID" val="custom20238577_9"/>
  <p:tag name="KSO_WM_TEMPLATE_MASTER_TYPE" val="0"/>
  <p:tag name="KSO_WM_SLIDE_LAYOUT" val="a_b_f_x"/>
  <p:tag name="KSO_WM_SLIDE_LAYOUT_CNT" val="1_1_2_1"/>
</p:tagLst>
</file>

<file path=ppt/tags/tag230.xml><?xml version="1.0" encoding="utf-8"?>
<p:tagLst xmlns:p="http://schemas.openxmlformats.org/presentationml/2006/main">
  <p:tag name="KSO_WM_DIAGRAM_VIRTUALLY_FRAME" val="{&quot;height&quot;:389.6,&quot;left&quot;:211.45,&quot;top&quot;:116.65,&quot;width&quot;:477.55}"/>
</p:tagLst>
</file>

<file path=ppt/tags/tag231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ID" val="custom20238577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ISCONTENTSTITLE" val="0"/>
  <p:tag name="KSO_WM_UNIT_VALUE" val="14"/>
  <p:tag name="KSO_WM_UNIT_TEXT_TYPE" val="1"/>
  <p:tag name="KSO_WM_UNIT_PRESET_TEXT" val="单击此处添加&#10;章节标题"/>
</p:tagLst>
</file>

<file path=ppt/tags/tag232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ID" val="custom20238577_7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VALUE" val="2"/>
</p:tagLst>
</file>

<file path=ppt/tags/tag233.xml><?xml version="1.0" encoding="utf-8"?>
<p:tagLst xmlns:p="http://schemas.openxmlformats.org/presentationml/2006/main">
  <p:tag name="KSO_WM_SLIDE_TYPE" val="sectionTitle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BEAUTIFY_FLAG" val="#wm#"/>
  <p:tag name="KSO_WM_TEMPLATE_INDEX" val="20238577"/>
  <p:tag name="KSO_WM_TEMPLATE_CATEGORY" val="custom"/>
  <p:tag name="KSO_WM_SLIDE_INDEX" val="7"/>
  <p:tag name="KSO_WM_SLIDE_ID" val="custom20238577_7"/>
  <p:tag name="KSO_WM_TEMPLATE_MASTER_TYPE" val="0"/>
  <p:tag name="KSO_WM_SLIDE_LAYOUT" val="a_e"/>
  <p:tag name="KSO_WM_SLIDE_LAYOUT_CNT" val="1_1"/>
</p:tagLst>
</file>

<file path=ppt/tags/tag234.xml><?xml version="1.0" encoding="utf-8"?>
<p:tagLst xmlns:p="http://schemas.openxmlformats.org/presentationml/2006/main">
  <p:tag name="KSO_WM_DIAGRAM_VIRTUALLY_FRAME" val="{&quot;height&quot;:394.00007874015745,&quot;left&quot;:84.67007874015748,&quot;top&quot;:100.32062992125984,&quot;width&quot;:790.6598425196851}"/>
</p:tagLst>
</file>

<file path=ppt/tags/tag235.xml><?xml version="1.0" encoding="utf-8"?>
<p:tagLst xmlns:p="http://schemas.openxmlformats.org/presentationml/2006/main">
  <p:tag name="KSO_WM_DIAGRAM_VIRTUALLY_FRAME" val="{&quot;height&quot;:394.00007874015745,&quot;left&quot;:84.67007874015748,&quot;top&quot;:100.32062992125984,&quot;width&quot;:790.6598425196851}"/>
</p:tagLst>
</file>

<file path=ppt/tags/tag236.xml><?xml version="1.0" encoding="utf-8"?>
<p:tagLst xmlns:p="http://schemas.openxmlformats.org/presentationml/2006/main">
  <p:tag name="KSO_WM_DIAGRAM_VIRTUALLY_FRAME" val="{&quot;height&quot;:394.00007874015745,&quot;left&quot;:84.67007874015748,&quot;top&quot;:100.32062992125984,&quot;width&quot;:790.6598425196851}"/>
</p:tagLst>
</file>

<file path=ppt/tags/tag237.xml><?xml version="1.0" encoding="utf-8"?>
<p:tagLst xmlns:p="http://schemas.openxmlformats.org/presentationml/2006/main">
  <p:tag name="KSO_WM_DIAGRAM_VIRTUALLY_FRAME" val="{&quot;height&quot;:156.26889153427965,&quot;left&quot;:75.475,&quot;top&quot;:135.73110236220472,&quot;width&quot;:201.72872924804696}"/>
</p:tagLst>
</file>

<file path=ppt/tags/tag238.xml><?xml version="1.0" encoding="utf-8"?>
<p:tagLst xmlns:p="http://schemas.openxmlformats.org/presentationml/2006/main">
  <p:tag name="KSO_WM_UNIT_SUBTYPE" val="a"/>
  <p:tag name="KSO_WM_UNIT_NOCLEAR" val="0"/>
  <p:tag name="KSO_WM_UNIT_VALUE" val="192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1_1"/>
  <p:tag name="KSO_WM_UNIT_ID" val="diagram20235146_3*l_h_f*1_1_1"/>
  <p:tag name="KSO_WM_TEMPLATE_CATEGORY" val="diagram"/>
  <p:tag name="KSO_WM_TEMPLATE_INDEX" val="20235146"/>
  <p:tag name="KSO_WM_UNIT_LAYERLEVEL" val="1_1_1"/>
  <p:tag name="KSO_WM_TAG_VERSION" val="3.0"/>
  <p:tag name="KSO_WM_DIAGRAM_MAX_ITEMCNT" val="4"/>
  <p:tag name="KSO_WM_DIAGRAM_MIN_ITEMCNT" val="2"/>
  <p:tag name="KSO_WM_DIAGRAM_VIRTUALLY_FRAME" val="{&quot;height&quot;:156.26889153427965,&quot;left&quot;:75.475,&quot;top&quot;:135.73110236220472,&quot;width&quot;:201.72872924804696}"/>
  <p:tag name="KSO_WM_DIAGRAM_COLOR_MATCH_VALUE" val="{&quot;shape&quot;:{&quot;fill&quot;:{&quot;solid&quot;:{&quot;brightness&quot;:0.4000000059604645,&quot;colorType&quot;:1,&quot;foreColorIndex&quot;:5,&quot;transparency&quot;:0.8799999952316284},&quot;type&quot;:1},&quot;glow&quot;:{&quot;colorType&quot;:0},&quot;line&quot;:{&quot;gradient&quot;:[{&quot;brightness&quot;:0,&quot;colorType&quot;:1,&quot;foreColorIndex&quot;:5,&quot;pos&quot;:1,&quot;transparency&quot;:0.8500000238418579},{&quot;brightness&quot;:0,&quot;colorType&quot;:1,&quot;foreColorIndex&quot;:5,&quot;pos&quot;:0,&quot;transparency&quot;:0.4000000059604645}],&quot;type&quot;:2},&quot;shadow&quot;:{&quot;brightness&quot;:0,&quot;colorType&quot;:2,&quot;rgb&quot;:&quot;#000000&quot;,&quot;transparency&quot;:0.9300000071525574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DIAGRAM_VERSION" val="3"/>
  <p:tag name="KSO_WM_DIAGRAM_COLOR_TRICK" val="1"/>
  <p:tag name="KSO_WM_DIAGRAM_COLOR_TEXT_CAN_REMOVE" val="n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。"/>
  <p:tag name="KSO_WM_UNIT_FILL_TYPE" val="1"/>
  <p:tag name="KSO_WM_UNIT_FILL_FORE_SCHEMECOLOR_INDEX" val="5"/>
  <p:tag name="KSO_WM_UNIT_FILL_FORE_SCHEMECOLOR_INDEX_BRIGHTNESS" val="0.4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2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ID" val="diagram20235146_3*l_h_i*1_1_1"/>
  <p:tag name="KSO_WM_TEMPLATE_CATEGORY" val="diagram"/>
  <p:tag name="KSO_WM_TEMPLATE_INDEX" val="20235146"/>
  <p:tag name="KSO_WM_UNIT_LAYERLEVEL" val="1_1_1"/>
  <p:tag name="KSO_WM_TAG_VERSION" val="3.0"/>
  <p:tag name="KSO_WM_BEAUTIFY_FLAG" val="#wm#"/>
  <p:tag name="KSO_WM_UNIT_TYPE" val="l_h_i"/>
  <p:tag name="KSO_WM_UNIT_INDEX" val="1_1_1"/>
  <p:tag name="KSO_WM_DIAGRAM_VERSION" val="3"/>
  <p:tag name="KSO_WM_DIAGRAM_COLOR_TRICK" val="1"/>
  <p:tag name="KSO_WM_DIAGRAM_COLOR_TEXT_CAN_REMOVE" val="n"/>
  <p:tag name="KSO_WM_UNIT_FILL_TYPE" val="3"/>
  <p:tag name="KSO_WM_DIAGRAM_MAX_ITEMCNT" val="4"/>
  <p:tag name="KSO_WM_DIAGRAM_MIN_ITEMCNT" val="2"/>
  <p:tag name="KSO_WM_DIAGRAM_VIRTUALLY_FRAME" val="{&quot;height&quot;:156.26889153427965,&quot;left&quot;:75.475,&quot;top&quot;:135.73110236220472,&quot;width&quot;:201.72872924804696}"/>
  <p:tag name="KSO_WM_DIAGRAM_COLOR_MATCH_VALUE" val="{&quot;shape&quot;:{&quot;fill&quot;:{&quot;gradient&quot;:[{&quot;brightness&quot;:0.4000000059604645,&quot;colorType&quot;:1,&quot;foreColorIndex&quot;:5,&quot;pos&quot;:1,&quot;transparency&quot;:0.28999999165534973},{&quot;brightness&quot;:0,&quot;colorType&quot;:1,&quot;foreColorIndex&quot;:5,&quot;pos&quot;:0,&quot;transparency&quot;:0}],&quot;type&quot;:3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240.xml><?xml version="1.0" encoding="utf-8"?>
<p:tagLst xmlns:p="http://schemas.openxmlformats.org/presentationml/2006/main">
  <p:tag name="KSO_WM_DIAGRAM_VIRTUALLY_FRAME" val="{&quot;height&quot;:156.26889153427965,&quot;left&quot;:75.475,&quot;top&quot;:135.73110236220472,&quot;width&quot;:201.72872924804696}"/>
</p:tagLst>
</file>

<file path=ppt/tags/tag241.xml><?xml version="1.0" encoding="utf-8"?>
<p:tagLst xmlns:p="http://schemas.openxmlformats.org/presentationml/2006/main">
  <p:tag name="KSO_WM_UNIT_SUBTYPE" val="a"/>
  <p:tag name="KSO_WM_UNIT_NOCLEAR" val="0"/>
  <p:tag name="KSO_WM_UNIT_VALUE" val="192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2_1"/>
  <p:tag name="KSO_WM_UNIT_ID" val="diagram20235146_3*l_h_f*1_2_1"/>
  <p:tag name="KSO_WM_TEMPLATE_CATEGORY" val="diagram"/>
  <p:tag name="KSO_WM_TEMPLATE_INDEX" val="20235146"/>
  <p:tag name="KSO_WM_UNIT_LAYERLEVEL" val="1_1_1"/>
  <p:tag name="KSO_WM_TAG_VERSION" val="3.0"/>
  <p:tag name="KSO_WM_DIAGRAM_MAX_ITEMCNT" val="4"/>
  <p:tag name="KSO_WM_DIAGRAM_MIN_ITEMCNT" val="2"/>
  <p:tag name="KSO_WM_DIAGRAM_VIRTUALLY_FRAME" val="{&quot;height&quot;:156.26889153427965,&quot;left&quot;:75.475,&quot;top&quot;:135.73110236220472,&quot;width&quot;:201.72872924804696}"/>
  <p:tag name="KSO_WM_DIAGRAM_COLOR_MATCH_VALUE" val="{&quot;shape&quot;:{&quot;fill&quot;:{&quot;solid&quot;:{&quot;brightness&quot;:0.4000000059604645,&quot;colorType&quot;:1,&quot;foreColorIndex&quot;:5,&quot;transparency&quot;:0.8799999952316284},&quot;type&quot;:1},&quot;glow&quot;:{&quot;colorType&quot;:0},&quot;line&quot;:{&quot;gradient&quot;:[{&quot;brightness&quot;:0,&quot;colorType&quot;:1,&quot;foreColorIndex&quot;:5,&quot;pos&quot;:1,&quot;transparency&quot;:0.8500000238418579},{&quot;brightness&quot;:0,&quot;colorType&quot;:1,&quot;foreColorIndex&quot;:5,&quot;pos&quot;:0,&quot;transparency&quot;:0.4000000059604645}],&quot;type&quot;:2},&quot;shadow&quot;:{&quot;brightness&quot;:0,&quot;colorType&quot;:2,&quot;rgb&quot;:&quot;#000000&quot;,&quot;transparency&quot;:0.9300000071525574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DIAGRAM_VERSION" val="3"/>
  <p:tag name="KSO_WM_DIAGRAM_COLOR_TRICK" val="1"/>
  <p:tag name="KSO_WM_DIAGRAM_COLOR_TEXT_CAN_REMOVE" val="n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。"/>
  <p:tag name="KSO_WM_UNIT_FILL_TYPE" val="1"/>
  <p:tag name="KSO_WM_UNIT_FILL_FORE_SCHEMECOLOR_INDEX" val="5"/>
  <p:tag name="KSO_WM_UNIT_FILL_FORE_SCHEMECOLOR_INDEX_BRIGHTNESS" val="0.4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2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ID" val="diagram20235146_3*l_h_i*1_2_1"/>
  <p:tag name="KSO_WM_TEMPLATE_CATEGORY" val="diagram"/>
  <p:tag name="KSO_WM_TEMPLATE_INDEX" val="20235146"/>
  <p:tag name="KSO_WM_UNIT_LAYERLEVEL" val="1_1_1"/>
  <p:tag name="KSO_WM_TAG_VERSION" val="3.0"/>
  <p:tag name="KSO_WM_BEAUTIFY_FLAG" val="#wm#"/>
  <p:tag name="KSO_WM_UNIT_TYPE" val="l_h_i"/>
  <p:tag name="KSO_WM_UNIT_INDEX" val="1_2_1"/>
  <p:tag name="KSO_WM_DIAGRAM_VERSION" val="3"/>
  <p:tag name="KSO_WM_DIAGRAM_COLOR_TRICK" val="1"/>
  <p:tag name="KSO_WM_DIAGRAM_COLOR_TEXT_CAN_REMOVE" val="n"/>
  <p:tag name="KSO_WM_UNIT_FILL_TYPE" val="3"/>
  <p:tag name="KSO_WM_DIAGRAM_MAX_ITEMCNT" val="4"/>
  <p:tag name="KSO_WM_DIAGRAM_MIN_ITEMCNT" val="2"/>
  <p:tag name="KSO_WM_DIAGRAM_VIRTUALLY_FRAME" val="{&quot;height&quot;:156.26889153427965,&quot;left&quot;:75.475,&quot;top&quot;:135.73110236220472,&quot;width&quot;:201.72872924804696}"/>
  <p:tag name="KSO_WM_DIAGRAM_COLOR_MATCH_VALUE" val="{&quot;shape&quot;:{&quot;fill&quot;:{&quot;gradient&quot;:[{&quot;brightness&quot;:0.4000000059604645,&quot;colorType&quot;:1,&quot;foreColorIndex&quot;:5,&quot;pos&quot;:1,&quot;transparency&quot;:0.28999999165534973},{&quot;brightness&quot;:0,&quot;colorType&quot;:1,&quot;foreColorIndex&quot;:5,&quot;pos&quot;:0,&quot;transparency&quot;:0}],&quot;type&quot;:3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243.xml><?xml version="1.0" encoding="utf-8"?>
<p:tagLst xmlns:p="http://schemas.openxmlformats.org/presentationml/2006/main">
  <p:tag name="KSO_WM_DIAGRAM_VIRTUALLY_FRAME" val="{&quot;height&quot;:156.26889153427965,&quot;left&quot;:75.475,&quot;top&quot;:135.73110236220472,&quot;width&quot;:201.72872924804696}"/>
</p:tagLst>
</file>

<file path=ppt/tags/tag244.xml><?xml version="1.0" encoding="utf-8"?>
<p:tagLst xmlns:p="http://schemas.openxmlformats.org/presentationml/2006/main">
  <p:tag name="KSO_WM_UNIT_SUBTYPE" val="a"/>
  <p:tag name="KSO_WM_UNIT_NOCLEAR" val="0"/>
  <p:tag name="KSO_WM_UNIT_VALUE" val="192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3_1"/>
  <p:tag name="KSO_WM_UNIT_ID" val="diagram20235146_3*l_h_f*1_3_1"/>
  <p:tag name="KSO_WM_TEMPLATE_CATEGORY" val="diagram"/>
  <p:tag name="KSO_WM_TEMPLATE_INDEX" val="20235146"/>
  <p:tag name="KSO_WM_UNIT_LAYERLEVEL" val="1_1_1"/>
  <p:tag name="KSO_WM_TAG_VERSION" val="3.0"/>
  <p:tag name="KSO_WM_DIAGRAM_MAX_ITEMCNT" val="4"/>
  <p:tag name="KSO_WM_DIAGRAM_MIN_ITEMCNT" val="2"/>
  <p:tag name="KSO_WM_DIAGRAM_VIRTUALLY_FRAME" val="{&quot;height&quot;:156.26889153427965,&quot;left&quot;:75.475,&quot;top&quot;:135.73110236220472,&quot;width&quot;:201.72872924804696}"/>
  <p:tag name="KSO_WM_DIAGRAM_COLOR_MATCH_VALUE" val="{&quot;shape&quot;:{&quot;fill&quot;:{&quot;solid&quot;:{&quot;brightness&quot;:0.4000000059604645,&quot;colorType&quot;:1,&quot;foreColorIndex&quot;:5,&quot;transparency&quot;:0.8799999952316284},&quot;type&quot;:1},&quot;glow&quot;:{&quot;colorType&quot;:0},&quot;line&quot;:{&quot;gradient&quot;:[{&quot;brightness&quot;:0,&quot;colorType&quot;:1,&quot;foreColorIndex&quot;:5,&quot;pos&quot;:1,&quot;transparency&quot;:0.8500000238418579},{&quot;brightness&quot;:0,&quot;colorType&quot;:1,&quot;foreColorIndex&quot;:5,&quot;pos&quot;:0,&quot;transparency&quot;:0.4000000059604645}],&quot;type&quot;:2},&quot;shadow&quot;:{&quot;brightness&quot;:0,&quot;colorType&quot;:2,&quot;rgb&quot;:&quot;#000000&quot;,&quot;transparency&quot;:0.9300000071525574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DIAGRAM_VERSION" val="3"/>
  <p:tag name="KSO_WM_DIAGRAM_COLOR_TRICK" val="1"/>
  <p:tag name="KSO_WM_DIAGRAM_COLOR_TEXT_CAN_REMOVE" val="n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。"/>
  <p:tag name="KSO_WM_UNIT_FILL_TYPE" val="1"/>
  <p:tag name="KSO_WM_UNIT_FILL_FORE_SCHEMECOLOR_INDEX" val="5"/>
  <p:tag name="KSO_WM_UNIT_FILL_FORE_SCHEMECOLOR_INDEX_BRIGHTNESS" val="0.4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2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ID" val="diagram20235146_3*l_h_i*1_3_1"/>
  <p:tag name="KSO_WM_TEMPLATE_CATEGORY" val="diagram"/>
  <p:tag name="KSO_WM_TEMPLATE_INDEX" val="20235146"/>
  <p:tag name="KSO_WM_UNIT_LAYERLEVEL" val="1_1_1"/>
  <p:tag name="KSO_WM_TAG_VERSION" val="3.0"/>
  <p:tag name="KSO_WM_BEAUTIFY_FLAG" val="#wm#"/>
  <p:tag name="KSO_WM_UNIT_TYPE" val="l_h_i"/>
  <p:tag name="KSO_WM_UNIT_INDEX" val="1_3_1"/>
  <p:tag name="KSO_WM_DIAGRAM_VERSION" val="3"/>
  <p:tag name="KSO_WM_DIAGRAM_COLOR_TRICK" val="1"/>
  <p:tag name="KSO_WM_DIAGRAM_COLOR_TEXT_CAN_REMOVE" val="n"/>
  <p:tag name="KSO_WM_UNIT_FILL_TYPE" val="3"/>
  <p:tag name="KSO_WM_DIAGRAM_MAX_ITEMCNT" val="4"/>
  <p:tag name="KSO_WM_DIAGRAM_MIN_ITEMCNT" val="2"/>
  <p:tag name="KSO_WM_DIAGRAM_VIRTUALLY_FRAME" val="{&quot;height&quot;:156.26889153427965,&quot;left&quot;:75.475,&quot;top&quot;:135.73110236220472,&quot;width&quot;:201.72872924804696}"/>
  <p:tag name="KSO_WM_DIAGRAM_COLOR_MATCH_VALUE" val="{&quot;shape&quot;:{&quot;fill&quot;:{&quot;gradient&quot;:[{&quot;brightness&quot;:0.4000000059604645,&quot;colorType&quot;:1,&quot;foreColorIndex&quot;:5,&quot;pos&quot;:1,&quot;transparency&quot;:0.28999999165534973},{&quot;brightness&quot;:0,&quot;colorType&quot;:1,&quot;foreColorIndex&quot;:5,&quot;pos&quot;:0,&quot;transparency&quot;:0}],&quot;type&quot;:3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246.xml><?xml version="1.0" encoding="utf-8"?>
<p:tagLst xmlns:p="http://schemas.openxmlformats.org/presentationml/2006/main">
  <p:tag name="KSO_WM_DIAGRAM_VIRTUALLY_FRAME" val="{&quot;height&quot;:156.26889153427965,&quot;left&quot;:75.475,&quot;top&quot;:135.73110236220472,&quot;width&quot;:201.72872924804696}"/>
</p:tagLst>
</file>

<file path=ppt/tags/tag247.xml><?xml version="1.0" encoding="utf-8"?>
<p:tagLst xmlns:p="http://schemas.openxmlformats.org/presentationml/2006/main">
  <p:tag name="KSO_WM_UNIT_SUBTYPE" val="a"/>
  <p:tag name="KSO_WM_UNIT_NOCLEAR" val="0"/>
  <p:tag name="KSO_WM_UNIT_VALUE" val="192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4_1"/>
  <p:tag name="KSO_WM_UNIT_ID" val="diagram20235146_3*l_h_f*1_4_1"/>
  <p:tag name="KSO_WM_TEMPLATE_CATEGORY" val="diagram"/>
  <p:tag name="KSO_WM_TEMPLATE_INDEX" val="20235146"/>
  <p:tag name="KSO_WM_UNIT_LAYERLEVEL" val="1_1_1"/>
  <p:tag name="KSO_WM_TAG_VERSION" val="3.0"/>
  <p:tag name="KSO_WM_DIAGRAM_MAX_ITEMCNT" val="4"/>
  <p:tag name="KSO_WM_DIAGRAM_MIN_ITEMCNT" val="2"/>
  <p:tag name="KSO_WM_DIAGRAM_VIRTUALLY_FRAME" val="{&quot;height&quot;:156.26889153427965,&quot;left&quot;:75.475,&quot;top&quot;:135.73110236220472,&quot;width&quot;:201.72872924804696}"/>
  <p:tag name="KSO_WM_DIAGRAM_COLOR_MATCH_VALUE" val="{&quot;shape&quot;:{&quot;fill&quot;:{&quot;solid&quot;:{&quot;brightness&quot;:0.4000000059604645,&quot;colorType&quot;:1,&quot;foreColorIndex&quot;:5,&quot;transparency&quot;:0.8799999952316284},&quot;type&quot;:1},&quot;glow&quot;:{&quot;colorType&quot;:0},&quot;line&quot;:{&quot;gradient&quot;:[{&quot;brightness&quot;:0,&quot;colorType&quot;:1,&quot;foreColorIndex&quot;:5,&quot;pos&quot;:1,&quot;transparency&quot;:0.8500000238418579},{&quot;brightness&quot;:0,&quot;colorType&quot;:1,&quot;foreColorIndex&quot;:5,&quot;pos&quot;:0,&quot;transparency&quot;:0.4000000059604645}],&quot;type&quot;:2},&quot;shadow&quot;:{&quot;brightness&quot;:0,&quot;colorType&quot;:2,&quot;rgb&quot;:&quot;#000000&quot;,&quot;transparency&quot;:0.9300000071525574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DIAGRAM_VERSION" val="3"/>
  <p:tag name="KSO_WM_DIAGRAM_COLOR_TRICK" val="1"/>
  <p:tag name="KSO_WM_DIAGRAM_COLOR_TEXT_CAN_REMOVE" val="n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。"/>
  <p:tag name="KSO_WM_UNIT_FILL_TYPE" val="1"/>
  <p:tag name="KSO_WM_UNIT_FILL_FORE_SCHEMECOLOR_INDEX" val="5"/>
  <p:tag name="KSO_WM_UNIT_FILL_FORE_SCHEMECOLOR_INDEX_BRIGHTNESS" val="0.4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2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ID" val="diagram20235146_3*l_h_i*1_4_1"/>
  <p:tag name="KSO_WM_TEMPLATE_CATEGORY" val="diagram"/>
  <p:tag name="KSO_WM_TEMPLATE_INDEX" val="20235146"/>
  <p:tag name="KSO_WM_UNIT_LAYERLEVEL" val="1_1_1"/>
  <p:tag name="KSO_WM_TAG_VERSION" val="3.0"/>
  <p:tag name="KSO_WM_BEAUTIFY_FLAG" val="#wm#"/>
  <p:tag name="KSO_WM_UNIT_TYPE" val="l_h_i"/>
  <p:tag name="KSO_WM_UNIT_INDEX" val="1_4_1"/>
  <p:tag name="KSO_WM_DIAGRAM_VERSION" val="3"/>
  <p:tag name="KSO_WM_DIAGRAM_COLOR_TRICK" val="1"/>
  <p:tag name="KSO_WM_DIAGRAM_COLOR_TEXT_CAN_REMOVE" val="n"/>
  <p:tag name="KSO_WM_UNIT_FILL_TYPE" val="3"/>
  <p:tag name="KSO_WM_DIAGRAM_MAX_ITEMCNT" val="4"/>
  <p:tag name="KSO_WM_DIAGRAM_MIN_ITEMCNT" val="2"/>
  <p:tag name="KSO_WM_DIAGRAM_VIRTUALLY_FRAME" val="{&quot;height&quot;:156.26889153427965,&quot;left&quot;:75.475,&quot;top&quot;:135.73110236220472,&quot;width&quot;:201.72872924804696}"/>
  <p:tag name="KSO_WM_DIAGRAM_COLOR_MATCH_VALUE" val="{&quot;shape&quot;:{&quot;fill&quot;:{&quot;gradient&quot;:[{&quot;brightness&quot;:0.4000000059604645,&quot;colorType&quot;:1,&quot;foreColorIndex&quot;:5,&quot;pos&quot;:1,&quot;transparency&quot;:0.28999999165534973},{&quot;brightness&quot;:0,&quot;colorType&quot;:1,&quot;foreColorIndex&quot;:5,&quot;pos&quot;:0,&quot;transparency&quot;:0}],&quot;type&quot;:3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249.xml><?xml version="1.0" encoding="utf-8"?>
<p:tagLst xmlns:p="http://schemas.openxmlformats.org/presentationml/2006/main">
  <p:tag name="KSO_WM_DIAGRAM_VIRTUALLY_FRAME" val="{&quot;height&quot;:394.00007874015745,&quot;left&quot;:84.67007874015748,&quot;top&quot;:100.32062992125984,&quot;width&quot;:790.6598425196851}"/>
</p:tagLst>
</file>

<file path=ppt/tags/tag250.xml><?xml version="1.0" encoding="utf-8"?>
<p:tagLst xmlns:p="http://schemas.openxmlformats.org/presentationml/2006/main">
  <p:tag name="KSO_WM_DIAGRAM_VIRTUALLY_FRAME" val="{&quot;height&quot;:394.00007874015745,&quot;left&quot;:84.67007874015748,&quot;top&quot;:100.32062992125984,&quot;width&quot;:790.6598425196851}"/>
</p:tagLst>
</file>

<file path=ppt/tags/tag251.xml><?xml version="1.0" encoding="utf-8"?>
<p:tagLst xmlns:p="http://schemas.openxmlformats.org/presentationml/2006/main">
  <p:tag name="KSO_WM_DIAGRAM_VIRTUALLY_FRAME" val="{&quot;height&quot;:394.00007874015745,&quot;left&quot;:84.67007874015748,&quot;top&quot;:100.32062992125984,&quot;width&quot;:790.6598425196851}"/>
</p:tagLst>
</file>

<file path=ppt/tags/tag252.xml><?xml version="1.0" encoding="utf-8"?>
<p:tagLst xmlns:p="http://schemas.openxmlformats.org/presentationml/2006/main">
  <p:tag name="KSO_WM_DIAGRAM_VIRTUALLY_FRAME" val="{&quot;height&quot;:394.00007874015745,&quot;left&quot;:84.67007874015748,&quot;top&quot;:100.32062992125984,&quot;width&quot;:790.6598425196851}"/>
</p:tagLst>
</file>

<file path=ppt/tags/tag253.xml><?xml version="1.0" encoding="utf-8"?>
<p:tagLst xmlns:p="http://schemas.openxmlformats.org/presentationml/2006/main">
  <p:tag name="KSO_WM_DIAGRAM_VIRTUALLY_FRAME" val="{&quot;height&quot;:443.51889153427965,&quot;left&quot;:59.7,&quot;top&quot;:137.43110236220474,&quot;width&quot;:492.053729248047}"/>
</p:tagLst>
</file>

<file path=ppt/tags/tag254.xml><?xml version="1.0" encoding="utf-8"?>
<p:tagLst xmlns:p="http://schemas.openxmlformats.org/presentationml/2006/main">
  <p:tag name="KSO_WM_UNIT_SUBTYPE" val="a"/>
  <p:tag name="KSO_WM_UNIT_NOCLEAR" val="0"/>
  <p:tag name="KSO_WM_UNIT_VALUE" val="192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1_1"/>
  <p:tag name="KSO_WM_UNIT_ID" val="diagram20235146_3*l_h_f*1_1_1"/>
  <p:tag name="KSO_WM_TEMPLATE_CATEGORY" val="diagram"/>
  <p:tag name="KSO_WM_TEMPLATE_INDEX" val="20235146"/>
  <p:tag name="KSO_WM_UNIT_LAYERLEVEL" val="1_1_1"/>
  <p:tag name="KSO_WM_TAG_VERSION" val="3.0"/>
  <p:tag name="KSO_WM_DIAGRAM_MAX_ITEMCNT" val="4"/>
  <p:tag name="KSO_WM_DIAGRAM_MIN_ITEMCNT" val="2"/>
  <p:tag name="KSO_WM_DIAGRAM_VIRTUALLY_FRAME" val="{&quot;height&quot;:443.51889153427965,&quot;left&quot;:59.7,&quot;top&quot;:137.43110236220474,&quot;width&quot;:492.053729248047}"/>
  <p:tag name="KSO_WM_DIAGRAM_COLOR_MATCH_VALUE" val="{&quot;shape&quot;:{&quot;fill&quot;:{&quot;solid&quot;:{&quot;brightness&quot;:0.4000000059604645,&quot;colorType&quot;:1,&quot;foreColorIndex&quot;:5,&quot;transparency&quot;:0.8799999952316284},&quot;type&quot;:1},&quot;glow&quot;:{&quot;colorType&quot;:0},&quot;line&quot;:{&quot;gradient&quot;:[{&quot;brightness&quot;:0,&quot;colorType&quot;:1,&quot;foreColorIndex&quot;:5,&quot;pos&quot;:1,&quot;transparency&quot;:0.8500000238418579},{&quot;brightness&quot;:0,&quot;colorType&quot;:1,&quot;foreColorIndex&quot;:5,&quot;pos&quot;:0,&quot;transparency&quot;:0.4000000059604645}],&quot;type&quot;:2},&quot;shadow&quot;:{&quot;brightness&quot;:0,&quot;colorType&quot;:2,&quot;rgb&quot;:&quot;#000000&quot;,&quot;transparency&quot;:0.9300000071525574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DIAGRAM_VERSION" val="3"/>
  <p:tag name="KSO_WM_DIAGRAM_COLOR_TRICK" val="1"/>
  <p:tag name="KSO_WM_DIAGRAM_COLOR_TEXT_CAN_REMOVE" val="n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。"/>
  <p:tag name="KSO_WM_UNIT_FILL_TYPE" val="1"/>
  <p:tag name="KSO_WM_UNIT_FILL_FORE_SCHEMECOLOR_INDEX" val="5"/>
  <p:tag name="KSO_WM_UNIT_FILL_FORE_SCHEMECOLOR_INDEX_BRIGHTNESS" val="0.4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2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ID" val="diagram20235146_3*l_h_i*1_1_1"/>
  <p:tag name="KSO_WM_TEMPLATE_CATEGORY" val="diagram"/>
  <p:tag name="KSO_WM_TEMPLATE_INDEX" val="20235146"/>
  <p:tag name="KSO_WM_UNIT_LAYERLEVEL" val="1_1_1"/>
  <p:tag name="KSO_WM_TAG_VERSION" val="3.0"/>
  <p:tag name="KSO_WM_BEAUTIFY_FLAG" val="#wm#"/>
  <p:tag name="KSO_WM_UNIT_TYPE" val="l_h_i"/>
  <p:tag name="KSO_WM_UNIT_INDEX" val="1_1_1"/>
  <p:tag name="KSO_WM_DIAGRAM_VERSION" val="3"/>
  <p:tag name="KSO_WM_DIAGRAM_COLOR_TRICK" val="1"/>
  <p:tag name="KSO_WM_DIAGRAM_COLOR_TEXT_CAN_REMOVE" val="n"/>
  <p:tag name="KSO_WM_UNIT_FILL_TYPE" val="3"/>
  <p:tag name="KSO_WM_DIAGRAM_MAX_ITEMCNT" val="4"/>
  <p:tag name="KSO_WM_DIAGRAM_MIN_ITEMCNT" val="2"/>
  <p:tag name="KSO_WM_DIAGRAM_VIRTUALLY_FRAME" val="{&quot;height&quot;:443.51889153427965,&quot;left&quot;:59.7,&quot;top&quot;:137.43110236220474,&quot;width&quot;:492.053729248047}"/>
  <p:tag name="KSO_WM_DIAGRAM_COLOR_MATCH_VALUE" val="{&quot;shape&quot;:{&quot;fill&quot;:{&quot;gradient&quot;:[{&quot;brightness&quot;:0.4000000059604645,&quot;colorType&quot;:1,&quot;foreColorIndex&quot;:5,&quot;pos&quot;:1,&quot;transparency&quot;:0.28999999165534973},{&quot;brightness&quot;:0,&quot;colorType&quot;:1,&quot;foreColorIndex&quot;:5,&quot;pos&quot;:0,&quot;transparency&quot;:0}],&quot;type&quot;:3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256.xml><?xml version="1.0" encoding="utf-8"?>
<p:tagLst xmlns:p="http://schemas.openxmlformats.org/presentationml/2006/main">
  <p:tag name="KSO_WM_DIAGRAM_VIRTUALLY_FRAME" val="{&quot;height&quot;:443.51889153427965,&quot;left&quot;:59.7,&quot;top&quot;:137.43110236220474,&quot;width&quot;:492.053729248047}"/>
</p:tagLst>
</file>

<file path=ppt/tags/tag257.xml><?xml version="1.0" encoding="utf-8"?>
<p:tagLst xmlns:p="http://schemas.openxmlformats.org/presentationml/2006/main">
  <p:tag name="KSO_WM_UNIT_SUBTYPE" val="a"/>
  <p:tag name="KSO_WM_UNIT_NOCLEAR" val="0"/>
  <p:tag name="KSO_WM_UNIT_VALUE" val="192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2_1"/>
  <p:tag name="KSO_WM_UNIT_ID" val="diagram20235146_3*l_h_f*1_2_1"/>
  <p:tag name="KSO_WM_TEMPLATE_CATEGORY" val="diagram"/>
  <p:tag name="KSO_WM_TEMPLATE_INDEX" val="20235146"/>
  <p:tag name="KSO_WM_UNIT_LAYERLEVEL" val="1_1_1"/>
  <p:tag name="KSO_WM_TAG_VERSION" val="3.0"/>
  <p:tag name="KSO_WM_DIAGRAM_MAX_ITEMCNT" val="4"/>
  <p:tag name="KSO_WM_DIAGRAM_MIN_ITEMCNT" val="2"/>
  <p:tag name="KSO_WM_DIAGRAM_VIRTUALLY_FRAME" val="{&quot;height&quot;:443.51889153427965,&quot;left&quot;:59.7,&quot;top&quot;:137.43110236220474,&quot;width&quot;:492.053729248047}"/>
  <p:tag name="KSO_WM_DIAGRAM_COLOR_MATCH_VALUE" val="{&quot;shape&quot;:{&quot;fill&quot;:{&quot;solid&quot;:{&quot;brightness&quot;:0.4000000059604645,&quot;colorType&quot;:1,&quot;foreColorIndex&quot;:5,&quot;transparency&quot;:0.8799999952316284},&quot;type&quot;:1},&quot;glow&quot;:{&quot;colorType&quot;:0},&quot;line&quot;:{&quot;gradient&quot;:[{&quot;brightness&quot;:0,&quot;colorType&quot;:1,&quot;foreColorIndex&quot;:5,&quot;pos&quot;:1,&quot;transparency&quot;:0.8500000238418579},{&quot;brightness&quot;:0,&quot;colorType&quot;:1,&quot;foreColorIndex&quot;:5,&quot;pos&quot;:0,&quot;transparency&quot;:0.4000000059604645}],&quot;type&quot;:2},&quot;shadow&quot;:{&quot;brightness&quot;:0,&quot;colorType&quot;:2,&quot;rgb&quot;:&quot;#000000&quot;,&quot;transparency&quot;:0.9300000071525574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DIAGRAM_VERSION" val="3"/>
  <p:tag name="KSO_WM_DIAGRAM_COLOR_TRICK" val="1"/>
  <p:tag name="KSO_WM_DIAGRAM_COLOR_TEXT_CAN_REMOVE" val="n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。"/>
  <p:tag name="KSO_WM_UNIT_FILL_TYPE" val="1"/>
  <p:tag name="KSO_WM_UNIT_FILL_FORE_SCHEMECOLOR_INDEX" val="5"/>
  <p:tag name="KSO_WM_UNIT_FILL_FORE_SCHEMECOLOR_INDEX_BRIGHTNESS" val="0.4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2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ID" val="diagram20235146_3*l_h_i*1_2_1"/>
  <p:tag name="KSO_WM_TEMPLATE_CATEGORY" val="diagram"/>
  <p:tag name="KSO_WM_TEMPLATE_INDEX" val="20235146"/>
  <p:tag name="KSO_WM_UNIT_LAYERLEVEL" val="1_1_1"/>
  <p:tag name="KSO_WM_TAG_VERSION" val="3.0"/>
  <p:tag name="KSO_WM_BEAUTIFY_FLAG" val="#wm#"/>
  <p:tag name="KSO_WM_UNIT_TYPE" val="l_h_i"/>
  <p:tag name="KSO_WM_UNIT_INDEX" val="1_2_1"/>
  <p:tag name="KSO_WM_DIAGRAM_VERSION" val="3"/>
  <p:tag name="KSO_WM_DIAGRAM_COLOR_TRICK" val="1"/>
  <p:tag name="KSO_WM_DIAGRAM_COLOR_TEXT_CAN_REMOVE" val="n"/>
  <p:tag name="KSO_WM_UNIT_FILL_TYPE" val="3"/>
  <p:tag name="KSO_WM_DIAGRAM_MAX_ITEMCNT" val="4"/>
  <p:tag name="KSO_WM_DIAGRAM_MIN_ITEMCNT" val="2"/>
  <p:tag name="KSO_WM_DIAGRAM_VIRTUALLY_FRAME" val="{&quot;height&quot;:443.51889153427965,&quot;left&quot;:59.7,&quot;top&quot;:137.43110236220474,&quot;width&quot;:492.053729248047}"/>
  <p:tag name="KSO_WM_DIAGRAM_COLOR_MATCH_VALUE" val="{&quot;shape&quot;:{&quot;fill&quot;:{&quot;gradient&quot;:[{&quot;brightness&quot;:0.4000000059604645,&quot;colorType&quot;:1,&quot;foreColorIndex&quot;:5,&quot;pos&quot;:1,&quot;transparency&quot;:0.28999999165534973},{&quot;brightness&quot;:0,&quot;colorType&quot;:1,&quot;foreColorIndex&quot;:5,&quot;pos&quot;:0,&quot;transparency&quot;:0}],&quot;type&quot;:3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259.xml><?xml version="1.0" encoding="utf-8"?>
<p:tagLst xmlns:p="http://schemas.openxmlformats.org/presentationml/2006/main">
  <p:tag name="KSO_WM_DIAGRAM_VIRTUALLY_FRAME" val="{&quot;height&quot;:443.51889153427965,&quot;left&quot;:59.7,&quot;top&quot;:137.43110236220474,&quot;width&quot;:492.053729248047}"/>
</p:tagLst>
</file>

<file path=ppt/tags/tag260.xml><?xml version="1.0" encoding="utf-8"?>
<p:tagLst xmlns:p="http://schemas.openxmlformats.org/presentationml/2006/main">
  <p:tag name="KSO_WM_UNIT_SUBTYPE" val="a"/>
  <p:tag name="KSO_WM_UNIT_NOCLEAR" val="0"/>
  <p:tag name="KSO_WM_UNIT_VALUE" val="192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3_1"/>
  <p:tag name="KSO_WM_UNIT_ID" val="diagram20235146_3*l_h_f*1_3_1"/>
  <p:tag name="KSO_WM_TEMPLATE_CATEGORY" val="diagram"/>
  <p:tag name="KSO_WM_TEMPLATE_INDEX" val="20235146"/>
  <p:tag name="KSO_WM_UNIT_LAYERLEVEL" val="1_1_1"/>
  <p:tag name="KSO_WM_TAG_VERSION" val="3.0"/>
  <p:tag name="KSO_WM_DIAGRAM_MAX_ITEMCNT" val="4"/>
  <p:tag name="KSO_WM_DIAGRAM_MIN_ITEMCNT" val="2"/>
  <p:tag name="KSO_WM_DIAGRAM_VIRTUALLY_FRAME" val="{&quot;height&quot;:443.51889153427965,&quot;left&quot;:59.7,&quot;top&quot;:137.43110236220474,&quot;width&quot;:492.053729248047}"/>
  <p:tag name="KSO_WM_DIAGRAM_COLOR_MATCH_VALUE" val="{&quot;shape&quot;:{&quot;fill&quot;:{&quot;solid&quot;:{&quot;brightness&quot;:0.4000000059604645,&quot;colorType&quot;:1,&quot;foreColorIndex&quot;:5,&quot;transparency&quot;:0.8799999952316284},&quot;type&quot;:1},&quot;glow&quot;:{&quot;colorType&quot;:0},&quot;line&quot;:{&quot;gradient&quot;:[{&quot;brightness&quot;:0,&quot;colorType&quot;:1,&quot;foreColorIndex&quot;:5,&quot;pos&quot;:1,&quot;transparency&quot;:0.8500000238418579},{&quot;brightness&quot;:0,&quot;colorType&quot;:1,&quot;foreColorIndex&quot;:5,&quot;pos&quot;:0,&quot;transparency&quot;:0.4000000059604645}],&quot;type&quot;:2},&quot;shadow&quot;:{&quot;brightness&quot;:0,&quot;colorType&quot;:2,&quot;rgb&quot;:&quot;#000000&quot;,&quot;transparency&quot;:0.9300000071525574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DIAGRAM_VERSION" val="3"/>
  <p:tag name="KSO_WM_DIAGRAM_COLOR_TRICK" val="1"/>
  <p:tag name="KSO_WM_DIAGRAM_COLOR_TEXT_CAN_REMOVE" val="n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。"/>
  <p:tag name="KSO_WM_UNIT_FILL_TYPE" val="1"/>
  <p:tag name="KSO_WM_UNIT_FILL_FORE_SCHEMECOLOR_INDEX" val="5"/>
  <p:tag name="KSO_WM_UNIT_FILL_FORE_SCHEMECOLOR_INDEX_BRIGHTNESS" val="0.4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2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ID" val="diagram20235146_3*l_h_i*1_3_1"/>
  <p:tag name="KSO_WM_TEMPLATE_CATEGORY" val="diagram"/>
  <p:tag name="KSO_WM_TEMPLATE_INDEX" val="20235146"/>
  <p:tag name="KSO_WM_UNIT_LAYERLEVEL" val="1_1_1"/>
  <p:tag name="KSO_WM_TAG_VERSION" val="3.0"/>
  <p:tag name="KSO_WM_BEAUTIFY_FLAG" val="#wm#"/>
  <p:tag name="KSO_WM_UNIT_TYPE" val="l_h_i"/>
  <p:tag name="KSO_WM_UNIT_INDEX" val="1_3_1"/>
  <p:tag name="KSO_WM_DIAGRAM_VERSION" val="3"/>
  <p:tag name="KSO_WM_DIAGRAM_COLOR_TRICK" val="1"/>
  <p:tag name="KSO_WM_DIAGRAM_COLOR_TEXT_CAN_REMOVE" val="n"/>
  <p:tag name="KSO_WM_UNIT_FILL_TYPE" val="3"/>
  <p:tag name="KSO_WM_DIAGRAM_MAX_ITEMCNT" val="4"/>
  <p:tag name="KSO_WM_DIAGRAM_MIN_ITEMCNT" val="2"/>
  <p:tag name="KSO_WM_DIAGRAM_VIRTUALLY_FRAME" val="{&quot;height&quot;:443.51889153427965,&quot;left&quot;:59.7,&quot;top&quot;:137.43110236220474,&quot;width&quot;:492.053729248047}"/>
  <p:tag name="KSO_WM_DIAGRAM_COLOR_MATCH_VALUE" val="{&quot;shape&quot;:{&quot;fill&quot;:{&quot;gradient&quot;:[{&quot;brightness&quot;:0.4000000059604645,&quot;colorType&quot;:1,&quot;foreColorIndex&quot;:5,&quot;pos&quot;:1,&quot;transparency&quot;:0.28999999165534973},{&quot;brightness&quot;:0,&quot;colorType&quot;:1,&quot;foreColorIndex&quot;:5,&quot;pos&quot;:0,&quot;transparency&quot;:0}],&quot;type&quot;:3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262.xml><?xml version="1.0" encoding="utf-8"?>
<p:tagLst xmlns:p="http://schemas.openxmlformats.org/presentationml/2006/main">
  <p:tag name="KSO_WM_DIAGRAM_VIRTUALLY_FRAME" val="{&quot;height&quot;:443.51889153427965,&quot;left&quot;:59.7,&quot;top&quot;:137.43110236220474,&quot;width&quot;:492.053729248047}"/>
</p:tagLst>
</file>

<file path=ppt/tags/tag263.xml><?xml version="1.0" encoding="utf-8"?>
<p:tagLst xmlns:p="http://schemas.openxmlformats.org/presentationml/2006/main">
  <p:tag name="KSO_WM_UNIT_SUBTYPE" val="a"/>
  <p:tag name="KSO_WM_UNIT_NOCLEAR" val="0"/>
  <p:tag name="KSO_WM_UNIT_VALUE" val="192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4_1"/>
  <p:tag name="KSO_WM_UNIT_ID" val="diagram20235146_3*l_h_f*1_4_1"/>
  <p:tag name="KSO_WM_TEMPLATE_CATEGORY" val="diagram"/>
  <p:tag name="KSO_WM_TEMPLATE_INDEX" val="20235146"/>
  <p:tag name="KSO_WM_UNIT_LAYERLEVEL" val="1_1_1"/>
  <p:tag name="KSO_WM_TAG_VERSION" val="3.0"/>
  <p:tag name="KSO_WM_DIAGRAM_MAX_ITEMCNT" val="4"/>
  <p:tag name="KSO_WM_DIAGRAM_MIN_ITEMCNT" val="2"/>
  <p:tag name="KSO_WM_DIAGRAM_VIRTUALLY_FRAME" val="{&quot;height&quot;:443.51889153427965,&quot;left&quot;:59.7,&quot;top&quot;:137.43110236220474,&quot;width&quot;:492.053729248047}"/>
  <p:tag name="KSO_WM_DIAGRAM_COLOR_MATCH_VALUE" val="{&quot;shape&quot;:{&quot;fill&quot;:{&quot;solid&quot;:{&quot;brightness&quot;:0.4000000059604645,&quot;colorType&quot;:1,&quot;foreColorIndex&quot;:5,&quot;transparency&quot;:0.8799999952316284},&quot;type&quot;:1},&quot;glow&quot;:{&quot;colorType&quot;:0},&quot;line&quot;:{&quot;gradient&quot;:[{&quot;brightness&quot;:0,&quot;colorType&quot;:1,&quot;foreColorIndex&quot;:5,&quot;pos&quot;:1,&quot;transparency&quot;:0.8500000238418579},{&quot;brightness&quot;:0,&quot;colorType&quot;:1,&quot;foreColorIndex&quot;:5,&quot;pos&quot;:0,&quot;transparency&quot;:0.4000000059604645}],&quot;type&quot;:2},&quot;shadow&quot;:{&quot;brightness&quot;:0,&quot;colorType&quot;:2,&quot;rgb&quot;:&quot;#000000&quot;,&quot;transparency&quot;:0.9300000071525574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DIAGRAM_VERSION" val="3"/>
  <p:tag name="KSO_WM_DIAGRAM_COLOR_TRICK" val="1"/>
  <p:tag name="KSO_WM_DIAGRAM_COLOR_TEXT_CAN_REMOVE" val="n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。"/>
  <p:tag name="KSO_WM_UNIT_FILL_TYPE" val="1"/>
  <p:tag name="KSO_WM_UNIT_FILL_FORE_SCHEMECOLOR_INDEX" val="5"/>
  <p:tag name="KSO_WM_UNIT_FILL_FORE_SCHEMECOLOR_INDEX_BRIGHTNESS" val="0.4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2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ID" val="diagram20235146_3*l_h_i*1_4_1"/>
  <p:tag name="KSO_WM_TEMPLATE_CATEGORY" val="diagram"/>
  <p:tag name="KSO_WM_TEMPLATE_INDEX" val="20235146"/>
  <p:tag name="KSO_WM_UNIT_LAYERLEVEL" val="1_1_1"/>
  <p:tag name="KSO_WM_TAG_VERSION" val="3.0"/>
  <p:tag name="KSO_WM_BEAUTIFY_FLAG" val="#wm#"/>
  <p:tag name="KSO_WM_UNIT_TYPE" val="l_h_i"/>
  <p:tag name="KSO_WM_UNIT_INDEX" val="1_4_1"/>
  <p:tag name="KSO_WM_DIAGRAM_VERSION" val="3"/>
  <p:tag name="KSO_WM_DIAGRAM_COLOR_TRICK" val="1"/>
  <p:tag name="KSO_WM_DIAGRAM_COLOR_TEXT_CAN_REMOVE" val="n"/>
  <p:tag name="KSO_WM_UNIT_FILL_TYPE" val="3"/>
  <p:tag name="KSO_WM_DIAGRAM_MAX_ITEMCNT" val="4"/>
  <p:tag name="KSO_WM_DIAGRAM_MIN_ITEMCNT" val="2"/>
  <p:tag name="KSO_WM_DIAGRAM_VIRTUALLY_FRAME" val="{&quot;height&quot;:443.51889153427965,&quot;left&quot;:59.7,&quot;top&quot;:137.43110236220474,&quot;width&quot;:492.053729248047}"/>
  <p:tag name="KSO_WM_DIAGRAM_COLOR_MATCH_VALUE" val="{&quot;shape&quot;:{&quot;fill&quot;:{&quot;gradient&quot;:[{&quot;brightness&quot;:0.4000000059604645,&quot;colorType&quot;:1,&quot;foreColorIndex&quot;:5,&quot;pos&quot;:1,&quot;transparency&quot;:0.28999999165534973},{&quot;brightness&quot;:0,&quot;colorType&quot;:1,&quot;foreColorIndex&quot;:5,&quot;pos&quot;:0,&quot;transparency&quot;:0}],&quot;type&quot;:3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2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q_h_i"/>
  <p:tag name="KSO_WM_UNIT_INDEX" val="1_1_1"/>
  <p:tag name="KSO_WM_UNIT_ID" val="diagram20231660_4*q_h_i*1_1_1"/>
  <p:tag name="KSO_WM_TEMPLATE_CATEGORY" val="diagram"/>
  <p:tag name="KSO_WM_TEMPLATE_INDEX" val="20231660"/>
  <p:tag name="KSO_WM_UNIT_LAYERLEVEL" val="1_1_1"/>
  <p:tag name="KSO_WM_TAG_VERSION" val="3.0"/>
  <p:tag name="KSO_WM_DIAGRAM_GROUP_CODE" val="q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709.1152755905512,&quot;left&quot;:49.94999999999999,&quot;top&quot;:209.63472440944878,&quot;width&quot;:1776.15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  <p:tag name="KSO_WM_DIAGRAM_USE_COLOR_VALUE" val="{&quot;color_scheme&quot;:1,&quot;color_type&quot;:1,&quot;theme_color_indexes&quot;:[9,10,9,10,9,10]}"/>
</p:tagLst>
</file>

<file path=ppt/tags/tag2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q_h_i"/>
  <p:tag name="KSO_WM_UNIT_INDEX" val="1_1_1"/>
  <p:tag name="KSO_WM_UNIT_ID" val="diagram20231660_4*q_h_i*1_1_1"/>
  <p:tag name="KSO_WM_TEMPLATE_CATEGORY" val="diagram"/>
  <p:tag name="KSO_WM_TEMPLATE_INDEX" val="20231660"/>
  <p:tag name="KSO_WM_UNIT_LAYERLEVEL" val="1_1_1"/>
  <p:tag name="KSO_WM_TAG_VERSION" val="3.0"/>
  <p:tag name="KSO_WM_DIAGRAM_GROUP_CODE" val="q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709.1152755905512,&quot;left&quot;:49.94999999999999,&quot;top&quot;:209.63472440944878,&quot;width&quot;:1776.15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  <p:tag name="KSO_WM_DIAGRAM_USE_COLOR_VALUE" val="{&quot;color_scheme&quot;:1,&quot;color_type&quot;:1,&quot;theme_color_indexes&quot;:[9,10,9,10,9,10]}"/>
</p:tagLst>
</file>

<file path=ppt/tags/tag2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q_h_i"/>
  <p:tag name="KSO_WM_UNIT_INDEX" val="1_1_1"/>
  <p:tag name="KSO_WM_UNIT_ID" val="diagram20231660_4*q_h_i*1_1_1"/>
  <p:tag name="KSO_WM_TEMPLATE_CATEGORY" val="diagram"/>
  <p:tag name="KSO_WM_TEMPLATE_INDEX" val="20231660"/>
  <p:tag name="KSO_WM_UNIT_LAYERLEVEL" val="1_1_1"/>
  <p:tag name="KSO_WM_TAG_VERSION" val="3.0"/>
  <p:tag name="KSO_WM_DIAGRAM_GROUP_CODE" val="q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709.1152755905512,&quot;left&quot;:49.94999999999999,&quot;top&quot;:209.63472440944878,&quot;width&quot;:1776.15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  <p:tag name="KSO_WM_DIAGRAM_USE_COLOR_VALUE" val="{&quot;color_scheme&quot;:1,&quot;color_type&quot;:1,&quot;theme_color_indexes&quot;:[9,10,9,10,9,10]}"/>
</p:tagLst>
</file>

<file path=ppt/tags/tag2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q_h_i"/>
  <p:tag name="KSO_WM_UNIT_INDEX" val="1_1_1"/>
  <p:tag name="KSO_WM_UNIT_ID" val="diagram20231660_4*q_h_i*1_1_1"/>
  <p:tag name="KSO_WM_TEMPLATE_CATEGORY" val="diagram"/>
  <p:tag name="KSO_WM_TEMPLATE_INDEX" val="20231660"/>
  <p:tag name="KSO_WM_UNIT_LAYERLEVEL" val="1_1_1"/>
  <p:tag name="KSO_WM_TAG_VERSION" val="3.0"/>
  <p:tag name="KSO_WM_DIAGRAM_GROUP_CODE" val="q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709.1152755905512,&quot;left&quot;:49.94999999999999,&quot;top&quot;:209.63472440944878,&quot;width&quot;:1776.15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  <p:tag name="KSO_WM_DIAGRAM_USE_COLOR_VALUE" val="{&quot;color_scheme&quot;:1,&quot;color_type&quot;:1,&quot;theme_color_indexes&quot;:[9,10,9,10,9,10]}"/>
</p:tagLst>
</file>

<file path=ppt/tags/tag2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q_h_i"/>
  <p:tag name="KSO_WM_UNIT_INDEX" val="1_1_1"/>
  <p:tag name="KSO_WM_UNIT_ID" val="diagram20231660_4*q_h_i*1_1_1"/>
  <p:tag name="KSO_WM_TEMPLATE_CATEGORY" val="diagram"/>
  <p:tag name="KSO_WM_TEMPLATE_INDEX" val="20231660"/>
  <p:tag name="KSO_WM_UNIT_LAYERLEVEL" val="1_1_1"/>
  <p:tag name="KSO_WM_TAG_VERSION" val="3.0"/>
  <p:tag name="KSO_WM_DIAGRAM_GROUP_CODE" val="q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709.1152755905512,&quot;left&quot;:49.94999999999999,&quot;top&quot;:209.63472440944878,&quot;width&quot;:1776.15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  <p:tag name="KSO_WM_DIAGRAM_USE_COLOR_VALUE" val="{&quot;color_scheme&quot;:1,&quot;color_type&quot;:1,&quot;theme_color_indexes&quot;:[9,10,9,10,9,10]}"/>
</p:tagLst>
</file>

<file path=ppt/tags/tag2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q_h_i"/>
  <p:tag name="KSO_WM_UNIT_INDEX" val="1_1_1"/>
  <p:tag name="KSO_WM_UNIT_ID" val="diagram20231660_4*q_h_i*1_1_1"/>
  <p:tag name="KSO_WM_TEMPLATE_CATEGORY" val="diagram"/>
  <p:tag name="KSO_WM_TEMPLATE_INDEX" val="20231660"/>
  <p:tag name="KSO_WM_UNIT_LAYERLEVEL" val="1_1_1"/>
  <p:tag name="KSO_WM_TAG_VERSION" val="3.0"/>
  <p:tag name="KSO_WM_DIAGRAM_GROUP_CODE" val="q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709.1152755905512,&quot;left&quot;:49.94999999999999,&quot;top&quot;:209.63472440944878,&quot;width&quot;:1776.15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  <p:tag name="KSO_WM_DIAGRAM_USE_COLOR_VALUE" val="{&quot;color_scheme&quot;:1,&quot;color_type&quot;:1,&quot;theme_color_indexes&quot;:[9,10,9,10,9,10]}"/>
</p:tagLst>
</file>

<file path=ppt/tags/tag271.xml><?xml version="1.0" encoding="utf-8"?>
<p:tagLst xmlns:p="http://schemas.openxmlformats.org/presentationml/2006/main">
  <p:tag name="resource_record_key" val="{&quot;10&quot;:[21571666,21547652,20253287,3481656,50035314,21552069,21576169,4588957,21550782,4522474,50021858,3634889,21570670,50024265,50041117,21572500,21581987,50042277,50043352,17421794,3659203,21566645,3639535,4521268,19995253,3504219,4526305,50034089,4590447],&quot;13&quot;:[20025430],&quot;29&quot;:[50052445,50000144],&quot;65&quot;:[20238577],&quot;70&quot;:[3330157,3312290,3333581,3312385,3314426,3318441,3431215,3332761,3318307,3333613,3312479,3429185,3333487]}"/>
</p:tagLst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"/>
        <a:ea typeface=""/>
        <a:cs typeface=""/>
      </a:majorFont>
      <a:minorFont>
        <a:latin typeface="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satMod val="110000"/>
                <a:lum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satMod val="105000"/>
                <a:lum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shade val="94000"/>
              </a:schemeClr>
            </a:gs>
            <a:gs pos="50000">
              <a:schemeClr val="phClr">
                <a:lumMod val="110000"/>
                <a:satMod val="100000"/>
                <a:tint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简约星环线条职场办公">
  <a:themeElements>
    <a:clrScheme name="">
      <a:dk1>
        <a:srgbClr val="000000"/>
      </a:dk1>
      <a:lt1>
        <a:srgbClr val="FFFFFF"/>
      </a:lt1>
      <a:dk2>
        <a:srgbClr val="262626"/>
      </a:dk2>
      <a:lt2>
        <a:srgbClr val="E5F8FF"/>
      </a:lt2>
      <a:accent1>
        <a:srgbClr val="6364FF"/>
      </a:accent1>
      <a:accent2>
        <a:srgbClr val="00E701"/>
      </a:accent2>
      <a:accent3>
        <a:srgbClr val="FFCF37"/>
      </a:accent3>
      <a:accent4>
        <a:srgbClr val="E45458"/>
      </a:accent4>
      <a:accent5>
        <a:srgbClr val="21C384"/>
      </a:accent5>
      <a:accent6>
        <a:srgbClr val="00A5F2"/>
      </a:accent6>
      <a:hlink>
        <a:srgbClr val="0026E5"/>
      </a:hlink>
      <a:folHlink>
        <a:srgbClr val="7E1FAD"/>
      </a:folHlink>
    </a:clrScheme>
    <a:fontScheme name="主题字体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简约星环线条职场办公">
  <a:themeElements>
    <a:clrScheme name="">
      <a:dk1>
        <a:srgbClr val="000000"/>
      </a:dk1>
      <a:lt1>
        <a:srgbClr val="FFFFFF"/>
      </a:lt1>
      <a:dk2>
        <a:srgbClr val="262626"/>
      </a:dk2>
      <a:lt2>
        <a:srgbClr val="E5F8FF"/>
      </a:lt2>
      <a:accent1>
        <a:srgbClr val="6364FF"/>
      </a:accent1>
      <a:accent2>
        <a:srgbClr val="00E701"/>
      </a:accent2>
      <a:accent3>
        <a:srgbClr val="FFCF37"/>
      </a:accent3>
      <a:accent4>
        <a:srgbClr val="E45458"/>
      </a:accent4>
      <a:accent5>
        <a:srgbClr val="21C384"/>
      </a:accent5>
      <a:accent6>
        <a:srgbClr val="00A5F2"/>
      </a:accent6>
      <a:hlink>
        <a:srgbClr val="0026E5"/>
      </a:hlink>
      <a:folHlink>
        <a:srgbClr val="7E1FAD"/>
      </a:folHlink>
    </a:clrScheme>
    <a:fontScheme name="主题字体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彩色5">
    <a:dk1>
      <a:srgbClr val="000000"/>
    </a:dk1>
    <a:lt1>
      <a:srgbClr val="FFFFFF"/>
    </a:lt1>
    <a:dk2>
      <a:srgbClr val="212745"/>
    </a:dk2>
    <a:lt2>
      <a:srgbClr val="B4DCFA"/>
    </a:lt2>
    <a:accent1>
      <a:srgbClr val="4E67C8"/>
    </a:accent1>
    <a:accent2>
      <a:srgbClr val="5ECCF3"/>
    </a:accent2>
    <a:accent3>
      <a:srgbClr val="A7EA52"/>
    </a:accent3>
    <a:accent4>
      <a:srgbClr val="5DCEAF"/>
    </a:accent4>
    <a:accent5>
      <a:srgbClr val="FF8021"/>
    </a:accent5>
    <a:accent6>
      <a:srgbClr val="F14124"/>
    </a:accent6>
    <a:hlink>
      <a:srgbClr val="56C7AA"/>
    </a:hlink>
    <a:folHlink>
      <a:srgbClr val="59A8D1"/>
    </a:folHlink>
  </a:clrScheme>
  <a:fontScheme name="Office">
    <a:majorFont>
      <a:latin typeface="Calibri Light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"/>
      <a:ea typeface=""/>
      <a:cs typeface=""/>
    </a:majorFont>
    <a:minorFont>
      <a:latin typeface=""/>
      <a:ea typeface=""/>
      <a:cs typeface="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satMod val="110000"/>
              <a:lum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satMod val="105000"/>
              <a:lum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shade val="94000"/>
            </a:schemeClr>
          </a:gs>
          <a:gs pos="50000">
            <a:schemeClr val="phClr">
              <a:lumMod val="110000"/>
              <a:satMod val="100000"/>
              <a:tint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15106</Words>
  <Application>WPS 演示</Application>
  <PresentationFormat/>
  <Paragraphs>1185</Paragraphs>
  <Slides>30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30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30</vt:i4>
      </vt:variant>
    </vt:vector>
  </HeadingPairs>
  <TitlesOfParts>
    <vt:vector size="63" baseType="lpstr">
      <vt:lpstr>Arial</vt:lpstr>
      <vt:lpstr>宋体</vt:lpstr>
      <vt:lpstr>Wingdings</vt:lpstr>
      <vt:lpstr>Calibri</vt:lpstr>
      <vt:lpstr>微软雅黑</vt:lpstr>
      <vt:lpstr>Helvetica Neue</vt:lpstr>
      <vt:lpstr>黑体-简</vt:lpstr>
      <vt:lpstr>黑体</vt:lpstr>
      <vt:lpstr>Arial Black</vt:lpstr>
      <vt:lpstr>DINPro Bold</vt:lpstr>
      <vt:lpstr>Calibri</vt:lpstr>
      <vt:lpstr>Arial</vt:lpstr>
      <vt:lpstr>Calibri</vt:lpstr>
      <vt:lpstr>Wingdings</vt:lpstr>
      <vt:lpstr>Heiti SC Medium</vt:lpstr>
      <vt:lpstr>Heiti SC Light</vt:lpstr>
      <vt:lpstr>Songti SC</vt:lpstr>
      <vt:lpstr>Noto Sans SC</vt:lpstr>
      <vt:lpstr>微软雅黑</vt:lpstr>
      <vt:lpstr>Source Han Sans CN Medium</vt:lpstr>
      <vt:lpstr>Source Han Sans CN Bold</vt:lpstr>
      <vt:lpstr>Source Han Sans CN Normal</vt:lpstr>
      <vt:lpstr>+中文标题</vt:lpstr>
      <vt:lpstr>Noto Sans SC</vt:lpstr>
      <vt:lpstr>Arial Unicode MS</vt:lpstr>
      <vt:lpstr>Noto Sans</vt:lpstr>
      <vt:lpstr>+中文正文</vt:lpstr>
      <vt:lpstr>Times New Roman</vt:lpstr>
      <vt:lpstr>Liberation Mono</vt:lpstr>
      <vt:lpstr>Myriad Pro</vt:lpstr>
      <vt:lpstr>Office theme</vt:lpstr>
      <vt:lpstr>简约星环线条职场办公</vt:lpstr>
      <vt:lpstr>1_简约星环线条职场办公</vt:lpstr>
      <vt:lpstr>PowerPoint 演示文稿</vt:lpstr>
      <vt:lpstr>PowerPoint 演示文稿</vt:lpstr>
      <vt:lpstr>目标与协作机制回顾</vt:lpstr>
      <vt:lpstr>PowerPoint 演示文稿</vt:lpstr>
      <vt:lpstr>PowerPoint 演示文稿</vt:lpstr>
      <vt:lpstr>PowerPoint 演示文稿</vt:lpstr>
      <vt:lpstr>我们共同的工作成果总结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共同的挑战与应对思路</vt:lpstr>
      <vt:lpstr>PowerPoint 演示文稿</vt:lpstr>
      <vt:lpstr>PowerPoint 演示文稿</vt:lpstr>
      <vt:lpstr>PowerPoint 演示文稿</vt:lpstr>
      <vt:lpstr>下阶段目标与协作计划</vt:lpstr>
      <vt:lpstr>PowerPoint 演示文稿</vt:lpstr>
      <vt:lpstr>PowerPoint 演示文稿</vt:lpstr>
      <vt:lpstr>PowerPoint 演示文稿</vt:lpstr>
      <vt:lpstr>PowerPoint 演示文稿</vt:lpstr>
      <vt:lpstr>客户成功   才是深信服的成功</vt:lpstr>
      <vt:lpstr>工作成果详情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π</cp:lastModifiedBy>
  <cp:revision>147</cp:revision>
  <dcterms:created xsi:type="dcterms:W3CDTF">2026-05-09T07:40:00Z</dcterms:created>
  <dcterms:modified xsi:type="dcterms:W3CDTF">2026-07-03T05:54:37Z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O">
    <vt:lpwstr>wqlLaW5nc29mdCBQREYgdG8gV1BTIDExMEI</vt:lpwstr>
  </property>
  <property fmtid="{D5CDD505-2E9C-101B-9397-08002B2CF9AE}" pid="3" name="Created">
    <vt:filetime>2025-08-03T09:35:42Z</vt:filetime>
  </property>
  <property fmtid="{D5CDD505-2E9C-101B-9397-08002B2CF9AE}" pid="4" name="UsrData">
    <vt:lpwstr>687eeadea43bea0020547dd2wl</vt:lpwstr>
  </property>
  <property fmtid="{D5CDD505-2E9C-101B-9397-08002B2CF9AE}" pid="5" name="ICV">
    <vt:lpwstr>35D22C8AD5D1D18E7ACDDC6933F0EB79_43</vt:lpwstr>
  </property>
  <property fmtid="{D5CDD505-2E9C-101B-9397-08002B2CF9AE}" pid="6" name="KSOProductBuildVer">
    <vt:lpwstr>2052-12.1.0.26895</vt:lpwstr>
  </property>
</Properties>
</file>