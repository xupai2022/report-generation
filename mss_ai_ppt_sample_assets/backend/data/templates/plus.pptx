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media/image11.svg" ContentType="image/svg+xml"/>
  <Override PartName="/ppt/media/image13.svg" ContentType="image/svg+xml"/>
  <Override PartName="/ppt/media/image17.svg" ContentType="image/svg+xml"/>
  <Override PartName="/ppt/media/image19.svg" ContentType="image/svg+xml"/>
  <Override PartName="/ppt/media/image22.svg" ContentType="image/svg+xml"/>
  <Override PartName="/ppt/media/image24.svg" ContentType="image/svg+xml"/>
  <Override PartName="/ppt/media/image26.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63" r:id="rId4"/>
  </p:sldMasterIdLst>
  <p:notesMasterIdLst>
    <p:notesMasterId r:id="rId6"/>
  </p:notesMasterIdLst>
  <p:sldIdLst>
    <p:sldId id="391" r:id="rId5"/>
    <p:sldId id="421" r:id="rId7"/>
    <p:sldId id="393" r:id="rId8"/>
    <p:sldId id="394" r:id="rId9"/>
    <p:sldId id="422" r:id="rId10"/>
    <p:sldId id="396" r:id="rId11"/>
    <p:sldId id="397" r:id="rId12"/>
    <p:sldId id="428" r:id="rId13"/>
    <p:sldId id="429" r:id="rId14"/>
    <p:sldId id="430" r:id="rId15"/>
    <p:sldId id="400" r:id="rId16"/>
    <p:sldId id="401" r:id="rId17"/>
    <p:sldId id="431" r:id="rId18"/>
    <p:sldId id="402" r:id="rId19"/>
    <p:sldId id="404" r:id="rId20"/>
    <p:sldId id="405" r:id="rId21"/>
    <p:sldId id="406" r:id="rId22"/>
    <p:sldId id="407" r:id="rId23"/>
    <p:sldId id="423" r:id="rId24"/>
    <p:sldId id="408" r:id="rId25"/>
    <p:sldId id="424" r:id="rId26"/>
    <p:sldId id="425" r:id="rId27"/>
    <p:sldId id="426" r:id="rId28"/>
    <p:sldId id="427" r:id="rId29"/>
    <p:sldId id="411" r:id="rId30"/>
    <p:sldId id="412" r:id="rId31"/>
    <p:sldId id="415" r:id="rId32"/>
    <p:sldId id="414" r:id="rId33"/>
    <p:sldId id="416" r:id="rId34"/>
    <p:sldId id="417" r:id="rId35"/>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 id="346" name="WPS" initials="W" lastIdx="0" clrIdx="345"/>
  <p:cmAuthor id="347" name="Qiao" initials="authorId_196572682" lastIdx="0" clrIdx="346"/>
  <p:cmAuthor id="348" name="未知用户348" initials="未" lastIdx="0" clrIdx="347"/>
  <p:cmAuthor id="349" name="未知用户148" initials="未" lastIdx="0" clrIdx="348"/>
  <p:cmAuthor id="350" name="未知用户195" initials="未" lastIdx="0" clrIdx="349"/>
  <p:cmAuthor id="351" name="未知用户207" initials="未" lastIdx="0" clrIdx="350"/>
  <p:cmAuthor id="352" name="未知用户208" initials="未" lastIdx="0" clrIdx="351"/>
  <p:cmAuthor id="353" name="未知用户198" initials="未" lastIdx="0" clrIdx="352"/>
  <p:cmAuthor id="354" name="未知用户209" initials="未" lastIdx="0" clrIdx="353"/>
  <p:cmAuthor id="355" name="未知用户289" initials="未" lastIdx="0" clrIdx="354"/>
  <p:cmAuthor id="356" name="未知用户206" initials="未" lastIdx="0" clrIdx="355"/>
  <p:cmAuthor id="357" name="未知的使用者207" initials="未" lastIdx="0" clrIdx="356"/>
  <p:cmAuthor id="358" name="未知的使用者208" initials="未" lastIdx="0" clrIdx="357"/>
  <p:cmAuthor id="359" name="未知的使用者188" initials="未" lastIdx="0" clrIdx="358"/>
  <p:cmAuthor id="360" name="未知的使用者189" initials="未" lastIdx="0" clrIdx="359"/>
  <p:cmAuthor id="361" name="未知的使用者190" initials="未" lastIdx="0" clrIdx="360"/>
  <p:cmAuthor id="362" name="未知的使用者191" initials="未" lastIdx="0" clrIdx="361"/>
  <p:cmAuthor id="363" name="未知的使用者192" initials="未" lastIdx="0" clrIdx="362"/>
  <p:cmAuthor id="364" name="未知的使用者193" initials="未" lastIdx="0" clrIdx="363"/>
  <p:cmAuthor id="365" name="未知的使用者209" initials="未" lastIdx="0" clrIdx="364"/>
  <p:cmAuthor id="366" name="未知用户118" initials="未" lastIdx="0" clrIdx="365"/>
  <p:cmAuthor id="367" name="未知用户147" initials="未" lastIdx="0" clrIdx="366"/>
  <p:cmAuthor id="368" name="未知的使用者96" initials="未" lastIdx="0" clrIdx="367"/>
  <p:cmAuthor id="369" name="未知用户255" initials="未" lastIdx="0" clrIdx="368"/>
  <p:cmAuthor id="370" name="未知的使用者153" initials="未" lastIdx="0" clrIdx="369"/>
  <p:cmAuthor id="371" name="未知的使用者154" initials="未" lastIdx="0" clrIdx="370"/>
  <p:cmAuthor id="372" name="未知的使用者156" initials="未" lastIdx="0" clrIdx="371"/>
  <p:cmAuthor id="373" name="未知的使用者157" initials="未" lastIdx="0" clrIdx="372"/>
  <p:cmAuthor id="374" name="未知用户246" initials="未" lastIdx="0" clrIdx="373"/>
  <p:cmAuthor id="375" name="未知的使用者129" initials="未" lastIdx="0" clrIdx="374"/>
  <p:cmAuthor id="376" name="未知用户257" initials="未" lastIdx="0" clrIdx="375"/>
  <p:cmAuthor id="377" name="未知的使用者164" initials="未" lastIdx="0" clrIdx="376"/>
  <p:cmAuthor id="378" name="未知的使用者172" initials="未" lastIdx="0" clrIdx="377"/>
  <p:cmAuthor id="379" name="未知的使用者174" initials="未" lastIdx="0" clrIdx="378"/>
  <p:cmAuthor id="380" name="未知用户261" initials="未" lastIdx="0" clrIdx="379"/>
  <p:cmAuthor id="381" name="未知的使用者247" initials="未" lastIdx="0" clrIdx="380"/>
  <p:cmAuthor id="382" name="未知的使用者249" initials="未" lastIdx="0" clrIdx="381"/>
  <p:cmAuthor id="383" name="未知的使用者250" initials="未" lastIdx="0" clrIdx="382"/>
  <p:cmAuthor id="384" name="未知的使用者251" initials="未" lastIdx="0" clrIdx="383"/>
  <p:cmAuthor id="385" name="未知的使用者246" initials="未" lastIdx="0" clrIdx="384"/>
  <p:cmAuthor id="386" name="未知的使用者252" initials="未" lastIdx="0" clrIdx="385"/>
  <p:cmAuthor id="387" name="未知的使用者253" initials="未" lastIdx="0" clrIdx="386"/>
  <p:cmAuthor id="388" name="未知的使用者254" initials="未" lastIdx="0" clrIdx="387"/>
  <p:cmAuthor id="389" name="未知的使用者255" initials="未" lastIdx="0" clrIdx="388"/>
  <p:cmAuthor id="390" name="未知用户268" initials="未" lastIdx="0" clrIdx="389"/>
  <p:cmAuthor id="391" name="群智集" initials="群" lastIdx="0" clrIdx="390"/>
  <p:cmAuthor id="392" name="未知用户269" initials="未" lastIdx="0" clrIdx="391"/>
  <p:cmAuthor id="393" name="未知的使用者270" initials="未" lastIdx="0" clrIdx="392"/>
  <p:cmAuthor id="394" name="郏 鹏" initials="郏" lastIdx="0" clrIdx="393"/>
  <p:cmAuthor id="395" name="未知用户250" initials="未" lastIdx="0" clrIdx="394"/>
  <p:cmAuthor id="396" name="郏鹏" initials="郏" lastIdx="0" clrIdx="395"/>
  <p:cmAuthor id="397" name="未知用户272" initials="未" lastIdx="0" clrIdx="396"/>
  <p:cmAuthor id="398" name="石晓利" initials="石" lastIdx="0" clrIdx="397"/>
  <p:cmAuthor id="399" name="未知的使用者256" initials="未" lastIdx="0" clrIdx="398"/>
  <p:cmAuthor id="400" name="罗志军" initials="罗" lastIdx="0" clrIdx="399"/>
  <p:cmAuthor id="401" name="夜尽迟渊_UrQfrmQZ" initials="夜" lastIdx="0" clrIdx="400"/>
  <p:cmAuthor id="402" name="lvz" initials="l" lastIdx="0" clrIdx="401"/>
  <p:cmAuthor id="403" name="未知的使用者200" initials="未" lastIdx="0" clrIdx="402"/>
  <p:cmAuthor id="404" name="CMCC" initials="C" lastIdx="0" clrIdx="403"/>
  <p:cmAuthor id="405" name="王丰_aE3uARfm" initials="王" lastIdx="0" clrIdx="404"/>
  <p:cmAuthor id="406" name="Tianchi Yao" initials="TY" lastIdx="0" clrIdx="405"/>
  <p:cmAuthor id="407" name="未知的使用者257" initials="未" lastIdx="0" clrIdx="406"/>
  <p:cmAuthor id="408" name="方少_UbQfrimU" initials="方" lastIdx="0" clrIdx="407"/>
  <p:cmAuthor id="409" name="贾云雁" initials="贾" lastIdx="0" clrIdx="408"/>
  <p:cmAuthor id="410" name="叶盛_Q3A3IfEf" initials="叶" lastIdx="0" clrIdx="409"/>
  <p:cmAuthor id="411" name="Harley._bEJrUJ7r" initials="H" lastIdx="0" clrIdx="410"/>
  <p:cmAuthor id="412" name="罗平_VB7vJb2E" initials="罗" lastIdx="0" clrIdx="411"/>
  <p:cmAuthor id="413" name="未知的使用者240" initials="未" lastIdx="0" clrIdx="412"/>
  <p:cmAuthor id="414" name="xixi_nUjqe22E" initials="x" lastIdx="0" clrIdx="413"/>
  <p:cmAuthor id="415" name="未知的使用者241" initials="未" lastIdx="0" clrIdx="414"/>
  <p:cmAuthor id="416" name="安安_zm6nYnYZ" initials="安" lastIdx="0" clrIdx="415"/>
  <p:cmAuthor id="417" name="未知的使用者242" initials="未" lastIdx="0" clrIdx="416"/>
  <p:cmAuthor id="418" name="未知的使用者243" initials="未" lastIdx="0" clrIdx="417"/>
  <p:cmAuthor id="419" name="未知的使用者258" initials="未" lastIdx="0" clrIdx="418"/>
  <p:cmAuthor id="420" name="周君_MfIffYra" initials="周" lastIdx="0" clrIdx="419"/>
  <p:cmAuthor id="421" name="未知的使用者259" initials="未" lastIdx="0" clrIdx="420"/>
  <p:cmAuthor id="422" name="未知的使用者260" initials="未" lastIdx="0" clrIdx="421"/>
  <p:cmAuthor id="423" name="未知的使用者261" initials="未" lastIdx="0" clrIdx="422"/>
  <p:cmAuthor id="424" name="未知的使用者262" initials="未" lastIdx="0" clrIdx="423"/>
  <p:cmAuthor id="425" name="未知的使用者263" initials="未" lastIdx="0" clrIdx="424"/>
  <p:cmAuthor id="426" name="未知的使用者264" initials="未" lastIdx="0" clrIdx="425"/>
  <p:cmAuthor id="427" name="未知的使用者265" initials="未" lastIdx="0" clrIdx="426"/>
  <p:cmAuthor id="428" name="未知的使用者266" initials="未" lastIdx="0" clrIdx="427"/>
  <p:cmAuthor id="429" name="未知的使用者267" initials="未" lastIdx="0" clrIdx="428"/>
  <p:cmAuthor id="430" name="未知的使用者268" initials="未" lastIdx="0" clrIdx="429"/>
  <p:cmAuthor id="431" name="未知的使用者269" initials="未" lastIdx="0" clrIdx="430"/>
  <p:cmAuthor id="432" name="刘晖" initials="刘" lastIdx="0" clrIdx="431"/>
  <p:cmAuthor id="433" name="lillian" initials="l" lastIdx="0" clrIdx="432"/>
  <p:cmAuthor id="434" name="未知用户197" initials="未" lastIdx="0" clrIdx="433"/>
  <p:cmAuthor id="435" name="admin7" initials="a" lastIdx="0" clrIdx="434"/>
  <p:cmAuthor id="436" name="dd" initials="d" lastIdx="0" clrIdx="435"/>
  <p:cmAuthor id="437" name="未知用户240" initials="未" lastIdx="0" clrIdx="436"/>
  <p:cmAuthor id="438" name="未知的使用者67" initials="未" lastIdx="0" clrIdx="437"/>
  <p:cmAuthor id="439" name="未知的使用者46" initials="未" lastIdx="0" clrIdx="438"/>
  <p:cmAuthor id="440" name="未知用户106" initials="未" lastIdx="0" clrIdx="439"/>
  <p:cmAuthor id="441" name="未知的使用者8" initials="未" lastIdx="0" clrIdx="440"/>
  <p:cmAuthor id="442" name="不明使用者56" initials="不" lastIdx="0" clrIdx="441"/>
  <p:cmAuthor id="443" name="P00035_jeremy" initials="P" lastIdx="0" clrIdx="442"/>
  <p:cmAuthor id="444" name="Unknown User7" initials="U" lastIdx="0" clrIdx="443"/>
  <p:cmAuthor id="445" name="muzi wei" initials="m" lastIdx="0" clrIdx="444"/>
  <p:cmAuthor id="446" name="不明使用者21" initials="不" lastIdx="0" clrIdx="445"/>
  <p:cmAuthor id="447" name="goulei" initials="g" lastIdx="0" clrIdx="446"/>
  <p:cmAuthor id="448" name="未知用户109" initials="未" lastIdx="0" clrIdx="447"/>
  <p:cmAuthor id="449" name="thomas" initials="t" lastIdx="0" clrIdx="448"/>
  <p:cmAuthor id="450" name="未知的使用者3" initials="未" lastIdx="0" clrIdx="449"/>
  <p:cmAuthor id="451" name="Unknown User65" initials="U" lastIdx="0" clrIdx="450"/>
  <p:cmAuthor id="452" name="Unknown User67" initials="U" lastIdx="0" clrIdx="451"/>
  <p:cmAuthor id="453" name="未知用户61" initials="未" lastIdx="0" clrIdx="452"/>
  <p:cmAuthor id="454" name="張秀娟" initials="張" lastIdx="0" clrIdx="453"/>
  <p:cmAuthor id="455" name="Jason Wang" initials="J" lastIdx="0" clrIdx="454"/>
  <p:cmAuthor id="456" name="不明使用者18" initials="不" lastIdx="0" clrIdx="455"/>
  <p:cmAuthor id="457" name="未知的使用者72" initials="未" lastIdx="0" clrIdx="456"/>
  <p:cmAuthor id="458" name="未知的使用者48" initials="未" lastIdx="0" clrIdx="457"/>
  <p:cmAuthor id="459" name="Damon" initials="D" lastIdx="0" clrIdx="458"/>
  <p:cmAuthor id="460" name="未知用户60" initials="未" lastIdx="0" clrIdx="459"/>
  <p:cmAuthor id="461" name="Shawna Strickland" initials="S" lastIdx="0" clrIdx="460"/>
  <p:cmAuthor id="462" name="未知的使用者36" initials="未" lastIdx="0" clrIdx="461"/>
  <p:cmAuthor id="463" name="Daniel Wuu" initials="D" lastIdx="0" clrIdx="462"/>
  <p:cmAuthor id="464" name="未知的使用者14" initials="未" lastIdx="0" clrIdx="463"/>
  <p:cmAuthor id="465" name="Ashley Eberenz" initials="A" lastIdx="0" clrIdx="464"/>
  <p:cmAuthor id="466" name="不明使用者19" initials="不" lastIdx="0" clrIdx="465"/>
  <p:cmAuthor id="467" name="未知的使用者74" initials="未" lastIdx="0" clrIdx="466"/>
  <p:cmAuthor id="468" name="未知的使用者23" initials="未" lastIdx="0" clrIdx="467"/>
  <p:cmAuthor id="469" name="未知的使用者1" initials="未" lastIdx="0" clrIdx="468"/>
  <p:cmAuthor id="470" name="116304" initials="1" lastIdx="0" clrIdx="469"/>
  <p:cmAuthor id="471" name="R affer" initials="R" lastIdx="0" clrIdx="470"/>
  <p:cmAuthor id="472" name="qihua-DCMS" initials="q" lastIdx="0" clrIdx="471"/>
  <p:cmAuthor id="473" name="未知的使用者95" initials="未" lastIdx="0" clrIdx="472"/>
  <p:cmAuthor id="474" name="未知的使用者32" initials="未" lastIdx="0" clrIdx="473"/>
  <p:cmAuthor id="475" name="未知的使用者49" initials="未" lastIdx="0" clrIdx="474"/>
  <p:cmAuthor id="476" name="Unknown User26" initials="U" lastIdx="0" clrIdx="475"/>
  <p:cmAuthor id="477" name="yuexuejun" initials="y" lastIdx="0" clrIdx="476"/>
  <p:cmAuthor id="478" name="未知的使用者71" initials="未" lastIdx="0" clrIdx="477"/>
  <p:cmAuthor id="479" name="未知的使用者105" initials="未" lastIdx="0" clrIdx="478"/>
  <p:cmAuthor id="480" name="Unknown User70" initials="U" lastIdx="0" clrIdx="479"/>
  <p:cmAuthor id="481" name="clinchen" initials="c" lastIdx="0" clrIdx="480"/>
  <p:cmAuthor id="482" name="未知用户23" initials="未" lastIdx="0" clrIdx="481"/>
  <p:cmAuthor id="483" name="hanjuncompany" initials="h" lastIdx="0" clrIdx="482"/>
  <p:cmAuthor id="484" name="kathy chen" initials="k" lastIdx="0" clrIdx="483"/>
  <p:cmAuthor id="485" name="未知的使用者63" initials="未" lastIdx="0" clrIdx="484"/>
  <p:cmAuthor id="486" name="毕邺" initials="党委办公室" lastIdx="0" clrIdx="485"/>
  <p:cmAuthor id="487" name="未知的使用者47" initials="未" lastIdx="0" clrIdx="486"/>
  <p:cmAuthor id="488" name="未知的使用者60" initials="未" lastIdx="0" clrIdx="487"/>
  <p:cmAuthor id="489" name="未知的使用者59" initials="未" lastIdx="0" clrIdx="488"/>
  <p:cmAuthor id="490" name="未知的使用者54" initials="未" lastIdx="0" clrIdx="489"/>
  <p:cmAuthor id="491" name="未知的使用者106" initials="未" lastIdx="0" clrIdx="490"/>
  <p:cmAuthor id="492" name="未知的使用者107" initials="未" lastIdx="0" clrIdx="491"/>
  <p:cmAuthor id="493" name="未知的使用者108" initials="未" lastIdx="0" clrIdx="492"/>
  <p:cmAuthor id="494" name="未知的使用者86" initials="未" lastIdx="0" clrIdx="493"/>
  <p:cmAuthor id="495" name="未知的使用者116" initials="未" lastIdx="0" clrIdx="494"/>
  <p:cmAuthor id="496" name="未知的使用者44" initials="未" lastIdx="0" clrIdx="495"/>
  <p:cmAuthor id="497" name="未知的使用者37" initials="未" lastIdx="0" clrIdx="496"/>
  <p:cmAuthor id="498" name="未知的使用者126" initials="未" lastIdx="0" clrIdx="497"/>
  <p:cmAuthor id="499" name="未知的使用者127" initials="未" lastIdx="0" clrIdx="498"/>
  <p:cmAuthor id="500" name="未知的使用者128" initials="未" lastIdx="0" clrIdx="499"/>
  <p:cmAuthor id="501" name="未知的使用者124" initials="未" lastIdx="0" clrIdx="500"/>
  <p:cmAuthor id="502" name="未知的使用者125" initials="未" lastIdx="0" clrIdx="501"/>
  <p:cmAuthor id="503" name="Sara Chen" initials="S" lastIdx="0" clrIdx="502"/>
  <p:cmAuthor id="504" name="未知用户170" initials="未" lastIdx="0" clrIdx="503"/>
  <p:cmAuthor id="505" name="未知用户171" initials="未" lastIdx="0" clrIdx="504"/>
  <p:cmAuthor id="506" name="未知用户172" initials="未" lastIdx="0" clrIdx="505"/>
  <p:cmAuthor id="507" name="未知用户173" initials="未" lastIdx="0" clrIdx="506"/>
  <p:cmAuthor id="508" name="未知用户149" initials="未" lastIdx="0" clrIdx="507"/>
  <p:cmAuthor id="509" name="未知用户150" initials="未" lastIdx="0" clrIdx="508"/>
  <p:cmAuthor id="510" name="未知用户151" initials="未" lastIdx="0" clrIdx="509"/>
  <p:cmAuthor id="511" name="未知用户152" initials="未" lastIdx="0" clrIdx="510"/>
  <p:cmAuthor id="512" name="未知用户153" initials="未" lastIdx="0" clrIdx="511"/>
  <p:cmAuthor id="513" name="未知用户154" initials="未" lastIdx="0" clrIdx="512"/>
  <p:cmAuthor id="514" name="未知用户155" initials="未" lastIdx="0" clrIdx="513"/>
  <p:cmAuthor id="515" name="未知用户41" initials="未" lastIdx="0" clrIdx="514"/>
  <p:cmAuthor id="516" name="未知用户156" initials="未" lastIdx="0" clrIdx="515"/>
  <p:cmAuthor id="517" name="未知用户64" initials="未" lastIdx="0" clrIdx="516"/>
  <p:cmAuthor id="518" name="未知用户65" initials="未" lastIdx="0" clrIdx="517"/>
  <p:cmAuthor id="519" name="未知用户68" initials="未" lastIdx="0" clrIdx="518"/>
  <p:cmAuthor id="520" name="wangxiaoxuan@ha.cmcc" initials="w" lastIdx="0" clrIdx="519"/>
  <p:cmAuthor id="521" name="罗 罗" initials="罗" lastIdx="0" clrIdx="520"/>
  <p:cmAuthor id="522" name="86157" initials="8" lastIdx="0" clrIdx="521"/>
  <p:cmAuthor id="523" name="未知用户52" initials="未" lastIdx="0" clrIdx="522"/>
  <p:cmAuthor id="524" name="MA15" initials="M" lastIdx="0" clrIdx="523"/>
  <p:cmAuthor id="525" name="未知用户53" initials="未" lastIdx="0" clrIdx="524"/>
  <p:cmAuthor id="526" name="未知用户40" initials="未" lastIdx="0" clrIdx="525"/>
  <p:cmAuthor id="527" name="Mr.Wu" initials="M" lastIdx="0" clrIdx="526"/>
  <p:cmAuthor id="528" name="张静_Anua7Nne" initials="authorId_935319063" lastIdx="0" clrIdx="527"/>
  <p:cmAuthor id="529" name="未知用户26" initials="未" lastIdx="0" clrIdx="528"/>
  <p:cmAuthor id="530" name="tonghailan" initials="t" lastIdx="0" clrIdx="529"/>
  <p:cmAuthor id="531" name="未知用户42" initials="未" lastIdx="0" clrIdx="530"/>
  <p:cmAuthor id="532" name="未知的使用者109" initials="未" lastIdx="0" clrIdx="531"/>
  <p:cmAuthor id="533" name="未知的使用者122" initials="未" lastIdx="0" clrIdx="532"/>
  <p:cmAuthor id="534" name="未知的使用者123" initials="未" lastIdx="0" clrIdx="533"/>
  <p:cmAuthor id="535" name="Harry xu" initials="H" lastIdx="0" clrIdx="534"/>
  <p:cmAuthor id="536" name="未知用户35" initials="未" lastIdx="0" clrIdx="535"/>
  <p:cmAuthor id="537" name="未知用户111" initials="未" lastIdx="0" clrIdx="536"/>
  <p:cmAuthor id="538" name="alpha" initials="a" lastIdx="0" clrIdx="537"/>
  <p:cmAuthor id="539" name="Unknown User22" initials="U" lastIdx="0" clrIdx="538"/>
  <p:cmAuthor id="540" name="Unknown User23" initials="U" lastIdx="0" clrIdx="539"/>
  <p:cmAuthor id="541" name="未知的使用者75" initials="未" lastIdx="0" clrIdx="540"/>
  <p:cmAuthor id="542" name="未知的使用者77" initials="未" lastIdx="0" clrIdx="541"/>
  <p:cmAuthor id="543" name="未知的使用者78" initials="未" lastIdx="0" clrIdx="542"/>
  <p:cmAuthor id="544" name="程云静_Y3Azuy2A" initials="程" lastIdx="0" clrIdx="543"/>
  <p:cmAuthor id="545" name="未知的使用者80" initials="未" lastIdx="0" clrIdx="544"/>
  <p:cmAuthor id="546" name="方绍波|fangshaobo" initials="方" lastIdx="0" clrIdx="545"/>
  <p:cmAuthor id="547" name="未知的使用者82" initials="未" lastIdx="0" clrIdx="546"/>
  <p:cmAuthor id="548" name="15719214165@163.com" initials="1" lastIdx="0" clrIdx="547"/>
  <p:cmAuthor id="549" name="未知的使用者83" initials="未" lastIdx="0" clrIdx="548"/>
  <p:cmAuthor id="550" name="张 曦" initials="张" lastIdx="0" clrIdx="549"/>
  <p:cmAuthor id="551" name="未知的使用者84" initials="未" lastIdx="0" clrIdx="550"/>
  <p:cmAuthor id="552" name="zhangxiaodong@ha.cmcc" initials="z" lastIdx="0" clrIdx="551"/>
  <p:cmAuthor id="553" name="未知的使用者87" initials="未" lastIdx="0" clrIdx="552"/>
  <p:cmAuthor id="554" name="未知的使用者90" initials="未" lastIdx="0" clrIdx="553"/>
  <p:cmAuthor id="555" name="未知的使用者91" initials="未" lastIdx="0" clrIdx="554"/>
  <p:cmAuthor id="556" name="CHRISYU" initials="C" lastIdx="0" clrIdx="555"/>
  <p:cmAuthor id="557" name="胡益铭" initials="胡" lastIdx="0" clrIdx="556"/>
  <p:cmAuthor id="558" name="张璐" initials="张" lastIdx="0" clrIdx="557"/>
  <p:cmAuthor id="559" name="未知的使用者102" initials="未" lastIdx="0" clrIdx="558"/>
  <p:cmAuthor id="560" name="未知的使用者61" initials="未" lastIdx="0" clrIdx="559"/>
  <p:cmAuthor id="561" name="未知用户178" initials="未" lastIdx="0" clrIdx="560"/>
  <p:cmAuthor id="562" name="未知用户186" initials="未" lastIdx="0" clrIdx="561"/>
  <p:cmAuthor id="563" name="未知的使用者182" initials="未" lastIdx="0" clrIdx="562"/>
  <p:cmAuthor id="564" name="未知的使用者161" initials="未" lastIdx="0" clrIdx="563"/>
  <p:cmAuthor id="565" name="未知的使用者151" initials="未" lastIdx="0" clrIdx="564"/>
  <p:cmAuthor id="566" name="未知的使用者162" initials="未" lastIdx="0" clrIdx="565"/>
  <p:cmAuthor id="567" name="未知的使用者152" initials="未" lastIdx="0" clrIdx="566"/>
  <p:cmAuthor id="568" name="未知的使用者176" initials="未" lastIdx="0" clrIdx="567"/>
  <p:cmAuthor id="569" name="未知的使用者178" initials="未" lastIdx="0" clrIdx="568"/>
  <p:cmAuthor id="570" name="未知的使用者179" initials="未" lastIdx="0" clrIdx="569"/>
  <p:cmAuthor id="571" name="未知的使用者180" initials="未" lastIdx="0" clrIdx="570"/>
  <p:cmAuthor id="572" name="未知的使用者181" initials="未" lastIdx="0" clrIdx="571"/>
  <p:cmAuthor id="573" name="未知的使用者170" initials="未" lastIdx="0" clrIdx="572"/>
  <p:cmAuthor id="574" name="未知的使用者141" initials="未" lastIdx="0" clrIdx="573"/>
  <p:cmAuthor id="575" name="未知的使用者142" initials="未" lastIdx="0" clrIdx="574"/>
  <p:cmAuthor id="576" name="未知的使用者143" initials="未" lastIdx="0" clrIdx="575"/>
  <p:cmAuthor id="577" name="未知的使用者144" initials="未" lastIdx="0" clrIdx="576"/>
  <p:cmAuthor id="578" name="未知的使用者145" initials="未" lastIdx="0" clrIdx="577"/>
  <p:cmAuthor id="579" name="未知的使用者146" initials="未" lastIdx="0" clrIdx="578"/>
  <p:cmAuthor id="580" name="未知的使用者147" initials="未" lastIdx="0" clrIdx="579"/>
  <p:cmAuthor id="581" name="未知的使用者148" initials="未" lastIdx="0" clrIdx="580"/>
  <p:cmAuthor id="582" name="未知用户130" initials="未" lastIdx="0" clrIdx="581"/>
  <p:cmAuthor id="583" name="未知用户131" initials="未" lastIdx="0" clrIdx="582"/>
  <p:cmAuthor id="584" name="未知用户132" initials="未" lastIdx="0" clrIdx="583"/>
  <p:cmAuthor id="585" name="俊呈 賴" initials="俊" lastIdx="0" clrIdx="584"/>
  <p:cmAuthor id="586" name="Yoyo Wu" initials="Y" lastIdx="0" clrIdx="585"/>
  <p:cmAuthor id="587" name="超" initials="超" lastIdx="0" clrIdx="586"/>
  <p:cmAuthor id="588" name="zhangbin" initials="z" lastIdx="0" clrIdx="587"/>
  <p:cmAuthor id="589" name="haha" initials="h" lastIdx="0" clrIdx="588"/>
  <p:cmAuthor id="590" name="Arno.Du(杜明星)" initials="A" lastIdx="0" clrIdx="589"/>
  <p:cmAuthor id="591" name="未知用户174" initials="未" lastIdx="0" clrIdx="590"/>
  <p:cmAuthor id="592" name="Unknown User27" initials="U" lastIdx="0" clrIdx="591"/>
  <p:cmAuthor id="593" name="未知的使用者221" initials="未" lastIdx="0" clrIdx="592"/>
  <p:cmAuthor id="594" name="未知的使用者222" initials="未" lastIdx="0" clrIdx="593"/>
  <p:cmAuthor id="595" name="未知的使用者223" initials="未" lastIdx="0" clrIdx="594"/>
  <p:cmAuthor id="596" name="未知的使用者224" initials="未" lastIdx="0" clrIdx="595"/>
  <p:cmAuthor id="597" name="未知的使用者225" initials="未" lastIdx="0" clrIdx="596"/>
  <p:cmAuthor id="598" name="未知的使用者226" initials="未" lastIdx="0" clrIdx="597"/>
  <p:cmAuthor id="599" name="未知的使用者227" initials="未" lastIdx="0" clrIdx="598"/>
  <p:cmAuthor id="600" name="未知的使用者217" initials="未" lastIdx="0" clrIdx="599"/>
  <p:cmAuthor id="601" name="未知的使用者218" initials="未" lastIdx="0" clrIdx="600"/>
  <p:cmAuthor id="602" name="未知的使用者219" initials="未" lastIdx="0" clrIdx="601"/>
  <p:cmAuthor id="603" name="未知的使用者220" initials="未" lastIdx="0" clrIdx="602"/>
  <p:cmAuthor id="604" name="未知的使用者228" initials="未" lastIdx="0" clrIdx="603"/>
  <p:cmAuthor id="605" name="未知的使用者229" initials="未" lastIdx="0" clrIdx="604"/>
  <p:cmAuthor id="606" name="未知的使用者230" initials="未" lastIdx="0" clrIdx="605"/>
  <p:cmAuthor id="607" name="未知的使用者231" initials="未" lastIdx="0" clrIdx="606"/>
  <p:cmAuthor id="608" name="未知的使用者232" initials="未" lastIdx="0" clrIdx="607"/>
  <p:cmAuthor id="609" name="未知的使用者233" initials="未" lastIdx="0" clrIdx="608"/>
  <p:cmAuthor id="610" name="未知的使用者234" initials="未" lastIdx="0" clrIdx="609"/>
  <p:cmAuthor id="611" name="未知的使用者130" initials="未" lastIdx="0" clrIdx="610"/>
  <p:cmAuthor id="612" name="未知的使用者131" initials="未" lastIdx="0" clrIdx="611"/>
  <p:cmAuthor id="613" name="未知的使用者132" initials="未" lastIdx="0" clrIdx="612"/>
  <p:cmAuthor id="614" name="未知的使用者235" initials="未" lastIdx="0" clrIdx="613"/>
  <p:cmAuthor id="615" name="未知的使用者236" initials="未" lastIdx="0" clrIdx="614"/>
  <p:cmAuthor id="616" name="未知的使用者237" initials="未" lastIdx="0" clrIdx="615"/>
  <p:cmAuthor id="617" name="未知的使用者238" initials="未" lastIdx="0" clrIdx="616"/>
  <p:cmAuthor id="618" name="未知的使用者239" initials="未" lastIdx="0" clrIdx="617"/>
  <p:cmAuthor id="619" name="未知的使用者136" initials="未" lastIdx="0" clrIdx="618"/>
  <p:cmAuthor id="620" name="未知的使用者134" initials="未" lastIdx="0" clrIdx="619"/>
  <p:cmAuthor id="621" name="未知的使用者206" initials="未" lastIdx="0" clrIdx="620"/>
  <p:cmAuthor id="622" name="Kent" initials="K" lastIdx="0" clrIdx="621"/>
  <p:cmAuthor id="623" name="梅芬 吳" initials="梅" lastIdx="0" clrIdx="622"/>
  <p:cmAuthor id="624" name="王嘉偉" initials="王" lastIdx="0" clrIdx="623"/>
  <p:cmAuthor id="625" name="未知的使用者210" initials="未" lastIdx="0" clrIdx="624"/>
  <p:cmAuthor id="626" name="未知的使用者211" initials="未" lastIdx="0" clrIdx="625"/>
  <p:cmAuthor id="627" name="未知的使用者212" initials="未" lastIdx="0" clrIdx="626"/>
  <p:cmAuthor id="628" name="未知的使用者213" initials="未" lastIdx="0" clrIdx="627"/>
  <p:cmAuthor id="629" name="未知的使用者214" initials="未" lastIdx="0" clrIdx="628"/>
  <p:cmAuthor id="630" name="未知的使用者215" initials="未" lastIdx="0" clrIdx="629"/>
  <p:cmAuthor id="631" name="未知的使用者216" initials="未" lastIdx="0" clrIdx="630"/>
  <p:cmAuthor id="632" name="王丽君" initials="王" lastIdx="0" clrIdx="631"/>
  <p:cmAuthor id="633" name="Xia Ting" initials="X" lastIdx="0" clrIdx="632"/>
  <p:cmAuthor id="634" name="未知用户163" initials="未" lastIdx="0" clrIdx="633"/>
  <p:cmAuthor id="635" name="未知用户164" initials="未" lastIdx="0" clrIdx="634"/>
  <p:cmAuthor id="636" name="未知用户191" initials="未" lastIdx="0" clrIdx="635"/>
  <p:cmAuthor id="637" name="未知用户167" initials="未" lastIdx="0" clrIdx="636"/>
  <p:cmAuthor id="638" name="未知的使用者163" initials="未" lastIdx="0" clrIdx="637"/>
  <p:cmAuthor id="639" name="未知的使用者88" initials="未" lastIdx="0" clrIdx="638"/>
  <p:cmAuthor id="640" name="jerrychou" initials="j" lastIdx="0" clrIdx="639"/>
  <p:cmAuthor id="641" name="不明使用者12" initials="不" lastIdx="0" clrIdx="640"/>
  <p:cmAuthor id="642" name="不明使用者1" initials="不" lastIdx="0" clrIdx="641"/>
  <p:cmAuthor id="643" name="未知的使用者160" initials="未" lastIdx="0" clrIdx="642"/>
  <p:cmAuthor id="644" name="不明使用者7" initials="不" lastIdx="0" clrIdx="643"/>
  <p:cmAuthor id="645" name="未知用户120" initials="未" lastIdx="0" clrIdx="644"/>
  <p:cmAuthor id="646" name="未知用户122" initials="未" lastIdx="0" clrIdx="645"/>
  <p:cmAuthor id="647" name="不明使用者11" initials="不" lastIdx="0" clrIdx="646"/>
  <p:cmAuthor id="648" name="Unknown User24" initials="U" lastIdx="0" clrIdx="647"/>
  <p:cmAuthor id="649" name="未知用户145" initials="未" lastIdx="0" clrIdx="648"/>
  <p:cmAuthor id="650" name="未知用户119" initials="未" lastIdx="0" clrIdx="649"/>
  <p:cmAuthor id="651" name="丁生" initials="丁" lastIdx="0" clrIdx="650"/>
  <p:cmAuthor id="652" name="谢海英" initials="谢海英" lastIdx="0" clrIdx="651"/>
  <p:cmAuthor id="653" name="燕儿" initials="燕" lastIdx="0" clrIdx="652"/>
  <p:cmAuthor id="654" name="梁明珠" initials="梁明珠" lastIdx="0" clrIdx="653"/>
  <p:cmAuthor id="655" name="武智璇" initials="武" lastIdx="0" clrIdx="654"/>
  <p:cmAuthor id="656" name="liang ma" initials="l" lastIdx="0" clrIdx="655"/>
  <p:cmAuthor id="657" name="jinyaoguo" initials="j" lastIdx="0" clrIdx="656"/>
  <p:cmAuthor id="658" name="郭 里芬" initials="郭" lastIdx="0" clrIdx="657"/>
  <p:cmAuthor id="659" name="qsl" initials="q" lastIdx="0" clrIdx="658"/>
  <p:cmAuthor id="660" name="chw" initials="c" lastIdx="0" clrIdx="659"/>
  <p:cmAuthor id="661" name="张亚磊" initials="张" lastIdx="0" clrIdx="660"/>
  <p:cmAuthor id="662" name="刘小猛" initials="刘" lastIdx="0" clrIdx="661"/>
  <p:cmAuthor id="663" name="李博轩" initials="李" lastIdx="0" clrIdx="66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126E9F6-41A6-44B7-8387-491034A24550}" styleName="表样式 1 25">
    <a:wholeTbl>
      <a:tcTxStyle>
        <a:fontRef idx="none">
          <a:srgbClr val="000000"/>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FFFFFF"/>
          </a:solidFill>
        </a:fill>
      </a:tcStyle>
    </a:wholeTbl>
    <a:band2H>
      <a:tcStyle>
        <a:tcBdr/>
        <a:fill>
          <a:solidFill>
            <a:srgbClr val="4A62C7">
              <a:lumMod val="10000"/>
              <a:lumOff val="90000"/>
            </a:srgbClr>
          </a:solidFill>
        </a:fill>
      </a:tcStyle>
    </a:band2H>
    <a:band1V>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w="9525" cmpd="sng">
              <a:solidFill>
                <a:srgbClr val="4A62C7">
                  <a:lumMod val="40000"/>
                  <a:lumOff val="60000"/>
                </a:srgbClr>
              </a:solidFill>
              <a:prstDash val="solid"/>
            </a:ln>
          </a:insideV>
        </a:tcBdr>
        <a:fill>
          <a:solidFill>
            <a:srgbClr val="4A62C7">
              <a:lumMod val="10000"/>
              <a:lumOff val="90000"/>
            </a:srgbClr>
          </a:solidFill>
        </a:fill>
      </a:tcStyle>
    </a:band1V>
    <a:band2V>
      <a:tcStyle>
        <a:tcBdr>
          <a:left>
            <a:ln w="9525" cmpd="sng">
              <a:solidFill>
                <a:srgbClr val="4A62C7">
                  <a:lumMod val="40000"/>
                  <a:lumOff val="60000"/>
                </a:srgbClr>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tcStyle>
    </a:band2V>
    <a:lastCol>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solidFill>
        </a:fill>
      </a:tcStyle>
    </a:lastCol>
    <a:firstCol>
      <a:tcTxStyle b="on">
        <a:fontRef idx="none">
          <a:schemeClr val="tx1"/>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w="9525" cmpd="sng">
              <a:solidFill>
                <a:srgbClr val="4A62C7">
                  <a:lumMod val="40000"/>
                  <a:lumOff val="60000"/>
                </a:srgbClr>
              </a:solidFill>
              <a:prstDash val="solid"/>
            </a:ln>
          </a:insideH>
          <a:insideV>
            <a:ln>
              <a:noFill/>
            </a:ln>
          </a:insideV>
        </a:tcBdr>
        <a:fill>
          <a:solidFill>
            <a:srgbClr val="4A62C7">
              <a:lumMod val="20000"/>
              <a:lumOff val="80000"/>
            </a:srgbClr>
          </a:solidFill>
        </a:fill>
      </a:tcStyle>
    </a:firstCol>
    <a:lastRow>
      <a:tcTxStyle b="on">
        <a:fontRef idx="none">
          <a:srgbClr val="4A62C7"/>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tcStyle>
    </a:lastRow>
    <a:s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eCell>
    <a:swCell>
      <a:tcTxStyle b="on">
        <a:fontRef idx="none">
          <a:srgbClr val="4A62C7"/>
        </a:fontRef>
      </a:tcTxStyle>
      <a:tcStyle>
        <a:tcBdr>
          <a:left>
            <a:ln w="9525" cmpd="sng">
              <a:solidFill>
                <a:srgbClr val="4A62C7"/>
              </a:solidFill>
              <a:prstDash val="solid"/>
            </a:ln>
          </a:left>
          <a:right>
            <a:ln w="9525" cmpd="sng">
              <a:solidFill>
                <a:srgbClr val="4A62C7">
                  <a:lumMod val="40000"/>
                  <a:lumOff val="60000"/>
                </a:srgbClr>
              </a:solidFill>
              <a:prstDash val="solid"/>
            </a:ln>
          </a:right>
          <a:top>
            <a:ln w="9525" cmpd="sng">
              <a:solidFill>
                <a:srgbClr val="4A62C7"/>
              </a:solidFill>
              <a:prstDash val="solid"/>
            </a:ln>
          </a:top>
          <a:bottom>
            <a:ln w="9525" cmpd="sng">
              <a:solidFill>
                <a:srgbClr val="4A62C7"/>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rgbClr val="4A62C7"/>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solidFill>
              <a:prstDash val="solid"/>
            </a:ln>
          </a:bottom>
          <a:insideH>
            <a:ln>
              <a:noFill/>
            </a:ln>
          </a:insideH>
          <a:insideV>
            <a:ln w="9525" cmpd="sng">
              <a:solidFill>
                <a:srgbClr val="4A62C7">
                  <a:lumMod val="40000"/>
                  <a:lumOff val="60000"/>
                </a:srgbClr>
              </a:solidFill>
              <a:prstDash val="solid"/>
            </a:ln>
          </a:insideV>
        </a:tcBdr>
        <a:fill>
          <a:solidFill>
            <a:srgbClr val="4A62C7"/>
          </a:solidFill>
        </a:fill>
      </a:tcStyle>
    </a:firstRow>
    <a:neCell>
      <a:tcStyle>
        <a:tcBdr>
          <a:left>
            <a:ln w="9525" cmpd="sng">
              <a:solidFill>
                <a:srgbClr val="4A62C7">
                  <a:lumMod val="40000"/>
                  <a:lumOff val="60000"/>
                </a:srgbClr>
              </a:solidFill>
              <a:prstDash val="solid"/>
            </a:ln>
          </a:left>
          <a:right>
            <a:ln w="9525" cmpd="sng">
              <a:solidFill>
                <a:srgbClr val="4A62C7"/>
              </a:solidFill>
              <a:prstDash val="solid"/>
            </a:ln>
          </a:right>
          <a:top>
            <a:ln w="9525" cmpd="sng">
              <a:solidFill>
                <a:srgbClr val="4A62C7"/>
              </a:solidFill>
              <a:prstDash val="solid"/>
            </a:ln>
          </a:top>
          <a:bottom>
            <a:ln w="9525" cmpd="sng">
              <a:solidFill>
                <a:srgbClr val="4A62C7">
                  <a:lumMod val="40000"/>
                  <a:lumOff val="60000"/>
                </a:srgbClr>
              </a:solidFill>
              <a:prstDash val="solid"/>
            </a:ln>
          </a:bottom>
          <a:insideH>
            <a:ln>
              <a:noFill/>
            </a:ln>
          </a:insideH>
          <a:insideV>
            <a:ln>
              <a:noFill/>
            </a:ln>
          </a:insideV>
        </a:tcBdr>
      </a:tcStyle>
    </a:neCel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0" Type="http://schemas.openxmlformats.org/officeDocument/2006/relationships/tags" Target="tags/tag278.xml"/><Relationship Id="rId4" Type="http://schemas.openxmlformats.org/officeDocument/2006/relationships/slideMaster" Target="slideMasters/slideMaster3.xml"/><Relationship Id="rId39" Type="http://schemas.openxmlformats.org/officeDocument/2006/relationships/commentAuthors" Target="commentAuthors.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4" Type="http://schemas.microsoft.com/office/2011/relationships/chartColorStyle" Target="colors1.xml"/><Relationship Id="rId3" Type="http://schemas.microsoft.com/office/2011/relationships/chartStyle" Target="style1.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8.xml.rels><?xml version="1.0" encoding="UTF-8" standalone="yes"?>
<Relationships xmlns="http://schemas.openxmlformats.org/package/2006/relationships"><Relationship Id="rId4" Type="http://schemas.microsoft.com/office/2011/relationships/chartColorStyle" Target="colors8.xml"/><Relationship Id="rId3" Type="http://schemas.microsoft.com/office/2011/relationships/chartStyle" Target="style8.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zenghl/Library/Containers/com.tencent.WeWorkMac/Data/WeDrive/&#28145;&#20449;&#26381;&#31185;&#25216;&#32929;&#20221;&#26377;&#38480;&#20844;&#21496;/CSM%20&#35013;&#22791;&#24211;/buyer%20&#20215;&#20540;&#29702;&#35299;&#19982;&#21576;&#29616;/&#20215;&#20540;%26&#26041;&#26696;&#27719;&#25253;/AI&#25253;&#21578;&#25903;&#25745;&#25968;&#25454;&#27169;&#26495;&#65288;%20&#20445;&#23384;&#26412;&#22320;&#20462;&#25913;&#25991;&#20214;&#21517;&#31216;&#21518;&#20877;&#32534;&#36753;&#65292;&#19981;&#35201;&#22312;&#24494;&#30424;&#30452;&#25509;&#32534;&#36753;&#65289;.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cef48926-0801-4678-bbba-55d6b9c9ec19}"/>
      </c:ext>
    </c:extLst>
  </c:chart>
  <c:spPr>
    <a:noFill/>
    <a:ln w="9525" cap="flat" cmpd="sng" algn="ctr">
      <a:noFill/>
      <a:prstDash val="solid"/>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7964f97f-5aff-427a-b710-d3e8487abdf3}"/>
      </c:ext>
    </c:extLst>
  </c:chart>
  <c:spPr>
    <a:noFill/>
    <a:ln w="9525" cap="flat" cmpd="sng" algn="ctr">
      <a:noFill/>
      <a:prstDash val="solid"/>
      <a:round/>
    </a:ln>
    <a:effectLst/>
  </c:spPr>
  <c:txPr>
    <a:bodyPr/>
    <a:lstStyle/>
    <a:p>
      <a:pPr>
        <a:defRPr lang="zh-CN" b="0">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extLst>
      <c:ext uri="{0b15fc19-7d7d-44ad-8c2d-2c3a37ce22c3}">
        <chartProps xmlns="https://web.wps.cn/et/2018/main" chartId="{9b4eb4ca-8447-4d31-b2b3-4ab8ba42068e}"/>
      </c:ext>
    </c:extLst>
  </c:chart>
  <c:spPr>
    <a:solidFill>
      <a:srgbClr val="4472C4">
        <a:lumMod val="20000"/>
        <a:lumOff val="80000"/>
      </a:srgbClr>
    </a:solidFill>
    <a:ln w="6350" cap="flat" cmpd="sng" algn="ctr">
      <a:noFill/>
      <a:round/>
    </a:ln>
    <a:effectLst/>
  </c:spPr>
  <c:txPr>
    <a:bodyPr/>
    <a:lstStyle/>
    <a:p>
      <a:pPr>
        <a:defRPr lang="zh-CN" sz="800">
          <a:solidFill>
            <a:srgbClr val="000000"/>
          </a:solidFill>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'[AI报告支撑数据模板（ 保存本地修改文件名称后再编辑，不要在微盘直接编辑）.xlsx]数据统计'!$B$78</c:f>
              <c:strCache>
                <c:ptCount val="1"/>
                <c:pt idx="0">
                  <c:v>剩余漏洞数量</c:v>
                </c:pt>
              </c:strCache>
            </c:strRef>
          </c:tx>
          <c:spPr>
            <a:ln w="28575" cap="rnd">
              <a:solidFill>
                <a:schemeClr val="accent1"/>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'[AI报告支撑数据模板（ 保存本地修改文件名称后再编辑，不要在微盘直接编辑）.xlsx]数据统计'!$C$77:$N$77</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'[AI报告支撑数据模板（ 保存本地修改文件名称后再编辑，不要在微盘直接编辑）.xlsx]数据统计'!$C$78:$N$78</c:f>
              <c:numCache>
                <c:formatCode>General</c:formatCode>
                <c:ptCount val="12"/>
                <c:pt idx="0">
                  <c:v>0</c:v>
                </c:pt>
                <c:pt idx="1">
                  <c:v>0</c:v>
                </c:pt>
                <c:pt idx="2">
                  <c:v>0</c:v>
                </c:pt>
                <c:pt idx="3">
                  <c:v>0</c:v>
                </c:pt>
                <c:pt idx="4">
                  <c:v>8</c:v>
                </c:pt>
                <c:pt idx="5">
                  <c:v>0</c:v>
                </c:pt>
                <c:pt idx="6">
                  <c:v>0</c:v>
                </c:pt>
                <c:pt idx="7">
                  <c:v>0</c:v>
                </c:pt>
                <c:pt idx="8">
                  <c:v>0</c:v>
                </c:pt>
                <c:pt idx="9">
                  <c:v>0</c:v>
                </c:pt>
                <c:pt idx="10">
                  <c:v>0</c:v>
                </c:pt>
                <c:pt idx="11">
                  <c:v>0</c:v>
                </c:pt>
              </c:numCache>
            </c:numRef>
          </c:val>
          <c:smooth val="0"/>
        </c:ser>
        <c:ser>
          <c:idx val="1"/>
          <c:order val="1"/>
          <c:tx>
            <c:strRef>
              <c:f>'[AI报告支撑数据模板（ 保存本地修改文件名称后再编辑，不要在微盘直接编辑）.xlsx]数据统计'!$B$79</c:f>
              <c:strCache>
                <c:ptCount val="1"/>
                <c:pt idx="0">
                  <c:v>已闭环漏洞数</c:v>
                </c:pt>
              </c:strCache>
            </c:strRef>
          </c:tx>
          <c:spPr>
            <a:ln w="28575" cap="rnd">
              <a:solidFill>
                <a:schemeClr val="accent2"/>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'[AI报告支撑数据模板（ 保存本地修改文件名称后再编辑，不要在微盘直接编辑）.xlsx]数据统计'!$C$77:$N$77</c:f>
              <c:strCache>
                <c:ptCount val="12"/>
                <c:pt idx="0">
                  <c:v>2025-08</c:v>
                </c:pt>
                <c:pt idx="1" c:formatCode="yyyy/m/d">
                  <c:v>2025-09</c:v>
                </c:pt>
                <c:pt idx="2" c:formatCode="yyyy/m/d">
                  <c:v>2025-10</c:v>
                </c:pt>
                <c:pt idx="3" c:formatCode="yyyy/m/d">
                  <c:v>2025-11</c:v>
                </c:pt>
                <c:pt idx="4" c:formatCode="yyyy/m/d">
                  <c:v>2025-12</c:v>
                </c:pt>
                <c:pt idx="5" c:formatCode="yyyy/m/d">
                  <c:v>2026-01</c:v>
                </c:pt>
                <c:pt idx="6" c:formatCode="yyyy/m/d">
                  <c:v>2026-02</c:v>
                </c:pt>
                <c:pt idx="7" c:formatCode="yyyy/m/d">
                  <c:v>2026-03</c:v>
                </c:pt>
                <c:pt idx="8" c:formatCode="yyyy/m/d">
                  <c:v>2026-04</c:v>
                </c:pt>
                <c:pt idx="9" c:formatCode="yyyy/m/d">
                  <c:v>2026-05</c:v>
                </c:pt>
                <c:pt idx="10" c:formatCode="yyyy/m/d">
                  <c:v>2026-06</c:v>
                </c:pt>
                <c:pt idx="11" c:formatCode="yyyy/m/d">
                  <c:v>2026-07</c:v>
                </c:pt>
              </c:strCache>
            </c:strRef>
          </c:cat>
          <c:val>
            <c:numRef>
              <c:f>'[AI报告支撑数据模板（ 保存本地修改文件名称后再编辑，不要在微盘直接编辑）.xlsx]数据统计'!$C$79:$N$79</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617127009"/>
        <c:crosses val="autoZero"/>
        <c:auto val="1"/>
        <c:lblAlgn val="ctr"/>
        <c:lblOffset val="100"/>
        <c:baseTimeUnit val="days"/>
      </c:dateAx>
      <c:valAx>
        <c:axId val="61712700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Entry>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黑体-简" panose="02000000000000000000" charset="-122"/>
              <a:ea typeface="黑体-简" panose="02000000000000000000" charset="-122"/>
              <a:cs typeface="黑体-简" panose="02000000000000000000" charset="-122"/>
              <a:sym typeface="黑体-简" panose="02000000000000000000" charset="-122"/>
            </a:defRPr>
          </a:pPr>
        </a:p>
      </c:txPr>
    </c:legend>
    <c:plotVisOnly val="1"/>
    <c:dispBlanksAs val="gap"/>
    <c:showDLblsOverMax val="0"/>
    <c:extLst>
      <c:ext uri="{0b15fc19-7d7d-44ad-8c2d-2c3a37ce22c3}">
        <chartProps xmlns="https://web.wps.cn/et/2018/main" chartId="{102df013-bc02-4b13-9b33-920f674e959c}"/>
      </c:ext>
    </c:extLst>
  </c:chart>
  <c:spPr>
    <a:solidFill>
      <a:schemeClr val="accent6">
        <a:lumMod val="20000"/>
        <a:lumOff val="80000"/>
      </a:schemeClr>
    </a:solidFill>
    <a:ln w="9525" cap="flat" cmpd="sng" algn="ctr">
      <a:noFill/>
      <a:round/>
    </a:ln>
    <a:effectLst/>
  </c:spPr>
  <c:txPr>
    <a:bodyPr/>
    <a:lstStyle/>
    <a:p>
      <a:pPr>
        <a:defRPr lang="zh-CN">
          <a:latin typeface="黑体-简" panose="02000000000000000000" charset="-122"/>
          <a:ea typeface="黑体-简" panose="02000000000000000000" charset="-122"/>
          <a:cs typeface="黑体-简" panose="02000000000000000000" charset="-122"/>
          <a:sym typeface="黑体-简" panose="02000000000000000000"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9.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到底工作成果的变化是重点从哪个内容带来的，要明确出来；苦劳也要有，深信服比其他人为什么能做得更好？印象深刻的点，另甲方印象深刻的具体事件，可以</a:t>
            </a:r>
            <a:r>
              <a:rPr lang="zh-CN" altLang="en-US"/>
              <a:t>补充</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通过数字化运营，带来安全水位线的可视化和</a:t>
            </a:r>
            <a:r>
              <a:rPr lang="zh-CN" altLang="en-US"/>
              <a:t>提升，直接产生可量化的安全</a:t>
            </a:r>
            <a:r>
              <a:rPr lang="zh-CN" altLang="en-US"/>
              <a:t>价值</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当前方案职责范围内当前需要</a:t>
            </a:r>
            <a:r>
              <a:rPr lang="en-US" altLang="zh-CN"/>
              <a:t>buyer</a:t>
            </a:r>
            <a:r>
              <a:rPr lang="zh-CN" altLang="en-US"/>
              <a:t>决策和协调资源的；且一定要避免“出卖”</a:t>
            </a:r>
            <a:r>
              <a:rPr lang="en-US" altLang="zh-CN"/>
              <a:t>user</a:t>
            </a:r>
            <a:r>
              <a:rPr lang="zh-CN" altLang="en-US"/>
              <a:t>，尽量在</a:t>
            </a:r>
            <a:r>
              <a:rPr lang="en-US" altLang="zh-CN"/>
              <a:t>buyer</a:t>
            </a:r>
            <a:r>
              <a:rPr lang="zh-CN" altLang="en-US"/>
              <a:t>面前帮</a:t>
            </a:r>
            <a:r>
              <a:rPr lang="en-US" altLang="zh-CN"/>
              <a:t>user</a:t>
            </a:r>
            <a:r>
              <a:rPr lang="zh-CN" altLang="en-US"/>
              <a:t>“</a:t>
            </a:r>
            <a:r>
              <a:rPr lang="zh-CN" altLang="en-US"/>
              <a:t>挣面子”</a:t>
            </a:r>
            <a:endParaRPr lang="zh-CN" altLang="en-US"/>
          </a:p>
          <a:p>
            <a:r>
              <a:rPr lang="zh-CN" altLang="en-US"/>
              <a:t>方案范围外能更好提升其安全建设水平、达到行业领先的（整体解决方案</a:t>
            </a:r>
            <a:r>
              <a:rPr lang="zh-CN" altLang="en-US"/>
              <a:t>视角）</a:t>
            </a:r>
            <a:endParaRPr lang="zh-CN" altLang="en-US"/>
          </a:p>
          <a:p>
            <a:r>
              <a:rPr lang="en-US" altLang="zh-CN"/>
              <a:t>ppt</a:t>
            </a:r>
            <a:r>
              <a:rPr lang="zh-CN" altLang="en-US"/>
              <a:t>形式</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当前方案职责范围内当前需要</a:t>
            </a:r>
            <a:r>
              <a:rPr lang="en-US" altLang="zh-CN"/>
              <a:t>buyer</a:t>
            </a:r>
            <a:r>
              <a:rPr lang="zh-CN" altLang="en-US"/>
              <a:t>决策和协调资源的；且一定要避免“出卖”</a:t>
            </a:r>
            <a:r>
              <a:rPr lang="en-US" altLang="zh-CN"/>
              <a:t>user</a:t>
            </a:r>
            <a:r>
              <a:rPr lang="zh-CN" altLang="en-US"/>
              <a:t>，尽量在</a:t>
            </a:r>
            <a:r>
              <a:rPr lang="en-US" altLang="zh-CN"/>
              <a:t>buyer</a:t>
            </a:r>
            <a:r>
              <a:rPr lang="zh-CN" altLang="en-US"/>
              <a:t>面前帮</a:t>
            </a:r>
            <a:r>
              <a:rPr lang="en-US" altLang="zh-CN"/>
              <a:t>user</a:t>
            </a:r>
            <a:r>
              <a:rPr lang="zh-CN" altLang="en-US"/>
              <a:t>“</a:t>
            </a:r>
            <a:r>
              <a:rPr lang="zh-CN" altLang="en-US"/>
              <a:t>挣面子”</a:t>
            </a:r>
            <a:endParaRPr lang="zh-CN" altLang="en-US"/>
          </a:p>
          <a:p>
            <a:r>
              <a:rPr lang="zh-CN" altLang="en-US"/>
              <a:t>方案范围外能更好提升其安全建设水平、达到行业领先的（整体解决方案</a:t>
            </a:r>
            <a:r>
              <a:rPr lang="zh-CN" altLang="en-US"/>
              <a:t>视角）</a:t>
            </a:r>
            <a:endParaRPr lang="zh-CN" altLang="en-US"/>
          </a:p>
          <a:p>
            <a:r>
              <a:rPr lang="en-US" altLang="zh-CN"/>
              <a:t>ppt</a:t>
            </a:r>
            <a:r>
              <a:rPr lang="zh-CN" altLang="en-US"/>
              <a:t>形式</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7230" y="360000"/>
            <a:ext cx="10800000" cy="72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95960" y="6356350"/>
            <a:ext cx="2743200" cy="365125"/>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753983" y="6356350"/>
            <a:ext cx="2743200" cy="365125"/>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229304" y="1656000"/>
            <a:ext cx="4866696" cy="1800000"/>
          </a:xfrm>
        </p:spPr>
        <p:txBody>
          <a:bodyPr wrap="square" anchor="b">
            <a:normAutofit/>
          </a:bodyPr>
          <a:lstStyle>
            <a:lvl1pPr algn="l">
              <a:lnSpc>
                <a:spcPct val="100000"/>
              </a:lnSpc>
              <a:defRPr sz="6000"/>
            </a:lvl1pPr>
          </a:lstStyle>
          <a:p>
            <a:r>
              <a:rPr lang="zh-CN" altLang="en-US" dirty="0"/>
              <a:t>编辑标题</a:t>
            </a:r>
            <a:endParaRPr lang="zh-CN" altLang="en-US" dirty="0"/>
          </a:p>
        </p:txBody>
      </p:sp>
      <p:sp>
        <p:nvSpPr>
          <p:cNvPr id="3" name="副标题 2"/>
          <p:cNvSpPr>
            <a:spLocks noGrp="1"/>
          </p:cNvSpPr>
          <p:nvPr>
            <p:ph type="subTitle" idx="1" hasCustomPrompt="1"/>
            <p:custDataLst>
              <p:tags r:id="rId3"/>
            </p:custDataLst>
          </p:nvPr>
        </p:nvSpPr>
        <p:spPr>
          <a:xfrm>
            <a:off x="1229302" y="3600000"/>
            <a:ext cx="4866697" cy="972000"/>
          </a:xfrm>
        </p:spPr>
        <p:txBody>
          <a:bodyPr wrap="square">
            <a:normAutofit/>
          </a:bodyPr>
          <a:lstStyle>
            <a:lvl1pPr marL="0" indent="0" algn="l">
              <a:lnSpc>
                <a:spcPct val="100000"/>
              </a:lnSpc>
              <a:buNone/>
              <a:defRPr sz="4600" b="1">
                <a:solidFill>
                  <a:schemeClr val="tx1">
                    <a:alpha val="7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编辑副标题</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10" name="公司名占位符 6"/>
          <p:cNvSpPr>
            <a:spLocks noGrp="1"/>
          </p:cNvSpPr>
          <p:nvPr>
            <p:ph type="body" sz="quarter" idx="13" hasCustomPrompt="1"/>
            <p:custDataLst>
              <p:tags r:id="rId7"/>
            </p:custDataLst>
          </p:nvPr>
        </p:nvSpPr>
        <p:spPr>
          <a:xfrm>
            <a:off x="1229360" y="504190"/>
            <a:ext cx="4868545" cy="504190"/>
          </a:xfrm>
        </p:spPr>
        <p:txBody>
          <a:bodyPr wrap="square" anchor="ctr">
            <a:normAutofit/>
          </a:bodyPr>
          <a:lstStyle>
            <a:lvl1pPr marL="0" indent="0">
              <a:lnSpc>
                <a:spcPct val="100000"/>
              </a:lnSpc>
              <a:buNone/>
              <a:defRPr sz="1600"/>
            </a:lvl1pPr>
          </a:lstStyle>
          <a:p>
            <a:pPr lvl="0"/>
            <a:r>
              <a:rPr lang="zh-CN" altLang="en-US" dirty="0"/>
              <a:t>公司</a:t>
            </a:r>
            <a:endParaRPr lang="zh-CN" altLang="en-US" dirty="0"/>
          </a:p>
        </p:txBody>
      </p:sp>
      <p:sp>
        <p:nvSpPr>
          <p:cNvPr id="24" name="署名占位符 10"/>
          <p:cNvSpPr>
            <a:spLocks noGrp="1"/>
          </p:cNvSpPr>
          <p:nvPr>
            <p:ph type="body" sz="quarter" idx="17" hasCustomPrompt="1"/>
            <p:custDataLst>
              <p:tags r:id="rId8"/>
            </p:custDataLst>
          </p:nvPr>
        </p:nvSpPr>
        <p:spPr>
          <a:xfrm>
            <a:off x="1229360" y="4902835"/>
            <a:ext cx="2880000" cy="576000"/>
          </a:xfrm>
          <a:prstGeom prst="roundRect">
            <a:avLst>
              <a:gd name="adj" fmla="val 50000"/>
            </a:avLst>
          </a:prstGeom>
          <a:gradFill>
            <a:gsLst>
              <a:gs pos="0">
                <a:schemeClr val="accent1">
                  <a:lumMod val="60000"/>
                  <a:lumOff val="40000"/>
                </a:schemeClr>
              </a:gs>
              <a:gs pos="100000">
                <a:schemeClr val="accent1"/>
              </a:gs>
            </a:gsLst>
            <a:lin ang="2700000" scaled="0"/>
          </a:gradFill>
        </p:spPr>
        <p:txBody>
          <a:bodyPr vert="horz" wrap="square" lIns="0" tIns="0" rIns="0" bIns="0" rtlCol="0" anchor="ctr">
            <a:normAutofit/>
          </a:bodyPr>
          <a:lstStyle>
            <a:lvl1pPr marL="0" marR="0" lvl="0" indent="0" algn="ctr" defTabSz="914400" rtl="0" eaLnBrk="1" fontAlgn="auto" latinLnBrk="0" hangingPunct="1">
              <a:lnSpc>
                <a:spcPct val="100000"/>
              </a:lnSpc>
              <a:spcBef>
                <a:spcPts val="1000"/>
              </a:spcBef>
              <a:buClrTx/>
              <a:buSzTx/>
              <a:buFont typeface="Arial" panose="020B0604020202020204" pitchFamily="34" charset="0"/>
              <a:buNone/>
              <a:defRPr kumimoji="0" lang="zh-CN" altLang="en-US" sz="2200" b="1" i="0" u="none" strike="noStrike" kern="1200" cap="none" spc="0" normalizeH="0" baseline="0" noProof="1" dirty="0">
                <a:solidFill>
                  <a:srgbClr val="FFFFFF"/>
                </a:solidFill>
                <a:latin typeface="+mn-lt"/>
                <a:ea typeface="+mn-ea"/>
                <a:cs typeface="+mn-cs"/>
              </a:defRPr>
            </a:lvl1pPr>
          </a:lstStyle>
          <a:p>
            <a:pPr lvl="0"/>
            <a:r>
              <a:rPr>
                <a:sym typeface="+mn-ea"/>
              </a:rPr>
              <a:t>署名</a:t>
            </a:r>
            <a:endParaRPr>
              <a:sym typeface="+mn-ea"/>
            </a:endParaRPr>
          </a:p>
        </p:txBody>
      </p:sp>
      <p:sp>
        <p:nvSpPr>
          <p:cNvPr id="12" name="弧形 11"/>
          <p:cNvSpPr>
            <a:spLocks noChangeAspect="1"/>
          </p:cNvSpPr>
          <p:nvPr userDrawn="1">
            <p:custDataLst>
              <p:tags r:id="rId9"/>
            </p:custDataLst>
          </p:nvPr>
        </p:nvSpPr>
        <p:spPr>
          <a:xfrm rot="16200000">
            <a:off x="6948696" y="1197000"/>
            <a:ext cx="4464000" cy="4464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0"/>
            </p:custDataLst>
          </p:nvPr>
        </p:nvSpPr>
        <p:spPr>
          <a:xfrm rot="16200000">
            <a:off x="9901127" y="544774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椭圆 14"/>
          <p:cNvSpPr>
            <a:spLocks noChangeAspect="1"/>
          </p:cNvSpPr>
          <p:nvPr userDrawn="1">
            <p:custDataLst>
              <p:tags r:id="rId11"/>
            </p:custDataLst>
          </p:nvPr>
        </p:nvSpPr>
        <p:spPr>
          <a:xfrm rot="16200000">
            <a:off x="7398696" y="1647000"/>
            <a:ext cx="3564000" cy="3564000"/>
          </a:xfrm>
          <a:prstGeom prst="ellipse">
            <a:avLst/>
          </a:prstGeom>
          <a:noFill/>
          <a:ln w="19050">
            <a:solidFill>
              <a:schemeClr val="accent1">
                <a:lumMod val="40000"/>
                <a:lumOff val="6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弧形 15"/>
          <p:cNvSpPr>
            <a:spLocks noChangeAspect="1"/>
          </p:cNvSpPr>
          <p:nvPr userDrawn="1">
            <p:custDataLst>
              <p:tags r:id="rId12"/>
            </p:custDataLst>
          </p:nvPr>
        </p:nvSpPr>
        <p:spPr>
          <a:xfrm rot="16200000">
            <a:off x="6588696" y="837000"/>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7" name="椭圆 16"/>
          <p:cNvSpPr>
            <a:spLocks noChangeAspect="1"/>
          </p:cNvSpPr>
          <p:nvPr userDrawn="1">
            <p:custDataLst>
              <p:tags r:id="rId13"/>
            </p:custDataLst>
          </p:nvPr>
        </p:nvSpPr>
        <p:spPr>
          <a:xfrm rot="16200000">
            <a:off x="7261348" y="1544325"/>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2" Type="http://schemas.openxmlformats.org/officeDocument/2006/relationships/theme" Target="../theme/theme2.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11"/>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4"/>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6"/>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image" Target="../media/image7.png"/><Relationship Id="rId22" Type="http://schemas.openxmlformats.org/officeDocument/2006/relationships/notesSlide" Target="../notesSlides/notesSlide2.xml"/><Relationship Id="rId21" Type="http://schemas.openxmlformats.org/officeDocument/2006/relationships/slideLayout" Target="../slideLayouts/slideLayout6.xml"/><Relationship Id="rId20" Type="http://schemas.openxmlformats.org/officeDocument/2006/relationships/tags" Target="../tags/tag63.xml"/><Relationship Id="rId2" Type="http://schemas.openxmlformats.org/officeDocument/2006/relationships/image" Target="../media/image6.png"/><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67.xml"/><Relationship Id="rId4" Type="http://schemas.openxmlformats.org/officeDocument/2006/relationships/image" Target="../media/image6.png"/><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4.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image" Target="../media/image6.png"/><Relationship Id="rId29" Type="http://schemas.openxmlformats.org/officeDocument/2006/relationships/notesSlide" Target="../notesSlides/notesSlide3.xml"/><Relationship Id="rId28" Type="http://schemas.openxmlformats.org/officeDocument/2006/relationships/slideLayout" Target="../slideLayouts/slideLayout1.xml"/><Relationship Id="rId27" Type="http://schemas.openxmlformats.org/officeDocument/2006/relationships/tags" Target="../tags/tag86.xml"/><Relationship Id="rId26" Type="http://schemas.openxmlformats.org/officeDocument/2006/relationships/tags" Target="../tags/tag85.xml"/><Relationship Id="rId25" Type="http://schemas.openxmlformats.org/officeDocument/2006/relationships/tags" Target="../tags/tag84.xml"/><Relationship Id="rId24" Type="http://schemas.openxmlformats.org/officeDocument/2006/relationships/tags" Target="../tags/tag83.xml"/><Relationship Id="rId23" Type="http://schemas.openxmlformats.org/officeDocument/2006/relationships/image" Target="../media/image14.png"/><Relationship Id="rId22" Type="http://schemas.openxmlformats.org/officeDocument/2006/relationships/tags" Target="../tags/tag82.xml"/><Relationship Id="rId21" Type="http://schemas.openxmlformats.org/officeDocument/2006/relationships/tags" Target="../tags/tag81.xml"/><Relationship Id="rId20" Type="http://schemas.openxmlformats.org/officeDocument/2006/relationships/tags" Target="../tags/tag80.xml"/><Relationship Id="rId2" Type="http://schemas.openxmlformats.org/officeDocument/2006/relationships/tags" Target="../tags/tag69.xml"/><Relationship Id="rId19" Type="http://schemas.openxmlformats.org/officeDocument/2006/relationships/image" Target="../media/image13.svg"/><Relationship Id="rId18" Type="http://schemas.openxmlformats.org/officeDocument/2006/relationships/image" Target="../media/image12.png"/><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image" Target="../media/image11.svg"/><Relationship Id="rId13" Type="http://schemas.openxmlformats.org/officeDocument/2006/relationships/image" Target="../media/image10.png"/><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tags" Target="../tags/tag88.xml"/><Relationship Id="rId1" Type="http://schemas.openxmlformats.org/officeDocument/2006/relationships/tags" Target="../tags/tag87.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92.xml"/><Relationship Id="rId4" Type="http://schemas.openxmlformats.org/officeDocument/2006/relationships/image" Target="../media/image6.png"/><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7.xml.rels><?xml version="1.0" encoding="UTF-8" standalone="yes"?>
<Relationships xmlns="http://schemas.openxmlformats.org/package/2006/relationships"><Relationship Id="rId9" Type="http://schemas.openxmlformats.org/officeDocument/2006/relationships/tags" Target="../tags/tag99.xml"/><Relationship Id="rId8" Type="http://schemas.openxmlformats.org/officeDocument/2006/relationships/tags" Target="../tags/tag98.xml"/><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image" Target="../media/image15.png"/><Relationship Id="rId3" Type="http://schemas.openxmlformats.org/officeDocument/2006/relationships/image" Target="../media/image6.png"/><Relationship Id="rId26" Type="http://schemas.openxmlformats.org/officeDocument/2006/relationships/notesSlide" Target="../notesSlides/notesSlide5.xml"/><Relationship Id="rId25" Type="http://schemas.openxmlformats.org/officeDocument/2006/relationships/slideLayout" Target="../slideLayouts/slideLayout1.xml"/><Relationship Id="rId24" Type="http://schemas.openxmlformats.org/officeDocument/2006/relationships/tags" Target="../tags/tag110.xml"/><Relationship Id="rId23" Type="http://schemas.openxmlformats.org/officeDocument/2006/relationships/image" Target="../media/image19.svg"/><Relationship Id="rId22" Type="http://schemas.openxmlformats.org/officeDocument/2006/relationships/image" Target="../media/image18.png"/><Relationship Id="rId21" Type="http://schemas.openxmlformats.org/officeDocument/2006/relationships/tags" Target="../tags/tag109.xml"/><Relationship Id="rId20" Type="http://schemas.openxmlformats.org/officeDocument/2006/relationships/tags" Target="../tags/tag108.xml"/><Relationship Id="rId2" Type="http://schemas.openxmlformats.org/officeDocument/2006/relationships/tags" Target="../tags/tag94.xml"/><Relationship Id="rId19" Type="http://schemas.openxmlformats.org/officeDocument/2006/relationships/image" Target="../media/image17.svg"/><Relationship Id="rId18" Type="http://schemas.openxmlformats.org/officeDocument/2006/relationships/image" Target="../media/image16.png"/><Relationship Id="rId17" Type="http://schemas.openxmlformats.org/officeDocument/2006/relationships/tags" Target="../tags/tag107.xml"/><Relationship Id="rId16" Type="http://schemas.openxmlformats.org/officeDocument/2006/relationships/tags" Target="../tags/tag106.xml"/><Relationship Id="rId15" Type="http://schemas.openxmlformats.org/officeDocument/2006/relationships/tags" Target="../tags/tag105.xml"/><Relationship Id="rId14" Type="http://schemas.openxmlformats.org/officeDocument/2006/relationships/tags" Target="../tags/tag104.xml"/><Relationship Id="rId13" Type="http://schemas.openxmlformats.org/officeDocument/2006/relationships/tags" Target="../tags/tag103.xml"/><Relationship Id="rId12" Type="http://schemas.openxmlformats.org/officeDocument/2006/relationships/tags" Target="../tags/tag102.xml"/><Relationship Id="rId11" Type="http://schemas.openxmlformats.org/officeDocument/2006/relationships/tags" Target="../tags/tag101.xml"/><Relationship Id="rId10" Type="http://schemas.openxmlformats.org/officeDocument/2006/relationships/tags" Target="../tags/tag100.xml"/><Relationship Id="rId1" Type="http://schemas.openxmlformats.org/officeDocument/2006/relationships/tags" Target="../tags/tag93.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image" Target="../media/image20.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19.xml"/><Relationship Id="rId4" Type="http://schemas.openxmlformats.org/officeDocument/2006/relationships/image" Target="../media/image20.png"/><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tags" Target="../tags/tag124.xml"/><Relationship Id="rId7" Type="http://schemas.openxmlformats.org/officeDocument/2006/relationships/image" Target="../media/image22.svg"/><Relationship Id="rId6" Type="http://schemas.openxmlformats.org/officeDocument/2006/relationships/image" Target="../media/image21.png"/><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image" Target="../media/image6.png"/><Relationship Id="rId22" Type="http://schemas.openxmlformats.org/officeDocument/2006/relationships/notesSlide" Target="../notesSlides/notesSlide6.xml"/><Relationship Id="rId21" Type="http://schemas.openxmlformats.org/officeDocument/2006/relationships/slideLayout" Target="../slideLayouts/slideLayout1.xml"/><Relationship Id="rId20" Type="http://schemas.openxmlformats.org/officeDocument/2006/relationships/tags" Target="../tags/tag132.xml"/><Relationship Id="rId2" Type="http://schemas.openxmlformats.org/officeDocument/2006/relationships/tags" Target="../tags/tag121.xml"/><Relationship Id="rId19" Type="http://schemas.openxmlformats.org/officeDocument/2006/relationships/image" Target="../media/image26.svg"/><Relationship Id="rId18" Type="http://schemas.openxmlformats.org/officeDocument/2006/relationships/image" Target="../media/image25.png"/><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image" Target="../media/image24.svg"/><Relationship Id="rId1" Type="http://schemas.openxmlformats.org/officeDocument/2006/relationships/tags" Target="../tags/tag120.xml"/></Relationships>
</file>

<file path=ppt/slides/_rels/slide12.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7" Type="http://schemas.openxmlformats.org/officeDocument/2006/relationships/notesSlide" Target="../notesSlides/notesSlide7.xml"/><Relationship Id="rId36" Type="http://schemas.openxmlformats.org/officeDocument/2006/relationships/slideLayout" Target="../slideLayouts/slideLayout1.xml"/><Relationship Id="rId35" Type="http://schemas.openxmlformats.org/officeDocument/2006/relationships/tags" Target="../tags/tag165.xml"/><Relationship Id="rId34" Type="http://schemas.openxmlformats.org/officeDocument/2006/relationships/image" Target="../media/image27.png"/><Relationship Id="rId33" Type="http://schemas.openxmlformats.org/officeDocument/2006/relationships/tags" Target="../tags/tag164.xml"/><Relationship Id="rId32" Type="http://schemas.openxmlformats.org/officeDocument/2006/relationships/tags" Target="../tags/tag163.xml"/><Relationship Id="rId31" Type="http://schemas.openxmlformats.org/officeDocument/2006/relationships/tags" Target="../tags/tag162.xml"/><Relationship Id="rId30" Type="http://schemas.openxmlformats.org/officeDocument/2006/relationships/tags" Target="../tags/tag161.xml"/><Relationship Id="rId3" Type="http://schemas.openxmlformats.org/officeDocument/2006/relationships/image" Target="../media/image6.png"/><Relationship Id="rId29" Type="http://schemas.openxmlformats.org/officeDocument/2006/relationships/tags" Target="../tags/tag160.xml"/><Relationship Id="rId28" Type="http://schemas.openxmlformats.org/officeDocument/2006/relationships/tags" Target="../tags/tag159.xml"/><Relationship Id="rId27" Type="http://schemas.openxmlformats.org/officeDocument/2006/relationships/tags" Target="../tags/tag158.xml"/><Relationship Id="rId26" Type="http://schemas.openxmlformats.org/officeDocument/2006/relationships/tags" Target="../tags/tag157.xml"/><Relationship Id="rId25" Type="http://schemas.openxmlformats.org/officeDocument/2006/relationships/tags" Target="../tags/tag156.xml"/><Relationship Id="rId24" Type="http://schemas.openxmlformats.org/officeDocument/2006/relationships/tags" Target="../tags/tag155.xml"/><Relationship Id="rId23" Type="http://schemas.openxmlformats.org/officeDocument/2006/relationships/tags" Target="../tags/tag154.xml"/><Relationship Id="rId22" Type="http://schemas.openxmlformats.org/officeDocument/2006/relationships/tags" Target="../tags/tag153.xml"/><Relationship Id="rId21" Type="http://schemas.openxmlformats.org/officeDocument/2006/relationships/tags" Target="../tags/tag152.xml"/><Relationship Id="rId20" Type="http://schemas.openxmlformats.org/officeDocument/2006/relationships/tags" Target="../tags/tag151.xml"/><Relationship Id="rId2" Type="http://schemas.openxmlformats.org/officeDocument/2006/relationships/tags" Target="../tags/tag134.xml"/><Relationship Id="rId19" Type="http://schemas.openxmlformats.org/officeDocument/2006/relationships/tags" Target="../tags/tag150.xml"/><Relationship Id="rId18" Type="http://schemas.openxmlformats.org/officeDocument/2006/relationships/tags" Target="../tags/tag149.xml"/><Relationship Id="rId17" Type="http://schemas.openxmlformats.org/officeDocument/2006/relationships/tags" Target="../tags/tag148.xml"/><Relationship Id="rId16" Type="http://schemas.openxmlformats.org/officeDocument/2006/relationships/tags" Target="../tags/tag147.xml"/><Relationship Id="rId15" Type="http://schemas.openxmlformats.org/officeDocument/2006/relationships/tags" Target="../tags/tag146.xml"/><Relationship Id="rId14" Type="http://schemas.openxmlformats.org/officeDocument/2006/relationships/tags" Target="../tags/tag145.xml"/><Relationship Id="rId13" Type="http://schemas.openxmlformats.org/officeDocument/2006/relationships/tags" Target="../tags/tag144.xml"/><Relationship Id="rId12" Type="http://schemas.openxmlformats.org/officeDocument/2006/relationships/tags" Target="../tags/tag143.xml"/><Relationship Id="rId11" Type="http://schemas.openxmlformats.org/officeDocument/2006/relationships/tags" Target="../tags/tag142.xml"/><Relationship Id="rId10" Type="http://schemas.openxmlformats.org/officeDocument/2006/relationships/tags" Target="../tags/tag141.xml"/><Relationship Id="rId1" Type="http://schemas.openxmlformats.org/officeDocument/2006/relationships/tags" Target="../tags/tag133.xml"/></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70.xml"/><Relationship Id="rId7" Type="http://schemas.openxmlformats.org/officeDocument/2006/relationships/image" Target="../media/image28.png"/><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image" Target="../media/image20.png"/><Relationship Id="rId3" Type="http://schemas.openxmlformats.org/officeDocument/2006/relationships/image" Target="../media/image6.png"/><Relationship Id="rId2" Type="http://schemas.openxmlformats.org/officeDocument/2006/relationships/tags" Target="../tags/tag167.xml"/><Relationship Id="rId10" Type="http://schemas.openxmlformats.org/officeDocument/2006/relationships/notesSlide" Target="../notesSlides/notesSlide8.xml"/><Relationship Id="rId1" Type="http://schemas.openxmlformats.org/officeDocument/2006/relationships/tags" Target="../tags/tag166.xml"/></Relationships>
</file>

<file path=ppt/slides/_rels/slide14.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0" Type="http://schemas.openxmlformats.org/officeDocument/2006/relationships/notesSlide" Target="../notesSlides/notesSlide9.xml"/><Relationship Id="rId3" Type="http://schemas.openxmlformats.org/officeDocument/2006/relationships/image" Target="../media/image6.png"/><Relationship Id="rId29" Type="http://schemas.openxmlformats.org/officeDocument/2006/relationships/slideLayout" Target="../slideLayouts/slideLayout1.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2.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1.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01.xml"/><Relationship Id="rId4" Type="http://schemas.openxmlformats.org/officeDocument/2006/relationships/image" Target="../media/image6.png"/><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2.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image" Target="../media/image6.pn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16.xml"/><Relationship Id="rId4" Type="http://schemas.openxmlformats.org/officeDocument/2006/relationships/image" Target="../media/image6.png"/><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3.xml"/><Relationship Id="rId3" Type="http://schemas.openxmlformats.org/officeDocument/2006/relationships/image" Target="../media/image6.png"/><Relationship Id="rId2" Type="http://schemas.openxmlformats.org/officeDocument/2006/relationships/tags" Target="../tags/tag218.xml"/><Relationship Id="rId1" Type="http://schemas.openxmlformats.org/officeDocument/2006/relationships/tags" Target="../tags/tag217.xml"/></Relationships>
</file>

<file path=ppt/slides/_rels/slide22.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image" Target="../media/image6.png"/><Relationship Id="rId2" Type="http://schemas.openxmlformats.org/officeDocument/2006/relationships/tags" Target="../tags/tag220.xml"/><Relationship Id="rId16" Type="http://schemas.openxmlformats.org/officeDocument/2006/relationships/notesSlide" Target="../notesSlides/notesSlide15.xml"/><Relationship Id="rId15" Type="http://schemas.openxmlformats.org/officeDocument/2006/relationships/slideLayout" Target="../slideLayouts/slideLayout12.xml"/><Relationship Id="rId14" Type="http://schemas.openxmlformats.org/officeDocument/2006/relationships/image" Target="../media/image37.png"/><Relationship Id="rId13" Type="http://schemas.openxmlformats.org/officeDocument/2006/relationships/image" Target="../media/image36.png"/><Relationship Id="rId12" Type="http://schemas.openxmlformats.org/officeDocument/2006/relationships/image" Target="../media/image35.png"/><Relationship Id="rId11" Type="http://schemas.openxmlformats.org/officeDocument/2006/relationships/image" Target="../media/image34.png"/><Relationship Id="rId10" Type="http://schemas.openxmlformats.org/officeDocument/2006/relationships/image" Target="../media/image33.png"/><Relationship Id="rId1" Type="http://schemas.openxmlformats.org/officeDocument/2006/relationships/tags" Target="../tags/tag219.xml"/></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image" Target="../media/image29.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9" Type="http://schemas.openxmlformats.org/officeDocument/2006/relationships/image" Target="../media/image39.jpeg"/><Relationship Id="rId8" Type="http://schemas.openxmlformats.org/officeDocument/2006/relationships/tags" Target="../tags/tag235.xml"/><Relationship Id="rId7" Type="http://schemas.openxmlformats.org/officeDocument/2006/relationships/image" Target="../media/image38.png"/><Relationship Id="rId6" Type="http://schemas.openxmlformats.org/officeDocument/2006/relationships/tags" Target="../tags/tag234.xml"/><Relationship Id="rId5" Type="http://schemas.openxmlformats.org/officeDocument/2006/relationships/tags" Target="../tags/tag233.xml"/><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1" Type="http://schemas.openxmlformats.org/officeDocument/2006/relationships/slideLayout" Target="../slideLayouts/slideLayout14.xml"/><Relationship Id="rId10" Type="http://schemas.openxmlformats.org/officeDocument/2006/relationships/tags" Target="../tags/tag236.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9.xml"/><Relationship Id="rId5" Type="http://schemas.openxmlformats.org/officeDocument/2006/relationships/tags" Target="../tags/tag240.xml"/><Relationship Id="rId4" Type="http://schemas.openxmlformats.org/officeDocument/2006/relationships/image" Target="../media/image6.png"/><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27.xml.rels><?xml version="1.0" encoding="UTF-8" standalone="yes"?>
<Relationships xmlns="http://schemas.openxmlformats.org/package/2006/relationships"><Relationship Id="rId9" Type="http://schemas.openxmlformats.org/officeDocument/2006/relationships/image" Target="../media/image42.png"/><Relationship Id="rId8" Type="http://schemas.openxmlformats.org/officeDocument/2006/relationships/image" Target="../media/image41.svg"/><Relationship Id="rId7" Type="http://schemas.openxmlformats.org/officeDocument/2006/relationships/image" Target="../media/image40.png"/><Relationship Id="rId6" Type="http://schemas.openxmlformats.org/officeDocument/2006/relationships/image" Target="../media/image6.png"/><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255.xml"/><Relationship Id="rId26" Type="http://schemas.openxmlformats.org/officeDocument/2006/relationships/tags" Target="../tags/tag254.xml"/><Relationship Id="rId25" Type="http://schemas.openxmlformats.org/officeDocument/2006/relationships/tags" Target="../tags/tag253.xml"/><Relationship Id="rId24" Type="http://schemas.openxmlformats.org/officeDocument/2006/relationships/tags" Target="../tags/tag252.xml"/><Relationship Id="rId23" Type="http://schemas.openxmlformats.org/officeDocument/2006/relationships/tags" Target="../tags/tag251.xml"/><Relationship Id="rId22" Type="http://schemas.openxmlformats.org/officeDocument/2006/relationships/tags" Target="../tags/tag250.xml"/><Relationship Id="rId21" Type="http://schemas.openxmlformats.org/officeDocument/2006/relationships/tags" Target="../tags/tag249.xml"/><Relationship Id="rId20" Type="http://schemas.openxmlformats.org/officeDocument/2006/relationships/tags" Target="../tags/tag248.xml"/><Relationship Id="rId2" Type="http://schemas.openxmlformats.org/officeDocument/2006/relationships/chart" Target="../charts/chart2.xml"/><Relationship Id="rId19" Type="http://schemas.openxmlformats.org/officeDocument/2006/relationships/tags" Target="../tags/tag247.xml"/><Relationship Id="rId18" Type="http://schemas.openxmlformats.org/officeDocument/2006/relationships/tags" Target="../tags/tag246.xml"/><Relationship Id="rId17" Type="http://schemas.openxmlformats.org/officeDocument/2006/relationships/tags" Target="../tags/tag245.xml"/><Relationship Id="rId16" Type="http://schemas.openxmlformats.org/officeDocument/2006/relationships/tags" Target="../tags/tag244.xml"/><Relationship Id="rId15" Type="http://schemas.openxmlformats.org/officeDocument/2006/relationships/tags" Target="../tags/tag243.xml"/><Relationship Id="rId14" Type="http://schemas.openxmlformats.org/officeDocument/2006/relationships/image" Target="../media/image47.svg"/><Relationship Id="rId13" Type="http://schemas.openxmlformats.org/officeDocument/2006/relationships/image" Target="../media/image46.png"/><Relationship Id="rId12" Type="http://schemas.openxmlformats.org/officeDocument/2006/relationships/image" Target="../media/image45.svg"/><Relationship Id="rId11" Type="http://schemas.openxmlformats.org/officeDocument/2006/relationships/image" Target="../media/image44.png"/><Relationship Id="rId10" Type="http://schemas.openxmlformats.org/officeDocument/2006/relationships/image" Target="../media/image43.svg"/><Relationship Id="rId1" Type="http://schemas.openxmlformats.org/officeDocument/2006/relationships/chart" Target="../charts/chart1.xml"/></Relationships>
</file>

<file path=ppt/slides/_rels/slide28.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chart" Target="../charts/chart7.xml"/><Relationship Id="rId3" Type="http://schemas.openxmlformats.org/officeDocument/2006/relationships/chart" Target="../charts/chart6.xml"/><Relationship Id="rId2" Type="http://schemas.openxmlformats.org/officeDocument/2006/relationships/chart" Target="../charts/chart5.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4.xml"/></Relationships>
</file>

<file path=ppt/slides/_rels/slide29.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4" Type="http://schemas.openxmlformats.org/officeDocument/2006/relationships/slideLayout" Target="../slideLayouts/slideLayout1.xml"/><Relationship Id="rId23" Type="http://schemas.openxmlformats.org/officeDocument/2006/relationships/image" Target="../media/image55.svg"/><Relationship Id="rId22" Type="http://schemas.openxmlformats.org/officeDocument/2006/relationships/image" Target="../media/image54.png"/><Relationship Id="rId21" Type="http://schemas.openxmlformats.org/officeDocument/2006/relationships/image" Target="../media/image53.svg"/><Relationship Id="rId20" Type="http://schemas.openxmlformats.org/officeDocument/2006/relationships/image" Target="../media/image52.png"/><Relationship Id="rId2" Type="http://schemas.openxmlformats.org/officeDocument/2006/relationships/chart" Target="../charts/chart9.xml"/><Relationship Id="rId19" Type="http://schemas.openxmlformats.org/officeDocument/2006/relationships/image" Target="../media/image51.svg"/><Relationship Id="rId18" Type="http://schemas.openxmlformats.org/officeDocument/2006/relationships/image" Target="../media/image50.png"/><Relationship Id="rId17" Type="http://schemas.openxmlformats.org/officeDocument/2006/relationships/image" Target="../media/image49.svg"/><Relationship Id="rId16" Type="http://schemas.openxmlformats.org/officeDocument/2006/relationships/image" Target="../media/image48.png"/><Relationship Id="rId15" Type="http://schemas.openxmlformats.org/officeDocument/2006/relationships/image" Target="../media/image6.png"/><Relationship Id="rId14" Type="http://schemas.openxmlformats.org/officeDocument/2006/relationships/tags" Target="../tags/tag271.xml"/><Relationship Id="rId13" Type="http://schemas.openxmlformats.org/officeDocument/2006/relationships/tags" Target="../tags/tag270.xml"/><Relationship Id="rId12" Type="http://schemas.openxmlformats.org/officeDocument/2006/relationships/tags" Target="../tags/tag269.xml"/><Relationship Id="rId11" Type="http://schemas.openxmlformats.org/officeDocument/2006/relationships/tags" Target="../tags/tag268.xml"/><Relationship Id="rId10" Type="http://schemas.openxmlformats.org/officeDocument/2006/relationships/tags" Target="../tags/tag267.xml"/><Relationship Id="rId1" Type="http://schemas.openxmlformats.org/officeDocument/2006/relationships/chart" Target="../charts/chart8.xml"/></Relationships>
</file>

<file path=ppt/slides/_rels/slide30.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image" Target="../media/image59.svg"/><Relationship Id="rId7" Type="http://schemas.openxmlformats.org/officeDocument/2006/relationships/image" Target="../media/image58.png"/><Relationship Id="rId6" Type="http://schemas.openxmlformats.org/officeDocument/2006/relationships/tags" Target="../tags/tag274.xml"/><Relationship Id="rId5" Type="http://schemas.openxmlformats.org/officeDocument/2006/relationships/image" Target="../media/image57.svg"/><Relationship Id="rId4" Type="http://schemas.openxmlformats.org/officeDocument/2006/relationships/image" Target="../media/image56.png"/><Relationship Id="rId3" Type="http://schemas.openxmlformats.org/officeDocument/2006/relationships/tags" Target="../tags/tag273.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69.svg"/><Relationship Id="rId21" Type="http://schemas.openxmlformats.org/officeDocument/2006/relationships/image" Target="../media/image68.png"/><Relationship Id="rId20" Type="http://schemas.openxmlformats.org/officeDocument/2006/relationships/tags" Target="../tags/tag277.xml"/><Relationship Id="rId2" Type="http://schemas.openxmlformats.org/officeDocument/2006/relationships/tags" Target="../tags/tag272.xml"/><Relationship Id="rId19" Type="http://schemas.openxmlformats.org/officeDocument/2006/relationships/image" Target="../media/image67.svg"/><Relationship Id="rId18" Type="http://schemas.openxmlformats.org/officeDocument/2006/relationships/image" Target="../media/image66.png"/><Relationship Id="rId17" Type="http://schemas.openxmlformats.org/officeDocument/2006/relationships/image" Target="../media/image65.svg"/><Relationship Id="rId16" Type="http://schemas.openxmlformats.org/officeDocument/2006/relationships/image" Target="../media/image64.png"/><Relationship Id="rId15" Type="http://schemas.openxmlformats.org/officeDocument/2006/relationships/tags" Target="../tags/tag276.xml"/><Relationship Id="rId14" Type="http://schemas.openxmlformats.org/officeDocument/2006/relationships/image" Target="../media/image63.svg"/><Relationship Id="rId13" Type="http://schemas.openxmlformats.org/officeDocument/2006/relationships/image" Target="../media/image62.png"/><Relationship Id="rId12" Type="http://schemas.openxmlformats.org/officeDocument/2006/relationships/tags" Target="../tags/tag275.xml"/><Relationship Id="rId11" Type="http://schemas.openxmlformats.org/officeDocument/2006/relationships/image" Target="../media/image14.png"/><Relationship Id="rId10" Type="http://schemas.openxmlformats.org/officeDocument/2006/relationships/image" Target="../media/image61.svg"/><Relationship Id="rId1" Type="http://schemas.openxmlformats.org/officeDocument/2006/relationships/chart" Target="../charts/char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5744845" y="3801110"/>
            <a:ext cx="5744210"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保护业务</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通报应对</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安全价值量化</a:t>
            </a:r>
            <a:r>
              <a:rPr lang="en-US" altLang="zh-CN" sz="1800" dirty="0">
                <a:solidFill>
                  <a:srgbClr val="216EE3"/>
                </a:solidFill>
                <a:latin typeface="Arial" panose="020B0604020202020204" pitchFamily="34" charset="0"/>
                <a:ea typeface="黑体-简" panose="02000000000000000000" charset="-122"/>
                <a:cs typeface="微软雅黑" panose="020B0503020204020204" charset="-122"/>
                <a:sym typeface="+mn-ea"/>
              </a:rPr>
              <a:t> · </a:t>
            </a:r>
            <a:r>
              <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rPr>
              <a:t>安全水位提升</a:t>
            </a:r>
            <a:endParaRPr lang="zh-CN" altLang="en-US" sz="1800" dirty="0">
              <a:solidFill>
                <a:srgbClr val="216EE3"/>
              </a:solidFill>
              <a:latin typeface="Arial" panose="020B0604020202020204" pitchFamily="34" charset="0"/>
              <a:ea typeface="黑体-简" panose="02000000000000000000" charset="-122"/>
              <a:cs typeface="微软雅黑" panose="020B0503020204020204" charset="-122"/>
              <a:sym typeface="+mn-ea"/>
            </a:endParaRPr>
          </a:p>
        </p:txBody>
      </p:sp>
      <p:grpSp>
        <p:nvGrpSpPr>
          <p:cNvPr id="7" name="组合 6"/>
          <p:cNvGrpSpPr/>
          <p:nvPr/>
        </p:nvGrpSpPr>
        <p:grpSpPr>
          <a:xfrm>
            <a:off x="5271770" y="2325370"/>
            <a:ext cx="6217285" cy="1490980"/>
            <a:chOff x="8301" y="2872"/>
            <a:chExt cx="9791" cy="2348"/>
          </a:xfrm>
        </p:grpSpPr>
        <p:sp>
          <p:nvSpPr>
            <p:cNvPr id="5" name="文本框 8"/>
            <p:cNvSpPr txBox="1"/>
            <p:nvPr>
              <p:custDataLst>
                <p:tags r:id="rId2"/>
              </p:custDataLst>
            </p:nvPr>
          </p:nvSpPr>
          <p:spPr>
            <a:xfrm>
              <a:off x="8301" y="3755"/>
              <a:ext cx="9791" cy="1465"/>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2025</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年网络安全工作复盘暨</a:t>
              </a:r>
              <a:r>
                <a:rPr lang="en-US" altLang="zh-CN"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2026</a:t>
              </a:r>
              <a:r>
                <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rPr>
                <a:t>展望</a:t>
              </a:r>
              <a:endParaRPr lang="zh-CN" altLang="en-US" sz="2800" dirty="0" smtClean="0">
                <a:gradFill>
                  <a:gsLst>
                    <a:gs pos="50000">
                      <a:schemeClr val="tx1"/>
                    </a:gs>
                    <a:gs pos="0">
                      <a:schemeClr val="tx1">
                        <a:lumMod val="25000"/>
                        <a:lumOff val="75000"/>
                      </a:schemeClr>
                    </a:gs>
                    <a:gs pos="100000">
                      <a:schemeClr val="tx1">
                        <a:lumMod val="85000"/>
                      </a:schemeClr>
                    </a:gs>
                  </a:gsLst>
                  <a:lin ang="5400000" scaled="1"/>
                </a:gradFill>
                <a:latin typeface="Arial" panose="020B0604020202020204" pitchFamily="34" charset="0"/>
                <a:ea typeface="黑体-简" panose="02000000000000000000" charset="-122"/>
              </a:endParaRPr>
            </a:p>
          </p:txBody>
        </p:sp>
        <p:sp>
          <p:nvSpPr>
            <p:cNvPr id="4" name="文本框 8"/>
            <p:cNvSpPr txBox="1"/>
            <p:nvPr>
              <p:custDataLst>
                <p:tags r:id="rId3"/>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en-US" altLang="zh-CN"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{{company}}&amp;</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rPr>
                <a:t>深信服科技</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latin typeface="Arial Black" panose="020B0A04020102020204" pitchFamily="34" charset="0"/>
                <a:ea typeface="微软雅黑" panose="020B0503020204020204" charset="-122"/>
              </a:endParaRPr>
            </a:p>
          </p:txBody>
        </p:sp>
      </p:grpSp>
      <p:sp>
        <p:nvSpPr>
          <p:cNvPr id="6" name="文本框 8"/>
          <p:cNvSpPr txBox="1">
            <a:spLocks noChangeArrowheads="1"/>
          </p:cNvSpPr>
          <p:nvPr/>
        </p:nvSpPr>
        <p:spPr bwMode="auto">
          <a:xfrm>
            <a:off x="6732905" y="4562475"/>
            <a:ext cx="475551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Arial" panose="020B0604020202020204" pitchFamily="34" charset="0"/>
                <a:ea typeface="黑体-简" panose="02000000000000000000" charset="-122"/>
                <a:cs typeface="微软雅黑" panose="020B0503020204020204" charset="-122"/>
                <a:sym typeface="+mn-ea"/>
              </a:rPr>
              <a:t>运营周期</a:t>
            </a:r>
            <a:r>
              <a:rPr lang="en-US" altLang="zh-CN" sz="1800" dirty="0">
                <a:solidFill>
                  <a:srgbClr val="515151"/>
                </a:solidFill>
                <a:latin typeface="Arial" panose="020B0604020202020204" pitchFamily="34" charset="0"/>
                <a:ea typeface="黑体-简" panose="02000000000000000000"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 </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 </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4"/>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pic>
        <p:nvPicPr>
          <p:cNvPr id="68" name="图片 67" descr="深信服 + 智安全"/>
          <p:cNvPicPr>
            <a:picLocks noChangeAspect="1"/>
          </p:cNvPicPr>
          <p:nvPr/>
        </p:nvPicPr>
        <p:blipFill>
          <a:blip r:embed="rId2"/>
          <a:srcRect l="5232" t="26576" r="4938" b="29565"/>
          <a:stretch>
            <a:fillRect/>
          </a:stretch>
        </p:blipFill>
        <p:spPr>
          <a:xfrm>
            <a:off x="10330815" y="273073"/>
            <a:ext cx="1629867" cy="360000"/>
          </a:xfrm>
          <a:prstGeom prst="rect">
            <a:avLst/>
          </a:prstGeom>
        </p:spPr>
      </p:pic>
      <p:pic>
        <p:nvPicPr>
          <p:cNvPr id="62" name="图片 61" descr="病毒检测@4x"/>
          <p:cNvPicPr>
            <a:picLocks noChangeAspect="1"/>
          </p:cNvPicPr>
          <p:nvPr/>
        </p:nvPicPr>
        <p:blipFill>
          <a:blip r:embed="rId3">
            <a:alphaModFix amt="84000"/>
          </a:blip>
          <a:srcRect l="-4651" t="-6497" r="18828" b="21030"/>
          <a:stretch>
            <a:fillRect/>
          </a:stretch>
        </p:blipFill>
        <p:spPr>
          <a:xfrm flipH="1">
            <a:off x="0" y="2709545"/>
            <a:ext cx="8221980" cy="4148455"/>
          </a:xfrm>
          <a:prstGeom prst="rect">
            <a:avLst/>
          </a:prstGeom>
        </p:spPr>
      </p:pic>
      <p:grpSp>
        <p:nvGrpSpPr>
          <p:cNvPr id="24" name="组合 23"/>
          <p:cNvGrpSpPr/>
          <p:nvPr>
            <p:custDataLst>
              <p:tags r:id="rId4"/>
            </p:custDataLst>
          </p:nvPr>
        </p:nvGrpSpPr>
        <p:grpSpPr>
          <a:xfrm rot="0">
            <a:off x="7091045" y="1797320"/>
            <a:ext cx="3239770" cy="468000"/>
            <a:chOff x="10673" y="2666"/>
            <a:chExt cx="5102" cy="874"/>
          </a:xfrm>
        </p:grpSpPr>
        <p:sp>
          <p:nvSpPr>
            <p:cNvPr id="25" name="文本框 24"/>
            <p:cNvSpPr txBox="1"/>
            <p:nvPr>
              <p:custDataLst>
                <p:tags r:id="rId5"/>
              </p:custDataLst>
            </p:nvPr>
          </p:nvSpPr>
          <p:spPr>
            <a:xfrm>
              <a:off x="10673" y="266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目标与协作机制回顾</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26" name="文本框 25"/>
            <p:cNvSpPr txBox="1"/>
            <p:nvPr>
              <p:custDataLst>
                <p:tags r:id="rId6"/>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回顾预期目标与协作机制</a:t>
              </a:r>
              <a:endParaRPr lang="zh-CN" altLang="en-US"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29" name="组合 28"/>
          <p:cNvGrpSpPr/>
          <p:nvPr>
            <p:custDataLst>
              <p:tags r:id="rId7"/>
            </p:custDataLst>
          </p:nvPr>
        </p:nvGrpSpPr>
        <p:grpSpPr>
          <a:xfrm>
            <a:off x="7091045" y="2729772"/>
            <a:ext cx="3239770" cy="468000"/>
            <a:chOff x="11278" y="3926"/>
            <a:chExt cx="5102" cy="859"/>
          </a:xfrm>
        </p:grpSpPr>
        <p:sp>
          <p:nvSpPr>
            <p:cNvPr id="30" name="文本框 2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algn="l"/>
              <a:r>
                <a:rPr lang="zh-CN" altLang="en-US" b="1" kern="0">
                  <a:uFillTx/>
                  <a:latin typeface="Arial" panose="020B0604020202020204" pitchFamily="34" charset="0"/>
                  <a:ea typeface="黑体-简" panose="02000000000000000000" charset="-122"/>
                  <a:cs typeface="微软雅黑" panose="020B0503020204020204" charset="-122"/>
                  <a:sym typeface="+mn-ea"/>
                </a:rPr>
                <a:t>共同的工作成果总结</a:t>
              </a:r>
              <a:endParaRPr lang="en-US" altLang="zh-CN"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5" name="文本框 34"/>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200" kern="0" spc="7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6" name="组合 35"/>
          <p:cNvGrpSpPr/>
          <p:nvPr>
            <p:custDataLst>
              <p:tags r:id="rId10"/>
            </p:custDataLst>
          </p:nvPr>
        </p:nvGrpSpPr>
        <p:grpSpPr>
          <a:xfrm rot="0">
            <a:off x="7091045" y="3661952"/>
            <a:ext cx="3239770" cy="468000"/>
            <a:chOff x="11278" y="3926"/>
            <a:chExt cx="5102" cy="859"/>
          </a:xfrm>
        </p:grpSpPr>
        <p:sp>
          <p:nvSpPr>
            <p:cNvPr id="37" name="文本框 36"/>
            <p:cNvSpPr txBox="1"/>
            <p:nvPr>
              <p:custDataLst>
                <p:tags r:id="rId11"/>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rPr>
                <a:t>共同挑战与应对思路</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38" name="文本框 37"/>
            <p:cNvSpPr txBox="1"/>
            <p:nvPr>
              <p:custDataLst>
                <p:tags r:id="rId12"/>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关键问题与应对思路</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grpSp>
        <p:nvGrpSpPr>
          <p:cNvPr id="39" name="组合 38"/>
          <p:cNvGrpSpPr/>
          <p:nvPr>
            <p:custDataLst>
              <p:tags r:id="rId13"/>
            </p:custDataLst>
          </p:nvPr>
        </p:nvGrpSpPr>
        <p:grpSpPr>
          <a:xfrm rot="0">
            <a:off x="7091045" y="4594132"/>
            <a:ext cx="3239770" cy="468000"/>
            <a:chOff x="11278" y="3926"/>
            <a:chExt cx="5102" cy="859"/>
          </a:xfrm>
        </p:grpSpPr>
        <p:sp>
          <p:nvSpPr>
            <p:cNvPr id="40" name="文本框 39"/>
            <p:cNvSpPr txBox="1"/>
            <p:nvPr>
              <p:custDataLst>
                <p:tags r:id="rId1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kern="0">
                  <a:uFillTx/>
                  <a:latin typeface="Arial" panose="020B0604020202020204" pitchFamily="34" charset="0"/>
                  <a:ea typeface="黑体-简" panose="02000000000000000000" charset="-122"/>
                  <a:cs typeface="微软雅黑" panose="020B0503020204020204" charset="-122"/>
                  <a:sym typeface="+mn-ea"/>
                </a:rPr>
                <a:t>下阶段目标与协作计划</a:t>
              </a:r>
              <a:endParaRPr lang="zh-CN" altLang="en-US" b="1" u="none" strike="noStrike" kern="0">
                <a:solidFill>
                  <a:schemeClr val="tx1"/>
                </a:solidFill>
                <a:uFillTx/>
                <a:latin typeface="Arial" panose="020B0604020202020204" pitchFamily="34" charset="0"/>
                <a:ea typeface="黑体-简" panose="02000000000000000000" charset="-122"/>
                <a:cs typeface="微软雅黑" panose="020B0503020204020204" charset="-122"/>
                <a:sym typeface="+mn-ea"/>
              </a:endParaRPr>
            </a:p>
          </p:txBody>
        </p:sp>
        <p:sp>
          <p:nvSpPr>
            <p:cNvPr id="42" name="文本框 41"/>
            <p:cNvSpPr txBox="1"/>
            <p:nvPr>
              <p:custDataLst>
                <p:tags r:id="rId1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rPr>
                <a:t>共同的目标与协作计划刷新</a:t>
              </a:r>
              <a:endParaRPr lang="zh-CN" sz="1200" kern="0" spc="60" dirty="0">
                <a:solidFill>
                  <a:schemeClr val="tx1">
                    <a:lumMod val="65000"/>
                    <a:lumOff val="35000"/>
                  </a:schemeClr>
                </a:solidFill>
                <a:latin typeface="Arial" panose="020B0604020202020204" pitchFamily="34" charset="0"/>
                <a:ea typeface="黑体-简" panose="02000000000000000000" charset="-122"/>
                <a:cs typeface="黑体" panose="02010609060101010101" charset="-122"/>
                <a:sym typeface="+mn-ea"/>
              </a:endParaRPr>
            </a:p>
          </p:txBody>
        </p:sp>
      </p:grpSp>
      <p:sp>
        <p:nvSpPr>
          <p:cNvPr id="43" name="节编号"/>
          <p:cNvSpPr>
            <a:spLocks noGrp="1"/>
          </p:cNvSpPr>
          <p:nvPr>
            <p:custDataLst>
              <p:tags r:id="rId16"/>
            </p:custDataLst>
          </p:nvPr>
        </p:nvSpPr>
        <p:spPr>
          <a:xfrm>
            <a:off x="6029960" y="167132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黑体-简" panose="02000000000000000000" charset="-122"/>
                <a:cs typeface="DINPro Bold" panose="02000503030000020004" charset="0"/>
              </a:rPr>
              <a:t>01</a:t>
            </a:r>
            <a:endParaRPr lang="en-US" altLang="en-US" sz="3600">
              <a:solidFill>
                <a:srgbClr val="0C51C2"/>
              </a:solidFill>
              <a:latin typeface="Arial" panose="020B0604020202020204" pitchFamily="34" charset="0"/>
              <a:ea typeface="黑体-简" panose="02000000000000000000" charset="-122"/>
              <a:cs typeface="DINPro Bold" panose="02000503030000020004" charset="0"/>
            </a:endParaRPr>
          </a:p>
        </p:txBody>
      </p:sp>
      <p:sp>
        <p:nvSpPr>
          <p:cNvPr id="45" name="节编号"/>
          <p:cNvSpPr>
            <a:spLocks noGrp="1"/>
          </p:cNvSpPr>
          <p:nvPr>
            <p:custDataLst>
              <p:tags r:id="rId17"/>
            </p:custDataLst>
          </p:nvPr>
        </p:nvSpPr>
        <p:spPr>
          <a:xfrm>
            <a:off x="6029960" y="26040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6" name="节编号"/>
          <p:cNvSpPr>
            <a:spLocks noGrp="1"/>
          </p:cNvSpPr>
          <p:nvPr>
            <p:custDataLst>
              <p:tags r:id="rId18"/>
            </p:custDataLst>
          </p:nvPr>
        </p:nvSpPr>
        <p:spPr>
          <a:xfrm>
            <a:off x="6029960" y="353622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47" name="节编号"/>
          <p:cNvSpPr>
            <a:spLocks noGrp="1"/>
          </p:cNvSpPr>
          <p:nvPr>
            <p:custDataLst>
              <p:tags r:id="rId19"/>
            </p:custDataLst>
          </p:nvPr>
        </p:nvSpPr>
        <p:spPr>
          <a:xfrm>
            <a:off x="6029960" y="44684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Tree>
    <p:custDataLst>
      <p:tags r:id="rId20"/>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回顾预期目标与协作机制</a:t>
            </a:r>
            <a:endParaRPr lang="zh-CN" altLang="en-US" sz="14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sym typeface="+mn-ea"/>
              </a:rPr>
              <a:t>目标与协作机制回顾</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01</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我们共同的目标回顾</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1" name="正文"/>
          <p:cNvSpPr txBox="1"/>
          <p:nvPr>
            <p:custDataLst>
              <p:tags r:id="rId4"/>
            </p:custDataLst>
          </p:nvPr>
        </p:nvSpPr>
        <p:spPr>
          <a:xfrm>
            <a:off x="8653475" y="330221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重要时期防守保障</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endParaRPr>
          </a:p>
        </p:txBody>
      </p:sp>
      <p:sp>
        <p:nvSpPr>
          <p:cNvPr id="11" name="椭圆 10"/>
          <p:cNvSpPr/>
          <p:nvPr>
            <p:custDataLst>
              <p:tags r:id="rId5"/>
            </p:custDataLst>
          </p:nvPr>
        </p:nvSpPr>
        <p:spPr>
          <a:xfrm>
            <a:off x="9446456" y="2680628"/>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2" name="3" descr="斗争"/>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a:stretch>
            <a:fillRect/>
          </a:stretch>
        </p:blipFill>
        <p:spPr>
          <a:xfrm>
            <a:off x="9561356" y="2787604"/>
            <a:ext cx="270553" cy="270553"/>
          </a:xfrm>
          <a:prstGeom prst="rect">
            <a:avLst/>
          </a:prstGeom>
        </p:spPr>
      </p:pic>
      <p:sp>
        <p:nvSpPr>
          <p:cNvPr id="4" name="矩形 3"/>
          <p:cNvSpPr/>
          <p:nvPr>
            <p:custDataLst>
              <p:tags r:id="rId9"/>
            </p:custDataLst>
          </p:nvPr>
        </p:nvSpPr>
        <p:spPr>
          <a:xfrm>
            <a:off x="4460308" y="2257742"/>
            <a:ext cx="3240000" cy="3823970"/>
          </a:xfrm>
          <a:prstGeom prst="rect">
            <a:avLst/>
          </a:prstGeom>
          <a:noFill/>
          <a:ln>
            <a:gradFill>
              <a:gsLst>
                <a:gs pos="100000">
                  <a:schemeClr val="accent6">
                    <a:lumMod val="5000"/>
                    <a:lumOff val="95000"/>
                    <a:alpha val="0"/>
                  </a:schemeClr>
                </a:gs>
                <a:gs pos="55000">
                  <a:schemeClr val="accent6">
                    <a:alpha val="25000"/>
                  </a:schemeClr>
                </a:gs>
              </a:gsLst>
              <a:lin ang="5400000" scaled="1"/>
            </a:gradFill>
          </a:ln>
          <a:effectLst>
            <a:outerShdw blurRad="114300" sx="101000" sy="101000" algn="ctr" rotWithShape="0">
              <a:schemeClr val="accent6">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6" name="正文"/>
          <p:cNvSpPr txBox="1"/>
          <p:nvPr>
            <p:custDataLst>
              <p:tags r:id="rId10"/>
            </p:custDataLst>
          </p:nvPr>
        </p:nvSpPr>
        <p:spPr>
          <a:xfrm>
            <a:off x="5037150" y="3026951"/>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rPr>
              <a:t>核心业务安全保护</a:t>
            </a:r>
            <a:endParaRPr lang="zh-CN" altLang="en-US" sz="1500" b="1" spc="150" dirty="0">
              <a:solidFill>
                <a:schemeClr val="accent6"/>
              </a:solidFill>
              <a:latin typeface="Arial" panose="020B0604020202020204" pitchFamily="34" charset="0"/>
              <a:ea typeface="黑体-简" panose="02000000000000000000" charset="-122"/>
              <a:cs typeface="微软雅黑" panose="020B0503020204020204" charset="-122"/>
              <a:sym typeface="+mn-ea"/>
            </a:endParaRPr>
          </a:p>
        </p:txBody>
      </p:sp>
      <p:sp>
        <p:nvSpPr>
          <p:cNvPr id="8" name="椭圆 7"/>
          <p:cNvSpPr/>
          <p:nvPr>
            <p:custDataLst>
              <p:tags r:id="rId11"/>
            </p:custDataLst>
          </p:nvPr>
        </p:nvSpPr>
        <p:spPr>
          <a:xfrm>
            <a:off x="5830131" y="2405368"/>
            <a:ext cx="500354" cy="500354"/>
          </a:xfrm>
          <a:prstGeom prst="ellipse">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9" name="2" descr="盾牌"/>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rcRect/>
          <a:stretch>
            <a:fillRect/>
          </a:stretch>
        </p:blipFill>
        <p:spPr>
          <a:xfrm>
            <a:off x="5939937" y="2514042"/>
            <a:ext cx="280741" cy="280741"/>
          </a:xfrm>
          <a:prstGeom prst="rect">
            <a:avLst/>
          </a:prstGeom>
        </p:spPr>
      </p:pic>
      <p:sp>
        <p:nvSpPr>
          <p:cNvPr id="10" name="正文"/>
          <p:cNvSpPr txBox="1"/>
          <p:nvPr>
            <p:custDataLst>
              <p:tags r:id="rId15"/>
            </p:custDataLst>
          </p:nvPr>
        </p:nvSpPr>
        <p:spPr>
          <a:xfrm>
            <a:off x="1421185" y="3309196"/>
            <a:ext cx="2086316" cy="315268"/>
          </a:xfrm>
          <a:prstGeom prst="rect">
            <a:avLst/>
          </a:prstGeom>
          <a:noFill/>
        </p:spPr>
        <p:txBody>
          <a:bodyPr wrap="square" lIns="0" tIns="0" rIns="0" bIns="0" rtlCol="0" anchor="b" anchorCtr="0">
            <a:noAutofit/>
          </a:bodyPr>
          <a:p>
            <a:pPr indent="0" algn="ctr" fontAlgn="auto">
              <a:lnSpc>
                <a:spcPct val="130000"/>
              </a:lnSpc>
            </a:pPr>
            <a:r>
              <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rPr>
              <a:t>安全考核与通报应对</a:t>
            </a:r>
            <a:endParaRPr lang="zh-CN" altLang="en-US" sz="1500" b="1" spc="150" dirty="0">
              <a:solidFill>
                <a:schemeClr val="accent5"/>
              </a:solidFill>
              <a:latin typeface="Arial" panose="020B0604020202020204" pitchFamily="34" charset="0"/>
              <a:ea typeface="黑体-简" panose="02000000000000000000" charset="-122"/>
              <a:cs typeface="微软雅黑" panose="020B0503020204020204" charset="-122"/>
              <a:sym typeface="+mn-ea"/>
            </a:endParaRPr>
          </a:p>
        </p:txBody>
      </p:sp>
      <p:sp>
        <p:nvSpPr>
          <p:cNvPr id="18" name="椭圆 17"/>
          <p:cNvSpPr/>
          <p:nvPr>
            <p:custDataLst>
              <p:tags r:id="rId16"/>
            </p:custDataLst>
          </p:nvPr>
        </p:nvSpPr>
        <p:spPr>
          <a:xfrm>
            <a:off x="2214166" y="2696503"/>
            <a:ext cx="500354" cy="500354"/>
          </a:xfrm>
          <a:prstGeom prst="ellips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endParaRPr>
          </a:p>
        </p:txBody>
      </p:sp>
      <p:pic>
        <p:nvPicPr>
          <p:cNvPr id="51" name="1" descr="审核"/>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2327934" y="2802630"/>
            <a:ext cx="272817" cy="272817"/>
          </a:xfrm>
          <a:prstGeom prst="rect">
            <a:avLst/>
          </a:prstGeom>
        </p:spPr>
      </p:pic>
      <p:sp>
        <p:nvSpPr>
          <p:cNvPr id="19" name="矩形 18"/>
          <p:cNvSpPr/>
          <p:nvPr>
            <p:custDataLst>
              <p:tags r:id="rId20"/>
            </p:custDataLst>
          </p:nvPr>
        </p:nvSpPr>
        <p:spPr>
          <a:xfrm>
            <a:off x="8076633" y="2533003"/>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20" name="矩形 19"/>
          <p:cNvSpPr/>
          <p:nvPr>
            <p:custDataLst>
              <p:tags r:id="rId21"/>
            </p:custDataLst>
          </p:nvPr>
        </p:nvSpPr>
        <p:spPr>
          <a:xfrm>
            <a:off x="844343" y="2539988"/>
            <a:ext cx="3240000" cy="3560775"/>
          </a:xfrm>
          <a:prstGeom prst="rect">
            <a:avLst/>
          </a:prstGeom>
          <a:noFill/>
          <a:ln>
            <a:gradFill>
              <a:gsLst>
                <a:gs pos="100000">
                  <a:schemeClr val="accent5">
                    <a:lumMod val="5000"/>
                    <a:lumOff val="95000"/>
                    <a:alpha val="0"/>
                  </a:schemeClr>
                </a:gs>
                <a:gs pos="55000">
                  <a:schemeClr val="accent5">
                    <a:alpha val="25000"/>
                  </a:schemeClr>
                </a:gs>
              </a:gsLst>
              <a:lin ang="5400000" scaled="1"/>
            </a:gradFill>
          </a:ln>
          <a:effectLst>
            <a:outerShdw blurRad="114300" sx="101000" sy="101000" algn="ctr" rotWithShape="0">
              <a:schemeClr val="accent5">
                <a:alpha val="59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n>
                <a:noFill/>
              </a:ln>
              <a:solidFill>
                <a:schemeClr val="lt1"/>
              </a:solidFill>
              <a:sym typeface="+mn-ea"/>
            </a:endParaRPr>
          </a:p>
        </p:txBody>
      </p:sp>
      <p:sp>
        <p:nvSpPr>
          <p:cNvPr id="693" name="圆角矩形 692"/>
          <p:cNvSpPr/>
          <p:nvPr>
            <p:custDataLst>
              <p:tags r:id="rId22"/>
            </p:custDataLst>
          </p:nvPr>
        </p:nvSpPr>
        <p:spPr>
          <a:xfrm>
            <a:off x="669608" y="1215390"/>
            <a:ext cx="10800000" cy="865505"/>
          </a:xfrm>
          <a:prstGeom prst="roundRect">
            <a:avLst>
              <a:gd name="adj" fmla="val 11225"/>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marL="0" indent="0" algn="ctr">
              <a:lnSpc>
                <a:spcPct val="150000"/>
              </a:lnSpc>
              <a:buNone/>
            </a:pP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在国家及行业网络安全安全实战效果要求越来越高，外部网络安全态势愈加严峻多变的时代背景下。为</a:t>
            </a:r>
            <a:r>
              <a:rPr lang="en-US" sz="12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共同构建</a:t>
            </a: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起</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以</a:t>
            </a: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保护</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核心业务系统安全稳定运行</a:t>
            </a:r>
            <a:r>
              <a:rPr lang="zh-CN" alt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为中心的</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主动防御、持续监测、快速响应的全面安全运营体系，为</a:t>
            </a:r>
            <a:r>
              <a:rPr lang="en-US" sz="12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en-US" sz="1200" dirty="0">
                <a:solidFill>
                  <a:schemeClr val="tx1"/>
                </a:solidFill>
                <a:latin typeface="Arial" panose="020B0604020202020204" pitchFamily="34" charset="0"/>
                <a:ea typeface="黑体-简" panose="02000000000000000000" charset="-122"/>
                <a:cs typeface="Calibri" panose="020F0502020204030204" pitchFamily="34" charset="-120"/>
                <a:sym typeface="+mn-ea"/>
              </a:rPr>
              <a:t>的数字化转型保驾护航。</a:t>
            </a:r>
            <a:endParaRPr lang="en-US" altLang="en-US" sz="1200" b="1" dirty="0">
              <a:solidFill>
                <a:schemeClr val="tx1"/>
              </a:solidFill>
              <a:uFillTx/>
              <a:latin typeface="Arial" panose="020B0604020202020204" pitchFamily="34" charset="0"/>
              <a:ea typeface="黑体-简" panose="02000000000000000000" charset="-122"/>
              <a:cs typeface="Calibri" panose="020F0502020204030204" pitchFamily="34" charset="-120"/>
              <a:sym typeface="+mn-ea"/>
            </a:endParaRPr>
          </a:p>
        </p:txBody>
      </p:sp>
      <p:pic>
        <p:nvPicPr>
          <p:cNvPr id="705" name="图片 704" descr="1755071818846"/>
          <p:cNvPicPr/>
          <p:nvPr/>
        </p:nvPicPr>
        <p:blipFill>
          <a:blip r:embed="rId23"/>
          <a:stretch>
            <a:fillRect/>
          </a:stretch>
        </p:blipFill>
        <p:spPr>
          <a:xfrm>
            <a:off x="669608" y="6019800"/>
            <a:ext cx="10800000" cy="502285"/>
          </a:xfrm>
          <a:prstGeom prst="rect">
            <a:avLst/>
          </a:prstGeom>
        </p:spPr>
      </p:pic>
      <p:sp>
        <p:nvSpPr>
          <p:cNvPr id="706" name="文本框 705"/>
          <p:cNvSpPr txBox="1"/>
          <p:nvPr/>
        </p:nvSpPr>
        <p:spPr>
          <a:xfrm>
            <a:off x="859155" y="6052185"/>
            <a:ext cx="10575290" cy="4337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30000"/>
              </a:lnSpc>
              <a:spcBef>
                <a:spcPts val="0"/>
              </a:spcBef>
              <a:spcAft>
                <a:spcPts val="0"/>
              </a:spcAft>
              <a:buClrTx/>
              <a:buSzTx/>
              <a:buFontTx/>
              <a:buNone/>
            </a:pP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相互的信任和高效的协作是达成这一工作目标的坚实基础，每一次恶意外联拦截和清除主机风险、每一个被修复的漏洞和弱口令，都离不开</a:t>
            </a:r>
            <a:r>
              <a:rPr lang="en-US" sz="1000" dirty="0">
                <a:solidFill>
                  <a:srgbClr val="4C61E7"/>
                </a:solidFill>
                <a:latin typeface="Arial" panose="020B0604020202020204" pitchFamily="34" charset="0"/>
                <a:ea typeface="黑体-简" panose="02000000000000000000" charset="-122"/>
                <a:cs typeface="Calibri" panose="020F0502020204030204" pitchFamily="34" charset="-120"/>
                <a:sym typeface="+mn-ea"/>
              </a:rPr>
              <a:t>{{company}}</a:t>
            </a:r>
            <a:r>
              <a:rPr lang="zh-CN" sz="1000" dirty="0">
                <a:solidFill>
                  <a:schemeClr val="tx1">
                    <a:alpha val="100000"/>
                  </a:schemeClr>
                </a:solidFill>
                <a:latin typeface="Arial" panose="020B0604020202020204" pitchFamily="34" charset="0"/>
                <a:ea typeface="黑体-简" panose="02000000000000000000" charset="-122"/>
                <a:cs typeface="黑体" panose="02010609060101010101" charset="-122"/>
                <a:sym typeface="+mn-ea"/>
              </a:rPr>
              <a:t>同仁</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的信任与支持，工作目标的</a:t>
            </a:r>
            <a:r>
              <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达成是我们共同的努力成果</a:t>
            </a:r>
            <a:endParaRPr lang="zh-CN"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32" name="正文"/>
          <p:cNvSpPr txBox="1"/>
          <p:nvPr>
            <p:custDataLst>
              <p:tags r:id="rId24"/>
            </p:custDataLst>
          </p:nvPr>
        </p:nvSpPr>
        <p:spPr>
          <a:xfrm>
            <a:off x="984885" y="3949065"/>
            <a:ext cx="2988310" cy="1845945"/>
          </a:xfrm>
          <a:prstGeom prst="rect">
            <a:avLst/>
          </a:prstGeom>
          <a:noFill/>
        </p:spPr>
        <p:txBody>
          <a:bodyPr wrap="square" lIns="0" tIns="0" rIns="0" bIns="0" rtlCol="0" anchor="t" anchorCtr="0">
            <a:noAutofit/>
          </a:bodyPr>
          <a:p>
            <a:pPr lvl="0" indent="0" algn="l">
              <a:lnSpc>
                <a:spcPct val="130000"/>
              </a:lnSpc>
              <a:buClrTx/>
              <a:buSzTx/>
              <a:buFont typeface="Wingdings" panose="05000000000000000000" charset="0"/>
              <a:buNone/>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持续降低被通报风险，高效响应被通报问题</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indent="0" algn="l">
              <a:lnSpc>
                <a:spcPct val="130000"/>
              </a:lnSpc>
              <a:buClrTx/>
              <a:buSzTx/>
              <a:buFont typeface="Wingdings" panose="05000000000000000000" charset="0"/>
              <a:buNone/>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1</a:t>
            </a:r>
            <a:r>
              <a:rPr lang="zh-CN" altLang="en-US" sz="1200" dirty="0">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2</a:t>
            </a:r>
            <a:r>
              <a:rPr lang="zh-CN" altLang="en-US" sz="1200" dirty="0">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、恶意外联类问题构建自主发现能力，有效减少被监管通报的概率；</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200" dirty="0">
                <a:latin typeface="Heiti SC Light" panose="02000000000000000000" charset="-122"/>
                <a:ea typeface="Heiti SC Light" panose="02000000000000000000" charset="-122"/>
                <a:cs typeface="Heiti SC Light" panose="02000000000000000000" charset="-122"/>
                <a:sym typeface="+mn-ea"/>
              </a:rPr>
              <a:t>3</a:t>
            </a:r>
            <a:r>
              <a:rPr lang="zh-CN" altLang="en-US" sz="1200" dirty="0">
                <a:latin typeface="Heiti SC Light" panose="02000000000000000000" charset="-122"/>
                <a:ea typeface="Heiti SC Light" panose="02000000000000000000" charset="-122"/>
                <a:cs typeface="Heiti SC Light" panose="02000000000000000000" charset="-122"/>
                <a:sym typeface="+mn-ea"/>
              </a:rPr>
              <a:t>、被通报问题的有效排查和响应回函不超过48</a:t>
            </a:r>
            <a:r>
              <a:rPr lang="en-US" altLang="zh-CN" sz="1200" dirty="0">
                <a:latin typeface="Heiti SC Light" panose="02000000000000000000" charset="-122"/>
                <a:ea typeface="Heiti SC Light" panose="02000000000000000000" charset="-122"/>
                <a:cs typeface="Heiti SC Light" panose="02000000000000000000" charset="-122"/>
                <a:sym typeface="+mn-ea"/>
              </a:rPr>
              <a:t>H。</a:t>
            </a:r>
            <a:endPar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lvl="0" indent="0" algn="ctr">
              <a:lnSpc>
                <a:spcPct val="130000"/>
              </a:lnSpc>
              <a:buClrTx/>
              <a:buSzTx/>
              <a:buFont typeface="Wingdings" panose="05000000000000000000" charset="0"/>
              <a:buNone/>
            </a:pPr>
            <a:endParaRPr lang="zh-CN" altLang="en-US" sz="1200" kern="0" dirty="0">
              <a:ln>
                <a:noFill/>
                <a:prstDash val="sysDot"/>
              </a:ln>
              <a:solidFill>
                <a:schemeClr val="tx1">
                  <a:lumMod val="85000"/>
                  <a:lumOff val="15000"/>
                </a:schemeClr>
              </a:solidFill>
              <a:uFillTx/>
              <a:latin typeface="Heiti SC Light" panose="02000000000000000000" charset="-122"/>
              <a:ea typeface="Heiti SC Light" panose="02000000000000000000" charset="-122"/>
              <a:cs typeface="Heiti SC Light" panose="02000000000000000000" charset="-122"/>
              <a:sym typeface="+mn-ea"/>
            </a:endParaRPr>
          </a:p>
        </p:txBody>
      </p:sp>
      <p:sp>
        <p:nvSpPr>
          <p:cNvPr id="15" name="正文"/>
          <p:cNvSpPr txBox="1"/>
          <p:nvPr>
            <p:custDataLst>
              <p:tags r:id="rId25"/>
            </p:custDataLst>
          </p:nvPr>
        </p:nvSpPr>
        <p:spPr>
          <a:xfrm>
            <a:off x="4585970" y="3667125"/>
            <a:ext cx="2988310" cy="2009775"/>
          </a:xfrm>
          <a:prstGeom prst="rect">
            <a:avLst/>
          </a:prstGeom>
          <a:noFill/>
        </p:spPr>
        <p:txBody>
          <a:bodyPr wrap="square" lIns="0" tIns="0" rIns="0" bIns="0" rtlCol="0" anchor="t" anchorCtr="0">
            <a:noAutofit/>
          </a:bodyPr>
          <a:p>
            <a:pPr indent="0" algn="l" fontAlgn="auto">
              <a:lnSpc>
                <a:spcPct val="130000"/>
              </a:lnSpc>
              <a:buFont typeface="Wingdings" panose="05000000000000000000" charset="0"/>
              <a:buNone/>
            </a:pPr>
            <a:r>
              <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rPr>
              <a:t>保障核心业务系统0安全事故，有效规避业务损失</a:t>
            </a: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indent="0" algn="l" fontAlgn="auto">
              <a:lnSpc>
                <a:spcPct val="130000"/>
              </a:lnSpc>
              <a:buFont typeface="Wingdings" panose="05000000000000000000" charset="0"/>
              <a:buNone/>
            </a:pPr>
            <a:endParaRPr lang="zh-CN" altLang="en-US" sz="1200" b="1"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200" dirty="0">
                <a:latin typeface="Heiti SC Light" panose="02000000000000000000" charset="-122"/>
                <a:ea typeface="Heiti SC Light" panose="02000000000000000000" charset="-122"/>
                <a:cs typeface="Heiti SC Light" panose="02000000000000000000" charset="-122"/>
                <a:sym typeface="+mn-ea"/>
              </a:rPr>
              <a:t>核心业务（</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200" dirty="0">
                <a:latin typeface="Heiti SC Light" panose="02000000000000000000" charset="-122"/>
                <a:ea typeface="Heiti SC Light" panose="02000000000000000000" charset="-122"/>
                <a:cs typeface="Heiti SC Light" panose="02000000000000000000" charset="-122"/>
                <a:sym typeface="+mn-ea"/>
              </a:rPr>
              <a:t>0</a:t>
            </a:r>
            <a:r>
              <a:rPr lang="zh-CN" altLang="en-US" sz="12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2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2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主动发现核心系统的重大风险并进行缓解，降低风险被利用带来的损失；</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ctr" fontAlgn="auto">
              <a:lnSpc>
                <a:spcPct val="130000"/>
              </a:lnSpc>
              <a:buFont typeface="Wingdings" panose="05000000000000000000" charset="0"/>
              <a:buNone/>
            </a:pPr>
            <a:endParaRPr lang="zh-CN" altLang="en-US" sz="1200" kern="0" dirty="0">
              <a:ln>
                <a:noFill/>
                <a:prstDash val="sysDot"/>
              </a:ln>
              <a:solidFill>
                <a:schemeClr val="tx1">
                  <a:lumMod val="85000"/>
                  <a:lumOff val="15000"/>
                </a:schemeClr>
              </a:solidFill>
              <a:uFillTx/>
              <a:latin typeface="Arial" panose="020B0604020202020204" pitchFamily="34" charset="0"/>
              <a:ea typeface="黑体-简" panose="02000000000000000000" charset="-122"/>
              <a:cs typeface="微软雅黑" panose="020B0503020204020204" charset="-122"/>
              <a:sym typeface="微软雅黑" panose="020B0503020204020204" charset="-122"/>
            </a:endParaRPr>
          </a:p>
        </p:txBody>
      </p:sp>
      <p:sp>
        <p:nvSpPr>
          <p:cNvPr id="23" name="正文"/>
          <p:cNvSpPr txBox="1"/>
          <p:nvPr>
            <p:custDataLst>
              <p:tags r:id="rId26"/>
            </p:custDataLst>
          </p:nvPr>
        </p:nvSpPr>
        <p:spPr>
          <a:xfrm>
            <a:off x="8202930" y="3942080"/>
            <a:ext cx="2988310" cy="1734820"/>
          </a:xfrm>
          <a:prstGeom prst="rect">
            <a:avLst/>
          </a:prstGeom>
          <a:noFill/>
        </p:spPr>
        <p:txBody>
          <a:bodyPr wrap="square" lIns="0" tIns="0" rIns="0" bIns="0" rtlCol="0" anchor="t" anchorCtr="0">
            <a:noAutofit/>
          </a:bodyPr>
          <a:p>
            <a:pPr lvl="0" algn="l">
              <a:lnSpc>
                <a:spcPct val="130000"/>
              </a:lnSpc>
              <a:buClrTx/>
              <a:buSzTx/>
              <a:buFont typeface="Wingdings" panose="05000000000000000000" charset="0"/>
            </a:pP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提升攻防演练场景</a:t>
            </a:r>
            <a:r>
              <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rPr>
              <a:t>的防守保障能力，助力单位安全水平通过实战检验</a:t>
            </a: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1</a:t>
            </a:r>
            <a:r>
              <a:rPr lang="zh-CN" altLang="en-US" sz="12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2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200" dirty="0">
                <a:latin typeface="Heiti SC Light" panose="02000000000000000000" charset="-122"/>
                <a:ea typeface="Heiti SC Light" panose="02000000000000000000" charset="-122"/>
                <a:cs typeface="Heiti SC Light" panose="02000000000000000000" charset="-122"/>
                <a:sym typeface="+mn-ea"/>
              </a:rPr>
              <a:t>30</a:t>
            </a:r>
            <a:r>
              <a:rPr lang="zh-CN" altLang="en-US" sz="1200" dirty="0">
                <a:latin typeface="Heiti SC Light" panose="02000000000000000000" charset="-122"/>
                <a:ea typeface="Heiti SC Light" panose="02000000000000000000" charset="-122"/>
                <a:cs typeface="Heiti SC Light" panose="02000000000000000000" charset="-122"/>
                <a:sym typeface="+mn-ea"/>
              </a:rPr>
              <a:t>分钟内通告；</a:t>
            </a:r>
            <a:endParaRPr lang="zh-CN" altLang="en-US" sz="12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200" b="1" dirty="0">
                <a:latin typeface="Heiti SC Light" panose="02000000000000000000" charset="-122"/>
                <a:ea typeface="Heiti SC Light" panose="02000000000000000000" charset="-122"/>
                <a:cs typeface="Heiti SC Light" panose="02000000000000000000" charset="-122"/>
                <a:sym typeface="+mn-ea"/>
              </a:rPr>
              <a:t>2</a:t>
            </a:r>
            <a:r>
              <a:rPr lang="zh-CN" altLang="en-US" sz="12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2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200" dirty="0">
                <a:latin typeface="Heiti SC Light" panose="02000000000000000000" charset="-122"/>
                <a:ea typeface="Heiti SC Light" panose="02000000000000000000" charset="-122"/>
                <a:cs typeface="Heiti SC Light" panose="02000000000000000000" charset="-122"/>
                <a:sym typeface="+mn-ea"/>
              </a:rPr>
              <a:t>100%</a:t>
            </a:r>
            <a:r>
              <a:rPr lang="zh-CN" altLang="en-US" sz="12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200" dirty="0">
              <a:latin typeface="Heiti SC Light" panose="02000000000000000000" charset="-122"/>
              <a:ea typeface="Heiti SC Light" panose="02000000000000000000" charset="-122"/>
              <a:cs typeface="Heiti SC Light" panose="02000000000000000000" charset="-122"/>
              <a:sym typeface="+mn-ea"/>
            </a:endParaRPr>
          </a:p>
          <a:p>
            <a:pPr lvl="0" algn="l">
              <a:lnSpc>
                <a:spcPct val="130000"/>
              </a:lnSpc>
              <a:buClrTx/>
              <a:buSzTx/>
              <a:buFont typeface="Wingdings" panose="05000000000000000000" charset="0"/>
            </a:pPr>
            <a:endParaRPr lang="zh-CN" altLang="en-US" sz="1200" b="1" kern="0" dirty="0">
              <a:ln>
                <a:noFill/>
                <a:prstDash val="sysDot"/>
              </a:ln>
              <a:solidFill>
                <a:schemeClr val="tx1">
                  <a:lumMod val="85000"/>
                  <a:lumOff val="15000"/>
                </a:schemeClr>
              </a:solidFill>
              <a:uFillTx/>
              <a:latin typeface="Heiti SC Medium" panose="02000000000000000000" charset="-122"/>
              <a:ea typeface="Heiti SC Medium" panose="02000000000000000000" charset="-122"/>
              <a:cs typeface="微软雅黑" panose="020B0503020204020204" charset="-122"/>
              <a:sym typeface="+mn-ea"/>
            </a:endParaRPr>
          </a:p>
        </p:txBody>
      </p:sp>
    </p:spTree>
    <p:custDataLst>
      <p:tags r:id="rId2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sp>
        <p:nvSpPr>
          <p:cNvPr id="88" name="Shape 86"/>
          <p:cNvSpPr/>
          <p:nvPr/>
        </p:nvSpPr>
        <p:spPr>
          <a:xfrm>
            <a:off x="0" y="6339840"/>
            <a:ext cx="12192000" cy="609600"/>
          </a:xfrm>
          <a:prstGeom prst="rect">
            <a:avLst/>
          </a:prstGeom>
          <a:solidFill>
            <a:srgbClr val="F8FAFC"/>
          </a:solidFill>
        </p:spPr>
      </p:sp>
      <p:sp>
        <p:nvSpPr>
          <p:cNvPr id="89" name="Text 87"/>
          <p:cNvSpPr/>
          <p:nvPr/>
        </p:nvSpPr>
        <p:spPr>
          <a:xfrm>
            <a:off x="365760" y="6363970"/>
            <a:ext cx="11638280" cy="267970"/>
          </a:xfrm>
          <a:prstGeom prst="rect">
            <a:avLst/>
          </a:prstGeom>
          <a:noFill/>
        </p:spPr>
        <p:txBody>
          <a:bodyPr wrap="square" lIns="0" tIns="0" rIns="0" bIns="0" rtlCol="0" anchor="ctr"/>
          <a:lstStyle/>
          <a:p>
            <a:pPr marL="0" indent="0">
              <a:buNone/>
            </a:pPr>
            <a:r>
              <a:rPr lang="en-US" sz="1065" b="1" dirty="0">
                <a:solidFill>
                  <a:srgbClr val="1A3A5C"/>
                </a:solidFill>
                <a:latin typeface="微软雅黑" panose="020B0503020204020204" charset="-122"/>
                <a:ea typeface="微软雅黑" panose="020B0503020204020204" charset="-122"/>
                <a:cs typeface="微软雅黑" panose="020B0503020204020204" pitchFamily="34" charset="-120"/>
              </a:rPr>
              <a:t>⚙ 分工逻辑：</a:t>
            </a:r>
            <a:r>
              <a:rPr lang="en-US" sz="1065" b="1" dirty="0">
                <a:solidFill>
                  <a:srgbClr val="2563EB"/>
                </a:solidFill>
                <a:latin typeface="微软雅黑" panose="020B0503020204020204" charset="-122"/>
                <a:ea typeface="微软雅黑" panose="020B0503020204020204" charset="-122"/>
                <a:cs typeface="微软雅黑" panose="020B0503020204020204" pitchFamily="34" charset="-120"/>
                <a:sym typeface="+mn-ea"/>
              </a:rPr>
              <a:t>深信服</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提供技术底座与7×24运营能力 · </a:t>
            </a:r>
            <a:r>
              <a:rPr lang="en-US" sz="1065" b="1" dirty="0">
                <a:solidFill>
                  <a:srgbClr val="D97706"/>
                </a:solidFill>
                <a:latin typeface="微软雅黑" panose="020B0503020204020204" charset="-122"/>
                <a:ea typeface="微软雅黑" panose="020B0503020204020204" charset="-122"/>
                <a:cs typeface="微软雅黑" panose="020B0503020204020204" pitchFamily="34" charset="-120"/>
                <a:sym typeface="+mn-ea"/>
              </a:rPr>
              <a:t>渠道</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负责本地化</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运维</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与现场支撑 · </a:t>
            </a:r>
            <a:r>
              <a:rPr lang="en-US" sz="1065" b="1" dirty="0">
                <a:solidFill>
                  <a:srgbClr val="059669"/>
                </a:solidFill>
                <a:latin typeface="微软雅黑" panose="020B0503020204020204" charset="-122"/>
                <a:ea typeface="微软雅黑" panose="020B0503020204020204" charset="-122"/>
                <a:cs typeface="微软雅黑" panose="020B0503020204020204" pitchFamily="34" charset="-120"/>
                <a:sym typeface="+mn-ea"/>
              </a:rPr>
              <a:t>客户</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承担决策确认</a:t>
            </a:r>
            <a:r>
              <a:rPr lang="zh-CN" alt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与内部</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sym typeface="+mn-ea"/>
              </a:rPr>
              <a:t>协调</a:t>
            </a:r>
            <a:endParaRPr lang="en-US" sz="1065" dirty="0"/>
          </a:p>
        </p:txBody>
      </p:sp>
      <p:sp>
        <p:nvSpPr>
          <p:cNvPr id="91" name="Text 89"/>
          <p:cNvSpPr/>
          <p:nvPr/>
        </p:nvSpPr>
        <p:spPr>
          <a:xfrm>
            <a:off x="365760" y="6656832"/>
            <a:ext cx="10972800" cy="243840"/>
          </a:xfrm>
          <a:prstGeom prst="rect">
            <a:avLst/>
          </a:prstGeom>
          <a:noFill/>
        </p:spPr>
        <p:txBody>
          <a:bodyPr wrap="square" lIns="0" tIns="0" rIns="0" bIns="0" rtlCol="0" anchor="ctr"/>
          <a:lstStyle/>
          <a:p>
            <a:pPr marL="0" indent="0">
              <a:buNone/>
            </a:pP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职责无重叠、无盲区：技术能力（深信服）+ 现场交付（渠道）+ 资源决策（客户）形成完整闭环</a:t>
            </a:r>
            <a:endParaRPr lang="en-US" sz="1065" dirty="0"/>
          </a:p>
        </p:txBody>
      </p:sp>
      <p:grpSp>
        <p:nvGrpSpPr>
          <p:cNvPr id="9" name="组合 8"/>
          <p:cNvGrpSpPr/>
          <p:nvPr/>
        </p:nvGrpSpPr>
        <p:grpSpPr>
          <a:xfrm>
            <a:off x="224790" y="289878"/>
            <a:ext cx="4462780" cy="327025"/>
            <a:chOff x="533" y="646"/>
            <a:chExt cx="7028" cy="515"/>
          </a:xfrm>
        </p:grpSpPr>
        <p:grpSp>
          <p:nvGrpSpPr>
            <p:cNvPr id="10" name="组合 9"/>
            <p:cNvGrpSpPr/>
            <p:nvPr/>
          </p:nvGrpSpPr>
          <p:grpSpPr>
            <a:xfrm rot="0">
              <a:off x="533" y="672"/>
              <a:ext cx="582" cy="420"/>
              <a:chOff x="533" y="672"/>
              <a:chExt cx="582" cy="420"/>
            </a:xfrm>
          </p:grpSpPr>
          <p:sp>
            <p:nvSpPr>
              <p:cNvPr id="11"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2"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7"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机制</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成果</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{{company}}</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4" name="组合 3"/>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、零重大事件：</a:t>
              </a:r>
              <a:r>
                <a:rPr lang="zh-CN" altLang="en-US" sz="1000" dirty="0">
                  <a:latin typeface="Heiti SC Light" panose="02000000000000000000" charset="-122"/>
                  <a:ea typeface="Heiti SC Light" panose="02000000000000000000" charset="-122"/>
                  <a:cs typeface="Heiti SC Light" panose="02000000000000000000" charset="-122"/>
                  <a:sym typeface="+mn-ea"/>
                </a:rPr>
                <a:t>核心业务（</a:t>
              </a:r>
              <a:r>
                <a:rPr lang="en-US" altLang="zh-CN" sz="1000" dirty="0">
                  <a:solidFill>
                    <a:srgbClr val="4C61E7"/>
                  </a:solidFill>
                  <a:latin typeface="Arial" panose="020B0604020202020204" pitchFamily="34" charset="0"/>
                  <a:ea typeface="黑体-简" panose="02000000000000000000" charset="-122"/>
                  <a:sym typeface="+mn-ea"/>
                </a:rPr>
                <a:t>{{core_system_1}}</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{{core_system_2}}</a:t>
              </a:r>
              <a:r>
                <a:rPr lang="zh-CN" altLang="en-US" sz="1000" dirty="0">
                  <a:solidFill>
                    <a:srgbClr val="4C61E7"/>
                  </a:solidFill>
                  <a:latin typeface="Arial" panose="020B0604020202020204" pitchFamily="34" charset="0"/>
                  <a:ea typeface="黑体-简" panose="02000000000000000000" charset="-122"/>
                  <a:sym typeface="+mn-ea"/>
                </a:rPr>
                <a:t>、</a:t>
              </a:r>
              <a:r>
                <a:rPr lang="en-US" altLang="zh-CN" sz="1000" dirty="0">
                  <a:solidFill>
                    <a:srgbClr val="4C61E7"/>
                  </a:solidFill>
                  <a:latin typeface="Arial" panose="020B0604020202020204" pitchFamily="34" charset="0"/>
                  <a:ea typeface="黑体-简" panose="02000000000000000000" charset="-122"/>
                  <a:sym typeface="+mn-ea"/>
                </a:rPr>
                <a:t>{{core_system_3}}</a:t>
              </a:r>
              <a:r>
                <a:rPr lang="zh-CN" altLang="en-US" sz="1000" dirty="0">
                  <a:latin typeface="Heiti SC Light" panose="02000000000000000000" charset="-122"/>
                  <a:ea typeface="Heiti SC Light" panose="02000000000000000000" charset="-122"/>
                  <a:cs typeface="Heiti SC Light" panose="02000000000000000000" charset="-122"/>
                  <a:sym typeface="+mn-ea"/>
                </a:rPr>
                <a:t>等）平稳运行，</a:t>
              </a:r>
              <a:r>
                <a:rPr lang="en-US" altLang="zh-CN" sz="1000" dirty="0">
                  <a:latin typeface="Heiti SC Light" panose="02000000000000000000" charset="-122"/>
                  <a:ea typeface="Heiti SC Light" panose="02000000000000000000" charset="-122"/>
                  <a:cs typeface="Heiti SC Light" panose="02000000000000000000" charset="-122"/>
                  <a:sym typeface="+mn-ea"/>
                </a:rPr>
                <a:t>0</a:t>
              </a:r>
              <a:r>
                <a:rPr lang="zh-CN" altLang="en-US" sz="1000" dirty="0">
                  <a:latin typeface="Heiti SC Light" panose="02000000000000000000" charset="-122"/>
                  <a:ea typeface="Heiti SC Light" panose="02000000000000000000" charset="-122"/>
                  <a:cs typeface="Heiti SC Light" panose="02000000000000000000" charset="-122"/>
                  <a:sym typeface="+mn-ea"/>
                </a:rPr>
                <a:t>重大事故；</a:t>
              </a:r>
              <a:endParaRPr lang="zh-CN" altLang="en-US" sz="1000" dirty="0">
                <a:latin typeface="Heiti SC Light" panose="02000000000000000000" charset="-122"/>
                <a:ea typeface="Heiti SC Light" panose="02000000000000000000" charset="-122"/>
                <a:cs typeface="Heiti SC Light" panose="02000000000000000000" charset="-122"/>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、风险有效收敛：</a:t>
              </a:r>
              <a:r>
                <a:rPr lang="zh-CN" altLang="en-US" sz="1000" dirty="0">
                  <a:latin typeface="Heiti SC Light" panose="02000000000000000000" charset="-122"/>
                  <a:ea typeface="Heiti SC Light" panose="02000000000000000000" charset="-122"/>
                  <a:cs typeface="Heiti SC Light" panose="02000000000000000000" charset="-122"/>
                  <a:sym typeface="+mn-ea"/>
                </a:rPr>
                <a:t>主动发现核心系统的重大风险并进行缓解，降低风险被利用带来的</a:t>
              </a:r>
              <a:r>
                <a:rPr lang="zh-CN" altLang="en-US" sz="1000" dirty="0">
                  <a:latin typeface="Heiti SC Light" panose="02000000000000000000" charset="-122"/>
                  <a:ea typeface="Heiti SC Light" panose="02000000000000000000" charset="-122"/>
                  <a:cs typeface="Heiti SC Light" panose="02000000000000000000" charset="-122"/>
                  <a:sym typeface="+mn-ea"/>
                </a:rPr>
                <a:t>损失；</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威胁监测，对潜在攻击</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威胁和脆弱性利用</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风险准确预警、遏制攻击（联动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3、对核心资产定期开展脆弱性扫描、漏洞优先级排序，为业务侧</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风险闭环提供技术</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1、现场与业务方的沟通</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2、执行网络及端点侧处置策略实施与协调，保障现场实施举措</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3、收集并反馈业务方的需求与安全痛点，助力安全运营优化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1、业务弱点整改加固的协调；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2、安全事件的处置审核及授权，如需远程上机的帮忙协调远程环境；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3、推动业务安全管理机制优化和落地</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3" name="组合 2"/>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、互联网资产两高一弱等潜在被通报风险能够主动发现并持续收敛；</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、恶意外联类问题构建自主发现能力，有效减少被监管通报的</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概率；</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、被通报问题的有效排查</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和响应回函不超过48</a:t>
              </a: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H。</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7x24</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H</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实时监测发现恶意外联行为，准确预警和遏制（联动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、定期开展两高一弱风险排查，漏洞优先级分析，协助防护方案优化和落地；</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、对被通报问题及时响应排查溯源，给出结论支持快速回函；</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1、渗透测试发现互联网暴露面漏洞风险，协助业务方加固；</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2、协助定位恶意外联终端，提供主机侧处置；</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3、网络/业务运维的响应实施</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1、审批遏制操作的授权</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2、协助落实脆弱性问题的管理机制，协调业务侧修复加固</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3、接收通报问题，同步信息发起排查指令</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2" name="组合 1"/>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、威胁快速发现</a:t>
              </a:r>
              <a:r>
                <a:rPr lang="zh-CN" altLang="en-US" sz="1000" dirty="0">
                  <a:latin typeface="Heiti SC Light" panose="02000000000000000000" charset="-122"/>
                  <a:ea typeface="Heiti SC Light" panose="02000000000000000000" charset="-122"/>
                  <a:cs typeface="Heiti SC Light" panose="02000000000000000000" charset="-122"/>
                  <a:sym typeface="+mn-ea"/>
                </a:rPr>
                <a:t>：保护范围内的核心资产的有效攻击事件</a:t>
              </a:r>
              <a:r>
                <a:rPr lang="en-US" altLang="zh-CN" sz="1000" dirty="0">
                  <a:latin typeface="Heiti SC Light" panose="02000000000000000000" charset="-122"/>
                  <a:ea typeface="Heiti SC Light" panose="02000000000000000000" charset="-122"/>
                  <a:cs typeface="Heiti SC Light" panose="02000000000000000000" charset="-122"/>
                  <a:sym typeface="+mn-ea"/>
                </a:rPr>
                <a:t>30</a:t>
              </a:r>
              <a:r>
                <a:rPr lang="zh-CN" altLang="en-US" sz="1000" dirty="0">
                  <a:latin typeface="Heiti SC Light" panose="02000000000000000000" charset="-122"/>
                  <a:ea typeface="Heiti SC Light" panose="02000000000000000000" charset="-122"/>
                  <a:cs typeface="Heiti SC Light" panose="02000000000000000000" charset="-122"/>
                  <a:sym typeface="+mn-ea"/>
                </a:rPr>
                <a:t>分钟内</a:t>
              </a:r>
              <a:r>
                <a:rPr lang="zh-CN" altLang="en-US" sz="1000" dirty="0">
                  <a:latin typeface="Heiti SC Light" panose="02000000000000000000" charset="-122"/>
                  <a:ea typeface="Heiti SC Light" panose="02000000000000000000" charset="-122"/>
                  <a:cs typeface="Heiti SC Light" panose="02000000000000000000" charset="-122"/>
                  <a:sym typeface="+mn-ea"/>
                </a:rPr>
                <a:t>通告；</a:t>
              </a:r>
              <a:endParaRPr lang="zh-CN" altLang="en-US" sz="1000" b="0" dirty="0">
                <a:latin typeface="Heiti SC Light" panose="02000000000000000000" charset="-122"/>
                <a:ea typeface="Heiti SC Light" panose="02000000000000000000" charset="-122"/>
                <a:cs typeface="Heiti SC Light" panose="02000000000000000000" charset="-122"/>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、有效处置闭环</a:t>
              </a:r>
              <a:r>
                <a:rPr lang="zh-CN" altLang="en-US" sz="1000" dirty="0">
                  <a:latin typeface="Heiti SC Light" panose="02000000000000000000" charset="-122"/>
                  <a:ea typeface="Heiti SC Light" panose="02000000000000000000" charset="-122"/>
                  <a:cs typeface="Heiti SC Light" panose="02000000000000000000" charset="-122"/>
                  <a:sym typeface="+mn-ea"/>
                </a:rPr>
                <a:t>：研判为有效攻击的事件</a:t>
              </a:r>
              <a:r>
                <a:rPr lang="en-US" altLang="zh-CN" sz="1000" dirty="0">
                  <a:latin typeface="Heiti SC Light" panose="02000000000000000000" charset="-122"/>
                  <a:ea typeface="Heiti SC Light" panose="02000000000000000000" charset="-122"/>
                  <a:cs typeface="Heiti SC Light" panose="02000000000000000000" charset="-122"/>
                  <a:sym typeface="+mn-ea"/>
                </a:rPr>
                <a:t>100%</a:t>
              </a:r>
              <a:r>
                <a:rPr lang="zh-CN" altLang="en-US" sz="1000" dirty="0">
                  <a:latin typeface="Heiti SC Light" panose="02000000000000000000" charset="-122"/>
                  <a:ea typeface="Heiti SC Light" panose="02000000000000000000" charset="-122"/>
                  <a:cs typeface="Heiti SC Light" panose="02000000000000000000" charset="-122"/>
                  <a:sym typeface="+mn-ea"/>
                </a:rPr>
                <a:t>闭环</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1、重保前系统的梳理剩余风险，针对性加固支持；</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2、7x24H</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实时监测威胁，准确预警和遏制有效攻击（联动</a:t>
              </a: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AF/AES）；</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3、安全事件快速响应，针对入侵成功事件的应急处置与溯源分析并提供加固建议，跟进闭环；</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现场值守与一线处置、联络与</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协调；</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渗透测试发现互联网暴露面漏洞风险，前置加固；</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1、重保前期单位内部动员、工作部署；</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2、内部员工安全意识宣贯和管理机制优化；</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3、各项操作的决策审批</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rPr>
              <a:t>保护业务安全、提升安全水位线</a:t>
            </a:r>
            <a:endParaRPr lang="zh-CN" altLang="en-US" sz="14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noAutofit/>
          </a:bodyPr>
          <a:lstStyle/>
          <a:p>
            <a:r>
              <a:rPr lang="zh-CN" altLang="en-US" sz="3200">
                <a:solidFill>
                  <a:srgbClr val="4C61E7"/>
                </a:solidFill>
                <a:latin typeface="Arial Black" panose="020B0A04020102020204" pitchFamily="34" charset="0"/>
                <a:ea typeface="微软雅黑" panose="020B0503020204020204" charset="-122"/>
                <a:sym typeface="+mn-ea"/>
              </a:rPr>
              <a:t>我们共同的工作成果总结</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02</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7886065" cy="327025"/>
            <a:chOff x="533" y="646"/>
            <a:chExt cx="1241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保护业务，全年实现0安全事故</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sp>
          <p:nvSpPr>
            <p:cNvPr id="4" name="textbox 158"/>
            <p:cNvSpPr/>
            <p:nvPr/>
          </p:nvSpPr>
          <p:spPr>
            <a:xfrm>
              <a:off x="7272" y="715"/>
              <a:ext cx="568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安全风险主动预防，</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小时威胁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pic>
        <p:nvPicPr>
          <p:cNvPr id="112" name="图片 111" descr="组 3169@1x"/>
          <p:cNvPicPr>
            <a:picLocks noChangeAspect="1"/>
          </p:cNvPicPr>
          <p:nvPr/>
        </p:nvPicPr>
        <p:blipFill>
          <a:blip r:embed="rId4"/>
          <a:stretch>
            <a:fillRect/>
          </a:stretch>
        </p:blipFill>
        <p:spPr>
          <a:xfrm>
            <a:off x="1625283" y="6097905"/>
            <a:ext cx="8941435" cy="590550"/>
          </a:xfrm>
          <a:prstGeom prst="rect">
            <a:avLst/>
          </a:prstGeom>
        </p:spPr>
      </p:pic>
      <p:sp>
        <p:nvSpPr>
          <p:cNvPr id="113" name="椭圆 112"/>
          <p:cNvSpPr/>
          <p:nvPr>
            <p:custDataLst>
              <p:tags r:id="rId5"/>
            </p:custDataLst>
          </p:nvPr>
        </p:nvSpPr>
        <p:spPr>
          <a:xfrm>
            <a:off x="4946086" y="2809741"/>
            <a:ext cx="2280778" cy="2280778"/>
          </a:xfrm>
          <a:prstGeom prst="ellipse">
            <a:avLst/>
          </a:prstGeom>
          <a:solidFill>
            <a:schemeClr val="accent5">
              <a:lumMod val="40000"/>
              <a:lumOff val="60000"/>
            </a:schemeClr>
          </a:solidFill>
          <a:ln w="19050">
            <a:gradFill>
              <a:gsLst>
                <a:gs pos="100000">
                  <a:srgbClr val="FFFFFF">
                    <a:alpha val="0"/>
                  </a:srgbClr>
                </a:gs>
                <a:gs pos="0">
                  <a:srgbClr val="FFFFFF"/>
                </a:gs>
              </a:gsLst>
              <a:lin ang="16200000" scaled="1"/>
            </a:gradFill>
          </a:ln>
          <a:effectLst>
            <a:outerShdw blurRad="215900" dist="114300" dir="5400000" algn="t"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algn="ctr">
              <a:spcBef>
                <a:spcPct val="0"/>
              </a:spcBef>
              <a:spcAft>
                <a:spcPct val="0"/>
              </a:spcAft>
            </a:pPr>
            <a:r>
              <a:rPr lang="zh-CN" altLang="en-US" b="1" dirty="0">
                <a:solidFill>
                  <a:schemeClr val="tx1"/>
                </a:solidFill>
                <a:latin typeface="Arial" panose="020B0604020202020204" pitchFamily="34" charset="0"/>
                <a:ea typeface="黑体-简" panose="02000000000000000000" charset="-122"/>
                <a:cs typeface="+mn-ea"/>
                <a:sym typeface="+mn-ea"/>
              </a:rPr>
              <a:t>保护对象</a:t>
            </a:r>
            <a:endParaRPr lang="zh-CN" altLang="en-US" b="1" dirty="0">
              <a:solidFill>
                <a:schemeClr val="tx1"/>
              </a:solidFill>
              <a:latin typeface="Arial" panose="020B0604020202020204" pitchFamily="34" charset="0"/>
              <a:ea typeface="黑体-简" panose="02000000000000000000" charset="-122"/>
              <a:cs typeface="+mn-ea"/>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业务：</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业务系统数量</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服务器：</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服务器资产数量</a:t>
            </a:r>
            <a:r>
              <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zh-CN"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a:p>
            <a:pPr algn="ctr">
              <a:spcBef>
                <a:spcPct val="0"/>
              </a:spcBef>
              <a:spcAft>
                <a:spcPct val="0"/>
              </a:spcAft>
            </a:pPr>
            <a:r>
              <a:rPr lang="zh-CN" altLang="en-US" sz="1400" dirty="0">
                <a:solidFill>
                  <a:schemeClr val="tx1"/>
                </a:solidFill>
                <a:latin typeface="Arial" panose="020B0604020202020204" pitchFamily="34" charset="0"/>
                <a:ea typeface="黑体-简" panose="02000000000000000000" charset="-122"/>
                <a:cs typeface="Source Han Sans CN Normal" panose="020B0600000000000000" charset="-122"/>
                <a:sym typeface="+mn-ea"/>
              </a:rPr>
              <a:t>重要终端：</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{PC</a:t>
            </a:r>
            <a:r>
              <a:rPr lang="zh-CN" alt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资产数量</a:t>
            </a:r>
            <a:r>
              <a:rPr lang="en-US" sz="1400" dirty="0">
                <a:solidFill>
                  <a:srgbClr val="4C61E7"/>
                </a:solidFill>
                <a:latin typeface="Arial" panose="020B0604020202020204" pitchFamily="34" charset="0"/>
                <a:ea typeface="黑体-简" panose="02000000000000000000" charset="-122"/>
                <a:cs typeface="Source Han Sans CN Normal" panose="020B0600000000000000" charset="-122"/>
                <a:sym typeface="+mn-ea"/>
              </a:rPr>
              <a:t>}</a:t>
            </a:r>
            <a:endParaRPr lang="en-US" altLang="en-US" sz="1400" b="1" dirty="0">
              <a:solidFill>
                <a:srgbClr val="4C61E7"/>
              </a:solidFill>
              <a:latin typeface="Arial" panose="020B0604020202020204" pitchFamily="34" charset="0"/>
              <a:ea typeface="黑体-简" panose="02000000000000000000" charset="-122"/>
              <a:cs typeface="Source Han Sans CN Normal" panose="020B0600000000000000" charset="-122"/>
              <a:sym typeface="+mn-ea"/>
            </a:endParaRPr>
          </a:p>
        </p:txBody>
      </p:sp>
      <p:sp>
        <p:nvSpPr>
          <p:cNvPr id="114" name="弧形 113"/>
          <p:cNvSpPr/>
          <p:nvPr>
            <p:custDataLst>
              <p:tags r:id="rId6"/>
            </p:custDataLst>
          </p:nvPr>
        </p:nvSpPr>
        <p:spPr>
          <a:xfrm rot="20460000">
            <a:off x="4764380" y="2660015"/>
            <a:ext cx="2645644" cy="2645644"/>
          </a:xfrm>
          <a:prstGeom prst="arc">
            <a:avLst>
              <a:gd name="adj1" fmla="val 13075779"/>
              <a:gd name="adj2" fmla="val 0"/>
            </a:avLst>
          </a:prstGeom>
          <a:ln>
            <a:gradFill>
              <a:gsLst>
                <a:gs pos="100000">
                  <a:schemeClr val="accent5">
                    <a:alpha val="5000"/>
                  </a:schemeClr>
                </a:gs>
                <a:gs pos="0">
                  <a:schemeClr val="accent5">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chemeClr val="tx1"/>
              </a:solidFill>
            </a:endParaRPr>
          </a:p>
        </p:txBody>
      </p:sp>
      <p:sp>
        <p:nvSpPr>
          <p:cNvPr id="115" name="弧形 114"/>
          <p:cNvSpPr/>
          <p:nvPr>
            <p:custDataLst>
              <p:tags r:id="rId7"/>
            </p:custDataLst>
          </p:nvPr>
        </p:nvSpPr>
        <p:spPr>
          <a:xfrm rot="9660000">
            <a:off x="4764380" y="2627308"/>
            <a:ext cx="2645644" cy="2645644"/>
          </a:xfrm>
          <a:prstGeom prst="arc">
            <a:avLst>
              <a:gd name="adj1" fmla="val 13075779"/>
              <a:gd name="adj2" fmla="val 0"/>
            </a:avLst>
          </a:prstGeom>
          <a:ln>
            <a:gradFill>
              <a:gsLst>
                <a:gs pos="100000">
                  <a:schemeClr val="accent5">
                    <a:alpha val="5000"/>
                  </a:schemeClr>
                </a:gs>
                <a:gs pos="0">
                  <a:schemeClr val="accent5">
                    <a:alpha val="100000"/>
                  </a:schemeClr>
                </a:gs>
              </a:gsLst>
              <a:lin ang="0" scaled="1"/>
            </a:gradFill>
            <a:headEnd type="oval"/>
          </a:ln>
        </p:spPr>
        <p:style>
          <a:lnRef idx="2">
            <a:schemeClr val="accent1"/>
          </a:lnRef>
          <a:fillRef idx="0">
            <a:srgbClr val="FFFFFF"/>
          </a:fillRef>
          <a:effectRef idx="0">
            <a:srgbClr val="FFFFFF"/>
          </a:effectRef>
          <a:fontRef idx="minor">
            <a:schemeClr val="tx1"/>
          </a:fontRef>
        </p:style>
        <p:txBody>
          <a:bodyPr vertOverflow="overflow" horzOverflow="overflow" vert="horz" wrap="square" tIns="0"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16" name="椭圆 115"/>
          <p:cNvSpPr/>
          <p:nvPr>
            <p:custDataLst>
              <p:tags r:id="rId8"/>
            </p:custDataLst>
          </p:nvPr>
        </p:nvSpPr>
        <p:spPr>
          <a:xfrm>
            <a:off x="4617561" y="2480489"/>
            <a:ext cx="2939282" cy="2939282"/>
          </a:xfrm>
          <a:prstGeom prst="ellipse">
            <a:avLst/>
          </a:prstGeom>
          <a:noFill/>
          <a:ln w="44450">
            <a:gradFill>
              <a:gsLst>
                <a:gs pos="99000">
                  <a:schemeClr val="accent5">
                    <a:alpha val="21000"/>
                  </a:schemeClr>
                </a:gs>
                <a:gs pos="0">
                  <a:schemeClr val="accent5">
                    <a:alpha val="10000"/>
                  </a:schemeClr>
                </a:gs>
              </a:gsLst>
              <a:lin ang="162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539750" numCol="1" spcCol="0" rtlCol="0" fromWordArt="0" anchor="ctr" anchorCtr="0" forceAA="0" compatLnSpc="1">
            <a:noAutofit/>
          </a:bodyPr>
          <a:lstStyle/>
          <a:p>
            <a:pPr lvl="0" algn="ctr">
              <a:buClrTx/>
              <a:buSzTx/>
              <a:buFontTx/>
            </a:pPr>
            <a:endParaRPr lang="zh-CN" altLang="en-US" sz="2000" b="1" spc="130" dirty="0">
              <a:solidFill>
                <a:schemeClr val="bg1"/>
              </a:solidFill>
              <a:uFillTx/>
              <a:latin typeface="+中文标题" charset="0"/>
              <a:ea typeface="+mj-ea"/>
              <a:cs typeface="+mj-ea"/>
              <a:sym typeface="+mn-ea"/>
            </a:endParaRPr>
          </a:p>
        </p:txBody>
      </p:sp>
      <p:sp>
        <p:nvSpPr>
          <p:cNvPr id="117" name="椭圆 116"/>
          <p:cNvSpPr/>
          <p:nvPr>
            <p:custDataLst>
              <p:tags r:id="rId9"/>
            </p:custDataLst>
          </p:nvPr>
        </p:nvSpPr>
        <p:spPr>
          <a:xfrm>
            <a:off x="4438035" y="2333671"/>
            <a:ext cx="3298334" cy="3298334"/>
          </a:xfrm>
          <a:prstGeom prst="ellipse">
            <a:avLst/>
          </a:prstGeom>
          <a:noFill/>
          <a:ln w="44450">
            <a:gradFill>
              <a:gsLst>
                <a:gs pos="100000">
                  <a:schemeClr val="accent5">
                    <a:alpha val="4000"/>
                  </a:schemeClr>
                </a:gs>
                <a:gs pos="0">
                  <a:schemeClr val="accent5">
                    <a:alpha val="7000"/>
                  </a:schemeClr>
                </a:gs>
              </a:gsLst>
              <a:lin ang="162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tIns="575945" numCol="1" spcCol="0" rtlCol="0" fromWordArt="0" anchor="ctr" anchorCtr="0" forceAA="0" compatLnSpc="1">
            <a:noAutofit/>
          </a:bodyPr>
          <a:lstStyle/>
          <a:p>
            <a:pPr lvl="0" algn="ctr">
              <a:buClrTx/>
              <a:buSzTx/>
              <a:buFontTx/>
            </a:pPr>
            <a:endParaRPr lang="zh-CN" altLang="en-US" sz="2000" b="1" spc="130" dirty="0">
              <a:solidFill>
                <a:schemeClr val="bg1"/>
              </a:solidFill>
              <a:uFillTx/>
              <a:latin typeface="+中文标题" charset="0"/>
              <a:ea typeface="+mj-ea"/>
              <a:cs typeface="+mj-ea"/>
              <a:sym typeface="+mn-ea"/>
            </a:endParaRPr>
          </a:p>
        </p:txBody>
      </p:sp>
      <p:sp>
        <p:nvSpPr>
          <p:cNvPr id="118" name="图形 4"/>
          <p:cNvSpPr/>
          <p:nvPr>
            <p:custDataLst>
              <p:tags r:id="rId10"/>
            </p:custDataLst>
          </p:nvPr>
        </p:nvSpPr>
        <p:spPr>
          <a:xfrm>
            <a:off x="10098551" y="1515265"/>
            <a:ext cx="1081244" cy="4870639"/>
          </a:xfrm>
          <a:custGeom>
            <a:avLst/>
            <a:gdLst>
              <a:gd name="connsiteX0" fmla="*/ -259 w 944642"/>
              <a:gd name="connsiteY0" fmla="*/ 4255111 h 4255294"/>
              <a:gd name="connsiteX1" fmla="*/ 203548 w 944642"/>
              <a:gd name="connsiteY1" fmla="*/ 203623 h 4255294"/>
              <a:gd name="connsiteX2" fmla="*/ -259 w 944642"/>
              <a:gd name="connsiteY2" fmla="*/ -183 h 4255294"/>
            </a:gdLst>
            <a:ahLst/>
            <a:cxnLst>
              <a:cxn ang="0">
                <a:pos x="connsiteX0" y="connsiteY0"/>
              </a:cxn>
              <a:cxn ang="0">
                <a:pos x="connsiteX1" y="connsiteY1"/>
              </a:cxn>
              <a:cxn ang="0">
                <a:pos x="connsiteX2" y="connsiteY2"/>
              </a:cxn>
            </a:cxnLst>
            <a:rect l="l" t="t" r="r" b="b"/>
            <a:pathLst>
              <a:path w="944642" h="4255294">
                <a:moveTo>
                  <a:pt x="-259" y="4255111"/>
                </a:moveTo>
                <a:cubicBezTo>
                  <a:pt x="1174812" y="3192606"/>
                  <a:pt x="1266062" y="1378694"/>
                  <a:pt x="203548" y="203623"/>
                </a:cubicBezTo>
                <a:cubicBezTo>
                  <a:pt x="139073" y="132319"/>
                  <a:pt x="71055" y="64291"/>
                  <a:pt x="-259" y="-183"/>
                </a:cubicBezTo>
              </a:path>
            </a:pathLst>
          </a:custGeom>
          <a:noFill/>
          <a:ln w="15875" cap="flat">
            <a:gradFill>
              <a:gsLst>
                <a:gs pos="100000">
                  <a:schemeClr val="accent6">
                    <a:lumMod val="20000"/>
                    <a:lumOff val="80000"/>
                    <a:alpha val="0"/>
                  </a:schemeClr>
                </a:gs>
                <a:gs pos="0">
                  <a:schemeClr val="accent6">
                    <a:lumMod val="20000"/>
                    <a:lumOff val="80000"/>
                    <a:alpha val="0"/>
                  </a:schemeClr>
                </a:gs>
                <a:gs pos="70000">
                  <a:schemeClr val="accent6">
                    <a:lumMod val="60000"/>
                    <a:lumOff val="40000"/>
                    <a:alpha val="100000"/>
                  </a:schemeClr>
                </a:gs>
                <a:gs pos="30000">
                  <a:schemeClr val="accent6">
                    <a:lumMod val="60000"/>
                    <a:lumOff val="40000"/>
                    <a:alpha val="100000"/>
                  </a:schemeClr>
                </a:gs>
              </a:gsLst>
              <a:lin ang="16200000" scaled="1"/>
            </a:gradFill>
            <a:prstDash val="solid"/>
            <a:miter/>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19" name="图形 4"/>
          <p:cNvSpPr/>
          <p:nvPr>
            <p:custDataLst>
              <p:tags r:id="rId11"/>
            </p:custDataLst>
          </p:nvPr>
        </p:nvSpPr>
        <p:spPr>
          <a:xfrm flipH="1">
            <a:off x="994410" y="1532890"/>
            <a:ext cx="1081405" cy="4853305"/>
          </a:xfrm>
          <a:custGeom>
            <a:avLst/>
            <a:gdLst>
              <a:gd name="connsiteX0" fmla="*/ -259 w 944642"/>
              <a:gd name="connsiteY0" fmla="*/ 4255111 h 4255294"/>
              <a:gd name="connsiteX1" fmla="*/ 203548 w 944642"/>
              <a:gd name="connsiteY1" fmla="*/ 203623 h 4255294"/>
              <a:gd name="connsiteX2" fmla="*/ -259 w 944642"/>
              <a:gd name="connsiteY2" fmla="*/ -183 h 4255294"/>
            </a:gdLst>
            <a:ahLst/>
            <a:cxnLst>
              <a:cxn ang="0">
                <a:pos x="connsiteX0" y="connsiteY0"/>
              </a:cxn>
              <a:cxn ang="0">
                <a:pos x="connsiteX1" y="connsiteY1"/>
              </a:cxn>
              <a:cxn ang="0">
                <a:pos x="connsiteX2" y="connsiteY2"/>
              </a:cxn>
            </a:cxnLst>
            <a:rect l="l" t="t" r="r" b="b"/>
            <a:pathLst>
              <a:path w="944642" h="4255294">
                <a:moveTo>
                  <a:pt x="-259" y="4255111"/>
                </a:moveTo>
                <a:cubicBezTo>
                  <a:pt x="1174812" y="3192606"/>
                  <a:pt x="1266062" y="1378694"/>
                  <a:pt x="203548" y="203623"/>
                </a:cubicBezTo>
                <a:cubicBezTo>
                  <a:pt x="139073" y="132319"/>
                  <a:pt x="71055" y="64291"/>
                  <a:pt x="-259" y="-183"/>
                </a:cubicBezTo>
              </a:path>
            </a:pathLst>
          </a:custGeom>
          <a:noFill/>
          <a:ln w="15875" cap="flat">
            <a:gradFill>
              <a:gsLst>
                <a:gs pos="100000">
                  <a:schemeClr val="accent6">
                    <a:lumMod val="20000"/>
                    <a:lumOff val="80000"/>
                    <a:alpha val="0"/>
                  </a:schemeClr>
                </a:gs>
                <a:gs pos="0">
                  <a:schemeClr val="accent6">
                    <a:lumMod val="20000"/>
                    <a:lumOff val="80000"/>
                    <a:alpha val="0"/>
                  </a:schemeClr>
                </a:gs>
                <a:gs pos="70000">
                  <a:schemeClr val="accent6">
                    <a:lumMod val="60000"/>
                    <a:lumOff val="40000"/>
                    <a:alpha val="100000"/>
                  </a:schemeClr>
                </a:gs>
                <a:gs pos="30000">
                  <a:schemeClr val="accent6">
                    <a:lumMod val="60000"/>
                    <a:lumOff val="40000"/>
                    <a:alpha val="100000"/>
                  </a:schemeClr>
                </a:gs>
              </a:gsLst>
              <a:lin ang="16200000" scaled="1"/>
            </a:gradFill>
            <a:prstDash val="solid"/>
            <a:miter/>
          </a:ln>
          <a:extLst>
            <a:ext uri="{909E8E84-426E-40DD-AFC4-6F175D3DCCD1}">
              <a14:hiddenFill xmlns:a14="http://schemas.microsoft.com/office/drawing/2010/main">
                <a:solidFill>
                  <a:srgbClr val="FFFFFF"/>
                </a:solidFill>
              </a14:hiddenFill>
            </a:ext>
          </a:ex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120" name="椭圆 119"/>
          <p:cNvSpPr/>
          <p:nvPr>
            <p:custDataLst>
              <p:tags r:id="rId12"/>
            </p:custDataLst>
          </p:nvPr>
        </p:nvSpPr>
        <p:spPr>
          <a:xfrm>
            <a:off x="667992" y="3597620"/>
            <a:ext cx="697752" cy="697752"/>
          </a:xfrm>
          <a:prstGeom prst="ellipse">
            <a:avLst/>
          </a:prstGeom>
          <a:gradFill>
            <a:gsLst>
              <a:gs pos="0">
                <a:schemeClr val="accent5">
                  <a:alpha val="100000"/>
                </a:schemeClr>
              </a:gs>
              <a:gs pos="100000">
                <a:schemeClr val="accent5">
                  <a:lumMod val="80000"/>
                  <a:lumOff val="20000"/>
                  <a:alpha val="100000"/>
                </a:schemeClr>
              </a:gs>
            </a:gsLst>
            <a:lin ang="13500000"/>
          </a:gradFill>
          <a:ln w="12700">
            <a:gradFill>
              <a:gsLst>
                <a:gs pos="100000">
                  <a:schemeClr val="bg1">
                    <a:alpha val="0"/>
                  </a:schemeClr>
                </a:gs>
                <a:gs pos="0">
                  <a:schemeClr val="bg1"/>
                </a:gs>
              </a:gsLst>
              <a:lin ang="15960000" scaled="0"/>
            </a:gradFill>
          </a:ln>
          <a:effectLst>
            <a:outerShdw blurRad="215900" dist="114300" dir="5400000" algn="t" rotWithShape="0">
              <a:schemeClr val="accent5">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96240" rIns="71755" bIns="45720" numCol="1" spcCol="0" rtlCol="0" fromWordArt="0" anchor="ctr" anchorCtr="0" forceAA="0" compatLnSpc="1">
            <a:normAutofit fontScale="25000" lnSpcReduction="20000"/>
          </a:bodyPr>
          <a:lstStyle/>
          <a:p>
            <a:pPr lvl="0" algn="ctr">
              <a:buClrTx/>
              <a:buSzTx/>
              <a:buFontTx/>
            </a:pPr>
            <a:endParaRPr lang="zh-CN" altLang="en-US" b="1" spc="130" dirty="0">
              <a:solidFill>
                <a:schemeClr val="bg1"/>
              </a:solidFill>
              <a:uFillTx/>
              <a:latin typeface="+中文标题" charset="0"/>
              <a:ea typeface="+mj-ea"/>
              <a:cs typeface="+mj-ea"/>
              <a:sym typeface="+mn-ea"/>
            </a:endParaRPr>
          </a:p>
        </p:txBody>
      </p:sp>
      <p:sp>
        <p:nvSpPr>
          <p:cNvPr id="121" name="矩形 120"/>
          <p:cNvSpPr/>
          <p:nvPr>
            <p:custDataLst>
              <p:tags r:id="rId13"/>
            </p:custDataLst>
          </p:nvPr>
        </p:nvSpPr>
        <p:spPr>
          <a:xfrm>
            <a:off x="1463675" y="2333625"/>
            <a:ext cx="2555240" cy="329565"/>
          </a:xfrm>
          <a:prstGeom prst="rect">
            <a:avLst/>
          </a:prstGeom>
          <a:noFill/>
        </p:spPr>
        <p:txBody>
          <a:bodyPr wrap="square" lIns="0" tIns="0" rIns="0" bIns="0" rtlCol="0" anchor="b">
            <a:noAutofit/>
          </a:bodyPr>
          <a:lstStyle/>
          <a:p>
            <a:pPr>
              <a:spcBef>
                <a:spcPct val="0"/>
              </a:spcBef>
              <a:spcAft>
                <a:spcPct val="0"/>
              </a:spcAft>
            </a:pPr>
            <a:r>
              <a:rPr lang="zh-CN" altLang="en-US" b="1" dirty="0">
                <a:solidFill>
                  <a:schemeClr val="accent5"/>
                </a:solidFill>
                <a:latin typeface="Arial" panose="020B0604020202020204" pitchFamily="34" charset="0"/>
                <a:ea typeface="黑体-简" panose="02000000000000000000" charset="-122"/>
                <a:cs typeface="+mn-ea"/>
                <a:sym typeface="+mn-ea"/>
              </a:rPr>
              <a:t>风险主动预防</a:t>
            </a:r>
            <a:endParaRPr lang="zh-CN" altLang="en-US" b="1" dirty="0">
              <a:solidFill>
                <a:schemeClr val="accent5"/>
              </a:solidFill>
              <a:latin typeface="Arial" panose="020B0604020202020204" pitchFamily="34" charset="0"/>
              <a:ea typeface="黑体-简" panose="02000000000000000000" charset="-122"/>
              <a:cs typeface="+mn-ea"/>
              <a:sym typeface="+mn-ea"/>
            </a:endParaRPr>
          </a:p>
        </p:txBody>
      </p:sp>
      <p:sp>
        <p:nvSpPr>
          <p:cNvPr id="122" name="矩形 121"/>
          <p:cNvSpPr/>
          <p:nvPr>
            <p:custDataLst>
              <p:tags r:id="rId14"/>
            </p:custDataLst>
          </p:nvPr>
        </p:nvSpPr>
        <p:spPr>
          <a:xfrm>
            <a:off x="1463675" y="2797810"/>
            <a:ext cx="2807970" cy="3507105"/>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主动</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风险识别：</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提前</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发现</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个漏洞风险,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   其中</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system_1_vulnerability_count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core_system_2</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system_2_vulnerability_count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 {{</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system_3_vulnerability_count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{{weak_password_count}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个弱口令风险</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{{latest_vulnerability_intelligence_count}}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个最新漏洞情报（受影响资产</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{{latest_vulnerability_affected_assets_count}}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a:p>
            <a:pP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高效</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消除</a:t>
            </a:r>
            <a:r>
              <a:rPr lang="en-US" sz="1200" b="1">
                <a:latin typeface="Arial" panose="020B0604020202020204" pitchFamily="34" charset="0"/>
                <a:ea typeface="黑体-简" panose="02000000000000000000" charset="-122"/>
                <a:cs typeface="Songti SC" panose="02010800040101010101" charset="-122"/>
                <a:sym typeface="Noto Sans SC"/>
              </a:rPr>
              <a:t>隐患</a:t>
            </a:r>
            <a:r>
              <a:rPr 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共</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闭环</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风险</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closed_loop_risk_count}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 </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（包含</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{{latest_affected_vulnerability_count}}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个最新漏洞）</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，其中</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有效防护了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{{protected_vulnerability_count}}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个高危可利用漏洞，修复了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{{fixed_vulnerability_count}}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个漏洞风险</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，规避了</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vulnerability_exploitation_attempt_count}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次</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潜在</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的安全事件，</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保障研发/生产/供应链核心</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业务</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顺畅</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endParaRPr lang="en-US" altLang="en-US" sz="1200" dirty="0">
              <a:solidFill>
                <a:schemeClr val="tx1"/>
              </a:solidFill>
              <a:latin typeface="Arial" panose="020B0604020202020204" pitchFamily="34" charset="0"/>
              <a:ea typeface="黑体-简" panose="02000000000000000000" charset="-122"/>
              <a:cs typeface="Songti SC" panose="02010800040101010101" charset="-122"/>
              <a:sym typeface="Noto Sans SC" panose="020B0200000000000000" charset="-122"/>
            </a:endParaRPr>
          </a:p>
        </p:txBody>
      </p:sp>
      <p:sp>
        <p:nvSpPr>
          <p:cNvPr id="123" name="椭圆 122"/>
          <p:cNvSpPr/>
          <p:nvPr>
            <p:custDataLst>
              <p:tags r:id="rId15"/>
            </p:custDataLst>
          </p:nvPr>
        </p:nvSpPr>
        <p:spPr>
          <a:xfrm>
            <a:off x="10807206" y="3601254"/>
            <a:ext cx="697752" cy="697752"/>
          </a:xfrm>
          <a:prstGeom prst="ellipse">
            <a:avLst/>
          </a:prstGeom>
          <a:gradFill>
            <a:gsLst>
              <a:gs pos="0">
                <a:schemeClr val="accent6">
                  <a:alpha val="100000"/>
                </a:schemeClr>
              </a:gs>
              <a:gs pos="100000">
                <a:schemeClr val="accent6">
                  <a:lumMod val="80000"/>
                  <a:lumOff val="20000"/>
                  <a:alpha val="100000"/>
                </a:schemeClr>
              </a:gs>
            </a:gsLst>
            <a:lin ang="13500000"/>
          </a:gradFill>
          <a:ln w="12700">
            <a:gradFill>
              <a:gsLst>
                <a:gs pos="100000">
                  <a:schemeClr val="bg1">
                    <a:alpha val="0"/>
                  </a:schemeClr>
                </a:gs>
                <a:gs pos="0">
                  <a:schemeClr val="bg1"/>
                </a:gs>
              </a:gsLst>
              <a:lin ang="15960000" scaled="0"/>
            </a:gradFill>
          </a:ln>
          <a:effectLst>
            <a:outerShdw blurRad="215900" dist="114300" dir="5400000" algn="t" rotWithShape="0">
              <a:schemeClr val="accent6">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396240" rIns="71755" bIns="45720" numCol="1" spcCol="0" rtlCol="0" fromWordArt="0" anchor="ctr" anchorCtr="0" forceAA="0" compatLnSpc="1">
            <a:normAutofit fontScale="25000" lnSpcReduction="20000"/>
          </a:bodyPr>
          <a:lstStyle/>
          <a:p>
            <a:pPr lvl="0" algn="ctr">
              <a:buClrTx/>
              <a:buSzTx/>
              <a:buFontTx/>
            </a:pPr>
            <a:endParaRPr lang="zh-CN" altLang="en-US" b="1" spc="130" dirty="0">
              <a:solidFill>
                <a:schemeClr val="bg1"/>
              </a:solidFill>
              <a:uFillTx/>
              <a:latin typeface="+中文标题" charset="0"/>
              <a:ea typeface="+mj-ea"/>
              <a:cs typeface="+mj-ea"/>
              <a:sym typeface="+mn-ea"/>
            </a:endParaRPr>
          </a:p>
        </p:txBody>
      </p:sp>
      <p:sp>
        <p:nvSpPr>
          <p:cNvPr id="124" name="矩形 123"/>
          <p:cNvSpPr/>
          <p:nvPr>
            <p:custDataLst>
              <p:tags r:id="rId16"/>
            </p:custDataLst>
          </p:nvPr>
        </p:nvSpPr>
        <p:spPr>
          <a:xfrm>
            <a:off x="8114665" y="2333625"/>
            <a:ext cx="2576830" cy="329565"/>
          </a:xfrm>
          <a:prstGeom prst="rect">
            <a:avLst/>
          </a:prstGeom>
          <a:noFill/>
        </p:spPr>
        <p:txBody>
          <a:bodyPr wrap="square" lIns="0" tIns="0" rIns="0" bIns="0" rtlCol="0" anchor="b">
            <a:noAutofit/>
          </a:bodyPr>
          <a:lstStyle/>
          <a:p>
            <a:pPr algn="r">
              <a:spcBef>
                <a:spcPct val="0"/>
              </a:spcBef>
              <a:spcAft>
                <a:spcPct val="0"/>
              </a:spcAft>
            </a:pPr>
            <a:r>
              <a:rPr lang="en-US" altLang="zh-CN" b="1" dirty="0">
                <a:solidFill>
                  <a:schemeClr val="accent6"/>
                </a:solidFill>
                <a:latin typeface="Arial" panose="020B0604020202020204" pitchFamily="34" charset="0"/>
                <a:ea typeface="黑体-简" panose="02000000000000000000" charset="-122"/>
                <a:cs typeface="+mn-ea"/>
                <a:sym typeface="+mn-ea"/>
              </a:rPr>
              <a:t>7*24</a:t>
            </a:r>
            <a:r>
              <a:rPr lang="zh-CN" altLang="en-US" b="1" dirty="0">
                <a:solidFill>
                  <a:schemeClr val="accent6"/>
                </a:solidFill>
                <a:latin typeface="Arial" panose="020B0604020202020204" pitchFamily="34" charset="0"/>
                <a:ea typeface="黑体-简" panose="02000000000000000000" charset="-122"/>
                <a:cs typeface="+mn-ea"/>
                <a:sym typeface="+mn-ea"/>
              </a:rPr>
              <a:t>实时威胁对抗</a:t>
            </a:r>
            <a:endParaRPr lang="zh-CN" altLang="en-US" b="1" dirty="0">
              <a:solidFill>
                <a:schemeClr val="accent6"/>
              </a:solidFill>
              <a:latin typeface="Arial" panose="020B0604020202020204" pitchFamily="34" charset="0"/>
              <a:ea typeface="黑体-简" panose="02000000000000000000" charset="-122"/>
              <a:cs typeface="+mn-ea"/>
              <a:sym typeface="+mn-ea"/>
            </a:endParaRPr>
          </a:p>
        </p:txBody>
      </p:sp>
      <p:pic>
        <p:nvPicPr>
          <p:cNvPr id="125" name="图片 12" descr="盾牌"/>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841744" y="3771331"/>
            <a:ext cx="329565" cy="329647"/>
          </a:xfrm>
          <a:prstGeom prst="rect">
            <a:avLst/>
          </a:prstGeom>
        </p:spPr>
      </p:pic>
      <p:sp>
        <p:nvSpPr>
          <p:cNvPr id="126" name="矩形 125"/>
          <p:cNvSpPr/>
          <p:nvPr>
            <p:custDataLst>
              <p:tags r:id="rId20"/>
            </p:custDataLst>
          </p:nvPr>
        </p:nvSpPr>
        <p:spPr>
          <a:xfrm>
            <a:off x="7883525" y="2809875"/>
            <a:ext cx="2807970" cy="2939415"/>
          </a:xfrm>
          <a:prstGeom prst="rect">
            <a:avLst/>
          </a:prstGeom>
          <a:noFill/>
        </p:spPr>
        <p:txBody>
          <a:bodyPr wrap="square" lIns="0" tIns="0" rIns="0" bIns="0" rtlCol="0" anchor="t" anchorCtr="0">
            <a:noAutofit/>
          </a:bodyPr>
          <a:lstStyle/>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安全策略调优：</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对安全设备策略进行有效性监测与调优，发现和调优策略</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{{policy_optimization_count}}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项；</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实时威胁对抗：</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对威胁进行实时监测和快速遏制，有效</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拦截</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external_threat_alert_count}}</a:t>
            </a:r>
            <a:r>
              <a:rPr 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次攻击，</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平均遏制时间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{{average_threat_containment_time}</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a:t>
            </a:r>
            <a:endPar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endParaRPr>
          </a:p>
          <a:p>
            <a:pPr algn="r">
              <a:lnSpc>
                <a:spcPct val="130000"/>
              </a:lnSpc>
              <a:spcBef>
                <a:spcPct val="0"/>
              </a:spcBef>
              <a:spcAft>
                <a:spcPct val="0"/>
              </a:spcAft>
            </a:pPr>
            <a:r>
              <a:rPr lang="zh-CN" altLang="en-US" sz="1200" b="1">
                <a:solidFill>
                  <a:schemeClr val="tx1"/>
                </a:solidFill>
                <a:latin typeface="Arial" panose="020B0604020202020204" pitchFamily="34" charset="0"/>
                <a:ea typeface="黑体-简" panose="02000000000000000000" charset="-122"/>
                <a:cs typeface="Songti SC" panose="02010800040101010101" charset="-122"/>
                <a:sym typeface="Noto Sans SC"/>
              </a:rPr>
              <a:t>事件快速处置：</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对入侵成功事件快速应急响应，监测并及时发现和处置了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{{security_incident_count}}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起安全事件，避免了</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{{security_incident_count}}</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次业务损失；事件平均响应时间</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{{average_incident_response_time}}</a:t>
            </a:r>
            <a:r>
              <a:rPr lang="zh-CN" altLang="en-US" sz="1200">
                <a:solidFill>
                  <a:schemeClr val="tx1"/>
                </a:solidFill>
                <a:latin typeface="Arial" panose="020B0604020202020204" pitchFamily="34" charset="0"/>
                <a:ea typeface="黑体-简" panose="02000000000000000000" charset="-122"/>
                <a:cs typeface="Songti SC" panose="02010800040101010101" charset="-122"/>
                <a:sym typeface="Noto Sans SC"/>
              </a:rPr>
              <a:t>分钟，事件闭环率</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a:rPr>
              <a:t>{{incident_closure_rate}}</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rPr>
              <a:t>。</a:t>
            </a:r>
            <a:endPar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a:endParaRPr>
          </a:p>
        </p:txBody>
      </p:sp>
      <p:pic>
        <p:nvPicPr>
          <p:cNvPr id="127" name="图片 14" descr="闪电"/>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10995495" y="3789502"/>
            <a:ext cx="329565" cy="329647"/>
          </a:xfrm>
          <a:prstGeom prst="rect">
            <a:avLst/>
          </a:prstGeom>
        </p:spPr>
      </p:pic>
      <p:sp>
        <p:nvSpPr>
          <p:cNvPr id="128" name="文本框 127"/>
          <p:cNvSpPr txBox="1"/>
          <p:nvPr/>
        </p:nvSpPr>
        <p:spPr>
          <a:xfrm>
            <a:off x="3827145" y="6097905"/>
            <a:ext cx="4707890" cy="291465"/>
          </a:xfrm>
          <a:prstGeom prst="rect">
            <a:avLst/>
          </a:prstGeom>
          <a:noFill/>
        </p:spPr>
        <p:txBody>
          <a:bodyPr wrap="square" rtlCol="0" anchor="t">
            <a:spAutoFit/>
          </a:bodyPr>
          <a:p>
            <a:pPr algn="ctr"/>
            <a:r>
              <a:rPr lang="en-US" sz="1300">
                <a:solidFill>
                  <a:srgbClr val="404040"/>
                </a:solidFill>
                <a:latin typeface="Noto Sans SC"/>
                <a:ea typeface="Noto Sans SC"/>
                <a:cs typeface="Noto Sans SC"/>
                <a:sym typeface="Noto Sans SC"/>
              </a:rPr>
              <a:t>核心IT系统(</a:t>
            </a:r>
            <a:r>
              <a:rPr lang="en-US" sz="1300">
                <a:solidFill>
                  <a:srgbClr val="4C61E7"/>
                </a:solidFill>
                <a:latin typeface="Noto Sans SC"/>
                <a:ea typeface="Noto Sans SC"/>
                <a:cs typeface="Noto Sans SC"/>
                <a:sym typeface="Noto Sans SC"/>
              </a:rPr>
              <a:t>{</a:t>
            </a:r>
            <a:r>
              <a:rPr lang="zh-CN" altLang="en-US" sz="1300">
                <a:solidFill>
                  <a:srgbClr val="4C61E7"/>
                </a:solidFill>
                <a:latin typeface="Noto Sans SC"/>
                <a:ea typeface="Noto Sans SC"/>
                <a:cs typeface="Noto Sans SC"/>
                <a:sym typeface="Noto Sans SC"/>
              </a:rPr>
              <a:t>核心系统简称</a:t>
            </a:r>
            <a:r>
              <a:rPr lang="en-US" sz="1300">
                <a:solidFill>
                  <a:srgbClr val="4C61E7"/>
                </a:solidFill>
                <a:latin typeface="Noto Sans SC"/>
                <a:ea typeface="Noto Sans SC"/>
                <a:cs typeface="Noto Sans SC"/>
                <a:sym typeface="Noto Sans SC"/>
              </a:rPr>
              <a:t>}</a:t>
            </a:r>
            <a:r>
              <a:rPr lang="en-US" sz="1300">
                <a:solidFill>
                  <a:srgbClr val="404040"/>
                </a:solidFill>
                <a:latin typeface="Noto Sans SC"/>
                <a:ea typeface="Noto Sans SC"/>
                <a:cs typeface="Noto Sans SC"/>
                <a:sym typeface="Noto Sans SC"/>
              </a:rPr>
              <a:t>等)覆盖</a:t>
            </a:r>
            <a:r>
              <a:rPr lang="zh-CN" altLang="en-US" sz="1300">
                <a:solidFill>
                  <a:srgbClr val="404040"/>
                </a:solidFill>
                <a:latin typeface="Noto Sans SC"/>
                <a:ea typeface="Noto Sans SC"/>
                <a:cs typeface="Noto Sans SC"/>
                <a:sym typeface="Noto Sans SC"/>
              </a:rPr>
              <a:t>率</a:t>
            </a:r>
            <a:r>
              <a:rPr lang="zh-CN" altLang="en-US" sz="1300">
                <a:solidFill>
                  <a:srgbClr val="4C61E7"/>
                </a:solidFill>
                <a:latin typeface="Noto Sans SC"/>
                <a:ea typeface="Noto Sans SC"/>
                <a:cs typeface="Noto Sans SC"/>
                <a:sym typeface="Noto Sans SC"/>
              </a:rPr>
              <a:t>{XX%}</a:t>
            </a:r>
            <a:endParaRPr lang="zh-CN" altLang="en-US" sz="1300">
              <a:solidFill>
                <a:srgbClr val="4C61E7"/>
              </a:solidFill>
              <a:latin typeface="Noto Sans SC"/>
              <a:ea typeface="Noto Sans SC"/>
              <a:cs typeface="Noto Sans SC"/>
              <a:sym typeface="Noto Sans SC"/>
            </a:endParaRPr>
          </a:p>
        </p:txBody>
      </p:sp>
      <p:grpSp>
        <p:nvGrpSpPr>
          <p:cNvPr id="7" name="组合 6"/>
          <p:cNvGrpSpPr/>
          <p:nvPr/>
        </p:nvGrpSpPr>
        <p:grpSpPr>
          <a:xfrm rot="0">
            <a:off x="852170" y="998855"/>
            <a:ext cx="10556240" cy="961390"/>
            <a:chOff x="3064668" y="1919288"/>
            <a:chExt cx="6057900" cy="3013143"/>
          </a:xfrm>
        </p:grpSpPr>
        <p:grpSp>
          <p:nvGrpSpPr>
            <p:cNvPr id="8" name="组合 7"/>
            <p:cNvGrpSpPr/>
            <p:nvPr/>
          </p:nvGrpSpPr>
          <p:grpSpPr>
            <a:xfrm>
              <a:off x="3064668" y="1919288"/>
              <a:ext cx="6057900" cy="476250"/>
              <a:chOff x="3064668" y="1919288"/>
              <a:chExt cx="6057900" cy="476250"/>
            </a:xfrm>
          </p:grpSpPr>
          <p:sp>
            <p:nvSpPr>
              <p:cNvPr id="10" name="任意多边形: 形状 9"/>
              <p:cNvSpPr/>
              <p:nvPr/>
            </p:nvSpPr>
            <p:spPr>
              <a:xfrm rot="5400000">
                <a:off x="3038475" y="2152650"/>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1" name="任意多边形: 形状 10"/>
              <p:cNvSpPr/>
              <p:nvPr/>
            </p:nvSpPr>
            <p:spPr>
              <a:xfrm rot="5400000">
                <a:off x="3146425" y="2152650"/>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9" name="任意多边形: 形状 11"/>
              <p:cNvSpPr/>
              <p:nvPr/>
            </p:nvSpPr>
            <p:spPr>
              <a:xfrm flipV="1">
                <a:off x="3064668" y="2038668"/>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grpSp>
          <p:nvGrpSpPr>
            <p:cNvPr id="15" name="组合 14"/>
            <p:cNvGrpSpPr/>
            <p:nvPr/>
          </p:nvGrpSpPr>
          <p:grpSpPr>
            <a:xfrm>
              <a:off x="3064668" y="4456181"/>
              <a:ext cx="6057900" cy="476250"/>
              <a:chOff x="3064668" y="4456181"/>
              <a:chExt cx="6057900" cy="476250"/>
            </a:xfrm>
          </p:grpSpPr>
          <p:sp>
            <p:nvSpPr>
              <p:cNvPr id="17"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8"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9"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grpSp>
      <p:sp>
        <p:nvSpPr>
          <p:cNvPr id="2" name="文本框 1"/>
          <p:cNvSpPr txBox="1"/>
          <p:nvPr/>
        </p:nvSpPr>
        <p:spPr>
          <a:xfrm>
            <a:off x="1600835" y="1070610"/>
            <a:ext cx="9096376" cy="775970"/>
          </a:xfrm>
          <a:prstGeom prst="rect">
            <a:avLst/>
          </a:prstGeom>
          <a:noFill/>
        </p:spPr>
        <p:txBody>
          <a:bodyPr wrap="square" rtlCol="0" anchor="ctr"/>
          <a:lstStyle/>
          <a:p>
            <a:pPr algn="ctr">
              <a:lnSpc>
                <a:spcPct val="130000"/>
              </a:lnSpc>
            </a:pPr>
            <a:r>
              <a:rPr lang="zh-CN" altLang="en-US" sz="1200" dirty="0">
                <a:latin typeface="Arial" panose="020B0604020202020204" pitchFamily="34" charset="0"/>
                <a:ea typeface="黑体-简" panose="02000000000000000000" charset="-122"/>
              </a:rPr>
              <a:t>主动发现核心业务系统</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Arial" panose="020B0604020202020204" pitchFamily="34" charset="0"/>
                <a:ea typeface="黑体-简" panose="02000000000000000000" charset="-122"/>
              </a:rPr>
              <a:t>的</a:t>
            </a:r>
            <a:r>
              <a:rPr lang="en-US" altLang="zh-CN" sz="1200" dirty="0">
                <a:solidFill>
                  <a:srgbClr val="4C61E7"/>
                </a:solidFill>
                <a:latin typeface="Arial" panose="020B0604020202020204" pitchFamily="34" charset="0"/>
                <a:ea typeface="黑体-简" panose="02000000000000000000" charset="-122"/>
              </a:rPr>
              <a:t>{{risk_total}}</a:t>
            </a:r>
            <a:r>
              <a:rPr lang="zh-CN" altLang="en-US" sz="1200" dirty="0">
                <a:latin typeface="Arial" panose="020B0604020202020204" pitchFamily="34" charset="0"/>
                <a:ea typeface="黑体-简" panose="02000000000000000000" charset="-122"/>
              </a:rPr>
              <a:t>个安全风险，并协同闭环；</a:t>
            </a:r>
            <a:endParaRPr lang="zh-CN" altLang="en-US" sz="1200" dirty="0">
              <a:latin typeface="Arial" panose="020B0604020202020204" pitchFamily="34" charset="0"/>
              <a:ea typeface="黑体-简" panose="02000000000000000000" charset="-122"/>
            </a:endParaRPr>
          </a:p>
          <a:p>
            <a:pPr algn="ctr">
              <a:lnSpc>
                <a:spcPct val="130000"/>
              </a:lnSpc>
            </a:pPr>
            <a:r>
              <a:rPr lang="zh-CN" altLang="en-US" sz="1200" dirty="0">
                <a:latin typeface="Arial" panose="020B0604020202020204" pitchFamily="34" charset="0"/>
                <a:ea typeface="黑体-简" panose="02000000000000000000" charset="-122"/>
              </a:rPr>
              <a:t>快速识别并遏制了针对</a:t>
            </a:r>
            <a:r>
              <a:rPr lang="zh-CN" altLang="en-US" sz="1200" dirty="0">
                <a:latin typeface="Arial" panose="020B0604020202020204" pitchFamily="34" charset="0"/>
                <a:ea typeface="黑体-简" panose="02000000000000000000" charset="-122"/>
                <a:sym typeface="+mn-ea"/>
              </a:rPr>
              <a:t>核心业务系统</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core_system_1</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en-US" altLang="zh-CN"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core_system_3</a:t>
            </a:r>
            <a:r>
              <a:rPr lang="en-US" sz="1200">
                <a:solidFill>
                  <a:srgbClr val="4C61E7"/>
                </a:solidFill>
                <a:latin typeface="Arial" panose="020B0604020202020204" pitchFamily="34" charset="0"/>
                <a:ea typeface="黑体-简" panose="02000000000000000000" charset="-122"/>
                <a:cs typeface="Songti SC" panose="02010800040101010101" charset="-122"/>
                <a:sym typeface="Noto Sans SC" panose="020B0200000000000000" charset="-122"/>
              </a:rPr>
              <a:t>}}</a:t>
            </a:r>
            <a:r>
              <a:rPr lang="zh-CN" altLang="en-US" sz="1200" dirty="0">
                <a:latin typeface="Arial" panose="020B0604020202020204" pitchFamily="34" charset="0"/>
                <a:ea typeface="黑体-简" panose="02000000000000000000" charset="-122"/>
                <a:sym typeface="+mn-ea"/>
              </a:rPr>
              <a:t>的</a:t>
            </a:r>
            <a:r>
              <a:rPr lang="en-US" altLang="zh-CN" sz="1200" dirty="0">
                <a:solidFill>
                  <a:srgbClr val="4C61E7"/>
                </a:solidFill>
                <a:latin typeface="Arial" panose="020B0604020202020204" pitchFamily="34" charset="0"/>
                <a:ea typeface="黑体-简" panose="02000000000000000000" charset="-122"/>
                <a:sym typeface="+mn-ea"/>
              </a:rPr>
              <a:t>{{event_total}}</a:t>
            </a:r>
            <a:r>
              <a:rPr lang="zh-CN" altLang="en-US" sz="1200" dirty="0">
                <a:latin typeface="Arial" panose="020B0604020202020204" pitchFamily="34" charset="0"/>
                <a:ea typeface="黑体-简" panose="02000000000000000000" charset="-122"/>
                <a:sym typeface="+mn-ea"/>
              </a:rPr>
              <a:t>次安全威胁和事件，规避了</a:t>
            </a:r>
            <a:r>
              <a:rPr lang="en-US" altLang="zh-CN" sz="1200" dirty="0">
                <a:solidFill>
                  <a:srgbClr val="4C61E7"/>
                </a:solidFill>
                <a:latin typeface="Arial" panose="020B0604020202020204" pitchFamily="34" charset="0"/>
                <a:ea typeface="黑体-简" panose="02000000000000000000" charset="-122"/>
                <a:sym typeface="+mn-ea"/>
              </a:rPr>
              <a:t>{{event_total}}</a:t>
            </a:r>
            <a:r>
              <a:rPr lang="zh-CN" altLang="en-US" sz="1200" dirty="0">
                <a:latin typeface="Arial" panose="020B0604020202020204" pitchFamily="34" charset="0"/>
                <a:ea typeface="黑体-简" panose="02000000000000000000" charset="-122"/>
                <a:sym typeface="+mn-ea"/>
              </a:rPr>
              <a:t>次潜在业务损失；</a:t>
            </a:r>
            <a:r>
              <a:rPr lang="en-US" sz="1200">
                <a:latin typeface="Arial" panose="020B0604020202020204" pitchFamily="34" charset="0"/>
                <a:ea typeface="黑体-简" panose="02000000000000000000" charset="-122"/>
                <a:cs typeface="Songti SC" panose="02010800040101010101" charset="-122"/>
                <a:sym typeface="Noto Sans SC"/>
              </a:rPr>
              <a:t>保障研发/生产/</a:t>
            </a:r>
            <a:r>
              <a:rPr lang="zh-CN" altLang="en-US" sz="1200">
                <a:latin typeface="Arial" panose="020B0604020202020204" pitchFamily="34" charset="0"/>
                <a:ea typeface="黑体-简" panose="02000000000000000000" charset="-122"/>
                <a:cs typeface="Songti SC" panose="02010800040101010101" charset="-122"/>
                <a:sym typeface="Noto Sans SC"/>
              </a:rPr>
              <a:t>办公</a:t>
            </a:r>
            <a:r>
              <a:rPr lang="en-US" altLang="zh-CN" sz="1200">
                <a:latin typeface="Arial" panose="020B0604020202020204" pitchFamily="34" charset="0"/>
                <a:ea typeface="黑体-简" panose="02000000000000000000" charset="-122"/>
                <a:cs typeface="Songti SC" panose="02010800040101010101" charset="-122"/>
                <a:sym typeface="Noto Sans SC"/>
              </a:rPr>
              <a:t>/</a:t>
            </a:r>
            <a:r>
              <a:rPr lang="en-US" sz="1200">
                <a:latin typeface="Arial" panose="020B0604020202020204" pitchFamily="34" charset="0"/>
                <a:ea typeface="黑体-简" panose="02000000000000000000" charset="-122"/>
                <a:cs typeface="Songti SC" panose="02010800040101010101" charset="-122"/>
                <a:sym typeface="Noto Sans SC"/>
              </a:rPr>
              <a:t>供应链</a:t>
            </a:r>
            <a:r>
              <a:rPr lang="zh-CN" altLang="en-US" sz="1200">
                <a:latin typeface="Arial" panose="020B0604020202020204" pitchFamily="34" charset="0"/>
                <a:ea typeface="黑体-简" panose="02000000000000000000" charset="-122"/>
                <a:cs typeface="Songti SC" panose="02010800040101010101" charset="-122"/>
                <a:sym typeface="Noto Sans SC"/>
              </a:rPr>
              <a:t>等</a:t>
            </a:r>
            <a:r>
              <a:rPr lang="en-US" sz="1200">
                <a:latin typeface="Arial" panose="020B0604020202020204" pitchFamily="34" charset="0"/>
                <a:ea typeface="黑体-简" panose="02000000000000000000" charset="-122"/>
                <a:cs typeface="Songti SC" panose="02010800040101010101" charset="-122"/>
                <a:sym typeface="Noto Sans SC"/>
              </a:rPr>
              <a:t>核心</a:t>
            </a:r>
            <a:r>
              <a:rPr lang="zh-CN" altLang="en-US" sz="1200">
                <a:latin typeface="Arial" panose="020B0604020202020204" pitchFamily="34" charset="0"/>
                <a:ea typeface="黑体-简" panose="02000000000000000000" charset="-122"/>
                <a:cs typeface="Songti SC" panose="02010800040101010101" charset="-122"/>
                <a:sym typeface="Noto Sans SC"/>
              </a:rPr>
              <a:t>业务运行</a:t>
            </a:r>
            <a:r>
              <a:rPr lang="en-US" sz="1200">
                <a:latin typeface="Arial" panose="020B0604020202020204" pitchFamily="34" charset="0"/>
                <a:ea typeface="黑体-简" panose="02000000000000000000" charset="-122"/>
                <a:cs typeface="Songti SC" panose="02010800040101010101" charset="-122"/>
                <a:sym typeface="Noto Sans SC"/>
              </a:rPr>
              <a:t>顺畅</a:t>
            </a:r>
            <a:r>
              <a:rPr lang="zh-CN" altLang="en-US" sz="1200" dirty="0">
                <a:latin typeface="Arial" panose="020B0604020202020204" pitchFamily="34" charset="0"/>
                <a:ea typeface="黑体-简" panose="02000000000000000000" charset="-122"/>
              </a:rPr>
              <a:t>。</a:t>
            </a:r>
            <a:endParaRPr lang="zh-CN" altLang="en-US" sz="1200" dirty="0">
              <a:effectLst/>
              <a:latin typeface="Arial" panose="020B0604020202020204" pitchFamily="34" charset="0"/>
              <a:ea typeface="黑体-简" panose="02000000000000000000" charset="-122"/>
            </a:endParaRPr>
          </a:p>
        </p:txBody>
      </p:sp>
    </p:spTree>
    <p:custDataLst>
      <p:tags r:id="rId2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9"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a:t>
              </a:r>
              <a:r>
                <a:rPr lang="zh-CN" alt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安全典型事例</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graphicFrame>
        <p:nvGraphicFramePr>
          <p:cNvPr id="47" name="表格 46"/>
          <p:cNvGraphicFramePr/>
          <p:nvPr>
            <p:custDataLst>
              <p:tags r:id="rId4"/>
            </p:custDataLst>
          </p:nvPr>
        </p:nvGraphicFramePr>
        <p:xfrm>
          <a:off x="6257290" y="1151890"/>
          <a:ext cx="5535295" cy="5471795"/>
        </p:xfrm>
        <a:graphic>
          <a:graphicData uri="http://schemas.openxmlformats.org/drawingml/2006/table">
            <a:tbl>
              <a:tblPr firstRow="1" lastCol="1" bandCol="1">
                <a:tableStyleId>{0126E9F6-41A6-44B7-8387-491034A24550}</a:tableStyleId>
              </a:tblPr>
              <a:tblGrid>
                <a:gridCol w="883285"/>
                <a:gridCol w="4652010"/>
              </a:tblGrid>
              <a:tr h="851535">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潜在损失维度</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5">
                        <a:lumMod val="60000"/>
                        <a:lumOff val="40000"/>
                      </a:schemeClr>
                    </a:solidFill>
                  </a:tcPr>
                </a:tc>
                <a:tc>
                  <a:txBody>
                    <a:bodyPr/>
                    <a:p>
                      <a:pPr algn="l">
                        <a:lnSpc>
                          <a:spcPct val="150000"/>
                        </a:lnSpc>
                        <a:buClrTx/>
                        <a:buSzTx/>
                        <a:buFontTx/>
                        <a:buNone/>
                      </a:pPr>
                      <a:r>
                        <a:rPr lang="zh-CN" altLang="en-US" sz="1200">
                          <a:solidFill>
                            <a:schemeClr val="tx1"/>
                          </a:solidFill>
                          <a:latin typeface="Heiti SC Light" panose="02000000000000000000" charset="-122"/>
                          <a:ea typeface="Heiti SC Light" panose="02000000000000000000" charset="-122"/>
                          <a:sym typeface="+mn-ea"/>
                        </a:rPr>
                        <a:t>漏洞利用攻击如果未及时发现和对抗，可能导致核心系统敏感数据泄露、主机被控挖矿、数据勒索加密等重大</a:t>
                      </a:r>
                      <a:r>
                        <a:rPr lang="zh-CN" altLang="en-US" sz="1200">
                          <a:solidFill>
                            <a:schemeClr val="tx1"/>
                          </a:solidFill>
                          <a:latin typeface="Heiti SC Light" panose="02000000000000000000" charset="-122"/>
                          <a:ea typeface="Heiti SC Light" panose="02000000000000000000" charset="-122"/>
                          <a:sym typeface="+mn-ea"/>
                        </a:rPr>
                        <a:t>危害事件</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3">
                        <a:lumMod val="20000"/>
                        <a:lumOff val="80000"/>
                      </a:schemeClr>
                    </a:solidFill>
                  </a:tcPr>
                </a:tc>
              </a:tr>
              <a:tr h="112014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潜在损失规避评估</a:t>
                      </a:r>
                      <a:endParaRPr lang="zh-CN" altLang="en-US" sz="1200">
                        <a:solidFill>
                          <a:schemeClr val="tx1"/>
                        </a:solidFill>
                        <a:latin typeface="Heiti SC Light" panose="02000000000000000000" charset="-122"/>
                        <a:ea typeface="Heiti SC Light" panose="02000000000000000000" charset="-122"/>
                      </a:endParaRPr>
                    </a:p>
                    <a:p>
                      <a:pPr algn="ctr">
                        <a:buNone/>
                      </a:pPr>
                      <a:r>
                        <a:rPr lang="zh-CN" altLang="en-US" sz="1200">
                          <a:solidFill>
                            <a:schemeClr val="tx1"/>
                          </a:solidFill>
                          <a:latin typeface="Heiti SC Light" panose="02000000000000000000" charset="-122"/>
                          <a:ea typeface="Heiti SC Light" panose="02000000000000000000" charset="-122"/>
                          <a:sym typeface="+mn-ea"/>
                        </a:rPr>
                        <a:t>（影响面）</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algn="ctr">
                        <a:buNone/>
                      </a:pPr>
                      <a:r>
                        <a:rPr lang="en-US" altLang="zh-CN" sz="1200">
                          <a:solidFill>
                            <a:srgbClr val="FF0000"/>
                          </a:solidFill>
                          <a:latin typeface="Arial" panose="020B0604020202020204" pitchFamily="34" charset="0"/>
                          <a:ea typeface="黑体-简" panose="02000000000000000000" charset="-122"/>
                          <a:sym typeface="+mn-ea"/>
                        </a:rPr>
                        <a:t>2</a:t>
                      </a:r>
                      <a:r>
                        <a:rPr lang="zh-CN" altLang="en-US" sz="1200">
                          <a:solidFill>
                            <a:srgbClr val="FF0000"/>
                          </a:solidFill>
                          <a:latin typeface="Arial" panose="020B0604020202020204" pitchFamily="34" charset="0"/>
                          <a:ea typeface="黑体-简" panose="02000000000000000000" charset="-122"/>
                          <a:sym typeface="+mn-ea"/>
                        </a:rPr>
                        <a:t>个高危可利用漏洞</a:t>
                      </a:r>
                      <a:r>
                        <a:rPr lang="en-US" altLang="zh-CN" sz="1200">
                          <a:solidFill>
                            <a:srgbClr val="FF0000"/>
                          </a:solidFill>
                          <a:latin typeface="Arial" panose="020B0604020202020204" pitchFamily="34" charset="0"/>
                          <a:ea typeface="黑体-简" panose="02000000000000000000" charset="-122"/>
                          <a:sym typeface="+mn-ea"/>
                        </a:rPr>
                        <a:t>*100</a:t>
                      </a:r>
                      <a:r>
                        <a:rPr lang="zh-CN" altLang="en-US" sz="1200">
                          <a:solidFill>
                            <a:srgbClr val="FF0000"/>
                          </a:solidFill>
                          <a:latin typeface="Arial" panose="020B0604020202020204" pitchFamily="34" charset="0"/>
                          <a:ea typeface="黑体-简" panose="02000000000000000000" charset="-122"/>
                          <a:sym typeface="+mn-ea"/>
                        </a:rPr>
                        <a:t>万元</a:t>
                      </a:r>
                      <a:r>
                        <a:rPr lang="en-US" altLang="zh-CN" sz="1200">
                          <a:solidFill>
                            <a:srgbClr val="FF0000"/>
                          </a:solidFill>
                          <a:latin typeface="Arial" panose="020B0604020202020204" pitchFamily="34" charset="0"/>
                          <a:ea typeface="黑体-简" panose="02000000000000000000" charset="-122"/>
                          <a:sym typeface="+mn-ea"/>
                        </a:rPr>
                        <a:t>≈200</a:t>
                      </a:r>
                      <a:r>
                        <a:rPr lang="zh-CN" altLang="en-US" sz="1200">
                          <a:solidFill>
                            <a:srgbClr val="FF0000"/>
                          </a:solidFill>
                          <a:latin typeface="Arial" panose="020B0604020202020204" pitchFamily="34" charset="0"/>
                          <a:ea typeface="黑体-简" panose="02000000000000000000" charset="-122"/>
                          <a:sym typeface="+mn-ea"/>
                        </a:rPr>
                        <a:t>万元</a:t>
                      </a:r>
                      <a:endParaRPr lang="zh-CN" altLang="en-US" sz="1200">
                        <a:solidFill>
                          <a:srgbClr val="FF0000"/>
                        </a:solidFill>
                        <a:latin typeface="Arial" panose="020B0604020202020204" pitchFamily="34" charset="0"/>
                        <a:ea typeface="黑体-简" panose="02000000000000000000" charset="-122"/>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（基于行业公开事例评估测算，单个漏洞利用攻击入侵成功导致的平均安全损失约</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100</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r h="350012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实际案例损失情况</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indent="0" algn="l" defTabSz="914400">
                        <a:lnSpc>
                          <a:spcPct val="150000"/>
                        </a:lnSpc>
                        <a:buClrTx/>
                        <a:buSzTx/>
                        <a:buFont typeface="+mj-lt"/>
                        <a:buNone/>
                      </a:pP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当前规模化的</a:t>
                      </a: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RaaS</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攻击手段主要探测识别</a:t>
                      </a: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1DAY</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高危可利用漏洞后进行自动化利用攻击</a:t>
                      </a:r>
                      <a:endParaRPr lang="en-US" altLang="zh-CN" sz="1200" b="1"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捷豹路虎遭勒索攻击致全球系统瘫痪</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日期：</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2025.9 </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至</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 2025.10.8</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事件概要：</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"Scattered Lapsus$ Hunters"</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黑客组织利用</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SAP NetWeaver</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CVE-2025-31324</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）远程执行漏洞入侵内部网络，部署勒索软件并窃取数据。</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indent="0" algn="l" defTabSz="914400">
                        <a:lnSpc>
                          <a:spcPct val="150000"/>
                        </a:lnSpc>
                        <a:buClrTx/>
                        <a:buSzTx/>
                        <a:buFont typeface="+mj-lt"/>
                        <a:buNone/>
                      </a:pP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影响描述：全球</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IT</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系统关闭，生产、销售、售后服务全面瘫痪；</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33,000</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名员工被安排休假；财务损失达</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 1.96</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亿英镑；</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10</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月</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8</a:t>
                      </a:r>
                      <a:r>
                        <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rPr>
                        <a:t>日才完成系统重启。</a:t>
                      </a:r>
                      <a:endParaRPr lang="en-US" altLang="zh-CN" sz="1200" b="0" dirty="0">
                        <a:solidFill>
                          <a:srgbClr val="14161A"/>
                        </a:solidFill>
                        <a:latin typeface="Arial" panose="020B0604020202020204" pitchFamily="34" charset="0"/>
                        <a:ea typeface="黑体-简" panose="02000000000000000000" charset="-122"/>
                        <a:cs typeface="微软雅黑" panose="020B0503020204020204" pitchFamily="34" charset="-120"/>
                        <a:sym typeface="宋体" panose="02010600030101010101" pitchFamily="2" charset="-122"/>
                      </a:endParaRPr>
                    </a:p>
                    <a:p>
                      <a:pPr indent="0" algn="l" defTabSz="914400">
                        <a:lnSpc>
                          <a:spcPct val="150000"/>
                        </a:lnSpc>
                        <a:buClrTx/>
                        <a:buSzTx/>
                        <a:buFont typeface="+mj-lt"/>
                        <a:buNone/>
                      </a:pP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基于</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国内安全咨询机构及厂商综合披露的数据显示，国内政企勒索支付的中位数为</a:t>
                      </a:r>
                      <a:r>
                        <a:rPr lang="en-US" altLang="zh-CN"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100</a:t>
                      </a:r>
                      <a:r>
                        <a:rPr lang="zh-CN" altLang="en-US" sz="12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万元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bl>
          </a:graphicData>
        </a:graphic>
      </p:graphicFrame>
      <p:sp>
        <p:nvSpPr>
          <p:cNvPr id="2" name="Text 1"/>
          <p:cNvSpPr/>
          <p:nvPr/>
        </p:nvSpPr>
        <p:spPr>
          <a:xfrm>
            <a:off x="431165" y="1151255"/>
            <a:ext cx="5760000" cy="576000"/>
          </a:xfrm>
          <a:prstGeom prst="rect">
            <a:avLst/>
          </a:prstGeom>
          <a:solidFill>
            <a:srgbClr val="E6514E"/>
          </a:solidFill>
        </p:spPr>
        <p:txBody>
          <a:bodyPr wrap="square" lIns="0" tIns="0" rIns="0" bIns="0" rtlCol="0" anchor="ctr"/>
          <a:lstStyle/>
          <a:p>
            <a:pPr marL="0" indent="0" algn="ctr">
              <a:buNone/>
            </a:pPr>
            <a:r>
              <a:rPr 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主机存在动态脚本上传成功</a:t>
            </a:r>
            <a:endParaRPr lang="en-US" altLang="en-US" sz="1400" dirty="0">
              <a:solidFill>
                <a:srgbClr val="FFFFFF"/>
              </a:solidFill>
              <a:latin typeface="Heiti SC Light" panose="02000000000000000000" charset="-122"/>
              <a:ea typeface="Heiti SC Light" panose="02000000000000000000" charset="-122"/>
              <a:cs typeface="微软雅黑" panose="020B0503020204020204" pitchFamily="34" charset="-120"/>
            </a:endParaRPr>
          </a:p>
        </p:txBody>
      </p:sp>
      <p:sp>
        <p:nvSpPr>
          <p:cNvPr id="4" name="Text 2"/>
          <p:cNvSpPr/>
          <p:nvPr/>
        </p:nvSpPr>
        <p:spPr>
          <a:xfrm>
            <a:off x="431165" y="1727200"/>
            <a:ext cx="5760000" cy="4896000"/>
          </a:xfrm>
          <a:prstGeom prst="rect">
            <a:avLst/>
          </a:prstGeom>
          <a:solidFill>
            <a:srgbClr val="FDF1F1"/>
          </a:solidFill>
        </p:spPr>
        <p:txBody>
          <a:bodyPr wrap="square" lIns="283464" tIns="137160" rIns="283464" bIns="137160" rtlCol="0" anchor="t"/>
          <a:lstStyle/>
          <a:p>
            <a:pPr marL="0" indent="0">
              <a:lnSpc>
                <a:spcPts val="1600"/>
              </a:lnSpc>
              <a:buNone/>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rPr>
              <a:t>攻击者通过文件上传漏洞，成功上传脚本文件，尝试执行脚本文件获取服务器权限</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
</a:t>
            </a:r>
            <a:endParaRPr lang="en-US" sz="1200" b="1"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solidFill>
                  <a:schemeClr val="tx1"/>
                </a:solidFill>
                <a:latin typeface="Heiti SC Light" panose="02000000000000000000" charset="-122"/>
                <a:ea typeface="Heiti SC Light" panose="02000000000000000000" charset="-122"/>
                <a:cs typeface="Heiti SC Light" panose="02000000000000000000" charset="-122"/>
              </a:rPr>
              <a:t>【</a:t>
            </a:r>
            <a:r>
              <a:rPr lang="en-US" sz="1200" b="1" dirty="0">
                <a:solidFill>
                  <a:schemeClr val="tx1"/>
                </a:solidFill>
                <a:latin typeface="Heiti SC Light" panose="02000000000000000000" charset="-122"/>
                <a:ea typeface="Heiti SC Light" panose="02000000000000000000" charset="-122"/>
                <a:cs typeface="Heiti SC Light" panose="02000000000000000000" charset="-122"/>
              </a:rPr>
              <a:t>发现时间</a:t>
            </a:r>
            <a:r>
              <a:rPr lang="zh-CN" altLang="en-US" sz="1200" b="1"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2025-10-29 18:19:26</a:t>
            </a:r>
            <a:endParaRPr lang="en-US"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【影响资产</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XX.XX.XX.XX</a:t>
            </a:r>
            <a:r>
              <a:rPr 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应用</a:t>
            </a:r>
            <a:r>
              <a:rPr 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endParaRPr lang="en-US" altLang="zh-CN"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【事件危害</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服务器</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存在</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文件上传</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漏洞</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如未</a:t>
            </a:r>
            <a:r>
              <a:rPr lang="zh-CN" sz="1200" b="1" dirty="0">
                <a:solidFill>
                  <a:srgbClr val="14161A"/>
                </a:solidFill>
                <a:latin typeface="Heiti SC Light" panose="02000000000000000000" charset="-122"/>
                <a:ea typeface="Heiti SC Light" panose="02000000000000000000" charset="-122"/>
                <a:cs typeface="Heiti SC Light" panose="02000000000000000000" charset="-122"/>
                <a:sym typeface="+mn-ea"/>
              </a:rPr>
              <a:t>发现脚本落盘和攻击动向</a:t>
            </a:r>
            <a:r>
              <a:rPr 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攻击者</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可</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直接控制服务器</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执行命令，对</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收银业务</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进行</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数据窃取甚至进一步投放勒索病毒</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，从而导致</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集团出现</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信息泄露、业务中断以及数据被加密</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的状况，进一步造成</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资金</a:t>
            </a:r>
            <a:r>
              <a:rPr lang="en-US" altLang="zh-CN" sz="1200" b="1" dirty="0">
                <a:solidFill>
                  <a:srgbClr val="FF0000"/>
                </a:solidFill>
                <a:latin typeface="Heiti SC Light" panose="02000000000000000000" charset="-122"/>
                <a:ea typeface="Heiti SC Light" panose="02000000000000000000" charset="-122"/>
                <a:cs typeface="Heiti SC Light" panose="02000000000000000000" charset="-122"/>
              </a:rPr>
              <a:t>/ </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名誉损失和监管单位通报处罚</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等；</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【影响范围</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攻击行为的</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阻断和处置加固及时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，将</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影响范围限制在单台业务服务器</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且</a:t>
            </a:r>
            <a:r>
              <a:rPr lang="zh-CN" altLang="en-US" sz="1200" b="1" dirty="0">
                <a:solidFill>
                  <a:srgbClr val="FF0000"/>
                </a:solidFill>
                <a:latin typeface="Heiti SC Light" panose="02000000000000000000" charset="-122"/>
                <a:ea typeface="Heiti SC Light" panose="02000000000000000000" charset="-122"/>
                <a:cs typeface="Heiti SC Light" panose="02000000000000000000" charset="-122"/>
              </a:rPr>
              <a:t>未造成损失，未影响其它业务</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【事件处置</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endParaRPr lang="zh-CN" altLang="en-US" sz="1200" b="1" dirty="0">
              <a:latin typeface="Heiti SC Light" panose="02000000000000000000" charset="-122"/>
              <a:ea typeface="Heiti SC Light" panose="02000000000000000000" charset="-122"/>
              <a:cs typeface="Heiti SC Light" panose="02000000000000000000" charset="-122"/>
              <a:sym typeface="+mn-ea"/>
            </a:endParaRPr>
          </a:p>
          <a:p>
            <a:pPr marL="228600" indent="-228600">
              <a:lnSpc>
                <a:spcPct val="150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云端服务经理：发现告警后对事件完成分析定性和通报预警，</a:t>
            </a:r>
            <a:r>
              <a:rPr lang="en-US" sz="1200" b="1" dirty="0">
                <a:solidFill>
                  <a:srgbClr val="14161A"/>
                </a:solidFill>
                <a:latin typeface="Heiti SC Light" panose="02000000000000000000" charset="-122"/>
                <a:ea typeface="Heiti SC Light" panose="02000000000000000000" charset="-122"/>
                <a:cs typeface="Heiti SC Light" panose="02000000000000000000" charset="-122"/>
              </a:rPr>
              <a:t>封堵恶意IP</a:t>
            </a:r>
            <a:r>
              <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rPr>
              <a:t>完成攻击抑制；应急响应，开展紧急溯源分析和处置；</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rPr>
              <a:t>对接人称呼</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rPr>
              <a:t>」</a:t>
            </a:r>
            <a:r>
              <a:rPr lang="zh-CN" sz="1200" b="1" dirty="0">
                <a:solidFill>
                  <a:schemeClr val="tx1"/>
                </a:solidFill>
                <a:latin typeface="Heiti SC Light" panose="02000000000000000000" charset="-122"/>
                <a:ea typeface="Heiti SC Light" panose="02000000000000000000" charset="-122"/>
                <a:cs typeface="Heiti SC Light" panose="02000000000000000000" charset="-122"/>
              </a:rPr>
              <a:t>：</a:t>
            </a:r>
            <a:r>
              <a:rPr lang="zh-CN" sz="1200" dirty="0">
                <a:solidFill>
                  <a:schemeClr val="tx1"/>
                </a:solidFill>
                <a:latin typeface="Heiti SC Light" panose="02000000000000000000" charset="-122"/>
                <a:ea typeface="Heiti SC Light" panose="02000000000000000000" charset="-122"/>
                <a:cs typeface="Heiti SC Light" panose="02000000000000000000" charset="-122"/>
              </a:rPr>
              <a:t>结合业务判断审核事件属性，决策处置策略</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对主机的恶意脚本文件进行清除；同步开展漏洞加固，通过</a:t>
            </a:r>
            <a:r>
              <a:rPr 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配置防护策略，针对性</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完成风险闭环</a:t>
            </a:r>
            <a:endPar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pic>
        <p:nvPicPr>
          <p:cNvPr id="5" name="Image 0" descr="/opt/sangfor/app/report-generation/soar/apps/report_generation/front/threat-management-report/static/images/quarterly-report/event-manage/finished.png"/>
          <p:cNvPicPr>
            <a:picLocks noChangeAspect="1"/>
          </p:cNvPicPr>
          <p:nvPr/>
        </p:nvPicPr>
        <p:blipFill>
          <a:blip r:embed="rId5"/>
          <a:stretch>
            <a:fillRect/>
          </a:stretch>
        </p:blipFill>
        <p:spPr>
          <a:xfrm>
            <a:off x="4911344" y="4854448"/>
            <a:ext cx="1088136" cy="877824"/>
          </a:xfrm>
          <a:prstGeom prst="rect">
            <a:avLst/>
          </a:prstGeom>
        </p:spPr>
      </p:pic>
      <p:sp>
        <p:nvSpPr>
          <p:cNvPr id="6" name="textbox 158"/>
          <p:cNvSpPr/>
          <p:nvPr/>
        </p:nvSpPr>
        <p:spPr>
          <a:xfrm>
            <a:off x="3480435" y="306070"/>
            <a:ext cx="1430655" cy="267970"/>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sp>
        <p:nvSpPr>
          <p:cNvPr id="8" name="文本框 7"/>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选择跟保护核心业务相关，并且跟用户共同协作完成处置的典型事件样例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sp>
        <p:nvSpPr>
          <p:cNvPr id="3" name="文本框 2"/>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选择跟保护核心业务相关，并且跟用户共同协作完成处置的典型事件样例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
        <p:nvSpPr>
          <p:cNvPr id="20" name="Text 1"/>
          <p:cNvSpPr/>
          <p:nvPr/>
        </p:nvSpPr>
        <p:spPr>
          <a:xfrm>
            <a:off x="428625" y="1155065"/>
            <a:ext cx="5760000" cy="576000"/>
          </a:xfrm>
          <a:prstGeom prst="rect">
            <a:avLst/>
          </a:prstGeom>
          <a:solidFill>
            <a:srgbClr val="E6514E"/>
          </a:solidFill>
        </p:spPr>
        <p:txBody>
          <a:bodyPr wrap="square" lIns="0" tIns="0" rIns="0" bIns="0" rtlCol="0" anchor="ctr"/>
          <a:lstStyle/>
          <a:p>
            <a:pPr marL="0" indent="0" algn="ctr">
              <a:buNone/>
            </a:pPr>
            <a:r>
              <a:rPr 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主机</a:t>
            </a:r>
            <a:r>
              <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感染银狐病毒进行内网传播</a:t>
            </a:r>
            <a:endPar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endParaRPr>
          </a:p>
        </p:txBody>
      </p:sp>
      <p:sp>
        <p:nvSpPr>
          <p:cNvPr id="21" name="Text 2"/>
          <p:cNvSpPr/>
          <p:nvPr/>
        </p:nvSpPr>
        <p:spPr>
          <a:xfrm>
            <a:off x="428625" y="1731010"/>
            <a:ext cx="5760000" cy="4896000"/>
          </a:xfrm>
          <a:prstGeom prst="rect">
            <a:avLst/>
          </a:prstGeom>
          <a:solidFill>
            <a:srgbClr val="FDF1F1"/>
          </a:solidFill>
        </p:spPr>
        <p:txBody>
          <a:bodyPr wrap="square" lIns="283464" tIns="137160" rIns="283464" bIns="137160" rtlCol="0" anchor="t"/>
          <a:lstStyle/>
          <a:p>
            <a:pPr marL="0" indent="0">
              <a:lnSpc>
                <a:spcPts val="1600"/>
              </a:lnSpc>
              <a:buNone/>
            </a:pP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攻击者通过伪造盗版谷歌浏览器，诱导员工下载安装从而植入银狐木马，通过</a:t>
            </a:r>
            <a:r>
              <a:rPr lang="en-US" altLang="zh-CN" sz="1200" b="1" dirty="0">
                <a:solidFill>
                  <a:srgbClr val="14161A"/>
                </a:solidFill>
                <a:latin typeface="Heiti SC Medium" panose="02000000000000000000" charset="-122"/>
                <a:ea typeface="Heiti SC Medium" panose="02000000000000000000" charset="-122"/>
                <a:cs typeface="Heiti SC Medium" panose="02000000000000000000" charset="-122"/>
              </a:rPr>
              <a:t>OA</a:t>
            </a: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系统进行横向传播。</a:t>
            </a:r>
            <a:r>
              <a:rPr lang="en-US" sz="1000" b="1" dirty="0">
                <a:solidFill>
                  <a:srgbClr val="14161A"/>
                </a:solidFill>
                <a:latin typeface="Heiti SC Light" panose="02000000000000000000" charset="-122"/>
                <a:ea typeface="Heiti SC Light" panose="02000000000000000000" charset="-122"/>
                <a:cs typeface="Heiti SC Light" panose="02000000000000000000" charset="-122"/>
              </a:rPr>
              <a:t>
</a:t>
            </a:r>
            <a:endParaRPr lang="en-US" sz="10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【发现时间】：</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2025-9-11 05:48</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影响资产</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XX.XX.XX.XX</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资产</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altLang="zh-CN"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事件危害</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终端电脑</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rPr>
              <a:t>感染银狐病毒</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后</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，攻击者可控制该PC通过即时通讯软件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（微信等）</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或办公OA系统进行钓鱼从而</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无差别</a:t>
            </a:r>
            <a:r>
              <a:rPr lang="en-US" altLang="zh-CN" sz="1200" dirty="0">
                <a:solidFill>
                  <a:srgbClr val="FF0000"/>
                </a:solidFill>
                <a:latin typeface="Heiti SC Light" panose="02000000000000000000" charset="-122"/>
                <a:ea typeface="Heiti SC Light" panose="02000000000000000000" charset="-122"/>
                <a:cs typeface="Heiti SC Light" panose="02000000000000000000" charset="-122"/>
              </a:rPr>
              <a:t>骗取</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钱财或投放勒索病毒</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影响员工乃至单位领导的正常办公并造成个人损失</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【影响范围</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攻击者控制该电脑主机</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通过</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OA向集团</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员工</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批量</a:t>
            </a:r>
            <a:r>
              <a:rPr lang="en-US" altLang="zh-CN" sz="1200" dirty="0">
                <a:solidFill>
                  <a:srgbClr val="FF0000"/>
                </a:solidFill>
                <a:latin typeface="Heiti SC Light" panose="02000000000000000000" charset="-122"/>
                <a:ea typeface="Heiti SC Light" panose="02000000000000000000" charset="-122"/>
                <a:cs typeface="Heiti SC Light" panose="02000000000000000000" charset="-122"/>
              </a:rPr>
              <a:t>发送了钓鱼邮件</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，单位内部存在</a:t>
            </a:r>
            <a:r>
              <a:rPr lang="en-US" altLang="zh-CN" sz="1200" dirty="0">
                <a:solidFill>
                  <a:srgbClr val="FF0000"/>
                </a:solidFill>
                <a:latin typeface="Heiti SC Light" panose="02000000000000000000" charset="-122"/>
                <a:ea typeface="Heiti SC Light" panose="02000000000000000000" charset="-122"/>
                <a:cs typeface="Heiti SC Light" panose="02000000000000000000" charset="-122"/>
              </a:rPr>
              <a:t>部分员工访问钓鱼链接遭受风险</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，最终</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rPr>
              <a:t>通过</a:t>
            </a:r>
            <a:r>
              <a:rPr lang="zh-CN" altLang="en-US" sz="1200" dirty="0">
                <a:solidFill>
                  <a:srgbClr val="FF0000"/>
                </a:solidFill>
                <a:latin typeface="Heiti SC Light" panose="02000000000000000000" charset="-122"/>
                <a:ea typeface="Heiti SC Light" panose="02000000000000000000" charset="-122"/>
                <a:cs typeface="Heiti SC Light" panose="02000000000000000000" charset="-122"/>
              </a:rPr>
              <a:t>快速的应急排查和处置闭环规避了损失</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【事件处置</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endParaRPr lang="en-US" sz="1200" dirty="0">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微软雅黑" panose="020B0503020204020204" pitchFamily="34" charset="-120"/>
                <a:sym typeface="+mn-ea"/>
              </a:rPr>
              <a:t>云端服务经理</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应急响应专家对该中招</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PC</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进行排查和攻击路径分析溯源，协助线下找到并清除了木马文件，快速定位了中招原因</a:t>
            </a:r>
            <a:r>
              <a:rPr lang="zh-CN"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和攻击路径</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对接人姓名</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sz="1200" dirty="0">
                <a:latin typeface="Heiti SC Light" panose="02000000000000000000" charset="-122"/>
                <a:ea typeface="Heiti SC Light" panose="02000000000000000000" charset="-122"/>
                <a:cs typeface="Heiti SC Light" panose="02000000000000000000" charset="-122"/>
                <a:sym typeface="+mn-ea"/>
              </a:rPr>
              <a:t>协助快速定位到事发主机，决策处置预案；</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进行了攻击</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IP</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封堵、</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PC</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网络链接断开的初步遏制</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p:txBody>
      </p:sp>
      <p:pic>
        <p:nvPicPr>
          <p:cNvPr id="22" name="Image 0" descr="/opt/sangfor/app/report-generation/soar/apps/report_generation/front/threat-management-report/static/images/quarterly-report/event-manage/finished.png"/>
          <p:cNvPicPr>
            <a:picLocks noChangeAspect="1"/>
          </p:cNvPicPr>
          <p:nvPr/>
        </p:nvPicPr>
        <p:blipFill>
          <a:blip r:embed="rId2"/>
          <a:stretch>
            <a:fillRect/>
          </a:stretch>
        </p:blipFill>
        <p:spPr>
          <a:xfrm>
            <a:off x="4544314" y="4698238"/>
            <a:ext cx="1088136" cy="877824"/>
          </a:xfrm>
          <a:prstGeom prst="rect">
            <a:avLst/>
          </a:prstGeom>
        </p:spPr>
      </p:pic>
      <p:graphicFrame>
        <p:nvGraphicFramePr>
          <p:cNvPr id="47" name="表格 46"/>
          <p:cNvGraphicFramePr/>
          <p:nvPr>
            <p:custDataLst>
              <p:tags r:id="rId3"/>
            </p:custDataLst>
          </p:nvPr>
        </p:nvGraphicFramePr>
        <p:xfrm>
          <a:off x="6257290" y="1155065"/>
          <a:ext cx="5535295" cy="5471795"/>
        </p:xfrm>
        <a:graphic>
          <a:graphicData uri="http://schemas.openxmlformats.org/drawingml/2006/table">
            <a:tbl>
              <a:tblPr firstRow="1" lastCol="1" bandCol="1">
                <a:tableStyleId>{0126E9F6-41A6-44B7-8387-491034A24550}</a:tableStyleId>
              </a:tblPr>
              <a:tblGrid>
                <a:gridCol w="883285"/>
                <a:gridCol w="4652010"/>
              </a:tblGrid>
              <a:tr h="85725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潜在损失维度</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5">
                        <a:lumMod val="60000"/>
                        <a:lumOff val="40000"/>
                      </a:schemeClr>
                    </a:solidFill>
                  </a:tcPr>
                </a:tc>
                <a:tc>
                  <a:txBody>
                    <a:bodyPr/>
                    <a:p>
                      <a:pPr algn="ctr">
                        <a:lnSpc>
                          <a:spcPct val="150000"/>
                        </a:lnSpc>
                        <a:buNone/>
                      </a:pPr>
                      <a:r>
                        <a:rPr lang="zh-CN" altLang="en-US" sz="1200">
                          <a:solidFill>
                            <a:schemeClr val="tx1"/>
                          </a:solidFill>
                          <a:latin typeface="Heiti SC Light" panose="02000000000000000000" charset="-122"/>
                          <a:ea typeface="Heiti SC Light" panose="02000000000000000000" charset="-122"/>
                          <a:sym typeface="+mn-ea"/>
                        </a:rPr>
                        <a:t>主机外联成功将被感染银狐木马</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，利用主机的即时通讯软件在单位内部执行诈骗，或以内部员工合法身份窃取内部</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敏感数据</a:t>
                      </a:r>
                      <a:endPar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3">
                        <a:lumMod val="20000"/>
                        <a:lumOff val="80000"/>
                      </a:schemeClr>
                    </a:solidFill>
                  </a:tcPr>
                </a:tc>
              </a:tr>
              <a:tr h="1301115">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潜在损失规避评估</a:t>
                      </a:r>
                      <a:endParaRPr lang="zh-CN" altLang="en-US" sz="1200">
                        <a:solidFill>
                          <a:schemeClr val="tx1"/>
                        </a:solidFill>
                        <a:latin typeface="Heiti SC Light" panose="02000000000000000000" charset="-122"/>
                        <a:ea typeface="Heiti SC Light" panose="02000000000000000000" charset="-122"/>
                      </a:endParaRPr>
                    </a:p>
                    <a:p>
                      <a:pPr algn="ctr">
                        <a:buNone/>
                      </a:pPr>
                      <a:r>
                        <a:rPr lang="zh-CN" altLang="en-US" sz="1200">
                          <a:solidFill>
                            <a:schemeClr val="tx1"/>
                          </a:solidFill>
                          <a:latin typeface="Heiti SC Light" panose="02000000000000000000" charset="-122"/>
                          <a:ea typeface="Heiti SC Light" panose="02000000000000000000" charset="-122"/>
                          <a:sym typeface="+mn-ea"/>
                        </a:rPr>
                        <a:t>（影响面）</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600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起银狐外联</a:t>
                      </a: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*2000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元</a:t>
                      </a:r>
                      <a:endParaRPr lang="zh-CN" altLang="en-US" sz="1200">
                        <a:solidFill>
                          <a:srgbClr val="FF0000"/>
                        </a:solidFill>
                        <a:latin typeface="Heiti SC Light" panose="02000000000000000000" charset="-122"/>
                        <a:ea typeface="Heiti SC Light" panose="02000000000000000000" charset="-122"/>
                        <a:cs typeface="Heiti SC Light" panose="02000000000000000000" charset="-122"/>
                      </a:endParaRPr>
                    </a:p>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≈120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a:solidFill>
                          <a:schemeClr val="tx1"/>
                        </a:solidFill>
                        <a:latin typeface="Heiti SC Light" panose="02000000000000000000" charset="-122"/>
                        <a:ea typeface="Heiti SC Light" panose="02000000000000000000" charset="-122"/>
                        <a:cs typeface="Heiti SC Light" panose="02000000000000000000" charset="-122"/>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（基于深信服安全运营中心2025年统计，平均每起</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银狐木马攻击造成的个人损失约2000元；）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r h="331343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实际案例损失情况</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indent="0" algn="l">
                        <a:lnSpc>
                          <a:spcPct val="150000"/>
                        </a:lnSpc>
                        <a:buClrTx/>
                        <a:buSzTx/>
                        <a:buFont typeface="+mj-lt"/>
                        <a:buNone/>
                      </a:pP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2025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年，银狐木马以远程控制</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财务诈骗</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数据窃取为主，非传统勒索加密，但造成企业直接经济损失超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亿元、受害企事业单位超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1000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家，以下为权威披露的典型高损失案例：</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杭州某跨境电商（</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月，损失</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800</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攻击路径：伪装成银行账户年审通知约鱼邮件，财务电脑中招，木马潜伏两周，</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作案手法：监控微信聊天，自动篡改指令：将财务汇报的</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暂不付款”</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篡改为“</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立即支付”，并伪造老板</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已阅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回复。</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损失：</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15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分钟内</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 800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万货款转至境外账户，追回难度极大。</a:t>
                      </a:r>
                      <a:endParaRPr lang="zh-CN" altLang="en-US" sz="1200" b="0" dirty="0">
                        <a:solidFill>
                          <a:schemeClr val="tx1"/>
                        </a:solidFill>
                        <a:latin typeface="Heiti SC Light" panose="02000000000000000000" charset="-122"/>
                        <a:ea typeface="Heiti SC Light" panose="02000000000000000000" charset="-122"/>
                        <a:cs typeface="Heiti SC Light" panose="02000000000000000000" charset="-122"/>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来源：浙江警方（</a:t>
                      </a: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2025</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年经济犯罪典型案例）</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bl>
          </a:graphicData>
        </a:graphic>
      </p:graphicFrame>
      <p:pic>
        <p:nvPicPr>
          <p:cNvPr id="23" name="图片 22" descr="深信服 + 智安全"/>
          <p:cNvPicPr>
            <a:picLocks noChangeAspect="1"/>
          </p:cNvPicPr>
          <p:nvPr/>
        </p:nvPicPr>
        <p:blipFill>
          <a:blip r:embed="rId1"/>
          <a:srcRect l="5232" t="26576" r="4938" b="29565"/>
          <a:stretch>
            <a:fillRect/>
          </a:stretch>
        </p:blipFill>
        <p:spPr>
          <a:xfrm>
            <a:off x="10144125" y="365760"/>
            <a:ext cx="1629867" cy="360000"/>
          </a:xfrm>
          <a:prstGeom prst="rect">
            <a:avLst/>
          </a:prstGeom>
        </p:spPr>
      </p:pic>
      <p:grpSp>
        <p:nvGrpSpPr>
          <p:cNvPr id="24" name="组合 23"/>
          <p:cNvGrpSpPr/>
          <p:nvPr/>
        </p:nvGrpSpPr>
        <p:grpSpPr>
          <a:xfrm>
            <a:off x="224790" y="289878"/>
            <a:ext cx="4279900" cy="327025"/>
            <a:chOff x="533" y="646"/>
            <a:chExt cx="6740" cy="515"/>
          </a:xfrm>
        </p:grpSpPr>
        <p:grpSp>
          <p:nvGrpSpPr>
            <p:cNvPr id="25" name="组合 24"/>
            <p:cNvGrpSpPr/>
            <p:nvPr/>
          </p:nvGrpSpPr>
          <p:grpSpPr>
            <a:xfrm rot="0">
              <a:off x="533" y="672"/>
              <a:ext cx="582" cy="420"/>
              <a:chOff x="533" y="672"/>
              <a:chExt cx="582" cy="420"/>
            </a:xfrm>
          </p:grpSpPr>
          <p:sp>
            <p:nvSpPr>
              <p:cNvPr id="26" name="燕尾形 86"/>
              <p:cNvSpPr/>
              <p:nvPr>
                <p:custDataLst>
                  <p:tags r:id="rId4"/>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27" name="燕尾形 103"/>
              <p:cNvSpPr/>
              <p:nvPr>
                <p:custDataLst>
                  <p:tags r:id="rId5"/>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8"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a:t>
              </a:r>
              <a:r>
                <a:rPr lang="zh-CN" alt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安全典型事例</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
        <p:nvSpPr>
          <p:cNvPr id="29" name="textbox 158"/>
          <p:cNvSpPr/>
          <p:nvPr/>
        </p:nvSpPr>
        <p:spPr>
          <a:xfrm>
            <a:off x="3480435" y="306070"/>
            <a:ext cx="1430655" cy="267970"/>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威胁</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对抗</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24" name="组合 23"/>
          <p:cNvGrpSpPr/>
          <p:nvPr/>
        </p:nvGrpSpPr>
        <p:grpSpPr>
          <a:xfrm>
            <a:off x="224790" y="289878"/>
            <a:ext cx="4279900" cy="327025"/>
            <a:chOff x="533" y="646"/>
            <a:chExt cx="6740" cy="515"/>
          </a:xfrm>
        </p:grpSpPr>
        <p:grpSp>
          <p:nvGrpSpPr>
            <p:cNvPr id="25" name="组合 24"/>
            <p:cNvGrpSpPr/>
            <p:nvPr/>
          </p:nvGrpSpPr>
          <p:grpSpPr>
            <a:xfrm rot="0">
              <a:off x="533" y="672"/>
              <a:ext cx="582" cy="420"/>
              <a:chOff x="533" y="672"/>
              <a:chExt cx="582" cy="420"/>
            </a:xfrm>
          </p:grpSpPr>
          <p:sp>
            <p:nvSpPr>
              <p:cNvPr id="26"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27"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8"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保护业务</a:t>
              </a:r>
              <a:r>
                <a:rPr lang="zh-CN" altLang="en-US" sz="1900" b="1">
                  <a:solidFill>
                    <a:srgbClr val="262626"/>
                  </a:solidFill>
                  <a:latin typeface="Arial Black" panose="020B0A04020102020204" pitchFamily="34" charset="0"/>
                  <a:ea typeface="微软雅黑" panose="020B0503020204020204" charset="-122"/>
                  <a:cs typeface="微软雅黑" panose="020B0503020204020204" charset="-122"/>
                  <a:sym typeface="微软雅黑" panose="020B0503020204020204" charset="-122"/>
                </a:rPr>
                <a:t>安全典型事例</a:t>
              </a:r>
              <a:endParaRPr lang="en-US" sz="1900">
                <a:latin typeface="Arial Black" panose="020B0A04020102020204" pitchFamily="34" charset="0"/>
                <a:ea typeface="微软雅黑" panose="020B0503020204020204" charset="-122"/>
              </a:endParaRPr>
            </a:p>
            <a:p>
              <a:pPr algn="l" rtl="0" eaLnBrk="0">
                <a:lnSpc>
                  <a:spcPct val="101000"/>
                </a:lnSpc>
              </a:pP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
        <p:nvSpPr>
          <p:cNvPr id="29" name="textbox 158"/>
          <p:cNvSpPr/>
          <p:nvPr/>
        </p:nvSpPr>
        <p:spPr>
          <a:xfrm>
            <a:off x="3480435" y="306070"/>
            <a:ext cx="1430655" cy="267970"/>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风险预防</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sp>
        <p:nvSpPr>
          <p:cNvPr id="20" name="Text 1"/>
          <p:cNvSpPr/>
          <p:nvPr/>
        </p:nvSpPr>
        <p:spPr>
          <a:xfrm>
            <a:off x="428625" y="1155065"/>
            <a:ext cx="5760000" cy="576000"/>
          </a:xfrm>
          <a:prstGeom prst="rect">
            <a:avLst/>
          </a:prstGeom>
          <a:solidFill>
            <a:srgbClr val="E6514E"/>
          </a:solidFill>
        </p:spPr>
        <p:txBody>
          <a:bodyPr wrap="square" lIns="0" tIns="0" rIns="0" bIns="0" rtlCol="0" anchor="ctr"/>
          <a:lstStyle/>
          <a:p>
            <a:pPr marL="0" indent="0" algn="ctr">
              <a:buNone/>
            </a:pPr>
            <a:r>
              <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监控系统存在未授权访问</a:t>
            </a:r>
            <a:r>
              <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rPr>
              <a:t>漏洞</a:t>
            </a:r>
            <a:endParaRPr lang="zh-CN" altLang="en-US" sz="1400" dirty="0">
              <a:solidFill>
                <a:srgbClr val="FFFFFF"/>
              </a:solidFill>
              <a:latin typeface="Heiti SC Light" panose="02000000000000000000" charset="-122"/>
              <a:ea typeface="Heiti SC Light" panose="02000000000000000000" charset="-122"/>
              <a:cs typeface="微软雅黑" panose="020B0503020204020204" pitchFamily="34" charset="-120"/>
            </a:endParaRPr>
          </a:p>
        </p:txBody>
      </p:sp>
      <p:sp>
        <p:nvSpPr>
          <p:cNvPr id="21" name="Text 2"/>
          <p:cNvSpPr/>
          <p:nvPr/>
        </p:nvSpPr>
        <p:spPr>
          <a:xfrm>
            <a:off x="428625" y="1731010"/>
            <a:ext cx="5760000" cy="4896000"/>
          </a:xfrm>
          <a:prstGeom prst="rect">
            <a:avLst/>
          </a:prstGeom>
          <a:solidFill>
            <a:srgbClr val="FDF1F1"/>
          </a:solidFill>
        </p:spPr>
        <p:txBody>
          <a:bodyPr wrap="square" lIns="283464" tIns="137160" rIns="283464" bIns="137160" rtlCol="0" anchor="t"/>
          <a:lstStyle/>
          <a:p>
            <a:pPr marL="0" indent="0">
              <a:lnSpc>
                <a:spcPts val="1600"/>
              </a:lnSpc>
              <a:buNone/>
            </a:pP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通过监测分析，识别出监控系统存在未授权访问漏洞，经验证攻击者可以利用此漏洞直接控制单位公共区域摄像头，窃取国家机密</a:t>
            </a:r>
            <a:r>
              <a:rPr lang="zh-CN" altLang="en-US" sz="1200" b="1" dirty="0">
                <a:solidFill>
                  <a:srgbClr val="14161A"/>
                </a:solidFill>
                <a:latin typeface="Heiti SC Medium" panose="02000000000000000000" charset="-122"/>
                <a:ea typeface="Heiti SC Medium" panose="02000000000000000000" charset="-122"/>
                <a:cs typeface="Heiti SC Medium" panose="02000000000000000000" charset="-122"/>
              </a:rPr>
              <a:t>信息。</a:t>
            </a:r>
            <a:r>
              <a:rPr lang="en-US" sz="1000" b="1" dirty="0">
                <a:solidFill>
                  <a:srgbClr val="14161A"/>
                </a:solidFill>
                <a:latin typeface="Heiti SC Light" panose="02000000000000000000" charset="-122"/>
                <a:ea typeface="Heiti SC Light" panose="02000000000000000000" charset="-122"/>
                <a:cs typeface="Heiti SC Light" panose="02000000000000000000" charset="-122"/>
              </a:rPr>
              <a:t>
</a:t>
            </a:r>
            <a:endParaRPr lang="en-US" sz="10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【发现时间】：</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2025-9-11 05:48</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影响资产</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XX.XX.XX.XX</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资产</a:t>
            </a:r>
            <a:r>
              <a:rPr 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altLang="zh-CN" sz="1200" dirty="0">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风险危害</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：监控系统可被未经授权即可被访问，控制园区摄像头，窃取国家机密信息，一旦泄露将会导致组织面临国家安全部门处罚</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rPr>
              <a:t>【影响范围</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rPr>
              <a:t>：监控系统被控制，</a:t>
            </a:r>
            <a:r>
              <a:rPr lang="zh-CN" altLang="en-US" sz="1200" b="1" dirty="0">
                <a:latin typeface="Heiti SC Light" panose="02000000000000000000" charset="-122"/>
                <a:ea typeface="Heiti SC Light" panose="02000000000000000000" charset="-122"/>
                <a:cs typeface="Heiti SC Light" panose="02000000000000000000" charset="-122"/>
              </a:rPr>
              <a:t>敏感信息窃取</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0" indent="0">
              <a:lnSpc>
                <a:spcPct val="150000"/>
              </a:lnSpc>
              <a:buNone/>
            </a:pPr>
            <a:r>
              <a:rPr lang="zh-CN" altLang="en-US"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b="1" dirty="0">
                <a:latin typeface="Heiti SC Light" panose="02000000000000000000" charset="-122"/>
                <a:ea typeface="Heiti SC Light" panose="02000000000000000000" charset="-122"/>
                <a:cs typeface="Heiti SC Light" panose="02000000000000000000" charset="-122"/>
                <a:sym typeface="+mn-ea"/>
              </a:rPr>
              <a:t>风险处置</a:t>
            </a:r>
            <a:r>
              <a:rPr lang="zh-CN" altLang="en-US" sz="1200" b="1" dirty="0">
                <a:latin typeface="Heiti SC Light" panose="02000000000000000000" charset="-122"/>
                <a:ea typeface="Heiti SC Light" panose="02000000000000000000" charset="-122"/>
                <a:cs typeface="Heiti SC Light" panose="02000000000000000000" charset="-122"/>
                <a:sym typeface="+mn-ea"/>
              </a:rPr>
              <a:t>】</a:t>
            </a:r>
            <a:endParaRPr lang="en-US" sz="1200" dirty="0">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微软雅黑" panose="020B0503020204020204" pitchFamily="34" charset="-120"/>
                <a:sym typeface="+mn-ea"/>
              </a:rPr>
              <a:t>云端服务经理</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发现漏洞之后立即同步到服务群，并验证漏洞利用危害，提供漏洞防护和加固建议方案，通过边界防火墙</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设备；</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对接人姓名</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：创建漏洞通告工单，分发给业务负责人，同步督促业务方开展漏洞整改加固</a:t>
            </a:r>
            <a:r>
              <a:rPr lang="zh-CN" sz="1200" dirty="0">
                <a:latin typeface="Heiti SC Light" panose="02000000000000000000" charset="-122"/>
                <a:ea typeface="Heiti SC Light" panose="02000000000000000000" charset="-122"/>
                <a:cs typeface="Heiti SC Light" panose="02000000000000000000" charset="-122"/>
                <a:sym typeface="+mn-ea"/>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50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进行了攻击</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IP</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封堵、</a:t>
            </a:r>
            <a:r>
              <a:rPr lang="en-US" altLang="zh-CN" sz="1200" dirty="0">
                <a:solidFill>
                  <a:srgbClr val="14161A"/>
                </a:solidFill>
                <a:latin typeface="Heiti SC Light" panose="02000000000000000000" charset="-122"/>
                <a:ea typeface="Heiti SC Light" panose="02000000000000000000" charset="-122"/>
                <a:cs typeface="Heiti SC Light" panose="02000000000000000000" charset="-122"/>
              </a:rPr>
              <a:t>PC</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rPr>
              <a:t>网络链接断开的初步遏制</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endParaRPr>
          </a:p>
        </p:txBody>
      </p:sp>
      <p:pic>
        <p:nvPicPr>
          <p:cNvPr id="22" name="Image 0" descr="/opt/sangfor/app/report-generation/soar/apps/report_generation/front/threat-management-report/static/images/quarterly-report/event-manage/finished.png"/>
          <p:cNvPicPr>
            <a:picLocks noChangeAspect="1"/>
          </p:cNvPicPr>
          <p:nvPr/>
        </p:nvPicPr>
        <p:blipFill>
          <a:blip r:embed="rId4"/>
          <a:stretch>
            <a:fillRect/>
          </a:stretch>
        </p:blipFill>
        <p:spPr>
          <a:xfrm>
            <a:off x="4544314" y="4698238"/>
            <a:ext cx="1088136" cy="877824"/>
          </a:xfrm>
          <a:prstGeom prst="rect">
            <a:avLst/>
          </a:prstGeom>
        </p:spPr>
      </p:pic>
      <p:graphicFrame>
        <p:nvGraphicFramePr>
          <p:cNvPr id="47" name="表格 46"/>
          <p:cNvGraphicFramePr/>
          <p:nvPr>
            <p:custDataLst>
              <p:tags r:id="rId5"/>
            </p:custDataLst>
          </p:nvPr>
        </p:nvGraphicFramePr>
        <p:xfrm>
          <a:off x="6257290" y="1155065"/>
          <a:ext cx="5535295" cy="5471795"/>
        </p:xfrm>
        <a:graphic>
          <a:graphicData uri="http://schemas.openxmlformats.org/drawingml/2006/table">
            <a:tbl>
              <a:tblPr firstRow="1" lastCol="1" bandCol="1">
                <a:tableStyleId>{0126E9F6-41A6-44B7-8387-491034A24550}</a:tableStyleId>
              </a:tblPr>
              <a:tblGrid>
                <a:gridCol w="883285"/>
                <a:gridCol w="4652010"/>
              </a:tblGrid>
              <a:tr h="85725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潜在损失维度</a:t>
                      </a:r>
                      <a:endParaRPr lang="zh-CN" altLang="en-US" sz="1200">
                        <a:solidFill>
                          <a:schemeClr val="tx1"/>
                        </a:solidFill>
                        <a:latin typeface="Heiti SC Light" panose="02000000000000000000" charset="-122"/>
                        <a:ea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5">
                        <a:lumMod val="60000"/>
                        <a:lumOff val="40000"/>
                      </a:schemeClr>
                    </a:solidFill>
                  </a:tcPr>
                </a:tc>
                <a:tc>
                  <a:txBody>
                    <a:bodyPr/>
                    <a:p>
                      <a:pPr algn="ctr">
                        <a:lnSpc>
                          <a:spcPct val="150000"/>
                        </a:lnSpc>
                        <a:buNone/>
                      </a:pPr>
                      <a:r>
                        <a:rPr lang="zh-CN" altLang="en-US" sz="1200">
                          <a:solidFill>
                            <a:schemeClr val="tx1"/>
                          </a:solidFill>
                          <a:latin typeface="Heiti SC Light" panose="02000000000000000000" charset="-122"/>
                          <a:ea typeface="Heiti SC Light" panose="02000000000000000000" charset="-122"/>
                          <a:sym typeface="+mn-ea"/>
                        </a:rPr>
                        <a:t>主机外联成功将被感染银狐木马</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，利用主机的即时通讯软件在单位内部执行诈骗，或以内部员工合法身份窃取内部</a:t>
                      </a:r>
                      <a:r>
                        <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敏感数据</a:t>
                      </a:r>
                      <a:endParaRPr 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solidFill>
                      <a:schemeClr val="accent3">
                        <a:lumMod val="20000"/>
                        <a:lumOff val="80000"/>
                      </a:schemeClr>
                    </a:solidFill>
                  </a:tcPr>
                </a:tc>
              </a:tr>
              <a:tr h="1301115">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潜在损失规避评估</a:t>
                      </a:r>
                      <a:endParaRPr lang="zh-CN" altLang="en-US" sz="1200">
                        <a:solidFill>
                          <a:schemeClr val="tx1"/>
                        </a:solidFill>
                        <a:latin typeface="Heiti SC Light" panose="02000000000000000000" charset="-122"/>
                        <a:ea typeface="Heiti SC Light" panose="02000000000000000000" charset="-122"/>
                      </a:endParaRPr>
                    </a:p>
                    <a:p>
                      <a:pPr algn="ctr">
                        <a:buNone/>
                      </a:pPr>
                      <a:r>
                        <a:rPr lang="zh-CN" altLang="en-US" sz="1200">
                          <a:solidFill>
                            <a:schemeClr val="tx1"/>
                          </a:solidFill>
                          <a:latin typeface="Heiti SC Light" panose="02000000000000000000" charset="-122"/>
                          <a:ea typeface="Heiti SC Light" panose="02000000000000000000" charset="-122"/>
                          <a:sym typeface="+mn-ea"/>
                        </a:rPr>
                        <a:t>（影响面）</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600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起银狐外联</a:t>
                      </a: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*2000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元</a:t>
                      </a:r>
                      <a:endParaRPr lang="zh-CN" altLang="en-US" sz="1200">
                        <a:solidFill>
                          <a:srgbClr val="FF0000"/>
                        </a:solidFill>
                        <a:latin typeface="Heiti SC Light" panose="02000000000000000000" charset="-122"/>
                        <a:ea typeface="Heiti SC Light" panose="02000000000000000000" charset="-122"/>
                        <a:cs typeface="Heiti SC Light" panose="02000000000000000000" charset="-122"/>
                      </a:endParaRPr>
                    </a:p>
                    <a:p>
                      <a:pPr algn="ctr">
                        <a:lnSpc>
                          <a:spcPct val="150000"/>
                        </a:lnSpc>
                        <a:buNone/>
                      </a:pPr>
                      <a:r>
                        <a:rPr lang="en-US" altLang="zh-CN" sz="1200">
                          <a:solidFill>
                            <a:srgbClr val="FF0000"/>
                          </a:solidFill>
                          <a:latin typeface="Heiti SC Light" panose="02000000000000000000" charset="-122"/>
                          <a:ea typeface="Heiti SC Light" panose="02000000000000000000" charset="-122"/>
                          <a:cs typeface="Heiti SC Light" panose="02000000000000000000" charset="-122"/>
                          <a:sym typeface="+mn-ea"/>
                        </a:rPr>
                        <a:t>≈120</a:t>
                      </a:r>
                      <a:r>
                        <a:rPr lang="zh-CN" altLang="en-US" sz="1200">
                          <a:solidFill>
                            <a:srgbClr val="FF0000"/>
                          </a:solidFill>
                          <a:latin typeface="Heiti SC Light" panose="02000000000000000000" charset="-122"/>
                          <a:ea typeface="Heiti SC Light" panose="02000000000000000000" charset="-122"/>
                          <a:cs typeface="Heiti SC Light" panose="02000000000000000000" charset="-122"/>
                          <a:sym typeface="+mn-ea"/>
                        </a:rPr>
                        <a:t>万元</a:t>
                      </a:r>
                      <a:endParaRPr lang="zh-CN" altLang="en-US" sz="1200">
                        <a:solidFill>
                          <a:schemeClr val="tx1"/>
                        </a:solidFill>
                        <a:latin typeface="Heiti SC Light" panose="02000000000000000000" charset="-122"/>
                        <a:ea typeface="Heiti SC Light" panose="02000000000000000000" charset="-122"/>
                        <a:cs typeface="Heiti SC Light" panose="02000000000000000000" charset="-122"/>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（基于深信服安全运营中心2025年统计，平均每起</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algn="ctr">
                        <a:lnSpc>
                          <a:spcPct val="150000"/>
                        </a:lnSpc>
                        <a:buSzTx/>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银狐木马攻击造成的个人损失约2000元；）</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r h="3313430">
                <a:tc>
                  <a:txBody>
                    <a:bodyPr/>
                    <a:p>
                      <a:pPr algn="ctr">
                        <a:buNone/>
                      </a:pPr>
                      <a:r>
                        <a:rPr lang="zh-CN" altLang="en-US" sz="1200">
                          <a:solidFill>
                            <a:schemeClr val="tx1"/>
                          </a:solidFill>
                          <a:latin typeface="Heiti SC Light" panose="02000000000000000000" charset="-122"/>
                          <a:ea typeface="Heiti SC Light" panose="02000000000000000000" charset="-122"/>
                          <a:sym typeface="+mn-ea"/>
                        </a:rPr>
                        <a:t>实际案例损失情况</a:t>
                      </a:r>
                      <a:endParaRPr lang="zh-CN" altLang="en-US" sz="1200" b="1">
                        <a:solidFill>
                          <a:schemeClr val="tx1"/>
                        </a:solidFill>
                        <a:latin typeface="Heiti SC Light" panose="02000000000000000000" charset="-122"/>
                        <a:ea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60000"/>
                        <a:lumOff val="40000"/>
                      </a:schemeClr>
                    </a:solidFill>
                  </a:tcPr>
                </a:tc>
                <a:tc>
                  <a:txBody>
                    <a:bodyPr/>
                    <a:p>
                      <a:pPr indent="0" algn="l">
                        <a:lnSpc>
                          <a:spcPct val="150000"/>
                        </a:lnSpc>
                        <a:buClrTx/>
                        <a:buSzTx/>
                        <a:buFont typeface="+mj-lt"/>
                        <a:buNone/>
                      </a:pPr>
                      <a:r>
                        <a:rPr lang="en-US" altLang="zh-CN" sz="1200" dirty="0">
                          <a:solidFill>
                            <a:schemeClr val="tx1"/>
                          </a:solidFill>
                          <a:latin typeface="Heiti SC Light" panose="02000000000000000000" charset="-122"/>
                          <a:ea typeface="Heiti SC Light" panose="02000000000000000000" charset="-122"/>
                          <a:cs typeface="Heiti SC Light" panose="02000000000000000000" charset="-122"/>
                          <a:sym typeface="+mn-ea"/>
                        </a:rPr>
                        <a:t>2024 </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年，上海某央企子公司单位，接收到国家安全部门通报，单位某处摄像头监控画面被泄露到外网，引起国家安全部门高度重视，对应企业相关人员连夜摸排，最终确认为下属单位部署的监控系统存在越权漏洞，被境外黑客利用，控制摄像头监控画面传输到外网，涉嫌泄露机密信息，经过大量的调查分析，摸排自监控系统上线以来的所有监控画面，确认没有拍到敏感信息画面，才得以平息</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事态。</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indent="0" algn="l">
                        <a:lnSpc>
                          <a:spcPct val="150000"/>
                        </a:lnSpc>
                        <a:buClrTx/>
                        <a:buSzTx/>
                        <a:buFont typeface="+mj-lt"/>
                        <a:buNone/>
                      </a:pP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事件影响：该企业被国家安全部门严肃通告，未履行好企业信息安全保护基本职责，一旦被境外势力利用，单位负责人将涉嫌泄露国家机密信息、危害国家安全</a:t>
                      </a:r>
                      <a:r>
                        <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rPr>
                        <a:t>罪</a:t>
                      </a:r>
                      <a:endParaRPr lang="zh-CN" altLang="en-US" sz="12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3">
                        <a:lumMod val="20000"/>
                        <a:lumOff val="80000"/>
                      </a:schemeClr>
                    </a:solidFill>
                  </a:tcPr>
                </a:tc>
              </a:tr>
            </a:tbl>
          </a:graphicData>
        </a:graphic>
      </p:graphicFrame>
      <p:sp>
        <p:nvSpPr>
          <p:cNvPr id="3" name="文本框 2"/>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选择跟保护核心业务相关，并且跟用户共同协作完成处置的典型风险</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预防样例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7886065" cy="327025"/>
            <a:chOff x="533" y="646"/>
            <a:chExt cx="1241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降低通报影响，避免追责</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sp>
          <p:nvSpPr>
            <p:cNvPr id="4" name="textbox 158"/>
            <p:cNvSpPr/>
            <p:nvPr/>
          </p:nvSpPr>
          <p:spPr>
            <a:xfrm>
              <a:off x="7272" y="715"/>
              <a:ext cx="568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漏洞主动发现和修复，恶意外联实时监测</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阻断</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93" name="圆角矩形 692"/>
          <p:cNvSpPr/>
          <p:nvPr>
            <p:custDataLst>
              <p:tags r:id="rId4"/>
            </p:custDataLst>
          </p:nvPr>
        </p:nvSpPr>
        <p:spPr>
          <a:xfrm>
            <a:off x="739775" y="1416050"/>
            <a:ext cx="10848340" cy="671830"/>
          </a:xfrm>
          <a:prstGeom prst="roundRect">
            <a:avLst/>
          </a:prstGeom>
          <a:solidFill>
            <a:schemeClr val="accent5">
              <a:lumMod val="40000"/>
              <a:lumOff val="60000"/>
            </a:schemeClr>
          </a:solidFill>
          <a:ln>
            <a:noFill/>
          </a:ln>
          <a:effectLst>
            <a:outerShdw blurRad="114300" dist="88900" dir="2700000" algn="tl"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lnSpc>
                <a:spcPct val="140000"/>
              </a:lnSpc>
            </a:pPr>
            <a:r>
              <a:rPr lang="zh-CN" altLang="en-US" sz="1400" b="1">
                <a:solidFill>
                  <a:schemeClr val="tx1"/>
                </a:solidFill>
                <a:uFillTx/>
                <a:latin typeface="Arial" panose="020B0604020202020204" pitchFamily="34" charset="0"/>
                <a:ea typeface="黑体-简" panose="02000000000000000000" charset="-122"/>
              </a:rPr>
              <a:t>安全通报从去年的</a:t>
            </a:r>
            <a:r>
              <a:rPr lang="en-US" altLang="zh-CN" sz="1400" b="1">
                <a:solidFill>
                  <a:srgbClr val="4C61E7"/>
                </a:solidFill>
                <a:uFillTx/>
                <a:latin typeface="Arial" panose="020B0604020202020204" pitchFamily="34" charset="0"/>
                <a:ea typeface="黑体-简" panose="02000000000000000000" charset="-122"/>
              </a:rPr>
              <a:t>{{previous_service_period_reported_count}}</a:t>
            </a:r>
            <a:r>
              <a:rPr lang="zh-CN" altLang="en-US" sz="1400" b="1">
                <a:solidFill>
                  <a:schemeClr val="tx1"/>
                </a:solidFill>
                <a:uFillTx/>
                <a:latin typeface="Arial" panose="020B0604020202020204" pitchFamily="34" charset="0"/>
                <a:ea typeface="黑体-简" panose="02000000000000000000" charset="-122"/>
                <a:sym typeface="+mn-ea"/>
              </a:rPr>
              <a:t>次</a:t>
            </a:r>
            <a:r>
              <a:rPr lang="zh-CN" altLang="en-US" sz="1400" b="1">
                <a:solidFill>
                  <a:schemeClr val="tx1"/>
                </a:solidFill>
                <a:uFillTx/>
                <a:latin typeface="Arial" panose="020B0604020202020204" pitchFamily="34" charset="0"/>
                <a:ea typeface="黑体-简" panose="02000000000000000000" charset="-122"/>
              </a:rPr>
              <a:t>降低为</a:t>
            </a:r>
            <a:r>
              <a:rPr lang="en-US" altLang="zh-CN" sz="1400" b="1">
                <a:solidFill>
                  <a:srgbClr val="4C61E7"/>
                </a:solidFill>
                <a:uFillTx/>
                <a:latin typeface="Arial" panose="020B0604020202020204" pitchFamily="34" charset="0"/>
                <a:ea typeface="黑体-简" panose="02000000000000000000" charset="-122"/>
                <a:sym typeface="+mn-ea"/>
              </a:rPr>
              <a:t>{{reported_count}}</a:t>
            </a:r>
            <a:r>
              <a:rPr lang="zh-CN" altLang="en-US" sz="1400" b="1">
                <a:solidFill>
                  <a:schemeClr val="tx1"/>
                </a:solidFill>
                <a:uFillTx/>
                <a:latin typeface="Arial" panose="020B0604020202020204" pitchFamily="34" charset="0"/>
                <a:ea typeface="黑体-简" panose="02000000000000000000" charset="-122"/>
              </a:rPr>
              <a:t>次。通过快速溯源与闭环整改，结合专业书面回函，彻底消除了被追责处罚的风险，保障了单位年度考核与评优不受安全问题影响。</a:t>
            </a:r>
            <a:endParaRPr lang="zh-CN" altLang="en-US" sz="1400" b="1">
              <a:solidFill>
                <a:schemeClr val="tx1"/>
              </a:solidFill>
              <a:uFillTx/>
              <a:latin typeface="Arial" panose="020B0604020202020204" pitchFamily="34" charset="0"/>
              <a:ea typeface="黑体-简" panose="02000000000000000000" charset="-122"/>
            </a:endParaRPr>
          </a:p>
        </p:txBody>
      </p:sp>
      <p:pic>
        <p:nvPicPr>
          <p:cNvPr id="696" name="图片 695" descr="盾牌"/>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a:stretch>
            <a:fillRect/>
          </a:stretch>
        </p:blipFill>
        <p:spPr>
          <a:xfrm>
            <a:off x="1971815" y="2577539"/>
            <a:ext cx="395605" cy="396194"/>
          </a:xfrm>
          <a:prstGeom prst="rect">
            <a:avLst/>
          </a:prstGeom>
          <a:effectLst>
            <a:outerShdw blurRad="127000" dist="63500" dir="5400000" algn="t" rotWithShape="0">
              <a:schemeClr val="accent5">
                <a:lumMod val="75000"/>
                <a:alpha val="10000"/>
              </a:schemeClr>
            </a:outerShdw>
          </a:effectLst>
        </p:spPr>
      </p:pic>
      <p:pic>
        <p:nvPicPr>
          <p:cNvPr id="697" name="图片 696" descr="维修"/>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rcRect/>
          <a:stretch>
            <a:fillRect/>
          </a:stretch>
        </p:blipFill>
        <p:spPr>
          <a:xfrm>
            <a:off x="5939812" y="2595931"/>
            <a:ext cx="359368" cy="358775"/>
          </a:xfrm>
          <a:prstGeom prst="rect">
            <a:avLst/>
          </a:prstGeom>
          <a:effectLst>
            <a:outerShdw blurRad="127000" dist="63500" dir="5400000" algn="t" rotWithShape="0">
              <a:schemeClr val="accent6">
                <a:lumMod val="75000"/>
                <a:alpha val="10000"/>
              </a:schemeClr>
            </a:outerShdw>
          </a:effectLst>
        </p:spPr>
      </p:pic>
      <p:sp>
        <p:nvSpPr>
          <p:cNvPr id="698" name="圆角矩形 697"/>
          <p:cNvSpPr/>
          <p:nvPr>
            <p:custDataLst>
              <p:tags r:id="rId11"/>
            </p:custDataLst>
          </p:nvPr>
        </p:nvSpPr>
        <p:spPr>
          <a:xfrm>
            <a:off x="639445"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144145" rIns="144145" rtlCol="0" anchor="t" anchorCtr="0"/>
          <a:lstStyle/>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、提供外联恶意地址库及时更新；</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、保持边界和端点安全防护组件策略及时更新，保障恶意外联的检出和拦截有效性；</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indent="0" algn="l" fontAlgn="auto">
              <a:lnSpc>
                <a:spcPct val="140000"/>
              </a:lnSpc>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7*24</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小时全天候监测，精准识别并成功阻断</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{{malicious_external_connection_count}}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次非法外联尝试，实现恶意外联通报</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零发生</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699" name="圆角矩形 698"/>
          <p:cNvSpPr/>
          <p:nvPr>
            <p:custDataLst>
              <p:tags r:id="rId12"/>
            </p:custDataLst>
          </p:nvPr>
        </p:nvSpPr>
        <p:spPr>
          <a:xfrm>
            <a:off x="4599940" y="3527425"/>
            <a:ext cx="3059430" cy="2667635"/>
          </a:xfrm>
          <a:prstGeom prst="roundRect">
            <a:avLst>
              <a:gd name="adj" fmla="val 7624"/>
            </a:avLst>
          </a:prstGeom>
          <a:solidFill>
            <a:schemeClr val="accent6">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、总共执行</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{{vulnerability_scan_count}}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次漏洞扫描与优先级分析，输出差异化加固建议；</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、针对老旧系统，通过联动下一代防火墙的防护规则或者访问控制策略实现了有效保护；</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3</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、业务侧配合修复了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{{fixed_vulnerability_count}}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个漏洞，安全策略有效防护了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{{protected_vulnerability_count}}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个漏洞，大幅降低了漏洞被通报的风险。</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0" name="圆角矩形 699"/>
          <p:cNvSpPr/>
          <p:nvPr>
            <p:custDataLst>
              <p:tags r:id="rId13"/>
            </p:custDataLst>
          </p:nvPr>
        </p:nvSpPr>
        <p:spPr>
          <a:xfrm>
            <a:off x="8561070" y="3527425"/>
            <a:ext cx="3059430" cy="2667635"/>
          </a:xfrm>
          <a:prstGeom prst="roundRect">
            <a:avLst>
              <a:gd name="adj" fmla="val 7624"/>
            </a:avLst>
          </a:prstGeom>
          <a:solidFill>
            <a:schemeClr val="accent5">
              <a:lumMod val="40000"/>
              <a:lumOff val="60000"/>
              <a:alpha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44145" rIns="144145" numCol="1" spcCol="0" rtlCol="0" fromWordArt="0" anchor="t" anchorCtr="0" forceAA="0" compatLnSpc="1">
            <a:noAutofit/>
          </a:bodyPr>
          <a:lstStyle/>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1</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、构建</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接收</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溯源</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处置</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回函</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归档</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的全链路标准作业程序（</a:t>
            </a: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SOP</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），确保即便面对突发情况也能极速响应，完全满足监管回函时效与质量要求。</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a:p>
            <a:pPr lvl="0" algn="l">
              <a:lnSpc>
                <a:spcPct val="140000"/>
              </a:lnSpc>
              <a:buClrTx/>
              <a:buSzTx/>
              <a:buFontTx/>
            </a:pPr>
            <a:r>
              <a:rPr lang="en-US" altLang="zh-CN"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2</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、通过双方通力配合，高质量的处理了</a:t>
            </a:r>
            <a:r>
              <a:rPr lang="en-US" altLang="zh-CN" sz="1200" kern="0" dirty="0">
                <a:ln>
                  <a:noFill/>
                  <a:prstDash val="sysDot"/>
                </a:ln>
                <a:solidFill>
                  <a:srgbClr val="4C61E7"/>
                </a:solidFill>
                <a:latin typeface="Arial" panose="020B0604020202020204" pitchFamily="34" charset="0"/>
                <a:ea typeface="黑体-简" panose="02000000000000000000" charset="-122"/>
                <a:sym typeface="+mn-ea"/>
              </a:rPr>
              <a:t>{{reported_count}}</a:t>
            </a:r>
            <a:r>
              <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rPr>
              <a:t>次通报问题排查与回函</a:t>
            </a:r>
            <a:endParaRPr lang="zh-CN" altLang="en-US" sz="1200" kern="0" dirty="0">
              <a:ln>
                <a:noFill/>
                <a:prstDash val="sysDot"/>
              </a:ln>
              <a:solidFill>
                <a:schemeClr val="tx1">
                  <a:lumMod val="85000"/>
                  <a:lumOff val="15000"/>
                </a:schemeClr>
              </a:solidFill>
              <a:latin typeface="Arial" panose="020B0604020202020204" pitchFamily="34" charset="0"/>
              <a:ea typeface="黑体-简" panose="02000000000000000000" charset="-122"/>
              <a:sym typeface="+mn-ea"/>
            </a:endParaRPr>
          </a:p>
        </p:txBody>
      </p:sp>
      <p:sp>
        <p:nvSpPr>
          <p:cNvPr id="701" name="文本框 700"/>
          <p:cNvSpPr txBox="1"/>
          <p:nvPr>
            <p:custDataLst>
              <p:tags r:id="rId14"/>
            </p:custDataLst>
          </p:nvPr>
        </p:nvSpPr>
        <p:spPr>
          <a:xfrm>
            <a:off x="611505"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非法外联行为识别与阻断</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sp>
        <p:nvSpPr>
          <p:cNvPr id="702" name="文本框 701"/>
          <p:cNvSpPr txBox="1"/>
          <p:nvPr>
            <p:custDataLst>
              <p:tags r:id="rId15"/>
            </p:custDataLst>
          </p:nvPr>
        </p:nvSpPr>
        <p:spPr>
          <a:xfrm>
            <a:off x="4572177"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6">
                    <a:lumMod val="75000"/>
                  </a:schemeClr>
                </a:solidFill>
                <a:latin typeface="Arial Black" panose="020B0A04020102020204" pitchFamily="34" charset="0"/>
                <a:ea typeface="微软雅黑" panose="020B0503020204020204" charset="-122"/>
                <a:sym typeface="+mn-ea"/>
              </a:rPr>
              <a:t>高危漏洞识别与修复</a:t>
            </a:r>
            <a:endParaRPr lang="zh-CN" altLang="en-US" sz="1200" b="1">
              <a:solidFill>
                <a:schemeClr val="accent6">
                  <a:lumMod val="75000"/>
                </a:schemeClr>
              </a:solidFill>
              <a:latin typeface="Arial Black" panose="020B0A04020102020204" pitchFamily="34" charset="0"/>
              <a:ea typeface="微软雅黑" panose="020B0503020204020204" charset="-122"/>
              <a:sym typeface="+mn-ea"/>
            </a:endParaRPr>
          </a:p>
        </p:txBody>
      </p:sp>
      <p:sp>
        <p:nvSpPr>
          <p:cNvPr id="703" name="文本框 702"/>
          <p:cNvSpPr txBox="1"/>
          <p:nvPr>
            <p:custDataLst>
              <p:tags r:id="rId16"/>
            </p:custDataLst>
          </p:nvPr>
        </p:nvSpPr>
        <p:spPr>
          <a:xfrm>
            <a:off x="8532849" y="3056256"/>
            <a:ext cx="3055267" cy="388575"/>
          </a:xfrm>
          <a:prstGeom prst="rect">
            <a:avLst/>
          </a:prstGeom>
          <a:noFill/>
        </p:spPr>
        <p:txBody>
          <a:bodyPr wrap="square" lIns="0" tIns="0" rIns="0" bIns="0" rtlCol="0" anchor="ctr" anchorCtr="0">
            <a:noAutofit/>
          </a:bodyPr>
          <a:lstStyle/>
          <a:p>
            <a:pPr algn="ctr"/>
            <a:r>
              <a:rPr lang="zh-CN" altLang="en-US" sz="1200" b="1">
                <a:solidFill>
                  <a:schemeClr val="accent5">
                    <a:lumMod val="75000"/>
                  </a:schemeClr>
                </a:solidFill>
                <a:latin typeface="Arial Black" panose="020B0A04020102020204" pitchFamily="34" charset="0"/>
                <a:ea typeface="微软雅黑" panose="020B0503020204020204" charset="-122"/>
                <a:sym typeface="+mn-ea"/>
              </a:rPr>
              <a:t>通报问题高效应对</a:t>
            </a:r>
            <a:endParaRPr lang="zh-CN" altLang="en-US" sz="1200" b="1">
              <a:solidFill>
                <a:schemeClr val="accent5">
                  <a:lumMod val="75000"/>
                </a:schemeClr>
              </a:solidFill>
              <a:latin typeface="Arial Black" panose="020B0A04020102020204" pitchFamily="34" charset="0"/>
              <a:ea typeface="微软雅黑" panose="020B0503020204020204" charset="-122"/>
              <a:sym typeface="+mn-ea"/>
            </a:endParaRPr>
          </a:p>
        </p:txBody>
      </p:sp>
      <p:pic>
        <p:nvPicPr>
          <p:cNvPr id="704" name="图片 703" descr="职业资格"/>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rcRect/>
          <a:stretch>
            <a:fillRect/>
          </a:stretch>
        </p:blipFill>
        <p:spPr>
          <a:xfrm>
            <a:off x="9892865" y="2578151"/>
            <a:ext cx="395559" cy="394970"/>
          </a:xfrm>
          <a:prstGeom prst="rect">
            <a:avLst/>
          </a:prstGeom>
          <a:effectLst>
            <a:outerShdw blurRad="127000" dist="63500" dir="5400000" algn="t" rotWithShape="0">
              <a:schemeClr val="accent5">
                <a:lumMod val="75000"/>
                <a:alpha val="10000"/>
              </a:schemeClr>
            </a:outerShdw>
          </a:effectLst>
        </p:spPr>
      </p:pic>
    </p:spTree>
    <p:custDataLst>
      <p:tags r:id="rId20"/>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rot="0">
            <a:off x="224790" y="306705"/>
            <a:ext cx="369570" cy="26670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5"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16"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核心</a:t>
            </a:r>
            <a:r>
              <a:rPr 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工作目标</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2</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：重要时期</a:t>
            </a:r>
            <a:r>
              <a:rPr lang="en-US" altLang="zh-CN"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0</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重大事件</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pic>
        <p:nvPicPr>
          <p:cNvPr id="63" name="图片 62"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1" name="圆角矩形 20"/>
          <p:cNvSpPr/>
          <p:nvPr>
            <p:custDataLst>
              <p:tags r:id="rId4"/>
            </p:custDataLst>
          </p:nvPr>
        </p:nvSpPr>
        <p:spPr>
          <a:xfrm>
            <a:off x="3646631" y="3170405"/>
            <a:ext cx="2349039" cy="385681"/>
          </a:xfrm>
          <a:prstGeom prst="roundRect">
            <a:avLst/>
          </a:prstGeom>
          <a:solidFill>
            <a:schemeClr val="tx1">
              <a:lumMod val="21000"/>
              <a:lumOff val="79000"/>
              <a:alpha val="2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20000"/>
          </a:bodyPr>
          <a:lstStyle/>
          <a:p>
            <a:pPr algn="ctr"/>
            <a:endParaRPr lang="zh-CN" altLang="en-US">
              <a:solidFill>
                <a:schemeClr val="lt1"/>
              </a:solidFill>
            </a:endParaRPr>
          </a:p>
        </p:txBody>
      </p:sp>
      <p:sp>
        <p:nvSpPr>
          <p:cNvPr id="22" name="圆角矩形 21"/>
          <p:cNvSpPr/>
          <p:nvPr>
            <p:custDataLst>
              <p:tags r:id="rId5"/>
            </p:custDataLst>
          </p:nvPr>
        </p:nvSpPr>
        <p:spPr>
          <a:xfrm>
            <a:off x="3646631" y="3645903"/>
            <a:ext cx="2349039" cy="385681"/>
          </a:xfrm>
          <a:prstGeom prst="roundRect">
            <a:avLst/>
          </a:prstGeom>
          <a:solidFill>
            <a:schemeClr val="tx1">
              <a:lumMod val="21000"/>
              <a:lumOff val="79000"/>
              <a:alpha val="2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20000"/>
          </a:bodyPr>
          <a:lstStyle/>
          <a:p>
            <a:pPr algn="ctr"/>
            <a:endParaRPr lang="zh-CN" altLang="en-US">
              <a:solidFill>
                <a:schemeClr val="lt1"/>
              </a:solidFill>
            </a:endParaRPr>
          </a:p>
        </p:txBody>
      </p:sp>
      <p:sp>
        <p:nvSpPr>
          <p:cNvPr id="26" name="圆角矩形 25"/>
          <p:cNvSpPr/>
          <p:nvPr>
            <p:custDataLst>
              <p:tags r:id="rId6"/>
            </p:custDataLst>
          </p:nvPr>
        </p:nvSpPr>
        <p:spPr>
          <a:xfrm>
            <a:off x="3646631" y="4121400"/>
            <a:ext cx="2349039" cy="385681"/>
          </a:xfrm>
          <a:prstGeom prst="roundRect">
            <a:avLst/>
          </a:prstGeom>
          <a:solidFill>
            <a:schemeClr val="tx1">
              <a:lumMod val="21000"/>
              <a:lumOff val="79000"/>
              <a:alpha val="2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20000"/>
          </a:bodyPr>
          <a:lstStyle/>
          <a:p>
            <a:pPr algn="ctr"/>
            <a:endParaRPr lang="zh-CN" altLang="en-US">
              <a:solidFill>
                <a:schemeClr val="lt1"/>
              </a:solidFill>
            </a:endParaRPr>
          </a:p>
        </p:txBody>
      </p:sp>
      <p:sp>
        <p:nvSpPr>
          <p:cNvPr id="36" name="圆角矩形 35"/>
          <p:cNvSpPr/>
          <p:nvPr>
            <p:custDataLst>
              <p:tags r:id="rId7"/>
            </p:custDataLst>
          </p:nvPr>
        </p:nvSpPr>
        <p:spPr>
          <a:xfrm>
            <a:off x="3646631" y="4596491"/>
            <a:ext cx="2349039" cy="385681"/>
          </a:xfrm>
          <a:prstGeom prst="roundRect">
            <a:avLst/>
          </a:prstGeom>
          <a:solidFill>
            <a:schemeClr val="tx1">
              <a:lumMod val="21000"/>
              <a:lumOff val="79000"/>
              <a:alpha val="2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20000"/>
          </a:bodyPr>
          <a:lstStyle/>
          <a:p>
            <a:pPr algn="ctr"/>
            <a:endParaRPr lang="zh-CN" altLang="en-US">
              <a:solidFill>
                <a:schemeClr val="lt1"/>
              </a:solidFill>
            </a:endParaRPr>
          </a:p>
        </p:txBody>
      </p:sp>
      <p:sp>
        <p:nvSpPr>
          <p:cNvPr id="23" name="圆角矩形 22"/>
          <p:cNvSpPr/>
          <p:nvPr>
            <p:custDataLst>
              <p:tags r:id="rId8"/>
            </p:custDataLst>
          </p:nvPr>
        </p:nvSpPr>
        <p:spPr>
          <a:xfrm>
            <a:off x="3646631" y="5072395"/>
            <a:ext cx="2349039" cy="385681"/>
          </a:xfrm>
          <a:prstGeom prst="roundRect">
            <a:avLst/>
          </a:prstGeom>
          <a:solidFill>
            <a:schemeClr val="tx1">
              <a:lumMod val="21000"/>
              <a:lumOff val="79000"/>
              <a:alpha val="26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20000"/>
          </a:bodyPr>
          <a:lstStyle/>
          <a:p>
            <a:pPr algn="ctr"/>
            <a:endParaRPr lang="zh-CN" altLang="en-US">
              <a:solidFill>
                <a:schemeClr val="lt1"/>
              </a:solidFill>
            </a:endParaRPr>
          </a:p>
        </p:txBody>
      </p:sp>
      <p:sp>
        <p:nvSpPr>
          <p:cNvPr id="24" name="椭圆 23"/>
          <p:cNvSpPr/>
          <p:nvPr>
            <p:custDataLst>
              <p:tags r:id="rId9"/>
            </p:custDataLst>
          </p:nvPr>
        </p:nvSpPr>
        <p:spPr>
          <a:xfrm>
            <a:off x="3601113" y="3317119"/>
            <a:ext cx="92255" cy="92255"/>
          </a:xfrm>
          <a:prstGeom prst="ellipse">
            <a:avLst/>
          </a:prstGeom>
          <a:gradFill>
            <a:gsLst>
              <a:gs pos="100000">
                <a:schemeClr val="accent5">
                  <a:alpha val="60000"/>
                </a:schemeClr>
              </a:gs>
              <a:gs pos="0">
                <a:schemeClr val="accent5">
                  <a:alpha val="100000"/>
                </a:schemeClr>
              </a:gs>
            </a:gsLst>
            <a:lin ang="5400000" scaled="0"/>
          </a:gradFill>
          <a:ln>
            <a:noFill/>
          </a:ln>
          <a:effectLst>
            <a:outerShdw blurRad="50800" dist="25400" dir="2700000" algn="tl" rotWithShape="0">
              <a:schemeClr val="accent5">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solidFill>
                <a:schemeClr val="lt1"/>
              </a:solidFill>
            </a:endParaRPr>
          </a:p>
        </p:txBody>
      </p:sp>
      <p:sp>
        <p:nvSpPr>
          <p:cNvPr id="25" name="椭圆 24"/>
          <p:cNvSpPr/>
          <p:nvPr>
            <p:custDataLst>
              <p:tags r:id="rId10"/>
            </p:custDataLst>
          </p:nvPr>
        </p:nvSpPr>
        <p:spPr>
          <a:xfrm>
            <a:off x="3601113" y="3792616"/>
            <a:ext cx="92255" cy="92255"/>
          </a:xfrm>
          <a:prstGeom prst="ellipse">
            <a:avLst/>
          </a:prstGeom>
          <a:gradFill>
            <a:gsLst>
              <a:gs pos="100000">
                <a:schemeClr val="accent6">
                  <a:alpha val="60000"/>
                </a:schemeClr>
              </a:gs>
              <a:gs pos="0">
                <a:schemeClr val="accent6">
                  <a:alpha val="100000"/>
                </a:schemeClr>
              </a:gs>
            </a:gsLst>
            <a:lin ang="5400000" scaled="0"/>
          </a:gradFill>
          <a:ln>
            <a:noFill/>
          </a:ln>
          <a:effectLst>
            <a:outerShdw blurRad="50800" dist="25400" dir="2700000" algn="tl" rotWithShape="0">
              <a:schemeClr val="accent6">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solidFill>
                <a:schemeClr val="lt1"/>
              </a:solidFill>
            </a:endParaRPr>
          </a:p>
        </p:txBody>
      </p:sp>
      <p:sp>
        <p:nvSpPr>
          <p:cNvPr id="27" name="椭圆 26"/>
          <p:cNvSpPr/>
          <p:nvPr>
            <p:custDataLst>
              <p:tags r:id="rId11"/>
            </p:custDataLst>
          </p:nvPr>
        </p:nvSpPr>
        <p:spPr>
          <a:xfrm>
            <a:off x="3601113" y="4268114"/>
            <a:ext cx="92255" cy="92255"/>
          </a:xfrm>
          <a:prstGeom prst="ellipse">
            <a:avLst/>
          </a:prstGeom>
          <a:gradFill>
            <a:gsLst>
              <a:gs pos="100000">
                <a:schemeClr val="accent5">
                  <a:alpha val="60000"/>
                </a:schemeClr>
              </a:gs>
              <a:gs pos="0">
                <a:schemeClr val="accent5">
                  <a:alpha val="100000"/>
                </a:schemeClr>
              </a:gs>
            </a:gsLst>
            <a:lin ang="5400000" scaled="0"/>
          </a:gradFill>
          <a:ln>
            <a:noFill/>
          </a:ln>
          <a:effectLst>
            <a:outerShdw blurRad="50800" dist="25400" dir="2700000" algn="tl" rotWithShape="0">
              <a:schemeClr val="accent5">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solidFill>
                <a:schemeClr val="lt1"/>
              </a:solidFill>
            </a:endParaRPr>
          </a:p>
        </p:txBody>
      </p:sp>
      <p:sp>
        <p:nvSpPr>
          <p:cNvPr id="28" name="椭圆 27"/>
          <p:cNvSpPr/>
          <p:nvPr>
            <p:custDataLst>
              <p:tags r:id="rId12"/>
            </p:custDataLst>
          </p:nvPr>
        </p:nvSpPr>
        <p:spPr>
          <a:xfrm>
            <a:off x="3601113" y="4743205"/>
            <a:ext cx="92255" cy="92255"/>
          </a:xfrm>
          <a:prstGeom prst="ellipse">
            <a:avLst/>
          </a:prstGeom>
          <a:gradFill>
            <a:gsLst>
              <a:gs pos="100000">
                <a:schemeClr val="accent6">
                  <a:alpha val="60000"/>
                </a:schemeClr>
              </a:gs>
              <a:gs pos="0">
                <a:schemeClr val="accent6">
                  <a:alpha val="100000"/>
                </a:schemeClr>
              </a:gs>
            </a:gsLst>
            <a:lin ang="5400000" scaled="0"/>
          </a:gradFill>
          <a:ln>
            <a:noFill/>
          </a:ln>
          <a:effectLst>
            <a:outerShdw blurRad="50800" dist="25400" dir="2700000" algn="tl" rotWithShape="0">
              <a:schemeClr val="accent6">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solidFill>
                <a:schemeClr val="lt1"/>
              </a:solidFill>
            </a:endParaRPr>
          </a:p>
        </p:txBody>
      </p:sp>
      <p:sp>
        <p:nvSpPr>
          <p:cNvPr id="29" name="椭圆 28"/>
          <p:cNvSpPr/>
          <p:nvPr>
            <p:custDataLst>
              <p:tags r:id="rId13"/>
            </p:custDataLst>
          </p:nvPr>
        </p:nvSpPr>
        <p:spPr>
          <a:xfrm>
            <a:off x="3601113" y="5219108"/>
            <a:ext cx="92255" cy="92255"/>
          </a:xfrm>
          <a:prstGeom prst="ellipse">
            <a:avLst/>
          </a:prstGeom>
          <a:gradFill>
            <a:gsLst>
              <a:gs pos="100000">
                <a:schemeClr val="accent5">
                  <a:alpha val="60000"/>
                </a:schemeClr>
              </a:gs>
              <a:gs pos="0">
                <a:schemeClr val="accent5">
                  <a:alpha val="100000"/>
                </a:schemeClr>
              </a:gs>
            </a:gsLst>
            <a:lin ang="5400000" scaled="0"/>
          </a:gradFill>
          <a:ln>
            <a:noFill/>
          </a:ln>
          <a:effectLst>
            <a:outerShdw blurRad="50800" dist="25400" dir="2700000" algn="tl" rotWithShape="0">
              <a:schemeClr val="accent5">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solidFill>
                <a:schemeClr val="lt1"/>
              </a:solidFill>
            </a:endParaRPr>
          </a:p>
        </p:txBody>
      </p:sp>
      <p:sp>
        <p:nvSpPr>
          <p:cNvPr id="34" name="矩形 33"/>
          <p:cNvSpPr/>
          <p:nvPr>
            <p:custDataLst>
              <p:tags r:id="rId14"/>
            </p:custDataLst>
          </p:nvPr>
        </p:nvSpPr>
        <p:spPr>
          <a:xfrm>
            <a:off x="3761644" y="3240308"/>
            <a:ext cx="281640" cy="245877"/>
          </a:xfrm>
          <a:prstGeom prst="rect">
            <a:avLst/>
          </a:prstGeom>
          <a:noFill/>
        </p:spPr>
        <p:txBody>
          <a:bodyPr wrap="none" lIns="0" tIns="0" rIns="0" bIns="0" rtlCol="0" anchor="ctr">
            <a:normAutofit fontScale="90000"/>
          </a:bodyPr>
          <a:lstStyle/>
          <a:p>
            <a:pPr algn="ctr">
              <a:spcBef>
                <a:spcPct val="0"/>
              </a:spcBef>
              <a:spcAft>
                <a:spcPct val="0"/>
              </a:spcAft>
            </a:pPr>
            <a:r>
              <a:rPr lang="en-US" altLang="zh-CN" b="1" dirty="0">
                <a:solidFill>
                  <a:schemeClr val="accent5"/>
                </a:solidFill>
                <a:latin typeface="+mn-ea"/>
                <a:cs typeface="+mn-ea"/>
              </a:rPr>
              <a:t>01</a:t>
            </a:r>
            <a:endParaRPr lang="en-US" altLang="zh-CN" b="1" dirty="0">
              <a:solidFill>
                <a:schemeClr val="accent5"/>
              </a:solidFill>
              <a:latin typeface="+mn-ea"/>
              <a:cs typeface="+mn-ea"/>
            </a:endParaRPr>
          </a:p>
        </p:txBody>
      </p:sp>
      <p:sp>
        <p:nvSpPr>
          <p:cNvPr id="35" name="矩形 34"/>
          <p:cNvSpPr/>
          <p:nvPr>
            <p:custDataLst>
              <p:tags r:id="rId15"/>
            </p:custDataLst>
          </p:nvPr>
        </p:nvSpPr>
        <p:spPr>
          <a:xfrm>
            <a:off x="3761644" y="3715805"/>
            <a:ext cx="281640" cy="245877"/>
          </a:xfrm>
          <a:prstGeom prst="rect">
            <a:avLst/>
          </a:prstGeom>
          <a:noFill/>
        </p:spPr>
        <p:txBody>
          <a:bodyPr wrap="none" lIns="0" tIns="0" rIns="0" bIns="0" rtlCol="0" anchor="ctr">
            <a:normAutofit fontScale="90000"/>
          </a:bodyPr>
          <a:lstStyle/>
          <a:p>
            <a:pPr algn="ctr">
              <a:spcBef>
                <a:spcPct val="0"/>
              </a:spcBef>
              <a:spcAft>
                <a:spcPct val="0"/>
              </a:spcAft>
            </a:pPr>
            <a:r>
              <a:rPr lang="en-US" altLang="zh-CN" b="1">
                <a:solidFill>
                  <a:schemeClr val="accent6"/>
                </a:solidFill>
                <a:latin typeface="+mn-ea"/>
                <a:cs typeface="+mn-ea"/>
              </a:rPr>
              <a:t>02</a:t>
            </a:r>
            <a:endParaRPr lang="en-US" altLang="zh-CN" b="1">
              <a:solidFill>
                <a:schemeClr val="accent6"/>
              </a:solidFill>
              <a:latin typeface="+mn-ea"/>
              <a:cs typeface="+mn-ea"/>
            </a:endParaRPr>
          </a:p>
        </p:txBody>
      </p:sp>
      <p:sp>
        <p:nvSpPr>
          <p:cNvPr id="37" name="矩形 36"/>
          <p:cNvSpPr/>
          <p:nvPr>
            <p:custDataLst>
              <p:tags r:id="rId16"/>
            </p:custDataLst>
          </p:nvPr>
        </p:nvSpPr>
        <p:spPr>
          <a:xfrm>
            <a:off x="3761644" y="4191302"/>
            <a:ext cx="281640" cy="245877"/>
          </a:xfrm>
          <a:prstGeom prst="rect">
            <a:avLst/>
          </a:prstGeom>
          <a:noFill/>
        </p:spPr>
        <p:txBody>
          <a:bodyPr wrap="none" lIns="0" tIns="0" rIns="0" bIns="0" rtlCol="0" anchor="ctr">
            <a:normAutofit fontScale="90000"/>
          </a:bodyPr>
          <a:lstStyle/>
          <a:p>
            <a:pPr algn="ctr">
              <a:spcBef>
                <a:spcPct val="0"/>
              </a:spcBef>
              <a:spcAft>
                <a:spcPct val="0"/>
              </a:spcAft>
            </a:pPr>
            <a:r>
              <a:rPr lang="en-US" altLang="zh-CN" b="1" dirty="0">
                <a:solidFill>
                  <a:schemeClr val="accent5"/>
                </a:solidFill>
                <a:latin typeface="+mn-ea"/>
                <a:cs typeface="+mn-ea"/>
              </a:rPr>
              <a:t>03</a:t>
            </a:r>
            <a:endParaRPr lang="en-US" altLang="zh-CN" b="1" dirty="0">
              <a:solidFill>
                <a:schemeClr val="accent5"/>
              </a:solidFill>
              <a:latin typeface="+mn-ea"/>
              <a:cs typeface="+mn-ea"/>
            </a:endParaRPr>
          </a:p>
        </p:txBody>
      </p:sp>
      <p:sp>
        <p:nvSpPr>
          <p:cNvPr id="38" name="矩形 37"/>
          <p:cNvSpPr/>
          <p:nvPr>
            <p:custDataLst>
              <p:tags r:id="rId17"/>
            </p:custDataLst>
          </p:nvPr>
        </p:nvSpPr>
        <p:spPr>
          <a:xfrm>
            <a:off x="3761644" y="4666393"/>
            <a:ext cx="281640" cy="245877"/>
          </a:xfrm>
          <a:prstGeom prst="rect">
            <a:avLst/>
          </a:prstGeom>
          <a:noFill/>
        </p:spPr>
        <p:txBody>
          <a:bodyPr wrap="none" lIns="0" tIns="0" rIns="0" bIns="0" rtlCol="0" anchor="ctr">
            <a:normAutofit fontScale="90000"/>
          </a:bodyPr>
          <a:lstStyle/>
          <a:p>
            <a:pPr algn="ctr">
              <a:spcBef>
                <a:spcPct val="0"/>
              </a:spcBef>
              <a:spcAft>
                <a:spcPct val="0"/>
              </a:spcAft>
            </a:pPr>
            <a:r>
              <a:rPr lang="en-US" altLang="zh-CN" b="1" dirty="0">
                <a:solidFill>
                  <a:schemeClr val="accent6"/>
                </a:solidFill>
                <a:latin typeface="+mn-ea"/>
                <a:cs typeface="+mn-ea"/>
              </a:rPr>
              <a:t>04</a:t>
            </a:r>
            <a:endParaRPr lang="en-US" altLang="zh-CN" b="1" dirty="0">
              <a:solidFill>
                <a:schemeClr val="accent6"/>
              </a:solidFill>
              <a:latin typeface="+mn-ea"/>
              <a:cs typeface="+mn-ea"/>
            </a:endParaRPr>
          </a:p>
        </p:txBody>
      </p:sp>
      <p:sp>
        <p:nvSpPr>
          <p:cNvPr id="42" name="矩形 41"/>
          <p:cNvSpPr/>
          <p:nvPr>
            <p:custDataLst>
              <p:tags r:id="rId18"/>
            </p:custDataLst>
          </p:nvPr>
        </p:nvSpPr>
        <p:spPr>
          <a:xfrm>
            <a:off x="3761644" y="5142297"/>
            <a:ext cx="281640" cy="245877"/>
          </a:xfrm>
          <a:prstGeom prst="rect">
            <a:avLst/>
          </a:prstGeom>
          <a:noFill/>
        </p:spPr>
        <p:txBody>
          <a:bodyPr wrap="none" lIns="0" tIns="0" rIns="0" bIns="0" rtlCol="0" anchor="ctr">
            <a:normAutofit fontScale="90000"/>
          </a:bodyPr>
          <a:lstStyle/>
          <a:p>
            <a:pPr algn="ctr">
              <a:spcBef>
                <a:spcPct val="0"/>
              </a:spcBef>
              <a:spcAft>
                <a:spcPct val="0"/>
              </a:spcAft>
            </a:pPr>
            <a:r>
              <a:rPr lang="en-US" altLang="zh-CN" b="1" dirty="0">
                <a:solidFill>
                  <a:schemeClr val="accent5"/>
                </a:solidFill>
                <a:latin typeface="+mn-ea"/>
                <a:cs typeface="+mn-ea"/>
              </a:rPr>
              <a:t>05</a:t>
            </a:r>
            <a:endParaRPr lang="en-US" altLang="zh-CN" b="1" dirty="0">
              <a:solidFill>
                <a:schemeClr val="accent5"/>
              </a:solidFill>
              <a:latin typeface="+mn-ea"/>
              <a:cs typeface="+mn-ea"/>
            </a:endParaRPr>
          </a:p>
        </p:txBody>
      </p:sp>
      <p:sp>
        <p:nvSpPr>
          <p:cNvPr id="43" name="矩形 42"/>
          <p:cNvSpPr/>
          <p:nvPr>
            <p:custDataLst>
              <p:tags r:id="rId19"/>
            </p:custDataLst>
          </p:nvPr>
        </p:nvSpPr>
        <p:spPr>
          <a:xfrm>
            <a:off x="4153016" y="3170405"/>
            <a:ext cx="1717481" cy="386088"/>
          </a:xfrm>
          <a:prstGeom prst="rect">
            <a:avLst/>
          </a:prstGeom>
          <a:noFill/>
        </p:spPr>
        <p:txBody>
          <a:bodyPr wrap="square" lIns="0" tIns="0" rIns="0" bIns="0" rtlCol="0" anchor="ctr" anchorCtr="0">
            <a:noAutofit/>
          </a:bodyPr>
          <a:lstStyle/>
          <a:p>
            <a:pPr>
              <a:lnSpc>
                <a:spcPct val="140000"/>
              </a:lnSpc>
              <a:spcBef>
                <a:spcPct val="0"/>
              </a:spcBef>
              <a:spcAft>
                <a:spcPct val="0"/>
              </a:spcAft>
            </a:pPr>
            <a:r>
              <a:rPr lang="zh-CN" altLang="en-US" sz="1400" dirty="0">
                <a:solidFill>
                  <a:schemeClr val="tx1">
                    <a:lumMod val="85000"/>
                    <a:lumOff val="15000"/>
                  </a:schemeClr>
                </a:solidFill>
                <a:latin typeface="Arial" panose="020B0604020202020204" pitchFamily="34" charset="0"/>
                <a:ea typeface="黑体-简" panose="02000000000000000000" charset="-122"/>
                <a:cs typeface="+mn-ea"/>
              </a:rPr>
              <a:t>安全日志分析数</a:t>
            </a:r>
            <a:endParaRPr lang="zh-CN" altLang="en-US" sz="14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44" name="矩形 43"/>
          <p:cNvSpPr/>
          <p:nvPr>
            <p:custDataLst>
              <p:tags r:id="rId20"/>
            </p:custDataLst>
          </p:nvPr>
        </p:nvSpPr>
        <p:spPr>
          <a:xfrm>
            <a:off x="4153016" y="3647935"/>
            <a:ext cx="1717481" cy="382430"/>
          </a:xfrm>
          <a:prstGeom prst="rect">
            <a:avLst/>
          </a:prstGeom>
          <a:noFill/>
        </p:spPr>
        <p:txBody>
          <a:bodyPr wrap="square" lIns="0" tIns="0" rIns="0" bIns="0" rtlCol="0" anchor="ctr" anchorCtr="0">
            <a:noAutofit/>
          </a:bodyPr>
          <a:lstStyle/>
          <a:p>
            <a:pPr>
              <a:lnSpc>
                <a:spcPct val="140000"/>
              </a:lnSpc>
              <a:spcBef>
                <a:spcPct val="0"/>
              </a:spcBef>
              <a:spcAft>
                <a:spcPct val="0"/>
              </a:spcAft>
            </a:pPr>
            <a:r>
              <a:rPr lang="zh-CN" altLang="en-US" sz="1400" dirty="0">
                <a:solidFill>
                  <a:schemeClr val="tx1">
                    <a:lumMod val="85000"/>
                    <a:lumOff val="15000"/>
                  </a:schemeClr>
                </a:solidFill>
                <a:latin typeface="Arial" panose="020B0604020202020204" pitchFamily="34" charset="0"/>
                <a:ea typeface="黑体-简" panose="02000000000000000000" charset="-122"/>
                <a:cs typeface="+mn-ea"/>
              </a:rPr>
              <a:t>安全告警数</a:t>
            </a:r>
            <a:endParaRPr lang="zh-CN" altLang="en-US" sz="14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45" name="矩形 44"/>
          <p:cNvSpPr/>
          <p:nvPr>
            <p:custDataLst>
              <p:tags r:id="rId21"/>
            </p:custDataLst>
          </p:nvPr>
        </p:nvSpPr>
        <p:spPr>
          <a:xfrm>
            <a:off x="4153016" y="4120994"/>
            <a:ext cx="1717481" cy="377959"/>
          </a:xfrm>
          <a:prstGeom prst="rect">
            <a:avLst/>
          </a:prstGeom>
          <a:noFill/>
        </p:spPr>
        <p:txBody>
          <a:bodyPr wrap="square" lIns="0" tIns="0" rIns="0" bIns="0" rtlCol="0" anchor="ctr" anchorCtr="0">
            <a:noAutofit/>
          </a:bodyPr>
          <a:lstStyle/>
          <a:p>
            <a:pPr>
              <a:lnSpc>
                <a:spcPct val="140000"/>
              </a:lnSpc>
              <a:spcBef>
                <a:spcPct val="0"/>
              </a:spcBef>
              <a:spcAft>
                <a:spcPct val="0"/>
              </a:spcAft>
            </a:pPr>
            <a:r>
              <a:rPr lang="zh-CN" altLang="en-US" sz="1400" dirty="0">
                <a:solidFill>
                  <a:schemeClr val="tx1">
                    <a:lumMod val="85000"/>
                    <a:lumOff val="15000"/>
                  </a:schemeClr>
                </a:solidFill>
                <a:latin typeface="Arial" panose="020B0604020202020204" pitchFamily="34" charset="0"/>
                <a:ea typeface="黑体-简" panose="02000000000000000000" charset="-122"/>
                <a:cs typeface="+mn-ea"/>
              </a:rPr>
              <a:t>安全威胁事件数</a:t>
            </a:r>
            <a:endParaRPr lang="zh-CN" altLang="en-US" sz="14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50" name="矩形 49"/>
          <p:cNvSpPr/>
          <p:nvPr>
            <p:custDataLst>
              <p:tags r:id="rId22"/>
            </p:custDataLst>
          </p:nvPr>
        </p:nvSpPr>
        <p:spPr>
          <a:xfrm>
            <a:off x="4153016" y="4596085"/>
            <a:ext cx="1717481" cy="377959"/>
          </a:xfrm>
          <a:prstGeom prst="rect">
            <a:avLst/>
          </a:prstGeom>
          <a:noFill/>
        </p:spPr>
        <p:txBody>
          <a:bodyPr wrap="square" lIns="0" tIns="0" rIns="0" bIns="0" rtlCol="0" anchor="ctr" anchorCtr="0">
            <a:noAutofit/>
          </a:bodyPr>
          <a:lstStyle/>
          <a:p>
            <a:pPr>
              <a:lnSpc>
                <a:spcPct val="140000"/>
              </a:lnSpc>
              <a:spcBef>
                <a:spcPct val="0"/>
              </a:spcBef>
              <a:spcAft>
                <a:spcPct val="0"/>
              </a:spcAft>
            </a:pPr>
            <a:r>
              <a:rPr lang="zh-CN" altLang="en-US" sz="1400" dirty="0">
                <a:solidFill>
                  <a:schemeClr val="tx1">
                    <a:lumMod val="85000"/>
                    <a:lumOff val="15000"/>
                  </a:schemeClr>
                </a:solidFill>
                <a:latin typeface="Arial" panose="020B0604020202020204" pitchFamily="34" charset="0"/>
                <a:ea typeface="黑体-简" panose="02000000000000000000" charset="-122"/>
                <a:cs typeface="+mn-ea"/>
              </a:rPr>
              <a:t>攻击对抗成功率</a:t>
            </a:r>
            <a:endParaRPr lang="zh-CN" altLang="en-US" sz="14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55" name="矩形 54"/>
          <p:cNvSpPr/>
          <p:nvPr>
            <p:custDataLst>
              <p:tags r:id="rId23"/>
            </p:custDataLst>
          </p:nvPr>
        </p:nvSpPr>
        <p:spPr>
          <a:xfrm>
            <a:off x="4153016" y="5071989"/>
            <a:ext cx="1717481" cy="377959"/>
          </a:xfrm>
          <a:prstGeom prst="rect">
            <a:avLst/>
          </a:prstGeom>
          <a:noFill/>
        </p:spPr>
        <p:txBody>
          <a:bodyPr wrap="square" lIns="0" tIns="0" rIns="0" bIns="0" rtlCol="0" anchor="ctr" anchorCtr="0">
            <a:noAutofit/>
          </a:bodyPr>
          <a:lstStyle/>
          <a:p>
            <a:pPr>
              <a:lnSpc>
                <a:spcPct val="140000"/>
              </a:lnSpc>
              <a:spcBef>
                <a:spcPct val="0"/>
              </a:spcBef>
              <a:spcAft>
                <a:spcPct val="0"/>
              </a:spcAft>
            </a:pPr>
            <a:r>
              <a:rPr lang="zh-CN" altLang="en-US" sz="1400" dirty="0">
                <a:solidFill>
                  <a:schemeClr val="tx1">
                    <a:lumMod val="85000"/>
                    <a:lumOff val="15000"/>
                  </a:schemeClr>
                </a:solidFill>
                <a:latin typeface="Arial" panose="020B0604020202020204" pitchFamily="34" charset="0"/>
                <a:ea typeface="黑体-简" panose="02000000000000000000" charset="-122"/>
                <a:cs typeface="+mn-ea"/>
              </a:rPr>
              <a:t>重大事故</a:t>
            </a:r>
            <a:r>
              <a:rPr lang="en-US" altLang="zh-CN" sz="1400" dirty="0">
                <a:solidFill>
                  <a:schemeClr val="tx1">
                    <a:lumMod val="85000"/>
                    <a:lumOff val="15000"/>
                  </a:schemeClr>
                </a:solidFill>
                <a:latin typeface="Arial" panose="020B0604020202020204" pitchFamily="34" charset="0"/>
                <a:ea typeface="黑体-简" panose="02000000000000000000" charset="-122"/>
                <a:cs typeface="+mn-ea"/>
              </a:rPr>
              <a:t>/</a:t>
            </a:r>
            <a:r>
              <a:rPr lang="zh-CN" altLang="en-US" sz="1400" dirty="0">
                <a:solidFill>
                  <a:schemeClr val="tx1">
                    <a:lumMod val="85000"/>
                    <a:lumOff val="15000"/>
                  </a:schemeClr>
                </a:solidFill>
                <a:latin typeface="Arial" panose="020B0604020202020204" pitchFamily="34" charset="0"/>
                <a:ea typeface="黑体-简" panose="02000000000000000000" charset="-122"/>
                <a:cs typeface="+mn-ea"/>
              </a:rPr>
              <a:t>事件</a:t>
            </a:r>
            <a:endParaRPr lang="zh-CN" altLang="en-US" sz="14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56" name="形状"/>
          <p:cNvSpPr/>
          <p:nvPr>
            <p:custDataLst>
              <p:tags r:id="rId24"/>
            </p:custDataLst>
          </p:nvPr>
        </p:nvSpPr>
        <p:spPr>
          <a:xfrm flipV="1">
            <a:off x="953770" y="3246810"/>
            <a:ext cx="2194198" cy="749823"/>
          </a:xfrm>
          <a:custGeom>
            <a:avLst/>
            <a:gdLst/>
            <a:ahLst/>
            <a:cxnLst>
              <a:cxn ang="0">
                <a:pos x="wd2" y="hd2"/>
              </a:cxn>
              <a:cxn ang="5400000">
                <a:pos x="wd2" y="hd2"/>
              </a:cxn>
              <a:cxn ang="10800000">
                <a:pos x="wd2" y="hd2"/>
              </a:cxn>
              <a:cxn ang="16200000">
                <a:pos x="wd2" y="hd2"/>
              </a:cxn>
            </a:cxnLst>
            <a:rect l="0" t="0" r="r" b="b"/>
            <a:pathLst>
              <a:path w="21600" h="21600" extrusionOk="0">
                <a:moveTo>
                  <a:pt x="20288" y="0"/>
                </a:moveTo>
                <a:lnTo>
                  <a:pt x="1330" y="13261"/>
                </a:lnTo>
                <a:lnTo>
                  <a:pt x="0" y="21600"/>
                </a:lnTo>
                <a:lnTo>
                  <a:pt x="21600" y="8361"/>
                </a:lnTo>
                <a:lnTo>
                  <a:pt x="20288" y="0"/>
                </a:lnTo>
                <a:close/>
              </a:path>
            </a:pathLst>
          </a:custGeom>
          <a:solidFill>
            <a:schemeClr val="accent5">
              <a:lumMod val="47000"/>
              <a:lumOff val="53000"/>
              <a:alpha val="48000"/>
            </a:schemeClr>
          </a:solidFill>
          <a:ln w="12700">
            <a:miter lim="400000"/>
          </a:ln>
        </p:spPr>
        <p:txBody>
          <a:bodyPr tIns="45720" bIns="45720">
            <a:normAutofit/>
          </a:bodyPr>
          <a:lstStyle/>
          <a:p>
            <a:pPr>
              <a:lnSpc>
                <a:spcPct val="120000"/>
              </a:lnSpc>
            </a:pPr>
            <a:endParaRPr sz="900">
              <a:solidFill>
                <a:schemeClr val="tx1"/>
              </a:solidFill>
              <a:latin typeface="微软雅黑" panose="020B0503020204020204" charset="-122"/>
              <a:ea typeface="微软雅黑" panose="020B0503020204020204" charset="-122"/>
            </a:endParaRPr>
          </a:p>
        </p:txBody>
      </p:sp>
      <p:sp>
        <p:nvSpPr>
          <p:cNvPr id="58" name="形状"/>
          <p:cNvSpPr/>
          <p:nvPr>
            <p:custDataLst>
              <p:tags r:id="rId25"/>
            </p:custDataLst>
          </p:nvPr>
        </p:nvSpPr>
        <p:spPr>
          <a:xfrm flipV="1">
            <a:off x="1165102" y="3706864"/>
            <a:ext cx="1773159" cy="750636"/>
          </a:xfrm>
          <a:custGeom>
            <a:avLst/>
            <a:gdLst/>
            <a:ahLst/>
            <a:cxnLst>
              <a:cxn ang="0">
                <a:pos x="wd2" y="hd2"/>
              </a:cxn>
              <a:cxn ang="5400000">
                <a:pos x="wd2" y="hd2"/>
              </a:cxn>
              <a:cxn ang="10800000">
                <a:pos x="wd2" y="hd2"/>
              </a:cxn>
              <a:cxn ang="16200000">
                <a:pos x="wd2" y="hd2"/>
              </a:cxn>
            </a:cxnLst>
            <a:rect l="0" t="0" r="r" b="b"/>
            <a:pathLst>
              <a:path w="21600" h="21600" extrusionOk="0">
                <a:moveTo>
                  <a:pt x="19955" y="0"/>
                </a:moveTo>
                <a:lnTo>
                  <a:pt x="1612" y="13247"/>
                </a:lnTo>
                <a:lnTo>
                  <a:pt x="0" y="21600"/>
                </a:lnTo>
                <a:lnTo>
                  <a:pt x="21600" y="8353"/>
                </a:lnTo>
                <a:lnTo>
                  <a:pt x="19955" y="0"/>
                </a:lnTo>
                <a:close/>
              </a:path>
            </a:pathLst>
          </a:custGeom>
          <a:solidFill>
            <a:schemeClr val="accent6">
              <a:lumMod val="47000"/>
              <a:lumOff val="53000"/>
              <a:alpha val="48000"/>
            </a:schemeClr>
          </a:solidFill>
          <a:ln w="12700">
            <a:miter lim="400000"/>
          </a:ln>
        </p:spPr>
        <p:txBody>
          <a:bodyPr tIns="45720" bIns="45720">
            <a:normAutofit/>
          </a:bodyPr>
          <a:lstStyle/>
          <a:p>
            <a:pPr>
              <a:lnSpc>
                <a:spcPct val="120000"/>
              </a:lnSpc>
            </a:pPr>
            <a:endParaRPr sz="900">
              <a:solidFill>
                <a:schemeClr val="tx1"/>
              </a:solidFill>
              <a:latin typeface="微软雅黑" panose="020B0503020204020204" charset="-122"/>
              <a:ea typeface="微软雅黑" panose="020B0503020204020204" charset="-122"/>
            </a:endParaRPr>
          </a:p>
        </p:txBody>
      </p:sp>
      <p:sp>
        <p:nvSpPr>
          <p:cNvPr id="59" name="形状"/>
          <p:cNvSpPr/>
          <p:nvPr>
            <p:custDataLst>
              <p:tags r:id="rId26"/>
            </p:custDataLst>
          </p:nvPr>
        </p:nvSpPr>
        <p:spPr>
          <a:xfrm flipV="1">
            <a:off x="1375622" y="4167324"/>
            <a:ext cx="1351713" cy="749823"/>
          </a:xfrm>
          <a:custGeom>
            <a:avLst/>
            <a:gdLst/>
            <a:ahLst/>
            <a:cxnLst>
              <a:cxn ang="0">
                <a:pos x="wd2" y="hd2"/>
              </a:cxn>
              <a:cxn ang="5400000">
                <a:pos x="wd2" y="hd2"/>
              </a:cxn>
              <a:cxn ang="10800000">
                <a:pos x="wd2" y="hd2"/>
              </a:cxn>
              <a:cxn ang="16200000">
                <a:pos x="wd2" y="hd2"/>
              </a:cxn>
            </a:cxnLst>
            <a:rect l="0" t="0" r="r" b="b"/>
            <a:pathLst>
              <a:path w="21600" h="21600" extrusionOk="0">
                <a:moveTo>
                  <a:pt x="19486" y="0"/>
                </a:moveTo>
                <a:lnTo>
                  <a:pt x="2129" y="13239"/>
                </a:lnTo>
                <a:lnTo>
                  <a:pt x="0" y="21600"/>
                </a:lnTo>
                <a:lnTo>
                  <a:pt x="21600" y="8339"/>
                </a:lnTo>
                <a:lnTo>
                  <a:pt x="19486" y="0"/>
                </a:lnTo>
                <a:close/>
              </a:path>
            </a:pathLst>
          </a:custGeom>
          <a:solidFill>
            <a:schemeClr val="accent5">
              <a:lumMod val="47000"/>
              <a:lumOff val="53000"/>
              <a:alpha val="48000"/>
            </a:schemeClr>
          </a:solidFill>
          <a:ln w="12700">
            <a:miter lim="400000"/>
          </a:ln>
        </p:spPr>
        <p:txBody>
          <a:bodyPr tIns="45720" bIns="45720">
            <a:normAutofit/>
          </a:bodyPr>
          <a:lstStyle/>
          <a:p>
            <a:pPr>
              <a:lnSpc>
                <a:spcPct val="120000"/>
              </a:lnSpc>
            </a:pPr>
            <a:endParaRPr sz="900">
              <a:solidFill>
                <a:schemeClr val="tx1"/>
              </a:solidFill>
              <a:latin typeface="微软雅黑" panose="020B0503020204020204" charset="-122"/>
              <a:ea typeface="微软雅黑" panose="020B0503020204020204" charset="-122"/>
            </a:endParaRPr>
          </a:p>
        </p:txBody>
      </p:sp>
      <p:sp>
        <p:nvSpPr>
          <p:cNvPr id="60" name="形状"/>
          <p:cNvSpPr/>
          <p:nvPr>
            <p:custDataLst>
              <p:tags r:id="rId27"/>
            </p:custDataLst>
          </p:nvPr>
        </p:nvSpPr>
        <p:spPr>
          <a:xfrm flipV="1">
            <a:off x="1586548" y="4627785"/>
            <a:ext cx="930268" cy="753887"/>
          </a:xfrm>
          <a:custGeom>
            <a:avLst/>
            <a:gdLst/>
            <a:ahLst/>
            <a:cxnLst>
              <a:cxn ang="0">
                <a:pos x="wd2" y="hd2"/>
              </a:cxn>
              <a:cxn ang="5400000">
                <a:pos x="wd2" y="hd2"/>
              </a:cxn>
              <a:cxn ang="10800000">
                <a:pos x="wd2" y="hd2"/>
              </a:cxn>
              <a:cxn ang="16200000">
                <a:pos x="wd2" y="hd2"/>
              </a:cxn>
            </a:cxnLst>
            <a:rect l="0" t="0" r="r" b="b"/>
            <a:pathLst>
              <a:path w="21600" h="21600" extrusionOk="0">
                <a:moveTo>
                  <a:pt x="18462" y="0"/>
                </a:moveTo>
                <a:lnTo>
                  <a:pt x="3095" y="13304"/>
                </a:lnTo>
                <a:lnTo>
                  <a:pt x="0" y="21600"/>
                </a:lnTo>
                <a:lnTo>
                  <a:pt x="21600" y="8430"/>
                </a:lnTo>
                <a:lnTo>
                  <a:pt x="18462" y="0"/>
                </a:lnTo>
                <a:close/>
              </a:path>
            </a:pathLst>
          </a:custGeom>
          <a:solidFill>
            <a:schemeClr val="accent6">
              <a:lumMod val="47000"/>
              <a:lumOff val="53000"/>
              <a:alpha val="48000"/>
            </a:schemeClr>
          </a:solidFill>
          <a:ln w="12700">
            <a:miter lim="400000"/>
          </a:ln>
        </p:spPr>
        <p:txBody>
          <a:bodyPr tIns="45720" bIns="45720">
            <a:normAutofit/>
          </a:bodyPr>
          <a:lstStyle/>
          <a:p>
            <a:pPr>
              <a:lnSpc>
                <a:spcPct val="120000"/>
              </a:lnSpc>
            </a:pPr>
            <a:endParaRPr sz="900">
              <a:solidFill>
                <a:schemeClr val="tx1"/>
              </a:solidFill>
              <a:latin typeface="微软雅黑" panose="020B0503020204020204" charset="-122"/>
              <a:ea typeface="微软雅黑" panose="020B0503020204020204" charset="-122"/>
            </a:endParaRPr>
          </a:p>
        </p:txBody>
      </p:sp>
      <p:sp>
        <p:nvSpPr>
          <p:cNvPr id="61" name="任意多边形 60"/>
          <p:cNvSpPr/>
          <p:nvPr>
            <p:custDataLst>
              <p:tags r:id="rId28"/>
            </p:custDataLst>
          </p:nvPr>
        </p:nvSpPr>
        <p:spPr>
          <a:xfrm>
            <a:off x="953770" y="3246810"/>
            <a:ext cx="2404717" cy="289362"/>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917" h="712">
                <a:moveTo>
                  <a:pt x="0" y="0"/>
                </a:moveTo>
                <a:lnTo>
                  <a:pt x="5917" y="0"/>
                </a:lnTo>
                <a:lnTo>
                  <a:pt x="5591" y="712"/>
                </a:lnTo>
                <a:lnTo>
                  <a:pt x="332" y="712"/>
                </a:lnTo>
                <a:lnTo>
                  <a:pt x="0" y="0"/>
                </a:lnTo>
                <a:close/>
              </a:path>
            </a:pathLst>
          </a:custGeom>
          <a:gradFill>
            <a:gsLst>
              <a:gs pos="92000">
                <a:schemeClr val="accent5">
                  <a:lumMod val="75000"/>
                  <a:alpha val="100000"/>
                </a:schemeClr>
              </a:gs>
              <a:gs pos="0">
                <a:schemeClr val="accent5">
                  <a:alpha val="100000"/>
                </a:schemeClr>
              </a:gs>
            </a:gsLst>
            <a:lin ang="0" scaled="0"/>
          </a:gradFill>
          <a:ln w="12700">
            <a:miter lim="400000"/>
          </a:ln>
          <a:effectLst>
            <a:outerShdw blurRad="139700" dist="50800" dir="2700000" algn="tl" rotWithShape="0">
              <a:schemeClr val="accent5">
                <a:lumMod val="50000"/>
                <a:alpha val="20000"/>
              </a:schemeClr>
            </a:outerShdw>
          </a:effectLst>
        </p:spPr>
        <p:txBody>
          <a:bodyPr wrap="square" tIns="4572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0"/>
              </a:spcBef>
              <a:spcAft>
                <a:spcPct val="0"/>
              </a:spcAft>
              <a:buClrTx/>
              <a:buSzTx/>
              <a:buFontTx/>
            </a:pPr>
            <a:r>
              <a:rPr lang="en-US" altLang="zh-CN" sz="1600" b="1" dirty="0">
                <a:solidFill>
                  <a:srgbClr val="4C61E7"/>
                </a:solidFill>
                <a:latin typeface="Arial" panose="020B0604020202020204" pitchFamily="34" charset="0"/>
                <a:ea typeface="黑体-简" panose="02000000000000000000" charset="-122"/>
                <a:cs typeface="+mn-ea"/>
                <a:sym typeface="+mn-ea"/>
              </a:rPr>
              <a:t>{{critical_period_security_log_count}}</a:t>
            </a:r>
            <a:endParaRPr lang="en-US" altLang="zh-CN" sz="1600" b="1" dirty="0">
              <a:solidFill>
                <a:srgbClr val="4C61E7"/>
              </a:solidFill>
              <a:latin typeface="Arial" panose="020B0604020202020204" pitchFamily="34" charset="0"/>
              <a:ea typeface="黑体-简" panose="02000000000000000000" charset="-122"/>
              <a:cs typeface="+mn-ea"/>
              <a:sym typeface="+mn-ea"/>
            </a:endParaRPr>
          </a:p>
        </p:txBody>
      </p:sp>
      <p:sp>
        <p:nvSpPr>
          <p:cNvPr id="64" name="任意多边形 63"/>
          <p:cNvSpPr/>
          <p:nvPr>
            <p:custDataLst>
              <p:tags r:id="rId29"/>
            </p:custDataLst>
          </p:nvPr>
        </p:nvSpPr>
        <p:spPr>
          <a:xfrm>
            <a:off x="1165102" y="3706458"/>
            <a:ext cx="1982459" cy="290582"/>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4878" h="715">
                <a:moveTo>
                  <a:pt x="0" y="0"/>
                </a:moveTo>
                <a:lnTo>
                  <a:pt x="4878" y="0"/>
                </a:lnTo>
                <a:lnTo>
                  <a:pt x="4550" y="715"/>
                </a:lnTo>
                <a:lnTo>
                  <a:pt x="325" y="715"/>
                </a:lnTo>
                <a:lnTo>
                  <a:pt x="0" y="0"/>
                </a:lnTo>
                <a:close/>
              </a:path>
            </a:pathLst>
          </a:custGeom>
          <a:gradFill>
            <a:gsLst>
              <a:gs pos="100000">
                <a:schemeClr val="accent6">
                  <a:lumMod val="75000"/>
                  <a:alpha val="100000"/>
                </a:schemeClr>
              </a:gs>
              <a:gs pos="0">
                <a:schemeClr val="accent6">
                  <a:lumMod val="84000"/>
                  <a:lumOff val="16000"/>
                  <a:alpha val="100000"/>
                </a:schemeClr>
              </a:gs>
            </a:gsLst>
            <a:lin ang="0" scaled="0"/>
          </a:gradFill>
          <a:ln w="12700">
            <a:miter lim="400000"/>
          </a:ln>
          <a:effectLst>
            <a:outerShdw blurRad="139700" dist="50800" dir="2700000" algn="tl" rotWithShape="0">
              <a:schemeClr val="accent6">
                <a:lumMod val="75000"/>
                <a:alpha val="20000"/>
              </a:schemeClr>
            </a:outerShdw>
          </a:effectLst>
        </p:spPr>
        <p:txBody>
          <a:bodyPr wrap="square" tIns="4572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0"/>
              </a:spcBef>
              <a:spcAft>
                <a:spcPct val="0"/>
              </a:spcAft>
              <a:buClrTx/>
              <a:buSzTx/>
              <a:buFontTx/>
            </a:pPr>
            <a:r>
              <a:rPr lang="en-US" altLang="zh-CN" sz="1600" b="1" dirty="0">
                <a:solidFill>
                  <a:srgbClr val="4C61E7"/>
                </a:solidFill>
                <a:latin typeface="Arial" panose="020B0604020202020204" pitchFamily="34" charset="0"/>
                <a:ea typeface="黑体-简" panose="02000000000000000000" charset="-122"/>
                <a:cs typeface="+mn-ea"/>
                <a:sym typeface="+mn-ea"/>
              </a:rPr>
              <a:t>{{critical_period_alert_count}}</a:t>
            </a:r>
            <a:endParaRPr lang="en-US" altLang="zh-CN" sz="1600" b="1" dirty="0">
              <a:solidFill>
                <a:srgbClr val="4C61E7"/>
              </a:solidFill>
              <a:latin typeface="Arial" panose="020B0604020202020204" pitchFamily="34" charset="0"/>
              <a:ea typeface="黑体-简" panose="02000000000000000000" charset="-122"/>
              <a:cs typeface="+mn-ea"/>
              <a:sym typeface="+mn-ea"/>
            </a:endParaRPr>
          </a:p>
        </p:txBody>
      </p:sp>
      <p:sp>
        <p:nvSpPr>
          <p:cNvPr id="66" name="任意多边形 65"/>
          <p:cNvSpPr/>
          <p:nvPr>
            <p:custDataLst>
              <p:tags r:id="rId30"/>
            </p:custDataLst>
          </p:nvPr>
        </p:nvSpPr>
        <p:spPr>
          <a:xfrm>
            <a:off x="1375622" y="4167324"/>
            <a:ext cx="1563046" cy="290582"/>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3846" h="715">
                <a:moveTo>
                  <a:pt x="0" y="0"/>
                </a:moveTo>
                <a:lnTo>
                  <a:pt x="3846" y="0"/>
                </a:lnTo>
                <a:lnTo>
                  <a:pt x="3514" y="715"/>
                </a:lnTo>
                <a:lnTo>
                  <a:pt x="328" y="715"/>
                </a:lnTo>
                <a:lnTo>
                  <a:pt x="0" y="0"/>
                </a:lnTo>
                <a:close/>
              </a:path>
            </a:pathLst>
          </a:custGeom>
          <a:gradFill>
            <a:gsLst>
              <a:gs pos="77000">
                <a:schemeClr val="accent5">
                  <a:alpha val="100000"/>
                </a:schemeClr>
              </a:gs>
              <a:gs pos="0">
                <a:schemeClr val="accent5">
                  <a:lumMod val="60000"/>
                  <a:lumOff val="40000"/>
                  <a:alpha val="100000"/>
                </a:schemeClr>
              </a:gs>
            </a:gsLst>
            <a:lin ang="0" scaled="0"/>
          </a:gradFill>
          <a:ln w="12700">
            <a:miter lim="400000"/>
          </a:ln>
          <a:effectLst>
            <a:outerShdw blurRad="139700" dist="50800" dir="2700000" algn="tl" rotWithShape="0">
              <a:schemeClr val="accent5">
                <a:lumMod val="75000"/>
                <a:alpha val="20000"/>
              </a:schemeClr>
            </a:outerShdw>
          </a:effectLst>
        </p:spPr>
        <p:txBody>
          <a:bodyPr wrap="square" tIns="4572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0"/>
              </a:spcBef>
              <a:spcAft>
                <a:spcPct val="0"/>
              </a:spcAft>
              <a:buClrTx/>
              <a:buSzTx/>
              <a:buFontTx/>
            </a:pPr>
            <a:r>
              <a:rPr lang="en-US" altLang="zh-CN" sz="1600" b="1" dirty="0">
                <a:solidFill>
                  <a:srgbClr val="4C61E7"/>
                </a:solidFill>
                <a:latin typeface="Arial" panose="020B0604020202020204" pitchFamily="34" charset="0"/>
                <a:ea typeface="黑体-简" panose="02000000000000000000" charset="-122"/>
                <a:cs typeface="+mn-ea"/>
                <a:sym typeface="+mn-ea"/>
              </a:rPr>
              <a:t>{{critical_period_incident_count}}</a:t>
            </a:r>
            <a:endParaRPr lang="en-US" altLang="zh-CN" sz="1600" b="1" dirty="0">
              <a:solidFill>
                <a:srgbClr val="4C61E7"/>
              </a:solidFill>
              <a:latin typeface="Arial" panose="020B0604020202020204" pitchFamily="34" charset="0"/>
              <a:ea typeface="黑体-简" panose="02000000000000000000" charset="-122"/>
              <a:cs typeface="+mn-ea"/>
              <a:sym typeface="+mn-ea"/>
            </a:endParaRPr>
          </a:p>
        </p:txBody>
      </p:sp>
      <p:sp>
        <p:nvSpPr>
          <p:cNvPr id="67" name="任意多边形 66"/>
          <p:cNvSpPr/>
          <p:nvPr>
            <p:custDataLst>
              <p:tags r:id="rId31"/>
            </p:custDataLst>
          </p:nvPr>
        </p:nvSpPr>
        <p:spPr>
          <a:xfrm>
            <a:off x="1586548" y="4628191"/>
            <a:ext cx="1140381" cy="289362"/>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2806" h="712">
                <a:moveTo>
                  <a:pt x="0" y="0"/>
                </a:moveTo>
                <a:lnTo>
                  <a:pt x="2806" y="0"/>
                </a:lnTo>
                <a:lnTo>
                  <a:pt x="2480" y="712"/>
                </a:lnTo>
                <a:lnTo>
                  <a:pt x="328" y="712"/>
                </a:lnTo>
                <a:lnTo>
                  <a:pt x="0" y="0"/>
                </a:lnTo>
                <a:close/>
              </a:path>
            </a:pathLst>
          </a:custGeom>
          <a:gradFill>
            <a:gsLst>
              <a:gs pos="100000">
                <a:schemeClr val="accent6">
                  <a:alpha val="100000"/>
                </a:schemeClr>
              </a:gs>
              <a:gs pos="0">
                <a:schemeClr val="accent6">
                  <a:lumMod val="60000"/>
                  <a:lumOff val="40000"/>
                  <a:alpha val="100000"/>
                </a:schemeClr>
              </a:gs>
            </a:gsLst>
            <a:lin ang="0" scaled="0"/>
          </a:gradFill>
          <a:ln w="12700">
            <a:miter lim="400000"/>
          </a:ln>
          <a:effectLst>
            <a:outerShdw blurRad="139700" dist="50800" dir="2700000" algn="tl" rotWithShape="0">
              <a:schemeClr val="accent6">
                <a:lumMod val="75000"/>
                <a:alpha val="20000"/>
              </a:schemeClr>
            </a:outerShdw>
          </a:effectLst>
        </p:spPr>
        <p:txBody>
          <a:bodyPr wrap="square" tIns="4572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0"/>
              </a:spcBef>
              <a:spcAft>
                <a:spcPct val="0"/>
              </a:spcAft>
              <a:buClrTx/>
              <a:buSzTx/>
              <a:buFontTx/>
            </a:pPr>
            <a:r>
              <a:rPr lang="en-US" altLang="zh-CN" sz="1600" b="1" dirty="0">
                <a:solidFill>
                  <a:srgbClr val="4C61E7"/>
                </a:solidFill>
                <a:latin typeface="Arial" panose="020B0604020202020204" pitchFamily="34" charset="0"/>
                <a:ea typeface="黑体-简" panose="02000000000000000000" charset="-122"/>
                <a:cs typeface="+mn-ea"/>
                <a:sym typeface="+mn-ea"/>
              </a:rPr>
              <a:t>{{containment_rate}}</a:t>
            </a:r>
            <a:endParaRPr lang="en-US" altLang="zh-CN" sz="1600" b="1" dirty="0">
              <a:solidFill>
                <a:srgbClr val="4C61E7"/>
              </a:solidFill>
              <a:latin typeface="Arial" panose="020B0604020202020204" pitchFamily="34" charset="0"/>
              <a:ea typeface="黑体-简" panose="02000000000000000000" charset="-122"/>
              <a:cs typeface="+mn-ea"/>
              <a:sym typeface="+mn-ea"/>
            </a:endParaRPr>
          </a:p>
        </p:txBody>
      </p:sp>
      <p:sp>
        <p:nvSpPr>
          <p:cNvPr id="68" name="任意多边形 67"/>
          <p:cNvSpPr/>
          <p:nvPr>
            <p:custDataLst>
              <p:tags r:id="rId32"/>
            </p:custDataLst>
          </p:nvPr>
        </p:nvSpPr>
        <p:spPr>
          <a:xfrm>
            <a:off x="1798286" y="5087839"/>
            <a:ext cx="718530" cy="293833"/>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1768" h="723">
                <a:moveTo>
                  <a:pt x="0" y="0"/>
                </a:moveTo>
                <a:lnTo>
                  <a:pt x="1768" y="0"/>
                </a:lnTo>
                <a:lnTo>
                  <a:pt x="1436" y="723"/>
                </a:lnTo>
                <a:lnTo>
                  <a:pt x="332" y="723"/>
                </a:lnTo>
                <a:lnTo>
                  <a:pt x="0" y="0"/>
                </a:lnTo>
                <a:close/>
              </a:path>
            </a:pathLst>
          </a:custGeom>
          <a:gradFill>
            <a:gsLst>
              <a:gs pos="100000">
                <a:schemeClr val="accent5">
                  <a:lumMod val="60000"/>
                  <a:lumOff val="40000"/>
                  <a:alpha val="100000"/>
                </a:schemeClr>
              </a:gs>
              <a:gs pos="0">
                <a:schemeClr val="accent5">
                  <a:lumMod val="40000"/>
                  <a:lumOff val="60000"/>
                  <a:alpha val="100000"/>
                </a:schemeClr>
              </a:gs>
            </a:gsLst>
            <a:lin ang="0" scaled="0"/>
          </a:gradFill>
          <a:ln w="12700">
            <a:miter lim="400000"/>
          </a:ln>
          <a:effectLst>
            <a:outerShdw blurRad="139700" dist="50800" dir="2700000" algn="tl" rotWithShape="0">
              <a:schemeClr val="accent5">
                <a:alpha val="20000"/>
              </a:schemeClr>
            </a:outerShdw>
          </a:effectLst>
        </p:spPr>
        <p:txBody>
          <a:bodyPr wrap="square" tIns="45720" bIns="45720"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spcBef>
                <a:spcPct val="0"/>
              </a:spcBef>
              <a:spcAft>
                <a:spcPct val="0"/>
              </a:spcAft>
              <a:buClrTx/>
              <a:buSzTx/>
              <a:buFontTx/>
            </a:pPr>
            <a:r>
              <a:rPr lang="zh-CN" altLang="en-US" sz="1600" b="1" dirty="0">
                <a:solidFill>
                  <a:srgbClr val="FFFFFF"/>
                </a:solidFill>
                <a:latin typeface="+mn-ea"/>
                <a:cs typeface="+mn-ea"/>
                <a:sym typeface="+mn-ea"/>
              </a:rPr>
              <a:t>零</a:t>
            </a:r>
            <a:endParaRPr lang="zh-CN" altLang="en-US" sz="1600" b="1" dirty="0">
              <a:solidFill>
                <a:srgbClr val="FFFFFF"/>
              </a:solidFill>
              <a:latin typeface="+mn-ea"/>
              <a:cs typeface="+mn-ea"/>
              <a:sym typeface="+mn-ea"/>
            </a:endParaRPr>
          </a:p>
        </p:txBody>
      </p:sp>
      <p:grpSp>
        <p:nvGrpSpPr>
          <p:cNvPr id="125" name="组合 124"/>
          <p:cNvGrpSpPr/>
          <p:nvPr/>
        </p:nvGrpSpPr>
        <p:grpSpPr>
          <a:xfrm>
            <a:off x="852170" y="1021080"/>
            <a:ext cx="10556240" cy="1647190"/>
            <a:chOff x="1342" y="1608"/>
            <a:chExt cx="16624" cy="2594"/>
          </a:xfrm>
        </p:grpSpPr>
        <p:grpSp>
          <p:nvGrpSpPr>
            <p:cNvPr id="3" name="组合 2" descr="7b0a202020202274657874626f78223a20227b5c2269645c223a32303334383533362c5c227469645c223a5c225c227d220a7d0a"/>
            <p:cNvGrpSpPr/>
            <p:nvPr>
              <p:custDataLst>
                <p:tags r:id="rId33"/>
              </p:custDataLst>
            </p:nvPr>
          </p:nvGrpSpPr>
          <p:grpSpPr>
            <a:xfrm>
              <a:off x="1342" y="1608"/>
              <a:ext cx="16624" cy="2594"/>
              <a:chOff x="3067050" y="1761966"/>
              <a:chExt cx="6057900" cy="3684815"/>
            </a:xfrm>
          </p:grpSpPr>
          <p:grpSp>
            <p:nvGrpSpPr>
              <p:cNvPr id="7" name="组合 6"/>
              <p:cNvGrpSpPr/>
              <p:nvPr/>
            </p:nvGrpSpPr>
            <p:grpSpPr>
              <a:xfrm>
                <a:off x="3067050" y="1761966"/>
                <a:ext cx="6057900" cy="3684815"/>
                <a:chOff x="3064668" y="1247616"/>
                <a:chExt cx="6057900" cy="3684815"/>
              </a:xfrm>
            </p:grpSpPr>
            <p:grpSp>
              <p:nvGrpSpPr>
                <p:cNvPr id="8" name="组合 7"/>
                <p:cNvGrpSpPr/>
                <p:nvPr/>
              </p:nvGrpSpPr>
              <p:grpSpPr>
                <a:xfrm>
                  <a:off x="3064668" y="1247616"/>
                  <a:ext cx="6057900" cy="479210"/>
                  <a:chOff x="3064668" y="1247616"/>
                  <a:chExt cx="6057900" cy="479210"/>
                </a:xfrm>
              </p:grpSpPr>
              <p:sp>
                <p:nvSpPr>
                  <p:cNvPr id="39" name="任意多边形: 形状 9"/>
                  <p:cNvSpPr/>
                  <p:nvPr/>
                </p:nvSpPr>
                <p:spPr>
                  <a:xfrm rot="5400000">
                    <a:off x="3038475" y="148393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0" name="任意多边形: 形状 10"/>
                  <p:cNvSpPr/>
                  <p:nvPr/>
                </p:nvSpPr>
                <p:spPr>
                  <a:xfrm rot="5400000">
                    <a:off x="3146425" y="1480978"/>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41" name="任意多边形: 形状 11"/>
                  <p:cNvSpPr/>
                  <p:nvPr/>
                </p:nvSpPr>
                <p:spPr>
                  <a:xfrm flipV="1">
                    <a:off x="3064668" y="1425682"/>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3">
                    <a:schemeClr val="accent5"/>
                  </a:lnRef>
                  <a:fillRef idx="0">
                    <a:srgbClr val="FFFFFF"/>
                  </a:fillRef>
                  <a:effectRef idx="0">
                    <a:srgbClr val="FFFFFF"/>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nvGrpSpPr>
                <p:cNvPr id="9" name="组合 8"/>
                <p:cNvGrpSpPr/>
                <p:nvPr/>
              </p:nvGrpSpPr>
              <p:grpSpPr>
                <a:xfrm>
                  <a:off x="3064668" y="4456181"/>
                  <a:ext cx="6057900" cy="476250"/>
                  <a:chOff x="3064668" y="4456181"/>
                  <a:chExt cx="6057900" cy="476250"/>
                </a:xfrm>
              </p:grpSpPr>
              <p:sp>
                <p:nvSpPr>
                  <p:cNvPr id="46" name="任意多边形: 形状 6"/>
                  <p:cNvSpPr/>
                  <p:nvPr/>
                </p:nvSpPr>
                <p:spPr>
                  <a:xfrm rot="5400000">
                    <a:off x="86518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ln w="19050" cap="flat">
                    <a:solidFill>
                      <a:srgbClr val="3F8BE8"/>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1" name="任意多边形: 形状 7"/>
                  <p:cNvSpPr/>
                  <p:nvPr/>
                </p:nvSpPr>
                <p:spPr>
                  <a:xfrm rot="5400000">
                    <a:off x="8550275" y="4689543"/>
                    <a:ext cx="476250" cy="9525"/>
                  </a:xfrm>
                  <a:custGeom>
                    <a:avLst/>
                    <a:gdLst>
                      <a:gd name="connsiteX0" fmla="*/ -24 w 476250"/>
                      <a:gd name="connsiteY0" fmla="*/ 26 h 9525"/>
                      <a:gd name="connsiteX1" fmla="*/ 476226 w 476250"/>
                      <a:gd name="connsiteY1" fmla="*/ 26 h 9525"/>
                    </a:gdLst>
                    <a:ahLst/>
                    <a:cxnLst>
                      <a:cxn ang="0">
                        <a:pos x="connsiteX0" y="connsiteY0"/>
                      </a:cxn>
                      <a:cxn ang="0">
                        <a:pos x="connsiteX1" y="connsiteY1"/>
                      </a:cxn>
                    </a:cxnLst>
                    <a:rect l="l" t="t" r="r" b="b"/>
                    <a:pathLst>
                      <a:path w="476250" h="9525">
                        <a:moveTo>
                          <a:pt x="-24" y="26"/>
                        </a:moveTo>
                        <a:lnTo>
                          <a:pt x="476226" y="26"/>
                        </a:lnTo>
                      </a:path>
                    </a:pathLst>
                  </a:custGeom>
                  <a:solidFill>
                    <a:schemeClr val="accent6"/>
                  </a:solidFill>
                  <a:ln w="19050" cap="flat">
                    <a:solidFill>
                      <a:schemeClr val="accent6"/>
                    </a:solidFill>
                    <a:prstDash val="solid"/>
                    <a:miter/>
                  </a:ln>
                </p:spPr>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olidFill>
                        <a:schemeClr val="tx1"/>
                      </a:solidFill>
                      <a:latin typeface="+mn-lt"/>
                      <a:ea typeface="+mn-ea"/>
                      <a:cs typeface="+mn-cs"/>
                      <a:sym typeface="+mn-ea"/>
                    </a:endParaRPr>
                  </a:p>
                </p:txBody>
              </p:sp>
              <p:sp>
                <p:nvSpPr>
                  <p:cNvPr id="52" name="任意多边形: 形状 8"/>
                  <p:cNvSpPr/>
                  <p:nvPr/>
                </p:nvSpPr>
                <p:spPr>
                  <a:xfrm flipV="1">
                    <a:off x="3064668" y="4694304"/>
                    <a:ext cx="6057900" cy="0"/>
                  </a:xfrm>
                  <a:custGeom>
                    <a:avLst/>
                    <a:gdLst>
                      <a:gd name="connsiteX0" fmla="*/ 0 w 5274310"/>
                      <a:gd name="connsiteY0" fmla="*/ 0 h 8255"/>
                      <a:gd name="connsiteX1" fmla="*/ 5274310 w 5274310"/>
                      <a:gd name="connsiteY1" fmla="*/ 0 h 8255"/>
                    </a:gdLst>
                    <a:ahLst/>
                    <a:cxnLst>
                      <a:cxn ang="0">
                        <a:pos x="connsiteX0" y="connsiteY0"/>
                      </a:cxn>
                      <a:cxn ang="0">
                        <a:pos x="connsiteX1" y="connsiteY1"/>
                      </a:cxn>
                    </a:cxnLst>
                    <a:rect l="l" t="t" r="r" b="b"/>
                    <a:pathLst>
                      <a:path w="5274310" h="8255">
                        <a:moveTo>
                          <a:pt x="0" y="0"/>
                        </a:moveTo>
                        <a:lnTo>
                          <a:pt x="5274310" y="0"/>
                        </a:lnTo>
                      </a:path>
                    </a:pathLst>
                  </a:custGeom>
                </p:spPr>
                <p:style>
                  <a:lnRef idx="2">
                    <a:schemeClr val="accent6"/>
                  </a:lnRef>
                  <a:fillRef idx="0">
                    <a:schemeClr val="accent6"/>
                  </a:fillRef>
                  <a:effectRef idx="1">
                    <a:schemeClr val="accent6"/>
                  </a:effectRef>
                  <a:fontRef idx="minor">
                    <a:schemeClr val="tx1"/>
                  </a:fontRef>
                </p:style>
                <p:txBody>
                  <a:bodyPr rot="0" spcFirstLastPara="0" vert="horz" wrap="square" lIns="91440" tIns="45720" rIns="91440" bIns="45720" numCol="1" spcCol="0" rtlCol="0" fromWordArt="0" anchor="ctr" anchorCtr="0" forceAA="0" compatLnSpc="1">
                    <a:noAutofit/>
                  </a:bodyPr>
                  <a:lstStyle/>
                  <a:p>
                    <a:pPr defTabSz="914400">
                      <a:spcBef>
                        <a:spcPct val="0"/>
                      </a:spcBef>
                      <a:spcAft>
                        <a:spcPct val="0"/>
                      </a:spcAft>
                    </a:pPr>
                    <a:endParaRPr lang="zh-CN" altLang="en-US" sz="1800" kern="1200">
                      <a:sym typeface="+mn-ea"/>
                    </a:endParaRPr>
                  </a:p>
                </p:txBody>
              </p:sp>
            </p:grpSp>
          </p:grpSp>
          <p:sp>
            <p:nvSpPr>
              <p:cNvPr id="53" name="文本框 52"/>
              <p:cNvSpPr txBox="1"/>
              <p:nvPr/>
            </p:nvSpPr>
            <p:spPr>
              <a:xfrm>
                <a:off x="3121711" y="3194901"/>
                <a:ext cx="5948943" cy="1775247"/>
              </a:xfrm>
              <a:prstGeom prst="rect">
                <a:avLst/>
              </a:prstGeom>
              <a:noFill/>
            </p:spPr>
            <p:txBody>
              <a:bodyPr wrap="square" rtlCol="0" anchor="ctr"/>
              <a:lstStyle/>
              <a:p>
                <a:pPr indent="457200" algn="just">
                  <a:lnSpc>
                    <a:spcPct val="150000"/>
                  </a:lnSpc>
                </a:pPr>
                <a:r>
                  <a:rPr lang="zh-CN" sz="1400" kern="1200" dirty="0">
                    <a:solidFill>
                      <a:schemeClr val="tx1"/>
                    </a:solidFill>
                    <a:effectLst/>
                    <a:latin typeface="Arial" panose="020B0604020202020204" pitchFamily="34" charset="0"/>
                    <a:ea typeface="黑体-简" panose="02000000000000000000" charset="-122"/>
                    <a:cs typeface="+mn-cs"/>
                    <a:sym typeface="+mn-ea"/>
                  </a:rPr>
                  <a:t>在重要时期云端团队实时</a:t>
                </a:r>
                <a:r>
                  <a:rPr lang="en-US" altLang="zh-CN" sz="1400" kern="1200" dirty="0">
                    <a:solidFill>
                      <a:schemeClr val="tx1"/>
                    </a:solidFill>
                    <a:effectLst/>
                    <a:latin typeface="Arial" panose="020B0604020202020204" pitchFamily="34" charset="0"/>
                    <a:ea typeface="黑体-简" panose="02000000000000000000" charset="-122"/>
                    <a:cs typeface="+mn-cs"/>
                    <a:sym typeface="+mn-ea"/>
                  </a:rPr>
                  <a:t>7x24</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小时对设备的安全日志进行实时分析研判，对安全威胁进行持续对抗，每日通报安全态势情况，顺利保障重要时期（</a:t>
                </a:r>
                <a:r>
                  <a:rPr lang="en-US" altLang="zh-CN" sz="1400" kern="1200" dirty="0">
                    <a:solidFill>
                      <a:srgbClr val="4C61E7"/>
                    </a:solidFill>
                    <a:effectLst/>
                    <a:latin typeface="Arial" panose="020B0604020202020204" pitchFamily="34" charset="0"/>
                    <a:ea typeface="黑体-简" panose="02000000000000000000" charset="-122"/>
                    <a:cs typeface="+mn-cs"/>
                    <a:sym typeface="+mn-ea"/>
                  </a:rPr>
                  <a:t>{{critical_protection_periods_text}}</a:t>
                </a:r>
                <a:r>
                  <a:rPr lang="zh-CN" altLang="en-US" sz="1400" kern="1200" dirty="0">
                    <a:solidFill>
                      <a:schemeClr val="tx1"/>
                    </a:solidFill>
                    <a:effectLst/>
                    <a:latin typeface="Arial" panose="020B0604020202020204" pitchFamily="34" charset="0"/>
                    <a:ea typeface="黑体-简" panose="02000000000000000000" charset="-122"/>
                    <a:cs typeface="+mn-cs"/>
                    <a:sym typeface="+mn-ea"/>
                  </a:rPr>
                  <a:t>）未出现重大安全事件或事故。</a:t>
                </a:r>
                <a:endParaRPr lang="zh-CN" altLang="en-US" sz="1400" kern="1200" dirty="0">
                  <a:solidFill>
                    <a:schemeClr val="tx1"/>
                  </a:solidFill>
                  <a:effectLst/>
                  <a:latin typeface="Arial" panose="020B0604020202020204" pitchFamily="34" charset="0"/>
                  <a:ea typeface="黑体-简" panose="02000000000000000000" charset="-122"/>
                  <a:cs typeface="+mn-cs"/>
                  <a:sym typeface="+mn-ea"/>
                </a:endParaRPr>
              </a:p>
            </p:txBody>
          </p:sp>
        </p:grpSp>
        <p:sp>
          <p:nvSpPr>
            <p:cNvPr id="69" name="文本框 68"/>
            <p:cNvSpPr txBox="1"/>
            <p:nvPr/>
          </p:nvSpPr>
          <p:spPr>
            <a:xfrm>
              <a:off x="1492" y="2037"/>
              <a:ext cx="9600" cy="580"/>
            </a:xfrm>
            <a:prstGeom prst="rect">
              <a:avLst/>
            </a:prstGeom>
            <a:noFill/>
          </p:spPr>
          <p:txBody>
            <a:bodyPr wrap="square" rtlCol="0" anchor="t">
              <a:spAutoFit/>
            </a:bodyPr>
            <a:p>
              <a:pPr marL="0" algn="l">
                <a:lnSpc>
                  <a:spcPct val="100000"/>
                </a:lnSpc>
                <a:buClrTx/>
                <a:buSzTx/>
                <a:buFontTx/>
                <a:buNone/>
              </a:pP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重保期间</a:t>
              </a:r>
              <a:r>
                <a:rPr lang="en-US" altLang="zh-CN"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未发生攻击成功事件，</a:t>
              </a:r>
              <a:r>
                <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rPr>
                <a:t>安全威胁风险可控</a:t>
              </a:r>
              <a:endParaRPr lang="zh-CN" altLang="en-US" sz="1800" b="1" dirty="0">
                <a:gradFill>
                  <a:gsLst>
                    <a:gs pos="50000">
                      <a:schemeClr val="accent6"/>
                    </a:gs>
                    <a:gs pos="0">
                      <a:schemeClr val="accent6">
                        <a:lumMod val="25000"/>
                        <a:lumOff val="75000"/>
                      </a:schemeClr>
                    </a:gs>
                    <a:gs pos="100000">
                      <a:schemeClr val="accent6">
                        <a:lumMod val="85000"/>
                      </a:schemeClr>
                    </a:gs>
                  </a:gsLst>
                  <a:lin ang="5400000" scaled="1"/>
                </a:gradFill>
                <a:latin typeface="Arial" panose="020B0604020202020204" pitchFamily="34" charset="0"/>
                <a:ea typeface="黑体-简" panose="02000000000000000000" charset="-122"/>
                <a:cs typeface="微软雅黑" panose="020B0503020204020204" pitchFamily="34" charset="-120"/>
                <a:sym typeface="+mn-ea"/>
              </a:endParaRPr>
            </a:p>
          </p:txBody>
        </p:sp>
      </p:grpSp>
      <p:pic>
        <p:nvPicPr>
          <p:cNvPr id="124" name="图片 123"/>
          <p:cNvPicPr>
            <a:picLocks noChangeAspect="1"/>
          </p:cNvPicPr>
          <p:nvPr/>
        </p:nvPicPr>
        <p:blipFill>
          <a:blip r:embed="rId34"/>
          <a:stretch>
            <a:fillRect/>
          </a:stretch>
        </p:blipFill>
        <p:spPr>
          <a:xfrm>
            <a:off x="6339840" y="3027680"/>
            <a:ext cx="5069205" cy="2606675"/>
          </a:xfrm>
          <a:prstGeom prst="rect">
            <a:avLst/>
          </a:prstGeom>
        </p:spPr>
      </p:pic>
    </p:spTree>
    <p:custDataLst>
      <p:tags r:id="rId3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rot="0">
            <a:off x="224790" y="306705"/>
            <a:ext cx="369570" cy="266700"/>
            <a:chOff x="533" y="672"/>
            <a:chExt cx="582" cy="420"/>
          </a:xfrm>
        </p:grpSpPr>
        <p:sp>
          <p:nvSpPr>
            <p:cNvPr id="7"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sp>
          <p:nvSpPr>
            <p:cNvPr id="8"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FF0000"/>
                </a:solidFill>
              </a:endParaRPr>
            </a:p>
          </p:txBody>
        </p:sp>
      </p:grpSp>
      <p:sp>
        <p:nvSpPr>
          <p:cNvPr id="9" name="textbox 158"/>
          <p:cNvSpPr/>
          <p:nvPr/>
        </p:nvSpPr>
        <p:spPr>
          <a:xfrm>
            <a:off x="740410" y="347980"/>
            <a:ext cx="7640955" cy="34353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重要时期保障</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典型</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事例</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pic>
        <p:nvPicPr>
          <p:cNvPr id="10" name="图片 9"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11" name="Text 1"/>
          <p:cNvSpPr/>
          <p:nvPr/>
        </p:nvSpPr>
        <p:spPr>
          <a:xfrm>
            <a:off x="472440" y="1018540"/>
            <a:ext cx="5760000" cy="576000"/>
          </a:xfrm>
          <a:prstGeom prst="rect">
            <a:avLst/>
          </a:prstGeom>
          <a:solidFill>
            <a:srgbClr val="E6514E"/>
          </a:solidFill>
        </p:spPr>
        <p:txBody>
          <a:bodyPr wrap="square" lIns="0" tIns="0" rIns="0" bIns="0" rtlCol="0" anchor="ctr"/>
          <a:lstStyle/>
          <a:p>
            <a:pPr marL="0" indent="0" algn="ctr">
              <a:buNone/>
            </a:pPr>
            <a:r>
              <a:rPr lang="en-US" sz="1400" b="1" dirty="0">
                <a:solidFill>
                  <a:srgbClr val="FFFFFF"/>
                </a:solidFill>
                <a:latin typeface="Heiti SC Medium" panose="02000000000000000000" charset="-122"/>
                <a:ea typeface="Heiti SC Medium" panose="02000000000000000000" charset="-122"/>
                <a:cs typeface="微软雅黑" panose="020B0503020204020204" pitchFamily="34" charset="-120"/>
              </a:rPr>
              <a:t>主机</a:t>
            </a:r>
            <a:r>
              <a:rPr lang="zh-CN" altLang="en-US" sz="1400" b="1" dirty="0">
                <a:solidFill>
                  <a:srgbClr val="FFFFFF"/>
                </a:solidFill>
                <a:latin typeface="Heiti SC Medium" panose="02000000000000000000" charset="-122"/>
                <a:ea typeface="Heiti SC Medium" panose="02000000000000000000" charset="-122"/>
                <a:cs typeface="微软雅黑" panose="020B0503020204020204" pitchFamily="34" charset="-120"/>
              </a:rPr>
              <a:t>存在目标服务器开启目录浏览功能</a:t>
            </a:r>
            <a:endParaRPr lang="zh-CN" altLang="en-US" sz="1400" b="1" dirty="0">
              <a:solidFill>
                <a:srgbClr val="FFFFFF"/>
              </a:solidFill>
              <a:latin typeface="Heiti SC Medium" panose="02000000000000000000" charset="-122"/>
              <a:ea typeface="Heiti SC Medium" panose="02000000000000000000" charset="-122"/>
              <a:cs typeface="微软雅黑" panose="020B0503020204020204" pitchFamily="34" charset="-120"/>
            </a:endParaRPr>
          </a:p>
        </p:txBody>
      </p:sp>
      <p:sp>
        <p:nvSpPr>
          <p:cNvPr id="12" name="Text 2"/>
          <p:cNvSpPr/>
          <p:nvPr/>
        </p:nvSpPr>
        <p:spPr>
          <a:xfrm>
            <a:off x="472440" y="1594485"/>
            <a:ext cx="5760000" cy="4896000"/>
          </a:xfrm>
          <a:prstGeom prst="rect">
            <a:avLst/>
          </a:prstGeom>
          <a:solidFill>
            <a:srgbClr val="FDF1F1"/>
          </a:solidFill>
        </p:spPr>
        <p:txBody>
          <a:bodyPr wrap="square" lIns="283464" tIns="137160" rIns="283464" bIns="137160" rtlCol="0" anchor="t">
            <a:noAutofit/>
          </a:bodyPr>
          <a:lstStyle/>
          <a:p>
            <a:pPr lvl="0" algn="l">
              <a:lnSpc>
                <a:spcPts val="16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攻击者通过该漏洞可任意浏览根目录下相关文件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
</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发现时间</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2025-06-09 11:25:42</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【影响资产</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XX.XX.XX.XX(</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XX资产</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endPar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【事件危害</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：业务系统</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存在目录浏览</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漏洞，如</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没有实时对抗响应遏制，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攻击者可以轻松突破防线，</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遍历下载根目录下的全部文件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，从而</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获取敏感信息直接造成防守</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失分；同时常见的配置文件、</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数据库口令等会</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存在默认管理后台等，可被攻击队利用</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进一步获得业务主机权限，甚至突破边界直达内网其他核心业务，导致重大失分和</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演习出局，甚至被列入负面典型。</a:t>
            </a:r>
            <a:endPar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【影响范围分析】</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：通过</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本次事件监测识别到了真实存在的业务漏洞</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，而后快速完成了攻击源的封堵和业务的漏洞修复，收敛战线，</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避免了更多资产受影响。</a:t>
            </a:r>
            <a:endParaRPr lang="zh-CN" altLang="en-US" sz="1200" b="1"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lvl="0" algn="l">
              <a:lnSpc>
                <a:spcPct val="136000"/>
              </a:lnSpc>
              <a:buClrTx/>
              <a:buSzTx/>
              <a:buFontTx/>
            </a:pP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【事件处置</a:t>
            </a:r>
            <a:r>
              <a:rPr lang="zh-CN" altLang="en-US" sz="1200" b="1" dirty="0">
                <a:solidFill>
                  <a:srgbClr val="14161A"/>
                </a:solidFill>
                <a:latin typeface="Heiti SC Medium" panose="02000000000000000000" charset="-122"/>
                <a:ea typeface="Heiti SC Medium"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a:t>
            </a:r>
            <a:endPar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endParaRPr>
          </a:p>
          <a:p>
            <a:pPr marL="228600" indent="-228600">
              <a:lnSpc>
                <a:spcPct val="136000"/>
              </a:lnSpc>
              <a:buFont typeface="+mj-ea"/>
              <a:buAutoNum type="circleNumDbPlain"/>
            </a:pPr>
            <a:r>
              <a:rPr lang="zh-CN" altLang="en-US" sz="1200" dirty="0">
                <a:solidFill>
                  <a:srgbClr val="14161A"/>
                </a:solidFill>
                <a:latin typeface="Heiti SC Light" panose="02000000000000000000" charset="-122"/>
                <a:ea typeface="Heiti SC Light" panose="02000000000000000000" charset="-122"/>
                <a:cs typeface="微软雅黑" panose="020B0503020204020204" pitchFamily="34" charset="-120"/>
                <a:sym typeface="+mn-ea"/>
              </a:rPr>
              <a:t>云端服务经理</a:t>
            </a:r>
            <a:r>
              <a:rPr lang="zh-CN" altLang="en-US" sz="1200" dirty="0">
                <a:solidFill>
                  <a:srgbClr val="666666"/>
                </a:solidFill>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快速分析并定性了事件和漏洞的真伪，联动安全设备进行了处置，紧急联系到</a:t>
            </a:r>
            <a:endParaRPr lang="en-US" altLang="en-US" sz="1200" b="1"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36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「客户单位</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对接人姓名</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sz="1200" b="1" dirty="0">
                <a:latin typeface="Heiti SC Light" panose="02000000000000000000" charset="-122"/>
                <a:ea typeface="Heiti SC Light" panose="02000000000000000000" charset="-122"/>
                <a:cs typeface="Heiti SC Light" panose="02000000000000000000" charset="-122"/>
                <a:sym typeface="+mn-ea"/>
              </a:rPr>
              <a:t>：</a:t>
            </a:r>
            <a:r>
              <a:rPr lang="zh-CN" altLang="en-US" sz="1200" dirty="0">
                <a:solidFill>
                  <a:srgbClr val="14161A"/>
                </a:solidFill>
                <a:latin typeface="Heiti SC Light" panose="02000000000000000000" charset="-122"/>
                <a:ea typeface="Heiti SC Light" panose="02000000000000000000" charset="-122"/>
                <a:cs typeface="Heiti SC Light" panose="02000000000000000000" charset="-122"/>
                <a:sym typeface="+mn-ea"/>
              </a:rPr>
              <a:t>第一时间切断了该业务的访问入口，并同步相关系统管理员进行漏洞闭环，规避了后续潜在的攻击和失分；</a:t>
            </a:r>
            <a:r>
              <a:rPr lang="zh-CN" sz="1200" dirty="0">
                <a:latin typeface="Heiti SC Light" panose="02000000000000000000" charset="-122"/>
                <a:ea typeface="Heiti SC Light" panose="02000000000000000000" charset="-122"/>
                <a:cs typeface="Heiti SC Light" panose="02000000000000000000" charset="-122"/>
                <a:sym typeface="+mn-ea"/>
              </a:rPr>
              <a:t>；</a:t>
            </a:r>
            <a:endParaRPr lang="en-US" sz="1200" dirty="0">
              <a:solidFill>
                <a:srgbClr val="14161A"/>
              </a:solidFill>
              <a:latin typeface="Heiti SC Light" panose="02000000000000000000" charset="-122"/>
              <a:ea typeface="Heiti SC Light" panose="02000000000000000000" charset="-122"/>
              <a:cs typeface="Heiti SC Light" panose="02000000000000000000" charset="-122"/>
            </a:endParaRPr>
          </a:p>
          <a:p>
            <a:pPr marL="228600" indent="-228600">
              <a:lnSpc>
                <a:spcPct val="136000"/>
              </a:lnSpc>
              <a:buFont typeface="+mj-ea"/>
              <a:buAutoNum type="circleNumDbPlain"/>
            </a:pP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「线下驻场</a:t>
            </a:r>
            <a:r>
              <a:rPr lang="en-US" alt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a:t>
            </a:r>
            <a:r>
              <a:rPr lang="zh-CN" altLang="en-US"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渠道工程师</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」：现场处置（</a:t>
            </a:r>
            <a:r>
              <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rPr>
              <a:t>如有）</a:t>
            </a:r>
            <a:endParaRPr lang="zh-CN" sz="1200" b="1" dirty="0">
              <a:solidFill>
                <a:srgbClr val="4C61E7"/>
              </a:solidFill>
              <a:latin typeface="Heiti SC Light" panose="02000000000000000000" charset="-122"/>
              <a:ea typeface="Heiti SC Light" panose="02000000000000000000" charset="-122"/>
              <a:cs typeface="Heiti SC Light" panose="02000000000000000000" charset="-122"/>
              <a:sym typeface="+mn-ea"/>
            </a:endParaRPr>
          </a:p>
        </p:txBody>
      </p:sp>
      <p:pic>
        <p:nvPicPr>
          <p:cNvPr id="13" name="Image 0" descr="/opt/sangfor/app/report-generation/soar/apps/report_generation/front/threat-management-report/static/images/quarterly-report/event-manage/finished.png"/>
          <p:cNvPicPr>
            <a:picLocks noChangeAspect="1"/>
          </p:cNvPicPr>
          <p:nvPr/>
        </p:nvPicPr>
        <p:blipFill>
          <a:blip r:embed="rId4"/>
          <a:stretch>
            <a:fillRect/>
          </a:stretch>
        </p:blipFill>
        <p:spPr>
          <a:xfrm>
            <a:off x="4808474" y="5488813"/>
            <a:ext cx="1088136" cy="877824"/>
          </a:xfrm>
          <a:prstGeom prst="rect">
            <a:avLst/>
          </a:prstGeom>
        </p:spPr>
      </p:pic>
      <p:grpSp>
        <p:nvGrpSpPr>
          <p:cNvPr id="14" name="组合 13"/>
          <p:cNvGrpSpPr/>
          <p:nvPr/>
        </p:nvGrpSpPr>
        <p:grpSpPr>
          <a:xfrm>
            <a:off x="224790" y="306388"/>
            <a:ext cx="8690610" cy="295275"/>
            <a:chOff x="533" y="672"/>
            <a:chExt cx="13686" cy="465"/>
          </a:xfrm>
        </p:grpSpPr>
        <p:grpSp>
          <p:nvGrpSpPr>
            <p:cNvPr id="15" name="组合 14"/>
            <p:cNvGrpSpPr/>
            <p:nvPr/>
          </p:nvGrpSpPr>
          <p:grpSpPr>
            <a:xfrm rot="0">
              <a:off x="533" y="672"/>
              <a:ext cx="582" cy="420"/>
              <a:chOff x="533" y="672"/>
              <a:chExt cx="582" cy="420"/>
            </a:xfrm>
          </p:grpSpPr>
          <p:sp>
            <p:nvSpPr>
              <p:cNvPr id="17"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9"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0" name="textbox 158"/>
            <p:cNvSpPr/>
            <p:nvPr/>
          </p:nvSpPr>
          <p:spPr>
            <a:xfrm>
              <a:off x="5382"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p:cNvPicPr>
            <a:picLocks noChangeAspect="1"/>
          </p:cNvPicPr>
          <p:nvPr/>
        </p:nvPicPr>
        <p:blipFill>
          <a:blip r:embed="rId7"/>
          <a:stretch>
            <a:fillRect/>
          </a:stretch>
        </p:blipFill>
        <p:spPr>
          <a:xfrm>
            <a:off x="6383020" y="1026795"/>
            <a:ext cx="4794250" cy="5457825"/>
          </a:xfrm>
          <a:prstGeom prst="rect">
            <a:avLst/>
          </a:prstGeom>
        </p:spPr>
      </p:pic>
      <p:sp>
        <p:nvSpPr>
          <p:cNvPr id="6" name="文本框 5"/>
          <p:cNvSpPr txBox="1"/>
          <p:nvPr/>
        </p:nvSpPr>
        <p:spPr>
          <a:xfrm>
            <a:off x="599440" y="682625"/>
            <a:ext cx="6096000" cy="229870"/>
          </a:xfrm>
          <a:prstGeom prst="rect">
            <a:avLst/>
          </a:prstGeom>
          <a:noFill/>
        </p:spPr>
        <p:txBody>
          <a:bodyPr wrap="square" rtlCol="0" anchor="t">
            <a:spAutoFit/>
          </a:bodyPr>
          <a:p>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TIPs</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选择重要时期发生</a:t>
            </a:r>
            <a:r>
              <a:rPr lang="zh-CN" altLang="en-US"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的，并且跟用户共同协作完成处置的典型事件样例</a:t>
            </a:r>
            <a:r>
              <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rPr>
              <a:t>}</a:t>
            </a:r>
            <a:endParaRPr lang="en-US" altLang="zh-CN" sz="900" dirty="0">
              <a:solidFill>
                <a:srgbClr val="4C61E7"/>
              </a:solidFill>
              <a:highlight>
                <a:srgbClr val="FFFF00"/>
              </a:highlight>
              <a:latin typeface="Arial" panose="020B0604020202020204" pitchFamily="34" charset="0"/>
              <a:ea typeface="黑体-简" panose="02000000000000000000" charset="-122"/>
              <a:cs typeface="微软雅黑" panose="020B0503020204020204" pitchFamily="34" charset="-120"/>
              <a:sym typeface="+mn-ea"/>
            </a:endParaRPr>
          </a:p>
        </p:txBody>
      </p:sp>
    </p:spTree>
    <p:custDataLst>
      <p:tags r:id="rId8"/>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4279900" cy="327025"/>
            <a:chOff x="533" y="646"/>
            <a:chExt cx="674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5928"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a:solidFill>
                    <a:srgbClr val="262626"/>
                  </a:solidFill>
                  <a:latin typeface="Arial Black" panose="020B0A04020102020204" pitchFamily="34" charset="0"/>
                  <a:ea typeface="微软雅黑" panose="020B0503020204020204" charset="-122"/>
                  <a:cs typeface="Noto Sans SC"/>
                  <a:sym typeface="Noto Sans SC"/>
                </a:rPr>
                <a:t>安全水位可量化</a:t>
              </a:r>
              <a:endParaRPr lang="zh-CN" altLang="en-US" sz="1900" b="1">
                <a:solidFill>
                  <a:srgbClr val="262626"/>
                </a:solidFill>
                <a:latin typeface="Arial Black" panose="020B0A04020102020204" pitchFamily="34" charset="0"/>
                <a:ea typeface="微软雅黑" panose="020B0503020204020204" charset="-122"/>
                <a:cs typeface="Noto Sans SC"/>
                <a:sym typeface="Noto Sans SC"/>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 name="椭圆 1"/>
          <p:cNvSpPr/>
          <p:nvPr>
            <p:custDataLst>
              <p:tags r:id="rId4"/>
            </p:custDataLst>
          </p:nvPr>
        </p:nvSpPr>
        <p:spPr>
          <a:xfrm>
            <a:off x="4637220" y="3527151"/>
            <a:ext cx="2868025" cy="506420"/>
          </a:xfrm>
          <a:prstGeom prst="ellipse">
            <a:avLst/>
          </a:prstGeom>
          <a:gradFill>
            <a:gsLst>
              <a:gs pos="0">
                <a:schemeClr val="accent5">
                  <a:alpha val="0"/>
                </a:schemeClr>
              </a:gs>
              <a:gs pos="100000">
                <a:schemeClr val="accent5">
                  <a:alpha val="33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endParaRPr lang="zh-CN" altLang="en-US" sz="1600">
              <a:solidFill>
                <a:schemeClr val="bg1"/>
              </a:solidFill>
              <a:latin typeface="+mj-ea"/>
              <a:ea typeface="+mj-ea"/>
            </a:endParaRPr>
          </a:p>
        </p:txBody>
      </p:sp>
      <p:sp>
        <p:nvSpPr>
          <p:cNvPr id="6" name="椭圆 5"/>
          <p:cNvSpPr/>
          <p:nvPr>
            <p:custDataLst>
              <p:tags r:id="rId5"/>
            </p:custDataLst>
          </p:nvPr>
        </p:nvSpPr>
        <p:spPr>
          <a:xfrm>
            <a:off x="4304569" y="3741455"/>
            <a:ext cx="3532265" cy="506420"/>
          </a:xfrm>
          <a:prstGeom prst="ellipse">
            <a:avLst/>
          </a:prstGeom>
          <a:gradFill>
            <a:gsLst>
              <a:gs pos="10000">
                <a:schemeClr val="accent5">
                  <a:alpha val="0"/>
                </a:schemeClr>
              </a:gs>
              <a:gs pos="100000">
                <a:schemeClr val="accent5">
                  <a:alpha val="12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endParaRPr lang="zh-CN" altLang="en-US" sz="1600">
              <a:solidFill>
                <a:schemeClr val="bg1"/>
              </a:solidFill>
              <a:latin typeface="+mj-ea"/>
              <a:ea typeface="+mj-ea"/>
            </a:endParaRPr>
          </a:p>
        </p:txBody>
      </p:sp>
      <p:sp>
        <p:nvSpPr>
          <p:cNvPr id="7" name="椭圆 6"/>
          <p:cNvSpPr/>
          <p:nvPr>
            <p:custDataLst>
              <p:tags r:id="rId6"/>
            </p:custDataLst>
          </p:nvPr>
        </p:nvSpPr>
        <p:spPr>
          <a:xfrm>
            <a:off x="4171315" y="1600835"/>
            <a:ext cx="3742055" cy="3497580"/>
          </a:xfrm>
          <a:prstGeom prst="ellipse">
            <a:avLst/>
          </a:prstGeom>
          <a:noFill/>
          <a:ln>
            <a:gradFill>
              <a:gsLst>
                <a:gs pos="0">
                  <a:schemeClr val="accent5">
                    <a:alpha val="0"/>
                  </a:schemeClr>
                </a:gs>
                <a:gs pos="50000">
                  <a:schemeClr val="accent5">
                    <a:alpha val="40000"/>
                  </a:schemeClr>
                </a:gs>
                <a:gs pos="100000">
                  <a:schemeClr val="accent5">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15" name="平行四边形 14"/>
          <p:cNvSpPr/>
          <p:nvPr>
            <p:custDataLst>
              <p:tags r:id="rId7"/>
            </p:custDataLst>
          </p:nvPr>
        </p:nvSpPr>
        <p:spPr>
          <a:xfrm rot="5400000">
            <a:off x="6599217" y="3044169"/>
            <a:ext cx="874034" cy="188244"/>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19" name="平行四边形 18"/>
          <p:cNvSpPr/>
          <p:nvPr>
            <p:custDataLst>
              <p:tags r:id="rId8"/>
            </p:custDataLst>
          </p:nvPr>
        </p:nvSpPr>
        <p:spPr>
          <a:xfrm rot="16200000" flipH="1">
            <a:off x="4740853" y="3044169"/>
            <a:ext cx="874034" cy="188244"/>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0" name="平行四边形 19"/>
          <p:cNvSpPr/>
          <p:nvPr>
            <p:custDataLst>
              <p:tags r:id="rId9"/>
            </p:custDataLst>
          </p:nvPr>
        </p:nvSpPr>
        <p:spPr>
          <a:xfrm rot="16200000" flipH="1">
            <a:off x="4406283" y="3310289"/>
            <a:ext cx="794807" cy="69720"/>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3" name="平行四边形 22"/>
          <p:cNvSpPr/>
          <p:nvPr>
            <p:custDataLst>
              <p:tags r:id="rId10"/>
            </p:custDataLst>
          </p:nvPr>
        </p:nvSpPr>
        <p:spPr>
          <a:xfrm rot="5400000">
            <a:off x="6883889" y="3397290"/>
            <a:ext cx="794807" cy="69720"/>
          </a:xfrm>
          <a:prstGeom prst="parallelogram">
            <a:avLst/>
          </a:prstGeom>
          <a:gradFill flip="none" rotWithShape="0">
            <a:gsLst>
              <a:gs pos="100000">
                <a:schemeClr val="accent5">
                  <a:lumMod val="60000"/>
                  <a:lumOff val="40000"/>
                  <a:alpha val="0"/>
                </a:schemeClr>
              </a:gs>
              <a:gs pos="0">
                <a:schemeClr val="accent5">
                  <a:alpha val="2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4" name="平行四边形 23"/>
          <p:cNvSpPr/>
          <p:nvPr>
            <p:custDataLst>
              <p:tags r:id="rId11"/>
            </p:custDataLst>
          </p:nvPr>
        </p:nvSpPr>
        <p:spPr>
          <a:xfrm rot="5400000">
            <a:off x="6008123" y="2819630"/>
            <a:ext cx="1145942" cy="188244"/>
          </a:xfrm>
          <a:prstGeom prst="parallelogram">
            <a:avLst>
              <a:gd name="adj" fmla="val 39950"/>
            </a:avLst>
          </a:prstGeom>
          <a:gradFill flip="none" rotWithShape="0">
            <a:gsLst>
              <a:gs pos="100000">
                <a:schemeClr val="accent5">
                  <a:lumMod val="60000"/>
                  <a:lumOff val="40000"/>
                  <a:alpha val="0"/>
                </a:schemeClr>
              </a:gs>
              <a:gs pos="0">
                <a:schemeClr val="accent5">
                  <a:alpha val="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25" name="平行四边形 24"/>
          <p:cNvSpPr/>
          <p:nvPr>
            <p:custDataLst>
              <p:tags r:id="rId12"/>
            </p:custDataLst>
          </p:nvPr>
        </p:nvSpPr>
        <p:spPr>
          <a:xfrm rot="16200000" flipH="1">
            <a:off x="4879671" y="2950771"/>
            <a:ext cx="1555389" cy="255429"/>
          </a:xfrm>
          <a:prstGeom prst="parallelogram">
            <a:avLst>
              <a:gd name="adj" fmla="val 39950"/>
            </a:avLst>
          </a:prstGeom>
          <a:gradFill flip="none" rotWithShape="0">
            <a:gsLst>
              <a:gs pos="100000">
                <a:schemeClr val="accent5">
                  <a:lumMod val="60000"/>
                  <a:lumOff val="40000"/>
                  <a:alpha val="0"/>
                </a:schemeClr>
              </a:gs>
              <a:gs pos="0">
                <a:schemeClr val="accent5">
                  <a:alpha val="15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17" name="平行四边形 16"/>
          <p:cNvSpPr/>
          <p:nvPr>
            <p:custDataLst>
              <p:tags r:id="rId13"/>
            </p:custDataLst>
          </p:nvPr>
        </p:nvSpPr>
        <p:spPr>
          <a:xfrm rot="5400000" flipH="1" flipV="1">
            <a:off x="5363933" y="2786365"/>
            <a:ext cx="1532570" cy="255429"/>
          </a:xfrm>
          <a:prstGeom prst="parallelogram">
            <a:avLst>
              <a:gd name="adj" fmla="val 39950"/>
            </a:avLst>
          </a:prstGeom>
          <a:gradFill flip="none" rotWithShape="0">
            <a:gsLst>
              <a:gs pos="100000">
                <a:schemeClr val="accent5">
                  <a:lumMod val="60000"/>
                  <a:lumOff val="40000"/>
                  <a:alpha val="0"/>
                </a:schemeClr>
              </a:gs>
              <a:gs pos="0">
                <a:schemeClr val="accent5">
                  <a:alpha val="1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34" name="Oval 41+"/>
          <p:cNvSpPr/>
          <p:nvPr>
            <p:custDataLst>
              <p:tags r:id="rId14"/>
            </p:custDataLst>
          </p:nvPr>
        </p:nvSpPr>
        <p:spPr>
          <a:xfrm>
            <a:off x="4065905" y="1495425"/>
            <a:ext cx="3952875" cy="3696335"/>
          </a:xfrm>
          <a:prstGeom prst="ellipse">
            <a:avLst/>
          </a:prstGeom>
          <a:noFill/>
          <a:ln w="22225">
            <a:gradFill>
              <a:gsLst>
                <a:gs pos="0">
                  <a:schemeClr val="accent5">
                    <a:alpha val="0"/>
                  </a:schemeClr>
                </a:gs>
                <a:gs pos="50000">
                  <a:schemeClr val="accent5">
                    <a:alpha val="40000"/>
                  </a:schemeClr>
                </a:gs>
                <a:gs pos="100000">
                  <a:schemeClr val="accent5">
                    <a:alpha val="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mj-ea"/>
              <a:ea typeface="+mj-ea"/>
            </a:endParaRPr>
          </a:p>
        </p:txBody>
      </p:sp>
      <p:sp>
        <p:nvSpPr>
          <p:cNvPr id="35" name="矩形 34"/>
          <p:cNvSpPr/>
          <p:nvPr>
            <p:custDataLst>
              <p:tags r:id="rId15"/>
            </p:custDataLst>
          </p:nvPr>
        </p:nvSpPr>
        <p:spPr>
          <a:xfrm>
            <a:off x="390525" y="1307820"/>
            <a:ext cx="3456000" cy="3600000"/>
          </a:xfrm>
          <a:prstGeom prst="rect">
            <a:avLst/>
          </a:prstGeom>
          <a:solidFill>
            <a:schemeClr val="accent5">
              <a:lumMod val="20000"/>
              <a:lumOff val="80000"/>
            </a:schemeClr>
          </a:solidFill>
        </p:spPr>
        <p:txBody>
          <a:bodyPr wrap="square" lIns="46990" tIns="46990" rIns="36195" bIns="46990" rtlCol="0" anchor="t" anchorCtr="0">
            <a:noAutofit/>
          </a:bodyPr>
          <a:p>
            <a:pPr indent="0" algn="ctr">
              <a:lnSpc>
                <a:spcPct val="150000"/>
              </a:lnSpc>
            </a:pPr>
            <a:r>
              <a:rPr lang="zh-CN" altLang="en-US" sz="1200">
                <a:solidFill>
                  <a:srgbClr val="374151"/>
                </a:solidFill>
                <a:latin typeface="Arial" panose="020B0604020202020204" pitchFamily="34" charset="0"/>
                <a:ea typeface="黑体-简" panose="02000000000000000000" charset="-122"/>
                <a:cs typeface="Noto Sans SC"/>
                <a:sym typeface="Noto Sans SC"/>
              </a:rPr>
              <a:t>资产覆盖范围内的入侵攻击全面做到主动防御</a:t>
            </a:r>
            <a:endParaRPr lang="zh-CN" altLang="en-US" sz="1200">
              <a:solidFill>
                <a:srgbClr val="374151"/>
              </a:solidFill>
              <a:latin typeface="Arial" panose="020B0604020202020204" pitchFamily="34" charset="0"/>
              <a:ea typeface="黑体-简" panose="02000000000000000000" charset="-122"/>
              <a:cs typeface="Noto Sans SC"/>
              <a:sym typeface="Noto Sans SC"/>
            </a:endParaRPr>
          </a:p>
          <a:p>
            <a:pPr indent="0" algn="ctr">
              <a:lnSpc>
                <a:spcPct val="150000"/>
              </a:lnSpc>
            </a:pPr>
            <a:r>
              <a:rPr lang="zh-CN" altLang="en-US" sz="1200">
                <a:solidFill>
                  <a:srgbClr val="374151"/>
                </a:solidFill>
                <a:latin typeface="Arial" panose="020B0604020202020204" pitchFamily="34" charset="0"/>
                <a:ea typeface="黑体-简" panose="02000000000000000000" charset="-122"/>
                <a:cs typeface="Noto Sans SC"/>
                <a:sym typeface="Noto Sans SC"/>
              </a:rPr>
              <a:t>安全告警主动分析和响应覆盖率达到</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zh-CN" altLang="en-US" sz="1200">
                <a:solidFill>
                  <a:srgbClr val="4C61E7"/>
                </a:solidFill>
                <a:latin typeface="Arial" panose="020B0604020202020204" pitchFamily="34" charset="0"/>
                <a:ea typeface="黑体-简" panose="02000000000000000000" charset="-122"/>
                <a:cs typeface="Source Han Sans CN Normal" panose="020B0600000000000000" charset="-122"/>
                <a:sym typeface="+mn-ea"/>
              </a:rPr>
              <a:t>告警研判率</a:t>
            </a:r>
            <a:r>
              <a:rPr lang="en-US" altLang="zh-CN" sz="1200">
                <a:solidFill>
                  <a:srgbClr val="4C61E7"/>
                </a:solidFill>
                <a:latin typeface="Arial" panose="020B0604020202020204" pitchFamily="34" charset="0"/>
                <a:ea typeface="黑体-简" panose="02000000000000000000" charset="-122"/>
                <a:cs typeface="Noto Sans SC"/>
                <a:sym typeface="Noto Sans SC"/>
              </a:rPr>
              <a:t>}</a:t>
            </a:r>
            <a:endParaRPr lang="en-US" altLang="zh-CN" sz="1200">
              <a:solidFill>
                <a:srgbClr val="4C61E7"/>
              </a:solidFill>
              <a:latin typeface="Arial" panose="020B0604020202020204" pitchFamily="34" charset="0"/>
              <a:ea typeface="黑体-简" panose="02000000000000000000" charset="-122"/>
              <a:cs typeface="Noto Sans SC"/>
              <a:sym typeface="Noto Sans SC"/>
            </a:endParaRPr>
          </a:p>
          <a:p>
            <a:pPr indent="0" algn="ctr">
              <a:lnSpc>
                <a:spcPct val="150000"/>
              </a:lnSpc>
            </a:pPr>
            <a:r>
              <a:rPr lang="zh-CN" altLang="en-US" sz="1200">
                <a:solidFill>
                  <a:srgbClr val="374151"/>
                </a:solidFill>
                <a:latin typeface="Arial" panose="020B0604020202020204" pitchFamily="34" charset="0"/>
                <a:ea typeface="黑体-简" panose="02000000000000000000" charset="-122"/>
                <a:cs typeface="Noto Sans SC"/>
                <a:sym typeface="Noto Sans SC"/>
              </a:rPr>
              <a:t>安全运营各项关键指标达到国家标准</a:t>
            </a:r>
            <a:endParaRPr lang="en-US" sz="1200">
              <a:solidFill>
                <a:srgbClr val="374151"/>
              </a:solidFill>
              <a:latin typeface="Arial" panose="020B0604020202020204" pitchFamily="34" charset="0"/>
              <a:ea typeface="黑体-简" panose="02000000000000000000" charset="-122"/>
              <a:cs typeface="Noto Sans SC"/>
              <a:sym typeface="Noto Sans SC"/>
            </a:endParaRPr>
          </a:p>
          <a:p>
            <a:pPr indent="0" algn="ctr">
              <a:lnSpc>
                <a:spcPct val="150000"/>
              </a:lnSpc>
              <a:spcBef>
                <a:spcPct val="0"/>
              </a:spcBef>
              <a:spcAft>
                <a:spcPct val="0"/>
              </a:spcAft>
            </a:pPr>
            <a:endParaRPr lang="zh-CN" altLang="en-US" sz="1200" dirty="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37" name="矩形 36"/>
          <p:cNvSpPr/>
          <p:nvPr>
            <p:custDataLst>
              <p:tags r:id="rId16"/>
            </p:custDataLst>
          </p:nvPr>
        </p:nvSpPr>
        <p:spPr>
          <a:xfrm>
            <a:off x="8210653" y="1307820"/>
            <a:ext cx="3456000" cy="3600000"/>
          </a:xfrm>
          <a:prstGeom prst="rect">
            <a:avLst/>
          </a:prstGeom>
          <a:solidFill>
            <a:schemeClr val="accent6">
              <a:lumMod val="20000"/>
              <a:lumOff val="80000"/>
            </a:schemeClr>
          </a:solidFill>
        </p:spPr>
        <p:txBody>
          <a:bodyPr wrap="square" lIns="46990" tIns="46990" rIns="46990" bIns="46990" rtlCol="0" anchor="t" anchorCtr="0">
            <a:noAutofit/>
          </a:bodyPr>
          <a:p>
            <a:pPr algn="ctr">
              <a:lnSpc>
                <a:spcPct val="150000"/>
              </a:lnSpc>
              <a:spcBef>
                <a:spcPct val="0"/>
              </a:spcBef>
              <a:spcAft>
                <a:spcPct val="0"/>
              </a:spcAft>
            </a:pPr>
            <a:r>
              <a:rPr lang="zh-CN" altLang="en-US" sz="1200">
                <a:solidFill>
                  <a:schemeClr val="tx1">
                    <a:lumMod val="85000"/>
                    <a:lumOff val="15000"/>
                  </a:schemeClr>
                </a:solidFill>
                <a:latin typeface="Arial" panose="020B0604020202020204" pitchFamily="34" charset="0"/>
                <a:ea typeface="黑体-简" panose="02000000000000000000" charset="-122"/>
                <a:cs typeface="+mn-ea"/>
              </a:rPr>
              <a:t>服务上线以来安全水位线显著提升</a:t>
            </a: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r>
              <a:rPr lang="zh-CN" altLang="en-US" sz="1200">
                <a:solidFill>
                  <a:schemeClr val="tx1">
                    <a:lumMod val="85000"/>
                    <a:lumOff val="15000"/>
                  </a:schemeClr>
                </a:solidFill>
                <a:latin typeface="Arial" panose="020B0604020202020204" pitchFamily="34" charset="0"/>
                <a:ea typeface="黑体-简" panose="02000000000000000000" charset="-122"/>
                <a:cs typeface="+mn-ea"/>
              </a:rPr>
              <a:t>风险预防工作从无序被动响应变为有序主动开展</a:t>
            </a: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r>
              <a:rPr lang="zh-CN" altLang="en-US" sz="1200">
                <a:solidFill>
                  <a:schemeClr val="tx1">
                    <a:lumMod val="85000"/>
                    <a:lumOff val="15000"/>
                  </a:schemeClr>
                </a:solidFill>
                <a:latin typeface="Arial" panose="020B0604020202020204" pitchFamily="34" charset="0"/>
                <a:ea typeface="黑体-简" panose="02000000000000000000" charset="-122"/>
                <a:cs typeface="+mn-ea"/>
              </a:rPr>
              <a:t>安全威胁从事后被动处置变为事前主动运营</a:t>
            </a: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a:p>
            <a:pPr algn="ctr">
              <a:lnSpc>
                <a:spcPct val="150000"/>
              </a:lnSpc>
              <a:spcBef>
                <a:spcPct val="0"/>
              </a:spcBef>
              <a:spcAft>
                <a:spcPct val="0"/>
              </a:spcAft>
            </a:pPr>
            <a:endParaRPr lang="zh-CN" altLang="en-US" sz="1200">
              <a:solidFill>
                <a:schemeClr val="tx1">
                  <a:lumMod val="85000"/>
                  <a:lumOff val="15000"/>
                </a:schemeClr>
              </a:solidFill>
              <a:latin typeface="Arial" panose="020B0604020202020204" pitchFamily="34" charset="0"/>
              <a:ea typeface="黑体-简" panose="02000000000000000000" charset="-122"/>
              <a:cs typeface="+mn-ea"/>
            </a:endParaRPr>
          </a:p>
        </p:txBody>
      </p:sp>
      <p:sp>
        <p:nvSpPr>
          <p:cNvPr id="38" name="箭头: V 形 20"/>
          <p:cNvSpPr/>
          <p:nvPr>
            <p:custDataLst>
              <p:tags r:id="rId17"/>
            </p:custDataLst>
          </p:nvPr>
        </p:nvSpPr>
        <p:spPr>
          <a:xfrm>
            <a:off x="3496102" y="990853"/>
            <a:ext cx="189995" cy="189995"/>
          </a:xfrm>
          <a:prstGeom prst="chevron">
            <a:avLst/>
          </a:prstGeom>
          <a:gradFill>
            <a:gsLst>
              <a:gs pos="99301">
                <a:schemeClr val="accent5">
                  <a:lumMod val="75000"/>
                  <a:alpha val="100000"/>
                </a:schemeClr>
              </a:gs>
              <a:gs pos="0">
                <a:schemeClr val="accent5">
                  <a:lumMod val="60000"/>
                  <a:lumOff val="40000"/>
                  <a:alpha val="100000"/>
                </a:schemeClr>
              </a:gs>
              <a:gs pos="68000">
                <a:schemeClr val="accent5">
                  <a:alpha val="10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mj-ea"/>
              <a:ea typeface="+mj-ea"/>
            </a:endParaRPr>
          </a:p>
        </p:txBody>
      </p:sp>
      <p:sp>
        <p:nvSpPr>
          <p:cNvPr id="39" name="箭头: V 形 21"/>
          <p:cNvSpPr/>
          <p:nvPr>
            <p:custDataLst>
              <p:tags r:id="rId18"/>
            </p:custDataLst>
          </p:nvPr>
        </p:nvSpPr>
        <p:spPr>
          <a:xfrm flipH="1">
            <a:off x="8398603" y="990853"/>
            <a:ext cx="189995" cy="189995"/>
          </a:xfrm>
          <a:prstGeom prst="chevron">
            <a:avLst/>
          </a:prstGeom>
          <a:gradFill>
            <a:gsLst>
              <a:gs pos="99301">
                <a:schemeClr val="accent6">
                  <a:lumMod val="75000"/>
                  <a:alpha val="100000"/>
                </a:schemeClr>
              </a:gs>
              <a:gs pos="0">
                <a:schemeClr val="accent6">
                  <a:lumMod val="60000"/>
                  <a:lumOff val="40000"/>
                  <a:alpha val="100000"/>
                </a:schemeClr>
              </a:gs>
              <a:gs pos="68000">
                <a:schemeClr val="accent6">
                  <a:alpha val="100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mj-ea"/>
              <a:ea typeface="+mj-ea"/>
            </a:endParaRPr>
          </a:p>
        </p:txBody>
      </p:sp>
      <p:sp>
        <p:nvSpPr>
          <p:cNvPr id="40" name="标题"/>
          <p:cNvSpPr txBox="1"/>
          <p:nvPr>
            <p:custDataLst>
              <p:tags r:id="rId19"/>
            </p:custDataLst>
          </p:nvPr>
        </p:nvSpPr>
        <p:spPr>
          <a:xfrm>
            <a:off x="4298315" y="2682240"/>
            <a:ext cx="3475355" cy="1322705"/>
          </a:xfrm>
          <a:prstGeom prst="rect">
            <a:avLst/>
          </a:prstGeom>
          <a:noFill/>
          <a:effectLst/>
        </p:spPr>
        <p:txBody>
          <a:bodyPr wrap="square" lIns="0" tIns="0" rIns="0" bIns="0" rtlCol="0" anchor="ctr">
            <a:noAutofit/>
          </a:bodyPr>
          <a:lstStyle/>
          <a:p>
            <a:pPr lvl="0" algn="ctr">
              <a:lnSpc>
                <a:spcPct val="150000"/>
              </a:lnSpc>
              <a:buClrTx/>
              <a:buSzTx/>
              <a:buFontTx/>
            </a:pPr>
            <a:r>
              <a:rPr lang="zh-CN" altLang="en-US" sz="2000" b="1" spc="300" dirty="0">
                <a:ln w="0">
                  <a:noFill/>
                </a:ln>
                <a:solidFill>
                  <a:schemeClr val="tx1"/>
                </a:solidFill>
                <a:uFillTx/>
                <a:latin typeface="Arial" panose="020B0604020202020204" pitchFamily="34" charset="0"/>
                <a:ea typeface="黑体-简" panose="02000000000000000000" charset="-122"/>
                <a:cs typeface="+mn-ea"/>
                <a:sym typeface="+mn-ea"/>
              </a:rPr>
              <a:t>安全水位可视</a:t>
            </a:r>
            <a:r>
              <a:rPr lang="en-US" altLang="zh-CN" sz="2000" b="1" spc="300" dirty="0">
                <a:ln w="0">
                  <a:noFill/>
                </a:ln>
                <a:solidFill>
                  <a:schemeClr val="tx1"/>
                </a:solidFill>
                <a:uFillTx/>
                <a:latin typeface="Arial" panose="020B0604020202020204" pitchFamily="34" charset="0"/>
                <a:ea typeface="黑体-简" panose="02000000000000000000" charset="-122"/>
                <a:cs typeface="+mn-ea"/>
                <a:sym typeface="+mn-ea"/>
              </a:rPr>
              <a:t>&amp;</a:t>
            </a:r>
            <a:r>
              <a:rPr lang="zh-CN" altLang="en-US" sz="2000" b="1" spc="300" dirty="0">
                <a:ln w="0">
                  <a:noFill/>
                </a:ln>
                <a:solidFill>
                  <a:schemeClr val="tx1"/>
                </a:solidFill>
                <a:uFillTx/>
                <a:latin typeface="Arial" panose="020B0604020202020204" pitchFamily="34" charset="0"/>
                <a:ea typeface="黑体-简" panose="02000000000000000000" charset="-122"/>
                <a:cs typeface="+mn-ea"/>
                <a:sym typeface="+mn-ea"/>
              </a:rPr>
              <a:t>提升</a:t>
            </a:r>
            <a:endParaRPr lang="zh-CN" altLang="en-US" sz="2000" b="1" spc="300" dirty="0">
              <a:ln w="0">
                <a:noFill/>
              </a:ln>
              <a:solidFill>
                <a:schemeClr val="tx1"/>
              </a:solidFill>
              <a:uFillTx/>
              <a:latin typeface="Arial" panose="020B0604020202020204" pitchFamily="34" charset="0"/>
              <a:ea typeface="黑体-简" panose="02000000000000000000" charset="-122"/>
              <a:cs typeface="+mn-ea"/>
              <a:sym typeface="+mn-ea"/>
            </a:endParaRPr>
          </a:p>
          <a:p>
            <a:pPr lvl="0" algn="ctr">
              <a:lnSpc>
                <a:spcPct val="150000"/>
              </a:lnSpc>
              <a:buClrTx/>
              <a:buSzTx/>
              <a:buFontTx/>
            </a:pPr>
            <a:r>
              <a:rPr lang="zh-CN" altLang="en-US" sz="1400" b="1" spc="300" dirty="0">
                <a:ln w="0">
                  <a:noFill/>
                </a:ln>
                <a:solidFill>
                  <a:schemeClr val="tx1"/>
                </a:solidFill>
                <a:uFillTx/>
                <a:latin typeface="Arial" panose="020B0604020202020204" pitchFamily="34" charset="0"/>
                <a:ea typeface="黑体-简" panose="02000000000000000000" charset="-122"/>
                <a:cs typeface="+mn-ea"/>
                <a:sym typeface="+mn-ea"/>
              </a:rPr>
              <a:t>从</a:t>
            </a:r>
            <a:r>
              <a:rPr lang="zh-CN" altLang="en-US" sz="1400" b="1" spc="300" dirty="0">
                <a:ln w="0">
                  <a:noFill/>
                </a:ln>
                <a:solidFill>
                  <a:schemeClr val="accent2"/>
                </a:solidFill>
                <a:uFillTx/>
                <a:latin typeface="Arial" panose="020B0604020202020204" pitchFamily="34" charset="0"/>
                <a:ea typeface="黑体-简" panose="02000000000000000000" charset="-122"/>
                <a:cs typeface="+mn-ea"/>
                <a:sym typeface="+mn-ea"/>
              </a:rPr>
              <a:t>“基础合规”</a:t>
            </a:r>
            <a:r>
              <a:rPr lang="zh-CN" altLang="en-US" sz="1400" b="1" spc="300" dirty="0">
                <a:ln w="0">
                  <a:noFill/>
                </a:ln>
                <a:solidFill>
                  <a:schemeClr val="tx1"/>
                </a:solidFill>
                <a:uFillTx/>
                <a:latin typeface="Arial" panose="020B0604020202020204" pitchFamily="34" charset="0"/>
                <a:ea typeface="黑体-简" panose="02000000000000000000" charset="-122"/>
                <a:cs typeface="+mn-ea"/>
                <a:sym typeface="+mn-ea"/>
              </a:rPr>
              <a:t>跃升至</a:t>
            </a:r>
            <a:r>
              <a:rPr lang="zh-CN" altLang="en-US" sz="1400" b="1" spc="300" dirty="0">
                <a:ln w="0">
                  <a:noFill/>
                </a:ln>
                <a:solidFill>
                  <a:schemeClr val="accent6"/>
                </a:solidFill>
                <a:uFillTx/>
                <a:latin typeface="Arial" panose="020B0604020202020204" pitchFamily="34" charset="0"/>
                <a:ea typeface="黑体-简" panose="02000000000000000000" charset="-122"/>
                <a:cs typeface="+mn-ea"/>
                <a:sym typeface="+mn-ea"/>
              </a:rPr>
              <a:t>“主动防御”</a:t>
            </a:r>
            <a:endParaRPr lang="zh-CN" altLang="en-US" sz="1400" b="1" spc="300" dirty="0">
              <a:ln w="0">
                <a:noFill/>
              </a:ln>
              <a:solidFill>
                <a:schemeClr val="accent6">
                  <a:lumMod val="60000"/>
                  <a:lumOff val="40000"/>
                </a:schemeClr>
              </a:solidFill>
              <a:uFillTx/>
              <a:latin typeface="Arial" panose="020B0604020202020204" pitchFamily="34" charset="0"/>
              <a:ea typeface="黑体-简" panose="02000000000000000000" charset="-122"/>
              <a:cs typeface="+mn-ea"/>
              <a:sym typeface="+mn-ea"/>
            </a:endParaRPr>
          </a:p>
          <a:p>
            <a:pPr lvl="0" algn="ctr">
              <a:lnSpc>
                <a:spcPct val="150000"/>
              </a:lnSpc>
              <a:buClrTx/>
              <a:buSzTx/>
              <a:buFontTx/>
            </a:pPr>
            <a:r>
              <a:rPr lang="zh-CN" altLang="en-US" sz="1400" b="1" spc="300" dirty="0">
                <a:ln w="0">
                  <a:noFill/>
                </a:ln>
                <a:solidFill>
                  <a:schemeClr val="tx1"/>
                </a:solidFill>
                <a:uFillTx/>
                <a:latin typeface="Arial" panose="020B0604020202020204" pitchFamily="34" charset="0"/>
                <a:ea typeface="黑体-简" panose="02000000000000000000" charset="-122"/>
                <a:cs typeface="+mn-ea"/>
                <a:sym typeface="+mn-ea"/>
              </a:rPr>
              <a:t>部分场景已实现</a:t>
            </a:r>
            <a:r>
              <a:rPr lang="zh-CN" altLang="en-US" sz="1400" b="1" spc="300" dirty="0">
                <a:ln w="0">
                  <a:noFill/>
                </a:ln>
                <a:solidFill>
                  <a:srgbClr val="00B050"/>
                </a:solidFill>
                <a:uFillTx/>
                <a:latin typeface="Arial" panose="020B0604020202020204" pitchFamily="34" charset="0"/>
                <a:ea typeface="黑体-简" panose="02000000000000000000" charset="-122"/>
                <a:cs typeface="+mn-ea"/>
                <a:sym typeface="+mn-ea"/>
              </a:rPr>
              <a:t>“量化管理”</a:t>
            </a:r>
            <a:endParaRPr lang="zh-CN" altLang="en-US" sz="1400" b="1" spc="300" dirty="0">
              <a:ln w="0">
                <a:noFill/>
              </a:ln>
              <a:solidFill>
                <a:srgbClr val="00B050"/>
              </a:solidFill>
              <a:uFillTx/>
              <a:latin typeface="Arial" panose="020B0604020202020204" pitchFamily="34" charset="0"/>
              <a:ea typeface="黑体-简" panose="02000000000000000000" charset="-122"/>
              <a:cs typeface="+mn-ea"/>
              <a:sym typeface="+mn-ea"/>
            </a:endParaRPr>
          </a:p>
        </p:txBody>
      </p:sp>
      <p:graphicFrame>
        <p:nvGraphicFramePr>
          <p:cNvPr id="47" name="表格 46"/>
          <p:cNvGraphicFramePr/>
          <p:nvPr>
            <p:custDataLst>
              <p:tags r:id="rId20"/>
            </p:custDataLst>
          </p:nvPr>
        </p:nvGraphicFramePr>
        <p:xfrm>
          <a:off x="537845" y="2258060"/>
          <a:ext cx="3164205" cy="2286000"/>
        </p:xfrm>
        <a:graphic>
          <a:graphicData uri="http://schemas.openxmlformats.org/drawingml/2006/table">
            <a:tbl>
              <a:tblPr firstRow="1" lastCol="1" bandCol="1">
                <a:tableStyleId>{0126E9F6-41A6-44B7-8387-491034A24550}</a:tableStyleId>
              </a:tblPr>
              <a:tblGrid>
                <a:gridCol w="1179830"/>
                <a:gridCol w="1024890"/>
                <a:gridCol w="959485"/>
              </a:tblGrid>
              <a:tr h="365760">
                <a:tc>
                  <a:txBody>
                    <a:bodyPr/>
                    <a:p>
                      <a:pPr algn="ctr">
                        <a:buNone/>
                      </a:pPr>
                      <a:r>
                        <a:rPr lang="zh-CN" altLang="en-US" sz="1000">
                          <a:latin typeface="Arial" panose="020B0604020202020204" pitchFamily="34" charset="0"/>
                          <a:ea typeface="黑体-简" panose="02000000000000000000" charset="-122"/>
                        </a:rPr>
                        <a:t>关键指标</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a:solidFill>
                        <a:schemeClr val="accent5">
                          <a:lumMod val="60000"/>
                          <a:lumOff val="40000"/>
                        </a:schemeClr>
                      </a:solidFill>
                      <a:prstDash val="solid"/>
                    </a:lnB>
                    <a:solidFill>
                      <a:schemeClr val="accent5">
                        <a:lumMod val="60000"/>
                        <a:lumOff val="40000"/>
                      </a:schemeClr>
                    </a:solidFill>
                  </a:tcPr>
                </a:tc>
                <a:tc>
                  <a:txBody>
                    <a:bodyPr/>
                    <a:p>
                      <a:pPr algn="ctr">
                        <a:buNone/>
                      </a:pPr>
                      <a:r>
                        <a:rPr lang="zh-CN" altLang="en-US" sz="1000">
                          <a:latin typeface="Arial" panose="020B0604020202020204" pitchFamily="34" charset="0"/>
                          <a:ea typeface="黑体-简" panose="02000000000000000000" charset="-122"/>
                        </a:rPr>
                        <a:t>当前水平</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a:solidFill>
                        <a:schemeClr val="accent5">
                          <a:lumMod val="60000"/>
                          <a:lumOff val="40000"/>
                        </a:schemeClr>
                      </a:solidFill>
                      <a:prstDash val="solid"/>
                    </a:lnB>
                    <a:solidFill>
                      <a:schemeClr val="accent5">
                        <a:lumMod val="60000"/>
                        <a:lumOff val="40000"/>
                      </a:schemeClr>
                    </a:soli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国家</a:t>
                      </a:r>
                      <a:r>
                        <a:rPr lang="zh-CN" altLang="en-US" sz="1000">
                          <a:solidFill>
                            <a:srgbClr val="FFFF00"/>
                          </a:solidFill>
                          <a:latin typeface="Arial" panose="020B0604020202020204" pitchFamily="34" charset="0"/>
                          <a:ea typeface="黑体-简" panose="02000000000000000000" charset="-122"/>
                          <a:sym typeface="+mn-ea"/>
                        </a:rPr>
                        <a:t>参考</a:t>
                      </a:r>
                      <a:r>
                        <a:rPr lang="zh-CN" altLang="en-US" sz="1000">
                          <a:solidFill>
                            <a:srgbClr val="FFFF00"/>
                          </a:solidFill>
                          <a:latin typeface="Arial" panose="020B0604020202020204" pitchFamily="34" charset="0"/>
                          <a:ea typeface="黑体-简" panose="02000000000000000000" charset="-122"/>
                        </a:rPr>
                        <a:t>标准</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solidFill>
                      <a:schemeClr val="accent5">
                        <a:lumMod val="60000"/>
                        <a:lumOff val="40000"/>
                      </a:schemeClr>
                    </a:solidFill>
                  </a:tcPr>
                </a:tc>
              </a:tr>
              <a:tr h="365760">
                <a:tc>
                  <a:txBody>
                    <a:bodyPr/>
                    <a:p>
                      <a:pPr algn="ctr">
                        <a:buNone/>
                      </a:pPr>
                      <a:r>
                        <a:rPr lang="zh-CN" altLang="en-US" sz="1000">
                          <a:latin typeface="Arial" panose="020B0604020202020204" pitchFamily="34" charset="0"/>
                          <a:ea typeface="黑体-简" panose="02000000000000000000" charset="-122"/>
                        </a:rPr>
                        <a:t>资产覆盖率</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{{asset_coverage_rate}}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80%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威胁实时遏制率</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{{threat_containment_rate}}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85%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高危漏洞防护率</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{{high_risk_vulnerability_protection_rate}}</a:t>
                      </a:r>
                      <a:endPar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75%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MTTA</a:t>
                      </a:r>
                      <a:r>
                        <a:rPr lang="zh-CN" altLang="en-US" sz="1000">
                          <a:latin typeface="Arial" panose="020B0604020202020204" pitchFamily="34" charset="0"/>
                          <a:ea typeface="黑体-简" panose="02000000000000000000" charset="-122"/>
                        </a:rPr>
                        <a:t>（平均分析时间）</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{{average_analysis_time}}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30min</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MTTR</a:t>
                      </a:r>
                      <a:r>
                        <a:rPr lang="zh-CN" altLang="en-US" sz="1000">
                          <a:latin typeface="Arial" panose="020B0604020202020204" pitchFamily="34" charset="0"/>
                          <a:ea typeface="黑体-简" panose="02000000000000000000" charset="-122"/>
                        </a:rPr>
                        <a:t>（平均响应时间）</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{{average_response_time}}</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a:solidFill>
                        <a:schemeClr val="accent5">
                          <a:lumMod val="60000"/>
                          <a:lumOff val="40000"/>
                        </a:schemeClr>
                      </a:solidFill>
                      <a:prstDash val="solid"/>
                    </a:lnR>
                    <a:lnT w="12700">
                      <a:solidFill>
                        <a:schemeClr val="accent5">
                          <a:lumMod val="60000"/>
                          <a:lumOff val="40000"/>
                        </a:schemeClr>
                      </a:solidFill>
                      <a:prstDash val="solid"/>
                    </a:lnT>
                    <a:lnB w="12700">
                      <a:solidFill>
                        <a:schemeClr val="accent5">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8H</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60000"/>
                          <a:lumOff val="40000"/>
                        </a:schemeClr>
                      </a:solidFill>
                      <a:prstDash val="solid"/>
                    </a:lnL>
                    <a:lnR w="12700" cmpd="sng">
                      <a:solidFill>
                        <a:schemeClr val="accent5">
                          <a:lumMod val="60000"/>
                          <a:lumOff val="40000"/>
                        </a:schemeClr>
                      </a:solidFill>
                      <a:prstDash val="solid"/>
                    </a:lnR>
                    <a:lnT w="12700" cmpd="sng">
                      <a:solidFill>
                        <a:schemeClr val="accent5">
                          <a:lumMod val="60000"/>
                          <a:lumOff val="40000"/>
                        </a:schemeClr>
                      </a:solidFill>
                      <a:prstDash val="solid"/>
                    </a:lnT>
                    <a:lnB w="12700" cmpd="sng">
                      <a:solidFill>
                        <a:schemeClr val="accent5">
                          <a:lumMod val="60000"/>
                          <a:lumOff val="4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bl>
          </a:graphicData>
        </a:graphic>
      </p:graphicFrame>
      <p:graphicFrame>
        <p:nvGraphicFramePr>
          <p:cNvPr id="50" name="表格 49"/>
          <p:cNvGraphicFramePr/>
          <p:nvPr>
            <p:custDataLst>
              <p:tags r:id="rId21"/>
            </p:custDataLst>
          </p:nvPr>
        </p:nvGraphicFramePr>
        <p:xfrm>
          <a:off x="8362315" y="2258060"/>
          <a:ext cx="3164205" cy="2255520"/>
        </p:xfrm>
        <a:graphic>
          <a:graphicData uri="http://schemas.openxmlformats.org/drawingml/2006/table">
            <a:tbl>
              <a:tblPr firstRow="1" lastCol="1" bandCol="1">
                <a:tableStyleId>{0126E9F6-41A6-44B7-8387-491034A24550}</a:tableStyleId>
              </a:tblPr>
              <a:tblGrid>
                <a:gridCol w="1188085"/>
                <a:gridCol w="1016635"/>
                <a:gridCol w="959485"/>
              </a:tblGrid>
              <a:tr h="365760">
                <a:tc>
                  <a:txBody>
                    <a:bodyPr/>
                    <a:p>
                      <a:pPr algn="ctr">
                        <a:buNone/>
                      </a:pPr>
                      <a:r>
                        <a:rPr lang="zh-CN" altLang="en-US" sz="1000">
                          <a:latin typeface="Arial" panose="020B0604020202020204" pitchFamily="34" charset="0"/>
                          <a:ea typeface="黑体-简" panose="02000000000000000000" charset="-122"/>
                        </a:rPr>
                        <a:t>关键指标</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solidFill>
                      <a:schemeClr val="accent6">
                        <a:lumMod val="60000"/>
                        <a:lumOff val="40000"/>
                      </a:schemeClr>
                    </a:solidFill>
                  </a:tcPr>
                </a:tc>
                <a:tc>
                  <a:txBody>
                    <a:bodyPr/>
                    <a:p>
                      <a:pPr algn="ctr">
                        <a:buNone/>
                      </a:pPr>
                      <a:r>
                        <a:rPr lang="zh-CN" altLang="en-US" sz="1000">
                          <a:latin typeface="Arial" panose="020B0604020202020204" pitchFamily="34" charset="0"/>
                          <a:ea typeface="黑体-简" panose="02000000000000000000" charset="-122"/>
                        </a:rPr>
                        <a:t>当前水平</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solidFill>
                      <a:schemeClr val="accent6">
                        <a:lumMod val="60000"/>
                        <a:lumOff val="40000"/>
                      </a:schemeClr>
                    </a:soli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初始水平</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6">
                        <a:lumMod val="60000"/>
                        <a:lumOff val="40000"/>
                      </a:schemeClr>
                    </a:solidFill>
                  </a:tcPr>
                </a:tc>
              </a:tr>
              <a:tr h="365760">
                <a:tc>
                  <a:txBody>
                    <a:bodyPr/>
                    <a:p>
                      <a:pPr algn="ctr">
                        <a:buNone/>
                      </a:pPr>
                      <a:r>
                        <a:rPr lang="zh-CN" altLang="en-US" sz="1000">
                          <a:latin typeface="Arial" panose="020B0604020202020204" pitchFamily="34" charset="0"/>
                          <a:ea typeface="黑体-简" panose="02000000000000000000" charset="-122"/>
                        </a:rPr>
                        <a:t>资产覆盖率</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{{asset_coverage_rate}}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en-US" altLang="zh-CN" sz="1000">
                          <a:latin typeface="Arial" panose="020B0604020202020204" pitchFamily="34" charset="0"/>
                          <a:ea typeface="黑体-简" panose="02000000000000000000" charset="-122"/>
                        </a:rPr>
                        <a:t>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威胁实时遏制率</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{{threat_containment_rate}}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仅依赖设备规则拦截</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zh-CN" altLang="en-US" sz="1000">
                          <a:latin typeface="Arial" panose="020B0604020202020204" pitchFamily="34" charset="0"/>
                          <a:ea typeface="黑体-简" panose="02000000000000000000" charset="-122"/>
                        </a:rPr>
                        <a:t>高危漏洞防护率</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{{high_risk_vulnerability_protection_rate}}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无数据</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MTTA</a:t>
                      </a:r>
                      <a:r>
                        <a:rPr lang="zh-CN" altLang="en-US" sz="1000">
                          <a:latin typeface="Arial" panose="020B0604020202020204" pitchFamily="34" charset="0"/>
                          <a:ea typeface="黑体-简" panose="02000000000000000000" charset="-122"/>
                        </a:rPr>
                        <a:t>（平均分析时间）</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{{average_analysis_time}}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未开展</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365760">
                <a:tc>
                  <a:txBody>
                    <a:bodyPr/>
                    <a:p>
                      <a:pPr algn="ctr">
                        <a:buNone/>
                      </a:pPr>
                      <a:r>
                        <a:rPr lang="en-US" altLang="zh-CN" sz="1000">
                          <a:latin typeface="Arial" panose="020B0604020202020204" pitchFamily="34" charset="0"/>
                          <a:ea typeface="黑体-简" panose="02000000000000000000" charset="-122"/>
                        </a:rPr>
                        <a:t>MTTR</a:t>
                      </a:r>
                      <a:r>
                        <a:rPr lang="zh-CN" altLang="en-US" sz="1000">
                          <a:latin typeface="Arial" panose="020B0604020202020204" pitchFamily="34" charset="0"/>
                          <a:ea typeface="黑体-简" panose="02000000000000000000" charset="-122"/>
                        </a:rPr>
                        <a:t>（平均响应时间）</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{{average_response_time}}</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tcPr>
                </a:tc>
                <a:tc>
                  <a:txBody>
                    <a:bodyPr/>
                    <a:p>
                      <a:pPr algn="ctr">
                        <a:buNone/>
                      </a:pPr>
                      <a:r>
                        <a:rPr lang="zh-CN" altLang="en-US" sz="1000">
                          <a:latin typeface="Arial" panose="020B0604020202020204" pitchFamily="34" charset="0"/>
                          <a:ea typeface="黑体-简" panose="02000000000000000000" charset="-122"/>
                        </a:rPr>
                        <a:t>事后被动响应</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bl>
          </a:graphicData>
        </a:graphic>
      </p:graphicFrame>
      <p:sp>
        <p:nvSpPr>
          <p:cNvPr id="8" name="椭圆 7"/>
          <p:cNvSpPr/>
          <p:nvPr>
            <p:custDataLst>
              <p:tags r:id="rId22"/>
            </p:custDataLst>
          </p:nvPr>
        </p:nvSpPr>
        <p:spPr>
          <a:xfrm>
            <a:off x="2584419" y="5137785"/>
            <a:ext cx="6861238" cy="1121173"/>
          </a:xfrm>
          <a:prstGeom prst="ellipse">
            <a:avLst/>
          </a:prstGeom>
          <a:gradFill>
            <a:gsLst>
              <a:gs pos="0">
                <a:schemeClr val="accent5">
                  <a:alpha val="0"/>
                </a:schemeClr>
              </a:gs>
              <a:gs pos="100000">
                <a:schemeClr val="accent5">
                  <a:alpha val="40000"/>
                </a:schemeClr>
              </a:gs>
            </a:gsLst>
            <a:lin ang="54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8" name="标题"/>
          <p:cNvSpPr txBox="1"/>
          <p:nvPr>
            <p:custDataLst>
              <p:tags r:id="rId23"/>
            </p:custDataLst>
          </p:nvPr>
        </p:nvSpPr>
        <p:spPr>
          <a:xfrm>
            <a:off x="3183130" y="5256733"/>
            <a:ext cx="5665036" cy="951594"/>
          </a:xfrm>
          <a:prstGeom prst="rect">
            <a:avLst/>
          </a:prstGeom>
          <a:noFill/>
          <a:effectLst/>
        </p:spPr>
        <p:txBody>
          <a:bodyPr wrap="square" lIns="0" tIns="0" rIns="0" bIns="0" rtlCol="0" anchor="ctr">
            <a:noAutofit/>
          </a:bodyPr>
          <a:lstStyle/>
          <a:p>
            <a:pPr lvl="0" algn="ctr">
              <a:buClrTx/>
              <a:buSzTx/>
              <a:buFontTx/>
            </a:pP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产生的直接价值</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减少潜在风险</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en-US" altLang="zh-CN" b="1" spc="300" dirty="0">
                <a:ln w="0">
                  <a:noFill/>
                </a:ln>
                <a:solidFill>
                  <a:srgbClr val="4C61E7"/>
                </a:solidFill>
                <a:uFillTx/>
                <a:latin typeface="Arial" panose="020B0604020202020204" pitchFamily="34" charset="0"/>
                <a:ea typeface="黑体-简" panose="02000000000000000000" charset="-122"/>
                <a:cs typeface="+mn-ea"/>
                <a:sym typeface="+mn-ea"/>
              </a:rPr>
              <a:t>{{closed_loop_vulnerability_count}}</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个</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 + </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避免安全攻击损失</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en-US" altLang="zh-CN" b="1" spc="300" dirty="0">
                <a:ln w="0">
                  <a:noFill/>
                </a:ln>
                <a:solidFill>
                  <a:srgbClr val="4C61E7"/>
                </a:solidFill>
                <a:uFillTx/>
                <a:latin typeface="Arial" panose="020B0604020202020204" pitchFamily="34" charset="0"/>
                <a:ea typeface="黑体-简" panose="02000000000000000000" charset="-122"/>
                <a:cs typeface="+mn-ea"/>
                <a:sym typeface="+mn-ea"/>
              </a:rPr>
              <a:t>{{threat_and_incident_count}}</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次</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 + </a:t>
            </a:r>
            <a:r>
              <a:rPr lang="zh-CN" altLang="en-US" b="1" spc="300" dirty="0">
                <a:ln w="0">
                  <a:noFill/>
                </a:ln>
                <a:solidFill>
                  <a:schemeClr val="tx1"/>
                </a:solidFill>
                <a:uFillTx/>
                <a:latin typeface="Arial" panose="020B0604020202020204" pitchFamily="34" charset="0"/>
                <a:ea typeface="黑体-简" panose="02000000000000000000" charset="-122"/>
                <a:cs typeface="+mn-ea"/>
                <a:sym typeface="+mn-ea"/>
              </a:rPr>
              <a:t>节省人力成本</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r>
              <a:rPr lang="en-US" altLang="zh-CN" b="1" spc="300" dirty="0">
                <a:ln w="0">
                  <a:noFill/>
                </a:ln>
                <a:solidFill>
                  <a:srgbClr val="4C61E7"/>
                </a:solidFill>
                <a:uFillTx/>
                <a:latin typeface="Arial" panose="020B0604020202020204" pitchFamily="34" charset="0"/>
                <a:ea typeface="黑体-简" panose="02000000000000000000" charset="-122"/>
                <a:cs typeface="+mn-ea"/>
                <a:sym typeface="Noto Sans SC"/>
              </a:rPr>
              <a:t>{{two_senior_security_engineer_cost}}</a:t>
            </a:r>
            <a:r>
              <a:rPr lang="en-US" altLang="zh-CN" b="1" spc="300" dirty="0">
                <a:ln w="0">
                  <a:noFill/>
                </a:ln>
                <a:solidFill>
                  <a:schemeClr val="tx1"/>
                </a:solidFill>
                <a:uFillTx/>
                <a:latin typeface="Arial" panose="020B0604020202020204" pitchFamily="34" charset="0"/>
                <a:ea typeface="黑体-简" panose="02000000000000000000" charset="-122"/>
                <a:cs typeface="+mn-ea"/>
                <a:sym typeface="+mn-ea"/>
              </a:rPr>
              <a:t>)</a:t>
            </a:r>
            <a:endParaRPr lang="en-US" altLang="zh-CN" b="1" spc="300" dirty="0">
              <a:ln w="0">
                <a:noFill/>
              </a:ln>
              <a:solidFill>
                <a:schemeClr val="tx1"/>
              </a:solidFill>
              <a:uFillTx/>
              <a:latin typeface="Arial" panose="020B0604020202020204" pitchFamily="34" charset="0"/>
              <a:ea typeface="黑体-简" panose="02000000000000000000" charset="-122"/>
              <a:cs typeface="+mn-ea"/>
              <a:sym typeface="+mn-ea"/>
            </a:endParaRPr>
          </a:p>
        </p:txBody>
      </p:sp>
      <p:sp>
        <p:nvSpPr>
          <p:cNvPr id="9" name="椭圆 8"/>
          <p:cNvSpPr/>
          <p:nvPr>
            <p:custDataLst>
              <p:tags r:id="rId24"/>
            </p:custDataLst>
          </p:nvPr>
        </p:nvSpPr>
        <p:spPr>
          <a:xfrm>
            <a:off x="1886583" y="5139005"/>
            <a:ext cx="8256910" cy="1305392"/>
          </a:xfrm>
          <a:prstGeom prst="ellipse">
            <a:avLst/>
          </a:prstGeom>
          <a:noFill/>
          <a:ln>
            <a:gradFill>
              <a:gsLst>
                <a:gs pos="0">
                  <a:schemeClr val="accent5">
                    <a:alpha val="0"/>
                  </a:schemeClr>
                </a:gs>
                <a:gs pos="100000">
                  <a:schemeClr val="accent5">
                    <a:alpha val="55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1" name="任意多边形: 形状 20"/>
          <p:cNvSpPr/>
          <p:nvPr>
            <p:custDataLst>
              <p:tags r:id="rId25"/>
            </p:custDataLst>
          </p:nvPr>
        </p:nvSpPr>
        <p:spPr>
          <a:xfrm>
            <a:off x="1993942" y="5987510"/>
            <a:ext cx="1293192" cy="471527"/>
          </a:xfrm>
          <a:custGeom>
            <a:avLst/>
            <a:gdLst>
              <a:gd name="connsiteX0" fmla="*/ 2116 w 2120"/>
              <a:gd name="connsiteY0" fmla="*/ 557 h 773"/>
              <a:gd name="connsiteX1" fmla="*/ 2120 w 2120"/>
              <a:gd name="connsiteY1" fmla="*/ 773 h 773"/>
              <a:gd name="connsiteX2" fmla="*/ 0 w 2120"/>
              <a:gd name="connsiteY2" fmla="*/ 201 h 773"/>
              <a:gd name="connsiteX3" fmla="*/ 15 w 2120"/>
              <a:gd name="connsiteY3" fmla="*/ 0 h 773"/>
              <a:gd name="connsiteX4" fmla="*/ 2116 w 2120"/>
              <a:gd name="connsiteY4" fmla="*/ 557 h 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0" h="773">
                <a:moveTo>
                  <a:pt x="2116" y="557"/>
                </a:moveTo>
                <a:lnTo>
                  <a:pt x="2120" y="773"/>
                </a:lnTo>
                <a:cubicBezTo>
                  <a:pt x="2120" y="773"/>
                  <a:pt x="252" y="516"/>
                  <a:pt x="0" y="201"/>
                </a:cubicBezTo>
                <a:lnTo>
                  <a:pt x="15" y="0"/>
                </a:lnTo>
                <a:cubicBezTo>
                  <a:pt x="15" y="0"/>
                  <a:pt x="159" y="270"/>
                  <a:pt x="2116" y="557"/>
                </a:cubicBezTo>
                <a:close/>
              </a:path>
            </a:pathLst>
          </a:custGeom>
          <a:gradFill>
            <a:gsLst>
              <a:gs pos="12000">
                <a:schemeClr val="accent5">
                  <a:alpha val="0"/>
                </a:schemeClr>
              </a:gs>
              <a:gs pos="100000">
                <a:schemeClr val="accent5">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2" name="任意多边形: 形状 21"/>
          <p:cNvSpPr/>
          <p:nvPr>
            <p:custDataLst>
              <p:tags r:id="rId26"/>
            </p:custDataLst>
          </p:nvPr>
        </p:nvSpPr>
        <p:spPr>
          <a:xfrm>
            <a:off x="8155515" y="5953350"/>
            <a:ext cx="2402165" cy="585596"/>
          </a:xfrm>
          <a:custGeom>
            <a:avLst/>
            <a:gdLst>
              <a:gd name="connsiteX0" fmla="*/ 3740 w 3740"/>
              <a:gd name="connsiteY0" fmla="*/ 0 h 960"/>
              <a:gd name="connsiteX1" fmla="*/ 3740 w 3740"/>
              <a:gd name="connsiteY1" fmla="*/ 234 h 960"/>
              <a:gd name="connsiteX2" fmla="*/ 11 w 3740"/>
              <a:gd name="connsiteY2" fmla="*/ 960 h 960"/>
              <a:gd name="connsiteX3" fmla="*/ 0 w 3740"/>
              <a:gd name="connsiteY3" fmla="*/ 758 h 960"/>
              <a:gd name="connsiteX4" fmla="*/ 3740 w 3740"/>
              <a:gd name="connsiteY4" fmla="*/ 0 h 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0" h="960">
                <a:moveTo>
                  <a:pt x="3740" y="0"/>
                </a:moveTo>
                <a:lnTo>
                  <a:pt x="3740" y="234"/>
                </a:lnTo>
                <a:cubicBezTo>
                  <a:pt x="3740" y="234"/>
                  <a:pt x="2879" y="744"/>
                  <a:pt x="11" y="960"/>
                </a:cubicBezTo>
                <a:lnTo>
                  <a:pt x="0" y="758"/>
                </a:lnTo>
                <a:cubicBezTo>
                  <a:pt x="0" y="758"/>
                  <a:pt x="2513" y="657"/>
                  <a:pt x="3740" y="0"/>
                </a:cubicBezTo>
                <a:close/>
              </a:path>
            </a:pathLst>
          </a:custGeom>
          <a:gradFill>
            <a:gsLst>
              <a:gs pos="12000">
                <a:schemeClr val="accent5">
                  <a:lumMod val="60000"/>
                  <a:lumOff val="40000"/>
                  <a:alpha val="0"/>
                </a:schemeClr>
              </a:gs>
              <a:gs pos="100000">
                <a:schemeClr val="accent5">
                  <a:alpha val="49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solidFill>
                  <a:schemeClr val="tx1"/>
                </a:solidFill>
              </a:rPr>
              <a:t>   </a:t>
            </a:r>
            <a:endParaRPr lang="en-US" altLang="zh-CN">
              <a:solidFill>
                <a:schemeClr val="tx1"/>
              </a:solidFill>
            </a:endParaRPr>
          </a:p>
        </p:txBody>
      </p:sp>
      <p:sp>
        <p:nvSpPr>
          <p:cNvPr id="18" name="椭圆 17"/>
          <p:cNvSpPr/>
          <p:nvPr>
            <p:custDataLst>
              <p:tags r:id="rId27"/>
            </p:custDataLst>
          </p:nvPr>
        </p:nvSpPr>
        <p:spPr>
          <a:xfrm>
            <a:off x="1258897" y="5137785"/>
            <a:ext cx="9512282" cy="1487171"/>
          </a:xfrm>
          <a:prstGeom prst="ellipse">
            <a:avLst/>
          </a:prstGeom>
          <a:noFill/>
          <a:ln>
            <a:gradFill>
              <a:gsLst>
                <a:gs pos="66000">
                  <a:srgbClr val="376FFF">
                    <a:alpha val="0"/>
                  </a:srgbClr>
                </a:gs>
                <a:gs pos="14000">
                  <a:schemeClr val="accent5">
                    <a:alpha val="0"/>
                  </a:schemeClr>
                </a:gs>
                <a:gs pos="0">
                  <a:srgbClr val="376FFF">
                    <a:alpha val="16000"/>
                  </a:srgbClr>
                </a:gs>
                <a:gs pos="100000">
                  <a:schemeClr val="accent5">
                    <a:alpha val="2000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sp>
        <p:nvSpPr>
          <p:cNvPr id="27" name="textbox 158"/>
          <p:cNvSpPr/>
          <p:nvPr/>
        </p:nvSpPr>
        <p:spPr>
          <a:xfrm>
            <a:off x="4090670" y="922020"/>
            <a:ext cx="3822700" cy="327660"/>
          </a:xfrm>
          <a:prstGeom prst="rect">
            <a:avLst/>
          </a:prstGeom>
          <a:noFill/>
          <a:ln w="0" cap="flat">
            <a:noFill/>
            <a:prstDash val="solid"/>
            <a:miter lim="0"/>
          </a:ln>
        </p:spPr>
        <p:txBody>
          <a:bodyPr vert="horz" wrap="square" lIns="0" tIns="0" rIns="0" bIns="0" anchor="ctr" anchorCtr="0"/>
          <a:p>
            <a:pPr algn="ctr" rtl="0" eaLnBrk="0">
              <a:lnSpc>
                <a:spcPct val="100000"/>
              </a:lnSpc>
            </a:pPr>
            <a:r>
              <a:rPr lang="zh-CN" altLang="en-US" b="1" noProof="0" dirty="0">
                <a:solidFill>
                  <a:srgbClr val="0B4CBB"/>
                </a:solidFill>
                <a:uLnTx/>
                <a:latin typeface="Arial" panose="020B0604020202020204" pitchFamily="34" charset="0"/>
                <a:ea typeface="黑体-简" panose="02000000000000000000" charset="-122"/>
                <a:cs typeface="微软雅黑" panose="020B0503020204020204" charset="-122"/>
                <a:sym typeface="Calibri" panose="020F0502020204030204" charset="0"/>
              </a:rPr>
              <a:t>主动防御、量化运营</a:t>
            </a:r>
            <a:endParaRPr lang="zh-CN" altLang="en-US" b="1" noProof="0" dirty="0">
              <a:solidFill>
                <a:srgbClr val="0B4CBB"/>
              </a:solidFill>
              <a:uLnTx/>
              <a:latin typeface="Arial" panose="020B0604020202020204" pitchFamily="34" charset="0"/>
              <a:ea typeface="黑体-简" panose="02000000000000000000" charset="-122"/>
              <a:cs typeface="微软雅黑" panose="020B0503020204020204" charset="-122"/>
              <a:sym typeface="Calibri" panose="020F0502020204030204" charset="0"/>
            </a:endParaRPr>
          </a:p>
        </p:txBody>
      </p:sp>
      <p:cxnSp>
        <p:nvCxnSpPr>
          <p:cNvPr id="4" name="直接连接符 3"/>
          <p:cNvCxnSpPr/>
          <p:nvPr/>
        </p:nvCxnSpPr>
        <p:spPr>
          <a:xfrm>
            <a:off x="3302635" y="1244600"/>
            <a:ext cx="5545455" cy="0"/>
          </a:xfrm>
          <a:prstGeom prst="line">
            <a:avLst/>
          </a:prstGeom>
          <a:ln w="28575" cap="flat" cmpd="sng">
            <a:solidFill>
              <a:schemeClr val="accent1">
                <a:shade val="50000"/>
              </a:schemeClr>
            </a:solidFill>
            <a:prstDash val="solid"/>
            <a:miter lim="800000"/>
            <a:headEnd type="none"/>
            <a:tailEnd type="none"/>
          </a:ln>
        </p:spPr>
        <p:style>
          <a:lnRef idx="2">
            <a:schemeClr val="accent1"/>
          </a:lnRef>
          <a:fillRef idx="0">
            <a:srgbClr val="FFFFFF"/>
          </a:fillRef>
          <a:effectRef idx="0">
            <a:srgbClr val="FFFFFF"/>
          </a:effectRef>
          <a:fontRef idx="minor">
            <a:schemeClr val="tx1"/>
          </a:fontRef>
        </p:style>
      </p:cxnSp>
    </p:spTree>
    <p:custDataLst>
      <p:tags r:id="rId28"/>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rPr>
              <a:t>关键问题与应对思路</a:t>
            </a:r>
            <a:endParaRPr lang="zh-CN" sz="1600" kern="0" spc="60" dirty="0">
              <a:solidFill>
                <a:srgbClr val="000000">
                  <a:alpha val="100000"/>
                </a:srgbClr>
              </a:solidFill>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lstStyle/>
          <a:p>
            <a:r>
              <a:rPr lang="zh-CN" altLang="en-US" sz="3200">
                <a:solidFill>
                  <a:srgbClr val="4C61E7"/>
                </a:solidFill>
                <a:latin typeface="Arial Black" panose="020B0A04020102020204" pitchFamily="34" charset="0"/>
                <a:ea typeface="微软雅黑" panose="020B0503020204020204" charset="-122"/>
              </a:rPr>
              <a:t>共同的挑战与应对思路</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03</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22960"/>
                <a:gridCol w="844550"/>
                <a:gridCol w="551815"/>
                <a:gridCol w="2082165"/>
                <a:gridCol w="1869440"/>
                <a:gridCol w="3914140"/>
                <a:gridCol w="11207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安全监测防护不足</a:t>
                      </a:r>
                      <a:endParaRPr lang="zh-CN" altLang="en-US" sz="1200" b="1" dirty="0">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1</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latin typeface="Arial" panose="020B0604020202020204" pitchFamily="34" charset="0"/>
                          <a:ea typeface="黑体-简" panose="02000000000000000000" charset="-122"/>
                          <a:cs typeface="微软雅黑" panose="020B0503020204020204" charset="-122"/>
                        </a:rPr>
                        <a:t>部分业务服务器EDR未安装覆盖（现网</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X.X.X.X</a:t>
                      </a:r>
                      <a:r>
                        <a:rPr lang="en-US" altLang="zh-CN" sz="1200" dirty="0">
                          <a:latin typeface="Arial" panose="020B0604020202020204" pitchFamily="34" charset="0"/>
                          <a:ea typeface="黑体-简" panose="02000000000000000000" charset="-122"/>
                          <a:cs typeface="微软雅黑" panose="020B0503020204020204" charset="-122"/>
                        </a:rPr>
                        <a:t>服务器网段仍有</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a:t>
                      </a:r>
                      <a:r>
                        <a:rPr lang="en-US" altLang="zh-CN" sz="1200" dirty="0">
                          <a:latin typeface="Arial" panose="020B0604020202020204" pitchFamily="34" charset="0"/>
                          <a:ea typeface="黑体-简" panose="02000000000000000000" charset="-122"/>
                          <a:cs typeface="微软雅黑" panose="020B0503020204020204" charset="-122"/>
                        </a:rPr>
                        <a:t>台活跃主机未覆盖EDR）</a:t>
                      </a: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en-US" altLang="zh-CN"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2</a:t>
                      </a:r>
                      <a:r>
                        <a:rPr lang="zh-CN" altLang="en-US" sz="1200" dirty="0">
                          <a:latin typeface="Arial" panose="020B0604020202020204" pitchFamily="34" charset="0"/>
                          <a:ea typeface="黑体-简" panose="02000000000000000000" charset="-122"/>
                          <a:cs typeface="微软雅黑" panose="020B0503020204020204" charset="-122"/>
                        </a:rPr>
                        <a:t>、</a:t>
                      </a:r>
                      <a:r>
                        <a:rPr lang="zh-CN" sz="1200" dirty="0">
                          <a:latin typeface="Arial" panose="020B0604020202020204" pitchFamily="34" charset="0"/>
                          <a:ea typeface="黑体-简" panose="02000000000000000000" charset="-122"/>
                          <a:cs typeface="微软雅黑" panose="020B0503020204020204" charset="-122"/>
                        </a:rPr>
                        <a:t>出口防火墙存在较多的</a:t>
                      </a:r>
                      <a:r>
                        <a:rPr lang="en-US" altLang="zh-CN" sz="1200" dirty="0">
                          <a:latin typeface="Arial" panose="020B0604020202020204" pitchFamily="34" charset="0"/>
                          <a:ea typeface="黑体-简" panose="02000000000000000000" charset="-122"/>
                          <a:cs typeface="微软雅黑" panose="020B0503020204020204" charset="-122"/>
                        </a:rPr>
                        <a:t>IP</a:t>
                      </a:r>
                      <a:r>
                        <a:rPr lang="zh-CN" altLang="en-US" sz="1200" dirty="0">
                          <a:latin typeface="Arial" panose="020B0604020202020204" pitchFamily="34" charset="0"/>
                          <a:ea typeface="黑体-简" panose="02000000000000000000" charset="-122"/>
                          <a:cs typeface="微软雅黑" panose="020B0503020204020204" charset="-122"/>
                        </a:rPr>
                        <a:t>或者域名白名单</a:t>
                      </a: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endParaRPr lang="zh-CN" altLang="en-US" sz="1200" dirty="0">
                        <a:latin typeface="Arial" panose="020B0604020202020204" pitchFamily="34" charset="0"/>
                        <a:ea typeface="黑体-简" panose="02000000000000000000" charset="-122"/>
                        <a:cs typeface="微软雅黑" panose="020B0503020204020204" charset="-122"/>
                      </a:endParaRPr>
                    </a:p>
                    <a:p>
                      <a:pPr algn="just" rtl="0" fontAlgn="auto">
                        <a:lnSpc>
                          <a:spcPct val="150000"/>
                        </a:lnSpc>
                        <a:spcBef>
                          <a:spcPts val="0"/>
                        </a:spcBef>
                        <a:buClrTx/>
                        <a:buSzTx/>
                        <a:buFont typeface="Arial" panose="020B0604020202020204" pitchFamily="34" charset="0"/>
                        <a:buNone/>
                      </a:pPr>
                      <a:r>
                        <a:rPr lang="en-US" altLang="zh-CN" sz="1200" dirty="0">
                          <a:latin typeface="Arial" panose="020B0604020202020204" pitchFamily="34" charset="0"/>
                          <a:ea typeface="黑体-简" panose="02000000000000000000" charset="-122"/>
                          <a:cs typeface="微软雅黑" panose="020B0503020204020204" charset="-122"/>
                        </a:rPr>
                        <a:t>3</a:t>
                      </a:r>
                      <a:r>
                        <a:rPr lang="zh-CN" altLang="en-US" sz="1200" dirty="0">
                          <a:latin typeface="Arial" panose="020B0604020202020204" pitchFamily="34" charset="0"/>
                          <a:ea typeface="黑体-简" panose="02000000000000000000" charset="-122"/>
                          <a:cs typeface="微软雅黑" panose="020B0503020204020204" charset="-122"/>
                        </a:rPr>
                        <a:t>、</a:t>
                      </a:r>
                      <a:r>
                        <a:rPr lang="en-US" altLang="zh-CN" sz="1200" dirty="0">
                          <a:solidFill>
                            <a:srgbClr val="4C61E7"/>
                          </a:solidFill>
                          <a:latin typeface="Arial" panose="020B0604020202020204" pitchFamily="34" charset="0"/>
                          <a:ea typeface="黑体-简" panose="02000000000000000000" charset="-122"/>
                          <a:cs typeface="微软雅黑" panose="020B0503020204020204" charset="-122"/>
                        </a:rPr>
                        <a:t>XXX</a:t>
                      </a:r>
                      <a:r>
                        <a:rPr lang="zh-CN" altLang="en-US" sz="1200" dirty="0">
                          <a:solidFill>
                            <a:srgbClr val="4C61E7"/>
                          </a:solidFill>
                          <a:latin typeface="Arial" panose="020B0604020202020204" pitchFamily="34" charset="0"/>
                          <a:ea typeface="黑体-简" panose="02000000000000000000" charset="-122"/>
                          <a:cs typeface="微软雅黑" panose="020B0503020204020204" charset="-122"/>
                        </a:rPr>
                        <a:t>系统</a:t>
                      </a:r>
                      <a:r>
                        <a:rPr lang="zh-CN" altLang="en-US" sz="1200" dirty="0">
                          <a:latin typeface="Arial" panose="020B0604020202020204" pitchFamily="34" charset="0"/>
                          <a:ea typeface="黑体-简" panose="02000000000000000000" charset="-122"/>
                          <a:cs typeface="微软雅黑" panose="020B0503020204020204" charset="-122"/>
                        </a:rPr>
                        <a:t>采用加密传输</a:t>
                      </a:r>
                      <a:endParaRPr lang="zh-CN" altLang="en-US"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主机防护缺失，业务主机一旦遭受安全攻击，对应的业务可能产生中断、数据泄露。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）梳理提供现有覆盖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的主机清单，梳理现有服务器网段未安装覆盖</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的清单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）核对推动覆盖业务服务器</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覆盖安装落地。</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b="0" dirty="0">
                          <a:solidFill>
                            <a:srgbClr val="4C61E7"/>
                          </a:solidFill>
                          <a:latin typeface="Arial" panose="020B0604020202020204" pitchFamily="34" charset="0"/>
                          <a:ea typeface="黑体-简" panose="02000000000000000000" charset="-122"/>
                          <a:cs typeface="黑体" panose="02010609060101010101" charset="-122"/>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3</a:t>
                      </a:r>
                      <a:r>
                        <a:rPr lang="zh-CN" altLang="en-US" sz="1200" b="0" dirty="0">
                          <a:latin typeface="Arial" panose="020B0604020202020204" pitchFamily="34" charset="0"/>
                          <a:ea typeface="黑体-简" panose="02000000000000000000" charset="-122"/>
                          <a:cs typeface="黑体" panose="02010609060101010101" charset="-122"/>
                        </a:rPr>
                        <a:t>）建议二次核对确认白名单清单，动态确认及调整，无需放置的及时去除</a:t>
                      </a:r>
                      <a:r>
                        <a:rPr lang="en-US" altLang="zh-CN" sz="1200" b="0" dirty="0">
                          <a:latin typeface="Arial" panose="020B0604020202020204" pitchFamily="34" charset="0"/>
                          <a:ea typeface="黑体-简" panose="02000000000000000000" charset="-122"/>
                          <a:cs typeface="黑体" panose="02010609060101010101" charset="-122"/>
                        </a:rPr>
                        <a:t>——</a:t>
                      </a:r>
                      <a:r>
                        <a:rPr lang="zh-CN" altLang="en-US" sz="1200" dirty="0">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已梳理待覆盖清单进行二次确认。</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834390"/>
                <a:gridCol w="551815"/>
                <a:gridCol w="2082165"/>
                <a:gridCol w="1869440"/>
                <a:gridCol w="3876040"/>
                <a:gridCol w="1158875"/>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钓鱼和社工病毒威胁感染概率大，人员安全意识待提升</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90805" indent="0" algn="l" rtl="0" eaLnBrk="0" fontAlgn="auto">
                        <a:lnSpc>
                          <a:spcPct val="100000"/>
                        </a:lnSpc>
                        <a:spcBef>
                          <a:spcPts val="600"/>
                        </a:spcBef>
                      </a:pPr>
                      <a:r>
                        <a:rPr lang="zh-CN" altLang="en-US" sz="1200" dirty="0">
                          <a:latin typeface="Arial" panose="020B0604020202020204" pitchFamily="34" charset="0"/>
                          <a:ea typeface="黑体-简" panose="02000000000000000000" charset="-122"/>
                          <a:cs typeface="黑体" panose="02010609060101010101" charset="-122"/>
                          <a:sym typeface="+mn-ea"/>
                        </a:rPr>
                        <a:t>当季度单位内部存在僵木蠕、钓鱼的威胁事件较为高发（达到</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起，钓鱼存在</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latin typeface="Arial" panose="020B0604020202020204" pitchFamily="34" charset="0"/>
                          <a:ea typeface="黑体-简" panose="02000000000000000000" charset="-122"/>
                          <a:cs typeface="黑体" panose="02010609060101010101" charset="-122"/>
                          <a:sym typeface="+mn-ea"/>
                        </a:rPr>
                        <a:t>起【</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起是银狐病毒</a:t>
                      </a:r>
                      <a:r>
                        <a:rPr lang="zh-CN" altLang="en-US" sz="1200" dirty="0">
                          <a:latin typeface="Arial" panose="020B0604020202020204" pitchFamily="34" charset="0"/>
                          <a:ea typeface="黑体-简" panose="02000000000000000000" charset="-122"/>
                          <a:cs typeface="黑体" panose="02010609060101010101" charset="-122"/>
                          <a:sym typeface="+mn-ea"/>
                        </a:rPr>
                        <a:t>】），终端感染银狐病毒钓鱼类风险较大，可能持续导致员工的财务损失。</a:t>
                      </a:r>
                      <a:endParaRPr lang="en-US" altLang="zh-CN" sz="1200" dirty="0">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PC</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终端遭受银狐或者钓鱼攻击，个人员工产生财产损失，主机失陷进而存在横向攻击</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Pacs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a:t>
                      </a:r>
                      <a:r>
                        <a:rPr lang="en-US" altLang="zh-CN"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ERAS</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核心业务服务器的风险。</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）完善主机定位方案，提供资产清单，通过导入资产清单到</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平台，事件通告可直接定位到资产归属责任人</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深信服（已完成）</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）核对推动</a:t>
                      </a:r>
                      <a:r>
                        <a:rPr lang="en-US" altLang="zh-CN" sz="1200" dirty="0">
                          <a:latin typeface="Arial" panose="020B0604020202020204" pitchFamily="34" charset="0"/>
                          <a:ea typeface="黑体-简" panose="02000000000000000000" charset="-122"/>
                          <a:cs typeface="黑体" panose="02010609060101010101" charset="-122"/>
                          <a:sym typeface="+mn-ea"/>
                        </a:rPr>
                        <a:t>PC</a:t>
                      </a:r>
                      <a:r>
                        <a:rPr lang="zh-CN" altLang="en-US" sz="1200" dirty="0">
                          <a:latin typeface="Arial" panose="020B0604020202020204" pitchFamily="34" charset="0"/>
                          <a:ea typeface="黑体-简" panose="02000000000000000000" charset="-122"/>
                          <a:cs typeface="黑体" panose="02010609060101010101" charset="-122"/>
                          <a:sym typeface="+mn-ea"/>
                        </a:rPr>
                        <a:t>主机安装</a:t>
                      </a:r>
                      <a:r>
                        <a:rPr lang="en-US" altLang="zh-CN" sz="1200" dirty="0">
                          <a:latin typeface="Arial" panose="020B0604020202020204" pitchFamily="34" charset="0"/>
                          <a:ea typeface="黑体-简" panose="02000000000000000000" charset="-122"/>
                          <a:cs typeface="黑体" panose="02010609060101010101" charset="-122"/>
                          <a:sym typeface="+mn-ea"/>
                        </a:rPr>
                        <a:t>EDR</a:t>
                      </a:r>
                      <a:r>
                        <a:rPr lang="zh-CN" altLang="en-US" sz="1200" dirty="0">
                          <a:latin typeface="Arial" panose="020B0604020202020204" pitchFamily="34" charset="0"/>
                          <a:ea typeface="黑体-简" panose="02000000000000000000" charset="-122"/>
                          <a:cs typeface="黑体" panose="02010609060101010101" charset="-122"/>
                          <a:sym typeface="+mn-ea"/>
                        </a:rPr>
                        <a:t>及覆盖安装及定期查杀机制落地。</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1</a:t>
                      </a:r>
                      <a:r>
                        <a:rPr lang="zh-CN" altLang="en-US" sz="1200" b="0" dirty="0">
                          <a:latin typeface="Arial" panose="020B0604020202020204" pitchFamily="34" charset="0"/>
                          <a:ea typeface="黑体-简" panose="02000000000000000000" charset="-122"/>
                          <a:cs typeface="黑体" panose="02010609060101010101" charset="-122"/>
                        </a:rPr>
                        <a:t>）增加钓鱼演练，模拟实战提升人员安全意识</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2</a:t>
                      </a:r>
                      <a:r>
                        <a:rPr lang="zh-CN" altLang="en-US" sz="1200" b="0" dirty="0">
                          <a:latin typeface="Arial" panose="020B0604020202020204" pitchFamily="34" charset="0"/>
                          <a:ea typeface="黑体-简" panose="02000000000000000000" charset="-122"/>
                          <a:cs typeface="黑体" panose="02010609060101010101" charset="-122"/>
                        </a:rPr>
                        <a:t>）每年开展增加安全意识培训，提升用户安全意识</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zh-CN" altLang="en-US" sz="1200" b="0" dirty="0">
                          <a:latin typeface="Arial" panose="020B0604020202020204" pitchFamily="34" charset="0"/>
                          <a:ea typeface="黑体-简" panose="02000000000000000000" charset="-122"/>
                          <a:cs typeface="黑体" panose="02010609060101010101" charset="-122"/>
                        </a:rPr>
                        <a:t>资产定位方案目前已初步落地。</a:t>
                      </a:r>
                      <a:endParaRPr lang="zh-CN" altLang="en-US"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defTabSz="914400" rtl="0" eaLnBrk="0">
              <a:lnSpc>
                <a:spcPct val="78000"/>
              </a:lnSpc>
              <a:spcBef>
                <a:spcPct val="0"/>
              </a:spcBef>
              <a:spcAft>
                <a:spcPct val="0"/>
              </a:spcAft>
            </a:pPr>
            <a:endParaRPr sz="1900" kern="1200" dirty="0">
              <a:solidFill>
                <a:schemeClr val="tx1"/>
              </a:solidFill>
              <a:latin typeface="Arial" panose="020B0604020202020204" pitchFamily="34" charset="0"/>
              <a:ea typeface="黑体-简" panose="02000000000000000000" charset="-122"/>
              <a:cs typeface="黑体" panose="02010609060101010101" charset="-122"/>
              <a:sym typeface="+mn-ea"/>
            </a:endParaRPr>
          </a:p>
          <a:p>
            <a:pPr algn="l" defTabSz="914400" rtl="0" eaLnBrk="0">
              <a:lnSpc>
                <a:spcPct val="101000"/>
              </a:lnSpc>
              <a:spcBef>
                <a:spcPct val="0"/>
              </a:spcBef>
              <a:spcAft>
                <a:spcPct val="0"/>
              </a:spcAft>
            </a:pPr>
            <a:endParaRPr sz="800" kern="1200" dirty="0">
              <a:solidFill>
                <a:schemeClr val="tx1"/>
              </a:solidFill>
              <a:latin typeface="Arial" panose="020B0604020202020204" pitchFamily="34" charset="0"/>
              <a:ea typeface="黑体-简" panose="02000000000000000000" charset="-122"/>
              <a:cs typeface="Arial" panose="020B0604020202020204"/>
              <a:sym typeface="+mn-ea"/>
            </a:endParaRPr>
          </a:p>
          <a:p>
            <a:pPr marL="12700" algn="l" defTabSz="914400" rtl="0" eaLnBrk="0">
              <a:lnSpc>
                <a:spcPct val="92000"/>
              </a:lnSpc>
              <a:spcBef>
                <a:spcPts val="5"/>
              </a:spcBef>
              <a:spcAft>
                <a:spcPct val="0"/>
              </a:spcAft>
            </a:pPr>
            <a:r>
              <a:rPr sz="1000" kern="0" spc="1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从业务价值分析安全挑战</a:t>
            </a:r>
            <a:r>
              <a:rPr lang="zh-CN"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及后续安全工作投入</a:t>
            </a:r>
            <a:r>
              <a:rPr sz="1000" kern="0" spc="13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建议</a:t>
            </a:r>
            <a:endParaRPr lang="zh-CN" altLang="en-US" sz="1000" kern="0" spc="4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grpSp>
        <p:nvGrpSpPr>
          <p:cNvPr id="6" name="组合 5"/>
          <p:cNvGrpSpPr/>
          <p:nvPr/>
        </p:nvGrpSpPr>
        <p:grpSpPr>
          <a:xfrm rot="0">
            <a:off x="224790" y="306705"/>
            <a:ext cx="369570" cy="266700"/>
            <a:chOff x="533" y="672"/>
            <a:chExt cx="582" cy="420"/>
          </a:xfrm>
        </p:grpSpPr>
        <p:sp>
          <p:nvSpPr>
            <p:cNvPr id="7"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1" name="textbox 158"/>
          <p:cNvSpPr/>
          <p:nvPr/>
        </p:nvSpPr>
        <p:spPr>
          <a:xfrm>
            <a:off x="740410" y="347980"/>
            <a:ext cx="5708015" cy="327025"/>
          </a:xfrm>
          <a:prstGeom prst="rect">
            <a:avLst/>
          </a:prstGeom>
          <a:noFill/>
          <a:ln w="0" cap="flat">
            <a:noFill/>
            <a:prstDash val="solid"/>
            <a:miter lim="0"/>
          </a:ln>
        </p:spPr>
        <p:txBody>
          <a:bodyPr vert="horz" wrap="square" lIns="0" tIns="0" rIns="0" bIns="0"/>
          <a:p>
            <a:pPr algn="l" rtl="0" eaLnBrk="0">
              <a:lnSpc>
                <a:spcPct val="78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关键问题分析与解决方案</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aphicFrame>
        <p:nvGraphicFramePr>
          <p:cNvPr id="16" name="Table 15"/>
          <p:cNvGraphicFramePr>
            <a:graphicFrameLocks noGrp="1"/>
          </p:cNvGraphicFramePr>
          <p:nvPr>
            <p:custDataLst>
              <p:tags r:id="rId4"/>
            </p:custDataLst>
          </p:nvPr>
        </p:nvGraphicFramePr>
        <p:xfrm>
          <a:off x="527050" y="1086485"/>
          <a:ext cx="11205845" cy="5049520"/>
        </p:xfrm>
        <a:graphic>
          <a:graphicData uri="http://schemas.openxmlformats.org/drawingml/2006/table">
            <a:tbl>
              <a:tblPr firstRow="1" firstCol="1" bandRow="1">
                <a:tableStyleId>{5A111915-BE36-4E01-A7E5-04B1672EAD32}</a:tableStyleId>
              </a:tblPr>
              <a:tblGrid>
                <a:gridCol w="833120"/>
                <a:gridCol w="1363345"/>
                <a:gridCol w="731520"/>
                <a:gridCol w="1384300"/>
                <a:gridCol w="1858645"/>
                <a:gridCol w="4184015"/>
                <a:gridCol w="850900"/>
              </a:tblGrid>
              <a:tr h="656590">
                <a:tc>
                  <a:txBody>
                    <a:bodyPr/>
                    <a:p>
                      <a:pPr algn="ctr">
                        <a:buNone/>
                      </a:pPr>
                      <a:r>
                        <a:rPr lang="zh-CN" altLang="en-US" sz="1200" dirty="0">
                          <a:latin typeface="Arial" panose="020B0604020202020204" pitchFamily="34" charset="0"/>
                          <a:ea typeface="黑体-简" panose="02000000000000000000" charset="-122"/>
                        </a:rPr>
                        <a:t>目标影响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安全隐患</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sz="1200" dirty="0">
                          <a:latin typeface="Arial" panose="020B0604020202020204" pitchFamily="34" charset="0"/>
                          <a:ea typeface="黑体-简" panose="02000000000000000000" charset="-122"/>
                        </a:rPr>
                        <a:t>优先级</a:t>
                      </a:r>
                      <a:endParaRPr lang="zh-CN"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问题描述</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风险影响</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安全加固建议</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c>
                  <a:txBody>
                    <a:bodyPr/>
                    <a:p>
                      <a:pPr algn="ctr">
                        <a:buNone/>
                      </a:pPr>
                      <a:r>
                        <a:rPr lang="zh-CN" altLang="en-US" sz="1200" dirty="0">
                          <a:latin typeface="Arial" panose="020B0604020202020204" pitchFamily="34" charset="0"/>
                          <a:ea typeface="黑体-简" panose="02000000000000000000" charset="-122"/>
                        </a:rPr>
                        <a:t>现有进展</a:t>
                      </a:r>
                      <a:endParaRPr lang="zh-CN" altLang="en-US" sz="1200" dirty="0">
                        <a:latin typeface="Arial" panose="020B0604020202020204" pitchFamily="34" charset="0"/>
                        <a:ea typeface="黑体-简" panose="02000000000000000000"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solidFill>
                      <a:srgbClr val="365FD9"/>
                    </a:solidFill>
                  </a:tcPr>
                </a:tc>
              </a:tr>
              <a:tr h="4392930">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业务保护、重保</a:t>
                      </a:r>
                      <a:endParaRPr lang="zh-CN" altLang="en-US"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latin typeface="Arial" panose="020B0604020202020204" pitchFamily="34" charset="0"/>
                          <a:ea typeface="黑体-简" panose="02000000000000000000" charset="-122"/>
                          <a:cs typeface="黑体" panose="02010609060101010101" charset="-122"/>
                          <a:sym typeface="+mn-ea"/>
                        </a:rPr>
                        <a:t>当前遗留部分业务（</a:t>
                      </a:r>
                      <a:r>
                        <a:rPr lang="en-US" altLang="zh-CN" sz="1200" b="1" dirty="0">
                          <a:solidFill>
                            <a:srgbClr val="4C61E7"/>
                          </a:solidFill>
                          <a:latin typeface="Arial" panose="020B0604020202020204" pitchFamily="34" charset="0"/>
                          <a:ea typeface="黑体-简" panose="02000000000000000000" charset="-122"/>
                          <a:cs typeface="黑体" panose="02010609060101010101" charset="-122"/>
                          <a:sym typeface="+mn-ea"/>
                        </a:rPr>
                        <a:t>XX</a:t>
                      </a:r>
                      <a:r>
                        <a:rPr lang="zh-CN" altLang="en-US" sz="1200" b="1" dirty="0">
                          <a:solidFill>
                            <a:srgbClr val="4C61E7"/>
                          </a:solidFill>
                          <a:latin typeface="Arial" panose="020B0604020202020204" pitchFamily="34" charset="0"/>
                          <a:ea typeface="黑体-简" panose="02000000000000000000" charset="-122"/>
                          <a:cs typeface="黑体" panose="02010609060101010101" charset="-122"/>
                          <a:sym typeface="+mn-ea"/>
                        </a:rPr>
                        <a:t>系统</a:t>
                      </a:r>
                      <a:r>
                        <a:rPr lang="zh-CN" altLang="en-US" sz="1200" b="1" dirty="0">
                          <a:latin typeface="Arial" panose="020B0604020202020204" pitchFamily="34" charset="0"/>
                          <a:ea typeface="黑体-简" panose="02000000000000000000" charset="-122"/>
                          <a:cs typeface="黑体" panose="02010609060101010101" charset="-122"/>
                          <a:sym typeface="+mn-ea"/>
                        </a:rPr>
                        <a:t>等）存在高危安全漏洞待闭环</a:t>
                      </a:r>
                      <a:endParaRPr lang="en-US" altLang="zh-CN" sz="1200" b="1" dirty="0">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重要</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p>
                      <a:pPr algn="ctr" fontAlgn="auto">
                        <a:lnSpc>
                          <a:spcPct val="150000"/>
                        </a:lnSpc>
                        <a:spcBef>
                          <a:spcPts val="0"/>
                        </a:spcBef>
                        <a:buNone/>
                      </a:pPr>
                      <a:r>
                        <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rPr>
                        <a:t>紧急</a:t>
                      </a:r>
                      <a:endParaRPr lang="zh-CN" altLang="en-US" sz="1200" b="1" dirty="0">
                        <a:solidFill>
                          <a:srgbClr val="FF0000"/>
                        </a:solidFill>
                        <a:latin typeface="Arial" panose="020B0604020202020204" pitchFamily="34" charset="0"/>
                        <a:ea typeface="黑体-简" panose="02000000000000000000" charset="-122"/>
                        <a:cs typeface="黑体" panose="02010609060101010101"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algn="just" rtl="0" eaLnBrk="0" fontAlgn="auto">
                        <a:lnSpc>
                          <a:spcPct val="106000"/>
                        </a:lnSpc>
                        <a:spcBef>
                          <a:spcPts val="130"/>
                        </a:spcBef>
                        <a:buClrTx/>
                        <a:buSzTx/>
                        <a:buFont typeface="Arial" panose="020B0604020202020204" pitchFamily="34" charset="0"/>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当前遗留存在</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个</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高危漏洞（</a:t>
                      </a:r>
                      <a:r>
                        <a:rPr lang="en-US" altLang="zh-CN"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系统</a:t>
                      </a:r>
                      <a:r>
                        <a:rPr lang="zh-CN" altLang="en-US" sz="1200" b="1"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等业务）</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，其中包含</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个</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高危可利用漏洞（</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rPr>
                        <a:t>个</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rPr>
                        <a:t>已防护）</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marL="25400" indent="0" algn="just" rtl="0" eaLnBrk="0">
                        <a:lnSpc>
                          <a:spcPct val="106000"/>
                        </a:lnSpc>
                        <a:spcBef>
                          <a:spcPts val="130"/>
                        </a:spcBef>
                        <a:buFont typeface="Arial" panose="020B0604020202020204" pitchFamily="34" charset="0"/>
                        <a:buNone/>
                      </a:pP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外网主机（</a:t>
                      </a:r>
                      <a:r>
                        <a:rPr lang="zh-CN" altLang="en-US" sz="1200" b="1"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如</a:t>
                      </a:r>
                      <a:r>
                        <a:rPr lang="en-US" altLang="zh-CN"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XX</a:t>
                      </a:r>
                      <a:r>
                        <a:rPr lang="zh-CN" altLang="en-US" sz="1200" b="1"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系统</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）存在的高危漏洞一旦被攻击利用，进而形成跳板对内网的</a:t>
                      </a:r>
                      <a:r>
                        <a:rPr lang="en-US" altLang="zh-CN"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XXX</a:t>
                      </a:r>
                      <a:r>
                        <a:rPr lang="zh-CN" altLang="en-US" sz="1200" kern="0" spc="-10" dirty="0">
                          <a:solidFill>
                            <a:srgbClr val="4C61E7">
                              <a:alpha val="100000"/>
                            </a:srgbClr>
                          </a:solidFill>
                          <a:latin typeface="Arial" panose="020B0604020202020204" pitchFamily="34" charset="0"/>
                          <a:ea typeface="黑体-简" panose="02000000000000000000" charset="-122"/>
                          <a:cs typeface="微软雅黑" panose="020B0503020204020204" charset="-122"/>
                          <a:sym typeface="+mn-ea"/>
                        </a:rPr>
                        <a:t>核心系统</a:t>
                      </a:r>
                      <a:r>
                        <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rPr>
                        <a:t>进行攻击，可能产生相关业务中断、数据泄露。</a:t>
                      </a:r>
                      <a:endParaRPr lang="zh-CN" altLang="en-US" sz="1200" kern="0" spc="-10" dirty="0">
                        <a:solidFill>
                          <a:srgbClr val="000000">
                            <a:alpha val="100000"/>
                          </a:srgbClr>
                        </a:solidFill>
                        <a:latin typeface="Arial" panose="020B0604020202020204" pitchFamily="34" charset="0"/>
                        <a:ea typeface="黑体-简" panose="02000000000000000000" charset="-122"/>
                        <a:cs typeface="微软雅黑" panose="020B0503020204020204" charset="-122"/>
                        <a:sym typeface="+mn-ea"/>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1</a:t>
                      </a:r>
                      <a:r>
                        <a:rPr lang="zh-CN" altLang="en-US" sz="1200" b="1" dirty="0">
                          <a:latin typeface="Arial" panose="020B0604020202020204" pitchFamily="34" charset="0"/>
                          <a:ea typeface="黑体-简" panose="02000000000000000000" charset="-122"/>
                          <a:cs typeface="黑体" panose="02010609060101010101" charset="-122"/>
                          <a:sym typeface="+mn-ea"/>
                        </a:rPr>
                        <a:t>、短期直接可落地方案（对齐落地）</a:t>
                      </a:r>
                      <a:endParaRPr lang="en-US" altLang="zh-CN"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1</a:t>
                      </a:r>
                      <a:r>
                        <a:rPr lang="zh-CN" altLang="en-US" sz="1200" dirty="0">
                          <a:latin typeface="Arial" panose="020B0604020202020204" pitchFamily="34" charset="0"/>
                          <a:ea typeface="黑体-简" panose="02000000000000000000" charset="-122"/>
                          <a:cs typeface="黑体" panose="02010609060101010101" charset="-122"/>
                          <a:sym typeface="+mn-ea"/>
                        </a:rPr>
                        <a:t>）围绕业务核心程度、是否对外、漏洞等级、修复难度，进一步提供修复优先级的漏洞清单</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2</a:t>
                      </a:r>
                      <a:r>
                        <a:rPr lang="zh-CN" altLang="en-US" sz="1200" dirty="0">
                          <a:latin typeface="Arial" panose="020B0604020202020204" pitchFamily="34" charset="0"/>
                          <a:ea typeface="黑体-简" panose="02000000000000000000" charset="-122"/>
                          <a:cs typeface="黑体" panose="02010609060101010101" charset="-122"/>
                          <a:sym typeface="+mn-ea"/>
                        </a:rPr>
                        <a:t>）根据修复落地漏洞清单，对齐修复方案和落地计划</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r>
                        <a:rPr lang="en-US" altLang="zh-CN" sz="1200" dirty="0">
                          <a:latin typeface="Arial" panose="020B0604020202020204" pitchFamily="34" charset="0"/>
                          <a:ea typeface="黑体-简" panose="02000000000000000000" charset="-122"/>
                          <a:cs typeface="黑体" panose="02010609060101010101" charset="-122"/>
                          <a:sym typeface="+mn-ea"/>
                        </a:rPr>
                        <a:t>&amp;</a:t>
                      </a:r>
                      <a:r>
                        <a:rPr lang="zh-CN" altLang="en-US" sz="1200" dirty="0">
                          <a:latin typeface="Arial" panose="020B0604020202020204" pitchFamily="34" charset="0"/>
                          <a:ea typeface="黑体-简" panose="02000000000000000000" charset="-122"/>
                          <a:cs typeface="黑体" panose="02010609060101010101" charset="-122"/>
                          <a:sym typeface="+mn-ea"/>
                        </a:rPr>
                        <a:t>深信服</a:t>
                      </a:r>
                      <a:endParaRPr lang="en-US" altLang="zh-CN" sz="1200" dirty="0">
                        <a:latin typeface="Arial" panose="020B0604020202020204" pitchFamily="34" charset="0"/>
                        <a:ea typeface="黑体-简" panose="02000000000000000000" charset="-122"/>
                        <a:cs typeface="黑体" panose="02010609060101010101" charset="-122"/>
                        <a:sym typeface="+mn-ea"/>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    </a:t>
                      </a:r>
                      <a:r>
                        <a:rPr lang="zh-CN" altLang="en-US" sz="1200" dirty="0">
                          <a:latin typeface="Arial" panose="020B0604020202020204" pitchFamily="34" charset="0"/>
                          <a:ea typeface="黑体-简" panose="02000000000000000000" charset="-122"/>
                          <a:cs typeface="黑体" panose="02010609060101010101" charset="-122"/>
                          <a:sym typeface="+mn-ea"/>
                        </a:rPr>
                        <a:t>修复方案参考：修改配置（如</a:t>
                      </a:r>
                      <a:r>
                        <a:rPr lang="en-US" altLang="zh-CN" sz="1200" dirty="0">
                          <a:solidFill>
                            <a:srgbClr val="4C61E7"/>
                          </a:solidFill>
                          <a:latin typeface="Arial" panose="020B0604020202020204" pitchFamily="34" charset="0"/>
                          <a:ea typeface="黑体-简" panose="02000000000000000000" charset="-122"/>
                          <a:cs typeface="黑体" panose="02010609060101010101" charset="-122"/>
                          <a:sym typeface="+mn-ea"/>
                        </a:rPr>
                        <a:t>XXX</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系统的未授权漏洞</a:t>
                      </a:r>
                      <a:r>
                        <a:rPr lang="zh-CN" altLang="en-US" sz="1200" dirty="0">
                          <a:latin typeface="Arial" panose="020B0604020202020204" pitchFamily="34" charset="0"/>
                          <a:ea typeface="黑体-简" panose="02000000000000000000" charset="-122"/>
                          <a:cs typeface="黑体" panose="02010609060101010101" charset="-122"/>
                          <a:sym typeface="+mn-ea"/>
                        </a:rPr>
                        <a:t>）、漏洞补丁升级</a:t>
                      </a:r>
                      <a:r>
                        <a:rPr lang="en-US" altLang="zh-CN" sz="1200" dirty="0">
                          <a:latin typeface="Arial" panose="020B0604020202020204" pitchFamily="34" charset="0"/>
                          <a:ea typeface="黑体-简" panose="02000000000000000000" charset="-122"/>
                          <a:cs typeface="黑体" panose="02010609060101010101" charset="-122"/>
                          <a:sym typeface="+mn-ea"/>
                        </a:rPr>
                        <a:t>&gt;</a:t>
                      </a:r>
                      <a:r>
                        <a:rPr lang="zh-CN" altLang="en-US" sz="1200" dirty="0">
                          <a:latin typeface="Arial" panose="020B0604020202020204" pitchFamily="34" charset="0"/>
                          <a:ea typeface="黑体-简" panose="02000000000000000000" charset="-122"/>
                          <a:cs typeface="黑体" panose="02010609060101010101" charset="-122"/>
                          <a:sym typeface="+mn-ea"/>
                        </a:rPr>
                        <a:t>防火墙策略防护</a:t>
                      </a:r>
                      <a:r>
                        <a:rPr lang="en-US" altLang="zh-CN" sz="1200" dirty="0">
                          <a:latin typeface="Arial" panose="020B0604020202020204" pitchFamily="34" charset="0"/>
                          <a:ea typeface="黑体-简" panose="02000000000000000000" charset="-122"/>
                          <a:cs typeface="黑体" panose="02010609060101010101" charset="-122"/>
                          <a:sym typeface="+mn-ea"/>
                        </a:rPr>
                        <a:t>&gt;EDR</a:t>
                      </a:r>
                      <a:r>
                        <a:rPr lang="zh-CN" altLang="en-US" sz="1200" dirty="0">
                          <a:latin typeface="Arial" panose="020B0604020202020204" pitchFamily="34" charset="0"/>
                          <a:ea typeface="黑体-简" panose="02000000000000000000" charset="-122"/>
                          <a:cs typeface="黑体" panose="02010609060101010101" charset="-122"/>
                          <a:sym typeface="+mn-ea"/>
                        </a:rPr>
                        <a:t>轻补丁防护</a:t>
                      </a:r>
                      <a:r>
                        <a:rPr lang="en-US" altLang="zh-CN" sz="1200" dirty="0">
                          <a:latin typeface="Arial" panose="020B0604020202020204" pitchFamily="34" charset="0"/>
                          <a:ea typeface="黑体-简" panose="02000000000000000000" charset="-122"/>
                          <a:cs typeface="黑体" panose="02010609060101010101" charset="-122"/>
                          <a:sym typeface="+mn-ea"/>
                        </a:rPr>
                        <a:t>&gt;</a:t>
                      </a:r>
                      <a:r>
                        <a:rPr lang="zh-CN" altLang="en-US" sz="1200" dirty="0">
                          <a:latin typeface="Arial" panose="020B0604020202020204" pitchFamily="34" charset="0"/>
                          <a:ea typeface="黑体-简" panose="02000000000000000000" charset="-122"/>
                          <a:cs typeface="黑体" panose="02010609060101010101" charset="-122"/>
                          <a:sym typeface="+mn-ea"/>
                        </a:rPr>
                        <a:t>端口策略</a:t>
                      </a:r>
                      <a:endParaRPr lang="zh-CN" altLang="en-US" sz="1200" dirty="0">
                        <a:latin typeface="Arial" panose="020B0604020202020204" pitchFamily="34" charset="0"/>
                        <a:ea typeface="黑体-简" panose="02000000000000000000" charset="-122"/>
                        <a:cs typeface="黑体" panose="02010609060101010101" charset="-122"/>
                        <a:sym typeface="+mn-ea"/>
                      </a:endParaRPr>
                    </a:p>
                    <a:p>
                      <a:pPr algn="just" fontAlgn="auto">
                        <a:lnSpc>
                          <a:spcPct val="150000"/>
                        </a:lnSpc>
                        <a:spcBef>
                          <a:spcPts val="0"/>
                        </a:spcBef>
                        <a:buNone/>
                      </a:pPr>
                      <a:r>
                        <a:rPr lang="en-US" altLang="zh-CN" sz="1200" dirty="0">
                          <a:latin typeface="Arial" panose="020B0604020202020204" pitchFamily="34" charset="0"/>
                          <a:ea typeface="黑体-简" panose="02000000000000000000" charset="-122"/>
                          <a:cs typeface="黑体" panose="02010609060101010101" charset="-122"/>
                          <a:sym typeface="+mn-ea"/>
                        </a:rPr>
                        <a:t>3</a:t>
                      </a:r>
                      <a:r>
                        <a:rPr lang="zh-CN" altLang="en-US" sz="1200" dirty="0">
                          <a:latin typeface="Arial" panose="020B0604020202020204" pitchFamily="34" charset="0"/>
                          <a:ea typeface="黑体-简" panose="02000000000000000000" charset="-122"/>
                          <a:cs typeface="黑体" panose="02010609060101010101" charset="-122"/>
                          <a:sym typeface="+mn-ea"/>
                        </a:rPr>
                        <a:t>）按照方案落地修复，反馈给</a:t>
                      </a:r>
                      <a:r>
                        <a:rPr lang="en-US" altLang="zh-CN" sz="1200" dirty="0">
                          <a:latin typeface="Arial" panose="020B0604020202020204" pitchFamily="34" charset="0"/>
                          <a:ea typeface="黑体-简" panose="02000000000000000000" charset="-122"/>
                          <a:cs typeface="黑体" panose="02010609060101010101" charset="-122"/>
                          <a:sym typeface="+mn-ea"/>
                        </a:rPr>
                        <a:t>MSS</a:t>
                      </a:r>
                      <a:r>
                        <a:rPr lang="zh-CN" altLang="en-US" sz="1200" dirty="0">
                          <a:latin typeface="Arial" panose="020B0604020202020204" pitchFamily="34" charset="0"/>
                          <a:ea typeface="黑体-简" panose="02000000000000000000" charset="-122"/>
                          <a:cs typeface="黑体" panose="02010609060101010101" charset="-122"/>
                          <a:sym typeface="+mn-ea"/>
                        </a:rPr>
                        <a:t>团队进行漏洞复测闭环</a:t>
                      </a:r>
                      <a:r>
                        <a:rPr lang="en-US" altLang="zh-CN" sz="1200" dirty="0">
                          <a:latin typeface="Arial" panose="020B0604020202020204" pitchFamily="34" charset="0"/>
                          <a:ea typeface="黑体-简" panose="02000000000000000000" charset="-122"/>
                          <a:cs typeface="黑体" panose="02010609060101010101" charset="-122"/>
                          <a:sym typeface="+mn-ea"/>
                        </a:rPr>
                        <a:t>——</a:t>
                      </a:r>
                      <a:r>
                        <a:rPr lang="zh-CN" altLang="en-US" sz="1200" dirty="0">
                          <a:solidFill>
                            <a:srgbClr val="4C61E7"/>
                          </a:solidFill>
                          <a:latin typeface="Arial" panose="020B0604020202020204" pitchFamily="34" charset="0"/>
                          <a:ea typeface="黑体-简" panose="02000000000000000000" charset="-122"/>
                          <a:cs typeface="黑体" panose="02010609060101010101" charset="-122"/>
                          <a:sym typeface="+mn-ea"/>
                        </a:rPr>
                        <a:t>客户单位</a:t>
                      </a: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endParaRPr lang="zh-CN" altLang="en-US" sz="1200" b="0"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1" dirty="0">
                          <a:latin typeface="Arial" panose="020B0604020202020204" pitchFamily="34" charset="0"/>
                          <a:ea typeface="黑体-简" panose="02000000000000000000" charset="-122"/>
                          <a:cs typeface="黑体" panose="02010609060101010101" charset="-122"/>
                          <a:sym typeface="+mn-ea"/>
                        </a:rPr>
                        <a:t>2</a:t>
                      </a:r>
                      <a:r>
                        <a:rPr lang="zh-CN" altLang="en-US" sz="1200" b="1" dirty="0">
                          <a:latin typeface="Arial" panose="020B0604020202020204" pitchFamily="34" charset="0"/>
                          <a:ea typeface="黑体-简" panose="02000000000000000000" charset="-122"/>
                          <a:cs typeface="黑体" panose="02010609060101010101" charset="-122"/>
                          <a:sym typeface="+mn-ea"/>
                        </a:rPr>
                        <a:t>、长期需要补充方案（待决策）</a:t>
                      </a:r>
                      <a:endParaRPr lang="zh-CN" altLang="en-US" sz="1200" b="1" dirty="0">
                        <a:latin typeface="Arial" panose="020B0604020202020204" pitchFamily="34" charset="0"/>
                        <a:ea typeface="黑体-简" panose="02000000000000000000" charset="-122"/>
                        <a:cs typeface="黑体" panose="02010609060101010101" charset="-122"/>
                      </a:endParaRPr>
                    </a:p>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c>
                  <a:txBody>
                    <a:bodyPr/>
                    <a:p>
                      <a:pPr algn="just" fontAlgn="auto">
                        <a:lnSpc>
                          <a:spcPct val="150000"/>
                        </a:lnSpc>
                        <a:spcBef>
                          <a:spcPts val="0"/>
                        </a:spcBef>
                        <a:buNone/>
                      </a:pPr>
                      <a:r>
                        <a:rPr lang="en-US" altLang="zh-CN" sz="1200" b="0" dirty="0">
                          <a:latin typeface="Arial" panose="020B0604020202020204" pitchFamily="34" charset="0"/>
                          <a:ea typeface="黑体-简" panose="02000000000000000000" charset="-122"/>
                          <a:cs typeface="黑体" panose="02010609060101010101" charset="-122"/>
                        </a:rPr>
                        <a:t>/</a:t>
                      </a:r>
                      <a:endParaRPr lang="en-US" altLang="zh-CN" sz="1200" b="0" dirty="0">
                        <a:latin typeface="Arial" panose="020B0604020202020204" pitchFamily="34" charset="0"/>
                        <a:ea typeface="黑体-简" panose="02000000000000000000" charset="-122"/>
                        <a:cs typeface="黑体" panose="02010609060101010101" charset="-122"/>
                      </a:endParaRPr>
                    </a:p>
                  </a:txBody>
                  <a:tcPr marL="63500" marR="63500" marT="63500" marB="63500" anchor="ctr">
                    <a:lnL w="9525">
                      <a:solidFill>
                        <a:schemeClr val="bg2"/>
                      </a:solidFill>
                      <a:prstDash val="solid"/>
                    </a:lnL>
                    <a:lnR w="9525">
                      <a:solidFill>
                        <a:schemeClr val="bg2"/>
                      </a:solidFill>
                      <a:prstDash val="solid"/>
                    </a:lnR>
                    <a:lnT w="9525">
                      <a:solidFill>
                        <a:schemeClr val="bg2"/>
                      </a:solidFill>
                      <a:prstDash val="solid"/>
                    </a:lnT>
                    <a:lnB w="9525">
                      <a:solidFill>
                        <a:schemeClr val="bg2"/>
                      </a:solidFill>
                      <a:prstDash val="soli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431800" y="685165"/>
            <a:ext cx="9016365" cy="39052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备注：下一阶段探索</a:t>
            </a:r>
            <a:r>
              <a:rPr lang="zh-CN" altLang="en-US" sz="1900" kern="0" dirty="0">
                <a:solidFill>
                  <a:srgbClr val="4C61E7"/>
                </a:solidFill>
                <a:latin typeface="黑体" panose="02010609060101010101" charset="-122"/>
                <a:ea typeface="黑体" panose="02010609060101010101" charset="-122"/>
                <a:cs typeface="黑体" panose="02010609060101010101" charset="-122"/>
              </a:rPr>
              <a:t>方向</a:t>
            </a:r>
            <a:endParaRPr lang="zh-CN" altLang="en-US" sz="1900" kern="0" dirty="0">
              <a:solidFill>
                <a:srgbClr val="4C61E7"/>
              </a:solidFill>
              <a:latin typeface="黑体" panose="02010609060101010101" charset="-122"/>
              <a:ea typeface="黑体" panose="02010609060101010101" charset="-122"/>
              <a:cs typeface="黑体" panose="02010609060101010101" charset="-122"/>
            </a:endParaRPr>
          </a:p>
        </p:txBody>
      </p:sp>
      <p:pic>
        <p:nvPicPr>
          <p:cNvPr id="5" name="图片 4" descr="1755143421298"/>
          <p:cNvPicPr>
            <a:picLocks noChangeAspect="1"/>
          </p:cNvPicPr>
          <p:nvPr/>
        </p:nvPicPr>
        <p:blipFill>
          <a:blip r:embed="rId1"/>
          <a:stretch>
            <a:fillRect/>
          </a:stretch>
        </p:blipFill>
        <p:spPr>
          <a:xfrm>
            <a:off x="426085" y="5785485"/>
            <a:ext cx="11338560" cy="779145"/>
          </a:xfrm>
          <a:prstGeom prst="rect">
            <a:avLst/>
          </a:prstGeom>
        </p:spPr>
      </p:pic>
      <p:sp>
        <p:nvSpPr>
          <p:cNvPr id="8" name="文本框 7"/>
          <p:cNvSpPr txBox="1"/>
          <p:nvPr/>
        </p:nvSpPr>
        <p:spPr>
          <a:xfrm>
            <a:off x="609600" y="5812790"/>
            <a:ext cx="11036935" cy="724535"/>
          </a:xfrm>
          <a:prstGeom prst="rect">
            <a:avLst/>
          </a:prstGeom>
          <a:noFill/>
        </p:spPr>
        <p:txBody>
          <a:bodyPr wrap="square" rtlCol="0" anchor="t">
            <a:noAutofit/>
          </a:bodyPr>
          <a:p>
            <a:pPr indent="0" fontAlgn="auto">
              <a:spcBef>
                <a:spcPts val="600"/>
              </a:spcBef>
            </a:pPr>
            <a:r>
              <a:rPr lang="zh-CN" sz="12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决策建议</a:t>
            </a:r>
            <a:endParaRPr lang="zh-CN" sz="1200" b="1"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indent="0" fontAlgn="auto">
              <a:spcBef>
                <a:spcPts val="600"/>
              </a:spcBef>
            </a:pPr>
            <a:r>
              <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信息安全领域有一个残酷的规律：“永远不会有第二次机会去弥补第一次疏忽带来的损失”。</a:t>
            </a:r>
            <a:r>
              <a:rPr lang="en-US" altLang="zh-CN"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完善主动防御体系，把需要被保护的资产及时纳入</a:t>
            </a:r>
            <a:r>
              <a:rPr lang="en-US" altLang="zh-CN"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7*24H</a:t>
            </a:r>
            <a:r>
              <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主动监测范畴，本质上是让咱们</a:t>
            </a:r>
            <a:r>
              <a:rPr lang="en-US" altLang="zh-CN"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提前发现火苗</a:t>
            </a:r>
            <a:r>
              <a:rPr lang="en-US" altLang="zh-CN"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的能力覆盖得更全面</a:t>
            </a:r>
            <a:r>
              <a:rPr lang="en-US" altLang="zh-CN"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200" spc="90" dirty="0">
                <a:solidFill>
                  <a:srgbClr val="C00000">
                    <a:alpha val="100000"/>
                  </a:srgbClr>
                </a:solidFill>
                <a:latin typeface="黑体" panose="02010609060101010101" charset="-122"/>
                <a:ea typeface="黑体" panose="02010609060101010101" charset="-122"/>
                <a:cs typeface="黑体" panose="02010609060101010101" charset="-122"/>
                <a:sym typeface="+mn-ea"/>
              </a:rPr>
              <a:t>等火烧起来了再去救，代价是完全不同的量级</a:t>
            </a:r>
            <a:r>
              <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1200" spc="9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 name="图片 8" descr="深信服 + 智安全"/>
          <p:cNvPicPr>
            <a:picLocks noChangeAspect="1"/>
          </p:cNvPicPr>
          <p:nvPr/>
        </p:nvPicPr>
        <p:blipFill>
          <a:blip r:embed="rId2"/>
          <a:srcRect l="5232" t="26576" r="4938" b="29565"/>
          <a:stretch>
            <a:fillRect/>
          </a:stretch>
        </p:blipFill>
        <p:spPr>
          <a:xfrm>
            <a:off x="10017125" y="238760"/>
            <a:ext cx="1629867" cy="360000"/>
          </a:xfrm>
          <a:prstGeom prst="rect">
            <a:avLst/>
          </a:prstGeom>
        </p:spPr>
      </p:pic>
      <p:sp>
        <p:nvSpPr>
          <p:cNvPr id="6" name="Shape 4"/>
          <p:cNvSpPr/>
          <p:nvPr/>
        </p:nvSpPr>
        <p:spPr>
          <a:xfrm>
            <a:off x="426720" y="1607820"/>
            <a:ext cx="5547360" cy="4126230"/>
          </a:xfrm>
          <a:prstGeom prst="rect">
            <a:avLst/>
          </a:prstGeom>
          <a:solidFill>
            <a:srgbClr val="FFFFFF"/>
          </a:solidFill>
          <a:ln w="12700">
            <a:solidFill>
              <a:srgbClr val="E2E8F0"/>
            </a:solidFill>
            <a:prstDash val="solid"/>
          </a:ln>
          <a:effectLst>
            <a:outerShdw blurRad="50800" dist="12700" dir="8100000" algn="bl" rotWithShape="0">
              <a:srgbClr val="000000">
                <a:alpha val="7000"/>
              </a:srgbClr>
            </a:outerShdw>
          </a:effectLst>
        </p:spPr>
      </p:sp>
      <p:sp>
        <p:nvSpPr>
          <p:cNvPr id="7" name="Shape 5"/>
          <p:cNvSpPr/>
          <p:nvPr/>
        </p:nvSpPr>
        <p:spPr>
          <a:xfrm>
            <a:off x="426720" y="1607820"/>
            <a:ext cx="76200" cy="4126230"/>
          </a:xfrm>
          <a:prstGeom prst="rect">
            <a:avLst/>
          </a:prstGeom>
          <a:solidFill>
            <a:srgbClr val="FFC000"/>
          </a:solidFill>
        </p:spPr>
      </p:sp>
      <p:sp>
        <p:nvSpPr>
          <p:cNvPr id="2" name="Text 6"/>
          <p:cNvSpPr/>
          <p:nvPr/>
        </p:nvSpPr>
        <p:spPr>
          <a:xfrm>
            <a:off x="633984" y="1717294"/>
            <a:ext cx="5181600" cy="365760"/>
          </a:xfrm>
          <a:prstGeom prst="rect">
            <a:avLst/>
          </a:prstGeom>
          <a:noFill/>
        </p:spPr>
        <p:txBody>
          <a:bodyPr wrap="square" lIns="0" tIns="0" rIns="0" bIns="0" rtlCol="0" anchor="ctr"/>
          <a:lstStyle/>
          <a:p>
            <a:pPr marL="0" indent="0">
              <a:buNone/>
            </a:pPr>
            <a:r>
              <a:rPr lang="en-US" sz="1600" b="1" dirty="0">
                <a:solidFill>
                  <a:srgbClr val="1A2744"/>
                </a:solidFill>
                <a:latin typeface="微软雅黑" panose="020B0503020204020204" charset="-122"/>
                <a:ea typeface="微软雅黑" panose="020B0503020204020204" charset="-122"/>
                <a:cs typeface="微软雅黑" panose="020B0503020204020204" pitchFamily="34" charset="-120"/>
              </a:rPr>
              <a:t>问题定义：三个「看不见」的致命盲区</a:t>
            </a:r>
            <a:endParaRPr lang="en-US" sz="1600" dirty="0"/>
          </a:p>
        </p:txBody>
      </p:sp>
      <p:sp>
        <p:nvSpPr>
          <p:cNvPr id="3" name="Shape 7"/>
          <p:cNvSpPr/>
          <p:nvPr/>
        </p:nvSpPr>
        <p:spPr>
          <a:xfrm>
            <a:off x="658368" y="2156206"/>
            <a:ext cx="390144" cy="390144"/>
          </a:xfrm>
          <a:prstGeom prst="ellipse">
            <a:avLst/>
          </a:prstGeom>
          <a:solidFill>
            <a:srgbClr val="DC2626"/>
          </a:solidFill>
        </p:spPr>
      </p:sp>
      <p:sp>
        <p:nvSpPr>
          <p:cNvPr id="10" name="Text 8"/>
          <p:cNvSpPr/>
          <p:nvPr/>
        </p:nvSpPr>
        <p:spPr>
          <a:xfrm>
            <a:off x="658368" y="2156206"/>
            <a:ext cx="390144" cy="390144"/>
          </a:xfrm>
          <a:prstGeom prst="rect">
            <a:avLst/>
          </a:prstGeom>
          <a:noFill/>
        </p:spPr>
        <p:txBody>
          <a:bodyPr wrap="square" lIns="0" tIns="0" rIns="0" bIns="0" rtlCol="0" anchor="ctr"/>
          <a:lstStyle/>
          <a:p>
            <a:pPr marL="0" indent="0" algn="ctr">
              <a:buNone/>
            </a:pPr>
            <a:r>
              <a:rPr lang="en-US" sz="1335"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01</a:t>
            </a:r>
            <a:endParaRPr lang="en-US" sz="1335" dirty="0"/>
          </a:p>
        </p:txBody>
      </p:sp>
      <p:sp>
        <p:nvSpPr>
          <p:cNvPr id="11" name="Text 9"/>
          <p:cNvSpPr/>
          <p:nvPr/>
        </p:nvSpPr>
        <p:spPr>
          <a:xfrm>
            <a:off x="1170432" y="2144014"/>
            <a:ext cx="4632960" cy="341376"/>
          </a:xfrm>
          <a:prstGeom prst="rect">
            <a:avLst/>
          </a:prstGeom>
          <a:noFill/>
        </p:spPr>
        <p:txBody>
          <a:bodyPr wrap="square" lIns="0" tIns="0" rIns="0" bIns="0" rtlCol="0" anchor="ctr"/>
          <a:lstStyle/>
          <a:p>
            <a:pPr marL="0" indent="0">
              <a:buNone/>
            </a:pPr>
            <a:r>
              <a:rPr lang="en-US" sz="1465" b="1" dirty="0">
                <a:solidFill>
                  <a:srgbClr val="1E293B"/>
                </a:solidFill>
                <a:latin typeface="微软雅黑" panose="020B0503020204020204" charset="-122"/>
                <a:ea typeface="微软雅黑" panose="020B0503020204020204" charset="-122"/>
                <a:cs typeface="微软雅黑" panose="020B0503020204020204" pitchFamily="34" charset="-120"/>
              </a:rPr>
              <a:t>看不见入侵早期信号</a:t>
            </a:r>
            <a:endParaRPr lang="en-US" sz="1465" dirty="0"/>
          </a:p>
        </p:txBody>
      </p:sp>
      <p:sp>
        <p:nvSpPr>
          <p:cNvPr id="12" name="Text 10"/>
          <p:cNvSpPr/>
          <p:nvPr/>
        </p:nvSpPr>
        <p:spPr>
          <a:xfrm>
            <a:off x="1170432" y="2485390"/>
            <a:ext cx="4632960" cy="414528"/>
          </a:xfrm>
          <a:prstGeom prst="rect">
            <a:avLst/>
          </a:prstGeom>
          <a:noFill/>
        </p:spPr>
        <p:txBody>
          <a:bodyPr wrap="square" lIns="0" tIns="0" rIns="0" bIns="0" rtlCol="0" anchor="ctr"/>
          <a:lstStyle/>
          <a:p>
            <a:pPr marL="95250" indent="0" algn="l" rtl="0" eaLnBrk="0" fontAlgn="auto">
              <a:lnSpc>
                <a:spcPct val="100000"/>
              </a:lnSpc>
              <a:spcBef>
                <a:spcPts val="600"/>
              </a:spcBef>
            </a:pPr>
            <a:r>
              <a:rPr lang="en-US" altLang="zh-CN" sz="1200" dirty="0">
                <a:solidFill>
                  <a:srgbClr val="4C61E7"/>
                </a:solidFill>
                <a:latin typeface="黑体" panose="02010609060101010101" charset="-122"/>
                <a:ea typeface="黑体" panose="02010609060101010101" charset="-122"/>
                <a:cs typeface="黑体" panose="02010609060101010101" charset="-122"/>
                <a:sym typeface="+mn-ea"/>
              </a:rPr>
              <a:t>XXX</a:t>
            </a:r>
            <a:r>
              <a:rPr lang="zh-CN" altLang="en-US" sz="1200" dirty="0">
                <a:solidFill>
                  <a:srgbClr val="4C61E7"/>
                </a:solidFill>
                <a:latin typeface="黑体" panose="02010609060101010101" charset="-122"/>
                <a:ea typeface="黑体" panose="02010609060101010101" charset="-122"/>
                <a:cs typeface="黑体" panose="02010609060101010101" charset="-122"/>
                <a:sym typeface="+mn-ea"/>
              </a:rPr>
              <a:t>业务系统</a:t>
            </a:r>
            <a:r>
              <a:rPr lang="zh-CN" altLang="en-US" sz="1200" dirty="0">
                <a:latin typeface="黑体" panose="02010609060101010101" charset="-122"/>
                <a:ea typeface="黑体" panose="02010609060101010101" charset="-122"/>
                <a:cs typeface="黑体" panose="02010609060101010101" charset="-122"/>
                <a:sym typeface="+mn-ea"/>
              </a:rPr>
              <a:t>是加密的，现有安全设备不能监测到明文通信数据，看不见真实的攻击载荷，等同于给眼睛蒙上了</a:t>
            </a:r>
            <a:r>
              <a:rPr lang="zh-CN" altLang="en-US" sz="1200" dirty="0">
                <a:latin typeface="黑体" panose="02010609060101010101" charset="-122"/>
                <a:ea typeface="黑体" panose="02010609060101010101" charset="-122"/>
                <a:cs typeface="黑体" panose="02010609060101010101" charset="-122"/>
                <a:sym typeface="+mn-ea"/>
              </a:rPr>
              <a:t>眼罩；</a:t>
            </a:r>
            <a:endParaRPr lang="en-US" sz="1200" dirty="0"/>
          </a:p>
        </p:txBody>
      </p:sp>
      <p:sp>
        <p:nvSpPr>
          <p:cNvPr id="13" name="Shape 11"/>
          <p:cNvSpPr/>
          <p:nvPr/>
        </p:nvSpPr>
        <p:spPr>
          <a:xfrm>
            <a:off x="658368" y="3326892"/>
            <a:ext cx="390144" cy="390144"/>
          </a:xfrm>
          <a:prstGeom prst="ellipse">
            <a:avLst/>
          </a:prstGeom>
          <a:solidFill>
            <a:srgbClr val="EA580C"/>
          </a:solidFill>
        </p:spPr>
      </p:sp>
      <p:sp>
        <p:nvSpPr>
          <p:cNvPr id="14" name="Text 12"/>
          <p:cNvSpPr/>
          <p:nvPr/>
        </p:nvSpPr>
        <p:spPr>
          <a:xfrm>
            <a:off x="658368" y="3326892"/>
            <a:ext cx="390144" cy="390144"/>
          </a:xfrm>
          <a:prstGeom prst="rect">
            <a:avLst/>
          </a:prstGeom>
          <a:noFill/>
        </p:spPr>
        <p:txBody>
          <a:bodyPr wrap="square" lIns="0" tIns="0" rIns="0" bIns="0" rtlCol="0" anchor="ctr"/>
          <a:lstStyle/>
          <a:p>
            <a:pPr marL="0" indent="0" algn="ctr">
              <a:buNone/>
            </a:pPr>
            <a:r>
              <a:rPr lang="en-US" sz="1335"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02</a:t>
            </a:r>
            <a:endParaRPr lang="en-US" sz="1335" dirty="0"/>
          </a:p>
        </p:txBody>
      </p:sp>
      <p:sp>
        <p:nvSpPr>
          <p:cNvPr id="15" name="Text 13"/>
          <p:cNvSpPr/>
          <p:nvPr/>
        </p:nvSpPr>
        <p:spPr>
          <a:xfrm>
            <a:off x="1170432" y="3314700"/>
            <a:ext cx="4632960" cy="341376"/>
          </a:xfrm>
          <a:prstGeom prst="rect">
            <a:avLst/>
          </a:prstGeom>
          <a:noFill/>
        </p:spPr>
        <p:txBody>
          <a:bodyPr wrap="square" lIns="0" tIns="0" rIns="0" bIns="0" rtlCol="0" anchor="ctr"/>
          <a:lstStyle/>
          <a:p>
            <a:pPr marL="0" indent="0">
              <a:buNone/>
            </a:pPr>
            <a:r>
              <a:rPr lang="en-US" sz="1465" b="1" dirty="0">
                <a:solidFill>
                  <a:srgbClr val="1E293B"/>
                </a:solidFill>
                <a:latin typeface="微软雅黑" panose="020B0503020204020204" charset="-122"/>
                <a:ea typeface="微软雅黑" panose="020B0503020204020204" charset="-122"/>
                <a:cs typeface="微软雅黑" panose="020B0503020204020204" pitchFamily="34" charset="-120"/>
              </a:rPr>
              <a:t>看不见内部异常行为</a:t>
            </a:r>
            <a:endParaRPr lang="en-US" sz="1465" dirty="0"/>
          </a:p>
        </p:txBody>
      </p:sp>
      <p:sp>
        <p:nvSpPr>
          <p:cNvPr id="16" name="Text 14"/>
          <p:cNvSpPr/>
          <p:nvPr/>
        </p:nvSpPr>
        <p:spPr>
          <a:xfrm>
            <a:off x="1170305" y="3656330"/>
            <a:ext cx="4632960" cy="621030"/>
          </a:xfrm>
          <a:prstGeom prst="rect">
            <a:avLst/>
          </a:prstGeom>
          <a:noFill/>
        </p:spPr>
        <p:txBody>
          <a:bodyPr wrap="square" lIns="0" tIns="0" rIns="0" bIns="0" rtlCol="0" anchor="ctr"/>
          <a:lstStyle/>
          <a:p>
            <a:pPr marL="95250" indent="0" algn="l" rtl="0" eaLnBrk="0" fontAlgn="auto">
              <a:lnSpc>
                <a:spcPct val="100000"/>
              </a:lnSpc>
              <a:spcBef>
                <a:spcPts val="600"/>
              </a:spcBef>
            </a:pPr>
            <a:r>
              <a:rPr lang="en-US" altLang="zh-CN" sz="1200" kern="0" spc="60" dirty="0">
                <a:solidFill>
                  <a:srgbClr val="4C61E7">
                    <a:alpha val="100000"/>
                  </a:srgbClr>
                </a:solidFill>
                <a:latin typeface="黑体" panose="02010609060101010101" charset="-122"/>
                <a:ea typeface="黑体" panose="02010609060101010101" charset="-122"/>
                <a:cs typeface="黑体" panose="02010609060101010101" charset="-122"/>
                <a:sym typeface="+mn-ea"/>
              </a:rPr>
              <a:t>XX</a:t>
            </a:r>
            <a:r>
              <a:rPr lang="zh-CN" altLang="en-US" sz="1200" kern="0" spc="60" dirty="0">
                <a:solidFill>
                  <a:srgbClr val="4C61E7">
                    <a:alpha val="100000"/>
                  </a:srgbClr>
                </a:solidFill>
                <a:latin typeface="黑体" panose="02010609060101010101" charset="-122"/>
                <a:ea typeface="黑体" panose="02010609060101010101" charset="-122"/>
                <a:cs typeface="黑体" panose="02010609060101010101" charset="-122"/>
                <a:sym typeface="+mn-ea"/>
              </a:rPr>
              <a:t>区域主机</a:t>
            </a:r>
            <a:r>
              <a:rPr lang="zh-CN" altLang="en-US"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未纳入主动安全体系监测范围，入侵者可以通过</a:t>
            </a:r>
            <a:r>
              <a:rPr lang="en-US" altLang="zh-CN"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APT</a:t>
            </a:r>
            <a:r>
              <a:rPr lang="zh-CN" altLang="en-US"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或钓鱼等高级手段入侵后，控制主机下载内部敏感数据或利用微信等</a:t>
            </a:r>
            <a:r>
              <a:rPr lang="en-US" altLang="zh-CN"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IM</a:t>
            </a:r>
            <a:r>
              <a:rPr lang="zh-CN" altLang="en-US"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软件拉群发起诈骗，而安全人员毫无感知；</a:t>
            </a:r>
            <a:endParaRPr lang="en-US" sz="1200" dirty="0"/>
          </a:p>
        </p:txBody>
      </p:sp>
      <p:sp>
        <p:nvSpPr>
          <p:cNvPr id="17" name="Shape 15"/>
          <p:cNvSpPr/>
          <p:nvPr/>
        </p:nvSpPr>
        <p:spPr>
          <a:xfrm>
            <a:off x="658368" y="4633468"/>
            <a:ext cx="390144" cy="390144"/>
          </a:xfrm>
          <a:prstGeom prst="ellipse">
            <a:avLst/>
          </a:prstGeom>
          <a:solidFill>
            <a:srgbClr val="D97706"/>
          </a:solidFill>
        </p:spPr>
      </p:sp>
      <p:sp>
        <p:nvSpPr>
          <p:cNvPr id="18" name="Text 16"/>
          <p:cNvSpPr/>
          <p:nvPr/>
        </p:nvSpPr>
        <p:spPr>
          <a:xfrm>
            <a:off x="658368" y="4633468"/>
            <a:ext cx="390144" cy="390144"/>
          </a:xfrm>
          <a:prstGeom prst="rect">
            <a:avLst/>
          </a:prstGeom>
          <a:noFill/>
        </p:spPr>
        <p:txBody>
          <a:bodyPr wrap="square" lIns="0" tIns="0" rIns="0" bIns="0" rtlCol="0" anchor="ctr"/>
          <a:lstStyle/>
          <a:p>
            <a:pPr marL="0" indent="0" algn="ctr">
              <a:buNone/>
            </a:pPr>
            <a:r>
              <a:rPr lang="en-US" sz="1335"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03</a:t>
            </a:r>
            <a:endParaRPr lang="en-US" sz="1335" dirty="0"/>
          </a:p>
        </p:txBody>
      </p:sp>
      <p:sp>
        <p:nvSpPr>
          <p:cNvPr id="19" name="Text 17"/>
          <p:cNvSpPr/>
          <p:nvPr/>
        </p:nvSpPr>
        <p:spPr>
          <a:xfrm>
            <a:off x="1170432" y="4621276"/>
            <a:ext cx="4632960" cy="341376"/>
          </a:xfrm>
          <a:prstGeom prst="rect">
            <a:avLst/>
          </a:prstGeom>
          <a:noFill/>
        </p:spPr>
        <p:txBody>
          <a:bodyPr wrap="square" lIns="0" tIns="0" rIns="0" bIns="0" rtlCol="0" anchor="ctr"/>
          <a:lstStyle/>
          <a:p>
            <a:pPr marL="0" indent="0">
              <a:buNone/>
            </a:pPr>
            <a:r>
              <a:rPr lang="en-US" sz="1465" b="1" dirty="0">
                <a:solidFill>
                  <a:srgbClr val="1E293B"/>
                </a:solidFill>
                <a:latin typeface="微软雅黑" panose="020B0503020204020204" charset="-122"/>
                <a:ea typeface="微软雅黑" panose="020B0503020204020204" charset="-122"/>
                <a:cs typeface="微软雅黑" panose="020B0503020204020204" pitchFamily="34" charset="-120"/>
              </a:rPr>
              <a:t>看不见攻击横向移动</a:t>
            </a:r>
            <a:endParaRPr lang="en-US" sz="1465" dirty="0"/>
          </a:p>
        </p:txBody>
      </p:sp>
      <p:sp>
        <p:nvSpPr>
          <p:cNvPr id="20" name="Text 18"/>
          <p:cNvSpPr/>
          <p:nvPr/>
        </p:nvSpPr>
        <p:spPr>
          <a:xfrm>
            <a:off x="1170432" y="4962652"/>
            <a:ext cx="4632960" cy="414528"/>
          </a:xfrm>
          <a:prstGeom prst="rect">
            <a:avLst/>
          </a:prstGeom>
          <a:noFill/>
        </p:spPr>
        <p:txBody>
          <a:bodyPr wrap="square" lIns="0" tIns="0" rIns="0" bIns="0" rtlCol="0" anchor="ctr"/>
          <a:lstStyle/>
          <a:p>
            <a:pPr marL="95250" indent="0" algn="l" rtl="0" eaLnBrk="0" fontAlgn="auto">
              <a:lnSpc>
                <a:spcPct val="100000"/>
              </a:lnSpc>
              <a:spcBef>
                <a:spcPts val="600"/>
              </a:spcBef>
            </a:pPr>
            <a:r>
              <a:rPr lang="en-US" altLang="zh-CN" sz="1200" kern="0" spc="60" dirty="0">
                <a:solidFill>
                  <a:srgbClr val="4C61E7">
                    <a:alpha val="100000"/>
                  </a:srgbClr>
                </a:solidFill>
                <a:latin typeface="黑体" panose="02010609060101010101" charset="-122"/>
                <a:ea typeface="黑体" panose="02010609060101010101" charset="-122"/>
                <a:cs typeface="黑体" panose="02010609060101010101" charset="-122"/>
                <a:sym typeface="+mn-ea"/>
              </a:rPr>
              <a:t>XX</a:t>
            </a:r>
            <a:r>
              <a:rPr lang="zh-CN" altLang="en-US" sz="1200" kern="0" spc="60" dirty="0">
                <a:solidFill>
                  <a:srgbClr val="4C61E7">
                    <a:alpha val="100000"/>
                  </a:srgbClr>
                </a:solidFill>
                <a:latin typeface="黑体" panose="02010609060101010101" charset="-122"/>
                <a:ea typeface="黑体" panose="02010609060101010101" charset="-122"/>
                <a:cs typeface="黑体" panose="02010609060101010101" charset="-122"/>
                <a:sym typeface="+mn-ea"/>
              </a:rPr>
              <a:t>区域</a:t>
            </a:r>
            <a:r>
              <a:rPr lang="zh-CN" altLang="en-US"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端点流量监测未覆盖，攻击者可以通过</a:t>
            </a:r>
            <a:r>
              <a:rPr lang="en-US" altLang="zh-CN"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APT</a:t>
            </a:r>
            <a:r>
              <a:rPr lang="zh-CN" altLang="en-US"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或钓鱼等高级手段入侵后，持续在内部活动寻找高价值目标或控制更多终端；</a:t>
            </a:r>
            <a:endParaRPr lang="en-US" sz="1200" dirty="0"/>
          </a:p>
        </p:txBody>
      </p:sp>
      <p:grpSp>
        <p:nvGrpSpPr>
          <p:cNvPr id="62" name="组合 61"/>
          <p:cNvGrpSpPr/>
          <p:nvPr/>
        </p:nvGrpSpPr>
        <p:grpSpPr>
          <a:xfrm>
            <a:off x="6165850" y="1973580"/>
            <a:ext cx="1791970" cy="1863090"/>
            <a:chOff x="9830" y="3108"/>
            <a:chExt cx="2822" cy="2934"/>
          </a:xfrm>
        </p:grpSpPr>
        <p:sp>
          <p:nvSpPr>
            <p:cNvPr id="32" name="Shape 30"/>
            <p:cNvSpPr/>
            <p:nvPr/>
          </p:nvSpPr>
          <p:spPr>
            <a:xfrm>
              <a:off x="9830" y="3108"/>
              <a:ext cx="2822" cy="2934"/>
            </a:xfrm>
            <a:prstGeom prst="rect">
              <a:avLst/>
            </a:prstGeom>
            <a:solidFill>
              <a:srgbClr val="FFFFFF"/>
            </a:solidFill>
            <a:ln w="12700">
              <a:solidFill>
                <a:srgbClr val="E2E8F0"/>
              </a:solidFill>
              <a:prstDash val="solid"/>
            </a:ln>
          </p:spPr>
        </p:sp>
        <p:sp>
          <p:nvSpPr>
            <p:cNvPr id="33" name="Shape 31"/>
            <p:cNvSpPr/>
            <p:nvPr/>
          </p:nvSpPr>
          <p:spPr>
            <a:xfrm>
              <a:off x="9964" y="3242"/>
              <a:ext cx="1632" cy="461"/>
            </a:xfrm>
            <a:prstGeom prst="roundRect">
              <a:avLst>
                <a:gd name="adj" fmla="val 12500"/>
              </a:avLst>
            </a:prstGeom>
            <a:solidFill>
              <a:srgbClr val="FEF2F2"/>
            </a:solidFill>
          </p:spPr>
        </p:sp>
        <p:sp>
          <p:nvSpPr>
            <p:cNvPr id="34" name="Text 32"/>
            <p:cNvSpPr/>
            <p:nvPr/>
          </p:nvSpPr>
          <p:spPr>
            <a:xfrm>
              <a:off x="9964" y="3242"/>
              <a:ext cx="1632" cy="461"/>
            </a:xfrm>
            <a:prstGeom prst="rect">
              <a:avLst/>
            </a:prstGeom>
            <a:noFill/>
          </p:spPr>
          <p:txBody>
            <a:bodyPr wrap="square" lIns="0" tIns="0" rIns="0" bIns="0" rtlCol="0" anchor="ctr"/>
            <a:lstStyle/>
            <a:p>
              <a:pPr marL="0" indent="0" algn="l">
                <a:buNone/>
              </a:pPr>
              <a:r>
                <a:rPr lang="en-US" sz="1200" b="1" dirty="0">
                  <a:solidFill>
                    <a:srgbClr val="DC2626"/>
                  </a:solidFill>
                  <a:latin typeface="微软雅黑" panose="020B0503020204020204" charset="-122"/>
                  <a:ea typeface="微软雅黑" panose="020B0503020204020204" charset="-122"/>
                  <a:cs typeface="微软雅黑" panose="020B0503020204020204" pitchFamily="34" charset="-120"/>
                </a:rPr>
                <a:t>勒索爆发</a:t>
              </a:r>
              <a:endParaRPr lang="en-US" sz="1200" dirty="0"/>
            </a:p>
          </p:txBody>
        </p:sp>
        <p:sp>
          <p:nvSpPr>
            <p:cNvPr id="35" name="Text 33"/>
            <p:cNvSpPr/>
            <p:nvPr/>
          </p:nvSpPr>
          <p:spPr>
            <a:xfrm>
              <a:off x="9964" y="3708"/>
              <a:ext cx="864" cy="384"/>
            </a:xfrm>
            <a:prstGeom prst="rect">
              <a:avLst/>
            </a:prstGeom>
            <a:noFill/>
          </p:spPr>
          <p:txBody>
            <a:bodyPr wrap="square" lIns="0" tIns="0" rIns="0" bIns="0" rtlCol="0" anchor="ctr"/>
            <a:lstStyle/>
            <a:p>
              <a:pPr marL="0" indent="0">
                <a:buNone/>
              </a:pPr>
              <a:r>
                <a:rPr lang="en-US" sz="1065" b="1" dirty="0">
                  <a:solidFill>
                    <a:srgbClr val="94A3B8"/>
                  </a:solidFill>
                  <a:latin typeface="微软雅黑" panose="020B0503020204020204" charset="-122"/>
                  <a:ea typeface="微软雅黑" panose="020B0503020204020204" charset="-122"/>
                  <a:cs typeface="微软雅黑" panose="020B0503020204020204" pitchFamily="34" charset="-120"/>
                </a:rPr>
                <a:t>攻击链</a:t>
              </a:r>
              <a:endParaRPr lang="en-US" sz="1065" dirty="0"/>
            </a:p>
          </p:txBody>
        </p:sp>
        <p:sp>
          <p:nvSpPr>
            <p:cNvPr id="36" name="Text 34"/>
            <p:cNvSpPr/>
            <p:nvPr/>
          </p:nvSpPr>
          <p:spPr>
            <a:xfrm>
              <a:off x="9964" y="4092"/>
              <a:ext cx="2554" cy="653"/>
            </a:xfrm>
            <a:prstGeom prst="rect">
              <a:avLst/>
            </a:prstGeom>
            <a:noFill/>
          </p:spPr>
          <p:txBody>
            <a:bodyPr wrap="square" lIns="0" tIns="0" rIns="0" bIns="0" rtlCol="0" anchor="ctr"/>
            <a:lstStyle/>
            <a:p>
              <a:pPr marL="0" indent="0">
                <a:buNone/>
              </a:pPr>
              <a:r>
                <a:rPr lang="en-US" sz="1135" dirty="0">
                  <a:solidFill>
                    <a:srgbClr val="1E293B"/>
                  </a:solidFill>
                  <a:latin typeface="微软雅黑" panose="020B0503020204020204" charset="-122"/>
                  <a:ea typeface="微软雅黑" panose="020B0503020204020204" charset="-122"/>
                  <a:cs typeface="微软雅黑" panose="020B0503020204020204" pitchFamily="34" charset="-120"/>
                </a:rPr>
                <a:t>钓鱼邮件 → 静默侦察15天 → 突然</a:t>
              </a:r>
              <a:r>
                <a:rPr lang="zh-CN" altLang="en-US" sz="1135" dirty="0">
                  <a:solidFill>
                    <a:srgbClr val="1E293B"/>
                  </a:solidFill>
                  <a:latin typeface="微软雅黑" panose="020B0503020204020204" charset="-122"/>
                  <a:ea typeface="微软雅黑" panose="020B0503020204020204" charset="-122"/>
                  <a:cs typeface="微软雅黑" panose="020B0503020204020204" pitchFamily="34" charset="-120"/>
                </a:rPr>
                <a:t>大面积</a:t>
              </a:r>
              <a:r>
                <a:rPr lang="en-US" sz="1135" dirty="0">
                  <a:solidFill>
                    <a:srgbClr val="1E293B"/>
                  </a:solidFill>
                  <a:latin typeface="微软雅黑" panose="020B0503020204020204" charset="-122"/>
                  <a:ea typeface="微软雅黑" panose="020B0503020204020204" charset="-122"/>
                  <a:cs typeface="微软雅黑" panose="020B0503020204020204" pitchFamily="34" charset="-120"/>
                </a:rPr>
                <a:t>加密</a:t>
              </a:r>
              <a:endParaRPr lang="en-US" sz="1135" dirty="0"/>
            </a:p>
          </p:txBody>
        </p:sp>
        <p:sp>
          <p:nvSpPr>
            <p:cNvPr id="37" name="Shape 35"/>
            <p:cNvSpPr/>
            <p:nvPr/>
          </p:nvSpPr>
          <p:spPr>
            <a:xfrm>
              <a:off x="9964" y="5005"/>
              <a:ext cx="2554" cy="0"/>
            </a:xfrm>
            <a:prstGeom prst="line">
              <a:avLst/>
            </a:prstGeom>
            <a:noFill/>
            <a:ln w="12700">
              <a:solidFill>
                <a:srgbClr val="E2E8F0"/>
              </a:solidFill>
              <a:prstDash val="dash"/>
            </a:ln>
          </p:spPr>
        </p:sp>
        <p:sp>
          <p:nvSpPr>
            <p:cNvPr id="38" name="Text 36"/>
            <p:cNvSpPr/>
            <p:nvPr/>
          </p:nvSpPr>
          <p:spPr>
            <a:xfrm>
              <a:off x="9964" y="5101"/>
              <a:ext cx="672" cy="384"/>
            </a:xfrm>
            <a:prstGeom prst="rect">
              <a:avLst/>
            </a:prstGeom>
            <a:noFill/>
          </p:spPr>
          <p:txBody>
            <a:bodyPr wrap="square" lIns="0" tIns="0" rIns="0" bIns="0" rtlCol="0" anchor="ctr"/>
            <a:lstStyle/>
            <a:p>
              <a:pPr marL="0" indent="0">
                <a:buNone/>
              </a:pPr>
              <a:r>
                <a:rPr lang="en-US" sz="1065" b="1" dirty="0">
                  <a:solidFill>
                    <a:srgbClr val="DC2626"/>
                  </a:solidFill>
                  <a:latin typeface="微软雅黑" panose="020B0503020204020204" charset="-122"/>
                  <a:ea typeface="微软雅黑" panose="020B0503020204020204" charset="-122"/>
                  <a:cs typeface="微软雅黑" panose="020B0503020204020204" pitchFamily="34" charset="-120"/>
                </a:rPr>
                <a:t>后果</a:t>
              </a:r>
              <a:endParaRPr lang="en-US" sz="1065" dirty="0"/>
            </a:p>
          </p:txBody>
        </p:sp>
        <p:sp>
          <p:nvSpPr>
            <p:cNvPr id="39" name="Text 37"/>
            <p:cNvSpPr/>
            <p:nvPr/>
          </p:nvSpPr>
          <p:spPr>
            <a:xfrm>
              <a:off x="9964" y="5433"/>
              <a:ext cx="2554" cy="557"/>
            </a:xfrm>
            <a:prstGeom prst="rect">
              <a:avLst/>
            </a:prstGeom>
            <a:noFill/>
          </p:spPr>
          <p:txBody>
            <a:bodyPr wrap="square" lIns="0" tIns="0" rIns="0" bIns="0" rtlCol="0" anchor="ctr"/>
            <a:lstStyle/>
            <a:p>
              <a:pPr marL="0" indent="0">
                <a:buNone/>
              </a:pP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业务停摆</a:t>
              </a:r>
              <a:r>
                <a:rPr lang="en-US" altLang="zh-CN" sz="1065" dirty="0">
                  <a:solidFill>
                    <a:srgbClr val="DC2626"/>
                  </a:solidFill>
                  <a:latin typeface="微软雅黑" panose="020B0503020204020204" charset="-122"/>
                  <a:ea typeface="微软雅黑" panose="020B0503020204020204" charset="-122"/>
                  <a:cs typeface="微软雅黑" panose="020B0503020204020204" pitchFamily="34" charset="-120"/>
                </a:rPr>
                <a:t>/</a:t>
              </a: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敏感数据丢失</a:t>
              </a:r>
              <a:r>
                <a:rPr lang="en-US" altLang="zh-CN" sz="1065" dirty="0">
                  <a:solidFill>
                    <a:srgbClr val="DC2626"/>
                  </a:solidFill>
                  <a:latin typeface="微软雅黑" panose="020B0503020204020204" charset="-122"/>
                  <a:ea typeface="微软雅黑" panose="020B0503020204020204" charset="-122"/>
                  <a:cs typeface="微软雅黑" panose="020B0503020204020204" pitchFamily="34" charset="-120"/>
                </a:rPr>
                <a:t>/</a:t>
              </a: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外部恶性舆论影响组织</a:t>
              </a: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声誉</a:t>
              </a:r>
              <a:endPar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endParaRPr>
            </a:p>
          </p:txBody>
        </p:sp>
      </p:grpSp>
      <p:grpSp>
        <p:nvGrpSpPr>
          <p:cNvPr id="63" name="组合 62"/>
          <p:cNvGrpSpPr/>
          <p:nvPr/>
        </p:nvGrpSpPr>
        <p:grpSpPr>
          <a:xfrm>
            <a:off x="8069580" y="1973580"/>
            <a:ext cx="1791970" cy="1863090"/>
            <a:chOff x="12768" y="3108"/>
            <a:chExt cx="2822" cy="2934"/>
          </a:xfrm>
        </p:grpSpPr>
        <p:sp>
          <p:nvSpPr>
            <p:cNvPr id="40" name="Shape 38"/>
            <p:cNvSpPr/>
            <p:nvPr/>
          </p:nvSpPr>
          <p:spPr>
            <a:xfrm>
              <a:off x="12768" y="3108"/>
              <a:ext cx="2822" cy="2934"/>
            </a:xfrm>
            <a:prstGeom prst="rect">
              <a:avLst/>
            </a:prstGeom>
            <a:solidFill>
              <a:srgbClr val="FFFFFF"/>
            </a:solidFill>
            <a:ln w="12700">
              <a:solidFill>
                <a:srgbClr val="E2E8F0"/>
              </a:solidFill>
              <a:prstDash val="solid"/>
            </a:ln>
          </p:spPr>
        </p:sp>
        <p:sp>
          <p:nvSpPr>
            <p:cNvPr id="41" name="Shape 39"/>
            <p:cNvSpPr/>
            <p:nvPr/>
          </p:nvSpPr>
          <p:spPr>
            <a:xfrm>
              <a:off x="12902" y="3242"/>
              <a:ext cx="1632" cy="461"/>
            </a:xfrm>
            <a:prstGeom prst="roundRect">
              <a:avLst>
                <a:gd name="adj" fmla="val 12500"/>
              </a:avLst>
            </a:prstGeom>
            <a:solidFill>
              <a:srgbClr val="FFF7ED"/>
            </a:solidFill>
          </p:spPr>
        </p:sp>
        <p:sp>
          <p:nvSpPr>
            <p:cNvPr id="42" name="Text 40"/>
            <p:cNvSpPr/>
            <p:nvPr/>
          </p:nvSpPr>
          <p:spPr>
            <a:xfrm>
              <a:off x="12902" y="3242"/>
              <a:ext cx="1632" cy="461"/>
            </a:xfrm>
            <a:prstGeom prst="rect">
              <a:avLst/>
            </a:prstGeom>
            <a:noFill/>
          </p:spPr>
          <p:txBody>
            <a:bodyPr wrap="square" lIns="0" tIns="0" rIns="0" bIns="0" rtlCol="0" anchor="ctr"/>
            <a:lstStyle/>
            <a:p>
              <a:pPr marL="0" indent="0" algn="l">
                <a:buNone/>
              </a:pPr>
              <a:r>
                <a:rPr lang="zh-CN" altLang="en-US" sz="1200" b="1" dirty="0">
                  <a:solidFill>
                    <a:srgbClr val="EA580C"/>
                  </a:solidFill>
                  <a:latin typeface="微软雅黑" panose="020B0503020204020204" charset="-122"/>
                  <a:ea typeface="微软雅黑" panose="020B0503020204020204" charset="-122"/>
                  <a:cs typeface="微软雅黑" panose="020B0503020204020204" pitchFamily="34" charset="-120"/>
                </a:rPr>
                <a:t>敏感数据</a:t>
              </a:r>
              <a:r>
                <a:rPr lang="en-US" sz="1200" b="1" dirty="0">
                  <a:solidFill>
                    <a:srgbClr val="EA580C"/>
                  </a:solidFill>
                  <a:latin typeface="微软雅黑" panose="020B0503020204020204" charset="-122"/>
                  <a:ea typeface="微软雅黑" panose="020B0503020204020204" charset="-122"/>
                  <a:cs typeface="微软雅黑" panose="020B0503020204020204" pitchFamily="34" charset="-120"/>
                </a:rPr>
                <a:t>窃取</a:t>
              </a:r>
              <a:endParaRPr lang="en-US" sz="1200" dirty="0"/>
            </a:p>
          </p:txBody>
        </p:sp>
        <p:sp>
          <p:nvSpPr>
            <p:cNvPr id="43" name="Text 41"/>
            <p:cNvSpPr/>
            <p:nvPr/>
          </p:nvSpPr>
          <p:spPr>
            <a:xfrm>
              <a:off x="12902" y="3703"/>
              <a:ext cx="864" cy="384"/>
            </a:xfrm>
            <a:prstGeom prst="rect">
              <a:avLst/>
            </a:prstGeom>
            <a:noFill/>
          </p:spPr>
          <p:txBody>
            <a:bodyPr wrap="square" lIns="0" tIns="0" rIns="0" bIns="0" rtlCol="0" anchor="ctr"/>
            <a:lstStyle/>
            <a:p>
              <a:pPr marL="0" indent="0">
                <a:buNone/>
              </a:pPr>
              <a:r>
                <a:rPr lang="en-US" sz="1065" b="1" dirty="0">
                  <a:solidFill>
                    <a:srgbClr val="94A3B8"/>
                  </a:solidFill>
                  <a:latin typeface="微软雅黑" panose="020B0503020204020204" charset="-122"/>
                  <a:ea typeface="微软雅黑" panose="020B0503020204020204" charset="-122"/>
                  <a:cs typeface="微软雅黑" panose="020B0503020204020204" pitchFamily="34" charset="-120"/>
                </a:rPr>
                <a:t>攻击链</a:t>
              </a:r>
              <a:endParaRPr lang="en-US" sz="1065" dirty="0"/>
            </a:p>
          </p:txBody>
        </p:sp>
        <p:sp>
          <p:nvSpPr>
            <p:cNvPr id="44" name="Text 42"/>
            <p:cNvSpPr/>
            <p:nvPr/>
          </p:nvSpPr>
          <p:spPr>
            <a:xfrm>
              <a:off x="12902" y="4087"/>
              <a:ext cx="2554" cy="658"/>
            </a:xfrm>
            <a:prstGeom prst="rect">
              <a:avLst/>
            </a:prstGeom>
            <a:noFill/>
          </p:spPr>
          <p:txBody>
            <a:bodyPr wrap="square" lIns="0" tIns="0" rIns="0" bIns="0" rtlCol="0" anchor="ctr"/>
            <a:lstStyle/>
            <a:p>
              <a:pPr marL="0" indent="0">
                <a:buNone/>
              </a:pPr>
              <a:r>
                <a:rPr lang="en-US" sz="1135" dirty="0">
                  <a:solidFill>
                    <a:srgbClr val="1E293B"/>
                  </a:solidFill>
                  <a:latin typeface="微软雅黑" panose="020B0503020204020204" charset="-122"/>
                  <a:ea typeface="微软雅黑" panose="020B0503020204020204" charset="-122"/>
                  <a:cs typeface="微软雅黑" panose="020B0503020204020204" pitchFamily="34" charset="-120"/>
                </a:rPr>
                <a:t>盗取账号 → 蚂蚁搬家式分批下载 → 暗网售卖</a:t>
              </a:r>
              <a:endParaRPr lang="en-US" sz="1135" dirty="0"/>
            </a:p>
          </p:txBody>
        </p:sp>
        <p:sp>
          <p:nvSpPr>
            <p:cNvPr id="45" name="Shape 43"/>
            <p:cNvSpPr/>
            <p:nvPr/>
          </p:nvSpPr>
          <p:spPr>
            <a:xfrm>
              <a:off x="12902" y="5005"/>
              <a:ext cx="2554" cy="0"/>
            </a:xfrm>
            <a:prstGeom prst="line">
              <a:avLst/>
            </a:prstGeom>
            <a:noFill/>
            <a:ln w="12700">
              <a:solidFill>
                <a:srgbClr val="E2E8F0"/>
              </a:solidFill>
              <a:prstDash val="dash"/>
            </a:ln>
          </p:spPr>
        </p:sp>
        <p:sp>
          <p:nvSpPr>
            <p:cNvPr id="46" name="Text 44"/>
            <p:cNvSpPr/>
            <p:nvPr/>
          </p:nvSpPr>
          <p:spPr>
            <a:xfrm>
              <a:off x="12902" y="5101"/>
              <a:ext cx="672" cy="384"/>
            </a:xfrm>
            <a:prstGeom prst="rect">
              <a:avLst/>
            </a:prstGeom>
            <a:noFill/>
          </p:spPr>
          <p:txBody>
            <a:bodyPr wrap="square" lIns="0" tIns="0" rIns="0" bIns="0" rtlCol="0" anchor="ctr"/>
            <a:lstStyle/>
            <a:p>
              <a:pPr marL="0" indent="0">
                <a:buNone/>
              </a:pPr>
              <a:r>
                <a:rPr lang="en-US" sz="1065" b="1" dirty="0">
                  <a:solidFill>
                    <a:srgbClr val="DC2626"/>
                  </a:solidFill>
                  <a:latin typeface="微软雅黑" panose="020B0503020204020204" charset="-122"/>
                  <a:ea typeface="微软雅黑" panose="020B0503020204020204" charset="-122"/>
                  <a:cs typeface="微软雅黑" panose="020B0503020204020204" pitchFamily="34" charset="-120"/>
                </a:rPr>
                <a:t>后果</a:t>
              </a:r>
              <a:endParaRPr lang="en-US" sz="1065" dirty="0"/>
            </a:p>
          </p:txBody>
        </p:sp>
        <p:sp>
          <p:nvSpPr>
            <p:cNvPr id="47" name="Text 45"/>
            <p:cNvSpPr/>
            <p:nvPr/>
          </p:nvSpPr>
          <p:spPr>
            <a:xfrm>
              <a:off x="12902" y="5433"/>
              <a:ext cx="2554" cy="557"/>
            </a:xfrm>
            <a:prstGeom prst="rect">
              <a:avLst/>
            </a:prstGeom>
            <a:noFill/>
          </p:spPr>
          <p:txBody>
            <a:bodyPr wrap="square" lIns="0" tIns="0" rIns="0" bIns="0" rtlCol="0" anchor="ctr"/>
            <a:lstStyle/>
            <a:p>
              <a:pPr marL="0" indent="0">
                <a:buNone/>
              </a:pP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监管通报</a:t>
              </a:r>
              <a:r>
                <a:rPr lang="en-US" altLang="zh-CN" sz="1065" dirty="0">
                  <a:solidFill>
                    <a:srgbClr val="DC2626"/>
                  </a:solidFill>
                  <a:latin typeface="微软雅黑" panose="020B0503020204020204" charset="-122"/>
                  <a:ea typeface="微软雅黑" panose="020B0503020204020204" charset="-122"/>
                  <a:cs typeface="微软雅黑" panose="020B0503020204020204" pitchFamily="34" charset="-120"/>
                </a:rPr>
                <a:t>/</a:t>
              </a: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用户</a:t>
              </a:r>
              <a:r>
                <a:rPr lang="en-US" sz="1065" dirty="0">
                  <a:solidFill>
                    <a:srgbClr val="DC2626"/>
                  </a:solidFill>
                  <a:latin typeface="微软雅黑" panose="020B0503020204020204" charset="-122"/>
                  <a:ea typeface="微软雅黑" panose="020B0503020204020204" charset="-122"/>
                  <a:cs typeface="微软雅黑" panose="020B0503020204020204" pitchFamily="34" charset="-120"/>
                </a:rPr>
                <a:t>投诉 / 行政罚款(最高营收5%) </a:t>
              </a:r>
              <a:endParaRPr lang="en-US" sz="1065" dirty="0"/>
            </a:p>
          </p:txBody>
        </p:sp>
      </p:grpSp>
      <p:grpSp>
        <p:nvGrpSpPr>
          <p:cNvPr id="64" name="组合 63"/>
          <p:cNvGrpSpPr/>
          <p:nvPr/>
        </p:nvGrpSpPr>
        <p:grpSpPr>
          <a:xfrm>
            <a:off x="9973310" y="1973580"/>
            <a:ext cx="1791970" cy="1863090"/>
            <a:chOff x="15705" y="3108"/>
            <a:chExt cx="2822" cy="2934"/>
          </a:xfrm>
        </p:grpSpPr>
        <p:sp>
          <p:nvSpPr>
            <p:cNvPr id="48" name="Shape 46"/>
            <p:cNvSpPr/>
            <p:nvPr/>
          </p:nvSpPr>
          <p:spPr>
            <a:xfrm>
              <a:off x="15705" y="3108"/>
              <a:ext cx="2822" cy="2934"/>
            </a:xfrm>
            <a:prstGeom prst="rect">
              <a:avLst/>
            </a:prstGeom>
            <a:solidFill>
              <a:srgbClr val="FFFFFF"/>
            </a:solidFill>
            <a:ln w="12700">
              <a:solidFill>
                <a:srgbClr val="E2E8F0"/>
              </a:solidFill>
              <a:prstDash val="solid"/>
            </a:ln>
          </p:spPr>
        </p:sp>
        <p:sp>
          <p:nvSpPr>
            <p:cNvPr id="49" name="Shape 47"/>
            <p:cNvSpPr/>
            <p:nvPr/>
          </p:nvSpPr>
          <p:spPr>
            <a:xfrm>
              <a:off x="15840" y="3242"/>
              <a:ext cx="1632" cy="461"/>
            </a:xfrm>
            <a:prstGeom prst="roundRect">
              <a:avLst>
                <a:gd name="adj" fmla="val 12500"/>
              </a:avLst>
            </a:prstGeom>
            <a:solidFill>
              <a:srgbClr val="FFFBEB"/>
            </a:solidFill>
          </p:spPr>
        </p:sp>
        <p:sp>
          <p:nvSpPr>
            <p:cNvPr id="50" name="Text 48"/>
            <p:cNvSpPr/>
            <p:nvPr/>
          </p:nvSpPr>
          <p:spPr>
            <a:xfrm>
              <a:off x="15840" y="3242"/>
              <a:ext cx="1632" cy="461"/>
            </a:xfrm>
            <a:prstGeom prst="rect">
              <a:avLst/>
            </a:prstGeom>
            <a:noFill/>
          </p:spPr>
          <p:txBody>
            <a:bodyPr wrap="square" lIns="0" tIns="0" rIns="0" bIns="0" rtlCol="0" anchor="ctr"/>
            <a:lstStyle/>
            <a:p>
              <a:pPr marL="0" indent="0" algn="l">
                <a:buNone/>
              </a:pPr>
              <a:r>
                <a:rPr lang="zh-CN" altLang="en-US" sz="1200" b="1" dirty="0">
                  <a:solidFill>
                    <a:srgbClr val="D97706"/>
                  </a:solidFill>
                  <a:latin typeface="微软雅黑" panose="020B0503020204020204" charset="-122"/>
                  <a:ea typeface="微软雅黑" panose="020B0503020204020204" charset="-122"/>
                  <a:cs typeface="微软雅黑" panose="020B0503020204020204" pitchFamily="34" charset="-120"/>
                </a:rPr>
                <a:t>内网穿透</a:t>
              </a:r>
              <a:endParaRPr lang="zh-CN" altLang="en-US" sz="1200" b="1" dirty="0">
                <a:solidFill>
                  <a:srgbClr val="D97706"/>
                </a:solidFill>
                <a:latin typeface="微软雅黑" panose="020B0503020204020204" charset="-122"/>
                <a:ea typeface="微软雅黑" panose="020B0503020204020204" charset="-122"/>
                <a:cs typeface="微软雅黑" panose="020B0503020204020204" pitchFamily="34" charset="-120"/>
              </a:endParaRPr>
            </a:p>
          </p:txBody>
        </p:sp>
        <p:sp>
          <p:nvSpPr>
            <p:cNvPr id="51" name="Text 49"/>
            <p:cNvSpPr/>
            <p:nvPr/>
          </p:nvSpPr>
          <p:spPr>
            <a:xfrm>
              <a:off x="15840" y="3708"/>
              <a:ext cx="864" cy="384"/>
            </a:xfrm>
            <a:prstGeom prst="rect">
              <a:avLst/>
            </a:prstGeom>
            <a:noFill/>
          </p:spPr>
          <p:txBody>
            <a:bodyPr wrap="square" lIns="0" tIns="0" rIns="0" bIns="0" rtlCol="0" anchor="ctr"/>
            <a:lstStyle/>
            <a:p>
              <a:pPr marL="0" indent="0">
                <a:buNone/>
              </a:pPr>
              <a:r>
                <a:rPr lang="en-US" sz="1065" b="1" dirty="0">
                  <a:solidFill>
                    <a:srgbClr val="94A3B8"/>
                  </a:solidFill>
                  <a:latin typeface="微软雅黑" panose="020B0503020204020204" charset="-122"/>
                  <a:ea typeface="微软雅黑" panose="020B0503020204020204" charset="-122"/>
                  <a:cs typeface="微软雅黑" panose="020B0503020204020204" pitchFamily="34" charset="-120"/>
                </a:rPr>
                <a:t>攻击链</a:t>
              </a:r>
              <a:endParaRPr lang="en-US" sz="1065" dirty="0"/>
            </a:p>
          </p:txBody>
        </p:sp>
        <p:sp>
          <p:nvSpPr>
            <p:cNvPr id="52" name="Text 50"/>
            <p:cNvSpPr/>
            <p:nvPr/>
          </p:nvSpPr>
          <p:spPr>
            <a:xfrm>
              <a:off x="15840" y="4092"/>
              <a:ext cx="2554" cy="652"/>
            </a:xfrm>
            <a:prstGeom prst="rect">
              <a:avLst/>
            </a:prstGeom>
            <a:noFill/>
          </p:spPr>
          <p:txBody>
            <a:bodyPr wrap="square" lIns="0" tIns="0" rIns="0" bIns="0" rtlCol="0" anchor="ctr"/>
            <a:lstStyle/>
            <a:p>
              <a:pPr marL="0" indent="0">
                <a:buNone/>
              </a:pPr>
              <a:r>
                <a:rPr lang="zh-CN" altLang="en-US" sz="1135" dirty="0">
                  <a:solidFill>
                    <a:srgbClr val="1E293B"/>
                  </a:solidFill>
                  <a:latin typeface="微软雅黑" panose="020B0503020204020204" charset="-122"/>
                  <a:ea typeface="微软雅黑" panose="020B0503020204020204" charset="-122"/>
                  <a:cs typeface="微软雅黑" panose="020B0503020204020204" pitchFamily="34" charset="-120"/>
                </a:rPr>
                <a:t>加密应用漏洞</a:t>
              </a:r>
              <a:r>
                <a:rPr lang="en-US" sz="1135" dirty="0">
                  <a:solidFill>
                    <a:srgbClr val="1E293B"/>
                  </a:solidFill>
                  <a:latin typeface="微软雅黑" panose="020B0503020204020204" charset="-122"/>
                  <a:ea typeface="微软雅黑" panose="020B0503020204020204" charset="-122"/>
                  <a:cs typeface="微软雅黑" panose="020B0503020204020204" pitchFamily="34" charset="-120"/>
                </a:rPr>
                <a:t> → </a:t>
              </a:r>
              <a:r>
                <a:rPr lang="zh-CN" altLang="en-US" sz="1135" dirty="0">
                  <a:solidFill>
                    <a:srgbClr val="1E293B"/>
                  </a:solidFill>
                  <a:latin typeface="微软雅黑" panose="020B0503020204020204" charset="-122"/>
                  <a:ea typeface="微软雅黑" panose="020B0503020204020204" charset="-122"/>
                  <a:cs typeface="微软雅黑" panose="020B0503020204020204" pitchFamily="34" charset="-120"/>
                </a:rPr>
                <a:t>截取敏感信息</a:t>
              </a:r>
              <a:r>
                <a:rPr lang="en-US" sz="1135" dirty="0">
                  <a:solidFill>
                    <a:srgbClr val="1E293B"/>
                  </a:solidFill>
                  <a:latin typeface="微软雅黑" panose="020B0503020204020204" charset="-122"/>
                  <a:ea typeface="微软雅黑" panose="020B0503020204020204" charset="-122"/>
                  <a:cs typeface="微软雅黑" panose="020B0503020204020204" pitchFamily="34" charset="-120"/>
                </a:rPr>
                <a:t> → </a:t>
              </a:r>
              <a:r>
                <a:rPr lang="zh-CN" altLang="en-US" sz="1135" dirty="0">
                  <a:solidFill>
                    <a:srgbClr val="1E293B"/>
                  </a:solidFill>
                  <a:latin typeface="微软雅黑" panose="020B0503020204020204" charset="-122"/>
                  <a:ea typeface="微软雅黑" panose="020B0503020204020204" charset="-122"/>
                  <a:cs typeface="微软雅黑" panose="020B0503020204020204" pitchFamily="34" charset="-120"/>
                </a:rPr>
                <a:t>攻防负面</a:t>
              </a:r>
              <a:r>
                <a:rPr lang="zh-CN" altLang="en-US" sz="1135" dirty="0">
                  <a:solidFill>
                    <a:srgbClr val="1E293B"/>
                  </a:solidFill>
                  <a:latin typeface="微软雅黑" panose="020B0503020204020204" charset="-122"/>
                  <a:ea typeface="微软雅黑" panose="020B0503020204020204" charset="-122"/>
                  <a:cs typeface="微软雅黑" panose="020B0503020204020204" pitchFamily="34" charset="-120"/>
                </a:rPr>
                <a:t>典型</a:t>
              </a:r>
              <a:endParaRPr lang="zh-CN" altLang="en-US" sz="1135" dirty="0">
                <a:solidFill>
                  <a:srgbClr val="1E293B"/>
                </a:solidFill>
                <a:latin typeface="微软雅黑" panose="020B0503020204020204" charset="-122"/>
                <a:ea typeface="微软雅黑" panose="020B0503020204020204" charset="-122"/>
                <a:cs typeface="微软雅黑" panose="020B0503020204020204" pitchFamily="34" charset="-120"/>
              </a:endParaRPr>
            </a:p>
          </p:txBody>
        </p:sp>
        <p:sp>
          <p:nvSpPr>
            <p:cNvPr id="53" name="Shape 51"/>
            <p:cNvSpPr/>
            <p:nvPr/>
          </p:nvSpPr>
          <p:spPr>
            <a:xfrm>
              <a:off x="15840" y="5005"/>
              <a:ext cx="2554" cy="0"/>
            </a:xfrm>
            <a:prstGeom prst="line">
              <a:avLst/>
            </a:prstGeom>
            <a:noFill/>
            <a:ln w="12700">
              <a:solidFill>
                <a:srgbClr val="E2E8F0"/>
              </a:solidFill>
              <a:prstDash val="dash"/>
            </a:ln>
          </p:spPr>
        </p:sp>
        <p:sp>
          <p:nvSpPr>
            <p:cNvPr id="54" name="Text 52"/>
            <p:cNvSpPr/>
            <p:nvPr/>
          </p:nvSpPr>
          <p:spPr>
            <a:xfrm>
              <a:off x="15840" y="5101"/>
              <a:ext cx="672" cy="384"/>
            </a:xfrm>
            <a:prstGeom prst="rect">
              <a:avLst/>
            </a:prstGeom>
            <a:noFill/>
          </p:spPr>
          <p:txBody>
            <a:bodyPr wrap="square" lIns="0" tIns="0" rIns="0" bIns="0" rtlCol="0" anchor="ctr"/>
            <a:lstStyle/>
            <a:p>
              <a:pPr marL="0" indent="0">
                <a:buNone/>
              </a:pPr>
              <a:r>
                <a:rPr lang="en-US" sz="1065" b="1" dirty="0">
                  <a:solidFill>
                    <a:srgbClr val="DC2626"/>
                  </a:solidFill>
                  <a:latin typeface="微软雅黑" panose="020B0503020204020204" charset="-122"/>
                  <a:ea typeface="微软雅黑" panose="020B0503020204020204" charset="-122"/>
                  <a:cs typeface="微软雅黑" panose="020B0503020204020204" pitchFamily="34" charset="-120"/>
                </a:rPr>
                <a:t>后果</a:t>
              </a:r>
              <a:endParaRPr lang="en-US" sz="1065" dirty="0"/>
            </a:p>
          </p:txBody>
        </p:sp>
        <p:sp>
          <p:nvSpPr>
            <p:cNvPr id="55" name="Text 53"/>
            <p:cNvSpPr/>
            <p:nvPr/>
          </p:nvSpPr>
          <p:spPr>
            <a:xfrm>
              <a:off x="15840" y="5433"/>
              <a:ext cx="2554" cy="557"/>
            </a:xfrm>
            <a:prstGeom prst="rect">
              <a:avLst/>
            </a:prstGeom>
            <a:noFill/>
          </p:spPr>
          <p:txBody>
            <a:bodyPr wrap="square" lIns="0" tIns="0" rIns="0" bIns="0" rtlCol="0" anchor="ctr"/>
            <a:lstStyle/>
            <a:p>
              <a:pPr marL="0" indent="0">
                <a:buNone/>
              </a:pP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安全</a:t>
              </a:r>
              <a:r>
                <a:rPr lang="en-US" sz="1065" dirty="0">
                  <a:solidFill>
                    <a:srgbClr val="DC2626"/>
                  </a:solidFill>
                  <a:latin typeface="微软雅黑" panose="020B0503020204020204" charset="-122"/>
                  <a:ea typeface="微软雅黑" panose="020B0503020204020204" charset="-122"/>
                  <a:cs typeface="微软雅黑" panose="020B0503020204020204" pitchFamily="34" charset="-120"/>
                </a:rPr>
                <a:t>防御</a:t>
              </a: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和检测手段</a:t>
              </a:r>
              <a:r>
                <a:rPr lang="en-US" sz="1065" dirty="0">
                  <a:solidFill>
                    <a:srgbClr val="DC2626"/>
                  </a:solidFill>
                  <a:latin typeface="微软雅黑" panose="020B0503020204020204" charset="-122"/>
                  <a:ea typeface="微软雅黑" panose="020B0503020204020204" charset="-122"/>
                  <a:cs typeface="微软雅黑" panose="020B0503020204020204" pitchFamily="34" charset="-120"/>
                </a:rPr>
                <a:t>完全无效 / </a:t>
              </a:r>
              <a:r>
                <a:rPr lang="zh-CN" altLang="en-US" sz="1065" dirty="0">
                  <a:solidFill>
                    <a:srgbClr val="DC2626"/>
                  </a:solidFill>
                  <a:latin typeface="微软雅黑" panose="020B0503020204020204" charset="-122"/>
                  <a:ea typeface="微软雅黑" panose="020B0503020204020204" charset="-122"/>
                  <a:cs typeface="微软雅黑" panose="020B0503020204020204" pitchFamily="34" charset="-120"/>
                </a:rPr>
                <a:t>内网几乎</a:t>
              </a:r>
              <a:r>
                <a:rPr lang="en-US" sz="1065" dirty="0">
                  <a:solidFill>
                    <a:srgbClr val="DC2626"/>
                  </a:solidFill>
                  <a:latin typeface="微软雅黑" panose="020B0503020204020204" charset="-122"/>
                  <a:ea typeface="微软雅黑" panose="020B0503020204020204" charset="-122"/>
                  <a:cs typeface="微软雅黑" panose="020B0503020204020204" pitchFamily="34" charset="-120"/>
                </a:rPr>
                <a:t>裸奔状态</a:t>
              </a:r>
              <a:endParaRPr lang="en-US" sz="1065" dirty="0"/>
            </a:p>
          </p:txBody>
        </p:sp>
      </p:grpSp>
      <p:sp>
        <p:nvSpPr>
          <p:cNvPr id="4" name="Shape 2"/>
          <p:cNvSpPr/>
          <p:nvPr/>
        </p:nvSpPr>
        <p:spPr>
          <a:xfrm>
            <a:off x="426720" y="1158240"/>
            <a:ext cx="11338560" cy="390525"/>
          </a:xfrm>
          <a:prstGeom prst="rect">
            <a:avLst/>
          </a:prstGeom>
          <a:solidFill>
            <a:schemeClr val="accent1">
              <a:lumMod val="20000"/>
              <a:lumOff val="80000"/>
            </a:schemeClr>
          </a:solidFill>
          <a:ln w="12700">
            <a:solidFill>
              <a:schemeClr val="accent5">
                <a:lumMod val="60000"/>
                <a:lumOff val="40000"/>
              </a:schemeClr>
            </a:solidFill>
            <a:prstDash val="dash"/>
          </a:ln>
        </p:spPr>
      </p:sp>
      <p:sp>
        <p:nvSpPr>
          <p:cNvPr id="59" name="Text 3"/>
          <p:cNvSpPr/>
          <p:nvPr/>
        </p:nvSpPr>
        <p:spPr>
          <a:xfrm>
            <a:off x="609600" y="1158240"/>
            <a:ext cx="10972800" cy="390525"/>
          </a:xfrm>
          <a:prstGeom prst="rect">
            <a:avLst/>
          </a:prstGeom>
          <a:noFill/>
        </p:spPr>
        <p:txBody>
          <a:bodyPr wrap="square" lIns="0" tIns="0" rIns="0" bIns="0" rtlCol="0" anchor="ctr"/>
          <a:lstStyle/>
          <a:p>
            <a:pPr marL="0" indent="0">
              <a:buNone/>
            </a:pPr>
            <a:r>
              <a:rPr lang="en-US" sz="1535" b="1" dirty="0">
                <a:solidFill>
                  <a:srgbClr val="0070C0"/>
                </a:solidFill>
                <a:latin typeface="微软雅黑" panose="020B0503020204020204" charset="-122"/>
                <a:ea typeface="微软雅黑" panose="020B0503020204020204" charset="-122"/>
                <a:cs typeface="微软雅黑" panose="020B0503020204020204" pitchFamily="34" charset="-120"/>
              </a:rPr>
              <a:t>核心判断</a:t>
            </a:r>
            <a:r>
              <a:rPr lang="en-US" sz="1065" dirty="0">
                <a:solidFill>
                  <a:srgbClr val="000000"/>
                </a:solidFill>
                <a:latin typeface="微软雅黑" panose="020B0503020204020204" charset="-122"/>
                <a:ea typeface="微软雅黑" panose="020B0503020204020204" charset="-122"/>
                <a:cs typeface="微软雅黑" panose="020B0503020204020204" pitchFamily="34" charset="-120"/>
              </a:rPr>
              <a:t>  </a:t>
            </a:r>
            <a:r>
              <a:rPr lang="en-US" sz="1535" dirty="0">
                <a:solidFill>
                  <a:srgbClr val="1E293B"/>
                </a:solidFill>
                <a:latin typeface="微软雅黑" panose="020B0503020204020204" charset="-122"/>
                <a:ea typeface="微软雅黑" panose="020B0503020204020204" charset="-122"/>
                <a:cs typeface="微软雅黑" panose="020B0503020204020204" pitchFamily="34" charset="-120"/>
              </a:rPr>
              <a:t>|  当前</a:t>
            </a:r>
            <a:r>
              <a:rPr lang="zh-CN" altLang="en-US" sz="1535" dirty="0">
                <a:solidFill>
                  <a:srgbClr val="1E293B"/>
                </a:solidFill>
                <a:latin typeface="微软雅黑" panose="020B0503020204020204" charset="-122"/>
                <a:ea typeface="微软雅黑" panose="020B0503020204020204" charset="-122"/>
                <a:cs typeface="微软雅黑" panose="020B0503020204020204" pitchFamily="34" charset="-120"/>
              </a:rPr>
              <a:t>单位</a:t>
            </a:r>
            <a:r>
              <a:rPr lang="en-US" sz="1535" dirty="0">
                <a:solidFill>
                  <a:srgbClr val="1E293B"/>
                </a:solidFill>
                <a:latin typeface="微软雅黑" panose="020B0503020204020204" charset="-122"/>
                <a:ea typeface="微软雅黑" panose="020B0503020204020204" charset="-122"/>
                <a:cs typeface="微软雅黑" panose="020B0503020204020204" pitchFamily="34" charset="-120"/>
              </a:rPr>
              <a:t>信息系统的安全防护相当于</a:t>
            </a:r>
            <a:r>
              <a:rPr lang="zh-CN" altLang="en-US" sz="1535" dirty="0">
                <a:solidFill>
                  <a:srgbClr val="1E293B"/>
                </a:solidFill>
                <a:latin typeface="微软雅黑" panose="020B0503020204020204" charset="-122"/>
                <a:ea typeface="微软雅黑" panose="020B0503020204020204" charset="-122"/>
                <a:cs typeface="微软雅黑" panose="020B0503020204020204" pitchFamily="34" charset="-120"/>
              </a:rPr>
              <a:t>“大门有门禁和摄像头但是窗户开着且室内没有监控</a:t>
            </a:r>
            <a:r>
              <a:rPr lang="zh-CN" altLang="en-US" sz="1535" dirty="0">
                <a:solidFill>
                  <a:srgbClr val="1E293B"/>
                </a:solidFill>
                <a:latin typeface="微软雅黑" panose="020B0503020204020204" charset="-122"/>
                <a:ea typeface="微软雅黑" panose="020B0503020204020204" charset="-122"/>
                <a:cs typeface="微软雅黑" panose="020B0503020204020204" pitchFamily="34" charset="-120"/>
                <a:sym typeface="+mn-ea"/>
              </a:rPr>
              <a:t>”</a:t>
            </a:r>
            <a:r>
              <a:rPr lang="en-US" sz="1535" b="1" dirty="0">
                <a:solidFill>
                  <a:srgbClr val="991B1B"/>
                </a:solidFill>
                <a:latin typeface="微软雅黑" panose="020B0503020204020204" charset="-122"/>
                <a:ea typeface="微软雅黑" panose="020B0503020204020204" charset="-122"/>
                <a:cs typeface="微软雅黑" panose="020B0503020204020204" pitchFamily="34" charset="-120"/>
              </a:rPr>
              <a:t> </a:t>
            </a:r>
            <a:r>
              <a:rPr lang="en-US" sz="1535" b="1" dirty="0">
                <a:solidFill>
                  <a:srgbClr val="0070C0"/>
                </a:solidFill>
                <a:latin typeface="微软雅黑" panose="020B0503020204020204" charset="-122"/>
                <a:ea typeface="微软雅黑" panose="020B0503020204020204" charset="-122"/>
                <a:cs typeface="微软雅黑" panose="020B0503020204020204" pitchFamily="34" charset="-120"/>
              </a:rPr>
              <a:t>—— 有</a:t>
            </a:r>
            <a:r>
              <a:rPr lang="zh-CN" altLang="en-US" sz="1535" b="1" dirty="0">
                <a:solidFill>
                  <a:srgbClr val="0070C0"/>
                </a:solidFill>
                <a:latin typeface="微软雅黑" panose="020B0503020204020204" charset="-122"/>
                <a:ea typeface="微软雅黑" panose="020B0503020204020204" charset="-122"/>
                <a:cs typeface="微软雅黑" panose="020B0503020204020204" pitchFamily="34" charset="-120"/>
              </a:rPr>
              <a:t>监控</a:t>
            </a:r>
            <a:r>
              <a:rPr lang="en-US" sz="1535" b="1" dirty="0">
                <a:solidFill>
                  <a:srgbClr val="0070C0"/>
                </a:solidFill>
                <a:latin typeface="微软雅黑" panose="020B0503020204020204" charset="-122"/>
                <a:ea typeface="微软雅黑" panose="020B0503020204020204" charset="-122"/>
                <a:cs typeface="微软雅黑" panose="020B0503020204020204" pitchFamily="34" charset="-120"/>
              </a:rPr>
              <a:t> ≠ </a:t>
            </a:r>
            <a:r>
              <a:rPr lang="zh-CN" altLang="en-US" sz="1535" b="1" dirty="0">
                <a:solidFill>
                  <a:srgbClr val="0070C0"/>
                </a:solidFill>
                <a:latin typeface="微软雅黑" panose="020B0503020204020204" charset="-122"/>
                <a:ea typeface="微软雅黑" panose="020B0503020204020204" charset="-122"/>
                <a:cs typeface="微软雅黑" panose="020B0503020204020204" pitchFamily="34" charset="-120"/>
              </a:rPr>
              <a:t>不被盗</a:t>
            </a:r>
            <a:endParaRPr lang="zh-CN" altLang="en-US" sz="1535" b="1" dirty="0">
              <a:solidFill>
                <a:srgbClr val="0070C0"/>
              </a:solidFill>
              <a:latin typeface="微软雅黑" panose="020B0503020204020204" charset="-122"/>
              <a:ea typeface="微软雅黑" panose="020B0503020204020204" charset="-122"/>
              <a:cs typeface="微软雅黑" panose="020B0503020204020204" pitchFamily="34" charset="-120"/>
            </a:endParaRPr>
          </a:p>
        </p:txBody>
      </p:sp>
      <p:grpSp>
        <p:nvGrpSpPr>
          <p:cNvPr id="65" name="组合 64"/>
          <p:cNvGrpSpPr/>
          <p:nvPr/>
        </p:nvGrpSpPr>
        <p:grpSpPr>
          <a:xfrm>
            <a:off x="6165850" y="1607820"/>
            <a:ext cx="5598160" cy="359410"/>
            <a:chOff x="9710" y="2532"/>
            <a:chExt cx="8816" cy="566"/>
          </a:xfrm>
        </p:grpSpPr>
        <p:sp>
          <p:nvSpPr>
            <p:cNvPr id="31" name="Text 29"/>
            <p:cNvSpPr/>
            <p:nvPr/>
          </p:nvSpPr>
          <p:spPr>
            <a:xfrm>
              <a:off x="9830" y="2532"/>
              <a:ext cx="8697" cy="567"/>
            </a:xfrm>
            <a:prstGeom prst="rect">
              <a:avLst/>
            </a:prstGeom>
            <a:noFill/>
          </p:spPr>
          <p:txBody>
            <a:bodyPr wrap="square" lIns="0" tIns="0" rIns="0" bIns="0" rtlCol="0" anchor="ctr" anchorCtr="0"/>
            <a:lstStyle/>
            <a:p>
              <a:pPr marL="0" indent="0">
                <a:buNone/>
              </a:pPr>
              <a:r>
                <a:rPr lang="en-US" sz="1535" b="1" dirty="0">
                  <a:solidFill>
                    <a:srgbClr val="1A2744"/>
                  </a:solidFill>
                  <a:latin typeface="微软雅黑" panose="020B0503020204020204" charset="-122"/>
                  <a:ea typeface="微软雅黑" panose="020B0503020204020204" charset="-122"/>
                  <a:cs typeface="微软雅黑" panose="020B0503020204020204" pitchFamily="34" charset="-120"/>
                </a:rPr>
                <a:t>  潜在风险情景</a:t>
              </a:r>
              <a:endParaRPr lang="en-US" sz="1535" dirty="0"/>
            </a:p>
          </p:txBody>
        </p:sp>
        <p:sp>
          <p:nvSpPr>
            <p:cNvPr id="60" name="Shape 5"/>
            <p:cNvSpPr/>
            <p:nvPr/>
          </p:nvSpPr>
          <p:spPr>
            <a:xfrm>
              <a:off x="9710" y="2532"/>
              <a:ext cx="120" cy="567"/>
            </a:xfrm>
            <a:prstGeom prst="rect">
              <a:avLst/>
            </a:prstGeom>
            <a:solidFill>
              <a:srgbClr val="DC2626"/>
            </a:solidFill>
          </p:spPr>
        </p:sp>
      </p:grpSp>
      <p:grpSp>
        <p:nvGrpSpPr>
          <p:cNvPr id="66" name="组合 65"/>
          <p:cNvGrpSpPr/>
          <p:nvPr/>
        </p:nvGrpSpPr>
        <p:grpSpPr>
          <a:xfrm>
            <a:off x="6165850" y="3917950"/>
            <a:ext cx="5598160" cy="359410"/>
            <a:chOff x="9710" y="2532"/>
            <a:chExt cx="8816" cy="566"/>
          </a:xfrm>
        </p:grpSpPr>
        <p:sp>
          <p:nvSpPr>
            <p:cNvPr id="67" name="Text 29"/>
            <p:cNvSpPr/>
            <p:nvPr/>
          </p:nvSpPr>
          <p:spPr>
            <a:xfrm>
              <a:off x="9830" y="2532"/>
              <a:ext cx="8697" cy="567"/>
            </a:xfrm>
            <a:prstGeom prst="rect">
              <a:avLst/>
            </a:prstGeom>
            <a:noFill/>
          </p:spPr>
          <p:txBody>
            <a:bodyPr wrap="square" lIns="0" tIns="0" rIns="0" bIns="0" rtlCol="0" anchor="ctr" anchorCtr="0"/>
            <a:lstStyle/>
            <a:p>
              <a:pPr marL="0" indent="0">
                <a:buNone/>
              </a:pPr>
              <a:r>
                <a:rPr lang="en-US" altLang="zh-CN" sz="1535" b="1" dirty="0">
                  <a:solidFill>
                    <a:srgbClr val="1A2744"/>
                  </a:solidFill>
                  <a:latin typeface="微软雅黑" panose="020B0503020204020204" charset="-122"/>
                  <a:ea typeface="微软雅黑" panose="020B0503020204020204" charset="-122"/>
                  <a:cs typeface="微软雅黑" panose="020B0503020204020204" pitchFamily="34" charset="-120"/>
                </a:rPr>
                <a:t>  </a:t>
              </a:r>
              <a:r>
                <a:rPr lang="zh-CN" altLang="en-US" sz="1535" b="1" dirty="0">
                  <a:solidFill>
                    <a:srgbClr val="1A2744"/>
                  </a:solidFill>
                  <a:latin typeface="微软雅黑" panose="020B0503020204020204" charset="-122"/>
                  <a:ea typeface="微软雅黑" panose="020B0503020204020204" charset="-122"/>
                  <a:cs typeface="微软雅黑" panose="020B0503020204020204" pitchFamily="34" charset="-120"/>
                </a:rPr>
                <a:t>解决</a:t>
              </a:r>
              <a:r>
                <a:rPr lang="zh-CN" altLang="en-US" sz="1535" b="1" dirty="0">
                  <a:solidFill>
                    <a:srgbClr val="1A2744"/>
                  </a:solidFill>
                  <a:latin typeface="微软雅黑" panose="020B0503020204020204" charset="-122"/>
                  <a:ea typeface="微软雅黑" panose="020B0503020204020204" charset="-122"/>
                  <a:cs typeface="微软雅黑" panose="020B0503020204020204" pitchFamily="34" charset="-120"/>
                </a:rPr>
                <a:t>思路</a:t>
              </a:r>
              <a:endParaRPr lang="zh-CN" altLang="en-US" sz="1535" b="1" dirty="0">
                <a:solidFill>
                  <a:srgbClr val="1A2744"/>
                </a:solidFill>
                <a:latin typeface="微软雅黑" panose="020B0503020204020204" charset="-122"/>
                <a:ea typeface="微软雅黑" panose="020B0503020204020204" charset="-122"/>
                <a:cs typeface="微软雅黑" panose="020B0503020204020204" pitchFamily="34" charset="-120"/>
              </a:endParaRPr>
            </a:p>
          </p:txBody>
        </p:sp>
        <p:sp>
          <p:nvSpPr>
            <p:cNvPr id="68" name="Shape 5"/>
            <p:cNvSpPr/>
            <p:nvPr/>
          </p:nvSpPr>
          <p:spPr>
            <a:xfrm>
              <a:off x="9710" y="2532"/>
              <a:ext cx="120" cy="567"/>
            </a:xfrm>
            <a:prstGeom prst="rect">
              <a:avLst/>
            </a:prstGeom>
            <a:solidFill>
              <a:srgbClr val="00B050"/>
            </a:solidFill>
          </p:spPr>
        </p:sp>
      </p:grpSp>
      <p:sp>
        <p:nvSpPr>
          <p:cNvPr id="69" name="文本框 68"/>
          <p:cNvSpPr txBox="1"/>
          <p:nvPr/>
        </p:nvSpPr>
        <p:spPr>
          <a:xfrm>
            <a:off x="6165850" y="4333240"/>
            <a:ext cx="5599430" cy="432000"/>
          </a:xfrm>
          <a:prstGeom prst="rect">
            <a:avLst/>
          </a:prstGeom>
          <a:noFill/>
          <a:ln>
            <a:solidFill>
              <a:schemeClr val="bg1">
                <a:lumMod val="85000"/>
              </a:schemeClr>
            </a:solidFill>
          </a:ln>
        </p:spPr>
        <p:txBody>
          <a:bodyPr wrap="square" rtlCol="0" anchor="t">
            <a:noAutofit/>
          </a:bodyPr>
          <a:p>
            <a:pPr marL="95250" algn="l" rtl="0" eaLnBrk="0" fontAlgn="auto">
              <a:lnSpc>
                <a:spcPct val="100000"/>
              </a:lnSpc>
              <a:spcBef>
                <a:spcPts val="600"/>
              </a:spcBef>
              <a:buClrTx/>
              <a:buSzTx/>
              <a:buFontTx/>
            </a:pP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a:t>
            </a:r>
            <a:r>
              <a:rPr lang="en-US" alt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等安全设备上配置加密应用解密策略</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；调整应用发布架构，使用专用的</a:t>
            </a:r>
            <a:r>
              <a:rPr lang="en-US" alt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SSL</a:t>
            </a:r>
            <a:r>
              <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卸载设备做加解密，安全设备部署</a:t>
            </a:r>
            <a:r>
              <a:rPr lang="en-US" alt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SSL</a:t>
            </a:r>
            <a:r>
              <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卸载设备</a:t>
            </a:r>
            <a:r>
              <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之后；</a:t>
            </a:r>
            <a:endPar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70" name="文本框 69"/>
          <p:cNvSpPr txBox="1"/>
          <p:nvPr/>
        </p:nvSpPr>
        <p:spPr>
          <a:xfrm>
            <a:off x="6165215" y="4817945"/>
            <a:ext cx="5599430" cy="431800"/>
          </a:xfrm>
          <a:prstGeom prst="rect">
            <a:avLst/>
          </a:prstGeom>
          <a:noFill/>
          <a:ln>
            <a:solidFill>
              <a:schemeClr val="bg1">
                <a:lumMod val="85000"/>
              </a:schemeClr>
            </a:solidFill>
          </a:ln>
        </p:spPr>
        <p:txBody>
          <a:bodyPr wrap="square" rtlCol="0" anchor="t">
            <a:noAutofit/>
          </a:bodyPr>
          <a:p>
            <a:pPr marL="95250" algn="l" rtl="0" eaLnBrk="0" fontAlgn="auto">
              <a:lnSpc>
                <a:spcPct val="100000"/>
              </a:lnSpc>
              <a:spcBef>
                <a:spcPts val="600"/>
              </a:spcBef>
              <a:buClrTx/>
              <a:buSzTx/>
              <a:buFontTx/>
            </a:pPr>
            <a:r>
              <a:rPr 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a:t>
            </a: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增加流量监测探针覆盖到二层横向流量的监测</a:t>
            </a: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同时加密应用涉及的主机资产部署端点安全组件</a:t>
            </a: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这部分主机一旦有异常行为能及时</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发现；</a:t>
            </a:r>
            <a:endPar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71" name="文本框 70"/>
          <p:cNvSpPr txBox="1"/>
          <p:nvPr/>
        </p:nvSpPr>
        <p:spPr>
          <a:xfrm>
            <a:off x="6165850" y="5302450"/>
            <a:ext cx="5599430" cy="431800"/>
          </a:xfrm>
          <a:prstGeom prst="rect">
            <a:avLst/>
          </a:prstGeom>
          <a:noFill/>
          <a:ln>
            <a:solidFill>
              <a:schemeClr val="bg1">
                <a:lumMod val="85000"/>
              </a:schemeClr>
            </a:solidFill>
          </a:ln>
        </p:spPr>
        <p:txBody>
          <a:bodyPr wrap="square" rtlCol="0" anchor="t">
            <a:noAutofit/>
          </a:bodyPr>
          <a:p>
            <a:pPr marL="95250" algn="l" rtl="0" eaLnBrk="0" fontAlgn="auto">
              <a:lnSpc>
                <a:spcPct val="100000"/>
              </a:lnSpc>
              <a:spcBef>
                <a:spcPts val="600"/>
              </a:spcBef>
              <a:buClrTx/>
              <a:buSzTx/>
              <a:buFontTx/>
            </a:pPr>
            <a:r>
              <a:rPr 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3</a:t>
            </a: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、扩大7*24小时监测覆盖范围，</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主动安全体系实现对监测盲区的全面</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覆盖；</a:t>
            </a:r>
            <a:endParaRPr lang="zh-CN" altLang="en-US"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1" name="组合 20"/>
          <p:cNvGrpSpPr/>
          <p:nvPr/>
        </p:nvGrpSpPr>
        <p:grpSpPr>
          <a:xfrm>
            <a:off x="224790" y="289878"/>
            <a:ext cx="9097010" cy="327025"/>
            <a:chOff x="533" y="646"/>
            <a:chExt cx="14326" cy="515"/>
          </a:xfrm>
        </p:grpSpPr>
        <p:grpSp>
          <p:nvGrpSpPr>
            <p:cNvPr id="22" name="组合 21"/>
            <p:cNvGrpSpPr/>
            <p:nvPr/>
          </p:nvGrpSpPr>
          <p:grpSpPr>
            <a:xfrm rot="0">
              <a:off x="533" y="672"/>
              <a:ext cx="582" cy="420"/>
              <a:chOff x="533" y="672"/>
              <a:chExt cx="582" cy="420"/>
            </a:xfrm>
          </p:grpSpPr>
          <p:sp>
            <p:nvSpPr>
              <p:cNvPr id="23" name="燕尾形 86"/>
              <p:cNvSpPr/>
              <p:nvPr>
                <p:custDataLst>
                  <p:tags r:id="rId3"/>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24" name="燕尾形 103"/>
              <p:cNvSpPr/>
              <p:nvPr>
                <p:custDataLst>
                  <p:tags r:id="rId4"/>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5" name="textbox 158"/>
            <p:cNvSpPr/>
            <p:nvPr/>
          </p:nvSpPr>
          <p:spPr>
            <a:xfrm>
              <a:off x="1345" y="646"/>
              <a:ext cx="13514"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关键问题一、</a:t>
              </a:r>
              <a:r>
                <a:rPr lang="zh-CN" altLang="en-US" sz="1900" kern="0" dirty="0">
                  <a:solidFill>
                    <a:schemeClr val="tx1"/>
                  </a:solidFill>
                  <a:latin typeface="黑体" panose="02010609060101010101" charset="-122"/>
                  <a:ea typeface="黑体" panose="02010609060101010101" charset="-122"/>
                  <a:cs typeface="黑体" panose="02010609060101010101" charset="-122"/>
                  <a:sym typeface="+mn-ea"/>
                </a:rPr>
                <a:t>存在安全监测盲区，</a:t>
              </a:r>
              <a:r>
                <a:rPr lang="zh-CN" altLang="en-US" sz="1900" kern="0" dirty="0">
                  <a:solidFill>
                    <a:schemeClr val="tx1"/>
                  </a:solidFill>
                  <a:latin typeface="黑体" panose="02010609060101010101" charset="-122"/>
                  <a:ea typeface="黑体" panose="02010609060101010101" charset="-122"/>
                  <a:cs typeface="黑体" panose="02010609060101010101" charset="-122"/>
                  <a:sym typeface="+mn-ea"/>
                </a:rPr>
                <a:t>会导致业务保护的目标无法</a:t>
              </a:r>
              <a:r>
                <a:rPr lang="zh-CN" altLang="en-US" sz="1900" kern="0" dirty="0">
                  <a:solidFill>
                    <a:schemeClr val="tx1"/>
                  </a:solidFill>
                  <a:latin typeface="黑体" panose="02010609060101010101" charset="-122"/>
                  <a:ea typeface="黑体" panose="02010609060101010101" charset="-122"/>
                  <a:cs typeface="黑体" panose="02010609060101010101" charset="-122"/>
                  <a:sym typeface="+mn-ea"/>
                </a:rPr>
                <a:t>达成</a:t>
              </a:r>
              <a:endParaRPr lang="zh-CN" altLang="en-US" sz="1900" kern="0" dirty="0">
                <a:solidFill>
                  <a:schemeClr val="tx1"/>
                </a:solidFill>
                <a:latin typeface="黑体" panose="02010609060101010101" charset="-122"/>
                <a:ea typeface="黑体" panose="02010609060101010101" charset="-122"/>
                <a:cs typeface="黑体" panose="02010609060101010101" charset="-122"/>
                <a:sym typeface="+mn-ea"/>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rPr>
              <a:t>共同的目标与行动计划刷新</a:t>
            </a:r>
            <a:endParaRPr lang="zh-CN" altLang="en-US" sz="1600" b="0" u="none" strike="noStrike" kern="0" spc="60" dirty="0">
              <a:solidFill>
                <a:schemeClr val="dk1"/>
              </a:solidFill>
              <a:effectLst/>
              <a:uFillTx/>
              <a:latin typeface="Arial Black" panose="020B0A04020102020204" pitchFamily="34" charset="0"/>
              <a:ea typeface="微软雅黑" panose="020B0503020204020204"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sz="3200">
                <a:solidFill>
                  <a:srgbClr val="4C61E7"/>
                </a:solidFill>
                <a:latin typeface="Arial Black" panose="020B0A04020102020204" pitchFamily="34" charset="0"/>
                <a:ea typeface="微软雅黑" panose="020B0503020204020204" charset="-122"/>
                <a:sym typeface="+mn-ea"/>
              </a:rPr>
              <a:t>下阶段目标与协作计划</a:t>
            </a:r>
            <a:endParaRPr lang="zh-CN" altLang="en-US" sz="3200">
              <a:solidFill>
                <a:srgbClr val="4C61E7"/>
              </a:solidFill>
              <a:latin typeface="Arial Black" panose="020B0A04020102020204" pitchFamily="34" charset="0"/>
              <a:ea typeface="微软雅黑" panose="020B0503020204020204" charset="-122"/>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latin typeface="Arial" panose="020B0604020202020204" pitchFamily="34" charset="0"/>
                <a:ea typeface="黑体-简" panose="02000000000000000000" charset="-122"/>
              </a:rPr>
              <a:t>04</a:t>
            </a:r>
            <a:endParaRPr lang="en-US" altLang="en-US">
              <a:solidFill>
                <a:srgbClr val="4C61E7"/>
              </a:solidFill>
              <a:latin typeface="Arial" panose="020B0604020202020204" pitchFamily="34" charset="0"/>
              <a:ea typeface="黑体-简" panose="02000000000000000000"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三年演进路线</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pic>
        <p:nvPicPr>
          <p:cNvPr id="26" name="图片 25"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11" name="Shape 5"/>
          <p:cNvSpPr/>
          <p:nvPr/>
        </p:nvSpPr>
        <p:spPr>
          <a:xfrm>
            <a:off x="609600" y="1323340"/>
            <a:ext cx="3413760" cy="4632960"/>
          </a:xfrm>
          <a:prstGeom prst="rect">
            <a:avLst/>
          </a:prstGeom>
          <a:noFill/>
          <a:extLst>
            <a:ext uri="{909E8E84-426E-40DD-AFC4-6F175D3DCCD1}">
              <a14:hiddenFill xmlns:a14="http://schemas.microsoft.com/office/drawing/2010/main">
                <a:solidFill>
                  <a:srgbClr val="162438"/>
                </a:solidFill>
              </a14:hiddenFill>
            </a:ext>
          </a:extLst>
        </p:spPr>
      </p:sp>
      <p:sp>
        <p:nvSpPr>
          <p:cNvPr id="12" name="Shape 6"/>
          <p:cNvSpPr/>
          <p:nvPr/>
        </p:nvSpPr>
        <p:spPr>
          <a:xfrm>
            <a:off x="609600" y="1323340"/>
            <a:ext cx="3413760" cy="48768"/>
          </a:xfrm>
          <a:prstGeom prst="rect">
            <a:avLst/>
          </a:prstGeom>
          <a:solidFill>
            <a:srgbClr val="10B981"/>
          </a:solidFill>
        </p:spPr>
      </p:sp>
      <p:sp>
        <p:nvSpPr>
          <p:cNvPr id="13" name="Text 7"/>
          <p:cNvSpPr/>
          <p:nvPr/>
        </p:nvSpPr>
        <p:spPr>
          <a:xfrm>
            <a:off x="792480" y="1567180"/>
            <a:ext cx="3048000" cy="853440"/>
          </a:xfrm>
          <a:prstGeom prst="rect">
            <a:avLst/>
          </a:prstGeom>
          <a:noFill/>
        </p:spPr>
        <p:txBody>
          <a:bodyPr wrap="square" rtlCol="0" anchor="ctr"/>
          <a:lstStyle/>
          <a:p>
            <a:pPr marL="0" indent="0">
              <a:lnSpc>
                <a:spcPct val="120000"/>
              </a:lnSpc>
              <a:buNone/>
            </a:pPr>
            <a:r>
              <a:rPr lang="en-US" sz="1735" b="1" dirty="0">
                <a:solidFill>
                  <a:srgbClr val="10B981"/>
                </a:solidFill>
                <a:latin typeface="微软雅黑" panose="020B0503020204020204" charset="-122"/>
                <a:ea typeface="微软雅黑" panose="020B0503020204020204" charset="-122"/>
                <a:cs typeface="微软雅黑" panose="020B0503020204020204" pitchFamily="34" charset="-120"/>
              </a:rPr>
              <a:t>阶段一</a:t>
            </a:r>
            <a:endParaRPr lang="en-US" sz="1735" dirty="0"/>
          </a:p>
          <a:p>
            <a:pPr marL="0" indent="0">
              <a:lnSpc>
                <a:spcPct val="120000"/>
              </a:lnSpc>
              <a:buNone/>
            </a:pPr>
            <a:r>
              <a:rPr lang="en-US" sz="1735" b="1" dirty="0">
                <a:solidFill>
                  <a:srgbClr val="10B981"/>
                </a:solidFill>
                <a:latin typeface="微软雅黑" panose="020B0503020204020204" charset="-122"/>
                <a:ea typeface="微软雅黑" panose="020B0503020204020204" charset="-122"/>
                <a:cs typeface="微软雅黑" panose="020B0503020204020204" pitchFamily="34" charset="-120"/>
              </a:rPr>
              <a:t>互联网防线</a:t>
            </a:r>
            <a:endParaRPr lang="en-US" sz="1735" dirty="0"/>
          </a:p>
        </p:txBody>
      </p:sp>
      <p:sp>
        <p:nvSpPr>
          <p:cNvPr id="14" name="Text 8"/>
          <p:cNvSpPr/>
          <p:nvPr/>
        </p:nvSpPr>
        <p:spPr>
          <a:xfrm>
            <a:off x="792480" y="2481580"/>
            <a:ext cx="3048000" cy="365760"/>
          </a:xfrm>
          <a:prstGeom prst="rect">
            <a:avLst/>
          </a:prstGeom>
          <a:noFill/>
        </p:spPr>
        <p:txBody>
          <a:bodyPr wrap="square" rtlCol="0" anchor="ctr"/>
          <a:lstStyle/>
          <a:p>
            <a:pPr marL="0" indent="0">
              <a:buNone/>
            </a:pPr>
            <a:r>
              <a:rPr lang="en-US" sz="1335" dirty="0">
                <a:solidFill>
                  <a:srgbClr val="64748B"/>
                </a:solidFill>
                <a:latin typeface="微软雅黑" panose="020B0503020204020204" charset="-122"/>
                <a:ea typeface="微软雅黑" panose="020B0503020204020204" charset="-122"/>
                <a:cs typeface="微软雅黑" panose="020B0503020204020204" pitchFamily="34" charset="-120"/>
              </a:rPr>
              <a:t>第1-12月</a:t>
            </a:r>
            <a:endParaRPr lang="en-US" sz="1335" dirty="0"/>
          </a:p>
        </p:txBody>
      </p:sp>
      <p:sp>
        <p:nvSpPr>
          <p:cNvPr id="15" name="Text 9"/>
          <p:cNvSpPr/>
          <p:nvPr/>
        </p:nvSpPr>
        <p:spPr>
          <a:xfrm>
            <a:off x="792480" y="29692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覆盖范围</a:t>
            </a:r>
            <a:endParaRPr lang="en-US" sz="1065" dirty="0"/>
          </a:p>
        </p:txBody>
      </p:sp>
      <p:sp>
        <p:nvSpPr>
          <p:cNvPr id="16" name="Text 10"/>
          <p:cNvSpPr/>
          <p:nvPr/>
        </p:nvSpPr>
        <p:spPr>
          <a:xfrm>
            <a:off x="792480" y="3213100"/>
            <a:ext cx="3048000" cy="426720"/>
          </a:xfrm>
          <a:prstGeom prst="rect">
            <a:avLst/>
          </a:prstGeom>
          <a:noFill/>
        </p:spPr>
        <p:txBody>
          <a:bodyPr wrap="square" rtlCol="0" anchor="ctr"/>
          <a:lstStyle/>
          <a:p>
            <a:pPr marL="0" indent="0">
              <a:buNone/>
            </a:pP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20个互联网暴露资产</a:t>
            </a:r>
            <a:endParaRPr lang="en-US" sz="1200"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17" name="Text 11"/>
          <p:cNvSpPr/>
          <p:nvPr/>
        </p:nvSpPr>
        <p:spPr>
          <a:xfrm>
            <a:off x="792480" y="370078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核心能力</a:t>
            </a:r>
            <a:endParaRPr lang="en-US" sz="1065" dirty="0"/>
          </a:p>
        </p:txBody>
      </p:sp>
      <p:sp>
        <p:nvSpPr>
          <p:cNvPr id="18" name="Text 12"/>
          <p:cNvSpPr/>
          <p:nvPr/>
        </p:nvSpPr>
        <p:spPr>
          <a:xfrm>
            <a:off x="792480" y="3944620"/>
            <a:ext cx="3048000" cy="731520"/>
          </a:xfrm>
          <a:prstGeom prst="rect">
            <a:avLst/>
          </a:prstGeom>
          <a:noFill/>
        </p:spPr>
        <p:txBody>
          <a:bodyPr wrap="square" rtlCol="0" anchor="ctr"/>
          <a:lstStyle/>
          <a:p>
            <a:pPr marL="0" indent="0">
              <a:lnSpc>
                <a:spcPct val="120000"/>
              </a:lnSpc>
              <a:buNone/>
            </a:pP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高风险入侵路径</a:t>
            </a: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流量监控+威胁检测</a:t>
            </a:r>
            <a:endParaRPr lang="en-US" sz="1200" dirty="0"/>
          </a:p>
          <a:p>
            <a:pPr marL="0" indent="0">
              <a:lnSpc>
                <a:spcPct val="120000"/>
              </a:lnSpc>
              <a:buNone/>
            </a:pP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7×24运营+季度报告</a:t>
            </a:r>
            <a:endParaRPr lang="en-US" sz="1200" dirty="0"/>
          </a:p>
        </p:txBody>
      </p:sp>
      <p:sp>
        <p:nvSpPr>
          <p:cNvPr id="19" name="Text 13"/>
          <p:cNvSpPr/>
          <p:nvPr/>
        </p:nvSpPr>
        <p:spPr>
          <a:xfrm>
            <a:off x="792480" y="47980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投入产出</a:t>
            </a:r>
            <a:endParaRPr lang="en-US" sz="1065" dirty="0"/>
          </a:p>
        </p:txBody>
      </p:sp>
      <p:sp>
        <p:nvSpPr>
          <p:cNvPr id="20" name="Text 14"/>
          <p:cNvSpPr/>
          <p:nvPr/>
        </p:nvSpPr>
        <p:spPr>
          <a:xfrm>
            <a:off x="792480" y="5041900"/>
            <a:ext cx="3048000" cy="670560"/>
          </a:xfrm>
          <a:prstGeom prst="rect">
            <a:avLst/>
          </a:prstGeom>
          <a:noFill/>
        </p:spPr>
        <p:txBody>
          <a:bodyPr wrap="square" rtlCol="0" anchor="ctr"/>
          <a:lstStyle/>
          <a:p>
            <a:pPr marL="0" indent="0">
              <a:lnSpc>
                <a:spcPct val="120000"/>
              </a:lnSpc>
              <a:buNone/>
            </a:pPr>
            <a:r>
              <a:rPr lang="en-US" sz="1200" dirty="0">
                <a:solidFill>
                  <a:srgbClr val="10B981"/>
                </a:solidFill>
                <a:latin typeface="微软雅黑" panose="020B0503020204020204" charset="-122"/>
                <a:ea typeface="微软雅黑" panose="020B0503020204020204" charset="-122"/>
                <a:cs typeface="微软雅黑" panose="020B0503020204020204" pitchFamily="34" charset="-120"/>
              </a:rPr>
              <a:t>最高ROI：80%攻击从互联网入口来</a:t>
            </a:r>
            <a:endParaRPr lang="en-US" sz="1200" dirty="0"/>
          </a:p>
        </p:txBody>
      </p:sp>
      <p:sp>
        <p:nvSpPr>
          <p:cNvPr id="21" name="Shape 15"/>
          <p:cNvSpPr/>
          <p:nvPr/>
        </p:nvSpPr>
        <p:spPr>
          <a:xfrm>
            <a:off x="4389120" y="1323340"/>
            <a:ext cx="3413760" cy="4632960"/>
          </a:xfrm>
          <a:prstGeom prst="rect">
            <a:avLst/>
          </a:prstGeom>
          <a:noFill/>
          <a:extLst>
            <a:ext uri="{909E8E84-426E-40DD-AFC4-6F175D3DCCD1}">
              <a14:hiddenFill xmlns:a14="http://schemas.microsoft.com/office/drawing/2010/main">
                <a:solidFill>
                  <a:srgbClr val="162438"/>
                </a:solidFill>
              </a14:hiddenFill>
            </a:ext>
          </a:extLst>
        </p:spPr>
      </p:sp>
      <p:sp>
        <p:nvSpPr>
          <p:cNvPr id="22" name="Shape 16"/>
          <p:cNvSpPr/>
          <p:nvPr/>
        </p:nvSpPr>
        <p:spPr>
          <a:xfrm>
            <a:off x="4389120" y="1323340"/>
            <a:ext cx="3413760" cy="48768"/>
          </a:xfrm>
          <a:prstGeom prst="rect">
            <a:avLst/>
          </a:prstGeom>
          <a:solidFill>
            <a:srgbClr val="0D7C66"/>
          </a:solidFill>
        </p:spPr>
      </p:sp>
      <p:sp>
        <p:nvSpPr>
          <p:cNvPr id="23" name="Text 17"/>
          <p:cNvSpPr/>
          <p:nvPr/>
        </p:nvSpPr>
        <p:spPr>
          <a:xfrm>
            <a:off x="4572000" y="1567180"/>
            <a:ext cx="3048000" cy="853440"/>
          </a:xfrm>
          <a:prstGeom prst="rect">
            <a:avLst/>
          </a:prstGeom>
          <a:noFill/>
        </p:spPr>
        <p:txBody>
          <a:bodyPr wrap="square" rtlCol="0" anchor="ctr"/>
          <a:lstStyle/>
          <a:p>
            <a:pPr marL="0" indent="0">
              <a:lnSpc>
                <a:spcPct val="120000"/>
              </a:lnSpc>
              <a:buNone/>
            </a:pPr>
            <a:r>
              <a:rPr lang="en-US" sz="1735" b="1" dirty="0">
                <a:solidFill>
                  <a:srgbClr val="0D7C66"/>
                </a:solidFill>
                <a:latin typeface="微软雅黑" panose="020B0503020204020204" charset="-122"/>
                <a:ea typeface="微软雅黑" panose="020B0503020204020204" charset="-122"/>
                <a:cs typeface="微软雅黑" panose="020B0503020204020204" pitchFamily="34" charset="-120"/>
              </a:rPr>
              <a:t>阶段二</a:t>
            </a:r>
            <a:endParaRPr lang="en-US" sz="1735" dirty="0"/>
          </a:p>
          <a:p>
            <a:pPr marL="0" indent="0">
              <a:lnSpc>
                <a:spcPct val="120000"/>
              </a:lnSpc>
              <a:buNone/>
            </a:pPr>
            <a:r>
              <a:rPr lang="en-US" sz="1735" b="1" dirty="0">
                <a:solidFill>
                  <a:srgbClr val="0D7C66"/>
                </a:solidFill>
                <a:latin typeface="微软雅黑" panose="020B0503020204020204" charset="-122"/>
                <a:ea typeface="微软雅黑" panose="020B0503020204020204" charset="-122"/>
                <a:cs typeface="微软雅黑" panose="020B0503020204020204" pitchFamily="34" charset="-120"/>
              </a:rPr>
              <a:t>内外联动</a:t>
            </a:r>
            <a:endParaRPr lang="en-US" sz="1735" dirty="0"/>
          </a:p>
        </p:txBody>
      </p:sp>
      <p:sp>
        <p:nvSpPr>
          <p:cNvPr id="25" name="Text 18"/>
          <p:cNvSpPr/>
          <p:nvPr/>
        </p:nvSpPr>
        <p:spPr>
          <a:xfrm>
            <a:off x="4572000" y="2481580"/>
            <a:ext cx="3048000" cy="365760"/>
          </a:xfrm>
          <a:prstGeom prst="rect">
            <a:avLst/>
          </a:prstGeom>
          <a:noFill/>
        </p:spPr>
        <p:txBody>
          <a:bodyPr wrap="square" rtlCol="0" anchor="ctr"/>
          <a:lstStyle/>
          <a:p>
            <a:pPr marL="0" indent="0">
              <a:buNone/>
            </a:pPr>
            <a:r>
              <a:rPr lang="en-US" sz="1335" dirty="0">
                <a:solidFill>
                  <a:srgbClr val="64748B"/>
                </a:solidFill>
                <a:latin typeface="微软雅黑" panose="020B0503020204020204" charset="-122"/>
                <a:ea typeface="微软雅黑" panose="020B0503020204020204" charset="-122"/>
                <a:cs typeface="微软雅黑" panose="020B0503020204020204" pitchFamily="34" charset="-120"/>
              </a:rPr>
              <a:t>第12-24月</a:t>
            </a:r>
            <a:endParaRPr lang="en-US" sz="1335" dirty="0"/>
          </a:p>
        </p:txBody>
      </p:sp>
      <p:sp>
        <p:nvSpPr>
          <p:cNvPr id="27" name="Text 19"/>
          <p:cNvSpPr/>
          <p:nvPr/>
        </p:nvSpPr>
        <p:spPr>
          <a:xfrm>
            <a:off x="4572000" y="29692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覆盖范围</a:t>
            </a:r>
            <a:endParaRPr lang="en-US" sz="1065" dirty="0"/>
          </a:p>
        </p:txBody>
      </p:sp>
      <p:sp>
        <p:nvSpPr>
          <p:cNvPr id="28" name="Text 20"/>
          <p:cNvSpPr/>
          <p:nvPr/>
        </p:nvSpPr>
        <p:spPr>
          <a:xfrm>
            <a:off x="4572000" y="3213100"/>
            <a:ext cx="3048000" cy="426720"/>
          </a:xfrm>
          <a:prstGeom prst="rect">
            <a:avLst/>
          </a:prstGeom>
          <a:noFill/>
        </p:spPr>
        <p:txBody>
          <a:bodyPr wrap="square" rtlCol="0" anchor="ctr"/>
          <a:lstStyle/>
          <a:p>
            <a:pPr marL="0" indent="0">
              <a:buNone/>
            </a:pP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+内外网边界+</a:t>
            </a:r>
            <a:r>
              <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rPr>
              <a:t>外网</a:t>
            </a:r>
            <a:r>
              <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rPr>
              <a:t>办公终端</a:t>
            </a:r>
            <a:endPar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29" name="Text 21"/>
          <p:cNvSpPr/>
          <p:nvPr/>
        </p:nvSpPr>
        <p:spPr>
          <a:xfrm>
            <a:off x="4572000" y="370078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核心能力</a:t>
            </a:r>
            <a:endParaRPr lang="en-US" sz="1065" dirty="0"/>
          </a:p>
        </p:txBody>
      </p:sp>
      <p:sp>
        <p:nvSpPr>
          <p:cNvPr id="30" name="Text 22"/>
          <p:cNvSpPr/>
          <p:nvPr/>
        </p:nvSpPr>
        <p:spPr>
          <a:xfrm>
            <a:off x="4572000" y="3944620"/>
            <a:ext cx="3048000" cy="731520"/>
          </a:xfrm>
          <a:prstGeom prst="rect">
            <a:avLst/>
          </a:prstGeom>
          <a:noFill/>
        </p:spPr>
        <p:txBody>
          <a:bodyPr wrap="square" rtlCol="0" anchor="ctr"/>
          <a:lstStyle/>
          <a:p>
            <a:pPr marL="0" indent="0">
              <a:lnSpc>
                <a:spcPct val="120000"/>
              </a:lnSpc>
              <a:buNone/>
            </a:pP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钓鱼</a:t>
            </a: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攻击主动发现</a:t>
            </a: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+横向移动检测</a:t>
            </a:r>
            <a:endParaRPr lang="en-US" sz="1200" dirty="0"/>
          </a:p>
          <a:p>
            <a:pPr marL="0" indent="0">
              <a:lnSpc>
                <a:spcPct val="120000"/>
              </a:lnSpc>
              <a:buNone/>
            </a:pP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联调联处</a:t>
            </a:r>
            <a:endParaRPr lang="en-US" sz="1200" dirty="0"/>
          </a:p>
        </p:txBody>
      </p:sp>
      <p:sp>
        <p:nvSpPr>
          <p:cNvPr id="31" name="Text 23"/>
          <p:cNvSpPr/>
          <p:nvPr/>
        </p:nvSpPr>
        <p:spPr>
          <a:xfrm>
            <a:off x="4572000" y="47980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投入产出</a:t>
            </a:r>
            <a:endParaRPr lang="en-US" sz="1065" dirty="0"/>
          </a:p>
        </p:txBody>
      </p:sp>
      <p:sp>
        <p:nvSpPr>
          <p:cNvPr id="32" name="Text 24"/>
          <p:cNvSpPr/>
          <p:nvPr/>
        </p:nvSpPr>
        <p:spPr>
          <a:xfrm>
            <a:off x="4572000" y="5041900"/>
            <a:ext cx="3048000" cy="670560"/>
          </a:xfrm>
          <a:prstGeom prst="rect">
            <a:avLst/>
          </a:prstGeom>
          <a:noFill/>
        </p:spPr>
        <p:txBody>
          <a:bodyPr wrap="square" rtlCol="0" anchor="ctr"/>
          <a:lstStyle/>
          <a:p>
            <a:pPr marL="0" indent="0">
              <a:lnSpc>
                <a:spcPct val="120000"/>
              </a:lnSpc>
              <a:buNone/>
            </a:pPr>
            <a:r>
              <a:rPr lang="en-US" sz="1200" dirty="0">
                <a:solidFill>
                  <a:srgbClr val="10B981"/>
                </a:solidFill>
                <a:latin typeface="微软雅黑" panose="020B0503020204020204" charset="-122"/>
                <a:ea typeface="微软雅黑" panose="020B0503020204020204" charset="-122"/>
                <a:cs typeface="微软雅黑" panose="020B0503020204020204" pitchFamily="34" charset="-120"/>
              </a:rPr>
              <a:t>消除盲区：</a:t>
            </a:r>
            <a:r>
              <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rPr>
              <a:t>高风险入侵路径全面</a:t>
            </a:r>
            <a:r>
              <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rPr>
              <a:t>覆盖</a:t>
            </a:r>
            <a:endPar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endParaRPr>
          </a:p>
        </p:txBody>
      </p:sp>
      <p:sp>
        <p:nvSpPr>
          <p:cNvPr id="33" name="Shape 25"/>
          <p:cNvSpPr/>
          <p:nvPr/>
        </p:nvSpPr>
        <p:spPr>
          <a:xfrm>
            <a:off x="8168640" y="1323340"/>
            <a:ext cx="3413760" cy="4632960"/>
          </a:xfrm>
          <a:prstGeom prst="rect">
            <a:avLst/>
          </a:prstGeom>
          <a:noFill/>
          <a:extLst>
            <a:ext uri="{909E8E84-426E-40DD-AFC4-6F175D3DCCD1}">
              <a14:hiddenFill xmlns:a14="http://schemas.microsoft.com/office/drawing/2010/main">
                <a:solidFill>
                  <a:srgbClr val="162438"/>
                </a:solidFill>
              </a14:hiddenFill>
            </a:ext>
          </a:extLst>
        </p:spPr>
      </p:sp>
      <p:sp>
        <p:nvSpPr>
          <p:cNvPr id="34" name="Shape 26"/>
          <p:cNvSpPr/>
          <p:nvPr/>
        </p:nvSpPr>
        <p:spPr>
          <a:xfrm>
            <a:off x="8168640" y="1323340"/>
            <a:ext cx="3413760" cy="48768"/>
          </a:xfrm>
          <a:prstGeom prst="rect">
            <a:avLst/>
          </a:prstGeom>
          <a:solidFill>
            <a:srgbClr val="0A2E4D"/>
          </a:solidFill>
        </p:spPr>
      </p:sp>
      <p:sp>
        <p:nvSpPr>
          <p:cNvPr id="35" name="Text 27"/>
          <p:cNvSpPr/>
          <p:nvPr/>
        </p:nvSpPr>
        <p:spPr>
          <a:xfrm>
            <a:off x="8351520" y="1567180"/>
            <a:ext cx="3048000" cy="853440"/>
          </a:xfrm>
          <a:prstGeom prst="rect">
            <a:avLst/>
          </a:prstGeom>
          <a:noFill/>
        </p:spPr>
        <p:txBody>
          <a:bodyPr wrap="square" rtlCol="0" anchor="ctr"/>
          <a:lstStyle/>
          <a:p>
            <a:pPr marL="0" indent="0">
              <a:lnSpc>
                <a:spcPct val="120000"/>
              </a:lnSpc>
              <a:buNone/>
            </a:pPr>
            <a:r>
              <a:rPr lang="en-US" sz="1735" b="1" dirty="0">
                <a:solidFill>
                  <a:srgbClr val="0A2E4D"/>
                </a:solidFill>
                <a:latin typeface="微软雅黑" panose="020B0503020204020204" charset="-122"/>
                <a:ea typeface="微软雅黑" panose="020B0503020204020204" charset="-122"/>
                <a:cs typeface="微软雅黑" panose="020B0503020204020204" pitchFamily="34" charset="-120"/>
              </a:rPr>
              <a:t>阶段三</a:t>
            </a:r>
            <a:endParaRPr lang="en-US" sz="1735" dirty="0"/>
          </a:p>
          <a:p>
            <a:pPr marL="0" indent="0">
              <a:lnSpc>
                <a:spcPct val="120000"/>
              </a:lnSpc>
              <a:buNone/>
            </a:pPr>
            <a:r>
              <a:rPr lang="zh-CN" altLang="en-US" sz="1735" b="1" dirty="0">
                <a:solidFill>
                  <a:srgbClr val="0A2E4D"/>
                </a:solidFill>
                <a:latin typeface="微软雅黑" panose="020B0503020204020204" charset="-122"/>
                <a:ea typeface="微软雅黑" panose="020B0503020204020204" charset="-122"/>
                <a:cs typeface="微软雅黑" panose="020B0503020204020204" pitchFamily="34" charset="-120"/>
              </a:rPr>
              <a:t>全网</a:t>
            </a:r>
            <a:r>
              <a:rPr lang="en-US" sz="1735" b="1" dirty="0">
                <a:solidFill>
                  <a:srgbClr val="0A2E4D"/>
                </a:solidFill>
                <a:latin typeface="微软雅黑" panose="020B0503020204020204" charset="-122"/>
                <a:ea typeface="微软雅黑" panose="020B0503020204020204" charset="-122"/>
                <a:cs typeface="微软雅黑" panose="020B0503020204020204" pitchFamily="34" charset="-120"/>
              </a:rPr>
              <a:t>一体化</a:t>
            </a:r>
            <a:endParaRPr lang="en-US" sz="1735" dirty="0"/>
          </a:p>
        </p:txBody>
      </p:sp>
      <p:sp>
        <p:nvSpPr>
          <p:cNvPr id="36" name="Text 28"/>
          <p:cNvSpPr/>
          <p:nvPr/>
        </p:nvSpPr>
        <p:spPr>
          <a:xfrm>
            <a:off x="8351520" y="2481580"/>
            <a:ext cx="3048000" cy="365760"/>
          </a:xfrm>
          <a:prstGeom prst="rect">
            <a:avLst/>
          </a:prstGeom>
          <a:noFill/>
        </p:spPr>
        <p:txBody>
          <a:bodyPr wrap="square" rtlCol="0" anchor="ctr"/>
          <a:lstStyle/>
          <a:p>
            <a:pPr marL="0" indent="0">
              <a:buNone/>
            </a:pPr>
            <a:r>
              <a:rPr lang="en-US" sz="1335" dirty="0">
                <a:solidFill>
                  <a:srgbClr val="64748B"/>
                </a:solidFill>
                <a:latin typeface="微软雅黑" panose="020B0503020204020204" charset="-122"/>
                <a:ea typeface="微软雅黑" panose="020B0503020204020204" charset="-122"/>
                <a:cs typeface="微软雅黑" panose="020B0503020204020204" pitchFamily="34" charset="-120"/>
              </a:rPr>
              <a:t>第24-36月</a:t>
            </a:r>
            <a:endParaRPr lang="en-US" sz="1335" dirty="0"/>
          </a:p>
        </p:txBody>
      </p:sp>
      <p:sp>
        <p:nvSpPr>
          <p:cNvPr id="37" name="Text 29"/>
          <p:cNvSpPr/>
          <p:nvPr/>
        </p:nvSpPr>
        <p:spPr>
          <a:xfrm>
            <a:off x="8351520" y="29692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覆盖范围</a:t>
            </a:r>
            <a:endParaRPr lang="en-US" sz="1065" dirty="0"/>
          </a:p>
        </p:txBody>
      </p:sp>
      <p:sp>
        <p:nvSpPr>
          <p:cNvPr id="38" name="Text 30"/>
          <p:cNvSpPr/>
          <p:nvPr/>
        </p:nvSpPr>
        <p:spPr>
          <a:xfrm>
            <a:off x="8351520" y="3213100"/>
            <a:ext cx="3048000" cy="426720"/>
          </a:xfrm>
          <a:prstGeom prst="rect">
            <a:avLst/>
          </a:prstGeom>
          <a:noFill/>
        </p:spPr>
        <p:txBody>
          <a:bodyPr wrap="square" rtlCol="0" anchor="ctr"/>
          <a:lstStyle/>
          <a:p>
            <a:pPr marL="0" indent="0">
              <a:buNone/>
            </a:pP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全</a:t>
            </a:r>
            <a:r>
              <a:rPr lang="zh-CN" altLang="en-US" sz="1200" dirty="0">
                <a:solidFill>
                  <a:schemeClr val="tx1"/>
                </a:solidFill>
                <a:latin typeface="微软雅黑" panose="020B0503020204020204" charset="-122"/>
                <a:ea typeface="微软雅黑" panose="020B0503020204020204" charset="-122"/>
                <a:cs typeface="微软雅黑" panose="020B0503020204020204" pitchFamily="34" charset="-120"/>
              </a:rPr>
              <a:t>网</a:t>
            </a:r>
            <a:r>
              <a:rPr lang="en-US" sz="1200" dirty="0">
                <a:solidFill>
                  <a:schemeClr val="tx1"/>
                </a:solidFill>
                <a:latin typeface="微软雅黑" panose="020B0503020204020204" charset="-122"/>
                <a:ea typeface="微软雅黑" panose="020B0503020204020204" charset="-122"/>
                <a:cs typeface="微软雅黑" panose="020B0503020204020204" pitchFamily="34" charset="-120"/>
              </a:rPr>
              <a:t>IT资产</a:t>
            </a:r>
            <a:endParaRPr lang="en-US" sz="1200"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39" name="Text 31"/>
          <p:cNvSpPr/>
          <p:nvPr/>
        </p:nvSpPr>
        <p:spPr>
          <a:xfrm>
            <a:off x="8351520" y="370078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核心能力</a:t>
            </a:r>
            <a:endParaRPr lang="en-US" sz="1065" dirty="0"/>
          </a:p>
        </p:txBody>
      </p:sp>
      <p:sp>
        <p:nvSpPr>
          <p:cNvPr id="40" name="Text 32"/>
          <p:cNvSpPr/>
          <p:nvPr/>
        </p:nvSpPr>
        <p:spPr>
          <a:xfrm>
            <a:off x="8351520" y="3944620"/>
            <a:ext cx="3048000" cy="731520"/>
          </a:xfrm>
          <a:prstGeom prst="rect">
            <a:avLst/>
          </a:prstGeom>
          <a:noFill/>
        </p:spPr>
        <p:txBody>
          <a:bodyPr wrap="square" rtlCol="0" anchor="ctr"/>
          <a:lstStyle/>
          <a:p>
            <a:pPr marL="0" indent="0">
              <a:lnSpc>
                <a:spcPct val="120000"/>
              </a:lnSpc>
              <a:buNone/>
            </a:pP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SOAR编排+</a:t>
            </a: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量化运营</a:t>
            </a:r>
            <a:r>
              <a:rPr lang="en-US" altLang="zh-CN" sz="1200" dirty="0">
                <a:solidFill>
                  <a:srgbClr val="94A3B8"/>
                </a:solidFill>
                <a:latin typeface="微软雅黑" panose="020B0503020204020204" charset="-122"/>
                <a:ea typeface="微软雅黑" panose="020B0503020204020204" charset="-122"/>
                <a:cs typeface="微软雅黑" panose="020B0503020204020204" pitchFamily="34" charset="-120"/>
              </a:rPr>
              <a:t>+</a:t>
            </a: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运营效率逐步攀升</a:t>
            </a:r>
            <a:endParaRPr lang="en-US" sz="1200" dirty="0"/>
          </a:p>
          <a:p>
            <a:pPr marL="0" indent="0">
              <a:lnSpc>
                <a:spcPct val="120000"/>
              </a:lnSpc>
              <a:buNone/>
            </a:pPr>
            <a:r>
              <a:rPr lang="zh-CN" altLang="en-US" sz="1200" dirty="0">
                <a:solidFill>
                  <a:srgbClr val="94A3B8"/>
                </a:solidFill>
                <a:latin typeface="微软雅黑" panose="020B0503020204020204" charset="-122"/>
                <a:ea typeface="微软雅黑" panose="020B0503020204020204" charset="-122"/>
                <a:cs typeface="微软雅黑" panose="020B0503020204020204" pitchFamily="34" charset="-120"/>
              </a:rPr>
              <a:t>全网</a:t>
            </a:r>
            <a:r>
              <a:rPr lang="en-US" sz="1200" dirty="0">
                <a:solidFill>
                  <a:srgbClr val="94A3B8"/>
                </a:solidFill>
                <a:latin typeface="微软雅黑" panose="020B0503020204020204" charset="-122"/>
                <a:ea typeface="微软雅黑" panose="020B0503020204020204" charset="-122"/>
                <a:cs typeface="微软雅黑" panose="020B0503020204020204" pitchFamily="34" charset="-120"/>
              </a:rPr>
              <a:t>运营体系</a:t>
            </a:r>
            <a:endParaRPr lang="en-US" sz="1200" dirty="0"/>
          </a:p>
        </p:txBody>
      </p:sp>
      <p:sp>
        <p:nvSpPr>
          <p:cNvPr id="41" name="Text 33"/>
          <p:cNvSpPr/>
          <p:nvPr/>
        </p:nvSpPr>
        <p:spPr>
          <a:xfrm>
            <a:off x="8351520" y="4798060"/>
            <a:ext cx="3048000" cy="304800"/>
          </a:xfrm>
          <a:prstGeom prst="rect">
            <a:avLst/>
          </a:prstGeom>
          <a:noFill/>
        </p:spPr>
        <p:txBody>
          <a:bodyPr wrap="square" rtlCol="0" anchor="ctr"/>
          <a:lstStyle/>
          <a:p>
            <a:pPr marL="0" indent="0">
              <a:buNone/>
            </a:pPr>
            <a:r>
              <a:rPr lang="en-US" sz="1065" dirty="0">
                <a:solidFill>
                  <a:srgbClr val="64748B"/>
                </a:solidFill>
                <a:latin typeface="微软雅黑" panose="020B0503020204020204" charset="-122"/>
                <a:ea typeface="微软雅黑" panose="020B0503020204020204" charset="-122"/>
                <a:cs typeface="微软雅黑" panose="020B0503020204020204" pitchFamily="34" charset="-120"/>
              </a:rPr>
              <a:t>投入产出</a:t>
            </a:r>
            <a:endParaRPr lang="en-US" sz="1065" dirty="0"/>
          </a:p>
        </p:txBody>
      </p:sp>
      <p:sp>
        <p:nvSpPr>
          <p:cNvPr id="42" name="Text 34"/>
          <p:cNvSpPr/>
          <p:nvPr/>
        </p:nvSpPr>
        <p:spPr>
          <a:xfrm>
            <a:off x="8351520" y="5041900"/>
            <a:ext cx="3048000" cy="670560"/>
          </a:xfrm>
          <a:prstGeom prst="rect">
            <a:avLst/>
          </a:prstGeom>
          <a:noFill/>
        </p:spPr>
        <p:txBody>
          <a:bodyPr wrap="square" rtlCol="0" anchor="ctr"/>
          <a:lstStyle/>
          <a:p>
            <a:pPr marL="0" indent="0">
              <a:lnSpc>
                <a:spcPct val="120000"/>
              </a:lnSpc>
              <a:buNone/>
            </a:pPr>
            <a:r>
              <a:rPr lang="zh-CN" altLang="en-US" sz="1200" dirty="0">
                <a:solidFill>
                  <a:srgbClr val="10B981"/>
                </a:solidFill>
                <a:latin typeface="微软雅黑" panose="020B0503020204020204" charset="-122"/>
                <a:ea typeface="微软雅黑" panose="020B0503020204020204" charset="-122"/>
                <a:cs typeface="微软雅黑" panose="020B0503020204020204" pitchFamily="34" charset="-120"/>
              </a:rPr>
              <a:t>量化运营</a:t>
            </a:r>
            <a:r>
              <a:rPr lang="en-US" sz="1200" dirty="0">
                <a:solidFill>
                  <a:srgbClr val="10B981"/>
                </a:solidFill>
                <a:latin typeface="微软雅黑" panose="020B0503020204020204" charset="-122"/>
                <a:ea typeface="微软雅黑" panose="020B0503020204020204" charset="-122"/>
                <a:cs typeface="微软雅黑" panose="020B0503020204020204" pitchFamily="34" charset="-120"/>
              </a:rPr>
              <a:t>：常态化运营管理</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2818765" cy="327025"/>
            <a:chOff x="533" y="646"/>
            <a:chExt cx="4439"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下一阶段运营</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规划</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20" name="图片 19"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23" name="文本框 22"/>
          <p:cNvSpPr txBox="1"/>
          <p:nvPr/>
        </p:nvSpPr>
        <p:spPr>
          <a:xfrm>
            <a:off x="8820150" y="411480"/>
            <a:ext cx="4064000" cy="368300"/>
          </a:xfrm>
          <a:prstGeom prst="rect">
            <a:avLst/>
          </a:prstGeom>
          <a:noFill/>
        </p:spPr>
        <p:txBody>
          <a:bodyPr wrap="square" rtlCol="0">
            <a:spAutoFit/>
          </a:bodyPr>
          <a:p>
            <a:endParaRPr lang="zh-CN" altLang="en-US"/>
          </a:p>
        </p:txBody>
      </p:sp>
      <p:sp>
        <p:nvSpPr>
          <p:cNvPr id="36" name="矩形 35"/>
          <p:cNvSpPr/>
          <p:nvPr>
            <p:custDataLst>
              <p:tags r:id="rId4"/>
            </p:custDataLst>
          </p:nvPr>
        </p:nvSpPr>
        <p:spPr>
          <a:xfrm>
            <a:off x="724535" y="1032510"/>
            <a:ext cx="10895330" cy="247650"/>
          </a:xfrm>
          <a:prstGeom prst="rect">
            <a:avLst/>
          </a:prstGeom>
          <a:solidFill>
            <a:srgbClr val="5B9BD5"/>
          </a:solidFill>
          <a:ln w="12700" cap="flat" cmpd="sng" algn="ctr">
            <a:noFill/>
            <a:prstDash val="solid"/>
            <a:miter lim="800000"/>
          </a:ln>
          <a:effectLst>
            <a:outerShdw blurRad="254000" dist="101600" dir="2700000" algn="tl" rotWithShape="0">
              <a:srgbClr val="FFFFFF">
                <a:lumMod val="75000"/>
                <a:alpha val="40000"/>
              </a:srgbClr>
            </a:outerShdw>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0000"/>
              </a:solidFill>
              <a:sym typeface="+mn-ea"/>
            </a:endParaRPr>
          </a:p>
        </p:txBody>
      </p:sp>
      <p:sp>
        <p:nvSpPr>
          <p:cNvPr id="37" name="矩形 36"/>
          <p:cNvSpPr/>
          <p:nvPr>
            <p:custDataLst>
              <p:tags r:id="rId5"/>
            </p:custDataLst>
          </p:nvPr>
        </p:nvSpPr>
        <p:spPr>
          <a:xfrm>
            <a:off x="724535" y="1166495"/>
            <a:ext cx="10895330" cy="1829435"/>
          </a:xfrm>
          <a:prstGeom prst="rect">
            <a:avLst/>
          </a:prstGeom>
          <a:solidFill>
            <a:srgbClr val="FFFFFF"/>
          </a:solidFill>
          <a:ln w="12700" cap="flat" cmpd="sng" algn="ctr">
            <a:noFill/>
            <a:prstDash val="solid"/>
            <a:miter lim="800000"/>
          </a:ln>
          <a:effectLst>
            <a:outerShdw blurRad="254000" dist="101600" dir="2700000" algn="tl" rotWithShape="0">
              <a:srgbClr val="000000">
                <a:lumMod val="75000"/>
                <a:lumOff val="25000"/>
                <a:alpha val="15000"/>
              </a:srgbClr>
            </a:outerShdw>
          </a:effectLst>
        </p:spPr>
        <p:txBody>
          <a:bodyPr rtlCol="0" anchor="ctr"/>
          <a:p>
            <a:pPr algn="ctr"/>
            <a:endParaRPr lang="zh-CN" altLang="en-US">
              <a:solidFill>
                <a:srgbClr val="FFFFFF"/>
              </a:solidFill>
            </a:endParaRPr>
          </a:p>
        </p:txBody>
      </p:sp>
      <p:sp>
        <p:nvSpPr>
          <p:cNvPr id="42" name="矩形 41"/>
          <p:cNvSpPr/>
          <p:nvPr>
            <p:custDataLst>
              <p:tags r:id="rId6"/>
            </p:custDataLst>
          </p:nvPr>
        </p:nvSpPr>
        <p:spPr>
          <a:xfrm>
            <a:off x="884555" y="1273175"/>
            <a:ext cx="10151110" cy="1558290"/>
          </a:xfrm>
          <a:prstGeom prst="rect">
            <a:avLst/>
          </a:prstGeom>
          <a:noFill/>
        </p:spPr>
        <p:txBody>
          <a:bodyPr wrap="square" lIns="0" tIns="0" rIns="0" bIns="0" rtlCol="0" anchor="t" anchorCtr="0">
            <a:noAutofit/>
          </a:bodyPr>
          <a:p>
            <a:pPr>
              <a:lnSpc>
                <a:spcPct val="150000"/>
              </a:lnSpc>
              <a:spcBef>
                <a:spcPct val="0"/>
              </a:spcBef>
              <a:spcAft>
                <a:spcPct val="0"/>
              </a:spcAft>
            </a:pPr>
            <a:r>
              <a:rPr lang="en-US" altLang="zh-CN" sz="1400">
                <a:solidFill>
                  <a:srgbClr val="333333"/>
                </a:solidFill>
                <a:latin typeface="Heiti SC Light" panose="02000000000000000000" charset="-122"/>
                <a:ea typeface="Heiti SC Light" panose="02000000000000000000" charset="-122"/>
                <a:cs typeface="+mn-ea"/>
                <a:sym typeface="+mn-ea"/>
              </a:rPr>
              <a:t>1</a:t>
            </a:r>
            <a:r>
              <a:rPr lang="zh-CN" altLang="en-US" sz="1400">
                <a:solidFill>
                  <a:srgbClr val="333333"/>
                </a:solidFill>
                <a:latin typeface="Heiti SC Light" panose="02000000000000000000" charset="-122"/>
                <a:ea typeface="Heiti SC Light" panose="02000000000000000000" charset="-122"/>
                <a:cs typeface="+mn-ea"/>
                <a:sym typeface="+mn-ea"/>
              </a:rPr>
              <a:t>、</a:t>
            </a:r>
            <a:r>
              <a:rPr lang="en-US" altLang="zh-CN" sz="1400">
                <a:solidFill>
                  <a:srgbClr val="4C61E7"/>
                </a:solidFill>
                <a:latin typeface="Heiti SC Light" panose="02000000000000000000" charset="-122"/>
                <a:ea typeface="Heiti SC Light" panose="02000000000000000000" charset="-122"/>
                <a:cs typeface="+mn-ea"/>
                <a:sym typeface="+mn-ea"/>
              </a:rPr>
              <a:t>XX</a:t>
            </a:r>
            <a:r>
              <a:rPr lang="zh-CN" altLang="en-US" sz="1400">
                <a:solidFill>
                  <a:srgbClr val="4C61E7"/>
                </a:solidFill>
                <a:latin typeface="Heiti SC Light" panose="02000000000000000000" charset="-122"/>
                <a:ea typeface="Heiti SC Light" panose="02000000000000000000" charset="-122"/>
                <a:cs typeface="+mn-ea"/>
                <a:sym typeface="+mn-ea"/>
              </a:rPr>
              <a:t>核心业务</a:t>
            </a:r>
            <a:r>
              <a:rPr lang="zh-CN" altLang="en-US" sz="1400">
                <a:solidFill>
                  <a:srgbClr val="333333"/>
                </a:solidFill>
                <a:latin typeface="Heiti SC Light" panose="02000000000000000000" charset="-122"/>
                <a:ea typeface="Heiti SC Light" panose="02000000000000000000" charset="-122"/>
                <a:cs typeface="+mn-ea"/>
                <a:sym typeface="+mn-ea"/>
              </a:rPr>
              <a:t>的资产已实现安全绿区的覆盖，下一阶段重点推进安全橙区的</a:t>
            </a:r>
            <a:r>
              <a:rPr lang="en-US" altLang="zh-CN" sz="1400">
                <a:solidFill>
                  <a:srgbClr val="333333"/>
                </a:solidFill>
                <a:latin typeface="Heiti SC Light" panose="02000000000000000000" charset="-122"/>
                <a:ea typeface="Heiti SC Light" panose="02000000000000000000" charset="-122"/>
                <a:cs typeface="+mn-ea"/>
                <a:sym typeface="+mn-ea"/>
              </a:rPr>
              <a:t>XX</a:t>
            </a:r>
            <a:r>
              <a:rPr lang="zh-CN" altLang="en-US" sz="1400">
                <a:solidFill>
                  <a:srgbClr val="333333"/>
                </a:solidFill>
                <a:latin typeface="Heiti SC Light" panose="02000000000000000000" charset="-122"/>
                <a:ea typeface="Heiti SC Light" panose="02000000000000000000" charset="-122"/>
                <a:cs typeface="+mn-ea"/>
                <a:sym typeface="+mn-ea"/>
              </a:rPr>
              <a:t>系统的资产转换到安全绿区，实现安全运营能力的升级；</a:t>
            </a:r>
            <a:endParaRPr lang="zh-CN" altLang="en-US" sz="1400">
              <a:solidFill>
                <a:srgbClr val="333333"/>
              </a:solidFill>
              <a:latin typeface="Heiti SC Light" panose="02000000000000000000" charset="-122"/>
              <a:ea typeface="Heiti SC Light" panose="02000000000000000000" charset="-122"/>
              <a:cs typeface="+mn-ea"/>
              <a:sym typeface="+mn-ea"/>
            </a:endParaRPr>
          </a:p>
          <a:p>
            <a:pPr>
              <a:lnSpc>
                <a:spcPct val="150000"/>
              </a:lnSpc>
              <a:spcBef>
                <a:spcPct val="0"/>
              </a:spcBef>
              <a:spcAft>
                <a:spcPct val="0"/>
              </a:spcAft>
            </a:pPr>
            <a:r>
              <a:rPr lang="en-US" altLang="zh-CN" sz="1400">
                <a:solidFill>
                  <a:srgbClr val="333333"/>
                </a:solidFill>
                <a:latin typeface="Heiti SC Light" panose="02000000000000000000" charset="-122"/>
                <a:ea typeface="Heiti SC Light" panose="02000000000000000000" charset="-122"/>
                <a:cs typeface="+mn-ea"/>
                <a:sym typeface="+mn-ea"/>
              </a:rPr>
              <a:t>2</a:t>
            </a:r>
            <a:r>
              <a:rPr lang="zh-CN" altLang="en-US" sz="1400">
                <a:solidFill>
                  <a:srgbClr val="333333"/>
                </a:solidFill>
                <a:latin typeface="Heiti SC Light" panose="02000000000000000000" charset="-122"/>
                <a:ea typeface="Heiti SC Light" panose="02000000000000000000" charset="-122"/>
                <a:cs typeface="+mn-ea"/>
                <a:sym typeface="+mn-ea"/>
              </a:rPr>
              <a:t>、快速消除安全红区，提升整体的安全水位底线，针对</a:t>
            </a:r>
            <a:r>
              <a:rPr lang="en-US" altLang="zh-CN" sz="1400">
                <a:solidFill>
                  <a:srgbClr val="4C61E7"/>
                </a:solidFill>
                <a:latin typeface="Heiti SC Light" panose="02000000000000000000" charset="-122"/>
                <a:ea typeface="Heiti SC Light" panose="02000000000000000000" charset="-122"/>
                <a:cs typeface="+mn-ea"/>
                <a:sym typeface="+mn-ea"/>
              </a:rPr>
              <a:t>XX</a:t>
            </a:r>
            <a:r>
              <a:rPr lang="zh-CN" altLang="en-US" sz="1400">
                <a:solidFill>
                  <a:srgbClr val="4C61E7"/>
                </a:solidFill>
                <a:latin typeface="Heiti SC Light" panose="02000000000000000000" charset="-122"/>
                <a:ea typeface="Heiti SC Light" panose="02000000000000000000" charset="-122"/>
                <a:cs typeface="+mn-ea"/>
                <a:sym typeface="+mn-ea"/>
              </a:rPr>
              <a:t>资产范围</a:t>
            </a:r>
            <a:r>
              <a:rPr lang="zh-CN" altLang="en-US" sz="1400">
                <a:solidFill>
                  <a:srgbClr val="333333"/>
                </a:solidFill>
                <a:latin typeface="Heiti SC Light" panose="02000000000000000000" charset="-122"/>
                <a:ea typeface="Heiti SC Light" panose="02000000000000000000" charset="-122"/>
                <a:cs typeface="+mn-ea"/>
                <a:sym typeface="+mn-ea"/>
              </a:rPr>
              <a:t>补充基础的端点安全能力和威胁监测响应能力；</a:t>
            </a:r>
            <a:endParaRPr lang="zh-CN" altLang="en-US" sz="1400">
              <a:solidFill>
                <a:srgbClr val="333333"/>
              </a:solidFill>
              <a:latin typeface="Heiti SC Light" panose="02000000000000000000" charset="-122"/>
              <a:ea typeface="Heiti SC Light" panose="02000000000000000000" charset="-122"/>
              <a:cs typeface="+mn-ea"/>
              <a:sym typeface="+mn-ea"/>
            </a:endParaRPr>
          </a:p>
        </p:txBody>
      </p:sp>
      <p:sp>
        <p:nvSpPr>
          <p:cNvPr id="43" name="矩形 42"/>
          <p:cNvSpPr/>
          <p:nvPr/>
        </p:nvSpPr>
        <p:spPr>
          <a:xfrm>
            <a:off x="611505" y="3247390"/>
            <a:ext cx="3600000" cy="3240000"/>
          </a:xfrm>
          <a:prstGeom prst="rect">
            <a:avLst/>
          </a:prstGeom>
          <a:solidFill>
            <a:srgbClr val="70AD47">
              <a:lumMod val="20000"/>
              <a:lumOff val="80000"/>
            </a:srgbClr>
          </a:solidFill>
          <a:ln w="12700" cap="flat" cmpd="sng" algn="ctr">
            <a:solidFill>
              <a:srgbClr val="4472C4">
                <a:shade val="50000"/>
              </a:srgbClr>
            </a:solidFill>
            <a:prstDash val="dashDot"/>
            <a:miter lim="800000"/>
          </a:ln>
          <a:effectLst/>
        </p:spPr>
        <p:txBody>
          <a:bodyPr rtlCol="0" anchor="ctr"/>
          <a:lstStyle/>
          <a:p>
            <a:pPr algn="ctr"/>
            <a:endParaRPr kumimoji="1" lang="zh-CN" altLang="en-US">
              <a:solidFill>
                <a:srgbClr val="FFFFFF"/>
              </a:solidFill>
            </a:endParaRPr>
          </a:p>
        </p:txBody>
      </p:sp>
      <p:sp>
        <p:nvSpPr>
          <p:cNvPr id="44" name="矩形 43"/>
          <p:cNvSpPr/>
          <p:nvPr/>
        </p:nvSpPr>
        <p:spPr>
          <a:xfrm>
            <a:off x="8175810" y="3246755"/>
            <a:ext cx="3599815" cy="3240000"/>
          </a:xfrm>
          <a:prstGeom prst="rect">
            <a:avLst/>
          </a:prstGeom>
          <a:solidFill>
            <a:srgbClr val="FF0000">
              <a:alpha val="40000"/>
            </a:srgbClr>
          </a:solidFill>
          <a:ln w="12700" cap="flat" cmpd="sng" algn="ctr">
            <a:solidFill>
              <a:srgbClr val="4472C4">
                <a:shade val="50000"/>
              </a:srgbClr>
            </a:solidFill>
            <a:prstDash val="dashDot"/>
            <a:miter lim="800000"/>
          </a:ln>
          <a:effectLst/>
        </p:spPr>
        <p:txBody>
          <a:bodyPr rtlCol="0" anchor="ctr"/>
          <a:lstStyle/>
          <a:p>
            <a:pPr algn="ctr"/>
            <a:endParaRPr kumimoji="1" lang="zh-CN" altLang="en-US">
              <a:solidFill>
                <a:srgbClr val="FFFFFF"/>
              </a:solidFill>
            </a:endParaRPr>
          </a:p>
        </p:txBody>
      </p:sp>
      <p:sp>
        <p:nvSpPr>
          <p:cNvPr id="45" name="矩形 44"/>
          <p:cNvSpPr/>
          <p:nvPr/>
        </p:nvSpPr>
        <p:spPr>
          <a:xfrm>
            <a:off x="4393750" y="3247390"/>
            <a:ext cx="3599815" cy="3240000"/>
          </a:xfrm>
          <a:prstGeom prst="rect">
            <a:avLst/>
          </a:prstGeom>
          <a:solidFill>
            <a:srgbClr val="ED7D31">
              <a:lumMod val="40000"/>
              <a:lumOff val="60000"/>
            </a:srgbClr>
          </a:solidFill>
          <a:ln w="12700" cap="flat" cmpd="sng" algn="ctr">
            <a:solidFill>
              <a:srgbClr val="4472C4">
                <a:shade val="50000"/>
              </a:srgbClr>
            </a:solidFill>
            <a:prstDash val="dashDot"/>
            <a:miter lim="800000"/>
          </a:ln>
          <a:effectLst/>
        </p:spPr>
        <p:txBody>
          <a:bodyPr rtlCol="0" anchor="ctr"/>
          <a:lstStyle/>
          <a:p>
            <a:pPr algn="ctr"/>
            <a:endParaRPr kumimoji="1" lang="zh-CN" altLang="en-US">
              <a:solidFill>
                <a:srgbClr val="FFFFFF"/>
              </a:solidFill>
            </a:endParaRPr>
          </a:p>
        </p:txBody>
      </p:sp>
      <p:pic>
        <p:nvPicPr>
          <p:cNvPr id="49" name="图片 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1293" y="5622956"/>
            <a:ext cx="360745" cy="251460"/>
          </a:xfrm>
          <a:prstGeom prst="rect">
            <a:avLst/>
          </a:prstGeom>
        </p:spPr>
      </p:pic>
      <p:sp>
        <p:nvSpPr>
          <p:cNvPr id="50" name="Text Box 27"/>
          <p:cNvSpPr txBox="1">
            <a:spLocks noChangeArrowheads="1"/>
          </p:cNvSpPr>
          <p:nvPr/>
        </p:nvSpPr>
        <p:spPr bwMode="auto">
          <a:xfrm>
            <a:off x="688340" y="3301365"/>
            <a:ext cx="397510" cy="8299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1200" dirty="0">
                <a:solidFill>
                  <a:srgbClr val="00B050"/>
                </a:solidFill>
                <a:latin typeface="Heiti SC Light" panose="02000000000000000000" charset="-122"/>
                <a:ea typeface="Heiti SC Light" panose="02000000000000000000" charset="-122"/>
              </a:rPr>
              <a:t>安全</a:t>
            </a:r>
            <a:r>
              <a:rPr lang="zh-CN" altLang="en-US" sz="1200" dirty="0">
                <a:solidFill>
                  <a:srgbClr val="00B050"/>
                </a:solidFill>
                <a:latin typeface="Heiti SC Light" panose="02000000000000000000" charset="-122"/>
                <a:ea typeface="Heiti SC Light" panose="02000000000000000000" charset="-122"/>
              </a:rPr>
              <a:t>绿区</a:t>
            </a:r>
            <a:endParaRPr lang="zh-CN" altLang="en-US" sz="1200" dirty="0">
              <a:solidFill>
                <a:srgbClr val="00B050"/>
              </a:solidFill>
              <a:latin typeface="Heiti SC Light" panose="02000000000000000000" charset="-122"/>
              <a:ea typeface="Heiti SC Light" panose="02000000000000000000" charset="-122"/>
            </a:endParaRPr>
          </a:p>
        </p:txBody>
      </p:sp>
      <p:sp>
        <p:nvSpPr>
          <p:cNvPr id="51" name="Text Box 27"/>
          <p:cNvSpPr txBox="1">
            <a:spLocks noChangeArrowheads="1"/>
          </p:cNvSpPr>
          <p:nvPr/>
        </p:nvSpPr>
        <p:spPr bwMode="auto">
          <a:xfrm>
            <a:off x="4569299" y="3301168"/>
            <a:ext cx="430821" cy="8299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1200" dirty="0">
                <a:solidFill>
                  <a:srgbClr val="ED7D31"/>
                </a:solidFill>
                <a:latin typeface="Heiti SC Light" panose="02000000000000000000" charset="-122"/>
                <a:ea typeface="Heiti SC Light" panose="02000000000000000000" charset="-122"/>
              </a:rPr>
              <a:t>安全橙区</a:t>
            </a:r>
            <a:endParaRPr lang="zh-CN" altLang="en-US" sz="1200" dirty="0">
              <a:solidFill>
                <a:srgbClr val="ED7D31"/>
              </a:solidFill>
              <a:latin typeface="Heiti SC Light" panose="02000000000000000000" charset="-122"/>
              <a:ea typeface="Heiti SC Light" panose="02000000000000000000" charset="-122"/>
            </a:endParaRPr>
          </a:p>
        </p:txBody>
      </p:sp>
      <p:pic>
        <p:nvPicPr>
          <p:cNvPr id="53" name="图片 52"/>
          <p:cNvPicPr/>
          <p:nvPr/>
        </p:nvPicPr>
        <p:blipFill>
          <a:blip r:embed="rId8"/>
          <a:stretch>
            <a:fillRect/>
          </a:stretch>
        </p:blipFill>
        <p:spPr>
          <a:xfrm>
            <a:off x="3102292" y="4757815"/>
            <a:ext cx="288000" cy="288290"/>
          </a:xfrm>
          <a:prstGeom prst="rect">
            <a:avLst/>
          </a:prstGeom>
        </p:spPr>
      </p:pic>
      <p:pic>
        <p:nvPicPr>
          <p:cNvPr id="54" name="图片 53"/>
          <p:cNvPicPr/>
          <p:nvPr/>
        </p:nvPicPr>
        <p:blipFill>
          <a:blip r:embed="rId9"/>
          <a:stretch>
            <a:fillRect/>
          </a:stretch>
        </p:blipFill>
        <p:spPr>
          <a:xfrm>
            <a:off x="3102465" y="3938320"/>
            <a:ext cx="287655" cy="288000"/>
          </a:xfrm>
          <a:prstGeom prst="rect">
            <a:avLst/>
          </a:prstGeom>
        </p:spPr>
      </p:pic>
      <p:pic>
        <p:nvPicPr>
          <p:cNvPr id="55" name="图片 54"/>
          <p:cNvPicPr/>
          <p:nvPr/>
        </p:nvPicPr>
        <p:blipFill>
          <a:blip r:embed="rId10"/>
          <a:stretch>
            <a:fillRect/>
          </a:stretch>
        </p:blipFill>
        <p:spPr>
          <a:xfrm flipH="1">
            <a:off x="3102293" y="4348240"/>
            <a:ext cx="288000" cy="287655"/>
          </a:xfrm>
          <a:prstGeom prst="rect">
            <a:avLst/>
          </a:prstGeom>
        </p:spPr>
      </p:pic>
      <p:sp>
        <p:nvSpPr>
          <p:cNvPr id="56" name="Text Box 27"/>
          <p:cNvSpPr txBox="1">
            <a:spLocks noChangeArrowheads="1"/>
          </p:cNvSpPr>
          <p:nvPr/>
        </p:nvSpPr>
        <p:spPr bwMode="auto">
          <a:xfrm>
            <a:off x="3479800" y="4398010"/>
            <a:ext cx="490855" cy="17970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chor="ctr" anchorCtr="0">
            <a:noAutofit/>
          </a:bodyPr>
          <a:lstStyle/>
          <a:p>
            <a:pPr algn="ctr"/>
            <a:r>
              <a:rPr lang="zh-CN" altLang="en-US" sz="800" dirty="0" err="1">
                <a:solidFill>
                  <a:srgbClr val="000000"/>
                </a:solidFill>
                <a:latin typeface="Heiti SC Light" panose="02000000000000000000" charset="-122"/>
                <a:ea typeface="Heiti SC Light" panose="02000000000000000000" charset="-122"/>
              </a:rPr>
              <a:t>端点</a:t>
            </a:r>
            <a:r>
              <a:rPr lang="zh-CN" altLang="en-US" sz="800" dirty="0" err="1">
                <a:solidFill>
                  <a:srgbClr val="000000"/>
                </a:solidFill>
                <a:latin typeface="Heiti SC Light" panose="02000000000000000000" charset="-122"/>
                <a:ea typeface="Heiti SC Light" panose="02000000000000000000" charset="-122"/>
              </a:rPr>
              <a:t>保护</a:t>
            </a:r>
            <a:endParaRPr lang="zh-CN" altLang="en-US" sz="800" dirty="0" err="1">
              <a:solidFill>
                <a:srgbClr val="000000"/>
              </a:solidFill>
              <a:latin typeface="Heiti SC Light" panose="02000000000000000000" charset="-122"/>
              <a:ea typeface="Heiti SC Light" panose="02000000000000000000" charset="-122"/>
            </a:endParaRPr>
          </a:p>
        </p:txBody>
      </p:sp>
      <p:sp>
        <p:nvSpPr>
          <p:cNvPr id="60" name="Text Box 27"/>
          <p:cNvSpPr txBox="1">
            <a:spLocks noChangeArrowheads="1"/>
          </p:cNvSpPr>
          <p:nvPr/>
        </p:nvSpPr>
        <p:spPr bwMode="auto">
          <a:xfrm>
            <a:off x="3479800" y="3983990"/>
            <a:ext cx="490855" cy="15938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oAutofit/>
          </a:bodyPr>
          <a:lstStyle/>
          <a:p>
            <a:pPr algn="ctr"/>
            <a:r>
              <a:rPr lang="zh-CN" altLang="en-US" sz="800" dirty="0">
                <a:solidFill>
                  <a:srgbClr val="000000"/>
                </a:solidFill>
                <a:latin typeface="Heiti SC Light" panose="02000000000000000000" charset="-122"/>
                <a:ea typeface="Heiti SC Light" panose="02000000000000000000" charset="-122"/>
              </a:rPr>
              <a:t>流量</a:t>
            </a:r>
            <a:r>
              <a:rPr lang="zh-CN" altLang="en-US" sz="800" dirty="0">
                <a:solidFill>
                  <a:srgbClr val="000000"/>
                </a:solidFill>
                <a:latin typeface="Heiti SC Light" panose="02000000000000000000" charset="-122"/>
                <a:ea typeface="Heiti SC Light" panose="02000000000000000000" charset="-122"/>
              </a:rPr>
              <a:t>监测</a:t>
            </a:r>
            <a:endParaRPr lang="zh-CN" altLang="en-US" sz="800" dirty="0">
              <a:solidFill>
                <a:srgbClr val="000000"/>
              </a:solidFill>
              <a:latin typeface="Heiti SC Light" panose="02000000000000000000" charset="-122"/>
              <a:ea typeface="Heiti SC Light" panose="02000000000000000000" charset="-122"/>
            </a:endParaRPr>
          </a:p>
        </p:txBody>
      </p:sp>
      <p:sp>
        <p:nvSpPr>
          <p:cNvPr id="61" name="Text Box 27"/>
          <p:cNvSpPr txBox="1">
            <a:spLocks noChangeArrowheads="1"/>
          </p:cNvSpPr>
          <p:nvPr/>
        </p:nvSpPr>
        <p:spPr bwMode="auto">
          <a:xfrm>
            <a:off x="1673225" y="560959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核心</a:t>
            </a:r>
            <a:r>
              <a:rPr lang="en-US" altLang="zh-CN" sz="800" dirty="0">
                <a:solidFill>
                  <a:srgbClr val="000000"/>
                </a:solidFill>
                <a:latin typeface="Heiti SC Light" panose="02000000000000000000" charset="-122"/>
                <a:ea typeface="Heiti SC Light" panose="02000000000000000000" charset="-122"/>
              </a:rPr>
              <a:t>PC</a:t>
            </a:r>
            <a:r>
              <a:rPr lang="zh-CN" altLang="en-US" sz="800" dirty="0">
                <a:solidFill>
                  <a:srgbClr val="000000"/>
                </a:solidFill>
                <a:latin typeface="Heiti SC Light" panose="02000000000000000000" charset="-122"/>
                <a:ea typeface="Heiti SC Light" panose="02000000000000000000" charset="-122"/>
              </a:rPr>
              <a:t>：</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67" name="图片 66"/>
          <p:cNvPicPr/>
          <p:nvPr/>
        </p:nvPicPr>
        <p:blipFill>
          <a:blip r:embed="rId11">
            <a:extLst>
              <a:ext uri="{28A0092B-C50C-407E-A947-70E740481C1C}">
                <a14:useLocalDpi xmlns:a14="http://schemas.microsoft.com/office/drawing/2010/main" val="0"/>
              </a:ext>
            </a:extLst>
          </a:blip>
          <a:stretch>
            <a:fillRect/>
          </a:stretch>
        </p:blipFill>
        <p:spPr>
          <a:xfrm>
            <a:off x="1212304" y="3907866"/>
            <a:ext cx="360000" cy="360000"/>
          </a:xfrm>
          <a:prstGeom prst="rect">
            <a:avLst/>
          </a:prstGeom>
        </p:spPr>
      </p:pic>
      <p:pic>
        <p:nvPicPr>
          <p:cNvPr id="71" name="图片 70"/>
          <p:cNvPicPr/>
          <p:nvPr/>
        </p:nvPicPr>
        <p:blipFill>
          <a:blip r:embed="rId11">
            <a:extLst>
              <a:ext uri="{28A0092B-C50C-407E-A947-70E740481C1C}">
                <a14:useLocalDpi xmlns:a14="http://schemas.microsoft.com/office/drawing/2010/main" val="0"/>
              </a:ext>
            </a:extLst>
          </a:blip>
          <a:stretch>
            <a:fillRect/>
          </a:stretch>
        </p:blipFill>
        <p:spPr>
          <a:xfrm>
            <a:off x="1212240" y="4479956"/>
            <a:ext cx="360000" cy="359410"/>
          </a:xfrm>
          <a:prstGeom prst="rect">
            <a:avLst/>
          </a:prstGeom>
        </p:spPr>
      </p:pic>
      <p:sp>
        <p:nvSpPr>
          <p:cNvPr id="72" name="Text Box 27"/>
          <p:cNvSpPr txBox="1">
            <a:spLocks noChangeArrowheads="1"/>
          </p:cNvSpPr>
          <p:nvPr/>
        </p:nvSpPr>
        <p:spPr bwMode="auto">
          <a:xfrm>
            <a:off x="1624330" y="391223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生产系统：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73" name="Text Box 27"/>
          <p:cNvSpPr txBox="1">
            <a:spLocks noChangeArrowheads="1"/>
          </p:cNvSpPr>
          <p:nvPr/>
        </p:nvSpPr>
        <p:spPr bwMode="auto">
          <a:xfrm>
            <a:off x="1624330" y="447802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研发系统：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74" name="图片 73"/>
          <p:cNvPicPr/>
          <p:nvPr/>
        </p:nvPicPr>
        <p:blipFill>
          <a:blip r:embed="rId11">
            <a:extLst>
              <a:ext uri="{28A0092B-C50C-407E-A947-70E740481C1C}">
                <a14:useLocalDpi xmlns:a14="http://schemas.microsoft.com/office/drawing/2010/main" val="0"/>
              </a:ext>
            </a:extLst>
          </a:blip>
          <a:stretch>
            <a:fillRect/>
          </a:stretch>
        </p:blipFill>
        <p:spPr>
          <a:xfrm>
            <a:off x="1212240" y="5051456"/>
            <a:ext cx="360000" cy="359410"/>
          </a:xfrm>
          <a:prstGeom prst="rect">
            <a:avLst/>
          </a:prstGeom>
        </p:spPr>
      </p:pic>
      <p:sp>
        <p:nvSpPr>
          <p:cNvPr id="75" name="Text Box 27"/>
          <p:cNvSpPr txBox="1">
            <a:spLocks noChangeArrowheads="1"/>
          </p:cNvSpPr>
          <p:nvPr/>
        </p:nvSpPr>
        <p:spPr bwMode="auto">
          <a:xfrm>
            <a:off x="1624330" y="504380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办公系统：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80" name="Text Box 27"/>
          <p:cNvSpPr txBox="1">
            <a:spLocks noChangeArrowheads="1"/>
          </p:cNvSpPr>
          <p:nvPr/>
        </p:nvSpPr>
        <p:spPr bwMode="auto">
          <a:xfrm>
            <a:off x="3479800" y="4832350"/>
            <a:ext cx="490855" cy="12255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边界</a:t>
            </a:r>
            <a:r>
              <a:rPr lang="zh-CN" altLang="en-US" sz="800" dirty="0">
                <a:solidFill>
                  <a:srgbClr val="000000"/>
                </a:solidFill>
                <a:latin typeface="Heiti SC Light" panose="02000000000000000000" charset="-122"/>
                <a:ea typeface="Heiti SC Light" panose="02000000000000000000" charset="-122"/>
              </a:rPr>
              <a:t>防护</a:t>
            </a:r>
            <a:endParaRPr lang="zh-CN" altLang="en-US" sz="800" dirty="0">
              <a:solidFill>
                <a:srgbClr val="000000"/>
              </a:solidFill>
              <a:latin typeface="Heiti SC Light" panose="02000000000000000000" charset="-122"/>
              <a:ea typeface="Heiti SC Light" panose="02000000000000000000" charset="-122"/>
            </a:endParaRPr>
          </a:p>
        </p:txBody>
      </p:sp>
      <p:sp>
        <p:nvSpPr>
          <p:cNvPr id="81" name="Text Box 27"/>
          <p:cNvSpPr txBox="1">
            <a:spLocks noChangeArrowheads="1"/>
          </p:cNvSpPr>
          <p:nvPr/>
        </p:nvSpPr>
        <p:spPr bwMode="auto">
          <a:xfrm>
            <a:off x="1211580" y="3347720"/>
            <a:ext cx="133604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业务</a:t>
            </a:r>
            <a:r>
              <a:rPr lang="zh-CN" altLang="en-US" sz="800" dirty="0">
                <a:solidFill>
                  <a:srgbClr val="000000"/>
                </a:solidFill>
                <a:latin typeface="Heiti SC Light" panose="02000000000000000000" charset="-122"/>
                <a:ea typeface="Heiti SC Light" panose="02000000000000000000" charset="-122"/>
              </a:rPr>
              <a:t>资产覆盖</a:t>
            </a:r>
            <a:r>
              <a:rPr lang="zh-CN" altLang="en-US" sz="800" dirty="0">
                <a:solidFill>
                  <a:srgbClr val="000000"/>
                </a:solidFill>
                <a:latin typeface="Heiti SC Light" panose="02000000000000000000" charset="-122"/>
                <a:ea typeface="Heiti SC Light" panose="02000000000000000000" charset="-122"/>
              </a:rPr>
              <a:t>范围</a:t>
            </a:r>
            <a:endParaRPr lang="zh-CN" altLang="en-US" sz="800" dirty="0">
              <a:solidFill>
                <a:srgbClr val="000000"/>
              </a:solidFill>
              <a:latin typeface="Heiti SC Light" panose="02000000000000000000" charset="-122"/>
              <a:ea typeface="Heiti SC Light" panose="02000000000000000000" charset="-122"/>
            </a:endParaRPr>
          </a:p>
        </p:txBody>
      </p:sp>
      <p:sp>
        <p:nvSpPr>
          <p:cNvPr id="82" name="Text Box 27"/>
          <p:cNvSpPr txBox="1">
            <a:spLocks noChangeArrowheads="1"/>
          </p:cNvSpPr>
          <p:nvPr/>
        </p:nvSpPr>
        <p:spPr bwMode="auto">
          <a:xfrm>
            <a:off x="2964815" y="335216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安全保护</a:t>
            </a:r>
            <a:r>
              <a:rPr lang="zh-CN" altLang="en-US" sz="800" dirty="0">
                <a:solidFill>
                  <a:srgbClr val="000000"/>
                </a:solidFill>
                <a:latin typeface="Heiti SC Light" panose="02000000000000000000" charset="-122"/>
                <a:ea typeface="Heiti SC Light" panose="02000000000000000000" charset="-122"/>
              </a:rPr>
              <a:t>能力水平</a:t>
            </a:r>
            <a:endParaRPr lang="zh-CN" altLang="en-US" sz="800" dirty="0">
              <a:solidFill>
                <a:srgbClr val="000000"/>
              </a:solidFill>
              <a:latin typeface="Heiti SC Light" panose="02000000000000000000" charset="-122"/>
              <a:ea typeface="Heiti SC Light" panose="02000000000000000000" charset="-122"/>
            </a:endParaRPr>
          </a:p>
        </p:txBody>
      </p:sp>
      <p:sp>
        <p:nvSpPr>
          <p:cNvPr id="83" name="Text Box 27"/>
          <p:cNvSpPr txBox="1">
            <a:spLocks noChangeArrowheads="1"/>
          </p:cNvSpPr>
          <p:nvPr/>
        </p:nvSpPr>
        <p:spPr bwMode="auto">
          <a:xfrm>
            <a:off x="3479800" y="5644102"/>
            <a:ext cx="489585" cy="180340"/>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chor="ctr" anchorCtr="0">
            <a:noAutofit/>
          </a:bodyPr>
          <a:lstStyle/>
          <a:p>
            <a:pPr algn="ctr"/>
            <a:r>
              <a:rPr lang="en-US" altLang="zh-CN" sz="800" dirty="0">
                <a:solidFill>
                  <a:srgbClr val="000000"/>
                </a:solidFill>
                <a:latin typeface="Heiti SC Light" panose="02000000000000000000" charset="-122"/>
                <a:ea typeface="Heiti SC Light" panose="02000000000000000000" charset="-122"/>
              </a:rPr>
              <a:t>MSS</a:t>
            </a:r>
            <a:r>
              <a:rPr lang="zh-CN" altLang="en-US" sz="800" dirty="0">
                <a:solidFill>
                  <a:srgbClr val="000000"/>
                </a:solidFill>
                <a:latin typeface="Heiti SC Light" panose="02000000000000000000" charset="-122"/>
                <a:ea typeface="Heiti SC Light" panose="02000000000000000000" charset="-122"/>
              </a:rPr>
              <a:t>服务</a:t>
            </a:r>
            <a:endParaRPr lang="zh-CN" altLang="en-US" sz="800" dirty="0">
              <a:solidFill>
                <a:srgbClr val="000000"/>
              </a:solidFill>
              <a:latin typeface="Heiti SC Light" panose="02000000000000000000" charset="-122"/>
              <a:ea typeface="Heiti SC Light" panose="02000000000000000000" charset="-122"/>
            </a:endParaRPr>
          </a:p>
        </p:txBody>
      </p:sp>
      <p:pic>
        <p:nvPicPr>
          <p:cNvPr id="84" name="图片 83"/>
          <p:cNvPicPr/>
          <p:nvPr/>
        </p:nvPicPr>
        <p:blipFill>
          <a:blip r:embed="rId12"/>
          <a:stretch>
            <a:fillRect/>
          </a:stretch>
        </p:blipFill>
        <p:spPr>
          <a:xfrm>
            <a:off x="3101767" y="5585559"/>
            <a:ext cx="288000" cy="288000"/>
          </a:xfrm>
          <a:prstGeom prst="rect">
            <a:avLst/>
          </a:prstGeom>
        </p:spPr>
      </p:pic>
      <p:pic>
        <p:nvPicPr>
          <p:cNvPr id="85" name="图片 8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99703" y="5628036"/>
            <a:ext cx="360745" cy="251460"/>
          </a:xfrm>
          <a:prstGeom prst="rect">
            <a:avLst/>
          </a:prstGeom>
        </p:spPr>
      </p:pic>
      <p:pic>
        <p:nvPicPr>
          <p:cNvPr id="87" name="图片 86"/>
          <p:cNvPicPr/>
          <p:nvPr/>
        </p:nvPicPr>
        <p:blipFill>
          <a:blip r:embed="rId8"/>
          <a:stretch>
            <a:fillRect/>
          </a:stretch>
        </p:blipFill>
        <p:spPr>
          <a:xfrm>
            <a:off x="6890702" y="4762895"/>
            <a:ext cx="288000" cy="288290"/>
          </a:xfrm>
          <a:prstGeom prst="rect">
            <a:avLst/>
          </a:prstGeom>
        </p:spPr>
      </p:pic>
      <p:pic>
        <p:nvPicPr>
          <p:cNvPr id="88" name="图片 87"/>
          <p:cNvPicPr/>
          <p:nvPr/>
        </p:nvPicPr>
        <p:blipFill>
          <a:blip r:embed="rId9"/>
          <a:stretch>
            <a:fillRect/>
          </a:stretch>
        </p:blipFill>
        <p:spPr>
          <a:xfrm>
            <a:off x="6890875" y="3943400"/>
            <a:ext cx="287655" cy="288000"/>
          </a:xfrm>
          <a:prstGeom prst="rect">
            <a:avLst/>
          </a:prstGeom>
        </p:spPr>
      </p:pic>
      <p:sp>
        <p:nvSpPr>
          <p:cNvPr id="89" name="Text Box 27"/>
          <p:cNvSpPr txBox="1">
            <a:spLocks noChangeArrowheads="1"/>
          </p:cNvSpPr>
          <p:nvPr/>
        </p:nvSpPr>
        <p:spPr bwMode="auto">
          <a:xfrm>
            <a:off x="7268210" y="3989070"/>
            <a:ext cx="490855" cy="15938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oAutofit/>
          </a:bodyPr>
          <a:lstStyle/>
          <a:p>
            <a:pPr algn="ctr"/>
            <a:r>
              <a:rPr lang="zh-CN" altLang="en-US" sz="800" dirty="0">
                <a:solidFill>
                  <a:srgbClr val="000000"/>
                </a:solidFill>
                <a:latin typeface="Heiti SC Light" panose="02000000000000000000" charset="-122"/>
                <a:ea typeface="Heiti SC Light" panose="02000000000000000000" charset="-122"/>
              </a:rPr>
              <a:t>流量</a:t>
            </a:r>
            <a:r>
              <a:rPr lang="zh-CN" altLang="en-US" sz="800" dirty="0">
                <a:solidFill>
                  <a:srgbClr val="000000"/>
                </a:solidFill>
                <a:latin typeface="Heiti SC Light" panose="02000000000000000000" charset="-122"/>
                <a:ea typeface="Heiti SC Light" panose="02000000000000000000" charset="-122"/>
              </a:rPr>
              <a:t>监测</a:t>
            </a:r>
            <a:endParaRPr lang="zh-CN" altLang="en-US" sz="800" dirty="0">
              <a:solidFill>
                <a:srgbClr val="000000"/>
              </a:solidFill>
              <a:latin typeface="Heiti SC Light" panose="02000000000000000000" charset="-122"/>
              <a:ea typeface="Heiti SC Light" panose="02000000000000000000" charset="-122"/>
            </a:endParaRPr>
          </a:p>
        </p:txBody>
      </p:sp>
      <p:sp>
        <p:nvSpPr>
          <p:cNvPr id="90" name="Text Box 27"/>
          <p:cNvSpPr txBox="1">
            <a:spLocks noChangeArrowheads="1"/>
          </p:cNvSpPr>
          <p:nvPr/>
        </p:nvSpPr>
        <p:spPr bwMode="auto">
          <a:xfrm>
            <a:off x="5461635" y="561467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办公</a:t>
            </a:r>
            <a:r>
              <a:rPr lang="en-US" altLang="zh-CN" sz="800" dirty="0">
                <a:solidFill>
                  <a:srgbClr val="000000"/>
                </a:solidFill>
                <a:latin typeface="Heiti SC Light" panose="02000000000000000000" charset="-122"/>
                <a:ea typeface="Heiti SC Light" panose="02000000000000000000" charset="-122"/>
              </a:rPr>
              <a:t>PC</a:t>
            </a:r>
            <a:r>
              <a:rPr lang="zh-CN" altLang="en-US" sz="800" dirty="0">
                <a:solidFill>
                  <a:srgbClr val="000000"/>
                </a:solidFill>
                <a:latin typeface="Heiti SC Light" panose="02000000000000000000" charset="-122"/>
                <a:ea typeface="Heiti SC Light" panose="02000000000000000000" charset="-122"/>
              </a:rPr>
              <a:t>：</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91" name="图片 90"/>
          <p:cNvPicPr/>
          <p:nvPr/>
        </p:nvPicPr>
        <p:blipFill>
          <a:blip r:embed="rId11">
            <a:extLst>
              <a:ext uri="{28A0092B-C50C-407E-A947-70E740481C1C}">
                <a14:useLocalDpi xmlns:a14="http://schemas.microsoft.com/office/drawing/2010/main" val="0"/>
              </a:ext>
            </a:extLst>
          </a:blip>
          <a:stretch>
            <a:fillRect/>
          </a:stretch>
        </p:blipFill>
        <p:spPr>
          <a:xfrm>
            <a:off x="5000714" y="3912946"/>
            <a:ext cx="360000" cy="360000"/>
          </a:xfrm>
          <a:prstGeom prst="rect">
            <a:avLst/>
          </a:prstGeom>
        </p:spPr>
      </p:pic>
      <p:pic>
        <p:nvPicPr>
          <p:cNvPr id="92" name="图片 91"/>
          <p:cNvPicPr/>
          <p:nvPr/>
        </p:nvPicPr>
        <p:blipFill>
          <a:blip r:embed="rId11">
            <a:extLst>
              <a:ext uri="{28A0092B-C50C-407E-A947-70E740481C1C}">
                <a14:useLocalDpi xmlns:a14="http://schemas.microsoft.com/office/drawing/2010/main" val="0"/>
              </a:ext>
            </a:extLst>
          </a:blip>
          <a:stretch>
            <a:fillRect/>
          </a:stretch>
        </p:blipFill>
        <p:spPr>
          <a:xfrm>
            <a:off x="5000650" y="4485036"/>
            <a:ext cx="360000" cy="359410"/>
          </a:xfrm>
          <a:prstGeom prst="rect">
            <a:avLst/>
          </a:prstGeom>
        </p:spPr>
      </p:pic>
      <p:sp>
        <p:nvSpPr>
          <p:cNvPr id="93" name="Text Box 27"/>
          <p:cNvSpPr txBox="1">
            <a:spLocks noChangeArrowheads="1"/>
          </p:cNvSpPr>
          <p:nvPr/>
        </p:nvSpPr>
        <p:spPr bwMode="auto">
          <a:xfrm>
            <a:off x="5412740" y="391731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生产系统：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94" name="Text Box 27"/>
          <p:cNvSpPr txBox="1">
            <a:spLocks noChangeArrowheads="1"/>
          </p:cNvSpPr>
          <p:nvPr/>
        </p:nvSpPr>
        <p:spPr bwMode="auto">
          <a:xfrm>
            <a:off x="5412740" y="448310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研发系统：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95" name="图片 94"/>
          <p:cNvPicPr/>
          <p:nvPr/>
        </p:nvPicPr>
        <p:blipFill>
          <a:blip r:embed="rId11">
            <a:extLst>
              <a:ext uri="{28A0092B-C50C-407E-A947-70E740481C1C}">
                <a14:useLocalDpi xmlns:a14="http://schemas.microsoft.com/office/drawing/2010/main" val="0"/>
              </a:ext>
            </a:extLst>
          </a:blip>
          <a:stretch>
            <a:fillRect/>
          </a:stretch>
        </p:blipFill>
        <p:spPr>
          <a:xfrm>
            <a:off x="5000650" y="5056536"/>
            <a:ext cx="360000" cy="359410"/>
          </a:xfrm>
          <a:prstGeom prst="rect">
            <a:avLst/>
          </a:prstGeom>
        </p:spPr>
      </p:pic>
      <p:sp>
        <p:nvSpPr>
          <p:cNvPr id="96" name="Text Box 27"/>
          <p:cNvSpPr txBox="1">
            <a:spLocks noChangeArrowheads="1"/>
          </p:cNvSpPr>
          <p:nvPr/>
        </p:nvSpPr>
        <p:spPr bwMode="auto">
          <a:xfrm>
            <a:off x="5412740" y="504888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办公系统：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97" name="Text Box 27"/>
          <p:cNvSpPr txBox="1">
            <a:spLocks noChangeArrowheads="1"/>
          </p:cNvSpPr>
          <p:nvPr/>
        </p:nvSpPr>
        <p:spPr bwMode="auto">
          <a:xfrm>
            <a:off x="7268210" y="4837430"/>
            <a:ext cx="490855" cy="12255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边界</a:t>
            </a:r>
            <a:r>
              <a:rPr lang="zh-CN" altLang="en-US" sz="800" dirty="0">
                <a:solidFill>
                  <a:srgbClr val="000000"/>
                </a:solidFill>
                <a:latin typeface="Heiti SC Light" panose="02000000000000000000" charset="-122"/>
                <a:ea typeface="Heiti SC Light" panose="02000000000000000000" charset="-122"/>
              </a:rPr>
              <a:t>防护</a:t>
            </a:r>
            <a:endParaRPr lang="zh-CN" altLang="en-US" sz="800" dirty="0">
              <a:solidFill>
                <a:srgbClr val="000000"/>
              </a:solidFill>
              <a:latin typeface="Heiti SC Light" panose="02000000000000000000" charset="-122"/>
              <a:ea typeface="Heiti SC Light" panose="02000000000000000000" charset="-122"/>
            </a:endParaRPr>
          </a:p>
        </p:txBody>
      </p:sp>
      <p:sp>
        <p:nvSpPr>
          <p:cNvPr id="98" name="Text Box 27"/>
          <p:cNvSpPr txBox="1">
            <a:spLocks noChangeArrowheads="1"/>
          </p:cNvSpPr>
          <p:nvPr/>
        </p:nvSpPr>
        <p:spPr bwMode="auto">
          <a:xfrm>
            <a:off x="7268210" y="5649182"/>
            <a:ext cx="489585" cy="180340"/>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nchor="ctr" anchorCtr="0">
            <a:noAutofit/>
          </a:bodyPr>
          <a:lstStyle/>
          <a:p>
            <a:pPr algn="ctr"/>
            <a:r>
              <a:rPr lang="en-US" altLang="zh-CN" sz="800" dirty="0">
                <a:solidFill>
                  <a:srgbClr val="000000"/>
                </a:solidFill>
                <a:latin typeface="Heiti SC Light" panose="02000000000000000000" charset="-122"/>
                <a:ea typeface="Heiti SC Light" panose="02000000000000000000" charset="-122"/>
              </a:rPr>
              <a:t>MSS</a:t>
            </a:r>
            <a:r>
              <a:rPr lang="zh-CN" altLang="en-US" sz="800" dirty="0">
                <a:solidFill>
                  <a:srgbClr val="000000"/>
                </a:solidFill>
                <a:latin typeface="Heiti SC Light" panose="02000000000000000000" charset="-122"/>
                <a:ea typeface="Heiti SC Light" panose="02000000000000000000" charset="-122"/>
              </a:rPr>
              <a:t>服务</a:t>
            </a:r>
            <a:endParaRPr lang="zh-CN" altLang="en-US" sz="800" dirty="0">
              <a:solidFill>
                <a:srgbClr val="000000"/>
              </a:solidFill>
              <a:latin typeface="Heiti SC Light" panose="02000000000000000000" charset="-122"/>
              <a:ea typeface="Heiti SC Light" panose="02000000000000000000" charset="-122"/>
            </a:endParaRPr>
          </a:p>
        </p:txBody>
      </p:sp>
      <p:pic>
        <p:nvPicPr>
          <p:cNvPr id="99" name="图片 98"/>
          <p:cNvPicPr/>
          <p:nvPr/>
        </p:nvPicPr>
        <p:blipFill>
          <a:blip r:embed="rId12"/>
          <a:stretch>
            <a:fillRect/>
          </a:stretch>
        </p:blipFill>
        <p:spPr>
          <a:xfrm>
            <a:off x="6890177" y="5590639"/>
            <a:ext cx="288000" cy="288000"/>
          </a:xfrm>
          <a:prstGeom prst="rect">
            <a:avLst/>
          </a:prstGeom>
        </p:spPr>
      </p:pic>
      <p:sp>
        <p:nvSpPr>
          <p:cNvPr id="100" name="Text Box 27"/>
          <p:cNvSpPr txBox="1">
            <a:spLocks noChangeArrowheads="1"/>
          </p:cNvSpPr>
          <p:nvPr/>
        </p:nvSpPr>
        <p:spPr bwMode="auto">
          <a:xfrm>
            <a:off x="5033010" y="3352165"/>
            <a:ext cx="133604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业务</a:t>
            </a:r>
            <a:r>
              <a:rPr lang="zh-CN" altLang="en-US" sz="800" dirty="0">
                <a:solidFill>
                  <a:srgbClr val="000000"/>
                </a:solidFill>
                <a:latin typeface="Heiti SC Light" panose="02000000000000000000" charset="-122"/>
                <a:ea typeface="Heiti SC Light" panose="02000000000000000000" charset="-122"/>
              </a:rPr>
              <a:t>资产覆盖</a:t>
            </a:r>
            <a:r>
              <a:rPr lang="zh-CN" altLang="en-US" sz="800" dirty="0">
                <a:solidFill>
                  <a:srgbClr val="000000"/>
                </a:solidFill>
                <a:latin typeface="Heiti SC Light" panose="02000000000000000000" charset="-122"/>
                <a:ea typeface="Heiti SC Light" panose="02000000000000000000" charset="-122"/>
              </a:rPr>
              <a:t>范围</a:t>
            </a:r>
            <a:endParaRPr lang="zh-CN" altLang="en-US" sz="800" dirty="0">
              <a:solidFill>
                <a:srgbClr val="000000"/>
              </a:solidFill>
              <a:latin typeface="Heiti SC Light" panose="02000000000000000000" charset="-122"/>
              <a:ea typeface="Heiti SC Light" panose="02000000000000000000" charset="-122"/>
            </a:endParaRPr>
          </a:p>
        </p:txBody>
      </p:sp>
      <p:sp>
        <p:nvSpPr>
          <p:cNvPr id="101" name="Text Box 27"/>
          <p:cNvSpPr txBox="1">
            <a:spLocks noChangeArrowheads="1"/>
          </p:cNvSpPr>
          <p:nvPr/>
        </p:nvSpPr>
        <p:spPr bwMode="auto">
          <a:xfrm>
            <a:off x="6786245" y="335661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安全保护</a:t>
            </a:r>
            <a:r>
              <a:rPr lang="zh-CN" altLang="en-US" sz="800" dirty="0">
                <a:solidFill>
                  <a:srgbClr val="000000"/>
                </a:solidFill>
                <a:latin typeface="Heiti SC Light" panose="02000000000000000000" charset="-122"/>
                <a:ea typeface="Heiti SC Light" panose="02000000000000000000" charset="-122"/>
              </a:rPr>
              <a:t>能力水平</a:t>
            </a:r>
            <a:endParaRPr lang="zh-CN" altLang="en-US" sz="800" dirty="0">
              <a:solidFill>
                <a:srgbClr val="000000"/>
              </a:solidFill>
              <a:latin typeface="Heiti SC Light" panose="02000000000000000000" charset="-122"/>
              <a:ea typeface="Heiti SC Light" panose="02000000000000000000" charset="-122"/>
            </a:endParaRPr>
          </a:p>
        </p:txBody>
      </p:sp>
      <p:sp>
        <p:nvSpPr>
          <p:cNvPr id="102" name="Text Box 27"/>
          <p:cNvSpPr txBox="1">
            <a:spLocks noChangeArrowheads="1"/>
          </p:cNvSpPr>
          <p:nvPr/>
        </p:nvSpPr>
        <p:spPr bwMode="auto">
          <a:xfrm>
            <a:off x="6786245" y="5117465"/>
            <a:ext cx="1623695" cy="398780"/>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1000" dirty="0">
                <a:solidFill>
                  <a:srgbClr val="000000"/>
                </a:solidFill>
                <a:highlight>
                  <a:srgbClr val="FFFF00"/>
                </a:highlight>
                <a:latin typeface="Heiti SC Light" panose="02000000000000000000" charset="-122"/>
                <a:ea typeface="Heiti SC Light" panose="02000000000000000000" charset="-122"/>
              </a:rPr>
              <a:t>根据实际情况体现缺失的安全能力部分</a:t>
            </a:r>
            <a:endParaRPr lang="zh-CN" altLang="en-US" sz="1000" dirty="0">
              <a:solidFill>
                <a:srgbClr val="000000"/>
              </a:solidFill>
              <a:highlight>
                <a:srgbClr val="FFFF00"/>
              </a:highlight>
              <a:latin typeface="Heiti SC Light" panose="02000000000000000000" charset="-122"/>
              <a:ea typeface="Heiti SC Light" panose="02000000000000000000" charset="-122"/>
            </a:endParaRPr>
          </a:p>
        </p:txBody>
      </p:sp>
      <p:sp>
        <p:nvSpPr>
          <p:cNvPr id="103" name="Text Box 27"/>
          <p:cNvSpPr txBox="1">
            <a:spLocks noChangeArrowheads="1"/>
          </p:cNvSpPr>
          <p:nvPr/>
        </p:nvSpPr>
        <p:spPr bwMode="auto">
          <a:xfrm>
            <a:off x="8296749" y="3347523"/>
            <a:ext cx="430821" cy="8299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1200" dirty="0">
                <a:solidFill>
                  <a:srgbClr val="FF0000"/>
                </a:solidFill>
                <a:latin typeface="Heiti SC Light" panose="02000000000000000000" charset="-122"/>
                <a:ea typeface="Heiti SC Light" panose="02000000000000000000" charset="-122"/>
              </a:rPr>
              <a:t>安全</a:t>
            </a:r>
            <a:r>
              <a:rPr lang="zh-CN" altLang="en-US" sz="1200" dirty="0">
                <a:solidFill>
                  <a:srgbClr val="FF0000"/>
                </a:solidFill>
                <a:latin typeface="Heiti SC Light" panose="02000000000000000000" charset="-122"/>
                <a:ea typeface="Heiti SC Light" panose="02000000000000000000" charset="-122"/>
              </a:rPr>
              <a:t>红区</a:t>
            </a:r>
            <a:endParaRPr lang="zh-CN" altLang="en-US" sz="1200" dirty="0">
              <a:solidFill>
                <a:srgbClr val="FF0000"/>
              </a:solidFill>
              <a:latin typeface="Heiti SC Light" panose="02000000000000000000" charset="-122"/>
              <a:ea typeface="Heiti SC Light" panose="02000000000000000000" charset="-122"/>
            </a:endParaRPr>
          </a:p>
        </p:txBody>
      </p:sp>
      <p:pic>
        <p:nvPicPr>
          <p:cNvPr id="104" name="图片 10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60173" y="4916836"/>
            <a:ext cx="360745" cy="251460"/>
          </a:xfrm>
          <a:prstGeom prst="rect">
            <a:avLst/>
          </a:prstGeom>
        </p:spPr>
      </p:pic>
      <p:sp>
        <p:nvSpPr>
          <p:cNvPr id="105" name="Text Box 27"/>
          <p:cNvSpPr txBox="1">
            <a:spLocks noChangeArrowheads="1"/>
          </p:cNvSpPr>
          <p:nvPr/>
        </p:nvSpPr>
        <p:spPr bwMode="auto">
          <a:xfrm>
            <a:off x="9222105" y="4903470"/>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办公</a:t>
            </a:r>
            <a:r>
              <a:rPr lang="en-US" altLang="zh-CN" sz="800" dirty="0">
                <a:solidFill>
                  <a:srgbClr val="000000"/>
                </a:solidFill>
                <a:latin typeface="Heiti SC Light" panose="02000000000000000000" charset="-122"/>
                <a:ea typeface="Heiti SC Light" panose="02000000000000000000" charset="-122"/>
              </a:rPr>
              <a:t>PC</a:t>
            </a:r>
            <a:r>
              <a:rPr lang="zh-CN" altLang="en-US" sz="800" dirty="0">
                <a:solidFill>
                  <a:srgbClr val="000000"/>
                </a:solidFill>
                <a:latin typeface="Heiti SC Light" panose="02000000000000000000" charset="-122"/>
                <a:ea typeface="Heiti SC Light" panose="02000000000000000000" charset="-122"/>
              </a:rPr>
              <a:t>：</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pic>
        <p:nvPicPr>
          <p:cNvPr id="106" name="图片 105"/>
          <p:cNvPicPr/>
          <p:nvPr/>
        </p:nvPicPr>
        <p:blipFill>
          <a:blip r:embed="rId11">
            <a:extLst>
              <a:ext uri="{28A0092B-C50C-407E-A947-70E740481C1C}">
                <a14:useLocalDpi xmlns:a14="http://schemas.microsoft.com/office/drawing/2010/main" val="0"/>
              </a:ext>
            </a:extLst>
          </a:blip>
          <a:stretch>
            <a:fillRect/>
          </a:stretch>
        </p:blipFill>
        <p:spPr>
          <a:xfrm>
            <a:off x="8761120" y="4345336"/>
            <a:ext cx="360000" cy="359410"/>
          </a:xfrm>
          <a:prstGeom prst="rect">
            <a:avLst/>
          </a:prstGeom>
        </p:spPr>
      </p:pic>
      <p:sp>
        <p:nvSpPr>
          <p:cNvPr id="107" name="Text Box 27"/>
          <p:cNvSpPr txBox="1">
            <a:spLocks noChangeArrowheads="1"/>
          </p:cNvSpPr>
          <p:nvPr/>
        </p:nvSpPr>
        <p:spPr bwMode="auto">
          <a:xfrm>
            <a:off x="9173210" y="433768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ctr"/>
            <a:r>
              <a:rPr lang="zh-CN" altLang="en-US" sz="800" dirty="0">
                <a:solidFill>
                  <a:srgbClr val="000000"/>
                </a:solidFill>
                <a:latin typeface="Heiti SC Light" panose="02000000000000000000" charset="-122"/>
                <a:ea typeface="Heiti SC Light" panose="02000000000000000000" charset="-122"/>
              </a:rPr>
              <a:t>办公系统：</a:t>
            </a:r>
            <a:r>
              <a:rPr lang="en-US" altLang="zh-CN" sz="800" dirty="0">
                <a:solidFill>
                  <a:srgbClr val="000000"/>
                </a:solidFill>
                <a:latin typeface="Heiti SC Light" panose="02000000000000000000" charset="-122"/>
                <a:ea typeface="Heiti SC Light" panose="02000000000000000000" charset="-122"/>
              </a:rPr>
              <a:t>XX</a:t>
            </a:r>
            <a:r>
              <a:rPr lang="zh-CN" altLang="en-US" sz="800" dirty="0">
                <a:solidFill>
                  <a:srgbClr val="000000"/>
                </a:solidFill>
                <a:latin typeface="Heiti SC Light" panose="02000000000000000000" charset="-122"/>
                <a:ea typeface="Heiti SC Light" panose="02000000000000000000" charset="-122"/>
              </a:rPr>
              <a:t>资产</a:t>
            </a:r>
            <a:endParaRPr lang="zh-CN" altLang="en-US" sz="800" dirty="0">
              <a:solidFill>
                <a:srgbClr val="000000"/>
              </a:solidFill>
              <a:latin typeface="Heiti SC Light" panose="02000000000000000000" charset="-122"/>
              <a:ea typeface="Heiti SC Light" panose="02000000000000000000" charset="-122"/>
            </a:endParaRPr>
          </a:p>
        </p:txBody>
      </p:sp>
      <p:sp>
        <p:nvSpPr>
          <p:cNvPr id="108" name="Text Box 27"/>
          <p:cNvSpPr txBox="1">
            <a:spLocks noChangeArrowheads="1"/>
          </p:cNvSpPr>
          <p:nvPr/>
        </p:nvSpPr>
        <p:spPr bwMode="auto">
          <a:xfrm>
            <a:off x="10995660" y="4623435"/>
            <a:ext cx="490855" cy="12255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边界</a:t>
            </a:r>
            <a:r>
              <a:rPr lang="zh-CN" altLang="en-US" sz="800" dirty="0">
                <a:solidFill>
                  <a:srgbClr val="000000"/>
                </a:solidFill>
                <a:latin typeface="Heiti SC Light" panose="02000000000000000000" charset="-122"/>
                <a:ea typeface="Heiti SC Light" panose="02000000000000000000" charset="-122"/>
              </a:rPr>
              <a:t>保护</a:t>
            </a:r>
            <a:endParaRPr lang="zh-CN" altLang="en-US" sz="800" dirty="0">
              <a:solidFill>
                <a:srgbClr val="000000"/>
              </a:solidFill>
              <a:latin typeface="Heiti SC Light" panose="02000000000000000000" charset="-122"/>
              <a:ea typeface="Heiti SC Light" panose="02000000000000000000" charset="-122"/>
            </a:endParaRPr>
          </a:p>
        </p:txBody>
      </p:sp>
      <p:sp>
        <p:nvSpPr>
          <p:cNvPr id="109" name="Text Box 27"/>
          <p:cNvSpPr txBox="1">
            <a:spLocks noChangeArrowheads="1"/>
          </p:cNvSpPr>
          <p:nvPr/>
        </p:nvSpPr>
        <p:spPr bwMode="auto">
          <a:xfrm>
            <a:off x="8760460" y="3398520"/>
            <a:ext cx="133604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业务</a:t>
            </a:r>
            <a:r>
              <a:rPr lang="zh-CN" altLang="en-US" sz="800" dirty="0">
                <a:solidFill>
                  <a:srgbClr val="000000"/>
                </a:solidFill>
                <a:latin typeface="Heiti SC Light" panose="02000000000000000000" charset="-122"/>
                <a:ea typeface="Heiti SC Light" panose="02000000000000000000" charset="-122"/>
              </a:rPr>
              <a:t>资产覆盖</a:t>
            </a:r>
            <a:r>
              <a:rPr lang="zh-CN" altLang="en-US" sz="800" dirty="0">
                <a:solidFill>
                  <a:srgbClr val="000000"/>
                </a:solidFill>
                <a:latin typeface="Heiti SC Light" panose="02000000000000000000" charset="-122"/>
                <a:ea typeface="Heiti SC Light" panose="02000000000000000000" charset="-122"/>
              </a:rPr>
              <a:t>范围</a:t>
            </a:r>
            <a:endParaRPr lang="zh-CN" altLang="en-US" sz="800" dirty="0">
              <a:solidFill>
                <a:srgbClr val="000000"/>
              </a:solidFill>
              <a:latin typeface="Heiti SC Light" panose="02000000000000000000" charset="-122"/>
              <a:ea typeface="Heiti SC Light" panose="02000000000000000000" charset="-122"/>
            </a:endParaRPr>
          </a:p>
        </p:txBody>
      </p:sp>
      <p:sp>
        <p:nvSpPr>
          <p:cNvPr id="113" name="Text Box 27"/>
          <p:cNvSpPr txBox="1">
            <a:spLocks noChangeArrowheads="1"/>
          </p:cNvSpPr>
          <p:nvPr/>
        </p:nvSpPr>
        <p:spPr bwMode="auto">
          <a:xfrm>
            <a:off x="10513695" y="3402965"/>
            <a:ext cx="1106170" cy="21399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a:spAutoFit/>
          </a:bodyPr>
          <a:lstStyle/>
          <a:p>
            <a:pPr algn="l"/>
            <a:r>
              <a:rPr lang="zh-CN" altLang="en-US" sz="800" dirty="0">
                <a:solidFill>
                  <a:srgbClr val="000000"/>
                </a:solidFill>
                <a:latin typeface="Heiti SC Light" panose="02000000000000000000" charset="-122"/>
                <a:ea typeface="Heiti SC Light" panose="02000000000000000000" charset="-122"/>
              </a:rPr>
              <a:t>安全保护</a:t>
            </a:r>
            <a:r>
              <a:rPr lang="zh-CN" altLang="en-US" sz="800" dirty="0">
                <a:solidFill>
                  <a:srgbClr val="000000"/>
                </a:solidFill>
                <a:latin typeface="Heiti SC Light" panose="02000000000000000000" charset="-122"/>
                <a:ea typeface="Heiti SC Light" panose="02000000000000000000" charset="-122"/>
              </a:rPr>
              <a:t>能力水平</a:t>
            </a:r>
            <a:endParaRPr lang="zh-CN" altLang="en-US" sz="800" dirty="0">
              <a:solidFill>
                <a:srgbClr val="000000"/>
              </a:solidFill>
              <a:latin typeface="Heiti SC Light" panose="02000000000000000000" charset="-122"/>
              <a:ea typeface="Heiti SC Light" panose="02000000000000000000" charset="-122"/>
            </a:endParaRPr>
          </a:p>
        </p:txBody>
      </p:sp>
      <p:pic>
        <p:nvPicPr>
          <p:cNvPr id="114" name="图片 113"/>
          <p:cNvPicPr/>
          <p:nvPr/>
        </p:nvPicPr>
        <p:blipFill>
          <a:blip r:embed="rId13"/>
          <a:stretch>
            <a:fillRect/>
          </a:stretch>
        </p:blipFill>
        <p:spPr>
          <a:xfrm flipH="1">
            <a:off x="3101434" y="5168175"/>
            <a:ext cx="288000" cy="288000"/>
          </a:xfrm>
          <a:prstGeom prst="rect">
            <a:avLst/>
          </a:prstGeom>
        </p:spPr>
      </p:pic>
      <p:sp>
        <p:nvSpPr>
          <p:cNvPr id="115" name="Text Box 27"/>
          <p:cNvSpPr txBox="1">
            <a:spLocks noChangeArrowheads="1"/>
          </p:cNvSpPr>
          <p:nvPr/>
        </p:nvSpPr>
        <p:spPr bwMode="auto">
          <a:xfrm>
            <a:off x="3479800" y="5191125"/>
            <a:ext cx="490855" cy="245745"/>
          </a:xfrm>
          <a:prstGeom prst="rect">
            <a:avLst/>
          </a:prstGeom>
          <a:noFill/>
          <a:ln>
            <a:noFill/>
          </a:ln>
          <a:effectLst/>
          <a:extLst>
            <a:ext uri="{909E8E84-426E-40DD-AFC4-6F175D3DCCD1}">
              <a14:hiddenFill xmlns:a14="http://schemas.microsoft.com/office/drawing/2010/main">
                <a:solidFill>
                  <a:srgbClr val="4472C4"/>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7E6E6"/>
                  </a:outerShdw>
                </a:effectLst>
              </a14:hiddenEffects>
            </a:ext>
          </a:extLst>
        </p:spPr>
        <p:txBody>
          <a:bodyPr wrap="square" lIns="0" tIns="0" rIns="0" bIns="0">
            <a:spAutoFit/>
          </a:bodyPr>
          <a:lstStyle/>
          <a:p>
            <a:pPr algn="ctr"/>
            <a:r>
              <a:rPr lang="zh-CN" altLang="en-US" sz="800" dirty="0">
                <a:solidFill>
                  <a:srgbClr val="000000"/>
                </a:solidFill>
                <a:latin typeface="Heiti SC Light" panose="02000000000000000000" charset="-122"/>
                <a:ea typeface="Heiti SC Light" panose="02000000000000000000" charset="-122"/>
              </a:rPr>
              <a:t>安全运营</a:t>
            </a:r>
            <a:r>
              <a:rPr lang="zh-CN" altLang="en-US" sz="800" dirty="0">
                <a:solidFill>
                  <a:srgbClr val="000000"/>
                </a:solidFill>
                <a:latin typeface="Heiti SC Light" panose="02000000000000000000" charset="-122"/>
                <a:ea typeface="Heiti SC Light" panose="02000000000000000000" charset="-122"/>
              </a:rPr>
              <a:t>平台</a:t>
            </a:r>
            <a:endParaRPr lang="zh-CN" altLang="en-US" sz="800" dirty="0">
              <a:solidFill>
                <a:srgbClr val="000000"/>
              </a:solidFill>
              <a:latin typeface="Heiti SC Light" panose="02000000000000000000" charset="-122"/>
              <a:ea typeface="Heiti SC Light" panose="02000000000000000000" charset="-122"/>
            </a:endParaRPr>
          </a:p>
        </p:txBody>
      </p:sp>
      <p:pic>
        <p:nvPicPr>
          <p:cNvPr id="116" name="图片 115"/>
          <p:cNvPicPr/>
          <p:nvPr/>
        </p:nvPicPr>
        <p:blipFill>
          <a:blip r:embed="rId14">
            <a:extLst>
              <a:ext uri="{28A0092B-C50C-407E-A947-70E740481C1C}">
                <a14:useLocalDpi xmlns:a14="http://schemas.microsoft.com/office/drawing/2010/main" val="0"/>
              </a:ext>
            </a:extLst>
          </a:blip>
          <a:stretch>
            <a:fillRect/>
          </a:stretch>
        </p:blipFill>
        <p:spPr>
          <a:xfrm>
            <a:off x="10617622" y="4544244"/>
            <a:ext cx="288000" cy="288000"/>
          </a:xfrm>
          <a:prstGeom prst="rect">
            <a:avLst/>
          </a:prstGeom>
        </p:spPr>
      </p:pic>
      <p:sp>
        <p:nvSpPr>
          <p:cNvPr id="119" name="Text 10"/>
          <p:cNvSpPr/>
          <p:nvPr/>
        </p:nvSpPr>
        <p:spPr>
          <a:xfrm>
            <a:off x="884555" y="5998210"/>
            <a:ext cx="3048000" cy="426720"/>
          </a:xfrm>
          <a:prstGeom prst="rect">
            <a:avLst/>
          </a:prstGeom>
          <a:noFill/>
        </p:spPr>
        <p:txBody>
          <a:bodyPr wrap="square" rtlCol="0" anchor="ctr"/>
          <a:lstStyle/>
          <a:p>
            <a:pPr marL="0" indent="0" algn="ctr">
              <a:buNone/>
            </a:pP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具备相对完善的主动安全</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保护能力</a:t>
            </a:r>
            <a:endPar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endParaRPr>
          </a:p>
        </p:txBody>
      </p:sp>
      <p:sp>
        <p:nvSpPr>
          <p:cNvPr id="120" name="Text 10"/>
          <p:cNvSpPr/>
          <p:nvPr/>
        </p:nvSpPr>
        <p:spPr>
          <a:xfrm>
            <a:off x="4711065" y="5998210"/>
            <a:ext cx="3180715" cy="426720"/>
          </a:xfrm>
          <a:prstGeom prst="rect">
            <a:avLst/>
          </a:prstGeom>
          <a:noFill/>
        </p:spPr>
        <p:txBody>
          <a:bodyPr wrap="square" rtlCol="0" anchor="ctr"/>
          <a:lstStyle/>
          <a:p>
            <a:pPr marL="0" indent="0" algn="ctr">
              <a:buNone/>
            </a:pP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安全防护</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组件部分缺失或监测响应能力</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缺失</a:t>
            </a:r>
            <a:endPar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endParaRPr>
          </a:p>
        </p:txBody>
      </p:sp>
      <p:sp>
        <p:nvSpPr>
          <p:cNvPr id="121" name="Text 10"/>
          <p:cNvSpPr/>
          <p:nvPr/>
        </p:nvSpPr>
        <p:spPr>
          <a:xfrm>
            <a:off x="8439150" y="5998210"/>
            <a:ext cx="3180715" cy="426720"/>
          </a:xfrm>
          <a:prstGeom prst="rect">
            <a:avLst/>
          </a:prstGeom>
          <a:noFill/>
        </p:spPr>
        <p:txBody>
          <a:bodyPr wrap="square" rtlCol="0" anchor="ctr"/>
          <a:lstStyle/>
          <a:p>
            <a:pPr marL="0" indent="0" algn="ctr">
              <a:buNone/>
            </a:pP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仅有基础的边界防护</a:t>
            </a:r>
            <a:r>
              <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rPr>
              <a:t>能力</a:t>
            </a:r>
            <a:endParaRPr lang="zh-CN" altLang="en-US" sz="1200" dirty="0">
              <a:solidFill>
                <a:srgbClr val="000000"/>
              </a:solidFill>
              <a:latin typeface="微软雅黑" panose="020B0503020204020204" charset="-122"/>
              <a:ea typeface="微软雅黑" panose="020B0503020204020204" charset="-122"/>
              <a:cs typeface="微软雅黑" panose="020B0503020204020204" pitchFamily="34" charset="-120"/>
            </a:endParaRPr>
          </a:p>
        </p:txBody>
      </p:sp>
      <p:sp>
        <p:nvSpPr>
          <p:cNvPr id="64" name="Text Box 27"/>
          <p:cNvSpPr txBox="1">
            <a:spLocks noChangeArrowheads="1"/>
          </p:cNvSpPr>
          <p:nvPr/>
        </p:nvSpPr>
        <p:spPr bwMode="auto">
          <a:xfrm>
            <a:off x="10567670" y="4954905"/>
            <a:ext cx="162433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根据实际情况体现缺失的安全能力部分</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363200" y="219456"/>
            <a:ext cx="1463040" cy="609600"/>
          </a:xfrm>
          <a:prstGeom prst="roundRect">
            <a:avLst>
              <a:gd name="adj" fmla="val 10000"/>
            </a:avLst>
          </a:prstGeom>
          <a:solidFill>
            <a:srgbClr val="FFFFFF">
              <a:alpha val="15000"/>
            </a:srgbClr>
          </a:solidFill>
        </p:spPr>
      </p:sp>
      <p:sp>
        <p:nvSpPr>
          <p:cNvPr id="6" name="Text 4"/>
          <p:cNvSpPr/>
          <p:nvPr/>
        </p:nvSpPr>
        <p:spPr>
          <a:xfrm>
            <a:off x="10363200" y="219456"/>
            <a:ext cx="1463040" cy="609600"/>
          </a:xfrm>
          <a:prstGeom prst="rect">
            <a:avLst/>
          </a:prstGeom>
          <a:noFill/>
        </p:spPr>
        <p:txBody>
          <a:bodyPr wrap="square" lIns="0" tIns="0" rIns="0" bIns="0" rtlCol="0" anchor="ctr"/>
          <a:lstStyle/>
          <a:p>
            <a:pPr marL="0" indent="0" algn="ctr">
              <a:buNone/>
            </a:pPr>
            <a:r>
              <a:rPr lang="en-US" sz="1335" dirty="0">
                <a:solidFill>
                  <a:srgbClr val="FFFFFF"/>
                </a:solidFill>
                <a:latin typeface="微软雅黑" panose="020B0503020204020204" charset="-122"/>
                <a:ea typeface="微软雅黑" panose="020B0503020204020204" charset="-122"/>
                <a:cs typeface="微软雅黑" panose="020B0503020204020204" pitchFamily="34" charset="-120"/>
              </a:rPr>
              <a:t>深信服</a:t>
            </a:r>
            <a:endParaRPr lang="en-US" sz="1335" dirty="0"/>
          </a:p>
        </p:txBody>
      </p:sp>
      <p:pic>
        <p:nvPicPr>
          <p:cNvPr id="26" name="图片 25"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95" name="Shape 11"/>
          <p:cNvSpPr/>
          <p:nvPr/>
        </p:nvSpPr>
        <p:spPr>
          <a:xfrm>
            <a:off x="304800" y="1102360"/>
            <a:ext cx="1404000" cy="548640"/>
          </a:xfrm>
          <a:prstGeom prst="rect">
            <a:avLst/>
          </a:prstGeom>
          <a:solidFill>
            <a:srgbClr val="1A3A5C"/>
          </a:solidFill>
        </p:spPr>
      </p:sp>
      <p:sp>
        <p:nvSpPr>
          <p:cNvPr id="96" name="Text 12"/>
          <p:cNvSpPr/>
          <p:nvPr/>
        </p:nvSpPr>
        <p:spPr>
          <a:xfrm>
            <a:off x="304800" y="1102360"/>
            <a:ext cx="1404000" cy="548640"/>
          </a:xfrm>
          <a:prstGeom prst="rect">
            <a:avLst/>
          </a:prstGeom>
          <a:noFill/>
        </p:spPr>
        <p:txBody>
          <a:bodyPr wrap="square" lIns="0" tIns="0" rIns="0" bIns="0" rtlCol="0" anchor="ctr"/>
          <a:lstStyle/>
          <a:p>
            <a:pPr marL="0" indent="0" algn="ctr">
              <a:buNone/>
            </a:pP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目标</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项</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7" name="Shape 13"/>
          <p:cNvSpPr/>
          <p:nvPr/>
        </p:nvSpPr>
        <p:spPr>
          <a:xfrm>
            <a:off x="1706880" y="1102360"/>
            <a:ext cx="2682240" cy="548640"/>
          </a:xfrm>
          <a:prstGeom prst="rect">
            <a:avLst/>
          </a:prstGeom>
          <a:solidFill>
            <a:srgbClr val="1A3A5C"/>
          </a:solidFill>
        </p:spPr>
      </p:sp>
      <p:sp>
        <p:nvSpPr>
          <p:cNvPr id="98" name="Text 14"/>
          <p:cNvSpPr/>
          <p:nvPr/>
        </p:nvSpPr>
        <p:spPr>
          <a:xfrm>
            <a:off x="170688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关键</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价值成果</a:t>
            </a:r>
            <a:r>
              <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预期</a:t>
            </a:r>
            <a:endParaRPr lang="zh-CN" alt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99" name="Shape 15"/>
          <p:cNvSpPr/>
          <p:nvPr/>
        </p:nvSpPr>
        <p:spPr>
          <a:xfrm>
            <a:off x="4389120" y="1102360"/>
            <a:ext cx="3096000" cy="548640"/>
          </a:xfrm>
          <a:prstGeom prst="rect">
            <a:avLst/>
          </a:prstGeom>
          <a:solidFill>
            <a:srgbClr val="2563EB"/>
          </a:solidFill>
        </p:spPr>
      </p:sp>
      <p:sp>
        <p:nvSpPr>
          <p:cNvPr id="100" name="Text 16"/>
          <p:cNvSpPr/>
          <p:nvPr/>
        </p:nvSpPr>
        <p:spPr>
          <a:xfrm>
            <a:off x="4389120" y="1102360"/>
            <a:ext cx="2682240" cy="548640"/>
          </a:xfrm>
          <a:prstGeom prst="rect">
            <a:avLst/>
          </a:prstGeom>
          <a:noFill/>
        </p:spPr>
        <p:txBody>
          <a:bodyPr wrap="square" lIns="0" tIns="0" rIns="0" bIns="0" rtlCol="0" anchor="ctr"/>
          <a:lstStyle/>
          <a:p>
            <a:pPr marL="0" indent="0" algn="ctr">
              <a:buNone/>
            </a:pP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深信服做什么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深信服（技术底座+运营服务）</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1" name="Shape 17"/>
          <p:cNvSpPr/>
          <p:nvPr/>
        </p:nvSpPr>
        <p:spPr>
          <a:xfrm>
            <a:off x="7487920" y="1102360"/>
            <a:ext cx="2194560" cy="548640"/>
          </a:xfrm>
          <a:prstGeom prst="rect">
            <a:avLst/>
          </a:prstGeom>
          <a:solidFill>
            <a:srgbClr val="D97706"/>
          </a:solidFill>
        </p:spPr>
      </p:sp>
      <p:sp>
        <p:nvSpPr>
          <p:cNvPr id="102" name="Text 18"/>
          <p:cNvSpPr/>
          <p:nvPr/>
        </p:nvSpPr>
        <p:spPr>
          <a:xfrm>
            <a:off x="7487920" y="1102360"/>
            <a:ext cx="2194560" cy="548640"/>
          </a:xfrm>
          <a:prstGeom prst="rect">
            <a:avLst/>
          </a:prstGeom>
          <a:noFill/>
        </p:spPr>
        <p:txBody>
          <a:bodyPr wrap="square" lIns="0" tIns="0" rIns="0" bIns="0" rtlCol="0" anchor="ctr"/>
          <a:lstStyle/>
          <a:p>
            <a:pPr marL="0" indent="0" algn="ctr">
              <a:buNone/>
            </a:pP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alt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XX</a:t>
            </a:r>
            <a:r>
              <a:rPr lang="zh-CN" altLang="en-US" sz="1265" b="1" dirty="0">
                <a:solidFill>
                  <a:srgbClr val="2563EB"/>
                </a:solidFill>
                <a:latin typeface="微软雅黑" panose="020B0503020204020204" charset="-122"/>
                <a:ea typeface="微软雅黑" panose="020B0503020204020204" charset="-122"/>
                <a:cs typeface="微软雅黑" panose="020B0503020204020204" pitchFamily="34" charset="-120"/>
              </a:rPr>
              <a:t>渠道</a:t>
            </a:r>
            <a:r>
              <a:rPr lang="zh-CN" sz="1265" b="1" dirty="0">
                <a:solidFill>
                  <a:srgbClr val="2563EB"/>
                </a:solidFill>
                <a:latin typeface="微软雅黑" panose="020B0503020204020204" charset="-122"/>
                <a:ea typeface="微软雅黑" panose="020B0503020204020204" charset="-122"/>
                <a:cs typeface="微软雅黑" panose="020B0503020204020204" pitchFamily="34" charset="-120"/>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现场支撑+本地化</a:t>
            </a:r>
            <a:r>
              <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服务</a:t>
            </a:r>
            <a:endParaRPr lang="zh-CN" alt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03" name="Shape 19"/>
          <p:cNvSpPr/>
          <p:nvPr/>
        </p:nvSpPr>
        <p:spPr>
          <a:xfrm>
            <a:off x="9682480" y="1102360"/>
            <a:ext cx="2194560" cy="548640"/>
          </a:xfrm>
          <a:prstGeom prst="rect">
            <a:avLst/>
          </a:prstGeom>
          <a:solidFill>
            <a:srgbClr val="059669"/>
          </a:solidFill>
        </p:spPr>
      </p:sp>
      <p:sp>
        <p:nvSpPr>
          <p:cNvPr id="104" name="Text 20"/>
          <p:cNvSpPr/>
          <p:nvPr/>
        </p:nvSpPr>
        <p:spPr>
          <a:xfrm>
            <a:off x="9682480" y="1102360"/>
            <a:ext cx="2194560" cy="548640"/>
          </a:xfrm>
          <a:prstGeom prst="rect">
            <a:avLst/>
          </a:prstGeom>
          <a:noFill/>
        </p:spPr>
        <p:txBody>
          <a:bodyPr wrap="square" lIns="0" tIns="0" rIns="0" bIns="0" rtlCol="0" anchor="ctr"/>
          <a:lstStyle/>
          <a:p>
            <a:pPr marL="0" indent="0" algn="ctr">
              <a:buNone/>
            </a:pPr>
            <a:r>
              <a:rPr lang="en-US" sz="1265">
                <a:solidFill>
                  <a:srgbClr val="4C61E7"/>
                </a:solidFill>
                <a:latin typeface="Arial" panose="020B0604020202020204" pitchFamily="34" charset="0"/>
                <a:ea typeface="黑体-简" panose="02000000000000000000" charset="-122"/>
                <a:cs typeface="Noto Sans SC"/>
                <a:sym typeface="Noto Sans SC"/>
              </a:rPr>
              <a:t>{{company</a:t>
            </a:r>
            <a:r>
              <a:rPr lang="en-US" altLang="zh-CN" sz="1265">
                <a:solidFill>
                  <a:srgbClr val="4C61E7"/>
                </a:solidFill>
                <a:latin typeface="Arial" panose="020B0604020202020204" pitchFamily="34" charset="0"/>
                <a:ea typeface="黑体-简" panose="02000000000000000000" charset="-122"/>
                <a:cs typeface="Noto Sans SC"/>
                <a:sym typeface="Noto Sans SC"/>
              </a:rPr>
              <a:t>}</a:t>
            </a:r>
            <a:r>
              <a:rPr lang="en-US" sz="1265">
                <a:solidFill>
                  <a:srgbClr val="4C61E7"/>
                </a:solidFill>
                <a:latin typeface="Arial" panose="020B0604020202020204" pitchFamily="34" charset="0"/>
                <a:ea typeface="黑体-简" panose="02000000000000000000" charset="-122"/>
                <a:cs typeface="Noto Sans SC"/>
                <a:sym typeface="Noto Sans SC"/>
              </a:rPr>
              <a:t>}</a:t>
            </a:r>
            <a:r>
              <a:rPr lang="en-US" sz="1265" b="1" dirty="0">
                <a:solidFill>
                  <a:srgbClr val="FFFFFF"/>
                </a:solidFill>
                <a:latin typeface="微软雅黑" panose="020B0503020204020204" charset="-122"/>
                <a:ea typeface="微软雅黑" panose="020B0503020204020204" charset="-122"/>
                <a:cs typeface="微软雅黑" panose="020B0503020204020204" pitchFamily="34" charset="-120"/>
              </a:rPr>
              <a:t>做什么</a:t>
            </a:r>
            <a:endParaRPr lang="en-US" sz="1265" b="1" dirty="0">
              <a:solidFill>
                <a:srgbClr val="FFFFFF"/>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rPr>
              <a:t>资源协调+决策确认</a:t>
            </a:r>
            <a:endParaRPr lang="en-US" sz="1065" dirty="0">
              <a:solidFill>
                <a:srgbClr val="FFFF00"/>
              </a:solidFill>
              <a:latin typeface="微软雅黑" panose="020B0503020204020204" charset="-122"/>
              <a:ea typeface="微软雅黑" panose="020B0503020204020204" charset="-122"/>
              <a:cs typeface="微软雅黑" panose="020B0503020204020204" pitchFamily="34" charset="-120"/>
              <a:sym typeface="+mn-ea"/>
            </a:endParaRPr>
          </a:p>
        </p:txBody>
      </p:sp>
      <p:grpSp>
        <p:nvGrpSpPr>
          <p:cNvPr id="7" name="组合 6"/>
          <p:cNvGrpSpPr/>
          <p:nvPr/>
        </p:nvGrpSpPr>
        <p:grpSpPr>
          <a:xfrm>
            <a:off x="304800" y="1651000"/>
            <a:ext cx="11572240" cy="1440180"/>
            <a:chOff x="480" y="2600"/>
            <a:chExt cx="18224" cy="2268"/>
          </a:xfrm>
        </p:grpSpPr>
        <p:sp>
          <p:nvSpPr>
            <p:cNvPr id="105" name="Shape 21"/>
            <p:cNvSpPr/>
            <p:nvPr/>
          </p:nvSpPr>
          <p:spPr>
            <a:xfrm>
              <a:off x="480" y="2600"/>
              <a:ext cx="2211" cy="2268"/>
            </a:xfrm>
            <a:prstGeom prst="rect">
              <a:avLst/>
            </a:prstGeom>
            <a:solidFill>
              <a:srgbClr val="F8FAFC"/>
            </a:solidFill>
            <a:ln w="3810">
              <a:solidFill>
                <a:srgbClr val="E2E8F0"/>
              </a:solidFill>
              <a:prstDash val="solid"/>
            </a:ln>
          </p:spPr>
          <p:txBody>
            <a:bodyPr anchor="ctr" anchorCtr="0"/>
            <a:p>
              <a:pPr marL="0" indent="0">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业务安全与连续性</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06" name="Shape 23"/>
            <p:cNvSpPr/>
            <p:nvPr/>
          </p:nvSpPr>
          <p:spPr>
            <a:xfrm>
              <a:off x="2688" y="2600"/>
              <a:ext cx="4224" cy="2268"/>
            </a:xfrm>
            <a:prstGeom prst="rect">
              <a:avLst/>
            </a:prstGeom>
            <a:solidFill>
              <a:srgbClr val="F8FAFC"/>
            </a:solidFill>
            <a:ln w="3810">
              <a:solidFill>
                <a:srgbClr val="E2E8F0"/>
              </a:solidFill>
              <a:prstDash val="solid"/>
            </a:ln>
          </p:spPr>
          <p:txBody>
            <a:bodyPr anchor="ctr" anchorCtr="0"/>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07" name="Shape 25"/>
            <p:cNvSpPr/>
            <p:nvPr/>
          </p:nvSpPr>
          <p:spPr>
            <a:xfrm>
              <a:off x="6912" y="2600"/>
              <a:ext cx="4876" cy="2268"/>
            </a:xfrm>
            <a:prstGeom prst="rect">
              <a:avLst/>
            </a:prstGeom>
            <a:solidFill>
              <a:srgbClr val="F8FAFC"/>
            </a:solidFill>
            <a:ln w="3810">
              <a:solidFill>
                <a:srgbClr val="E2E8F0"/>
              </a:solidFill>
              <a:prstDash val="solid"/>
            </a:ln>
          </p:spPr>
          <p:txBody>
            <a:bodyPr anchor="ctr" anchorCtr="0"/>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08" name="Shape 26"/>
            <p:cNvSpPr/>
            <p:nvPr/>
          </p:nvSpPr>
          <p:spPr>
            <a:xfrm>
              <a:off x="6912" y="2600"/>
              <a:ext cx="77" cy="2268"/>
            </a:xfrm>
            <a:prstGeom prst="rect">
              <a:avLst/>
            </a:prstGeom>
            <a:solidFill>
              <a:srgbClr val="2563EB">
                <a:alpha val="50000"/>
              </a:srgbClr>
            </a:solidFill>
          </p:spPr>
        </p:sp>
        <p:sp>
          <p:nvSpPr>
            <p:cNvPr id="109" name="Shape 28"/>
            <p:cNvSpPr/>
            <p:nvPr/>
          </p:nvSpPr>
          <p:spPr>
            <a:xfrm>
              <a:off x="11792"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0" name="Shape 29"/>
            <p:cNvSpPr/>
            <p:nvPr/>
          </p:nvSpPr>
          <p:spPr>
            <a:xfrm>
              <a:off x="11792" y="2600"/>
              <a:ext cx="77" cy="2268"/>
            </a:xfrm>
            <a:prstGeom prst="rect">
              <a:avLst/>
            </a:prstGeom>
            <a:solidFill>
              <a:srgbClr val="D97706">
                <a:alpha val="50000"/>
              </a:srgbClr>
            </a:solidFill>
          </p:spPr>
        </p:sp>
        <p:sp>
          <p:nvSpPr>
            <p:cNvPr id="111" name="Shape 31"/>
            <p:cNvSpPr/>
            <p:nvPr/>
          </p:nvSpPr>
          <p:spPr>
            <a:xfrm>
              <a:off x="15248" y="2600"/>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2" name="Shape 32"/>
            <p:cNvSpPr/>
            <p:nvPr/>
          </p:nvSpPr>
          <p:spPr>
            <a:xfrm>
              <a:off x="15248" y="2600"/>
              <a:ext cx="77" cy="2268"/>
            </a:xfrm>
            <a:prstGeom prst="rect">
              <a:avLst/>
            </a:prstGeom>
            <a:solidFill>
              <a:srgbClr val="059669">
                <a:alpha val="50000"/>
              </a:srgbClr>
            </a:solidFill>
          </p:spPr>
        </p:sp>
      </p:grpSp>
      <p:grpSp>
        <p:nvGrpSpPr>
          <p:cNvPr id="9" name="组合 8"/>
          <p:cNvGrpSpPr/>
          <p:nvPr/>
        </p:nvGrpSpPr>
        <p:grpSpPr>
          <a:xfrm>
            <a:off x="304800" y="3096895"/>
            <a:ext cx="11572240" cy="1440815"/>
            <a:chOff x="480" y="4296"/>
            <a:chExt cx="18224" cy="2269"/>
          </a:xfrm>
        </p:grpSpPr>
        <p:sp>
          <p:nvSpPr>
            <p:cNvPr id="113" name="Shape 34"/>
            <p:cNvSpPr/>
            <p:nvPr/>
          </p:nvSpPr>
          <p:spPr>
            <a:xfrm>
              <a:off x="480" y="4296"/>
              <a:ext cx="2211" cy="2268"/>
            </a:xfrm>
            <a:prstGeom prst="rect">
              <a:avLst/>
            </a:prstGeom>
            <a:solidFill>
              <a:srgbClr val="FFFFFF"/>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安全考核与通报应对</a:t>
              </a:r>
              <a:endParaRPr lang="en-US" altLang="en-US" sz="12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4" name="Shape 36"/>
            <p:cNvSpPr/>
            <p:nvPr/>
          </p:nvSpPr>
          <p:spPr>
            <a:xfrm>
              <a:off x="2688" y="4297"/>
              <a:ext cx="4224" cy="2268"/>
            </a:xfrm>
            <a:prstGeom prst="rect">
              <a:avLst/>
            </a:prstGeom>
            <a:solidFill>
              <a:srgbClr val="FFFFFF"/>
            </a:solidFill>
            <a:ln w="3810">
              <a:solidFill>
                <a:srgbClr val="E2E8F0"/>
              </a:solidFill>
              <a:prstDash val="solid"/>
            </a:ln>
          </p:spPr>
          <p:txBody>
            <a:bodyPr anchor="ctr" anchorCtr="0"/>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a:p>
              <a:pPr marL="0" indent="0" algn="l">
                <a:buNone/>
              </a:pPr>
              <a:r>
                <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rPr>
                <a:t>3</a:t>
              </a:r>
              <a:r>
                <a:rPr lang="zh-CN" altLang="en-US" sz="1000" dirty="0">
                  <a:solidFill>
                    <a:schemeClr val="tx1"/>
                  </a:solidFill>
                  <a:latin typeface="Heiti SC Light" panose="02000000000000000000" charset="-122"/>
                  <a:ea typeface="Heiti SC Light" panose="02000000000000000000" charset="-122"/>
                  <a:cs typeface="Heiti SC Light" panose="02000000000000000000" charset="-122"/>
                  <a:sym typeface="+mn-ea"/>
                </a:rPr>
                <a:t>、</a:t>
              </a:r>
              <a:endParaRPr lang="en-US" altLang="zh-CN" sz="1000" dirty="0">
                <a:solidFill>
                  <a:schemeClr val="tx1"/>
                </a:solidFill>
                <a:latin typeface="Heiti SC Light" panose="02000000000000000000" charset="-122"/>
                <a:ea typeface="Heiti SC Light" panose="02000000000000000000" charset="-122"/>
                <a:cs typeface="Heiti SC Light" panose="02000000000000000000" charset="-122"/>
                <a:sym typeface="+mn-ea"/>
              </a:endParaRPr>
            </a:p>
          </p:txBody>
        </p:sp>
        <p:sp>
          <p:nvSpPr>
            <p:cNvPr id="115" name="Shape 38"/>
            <p:cNvSpPr/>
            <p:nvPr/>
          </p:nvSpPr>
          <p:spPr>
            <a:xfrm>
              <a:off x="6912" y="4296"/>
              <a:ext cx="4876" cy="2268"/>
            </a:xfrm>
            <a:prstGeom prst="rect">
              <a:avLst/>
            </a:prstGeom>
            <a:solidFill>
              <a:schemeClr val="bg1"/>
            </a:solidFill>
            <a:ln w="3810">
              <a:solidFill>
                <a:srgbClr val="E2E8F0"/>
              </a:solidFill>
              <a:prstDash val="solid"/>
            </a:ln>
          </p:spPr>
          <p:txBody>
            <a:bodyPr anchor="ctr" anchorCtr="0">
              <a:noAutofit/>
            </a:bodyPr>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16" name="Shape 39"/>
            <p:cNvSpPr/>
            <p:nvPr/>
          </p:nvSpPr>
          <p:spPr>
            <a:xfrm>
              <a:off x="6912" y="4296"/>
              <a:ext cx="77" cy="2268"/>
            </a:xfrm>
            <a:prstGeom prst="rect">
              <a:avLst/>
            </a:prstGeom>
            <a:solidFill>
              <a:srgbClr val="2563EB">
                <a:alpha val="50000"/>
              </a:srgbClr>
            </a:solidFill>
          </p:spPr>
        </p:sp>
        <p:sp>
          <p:nvSpPr>
            <p:cNvPr id="117" name="Shape 41"/>
            <p:cNvSpPr/>
            <p:nvPr/>
          </p:nvSpPr>
          <p:spPr>
            <a:xfrm>
              <a:off x="11792"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4C61E7"/>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18" name="Shape 42"/>
            <p:cNvSpPr/>
            <p:nvPr/>
          </p:nvSpPr>
          <p:spPr>
            <a:xfrm>
              <a:off x="11792" y="4296"/>
              <a:ext cx="77" cy="2268"/>
            </a:xfrm>
            <a:prstGeom prst="rect">
              <a:avLst/>
            </a:prstGeom>
            <a:solidFill>
              <a:srgbClr val="D97706">
                <a:alpha val="50000"/>
              </a:srgbClr>
            </a:solidFill>
          </p:spPr>
        </p:sp>
        <p:sp>
          <p:nvSpPr>
            <p:cNvPr id="119" name="Shape 44"/>
            <p:cNvSpPr/>
            <p:nvPr/>
          </p:nvSpPr>
          <p:spPr>
            <a:xfrm>
              <a:off x="15248" y="4296"/>
              <a:ext cx="3456" cy="2268"/>
            </a:xfrm>
            <a:prstGeom prst="rect">
              <a:avLst/>
            </a:prstGeom>
            <a:solidFill>
              <a:srgbClr val="FFFFFF"/>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0" name="Shape 45"/>
            <p:cNvSpPr/>
            <p:nvPr/>
          </p:nvSpPr>
          <p:spPr>
            <a:xfrm>
              <a:off x="15248" y="4296"/>
              <a:ext cx="77" cy="2268"/>
            </a:xfrm>
            <a:prstGeom prst="rect">
              <a:avLst/>
            </a:prstGeom>
            <a:solidFill>
              <a:srgbClr val="059669">
                <a:alpha val="50000"/>
              </a:srgbClr>
            </a:solidFill>
          </p:spPr>
        </p:sp>
      </p:grpSp>
      <p:grpSp>
        <p:nvGrpSpPr>
          <p:cNvPr id="10" name="组合 9"/>
          <p:cNvGrpSpPr/>
          <p:nvPr/>
        </p:nvGrpSpPr>
        <p:grpSpPr>
          <a:xfrm>
            <a:off x="304800" y="4543425"/>
            <a:ext cx="11572240" cy="1445260"/>
            <a:chOff x="480" y="7310"/>
            <a:chExt cx="18224" cy="2276"/>
          </a:xfrm>
        </p:grpSpPr>
        <p:sp>
          <p:nvSpPr>
            <p:cNvPr id="121" name="Shape 47"/>
            <p:cNvSpPr/>
            <p:nvPr/>
          </p:nvSpPr>
          <p:spPr>
            <a:xfrm>
              <a:off x="480" y="7316"/>
              <a:ext cx="2211" cy="2268"/>
            </a:xfrm>
            <a:prstGeom prst="rect">
              <a:avLst/>
            </a:prstGeom>
            <a:solidFill>
              <a:srgbClr val="F8FAFC"/>
            </a:solidFill>
            <a:ln w="3810">
              <a:solidFill>
                <a:srgbClr val="E2E8F0"/>
              </a:solidFill>
              <a:prstDash val="solid"/>
            </a:ln>
          </p:spPr>
          <p:txBody>
            <a:bodyPr anchor="ctr" anchorCtr="0"/>
            <a:p>
              <a:pPr marL="0" indent="0" algn="ctr">
                <a:buNone/>
              </a:pPr>
              <a:r>
                <a:rPr 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重要时期</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安全</a:t>
              </a:r>
              <a:r>
                <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rPr>
                <a:t>保障</a:t>
              </a:r>
              <a:endParaRPr lang="zh-CN" altLang="en-US" sz="12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2" name="Shape 49"/>
            <p:cNvSpPr/>
            <p:nvPr/>
          </p:nvSpPr>
          <p:spPr>
            <a:xfrm>
              <a:off x="2688" y="7318"/>
              <a:ext cx="4224" cy="2268"/>
            </a:xfrm>
            <a:prstGeom prst="rect">
              <a:avLst/>
            </a:prstGeom>
            <a:solidFill>
              <a:srgbClr val="F8FAFC"/>
            </a:solidFill>
            <a:ln w="3810">
              <a:solidFill>
                <a:srgbClr val="E2E8F0"/>
              </a:solidFill>
              <a:prstDash val="solid"/>
            </a:ln>
          </p:spPr>
          <p:txBody>
            <a:bodyPr anchor="ctr" anchorCtr="0"/>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1</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b="1" dirty="0">
                <a:latin typeface="Heiti SC Light" panose="02000000000000000000" charset="-122"/>
                <a:ea typeface="Heiti SC Light" panose="02000000000000000000" charset="-122"/>
                <a:cs typeface="Heiti SC Light" panose="02000000000000000000" charset="-122"/>
                <a:sym typeface="+mn-ea"/>
              </a:endParaRPr>
            </a:p>
            <a:p>
              <a:pPr algn="l">
                <a:lnSpc>
                  <a:spcPct val="120000"/>
                </a:lnSpc>
                <a:buClrTx/>
                <a:buSzTx/>
                <a:buFontTx/>
                <a:buNone/>
              </a:pPr>
              <a:r>
                <a:rPr lang="en-US" altLang="zh-CN" sz="1000" b="1" dirty="0">
                  <a:latin typeface="Heiti SC Light" panose="02000000000000000000" charset="-122"/>
                  <a:ea typeface="Heiti SC Light" panose="02000000000000000000" charset="-122"/>
                  <a:cs typeface="Heiti SC Light" panose="02000000000000000000" charset="-122"/>
                  <a:sym typeface="+mn-ea"/>
                </a:rPr>
                <a:t>2</a:t>
              </a:r>
              <a:r>
                <a:rPr lang="zh-CN" altLang="en-US" sz="1000" b="1" dirty="0">
                  <a:latin typeface="Heiti SC Light" panose="02000000000000000000" charset="-122"/>
                  <a:ea typeface="Heiti SC Light" panose="02000000000000000000" charset="-122"/>
                  <a:cs typeface="Heiti SC Light" panose="02000000000000000000" charset="-122"/>
                  <a:sym typeface="+mn-ea"/>
                </a:rPr>
                <a:t>、</a:t>
              </a:r>
              <a:endParaRPr lang="zh-CN" altLang="en-US" sz="1000" dirty="0">
                <a:latin typeface="Heiti SC Light" panose="02000000000000000000" charset="-122"/>
                <a:ea typeface="Heiti SC Light" panose="02000000000000000000" charset="-122"/>
                <a:cs typeface="Heiti SC Light" panose="02000000000000000000" charset="-122"/>
                <a:sym typeface="+mn-ea"/>
              </a:endParaRPr>
            </a:p>
          </p:txBody>
        </p:sp>
        <p:sp>
          <p:nvSpPr>
            <p:cNvPr id="123" name="Shape 51"/>
            <p:cNvSpPr/>
            <p:nvPr/>
          </p:nvSpPr>
          <p:spPr>
            <a:xfrm>
              <a:off x="6916" y="7310"/>
              <a:ext cx="487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4" name="Shape 52"/>
            <p:cNvSpPr/>
            <p:nvPr/>
          </p:nvSpPr>
          <p:spPr>
            <a:xfrm>
              <a:off x="6912" y="7317"/>
              <a:ext cx="77" cy="2268"/>
            </a:xfrm>
            <a:prstGeom prst="rect">
              <a:avLst/>
            </a:prstGeom>
            <a:solidFill>
              <a:srgbClr val="2563EB">
                <a:alpha val="50000"/>
              </a:srgbClr>
            </a:solidFill>
          </p:spPr>
        </p:sp>
        <p:sp>
          <p:nvSpPr>
            <p:cNvPr id="125" name="Shape 54"/>
            <p:cNvSpPr/>
            <p:nvPr/>
          </p:nvSpPr>
          <p:spPr>
            <a:xfrm>
              <a:off x="11792" y="7317"/>
              <a:ext cx="3456" cy="2268"/>
            </a:xfrm>
            <a:prstGeom prst="rect">
              <a:avLst/>
            </a:prstGeom>
            <a:solidFill>
              <a:srgbClr val="F8FAFC"/>
            </a:solidFill>
            <a:ln w="3810">
              <a:solidFill>
                <a:srgbClr val="E2E8F0"/>
              </a:solidFill>
              <a:prstDash val="solid"/>
            </a:ln>
          </p:spPr>
          <p:txBody>
            <a:bodyPr anchor="ctr" anchorCtr="0">
              <a:noAutofit/>
            </a:bodyPr>
            <a:p>
              <a:pPr lvl="0" algn="l">
                <a:buClrTx/>
                <a:buSzTx/>
                <a:buFontTx/>
              </a:pP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1</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a:p>
              <a:pPr lvl="0" algn="l">
                <a:buClrTx/>
                <a:buSzTx/>
                <a:buFontTx/>
              </a:pPr>
              <a:r>
                <a:rPr lang="en-US" altLang="zh-CN" sz="1000" dirty="0">
                  <a:solidFill>
                    <a:srgbClr val="1E293B"/>
                  </a:solidFill>
                  <a:latin typeface="Heiti SC Light" panose="02000000000000000000" charset="-122"/>
                  <a:ea typeface="Heiti SC Light" panose="02000000000000000000" charset="-122"/>
                  <a:cs typeface="Heiti SC Light" panose="02000000000000000000" charset="-122"/>
                  <a:sym typeface="+mn-ea"/>
                </a:rPr>
                <a:t>2</a:t>
              </a:r>
              <a:r>
                <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rPr>
                <a:t>、</a:t>
              </a:r>
              <a:endParaRPr lang="zh-CN" altLang="en-US" sz="1000" dirty="0">
                <a:solidFill>
                  <a:srgbClr val="1E293B"/>
                </a:solidFill>
                <a:latin typeface="Heiti SC Light" panose="02000000000000000000" charset="-122"/>
                <a:ea typeface="Heiti SC Light" panose="02000000000000000000" charset="-122"/>
                <a:cs typeface="Heiti SC Light" panose="02000000000000000000" charset="-122"/>
                <a:sym typeface="+mn-ea"/>
              </a:endParaRPr>
            </a:p>
          </p:txBody>
        </p:sp>
        <p:sp>
          <p:nvSpPr>
            <p:cNvPr id="126" name="Shape 55"/>
            <p:cNvSpPr/>
            <p:nvPr/>
          </p:nvSpPr>
          <p:spPr>
            <a:xfrm>
              <a:off x="11792" y="7317"/>
              <a:ext cx="77" cy="2268"/>
            </a:xfrm>
            <a:prstGeom prst="rect">
              <a:avLst/>
            </a:prstGeom>
            <a:solidFill>
              <a:srgbClr val="D97706">
                <a:alpha val="50000"/>
              </a:srgbClr>
            </a:solidFill>
          </p:spPr>
        </p:sp>
        <p:sp>
          <p:nvSpPr>
            <p:cNvPr id="127" name="Shape 57"/>
            <p:cNvSpPr/>
            <p:nvPr/>
          </p:nvSpPr>
          <p:spPr>
            <a:xfrm>
              <a:off x="15248" y="7317"/>
              <a:ext cx="3456" cy="2268"/>
            </a:xfrm>
            <a:prstGeom prst="rect">
              <a:avLst/>
            </a:prstGeom>
            <a:solidFill>
              <a:srgbClr val="F8FAFC"/>
            </a:solidFill>
            <a:ln w="3810">
              <a:solidFill>
                <a:srgbClr val="E2E8F0"/>
              </a:solidFill>
              <a:prstDash val="solid"/>
            </a:ln>
          </p:spPr>
          <p:txBody>
            <a:bodyPr anchor="ctr" anchorCtr="0"/>
            <a:p>
              <a:pPr marL="0" indent="0">
                <a:buNone/>
              </a:pP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1、</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a:p>
              <a:pPr marL="0" indent="0">
                <a:buNone/>
              </a:pPr>
              <a:r>
                <a:rPr lang="en-US" altLang="zh-CN"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2</a:t>
              </a:r>
              <a:r>
                <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rPr>
                <a:t>、</a:t>
              </a:r>
              <a:endParaRPr lang="zh-CN" altLang="en-US" sz="1000" dirty="0">
                <a:solidFill>
                  <a:srgbClr val="1E293B"/>
                </a:solidFill>
                <a:latin typeface="Heiti SC Light" panose="02000000000000000000" charset="-122"/>
                <a:ea typeface="Heiti SC Light" panose="02000000000000000000" charset="-122"/>
                <a:cs typeface="微软雅黑" panose="020B0503020204020204" pitchFamily="34" charset="-120"/>
                <a:sym typeface="+mn-ea"/>
              </a:endParaRPr>
            </a:p>
          </p:txBody>
        </p:sp>
        <p:sp>
          <p:nvSpPr>
            <p:cNvPr id="128" name="Shape 58"/>
            <p:cNvSpPr/>
            <p:nvPr/>
          </p:nvSpPr>
          <p:spPr>
            <a:xfrm>
              <a:off x="15248" y="7317"/>
              <a:ext cx="77" cy="2268"/>
            </a:xfrm>
            <a:prstGeom prst="rect">
              <a:avLst/>
            </a:prstGeom>
            <a:solidFill>
              <a:srgbClr val="059669">
                <a:alpha val="50000"/>
              </a:srgbClr>
            </a:solidFill>
          </p:spPr>
        </p:sp>
      </p:grpSp>
      <p:sp>
        <p:nvSpPr>
          <p:cNvPr id="11" name="Text Box 27"/>
          <p:cNvSpPr txBox="1">
            <a:spLocks noChangeArrowheads="1"/>
          </p:cNvSpPr>
          <p:nvPr/>
        </p:nvSpPr>
        <p:spPr bwMode="auto">
          <a:xfrm>
            <a:off x="2050415" y="1839595"/>
            <a:ext cx="199517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1000" dirty="0">
                <a:solidFill>
                  <a:schemeClr val="tx1"/>
                </a:solidFill>
                <a:highlight>
                  <a:srgbClr val="FFFF00"/>
                </a:highlight>
                <a:latin typeface="Heiti SC Light" panose="02000000000000000000" charset="-122"/>
                <a:ea typeface="Heiti SC Light" panose="02000000000000000000" charset="-122"/>
              </a:rPr>
              <a:t>根据客户讨论对齐的结论刷新预期成果和协作计划</a:t>
            </a:r>
            <a:endParaRPr lang="zh-CN" altLang="en-US" sz="1000" dirty="0">
              <a:solidFill>
                <a:schemeClr val="tx1"/>
              </a:solidFill>
              <a:highlight>
                <a:srgbClr val="FFFF00"/>
              </a:highlight>
              <a:latin typeface="Heiti SC Light" panose="02000000000000000000" charset="-122"/>
              <a:ea typeface="Heiti SC Light" panose="02000000000000000000" charset="-122"/>
            </a:endParaRPr>
          </a:p>
        </p:txBody>
      </p:sp>
      <p:grpSp>
        <p:nvGrpSpPr>
          <p:cNvPr id="12" name="组合 11"/>
          <p:cNvGrpSpPr/>
          <p:nvPr/>
        </p:nvGrpSpPr>
        <p:grpSpPr>
          <a:xfrm>
            <a:off x="224790" y="289878"/>
            <a:ext cx="4462780" cy="327025"/>
            <a:chOff x="533" y="646"/>
            <a:chExt cx="7028" cy="515"/>
          </a:xfrm>
        </p:grpSpPr>
        <p:grpSp>
          <p:nvGrpSpPr>
            <p:cNvPr id="13" name="组合 12"/>
            <p:cNvGrpSpPr/>
            <p:nvPr/>
          </p:nvGrpSpPr>
          <p:grpSpPr>
            <a:xfrm rot="0">
              <a:off x="533" y="672"/>
              <a:ext cx="582" cy="420"/>
              <a:chOff x="533" y="672"/>
              <a:chExt cx="582" cy="420"/>
            </a:xfrm>
          </p:grpSpPr>
          <p:sp>
            <p:nvSpPr>
              <p:cNvPr id="1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6216"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关键价值成果与分工协作机制</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刷新</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pic>
        <p:nvPicPr>
          <p:cNvPr id="26" name="图片 25" descr="1755143421298"/>
          <p:cNvPicPr>
            <a:picLocks noChangeAspect="1"/>
          </p:cNvPicPr>
          <p:nvPr/>
        </p:nvPicPr>
        <p:blipFill>
          <a:blip r:embed="rId2"/>
          <a:stretch>
            <a:fillRect/>
          </a:stretch>
        </p:blipFill>
        <p:spPr>
          <a:xfrm>
            <a:off x="647700" y="5785485"/>
            <a:ext cx="10998835" cy="779145"/>
          </a:xfrm>
          <a:prstGeom prst="rect">
            <a:avLst/>
          </a:prstGeom>
        </p:spPr>
      </p:pic>
      <p:sp>
        <p:nvSpPr>
          <p:cNvPr id="27" name="文本框 26"/>
          <p:cNvSpPr txBox="1"/>
          <p:nvPr/>
        </p:nvSpPr>
        <p:spPr>
          <a:xfrm>
            <a:off x="860425" y="5890260"/>
            <a:ext cx="10523855" cy="570230"/>
          </a:xfrm>
          <a:prstGeom prst="rect">
            <a:avLst/>
          </a:prstGeom>
          <a:noFill/>
        </p:spPr>
        <p:txBody>
          <a:bodyPr wrap="square" rtlCol="0" anchor="t">
            <a:noAutofit/>
          </a:bodyPr>
          <a:p>
            <a:pPr indent="0" algn="l">
              <a:lnSpc>
                <a:spcPct val="117000"/>
              </a:lnSpc>
            </a:pPr>
            <a:r>
              <a:rPr lang="en-US" sz="1200" b="1">
                <a:solidFill>
                  <a:srgbClr val="0052CC"/>
                </a:solidFill>
                <a:latin typeface="Arial" panose="020B0604020202020204" pitchFamily="34" charset="0"/>
                <a:ea typeface="黑体-简" panose="02000000000000000000" charset="-122"/>
                <a:cs typeface="Noto Sans SC"/>
                <a:sym typeface="Noto Sans SC"/>
              </a:rPr>
              <a:t>我们的承诺：</a:t>
            </a:r>
            <a:r>
              <a:rPr lang="zh-CN" altLang="en-US" sz="1200" b="1">
                <a:solidFill>
                  <a:srgbClr val="0052CC"/>
                </a:solidFill>
                <a:latin typeface="Arial" panose="020B0604020202020204" pitchFamily="34" charset="0"/>
                <a:ea typeface="黑体-简" panose="02000000000000000000" charset="-122"/>
                <a:cs typeface="Noto Sans SC"/>
                <a:sym typeface="Noto Sans SC"/>
              </a:rPr>
              <a:t>数智化</a:t>
            </a:r>
            <a:r>
              <a:rPr lang="en-US" sz="1200" b="1">
                <a:solidFill>
                  <a:srgbClr val="0052CC"/>
                </a:solidFill>
                <a:latin typeface="Arial" panose="020B0604020202020204" pitchFamily="34" charset="0"/>
                <a:ea typeface="黑体-简" panose="02000000000000000000" charset="-122"/>
                <a:cs typeface="Noto Sans SC"/>
                <a:sym typeface="Noto Sans SC"/>
              </a:rPr>
              <a:t>转型的坚实后盾</a:t>
            </a:r>
            <a:endParaRPr lang="en-US" sz="1200" b="1" i="0" u="none" strike="noStrike">
              <a:solidFill>
                <a:srgbClr val="0052CC"/>
              </a:solidFill>
              <a:latin typeface="Arial" panose="020B0604020202020204" pitchFamily="34" charset="0"/>
              <a:ea typeface="黑体-简" panose="02000000000000000000" charset="-122"/>
              <a:cs typeface="Noto Sans SC"/>
              <a:sym typeface="Noto Sans SC"/>
            </a:endParaRPr>
          </a:p>
          <a:p>
            <a:pPr indent="0" algn="l">
              <a:lnSpc>
                <a:spcPct val="117000"/>
              </a:lnSpc>
            </a:pPr>
            <a:r>
              <a:rPr lang="en-US" sz="1200">
                <a:solidFill>
                  <a:srgbClr val="404040"/>
                </a:solidFill>
                <a:latin typeface="Arial" panose="020B0604020202020204" pitchFamily="34" charset="0"/>
                <a:ea typeface="黑体-简" panose="02000000000000000000" charset="-122"/>
                <a:cs typeface="Noto Sans SC"/>
                <a:sym typeface="Noto Sans SC"/>
              </a:rPr>
              <a:t>安全运营中心将继续以专业能力、创新技术和高度责任感，作为公司数字转型的坚实后盾，为</a:t>
            </a:r>
            <a:r>
              <a:rPr lang="en-US" sz="1200">
                <a:solidFill>
                  <a:srgbClr val="4C61E7"/>
                </a:solidFill>
                <a:latin typeface="Arial" panose="020B0604020202020204" pitchFamily="34" charset="0"/>
                <a:ea typeface="黑体-简" panose="02000000000000000000" charset="-122"/>
                <a:cs typeface="Noto Sans SC"/>
                <a:sym typeface="Noto Sans SC"/>
              </a:rPr>
              <a:t>{{company</a:t>
            </a:r>
            <a:r>
              <a:rPr lang="en-US" altLang="zh-CN"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C61E7"/>
                </a:solidFill>
                <a:latin typeface="Arial" panose="020B0604020202020204" pitchFamily="34" charset="0"/>
                <a:ea typeface="黑体-简" panose="02000000000000000000" charset="-122"/>
                <a:cs typeface="Noto Sans SC"/>
                <a:sym typeface="Noto Sans SC"/>
              </a:rPr>
              <a:t>}</a:t>
            </a:r>
            <a:r>
              <a:rPr lang="en-US" sz="1200">
                <a:solidFill>
                  <a:srgbClr val="404040"/>
                </a:solidFill>
                <a:latin typeface="Arial" panose="020B0604020202020204" pitchFamily="34" charset="0"/>
                <a:ea typeface="黑体-简" panose="02000000000000000000" charset="-122"/>
                <a:cs typeface="Noto Sans SC"/>
                <a:sym typeface="Noto Sans SC"/>
              </a:rPr>
              <a:t>的未来稳健发展保驾护航。</a:t>
            </a:r>
            <a:endParaRPr lang="en-US" altLang="en-US" sz="1200" spc="90" dirty="0">
              <a:solidFill>
                <a:srgbClr val="404040"/>
              </a:solidFill>
              <a:latin typeface="Arial" panose="020B0604020202020204" pitchFamily="34" charset="0"/>
              <a:ea typeface="黑体-简" panose="02000000000000000000" charset="-122"/>
              <a:cs typeface="Noto Sans SC"/>
              <a:sym typeface="Noto Sans SC"/>
            </a:endParaRPr>
          </a:p>
        </p:txBody>
      </p:sp>
      <p:sp>
        <p:nvSpPr>
          <p:cNvPr id="17" name="textbox 746"/>
          <p:cNvSpPr/>
          <p:nvPr/>
        </p:nvSpPr>
        <p:spPr>
          <a:xfrm>
            <a:off x="647700" y="915670"/>
            <a:ext cx="5943600" cy="4700270"/>
          </a:xfrm>
          <a:prstGeom prst="rect">
            <a:avLst/>
          </a:prstGeom>
          <a:solidFill>
            <a:srgbClr val="EFF6FD">
              <a:alpha val="100000"/>
            </a:srgbClr>
          </a:solidFill>
          <a:ln w="0" cap="flat">
            <a:noFill/>
            <a:prstDash val="solid"/>
            <a:miter lim="0"/>
          </a:ln>
        </p:spPr>
        <p:txBody>
          <a:bodyPr vert="horz" wrap="square" lIns="0" tIns="0" rIns="0" bIns="0"/>
          <a:p>
            <a:pPr marL="127000" algn="l" defTabSz="914400" rtl="0" eaLnBrk="0">
              <a:lnSpc>
                <a:spcPct val="100000"/>
              </a:lnSpc>
              <a:spcBef>
                <a:spcPts val="975"/>
              </a:spcBef>
              <a:spcAft>
                <a:spcPct val="0"/>
              </a:spcAft>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Text 2"/>
          <p:cNvSpPr/>
          <p:nvPr/>
        </p:nvSpPr>
        <p:spPr>
          <a:xfrm>
            <a:off x="760730" y="915670"/>
            <a:ext cx="1271270"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关键事项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19" name="文本框 18"/>
          <p:cNvSpPr txBox="1"/>
          <p:nvPr/>
        </p:nvSpPr>
        <p:spPr>
          <a:xfrm>
            <a:off x="6692900" y="915670"/>
            <a:ext cx="4954270" cy="4700270"/>
          </a:xfrm>
          <a:prstGeom prst="rect">
            <a:avLst/>
          </a:prstGeom>
          <a:solidFill>
            <a:schemeClr val="accent6">
              <a:lumMod val="20000"/>
              <a:lumOff val="80000"/>
            </a:schemeClr>
          </a:solidFill>
        </p:spPr>
        <p:txBody>
          <a:bodyPr wrap="square" rtlCol="0" anchor="t">
            <a:noAutofit/>
          </a:bodyPr>
          <a:p>
            <a:pPr marL="11430" algn="l" defTabSz="914400" rtl="0" eaLnBrk="0">
              <a:lnSpc>
                <a:spcPct val="99000"/>
              </a:lnSpc>
              <a:spcBef>
                <a:spcPct val="0"/>
              </a:spcBef>
              <a:spcAft>
                <a:spcPct val="0"/>
              </a:spcAft>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Text 2"/>
          <p:cNvSpPr/>
          <p:nvPr/>
        </p:nvSpPr>
        <p:spPr>
          <a:xfrm>
            <a:off x="6820535" y="915670"/>
            <a:ext cx="1910715" cy="332740"/>
          </a:xfrm>
          <a:prstGeom prst="rect">
            <a:avLst/>
          </a:prstGeom>
          <a:noFill/>
        </p:spPr>
        <p:txBody>
          <a:bodyPr wrap="square" lIns="0" tIns="0" rIns="0" bIns="0" rtlCol="0" anchor="ctr" anchorCtr="0"/>
          <a:p>
            <a:pPr algn="l" defTabSz="914400" eaLnBrk="0">
              <a:lnSpc>
                <a:spcPct val="150000"/>
              </a:lnSpc>
              <a:spcBef>
                <a:spcPct val="0"/>
              </a:spcBef>
              <a:spcAft>
                <a:spcPct val="0"/>
              </a:spcAft>
              <a:buClrTx/>
              <a:buSzTx/>
              <a:buFontTx/>
            </a:pPr>
            <a:r>
              <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rPr>
              <a:t>需要客户方协作事项</a:t>
            </a:r>
            <a:endParaRPr lang="zh-CN" sz="1200" b="1" kern="0" dirty="0">
              <a:solidFill>
                <a:srgbClr val="30408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21" name="表格 20"/>
          <p:cNvGraphicFramePr/>
          <p:nvPr>
            <p:custDataLst>
              <p:tags r:id="rId3"/>
            </p:custDataLst>
          </p:nvPr>
        </p:nvGraphicFramePr>
        <p:xfrm>
          <a:off x="770890" y="1248410"/>
          <a:ext cx="5690870" cy="4218940"/>
        </p:xfrm>
        <a:graphic>
          <a:graphicData uri="http://schemas.openxmlformats.org/drawingml/2006/table">
            <a:tbl>
              <a:tblPr firstRow="1" lastCol="1" bandCol="1">
                <a:tableStyleId>{0126E9F6-41A6-44B7-8387-491034A24550}</a:tableStyleId>
              </a:tblPr>
              <a:tblGrid>
                <a:gridCol w="995680"/>
                <a:gridCol w="645795"/>
                <a:gridCol w="4049395"/>
              </a:tblGrid>
              <a:tr h="24384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计划完成时间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下一步工作计划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gradFill>
                      <a:gsLst>
                        <a:gs pos="50000">
                          <a:schemeClr val="accent5"/>
                        </a:gs>
                        <a:gs pos="0">
                          <a:schemeClr val="accent5">
                            <a:lumMod val="25000"/>
                            <a:lumOff val="75000"/>
                          </a:schemeClr>
                        </a:gs>
                        <a:gs pos="100000">
                          <a:schemeClr val="accent5">
                            <a:lumMod val="85000"/>
                          </a:schemeClr>
                        </a:gs>
                      </a:gsLst>
                      <a:lin ang="5400000" scaled="1"/>
                    </a:gradFill>
                  </a:tcPr>
                </a:tc>
              </a:tr>
              <a:tr h="548640">
                <a:tc>
                  <a:txBody>
                    <a:bodyPr/>
                    <a:p>
                      <a:pPr algn="ctr">
                        <a:buNone/>
                      </a:pPr>
                      <a:r>
                        <a:rPr lang="zh-CN" altLang="en-US" sz="1000">
                          <a:latin typeface="Arial" panose="020B0604020202020204" pitchFamily="34" charset="0"/>
                          <a:ea typeface="黑体-简" panose="02000000000000000000" charset="-122"/>
                        </a:rPr>
                        <a:t>暴露面扫描</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0430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defTabSz="914400">
                        <a:lnSpc>
                          <a:spcPct val="150000"/>
                        </a:lnSpc>
                        <a:spcBef>
                          <a:spcPct val="0"/>
                        </a:spcBef>
                        <a:spcAft>
                          <a:spcPct val="0"/>
                        </a:spcAft>
                        <a:buSzPct val="100000"/>
                        <a:buFont typeface="+mj-lt"/>
                        <a:buAutoNum type="arabicPeriod"/>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对最新的暴露面风险进行验证和确认，暴露面监测持续开展</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54405">
                <a:tc>
                  <a:txBody>
                    <a:bodyPr/>
                    <a:p>
                      <a:pPr algn="ctr">
                        <a:buNone/>
                      </a:pPr>
                      <a:r>
                        <a:rPr lang="zh-CN" altLang="en-US" sz="1000">
                          <a:latin typeface="Arial" panose="020B0604020202020204" pitchFamily="34" charset="0"/>
                          <a:ea typeface="黑体-简" panose="02000000000000000000" charset="-122"/>
                          <a:sym typeface="+mn-ea"/>
                        </a:rPr>
                        <a:t>勒索风险排查及</a:t>
                      </a:r>
                      <a:endParaRPr lang="zh-CN" altLang="en-US" sz="1000">
                        <a:latin typeface="Arial" panose="020B0604020202020204" pitchFamily="34" charset="0"/>
                        <a:ea typeface="黑体-简" panose="02000000000000000000" charset="-122"/>
                        <a:sym typeface="+mn-ea"/>
                      </a:endParaRPr>
                    </a:p>
                    <a:p>
                      <a:pPr algn="ctr">
                        <a:buNone/>
                      </a:pPr>
                      <a:r>
                        <a:rPr lang="zh-CN" altLang="en-US" sz="1000">
                          <a:latin typeface="Arial" panose="020B0604020202020204" pitchFamily="34" charset="0"/>
                          <a:ea typeface="黑体-简" panose="02000000000000000000" charset="-122"/>
                          <a:sym typeface="+mn-ea"/>
                        </a:rPr>
                        <a:t>脆弱性梳理</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对服务资产开展</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勒索风险排查</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，分析</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勒索风险</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情况</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推动处置。</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完善</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修复优先级清单</a:t>
                      </a:r>
                      <a:r>
                        <a:rPr lang="en-US" sz="1000" dirty="0">
                          <a:solidFill>
                            <a:srgbClr val="FF0000"/>
                          </a:solidFill>
                          <a:latin typeface="Arial" panose="020B0604020202020204" pitchFamily="34" charset="0"/>
                          <a:ea typeface="黑体-简" panose="02000000000000000000" charset="-122"/>
                          <a:cs typeface="微软雅黑" panose="020B0503020204020204" pitchFamily="34" charset="-120"/>
                        </a:rPr>
                        <a:t>，制定未闭环漏洞</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rPr>
                        <a:t>的消减建议计划。</a:t>
                      </a:r>
                      <a:endParaRPr lang="en-US" sz="1000" dirty="0">
                        <a:solidFill>
                          <a:srgbClr val="FF0000"/>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ClrTx/>
                        <a:buSzTx/>
                        <a:buFont typeface="+mj-lt"/>
                        <a:buAutoNum type="arabicPeriod"/>
                      </a:pP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rPr>
                        <a:t>持续监测弱口令情况，重点关注外网高权限及管理员账号的弱口令进行跟进修复。</a:t>
                      </a:r>
                      <a:endParaRPr 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1294765">
                <a:tc>
                  <a:txBody>
                    <a:bodyPr/>
                    <a:p>
                      <a:pPr algn="ctr">
                        <a:buClrTx/>
                        <a:buSzTx/>
                        <a:buFontTx/>
                        <a:buNone/>
                      </a:pPr>
                      <a:r>
                        <a:rPr lang="zh-CN" altLang="en-US" sz="1000">
                          <a:latin typeface="Arial" panose="020B0604020202020204" pitchFamily="34" charset="0"/>
                          <a:ea typeface="黑体-简" panose="02000000000000000000" charset="-122"/>
                          <a:sym typeface="+mn-ea"/>
                        </a:rPr>
                        <a:t>安全响应能力提升</a:t>
                      </a:r>
                      <a:endParaRPr lang="zh-CN" altLang="en-US" sz="1000">
                        <a:latin typeface="Arial" panose="020B0604020202020204" pitchFamily="34" charset="0"/>
                        <a:ea typeface="黑体-简" panose="02000000000000000000" charset="-122"/>
                        <a:sym typeface="+mn-ea"/>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0522</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marL="0" indent="0" algn="l" defTabSz="914400">
                        <a:lnSpc>
                          <a:spcPct val="150000"/>
                        </a:lnSpc>
                        <a:spcBef>
                          <a:spcPct val="0"/>
                        </a:spcBef>
                        <a:spcAft>
                          <a:spcPct val="0"/>
                        </a:spcAft>
                        <a:buNone/>
                      </a:pP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1.</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提供当前服务器主机</a:t>
                      </a:r>
                      <a:r>
                        <a:rPr lang="en-US" altLang="zh-CN"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rPr>
                        <a:t>覆盖的主机及检测到同网段未覆盖的主机清单；</a:t>
                      </a:r>
                      <a:endParaRPr lang="zh-CN" altLang="en-US" sz="1000" dirty="0">
                        <a:solidFill>
                          <a:srgbClr val="FF0000"/>
                        </a:solidFill>
                        <a:latin typeface="Arial" panose="020B0604020202020204" pitchFamily="34" charset="0"/>
                        <a:ea typeface="黑体-简" panose="02000000000000000000" charset="-122"/>
                        <a:cs typeface="微软雅黑" panose="020B0503020204020204" pitchFamily="34" charset="-120"/>
                        <a:sym typeface="+mn-ea"/>
                      </a:endParaRPr>
                    </a:p>
                    <a:p>
                      <a:pPr marL="0" indent="0" algn="l" defTabSz="914400">
                        <a:lnSpc>
                          <a:spcPct val="150000"/>
                        </a:lnSpc>
                        <a:spcBef>
                          <a:spcPct val="0"/>
                        </a:spcBef>
                        <a:spcAft>
                          <a:spcPct val="0"/>
                        </a:spcAft>
                        <a:buNone/>
                      </a:pP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2</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、协助推动服务器</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EDR</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覆盖，提升主机安全问题响应处置效率。</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0" algn="l" defTabSz="914400">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3、开展安全组件策略巡检及跟进调优。</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r h="973455">
                <a:tc>
                  <a:txBody>
                    <a:bodyPr/>
                    <a:p>
                      <a:pPr algn="ctr">
                        <a:buNone/>
                      </a:pPr>
                      <a:r>
                        <a:rPr lang="zh-CN" altLang="en-US" sz="1000">
                          <a:latin typeface="Arial" panose="020B0604020202020204" pitchFamily="34" charset="0"/>
                          <a:ea typeface="黑体-简" panose="02000000000000000000" charset="-122"/>
                        </a:rPr>
                        <a:t>安全运营机验证对齐</a:t>
                      </a:r>
                      <a:endParaRPr lang="zh-CN" altLang="en-US"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accent5">
                        <a:lumMod val="20000"/>
                        <a:lumOff val="80000"/>
                      </a:schemeClr>
                    </a:solidFill>
                  </a:tcPr>
                </a:tc>
                <a:tc>
                  <a:txBody>
                    <a:bodyPr/>
                    <a:p>
                      <a:pPr algn="ctr">
                        <a:buNone/>
                      </a:pPr>
                      <a:r>
                        <a:rPr lang="en-US" altLang="zh-CN" sz="1000">
                          <a:latin typeface="Arial" panose="020B0604020202020204" pitchFamily="34" charset="0"/>
                          <a:ea typeface="黑体-简" panose="02000000000000000000" charset="-122"/>
                        </a:rPr>
                        <a:t>530</a:t>
                      </a:r>
                      <a:endParaRPr lang="en-US" altLang="zh-CN" sz="1000">
                        <a:latin typeface="Arial" panose="020B0604020202020204" pitchFamily="34" charset="0"/>
                        <a:ea typeface="黑体-简" panose="02000000000000000000" charset="-122"/>
                      </a:endParaRPr>
                    </a:p>
                  </a:txBody>
                  <a:tcPr anchor="ctr" anchorCtr="0">
                    <a:lnL w="12700">
                      <a:solidFill>
                        <a:schemeClr val="accent5">
                          <a:lumMod val="40000"/>
                          <a:lumOff val="60000"/>
                        </a:schemeClr>
                      </a:solidFill>
                      <a:prstDash val="solid"/>
                    </a:lnL>
                    <a:lnR w="12700">
                      <a:solidFill>
                        <a:schemeClr val="accent5">
                          <a:lumMod val="40000"/>
                          <a:lumOff val="60000"/>
                        </a:schemeClr>
                      </a:solidFill>
                      <a:prstDash val="solid"/>
                    </a:lnR>
                    <a:lnT w="12700">
                      <a:solidFill>
                        <a:schemeClr val="accent5">
                          <a:lumMod val="40000"/>
                          <a:lumOff val="60000"/>
                        </a:schemeClr>
                      </a:solidFill>
                      <a:prstDash val="solid"/>
                    </a:lnT>
                    <a:lnB w="12700">
                      <a:solidFill>
                        <a:schemeClr val="accent5">
                          <a:lumMod val="40000"/>
                          <a:lumOff val="60000"/>
                        </a:schemeClr>
                      </a:solidFill>
                      <a:prstDash val="solid"/>
                    </a:lnB>
                    <a:lnTlToBr>
                      <a:noFill/>
                    </a:lnTlToBr>
                    <a:lnBlToTr>
                      <a:noFill/>
                    </a:lnBlToTr>
                    <a:solidFill>
                      <a:schemeClr val="tx2">
                        <a:lumMod val="20000"/>
                        <a:lumOff val="80000"/>
                      </a:schemeClr>
                    </a:solidFill>
                  </a:tcPr>
                </a:tc>
                <a:tc>
                  <a:txBody>
                    <a:bodyPr/>
                    <a:p>
                      <a:pPr algn="l">
                        <a:lnSpc>
                          <a:spcPct val="150000"/>
                        </a:lnSpc>
                        <a:buClrTx/>
                        <a:buSzTx/>
                        <a:buFontTx/>
                        <a:buNone/>
                      </a:pP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基于前期的协同优化项试点跑通情况进行复盘总结，对齐下一步运营迭代计划。</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txBody>
                  <a:tcPr anchor="ctr" anchorCtr="0">
                    <a:lnL w="12700">
                      <a:solidFill>
                        <a:schemeClr val="accent5">
                          <a:lumMod val="40000"/>
                          <a:lumOff val="60000"/>
                        </a:schemeClr>
                      </a:solidFill>
                      <a:prstDash val="solid"/>
                    </a:lnL>
                    <a:lnR w="12700" cmpd="sng">
                      <a:solidFill>
                        <a:schemeClr val="accent5">
                          <a:lumMod val="40000"/>
                          <a:lumOff val="60000"/>
                        </a:schemeClr>
                      </a:solidFill>
                      <a:prstDash val="solid"/>
                    </a:lnR>
                    <a:lnT w="12700" cmpd="sng">
                      <a:solidFill>
                        <a:schemeClr val="accent5">
                          <a:lumMod val="40000"/>
                          <a:lumOff val="60000"/>
                        </a:schemeClr>
                      </a:solidFill>
                      <a:prstDash val="solid"/>
                    </a:lnT>
                    <a:lnB w="12700" cmpd="sng">
                      <a:solidFill>
                        <a:schemeClr val="accent5">
                          <a:lumMod val="40000"/>
                          <a:lumOff val="60000"/>
                        </a:schemeClr>
                      </a:solidFill>
                      <a:prstDash val="solid"/>
                    </a:lnB>
                    <a:solidFill>
                      <a:schemeClr val="accent3">
                        <a:lumMod val="20000"/>
                        <a:lumOff val="80000"/>
                      </a:schemeClr>
                    </a:solidFill>
                  </a:tcPr>
                </a:tc>
              </a:tr>
            </a:tbl>
          </a:graphicData>
        </a:graphic>
      </p:graphicFrame>
      <p:graphicFrame>
        <p:nvGraphicFramePr>
          <p:cNvPr id="22" name="表格 21"/>
          <p:cNvGraphicFramePr/>
          <p:nvPr>
            <p:custDataLst>
              <p:tags r:id="rId4"/>
            </p:custDataLst>
          </p:nvPr>
        </p:nvGraphicFramePr>
        <p:xfrm>
          <a:off x="6820535" y="1249045"/>
          <a:ext cx="4748530" cy="4218305"/>
        </p:xfrm>
        <a:graphic>
          <a:graphicData uri="http://schemas.openxmlformats.org/drawingml/2006/table">
            <a:tbl>
              <a:tblPr firstRow="1" lastCol="1" bandCol="1">
                <a:tableStyleId>{0126E9F6-41A6-44B7-8387-491034A24550}</a:tableStyleId>
              </a:tblPr>
              <a:tblGrid>
                <a:gridCol w="1614805"/>
                <a:gridCol w="904240"/>
                <a:gridCol w="2229485"/>
              </a:tblGrid>
              <a:tr h="346710">
                <a:tc>
                  <a:txBody>
                    <a:bodyPr/>
                    <a:p>
                      <a:pPr algn="ctr">
                        <a:buNone/>
                      </a:pPr>
                      <a:r>
                        <a:rPr lang="zh-CN" altLang="en-US" sz="1000">
                          <a:latin typeface="Arial" panose="020B0604020202020204" pitchFamily="34" charset="0"/>
                          <a:ea typeface="黑体-简" panose="02000000000000000000" charset="-122"/>
                        </a:rPr>
                        <a:t>事项</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latin typeface="Arial" panose="020B0604020202020204" pitchFamily="34" charset="0"/>
                          <a:ea typeface="黑体-简" panose="02000000000000000000" charset="-122"/>
                        </a:rPr>
                        <a:t>计划时间</a:t>
                      </a:r>
                      <a:endParaRPr lang="zh-CN" altLang="en-US" sz="1000">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c>
                  <a:txBody>
                    <a:bodyPr/>
                    <a:p>
                      <a:pPr algn="ctr">
                        <a:buNone/>
                      </a:pPr>
                      <a:r>
                        <a:rPr lang="zh-CN" altLang="en-US" sz="1000">
                          <a:solidFill>
                            <a:srgbClr val="FFFF00"/>
                          </a:solidFill>
                          <a:latin typeface="Arial" panose="020B0604020202020204" pitchFamily="34" charset="0"/>
                          <a:ea typeface="黑体-简" panose="02000000000000000000" charset="-122"/>
                        </a:rPr>
                        <a:t>下一次沟通计划</a:t>
                      </a:r>
                      <a:endParaRPr lang="zh-CN" altLang="en-US" sz="1000">
                        <a:solidFill>
                          <a:srgbClr val="FFFF00"/>
                        </a:solidFill>
                        <a:latin typeface="Arial" panose="020B0604020202020204" pitchFamily="34" charset="0"/>
                        <a:ea typeface="黑体-简" panose="02000000000000000000" charset="-122"/>
                      </a:endParaRPr>
                    </a:p>
                  </a:txBody>
                  <a:tcPr anchor="ctr" anchorCtr="0">
                    <a:lnL w="12700" cmpd="sng">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gradFill>
                      <a:gsLst>
                        <a:gs pos="50000">
                          <a:schemeClr val="accent6"/>
                        </a:gs>
                        <a:gs pos="0">
                          <a:schemeClr val="accent6">
                            <a:lumMod val="25000"/>
                            <a:lumOff val="75000"/>
                          </a:schemeClr>
                        </a:gs>
                        <a:gs pos="100000">
                          <a:schemeClr val="accent6">
                            <a:lumMod val="85000"/>
                          </a:schemeClr>
                        </a:gs>
                      </a:gsLst>
                      <a:lin ang="5400000" scaled="1"/>
                    </a:gradFill>
                  </a:tcPr>
                </a:tc>
              </a:tr>
              <a:tr h="961390">
                <a:tc>
                  <a:txBody>
                    <a:bodyPr/>
                    <a:p>
                      <a:pPr algn="ctr">
                        <a:buNone/>
                      </a:pPr>
                      <a:r>
                        <a:rPr lang="zh-CN" altLang="en-US" sz="1000">
                          <a:latin typeface="Arial" panose="020B0604020202020204" pitchFamily="34" charset="0"/>
                          <a:ea typeface="黑体-简" panose="02000000000000000000" charset="-122"/>
                        </a:rPr>
                        <a:t>确认最新的所有互联网出口</a:t>
                      </a:r>
                      <a:r>
                        <a:rPr lang="en-US" altLang="zh-CN" sz="1000">
                          <a:latin typeface="Arial" panose="020B0604020202020204" pitchFamily="34" charset="0"/>
                          <a:ea typeface="黑体-简" panose="02000000000000000000" charset="-122"/>
                        </a:rPr>
                        <a:t>IP</a:t>
                      </a:r>
                      <a:r>
                        <a:rPr lang="zh-CN" altLang="en-US" sz="1000">
                          <a:latin typeface="Arial" panose="020B0604020202020204" pitchFamily="34" charset="0"/>
                          <a:ea typeface="黑体-简" panose="02000000000000000000" charset="-122"/>
                        </a:rPr>
                        <a:t>和根域名</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0428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508</a:t>
                      </a:r>
                      <a:r>
                        <a:rPr lang="zh-CN" altLang="en-US" sz="1000" b="0">
                          <a:solidFill>
                            <a:srgbClr val="000000"/>
                          </a:solidFill>
                          <a:latin typeface="Arial" panose="020B0604020202020204" pitchFamily="34" charset="0"/>
                          <a:ea typeface="黑体-简" panose="02000000000000000000" charset="-122"/>
                        </a:rPr>
                        <a:t>：对暴露面梳理结果进行沟通对齐</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1821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、配合反馈脆弱性修复情况进展</a:t>
                      </a:r>
                      <a:endParaRPr lang="zh-CN" altLang="en-US" sz="1000">
                        <a:latin typeface="Arial" panose="020B0604020202020204" pitchFamily="34" charset="0"/>
                        <a:ea typeface="黑体-简" panose="02000000000000000000" charset="-122"/>
                      </a:endParaRPr>
                    </a:p>
                    <a:p>
                      <a:pPr algn="ctr">
                        <a:buNone/>
                      </a:pPr>
                      <a:endParaRPr lang="zh-CN" altLang="en-US" sz="1000">
                        <a:latin typeface="Arial" panose="020B0604020202020204" pitchFamily="34" charset="0"/>
                        <a:ea typeface="黑体-简" panose="02000000000000000000" charset="-122"/>
                      </a:endParaRPr>
                    </a:p>
                    <a:p>
                      <a:pPr algn="ctr">
                        <a:buNone/>
                      </a:pPr>
                      <a:r>
                        <a:rPr lang="en-US" altLang="zh-CN" sz="1000">
                          <a:latin typeface="Arial" panose="020B0604020202020204" pitchFamily="34" charset="0"/>
                          <a:ea typeface="黑体-简" panose="02000000000000000000" charset="-122"/>
                        </a:rPr>
                        <a:t>2</a:t>
                      </a:r>
                      <a:r>
                        <a:rPr lang="zh-CN" altLang="en-US" sz="1000">
                          <a:latin typeface="Arial" panose="020B0604020202020204" pitchFamily="34" charset="0"/>
                          <a:ea typeface="黑体-简" panose="02000000000000000000" charset="-122"/>
                        </a:rPr>
                        <a:t>、对齐修复落地计划</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zh-CN" altLang="en-US" sz="1000">
                          <a:latin typeface="Arial" panose="020B0604020202020204" pitchFamily="34" charset="0"/>
                          <a:ea typeface="黑体-简" panose="02000000000000000000" charset="-122"/>
                        </a:rPr>
                        <a:t>0</a:t>
                      </a:r>
                      <a:r>
                        <a:rPr lang="en-US" altLang="zh-CN" sz="1000">
                          <a:latin typeface="Arial" panose="020B0604020202020204" pitchFamily="34" charset="0"/>
                          <a:ea typeface="黑体-简" panose="02000000000000000000" charset="-122"/>
                        </a:rPr>
                        <a:t>508</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ctr">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522</a:t>
                      </a:r>
                      <a:r>
                        <a:rPr lang="zh-CN" altLang="en-US" sz="1000" b="0">
                          <a:solidFill>
                            <a:srgbClr val="000000"/>
                          </a:solidFill>
                          <a:latin typeface="Arial" panose="020B0604020202020204" pitchFamily="34" charset="0"/>
                          <a:ea typeface="黑体-简" panose="02000000000000000000" charset="-122"/>
                        </a:rPr>
                        <a:t>：对漏洞扫描结果进行沟通，确认修复方案。 </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5680">
                <a:tc>
                  <a:txBody>
                    <a:bodyPr/>
                    <a:p>
                      <a:pPr algn="ctr">
                        <a:buNone/>
                      </a:pPr>
                      <a:r>
                        <a:rPr lang="en-US" altLang="zh-CN" sz="1000">
                          <a:latin typeface="Arial" panose="020B0604020202020204" pitchFamily="34" charset="0"/>
                          <a:ea typeface="黑体-简" panose="02000000000000000000" charset="-122"/>
                        </a:rPr>
                        <a:t>1</a:t>
                      </a:r>
                      <a:r>
                        <a:rPr lang="zh-CN" altLang="en-US" sz="1000">
                          <a:latin typeface="Arial" panose="020B0604020202020204" pitchFamily="34" charset="0"/>
                          <a:ea typeface="黑体-简" panose="02000000000000000000" charset="-122"/>
                        </a:rPr>
                        <a:t>、策略调优确认及授权</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0515</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ClrTx/>
                        <a:buSzTx/>
                        <a:buFontTx/>
                        <a:buNone/>
                      </a:pPr>
                      <a:r>
                        <a:rPr lang="zh-CN" altLang="en-US" sz="1000" b="0">
                          <a:solidFill>
                            <a:srgbClr val="000000"/>
                          </a:solidFill>
                          <a:latin typeface="Arial" panose="020B0604020202020204" pitchFamily="34" charset="0"/>
                          <a:ea typeface="黑体-简" panose="02000000000000000000" charset="-122"/>
                        </a:rPr>
                        <a:t>0522：对齐调优情况及结果</a:t>
                      </a:r>
                      <a:endParaRPr lang="zh-CN" altLang="en-US" sz="1000" b="0">
                        <a:solidFill>
                          <a:srgbClr val="000000"/>
                        </a:solidFill>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r h="996315">
                <a:tc>
                  <a:txBody>
                    <a:bodyPr/>
                    <a:p>
                      <a:pPr algn="ctr">
                        <a:buNone/>
                      </a:pPr>
                      <a:r>
                        <a:rPr lang="zh-CN" altLang="en-US" sz="1000">
                          <a:latin typeface="Arial" panose="020B0604020202020204" pitchFamily="34" charset="0"/>
                          <a:ea typeface="黑体-简" panose="02000000000000000000" charset="-122"/>
                        </a:rPr>
                        <a:t>推进主机</a:t>
                      </a:r>
                      <a:r>
                        <a:rPr lang="en-US" altLang="zh-CN" sz="1000">
                          <a:latin typeface="Arial" panose="020B0604020202020204" pitchFamily="34" charset="0"/>
                          <a:ea typeface="黑体-简" panose="02000000000000000000" charset="-122"/>
                        </a:rPr>
                        <a:t>EDR</a:t>
                      </a:r>
                      <a:r>
                        <a:rPr lang="zh-CN" altLang="en-US" sz="1000">
                          <a:latin typeface="Arial" panose="020B0604020202020204" pitchFamily="34" charset="0"/>
                          <a:ea typeface="黑体-简" panose="02000000000000000000" charset="-122"/>
                        </a:rPr>
                        <a:t>的覆盖</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40000"/>
                        <a:lumOff val="60000"/>
                      </a:schemeClr>
                    </a:solidFill>
                  </a:tcPr>
                </a:tc>
                <a:tc>
                  <a:txBody>
                    <a:bodyPr/>
                    <a:p>
                      <a:pPr algn="ctr">
                        <a:buNone/>
                      </a:pPr>
                      <a:r>
                        <a:rPr lang="en-US" altLang="zh-CN" sz="1000">
                          <a:latin typeface="Arial" panose="020B0604020202020204" pitchFamily="34" charset="0"/>
                          <a:ea typeface="黑体-简" panose="02000000000000000000" charset="-122"/>
                        </a:rPr>
                        <a:t>0530</a:t>
                      </a:r>
                      <a:endParaRPr lang="en-US" altLang="zh-CN"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a:solidFill>
                        <a:schemeClr val="accent6">
                          <a:lumMod val="60000"/>
                          <a:lumOff val="40000"/>
                        </a:schemeClr>
                      </a:solidFill>
                      <a:prstDash val="solid"/>
                    </a:lnR>
                    <a:lnT w="12700">
                      <a:solidFill>
                        <a:schemeClr val="accent6">
                          <a:lumMod val="60000"/>
                          <a:lumOff val="40000"/>
                        </a:schemeClr>
                      </a:solidFill>
                      <a:prstDash val="solid"/>
                    </a:lnT>
                    <a:lnB w="12700">
                      <a:solidFill>
                        <a:schemeClr val="accent6">
                          <a:lumMod val="60000"/>
                          <a:lumOff val="40000"/>
                        </a:schemeClr>
                      </a:solidFill>
                      <a:prstDash val="solid"/>
                    </a:lnB>
                    <a:lnTlToBr>
                      <a:noFill/>
                    </a:lnTlToBr>
                    <a:lnBlToTr>
                      <a:noFill/>
                    </a:lnBlToTr>
                    <a:solidFill>
                      <a:schemeClr val="accent6">
                        <a:lumMod val="20000"/>
                        <a:lumOff val="80000"/>
                      </a:schemeClr>
                    </a:solidFill>
                  </a:tcPr>
                </a:tc>
                <a:tc>
                  <a:txBody>
                    <a:bodyPr/>
                    <a:p>
                      <a:pPr algn="l">
                        <a:buNone/>
                      </a:pPr>
                      <a:r>
                        <a:rPr lang="zh-CN" altLang="en-US" sz="1000" b="0">
                          <a:solidFill>
                            <a:srgbClr val="000000"/>
                          </a:solidFill>
                          <a:latin typeface="Arial" panose="020B0604020202020204" pitchFamily="34" charset="0"/>
                          <a:ea typeface="黑体-简" panose="02000000000000000000" charset="-122"/>
                        </a:rPr>
                        <a:t>0</a:t>
                      </a:r>
                      <a:r>
                        <a:rPr lang="en-US" altLang="zh-CN" sz="1000" b="0">
                          <a:solidFill>
                            <a:srgbClr val="000000"/>
                          </a:solidFill>
                          <a:latin typeface="Arial" panose="020B0604020202020204" pitchFamily="34" charset="0"/>
                          <a:ea typeface="黑体-简" panose="02000000000000000000" charset="-122"/>
                        </a:rPr>
                        <a:t>605</a:t>
                      </a:r>
                      <a:r>
                        <a:rPr lang="zh-CN" altLang="en-US" sz="1000" b="0">
                          <a:solidFill>
                            <a:srgbClr val="000000"/>
                          </a:solidFill>
                          <a:latin typeface="Arial" panose="020B0604020202020204" pitchFamily="34" charset="0"/>
                          <a:ea typeface="黑体-简" panose="02000000000000000000" charset="-122"/>
                        </a:rPr>
                        <a:t>：对齐覆盖情况。</a:t>
                      </a:r>
                      <a:endParaRPr lang="zh-CN" altLang="en-US" sz="1000">
                        <a:latin typeface="Arial" panose="020B0604020202020204" pitchFamily="34" charset="0"/>
                        <a:ea typeface="黑体-简" panose="02000000000000000000" charset="-122"/>
                      </a:endParaRPr>
                    </a:p>
                  </a:txBody>
                  <a:tcPr anchor="ctr" anchorCtr="0">
                    <a:lnL w="12700">
                      <a:solidFill>
                        <a:schemeClr val="accent6">
                          <a:lumMod val="60000"/>
                          <a:lumOff val="40000"/>
                        </a:schemeClr>
                      </a:solidFill>
                      <a:prstDash val="solid"/>
                    </a:lnL>
                    <a:lnR w="12700" cmpd="sng">
                      <a:solidFill>
                        <a:schemeClr val="accent6">
                          <a:lumMod val="60000"/>
                          <a:lumOff val="40000"/>
                        </a:schemeClr>
                      </a:solidFill>
                      <a:prstDash val="solid"/>
                    </a:lnR>
                    <a:lnT w="12700" cmpd="sng">
                      <a:solidFill>
                        <a:schemeClr val="accent6">
                          <a:lumMod val="60000"/>
                          <a:lumOff val="40000"/>
                        </a:schemeClr>
                      </a:solidFill>
                      <a:prstDash val="solid"/>
                    </a:lnT>
                    <a:lnB w="12700" cmpd="sng">
                      <a:solidFill>
                        <a:schemeClr val="accent6">
                          <a:lumMod val="60000"/>
                          <a:lumOff val="40000"/>
                        </a:schemeClr>
                      </a:solidFill>
                      <a:prstDash val="solid"/>
                    </a:lnB>
                    <a:solidFill>
                      <a:schemeClr val="accent3">
                        <a:lumMod val="20000"/>
                        <a:lumOff val="80000"/>
                      </a:schemeClr>
                    </a:solidFill>
                  </a:tcPr>
                </a:tc>
              </a:tr>
            </a:tbl>
          </a:graphicData>
        </a:graphic>
      </p:graphicFrame>
      <p:grpSp>
        <p:nvGrpSpPr>
          <p:cNvPr id="2" name="组合 1"/>
          <p:cNvGrpSpPr/>
          <p:nvPr/>
        </p:nvGrpSpPr>
        <p:grpSpPr>
          <a:xfrm>
            <a:off x="224790" y="289878"/>
            <a:ext cx="6011545" cy="327025"/>
            <a:chOff x="533" y="646"/>
            <a:chExt cx="9467" cy="515"/>
          </a:xfrm>
        </p:grpSpPr>
        <p:grpSp>
          <p:nvGrpSpPr>
            <p:cNvPr id="3" name="组合 2"/>
            <p:cNvGrpSpPr/>
            <p:nvPr/>
          </p:nvGrpSpPr>
          <p:grpSpPr>
            <a:xfrm rot="0">
              <a:off x="533" y="672"/>
              <a:ext cx="582" cy="420"/>
              <a:chOff x="533" y="672"/>
              <a:chExt cx="582" cy="420"/>
            </a:xfrm>
          </p:grpSpPr>
          <p:sp>
            <p:nvSpPr>
              <p:cNvPr id="4" name="燕尾形 86"/>
              <p:cNvSpPr/>
              <p:nvPr>
                <p:custDataLst>
                  <p:tags r:id="rId5"/>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8" name="燕尾形 103"/>
              <p:cNvSpPr/>
              <p:nvPr>
                <p:custDataLst>
                  <p:tags r:id="rId6"/>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24" name="textbox 158"/>
            <p:cNvSpPr/>
            <p:nvPr/>
          </p:nvSpPr>
          <p:spPr>
            <a:xfrm>
              <a:off x="1345" y="646"/>
              <a:ext cx="8655"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Arial Black" panose="020B0A04020102020204" pitchFamily="34" charset="0"/>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下一阶段行动</a:t>
              </a:r>
              <a:r>
                <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rPr>
                <a:t>计划</a:t>
              </a:r>
              <a:endParaRPr lang="zh-CN" altLang="en-US" sz="1900" b="1" noProof="0" dirty="0">
                <a:solidFill>
                  <a:schemeClr val="tx1">
                    <a:lumMod val="85000"/>
                    <a:lumOff val="15000"/>
                  </a:schemeClr>
                </a:solidFill>
                <a:uLnTx/>
                <a:latin typeface="Arial Black" panose="020B0A04020102020204" pitchFamily="34" charset="0"/>
                <a:ea typeface="微软雅黑" panose="020B0503020204020204" charset="-122"/>
                <a:sym typeface="Calibri" panose="020F0502020204030204"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descr="深信服 + 智安全"/>
          <p:cNvPicPr>
            <a:picLocks noChangeAspect="1"/>
          </p:cNvPicPr>
          <p:nvPr/>
        </p:nvPicPr>
        <p:blipFill>
          <a:blip r:embed="rId1"/>
          <a:srcRect l="5232" t="26576" r="4938" b="29565"/>
          <a:stretch>
            <a:fillRect/>
          </a:stretch>
        </p:blipFill>
        <p:spPr>
          <a:xfrm>
            <a:off x="10330815" y="273073"/>
            <a:ext cx="1629867" cy="360000"/>
          </a:xfrm>
          <a:prstGeom prst="rect">
            <a:avLst/>
          </a:prstGeom>
        </p:spPr>
      </p:pic>
      <p:sp>
        <p:nvSpPr>
          <p:cNvPr id="1880" name="文本框 8"/>
          <p:cNvSpPr txBox="1"/>
          <p:nvPr/>
        </p:nvSpPr>
        <p:spPr>
          <a:xfrm>
            <a:off x="1229360" y="3956685"/>
            <a:ext cx="5427345" cy="240030"/>
          </a:xfrm>
          <a:prstGeom prst="rect">
            <a:avLst/>
          </a:prstGeom>
          <a:ln w="12700">
            <a:miter lim="400000"/>
          </a:ln>
        </p:spPr>
        <p:txBody>
          <a:bodyPr wrap="square"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a:r>
              <a:rPr lang="zh-CN" altLang="en-US">
                <a:solidFill>
                  <a:schemeClr val="tx1"/>
                </a:solidFill>
                <a:latin typeface="Arial" panose="020B0604020202020204" pitchFamily="34" charset="0"/>
                <a:ea typeface="黑体-简" panose="02000000000000000000" charset="-122"/>
              </a:rPr>
              <a:t>感谢这份双向奔赴的信任，期待我们继续并肩，共同创造价值</a:t>
            </a:r>
            <a:endParaRPr lang="zh-CN" altLang="en-US">
              <a:solidFill>
                <a:schemeClr val="tx1"/>
              </a:solidFill>
              <a:latin typeface="Arial" panose="020B0604020202020204" pitchFamily="34" charset="0"/>
              <a:ea typeface="黑体-简" panose="02000000000000000000" charset="-122"/>
            </a:endParaRPr>
          </a:p>
        </p:txBody>
      </p:sp>
      <p:sp>
        <p:nvSpPr>
          <p:cNvPr id="4" name="标题"/>
          <p:cNvSpPr>
            <a:spLocks noGrp="1"/>
          </p:cNvSpPr>
          <p:nvPr>
            <p:ph type="ctrTitle"/>
            <p:custDataLst>
              <p:tags r:id="rId2"/>
            </p:custDataLst>
          </p:nvPr>
        </p:nvSpPr>
        <p:spPr>
          <a:xfrm>
            <a:off x="1240155" y="2310765"/>
            <a:ext cx="5552440" cy="1230630"/>
          </a:xfrm>
        </p:spPr>
        <p:txBody>
          <a:bodyPr vert="horz" wrap="square" lIns="0" tIns="0" rIns="0" bIns="0" rtlCol="0" anchor="ctr" anchorCtr="0">
            <a:normAutofit fontScale="90000"/>
          </a:bodyPr>
          <a:lstStyle/>
          <a:p>
            <a:pPr lvl="0" algn="l">
              <a:buClrTx/>
              <a:buSzTx/>
              <a:buFontTx/>
            </a:pPr>
            <a:r>
              <a:rPr lang="zh-CN" altLang="en-US" sz="4800">
                <a:solidFill>
                  <a:srgbClr val="4C61E7"/>
                </a:solidFill>
                <a:latin typeface="Arial Black" panose="020B0A04020102020204" pitchFamily="34" charset="0"/>
                <a:ea typeface="微软雅黑" panose="020B0503020204020204" charset="-122"/>
                <a:sym typeface="+mn-ea"/>
              </a:rPr>
              <a:t>客户成功  </a:t>
            </a:r>
            <a:br>
              <a:rPr lang="zh-CN" altLang="en-US" sz="4800">
                <a:solidFill>
                  <a:srgbClr val="4C61E7"/>
                </a:solidFill>
                <a:latin typeface="Arial Black" panose="020B0A04020102020204" pitchFamily="34" charset="0"/>
                <a:ea typeface="微软雅黑" panose="020B0503020204020204" charset="-122"/>
                <a:sym typeface="+mn-ea"/>
              </a:rPr>
            </a:br>
            <a:r>
              <a:rPr lang="zh-CN" altLang="en-US" sz="4800">
                <a:solidFill>
                  <a:srgbClr val="4C61E7"/>
                </a:solidFill>
                <a:latin typeface="Arial Black" panose="020B0A04020102020204" pitchFamily="34" charset="0"/>
                <a:ea typeface="微软雅黑" panose="020B0503020204020204" charset="-122"/>
                <a:sym typeface="+mn-ea"/>
              </a:rPr>
              <a:t>才是深信服的成功</a:t>
            </a:r>
            <a:endParaRPr lang="zh-CN" altLang="en-US" sz="4800">
              <a:solidFill>
                <a:srgbClr val="4C61E7"/>
              </a:solidFill>
              <a:latin typeface="Arial Black" panose="020B0A04020102020204" pitchFamily="34" charset="0"/>
              <a:ea typeface="微软雅黑" panose="020B0503020204020204" charset="-122"/>
              <a:sym typeface="+mn-ea"/>
            </a:endParaRPr>
          </a:p>
        </p:txBody>
      </p:sp>
      <p:grpSp>
        <p:nvGrpSpPr>
          <p:cNvPr id="247" name="组合 246"/>
          <p:cNvGrpSpPr/>
          <p:nvPr>
            <p:custDataLst>
              <p:tags r:id="rId3"/>
            </p:custDataLst>
          </p:nvPr>
        </p:nvGrpSpPr>
        <p:grpSpPr>
          <a:xfrm rot="0">
            <a:off x="8006715" y="2411730"/>
            <a:ext cx="2171700" cy="2050415"/>
            <a:chOff x="2318" y="2339"/>
            <a:chExt cx="14664" cy="14559"/>
          </a:xfrm>
        </p:grpSpPr>
        <p:sp>
          <p:nvSpPr>
            <p:cNvPr id="248" name="任意多边形 247"/>
            <p:cNvSpPr/>
            <p:nvPr>
              <p:custDataLst>
                <p:tags r:id="rId4"/>
              </p:custDataLst>
            </p:nvPr>
          </p:nvSpPr>
          <p:spPr>
            <a:xfrm>
              <a:off x="6476" y="14814"/>
              <a:ext cx="10506" cy="1920"/>
            </a:xfrm>
            <a:custGeom>
              <a:avLst/>
              <a:gdLst>
                <a:gd name="connisteX0" fmla="*/ 0 w 3017520"/>
                <a:gd name="connsiteY0" fmla="*/ 533400 h 571500"/>
                <a:gd name="connisteX1" fmla="*/ 289560 w 3017520"/>
                <a:gd name="connsiteY1" fmla="*/ 571500 h 571500"/>
                <a:gd name="connisteX2" fmla="*/ 3017520 w 3017520"/>
                <a:gd name="connsiteY2" fmla="*/ 281940 h 571500"/>
                <a:gd name="connisteX3" fmla="*/ 2811780 w 3017520"/>
                <a:gd name="connsiteY3" fmla="*/ 0 h 571500"/>
                <a:gd name="connisteX4" fmla="*/ 0 w 3017520"/>
                <a:gd name="connsiteY4" fmla="*/ 533400 h 571500"/>
              </a:gdLst>
              <a:ahLst/>
              <a:cxnLst>
                <a:cxn ang="0">
                  <a:pos x="connisteX0" y="connsiteY0"/>
                </a:cxn>
                <a:cxn ang="0">
                  <a:pos x="connisteX1" y="connsiteY1"/>
                </a:cxn>
                <a:cxn ang="0">
                  <a:pos x="connisteX2" y="connsiteY2"/>
                </a:cxn>
                <a:cxn ang="0">
                  <a:pos x="connisteX3" y="connsiteY3"/>
                </a:cxn>
                <a:cxn ang="0">
                  <a:pos x="connisteX4" y="connsiteY4"/>
                </a:cxn>
              </a:cxnLst>
              <a:rect l="l" t="t" r="r" b="b"/>
              <a:pathLst>
                <a:path w="3017520" h="571500">
                  <a:moveTo>
                    <a:pt x="0" y="533400"/>
                  </a:moveTo>
                  <a:lnTo>
                    <a:pt x="289560" y="571500"/>
                  </a:lnTo>
                  <a:lnTo>
                    <a:pt x="3017520" y="281940"/>
                  </a:lnTo>
                  <a:lnTo>
                    <a:pt x="2811780" y="0"/>
                  </a:lnTo>
                  <a:lnTo>
                    <a:pt x="0" y="533400"/>
                  </a:lnTo>
                  <a:close/>
                </a:path>
              </a:pathLst>
            </a:custGeom>
            <a:gradFill>
              <a:gsLst>
                <a:gs pos="10000">
                  <a:srgbClr val="CBCBCB">
                    <a:alpha val="0"/>
                  </a:srgbClr>
                </a:gs>
                <a:gs pos="51000">
                  <a:srgbClr val="676767"/>
                </a:gs>
                <a:gs pos="96000">
                  <a:srgbClr val="CBCBCB">
                    <a:alpha val="0"/>
                  </a:srgbClr>
                </a:gs>
              </a:gsLst>
              <a:path path="circle">
                <a:fillToRect t="100000" r="100000"/>
              </a:path>
              <a:tileRect l="-100000" b="-1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9" name="椭圆 248"/>
            <p:cNvSpPr/>
            <p:nvPr>
              <p:custDataLst>
                <p:tags r:id="rId5"/>
              </p:custDataLst>
            </p:nvPr>
          </p:nvSpPr>
          <p:spPr>
            <a:xfrm>
              <a:off x="2318" y="15242"/>
              <a:ext cx="7523" cy="1656"/>
            </a:xfrm>
            <a:prstGeom prst="ellipse">
              <a:avLst/>
            </a:prstGeom>
            <a:gradFill>
              <a:gsLst>
                <a:gs pos="7000">
                  <a:srgbClr val="FFFFFF">
                    <a:alpha val="0"/>
                  </a:srgbClr>
                </a:gs>
                <a:gs pos="71000">
                  <a:srgbClr val="404040"/>
                </a:gs>
              </a:gsLst>
              <a:lin ang="18900000" scaled="0"/>
            </a:gra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50" name="图片 249" descr="44"/>
            <p:cNvPicPr>
              <a:picLocks noChangeAspect="1"/>
            </p:cNvPicPr>
            <p:nvPr>
              <p:custDataLst>
                <p:tags r:id="rId6"/>
              </p:custDataLst>
            </p:nvPr>
          </p:nvPicPr>
          <p:blipFill>
            <a:blip r:embed="rId7"/>
            <a:stretch>
              <a:fillRect/>
            </a:stretch>
          </p:blipFill>
          <p:spPr>
            <a:xfrm>
              <a:off x="5002" y="2339"/>
              <a:ext cx="11794" cy="14284"/>
            </a:xfrm>
            <a:prstGeom prst="rect">
              <a:avLst/>
            </a:prstGeom>
          </p:spPr>
        </p:pic>
        <p:pic>
          <p:nvPicPr>
            <p:cNvPr id="251" name="图片 250" descr="E:/设计图片素材/mads-schmidt-rasmussen-cdsjnp2hrXs-unsplash.jpgmads-schmidt-rasmussen-cdsjnp2hrXs-unsplash"/>
            <p:cNvPicPr>
              <a:picLocks noChangeAspect="1"/>
            </p:cNvPicPr>
            <p:nvPr>
              <p:custDataLst>
                <p:tags r:id="rId8"/>
              </p:custDataLst>
            </p:nvPr>
          </p:nvPicPr>
          <p:blipFill>
            <a:blip r:embed="rId9"/>
            <a:srcRect l="20806" t="-3" r="20806" b="-3"/>
            <a:stretch>
              <a:fillRect/>
            </a:stretch>
          </p:blipFill>
          <p:spPr>
            <a:xfrm>
              <a:off x="7550" y="4027"/>
              <a:ext cx="8086" cy="9283"/>
            </a:xfrm>
            <a:custGeom>
              <a:avLst/>
              <a:gdLst/>
              <a:ahLst/>
              <a:cxnLst>
                <a:cxn ang="3">
                  <a:pos x="hc" y="t"/>
                </a:cxn>
                <a:cxn ang="cd2">
                  <a:pos x="l" y="vc"/>
                </a:cxn>
                <a:cxn ang="cd4">
                  <a:pos x="hc" y="b"/>
                </a:cxn>
                <a:cxn ang="0">
                  <a:pos x="r" y="vc"/>
                </a:cxn>
              </a:cxnLst>
              <a:rect l="l" t="t" r="r" b="b"/>
              <a:pathLst>
                <a:path w="4014" h="4608">
                  <a:moveTo>
                    <a:pt x="3354" y="0"/>
                  </a:moveTo>
                  <a:lnTo>
                    <a:pt x="4014" y="4242"/>
                  </a:lnTo>
                  <a:lnTo>
                    <a:pt x="606" y="4608"/>
                  </a:lnTo>
                  <a:lnTo>
                    <a:pt x="0" y="36"/>
                  </a:lnTo>
                  <a:lnTo>
                    <a:pt x="3354" y="0"/>
                  </a:lnTo>
                  <a:close/>
                </a:path>
              </a:pathLst>
            </a:custGeom>
            <a:effectLst>
              <a:innerShdw blurRad="114300">
                <a:prstClr val="black">
                  <a:alpha val="33000"/>
                </a:prstClr>
              </a:innerShdw>
            </a:effectLst>
          </p:spPr>
        </p:pic>
      </p:grpSp>
    </p:spTree>
    <p:custDataLst>
      <p:tags r:id="rId10"/>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sz="1600" kern="0" spc="70" dirty="0">
                <a:solidFill>
                  <a:schemeClr val="dk1"/>
                </a:solidFill>
                <a:latin typeface="Arial" panose="020B0604020202020204" pitchFamily="34" charset="0"/>
                <a:ea typeface="黑体-简" panose="02000000000000000000" charset="-122"/>
                <a:cs typeface="黑体" panose="02010609060101010101" charset="-122"/>
                <a:sym typeface="+mn-ea"/>
              </a:rPr>
              <a:t>资产管理、威胁监测、漏洞管理、事</a:t>
            </a:r>
            <a:r>
              <a:rPr sz="1600" kern="0" spc="60" dirty="0">
                <a:solidFill>
                  <a:schemeClr val="dk1"/>
                </a:solidFill>
                <a:latin typeface="Arial" panose="020B0604020202020204" pitchFamily="34" charset="0"/>
                <a:ea typeface="黑体-简" panose="02000000000000000000" charset="-122"/>
                <a:cs typeface="黑体" panose="02010609060101010101" charset="-122"/>
                <a:sym typeface="+mn-ea"/>
              </a:rPr>
              <a:t>件处置</a:t>
            </a:r>
            <a:endParaRPr lang="en-US" sz="1600" b="0" u="none" strike="noStrike" kern="0" spc="60" dirty="0">
              <a:solidFill>
                <a:schemeClr val="dk1"/>
              </a:solidFill>
              <a:effectLst/>
              <a:uFillTx/>
              <a:latin typeface="Arial" panose="020B0604020202020204" pitchFamily="34" charset="0"/>
              <a:ea typeface="黑体-简" panose="02000000000000000000"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vert="horz" wrap="square" lIns="0" tIns="0" rIns="0" bIns="0" rtlCol="0" anchor="ctr" anchorCtr="0">
            <a:noAutofit/>
          </a:bodyPr>
          <a:lstStyle/>
          <a:p>
            <a:pPr lvl="0" algn="l">
              <a:buClrTx/>
              <a:buSzTx/>
              <a:buFontTx/>
            </a:pPr>
            <a:r>
              <a:rPr lang="zh-CN" altLang="en-US" sz="3200">
                <a:solidFill>
                  <a:srgbClr val="4C61E7"/>
                </a:solidFill>
                <a:latin typeface="Arial" panose="020B0604020202020204" pitchFamily="34" charset="0"/>
                <a:ea typeface="黑体-简" panose="02000000000000000000" charset="-122"/>
                <a:sym typeface="+mn-ea"/>
              </a:rPr>
              <a:t>工作成果详情</a:t>
            </a:r>
            <a:endParaRPr lang="zh-CN" altLang="en-US" sz="3200">
              <a:solidFill>
                <a:srgbClr val="4C61E7"/>
              </a:solidFill>
              <a:latin typeface="Arial" panose="020B0604020202020204" pitchFamily="34" charset="0"/>
              <a:ea typeface="黑体-简" panose="02000000000000000000" charset="-122"/>
              <a:sym typeface="+mn-ea"/>
            </a:endParaRPr>
          </a:p>
        </p:txBody>
      </p:sp>
      <p:sp>
        <p:nvSpPr>
          <p:cNvPr id="6" name="节编号"/>
          <p:cNvSpPr>
            <a:spLocks noGrp="1"/>
          </p:cNvSpPr>
          <p:nvPr>
            <p:ph type="body" sz="quarter" idx="13"/>
            <p:custDataLst>
              <p:tags r:id="rId3"/>
            </p:custDataLst>
          </p:nvPr>
        </p:nvSpPr>
        <p:spPr/>
        <p:txBody>
          <a:bodyPr>
            <a:normAutofit lnSpcReduction="20000"/>
          </a:bodyPr>
          <a:lstStyle/>
          <a:p>
            <a:r>
              <a:rPr lang="zh-CN" altLang="en-US">
                <a:solidFill>
                  <a:srgbClr val="4C61E7"/>
                </a:solidFill>
                <a:latin typeface="Arial Black" panose="020B0A04020102020204" pitchFamily="34" charset="0"/>
                <a:ea typeface="微软雅黑" panose="020B0503020204020204" charset="-122"/>
              </a:rPr>
              <a:t>附录</a:t>
            </a:r>
            <a:endParaRPr lang="zh-CN" altLang="en-US">
              <a:solidFill>
                <a:srgbClr val="4C61E7"/>
              </a:solidFill>
              <a:latin typeface="Arial Black" panose="020B0A04020102020204" pitchFamily="34" charset="0"/>
              <a:ea typeface="微软雅黑" panose="020B0503020204020204" charset="-122"/>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3" name="textbox 50"/>
          <p:cNvSpPr/>
          <p:nvPr/>
        </p:nvSpPr>
        <p:spPr>
          <a:xfrm>
            <a:off x="875665" y="398208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5" name="textbox 158"/>
          <p:cNvSpPr/>
          <p:nvPr/>
        </p:nvSpPr>
        <p:spPr>
          <a:xfrm>
            <a:off x="647740" y="36781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noProof="0" dirty="0">
                <a:solidFill>
                  <a:srgbClr val="4C61E7"/>
                </a:solidFill>
                <a:uLnTx/>
                <a:latin typeface="Arial Black" panose="020B0A04020102020204" pitchFamily="34" charset="0"/>
                <a:ea typeface="微软雅黑" panose="020B0503020204020204" charset="-122"/>
                <a:sym typeface="+mn-ea"/>
              </a:rPr>
              <a:t>安全事件管理详情</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86" name="textbox 50"/>
          <p:cNvSpPr/>
          <p:nvPr/>
        </p:nvSpPr>
        <p:spPr>
          <a:xfrm>
            <a:off x="3750945" y="398208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87" name="íṥlïḍê"/>
          <p:cNvSpPr txBox="1"/>
          <p:nvPr>
            <p:custDataLst>
              <p:tags r:id="rId4"/>
            </p:custDataLst>
          </p:nvPr>
        </p:nvSpPr>
        <p:spPr>
          <a:xfrm>
            <a:off x="3881755" y="406527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9" name="组合 88"/>
          <p:cNvGrpSpPr/>
          <p:nvPr/>
        </p:nvGrpSpPr>
        <p:grpSpPr>
          <a:xfrm>
            <a:off x="3627755" y="2326640"/>
            <a:ext cx="8012430" cy="1512570"/>
            <a:chOff x="12177" y="-373"/>
            <a:chExt cx="24479" cy="4764"/>
          </a:xfrm>
        </p:grpSpPr>
        <p:sp>
          <p:nvSpPr>
            <p:cNvPr id="91"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102" name="文本框 101"/>
            <p:cNvSpPr txBox="1"/>
            <p:nvPr/>
          </p:nvSpPr>
          <p:spPr>
            <a:xfrm>
              <a:off x="12749" y="207"/>
              <a:ext cx="7708" cy="4076"/>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just" rtl="0" eaLnBrk="0">
                <a:lnSpc>
                  <a:spcPct val="119000"/>
                </a:lnSpc>
                <a:spcBef>
                  <a:spcPts val="185"/>
                </a:spcBef>
                <a:buClrTx/>
                <a:buSzTx/>
                <a:buFontTx/>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business_continuity_assurance_conclusion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文本框 103"/>
            <p:cNvSpPr txBox="1"/>
            <p:nvPr/>
          </p:nvSpPr>
          <p:spPr>
            <a:xfrm>
              <a:off x="20551" y="353"/>
              <a:ext cx="7742" cy="403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19000"/>
                </a:lnSpc>
              </a:pP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user_trust_assurance_conclusion</a:t>
              </a:r>
              <a:r>
                <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28496" y="428"/>
              <a:ext cx="7694"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just" rtl="0" eaLnBrk="0">
                <a:lnSpc>
                  <a:spcPct val="108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构建</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 7</a:t>
              </a:r>
              <a:r>
                <a:rPr lang="en-US"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24</a:t>
              </a: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小时主动运营体系，实现持续监控与风险预警，及时发现并处理潜在问题，减少应急处置成本，避免业务中断损失；同时持续降低运营风险，有效支撑公司经营效率提升。</a:t>
              </a:r>
              <a:endPar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6" name="íṥlïḍê"/>
            <p:cNvSpPr txBox="1"/>
            <p:nvPr>
              <p:custDataLst>
                <p:tags r:id="rId5"/>
              </p:custDataLst>
            </p:nvPr>
          </p:nvSpPr>
          <p:spPr>
            <a:xfrm>
              <a:off x="12177" y="-373"/>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2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117" name="图片 116" descr="深信服 + 智安全"/>
          <p:cNvPicPr>
            <a:picLocks noChangeAspect="1"/>
          </p:cNvPicPr>
          <p:nvPr/>
        </p:nvPicPr>
        <p:blipFill>
          <a:blip r:embed="rId6"/>
          <a:srcRect l="5232" t="26576" r="4938" b="29565"/>
          <a:stretch>
            <a:fillRect/>
          </a:stretch>
        </p:blipFill>
        <p:spPr>
          <a:xfrm>
            <a:off x="10017125" y="246380"/>
            <a:ext cx="1629867" cy="360000"/>
          </a:xfrm>
          <a:prstGeom prst="rect">
            <a:avLst/>
          </a:prstGeom>
        </p:spPr>
      </p:pic>
      <p:grpSp>
        <p:nvGrpSpPr>
          <p:cNvPr id="134" name="组合 133"/>
          <p:cNvGrpSpPr/>
          <p:nvPr/>
        </p:nvGrpSpPr>
        <p:grpSpPr>
          <a:xfrm>
            <a:off x="3747770" y="1270000"/>
            <a:ext cx="1428433" cy="1080453"/>
            <a:chOff x="13504" y="5135"/>
            <a:chExt cx="4499" cy="3403"/>
          </a:xfrm>
        </p:grpSpPr>
        <p:sp>
          <p:nvSpPr>
            <p:cNvPr id="135" name="文本框 134"/>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7" name="文本框 136"/>
            <p:cNvSpPr txBox="1"/>
            <p:nvPr/>
          </p:nvSpPr>
          <p:spPr>
            <a:xfrm>
              <a:off x="13504" y="7971"/>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38" name="图片 137" descr="警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187" y="5135"/>
              <a:ext cx="1134" cy="1134"/>
            </a:xfrm>
            <a:prstGeom prst="rect">
              <a:avLst/>
            </a:prstGeom>
          </p:spPr>
        </p:pic>
      </p:grpSp>
      <p:grpSp>
        <p:nvGrpSpPr>
          <p:cNvPr id="139" name="组合 138"/>
          <p:cNvGrpSpPr/>
          <p:nvPr/>
        </p:nvGrpSpPr>
        <p:grpSpPr>
          <a:xfrm>
            <a:off x="5424805" y="1270000"/>
            <a:ext cx="2378075" cy="1058863"/>
            <a:chOff x="17104" y="5135"/>
            <a:chExt cx="7490" cy="3335"/>
          </a:xfrm>
        </p:grpSpPr>
        <p:pic>
          <p:nvPicPr>
            <p:cNvPr id="140" name="图片 139" descr="极速响应"/>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219" y="5135"/>
              <a:ext cx="1134" cy="1134"/>
            </a:xfrm>
            <a:prstGeom prst="rect">
              <a:avLst/>
            </a:prstGeom>
          </p:spPr>
        </p:pic>
        <p:sp>
          <p:nvSpPr>
            <p:cNvPr id="141" name="文本框 1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2" name="文本框 141"/>
            <p:cNvSpPr txBox="1"/>
            <p:nvPr/>
          </p:nvSpPr>
          <p:spPr>
            <a:xfrm>
              <a:off x="17104" y="7187"/>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{{average_response_time}}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3" name="文本框 142"/>
            <p:cNvSpPr txBox="1"/>
            <p:nvPr/>
          </p:nvSpPr>
          <p:spPr>
            <a:xfrm>
              <a:off x="18604" y="7903"/>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44" name="组合 143"/>
          <p:cNvGrpSpPr/>
          <p:nvPr/>
        </p:nvGrpSpPr>
        <p:grpSpPr>
          <a:xfrm>
            <a:off x="7813040" y="1280795"/>
            <a:ext cx="1869440" cy="1021081"/>
            <a:chOff x="22605" y="5162"/>
            <a:chExt cx="5888" cy="3216"/>
          </a:xfrm>
        </p:grpSpPr>
        <p:sp>
          <p:nvSpPr>
            <p:cNvPr id="145" name="文本框 1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6" name="文本框 145"/>
            <p:cNvSpPr txBox="1"/>
            <p:nvPr/>
          </p:nvSpPr>
          <p:spPr>
            <a:xfrm>
              <a:off x="22605" y="7178"/>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{{average_resolution_</a:t>
              </a: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duration}}</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zh-CN" alt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47" name="文本框 146"/>
            <p:cNvSpPr txBox="1"/>
            <p:nvPr/>
          </p:nvSpPr>
          <p:spPr>
            <a:xfrm>
              <a:off x="23235" y="7811"/>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48" name="图片 147" descr="打印机"/>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918" y="5162"/>
              <a:ext cx="1134" cy="1134"/>
            </a:xfrm>
            <a:prstGeom prst="rect">
              <a:avLst/>
            </a:prstGeom>
          </p:spPr>
        </p:pic>
      </p:grpSp>
      <p:grpSp>
        <p:nvGrpSpPr>
          <p:cNvPr id="149" name="组合 148"/>
          <p:cNvGrpSpPr/>
          <p:nvPr/>
        </p:nvGrpSpPr>
        <p:grpSpPr>
          <a:xfrm>
            <a:off x="9702405" y="1280795"/>
            <a:ext cx="2310913" cy="1048068"/>
            <a:chOff x="29119" y="5135"/>
            <a:chExt cx="7272" cy="3301"/>
          </a:xfrm>
        </p:grpSpPr>
        <p:pic>
          <p:nvPicPr>
            <p:cNvPr id="150" name="图片 149" descr="招标结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200" y="5135"/>
              <a:ext cx="1134" cy="1134"/>
            </a:xfrm>
            <a:prstGeom prst="rect">
              <a:avLst/>
            </a:prstGeom>
          </p:spPr>
        </p:pic>
        <p:sp>
          <p:nvSpPr>
            <p:cNvPr id="151" name="文本框 150"/>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2" name="文本框 151"/>
            <p:cNvSpPr txBox="1"/>
            <p:nvPr/>
          </p:nvSpPr>
          <p:spPr>
            <a:xfrm>
              <a:off x="29119" y="7167"/>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{{event_closed_loop_rate}}</a:t>
              </a:r>
              <a:r>
                <a:rPr lang="en-US" sz="2000" dirty="0">
                  <a:solidFill>
                    <a:srgbClr val="365FD9"/>
                  </a:solidFill>
                  <a:latin typeface="Arial" panose="020B0604020202020204" pitchFamily="34" charset="0"/>
                  <a:ea typeface="微软雅黑" panose="020B0503020204020204" charset="-122"/>
                  <a:cs typeface="Arial" panose="020B0604020202020204" pitchFamily="34" charset="0"/>
                  <a:sym typeface="+mn-ea"/>
                </a:rPr>
                <a:t> </a:t>
              </a:r>
              <a:endParaRPr lang="en-US" sz="2000" b="1" kern="0" spc="-20" dirty="0">
                <a:solidFill>
                  <a:srgbClr val="2040C0">
                    <a:alpha val="100000"/>
                  </a:srgbClr>
                </a:solidFill>
                <a:latin typeface="Arial" panose="020B0604020202020204" pitchFamily="34" charset="0"/>
                <a:ea typeface="Times New Roman" panose="02020603050405020304"/>
                <a:cs typeface="Arial" panose="020B0604020202020204" pitchFamily="34" charset="0"/>
                <a:sym typeface="+mn-ea"/>
              </a:endParaRPr>
            </a:p>
          </p:txBody>
        </p:sp>
        <p:sp>
          <p:nvSpPr>
            <p:cNvPr id="153" name="文本框 152"/>
            <p:cNvSpPr txBox="1"/>
            <p:nvPr/>
          </p:nvSpPr>
          <p:spPr>
            <a:xfrm>
              <a:off x="30517" y="7869"/>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154" name="图表 153" descr="7b0a202020202263686172745265734964223a20223230343736383734220a7d0a"/>
          <p:cNvGraphicFramePr/>
          <p:nvPr/>
        </p:nvGraphicFramePr>
        <p:xfrm>
          <a:off x="941070" y="4453255"/>
          <a:ext cx="2476500" cy="1846580"/>
        </p:xfrm>
        <a:graphic>
          <a:graphicData uri="http://schemas.openxmlformats.org/drawingml/2006/chart">
            <c:chart xmlns:c="http://schemas.openxmlformats.org/drawingml/2006/chart" xmlns:r="http://schemas.openxmlformats.org/officeDocument/2006/relationships" r:id="rId1"/>
          </a:graphicData>
        </a:graphic>
      </p:graphicFrame>
      <p:sp>
        <p:nvSpPr>
          <p:cNvPr id="155" name="文本框 154"/>
          <p:cNvSpPr txBox="1"/>
          <p:nvPr/>
        </p:nvSpPr>
        <p:spPr>
          <a:xfrm>
            <a:off x="1062990" y="401637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0" name="文本框 159"/>
          <p:cNvSpPr txBox="1"/>
          <p:nvPr/>
        </p:nvSpPr>
        <p:spPr>
          <a:xfrm>
            <a:off x="798830" y="4307840"/>
            <a:ext cx="1256665" cy="368300"/>
          </a:xfrm>
          <a:prstGeom prst="rect">
            <a:avLst/>
          </a:prstGeom>
          <a:noFill/>
        </p:spPr>
        <p:txBody>
          <a:bodyPr wrap="square" rtlCol="0" anchor="t">
            <a:spAutoFit/>
          </a:bodyPr>
          <a:p>
            <a:r>
              <a:rPr lang="zh-CN" altLang="en-US">
                <a:sym typeface="+mn-ea"/>
              </a:rPr>
              <a:t>{{</a:t>
            </a:r>
            <a:r>
              <a:rPr lang="en-US" altLang="zh-CN">
                <a:sym typeface="+mn-ea"/>
              </a:rPr>
              <a:t>P27_pie}</a:t>
            </a:r>
            <a:r>
              <a:rPr lang="zh-CN" altLang="en-US">
                <a:sym typeface="+mn-ea"/>
              </a:rPr>
              <a:t>}</a:t>
            </a:r>
            <a:endParaRPr lang="zh-CN" altLang="en-US">
              <a:sym typeface="+mn-ea"/>
            </a:endParaRPr>
          </a:p>
        </p:txBody>
      </p:sp>
      <p:graphicFrame>
        <p:nvGraphicFramePr>
          <p:cNvPr id="4" name="图表 3"/>
          <p:cNvGraphicFramePr/>
          <p:nvPr/>
        </p:nvGraphicFramePr>
        <p:xfrm>
          <a:off x="3782695" y="4467225"/>
          <a:ext cx="2948305" cy="1845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15"/>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平均响应趋势（分钟）</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7" name="textbox 48"/>
          <p:cNvSpPr/>
          <p:nvPr/>
        </p:nvSpPr>
        <p:spPr>
          <a:xfrm>
            <a:off x="875665" y="1275715"/>
            <a:ext cx="2745105" cy="2520315"/>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94107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多级安全响应流程</a:t>
            </a:r>
            <a:endParaRPr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16"/>
            </p:custDataLst>
          </p:nvPr>
        </p:nvGrpSpPr>
        <p:grpSpPr>
          <a:xfrm>
            <a:off x="959480" y="1726109"/>
            <a:ext cx="2561008" cy="403783"/>
            <a:chOff x="3275" y="5404"/>
            <a:chExt cx="8112" cy="1279"/>
          </a:xfrm>
        </p:grpSpPr>
        <p:sp>
          <p:nvSpPr>
            <p:cNvPr id="69" name="圆角矩形 14"/>
            <p:cNvSpPr/>
            <p:nvPr>
              <p:custDataLst>
                <p:tags r:id="rId17"/>
              </p:custDataLst>
            </p:nvPr>
          </p:nvSpPr>
          <p:spPr>
            <a:xfrm>
              <a:off x="3275" y="5498"/>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L1</a:t>
              </a:r>
              <a:r>
                <a:rPr lang="en-US"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spc="10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7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自动检测</a:t>
              </a:r>
              <a:endParaRPr sz="1000" b="1" dirty="0">
                <a:latin typeface="Arial" panose="020B0604020202020204" pitchFamily="34" charset="0"/>
                <a:ea typeface="黑体-简" panose="02000000000000000000"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7*24小时智能检测，平均检出时间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18"/>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9"/>
            </p:custDataLst>
          </p:nvPr>
        </p:nvGrpSpPr>
        <p:grpSpPr>
          <a:xfrm>
            <a:off x="958533" y="2248780"/>
            <a:ext cx="2561008" cy="408341"/>
            <a:chOff x="3275" y="7389"/>
            <a:chExt cx="8112" cy="1293"/>
          </a:xfrm>
        </p:grpSpPr>
        <p:sp>
          <p:nvSpPr>
            <p:cNvPr id="72" name="圆角矩形 14"/>
            <p:cNvSpPr/>
            <p:nvPr>
              <p:custDataLst>
                <p:tags r:id="rId20"/>
              </p:custDataLst>
            </p:nvPr>
          </p:nvSpPr>
          <p:spPr>
            <a:xfrm>
              <a:off x="3275" y="7497"/>
              <a:ext cx="8112"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L2</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a:t>
              </a:r>
              <a:r>
                <a:rPr sz="1000" b="1"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专家分析</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专家研判分析，平</a:t>
              </a: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均响应时间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3" name="圆角矩形 72"/>
            <p:cNvSpPr/>
            <p:nvPr>
              <p:custDataLst>
                <p:tags r:id="rId21"/>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22"/>
            </p:custDataLst>
          </p:nvPr>
        </p:nvGrpSpPr>
        <p:grpSpPr>
          <a:xfrm>
            <a:off x="959480" y="2776166"/>
            <a:ext cx="2561008" cy="402818"/>
            <a:chOff x="3275" y="9388"/>
            <a:chExt cx="8112" cy="1276"/>
          </a:xfrm>
        </p:grpSpPr>
        <p:sp>
          <p:nvSpPr>
            <p:cNvPr id="78" name="圆角矩形 14"/>
            <p:cNvSpPr/>
            <p:nvPr>
              <p:custDataLst>
                <p:tags r:id="rId23"/>
              </p:custDataLst>
            </p:nvPr>
          </p:nvSpPr>
          <p:spPr>
            <a:xfrm>
              <a:off x="3275" y="9479"/>
              <a:ext cx="8112"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L3</a:t>
              </a:r>
              <a:r>
                <a:rPr lang="en-US"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应急处置</a:t>
              </a:r>
              <a:endParaRPr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制定处置方案，平均处置时间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2小时</a:t>
              </a:r>
              <a:endParaRPr lang="zh-CN" alt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0" name="圆角矩形 79"/>
            <p:cNvSpPr/>
            <p:nvPr>
              <p:custDataLst>
                <p:tags r:id="rId24"/>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25"/>
            </p:custDataLst>
          </p:nvPr>
        </p:nvGrpSpPr>
        <p:grpSpPr>
          <a:xfrm>
            <a:off x="958533" y="3297892"/>
            <a:ext cx="2561008" cy="378960"/>
            <a:chOff x="3275" y="11370"/>
            <a:chExt cx="8112" cy="1200"/>
          </a:xfrm>
        </p:grpSpPr>
        <p:sp>
          <p:nvSpPr>
            <p:cNvPr id="84" name="圆角矩形 14"/>
            <p:cNvSpPr/>
            <p:nvPr>
              <p:custDataLst>
                <p:tags r:id="rId26"/>
              </p:custDataLst>
            </p:nvPr>
          </p:nvSpPr>
          <p:spPr>
            <a:xfrm>
              <a:off x="3275" y="11442"/>
              <a:ext cx="8112"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L4</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r>
                <a:rPr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闭环验证</a:t>
              </a:r>
              <a:r>
                <a:rPr lang="en-US"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 </a:t>
              </a:r>
              <a:endParaRPr sz="1000" b="1" dirty="0">
                <a:latin typeface="Arial" panose="020B0604020202020204" pitchFamily="34" charset="0"/>
                <a:ea typeface="黑体-简" panose="02000000000000000000"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处置效果验证，平均闭环时间</a:t>
              </a:r>
              <a:r>
                <a:rPr lang="en-US" sz="1000" dirty="0">
                  <a:solidFill>
                    <a:srgbClr val="000000">
                      <a:alpha val="100000"/>
                    </a:srgbClr>
                  </a:solidFill>
                  <a:latin typeface="Arial" panose="020B0604020202020204" pitchFamily="34" charset="0"/>
                  <a:ea typeface="黑体-简" panose="02000000000000000000" charset="-122"/>
                  <a:cs typeface="黑体" panose="02010609060101010101" charset="-122"/>
                  <a:sym typeface="+mn-ea"/>
                </a:rPr>
                <a:t> </a:t>
              </a:r>
              <a:r>
                <a:rPr lang="en-US"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24</a:t>
              </a:r>
              <a:r>
                <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rPr>
                <a:t>小时</a:t>
              </a:r>
              <a:endParaRPr lang="zh-CN" sz="1000" dirty="0">
                <a:solidFill>
                  <a:srgbClr val="2040A0">
                    <a:alpha val="100000"/>
                  </a:srgbClr>
                </a:solidFill>
                <a:latin typeface="Arial" panose="020B0604020202020204" pitchFamily="34" charset="0"/>
                <a:ea typeface="黑体-简" panose="02000000000000000000" charset="-122"/>
                <a:cs typeface="黑体" panose="02010609060101010101" charset="-122"/>
                <a:sym typeface="+mn-ea"/>
              </a:endParaRPr>
            </a:p>
          </p:txBody>
        </p:sp>
        <p:sp>
          <p:nvSpPr>
            <p:cNvPr id="88" name="圆角矩形 87"/>
            <p:cNvSpPr/>
            <p:nvPr>
              <p:custDataLst>
                <p:tags r:id="rId27"/>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sp>
        <p:nvSpPr>
          <p:cNvPr id="8" name="文本框 7"/>
          <p:cNvSpPr txBox="1"/>
          <p:nvPr/>
        </p:nvSpPr>
        <p:spPr>
          <a:xfrm>
            <a:off x="3449955" y="1911985"/>
            <a:ext cx="2005965" cy="324485"/>
          </a:xfrm>
          <a:prstGeom prst="rect">
            <a:avLst/>
          </a:prstGeom>
          <a:noFill/>
        </p:spPr>
        <p:txBody>
          <a:bodyPr wrap="square" rtlCol="0" anchor="t">
            <a:spAutoFit/>
          </a:bodyPr>
          <a:p>
            <a:pPr marL="0" algn="ctr" rtl="0" eaLnBrk="0">
              <a:lnSpc>
                <a:spcPct val="76000"/>
              </a:lnSpc>
              <a:spcBef>
                <a:spcPts val="520"/>
              </a:spcBef>
            </a:pPr>
            <a:r>
              <a:rPr lang="en-US" sz="2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{{incident_total}}</a:t>
            </a:r>
            <a:endParaRPr lang="en-US" sz="2000" dirty="0">
              <a:solidFill>
                <a:srgbClr val="365FD9"/>
              </a:solidFill>
              <a:latin typeface="Arial" panose="020B0604020202020204" pitchFamily="34" charset="0"/>
              <a:ea typeface="黑体-简" panose="02000000000000000000" charset="-122"/>
              <a:cs typeface="微软雅黑" panose="020B0503020204020204" pitchFamily="34" charset="-120"/>
              <a:sym typeface="+mn-ea"/>
            </a:endParaRPr>
          </a:p>
        </p:txBody>
      </p:sp>
      <p:sp>
        <p:nvSpPr>
          <p:cNvPr id="159" name="文本框 158"/>
          <p:cNvSpPr txBox="1"/>
          <p:nvPr/>
        </p:nvSpPr>
        <p:spPr>
          <a:xfrm>
            <a:off x="4141470" y="4453255"/>
            <a:ext cx="1506855" cy="368300"/>
          </a:xfrm>
          <a:prstGeom prst="rect">
            <a:avLst/>
          </a:prstGeom>
          <a:noFill/>
        </p:spPr>
        <p:txBody>
          <a:bodyPr wrap="square" rtlCol="0" anchor="t">
            <a:spAutoFit/>
          </a:bodyPr>
          <a:p>
            <a:r>
              <a:rPr lang="zh-CN" altLang="en-US">
                <a:sym typeface="+mn-ea"/>
              </a:rPr>
              <a:t>{{</a:t>
            </a:r>
            <a:r>
              <a:rPr lang="en-US" altLang="zh-CN">
                <a:sym typeface="+mn-ea"/>
              </a:rPr>
              <a:t>P27_bar}</a:t>
            </a:r>
            <a:r>
              <a:rPr lang="zh-CN" altLang="en-US">
                <a:sym typeface="+mn-ea"/>
              </a:rPr>
              <a:t>}</a:t>
            </a:r>
            <a:endParaRPr lang="zh-CN" altLang="en-US">
              <a:sym typeface="+mn-ea"/>
            </a:endParaRPr>
          </a:p>
        </p:txBody>
      </p:sp>
      <p:sp>
        <p:nvSpPr>
          <p:cNvPr id="10" name="文本框 9"/>
          <p:cNvSpPr txBox="1"/>
          <p:nvPr/>
        </p:nvSpPr>
        <p:spPr>
          <a:xfrm>
            <a:off x="10146665" y="4821555"/>
            <a:ext cx="1506855" cy="368300"/>
          </a:xfrm>
          <a:prstGeom prst="rect">
            <a:avLst/>
          </a:prstGeom>
          <a:noFill/>
        </p:spPr>
        <p:txBody>
          <a:bodyPr wrap="square" rtlCol="0" anchor="t">
            <a:spAutoFit/>
          </a:bodyPr>
          <a:p>
            <a:r>
              <a:rPr lang="zh-CN" altLang="en-US">
                <a:sym typeface="+mn-ea"/>
              </a:rPr>
              <a:t>{{</a:t>
            </a:r>
            <a:r>
              <a:rPr lang="en-US" altLang="zh-CN">
                <a:sym typeface="+mn-ea"/>
              </a:rPr>
              <a:t>P27_line</a:t>
            </a:r>
            <a:r>
              <a:rPr lang="en-US" altLang="zh-CN">
                <a:sym typeface="+mn-ea"/>
              </a:rPr>
              <a:t>}</a:t>
            </a:r>
            <a:r>
              <a:rPr lang="zh-CN" altLang="en-US">
                <a:sym typeface="+mn-ea"/>
              </a:rPr>
              <a:t>}</a:t>
            </a:r>
            <a:endParaRPr lang="zh-CN" altLang="en-US">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6"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威胁趋势分析</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全方位防护体系，有效阻断网络攻击，保障业务安全</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7" name="组合 6"/>
          <p:cNvGrpSpPr/>
          <p:nvPr/>
        </p:nvGrpSpPr>
        <p:grpSpPr>
          <a:xfrm>
            <a:off x="648335" y="4287520"/>
            <a:ext cx="10918825" cy="1179024"/>
            <a:chOff x="2042" y="13744"/>
            <a:chExt cx="34390" cy="3714"/>
          </a:xfrm>
        </p:grpSpPr>
        <p:sp>
          <p:nvSpPr>
            <p:cNvPr id="8"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4" name="图表 23"/>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30" name="文本框 29"/>
          <p:cNvSpPr txBox="1"/>
          <p:nvPr/>
        </p:nvSpPr>
        <p:spPr>
          <a:xfrm>
            <a:off x="57594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íṥlïḍê"/>
          <p:cNvSpPr txBox="1"/>
          <p:nvPr>
            <p:custDataLst>
              <p:tags r:id="rId5"/>
            </p:custDataLst>
          </p:nvPr>
        </p:nvSpPr>
        <p:spPr>
          <a:xfrm>
            <a:off x="982980" y="1506220"/>
            <a:ext cx="2746375"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{external_attack_log_count_XDR}}</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3" name="文本框 32"/>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{{security_device_policy_check_count}}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4" name="íṥlïḍê"/>
          <p:cNvSpPr txBox="1"/>
          <p:nvPr>
            <p:custDataLst>
              <p:tags r:id="rId6"/>
            </p:custDataLst>
          </p:nvPr>
        </p:nvSpPr>
        <p:spPr>
          <a:xfrm>
            <a:off x="982980" y="1744980"/>
            <a:ext cx="309499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{{real_time_threat_alert_count}}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6"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{{MSS_threat_ticket_count}}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{{threat_ticket_average_response_time}}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37" name="文本框 36"/>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10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{{optimized_policy_risk_count}}</a:t>
            </a:r>
            <a:r>
              <a:rPr lang="en-US" sz="9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次策略隐患有效修复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39" name="文本框 38"/>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0"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{{latest_threat_intelligence_count}}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41" name="文本框 40"/>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{{latest_threat_impacted_asset_count}}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42" name="图表 41"/>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43" name="文本框 42"/>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4" name="文本框 43"/>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45" name="图表 44"/>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6" name="图表 45"/>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47" name="文本框 46"/>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48" name="图片 47" descr="1755071818846"/>
          <p:cNvPicPr>
            <a:picLocks noChangeAspect="1"/>
          </p:cNvPicPr>
          <p:nvPr/>
        </p:nvPicPr>
        <p:blipFill>
          <a:blip r:embed="rId9"/>
          <a:stretch>
            <a:fillRect/>
          </a:stretch>
        </p:blipFill>
        <p:spPr>
          <a:xfrm>
            <a:off x="630873" y="5719763"/>
            <a:ext cx="10940415" cy="801688"/>
          </a:xfrm>
          <a:prstGeom prst="rect">
            <a:avLst/>
          </a:prstGeom>
        </p:spPr>
      </p:pic>
      <p:sp>
        <p:nvSpPr>
          <p:cNvPr id="49" name="文本框 48"/>
          <p:cNvSpPr txBox="1"/>
          <p:nvPr/>
        </p:nvSpPr>
        <p:spPr>
          <a:xfrm>
            <a:off x="594043" y="550418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758190" y="5788025"/>
            <a:ext cx="3376930" cy="6540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297680" y="5782310"/>
            <a:ext cx="3564890" cy="713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2" name="文本框 51"/>
          <p:cNvSpPr txBox="1"/>
          <p:nvPr/>
        </p:nvSpPr>
        <p:spPr>
          <a:xfrm>
            <a:off x="8025765" y="5796280"/>
            <a:ext cx="3460750" cy="623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anchorCtr="0" forceAA="0">
            <a:noAutofit/>
          </a:bodyPr>
          <a:p>
            <a:pPr marL="0" marR="0" indent="0" algn="just"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3" name="图片 52"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54" name="文本框 53"/>
          <p:cNvSpPr txBox="1"/>
          <p:nvPr/>
        </p:nvSpPr>
        <p:spPr>
          <a:xfrm>
            <a:off x="7740650" y="1530985"/>
            <a:ext cx="3817620" cy="2458085"/>
          </a:xfrm>
          <a:prstGeom prst="rect">
            <a:avLst/>
          </a:prstGeom>
          <a:noFill/>
        </p:spPr>
        <p:txBody>
          <a:bodyPr wrap="square" rtlCol="0" anchor="t">
            <a:noAutofit/>
          </a:bodyPr>
          <a:p>
            <a:pPr algn="just"/>
            <a:r>
              <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5" name="文本框 54"/>
          <p:cNvSpPr txBox="1"/>
          <p:nvPr/>
        </p:nvSpPr>
        <p:spPr>
          <a:xfrm>
            <a:off x="8744585" y="4549775"/>
            <a:ext cx="1654810" cy="213995"/>
          </a:xfrm>
          <a:prstGeom prst="rect">
            <a:avLst/>
          </a:prstGeom>
          <a:noFill/>
        </p:spPr>
        <p:txBody>
          <a:bodyPr wrap="square" rtlCol="0" anchor="t">
            <a:spAutoFit/>
          </a:bodyPr>
          <a:p>
            <a:r>
              <a:rPr lang="zh-CN" altLang="en-US" sz="800">
                <a:sym typeface="+mn-ea"/>
              </a:rPr>
              <a:t>{{</a:t>
            </a:r>
            <a:r>
              <a:rPr lang="en-US" altLang="zh-CN" sz="800">
                <a:sym typeface="+mn-ea"/>
              </a:rPr>
              <a:t>P28_line</a:t>
            </a:r>
            <a:r>
              <a:rPr lang="zh-CN" altLang="en-US" sz="800">
                <a:sym typeface="+mn-ea"/>
              </a:rPr>
              <a:t>}}</a:t>
            </a:r>
            <a:endParaRPr lang="zh-CN" altLang="en-US" sz="800">
              <a:sym typeface="+mn-ea"/>
            </a:endParaRPr>
          </a:p>
        </p:txBody>
      </p:sp>
      <p:sp>
        <p:nvSpPr>
          <p:cNvPr id="56" name="文本框 55"/>
          <p:cNvSpPr txBox="1"/>
          <p:nvPr/>
        </p:nvSpPr>
        <p:spPr>
          <a:xfrm>
            <a:off x="4135120" y="1016635"/>
            <a:ext cx="853440" cy="213995"/>
          </a:xfrm>
          <a:prstGeom prst="rect">
            <a:avLst/>
          </a:prstGeom>
          <a:noFill/>
        </p:spPr>
        <p:txBody>
          <a:bodyPr wrap="square" rtlCol="0" anchor="t">
            <a:spAutoFit/>
          </a:bodyPr>
          <a:p>
            <a:r>
              <a:rPr lang="zh-CN" altLang="en-US" sz="800">
                <a:sym typeface="+mn-ea"/>
              </a:rPr>
              <a:t>{{</a:t>
            </a:r>
            <a:r>
              <a:rPr lang="en-US" altLang="zh-CN" sz="800">
                <a:sym typeface="+mn-ea"/>
              </a:rPr>
              <a:t>P28_pie_1</a:t>
            </a:r>
            <a:r>
              <a:rPr lang="zh-CN" altLang="en-US" sz="800">
                <a:sym typeface="+mn-ea"/>
              </a:rPr>
              <a:t>}}</a:t>
            </a:r>
            <a:endParaRPr lang="zh-CN" altLang="en-US" sz="800">
              <a:sym typeface="+mn-ea"/>
            </a:endParaRPr>
          </a:p>
        </p:txBody>
      </p:sp>
      <p:sp>
        <p:nvSpPr>
          <p:cNvPr id="57" name="文本框 56"/>
          <p:cNvSpPr txBox="1"/>
          <p:nvPr/>
        </p:nvSpPr>
        <p:spPr>
          <a:xfrm>
            <a:off x="6163310" y="982980"/>
            <a:ext cx="876935" cy="213995"/>
          </a:xfrm>
          <a:prstGeom prst="rect">
            <a:avLst/>
          </a:prstGeom>
          <a:noFill/>
        </p:spPr>
        <p:txBody>
          <a:bodyPr wrap="square" rtlCol="0" anchor="t">
            <a:spAutoFit/>
          </a:bodyPr>
          <a:p>
            <a:r>
              <a:rPr lang="zh-CN" altLang="en-US" sz="800">
                <a:sym typeface="+mn-ea"/>
              </a:rPr>
              <a:t>{{</a:t>
            </a:r>
            <a:r>
              <a:rPr lang="en-US" altLang="zh-CN" sz="800">
                <a:sym typeface="+mn-ea"/>
              </a:rPr>
              <a:t>P28_pie_2</a:t>
            </a:r>
            <a:r>
              <a:rPr lang="zh-CN" altLang="en-US" sz="800">
                <a:sym typeface="+mn-ea"/>
              </a:rPr>
              <a:t>}}</a:t>
            </a:r>
            <a:endParaRPr lang="zh-CN" altLang="en-US" sz="800">
              <a:sym typeface="+mn-ea"/>
            </a:endParaRPr>
          </a:p>
        </p:txBody>
      </p:sp>
      <p:sp>
        <p:nvSpPr>
          <p:cNvPr id="58" name="文本框 57"/>
          <p:cNvSpPr txBox="1"/>
          <p:nvPr/>
        </p:nvSpPr>
        <p:spPr>
          <a:xfrm>
            <a:off x="6767195" y="3022600"/>
            <a:ext cx="876935" cy="213995"/>
          </a:xfrm>
          <a:prstGeom prst="rect">
            <a:avLst/>
          </a:prstGeom>
          <a:noFill/>
        </p:spPr>
        <p:txBody>
          <a:bodyPr wrap="square" rtlCol="0" anchor="t">
            <a:spAutoFit/>
          </a:bodyPr>
          <a:p>
            <a:r>
              <a:rPr lang="zh-CN" altLang="en-US" sz="800">
                <a:sym typeface="+mn-ea"/>
              </a:rPr>
              <a:t>{{</a:t>
            </a:r>
            <a:r>
              <a:rPr lang="en-US" altLang="zh-CN" sz="800">
                <a:sym typeface="+mn-ea"/>
              </a:rPr>
              <a:t>P28_bar</a:t>
            </a:r>
            <a:r>
              <a:rPr lang="zh-CN" altLang="en-US" sz="800">
                <a:sym typeface="+mn-ea"/>
              </a:rPr>
              <a:t>}}</a:t>
            </a:r>
            <a:endParaRPr lang="zh-CN" altLang="en-US" sz="80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pitchFamily="34" charset="0"/>
              <a:ea typeface="黑体-简" panose="02000000000000000000" charset="-122"/>
              <a:cs typeface="Arial" panose="020B0604020202020204"/>
            </a:endParaRPr>
          </a:p>
          <a:p>
            <a:pPr algn="l" rtl="0" eaLnBrk="0">
              <a:lnSpc>
                <a:spcPct val="101000"/>
              </a:lnSpc>
            </a:pPr>
            <a:r>
              <a:rPr lang="zh-CN" altLang="en-US" sz="1900" dirty="0">
                <a:solidFill>
                  <a:srgbClr val="4C61E7"/>
                </a:solidFill>
                <a:latin typeface="Arial" panose="020B0604020202020204" pitchFamily="34" charset="0"/>
                <a:ea typeface="黑体-简" panose="02000000000000000000" charset="-122"/>
                <a:cs typeface="黑体" panose="02010609060101010101" charset="-122"/>
              </a:rPr>
              <a:t>风险预防工作详情</a:t>
            </a:r>
            <a:endParaRPr lang="zh-CN" altLang="en-US" sz="1900" dirty="0">
              <a:solidFill>
                <a:srgbClr val="4C61E7"/>
              </a:solidFill>
              <a:latin typeface="Arial" panose="020B0604020202020204" pitchFamily="34" charset="0"/>
              <a:ea typeface="黑体-简" panose="02000000000000000000" charset="-122"/>
              <a:cs typeface="黑体" panose="02010609060101010101" charset="-122"/>
            </a:endParaRPr>
          </a:p>
          <a:p>
            <a:pPr algn="l" rtl="0" eaLnBrk="0">
              <a:lnSpc>
                <a:spcPct val="101000"/>
              </a:lnSpc>
            </a:pPr>
            <a:endParaRPr sz="800" dirty="0">
              <a:latin typeface="Arial" panose="020B0604020202020204" pitchFamily="34" charset="0"/>
              <a:ea typeface="黑体-简" panose="02000000000000000000" charset="-122"/>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rPr>
              <a:t>持续治理业务脆弱性，防范风险于未然</a:t>
            </a:r>
            <a:endParaRPr lang="zh-CN" altLang="en-US" sz="1000" dirty="0">
              <a:solidFill>
                <a:sysClr val="windowText" lastClr="000000"/>
              </a:solidFill>
              <a:latin typeface="Arial" panose="020B0604020202020204" pitchFamily="34" charset="0"/>
              <a:ea typeface="黑体-简" panose="02000000000000000000"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rPr>
              <a:t>漏洞优先级梳理</a:t>
            </a:r>
            <a:endParaRPr lang="zh-CN" sz="1400" spc="30" dirty="0">
              <a:solidFill>
                <a:srgbClr val="204080">
                  <a:alpha val="100000"/>
                </a:srgbClr>
              </a:solidFill>
              <a:latin typeface="Arial" panose="020B0604020202020204" pitchFamily="34" charset="0"/>
              <a:ea typeface="黑体-简" panose="02000000000000000000" charset="-122"/>
              <a:cs typeface="黑体" panose="02010609060101010101" charset="-122"/>
              <a:sym typeface="+mn-ea"/>
            </a:endParaRPr>
          </a:p>
        </p:txBody>
      </p:sp>
      <p:grpSp>
        <p:nvGrpSpPr>
          <p:cNvPr id="68" name="组合 67"/>
          <p:cNvGrpSpPr/>
          <p:nvPr>
            <p:custDataLst>
              <p:tags r:id="rId3"/>
            </p:custDataLst>
          </p:nvPr>
        </p:nvGrpSpPr>
        <p:grpSpPr>
          <a:xfrm>
            <a:off x="759127" y="1745375"/>
            <a:ext cx="2744509" cy="399474"/>
            <a:chOff x="3275" y="5404"/>
            <a:chExt cx="8787" cy="1279"/>
          </a:xfrm>
        </p:grpSpPr>
        <p:sp>
          <p:nvSpPr>
            <p:cNvPr id="69" name="圆角矩形 14"/>
            <p:cNvSpPr/>
            <p:nvPr>
              <p:custDataLst>
                <p:tags r:id="rId4"/>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Arial" panose="020B0604020202020204" pitchFamily="34" charset="0"/>
                <a:ea typeface="黑体-简" panose="02000000000000000000" charset="-122"/>
                <a:cs typeface="黑体" panose="02010609060101010101" charset="-122"/>
                <a:sym typeface="+mn-ea"/>
              </a:endParaRPr>
            </a:p>
          </p:txBody>
        </p:sp>
        <p:sp>
          <p:nvSpPr>
            <p:cNvPr id="70" name="圆角矩形 69"/>
            <p:cNvSpPr/>
            <p:nvPr>
              <p:custDataLst>
                <p:tags r:id="rId5"/>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6"/>
            </p:custDataLst>
          </p:nvPr>
        </p:nvGrpSpPr>
        <p:grpSpPr>
          <a:xfrm>
            <a:off x="758190" y="2262469"/>
            <a:ext cx="2744509" cy="403984"/>
            <a:chOff x="3275" y="7389"/>
            <a:chExt cx="8787" cy="1293"/>
          </a:xfrm>
        </p:grpSpPr>
        <p:sp>
          <p:nvSpPr>
            <p:cNvPr id="72" name="圆角矩形 14"/>
            <p:cNvSpPr/>
            <p:nvPr>
              <p:custDataLst>
                <p:tags r:id="rId7"/>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73" name="圆角矩形 72"/>
            <p:cNvSpPr/>
            <p:nvPr>
              <p:custDataLst>
                <p:tags r:id="rId8"/>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9"/>
            </p:custDataLst>
          </p:nvPr>
        </p:nvGrpSpPr>
        <p:grpSpPr>
          <a:xfrm>
            <a:off x="759127" y="2784227"/>
            <a:ext cx="2744509" cy="398520"/>
            <a:chOff x="3275" y="9388"/>
            <a:chExt cx="8787" cy="1276"/>
          </a:xfrm>
        </p:grpSpPr>
        <p:sp>
          <p:nvSpPr>
            <p:cNvPr id="78" name="圆角矩形 14"/>
            <p:cNvSpPr/>
            <p:nvPr>
              <p:custDataLst>
                <p:tags r:id="rId10"/>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0" name="圆角矩形 79"/>
            <p:cNvSpPr/>
            <p:nvPr>
              <p:custDataLst>
                <p:tags r:id="rId11"/>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2"/>
            </p:custDataLst>
          </p:nvPr>
        </p:nvGrpSpPr>
        <p:grpSpPr>
          <a:xfrm>
            <a:off x="758190" y="3300387"/>
            <a:ext cx="2744509" cy="374916"/>
            <a:chOff x="3275" y="11370"/>
            <a:chExt cx="8787" cy="1200"/>
          </a:xfrm>
        </p:grpSpPr>
        <p:sp>
          <p:nvSpPr>
            <p:cNvPr id="84" name="圆角矩形 14"/>
            <p:cNvSpPr/>
            <p:nvPr>
              <p:custDataLst>
                <p:tags r:id="rId13"/>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rPr>
                <a:t>关联威胁监测，无法修复的漏洞一旦发生被利用可快速发现和遏制</a:t>
              </a:r>
              <a:endParaRPr lang="zh-CN" sz="1000" b="1" spc="50" dirty="0">
                <a:solidFill>
                  <a:srgbClr val="000000">
                    <a:alpha val="100000"/>
                  </a:srgbClr>
                </a:solidFill>
                <a:latin typeface="Arial" panose="020B0604020202020204" pitchFamily="34" charset="0"/>
                <a:ea typeface="黑体-简" panose="02000000000000000000" charset="-122"/>
                <a:cs typeface="宋体" panose="02010600030101010101" pitchFamily="2" charset="-122"/>
                <a:sym typeface="+mn-ea"/>
              </a:endParaRPr>
            </a:p>
          </p:txBody>
        </p:sp>
        <p:sp>
          <p:nvSpPr>
            <p:cNvPr id="88" name="圆角矩形 87"/>
            <p:cNvSpPr/>
            <p:nvPr>
              <p:custDataLst>
                <p:tags r:id="rId14"/>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115" name="文本框 114"/>
          <p:cNvSpPr txBox="1"/>
          <p:nvPr/>
        </p:nvSpPr>
        <p:spPr>
          <a:xfrm>
            <a:off x="648335" y="6067425"/>
            <a:ext cx="10999470" cy="617855"/>
          </a:xfrm>
          <a:prstGeom prst="rect">
            <a:avLst/>
          </a:prstGeom>
          <a:solidFill>
            <a:sysClr val="window" lastClr="FFFFFF">
              <a:lumMod val="95000"/>
            </a:sysClr>
          </a:solidFill>
        </p:spPr>
        <p:txBody>
          <a:bodyPr wrap="square" rtlCol="0">
            <a:noAutofit/>
          </a:bodyPr>
          <a:p>
            <a:endParaRPr lang="zh-CN" altLang="en-US" sz="2400"/>
          </a:p>
        </p:txBody>
      </p:sp>
      <p:sp>
        <p:nvSpPr>
          <p:cNvPr id="122" name="文本框 121"/>
          <p:cNvSpPr txBox="1"/>
          <p:nvPr/>
        </p:nvSpPr>
        <p:spPr>
          <a:xfrm>
            <a:off x="871855" y="6087745"/>
            <a:ext cx="10774680" cy="60007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风险预防总结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开展</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{{vulnerability_scan_count}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漏洞扫描，提前发现并修复高风险漏洞，通过端、边分层防护，阻断潜在攻击路径，对未发生漏洞利用成功事件起到了先决的支撑</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作用；</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zh-CN"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持续的漏洞闭环管理</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支撑合规自查，降低监管通报风</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险，避免</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了企业</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声誉受损</a:t>
            </a:r>
            <a:r>
              <a:rPr 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Arial" panose="020B0604020202020204" pitchFamily="34" charset="0"/>
              <a:ea typeface="黑体-简" panose="02000000000000000000"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2" name="图片 1" descr="深信服 + 智安全"/>
          <p:cNvPicPr>
            <a:picLocks noChangeAspect="1"/>
          </p:cNvPicPr>
          <p:nvPr/>
        </p:nvPicPr>
        <p:blipFill>
          <a:blip r:embed="rId15"/>
          <a:srcRect l="5232" t="26576" r="4938" b="29565"/>
          <a:stretch>
            <a:fillRect/>
          </a:stretch>
        </p:blipFill>
        <p:spPr>
          <a:xfrm>
            <a:off x="10017125" y="238760"/>
            <a:ext cx="1629867" cy="360000"/>
          </a:xfrm>
          <a:prstGeom prst="rect">
            <a:avLst/>
          </a:prstGeom>
        </p:spPr>
      </p:pic>
      <p:sp>
        <p:nvSpPr>
          <p:cNvPr id="10" name="文本框 9"/>
          <p:cNvSpPr txBox="1"/>
          <p:nvPr/>
        </p:nvSpPr>
        <p:spPr>
          <a:xfrm>
            <a:off x="3850640" y="2713355"/>
            <a:ext cx="7796530" cy="1087755"/>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3948430" y="2794000"/>
            <a:ext cx="7519035" cy="949325"/>
          </a:xfrm>
          <a:prstGeom prst="rect">
            <a:avLst/>
          </a:prstGeom>
          <a:noFill/>
        </p:spPr>
        <p:txBody>
          <a:bodyPr wrap="square" lIns="0" tIns="0" rIns="0" bIns="0" rtlCol="0" anchor="t"/>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rPr>
              <a:t>暴露面风险：</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对</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sym typeface="+mn-ea"/>
              </a:rPr>
              <a:t>互联网</a:t>
            </a:r>
            <a:r>
              <a:rPr lang="zh-CN" altLang="en-US" sz="1000" dirty="0">
                <a:solidFill>
                  <a:schemeClr val="tx1"/>
                </a:solidFill>
                <a:latin typeface="Arial" panose="020B0604020202020204" pitchFamily="34" charset="0"/>
                <a:ea typeface="黑体-简" panose="02000000000000000000" charset="-122"/>
                <a:cs typeface="微软雅黑" panose="020B0503020204020204" pitchFamily="34" charset="-120"/>
              </a:rPr>
              <a:t>暴</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露面进行扫描，总共发现开放的互联网</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IP</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{{internet_ip_count}}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个，可访问端口</a:t>
            </a:r>
            <a:r>
              <a:rPr lang="en-US" altLang="zh-CN" sz="1000" dirty="0">
                <a:solidFill>
                  <a:srgbClr val="14161A"/>
                </a:solidFill>
                <a:latin typeface="Arial" panose="020B0604020202020204" pitchFamily="34" charset="0"/>
                <a:ea typeface="黑体-简" panose="02000000000000000000" charset="-122"/>
                <a:cs typeface="微软雅黑" panose="020B0503020204020204" pitchFamily="34" charset="-120"/>
              </a:rPr>
              <a:t>{</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{internet_port_count}}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个；其中高危端口开放</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{{exposed_risk_port_count}}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个，高危可利用漏洞</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rPr>
              <a:t>{{external_network_asset_vulnerability_count}}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endParaRPr>
          </a:p>
          <a:p>
            <a:pPr marL="101600" indent="-101600" algn="l">
              <a:lnSpc>
                <a:spcPct val="150000"/>
              </a:lnSpc>
              <a:buSzPct val="100000"/>
              <a:buChar char="•"/>
            </a:pPr>
            <a:r>
              <a:rPr lang="zh-CN" altLang="en-US" sz="1000" b="1"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内网漏洞风险梳理</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：未对互联网映射的服务器网段识别到</a:t>
            </a:r>
            <a:r>
              <a:rPr lang="en-US" sz="1000" dirty="0">
                <a:solidFill>
                  <a:srgbClr val="365FD9"/>
                </a:solidFill>
                <a:latin typeface="Arial" panose="020B0604020202020204" pitchFamily="34" charset="0"/>
                <a:ea typeface="黑体-简" panose="02000000000000000000" charset="-122"/>
                <a:cs typeface="微软雅黑" panose="020B0503020204020204" pitchFamily="34" charset="-120"/>
                <a:sym typeface="+mn-ea"/>
              </a:rPr>
              <a:t> </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{{server_asset_count}}</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存活资产</a:t>
            </a:r>
            <a:r>
              <a:rPr 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对托管服务范围内的</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{{mss_service_asset_count}}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个服务器识别到</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{{total_vulnerability_count}}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个安全漏洞，累计已防护</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{{protected_vulnerability_count}}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个安全漏洞，已修复</a:t>
            </a:r>
            <a:r>
              <a:rPr lang="en-US" altLang="zh-CN" sz="1000" dirty="0">
                <a:solidFill>
                  <a:srgbClr val="4C61E7"/>
                </a:solidFill>
                <a:latin typeface="Arial" panose="020B0604020202020204" pitchFamily="34" charset="0"/>
                <a:ea typeface="黑体-简" panose="02000000000000000000" charset="-122"/>
                <a:cs typeface="微软雅黑" panose="020B0503020204020204" pitchFamily="34" charset="-120"/>
                <a:sym typeface="+mn-ea"/>
              </a:rPr>
              <a:t>{{fixed_vulnerability_count}}</a:t>
            </a:r>
            <a:r>
              <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sym typeface="+mn-ea"/>
              </a:rPr>
              <a:t>个安全漏洞；</a:t>
            </a: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a:p>
            <a:pPr marL="101600" indent="-101600" algn="l">
              <a:lnSpc>
                <a:spcPct val="150000"/>
              </a:lnSpc>
              <a:buSzPct val="100000"/>
              <a:buChar char="•"/>
            </a:pPr>
            <a:endParaRPr lang="zh-CN" altLang="en-US" sz="1000" dirty="0">
              <a:solidFill>
                <a:srgbClr val="14161A"/>
              </a:solidFill>
              <a:latin typeface="Arial" panose="020B0604020202020204" pitchFamily="34" charset="0"/>
              <a:ea typeface="黑体-简" panose="02000000000000000000" charset="-122"/>
              <a:cs typeface="微软雅黑" panose="020B0503020204020204" pitchFamily="34" charset="-120"/>
            </a:endParaRPr>
          </a:p>
        </p:txBody>
      </p:sp>
      <p:sp>
        <p:nvSpPr>
          <p:cNvPr id="4" name="文本框 3"/>
          <p:cNvSpPr txBox="1"/>
          <p:nvPr/>
        </p:nvSpPr>
        <p:spPr>
          <a:xfrm>
            <a:off x="4023360" y="3896995"/>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rPr>
              <a:t>漏洞风险趋势</a:t>
            </a:r>
            <a:endParaRPr lang="zh-CN" sz="1400" b="1" spc="-60" dirty="0">
              <a:solidFill>
                <a:srgbClr val="204090">
                  <a:alpha val="100000"/>
                </a:srgbClr>
              </a:solidFill>
              <a:latin typeface="Arial" panose="020B0604020202020204" pitchFamily="34" charset="0"/>
              <a:ea typeface="黑体-简" panose="02000000000000000000" charset="-122"/>
              <a:cs typeface="黑体" panose="02010609060101010101" charset="-122"/>
              <a:sym typeface="+mn-ea"/>
            </a:endParaRPr>
          </a:p>
        </p:txBody>
      </p:sp>
      <p:graphicFrame>
        <p:nvGraphicFramePr>
          <p:cNvPr id="9" name="图表 8"/>
          <p:cNvGraphicFramePr/>
          <p:nvPr/>
        </p:nvGraphicFramePr>
        <p:xfrm>
          <a:off x="3848735" y="4180205"/>
          <a:ext cx="7797165" cy="1779905"/>
        </p:xfrm>
        <a:graphic>
          <a:graphicData uri="http://schemas.openxmlformats.org/drawingml/2006/chart">
            <c:chart xmlns:c="http://schemas.openxmlformats.org/drawingml/2006/chart" xmlns:r="http://schemas.openxmlformats.org/officeDocument/2006/relationships" r:id="rId2"/>
          </a:graphicData>
        </a:graphic>
      </p:graphicFrame>
      <p:sp>
        <p:nvSpPr>
          <p:cNvPr id="15" name="文本框 14"/>
          <p:cNvSpPr txBox="1"/>
          <p:nvPr/>
        </p:nvSpPr>
        <p:spPr>
          <a:xfrm>
            <a:off x="701040" y="4262755"/>
            <a:ext cx="6096000" cy="368300"/>
          </a:xfrm>
          <a:prstGeom prst="rect">
            <a:avLst/>
          </a:prstGeom>
          <a:noFill/>
        </p:spPr>
        <p:txBody>
          <a:bodyPr wrap="square" rtlCol="0" anchor="t">
            <a:spAutoFit/>
          </a:bodyPr>
          <a:p>
            <a:r>
              <a:rPr lang="zh-CN" altLang="en-US">
                <a:sym typeface="+mn-ea"/>
              </a:rPr>
              <a:t>{{</a:t>
            </a:r>
            <a:r>
              <a:rPr lang="en-US" altLang="zh-CN">
                <a:sym typeface="+mn-ea"/>
              </a:rPr>
              <a:t>P29_pie</a:t>
            </a:r>
            <a:r>
              <a:rPr lang="zh-CN" altLang="en-US">
                <a:sym typeface="+mn-ea"/>
              </a:rPr>
              <a:t>}}</a:t>
            </a:r>
            <a:endParaRPr lang="zh-CN" altLang="en-US">
              <a:sym typeface="+mn-ea"/>
            </a:endParaRPr>
          </a:p>
        </p:txBody>
      </p:sp>
      <p:grpSp>
        <p:nvGrpSpPr>
          <p:cNvPr id="36" name="组合 35"/>
          <p:cNvGrpSpPr/>
          <p:nvPr/>
        </p:nvGrpSpPr>
        <p:grpSpPr>
          <a:xfrm>
            <a:off x="3930650" y="1732915"/>
            <a:ext cx="1896745" cy="688340"/>
            <a:chOff x="12788" y="6575"/>
            <a:chExt cx="5974" cy="2168"/>
          </a:xfrm>
        </p:grpSpPr>
        <p:sp>
          <p:nvSpPr>
            <p:cNvPr id="37" name="文本框 36"/>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8" name="文本框 37"/>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39" name="文本框 38"/>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0" name="组合 39"/>
          <p:cNvGrpSpPr/>
          <p:nvPr/>
        </p:nvGrpSpPr>
        <p:grpSpPr>
          <a:xfrm>
            <a:off x="5751830" y="1732915"/>
            <a:ext cx="2358390" cy="688340"/>
            <a:chOff x="17210" y="6575"/>
            <a:chExt cx="7428" cy="2168"/>
          </a:xfrm>
        </p:grpSpPr>
        <p:sp>
          <p:nvSpPr>
            <p:cNvPr id="41" name="文本框 40"/>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2" name="文本框 41"/>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{closed_loop_external_asset_vulnerability_count}}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3" name="文本框 42"/>
            <p:cNvSpPr txBox="1"/>
            <p:nvPr/>
          </p:nvSpPr>
          <p:spPr>
            <a:xfrm>
              <a:off x="18632"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4" name="组合 43"/>
          <p:cNvGrpSpPr/>
          <p:nvPr/>
        </p:nvGrpSpPr>
        <p:grpSpPr>
          <a:xfrm>
            <a:off x="7980680" y="1727518"/>
            <a:ext cx="1979296" cy="688023"/>
            <a:chOff x="22583" y="6585"/>
            <a:chExt cx="6234" cy="2167"/>
          </a:xfrm>
        </p:grpSpPr>
        <p:sp>
          <p:nvSpPr>
            <p:cNvPr id="45" name="文本框 44"/>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6" name="文本框 45"/>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{{admin_weak_password_count}}</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47" name="文本框 46"/>
            <p:cNvSpPr txBox="1"/>
            <p:nvPr/>
          </p:nvSpPr>
          <p:spPr>
            <a:xfrm>
              <a:off x="23299"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48" name="组合 47"/>
          <p:cNvGrpSpPr/>
          <p:nvPr/>
        </p:nvGrpSpPr>
        <p:grpSpPr>
          <a:xfrm>
            <a:off x="9989820" y="1727835"/>
            <a:ext cx="1884680" cy="693420"/>
            <a:chOff x="29848" y="6559"/>
            <a:chExt cx="5957" cy="2183"/>
          </a:xfrm>
        </p:grpSpPr>
        <p:sp>
          <p:nvSpPr>
            <p:cNvPr id="49" name="文本框 48"/>
            <p:cNvSpPr txBox="1"/>
            <p:nvPr/>
          </p:nvSpPr>
          <p:spPr>
            <a:xfrm>
              <a:off x="30013"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0" name="文本框 49"/>
            <p:cNvSpPr txBox="1"/>
            <p:nvPr/>
          </p:nvSpPr>
          <p:spPr>
            <a:xfrm>
              <a:off x="29848" y="747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{{high_risk_exploitable_vulnerability_closure_rate}}</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52" name="文本框 51"/>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53" name="图片 52" descr="APP漏扫"/>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691698" y="1270318"/>
            <a:ext cx="360000" cy="360000"/>
          </a:xfrm>
          <a:prstGeom prst="rect">
            <a:avLst/>
          </a:prstGeom>
        </p:spPr>
      </p:pic>
      <p:pic>
        <p:nvPicPr>
          <p:cNvPr id="54" name="图片 53" descr="项目风险"/>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706870" y="1270318"/>
            <a:ext cx="360000" cy="360000"/>
          </a:xfrm>
          <a:prstGeom prst="rect">
            <a:avLst/>
          </a:prstGeom>
        </p:spPr>
      </p:pic>
      <p:pic>
        <p:nvPicPr>
          <p:cNvPr id="55" name="图片 54" descr="项目风险"/>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721725" y="1270318"/>
            <a:ext cx="360000" cy="360000"/>
          </a:xfrm>
          <a:prstGeom prst="rect">
            <a:avLst/>
          </a:prstGeom>
        </p:spPr>
      </p:pic>
      <p:pic>
        <p:nvPicPr>
          <p:cNvPr id="56" name="图片 55" descr="已办事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737533" y="1270318"/>
            <a:ext cx="360000" cy="360000"/>
          </a:xfrm>
          <a:prstGeom prst="rect">
            <a:avLst/>
          </a:prstGeom>
        </p:spPr>
      </p:pic>
      <p:sp>
        <p:nvSpPr>
          <p:cNvPr id="57" name="文本框 56"/>
          <p:cNvSpPr txBox="1"/>
          <p:nvPr/>
        </p:nvSpPr>
        <p:spPr>
          <a:xfrm>
            <a:off x="7980680" y="4601210"/>
            <a:ext cx="6096000" cy="368300"/>
          </a:xfrm>
          <a:prstGeom prst="rect">
            <a:avLst/>
          </a:prstGeom>
          <a:noFill/>
        </p:spPr>
        <p:txBody>
          <a:bodyPr wrap="square" rtlCol="0" anchor="t">
            <a:spAutoFit/>
          </a:bodyPr>
          <a:p>
            <a:r>
              <a:rPr lang="zh-CN" altLang="en-US">
                <a:sym typeface="+mn-ea"/>
              </a:rPr>
              <a:t>{{</a:t>
            </a:r>
            <a:r>
              <a:rPr lang="en-US" altLang="zh-CN">
                <a:sym typeface="+mn-ea"/>
              </a:rPr>
              <a:t>P29_line</a:t>
            </a:r>
            <a:r>
              <a:rPr lang="zh-CN" altLang="en-US">
                <a:sym typeface="+mn-ea"/>
              </a:rPr>
              <a:t>}}</a:t>
            </a:r>
            <a:endParaRPr lang="zh-CN" altLang="en-US">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8" name="文本框 7"/>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algn="l" rtl="0" eaLnBrk="0">
              <a:lnSpc>
                <a:spcPct val="101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重要时期保障工作详情</a:t>
            </a: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5"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26" name="组合 25"/>
          <p:cNvGrpSpPr/>
          <p:nvPr/>
        </p:nvGrpSpPr>
        <p:grpSpPr>
          <a:xfrm>
            <a:off x="1275398" y="1650365"/>
            <a:ext cx="2159635" cy="475615"/>
            <a:chOff x="4017" y="5198"/>
            <a:chExt cx="8006" cy="1498"/>
          </a:xfrm>
        </p:grpSpPr>
        <p:sp>
          <p:nvSpPr>
            <p:cNvPr id="39" name="文本框 38"/>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1" name="文本框 40"/>
            <p:cNvSpPr txBox="1"/>
            <p:nvPr/>
          </p:nvSpPr>
          <p:spPr>
            <a:xfrm>
              <a:off x="470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4" name="组合 43"/>
          <p:cNvGrpSpPr/>
          <p:nvPr/>
        </p:nvGrpSpPr>
        <p:grpSpPr>
          <a:xfrm>
            <a:off x="1275398" y="2854325"/>
            <a:ext cx="2159953" cy="487046"/>
            <a:chOff x="4017" y="8989"/>
            <a:chExt cx="8006" cy="1534"/>
          </a:xfrm>
        </p:grpSpPr>
        <p:sp>
          <p:nvSpPr>
            <p:cNvPr id="46" name="文本框 45"/>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7" name="文本框 46"/>
            <p:cNvSpPr txBox="1"/>
            <p:nvPr/>
          </p:nvSpPr>
          <p:spPr>
            <a:xfrm>
              <a:off x="4632"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{{availability_assure}}</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8" name="组合 47"/>
          <p:cNvGrpSpPr/>
          <p:nvPr/>
        </p:nvGrpSpPr>
        <p:grpSpPr>
          <a:xfrm>
            <a:off x="1275398" y="2252345"/>
            <a:ext cx="2113996" cy="656591"/>
            <a:chOff x="4017" y="7030"/>
            <a:chExt cx="6911" cy="2068"/>
          </a:xfrm>
        </p:grpSpPr>
        <p:sp>
          <p:nvSpPr>
            <p:cNvPr id="50" name="文本框 49"/>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文本框 50"/>
            <p:cNvSpPr txBox="1"/>
            <p:nvPr/>
          </p:nvSpPr>
          <p:spPr>
            <a:xfrm>
              <a:off x="4590" y="7868"/>
              <a:ext cx="6338"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53" name="椭圆 52"/>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54" name="组合 53"/>
          <p:cNvGrpSpPr/>
          <p:nvPr/>
        </p:nvGrpSpPr>
        <p:grpSpPr>
          <a:xfrm>
            <a:off x="728028" y="2298700"/>
            <a:ext cx="431800" cy="431800"/>
            <a:chOff x="2293" y="7118"/>
            <a:chExt cx="1360" cy="1360"/>
          </a:xfrm>
        </p:grpSpPr>
        <p:sp>
          <p:nvSpPr>
            <p:cNvPr id="57" name="椭圆 56"/>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58" name="图片 57"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61" name="椭圆 60"/>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62" name="文本框 61"/>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63" name="图片 62"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4" name="图片 63"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65" name="图表 64"/>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66" name="文本框 65"/>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68" name="图片 67"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69" name="文本框 68"/>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70"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71" name="组合 70"/>
          <p:cNvGrpSpPr/>
          <p:nvPr/>
        </p:nvGrpSpPr>
        <p:grpSpPr>
          <a:xfrm rot="0">
            <a:off x="7106285" y="4794568"/>
            <a:ext cx="1439545" cy="692150"/>
            <a:chOff x="23598" y="12409"/>
            <a:chExt cx="4534" cy="2180"/>
          </a:xfrm>
        </p:grpSpPr>
        <p:sp>
          <p:nvSpPr>
            <p:cNvPr id="72" name="文本框 71"/>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3" name="组合 72"/>
            <p:cNvGrpSpPr/>
            <p:nvPr/>
          </p:nvGrpSpPr>
          <p:grpSpPr>
            <a:xfrm rot="0">
              <a:off x="25412" y="12409"/>
              <a:ext cx="907" cy="907"/>
              <a:chOff x="25500" y="11572"/>
              <a:chExt cx="907" cy="907"/>
            </a:xfrm>
          </p:grpSpPr>
          <p:sp>
            <p:nvSpPr>
              <p:cNvPr id="74" name="椭圆 73"/>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75" name="图片 74"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76" name="组合 75"/>
          <p:cNvGrpSpPr/>
          <p:nvPr/>
        </p:nvGrpSpPr>
        <p:grpSpPr>
          <a:xfrm rot="0">
            <a:off x="9695815" y="4794568"/>
            <a:ext cx="1439545" cy="692150"/>
            <a:chOff x="31276" y="12409"/>
            <a:chExt cx="4534" cy="2180"/>
          </a:xfrm>
        </p:grpSpPr>
        <p:sp>
          <p:nvSpPr>
            <p:cNvPr id="78" name="文本框 77"/>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79" name="组合 78"/>
            <p:cNvGrpSpPr/>
            <p:nvPr/>
          </p:nvGrpSpPr>
          <p:grpSpPr>
            <a:xfrm rot="0">
              <a:off x="33090" y="12409"/>
              <a:ext cx="907" cy="907"/>
              <a:chOff x="33129" y="11647"/>
              <a:chExt cx="907" cy="907"/>
            </a:xfrm>
          </p:grpSpPr>
          <p:sp>
            <p:nvSpPr>
              <p:cNvPr id="80" name="椭圆 79"/>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1" name="图片 80"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82" name="图片 81"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83" name="文本框 82"/>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4" name="组合 83"/>
          <p:cNvGrpSpPr/>
          <p:nvPr/>
        </p:nvGrpSpPr>
        <p:grpSpPr>
          <a:xfrm rot="0">
            <a:off x="4516120" y="4794568"/>
            <a:ext cx="1440180" cy="692150"/>
            <a:chOff x="15001" y="12047"/>
            <a:chExt cx="4536" cy="2180"/>
          </a:xfrm>
        </p:grpSpPr>
        <p:sp>
          <p:nvSpPr>
            <p:cNvPr id="85" name="文本框 84"/>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86" name="组合 85"/>
            <p:cNvGrpSpPr/>
            <p:nvPr/>
          </p:nvGrpSpPr>
          <p:grpSpPr>
            <a:xfrm>
              <a:off x="16816" y="12047"/>
              <a:ext cx="907" cy="907"/>
              <a:chOff x="16280" y="11640"/>
              <a:chExt cx="907" cy="907"/>
            </a:xfrm>
          </p:grpSpPr>
          <p:sp>
            <p:nvSpPr>
              <p:cNvPr id="87" name="椭圆 86"/>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88" name="图片 87"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89" name="图片 88"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90" name="文本框 89"/>
          <p:cNvSpPr txBox="1"/>
          <p:nvPr/>
        </p:nvSpPr>
        <p:spPr>
          <a:xfrm>
            <a:off x="8013065" y="1371600"/>
            <a:ext cx="3558540" cy="2509520"/>
          </a:xfrm>
          <a:prstGeom prst="rect">
            <a:avLst/>
          </a:prstGeom>
          <a:noFill/>
        </p:spPr>
        <p:txBody>
          <a:bodyPr wrap="square" rtlCol="0" anchor="t">
            <a:spAutoFit/>
          </a:bodyPr>
          <a:p>
            <a:pPr marL="191770" indent="0" algn="l" rtl="0" eaLnBrk="0" fontAlgn="auto">
              <a:lnSpc>
                <a:spcPct val="15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mid_autumn_festival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national_day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new_years_day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spring_festival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qingming_festival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labor_day</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dragon_boat_festival</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1" name="文本框 90"/>
          <p:cNvSpPr txBox="1"/>
          <p:nvPr/>
        </p:nvSpPr>
        <p:spPr>
          <a:xfrm>
            <a:off x="5333365" y="1484630"/>
            <a:ext cx="1885315" cy="368300"/>
          </a:xfrm>
          <a:prstGeom prst="rect">
            <a:avLst/>
          </a:prstGeom>
          <a:noFill/>
        </p:spPr>
        <p:txBody>
          <a:bodyPr wrap="square" rtlCol="0" anchor="t">
            <a:spAutoFit/>
          </a:bodyPr>
          <a:p>
            <a:r>
              <a:rPr lang="zh-CN" altLang="en-US"/>
              <a:t>{{P</a:t>
            </a:r>
            <a:r>
              <a:rPr lang="en-US" altLang="zh-CN"/>
              <a:t>30</a:t>
            </a:r>
            <a:r>
              <a:rPr lang="zh-CN" altLang="en-US"/>
              <a:t>_combo}}</a:t>
            </a:r>
            <a:endParaRPr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9.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10.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5.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22.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5.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6.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7.xml><?xml version="1.0" encoding="utf-8"?>
<p:tagLst xmlns:p="http://schemas.openxmlformats.org/presentationml/2006/main">
  <p:tag name="KSO_WM_UNIT_TYPE" val="a"/>
  <p:tag name="KSO_WM_UNIT_INDEX" val="1"/>
  <p:tag name="KSO_WM_BEAUTIFY_FLAG" val="#wm#"/>
  <p:tag name="KSO_WM_TAG_VERSION" val="3.0"/>
  <p:tag name="KSO_WM_UNIT_PRESET_TEXT" val="编辑标题"/>
  <p:tag name="KSO_WM_UNIT_ID" val="_1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2"/>
</p:tagLst>
</file>

<file path=ppt/tags/tag28.xml><?xml version="1.0" encoding="utf-8"?>
<p:tagLst xmlns:p="http://schemas.openxmlformats.org/presentationml/2006/main">
  <p:tag name="KSO_WM_UNIT_TYPE" val="b"/>
  <p:tag name="KSO_WM_UNIT_INDEX" val="1"/>
  <p:tag name="KSO_WM_BEAUTIFY_FLAG" val="#wm#"/>
  <p:tag name="KSO_WM_TAG_VERSION" val="3.0"/>
  <p:tag name="KSO_WM_UNIT_PRESET_TEXT" val="编辑副标题"/>
  <p:tag name="KSO_WM_UNIT_ID" val="_11*b*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8"/>
</p:tagLst>
</file>

<file path=ppt/tags/tag29.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0.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1.xml><?xml version="1.0" encoding="utf-8"?>
<p:tagLst xmlns:p="http://schemas.openxmlformats.org/presentationml/2006/main">
  <p:tag name="KSO_WM_UNIT_ID" val="_1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2.xml><?xml version="1.0" encoding="utf-8"?>
<p:tagLst xmlns:p="http://schemas.openxmlformats.org/presentationml/2006/main">
  <p:tag name="KSO_WM_UNIT_TYPE" val="f"/>
  <p:tag name="KSO_WM_UNIT_SUBTYPE" val="g"/>
  <p:tag name="KSO_WM_UNIT_INDEX" val="2"/>
  <p:tag name="KSO_WM_BEAUTIFY_FLAG" val="#wm#"/>
  <p:tag name="KSO_WM_TAG_VERSION" val="3.0"/>
  <p:tag name="KSO_WM_UNIT_PRESET_TEXT" val="公司"/>
  <p:tag name="KSO_WM_UNIT_ID" val="_1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3"/>
</p:tagLst>
</file>

<file path=ppt/tags/tag33.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0"/>
</p:tagLst>
</file>

<file path=ppt/tags/tag34.xml><?xml version="1.0" encoding="utf-8"?>
<p:tagLst xmlns:p="http://schemas.openxmlformats.org/presentationml/2006/main">
  <p:tag name="KSO_WM_UNIT_TYPE" val="i"/>
  <p:tag name="KSO_WM_UNIT_INDEX" val="2"/>
  <p:tag name="KSO_WM_BEAUTIFY_FLAG" val="#wm#"/>
  <p:tag name="KSO_WM_TAG_VERSION" val="3.0"/>
  <p:tag name="KSO_WM_UNIT_ID" val="_1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5.xml><?xml version="1.0" encoding="utf-8"?>
<p:tagLst xmlns:p="http://schemas.openxmlformats.org/presentationml/2006/main">
  <p:tag name="KSO_WM_UNIT_TYPE" val="i"/>
  <p:tag name="KSO_WM_UNIT_INDEX" val="6"/>
  <p:tag name="KSO_WM_BEAUTIFY_FLAG" val="#wm#"/>
  <p:tag name="KSO_WM_TAG_VERSION" val="3.0"/>
  <p:tag name="KSO_WM_UNIT_ID" val="_1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6.xml><?xml version="1.0" encoding="utf-8"?>
<p:tagLst xmlns:p="http://schemas.openxmlformats.org/presentationml/2006/main">
  <p:tag name="KSO_WM_UNIT_TYPE" val="i"/>
  <p:tag name="KSO_WM_UNIT_INDEX" val="4"/>
  <p:tag name="KSO_WM_BEAUTIFY_FLAG" val="#wm#"/>
  <p:tag name="KSO_WM_TAG_VERSION" val="3.0"/>
  <p:tag name="KSO_WM_UNIT_ID" val="_1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7.xml><?xml version="1.0" encoding="utf-8"?>
<p:tagLst xmlns:p="http://schemas.openxmlformats.org/presentationml/2006/main">
  <p:tag name="KSO_WM_UNIT_TYPE" val="i"/>
  <p:tag name="KSO_WM_UNIT_INDEX" val="1"/>
  <p:tag name="KSO_WM_BEAUTIFY_FLAG" val="#wm#"/>
  <p:tag name="KSO_WM_TAG_VERSION" val="3.0"/>
  <p:tag name="KSO_WM_UNIT_ID" val="_1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8.xml><?xml version="1.0" encoding="utf-8"?>
<p:tagLst xmlns:p="http://schemas.openxmlformats.org/presentationml/2006/main">
  <p:tag name="KSO_WM_UNIT_TYPE" val="i"/>
  <p:tag name="KSO_WM_UNIT_INDEX" val="3"/>
  <p:tag name="KSO_WM_BEAUTIFY_FLAG" val="#wm#"/>
  <p:tag name="KSO_WM_TAG_VERSION" val="3.0"/>
  <p:tag name="KSO_WM_UNIT_ID" val="_1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4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4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4.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DIAGRAM_VIRTUALLY_FRAME" val="{&quot;height&quot;:275.27181102362204,&quot;left&quot;:558.35,&quot;top&quot;:123.32125984251968,&quot;width&quot;:255.1}"/>
</p:tagLst>
</file>

<file path=ppt/tags/tag48.xml><?xml version="1.0" encoding="utf-8"?>
<p:tagLst xmlns:p="http://schemas.openxmlformats.org/presentationml/2006/main">
  <p:tag name="KSO_WM_DIAGRAM_VIRTUALLY_FRAME" val="{&quot;height&quot;:275.27181102362204,&quot;left&quot;:558.35,&quot;top&quot;:123.32125984251968,&quot;width&quot;:255.1}"/>
</p:tagLst>
</file>

<file path=ppt/tags/tag49.xml><?xml version="1.0" encoding="utf-8"?>
<p:tagLst xmlns:p="http://schemas.openxmlformats.org/presentationml/2006/main">
  <p:tag name="KSO_WM_DIAGRAM_VIRTUALLY_FRAME" val="{&quot;height&quot;:275.27181102362204,&quot;left&quot;:558.35,&quot;top&quot;:123.32125984251968,&quot;width&quot;:255.1}"/>
</p:tagLst>
</file>

<file path=ppt/tags/tag50.xml><?xml version="1.0" encoding="utf-8"?>
<p:tagLst xmlns:p="http://schemas.openxmlformats.org/presentationml/2006/main">
  <p:tag name="KSO_WM_DIAGRAM_VIRTUALLY_FRAME" val="{&quot;height&quot;:275.27181102362204,&quot;left&quot;:558.35,&quot;top&quot;:123.32125984251968,&quot;width&quot;:255.1}"/>
</p:tagLst>
</file>

<file path=ppt/tags/tag51.xml><?xml version="1.0" encoding="utf-8"?>
<p:tagLst xmlns:p="http://schemas.openxmlformats.org/presentationml/2006/main">
  <p:tag name="KSO_WM_DIAGRAM_VIRTUALLY_FRAME" val="{&quot;height&quot;:275.27181102362204,&quot;left&quot;:558.35,&quot;top&quot;:123.32125984251968,&quot;width&quot;:255.1}"/>
</p:tagLst>
</file>

<file path=ppt/tags/tag52.xml><?xml version="1.0" encoding="utf-8"?>
<p:tagLst xmlns:p="http://schemas.openxmlformats.org/presentationml/2006/main">
  <p:tag name="KSO_WM_DIAGRAM_VIRTUALLY_FRAME" val="{&quot;height&quot;:275.27181102362204,&quot;left&quot;:558.35,&quot;top&quot;:123.32125984251968,&quot;width&quot;:255.1}"/>
</p:tagLst>
</file>

<file path=ppt/tags/tag53.xml><?xml version="1.0" encoding="utf-8"?>
<p:tagLst xmlns:p="http://schemas.openxmlformats.org/presentationml/2006/main">
  <p:tag name="KSO_WM_DIAGRAM_VIRTUALLY_FRAME" val="{&quot;height&quot;:275.27181102362204,&quot;left&quot;:558.35,&quot;top&quot;:123.32125984251968,&quot;width&quot;:255.1}"/>
</p:tagLst>
</file>

<file path=ppt/tags/tag54.xml><?xml version="1.0" encoding="utf-8"?>
<p:tagLst xmlns:p="http://schemas.openxmlformats.org/presentationml/2006/main">
  <p:tag name="KSO_WM_DIAGRAM_VIRTUALLY_FRAME" val="{&quot;height&quot;:275.27181102362204,&quot;left&quot;:558.35,&quot;top&quot;:123.32125984251968,&quot;width&quot;:255.1}"/>
</p:tagLst>
</file>

<file path=ppt/tags/tag55.xml><?xml version="1.0" encoding="utf-8"?>
<p:tagLst xmlns:p="http://schemas.openxmlformats.org/presentationml/2006/main">
  <p:tag name="KSO_WM_DIAGRAM_VIRTUALLY_FRAME" val="{&quot;height&quot;:275.27181102362204,&quot;left&quot;:558.35,&quot;top&quot;:123.32125984251968,&quot;width&quot;:255.1}"/>
</p:tagLst>
</file>

<file path=ppt/tags/tag56.xml><?xml version="1.0" encoding="utf-8"?>
<p:tagLst xmlns:p="http://schemas.openxmlformats.org/presentationml/2006/main">
  <p:tag name="KSO_WM_DIAGRAM_VIRTUALLY_FRAME" val="{&quot;height&quot;:275.27181102362204,&quot;left&quot;:558.35,&quot;top&quot;:123.32125984251968,&quot;width&quot;:255.1}"/>
</p:tagLst>
</file>

<file path=ppt/tags/tag57.xml><?xml version="1.0" encoding="utf-8"?>
<p:tagLst xmlns:p="http://schemas.openxmlformats.org/presentationml/2006/main">
  <p:tag name="KSO_WM_DIAGRAM_VIRTUALLY_FRAME" val="{&quot;height&quot;:275.27181102362204,&quot;left&quot;:558.35,&quot;top&quot;:123.32125984251968,&quot;width&quot;:255.1}"/>
</p:tagLst>
</file>

<file path=ppt/tags/tag58.xml><?xml version="1.0" encoding="utf-8"?>
<p:tagLst xmlns:p="http://schemas.openxmlformats.org/presentationml/2006/main">
  <p:tag name="KSO_WM_DIAGRAM_VIRTUALLY_FRAME" val="{&quot;height&quot;:275.27181102362204,&quot;left&quot;:558.35,&quot;top&quot;:123.32125984251968,&quot;width&quot;:255.1}"/>
</p:tagLst>
</file>

<file path=ppt/tags/tag5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1.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4.xml><?xml version="1.0" encoding="utf-8"?>
<p:tagLst xmlns:p="http://schemas.openxmlformats.org/presentationml/2006/main">
  <p:tag name="KSO_WM_DIAGRAM_VIRTUALLY_FRAME" val="{&quot;height&quot;:389.6,&quot;left&quot;:211.45,&quot;top&quot;:116.65,&quot;width&quot;:477.55}"/>
</p:tagLst>
</file>

<file path=ppt/tags/tag6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6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6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40494663_1*l_h_a*1_3_1"/>
  <p:tag name="KSO_WM_TEMPLATE_CATEGORY" val="diagram"/>
  <p:tag name="KSO_WM_TEMPLATE_INDEX" val="40494663"/>
  <p:tag name="KSO_WM_UNIT_LAYERLEVEL" val="1_1_1"/>
  <p:tag name="KSO_WM_TAG_VERSION" val="3.0"/>
  <p:tag name="KSO_WM_BEAUTIFY_FLAG" val="#wm#"/>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4663_1*l_h_i*1_3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VALUE" val="84*84"/>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40494663_1*l_h_x*1_3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40494663_1*l_h_i*1_2_2"/>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40494663_1*l_h_a*1_2_1"/>
  <p:tag name="KSO_WM_TEMPLATE_CATEGORY" val="diagram"/>
  <p:tag name="KSO_WM_TEMPLATE_INDEX" val="40494663"/>
  <p:tag name="KSO_WM_UNIT_LAYERLEVEL" val="1_1_1"/>
  <p:tag name="KSO_WM_TAG_VERSION" val="3.0"/>
  <p:tag name="KSO_WM_BEAUTIFY_FLAG" val="#wm#"/>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4663_1*l_h_i*1_2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VALUE" val="96*87"/>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40494663_1*l_h_x*1_2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40494663_1*l_h_a*1_1_1"/>
  <p:tag name="KSO_WM_TEMPLATE_CATEGORY" val="diagram"/>
  <p:tag name="KSO_WM_TEMPLATE_INDEX" val="40494663"/>
  <p:tag name="KSO_WM_UNIT_LAYERLEVEL" val="1_1_1"/>
  <p:tag name="KSO_WM_TAG_VERSION" val="3.0"/>
  <p:tag name="KSO_WM_BEAUTIFY_FLAG" val="#wm#"/>
  <p:tag name="KSO_WM_UNIT_ISCONTENTSTITLE" val="0"/>
  <p:tag name="KSO_WM_UNIT_ISNUMDGMTITLE" val="0"/>
  <p:tag name="KSO_WM_DIAGRAM_GROUP_CODE" val="l1-1"/>
  <p:tag name="KSO_WM_UNIT_VALUE" val="12"/>
  <p:tag name="KSO_WM_DIAGRAM_VERSION" val="3"/>
  <p:tag name="KSO_WM_DIAGRAM_COLOR_TRICK" val="1"/>
  <p:tag name="KSO_WM_DIAGRAM_COLOR_TEXT_CAN_REMOVE" val="n"/>
  <p:tag name="KSO_WM_UNIT_PRESET_TEXT" val="加项标题"/>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4663_1*l_h_i*1_1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VALUE" val="85*8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40494663_1*l_h_x*1_1_1"/>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40494663_1*l_h_i*1_3_2"/>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40494663_1*l_h_i*1_1_2"/>
  <p:tag name="KSO_WM_TEMPLATE_CATEGORY" val="diagram"/>
  <p:tag name="KSO_WM_TEMPLATE_INDEX" val="40494663"/>
  <p:tag name="KSO_WM_UNIT_LAYERLEVEL" val="1_1_1"/>
  <p:tag name="KSO_WM_TAG_VERSION" val="3.0"/>
  <p:tag name="KSO_WM_BEAUTIFY_FLAG" val="#wm#"/>
  <p:tag name="KSO_WM_DIAGRAM_VERSION" val="3"/>
  <p:tag name="KSO_WM_DIAGRAM_COLOR_TRICK" val="1"/>
  <p:tag name="KSO_WM_DIAGRAM_COLOR_TEXT_CAN_REMOVE" val="n"/>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gradient&quot;:[{&quot;brightness&quot;:0.949999988079071,&quot;colorType&quot;:1,&quot;foreColorIndex&quot;:5,&quot;pos&quot;:1,&quot;transparency&quot;:1},{&quot;brightness&quot;:0,&quot;colorType&quot;:1,&quot;foreColorIndex&quot;:5,&quot;pos&quot;:0.550000011920929,&quot;transparency&quot;:0.75}],&quot;type&quot;:2},&quot;shadow&quot;:{&quot;brightness&quot;:0,&quot;colorType&quot;:1,&quot;foreColorIndex&quot;:5,&quot;transparency&quot;:0.4099999964237213},&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16.9499938964844,&quot;left&quot;:46.8,&quot;top&quot;:95.05000305175781,&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40494663_1*l_h_f*1_1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40494663_1*l_h_f*1_2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内容，简明扼要地阐述您的观点。单击此处添加文本内容，简明扼要地阐述观点。单击此处添加文本内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40494663_1*l_h_f*1_3_1"/>
  <p:tag name="KSO_WM_TEMPLATE_CATEGORY" val="diagram"/>
  <p:tag name="KSO_WM_TEMPLATE_INDEX" val="40494663"/>
  <p:tag name="KSO_WM_UNIT_LAYERLEVEL" val="1_1_1"/>
  <p:tag name="KSO_WM_TAG_VERSION" val="3.0"/>
  <p:tag name="KSO_WM_UNIT_TEXT_LAYER_COUNT" val="1"/>
  <p:tag name="KSO_WM_DIAGRAM_GROUP_CODE" val="l1-1"/>
  <p:tag name="KSO_WM_DIAGRAM_VERSION" val="3"/>
  <p:tag name="KSO_WM_DIAGRAM_COLOR_TRICK" val="1"/>
  <p:tag name="KSO_WM_DIAGRAM_COLOR_TEXT_CAN_REMOVE" val="n"/>
  <p:tag name="KSO_WM_UNIT_PRESET_TEXT" val="单击此处添加文本内容，简明阐述观点。单击此处添加文本具体内容，简明扼要地阐述观点。单击此处添加文本内容，简明阐述观点。"/>
  <p:tag name="KSO_WM_UNIT_TEXT_FILL_FORE_SCHEMECOLOR_INDEX" val="1"/>
  <p:tag name="KSO_WM_UNIT_TEXT_FILL_TYPE" val="1"/>
  <p:tag name="KSO_WM_UNIT_TEXT_TYPE" val="1"/>
  <p:tag name="KSO_WM_DIAGRAM_VIRTUALLY_FRAME" val="{&quot;height&quot;:302.6000787401575,&quot;left&quot;:62.69999389648437,&quot;top&quot;:177.77496062992125,&quot;width&quot;:828.5734586265119}"/>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SLIDE_ITEM_CNT" val="3"/>
  <p:tag name="resource_record_key" val="{&quot;10&quot;:[3505430,50036384,50034089,4590447],&quot;29&quot;:[50053024,50052948],&quot;70&quot;:[3405561,3319090,3312439,3312479,3429185]}"/>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DIAGRAM_VIRTUALLY_FRAME" val="{&quot;height&quot;:389.6,&quot;left&quot;:211.45,&quot;top&quot;:116.65,&quot;width&quot;:477.55}"/>
</p:tagLst>
</file>

<file path=ppt/tags/tag90.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91.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9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1092_1*n_h_a*1_1_1"/>
  <p:tag name="KSO_WM_TEMPLATE_CATEGORY" val="diagram"/>
  <p:tag name="KSO_WM_TEMPLATE_INDEX" val="20231092"/>
  <p:tag name="KSO_WM_UNIT_LAYERLEVEL" val="1_1_1"/>
  <p:tag name="KSO_WM_TAG_VERSION" val="3.0"/>
  <p:tag name="KSO_WM_UNIT_ISCONTENTSTITLE" val="0"/>
  <p:tag name="KSO_WM_UNIT_ISNUMDGMTITLE" val="0"/>
  <p:tag name="KSO_WM_UNIT_NOCLEAR" val="0"/>
  <p:tag name="KSO_WM_UNIT_VALUE" val="4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2,&quot;pos&quot;:1,&quot;rgb&quot;:&quot;#ffffff&quot;,&quot;transparency&quot;:1},{&quot;brightness&quot;:0,&quot;colorType&quot;:2,&quot;pos&quot;:0,&quot;rgb&quot;:&quot;#ffff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BEAUTIFY_FLAG" val="#wm#"/>
  <p:tag name="KSO_WM_UNIT_PRESET_TEXT" val="单击此处&#10;添加标题"/>
  <p:tag name="KSO_WM_UNIT_FILL_TYPE" val="3"/>
  <p:tag name="KSO_WM_DIAGRAM_USE_COLOR_VALUE" val="{&quot;color_scheme&quot;:1,&quot;color_type&quot;:1,&quot;theme_color_indexes&quot;:[9,10,9,10,9,10]}"/>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092_1*n_h_i*1_1_2"/>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1092_1*n_h_i*1_1_1"/>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49999988079071},{&quot;brightness&quot;:0,&quot;colorType&quot;:1,&quot;foreColorIndex&quot;:5,&quot;pos&quot;:0,&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1092_1*n_h_i*1_1_3"/>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0.9900000095367432,&quot;transparency&quot;:0.7900000214576721},{&quot;brightness&quot;:0,&quot;colorType&quot;:1,&quot;foreColorIndex&quot;:5,&quot;pos&quot;:0,&quot;transparency&quot;:0.8999999761581421}],&quot;type&quot;:2},&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1092_1*n_h_i*1_1_4"/>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quot;colorType&quot;:1,&quot;foreColorIndex&quot;:5,&quot;pos&quot;:1,&quot;transparency&quot;:0.9599999785423279},{&quot;brightness&quot;:0,&quot;colorType&quot;:1,&quot;foreColorIndex&quot;:5,&quot;pos&quot;:0,&quot;transparency&quot;:0.9300000071525574}],&quot;type&quot;:2},&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2"/>
  <p:tag name="KSO_WM_UNIT_ID" val="diagram20231092_1*n_h_i*1_2_2"/>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800000011920929,&quot;colorType&quot;:1,&quot;foreColorIndex&quot;:5,&quot;pos&quot;:1,&quot;transparency&quot;:1},{&quot;brightness&quot;:0.800000011920929,&quot;colorType&quot;:1,&quot;foreColorIndex&quot;:5,&quot;pos&quot;:0,&quot;transparency&quot;:1},{&quot;brightness&quot;:0.4000000059604645,&quot;colorType&quot;:1,&quot;foreColorIndex&quot;:5,&quot;pos&quot;:0.699999988079071,&quot;transparency&quot;:0},{&quot;brightness&quot;:0.4000000059604645,&quot;colorType&quot;:1,&quot;foreColorIndex&quot;:5,&quot;pos&quot;:0.30000001192092896,&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1_2_1"/>
  <p:tag name="KSO_WM_UNIT_ID" val="diagram20231092_1*n_h_i*1_2_1"/>
  <p:tag name="KSO_WM_TEMPLATE_CATEGORY" val="diagram"/>
  <p:tag name="KSO_WM_TEMPLATE_INDEX" val="20231092"/>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gradient&quot;:[{&quot;brightness&quot;:0.800000011920929,&quot;colorType&quot;:1,&quot;foreColorIndex&quot;:5,&quot;pos&quot;:1,&quot;transparency&quot;:1},{&quot;brightness&quot;:0.800000011920929,&quot;colorType&quot;:1,&quot;foreColorIndex&quot;:5,&quot;pos&quot;:0,&quot;transparency&quot;:1},{&quot;brightness&quot;:0.4000000059604645,&quot;colorType&quot;:1,&quot;foreColorIndex&quot;:5,&quot;pos&quot;:0.699999988079071,&quot;transparency&quot;:0},{&quot;brightness&quot;:0.4000000059604645,&quot;colorType&quot;:1,&quot;foreColorIndex&quot;:5,&quot;pos&quot;:0.30000001192092896,&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092_1*n_h_h_i*1_2_1_1"/>
  <p:tag name="KSO_WM_TEMPLATE_CATEGORY" val="diagram"/>
  <p:tag name="KSO_WM_TEMPLATE_INDEX" val="20231092"/>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1,&quot;foreColorIndex&quot;:14,&quot;pos&quot;:1,&quot;transparency&quot;:1},{&quot;brightness&quot;:0,&quot;colorType&quot;:1,&quot;foreColorIndex&quot;:14,&quot;pos&quot;:0,&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092_1*n_h_h_a*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092_1*n_h_h_f*1_2_1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10;形项正文内容"/>
  <p:tag name="KSO_WM_UNIT_TEXT_FILL_FORE_SCHEMECOLOR_INDEX" val="1"/>
  <p:tag name="KSO_WM_UNIT_TEXT_FILL_TYPE" val="1"/>
  <p:tag name="KSO_WM_DIAGRAM_USE_COLOR_VALUE" val="{&quot;color_scheme&quot;:1,&quot;color_type&quot;:1,&quot;theme_color_indexes&quot;:[9,10,9,10,9,10]}"/>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1092_1*n_h_h_i*1_2_2_1"/>
  <p:tag name="KSO_WM_TEMPLATE_CATEGORY" val="diagram"/>
  <p:tag name="KSO_WM_TEMPLATE_INDEX" val="20231092"/>
  <p:tag name="KSO_WM_UNIT_LAYERLEVEL" val="1_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gradient&quot;:[{&quot;brightness&quot;:0,&quot;colorType&quot;:1,&quot;foreColorIndex&quot;:5,&quot;pos&quot;:0,&quot;transparency&quot;:0},{&quot;brightness&quot;:0.20000000298023224,&quot;colorType&quot;:1,&quot;foreColorIndex&quot;:5,&quot;pos&quot;:1,&quot;transparency&quot;:0}],&quot;type&quot;:3},&quot;glow&quot;:{&quot;colorType&quot;:0},&quot;line&quot;:{&quot;gradient&quot;:[{&quot;brightness&quot;:0,&quot;colorType&quot;:1,&quot;foreColorIndex&quot;:14,&quot;pos&quot;:1,&quot;transparency&quot;:1},{&quot;brightness&quot;:0,&quot;colorType&quot;:1,&quot;foreColorIndex&quot;:14,&quot;pos&quot;:0,&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0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092_1*n_h_h_a*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项标题"/>
  <p:tag name="KSO_WM_UNIT_TEXT_FILL_FORE_SCHEMECOLOR_INDEX" val="1"/>
  <p:tag name="KSO_WM_UNIT_TEXT_FILL_TYPE" val="1"/>
  <p:tag name="KSO_WM_DIAGRAM_USE_COLOR_VALUE" val="{&quot;color_scheme&quot;:1,&quot;color_type&quot;:1,&quot;theme_color_indexes&quot;:[9,10,9,10,9,10]}"/>
</p:tagLst>
</file>

<file path=ppt/tags/tag107.xml><?xml version="1.0" encoding="utf-8"?>
<p:tagLst xmlns:p="http://schemas.openxmlformats.org/presentationml/2006/main">
  <p:tag name="KSO_WM_DIAGRAM_VERSION" val="3"/>
  <p:tag name="KSO_WM_DIAGRAM_COLOR_TRICK" val="1"/>
  <p:tag name="KSO_WM_DIAGRAM_COLOR_TEXT_CAN_REMOVE" val="n"/>
  <p:tag name="KSO_WM_UNIT_VALUE" val="77*77"/>
  <p:tag name="KSO_WM_UNIT_HIGHLIGHT" val="0"/>
  <p:tag name="KSO_WM_UNIT_COMPATIBLE" val="0"/>
  <p:tag name="KSO_WM_UNIT_DIAGRAM_ISNUMVISUAL" val="0"/>
  <p:tag name="KSO_WM_UNIT_DIAGRAM_ISREFERUNIT" val="0"/>
  <p:tag name="KSO_WM_DIAGRAM_GROUP_CODE" val="n1-1"/>
  <p:tag name="KSO_WM_UNIT_TYPE" val="n_h_h_x"/>
  <p:tag name="KSO_WM_UNIT_INDEX" val="1_2_1_1"/>
  <p:tag name="KSO_WM_UNIT_ID" val="diagram20231092_1*n_h_h_x*1_2_1_1"/>
  <p:tag name="KSO_WM_TEMPLATE_CATEGORY" val="diagram"/>
  <p:tag name="KSO_WM_TEMPLATE_INDEX" val="20231092"/>
  <p:tag name="KSO_WM_UNIT_LAYERLEVEL" val="1_1_1_1"/>
  <p:tag name="KSO_WM_TAG_VERSION" val="3.0"/>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MH_SHAPE_GUID" val="23"/>
  <p:tag name="KSO_WM_DIAGRAM_USE_COLOR_VALUE" val="{&quot;color_scheme&quot;:1,&quot;color_type&quot;:1,&quot;theme_color_indexes&quot;:[9,10,9,10,9,10]}"/>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092_1*n_h_h_f*1_2_2_1"/>
  <p:tag name="KSO_WM_TEMPLATE_CATEGORY" val="diagram"/>
  <p:tag name="KSO_WM_TEMPLATE_INDEX" val="20231092"/>
  <p:tag name="KSO_WM_UNIT_LAYERLEVEL" val="1_1_1_1"/>
  <p:tag name="KSO_WM_TAG_VERSION" val="3.0"/>
  <p:tag name="KSO_WM_DIAGRAM_GROUP_CODE" val="n1-1"/>
  <p:tag name="KSO_WM_DIAGRAM_VERSION" val="3"/>
  <p:tag name="KSO_WM_DIAGRAM_COLOR_TRICK" val="1"/>
  <p:tag name="KSO_WM_DIAGRAM_COLOR_TEXT_CAN_REMOVE" val="n"/>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智能图&#10;形项正文"/>
  <p:tag name="KSO_WM_UNIT_TEXT_FILL_FORE_SCHEMECOLOR_INDEX" val="1"/>
  <p:tag name="KSO_WM_UNIT_TEXT_FILL_TYPE" val="1"/>
  <p:tag name="KSO_WM_DIAGRAM_USE_COLOR_VALUE" val="{&quot;color_scheme&quot;:1,&quot;color_type&quot;:1,&quot;theme_color_indexes&quot;:[9,10,9,10,9,10]}"/>
</p:tagLst>
</file>

<file path=ppt/tags/tag109.xml><?xml version="1.0" encoding="utf-8"?>
<p:tagLst xmlns:p="http://schemas.openxmlformats.org/presentationml/2006/main">
  <p:tag name="KSO_WM_DIAGRAM_VERSION" val="3"/>
  <p:tag name="KSO_WM_DIAGRAM_COLOR_TRICK" val="1"/>
  <p:tag name="KSO_WM_DIAGRAM_COLOR_TEXT_CAN_REMOVE" val="n"/>
  <p:tag name="KSO_WM_UNIT_VALUE" val="78*70"/>
  <p:tag name="KSO_WM_UNIT_HIGHLIGHT" val="0"/>
  <p:tag name="KSO_WM_UNIT_COMPATIBLE" val="0"/>
  <p:tag name="KSO_WM_UNIT_DIAGRAM_ISNUMVISUAL" val="0"/>
  <p:tag name="KSO_WM_UNIT_DIAGRAM_ISREFERUNIT" val="0"/>
  <p:tag name="KSO_WM_DIAGRAM_GROUP_CODE" val="n1-1"/>
  <p:tag name="KSO_WM_UNIT_TYPE" val="n_h_h_x"/>
  <p:tag name="KSO_WM_UNIT_INDEX" val="1_2_2_1"/>
  <p:tag name="KSO_WM_UNIT_ID" val="diagram20231092_1*n_h_h_x*1_2_2_1"/>
  <p:tag name="KSO_WM_TEMPLATE_CATEGORY" val="diagram"/>
  <p:tag name="KSO_WM_TEMPLATE_INDEX" val="20231092"/>
  <p:tag name="KSO_WM_UNIT_LAYERLEVEL" val="1_1_1_1"/>
  <p:tag name="KSO_WM_TAG_VERSION" val="3.0"/>
  <p:tag name="KSO_WM_DIAGRAM_MAX_ITEMCNT" val="6"/>
  <p:tag name="KSO_WM_DIAGRAM_MIN_ITEMCNT" val="2"/>
  <p:tag name="KSO_WM_DIAGRAM_VIRTUALLY_FRAME" val="{&quot;height&quot;:383.57212598425195,&quot;left&quot;:48.8792202782819,&quot;top&quot;:119.31220472440945,&quot;width&quot;:860.741638183593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FILL_TYPE" val="1"/>
  <p:tag name="KSO_WM_UNIT_FILL_FORE_SCHEMECOLOR_INDEX" val="14"/>
  <p:tag name="KSO_WM_UNIT_FILL_FORE_SCHEMECOLOR_INDEX_BRIGHTNESS" val="0"/>
  <p:tag name="MH_SHAPE_GUID" val="27"/>
  <p:tag name="KSO_WM_DIAGRAM_USE_COLOR_VALUE" val="{&quot;color_scheme&quot;:1,&quot;color_type&quot;:1,&quot;theme_color_indexes&quot;:[9,10,9,10,9,10]}"/>
</p:tagLst>
</file>

<file path=ppt/tags/tag110.xml><?xml version="1.0" encoding="utf-8"?>
<p:tagLst xmlns:p="http://schemas.openxmlformats.org/presentationml/2006/main">
  <p:tag name="KSO_WM_SLIDE_ITEM_CNT" val="3"/>
  <p:tag name="resource_record_key" val="{&quot;10&quot;:[3505430,50036384],&quot;29&quot;:[50053024,50052948],&quot;70&quot;:[3405561,3319090,3312439]}"/>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TABLE_ENDDRAG_ORIGIN_RECT" val="435*430"/>
  <p:tag name="TABLE_ENDDRAG_RECT" val="492*90*435*430"/>
</p:tagLst>
</file>

<file path=ppt/tags/tag114.xml><?xml version="1.0" encoding="utf-8"?>
<p:tagLst xmlns:p="http://schemas.openxmlformats.org/presentationml/2006/main">
  <p:tag name="TABLE_ENDDRAG_ORIGIN_RECT" val="435*430"/>
  <p:tag name="TABLE_ENDDRAG_RECT" val="492*90*435*430"/>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TABLE_ENDDRAG_ORIGIN_RECT" val="435*430"/>
  <p:tag name="TABLE_ENDDRAG_RECT" val="492*90*435*430"/>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a*1_1_1"/>
  <p:tag name="KSO_WM_TEMPLATE_CATEGORY" val="diagram"/>
  <p:tag name="KSO_WM_TEMPLATE_INDEX" val="40493068"/>
  <p:tag name="KSO_WM_UNIT_LAYERLEVEL" val="1_1_1"/>
  <p:tag name="KSO_WM_TAG_VERSION" val="3.0"/>
  <p:tag name="KSO_WM_BEAUTIFY_FLAG" val="#wm#"/>
  <p:tag name="KSO_WM_UNIT_ISCONTENTSTITLE" val="0"/>
  <p:tag name="KSO_WM_UNIT_ISNUMDGMTITLE" val="0"/>
  <p:tag name="KSO_WM_UNIT_NOCLEAR" val="0"/>
  <p:tag name="KSO_WM_DIAGRAM_GROUP_CODE" val="n1-1"/>
  <p:tag name="KSO_WM_UNIT_TYPE" val="n_h_a"/>
  <p:tag name="KSO_WM_UNIT_INDEX" val="1_1_1"/>
  <p:tag name="KSO_WM_UNIT_FILL_TYPE" val="3"/>
  <p:tag name="KSO_WM_UNIT_PRESET_TEXT" val="添加标题内容"/>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20000000298023224},{&quot;brightness&quot;:0,&quot;colorType&quot;:1,&quot;foreColorIndex&quot;:5,&quot;pos&quot;:0.8899999856948853,&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1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2_1"/>
  <p:tag name="KSO_WM_TEMPLATE_CATEGORY" val="diagram"/>
  <p:tag name="KSO_WM_TEMPLATE_INDEX" val="40493068"/>
  <p:tag name="KSO_WM_UNIT_LAYERLEVEL" val="1_1_1_1"/>
  <p:tag name="KSO_WM_TAG_VERSION" val="3.0"/>
  <p:tag name="KSO_WM_BEAUTIFY_FLAG" val="#wm#"/>
  <p:tag name="KSO_WM_UNIT_VALUE" val="100*100"/>
  <p:tag name="KSO_WM_DIAGRAM_GROUP_CODE" val="n1-1"/>
  <p:tag name="KSO_WM_UNIT_TYPE" val="n_h_h_x"/>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1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1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2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UNIT_VALUE" val="65"/>
  <p:tag name="KSO_WM_DIAGRAM_GROUP_CODE" val="n1-1"/>
  <p:tag name="KSO_WM_UNIT_TYPE" val="n_h_h_f"/>
  <p:tag name="KSO_WM_UNIT_INDEX" val="1_2_2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简明扼要地阐述您的观点。根据需要可酌情增减文字，以便观者准确地理解您传达的思想"/>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f*1_2_3_1"/>
  <p:tag name="KSO_WM_TEMPLATE_CATEGORY" val="diagram"/>
  <p:tag name="KSO_WM_TEMPLATE_INDEX" val="40493068"/>
  <p:tag name="KSO_WM_UNIT_LAYERLEVEL" val="1_1_1_1"/>
  <p:tag name="KSO_WM_TAG_VERSION" val="3.0"/>
  <p:tag name="KSO_WM_BEAUTIFY_FLAG" val="#wm#"/>
  <p:tag name="KSO_WM_UNIT_SUBTYPE" val="a"/>
  <p:tag name="KSO_WM_UNIT_TEXT_LAYER_COUNT" val="1"/>
  <p:tag name="KSO_WM_UNIT_NOCLEAR" val="0"/>
  <p:tag name="KSO_WM_DIAGRAM_GROUP_CODE" val="n1-1"/>
  <p:tag name="KSO_WM_UNIT_TYPE" val="n_h_h_f"/>
  <p:tag name="KSO_WM_UNIT_INDEX" val="1_2_3_1"/>
  <p:tag name="KSO_WM_UNIT_FILL_TYPE" val="1"/>
  <p:tag name="KSO_WM_UNIT_FILL_FORE_SCHEMECOLOR_INDEX" val="5"/>
  <p:tag name="KSO_WM_UNIT_FILL_FORE_SCHEMECOLOR_INDEX_BRIGHTNESS" val="0.6"/>
  <p:tag name="KSO_WM_UNIT_TEXT_FILL_FORE_SCHEMECOLOR_INDEX" val="1"/>
  <p:tag name="KSO_WM_UNIT_TEXT_FILL_TYPE" val="1"/>
  <p:tag name="KSO_WM_UNIT_PRESET_TEXT" val="单击此处添加文本，简明扼要地阐述您的观点。根据需要可酌情增减文字"/>
  <p:tag name="KSO_WM_UNIT_VALUE" val="65"/>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solid&quot;:{&quot;brightness&quot;:0.6000000238418579,&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1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1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2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2_1"/>
  <p:tag name="KSO_WM_UNIT_TEXT_FILL_FORE_SCHEMECOLOR_INDEX" val="3"/>
  <p:tag name="KSO_WM_UNIT_TEXT_FILL_TYPE" val="3"/>
  <p:tag name="KSO_WM_UNIT_PRESET_TEXT" val="添加标题"/>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a*1_2_3_1"/>
  <p:tag name="KSO_WM_TEMPLATE_CATEGORY" val="diagram"/>
  <p:tag name="KSO_WM_TEMPLATE_INDEX" val="40493068"/>
  <p:tag name="KSO_WM_UNIT_LAYERLEVEL" val="1_1_1_1"/>
  <p:tag name="KSO_WM_TAG_VERSION" val="3.0"/>
  <p:tag name="KSO_WM_BEAUTIFY_FLAG" val="#wm#"/>
  <p:tag name="KSO_WM_UNIT_ISCONTENTSTITLE" val="0"/>
  <p:tag name="KSO_WM_UNIT_ISNUMDGMTITLE" val="0"/>
  <p:tag name="KSO_WM_UNIT_NOCLEAR" val="0"/>
  <p:tag name="KSO_WM_DIAGRAM_GROUP_CODE" val="n1-1"/>
  <p:tag name="KSO_WM_UNIT_TYPE" val="n_h_h_a"/>
  <p:tag name="KSO_WM_UNIT_INDEX" val="1_2_3_1"/>
  <p:tag name="KSO_WM_UNIT_TEXT_FILL_FORE_SCHEMECOLOR_INDEX" val="3"/>
  <p:tag name="KSO_WM_UNIT_TEXT_FILL_TYPE" val="3"/>
  <p:tag name="KSO_WM_UNIT_PRESET_TEXT" val="添加标题"/>
  <p:tag name="KSO_WM_UNIT_VALUE" val="13"/>
  <p:tag name="KSO_WM_UNIT_TEXT_TYPE" val="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gradient&quot;:[{&quot;brightness&quot;:0,&quot;colorType&quot;:1,&quot;foreColorIndex&quot;:5,&quot;pos&quot;:0.10999999940395355,&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68_2*n_h_h_x*1_2_3_1"/>
  <p:tag name="KSO_WM_TEMPLATE_CATEGORY" val="diagram"/>
  <p:tag name="KSO_WM_TEMPLATE_INDEX" val="40493068"/>
  <p:tag name="KSO_WM_UNIT_LAYERLEVEL" val="1_1_1_1"/>
  <p:tag name="KSO_WM_TAG_VERSION" val="3.0"/>
  <p:tag name="KSO_WM_BEAUTIFY_FLAG" val="#wm#"/>
  <p:tag name="KSO_WM_UNIT_VALUE" val="110*110"/>
  <p:tag name="KSO_WM_DIAGRAM_GROUP_CODE" val="n1-1"/>
  <p:tag name="KSO_WM_UNIT_TYPE" val="n_h_h_x"/>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83.8999938964844,&quot;left&quot;:48.15,&quot;top&quot;:111.4000030517578,&quot;width&quot;:866.85}"/>
  <p:tag name="KSO_WM_DIAGRAM_COLOR_MATCH_VALUE" val="{&quot;shape&quot;:{&quot;fill&quot;:{&quot;gradient&quot;:[{&quot;brightness&quot;:0.4000000059604645,&quot;colorType&quot;:1,&quot;foreColorIndex&quot;:5,&quot;pos&quot;:0,&quot;transparency&quot;:0},{&quot;brightness&quot;:0,&quot;colorType&quot;:1,&quot;foreColorIndex&quot;:5,&quot;pos&quot;:0.9300000071525574,&quot;transparency&quot;:0}],&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132.xml><?xml version="1.0" encoding="utf-8"?>
<p:tagLst xmlns:p="http://schemas.openxmlformats.org/presentationml/2006/main">
  <p:tag name="KSO_WM_SLIDE_ITEM_CNT" val="3"/>
  <p:tag name="resource_record_key" val="{&quot;10&quot;:[3505430,50036384,3504219,4526305],&quot;29&quot;:[50053024,50052948],&quot;70&quot;:[3405561,3319090,3312439,3318441,3431215]}"/>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1_3"/>
  <p:tag name="KSO_WM_UNIT_ID" val="diagram20230948_1*o_h_i*1_1_3"/>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7900000214576721,&quot;colorType&quot;:1,&quot;foreColorIndex&quot;:13,&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9"/>
  <p:tag name="KSO_WM_DIAGRAM_USE_COLOR_VALUE" val="{&quot;color_scheme&quot;:1,&quot;theme_color_indexes&quot;:[9,10,9,10,9,10]}"/>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2_3"/>
  <p:tag name="KSO_WM_UNIT_ID" val="diagram20230948_1*o_h_i*1_2_3"/>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7900000214576721,&quot;colorType&quot;:1,&quot;foreColorIndex&quot;:13,&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9"/>
  <p:tag name="KSO_WM_DIAGRAM_USE_COLOR_VALUE" val="{&quot;color_scheme&quot;:1,&quot;theme_color_indexes&quot;:[9,10,9,10,9,10]}"/>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3_3"/>
  <p:tag name="KSO_WM_UNIT_ID" val="diagram20230948_1*o_h_i*1_3_3"/>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7900000214576721,&quot;colorType&quot;:1,&quot;foreColorIndex&quot;:13,&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9"/>
  <p:tag name="KSO_WM_DIAGRAM_USE_COLOR_VALUE" val="{&quot;color_scheme&quot;:1,&quot;theme_color_indexes&quot;:[9,10,9,10,9,10]}"/>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4_3"/>
  <p:tag name="KSO_WM_UNIT_ID" val="diagram20230948_1*o_h_i*1_4_3"/>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7900000214576721,&quot;colorType&quot;:1,&quot;foreColorIndex&quot;:13,&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9"/>
  <p:tag name="KSO_WM_DIAGRAM_USE_COLOR_VALUE" val="{&quot;color_scheme&quot;:1,&quot;theme_color_indexes&quot;:[9,10,9,10,9,10]}"/>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5_3"/>
  <p:tag name="KSO_WM_UNIT_ID" val="diagram20230948_1*o_h_i*1_5_3"/>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7900000214576721,&quot;colorType&quot;:1,&quot;foreColorIndex&quot;:13,&quot;transparency&quot;:0.7400000095367432},&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13"/>
  <p:tag name="KSO_WM_UNIT_FILL_FORE_SCHEMECOLOR_INDEX_BRIGHTNESS" val="0.79"/>
  <p:tag name="KSO_WM_DIAGRAM_USE_COLOR_VALUE" val="{&quot;color_scheme&quot;:1,&quot;theme_color_indexes&quot;:[9,10,9,10,9,10]}"/>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1_2"/>
  <p:tag name="KSO_WM_UNIT_ID" val="diagram20230948_1*o_h_i*1_1_2"/>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1,&quot;transparency&quot;:0.4000000059604645},{&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10,9,10,9,10]}"/>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2_2"/>
  <p:tag name="KSO_WM_UNIT_ID" val="diagram20230948_1*o_h_i*1_2_2"/>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1,&quot;transparency&quot;:0.4000000059604645},{&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10,9,10,9,10]}"/>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3_2"/>
  <p:tag name="KSO_WM_UNIT_ID" val="diagram20230948_1*o_h_i*1_3_2"/>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1,&quot;transparency&quot;:0.4000000059604645},{&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10,9,10,9,10]}"/>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4_2"/>
  <p:tag name="KSO_WM_UNIT_ID" val="diagram20230948_1*o_h_i*1_4_2"/>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1,&quot;transparency&quot;:0.4000000059604645},{&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10,9,10,9,10]}"/>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5_2"/>
  <p:tag name="KSO_WM_UNIT_ID" val="diagram20230948_1*o_h_i*1_5_2"/>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1,&quot;transparency&quot;:0.4000000059604645},{&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theme_color_indexes&quot;:[9,10,9,10,9,10]}"/>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1_1"/>
  <p:tag name="KSO_WM_UNIT_ID" val="diagram20230948_1*o_h_i*1_1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theme_color_indexes&quot;:[9,10,9,10,9,10]}"/>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2_1"/>
  <p:tag name="KSO_WM_UNIT_ID" val="diagram20230948_1*o_h_i*1_2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theme_color_indexes&quot;:[9,10,9,10,9,10]}"/>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3_1"/>
  <p:tag name="KSO_WM_UNIT_ID" val="diagram20230948_1*o_h_i*1_3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theme_color_indexes&quot;:[9,10,9,10,9,10]}"/>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4_1"/>
  <p:tag name="KSO_WM_UNIT_ID" val="diagram20230948_1*o_h_i*1_4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theme_color_indexes&quot;:[9,10,9,10,9,10]}"/>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SUBTYPE" val="d"/>
  <p:tag name="KSO_WM_UNIT_TYPE" val="o_h_i"/>
  <p:tag name="KSO_WM_UNIT_INDEX" val="1_5_1"/>
  <p:tag name="KSO_WM_UNIT_ID" val="diagram20230948_1*o_h_i*1_5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DIAGRAM_USE_COLOR_VALUE" val="{&quot;color_scheme&quot;:1,&quot;theme_color_indexes&quot;:[9,10,9,10,9,10]}"/>
</p:tagLst>
</file>

<file path=ppt/tags/tag15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1_1"/>
  <p:tag name="KSO_WM_UNIT_ID" val="diagram20230948_1*o_h_f*1_1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0"/>
  <p:tag name="KSO_WM_UNIT_TEXT_TYPE" val="1"/>
  <p:tag name="KSO_WM_UNIT_TEXT_LAYER_COUNT" val="1"/>
  <p:tag name="KSO_WM_BEAUTIFY_FLAG" val="#wm#"/>
  <p:tag name="KSO_WM_UNIT_PRESET_TEXT" val="单击此处添加项正文"/>
  <p:tag name="KSO_WM_UNIT_TEXT_FILL_FORE_SCHEMECOLOR_INDEX" val="1"/>
  <p:tag name="KSO_WM_UNIT_TEXT_FILL_TYPE" val="1"/>
  <p:tag name="KSO_WM_DIAGRAM_USE_COLOR_VALUE" val="{&quot;color_scheme&quot;:1,&quot;theme_color_indexes&quot;:[9,10,9,10,9,10]}"/>
</p:tagLst>
</file>

<file path=ppt/tags/tag15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2_1"/>
  <p:tag name="KSO_WM_UNIT_ID" val="diagram20230948_1*o_h_f*1_2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项正文"/>
  <p:tag name="KSO_WM_UNIT_TEXT_FILL_FORE_SCHEMECOLOR_INDEX" val="1"/>
  <p:tag name="KSO_WM_UNIT_TEXT_FILL_TYPE" val="1"/>
  <p:tag name="KSO_WM_DIAGRAM_USE_COLOR_VALUE" val="{&quot;color_scheme&quot;:1,&quot;theme_color_indexes&quot;:[9,10,9,10,9,10]}"/>
</p:tagLst>
</file>

<file path=ppt/tags/tag152.xml><?xml version="1.0" encoding="utf-8"?>
<p:tagLst xmlns:p="http://schemas.openxmlformats.org/presentationml/2006/main">
  <p:tag name="KSO_WM_UNIT_SUBTYPE" val="a"/>
  <p:tag name="KSO_WM_UNIT_NOCLEAR" val="0"/>
  <p:tag name="KSO_WM_UNIT_VALUE" val="34"/>
  <p:tag name="KSO_WM_UNIT_HIGHLIGHT" val="0"/>
  <p:tag name="KSO_WM_UNIT_COMPATIBLE" val="0"/>
  <p:tag name="KSO_WM_UNIT_DIAGRAM_ISNUMVISUAL" val="0"/>
  <p:tag name="KSO_WM_UNIT_DIAGRAM_ISREFERUNIT" val="0"/>
  <p:tag name="KSO_WM_DIAGRAM_GROUP_CODE" val="o1-1"/>
  <p:tag name="KSO_WM_UNIT_TYPE" val="o_h_f"/>
  <p:tag name="KSO_WM_UNIT_INDEX" val="1_3_1"/>
  <p:tag name="KSO_WM_UNIT_ID" val="diagram20230948_1*o_h_f*1_3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项正文"/>
  <p:tag name="KSO_WM_UNIT_TEXT_FILL_FORE_SCHEMECOLOR_INDEX" val="1"/>
  <p:tag name="KSO_WM_UNIT_TEXT_FILL_TYPE" val="1"/>
  <p:tag name="KSO_WM_DIAGRAM_USE_COLOR_VALUE" val="{&quot;color_scheme&quot;:1,&quot;theme_color_indexes&quot;:[9,10,9,10,9,10]}"/>
</p:tagLst>
</file>

<file path=ppt/tags/tag15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4_1"/>
  <p:tag name="KSO_WM_UNIT_ID" val="diagram20230948_1*o_h_f*1_4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项正文"/>
  <p:tag name="KSO_WM_UNIT_TEXT_FILL_FORE_SCHEMECOLOR_INDEX" val="1"/>
  <p:tag name="KSO_WM_UNIT_TEXT_FILL_TYPE" val="1"/>
  <p:tag name="KSO_WM_DIAGRAM_USE_COLOR_VALUE" val="{&quot;color_scheme&quot;:1,&quot;theme_color_indexes&quot;:[9,10,9,10,9,10]}"/>
</p:tagLst>
</file>

<file path=ppt/tags/tag15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o1-1"/>
  <p:tag name="KSO_WM_UNIT_TYPE" val="o_h_f"/>
  <p:tag name="KSO_WM_UNIT_INDEX" val="1_5_1"/>
  <p:tag name="KSO_WM_UNIT_ID" val="diagram20230948_1*o_h_f*1_5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项正文"/>
  <p:tag name="KSO_WM_UNIT_TEXT_FILL_FORE_SCHEMECOLOR_INDEX" val="1"/>
  <p:tag name="KSO_WM_UNIT_TEXT_FILL_TYPE" val="1"/>
  <p:tag name="KSO_WM_DIAGRAM_USE_COLOR_VALUE" val="{&quot;color_scheme&quot;:1,&quot;theme_color_indexes&quot;:[9,10,9,10,9,10]}"/>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1_4"/>
  <p:tag name="KSO_WM_UNIT_ID" val="diagram20230948_1*o_h_i*1_1_4"/>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5299999713897705,&quot;colorType&quot;:1,&quot;foreColorIndex&quot;:5,&quot;transparency&quot;:0.5199999809265137},&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3"/>
  <p:tag name="KSO_WM_DIAGRAM_USE_COLOR_VALUE" val="{&quot;color_scheme&quot;:1,&quot;theme_color_indexes&quot;:[9,10,9,10,9,10]}"/>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2_4"/>
  <p:tag name="KSO_WM_UNIT_ID" val="diagram20230948_1*o_h_i*1_2_4"/>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5299999713897705,&quot;colorType&quot;:1,&quot;foreColorIndex&quot;:5,&quot;transparency&quot;:0.5199999809265137},&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3"/>
  <p:tag name="KSO_WM_DIAGRAM_USE_COLOR_VALUE" val="{&quot;color_scheme&quot;:1,&quot;theme_color_indexes&quot;:[9,10,9,10,9,10]}"/>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3_4"/>
  <p:tag name="KSO_WM_UNIT_ID" val="diagram20230948_1*o_h_i*1_3_4"/>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5299999713897705,&quot;colorType&quot;:1,&quot;foreColorIndex&quot;:5,&quot;transparency&quot;:0.5199999809265137},&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3"/>
  <p:tag name="KSO_WM_DIAGRAM_USE_COLOR_VALUE" val="{&quot;color_scheme&quot;:1,&quot;theme_color_indexes&quot;:[9,10,9,10,9,10]}"/>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TYPE" val="o_h_i"/>
  <p:tag name="KSO_WM_UNIT_INDEX" val="1_4_4"/>
  <p:tag name="KSO_WM_UNIT_ID" val="diagram20230948_1*o_h_i*1_4_4"/>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solid&quot;:{&quot;brightness&quot;:0.5299999713897705,&quot;colorType&quot;:1,&quot;foreColorIndex&quot;:5,&quot;transparency&quot;:0.5199999809265137},&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53"/>
  <p:tag name="KSO_WM_DIAGRAM_USE_COLOR_VALUE" val="{&quot;color_scheme&quot;:1,&quot;theme_color_indexes&quot;:[9,10,9,10,9,10]}"/>
</p:tagLst>
</file>

<file path=ppt/tags/tag15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1_1"/>
  <p:tag name="KSO_WM_UNIT_ID" val="diagram20230948_1*o_h_a*1_1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25,&quot;colorType&quot;:1,&quot;foreColorIndex&quot;:5,&quot;pos&quot;:0.9200000166893005,&quot;transparency&quot;:0},{&quot;brightness&quot;:0,&quot;colorType&quot;:1,&quot;foreColorIndex&quot;:5,&quot;pos&quot;:0,&quot;transparency&quot;:0}],&quot;type&quot;:3},&quot;glow&quot;:{&quot;colorType&quot;:0},&quot;line&quot;:{&quot;type&quot;:0},&quot;shadow&quot;:{&quot;brightness&quot;:-0.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标题"/>
  <p:tag name="KSO_WM_UNIT_FILL_TYPE" val="3"/>
  <p:tag name="KSO_WM_DIAGRAM_USE_COLOR_VALUE" val="{&quot;color_scheme&quot;:1,&quot;theme_color_indexes&quot;:[9,10,9,10,9,10]}"/>
</p:tagLst>
</file>

<file path=ppt/tags/tag16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2_1"/>
  <p:tag name="KSO_WM_UNIT_ID" val="diagram20230948_1*o_h_a*1_2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25,&quot;colorType&quot;:1,&quot;foreColorIndex&quot;:5,&quot;pos&quot;:1,&quot;transparency&quot;:0},{&quot;brightness&quot;:0.1599999964237213,&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标题"/>
  <p:tag name="KSO_WM_UNIT_FILL_TYPE" val="3"/>
  <p:tag name="KSO_WM_DIAGRAM_USE_COLOR_VALUE" val="{&quot;color_scheme&quot;:1,&quot;theme_color_indexes&quot;:[9,10,9,10,9,10]}"/>
</p:tagLst>
</file>

<file path=ppt/tags/tag16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3_1"/>
  <p:tag name="KSO_WM_UNIT_ID" val="diagram20230948_1*o_h_a*1_3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0.7699999809265137,&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
  <p:tag name="KSO_WM_UNIT_TEXT_TYPE" val="1"/>
  <p:tag name="KSO_WM_BEAUTIFY_FLAG" val="#wm#"/>
  <p:tag name="KSO_WM_UNIT_PRESET_TEXT" val="标题"/>
  <p:tag name="KSO_WM_UNIT_FILL_TYPE" val="3"/>
  <p:tag name="KSO_WM_DIAGRAM_USE_COLOR_VALUE" val="{&quot;color_scheme&quot;:1,&quot;theme_color_indexes&quot;:[9,10,9,10,9,10]}"/>
</p:tagLst>
</file>

<file path=ppt/tags/tag16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4_1"/>
  <p:tag name="KSO_WM_UNIT_ID" val="diagram20230948_1*o_h_a*1_4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quot;colorType&quot;:1,&quot;foreColorIndex&quot;:5,&quot;pos&quot;:1,&quot;transparency&quot;:0},{&quot;brightness&quot;:0.4000000059604645,&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标题"/>
  <p:tag name="KSO_WM_UNIT_FILL_TYPE" val="3"/>
  <p:tag name="KSO_WM_DIAGRAM_USE_COLOR_VALUE" val="{&quot;color_scheme&quot;:1,&quot;theme_color_indexes&quot;:[9,10,9,10,9,10]}"/>
</p:tagLst>
</file>

<file path=ppt/tags/tag16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o1-1"/>
  <p:tag name="KSO_WM_UNIT_TYPE" val="o_h_a"/>
  <p:tag name="KSO_WM_UNIT_INDEX" val="1_5_1"/>
  <p:tag name="KSO_WM_UNIT_ID" val="diagram20230948_1*o_h_a*1_5_1"/>
  <p:tag name="KSO_WM_TEMPLATE_CATEGORY" val="diagram"/>
  <p:tag name="KSO_WM_TEMPLATE_INDEX" val="20230948"/>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5"/>
  <p:tag name="KSO_WM_DIAGRAM_VIRTUALLY_FRAME" val="{&quot;height&quot;:204.71272263894872,&quot;left&quot;:75.09999999999994,&quot;top&quot;:234.0749938964844,&quot;width&quot;:397.0000000000001}"/>
  <p:tag name="KSO_WM_DIAGRAM_COLOR_MATCH_VALUE" val="{&quot;shape&quot;:{&quot;fill&quot;:{&quot;gradient&quot;:[{&quot;brightness&quot;:0.4000000059604645,&quot;colorType&quot;:1,&quot;foreColorIndex&quot;:5,&quot;pos&quot;:1,&quot;transparency&quot;:0},{&quot;brightness&quot;:0.6000000238418579,&quot;colorType&quot;:1,&quot;foreColorIndex&quot;:5,&quot;pos&quot;:0,&quot;transparency&quot;:0}],&quot;type&quot;:3},&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标题"/>
  <p:tag name="KSO_WM_UNIT_FILL_TYPE" val="3"/>
  <p:tag name="KSO_WM_DIAGRAM_USE_COLOR_VALUE" val="{&quot;color_scheme&quot;:1,&quot;theme_color_indexes&quot;:[9,10,9,10,9,10]}"/>
</p:tagLst>
</file>

<file path=ppt/tags/tag164.xml><?xml version="1.0" encoding="utf-8"?>
<p:tagLst xmlns:p="http://schemas.openxmlformats.org/presentationml/2006/main">
  <p:tag name="KSO_DOCER_RESOURCE_TRACE_INFO" val="{&quot;id&quot;:&quot;&quot;,&quot;origin&quot;:0,&quot;type&quot;:&quot;textbox&quot;,&quot;user&quot;:&quot;451439288&quot;}"/>
</p:tagLst>
</file>

<file path=ppt/tags/tag165.xml><?xml version="1.0" encoding="utf-8"?>
<p:tagLst xmlns:p="http://schemas.openxmlformats.org/presentationml/2006/main">
  <p:tag name="KSO_WM_SLIDE_ITEM_CNT" val="3"/>
  <p:tag name="resource_record_key" val="{&quot;70&quot;:[3429242]}"/>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SLIDE_ITEM_CNT" val="3"/>
  <p:tag name="resource_record_key" val="{&quot;70&quot;:[3429242]}"/>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1"/>
  <p:tag name="KSO_WM_TEMPLATE_CATEGORY" val="diagram"/>
  <p:tag name="KSO_WM_TEMPLATE_INDEX" val="20231439"/>
  <p:tag name="KSO_WM_UNIT_LAYERLEVEL" val="1_1"/>
  <p:tag name="KSO_WM_TAG_VERSION" val="3.0"/>
  <p:tag name="KSO_WM_DIAGRAM_GROUP_CODE" val="l1-1"/>
  <p:tag name="KSO_WM_UNIT_TYPE" val="l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quot;colorType&quot;:1,&quot;foreColorIndex&quot;:5,&quot;pos&quot;:0,&quot;transparency&quot;:1},{&quot;brightness&quot;:0,&quot;colorType&quot;:1,&quot;foreColorIndex&quot;:5,&quot;pos&quot;:1,&quot;transparency&quot;:0.670000016689300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2"/>
  <p:tag name="KSO_WM_TEMPLATE_CATEGORY" val="diagram"/>
  <p:tag name="KSO_WM_TEMPLATE_INDEX" val="20231439"/>
  <p:tag name="KSO_WM_UNIT_LAYERLEVEL" val="1_1"/>
  <p:tag name="KSO_WM_TAG_VERSION" val="3.0"/>
  <p:tag name="KSO_WM_DIAGRAM_GROUP_CODE" val="l1-1"/>
  <p:tag name="KSO_WM_UNIT_TYPE" val="l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quot;colorType&quot;:1,&quot;foreColorIndex&quot;:5,&quot;pos&quot;:0.10000000149011612,&quot;transparency&quot;:1},{&quot;brightness&quot;:0,&quot;colorType&quot;:1,&quot;foreColorIndex&quot;:5,&quot;pos&quot;:1,&quot;transparency&quot;:0.8799999952316284}],&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3"/>
  <p:tag name="KSO_WM_TEMPLATE_CATEGORY" val="diagram"/>
  <p:tag name="KSO_WM_TEMPLATE_INDEX" val="20231439"/>
  <p:tag name="KSO_WM_UNIT_LAYERLEVEL" val="1_1"/>
  <p:tag name="KSO_WM_TAG_VERSION" val="3.0"/>
  <p:tag name="KSO_WM_DIAGRAM_GROUP_CODE" val="l1-1"/>
  <p:tag name="KSO_WM_UNIT_TYPE" val="l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6000000238418579},{&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4"/>
  <p:tag name="KSO_WM_TEMPLATE_CATEGORY" val="diagram"/>
  <p:tag name="KSO_WM_TEMPLATE_INDEX" val="20231439"/>
  <p:tag name="KSO_WM_UNIT_LAYERLEVEL" val="1_1"/>
  <p:tag name="KSO_WM_TAG_VERSION" val="3.0"/>
  <p:tag name="KSO_WM_DIAGRAM_GROUP_CODE" val="l1-1"/>
  <p:tag name="KSO_WM_UNIT_TYPE" val="l_i"/>
  <p:tag name="KSO_WM_UNIT_INDEX" val="1_4"/>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5"/>
  <p:tag name="KSO_WM_TEMPLATE_CATEGORY" val="diagram"/>
  <p:tag name="KSO_WM_TEMPLATE_INDEX" val="20231439"/>
  <p:tag name="KSO_WM_UNIT_LAYERLEVEL" val="1_1"/>
  <p:tag name="KSO_WM_TAG_VERSION" val="3.0"/>
  <p:tag name="KSO_WM_DIAGRAM_GROUP_CODE" val="l1-1"/>
  <p:tag name="KSO_WM_UNIT_TYPE" val="l_i"/>
  <p:tag name="KSO_WM_UNIT_INDEX" val="1_5"/>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6"/>
  <p:tag name="KSO_WM_TEMPLATE_CATEGORY" val="diagram"/>
  <p:tag name="KSO_WM_TEMPLATE_INDEX" val="20231439"/>
  <p:tag name="KSO_WM_UNIT_LAYERLEVEL" val="1_1"/>
  <p:tag name="KSO_WM_TAG_VERSION" val="3.0"/>
  <p:tag name="KSO_WM_DIAGRAM_GROUP_CODE" val="l1-1"/>
  <p:tag name="KSO_WM_UNIT_TYPE" val="l_i"/>
  <p:tag name="KSO_WM_UNIT_INDEX" val="1_6"/>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7"/>
  <p:tag name="KSO_WM_TEMPLATE_CATEGORY" val="diagram"/>
  <p:tag name="KSO_WM_TEMPLATE_INDEX" val="20231439"/>
  <p:tag name="KSO_WM_UNIT_LAYERLEVEL" val="1_1"/>
  <p:tag name="KSO_WM_TAG_VERSION" val="3.0"/>
  <p:tag name="KSO_WM_DIAGRAM_GROUP_CODE" val="l1-1"/>
  <p:tag name="KSO_WM_UNIT_TYPE" val="l_i"/>
  <p:tag name="KSO_WM_UNIT_INDEX" val="1_7"/>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7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8"/>
  <p:tag name="KSO_WM_TEMPLATE_CATEGORY" val="diagram"/>
  <p:tag name="KSO_WM_TEMPLATE_INDEX" val="20231439"/>
  <p:tag name="KSO_WM_UNIT_LAYERLEVEL" val="1_1"/>
  <p:tag name="KSO_WM_TAG_VERSION" val="3.0"/>
  <p:tag name="KSO_WM_DIAGRAM_GROUP_CODE" val="l1-1"/>
  <p:tag name="KSO_WM_UNIT_TYPE" val="l_i"/>
  <p:tag name="KSO_WM_UNIT_INDEX" val="1_8"/>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85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9"/>
  <p:tag name="KSO_WM_TEMPLATE_CATEGORY" val="diagram"/>
  <p:tag name="KSO_WM_TEMPLATE_INDEX" val="20231439"/>
  <p:tag name="KSO_WM_UNIT_LAYERLEVEL" val="1_1"/>
  <p:tag name="KSO_WM_TAG_VERSION" val="3.0"/>
  <p:tag name="KSO_WM_DIAGRAM_GROUP_CODE" val="l1-1"/>
  <p:tag name="KSO_WM_UNIT_TYPE" val="l_i"/>
  <p:tag name="KSO_WM_UNIT_INDEX" val="1_9"/>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85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10"/>
  <p:tag name="KSO_WM_TEMPLATE_CATEGORY" val="diagram"/>
  <p:tag name="KSO_WM_TEMPLATE_INDEX" val="20231439"/>
  <p:tag name="KSO_WM_UNIT_LAYERLEVEL" val="1_1"/>
  <p:tag name="KSO_WM_TAG_VERSION" val="3.0"/>
  <p:tag name="KSO_WM_DIAGRAM_GROUP_CODE" val="l1-1"/>
  <p:tag name="KSO_WM_UNIT_TYPE" val="l_i"/>
  <p:tag name="KSO_WM_UNIT_INDEX" val="1_10"/>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4000000059604645,&quot;colorType&quot;:1,&quot;foreColorIndex&quot;:5,&quot;pos&quot;:1,&quot;transparency&quot;:1},{&quot;brightness&quot;:0,&quot;colorType&quot;:1,&quot;foreColorIndex&quot;:5,&quot;pos&quot;:0,&quot;transparency&quot;:0.899999976158142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439_1*l_i*1_13"/>
  <p:tag name="KSO_WM_TEMPLATE_CATEGORY" val="diagram"/>
  <p:tag name="KSO_WM_TEMPLATE_INDEX" val="20231439"/>
  <p:tag name="KSO_WM_UNIT_LAYERLEVEL" val="1_1"/>
  <p:tag name="KSO_WM_TAG_VERSION" val="3.0"/>
  <p:tag name="KSO_WM_DIAGRAM_GROUP_CODE" val="l1-1"/>
  <p:tag name="KSO_WM_UNIT_TYPE" val="l_i"/>
  <p:tag name="KSO_WM_UNIT_INDEX" val="1_13"/>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0.5,&quot;transparency&quot;:0.6000000238418579},{&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8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439_1*l_h_f*1_1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UNIT_VALUE" val="42"/>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本具体内容文字是您思想的提炼，请尽量言简意赅的阐述您的内容观点。"/>
  <p:tag name="KSO_WM_UNIT_TEXT_FILL_FORE_SCHEMECOLOR_INDEX" val="1"/>
  <p:tag name="KSO_WM_UNIT_TEXT_FILL_TYPE" val="1"/>
  <p:tag name="KSO_WM_DIAGRAM_USE_COLOR_VALUE" val="{&quot;color_scheme&quot;:1,&quot;color_type&quot;:1,&quot;theme_color_indexes&quot;:[9,10,9,10,9,10]}"/>
</p:tagLst>
</file>

<file path=ppt/tags/tag18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439_1*l_h_f*1_2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UNIT_VALUE" val="42"/>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439_1*l_h_i*1_1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25,&quot;colorType&quot;:1,&quot;foreColorIndex&quot;:5,&quot;pos&quot;:0.9930099844932556,&quot;transparency&quot;:0},{&quot;brightness&quot;:0.4000000059604645,&quot;colorType&quot;:1,&quot;foreColorIndex&quot;:5,&quot;pos&quot;:0,&quot;transparency&quot;:0},{&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439_1*l_h_i*1_2_1"/>
  <p:tag name="KSO_WM_TEMPLATE_CATEGORY" val="diagram"/>
  <p:tag name="KSO_WM_TEMPLATE_INDEX" val="20231439"/>
  <p:tag name="KSO_WM_UNIT_LAYERLEVEL" val="1_1_1"/>
  <p:tag name="KSO_WM_TAG_VERSION" val="3.0"/>
  <p:tag name="KSO_WM_DIAGRAM_VERSION" val="3"/>
  <p:tag name="KSO_WM_DIAGRAM_COLOR_TRICK" val="1"/>
  <p:tag name="KSO_WM_DIAGRAM_COLOR_TEXT_CAN_REMOVE" val="n"/>
  <p:tag name="KSO_WM_DIAGRAM_MAX_ITEMCNT" val="6"/>
  <p:tag name="KSO_WM_DIAGRAM_MIN_ITEMCNT" val="2"/>
  <p:tag name="KSO_WM_DIAGRAM_VIRTUALLY_FRAME" val="{&quot;height&quot;:374.544687202033,&quot;left&quot;:30.75,&quot;top&quot;:78.01988188976378,&quot;width&quot;:889.8533879536242}"/>
  <p:tag name="KSO_WM_DIAGRAM_COLOR_MATCH_VALUE" val="{&quot;shape&quot;:{&quot;fill&quot;:{&quot;gradient&quot;:[{&quot;brightness&quot;:-0.25,&quot;colorType&quot;:1,&quot;foreColorIndex&quot;:5,&quot;pos&quot;:0.9930099844932556,&quot;transparency&quot;:0},{&quot;brightness&quot;:0.4000000059604645,&quot;colorType&quot;:1,&quot;foreColorIndex&quot;:5,&quot;pos&quot;:0,&quot;transparency&quot;:0},{&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88.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5023_1*n_h_a*1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389.1749969482422,&quot;left&quot;:51.67501220703125,&quot;top&quot;:94,&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TYPE" val="1"/>
  <p:tag name="KSO_WM_UNIT_PRESET_TEXT" val="单击此处添加你的标题具体内容"/>
  <p:tag name="KSO_WM_UNIT_TEXT_FILL_FORE_SCHEMECOLOR_INDEX" val="1"/>
  <p:tag name="KSO_WM_UNIT_TEXT_FILL_TYPE" val="1"/>
  <p:tag name="KSO_WM_DIAGRAM_USE_COLOR_VALUE" val="{&quot;color_scheme&quot;:1,&quot;color_type&quot;:1,&quot;theme_color_indexes&quot;:[9,10,9,10,9,10]}"/>
</p:tagLst>
</file>

<file path=ppt/tags/tag189.xml><?xml version="1.0" encoding="utf-8"?>
<p:tagLst xmlns:p="http://schemas.openxmlformats.org/presentationml/2006/main">
  <p:tag name="TABLE_ENDDRAG_ORIGIN_RECT" val="249*143"/>
  <p:tag name="TABLE_ENDDRAG_RECT" val="50*226*249*143"/>
</p:tagLst>
</file>

<file path=ppt/tags/tag190.xml><?xml version="1.0" encoding="utf-8"?>
<p:tagLst xmlns:p="http://schemas.openxmlformats.org/presentationml/2006/main">
  <p:tag name="TABLE_ENDDRAG_ORIGIN_RECT" val="249*143"/>
  <p:tag name="TABLE_ENDDRAG_RECT" val="50*226*249*143"/>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3"/>
  <p:tag name="KSO_WM_UNIT_ID" val="diagram20235023_1*n_h_i*2_1_3"/>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gradient&quot;:[{&quot;brightness&quot;:0,&quot;colorType&quot;:1,&quot;foreColorIndex&quot;:5,&quot;pos&quot;:0,&quot;transparency&quot;:1},{&quot;brightness&quot;:0,&quot;colorType&quot;:1,&quot;foreColorIndex&quot;:5,&quot;pos&quot;:1,&quot;transparency&quot;:0.6000000238418579}],&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9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2_1_1"/>
  <p:tag name="KSO_WM_UNIT_ID" val="diagram20235023_1*n_h_a*2_1_1"/>
  <p:tag name="KSO_WM_TEMPLATE_CATEGORY" val="diagram"/>
  <p:tag name="KSO_WM_TEMPLATE_INDEX" val="20235023"/>
  <p:tag name="KSO_WM_UNIT_LAYERLEVEL" val="1_1_1"/>
  <p:tag name="KSO_WM_TAG_VERSION" val="3.0"/>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BEAUTIFY_FLAG" val="#wm#"/>
  <p:tag name="KSO_WM_UNIT_TEXT_TYPE" val="1"/>
  <p:tag name="KSO_WM_UNIT_PRESET_TEXT" val="单击此处添加你的标题具体内容"/>
  <p:tag name="KSO_WM_UNIT_TEXT_FILL_FORE_SCHEMECOLOR_INDEX" val="1"/>
  <p:tag name="KSO_WM_UNIT_TEXT_FILL_TYPE" val="1"/>
  <p:tag name="KSO_WM_DIAGRAM_USE_COLOR_VALUE" val="{&quot;color_scheme&quot;:1,&quot;color_type&quot;:1,&quot;theme_color_indexes&quot;:[9,10,9,10,9,10]}"/>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4"/>
  <p:tag name="KSO_WM_UNIT_ID" val="diagram20235023_1*n_h_i*2_1_4"/>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44999998807907104}],&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1"/>
  <p:tag name="KSO_WM_UNIT_ID" val="diagram20235023_1*n_h_i*2_1_1"/>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gradient&quot;:[{&quot;brightness&quot;:0,&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9,10,9,10,9,1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2"/>
  <p:tag name="KSO_WM_UNIT_ID" val="diagram20235023_1*n_h_i*2_1_2"/>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gradient&quot;:[{&quot;brightness&quot;:0.4000000059604645,&quot;colorType&quot;:1,&quot;foreColorIndex&quot;:5,&quot;pos&quot;:0.11999999731779099,&quot;transparency&quot;:1},{&quot;brightness&quot;:0,&quot;colorType&quot;:1,&quot;foreColorIndex&quot;:5,&quot;pos&quot;:1,&quot;transparency&quot;:0.509999990463256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TEXT_FILL_FORE_SCHEMECOLOR_INDEX" val="1"/>
  <p:tag name="KSO_WM_UNIT_TEXT_FILL_TYPE" val="1"/>
  <p:tag name="KSO_WM_DIAGRAM_USE_COLOR_VALUE" val="{&quot;color_scheme&quot;:1,&quot;color_type&quot;:1,&quot;theme_color_indexes&quot;:[9,10,9,10,9,10]}"/>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i"/>
  <p:tag name="KSO_WM_UNIT_INDEX" val="2_1_5"/>
  <p:tag name="KSO_WM_UNIT_ID" val="diagram20235023_1*n_h_i*2_1_5"/>
  <p:tag name="KSO_WM_TEMPLATE_CATEGORY" val="diagram"/>
  <p:tag name="KSO_WM_TEMPLATE_INDEX" val="2023502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3"/>
  <p:tag name="KSO_WM_DIAGRAM_VIRTUALLY_FRAME" val="{&quot;height&quot;:117.10007874015756,&quot;left&quot;:47.97501220703125,&quot;top&quot;:404.55,&quot;width&quot;:851.3500271630476}"/>
  <p:tag name="KSO_WM_DIAGRAM_COLOR_MATCH_VALUE" val="{&quot;shape&quot;:{&quot;fill&quot;:{&quot;type&quot;:0},&quot;glow&quot;:{&quot;colorType&quot;:0},&quot;line&quot;:{&quot;gradient&quot;:[{&quot;brightness&quot;:0,&quot;colorType&quot;:2,&quot;pos&quot;:0.6600000262260437,&quot;rgb&quot;:&quot;#376fff&quot;,&quot;transparency&quot;:1},{&quot;brightness&quot;:0,&quot;colorType&quot;:1,&quot;foreColorIndex&quot;:5,&quot;pos&quot;:0.14000000059604645,&quot;transparency&quot;:1},{&quot;brightness&quot;:0,&quot;colorType&quot;:2,&quot;pos&quot;:0,&quot;rgb&quot;:&quot;#376fff&quot;,&quot;transparency&quot;:0.8399999737739563},{&quot;brightness&quot;:0,&quot;colorType&quot;:1,&quot;foreColorIndex&quot;:5,&quot;pos&quot;:1,&quot;transparency&quot;:0.800000011920929}],&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9,10,9,10,9,10]}"/>
</p:tagLst>
</file>

<file path=ppt/tags/tag197.xml><?xml version="1.0" encoding="utf-8"?>
<p:tagLst xmlns:p="http://schemas.openxmlformats.org/presentationml/2006/main">
  <p:tag name="KSO_WM_SLIDE_ITEM_CNT" val="3"/>
  <p:tag name="resource_record_key" val="{&quot;10&quot;:[3505430,50036384,3504219,4526305],&quot;29&quot;:[50053024,50052948,50052445,50000144],&quot;70&quot;:[3405561,3319090,3312439,3318441,3431215,3332761,3318307]}"/>
</p:tagLst>
</file>

<file path=ppt/tags/tag198.xml><?xml version="1.0" encoding="utf-8"?>
<p:tagLst xmlns:p="http://schemas.openxmlformats.org/presentationml/2006/main">
  <p:tag name="KSO_WM_DIAGRAM_VIRTUALLY_FRAME" val="{&quot;height&quot;:389.6,&quot;left&quot;:211.45,&quot;top&quot;:116.65,&quot;width&quot;:477.55}"/>
</p:tagLst>
</file>

<file path=ppt/tags/tag199.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0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0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UNIT_TABLE_BEAUTIFY" val="smartTable{308056d4-60e8-4828-8c13-09e13014fcb7}"/>
  <p:tag name="TABLE_ENDDRAG_ORIGIN_RECT" val="882*397"/>
  <p:tag name="TABLE_ENDDRAG_RECT" val="41*85*882*397"/>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UNIT_TABLE_BEAUTIFY" val="smartTable{828b6f84-1146-45ed-a109-a4b2f2539ba7}"/>
  <p:tag name="TABLE_ENDDRAG_ORIGIN_RECT" val="882*397"/>
  <p:tag name="TABLE_ENDDRAG_RECT" val="41*85*882*397"/>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UNIT_TABLE_BEAUTIFY" val="smartTable{8401f0c4-1a68-4e22-8787-7a5f1c3614e5}"/>
  <p:tag name="TABLE_ENDDRAG_ORIGIN_RECT" val="882*397"/>
  <p:tag name="TABLE_ENDDRAG_RECT" val="41*85*882*397"/>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DIAGRAM_VIRTUALLY_FRAME" val="{&quot;height&quot;:389.6,&quot;left&quot;:211.45,&quot;top&quot;:116.65,&quot;width&quot;:477.55}"/>
</p:tagLst>
</file>

<file path=ppt/tags/tag21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1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1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231799_1*l_h_i*1_1_2"/>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158.51680856779802,&quot;left&quot;:57.0499267578125,&quot;top&quot;:81.29476623535156,&quot;width&quot;:857.9000732421875}"/>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14,&quot;transparency&quot;:0.60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1799_1*l_h_i*1_1_1"/>
  <p:tag name="KSO_WM_TEMPLATE_CATEGORY" val="diagram"/>
  <p:tag name="KSO_WM_TEMPLATE_INDEX" val="20231799"/>
  <p:tag name="KSO_WM_UNIT_LAYERLEVEL" val="1_1_1"/>
  <p:tag name="KSO_WM_TAG_VERSION" val="3.0"/>
  <p:tag name="KSO_WM_DIAGRAM_GROUP_CODE" val="l1-1"/>
  <p:tag name="KSO_WM_DIAGRAM_VERSION" val="3"/>
  <p:tag name="KSO_WM_DIAGRAM_COLOR_TRICK" val="3"/>
  <p:tag name="KSO_WM_DIAGRAM_COLOR_TEXT_CAN_REMOVE" val="n"/>
  <p:tag name="KSO_WM_DIAGRAM_MAX_ITEMCNT" val="3"/>
  <p:tag name="KSO_WM_DIAGRAM_MIN_ITEMCNT" val="2"/>
  <p:tag name="KSO_WM_DIAGRAM_VIRTUALLY_FRAME" val="{&quot;height&quot;:158.51680856779802,&quot;left&quot;:57.0499267578125,&quot;top&quot;:81.29476623535156,&quot;width&quot;:857.9000732421875}"/>
  <p:tag name="KSO_WM_DIAGRAM_COLOR_MATCH_VALUE" val="{&quot;shape&quot;:{&quot;fill&quot;:{&quot;solid&quot;:{&quot;brightness&quot;:0,&quot;colorType&quot;:2,&quot;rgb&quot;:&quot;#ffffff&quot;,&quot;transparency&quot;:0},&quot;type&quot;:1},&quot;glow&quot;:{&quot;colorType&quot;:0},&quot;line&quot;:{&quot;type&quot;:0},&quot;shadow&quot;:{&quot;brightness&quot;:0.25,&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99_1*l_h_f*1_1_1"/>
  <p:tag name="KSO_WM_TEMPLATE_CATEGORY" val="diagram"/>
  <p:tag name="KSO_WM_TEMPLATE_INDEX" val="20231799"/>
  <p:tag name="KSO_WM_UNIT_LAYERLEVEL" val="1_1_1"/>
  <p:tag name="KSO_WM_TAG_VERSION" val="3.0"/>
  <p:tag name="KSO_WM_UNIT_TEXT_FILL_FORE_SCHEMECOLOR_INDEX_BRIGHTNESS" val="0.15"/>
  <p:tag name="KSO_WM_UNIT_TEXT_FILL_TYPE" val="1"/>
  <p:tag name="KSO_WM_DIAGRAM_VERSION" val="3"/>
  <p:tag name="KSO_WM_DIAGRAM_COLOR_TRICK" val="3"/>
  <p:tag name="KSO_WM_DIAGRAM_COLOR_TEXT_CAN_REMOVE" val="n"/>
  <p:tag name="KSO_WM_DIAGRAM_GROUP_CODE" val="l1-1"/>
  <p:tag name="KSO_WM_DIAGRAM_MAX_ITEMCNT" val="3"/>
  <p:tag name="KSO_WM_DIAGRAM_MIN_ITEMCNT" val="2"/>
  <p:tag name="KSO_WM_DIAGRAM_VIRTUALLY_FRAME" val="{&quot;height&quot;:158.51680856779802,&quot;left&quot;:57.0499267578125,&quot;top&quot;:81.29476623535156,&quot;width&quot;:857.90007324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333333&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文本具体内容，简明扼要地阐述您的观点。根据需要可酌情增减文字，以便观者准确地理解您传达的思想。单击此处添加文本具体内容，简明扼要地阐述您的观点，单击此处添加文本具体内容。"/>
  <p:tag name="KSO_WM_DIAGRAM_USE_COLOR_VALUE" val="{&quot;color_scheme&quot;:1,&quot;color_type&quot;:1,&quot;theme_color_indexes&quot;:[9,10,9,10,9,10]}"/>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TABLE_ENDDRAG_ORIGIN_RECT" val="448*343"/>
  <p:tag name="TABLE_ENDDRAG_RECT" val="60*98*448*343"/>
</p:tagLst>
</file>

<file path=ppt/tags/tag227.xml><?xml version="1.0" encoding="utf-8"?>
<p:tagLst xmlns:p="http://schemas.openxmlformats.org/presentationml/2006/main">
  <p:tag name="TABLE_ENDDRAG_ORIGIN_RECT" val="354*332"/>
  <p:tag name="TABLE_ENDDRAG_RECT" val="537*98*354*332"/>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UNIT_TYPE" val="a"/>
  <p:tag name="KSO_WM_UNIT_INDEX" val="1"/>
  <p:tag name="KSO_WM_BEAUTIFY_FLAG" val="#wm#"/>
  <p:tag name="KSO_WM_TAG_VERSION" val="3.0"/>
  <p:tag name="KSO_WM_UNIT_ID" val="custom20238577_9*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Lst>
</file>

<file path=ppt/tags/tag231.xml><?xml version="1.0" encoding="utf-8"?>
<p:tagLst xmlns:p="http://schemas.openxmlformats.org/presentationml/2006/main">
  <p:tag name="KSO_WM_UNIT_PIC_EFFECT" val="1"/>
</p:tagLst>
</file>

<file path=ppt/tags/tag2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custom20238488_1*i*1"/>
  <p:tag name="KSO_WM_TEMPLATE_CATEGORY" val="custom"/>
  <p:tag name="KSO_WM_TEMPLATE_INDEX" val="20238488"/>
  <p:tag name="KSO_WM_UNIT_LAYERLEVEL" val="1"/>
  <p:tag name="KSO_WM_TAG_VERSION" val="1.0"/>
  <p:tag name="KSO_WM_UNIT_PIC_EFFECT" val="1"/>
</p:tagLst>
</file>

<file path=ppt/tags/tag2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8488_1*i*2"/>
  <p:tag name="KSO_WM_TEMPLATE_CATEGORY" val="custom"/>
  <p:tag name="KSO_WM_TEMPLATE_INDEX" val="20238488"/>
  <p:tag name="KSO_WM_UNIT_LAYERLEVEL" val="1"/>
  <p:tag name="KSO_WM_TAG_VERSION" val="1.0"/>
  <p:tag name="KSO_WM_UNIT_PIC_EFFECT" val="1"/>
</p:tagLst>
</file>

<file path=ppt/tags/tag2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custom20238488_1*i*3"/>
  <p:tag name="KSO_WM_TEMPLATE_CATEGORY" val="custom"/>
  <p:tag name="KSO_WM_TEMPLATE_INDEX" val="20238488"/>
  <p:tag name="KSO_WM_UNIT_LAYERLEVEL" val="1"/>
  <p:tag name="KSO_WM_TAG_VERSION" val="1.0"/>
  <p:tag name="KSO_WM_UNIT_PIC_EFFECT" val="1"/>
</p:tagLst>
</file>

<file path=ppt/tags/tag235.xml><?xml version="1.0" encoding="utf-8"?>
<p:tagLst xmlns:p="http://schemas.openxmlformats.org/presentationml/2006/main">
  <p:tag name="KSO_WM_BEAUTIFY_FLAG" val="#wm#"/>
  <p:tag name="KSO_WM_UNIT_VALUE" val="1636*1425"/>
  <p:tag name="KSO_WM_UNIT_HIGHLIGHT" val="0"/>
  <p:tag name="KSO_WM_UNIT_COMPATIBLE" val="0"/>
  <p:tag name="KSO_WM_UNIT_DIAGRAM_ISNUMVISUAL" val="0"/>
  <p:tag name="KSO_WM_UNIT_DIAGRAM_ISREFERUNIT" val="0"/>
  <p:tag name="KSO_WM_UNIT_TYPE" val="d"/>
  <p:tag name="KSO_WM_UNIT_INDEX" val="1"/>
  <p:tag name="KSO_WM_UNIT_ID" val="custom20238488_1*d*1"/>
  <p:tag name="KSO_WM_TEMPLATE_CATEGORY" val="custom"/>
  <p:tag name="KSO_WM_TEMPLATE_INDEX" val="20238488"/>
  <p:tag name="KSO_WM_UNIT_LAYERLEVEL" val="1"/>
  <p:tag name="KSO_WM_TAG_VERSION" val="1.0"/>
  <p:tag name="KSO_WM_UNIT_PIC_EFFECT" val="1"/>
</p:tagLst>
</file>

<file path=ppt/tags/tag236.xml><?xml version="1.0" encoding="utf-8"?>
<p:tagLst xmlns:p="http://schemas.openxmlformats.org/presentationml/2006/main">
  <p:tag name="KSO_WM_SLIDE_TYPE" val="endPag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9"/>
  <p:tag name="KSO_WM_SLIDE_ID" val="custom20238577_9"/>
  <p:tag name="KSO_WM_TEMPLATE_MASTER_TYPE" val="0"/>
  <p:tag name="KSO_WM_SLIDE_LAYOUT" val="a_b_f_x"/>
  <p:tag name="KSO_WM_SLIDE_LAYOUT_CNT" val="1_1_2_1"/>
</p:tagLst>
</file>

<file path=ppt/tags/tag237.xml><?xml version="1.0" encoding="utf-8"?>
<p:tagLst xmlns:p="http://schemas.openxmlformats.org/presentationml/2006/main">
  <p:tag name="KSO_WM_DIAGRAM_VIRTUALLY_FRAME" val="{&quot;height&quot;:389.6,&quot;left&quot;:211.45,&quot;top&quot;:116.65,&quot;width&quot;:477.55}"/>
</p:tagLst>
</file>

<file path=ppt/tags/tag238.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3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40.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41.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4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4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44.xml><?xml version="1.0" encoding="utf-8"?>
<p:tagLst xmlns:p="http://schemas.openxmlformats.org/presentationml/2006/main">
  <p:tag name="KSO_WM_DIAGRAM_VIRTUALLY_FRAME" val="{&quot;height&quot;:156.26889153427965,&quot;left&quot;:75.475,&quot;top&quot;:135.73110236220472,&quot;width&quot;:201.72872924804696}"/>
</p:tagLst>
</file>

<file path=ppt/tags/tag24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7.xml><?xml version="1.0" encoding="utf-8"?>
<p:tagLst xmlns:p="http://schemas.openxmlformats.org/presentationml/2006/main">
  <p:tag name="KSO_WM_DIAGRAM_VIRTUALLY_FRAME" val="{&quot;height&quot;:156.26889153427965,&quot;left&quot;:75.475,&quot;top&quot;:135.73110236220472,&quot;width&quot;:201.72872924804696}"/>
</p:tagLst>
</file>

<file path=ppt/tags/tag24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0.xml><?xml version="1.0" encoding="utf-8"?>
<p:tagLst xmlns:p="http://schemas.openxmlformats.org/presentationml/2006/main">
  <p:tag name="KSO_WM_DIAGRAM_VIRTUALLY_FRAME" val="{&quot;height&quot;:156.26889153427965,&quot;left&quot;:75.475,&quot;top&quot;:135.73110236220472,&quot;width&quot;:201.72872924804696}"/>
</p:tagLst>
</file>

<file path=ppt/tags/tag25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3.xml><?xml version="1.0" encoding="utf-8"?>
<p:tagLst xmlns:p="http://schemas.openxmlformats.org/presentationml/2006/main">
  <p:tag name="KSO_WM_DIAGRAM_VIRTUALLY_FRAME" val="{&quot;height&quot;:156.26889153427965,&quot;left&quot;:75.475,&quot;top&quot;:135.73110236220472,&quot;width&quot;:201.72872924804696}"/>
</p:tagLst>
</file>

<file path=ppt/tags/tag25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5.475,&quot;top&quot;:135.73110236220472,&quot;width&quot;:201.72872924804696}"/>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6.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5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5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5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60.xml><?xml version="1.0" encoding="utf-8"?>
<p:tagLst xmlns:p="http://schemas.openxmlformats.org/presentationml/2006/main">
  <p:tag name="KSO_WM_DIAGRAM_VIRTUALLY_FRAME" val="{&quot;height&quot;:443.51889153427965,&quot;left&quot;:59.7,&quot;top&quot;:137.43110236220474,&quot;width&quot;:492.053729248047}"/>
</p:tagLst>
</file>

<file path=ppt/tags/tag26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63.xml><?xml version="1.0" encoding="utf-8"?>
<p:tagLst xmlns:p="http://schemas.openxmlformats.org/presentationml/2006/main">
  <p:tag name="KSO_WM_DIAGRAM_VIRTUALLY_FRAME" val="{&quot;height&quot;:443.51889153427965,&quot;left&quot;:59.7,&quot;top&quot;:137.43110236220474,&quot;width&quot;:492.053729248047}"/>
</p:tagLst>
</file>

<file path=ppt/tags/tag26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66.xml><?xml version="1.0" encoding="utf-8"?>
<p:tagLst xmlns:p="http://schemas.openxmlformats.org/presentationml/2006/main">
  <p:tag name="KSO_WM_DIAGRAM_VIRTUALLY_FRAME" val="{&quot;height&quot;:443.51889153427965,&quot;left&quot;:59.7,&quot;top&quot;:137.43110236220474,&quot;width&quot;:492.053729248047}"/>
</p:tagLst>
</file>

<file path=ppt/tags/tag26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69.xml><?xml version="1.0" encoding="utf-8"?>
<p:tagLst xmlns:p="http://schemas.openxmlformats.org/presentationml/2006/main">
  <p:tag name="KSO_WM_DIAGRAM_VIRTUALLY_FRAME" val="{&quot;height&quot;:443.51889153427965,&quot;left&quot;:59.7,&quot;top&quot;:137.43110236220474,&quot;width&quot;:492.053729248047}"/>
</p:tagLst>
</file>

<file path=ppt/tags/tag27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78.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19995253,3504219,4526305,50034089,4590447],&quot;13&quot;:[20025430],&quot;29&quot;:[50052445,50000144],&quot;65&quot;:[20238577],&quot;70&quot;:[3330157,3312290,3333581,3312385,3314426,3318441,3431215,3332761,3318307,3333613,3312479,3429185,3333487]}"/>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14311</Words>
  <Application>WPS 演示</Application>
  <PresentationFormat/>
  <Paragraphs>1200</Paragraphs>
  <Slides>30</Slides>
  <Notes>0</Notes>
  <HiddenSlides>0</HiddenSlides>
  <MMClips>0</MMClips>
  <ScaleCrop>false</ScaleCrop>
  <HeadingPairs>
    <vt:vector size="6" baseType="variant">
      <vt:variant>
        <vt:lpstr>已用的字体</vt:lpstr>
      </vt:variant>
      <vt:variant>
        <vt:i4>46</vt:i4>
      </vt:variant>
      <vt:variant>
        <vt:lpstr>主题</vt:lpstr>
      </vt:variant>
      <vt:variant>
        <vt:i4>3</vt:i4>
      </vt:variant>
      <vt:variant>
        <vt:lpstr>幻灯片标题</vt:lpstr>
      </vt:variant>
      <vt:variant>
        <vt:i4>30</vt:i4>
      </vt:variant>
    </vt:vector>
  </HeadingPairs>
  <TitlesOfParts>
    <vt:vector size="79" baseType="lpstr">
      <vt:lpstr>Arial</vt:lpstr>
      <vt:lpstr>宋体</vt:lpstr>
      <vt:lpstr>Wingdings</vt:lpstr>
      <vt:lpstr>Calibri</vt:lpstr>
      <vt:lpstr>微软雅黑</vt:lpstr>
      <vt:lpstr>Helvetica Neue</vt:lpstr>
      <vt:lpstr>黑体-简</vt:lpstr>
      <vt:lpstr>黑体</vt:lpstr>
      <vt:lpstr>Arial Black</vt:lpstr>
      <vt:lpstr>DINPro Bold</vt:lpstr>
      <vt:lpstr>Calibri</vt:lpstr>
      <vt:lpstr>Arial</vt:lpstr>
      <vt:lpstr>Calibri</vt:lpstr>
      <vt:lpstr>Wingdings</vt:lpstr>
      <vt:lpstr>Heiti SC Medium</vt:lpstr>
      <vt:lpstr>Heiti SC Light</vt:lpstr>
      <vt:lpstr>Songti SC</vt:lpstr>
      <vt:lpstr>Noto Sans SC</vt:lpstr>
      <vt:lpstr>微软雅黑</vt:lpstr>
      <vt:lpstr>Source Han Sans CN Medium</vt:lpstr>
      <vt:lpstr>Source Han Sans CN Bold</vt:lpstr>
      <vt:lpstr>Source Han Sans CN Normal</vt:lpstr>
      <vt:lpstr>+中文标题</vt:lpstr>
      <vt:lpstr>Noto Sans SC</vt:lpstr>
      <vt:lpstr>Arial Unicode MS</vt:lpstr>
      <vt:lpstr>Noto Sans</vt:lpstr>
      <vt:lpstr>Arial Black</vt:lpstr>
      <vt:lpstr>Arial Black</vt:lpstr>
      <vt:lpstr>Times New Roman</vt:lpstr>
      <vt:lpstr>Heiti SC Light</vt:lpstr>
      <vt:lpstr>Heiti SC Medium</vt:lpstr>
      <vt:lpstr>Helvetica Neue</vt:lpstr>
      <vt:lpstr>Noto Sans SC</vt:lpstr>
      <vt:lpstr>Songti SC</vt:lpstr>
      <vt:lpstr>Source Han Sans CN Bold</vt:lpstr>
      <vt:lpstr>Source Han Sans CN Medium</vt:lpstr>
      <vt:lpstr>Source Han Sans CN Normal</vt:lpstr>
      <vt:lpstr>Times New Roman</vt:lpstr>
      <vt:lpstr>黑体-简</vt:lpstr>
      <vt:lpstr>Helvetica LT Pro</vt:lpstr>
      <vt:lpstr>方正坦黑体 简</vt:lpstr>
      <vt:lpstr>Kata Bold</vt:lpstr>
      <vt:lpstr>Mona Medium</vt:lpstr>
      <vt:lpstr>Windsor Std Light</vt:lpstr>
      <vt:lpstr>Saturday Sans Regular</vt:lpstr>
      <vt:lpstr>Wonder Sans Bold</vt:lpstr>
      <vt:lpstr>Office theme</vt:lpstr>
      <vt:lpstr>简约星环线条职场办公</vt:lpstr>
      <vt:lpstr>1_简约星环线条职场办公</vt:lpstr>
      <vt:lpstr>PowerPoint 演示文稿</vt:lpstr>
      <vt:lpstr>PowerPoint 演示文稿</vt:lpstr>
      <vt:lpstr>目标与协作机制回顾</vt:lpstr>
      <vt:lpstr>PowerPoint 演示文稿</vt:lpstr>
      <vt:lpstr>PowerPoint 演示文稿</vt:lpstr>
      <vt:lpstr>我们共同的工作成果总结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共同的挑战与应对思路</vt:lpstr>
      <vt:lpstr>PowerPoint 演示文稿</vt:lpstr>
      <vt:lpstr>PowerPoint 演示文稿</vt:lpstr>
      <vt:lpstr>PowerPoint 演示文稿</vt:lpstr>
      <vt:lpstr>PowerPoint 演示文稿</vt:lpstr>
      <vt:lpstr>下阶段目标与协作计划</vt:lpstr>
      <vt:lpstr>PowerPoint 演示文稿</vt:lpstr>
      <vt:lpstr>PowerPoint 演示文稿</vt:lpstr>
      <vt:lpstr>PowerPoint 演示文稿</vt:lpstr>
      <vt:lpstr>PowerPoint 演示文稿</vt:lpstr>
      <vt:lpstr>客户成功   才是深信服的成功</vt:lpstr>
      <vt:lpstr>工作成果详情</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127</cp:revision>
  <dcterms:created xsi:type="dcterms:W3CDTF">2026-05-09T07:40:00Z</dcterms:created>
  <dcterms:modified xsi:type="dcterms:W3CDTF">2026-06-15T04:53:21Z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2025-08-01T17:35:42Z</vt:filetime>
  </property>
  <property fmtid="{D5CDD505-2E9C-101B-9397-08002B2CF9AE}" pid="4" name="UsrData">
    <vt:lpwstr>687eeadea43bea0020547dd2wl</vt:lpwstr>
  </property>
  <property fmtid="{D5CDD505-2E9C-101B-9397-08002B2CF9AE}" pid="5" name="ICV">
    <vt:lpwstr>35D22C8AD5D1D18E7ACDDC6933F0EB79_43</vt:lpwstr>
  </property>
  <property fmtid="{D5CDD505-2E9C-101B-9397-08002B2CF9AE}" pid="6" name="KSOProductBuildVer">
    <vt:lpwstr>2052-12.1.0.26895</vt:lpwstr>
  </property>
</Properties>
</file>