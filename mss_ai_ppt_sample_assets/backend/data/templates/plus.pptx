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1.svg" ContentType="image/svg+xml"/>
  <Override PartName="/ppt/media/image13.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6.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21" r:id="rId7"/>
    <p:sldId id="393" r:id="rId8"/>
    <p:sldId id="394" r:id="rId9"/>
    <p:sldId id="422" r:id="rId10"/>
    <p:sldId id="396" r:id="rId11"/>
    <p:sldId id="397" r:id="rId12"/>
    <p:sldId id="428" r:id="rId13"/>
    <p:sldId id="429" r:id="rId14"/>
    <p:sldId id="430" r:id="rId15"/>
    <p:sldId id="400" r:id="rId16"/>
    <p:sldId id="401" r:id="rId17"/>
    <p:sldId id="431" r:id="rId18"/>
    <p:sldId id="402" r:id="rId19"/>
    <p:sldId id="404" r:id="rId20"/>
    <p:sldId id="405" r:id="rId21"/>
    <p:sldId id="406" r:id="rId22"/>
    <p:sldId id="407" r:id="rId23"/>
    <p:sldId id="423" r:id="rId24"/>
    <p:sldId id="408" r:id="rId25"/>
    <p:sldId id="424" r:id="rId26"/>
    <p:sldId id="425" r:id="rId27"/>
    <p:sldId id="426" r:id="rId28"/>
    <p:sldId id="427" r:id="rId29"/>
    <p:sldId id="411" r:id="rId30"/>
    <p:sldId id="412" r:id="rId31"/>
    <p:sldId id="415" r:id="rId32"/>
    <p:sldId id="414" r:id="rId33"/>
    <p:sldId id="416" r:id="rId34"/>
    <p:sldId id="417" r:id="rId35"/>
  </p:sldIdLst>
  <p:sldSz cx="12192000" cy="6858000"/>
  <p:notesSz cx="6858000" cy="9144000"/>
  <p:custDataLst>
    <p:tags r:id="rId4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0" Type="http://schemas.openxmlformats.org/officeDocument/2006/relationships/tags" Target="tags/tag267.xml"/><Relationship Id="rId4" Type="http://schemas.openxmlformats.org/officeDocument/2006/relationships/slideMaster" Target="slideMasters/slideMaster3.xml"/><Relationship Id="rId39" Type="http://schemas.openxmlformats.org/officeDocument/2006/relationships/commentAuthors" Target="commentAuthors.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通过数字化运营，带来安全水位线的可视化和</a:t>
            </a:r>
            <a:r>
              <a:rPr lang="zh-CN" altLang="en-US"/>
              <a:t>提升，直接产生可量化的安全</a:t>
            </a:r>
            <a:r>
              <a:rPr lang="zh-CN" altLang="en-US"/>
              <a:t>价值</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tags" Target="../tags/tag73.xml"/><Relationship Id="rId8" Type="http://schemas.openxmlformats.org/officeDocument/2006/relationships/image" Target="../media/image9.svg"/><Relationship Id="rId7" Type="http://schemas.openxmlformats.org/officeDocument/2006/relationships/image" Target="../media/image8.png"/><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tags" Target="../tags/tag85.xml"/><Relationship Id="rId25" Type="http://schemas.openxmlformats.org/officeDocument/2006/relationships/tags" Target="../tags/tag84.xml"/><Relationship Id="rId24" Type="http://schemas.openxmlformats.org/officeDocument/2006/relationships/tags" Target="../tags/tag83.xml"/><Relationship Id="rId23" Type="http://schemas.openxmlformats.org/officeDocument/2006/relationships/image" Target="../media/image14.png"/><Relationship Id="rId22" Type="http://schemas.openxmlformats.org/officeDocument/2006/relationships/tags" Target="../tags/tag82.xml"/><Relationship Id="rId21" Type="http://schemas.openxmlformats.org/officeDocument/2006/relationships/tags" Target="../tags/tag81.xml"/><Relationship Id="rId20" Type="http://schemas.openxmlformats.org/officeDocument/2006/relationships/tags" Target="../tags/tag80.xml"/><Relationship Id="rId2" Type="http://schemas.openxmlformats.org/officeDocument/2006/relationships/tags" Target="../tags/tag69.xml"/><Relationship Id="rId19" Type="http://schemas.openxmlformats.org/officeDocument/2006/relationships/image" Target="../media/image13.svg"/><Relationship Id="rId18" Type="http://schemas.openxmlformats.org/officeDocument/2006/relationships/image" Target="../media/image12.png"/><Relationship Id="rId17" Type="http://schemas.openxmlformats.org/officeDocument/2006/relationships/tags" Target="../tags/tag79.xml"/><Relationship Id="rId16" Type="http://schemas.openxmlformats.org/officeDocument/2006/relationships/tags" Target="../tags/tag78.xml"/><Relationship Id="rId15" Type="http://schemas.openxmlformats.org/officeDocument/2006/relationships/tags" Target="../tags/tag77.xml"/><Relationship Id="rId14" Type="http://schemas.openxmlformats.org/officeDocument/2006/relationships/image" Target="../media/image11.svg"/><Relationship Id="rId13" Type="http://schemas.openxmlformats.org/officeDocument/2006/relationships/image" Target="../media/image10.png"/><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tags" Target="../tags/tag74.xml"/><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92.xml"/><Relationship Id="rId4" Type="http://schemas.openxmlformats.org/officeDocument/2006/relationships/image" Target="../media/image6.png"/><Relationship Id="rId3" Type="http://schemas.openxmlformats.org/officeDocument/2006/relationships/tags" Target="../tags/tag91.xml"/><Relationship Id="rId2" Type="http://schemas.openxmlformats.org/officeDocument/2006/relationships/tags" Target="../tags/tag90.xml"/><Relationship Id="rId1" Type="http://schemas.openxmlformats.org/officeDocument/2006/relationships/tags" Target="../tags/tag89.xml"/></Relationships>
</file>

<file path=ppt/slides/_rels/slide7.xml.rels><?xml version="1.0" encoding="UTF-8" standalone="yes"?>
<Relationships xmlns="http://schemas.openxmlformats.org/package/2006/relationships"><Relationship Id="rId9" Type="http://schemas.openxmlformats.org/officeDocument/2006/relationships/tags" Target="../tags/tag99.xml"/><Relationship Id="rId8" Type="http://schemas.openxmlformats.org/officeDocument/2006/relationships/tags" Target="../tags/tag98.xml"/><Relationship Id="rId7" Type="http://schemas.openxmlformats.org/officeDocument/2006/relationships/tags" Target="../tags/tag97.xml"/><Relationship Id="rId6" Type="http://schemas.openxmlformats.org/officeDocument/2006/relationships/tags" Target="../tags/tag96.xml"/><Relationship Id="rId5" Type="http://schemas.openxmlformats.org/officeDocument/2006/relationships/tags" Target="../tags/tag95.xml"/><Relationship Id="rId4" Type="http://schemas.openxmlformats.org/officeDocument/2006/relationships/image" Target="../media/image15.png"/><Relationship Id="rId3" Type="http://schemas.openxmlformats.org/officeDocument/2006/relationships/image" Target="../media/image6.png"/><Relationship Id="rId26" Type="http://schemas.openxmlformats.org/officeDocument/2006/relationships/notesSlide" Target="../notesSlides/notesSlide5.xml"/><Relationship Id="rId25" Type="http://schemas.openxmlformats.org/officeDocument/2006/relationships/slideLayout" Target="../slideLayouts/slideLayout1.xml"/><Relationship Id="rId24" Type="http://schemas.openxmlformats.org/officeDocument/2006/relationships/tags" Target="../tags/tag110.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09.xml"/><Relationship Id="rId20" Type="http://schemas.openxmlformats.org/officeDocument/2006/relationships/tags" Target="../tags/tag108.xml"/><Relationship Id="rId2" Type="http://schemas.openxmlformats.org/officeDocument/2006/relationships/tags" Target="../tags/tag94.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07.xml"/><Relationship Id="rId16" Type="http://schemas.openxmlformats.org/officeDocument/2006/relationships/tags" Target="../tags/tag106.xml"/><Relationship Id="rId15" Type="http://schemas.openxmlformats.org/officeDocument/2006/relationships/tags" Target="../tags/tag105.xml"/><Relationship Id="rId14" Type="http://schemas.openxmlformats.org/officeDocument/2006/relationships/tags" Target="../tags/tag104.xml"/><Relationship Id="rId13" Type="http://schemas.openxmlformats.org/officeDocument/2006/relationships/tags" Target="../tags/tag103.xml"/><Relationship Id="rId12" Type="http://schemas.openxmlformats.org/officeDocument/2006/relationships/tags" Target="../tags/tag102.xml"/><Relationship Id="rId11" Type="http://schemas.openxmlformats.org/officeDocument/2006/relationships/tags" Target="../tags/tag101.xml"/><Relationship Id="rId10" Type="http://schemas.openxmlformats.org/officeDocument/2006/relationships/tags" Target="../tags/tag100.xml"/><Relationship Id="rId1" Type="http://schemas.openxmlformats.org/officeDocument/2006/relationships/tags" Target="../tags/tag93.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tags" Target="../tags/tag113.xml"/><Relationship Id="rId3" Type="http://schemas.openxmlformats.org/officeDocument/2006/relationships/tags" Target="../tags/tag112.xml"/><Relationship Id="rId2" Type="http://schemas.openxmlformats.org/officeDocument/2006/relationships/tags" Target="../tags/tag111.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6.xml"/><Relationship Id="rId4" Type="http://schemas.openxmlformats.org/officeDocument/2006/relationships/tags" Target="../tags/tag115.xml"/><Relationship Id="rId3" Type="http://schemas.openxmlformats.org/officeDocument/2006/relationships/tags" Target="../tags/tag114.xml"/><Relationship Id="rId2" Type="http://schemas.openxmlformats.org/officeDocument/2006/relationships/image" Target="../media/image20.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9.xml"/><Relationship Id="rId4" Type="http://schemas.openxmlformats.org/officeDocument/2006/relationships/image" Target="../media/image20.png"/><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tags" Target="../tags/tag124.xml"/><Relationship Id="rId7" Type="http://schemas.openxmlformats.org/officeDocument/2006/relationships/image" Target="../media/image22.svg"/><Relationship Id="rId6" Type="http://schemas.openxmlformats.org/officeDocument/2006/relationships/image" Target="../media/image21.png"/><Relationship Id="rId5" Type="http://schemas.openxmlformats.org/officeDocument/2006/relationships/tags" Target="../tags/tag123.xml"/><Relationship Id="rId4" Type="http://schemas.openxmlformats.org/officeDocument/2006/relationships/tags" Target="../tags/tag122.xml"/><Relationship Id="rId3" Type="http://schemas.openxmlformats.org/officeDocument/2006/relationships/image" Target="../media/image6.png"/><Relationship Id="rId22" Type="http://schemas.openxmlformats.org/officeDocument/2006/relationships/notesSlide" Target="../notesSlides/notesSlide6.xml"/><Relationship Id="rId21" Type="http://schemas.openxmlformats.org/officeDocument/2006/relationships/slideLayout" Target="../slideLayouts/slideLayout1.xml"/><Relationship Id="rId20" Type="http://schemas.openxmlformats.org/officeDocument/2006/relationships/tags" Target="../tags/tag132.xml"/><Relationship Id="rId2" Type="http://schemas.openxmlformats.org/officeDocument/2006/relationships/tags" Target="../tags/tag121.xml"/><Relationship Id="rId19" Type="http://schemas.openxmlformats.org/officeDocument/2006/relationships/image" Target="../media/image26.svg"/><Relationship Id="rId18" Type="http://schemas.openxmlformats.org/officeDocument/2006/relationships/image" Target="../media/image25.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tags" Target="../tags/tag125.xml"/><Relationship Id="rId10" Type="http://schemas.openxmlformats.org/officeDocument/2006/relationships/image" Target="../media/image24.svg"/><Relationship Id="rId1" Type="http://schemas.openxmlformats.org/officeDocument/2006/relationships/tags" Target="../tags/tag120.xml"/></Relationships>
</file>

<file path=ppt/slides/_rels/slide12.xml.rels><?xml version="1.0" encoding="UTF-8" standalone="yes"?>
<Relationships xmlns="http://schemas.openxmlformats.org/package/2006/relationships"><Relationship Id="rId9" Type="http://schemas.openxmlformats.org/officeDocument/2006/relationships/tags" Target="../tags/tag139.xml"/><Relationship Id="rId8" Type="http://schemas.openxmlformats.org/officeDocument/2006/relationships/tags" Target="../tags/tag138.xml"/><Relationship Id="rId7" Type="http://schemas.openxmlformats.org/officeDocument/2006/relationships/tags" Target="../tags/tag137.xml"/><Relationship Id="rId6" Type="http://schemas.openxmlformats.org/officeDocument/2006/relationships/tags" Target="../tags/tag136.xml"/><Relationship Id="rId5" Type="http://schemas.openxmlformats.org/officeDocument/2006/relationships/image" Target="../media/image27.png"/><Relationship Id="rId4" Type="http://schemas.openxmlformats.org/officeDocument/2006/relationships/tags" Target="../tags/tag135.xml"/><Relationship Id="rId3" Type="http://schemas.openxmlformats.org/officeDocument/2006/relationships/image" Target="../media/image6.png"/><Relationship Id="rId26" Type="http://schemas.openxmlformats.org/officeDocument/2006/relationships/notesSlide" Target="../notesSlides/notesSlide7.xml"/><Relationship Id="rId25" Type="http://schemas.openxmlformats.org/officeDocument/2006/relationships/slideLayout" Target="../slideLayouts/slideLayout1.xml"/><Relationship Id="rId24" Type="http://schemas.openxmlformats.org/officeDocument/2006/relationships/tags" Target="../tags/tag154.xml"/><Relationship Id="rId23" Type="http://schemas.openxmlformats.org/officeDocument/2006/relationships/tags" Target="../tags/tag153.xml"/><Relationship Id="rId22" Type="http://schemas.openxmlformats.org/officeDocument/2006/relationships/tags" Target="../tags/tag152.xml"/><Relationship Id="rId21" Type="http://schemas.openxmlformats.org/officeDocument/2006/relationships/tags" Target="../tags/tag151.xml"/><Relationship Id="rId20" Type="http://schemas.openxmlformats.org/officeDocument/2006/relationships/tags" Target="../tags/tag150.xml"/><Relationship Id="rId2" Type="http://schemas.openxmlformats.org/officeDocument/2006/relationships/tags" Target="../tags/tag134.xml"/><Relationship Id="rId19" Type="http://schemas.openxmlformats.org/officeDocument/2006/relationships/tags" Target="../tags/tag149.xml"/><Relationship Id="rId18" Type="http://schemas.openxmlformats.org/officeDocument/2006/relationships/tags" Target="../tags/tag148.xml"/><Relationship Id="rId17" Type="http://schemas.openxmlformats.org/officeDocument/2006/relationships/tags" Target="../tags/tag147.xml"/><Relationship Id="rId16" Type="http://schemas.openxmlformats.org/officeDocument/2006/relationships/tags" Target="../tags/tag146.xml"/><Relationship Id="rId15" Type="http://schemas.openxmlformats.org/officeDocument/2006/relationships/tags" Target="../tags/tag145.xml"/><Relationship Id="rId14" Type="http://schemas.openxmlformats.org/officeDocument/2006/relationships/tags" Target="../tags/tag144.xml"/><Relationship Id="rId13" Type="http://schemas.openxmlformats.org/officeDocument/2006/relationships/tags" Target="../tags/tag143.xml"/><Relationship Id="rId12" Type="http://schemas.openxmlformats.org/officeDocument/2006/relationships/tags" Target="../tags/tag142.xml"/><Relationship Id="rId11" Type="http://schemas.openxmlformats.org/officeDocument/2006/relationships/tags" Target="../tags/tag141.xml"/><Relationship Id="rId10" Type="http://schemas.openxmlformats.org/officeDocument/2006/relationships/tags" Target="../tags/tag140.xml"/><Relationship Id="rId1" Type="http://schemas.openxmlformats.org/officeDocument/2006/relationships/tags" Target="../tags/tag133.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59.xml"/><Relationship Id="rId7" Type="http://schemas.openxmlformats.org/officeDocument/2006/relationships/image" Target="../media/image28.png"/><Relationship Id="rId6" Type="http://schemas.openxmlformats.org/officeDocument/2006/relationships/tags" Target="../tags/tag158.xml"/><Relationship Id="rId5" Type="http://schemas.openxmlformats.org/officeDocument/2006/relationships/tags" Target="../tags/tag157.xml"/><Relationship Id="rId4" Type="http://schemas.openxmlformats.org/officeDocument/2006/relationships/image" Target="../media/image20.png"/><Relationship Id="rId3" Type="http://schemas.openxmlformats.org/officeDocument/2006/relationships/image" Target="../media/image6.png"/><Relationship Id="rId2" Type="http://schemas.openxmlformats.org/officeDocument/2006/relationships/tags" Target="../tags/tag156.xml"/><Relationship Id="rId10" Type="http://schemas.openxmlformats.org/officeDocument/2006/relationships/notesSlide" Target="../notesSlides/notesSlide8.xml"/><Relationship Id="rId1" Type="http://schemas.openxmlformats.org/officeDocument/2006/relationships/tags" Target="../tags/tag155.xml"/></Relationships>
</file>

<file path=ppt/slides/_rels/slide14.xml.rels><?xml version="1.0" encoding="UTF-8" standalone="yes"?>
<Relationships xmlns="http://schemas.openxmlformats.org/package/2006/relationships"><Relationship Id="rId9" Type="http://schemas.openxmlformats.org/officeDocument/2006/relationships/tags" Target="../tags/tag167.xml"/><Relationship Id="rId8" Type="http://schemas.openxmlformats.org/officeDocument/2006/relationships/tags" Target="../tags/tag166.xml"/><Relationship Id="rId7" Type="http://schemas.openxmlformats.org/officeDocument/2006/relationships/tags" Target="../tags/tag165.xml"/><Relationship Id="rId6" Type="http://schemas.openxmlformats.org/officeDocument/2006/relationships/tags" Target="../tags/tag164.xml"/><Relationship Id="rId5" Type="http://schemas.openxmlformats.org/officeDocument/2006/relationships/tags" Target="../tags/tag163.xml"/><Relationship Id="rId4" Type="http://schemas.openxmlformats.org/officeDocument/2006/relationships/tags" Target="../tags/tag162.xml"/><Relationship Id="rId30" Type="http://schemas.openxmlformats.org/officeDocument/2006/relationships/notesSlide" Target="../notesSlides/notesSlide9.xml"/><Relationship Id="rId3" Type="http://schemas.openxmlformats.org/officeDocument/2006/relationships/image" Target="../media/image6.png"/><Relationship Id="rId29" Type="http://schemas.openxmlformats.org/officeDocument/2006/relationships/slideLayout" Target="../slideLayouts/slideLayout1.xml"/><Relationship Id="rId28" Type="http://schemas.openxmlformats.org/officeDocument/2006/relationships/tags" Target="../tags/tag186.xml"/><Relationship Id="rId27" Type="http://schemas.openxmlformats.org/officeDocument/2006/relationships/tags" Target="../tags/tag185.xml"/><Relationship Id="rId26" Type="http://schemas.openxmlformats.org/officeDocument/2006/relationships/tags" Target="../tags/tag184.xml"/><Relationship Id="rId25" Type="http://schemas.openxmlformats.org/officeDocument/2006/relationships/tags" Target="../tags/tag183.xml"/><Relationship Id="rId24" Type="http://schemas.openxmlformats.org/officeDocument/2006/relationships/tags" Target="../tags/tag182.xml"/><Relationship Id="rId23" Type="http://schemas.openxmlformats.org/officeDocument/2006/relationships/tags" Target="../tags/tag181.xml"/><Relationship Id="rId22" Type="http://schemas.openxmlformats.org/officeDocument/2006/relationships/tags" Target="../tags/tag180.xml"/><Relationship Id="rId21" Type="http://schemas.openxmlformats.org/officeDocument/2006/relationships/tags" Target="../tags/tag179.xml"/><Relationship Id="rId20" Type="http://schemas.openxmlformats.org/officeDocument/2006/relationships/tags" Target="../tags/tag178.xml"/><Relationship Id="rId2" Type="http://schemas.openxmlformats.org/officeDocument/2006/relationships/tags" Target="../tags/tag161.xml"/><Relationship Id="rId19" Type="http://schemas.openxmlformats.org/officeDocument/2006/relationships/tags" Target="../tags/tag177.xml"/><Relationship Id="rId18" Type="http://schemas.openxmlformats.org/officeDocument/2006/relationships/tags" Target="../tags/tag176.xml"/><Relationship Id="rId17" Type="http://schemas.openxmlformats.org/officeDocument/2006/relationships/tags" Target="../tags/tag175.xml"/><Relationship Id="rId16" Type="http://schemas.openxmlformats.org/officeDocument/2006/relationships/tags" Target="../tags/tag174.xml"/><Relationship Id="rId15" Type="http://schemas.openxmlformats.org/officeDocument/2006/relationships/tags" Target="../tags/tag173.xml"/><Relationship Id="rId14" Type="http://schemas.openxmlformats.org/officeDocument/2006/relationships/tags" Target="../tags/tag172.xml"/><Relationship Id="rId13" Type="http://schemas.openxmlformats.org/officeDocument/2006/relationships/tags" Target="../tags/tag171.xml"/><Relationship Id="rId12" Type="http://schemas.openxmlformats.org/officeDocument/2006/relationships/tags" Target="../tags/tag170.xml"/><Relationship Id="rId11" Type="http://schemas.openxmlformats.org/officeDocument/2006/relationships/tags" Target="../tags/tag169.xml"/><Relationship Id="rId10" Type="http://schemas.openxmlformats.org/officeDocument/2006/relationships/tags" Target="../tags/tag168.xml"/><Relationship Id="rId1" Type="http://schemas.openxmlformats.org/officeDocument/2006/relationships/tags" Target="../tags/tag160.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190.xml"/><Relationship Id="rId4" Type="http://schemas.openxmlformats.org/officeDocument/2006/relationships/image" Target="../media/image6.png"/><Relationship Id="rId3" Type="http://schemas.openxmlformats.org/officeDocument/2006/relationships/tags" Target="../tags/tag189.xml"/><Relationship Id="rId2" Type="http://schemas.openxmlformats.org/officeDocument/2006/relationships/tags" Target="../tags/tag188.xml"/><Relationship Id="rId1" Type="http://schemas.openxmlformats.org/officeDocument/2006/relationships/tags" Target="../tags/tag187.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193.xml"/><Relationship Id="rId3" Type="http://schemas.openxmlformats.org/officeDocument/2006/relationships/tags" Target="../tags/tag192.xml"/><Relationship Id="rId2" Type="http://schemas.openxmlformats.org/officeDocument/2006/relationships/tags" Target="../tags/tag191.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tags" Target="../tags/tag196.xml"/><Relationship Id="rId3" Type="http://schemas.openxmlformats.org/officeDocument/2006/relationships/tags" Target="../tags/tag195.xml"/><Relationship Id="rId2" Type="http://schemas.openxmlformats.org/officeDocument/2006/relationships/tags" Target="../tags/tag194.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tags" Target="../tags/tag199.xml"/><Relationship Id="rId3" Type="http://schemas.openxmlformats.org/officeDocument/2006/relationships/tags" Target="../tags/tag198.xml"/><Relationship Id="rId2" Type="http://schemas.openxmlformats.org/officeDocument/2006/relationships/tags" Target="../tags/tag197.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2.xml"/><Relationship Id="rId4" Type="http://schemas.openxmlformats.org/officeDocument/2006/relationships/tags" Target="../tags/tag201.xml"/><Relationship Id="rId3" Type="http://schemas.openxmlformats.org/officeDocument/2006/relationships/tags" Target="../tags/tag200.xml"/><Relationship Id="rId2" Type="http://schemas.openxmlformats.org/officeDocument/2006/relationships/image" Target="../media/image6.png"/><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5.xml"/><Relationship Id="rId4" Type="http://schemas.openxmlformats.org/officeDocument/2006/relationships/image" Target="../media/image6.png"/><Relationship Id="rId3" Type="http://schemas.openxmlformats.org/officeDocument/2006/relationships/tags" Target="../tags/tag204.xml"/><Relationship Id="rId2" Type="http://schemas.openxmlformats.org/officeDocument/2006/relationships/tags" Target="../tags/tag203.xml"/><Relationship Id="rId1" Type="http://schemas.openxmlformats.org/officeDocument/2006/relationships/tags" Target="../tags/tag202.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3.xml"/><Relationship Id="rId3" Type="http://schemas.openxmlformats.org/officeDocument/2006/relationships/image" Target="../media/image6.png"/><Relationship Id="rId2" Type="http://schemas.openxmlformats.org/officeDocument/2006/relationships/tags" Target="../tags/tag207.xml"/><Relationship Id="rId1" Type="http://schemas.openxmlformats.org/officeDocument/2006/relationships/tags" Target="../tags/tag206.xml"/></Relationships>
</file>

<file path=ppt/slides/_rels/slide22.xml.rels><?xml version="1.0" encoding="UTF-8" standalone="yes"?>
<Relationships xmlns="http://schemas.openxmlformats.org/package/2006/relationships"><Relationship Id="rId9" Type="http://schemas.openxmlformats.org/officeDocument/2006/relationships/image" Target="../media/image32.png"/><Relationship Id="rId8" Type="http://schemas.openxmlformats.org/officeDocument/2006/relationships/image" Target="../media/image31.png"/><Relationship Id="rId7" Type="http://schemas.openxmlformats.org/officeDocument/2006/relationships/image" Target="../media/image30.png"/><Relationship Id="rId6" Type="http://schemas.openxmlformats.org/officeDocument/2006/relationships/tags" Target="../tags/tag212.xml"/><Relationship Id="rId5" Type="http://schemas.openxmlformats.org/officeDocument/2006/relationships/tags" Target="../tags/tag211.xml"/><Relationship Id="rId4" Type="http://schemas.openxmlformats.org/officeDocument/2006/relationships/tags" Target="../tags/tag210.xml"/><Relationship Id="rId3" Type="http://schemas.openxmlformats.org/officeDocument/2006/relationships/image" Target="../media/image6.png"/><Relationship Id="rId2" Type="http://schemas.openxmlformats.org/officeDocument/2006/relationships/tags" Target="../tags/tag209.xml"/><Relationship Id="rId16" Type="http://schemas.openxmlformats.org/officeDocument/2006/relationships/notesSlide" Target="../notesSlides/notesSlide15.xml"/><Relationship Id="rId15" Type="http://schemas.openxmlformats.org/officeDocument/2006/relationships/slideLayout" Target="../slideLayouts/slideLayout12.xml"/><Relationship Id="rId14" Type="http://schemas.openxmlformats.org/officeDocument/2006/relationships/image" Target="../media/image37.png"/><Relationship Id="rId13" Type="http://schemas.openxmlformats.org/officeDocument/2006/relationships/image" Target="../media/image36.png"/><Relationship Id="rId12" Type="http://schemas.openxmlformats.org/officeDocument/2006/relationships/image" Target="../media/image35.png"/><Relationship Id="rId11" Type="http://schemas.openxmlformats.org/officeDocument/2006/relationships/image" Target="../media/image34.png"/><Relationship Id="rId10" Type="http://schemas.openxmlformats.org/officeDocument/2006/relationships/image" Target="../media/image33.png"/><Relationship Id="rId1" Type="http://schemas.openxmlformats.org/officeDocument/2006/relationships/tags" Target="../tags/tag208.xml"/></Relationships>
</file>

<file path=ppt/slides/_rels/slide23.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3.xml"/><Relationship Id="rId3" Type="http://schemas.openxmlformats.org/officeDocument/2006/relationships/tags" Target="../tags/tag214.xml"/><Relationship Id="rId2" Type="http://schemas.openxmlformats.org/officeDocument/2006/relationships/tags" Target="../tags/tag213.xml"/><Relationship Id="rId1" Type="http://schemas.openxmlformats.org/officeDocument/2006/relationships/image" Target="../media/image6.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18.xml"/><Relationship Id="rId5" Type="http://schemas.openxmlformats.org/officeDocument/2006/relationships/tags" Target="../tags/tag217.xml"/><Relationship Id="rId4" Type="http://schemas.openxmlformats.org/officeDocument/2006/relationships/tags" Target="../tags/tag216.xml"/><Relationship Id="rId3" Type="http://schemas.openxmlformats.org/officeDocument/2006/relationships/tags" Target="../tags/tag215.xml"/><Relationship Id="rId2" Type="http://schemas.openxmlformats.org/officeDocument/2006/relationships/image" Target="../media/image29.png"/><Relationship Id="rId1" Type="http://schemas.openxmlformats.org/officeDocument/2006/relationships/image" Target="../media/image6.png"/></Relationships>
</file>

<file path=ppt/slides/_rels/slide25.xml.rels><?xml version="1.0" encoding="UTF-8" standalone="yes"?>
<Relationships xmlns="http://schemas.openxmlformats.org/package/2006/relationships"><Relationship Id="rId9" Type="http://schemas.openxmlformats.org/officeDocument/2006/relationships/image" Target="../media/image39.jpeg"/><Relationship Id="rId8" Type="http://schemas.openxmlformats.org/officeDocument/2006/relationships/tags" Target="../tags/tag224.xml"/><Relationship Id="rId7" Type="http://schemas.openxmlformats.org/officeDocument/2006/relationships/image" Target="../media/image38.png"/><Relationship Id="rId6" Type="http://schemas.openxmlformats.org/officeDocument/2006/relationships/tags" Target="../tags/tag223.xml"/><Relationship Id="rId5" Type="http://schemas.openxmlformats.org/officeDocument/2006/relationships/tags" Target="../tags/tag222.xml"/><Relationship Id="rId4" Type="http://schemas.openxmlformats.org/officeDocument/2006/relationships/tags" Target="../tags/tag221.xml"/><Relationship Id="rId3" Type="http://schemas.openxmlformats.org/officeDocument/2006/relationships/tags" Target="../tags/tag220.xml"/><Relationship Id="rId2" Type="http://schemas.openxmlformats.org/officeDocument/2006/relationships/tags" Target="../tags/tag219.xml"/><Relationship Id="rId11" Type="http://schemas.openxmlformats.org/officeDocument/2006/relationships/slideLayout" Target="../slideLayouts/slideLayout14.xml"/><Relationship Id="rId10" Type="http://schemas.openxmlformats.org/officeDocument/2006/relationships/tags" Target="../tags/tag225.xml"/><Relationship Id="rId1" Type="http://schemas.openxmlformats.org/officeDocument/2006/relationships/image" Target="../media/image6.png"/></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29.xml"/><Relationship Id="rId4" Type="http://schemas.openxmlformats.org/officeDocument/2006/relationships/image" Target="../media/image6.png"/><Relationship Id="rId3" Type="http://schemas.openxmlformats.org/officeDocument/2006/relationships/tags" Target="../tags/tag228.xml"/><Relationship Id="rId2" Type="http://schemas.openxmlformats.org/officeDocument/2006/relationships/tags" Target="../tags/tag227.xml"/><Relationship Id="rId1" Type="http://schemas.openxmlformats.org/officeDocument/2006/relationships/tags" Target="../tags/tag226.xml"/></Relationships>
</file>

<file path=ppt/slides/_rels/slide27.xml.rels><?xml version="1.0" encoding="UTF-8" standalone="yes"?>
<Relationships xmlns="http://schemas.openxmlformats.org/package/2006/relationships"><Relationship Id="rId9" Type="http://schemas.openxmlformats.org/officeDocument/2006/relationships/image" Target="../media/image42.png"/><Relationship Id="rId8" Type="http://schemas.openxmlformats.org/officeDocument/2006/relationships/image" Target="../media/image41.svg"/><Relationship Id="rId7" Type="http://schemas.openxmlformats.org/officeDocument/2006/relationships/image" Target="../media/image40.png"/><Relationship Id="rId6" Type="http://schemas.openxmlformats.org/officeDocument/2006/relationships/image" Target="../media/image6.png"/><Relationship Id="rId5" Type="http://schemas.openxmlformats.org/officeDocument/2006/relationships/tags" Target="../tags/tag231.xml"/><Relationship Id="rId4" Type="http://schemas.openxmlformats.org/officeDocument/2006/relationships/tags" Target="../tags/tag230.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44.xml"/><Relationship Id="rId26" Type="http://schemas.openxmlformats.org/officeDocument/2006/relationships/tags" Target="../tags/tag243.xml"/><Relationship Id="rId25" Type="http://schemas.openxmlformats.org/officeDocument/2006/relationships/tags" Target="../tags/tag242.xml"/><Relationship Id="rId24" Type="http://schemas.openxmlformats.org/officeDocument/2006/relationships/tags" Target="../tags/tag241.xml"/><Relationship Id="rId23" Type="http://schemas.openxmlformats.org/officeDocument/2006/relationships/tags" Target="../tags/tag240.xml"/><Relationship Id="rId22" Type="http://schemas.openxmlformats.org/officeDocument/2006/relationships/tags" Target="../tags/tag239.xml"/><Relationship Id="rId21" Type="http://schemas.openxmlformats.org/officeDocument/2006/relationships/tags" Target="../tags/tag238.xml"/><Relationship Id="rId20" Type="http://schemas.openxmlformats.org/officeDocument/2006/relationships/tags" Target="../tags/tag237.xml"/><Relationship Id="rId2" Type="http://schemas.openxmlformats.org/officeDocument/2006/relationships/chart" Target="../charts/chart2.xml"/><Relationship Id="rId19" Type="http://schemas.openxmlformats.org/officeDocument/2006/relationships/tags" Target="../tags/tag236.xml"/><Relationship Id="rId18" Type="http://schemas.openxmlformats.org/officeDocument/2006/relationships/tags" Target="../tags/tag235.xml"/><Relationship Id="rId17" Type="http://schemas.openxmlformats.org/officeDocument/2006/relationships/tags" Target="../tags/tag234.xml"/><Relationship Id="rId16" Type="http://schemas.openxmlformats.org/officeDocument/2006/relationships/tags" Target="../tags/tag233.xml"/><Relationship Id="rId15" Type="http://schemas.openxmlformats.org/officeDocument/2006/relationships/tags" Target="../tags/tag232.xml"/><Relationship Id="rId14" Type="http://schemas.openxmlformats.org/officeDocument/2006/relationships/image" Target="../media/image47.svg"/><Relationship Id="rId13" Type="http://schemas.openxmlformats.org/officeDocument/2006/relationships/image" Target="../media/image46.png"/><Relationship Id="rId12" Type="http://schemas.openxmlformats.org/officeDocument/2006/relationships/image" Target="../media/image45.svg"/><Relationship Id="rId11" Type="http://schemas.openxmlformats.org/officeDocument/2006/relationships/image" Target="../media/image44.png"/><Relationship Id="rId10" Type="http://schemas.openxmlformats.org/officeDocument/2006/relationships/image" Target="../media/image43.svg"/><Relationship Id="rId1" Type="http://schemas.openxmlformats.org/officeDocument/2006/relationships/chart" Target="../charts/chart1.xml"/></Relationships>
</file>

<file path=ppt/slides/_rels/slide28.xml.rels><?xml version="1.0" encoding="UTF-8" standalone="yes"?>
<Relationships xmlns="http://schemas.openxmlformats.org/package/2006/relationships"><Relationship Id="rId9" Type="http://schemas.openxmlformats.org/officeDocument/2006/relationships/image" Target="../media/image14.png"/><Relationship Id="rId8" Type="http://schemas.openxmlformats.org/officeDocument/2006/relationships/tags" Target="../tags/tag248.xml"/><Relationship Id="rId7" Type="http://schemas.openxmlformats.org/officeDocument/2006/relationships/tags" Target="../tags/tag247.xml"/><Relationship Id="rId6" Type="http://schemas.openxmlformats.org/officeDocument/2006/relationships/tags" Target="../tags/tag246.xml"/><Relationship Id="rId5" Type="http://schemas.openxmlformats.org/officeDocument/2006/relationships/tags" Target="../tags/tag245.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29.xml.rels><?xml version="1.0" encoding="UTF-8" standalone="yes"?>
<Relationships xmlns="http://schemas.openxmlformats.org/package/2006/relationships"><Relationship Id="rId9" Type="http://schemas.openxmlformats.org/officeDocument/2006/relationships/tags" Target="../tags/tag255.xml"/><Relationship Id="rId8" Type="http://schemas.openxmlformats.org/officeDocument/2006/relationships/tags" Target="../tags/tag254.xml"/><Relationship Id="rId7" Type="http://schemas.openxmlformats.org/officeDocument/2006/relationships/tags" Target="../tags/tag253.xml"/><Relationship Id="rId6" Type="http://schemas.openxmlformats.org/officeDocument/2006/relationships/tags" Target="../tags/tag252.xml"/><Relationship Id="rId5" Type="http://schemas.openxmlformats.org/officeDocument/2006/relationships/tags" Target="../tags/tag251.xml"/><Relationship Id="rId4" Type="http://schemas.openxmlformats.org/officeDocument/2006/relationships/tags" Target="../tags/tag250.xml"/><Relationship Id="rId3" Type="http://schemas.openxmlformats.org/officeDocument/2006/relationships/tags" Target="../tags/tag249.xml"/><Relationship Id="rId24" Type="http://schemas.openxmlformats.org/officeDocument/2006/relationships/slideLayout" Target="../slideLayouts/slideLayout1.xml"/><Relationship Id="rId23" Type="http://schemas.openxmlformats.org/officeDocument/2006/relationships/image" Target="../media/image55.svg"/><Relationship Id="rId22" Type="http://schemas.openxmlformats.org/officeDocument/2006/relationships/image" Target="../media/image54.png"/><Relationship Id="rId21" Type="http://schemas.openxmlformats.org/officeDocument/2006/relationships/image" Target="../media/image53.svg"/><Relationship Id="rId20" Type="http://schemas.openxmlformats.org/officeDocument/2006/relationships/image" Target="../media/image52.png"/><Relationship Id="rId2" Type="http://schemas.openxmlformats.org/officeDocument/2006/relationships/chart" Target="../charts/chart9.xml"/><Relationship Id="rId19" Type="http://schemas.openxmlformats.org/officeDocument/2006/relationships/image" Target="../media/image51.svg"/><Relationship Id="rId18" Type="http://schemas.openxmlformats.org/officeDocument/2006/relationships/image" Target="../media/image50.png"/><Relationship Id="rId17" Type="http://schemas.openxmlformats.org/officeDocument/2006/relationships/image" Target="../media/image49.svg"/><Relationship Id="rId16" Type="http://schemas.openxmlformats.org/officeDocument/2006/relationships/image" Target="../media/image48.png"/><Relationship Id="rId15" Type="http://schemas.openxmlformats.org/officeDocument/2006/relationships/image" Target="../media/image6.png"/><Relationship Id="rId14" Type="http://schemas.openxmlformats.org/officeDocument/2006/relationships/tags" Target="../tags/tag260.xml"/><Relationship Id="rId13" Type="http://schemas.openxmlformats.org/officeDocument/2006/relationships/tags" Target="../tags/tag259.xml"/><Relationship Id="rId12" Type="http://schemas.openxmlformats.org/officeDocument/2006/relationships/tags" Target="../tags/tag258.xml"/><Relationship Id="rId11" Type="http://schemas.openxmlformats.org/officeDocument/2006/relationships/tags" Target="../tags/tag257.xml"/><Relationship Id="rId10" Type="http://schemas.openxmlformats.org/officeDocument/2006/relationships/tags" Target="../tags/tag256.xml"/><Relationship Id="rId1" Type="http://schemas.openxmlformats.org/officeDocument/2006/relationships/chart" Target="../charts/chart8.xml"/></Relationships>
</file>

<file path=ppt/slides/_rels/slide30.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image" Target="../media/image59.svg"/><Relationship Id="rId7" Type="http://schemas.openxmlformats.org/officeDocument/2006/relationships/image" Target="../media/image58.png"/><Relationship Id="rId6" Type="http://schemas.openxmlformats.org/officeDocument/2006/relationships/tags" Target="../tags/tag263.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6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69.svg"/><Relationship Id="rId21" Type="http://schemas.openxmlformats.org/officeDocument/2006/relationships/image" Target="../media/image68.png"/><Relationship Id="rId20" Type="http://schemas.openxmlformats.org/officeDocument/2006/relationships/tags" Target="../tags/tag266.xml"/><Relationship Id="rId2" Type="http://schemas.openxmlformats.org/officeDocument/2006/relationships/tags" Target="../tags/tag261.xml"/><Relationship Id="rId19" Type="http://schemas.openxmlformats.org/officeDocument/2006/relationships/image" Target="../media/image67.svg"/><Relationship Id="rId18" Type="http://schemas.openxmlformats.org/officeDocument/2006/relationships/image" Target="../media/image66.png"/><Relationship Id="rId17" Type="http://schemas.openxmlformats.org/officeDocument/2006/relationships/image" Target="../media/image65.svg"/><Relationship Id="rId16" Type="http://schemas.openxmlformats.org/officeDocument/2006/relationships/image" Target="../media/image64.png"/><Relationship Id="rId15" Type="http://schemas.openxmlformats.org/officeDocument/2006/relationships/tags" Target="../tags/tag265.xml"/><Relationship Id="rId14" Type="http://schemas.openxmlformats.org/officeDocument/2006/relationships/image" Target="../media/image63.svg"/><Relationship Id="rId13" Type="http://schemas.openxmlformats.org/officeDocument/2006/relationships/image" Target="../media/image62.png"/><Relationship Id="rId12" Type="http://schemas.openxmlformats.org/officeDocument/2006/relationships/tags" Target="../tags/tag264.xml"/><Relationship Id="rId11" Type="http://schemas.openxmlformats.org/officeDocument/2006/relationships/image" Target="../media/image14.png"/><Relationship Id="rId10" Type="http://schemas.openxmlformats.org/officeDocument/2006/relationships/image" Target="../media/image61.svg"/><Relationship Id="rId1" Type="http://schemas.openxmlformats.org/officeDocument/2006/relationships/chart" Target="../charts/char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安全水位提升</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{{company}}&amp;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目标与协作机制回顾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正文"/>
          <p:cNvSpPr txBox="1"/>
          <p:nvPr>
            <p:custDataLst>
              <p:tags r:id="rId4"/>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重要时期防守保障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11" name="椭圆 10"/>
          <p:cNvSpPr/>
          <p:nvPr>
            <p:custDataLst>
              <p:tags r:id="rId5"/>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 name="3" descr="斗争"/>
          <p:cNvPicPr>
            <a:picLocks noChangeAspect="1"/>
          </p:cNvPicPr>
          <p:nvPr>
            <p:custDataLst>
              <p:tags r:id="rId6"/>
            </p:custDataLst>
          </p:nvPr>
        </p:nvPicPr>
        <p:blipFill>
          <a:blip r:embed="rId7">
            <a:extLst>
              <a:ext uri="{96DAC541-7B7A-43D3-8B79-37D633B846F1}">
                <asvg:svgBlip xmlns:asvg="http://schemas.microsoft.com/office/drawing/2016/SVG/main" r:embed="rId8"/>
              </a:ext>
            </a:extLst>
          </a:blip>
          <a:srcRect/>
          <a:stretch>
            <a:fillRect/>
          </a:stretch>
        </p:blipFill>
        <p:spPr>
          <a:xfrm>
            <a:off x="9561356" y="2787604"/>
            <a:ext cx="270553" cy="270553"/>
          </a:xfrm>
          <a:prstGeom prst="rect">
            <a:avLst/>
          </a:prstGeom>
        </p:spPr>
      </p:pic>
      <p:sp>
        <p:nvSpPr>
          <p:cNvPr id="4" name="矩形 3"/>
          <p:cNvSpPr/>
          <p:nvPr>
            <p:custDataLst>
              <p:tags r:id="rId9"/>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 name="正文"/>
          <p:cNvSpPr txBox="1"/>
          <p:nvPr>
            <p:custDataLst>
              <p:tags r:id="rId10"/>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8" name="椭圆 7"/>
          <p:cNvSpPr/>
          <p:nvPr>
            <p:custDataLst>
              <p:tags r:id="rId11"/>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9" name="2" descr="盾牌"/>
          <p:cNvPicPr>
            <a:picLocks noChangeAspect="1"/>
          </p:cNvPicPr>
          <p:nvPr>
            <p:custDataLst>
              <p:tags r:id="rId12"/>
            </p:custDataLst>
          </p:nvPr>
        </p:nvPicPr>
        <p:blipFill>
          <a:blip r:embed="rId13">
            <a:extLst>
              <a:ext uri="{96DAC541-7B7A-43D3-8B79-37D633B846F1}">
                <asvg:svgBlip xmlns:asvg="http://schemas.microsoft.com/office/drawing/2016/SVG/main" r:embed="rId14"/>
              </a:ext>
            </a:extLst>
          </a:blip>
          <a:srcRect/>
          <a:stretch>
            <a:fillRect/>
          </a:stretch>
        </p:blipFill>
        <p:spPr>
          <a:xfrm>
            <a:off x="5939937" y="2514042"/>
            <a:ext cx="280741" cy="280741"/>
          </a:xfrm>
          <a:prstGeom prst="rect">
            <a:avLst/>
          </a:prstGeom>
        </p:spPr>
      </p:pic>
      <p:sp>
        <p:nvSpPr>
          <p:cNvPr id="10" name="正文"/>
          <p:cNvSpPr txBox="1"/>
          <p:nvPr>
            <p:custDataLst>
              <p:tags r:id="rId15"/>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18" name="椭圆 17"/>
          <p:cNvSpPr/>
          <p:nvPr>
            <p:custDataLst>
              <p:tags r:id="rId16"/>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51" name="1" descr="审核"/>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2327934" y="2802630"/>
            <a:ext cx="272817" cy="272817"/>
          </a:xfrm>
          <a:prstGeom prst="rect">
            <a:avLst/>
          </a:prstGeom>
        </p:spPr>
      </p:pic>
      <p:sp>
        <p:nvSpPr>
          <p:cNvPr id="19" name="矩形 18"/>
          <p:cNvSpPr/>
          <p:nvPr>
            <p:custDataLst>
              <p:tags r:id="rId20"/>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0" name="矩形 19"/>
          <p:cNvSpPr/>
          <p:nvPr>
            <p:custDataLst>
              <p:tags r:id="rId21"/>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93" name="圆角矩形 692"/>
          <p:cNvSpPr/>
          <p:nvPr>
            <p:custDataLst>
              <p:tags r:id="rId22"/>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marL="0" indent="0" algn="ctr">
              <a:lnSpc>
                <a:spcPct val="150000"/>
              </a:lnSpc>
              <a:buNone/>
            </a:pP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在国家及行业网络安全安全实战效果要求越来越高，外部网络安全态势愈加严峻多变的时代背景下。为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共同构建</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起</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以</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保护</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核心业务系统安全稳定运行</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为中心的</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主动防御、持续监测、快速响应的全面安全运营体系，为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的数字化转型保驾护航。</a:t>
            </a:r>
            <a:endParaRPr lang="en-US" altLang="en-US" sz="1200" b="1" dirty="0">
              <a:solidFill>
                <a:schemeClr val="tx1"/>
              </a:solidFill>
              <a:uFillTx/>
              <a:latin typeface="Arial" panose="020B0604020202020204" pitchFamily="34" charset="0"/>
              <a:ea typeface="黑体-简" panose="02000000000000000000" charset="-122"/>
              <a:cs typeface="Calibri" panose="020F0502020204030204" pitchFamily="34" charset="-120"/>
              <a:sym typeface="+mn-ea"/>
            </a:endParaRPr>
          </a:p>
        </p:txBody>
      </p:sp>
      <p:pic>
        <p:nvPicPr>
          <p:cNvPr id="705" name="图片 704" descr="1755071818846"/>
          <p:cNvPicPr/>
          <p:nvPr/>
        </p:nvPicPr>
        <p:blipFill>
          <a:blip r:embed="rId23"/>
          <a:stretch>
            <a:fillRect/>
          </a:stretch>
        </p:blipFill>
        <p:spPr>
          <a:xfrm>
            <a:off x="669608" y="6019800"/>
            <a:ext cx="10800000" cy="502285"/>
          </a:xfrm>
          <a:prstGeom prst="rect">
            <a:avLst/>
          </a:prstGeom>
        </p:spPr>
      </p:pic>
      <p:sp>
        <p:nvSpPr>
          <p:cNvPr id="706" name="文本框 705"/>
          <p:cNvSpPr txBox="1"/>
          <p:nvPr/>
        </p:nvSpPr>
        <p:spPr>
          <a:xfrm>
            <a:off x="859155" y="6052185"/>
            <a:ext cx="1057529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32" name="正文"/>
          <p:cNvSpPr txBox="1"/>
          <p:nvPr>
            <p:custDataLst>
              <p:tags r:id="rId24"/>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15" name="正文"/>
          <p:cNvSpPr txBox="1"/>
          <p:nvPr>
            <p:custDataLst>
              <p:tags r:id="rId25"/>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3" name="正文"/>
          <p:cNvSpPr txBox="1"/>
          <p:nvPr>
            <p:custDataLst>
              <p:tags r:id="rId2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提升攻防演练场景</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的防守保障能力，助力单位安全水平通过实战检验</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4462780" cy="327025"/>
            <a:chOff x="533" y="646"/>
            <a:chExt cx="7028"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机制</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我们共同的工作成果总结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7" name="组合 6"/>
          <p:cNvGrpSpPr/>
          <p:nvPr/>
        </p:nvGrpSpPr>
        <p:grpSpPr>
          <a:xfrm rot="0">
            <a:off x="852170" y="998855"/>
            <a:ext cx="10556240" cy="961390"/>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 name="文本框 1"/>
          <p:cNvSpPr txBox="1"/>
          <p:nvPr/>
        </p:nvSpPr>
        <p:spPr>
          <a:xfrm>
            <a:off x="1600835" y="1070610"/>
            <a:ext cx="9096376" cy="775970"/>
          </a:xfrm>
          <a:prstGeom prst="rect">
            <a:avLst/>
          </a:prstGeom>
          <a:noFill/>
        </p:spPr>
        <p:txBody>
          <a:bodyPr wrap="square" rtlCol="0" anchor="ctr"/>
          <a:lstStyle/>
          <a:p>
            <a:pPr algn="ctr">
              <a:lnSpc>
                <a:spcPct val="130000"/>
              </a:lnSpc>
            </a:pPr>
            <a:r>
              <a:rPr lang="zh-CN" altLang="en-US" sz="1200" dirty="0">
                <a:latin typeface="Arial" panose="020B0604020202020204" pitchFamily="34" charset="0"/>
                <a:ea typeface="黑体-简" panose="02000000000000000000" charset="-122"/>
              </a:rPr>
              <a:t>主动发现核心业务系统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{{risk_total}}</a:t>
            </a:r>
            <a:r>
              <a:rPr lang="zh-CN" altLang="en-US" sz="1200" dirty="0">
                <a:latin typeface="Arial" panose="020B0604020202020204" pitchFamily="34" charset="0"/>
                <a:ea typeface="黑体-简" panose="02000000000000000000" charset="-122"/>
              </a:rPr>
              <a:t>个安全风险，并协同闭环；</a:t>
            </a:r>
            <a:endParaRPr lang="zh-CN" altLang="en-US" sz="1200" dirty="0">
              <a:latin typeface="Arial" panose="020B0604020202020204" pitchFamily="34" charset="0"/>
              <a:ea typeface="黑体-简" panose="02000000000000000000" charset="-122"/>
            </a:endParaRPr>
          </a:p>
          <a:p>
            <a:pPr algn="ctr">
              <a:lnSpc>
                <a:spcPct val="130000"/>
              </a:lnSpc>
            </a:pPr>
            <a:r>
              <a:rPr lang="zh-CN" altLang="en-US" sz="1200" dirty="0">
                <a:latin typeface="Arial" panose="020B0604020202020204" pitchFamily="34" charset="0"/>
                <a:ea typeface="黑体-简" panose="02000000000000000000" charset="-122"/>
              </a:rPr>
              <a:t>快速识别并遏制了针对</a:t>
            </a:r>
            <a:r>
              <a:rPr lang="zh-CN" altLang="en-US" sz="1200" dirty="0">
                <a:latin typeface="Arial" panose="020B0604020202020204" pitchFamily="34" charset="0"/>
                <a:ea typeface="黑体-简" panose="02000000000000000000" charset="-122"/>
                <a:sym typeface="+mn-ea"/>
              </a:rPr>
              <a:t>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sym typeface="+mn-ea"/>
              </a:rPr>
              <a:t>的</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次潜在业务损失；</a:t>
            </a:r>
            <a:r>
              <a:rPr lang="en-US" sz="1200">
                <a:latin typeface="Arial" panose="020B0604020202020204" pitchFamily="34" charset="0"/>
                <a:ea typeface="黑体-简" panose="02000000000000000000" charset="-122"/>
                <a:cs typeface="Songti SC" panose="02010800040101010101" charset="-122"/>
                <a:sym typeface="Noto Sans SC"/>
              </a:rPr>
              <a:t>保障研发/生产/</a:t>
            </a:r>
            <a:r>
              <a:rPr lang="zh-CN" altLang="en-US" sz="1200">
                <a:latin typeface="Arial" panose="020B0604020202020204" pitchFamily="34" charset="0"/>
                <a:ea typeface="黑体-简" panose="02000000000000000000" charset="-122"/>
                <a:cs typeface="Songti SC" panose="02010800040101010101" charset="-122"/>
                <a:sym typeface="Noto Sans SC"/>
              </a:rPr>
              <a:t>办公</a:t>
            </a:r>
            <a:r>
              <a:rPr lang="en-US" altLang="zh-CN" sz="1200">
                <a:latin typeface="Arial" panose="020B0604020202020204" pitchFamily="34" charset="0"/>
                <a:ea typeface="黑体-简" panose="02000000000000000000" charset="-122"/>
                <a:cs typeface="Songti SC" panose="02010800040101010101" charset="-122"/>
                <a:sym typeface="Noto Sans SC"/>
              </a:rPr>
              <a:t>/</a:t>
            </a:r>
            <a:r>
              <a:rPr lang="en-US" sz="1200">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Tree>
    <p:custDataLst>
      <p:tags r:id="rId24"/>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9"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graphicFrame>
        <p:nvGraphicFramePr>
          <p:cNvPr id="47" name="表格 46"/>
          <p:cNvGraphicFramePr/>
          <p:nvPr>
            <p:custDataLst>
              <p:tags r:id="rId4"/>
            </p:custDataLst>
          </p:nvPr>
        </p:nvGraphicFramePr>
        <p:xfrm>
          <a:off x="6257290" y="1151890"/>
          <a:ext cx="5535295" cy="5471795"/>
        </p:xfrm>
        <a:graphic>
          <a:graphicData uri="http://schemas.openxmlformats.org/drawingml/2006/table">
            <a:tbl>
              <a:tblPr firstRow="1" lastCol="1" bandCol="1">
                <a:tableStyleId>{0126E9F6-41A6-44B7-8387-491034A24550}</a:tableStyleId>
              </a:tblPr>
              <a:tblGrid>
                <a:gridCol w="883285"/>
                <a:gridCol w="4652010"/>
              </a:tblGrid>
              <a:tr h="85153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l">
                        <a:lnSpc>
                          <a:spcPct val="150000"/>
                        </a:lnSpc>
                        <a:buClrTx/>
                        <a:buSzTx/>
                        <a:buFontTx/>
                        <a:buNone/>
                      </a:pPr>
                      <a:r>
                        <a:rPr lang="zh-CN" altLang="en-US" sz="1200">
                          <a:solidFill>
                            <a:schemeClr val="tx1"/>
                          </a:solidFill>
                          <a:latin typeface="Heiti SC Light" panose="02000000000000000000" charset="-122"/>
                          <a:ea typeface="Heiti SC Light" panose="02000000000000000000" charset="-122"/>
                          <a:sym typeface="+mn-ea"/>
                        </a:rPr>
                        <a:t>漏洞利用攻击如果未及时发现和对抗，可能导致核心系统敏感数据泄露、主机被控挖矿、数据勒索加密等重大</a:t>
                      </a:r>
                      <a:r>
                        <a:rPr lang="zh-CN" altLang="en-US" sz="1200">
                          <a:solidFill>
                            <a:schemeClr val="tx1"/>
                          </a:solidFill>
                          <a:latin typeface="Heiti SC Light" panose="02000000000000000000" charset="-122"/>
                          <a:ea typeface="Heiti SC Light" panose="02000000000000000000" charset="-122"/>
                          <a:sym typeface="+mn-ea"/>
                        </a:rPr>
                        <a:t>危害事件</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12014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buNone/>
                      </a:pPr>
                      <a:r>
                        <a:rPr lang="en-US" altLang="zh-CN" sz="1200">
                          <a:solidFill>
                            <a:srgbClr val="FF0000"/>
                          </a:solidFill>
                          <a:latin typeface="Arial" panose="020B0604020202020204" pitchFamily="34" charset="0"/>
                          <a:ea typeface="黑体-简" panose="02000000000000000000" charset="-122"/>
                          <a:sym typeface="+mn-ea"/>
                        </a:rPr>
                        <a:t>2</a:t>
                      </a:r>
                      <a:r>
                        <a:rPr lang="zh-CN" altLang="en-US" sz="1200">
                          <a:solidFill>
                            <a:srgbClr val="FF0000"/>
                          </a:solidFill>
                          <a:latin typeface="Arial" panose="020B0604020202020204" pitchFamily="34" charset="0"/>
                          <a:ea typeface="黑体-简" panose="02000000000000000000" charset="-122"/>
                          <a:sym typeface="+mn-ea"/>
                        </a:rPr>
                        <a:t>个高危可利用漏洞</a:t>
                      </a:r>
                      <a:r>
                        <a:rPr lang="en-US" altLang="zh-CN" sz="1200">
                          <a:solidFill>
                            <a:srgbClr val="FF0000"/>
                          </a:solidFill>
                          <a:latin typeface="Arial" panose="020B0604020202020204" pitchFamily="34" charset="0"/>
                          <a:ea typeface="黑体-简" panose="02000000000000000000" charset="-122"/>
                          <a:sym typeface="+mn-ea"/>
                        </a:rPr>
                        <a:t>*100</a:t>
                      </a:r>
                      <a:r>
                        <a:rPr lang="zh-CN" altLang="en-US" sz="1200">
                          <a:solidFill>
                            <a:srgbClr val="FF0000"/>
                          </a:solidFill>
                          <a:latin typeface="Arial" panose="020B0604020202020204" pitchFamily="34" charset="0"/>
                          <a:ea typeface="黑体-简" panose="02000000000000000000" charset="-122"/>
                          <a:sym typeface="+mn-ea"/>
                        </a:rPr>
                        <a:t>万元</a:t>
                      </a:r>
                      <a:r>
                        <a:rPr lang="en-US" altLang="zh-CN" sz="1200">
                          <a:solidFill>
                            <a:srgbClr val="FF0000"/>
                          </a:solidFill>
                          <a:latin typeface="Arial" panose="020B0604020202020204" pitchFamily="34" charset="0"/>
                          <a:ea typeface="黑体-简" panose="02000000000000000000" charset="-122"/>
                          <a:sym typeface="+mn-ea"/>
                        </a:rPr>
                        <a:t>≈200</a:t>
                      </a:r>
                      <a:r>
                        <a:rPr lang="zh-CN" altLang="en-US" sz="1200">
                          <a:solidFill>
                            <a:srgbClr val="FF0000"/>
                          </a:solidFill>
                          <a:latin typeface="Arial" panose="020B0604020202020204" pitchFamily="34" charset="0"/>
                          <a:ea typeface="黑体-简" panose="02000000000000000000" charset="-122"/>
                          <a:sym typeface="+mn-ea"/>
                        </a:rPr>
                        <a:t>万元</a:t>
                      </a:r>
                      <a:endParaRPr lang="zh-CN" altLang="en-US" sz="1200">
                        <a:solidFill>
                          <a:srgbClr val="FF0000"/>
                        </a:solidFill>
                        <a:latin typeface="Arial" panose="020B0604020202020204" pitchFamily="34" charset="0"/>
                        <a:ea typeface="黑体-简"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（基于行业公开事例评估测算，单个漏洞利用攻击入侵成功导致的平均安全损失约</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5001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defTabSz="914400">
                        <a:lnSpc>
                          <a:spcPct val="150000"/>
                        </a:lnSpc>
                        <a:buClrTx/>
                        <a:buSzTx/>
                        <a:buFont typeface="+mj-lt"/>
                        <a:buNone/>
                      </a:pP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当前规模化的</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RaaS</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攻击手段主要探测识别</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1DAY</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高危可利用漏洞后进行自动化利用攻击</a:t>
                      </a:r>
                      <a:endParaRPr lang="en-US" altLang="zh-CN" sz="1200" b="1"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捷豹路虎遭勒索攻击致全球系统瘫痪</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日期：</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2025.9 </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至</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2025.10.8</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事件概要：</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"Scattered Lapsus$ Hunters"</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黑客组织利用</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SAP NetWeaver</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CVE-2025-31324</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）远程执行漏洞入侵内部网络，部署勒索软件并窃取数据。</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影响描述：全球</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IT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系统关闭，生产、销售、售后服务全面瘫痪；</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33,000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名员工被安排休假；财务损失达</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1.96</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亿英镑；</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月</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8</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日才完成系统重启。</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基于</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国内安全咨询机构及厂商综合披露的数据显示，国内政企勒索支付的中位数为</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100</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2" name="Text 1"/>
          <p:cNvSpPr/>
          <p:nvPr/>
        </p:nvSpPr>
        <p:spPr>
          <a:xfrm>
            <a:off x="431165" y="115125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主机存在动态脚本上传成功</a:t>
            </a:r>
            <a:endParaRPr lang="en-US"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4" name="Text 2"/>
          <p:cNvSpPr/>
          <p:nvPr/>
        </p:nvSpPr>
        <p:spPr>
          <a:xfrm>
            <a:off x="431165" y="172720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rPr>
              <a:t>攻击者通过文件上传漏洞，成功上传脚本文件，尝试执行脚本文件获取服务器权限</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200" b="1"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en-US" sz="1200" b="1" dirty="0">
                <a:solidFill>
                  <a:schemeClr val="tx1"/>
                </a:solidFill>
                <a:latin typeface="Heiti SC Light" panose="02000000000000000000" charset="-122"/>
                <a:ea typeface="Heiti SC Light" panose="02000000000000000000" charset="-122"/>
                <a:cs typeface="Heiti SC Light" panose="02000000000000000000" charset="-122"/>
              </a:rPr>
              <a:t>发现时间</a:t>
            </a: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2025-10-29 18:19:26</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应用</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服务器</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存在</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文件上传</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漏洞</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如未</a:t>
            </a:r>
            <a:r>
              <a:rPr lang="zh-CN" sz="1200" b="1" dirty="0">
                <a:solidFill>
                  <a:srgbClr val="14161A"/>
                </a:solidFill>
                <a:latin typeface="Heiti SC Light" panose="02000000000000000000" charset="-122"/>
                <a:ea typeface="Heiti SC Light" panose="02000000000000000000" charset="-122"/>
                <a:cs typeface="Heiti SC Light" panose="02000000000000000000" charset="-122"/>
                <a:sym typeface="+mn-ea"/>
              </a:rPr>
              <a:t>发现脚本落盘和攻击动向</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可</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直接控制服务器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执行命令，对</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收银业务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数据窃取甚至进一步投放勒索病毒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，从而导致</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集团出现</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信息泄露、业务中断以及数据被加密</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的状况，进一步造成</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资金</a:t>
            </a:r>
            <a:r>
              <a:rPr lang="en-US" altLang="zh-CN" sz="1200" b="1" dirty="0">
                <a:solidFill>
                  <a:srgbClr val="FF0000"/>
                </a:solidFill>
                <a:latin typeface="Heiti SC Light" panose="02000000000000000000" charset="-122"/>
                <a:ea typeface="Heiti SC Light" panose="02000000000000000000" charset="-122"/>
                <a:cs typeface="Heiti SC Light" panose="02000000000000000000" charset="-122"/>
              </a:rPr>
              <a:t>/ </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名誉损失和监管单位通报处罚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等；</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攻击行为的</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阻断和处置加固及时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，将</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影响范围限制在单台业务服务器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且</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未造成损失，未影响其它业务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云端服务经理：发现告警后对事件完成分析定性和通报预警，</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封堵恶意IP</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完成攻击抑制；应急响应，开展紧急溯源分析和处置；</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rPr>
              <a:t>对接人称呼</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zh-CN" sz="1200" dirty="0">
                <a:solidFill>
                  <a:schemeClr val="tx1"/>
                </a:solidFill>
                <a:latin typeface="Heiti SC Light" panose="02000000000000000000" charset="-122"/>
                <a:ea typeface="Heiti SC Light" panose="02000000000000000000" charset="-122"/>
                <a:cs typeface="Heiti SC Light" panose="02000000000000000000" charset="-122"/>
              </a:rPr>
              <a:t>结合业务判断审核事件属性，决策处置策略</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对主机的恶意脚本文件进行清除；同步开展漏洞加固，通过</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配置防护策略，针对性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完成风险闭环</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pic>
        <p:nvPicPr>
          <p:cNvPr id="5" name="Image 0" descr="/opt/sangfor/app/report-generation/soar/apps/report_generation/front/threat-management-report/static/images/quarterly-report/event-manage/finished.png"/>
          <p:cNvPicPr>
            <a:picLocks noChangeAspect="1"/>
          </p:cNvPicPr>
          <p:nvPr/>
        </p:nvPicPr>
        <p:blipFill>
          <a:blip r:embed="rId5"/>
          <a:stretch>
            <a:fillRect/>
          </a:stretch>
        </p:blipFill>
        <p:spPr>
          <a:xfrm>
            <a:off x="4911344" y="4854448"/>
            <a:ext cx="1088136" cy="877824"/>
          </a:xfrm>
          <a:prstGeom prst="rect">
            <a:avLst/>
          </a:prstGeom>
        </p:spPr>
      </p:pic>
      <p:sp>
        <p:nvSpPr>
          <p:cNvPr id="6"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8" name="文本框 7"/>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感染银狐病毒进行内网传播</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攻击者通过伪造盗版谷歌浏览器，诱导员工下载安装从而植入银狐木马，通过</a:t>
            </a:r>
            <a:r>
              <a:rPr lang="en-US" altLang="zh-CN" sz="1200" b="1" dirty="0">
                <a:solidFill>
                  <a:srgbClr val="14161A"/>
                </a:solidFill>
                <a:latin typeface="Heiti SC Medium" panose="02000000000000000000" charset="-122"/>
                <a:ea typeface="Heiti SC Medium" panose="02000000000000000000" charset="-122"/>
                <a:cs typeface="Heiti SC Medium" panose="02000000000000000000" charset="-122"/>
              </a:rPr>
              <a:t>OA</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系统进行横向传播。</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终端电脑</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rPr>
              <a:t>感染银狐病毒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后</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，攻击者可控制该PC通过即时通讯软件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（微信等）</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或办公OA系统进行钓鱼从而</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无差别</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骗取</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钱财或投放勒索病毒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影响员工乃至单位领导的正常办公并造成个人损失</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攻击者控制该电脑主机</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通过</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OA向集团</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员工</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批量</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发送了钓鱼邮件</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，单位内部存在</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部分员工访问钓鱼链接遭受风险</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，最终</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通过</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快速的应急排查和处置闭环规避了损失</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应急响应专家对该中招</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进行排查和攻击路径分析溯源，协助线下找到并清除了木马文件，快速定位了中招原因</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和攻击路径</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sz="1200" dirty="0">
                <a:latin typeface="Heiti SC Light" panose="02000000000000000000" charset="-122"/>
                <a:ea typeface="Heiti SC Light" panose="02000000000000000000" charset="-122"/>
                <a:cs typeface="Heiti SC Light" panose="02000000000000000000" charset="-122"/>
                <a:sym typeface="+mn-ea"/>
              </a:rPr>
              <a:t>协助快速定位到事发主机，决策处置预案；</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2"/>
          <a:stretch>
            <a:fillRect/>
          </a:stretch>
        </p:blipFill>
        <p:spPr>
          <a:xfrm>
            <a:off x="4544314" y="4698238"/>
            <a:ext cx="1088136" cy="877824"/>
          </a:xfrm>
          <a:prstGeom prst="rect">
            <a:avLst/>
          </a:prstGeom>
        </p:spPr>
      </p:pic>
      <p:graphicFrame>
        <p:nvGraphicFramePr>
          <p:cNvPr id="47" name="表格 46"/>
          <p:cNvGraphicFramePr/>
          <p:nvPr>
            <p:custDataLst>
              <p:tags r:id="rId3"/>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年，银狐木马以远程控制</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财务诈骗</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数据窃取为主，非传统勒索加密，但造成企业直接经济损失超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亿元、受害企事业单位超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1000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家，以下为权威披露的典型高损失案例：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杭州某跨境电商（</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月，损失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800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攻击路径：伪装成银行账户年审通知约鱼邮件，财务电脑中招，木马潜伏两周，</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作案手法：监控微信聊天，自动篡改指令：将财务汇报的</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暂不付款”</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篡改为“</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立即支付”，并伪造老板</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已阅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回复。</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分钟内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800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万货款转至境外账户，追回难度极大。</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来源：浙江警方（</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年经济犯罪典型案例）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pic>
        <p:nvPicPr>
          <p:cNvPr id="23" name="图片 22" descr="深信服 + 智安全"/>
          <p:cNvPicPr>
            <a:picLocks noChangeAspect="1"/>
          </p:cNvPicPr>
          <p:nvPr/>
        </p:nvPicPr>
        <p:blipFill>
          <a:blip r:embed="rId1"/>
          <a:srcRect l="5232" t="26576" r="4938" b="29565"/>
          <a:stretch>
            <a:fillRect/>
          </a:stretch>
        </p:blipFill>
        <p:spPr>
          <a:xfrm>
            <a:off x="10144125" y="365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4"/>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5"/>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风险预防</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监控系统存在未授权访问</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漏洞</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通过监测分析，识别出监控系统存在未授权访问漏洞，经验证攻击者可以利用此漏洞直接控制单位公共区域摄像头，窃取国家机密</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信息。</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风险危害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：监控系统可被未经授权即可被访问，控制园区摄像头，窃取国家机密信息，一旦泄露将会导致组织面临国家安全部门处罚</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：监控系统被控制，</a:t>
            </a:r>
            <a:r>
              <a:rPr lang="zh-CN" altLang="en-US" sz="1200" b="1" dirty="0">
                <a:latin typeface="Heiti SC Light" panose="02000000000000000000" charset="-122"/>
                <a:ea typeface="Heiti SC Light" panose="02000000000000000000" charset="-122"/>
                <a:cs typeface="Heiti SC Light" panose="02000000000000000000" charset="-122"/>
              </a:rPr>
              <a:t>敏感信息窃取</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发现漏洞之后立即同步到服务群，并验证漏洞利用危害，提供漏洞防护和加固建议方案，通过边界防火墙</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设备；</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：创建漏洞通告工单，分发给业务负责人，同步督促业务方开展漏洞整改加固</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544314" y="4698238"/>
            <a:ext cx="1088136" cy="877824"/>
          </a:xfrm>
          <a:prstGeom prst="rect">
            <a:avLst/>
          </a:prstGeom>
        </p:spPr>
      </p:pic>
      <p:graphicFrame>
        <p:nvGraphicFramePr>
          <p:cNvPr id="47" name="表格 46"/>
          <p:cNvGraphicFramePr/>
          <p:nvPr>
            <p:custDataLst>
              <p:tags r:id="rId5"/>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2024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上海某央企子公司单位，接收到国家安全部门通报，单位某处摄像头监控画面被泄露到外网，引起国家安全部门高度重视，对应企业相关人员连夜摸排，最终确认为下属单位部署的监控系统存在越权漏洞，被境外黑客利用，控制摄像头监控画面传输到外网，涉嫌泄露机密信息，经过大量的调查分析，摸排自监控系统上线以来的所有监控画面，确认没有拍到敏感信息画面，才得以平息</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事态。</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事件影响：该企业被国家安全部门严肃通告，未履行好企业信息安全保护基本职责，一旦被境外势力利用，单位负责人将涉嫌泄露国家机密信息、危害国家安全</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罪</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选择跟保护核心业务相关，并且跟用户共同协作完成处置的典型风险</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预防样例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降低通报影响，避免追责</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漏洞主动发现和修复，恶意外联实时监测</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阻断</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{{protected_vulnerability_count}}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4"/>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5"/>
          <a:stretch>
            <a:fillRect/>
          </a:stretch>
        </p:blipFill>
        <p:spPr>
          <a:xfrm>
            <a:off x="6339840" y="3027680"/>
            <a:ext cx="5069205" cy="2606675"/>
          </a:xfrm>
          <a:prstGeom prst="rect">
            <a:avLst/>
          </a:prstGeom>
        </p:spPr>
      </p:pic>
      <p:cxnSp>
        <p:nvCxnSpPr>
          <p:cNvPr id="49" name="直接箭头连接符 48"/>
          <p:cNvCxnSpPr/>
          <p:nvPr>
            <p:custDataLst>
              <p:tags r:id="rId6"/>
            </p:custDataLst>
          </p:nvPr>
        </p:nvCxnSpPr>
        <p:spPr>
          <a:xfrm>
            <a:off x="3528878" y="3280047"/>
            <a:ext cx="1979930" cy="0"/>
          </a:xfrm>
          <a:prstGeom prst="straightConnector1">
            <a:avLst/>
          </a:prstGeom>
          <a:ln w="15875">
            <a:gradFill>
              <a:gsLst>
                <a:gs pos="0">
                  <a:schemeClr val="accent5">
                    <a:lumMod val="20000"/>
                    <a:lumOff val="80000"/>
                    <a:alpha val="21000"/>
                  </a:schemeClr>
                </a:gs>
                <a:gs pos="94000">
                  <a:schemeClr val="accent5">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4" name="直接箭头连接符 53"/>
          <p:cNvCxnSpPr/>
          <p:nvPr>
            <p:custDataLst>
              <p:tags r:id="rId7"/>
            </p:custDataLst>
          </p:nvPr>
        </p:nvCxnSpPr>
        <p:spPr>
          <a:xfrm>
            <a:off x="3285002" y="3916952"/>
            <a:ext cx="2160905" cy="0"/>
          </a:xfrm>
          <a:prstGeom prst="straightConnector1">
            <a:avLst/>
          </a:prstGeom>
          <a:ln w="15875">
            <a:gradFill>
              <a:gsLst>
                <a:gs pos="0">
                  <a:schemeClr val="accent6">
                    <a:lumMod val="20000"/>
                    <a:lumOff val="80000"/>
                    <a:alpha val="21000"/>
                  </a:schemeClr>
                </a:gs>
                <a:gs pos="94000">
                  <a:schemeClr val="accent6">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2" name="直接箭头连接符 1"/>
          <p:cNvCxnSpPr/>
          <p:nvPr>
            <p:custDataLst>
              <p:tags r:id="rId8"/>
            </p:custDataLst>
          </p:nvPr>
        </p:nvCxnSpPr>
        <p:spPr>
          <a:xfrm>
            <a:off x="2769416" y="5190762"/>
            <a:ext cx="2896235" cy="0"/>
          </a:xfrm>
          <a:prstGeom prst="straightConnector1">
            <a:avLst/>
          </a:prstGeom>
          <a:ln w="15875">
            <a:gradFill>
              <a:gsLst>
                <a:gs pos="0">
                  <a:schemeClr val="accent6">
                    <a:lumMod val="20000"/>
                    <a:lumOff val="80000"/>
                    <a:alpha val="21000"/>
                  </a:schemeClr>
                </a:gs>
                <a:gs pos="94000">
                  <a:schemeClr val="accent6">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7" name="直接箭头连接符 56"/>
          <p:cNvCxnSpPr/>
          <p:nvPr>
            <p:custDataLst>
              <p:tags r:id="rId9"/>
            </p:custDataLst>
          </p:nvPr>
        </p:nvCxnSpPr>
        <p:spPr>
          <a:xfrm>
            <a:off x="3026768" y="4553857"/>
            <a:ext cx="2544445" cy="0"/>
          </a:xfrm>
          <a:prstGeom prst="straightConnector1">
            <a:avLst/>
          </a:prstGeom>
          <a:ln w="15875">
            <a:gradFill>
              <a:gsLst>
                <a:gs pos="0">
                  <a:schemeClr val="accent5">
                    <a:lumMod val="20000"/>
                    <a:lumOff val="80000"/>
                    <a:alpha val="21000"/>
                  </a:schemeClr>
                </a:gs>
                <a:gs pos="94000">
                  <a:schemeClr val="accent5">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sp>
        <p:nvSpPr>
          <p:cNvPr id="62" name="梯形 61"/>
          <p:cNvSpPr/>
          <p:nvPr>
            <p:custDataLst>
              <p:tags r:id="rId10"/>
            </p:custDataLst>
          </p:nvPr>
        </p:nvSpPr>
        <p:spPr>
          <a:xfrm rot="10800000">
            <a:off x="953770" y="3176542"/>
            <a:ext cx="2669101" cy="2296710"/>
          </a:xfrm>
          <a:prstGeom prst="trapezoid">
            <a:avLst>
              <a:gd name="adj" fmla="val 44044"/>
            </a:avLst>
          </a:prstGeom>
          <a:gradFill>
            <a:gsLst>
              <a:gs pos="0">
                <a:schemeClr val="accent5">
                  <a:alpha val="0"/>
                </a:schemeClr>
              </a:gs>
              <a:gs pos="40000">
                <a:schemeClr val="accent5">
                  <a:alpha val="30000"/>
                </a:schemeClr>
              </a:gs>
              <a:gs pos="20000">
                <a:schemeClr val="accent5">
                  <a:alpha val="15000"/>
                </a:schemeClr>
              </a:gs>
              <a:gs pos="95000">
                <a:schemeClr val="accent5">
                  <a:alpha val="0"/>
                </a:schemeClr>
              </a:gs>
              <a:gs pos="60000">
                <a:schemeClr val="accent5">
                  <a:alpha val="20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olidFill>
                <a:schemeClr val="lt1"/>
              </a:solidFill>
              <a:sym typeface="+mn-ea"/>
            </a:endParaRPr>
          </a:p>
        </p:txBody>
      </p:sp>
      <p:sp>
        <p:nvSpPr>
          <p:cNvPr id="65" name="梯形 64"/>
          <p:cNvSpPr/>
          <p:nvPr>
            <p:custDataLst>
              <p:tags r:id="rId11"/>
            </p:custDataLst>
          </p:nvPr>
        </p:nvSpPr>
        <p:spPr>
          <a:xfrm rot="10800000">
            <a:off x="1047750" y="3176270"/>
            <a:ext cx="2480945" cy="2732405"/>
          </a:xfrm>
          <a:prstGeom prst="trapezoid">
            <a:avLst>
              <a:gd name="adj" fmla="val 44044"/>
            </a:avLst>
          </a:prstGeom>
          <a:gradFill>
            <a:gsLst>
              <a:gs pos="10000">
                <a:schemeClr val="accent5">
                  <a:alpha val="0"/>
                </a:schemeClr>
              </a:gs>
              <a:gs pos="40000">
                <a:schemeClr val="accent5">
                  <a:alpha val="20000"/>
                </a:schemeClr>
              </a:gs>
              <a:gs pos="20000">
                <a:schemeClr val="accent5">
                  <a:alpha val="15000"/>
                </a:schemeClr>
              </a:gs>
              <a:gs pos="85000">
                <a:schemeClr val="accent5">
                  <a:alpha val="0"/>
                </a:schemeClr>
              </a:gs>
              <a:gs pos="60000">
                <a:schemeClr val="accent5">
                  <a:alpha val="15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olidFill>
                <a:schemeClr val="lt1"/>
              </a:solidFill>
              <a:sym typeface="+mn-ea"/>
            </a:endParaRPr>
          </a:p>
        </p:txBody>
      </p:sp>
      <p:sp>
        <p:nvSpPr>
          <p:cNvPr id="10" name="椭圆 9"/>
          <p:cNvSpPr/>
          <p:nvPr>
            <p:custDataLst>
              <p:tags r:id="rId12"/>
            </p:custDataLst>
          </p:nvPr>
        </p:nvSpPr>
        <p:spPr>
          <a:xfrm>
            <a:off x="1807763" y="5148754"/>
            <a:ext cx="961413" cy="213360"/>
          </a:xfrm>
          <a:prstGeom prst="ellipse">
            <a:avLst/>
          </a:prstGeom>
          <a:noFill/>
          <a:ln w="19050" cap="rnd">
            <a:gradFill flip="none" rotWithShape="1">
              <a:gsLst>
                <a:gs pos="0">
                  <a:schemeClr val="accent5">
                    <a:alpha val="0"/>
                  </a:schemeClr>
                </a:gs>
                <a:gs pos="50000">
                  <a:schemeClr val="accent5">
                    <a:alpha val="10000"/>
                  </a:schemeClr>
                </a:gs>
                <a:gs pos="100000">
                  <a:schemeClr val="accent5">
                    <a:alpha val="5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0" name="椭圆 69"/>
          <p:cNvSpPr/>
          <p:nvPr>
            <p:custDataLst>
              <p:tags r:id="rId13"/>
            </p:custDataLst>
          </p:nvPr>
        </p:nvSpPr>
        <p:spPr>
          <a:xfrm>
            <a:off x="1613958" y="4644564"/>
            <a:ext cx="1349022" cy="278765"/>
          </a:xfrm>
          <a:prstGeom prst="ellipse">
            <a:avLst/>
          </a:prstGeom>
          <a:noFill/>
          <a:ln w="25400" cap="rnd">
            <a:gradFill flip="none" rotWithShape="1">
              <a:gsLst>
                <a:gs pos="0">
                  <a:schemeClr val="accent6">
                    <a:alpha val="0"/>
                  </a:schemeClr>
                </a:gs>
                <a:gs pos="50000">
                  <a:schemeClr val="accent6">
                    <a:alpha val="10000"/>
                  </a:schemeClr>
                </a:gs>
                <a:gs pos="100000">
                  <a:schemeClr val="accent6">
                    <a:alpha val="6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1" name="椭圆 70"/>
          <p:cNvSpPr/>
          <p:nvPr>
            <p:custDataLst>
              <p:tags r:id="rId14"/>
            </p:custDataLst>
          </p:nvPr>
        </p:nvSpPr>
        <p:spPr>
          <a:xfrm>
            <a:off x="1360028" y="4042584"/>
            <a:ext cx="1856883" cy="376555"/>
          </a:xfrm>
          <a:prstGeom prst="ellipse">
            <a:avLst/>
          </a:prstGeom>
          <a:noFill/>
          <a:ln w="31750" cap="rnd">
            <a:gradFill flip="none" rotWithShape="1">
              <a:gsLst>
                <a:gs pos="0">
                  <a:schemeClr val="accent5">
                    <a:alpha val="0"/>
                  </a:schemeClr>
                </a:gs>
                <a:gs pos="50000">
                  <a:schemeClr val="accent5">
                    <a:alpha val="20000"/>
                  </a:schemeClr>
                </a:gs>
                <a:gs pos="100000">
                  <a:schemeClr val="accent5">
                    <a:alpha val="8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dirty="0">
              <a:solidFill>
                <a:schemeClr val="tx1"/>
              </a:solidFill>
            </a:endParaRPr>
          </a:p>
        </p:txBody>
      </p:sp>
      <p:sp>
        <p:nvSpPr>
          <p:cNvPr id="72" name="椭圆 71"/>
          <p:cNvSpPr/>
          <p:nvPr>
            <p:custDataLst>
              <p:tags r:id="rId15"/>
            </p:custDataLst>
          </p:nvPr>
        </p:nvSpPr>
        <p:spPr>
          <a:xfrm>
            <a:off x="1125046" y="3346896"/>
            <a:ext cx="2326847" cy="470263"/>
          </a:xfrm>
          <a:prstGeom prst="ellipse">
            <a:avLst/>
          </a:prstGeom>
          <a:noFill/>
          <a:ln w="38100" cap="rnd">
            <a:gradFill flip="none" rotWithShape="1">
              <a:gsLst>
                <a:gs pos="0">
                  <a:schemeClr val="accent6">
                    <a:alpha val="0"/>
                  </a:schemeClr>
                </a:gs>
                <a:gs pos="50000">
                  <a:schemeClr val="accent6">
                    <a:alpha val="20000"/>
                  </a:schemeClr>
                </a:gs>
                <a:gs pos="100000">
                  <a:schemeClr val="accent6">
                    <a:alpha val="100000"/>
                  </a:schemeClr>
                </a:gs>
              </a:gsLst>
              <a:lin ang="16200000" scaled="1"/>
              <a:tileRect/>
            </a:gradFill>
            <a:prstDash val="lgDash"/>
            <a:round/>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3" name="矩形 72"/>
          <p:cNvSpPr/>
          <p:nvPr>
            <p:custDataLst>
              <p:tags r:id="rId16"/>
            </p:custDataLst>
          </p:nvPr>
        </p:nvSpPr>
        <p:spPr>
          <a:xfrm>
            <a:off x="1229924" y="3044190"/>
            <a:ext cx="2180590" cy="267335"/>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5">
                    <a:alpha val="60000"/>
                  </a:schemeClr>
                </a:solidFill>
                <a:uFillTx/>
                <a:latin typeface="+中文正文" charset="0"/>
                <a:cs typeface="+mn-ea"/>
                <a:sym typeface="+mn-ea"/>
              </a:rPr>
              <a:t>{{critical_period_security_log_count}}</a:t>
            </a:r>
            <a:endParaRPr lang="zh-CN" altLang="en-US" sz="1400" b="1" spc="300" dirty="0">
              <a:solidFill>
                <a:schemeClr val="accent5">
                  <a:alpha val="60000"/>
                </a:schemeClr>
              </a:solidFill>
              <a:uFillTx/>
              <a:latin typeface="+中文正文" charset="0"/>
              <a:cs typeface="+mn-ea"/>
              <a:sym typeface="+mn-ea"/>
            </a:endParaRPr>
          </a:p>
        </p:txBody>
      </p:sp>
      <p:sp>
        <p:nvSpPr>
          <p:cNvPr id="74" name="矩形 73"/>
          <p:cNvSpPr/>
          <p:nvPr>
            <p:custDataLst>
              <p:tags r:id="rId17"/>
            </p:custDataLst>
          </p:nvPr>
        </p:nvSpPr>
        <p:spPr>
          <a:xfrm>
            <a:off x="1417955" y="3771265"/>
            <a:ext cx="1737360" cy="213360"/>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6">
                    <a:alpha val="70000"/>
                  </a:schemeClr>
                </a:solidFill>
                <a:uFillTx/>
                <a:latin typeface="+中文正文" charset="0"/>
                <a:cs typeface="+mn-ea"/>
                <a:sym typeface="+mn-ea"/>
              </a:rPr>
              <a:t>{{critical_period_alert_count}}</a:t>
            </a:r>
            <a:endParaRPr lang="zh-CN" altLang="en-US" sz="1400" b="1" spc="300" dirty="0">
              <a:solidFill>
                <a:schemeClr val="accent6">
                  <a:alpha val="70000"/>
                </a:schemeClr>
              </a:solidFill>
              <a:uFillTx/>
              <a:latin typeface="+中文正文" charset="0"/>
              <a:cs typeface="+mn-ea"/>
              <a:sym typeface="+mn-ea"/>
            </a:endParaRPr>
          </a:p>
          <a:p>
            <a:pPr algn="ctr">
              <a:spcBef>
                <a:spcPct val="0"/>
              </a:spcBef>
              <a:spcAft>
                <a:spcPct val="0"/>
              </a:spcAft>
            </a:pPr>
            <a:endParaRPr lang="zh-CN" altLang="en-US" sz="1400" b="1" spc="300" dirty="0">
              <a:solidFill>
                <a:schemeClr val="accent6">
                  <a:alpha val="70000"/>
                </a:schemeClr>
              </a:solidFill>
              <a:uFillTx/>
              <a:latin typeface="+中文正文" charset="0"/>
              <a:cs typeface="+mn-ea"/>
              <a:sym typeface="+mn-ea"/>
            </a:endParaRPr>
          </a:p>
        </p:txBody>
      </p:sp>
      <p:sp>
        <p:nvSpPr>
          <p:cNvPr id="75" name="矩形 74"/>
          <p:cNvSpPr/>
          <p:nvPr>
            <p:custDataLst>
              <p:tags r:id="rId18"/>
            </p:custDataLst>
          </p:nvPr>
        </p:nvSpPr>
        <p:spPr>
          <a:xfrm>
            <a:off x="1583690" y="4395470"/>
            <a:ext cx="1379220" cy="403860"/>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5">
                    <a:alpha val="70000"/>
                  </a:schemeClr>
                </a:solidFill>
                <a:uFillTx/>
                <a:latin typeface="+中文正文" charset="0"/>
                <a:cs typeface="+mn-ea"/>
                <a:sym typeface="+mn-ea"/>
              </a:rPr>
              <a:t>{{critical_period_incident_count}}</a:t>
            </a:r>
            <a:endParaRPr lang="zh-CN" altLang="en-US" sz="1400" b="1" spc="300" dirty="0">
              <a:solidFill>
                <a:schemeClr val="accent5">
                  <a:alpha val="70000"/>
                </a:schemeClr>
              </a:solidFill>
              <a:uFillTx/>
              <a:latin typeface="+中文正文" charset="0"/>
              <a:cs typeface="+mn-ea"/>
              <a:sym typeface="+mn-ea"/>
            </a:endParaRPr>
          </a:p>
          <a:p>
            <a:pPr algn="ctr">
              <a:spcBef>
                <a:spcPct val="0"/>
              </a:spcBef>
              <a:spcAft>
                <a:spcPct val="0"/>
              </a:spcAft>
            </a:pPr>
            <a:endParaRPr lang="zh-CN" altLang="en-US" sz="1400" b="1" spc="300" dirty="0">
              <a:solidFill>
                <a:schemeClr val="accent5">
                  <a:alpha val="70000"/>
                </a:schemeClr>
              </a:solidFill>
              <a:uFillTx/>
              <a:latin typeface="+中文正文" charset="0"/>
              <a:cs typeface="+mn-ea"/>
              <a:sym typeface="+mn-ea"/>
            </a:endParaRPr>
          </a:p>
        </p:txBody>
      </p:sp>
      <p:sp>
        <p:nvSpPr>
          <p:cNvPr id="76" name="矩形 75"/>
          <p:cNvSpPr/>
          <p:nvPr>
            <p:custDataLst>
              <p:tags r:id="rId19"/>
            </p:custDataLst>
          </p:nvPr>
        </p:nvSpPr>
        <p:spPr>
          <a:xfrm>
            <a:off x="1950720" y="5266690"/>
            <a:ext cx="675640" cy="212725"/>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6">
                    <a:alpha val="80000"/>
                  </a:schemeClr>
                </a:solidFill>
                <a:uFillTx/>
                <a:latin typeface="+中文正文" charset="0"/>
                <a:cs typeface="+mn-ea"/>
                <a:sym typeface="+mn-ea"/>
              </a:rPr>
              <a:t>零</a:t>
            </a:r>
            <a:endParaRPr lang="zh-CN" altLang="en-US" sz="1400" b="1" spc="300" dirty="0">
              <a:solidFill>
                <a:schemeClr val="accent6">
                  <a:alpha val="80000"/>
                </a:schemeClr>
              </a:solidFill>
              <a:uFillTx/>
              <a:latin typeface="+中文正文" charset="0"/>
              <a:cs typeface="+mn-ea"/>
              <a:sym typeface="+mn-ea"/>
            </a:endParaRPr>
          </a:p>
        </p:txBody>
      </p:sp>
      <p:sp>
        <p:nvSpPr>
          <p:cNvPr id="77" name="矩形 76"/>
          <p:cNvSpPr/>
          <p:nvPr>
            <p:custDataLst>
              <p:tags r:id="rId20"/>
            </p:custDataLst>
          </p:nvPr>
        </p:nvSpPr>
        <p:spPr>
          <a:xfrm>
            <a:off x="3528695" y="3378200"/>
            <a:ext cx="2179955" cy="352425"/>
          </a:xfrm>
          <a:prstGeom prst="rect">
            <a:avLst/>
          </a:prstGeom>
          <a:noFill/>
          <a:ln>
            <a:noFill/>
          </a:ln>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安全日志数</a:t>
            </a:r>
            <a:endParaRPr lang="zh-CN" altLang="en-US" sz="1600" kern="0" dirty="0">
              <a:ln>
                <a:noFill/>
                <a:prstDash val="sysDot"/>
              </a:ln>
              <a:solidFill>
                <a:schemeClr val="tx1">
                  <a:lumMod val="85000"/>
                  <a:lumOff val="15000"/>
                </a:schemeClr>
              </a:solidFill>
              <a:latin typeface="+mn-ea"/>
              <a:sym typeface="+mn-ea"/>
            </a:endParaRPr>
          </a:p>
        </p:txBody>
      </p:sp>
      <p:sp>
        <p:nvSpPr>
          <p:cNvPr id="78" name="矩形 77"/>
          <p:cNvSpPr/>
          <p:nvPr>
            <p:custDataLst>
              <p:tags r:id="rId21"/>
            </p:custDataLst>
          </p:nvPr>
        </p:nvSpPr>
        <p:spPr>
          <a:xfrm>
            <a:off x="3284771" y="4039633"/>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安全告警数</a:t>
            </a:r>
            <a:endParaRPr lang="zh-CN" altLang="en-US" sz="1600" kern="0" dirty="0">
              <a:ln>
                <a:noFill/>
                <a:prstDash val="sysDot"/>
              </a:ln>
              <a:solidFill>
                <a:schemeClr val="tx1">
                  <a:lumMod val="85000"/>
                  <a:lumOff val="15000"/>
                </a:schemeClr>
              </a:solidFill>
              <a:latin typeface="+mn-ea"/>
              <a:sym typeface="+mn-ea"/>
            </a:endParaRPr>
          </a:p>
        </p:txBody>
      </p:sp>
      <p:sp>
        <p:nvSpPr>
          <p:cNvPr id="79" name="矩形 78"/>
          <p:cNvSpPr/>
          <p:nvPr>
            <p:custDataLst>
              <p:tags r:id="rId22"/>
            </p:custDataLst>
          </p:nvPr>
        </p:nvSpPr>
        <p:spPr>
          <a:xfrm>
            <a:off x="3026961" y="4654049"/>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威胁事件数</a:t>
            </a:r>
            <a:endParaRPr lang="zh-CN" altLang="en-US" sz="1600" kern="0" dirty="0">
              <a:ln>
                <a:noFill/>
                <a:prstDash val="sysDot"/>
              </a:ln>
              <a:solidFill>
                <a:schemeClr val="tx1">
                  <a:lumMod val="85000"/>
                  <a:lumOff val="15000"/>
                </a:schemeClr>
              </a:solidFill>
              <a:latin typeface="+mn-ea"/>
              <a:sym typeface="+mn-ea"/>
            </a:endParaRPr>
          </a:p>
        </p:txBody>
      </p:sp>
      <p:sp>
        <p:nvSpPr>
          <p:cNvPr id="80" name="矩形 79"/>
          <p:cNvSpPr/>
          <p:nvPr>
            <p:custDataLst>
              <p:tags r:id="rId23"/>
            </p:custDataLst>
          </p:nvPr>
        </p:nvSpPr>
        <p:spPr>
          <a:xfrm>
            <a:off x="2769151" y="5255747"/>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重大事故</a:t>
            </a:r>
            <a:endParaRPr lang="zh-CN" altLang="en-US" sz="1600" kern="0" dirty="0">
              <a:ln>
                <a:noFill/>
                <a:prstDash val="sysDot"/>
              </a:ln>
              <a:solidFill>
                <a:schemeClr val="tx1">
                  <a:lumMod val="85000"/>
                  <a:lumOff val="15000"/>
                </a:schemeClr>
              </a:solidFill>
              <a:latin typeface="+mn-ea"/>
              <a:sym typeface="+mn-ea"/>
            </a:endParaRPr>
          </a:p>
        </p:txBody>
      </p:sp>
    </p:spTree>
    <p:custDataLst>
      <p:tags r:id="rId24"/>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rot="0">
            <a:off x="224790" y="306705"/>
            <a:ext cx="369570" cy="266700"/>
            <a:chOff x="533" y="672"/>
            <a:chExt cx="582" cy="420"/>
          </a:xfrm>
        </p:grpSpPr>
        <p:sp>
          <p:nvSpPr>
            <p:cNvPr id="7"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9"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重要时期保障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典型</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事例</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pic>
        <p:nvPicPr>
          <p:cNvPr id="10" name="图片 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Text 1"/>
          <p:cNvSpPr/>
          <p:nvPr/>
        </p:nvSpPr>
        <p:spPr>
          <a:xfrm>
            <a:off x="472440" y="1018540"/>
            <a:ext cx="5760000" cy="576000"/>
          </a:xfrm>
          <a:prstGeom prst="rect">
            <a:avLst/>
          </a:prstGeom>
          <a:solidFill>
            <a:srgbClr val="E6514E"/>
          </a:solidFill>
        </p:spPr>
        <p:txBody>
          <a:bodyPr wrap="square" lIns="0" tIns="0" rIns="0" bIns="0" rtlCol="0" anchor="ctr"/>
          <a:lstStyle/>
          <a:p>
            <a:pPr marL="0" indent="0" algn="ctr">
              <a:buNone/>
            </a:pPr>
            <a:r>
              <a:rPr 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主机</a:t>
            </a:r>
            <a:r>
              <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存在目标服务器开启目录浏览功能</a:t>
            </a:r>
            <a:endPar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endParaRPr>
          </a:p>
        </p:txBody>
      </p:sp>
      <p:sp>
        <p:nvSpPr>
          <p:cNvPr id="12" name="Text 2"/>
          <p:cNvSpPr/>
          <p:nvPr/>
        </p:nvSpPr>
        <p:spPr>
          <a:xfrm>
            <a:off x="472440" y="1594485"/>
            <a:ext cx="5760000" cy="4896000"/>
          </a:xfrm>
          <a:prstGeom prst="rect">
            <a:avLst/>
          </a:prstGeom>
          <a:solidFill>
            <a:srgbClr val="FDF1F1"/>
          </a:solidFill>
        </p:spPr>
        <p:txBody>
          <a:bodyPr wrap="square" lIns="283464" tIns="137160" rIns="283464" bIns="137160" rtlCol="0" anchor="t">
            <a:noAutofit/>
          </a:bodyPr>
          <a:lstStyle/>
          <a:p>
            <a:pPr lvl="0" algn="l">
              <a:lnSpc>
                <a:spcPts val="16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攻击者通过该漏洞可任意浏览根目录下相关文件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
</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发现时间</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2025-06-09 11:25:42</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【影响资产</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【事件危害</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：业务系统</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存在目录浏览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漏洞，如</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没有实时对抗响应遏制，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攻击者可以轻松突破防线，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遍历下载根目录下的全部文件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，从而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获取敏感信息直接造成防守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失分；同时常见的配置文件、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数据库口令等会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存在默认管理后台等，可被攻击队利用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进一步获得业务主机权限，甚至突破边界直达内网其他核心业务，导致重大失分和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演习出局，甚至被列入负面典型。</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【影响范围分析】</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：通过</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本次事件监测识别到了真实存在的业务漏洞</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，而后快速完成了攻击源的封堵和业务的漏洞修复，收敛战线，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避免了更多资产受影响。</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【事件处置</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36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快速分析并定性了事件和漏洞的真伪，联动安全设备进行了处置，紧急联系到</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第一时间切断了该业务的访问入口，并同步相关系统管理员进行漏洞闭环，规避了后续潜在的攻击和失分；</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」：现场处置（</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如有）</a:t>
            </a:r>
            <a:endPar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endParaRPr>
          </a:p>
        </p:txBody>
      </p:sp>
      <p:pic>
        <p:nvPicPr>
          <p:cNvPr id="13"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808474" y="5488813"/>
            <a:ext cx="1088136" cy="877824"/>
          </a:xfrm>
          <a:prstGeom prst="rect">
            <a:avLst/>
          </a:prstGeom>
        </p:spPr>
      </p:pic>
      <p:grpSp>
        <p:nvGrpSpPr>
          <p:cNvPr id="14" name="组合 13"/>
          <p:cNvGrpSpPr/>
          <p:nvPr/>
        </p:nvGrpSpPr>
        <p:grpSpPr>
          <a:xfrm>
            <a:off x="224790" y="306388"/>
            <a:ext cx="8690610" cy="295275"/>
            <a:chOff x="533" y="672"/>
            <a:chExt cx="13686" cy="465"/>
          </a:xfrm>
        </p:grpSpPr>
        <p:grpSp>
          <p:nvGrpSpPr>
            <p:cNvPr id="15" name="组合 14"/>
            <p:cNvGrpSpPr/>
            <p:nvPr/>
          </p:nvGrpSpPr>
          <p:grpSpPr>
            <a:xfrm rot="0">
              <a:off x="533" y="672"/>
              <a:ext cx="582" cy="420"/>
              <a:chOff x="533" y="672"/>
              <a:chExt cx="582" cy="420"/>
            </a:xfrm>
          </p:grpSpPr>
          <p:sp>
            <p:nvSpPr>
              <p:cNvPr id="17"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9"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0" name="textbox 158"/>
            <p:cNvSpPr/>
            <p:nvPr/>
          </p:nvSpPr>
          <p:spPr>
            <a:xfrm>
              <a:off x="5382"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p:cNvPicPr>
            <a:picLocks noChangeAspect="1"/>
          </p:cNvPicPr>
          <p:nvPr/>
        </p:nvPicPr>
        <p:blipFill>
          <a:blip r:embed="rId7"/>
          <a:stretch>
            <a:fillRect/>
          </a:stretch>
        </p:blipFill>
        <p:spPr>
          <a:xfrm>
            <a:off x="6383020" y="1026795"/>
            <a:ext cx="4794250" cy="5457825"/>
          </a:xfrm>
          <a:prstGeom prst="rect">
            <a:avLst/>
          </a:prstGeom>
        </p:spPr>
      </p:pic>
      <p:sp>
        <p:nvSpPr>
          <p:cNvPr id="6" name="文本框 5"/>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选择重要时期发生</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的，并且跟用户共同协作完成处置的典型事件样例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ustDataLst>
      <p:tags r:id="rId8"/>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安全水位可量化</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 name="椭圆 1"/>
          <p:cNvSpPr/>
          <p:nvPr>
            <p:custDataLst>
              <p:tags r:id="rId4"/>
            </p:custDataLst>
          </p:nvPr>
        </p:nvSpPr>
        <p:spPr>
          <a:xfrm>
            <a:off x="4637220" y="3527151"/>
            <a:ext cx="2868025" cy="506420"/>
          </a:xfrm>
          <a:prstGeom prst="ellipse">
            <a:avLst/>
          </a:prstGeom>
          <a:gradFill>
            <a:gsLst>
              <a:gs pos="0">
                <a:schemeClr val="accent5">
                  <a:alpha val="0"/>
                </a:schemeClr>
              </a:gs>
              <a:gs pos="100000">
                <a:schemeClr val="accent5">
                  <a:alpha val="3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6" name="椭圆 5"/>
          <p:cNvSpPr/>
          <p:nvPr>
            <p:custDataLst>
              <p:tags r:id="rId5"/>
            </p:custDataLst>
          </p:nvPr>
        </p:nvSpPr>
        <p:spPr>
          <a:xfrm>
            <a:off x="4304569" y="3741455"/>
            <a:ext cx="3532265" cy="506420"/>
          </a:xfrm>
          <a:prstGeom prst="ellipse">
            <a:avLst/>
          </a:prstGeom>
          <a:gradFill>
            <a:gsLst>
              <a:gs pos="10000">
                <a:schemeClr val="accent5">
                  <a:alpha val="0"/>
                </a:schemeClr>
              </a:gs>
              <a:gs pos="100000">
                <a:schemeClr val="accent5">
                  <a:alpha val="12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7" name="椭圆 6"/>
          <p:cNvSpPr/>
          <p:nvPr>
            <p:custDataLst>
              <p:tags r:id="rId6"/>
            </p:custDataLst>
          </p:nvPr>
        </p:nvSpPr>
        <p:spPr>
          <a:xfrm>
            <a:off x="4171315" y="1600835"/>
            <a:ext cx="3742055" cy="3497580"/>
          </a:xfrm>
          <a:prstGeom prst="ellipse">
            <a:avLst/>
          </a:prstGeom>
          <a:noFill/>
          <a:ln>
            <a:gradFill>
              <a:gsLst>
                <a:gs pos="0">
                  <a:schemeClr val="accent5">
                    <a:alpha val="0"/>
                  </a:schemeClr>
                </a:gs>
                <a:gs pos="50000">
                  <a:schemeClr val="accent5">
                    <a:alpha val="40000"/>
                  </a:schemeClr>
                </a:gs>
                <a:gs pos="100000">
                  <a:schemeClr val="accent5">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5" name="平行四边形 14"/>
          <p:cNvSpPr/>
          <p:nvPr>
            <p:custDataLst>
              <p:tags r:id="rId7"/>
            </p:custDataLst>
          </p:nvPr>
        </p:nvSpPr>
        <p:spPr>
          <a:xfrm rot="5400000">
            <a:off x="6599217"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9" name="平行四边形 18"/>
          <p:cNvSpPr/>
          <p:nvPr>
            <p:custDataLst>
              <p:tags r:id="rId8"/>
            </p:custDataLst>
          </p:nvPr>
        </p:nvSpPr>
        <p:spPr>
          <a:xfrm rot="16200000" flipH="1">
            <a:off x="4740853"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0" name="平行四边形 19"/>
          <p:cNvSpPr/>
          <p:nvPr>
            <p:custDataLst>
              <p:tags r:id="rId9"/>
            </p:custDataLst>
          </p:nvPr>
        </p:nvSpPr>
        <p:spPr>
          <a:xfrm rot="16200000" flipH="1">
            <a:off x="4406283" y="3310289"/>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3" name="平行四边形 22"/>
          <p:cNvSpPr/>
          <p:nvPr>
            <p:custDataLst>
              <p:tags r:id="rId10"/>
            </p:custDataLst>
          </p:nvPr>
        </p:nvSpPr>
        <p:spPr>
          <a:xfrm rot="5400000">
            <a:off x="6883889" y="3397290"/>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4" name="平行四边形 23"/>
          <p:cNvSpPr/>
          <p:nvPr>
            <p:custDataLst>
              <p:tags r:id="rId11"/>
            </p:custDataLst>
          </p:nvPr>
        </p:nvSpPr>
        <p:spPr>
          <a:xfrm rot="5400000">
            <a:off x="6008123" y="2819630"/>
            <a:ext cx="1145942" cy="188244"/>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5" name="平行四边形 24"/>
          <p:cNvSpPr/>
          <p:nvPr>
            <p:custDataLst>
              <p:tags r:id="rId12"/>
            </p:custDataLst>
          </p:nvPr>
        </p:nvSpPr>
        <p:spPr>
          <a:xfrm rot="16200000" flipH="1">
            <a:off x="4879671" y="2950771"/>
            <a:ext cx="1555389" cy="255429"/>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7" name="平行四边形 16"/>
          <p:cNvSpPr/>
          <p:nvPr>
            <p:custDataLst>
              <p:tags r:id="rId13"/>
            </p:custDataLst>
          </p:nvPr>
        </p:nvSpPr>
        <p:spPr>
          <a:xfrm rot="5400000" flipH="1" flipV="1">
            <a:off x="5363933" y="2786365"/>
            <a:ext cx="1532570" cy="255429"/>
          </a:xfrm>
          <a:prstGeom prst="parallelogram">
            <a:avLst>
              <a:gd name="adj" fmla="val 39950"/>
            </a:avLst>
          </a:prstGeom>
          <a:gradFill flip="none" rotWithShape="0">
            <a:gsLst>
              <a:gs pos="100000">
                <a:schemeClr val="accent5">
                  <a:lumMod val="60000"/>
                  <a:lumOff val="40000"/>
                  <a:alpha val="0"/>
                </a:schemeClr>
              </a:gs>
              <a:gs pos="0">
                <a:schemeClr val="accent5">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4" name="Oval 41+"/>
          <p:cNvSpPr/>
          <p:nvPr>
            <p:custDataLst>
              <p:tags r:id="rId14"/>
            </p:custDataLst>
          </p:nvPr>
        </p:nvSpPr>
        <p:spPr>
          <a:xfrm>
            <a:off x="4065905" y="1495425"/>
            <a:ext cx="3952875" cy="3696335"/>
          </a:xfrm>
          <a:prstGeom prst="ellipse">
            <a:avLst/>
          </a:prstGeom>
          <a:noFill/>
          <a:ln w="22225">
            <a:gradFill>
              <a:gsLst>
                <a:gs pos="0">
                  <a:schemeClr val="accent5">
                    <a:alpha val="0"/>
                  </a:schemeClr>
                </a:gs>
                <a:gs pos="50000">
                  <a:schemeClr val="accent5">
                    <a:alpha val="40000"/>
                  </a:schemeClr>
                </a:gs>
                <a:gs pos="100000">
                  <a:schemeClr val="accent5">
                    <a:alpha val="0"/>
                  </a:schemeClr>
                </a:gs>
              </a:gsLst>
              <a:lin ang="5400000" scaled="1"/>
            </a:gra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5" name="矩形 34"/>
          <p:cNvSpPr/>
          <p:nvPr>
            <p:custDataLst>
              <p:tags r:id="rId15"/>
            </p:custDataLst>
          </p:nvPr>
        </p:nvSpPr>
        <p:spPr>
          <a:xfrm>
            <a:off x="390525" y="1307820"/>
            <a:ext cx="3456000" cy="3600000"/>
          </a:xfrm>
          <a:prstGeom prst="rect">
            <a:avLst/>
          </a:prstGeom>
          <a:solidFill>
            <a:schemeClr val="accent5">
              <a:lumMod val="20000"/>
              <a:lumOff val="80000"/>
            </a:schemeClr>
          </a:solidFill>
        </p:spPr>
        <p:txBody>
          <a:bodyPr wrap="square" lIns="46990" tIns="46990" rIns="36195" bIns="46990" rtlCol="0" anchor="t" anchorCtr="0">
            <a:noAutofit/>
          </a:bodyPr>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资产覆盖范围内的入侵攻击全面做到主动防御</a:t>
            </a:r>
            <a:endParaRPr lang="zh-CN" alt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安全告警主动分析和响应覆盖率达到</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Source Han Sans CN Normal" panose="020B0600000000000000" charset="-122"/>
                <a:sym typeface="+mn-ea"/>
              </a:rPr>
              <a:t>告警研判率</a:t>
            </a:r>
            <a:r>
              <a:rPr lang="en-US" altLang="zh-CN" sz="1200">
                <a:solidFill>
                  <a:srgbClr val="4C61E7"/>
                </a:solidFill>
                <a:latin typeface="Arial" panose="020B0604020202020204" pitchFamily="34" charset="0"/>
                <a:ea typeface="黑体-简" panose="02000000000000000000" charset="-122"/>
                <a:cs typeface="Noto Sans SC"/>
                <a:sym typeface="Noto Sans SC"/>
              </a:rPr>
              <a:t>}</a:t>
            </a:r>
            <a:endParaRPr lang="en-US" altLang="zh-CN" sz="1200">
              <a:solidFill>
                <a:srgbClr val="4C61E7"/>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安全运营各项关键指标达到国家标准</a:t>
            </a:r>
            <a:endParaRPr 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spcBef>
                <a:spcPct val="0"/>
              </a:spcBef>
              <a:spcAft>
                <a:spcPct val="0"/>
              </a:spcAft>
            </a:pPr>
            <a:endParaRPr lang="zh-CN" altLang="en-US" sz="12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7" name="矩形 36"/>
          <p:cNvSpPr/>
          <p:nvPr>
            <p:custDataLst>
              <p:tags r:id="rId16"/>
            </p:custDataLst>
          </p:nvPr>
        </p:nvSpPr>
        <p:spPr>
          <a:xfrm>
            <a:off x="8210653" y="1307820"/>
            <a:ext cx="3456000" cy="3600000"/>
          </a:xfrm>
          <a:prstGeom prst="rect">
            <a:avLst/>
          </a:prstGeom>
          <a:solidFill>
            <a:schemeClr val="accent6">
              <a:lumMod val="20000"/>
              <a:lumOff val="80000"/>
            </a:schemeClr>
          </a:solidFill>
        </p:spPr>
        <p:txBody>
          <a:bodyPr wrap="square" lIns="46990" tIns="46990" rIns="46990" bIns="46990" rtlCol="0" anchor="t" anchorCtr="0">
            <a:noAutofit/>
          </a:bodyPr>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服务上线以来安全水位线显著提升</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风险预防工作从无序被动响应变为有序主动开展</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安全威胁从事后被动处置变为事前主动运营</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8" name="箭头: V 形 20"/>
          <p:cNvSpPr/>
          <p:nvPr>
            <p:custDataLst>
              <p:tags r:id="rId17"/>
            </p:custDataLst>
          </p:nvPr>
        </p:nvSpPr>
        <p:spPr>
          <a:xfrm>
            <a:off x="3496102" y="990853"/>
            <a:ext cx="189995" cy="189995"/>
          </a:xfrm>
          <a:prstGeom prst="chevron">
            <a:avLst/>
          </a:prstGeom>
          <a:gradFill>
            <a:gsLst>
              <a:gs pos="99301">
                <a:schemeClr val="accent5">
                  <a:lumMod val="75000"/>
                  <a:alpha val="100000"/>
                </a:schemeClr>
              </a:gs>
              <a:gs pos="0">
                <a:schemeClr val="accent5">
                  <a:lumMod val="60000"/>
                  <a:lumOff val="40000"/>
                  <a:alpha val="100000"/>
                </a:schemeClr>
              </a:gs>
              <a:gs pos="68000">
                <a:schemeClr val="accent5">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39" name="箭头: V 形 21"/>
          <p:cNvSpPr/>
          <p:nvPr>
            <p:custDataLst>
              <p:tags r:id="rId18"/>
            </p:custDataLst>
          </p:nvPr>
        </p:nvSpPr>
        <p:spPr>
          <a:xfrm flipH="1">
            <a:off x="8398603" y="990853"/>
            <a:ext cx="189995" cy="189995"/>
          </a:xfrm>
          <a:prstGeom prst="chevron">
            <a:avLst/>
          </a:prstGeom>
          <a:gradFill>
            <a:gsLst>
              <a:gs pos="99301">
                <a:schemeClr val="accent6">
                  <a:lumMod val="75000"/>
                  <a:alpha val="100000"/>
                </a:schemeClr>
              </a:gs>
              <a:gs pos="0">
                <a:schemeClr val="accent6">
                  <a:lumMod val="60000"/>
                  <a:lumOff val="40000"/>
                  <a:alpha val="100000"/>
                </a:schemeClr>
              </a:gs>
              <a:gs pos="68000">
                <a:schemeClr val="accent6">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40" name="标题"/>
          <p:cNvSpPr txBox="1"/>
          <p:nvPr>
            <p:custDataLst>
              <p:tags r:id="rId19"/>
            </p:custDataLst>
          </p:nvPr>
        </p:nvSpPr>
        <p:spPr>
          <a:xfrm>
            <a:off x="4298315" y="2682240"/>
            <a:ext cx="3475355" cy="1322705"/>
          </a:xfrm>
          <a:prstGeom prst="rect">
            <a:avLst/>
          </a:prstGeom>
          <a:noFill/>
          <a:effectLst/>
        </p:spPr>
        <p:txBody>
          <a:bodyPr wrap="square" lIns="0" tIns="0" rIns="0" bIns="0" rtlCol="0" anchor="ctr">
            <a:noAutofit/>
          </a:bodyPr>
          <a:lstStyle/>
          <a:p>
            <a:pPr lvl="0" algn="ctr">
              <a:lnSpc>
                <a:spcPct val="150000"/>
              </a:lnSpc>
              <a:buClrTx/>
              <a:buSzTx/>
              <a:buFontTx/>
            </a:pP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安全水位可视</a:t>
            </a:r>
            <a:r>
              <a:rPr lang="en-US" altLang="zh-CN" sz="2000" b="1" spc="300" dirty="0">
                <a:ln w="0">
                  <a:noFill/>
                </a:ln>
                <a:solidFill>
                  <a:schemeClr val="tx1"/>
                </a:solidFill>
                <a:uFillTx/>
                <a:latin typeface="Arial" panose="020B0604020202020204" pitchFamily="34" charset="0"/>
                <a:ea typeface="黑体-简" panose="02000000000000000000" charset="-122"/>
                <a:cs typeface="+mn-ea"/>
                <a:sym typeface="+mn-ea"/>
              </a:rPr>
              <a:t>&amp;</a:t>
            </a: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提升</a:t>
            </a:r>
            <a:endPar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从</a:t>
            </a:r>
            <a:r>
              <a:rPr lang="zh-CN" altLang="en-US" sz="1400" b="1" spc="300" dirty="0">
                <a:ln w="0">
                  <a:noFill/>
                </a:ln>
                <a:solidFill>
                  <a:schemeClr val="accent2"/>
                </a:solidFill>
                <a:uFillTx/>
                <a:latin typeface="Arial" panose="020B0604020202020204" pitchFamily="34" charset="0"/>
                <a:ea typeface="黑体-简" panose="02000000000000000000" charset="-122"/>
                <a:cs typeface="+mn-ea"/>
                <a:sym typeface="+mn-ea"/>
              </a:rPr>
              <a:t>“基础合规”</a:t>
            </a: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跃升至</a:t>
            </a:r>
            <a:r>
              <a:rPr lang="zh-CN" altLang="en-US" sz="1400" b="1" spc="300" dirty="0">
                <a:ln w="0">
                  <a:noFill/>
                </a:ln>
                <a:solidFill>
                  <a:schemeClr val="accent6"/>
                </a:solidFill>
                <a:uFillTx/>
                <a:latin typeface="Arial" panose="020B0604020202020204" pitchFamily="34" charset="0"/>
                <a:ea typeface="黑体-简" panose="02000000000000000000" charset="-122"/>
                <a:cs typeface="+mn-ea"/>
                <a:sym typeface="+mn-ea"/>
              </a:rPr>
              <a:t>“主动防御”</a:t>
            </a:r>
            <a:endParaRPr lang="zh-CN" altLang="en-US" sz="1400" b="1" spc="300" dirty="0">
              <a:ln w="0">
                <a:noFill/>
              </a:ln>
              <a:solidFill>
                <a:schemeClr val="accent6">
                  <a:lumMod val="60000"/>
                  <a:lumOff val="40000"/>
                </a:schemeClr>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部分场景已实现</a:t>
            </a:r>
            <a:r>
              <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rPr>
              <a:t>“量化管理”</a:t>
            </a:r>
            <a:endPar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endParaRPr>
          </a:p>
        </p:txBody>
      </p:sp>
      <p:graphicFrame>
        <p:nvGraphicFramePr>
          <p:cNvPr id="47" name="表格 46"/>
          <p:cNvGraphicFramePr/>
          <p:nvPr>
            <p:custDataLst>
              <p:tags r:id="rId20"/>
            </p:custDataLst>
          </p:nvPr>
        </p:nvGraphicFramePr>
        <p:xfrm>
          <a:off x="537845" y="2258060"/>
          <a:ext cx="3164205" cy="2286000"/>
        </p:xfrm>
        <a:graphic>
          <a:graphicData uri="http://schemas.openxmlformats.org/drawingml/2006/table">
            <a:tbl>
              <a:tblPr firstRow="1" lastCol="1" bandCol="1">
                <a:tableStyleId>{0126E9F6-41A6-44B7-8387-491034A24550}</a:tableStyleId>
              </a:tblPr>
              <a:tblGrid>
                <a:gridCol w="1179830"/>
                <a:gridCol w="1024890"/>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国家</a:t>
                      </a:r>
                      <a:r>
                        <a:rPr lang="zh-CN" altLang="en-US" sz="1000">
                          <a:solidFill>
                            <a:srgbClr val="FFFF00"/>
                          </a:solidFill>
                          <a:latin typeface="Arial" panose="020B0604020202020204" pitchFamily="34" charset="0"/>
                          <a:ea typeface="黑体-简" panose="02000000000000000000" charset="-122"/>
                          <a:sym typeface="+mn-ea"/>
                        </a:rPr>
                        <a:t>参考</a:t>
                      </a:r>
                      <a:r>
                        <a:rPr lang="zh-CN" altLang="en-US" sz="1000">
                          <a:solidFill>
                            <a:srgbClr val="FFFF00"/>
                          </a:solidFill>
                          <a:latin typeface="Arial" panose="020B0604020202020204" pitchFamily="34" charset="0"/>
                          <a:ea typeface="黑体-简" panose="02000000000000000000" charset="-122"/>
                        </a:rPr>
                        <a:t>标准</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solidFill>
                      <a:schemeClr val="accent5">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{{high_risk_vulnerability_protection_rate}}</a:t>
                      </a:r>
                      <a:endPar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75%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30min</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8H</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bl>
          </a:graphicData>
        </a:graphic>
      </p:graphicFrame>
      <p:graphicFrame>
        <p:nvGraphicFramePr>
          <p:cNvPr id="50" name="表格 49"/>
          <p:cNvGraphicFramePr/>
          <p:nvPr>
            <p:custDataLst>
              <p:tags r:id="rId21"/>
            </p:custDataLst>
          </p:nvPr>
        </p:nvGraphicFramePr>
        <p:xfrm>
          <a:off x="8362315" y="2258060"/>
          <a:ext cx="3164205" cy="2255520"/>
        </p:xfrm>
        <a:graphic>
          <a:graphicData uri="http://schemas.openxmlformats.org/drawingml/2006/table">
            <a:tbl>
              <a:tblPr firstRow="1" lastCol="1" bandCol="1">
                <a:tableStyleId>{0126E9F6-41A6-44B7-8387-491034A24550}</a:tableStyleId>
              </a:tblPr>
              <a:tblGrid>
                <a:gridCol w="1188085"/>
                <a:gridCol w="1016635"/>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初始水平</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6">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仅依赖设备规则拦截</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{{high_risk_vulnerability_protection_rate}}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无数据</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未开展</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事后被动响应</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bl>
          </a:graphicData>
        </a:graphic>
      </p:graphicFrame>
      <p:sp>
        <p:nvSpPr>
          <p:cNvPr id="8" name="椭圆 7"/>
          <p:cNvSpPr/>
          <p:nvPr>
            <p:custDataLst>
              <p:tags r:id="rId22"/>
            </p:custDataLst>
          </p:nvPr>
        </p:nvSpPr>
        <p:spPr>
          <a:xfrm>
            <a:off x="2584419" y="5137785"/>
            <a:ext cx="6861238" cy="1121173"/>
          </a:xfrm>
          <a:prstGeom prst="ellipse">
            <a:avLst/>
          </a:prstGeom>
          <a:gradFill>
            <a:gsLst>
              <a:gs pos="0">
                <a:schemeClr val="accent5">
                  <a:alpha val="0"/>
                </a:schemeClr>
              </a:gs>
              <a:gs pos="100000">
                <a:schemeClr val="accent5">
                  <a:alpha val="40000"/>
                </a:schemeClr>
              </a:gs>
            </a:gsLst>
            <a:lin ang="5400000" scaled="0"/>
          </a:gradFill>
          <a:ln w="41275">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8" name="标题"/>
          <p:cNvSpPr txBox="1"/>
          <p:nvPr>
            <p:custDataLst>
              <p:tags r:id="rId23"/>
            </p:custDataLst>
          </p:nvPr>
        </p:nvSpPr>
        <p:spPr>
          <a:xfrm>
            <a:off x="3183130" y="5256733"/>
            <a:ext cx="5665036" cy="951594"/>
          </a:xfrm>
          <a:prstGeom prst="rect">
            <a:avLst/>
          </a:prstGeom>
          <a:noFill/>
          <a:effectLst/>
        </p:spPr>
        <p:txBody>
          <a:bodyPr wrap="square" lIns="0" tIns="0" rIns="0" bIns="0" rtlCol="0" anchor="ctr">
            <a:noAutofit/>
          </a:bodyPr>
          <a:lstStyle/>
          <a:p>
            <a:pPr lvl="0" algn="ctr">
              <a:buClrTx/>
              <a:buSzTx/>
              <a:buFontTx/>
            </a:pP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产生的直接价值</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减少潜在风险</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{{closed_loop_vulnerability_count}}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个</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避免安全攻击损失</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{{threat_and_incident_count}}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次</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节省人力成本</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Noto Sans SC"/>
              </a:rPr>
              <a:t>{{two_senior_security_engineer_cost}}</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endParaRPr lang="en-US" altLang="zh-CN" b="1" spc="300" dirty="0">
              <a:ln w="0">
                <a:noFill/>
              </a:ln>
              <a:solidFill>
                <a:schemeClr val="tx1"/>
              </a:solidFill>
              <a:uFillTx/>
              <a:latin typeface="Arial" panose="020B0604020202020204" pitchFamily="34" charset="0"/>
              <a:ea typeface="黑体-简" panose="02000000000000000000" charset="-122"/>
              <a:cs typeface="+mn-ea"/>
              <a:sym typeface="+mn-ea"/>
            </a:endParaRPr>
          </a:p>
        </p:txBody>
      </p:sp>
      <p:sp>
        <p:nvSpPr>
          <p:cNvPr id="9" name="椭圆 8"/>
          <p:cNvSpPr/>
          <p:nvPr>
            <p:custDataLst>
              <p:tags r:id="rId24"/>
            </p:custDataLst>
          </p:nvPr>
        </p:nvSpPr>
        <p:spPr>
          <a:xfrm>
            <a:off x="1886583" y="5139005"/>
            <a:ext cx="8256910" cy="1305392"/>
          </a:xfrm>
          <a:prstGeom prst="ellipse">
            <a:avLst/>
          </a:prstGeom>
          <a:noFill/>
          <a:ln>
            <a:gradFill>
              <a:gsLst>
                <a:gs pos="0">
                  <a:schemeClr val="accent5">
                    <a:alpha val="0"/>
                  </a:schemeClr>
                </a:gs>
                <a:gs pos="100000">
                  <a:schemeClr val="accent5">
                    <a:alpha val="55000"/>
                  </a:schemeClr>
                </a:gs>
              </a:gsLst>
              <a:lin ang="540000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1" name="任意多边形: 形状 20"/>
          <p:cNvSpPr/>
          <p:nvPr>
            <p:custDataLst>
              <p:tags r:id="rId25"/>
            </p:custDataLst>
          </p:nvPr>
        </p:nvSpPr>
        <p:spPr>
          <a:xfrm>
            <a:off x="1993942" y="5987510"/>
            <a:ext cx="1293192" cy="471527"/>
          </a:xfrm>
          <a:custGeom>
            <a:avLst/>
            <a:gdLst>
              <a:gd name="connsiteX0" fmla="*/ 2116 w 2120"/>
              <a:gd name="connsiteY0" fmla="*/ 557 h 773"/>
              <a:gd name="connsiteX1" fmla="*/ 2120 w 2120"/>
              <a:gd name="connsiteY1" fmla="*/ 773 h 773"/>
              <a:gd name="connsiteX2" fmla="*/ 0 w 2120"/>
              <a:gd name="connsiteY2" fmla="*/ 201 h 773"/>
              <a:gd name="connsiteX3" fmla="*/ 15 w 2120"/>
              <a:gd name="connsiteY3" fmla="*/ 0 h 773"/>
              <a:gd name="connsiteX4" fmla="*/ 2116 w 2120"/>
              <a:gd name="connsiteY4" fmla="*/ 557 h 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0" h="773">
                <a:moveTo>
                  <a:pt x="2116" y="557"/>
                </a:moveTo>
                <a:lnTo>
                  <a:pt x="2120" y="773"/>
                </a:lnTo>
                <a:cubicBezTo>
                  <a:pt x="2120" y="773"/>
                  <a:pt x="252" y="516"/>
                  <a:pt x="0" y="201"/>
                </a:cubicBezTo>
                <a:lnTo>
                  <a:pt x="15" y="0"/>
                </a:lnTo>
                <a:cubicBezTo>
                  <a:pt x="15" y="0"/>
                  <a:pt x="159" y="270"/>
                  <a:pt x="2116" y="557"/>
                </a:cubicBezTo>
                <a:close/>
              </a:path>
            </a:pathLst>
          </a:custGeom>
          <a:gradFill>
            <a:gsLst>
              <a:gs pos="12000">
                <a:schemeClr val="accent5">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2" name="任意多边形: 形状 21"/>
          <p:cNvSpPr/>
          <p:nvPr>
            <p:custDataLst>
              <p:tags r:id="rId26"/>
            </p:custDataLst>
          </p:nvPr>
        </p:nvSpPr>
        <p:spPr>
          <a:xfrm>
            <a:off x="8155515" y="5953350"/>
            <a:ext cx="2402165" cy="585596"/>
          </a:xfrm>
          <a:custGeom>
            <a:avLst/>
            <a:gdLst>
              <a:gd name="connsiteX0" fmla="*/ 3740 w 3740"/>
              <a:gd name="connsiteY0" fmla="*/ 0 h 960"/>
              <a:gd name="connsiteX1" fmla="*/ 3740 w 3740"/>
              <a:gd name="connsiteY1" fmla="*/ 234 h 960"/>
              <a:gd name="connsiteX2" fmla="*/ 11 w 3740"/>
              <a:gd name="connsiteY2" fmla="*/ 960 h 960"/>
              <a:gd name="connsiteX3" fmla="*/ 0 w 3740"/>
              <a:gd name="connsiteY3" fmla="*/ 758 h 960"/>
              <a:gd name="connsiteX4" fmla="*/ 3740 w 3740"/>
              <a:gd name="connsiteY4" fmla="*/ 0 h 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40" h="960">
                <a:moveTo>
                  <a:pt x="3740" y="0"/>
                </a:moveTo>
                <a:lnTo>
                  <a:pt x="3740" y="234"/>
                </a:lnTo>
                <a:cubicBezTo>
                  <a:pt x="3740" y="234"/>
                  <a:pt x="2879" y="744"/>
                  <a:pt x="11" y="960"/>
                </a:cubicBezTo>
                <a:lnTo>
                  <a:pt x="0" y="758"/>
                </a:lnTo>
                <a:cubicBezTo>
                  <a:pt x="0" y="758"/>
                  <a:pt x="2513" y="657"/>
                  <a:pt x="3740" y="0"/>
                </a:cubicBezTo>
                <a:close/>
              </a:path>
            </a:pathLst>
          </a:custGeom>
          <a:gradFill>
            <a:gsLst>
              <a:gs pos="12000">
                <a:schemeClr val="accent5">
                  <a:lumMod val="60000"/>
                  <a:lumOff val="40000"/>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a:solidFill>
                  <a:schemeClr val="tx1"/>
                </a:solidFill>
              </a:rPr>
              <a:t>   </a:t>
            </a:r>
            <a:endParaRPr lang="en-US" altLang="zh-CN">
              <a:solidFill>
                <a:schemeClr val="tx1"/>
              </a:solidFill>
            </a:endParaRPr>
          </a:p>
        </p:txBody>
      </p:sp>
      <p:sp>
        <p:nvSpPr>
          <p:cNvPr id="18" name="椭圆 17"/>
          <p:cNvSpPr/>
          <p:nvPr>
            <p:custDataLst>
              <p:tags r:id="rId27"/>
            </p:custDataLst>
          </p:nvPr>
        </p:nvSpPr>
        <p:spPr>
          <a:xfrm>
            <a:off x="1258897" y="5137785"/>
            <a:ext cx="9512282" cy="1487171"/>
          </a:xfrm>
          <a:prstGeom prst="ellipse">
            <a:avLst/>
          </a:prstGeom>
          <a:noFill/>
          <a:ln>
            <a:gradFill>
              <a:gsLst>
                <a:gs pos="66000">
                  <a:srgbClr val="376FFF">
                    <a:alpha val="0"/>
                  </a:srgbClr>
                </a:gs>
                <a:gs pos="14000">
                  <a:schemeClr val="accent5">
                    <a:alpha val="0"/>
                  </a:schemeClr>
                </a:gs>
                <a:gs pos="0">
                  <a:srgbClr val="376FFF">
                    <a:alpha val="16000"/>
                  </a:srgbClr>
                </a:gs>
                <a:gs pos="100000">
                  <a:schemeClr val="accent5">
                    <a:alpha val="20000"/>
                  </a:schemeClr>
                </a:gs>
              </a:gsLst>
              <a:lin ang="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7" name="textbox 158"/>
          <p:cNvSpPr/>
          <p:nvPr/>
        </p:nvSpPr>
        <p:spPr>
          <a:xfrm>
            <a:off x="4090670" y="922020"/>
            <a:ext cx="3822700" cy="327660"/>
          </a:xfrm>
          <a:prstGeom prst="rect">
            <a:avLst/>
          </a:prstGeom>
          <a:noFill/>
          <a:ln w="0" cap="flat">
            <a:noFill/>
            <a:prstDash val="solid"/>
            <a:miter lim="0"/>
          </a:ln>
        </p:spPr>
        <p:txBody>
          <a:bodyPr vert="horz" wrap="square" lIns="0" tIns="0" rIns="0" bIns="0" anchor="ctr" anchorCtr="0"/>
          <a:p>
            <a:pPr algn="ctr" rtl="0" eaLnBrk="0">
              <a:lnSpc>
                <a:spcPct val="100000"/>
              </a:lnSpc>
            </a:pPr>
            <a:r>
              <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rPr>
              <a:t>主动防御、量化运营</a:t>
            </a:r>
            <a:endPar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endParaRPr>
          </a:p>
        </p:txBody>
      </p:sp>
      <p:cxnSp>
        <p:nvCxnSpPr>
          <p:cNvPr id="4" name="直接连接符 3"/>
          <p:cNvCxnSpPr/>
          <p:nvPr/>
        </p:nvCxnSpPr>
        <p:spPr>
          <a:xfrm>
            <a:off x="3302635" y="1244600"/>
            <a:ext cx="5545455" cy="0"/>
          </a:xfrm>
          <a:prstGeom prst="line">
            <a:avLst/>
          </a:prstGeom>
          <a:ln w="28575" cap="flat" cmpd="sng">
            <a:solidFill>
              <a:schemeClr val="accent1">
                <a:shade val="50000"/>
              </a:schemeClr>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ustDataLst>
      <p:tags r:id="rId28"/>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44550"/>
                <a:gridCol w="551815"/>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1363345"/>
                <a:gridCol w="731520"/>
                <a:gridCol w="1384300"/>
                <a:gridCol w="1858645"/>
                <a:gridCol w="4184015"/>
                <a:gridCol w="850900"/>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业务保护、重保</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当前遗留部分业务（</a:t>
                      </a:r>
                      <a:r>
                        <a:rPr lang="en-US" altLang="zh-CN" sz="1200" b="1" dirty="0">
                          <a:solidFill>
                            <a:srgbClr val="4C61E7"/>
                          </a:solidFill>
                          <a:latin typeface="Arial" panose="020B0604020202020204" pitchFamily="34" charset="0"/>
                          <a:ea typeface="黑体-简" panose="02000000000000000000" charset="-122"/>
                          <a:cs typeface="黑体" panose="02010609060101010101" charset="-122"/>
                          <a:sym typeface="+mn-ea"/>
                        </a:rPr>
                        <a:t>XX</a:t>
                      </a:r>
                      <a:r>
                        <a:rPr lang="zh-CN" altLang="en-US" sz="1200" b="1" dirty="0">
                          <a:solidFill>
                            <a:srgbClr val="4C61E7"/>
                          </a:solidFill>
                          <a:latin typeface="Arial" panose="020B0604020202020204" pitchFamily="34" charset="0"/>
                          <a:ea typeface="黑体-简" panose="02000000000000000000" charset="-122"/>
                          <a:cs typeface="黑体" panose="02010609060101010101" charset="-122"/>
                          <a:sym typeface="+mn-ea"/>
                        </a:rPr>
                        <a:t>系统</a:t>
                      </a:r>
                      <a:r>
                        <a:rPr lang="zh-CN" altLang="en-US" sz="1200" b="1" dirty="0">
                          <a:latin typeface="Arial" panose="020B0604020202020204" pitchFamily="34" charset="0"/>
                          <a:ea typeface="黑体-简" panose="02000000000000000000" charset="-122"/>
                          <a:cs typeface="黑体" panose="02010609060101010101" charset="-122"/>
                          <a:sym typeface="+mn-ea"/>
                        </a:rPr>
                        <a:t>等）存在高危安全漏洞待闭环</a:t>
                      </a:r>
                      <a:endParaRPr lang="en-US" altLang="zh-CN"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algn="just" rtl="0" eaLnBrk="0" fontAlgn="auto">
                        <a:lnSpc>
                          <a:spcPct val="106000"/>
                        </a:lnSpc>
                        <a:spcBef>
                          <a:spcPts val="130"/>
                        </a:spcBef>
                        <a:buClrTx/>
                        <a:buSzTx/>
                        <a:buFont typeface="Arial" panose="020B0604020202020204" pitchFamily="34" charset="0"/>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当前遗留存在</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高危漏洞（</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系统</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等业务）</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，其中包含</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高危可利用漏洞（</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已防护）</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外网主机（</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如</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）存在的高危漏洞一旦被攻击利用，进而形成跳板对内网的</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核心系统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进行攻击，可能产生相关业务中断、数据泄露。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）围绕业务核心程度、是否对外、漏洞等级、修复难度，进一步提供修复优先级的漏洞清单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）根据修复落地漏洞清单，对齐修复方案和落地计划</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en-US" altLang="zh-CN"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    </a:t>
                      </a:r>
                      <a:r>
                        <a:rPr lang="zh-CN" altLang="en-US" sz="1200" dirty="0">
                          <a:latin typeface="Arial" panose="020B0604020202020204" pitchFamily="34" charset="0"/>
                          <a:ea typeface="黑体-简" panose="02000000000000000000" charset="-122"/>
                          <a:cs typeface="黑体" panose="02010609060101010101" charset="-122"/>
                          <a:sym typeface="+mn-ea"/>
                        </a:rPr>
                        <a:t>修复方案参考：修改配置（如</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系统的未授权漏洞</a:t>
                      </a:r>
                      <a:r>
                        <a:rPr lang="zh-CN" altLang="en-US" sz="1200" dirty="0">
                          <a:latin typeface="Arial" panose="020B0604020202020204" pitchFamily="34" charset="0"/>
                          <a:ea typeface="黑体-简" panose="02000000000000000000" charset="-122"/>
                          <a:cs typeface="黑体" panose="02010609060101010101" charset="-122"/>
                          <a:sym typeface="+mn-ea"/>
                        </a:rPr>
                        <a:t>）、漏洞补丁升级</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防火墙策略防护</a:t>
                      </a:r>
                      <a:r>
                        <a:rPr lang="en-US" altLang="zh-CN" sz="1200" dirty="0">
                          <a:latin typeface="Arial" panose="020B0604020202020204" pitchFamily="34" charset="0"/>
                          <a:ea typeface="黑体-简" panose="02000000000000000000" charset="-122"/>
                          <a:cs typeface="黑体" panose="02010609060101010101" charset="-122"/>
                          <a:sym typeface="+mn-ea"/>
                        </a:rPr>
                        <a:t>&gt;EDR</a:t>
                      </a:r>
                      <a:r>
                        <a:rPr lang="zh-CN" altLang="en-US" sz="1200" dirty="0">
                          <a:latin typeface="Arial" panose="020B0604020202020204" pitchFamily="34" charset="0"/>
                          <a:ea typeface="黑体-简" panose="02000000000000000000" charset="-122"/>
                          <a:cs typeface="黑体" panose="02010609060101010101" charset="-122"/>
                          <a:sym typeface="+mn-ea"/>
                        </a:rPr>
                        <a:t>轻补丁防护</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端口策略</a:t>
                      </a:r>
                      <a:endParaRPr lang="zh-CN" altLang="en-US"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3</a:t>
                      </a:r>
                      <a:r>
                        <a:rPr lang="zh-CN" altLang="en-US" sz="1200" dirty="0">
                          <a:latin typeface="Arial" panose="020B0604020202020204" pitchFamily="34" charset="0"/>
                          <a:ea typeface="黑体-简" panose="02000000000000000000" charset="-122"/>
                          <a:cs typeface="黑体" panose="02010609060101010101" charset="-122"/>
                          <a:sym typeface="+mn-ea"/>
                        </a:rPr>
                        <a:t>）按照方案落地修复，反馈给</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团队进行漏洞复测闭环</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431800" y="685165"/>
            <a:ext cx="9016365" cy="39052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备注：下一阶段探索</a:t>
            </a:r>
            <a:r>
              <a:rPr lang="zh-CN" altLang="en-US" sz="1900" kern="0" dirty="0">
                <a:solidFill>
                  <a:srgbClr val="4C61E7"/>
                </a:solidFill>
                <a:latin typeface="黑体" panose="02010609060101010101" charset="-122"/>
                <a:ea typeface="黑体" panose="02010609060101010101" charset="-122"/>
                <a:cs typeface="黑体" panose="02010609060101010101" charset="-122"/>
              </a:rPr>
              <a:t>方向</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p:txBody>
      </p:sp>
      <p:pic>
        <p:nvPicPr>
          <p:cNvPr id="5" name="图片 4" descr="1755143421298"/>
          <p:cNvPicPr>
            <a:picLocks noChangeAspect="1"/>
          </p:cNvPicPr>
          <p:nvPr/>
        </p:nvPicPr>
        <p:blipFill>
          <a:blip r:embed="rId1"/>
          <a:stretch>
            <a:fillRect/>
          </a:stretch>
        </p:blipFill>
        <p:spPr>
          <a:xfrm>
            <a:off x="426085" y="5785485"/>
            <a:ext cx="11338560" cy="779145"/>
          </a:xfrm>
          <a:prstGeom prst="rect">
            <a:avLst/>
          </a:prstGeom>
        </p:spPr>
      </p:pic>
      <p:sp>
        <p:nvSpPr>
          <p:cNvPr id="8" name="文本框 7"/>
          <p:cNvSpPr txBox="1"/>
          <p:nvPr/>
        </p:nvSpPr>
        <p:spPr>
          <a:xfrm>
            <a:off x="609600" y="5812790"/>
            <a:ext cx="11036935" cy="724535"/>
          </a:xfrm>
          <a:prstGeom prst="rect">
            <a:avLst/>
          </a:prstGeom>
          <a:noFill/>
        </p:spPr>
        <p:txBody>
          <a:bodyPr wrap="square" rtlCol="0" anchor="t">
            <a:noAutofit/>
          </a:bodyPr>
          <a:p>
            <a:pPr indent="0" fontAlgn="auto">
              <a:spcBef>
                <a:spcPts val="600"/>
              </a:spcBef>
            </a:pPr>
            <a:r>
              <a:rPr lang="zh-CN" sz="12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2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信息安全领域有一个残酷的规律：“永远不会有第二次机会去弥补第一次疏忽带来的损失”。</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完善主动防御体系，把需要被保护的资产及时纳入</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7*24H</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主动监测范畴，本质上是让咱们</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提前发现火苗</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的能力覆盖得更全面</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C00000">
                    <a:alpha val="100000"/>
                  </a:srgbClr>
                </a:solidFill>
                <a:latin typeface="黑体" panose="02010609060101010101" charset="-122"/>
                <a:ea typeface="黑体" panose="02010609060101010101" charset="-122"/>
                <a:cs typeface="黑体" panose="02010609060101010101" charset="-122"/>
                <a:sym typeface="+mn-ea"/>
              </a:rPr>
              <a:t>等火烧起来了再去救，代价是完全不同的量级</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6" name="Shape 4"/>
          <p:cNvSpPr/>
          <p:nvPr/>
        </p:nvSpPr>
        <p:spPr>
          <a:xfrm>
            <a:off x="426720" y="1607820"/>
            <a:ext cx="5547360" cy="4126230"/>
          </a:xfrm>
          <a:prstGeom prst="rect">
            <a:avLst/>
          </a:prstGeom>
          <a:solidFill>
            <a:srgbClr val="FFFFFF"/>
          </a:solidFill>
          <a:ln w="12700">
            <a:solidFill>
              <a:srgbClr val="E2E8F0"/>
            </a:solidFill>
            <a:prstDash val="solid"/>
          </a:ln>
          <a:effectLst>
            <a:outerShdw blurRad="50800" dist="12700" dir="8100000" algn="bl" rotWithShape="0">
              <a:srgbClr val="000000">
                <a:alpha val="7000"/>
              </a:srgbClr>
            </a:outerShdw>
          </a:effectLst>
        </p:spPr>
      </p:sp>
      <p:sp>
        <p:nvSpPr>
          <p:cNvPr id="7" name="Shape 5"/>
          <p:cNvSpPr/>
          <p:nvPr/>
        </p:nvSpPr>
        <p:spPr>
          <a:xfrm>
            <a:off x="426720" y="1607820"/>
            <a:ext cx="76200" cy="4126230"/>
          </a:xfrm>
          <a:prstGeom prst="rect">
            <a:avLst/>
          </a:prstGeom>
          <a:solidFill>
            <a:srgbClr val="FFC000"/>
          </a:solidFill>
        </p:spPr>
      </p:sp>
      <p:sp>
        <p:nvSpPr>
          <p:cNvPr id="2" name="Text 6"/>
          <p:cNvSpPr/>
          <p:nvPr/>
        </p:nvSpPr>
        <p:spPr>
          <a:xfrm>
            <a:off x="633984" y="1717294"/>
            <a:ext cx="5181600" cy="365760"/>
          </a:xfrm>
          <a:prstGeom prst="rect">
            <a:avLst/>
          </a:prstGeom>
          <a:noFill/>
        </p:spPr>
        <p:txBody>
          <a:bodyPr wrap="square" lIns="0" tIns="0" rIns="0" bIns="0" rtlCol="0" anchor="ctr"/>
          <a:lstStyle/>
          <a:p>
            <a:pPr marL="0" indent="0">
              <a:buNone/>
            </a:pPr>
            <a:r>
              <a:rPr lang="en-US" sz="1600" b="1" dirty="0">
                <a:solidFill>
                  <a:srgbClr val="1A2744"/>
                </a:solidFill>
                <a:latin typeface="微软雅黑" panose="020B0503020204020204" charset="-122"/>
                <a:ea typeface="微软雅黑" panose="020B0503020204020204" charset="-122"/>
                <a:cs typeface="微软雅黑" panose="020B0503020204020204" pitchFamily="34" charset="-120"/>
              </a:rPr>
              <a:t>问题定义：三个「看不见」的致命盲区</a:t>
            </a:r>
            <a:endParaRPr lang="en-US" sz="1600" dirty="0"/>
          </a:p>
        </p:txBody>
      </p:sp>
      <p:sp>
        <p:nvSpPr>
          <p:cNvPr id="3" name="Shape 7"/>
          <p:cNvSpPr/>
          <p:nvPr/>
        </p:nvSpPr>
        <p:spPr>
          <a:xfrm>
            <a:off x="658368" y="2156206"/>
            <a:ext cx="390144" cy="390144"/>
          </a:xfrm>
          <a:prstGeom prst="ellipse">
            <a:avLst/>
          </a:prstGeom>
          <a:solidFill>
            <a:srgbClr val="DC2626"/>
          </a:solidFill>
        </p:spPr>
      </p:sp>
      <p:sp>
        <p:nvSpPr>
          <p:cNvPr id="10" name="Text 8"/>
          <p:cNvSpPr/>
          <p:nvPr/>
        </p:nvSpPr>
        <p:spPr>
          <a:xfrm>
            <a:off x="658368" y="2156206"/>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01</a:t>
            </a:r>
            <a:endParaRPr lang="en-US" sz="1335" dirty="0"/>
          </a:p>
        </p:txBody>
      </p:sp>
      <p:sp>
        <p:nvSpPr>
          <p:cNvPr id="11" name="Text 9"/>
          <p:cNvSpPr/>
          <p:nvPr/>
        </p:nvSpPr>
        <p:spPr>
          <a:xfrm>
            <a:off x="1170432" y="2144014"/>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看不见入侵早期信号</a:t>
            </a:r>
            <a:endParaRPr lang="en-US" sz="1465" dirty="0"/>
          </a:p>
        </p:txBody>
      </p:sp>
      <p:sp>
        <p:nvSpPr>
          <p:cNvPr id="12" name="Text 10"/>
          <p:cNvSpPr/>
          <p:nvPr/>
        </p:nvSpPr>
        <p:spPr>
          <a:xfrm>
            <a:off x="1170432" y="2485390"/>
            <a:ext cx="4632960" cy="414528"/>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dirty="0">
                <a:solidFill>
                  <a:srgbClr val="4C61E7"/>
                </a:solidFill>
                <a:latin typeface="黑体" panose="02010609060101010101" charset="-122"/>
                <a:ea typeface="黑体" panose="02010609060101010101" charset="-122"/>
                <a:cs typeface="黑体" panose="02010609060101010101" charset="-122"/>
                <a:sym typeface="+mn-ea"/>
              </a:rPr>
              <a:t>XXX</a:t>
            </a:r>
            <a:r>
              <a:rPr lang="zh-CN" altLang="en-US" sz="1200" dirty="0">
                <a:solidFill>
                  <a:srgbClr val="4C61E7"/>
                </a:solidFill>
                <a:latin typeface="黑体" panose="02010609060101010101" charset="-122"/>
                <a:ea typeface="黑体" panose="02010609060101010101" charset="-122"/>
                <a:cs typeface="黑体" panose="02010609060101010101" charset="-122"/>
                <a:sym typeface="+mn-ea"/>
              </a:rPr>
              <a:t>业务系统</a:t>
            </a:r>
            <a:r>
              <a:rPr lang="zh-CN" altLang="en-US" sz="1200" dirty="0">
                <a:latin typeface="黑体" panose="02010609060101010101" charset="-122"/>
                <a:ea typeface="黑体" panose="02010609060101010101" charset="-122"/>
                <a:cs typeface="黑体" panose="02010609060101010101" charset="-122"/>
                <a:sym typeface="+mn-ea"/>
              </a:rPr>
              <a:t>是加密的，现有安全设备不能监测到明文通信数据，看不见真实的攻击载荷，等同于给眼睛蒙上了</a:t>
            </a:r>
            <a:r>
              <a:rPr lang="zh-CN" altLang="en-US" sz="1200" dirty="0">
                <a:latin typeface="黑体" panose="02010609060101010101" charset="-122"/>
                <a:ea typeface="黑体" panose="02010609060101010101" charset="-122"/>
                <a:cs typeface="黑体" panose="02010609060101010101" charset="-122"/>
                <a:sym typeface="+mn-ea"/>
              </a:rPr>
              <a:t>眼罩；</a:t>
            </a:r>
            <a:endParaRPr lang="en-US" sz="1200" dirty="0"/>
          </a:p>
        </p:txBody>
      </p:sp>
      <p:sp>
        <p:nvSpPr>
          <p:cNvPr id="13" name="Shape 11"/>
          <p:cNvSpPr/>
          <p:nvPr/>
        </p:nvSpPr>
        <p:spPr>
          <a:xfrm>
            <a:off x="658368" y="3326892"/>
            <a:ext cx="390144" cy="390144"/>
          </a:xfrm>
          <a:prstGeom prst="ellipse">
            <a:avLst/>
          </a:prstGeom>
          <a:solidFill>
            <a:srgbClr val="EA580C"/>
          </a:solidFill>
        </p:spPr>
      </p:sp>
      <p:sp>
        <p:nvSpPr>
          <p:cNvPr id="14" name="Text 12"/>
          <p:cNvSpPr/>
          <p:nvPr/>
        </p:nvSpPr>
        <p:spPr>
          <a:xfrm>
            <a:off x="658368" y="3326892"/>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02</a:t>
            </a:r>
            <a:endParaRPr lang="en-US" sz="1335" dirty="0"/>
          </a:p>
        </p:txBody>
      </p:sp>
      <p:sp>
        <p:nvSpPr>
          <p:cNvPr id="15" name="Text 13"/>
          <p:cNvSpPr/>
          <p:nvPr/>
        </p:nvSpPr>
        <p:spPr>
          <a:xfrm>
            <a:off x="1170432" y="3314700"/>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看不见内部异常行为</a:t>
            </a:r>
            <a:endParaRPr lang="en-US" sz="1465" dirty="0"/>
          </a:p>
        </p:txBody>
      </p:sp>
      <p:sp>
        <p:nvSpPr>
          <p:cNvPr id="16" name="Text 14"/>
          <p:cNvSpPr/>
          <p:nvPr/>
        </p:nvSpPr>
        <p:spPr>
          <a:xfrm>
            <a:off x="1170305" y="3656330"/>
            <a:ext cx="4632960" cy="621030"/>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XX</a:t>
            </a:r>
            <a:r>
              <a:rPr lang="zh-CN" altLang="en-US"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区域主机</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未纳入主动安全体系监测范围，入侵者可以通过</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APT</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或钓鱼等高级手段入侵后，控制主机下载内部敏感数据或利用微信等</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IM</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软件拉群发起诈骗，而安全人员毫无感知；</a:t>
            </a:r>
            <a:endParaRPr lang="en-US" sz="1200" dirty="0"/>
          </a:p>
        </p:txBody>
      </p:sp>
      <p:sp>
        <p:nvSpPr>
          <p:cNvPr id="17" name="Shape 15"/>
          <p:cNvSpPr/>
          <p:nvPr/>
        </p:nvSpPr>
        <p:spPr>
          <a:xfrm>
            <a:off x="658368" y="4633468"/>
            <a:ext cx="390144" cy="390144"/>
          </a:xfrm>
          <a:prstGeom prst="ellipse">
            <a:avLst/>
          </a:prstGeom>
          <a:solidFill>
            <a:srgbClr val="D97706"/>
          </a:solidFill>
        </p:spPr>
      </p:sp>
      <p:sp>
        <p:nvSpPr>
          <p:cNvPr id="18" name="Text 16"/>
          <p:cNvSpPr/>
          <p:nvPr/>
        </p:nvSpPr>
        <p:spPr>
          <a:xfrm>
            <a:off x="658368" y="4633468"/>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03</a:t>
            </a:r>
            <a:endParaRPr lang="en-US" sz="1335" dirty="0"/>
          </a:p>
        </p:txBody>
      </p:sp>
      <p:sp>
        <p:nvSpPr>
          <p:cNvPr id="19" name="Text 17"/>
          <p:cNvSpPr/>
          <p:nvPr/>
        </p:nvSpPr>
        <p:spPr>
          <a:xfrm>
            <a:off x="1170432" y="4621276"/>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看不见攻击横向移动</a:t>
            </a:r>
            <a:endParaRPr lang="en-US" sz="1465" dirty="0"/>
          </a:p>
        </p:txBody>
      </p:sp>
      <p:sp>
        <p:nvSpPr>
          <p:cNvPr id="20" name="Text 18"/>
          <p:cNvSpPr/>
          <p:nvPr/>
        </p:nvSpPr>
        <p:spPr>
          <a:xfrm>
            <a:off x="1170432" y="4962652"/>
            <a:ext cx="4632960" cy="414528"/>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XX</a:t>
            </a:r>
            <a:r>
              <a:rPr lang="zh-CN" altLang="en-US"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区域</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端点流量监测未覆盖，攻击者可以通过</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APT</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或钓鱼等高级手段入侵后，持续在内部活动寻找高价值目标或控制更多终端；</a:t>
            </a:r>
            <a:endParaRPr lang="en-US" sz="1200" dirty="0"/>
          </a:p>
        </p:txBody>
      </p:sp>
      <p:grpSp>
        <p:nvGrpSpPr>
          <p:cNvPr id="62" name="组合 61"/>
          <p:cNvGrpSpPr/>
          <p:nvPr/>
        </p:nvGrpSpPr>
        <p:grpSpPr>
          <a:xfrm>
            <a:off x="6165850" y="1973580"/>
            <a:ext cx="1791970" cy="1863090"/>
            <a:chOff x="9830" y="3108"/>
            <a:chExt cx="2822" cy="2934"/>
          </a:xfrm>
        </p:grpSpPr>
        <p:sp>
          <p:nvSpPr>
            <p:cNvPr id="32" name="Shape 30"/>
            <p:cNvSpPr/>
            <p:nvPr/>
          </p:nvSpPr>
          <p:spPr>
            <a:xfrm>
              <a:off x="9830" y="3108"/>
              <a:ext cx="2822" cy="2934"/>
            </a:xfrm>
            <a:prstGeom prst="rect">
              <a:avLst/>
            </a:prstGeom>
            <a:solidFill>
              <a:srgbClr val="FFFFFF"/>
            </a:solidFill>
            <a:ln w="12700">
              <a:solidFill>
                <a:srgbClr val="E2E8F0"/>
              </a:solidFill>
              <a:prstDash val="solid"/>
            </a:ln>
          </p:spPr>
        </p:sp>
        <p:sp>
          <p:nvSpPr>
            <p:cNvPr id="33" name="Shape 31"/>
            <p:cNvSpPr/>
            <p:nvPr/>
          </p:nvSpPr>
          <p:spPr>
            <a:xfrm>
              <a:off x="9964" y="3242"/>
              <a:ext cx="1632" cy="461"/>
            </a:xfrm>
            <a:prstGeom prst="roundRect">
              <a:avLst>
                <a:gd name="adj" fmla="val 12500"/>
              </a:avLst>
            </a:prstGeom>
            <a:solidFill>
              <a:srgbClr val="FEF2F2"/>
            </a:solidFill>
          </p:spPr>
        </p:sp>
        <p:sp>
          <p:nvSpPr>
            <p:cNvPr id="34" name="Text 32"/>
            <p:cNvSpPr/>
            <p:nvPr/>
          </p:nvSpPr>
          <p:spPr>
            <a:xfrm>
              <a:off x="9964" y="3242"/>
              <a:ext cx="1632" cy="461"/>
            </a:xfrm>
            <a:prstGeom prst="rect">
              <a:avLst/>
            </a:prstGeom>
            <a:noFill/>
          </p:spPr>
          <p:txBody>
            <a:bodyPr wrap="square" lIns="0" tIns="0" rIns="0" bIns="0" rtlCol="0" anchor="ctr"/>
            <a:lstStyle/>
            <a:p>
              <a:pPr marL="0" indent="0" algn="l">
                <a:buNone/>
              </a:pPr>
              <a:r>
                <a:rPr lang="en-US" sz="1200" b="1" dirty="0">
                  <a:solidFill>
                    <a:srgbClr val="DC2626"/>
                  </a:solidFill>
                  <a:latin typeface="微软雅黑" panose="020B0503020204020204" charset="-122"/>
                  <a:ea typeface="微软雅黑" panose="020B0503020204020204" charset="-122"/>
                  <a:cs typeface="微软雅黑" panose="020B0503020204020204" pitchFamily="34" charset="-120"/>
                </a:rPr>
                <a:t>勒索爆发</a:t>
              </a:r>
              <a:endParaRPr lang="en-US" sz="1200" dirty="0"/>
            </a:p>
          </p:txBody>
        </p:sp>
        <p:sp>
          <p:nvSpPr>
            <p:cNvPr id="35" name="Text 33"/>
            <p:cNvSpPr/>
            <p:nvPr/>
          </p:nvSpPr>
          <p:spPr>
            <a:xfrm>
              <a:off x="9964" y="3708"/>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36" name="Text 34"/>
            <p:cNvSpPr/>
            <p:nvPr/>
          </p:nvSpPr>
          <p:spPr>
            <a:xfrm>
              <a:off x="9964" y="4092"/>
              <a:ext cx="2554" cy="653"/>
            </a:xfrm>
            <a:prstGeom prst="rect">
              <a:avLst/>
            </a:prstGeom>
            <a:noFill/>
          </p:spPr>
          <p:txBody>
            <a:bodyPr wrap="square" lIns="0" tIns="0" rIns="0" bIns="0" rtlCol="0" anchor="ctr"/>
            <a:lstStyle/>
            <a:p>
              <a:pPr marL="0" indent="0">
                <a:buNone/>
              </a:pP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钓鱼邮件 → 静默侦察15天 → 突然</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大面积</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加密</a:t>
              </a:r>
              <a:endParaRPr lang="en-US" sz="1135" dirty="0"/>
            </a:p>
          </p:txBody>
        </p:sp>
        <p:sp>
          <p:nvSpPr>
            <p:cNvPr id="37" name="Shape 35"/>
            <p:cNvSpPr/>
            <p:nvPr/>
          </p:nvSpPr>
          <p:spPr>
            <a:xfrm>
              <a:off x="9964" y="5005"/>
              <a:ext cx="2554" cy="0"/>
            </a:xfrm>
            <a:prstGeom prst="line">
              <a:avLst/>
            </a:prstGeom>
            <a:noFill/>
            <a:ln w="12700">
              <a:solidFill>
                <a:srgbClr val="E2E8F0"/>
              </a:solidFill>
              <a:prstDash val="dash"/>
            </a:ln>
          </p:spPr>
        </p:sp>
        <p:sp>
          <p:nvSpPr>
            <p:cNvPr id="38" name="Text 36"/>
            <p:cNvSpPr/>
            <p:nvPr/>
          </p:nvSpPr>
          <p:spPr>
            <a:xfrm>
              <a:off x="9964"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39" name="Text 37"/>
            <p:cNvSpPr/>
            <p:nvPr/>
          </p:nvSpPr>
          <p:spPr>
            <a:xfrm>
              <a:off x="9964"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业务停摆</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敏感数据丢失</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外部恶性舆论影响组织</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声誉</a:t>
              </a:r>
              <a:endPar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endParaRPr>
            </a:p>
          </p:txBody>
        </p:sp>
      </p:grpSp>
      <p:grpSp>
        <p:nvGrpSpPr>
          <p:cNvPr id="63" name="组合 62"/>
          <p:cNvGrpSpPr/>
          <p:nvPr/>
        </p:nvGrpSpPr>
        <p:grpSpPr>
          <a:xfrm>
            <a:off x="8069580" y="1973580"/>
            <a:ext cx="1791970" cy="1863090"/>
            <a:chOff x="12768" y="3108"/>
            <a:chExt cx="2822" cy="2934"/>
          </a:xfrm>
        </p:grpSpPr>
        <p:sp>
          <p:nvSpPr>
            <p:cNvPr id="40" name="Shape 38"/>
            <p:cNvSpPr/>
            <p:nvPr/>
          </p:nvSpPr>
          <p:spPr>
            <a:xfrm>
              <a:off x="12768" y="3108"/>
              <a:ext cx="2822" cy="2934"/>
            </a:xfrm>
            <a:prstGeom prst="rect">
              <a:avLst/>
            </a:prstGeom>
            <a:solidFill>
              <a:srgbClr val="FFFFFF"/>
            </a:solidFill>
            <a:ln w="12700">
              <a:solidFill>
                <a:srgbClr val="E2E8F0"/>
              </a:solidFill>
              <a:prstDash val="solid"/>
            </a:ln>
          </p:spPr>
        </p:sp>
        <p:sp>
          <p:nvSpPr>
            <p:cNvPr id="41" name="Shape 39"/>
            <p:cNvSpPr/>
            <p:nvPr/>
          </p:nvSpPr>
          <p:spPr>
            <a:xfrm>
              <a:off x="12902" y="3242"/>
              <a:ext cx="1632" cy="461"/>
            </a:xfrm>
            <a:prstGeom prst="roundRect">
              <a:avLst>
                <a:gd name="adj" fmla="val 12500"/>
              </a:avLst>
            </a:prstGeom>
            <a:solidFill>
              <a:srgbClr val="FFF7ED"/>
            </a:solidFill>
          </p:spPr>
        </p:sp>
        <p:sp>
          <p:nvSpPr>
            <p:cNvPr id="42" name="Text 40"/>
            <p:cNvSpPr/>
            <p:nvPr/>
          </p:nvSpPr>
          <p:spPr>
            <a:xfrm>
              <a:off x="12902" y="3242"/>
              <a:ext cx="1632" cy="461"/>
            </a:xfrm>
            <a:prstGeom prst="rect">
              <a:avLst/>
            </a:prstGeom>
            <a:noFill/>
          </p:spPr>
          <p:txBody>
            <a:bodyPr wrap="square" lIns="0" tIns="0" rIns="0" bIns="0" rtlCol="0" anchor="ctr"/>
            <a:lstStyle/>
            <a:p>
              <a:pPr marL="0" indent="0" algn="l">
                <a:buNone/>
              </a:pPr>
              <a:r>
                <a:rPr lang="zh-CN" altLang="en-US" sz="1200" b="1" dirty="0">
                  <a:solidFill>
                    <a:srgbClr val="EA580C"/>
                  </a:solidFill>
                  <a:latin typeface="微软雅黑" panose="020B0503020204020204" charset="-122"/>
                  <a:ea typeface="微软雅黑" panose="020B0503020204020204" charset="-122"/>
                  <a:cs typeface="微软雅黑" panose="020B0503020204020204" pitchFamily="34" charset="-120"/>
                </a:rPr>
                <a:t>敏感数据</a:t>
              </a:r>
              <a:r>
                <a:rPr lang="en-US" sz="1200" b="1" dirty="0">
                  <a:solidFill>
                    <a:srgbClr val="EA580C"/>
                  </a:solidFill>
                  <a:latin typeface="微软雅黑" panose="020B0503020204020204" charset="-122"/>
                  <a:ea typeface="微软雅黑" panose="020B0503020204020204" charset="-122"/>
                  <a:cs typeface="微软雅黑" panose="020B0503020204020204" pitchFamily="34" charset="-120"/>
                </a:rPr>
                <a:t>窃取</a:t>
              </a:r>
              <a:endParaRPr lang="en-US" sz="1200" dirty="0"/>
            </a:p>
          </p:txBody>
        </p:sp>
        <p:sp>
          <p:nvSpPr>
            <p:cNvPr id="43" name="Text 41"/>
            <p:cNvSpPr/>
            <p:nvPr/>
          </p:nvSpPr>
          <p:spPr>
            <a:xfrm>
              <a:off x="12902" y="3703"/>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44" name="Text 42"/>
            <p:cNvSpPr/>
            <p:nvPr/>
          </p:nvSpPr>
          <p:spPr>
            <a:xfrm>
              <a:off x="12902" y="4087"/>
              <a:ext cx="2554" cy="658"/>
            </a:xfrm>
            <a:prstGeom prst="rect">
              <a:avLst/>
            </a:prstGeom>
            <a:noFill/>
          </p:spPr>
          <p:txBody>
            <a:bodyPr wrap="square" lIns="0" tIns="0" rIns="0" bIns="0" rtlCol="0" anchor="ctr"/>
            <a:lstStyle/>
            <a:p>
              <a:pPr marL="0" indent="0">
                <a:buNone/>
              </a:pP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盗取账号 → 蚂蚁搬家式分批下载 → 暗网售卖</a:t>
              </a:r>
              <a:endParaRPr lang="en-US" sz="1135" dirty="0"/>
            </a:p>
          </p:txBody>
        </p:sp>
        <p:sp>
          <p:nvSpPr>
            <p:cNvPr id="45" name="Shape 43"/>
            <p:cNvSpPr/>
            <p:nvPr/>
          </p:nvSpPr>
          <p:spPr>
            <a:xfrm>
              <a:off x="12902" y="5005"/>
              <a:ext cx="2554" cy="0"/>
            </a:xfrm>
            <a:prstGeom prst="line">
              <a:avLst/>
            </a:prstGeom>
            <a:noFill/>
            <a:ln w="12700">
              <a:solidFill>
                <a:srgbClr val="E2E8F0"/>
              </a:solidFill>
              <a:prstDash val="dash"/>
            </a:ln>
          </p:spPr>
        </p:sp>
        <p:sp>
          <p:nvSpPr>
            <p:cNvPr id="46" name="Text 44"/>
            <p:cNvSpPr/>
            <p:nvPr/>
          </p:nvSpPr>
          <p:spPr>
            <a:xfrm>
              <a:off x="12902"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47" name="Text 45"/>
            <p:cNvSpPr/>
            <p:nvPr/>
          </p:nvSpPr>
          <p:spPr>
            <a:xfrm>
              <a:off x="12902"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监管通报</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用户</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投诉 / 行政罚款(最高营收5%) </a:t>
              </a:r>
              <a:endParaRPr lang="en-US" sz="1065" dirty="0"/>
            </a:p>
          </p:txBody>
        </p:sp>
      </p:grpSp>
      <p:grpSp>
        <p:nvGrpSpPr>
          <p:cNvPr id="64" name="组合 63"/>
          <p:cNvGrpSpPr/>
          <p:nvPr/>
        </p:nvGrpSpPr>
        <p:grpSpPr>
          <a:xfrm>
            <a:off x="9973310" y="1973580"/>
            <a:ext cx="1791970" cy="1863090"/>
            <a:chOff x="15705" y="3108"/>
            <a:chExt cx="2822" cy="2934"/>
          </a:xfrm>
        </p:grpSpPr>
        <p:sp>
          <p:nvSpPr>
            <p:cNvPr id="48" name="Shape 46"/>
            <p:cNvSpPr/>
            <p:nvPr/>
          </p:nvSpPr>
          <p:spPr>
            <a:xfrm>
              <a:off x="15705" y="3108"/>
              <a:ext cx="2822" cy="2934"/>
            </a:xfrm>
            <a:prstGeom prst="rect">
              <a:avLst/>
            </a:prstGeom>
            <a:solidFill>
              <a:srgbClr val="FFFFFF"/>
            </a:solidFill>
            <a:ln w="12700">
              <a:solidFill>
                <a:srgbClr val="E2E8F0"/>
              </a:solidFill>
              <a:prstDash val="solid"/>
            </a:ln>
          </p:spPr>
        </p:sp>
        <p:sp>
          <p:nvSpPr>
            <p:cNvPr id="49" name="Shape 47"/>
            <p:cNvSpPr/>
            <p:nvPr/>
          </p:nvSpPr>
          <p:spPr>
            <a:xfrm>
              <a:off x="15840" y="3242"/>
              <a:ext cx="1632" cy="461"/>
            </a:xfrm>
            <a:prstGeom prst="roundRect">
              <a:avLst>
                <a:gd name="adj" fmla="val 12500"/>
              </a:avLst>
            </a:prstGeom>
            <a:solidFill>
              <a:srgbClr val="FFFBEB"/>
            </a:solidFill>
          </p:spPr>
        </p:sp>
        <p:sp>
          <p:nvSpPr>
            <p:cNvPr id="50" name="Text 48"/>
            <p:cNvSpPr/>
            <p:nvPr/>
          </p:nvSpPr>
          <p:spPr>
            <a:xfrm>
              <a:off x="15840" y="3242"/>
              <a:ext cx="1632" cy="461"/>
            </a:xfrm>
            <a:prstGeom prst="rect">
              <a:avLst/>
            </a:prstGeom>
            <a:noFill/>
          </p:spPr>
          <p:txBody>
            <a:bodyPr wrap="square" lIns="0" tIns="0" rIns="0" bIns="0" rtlCol="0" anchor="ctr"/>
            <a:lstStyle/>
            <a:p>
              <a:pPr marL="0" indent="0" algn="l">
                <a:buNone/>
              </a:pPr>
              <a:r>
                <a:rPr lang="zh-CN" altLang="en-US" sz="1200" b="1" dirty="0">
                  <a:solidFill>
                    <a:srgbClr val="D97706"/>
                  </a:solidFill>
                  <a:latin typeface="微软雅黑" panose="020B0503020204020204" charset="-122"/>
                  <a:ea typeface="微软雅黑" panose="020B0503020204020204" charset="-122"/>
                  <a:cs typeface="微软雅黑" panose="020B0503020204020204" pitchFamily="34" charset="-120"/>
                </a:rPr>
                <a:t>内网穿透</a:t>
              </a:r>
              <a:endParaRPr lang="zh-CN" altLang="en-US" sz="1200" b="1" dirty="0">
                <a:solidFill>
                  <a:srgbClr val="D97706"/>
                </a:solidFill>
                <a:latin typeface="微软雅黑" panose="020B0503020204020204" charset="-122"/>
                <a:ea typeface="微软雅黑" panose="020B0503020204020204" charset="-122"/>
                <a:cs typeface="微软雅黑" panose="020B0503020204020204" pitchFamily="34" charset="-120"/>
              </a:endParaRPr>
            </a:p>
          </p:txBody>
        </p:sp>
        <p:sp>
          <p:nvSpPr>
            <p:cNvPr id="51" name="Text 49"/>
            <p:cNvSpPr/>
            <p:nvPr/>
          </p:nvSpPr>
          <p:spPr>
            <a:xfrm>
              <a:off x="15840" y="3708"/>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52" name="Text 50"/>
            <p:cNvSpPr/>
            <p:nvPr/>
          </p:nvSpPr>
          <p:spPr>
            <a:xfrm>
              <a:off x="15840" y="4092"/>
              <a:ext cx="2554" cy="652"/>
            </a:xfrm>
            <a:prstGeom prst="rect">
              <a:avLst/>
            </a:prstGeom>
            <a:noFill/>
          </p:spPr>
          <p:txBody>
            <a:bodyPr wrap="square" lIns="0" tIns="0" rIns="0" bIns="0" rtlCol="0" anchor="ctr"/>
            <a:lstStyle/>
            <a:p>
              <a:pPr marL="0" indent="0">
                <a:buNone/>
              </a:pP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加密应用漏洞</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 → </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截取敏感信息</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 → </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攻防负面</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典型</a:t>
              </a:r>
              <a:endPar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endParaRPr>
            </a:p>
          </p:txBody>
        </p:sp>
        <p:sp>
          <p:nvSpPr>
            <p:cNvPr id="53" name="Shape 51"/>
            <p:cNvSpPr/>
            <p:nvPr/>
          </p:nvSpPr>
          <p:spPr>
            <a:xfrm>
              <a:off x="15840" y="5005"/>
              <a:ext cx="2554" cy="0"/>
            </a:xfrm>
            <a:prstGeom prst="line">
              <a:avLst/>
            </a:prstGeom>
            <a:noFill/>
            <a:ln w="12700">
              <a:solidFill>
                <a:srgbClr val="E2E8F0"/>
              </a:solidFill>
              <a:prstDash val="dash"/>
            </a:ln>
          </p:spPr>
        </p:sp>
        <p:sp>
          <p:nvSpPr>
            <p:cNvPr id="54" name="Text 52"/>
            <p:cNvSpPr/>
            <p:nvPr/>
          </p:nvSpPr>
          <p:spPr>
            <a:xfrm>
              <a:off x="15840"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55" name="Text 53"/>
            <p:cNvSpPr/>
            <p:nvPr/>
          </p:nvSpPr>
          <p:spPr>
            <a:xfrm>
              <a:off x="15840"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安全</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防御</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和检测手段</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完全无效 / </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内网几乎</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裸奔状态</a:t>
              </a:r>
              <a:endParaRPr lang="en-US" sz="1065" dirty="0"/>
            </a:p>
          </p:txBody>
        </p:sp>
      </p:grpSp>
      <p:sp>
        <p:nvSpPr>
          <p:cNvPr id="4" name="Shape 2"/>
          <p:cNvSpPr/>
          <p:nvPr/>
        </p:nvSpPr>
        <p:spPr>
          <a:xfrm>
            <a:off x="426720" y="1158240"/>
            <a:ext cx="11338560" cy="390525"/>
          </a:xfrm>
          <a:prstGeom prst="rect">
            <a:avLst/>
          </a:prstGeom>
          <a:solidFill>
            <a:schemeClr val="accent1">
              <a:lumMod val="20000"/>
              <a:lumOff val="80000"/>
            </a:schemeClr>
          </a:solidFill>
          <a:ln w="12700">
            <a:solidFill>
              <a:schemeClr val="accent5">
                <a:lumMod val="60000"/>
                <a:lumOff val="40000"/>
              </a:schemeClr>
            </a:solidFill>
            <a:prstDash val="dash"/>
          </a:ln>
        </p:spPr>
      </p:sp>
      <p:sp>
        <p:nvSpPr>
          <p:cNvPr id="59" name="Text 3"/>
          <p:cNvSpPr/>
          <p:nvPr/>
        </p:nvSpPr>
        <p:spPr>
          <a:xfrm>
            <a:off x="609600" y="1158240"/>
            <a:ext cx="10972800" cy="390525"/>
          </a:xfrm>
          <a:prstGeom prst="rect">
            <a:avLst/>
          </a:prstGeom>
          <a:noFill/>
        </p:spPr>
        <p:txBody>
          <a:bodyPr wrap="square" lIns="0" tIns="0" rIns="0" bIns="0" rtlCol="0" anchor="ctr"/>
          <a:lstStyle/>
          <a:p>
            <a:pPr marL="0" indent="0">
              <a:buNone/>
            </a:pP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核心判断</a:t>
            </a: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535" dirty="0">
                <a:solidFill>
                  <a:srgbClr val="1E293B"/>
                </a:solidFill>
                <a:latin typeface="微软雅黑" panose="020B0503020204020204" charset="-122"/>
                <a:ea typeface="微软雅黑" panose="020B0503020204020204" charset="-122"/>
                <a:cs typeface="微软雅黑" panose="020B0503020204020204" pitchFamily="34" charset="-120"/>
              </a:rPr>
              <a:t>|  当前</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rPr>
              <a:t>单位</a:t>
            </a:r>
            <a:r>
              <a:rPr lang="en-US" sz="1535" dirty="0">
                <a:solidFill>
                  <a:srgbClr val="1E293B"/>
                </a:solidFill>
                <a:latin typeface="微软雅黑" panose="020B0503020204020204" charset="-122"/>
                <a:ea typeface="微软雅黑" panose="020B0503020204020204" charset="-122"/>
                <a:cs typeface="微软雅黑" panose="020B0503020204020204" pitchFamily="34" charset="-120"/>
              </a:rPr>
              <a:t>信息系统的安全防护相当于</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rPr>
              <a:t>“大门有门禁和摄像头但是窗户开着且室内没有监控</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sym typeface="+mn-ea"/>
              </a:rPr>
              <a:t>”</a:t>
            </a:r>
            <a:r>
              <a:rPr lang="en-US" sz="1535" b="1" dirty="0">
                <a:solidFill>
                  <a:srgbClr val="991B1B"/>
                </a:solidFill>
                <a:latin typeface="微软雅黑" panose="020B0503020204020204" charset="-122"/>
                <a:ea typeface="微软雅黑" panose="020B0503020204020204" charset="-122"/>
                <a:cs typeface="微软雅黑" panose="020B0503020204020204" pitchFamily="34" charset="-120"/>
              </a:rPr>
              <a:t> </a:t>
            </a: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 有</a:t>
            </a:r>
            <a:r>
              <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监控</a:t>
            </a: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 ≠ </a:t>
            </a:r>
            <a:r>
              <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不被盗</a:t>
            </a:r>
            <a:endPar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endParaRPr>
          </a:p>
        </p:txBody>
      </p:sp>
      <p:grpSp>
        <p:nvGrpSpPr>
          <p:cNvPr id="65" name="组合 64"/>
          <p:cNvGrpSpPr/>
          <p:nvPr/>
        </p:nvGrpSpPr>
        <p:grpSpPr>
          <a:xfrm>
            <a:off x="6165850" y="1607820"/>
            <a:ext cx="5598160" cy="359410"/>
            <a:chOff x="9710" y="2532"/>
            <a:chExt cx="8816" cy="566"/>
          </a:xfrm>
        </p:grpSpPr>
        <p:sp>
          <p:nvSpPr>
            <p:cNvPr id="31" name="Text 29"/>
            <p:cNvSpPr/>
            <p:nvPr/>
          </p:nvSpPr>
          <p:spPr>
            <a:xfrm>
              <a:off x="9830" y="2532"/>
              <a:ext cx="8697" cy="567"/>
            </a:xfrm>
            <a:prstGeom prst="rect">
              <a:avLst/>
            </a:prstGeom>
            <a:noFill/>
          </p:spPr>
          <p:txBody>
            <a:bodyPr wrap="square" lIns="0" tIns="0" rIns="0" bIns="0" rtlCol="0" anchor="ctr" anchorCtr="0"/>
            <a:lstStyle/>
            <a:p>
              <a:pPr marL="0" indent="0">
                <a:buNone/>
              </a:pPr>
              <a:r>
                <a:rPr 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  潜在风险情景</a:t>
              </a:r>
              <a:endParaRPr lang="en-US" sz="1535" dirty="0"/>
            </a:p>
          </p:txBody>
        </p:sp>
        <p:sp>
          <p:nvSpPr>
            <p:cNvPr id="60" name="Shape 5"/>
            <p:cNvSpPr/>
            <p:nvPr/>
          </p:nvSpPr>
          <p:spPr>
            <a:xfrm>
              <a:off x="9710" y="2532"/>
              <a:ext cx="120" cy="567"/>
            </a:xfrm>
            <a:prstGeom prst="rect">
              <a:avLst/>
            </a:prstGeom>
            <a:solidFill>
              <a:srgbClr val="DC2626"/>
            </a:solidFill>
          </p:spPr>
        </p:sp>
      </p:grpSp>
      <p:grpSp>
        <p:nvGrpSpPr>
          <p:cNvPr id="66" name="组合 65"/>
          <p:cNvGrpSpPr/>
          <p:nvPr/>
        </p:nvGrpSpPr>
        <p:grpSpPr>
          <a:xfrm>
            <a:off x="6165850" y="3917950"/>
            <a:ext cx="5598160" cy="359410"/>
            <a:chOff x="9710" y="2532"/>
            <a:chExt cx="8816" cy="566"/>
          </a:xfrm>
        </p:grpSpPr>
        <p:sp>
          <p:nvSpPr>
            <p:cNvPr id="67" name="Text 29"/>
            <p:cNvSpPr/>
            <p:nvPr/>
          </p:nvSpPr>
          <p:spPr>
            <a:xfrm>
              <a:off x="9830" y="2532"/>
              <a:ext cx="8697" cy="567"/>
            </a:xfrm>
            <a:prstGeom prst="rect">
              <a:avLst/>
            </a:prstGeom>
            <a:noFill/>
          </p:spPr>
          <p:txBody>
            <a:bodyPr wrap="square" lIns="0" tIns="0" rIns="0" bIns="0" rtlCol="0" anchor="ctr" anchorCtr="0"/>
            <a:lstStyle/>
            <a:p>
              <a:pPr marL="0" indent="0">
                <a:buNone/>
              </a:pPr>
              <a:r>
                <a:rPr lang="en-US" altLang="zh-CN" sz="1535" b="1" dirty="0">
                  <a:solidFill>
                    <a:srgbClr val="1A2744"/>
                  </a:solidFill>
                  <a:latin typeface="微软雅黑" panose="020B0503020204020204" charset="-122"/>
                  <a:ea typeface="微软雅黑" panose="020B0503020204020204" charset="-122"/>
                  <a:cs typeface="微软雅黑" panose="020B0503020204020204" pitchFamily="34" charset="-120"/>
                </a:rPr>
                <a:t>  </a:t>
              </a:r>
              <a:r>
                <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解决</a:t>
              </a:r>
              <a:r>
                <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思路</a:t>
              </a:r>
              <a:endPar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endParaRPr>
            </a:p>
          </p:txBody>
        </p:sp>
        <p:sp>
          <p:nvSpPr>
            <p:cNvPr id="68" name="Shape 5"/>
            <p:cNvSpPr/>
            <p:nvPr/>
          </p:nvSpPr>
          <p:spPr>
            <a:xfrm>
              <a:off x="9710" y="2532"/>
              <a:ext cx="120" cy="567"/>
            </a:xfrm>
            <a:prstGeom prst="rect">
              <a:avLst/>
            </a:prstGeom>
            <a:solidFill>
              <a:srgbClr val="00B050"/>
            </a:solidFill>
          </p:spPr>
        </p:sp>
      </p:grpSp>
      <p:sp>
        <p:nvSpPr>
          <p:cNvPr id="69" name="文本框 68"/>
          <p:cNvSpPr txBox="1"/>
          <p:nvPr/>
        </p:nvSpPr>
        <p:spPr>
          <a:xfrm>
            <a:off x="6165850" y="4333240"/>
            <a:ext cx="5599430" cy="4320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等安全设备上配置加密应用解密策略</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；调整应用发布架构，使用专用的</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SSL</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卸载设备做加解密，安全设备部署</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SSL</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卸载设备</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之后；</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0" name="文本框 69"/>
          <p:cNvSpPr txBox="1"/>
          <p:nvPr/>
        </p:nvSpPr>
        <p:spPr>
          <a:xfrm>
            <a:off x="6165215" y="4817945"/>
            <a:ext cx="5599430" cy="4318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增加流量监测探针覆盖到二层横向流量的监测</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同时加密应用涉及的主机资产部署端点安全组件</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这部分主机一旦有异常行为能及时</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发现；</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1" name="文本框 70"/>
          <p:cNvSpPr txBox="1"/>
          <p:nvPr/>
        </p:nvSpPr>
        <p:spPr>
          <a:xfrm>
            <a:off x="6165850" y="5302450"/>
            <a:ext cx="5599430" cy="4318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3</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、扩大7*24小时监测覆盖范围，</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主动安全体系实现对监测盲区的全面</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覆盖；</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1" name="组合 20"/>
          <p:cNvGrpSpPr/>
          <p:nvPr/>
        </p:nvGrpSpPr>
        <p:grpSpPr>
          <a:xfrm>
            <a:off x="224790" y="289878"/>
            <a:ext cx="9097010" cy="327025"/>
            <a:chOff x="533" y="646"/>
            <a:chExt cx="14326" cy="515"/>
          </a:xfrm>
        </p:grpSpPr>
        <p:grpSp>
          <p:nvGrpSpPr>
            <p:cNvPr id="22" name="组合 21"/>
            <p:cNvGrpSpPr/>
            <p:nvPr/>
          </p:nvGrpSpPr>
          <p:grpSpPr>
            <a:xfrm rot="0">
              <a:off x="533" y="672"/>
              <a:ext cx="582" cy="420"/>
              <a:chOff x="533" y="672"/>
              <a:chExt cx="582" cy="420"/>
            </a:xfrm>
          </p:grpSpPr>
          <p:sp>
            <p:nvSpPr>
              <p:cNvPr id="23" name="燕尾形 86"/>
              <p:cNvSpPr/>
              <p:nvPr>
                <p:custDataLst>
                  <p:tags r:id="rId3"/>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4" name="燕尾形 103"/>
              <p:cNvSpPr/>
              <p:nvPr>
                <p:custDataLst>
                  <p:tags r:id="rId4"/>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5" name="textbox 158"/>
            <p:cNvSpPr/>
            <p:nvPr/>
          </p:nvSpPr>
          <p:spPr>
            <a:xfrm>
              <a:off x="1345" y="646"/>
              <a:ext cx="13514"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关键问题一、</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存在安全监测盲区，</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会导致业务保护的目标无法</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达成</a:t>
              </a:r>
              <a:endParaRPr lang="zh-CN" altLang="en-US" sz="1900" kern="0" dirty="0">
                <a:solidFill>
                  <a:schemeClr val="tx1"/>
                </a:solidFill>
                <a:latin typeface="黑体" panose="02010609060101010101" charset="-122"/>
                <a:ea typeface="黑体" panose="02010609060101010101" charset="-122"/>
                <a:cs typeface="黑体" panose="02010609060101010101" charset="-122"/>
                <a:sym typeface="+mn-ea"/>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sym typeface="+mn-ea"/>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三年演进路线</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26" name="图片 25"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Shape 5"/>
          <p:cNvSpPr/>
          <p:nvPr/>
        </p:nvSpPr>
        <p:spPr>
          <a:xfrm>
            <a:off x="60960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12" name="Shape 6"/>
          <p:cNvSpPr/>
          <p:nvPr/>
        </p:nvSpPr>
        <p:spPr>
          <a:xfrm>
            <a:off x="609600" y="1323340"/>
            <a:ext cx="3413760" cy="48768"/>
          </a:xfrm>
          <a:prstGeom prst="rect">
            <a:avLst/>
          </a:prstGeom>
          <a:solidFill>
            <a:srgbClr val="10B981"/>
          </a:solidFill>
        </p:spPr>
      </p:sp>
      <p:sp>
        <p:nvSpPr>
          <p:cNvPr id="13" name="Text 7"/>
          <p:cNvSpPr/>
          <p:nvPr/>
        </p:nvSpPr>
        <p:spPr>
          <a:xfrm>
            <a:off x="792480" y="1567180"/>
            <a:ext cx="3048000" cy="853440"/>
          </a:xfrm>
          <a:prstGeom prst="rect">
            <a:avLst/>
          </a:prstGeom>
          <a:noFill/>
        </p:spPr>
        <p:txBody>
          <a:bodyPr wrap="square" rtlCol="0" anchor="ctr"/>
          <a:lstStyle/>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阶段一</a:t>
            </a:r>
            <a:endParaRPr lang="en-US" sz="1735" dirty="0"/>
          </a:p>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互联网防线</a:t>
            </a:r>
            <a:endParaRPr lang="en-US" sz="1735" dirty="0"/>
          </a:p>
        </p:txBody>
      </p:sp>
      <p:sp>
        <p:nvSpPr>
          <p:cNvPr id="14" name="Text 8"/>
          <p:cNvSpPr/>
          <p:nvPr/>
        </p:nvSpPr>
        <p:spPr>
          <a:xfrm>
            <a:off x="79248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第1-12月</a:t>
            </a:r>
            <a:endParaRPr lang="en-US" sz="1335" dirty="0"/>
          </a:p>
        </p:txBody>
      </p:sp>
      <p:sp>
        <p:nvSpPr>
          <p:cNvPr id="15" name="Text 9"/>
          <p:cNvSpPr/>
          <p:nvPr/>
        </p:nvSpPr>
        <p:spPr>
          <a:xfrm>
            <a:off x="79248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16" name="Text 10"/>
          <p:cNvSpPr/>
          <p:nvPr/>
        </p:nvSpPr>
        <p:spPr>
          <a:xfrm>
            <a:off x="79248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20个互联网暴露资产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17" name="Text 11"/>
          <p:cNvSpPr/>
          <p:nvPr/>
        </p:nvSpPr>
        <p:spPr>
          <a:xfrm>
            <a:off x="79248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18" name="Text 12"/>
          <p:cNvSpPr/>
          <p:nvPr/>
        </p:nvSpPr>
        <p:spPr>
          <a:xfrm>
            <a:off x="79248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高风险入侵路径</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流量监控+威胁检测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7×24运营+季度报告</a:t>
            </a:r>
            <a:endParaRPr lang="en-US" sz="1200" dirty="0"/>
          </a:p>
        </p:txBody>
      </p:sp>
      <p:sp>
        <p:nvSpPr>
          <p:cNvPr id="19" name="Text 13"/>
          <p:cNvSpPr/>
          <p:nvPr/>
        </p:nvSpPr>
        <p:spPr>
          <a:xfrm>
            <a:off x="79248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20" name="Text 14"/>
          <p:cNvSpPr/>
          <p:nvPr/>
        </p:nvSpPr>
        <p:spPr>
          <a:xfrm>
            <a:off x="79248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最高ROI：80%攻击从互联网入口来</a:t>
            </a:r>
            <a:endParaRPr lang="en-US" sz="1200" dirty="0"/>
          </a:p>
        </p:txBody>
      </p:sp>
      <p:sp>
        <p:nvSpPr>
          <p:cNvPr id="21" name="Shape 15"/>
          <p:cNvSpPr/>
          <p:nvPr/>
        </p:nvSpPr>
        <p:spPr>
          <a:xfrm>
            <a:off x="438912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22" name="Shape 16"/>
          <p:cNvSpPr/>
          <p:nvPr/>
        </p:nvSpPr>
        <p:spPr>
          <a:xfrm>
            <a:off x="4389120" y="1323340"/>
            <a:ext cx="3413760" cy="48768"/>
          </a:xfrm>
          <a:prstGeom prst="rect">
            <a:avLst/>
          </a:prstGeom>
          <a:solidFill>
            <a:srgbClr val="0D7C66"/>
          </a:solidFill>
        </p:spPr>
      </p:sp>
      <p:sp>
        <p:nvSpPr>
          <p:cNvPr id="23" name="Text 17"/>
          <p:cNvSpPr/>
          <p:nvPr/>
        </p:nvSpPr>
        <p:spPr>
          <a:xfrm>
            <a:off x="4572000" y="1567180"/>
            <a:ext cx="3048000" cy="853440"/>
          </a:xfrm>
          <a:prstGeom prst="rect">
            <a:avLst/>
          </a:prstGeom>
          <a:noFill/>
        </p:spPr>
        <p:txBody>
          <a:bodyPr wrap="square" rtlCol="0" anchor="ctr"/>
          <a:lstStyle/>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阶段二</a:t>
            </a:r>
            <a:endParaRPr lang="en-US" sz="1735" dirty="0"/>
          </a:p>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内外联动</a:t>
            </a:r>
            <a:endParaRPr lang="en-US" sz="1735" dirty="0"/>
          </a:p>
        </p:txBody>
      </p:sp>
      <p:sp>
        <p:nvSpPr>
          <p:cNvPr id="25" name="Text 18"/>
          <p:cNvSpPr/>
          <p:nvPr/>
        </p:nvSpPr>
        <p:spPr>
          <a:xfrm>
            <a:off x="457200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第12-24月</a:t>
            </a:r>
            <a:endParaRPr lang="en-US" sz="1335" dirty="0"/>
          </a:p>
        </p:txBody>
      </p:sp>
      <p:sp>
        <p:nvSpPr>
          <p:cNvPr id="27" name="Text 19"/>
          <p:cNvSpPr/>
          <p:nvPr/>
        </p:nvSpPr>
        <p:spPr>
          <a:xfrm>
            <a:off x="457200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28" name="Text 20"/>
          <p:cNvSpPr/>
          <p:nvPr/>
        </p:nvSpPr>
        <p:spPr>
          <a:xfrm>
            <a:off x="457200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+内外网边界+</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外网</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办公终端</a:t>
            </a:r>
            <a:endPar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29" name="Text 21"/>
          <p:cNvSpPr/>
          <p:nvPr/>
        </p:nvSpPr>
        <p:spPr>
          <a:xfrm>
            <a:off x="457200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30" name="Text 22"/>
          <p:cNvSpPr/>
          <p:nvPr/>
        </p:nvSpPr>
        <p:spPr>
          <a:xfrm>
            <a:off x="457200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钓鱼</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攻击主动发现</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+横向移动检测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联调联处</a:t>
            </a:r>
            <a:endParaRPr lang="en-US" sz="1200" dirty="0"/>
          </a:p>
        </p:txBody>
      </p:sp>
      <p:sp>
        <p:nvSpPr>
          <p:cNvPr id="31" name="Text 23"/>
          <p:cNvSpPr/>
          <p:nvPr/>
        </p:nvSpPr>
        <p:spPr>
          <a:xfrm>
            <a:off x="457200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32" name="Text 24"/>
          <p:cNvSpPr/>
          <p:nvPr/>
        </p:nvSpPr>
        <p:spPr>
          <a:xfrm>
            <a:off x="457200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消除盲区：</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高风险入侵路径全面</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覆盖</a:t>
            </a:r>
            <a:endPar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endParaRPr>
          </a:p>
        </p:txBody>
      </p:sp>
      <p:sp>
        <p:nvSpPr>
          <p:cNvPr id="33" name="Shape 25"/>
          <p:cNvSpPr/>
          <p:nvPr/>
        </p:nvSpPr>
        <p:spPr>
          <a:xfrm>
            <a:off x="816864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34" name="Shape 26"/>
          <p:cNvSpPr/>
          <p:nvPr/>
        </p:nvSpPr>
        <p:spPr>
          <a:xfrm>
            <a:off x="8168640" y="1323340"/>
            <a:ext cx="3413760" cy="48768"/>
          </a:xfrm>
          <a:prstGeom prst="rect">
            <a:avLst/>
          </a:prstGeom>
          <a:solidFill>
            <a:srgbClr val="0A2E4D"/>
          </a:solidFill>
        </p:spPr>
      </p:sp>
      <p:sp>
        <p:nvSpPr>
          <p:cNvPr id="35" name="Text 27"/>
          <p:cNvSpPr/>
          <p:nvPr/>
        </p:nvSpPr>
        <p:spPr>
          <a:xfrm>
            <a:off x="8351520" y="1567180"/>
            <a:ext cx="3048000" cy="853440"/>
          </a:xfrm>
          <a:prstGeom prst="rect">
            <a:avLst/>
          </a:prstGeom>
          <a:noFill/>
        </p:spPr>
        <p:txBody>
          <a:bodyPr wrap="square" rtlCol="0" anchor="ctr"/>
          <a:lstStyle/>
          <a:p>
            <a:pPr marL="0" indent="0">
              <a:lnSpc>
                <a:spcPct val="120000"/>
              </a:lnSpc>
              <a:buNone/>
            </a:pP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阶段三</a:t>
            </a:r>
            <a:endParaRPr lang="en-US" sz="1735" dirty="0"/>
          </a:p>
          <a:p>
            <a:pPr marL="0" indent="0">
              <a:lnSpc>
                <a:spcPct val="120000"/>
              </a:lnSpc>
              <a:buNone/>
            </a:pPr>
            <a:r>
              <a:rPr lang="zh-CN" alt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全网</a:t>
            </a: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一体化</a:t>
            </a:r>
            <a:endParaRPr lang="en-US" sz="1735" dirty="0"/>
          </a:p>
        </p:txBody>
      </p:sp>
      <p:sp>
        <p:nvSpPr>
          <p:cNvPr id="36" name="Text 28"/>
          <p:cNvSpPr/>
          <p:nvPr/>
        </p:nvSpPr>
        <p:spPr>
          <a:xfrm>
            <a:off x="835152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第24-36月</a:t>
            </a:r>
            <a:endParaRPr lang="en-US" sz="1335" dirty="0"/>
          </a:p>
        </p:txBody>
      </p:sp>
      <p:sp>
        <p:nvSpPr>
          <p:cNvPr id="37" name="Text 29"/>
          <p:cNvSpPr/>
          <p:nvPr/>
        </p:nvSpPr>
        <p:spPr>
          <a:xfrm>
            <a:off x="835152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38" name="Text 30"/>
          <p:cNvSpPr/>
          <p:nvPr/>
        </p:nvSpPr>
        <p:spPr>
          <a:xfrm>
            <a:off x="835152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全</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网</a:t>
            </a: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IT资产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39" name="Text 31"/>
          <p:cNvSpPr/>
          <p:nvPr/>
        </p:nvSpPr>
        <p:spPr>
          <a:xfrm>
            <a:off x="835152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40" name="Text 32"/>
          <p:cNvSpPr/>
          <p:nvPr/>
        </p:nvSpPr>
        <p:spPr>
          <a:xfrm>
            <a:off x="8351520" y="3944620"/>
            <a:ext cx="3048000" cy="731520"/>
          </a:xfrm>
          <a:prstGeom prst="rect">
            <a:avLst/>
          </a:prstGeom>
          <a:noFill/>
        </p:spPr>
        <p:txBody>
          <a:bodyPr wrap="square" rtlCol="0" anchor="ctr"/>
          <a:lstStyle/>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SOAR编排+</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量化运营</a:t>
            </a:r>
            <a:r>
              <a:rPr lang="en-US" altLang="zh-CN" sz="1200" dirty="0">
                <a:solidFill>
                  <a:srgbClr val="94A3B8"/>
                </a:solidFill>
                <a:latin typeface="微软雅黑" panose="020B0503020204020204" charset="-122"/>
                <a:ea typeface="微软雅黑" panose="020B0503020204020204" charset="-122"/>
                <a:cs typeface="微软雅黑" panose="020B0503020204020204" pitchFamily="34" charset="-120"/>
              </a:rPr>
              <a:t>+</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运营效率逐步攀升</a:t>
            </a:r>
            <a:endParaRPr lang="en-US" sz="1200" dirty="0"/>
          </a:p>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全网</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运营体系</a:t>
            </a:r>
            <a:endParaRPr lang="en-US" sz="1200" dirty="0"/>
          </a:p>
        </p:txBody>
      </p:sp>
      <p:sp>
        <p:nvSpPr>
          <p:cNvPr id="41" name="Text 33"/>
          <p:cNvSpPr/>
          <p:nvPr/>
        </p:nvSpPr>
        <p:spPr>
          <a:xfrm>
            <a:off x="835152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42" name="Text 34"/>
          <p:cNvSpPr/>
          <p:nvPr/>
        </p:nvSpPr>
        <p:spPr>
          <a:xfrm>
            <a:off x="8351520" y="5041900"/>
            <a:ext cx="3048000" cy="670560"/>
          </a:xfrm>
          <a:prstGeom prst="rect">
            <a:avLst/>
          </a:prstGeom>
          <a:noFill/>
        </p:spPr>
        <p:txBody>
          <a:bodyPr wrap="square" rtlCol="0" anchor="ctr"/>
          <a:lstStyle/>
          <a:p>
            <a:pPr marL="0" indent="0">
              <a:lnSpc>
                <a:spcPct val="120000"/>
              </a:lnSpc>
              <a:buNone/>
            </a:pP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量化运营</a:t>
            </a: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：常态化运营管理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2818765" cy="327025"/>
            <a:chOff x="533" y="646"/>
            <a:chExt cx="443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下一阶段运营</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规划</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3" name="文本框 22"/>
          <p:cNvSpPr txBox="1"/>
          <p:nvPr/>
        </p:nvSpPr>
        <p:spPr>
          <a:xfrm>
            <a:off x="8820150" y="411480"/>
            <a:ext cx="4064000" cy="368300"/>
          </a:xfrm>
          <a:prstGeom prst="rect">
            <a:avLst/>
          </a:prstGeom>
          <a:noFill/>
        </p:spPr>
        <p:txBody>
          <a:bodyPr wrap="square" rtlCol="0">
            <a:spAutoFit/>
          </a:bodyPr>
          <a:p>
            <a:endParaRPr lang="zh-CN" altLang="en-US"/>
          </a:p>
        </p:txBody>
      </p:sp>
      <p:sp>
        <p:nvSpPr>
          <p:cNvPr id="36" name="矩形 35"/>
          <p:cNvSpPr/>
          <p:nvPr>
            <p:custDataLst>
              <p:tags r:id="rId4"/>
            </p:custDataLst>
          </p:nvPr>
        </p:nvSpPr>
        <p:spPr>
          <a:xfrm>
            <a:off x="724535" y="1032510"/>
            <a:ext cx="10895330" cy="247650"/>
          </a:xfrm>
          <a:prstGeom prst="rect">
            <a:avLst/>
          </a:prstGeom>
          <a:solidFill>
            <a:srgbClr val="5B9BD5"/>
          </a:solidFill>
          <a:ln w="12700" cap="flat" cmpd="sng" algn="ctr">
            <a:noFill/>
            <a:prstDash val="solid"/>
            <a:miter lim="800000"/>
          </a:ln>
          <a:effectLst>
            <a:outerShdw blurRad="254000" dist="101600" dir="2700000" algn="tl" rotWithShape="0">
              <a:srgbClr val="FFFFFF">
                <a:lumMod val="75000"/>
                <a:alpha val="40000"/>
              </a:srgbClr>
            </a:outerShdw>
          </a:effectLst>
        </p:spPr>
        <p:txBody>
          <a:bodyPr vertOverflow="overflow" horzOverflow="overflow" vert="horz" wrap="square" numCol="1" spcCol="0" rtlCol="0" fromWordArt="0" anchor="ctr" anchorCtr="0" forceAA="0" compatLnSpc="1">
            <a:noAutofit/>
          </a:bodyPr>
          <a:p>
            <a:pPr lvl="0" algn="ctr">
              <a:buClrTx/>
              <a:buSzTx/>
              <a:buFontTx/>
            </a:pPr>
            <a:endParaRPr lang="zh-CN" altLang="en-US">
              <a:solidFill>
                <a:srgbClr val="000000"/>
              </a:solidFill>
              <a:sym typeface="+mn-ea"/>
            </a:endParaRPr>
          </a:p>
        </p:txBody>
      </p:sp>
      <p:sp>
        <p:nvSpPr>
          <p:cNvPr id="37" name="矩形 36"/>
          <p:cNvSpPr/>
          <p:nvPr>
            <p:custDataLst>
              <p:tags r:id="rId5"/>
            </p:custDataLst>
          </p:nvPr>
        </p:nvSpPr>
        <p:spPr>
          <a:xfrm>
            <a:off x="724535" y="1166495"/>
            <a:ext cx="10895330" cy="1829435"/>
          </a:xfrm>
          <a:prstGeom prst="rect">
            <a:avLst/>
          </a:prstGeom>
          <a:solidFill>
            <a:srgbClr val="FFFFFF"/>
          </a:solidFill>
          <a:ln w="12700" cap="flat" cmpd="sng" algn="ctr">
            <a:noFill/>
            <a:prstDash val="solid"/>
            <a:miter lim="800000"/>
          </a:ln>
          <a:effectLst>
            <a:outerShdw blurRad="254000" dist="101600" dir="2700000" algn="tl" rotWithShape="0">
              <a:srgbClr val="000000">
                <a:lumMod val="75000"/>
                <a:lumOff val="25000"/>
                <a:alpha val="15000"/>
              </a:srgbClr>
            </a:outerShdw>
          </a:effectLst>
        </p:spPr>
        <p:txBody>
          <a:bodyPr rtlCol="0" anchor="ctr"/>
          <a:p>
            <a:pPr algn="ctr"/>
            <a:endParaRPr lang="zh-CN" altLang="en-US">
              <a:solidFill>
                <a:srgbClr val="FFFFFF"/>
              </a:solidFill>
            </a:endParaRPr>
          </a:p>
        </p:txBody>
      </p:sp>
      <p:sp>
        <p:nvSpPr>
          <p:cNvPr id="42" name="矩形 41"/>
          <p:cNvSpPr/>
          <p:nvPr>
            <p:custDataLst>
              <p:tags r:id="rId6"/>
            </p:custDataLst>
          </p:nvPr>
        </p:nvSpPr>
        <p:spPr>
          <a:xfrm>
            <a:off x="884555" y="1273175"/>
            <a:ext cx="10151110" cy="1558290"/>
          </a:xfrm>
          <a:prstGeom prst="rect">
            <a:avLst/>
          </a:prstGeom>
          <a:noFill/>
        </p:spPr>
        <p:txBody>
          <a:bodyPr wrap="square" lIns="0" tIns="0" rIns="0" bIns="0" rtlCol="0" anchor="t" anchorCtr="0">
            <a:noAutofit/>
          </a:bodyPr>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1</a:t>
            </a:r>
            <a:r>
              <a:rPr lang="zh-CN" altLang="en-US" sz="1400">
                <a:solidFill>
                  <a:srgbClr val="333333"/>
                </a:solidFill>
                <a:latin typeface="Heiti SC Light" panose="02000000000000000000" charset="-122"/>
                <a:ea typeface="Heiti SC Light" panose="02000000000000000000" charset="-122"/>
                <a:cs typeface="+mn-ea"/>
                <a:sym typeface="+mn-ea"/>
              </a:rPr>
              <a:t>、</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核心业务</a:t>
            </a:r>
            <a:r>
              <a:rPr lang="zh-CN" altLang="en-US" sz="1400">
                <a:solidFill>
                  <a:srgbClr val="333333"/>
                </a:solidFill>
                <a:latin typeface="Heiti SC Light" panose="02000000000000000000" charset="-122"/>
                <a:ea typeface="Heiti SC Light" panose="02000000000000000000" charset="-122"/>
                <a:cs typeface="+mn-ea"/>
                <a:sym typeface="+mn-ea"/>
              </a:rPr>
              <a:t>的资产已实现安全绿区的覆盖，下一阶段重点推进安全橙区的</a:t>
            </a:r>
            <a:r>
              <a:rPr lang="en-US" altLang="zh-CN" sz="1400">
                <a:solidFill>
                  <a:srgbClr val="333333"/>
                </a:solidFill>
                <a:latin typeface="Heiti SC Light" panose="02000000000000000000" charset="-122"/>
                <a:ea typeface="Heiti SC Light" panose="02000000000000000000" charset="-122"/>
                <a:cs typeface="+mn-ea"/>
                <a:sym typeface="+mn-ea"/>
              </a:rPr>
              <a:t>XX</a:t>
            </a:r>
            <a:r>
              <a:rPr lang="zh-CN" altLang="en-US" sz="1400">
                <a:solidFill>
                  <a:srgbClr val="333333"/>
                </a:solidFill>
                <a:latin typeface="Heiti SC Light" panose="02000000000000000000" charset="-122"/>
                <a:ea typeface="Heiti SC Light" panose="02000000000000000000" charset="-122"/>
                <a:cs typeface="+mn-ea"/>
                <a:sym typeface="+mn-ea"/>
              </a:rPr>
              <a:t>系统的资产转换到安全绿区，实现安全运营能力的升级；</a:t>
            </a:r>
            <a:endParaRPr lang="zh-CN" altLang="en-US" sz="1400">
              <a:solidFill>
                <a:srgbClr val="333333"/>
              </a:solidFill>
              <a:latin typeface="Heiti SC Light" panose="02000000000000000000" charset="-122"/>
              <a:ea typeface="Heiti SC Light" panose="02000000000000000000" charset="-122"/>
              <a:cs typeface="+mn-ea"/>
              <a:sym typeface="+mn-ea"/>
            </a:endParaRPr>
          </a:p>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2</a:t>
            </a:r>
            <a:r>
              <a:rPr lang="zh-CN" altLang="en-US" sz="1400">
                <a:solidFill>
                  <a:srgbClr val="333333"/>
                </a:solidFill>
                <a:latin typeface="Heiti SC Light" panose="02000000000000000000" charset="-122"/>
                <a:ea typeface="Heiti SC Light" panose="02000000000000000000" charset="-122"/>
                <a:cs typeface="+mn-ea"/>
                <a:sym typeface="+mn-ea"/>
              </a:rPr>
              <a:t>、快速消除安全红区，提升整体的安全水位底线，针对</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资产范围</a:t>
            </a:r>
            <a:r>
              <a:rPr lang="zh-CN" altLang="en-US" sz="1400">
                <a:solidFill>
                  <a:srgbClr val="333333"/>
                </a:solidFill>
                <a:latin typeface="Heiti SC Light" panose="02000000000000000000" charset="-122"/>
                <a:ea typeface="Heiti SC Light" panose="02000000000000000000" charset="-122"/>
                <a:cs typeface="+mn-ea"/>
                <a:sym typeface="+mn-ea"/>
              </a:rPr>
              <a:t>补充基础的端点安全能力和威胁监测响应能力；</a:t>
            </a:r>
            <a:endParaRPr lang="zh-CN" altLang="en-US" sz="1400">
              <a:solidFill>
                <a:srgbClr val="333333"/>
              </a:solidFill>
              <a:latin typeface="Heiti SC Light" panose="02000000000000000000" charset="-122"/>
              <a:ea typeface="Heiti SC Light" panose="02000000000000000000" charset="-122"/>
              <a:cs typeface="+mn-ea"/>
              <a:sym typeface="+mn-ea"/>
            </a:endParaRPr>
          </a:p>
        </p:txBody>
      </p:sp>
      <p:sp>
        <p:nvSpPr>
          <p:cNvPr id="43" name="矩形 42"/>
          <p:cNvSpPr/>
          <p:nvPr/>
        </p:nvSpPr>
        <p:spPr>
          <a:xfrm>
            <a:off x="611505" y="3247390"/>
            <a:ext cx="3600000" cy="3240000"/>
          </a:xfrm>
          <a:prstGeom prst="rect">
            <a:avLst/>
          </a:prstGeom>
          <a:solidFill>
            <a:srgbClr val="70AD47">
              <a:lumMod val="20000"/>
              <a:lumOff val="8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4" name="矩形 43"/>
          <p:cNvSpPr/>
          <p:nvPr/>
        </p:nvSpPr>
        <p:spPr>
          <a:xfrm>
            <a:off x="8175810" y="3246755"/>
            <a:ext cx="3599815" cy="3240000"/>
          </a:xfrm>
          <a:prstGeom prst="rect">
            <a:avLst/>
          </a:prstGeom>
          <a:solidFill>
            <a:srgbClr val="FF0000">
              <a:alpha val="4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5" name="矩形 44"/>
          <p:cNvSpPr/>
          <p:nvPr/>
        </p:nvSpPr>
        <p:spPr>
          <a:xfrm>
            <a:off x="4393750" y="3247390"/>
            <a:ext cx="3599815" cy="3240000"/>
          </a:xfrm>
          <a:prstGeom prst="rect">
            <a:avLst/>
          </a:prstGeom>
          <a:solidFill>
            <a:srgbClr val="ED7D31">
              <a:lumMod val="40000"/>
              <a:lumOff val="6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pic>
        <p:nvPicPr>
          <p:cNvPr id="49" name="图片 4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11293" y="5622956"/>
            <a:ext cx="360745" cy="251460"/>
          </a:xfrm>
          <a:prstGeom prst="rect">
            <a:avLst/>
          </a:prstGeom>
        </p:spPr>
      </p:pic>
      <p:sp>
        <p:nvSpPr>
          <p:cNvPr id="50" name="Text Box 27"/>
          <p:cNvSpPr txBox="1">
            <a:spLocks noChangeArrowheads="1"/>
          </p:cNvSpPr>
          <p:nvPr/>
        </p:nvSpPr>
        <p:spPr bwMode="auto">
          <a:xfrm>
            <a:off x="688340" y="3301365"/>
            <a:ext cx="397510"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00B050"/>
                </a:solidFill>
                <a:latin typeface="Heiti SC Light" panose="02000000000000000000" charset="-122"/>
                <a:ea typeface="Heiti SC Light" panose="02000000000000000000" charset="-122"/>
              </a:rPr>
              <a:t>安全</a:t>
            </a:r>
            <a:r>
              <a:rPr lang="zh-CN" altLang="en-US" sz="1200" dirty="0">
                <a:solidFill>
                  <a:srgbClr val="00B050"/>
                </a:solidFill>
                <a:latin typeface="Heiti SC Light" panose="02000000000000000000" charset="-122"/>
                <a:ea typeface="Heiti SC Light" panose="02000000000000000000" charset="-122"/>
              </a:rPr>
              <a:t>绿区</a:t>
            </a:r>
            <a:endParaRPr lang="zh-CN" altLang="en-US" sz="1200" dirty="0">
              <a:solidFill>
                <a:srgbClr val="00B050"/>
              </a:solidFill>
              <a:latin typeface="Heiti SC Light" panose="02000000000000000000" charset="-122"/>
              <a:ea typeface="Heiti SC Light" panose="02000000000000000000" charset="-122"/>
            </a:endParaRPr>
          </a:p>
        </p:txBody>
      </p:sp>
      <p:sp>
        <p:nvSpPr>
          <p:cNvPr id="51" name="Text Box 27"/>
          <p:cNvSpPr txBox="1">
            <a:spLocks noChangeArrowheads="1"/>
          </p:cNvSpPr>
          <p:nvPr/>
        </p:nvSpPr>
        <p:spPr bwMode="auto">
          <a:xfrm>
            <a:off x="4569299" y="3301168"/>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ED7D31"/>
                </a:solidFill>
                <a:latin typeface="Heiti SC Light" panose="02000000000000000000" charset="-122"/>
                <a:ea typeface="Heiti SC Light" panose="02000000000000000000" charset="-122"/>
              </a:rPr>
              <a:t>安全橙区</a:t>
            </a:r>
            <a:endParaRPr lang="zh-CN" altLang="en-US" sz="1200" dirty="0">
              <a:solidFill>
                <a:srgbClr val="ED7D31"/>
              </a:solidFill>
              <a:latin typeface="Heiti SC Light" panose="02000000000000000000" charset="-122"/>
              <a:ea typeface="Heiti SC Light" panose="02000000000000000000" charset="-122"/>
            </a:endParaRPr>
          </a:p>
        </p:txBody>
      </p:sp>
      <p:pic>
        <p:nvPicPr>
          <p:cNvPr id="53" name="图片 52"/>
          <p:cNvPicPr/>
          <p:nvPr/>
        </p:nvPicPr>
        <p:blipFill>
          <a:blip r:embed="rId8"/>
          <a:stretch>
            <a:fillRect/>
          </a:stretch>
        </p:blipFill>
        <p:spPr>
          <a:xfrm>
            <a:off x="3102292" y="4757815"/>
            <a:ext cx="288000" cy="288290"/>
          </a:xfrm>
          <a:prstGeom prst="rect">
            <a:avLst/>
          </a:prstGeom>
        </p:spPr>
      </p:pic>
      <p:pic>
        <p:nvPicPr>
          <p:cNvPr id="54" name="图片 53"/>
          <p:cNvPicPr/>
          <p:nvPr/>
        </p:nvPicPr>
        <p:blipFill>
          <a:blip r:embed="rId9"/>
          <a:stretch>
            <a:fillRect/>
          </a:stretch>
        </p:blipFill>
        <p:spPr>
          <a:xfrm>
            <a:off x="3102465" y="3938320"/>
            <a:ext cx="287655" cy="288000"/>
          </a:xfrm>
          <a:prstGeom prst="rect">
            <a:avLst/>
          </a:prstGeom>
        </p:spPr>
      </p:pic>
      <p:pic>
        <p:nvPicPr>
          <p:cNvPr id="55" name="图片 54"/>
          <p:cNvPicPr/>
          <p:nvPr/>
        </p:nvPicPr>
        <p:blipFill>
          <a:blip r:embed="rId10"/>
          <a:stretch>
            <a:fillRect/>
          </a:stretch>
        </p:blipFill>
        <p:spPr>
          <a:xfrm flipH="1">
            <a:off x="3102293" y="4348240"/>
            <a:ext cx="288000" cy="287655"/>
          </a:xfrm>
          <a:prstGeom prst="rect">
            <a:avLst/>
          </a:prstGeom>
        </p:spPr>
      </p:pic>
      <p:sp>
        <p:nvSpPr>
          <p:cNvPr id="56" name="Text Box 27"/>
          <p:cNvSpPr txBox="1">
            <a:spLocks noChangeArrowheads="1"/>
          </p:cNvSpPr>
          <p:nvPr/>
        </p:nvSpPr>
        <p:spPr bwMode="auto">
          <a:xfrm>
            <a:off x="3479800" y="4398010"/>
            <a:ext cx="490855" cy="17970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zh-CN" altLang="en-US" sz="800" dirty="0" err="1">
                <a:solidFill>
                  <a:srgbClr val="000000"/>
                </a:solidFill>
                <a:latin typeface="Heiti SC Light" panose="02000000000000000000" charset="-122"/>
                <a:ea typeface="Heiti SC Light" panose="02000000000000000000" charset="-122"/>
              </a:rPr>
              <a:t>端点</a:t>
            </a:r>
            <a:r>
              <a:rPr lang="zh-CN" altLang="en-US" sz="800" dirty="0" err="1">
                <a:solidFill>
                  <a:srgbClr val="000000"/>
                </a:solidFill>
                <a:latin typeface="Heiti SC Light" panose="02000000000000000000" charset="-122"/>
                <a:ea typeface="Heiti SC Light" panose="02000000000000000000" charset="-122"/>
              </a:rPr>
              <a:t>保护</a:t>
            </a:r>
            <a:endParaRPr lang="zh-CN" altLang="en-US" sz="800" dirty="0" err="1">
              <a:solidFill>
                <a:srgbClr val="000000"/>
              </a:solidFill>
              <a:latin typeface="Heiti SC Light" panose="02000000000000000000" charset="-122"/>
              <a:ea typeface="Heiti SC Light" panose="02000000000000000000" charset="-122"/>
            </a:endParaRPr>
          </a:p>
        </p:txBody>
      </p:sp>
      <p:sp>
        <p:nvSpPr>
          <p:cNvPr id="60" name="Text Box 27"/>
          <p:cNvSpPr txBox="1">
            <a:spLocks noChangeArrowheads="1"/>
          </p:cNvSpPr>
          <p:nvPr/>
        </p:nvSpPr>
        <p:spPr bwMode="auto">
          <a:xfrm>
            <a:off x="3479800" y="398399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61" name="Text Box 27"/>
          <p:cNvSpPr txBox="1">
            <a:spLocks noChangeArrowheads="1"/>
          </p:cNvSpPr>
          <p:nvPr/>
        </p:nvSpPr>
        <p:spPr bwMode="auto">
          <a:xfrm>
            <a:off x="1673225" y="560959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核心</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67" name="图片 66"/>
          <p:cNvPicPr/>
          <p:nvPr/>
        </p:nvPicPr>
        <p:blipFill>
          <a:blip r:embed="rId11">
            <a:extLst>
              <a:ext uri="{28A0092B-C50C-407E-A947-70E740481C1C}">
                <a14:useLocalDpi xmlns:a14="http://schemas.microsoft.com/office/drawing/2010/main" val="0"/>
              </a:ext>
            </a:extLst>
          </a:blip>
          <a:stretch>
            <a:fillRect/>
          </a:stretch>
        </p:blipFill>
        <p:spPr>
          <a:xfrm>
            <a:off x="1212304" y="3907866"/>
            <a:ext cx="360000" cy="360000"/>
          </a:xfrm>
          <a:prstGeom prst="rect">
            <a:avLst/>
          </a:prstGeom>
        </p:spPr>
      </p:pic>
      <p:pic>
        <p:nvPicPr>
          <p:cNvPr id="71" name="图片 70"/>
          <p:cNvPicPr/>
          <p:nvPr/>
        </p:nvPicPr>
        <p:blipFill>
          <a:blip r:embed="rId11">
            <a:extLst>
              <a:ext uri="{28A0092B-C50C-407E-A947-70E740481C1C}">
                <a14:useLocalDpi xmlns:a14="http://schemas.microsoft.com/office/drawing/2010/main" val="0"/>
              </a:ext>
            </a:extLst>
          </a:blip>
          <a:stretch>
            <a:fillRect/>
          </a:stretch>
        </p:blipFill>
        <p:spPr>
          <a:xfrm>
            <a:off x="1212240" y="4479956"/>
            <a:ext cx="360000" cy="359410"/>
          </a:xfrm>
          <a:prstGeom prst="rect">
            <a:avLst/>
          </a:prstGeom>
        </p:spPr>
      </p:pic>
      <p:sp>
        <p:nvSpPr>
          <p:cNvPr id="72" name="Text Box 27"/>
          <p:cNvSpPr txBox="1">
            <a:spLocks noChangeArrowheads="1"/>
          </p:cNvSpPr>
          <p:nvPr/>
        </p:nvSpPr>
        <p:spPr bwMode="auto">
          <a:xfrm>
            <a:off x="1624330" y="391223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73" name="Text Box 27"/>
          <p:cNvSpPr txBox="1">
            <a:spLocks noChangeArrowheads="1"/>
          </p:cNvSpPr>
          <p:nvPr/>
        </p:nvSpPr>
        <p:spPr bwMode="auto">
          <a:xfrm>
            <a:off x="1624330" y="447802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74" name="图片 73"/>
          <p:cNvPicPr/>
          <p:nvPr/>
        </p:nvPicPr>
        <p:blipFill>
          <a:blip r:embed="rId11">
            <a:extLst>
              <a:ext uri="{28A0092B-C50C-407E-A947-70E740481C1C}">
                <a14:useLocalDpi xmlns:a14="http://schemas.microsoft.com/office/drawing/2010/main" val="0"/>
              </a:ext>
            </a:extLst>
          </a:blip>
          <a:stretch>
            <a:fillRect/>
          </a:stretch>
        </p:blipFill>
        <p:spPr>
          <a:xfrm>
            <a:off x="1212240" y="5051456"/>
            <a:ext cx="360000" cy="359410"/>
          </a:xfrm>
          <a:prstGeom prst="rect">
            <a:avLst/>
          </a:prstGeom>
        </p:spPr>
      </p:pic>
      <p:sp>
        <p:nvSpPr>
          <p:cNvPr id="75" name="Text Box 27"/>
          <p:cNvSpPr txBox="1">
            <a:spLocks noChangeArrowheads="1"/>
          </p:cNvSpPr>
          <p:nvPr/>
        </p:nvSpPr>
        <p:spPr bwMode="auto">
          <a:xfrm>
            <a:off x="1624330" y="504380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80" name="Text Box 27"/>
          <p:cNvSpPr txBox="1">
            <a:spLocks noChangeArrowheads="1"/>
          </p:cNvSpPr>
          <p:nvPr/>
        </p:nvSpPr>
        <p:spPr bwMode="auto">
          <a:xfrm>
            <a:off x="3479800" y="483235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81" name="Text Box 27"/>
          <p:cNvSpPr txBox="1">
            <a:spLocks noChangeArrowheads="1"/>
          </p:cNvSpPr>
          <p:nvPr/>
        </p:nvSpPr>
        <p:spPr bwMode="auto">
          <a:xfrm>
            <a:off x="1211580" y="33477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82" name="Text Box 27"/>
          <p:cNvSpPr txBox="1">
            <a:spLocks noChangeArrowheads="1"/>
          </p:cNvSpPr>
          <p:nvPr/>
        </p:nvSpPr>
        <p:spPr bwMode="auto">
          <a:xfrm>
            <a:off x="2964815" y="33521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83" name="Text Box 27"/>
          <p:cNvSpPr txBox="1">
            <a:spLocks noChangeArrowheads="1"/>
          </p:cNvSpPr>
          <p:nvPr/>
        </p:nvSpPr>
        <p:spPr bwMode="auto">
          <a:xfrm>
            <a:off x="3479800" y="564410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84" name="图片 83"/>
          <p:cNvPicPr/>
          <p:nvPr/>
        </p:nvPicPr>
        <p:blipFill>
          <a:blip r:embed="rId12"/>
          <a:stretch>
            <a:fillRect/>
          </a:stretch>
        </p:blipFill>
        <p:spPr>
          <a:xfrm>
            <a:off x="3101767" y="5585559"/>
            <a:ext cx="288000" cy="288000"/>
          </a:xfrm>
          <a:prstGeom prst="rect">
            <a:avLst/>
          </a:prstGeom>
        </p:spPr>
      </p:pic>
      <p:pic>
        <p:nvPicPr>
          <p:cNvPr id="85" name="图片 8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999703" y="5628036"/>
            <a:ext cx="360745" cy="251460"/>
          </a:xfrm>
          <a:prstGeom prst="rect">
            <a:avLst/>
          </a:prstGeom>
        </p:spPr>
      </p:pic>
      <p:pic>
        <p:nvPicPr>
          <p:cNvPr id="87" name="图片 86"/>
          <p:cNvPicPr/>
          <p:nvPr/>
        </p:nvPicPr>
        <p:blipFill>
          <a:blip r:embed="rId8"/>
          <a:stretch>
            <a:fillRect/>
          </a:stretch>
        </p:blipFill>
        <p:spPr>
          <a:xfrm>
            <a:off x="6890702" y="4762895"/>
            <a:ext cx="288000" cy="288290"/>
          </a:xfrm>
          <a:prstGeom prst="rect">
            <a:avLst/>
          </a:prstGeom>
        </p:spPr>
      </p:pic>
      <p:pic>
        <p:nvPicPr>
          <p:cNvPr id="88" name="图片 87"/>
          <p:cNvPicPr/>
          <p:nvPr/>
        </p:nvPicPr>
        <p:blipFill>
          <a:blip r:embed="rId9"/>
          <a:stretch>
            <a:fillRect/>
          </a:stretch>
        </p:blipFill>
        <p:spPr>
          <a:xfrm>
            <a:off x="6890875" y="3943400"/>
            <a:ext cx="287655" cy="288000"/>
          </a:xfrm>
          <a:prstGeom prst="rect">
            <a:avLst/>
          </a:prstGeom>
        </p:spPr>
      </p:pic>
      <p:sp>
        <p:nvSpPr>
          <p:cNvPr id="89" name="Text Box 27"/>
          <p:cNvSpPr txBox="1">
            <a:spLocks noChangeArrowheads="1"/>
          </p:cNvSpPr>
          <p:nvPr/>
        </p:nvSpPr>
        <p:spPr bwMode="auto">
          <a:xfrm>
            <a:off x="7268210" y="398907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90" name="Text Box 27"/>
          <p:cNvSpPr txBox="1">
            <a:spLocks noChangeArrowheads="1"/>
          </p:cNvSpPr>
          <p:nvPr/>
        </p:nvSpPr>
        <p:spPr bwMode="auto">
          <a:xfrm>
            <a:off x="5461635" y="56146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1" name="图片 90"/>
          <p:cNvPicPr/>
          <p:nvPr/>
        </p:nvPicPr>
        <p:blipFill>
          <a:blip r:embed="rId11">
            <a:extLst>
              <a:ext uri="{28A0092B-C50C-407E-A947-70E740481C1C}">
                <a14:useLocalDpi xmlns:a14="http://schemas.microsoft.com/office/drawing/2010/main" val="0"/>
              </a:ext>
            </a:extLst>
          </a:blip>
          <a:stretch>
            <a:fillRect/>
          </a:stretch>
        </p:blipFill>
        <p:spPr>
          <a:xfrm>
            <a:off x="5000714" y="3912946"/>
            <a:ext cx="360000" cy="360000"/>
          </a:xfrm>
          <a:prstGeom prst="rect">
            <a:avLst/>
          </a:prstGeom>
        </p:spPr>
      </p:pic>
      <p:pic>
        <p:nvPicPr>
          <p:cNvPr id="92" name="图片 91"/>
          <p:cNvPicPr/>
          <p:nvPr/>
        </p:nvPicPr>
        <p:blipFill>
          <a:blip r:embed="rId11">
            <a:extLst>
              <a:ext uri="{28A0092B-C50C-407E-A947-70E740481C1C}">
                <a14:useLocalDpi xmlns:a14="http://schemas.microsoft.com/office/drawing/2010/main" val="0"/>
              </a:ext>
            </a:extLst>
          </a:blip>
          <a:stretch>
            <a:fillRect/>
          </a:stretch>
        </p:blipFill>
        <p:spPr>
          <a:xfrm>
            <a:off x="5000650" y="4485036"/>
            <a:ext cx="360000" cy="359410"/>
          </a:xfrm>
          <a:prstGeom prst="rect">
            <a:avLst/>
          </a:prstGeom>
        </p:spPr>
      </p:pic>
      <p:sp>
        <p:nvSpPr>
          <p:cNvPr id="93" name="Text Box 27"/>
          <p:cNvSpPr txBox="1">
            <a:spLocks noChangeArrowheads="1"/>
          </p:cNvSpPr>
          <p:nvPr/>
        </p:nvSpPr>
        <p:spPr bwMode="auto">
          <a:xfrm>
            <a:off x="5412740" y="391731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4" name="Text Box 27"/>
          <p:cNvSpPr txBox="1">
            <a:spLocks noChangeArrowheads="1"/>
          </p:cNvSpPr>
          <p:nvPr/>
        </p:nvSpPr>
        <p:spPr bwMode="auto">
          <a:xfrm>
            <a:off x="5412740" y="448310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5" name="图片 94"/>
          <p:cNvPicPr/>
          <p:nvPr/>
        </p:nvPicPr>
        <p:blipFill>
          <a:blip r:embed="rId11">
            <a:extLst>
              <a:ext uri="{28A0092B-C50C-407E-A947-70E740481C1C}">
                <a14:useLocalDpi xmlns:a14="http://schemas.microsoft.com/office/drawing/2010/main" val="0"/>
              </a:ext>
            </a:extLst>
          </a:blip>
          <a:stretch>
            <a:fillRect/>
          </a:stretch>
        </p:blipFill>
        <p:spPr>
          <a:xfrm>
            <a:off x="5000650" y="5056536"/>
            <a:ext cx="360000" cy="359410"/>
          </a:xfrm>
          <a:prstGeom prst="rect">
            <a:avLst/>
          </a:prstGeom>
        </p:spPr>
      </p:pic>
      <p:sp>
        <p:nvSpPr>
          <p:cNvPr id="96" name="Text Box 27"/>
          <p:cNvSpPr txBox="1">
            <a:spLocks noChangeArrowheads="1"/>
          </p:cNvSpPr>
          <p:nvPr/>
        </p:nvSpPr>
        <p:spPr bwMode="auto">
          <a:xfrm>
            <a:off x="5412740" y="50488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7" name="Text Box 27"/>
          <p:cNvSpPr txBox="1">
            <a:spLocks noChangeArrowheads="1"/>
          </p:cNvSpPr>
          <p:nvPr/>
        </p:nvSpPr>
        <p:spPr bwMode="auto">
          <a:xfrm>
            <a:off x="7268210" y="483743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98" name="Text Box 27"/>
          <p:cNvSpPr txBox="1">
            <a:spLocks noChangeArrowheads="1"/>
          </p:cNvSpPr>
          <p:nvPr/>
        </p:nvSpPr>
        <p:spPr bwMode="auto">
          <a:xfrm>
            <a:off x="7268210" y="564918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99" name="图片 98"/>
          <p:cNvPicPr/>
          <p:nvPr/>
        </p:nvPicPr>
        <p:blipFill>
          <a:blip r:embed="rId12"/>
          <a:stretch>
            <a:fillRect/>
          </a:stretch>
        </p:blipFill>
        <p:spPr>
          <a:xfrm>
            <a:off x="6890177" y="5590639"/>
            <a:ext cx="288000" cy="288000"/>
          </a:xfrm>
          <a:prstGeom prst="rect">
            <a:avLst/>
          </a:prstGeom>
        </p:spPr>
      </p:pic>
      <p:sp>
        <p:nvSpPr>
          <p:cNvPr id="100" name="Text Box 27"/>
          <p:cNvSpPr txBox="1">
            <a:spLocks noChangeArrowheads="1"/>
          </p:cNvSpPr>
          <p:nvPr/>
        </p:nvSpPr>
        <p:spPr bwMode="auto">
          <a:xfrm>
            <a:off x="5033010" y="3352165"/>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01" name="Text Box 27"/>
          <p:cNvSpPr txBox="1">
            <a:spLocks noChangeArrowheads="1"/>
          </p:cNvSpPr>
          <p:nvPr/>
        </p:nvSpPr>
        <p:spPr bwMode="auto">
          <a:xfrm>
            <a:off x="6786245" y="335661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102" name="Text Box 27"/>
          <p:cNvSpPr txBox="1">
            <a:spLocks noChangeArrowheads="1"/>
          </p:cNvSpPr>
          <p:nvPr/>
        </p:nvSpPr>
        <p:spPr bwMode="auto">
          <a:xfrm>
            <a:off x="6786245" y="5117465"/>
            <a:ext cx="1623695" cy="39878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1000" dirty="0">
                <a:solidFill>
                  <a:srgbClr val="000000"/>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rgbClr val="000000"/>
              </a:solidFill>
              <a:highlight>
                <a:srgbClr val="FFFF00"/>
              </a:highlight>
              <a:latin typeface="Heiti SC Light" panose="02000000000000000000" charset="-122"/>
              <a:ea typeface="Heiti SC Light" panose="02000000000000000000" charset="-122"/>
            </a:endParaRPr>
          </a:p>
        </p:txBody>
      </p:sp>
      <p:sp>
        <p:nvSpPr>
          <p:cNvPr id="103" name="Text Box 27"/>
          <p:cNvSpPr txBox="1">
            <a:spLocks noChangeArrowheads="1"/>
          </p:cNvSpPr>
          <p:nvPr/>
        </p:nvSpPr>
        <p:spPr bwMode="auto">
          <a:xfrm>
            <a:off x="8296749" y="3347523"/>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FF0000"/>
                </a:solidFill>
                <a:latin typeface="Heiti SC Light" panose="02000000000000000000" charset="-122"/>
                <a:ea typeface="Heiti SC Light" panose="02000000000000000000" charset="-122"/>
              </a:rPr>
              <a:t>安全</a:t>
            </a:r>
            <a:r>
              <a:rPr lang="zh-CN" altLang="en-US" sz="1200" dirty="0">
                <a:solidFill>
                  <a:srgbClr val="FF0000"/>
                </a:solidFill>
                <a:latin typeface="Heiti SC Light" panose="02000000000000000000" charset="-122"/>
                <a:ea typeface="Heiti SC Light" panose="02000000000000000000" charset="-122"/>
              </a:rPr>
              <a:t>红区</a:t>
            </a:r>
            <a:endParaRPr lang="zh-CN" altLang="en-US" sz="1200" dirty="0">
              <a:solidFill>
                <a:srgbClr val="FF0000"/>
              </a:solidFill>
              <a:latin typeface="Heiti SC Light" panose="02000000000000000000" charset="-122"/>
              <a:ea typeface="Heiti SC Light" panose="02000000000000000000" charset="-122"/>
            </a:endParaRPr>
          </a:p>
        </p:txBody>
      </p:sp>
      <p:pic>
        <p:nvPicPr>
          <p:cNvPr id="104" name="图片 10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0173" y="4916836"/>
            <a:ext cx="360745" cy="251460"/>
          </a:xfrm>
          <a:prstGeom prst="rect">
            <a:avLst/>
          </a:prstGeom>
        </p:spPr>
      </p:pic>
      <p:sp>
        <p:nvSpPr>
          <p:cNvPr id="105" name="Text Box 27"/>
          <p:cNvSpPr txBox="1">
            <a:spLocks noChangeArrowheads="1"/>
          </p:cNvSpPr>
          <p:nvPr/>
        </p:nvSpPr>
        <p:spPr bwMode="auto">
          <a:xfrm>
            <a:off x="9222105" y="49034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106" name="图片 105"/>
          <p:cNvPicPr/>
          <p:nvPr/>
        </p:nvPicPr>
        <p:blipFill>
          <a:blip r:embed="rId11">
            <a:extLst>
              <a:ext uri="{28A0092B-C50C-407E-A947-70E740481C1C}">
                <a14:useLocalDpi xmlns:a14="http://schemas.microsoft.com/office/drawing/2010/main" val="0"/>
              </a:ext>
            </a:extLst>
          </a:blip>
          <a:stretch>
            <a:fillRect/>
          </a:stretch>
        </p:blipFill>
        <p:spPr>
          <a:xfrm>
            <a:off x="8761120" y="4345336"/>
            <a:ext cx="360000" cy="359410"/>
          </a:xfrm>
          <a:prstGeom prst="rect">
            <a:avLst/>
          </a:prstGeom>
        </p:spPr>
      </p:pic>
      <p:sp>
        <p:nvSpPr>
          <p:cNvPr id="107" name="Text Box 27"/>
          <p:cNvSpPr txBox="1">
            <a:spLocks noChangeArrowheads="1"/>
          </p:cNvSpPr>
          <p:nvPr/>
        </p:nvSpPr>
        <p:spPr bwMode="auto">
          <a:xfrm>
            <a:off x="9173210" y="43376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108" name="Text Box 27"/>
          <p:cNvSpPr txBox="1">
            <a:spLocks noChangeArrowheads="1"/>
          </p:cNvSpPr>
          <p:nvPr/>
        </p:nvSpPr>
        <p:spPr bwMode="auto">
          <a:xfrm>
            <a:off x="10995660" y="4623435"/>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保护</a:t>
            </a:r>
            <a:endParaRPr lang="zh-CN" altLang="en-US" sz="800" dirty="0">
              <a:solidFill>
                <a:srgbClr val="000000"/>
              </a:solidFill>
              <a:latin typeface="Heiti SC Light" panose="02000000000000000000" charset="-122"/>
              <a:ea typeface="Heiti SC Light" panose="02000000000000000000" charset="-122"/>
            </a:endParaRPr>
          </a:p>
        </p:txBody>
      </p:sp>
      <p:sp>
        <p:nvSpPr>
          <p:cNvPr id="109" name="Text Box 27"/>
          <p:cNvSpPr txBox="1">
            <a:spLocks noChangeArrowheads="1"/>
          </p:cNvSpPr>
          <p:nvPr/>
        </p:nvSpPr>
        <p:spPr bwMode="auto">
          <a:xfrm>
            <a:off x="8760460" y="33985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13" name="Text Box 27"/>
          <p:cNvSpPr txBox="1">
            <a:spLocks noChangeArrowheads="1"/>
          </p:cNvSpPr>
          <p:nvPr/>
        </p:nvSpPr>
        <p:spPr bwMode="auto">
          <a:xfrm>
            <a:off x="10513695" y="34029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pic>
        <p:nvPicPr>
          <p:cNvPr id="114" name="图片 113"/>
          <p:cNvPicPr/>
          <p:nvPr/>
        </p:nvPicPr>
        <p:blipFill>
          <a:blip r:embed="rId13"/>
          <a:stretch>
            <a:fillRect/>
          </a:stretch>
        </p:blipFill>
        <p:spPr>
          <a:xfrm flipH="1">
            <a:off x="3101434" y="5168175"/>
            <a:ext cx="288000" cy="288000"/>
          </a:xfrm>
          <a:prstGeom prst="rect">
            <a:avLst/>
          </a:prstGeom>
        </p:spPr>
      </p:pic>
      <p:sp>
        <p:nvSpPr>
          <p:cNvPr id="115" name="Text Box 27"/>
          <p:cNvSpPr txBox="1">
            <a:spLocks noChangeArrowheads="1"/>
          </p:cNvSpPr>
          <p:nvPr/>
        </p:nvSpPr>
        <p:spPr bwMode="auto">
          <a:xfrm>
            <a:off x="3479800" y="5191125"/>
            <a:ext cx="490855" cy="2457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安全运营</a:t>
            </a:r>
            <a:r>
              <a:rPr lang="zh-CN" altLang="en-US" sz="800" dirty="0">
                <a:solidFill>
                  <a:srgbClr val="000000"/>
                </a:solidFill>
                <a:latin typeface="Heiti SC Light" panose="02000000000000000000" charset="-122"/>
                <a:ea typeface="Heiti SC Light" panose="02000000000000000000" charset="-122"/>
              </a:rPr>
              <a:t>平台</a:t>
            </a:r>
            <a:endParaRPr lang="zh-CN" altLang="en-US" sz="800" dirty="0">
              <a:solidFill>
                <a:srgbClr val="000000"/>
              </a:solidFill>
              <a:latin typeface="Heiti SC Light" panose="02000000000000000000" charset="-122"/>
              <a:ea typeface="Heiti SC Light" panose="02000000000000000000" charset="-122"/>
            </a:endParaRPr>
          </a:p>
        </p:txBody>
      </p:sp>
      <p:pic>
        <p:nvPicPr>
          <p:cNvPr id="116" name="图片 115"/>
          <p:cNvPicPr/>
          <p:nvPr/>
        </p:nvPicPr>
        <p:blipFill>
          <a:blip r:embed="rId14">
            <a:extLst>
              <a:ext uri="{28A0092B-C50C-407E-A947-70E740481C1C}">
                <a14:useLocalDpi xmlns:a14="http://schemas.microsoft.com/office/drawing/2010/main" val="0"/>
              </a:ext>
            </a:extLst>
          </a:blip>
          <a:stretch>
            <a:fillRect/>
          </a:stretch>
        </p:blipFill>
        <p:spPr>
          <a:xfrm>
            <a:off x="10617622" y="4544244"/>
            <a:ext cx="288000" cy="288000"/>
          </a:xfrm>
          <a:prstGeom prst="rect">
            <a:avLst/>
          </a:prstGeom>
        </p:spPr>
      </p:pic>
      <p:sp>
        <p:nvSpPr>
          <p:cNvPr id="119" name="Text 10"/>
          <p:cNvSpPr/>
          <p:nvPr/>
        </p:nvSpPr>
        <p:spPr>
          <a:xfrm>
            <a:off x="884555" y="5998210"/>
            <a:ext cx="3048000"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具备相对完善的主动安全</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保护能力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0" name="Text 10"/>
          <p:cNvSpPr/>
          <p:nvPr/>
        </p:nvSpPr>
        <p:spPr>
          <a:xfrm>
            <a:off x="4711065"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安全防护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组件部分缺失或监测响应能力</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缺失</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1" name="Text 10"/>
          <p:cNvSpPr/>
          <p:nvPr/>
        </p:nvSpPr>
        <p:spPr>
          <a:xfrm>
            <a:off x="8439150"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仅有基础的边界防护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64" name="Text Box 27"/>
          <p:cNvSpPr txBox="1">
            <a:spLocks noChangeArrowheads="1"/>
          </p:cNvSpPr>
          <p:nvPr/>
        </p:nvSpPr>
        <p:spPr bwMode="auto">
          <a:xfrm>
            <a:off x="10567670" y="4954905"/>
            <a:ext cx="162433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Arial" panose="020B0604020202020204" pitchFamily="34" charset="0"/>
                <a:ea typeface="黑体-简" panose="02000000000000000000" charset="-122"/>
                <a:cs typeface="黑体" panose="02010609060101010101" charset="-122"/>
                <a:sym typeface="+mn-ea"/>
              </a:rPr>
              <a:t>资产管理、威胁监测、漏洞管理、事</a:t>
            </a:r>
            <a:r>
              <a:rPr sz="1600" kern="0" spc="60" dirty="0">
                <a:solidFill>
                  <a:schemeClr val="dk1"/>
                </a:solidFill>
                <a:latin typeface="Arial" panose="020B0604020202020204" pitchFamily="34" charset="0"/>
                <a:ea typeface="黑体-简" panose="02000000000000000000" charset="-122"/>
                <a:cs typeface="黑体" panose="02010609060101010101" charset="-122"/>
                <a:sym typeface="+mn-ea"/>
              </a:rPr>
              <a:t>件处置</a:t>
            </a:r>
            <a:endParaRPr lang="en-US" sz="16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vert="horz" wrap="square" lIns="0" tIns="0" rIns="0" bIns="0" rtlCol="0" anchor="ctr" anchorCtr="0">
            <a:noAutofit/>
          </a:bodyPr>
          <a:lstStyle/>
          <a:p>
            <a:pPr lvl="0" algn="l">
              <a:buClrTx/>
              <a:buSzTx/>
              <a:buFontTx/>
            </a:pPr>
            <a:r>
              <a:rPr lang="zh-CN" altLang="en-US" sz="3200">
                <a:solidFill>
                  <a:srgbClr val="4C61E7"/>
                </a:solidFill>
                <a:latin typeface="Arial" panose="020B0604020202020204" pitchFamily="34" charset="0"/>
                <a:ea typeface="黑体-简" panose="02000000000000000000" charset="-122"/>
                <a:sym typeface="+mn-ea"/>
              </a:rPr>
              <a:t>工作成果详情</a:t>
            </a:r>
            <a:endParaRPr lang="zh-CN" altLang="en-US" sz="3200">
              <a:solidFill>
                <a:srgbClr val="4C61E7"/>
              </a:solidFill>
              <a:latin typeface="Arial" panose="020B0604020202020204" pitchFamily="34" charset="0"/>
              <a:ea typeface="黑体-简" panose="02000000000000000000" charset="-122"/>
              <a:sym typeface="+mn-ea"/>
            </a:endParaRPr>
          </a:p>
        </p:txBody>
      </p:sp>
      <p:sp>
        <p:nvSpPr>
          <p:cNvPr id="6" name="节编号"/>
          <p:cNvSpPr>
            <a:spLocks noGrp="1"/>
          </p:cNvSpPr>
          <p:nvPr>
            <p:ph type="body" sz="quarter" idx="13"/>
            <p:custDataLst>
              <p:tags r:id="rId3"/>
            </p:custDataLst>
          </p:nvPr>
        </p:nvSpPr>
        <p:spPr/>
        <p:txBody>
          <a:bodyPr>
            <a:normAutofit lnSpcReduction="20000"/>
          </a:bodyPr>
          <a:lstStyle/>
          <a:p>
            <a:r>
              <a:rPr lang="zh-CN" altLang="en-US">
                <a:solidFill>
                  <a:srgbClr val="4C61E7"/>
                </a:solidFill>
                <a:latin typeface="Arial Black" panose="020B0A04020102020204" pitchFamily="34" charset="0"/>
                <a:ea typeface="微软雅黑" panose="020B0503020204020204" charset="-122"/>
              </a:rPr>
              <a:t>附录</a:t>
            </a:r>
            <a:endParaRPr lang="zh-CN" altLang="en-US">
              <a:solidFill>
                <a:srgbClr val="4C61E7"/>
              </a:solidFill>
              <a:latin typeface="Arial Black" panose="020B0A04020102020204" pitchFamily="34" charset="0"/>
              <a:ea typeface="微软雅黑" panose="020B0503020204020204"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Arial Black" panose="020B0A04020102020204" pitchFamily="34" charset="0"/>
                <a:ea typeface="微软雅黑" panose="020B0503020204020204" charset="-122"/>
                <a:sym typeface="+mn-ea"/>
              </a:rPr>
              <a:t>安全事件管理详情</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威胁趋势分析</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重要时期保障工作详情</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DIAGRAM_VIRTUALLY_FRAME" val="{&quot;height&quot;:389.6,&quot;left&quot;:211.45,&quot;top&quot;:116.65,&quot;width&quot;:477.55}"/>
</p:tagLst>
</file>

<file path=ppt/tags/tag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7.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0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09.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10.xml><?xml version="1.0" encoding="utf-8"?>
<p:tagLst xmlns:p="http://schemas.openxmlformats.org/presentationml/2006/main">
  <p:tag name="KSO_WM_SLIDE_ITEM_CNT" val="3"/>
  <p:tag name="resource_record_key" val="{&quot;10&quot;:[3505430,50036384],&quot;29&quot;:[50053024,50052948],&quot;70&quot;:[3405561,3319090,3312439]}"/>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TABLE_ENDDRAG_ORIGIN_RECT" val="435*430"/>
  <p:tag name="TABLE_ENDDRAG_RECT" val="492*90*435*430"/>
</p:tagLst>
</file>

<file path=ppt/tags/tag114.xml><?xml version="1.0" encoding="utf-8"?>
<p:tagLst xmlns:p="http://schemas.openxmlformats.org/presentationml/2006/main">
  <p:tag name="TABLE_ENDDRAG_ORIGIN_RECT" val="435*430"/>
  <p:tag name="TABLE_ENDDRAG_RECT" val="492*90*435*430"/>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TABLE_ENDDRAG_ORIGIN_RECT" val="435*430"/>
  <p:tag name="TABLE_ENDDRAG_RECT" val="492*90*435*430"/>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2.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DOCER_RESOURCE_TRACE_INFO" val="{&quot;id&quot;:&quot;&quot;,&quot;origin&quot;:0,&quot;type&quot;:&quot;textbox&quot;,&quot;user&quot;:&quot;451439288&quot;}"/>
</p:tagLst>
</file>

<file path=ppt/tags/tag13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1"/>
  <p:tag name="KSO_WM_UNIT_ID" val="diagram20234922_3*o_h_i*1_1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1"/>
  <p:tag name="KSO_WM_UNIT_ID" val="diagram20234922_3*o_h_i*1_2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1"/>
  <p:tag name="KSO_WM_UNIT_ID" val="diagram20234922_3*o_h_i*1_4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1"/>
  <p:tag name="KSO_WM_UNIT_ID" val="diagram20234922_3*o_h_i*1_3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4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i"/>
  <p:tag name="KSO_WM_UNIT_INDEX" val="1_1"/>
  <p:tag name="KSO_WM_UNIT_ID" val="diagram20234922_3*o_i*1_1"/>
  <p:tag name="KSO_WM_TEMPLATE_CATEGORY" val="diagram"/>
  <p:tag name="KSO_WM_TEMPLATE_INDEX" val="20234922"/>
  <p:tag name="KSO_WM_UNIT_LAYERLEVEL" val="1_1"/>
  <p:tag name="KSO_WM_TAG_VERSION" val="3.0"/>
  <p:tag name="KSO_WM_UNIT_FILL_TYPE" val="3"/>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gradient&quot;:[{&quot;brightness&quot;:0,&quot;colorType&quot;:1,&quot;foreColorIndex&quot;:5,&quot;pos&quot;:0,&quot;transparency&quot;:1},{&quot;brightness&quot;:0,&quot;colorType&quot;:1,&quot;foreColorIndex&quot;:5,&quot;pos&quot;:0.4000000059604645,&quot;transparency&quot;:0.699999988079071},{&quot;brightness&quot;:0,&quot;colorType&quot;:1,&quot;foreColorIndex&quot;:5,&quot;pos&quot;:0.20000000298023224,&quot;transparency&quot;:0.8500000238418579},{&quot;brightness&quot;:0,&quot;colorType&quot;:1,&quot;foreColorIndex&quot;:5,&quot;pos&quot;:0.949999988079071,&quot;transparency&quot;:1},{&quot;brightness&quot;:0,&quot;colorType&quot;:1,&quot;foreColorIndex&quot;:5,&quot;pos&quot;:0.6000000238418579,&quot;transparency&quot;:0.80000001192092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i"/>
  <p:tag name="KSO_WM_UNIT_INDEX" val="1_2"/>
  <p:tag name="KSO_WM_UNIT_ID" val="diagram20234922_3*o_i*1_2"/>
  <p:tag name="KSO_WM_TEMPLATE_CATEGORY" val="diagram"/>
  <p:tag name="KSO_WM_TEMPLATE_INDEX" val="20234922"/>
  <p:tag name="KSO_WM_UNIT_LAYERLEVEL" val="1_1"/>
  <p:tag name="KSO_WM_TAG_VERSION" val="3.0"/>
  <p:tag name="KSO_WM_UNIT_FILL_TYPE" val="3"/>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gradient&quot;:[{&quot;brightness&quot;:0,&quot;colorType&quot;:1,&quot;foreColorIndex&quot;:5,&quot;pos&quot;:0.10000000149011612,&quot;transparency&quot;:1},{&quot;brightness&quot;:0,&quot;colorType&quot;:1,&quot;foreColorIndex&quot;:5,&quot;pos&quot;:0.4000000059604645,&quot;transparency&quot;:0.800000011920929},{&quot;brightness&quot;:0,&quot;colorType&quot;:1,&quot;foreColorIndex&quot;:5,&quot;pos&quot;:0.20000000298023224,&quot;transparency&quot;:0.8500000238418579},{&quot;brightness&quot;:0,&quot;colorType&quot;:1,&quot;foreColorIndex&quot;:5,&quot;pos&quot;:0.8500000238418579,&quot;transparency&quot;:1},{&quot;brightness&quot;:0,&quot;colorType&quot;:1,&quot;foreColorIndex&quot;:5,&quot;pos&quot;:0.6000000238418579,&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4922_3*o_h_i*1_1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999999761581421},{&quot;brightness&quot;:0,&quot;colorType&quot;:1,&quot;foreColorIndex&quot;:5,&quot;pos&quot;:1,&quot;transparency&quot;:0.5}],&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4922_3*o_h_i*1_2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999999761581421},{&quot;brightness&quot;:0,&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4922_3*o_h_i*1_3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00000011920929},{&quot;brightness&quot;:0,&quot;colorType&quot;:1,&quot;foreColorIndex&quot;:5,&quot;pos&quot;:1,&quot;transparency&quot;:0.20000000298023224}],&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4922_3*o_h_i*1_4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00000011920929},{&quot;brightness&quot;:0,&quot;colorType&quot;:1,&quot;foreColorIndex&quot;:5,&quot;pos&quot;:1,&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4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4922_3*o_h_a*1_2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48.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4922_3*o_h_a*1_3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4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4922_3*o_h_a*1_4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20000000298023224},&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5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4922_3*o_h_f*1_1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5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4922_3*o_h_f*1_2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52.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4922_3*o_h_f*1_3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53.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4922_3*o_h_f*1_4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54.xml><?xml version="1.0" encoding="utf-8"?>
<p:tagLst xmlns:p="http://schemas.openxmlformats.org/presentationml/2006/main">
  <p:tag name="KSO_WM_SLIDE_ITEM_CNT" val="3"/>
  <p:tag name="resource_record_key" val="{&quot;70&quot;:[3429242]}"/>
</p:tagLst>
</file>

<file path=ppt/tags/tag155.xml><?xml version="1.0" encoding="utf-8"?>
<p:tagLst xmlns:p="http://schemas.openxmlformats.org/presentationml/2006/main">
  <p:tag name="KSO_WM_BEAUTIFY_FLAG" val=""/>
</p:tagLst>
</file>

<file path=ppt/tags/tag156.xml><?xml version="1.0" encoding="utf-8"?>
<p:tagLst xmlns:p="http://schemas.openxmlformats.org/presentationml/2006/main">
  <p:tag name="KSO_WM_BEAUTIFY_FLAG" val=""/>
</p:tagLst>
</file>

<file path=ppt/tags/tag157.xml><?xml version="1.0" encoding="utf-8"?>
<p:tagLst xmlns:p="http://schemas.openxmlformats.org/presentationml/2006/main">
  <p:tag name="KSO_WM_BEAUTIFY_FLAG" val=""/>
</p:tagLst>
</file>

<file path=ppt/tags/tag158.xml><?xml version="1.0" encoding="utf-8"?>
<p:tagLst xmlns:p="http://schemas.openxmlformats.org/presentationml/2006/main">
  <p:tag name="KSO_WM_BEAUTIFY_FLAG" val=""/>
</p:tagLst>
</file>

<file path=ppt/tags/tag159.xml><?xml version="1.0" encoding="utf-8"?>
<p:tagLst xmlns:p="http://schemas.openxmlformats.org/presentationml/2006/main">
  <p:tag name="KSO_WM_SLIDE_ITEM_CNT" val="3"/>
  <p:tag name="resource_record_key" val="{&quot;70&quot;:[3429242]}"/>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
  <p:tag name="KSO_WM_TEMPLATE_CATEGORY" val="diagram"/>
  <p:tag name="KSO_WM_TEMPLATE_INDEX" val="20231439"/>
  <p:tag name="KSO_WM_UNIT_LAYERLEVEL" val="1_1"/>
  <p:tag name="KSO_WM_TAG_VERSION" val="3.0"/>
  <p:tag name="KSO_WM_DIAGRAM_GROUP_CODE" val="l1-1"/>
  <p:tag name="KSO_WM_UNIT_TYPE" val="l_i"/>
  <p:tag name="KSO_WM_UNIT_INDEX" val="1_1"/>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quot;transparency&quot;:1},{&quot;brightness&quot;:0,&quot;colorType&quot;:1,&quot;foreColorIndex&quot;:5,&quot;pos&quot;:1,&quot;transparency&quot;:0.670000016689300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2"/>
  <p:tag name="KSO_WM_TEMPLATE_CATEGORY" val="diagram"/>
  <p:tag name="KSO_WM_TEMPLATE_INDEX" val="20231439"/>
  <p:tag name="KSO_WM_UNIT_LAYERLEVEL" val="1_1"/>
  <p:tag name="KSO_WM_TAG_VERSION" val="3.0"/>
  <p:tag name="KSO_WM_DIAGRAM_GROUP_CODE" val="l1-1"/>
  <p:tag name="KSO_WM_UNIT_TYPE" val="l_i"/>
  <p:tag name="KSO_WM_UNIT_INDEX" val="1_2"/>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10000000149011612,&quot;transparency&quot;:1},{&quot;brightness&quot;:0,&quot;colorType&quot;:1,&quot;foreColorIndex&quot;:5,&quot;pos&quot;:1,&quot;transparency&quot;:0.8799999952316284}],&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3"/>
  <p:tag name="KSO_WM_TEMPLATE_CATEGORY" val="diagram"/>
  <p:tag name="KSO_WM_TEMPLATE_INDEX" val="20231439"/>
  <p:tag name="KSO_WM_UNIT_LAYERLEVEL" val="1_1"/>
  <p:tag name="KSO_WM_TAG_VERSION" val="3.0"/>
  <p:tag name="KSO_WM_DIAGRAM_GROUP_CODE" val="l1-1"/>
  <p:tag name="KSO_WM_UNIT_TYPE" val="l_i"/>
  <p:tag name="KSO_WM_UNIT_INDEX" val="1_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4"/>
  <p:tag name="KSO_WM_TEMPLATE_CATEGORY" val="diagram"/>
  <p:tag name="KSO_WM_TEMPLATE_INDEX" val="20231439"/>
  <p:tag name="KSO_WM_UNIT_LAYERLEVEL" val="1_1"/>
  <p:tag name="KSO_WM_TAG_VERSION" val="3.0"/>
  <p:tag name="KSO_WM_DIAGRAM_GROUP_CODE" val="l1-1"/>
  <p:tag name="KSO_WM_UNIT_TYPE" val="l_i"/>
  <p:tag name="KSO_WM_UNIT_INDEX" val="1_4"/>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5"/>
  <p:tag name="KSO_WM_TEMPLATE_CATEGORY" val="diagram"/>
  <p:tag name="KSO_WM_TEMPLATE_INDEX" val="20231439"/>
  <p:tag name="KSO_WM_UNIT_LAYERLEVEL" val="1_1"/>
  <p:tag name="KSO_WM_TAG_VERSION" val="3.0"/>
  <p:tag name="KSO_WM_DIAGRAM_GROUP_CODE" val="l1-1"/>
  <p:tag name="KSO_WM_UNIT_TYPE" val="l_i"/>
  <p:tag name="KSO_WM_UNIT_INDEX" val="1_5"/>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6"/>
  <p:tag name="KSO_WM_TEMPLATE_CATEGORY" val="diagram"/>
  <p:tag name="KSO_WM_TEMPLATE_INDEX" val="20231439"/>
  <p:tag name="KSO_WM_UNIT_LAYERLEVEL" val="1_1"/>
  <p:tag name="KSO_WM_TAG_VERSION" val="3.0"/>
  <p:tag name="KSO_WM_DIAGRAM_GROUP_CODE" val="l1-1"/>
  <p:tag name="KSO_WM_UNIT_TYPE" val="l_i"/>
  <p:tag name="KSO_WM_UNIT_INDEX" val="1_6"/>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7"/>
  <p:tag name="KSO_WM_TEMPLATE_CATEGORY" val="diagram"/>
  <p:tag name="KSO_WM_TEMPLATE_INDEX" val="20231439"/>
  <p:tag name="KSO_WM_UNIT_LAYERLEVEL" val="1_1"/>
  <p:tag name="KSO_WM_TAG_VERSION" val="3.0"/>
  <p:tag name="KSO_WM_DIAGRAM_GROUP_CODE" val="l1-1"/>
  <p:tag name="KSO_WM_UNIT_TYPE" val="l_i"/>
  <p:tag name="KSO_WM_UNIT_INDEX" val="1_7"/>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8"/>
  <p:tag name="KSO_WM_TEMPLATE_CATEGORY" val="diagram"/>
  <p:tag name="KSO_WM_TEMPLATE_INDEX" val="20231439"/>
  <p:tag name="KSO_WM_UNIT_LAYERLEVEL" val="1_1"/>
  <p:tag name="KSO_WM_TAG_VERSION" val="3.0"/>
  <p:tag name="KSO_WM_DIAGRAM_GROUP_CODE" val="l1-1"/>
  <p:tag name="KSO_WM_UNIT_TYPE" val="l_i"/>
  <p:tag name="KSO_WM_UNIT_INDEX" val="1_8"/>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9"/>
  <p:tag name="KSO_WM_TEMPLATE_CATEGORY" val="diagram"/>
  <p:tag name="KSO_WM_TEMPLATE_INDEX" val="20231439"/>
  <p:tag name="KSO_WM_UNIT_LAYERLEVEL" val="1_1"/>
  <p:tag name="KSO_WM_TAG_VERSION" val="3.0"/>
  <p:tag name="KSO_WM_DIAGRAM_GROUP_CODE" val="l1-1"/>
  <p:tag name="KSO_WM_UNIT_TYPE" val="l_i"/>
  <p:tag name="KSO_WM_UNIT_INDEX" val="1_9"/>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0"/>
  <p:tag name="KSO_WM_TEMPLATE_CATEGORY" val="diagram"/>
  <p:tag name="KSO_WM_TEMPLATE_INDEX" val="20231439"/>
  <p:tag name="KSO_WM_UNIT_LAYERLEVEL" val="1_1"/>
  <p:tag name="KSO_WM_TAG_VERSION" val="3.0"/>
  <p:tag name="KSO_WM_DIAGRAM_GROUP_CODE" val="l1-1"/>
  <p:tag name="KSO_WM_UNIT_TYPE" val="l_i"/>
  <p:tag name="KSO_WM_UNIT_INDEX" val="1_1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999999761581421}],&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3"/>
  <p:tag name="KSO_WM_TEMPLATE_CATEGORY" val="diagram"/>
  <p:tag name="KSO_WM_TEMPLATE_INDEX" val="20231439"/>
  <p:tag name="KSO_WM_UNIT_LAYERLEVEL" val="1_1"/>
  <p:tag name="KSO_WM_TAG_VERSION" val="3.0"/>
  <p:tag name="KSO_WM_DIAGRAM_GROUP_CODE" val="l1-1"/>
  <p:tag name="KSO_WM_UNIT_TYPE" val="l_i"/>
  <p:tag name="KSO_WM_UNIT_INDEX" val="1_1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73.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439_1*l_h_f*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本具体内容文字是您思想的提炼，请尽量言简意赅的阐述您的内容观点。"/>
  <p:tag name="KSO_WM_UNIT_TEXT_FILL_FORE_SCHEMECOLOR_INDEX" val="1"/>
  <p:tag name="KSO_WM_UNIT_TEXT_FILL_TYPE" val="1"/>
  <p:tag name="KSO_WM_DIAGRAM_USE_COLOR_VALUE" val="{&quot;color_scheme&quot;:1,&quot;color_type&quot;:1,&quot;theme_color_indexes&quot;:[9,10,9,10,9,10]}"/>
</p:tagLst>
</file>

<file path=ppt/tags/tag17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439_1*l_h_f*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1439_1*l_h_i*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1439_1*l_h_i*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7.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5023_1*n_h_a*1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389.1749969482422,&quot;left&quot;:51.67501220703125,&quot;top&quot;:94,&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78.xml><?xml version="1.0" encoding="utf-8"?>
<p:tagLst xmlns:p="http://schemas.openxmlformats.org/presentationml/2006/main">
  <p:tag name="TABLE_ENDDRAG_ORIGIN_RECT" val="249*143"/>
  <p:tag name="TABLE_ENDDRAG_RECT" val="50*226*249*143"/>
</p:tagLst>
</file>

<file path=ppt/tags/tag179.xml><?xml version="1.0" encoding="utf-8"?>
<p:tagLst xmlns:p="http://schemas.openxmlformats.org/presentationml/2006/main">
  <p:tag name="TABLE_ENDDRAG_ORIGIN_RECT" val="249*143"/>
  <p:tag name="TABLE_ENDDRAG_RECT" val="50*226*249*143"/>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3"/>
  <p:tag name="KSO_WM_UNIT_ID" val="diagram20235023_1*n_h_i*2_1_3"/>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1.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2_1_1"/>
  <p:tag name="KSO_WM_UNIT_ID" val="diagram20235023_1*n_h_a*2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BEAUTIFY_FLAG" val="#wm#"/>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4"/>
  <p:tag name="KSO_WM_UNIT_ID" val="diagram20235023_1*n_h_i*2_1_4"/>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1,&quot;transparency&quot;:0.44999998807907104}],&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1"/>
  <p:tag name="KSO_WM_UNIT_ID" val="diagram20235023_1*n_h_i*2_1_1"/>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2"/>
  <p:tag name="KSO_WM_UNIT_ID" val="diagram20235023_1*n_h_i*2_1_2"/>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4000000059604645,&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5"/>
  <p:tag name="KSO_WM_UNIT_ID" val="diagram20235023_1*n_h_i*2_1_5"/>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2,&quot;pos&quot;:0.6600000262260437,&quot;rgb&quot;:&quot;#376fff&quot;,&quot;transparency&quot;:1},{&quot;brightness&quot;:0,&quot;colorType&quot;:1,&quot;foreColorIndex&quot;:5,&quot;pos&quot;:0.14000000059604645,&quot;transparency&quot;:1},{&quot;brightness&quot;:0,&quot;colorType&quot;:2,&quot;pos&quot;:0,&quot;rgb&quot;:&quot;#376fff&quot;,&quot;transparency&quot;:0.8399999737739563},{&quot;brightness&quot;:0,&quot;colorType&quot;:1,&quot;foreColorIndex&quot;:5,&quot;pos&quot;:1,&quot;transparency&quot;:0.800000011920929}],&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6.xml><?xml version="1.0" encoding="utf-8"?>
<p:tagLst xmlns:p="http://schemas.openxmlformats.org/presentationml/2006/main">
  <p:tag name="KSO_WM_SLIDE_ITEM_CNT" val="3"/>
  <p:tag name="resource_record_key" val="{&quot;10&quot;:[3505430,50036384,3504219,4526305],&quot;29&quot;:[50053024,50052948,50052445,50000144],&quot;70&quot;:[3405561,3319090,3312439,3318441,3431215,3332761,3318307]}"/>
</p:tagLst>
</file>

<file path=ppt/tags/tag187.xml><?xml version="1.0" encoding="utf-8"?>
<p:tagLst xmlns:p="http://schemas.openxmlformats.org/presentationml/2006/main">
  <p:tag name="KSO_WM_DIAGRAM_VIRTUALLY_FRAME" val="{&quot;height&quot;:389.6,&quot;left&quot;:211.45,&quot;top&quot;:116.65,&quot;width&quot;:477.55}"/>
</p:tagLst>
</file>

<file path=ppt/tags/tag188.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8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90.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91.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93.xml><?xml version="1.0" encoding="utf-8"?>
<p:tagLst xmlns:p="http://schemas.openxmlformats.org/presentationml/2006/main">
  <p:tag name="KSO_WM_UNIT_TABLE_BEAUTIFY" val="smartTable{308056d4-60e8-4828-8c13-09e13014fcb7}"/>
  <p:tag name="TABLE_ENDDRAG_ORIGIN_RECT" val="882*397"/>
  <p:tag name="TABLE_ENDDRAG_RECT" val="41*85*882*397"/>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UNIT_TABLE_BEAUTIFY" val="smartTable{828b6f84-1146-45ed-a109-a4b2f2539ba7}"/>
  <p:tag name="TABLE_ENDDRAG_ORIGIN_RECT" val="882*397"/>
  <p:tag name="TABLE_ENDDRAG_RECT" val="41*85*882*397"/>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BEAUTIFY_FLAG" val=""/>
</p:tagLst>
</file>

<file path=ppt/tags/tag199.xml><?xml version="1.0" encoding="utf-8"?>
<p:tagLst xmlns:p="http://schemas.openxmlformats.org/presentationml/2006/main">
  <p:tag name="KSO_WM_UNIT_TABLE_BEAUTIFY" val="smartTable{8401f0c4-1a68-4e22-8787-7a5f1c3614e5}"/>
  <p:tag name="TABLE_ENDDRAG_ORIGIN_RECT" val="882*397"/>
  <p:tag name="TABLE_ENDDRAG_RECT" val="41*85*882*397"/>
</p:tagLst>
</file>

<file path=ppt/tags/tag200.xml><?xml version="1.0" encoding="utf-8"?>
<p:tagLst xmlns:p="http://schemas.openxmlformats.org/presentationml/2006/main">
  <p:tag name="KSO_WM_BEAUTIFY_FLAG" val=""/>
</p:tagLst>
</file>

<file path=ppt/tags/tag201.xml><?xml version="1.0" encoding="utf-8"?>
<p:tagLst xmlns:p="http://schemas.openxmlformats.org/presentationml/2006/main">
  <p:tag name="KSO_WM_BEAUTIFY_FLAG" val=""/>
</p:tagLst>
</file>

<file path=ppt/tags/tag202.xml><?xml version="1.0" encoding="utf-8"?>
<p:tagLst xmlns:p="http://schemas.openxmlformats.org/presentationml/2006/main">
  <p:tag name="KSO_WM_DIAGRAM_VIRTUALLY_FRAME" val="{&quot;height&quot;:389.6,&quot;left&quot;:211.45,&quot;top&quot;:116.65,&quot;width&quot;:477.55}"/>
</p:tagLst>
</file>

<file path=ppt/tags/tag20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4.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2"/>
  <p:tag name="KSO_WM_UNIT_ID" val="diagram20231799_1*l_h_i*1_1_2"/>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1,&quot;foreColorIndex&quot;:5,&quot;transparency&quot;:0},&quot;type&quot;:1},&quot;glow&quot;:{&quot;colorType&quot;:0},&quot;line&quot;:{&quot;type&quot;:0},&quot;shadow&quot;:{&quot;brightness&quot;:-0.25,&quot;colorType&quot;:1,&quot;foreColorIndex&quot;:14,&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1"/>
  <p:tag name="KSO_WM_UNIT_ID" val="diagram20231799_1*l_h_i*1_1_1"/>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2,&quot;rgb&quot;:&quot;#ffffff&quot;,&quot;transparency&quot;:0},&quot;type&quot;:1},&quot;glow&quot;:{&quot;colorType&quot;:0},&quot;line&quot;:{&quot;type&quot;:0},&quot;shadow&quot;:{&quot;brightness&quot;:0.25,&quot;colorType&quot;:1,&quot;foreColorIndex&quot;:13,&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1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799_1*l_h_f*1_1_1"/>
  <p:tag name="KSO_WM_TEMPLATE_CATEGORY" val="diagram"/>
  <p:tag name="KSO_WM_TEMPLATE_INDEX" val="20231799"/>
  <p:tag name="KSO_WM_UNIT_LAYERLEVEL" val="1_1_1"/>
  <p:tag name="KSO_WM_TAG_VERSION" val="3.0"/>
  <p:tag name="KSO_WM_UNIT_TEXT_FILL_FORE_SCHEMECOLOR_INDEX_BRIGHTNESS" val="0.15"/>
  <p:tag name="KSO_WM_UNIT_TEXT_FILL_TYPE" val="1"/>
  <p:tag name="KSO_WM_DIAGRAM_VERSION" val="3"/>
  <p:tag name="KSO_WM_DIAGRAM_COLOR_TRICK" val="3"/>
  <p:tag name="KSO_WM_DIAGRAM_COLOR_TEXT_CAN_REMOVE" val="n"/>
  <p:tag name="KSO_WM_DIAGRAM_GROUP_CODE" val="l1-1"/>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333333&quot;,&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具体内容，简明扼要地阐述您的观点。根据需要可酌情增减文字，以便观者准确地理解您传达的思想。单击此处添加文本具体内容，简明扼要地阐述您的观点，单击此处添加文本具体内容。"/>
  <p:tag name="KSO_WM_DIAGRAM_USE_COLOR_VALUE" val="{&quot;color_scheme&quot;:1,&quot;color_type&quot;:1,&quot;theme_color_indexes&quot;:[9,10,9,10,9,10]}"/>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BEAUTIFY_FLAG" val=""/>
</p:tagLst>
</file>

<file path=ppt/tags/tag215.xml><?xml version="1.0" encoding="utf-8"?>
<p:tagLst xmlns:p="http://schemas.openxmlformats.org/presentationml/2006/main">
  <p:tag name="TABLE_ENDDRAG_ORIGIN_RECT" val="448*343"/>
  <p:tag name="TABLE_ENDDRAG_RECT" val="60*98*448*343"/>
</p:tagLst>
</file>

<file path=ppt/tags/tag216.xml><?xml version="1.0" encoding="utf-8"?>
<p:tagLst xmlns:p="http://schemas.openxmlformats.org/presentationml/2006/main">
  <p:tag name="TABLE_ENDDRAG_ORIGIN_RECT" val="354*332"/>
  <p:tag name="TABLE_ENDDRAG_RECT" val="537*98*354*332"/>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20.xml><?xml version="1.0" encoding="utf-8"?>
<p:tagLst xmlns:p="http://schemas.openxmlformats.org/presentationml/2006/main">
  <p:tag name="KSO_WM_UNIT_PIC_EFFECT" val="1"/>
</p:tagLst>
</file>

<file path=ppt/tags/tag221.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22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22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224.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225.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26.xml><?xml version="1.0" encoding="utf-8"?>
<p:tagLst xmlns:p="http://schemas.openxmlformats.org/presentationml/2006/main">
  <p:tag name="KSO_WM_DIAGRAM_VIRTUALLY_FRAME" val="{&quot;height&quot;:389.6,&quot;left&quot;:211.45,&quot;top&quot;:116.65,&quot;width&quot;:477.55}"/>
</p:tagLst>
</file>

<file path=ppt/tags/tag227.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2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29.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3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156.26889153427965,&quot;left&quot;:75.475,&quot;top&quot;:135.73110236220472,&quot;width&quot;:201.72872924804696}"/>
</p:tagLst>
</file>

<file path=ppt/tags/tag23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6.xml><?xml version="1.0" encoding="utf-8"?>
<p:tagLst xmlns:p="http://schemas.openxmlformats.org/presentationml/2006/main">
  <p:tag name="KSO_WM_DIAGRAM_VIRTUALLY_FRAME" val="{&quot;height&quot;:156.26889153427965,&quot;left&quot;:75.475,&quot;top&quot;:135.73110236220472,&quot;width&quot;:201.72872924804696}"/>
</p:tagLst>
</file>

<file path=ppt/tags/tag23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9.xml><?xml version="1.0" encoding="utf-8"?>
<p:tagLst xmlns:p="http://schemas.openxmlformats.org/presentationml/2006/main">
  <p:tag name="KSO_WM_DIAGRAM_VIRTUALLY_FRAME" val="{&quot;height&quot;:156.26889153427965,&quot;left&quot;:75.475,&quot;top&quot;:135.73110236220472,&quot;width&quot;:201.72872924804696}"/>
</p:tagLst>
</file>

<file path=ppt/tags/tag24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2.xml><?xml version="1.0" encoding="utf-8"?>
<p:tagLst xmlns:p="http://schemas.openxmlformats.org/presentationml/2006/main">
  <p:tag name="KSO_WM_DIAGRAM_VIRTUALLY_FRAME" val="{&quot;height&quot;:156.26889153427965,&quot;left&quot;:75.475,&quot;top&quot;:135.73110236220472,&quot;width&quot;:201.72872924804696}"/>
</p:tagLst>
</file>

<file path=ppt/tags/tag24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5.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9.xml><?xml version="1.0" encoding="utf-8"?>
<p:tagLst xmlns:p="http://schemas.openxmlformats.org/presentationml/2006/main">
  <p:tag name="KSO_WM_DIAGRAM_VIRTUALLY_FRAME" val="{&quot;height&quot;:443.51889153427965,&quot;left&quot;:59.7,&quot;top&quot;:137.43110236220474,&quot;width&quot;:492.053729248047}"/>
</p:tagLst>
</file>

<file path=ppt/tags/tag25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2.xml><?xml version="1.0" encoding="utf-8"?>
<p:tagLst xmlns:p="http://schemas.openxmlformats.org/presentationml/2006/main">
  <p:tag name="KSO_WM_DIAGRAM_VIRTUALLY_FRAME" val="{&quot;height&quot;:443.51889153427965,&quot;left&quot;:59.7,&quot;top&quot;:137.43110236220474,&quot;width&quot;:492.053729248047}"/>
</p:tagLst>
</file>

<file path=ppt/tags/tag25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5.xml><?xml version="1.0" encoding="utf-8"?>
<p:tagLst xmlns:p="http://schemas.openxmlformats.org/presentationml/2006/main">
  <p:tag name="KSO_WM_DIAGRAM_VIRTUALLY_FRAME" val="{&quot;height&quot;:443.51889153427965,&quot;left&quot;:59.7,&quot;top&quot;:137.43110236220474,&quot;width&quot;:492.053729248047}"/>
</p:tagLst>
</file>

<file path=ppt/tags/tag25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8.xml><?xml version="1.0" encoding="utf-8"?>
<p:tagLst xmlns:p="http://schemas.openxmlformats.org/presentationml/2006/main">
  <p:tag name="KSO_WM_DIAGRAM_VIRTUALLY_FRAME" val="{&quot;height&quot;:443.51889153427965,&quot;left&quot;:59.7,&quot;top&quot;:137.43110236220474,&quot;width&quot;:492.053729248047}"/>
</p:tagLst>
</file>

<file path=ppt/tags/tag25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67.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14267</Words>
  <Application>WPS 演示</Application>
  <PresentationFormat/>
  <Paragraphs>1188</Paragraphs>
  <Slides>30</Slides>
  <Notes>0</Notes>
  <HiddenSlides>0</HiddenSlides>
  <MMClips>0</MMClips>
  <ScaleCrop>false</ScaleCrop>
  <HeadingPairs>
    <vt:vector size="6" baseType="variant">
      <vt:variant>
        <vt:lpstr>已用的字体</vt:lpstr>
      </vt:variant>
      <vt:variant>
        <vt:i4>47</vt:i4>
      </vt:variant>
      <vt:variant>
        <vt:lpstr>主题</vt:lpstr>
      </vt:variant>
      <vt:variant>
        <vt:i4>3</vt:i4>
      </vt:variant>
      <vt:variant>
        <vt:lpstr>幻灯片标题</vt:lpstr>
      </vt:variant>
      <vt:variant>
        <vt:i4>30</vt:i4>
      </vt:variant>
    </vt:vector>
  </HeadingPairs>
  <TitlesOfParts>
    <vt:vector size="80"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Calibri</vt:lpstr>
      <vt:lpstr>Wingdings</vt:lpstr>
      <vt:lpstr>Heiti SC Medium</vt:lpstr>
      <vt:lpstr>Heiti SC Light</vt:lpstr>
      <vt:lpstr>Songti SC</vt:lpstr>
      <vt:lpstr>Noto Sans SC</vt:lpstr>
      <vt:lpstr>微软雅黑</vt:lpstr>
      <vt:lpstr>Source Han Sans CN Medium</vt:lpstr>
      <vt:lpstr>Source Han Sans CN Bold</vt:lpstr>
      <vt:lpstr>Source Han Sans CN Normal</vt:lpstr>
      <vt:lpstr>+中文标题</vt:lpstr>
      <vt:lpstr>Noto Sans SC</vt:lpstr>
      <vt:lpstr>Arial Unicode MS</vt:lpstr>
      <vt:lpstr>Noto Sans</vt:lpstr>
      <vt:lpstr>Arial Black</vt:lpstr>
      <vt:lpstr>Arial Black</vt:lpstr>
      <vt:lpstr>Times New Roman</vt:lpstr>
      <vt:lpstr>Heiti SC Light</vt:lpstr>
      <vt:lpstr>Heiti SC Medium</vt:lpstr>
      <vt:lpstr>Helvetica Neue</vt:lpstr>
      <vt:lpstr>Noto Sans SC</vt:lpstr>
      <vt:lpstr>Songti SC</vt:lpstr>
      <vt:lpstr>Source Han Sans CN Bold</vt:lpstr>
      <vt:lpstr>Source Han Sans CN Medium</vt:lpstr>
      <vt:lpstr>Source Han Sans CN Normal</vt:lpstr>
      <vt:lpstr>Times New Roman</vt:lpstr>
      <vt:lpstr>黑体-简</vt:lpstr>
      <vt:lpstr>Helvetica LT Pro</vt:lpstr>
      <vt:lpstr>方正坦黑体 简</vt:lpstr>
      <vt:lpstr>DIN Pro</vt:lpstr>
      <vt:lpstr>Mona Medium</vt:lpstr>
      <vt:lpstr>Windsor Std Light</vt:lpstr>
      <vt:lpstr>Saturday Sans Regular</vt:lpstr>
      <vt:lpstr>Wonder Sans Bold</vt:lpstr>
      <vt:lpstr>+中文正文</vt:lpstr>
      <vt:lpstr>Office theme</vt:lpstr>
      <vt:lpstr>简约星环线条职场办公</vt:lpstr>
      <vt:lpstr>1_简约星环线条职场办公</vt:lpstr>
      <vt:lpstr>PowerPoint 演示文稿</vt:lpstr>
      <vt:lpstr>PowerPoint 演示文稿</vt:lpstr>
      <vt:lpstr>目标与协作机制回顾</vt:lpstr>
      <vt:lpstr>PowerPoint 演示文稿</vt:lpstr>
      <vt:lpstr>PowerPoint 演示文稿</vt:lpstr>
      <vt:lpstr>我们共同的工作成果总结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vt:lpstr>
      <vt:lpstr>PowerPoint 演示文稿</vt:lpstr>
      <vt:lpstr>PowerPoint 演示文稿</vt:lpstr>
      <vt:lpstr>PowerPoint 演示文稿</vt:lpstr>
      <vt:lpstr>PowerPoint 演示文稿</vt:lpstr>
      <vt:lpstr>下阶段目标与协作计划</vt:lpstr>
      <vt:lpstr>PowerPoint 演示文稿</vt:lpstr>
      <vt:lpstr>PowerPoint 演示文稿</vt:lpstr>
      <vt:lpstr>PowerPoint 演示文稿</vt:lpstr>
      <vt:lpstr>PowerPoint 演示文稿</vt:lpstr>
      <vt:lpstr>客户成功   才是深信服的成功</vt:lpstr>
      <vt:lpstr>工作成果详情</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128</cp:revision>
  <dcterms:created xsi:type="dcterms:W3CDTF">2026-05-09T07:40:00Z</dcterms:created>
  <dcterms:modified xsi:type="dcterms:W3CDTF">2026-06-16T04:52:49Z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2025-08-02T01:35:42Z</vt:filetime>
  </property>
  <property fmtid="{D5CDD505-2E9C-101B-9397-08002B2CF9AE}" pid="4" name="UsrData">
    <vt:lpwstr>687eeadea43bea0020547dd2wl</vt:lpwstr>
  </property>
  <property fmtid="{D5CDD505-2E9C-101B-9397-08002B2CF9AE}" pid="5" name="ICV">
    <vt:lpwstr>35D22C8AD5D1D18E7ACDDC6933F0EB79_43</vt:lpwstr>
  </property>
  <property fmtid="{D5CDD505-2E9C-101B-9397-08002B2CF9AE}" pid="6" name="KSOProductBuildVer">
    <vt:lpwstr>2052-12.1.0.26895</vt:lpwstr>
  </property>
</Properties>
</file>