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1.svg" ContentType="image/svg+xml"/>
  <Override PartName="/ppt/media/image13.svg" ContentType="image/svg+xml"/>
  <Override PartName="/ppt/media/image17.svg" ContentType="image/svg+xml"/>
  <Override PartName="/ppt/media/image19.svg" ContentType="image/svg+xml"/>
  <Override PartName="/ppt/media/image22.svg" ContentType="image/svg+xml"/>
  <Override PartName="/ppt/media/image24.svg" ContentType="image/svg+xml"/>
  <Override PartName="/ppt/media/image26.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3" r:id="rId4"/>
  </p:sldMasterIdLst>
  <p:notesMasterIdLst>
    <p:notesMasterId r:id="rId6"/>
  </p:notesMasterIdLst>
  <p:sldIdLst>
    <p:sldId id="391" r:id="rId5"/>
    <p:sldId id="421" r:id="rId7"/>
    <p:sldId id="393" r:id="rId8"/>
    <p:sldId id="394" r:id="rId9"/>
    <p:sldId id="422" r:id="rId10"/>
    <p:sldId id="432" r:id="rId11"/>
    <p:sldId id="396" r:id="rId12"/>
    <p:sldId id="397" r:id="rId13"/>
    <p:sldId id="428" r:id="rId14"/>
    <p:sldId id="429" r:id="rId15"/>
    <p:sldId id="430" r:id="rId16"/>
    <p:sldId id="400" r:id="rId17"/>
    <p:sldId id="401" r:id="rId18"/>
    <p:sldId id="431" r:id="rId19"/>
    <p:sldId id="402" r:id="rId20"/>
    <p:sldId id="404" r:id="rId21"/>
    <p:sldId id="405" r:id="rId22"/>
    <p:sldId id="406" r:id="rId23"/>
    <p:sldId id="407" r:id="rId24"/>
    <p:sldId id="408" r:id="rId25"/>
    <p:sldId id="424" r:id="rId26"/>
    <p:sldId id="425" r:id="rId27"/>
    <p:sldId id="426" r:id="rId28"/>
    <p:sldId id="427" r:id="rId29"/>
    <p:sldId id="411" r:id="rId30"/>
    <p:sldId id="412" r:id="rId31"/>
    <p:sldId id="415" r:id="rId32"/>
    <p:sldId id="414" r:id="rId33"/>
    <p:sldId id="416" r:id="rId34"/>
    <p:sldId id="417" r:id="rId35"/>
  </p:sldIdLst>
  <p:sldSz cx="12192000" cy="6858000"/>
  <p:notesSz cx="6858000" cy="9144000"/>
  <p:custDataLst>
    <p:tags r:id="rId4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0" Type="http://schemas.openxmlformats.org/officeDocument/2006/relationships/tags" Target="tags/tag283.xml"/><Relationship Id="rId4" Type="http://schemas.openxmlformats.org/officeDocument/2006/relationships/slideMaster" Target="slideMasters/slideMaster3.xml"/><Relationship Id="rId39" Type="http://schemas.openxmlformats.org/officeDocument/2006/relationships/commentAuthors" Target="commentAuthors.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cef48926-0801-4678-bbba-55d6b9c9ec19}"/>
      </c:ext>
    </c:extLst>
  </c:chart>
  <c:spPr>
    <a:noFill/>
    <a:ln w="9525" cap="flat" cmpd="sng" algn="ctr">
      <a:noFill/>
      <a:prstDash val="solid"/>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7964f97f-5aff-427a-b710-d3e8487abdf3}"/>
      </c:ext>
    </c:extLst>
  </c:chart>
  <c:spPr>
    <a:noFill/>
    <a:ln w="9525" cap="flat" cmpd="sng" algn="ctr">
      <a:noFill/>
      <a:prstDash val="solid"/>
      <a:round/>
    </a:ln>
    <a:effectLst/>
  </c:spPr>
  <c:txPr>
    <a:bodyPr/>
    <a:lstStyle/>
    <a:p>
      <a:pPr>
        <a:defRPr lang="zh-CN" b="0">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通过数字化运营，带来安全水位线的可视化和</a:t>
            </a:r>
            <a:r>
              <a:rPr lang="zh-CN" altLang="en-US"/>
              <a:t>提升，直接产生可量化的安全</a:t>
            </a:r>
            <a:r>
              <a:rPr lang="zh-CN" altLang="en-US"/>
              <a:t>价值</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4.xml"/><Relationship Id="rId8" Type="http://schemas.openxmlformats.org/officeDocument/2006/relationships/tags" Target="../tags/tag23.xml"/><Relationship Id="rId7" Type="http://schemas.openxmlformats.org/officeDocument/2006/relationships/tags" Target="../tags/tag22.xml"/><Relationship Id="rId6" Type="http://schemas.openxmlformats.org/officeDocument/2006/relationships/tags" Target="../tags/tag21.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2" Type="http://schemas.openxmlformats.org/officeDocument/2006/relationships/theme" Target="../theme/theme2.xml"/><Relationship Id="rId11" Type="http://schemas.openxmlformats.org/officeDocument/2006/relationships/tags" Target="../tags/tag26.xml"/><Relationship Id="rId10" Type="http://schemas.openxmlformats.org/officeDocument/2006/relationships/tags" Target="../tags/tag25.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6"/>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7"/>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8"/>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9"/>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0"/>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1"/>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tags" Target="../tags/tag73.xml"/><Relationship Id="rId8" Type="http://schemas.openxmlformats.org/officeDocument/2006/relationships/image" Target="../media/image9.svg"/><Relationship Id="rId7" Type="http://schemas.openxmlformats.org/officeDocument/2006/relationships/image" Target="../media/image8.png"/><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tags" Target="../tags/tag85.xml"/><Relationship Id="rId25" Type="http://schemas.openxmlformats.org/officeDocument/2006/relationships/tags" Target="../tags/tag84.xml"/><Relationship Id="rId24" Type="http://schemas.openxmlformats.org/officeDocument/2006/relationships/tags" Target="../tags/tag83.xml"/><Relationship Id="rId23" Type="http://schemas.openxmlformats.org/officeDocument/2006/relationships/image" Target="../media/image14.png"/><Relationship Id="rId22" Type="http://schemas.openxmlformats.org/officeDocument/2006/relationships/tags" Target="../tags/tag82.xml"/><Relationship Id="rId21" Type="http://schemas.openxmlformats.org/officeDocument/2006/relationships/tags" Target="../tags/tag81.xml"/><Relationship Id="rId20" Type="http://schemas.openxmlformats.org/officeDocument/2006/relationships/tags" Target="../tags/tag80.xml"/><Relationship Id="rId2" Type="http://schemas.openxmlformats.org/officeDocument/2006/relationships/tags" Target="../tags/tag69.xml"/><Relationship Id="rId19" Type="http://schemas.openxmlformats.org/officeDocument/2006/relationships/image" Target="../media/image13.svg"/><Relationship Id="rId18" Type="http://schemas.openxmlformats.org/officeDocument/2006/relationships/image" Target="../media/image12.png"/><Relationship Id="rId17" Type="http://schemas.openxmlformats.org/officeDocument/2006/relationships/tags" Target="../tags/tag79.xml"/><Relationship Id="rId16" Type="http://schemas.openxmlformats.org/officeDocument/2006/relationships/tags" Target="../tags/tag78.xml"/><Relationship Id="rId15" Type="http://schemas.openxmlformats.org/officeDocument/2006/relationships/tags" Target="../tags/tag77.xml"/><Relationship Id="rId14" Type="http://schemas.openxmlformats.org/officeDocument/2006/relationships/image" Target="../media/image11.svg"/><Relationship Id="rId13" Type="http://schemas.openxmlformats.org/officeDocument/2006/relationships/image" Target="../media/image10.png"/><Relationship Id="rId12" Type="http://schemas.openxmlformats.org/officeDocument/2006/relationships/tags" Target="../tags/tag76.xml"/><Relationship Id="rId11" Type="http://schemas.openxmlformats.org/officeDocument/2006/relationships/tags" Target="../tags/tag75.xml"/><Relationship Id="rId10" Type="http://schemas.openxmlformats.org/officeDocument/2006/relationships/tags" Target="../tags/tag74.xml"/><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9" Type="http://schemas.openxmlformats.org/officeDocument/2006/relationships/tags" Target="../tags/tag97.xml"/><Relationship Id="rId8" Type="http://schemas.openxmlformats.org/officeDocument/2006/relationships/tags" Target="../tags/tag96.xml"/><Relationship Id="rId7" Type="http://schemas.openxmlformats.org/officeDocument/2006/relationships/tags" Target="../tags/tag95.xml"/><Relationship Id="rId6" Type="http://schemas.openxmlformats.org/officeDocument/2006/relationships/tags" Target="../tags/tag94.xml"/><Relationship Id="rId5" Type="http://schemas.openxmlformats.org/officeDocument/2006/relationships/tags" Target="../tags/tag93.xml"/><Relationship Id="rId4" Type="http://schemas.openxmlformats.org/officeDocument/2006/relationships/tags" Target="../tags/tag92.xml"/><Relationship Id="rId3" Type="http://schemas.openxmlformats.org/officeDocument/2006/relationships/tags" Target="../tags/tag91.xml"/><Relationship Id="rId20" Type="http://schemas.openxmlformats.org/officeDocument/2006/relationships/notesSlide" Target="../notesSlides/notesSlide5.xml"/><Relationship Id="rId2" Type="http://schemas.openxmlformats.org/officeDocument/2006/relationships/tags" Target="../tags/tag90.xml"/><Relationship Id="rId19" Type="http://schemas.openxmlformats.org/officeDocument/2006/relationships/slideLayout" Target="../slideLayouts/slideLayout3.xml"/><Relationship Id="rId18" Type="http://schemas.openxmlformats.org/officeDocument/2006/relationships/tags" Target="../tags/tag106.xml"/><Relationship Id="rId17" Type="http://schemas.openxmlformats.org/officeDocument/2006/relationships/tags" Target="../tags/tag105.xml"/><Relationship Id="rId16" Type="http://schemas.openxmlformats.org/officeDocument/2006/relationships/tags" Target="../tags/tag104.xml"/><Relationship Id="rId15" Type="http://schemas.openxmlformats.org/officeDocument/2006/relationships/tags" Target="../tags/tag103.xml"/><Relationship Id="rId14" Type="http://schemas.openxmlformats.org/officeDocument/2006/relationships/tags" Target="../tags/tag102.xml"/><Relationship Id="rId13" Type="http://schemas.openxmlformats.org/officeDocument/2006/relationships/tags" Target="../tags/tag101.xml"/><Relationship Id="rId12" Type="http://schemas.openxmlformats.org/officeDocument/2006/relationships/tags" Target="../tags/tag100.xml"/><Relationship Id="rId11" Type="http://schemas.openxmlformats.org/officeDocument/2006/relationships/tags" Target="../tags/tag99.xml"/><Relationship Id="rId10" Type="http://schemas.openxmlformats.org/officeDocument/2006/relationships/tags" Target="../tags/tag98.xml"/><Relationship Id="rId1" Type="http://schemas.openxmlformats.org/officeDocument/2006/relationships/tags" Target="../tags/tag89.xml"/></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110.xml"/><Relationship Id="rId4" Type="http://schemas.openxmlformats.org/officeDocument/2006/relationships/image" Target="../media/image6.png"/><Relationship Id="rId3" Type="http://schemas.openxmlformats.org/officeDocument/2006/relationships/tags" Target="../tags/tag109.xml"/><Relationship Id="rId2" Type="http://schemas.openxmlformats.org/officeDocument/2006/relationships/tags" Target="../tags/tag108.xml"/><Relationship Id="rId1" Type="http://schemas.openxmlformats.org/officeDocument/2006/relationships/tags" Target="../tags/tag107.xml"/></Relationships>
</file>

<file path=ppt/slides/_rels/slide8.xml.rels><?xml version="1.0" encoding="UTF-8" standalone="yes"?>
<Relationships xmlns="http://schemas.openxmlformats.org/package/2006/relationships"><Relationship Id="rId9" Type="http://schemas.openxmlformats.org/officeDocument/2006/relationships/tags" Target="../tags/tag117.xml"/><Relationship Id="rId8" Type="http://schemas.openxmlformats.org/officeDocument/2006/relationships/tags" Target="../tags/tag116.xml"/><Relationship Id="rId7" Type="http://schemas.openxmlformats.org/officeDocument/2006/relationships/tags" Target="../tags/tag115.xml"/><Relationship Id="rId6" Type="http://schemas.openxmlformats.org/officeDocument/2006/relationships/tags" Target="../tags/tag114.xml"/><Relationship Id="rId5" Type="http://schemas.openxmlformats.org/officeDocument/2006/relationships/tags" Target="../tags/tag113.xml"/><Relationship Id="rId4" Type="http://schemas.openxmlformats.org/officeDocument/2006/relationships/image" Target="../media/image15.png"/><Relationship Id="rId3" Type="http://schemas.openxmlformats.org/officeDocument/2006/relationships/image" Target="../media/image6.png"/><Relationship Id="rId26" Type="http://schemas.openxmlformats.org/officeDocument/2006/relationships/notesSlide" Target="../notesSlides/notesSlide6.xml"/><Relationship Id="rId25" Type="http://schemas.openxmlformats.org/officeDocument/2006/relationships/slideLayout" Target="../slideLayouts/slideLayout1.xml"/><Relationship Id="rId24" Type="http://schemas.openxmlformats.org/officeDocument/2006/relationships/tags" Target="../tags/tag128.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27.xml"/><Relationship Id="rId20" Type="http://schemas.openxmlformats.org/officeDocument/2006/relationships/tags" Target="../tags/tag126.xml"/><Relationship Id="rId2" Type="http://schemas.openxmlformats.org/officeDocument/2006/relationships/tags" Target="../tags/tag112.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25.xml"/><Relationship Id="rId16" Type="http://schemas.openxmlformats.org/officeDocument/2006/relationships/tags" Target="../tags/tag124.xml"/><Relationship Id="rId15" Type="http://schemas.openxmlformats.org/officeDocument/2006/relationships/tags" Target="../tags/tag123.xml"/><Relationship Id="rId14" Type="http://schemas.openxmlformats.org/officeDocument/2006/relationships/tags" Target="../tags/tag122.xml"/><Relationship Id="rId13" Type="http://schemas.openxmlformats.org/officeDocument/2006/relationships/tags" Target="../tags/tag121.xml"/><Relationship Id="rId12" Type="http://schemas.openxmlformats.org/officeDocument/2006/relationships/tags" Target="../tags/tag120.xml"/><Relationship Id="rId11" Type="http://schemas.openxmlformats.org/officeDocument/2006/relationships/tags" Target="../tags/tag119.xml"/><Relationship Id="rId10" Type="http://schemas.openxmlformats.org/officeDocument/2006/relationships/tags" Target="../tags/tag118.xml"/><Relationship Id="rId1" Type="http://schemas.openxmlformats.org/officeDocument/2006/relationships/tags" Target="../tags/tag111.xml"/></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tags" Target="../tags/tag131.xml"/><Relationship Id="rId3" Type="http://schemas.openxmlformats.org/officeDocument/2006/relationships/tags" Target="../tags/tag130.xml"/><Relationship Id="rId2" Type="http://schemas.openxmlformats.org/officeDocument/2006/relationships/tags" Target="../tags/tag129.xml"/><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34.xml"/><Relationship Id="rId4" Type="http://schemas.openxmlformats.org/officeDocument/2006/relationships/tags" Target="../tags/tag133.xml"/><Relationship Id="rId3" Type="http://schemas.openxmlformats.org/officeDocument/2006/relationships/tags" Target="../tags/tag132.xml"/><Relationship Id="rId2" Type="http://schemas.openxmlformats.org/officeDocument/2006/relationships/image" Target="../media/image20.png"/><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37.xml"/><Relationship Id="rId4" Type="http://schemas.openxmlformats.org/officeDocument/2006/relationships/image" Target="../media/image20.png"/><Relationship Id="rId3" Type="http://schemas.openxmlformats.org/officeDocument/2006/relationships/tags" Target="../tags/tag136.xml"/><Relationship Id="rId2" Type="http://schemas.openxmlformats.org/officeDocument/2006/relationships/tags" Target="../tags/tag135.xml"/><Relationship Id="rId1" Type="http://schemas.openxmlformats.org/officeDocument/2006/relationships/image" Target="../media/image6.png"/></Relationships>
</file>

<file path=ppt/slides/_rels/slide12.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tags" Target="../tags/tag142.xml"/><Relationship Id="rId7" Type="http://schemas.openxmlformats.org/officeDocument/2006/relationships/image" Target="../media/image22.svg"/><Relationship Id="rId6" Type="http://schemas.openxmlformats.org/officeDocument/2006/relationships/image" Target="../media/image21.png"/><Relationship Id="rId5" Type="http://schemas.openxmlformats.org/officeDocument/2006/relationships/tags" Target="../tags/tag141.xml"/><Relationship Id="rId4" Type="http://schemas.openxmlformats.org/officeDocument/2006/relationships/tags" Target="../tags/tag140.xml"/><Relationship Id="rId3" Type="http://schemas.openxmlformats.org/officeDocument/2006/relationships/image" Target="../media/image6.png"/><Relationship Id="rId22" Type="http://schemas.openxmlformats.org/officeDocument/2006/relationships/notesSlide" Target="../notesSlides/notesSlide7.xml"/><Relationship Id="rId21" Type="http://schemas.openxmlformats.org/officeDocument/2006/relationships/slideLayout" Target="../slideLayouts/slideLayout1.xml"/><Relationship Id="rId20" Type="http://schemas.openxmlformats.org/officeDocument/2006/relationships/tags" Target="../tags/tag150.xml"/><Relationship Id="rId2" Type="http://schemas.openxmlformats.org/officeDocument/2006/relationships/tags" Target="../tags/tag139.xml"/><Relationship Id="rId19" Type="http://schemas.openxmlformats.org/officeDocument/2006/relationships/image" Target="../media/image26.svg"/><Relationship Id="rId18" Type="http://schemas.openxmlformats.org/officeDocument/2006/relationships/image" Target="../media/image25.png"/><Relationship Id="rId17" Type="http://schemas.openxmlformats.org/officeDocument/2006/relationships/tags" Target="../tags/tag149.xml"/><Relationship Id="rId16" Type="http://schemas.openxmlformats.org/officeDocument/2006/relationships/tags" Target="../tags/tag148.xml"/><Relationship Id="rId15" Type="http://schemas.openxmlformats.org/officeDocument/2006/relationships/tags" Target="../tags/tag147.xml"/><Relationship Id="rId14" Type="http://schemas.openxmlformats.org/officeDocument/2006/relationships/tags" Target="../tags/tag146.xml"/><Relationship Id="rId13" Type="http://schemas.openxmlformats.org/officeDocument/2006/relationships/tags" Target="../tags/tag145.xml"/><Relationship Id="rId12" Type="http://schemas.openxmlformats.org/officeDocument/2006/relationships/tags" Target="../tags/tag144.xml"/><Relationship Id="rId11" Type="http://schemas.openxmlformats.org/officeDocument/2006/relationships/tags" Target="../tags/tag143.xml"/><Relationship Id="rId10" Type="http://schemas.openxmlformats.org/officeDocument/2006/relationships/image" Target="../media/image24.svg"/><Relationship Id="rId1" Type="http://schemas.openxmlformats.org/officeDocument/2006/relationships/tags" Target="../tags/tag138.xml"/></Relationships>
</file>

<file path=ppt/slides/_rels/slide13.xml.rels><?xml version="1.0" encoding="UTF-8" standalone="yes"?>
<Relationships xmlns="http://schemas.openxmlformats.org/package/2006/relationships"><Relationship Id="rId9" Type="http://schemas.openxmlformats.org/officeDocument/2006/relationships/tags" Target="../tags/tag157.xml"/><Relationship Id="rId8" Type="http://schemas.openxmlformats.org/officeDocument/2006/relationships/tags" Target="../tags/tag156.xml"/><Relationship Id="rId7" Type="http://schemas.openxmlformats.org/officeDocument/2006/relationships/tags" Target="../tags/tag155.xml"/><Relationship Id="rId6" Type="http://schemas.openxmlformats.org/officeDocument/2006/relationships/tags" Target="../tags/tag154.xml"/><Relationship Id="rId5" Type="http://schemas.openxmlformats.org/officeDocument/2006/relationships/image" Target="../media/image27.png"/><Relationship Id="rId4" Type="http://schemas.openxmlformats.org/officeDocument/2006/relationships/tags" Target="../tags/tag153.xml"/><Relationship Id="rId3" Type="http://schemas.openxmlformats.org/officeDocument/2006/relationships/image" Target="../media/image6.png"/><Relationship Id="rId26" Type="http://schemas.openxmlformats.org/officeDocument/2006/relationships/notesSlide" Target="../notesSlides/notesSlide8.xml"/><Relationship Id="rId25" Type="http://schemas.openxmlformats.org/officeDocument/2006/relationships/slideLayout" Target="../slideLayouts/slideLayout1.xml"/><Relationship Id="rId24" Type="http://schemas.openxmlformats.org/officeDocument/2006/relationships/tags" Target="../tags/tag172.xml"/><Relationship Id="rId23" Type="http://schemas.openxmlformats.org/officeDocument/2006/relationships/tags" Target="../tags/tag171.xml"/><Relationship Id="rId22" Type="http://schemas.openxmlformats.org/officeDocument/2006/relationships/tags" Target="../tags/tag170.xml"/><Relationship Id="rId21" Type="http://schemas.openxmlformats.org/officeDocument/2006/relationships/tags" Target="../tags/tag169.xml"/><Relationship Id="rId20" Type="http://schemas.openxmlformats.org/officeDocument/2006/relationships/tags" Target="../tags/tag168.xml"/><Relationship Id="rId2" Type="http://schemas.openxmlformats.org/officeDocument/2006/relationships/tags" Target="../tags/tag152.xml"/><Relationship Id="rId19" Type="http://schemas.openxmlformats.org/officeDocument/2006/relationships/tags" Target="../tags/tag167.xml"/><Relationship Id="rId18" Type="http://schemas.openxmlformats.org/officeDocument/2006/relationships/tags" Target="../tags/tag166.xml"/><Relationship Id="rId17" Type="http://schemas.openxmlformats.org/officeDocument/2006/relationships/tags" Target="../tags/tag165.xml"/><Relationship Id="rId16" Type="http://schemas.openxmlformats.org/officeDocument/2006/relationships/tags" Target="../tags/tag164.xml"/><Relationship Id="rId15" Type="http://schemas.openxmlformats.org/officeDocument/2006/relationships/tags" Target="../tags/tag163.xml"/><Relationship Id="rId14" Type="http://schemas.openxmlformats.org/officeDocument/2006/relationships/tags" Target="../tags/tag162.xml"/><Relationship Id="rId13" Type="http://schemas.openxmlformats.org/officeDocument/2006/relationships/tags" Target="../tags/tag161.xml"/><Relationship Id="rId12" Type="http://schemas.openxmlformats.org/officeDocument/2006/relationships/tags" Target="../tags/tag160.xml"/><Relationship Id="rId11" Type="http://schemas.openxmlformats.org/officeDocument/2006/relationships/tags" Target="../tags/tag159.xml"/><Relationship Id="rId10" Type="http://schemas.openxmlformats.org/officeDocument/2006/relationships/tags" Target="../tags/tag158.xml"/><Relationship Id="rId1" Type="http://schemas.openxmlformats.org/officeDocument/2006/relationships/tags" Target="../tags/tag151.xml"/></Relationships>
</file>

<file path=ppt/slides/_rels/slide14.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77.xml"/><Relationship Id="rId7" Type="http://schemas.openxmlformats.org/officeDocument/2006/relationships/image" Target="../media/image28.png"/><Relationship Id="rId6" Type="http://schemas.openxmlformats.org/officeDocument/2006/relationships/tags" Target="../tags/tag176.xml"/><Relationship Id="rId5" Type="http://schemas.openxmlformats.org/officeDocument/2006/relationships/tags" Target="../tags/tag175.xml"/><Relationship Id="rId4" Type="http://schemas.openxmlformats.org/officeDocument/2006/relationships/image" Target="../media/image20.png"/><Relationship Id="rId3" Type="http://schemas.openxmlformats.org/officeDocument/2006/relationships/image" Target="../media/image6.png"/><Relationship Id="rId2" Type="http://schemas.openxmlformats.org/officeDocument/2006/relationships/tags" Target="../tags/tag174.xml"/><Relationship Id="rId10" Type="http://schemas.openxmlformats.org/officeDocument/2006/relationships/notesSlide" Target="../notesSlides/notesSlide9.xml"/><Relationship Id="rId1" Type="http://schemas.openxmlformats.org/officeDocument/2006/relationships/tags" Target="../tags/tag173.xml"/></Relationships>
</file>

<file path=ppt/slides/_rels/slide15.xml.rels><?xml version="1.0" encoding="UTF-8" standalone="yes"?>
<Relationships xmlns="http://schemas.openxmlformats.org/package/2006/relationships"><Relationship Id="rId9" Type="http://schemas.openxmlformats.org/officeDocument/2006/relationships/tags" Target="../tags/tag185.xml"/><Relationship Id="rId8" Type="http://schemas.openxmlformats.org/officeDocument/2006/relationships/tags" Target="../tags/tag184.xml"/><Relationship Id="rId7" Type="http://schemas.openxmlformats.org/officeDocument/2006/relationships/tags" Target="../tags/tag183.xml"/><Relationship Id="rId6" Type="http://schemas.openxmlformats.org/officeDocument/2006/relationships/tags" Target="../tags/tag182.xml"/><Relationship Id="rId5" Type="http://schemas.openxmlformats.org/officeDocument/2006/relationships/tags" Target="../tags/tag181.xml"/><Relationship Id="rId4" Type="http://schemas.openxmlformats.org/officeDocument/2006/relationships/tags" Target="../tags/tag180.xml"/><Relationship Id="rId30" Type="http://schemas.openxmlformats.org/officeDocument/2006/relationships/notesSlide" Target="../notesSlides/notesSlide10.xml"/><Relationship Id="rId3" Type="http://schemas.openxmlformats.org/officeDocument/2006/relationships/image" Target="../media/image6.png"/><Relationship Id="rId29" Type="http://schemas.openxmlformats.org/officeDocument/2006/relationships/slideLayout" Target="../slideLayouts/slideLayout1.xml"/><Relationship Id="rId28" Type="http://schemas.openxmlformats.org/officeDocument/2006/relationships/tags" Target="../tags/tag204.xml"/><Relationship Id="rId27" Type="http://schemas.openxmlformats.org/officeDocument/2006/relationships/tags" Target="../tags/tag203.xml"/><Relationship Id="rId26" Type="http://schemas.openxmlformats.org/officeDocument/2006/relationships/tags" Target="../tags/tag202.xml"/><Relationship Id="rId25" Type="http://schemas.openxmlformats.org/officeDocument/2006/relationships/tags" Target="../tags/tag201.xml"/><Relationship Id="rId24" Type="http://schemas.openxmlformats.org/officeDocument/2006/relationships/tags" Target="../tags/tag200.xml"/><Relationship Id="rId23" Type="http://schemas.openxmlformats.org/officeDocument/2006/relationships/tags" Target="../tags/tag199.xml"/><Relationship Id="rId22" Type="http://schemas.openxmlformats.org/officeDocument/2006/relationships/tags" Target="../tags/tag198.xml"/><Relationship Id="rId21" Type="http://schemas.openxmlformats.org/officeDocument/2006/relationships/tags" Target="../tags/tag197.xml"/><Relationship Id="rId20" Type="http://schemas.openxmlformats.org/officeDocument/2006/relationships/tags" Target="../tags/tag196.xml"/><Relationship Id="rId2" Type="http://schemas.openxmlformats.org/officeDocument/2006/relationships/tags" Target="../tags/tag179.xml"/><Relationship Id="rId19" Type="http://schemas.openxmlformats.org/officeDocument/2006/relationships/tags" Target="../tags/tag195.xml"/><Relationship Id="rId18" Type="http://schemas.openxmlformats.org/officeDocument/2006/relationships/tags" Target="../tags/tag194.xml"/><Relationship Id="rId17" Type="http://schemas.openxmlformats.org/officeDocument/2006/relationships/tags" Target="../tags/tag193.xml"/><Relationship Id="rId16" Type="http://schemas.openxmlformats.org/officeDocument/2006/relationships/tags" Target="../tags/tag192.xml"/><Relationship Id="rId15" Type="http://schemas.openxmlformats.org/officeDocument/2006/relationships/tags" Target="../tags/tag191.xml"/><Relationship Id="rId14" Type="http://schemas.openxmlformats.org/officeDocument/2006/relationships/tags" Target="../tags/tag190.xml"/><Relationship Id="rId13" Type="http://schemas.openxmlformats.org/officeDocument/2006/relationships/tags" Target="../tags/tag189.xml"/><Relationship Id="rId12" Type="http://schemas.openxmlformats.org/officeDocument/2006/relationships/tags" Target="../tags/tag188.xml"/><Relationship Id="rId11" Type="http://schemas.openxmlformats.org/officeDocument/2006/relationships/tags" Target="../tags/tag187.xml"/><Relationship Id="rId10" Type="http://schemas.openxmlformats.org/officeDocument/2006/relationships/tags" Target="../tags/tag186.xml"/><Relationship Id="rId1" Type="http://schemas.openxmlformats.org/officeDocument/2006/relationships/tags" Target="../tags/tag178.xml"/></Relationships>
</file>

<file path=ppt/slides/_rels/slide1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8.xml"/><Relationship Id="rId4" Type="http://schemas.openxmlformats.org/officeDocument/2006/relationships/image" Target="../media/image6.png"/><Relationship Id="rId3" Type="http://schemas.openxmlformats.org/officeDocument/2006/relationships/tags" Target="../tags/tag207.xml"/><Relationship Id="rId2" Type="http://schemas.openxmlformats.org/officeDocument/2006/relationships/tags" Target="../tags/tag206.xml"/><Relationship Id="rId1" Type="http://schemas.openxmlformats.org/officeDocument/2006/relationships/tags" Target="../tags/tag205.xml"/></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tags" Target="../tags/tag211.xml"/><Relationship Id="rId3" Type="http://schemas.openxmlformats.org/officeDocument/2006/relationships/tags" Target="../tags/tag210.xml"/><Relationship Id="rId2" Type="http://schemas.openxmlformats.org/officeDocument/2006/relationships/tags" Target="../tags/tag209.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2.xml"/><Relationship Id="rId4" Type="http://schemas.openxmlformats.org/officeDocument/2006/relationships/tags" Target="../tags/tag214.xml"/><Relationship Id="rId3" Type="http://schemas.openxmlformats.org/officeDocument/2006/relationships/tags" Target="../tags/tag213.xml"/><Relationship Id="rId2" Type="http://schemas.openxmlformats.org/officeDocument/2006/relationships/tags" Target="../tags/tag212.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2.xml"/><Relationship Id="rId4" Type="http://schemas.openxmlformats.org/officeDocument/2006/relationships/tags" Target="../tags/tag217.xml"/><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image" Target="../media/image6.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21.xml"/><Relationship Id="rId4" Type="http://schemas.openxmlformats.org/officeDocument/2006/relationships/image" Target="../media/image6.png"/><Relationship Id="rId3" Type="http://schemas.openxmlformats.org/officeDocument/2006/relationships/tags" Target="../tags/tag220.xml"/><Relationship Id="rId2" Type="http://schemas.openxmlformats.org/officeDocument/2006/relationships/tags" Target="../tags/tag219.xml"/><Relationship Id="rId1" Type="http://schemas.openxmlformats.org/officeDocument/2006/relationships/tags" Target="../tags/tag218.xml"/></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3.xml"/><Relationship Id="rId3" Type="http://schemas.openxmlformats.org/officeDocument/2006/relationships/image" Target="../media/image6.png"/><Relationship Id="rId2" Type="http://schemas.openxmlformats.org/officeDocument/2006/relationships/tags" Target="../tags/tag223.xml"/><Relationship Id="rId1" Type="http://schemas.openxmlformats.org/officeDocument/2006/relationships/tags" Target="../tags/tag222.xml"/></Relationships>
</file>

<file path=ppt/slides/_rels/slide22.xml.rels><?xml version="1.0" encoding="UTF-8" standalone="yes"?>
<Relationships xmlns="http://schemas.openxmlformats.org/package/2006/relationships"><Relationship Id="rId9" Type="http://schemas.openxmlformats.org/officeDocument/2006/relationships/image" Target="../media/image31.png"/><Relationship Id="rId8" Type="http://schemas.openxmlformats.org/officeDocument/2006/relationships/image" Target="../media/image30.png"/><Relationship Id="rId7" Type="http://schemas.openxmlformats.org/officeDocument/2006/relationships/image" Target="../media/image29.png"/><Relationship Id="rId6" Type="http://schemas.openxmlformats.org/officeDocument/2006/relationships/tags" Target="../tags/tag228.xml"/><Relationship Id="rId5" Type="http://schemas.openxmlformats.org/officeDocument/2006/relationships/tags" Target="../tags/tag227.xml"/><Relationship Id="rId4" Type="http://schemas.openxmlformats.org/officeDocument/2006/relationships/tags" Target="../tags/tag226.xml"/><Relationship Id="rId3" Type="http://schemas.openxmlformats.org/officeDocument/2006/relationships/image" Target="../media/image6.png"/><Relationship Id="rId2" Type="http://schemas.openxmlformats.org/officeDocument/2006/relationships/tags" Target="../tags/tag225.xml"/><Relationship Id="rId16" Type="http://schemas.openxmlformats.org/officeDocument/2006/relationships/notesSlide" Target="../notesSlides/notesSlide15.xml"/><Relationship Id="rId15" Type="http://schemas.openxmlformats.org/officeDocument/2006/relationships/slideLayout" Target="../slideLayouts/slideLayout12.xml"/><Relationship Id="rId14" Type="http://schemas.openxmlformats.org/officeDocument/2006/relationships/image" Target="../media/image36.png"/><Relationship Id="rId13" Type="http://schemas.openxmlformats.org/officeDocument/2006/relationships/image" Target="../media/image35.png"/><Relationship Id="rId12" Type="http://schemas.openxmlformats.org/officeDocument/2006/relationships/image" Target="../media/image34.png"/><Relationship Id="rId11" Type="http://schemas.openxmlformats.org/officeDocument/2006/relationships/image" Target="../media/image33.png"/><Relationship Id="rId10" Type="http://schemas.openxmlformats.org/officeDocument/2006/relationships/image" Target="../media/image32.png"/><Relationship Id="rId1" Type="http://schemas.openxmlformats.org/officeDocument/2006/relationships/tags" Target="../tags/tag224.xml"/></Relationships>
</file>

<file path=ppt/slides/_rels/slide23.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3.xml"/><Relationship Id="rId3" Type="http://schemas.openxmlformats.org/officeDocument/2006/relationships/tags" Target="../tags/tag230.xml"/><Relationship Id="rId2" Type="http://schemas.openxmlformats.org/officeDocument/2006/relationships/tags" Target="../tags/tag229.xml"/><Relationship Id="rId1" Type="http://schemas.openxmlformats.org/officeDocument/2006/relationships/image" Target="../media/image6.png"/></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234.xml"/><Relationship Id="rId5" Type="http://schemas.openxmlformats.org/officeDocument/2006/relationships/tags" Target="../tags/tag233.xml"/><Relationship Id="rId4" Type="http://schemas.openxmlformats.org/officeDocument/2006/relationships/tags" Target="../tags/tag232.xml"/><Relationship Id="rId3" Type="http://schemas.openxmlformats.org/officeDocument/2006/relationships/tags" Target="../tags/tag231.xml"/><Relationship Id="rId2" Type="http://schemas.openxmlformats.org/officeDocument/2006/relationships/image" Target="../media/image37.png"/><Relationship Id="rId1" Type="http://schemas.openxmlformats.org/officeDocument/2006/relationships/image" Target="../media/image6.png"/></Relationships>
</file>

<file path=ppt/slides/_rels/slide25.xml.rels><?xml version="1.0" encoding="UTF-8" standalone="yes"?>
<Relationships xmlns="http://schemas.openxmlformats.org/package/2006/relationships"><Relationship Id="rId9" Type="http://schemas.openxmlformats.org/officeDocument/2006/relationships/image" Target="../media/image39.jpeg"/><Relationship Id="rId8" Type="http://schemas.openxmlformats.org/officeDocument/2006/relationships/tags" Target="../tags/tag240.xml"/><Relationship Id="rId7" Type="http://schemas.openxmlformats.org/officeDocument/2006/relationships/image" Target="../media/image38.png"/><Relationship Id="rId6" Type="http://schemas.openxmlformats.org/officeDocument/2006/relationships/tags" Target="../tags/tag239.xml"/><Relationship Id="rId5" Type="http://schemas.openxmlformats.org/officeDocument/2006/relationships/tags" Target="../tags/tag238.xml"/><Relationship Id="rId4" Type="http://schemas.openxmlformats.org/officeDocument/2006/relationships/tags" Target="../tags/tag237.xml"/><Relationship Id="rId3" Type="http://schemas.openxmlformats.org/officeDocument/2006/relationships/tags" Target="../tags/tag236.xml"/><Relationship Id="rId2" Type="http://schemas.openxmlformats.org/officeDocument/2006/relationships/tags" Target="../tags/tag235.xml"/><Relationship Id="rId11" Type="http://schemas.openxmlformats.org/officeDocument/2006/relationships/slideLayout" Target="../slideLayouts/slideLayout14.xml"/><Relationship Id="rId10" Type="http://schemas.openxmlformats.org/officeDocument/2006/relationships/tags" Target="../tags/tag241.xml"/><Relationship Id="rId1" Type="http://schemas.openxmlformats.org/officeDocument/2006/relationships/image" Target="../media/image6.png"/></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45.xml"/><Relationship Id="rId4" Type="http://schemas.openxmlformats.org/officeDocument/2006/relationships/image" Target="../media/image6.png"/><Relationship Id="rId3" Type="http://schemas.openxmlformats.org/officeDocument/2006/relationships/tags" Target="../tags/tag244.xml"/><Relationship Id="rId2" Type="http://schemas.openxmlformats.org/officeDocument/2006/relationships/tags" Target="../tags/tag243.xml"/><Relationship Id="rId1" Type="http://schemas.openxmlformats.org/officeDocument/2006/relationships/tags" Target="../tags/tag242.xml"/></Relationships>
</file>

<file path=ppt/slides/_rels/slide27.xml.rels><?xml version="1.0" encoding="UTF-8" standalone="yes"?>
<Relationships xmlns="http://schemas.openxmlformats.org/package/2006/relationships"><Relationship Id="rId9" Type="http://schemas.openxmlformats.org/officeDocument/2006/relationships/image" Target="../media/image42.png"/><Relationship Id="rId8" Type="http://schemas.openxmlformats.org/officeDocument/2006/relationships/image" Target="../media/image41.svg"/><Relationship Id="rId7" Type="http://schemas.openxmlformats.org/officeDocument/2006/relationships/image" Target="../media/image40.png"/><Relationship Id="rId6" Type="http://schemas.openxmlformats.org/officeDocument/2006/relationships/image" Target="../media/image6.png"/><Relationship Id="rId5" Type="http://schemas.openxmlformats.org/officeDocument/2006/relationships/tags" Target="../tags/tag247.xml"/><Relationship Id="rId4" Type="http://schemas.openxmlformats.org/officeDocument/2006/relationships/tags" Target="../tags/tag246.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60.xml"/><Relationship Id="rId26" Type="http://schemas.openxmlformats.org/officeDocument/2006/relationships/tags" Target="../tags/tag259.xml"/><Relationship Id="rId25" Type="http://schemas.openxmlformats.org/officeDocument/2006/relationships/tags" Target="../tags/tag258.xml"/><Relationship Id="rId24" Type="http://schemas.openxmlformats.org/officeDocument/2006/relationships/tags" Target="../tags/tag257.xml"/><Relationship Id="rId23" Type="http://schemas.openxmlformats.org/officeDocument/2006/relationships/tags" Target="../tags/tag256.xml"/><Relationship Id="rId22" Type="http://schemas.openxmlformats.org/officeDocument/2006/relationships/tags" Target="../tags/tag255.xml"/><Relationship Id="rId21" Type="http://schemas.openxmlformats.org/officeDocument/2006/relationships/tags" Target="../tags/tag254.xml"/><Relationship Id="rId20" Type="http://schemas.openxmlformats.org/officeDocument/2006/relationships/tags" Target="../tags/tag253.xml"/><Relationship Id="rId2" Type="http://schemas.openxmlformats.org/officeDocument/2006/relationships/chart" Target="../charts/chart2.xml"/><Relationship Id="rId19" Type="http://schemas.openxmlformats.org/officeDocument/2006/relationships/tags" Target="../tags/tag252.xml"/><Relationship Id="rId18" Type="http://schemas.openxmlformats.org/officeDocument/2006/relationships/tags" Target="../tags/tag251.xml"/><Relationship Id="rId17" Type="http://schemas.openxmlformats.org/officeDocument/2006/relationships/tags" Target="../tags/tag250.xml"/><Relationship Id="rId16" Type="http://schemas.openxmlformats.org/officeDocument/2006/relationships/tags" Target="../tags/tag249.xml"/><Relationship Id="rId15" Type="http://schemas.openxmlformats.org/officeDocument/2006/relationships/tags" Target="../tags/tag248.xml"/><Relationship Id="rId14" Type="http://schemas.openxmlformats.org/officeDocument/2006/relationships/image" Target="../media/image47.svg"/><Relationship Id="rId13" Type="http://schemas.openxmlformats.org/officeDocument/2006/relationships/image" Target="../media/image46.png"/><Relationship Id="rId12" Type="http://schemas.openxmlformats.org/officeDocument/2006/relationships/image" Target="../media/image45.svg"/><Relationship Id="rId11" Type="http://schemas.openxmlformats.org/officeDocument/2006/relationships/image" Target="../media/image44.png"/><Relationship Id="rId10" Type="http://schemas.openxmlformats.org/officeDocument/2006/relationships/image" Target="../media/image43.svg"/><Relationship Id="rId1" Type="http://schemas.openxmlformats.org/officeDocument/2006/relationships/chart" Target="../charts/chart1.xml"/></Relationships>
</file>

<file path=ppt/slides/_rels/slide28.xml.rels><?xml version="1.0" encoding="UTF-8" standalone="yes"?>
<Relationships xmlns="http://schemas.openxmlformats.org/package/2006/relationships"><Relationship Id="rId9" Type="http://schemas.openxmlformats.org/officeDocument/2006/relationships/image" Target="../media/image14.png"/><Relationship Id="rId8" Type="http://schemas.openxmlformats.org/officeDocument/2006/relationships/tags" Target="../tags/tag264.xml"/><Relationship Id="rId7" Type="http://schemas.openxmlformats.org/officeDocument/2006/relationships/tags" Target="../tags/tag263.xml"/><Relationship Id="rId6" Type="http://schemas.openxmlformats.org/officeDocument/2006/relationships/tags" Target="../tags/tag262.xml"/><Relationship Id="rId5" Type="http://schemas.openxmlformats.org/officeDocument/2006/relationships/tags" Target="../tags/tag261.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29.xml.rels><?xml version="1.0" encoding="UTF-8" standalone="yes"?>
<Relationships xmlns="http://schemas.openxmlformats.org/package/2006/relationships"><Relationship Id="rId9" Type="http://schemas.openxmlformats.org/officeDocument/2006/relationships/tags" Target="../tags/tag271.xml"/><Relationship Id="rId8" Type="http://schemas.openxmlformats.org/officeDocument/2006/relationships/tags" Target="../tags/tag270.xml"/><Relationship Id="rId7" Type="http://schemas.openxmlformats.org/officeDocument/2006/relationships/tags" Target="../tags/tag269.xml"/><Relationship Id="rId6" Type="http://schemas.openxmlformats.org/officeDocument/2006/relationships/tags" Target="../tags/tag268.xml"/><Relationship Id="rId5" Type="http://schemas.openxmlformats.org/officeDocument/2006/relationships/tags" Target="../tags/tag267.xml"/><Relationship Id="rId4" Type="http://schemas.openxmlformats.org/officeDocument/2006/relationships/tags" Target="../tags/tag266.xml"/><Relationship Id="rId3" Type="http://schemas.openxmlformats.org/officeDocument/2006/relationships/tags" Target="../tags/tag265.xml"/><Relationship Id="rId24" Type="http://schemas.openxmlformats.org/officeDocument/2006/relationships/slideLayout" Target="../slideLayouts/slideLayout1.xml"/><Relationship Id="rId23" Type="http://schemas.openxmlformats.org/officeDocument/2006/relationships/image" Target="../media/image55.svg"/><Relationship Id="rId22" Type="http://schemas.openxmlformats.org/officeDocument/2006/relationships/image" Target="../media/image54.png"/><Relationship Id="rId21" Type="http://schemas.openxmlformats.org/officeDocument/2006/relationships/image" Target="../media/image53.svg"/><Relationship Id="rId20" Type="http://schemas.openxmlformats.org/officeDocument/2006/relationships/image" Target="../media/image52.png"/><Relationship Id="rId2" Type="http://schemas.openxmlformats.org/officeDocument/2006/relationships/chart" Target="../charts/chart9.xml"/><Relationship Id="rId19" Type="http://schemas.openxmlformats.org/officeDocument/2006/relationships/image" Target="../media/image51.svg"/><Relationship Id="rId18" Type="http://schemas.openxmlformats.org/officeDocument/2006/relationships/image" Target="../media/image50.png"/><Relationship Id="rId17" Type="http://schemas.openxmlformats.org/officeDocument/2006/relationships/image" Target="../media/image49.svg"/><Relationship Id="rId16" Type="http://schemas.openxmlformats.org/officeDocument/2006/relationships/image" Target="../media/image48.png"/><Relationship Id="rId15" Type="http://schemas.openxmlformats.org/officeDocument/2006/relationships/image" Target="../media/image6.png"/><Relationship Id="rId14" Type="http://schemas.openxmlformats.org/officeDocument/2006/relationships/tags" Target="../tags/tag276.xml"/><Relationship Id="rId13" Type="http://schemas.openxmlformats.org/officeDocument/2006/relationships/tags" Target="../tags/tag275.xml"/><Relationship Id="rId12" Type="http://schemas.openxmlformats.org/officeDocument/2006/relationships/tags" Target="../tags/tag274.xml"/><Relationship Id="rId11" Type="http://schemas.openxmlformats.org/officeDocument/2006/relationships/tags" Target="../tags/tag273.xml"/><Relationship Id="rId10" Type="http://schemas.openxmlformats.org/officeDocument/2006/relationships/tags" Target="../tags/tag272.xml"/><Relationship Id="rId1" Type="http://schemas.openxmlformats.org/officeDocument/2006/relationships/chart" Target="../charts/chart8.xml"/></Relationships>
</file>

<file path=ppt/slides/_rels/slide30.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image" Target="../media/image59.svg"/><Relationship Id="rId7" Type="http://schemas.openxmlformats.org/officeDocument/2006/relationships/image" Target="../media/image58.png"/><Relationship Id="rId6" Type="http://schemas.openxmlformats.org/officeDocument/2006/relationships/tags" Target="../tags/tag279.xml"/><Relationship Id="rId5" Type="http://schemas.openxmlformats.org/officeDocument/2006/relationships/image" Target="../media/image57.svg"/><Relationship Id="rId4" Type="http://schemas.openxmlformats.org/officeDocument/2006/relationships/image" Target="../media/image56.png"/><Relationship Id="rId3" Type="http://schemas.openxmlformats.org/officeDocument/2006/relationships/tags" Target="../tags/tag278.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69.svg"/><Relationship Id="rId21" Type="http://schemas.openxmlformats.org/officeDocument/2006/relationships/image" Target="../media/image68.png"/><Relationship Id="rId20" Type="http://schemas.openxmlformats.org/officeDocument/2006/relationships/tags" Target="../tags/tag282.xml"/><Relationship Id="rId2" Type="http://schemas.openxmlformats.org/officeDocument/2006/relationships/tags" Target="../tags/tag277.xml"/><Relationship Id="rId19" Type="http://schemas.openxmlformats.org/officeDocument/2006/relationships/image" Target="../media/image67.svg"/><Relationship Id="rId18" Type="http://schemas.openxmlformats.org/officeDocument/2006/relationships/image" Target="../media/image66.png"/><Relationship Id="rId17" Type="http://schemas.openxmlformats.org/officeDocument/2006/relationships/image" Target="../media/image65.svg"/><Relationship Id="rId16" Type="http://schemas.openxmlformats.org/officeDocument/2006/relationships/image" Target="../media/image64.png"/><Relationship Id="rId15" Type="http://schemas.openxmlformats.org/officeDocument/2006/relationships/tags" Target="../tags/tag281.xml"/><Relationship Id="rId14" Type="http://schemas.openxmlformats.org/officeDocument/2006/relationships/image" Target="../media/image63.svg"/><Relationship Id="rId13" Type="http://schemas.openxmlformats.org/officeDocument/2006/relationships/image" Target="../media/image62.png"/><Relationship Id="rId12" Type="http://schemas.openxmlformats.org/officeDocument/2006/relationships/tags" Target="../tags/tag280.xml"/><Relationship Id="rId11" Type="http://schemas.openxmlformats.org/officeDocument/2006/relationships/image" Target="../media/image14.png"/><Relationship Id="rId10" Type="http://schemas.openxmlformats.org/officeDocument/2006/relationships/image" Target="../media/image61.svg"/><Relationship Id="rId1" Type="http://schemas.openxmlformats.org/officeDocument/2006/relationships/chart" Target="../charts/char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安全水位提升</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{{company}}&amp;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目标与协作机制回顾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回顾预期目标与协作机制</a:t>
              </a:r>
              <a:endPar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共同的工作成果总结</a:t>
              </a:r>
              <a:endParaRPr lang="en-US" altLang="zh-CN"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kern="0">
                  <a:uFillTx/>
                  <a:latin typeface="Arial" panose="020B0604020202020204" pitchFamily="34" charset="0"/>
                  <a:ea typeface="黑体-简" panose="02000000000000000000" charset="-122"/>
                  <a:cs typeface="微软雅黑" panose="020B0503020204020204" charset="-122"/>
                  <a:sym typeface="+mn-ea"/>
                </a:rPr>
                <a:t>下阶段目标与协作计划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共同的目标与协作计划刷新</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回顾预期目标与协作机制</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目标与协作机制回顾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正文"/>
          <p:cNvSpPr txBox="1"/>
          <p:nvPr>
            <p:custDataLst>
              <p:tags r:id="rId4"/>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重要时期防守保障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11" name="椭圆 10"/>
          <p:cNvSpPr/>
          <p:nvPr>
            <p:custDataLst>
              <p:tags r:id="rId5"/>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 name="3" descr="斗争"/>
          <p:cNvPicPr>
            <a:picLocks noChangeAspect="1"/>
          </p:cNvPicPr>
          <p:nvPr>
            <p:custDataLst>
              <p:tags r:id="rId6"/>
            </p:custDataLst>
          </p:nvPr>
        </p:nvPicPr>
        <p:blipFill>
          <a:blip r:embed="rId7">
            <a:extLst>
              <a:ext uri="{96DAC541-7B7A-43D3-8B79-37D633B846F1}">
                <asvg:svgBlip xmlns:asvg="http://schemas.microsoft.com/office/drawing/2016/SVG/main" r:embed="rId8"/>
              </a:ext>
            </a:extLst>
          </a:blip>
          <a:srcRect/>
          <a:stretch>
            <a:fillRect/>
          </a:stretch>
        </p:blipFill>
        <p:spPr>
          <a:xfrm>
            <a:off x="9561356" y="2787604"/>
            <a:ext cx="270553" cy="270553"/>
          </a:xfrm>
          <a:prstGeom prst="rect">
            <a:avLst/>
          </a:prstGeom>
        </p:spPr>
      </p:pic>
      <p:sp>
        <p:nvSpPr>
          <p:cNvPr id="4" name="矩形 3"/>
          <p:cNvSpPr/>
          <p:nvPr>
            <p:custDataLst>
              <p:tags r:id="rId9"/>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 name="正文"/>
          <p:cNvSpPr txBox="1"/>
          <p:nvPr>
            <p:custDataLst>
              <p:tags r:id="rId10"/>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8" name="椭圆 7"/>
          <p:cNvSpPr/>
          <p:nvPr>
            <p:custDataLst>
              <p:tags r:id="rId11"/>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9" name="2" descr="盾牌"/>
          <p:cNvPicPr>
            <a:picLocks noChangeAspect="1"/>
          </p:cNvPicPr>
          <p:nvPr>
            <p:custDataLst>
              <p:tags r:id="rId12"/>
            </p:custDataLst>
          </p:nvPr>
        </p:nvPicPr>
        <p:blipFill>
          <a:blip r:embed="rId13">
            <a:extLst>
              <a:ext uri="{96DAC541-7B7A-43D3-8B79-37D633B846F1}">
                <asvg:svgBlip xmlns:asvg="http://schemas.microsoft.com/office/drawing/2016/SVG/main" r:embed="rId14"/>
              </a:ext>
            </a:extLst>
          </a:blip>
          <a:srcRect/>
          <a:stretch>
            <a:fillRect/>
          </a:stretch>
        </p:blipFill>
        <p:spPr>
          <a:xfrm>
            <a:off x="5939937" y="2514042"/>
            <a:ext cx="280741" cy="280741"/>
          </a:xfrm>
          <a:prstGeom prst="rect">
            <a:avLst/>
          </a:prstGeom>
        </p:spPr>
      </p:pic>
      <p:sp>
        <p:nvSpPr>
          <p:cNvPr id="10" name="正文"/>
          <p:cNvSpPr txBox="1"/>
          <p:nvPr>
            <p:custDataLst>
              <p:tags r:id="rId15"/>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18" name="椭圆 17"/>
          <p:cNvSpPr/>
          <p:nvPr>
            <p:custDataLst>
              <p:tags r:id="rId16"/>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51" name="1" descr="审核"/>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2327934" y="2802630"/>
            <a:ext cx="272817" cy="272817"/>
          </a:xfrm>
          <a:prstGeom prst="rect">
            <a:avLst/>
          </a:prstGeom>
        </p:spPr>
      </p:pic>
      <p:sp>
        <p:nvSpPr>
          <p:cNvPr id="19" name="矩形 18"/>
          <p:cNvSpPr/>
          <p:nvPr>
            <p:custDataLst>
              <p:tags r:id="rId20"/>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0" name="矩形 19"/>
          <p:cNvSpPr/>
          <p:nvPr>
            <p:custDataLst>
              <p:tags r:id="rId21"/>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93" name="圆角矩形 692"/>
          <p:cNvSpPr/>
          <p:nvPr>
            <p:custDataLst>
              <p:tags r:id="rId22"/>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marL="0" indent="0" algn="ctr">
              <a:lnSpc>
                <a:spcPct val="150000"/>
              </a:lnSpc>
              <a:buNone/>
            </a:pP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在国家及行业网络安全安全实战效果要求越来越高，外部网络安全态势愈加严峻多变的时代背景下。为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共同构建</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起</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以</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保护</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核心业务系统安全稳定运行</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为中心的</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主动防御、持续监测、快速响应的全面安全运营体系，为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的数字化转型保驾护航。</a:t>
            </a:r>
            <a:endParaRPr lang="en-US" altLang="en-US" sz="1200" b="1" dirty="0">
              <a:solidFill>
                <a:schemeClr val="tx1"/>
              </a:solidFill>
              <a:uFillTx/>
              <a:latin typeface="Arial" panose="020B0604020202020204" pitchFamily="34" charset="0"/>
              <a:ea typeface="黑体-简" panose="02000000000000000000" charset="-122"/>
              <a:cs typeface="Calibri" panose="020F0502020204030204" pitchFamily="34" charset="-120"/>
              <a:sym typeface="+mn-ea"/>
            </a:endParaRPr>
          </a:p>
        </p:txBody>
      </p:sp>
      <p:pic>
        <p:nvPicPr>
          <p:cNvPr id="705" name="图片 704" descr="1755071818846"/>
          <p:cNvPicPr/>
          <p:nvPr/>
        </p:nvPicPr>
        <p:blipFill>
          <a:blip r:embed="rId23"/>
          <a:stretch>
            <a:fillRect/>
          </a:stretch>
        </p:blipFill>
        <p:spPr>
          <a:xfrm>
            <a:off x="669608" y="6019800"/>
            <a:ext cx="10800000" cy="502285"/>
          </a:xfrm>
          <a:prstGeom prst="rect">
            <a:avLst/>
          </a:prstGeom>
        </p:spPr>
      </p:pic>
      <p:sp>
        <p:nvSpPr>
          <p:cNvPr id="706" name="文本框 705"/>
          <p:cNvSpPr txBox="1"/>
          <p:nvPr/>
        </p:nvSpPr>
        <p:spPr>
          <a:xfrm>
            <a:off x="859155" y="6052185"/>
            <a:ext cx="1057529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en-US" sz="10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32" name="正文"/>
          <p:cNvSpPr txBox="1"/>
          <p:nvPr>
            <p:custDataLst>
              <p:tags r:id="rId24"/>
            </p:custDataLst>
          </p:nvPr>
        </p:nvSpPr>
        <p:spPr>
          <a:xfrm>
            <a:off x="984885" y="3949065"/>
            <a:ext cx="2988310" cy="1845945"/>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持续降低被通报风险，高效响应被通报问题</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indent="0" algn="l">
              <a:lnSpc>
                <a:spcPct val="130000"/>
              </a:lnSpc>
              <a:buClrTx/>
              <a:buSzTx/>
              <a:buFont typeface="Wingdings" panose="05000000000000000000" charset="0"/>
              <a:buNone/>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1</a:t>
            </a:r>
            <a:r>
              <a:rPr lang="zh-CN" altLang="en-US" sz="1200" dirty="0">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2</a:t>
            </a:r>
            <a:r>
              <a:rPr lang="zh-CN" altLang="en-US" sz="1200" dirty="0">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、恶意外联类问题构建自主发现能力，有效减少被监管通报的概率；</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3</a:t>
            </a:r>
            <a:r>
              <a:rPr lang="zh-CN" altLang="en-US" sz="1200" dirty="0">
                <a:latin typeface="Heiti SC Light" panose="02000000000000000000" charset="-122"/>
                <a:ea typeface="Heiti SC Light" panose="02000000000000000000" charset="-122"/>
                <a:cs typeface="Heiti SC Light" panose="02000000000000000000" charset="-122"/>
                <a:sym typeface="+mn-ea"/>
              </a:rPr>
              <a:t>、被通报问题的有效排查和响应回函不超过48</a:t>
            </a:r>
            <a:r>
              <a:rPr lang="en-US" altLang="zh-CN" sz="1200" dirty="0">
                <a:latin typeface="Heiti SC Light" panose="02000000000000000000" charset="-122"/>
                <a:ea typeface="Heiti SC Light" panose="02000000000000000000" charset="-122"/>
                <a:cs typeface="Heiti SC Light" panose="02000000000000000000" charset="-122"/>
                <a:sym typeface="+mn-ea"/>
              </a:rPr>
              <a:t>H。</a:t>
            </a:r>
            <a:endPar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lvl="0" indent="0" algn="ctr">
              <a:lnSpc>
                <a:spcPct val="130000"/>
              </a:lnSpc>
              <a:buClrTx/>
              <a:buSzTx/>
              <a:buFont typeface="Wingdings" panose="05000000000000000000" charset="0"/>
              <a:buNone/>
            </a:pPr>
            <a:endParaRPr lang="zh-CN" altLang="en-US" sz="1200" kern="0" dirty="0">
              <a:ln>
                <a:noFill/>
                <a:prstDash val="sysDot"/>
              </a:ln>
              <a:solidFill>
                <a:schemeClr val="tx1">
                  <a:lumMod val="85000"/>
                  <a:lumOff val="15000"/>
                </a:schemeClr>
              </a:solidFill>
              <a:uFillTx/>
              <a:latin typeface="Heiti SC Light" panose="02000000000000000000" charset="-122"/>
              <a:ea typeface="Heiti SC Light" panose="02000000000000000000" charset="-122"/>
              <a:cs typeface="Heiti SC Light" panose="02000000000000000000" charset="-122"/>
              <a:sym typeface="+mn-ea"/>
            </a:endParaRPr>
          </a:p>
        </p:txBody>
      </p:sp>
      <p:sp>
        <p:nvSpPr>
          <p:cNvPr id="15" name="正文"/>
          <p:cNvSpPr txBox="1"/>
          <p:nvPr>
            <p:custDataLst>
              <p:tags r:id="rId25"/>
            </p:custDataLst>
          </p:nvPr>
        </p:nvSpPr>
        <p:spPr>
          <a:xfrm>
            <a:off x="4585970" y="3667125"/>
            <a:ext cx="2988310" cy="2009775"/>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保障核心业务系统0安全事故，有效规避业务损失</a:t>
            </a: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indent="0" algn="l" fontAlgn="auto">
              <a:lnSpc>
                <a:spcPct val="130000"/>
              </a:lnSpc>
              <a:buFont typeface="Wingdings" panose="05000000000000000000" charset="0"/>
              <a:buNone/>
            </a:pP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200" dirty="0">
                <a:latin typeface="Heiti SC Light" panose="02000000000000000000" charset="-122"/>
                <a:ea typeface="Heiti SC Light" panose="02000000000000000000" charset="-122"/>
                <a:cs typeface="Heiti SC Light" panose="02000000000000000000" charset="-122"/>
                <a:sym typeface="+mn-ea"/>
              </a:rPr>
              <a:t>核心业务（</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200" dirty="0">
                <a:latin typeface="Heiti SC Light" panose="02000000000000000000" charset="-122"/>
                <a:ea typeface="Heiti SC Light" panose="02000000000000000000" charset="-122"/>
                <a:cs typeface="Heiti SC Light" panose="02000000000000000000" charset="-122"/>
                <a:sym typeface="+mn-ea"/>
              </a:rPr>
              <a:t>0</a:t>
            </a:r>
            <a:r>
              <a:rPr lang="zh-CN" altLang="en-US" sz="12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2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2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主动发现核心系统的重大风险并进行缓解，降低风险被利用带来的损失；</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ctr" fontAlgn="auto">
              <a:lnSpc>
                <a:spcPct val="130000"/>
              </a:lnSpc>
              <a:buFont typeface="Wingdings" panose="05000000000000000000" charset="0"/>
              <a:buNone/>
            </a:pP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23" name="正文"/>
          <p:cNvSpPr txBox="1"/>
          <p:nvPr>
            <p:custDataLst>
              <p:tags r:id="rId26"/>
            </p:custDataLst>
          </p:nvPr>
        </p:nvSpPr>
        <p:spPr>
          <a:xfrm>
            <a:off x="8202930" y="3942080"/>
            <a:ext cx="2988310" cy="17348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提升攻防演练场景</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的防守保障能力，助力单位安全水平通过实战检验</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2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200" dirty="0">
                <a:latin typeface="Heiti SC Light" panose="02000000000000000000" charset="-122"/>
                <a:ea typeface="Heiti SC Light" panose="02000000000000000000" charset="-122"/>
                <a:cs typeface="Heiti SC Light" panose="02000000000000000000" charset="-122"/>
                <a:sym typeface="+mn-ea"/>
              </a:rPr>
              <a:t>30</a:t>
            </a:r>
            <a:r>
              <a:rPr lang="zh-CN" altLang="en-US" sz="1200" dirty="0">
                <a:latin typeface="Heiti SC Light" panose="02000000000000000000" charset="-122"/>
                <a:ea typeface="Heiti SC Light" panose="02000000000000000000" charset="-122"/>
                <a:cs typeface="Heiti SC Light" panose="02000000000000000000" charset="-122"/>
                <a:sym typeface="+mn-ea"/>
              </a:rPr>
              <a:t>分钟内通告；</a:t>
            </a:r>
            <a:endParaRPr lang="zh-CN" altLang="en-US" sz="12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2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200" dirty="0">
                <a:latin typeface="Heiti SC Light" panose="02000000000000000000" charset="-122"/>
                <a:ea typeface="Heiti SC Light" panose="02000000000000000000" charset="-122"/>
                <a:cs typeface="Heiti SC Light" panose="02000000000000000000" charset="-122"/>
                <a:sym typeface="+mn-ea"/>
              </a:rPr>
              <a:t>100%</a:t>
            </a:r>
            <a:r>
              <a:rPr lang="zh-CN" altLang="en-US" sz="12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200" dirty="0">
              <a:latin typeface="Heiti SC Light" panose="02000000000000000000" charset="-122"/>
              <a:ea typeface="Heiti SC Light" panose="02000000000000000000" charset="-122"/>
              <a:cs typeface="Heiti SC Light" panose="02000000000000000000"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D97706"/>
                </a:solidFill>
                <a:latin typeface="微软雅黑" panose="020B0503020204020204" charset="-122"/>
                <a:ea typeface="微软雅黑" panose="020B0503020204020204" charset="-122"/>
                <a:cs typeface="微软雅黑" panose="020B0503020204020204" pitchFamily="34" charset="-120"/>
                <a:sym typeface="+mn-ea"/>
              </a:rPr>
              <a:t>渠道</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负责本地化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运维</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与现场支撑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承担决策确认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与内部</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现场交付（渠道）+ 资源决策（客户）形成完整闭环</a:t>
            </a:r>
            <a:endParaRPr lang="en-US" sz="1065" dirty="0"/>
          </a:p>
        </p:txBody>
      </p:sp>
      <p:grpSp>
        <p:nvGrpSpPr>
          <p:cNvPr id="9" name="组合 8"/>
          <p:cNvGrpSpPr/>
          <p:nvPr/>
        </p:nvGrpSpPr>
        <p:grpSpPr>
          <a:xfrm>
            <a:off x="224790" y="289878"/>
            <a:ext cx="5322570" cy="327025"/>
            <a:chOff x="533" y="646"/>
            <a:chExt cx="8382"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7570"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（渠道版）</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4" name="组合 3"/>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1、现场与业务方的沟通</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2、执行网络及端点侧处置策略实施与协调，保障现场实施举措</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3、收集并反馈业务方的需求与安全痛点，助力安全运营优化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3" name="组合 2"/>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1、渗透测试发现互联网暴露面漏洞风险，协助业务方加固；</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2、协助定位恶意外联终端，提供主机侧处置；</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3、网络/业务运维的响应实施</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2" name="组合 1"/>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现场值守与一线处置、联络与</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协调；</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渗透测试发现互联网暴露面漏洞风险，前置加固；</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与现场处置</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资源决策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rPr>
              <a:t>与线下处置协调</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（客户）形成完整闭环</a:t>
            </a:r>
            <a:endParaRPr lang="en-US" sz="1065" dirty="0"/>
          </a:p>
        </p:txBody>
      </p:sp>
      <p:grpSp>
        <p:nvGrpSpPr>
          <p:cNvPr id="9" name="组合 8"/>
          <p:cNvGrpSpPr/>
          <p:nvPr/>
        </p:nvGrpSpPr>
        <p:grpSpPr>
          <a:xfrm>
            <a:off x="224790" y="289878"/>
            <a:ext cx="5351145" cy="327025"/>
            <a:chOff x="533" y="646"/>
            <a:chExt cx="8427"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761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（无渠道</a:t>
              </a:r>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版）</a:t>
              </a:r>
              <a:endPar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custDataLst>
              <p:tags r:id="rId3"/>
            </p:custDataLst>
          </p:nvPr>
        </p:nvSpPr>
        <p:spPr>
          <a:xfrm>
            <a:off x="4389120" y="1102360"/>
            <a:ext cx="4321175" cy="548640"/>
          </a:xfrm>
          <a:prstGeom prst="rect">
            <a:avLst/>
          </a:prstGeom>
          <a:solidFill>
            <a:srgbClr val="2563EB"/>
          </a:solidFill>
        </p:spPr>
      </p:sp>
      <p:sp>
        <p:nvSpPr>
          <p:cNvPr id="100" name="Text 16"/>
          <p:cNvSpPr/>
          <p:nvPr>
            <p:custDataLst>
              <p:tags r:id="rId4"/>
            </p:custDataLst>
          </p:nvPr>
        </p:nvSpPr>
        <p:spPr>
          <a:xfrm>
            <a:off x="4389120" y="1102360"/>
            <a:ext cx="4322445"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custDataLst>
              <p:tags r:id="rId5"/>
            </p:custDataLst>
          </p:nvPr>
        </p:nvSpPr>
        <p:spPr>
          <a:xfrm>
            <a:off x="8710930" y="1102360"/>
            <a:ext cx="3166110" cy="548640"/>
          </a:xfrm>
          <a:prstGeom prst="rect">
            <a:avLst/>
          </a:prstGeom>
          <a:solidFill>
            <a:srgbClr val="059669"/>
          </a:solidFill>
        </p:spPr>
      </p:sp>
      <p:sp>
        <p:nvSpPr>
          <p:cNvPr id="104" name="Text 20"/>
          <p:cNvSpPr/>
          <p:nvPr>
            <p:custDataLst>
              <p:tags r:id="rId6"/>
            </p:custDataLst>
          </p:nvPr>
        </p:nvSpPr>
        <p:spPr>
          <a:xfrm>
            <a:off x="8749665" y="1102360"/>
            <a:ext cx="3127375" cy="548640"/>
          </a:xfrm>
          <a:prstGeom prst="rect">
            <a:avLst/>
          </a:prstGeom>
          <a:noFill/>
        </p:spPr>
        <p:txBody>
          <a:bodyPr wrap="square" lIns="0" tIns="0" rIns="0" bIns="0" rtlCol="0" anchor="ctr"/>
          <a:lstStyle/>
          <a:p>
            <a:pPr marL="0" indent="0" algn="ctr">
              <a:buNone/>
            </a:pP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「客户单位」</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5" name="Shape 21"/>
          <p:cNvSpPr/>
          <p:nvPr/>
        </p:nvSpPr>
        <p:spPr>
          <a:xfrm>
            <a:off x="304800" y="1651000"/>
            <a:ext cx="1403985" cy="1440180"/>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1706880" y="1651000"/>
            <a:ext cx="2682240" cy="1440180"/>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zh-CN" altLang="en-US" sz="1000"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4C61E7"/>
                </a:solidFill>
                <a:latin typeface="Heiti SC Light" panose="02000000000000000000" charset="-122"/>
                <a:ea typeface="Heiti SC Light" panose="02000000000000000000" charset="-122"/>
                <a:cs typeface="Heiti SC Light" panose="02000000000000000000" charset="-122"/>
                <a:sym typeface="+mn-ea"/>
              </a:rPr>
              <a:t>TOP3</a:t>
            </a:r>
            <a:r>
              <a:rPr lang="zh-CN" altLang="en-US" sz="1000" dirty="0">
                <a:solidFill>
                  <a:srgbClr val="4C61E7"/>
                </a:solidFill>
                <a:latin typeface="Heiti SC Light" panose="02000000000000000000" charset="-122"/>
                <a:ea typeface="Heiti SC Light" panose="02000000000000000000" charset="-122"/>
                <a:cs typeface="Heiti SC Light" panose="02000000000000000000" charset="-122"/>
                <a:sym typeface="+mn-ea"/>
              </a:rPr>
              <a:t>核心应用系统</a:t>
            </a:r>
            <a:r>
              <a:rPr lang="zh-CN" altLang="en-US" sz="1000"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custDataLst>
              <p:tags r:id="rId7"/>
            </p:custDataLst>
          </p:nvPr>
        </p:nvSpPr>
        <p:spPr>
          <a:xfrm>
            <a:off x="4389120" y="1651000"/>
            <a:ext cx="4309745" cy="1440180"/>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custDataLst>
              <p:tags r:id="rId8"/>
            </p:custDataLst>
          </p:nvPr>
        </p:nvSpPr>
        <p:spPr>
          <a:xfrm>
            <a:off x="4389120" y="1651000"/>
            <a:ext cx="48895" cy="1440180"/>
          </a:xfrm>
          <a:prstGeom prst="rect">
            <a:avLst/>
          </a:prstGeom>
          <a:solidFill>
            <a:srgbClr val="2563EB">
              <a:alpha val="50000"/>
            </a:srgbClr>
          </a:solidFill>
        </p:spPr>
      </p:sp>
      <p:sp>
        <p:nvSpPr>
          <p:cNvPr id="111" name="Shape 31"/>
          <p:cNvSpPr/>
          <p:nvPr>
            <p:custDataLst>
              <p:tags r:id="rId9"/>
            </p:custDataLst>
          </p:nvPr>
        </p:nvSpPr>
        <p:spPr>
          <a:xfrm>
            <a:off x="8742045" y="1651000"/>
            <a:ext cx="313499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2、安全事件的处置审核及授权，需要现场处置的事件和本地网络</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侧设备策略操作的</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执行，如需远程上机的帮忙协调远程环境；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custDataLst>
              <p:tags r:id="rId10"/>
            </p:custDataLst>
          </p:nvPr>
        </p:nvSpPr>
        <p:spPr>
          <a:xfrm>
            <a:off x="8700135" y="1647190"/>
            <a:ext cx="48895" cy="1440180"/>
          </a:xfrm>
          <a:prstGeom prst="rect">
            <a:avLst/>
          </a:prstGeom>
          <a:solidFill>
            <a:srgbClr val="059669">
              <a:alpha val="50000"/>
            </a:srgbClr>
          </a:solidFill>
        </p:spPr>
      </p:sp>
      <p:sp>
        <p:nvSpPr>
          <p:cNvPr id="113" name="Shape 34"/>
          <p:cNvSpPr/>
          <p:nvPr/>
        </p:nvSpPr>
        <p:spPr>
          <a:xfrm>
            <a:off x="304800" y="3096895"/>
            <a:ext cx="1403985" cy="1440180"/>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1706880" y="3097530"/>
            <a:ext cx="2682240" cy="1440180"/>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custDataLst>
              <p:tags r:id="rId11"/>
            </p:custDataLst>
          </p:nvPr>
        </p:nvSpPr>
        <p:spPr>
          <a:xfrm>
            <a:off x="4389120" y="3096895"/>
            <a:ext cx="4309745" cy="1440180"/>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custDataLst>
              <p:tags r:id="rId12"/>
            </p:custDataLst>
          </p:nvPr>
        </p:nvSpPr>
        <p:spPr>
          <a:xfrm>
            <a:off x="4389120" y="3096895"/>
            <a:ext cx="48895" cy="1440180"/>
          </a:xfrm>
          <a:prstGeom prst="rect">
            <a:avLst/>
          </a:prstGeom>
          <a:solidFill>
            <a:srgbClr val="2563EB">
              <a:alpha val="50000"/>
            </a:srgbClr>
          </a:solidFill>
        </p:spPr>
      </p:sp>
      <p:sp>
        <p:nvSpPr>
          <p:cNvPr id="119" name="Shape 44"/>
          <p:cNvSpPr/>
          <p:nvPr>
            <p:custDataLst>
              <p:tags r:id="rId13"/>
            </p:custDataLst>
          </p:nvPr>
        </p:nvSpPr>
        <p:spPr>
          <a:xfrm>
            <a:off x="8711565" y="3096895"/>
            <a:ext cx="3165475" cy="1440180"/>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需要现场处置的恶意外联事件的响应执行</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以及本地网络侧设备策略操作的执行；</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custDataLst>
              <p:tags r:id="rId14"/>
            </p:custDataLst>
          </p:nvPr>
        </p:nvSpPr>
        <p:spPr>
          <a:xfrm>
            <a:off x="8700135" y="3096895"/>
            <a:ext cx="48895" cy="1440180"/>
          </a:xfrm>
          <a:prstGeom prst="rect">
            <a:avLst/>
          </a:prstGeom>
          <a:solidFill>
            <a:srgbClr val="059669">
              <a:alpha val="50000"/>
            </a:srgbClr>
          </a:solidFill>
        </p:spPr>
      </p:sp>
      <p:sp>
        <p:nvSpPr>
          <p:cNvPr id="121" name="Shape 47"/>
          <p:cNvSpPr/>
          <p:nvPr/>
        </p:nvSpPr>
        <p:spPr>
          <a:xfrm>
            <a:off x="304800" y="4547235"/>
            <a:ext cx="1403985" cy="1440180"/>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1706880" y="4548505"/>
            <a:ext cx="2682240" cy="1440180"/>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custDataLst>
              <p:tags r:id="rId15"/>
            </p:custDataLst>
          </p:nvPr>
        </p:nvSpPr>
        <p:spPr>
          <a:xfrm>
            <a:off x="4391660" y="4547870"/>
            <a:ext cx="430720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custDataLst>
              <p:tags r:id="rId16"/>
            </p:custDataLst>
          </p:nvPr>
        </p:nvSpPr>
        <p:spPr>
          <a:xfrm>
            <a:off x="4389120" y="4547870"/>
            <a:ext cx="48895" cy="1440180"/>
          </a:xfrm>
          <a:prstGeom prst="rect">
            <a:avLst/>
          </a:prstGeom>
          <a:solidFill>
            <a:srgbClr val="2563EB">
              <a:alpha val="50000"/>
            </a:srgbClr>
          </a:solidFill>
        </p:spPr>
      </p:sp>
      <p:sp>
        <p:nvSpPr>
          <p:cNvPr id="127" name="Shape 57"/>
          <p:cNvSpPr/>
          <p:nvPr>
            <p:custDataLst>
              <p:tags r:id="rId17"/>
            </p:custDataLst>
          </p:nvPr>
        </p:nvSpPr>
        <p:spPr>
          <a:xfrm>
            <a:off x="8741410" y="4547870"/>
            <a:ext cx="3135630"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custDataLst>
              <p:tags r:id="rId18"/>
            </p:custDataLst>
          </p:nvPr>
        </p:nvSpPr>
        <p:spPr>
          <a:xfrm>
            <a:off x="8700135" y="4547870"/>
            <a:ext cx="48895" cy="1440180"/>
          </a:xfrm>
          <a:prstGeom prst="rect">
            <a:avLst/>
          </a:prstGeom>
          <a:solidFill>
            <a:srgbClr val="059669">
              <a:alpha val="50000"/>
            </a:srgbClr>
          </a:solid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我们共同的工作成果总结</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7" name="组合 6"/>
          <p:cNvGrpSpPr/>
          <p:nvPr/>
        </p:nvGrpSpPr>
        <p:grpSpPr>
          <a:xfrm rot="0">
            <a:off x="852170" y="998855"/>
            <a:ext cx="10556240" cy="961390"/>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 name="文本框 1"/>
          <p:cNvSpPr txBox="1"/>
          <p:nvPr/>
        </p:nvSpPr>
        <p:spPr>
          <a:xfrm>
            <a:off x="1600835" y="1070610"/>
            <a:ext cx="9096376" cy="775970"/>
          </a:xfrm>
          <a:prstGeom prst="rect">
            <a:avLst/>
          </a:prstGeom>
          <a:noFill/>
        </p:spPr>
        <p:txBody>
          <a:bodyPr wrap="square" rtlCol="0" anchor="ctr"/>
          <a:lstStyle/>
          <a:p>
            <a:pPr algn="ctr">
              <a:lnSpc>
                <a:spcPct val="130000"/>
              </a:lnSpc>
            </a:pPr>
            <a:r>
              <a:rPr lang="zh-CN" altLang="en-US" sz="1200" dirty="0">
                <a:latin typeface="Arial" panose="020B0604020202020204" pitchFamily="34" charset="0"/>
                <a:ea typeface="黑体-简" panose="02000000000000000000" charset="-122"/>
              </a:rPr>
              <a:t>主动发现核心业务系统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rPr>
              <a:t>的</a:t>
            </a:r>
            <a:r>
              <a:rPr lang="en-US" altLang="zh-CN" sz="1200" dirty="0">
                <a:solidFill>
                  <a:srgbClr val="4C61E7"/>
                </a:solidFill>
                <a:latin typeface="Arial" panose="020B0604020202020204" pitchFamily="34" charset="0"/>
                <a:ea typeface="黑体-简" panose="02000000000000000000" charset="-122"/>
              </a:rPr>
              <a:t>{{risk_total}}</a:t>
            </a:r>
            <a:r>
              <a:rPr lang="zh-CN" altLang="en-US" sz="1200" dirty="0">
                <a:latin typeface="Arial" panose="020B0604020202020204" pitchFamily="34" charset="0"/>
                <a:ea typeface="黑体-简" panose="02000000000000000000" charset="-122"/>
              </a:rPr>
              <a:t>个安全风险，并协同闭环；</a:t>
            </a:r>
            <a:endParaRPr lang="zh-CN" altLang="en-US" sz="1200" dirty="0">
              <a:latin typeface="Arial" panose="020B0604020202020204" pitchFamily="34" charset="0"/>
              <a:ea typeface="黑体-简" panose="02000000000000000000" charset="-122"/>
            </a:endParaRPr>
          </a:p>
          <a:p>
            <a:pPr algn="ctr">
              <a:lnSpc>
                <a:spcPct val="130000"/>
              </a:lnSpc>
            </a:pPr>
            <a:r>
              <a:rPr lang="zh-CN" altLang="en-US" sz="1200" dirty="0">
                <a:latin typeface="Arial" panose="020B0604020202020204" pitchFamily="34" charset="0"/>
                <a:ea typeface="黑体-简" panose="02000000000000000000" charset="-122"/>
              </a:rPr>
              <a:t>快速识别并遏制了针对</a:t>
            </a:r>
            <a:r>
              <a:rPr lang="zh-CN" altLang="en-US" sz="1200" dirty="0">
                <a:latin typeface="Arial" panose="020B0604020202020204" pitchFamily="34" charset="0"/>
                <a:ea typeface="黑体-简" panose="02000000000000000000" charset="-122"/>
                <a:sym typeface="+mn-ea"/>
              </a:rPr>
              <a:t>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sym typeface="+mn-ea"/>
              </a:rPr>
              <a:t>的</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次安全威胁和事件，规避了</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次潜在业务损失；</a:t>
            </a:r>
            <a:r>
              <a:rPr lang="en-US" sz="1200">
                <a:latin typeface="Arial" panose="020B0604020202020204" pitchFamily="34" charset="0"/>
                <a:ea typeface="黑体-简" panose="02000000000000000000" charset="-122"/>
                <a:cs typeface="Songti SC" panose="02010800040101010101" charset="-122"/>
                <a:sym typeface="Noto Sans SC"/>
              </a:rPr>
              <a:t>保障研发/生产/</a:t>
            </a:r>
            <a:r>
              <a:rPr lang="zh-CN" altLang="en-US" sz="1200">
                <a:latin typeface="Arial" panose="020B0604020202020204" pitchFamily="34" charset="0"/>
                <a:ea typeface="黑体-简" panose="02000000000000000000" charset="-122"/>
                <a:cs typeface="Songti SC" panose="02010800040101010101" charset="-122"/>
                <a:sym typeface="Noto Sans SC"/>
              </a:rPr>
              <a:t>办公</a:t>
            </a:r>
            <a:r>
              <a:rPr lang="en-US" altLang="zh-CN" sz="1200">
                <a:latin typeface="Arial" panose="020B0604020202020204" pitchFamily="34" charset="0"/>
                <a:ea typeface="黑体-简" panose="02000000000000000000" charset="-122"/>
                <a:cs typeface="Songti SC" panose="02010800040101010101" charset="-122"/>
                <a:sym typeface="Noto Sans SC"/>
              </a:rPr>
              <a:t>/</a:t>
            </a:r>
            <a:r>
              <a:rPr lang="en-US" sz="1200">
                <a:latin typeface="Arial" panose="020B0604020202020204" pitchFamily="34" charset="0"/>
                <a:ea typeface="黑体-简" panose="02000000000000000000" charset="-122"/>
                <a:cs typeface="Songti SC" panose="02010800040101010101" charset="-122"/>
                <a:sym typeface="Noto Sans SC"/>
              </a:rPr>
              <a:t>供应链</a:t>
            </a:r>
            <a:r>
              <a:rPr lang="zh-CN" altLang="en-US" sz="1200">
                <a:latin typeface="Arial" panose="020B0604020202020204" pitchFamily="34" charset="0"/>
                <a:ea typeface="黑体-简" panose="02000000000000000000" charset="-122"/>
                <a:cs typeface="Songti SC" panose="02010800040101010101" charset="-122"/>
                <a:sym typeface="Noto Sans SC"/>
              </a:rPr>
              <a:t>等</a:t>
            </a:r>
            <a:r>
              <a:rPr lang="en-US" sz="1200">
                <a:latin typeface="Arial" panose="020B0604020202020204" pitchFamily="34" charset="0"/>
                <a:ea typeface="黑体-简" panose="02000000000000000000" charset="-122"/>
                <a:cs typeface="Songti SC" panose="02010800040101010101" charset="-122"/>
                <a:sym typeface="Noto Sans SC"/>
              </a:rPr>
              <a:t>核心</a:t>
            </a:r>
            <a:r>
              <a:rPr lang="zh-CN" altLang="en-US" sz="1200">
                <a:latin typeface="Arial" panose="020B0604020202020204" pitchFamily="34" charset="0"/>
                <a:ea typeface="黑体-简" panose="02000000000000000000" charset="-122"/>
                <a:cs typeface="Songti SC" panose="02010800040101010101" charset="-122"/>
                <a:sym typeface="Noto Sans SC"/>
              </a:rPr>
              <a:t>业务运行</a:t>
            </a:r>
            <a:r>
              <a:rPr lang="en-US" sz="1200">
                <a:latin typeface="Arial" panose="020B0604020202020204" pitchFamily="34" charset="0"/>
                <a:ea typeface="黑体-简" panose="02000000000000000000" charset="-122"/>
                <a:cs typeface="Songti SC" panose="02010800040101010101" charset="-122"/>
                <a:sym typeface="Noto Sans SC"/>
              </a:rPr>
              <a:t>顺畅</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spTree>
    <p:custDataLst>
      <p:tags r:id="rId24"/>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9"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graphicFrame>
        <p:nvGraphicFramePr>
          <p:cNvPr id="47" name="表格 46"/>
          <p:cNvGraphicFramePr/>
          <p:nvPr>
            <p:custDataLst>
              <p:tags r:id="rId4"/>
            </p:custDataLst>
          </p:nvPr>
        </p:nvGraphicFramePr>
        <p:xfrm>
          <a:off x="6257290" y="1151890"/>
          <a:ext cx="5535295" cy="5471795"/>
        </p:xfrm>
        <a:graphic>
          <a:graphicData uri="http://schemas.openxmlformats.org/drawingml/2006/table">
            <a:tbl>
              <a:tblPr firstRow="1" lastCol="1" bandCol="1">
                <a:tableStyleId>{0126E9F6-41A6-44B7-8387-491034A24550}</a:tableStyleId>
              </a:tblPr>
              <a:tblGrid>
                <a:gridCol w="883285"/>
                <a:gridCol w="4652010"/>
              </a:tblGrid>
              <a:tr h="85153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l">
                        <a:lnSpc>
                          <a:spcPct val="150000"/>
                        </a:lnSpc>
                        <a:buClrTx/>
                        <a:buSzTx/>
                        <a:buFontTx/>
                        <a:buNone/>
                      </a:pPr>
                      <a:r>
                        <a:rPr lang="zh-CN" altLang="en-US" sz="1200">
                          <a:solidFill>
                            <a:schemeClr val="tx1"/>
                          </a:solidFill>
                          <a:latin typeface="Heiti SC Light" panose="02000000000000000000" charset="-122"/>
                          <a:ea typeface="Heiti SC Light" panose="02000000000000000000" charset="-122"/>
                          <a:sym typeface="+mn-ea"/>
                        </a:rPr>
                        <a:t>漏洞利用攻击如果未及时发现和对抗，可能导致核心系统敏感数据泄露、主机被控挖矿、数据勒索加密等重大</a:t>
                      </a:r>
                      <a:r>
                        <a:rPr lang="zh-CN" altLang="en-US" sz="1200">
                          <a:solidFill>
                            <a:schemeClr val="tx1"/>
                          </a:solidFill>
                          <a:latin typeface="Heiti SC Light" panose="02000000000000000000" charset="-122"/>
                          <a:ea typeface="Heiti SC Light" panose="02000000000000000000" charset="-122"/>
                          <a:sym typeface="+mn-ea"/>
                        </a:rPr>
                        <a:t>危害事件</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12014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buNone/>
                      </a:pPr>
                      <a:r>
                        <a:rPr lang="en-US" altLang="zh-CN" sz="1200">
                          <a:solidFill>
                            <a:srgbClr val="FF0000"/>
                          </a:solidFill>
                          <a:latin typeface="Arial" panose="020B0604020202020204" pitchFamily="34" charset="0"/>
                          <a:ea typeface="黑体-简" panose="02000000000000000000" charset="-122"/>
                          <a:sym typeface="+mn-ea"/>
                        </a:rPr>
                        <a:t>2</a:t>
                      </a:r>
                      <a:r>
                        <a:rPr lang="zh-CN" altLang="en-US" sz="1200">
                          <a:solidFill>
                            <a:srgbClr val="FF0000"/>
                          </a:solidFill>
                          <a:latin typeface="Arial" panose="020B0604020202020204" pitchFamily="34" charset="0"/>
                          <a:ea typeface="黑体-简" panose="02000000000000000000" charset="-122"/>
                          <a:sym typeface="+mn-ea"/>
                        </a:rPr>
                        <a:t>个高危可利用漏洞</a:t>
                      </a:r>
                      <a:r>
                        <a:rPr lang="en-US" altLang="zh-CN" sz="1200">
                          <a:solidFill>
                            <a:srgbClr val="FF0000"/>
                          </a:solidFill>
                          <a:latin typeface="Arial" panose="020B0604020202020204" pitchFamily="34" charset="0"/>
                          <a:ea typeface="黑体-简" panose="02000000000000000000" charset="-122"/>
                          <a:sym typeface="+mn-ea"/>
                        </a:rPr>
                        <a:t>*100</a:t>
                      </a:r>
                      <a:r>
                        <a:rPr lang="zh-CN" altLang="en-US" sz="1200">
                          <a:solidFill>
                            <a:srgbClr val="FF0000"/>
                          </a:solidFill>
                          <a:latin typeface="Arial" panose="020B0604020202020204" pitchFamily="34" charset="0"/>
                          <a:ea typeface="黑体-简" panose="02000000000000000000" charset="-122"/>
                          <a:sym typeface="+mn-ea"/>
                        </a:rPr>
                        <a:t>万元</a:t>
                      </a:r>
                      <a:r>
                        <a:rPr lang="en-US" altLang="zh-CN" sz="1200">
                          <a:solidFill>
                            <a:srgbClr val="FF0000"/>
                          </a:solidFill>
                          <a:latin typeface="Arial" panose="020B0604020202020204" pitchFamily="34" charset="0"/>
                          <a:ea typeface="黑体-简" panose="02000000000000000000" charset="-122"/>
                          <a:sym typeface="+mn-ea"/>
                        </a:rPr>
                        <a:t>≈200</a:t>
                      </a:r>
                      <a:r>
                        <a:rPr lang="zh-CN" altLang="en-US" sz="1200">
                          <a:solidFill>
                            <a:srgbClr val="FF0000"/>
                          </a:solidFill>
                          <a:latin typeface="Arial" panose="020B0604020202020204" pitchFamily="34" charset="0"/>
                          <a:ea typeface="黑体-简" panose="02000000000000000000" charset="-122"/>
                          <a:sym typeface="+mn-ea"/>
                        </a:rPr>
                        <a:t>万元</a:t>
                      </a:r>
                      <a:endParaRPr lang="zh-CN" altLang="en-US" sz="1200">
                        <a:solidFill>
                          <a:srgbClr val="FF0000"/>
                        </a:solidFill>
                        <a:latin typeface="Arial" panose="020B0604020202020204" pitchFamily="34" charset="0"/>
                        <a:ea typeface="黑体-简"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（基于行业公开事例评估测算，单个漏洞利用攻击入侵成功导致的平均安全损失约</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5001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defTabSz="914400">
                        <a:lnSpc>
                          <a:spcPct val="150000"/>
                        </a:lnSpc>
                        <a:buClrTx/>
                        <a:buSzTx/>
                        <a:buFont typeface="+mj-lt"/>
                        <a:buNone/>
                      </a:pP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当前规模化的</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RaaS</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攻击手段主要探测识别</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1DAY</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高危可利用漏洞后进行自动化利用攻击</a:t>
                      </a:r>
                      <a:endParaRPr lang="en-US" altLang="zh-CN" sz="1200" b="1"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捷豹路虎遭勒索攻击致全球系统瘫痪</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日期：</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2025.9 </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至</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2025.10.8</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事件概要：</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"Scattered Lapsus$ Hunters"</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黑客组织利用</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SAP NetWeaver</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CVE-2025-31324</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）远程执行漏洞入侵内部网络，部署勒索软件并窃取数据。</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影响描述：全球</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IT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系统关闭，生产、销售、售后服务全面瘫痪；</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33,000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名员工被安排休假；财务损失达</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1.96</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亿英镑；</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月</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8</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日才完成系统重启。</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基于</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国内安全咨询机构及厂商综合披露的数据显示，国内政企勒索支付的中位数为</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100</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2" name="Text 1"/>
          <p:cNvSpPr/>
          <p:nvPr/>
        </p:nvSpPr>
        <p:spPr>
          <a:xfrm>
            <a:off x="431165" y="115125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主机存在动态脚本上传成功</a:t>
            </a:r>
            <a:endParaRPr lang="en-US"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4" name="Text 2"/>
          <p:cNvSpPr/>
          <p:nvPr/>
        </p:nvSpPr>
        <p:spPr>
          <a:xfrm>
            <a:off x="431165" y="172720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rPr>
              <a:t>攻击者通过文件上传漏洞，成功上传脚本文件，尝试执行脚本文件获取服务器权限</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200" b="1"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en-US" sz="1200" b="1" dirty="0">
                <a:solidFill>
                  <a:schemeClr val="tx1"/>
                </a:solidFill>
                <a:latin typeface="Heiti SC Light" panose="02000000000000000000" charset="-122"/>
                <a:ea typeface="Heiti SC Light" panose="02000000000000000000" charset="-122"/>
                <a:cs typeface="Heiti SC Light" panose="02000000000000000000" charset="-122"/>
              </a:rPr>
              <a:t>发现时间</a:t>
            </a: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2025-10-29 18:19:26</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应用</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服务器</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存在</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文件上传</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漏洞</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如未</a:t>
            </a:r>
            <a:r>
              <a:rPr lang="zh-CN" sz="1200" b="1" dirty="0">
                <a:solidFill>
                  <a:srgbClr val="14161A"/>
                </a:solidFill>
                <a:latin typeface="Heiti SC Light" panose="02000000000000000000" charset="-122"/>
                <a:ea typeface="Heiti SC Light" panose="02000000000000000000" charset="-122"/>
                <a:cs typeface="Heiti SC Light" panose="02000000000000000000" charset="-122"/>
                <a:sym typeface="+mn-ea"/>
              </a:rPr>
              <a:t>发现脚本落盘和攻击动向</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可</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直接控制服务器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执行命令，对</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收银业务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数据窃取甚至进一步投放勒索病毒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，从而导致</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集团出现</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信息泄露、业务中断以及数据被加密</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的状况，进一步造成</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资金</a:t>
            </a:r>
            <a:r>
              <a:rPr lang="en-US" altLang="zh-CN" sz="1200" b="1" dirty="0">
                <a:solidFill>
                  <a:srgbClr val="FF0000"/>
                </a:solidFill>
                <a:latin typeface="Heiti SC Light" panose="02000000000000000000" charset="-122"/>
                <a:ea typeface="Heiti SC Light" panose="02000000000000000000" charset="-122"/>
                <a:cs typeface="Heiti SC Light" panose="02000000000000000000" charset="-122"/>
              </a:rPr>
              <a:t>/ </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名誉损失和监管单位通报处罚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等；</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攻击行为的</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阻断和处置加固及时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，将</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影响范围限制在单台业务服务器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且</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未造成损失，未影响其它业务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云端服务经理：发现告警后对事件完成分析定性和通报预警，</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封堵恶意IP</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完成攻击抑制；应急响应，开展紧急溯源分析和处置；</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rPr>
              <a:t>对接人称呼</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zh-CN" sz="1200" dirty="0">
                <a:solidFill>
                  <a:schemeClr val="tx1"/>
                </a:solidFill>
                <a:latin typeface="Heiti SC Light" panose="02000000000000000000" charset="-122"/>
                <a:ea typeface="Heiti SC Light" panose="02000000000000000000" charset="-122"/>
                <a:cs typeface="Heiti SC Light" panose="02000000000000000000" charset="-122"/>
              </a:rPr>
              <a:t>结合业务判断审核事件属性，决策处置策略</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对主机的恶意脚本文件进行清除；同步开展漏洞加固，通过</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配置防护策略，针对性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完成风险闭环</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pic>
        <p:nvPicPr>
          <p:cNvPr id="5" name="Image 0" descr="/opt/sangfor/app/report-generation/soar/apps/report_generation/front/threat-management-report/static/images/quarterly-report/event-manage/finished.png"/>
          <p:cNvPicPr>
            <a:picLocks noChangeAspect="1"/>
          </p:cNvPicPr>
          <p:nvPr/>
        </p:nvPicPr>
        <p:blipFill>
          <a:blip r:embed="rId5"/>
          <a:stretch>
            <a:fillRect/>
          </a:stretch>
        </p:blipFill>
        <p:spPr>
          <a:xfrm>
            <a:off x="4911344" y="4854448"/>
            <a:ext cx="1088136" cy="877824"/>
          </a:xfrm>
          <a:prstGeom prst="rect">
            <a:avLst/>
          </a:prstGeom>
        </p:spPr>
      </p:pic>
      <p:sp>
        <p:nvSpPr>
          <p:cNvPr id="6"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8" name="文本框 7"/>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感染银狐病毒进行内网传播</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攻击者通过伪造盗版谷歌浏览器，诱导员工下载安装从而植入银狐木马，通过</a:t>
            </a:r>
            <a:r>
              <a:rPr lang="en-US" altLang="zh-CN" sz="1200" b="1" dirty="0">
                <a:solidFill>
                  <a:srgbClr val="14161A"/>
                </a:solidFill>
                <a:latin typeface="Heiti SC Medium" panose="02000000000000000000" charset="-122"/>
                <a:ea typeface="Heiti SC Medium" panose="02000000000000000000" charset="-122"/>
                <a:cs typeface="Heiti SC Medium" panose="02000000000000000000" charset="-122"/>
              </a:rPr>
              <a:t>OA</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系统进行横向传播。</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终端电脑</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rPr>
              <a:t>感染银狐病毒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后</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，攻击者可控制该PC通过即时通讯软件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（微信等）</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或办公OA系统进行钓鱼从而</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无差别</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骗取</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钱财或投放勒索病毒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影响员工乃至单位领导的正常办公并造成个人损失</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攻击者控制该电脑主机</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通过</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OA向集团</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员工</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批量</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发送了钓鱼邮件</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，单位内部存在</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部分员工访问钓鱼链接遭受风险</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，最终</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通过</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快速的应急排查和处置闭环规避了损失</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应急响应专家对该中招</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进行排查和攻击路径分析溯源，协助线下找到并清除了木马文件，快速定位了中招原因</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和攻击路径</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sz="1200" dirty="0">
                <a:latin typeface="Heiti SC Light" panose="02000000000000000000" charset="-122"/>
                <a:ea typeface="Heiti SC Light" panose="02000000000000000000" charset="-122"/>
                <a:cs typeface="Heiti SC Light" panose="02000000000000000000" charset="-122"/>
                <a:sym typeface="+mn-ea"/>
              </a:rPr>
              <a:t>协助快速定位到事发主机，决策处置预案；</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2"/>
          <a:stretch>
            <a:fillRect/>
          </a:stretch>
        </p:blipFill>
        <p:spPr>
          <a:xfrm>
            <a:off x="4544314" y="4698238"/>
            <a:ext cx="1088136" cy="877824"/>
          </a:xfrm>
          <a:prstGeom prst="rect">
            <a:avLst/>
          </a:prstGeom>
        </p:spPr>
      </p:pic>
      <p:graphicFrame>
        <p:nvGraphicFramePr>
          <p:cNvPr id="47" name="表格 46"/>
          <p:cNvGraphicFramePr/>
          <p:nvPr>
            <p:custDataLst>
              <p:tags r:id="rId3"/>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年，银狐木马以远程控制</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财务诈骗</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数据窃取为主，非传统勒索加密，但造成企业直接经济损失超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亿元、受害企事业单位超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1000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家，以下为权威披露的典型高损失案例：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杭州某跨境电商（</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月，损失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800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攻击路径：伪装成银行账户年审通知约鱼邮件，财务电脑中招，木马潜伏两周，</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作案手法：监控微信聊天，自动篡改指令：将财务汇报的</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暂不付款”</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篡改为“</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立即支付”，并伪造老板</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已阅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回复。</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分钟内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800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万货款转至境外账户，追回难度极大。</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来源：浙江警方（</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年经济犯罪典型案例）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pic>
        <p:nvPicPr>
          <p:cNvPr id="23" name="图片 22" descr="深信服 + 智安全"/>
          <p:cNvPicPr>
            <a:picLocks noChangeAspect="1"/>
          </p:cNvPicPr>
          <p:nvPr/>
        </p:nvPicPr>
        <p:blipFill>
          <a:blip r:embed="rId1"/>
          <a:srcRect l="5232" t="26576" r="4938" b="29565"/>
          <a:stretch>
            <a:fillRect/>
          </a:stretch>
        </p:blipFill>
        <p:spPr>
          <a:xfrm>
            <a:off x="10144125" y="365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4"/>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5"/>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风险预防</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监控系统存在未授权访问</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漏洞</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通过监测分析，识别出监控系统存在未授权访问漏洞，经验证攻击者可以利用此漏洞直接控制单位公共区域摄像头，窃取国家机密</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信息。</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风险危害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：监控系统可被未经授权即可被访问，控制园区摄像头，窃取国家机密信息，一旦泄露将会导致组织面临国家安全部门处罚</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：监控系统被控制，</a:t>
            </a:r>
            <a:r>
              <a:rPr lang="zh-CN" altLang="en-US" sz="1200" b="1" dirty="0">
                <a:latin typeface="Heiti SC Light" panose="02000000000000000000" charset="-122"/>
                <a:ea typeface="Heiti SC Light" panose="02000000000000000000" charset="-122"/>
                <a:cs typeface="Heiti SC Light" panose="02000000000000000000" charset="-122"/>
              </a:rPr>
              <a:t>敏感信息窃取</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发现漏洞之后立即同步到服务群，并验证漏洞利用危害，提供漏洞防护和加固建议方案，通过边界防火墙</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设备；</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：创建漏洞通告工单，分发给业务负责人，同步督促业务方开展漏洞整改加固</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544314" y="4698238"/>
            <a:ext cx="1088136" cy="877824"/>
          </a:xfrm>
          <a:prstGeom prst="rect">
            <a:avLst/>
          </a:prstGeom>
        </p:spPr>
      </p:pic>
      <p:graphicFrame>
        <p:nvGraphicFramePr>
          <p:cNvPr id="47" name="表格 46"/>
          <p:cNvGraphicFramePr/>
          <p:nvPr>
            <p:custDataLst>
              <p:tags r:id="rId5"/>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2024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上海某央企子公司单位，接收到国家安全部门通报，单位某处摄像头监控画面被泄露到外网，引起国家安全部门高度重视，对应企业相关人员连夜摸排，最终确认为下属单位部署的监控系统存在越权漏洞，被境外黑客利用，控制摄像头监控画面传输到外网，涉嫌泄露机密信息，经过大量的调查分析，摸排自监控系统上线以来的所有监控画面，确认没有拍到敏感信息画面，才得以平息</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事态。</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事件影响：该企业被国家安全部门严肃通告，未履行好企业信息安全保护基本职责，一旦被境外势力利用，单位负责人将涉嫌泄露国家机密信息、危害国家安全</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罪</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选择跟保护核心业务相关，并且跟用户共同协作完成处置的典型风险</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预防样例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降低通报影响，避免追责</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漏洞主动发现和修复，恶意外联实时监测</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阻断</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3" name="圆角矩形 692"/>
          <p:cNvSpPr/>
          <p:nvPr>
            <p:custDataLst>
              <p:tags r:id="rId4"/>
            </p:custDataLst>
          </p:nvPr>
        </p:nvSpPr>
        <p:spPr>
          <a:xfrm>
            <a:off x="739775" y="1416050"/>
            <a:ext cx="1084834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pic>
        <p:nvPicPr>
          <p:cNvPr id="696" name="图片 695" descr="盾牌"/>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1"/>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、提供外联恶意地址库及时更新；</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、保持边界和端点安全防护组件策略及时更新，保障恶意外联的检出和拦截有效性；</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2"/>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、针对老旧系统，通过联动下一代防火墙的防护规则或者访问控制策略实现了有效保护；</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{{protected_vulnerability_count}}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3"/>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4"/>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5"/>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6"/>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0"/>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4"/>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5"/>
          <a:stretch>
            <a:fillRect/>
          </a:stretch>
        </p:blipFill>
        <p:spPr>
          <a:xfrm>
            <a:off x="6339840" y="3027680"/>
            <a:ext cx="5069205" cy="2606675"/>
          </a:xfrm>
          <a:prstGeom prst="rect">
            <a:avLst/>
          </a:prstGeom>
        </p:spPr>
      </p:pic>
      <p:cxnSp>
        <p:nvCxnSpPr>
          <p:cNvPr id="49" name="直接箭头连接符 48"/>
          <p:cNvCxnSpPr/>
          <p:nvPr>
            <p:custDataLst>
              <p:tags r:id="rId6"/>
            </p:custDataLst>
          </p:nvPr>
        </p:nvCxnSpPr>
        <p:spPr>
          <a:xfrm>
            <a:off x="3528878" y="3280047"/>
            <a:ext cx="1979930" cy="0"/>
          </a:xfrm>
          <a:prstGeom prst="straightConnector1">
            <a:avLst/>
          </a:prstGeom>
          <a:ln w="15875">
            <a:gradFill>
              <a:gsLst>
                <a:gs pos="0">
                  <a:schemeClr val="accent5">
                    <a:lumMod val="20000"/>
                    <a:lumOff val="80000"/>
                    <a:alpha val="21000"/>
                  </a:schemeClr>
                </a:gs>
                <a:gs pos="94000">
                  <a:schemeClr val="accent5">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54" name="直接箭头连接符 53"/>
          <p:cNvCxnSpPr/>
          <p:nvPr>
            <p:custDataLst>
              <p:tags r:id="rId7"/>
            </p:custDataLst>
          </p:nvPr>
        </p:nvCxnSpPr>
        <p:spPr>
          <a:xfrm>
            <a:off x="3285002" y="3916952"/>
            <a:ext cx="2160905" cy="0"/>
          </a:xfrm>
          <a:prstGeom prst="straightConnector1">
            <a:avLst/>
          </a:prstGeom>
          <a:ln w="15875">
            <a:gradFill>
              <a:gsLst>
                <a:gs pos="0">
                  <a:schemeClr val="accent6">
                    <a:lumMod val="20000"/>
                    <a:lumOff val="80000"/>
                    <a:alpha val="21000"/>
                  </a:schemeClr>
                </a:gs>
                <a:gs pos="94000">
                  <a:schemeClr val="accent6">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2" name="直接箭头连接符 1"/>
          <p:cNvCxnSpPr/>
          <p:nvPr>
            <p:custDataLst>
              <p:tags r:id="rId8"/>
            </p:custDataLst>
          </p:nvPr>
        </p:nvCxnSpPr>
        <p:spPr>
          <a:xfrm>
            <a:off x="2769416" y="5190762"/>
            <a:ext cx="2896235" cy="0"/>
          </a:xfrm>
          <a:prstGeom prst="straightConnector1">
            <a:avLst/>
          </a:prstGeom>
          <a:ln w="15875">
            <a:gradFill>
              <a:gsLst>
                <a:gs pos="0">
                  <a:schemeClr val="accent6">
                    <a:lumMod val="20000"/>
                    <a:lumOff val="80000"/>
                    <a:alpha val="21000"/>
                  </a:schemeClr>
                </a:gs>
                <a:gs pos="94000">
                  <a:schemeClr val="accent6">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57" name="直接箭头连接符 56"/>
          <p:cNvCxnSpPr/>
          <p:nvPr>
            <p:custDataLst>
              <p:tags r:id="rId9"/>
            </p:custDataLst>
          </p:nvPr>
        </p:nvCxnSpPr>
        <p:spPr>
          <a:xfrm>
            <a:off x="3026768" y="4553857"/>
            <a:ext cx="2544445" cy="0"/>
          </a:xfrm>
          <a:prstGeom prst="straightConnector1">
            <a:avLst/>
          </a:prstGeom>
          <a:ln w="15875">
            <a:gradFill>
              <a:gsLst>
                <a:gs pos="0">
                  <a:schemeClr val="accent5">
                    <a:lumMod val="20000"/>
                    <a:lumOff val="80000"/>
                    <a:alpha val="21000"/>
                  </a:schemeClr>
                </a:gs>
                <a:gs pos="94000">
                  <a:schemeClr val="accent5">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sp>
        <p:nvSpPr>
          <p:cNvPr id="62" name="梯形 61"/>
          <p:cNvSpPr/>
          <p:nvPr>
            <p:custDataLst>
              <p:tags r:id="rId10"/>
            </p:custDataLst>
          </p:nvPr>
        </p:nvSpPr>
        <p:spPr>
          <a:xfrm rot="10800000">
            <a:off x="953770" y="3176542"/>
            <a:ext cx="2669101" cy="2296710"/>
          </a:xfrm>
          <a:prstGeom prst="trapezoid">
            <a:avLst>
              <a:gd name="adj" fmla="val 44044"/>
            </a:avLst>
          </a:prstGeom>
          <a:gradFill>
            <a:gsLst>
              <a:gs pos="0">
                <a:schemeClr val="accent5">
                  <a:alpha val="0"/>
                </a:schemeClr>
              </a:gs>
              <a:gs pos="40000">
                <a:schemeClr val="accent5">
                  <a:alpha val="30000"/>
                </a:schemeClr>
              </a:gs>
              <a:gs pos="20000">
                <a:schemeClr val="accent5">
                  <a:alpha val="15000"/>
                </a:schemeClr>
              </a:gs>
              <a:gs pos="95000">
                <a:schemeClr val="accent5">
                  <a:alpha val="0"/>
                </a:schemeClr>
              </a:gs>
              <a:gs pos="60000">
                <a:schemeClr val="accent5">
                  <a:alpha val="20000"/>
                </a:schemeClr>
              </a:gs>
            </a:gsLst>
            <a:lin ang="54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olidFill>
                <a:schemeClr val="lt1"/>
              </a:solidFill>
              <a:sym typeface="+mn-ea"/>
            </a:endParaRPr>
          </a:p>
        </p:txBody>
      </p:sp>
      <p:sp>
        <p:nvSpPr>
          <p:cNvPr id="65" name="梯形 64"/>
          <p:cNvSpPr/>
          <p:nvPr>
            <p:custDataLst>
              <p:tags r:id="rId11"/>
            </p:custDataLst>
          </p:nvPr>
        </p:nvSpPr>
        <p:spPr>
          <a:xfrm rot="10800000">
            <a:off x="1047750" y="3176270"/>
            <a:ext cx="2480945" cy="2732405"/>
          </a:xfrm>
          <a:prstGeom prst="trapezoid">
            <a:avLst>
              <a:gd name="adj" fmla="val 44044"/>
            </a:avLst>
          </a:prstGeom>
          <a:gradFill>
            <a:gsLst>
              <a:gs pos="10000">
                <a:schemeClr val="accent5">
                  <a:alpha val="0"/>
                </a:schemeClr>
              </a:gs>
              <a:gs pos="40000">
                <a:schemeClr val="accent5">
                  <a:alpha val="20000"/>
                </a:schemeClr>
              </a:gs>
              <a:gs pos="20000">
                <a:schemeClr val="accent5">
                  <a:alpha val="15000"/>
                </a:schemeClr>
              </a:gs>
              <a:gs pos="85000">
                <a:schemeClr val="accent5">
                  <a:alpha val="0"/>
                </a:schemeClr>
              </a:gs>
              <a:gs pos="60000">
                <a:schemeClr val="accent5">
                  <a:alpha val="15000"/>
                </a:schemeClr>
              </a:gs>
            </a:gsLst>
            <a:lin ang="54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olidFill>
                <a:schemeClr val="lt1"/>
              </a:solidFill>
              <a:sym typeface="+mn-ea"/>
            </a:endParaRPr>
          </a:p>
        </p:txBody>
      </p:sp>
      <p:sp>
        <p:nvSpPr>
          <p:cNvPr id="10" name="椭圆 9"/>
          <p:cNvSpPr/>
          <p:nvPr>
            <p:custDataLst>
              <p:tags r:id="rId12"/>
            </p:custDataLst>
          </p:nvPr>
        </p:nvSpPr>
        <p:spPr>
          <a:xfrm>
            <a:off x="1807763" y="5148754"/>
            <a:ext cx="961413" cy="213360"/>
          </a:xfrm>
          <a:prstGeom prst="ellipse">
            <a:avLst/>
          </a:prstGeom>
          <a:noFill/>
          <a:ln w="19050" cap="rnd">
            <a:gradFill flip="none" rotWithShape="1">
              <a:gsLst>
                <a:gs pos="0">
                  <a:schemeClr val="accent5">
                    <a:alpha val="0"/>
                  </a:schemeClr>
                </a:gs>
                <a:gs pos="50000">
                  <a:schemeClr val="accent5">
                    <a:alpha val="10000"/>
                  </a:schemeClr>
                </a:gs>
                <a:gs pos="100000">
                  <a:schemeClr val="accent5">
                    <a:alpha val="5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0" name="椭圆 69"/>
          <p:cNvSpPr/>
          <p:nvPr>
            <p:custDataLst>
              <p:tags r:id="rId13"/>
            </p:custDataLst>
          </p:nvPr>
        </p:nvSpPr>
        <p:spPr>
          <a:xfrm>
            <a:off x="1613958" y="4644564"/>
            <a:ext cx="1349022" cy="278765"/>
          </a:xfrm>
          <a:prstGeom prst="ellipse">
            <a:avLst/>
          </a:prstGeom>
          <a:noFill/>
          <a:ln w="25400" cap="rnd">
            <a:gradFill flip="none" rotWithShape="1">
              <a:gsLst>
                <a:gs pos="0">
                  <a:schemeClr val="accent6">
                    <a:alpha val="0"/>
                  </a:schemeClr>
                </a:gs>
                <a:gs pos="50000">
                  <a:schemeClr val="accent6">
                    <a:alpha val="10000"/>
                  </a:schemeClr>
                </a:gs>
                <a:gs pos="100000">
                  <a:schemeClr val="accent6">
                    <a:alpha val="6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1" name="椭圆 70"/>
          <p:cNvSpPr/>
          <p:nvPr>
            <p:custDataLst>
              <p:tags r:id="rId14"/>
            </p:custDataLst>
          </p:nvPr>
        </p:nvSpPr>
        <p:spPr>
          <a:xfrm>
            <a:off x="1360028" y="4042584"/>
            <a:ext cx="1856883" cy="376555"/>
          </a:xfrm>
          <a:prstGeom prst="ellipse">
            <a:avLst/>
          </a:prstGeom>
          <a:noFill/>
          <a:ln w="31750" cap="rnd">
            <a:gradFill flip="none" rotWithShape="1">
              <a:gsLst>
                <a:gs pos="0">
                  <a:schemeClr val="accent5">
                    <a:alpha val="0"/>
                  </a:schemeClr>
                </a:gs>
                <a:gs pos="50000">
                  <a:schemeClr val="accent5">
                    <a:alpha val="20000"/>
                  </a:schemeClr>
                </a:gs>
                <a:gs pos="100000">
                  <a:schemeClr val="accent5">
                    <a:alpha val="8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dirty="0">
              <a:solidFill>
                <a:schemeClr val="tx1"/>
              </a:solidFill>
            </a:endParaRPr>
          </a:p>
        </p:txBody>
      </p:sp>
      <p:sp>
        <p:nvSpPr>
          <p:cNvPr id="72" name="椭圆 71"/>
          <p:cNvSpPr/>
          <p:nvPr>
            <p:custDataLst>
              <p:tags r:id="rId15"/>
            </p:custDataLst>
          </p:nvPr>
        </p:nvSpPr>
        <p:spPr>
          <a:xfrm>
            <a:off x="1125046" y="3346896"/>
            <a:ext cx="2326847" cy="470263"/>
          </a:xfrm>
          <a:prstGeom prst="ellipse">
            <a:avLst/>
          </a:prstGeom>
          <a:noFill/>
          <a:ln w="38100" cap="rnd">
            <a:gradFill flip="none" rotWithShape="1">
              <a:gsLst>
                <a:gs pos="0">
                  <a:schemeClr val="accent6">
                    <a:alpha val="0"/>
                  </a:schemeClr>
                </a:gs>
                <a:gs pos="50000">
                  <a:schemeClr val="accent6">
                    <a:alpha val="20000"/>
                  </a:schemeClr>
                </a:gs>
                <a:gs pos="100000">
                  <a:schemeClr val="accent6">
                    <a:alpha val="100000"/>
                  </a:schemeClr>
                </a:gs>
              </a:gsLst>
              <a:lin ang="16200000" scaled="1"/>
              <a:tileRect/>
            </a:gradFill>
            <a:prstDash val="lgDash"/>
            <a:round/>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3" name="矩形 72"/>
          <p:cNvSpPr/>
          <p:nvPr>
            <p:custDataLst>
              <p:tags r:id="rId16"/>
            </p:custDataLst>
          </p:nvPr>
        </p:nvSpPr>
        <p:spPr>
          <a:xfrm>
            <a:off x="1229924" y="3044190"/>
            <a:ext cx="2180590" cy="267335"/>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5">
                    <a:alpha val="60000"/>
                  </a:schemeClr>
                </a:solidFill>
                <a:uFillTx/>
                <a:latin typeface="+中文正文" charset="0"/>
                <a:cs typeface="+mn-ea"/>
                <a:sym typeface="+mn-ea"/>
              </a:rPr>
              <a:t>{{critical_period_security_log_count}}</a:t>
            </a:r>
            <a:endParaRPr lang="zh-CN" altLang="en-US" sz="1400" b="1" spc="300" dirty="0">
              <a:solidFill>
                <a:schemeClr val="accent5">
                  <a:alpha val="60000"/>
                </a:schemeClr>
              </a:solidFill>
              <a:uFillTx/>
              <a:latin typeface="+中文正文" charset="0"/>
              <a:cs typeface="+mn-ea"/>
              <a:sym typeface="+mn-ea"/>
            </a:endParaRPr>
          </a:p>
        </p:txBody>
      </p:sp>
      <p:sp>
        <p:nvSpPr>
          <p:cNvPr id="74" name="矩形 73"/>
          <p:cNvSpPr/>
          <p:nvPr>
            <p:custDataLst>
              <p:tags r:id="rId17"/>
            </p:custDataLst>
          </p:nvPr>
        </p:nvSpPr>
        <p:spPr>
          <a:xfrm>
            <a:off x="1417955" y="3771265"/>
            <a:ext cx="1737360" cy="213360"/>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6">
                    <a:alpha val="70000"/>
                  </a:schemeClr>
                </a:solidFill>
                <a:uFillTx/>
                <a:latin typeface="+中文正文" charset="0"/>
                <a:cs typeface="+mn-ea"/>
                <a:sym typeface="+mn-ea"/>
              </a:rPr>
              <a:t>{{critical_period_alert_count}}</a:t>
            </a:r>
            <a:endParaRPr lang="zh-CN" altLang="en-US" sz="1400" b="1" spc="300" dirty="0">
              <a:solidFill>
                <a:schemeClr val="accent6">
                  <a:alpha val="70000"/>
                </a:schemeClr>
              </a:solidFill>
              <a:uFillTx/>
              <a:latin typeface="+中文正文" charset="0"/>
              <a:cs typeface="+mn-ea"/>
              <a:sym typeface="+mn-ea"/>
            </a:endParaRPr>
          </a:p>
          <a:p>
            <a:pPr algn="ctr">
              <a:spcBef>
                <a:spcPct val="0"/>
              </a:spcBef>
              <a:spcAft>
                <a:spcPct val="0"/>
              </a:spcAft>
            </a:pPr>
            <a:endParaRPr lang="zh-CN" altLang="en-US" sz="1400" b="1" spc="300" dirty="0">
              <a:solidFill>
                <a:schemeClr val="accent6">
                  <a:alpha val="70000"/>
                </a:schemeClr>
              </a:solidFill>
              <a:uFillTx/>
              <a:latin typeface="+中文正文" charset="0"/>
              <a:cs typeface="+mn-ea"/>
              <a:sym typeface="+mn-ea"/>
            </a:endParaRPr>
          </a:p>
        </p:txBody>
      </p:sp>
      <p:sp>
        <p:nvSpPr>
          <p:cNvPr id="75" name="矩形 74"/>
          <p:cNvSpPr/>
          <p:nvPr>
            <p:custDataLst>
              <p:tags r:id="rId18"/>
            </p:custDataLst>
          </p:nvPr>
        </p:nvSpPr>
        <p:spPr>
          <a:xfrm>
            <a:off x="1583690" y="4395470"/>
            <a:ext cx="1379220" cy="403860"/>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5">
                    <a:alpha val="70000"/>
                  </a:schemeClr>
                </a:solidFill>
                <a:uFillTx/>
                <a:latin typeface="+中文正文" charset="0"/>
                <a:cs typeface="+mn-ea"/>
                <a:sym typeface="+mn-ea"/>
              </a:rPr>
              <a:t>{{critical_period_incident_count}}</a:t>
            </a:r>
            <a:endParaRPr lang="zh-CN" altLang="en-US" sz="1400" b="1" spc="300" dirty="0">
              <a:solidFill>
                <a:schemeClr val="accent5">
                  <a:alpha val="70000"/>
                </a:schemeClr>
              </a:solidFill>
              <a:uFillTx/>
              <a:latin typeface="+中文正文" charset="0"/>
              <a:cs typeface="+mn-ea"/>
              <a:sym typeface="+mn-ea"/>
            </a:endParaRPr>
          </a:p>
          <a:p>
            <a:pPr algn="ctr">
              <a:spcBef>
                <a:spcPct val="0"/>
              </a:spcBef>
              <a:spcAft>
                <a:spcPct val="0"/>
              </a:spcAft>
            </a:pPr>
            <a:endParaRPr lang="zh-CN" altLang="en-US" sz="1400" b="1" spc="300" dirty="0">
              <a:solidFill>
                <a:schemeClr val="accent5">
                  <a:alpha val="70000"/>
                </a:schemeClr>
              </a:solidFill>
              <a:uFillTx/>
              <a:latin typeface="+中文正文" charset="0"/>
              <a:cs typeface="+mn-ea"/>
              <a:sym typeface="+mn-ea"/>
            </a:endParaRPr>
          </a:p>
        </p:txBody>
      </p:sp>
      <p:sp>
        <p:nvSpPr>
          <p:cNvPr id="76" name="矩形 75"/>
          <p:cNvSpPr/>
          <p:nvPr>
            <p:custDataLst>
              <p:tags r:id="rId19"/>
            </p:custDataLst>
          </p:nvPr>
        </p:nvSpPr>
        <p:spPr>
          <a:xfrm>
            <a:off x="1950720" y="5266690"/>
            <a:ext cx="675640" cy="212725"/>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6">
                    <a:alpha val="80000"/>
                  </a:schemeClr>
                </a:solidFill>
                <a:uFillTx/>
                <a:latin typeface="+中文正文" charset="0"/>
                <a:cs typeface="+mn-ea"/>
                <a:sym typeface="+mn-ea"/>
              </a:rPr>
              <a:t>零</a:t>
            </a:r>
            <a:endParaRPr lang="zh-CN" altLang="en-US" sz="1400" b="1" spc="300" dirty="0">
              <a:solidFill>
                <a:schemeClr val="accent6">
                  <a:alpha val="80000"/>
                </a:schemeClr>
              </a:solidFill>
              <a:uFillTx/>
              <a:latin typeface="+中文正文" charset="0"/>
              <a:cs typeface="+mn-ea"/>
              <a:sym typeface="+mn-ea"/>
            </a:endParaRPr>
          </a:p>
        </p:txBody>
      </p:sp>
      <p:sp>
        <p:nvSpPr>
          <p:cNvPr id="77" name="矩形 76"/>
          <p:cNvSpPr/>
          <p:nvPr>
            <p:custDataLst>
              <p:tags r:id="rId20"/>
            </p:custDataLst>
          </p:nvPr>
        </p:nvSpPr>
        <p:spPr>
          <a:xfrm>
            <a:off x="3528695" y="3378200"/>
            <a:ext cx="2179955" cy="352425"/>
          </a:xfrm>
          <a:prstGeom prst="rect">
            <a:avLst/>
          </a:prstGeom>
          <a:noFill/>
          <a:ln>
            <a:noFill/>
          </a:ln>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安全日志数</a:t>
            </a:r>
            <a:endParaRPr lang="zh-CN" altLang="en-US" sz="1600" kern="0" dirty="0">
              <a:ln>
                <a:noFill/>
                <a:prstDash val="sysDot"/>
              </a:ln>
              <a:solidFill>
                <a:schemeClr val="tx1">
                  <a:lumMod val="85000"/>
                  <a:lumOff val="15000"/>
                </a:schemeClr>
              </a:solidFill>
              <a:latin typeface="+mn-ea"/>
              <a:sym typeface="+mn-ea"/>
            </a:endParaRPr>
          </a:p>
        </p:txBody>
      </p:sp>
      <p:sp>
        <p:nvSpPr>
          <p:cNvPr id="78" name="矩形 77"/>
          <p:cNvSpPr/>
          <p:nvPr>
            <p:custDataLst>
              <p:tags r:id="rId21"/>
            </p:custDataLst>
          </p:nvPr>
        </p:nvSpPr>
        <p:spPr>
          <a:xfrm>
            <a:off x="3284771" y="4039633"/>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安全告警数</a:t>
            </a:r>
            <a:endParaRPr lang="zh-CN" altLang="en-US" sz="1600" kern="0" dirty="0">
              <a:ln>
                <a:noFill/>
                <a:prstDash val="sysDot"/>
              </a:ln>
              <a:solidFill>
                <a:schemeClr val="tx1">
                  <a:lumMod val="85000"/>
                  <a:lumOff val="15000"/>
                </a:schemeClr>
              </a:solidFill>
              <a:latin typeface="+mn-ea"/>
              <a:sym typeface="+mn-ea"/>
            </a:endParaRPr>
          </a:p>
        </p:txBody>
      </p:sp>
      <p:sp>
        <p:nvSpPr>
          <p:cNvPr id="79" name="矩形 78"/>
          <p:cNvSpPr/>
          <p:nvPr>
            <p:custDataLst>
              <p:tags r:id="rId22"/>
            </p:custDataLst>
          </p:nvPr>
        </p:nvSpPr>
        <p:spPr>
          <a:xfrm>
            <a:off x="3026961" y="4654049"/>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威胁事件数</a:t>
            </a:r>
            <a:endParaRPr lang="zh-CN" altLang="en-US" sz="1600" kern="0" dirty="0">
              <a:ln>
                <a:noFill/>
                <a:prstDash val="sysDot"/>
              </a:ln>
              <a:solidFill>
                <a:schemeClr val="tx1">
                  <a:lumMod val="85000"/>
                  <a:lumOff val="15000"/>
                </a:schemeClr>
              </a:solidFill>
              <a:latin typeface="+mn-ea"/>
              <a:sym typeface="+mn-ea"/>
            </a:endParaRPr>
          </a:p>
        </p:txBody>
      </p:sp>
      <p:sp>
        <p:nvSpPr>
          <p:cNvPr id="80" name="矩形 79"/>
          <p:cNvSpPr/>
          <p:nvPr>
            <p:custDataLst>
              <p:tags r:id="rId23"/>
            </p:custDataLst>
          </p:nvPr>
        </p:nvSpPr>
        <p:spPr>
          <a:xfrm>
            <a:off x="2769151" y="5255747"/>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重大事故</a:t>
            </a:r>
            <a:endParaRPr lang="zh-CN" altLang="en-US" sz="1600" kern="0" dirty="0">
              <a:ln>
                <a:noFill/>
                <a:prstDash val="sysDot"/>
              </a:ln>
              <a:solidFill>
                <a:schemeClr val="tx1">
                  <a:lumMod val="85000"/>
                  <a:lumOff val="15000"/>
                </a:schemeClr>
              </a:solidFill>
              <a:latin typeface="+mn-ea"/>
              <a:sym typeface="+mn-ea"/>
            </a:endParaRPr>
          </a:p>
        </p:txBody>
      </p:sp>
    </p:spTree>
    <p:custDataLst>
      <p:tags r:id="rId24"/>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rot="0">
            <a:off x="224790" y="306705"/>
            <a:ext cx="369570" cy="266700"/>
            <a:chOff x="533" y="672"/>
            <a:chExt cx="582" cy="420"/>
          </a:xfrm>
        </p:grpSpPr>
        <p:sp>
          <p:nvSpPr>
            <p:cNvPr id="7"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9"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重要时期保障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典型</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事例</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pic>
        <p:nvPicPr>
          <p:cNvPr id="10" name="图片 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Text 1"/>
          <p:cNvSpPr/>
          <p:nvPr/>
        </p:nvSpPr>
        <p:spPr>
          <a:xfrm>
            <a:off x="472440" y="1018540"/>
            <a:ext cx="5760000" cy="576000"/>
          </a:xfrm>
          <a:prstGeom prst="rect">
            <a:avLst/>
          </a:prstGeom>
          <a:solidFill>
            <a:srgbClr val="E6514E"/>
          </a:solidFill>
        </p:spPr>
        <p:txBody>
          <a:bodyPr wrap="square" lIns="0" tIns="0" rIns="0" bIns="0" rtlCol="0" anchor="ctr"/>
          <a:lstStyle/>
          <a:p>
            <a:pPr marL="0" indent="0" algn="ctr">
              <a:buNone/>
            </a:pPr>
            <a:r>
              <a:rPr 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主机</a:t>
            </a:r>
            <a:r>
              <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存在目标服务器开启目录浏览功能</a:t>
            </a:r>
            <a:endPar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endParaRPr>
          </a:p>
        </p:txBody>
      </p:sp>
      <p:sp>
        <p:nvSpPr>
          <p:cNvPr id="12" name="Text 2"/>
          <p:cNvSpPr/>
          <p:nvPr/>
        </p:nvSpPr>
        <p:spPr>
          <a:xfrm>
            <a:off x="472440" y="1594485"/>
            <a:ext cx="5760000" cy="4896000"/>
          </a:xfrm>
          <a:prstGeom prst="rect">
            <a:avLst/>
          </a:prstGeom>
          <a:solidFill>
            <a:srgbClr val="FDF1F1"/>
          </a:solidFill>
        </p:spPr>
        <p:txBody>
          <a:bodyPr wrap="square" lIns="283464" tIns="137160" rIns="283464" bIns="137160" rtlCol="0" anchor="t">
            <a:noAutofit/>
          </a:bodyPr>
          <a:lstStyle/>
          <a:p>
            <a:pPr lvl="0" algn="l">
              <a:lnSpc>
                <a:spcPts val="16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攻击者通过该漏洞可任意浏览根目录下相关文件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
</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发现时间</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2025-06-09 11:25:42</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【影响资产</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【事件危害</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：业务系统</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存在目录浏览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漏洞，如</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没有实时对抗响应遏制，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攻击者可以轻松突破防线，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遍历下载根目录下的全部文件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，从而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获取敏感信息直接造成防守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失分；同时常见的配置文件、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数据库口令等会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存在默认管理后台等，可被攻击队利用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进一步获得业务主机权限，甚至突破边界直达内网其他核心业务，导致重大失分和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演习出局，甚至被列入负面典型。</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【影响范围分析】</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：通过</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本次事件监测识别到了真实存在的业务漏洞</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，而后快速完成了攻击源的封堵和业务的漏洞修复，收敛战线，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避免了更多资产受影响。</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【事件处置</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36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快速分析并定性了事件和漏洞的真伪，联动安全设备进行了处置，紧急联系到</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第一时间切断了该业务的访问入口，并同步相关系统管理员进行漏洞闭环，规避了后续潜在的攻击和失分；</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」：现场处置（</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如有）</a:t>
            </a:r>
            <a:endPar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endParaRPr>
          </a:p>
        </p:txBody>
      </p:sp>
      <p:pic>
        <p:nvPicPr>
          <p:cNvPr id="13"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808474" y="5488813"/>
            <a:ext cx="1088136" cy="877824"/>
          </a:xfrm>
          <a:prstGeom prst="rect">
            <a:avLst/>
          </a:prstGeom>
        </p:spPr>
      </p:pic>
      <p:grpSp>
        <p:nvGrpSpPr>
          <p:cNvPr id="14" name="组合 13"/>
          <p:cNvGrpSpPr/>
          <p:nvPr/>
        </p:nvGrpSpPr>
        <p:grpSpPr>
          <a:xfrm>
            <a:off x="224790" y="306388"/>
            <a:ext cx="8690610" cy="295275"/>
            <a:chOff x="533" y="672"/>
            <a:chExt cx="13686" cy="465"/>
          </a:xfrm>
        </p:grpSpPr>
        <p:grpSp>
          <p:nvGrpSpPr>
            <p:cNvPr id="15" name="组合 14"/>
            <p:cNvGrpSpPr/>
            <p:nvPr/>
          </p:nvGrpSpPr>
          <p:grpSpPr>
            <a:xfrm rot="0">
              <a:off x="533" y="672"/>
              <a:ext cx="582" cy="420"/>
              <a:chOff x="533" y="672"/>
              <a:chExt cx="582" cy="420"/>
            </a:xfrm>
          </p:grpSpPr>
          <p:sp>
            <p:nvSpPr>
              <p:cNvPr id="17"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9"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0" name="textbox 158"/>
            <p:cNvSpPr/>
            <p:nvPr/>
          </p:nvSpPr>
          <p:spPr>
            <a:xfrm>
              <a:off x="5382"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p:cNvPicPr>
            <a:picLocks noChangeAspect="1"/>
          </p:cNvPicPr>
          <p:nvPr/>
        </p:nvPicPr>
        <p:blipFill>
          <a:blip r:embed="rId7"/>
          <a:stretch>
            <a:fillRect/>
          </a:stretch>
        </p:blipFill>
        <p:spPr>
          <a:xfrm>
            <a:off x="6383020" y="1026795"/>
            <a:ext cx="4794250" cy="5457825"/>
          </a:xfrm>
          <a:prstGeom prst="rect">
            <a:avLst/>
          </a:prstGeom>
        </p:spPr>
      </p:pic>
      <p:sp>
        <p:nvSpPr>
          <p:cNvPr id="6" name="文本框 5"/>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选择重要时期发生</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的，并且跟用户共同协作完成处置的典型事件样例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ustDataLst>
      <p:tags r:id="rId8"/>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安全水位可量化</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 name="椭圆 1"/>
          <p:cNvSpPr/>
          <p:nvPr>
            <p:custDataLst>
              <p:tags r:id="rId4"/>
            </p:custDataLst>
          </p:nvPr>
        </p:nvSpPr>
        <p:spPr>
          <a:xfrm>
            <a:off x="4637220" y="3527151"/>
            <a:ext cx="2868025" cy="506420"/>
          </a:xfrm>
          <a:prstGeom prst="ellipse">
            <a:avLst/>
          </a:prstGeom>
          <a:gradFill>
            <a:gsLst>
              <a:gs pos="0">
                <a:schemeClr val="accent5">
                  <a:alpha val="0"/>
                </a:schemeClr>
              </a:gs>
              <a:gs pos="100000">
                <a:schemeClr val="accent5">
                  <a:alpha val="3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6" name="椭圆 5"/>
          <p:cNvSpPr/>
          <p:nvPr>
            <p:custDataLst>
              <p:tags r:id="rId5"/>
            </p:custDataLst>
          </p:nvPr>
        </p:nvSpPr>
        <p:spPr>
          <a:xfrm>
            <a:off x="4304569" y="3741455"/>
            <a:ext cx="3532265" cy="506420"/>
          </a:xfrm>
          <a:prstGeom prst="ellipse">
            <a:avLst/>
          </a:prstGeom>
          <a:gradFill>
            <a:gsLst>
              <a:gs pos="10000">
                <a:schemeClr val="accent5">
                  <a:alpha val="0"/>
                </a:schemeClr>
              </a:gs>
              <a:gs pos="100000">
                <a:schemeClr val="accent5">
                  <a:alpha val="12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7" name="椭圆 6"/>
          <p:cNvSpPr/>
          <p:nvPr>
            <p:custDataLst>
              <p:tags r:id="rId6"/>
            </p:custDataLst>
          </p:nvPr>
        </p:nvSpPr>
        <p:spPr>
          <a:xfrm>
            <a:off x="4171315" y="1600835"/>
            <a:ext cx="3742055" cy="3497580"/>
          </a:xfrm>
          <a:prstGeom prst="ellipse">
            <a:avLst/>
          </a:prstGeom>
          <a:noFill/>
          <a:ln>
            <a:gradFill>
              <a:gsLst>
                <a:gs pos="0">
                  <a:schemeClr val="accent5">
                    <a:alpha val="0"/>
                  </a:schemeClr>
                </a:gs>
                <a:gs pos="50000">
                  <a:schemeClr val="accent5">
                    <a:alpha val="40000"/>
                  </a:schemeClr>
                </a:gs>
                <a:gs pos="100000">
                  <a:schemeClr val="accent5">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5" name="平行四边形 14"/>
          <p:cNvSpPr/>
          <p:nvPr>
            <p:custDataLst>
              <p:tags r:id="rId7"/>
            </p:custDataLst>
          </p:nvPr>
        </p:nvSpPr>
        <p:spPr>
          <a:xfrm rot="5400000">
            <a:off x="6599217"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9" name="平行四边形 18"/>
          <p:cNvSpPr/>
          <p:nvPr>
            <p:custDataLst>
              <p:tags r:id="rId8"/>
            </p:custDataLst>
          </p:nvPr>
        </p:nvSpPr>
        <p:spPr>
          <a:xfrm rot="16200000" flipH="1">
            <a:off x="4740853"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0" name="平行四边形 19"/>
          <p:cNvSpPr/>
          <p:nvPr>
            <p:custDataLst>
              <p:tags r:id="rId9"/>
            </p:custDataLst>
          </p:nvPr>
        </p:nvSpPr>
        <p:spPr>
          <a:xfrm rot="16200000" flipH="1">
            <a:off x="4406283" y="3310289"/>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3" name="平行四边形 22"/>
          <p:cNvSpPr/>
          <p:nvPr>
            <p:custDataLst>
              <p:tags r:id="rId10"/>
            </p:custDataLst>
          </p:nvPr>
        </p:nvSpPr>
        <p:spPr>
          <a:xfrm rot="5400000">
            <a:off x="6883889" y="3397290"/>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4" name="平行四边形 23"/>
          <p:cNvSpPr/>
          <p:nvPr>
            <p:custDataLst>
              <p:tags r:id="rId11"/>
            </p:custDataLst>
          </p:nvPr>
        </p:nvSpPr>
        <p:spPr>
          <a:xfrm rot="5400000">
            <a:off x="6008123" y="2819630"/>
            <a:ext cx="1145942" cy="188244"/>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5" name="平行四边形 24"/>
          <p:cNvSpPr/>
          <p:nvPr>
            <p:custDataLst>
              <p:tags r:id="rId12"/>
            </p:custDataLst>
          </p:nvPr>
        </p:nvSpPr>
        <p:spPr>
          <a:xfrm rot="16200000" flipH="1">
            <a:off x="4879671" y="2950771"/>
            <a:ext cx="1555389" cy="255429"/>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7" name="平行四边形 16"/>
          <p:cNvSpPr/>
          <p:nvPr>
            <p:custDataLst>
              <p:tags r:id="rId13"/>
            </p:custDataLst>
          </p:nvPr>
        </p:nvSpPr>
        <p:spPr>
          <a:xfrm rot="5400000" flipH="1" flipV="1">
            <a:off x="5363933" y="2786365"/>
            <a:ext cx="1532570" cy="255429"/>
          </a:xfrm>
          <a:prstGeom prst="parallelogram">
            <a:avLst>
              <a:gd name="adj" fmla="val 39950"/>
            </a:avLst>
          </a:prstGeom>
          <a:gradFill flip="none" rotWithShape="0">
            <a:gsLst>
              <a:gs pos="100000">
                <a:schemeClr val="accent5">
                  <a:lumMod val="60000"/>
                  <a:lumOff val="40000"/>
                  <a:alpha val="0"/>
                </a:schemeClr>
              </a:gs>
              <a:gs pos="0">
                <a:schemeClr val="accent5">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4" name="Oval 41+"/>
          <p:cNvSpPr/>
          <p:nvPr>
            <p:custDataLst>
              <p:tags r:id="rId14"/>
            </p:custDataLst>
          </p:nvPr>
        </p:nvSpPr>
        <p:spPr>
          <a:xfrm>
            <a:off x="4065905" y="1495425"/>
            <a:ext cx="3952875" cy="3696335"/>
          </a:xfrm>
          <a:prstGeom prst="ellipse">
            <a:avLst/>
          </a:prstGeom>
          <a:noFill/>
          <a:ln w="22225">
            <a:gradFill>
              <a:gsLst>
                <a:gs pos="0">
                  <a:schemeClr val="accent5">
                    <a:alpha val="0"/>
                  </a:schemeClr>
                </a:gs>
                <a:gs pos="50000">
                  <a:schemeClr val="accent5">
                    <a:alpha val="40000"/>
                  </a:schemeClr>
                </a:gs>
                <a:gs pos="100000">
                  <a:schemeClr val="accent5">
                    <a:alpha val="0"/>
                  </a:schemeClr>
                </a:gs>
              </a:gsLst>
              <a:lin ang="5400000" scaled="1"/>
            </a:gra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5" name="矩形 34"/>
          <p:cNvSpPr/>
          <p:nvPr>
            <p:custDataLst>
              <p:tags r:id="rId15"/>
            </p:custDataLst>
          </p:nvPr>
        </p:nvSpPr>
        <p:spPr>
          <a:xfrm>
            <a:off x="390525" y="1307820"/>
            <a:ext cx="3456000" cy="3600000"/>
          </a:xfrm>
          <a:prstGeom prst="rect">
            <a:avLst/>
          </a:prstGeom>
          <a:solidFill>
            <a:schemeClr val="accent5">
              <a:lumMod val="20000"/>
              <a:lumOff val="80000"/>
            </a:schemeClr>
          </a:solidFill>
        </p:spPr>
        <p:txBody>
          <a:bodyPr wrap="square" lIns="46990" tIns="46990" rIns="36195" bIns="46990" rtlCol="0" anchor="t" anchorCtr="0">
            <a:noAutofit/>
          </a:bodyPr>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资产覆盖范围内的入侵攻击全面做到主动防御</a:t>
            </a:r>
            <a:endParaRPr lang="zh-CN" alt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安全告警主动分析和响应覆盖率达到</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Source Han Sans CN Normal" panose="020B0600000000000000" charset="-122"/>
                <a:sym typeface="+mn-ea"/>
              </a:rPr>
              <a:t>告警研判率</a:t>
            </a:r>
            <a:r>
              <a:rPr lang="en-US" altLang="zh-CN" sz="1200">
                <a:solidFill>
                  <a:srgbClr val="4C61E7"/>
                </a:solidFill>
                <a:latin typeface="Arial" panose="020B0604020202020204" pitchFamily="34" charset="0"/>
                <a:ea typeface="黑体-简" panose="02000000000000000000" charset="-122"/>
                <a:cs typeface="Noto Sans SC"/>
                <a:sym typeface="Noto Sans SC"/>
              </a:rPr>
              <a:t>}</a:t>
            </a:r>
            <a:endParaRPr lang="en-US" altLang="zh-CN" sz="1200">
              <a:solidFill>
                <a:srgbClr val="4C61E7"/>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安全运营各项关键指标达到国家标准</a:t>
            </a:r>
            <a:endParaRPr 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spcBef>
                <a:spcPct val="0"/>
              </a:spcBef>
              <a:spcAft>
                <a:spcPct val="0"/>
              </a:spcAft>
            </a:pPr>
            <a:endParaRPr lang="zh-CN" altLang="en-US" sz="12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7" name="矩形 36"/>
          <p:cNvSpPr/>
          <p:nvPr>
            <p:custDataLst>
              <p:tags r:id="rId16"/>
            </p:custDataLst>
          </p:nvPr>
        </p:nvSpPr>
        <p:spPr>
          <a:xfrm>
            <a:off x="8210653" y="1307820"/>
            <a:ext cx="3456000" cy="3600000"/>
          </a:xfrm>
          <a:prstGeom prst="rect">
            <a:avLst/>
          </a:prstGeom>
          <a:solidFill>
            <a:schemeClr val="accent6">
              <a:lumMod val="20000"/>
              <a:lumOff val="80000"/>
            </a:schemeClr>
          </a:solidFill>
        </p:spPr>
        <p:txBody>
          <a:bodyPr wrap="square" lIns="46990" tIns="46990" rIns="46990" bIns="46990" rtlCol="0" anchor="t" anchorCtr="0">
            <a:noAutofit/>
          </a:bodyPr>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服务上线以来安全水位线显著提升</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风险预防工作从无序被动响应变为有序主动开展</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安全威胁从事后被动处置变为事前主动运营</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8" name="箭头: V 形 20"/>
          <p:cNvSpPr/>
          <p:nvPr>
            <p:custDataLst>
              <p:tags r:id="rId17"/>
            </p:custDataLst>
          </p:nvPr>
        </p:nvSpPr>
        <p:spPr>
          <a:xfrm>
            <a:off x="3496102" y="990853"/>
            <a:ext cx="189995" cy="189995"/>
          </a:xfrm>
          <a:prstGeom prst="chevron">
            <a:avLst/>
          </a:prstGeom>
          <a:gradFill>
            <a:gsLst>
              <a:gs pos="99301">
                <a:schemeClr val="accent5">
                  <a:lumMod val="75000"/>
                  <a:alpha val="100000"/>
                </a:schemeClr>
              </a:gs>
              <a:gs pos="0">
                <a:schemeClr val="accent5">
                  <a:lumMod val="60000"/>
                  <a:lumOff val="40000"/>
                  <a:alpha val="100000"/>
                </a:schemeClr>
              </a:gs>
              <a:gs pos="68000">
                <a:schemeClr val="accent5">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39" name="箭头: V 形 21"/>
          <p:cNvSpPr/>
          <p:nvPr>
            <p:custDataLst>
              <p:tags r:id="rId18"/>
            </p:custDataLst>
          </p:nvPr>
        </p:nvSpPr>
        <p:spPr>
          <a:xfrm flipH="1">
            <a:off x="8398603" y="990853"/>
            <a:ext cx="189995" cy="189995"/>
          </a:xfrm>
          <a:prstGeom prst="chevron">
            <a:avLst/>
          </a:prstGeom>
          <a:gradFill>
            <a:gsLst>
              <a:gs pos="99301">
                <a:schemeClr val="accent6">
                  <a:lumMod val="75000"/>
                  <a:alpha val="100000"/>
                </a:schemeClr>
              </a:gs>
              <a:gs pos="0">
                <a:schemeClr val="accent6">
                  <a:lumMod val="60000"/>
                  <a:lumOff val="40000"/>
                  <a:alpha val="100000"/>
                </a:schemeClr>
              </a:gs>
              <a:gs pos="68000">
                <a:schemeClr val="accent6">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40" name="标题"/>
          <p:cNvSpPr txBox="1"/>
          <p:nvPr>
            <p:custDataLst>
              <p:tags r:id="rId19"/>
            </p:custDataLst>
          </p:nvPr>
        </p:nvSpPr>
        <p:spPr>
          <a:xfrm>
            <a:off x="4298315" y="2682240"/>
            <a:ext cx="3475355" cy="1322705"/>
          </a:xfrm>
          <a:prstGeom prst="rect">
            <a:avLst/>
          </a:prstGeom>
          <a:noFill/>
          <a:effectLst/>
        </p:spPr>
        <p:txBody>
          <a:bodyPr wrap="square" lIns="0" tIns="0" rIns="0" bIns="0" rtlCol="0" anchor="ctr">
            <a:noAutofit/>
          </a:bodyPr>
          <a:lstStyle/>
          <a:p>
            <a:pPr lvl="0" algn="ctr">
              <a:lnSpc>
                <a:spcPct val="150000"/>
              </a:lnSpc>
              <a:buClrTx/>
              <a:buSzTx/>
              <a:buFontTx/>
            </a:pP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安全水位可视</a:t>
            </a:r>
            <a:r>
              <a:rPr lang="en-US" altLang="zh-CN" sz="2000" b="1" spc="300" dirty="0">
                <a:ln w="0">
                  <a:noFill/>
                </a:ln>
                <a:solidFill>
                  <a:schemeClr val="tx1"/>
                </a:solidFill>
                <a:uFillTx/>
                <a:latin typeface="Arial" panose="020B0604020202020204" pitchFamily="34" charset="0"/>
                <a:ea typeface="黑体-简" panose="02000000000000000000" charset="-122"/>
                <a:cs typeface="+mn-ea"/>
                <a:sym typeface="+mn-ea"/>
              </a:rPr>
              <a:t>&amp;</a:t>
            </a: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提升</a:t>
            </a:r>
            <a:endPar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从</a:t>
            </a:r>
            <a:r>
              <a:rPr lang="zh-CN" altLang="en-US" sz="1400" b="1" spc="300" dirty="0">
                <a:ln w="0">
                  <a:noFill/>
                </a:ln>
                <a:solidFill>
                  <a:schemeClr val="accent2"/>
                </a:solidFill>
                <a:uFillTx/>
                <a:latin typeface="Arial" panose="020B0604020202020204" pitchFamily="34" charset="0"/>
                <a:ea typeface="黑体-简" panose="02000000000000000000" charset="-122"/>
                <a:cs typeface="+mn-ea"/>
                <a:sym typeface="+mn-ea"/>
              </a:rPr>
              <a:t>“基础合规”</a:t>
            </a: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跃升至</a:t>
            </a:r>
            <a:r>
              <a:rPr lang="zh-CN" altLang="en-US" sz="1400" b="1" spc="300" dirty="0">
                <a:ln w="0">
                  <a:noFill/>
                </a:ln>
                <a:solidFill>
                  <a:schemeClr val="accent6"/>
                </a:solidFill>
                <a:uFillTx/>
                <a:latin typeface="Arial" panose="020B0604020202020204" pitchFamily="34" charset="0"/>
                <a:ea typeface="黑体-简" panose="02000000000000000000" charset="-122"/>
                <a:cs typeface="+mn-ea"/>
                <a:sym typeface="+mn-ea"/>
              </a:rPr>
              <a:t>“主动防御”</a:t>
            </a:r>
            <a:endParaRPr lang="zh-CN" altLang="en-US" sz="1400" b="1" spc="300" dirty="0">
              <a:ln w="0">
                <a:noFill/>
              </a:ln>
              <a:solidFill>
                <a:schemeClr val="accent6">
                  <a:lumMod val="60000"/>
                  <a:lumOff val="40000"/>
                </a:schemeClr>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部分场景已实现</a:t>
            </a:r>
            <a:r>
              <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rPr>
              <a:t>“量化管理”</a:t>
            </a:r>
            <a:endPar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endParaRPr>
          </a:p>
        </p:txBody>
      </p:sp>
      <p:graphicFrame>
        <p:nvGraphicFramePr>
          <p:cNvPr id="47" name="表格 46"/>
          <p:cNvGraphicFramePr/>
          <p:nvPr>
            <p:custDataLst>
              <p:tags r:id="rId20"/>
            </p:custDataLst>
          </p:nvPr>
        </p:nvGraphicFramePr>
        <p:xfrm>
          <a:off x="537845" y="2258060"/>
          <a:ext cx="3164205" cy="2286000"/>
        </p:xfrm>
        <a:graphic>
          <a:graphicData uri="http://schemas.openxmlformats.org/drawingml/2006/table">
            <a:tbl>
              <a:tblPr firstRow="1" lastCol="1" bandCol="1">
                <a:tableStyleId>{0126E9F6-41A6-44B7-8387-491034A24550}</a:tableStyleId>
              </a:tblPr>
              <a:tblGrid>
                <a:gridCol w="1179830"/>
                <a:gridCol w="1024890"/>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国家</a:t>
                      </a:r>
                      <a:r>
                        <a:rPr lang="zh-CN" altLang="en-US" sz="1000">
                          <a:solidFill>
                            <a:srgbClr val="FFFF00"/>
                          </a:solidFill>
                          <a:latin typeface="Arial" panose="020B0604020202020204" pitchFamily="34" charset="0"/>
                          <a:ea typeface="黑体-简" panose="02000000000000000000" charset="-122"/>
                          <a:sym typeface="+mn-ea"/>
                        </a:rPr>
                        <a:t>参考</a:t>
                      </a:r>
                      <a:r>
                        <a:rPr lang="zh-CN" altLang="en-US" sz="1000">
                          <a:solidFill>
                            <a:srgbClr val="FFFF00"/>
                          </a:solidFill>
                          <a:latin typeface="Arial" panose="020B0604020202020204" pitchFamily="34" charset="0"/>
                          <a:ea typeface="黑体-简" panose="02000000000000000000" charset="-122"/>
                        </a:rPr>
                        <a:t>标准</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solidFill>
                      <a:schemeClr val="accent5">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{{high_risk_vulnerability_protection_rate}}</a:t>
                      </a:r>
                      <a:endPar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75%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30min</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8H</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bl>
          </a:graphicData>
        </a:graphic>
      </p:graphicFrame>
      <p:graphicFrame>
        <p:nvGraphicFramePr>
          <p:cNvPr id="50" name="表格 49"/>
          <p:cNvGraphicFramePr/>
          <p:nvPr>
            <p:custDataLst>
              <p:tags r:id="rId21"/>
            </p:custDataLst>
          </p:nvPr>
        </p:nvGraphicFramePr>
        <p:xfrm>
          <a:off x="8362315" y="2258060"/>
          <a:ext cx="3164205" cy="2255520"/>
        </p:xfrm>
        <a:graphic>
          <a:graphicData uri="http://schemas.openxmlformats.org/drawingml/2006/table">
            <a:tbl>
              <a:tblPr firstRow="1" lastCol="1" bandCol="1">
                <a:tableStyleId>{0126E9F6-41A6-44B7-8387-491034A24550}</a:tableStyleId>
              </a:tblPr>
              <a:tblGrid>
                <a:gridCol w="1188085"/>
                <a:gridCol w="1016635"/>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初始水平</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6">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仅依赖设备规则拦截</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{{high_risk_vulnerability_protection_rate}}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无数据</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未开展</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事后被动响应</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bl>
          </a:graphicData>
        </a:graphic>
      </p:graphicFrame>
      <p:sp>
        <p:nvSpPr>
          <p:cNvPr id="8" name="椭圆 7"/>
          <p:cNvSpPr/>
          <p:nvPr>
            <p:custDataLst>
              <p:tags r:id="rId22"/>
            </p:custDataLst>
          </p:nvPr>
        </p:nvSpPr>
        <p:spPr>
          <a:xfrm>
            <a:off x="2584419" y="5137785"/>
            <a:ext cx="6861238" cy="1121173"/>
          </a:xfrm>
          <a:prstGeom prst="ellipse">
            <a:avLst/>
          </a:prstGeom>
          <a:gradFill>
            <a:gsLst>
              <a:gs pos="0">
                <a:schemeClr val="accent5">
                  <a:alpha val="0"/>
                </a:schemeClr>
              </a:gs>
              <a:gs pos="100000">
                <a:schemeClr val="accent5">
                  <a:alpha val="40000"/>
                </a:schemeClr>
              </a:gs>
            </a:gsLst>
            <a:lin ang="5400000" scaled="0"/>
          </a:gradFill>
          <a:ln w="41275">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8" name="标题"/>
          <p:cNvSpPr txBox="1"/>
          <p:nvPr>
            <p:custDataLst>
              <p:tags r:id="rId23"/>
            </p:custDataLst>
          </p:nvPr>
        </p:nvSpPr>
        <p:spPr>
          <a:xfrm>
            <a:off x="3183130" y="5256733"/>
            <a:ext cx="5665036" cy="951594"/>
          </a:xfrm>
          <a:prstGeom prst="rect">
            <a:avLst/>
          </a:prstGeom>
          <a:noFill/>
          <a:effectLst/>
        </p:spPr>
        <p:txBody>
          <a:bodyPr wrap="square" lIns="0" tIns="0" rIns="0" bIns="0" rtlCol="0" anchor="ctr">
            <a:noAutofit/>
          </a:bodyPr>
          <a:lstStyle/>
          <a:p>
            <a:pPr lvl="0" algn="ctr">
              <a:buClrTx/>
              <a:buSzTx/>
              <a:buFontTx/>
            </a:pP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产生的直接价值</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减少潜在风险</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{{closed_loop_vulnerability_count}}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个</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避免安全攻击损失</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{{threat_and_incident_count}}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次</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节省人力成本</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Noto Sans SC"/>
              </a:rPr>
              <a:t>{{two_senior_security_engineer_cost}}</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endParaRPr lang="en-US" altLang="zh-CN" b="1" spc="300" dirty="0">
              <a:ln w="0">
                <a:noFill/>
              </a:ln>
              <a:solidFill>
                <a:schemeClr val="tx1"/>
              </a:solidFill>
              <a:uFillTx/>
              <a:latin typeface="Arial" panose="020B0604020202020204" pitchFamily="34" charset="0"/>
              <a:ea typeface="黑体-简" panose="02000000000000000000" charset="-122"/>
              <a:cs typeface="+mn-ea"/>
              <a:sym typeface="+mn-ea"/>
            </a:endParaRPr>
          </a:p>
        </p:txBody>
      </p:sp>
      <p:sp>
        <p:nvSpPr>
          <p:cNvPr id="9" name="椭圆 8"/>
          <p:cNvSpPr/>
          <p:nvPr>
            <p:custDataLst>
              <p:tags r:id="rId24"/>
            </p:custDataLst>
          </p:nvPr>
        </p:nvSpPr>
        <p:spPr>
          <a:xfrm>
            <a:off x="1886583" y="5139005"/>
            <a:ext cx="8256910" cy="1305392"/>
          </a:xfrm>
          <a:prstGeom prst="ellipse">
            <a:avLst/>
          </a:prstGeom>
          <a:noFill/>
          <a:ln>
            <a:gradFill>
              <a:gsLst>
                <a:gs pos="0">
                  <a:schemeClr val="accent5">
                    <a:alpha val="0"/>
                  </a:schemeClr>
                </a:gs>
                <a:gs pos="100000">
                  <a:schemeClr val="accent5">
                    <a:alpha val="55000"/>
                  </a:schemeClr>
                </a:gs>
              </a:gsLst>
              <a:lin ang="540000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1" name="任意多边形: 形状 20"/>
          <p:cNvSpPr/>
          <p:nvPr>
            <p:custDataLst>
              <p:tags r:id="rId25"/>
            </p:custDataLst>
          </p:nvPr>
        </p:nvSpPr>
        <p:spPr>
          <a:xfrm>
            <a:off x="1993942" y="5987510"/>
            <a:ext cx="1293192" cy="471527"/>
          </a:xfrm>
          <a:custGeom>
            <a:avLst/>
            <a:gdLst>
              <a:gd name="connsiteX0" fmla="*/ 2116 w 2120"/>
              <a:gd name="connsiteY0" fmla="*/ 557 h 773"/>
              <a:gd name="connsiteX1" fmla="*/ 2120 w 2120"/>
              <a:gd name="connsiteY1" fmla="*/ 773 h 773"/>
              <a:gd name="connsiteX2" fmla="*/ 0 w 2120"/>
              <a:gd name="connsiteY2" fmla="*/ 201 h 773"/>
              <a:gd name="connsiteX3" fmla="*/ 15 w 2120"/>
              <a:gd name="connsiteY3" fmla="*/ 0 h 773"/>
              <a:gd name="connsiteX4" fmla="*/ 2116 w 2120"/>
              <a:gd name="connsiteY4" fmla="*/ 557 h 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20" h="773">
                <a:moveTo>
                  <a:pt x="2116" y="557"/>
                </a:moveTo>
                <a:lnTo>
                  <a:pt x="2120" y="773"/>
                </a:lnTo>
                <a:cubicBezTo>
                  <a:pt x="2120" y="773"/>
                  <a:pt x="252" y="516"/>
                  <a:pt x="0" y="201"/>
                </a:cubicBezTo>
                <a:lnTo>
                  <a:pt x="15" y="0"/>
                </a:lnTo>
                <a:cubicBezTo>
                  <a:pt x="15" y="0"/>
                  <a:pt x="159" y="270"/>
                  <a:pt x="2116" y="557"/>
                </a:cubicBezTo>
                <a:close/>
              </a:path>
            </a:pathLst>
          </a:custGeom>
          <a:gradFill>
            <a:gsLst>
              <a:gs pos="12000">
                <a:schemeClr val="accent5">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2" name="任意多边形: 形状 21"/>
          <p:cNvSpPr/>
          <p:nvPr>
            <p:custDataLst>
              <p:tags r:id="rId26"/>
            </p:custDataLst>
          </p:nvPr>
        </p:nvSpPr>
        <p:spPr>
          <a:xfrm>
            <a:off x="8155515" y="5953350"/>
            <a:ext cx="2402165" cy="585596"/>
          </a:xfrm>
          <a:custGeom>
            <a:avLst/>
            <a:gdLst>
              <a:gd name="connsiteX0" fmla="*/ 3740 w 3740"/>
              <a:gd name="connsiteY0" fmla="*/ 0 h 960"/>
              <a:gd name="connsiteX1" fmla="*/ 3740 w 3740"/>
              <a:gd name="connsiteY1" fmla="*/ 234 h 960"/>
              <a:gd name="connsiteX2" fmla="*/ 11 w 3740"/>
              <a:gd name="connsiteY2" fmla="*/ 960 h 960"/>
              <a:gd name="connsiteX3" fmla="*/ 0 w 3740"/>
              <a:gd name="connsiteY3" fmla="*/ 758 h 960"/>
              <a:gd name="connsiteX4" fmla="*/ 3740 w 3740"/>
              <a:gd name="connsiteY4" fmla="*/ 0 h 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40" h="960">
                <a:moveTo>
                  <a:pt x="3740" y="0"/>
                </a:moveTo>
                <a:lnTo>
                  <a:pt x="3740" y="234"/>
                </a:lnTo>
                <a:cubicBezTo>
                  <a:pt x="3740" y="234"/>
                  <a:pt x="2879" y="744"/>
                  <a:pt x="11" y="960"/>
                </a:cubicBezTo>
                <a:lnTo>
                  <a:pt x="0" y="758"/>
                </a:lnTo>
                <a:cubicBezTo>
                  <a:pt x="0" y="758"/>
                  <a:pt x="2513" y="657"/>
                  <a:pt x="3740" y="0"/>
                </a:cubicBezTo>
                <a:close/>
              </a:path>
            </a:pathLst>
          </a:custGeom>
          <a:gradFill>
            <a:gsLst>
              <a:gs pos="12000">
                <a:schemeClr val="accent5">
                  <a:lumMod val="60000"/>
                  <a:lumOff val="40000"/>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a:solidFill>
                  <a:schemeClr val="tx1"/>
                </a:solidFill>
              </a:rPr>
              <a:t>   </a:t>
            </a:r>
            <a:endParaRPr lang="en-US" altLang="zh-CN">
              <a:solidFill>
                <a:schemeClr val="tx1"/>
              </a:solidFill>
            </a:endParaRPr>
          </a:p>
        </p:txBody>
      </p:sp>
      <p:sp>
        <p:nvSpPr>
          <p:cNvPr id="18" name="椭圆 17"/>
          <p:cNvSpPr/>
          <p:nvPr>
            <p:custDataLst>
              <p:tags r:id="rId27"/>
            </p:custDataLst>
          </p:nvPr>
        </p:nvSpPr>
        <p:spPr>
          <a:xfrm>
            <a:off x="1258897" y="5137785"/>
            <a:ext cx="9512282" cy="1487171"/>
          </a:xfrm>
          <a:prstGeom prst="ellipse">
            <a:avLst/>
          </a:prstGeom>
          <a:noFill/>
          <a:ln>
            <a:gradFill>
              <a:gsLst>
                <a:gs pos="66000">
                  <a:srgbClr val="376FFF">
                    <a:alpha val="0"/>
                  </a:srgbClr>
                </a:gs>
                <a:gs pos="14000">
                  <a:schemeClr val="accent5">
                    <a:alpha val="0"/>
                  </a:schemeClr>
                </a:gs>
                <a:gs pos="0">
                  <a:srgbClr val="376FFF">
                    <a:alpha val="16000"/>
                  </a:srgbClr>
                </a:gs>
                <a:gs pos="100000">
                  <a:schemeClr val="accent5">
                    <a:alpha val="20000"/>
                  </a:schemeClr>
                </a:gs>
              </a:gsLst>
              <a:lin ang="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7" name="textbox 158"/>
          <p:cNvSpPr/>
          <p:nvPr/>
        </p:nvSpPr>
        <p:spPr>
          <a:xfrm>
            <a:off x="4090670" y="922020"/>
            <a:ext cx="3822700" cy="327660"/>
          </a:xfrm>
          <a:prstGeom prst="rect">
            <a:avLst/>
          </a:prstGeom>
          <a:noFill/>
          <a:ln w="0" cap="flat">
            <a:noFill/>
            <a:prstDash val="solid"/>
            <a:miter lim="0"/>
          </a:ln>
        </p:spPr>
        <p:txBody>
          <a:bodyPr vert="horz" wrap="square" lIns="0" tIns="0" rIns="0" bIns="0" anchor="ctr" anchorCtr="0"/>
          <a:p>
            <a:pPr algn="ctr" rtl="0" eaLnBrk="0">
              <a:lnSpc>
                <a:spcPct val="100000"/>
              </a:lnSpc>
            </a:pPr>
            <a:r>
              <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rPr>
              <a:t>主动防御、量化运营</a:t>
            </a:r>
            <a:endPar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endParaRPr>
          </a:p>
        </p:txBody>
      </p:sp>
      <p:cxnSp>
        <p:nvCxnSpPr>
          <p:cNvPr id="4" name="直接连接符 3"/>
          <p:cNvCxnSpPr/>
          <p:nvPr/>
        </p:nvCxnSpPr>
        <p:spPr>
          <a:xfrm>
            <a:off x="3302635" y="1244600"/>
            <a:ext cx="5545455" cy="0"/>
          </a:xfrm>
          <a:prstGeom prst="line">
            <a:avLst/>
          </a:prstGeom>
          <a:ln w="28575" cap="flat" cmpd="sng">
            <a:solidFill>
              <a:schemeClr val="accent1">
                <a:shade val="50000"/>
              </a:schemeClr>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spTree>
    <p:custDataLst>
      <p:tags r:id="rId28"/>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44550"/>
                <a:gridCol w="551815"/>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1363345"/>
                <a:gridCol w="731520"/>
                <a:gridCol w="1384300"/>
                <a:gridCol w="1858645"/>
                <a:gridCol w="4184015"/>
                <a:gridCol w="850900"/>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业务保护、重保</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当前遗留部分业务（</a:t>
                      </a:r>
                      <a:r>
                        <a:rPr lang="en-US" altLang="zh-CN" sz="1200" b="1" dirty="0">
                          <a:solidFill>
                            <a:srgbClr val="4C61E7"/>
                          </a:solidFill>
                          <a:latin typeface="Arial" panose="020B0604020202020204" pitchFamily="34" charset="0"/>
                          <a:ea typeface="黑体-简" panose="02000000000000000000" charset="-122"/>
                          <a:cs typeface="黑体" panose="02010609060101010101" charset="-122"/>
                          <a:sym typeface="+mn-ea"/>
                        </a:rPr>
                        <a:t>XX</a:t>
                      </a:r>
                      <a:r>
                        <a:rPr lang="zh-CN" altLang="en-US" sz="1200" b="1" dirty="0">
                          <a:solidFill>
                            <a:srgbClr val="4C61E7"/>
                          </a:solidFill>
                          <a:latin typeface="Arial" panose="020B0604020202020204" pitchFamily="34" charset="0"/>
                          <a:ea typeface="黑体-简" panose="02000000000000000000" charset="-122"/>
                          <a:cs typeface="黑体" panose="02010609060101010101" charset="-122"/>
                          <a:sym typeface="+mn-ea"/>
                        </a:rPr>
                        <a:t>系统</a:t>
                      </a:r>
                      <a:r>
                        <a:rPr lang="zh-CN" altLang="en-US" sz="1200" b="1" dirty="0">
                          <a:latin typeface="Arial" panose="020B0604020202020204" pitchFamily="34" charset="0"/>
                          <a:ea typeface="黑体-简" panose="02000000000000000000" charset="-122"/>
                          <a:cs typeface="黑体" panose="02010609060101010101" charset="-122"/>
                          <a:sym typeface="+mn-ea"/>
                        </a:rPr>
                        <a:t>等）存在高危安全漏洞待闭环</a:t>
                      </a:r>
                      <a:endParaRPr lang="en-US" altLang="zh-CN"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algn="just" rtl="0" eaLnBrk="0" fontAlgn="auto">
                        <a:lnSpc>
                          <a:spcPct val="106000"/>
                        </a:lnSpc>
                        <a:spcBef>
                          <a:spcPts val="130"/>
                        </a:spcBef>
                        <a:buClrTx/>
                        <a:buSzTx/>
                        <a:buFont typeface="Arial" panose="020B0604020202020204" pitchFamily="34" charset="0"/>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当前遗留存在</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高危漏洞（</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系统</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等业务）</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，其中包含</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高危可利用漏洞（</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已防护）</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外网主机（</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如</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）存在的高危漏洞一旦被攻击利用，进而形成跳板对内网的</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核心系统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进行攻击，可能产生相关业务中断、数据泄露。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）围绕业务核心程度、是否对外、漏洞等级、修复难度，进一步提供修复优先级的漏洞清单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）根据修复落地漏洞清单，对齐修复方案和落地计划</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en-US" altLang="zh-CN"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    </a:t>
                      </a:r>
                      <a:r>
                        <a:rPr lang="zh-CN" altLang="en-US" sz="1200" dirty="0">
                          <a:latin typeface="Arial" panose="020B0604020202020204" pitchFamily="34" charset="0"/>
                          <a:ea typeface="黑体-简" panose="02000000000000000000" charset="-122"/>
                          <a:cs typeface="黑体" panose="02010609060101010101" charset="-122"/>
                          <a:sym typeface="+mn-ea"/>
                        </a:rPr>
                        <a:t>修复方案参考：修改配置（如</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系统的未授权漏洞</a:t>
                      </a:r>
                      <a:r>
                        <a:rPr lang="zh-CN" altLang="en-US" sz="1200" dirty="0">
                          <a:latin typeface="Arial" panose="020B0604020202020204" pitchFamily="34" charset="0"/>
                          <a:ea typeface="黑体-简" panose="02000000000000000000" charset="-122"/>
                          <a:cs typeface="黑体" panose="02010609060101010101" charset="-122"/>
                          <a:sym typeface="+mn-ea"/>
                        </a:rPr>
                        <a:t>）、漏洞补丁升级</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防火墙策略防护</a:t>
                      </a:r>
                      <a:r>
                        <a:rPr lang="en-US" altLang="zh-CN" sz="1200" dirty="0">
                          <a:latin typeface="Arial" panose="020B0604020202020204" pitchFamily="34" charset="0"/>
                          <a:ea typeface="黑体-简" panose="02000000000000000000" charset="-122"/>
                          <a:cs typeface="黑体" panose="02010609060101010101" charset="-122"/>
                          <a:sym typeface="+mn-ea"/>
                        </a:rPr>
                        <a:t>&gt;EDR</a:t>
                      </a:r>
                      <a:r>
                        <a:rPr lang="zh-CN" altLang="en-US" sz="1200" dirty="0">
                          <a:latin typeface="Arial" panose="020B0604020202020204" pitchFamily="34" charset="0"/>
                          <a:ea typeface="黑体-简" panose="02000000000000000000" charset="-122"/>
                          <a:cs typeface="黑体" panose="02010609060101010101" charset="-122"/>
                          <a:sym typeface="+mn-ea"/>
                        </a:rPr>
                        <a:t>轻补丁防护</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端口策略</a:t>
                      </a:r>
                      <a:endParaRPr lang="zh-CN" altLang="en-US"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3</a:t>
                      </a:r>
                      <a:r>
                        <a:rPr lang="zh-CN" altLang="en-US" sz="1200" dirty="0">
                          <a:latin typeface="Arial" panose="020B0604020202020204" pitchFamily="34" charset="0"/>
                          <a:ea typeface="黑体-简" panose="02000000000000000000" charset="-122"/>
                          <a:cs typeface="黑体" panose="02010609060101010101" charset="-122"/>
                          <a:sym typeface="+mn-ea"/>
                        </a:rPr>
                        <a:t>）按照方案落地修复，反馈给</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团队进行漏洞复测闭环</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共同的目标与行动计划刷新</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sym typeface="+mn-ea"/>
              </a:rPr>
              <a:t>下阶段目标与协作计划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三年演进路线</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26" name="图片 25"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Shape 5"/>
          <p:cNvSpPr/>
          <p:nvPr/>
        </p:nvSpPr>
        <p:spPr>
          <a:xfrm>
            <a:off x="60960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12" name="Shape 6"/>
          <p:cNvSpPr/>
          <p:nvPr/>
        </p:nvSpPr>
        <p:spPr>
          <a:xfrm>
            <a:off x="609600" y="1323340"/>
            <a:ext cx="3413760" cy="48768"/>
          </a:xfrm>
          <a:prstGeom prst="rect">
            <a:avLst/>
          </a:prstGeom>
          <a:solidFill>
            <a:srgbClr val="10B981"/>
          </a:solidFill>
        </p:spPr>
      </p:sp>
      <p:sp>
        <p:nvSpPr>
          <p:cNvPr id="13" name="Text 7"/>
          <p:cNvSpPr/>
          <p:nvPr/>
        </p:nvSpPr>
        <p:spPr>
          <a:xfrm>
            <a:off x="792480" y="1567180"/>
            <a:ext cx="3048000" cy="853440"/>
          </a:xfrm>
          <a:prstGeom prst="rect">
            <a:avLst/>
          </a:prstGeom>
          <a:noFill/>
        </p:spPr>
        <p:txBody>
          <a:bodyPr wrap="square" rtlCol="0" anchor="ctr"/>
          <a:lstStyle/>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阶段一</a:t>
            </a:r>
            <a:endParaRPr lang="en-US" sz="1735" dirty="0"/>
          </a:p>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互联网防线</a:t>
            </a:r>
            <a:endParaRPr lang="en-US" sz="1735" dirty="0"/>
          </a:p>
        </p:txBody>
      </p:sp>
      <p:sp>
        <p:nvSpPr>
          <p:cNvPr id="14" name="Text 8"/>
          <p:cNvSpPr/>
          <p:nvPr/>
        </p:nvSpPr>
        <p:spPr>
          <a:xfrm>
            <a:off x="79248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第1-12月</a:t>
            </a:r>
            <a:endParaRPr lang="en-US" sz="1335" dirty="0"/>
          </a:p>
        </p:txBody>
      </p:sp>
      <p:sp>
        <p:nvSpPr>
          <p:cNvPr id="15" name="Text 9"/>
          <p:cNvSpPr/>
          <p:nvPr/>
        </p:nvSpPr>
        <p:spPr>
          <a:xfrm>
            <a:off x="79248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16" name="Text 10"/>
          <p:cNvSpPr/>
          <p:nvPr/>
        </p:nvSpPr>
        <p:spPr>
          <a:xfrm>
            <a:off x="79248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20个互联网暴露资产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17" name="Text 11"/>
          <p:cNvSpPr/>
          <p:nvPr/>
        </p:nvSpPr>
        <p:spPr>
          <a:xfrm>
            <a:off x="79248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18" name="Text 12"/>
          <p:cNvSpPr/>
          <p:nvPr/>
        </p:nvSpPr>
        <p:spPr>
          <a:xfrm>
            <a:off x="79248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高风险入侵路径</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流量监控+威胁检测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7×24运营+季度报告</a:t>
            </a:r>
            <a:endParaRPr lang="en-US" sz="1200" dirty="0"/>
          </a:p>
        </p:txBody>
      </p:sp>
      <p:sp>
        <p:nvSpPr>
          <p:cNvPr id="19" name="Text 13"/>
          <p:cNvSpPr/>
          <p:nvPr/>
        </p:nvSpPr>
        <p:spPr>
          <a:xfrm>
            <a:off x="79248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20" name="Text 14"/>
          <p:cNvSpPr/>
          <p:nvPr/>
        </p:nvSpPr>
        <p:spPr>
          <a:xfrm>
            <a:off x="79248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最高ROI：80%攻击从互联网入口来</a:t>
            </a:r>
            <a:endParaRPr lang="en-US" sz="1200" dirty="0"/>
          </a:p>
        </p:txBody>
      </p:sp>
      <p:sp>
        <p:nvSpPr>
          <p:cNvPr id="21" name="Shape 15"/>
          <p:cNvSpPr/>
          <p:nvPr/>
        </p:nvSpPr>
        <p:spPr>
          <a:xfrm>
            <a:off x="438912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22" name="Shape 16"/>
          <p:cNvSpPr/>
          <p:nvPr/>
        </p:nvSpPr>
        <p:spPr>
          <a:xfrm>
            <a:off x="4389120" y="1323340"/>
            <a:ext cx="3413760" cy="48768"/>
          </a:xfrm>
          <a:prstGeom prst="rect">
            <a:avLst/>
          </a:prstGeom>
          <a:solidFill>
            <a:srgbClr val="0D7C66"/>
          </a:solidFill>
        </p:spPr>
      </p:sp>
      <p:sp>
        <p:nvSpPr>
          <p:cNvPr id="23" name="Text 17"/>
          <p:cNvSpPr/>
          <p:nvPr/>
        </p:nvSpPr>
        <p:spPr>
          <a:xfrm>
            <a:off x="4572000" y="1567180"/>
            <a:ext cx="3048000" cy="853440"/>
          </a:xfrm>
          <a:prstGeom prst="rect">
            <a:avLst/>
          </a:prstGeom>
          <a:noFill/>
        </p:spPr>
        <p:txBody>
          <a:bodyPr wrap="square" rtlCol="0" anchor="ctr"/>
          <a:lstStyle/>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阶段二</a:t>
            </a:r>
            <a:endParaRPr lang="en-US" sz="1735" dirty="0"/>
          </a:p>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内外联动</a:t>
            </a:r>
            <a:endParaRPr lang="en-US" sz="1735" dirty="0"/>
          </a:p>
        </p:txBody>
      </p:sp>
      <p:sp>
        <p:nvSpPr>
          <p:cNvPr id="25" name="Text 18"/>
          <p:cNvSpPr/>
          <p:nvPr/>
        </p:nvSpPr>
        <p:spPr>
          <a:xfrm>
            <a:off x="457200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第12-24月</a:t>
            </a:r>
            <a:endParaRPr lang="en-US" sz="1335" dirty="0"/>
          </a:p>
        </p:txBody>
      </p:sp>
      <p:sp>
        <p:nvSpPr>
          <p:cNvPr id="27" name="Text 19"/>
          <p:cNvSpPr/>
          <p:nvPr/>
        </p:nvSpPr>
        <p:spPr>
          <a:xfrm>
            <a:off x="457200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28" name="Text 20"/>
          <p:cNvSpPr/>
          <p:nvPr/>
        </p:nvSpPr>
        <p:spPr>
          <a:xfrm>
            <a:off x="457200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+内外网边界+</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外网</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办公终端</a:t>
            </a:r>
            <a:endPar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29" name="Text 21"/>
          <p:cNvSpPr/>
          <p:nvPr/>
        </p:nvSpPr>
        <p:spPr>
          <a:xfrm>
            <a:off x="457200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30" name="Text 22"/>
          <p:cNvSpPr/>
          <p:nvPr/>
        </p:nvSpPr>
        <p:spPr>
          <a:xfrm>
            <a:off x="457200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钓鱼</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攻击主动发现</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+横向移动检测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联调联处</a:t>
            </a:r>
            <a:endParaRPr lang="en-US" sz="1200" dirty="0"/>
          </a:p>
        </p:txBody>
      </p:sp>
      <p:sp>
        <p:nvSpPr>
          <p:cNvPr id="31" name="Text 23"/>
          <p:cNvSpPr/>
          <p:nvPr/>
        </p:nvSpPr>
        <p:spPr>
          <a:xfrm>
            <a:off x="457200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32" name="Text 24"/>
          <p:cNvSpPr/>
          <p:nvPr/>
        </p:nvSpPr>
        <p:spPr>
          <a:xfrm>
            <a:off x="457200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消除盲区：</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高风险入侵路径全面</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覆盖</a:t>
            </a:r>
            <a:endPar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endParaRPr>
          </a:p>
        </p:txBody>
      </p:sp>
      <p:sp>
        <p:nvSpPr>
          <p:cNvPr id="33" name="Shape 25"/>
          <p:cNvSpPr/>
          <p:nvPr/>
        </p:nvSpPr>
        <p:spPr>
          <a:xfrm>
            <a:off x="816864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34" name="Shape 26"/>
          <p:cNvSpPr/>
          <p:nvPr/>
        </p:nvSpPr>
        <p:spPr>
          <a:xfrm>
            <a:off x="8168640" y="1323340"/>
            <a:ext cx="3413760" cy="48768"/>
          </a:xfrm>
          <a:prstGeom prst="rect">
            <a:avLst/>
          </a:prstGeom>
          <a:solidFill>
            <a:srgbClr val="0A2E4D"/>
          </a:solidFill>
        </p:spPr>
      </p:sp>
      <p:sp>
        <p:nvSpPr>
          <p:cNvPr id="35" name="Text 27"/>
          <p:cNvSpPr/>
          <p:nvPr/>
        </p:nvSpPr>
        <p:spPr>
          <a:xfrm>
            <a:off x="8351520" y="1567180"/>
            <a:ext cx="3048000" cy="853440"/>
          </a:xfrm>
          <a:prstGeom prst="rect">
            <a:avLst/>
          </a:prstGeom>
          <a:noFill/>
        </p:spPr>
        <p:txBody>
          <a:bodyPr wrap="square" rtlCol="0" anchor="ctr"/>
          <a:lstStyle/>
          <a:p>
            <a:pPr marL="0" indent="0">
              <a:lnSpc>
                <a:spcPct val="120000"/>
              </a:lnSpc>
              <a:buNone/>
            </a:pP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阶段三</a:t>
            </a:r>
            <a:endParaRPr lang="en-US" sz="1735" dirty="0"/>
          </a:p>
          <a:p>
            <a:pPr marL="0" indent="0">
              <a:lnSpc>
                <a:spcPct val="120000"/>
              </a:lnSpc>
              <a:buNone/>
            </a:pPr>
            <a:r>
              <a:rPr lang="zh-CN" alt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全网</a:t>
            </a: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一体化</a:t>
            </a:r>
            <a:endParaRPr lang="en-US" sz="1735" dirty="0"/>
          </a:p>
        </p:txBody>
      </p:sp>
      <p:sp>
        <p:nvSpPr>
          <p:cNvPr id="36" name="Text 28"/>
          <p:cNvSpPr/>
          <p:nvPr/>
        </p:nvSpPr>
        <p:spPr>
          <a:xfrm>
            <a:off x="835152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第24-36月</a:t>
            </a:r>
            <a:endParaRPr lang="en-US" sz="1335" dirty="0"/>
          </a:p>
        </p:txBody>
      </p:sp>
      <p:sp>
        <p:nvSpPr>
          <p:cNvPr id="37" name="Text 29"/>
          <p:cNvSpPr/>
          <p:nvPr/>
        </p:nvSpPr>
        <p:spPr>
          <a:xfrm>
            <a:off x="835152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38" name="Text 30"/>
          <p:cNvSpPr/>
          <p:nvPr/>
        </p:nvSpPr>
        <p:spPr>
          <a:xfrm>
            <a:off x="835152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全</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网</a:t>
            </a: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IT资产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39" name="Text 31"/>
          <p:cNvSpPr/>
          <p:nvPr/>
        </p:nvSpPr>
        <p:spPr>
          <a:xfrm>
            <a:off x="835152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40" name="Text 32"/>
          <p:cNvSpPr/>
          <p:nvPr/>
        </p:nvSpPr>
        <p:spPr>
          <a:xfrm>
            <a:off x="8351520" y="3944620"/>
            <a:ext cx="3048000" cy="731520"/>
          </a:xfrm>
          <a:prstGeom prst="rect">
            <a:avLst/>
          </a:prstGeom>
          <a:noFill/>
        </p:spPr>
        <p:txBody>
          <a:bodyPr wrap="square" rtlCol="0" anchor="ctr"/>
          <a:lstStyle/>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SOAR编排+</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量化运营</a:t>
            </a:r>
            <a:r>
              <a:rPr lang="en-US" altLang="zh-CN" sz="1200" dirty="0">
                <a:solidFill>
                  <a:srgbClr val="94A3B8"/>
                </a:solidFill>
                <a:latin typeface="微软雅黑" panose="020B0503020204020204" charset="-122"/>
                <a:ea typeface="微软雅黑" panose="020B0503020204020204" charset="-122"/>
                <a:cs typeface="微软雅黑" panose="020B0503020204020204" pitchFamily="34" charset="-120"/>
              </a:rPr>
              <a:t>+</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运营效率逐步攀升</a:t>
            </a:r>
            <a:endParaRPr lang="en-US" sz="1200" dirty="0"/>
          </a:p>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全网</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运营体系</a:t>
            </a:r>
            <a:endParaRPr lang="en-US" sz="1200" dirty="0"/>
          </a:p>
        </p:txBody>
      </p:sp>
      <p:sp>
        <p:nvSpPr>
          <p:cNvPr id="41" name="Text 33"/>
          <p:cNvSpPr/>
          <p:nvPr/>
        </p:nvSpPr>
        <p:spPr>
          <a:xfrm>
            <a:off x="835152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42" name="Text 34"/>
          <p:cNvSpPr/>
          <p:nvPr/>
        </p:nvSpPr>
        <p:spPr>
          <a:xfrm>
            <a:off x="8351520" y="5041900"/>
            <a:ext cx="3048000" cy="670560"/>
          </a:xfrm>
          <a:prstGeom prst="rect">
            <a:avLst/>
          </a:prstGeom>
          <a:noFill/>
        </p:spPr>
        <p:txBody>
          <a:bodyPr wrap="square" rtlCol="0" anchor="ctr"/>
          <a:lstStyle/>
          <a:p>
            <a:pPr marL="0" indent="0">
              <a:lnSpc>
                <a:spcPct val="120000"/>
              </a:lnSpc>
              <a:buNone/>
            </a:pP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量化运营</a:t>
            </a: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：常态化运营管理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2818765" cy="327025"/>
            <a:chOff x="533" y="646"/>
            <a:chExt cx="443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下一阶段运营</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规划</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3" name="文本框 22"/>
          <p:cNvSpPr txBox="1"/>
          <p:nvPr/>
        </p:nvSpPr>
        <p:spPr>
          <a:xfrm>
            <a:off x="8820150" y="411480"/>
            <a:ext cx="4064000" cy="368300"/>
          </a:xfrm>
          <a:prstGeom prst="rect">
            <a:avLst/>
          </a:prstGeom>
          <a:noFill/>
        </p:spPr>
        <p:txBody>
          <a:bodyPr wrap="square" rtlCol="0">
            <a:spAutoFit/>
          </a:bodyPr>
          <a:p>
            <a:endParaRPr lang="zh-CN" altLang="en-US"/>
          </a:p>
        </p:txBody>
      </p:sp>
      <p:sp>
        <p:nvSpPr>
          <p:cNvPr id="36" name="矩形 35"/>
          <p:cNvSpPr/>
          <p:nvPr>
            <p:custDataLst>
              <p:tags r:id="rId4"/>
            </p:custDataLst>
          </p:nvPr>
        </p:nvSpPr>
        <p:spPr>
          <a:xfrm>
            <a:off x="724535" y="1032510"/>
            <a:ext cx="10895330" cy="247650"/>
          </a:xfrm>
          <a:prstGeom prst="rect">
            <a:avLst/>
          </a:prstGeom>
          <a:solidFill>
            <a:srgbClr val="5B9BD5"/>
          </a:solidFill>
          <a:ln w="12700" cap="flat" cmpd="sng" algn="ctr">
            <a:noFill/>
            <a:prstDash val="solid"/>
            <a:miter lim="800000"/>
          </a:ln>
          <a:effectLst>
            <a:outerShdw blurRad="254000" dist="101600" dir="2700000" algn="tl" rotWithShape="0">
              <a:srgbClr val="FFFFFF">
                <a:lumMod val="75000"/>
                <a:alpha val="40000"/>
              </a:srgbClr>
            </a:outerShdw>
          </a:effectLst>
        </p:spPr>
        <p:txBody>
          <a:bodyPr vertOverflow="overflow" horzOverflow="overflow" vert="horz" wrap="square" numCol="1" spcCol="0" rtlCol="0" fromWordArt="0" anchor="ctr" anchorCtr="0" forceAA="0" compatLnSpc="1">
            <a:noAutofit/>
          </a:bodyPr>
          <a:p>
            <a:pPr lvl="0" algn="ctr">
              <a:buClrTx/>
              <a:buSzTx/>
              <a:buFontTx/>
            </a:pPr>
            <a:endParaRPr lang="zh-CN" altLang="en-US">
              <a:solidFill>
                <a:srgbClr val="000000"/>
              </a:solidFill>
              <a:sym typeface="+mn-ea"/>
            </a:endParaRPr>
          </a:p>
        </p:txBody>
      </p:sp>
      <p:sp>
        <p:nvSpPr>
          <p:cNvPr id="37" name="矩形 36"/>
          <p:cNvSpPr/>
          <p:nvPr>
            <p:custDataLst>
              <p:tags r:id="rId5"/>
            </p:custDataLst>
          </p:nvPr>
        </p:nvSpPr>
        <p:spPr>
          <a:xfrm>
            <a:off x="724535" y="1166495"/>
            <a:ext cx="10895330" cy="1829435"/>
          </a:xfrm>
          <a:prstGeom prst="rect">
            <a:avLst/>
          </a:prstGeom>
          <a:solidFill>
            <a:srgbClr val="FFFFFF"/>
          </a:solidFill>
          <a:ln w="12700" cap="flat" cmpd="sng" algn="ctr">
            <a:noFill/>
            <a:prstDash val="solid"/>
            <a:miter lim="800000"/>
          </a:ln>
          <a:effectLst>
            <a:outerShdw blurRad="254000" dist="101600" dir="2700000" algn="tl" rotWithShape="0">
              <a:srgbClr val="000000">
                <a:lumMod val="75000"/>
                <a:lumOff val="25000"/>
                <a:alpha val="15000"/>
              </a:srgbClr>
            </a:outerShdw>
          </a:effectLst>
        </p:spPr>
        <p:txBody>
          <a:bodyPr rtlCol="0" anchor="ctr"/>
          <a:p>
            <a:pPr algn="ctr"/>
            <a:endParaRPr lang="zh-CN" altLang="en-US">
              <a:solidFill>
                <a:srgbClr val="FFFFFF"/>
              </a:solidFill>
            </a:endParaRPr>
          </a:p>
        </p:txBody>
      </p:sp>
      <p:sp>
        <p:nvSpPr>
          <p:cNvPr id="42" name="矩形 41"/>
          <p:cNvSpPr/>
          <p:nvPr>
            <p:custDataLst>
              <p:tags r:id="rId6"/>
            </p:custDataLst>
          </p:nvPr>
        </p:nvSpPr>
        <p:spPr>
          <a:xfrm>
            <a:off x="884555" y="1273175"/>
            <a:ext cx="10151110" cy="1558290"/>
          </a:xfrm>
          <a:prstGeom prst="rect">
            <a:avLst/>
          </a:prstGeom>
          <a:noFill/>
        </p:spPr>
        <p:txBody>
          <a:bodyPr wrap="square" lIns="0" tIns="0" rIns="0" bIns="0" rtlCol="0" anchor="t" anchorCtr="0">
            <a:noAutofit/>
          </a:bodyPr>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1</a:t>
            </a:r>
            <a:r>
              <a:rPr lang="zh-CN" altLang="en-US" sz="1400">
                <a:solidFill>
                  <a:srgbClr val="333333"/>
                </a:solidFill>
                <a:latin typeface="Heiti SC Light" panose="02000000000000000000" charset="-122"/>
                <a:ea typeface="Heiti SC Light" panose="02000000000000000000" charset="-122"/>
                <a:cs typeface="+mn-ea"/>
                <a:sym typeface="+mn-ea"/>
              </a:rPr>
              <a:t>、</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核心业务</a:t>
            </a:r>
            <a:r>
              <a:rPr lang="zh-CN" altLang="en-US" sz="1400">
                <a:solidFill>
                  <a:srgbClr val="333333"/>
                </a:solidFill>
                <a:latin typeface="Heiti SC Light" panose="02000000000000000000" charset="-122"/>
                <a:ea typeface="Heiti SC Light" panose="02000000000000000000" charset="-122"/>
                <a:cs typeface="+mn-ea"/>
                <a:sym typeface="+mn-ea"/>
              </a:rPr>
              <a:t>的资产已实现安全绿区的覆盖，下一阶段重点推进安全橙区的</a:t>
            </a:r>
            <a:r>
              <a:rPr lang="en-US" altLang="zh-CN" sz="1400">
                <a:solidFill>
                  <a:srgbClr val="333333"/>
                </a:solidFill>
                <a:latin typeface="Heiti SC Light" panose="02000000000000000000" charset="-122"/>
                <a:ea typeface="Heiti SC Light" panose="02000000000000000000" charset="-122"/>
                <a:cs typeface="+mn-ea"/>
                <a:sym typeface="+mn-ea"/>
              </a:rPr>
              <a:t>XX</a:t>
            </a:r>
            <a:r>
              <a:rPr lang="zh-CN" altLang="en-US" sz="1400">
                <a:solidFill>
                  <a:srgbClr val="333333"/>
                </a:solidFill>
                <a:latin typeface="Heiti SC Light" panose="02000000000000000000" charset="-122"/>
                <a:ea typeface="Heiti SC Light" panose="02000000000000000000" charset="-122"/>
                <a:cs typeface="+mn-ea"/>
                <a:sym typeface="+mn-ea"/>
              </a:rPr>
              <a:t>系统的资产转换到安全绿区，实现安全运营能力的升级；</a:t>
            </a:r>
            <a:endParaRPr lang="zh-CN" altLang="en-US" sz="1400">
              <a:solidFill>
                <a:srgbClr val="333333"/>
              </a:solidFill>
              <a:latin typeface="Heiti SC Light" panose="02000000000000000000" charset="-122"/>
              <a:ea typeface="Heiti SC Light" panose="02000000000000000000" charset="-122"/>
              <a:cs typeface="+mn-ea"/>
              <a:sym typeface="+mn-ea"/>
            </a:endParaRPr>
          </a:p>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2</a:t>
            </a:r>
            <a:r>
              <a:rPr lang="zh-CN" altLang="en-US" sz="1400">
                <a:solidFill>
                  <a:srgbClr val="333333"/>
                </a:solidFill>
                <a:latin typeface="Heiti SC Light" panose="02000000000000000000" charset="-122"/>
                <a:ea typeface="Heiti SC Light" panose="02000000000000000000" charset="-122"/>
                <a:cs typeface="+mn-ea"/>
                <a:sym typeface="+mn-ea"/>
              </a:rPr>
              <a:t>、快速消除安全红区，提升整体的安全水位底线，针对</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资产范围</a:t>
            </a:r>
            <a:r>
              <a:rPr lang="zh-CN" altLang="en-US" sz="1400">
                <a:solidFill>
                  <a:srgbClr val="333333"/>
                </a:solidFill>
                <a:latin typeface="Heiti SC Light" panose="02000000000000000000" charset="-122"/>
                <a:ea typeface="Heiti SC Light" panose="02000000000000000000" charset="-122"/>
                <a:cs typeface="+mn-ea"/>
                <a:sym typeface="+mn-ea"/>
              </a:rPr>
              <a:t>补充基础的端点安全能力和威胁监测响应能力；</a:t>
            </a:r>
            <a:endParaRPr lang="zh-CN" altLang="en-US" sz="1400">
              <a:solidFill>
                <a:srgbClr val="333333"/>
              </a:solidFill>
              <a:latin typeface="Heiti SC Light" panose="02000000000000000000" charset="-122"/>
              <a:ea typeface="Heiti SC Light" panose="02000000000000000000" charset="-122"/>
              <a:cs typeface="+mn-ea"/>
              <a:sym typeface="+mn-ea"/>
            </a:endParaRPr>
          </a:p>
        </p:txBody>
      </p:sp>
      <p:sp>
        <p:nvSpPr>
          <p:cNvPr id="43" name="矩形 42"/>
          <p:cNvSpPr/>
          <p:nvPr/>
        </p:nvSpPr>
        <p:spPr>
          <a:xfrm>
            <a:off x="611505" y="3247390"/>
            <a:ext cx="3600000" cy="3240000"/>
          </a:xfrm>
          <a:prstGeom prst="rect">
            <a:avLst/>
          </a:prstGeom>
          <a:solidFill>
            <a:srgbClr val="70AD47">
              <a:lumMod val="20000"/>
              <a:lumOff val="8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4" name="矩形 43"/>
          <p:cNvSpPr/>
          <p:nvPr/>
        </p:nvSpPr>
        <p:spPr>
          <a:xfrm>
            <a:off x="8175810" y="3246755"/>
            <a:ext cx="3599815" cy="3240000"/>
          </a:xfrm>
          <a:prstGeom prst="rect">
            <a:avLst/>
          </a:prstGeom>
          <a:solidFill>
            <a:srgbClr val="FF0000">
              <a:alpha val="4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5" name="矩形 44"/>
          <p:cNvSpPr/>
          <p:nvPr/>
        </p:nvSpPr>
        <p:spPr>
          <a:xfrm>
            <a:off x="4393750" y="3247390"/>
            <a:ext cx="3599815" cy="3240000"/>
          </a:xfrm>
          <a:prstGeom prst="rect">
            <a:avLst/>
          </a:prstGeom>
          <a:solidFill>
            <a:srgbClr val="ED7D31">
              <a:lumMod val="40000"/>
              <a:lumOff val="6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pic>
        <p:nvPicPr>
          <p:cNvPr id="49" name="图片 4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11293" y="5622956"/>
            <a:ext cx="360745" cy="251460"/>
          </a:xfrm>
          <a:prstGeom prst="rect">
            <a:avLst/>
          </a:prstGeom>
        </p:spPr>
      </p:pic>
      <p:sp>
        <p:nvSpPr>
          <p:cNvPr id="50" name="Text Box 27"/>
          <p:cNvSpPr txBox="1">
            <a:spLocks noChangeArrowheads="1"/>
          </p:cNvSpPr>
          <p:nvPr/>
        </p:nvSpPr>
        <p:spPr bwMode="auto">
          <a:xfrm>
            <a:off x="688340" y="3301365"/>
            <a:ext cx="397510"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00B050"/>
                </a:solidFill>
                <a:latin typeface="Heiti SC Light" panose="02000000000000000000" charset="-122"/>
                <a:ea typeface="Heiti SC Light" panose="02000000000000000000" charset="-122"/>
              </a:rPr>
              <a:t>安全</a:t>
            </a:r>
            <a:r>
              <a:rPr lang="zh-CN" altLang="en-US" sz="1200" dirty="0">
                <a:solidFill>
                  <a:srgbClr val="00B050"/>
                </a:solidFill>
                <a:latin typeface="Heiti SC Light" panose="02000000000000000000" charset="-122"/>
                <a:ea typeface="Heiti SC Light" panose="02000000000000000000" charset="-122"/>
              </a:rPr>
              <a:t>绿区</a:t>
            </a:r>
            <a:endParaRPr lang="zh-CN" altLang="en-US" sz="1200" dirty="0">
              <a:solidFill>
                <a:srgbClr val="00B050"/>
              </a:solidFill>
              <a:latin typeface="Heiti SC Light" panose="02000000000000000000" charset="-122"/>
              <a:ea typeface="Heiti SC Light" panose="02000000000000000000" charset="-122"/>
            </a:endParaRPr>
          </a:p>
        </p:txBody>
      </p:sp>
      <p:sp>
        <p:nvSpPr>
          <p:cNvPr id="51" name="Text Box 27"/>
          <p:cNvSpPr txBox="1">
            <a:spLocks noChangeArrowheads="1"/>
          </p:cNvSpPr>
          <p:nvPr/>
        </p:nvSpPr>
        <p:spPr bwMode="auto">
          <a:xfrm>
            <a:off x="4569299" y="3301168"/>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ED7D31"/>
                </a:solidFill>
                <a:latin typeface="Heiti SC Light" panose="02000000000000000000" charset="-122"/>
                <a:ea typeface="Heiti SC Light" panose="02000000000000000000" charset="-122"/>
              </a:rPr>
              <a:t>安全橙区</a:t>
            </a:r>
            <a:endParaRPr lang="zh-CN" altLang="en-US" sz="1200" dirty="0">
              <a:solidFill>
                <a:srgbClr val="ED7D31"/>
              </a:solidFill>
              <a:latin typeface="Heiti SC Light" panose="02000000000000000000" charset="-122"/>
              <a:ea typeface="Heiti SC Light" panose="02000000000000000000" charset="-122"/>
            </a:endParaRPr>
          </a:p>
        </p:txBody>
      </p:sp>
      <p:pic>
        <p:nvPicPr>
          <p:cNvPr id="53" name="图片 52"/>
          <p:cNvPicPr/>
          <p:nvPr/>
        </p:nvPicPr>
        <p:blipFill>
          <a:blip r:embed="rId8"/>
          <a:stretch>
            <a:fillRect/>
          </a:stretch>
        </p:blipFill>
        <p:spPr>
          <a:xfrm>
            <a:off x="3102292" y="4757815"/>
            <a:ext cx="288000" cy="288290"/>
          </a:xfrm>
          <a:prstGeom prst="rect">
            <a:avLst/>
          </a:prstGeom>
        </p:spPr>
      </p:pic>
      <p:pic>
        <p:nvPicPr>
          <p:cNvPr id="54" name="图片 53"/>
          <p:cNvPicPr/>
          <p:nvPr/>
        </p:nvPicPr>
        <p:blipFill>
          <a:blip r:embed="rId9"/>
          <a:stretch>
            <a:fillRect/>
          </a:stretch>
        </p:blipFill>
        <p:spPr>
          <a:xfrm>
            <a:off x="3102465" y="3938320"/>
            <a:ext cx="287655" cy="288000"/>
          </a:xfrm>
          <a:prstGeom prst="rect">
            <a:avLst/>
          </a:prstGeom>
        </p:spPr>
      </p:pic>
      <p:pic>
        <p:nvPicPr>
          <p:cNvPr id="55" name="图片 54"/>
          <p:cNvPicPr/>
          <p:nvPr/>
        </p:nvPicPr>
        <p:blipFill>
          <a:blip r:embed="rId10"/>
          <a:stretch>
            <a:fillRect/>
          </a:stretch>
        </p:blipFill>
        <p:spPr>
          <a:xfrm flipH="1">
            <a:off x="3102293" y="4348240"/>
            <a:ext cx="288000" cy="287655"/>
          </a:xfrm>
          <a:prstGeom prst="rect">
            <a:avLst/>
          </a:prstGeom>
        </p:spPr>
      </p:pic>
      <p:sp>
        <p:nvSpPr>
          <p:cNvPr id="56" name="Text Box 27"/>
          <p:cNvSpPr txBox="1">
            <a:spLocks noChangeArrowheads="1"/>
          </p:cNvSpPr>
          <p:nvPr/>
        </p:nvSpPr>
        <p:spPr bwMode="auto">
          <a:xfrm>
            <a:off x="3479800" y="4398010"/>
            <a:ext cx="490855" cy="17970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zh-CN" altLang="en-US" sz="800" dirty="0" err="1">
                <a:solidFill>
                  <a:srgbClr val="000000"/>
                </a:solidFill>
                <a:latin typeface="Heiti SC Light" panose="02000000000000000000" charset="-122"/>
                <a:ea typeface="Heiti SC Light" panose="02000000000000000000" charset="-122"/>
              </a:rPr>
              <a:t>端点</a:t>
            </a:r>
            <a:r>
              <a:rPr lang="zh-CN" altLang="en-US" sz="800" dirty="0" err="1">
                <a:solidFill>
                  <a:srgbClr val="000000"/>
                </a:solidFill>
                <a:latin typeface="Heiti SC Light" panose="02000000000000000000" charset="-122"/>
                <a:ea typeface="Heiti SC Light" panose="02000000000000000000" charset="-122"/>
              </a:rPr>
              <a:t>保护</a:t>
            </a:r>
            <a:endParaRPr lang="zh-CN" altLang="en-US" sz="800" dirty="0" err="1">
              <a:solidFill>
                <a:srgbClr val="000000"/>
              </a:solidFill>
              <a:latin typeface="Heiti SC Light" panose="02000000000000000000" charset="-122"/>
              <a:ea typeface="Heiti SC Light" panose="02000000000000000000" charset="-122"/>
            </a:endParaRPr>
          </a:p>
        </p:txBody>
      </p:sp>
      <p:sp>
        <p:nvSpPr>
          <p:cNvPr id="60" name="Text Box 27"/>
          <p:cNvSpPr txBox="1">
            <a:spLocks noChangeArrowheads="1"/>
          </p:cNvSpPr>
          <p:nvPr/>
        </p:nvSpPr>
        <p:spPr bwMode="auto">
          <a:xfrm>
            <a:off x="3479800" y="398399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61" name="Text Box 27"/>
          <p:cNvSpPr txBox="1">
            <a:spLocks noChangeArrowheads="1"/>
          </p:cNvSpPr>
          <p:nvPr/>
        </p:nvSpPr>
        <p:spPr bwMode="auto">
          <a:xfrm>
            <a:off x="1673225" y="560959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核心</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67" name="图片 66"/>
          <p:cNvPicPr/>
          <p:nvPr/>
        </p:nvPicPr>
        <p:blipFill>
          <a:blip r:embed="rId11">
            <a:extLst>
              <a:ext uri="{28A0092B-C50C-407E-A947-70E740481C1C}">
                <a14:useLocalDpi xmlns:a14="http://schemas.microsoft.com/office/drawing/2010/main" val="0"/>
              </a:ext>
            </a:extLst>
          </a:blip>
          <a:stretch>
            <a:fillRect/>
          </a:stretch>
        </p:blipFill>
        <p:spPr>
          <a:xfrm>
            <a:off x="1212304" y="3907866"/>
            <a:ext cx="360000" cy="360000"/>
          </a:xfrm>
          <a:prstGeom prst="rect">
            <a:avLst/>
          </a:prstGeom>
        </p:spPr>
      </p:pic>
      <p:pic>
        <p:nvPicPr>
          <p:cNvPr id="71" name="图片 70"/>
          <p:cNvPicPr/>
          <p:nvPr/>
        </p:nvPicPr>
        <p:blipFill>
          <a:blip r:embed="rId11">
            <a:extLst>
              <a:ext uri="{28A0092B-C50C-407E-A947-70E740481C1C}">
                <a14:useLocalDpi xmlns:a14="http://schemas.microsoft.com/office/drawing/2010/main" val="0"/>
              </a:ext>
            </a:extLst>
          </a:blip>
          <a:stretch>
            <a:fillRect/>
          </a:stretch>
        </p:blipFill>
        <p:spPr>
          <a:xfrm>
            <a:off x="1212240" y="4479956"/>
            <a:ext cx="360000" cy="359410"/>
          </a:xfrm>
          <a:prstGeom prst="rect">
            <a:avLst/>
          </a:prstGeom>
        </p:spPr>
      </p:pic>
      <p:sp>
        <p:nvSpPr>
          <p:cNvPr id="72" name="Text Box 27"/>
          <p:cNvSpPr txBox="1">
            <a:spLocks noChangeArrowheads="1"/>
          </p:cNvSpPr>
          <p:nvPr/>
        </p:nvSpPr>
        <p:spPr bwMode="auto">
          <a:xfrm>
            <a:off x="1624330" y="391223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73" name="Text Box 27"/>
          <p:cNvSpPr txBox="1">
            <a:spLocks noChangeArrowheads="1"/>
          </p:cNvSpPr>
          <p:nvPr/>
        </p:nvSpPr>
        <p:spPr bwMode="auto">
          <a:xfrm>
            <a:off x="1624330" y="447802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74" name="图片 73"/>
          <p:cNvPicPr/>
          <p:nvPr/>
        </p:nvPicPr>
        <p:blipFill>
          <a:blip r:embed="rId11">
            <a:extLst>
              <a:ext uri="{28A0092B-C50C-407E-A947-70E740481C1C}">
                <a14:useLocalDpi xmlns:a14="http://schemas.microsoft.com/office/drawing/2010/main" val="0"/>
              </a:ext>
            </a:extLst>
          </a:blip>
          <a:stretch>
            <a:fillRect/>
          </a:stretch>
        </p:blipFill>
        <p:spPr>
          <a:xfrm>
            <a:off x="1212240" y="5051456"/>
            <a:ext cx="360000" cy="359410"/>
          </a:xfrm>
          <a:prstGeom prst="rect">
            <a:avLst/>
          </a:prstGeom>
        </p:spPr>
      </p:pic>
      <p:sp>
        <p:nvSpPr>
          <p:cNvPr id="75" name="Text Box 27"/>
          <p:cNvSpPr txBox="1">
            <a:spLocks noChangeArrowheads="1"/>
          </p:cNvSpPr>
          <p:nvPr/>
        </p:nvSpPr>
        <p:spPr bwMode="auto">
          <a:xfrm>
            <a:off x="1624330" y="504380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80" name="Text Box 27"/>
          <p:cNvSpPr txBox="1">
            <a:spLocks noChangeArrowheads="1"/>
          </p:cNvSpPr>
          <p:nvPr/>
        </p:nvSpPr>
        <p:spPr bwMode="auto">
          <a:xfrm>
            <a:off x="3479800" y="483235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81" name="Text Box 27"/>
          <p:cNvSpPr txBox="1">
            <a:spLocks noChangeArrowheads="1"/>
          </p:cNvSpPr>
          <p:nvPr/>
        </p:nvSpPr>
        <p:spPr bwMode="auto">
          <a:xfrm>
            <a:off x="1211580" y="33477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82" name="Text Box 27"/>
          <p:cNvSpPr txBox="1">
            <a:spLocks noChangeArrowheads="1"/>
          </p:cNvSpPr>
          <p:nvPr/>
        </p:nvSpPr>
        <p:spPr bwMode="auto">
          <a:xfrm>
            <a:off x="2964815" y="33521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83" name="Text Box 27"/>
          <p:cNvSpPr txBox="1">
            <a:spLocks noChangeArrowheads="1"/>
          </p:cNvSpPr>
          <p:nvPr/>
        </p:nvSpPr>
        <p:spPr bwMode="auto">
          <a:xfrm>
            <a:off x="3479800" y="564410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84" name="图片 83"/>
          <p:cNvPicPr/>
          <p:nvPr/>
        </p:nvPicPr>
        <p:blipFill>
          <a:blip r:embed="rId12"/>
          <a:stretch>
            <a:fillRect/>
          </a:stretch>
        </p:blipFill>
        <p:spPr>
          <a:xfrm>
            <a:off x="3101767" y="5585559"/>
            <a:ext cx="288000" cy="288000"/>
          </a:xfrm>
          <a:prstGeom prst="rect">
            <a:avLst/>
          </a:prstGeom>
        </p:spPr>
      </p:pic>
      <p:pic>
        <p:nvPicPr>
          <p:cNvPr id="85" name="图片 8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999703" y="5628036"/>
            <a:ext cx="360745" cy="251460"/>
          </a:xfrm>
          <a:prstGeom prst="rect">
            <a:avLst/>
          </a:prstGeom>
        </p:spPr>
      </p:pic>
      <p:pic>
        <p:nvPicPr>
          <p:cNvPr id="87" name="图片 86"/>
          <p:cNvPicPr/>
          <p:nvPr/>
        </p:nvPicPr>
        <p:blipFill>
          <a:blip r:embed="rId8"/>
          <a:stretch>
            <a:fillRect/>
          </a:stretch>
        </p:blipFill>
        <p:spPr>
          <a:xfrm>
            <a:off x="6890702" y="4762895"/>
            <a:ext cx="288000" cy="288290"/>
          </a:xfrm>
          <a:prstGeom prst="rect">
            <a:avLst/>
          </a:prstGeom>
        </p:spPr>
      </p:pic>
      <p:pic>
        <p:nvPicPr>
          <p:cNvPr id="88" name="图片 87"/>
          <p:cNvPicPr/>
          <p:nvPr/>
        </p:nvPicPr>
        <p:blipFill>
          <a:blip r:embed="rId9"/>
          <a:stretch>
            <a:fillRect/>
          </a:stretch>
        </p:blipFill>
        <p:spPr>
          <a:xfrm>
            <a:off x="6890875" y="3943400"/>
            <a:ext cx="287655" cy="288000"/>
          </a:xfrm>
          <a:prstGeom prst="rect">
            <a:avLst/>
          </a:prstGeom>
        </p:spPr>
      </p:pic>
      <p:sp>
        <p:nvSpPr>
          <p:cNvPr id="89" name="Text Box 27"/>
          <p:cNvSpPr txBox="1">
            <a:spLocks noChangeArrowheads="1"/>
          </p:cNvSpPr>
          <p:nvPr/>
        </p:nvSpPr>
        <p:spPr bwMode="auto">
          <a:xfrm>
            <a:off x="7268210" y="398907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90" name="Text Box 27"/>
          <p:cNvSpPr txBox="1">
            <a:spLocks noChangeArrowheads="1"/>
          </p:cNvSpPr>
          <p:nvPr/>
        </p:nvSpPr>
        <p:spPr bwMode="auto">
          <a:xfrm>
            <a:off x="5461635" y="56146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1" name="图片 90"/>
          <p:cNvPicPr/>
          <p:nvPr/>
        </p:nvPicPr>
        <p:blipFill>
          <a:blip r:embed="rId11">
            <a:extLst>
              <a:ext uri="{28A0092B-C50C-407E-A947-70E740481C1C}">
                <a14:useLocalDpi xmlns:a14="http://schemas.microsoft.com/office/drawing/2010/main" val="0"/>
              </a:ext>
            </a:extLst>
          </a:blip>
          <a:stretch>
            <a:fillRect/>
          </a:stretch>
        </p:blipFill>
        <p:spPr>
          <a:xfrm>
            <a:off x="5000714" y="3912946"/>
            <a:ext cx="360000" cy="360000"/>
          </a:xfrm>
          <a:prstGeom prst="rect">
            <a:avLst/>
          </a:prstGeom>
        </p:spPr>
      </p:pic>
      <p:pic>
        <p:nvPicPr>
          <p:cNvPr id="92" name="图片 91"/>
          <p:cNvPicPr/>
          <p:nvPr/>
        </p:nvPicPr>
        <p:blipFill>
          <a:blip r:embed="rId11">
            <a:extLst>
              <a:ext uri="{28A0092B-C50C-407E-A947-70E740481C1C}">
                <a14:useLocalDpi xmlns:a14="http://schemas.microsoft.com/office/drawing/2010/main" val="0"/>
              </a:ext>
            </a:extLst>
          </a:blip>
          <a:stretch>
            <a:fillRect/>
          </a:stretch>
        </p:blipFill>
        <p:spPr>
          <a:xfrm>
            <a:off x="5000650" y="4485036"/>
            <a:ext cx="360000" cy="359410"/>
          </a:xfrm>
          <a:prstGeom prst="rect">
            <a:avLst/>
          </a:prstGeom>
        </p:spPr>
      </p:pic>
      <p:sp>
        <p:nvSpPr>
          <p:cNvPr id="93" name="Text Box 27"/>
          <p:cNvSpPr txBox="1">
            <a:spLocks noChangeArrowheads="1"/>
          </p:cNvSpPr>
          <p:nvPr/>
        </p:nvSpPr>
        <p:spPr bwMode="auto">
          <a:xfrm>
            <a:off x="5412740" y="391731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4" name="Text Box 27"/>
          <p:cNvSpPr txBox="1">
            <a:spLocks noChangeArrowheads="1"/>
          </p:cNvSpPr>
          <p:nvPr/>
        </p:nvSpPr>
        <p:spPr bwMode="auto">
          <a:xfrm>
            <a:off x="5412740" y="448310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5" name="图片 94"/>
          <p:cNvPicPr/>
          <p:nvPr/>
        </p:nvPicPr>
        <p:blipFill>
          <a:blip r:embed="rId11">
            <a:extLst>
              <a:ext uri="{28A0092B-C50C-407E-A947-70E740481C1C}">
                <a14:useLocalDpi xmlns:a14="http://schemas.microsoft.com/office/drawing/2010/main" val="0"/>
              </a:ext>
            </a:extLst>
          </a:blip>
          <a:stretch>
            <a:fillRect/>
          </a:stretch>
        </p:blipFill>
        <p:spPr>
          <a:xfrm>
            <a:off x="5000650" y="5056536"/>
            <a:ext cx="360000" cy="359410"/>
          </a:xfrm>
          <a:prstGeom prst="rect">
            <a:avLst/>
          </a:prstGeom>
        </p:spPr>
      </p:pic>
      <p:sp>
        <p:nvSpPr>
          <p:cNvPr id="96" name="Text Box 27"/>
          <p:cNvSpPr txBox="1">
            <a:spLocks noChangeArrowheads="1"/>
          </p:cNvSpPr>
          <p:nvPr/>
        </p:nvSpPr>
        <p:spPr bwMode="auto">
          <a:xfrm>
            <a:off x="5412740" y="50488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7" name="Text Box 27"/>
          <p:cNvSpPr txBox="1">
            <a:spLocks noChangeArrowheads="1"/>
          </p:cNvSpPr>
          <p:nvPr/>
        </p:nvSpPr>
        <p:spPr bwMode="auto">
          <a:xfrm>
            <a:off x="7268210" y="483743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98" name="Text Box 27"/>
          <p:cNvSpPr txBox="1">
            <a:spLocks noChangeArrowheads="1"/>
          </p:cNvSpPr>
          <p:nvPr/>
        </p:nvSpPr>
        <p:spPr bwMode="auto">
          <a:xfrm>
            <a:off x="7268210" y="564918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99" name="图片 98"/>
          <p:cNvPicPr/>
          <p:nvPr/>
        </p:nvPicPr>
        <p:blipFill>
          <a:blip r:embed="rId12"/>
          <a:stretch>
            <a:fillRect/>
          </a:stretch>
        </p:blipFill>
        <p:spPr>
          <a:xfrm>
            <a:off x="6890177" y="5590639"/>
            <a:ext cx="288000" cy="288000"/>
          </a:xfrm>
          <a:prstGeom prst="rect">
            <a:avLst/>
          </a:prstGeom>
        </p:spPr>
      </p:pic>
      <p:sp>
        <p:nvSpPr>
          <p:cNvPr id="100" name="Text Box 27"/>
          <p:cNvSpPr txBox="1">
            <a:spLocks noChangeArrowheads="1"/>
          </p:cNvSpPr>
          <p:nvPr/>
        </p:nvSpPr>
        <p:spPr bwMode="auto">
          <a:xfrm>
            <a:off x="5033010" y="3352165"/>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01" name="Text Box 27"/>
          <p:cNvSpPr txBox="1">
            <a:spLocks noChangeArrowheads="1"/>
          </p:cNvSpPr>
          <p:nvPr/>
        </p:nvSpPr>
        <p:spPr bwMode="auto">
          <a:xfrm>
            <a:off x="6786245" y="335661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102" name="Text Box 27"/>
          <p:cNvSpPr txBox="1">
            <a:spLocks noChangeArrowheads="1"/>
          </p:cNvSpPr>
          <p:nvPr/>
        </p:nvSpPr>
        <p:spPr bwMode="auto">
          <a:xfrm>
            <a:off x="6786245" y="5117465"/>
            <a:ext cx="1623695" cy="39878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1000" dirty="0">
                <a:solidFill>
                  <a:srgbClr val="000000"/>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rgbClr val="000000"/>
              </a:solidFill>
              <a:highlight>
                <a:srgbClr val="FFFF00"/>
              </a:highlight>
              <a:latin typeface="Heiti SC Light" panose="02000000000000000000" charset="-122"/>
              <a:ea typeface="Heiti SC Light" panose="02000000000000000000" charset="-122"/>
            </a:endParaRPr>
          </a:p>
        </p:txBody>
      </p:sp>
      <p:sp>
        <p:nvSpPr>
          <p:cNvPr id="103" name="Text Box 27"/>
          <p:cNvSpPr txBox="1">
            <a:spLocks noChangeArrowheads="1"/>
          </p:cNvSpPr>
          <p:nvPr/>
        </p:nvSpPr>
        <p:spPr bwMode="auto">
          <a:xfrm>
            <a:off x="8296749" y="3347523"/>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FF0000"/>
                </a:solidFill>
                <a:latin typeface="Heiti SC Light" panose="02000000000000000000" charset="-122"/>
                <a:ea typeface="Heiti SC Light" panose="02000000000000000000" charset="-122"/>
              </a:rPr>
              <a:t>安全</a:t>
            </a:r>
            <a:r>
              <a:rPr lang="zh-CN" altLang="en-US" sz="1200" dirty="0">
                <a:solidFill>
                  <a:srgbClr val="FF0000"/>
                </a:solidFill>
                <a:latin typeface="Heiti SC Light" panose="02000000000000000000" charset="-122"/>
                <a:ea typeface="Heiti SC Light" panose="02000000000000000000" charset="-122"/>
              </a:rPr>
              <a:t>红区</a:t>
            </a:r>
            <a:endParaRPr lang="zh-CN" altLang="en-US" sz="1200" dirty="0">
              <a:solidFill>
                <a:srgbClr val="FF0000"/>
              </a:solidFill>
              <a:latin typeface="Heiti SC Light" panose="02000000000000000000" charset="-122"/>
              <a:ea typeface="Heiti SC Light" panose="02000000000000000000" charset="-122"/>
            </a:endParaRPr>
          </a:p>
        </p:txBody>
      </p:sp>
      <p:pic>
        <p:nvPicPr>
          <p:cNvPr id="104" name="图片 10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60173" y="4916836"/>
            <a:ext cx="360745" cy="251460"/>
          </a:xfrm>
          <a:prstGeom prst="rect">
            <a:avLst/>
          </a:prstGeom>
        </p:spPr>
      </p:pic>
      <p:sp>
        <p:nvSpPr>
          <p:cNvPr id="105" name="Text Box 27"/>
          <p:cNvSpPr txBox="1">
            <a:spLocks noChangeArrowheads="1"/>
          </p:cNvSpPr>
          <p:nvPr/>
        </p:nvSpPr>
        <p:spPr bwMode="auto">
          <a:xfrm>
            <a:off x="9222105" y="49034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106" name="图片 105"/>
          <p:cNvPicPr/>
          <p:nvPr/>
        </p:nvPicPr>
        <p:blipFill>
          <a:blip r:embed="rId11">
            <a:extLst>
              <a:ext uri="{28A0092B-C50C-407E-A947-70E740481C1C}">
                <a14:useLocalDpi xmlns:a14="http://schemas.microsoft.com/office/drawing/2010/main" val="0"/>
              </a:ext>
            </a:extLst>
          </a:blip>
          <a:stretch>
            <a:fillRect/>
          </a:stretch>
        </p:blipFill>
        <p:spPr>
          <a:xfrm>
            <a:off x="8761120" y="4345336"/>
            <a:ext cx="360000" cy="359410"/>
          </a:xfrm>
          <a:prstGeom prst="rect">
            <a:avLst/>
          </a:prstGeom>
        </p:spPr>
      </p:pic>
      <p:sp>
        <p:nvSpPr>
          <p:cNvPr id="107" name="Text Box 27"/>
          <p:cNvSpPr txBox="1">
            <a:spLocks noChangeArrowheads="1"/>
          </p:cNvSpPr>
          <p:nvPr/>
        </p:nvSpPr>
        <p:spPr bwMode="auto">
          <a:xfrm>
            <a:off x="9173210" y="43376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108" name="Text Box 27"/>
          <p:cNvSpPr txBox="1">
            <a:spLocks noChangeArrowheads="1"/>
          </p:cNvSpPr>
          <p:nvPr/>
        </p:nvSpPr>
        <p:spPr bwMode="auto">
          <a:xfrm>
            <a:off x="10995660" y="4623435"/>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保护</a:t>
            </a:r>
            <a:endParaRPr lang="zh-CN" altLang="en-US" sz="800" dirty="0">
              <a:solidFill>
                <a:srgbClr val="000000"/>
              </a:solidFill>
              <a:latin typeface="Heiti SC Light" panose="02000000000000000000" charset="-122"/>
              <a:ea typeface="Heiti SC Light" panose="02000000000000000000" charset="-122"/>
            </a:endParaRPr>
          </a:p>
        </p:txBody>
      </p:sp>
      <p:sp>
        <p:nvSpPr>
          <p:cNvPr id="109" name="Text Box 27"/>
          <p:cNvSpPr txBox="1">
            <a:spLocks noChangeArrowheads="1"/>
          </p:cNvSpPr>
          <p:nvPr/>
        </p:nvSpPr>
        <p:spPr bwMode="auto">
          <a:xfrm>
            <a:off x="8760460" y="33985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13" name="Text Box 27"/>
          <p:cNvSpPr txBox="1">
            <a:spLocks noChangeArrowheads="1"/>
          </p:cNvSpPr>
          <p:nvPr/>
        </p:nvSpPr>
        <p:spPr bwMode="auto">
          <a:xfrm>
            <a:off x="10513695" y="34029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pic>
        <p:nvPicPr>
          <p:cNvPr id="114" name="图片 113"/>
          <p:cNvPicPr/>
          <p:nvPr/>
        </p:nvPicPr>
        <p:blipFill>
          <a:blip r:embed="rId13"/>
          <a:stretch>
            <a:fillRect/>
          </a:stretch>
        </p:blipFill>
        <p:spPr>
          <a:xfrm flipH="1">
            <a:off x="3101434" y="5168175"/>
            <a:ext cx="288000" cy="288000"/>
          </a:xfrm>
          <a:prstGeom prst="rect">
            <a:avLst/>
          </a:prstGeom>
        </p:spPr>
      </p:pic>
      <p:sp>
        <p:nvSpPr>
          <p:cNvPr id="115" name="Text Box 27"/>
          <p:cNvSpPr txBox="1">
            <a:spLocks noChangeArrowheads="1"/>
          </p:cNvSpPr>
          <p:nvPr/>
        </p:nvSpPr>
        <p:spPr bwMode="auto">
          <a:xfrm>
            <a:off x="3479800" y="5191125"/>
            <a:ext cx="490855" cy="2457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安全运营</a:t>
            </a:r>
            <a:r>
              <a:rPr lang="zh-CN" altLang="en-US" sz="800" dirty="0">
                <a:solidFill>
                  <a:srgbClr val="000000"/>
                </a:solidFill>
                <a:latin typeface="Heiti SC Light" panose="02000000000000000000" charset="-122"/>
                <a:ea typeface="Heiti SC Light" panose="02000000000000000000" charset="-122"/>
              </a:rPr>
              <a:t>平台</a:t>
            </a:r>
            <a:endParaRPr lang="zh-CN" altLang="en-US" sz="800" dirty="0">
              <a:solidFill>
                <a:srgbClr val="000000"/>
              </a:solidFill>
              <a:latin typeface="Heiti SC Light" panose="02000000000000000000" charset="-122"/>
              <a:ea typeface="Heiti SC Light" panose="02000000000000000000" charset="-122"/>
            </a:endParaRPr>
          </a:p>
        </p:txBody>
      </p:sp>
      <p:pic>
        <p:nvPicPr>
          <p:cNvPr id="116" name="图片 115"/>
          <p:cNvPicPr/>
          <p:nvPr/>
        </p:nvPicPr>
        <p:blipFill>
          <a:blip r:embed="rId14">
            <a:extLst>
              <a:ext uri="{28A0092B-C50C-407E-A947-70E740481C1C}">
                <a14:useLocalDpi xmlns:a14="http://schemas.microsoft.com/office/drawing/2010/main" val="0"/>
              </a:ext>
            </a:extLst>
          </a:blip>
          <a:stretch>
            <a:fillRect/>
          </a:stretch>
        </p:blipFill>
        <p:spPr>
          <a:xfrm>
            <a:off x="10617622" y="4544244"/>
            <a:ext cx="288000" cy="288000"/>
          </a:xfrm>
          <a:prstGeom prst="rect">
            <a:avLst/>
          </a:prstGeom>
        </p:spPr>
      </p:pic>
      <p:sp>
        <p:nvSpPr>
          <p:cNvPr id="119" name="Text 10"/>
          <p:cNvSpPr/>
          <p:nvPr/>
        </p:nvSpPr>
        <p:spPr>
          <a:xfrm>
            <a:off x="884555" y="5998210"/>
            <a:ext cx="3048000"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具备相对完善的主动安全</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保护能力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0" name="Text 10"/>
          <p:cNvSpPr/>
          <p:nvPr/>
        </p:nvSpPr>
        <p:spPr>
          <a:xfrm>
            <a:off x="4711065"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安全防护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组件部分缺失或监测响应能力</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缺失</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1" name="Text 10"/>
          <p:cNvSpPr/>
          <p:nvPr/>
        </p:nvSpPr>
        <p:spPr>
          <a:xfrm>
            <a:off x="8439150"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仅有基础的边界防护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64" name="Text Box 27"/>
          <p:cNvSpPr txBox="1">
            <a:spLocks noChangeArrowheads="1"/>
          </p:cNvSpPr>
          <p:nvPr/>
        </p:nvSpPr>
        <p:spPr bwMode="auto">
          <a:xfrm>
            <a:off x="10567670" y="4954905"/>
            <a:ext cx="162433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pic>
        <p:nvPicPr>
          <p:cNvPr id="26" name="图片 25"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价值成果</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预期</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7" name="组合 6"/>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9" name="组合 8"/>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10" name="组合 9"/>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
        <p:nvSpPr>
          <p:cNvPr id="11" name="Text Box 27"/>
          <p:cNvSpPr txBox="1">
            <a:spLocks noChangeArrowheads="1"/>
          </p:cNvSpPr>
          <p:nvPr/>
        </p:nvSpPr>
        <p:spPr bwMode="auto">
          <a:xfrm>
            <a:off x="2050415" y="183959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grpSp>
        <p:nvGrpSpPr>
          <p:cNvPr id="12" name="组合 11"/>
          <p:cNvGrpSpPr/>
          <p:nvPr/>
        </p:nvGrpSpPr>
        <p:grpSpPr>
          <a:xfrm>
            <a:off x="224790" y="289878"/>
            <a:ext cx="4462780" cy="327025"/>
            <a:chOff x="533" y="646"/>
            <a:chExt cx="7028"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刷新</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{{company</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下一阶段行动</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计划</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Arial" panose="020B0604020202020204" pitchFamily="34" charset="0"/>
                <a:ea typeface="黑体-简" panose="02000000000000000000" charset="-122"/>
                <a:cs typeface="黑体" panose="02010609060101010101" charset="-122"/>
                <a:sym typeface="+mn-ea"/>
              </a:rPr>
              <a:t>资产管理、威胁监测、漏洞管理、事</a:t>
            </a:r>
            <a:r>
              <a:rPr sz="1600" kern="0" spc="60" dirty="0">
                <a:solidFill>
                  <a:schemeClr val="dk1"/>
                </a:solidFill>
                <a:latin typeface="Arial" panose="020B0604020202020204" pitchFamily="34" charset="0"/>
                <a:ea typeface="黑体-简" panose="02000000000000000000" charset="-122"/>
                <a:cs typeface="黑体" panose="02010609060101010101" charset="-122"/>
                <a:sym typeface="+mn-ea"/>
              </a:rPr>
              <a:t>件处置</a:t>
            </a:r>
            <a:endParaRPr lang="en-US" sz="16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vert="horz" wrap="square" lIns="0" tIns="0" rIns="0" bIns="0" rtlCol="0" anchor="ctr" anchorCtr="0">
            <a:noAutofit/>
          </a:bodyPr>
          <a:lstStyle/>
          <a:p>
            <a:pPr lvl="0" algn="l">
              <a:buClrTx/>
              <a:buSzTx/>
              <a:buFontTx/>
            </a:pPr>
            <a:r>
              <a:rPr lang="zh-CN" altLang="en-US" sz="3200">
                <a:solidFill>
                  <a:srgbClr val="4C61E7"/>
                </a:solidFill>
                <a:latin typeface="Arial" panose="020B0604020202020204" pitchFamily="34" charset="0"/>
                <a:ea typeface="黑体-简" panose="02000000000000000000" charset="-122"/>
                <a:sym typeface="+mn-ea"/>
              </a:rPr>
              <a:t>工作成果详情</a:t>
            </a:r>
            <a:endParaRPr lang="zh-CN" altLang="en-US" sz="3200">
              <a:solidFill>
                <a:srgbClr val="4C61E7"/>
              </a:solidFill>
              <a:latin typeface="Arial" panose="020B0604020202020204" pitchFamily="34" charset="0"/>
              <a:ea typeface="黑体-简" panose="02000000000000000000" charset="-122"/>
              <a:sym typeface="+mn-ea"/>
            </a:endParaRPr>
          </a:p>
        </p:txBody>
      </p:sp>
      <p:sp>
        <p:nvSpPr>
          <p:cNvPr id="6" name="节编号"/>
          <p:cNvSpPr>
            <a:spLocks noGrp="1"/>
          </p:cNvSpPr>
          <p:nvPr>
            <p:ph type="body" sz="quarter" idx="13"/>
            <p:custDataLst>
              <p:tags r:id="rId3"/>
            </p:custDataLst>
          </p:nvPr>
        </p:nvSpPr>
        <p:spPr/>
        <p:txBody>
          <a:bodyPr>
            <a:normAutofit lnSpcReduction="20000"/>
          </a:bodyPr>
          <a:lstStyle/>
          <a:p>
            <a:r>
              <a:rPr lang="zh-CN" altLang="en-US">
                <a:solidFill>
                  <a:srgbClr val="4C61E7"/>
                </a:solidFill>
                <a:latin typeface="Arial Black" panose="020B0A04020102020204" pitchFamily="34" charset="0"/>
                <a:ea typeface="微软雅黑" panose="020B0503020204020204" charset="-122"/>
              </a:rPr>
              <a:t>附录</a:t>
            </a:r>
            <a:endParaRPr lang="zh-CN" altLang="en-US">
              <a:solidFill>
                <a:srgbClr val="4C61E7"/>
              </a:solidFill>
              <a:latin typeface="Arial Black" panose="020B0A04020102020204" pitchFamily="34" charset="0"/>
              <a:ea typeface="微软雅黑" panose="020B0503020204020204"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Arial Black" panose="020B0A04020102020204" pitchFamily="34" charset="0"/>
                <a:ea typeface="微软雅黑" panose="020B0503020204020204" charset="-122"/>
                <a:sym typeface="+mn-ea"/>
              </a:rPr>
              <a:t>安全事件管理详情</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627755" y="2326640"/>
            <a:ext cx="8012430" cy="1512570"/>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pSp>
        <p:nvGrpSpPr>
          <p:cNvPr id="134" name="组合 133"/>
          <p:cNvGrpSpPr/>
          <p:nvPr/>
        </p:nvGrpSpPr>
        <p:grpSpPr>
          <a:xfrm>
            <a:off x="3747770" y="1270000"/>
            <a:ext cx="1428433" cy="1080453"/>
            <a:chOff x="13504" y="5135"/>
            <a:chExt cx="4499" cy="3403"/>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7" name="文本框 136"/>
            <p:cNvSpPr txBox="1"/>
            <p:nvPr/>
          </p:nvSpPr>
          <p:spPr>
            <a:xfrm>
              <a:off x="13504" y="7971"/>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5187" y="5135"/>
              <a:ext cx="1134" cy="1134"/>
            </a:xfrm>
            <a:prstGeom prst="rect">
              <a:avLst/>
            </a:prstGeom>
          </p:spPr>
        </p:pic>
      </p:grpSp>
      <p:grpSp>
        <p:nvGrpSpPr>
          <p:cNvPr id="139" name="组合 138"/>
          <p:cNvGrpSpPr/>
          <p:nvPr/>
        </p:nvGrpSpPr>
        <p:grpSpPr>
          <a:xfrm>
            <a:off x="5424805" y="1270000"/>
            <a:ext cx="2378075" cy="1058863"/>
            <a:chOff x="17104" y="5135"/>
            <a:chExt cx="7490" cy="3335"/>
          </a:xfrm>
        </p:grpSpPr>
        <p:pic>
          <p:nvPicPr>
            <p:cNvPr id="140" name="图片 139" descr="极速响应"/>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187"/>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{{average_response_time}}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3" name="文本框 142"/>
            <p:cNvSpPr txBox="1"/>
            <p:nvPr/>
          </p:nvSpPr>
          <p:spPr>
            <a:xfrm>
              <a:off x="18604" y="7903"/>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7813040" y="1280795"/>
            <a:ext cx="1869440" cy="1021081"/>
            <a:chOff x="22605" y="5162"/>
            <a:chExt cx="5888" cy="3216"/>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178"/>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{{average_resolution_</a:t>
              </a: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duration}}</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7" name="文本框 146"/>
            <p:cNvSpPr txBox="1"/>
            <p:nvPr/>
          </p:nvSpPr>
          <p:spPr>
            <a:xfrm>
              <a:off x="23235" y="7811"/>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4918" y="5162"/>
              <a:ext cx="1134" cy="1134"/>
            </a:xfrm>
            <a:prstGeom prst="rect">
              <a:avLst/>
            </a:prstGeom>
          </p:spPr>
        </p:pic>
      </p:grpSp>
      <p:grpSp>
        <p:nvGrpSpPr>
          <p:cNvPr id="149" name="组合 148"/>
          <p:cNvGrpSpPr/>
          <p:nvPr/>
        </p:nvGrpSpPr>
        <p:grpSpPr>
          <a:xfrm>
            <a:off x="9702405" y="1280795"/>
            <a:ext cx="2310913" cy="1048068"/>
            <a:chOff x="29119" y="5135"/>
            <a:chExt cx="7272" cy="3301"/>
          </a:xfrm>
        </p:grpSpPr>
        <p:pic>
          <p:nvPicPr>
            <p:cNvPr id="150" name="图片 149" descr="招标结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167"/>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{{event_closed_loop_rate}}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53" name="文本框 152"/>
            <p:cNvSpPr txBox="1"/>
            <p:nvPr/>
          </p:nvSpPr>
          <p:spPr>
            <a:xfrm>
              <a:off x="30517" y="7869"/>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1"/>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P27_pie}</a:t>
            </a:r>
            <a:r>
              <a:rPr lang="zh-CN" altLang="en-US">
                <a:sym typeface="+mn-ea"/>
              </a:rPr>
              <a:t>}</a:t>
            </a:r>
            <a:endParaRPr lang="zh-CN" altLang="en-US">
              <a:sym typeface="+mn-ea"/>
            </a:endParaRPr>
          </a:p>
        </p:txBody>
      </p:sp>
      <p:graphicFrame>
        <p:nvGraphicFramePr>
          <p:cNvPr id="4" name="图表 3"/>
          <p:cNvGraphicFramePr/>
          <p:nvPr/>
        </p:nvGraphicFramePr>
        <p:xfrm>
          <a:off x="3782695" y="4467225"/>
          <a:ext cx="2948305" cy="1845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15"/>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平均响应趋势（分钟）</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7" name="textbox 48"/>
          <p:cNvSpPr/>
          <p:nvPr/>
        </p:nvSpPr>
        <p:spPr>
          <a:xfrm>
            <a:off x="875665" y="1275715"/>
            <a:ext cx="2745105" cy="2520315"/>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94107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多级安全响应流程</a:t>
            </a:r>
            <a:endPar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16"/>
            </p:custDataLst>
          </p:nvPr>
        </p:nvGrpSpPr>
        <p:grpSpPr>
          <a:xfrm>
            <a:off x="959480" y="1726109"/>
            <a:ext cx="2561008" cy="403783"/>
            <a:chOff x="3275" y="5404"/>
            <a:chExt cx="8112" cy="1279"/>
          </a:xfrm>
        </p:grpSpPr>
        <p:sp>
          <p:nvSpPr>
            <p:cNvPr id="69" name="圆角矩形 14"/>
            <p:cNvSpPr/>
            <p:nvPr>
              <p:custDataLst>
                <p:tags r:id="rId17"/>
              </p:custDataLst>
            </p:nvPr>
          </p:nvSpPr>
          <p:spPr>
            <a:xfrm>
              <a:off x="3275" y="5498"/>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L1</a:t>
              </a:r>
              <a:r>
                <a:rPr lang="en-US"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spc="10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自动检测</a:t>
              </a:r>
              <a:endParaRPr sz="1000" b="1" dirty="0">
                <a:latin typeface="Arial" panose="020B0604020202020204" pitchFamily="34" charset="0"/>
                <a:ea typeface="黑体-简" panose="02000000000000000000"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7*24小时智能检测，平均检出时间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18"/>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9"/>
            </p:custDataLst>
          </p:nvPr>
        </p:nvGrpSpPr>
        <p:grpSpPr>
          <a:xfrm>
            <a:off x="958533" y="2248780"/>
            <a:ext cx="2561008" cy="408341"/>
            <a:chOff x="3275" y="7389"/>
            <a:chExt cx="8112" cy="1293"/>
          </a:xfrm>
        </p:grpSpPr>
        <p:sp>
          <p:nvSpPr>
            <p:cNvPr id="72" name="圆角矩形 14"/>
            <p:cNvSpPr/>
            <p:nvPr>
              <p:custDataLst>
                <p:tags r:id="rId20"/>
              </p:custDataLst>
            </p:nvPr>
          </p:nvSpPr>
          <p:spPr>
            <a:xfrm>
              <a:off x="3275" y="7497"/>
              <a:ext cx="8112"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L2</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专家分析</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专家研判分析，平</a:t>
              </a: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均响应时间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3" name="圆角矩形 72"/>
            <p:cNvSpPr/>
            <p:nvPr>
              <p:custDataLst>
                <p:tags r:id="rId21"/>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22"/>
            </p:custDataLst>
          </p:nvPr>
        </p:nvGrpSpPr>
        <p:grpSpPr>
          <a:xfrm>
            <a:off x="959480" y="2776166"/>
            <a:ext cx="2561008" cy="402818"/>
            <a:chOff x="3275" y="9388"/>
            <a:chExt cx="8112" cy="1276"/>
          </a:xfrm>
        </p:grpSpPr>
        <p:sp>
          <p:nvSpPr>
            <p:cNvPr id="78" name="圆角矩形 14"/>
            <p:cNvSpPr/>
            <p:nvPr>
              <p:custDataLst>
                <p:tags r:id="rId23"/>
              </p:custDataLst>
            </p:nvPr>
          </p:nvSpPr>
          <p:spPr>
            <a:xfrm>
              <a:off x="3275" y="9479"/>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L3</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应急处置</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制定处置方案，平均处置时间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2小时</a:t>
              </a:r>
              <a:endParaRPr lang="zh-CN" alt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0" name="圆角矩形 79"/>
            <p:cNvSpPr/>
            <p:nvPr>
              <p:custDataLst>
                <p:tags r:id="rId24"/>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25"/>
            </p:custDataLst>
          </p:nvPr>
        </p:nvGrpSpPr>
        <p:grpSpPr>
          <a:xfrm>
            <a:off x="958533" y="3297892"/>
            <a:ext cx="2561008" cy="378960"/>
            <a:chOff x="3275" y="11370"/>
            <a:chExt cx="8112" cy="1200"/>
          </a:xfrm>
        </p:grpSpPr>
        <p:sp>
          <p:nvSpPr>
            <p:cNvPr id="84" name="圆角矩形 14"/>
            <p:cNvSpPr/>
            <p:nvPr>
              <p:custDataLst>
                <p:tags r:id="rId26"/>
              </p:custDataLst>
            </p:nvPr>
          </p:nvSpPr>
          <p:spPr>
            <a:xfrm>
              <a:off x="3275" y="11442"/>
              <a:ext cx="8112"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L4</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闭环验证</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endParaRPr sz="1000" b="1" dirty="0">
                <a:latin typeface="Arial" panose="020B0604020202020204" pitchFamily="34" charset="0"/>
                <a:ea typeface="黑体-简" panose="02000000000000000000"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处置效果验证，平均闭环时间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lang="en-US"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24</a:t>
              </a:r>
              <a:r>
                <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小时</a:t>
              </a:r>
              <a:endPar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8" name="圆角矩形 87"/>
            <p:cNvSpPr/>
            <p:nvPr>
              <p:custDataLst>
                <p:tags r:id="rId27"/>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sp>
        <p:nvSpPr>
          <p:cNvPr id="8" name="文本框 7"/>
          <p:cNvSpPr txBox="1"/>
          <p:nvPr/>
        </p:nvSpPr>
        <p:spPr>
          <a:xfrm>
            <a:off x="3449955" y="1911985"/>
            <a:ext cx="2005965" cy="324485"/>
          </a:xfrm>
          <a:prstGeom prst="rect">
            <a:avLst/>
          </a:prstGeom>
          <a:noFill/>
        </p:spPr>
        <p:txBody>
          <a:bodyPr wrap="square" rtlCol="0" anchor="t">
            <a:spAutoFit/>
          </a:bodyPr>
          <a:p>
            <a:pPr marL="0" algn="ctr" rtl="0" eaLnBrk="0">
              <a:lnSpc>
                <a:spcPct val="76000"/>
              </a:lnSpc>
              <a:spcBef>
                <a:spcPts val="520"/>
              </a:spcBef>
            </a:pPr>
            <a:r>
              <a:rPr lang="en-US" sz="2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{{incident_total}}</a:t>
            </a:r>
            <a:endParaRPr lang="en-US" sz="2000" dirty="0">
              <a:solidFill>
                <a:srgbClr val="365FD9"/>
              </a:solidFill>
              <a:latin typeface="Arial" panose="020B0604020202020204" pitchFamily="34" charset="0"/>
              <a:ea typeface="黑体-简" panose="02000000000000000000" charset="-122"/>
              <a:cs typeface="微软雅黑" panose="020B0503020204020204" pitchFamily="34" charset="-120"/>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P27_bar}</a:t>
            </a:r>
            <a:r>
              <a:rPr lang="zh-CN" altLang="en-US">
                <a:sym typeface="+mn-ea"/>
              </a:rPr>
              <a:t>}</a:t>
            </a:r>
            <a:endParaRPr lang="zh-CN" altLang="en-US">
              <a:sym typeface="+mn-ea"/>
            </a:endParaRPr>
          </a:p>
        </p:txBody>
      </p:sp>
      <p:sp>
        <p:nvSpPr>
          <p:cNvPr id="10" name="文本框 9"/>
          <p:cNvSpPr txBox="1"/>
          <p:nvPr/>
        </p:nvSpPr>
        <p:spPr>
          <a:xfrm>
            <a:off x="10146665" y="4821555"/>
            <a:ext cx="1506855" cy="368300"/>
          </a:xfrm>
          <a:prstGeom prst="rect">
            <a:avLst/>
          </a:prstGeom>
          <a:noFill/>
        </p:spPr>
        <p:txBody>
          <a:bodyPr wrap="square" rtlCol="0" anchor="t">
            <a:spAutoFit/>
          </a:bodyPr>
          <a:p>
            <a:r>
              <a:rPr lang="zh-CN" altLang="en-US">
                <a:sym typeface="+mn-ea"/>
              </a:rPr>
              <a:t>{{</a:t>
            </a:r>
            <a:r>
              <a:rPr lang="en-US" altLang="zh-CN">
                <a:sym typeface="+mn-ea"/>
              </a:rPr>
              <a:t>P27_line</a:t>
            </a:r>
            <a:r>
              <a:rPr lang="en-US" altLang="zh-CN">
                <a:sym typeface="+mn-ea"/>
              </a:rPr>
              <a:t>}</a:t>
            </a:r>
            <a:r>
              <a:rPr lang="zh-CN" altLang="en-US">
                <a:sym typeface="+mn-ea"/>
              </a:rPr>
              <a:t>}</a:t>
            </a:r>
            <a:endParaRPr lang="zh-CN" altLang="en-US">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威胁趋势分析</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P28_line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P28_pie_1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P28_pie_2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P28_bar</a:t>
            </a:r>
            <a:r>
              <a:rPr lang="zh-CN" altLang="en-US" sz="800">
                <a:sym typeface="+mn-ea"/>
              </a:rPr>
              <a:t>}}</a:t>
            </a:r>
            <a:endParaRPr lang="zh-CN" altLang="en-US" sz="800">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P29_pie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P29_line</a:t>
            </a:r>
            <a:r>
              <a:rPr lang="zh-CN" altLang="en-US">
                <a:sym typeface="+mn-ea"/>
              </a:rPr>
              <a:t>}}</a:t>
            </a:r>
            <a:endParaRPr lang="zh-CN" altLang="en-US">
              <a:sym typeface="+mn-ea"/>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重要时期保障工作详情</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30</a:t>
            </a:r>
            <a:r>
              <a:rPr lang="zh-CN" altLang="en-US"/>
              <a:t>_combo}}</a:t>
            </a:r>
            <a:endParaRPr lang="zh-CN" altLang="en-US"/>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DIAGRAM_VIRTUALLY_FRAME" val="{&quot;height&quot;:384.75,&quot;left&quot;:24,&quot;top&quot;:86.8,&quot;width&quot;:911.2}"/>
</p:tagLst>
</file>

<file path=ppt/tags/tag92.xml><?xml version="1.0" encoding="utf-8"?>
<p:tagLst xmlns:p="http://schemas.openxmlformats.org/presentationml/2006/main">
  <p:tag name="KSO_WM_DIAGRAM_VIRTUALLY_FRAME" val="{&quot;height&quot;:384.75,&quot;left&quot;:24,&quot;top&quot;:86.8,&quot;width&quot;:911.2}"/>
</p:tagLst>
</file>

<file path=ppt/tags/tag93.xml><?xml version="1.0" encoding="utf-8"?>
<p:tagLst xmlns:p="http://schemas.openxmlformats.org/presentationml/2006/main">
  <p:tag name="KSO_WM_DIAGRAM_VIRTUALLY_FRAME" val="{&quot;height&quot;:384.75,&quot;left&quot;:24,&quot;top&quot;:86.8,&quot;width&quot;:911.2}"/>
</p:tagLst>
</file>

<file path=ppt/tags/tag94.xml><?xml version="1.0" encoding="utf-8"?>
<p:tagLst xmlns:p="http://schemas.openxmlformats.org/presentationml/2006/main">
  <p:tag name="KSO_WM_DIAGRAM_VIRTUALLY_FRAME" val="{&quot;height&quot;:384.75,&quot;left&quot;:24,&quot;top&quot;:86.8,&quot;width&quot;:911.2}"/>
</p:tagLst>
</file>

<file path=ppt/tags/tag95.xml><?xml version="1.0" encoding="utf-8"?>
<p:tagLst xmlns:p="http://schemas.openxmlformats.org/presentationml/2006/main">
  <p:tag name="KSO_WM_DIAGRAM_VIRTUALLY_FRAME" val="{&quot;height&quot;:384.75,&quot;left&quot;:24,&quot;top&quot;:86.8,&quot;width&quot;:911.2}"/>
</p:tagLst>
</file>

<file path=ppt/tags/tag96.xml><?xml version="1.0" encoding="utf-8"?>
<p:tagLst xmlns:p="http://schemas.openxmlformats.org/presentationml/2006/main">
  <p:tag name="KSO_WM_DIAGRAM_VIRTUALLY_FRAME" val="{&quot;height&quot;:384.75,&quot;left&quot;:24,&quot;top&quot;:86.8,&quot;width&quot;:911.2}"/>
</p:tagLst>
</file>

<file path=ppt/tags/tag97.xml><?xml version="1.0" encoding="utf-8"?>
<p:tagLst xmlns:p="http://schemas.openxmlformats.org/presentationml/2006/main">
  <p:tag name="KSO_WM_DIAGRAM_VIRTUALLY_FRAME" val="{&quot;height&quot;:384.75,&quot;left&quot;:24,&quot;top&quot;:86.8,&quot;width&quot;:911.2}"/>
</p:tagLst>
</file>

<file path=ppt/tags/tag98.xml><?xml version="1.0" encoding="utf-8"?>
<p:tagLst xmlns:p="http://schemas.openxmlformats.org/presentationml/2006/main">
  <p:tag name="KSO_WM_DIAGRAM_VIRTUALLY_FRAME" val="{&quot;height&quot;:384.75,&quot;left&quot;:24,&quot;top&quot;:86.8,&quot;width&quot;:911.2}"/>
</p:tagLst>
</file>

<file path=ppt/tags/tag99.xml><?xml version="1.0" encoding="utf-8"?>
<p:tagLst xmlns:p="http://schemas.openxmlformats.org/presentationml/2006/main">
  <p:tag name="KSO_WM_DIAGRAM_VIRTUALLY_FRAME" val="{&quot;height&quot;:384.75,&quot;left&quot;:24,&quot;top&quot;:86.8,&quot;width&quot;:911.2}"/>
</p:tagLst>
</file>

<file path=ppt/tags/tag100.xml><?xml version="1.0" encoding="utf-8"?>
<p:tagLst xmlns:p="http://schemas.openxmlformats.org/presentationml/2006/main">
  <p:tag name="KSO_WM_DIAGRAM_VIRTUALLY_FRAME" val="{&quot;height&quot;:384.75,&quot;left&quot;:24,&quot;top&quot;:86.8,&quot;width&quot;:911.2}"/>
</p:tagLst>
</file>

<file path=ppt/tags/tag101.xml><?xml version="1.0" encoding="utf-8"?>
<p:tagLst xmlns:p="http://schemas.openxmlformats.org/presentationml/2006/main">
  <p:tag name="KSO_WM_DIAGRAM_VIRTUALLY_FRAME" val="{&quot;height&quot;:384.75,&quot;left&quot;:24,&quot;top&quot;:86.8,&quot;width&quot;:911.2}"/>
</p:tagLst>
</file>

<file path=ppt/tags/tag102.xml><?xml version="1.0" encoding="utf-8"?>
<p:tagLst xmlns:p="http://schemas.openxmlformats.org/presentationml/2006/main">
  <p:tag name="KSO_WM_DIAGRAM_VIRTUALLY_FRAME" val="{&quot;height&quot;:384.75,&quot;left&quot;:24,&quot;top&quot;:86.8,&quot;width&quot;:911.2}"/>
</p:tagLst>
</file>

<file path=ppt/tags/tag103.xml><?xml version="1.0" encoding="utf-8"?>
<p:tagLst xmlns:p="http://schemas.openxmlformats.org/presentationml/2006/main">
  <p:tag name="KSO_WM_DIAGRAM_VIRTUALLY_FRAME" val="{&quot;height&quot;:384.75,&quot;left&quot;:24,&quot;top&quot;:86.8,&quot;width&quot;:911.2}"/>
</p:tagLst>
</file>

<file path=ppt/tags/tag104.xml><?xml version="1.0" encoding="utf-8"?>
<p:tagLst xmlns:p="http://schemas.openxmlformats.org/presentationml/2006/main">
  <p:tag name="KSO_WM_DIAGRAM_VIRTUALLY_FRAME" val="{&quot;height&quot;:384.75,&quot;left&quot;:24,&quot;top&quot;:86.8,&quot;width&quot;:911.2}"/>
</p:tagLst>
</file>

<file path=ppt/tags/tag105.xml><?xml version="1.0" encoding="utf-8"?>
<p:tagLst xmlns:p="http://schemas.openxmlformats.org/presentationml/2006/main">
  <p:tag name="KSO_WM_DIAGRAM_VIRTUALLY_FRAME" val="{&quot;height&quot;:384.75,&quot;left&quot;:24,&quot;top&quot;:86.8,&quot;width&quot;:911.2}"/>
</p:tagLst>
</file>

<file path=ppt/tags/tag106.xml><?xml version="1.0" encoding="utf-8"?>
<p:tagLst xmlns:p="http://schemas.openxmlformats.org/presentationml/2006/main">
  <p:tag name="KSO_WM_DIAGRAM_VIRTUALLY_FRAME" val="{&quot;height&quot;:384.75,&quot;left&quot;:24,&quot;top&quot;:86.8,&quot;width&quot;:911.2}"/>
</p:tagLst>
</file>

<file path=ppt/tags/tag107.xml><?xml version="1.0" encoding="utf-8"?>
<p:tagLst xmlns:p="http://schemas.openxmlformats.org/presentationml/2006/main">
  <p:tag name="KSO_WM_DIAGRAM_VIRTUALLY_FRAME" val="{&quot;height&quot;:389.6,&quot;left&quot;:211.45,&quot;top&quot;:116.65,&quot;width&quot;:477.55}"/>
</p:tagLst>
</file>

<file path=ppt/tags/tag108.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0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0.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2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2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2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25.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2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27.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28.xml><?xml version="1.0" encoding="utf-8"?>
<p:tagLst xmlns:p="http://schemas.openxmlformats.org/presentationml/2006/main">
  <p:tag name="KSO_WM_SLIDE_ITEM_CNT" val="3"/>
  <p:tag name="resource_record_key" val="{&quot;10&quot;:[3505430,50036384],&quot;29&quot;:[50053024,50052948],&quot;70&quot;:[3405561,3319090,3312439]}"/>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TABLE_ENDDRAG_ORIGIN_RECT" val="435*430"/>
  <p:tag name="TABLE_ENDDRAG_RECT" val="492*90*435*430"/>
</p:tagLst>
</file>

<file path=ppt/tags/tag132.xml><?xml version="1.0" encoding="utf-8"?>
<p:tagLst xmlns:p="http://schemas.openxmlformats.org/presentationml/2006/main">
  <p:tag name="TABLE_ENDDRAG_ORIGIN_RECT" val="435*430"/>
  <p:tag name="TABLE_ENDDRAG_RECT" val="492*90*435*430"/>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TABLE_ENDDRAG_ORIGIN_RECT" val="435*430"/>
  <p:tag name="TABLE_ENDDRAG_RECT" val="492*90*435*430"/>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50.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51.xml><?xml version="1.0" encoding="utf-8"?>
<p:tagLst xmlns:p="http://schemas.openxmlformats.org/presentationml/2006/main">
  <p:tag name="KSO_WM_BEAUTIFY_FLAG" val=""/>
</p:tagLst>
</file>

<file path=ppt/tags/tag152.xml><?xml version="1.0" encoding="utf-8"?>
<p:tagLst xmlns:p="http://schemas.openxmlformats.org/presentationml/2006/main">
  <p:tag name="KSO_WM_BEAUTIFY_FLAG" val=""/>
</p:tagLst>
</file>

<file path=ppt/tags/tag153.xml><?xml version="1.0" encoding="utf-8"?>
<p:tagLst xmlns:p="http://schemas.openxmlformats.org/presentationml/2006/main">
  <p:tag name="KSO_DOCER_RESOURCE_TRACE_INFO" val="{&quot;id&quot;:&quot;&quot;,&quot;origin&quot;:0,&quot;type&quot;:&quot;textbox&quot;,&quot;user&quot;:&quot;451439288&quot;}"/>
</p:tagLst>
</file>

<file path=ppt/tags/tag15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1"/>
  <p:tag name="KSO_WM_UNIT_ID" val="diagram20234922_3*o_h_i*1_1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5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1"/>
  <p:tag name="KSO_WM_UNIT_ID" val="diagram20234922_3*o_h_i*1_2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5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1"/>
  <p:tag name="KSO_WM_UNIT_ID" val="diagram20234922_3*o_h_i*1_4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5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1"/>
  <p:tag name="KSO_WM_UNIT_ID" val="diagram20234922_3*o_h_i*1_3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5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i"/>
  <p:tag name="KSO_WM_UNIT_INDEX" val="1_1"/>
  <p:tag name="KSO_WM_UNIT_ID" val="diagram20234922_3*o_i*1_1"/>
  <p:tag name="KSO_WM_TEMPLATE_CATEGORY" val="diagram"/>
  <p:tag name="KSO_WM_TEMPLATE_INDEX" val="20234922"/>
  <p:tag name="KSO_WM_UNIT_LAYERLEVEL" val="1_1"/>
  <p:tag name="KSO_WM_TAG_VERSION" val="3.0"/>
  <p:tag name="KSO_WM_UNIT_FILL_TYPE" val="3"/>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gradient&quot;:[{&quot;brightness&quot;:0,&quot;colorType&quot;:1,&quot;foreColorIndex&quot;:5,&quot;pos&quot;:0,&quot;transparency&quot;:1},{&quot;brightness&quot;:0,&quot;colorType&quot;:1,&quot;foreColorIndex&quot;:5,&quot;pos&quot;:0.4000000059604645,&quot;transparency&quot;:0.699999988079071},{&quot;brightness&quot;:0,&quot;colorType&quot;:1,&quot;foreColorIndex&quot;:5,&quot;pos&quot;:0.20000000298023224,&quot;transparency&quot;:0.8500000238418579},{&quot;brightness&quot;:0,&quot;colorType&quot;:1,&quot;foreColorIndex&quot;:5,&quot;pos&quot;:0.949999988079071,&quot;transparency&quot;:1},{&quot;brightness&quot;:0,&quot;colorType&quot;:1,&quot;foreColorIndex&quot;:5,&quot;pos&quot;:0.6000000238418579,&quot;transparency&quot;:0.80000001192092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i"/>
  <p:tag name="KSO_WM_UNIT_INDEX" val="1_2"/>
  <p:tag name="KSO_WM_UNIT_ID" val="diagram20234922_3*o_i*1_2"/>
  <p:tag name="KSO_WM_TEMPLATE_CATEGORY" val="diagram"/>
  <p:tag name="KSO_WM_TEMPLATE_INDEX" val="20234922"/>
  <p:tag name="KSO_WM_UNIT_LAYERLEVEL" val="1_1"/>
  <p:tag name="KSO_WM_TAG_VERSION" val="3.0"/>
  <p:tag name="KSO_WM_UNIT_FILL_TYPE" val="3"/>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gradient&quot;:[{&quot;brightness&quot;:0,&quot;colorType&quot;:1,&quot;foreColorIndex&quot;:5,&quot;pos&quot;:0.10000000149011612,&quot;transparency&quot;:1},{&quot;brightness&quot;:0,&quot;colorType&quot;:1,&quot;foreColorIndex&quot;:5,&quot;pos&quot;:0.4000000059604645,&quot;transparency&quot;:0.800000011920929},{&quot;brightness&quot;:0,&quot;colorType&quot;:1,&quot;foreColorIndex&quot;:5,&quot;pos&quot;:0.20000000298023224,&quot;transparency&quot;:0.8500000238418579},{&quot;brightness&quot;:0,&quot;colorType&quot;:1,&quot;foreColorIndex&quot;:5,&quot;pos&quot;:0.8500000238418579,&quot;transparency&quot;:1},{&quot;brightness&quot;:0,&quot;colorType&quot;:1,&quot;foreColorIndex&quot;:5,&quot;pos&quot;:0.6000000238418579,&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4922_3*o_h_i*1_1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999999761581421},{&quot;brightness&quot;:0,&quot;colorType&quot;:1,&quot;foreColorIndex&quot;:5,&quot;pos&quot;:1,&quot;transparency&quot;:0.5}],&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4922_3*o_h_i*1_2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999999761581421},{&quot;brightness&quot;:0,&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4922_3*o_h_i*1_3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00000011920929},{&quot;brightness&quot;:0,&quot;colorType&quot;:1,&quot;foreColorIndex&quot;:5,&quot;pos&quot;:1,&quot;transparency&quot;:0.20000000298023224}],&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4922_3*o_h_i*1_4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00000011920929},{&quot;brightness&quot;:0,&quot;colorType&quot;:1,&quot;foreColorIndex&quot;:5,&quot;pos&quot;:1,&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4922_3*o_h_a*1_1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4000000059604645},&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65.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4922_3*o_h_a*1_2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6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4922_3*o_h_a*1_3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6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4_1"/>
  <p:tag name="KSO_WM_UNIT_ID" val="diagram20234922_3*o_h_a*1_4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20000000298023224},&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6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4922_3*o_h_f*1_1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69.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4922_3*o_h_f*1_2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70.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4922_3*o_h_f*1_3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71.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4922_3*o_h_f*1_4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72.xml><?xml version="1.0" encoding="utf-8"?>
<p:tagLst xmlns:p="http://schemas.openxmlformats.org/presentationml/2006/main">
  <p:tag name="KSO_WM_SLIDE_ITEM_CNT" val="3"/>
  <p:tag name="resource_record_key" val="{&quot;70&quot;:[3429242]}"/>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BEAUTIFY_FLAG" val=""/>
</p:tagLst>
</file>

<file path=ppt/tags/tag175.xml><?xml version="1.0" encoding="utf-8"?>
<p:tagLst xmlns:p="http://schemas.openxmlformats.org/presentationml/2006/main">
  <p:tag name="KSO_WM_BEAUTIFY_FLAG" val=""/>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SLIDE_ITEM_CNT" val="3"/>
  <p:tag name="resource_record_key" val="{&quot;70&quot;:[3429242]}"/>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BEAUTIFY_FLAG" val=""/>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
  <p:tag name="KSO_WM_TEMPLATE_CATEGORY" val="diagram"/>
  <p:tag name="KSO_WM_TEMPLATE_INDEX" val="20231439"/>
  <p:tag name="KSO_WM_UNIT_LAYERLEVEL" val="1_1"/>
  <p:tag name="KSO_WM_TAG_VERSION" val="3.0"/>
  <p:tag name="KSO_WM_DIAGRAM_GROUP_CODE" val="l1-1"/>
  <p:tag name="KSO_WM_UNIT_TYPE" val="l_i"/>
  <p:tag name="KSO_WM_UNIT_INDEX" val="1_1"/>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quot;transparency&quot;:1},{&quot;brightness&quot;:0,&quot;colorType&quot;:1,&quot;foreColorIndex&quot;:5,&quot;pos&quot;:1,&quot;transparency&quot;:0.670000016689300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2"/>
  <p:tag name="KSO_WM_TEMPLATE_CATEGORY" val="diagram"/>
  <p:tag name="KSO_WM_TEMPLATE_INDEX" val="20231439"/>
  <p:tag name="KSO_WM_UNIT_LAYERLEVEL" val="1_1"/>
  <p:tag name="KSO_WM_TAG_VERSION" val="3.0"/>
  <p:tag name="KSO_WM_DIAGRAM_GROUP_CODE" val="l1-1"/>
  <p:tag name="KSO_WM_UNIT_TYPE" val="l_i"/>
  <p:tag name="KSO_WM_UNIT_INDEX" val="1_2"/>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10000000149011612,&quot;transparency&quot;:1},{&quot;brightness&quot;:0,&quot;colorType&quot;:1,&quot;foreColorIndex&quot;:5,&quot;pos&quot;:1,&quot;transparency&quot;:0.8799999952316284}],&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3"/>
  <p:tag name="KSO_WM_TEMPLATE_CATEGORY" val="diagram"/>
  <p:tag name="KSO_WM_TEMPLATE_INDEX" val="20231439"/>
  <p:tag name="KSO_WM_UNIT_LAYERLEVEL" val="1_1"/>
  <p:tag name="KSO_WM_TAG_VERSION" val="3.0"/>
  <p:tag name="KSO_WM_DIAGRAM_GROUP_CODE" val="l1-1"/>
  <p:tag name="KSO_WM_UNIT_TYPE" val="l_i"/>
  <p:tag name="KSO_WM_UNIT_INDEX" val="1_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4"/>
  <p:tag name="KSO_WM_TEMPLATE_CATEGORY" val="diagram"/>
  <p:tag name="KSO_WM_TEMPLATE_INDEX" val="20231439"/>
  <p:tag name="KSO_WM_UNIT_LAYERLEVEL" val="1_1"/>
  <p:tag name="KSO_WM_TAG_VERSION" val="3.0"/>
  <p:tag name="KSO_WM_DIAGRAM_GROUP_CODE" val="l1-1"/>
  <p:tag name="KSO_WM_UNIT_TYPE" val="l_i"/>
  <p:tag name="KSO_WM_UNIT_INDEX" val="1_4"/>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5"/>
  <p:tag name="KSO_WM_TEMPLATE_CATEGORY" val="diagram"/>
  <p:tag name="KSO_WM_TEMPLATE_INDEX" val="20231439"/>
  <p:tag name="KSO_WM_UNIT_LAYERLEVEL" val="1_1"/>
  <p:tag name="KSO_WM_TAG_VERSION" val="3.0"/>
  <p:tag name="KSO_WM_DIAGRAM_GROUP_CODE" val="l1-1"/>
  <p:tag name="KSO_WM_UNIT_TYPE" val="l_i"/>
  <p:tag name="KSO_WM_UNIT_INDEX" val="1_5"/>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6"/>
  <p:tag name="KSO_WM_TEMPLATE_CATEGORY" val="diagram"/>
  <p:tag name="KSO_WM_TEMPLATE_INDEX" val="20231439"/>
  <p:tag name="KSO_WM_UNIT_LAYERLEVEL" val="1_1"/>
  <p:tag name="KSO_WM_TAG_VERSION" val="3.0"/>
  <p:tag name="KSO_WM_DIAGRAM_GROUP_CODE" val="l1-1"/>
  <p:tag name="KSO_WM_UNIT_TYPE" val="l_i"/>
  <p:tag name="KSO_WM_UNIT_INDEX" val="1_6"/>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7"/>
  <p:tag name="KSO_WM_TEMPLATE_CATEGORY" val="diagram"/>
  <p:tag name="KSO_WM_TEMPLATE_INDEX" val="20231439"/>
  <p:tag name="KSO_WM_UNIT_LAYERLEVEL" val="1_1"/>
  <p:tag name="KSO_WM_TAG_VERSION" val="3.0"/>
  <p:tag name="KSO_WM_DIAGRAM_GROUP_CODE" val="l1-1"/>
  <p:tag name="KSO_WM_UNIT_TYPE" val="l_i"/>
  <p:tag name="KSO_WM_UNIT_INDEX" val="1_7"/>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8"/>
  <p:tag name="KSO_WM_TEMPLATE_CATEGORY" val="diagram"/>
  <p:tag name="KSO_WM_TEMPLATE_INDEX" val="20231439"/>
  <p:tag name="KSO_WM_UNIT_LAYERLEVEL" val="1_1"/>
  <p:tag name="KSO_WM_TAG_VERSION" val="3.0"/>
  <p:tag name="KSO_WM_DIAGRAM_GROUP_CODE" val="l1-1"/>
  <p:tag name="KSO_WM_UNIT_TYPE" val="l_i"/>
  <p:tag name="KSO_WM_UNIT_INDEX" val="1_8"/>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9"/>
  <p:tag name="KSO_WM_TEMPLATE_CATEGORY" val="diagram"/>
  <p:tag name="KSO_WM_TEMPLATE_INDEX" val="20231439"/>
  <p:tag name="KSO_WM_UNIT_LAYERLEVEL" val="1_1"/>
  <p:tag name="KSO_WM_TAG_VERSION" val="3.0"/>
  <p:tag name="KSO_WM_DIAGRAM_GROUP_CODE" val="l1-1"/>
  <p:tag name="KSO_WM_UNIT_TYPE" val="l_i"/>
  <p:tag name="KSO_WM_UNIT_INDEX" val="1_9"/>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0"/>
  <p:tag name="KSO_WM_TEMPLATE_CATEGORY" val="diagram"/>
  <p:tag name="KSO_WM_TEMPLATE_INDEX" val="20231439"/>
  <p:tag name="KSO_WM_UNIT_LAYERLEVEL" val="1_1"/>
  <p:tag name="KSO_WM_TAG_VERSION" val="3.0"/>
  <p:tag name="KSO_WM_DIAGRAM_GROUP_CODE" val="l1-1"/>
  <p:tag name="KSO_WM_UNIT_TYPE" val="l_i"/>
  <p:tag name="KSO_WM_UNIT_INDEX" val="1_1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999999761581421}],&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3"/>
  <p:tag name="KSO_WM_TEMPLATE_CATEGORY" val="diagram"/>
  <p:tag name="KSO_WM_TEMPLATE_INDEX" val="20231439"/>
  <p:tag name="KSO_WM_UNIT_LAYERLEVEL" val="1_1"/>
  <p:tag name="KSO_WM_TAG_VERSION" val="3.0"/>
  <p:tag name="KSO_WM_DIAGRAM_GROUP_CODE" val="l1-1"/>
  <p:tag name="KSO_WM_UNIT_TYPE" val="l_i"/>
  <p:tag name="KSO_WM_UNIT_INDEX" val="1_1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91.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439_1*l_h_f*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本具体内容文字是您思想的提炼，请尽量言简意赅的阐述您的内容观点。"/>
  <p:tag name="KSO_WM_UNIT_TEXT_FILL_FORE_SCHEMECOLOR_INDEX" val="1"/>
  <p:tag name="KSO_WM_UNIT_TEXT_FILL_TYPE" val="1"/>
  <p:tag name="KSO_WM_DIAGRAM_USE_COLOR_VALUE" val="{&quot;color_scheme&quot;:1,&quot;color_type&quot;:1,&quot;theme_color_indexes&quot;:[9,10,9,10,9,10]}"/>
</p:tagLst>
</file>

<file path=ppt/tags/tag192.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439_1*l_h_f*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19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1439_1*l_h_i*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1439_1*l_h_i*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5.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5023_1*n_h_a*1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389.1749969482422,&quot;left&quot;:51.67501220703125,&quot;top&quot;:94,&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96.xml><?xml version="1.0" encoding="utf-8"?>
<p:tagLst xmlns:p="http://schemas.openxmlformats.org/presentationml/2006/main">
  <p:tag name="TABLE_ENDDRAG_ORIGIN_RECT" val="249*143"/>
  <p:tag name="TABLE_ENDDRAG_RECT" val="50*226*249*143"/>
</p:tagLst>
</file>

<file path=ppt/tags/tag197.xml><?xml version="1.0" encoding="utf-8"?>
<p:tagLst xmlns:p="http://schemas.openxmlformats.org/presentationml/2006/main">
  <p:tag name="TABLE_ENDDRAG_ORIGIN_RECT" val="249*143"/>
  <p:tag name="TABLE_ENDDRAG_RECT" val="50*226*249*143"/>
</p:tagLst>
</file>

<file path=ppt/tags/tag1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3"/>
  <p:tag name="KSO_WM_UNIT_ID" val="diagram20235023_1*n_h_i*2_1_3"/>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9.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2_1_1"/>
  <p:tag name="KSO_WM_UNIT_ID" val="diagram20235023_1*n_h_a*2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BEAUTIFY_FLAG" val="#wm#"/>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2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4"/>
  <p:tag name="KSO_WM_UNIT_ID" val="diagram20235023_1*n_h_i*2_1_4"/>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1,&quot;transparency&quot;:0.44999998807907104}],&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2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1"/>
  <p:tag name="KSO_WM_UNIT_ID" val="diagram20235023_1*n_h_i*2_1_1"/>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2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2"/>
  <p:tag name="KSO_WM_UNIT_ID" val="diagram20235023_1*n_h_i*2_1_2"/>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4000000059604645,&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DIAGRAM_USE_COLOR_VALUE" val="{&quot;color_scheme&quot;:1,&quot;color_type&quot;:1,&quot;theme_color_indexes&quot;:[9,10,9,10,9,10]}"/>
</p:tagLst>
</file>

<file path=ppt/tags/tag20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5"/>
  <p:tag name="KSO_WM_UNIT_ID" val="diagram20235023_1*n_h_i*2_1_5"/>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2,&quot;pos&quot;:0.6600000262260437,&quot;rgb&quot;:&quot;#376fff&quot;,&quot;transparency&quot;:1},{&quot;brightness&quot;:0,&quot;colorType&quot;:1,&quot;foreColorIndex&quot;:5,&quot;pos&quot;:0.14000000059604645,&quot;transparency&quot;:1},{&quot;brightness&quot;:0,&quot;colorType&quot;:2,&quot;pos&quot;:0,&quot;rgb&quot;:&quot;#376fff&quot;,&quot;transparency&quot;:0.8399999737739563},{&quot;brightness&quot;:0,&quot;colorType&quot;:1,&quot;foreColorIndex&quot;:5,&quot;pos&quot;:1,&quot;transparency&quot;:0.800000011920929}],&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204.xml><?xml version="1.0" encoding="utf-8"?>
<p:tagLst xmlns:p="http://schemas.openxmlformats.org/presentationml/2006/main">
  <p:tag name="KSO_WM_SLIDE_ITEM_CNT" val="3"/>
  <p:tag name="resource_record_key" val="{&quot;10&quot;:[3505430,50036384,3504219,4526305],&quot;29&quot;:[50053024,50052948,50052445,50000144],&quot;70&quot;:[3405561,3319090,3312439,3318441,3431215,3332761,3318307]}"/>
</p:tagLst>
</file>

<file path=ppt/tags/tag205.xml><?xml version="1.0" encoding="utf-8"?>
<p:tagLst xmlns:p="http://schemas.openxmlformats.org/presentationml/2006/main">
  <p:tag name="KSO_WM_DIAGRAM_VIRTUALLY_FRAME" val="{&quot;height&quot;:389.6,&quot;left&quot;:211.45,&quot;top&quot;:116.65,&quot;width&quot;:477.55}"/>
</p:tagLst>
</file>

<file path=ppt/tags/tag20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BEAUTIFY_FLAG" val=""/>
</p:tagLst>
</file>

<file path=ppt/tags/tag211.xml><?xml version="1.0" encoding="utf-8"?>
<p:tagLst xmlns:p="http://schemas.openxmlformats.org/presentationml/2006/main">
  <p:tag name="KSO_WM_UNIT_TABLE_BEAUTIFY" val="smartTable{308056d4-60e8-4828-8c13-09e13014fcb7}"/>
  <p:tag name="TABLE_ENDDRAG_ORIGIN_RECT" val="882*397"/>
  <p:tag name="TABLE_ENDDRAG_RECT" val="41*85*882*397"/>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UNIT_TABLE_BEAUTIFY" val="smartTable{828b6f84-1146-45ed-a109-a4b2f2539ba7}"/>
  <p:tag name="TABLE_ENDDRAG_ORIGIN_RECT" val="882*397"/>
  <p:tag name="TABLE_ENDDRAG_RECT" val="41*85*882*397"/>
</p:tagLst>
</file>

<file path=ppt/tags/tag215.xml><?xml version="1.0" encoding="utf-8"?>
<p:tagLst xmlns:p="http://schemas.openxmlformats.org/presentationml/2006/main">
  <p:tag name="KSO_WM_BEAUTIFY_FLAG" val=""/>
</p:tagLst>
</file>

<file path=ppt/tags/tag216.xml><?xml version="1.0" encoding="utf-8"?>
<p:tagLst xmlns:p="http://schemas.openxmlformats.org/presentationml/2006/main">
  <p:tag name="KSO_WM_BEAUTIFY_FLAG" val=""/>
</p:tagLst>
</file>

<file path=ppt/tags/tag217.xml><?xml version="1.0" encoding="utf-8"?>
<p:tagLst xmlns:p="http://schemas.openxmlformats.org/presentationml/2006/main">
  <p:tag name="KSO_WM_UNIT_TABLE_BEAUTIFY" val="smartTable{8401f0c4-1a68-4e22-8787-7a5f1c3614e5}"/>
  <p:tag name="TABLE_ENDDRAG_ORIGIN_RECT" val="882*397"/>
  <p:tag name="TABLE_ENDDRAG_RECT" val="41*85*882*397"/>
</p:tagLst>
</file>

<file path=ppt/tags/tag218.xml><?xml version="1.0" encoding="utf-8"?>
<p:tagLst xmlns:p="http://schemas.openxmlformats.org/presentationml/2006/main">
  <p:tag name="KSO_WM_DIAGRAM_VIRTUALLY_FRAME" val="{&quot;height&quot;:389.6,&quot;left&quot;:211.45,&quot;top&quot;:116.65,&quot;width&quot;:477.55}"/>
</p:tagLst>
</file>

<file path=ppt/tags/tag21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2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2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22.xml><?xml version="1.0" encoding="utf-8"?>
<p:tagLst xmlns:p="http://schemas.openxmlformats.org/presentationml/2006/main">
  <p:tag name="KSO_WM_BEAUTIFY_FLAG" val=""/>
</p:tagLst>
</file>

<file path=ppt/tags/tag223.xml><?xml version="1.0" encoding="utf-8"?>
<p:tagLst xmlns:p="http://schemas.openxmlformats.org/presentationml/2006/main">
  <p:tag name="KSO_WM_BEAUTIFY_FLAG" val=""/>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2"/>
  <p:tag name="KSO_WM_UNIT_ID" val="diagram20231799_1*l_h_i*1_1_2"/>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1,&quot;foreColorIndex&quot;:5,&quot;transparency&quot;:0},&quot;type&quot;:1},&quot;glow&quot;:{&quot;colorType&quot;:0},&quot;line&quot;:{&quot;type&quot;:0},&quot;shadow&quot;:{&quot;brightness&quot;:-0.25,&quot;colorType&quot;:1,&quot;foreColorIndex&quot;:14,&quot;transparency&quot;:0.60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1"/>
  <p:tag name="KSO_WM_UNIT_ID" val="diagram20231799_1*l_h_i*1_1_1"/>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2,&quot;rgb&quot;:&quot;#ffffff&quot;,&quot;transparency&quot;:0},&quot;type&quot;:1},&quot;glow&quot;:{&quot;colorType&quot;:0},&quot;line&quot;:{&quot;type&quot;:0},&quot;shadow&quot;:{&quot;brightness&quot;:0.25,&quot;colorType&quot;:1,&quot;foreColorIndex&quot;:13,&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799_1*l_h_f*1_1_1"/>
  <p:tag name="KSO_WM_TEMPLATE_CATEGORY" val="diagram"/>
  <p:tag name="KSO_WM_TEMPLATE_INDEX" val="20231799"/>
  <p:tag name="KSO_WM_UNIT_LAYERLEVEL" val="1_1_1"/>
  <p:tag name="KSO_WM_TAG_VERSION" val="3.0"/>
  <p:tag name="KSO_WM_UNIT_TEXT_FILL_FORE_SCHEMECOLOR_INDEX_BRIGHTNESS" val="0.15"/>
  <p:tag name="KSO_WM_UNIT_TEXT_FILL_TYPE" val="1"/>
  <p:tag name="KSO_WM_DIAGRAM_VERSION" val="3"/>
  <p:tag name="KSO_WM_DIAGRAM_COLOR_TRICK" val="3"/>
  <p:tag name="KSO_WM_DIAGRAM_COLOR_TEXT_CAN_REMOVE" val="n"/>
  <p:tag name="KSO_WM_DIAGRAM_GROUP_CODE" val="l1-1"/>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333333&quot;,&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单击此处添加文本具体内容，简明扼要地阐述您的观点。根据需要可酌情增减文字，以便观者准确地理解您传达的思想。单击此处添加文本具体内容，简明扼要地阐述您的观点，单击此处添加文本具体内容。"/>
  <p:tag name="KSO_WM_DIAGRAM_USE_COLOR_VALUE" val="{&quot;color_scheme&quot;:1,&quot;color_type&quot;:1,&quot;theme_color_indexes&quot;:[9,10,9,10,9,10]}"/>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TABLE_ENDDRAG_ORIGIN_RECT" val="448*343"/>
  <p:tag name="TABLE_ENDDRAG_RECT" val="60*98*448*343"/>
</p:tagLst>
</file>

<file path=ppt/tags/tag232.xml><?xml version="1.0" encoding="utf-8"?>
<p:tagLst xmlns:p="http://schemas.openxmlformats.org/presentationml/2006/main">
  <p:tag name="TABLE_ENDDRAG_ORIGIN_RECT" val="354*332"/>
  <p:tag name="TABLE_ENDDRAG_RECT" val="537*98*354*332"/>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236.xml><?xml version="1.0" encoding="utf-8"?>
<p:tagLst xmlns:p="http://schemas.openxmlformats.org/presentationml/2006/main">
  <p:tag name="KSO_WM_UNIT_PIC_EFFECT" val="1"/>
</p:tagLst>
</file>

<file path=ppt/tags/tag237.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238.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239.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240.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241.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242.xml><?xml version="1.0" encoding="utf-8"?>
<p:tagLst xmlns:p="http://schemas.openxmlformats.org/presentationml/2006/main">
  <p:tag name="KSO_WM_DIAGRAM_VIRTUALLY_FRAME" val="{&quot;height&quot;:389.6,&quot;left&quot;:211.45,&quot;top&quot;:116.65,&quot;width&quot;:477.55}"/>
</p:tagLst>
</file>

<file path=ppt/tags/tag2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44.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4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4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9.xml><?xml version="1.0" encoding="utf-8"?>
<p:tagLst xmlns:p="http://schemas.openxmlformats.org/presentationml/2006/main">
  <p:tag name="KSO_WM_DIAGRAM_VIRTUALLY_FRAME" val="{&quot;height&quot;:156.26889153427965,&quot;left&quot;:75.475,&quot;top&quot;:135.73110236220472,&quot;width&quot;:201.72872924804696}"/>
</p:tagLst>
</file>

<file path=ppt/tags/tag25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2.xml><?xml version="1.0" encoding="utf-8"?>
<p:tagLst xmlns:p="http://schemas.openxmlformats.org/presentationml/2006/main">
  <p:tag name="KSO_WM_DIAGRAM_VIRTUALLY_FRAME" val="{&quot;height&quot;:156.26889153427965,&quot;left&quot;:75.475,&quot;top&quot;:135.73110236220472,&quot;width&quot;:201.72872924804696}"/>
</p:tagLst>
</file>

<file path=ppt/tags/tag25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5.xml><?xml version="1.0" encoding="utf-8"?>
<p:tagLst xmlns:p="http://schemas.openxmlformats.org/presentationml/2006/main">
  <p:tag name="KSO_WM_DIAGRAM_VIRTUALLY_FRAME" val="{&quot;height&quot;:156.26889153427965,&quot;left&quot;:75.475,&quot;top&quot;:135.73110236220472,&quot;width&quot;:201.72872924804696}"/>
</p:tagLst>
</file>

<file path=ppt/tags/tag25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8.xml><?xml version="1.0" encoding="utf-8"?>
<p:tagLst xmlns:p="http://schemas.openxmlformats.org/presentationml/2006/main">
  <p:tag name="KSO_WM_DIAGRAM_VIRTUALLY_FRAME" val="{&quot;height&quot;:156.26889153427965,&quot;left&quot;:75.475,&quot;top&quot;:135.73110236220472,&quot;width&quot;:201.72872924804696}"/>
</p:tagLst>
</file>

<file path=ppt/tags/tag25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6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6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6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65.xml><?xml version="1.0" encoding="utf-8"?>
<p:tagLst xmlns:p="http://schemas.openxmlformats.org/presentationml/2006/main">
  <p:tag name="KSO_WM_DIAGRAM_VIRTUALLY_FRAME" val="{&quot;height&quot;:443.51889153427965,&quot;left&quot;:59.7,&quot;top&quot;:137.43110236220474,&quot;width&quot;:492.053729248047}"/>
</p:tagLst>
</file>

<file path=ppt/tags/tag26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8.xml><?xml version="1.0" encoding="utf-8"?>
<p:tagLst xmlns:p="http://schemas.openxmlformats.org/presentationml/2006/main">
  <p:tag name="KSO_WM_DIAGRAM_VIRTUALLY_FRAME" val="{&quot;height&quot;:443.51889153427965,&quot;left&quot;:59.7,&quot;top&quot;:137.43110236220474,&quot;width&quot;:492.053729248047}"/>
</p:tagLst>
</file>

<file path=ppt/tags/tag26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7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71.xml><?xml version="1.0" encoding="utf-8"?>
<p:tagLst xmlns:p="http://schemas.openxmlformats.org/presentationml/2006/main">
  <p:tag name="KSO_WM_DIAGRAM_VIRTUALLY_FRAME" val="{&quot;height&quot;:443.51889153427965,&quot;left&quot;:59.7,&quot;top&quot;:137.43110236220474,&quot;width&quot;:492.053729248047}"/>
</p:tagLst>
</file>

<file path=ppt/tags/tag27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7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74.xml><?xml version="1.0" encoding="utf-8"?>
<p:tagLst xmlns:p="http://schemas.openxmlformats.org/presentationml/2006/main">
  <p:tag name="KSO_WM_DIAGRAM_VIRTUALLY_FRAME" val="{&quot;height&quot;:443.51889153427965,&quot;left&quot;:59.7,&quot;top&quot;:137.43110236220474,&quot;width&quot;:492.053729248047}"/>
</p:tagLst>
</file>

<file path=ppt/tags/tag27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14414</Words>
  <Application>WPS 演示</Application>
  <PresentationFormat/>
  <Paragraphs>1177</Paragraphs>
  <Slides>30</Slides>
  <Notes>0</Notes>
  <HiddenSlides>0</HiddenSlides>
  <MMClips>0</MMClips>
  <ScaleCrop>false</ScaleCrop>
  <HeadingPairs>
    <vt:vector size="6" baseType="variant">
      <vt:variant>
        <vt:lpstr>已用的字体</vt:lpstr>
      </vt:variant>
      <vt:variant>
        <vt:i4>32</vt:i4>
      </vt:variant>
      <vt:variant>
        <vt:lpstr>主题</vt:lpstr>
      </vt:variant>
      <vt:variant>
        <vt:i4>3</vt:i4>
      </vt:variant>
      <vt:variant>
        <vt:lpstr>幻灯片标题</vt:lpstr>
      </vt:variant>
      <vt:variant>
        <vt:i4>30</vt:i4>
      </vt:variant>
    </vt:vector>
  </HeadingPairs>
  <TitlesOfParts>
    <vt:vector size="65"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Calibri</vt:lpstr>
      <vt:lpstr>Wingdings</vt:lpstr>
      <vt:lpstr>Heiti SC Medium</vt:lpstr>
      <vt:lpstr>Heiti SC Light</vt:lpstr>
      <vt:lpstr>Songti SC</vt:lpstr>
      <vt:lpstr>Noto Sans SC</vt:lpstr>
      <vt:lpstr>微软雅黑</vt:lpstr>
      <vt:lpstr>Source Han Sans CN Medium</vt:lpstr>
      <vt:lpstr>Source Han Sans CN Bold</vt:lpstr>
      <vt:lpstr>Source Han Sans CN Normal</vt:lpstr>
      <vt:lpstr>+中文标题</vt:lpstr>
      <vt:lpstr>Noto Sans SC</vt:lpstr>
      <vt:lpstr>Arial Unicode MS</vt:lpstr>
      <vt:lpstr>Noto Sans</vt:lpstr>
      <vt:lpstr>+中文正文</vt:lpstr>
      <vt:lpstr>Arial Black</vt:lpstr>
      <vt:lpstr>Arial Black</vt:lpstr>
      <vt:lpstr>Times New Roman</vt:lpstr>
      <vt:lpstr>Liberation Mono</vt:lpstr>
      <vt:lpstr>Myriad Pro</vt:lpstr>
      <vt:lpstr>Office theme</vt:lpstr>
      <vt:lpstr>简约星环线条职场办公</vt:lpstr>
      <vt:lpstr>1_简约星环线条职场办公</vt:lpstr>
      <vt:lpstr>PowerPoint 演示文稿</vt:lpstr>
      <vt:lpstr>PowerPoint 演示文稿</vt:lpstr>
      <vt:lpstr>目标与协作机制回顾</vt:lpstr>
      <vt:lpstr>PowerPoint 演示文稿</vt:lpstr>
      <vt:lpstr>PowerPoint 演示文稿</vt:lpstr>
      <vt:lpstr>PowerPoint 演示文稿</vt:lpstr>
      <vt:lpstr>我们共同的工作成果总结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vt:lpstr>
      <vt:lpstr>PowerPoint 演示文稿</vt:lpstr>
      <vt:lpstr>PowerPoint 演示文稿</vt:lpstr>
      <vt:lpstr>PowerPoint 演示文稿</vt:lpstr>
      <vt:lpstr>下阶段目标与协作计划</vt:lpstr>
      <vt:lpstr>PowerPoint 演示文稿</vt:lpstr>
      <vt:lpstr>PowerPoint 演示文稿</vt:lpstr>
      <vt:lpstr>PowerPoint 演示文稿</vt:lpstr>
      <vt:lpstr>PowerPoint 演示文稿</vt:lpstr>
      <vt:lpstr>客户成功   才是深信服的成功</vt:lpstr>
      <vt:lpstr>工作成果详情</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130</cp:revision>
  <dcterms:created xsi:type="dcterms:W3CDTF">2026-05-09T07:40:00Z</dcterms:created>
  <dcterms:modified xsi:type="dcterms:W3CDTF">2026-06-16T07:16:50Z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2025-08-02T09:35:42Z</vt:filetime>
  </property>
  <property fmtid="{D5CDD505-2E9C-101B-9397-08002B2CF9AE}" pid="4" name="UsrData">
    <vt:lpwstr>687eeadea43bea0020547dd2wl</vt:lpwstr>
  </property>
  <property fmtid="{D5CDD505-2E9C-101B-9397-08002B2CF9AE}" pid="5" name="ICV">
    <vt:lpwstr>35D22C8AD5D1D18E7ACDDC6933F0EB79_43</vt:lpwstr>
  </property>
  <property fmtid="{D5CDD505-2E9C-101B-9397-08002B2CF9AE}" pid="6" name="KSOProductBuildVer">
    <vt:lpwstr>2052-12.1.0.26895</vt:lpwstr>
  </property>
</Properties>
</file>