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304609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{{kickoff_ppt}}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{{first_analysis}}</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{{vuln_evidence}}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{{asset_inventory}}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{{incident_response}}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{{attack_surface}}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{{sec_ops_weekly}}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{{analysis_monthly}}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{{sec_ops_quarterly}}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{{springfestival}}</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{{mayday}}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{{biweekly_threat}}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en-US"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30</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{{probe_coverage}}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{{log_count}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{{alert_count}}</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62"/>
              <a:chOff x="4793" y="4123"/>
              <a:chExt cx="3792" cy="662"/>
            </a:xfrm>
          </p:grpSpPr>
          <p:sp>
            <p:nvSpPr>
              <p:cNvPr id="107" name="文本框 106"/>
              <p:cNvSpPr txBox="1"/>
              <p:nvPr/>
            </p:nvSpPr>
            <p:spPr>
              <a:xfrm>
                <a:off x="4793" y="4123"/>
                <a:ext cx="3716" cy="347"/>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{{incident_count}}</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{{asset_count}}</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2127885"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{{incident_inner}}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{{handling_inner}}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{{response_inner}}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2047240" cy="89979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{{incident_outer}}</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{{handling_outer}}</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{{response_outer}}</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41720" y="1333500"/>
            <a:ext cx="2294890"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038465" y="1345565"/>
            <a:ext cx="2173605" cy="1106805"/>
          </a:xfrm>
          <a:prstGeom prst="rect">
            <a:avLst/>
          </a:prstGeom>
          <a:noFill/>
        </p:spPr>
        <p:txBody>
          <a:bodyPr wrap="square" rtlCol="0" anchor="t">
            <a:sp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9700" cy="528320"/>
            <a:chOff x="5780" y="2900"/>
            <a:chExt cx="12220" cy="832"/>
          </a:xfrm>
        </p:grpSpPr>
        <p:grpSp>
          <p:nvGrpSpPr>
            <p:cNvPr id="25" name="组合 24"/>
            <p:cNvGrpSpPr/>
            <p:nvPr/>
          </p:nvGrpSpPr>
          <p:grpSpPr>
            <a:xfrm>
              <a:off x="5780" y="2900"/>
              <a:ext cx="2644" cy="832"/>
              <a:chOff x="5780" y="2900"/>
              <a:chExt cx="2644" cy="832"/>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693"/>
                <a:chOff x="5987" y="2974"/>
                <a:chExt cx="2437" cy="69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316"/>
                  <a:ext cx="2203"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{{vuln_protect}}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{{alert_judgment}}</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311"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{{alert_response}}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97" y="2900"/>
              <a:ext cx="2803" cy="832"/>
              <a:chOff x="5636" y="2900"/>
              <a:chExt cx="2803"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636" y="2970"/>
                <a:ext cx="2803" cy="677"/>
                <a:chOff x="5739"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739"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{{threat_contain}}</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374140" y="4057650"/>
            <a:ext cx="53638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{{scanning}}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{{server}}</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{{vuln_high}}</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{{surface_risk}}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1059815" y="5473700"/>
            <a:ext cx="503682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{{vuln_closed}}</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{{weekly}}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{{monthly}}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465455" y="2595880"/>
            <a:ext cx="3511550" cy="105029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{{af_block}}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{{edr_risk}}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{{vuln_protect}}</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3949065"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{{xdr_log}}</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{{xdr_alert}}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{{xdr_incident}}</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{{mss_push}}</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{{mss_latency}}</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428688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{{xdr_auto}}</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{{mss_handle}}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{{emergency_handle}}</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{{incident_contain}}</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3014" y="1474"/>
              <a:ext cx="7096"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{{trust_assurance}}</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570"/>
              <a:ext cx="7116"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稳定可靠的系统保障，{{security_trust}}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632" y="1494"/>
              <a:ext cx="7210"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{{response_avg}}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49590" y="1275715"/>
            <a:ext cx="1869440" cy="1139826"/>
            <a:chOff x="22707"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707"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{{handle_avg}}</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920239" y="1275715"/>
            <a:ext cx="2310913" cy="1145223"/>
            <a:chOff x="29221"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221"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47383" y="5886450"/>
            <a:ext cx="10907713" cy="717550"/>
          </a:xfrm>
          <a:prstGeom prst="rect">
            <a:avLst/>
          </a:prstGeom>
          <a:solidFill>
            <a:schemeClr val="bg1">
              <a:lumMod val="95000"/>
            </a:schemeClr>
          </a:solidFill>
        </p:spPr>
        <p:txBody>
          <a:bodyPr wrap="square" rtlCol="0">
            <a:noAutofit/>
          </a:bodyPr>
          <a:p>
            <a:endParaRPr lang="zh-CN" altLang="en-US"/>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645795"/>
            <a:chOff x="4017" y="5198"/>
            <a:chExt cx="8006" cy="2034"/>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1031240" y="594360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3" name="文本框 22"/>
          <p:cNvSpPr txBox="1"/>
          <p:nvPr/>
        </p:nvSpPr>
        <p:spPr>
          <a:xfrm>
            <a:off x="1031240" y="6200775"/>
            <a:ext cx="3184525" cy="5899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non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{{asset_improve1}}</a:t>
            </a: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0" marR="0" indent="0" algn="l" defTabSz="2438400" rtl="0" fontAlgn="auto" latinLnBrk="0" hangingPunct="0">
              <a:lnSpc>
                <a:spcPct val="100000"/>
              </a:lnSpc>
              <a:spcBef>
                <a:spcPts val="0"/>
              </a:spcBef>
              <a:spcAft>
                <a:spcPts val="0"/>
              </a:spcAft>
              <a:buClrTx/>
              <a:buSzTx/>
              <a:buFontTx/>
              <a:buNone/>
            </a:pPr>
            <a:endParaRPr lang="en-US" alt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519930" y="620458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85175" y="6219825"/>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656908"/>
            <a:chOff x="4017" y="8989"/>
            <a:chExt cx="8006" cy="2069"/>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208" y="4912995"/>
            <a:ext cx="6811963" cy="2813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289882" cy="791210"/>
            <a:chOff x="4017" y="7030"/>
            <a:chExt cx="7486" cy="2492"/>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1688"/>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{{internet_entry}}</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7737" y="7834"/>
              <a:ext cx="3766" cy="1382"/>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{{internet_port}}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{{intranet_server}}</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{{intranet_network}}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{{intranet_iot}}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{{intranet_mss}}</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{{rootdomain_internet}}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{{subdomain_internet}}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{{login_entry}}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{{pc_total}}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{{vuln_high}}</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517"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8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{{vuln_closed}}</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663" y="150590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{xdr_attack}}</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{{policy_check}}</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249555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{{threat_alert}}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{{mss_ticket}}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{{ticket_response}}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{{policy_optimized}}</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{{threat_intel}}</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992110" y="1530985"/>
            <a:ext cx="6096000" cy="245110"/>
          </a:xfrm>
          <a:prstGeom prst="rect">
            <a:avLst/>
          </a:prstGeom>
          <a:noFill/>
        </p:spPr>
        <p:txBody>
          <a:bodyPr wrap="square" rtlCol="0" anchor="t">
            <a:spAutoFit/>
          </a:bodyPr>
          <a:p>
            <a:r>
              <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368300"/>
          </a:xfrm>
          <a:prstGeom prst="rect">
            <a:avLst/>
          </a:prstGeom>
          <a:noFill/>
        </p:spPr>
        <p:txBody>
          <a:bodyPr wrap="square" rtlCol="0" anchor="t">
            <a:spAutoFit/>
          </a:bodyPr>
          <a:p>
            <a:r>
              <a:rPr lang="zh-CN" altLang="en-US">
                <a:sym typeface="+mn-ea"/>
              </a:rPr>
              <a:t>{{</a:t>
            </a:r>
            <a:r>
              <a:rPr lang="en-US" altLang="zh-CN">
                <a:sym typeface="+mn-ea"/>
              </a:rPr>
              <a:t>P15_line</a:t>
            </a:r>
            <a:r>
              <a:rPr lang="zh-CN" altLang="en-US">
                <a:sym typeface="+mn-ea"/>
              </a:rPr>
              <a:t>}}</a:t>
            </a:r>
            <a:endParaRPr lang="zh-CN" altLang="en-US">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486411"/>
            <a:chOff x="4017" y="7030"/>
            <a:chExt cx="6786" cy="1532"/>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{{fw_attack}}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{{aes_risk}}</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{{xdr_log}}</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43065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{{xdr_log}}</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{{component_auto}}</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{{server_coverage}}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{{alert_aggregate}}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{{component_offline}}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{{incident_intel}}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21389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{{xdr_alert}}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3936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{{xdr_incident}}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88759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{{asset_total}</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{{fw_auto}}</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72105" y="2510155"/>
            <a:ext cx="199898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{{host_handle}}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12166</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36</vt:i4>
      </vt:variant>
      <vt:variant>
        <vt:lpstr>主题</vt:lpstr>
      </vt:variant>
      <vt:variant>
        <vt:i4>2</vt:i4>
      </vt:variant>
      <vt:variant>
        <vt:lpstr>幻灯片标题</vt:lpstr>
      </vt:variant>
      <vt:variant>
        <vt:i4>25</vt:i4>
      </vt:variant>
    </vt:vector>
  </HeadingPairs>
  <TitlesOfParts>
    <vt:vector size="63"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Liberation Mono</vt:lpstr>
      <vt:lpstr>Sweetie</vt:lpstr>
      <vt:lpstr>Wonder Sans Bold</vt:lpstr>
      <vt:lpstr>Saturday Sans Regular</vt:lpstr>
      <vt:lpstr>Termten Bold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140</cp:revision>
  <dcterms:created xsi:type="dcterms:W3CDTF">2026-02-06T08:36:00Z</dcterms:created>
  <dcterms:modified xsi:type="dcterms:W3CDTF">2026-03-02T08:06:52Z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2025-07-31T01:35:42Z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