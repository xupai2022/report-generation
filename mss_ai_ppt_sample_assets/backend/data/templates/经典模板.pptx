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6"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1" Type="http://schemas.openxmlformats.org/officeDocument/2006/relationships/notesSlide" Target="../notesSlides/notesSlide2.xml"/><Relationship Id="rId20" Type="http://schemas.openxmlformats.org/officeDocument/2006/relationships/slideLayout" Target="../slideLayouts/slideLayout6.xml"/><Relationship Id="rId2" Type="http://schemas.openxmlformats.org/officeDocument/2006/relationships/tags" Target="../tags/tag27.xml"/><Relationship Id="rId19" Type="http://schemas.openxmlformats.org/officeDocument/2006/relationships/tags" Target="../tags/tag42.xml"/><Relationship Id="rId18" Type="http://schemas.openxmlformats.org/officeDocument/2006/relationships/image" Target="../media/image7.png"/><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6.png"/><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 name="文本框 2"/>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5"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6" name="组合 5"/>
          <p:cNvGrpSpPr/>
          <p:nvPr/>
        </p:nvGrpSpPr>
        <p:grpSpPr>
          <a:xfrm rot="0">
            <a:off x="7091045" y="5295172"/>
            <a:ext cx="3239770" cy="468000"/>
            <a:chOff x="11278" y="3926"/>
            <a:chExt cx="5102" cy="859"/>
          </a:xfrm>
        </p:grpSpPr>
        <p:sp>
          <p:nvSpPr>
            <p:cNvPr id="7" name="文本框 6"/>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8" name="文本框 7"/>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pic>
        <p:nvPicPr>
          <p:cNvPr id="62" name="图片 61" descr="病毒检测@4x"/>
          <p:cNvPicPr>
            <a:picLocks noChangeAspect="1"/>
          </p:cNvPicPr>
          <p:nvPr/>
        </p:nvPicPr>
        <p:blipFill>
          <a:blip r:embed="rId18">
            <a:alphaModFix amt="84000"/>
          </a:blip>
          <a:srcRect l="-4651" t="-6497" r="18828" b="21030"/>
          <a:stretch>
            <a:fillRect/>
          </a:stretch>
        </p:blipFill>
        <p:spPr>
          <a:xfrm flipH="1">
            <a:off x="0" y="2709545"/>
            <a:ext cx="8221980" cy="4148455"/>
          </a:xfrm>
          <a:prstGeom prst="rect">
            <a:avLst/>
          </a:prstGeom>
        </p:spPr>
      </p:pic>
    </p:spTree>
    <p:custDataLst>
      <p:tags r:id="rId1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国庆</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452310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{{project_launch_ppt}}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{{initial_analysis_and_disposal_report}}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{{vulnerability_management_evidence_report}}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{{service_asset_table}}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{{emergency_response_report}}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{{exposure_surface_analysis_report}}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1852930"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{{security_operations_report_weekly}}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{{comprehensive_analysis_report_monthly}}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{{security_operations_report_quarterly}}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{{spring_network_security_work_report}}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{{may_day_network_security_work_report}}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{{security_trends_semi_monthly_report}}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{phishing_scenario_security_poster}}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{{AF_protection_path_coverage_rate}}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{{AES_installation_coverage_rate}}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{{probe_traffic_monitoring_coverage_rate}}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{{alert_automatic_analysis_ratio}}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{{number_of_security_logs}</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{{log_noise_reduction_rate}}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{{number_of_security_alerts}}</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93"/>
              <a:chOff x="4793" y="4123"/>
              <a:chExt cx="3792" cy="693"/>
            </a:xfrm>
          </p:grpSpPr>
          <p:sp>
            <p:nvSpPr>
              <p:cNvPr id="107" name="文本框 106"/>
              <p:cNvSpPr txBox="1"/>
              <p:nvPr/>
            </p:nvSpPr>
            <p:spPr>
              <a:xfrm>
                <a:off x="4793" y="4123"/>
                <a:ext cx="3716" cy="693"/>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{{number_of_security_incidents}}</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{{number_of_risk_assets}}</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1743710" cy="145542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1854200" cy="143256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{{handling_rate_nonmss}}</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{{response_time_nonmss}}</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189980" y="1333500"/>
            <a:ext cx="1721485"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7994650" y="1345565"/>
            <a:ext cx="1626870" cy="350520"/>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0175" cy="586105"/>
            <a:chOff x="5780" y="2900"/>
            <a:chExt cx="12205" cy="923"/>
          </a:xfrm>
        </p:grpSpPr>
        <p:grpSp>
          <p:nvGrpSpPr>
            <p:cNvPr id="25" name="组合 24"/>
            <p:cNvGrpSpPr/>
            <p:nvPr/>
          </p:nvGrpSpPr>
          <p:grpSpPr>
            <a:xfrm>
              <a:off x="5780" y="2900"/>
              <a:ext cx="2644" cy="923"/>
              <a:chOff x="5780" y="2900"/>
              <a:chExt cx="2644" cy="923"/>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853"/>
                <a:chOff x="5987" y="2974"/>
                <a:chExt cx="2437" cy="853"/>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116"/>
                  <a:ext cx="2203" cy="71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{{high_risk_exploitable_vulnerability_protection_rate}}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{{alert_analysis_rate}}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260"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{{alert_average_response_time}}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46" y="2900"/>
              <a:ext cx="2839" cy="832"/>
              <a:chOff x="5585" y="2900"/>
              <a:chExt cx="2839"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585" y="2970"/>
                <a:ext cx="2803" cy="677"/>
                <a:chOff x="5688"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688"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{{real_time_threat_tracking_rate}}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907540" y="4057650"/>
            <a:ext cx="58972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{{exposure_surface_scan_count}}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{{vulnerability_and_scan_count}}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{{service_asset_count}}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{{high_risk_exploitable_vulnerability_count}}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{{exposure_surface_risk_count}}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2004060" y="5473700"/>
            <a:ext cx="5981065" cy="1769745"/>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{{closed_loop_incident_ticket_count}}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{{closed_loop_vulnerability_ticket_count}}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{{operational_weekly_report_count}}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{{operational_monthly_report_count}}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2238375" y="2595880"/>
            <a:ext cx="6215380" cy="129032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{{AF_external_attack_blocks}}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{{EDR_endpoint_risk_count}}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{{policy_check_and_optimization_count}}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{{high_risk_exploitable_vulnerability_protection_count}}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5594350"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{{XDR_security_log_count}}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{{XDR_security_alert_total_count}}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{{XDR_security_incident_count}}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{{MSS_pushed_event_count}}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{{MSS_event_average_push_duration}}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555942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{{XDR_automated_processing_event_count}}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{{MSS_processed_event_count}}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{{emergency_response_event_count}}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{{event_average_response_time}}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875723" y="2318703"/>
            <a:ext cx="7772083" cy="1512571"/>
            <a:chOff x="12177" y="-373"/>
            <a:chExt cx="24479" cy="4764"/>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2749" y="207"/>
              <a:ext cx="7708" cy="407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just" rtl="0" eaLnBrk="0">
                <a:lnSpc>
                  <a:spcPct val="119000"/>
                </a:lnSpc>
                <a:spcBef>
                  <a:spcPts val="185"/>
                </a:spcBef>
                <a:buClrTx/>
                <a:buSzTx/>
                <a:buFontTx/>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1" y="353"/>
              <a:ext cx="7742" cy="403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19000"/>
                </a:lnSpc>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496" y="428"/>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08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构建</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 7</a:t>
              </a:r>
              <a:r>
                <a:rPr lang="en-US"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24</a:t>
              </a: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小时主动运营体系，实现持续监控与风险预警，及时发现并处理潜在问题，减少应急处置成本，避免业务中断损失；同时持续降低运营风险，有效支撑公司经营效率提升。</a:t>
              </a:r>
              <a:endPar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177" y="-373"/>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14363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14363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{{average_response_time}}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7205" y="1143635"/>
            <a:ext cx="1869440" cy="1139826"/>
            <a:chOff x="22605"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605"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{{average_resolution_duration}}</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887825" y="1143635"/>
            <a:ext cx="2310913" cy="1145223"/>
            <a:chOff x="29119"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11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{{event_closed_loop_rate}}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65480" y="5856605"/>
            <a:ext cx="10908030" cy="934720"/>
          </a:xfrm>
          <a:prstGeom prst="rect">
            <a:avLst/>
          </a:prstGeom>
          <a:solidFill>
            <a:schemeClr val="bg1">
              <a:lumMod val="95000"/>
            </a:schemeClr>
          </a:solidFill>
        </p:spPr>
        <p:txBody>
          <a:bodyPr wrap="square" rtlCol="0">
            <a:noAutofit/>
          </a:bodyPr>
          <a:p>
            <a:endParaRPr lang="en-US" altLang="zh-CN"/>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815340"/>
            <a:chOff x="4017" y="5198"/>
            <a:chExt cx="8006" cy="256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{{total_server_assets_count}}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718185" y="562483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4" name="文本框 23"/>
          <p:cNvSpPr txBox="1"/>
          <p:nvPr/>
        </p:nvSpPr>
        <p:spPr>
          <a:xfrm>
            <a:off x="4487545" y="5904865"/>
            <a:ext cx="3531870" cy="86106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8352790" y="5909310"/>
            <a:ext cx="3039745" cy="838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algn="just"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826453"/>
            <a:chOff x="4017" y="8989"/>
            <a:chExt cx="8006" cy="2603"/>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525" y="4912995"/>
            <a:ext cx="6812280" cy="77724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3350" algn="just"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418355" cy="961390"/>
            <a:chOff x="4017" y="7030"/>
            <a:chExt cx="7906" cy="3028"/>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{{internet_IP_domain_count}}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8157" y="7834"/>
              <a:ext cx="3766"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{{internet_exposed_ports_count}}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{{internal_network_server_count}} </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{{internal_network_network_device_count}}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{{internal_network_IoT_device_count}}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{{internal_network_MSS_service_asset_count}}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{{external_root_domain_asset_count}}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external_subdomain_asset_count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{{login_endpoint_count}}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7" name="文本框 16"/>
          <p:cNvSpPr txBox="1"/>
          <p:nvPr/>
        </p:nvSpPr>
        <p:spPr>
          <a:xfrm>
            <a:off x="2232660" y="3695700"/>
            <a:ext cx="1403985" cy="368300"/>
          </a:xfrm>
          <a:prstGeom prst="rect">
            <a:avLst/>
          </a:prstGeom>
          <a:noFill/>
        </p:spPr>
        <p:txBody>
          <a:bodyPr wrap="square" rtlCol="0" anchor="t">
            <a:spAutoFit/>
          </a:bodyPr>
          <a:p>
            <a:r>
              <a:rPr lang="zh-CN" altLang="en-US">
                <a:sym typeface="+mn-ea"/>
              </a:rPr>
              <a:t>{{</a:t>
            </a:r>
            <a:r>
              <a:rPr lang="en-US" altLang="zh-CN">
                <a:sym typeface="+mn-ea"/>
              </a:rPr>
              <a:t>P13_pie}</a:t>
            </a:r>
            <a:r>
              <a:rPr lang="zh-CN" altLang="en-US">
                <a:sym typeface="+mn-ea"/>
              </a:rPr>
              <a:t>}</a:t>
            </a:r>
            <a:endParaRPr lang="zh-CN" altLang="en-US">
              <a:sym typeface="+mn-ea"/>
            </a:endParaRPr>
          </a:p>
        </p:txBody>
      </p:sp>
      <p:sp>
        <p:nvSpPr>
          <p:cNvPr id="20" name="文本框 19"/>
          <p:cNvSpPr txBox="1"/>
          <p:nvPr/>
        </p:nvSpPr>
        <p:spPr>
          <a:xfrm>
            <a:off x="660400" y="5922010"/>
            <a:ext cx="3531870" cy="86106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{{asset_improve1}}</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632"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99"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119488" y="1727835"/>
            <a:ext cx="1893030" cy="693103"/>
            <a:chOff x="29848" y="6559"/>
            <a:chExt cx="5957" cy="2183"/>
          </a:xfrm>
        </p:grpSpPr>
        <p:sp>
          <p:nvSpPr>
            <p:cNvPr id="112" name="文本框 111"/>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848"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12030" y="5160010"/>
            <a:ext cx="6786245" cy="807085"/>
          </a:xfrm>
          <a:prstGeom prst="rect">
            <a:avLst/>
          </a:prstGeom>
          <a:noFill/>
        </p:spPr>
        <p:txBody>
          <a:bodyPr wrap="square" rtlCol="0" anchor="t">
            <a:noAutofit/>
          </a:bodyPr>
          <a:p>
            <a:pPr marL="133350" algn="just"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2875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57594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4498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594043" y="550418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758190" y="5788025"/>
            <a:ext cx="3376930"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297680" y="5782310"/>
            <a:ext cx="3564890"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025765" y="5796280"/>
            <a:ext cx="346075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740650" y="1530985"/>
            <a:ext cx="3817620" cy="2458085"/>
          </a:xfrm>
          <a:prstGeom prst="rect">
            <a:avLst/>
          </a:prstGeom>
          <a:noFill/>
        </p:spPr>
        <p:txBody>
          <a:bodyPr wrap="square" rtlCol="0" anchor="t">
            <a:noAutofit/>
          </a:bodyPr>
          <a:p>
            <a:pPr algn="just"/>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P15_line</a:t>
            </a:r>
            <a:r>
              <a:rPr lang="zh-CN" altLang="en-US" sz="800">
                <a:sym typeface="+mn-ea"/>
              </a:rPr>
              <a:t>}}</a:t>
            </a:r>
            <a:endParaRPr lang="zh-CN" altLang="en-US" sz="80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70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632"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113996" cy="656591"/>
            <a:chOff x="4017" y="7030"/>
            <a:chExt cx="6911" cy="2068"/>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590"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558540" cy="2509520"/>
          </a:xfrm>
          <a:prstGeom prst="rect">
            <a:avLst/>
          </a:prstGeom>
          <a:noFill/>
        </p:spPr>
        <p:txBody>
          <a:bodyPr wrap="square" rtlCol="0" anchor="t">
            <a:spAutoFit/>
          </a:bodyPr>
          <a:p>
            <a:pPr marL="191770" indent="0" algn="l" rtl="0" eaLnBrk="0" fontAlgn="auto">
              <a:lnSpc>
                <a:spcPct val="15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mid_autumn_festival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national_day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new_years_day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spring_festival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qingming_festival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labor_day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dragon_boat_festival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178560" y="1905635"/>
            <a:ext cx="1643380"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{{firewall_detected_attack_count}}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289685" y="2510155"/>
            <a:ext cx="1335405"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{{AES_detected_endpoint_security_risk_count}}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{{XDR_total_security_log_count}}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36969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{{XDR_monthly_average_log_count}}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616903" y="552704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712470" y="5818505"/>
            <a:ext cx="3289300" cy="6896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239895" y="5812790"/>
            <a:ext cx="3722370" cy="5981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128000" y="5826760"/>
            <a:ext cx="3381375" cy="584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84822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60475" y="487616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{{component_anomaly_automatic_handling_count}}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9078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{{firewall_protection_path_coverage_rate}}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28540" y="2518410"/>
            <a:ext cx="171386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{{server_endpoint_coverage_rate}}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08927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58398"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2983865" y="3100070"/>
            <a:ext cx="165671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{{aggregated_security_alert_count}}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{{component_network_connectivity_anomaly_count}}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{{component_log_synchronization_anomaly_count}}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{{component_policy_effectiveness_alert_count}}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14900" y="3100070"/>
            <a:ext cx="1541780"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{{intelligent_security_incident_identification_count}}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14531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{{XDR_monthly_average_alert_count}}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6984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{{XDR_monthly_average_incident_count}}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74281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{{agent_installation_count}}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{{total_asset_count}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{{firewall_automatic_block_rate}}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03525" y="2510155"/>
            <a:ext cx="1998980"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{{host_anomaly_risk_handling_count}}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{{AES_trusted_risk_event_count}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14062</Words>
  <Application>WPS 演示</Application>
  <PresentationFormat/>
  <Paragraphs>1237</Paragraphs>
  <Slides>25</Slides>
  <Notes>0</Notes>
  <HiddenSlides>0</HiddenSlides>
  <MMClips>0</MMClips>
  <ScaleCrop>false</ScaleCrop>
  <HeadingPairs>
    <vt:vector size="6" baseType="variant">
      <vt:variant>
        <vt:lpstr>已用的字体</vt:lpstr>
      </vt:variant>
      <vt:variant>
        <vt:i4>24</vt:i4>
      </vt:variant>
      <vt:variant>
        <vt:lpstr>主题</vt:lpstr>
      </vt:variant>
      <vt:variant>
        <vt:i4>2</vt:i4>
      </vt:variant>
      <vt:variant>
        <vt:lpstr>幻灯片标题</vt:lpstr>
      </vt:variant>
      <vt:variant>
        <vt:i4>25</vt:i4>
      </vt:variant>
    </vt:vector>
  </HeadingPairs>
  <TitlesOfParts>
    <vt:vector size="51"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219</cp:revision>
  <dcterms:created xsi:type="dcterms:W3CDTF">2026-02-06T08:36:00Z</dcterms:created>
  <dcterms:modified xsi:type="dcterms:W3CDTF">2026-03-12T07:55:27Z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2025-08-03T09:35:42Z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