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0"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次项目启动会将围绕四个方面展开。首先回顾项目背景与目标，同步信息、对齐目标，明确方向；接着介绍实施方案及预期成效，涵盖资产管理等内容，保障安全；然后阐述项目实施及运营计划，确保服务顺利推进；最后讨论其他待讨论事宜，达成共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 Type="http://schemas.openxmlformats.org/officeDocument/2006/relationships/tags" Target="../tags/tag27.xml"/><Relationship Id="rId19" Type="http://schemas.openxmlformats.org/officeDocument/2006/relationships/notesSlide" Target="../notesSlides/notesSlide2.xml"/><Relationship Id="rId18" Type="http://schemas.openxmlformats.org/officeDocument/2006/relationships/slideLayout" Target="../slideLayouts/slideLayout3.xml"/><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notesSlide" Target="../notesSlides/notesSlide3.xml"/><Relationship Id="rId8" Type="http://schemas.openxmlformats.org/officeDocument/2006/relationships/slideLayout" Target="../slideLayouts/slideLayout6.xml"/><Relationship Id="rId7" Type="http://schemas.openxmlformats.org/officeDocument/2006/relationships/tags" Target="../tags/tag46.xml"/><Relationship Id="rId6" Type="http://schemas.openxmlformats.org/officeDocument/2006/relationships/tags" Target="../tags/tag45.xml"/><Relationship Id="rId5" Type="http://schemas.openxmlformats.org/officeDocument/2006/relationships/tags" Target="../tags/tag44.xml"/><Relationship Id="rId4" Type="http://schemas.openxmlformats.org/officeDocument/2006/relationships/image" Target="../media/image6.png"/><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image" Target="../media/image7.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7.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a:t>
            </a:r>
            <a:r>
              <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rPr>
              <a:t>{{PERIOD_start}}-</a:t>
            </a:r>
            <a:r>
              <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006CD9">
                <a:alpha val="0"/>
              </a:srgbClr>
            </a:gs>
            <a:gs pos="100000">
              <a:srgbClr val="1C6EFF">
                <a:alpha val="21000"/>
              </a:srgbClr>
            </a:gs>
          </a:gsLst>
          <a:lin ang="13500000" scaled="1"/>
        </a:gradFill>
        <a:effectLst/>
      </p:bgPr>
    </p:bg>
    <p:spTree>
      <p:nvGrpSpPr>
        <p:cNvPr id="1" name=""/>
        <p:cNvGrpSpPr/>
        <p:nvPr/>
      </p:nvGrpSpPr>
      <p:grpSpPr>
        <a:xfrm>
          <a:off x="0" y="0"/>
          <a:ext cx="0" cy="0"/>
          <a:chOff x="0" y="0"/>
          <a:chExt cx="0" cy="0"/>
        </a:xfrm>
      </p:grpSpPr>
      <p:pic>
        <p:nvPicPr>
          <p:cNvPr id="62" name="图片 61" descr="病毒检测@4x"/>
          <p:cNvPicPr>
            <a:picLocks noChangeAspect="1"/>
          </p:cNvPicPr>
          <p:nvPr/>
        </p:nvPicPr>
        <p:blipFill>
          <a:blip r:embed="rId1">
            <a:alphaModFix amt="84000"/>
          </a:blip>
          <a:srcRect l="-4651" t="-6497" r="18828" b="21030"/>
          <a:stretch>
            <a:fillRect/>
          </a:stretch>
        </p:blipFill>
        <p:spPr>
          <a:xfrm flipH="1">
            <a:off x="0" y="2709545"/>
            <a:ext cx="8221980" cy="4148455"/>
          </a:xfrm>
          <a:prstGeom prst="rect">
            <a:avLst/>
          </a:prstGeom>
        </p:spPr>
      </p:pic>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3" name="组合 2"/>
          <p:cNvGrpSpPr/>
          <p:nvPr/>
        </p:nvGrpSpPr>
        <p:grpSpPr>
          <a:xfrm rot="0">
            <a:off x="7091045" y="5295172"/>
            <a:ext cx="3239770" cy="468000"/>
            <a:chOff x="11278" y="3926"/>
            <a:chExt cx="5102" cy="859"/>
          </a:xfrm>
        </p:grpSpPr>
        <p:sp>
          <p:nvSpPr>
            <p:cNvPr id="4" name="文本框 3"/>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 name="文本框 4"/>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
        <p:nvSpPr>
          <p:cNvPr id="3" name="文本框 2"/>
          <p:cNvSpPr txBox="1"/>
          <p:nvPr>
            <p:custDataLst>
              <p:tags r:id="rId6"/>
            </p:custDataLst>
          </p:nvPr>
        </p:nvSpPr>
        <p:spPr>
          <a:xfrm>
            <a:off x="4723130" y="4311015"/>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spTree>
    <p:custDataLst>
      <p:tags r:id="rId7"/>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国庆</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304609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{{kickoff_ppt}}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{{first_analysis}}</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{{vuln_evidence}}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{{asset_inventory}}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{{incident_response}}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{{attack_surface}}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1852930"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{{sec_ops_weekly}}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{{analysis_monthly}}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{{sec_ops_quarterly}}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{{nationalday}}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{{springfestival}}</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{{mayday}}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{{biweekly_threat}}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en-US"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30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{{log_count}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{{alert_count}}</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62"/>
              <a:chOff x="4793" y="4123"/>
              <a:chExt cx="3792" cy="662"/>
            </a:xfrm>
          </p:grpSpPr>
          <p:sp>
            <p:nvSpPr>
              <p:cNvPr id="107" name="文本框 106"/>
              <p:cNvSpPr txBox="1"/>
              <p:nvPr/>
            </p:nvSpPr>
            <p:spPr>
              <a:xfrm>
                <a:off x="4793" y="4123"/>
                <a:ext cx="3716" cy="347"/>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{{incident_count}}</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{{asset_count}}</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2127885"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{{handling_inner}}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{{response_inner}}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2047240"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{{handling_outer}}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{{response_outer}}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141720" y="1333500"/>
            <a:ext cx="2294890"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8038465" y="1345565"/>
            <a:ext cx="2173605" cy="1106805"/>
          </a:xfrm>
          <a:prstGeom prst="rect">
            <a:avLst/>
          </a:prstGeom>
          <a:noFill/>
        </p:spPr>
        <p:txBody>
          <a:bodyPr wrap="square" rtlCol="0" anchor="t">
            <a:sp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9700" cy="528320"/>
            <a:chOff x="5780" y="2900"/>
            <a:chExt cx="12220" cy="832"/>
          </a:xfrm>
        </p:grpSpPr>
        <p:grpSp>
          <p:nvGrpSpPr>
            <p:cNvPr id="25" name="组合 24"/>
            <p:cNvGrpSpPr/>
            <p:nvPr/>
          </p:nvGrpSpPr>
          <p:grpSpPr>
            <a:xfrm>
              <a:off x="5780" y="2900"/>
              <a:ext cx="2644" cy="832"/>
              <a:chOff x="5780" y="2900"/>
              <a:chExt cx="2644" cy="832"/>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693"/>
                <a:chOff x="5987" y="2974"/>
                <a:chExt cx="2437" cy="693"/>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316"/>
                  <a:ext cx="2203"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{{vuln_protect}}</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{{alert_judgment}}</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311"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{{alert_response}}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97" y="2900"/>
              <a:ext cx="2803" cy="832"/>
              <a:chOff x="5636" y="2900"/>
              <a:chExt cx="2803"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636" y="2970"/>
                <a:ext cx="2803" cy="677"/>
                <a:chOff x="5739"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739"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{{threat_contain}}</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374140" y="4057650"/>
            <a:ext cx="53638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{{scanning}}</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{{server}}</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{{vuln_high}}</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{{surface_risk}}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1059815" y="5473700"/>
            <a:ext cx="503682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{{incident_closed}}</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{{vuln_closed}}</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{{weekly}}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{{monthly}}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465455" y="2595880"/>
            <a:ext cx="351155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{{af_block}}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{{edr_risk}}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{{vuln_protect}}</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3949065"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{{xdr_log}}</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{{xdr_alert}}</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{{xdr_incident}}</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{{mss_push}}</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{{mss_latency}}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428688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{{xdr_auto}}</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{{mss_handle}}</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{{emergency_handle}}</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{{incident_contain}}</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998595" y="2530475"/>
            <a:ext cx="7649210" cy="1273175"/>
            <a:chOff x="12564" y="294"/>
            <a:chExt cx="24092" cy="4010"/>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3014" y="1474"/>
              <a:ext cx="7096" cy="2804"/>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en-US" altLang="zh-CN" sz="900" spc="110" dirty="0">
                  <a:solidFill>
                    <a:srgbClr val="4C61E7">
                      <a:alpha val="100000"/>
                    </a:srgbClr>
                  </a:solidFill>
                  <a:latin typeface="黑体" panose="02010609060101010101" charset="-122"/>
                  <a:ea typeface="黑体" panose="02010609060101010101" charset="-122"/>
                  <a:cs typeface="黑体" panose="02010609060101010101" charset="-122"/>
                  <a:sym typeface="+mn-ea"/>
                </a:rPr>
                <a:t>{{trust_assurance}}</a:t>
              </a:r>
              <a:endParaRPr lang="zh-CN" sz="900" spc="110" dirty="0">
                <a:solidFill>
                  <a:srgbClr val="4C61E7">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0" y="1570"/>
              <a:ext cx="7116" cy="270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19000"/>
                </a:lnSpc>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稳定可靠的系统保障，</a:t>
              </a:r>
              <a:r>
                <a:rPr lang="en-US" altLang="zh-CN" sz="900" spc="120" dirty="0">
                  <a:solidFill>
                    <a:srgbClr val="4C61E7">
                      <a:alpha val="100000"/>
                    </a:srgbClr>
                  </a:solidFill>
                  <a:latin typeface="黑体" panose="02010609060101010101" charset="-122"/>
                  <a:ea typeface="黑体" panose="02010609060101010101" charset="-122"/>
                  <a:cs typeface="黑体" panose="02010609060101010101" charset="-122"/>
                  <a:sym typeface="+mn-ea"/>
                </a:rPr>
                <a:t>{{security_trust}}</a:t>
              </a:r>
              <a:endParaRPr lang="en-US" altLang="zh-CN" sz="900" spc="120" dirty="0">
                <a:solidFill>
                  <a:srgbClr val="4C61E7">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632" y="1494"/>
              <a:ext cx="7210"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7*24</a:t>
              </a:r>
              <a:r>
                <a:rPr lang="zh-CN" alt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小时的</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a:t>
              </a:r>
              <a:r>
                <a:rPr 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减少应急处置成本，避免业务中</a:t>
              </a:r>
              <a:r>
                <a:rPr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断损失</a:t>
              </a:r>
              <a:r>
                <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；运营风险持续降低，有效支撑公司经营效率提升。</a:t>
              </a:r>
              <a:endPar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753" y="555"/>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27571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27571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{{response_avg}}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49590" y="1275715"/>
            <a:ext cx="1869440" cy="1139826"/>
            <a:chOff x="22707"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707"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{{handle_avg}}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920239" y="1275715"/>
            <a:ext cx="2310913" cy="1145223"/>
            <a:chOff x="29221"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221"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47383" y="5886450"/>
            <a:ext cx="10907713" cy="717550"/>
          </a:xfrm>
          <a:prstGeom prst="rect">
            <a:avLst/>
          </a:prstGeom>
          <a:solidFill>
            <a:schemeClr val="bg1">
              <a:lumMod val="95000"/>
            </a:schemeClr>
          </a:solidFill>
        </p:spPr>
        <p:txBody>
          <a:bodyPr wrap="square" rtlCol="0">
            <a:noAutofit/>
          </a:bodyPr>
          <a:p>
            <a:endParaRPr lang="zh-CN" altLang="en-US"/>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645795"/>
            <a:chOff x="4017" y="5198"/>
            <a:chExt cx="8006" cy="2034"/>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1031240" y="594360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3" name="文本框 22"/>
          <p:cNvSpPr txBox="1"/>
          <p:nvPr/>
        </p:nvSpPr>
        <p:spPr>
          <a:xfrm>
            <a:off x="1031240" y="6245225"/>
            <a:ext cx="2159635" cy="2880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{{asset_improve1}}</a:t>
            </a: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97450" y="6245225"/>
            <a:ext cx="2498090" cy="2880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9302115" y="6245225"/>
            <a:ext cx="1900555" cy="2880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l"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656908"/>
            <a:chOff x="4017" y="8989"/>
            <a:chExt cx="8006" cy="2069"/>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208" y="4912995"/>
            <a:ext cx="6811963" cy="2813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133350" algn="l"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289882" cy="791210"/>
            <a:chOff x="4017" y="7030"/>
            <a:chExt cx="7486" cy="2492"/>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168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{{internet_entry}}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7737" y="7834"/>
              <a:ext cx="3766" cy="1382"/>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{{internet_port}}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{{intranet_server}}</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{{intranet_network}}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{{intranet_iot}}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{{intranet_mss}}</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{{rootdomain_internet}}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{{subdomain_internet}}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{{login_entry}}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{{vuln_high}}</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088981" y="1727835"/>
            <a:ext cx="1893030" cy="693103"/>
            <a:chOff x="29752" y="6559"/>
            <a:chExt cx="5957" cy="2183"/>
          </a:xfrm>
        </p:grpSpPr>
        <p:sp>
          <p:nvSpPr>
            <p:cNvPr id="112" name="文本框 111"/>
            <p:cNvSpPr txBox="1"/>
            <p:nvPr/>
          </p:nvSpPr>
          <p:spPr>
            <a:xfrm>
              <a:off x="30517"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752" y="748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{{vuln_closed}}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22190" y="5251450"/>
            <a:ext cx="6786245" cy="69913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lang="en-US" altLang="zh-CN" sz="1200" b="1" spc="30" dirty="0">
              <a:solidFill>
                <a:srgbClr val="204080">
                  <a:alpha val="100000"/>
                </a:srgbClr>
              </a:solidFill>
              <a:latin typeface="黑体" panose="02010609060101010101" charset="-122"/>
              <a:ea typeface="黑体" panose="02010609060101010101" charset="-122"/>
              <a:cs typeface="黑体" panose="02010609060101010101" charset="-122"/>
            </a:endParaRPr>
          </a:p>
          <a:p>
            <a:pPr marL="261620" algn="l" rtl="0" eaLnBrk="0">
              <a:lnSpc>
                <a:spcPct val="115000"/>
              </a:lnSpc>
            </a:pPr>
            <a:endParaRPr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61620" algn="l" rtl="0" eaLnBrk="0">
              <a:lnSpc>
                <a:spcPct val="115000"/>
              </a:lnSpc>
            </a:pPr>
            <a:endParaRPr sz="1000" dirty="0">
              <a:latin typeface="黑体" panose="02010609060101010101" charset="-122"/>
              <a:ea typeface="黑体" panose="02010609060101010101" charset="-122"/>
              <a:cs typeface="黑体" panose="02010609060101010101" charset="-122"/>
            </a:endParaRPr>
          </a:p>
          <a:p>
            <a:pPr marL="285750" algn="l" rtl="0" eaLnBrk="0">
              <a:lnSpc>
                <a:spcPct val="113000"/>
              </a:lnSpc>
              <a:spcBef>
                <a:spcPts val="5"/>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algn="l" rtl="0" eaLnBrk="0">
              <a:lnSpc>
                <a:spcPct val="124000"/>
              </a:lnSpc>
              <a:spcBef>
                <a:spcPts val="100"/>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3637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73596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663" y="150590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{xdr_attack}}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{{policy_check}}</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14500"/>
            <a:ext cx="249555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{{threat_alert}}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{{mss_ticket}}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{{ticket_response}}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{{policy_optimized}}</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{{threat_intel}}</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982663" y="576326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028"/>
            <a:ext cx="1858328"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345940" y="6056313"/>
            <a:ext cx="2556193" cy="2292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407083" y="6070600"/>
            <a:ext cx="2755265"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992110" y="1530985"/>
            <a:ext cx="6096000" cy="245110"/>
          </a:xfrm>
          <a:prstGeom prst="rect">
            <a:avLst/>
          </a:prstGeom>
          <a:noFill/>
        </p:spPr>
        <p:txBody>
          <a:bodyPr wrap="square" rtlCol="0" anchor="t">
            <a:spAutoFit/>
          </a:bodyPr>
          <a:p>
            <a:r>
              <a:rPr lang="en-US" altLang="zh-CN"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368300"/>
          </a:xfrm>
          <a:prstGeom prst="rect">
            <a:avLst/>
          </a:prstGeom>
          <a:noFill/>
        </p:spPr>
        <p:txBody>
          <a:bodyPr wrap="square" rtlCol="0" anchor="t">
            <a:spAutoFit/>
          </a:bodyPr>
          <a:p>
            <a:r>
              <a:rPr lang="zh-CN" altLang="en-US">
                <a:sym typeface="+mn-ea"/>
              </a:rPr>
              <a:t>{{</a:t>
            </a:r>
            <a:r>
              <a:rPr lang="en-US" altLang="zh-CN">
                <a:sym typeface="+mn-ea"/>
              </a:rPr>
              <a:t>P15_line</a:t>
            </a:r>
            <a:r>
              <a:rPr lang="zh-CN" altLang="en-US">
                <a:sym typeface="+mn-ea"/>
              </a:rPr>
              <a:t>}}</a:t>
            </a:r>
            <a:endParaRPr lang="zh-CN" altLang="en-US">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56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464"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075760" cy="486411"/>
            <a:chOff x="4017" y="7030"/>
            <a:chExt cx="6786" cy="1532"/>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65" y="7868"/>
              <a:ext cx="6338"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980815" cy="2976880"/>
          </a:xfrm>
          <a:prstGeom prst="rect">
            <a:avLst/>
          </a:prstGeom>
          <a:noFill/>
        </p:spPr>
        <p:txBody>
          <a:bodyPr wrap="square" rtlCol="0" anchor="t">
            <a:spAutoFit/>
          </a:bodyPr>
          <a:p>
            <a:pPr marL="13970" algn="l" rtl="0" eaLnBrk="0">
              <a:lnSpc>
                <a:spcPct val="95000"/>
              </a:lnSpc>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{{duty_summary}}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1000" dirty="0">
              <a:latin typeface="黑体" panose="02010609060101010101" charset="-122"/>
              <a:ea typeface="黑体" panose="02010609060101010101" charset="-122"/>
              <a:cs typeface="黑体" panose="02010609060101010101" charset="-122"/>
            </a:endParaRPr>
          </a:p>
          <a:p>
            <a:pPr marL="191770" indent="0" algn="l" rtl="0" eaLnBrk="0" fontAlgn="auto">
              <a:lnSpc>
                <a:spcPct val="150000"/>
              </a:lnSpc>
              <a:spcBef>
                <a:spcPts val="0"/>
              </a:spcBef>
            </a:pPr>
            <a:endParaRPr lang="zh-CN" sz="7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15</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事故，实时攻击达到峰值</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2025年1月1日-1月1日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2025年1月24日-2月5日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月4日-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6</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2025年5月1日-5月5日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2025年5月31日-6月2日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231900" y="1905635"/>
            <a:ext cx="16433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{{fw_attack}}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335405" y="2510155"/>
            <a:ext cx="133540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{{aes_risk}}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{{xdr_log}}</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43065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{{xdr_log}}</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982663" y="576326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028"/>
            <a:ext cx="1858328"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345940" y="6056313"/>
            <a:ext cx="2556193" cy="2292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407083" y="6070600"/>
            <a:ext cx="2755265"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97776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75715" y="499808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{{component_auto}}</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2601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71085" y="2518410"/>
            <a:ext cx="171386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10070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26013"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3049270" y="3100070"/>
            <a:ext cx="165671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{{alert_aggregate}}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{{component_offline}}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871085" y="3100070"/>
            <a:ext cx="15417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{{incident_intel}}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21389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{{xdr_alert}}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3936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{{xdr_incident}}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88759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{{asset_total}}</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{{fw_auto}}</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72105" y="2510155"/>
            <a:ext cx="19989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{{host_handle}}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3.xml><?xml version="1.0" encoding="utf-8"?>
<p:tagLst xmlns:p="http://schemas.openxmlformats.org/presentationml/2006/main">
  <p:tag name="KSO_WM_DIAGRAM_VIRTUALLY_FRAME" val="{&quot;height&quot;:389.6,&quot;left&quot;:211.45,&quot;top&quot;:116.65,&quot;width&quot;:477.55}"/>
</p:tagLst>
</file>

<file path=ppt/tags/tag44.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5.xml><?xml version="1.0" encoding="utf-8"?>
<p:tagLst xmlns:p="http://schemas.openxmlformats.org/presentationml/2006/main">
  <p:tag name="KSO_WM_DIAGRAM_VIRTUALLY_FRAME" val="{&quot;height&quot;:389.6,&quot;left&quot;:211.45,&quot;top&quot;:116.65,&quot;width&quot;:477.55}"/>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12180</Words>
  <Application>WPS 演示</Application>
  <PresentationFormat/>
  <Paragraphs>1243</Paragraphs>
  <Slides>25</Slides>
  <Notes>0</Notes>
  <HiddenSlides>0</HiddenSlides>
  <MMClips>0</MMClips>
  <ScaleCrop>false</ScaleCrop>
  <HeadingPairs>
    <vt:vector size="6" baseType="variant">
      <vt:variant>
        <vt:lpstr>已用的字体</vt:lpstr>
      </vt:variant>
      <vt:variant>
        <vt:i4>36</vt:i4>
      </vt:variant>
      <vt:variant>
        <vt:lpstr>主题</vt:lpstr>
      </vt:variant>
      <vt:variant>
        <vt:i4>2</vt:i4>
      </vt:variant>
      <vt:variant>
        <vt:lpstr>幻灯片标题</vt:lpstr>
      </vt:variant>
      <vt:variant>
        <vt:i4>25</vt:i4>
      </vt:variant>
    </vt:vector>
  </HeadingPairs>
  <TitlesOfParts>
    <vt:vector size="63"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Helvetica Neue</vt:lpstr>
      <vt:lpstr>Source Han Sans CN</vt:lpstr>
      <vt:lpstr>Source Han Sans CN Bold</vt:lpstr>
      <vt:lpstr>Source Han Sans CN Medium</vt:lpstr>
      <vt:lpstr>Source Han Sans CN Normal</vt:lpstr>
      <vt:lpstr>Source Han Sans CN Regular</vt:lpstr>
      <vt:lpstr>Times New Roman</vt:lpstr>
      <vt:lpstr>Sweetie</vt:lpstr>
      <vt:lpstr>Wonder Sans Bold</vt:lpstr>
      <vt:lpstr>Saturday Sans Regular</vt:lpstr>
      <vt:lpstr>Kata Bold</vt:lpstr>
      <vt:lpstr>Noto Sans</vt:lpstr>
      <vt:lpstr>思源黑体 Medium</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121</cp:revision>
  <dcterms:created xsi:type="dcterms:W3CDTF">2026-02-06T08:36:00Z</dcterms:created>
  <dcterms:modified xsi:type="dcterms:W3CDTF">2026-02-27T09:54:40Z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2025-07-29T17:35:42Z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