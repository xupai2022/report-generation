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2563EB"/>
                </a:solidFill>
              </a:rPr>
              <a:t>{{REPORT_TITLE}}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</a:rPr>
              <a:t>{{CUSTOMER_NAME}}  |  {{PERIOD}}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{{CONFIDENTIALITY}}  |  Generated: {{GENERATED_AT}}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{{SLIDE_TITLE}}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E1E1E"/>
                          </a:solidFill>
                        </a:rPr>
                        <a:t>告警总量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E1E1E"/>
                          </a:solidFill>
                        </a:rPr>
                        <a:t>高危事件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E1E1E"/>
                          </a:solidFill>
                        </a:rPr>
                        <a:t>MTTR(h)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1E1E1E"/>
                          </a:solidFill>
                        </a:rPr>
                        <a:t>误报率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2563EB"/>
                          </a:solidFill>
                        </a:rPr>
                        <a:t>{{KPI_ALERTS_TOTAL}}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2563EB"/>
                          </a:solidFill>
                        </a:rPr>
                        <a:t>{{KPI_INC_HIGH}}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2563EB"/>
                          </a:solidFill>
                        </a:rPr>
                        <a:t>{{KPI_MTTR_HOURS}}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2563EB"/>
                          </a:solidFill>
                        </a:rPr>
                        <a:t>{{KPI_FALSE_POS_RATE}}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560320"/>
            <a:ext cx="106984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{{BULLETS}}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{{SLIDE_TITLE}}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6400800" cy="4206240"/>
          </a:xfrm>
          <a:prstGeom prst="rect">
            <a:avLst/>
          </a:prstGeom>
          <a:solidFill>
            <a:srgbClr val="F0F3FA"/>
          </a:solidFill>
          <a:ln>
            <a:solidFill>
              <a:srgbClr val="B4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{{CHART_ALERT_TREND}}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280160"/>
            <a:ext cx="4114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{{TOP_CATEGORIES}}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{{INCIDENT_LIST}}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{{SLIDE_TITLE}}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P0 优先项
{{RECOMMENDATIONS_P0}}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</a:rPr>
              <a:t>P1 下一步
{{RECOMMENDATIONS_P1}}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3093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</a:rPr>
              <a:t>{{FOOTER}}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