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10.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colors9.xml" ContentType="application/vnd.ms-office.chartcolorstyle+xml"/>
  <Override PartName="/ppt/charts/style1.xml" ContentType="application/vnd.ms-office.chartstyle+xml"/>
  <Override PartName="/ppt/charts/style10.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charts/style9.xml" ContentType="application/vnd.ms-office.chartstyle+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00.svg" ContentType="image/svg+xml"/>
  <Override PartName="/ppt/media/image11.svg" ContentType="image/svg+xml"/>
  <Override PartName="/ppt/media/image13.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1.svg" ContentType="image/svg+xml"/>
  <Override PartName="/ppt/media/image53.svg" ContentType="image/svg+xml"/>
  <Override PartName="/ppt/media/image55.svg" ContentType="image/svg+xml"/>
  <Override PartName="/ppt/media/image57.svg" ContentType="image/svg+xml"/>
  <Override PartName="/ppt/media/image59.svg" ContentType="image/svg+xml"/>
  <Override PartName="/ppt/media/image61.svg" ContentType="image/svg+xml"/>
  <Override PartName="/ppt/media/image63.svg" ContentType="image/svg+xml"/>
  <Override PartName="/ppt/media/image65.svg" ContentType="image/svg+xml"/>
  <Override PartName="/ppt/media/image75.svg" ContentType="image/svg+xml"/>
  <Override PartName="/ppt/media/image77.svg" ContentType="image/svg+xml"/>
  <Override PartName="/ppt/media/image81.svg" ContentType="image/svg+xml"/>
  <Override PartName="/ppt/media/image83.svg" ContentType="image/svg+xml"/>
  <Override PartName="/ppt/media/image85.svg" ContentType="image/svg+xml"/>
  <Override PartName="/ppt/media/image9.svg" ContentType="image/svg+xml"/>
  <Override PartName="/ppt/media/image9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6" r:id="rId3"/>
  </p:sldMasterIdLst>
  <p:notesMasterIdLst>
    <p:notesMasterId r:id="rId5"/>
  </p:notesMasterIdLst>
  <p:handoutMasterIdLst>
    <p:handoutMasterId r:id="rId30"/>
  </p:handoutMasterIdLst>
  <p:sldIdLst>
    <p:sldId id="339" r:id="rId4"/>
    <p:sldId id="346" r:id="rId6"/>
    <p:sldId id="341" r:id="rId7"/>
    <p:sldId id="338" r:id="rId8"/>
    <p:sldId id="332" r:id="rId9"/>
    <p:sldId id="342" r:id="rId10"/>
    <p:sldId id="337" r:id="rId11"/>
    <p:sldId id="345" r:id="rId12"/>
    <p:sldId id="344" r:id="rId13"/>
    <p:sldId id="293" r:id="rId14"/>
    <p:sldId id="304" r:id="rId15"/>
    <p:sldId id="301" r:id="rId16"/>
    <p:sldId id="268" r:id="rId17"/>
    <p:sldId id="265" r:id="rId18"/>
    <p:sldId id="271" r:id="rId19"/>
    <p:sldId id="269" r:id="rId20"/>
    <p:sldId id="267" r:id="rId21"/>
    <p:sldId id="295" r:id="rId22"/>
    <p:sldId id="277" r:id="rId23"/>
    <p:sldId id="296" r:id="rId24"/>
    <p:sldId id="327" r:id="rId25"/>
    <p:sldId id="278" r:id="rId26"/>
    <p:sldId id="297" r:id="rId27"/>
    <p:sldId id="316" r:id="rId28"/>
    <p:sldId id="331" r:id="rId29"/>
  </p:sldIdLst>
  <p:sldSz cx="12192000" cy="6858000"/>
  <p:notesSz cx="6858000" cy="9144000"/>
  <p:custDataLst>
    <p:tags r:id="rId3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王帆" initials="WF" lastIdx="1" clrIdx="0"/>
  <p:cmAuthor id="1" name="Microsoft Office User" initials="MOU" lastIdx="5" clrIdx="0"/>
  <p:cmAuthor id="2" name="wangpq" initials="w" lastIdx="1" clrIdx="1"/>
  <p:cmAuthor id="3" name="yerunguo" initials="yerunguo" lastIdx="1" clrIdx="2"/>
  <p:cmAuthor id="4" name="KPMG Cyber" initials="WA(" lastIdx="1" clrIdx="3"/>
  <p:cmAuthor id="5" name="Wang, Autumn" initials="WA(" lastIdx="2" clrIdx="4"/>
  <p:cmAuthor id="312" name="000823681" initials="0" lastIdx="1" clrIdx="311"/>
  <p:cmAuthor id="6" name="chenyang" initials="c" lastIdx="1" clrIdx="5"/>
  <p:cmAuthor id="7" name="98802" initials="9" lastIdx="5" clrIdx="6"/>
  <p:cmAuthor id="8" name="AndyLee" initials="A" lastIdx="5" clrIdx="8"/>
  <p:cmAuthor id="9" name="duan" initials="d" lastIdx="3" clrIdx="8"/>
  <p:cmAuthor id="10" name="wei.xin" initials="w" lastIdx="2" clrIdx="9"/>
  <p:cmAuthor id="11" name="未知用户2" initials="未知用户2" lastIdx="1" clrIdx="5"/>
  <p:cmAuthor id="12" name="未知用户3" initials="未知用户3" lastIdx="1" clrIdx="6"/>
  <p:cmAuthor id="381437688" name="谢学斌" initials="谢" lastIdx="0" clrIdx="0"/>
  <p:cmAuthor id="13" name="吕品" initials="吕品" lastIdx="1" clrIdx="11"/>
  <p:cmAuthor id="15" name="wulifang" initials="wlf" lastIdx="1" clrIdx="14"/>
  <p:cmAuthor id="16" name="彭润" initials="彭" lastIdx="1" clrIdx="15"/>
  <p:cmAuthor id="17" name="未知用户4" initials="未知用户4" lastIdx="1" clrIdx="7"/>
  <p:cmAuthor id="18" name="gt" initials="g" lastIdx="10" clrIdx="17"/>
  <p:cmAuthor id="19" name="未知用户5" initials="未知用户5" lastIdx="1" clrIdx="8"/>
  <p:cmAuthor id="20" name="Jie" initials="J" lastIdx="5" clrIdx="19"/>
  <p:cmAuthor id="21" name="SXF-Admin" initials="S" lastIdx="1" clrIdx="20"/>
  <p:cmAuthor id="22" name="蔡建楠" initials="caijianna" lastIdx="15" clrIdx="17"/>
  <p:cmAuthor id="338605058" name="J I N G " initials="J" lastIdx="1" clrIdx="217"/>
  <p:cmAuthor id="23" name="Sangfor" initials="S" lastIdx="3" clrIdx="22"/>
  <p:cmAuthor id="24" name="李蕾00009994" initials="李" lastIdx="6" clrIdx="17"/>
  <p:cmAuthor id="25" name="wyz" initials="w" lastIdx="1" clrIdx="24"/>
  <p:cmAuthor id="26" name="10270945" initials="1" lastIdx="2" clrIdx="25"/>
  <p:cmAuthor id="27" name="杨艳霞" initials="杨" lastIdx="34" clrIdx="1"/>
  <p:cmAuthor id="28" name="Hou Yingfeng" initials="H" lastIdx="10" clrIdx="23"/>
  <p:cmAuthor id="29" name="吴军" initials="吴" lastIdx="1" clrIdx="0"/>
  <p:cmAuthor id="30" name="sangfor" initials="s" lastIdx="1" clrIdx="29"/>
  <p:cmAuthor id="31" name="Author" initials="A" lastIdx="0" clrIdx="30"/>
  <p:cmAuthor id="287643681" name="殷格非" initials="殷" lastIdx="2" clrIdx="0"/>
  <p:cmAuthor id="32" name="李楠10047711" initials="李楠10047711" lastIdx="2" clrIdx="31"/>
  <p:cmAuthor id="287643682" name="z r" initials="zr" lastIdx="5" clrIdx="12"/>
  <p:cmAuthor id="33" name="610007" initials="6" lastIdx="0" clrIdx="32"/>
  <p:cmAuthor id="287643683" name="lc xue" initials="lx" lastIdx="1" clrIdx="22"/>
  <p:cmAuthor id="34" name="未知用户6" initials="未知用户6" lastIdx="1" clrIdx="9"/>
  <p:cmAuthor id="287643684" name="孟芳芳（借调）" initials="V" lastIdx="1" clrIdx="37"/>
  <p:cmAuthor id="35" name="XUWEI" initials="X" lastIdx="1" clrIdx="10"/>
  <p:cmAuthor id="287643685" name="zhuxiangyi" initials="z" lastIdx="1" clrIdx="38"/>
  <p:cmAuthor id="36" name="俊贤" initials="俊贤" lastIdx="2" clrIdx="21"/>
  <p:cmAuthor id="37" name="Hu. Jimmy" initials="HJ" lastIdx="2" clrIdx="23"/>
  <p:cmAuthor id="38" name="hzq" initials="h" lastIdx="1" clrIdx="37"/>
  <p:cmAuthor id="39" name="Hdd" initials="Hdd" lastIdx="1" clrIdx="38"/>
  <p:cmAuthor id="40" name="张立鑫" initials="张" lastIdx="1" clrIdx="23"/>
  <p:cmAuthor id="41" name="吴铭锐" initials="吴" lastIdx="2" clrIdx="0"/>
  <p:cmAuthor id="42" name="未知用户77" initials="未知用户77" lastIdx="1" clrIdx="0"/>
  <p:cmAuthor id="43" name="YuQing" initials="Y" lastIdx="9" clrIdx="0"/>
  <p:cmAuthor id="44" name="Youwen Sun" initials="Y" lastIdx="3" clrIdx="1"/>
  <p:cmAuthor id="45" name="番茄花园" initials="番" lastIdx="1" clrIdx="0"/>
  <p:cmAuthor id="46" name="meng_" initials="m" lastIdx="7" clrIdx="45"/>
  <p:cmAuthor id="47" name="未知" initials="未" lastIdx="1" clrIdx="0"/>
  <p:cmAuthor id="48" name="周满红" initials="周" lastIdx="24" clrIdx="0"/>
  <p:cmAuthor id="49" name="taojiang" initials="t" lastIdx="2" clrIdx="48"/>
  <p:cmAuthor id="50" name="未知用户8" initials="未" lastIdx="2" clrIdx="4"/>
  <p:cmAuthor id="51" name="未知用户9" initials="未" lastIdx="3" clrIdx="5"/>
  <p:cmAuthor id="191251535" name="沈霄雷" initials="沈" lastIdx="833089" clrIdx="0"/>
  <p:cmAuthor id="52" name="未知用户10" initials="未" lastIdx="9" clrIdx="0"/>
  <p:cmAuthor id="191251536" name="SF" initials="S" lastIdx="6" clrIdx="11"/>
  <p:cmAuthor id="53" name="未知用户11" initials="未" lastIdx="1" clrIdx="0"/>
  <p:cmAuthor id="191251537" name="sammi" initials="s" lastIdx="0" clrIdx="12"/>
  <p:cmAuthor id="54" name="刘思蜀" initials="刘" lastIdx="1" clrIdx="0"/>
  <p:cmAuthor id="191251538" name="zhangmh@httz.cc" initials="z" lastIdx="3" clrIdx="13"/>
  <p:cmAuthor id="55" name="未知用户20" initials="未" lastIdx="1" clrIdx="0"/>
  <p:cmAuthor id="191251539" name="wang" initials="wang" lastIdx="1" clrIdx="14"/>
  <p:cmAuthor id="56" name="未知用户19" initials="未" lastIdx="1" clrIdx="0"/>
  <p:cmAuthor id="57" name="未知用户21" initials="未" lastIdx="1" clrIdx="0"/>
  <p:cmAuthor id="210492765" name="施普希（菜菜）" initials="施" lastIdx="0" clrIdx="0"/>
  <p:cmAuthor id="191251541" name="sjzx" initials="s" lastIdx="1" clrIdx="25"/>
  <p:cmAuthor id="210492766" name="AGK" initials="AGK" lastIdx="4" clrIdx="7"/>
  <p:cmAuthor id="58" name="未知用户14" initials="未" lastIdx="1" clrIdx="0"/>
  <p:cmAuthor id="191251542" name="yang.yuan" initials="y" lastIdx="0" clrIdx="17"/>
  <p:cmAuthor id="210492767" name="书佳 王" initials="书王" lastIdx="3" clrIdx="287"/>
  <p:cmAuthor id="59" name="未知用户15" initials="未" lastIdx="1" clrIdx="0"/>
  <p:cmAuthor id="60" name="未知用户16" initials="未" lastIdx="4" clrIdx="0"/>
  <p:cmAuthor id="210492768" name="zhang" initials="z" lastIdx="2" clrIdx="35"/>
  <p:cmAuthor id="61" name="郝崇" initials="郝" lastIdx="4" clrIdx="1"/>
  <p:cmAuthor id="1483810881" name="WPS_1679281038" initials="W" lastIdx="1" clrIdx="2"/>
  <p:cmAuthor id="62" name="吴杰" initials="吴" lastIdx="1" clrIdx="0"/>
  <p:cmAuthor id="63" name="刘丽仙" initials="刘" lastIdx="4" clrIdx="33"/>
  <p:cmAuthor id="64" name="陶川" initials="陶" lastIdx="1" clrIdx="0"/>
  <p:cmAuthor id="65" name="未知用户44" initials="未知用户44" lastIdx="1" clrIdx="0"/>
  <p:cmAuthor id="66" name="andres.x.gomez" initials="a" lastIdx="4" clrIdx="0"/>
  <p:cmAuthor id="67" name="user" initials="u" lastIdx="502" clrIdx="0"/>
  <p:cmAuthor id="68" name="未知用户45" initials="未知用户45" lastIdx="1" clrIdx="0"/>
  <p:cmAuthor id="69" name="贾清山" initials="贾" lastIdx="1" clrIdx="0"/>
  <p:cmAuthor id="70" name="丁芙蓉" initials="丁" lastIdx="4" clrIdx="1"/>
  <p:cmAuthor id="71" name="gtmc" initials="g" lastIdx="0" clrIdx="0"/>
  <p:cmAuthor id="72" name="王小忠" initials="王" lastIdx="2" clrIdx="2"/>
  <p:cmAuthor id="73" name="未知用户7" initials="未" lastIdx="2" clrIdx="2"/>
  <p:cmAuthor id="74" name="张 彬" initials="张" lastIdx="1" clrIdx="34"/>
  <p:cmAuthor id="75" name="作者" initials="A" lastIdx="0" clrIdx="24"/>
  <p:cmAuthor id="76" name="立峰 陈" initials="立陈" lastIdx="1" clrIdx="35"/>
  <p:cmAuthor id="77" name="未知用户27" initials="未" lastIdx="1" clrIdx="0"/>
  <p:cmAuthor id="78" name="未知用户28" initials="未" lastIdx="1" clrIdx="0"/>
  <p:cmAuthor id="79" name="未知用户29" initials="未" lastIdx="1" clrIdx="0"/>
  <p:cmAuthor id="80" name="未知用户30" initials="未" lastIdx="4" clrIdx="0"/>
  <p:cmAuthor id="81" name="yangkun" initials="y" lastIdx="0" clrIdx="0"/>
  <p:cmAuthor id="82" name="Lenovo User" initials="L" lastIdx="1" clrIdx="0"/>
  <p:cmAuthor id="83" name="hys2" initials="h" lastIdx="1" clrIdx="0"/>
  <p:cmAuthor id="84" name="朱绍春" initials="朱" lastIdx="13" clrIdx="0"/>
  <p:cmAuthor id="85" name="邹洋" initials="邹" lastIdx="2" clrIdx="0"/>
  <p:cmAuthor id="86" name="孟祥超" initials="孟" lastIdx="2" clrIdx="1"/>
  <p:cmAuthor id="87" name="贡鑫" initials="贡" lastIdx="2" clrIdx="0"/>
  <p:cmAuthor id="88" name="administrator1" initials="a" lastIdx="16" clrIdx="2"/>
  <p:cmAuthor id="89" name="杜雪梅" initials="杜" lastIdx="1" clrIdx="0"/>
  <p:cmAuthor id="90" name="仝德志" initials="仝" lastIdx="1" clrIdx="0"/>
  <p:cmAuthor id="91" name="马静" initials="马" lastIdx="0" clrIdx="0"/>
  <p:cmAuthor id="92" name="Qingyunli" initials="Q" lastIdx="24" clrIdx="0"/>
  <p:cmAuthor id="1455558931" name="王军领" initials="王" lastIdx="1" clrIdx="31"/>
  <p:cmAuthor id="93" name="dell" initials="d" lastIdx="1" clrIdx="4"/>
  <p:cmAuthor id="94" name="叶得会" initials="叶" lastIdx="8" clrIdx="0"/>
  <p:cmAuthor id="95" name="未知用户39" initials="未" lastIdx="1" clrIdx="0"/>
  <p:cmAuthor id="96" name="未知用户17" initials="未" lastIdx="1" clrIdx="1"/>
  <p:cmAuthor id="97" name="未知用户18" initials="未" lastIdx="1" clrIdx="0"/>
  <p:cmAuthor id="98" name="liying" initials="l" lastIdx="11" clrIdx="0"/>
  <p:cmAuthor id="99" name="lp" initials="l" lastIdx="1" clrIdx="0"/>
  <p:cmAuthor id="100" name="马海燕" initials="马" lastIdx="1" clrIdx="18"/>
  <p:cmAuthor id="101" name="张钦" initials="张" lastIdx="4" clrIdx="4"/>
  <p:cmAuthor id="102" name="桓蕾" initials="桓" lastIdx="1" clrIdx="101"/>
  <p:cmAuthor id="103" name="lenovo" initials="l" lastIdx="2" clrIdx="45"/>
  <p:cmAuthor id="104" name="鲍华明" initials="鲍" lastIdx="1" clrIdx="0"/>
  <p:cmAuthor id="105" name="刘广艳" initials="刘" lastIdx="10" clrIdx="1"/>
  <p:cmAuthor id="106" name="邹积逊" initials="邹" lastIdx="1" clrIdx="0"/>
  <p:cmAuthor id="107" name="yangyanxia" initials="y" lastIdx="1" clrIdx="0"/>
  <p:cmAuthor id="108" name="刘春辉" initials="刘" lastIdx="4" clrIdx="28"/>
  <p:cmAuthor id="109" name="赵兰玉" initials="赵" lastIdx="1" clrIdx="0"/>
  <p:cmAuthor id="110" name="杜娇龙" initials="杜" lastIdx="2" clrIdx="1"/>
  <p:cmAuthor id="111" name="libin1204@163.com" initials="l" lastIdx="1" clrIdx="102"/>
  <p:cmAuthor id="112" name="未知用户67" initials="未知用户67" lastIdx="1" clrIdx="0"/>
  <p:cmAuthor id="113" name="未知用户73" initials="未" lastIdx="4" clrIdx="0"/>
  <p:cmAuthor id="404272449" name="青山" initials="青" lastIdx="1" clrIdx="37"/>
  <p:cmAuthor id="114" name="魏永生" initials="魏" lastIdx="4" clrIdx="17"/>
  <p:cmAuthor id="115" name="未知用户69" initials="未知用户69" lastIdx="9" clrIdx="0"/>
  <p:cmAuthor id="116" name="未知用户70" initials="未知用户70" lastIdx="3" clrIdx="6"/>
  <p:cmAuthor id="117" name="许弘扬" initials="许" lastIdx="1" clrIdx="0"/>
  <p:cmAuthor id="118" name="新萝卜家园" initials="新" lastIdx="0" clrIdx="0"/>
  <p:cmAuthor id="119" name="未知用户71" initials="未知用户71" lastIdx="1" clrIdx="11"/>
  <p:cmAuthor id="120" name="未知用户80" initials="未" lastIdx="4" clrIdx="1"/>
  <p:cmAuthor id="121" name="未知用户81" initials="未" lastIdx="1" clrIdx="0"/>
  <p:cmAuthor id="122" name="未知用户82" initials="未" lastIdx="1" clrIdx="1"/>
  <p:cmAuthor id="123" name="未知用户83" initials="未" lastIdx="1" clrIdx="0"/>
  <p:cmAuthor id="124" name="未知用户84" initials="未" lastIdx="1" clrIdx="0"/>
  <p:cmAuthor id="125" name="未知用户31" initials="未" lastIdx="23" clrIdx="0"/>
  <p:cmAuthor id="126" name="未知用户62" initials="未" lastIdx="33" clrIdx="0"/>
  <p:cmAuthor id="127" name="Lzy" initials="L" lastIdx="1" clrIdx="0"/>
  <p:cmAuthor id="128" name="陈尚文" initials="陈" lastIdx="1" clrIdx="1"/>
  <p:cmAuthor id="129" name="邢志林" initials="邢" lastIdx="1" clrIdx="0"/>
  <p:cmAuthor id="130" name="张 开阔" initials="张" lastIdx="1" clrIdx="104"/>
  <p:cmAuthor id="131" name="原鹏" initials="y" lastIdx="1" clrIdx="105"/>
  <p:cmAuthor id="132" name="王怀璋" initials="王" lastIdx="1" clrIdx="0"/>
  <p:cmAuthor id="133" name="YANQING BAO" initials="Y" lastIdx="3" clrIdx="0"/>
  <p:cmAuthor id="134" name="Tracy Chen" initials="T" lastIdx="1" clrIdx="0"/>
  <p:cmAuthor id="135" name="dongwc0205" initials="d" lastIdx="1" clrIdx="15"/>
  <p:cmAuthor id="136" name="yuancc04" initials="y" lastIdx="3" clrIdx="0"/>
  <p:cmAuthor id="137" name="Xinyi" initials="X" lastIdx="1" clrIdx="136"/>
  <p:cmAuthor id="138" name="shwyq2008@163.com" initials="s" lastIdx="1" clrIdx="34"/>
  <p:cmAuthor id="139" name="未知用户13" initials="未" lastIdx="11" clrIdx="0"/>
  <p:cmAuthor id="140" name="levy" initials="l" lastIdx="2" clrIdx="0"/>
  <p:cmAuthor id="142" name="User" initials="U" lastIdx="12" clrIdx="0"/>
  <p:cmAuthor id="143" name="毕军(0212009)" initials="毕" lastIdx="10" clrIdx="0"/>
  <p:cmAuthor id="2972517" name="韩佳楠" initials="韩" lastIdx="1488322" clrIdx="0"/>
  <p:cmAuthor id="144" name="dadi" initials="d" lastIdx="2" clrIdx="1"/>
  <p:cmAuthor id="145" name="未知用户43" initials="未" lastIdx="4" clrIdx="1"/>
  <p:cmAuthor id="146" name="zhuqy3" initials="z" lastIdx="1" clrIdx="0"/>
  <p:cmAuthor id="147" name="njlife" initials="n" lastIdx="2" clrIdx="0"/>
  <p:cmAuthor id="148" name="未知用户46" initials="未" lastIdx="1" clrIdx="0"/>
  <p:cmAuthor id="149" name="未知用户47" initials="未" lastIdx="1" clrIdx="3"/>
  <p:cmAuthor id="150" name="未知用户48" initials="未" lastIdx="2" clrIdx="0"/>
  <p:cmAuthor id="151" name="未知用户49" initials="未" lastIdx="1" clrIdx="0"/>
  <p:cmAuthor id="152" name="未知用户50" initials="未" lastIdx="5" clrIdx="2"/>
  <p:cmAuthor id="153" name="未知用户133" initials="未" lastIdx="21" clrIdx="4"/>
  <p:cmAuthor id="154" name="未知用户134" initials="未" lastIdx="1" clrIdx="1"/>
  <p:cmAuthor id="155" name="未知用户135" initials="未" lastIdx="1" clrIdx="0"/>
  <p:cmAuthor id="156" name="未知用户54" initials="未" lastIdx="18" clrIdx="0"/>
  <p:cmAuthor id="157" name="未知用户55" initials="未" lastIdx="2" clrIdx="0"/>
  <p:cmAuthor id="158" name="未知用户56" initials="未" lastIdx="1" clrIdx="22"/>
  <p:cmAuthor id="2000" name="Teresa" initials="authorId_31822446" lastIdx="1024853" clrIdx="0"/>
  <p:cmAuthor id="159" name="未知用户57" initials="未" lastIdx="24" clrIdx="0"/>
  <p:cmAuthor id="2001" name="骆倩怡_Znauj26B" initials="authorId_382814100" lastIdx="0" clrIdx="0"/>
  <p:cmAuthor id="160" name="未知用户58" initials="未" lastIdx="0" clrIdx="0"/>
  <p:cmAuthor id="2002" name="demolong wang" initials="dw" lastIdx="1" clrIdx="38"/>
  <p:cmAuthor id="161" name="未知用户136" initials="未" lastIdx="1" clrIdx="0"/>
  <p:cmAuthor id="2003" name="杜晶晶-投资者关系部_vM3mnymA" initials="authorId_1323951053" lastIdx="1649699480" clrIdx="0"/>
  <p:cmAuthor id="162" name="未知用户137" initials="未" lastIdx="1" clrIdx="0"/>
  <p:cmAuthor id="2004" name="沈思铭" initials="沈思铭" lastIdx="19" clrIdx="34"/>
  <p:cmAuthor id="163" name="未知用户146" initials="未" lastIdx="1" clrIdx="0"/>
  <p:cmAuthor id="164" name="未知用户138" initials="未" lastIdx="1" clrIdx="0"/>
  <p:cmAuthor id="165" name="未知用户139" initials="未" lastIdx="4" clrIdx="0"/>
  <p:cmAuthor id="166" name="未知用户140" initials="未" lastIdx="13" clrIdx="0"/>
  <p:cmAuthor id="691587970" name="小延魔法师" initials="小" lastIdx="1126286" clrIdx="0"/>
  <p:cmAuthor id="167" name="未知用户141" initials="未" lastIdx="2" clrIdx="0"/>
  <p:cmAuthor id="168" name="未知用户142" initials="未" lastIdx="2" clrIdx="1"/>
  <p:cmAuthor id="169" name="未知用户143" initials="未" lastIdx="16" clrIdx="2"/>
  <p:cmAuthor id="170" name="未知用户144" initials="未" lastIdx="0" clrIdx="0"/>
  <p:cmAuthor id="171" name="王志刚" initials="王" lastIdx="1" clrIdx="0"/>
  <p:cmAuthor id="172" name="徐光宇" initials="徐" lastIdx="1" clrIdx="0"/>
  <p:cmAuthor id="173" name="mac" initials="m" lastIdx="1" clrIdx="0"/>
  <p:cmAuthor id="174" name="Liu, Leo (MBSHR cs)" initials="L" lastIdx="2" clrIdx="0"/>
  <p:cmAuthor id="175" name="刘豹" initials="刘" lastIdx="0" clrIdx="0"/>
  <p:cmAuthor id="176" name="张艳芳" initials="张" lastIdx="3" clrIdx="0"/>
  <p:cmAuthor id="177" name="超乎想象" initials="超" lastIdx="1" clrIdx="176"/>
  <p:cmAuthor id="178" name="志斌 杜" initials="志" lastIdx="5" clrIdx="103"/>
  <p:cmAuthor id="180" name="未知用户88" initials="未" lastIdx="3" clrIdx="0"/>
  <p:cmAuthor id="8535702" name="曾蓓/贝贝" initials="曾" lastIdx="0" clrIdx="0"/>
  <p:cmAuthor id="181" name="未知用户89" initials="未" lastIdx="21" clrIdx="4"/>
  <p:cmAuthor id="182" name="未知用户90" initials="未" lastIdx="1" clrIdx="1"/>
  <p:cmAuthor id="183" name="未知用户91" initials="未" lastIdx="1" clrIdx="0"/>
  <p:cmAuthor id="184" name="未知用户92" initials="未" lastIdx="1" clrIdx="0"/>
  <p:cmAuthor id="185" name="未知用户93" initials="未" lastIdx="1" clrIdx="0"/>
  <p:cmAuthor id="186" name="未知用户94" initials="未" lastIdx="1" clrIdx="0"/>
  <p:cmAuthor id="187" name="未知用户95" initials="未" lastIdx="4" clrIdx="0"/>
  <p:cmAuthor id="188" name="未知用户96" initials="未" lastIdx="13" clrIdx="0"/>
  <p:cmAuthor id="189" name="未知用户97" initials="未" lastIdx="2" clrIdx="0"/>
  <p:cmAuthor id="190" name="未知用户98" initials="未" lastIdx="2" clrIdx="1"/>
  <p:cmAuthor id="191" name="未知用户99" initials="未" lastIdx="16" clrIdx="2"/>
  <p:cmAuthor id="192" name="未知用户100" initials="未" lastIdx="0" clrIdx="0"/>
  <p:cmAuthor id="193" name="未知用户101" initials="未" lastIdx="3" clrIdx="0"/>
  <p:cmAuthor id="194" name="Temp" initials="T" lastIdx="0" clrIdx="0"/>
  <p:cmAuthor id="195" name="未知用户72" initials="未" lastIdx="2" clrIdx="1"/>
  <p:cmAuthor id="196" name="雍中婧" initials="雍" lastIdx="26" clrIdx="0"/>
  <p:cmAuthor id="197" name="未知用户74" initials="未" lastIdx="0" clrIdx="0"/>
  <p:cmAuthor id="198" name="未知用户75" initials="未" lastIdx="3" clrIdx="0"/>
  <p:cmAuthor id="199" name="未知用户76" initials="未" lastIdx="21" clrIdx="4"/>
  <p:cmAuthor id="200" name="lin lin" initials="l" lastIdx="1" clrIdx="0"/>
  <p:cmAuthor id="201" name="未知用户78" initials="未" lastIdx="1" clrIdx="0"/>
  <p:cmAuthor id="202" name="未知用户79" initials="未" lastIdx="2" clrIdx="0"/>
  <p:cmAuthor id="203" name="未知用户12" initials="未知用户12" lastIdx="4" clrIdx="0"/>
  <p:cmAuthor id="204" name="李明强" initials="李" lastIdx="1" clrIdx="203"/>
  <p:cmAuthor id="205" name="wang_cf" initials="w" lastIdx="8" clrIdx="204"/>
  <p:cmAuthor id="206" name="itw_chenfy01" initials="i" lastIdx="1" clrIdx="205"/>
  <p:cmAuthor id="207" name="wangll132" initials="w" lastIdx="1" clrIdx="206"/>
  <p:cmAuthor id="208" name="未知用户85" initials="未" lastIdx="2" clrIdx="1"/>
  <p:cmAuthor id="209" name="未知用户86" initials="未" lastIdx="16" clrIdx="2"/>
  <p:cmAuthor id="210" name="李刚" initials="李" lastIdx="3" clrIdx="0"/>
  <p:cmAuthor id="211" name="侯 林" initials="侯" lastIdx="2" clrIdx="35"/>
  <p:cmAuthor id="212" name="徐仕超" initials="徐" lastIdx="1" clrIdx="3"/>
  <p:cmAuthor id="213" name="Pei" initials="P" lastIdx="0" clrIdx="1"/>
  <p:cmAuthor id="214" name="Ying Li" initials="Y" lastIdx="1" clrIdx="2"/>
  <p:cmAuthor id="394525608" name="仇怿俊" initials="仇" lastIdx="0" clrIdx="0"/>
  <p:cmAuthor id="215" name="lou cynthia" initials="l" lastIdx="1" clrIdx="0"/>
  <p:cmAuthor id="394525609" name="mei shuo" initials="mei shuo" lastIdx="1" clrIdx="24"/>
  <p:cmAuthor id="216" name="未知的使用者197" initials="未" lastIdx="8" clrIdx="0"/>
  <p:cmAuthor id="394525610" name="dengwanting" initials="d" lastIdx="1" clrIdx="50"/>
  <p:cmAuthor id="217" name="马红" initials="马" lastIdx="7" clrIdx="0"/>
  <p:cmAuthor id="394525611" name="mouse zz" initials="mz" lastIdx="1" clrIdx="54"/>
  <p:cmAuthor id="218" name="Shi Xiao" initials="SX" lastIdx="1" clrIdx="106"/>
  <p:cmAuthor id="219" name="卢 米薇" initials="卢" lastIdx="1" clrIdx="107"/>
  <p:cmAuthor id="220" name="未知的使用者165" initials="未" lastIdx="1" clrIdx="0"/>
  <p:cmAuthor id="221" name="未知的使用者158" initials="未" lastIdx="1" clrIdx="0"/>
  <p:cmAuthor id="49837067" name="刘浩" initials="刘" lastIdx="180431" clrIdx="0"/>
  <p:cmAuthor id="222" name="LJ" initials="L" lastIdx="1" clrIdx="221"/>
  <p:cmAuthor id="223" name="未知的使用者149" initials="未" lastIdx="10" clrIdx="0"/>
  <p:cmAuthor id="49837068" name="Vivian Liu" initials="VL" lastIdx="1" clrIdx="1"/>
  <p:cmAuthor id="224" name="未知的使用者150" initials="未" lastIdx="1" clrIdx="0"/>
  <p:cmAuthor id="49837069" name="he zhirui" initials="hz" lastIdx="1" clrIdx="82"/>
  <p:cmAuthor id="225" name="未知的使用者166" initials="未" lastIdx="8" clrIdx="0"/>
  <p:cmAuthor id="49837070" name="伟哥" initials="伟哥" lastIdx="1" clrIdx="138"/>
  <p:cmAuthor id="226" name="未知的使用者167" initials="未" lastIdx="0" clrIdx="1"/>
  <p:cmAuthor id="227" name="未知的使用者159" initials="未" lastIdx="1" clrIdx="1"/>
  <p:cmAuthor id="228" name="Chris Kou" initials="C" lastIdx="1" clrIdx="0"/>
  <p:cmAuthor id="229" name="未知的使用者168" initials="未" lastIdx="1" clrIdx="0"/>
  <p:cmAuthor id="230" name="未知的使用者169" initials="未" lastIdx="1" clrIdx="0"/>
  <p:cmAuthor id="231" name="未知的使用者117" initials="未" lastIdx="1" clrIdx="0"/>
  <p:cmAuthor id="232" name="樊佳佳" initials="樊" lastIdx="59" clrIdx="5"/>
  <p:cmAuthor id="233" name="未知的使用者119" initials="未" lastIdx="1" clrIdx="2"/>
  <p:cmAuthor id="234" name="云峰 贾" initials="云" lastIdx="2" clrIdx="0"/>
  <p:cmAuthor id="237" name="杨彦伟" initials="杨" lastIdx="3" clrIdx="0"/>
  <p:cmAuthor id="238" name="Azfar Mir" initials="A" lastIdx="130" clrIdx="0"/>
  <p:cmAuthor id="239" name="张金玉" initials="张" lastIdx="1" clrIdx="0"/>
  <p:cmAuthor id="475196944" name="姚琳" initials="姚" lastIdx="1133934" clrIdx="0"/>
  <p:cmAuthor id="240" name="周平" initials="周" lastIdx="0" clrIdx="0"/>
  <p:cmAuthor id="475196945" name="chen" initials="c" lastIdx="1" clrIdx="2"/>
  <p:cmAuthor id="241" name="董 人美" initials="董" lastIdx="4" clrIdx="108"/>
  <p:cmAuthor id="1411827" name="黄晓平" initials="黄" lastIdx="0" clrIdx="0"/>
  <p:cmAuthor id="475196946" name="王 成岩" initials="王" lastIdx="1" clrIdx="23"/>
  <p:cmAuthor id="242" name="顾 Filizia" initials="顾" lastIdx="3" clrIdx="222"/>
  <p:cmAuthor id="475196947" name="陶夏溦" initials="陶夏溦" lastIdx="1" clrIdx="46"/>
  <p:cmAuthor id="243" name="未知的使用者183" initials="未" lastIdx="2" clrIdx="0"/>
  <p:cmAuthor id="475196948" name="uo G" initials="uG" lastIdx="1" clrIdx="223"/>
  <p:cmAuthor id="244" name="未知的使用者184" initials="未" lastIdx="8" clrIdx="0"/>
  <p:cmAuthor id="245" name="未知的使用者185" initials="未" lastIdx="5" clrIdx="0"/>
  <p:cmAuthor id="246" name="未知的使用者186" initials="未" lastIdx="10" clrIdx="0"/>
  <p:cmAuthor id="247" name="未知的使用者187" initials="未" lastIdx="1" clrIdx="0"/>
  <p:cmAuthor id="248" name="未知的使用者201" initials="未" lastIdx="8" clrIdx="0"/>
  <p:cmAuthor id="249" name="未知的使用者202" initials="未" lastIdx="0" clrIdx="1"/>
  <p:cmAuthor id="250" name="未知的使用者171" initials="未" lastIdx="3" clrIdx="1"/>
  <p:cmAuthor id="251" name="未知的使用者195" initials="未" lastIdx="1" clrIdx="1"/>
  <p:cmAuthor id="252" name="未知的使用者173" initials="未" lastIdx="6" clrIdx="0"/>
  <p:cmAuthor id="253" name="未知的使用者196" initials="未" lastIdx="1" clrIdx="0"/>
  <p:cmAuthor id="254" name="未知的使用者175" initials="未" lastIdx="2" clrIdx="0"/>
  <p:cmAuthor id="203790539" name="k" initials="k" lastIdx="4" clrIdx="36"/>
  <p:cmAuthor id="255" name="未知的使用者203" initials="未" lastIdx="1" clrIdx="0"/>
  <p:cmAuthor id="256" name="未知的使用者204" initials="未" lastIdx="1" clrIdx="0"/>
  <p:cmAuthor id="257" name="未知的使用者41" initials="未" lastIdx="5" clrIdx="1"/>
  <p:cmAuthor id="258" name="未知的使用者42" initials="未" lastIdx="1" clrIdx="1"/>
  <p:cmAuthor id="259" name="Evonlin" initials="E" lastIdx="2" clrIdx="2"/>
  <p:cmAuthor id="260" name="未知的使用者39" initials="未" lastIdx="10" clrIdx="0"/>
  <p:cmAuthor id="261" name="未知的使用者38" initials="未" lastIdx="1" clrIdx="0"/>
  <p:cmAuthor id="262" name="未知用户37" initials="未" lastIdx="8" clrIdx="0"/>
  <p:cmAuthor id="263" name="未知用户38" initials="未" lastIdx="8" clrIdx="0"/>
  <p:cmAuthor id="265" name="Admin" initials="A" lastIdx="1" clrIdx="2"/>
  <p:cmAuthor id="626391093" name="KQ" initials="K" lastIdx="1" clrIdx="214"/>
  <p:cmAuthor id="266" name="未知的使用者64" initials="未" lastIdx="8" clrIdx="0"/>
  <p:cmAuthor id="267" name="未知的使用者65" initials="未" lastIdx="1" clrIdx="0"/>
  <p:cmAuthor id="268" name="未知的使用者66" initials="未" lastIdx="1" clrIdx="0"/>
  <p:cmAuthor id="269" name="未知的使用者57" initials="未" lastIdx="1" clrIdx="0"/>
  <p:cmAuthor id="271" name="未知用户36" initials="未" lastIdx="1" clrIdx="0"/>
  <p:cmAuthor id="277" name="未知用户32" initials="未" lastIdx="1" clrIdx="0"/>
  <p:cmAuthor id="278" name="未知用户33" initials="未" lastIdx="1" clrIdx="0"/>
  <p:cmAuthor id="279" name="未知用户34" initials="未" lastIdx="2" clrIdx="0"/>
  <p:cmAuthor id="280" name="huang gerrard" initials="h" lastIdx="1" clrIdx="0"/>
  <p:cmAuthor id="281" name="xuanyuanxuanyi dad" initials="xd" lastIdx="1" clrIdx="50"/>
  <p:cmAuthor id="282" name="kingdee" initials="k" lastIdx="5" clrIdx="51"/>
  <p:cmAuthor id="284" name="LLM" initials="L" lastIdx="2" clrIdx="283"/>
  <p:cmAuthor id="285" name="hongmudan" initials="h" lastIdx="2" clrIdx="284"/>
  <p:cmAuthor id="287" name="kongtao" initials="k" lastIdx="8" clrIdx="286"/>
  <p:cmAuthor id="708433798" name="jialuo" initials="j" lastIdx="0" clrIdx="0"/>
  <p:cmAuthor id="708433799" name="清泺 戴" initials="清戴" lastIdx="25" clrIdx="36"/>
  <p:cmAuthor id="353158055" name="韩雨" initials="韩" lastIdx="0" clrIdx="0"/>
  <p:cmAuthor id="302" name="kfzx-lind" initials="k" lastIdx="1" clrIdx="301"/>
  <p:cmAuthor id="1034815950" name="刘威" initials="刘" lastIdx="2" clrIdx="1"/>
  <p:cmAuthor id="326" name="Lee, Arthur" initials="LA" lastIdx="0" clrIdx="325"/>
  <p:cmAuthor id="327" name="朱 宇轩" initials="朱" lastIdx="0" clrIdx="326"/>
  <p:cmAuthor id="328" name="先生 桑" initials="先" lastIdx="0" clrIdx="327"/>
  <p:cmAuthor id="329" name="吕 德" initials="吕" lastIdx="0" clrIdx="328"/>
  <p:cmAuthor id="330" name="李 武发" initials="李" lastIdx="0" clrIdx="329"/>
  <p:cmAuthor id="331" name="Administrator" initials="A" lastIdx="0" clrIdx="330"/>
  <p:cmAuthor id="332" name="xiaotaiyang" initials="x" lastIdx="0" clrIdx="331"/>
  <p:cmAuthor id="333" name="kangqingchun" initials="k" lastIdx="0" clrIdx="332"/>
  <p:cmAuthor id="334" name="幸全" initials="幸全" lastIdx="0" clrIdx="333"/>
  <p:cmAuthor id="335" name="琰 晞" initials="琰" lastIdx="0" clrIdx="334"/>
  <p:cmAuthor id="336" name="未知用户1" initials="未知用户1" lastIdx="0" clrIdx="335"/>
  <p:cmAuthor id="337" name="慕安 王" initials="慕王" lastIdx="0" clrIdx="336"/>
  <p:cmAuthor id="338" name="Dongbin" initials="S" lastIdx="0" clrIdx="337"/>
  <p:cmAuthor id="339" name="范作霖" initials="范" lastIdx="0" clrIdx="338"/>
  <p:cmAuthor id="340" name="叶 锦龙" initials="叶" lastIdx="0" clrIdx="339"/>
  <p:cmAuthor id="341" name="林夕" initials="林夕" lastIdx="0" clrIdx="340"/>
  <p:cmAuthor id="342" name="tommy tang" initials="tt" lastIdx="0" clrIdx="341"/>
  <p:cmAuthor id="343" name="丁大鹏" initials="ddp" lastIdx="0" clrIdx="342"/>
  <p:cmAuthor id="344" name="yeziapp" initials="y" lastIdx="0" clrIdx="343"/>
  <p:cmAuthor id="345" name="韦 体东" initials="韦" lastIdx="0" clrIdx="344"/>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4C61E7"/>
    <a:srgbClr val="204090"/>
    <a:srgbClr val="DAE3F3"/>
    <a:srgbClr val="F0F9F4"/>
    <a:srgbClr val="403080"/>
    <a:srgbClr val="FCFCFB"/>
    <a:srgbClr val="00C2C7"/>
    <a:srgbClr val="EAEEF1"/>
    <a:srgbClr val="0098D5"/>
    <a:srgbClr val="67BE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5" Type="http://schemas.openxmlformats.org/officeDocument/2006/relationships/tags" Target="tags/tag492.xml"/><Relationship Id="rId34" Type="http://schemas.openxmlformats.org/officeDocument/2006/relationships/commentAuthors" Target="commentAuthors.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handoutMaster" Target="handoutMasters/handoutMaster1.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Users/macos/Library/Containers/com.tencent.WeWorkMac/Data/WeDrive/&#28145;&#20449;&#26381;&#31185;&#25216;&#32929;&#20221;&#26377;&#38480;&#20844;&#21496;/CSM%20&#35013;&#22791;&#24211;-2025/&#27719;&#25253;%26&#27807;&#36890;/&#20215;&#20540;%26&#26041;&#26696;&#27719;&#25253;/&#12304;&#20225;&#19994;&#12305;&#23433;&#20840;&#36816;&#33829;&#24037;&#20316;&#25253;&#21578;&#25903;&#25745;&#25968;&#25454;.xlsx" TargetMode="External"/></Relationships>
</file>

<file path=ppt/charts/_rels/chart2.xml.rels><?xml version="1.0" encoding="UTF-8" standalone="yes"?>
<Relationships xmlns="http://schemas.openxmlformats.org/package/2006/relationships"><Relationship Id="rId4" Type="http://schemas.microsoft.com/office/2011/relationships/chartColorStyle" Target="colors2.xml"/><Relationship Id="rId3" Type="http://schemas.microsoft.com/office/2011/relationships/chartStyle" Target="style2.xml"/><Relationship Id="rId2" Type="http://schemas.openxmlformats.org/officeDocument/2006/relationships/themeOverride" Target="../theme/themeOverride1.xml"/><Relationship Id="rId1" Type="http://schemas.openxmlformats.org/officeDocument/2006/relationships/oleObject" Target="/Users/macos/Desktop/For%20Work/&#27969;&#31243;%26&#35013;&#22791;/&#23458;&#25143;&#27719;&#25253;/&#24456;&#22810;&#40060;/&#25253;&#21578;&#27169;&#26495;/&#24456;&#22810;&#40060;&#23433;&#20840;&#36816;&#33829;&#24037;&#20316;&#25253;&#21578;-20250801.xlsx" TargetMode="External"/></Relationships>
</file>

<file path=ppt/charts/_rels/chart3.xml.rels><?xml version="1.0" encoding="UTF-8" standalone="yes"?>
<Relationships xmlns="http://schemas.openxmlformats.org/package/2006/relationships"><Relationship Id="rId4" Type="http://schemas.microsoft.com/office/2011/relationships/chartColorStyle" Target="colors3.xml"/><Relationship Id="rId3" Type="http://schemas.microsoft.com/office/2011/relationships/chartStyle" Target="style3.xml"/><Relationship Id="rId2" Type="http://schemas.openxmlformats.org/officeDocument/2006/relationships/themeOverride" Target="../theme/themeOverride2.xml"/><Relationship Id="rId1" Type="http://schemas.openxmlformats.org/officeDocument/2006/relationships/oleObject" Target="/Users/macos/Library/Containers/com.tencent.WeWorkMac/Data/WeDrive/&#28145;&#20449;&#26381;&#31185;&#25216;&#32929;&#20221;&#26377;&#38480;&#20844;&#21496;/CSM%20&#35013;&#22791;&#24211;-2025/&#27719;&#25253;%26&#27807;&#36890;/&#20215;&#20540;%26&#26041;&#26696;&#27719;&#25253;/&#12304;&#20225;&#19994;&#12305;&#23433;&#20840;&#36816;&#33829;&#24037;&#20316;&#25253;&#21578;&#25903;&#25745;&#25968;&#25454;.xlsx" TargetMode="External"/></Relationships>
</file>

<file path=ppt/charts/_rels/chart4.xml.rels><?xml version="1.0" encoding="UTF-8" standalone="yes"?>
<Relationships xmlns="http://schemas.openxmlformats.org/package/2006/relationships"><Relationship Id="rId4" Type="http://schemas.microsoft.com/office/2011/relationships/chartColorStyle" Target="colors4.xml"/><Relationship Id="rId3" Type="http://schemas.microsoft.com/office/2011/relationships/chartStyle" Target="style4.xml"/><Relationship Id="rId2" Type="http://schemas.openxmlformats.org/officeDocument/2006/relationships/themeOverride" Target="../theme/themeOverride3.xml"/><Relationship Id="rId1" Type="http://schemas.openxmlformats.org/officeDocument/2006/relationships/oleObject" Target="/Users/macos/Desktop/For%20Work/&#27969;&#31243;%26&#35013;&#22791;/&#23458;&#25143;&#27719;&#25253;/&#24456;&#22810;&#40060;/&#25253;&#21578;&#27169;&#26495;/&#24456;&#22810;&#40060;&#23433;&#20840;&#36816;&#33829;&#24037;&#20316;&#25253;&#21578;-20250801.xlsx" TargetMode="External"/></Relationships>
</file>

<file path=ppt/charts/_rels/chart5.xml.rels><?xml version="1.0" encoding="UTF-8" standalone="yes"?>
<Relationships xmlns="http://schemas.openxmlformats.org/package/2006/relationships"><Relationship Id="rId4" Type="http://schemas.microsoft.com/office/2011/relationships/chartColorStyle" Target="colors5.xml"/><Relationship Id="rId3" Type="http://schemas.microsoft.com/office/2011/relationships/chartStyle" Target="style5.xml"/><Relationship Id="rId2" Type="http://schemas.openxmlformats.org/officeDocument/2006/relationships/themeOverride" Target="../theme/themeOverride4.xml"/><Relationship Id="rId1" Type="http://schemas.openxmlformats.org/officeDocument/2006/relationships/oleObject" Target="/Users/macos/Desktop/For%20Work/&#27969;&#31243;%26&#35013;&#22791;/&#23458;&#25143;&#27719;&#25253;/&#24456;&#22810;&#40060;/&#25253;&#21578;&#27169;&#26495;/&#24456;&#22810;&#40060;&#23433;&#20840;&#36816;&#33829;&#24037;&#20316;&#25253;&#21578;-20250801.xlsx" TargetMode="External"/></Relationships>
</file>

<file path=ppt/charts/_rels/chart6.xml.rels><?xml version="1.0" encoding="UTF-8" standalone="yes"?>
<Relationships xmlns="http://schemas.openxmlformats.org/package/2006/relationships"><Relationship Id="rId3" Type="http://schemas.microsoft.com/office/2011/relationships/chartColorStyle" Target="colors6.xml"/><Relationship Id="rId2" Type="http://schemas.microsoft.com/office/2011/relationships/chartStyle" Target="style6.xml"/><Relationship Id="rId1" Type="http://schemas.openxmlformats.org/officeDocument/2006/relationships/oleObject" Target="/Users/macos/Desktop/For%20Work/&#27969;&#31243;%26&#35013;&#22791;/&#23458;&#25143;&#27719;&#25253;/&#24456;&#22810;&#40060;/&#25253;&#21578;&#27169;&#26495;/&#24456;&#22810;&#40060;&#23433;&#20840;&#36816;&#33829;&#24037;&#20316;&#25253;&#21578;-20250801.xlsx" TargetMode="External"/></Relationships>
</file>

<file path=ppt/charts/_rels/chart7.xml.rels><?xml version="1.0" encoding="UTF-8" standalone="yes"?>
<Relationships xmlns="http://schemas.openxmlformats.org/package/2006/relationships"><Relationship Id="rId3" Type="http://schemas.microsoft.com/office/2011/relationships/chartColorStyle" Target="colors7.xml"/><Relationship Id="rId2" Type="http://schemas.microsoft.com/office/2011/relationships/chartStyle" Target="style7.xml"/><Relationship Id="rId1" Type="http://schemas.openxmlformats.org/officeDocument/2006/relationships/oleObject" Target="/Users/macos/Desktop/For%20Work/&#27969;&#31243;%26&#35013;&#22791;/&#23458;&#25143;&#27719;&#25253;/&#24456;&#22810;&#40060;/&#25253;&#21578;&#27169;&#26495;/&#24456;&#22810;&#40060;&#23433;&#20840;&#36816;&#33829;&#24037;&#20316;&#25253;&#21578;-20250801.xlsx" TargetMode="External"/></Relationships>
</file>

<file path=ppt/charts/_rels/chart8.xml.rels><?xml version="1.0" encoding="UTF-8" standalone="yes"?>
<Relationships xmlns="http://schemas.openxmlformats.org/package/2006/relationships"><Relationship Id="rId3" Type="http://schemas.microsoft.com/office/2011/relationships/chartColorStyle" Target="colors8.xml"/><Relationship Id="rId2" Type="http://schemas.microsoft.com/office/2011/relationships/chartStyle" Target="style8.xml"/><Relationship Id="rId1" Type="http://schemas.openxmlformats.org/officeDocument/2006/relationships/oleObject" Target="/Users/macos/Desktop/For%20Work/&#27969;&#31243;%26&#35013;&#22791;/&#23458;&#25143;&#27719;&#25253;/&#24456;&#22810;&#40060;/20250731/&#22806;&#37096;&#25915;&#20987;&#25968;&#25454;&#30475;&#26495;.xlsx" TargetMode="External"/></Relationships>
</file>

<file path=ppt/charts/_rels/chart9.xml.rels><?xml version="1.0" encoding="UTF-8" standalone="yes"?>
<Relationships xmlns="http://schemas.openxmlformats.org/package/2006/relationships"><Relationship Id="rId3" Type="http://schemas.microsoft.com/office/2011/relationships/chartColorStyle" Target="colors9.xml"/><Relationship Id="rId2" Type="http://schemas.microsoft.com/office/2011/relationships/chartStyle" Target="style9.xml"/><Relationship Id="rId1" Type="http://schemas.openxmlformats.org/officeDocument/2006/relationships/oleObject" Target="/Users/macos/Desktop/For%20Work/&#27969;&#31243;%26&#35013;&#22791;/&#23458;&#25143;&#27719;&#25253;/&#24456;&#22810;&#40060;/20250731/&#22806;&#37096;&#25915;&#20987;&#25968;&#25454;&#30475;&#26495;.xlsx" TargetMode="External"/></Relationships>
</file>

<file path=ppt/charts/_rels/chart10.xml.rels><?xml version="1.0" encoding="UTF-8" standalone="yes"?>
<Relationships xmlns="http://schemas.openxmlformats.org/package/2006/relationships"><Relationship Id="rId3" Type="http://schemas.microsoft.com/office/2011/relationships/chartColorStyle" Target="colors10.xml"/><Relationship Id="rId2" Type="http://schemas.microsoft.com/office/2011/relationships/chartStyle" Target="style10.xml"/><Relationship Id="rId1" Type="http://schemas.openxmlformats.org/officeDocument/2006/relationships/oleObject" Target="/Users/macos/Desktop/For%20Work/&#27969;&#31243;%26&#35013;&#22791;/&#23458;&#25143;&#27719;&#25253;/&#24456;&#22810;&#40060;/&#25253;&#21578;&#27169;&#26495;/&#24456;&#22810;&#40060;&#23433;&#20840;&#36816;&#33829;&#24037;&#20316;&#25253;&#21578;-20250801.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614410134600158"/>
          <c:y val="0.197183098591549"/>
          <c:w val="0.909527579836368"/>
          <c:h val="0.643213828425096"/>
        </c:manualLayout>
      </c:layout>
      <c:barChart>
        <c:barDir val="col"/>
        <c:grouping val="clustered"/>
        <c:varyColors val="0"/>
        <c:ser>
          <c:idx val="0"/>
          <c:order val="0"/>
          <c:tx>
            <c:strRef>
              <c:f>"平均处置时间（分钟）"</c:f>
              <c:strCache>
                <c:ptCount val="1"/>
                <c:pt idx="0">
                  <c:v>平均处置时间（分钟）</c:v>
                </c:pt>
              </c:strCache>
            </c:strRef>
          </c:tx>
          <c:spPr>
            <a:solidFill>
              <a:schemeClr val="accent1"/>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[【企业】安全运营工作报告支撑数据.xlsx]数据统计!$F$5:$F$8</c:f>
              <c:strCache>
                <c:ptCount val="4"/>
                <c:pt idx="0">
                  <c:v>识别</c:v>
                </c:pt>
                <c:pt idx="1">
                  <c:v>响应</c:v>
                </c:pt>
                <c:pt idx="2">
                  <c:v>处置</c:v>
                </c:pt>
                <c:pt idx="3">
                  <c:v>闭环</c:v>
                </c:pt>
              </c:strCache>
            </c:strRef>
          </c:cat>
          <c:val>
            <c:numRef>
              <c:f>[【企业】安全运营工作报告支撑数据.xlsx]数据统计!$G$5:$G$8</c:f>
              <c:numCache>
                <c:formatCode>0.00_ </c:formatCode>
                <c:ptCount val="4"/>
                <c:pt idx="0">
                  <c:v>6.41666666666667</c:v>
                </c:pt>
                <c:pt idx="1">
                  <c:v>25.4666666666667</c:v>
                </c:pt>
                <c:pt idx="2">
                  <c:v>572.016666666667</c:v>
                </c:pt>
                <c:pt idx="3">
                  <c:v>625.383333333333</c:v>
                </c:pt>
              </c:numCache>
            </c:numRef>
          </c:val>
        </c:ser>
        <c:dLbls>
          <c:showLegendKey val="0"/>
          <c:showVal val="1"/>
          <c:showCatName val="0"/>
          <c:showSerName val="0"/>
          <c:showPercent val="0"/>
          <c:showBubbleSize val="0"/>
        </c:dLbls>
        <c:gapWidth val="246"/>
        <c:overlap val="-28"/>
        <c:axId val="590885613"/>
        <c:axId val="82692506"/>
      </c:barChart>
      <c:catAx>
        <c:axId val="590885613"/>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82692506"/>
        <c:crosses val="autoZero"/>
        <c:auto val="1"/>
        <c:lblAlgn val="ctr"/>
        <c:lblOffset val="100"/>
        <c:noMultiLvlLbl val="0"/>
      </c:catAx>
      <c:valAx>
        <c:axId val="82692506"/>
        <c:scaling>
          <c:orientation val="minMax"/>
        </c:scaling>
        <c:delete val="0"/>
        <c:axPos val="l"/>
        <c:numFmt formatCode="0.00_ "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590885613"/>
        <c:crosses val="autoZero"/>
        <c:crossBetween val="between"/>
      </c:valAx>
      <c:spPr>
        <a:noFill/>
        <a:ln>
          <a:noFill/>
        </a:ln>
        <a:effectLst/>
      </c:spPr>
    </c:plotArea>
    <c:plotVisOnly val="1"/>
    <c:dispBlanksAs val="gap"/>
    <c:showDLblsOverMax val="0"/>
    <c:extLst>
      <c:ext uri="{0b15fc19-7d7d-44ad-8c2d-2c3a37ce22c3}">
        <chartProps xmlns="https://web.wps.cn/et/2018/main" chartId="{4793630b-2df1-4b2a-b00c-0cbcfb4b0a72}"/>
      </c:ext>
    </c:extLst>
  </c:chart>
  <c:spPr>
    <a:noFill/>
    <a:ln w="9525" cap="flat" cmpd="sng" algn="ctr">
      <a:noFill/>
      <a:prstDash val="solid"/>
      <a:round/>
    </a:ln>
    <a:effectLst/>
  </c:spPr>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doughnutChart>
        <c:varyColors val="1"/>
        <c:ser>
          <c:idx val="0"/>
          <c:order val="0"/>
          <c:spPr>
            <a:solidFill>
              <a:schemeClr val="accent1">
                <a:alpha val="85000"/>
              </a:schemeClr>
            </a:solidFill>
          </c:spPr>
          <c:explosion val="0"/>
          <c:dPt>
            <c:idx val="0"/>
            <c:bubble3D val="0"/>
            <c:spPr>
              <a:solidFill>
                <a:schemeClr val="accent1">
                  <a:alpha val="85000"/>
                </a:schemeClr>
              </a:solidFill>
              <a:ln w="19050">
                <a:solidFill>
                  <a:schemeClr val="lt1"/>
                </a:solidFill>
              </a:ln>
              <a:effectLst/>
            </c:spPr>
          </c:dPt>
          <c:dPt>
            <c:idx val="1"/>
            <c:bubble3D val="0"/>
            <c:spPr>
              <a:solidFill>
                <a:schemeClr val="accent2">
                  <a:alpha val="85000"/>
                </a:schemeClr>
              </a:solidFill>
              <a:ln w="19050">
                <a:solidFill>
                  <a:schemeClr val="lt1"/>
                </a:solidFill>
              </a:ln>
              <a:effectLst/>
            </c:spPr>
          </c:dPt>
          <c:dPt>
            <c:idx val="2"/>
            <c:bubble3D val="0"/>
            <c:spPr>
              <a:solidFill>
                <a:schemeClr val="accent3">
                  <a:alpha val="85000"/>
                </a:schemeClr>
              </a:solidFill>
              <a:ln w="19050">
                <a:solidFill>
                  <a:schemeClr val="lt1"/>
                </a:solidFill>
              </a:ln>
              <a:effectLst/>
            </c:spPr>
          </c:dPt>
          <c:dPt>
            <c:idx val="3"/>
            <c:bubble3D val="0"/>
            <c:spPr>
              <a:solidFill>
                <a:schemeClr val="accent4">
                  <a:alpha val="85000"/>
                </a:schemeClr>
              </a:solidFill>
              <a:ln w="19050">
                <a:solidFill>
                  <a:schemeClr val="lt1"/>
                </a:solidFill>
              </a:ln>
              <a:effectLst/>
            </c:spPr>
          </c:dPt>
          <c:dPt>
            <c:idx val="4"/>
            <c:bubble3D val="0"/>
            <c:spPr>
              <a:solidFill>
                <a:schemeClr val="accent5">
                  <a:alpha val="85000"/>
                </a:schemeClr>
              </a:solidFill>
              <a:ln w="19050">
                <a:solidFill>
                  <a:schemeClr val="lt1"/>
                </a:solidFill>
              </a:ln>
              <a:effectLst/>
            </c:spPr>
          </c:dPt>
          <c:dLbls>
            <c:numFmt formatCode="General" sourceLinked="1"/>
            <c:spPr>
              <a:noFill/>
              <a:ln>
                <a:noFill/>
              </a:ln>
              <a:effectLst/>
            </c:spPr>
            <c:txPr>
              <a:bodyPr rot="0" spcFirstLastPara="0" vertOverflow="ellipsis" vert="horz" wrap="square" lIns="38100" tIns="19050" rIns="38100" bIns="19050" anchor="ctr" anchorCtr="1" forceAA="0">
                <a:spAutoFit/>
              </a:bodyPr>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showLegendKey val="0"/>
            <c:showVal val="0"/>
            <c:showCatName val="0"/>
            <c:showSerName val="0"/>
            <c:showPercent val="1"/>
            <c:showBubbleSize val="0"/>
            <c:separator>
</c:separator>
            <c:showLeaderLines val="0"/>
            <c:extLst>
              <c:ext xmlns:c15="http://schemas.microsoft.com/office/drawing/2012/chart" uri="{CE6537A1-D6FC-4f65-9D91-7224C49458BB}">
                <c15:layout/>
                <c15:showLeaderLines val="0"/>
                <c15:leaderLines>
                  <c:spPr>
                    <a:ln w="9525" cap="flat" cmpd="sng" algn="ctr">
                      <a:solidFill>
                        <a:schemeClr val="tx1">
                          <a:lumMod val="35000"/>
                          <a:lumOff val="65000"/>
                        </a:schemeClr>
                      </a:solidFill>
                      <a:round/>
                    </a:ln>
                    <a:effectLst/>
                  </c:spPr>
                </c15:leaderLines>
              </c:ext>
            </c:extLst>
          </c:dLbls>
          <c:cat>
            <c:strRef>
              <c:f>'[很多鱼安全运营工作报告-20250801.xlsx]数据统计'!$C$65:$C$69</c:f>
              <c:strCache>
                <c:ptCount val="5"/>
                <c:pt idx="0">
                  <c:v>挖矿</c:v>
                </c:pt>
                <c:pt idx="1" c:formatCode="mmm\-yy">
                  <c:v>僵尸网络</c:v>
                </c:pt>
                <c:pt idx="2" c:formatCode="mmm\-yy">
                  <c:v>木马</c:v>
                </c:pt>
                <c:pt idx="3" c:formatCode="mmm\-yy">
                  <c:v>账号爆破</c:v>
                </c:pt>
                <c:pt idx="4" c:formatCode="mmm\-yy">
                  <c:v>代理工具</c:v>
                </c:pt>
              </c:strCache>
            </c:strRef>
          </c:cat>
          <c:val>
            <c:numRef>
              <c:f>'[很多鱼安全运营工作报告-20250801.xlsx]数据统计'!$D$65:$D$69</c:f>
              <c:numCache>
                <c:formatCode>General</c:formatCode>
                <c:ptCount val="5"/>
                <c:pt idx="0">
                  <c:v>76</c:v>
                </c:pt>
                <c:pt idx="1">
                  <c:v>39</c:v>
                </c:pt>
                <c:pt idx="2">
                  <c:v>31</c:v>
                </c:pt>
                <c:pt idx="3">
                  <c:v>26</c:v>
                </c:pt>
                <c:pt idx="4">
                  <c:v>11</c:v>
                </c:pt>
              </c:numCache>
            </c:numRef>
          </c:val>
        </c:ser>
        <c:dLbls>
          <c:showLegendKey val="0"/>
          <c:showVal val="1"/>
          <c:showCatName val="0"/>
          <c:showSerName val="0"/>
          <c:showPercent val="0"/>
          <c:showBubbleSize val="0"/>
          <c:showLeaderLines val="0"/>
        </c:dLbls>
        <c:firstSliceAng val="0"/>
        <c:holeSize val="50"/>
      </c:doughnutChart>
      <c:spPr>
        <a:noFill/>
        <a:ln>
          <a:noFill/>
        </a:ln>
        <a:effectLst/>
      </c:spPr>
    </c:plotArea>
    <c:legend>
      <c:legendPos val="r"/>
      <c:legendEntry>
        <c:idx val="0"/>
        <c:txPr>
          <a:bodyPr rot="0" spcFirstLastPara="0" vertOverflow="ellipsis" vert="horz" wrap="square" anchor="ctr" anchorCtr="1"/>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1"/>
        <c:txPr>
          <a:bodyPr rot="0" spcFirstLastPara="0" vertOverflow="ellipsis" vert="horz" wrap="square" anchor="ctr" anchorCtr="1"/>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2"/>
        <c:txPr>
          <a:bodyPr rot="0" spcFirstLastPara="0" vertOverflow="ellipsis" vert="horz" wrap="square" anchor="ctr" anchorCtr="1"/>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3"/>
        <c:txPr>
          <a:bodyPr rot="0" spcFirstLastPara="0" vertOverflow="ellipsis" vert="horz" wrap="square" anchor="ctr" anchorCtr="1"/>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4"/>
        <c:txPr>
          <a:bodyPr rot="0" spcFirstLastPara="0" vertOverflow="ellipsis" vert="horz" wrap="square" anchor="ctr" anchorCtr="1"/>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ayout>
        <c:manualLayout>
          <c:xMode val="edge"/>
          <c:yMode val="edge"/>
          <c:x val="0.753644622860765"/>
          <c:y val="0.229474852071006"/>
        </c:manualLayout>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
    <c:plotVisOnly val="1"/>
    <c:dispBlanksAs val="gap"/>
    <c:showDLblsOverMax val="0"/>
    <c:extLst>
      <c:ext uri="{0b15fc19-7d7d-44ad-8c2d-2c3a37ce22c3}">
        <chartProps xmlns="https://web.wps.cn/et/2018/main" chartId="{cf5dbc7a-5cc6-4b26-af76-042b7a275857}"/>
      </c:ext>
    </c:extLst>
  </c:chart>
  <c:spPr>
    <a:noFill/>
    <a:ln w="6350" cap="flat" cmpd="sng" algn="ctr">
      <a:noFill/>
      <a:round/>
    </a:ln>
    <a:effectLst/>
  </c:spPr>
  <c:txPr>
    <a:bodyPr/>
    <a:lstStyle/>
    <a:p>
      <a:pPr>
        <a:defRPr lang="zh-CN">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tx>
            <c:strRef>
              <c:f>[【企业】安全运营工作报告支撑数据.xlsx]数据统计!$L$84</c:f>
              <c:strCache>
                <c:ptCount val="1"/>
                <c:pt idx="0">
                  <c:v>平均响应时长</c:v>
                </c:pt>
              </c:strCache>
            </c:strRef>
          </c:tx>
          <c:spPr>
            <a:ln w="28575" cap="rnd">
              <a:solidFill>
                <a:schemeClr val="accent1"/>
              </a:solidFill>
              <a:round/>
            </a:ln>
            <a:effectLst/>
          </c:spPr>
          <c:marker>
            <c:symbol val="none"/>
          </c:marker>
          <c:dLbls>
            <c:numFmt formatCode="General" sourceLinked="1"/>
            <c:spPr>
              <a:noFill/>
              <a:ln>
                <a:noFill/>
              </a:ln>
              <a:effectLst/>
            </c:spPr>
            <c:txPr>
              <a:bodyPr rot="0" spcFirstLastPara="0" vertOverflow="ellipsis" vert="horz" wrap="square" lIns="38100" tIns="19050" rIns="38100" bIns="19050" anchor="ctr" anchorCtr="1" forceAA="0"/>
              <a:lstStyle/>
              <a:p>
                <a:pPr>
                  <a:defRPr lang="zh-CN" sz="1000" b="0" i="0" u="none" strike="noStrike" kern="1200" baseline="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dLblPos val="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[【企业】安全运营工作报告支撑数据.xlsx]数据统计!$M$83:$U$83</c:f>
              <c:strCache>
                <c:ptCount val="9"/>
                <c:pt idx="0">
                  <c:v>2025-03</c:v>
                </c:pt>
                <c:pt idx="1" c:formatCode="yyyy/m/d">
                  <c:v>2025-04</c:v>
                </c:pt>
                <c:pt idx="2" c:formatCode="yyyy/m/d">
                  <c:v>2025-05</c:v>
                </c:pt>
                <c:pt idx="3" c:formatCode="yyyy/m/d">
                  <c:v>2025-06</c:v>
                </c:pt>
                <c:pt idx="4" c:formatCode="yyyy/m/d">
                  <c:v>2025-07</c:v>
                </c:pt>
                <c:pt idx="5" c:formatCode="yyyy/m/d">
                  <c:v>2025-08</c:v>
                </c:pt>
                <c:pt idx="6" c:formatCode="yyyy/m/d">
                  <c:v>2025-09</c:v>
                </c:pt>
                <c:pt idx="7" c:formatCode="yyyy/m/d">
                  <c:v>2025-10</c:v>
                </c:pt>
                <c:pt idx="8" c:formatCode="yyyy/m/d">
                  <c:v>2025-11</c:v>
                </c:pt>
              </c:strCache>
            </c:strRef>
          </c:cat>
          <c:val>
            <c:numRef>
              <c:f>[【企业】安全运营工作报告支撑数据.xlsx]数据统计!$M$84:$U$84</c:f>
              <c:numCache>
                <c:formatCode>0.00_ </c:formatCode>
                <c:ptCount val="9"/>
                <c:pt idx="0">
                  <c:v>26.6</c:v>
                </c:pt>
                <c:pt idx="1">
                  <c:v>15.25</c:v>
                </c:pt>
                <c:pt idx="2">
                  <c:v>0</c:v>
                </c:pt>
                <c:pt idx="3">
                  <c:v>18</c:v>
                </c:pt>
                <c:pt idx="4">
                  <c:v>10.6666666666667</c:v>
                </c:pt>
                <c:pt idx="5">
                  <c:v>0</c:v>
                </c:pt>
                <c:pt idx="6">
                  <c:v>0</c:v>
                </c:pt>
                <c:pt idx="7">
                  <c:v>0</c:v>
                </c:pt>
                <c:pt idx="8">
                  <c:v>0</c:v>
                </c:pt>
              </c:numCache>
            </c:numRef>
          </c:val>
          <c:smooth val="0"/>
        </c:ser>
        <c:dLbls>
          <c:showLegendKey val="0"/>
          <c:showVal val="1"/>
          <c:showCatName val="0"/>
          <c:showSerName val="0"/>
          <c:showPercent val="0"/>
          <c:showBubbleSize val="0"/>
        </c:dLbls>
        <c:marker val="0"/>
        <c:smooth val="0"/>
        <c:axId val="926048702"/>
        <c:axId val="51301949"/>
      </c:lineChart>
      <c:catAx>
        <c:axId val="92604870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forceAA="0"/>
          <a:lstStyle/>
          <a:p>
            <a:pPr>
              <a:defRPr lang="zh-CN" sz="900" b="0" i="0" u="none" strike="noStrike" kern="1200" baseline="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crossAx val="51301949"/>
        <c:crosses val="autoZero"/>
        <c:auto val="1"/>
        <c:lblAlgn val="ctr"/>
        <c:lblOffset val="100"/>
        <c:noMultiLvlLbl val="0"/>
      </c:catAx>
      <c:valAx>
        <c:axId val="51301949"/>
        <c:scaling>
          <c:orientation val="minMax"/>
        </c:scaling>
        <c:delete val="0"/>
        <c:axPos val="l"/>
        <c:numFmt formatCode="0.00_ " sourceLinked="1"/>
        <c:majorTickMark val="none"/>
        <c:minorTickMark val="none"/>
        <c:tickLblPos val="nextTo"/>
        <c:spPr>
          <a:noFill/>
          <a:ln>
            <a:noFill/>
          </a:ln>
          <a:effectLst/>
        </c:spPr>
        <c:txPr>
          <a:bodyPr rot="-60000000" spcFirstLastPara="0" vertOverflow="ellipsis" vert="horz" wrap="square" anchor="ctr" anchorCtr="1" forceAA="0"/>
          <a:lstStyle/>
          <a:p>
            <a:pPr>
              <a:defRPr lang="zh-CN" sz="900" b="0" i="0" u="none" strike="noStrike" kern="1200" baseline="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crossAx val="926048702"/>
        <c:crosses val="autoZero"/>
        <c:crossBetween val="between"/>
      </c:valAx>
      <c:spPr>
        <a:noFill/>
        <a:ln>
          <a:noFill/>
        </a:ln>
        <a:effectLst/>
      </c:spPr>
    </c:plotArea>
    <c:plotVisOnly val="1"/>
    <c:dispBlanksAs val="gap"/>
    <c:showDLblsOverMax val="0"/>
    <c:extLst>
      <c:ext uri="{0b15fc19-7d7d-44ad-8c2d-2c3a37ce22c3}">
        <chartProps xmlns="https://web.wps.cn/et/2018/main" chartId="{a658a0f1-1560-4f81-b5b6-a4593fe9335a}"/>
      </c:ext>
    </c:extLst>
  </c:chart>
  <c:spPr>
    <a:noFill/>
    <a:ln w="9525" cap="flat" cmpd="sng" algn="ctr">
      <a:noFill/>
      <a:prstDash val="solid"/>
      <a:round/>
    </a:ln>
    <a:effectLst/>
  </c:spPr>
  <c:txPr>
    <a:bodyPr/>
    <a:lstStyle/>
    <a:p>
      <a:pPr>
        <a:defRPr lang="zh-CN" b="0">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doughnutChart>
        <c:varyColors val="1"/>
        <c:ser>
          <c:idx val="0"/>
          <c:order val="0"/>
          <c:spPr/>
          <c:explosion val="0"/>
          <c:dPt>
            <c:idx val="0"/>
            <c:bubble3D val="0"/>
            <c:spPr>
              <a:solidFill>
                <a:schemeClr val="accent1"/>
              </a:solidFill>
              <a:ln>
                <a:solidFill>
                  <a:schemeClr val="bg1"/>
                </a:solidFill>
              </a:ln>
              <a:effectLst/>
            </c:spPr>
          </c:dPt>
          <c:dPt>
            <c:idx val="1"/>
            <c:bubble3D val="0"/>
            <c:spPr>
              <a:solidFill>
                <a:schemeClr val="accent2"/>
              </a:solidFill>
              <a:ln>
                <a:solidFill>
                  <a:schemeClr val="bg1"/>
                </a:solidFill>
              </a:ln>
              <a:effectLst/>
            </c:spPr>
          </c:dPt>
          <c:dPt>
            <c:idx val="2"/>
            <c:bubble3D val="0"/>
            <c:spPr>
              <a:solidFill>
                <a:schemeClr val="accent3"/>
              </a:solidFill>
              <a:ln>
                <a:solidFill>
                  <a:schemeClr val="bg1"/>
                </a:solidFill>
              </a:ln>
              <a:effectLst/>
            </c:spPr>
          </c:dPt>
          <c:dPt>
            <c:idx val="3"/>
            <c:bubble3D val="0"/>
            <c:spPr>
              <a:solidFill>
                <a:schemeClr val="accent4"/>
              </a:solidFill>
              <a:ln>
                <a:solidFill>
                  <a:schemeClr val="bg1"/>
                </a:solidFill>
              </a:ln>
              <a:effectLst/>
            </c:spPr>
          </c:dPt>
          <c:dPt>
            <c:idx val="4"/>
            <c:bubble3D val="0"/>
            <c:spPr>
              <a:solidFill>
                <a:schemeClr val="accent5"/>
              </a:solidFill>
              <a:ln>
                <a:solidFill>
                  <a:schemeClr val="bg1"/>
                </a:solidFill>
              </a:ln>
              <a:effectLst/>
            </c:spPr>
          </c:dPt>
          <c:dLbls>
            <c:numFmt formatCode="General" sourceLinked="1"/>
            <c:spPr>
              <a:noFill/>
              <a:ln>
                <a:noFill/>
              </a:ln>
              <a:effectLst/>
            </c:spPr>
            <c:txPr>
              <a:bodyPr rot="0" spcFirstLastPara="0" vertOverflow="ellipsis" vert="horz" wrap="square" lIns="38100" tIns="19050" rIns="38100" bIns="19050" anchor="ctr" anchorCtr="1" forceAA="0"/>
              <a:lstStyle/>
              <a:p>
                <a:pPr>
                  <a:defRPr lang="zh-CN" sz="8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showLegendKey val="0"/>
            <c:showVal val="0"/>
            <c:showCatName val="0"/>
            <c:showSerName val="0"/>
            <c:showPercent val="1"/>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'[很多鱼安全运营工作报告-20250801.xlsx]数据统计'!$F$73:$F$77</c:f>
              <c:strCache>
                <c:ptCount val="5"/>
                <c:pt idx="0">
                  <c:v>服务器</c:v>
                </c:pt>
                <c:pt idx="1">
                  <c:v>终端</c:v>
                </c:pt>
                <c:pt idx="2">
                  <c:v>网络设备</c:v>
                </c:pt>
                <c:pt idx="3">
                  <c:v>安全设备</c:v>
                </c:pt>
                <c:pt idx="4">
                  <c:v>物联网设备</c:v>
                </c:pt>
              </c:strCache>
            </c:strRef>
          </c:cat>
          <c:val>
            <c:numRef>
              <c:f>'[很多鱼安全运营工作报告-20250801.xlsx]数据统计'!$G$73:$G$77</c:f>
              <c:numCache>
                <c:formatCode>General</c:formatCode>
                <c:ptCount val="5"/>
                <c:pt idx="0">
                  <c:v>125</c:v>
                </c:pt>
                <c:pt idx="1">
                  <c:v>31</c:v>
                </c:pt>
                <c:pt idx="2">
                  <c:v>12</c:v>
                </c:pt>
                <c:pt idx="3">
                  <c:v>23</c:v>
                </c:pt>
                <c:pt idx="4">
                  <c:v>10</c:v>
                </c:pt>
              </c:numCache>
            </c:numRef>
          </c:val>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r"/>
      <c:legendEntry>
        <c:idx val="0"/>
        <c:txPr>
          <a:bodyPr rot="0" spcFirstLastPara="0" vertOverflow="ellipsis" vert="horz" wrap="square" anchor="ctr" anchorCtr="1"/>
          <a:lstStyle/>
          <a:p>
            <a:pPr>
              <a:defRPr lang="zh-CN" sz="8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1"/>
        <c:txPr>
          <a:bodyPr rot="0" spcFirstLastPara="0" vertOverflow="ellipsis" vert="horz" wrap="square" anchor="ctr" anchorCtr="1"/>
          <a:lstStyle/>
          <a:p>
            <a:pPr>
              <a:defRPr lang="zh-CN" sz="8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2"/>
        <c:txPr>
          <a:bodyPr rot="0" spcFirstLastPara="0" vertOverflow="ellipsis" vert="horz" wrap="square" anchor="ctr" anchorCtr="1"/>
          <a:lstStyle/>
          <a:p>
            <a:pPr>
              <a:defRPr lang="zh-CN" sz="8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3"/>
        <c:txPr>
          <a:bodyPr rot="0" spcFirstLastPara="0" vertOverflow="ellipsis" vert="horz" wrap="square" anchor="ctr" anchorCtr="1"/>
          <a:lstStyle/>
          <a:p>
            <a:pPr>
              <a:defRPr lang="zh-CN" sz="8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4"/>
        <c:txPr>
          <a:bodyPr rot="0" spcFirstLastPara="0" vertOverflow="ellipsis" vert="horz" wrap="square" anchor="ctr" anchorCtr="1"/>
          <a:lstStyle/>
          <a:p>
            <a:pPr>
              <a:defRPr lang="zh-CN" sz="8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ayout>
        <c:manualLayout>
          <c:xMode val="edge"/>
          <c:yMode val="edge"/>
          <c:x val="0.752842459804959"/>
          <c:y val="0.255978230895547"/>
        </c:manualLayout>
      </c:layout>
      <c:overlay val="0"/>
      <c:spPr>
        <a:noFill/>
        <a:ln>
          <a:noFill/>
        </a:ln>
        <a:effectLst/>
      </c:spPr>
      <c:txPr>
        <a:bodyPr rot="0" spcFirstLastPara="0" vertOverflow="ellipsis" vert="horz" wrap="square" anchor="ctr" anchorCtr="1" forceAA="0"/>
        <a:lstStyle/>
        <a:p>
          <a:pPr>
            <a:defRPr lang="zh-CN" sz="8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
    <c:plotVisOnly val="1"/>
    <c:dispBlanksAs val="gap"/>
    <c:showDLblsOverMax val="0"/>
    <c:extLst>
      <c:ext uri="{0b15fc19-7d7d-44ad-8c2d-2c3a37ce22c3}">
        <chartProps xmlns="https://web.wps.cn/et/2018/main" chartId="{881721be-47fb-4271-a6bb-de979ce1bfa8}"/>
      </c:ext>
    </c:extLst>
  </c:chart>
  <c:spPr>
    <a:noFill/>
    <a:ln w="6350" cap="flat" cmpd="sng" algn="ctr">
      <a:noFill/>
      <a:round/>
    </a:ln>
    <a:effectLst/>
  </c:spPr>
  <c:txPr>
    <a:bodyPr/>
    <a:lstStyle/>
    <a:p>
      <a:pPr>
        <a:defRPr lang="zh-CN" sz="8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doughnutChart>
        <c:varyColors val="1"/>
        <c:ser>
          <c:idx val="0"/>
          <c:order val="0"/>
          <c:spPr/>
          <c:explosion val="0"/>
          <c:dPt>
            <c:idx val="0"/>
            <c:bubble3D val="0"/>
            <c:spPr>
              <a:solidFill>
                <a:srgbClr val="70AD47"/>
              </a:solidFill>
              <a:ln>
                <a:solidFill>
                  <a:srgbClr val="FFFFFF"/>
                </a:solidFill>
              </a:ln>
              <a:effectLst/>
            </c:spPr>
          </c:dPt>
          <c:dPt>
            <c:idx val="1"/>
            <c:bubble3D val="0"/>
            <c:spPr>
              <a:solidFill>
                <a:srgbClr val="5B9BD5"/>
              </a:solidFill>
              <a:ln>
                <a:solidFill>
                  <a:srgbClr val="FFFFFF"/>
                </a:solidFill>
              </a:ln>
              <a:effectLst/>
            </c:spPr>
          </c:dPt>
          <c:dPt>
            <c:idx val="2"/>
            <c:bubble3D val="0"/>
            <c:spPr>
              <a:solidFill>
                <a:srgbClr val="FFC000"/>
              </a:solidFill>
              <a:ln>
                <a:solidFill>
                  <a:srgbClr val="FFFFFF"/>
                </a:solidFill>
              </a:ln>
              <a:effectLst/>
            </c:spPr>
          </c:dPt>
          <c:dLbls>
            <c:spPr>
              <a:noFill/>
              <a:ln>
                <a:noFill/>
              </a:ln>
              <a:effectLst/>
            </c:spPr>
            <c:txPr>
              <a:bodyPr rot="0" spcFirstLastPara="0" vertOverflow="ellipsis" vert="horz" wrap="square" lIns="38100" tIns="19050" rIns="38100" bIns="19050" anchor="ctr" anchorCtr="1"/>
              <a:lstStyle/>
              <a:p>
                <a:pPr>
                  <a:defRPr lang="zh-CN" sz="800" b="0" i="0" u="none" strike="noStrike" kern="1200" baseline="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showLegendKey val="0"/>
            <c:showVal val="1"/>
            <c:showCatName val="0"/>
            <c:showSerName val="0"/>
            <c:showPercent val="0"/>
            <c:showBubbleSize val="0"/>
            <c:showLeaderLines val="1"/>
            <c:extLst>
              <c:ext xmlns:c15="http://schemas.microsoft.com/office/drawing/2012/chart" uri="{CE6537A1-D6FC-4f65-9D91-7224C49458BB}">
                <c15:layout/>
                <c15:showLeaderLines val="1"/>
                <c15:leaderLines>
                  <c:spPr>
                    <a:ln w="9525" cap="flat" cmpd="sng" algn="ctr">
                      <a:solidFill>
                        <a:srgbClr val="000000">
                          <a:lumMod val="35000"/>
                          <a:lumOff val="65000"/>
                        </a:srgbClr>
                      </a:solidFill>
                      <a:round/>
                    </a:ln>
                    <a:effectLst/>
                  </c:spPr>
                </c15:leaderLines>
              </c:ext>
            </c:extLst>
          </c:dLbls>
          <c:cat>
            <c:strRef>
              <c:f>'[很多鱼安全运营工作报告-20250801.xlsx]数据统计'!$C$88:$C$90</c:f>
              <c:strCache>
                <c:ptCount val="3"/>
                <c:pt idx="0">
                  <c:v>高危漏洞</c:v>
                </c:pt>
                <c:pt idx="1">
                  <c:v>中危漏洞</c:v>
                </c:pt>
                <c:pt idx="2">
                  <c:v>低危漏洞</c:v>
                </c:pt>
              </c:strCache>
            </c:strRef>
          </c:cat>
          <c:val>
            <c:numRef>
              <c:f>'[很多鱼安全运营工作报告-20250801.xlsx]数据统计'!$D$88:$D$90</c:f>
              <c:numCache>
                <c:formatCode>General</c:formatCode>
                <c:ptCount val="3"/>
                <c:pt idx="0">
                  <c:v>2537</c:v>
                </c:pt>
                <c:pt idx="1">
                  <c:v>3633</c:v>
                </c:pt>
                <c:pt idx="2">
                  <c:v>3284</c:v>
                </c:pt>
              </c:numCache>
            </c:numRef>
          </c:val>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b"/>
      <c:legendEntry>
        <c:idx val="0"/>
        <c:txPr>
          <a:bodyPr rot="0" spcFirstLastPara="0" vertOverflow="ellipsis" vert="horz" wrap="square" anchor="ctr" anchorCtr="1"/>
          <a:lstStyle/>
          <a:p>
            <a:pPr>
              <a:defRPr lang="zh-CN" sz="800" b="0" i="0" u="none" strike="noStrike" kern="1200" baseline="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1"/>
        <c:txPr>
          <a:bodyPr rot="0" spcFirstLastPara="0" vertOverflow="ellipsis" vert="horz" wrap="square" anchor="ctr" anchorCtr="1"/>
          <a:lstStyle/>
          <a:p>
            <a:pPr>
              <a:defRPr lang="zh-CN" sz="800" b="0" i="0" u="none" strike="noStrike" kern="1200" baseline="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2"/>
        <c:txPr>
          <a:bodyPr rot="0" spcFirstLastPara="0" vertOverflow="ellipsis" vert="horz" wrap="square" anchor="ctr" anchorCtr="1"/>
          <a:lstStyle/>
          <a:p>
            <a:pPr>
              <a:defRPr lang="zh-CN" sz="800" b="0" i="0" u="none" strike="noStrike" kern="1200" baseline="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ayout/>
      <c:overlay val="0"/>
      <c:spPr>
        <a:noFill/>
        <a:ln>
          <a:noFill/>
        </a:ln>
        <a:effectLst/>
      </c:spPr>
      <c:txPr>
        <a:bodyPr rot="0" spcFirstLastPara="0" vertOverflow="ellipsis" vert="horz" wrap="square" anchor="ctr" anchorCtr="1" forceAA="0"/>
        <a:lstStyle/>
        <a:p>
          <a:pPr>
            <a:defRPr lang="zh-CN" sz="800" b="0" i="0" u="none" strike="noStrike" kern="1200" baseline="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
    <c:plotVisOnly val="1"/>
    <c:dispBlanksAs val="gap"/>
    <c:showDLblsOverMax val="0"/>
    <c:extLst>
      <c:ext uri="{0b15fc19-7d7d-44ad-8c2d-2c3a37ce22c3}">
        <chartProps xmlns="https://web.wps.cn/et/2018/main" chartId="{b682e7dd-3b1c-4a06-a80c-367c575f5e7a}"/>
      </c:ext>
    </c:extLst>
  </c:chart>
  <c:spPr>
    <a:noFill/>
    <a:ln w="6350" cap="flat" cmpd="sng" algn="ctr">
      <a:noFill/>
      <a:round/>
    </a:ln>
    <a:effectLst/>
  </c:spPr>
  <c:txPr>
    <a:bodyPr/>
    <a:lstStyle/>
    <a:p>
      <a:pPr>
        <a:defRPr lang="zh-CN" sz="8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'[很多鱼安全运营工作报告-20250801.xlsx]数据统计'!$C$47</c:f>
              <c:strCache>
                <c:ptCount val="1"/>
                <c:pt idx="0">
                  <c:v>外部攻击数</c:v>
                </c:pt>
              </c:strCache>
            </c:strRef>
          </c:tx>
          <c:spPr>
            <a:ln w="28575" cap="rnd">
              <a:solidFill>
                <a:schemeClr val="accent6"/>
              </a:solidFill>
              <a:round/>
            </a:ln>
            <a:effectLst/>
          </c:spPr>
          <c:marker>
            <c:symbol val="none"/>
          </c:marker>
          <c:dLbls>
            <c:spPr>
              <a:noFill/>
              <a:ln>
                <a:noFill/>
              </a:ln>
              <a:effectLst/>
            </c:spPr>
            <c:txPr>
              <a:bodyPr rot="0" spcFirstLastPara="0" vertOverflow="ellipsis" vert="horz" wrap="square" lIns="38100" tIns="19050" rIns="38100" bIns="19050" anchor="ctr" anchorCtr="1"/>
              <a:lstStyle/>
              <a:p>
                <a:pPr>
                  <a:defRPr lang="zh-CN" sz="600" b="0" i="0" u="none" strike="noStrike" kern="1200" baseline="0">
                    <a:solidFill>
                      <a:schemeClr val="tx1">
                        <a:lumMod val="75000"/>
                        <a:lumOff val="25000"/>
                      </a:schemeClr>
                    </a:solidFill>
                    <a:latin typeface="+mn-lt"/>
                    <a:ea typeface="+mn-ea"/>
                    <a:cs typeface="+mn-cs"/>
                  </a:defRPr>
                </a:pPr>
              </a:p>
            </c:txPr>
            <c:dLblPos val="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'[很多鱼安全运营工作报告-20250801.xlsx]数据统计'!$D$46:$O$46</c:f>
              <c:numCache>
                <c:formatCode>mmm\-yy</c:formatCode>
                <c:ptCount val="12"/>
                <c:pt idx="0" c:formatCode="mmm\-yy">
                  <c:v>45505</c:v>
                </c:pt>
                <c:pt idx="1" c:formatCode="mmm\-yy">
                  <c:v>45536</c:v>
                </c:pt>
                <c:pt idx="2" c:formatCode="mmm\-yy">
                  <c:v>45566</c:v>
                </c:pt>
                <c:pt idx="3" c:formatCode="mmm\-yy">
                  <c:v>45597</c:v>
                </c:pt>
                <c:pt idx="4" c:formatCode="mmm\-yy">
                  <c:v>45627</c:v>
                </c:pt>
                <c:pt idx="5" c:formatCode="mmm\-yy">
                  <c:v>45658</c:v>
                </c:pt>
                <c:pt idx="6" c:formatCode="mmm\-yy">
                  <c:v>45689</c:v>
                </c:pt>
                <c:pt idx="7" c:formatCode="mmm\-yy">
                  <c:v>45717</c:v>
                </c:pt>
                <c:pt idx="8" c:formatCode="mmm\-yy">
                  <c:v>45748</c:v>
                </c:pt>
                <c:pt idx="9" c:formatCode="mmm\-yy">
                  <c:v>45778</c:v>
                </c:pt>
                <c:pt idx="10" c:formatCode="mmm\-yy">
                  <c:v>45809</c:v>
                </c:pt>
                <c:pt idx="11" c:formatCode="mmm\-yy">
                  <c:v>45839</c:v>
                </c:pt>
              </c:numCache>
            </c:numRef>
          </c:cat>
          <c:val>
            <c:numRef>
              <c:f>'[很多鱼安全运营工作报告-20250801.xlsx]数据统计'!$D$47:$O$47</c:f>
              <c:numCache>
                <c:formatCode>0\.0,"万"</c:formatCode>
                <c:ptCount val="12"/>
                <c:pt idx="0">
                  <c:v>64198</c:v>
                </c:pt>
                <c:pt idx="1">
                  <c:v>35890</c:v>
                </c:pt>
                <c:pt idx="2">
                  <c:v>12478</c:v>
                </c:pt>
                <c:pt idx="3">
                  <c:v>5613</c:v>
                </c:pt>
                <c:pt idx="4">
                  <c:v>704</c:v>
                </c:pt>
                <c:pt idx="5">
                  <c:v>902</c:v>
                </c:pt>
                <c:pt idx="6">
                  <c:v>2412</c:v>
                </c:pt>
                <c:pt idx="7">
                  <c:v>1362</c:v>
                </c:pt>
                <c:pt idx="8">
                  <c:v>5696</c:v>
                </c:pt>
                <c:pt idx="9">
                  <c:v>9140</c:v>
                </c:pt>
                <c:pt idx="10">
                  <c:v>4126</c:v>
                </c:pt>
                <c:pt idx="11">
                  <c:v>4675</c:v>
                </c:pt>
              </c:numCache>
            </c:numRef>
          </c:val>
          <c:smooth val="0"/>
        </c:ser>
        <c:ser>
          <c:idx val="1"/>
          <c:order val="1"/>
          <c:tx>
            <c:strRef>
              <c:f>'[很多鱼安全运营工作报告-20250801.xlsx]数据统计'!$C$48</c:f>
              <c:strCache>
                <c:ptCount val="1"/>
                <c:pt idx="0">
                  <c:v>恶意外联数</c:v>
                </c:pt>
              </c:strCache>
            </c:strRef>
          </c:tx>
          <c:spPr>
            <a:ln w="28575" cap="rnd">
              <a:solidFill>
                <a:schemeClr val="accent5"/>
              </a:solidFill>
              <a:round/>
            </a:ln>
            <a:effectLst/>
          </c:spPr>
          <c:marker>
            <c:symbol val="none"/>
          </c:marker>
          <c:dLbls>
            <c:spPr>
              <a:noFill/>
              <a:ln>
                <a:noFill/>
              </a:ln>
              <a:effectLst/>
            </c:spPr>
            <c:txPr>
              <a:bodyPr rot="0" spcFirstLastPara="0" vertOverflow="ellipsis" vert="horz" wrap="square" lIns="38100" tIns="19050" rIns="38100" bIns="19050" anchor="ctr" anchorCtr="1"/>
              <a:lstStyle/>
              <a:p>
                <a:pPr>
                  <a:defRPr lang="zh-CN" sz="600" b="0" i="0" u="none" strike="noStrike" kern="1200" baseline="0">
                    <a:solidFill>
                      <a:schemeClr val="tx1">
                        <a:lumMod val="75000"/>
                        <a:lumOff val="25000"/>
                      </a:schemeClr>
                    </a:solidFill>
                    <a:latin typeface="+mn-lt"/>
                    <a:ea typeface="+mn-ea"/>
                    <a:cs typeface="+mn-cs"/>
                  </a:defRPr>
                </a:pPr>
              </a:p>
            </c:txPr>
            <c:dLblPos val="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'[很多鱼安全运营工作报告-20250801.xlsx]数据统计'!$D$46:$O$46</c:f>
              <c:numCache>
                <c:formatCode>mmm\-yy</c:formatCode>
                <c:ptCount val="12"/>
                <c:pt idx="0" c:formatCode="mmm\-yy">
                  <c:v>45505</c:v>
                </c:pt>
                <c:pt idx="1" c:formatCode="mmm\-yy">
                  <c:v>45536</c:v>
                </c:pt>
                <c:pt idx="2" c:formatCode="mmm\-yy">
                  <c:v>45566</c:v>
                </c:pt>
                <c:pt idx="3" c:formatCode="mmm\-yy">
                  <c:v>45597</c:v>
                </c:pt>
                <c:pt idx="4" c:formatCode="mmm\-yy">
                  <c:v>45627</c:v>
                </c:pt>
                <c:pt idx="5" c:formatCode="mmm\-yy">
                  <c:v>45658</c:v>
                </c:pt>
                <c:pt idx="6" c:formatCode="mmm\-yy">
                  <c:v>45689</c:v>
                </c:pt>
                <c:pt idx="7" c:formatCode="mmm\-yy">
                  <c:v>45717</c:v>
                </c:pt>
                <c:pt idx="8" c:formatCode="mmm\-yy">
                  <c:v>45748</c:v>
                </c:pt>
                <c:pt idx="9" c:formatCode="mmm\-yy">
                  <c:v>45778</c:v>
                </c:pt>
                <c:pt idx="10" c:formatCode="mmm\-yy">
                  <c:v>45809</c:v>
                </c:pt>
                <c:pt idx="11" c:formatCode="mmm\-yy">
                  <c:v>45839</c:v>
                </c:pt>
              </c:numCache>
            </c:numRef>
          </c:cat>
          <c:val>
            <c:numRef>
              <c:f>'[很多鱼安全运营工作报告-20250801.xlsx]数据统计'!$D$48:$O$48</c:f>
              <c:numCache>
                <c:formatCode>0\.0,"万"</c:formatCode>
                <c:ptCount val="12"/>
                <c:pt idx="0">
                  <c:v>770729</c:v>
                </c:pt>
                <c:pt idx="1">
                  <c:v>665038</c:v>
                </c:pt>
                <c:pt idx="2">
                  <c:v>1739364</c:v>
                </c:pt>
                <c:pt idx="3">
                  <c:v>616425</c:v>
                </c:pt>
                <c:pt idx="4">
                  <c:v>394727</c:v>
                </c:pt>
                <c:pt idx="5">
                  <c:v>333492</c:v>
                </c:pt>
                <c:pt idx="6">
                  <c:v>194377</c:v>
                </c:pt>
                <c:pt idx="7">
                  <c:v>82013</c:v>
                </c:pt>
                <c:pt idx="8">
                  <c:v>141130</c:v>
                </c:pt>
                <c:pt idx="9">
                  <c:v>197098</c:v>
                </c:pt>
                <c:pt idx="10">
                  <c:v>186542</c:v>
                </c:pt>
                <c:pt idx="11">
                  <c:v>240504</c:v>
                </c:pt>
              </c:numCache>
            </c:numRef>
          </c:val>
          <c:smooth val="0"/>
        </c:ser>
        <c:dLbls>
          <c:showLegendKey val="0"/>
          <c:showVal val="1"/>
          <c:showCatName val="0"/>
          <c:showSerName val="0"/>
          <c:showPercent val="0"/>
          <c:showBubbleSize val="0"/>
        </c:dLbls>
        <c:marker val="0"/>
        <c:smooth val="0"/>
        <c:axId val="829985891"/>
        <c:axId val="617127009"/>
      </c:lineChart>
      <c:dateAx>
        <c:axId val="829985891"/>
        <c:scaling>
          <c:orientation val="minMax"/>
        </c:scaling>
        <c:delete val="0"/>
        <c:axPos val="b"/>
        <c:majorTickMark val="out"/>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crossAx val="617127009"/>
        <c:crosses val="autoZero"/>
        <c:auto val="1"/>
        <c:lblOffset val="100"/>
        <c:baseTimeUnit val="months"/>
      </c:dateAx>
      <c:valAx>
        <c:axId val="617127009"/>
        <c:scaling>
          <c:orientation val="minMax"/>
        </c:scaling>
        <c:delete val="1"/>
        <c:axPos val="l"/>
        <c:numFmt formatCode="0\.0,&quot;万&quot;" sourceLinked="1"/>
        <c:majorTickMark val="none"/>
        <c:minorTickMark val="none"/>
        <c:tickLblPos val="nextTo"/>
        <c:txPr>
          <a:bodyPr rot="-6000000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crossAx val="829985891"/>
        <c:crosses val="autoZero"/>
        <c:crossBetween val="between"/>
      </c:valAx>
      <c:spPr>
        <a:noFill/>
        <a:ln>
          <a:noFill/>
        </a:ln>
        <a:effectLst/>
      </c:spPr>
    </c:plotArea>
    <c:legend>
      <c:legendPos val="t"/>
      <c:legendEntry>
        <c:idx val="0"/>
        <c:txPr>
          <a:bodyPr rot="0" spcFirstLastPara="0" vertOverflow="ellipsis" vert="horz" wrap="square" anchor="ctr" anchorCtr="1"/>
          <a:lstStyle/>
          <a:p>
            <a:pPr>
              <a:defRPr lang="zh-CN" sz="600" b="0" i="0" u="none" strike="noStrike" kern="1200" baseline="0">
                <a:solidFill>
                  <a:schemeClr val="tx1"/>
                </a:solidFill>
                <a:latin typeface="+mn-lt"/>
                <a:ea typeface="+mn-ea"/>
                <a:cs typeface="+mn-cs"/>
              </a:defRPr>
            </a:pPr>
          </a:p>
        </c:txPr>
      </c:legendEntry>
      <c:legendEntry>
        <c:idx val="1"/>
        <c:txPr>
          <a:bodyPr rot="0" spcFirstLastPara="0" vertOverflow="ellipsis" vert="horz" wrap="square" anchor="ctr" anchorCtr="1"/>
          <a:lstStyle/>
          <a:p>
            <a:pPr>
              <a:defRPr lang="zh-CN" sz="600" b="0" i="0" u="none" strike="noStrike" kern="1200" baseline="0">
                <a:solidFill>
                  <a:schemeClr val="tx1"/>
                </a:solidFill>
                <a:latin typeface="+mn-lt"/>
                <a:ea typeface="+mn-ea"/>
                <a:cs typeface="+mn-cs"/>
              </a:defRPr>
            </a:pPr>
          </a:p>
        </c:txPr>
      </c:legendEntry>
      <c:layout/>
      <c:overlay val="0"/>
      <c:spPr>
        <a:noFill/>
        <a:ln>
          <a:noFill/>
        </a:ln>
        <a:effectLst/>
      </c:spPr>
      <c:txPr>
        <a:bodyPr rot="0" spcFirstLastPara="0" vertOverflow="ellipsis" vert="horz" wrap="square" anchor="ctr" anchorCtr="1"/>
        <a:lstStyle/>
        <a:p>
          <a:pPr>
            <a:defRPr lang="zh-CN" sz="600" b="0" i="0" u="none" strike="noStrike" kern="1200" baseline="0">
              <a:solidFill>
                <a:schemeClr val="tx1"/>
              </a:solidFill>
              <a:latin typeface="+mn-lt"/>
              <a:ea typeface="+mn-ea"/>
              <a:cs typeface="+mn-cs"/>
            </a:defRPr>
          </a:pPr>
        </a:p>
      </c:txPr>
    </c:legend>
    <c:plotVisOnly val="1"/>
    <c:dispBlanksAs val="gap"/>
    <c:showDLblsOverMax val="0"/>
    <c:extLst>
      <c:ext uri="{0b15fc19-7d7d-44ad-8c2d-2c3a37ce22c3}">
        <chartProps xmlns="https://web.wps.cn/et/2018/main" chartId="{78b0d5ea-8d43-42c5-be8f-fd925aecf35b}"/>
      </c:ext>
    </c:extLst>
  </c:chart>
  <c:spPr>
    <a:noFill/>
    <a:ln w="9525" cap="flat" cmpd="sng" algn="ctr">
      <a:noFill/>
      <a:round/>
    </a:ln>
    <a:effectLst/>
  </c:spPr>
  <c:txPr>
    <a:bodyPr/>
    <a:lstStyle/>
    <a:p>
      <a:pPr>
        <a:defRPr lang="zh-CN" sz="600"/>
      </a:pP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'[很多鱼安全运营工作报告-20250801.xlsx]数据统计'!$I$76</c:f>
              <c:strCache>
                <c:ptCount val="1"/>
                <c:pt idx="0">
                  <c:v>被攻击次数</c:v>
                </c:pt>
              </c:strCache>
            </c:strRef>
          </c:tx>
          <c:spPr>
            <a:solidFill>
              <a:schemeClr val="accent1"/>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400" b="0" i="0" u="none" strike="noStrike" kern="1200" baseline="0">
                    <a:solidFill>
                      <a:schemeClr val="tx1">
                        <a:lumMod val="95000"/>
                        <a:lumOff val="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'[很多鱼安全运营工作报告-20250801.xlsx]数据统计'!$H$77:$H$81</c:f>
              <c:strCache>
                <c:ptCount val="5"/>
                <c:pt idx="0">
                  <c:v>192.168.4.217
(武汉金贵应用服务器)</c:v>
                </c:pt>
                <c:pt idx="1">
                  <c:v>192.168.4.203
(应用服务器主)</c:v>
                </c:pt>
                <c:pt idx="2">
                  <c:v>172.16.5.31
(泛微oa系统-应用服务器)</c:v>
                </c:pt>
                <c:pt idx="3">
                  <c:v>172.16.1.4
(上海)</c:v>
                </c:pt>
                <c:pt idx="4">
                  <c:v>192.168.22.54
(应用服务器)</c:v>
                </c:pt>
              </c:strCache>
            </c:strRef>
          </c:cat>
          <c:val>
            <c:numRef>
              <c:f>'[很多鱼安全运营工作报告-20250801.xlsx]数据统计'!$I$77:$I$81</c:f>
              <c:numCache>
                <c:formatCode>General</c:formatCode>
                <c:ptCount val="5"/>
                <c:pt idx="0">
                  <c:v>6766</c:v>
                </c:pt>
                <c:pt idx="1">
                  <c:v>4958</c:v>
                </c:pt>
                <c:pt idx="2">
                  <c:v>4817</c:v>
                </c:pt>
                <c:pt idx="3">
                  <c:v>4143</c:v>
                </c:pt>
                <c:pt idx="4">
                  <c:v>2507</c:v>
                </c:pt>
              </c:numCache>
            </c:numRef>
          </c:val>
        </c:ser>
        <c:dLbls>
          <c:showLegendKey val="0"/>
          <c:showVal val="1"/>
          <c:showCatName val="0"/>
          <c:showSerName val="0"/>
          <c:showPercent val="0"/>
          <c:showBubbleSize val="0"/>
        </c:dLbls>
        <c:gapWidth val="150"/>
        <c:overlap val="-25"/>
        <c:axId val="170593429"/>
        <c:axId val="280355219"/>
      </c:barChart>
      <c:catAx>
        <c:axId val="170593429"/>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400" b="0" i="0" u="none" strike="noStrike" kern="1200" baseline="0">
                <a:solidFill>
                  <a:schemeClr val="tx1">
                    <a:lumMod val="95000"/>
                    <a:lumOff val="5000"/>
                  </a:schemeClr>
                </a:solidFill>
                <a:latin typeface="+mn-lt"/>
                <a:ea typeface="+mn-ea"/>
                <a:cs typeface="+mn-cs"/>
              </a:defRPr>
            </a:pPr>
          </a:p>
        </c:txPr>
        <c:crossAx val="280355219"/>
        <c:crosses val="autoZero"/>
        <c:auto val="1"/>
        <c:lblAlgn val="ctr"/>
        <c:lblOffset val="100"/>
        <c:noMultiLvlLbl val="0"/>
      </c:catAx>
      <c:valAx>
        <c:axId val="280355219"/>
        <c:scaling>
          <c:orientation val="minMax"/>
        </c:scaling>
        <c:delete val="1"/>
        <c:axPos val="l"/>
        <c:numFmt formatCode="General" sourceLinked="1"/>
        <c:majorTickMark val="none"/>
        <c:minorTickMark val="none"/>
        <c:tickLblPos val="nextTo"/>
        <c:txPr>
          <a:bodyPr rot="-60000000" spcFirstLastPara="0" vertOverflow="ellipsis" vert="horz" wrap="square" anchor="ctr" anchorCtr="1"/>
          <a:lstStyle/>
          <a:p>
            <a:pPr>
              <a:defRPr lang="zh-CN" sz="400" b="0" i="0" u="none" strike="noStrike" kern="1200" baseline="0">
                <a:solidFill>
                  <a:schemeClr val="tx1">
                    <a:lumMod val="95000"/>
                    <a:lumOff val="5000"/>
                  </a:schemeClr>
                </a:solidFill>
                <a:latin typeface="+mn-lt"/>
                <a:ea typeface="+mn-ea"/>
                <a:cs typeface="+mn-cs"/>
              </a:defRPr>
            </a:pPr>
          </a:p>
        </c:txPr>
        <c:crossAx val="170593429"/>
        <c:crosses val="autoZero"/>
        <c:crossBetween val="between"/>
      </c:valAx>
      <c:spPr>
        <a:noFill/>
        <a:ln>
          <a:noFill/>
        </a:ln>
        <a:effectLst/>
      </c:spPr>
    </c:plotArea>
    <c:legend>
      <c:legendPos val="t"/>
      <c:legendEntry>
        <c:idx val="0"/>
        <c:txPr>
          <a:bodyPr rot="0" spcFirstLastPara="0" vertOverflow="ellipsis" vert="horz" wrap="square" anchor="ctr" anchorCtr="1"/>
          <a:lstStyle/>
          <a:p>
            <a:pPr>
              <a:defRPr lang="zh-CN" sz="400" b="0" i="0" u="none" strike="noStrike" kern="1200" baseline="0">
                <a:solidFill>
                  <a:schemeClr val="tx1">
                    <a:lumMod val="95000"/>
                    <a:lumOff val="5000"/>
                  </a:schemeClr>
                </a:solidFill>
                <a:latin typeface="+mn-lt"/>
                <a:ea typeface="+mn-ea"/>
                <a:cs typeface="+mn-cs"/>
              </a:defRPr>
            </a:pPr>
          </a:p>
        </c:txPr>
      </c:legendEntry>
      <c:layout/>
      <c:overlay val="0"/>
      <c:spPr>
        <a:noFill/>
        <a:ln>
          <a:noFill/>
        </a:ln>
        <a:effectLst/>
      </c:spPr>
      <c:txPr>
        <a:bodyPr rot="0" spcFirstLastPara="0" vertOverflow="ellipsis" vert="horz" wrap="square" anchor="ctr" anchorCtr="1"/>
        <a:lstStyle/>
        <a:p>
          <a:pPr>
            <a:defRPr lang="zh-CN" sz="400" b="0" i="0" u="none" strike="noStrike" kern="1200" baseline="0">
              <a:solidFill>
                <a:schemeClr val="tx1">
                  <a:lumMod val="95000"/>
                  <a:lumOff val="5000"/>
                </a:schemeClr>
              </a:solidFill>
              <a:latin typeface="+mn-lt"/>
              <a:ea typeface="+mn-ea"/>
              <a:cs typeface="+mn-cs"/>
            </a:defRPr>
          </a:pPr>
        </a:p>
      </c:txPr>
    </c:legend>
    <c:plotVisOnly val="1"/>
    <c:dispBlanksAs val="gap"/>
    <c:showDLblsOverMax val="0"/>
    <c:extLst>
      <c:ext uri="{0b15fc19-7d7d-44ad-8c2d-2c3a37ce22c3}">
        <chartProps xmlns="https://web.wps.cn/et/2018/main" chartId="{b20ef17a-20b2-43cb-b57b-4673d0b096a1}"/>
      </c:ext>
    </c:extLst>
  </c:chart>
  <c:spPr>
    <a:noFill/>
    <a:ln w="9525" cap="flat" cmpd="sng" algn="ctr">
      <a:noFill/>
      <a:round/>
    </a:ln>
    <a:effectLst/>
  </c:spPr>
  <c:txPr>
    <a:bodyPr/>
    <a:lstStyle/>
    <a:p>
      <a:pPr>
        <a:defRPr lang="zh-CN" sz="400">
          <a:solidFill>
            <a:schemeClr val="tx1">
              <a:lumMod val="95000"/>
              <a:lumOff val="5000"/>
            </a:schemeClr>
          </a:solidFill>
        </a:defRPr>
      </a:pPr>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[外部攻击数据看板.xlsx]数据填充!$O$1</c:f>
              <c:strCache>
                <c:ptCount val="1"/>
                <c:pt idx="0">
                  <c:v>日志数量</c:v>
                </c:pt>
              </c:strCache>
            </c:strRef>
          </c:tx>
          <c:spPr>
            <a:sp3d contourW="12700"/>
          </c:spPr>
          <c:explosion val="0"/>
          <c:dPt>
            <c:idx val="0"/>
            <c:bubble3D val="0"/>
            <c:spPr>
              <a:solidFill>
                <a:schemeClr val="accent6"/>
              </a:solidFill>
              <a:ln>
                <a:noFill/>
              </a:ln>
              <a:effectLst/>
              <a:sp3d contourW="12700"/>
            </c:spPr>
          </c:dPt>
          <c:dPt>
            <c:idx val="1"/>
            <c:bubble3D val="0"/>
            <c:spPr>
              <a:solidFill>
                <a:schemeClr val="accent5"/>
              </a:solidFill>
              <a:ln>
                <a:noFill/>
              </a:ln>
              <a:effectLst>
                <a:outerShdw blurRad="254000" sx="102000" sy="102000" algn="ctr" rotWithShape="0">
                  <a:prstClr val="black">
                    <a:alpha val="20000"/>
                  </a:prstClr>
                </a:outerShdw>
              </a:effectLst>
              <a:sp3d contourW="12700"/>
            </c:spPr>
          </c:dPt>
          <c:dPt>
            <c:idx val="2"/>
            <c:bubble3D val="0"/>
            <c:spPr>
              <a:solidFill>
                <a:schemeClr val="accent4"/>
              </a:solidFill>
              <a:ln>
                <a:noFill/>
              </a:ln>
              <a:effectLst>
                <a:outerShdw blurRad="254000" sx="102000" sy="102000" algn="ctr" rotWithShape="0">
                  <a:prstClr val="black">
                    <a:alpha val="20000"/>
                  </a:prstClr>
                </a:outerShdw>
              </a:effectLst>
              <a:sp3d contourW="12700"/>
            </c:spPr>
          </c:dPt>
          <c:dPt>
            <c:idx val="3"/>
            <c:bubble3D val="0"/>
            <c:spPr>
              <a:solidFill>
                <a:schemeClr val="accent6">
                  <a:lumMod val="60000"/>
                </a:schemeClr>
              </a:solidFill>
              <a:ln>
                <a:noFill/>
              </a:ln>
              <a:effectLst>
                <a:outerShdw blurRad="254000" sx="102000" sy="102000" algn="ctr" rotWithShape="0">
                  <a:prstClr val="black">
                    <a:alpha val="20000"/>
                  </a:prstClr>
                </a:outerShdw>
              </a:effectLst>
              <a:sp3d contourW="12700"/>
            </c:spPr>
          </c:dPt>
          <c:dPt>
            <c:idx val="4"/>
            <c:bubble3D val="0"/>
            <c:spPr>
              <a:solidFill>
                <a:schemeClr val="accent5">
                  <a:lumMod val="60000"/>
                </a:schemeClr>
              </a:solidFill>
              <a:ln>
                <a:noFill/>
              </a:ln>
              <a:effectLst>
                <a:outerShdw blurRad="254000" sx="102000" sy="102000" algn="ctr" rotWithShape="0">
                  <a:prstClr val="black">
                    <a:alpha val="20000"/>
                  </a:prstClr>
                </a:outerShdw>
              </a:effectLst>
              <a:sp3d contourW="12700"/>
            </c:spPr>
          </c:dPt>
          <c:dLbls>
            <c:spPr>
              <a:noFill/>
              <a:ln>
                <a:noFill/>
              </a:ln>
              <a:effectLst/>
            </c:spPr>
            <c:txPr>
              <a:bodyPr rot="0" spcFirstLastPara="0" vertOverflow="ellipsis" vert="horz" wrap="square" lIns="38100" tIns="19050" rIns="38100" bIns="19050" anchor="ctr" anchorCtr="1"/>
              <a:lstStyle/>
              <a:p>
                <a:pPr>
                  <a:defRPr lang="zh-CN" sz="500" b="1" i="0" u="none" strike="noStrike" kern="1200" baseline="0">
                    <a:solidFill>
                      <a:schemeClr val="bg2">
                        <a:lumMod val="10000"/>
                      </a:schemeClr>
                    </a:solidFill>
                    <a:latin typeface="+mn-lt"/>
                    <a:ea typeface="+mn-ea"/>
                    <a:cs typeface="+mn-cs"/>
                  </a:defRPr>
                </a:pPr>
              </a:p>
            </c:txPr>
            <c:dLblPos val="bestFit"/>
            <c:showLegendKey val="0"/>
            <c:showVal val="0"/>
            <c:showCatName val="0"/>
            <c:showSerName val="0"/>
            <c:showPercent val="1"/>
            <c:showBubbleSize val="0"/>
            <c:showLeaderLines val="1"/>
            <c:extLs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strRef>
              <c:f>外部攻击数据看板.xlsx!GSDd</c:f>
              <c:strCache>
                <c:ptCount val="5"/>
                <c:pt idx="0">
                  <c:v>俄罗斯 莫斯科</c:v>
                </c:pt>
                <c:pt idx="1">
                  <c:v>中国 上海市</c:v>
                </c:pt>
                <c:pt idx="2">
                  <c:v>中国 北京市</c:v>
                </c:pt>
                <c:pt idx="3">
                  <c:v>中国 江苏省</c:v>
                </c:pt>
                <c:pt idx="4">
                  <c:v>中国 四川省</c:v>
                </c:pt>
              </c:strCache>
            </c:strRef>
          </c:cat>
          <c:val>
            <c:numRef>
              <c:f>外部攻击数据看板.xlsx!GSDrzs2</c:f>
              <c:numCache>
                <c:formatCode>General</c:formatCode>
                <c:ptCount val="5"/>
                <c:pt idx="0">
                  <c:v>28234</c:v>
                </c:pt>
                <c:pt idx="1">
                  <c:v>10152</c:v>
                </c:pt>
                <c:pt idx="2">
                  <c:v>4883</c:v>
                </c:pt>
                <c:pt idx="3">
                  <c:v>2347</c:v>
                </c:pt>
                <c:pt idx="4">
                  <c:v>1588</c:v>
                </c:pt>
              </c:numCache>
            </c:numRef>
          </c:val>
        </c:ser>
        <c:dLbls>
          <c:showLegendKey val="0"/>
          <c:showVal val="1"/>
          <c:showCatName val="0"/>
          <c:showSerName val="0"/>
          <c:showPercent val="0"/>
          <c:showBubbleSize val="0"/>
          <c:showLeaderLines val="1"/>
        </c:dLbls>
        <c:firstSliceAng val="277"/>
      </c:pieChart>
      <c:spPr>
        <a:noFill/>
        <a:ln>
          <a:noFill/>
        </a:ln>
        <a:effectLst/>
      </c:spPr>
    </c:plotArea>
    <c:legend>
      <c:legendPos val="r"/>
      <c:legendEntry>
        <c:idx val="0"/>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1"/>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2"/>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3"/>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4"/>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ayout>
        <c:manualLayout>
          <c:xMode val="edge"/>
          <c:yMode val="edge"/>
          <c:x val="0.6888720666162"/>
          <c:y val="0.311075355323143"/>
        </c:manualLayout>
      </c:layout>
      <c:overlay val="0"/>
      <c:spPr>
        <a:solidFill>
          <a:schemeClr val="bg1">
            <a:alpha val="40000"/>
          </a:schemeClr>
        </a:solidFill>
        <a:ln>
          <a:noFill/>
        </a:ln>
        <a:effectLst/>
      </c:spPr>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
    <c:plotVisOnly val="1"/>
    <c:dispBlanksAs val="gap"/>
    <c:showDLblsOverMax val="0"/>
    <c:extLst>
      <c:ext uri="{0b15fc19-7d7d-44ad-8c2d-2c3a37ce22c3}">
        <chartProps xmlns="https://web.wps.cn/et/2018/main" chartId="{163e47df-74a0-40e7-8857-6dbba7596d9c}"/>
      </c:ext>
    </c:extLst>
  </c:chart>
  <c:spPr>
    <a:noFill/>
    <a:ln w="9525" cap="flat" cmpd="sng" algn="ctr">
      <a:noFill/>
      <a:round/>
    </a:ln>
    <a:effectLst/>
  </c:spPr>
  <c:txPr>
    <a:bodyPr/>
    <a:lstStyle/>
    <a:p>
      <a:pPr>
        <a:defRPr lang="zh-CN" sz="500">
          <a:solidFill>
            <a:schemeClr val="bg2">
              <a:lumMod val="10000"/>
            </a:schemeClr>
          </a:solidFill>
        </a:defRPr>
      </a:pPr>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797798927809734"/>
          <c:y val="0.130366847436346"/>
          <c:w val="0.558263056720128"/>
          <c:h val="0.739266305127308"/>
        </c:manualLayout>
      </c:layout>
      <c:pieChart>
        <c:varyColors val="1"/>
        <c:ser>
          <c:idx val="0"/>
          <c:order val="0"/>
          <c:tx>
            <c:strRef>
              <c:f>[外部攻击数据看板.xlsx]数据填充!$C$1</c:f>
              <c:strCache>
                <c:ptCount val="1"/>
                <c:pt idx="0">
                  <c:v>日志数量</c:v>
                </c:pt>
              </c:strCache>
            </c:strRef>
          </c:tx>
          <c:spPr>
            <a:sp3d contourW="12700"/>
          </c:spPr>
          <c:explosion val="0"/>
          <c:dPt>
            <c:idx val="0"/>
            <c:bubble3D val="0"/>
            <c:spPr>
              <a:solidFill>
                <a:schemeClr val="accent6"/>
              </a:solidFill>
              <a:ln>
                <a:noFill/>
              </a:ln>
              <a:effectLst/>
              <a:sp3d contourW="12700"/>
            </c:spPr>
          </c:dPt>
          <c:dPt>
            <c:idx val="1"/>
            <c:bubble3D val="0"/>
            <c:spPr>
              <a:solidFill>
                <a:schemeClr val="accent5"/>
              </a:solidFill>
              <a:ln>
                <a:noFill/>
              </a:ln>
              <a:effectLst>
                <a:outerShdw blurRad="254000" sx="102000" sy="102000" algn="ctr" rotWithShape="0">
                  <a:prstClr val="black">
                    <a:alpha val="20000"/>
                  </a:prstClr>
                </a:outerShdw>
              </a:effectLst>
              <a:sp3d contourW="12700"/>
            </c:spPr>
          </c:dPt>
          <c:dPt>
            <c:idx val="2"/>
            <c:bubble3D val="0"/>
            <c:spPr>
              <a:solidFill>
                <a:schemeClr val="accent4"/>
              </a:solidFill>
              <a:ln>
                <a:noFill/>
              </a:ln>
              <a:effectLst>
                <a:outerShdw blurRad="254000" sx="102000" sy="102000" algn="ctr" rotWithShape="0">
                  <a:prstClr val="black">
                    <a:alpha val="20000"/>
                  </a:prstClr>
                </a:outerShdw>
              </a:effectLst>
              <a:sp3d contourW="12700"/>
            </c:spPr>
          </c:dPt>
          <c:dPt>
            <c:idx val="3"/>
            <c:bubble3D val="0"/>
            <c:spPr>
              <a:solidFill>
                <a:schemeClr val="accent6">
                  <a:lumMod val="60000"/>
                </a:schemeClr>
              </a:solidFill>
              <a:ln>
                <a:noFill/>
              </a:ln>
              <a:effectLst>
                <a:outerShdw blurRad="254000" sx="102000" sy="102000" algn="ctr" rotWithShape="0">
                  <a:prstClr val="black">
                    <a:alpha val="20000"/>
                  </a:prstClr>
                </a:outerShdw>
              </a:effectLst>
              <a:sp3d contourW="12700"/>
            </c:spPr>
          </c:dPt>
          <c:dPt>
            <c:idx val="4"/>
            <c:bubble3D val="0"/>
            <c:spPr>
              <a:solidFill>
                <a:schemeClr val="accent5">
                  <a:lumMod val="60000"/>
                </a:schemeClr>
              </a:solidFill>
              <a:ln>
                <a:noFill/>
              </a:ln>
              <a:effectLst>
                <a:outerShdw blurRad="254000" sx="102000" sy="102000" algn="ctr" rotWithShape="0">
                  <a:prstClr val="black">
                    <a:alpha val="20000"/>
                  </a:prstClr>
                </a:outerShdw>
              </a:effectLst>
              <a:sp3d contourW="12700"/>
            </c:spPr>
          </c:dPt>
          <c:dLbls>
            <c:spPr>
              <a:noFill/>
              <a:ln>
                <a:noFill/>
              </a:ln>
              <a:effectLst/>
            </c:spPr>
            <c:txPr>
              <a:bodyPr rot="0" spcFirstLastPara="0" vertOverflow="ellipsis" vert="horz" wrap="square" lIns="38100" tIns="19050" rIns="38100" bIns="19050" anchor="ctr" anchorCtr="1"/>
              <a:lstStyle/>
              <a:p>
                <a:pPr>
                  <a:defRPr lang="zh-CN" sz="500" b="1" i="0" u="none" strike="noStrike" kern="1200" baseline="0">
                    <a:solidFill>
                      <a:schemeClr val="tx1">
                        <a:lumMod val="95000"/>
                        <a:lumOff val="5000"/>
                      </a:schemeClr>
                    </a:solidFill>
                    <a:latin typeface="+mn-lt"/>
                    <a:ea typeface="+mn-ea"/>
                    <a:cs typeface="+mn-cs"/>
                  </a:defRPr>
                </a:pPr>
              </a:p>
            </c:txPr>
            <c:dLblPos val="bestFit"/>
            <c:showLegendKey val="0"/>
            <c:showVal val="0"/>
            <c:showCatName val="0"/>
            <c:showSerName val="0"/>
            <c:showPercent val="1"/>
            <c:showBubbleSize val="0"/>
            <c:showLeaderLines val="1"/>
            <c:extLs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strRef>
              <c:f>外部攻击数据看板.xlsx!WXLXX</c:f>
              <c:strCache>
                <c:ptCount val="5"/>
                <c:pt idx="0">
                  <c:v>弱口令</c:v>
                </c:pt>
                <c:pt idx="1">
                  <c:v>远控行为</c:v>
                </c:pt>
                <c:pt idx="2">
                  <c:v>端口转发</c:v>
                </c:pt>
                <c:pt idx="3">
                  <c:v>代码注入</c:v>
                </c:pt>
                <c:pt idx="4">
                  <c:v>账号爆破</c:v>
                </c:pt>
              </c:strCache>
            </c:strRef>
          </c:cat>
          <c:val>
            <c:numRef>
              <c:f>外部攻击数据看板.xlsx!WXLXXrzs</c:f>
              <c:numCache>
                <c:formatCode>General</c:formatCode>
                <c:ptCount val="5"/>
                <c:pt idx="0">
                  <c:v>27410</c:v>
                </c:pt>
                <c:pt idx="1">
                  <c:v>6138</c:v>
                </c:pt>
                <c:pt idx="2">
                  <c:v>5734</c:v>
                </c:pt>
                <c:pt idx="3">
                  <c:v>3751</c:v>
                </c:pt>
                <c:pt idx="4">
                  <c:v>2444</c:v>
                </c:pt>
              </c:numCache>
            </c:numRef>
          </c:val>
        </c:ser>
        <c:dLbls>
          <c:showLegendKey val="0"/>
          <c:showVal val="0"/>
          <c:showCatName val="0"/>
          <c:showSerName val="0"/>
          <c:showPercent val="1"/>
          <c:showBubbleSize val="0"/>
          <c:showLeaderLines val="1"/>
        </c:dLbls>
        <c:firstSliceAng val="277"/>
      </c:pieChart>
      <c:spPr>
        <a:noFill/>
        <a:ln>
          <a:noFill/>
        </a:ln>
        <a:effectLst/>
      </c:spPr>
    </c:plotArea>
    <c:legend>
      <c:legendPos val="r"/>
      <c:legendEntry>
        <c:idx val="0"/>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1"/>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2"/>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3"/>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4"/>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ayout/>
      <c:overlay val="0"/>
      <c:spPr>
        <a:solidFill>
          <a:schemeClr val="bg1">
            <a:alpha val="40000"/>
          </a:schemeClr>
        </a:solidFill>
        <a:ln>
          <a:noFill/>
        </a:ln>
        <a:effectLst/>
      </c:spPr>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
    <c:plotVisOnly val="1"/>
    <c:dispBlanksAs val="gap"/>
    <c:showDLblsOverMax val="0"/>
    <c:extLst>
      <c:ext uri="{0b15fc19-7d7d-44ad-8c2d-2c3a37ce22c3}">
        <chartProps xmlns="https://web.wps.cn/et/2018/main" chartId="{b460e45c-db7b-49c4-bfeb-8b3e7b20519f}"/>
      </c:ext>
    </c:extLst>
  </c:chart>
  <c:spPr>
    <a:noFill/>
    <a:ln w="9525" cap="flat" cmpd="sng" algn="ctr">
      <a:noFill/>
      <a:round/>
    </a:ln>
    <a:effectLst/>
  </c:spPr>
  <c:txPr>
    <a:bodyPr/>
    <a:lstStyle/>
    <a:p>
      <a:pPr>
        <a:defRPr lang="zh-CN" sz="500">
          <a:solidFill>
            <a:schemeClr val="tx1">
              <a:lumMod val="95000"/>
              <a:lumOff val="5000"/>
            </a:schemeClr>
          </a:solidFill>
        </a:defRPr>
      </a:pPr>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"日均攻击数"</c:f>
              <c:strCache>
                <c:ptCount val="1"/>
                <c:pt idx="0">
                  <c:v>日均攻击数</c:v>
                </c:pt>
              </c:strCache>
            </c:strRef>
          </c:tx>
          <c:spPr>
            <a:solidFill>
              <a:schemeClr val="accent1"/>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500" b="0" i="0" u="none" strike="noStrike" kern="1200" baseline="0">
                    <a:solidFill>
                      <a:schemeClr val="bg2">
                        <a:lumMod val="10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'[很多鱼安全运营工作报告-20250801.xlsx]数据统计'!$C$89:$C$95</c:f>
              <c:strCache>
                <c:ptCount val="7"/>
                <c:pt idx="0">
                  <c:v>中秋（24/9/15-9/17）</c:v>
                </c:pt>
                <c:pt idx="1">
                  <c:v>国庆（24/10/1-10/7）</c:v>
                </c:pt>
                <c:pt idx="2">
                  <c:v>元旦（25/1/1）</c:v>
                </c:pt>
                <c:pt idx="3">
                  <c:v>春节（25/1/23-2/5）</c:v>
                </c:pt>
                <c:pt idx="4">
                  <c:v>清明（25/4/4-4/6）</c:v>
                </c:pt>
                <c:pt idx="5">
                  <c:v>五一（25/5/1-5/5）</c:v>
                </c:pt>
                <c:pt idx="6">
                  <c:v>端午（25/5/31-6/2）</c:v>
                </c:pt>
              </c:strCache>
            </c:strRef>
          </c:cat>
          <c:val>
            <c:numRef>
              <c:f>'[很多鱼安全运营工作报告-20250801.xlsx]数据统计'!$D$89:$D$95</c:f>
              <c:numCache>
                <c:formatCode>General</c:formatCode>
                <c:ptCount val="7"/>
                <c:pt idx="0">
                  <c:v>9623</c:v>
                </c:pt>
                <c:pt idx="1">
                  <c:v>28655</c:v>
                </c:pt>
                <c:pt idx="2">
                  <c:v>3461</c:v>
                </c:pt>
                <c:pt idx="3">
                  <c:v>16440</c:v>
                </c:pt>
                <c:pt idx="4">
                  <c:v>2238</c:v>
                </c:pt>
                <c:pt idx="5">
                  <c:v>7218</c:v>
                </c:pt>
                <c:pt idx="6">
                  <c:v>5570</c:v>
                </c:pt>
              </c:numCache>
            </c:numRef>
          </c:val>
        </c:ser>
        <c:dLbls>
          <c:showLegendKey val="0"/>
          <c:showVal val="0"/>
          <c:showCatName val="0"/>
          <c:showSerName val="0"/>
          <c:showPercent val="0"/>
          <c:showBubbleSize val="0"/>
        </c:dLbls>
        <c:gapWidth val="219"/>
        <c:overlap val="-27"/>
        <c:axId val="452361593"/>
        <c:axId val="478519395"/>
      </c:barChart>
      <c:lineChart>
        <c:grouping val="standard"/>
        <c:varyColors val="0"/>
        <c:ser>
          <c:idx val="1"/>
          <c:order val="1"/>
          <c:tx>
            <c:strRef>
              <c:f>"防御率"</c:f>
              <c:strCache>
                <c:ptCount val="1"/>
                <c:pt idx="0">
                  <c:v>防御率</c:v>
                </c:pt>
              </c:strCache>
            </c:strRef>
          </c:tx>
          <c:spPr>
            <a:ln w="28575" cap="rnd">
              <a:solidFill>
                <a:srgbClr val="00D860"/>
              </a:solidFill>
              <a:round/>
            </a:ln>
            <a:effectLst/>
          </c:spPr>
          <c:marker>
            <c:symbol val="none"/>
          </c:marker>
          <c:dLbls>
            <c:delete val="1"/>
          </c:dLbls>
          <c:cat>
            <c:strRef>
              <c:f>'[很多鱼安全运营工作报告-20250801.xlsx]数据统计'!$C$89:$C$95</c:f>
              <c:strCache>
                <c:ptCount val="7"/>
                <c:pt idx="0">
                  <c:v>中秋（24/9/15-9/17）</c:v>
                </c:pt>
                <c:pt idx="1">
                  <c:v>国庆（24/10/1-10/7）</c:v>
                </c:pt>
                <c:pt idx="2">
                  <c:v>元旦（25/1/1）</c:v>
                </c:pt>
                <c:pt idx="3">
                  <c:v>春节（25/1/23-2/5）</c:v>
                </c:pt>
                <c:pt idx="4">
                  <c:v>清明（25/4/4-4/6）</c:v>
                </c:pt>
                <c:pt idx="5">
                  <c:v>五一（25/5/1-5/5）</c:v>
                </c:pt>
                <c:pt idx="6">
                  <c:v>端午（25/5/31-6/2）</c:v>
                </c:pt>
              </c:strCache>
            </c:strRef>
          </c:cat>
          <c:val>
            <c:numRef>
              <c:f>'[很多鱼安全运营工作报告-20250801.xlsx]数据统计'!$E$89:$E$95</c:f>
              <c:numCache>
                <c:formatCode>0%</c:formatCode>
                <c:ptCount val="7"/>
                <c:pt idx="0">
                  <c:v>1</c:v>
                </c:pt>
                <c:pt idx="1">
                  <c:v>1</c:v>
                </c:pt>
                <c:pt idx="2">
                  <c:v>1</c:v>
                </c:pt>
                <c:pt idx="3">
                  <c:v>1</c:v>
                </c:pt>
                <c:pt idx="4">
                  <c:v>1</c:v>
                </c:pt>
                <c:pt idx="5">
                  <c:v>1</c:v>
                </c:pt>
                <c:pt idx="6">
                  <c:v>1</c:v>
                </c:pt>
              </c:numCache>
            </c:numRef>
          </c:val>
          <c:smooth val="0"/>
        </c:ser>
        <c:dLbls>
          <c:showLegendKey val="0"/>
          <c:showVal val="0"/>
          <c:showCatName val="0"/>
          <c:showSerName val="0"/>
          <c:showPercent val="0"/>
          <c:showBubbleSize val="0"/>
        </c:dLbls>
        <c:marker val="0"/>
        <c:smooth val="0"/>
        <c:axId val="725296953"/>
        <c:axId val="406196429"/>
      </c:lineChart>
      <c:catAx>
        <c:axId val="452361593"/>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crossAx val="478519395"/>
        <c:crosses val="autoZero"/>
        <c:auto val="1"/>
        <c:lblAlgn val="ctr"/>
        <c:lblOffset val="100"/>
        <c:noMultiLvlLbl val="0"/>
      </c:catAx>
      <c:valAx>
        <c:axId val="478519395"/>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crossAx val="452361593"/>
        <c:crosses val="autoZero"/>
        <c:crossBetween val="between"/>
      </c:valAx>
      <c:catAx>
        <c:axId val="725296953"/>
        <c:scaling>
          <c:orientation val="minMax"/>
        </c:scaling>
        <c:delete val="1"/>
        <c:axPos val="b"/>
        <c:majorTickMark val="out"/>
        <c:minorTickMark val="none"/>
        <c:tickLblPos val="nextTo"/>
        <c:txPr>
          <a:bodyPr rot="-6000000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crossAx val="406196429"/>
        <c:crosses val="autoZero"/>
        <c:auto val="1"/>
        <c:lblAlgn val="ctr"/>
        <c:lblOffset val="100"/>
        <c:noMultiLvlLbl val="0"/>
      </c:catAx>
      <c:valAx>
        <c:axId val="406196429"/>
        <c:scaling>
          <c:orientation val="minMax"/>
        </c:scaling>
        <c:delete val="0"/>
        <c:axPos val="r"/>
        <c:numFmt formatCode="0%" sourceLinked="1"/>
        <c:majorTickMark val="out"/>
        <c:minorTickMark val="none"/>
        <c:tickLblPos val="nextTo"/>
        <c:spPr>
          <a:noFill/>
          <a:ln>
            <a:noFill/>
          </a:ln>
          <a:effectLst/>
        </c:spPr>
        <c:txPr>
          <a:bodyPr rot="-6000000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crossAx val="725296953"/>
        <c:crosses val="max"/>
        <c:crossBetween val="between"/>
      </c:valAx>
      <c:spPr>
        <a:noFill/>
        <a:ln>
          <a:noFill/>
        </a:ln>
        <a:effectLst/>
      </c:spPr>
    </c:plotArea>
    <c:legend>
      <c:legendPos val="b"/>
      <c:legendEntry>
        <c:idx val="0"/>
        <c:txPr>
          <a:bodyPr rot="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legendEntry>
      <c:legendEntry>
        <c:idx val="1"/>
        <c:txPr>
          <a:bodyPr rot="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legendEntry>
      <c:layout/>
      <c:overlay val="0"/>
      <c:spPr>
        <a:noFill/>
        <a:ln>
          <a:noFill/>
        </a:ln>
        <a:effectLst/>
      </c:spPr>
      <c:txPr>
        <a:bodyPr rot="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legend>
    <c:plotVisOnly val="1"/>
    <c:dispBlanksAs val="gap"/>
    <c:showDLblsOverMax val="0"/>
    <c:extLst>
      <c:ext uri="{0b15fc19-7d7d-44ad-8c2d-2c3a37ce22c3}">
        <chartProps xmlns="https://web.wps.cn/et/2018/main" chartId="{2026f24e-bb0f-4c4d-9956-999e3625512c}"/>
      </c:ext>
    </c:extLst>
  </c:chart>
  <c:spPr>
    <a:noFill/>
    <a:ln w="9525" cap="flat" cmpd="sng" algn="ctr">
      <a:noFill/>
      <a:round/>
    </a:ln>
    <a:effectLst/>
  </c:spPr>
  <c:txPr>
    <a:bodyPr/>
    <a:lstStyle/>
    <a:p>
      <a:pPr>
        <a:defRPr lang="zh-CN" sz="500">
          <a:solidFill>
            <a:schemeClr val="bg2">
              <a:lumMod val="10000"/>
            </a:schemeClr>
          </a:solidFill>
        </a:defRPr>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10028">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0">
      <cs:styleClr val="auto"/>
    </cs:fillRef>
    <cs:effectRef idx="0"/>
    <cs:fontRef idx="minor">
      <a:schemeClr val="dk1"/>
    </cs:fontRef>
    <cs:spPr>
      <a:ln w="28575" cap="rnd">
        <a:solidFill>
          <a:schemeClr val="phClr"/>
        </a:solidFill>
        <a:round/>
      </a:ln>
      <a:effectLst/>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10109">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solidFill>
          <a:schemeClr val="bg1"/>
        </a:solidFill>
      </a:ln>
      <a:effectLst/>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10109">
  <cs:axisTitle>
    <cs:lnRef idx="0"/>
    <cs:fillRef idx="0"/>
    <cs:effectRef idx="0"/>
    <cs:fontRef idx="minor">
      <a:srgbClr val="000000">
        <a:lumMod val="65000"/>
        <a:lumOff val="35000"/>
      </a:srgbClr>
    </cs:fontRef>
    <cs:defRPr sz="1000" kern="1200"/>
  </cs:axisTitle>
  <cs:categoryAxis>
    <cs:lnRef idx="0"/>
    <cs:fillRef idx="0"/>
    <cs:effectRef idx="0"/>
    <cs:fontRef idx="minor">
      <a:srgbClr val="000000">
        <a:lumMod val="65000"/>
        <a:lumOff val="35000"/>
      </a:srgbClr>
    </cs:fontRef>
    <cs:spPr>
      <a:ln w="9525" cap="flat" cmpd="sng" algn="ctr">
        <a:solidFill>
          <a:srgbClr val="000000">
            <a:lumMod val="15000"/>
            <a:lumOff val="85000"/>
          </a:srgbClr>
        </a:solidFill>
        <a:round/>
      </a:ln>
    </cs:spPr>
    <cs:defRPr sz="900" kern="1200"/>
  </cs:categoryAxis>
  <cs:chartArea mods="allowNoFillOverride allowNoLineOverride">
    <cs:lnRef idx="0"/>
    <cs:fillRef idx="0"/>
    <cs:effectRef idx="0"/>
    <cs:fontRef idx="minor">
      <a:srgbClr val="000000"/>
    </cs:fontRef>
    <cs:spPr>
      <a:solidFill>
        <a:srgbClr val="FFFFFF"/>
      </a:solidFill>
      <a:ln w="9525" cap="flat" cmpd="sng" algn="ctr">
        <a:solidFill>
          <a:srgbClr val="000000">
            <a:lumMod val="15000"/>
            <a:lumOff val="85000"/>
          </a:srgbClr>
        </a:solidFill>
        <a:round/>
      </a:ln>
    </cs:spPr>
    <cs:defRPr sz="900" kern="1200"/>
  </cs:chartArea>
  <cs:dataLabel>
    <cs:lnRef idx="0"/>
    <cs:fillRef idx="0"/>
    <cs:effectRef idx="0"/>
    <cs:fontRef idx="minor">
      <a:srgbClr val="000000">
        <a:lumMod val="75000"/>
        <a:lumOff val="25000"/>
      </a:srgbClr>
    </cs:fontRef>
    <cs:defRPr sz="1000" kern="1200"/>
  </cs:dataLabel>
  <cs:dataLabelCallout>
    <cs:lnRef idx="0"/>
    <cs:fillRef idx="0"/>
    <cs:effectRef idx="0"/>
    <cs:fontRef idx="minor">
      <a:srgbClr val="000000">
        <a:lumMod val="65000"/>
        <a:lumOff val="35000"/>
      </a:srgbClr>
    </cs:fontRef>
    <cs:spPr>
      <a:solidFill>
        <a:srgbClr val="FFFFFF"/>
      </a:solidFill>
      <a:ln>
        <a:solidFill>
          <a:srgbClr val="000000">
            <a:lumMod val="25000"/>
            <a:lumOff val="75000"/>
          </a:srgb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rgbClr val="000000"/>
    </cs:fontRef>
    <cs:spPr>
      <a:ln>
        <a:solidFill>
          <a:srgbClr val="FFFFFF"/>
        </a:solidFill>
      </a:ln>
      <a:effectLst/>
    </cs:spPr>
  </cs:dataPoint>
  <cs:dataPoint3D>
    <cs:lnRef idx="0"/>
    <cs:fillRef idx="1">
      <cs:styleClr val="auto"/>
    </cs:fillRef>
    <cs:effectRef idx="0"/>
    <cs:fontRef idx="minor">
      <a:srgbClr val="000000"/>
    </cs:fontRef>
    <cs:spPr>
      <a:ln w="25400">
        <a:solidFill>
          <a:srgbClr val="FFFFFF"/>
        </a:solidFill>
      </a:ln>
    </cs:spPr>
  </cs:dataPoint3D>
  <cs:dataPointLine>
    <cs:lnRef idx="0">
      <cs:styleClr val="auto"/>
    </cs:lnRef>
    <cs:fillRef idx="0"/>
    <cs:effectRef idx="0"/>
    <cs:fontRef idx="minor">
      <a:srgbClr val="000000"/>
    </cs:fontRef>
    <cs:spPr>
      <a:ln w="28575" cap="rnd">
        <a:solidFill>
          <a:srgbClr val="FFFFFF"/>
        </a:solidFill>
        <a:round/>
      </a:ln>
    </cs:spPr>
  </cs:dataPointLine>
  <cs:dataPointMarker>
    <cs:lnRef idx="0">
      <cs:styleClr val="auto"/>
    </cs:lnRef>
    <cs:fillRef idx="1">
      <cs:styleClr val="auto"/>
    </cs:fillRef>
    <cs:effectRef idx="0"/>
    <cs:fontRef idx="minor">
      <a:srgbClr val="000000"/>
    </cs:fontRef>
    <cs:spPr>
      <a:ln w="9525">
        <a:solidFill>
          <a:srgbClr val="FFFFFF"/>
        </a:solidFill>
      </a:ln>
    </cs:spPr>
  </cs:dataPointMarker>
  <cs:dataPointMarkerLayout symbol="circle" size="5"/>
  <cs:dataPointWireframe>
    <cs:lnRef idx="0">
      <cs:styleClr val="auto"/>
    </cs:lnRef>
    <cs:fillRef idx="0"/>
    <cs:effectRef idx="0"/>
    <cs:fontRef idx="minor">
      <a:srgbClr val="000000"/>
    </cs:fontRef>
    <cs:spPr>
      <a:ln w="9525" cap="rnd">
        <a:solidFill>
          <a:srgbClr val="FFFFFF"/>
        </a:solidFill>
        <a:round/>
      </a:ln>
    </cs:spPr>
  </cs:dataPointWireframe>
  <cs:dataTable>
    <cs:lnRef idx="0"/>
    <cs:fillRef idx="0"/>
    <cs:effectRef idx="0"/>
    <cs:fontRef idx="minor">
      <a:srgbClr val="000000">
        <a:lumMod val="65000"/>
        <a:lumOff val="35000"/>
      </a:srgbClr>
    </cs:fontRef>
    <cs:spPr>
      <a:noFill/>
      <a:ln w="9525" cap="flat" cmpd="sng" algn="ctr">
        <a:solidFill>
          <a:srgbClr val="000000">
            <a:lumMod val="15000"/>
            <a:lumOff val="85000"/>
          </a:srgbClr>
        </a:solidFill>
        <a:round/>
      </a:ln>
    </cs:spPr>
    <cs:defRPr sz="900" kern="1200"/>
  </cs:dataTable>
  <cs:downBar>
    <cs:lnRef idx="0"/>
    <cs:fillRef idx="0"/>
    <cs:effectRef idx="0"/>
    <cs:fontRef idx="minor">
      <a:srgbClr val="000000"/>
    </cs:fontRef>
    <cs:spPr>
      <a:solidFill>
        <a:srgbClr val="000000">
          <a:lumMod val="75000"/>
          <a:lumOff val="25000"/>
        </a:srgbClr>
      </a:solidFill>
      <a:ln w="9525" cap="flat" cmpd="sng" algn="ctr">
        <a:solidFill>
          <a:srgbClr val="000000">
            <a:lumMod val="65000"/>
            <a:lumOff val="35000"/>
          </a:srgbClr>
        </a:solidFill>
        <a:round/>
      </a:ln>
    </cs:spPr>
  </cs:downBar>
  <cs:dropLine>
    <cs:lnRef idx="0"/>
    <cs:fillRef idx="0"/>
    <cs:effectRef idx="0"/>
    <cs:fontRef idx="minor">
      <a:srgbClr val="000000"/>
    </cs:fontRef>
    <cs:spPr>
      <a:ln w="9525" cap="flat" cmpd="sng" algn="ctr">
        <a:solidFill>
          <a:srgbClr val="000000">
            <a:lumMod val="35000"/>
            <a:lumOff val="65000"/>
          </a:srgbClr>
        </a:solidFill>
        <a:round/>
      </a:ln>
    </cs:spPr>
  </cs:dropLine>
  <cs:errorBar>
    <cs:lnRef idx="0"/>
    <cs:fillRef idx="0"/>
    <cs:effectRef idx="0"/>
    <cs:fontRef idx="minor">
      <a:srgbClr val="000000"/>
    </cs:fontRef>
    <cs:spPr>
      <a:ln w="9525" cap="flat" cmpd="sng" algn="ctr">
        <a:solidFill>
          <a:srgbClr val="000000">
            <a:lumMod val="65000"/>
            <a:lumOff val="35000"/>
          </a:srgbClr>
        </a:solidFill>
        <a:round/>
      </a:ln>
    </cs:spPr>
  </cs:errorBar>
  <cs:floor>
    <cs:lnRef idx="0"/>
    <cs:fillRef idx="0"/>
    <cs:effectRef idx="0"/>
    <cs:fontRef idx="minor">
      <a:srgbClr val="000000"/>
    </cs:fontRef>
    <cs:spPr>
      <a:noFill/>
      <a:ln>
        <a:noFill/>
      </a:ln>
    </cs:spPr>
  </cs:floor>
  <cs:gridlineMajor>
    <cs:lnRef idx="0"/>
    <cs:fillRef idx="0"/>
    <cs:effectRef idx="0"/>
    <cs:fontRef idx="minor">
      <a:srgbClr val="000000"/>
    </cs:fontRef>
    <cs:spPr>
      <a:ln w="9525" cap="flat" cmpd="sng" algn="ctr">
        <a:solidFill>
          <a:srgbClr val="FFFFFF">
            <a:lumMod val="90200"/>
          </a:srgbClr>
        </a:solidFill>
        <a:round/>
      </a:ln>
    </cs:spPr>
  </cs:gridlineMajor>
  <cs:gridlineMinor>
    <cs:lnRef idx="0"/>
    <cs:fillRef idx="0"/>
    <cs:effectRef idx="0"/>
    <cs:fontRef idx="minor">
      <a:srgbClr val="000000"/>
    </cs:fontRef>
    <cs:spPr>
      <a:ln w="9525" cap="flat" cmpd="sng" algn="ctr">
        <a:solidFill>
          <a:srgbClr val="000000">
            <a:lumMod val="5000"/>
            <a:lumOff val="95000"/>
          </a:srgbClr>
        </a:solidFill>
        <a:round/>
      </a:ln>
    </cs:spPr>
  </cs:gridlineMinor>
  <cs:hiLoLine>
    <cs:lnRef idx="0"/>
    <cs:fillRef idx="0"/>
    <cs:effectRef idx="0"/>
    <cs:fontRef idx="minor">
      <a:srgbClr val="000000"/>
    </cs:fontRef>
    <cs:spPr>
      <a:ln w="9525" cap="flat" cmpd="sng" algn="ctr">
        <a:solidFill>
          <a:srgbClr val="000000">
            <a:lumMod val="50000"/>
            <a:lumOff val="50000"/>
          </a:srgbClr>
        </a:solidFill>
        <a:round/>
      </a:ln>
    </cs:spPr>
  </cs:hiLoLine>
  <cs:leaderLine>
    <cs:lnRef idx="0"/>
    <cs:fillRef idx="0"/>
    <cs:effectRef idx="0"/>
    <cs:fontRef idx="minor">
      <a:srgbClr val="000000"/>
    </cs:fontRef>
    <cs:spPr>
      <a:ln w="9525" cap="flat" cmpd="sng" algn="ctr">
        <a:solidFill>
          <a:srgbClr val="000000">
            <a:lumMod val="35000"/>
            <a:lumOff val="65000"/>
          </a:srgbClr>
        </a:solidFill>
        <a:round/>
      </a:ln>
    </cs:spPr>
  </cs:leaderLine>
  <cs:legend>
    <cs:lnRef idx="0"/>
    <cs:fillRef idx="0"/>
    <cs:effectRef idx="0"/>
    <cs:fontRef idx="minor">
      <a:srgbClr val="000000">
        <a:lumMod val="65000"/>
        <a:lumOff val="35000"/>
      </a:srgbClr>
    </cs:fontRef>
    <cs:defRPr sz="900" kern="1200"/>
  </cs:legend>
  <cs:plotArea mods="allowNoFillOverride allowNoLineOverride">
    <cs:lnRef idx="0"/>
    <cs:fillRef idx="0"/>
    <cs:effectRef idx="0"/>
    <cs:fontRef idx="minor">
      <a:srgbClr val="000000"/>
    </cs:fontRef>
  </cs:plotArea>
  <cs:plotArea3D mods="allowNoFillOverride allowNoLineOverride">
    <cs:lnRef idx="0"/>
    <cs:fillRef idx="0"/>
    <cs:effectRef idx="0"/>
    <cs:fontRef idx="minor">
      <a:srgbClr val="000000"/>
    </cs:fontRef>
  </cs:plotArea3D>
  <cs:seriesAxis>
    <cs:lnRef idx="0"/>
    <cs:fillRef idx="0"/>
    <cs:effectRef idx="0"/>
    <cs:fontRef idx="minor">
      <a:srgbClr val="000000">
        <a:lumMod val="65000"/>
        <a:lumOff val="35000"/>
      </a:srgbClr>
    </cs:fontRef>
    <cs:defRPr sz="900" kern="1200"/>
  </cs:seriesAxis>
  <cs:seriesLine>
    <cs:lnRef idx="0"/>
    <cs:fillRef idx="0"/>
    <cs:effectRef idx="0"/>
    <cs:fontRef idx="minor">
      <a:srgbClr val="000000"/>
    </cs:fontRef>
    <cs:spPr>
      <a:ln w="9525" cap="flat" cmpd="sng" algn="ctr">
        <a:solidFill>
          <a:srgbClr val="000000">
            <a:lumMod val="35000"/>
            <a:lumOff val="65000"/>
          </a:srgbClr>
        </a:solidFill>
        <a:round/>
      </a:ln>
    </cs:spPr>
  </cs:seriesLine>
  <cs:title>
    <cs:lnRef idx="0"/>
    <cs:fillRef idx="0"/>
    <cs:effectRef idx="0"/>
    <cs:fontRef idx="minor">
      <a:srgbClr val="000000">
        <a:lumMod val="75000"/>
        <a:lumOff val="25000"/>
      </a:srgbClr>
    </cs:fontRef>
    <cs:defRPr sz="1400" b="1" kern="1200" baseline="0"/>
  </cs:title>
  <cs:trendline>
    <cs:lnRef idx="0">
      <cs:styleClr val="auto"/>
    </cs:lnRef>
    <cs:fillRef idx="0"/>
    <cs:effectRef idx="0"/>
    <cs:fontRef idx="minor">
      <a:srgbClr val="000000"/>
    </cs:fontRef>
    <cs:spPr>
      <a:ln w="19050" cap="rnd">
        <a:solidFill>
          <a:srgbClr val="FFFFFF"/>
        </a:solidFill>
        <a:prstDash val="sysDot"/>
      </a:ln>
    </cs:spPr>
  </cs:trendline>
  <cs:trendlineLabel>
    <cs:lnRef idx="0"/>
    <cs:fillRef idx="0"/>
    <cs:effectRef idx="0"/>
    <cs:fontRef idx="minor">
      <a:srgbClr val="000000">
        <a:lumMod val="65000"/>
        <a:lumOff val="35000"/>
      </a:srgbClr>
    </cs:fontRef>
    <cs:defRPr sz="900" kern="1200"/>
  </cs:trendlineLabel>
  <cs:upBar>
    <cs:lnRef idx="0"/>
    <cs:fillRef idx="0"/>
    <cs:effectRef idx="0"/>
    <cs:fontRef idx="minor">
      <a:srgbClr val="000000"/>
    </cs:fontRef>
    <cs:spPr>
      <a:solidFill>
        <a:srgbClr val="FFFFFF"/>
      </a:solidFill>
      <a:ln w="9525" cap="flat" cmpd="sng" algn="ctr">
        <a:solidFill>
          <a:srgbClr val="000000">
            <a:lumMod val="65000"/>
            <a:lumOff val="35000"/>
          </a:srgbClr>
        </a:solidFill>
        <a:round/>
      </a:ln>
    </cs:spPr>
  </cs:upBar>
  <cs:valueAxis>
    <cs:lnRef idx="0"/>
    <cs:fillRef idx="0"/>
    <cs:effectRef idx="0"/>
    <cs:fontRef idx="minor">
      <a:srgbClr val="000000">
        <a:lumMod val="65000"/>
        <a:lumOff val="35000"/>
      </a:srgbClr>
    </cs:fontRef>
    <cs:defRPr sz="900" kern="1200"/>
  </cs:valueAxis>
  <cs:wall>
    <cs:lnRef idx="0"/>
    <cs:fillRef idx="0"/>
    <cs:effectRef idx="0"/>
    <cs:fontRef idx="minor">
      <a:srgbClr val="000000"/>
    </cs:fontRef>
    <cs:spPr>
      <a:noFill/>
      <a:ln>
        <a:noFill/>
      </a:ln>
    </cs:spPr>
  </cs:wall>
</cs:chartStyle>
</file>

<file path=ppt/charts/style6.xml><?xml version="1.0" encoding="utf-8"?>
<cs:chartStyle xmlns:cs="http://schemas.microsoft.com/office/drawing/2012/chartStyle" xmlns:a="http://schemas.openxmlformats.org/drawingml/2006/main" id="10028">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0">
      <cs:styleClr val="auto"/>
    </cs:fillRef>
    <cs:effectRef idx="0"/>
    <cs:fontRef idx="minor">
      <a:schemeClr val="dk1"/>
    </cs:fontRef>
    <cs:spPr>
      <a:ln w="28575" cap="rnd">
        <a:solidFill>
          <a:schemeClr val="phClr"/>
        </a:solidFill>
        <a:round/>
      </a:ln>
      <a:effectLst/>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9.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10.xml><?xml version="1.0" encoding="utf-8"?>
<cs:chartStyle xmlns:cs="http://schemas.microsoft.com/office/drawing/2012/chartStyle" xmlns:a="http://schemas.openxmlformats.org/drawingml/2006/main" id="10298">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en-US"/>
              <a:t>今天启动的XXX客户云网端安全托管服务项目，运营周期从XX年XX月XX日至XX年XX月XX日。在这段时间里，我们将提供7*24H全时守护。这意味着无论何时何地，我们的安全团队都时刻保持警觉，就像忠诚的卫士守护着业务的安全。
我们提供的安全服务不仅是一种保障，更是业务稳定运行的护航者。通过先进的技术和专业的团队，我们能有效抵御各种安全威胁，降低风险，为业务发展创造稳定的环境。让我们携手共进，为客户的业务安全保驾护航。</a:t>
            </a:r>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en-US"/>
              <a:t>刚刚我们了解了项目启动会的基本信息，接下来至关重要的就是回顾项目背景与目标。同步项目信息、对齐运营目标是整个项目顺利推进的基础，只有对背景和目标清晰把握，才能让后续工作有的放矢。那具体的项目背景是怎样的，目标又如何达成呢，让我们一同深入探究。</a:t>
            </a:r>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en-US"/>
              <a:t>刚刚我们了解了项目启动会的基本信息，接下来至关重要的就是回顾项目背景与目标。同步项目信息、对齐运营目标是整个项目顺利推进的基础，只有对背景和目标清晰把握，才能让后续工作有的放矢。那具体的项目背景是怎样的，目标又如何达成呢，让我们一同深入探究。</a:t>
            </a:r>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en-US"/>
              <a:t>当下，国家对信息安全的重视程度与日俱增，相关政策要求企业强化防护能力，接受更严格监管。同时，单位业务快速发展，信息安全风险防控成为经营风险管理的关键。在此背景下，本项目意义重大。
项目将从网络、应用、系统安全等方面提升单位信息化安全运营水平。通过引入专业安全团队和云网端一体化方案，构建平战结合的安全运营体系。
具体而言，项目可降低资产脆弱性风险，减少黑客可乘之机，有效应对监管通报，保障业务合规；建立7*24小时安全威胁检测与响应机制，保障数字化业务零事故，规避业务损失；构建安全问题主动闭环机制，提高业务系统安全水平。</a:t>
            </a:r>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en-US"/>
              <a:t>刚刚我们了解了项目启动会的基本信息，接下来至关重要的就是回顾项目背景与目标。同步项目信息、对齐运营目标是整个项目顺利推进的基础，只有对背景和目标清晰把握，才能让后续工作有的放矢。那具体的项目背景是怎样的，目标又如何达成呢，让我们一同深入探究。</a:t>
            </a:r>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en-US"/>
              <a:t>安全运营计划与执行机制需进行详细的计划制定与动作分解。年度安全运营目标明确，要实现7*24小时防范网络安全事故，业务系统保护、通报问题应对和安全问题闭环均达100%，安全告警响应</a:t>
            </a:r>
            <a:r>
              <a:rPr lang="zh-CN" altLang="en-US"/>
              <a:t>平均</a:t>
            </a:r>
            <a:r>
              <a:rPr lang="en-US" altLang="en-US">
                <a:sym typeface="+mn-ea"/>
              </a:rPr>
              <a:t>控制在</a:t>
            </a:r>
            <a:r>
              <a:rPr lang="en-US" altLang="en-US"/>
              <a:t>30分钟内。
按季度划分，Q1从12月到2月，要完成实施、上线和首次报告，进行组件接入、服务启动和首次安全体检等；Q2从3月到5月，开展威胁监测、脆弱性利用问题监测等；Q3从6月到8月，持续运营并进行半年度复盘；Q4从9月到11月，持续运营并进行年度总结。
在时间维度上，实时和每日进行安全态势总结分析，每周和每月有运营周报、月报，每季度有运营季报，每半年有半年度运营总结。如此全面规划，能确保安全运营工作有序推进。</a:t>
            </a:r>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9" Type="http://schemas.openxmlformats.org/officeDocument/2006/relationships/tags" Target="../tags/tag11.xml"/><Relationship Id="rId8" Type="http://schemas.openxmlformats.org/officeDocument/2006/relationships/tags" Target="../tags/tag10.xml"/><Relationship Id="rId7" Type="http://schemas.openxmlformats.org/officeDocument/2006/relationships/tags" Target="../tags/tag9.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 Id="rId3" Type="http://schemas.openxmlformats.org/officeDocument/2006/relationships/tags" Target="../tags/tag5.xml"/><Relationship Id="rId2" Type="http://schemas.openxmlformats.org/officeDocument/2006/relationships/tags" Target="../tags/tag4.xml"/><Relationship Id="rId11" Type="http://schemas.openxmlformats.org/officeDocument/2006/relationships/tags" Target="../tags/tag13.xml"/><Relationship Id="rId10" Type="http://schemas.openxmlformats.org/officeDocument/2006/relationships/tags" Target="../tags/tag12.xml"/><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8_自定义版式">
    <p:spTree>
      <p:nvGrpSpPr>
        <p:cNvPr id="1" name=""/>
        <p:cNvGrpSpPr/>
        <p:nvPr/>
      </p:nvGrpSpPr>
      <p:grpSpPr>
        <a:xfrm>
          <a:off x="0" y="0"/>
          <a:ext cx="0" cy="0"/>
          <a:chOff x="0" y="0"/>
          <a:chExt cx="0" cy="0"/>
        </a:xfrm>
      </p:grpSpPr>
      <p:sp>
        <p:nvSpPr>
          <p:cNvPr id="9" name="文本框 8"/>
          <p:cNvSpPr txBox="1">
            <a:spLocks noChangeArrowheads="1"/>
          </p:cNvSpPr>
          <p:nvPr userDrawn="1"/>
        </p:nvSpPr>
        <p:spPr bwMode="auto">
          <a:xfrm>
            <a:off x="7356763" y="2854805"/>
            <a:ext cx="3590862" cy="2008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nSpc>
                <a:spcPct val="100000"/>
              </a:lnSpc>
              <a:spcBef>
                <a:spcPct val="0"/>
              </a:spcBef>
              <a:buNone/>
            </a:pPr>
            <a:r>
              <a:rPr lang="zh-CN" altLang="en-US" sz="6000" b="1" spc="600">
                <a:solidFill>
                  <a:schemeClr val="bg1"/>
                </a:solidFill>
                <a:latin typeface="微软雅黑" panose="020B0503020204020204" charset="-122"/>
                <a:ea typeface="微软雅黑" panose="020B0503020204020204" charset="-122"/>
              </a:rPr>
              <a:t>谢谢聆听</a:t>
            </a:r>
            <a:endParaRPr lang="en-US" altLang="zh-CN" sz="6000" b="1" spc="600" dirty="0">
              <a:solidFill>
                <a:schemeClr val="bg1"/>
              </a:solidFill>
              <a:latin typeface="微软雅黑" panose="020B0503020204020204" charset="-122"/>
              <a:ea typeface="微软雅黑" panose="020B0503020204020204" charset="-122"/>
            </a:endParaRPr>
          </a:p>
          <a:p>
            <a:pPr eaLnBrk="1" hangingPunct="1">
              <a:lnSpc>
                <a:spcPct val="100000"/>
              </a:lnSpc>
              <a:spcBef>
                <a:spcPct val="0"/>
              </a:spcBef>
              <a:buFontTx/>
              <a:buNone/>
            </a:pPr>
            <a:endParaRPr lang="en-US" altLang="zh-CN" sz="6600" b="1" spc="600" dirty="0">
              <a:solidFill>
                <a:srgbClr val="66BC29"/>
              </a:solidFill>
              <a:latin typeface="微软雅黑" panose="020B0503020204020204" charset="-122"/>
              <a:ea typeface="微软雅黑" panose="020B0503020204020204" charset="-122"/>
            </a:endParaRPr>
          </a:p>
        </p:txBody>
      </p:sp>
      <p:sp>
        <p:nvSpPr>
          <p:cNvPr id="10" name="文本框 8"/>
          <p:cNvSpPr txBox="1">
            <a:spLocks noChangeArrowheads="1"/>
          </p:cNvSpPr>
          <p:nvPr userDrawn="1"/>
        </p:nvSpPr>
        <p:spPr bwMode="auto">
          <a:xfrm>
            <a:off x="6322065" y="3880143"/>
            <a:ext cx="4507677"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dist">
              <a:lnSpc>
                <a:spcPct val="100000"/>
              </a:lnSpc>
              <a:spcBef>
                <a:spcPct val="0"/>
              </a:spcBef>
              <a:buNone/>
            </a:pPr>
            <a:r>
              <a:rPr lang="zh-CN" altLang="en-US" sz="1800" b="1" i="0" kern="1200" dirty="0">
                <a:solidFill>
                  <a:schemeClr val="bg1"/>
                </a:solidFill>
                <a:effectLst/>
                <a:latin typeface="+mj-ea"/>
                <a:ea typeface="+mj-ea"/>
                <a:cs typeface="+mn-cs"/>
              </a:rPr>
              <a:t>让每个用户的数字化更简单、更安全</a:t>
            </a:r>
            <a:r>
              <a:rPr lang="en-US" altLang="zh-CN" sz="1800" b="1" i="0" kern="1200" dirty="0">
                <a:solidFill>
                  <a:schemeClr val="bg1"/>
                </a:solidFill>
                <a:effectLst/>
                <a:latin typeface="+mj-ea"/>
                <a:ea typeface="+mj-ea"/>
                <a:cs typeface="+mn-cs"/>
              </a:rPr>
              <a:t>!</a:t>
            </a:r>
            <a:endParaRPr lang="en-US" altLang="zh-CN" sz="2000" b="1" spc="600" dirty="0">
              <a:solidFill>
                <a:schemeClr val="bg1"/>
              </a:solidFill>
              <a:latin typeface="+mj-ea"/>
              <a:ea typeface="+mj-ea"/>
            </a:endParaRPr>
          </a:p>
        </p:txBody>
      </p:sp>
      <p:pic>
        <p:nvPicPr>
          <p:cNvPr id="26" name="图片 2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08156" y="268011"/>
            <a:ext cx="2351905" cy="341209"/>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4"/>
            <a:ext cx="9144000" cy="2387600"/>
          </a:xfrm>
        </p:spPr>
        <p:txBody>
          <a:bodyPr anchor="b"/>
          <a:lstStyle>
            <a:lvl1pPr algn="ctr">
              <a:defRPr sz="635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540"/>
            </a:lvl1pPr>
            <a:lvl2pPr marL="483870" indent="0" algn="ctr">
              <a:buNone/>
              <a:defRPr sz="2120"/>
            </a:lvl2pPr>
            <a:lvl3pPr marL="967740" indent="0" algn="ctr">
              <a:buNone/>
              <a:defRPr sz="1905"/>
            </a:lvl3pPr>
            <a:lvl4pPr marL="1451610" indent="0" algn="ctr">
              <a:buNone/>
              <a:defRPr sz="1695"/>
            </a:lvl4pPr>
            <a:lvl5pPr marL="1935480" indent="0" algn="ctr">
              <a:buNone/>
              <a:defRPr sz="1695"/>
            </a:lvl5pPr>
            <a:lvl6pPr marL="2419350" indent="0" algn="ctr">
              <a:buNone/>
              <a:defRPr sz="1695"/>
            </a:lvl6pPr>
            <a:lvl7pPr marL="2903220" indent="0" algn="ctr">
              <a:buNone/>
              <a:defRPr sz="1695"/>
            </a:lvl7pPr>
            <a:lvl8pPr marL="3387090" indent="0" algn="ctr">
              <a:buNone/>
              <a:defRPr sz="1695"/>
            </a:lvl8pPr>
            <a:lvl9pPr marL="3870960" indent="0" algn="ctr">
              <a:buNone/>
              <a:defRPr sz="1695"/>
            </a:lvl9pPr>
          </a:lstStyle>
          <a:p>
            <a:r>
              <a:rPr lang="zh-CN" altLang="en-US"/>
              <a:t>单击以编辑母版副标题样式</a:t>
            </a:r>
            <a:endParaRPr lang="zh-CN" altLang="en-US"/>
          </a:p>
        </p:txBody>
      </p:sp>
      <p:sp>
        <p:nvSpPr>
          <p:cNvPr id="4" name="日期占位符 3"/>
          <p:cNvSpPr>
            <a:spLocks noGrp="1"/>
          </p:cNvSpPr>
          <p:nvPr>
            <p:ph type="dt" sz="half" idx="10"/>
          </p:nvPr>
        </p:nvSpPr>
        <p:spPr>
          <a:xfrm>
            <a:off x="838200" y="6356352"/>
            <a:ext cx="2743200" cy="365125"/>
          </a:xfrm>
        </p:spPr>
        <p:txBody>
          <a:bodyPr/>
          <a:lstStyle/>
          <a:p>
            <a:fld id="{6651D2DA-4D49-4791-B475-FB8E6506C035}" type="datetimeFigureOut">
              <a:rPr lang="zh-CN" altLang="en-US" smtClean="0"/>
            </a:fld>
            <a:endParaRPr lang="zh-CN" altLang="en-US"/>
          </a:p>
        </p:txBody>
      </p:sp>
      <p:sp>
        <p:nvSpPr>
          <p:cNvPr id="5" name="页脚占位符 4"/>
          <p:cNvSpPr>
            <a:spLocks noGrp="1"/>
          </p:cNvSpPr>
          <p:nvPr>
            <p:ph type="ftr" sz="quarter" idx="11"/>
          </p:nvPr>
        </p:nvSpPr>
        <p:spPr>
          <a:xfrm>
            <a:off x="4038601" y="6356352"/>
            <a:ext cx="4114801" cy="365125"/>
          </a:xfrm>
        </p:spPr>
        <p:txBody>
          <a:bodyPr/>
          <a:lstStyle/>
          <a:p>
            <a:endParaRPr lang="zh-CN" altLang="en-US"/>
          </a:p>
        </p:txBody>
      </p:sp>
      <p:sp>
        <p:nvSpPr>
          <p:cNvPr id="6" name="灯片编号占位符 5"/>
          <p:cNvSpPr>
            <a:spLocks noGrp="1"/>
          </p:cNvSpPr>
          <p:nvPr>
            <p:ph type="sldNum" sz="quarter" idx="12"/>
          </p:nvPr>
        </p:nvSpPr>
        <p:spPr>
          <a:xfrm>
            <a:off x="8610601" y="6356352"/>
            <a:ext cx="2743200" cy="365125"/>
          </a:xfrm>
        </p:spPr>
        <p:txBody>
          <a:bodyPr/>
          <a:lstStyle/>
          <a:p>
            <a:fld id="{1CFB67B4-4181-46E4-B4F3-B0465E53CD48}"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showMasterSp="0">
  <p:cSld name="纯白">
    <p:spTree>
      <p:nvGrpSpPr>
        <p:cNvPr id="1" name=""/>
        <p:cNvGrpSpPr/>
        <p:nvPr/>
      </p:nvGrpSpPr>
      <p:grpSpPr>
        <a:xfrm>
          <a:off x="0" y="0"/>
          <a:ext cx="0" cy="0"/>
          <a:chOff x="0" y="0"/>
          <a:chExt cx="0" cy="0"/>
        </a:xfrm>
      </p:grpSpPr>
      <p:sp>
        <p:nvSpPr>
          <p:cNvPr id="4" name="幻灯片编号"/>
          <p:cNvSpPr txBox="1"/>
          <p:nvPr userDrawn="1"/>
        </p:nvSpPr>
        <p:spPr>
          <a:xfrm>
            <a:off x="11916226" y="6538569"/>
            <a:ext cx="114300" cy="189230"/>
          </a:xfrm>
          <a:prstGeom prst="rect">
            <a:avLst/>
          </a:prstGeom>
          <a:ln w="12700">
            <a:miter lim="400000"/>
          </a:ln>
        </p:spPr>
        <p:txBody>
          <a:bodyPr wrap="none" lIns="25400" tIns="25400" rIns="25400" bIns="25400" anchor="b">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Helvetica Neue" panose="02000503000000020004"/>
              </a:defRPr>
            </a:lvl1pPr>
            <a:lvl2pPr marL="0" marR="0" indent="457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2pPr>
            <a:lvl3pPr marL="0" marR="0" indent="914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3pPr>
            <a:lvl4pPr marL="0" marR="0" indent="1371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4pPr>
            <a:lvl5pPr marL="0" marR="0" indent="18288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5pPr>
            <a:lvl6pPr marL="0" marR="0" indent="22860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6pPr>
            <a:lvl7pPr marL="0" marR="0" indent="2743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7pPr>
            <a:lvl8pPr marL="0" marR="0" indent="3200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8pPr>
            <a:lvl9pPr marL="0" marR="0" indent="3657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9pPr>
          </a:lstStyle>
          <a:p>
            <a:fld id="{86CB4B4D-7CA3-9044-876B-883B54F8677D}" type="slidenum">
              <a:rPr lang="en-US" altLang="zh-CN" sz="900" smtClean="0"/>
            </a:fld>
            <a:endParaRPr lang="en-US" altLang="zh-CN" sz="900" dirty="0"/>
          </a:p>
        </p:txBody>
      </p:sp>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76404" y="107143"/>
            <a:ext cx="1389099" cy="364572"/>
          </a:xfrm>
          <a:prstGeom prst="rect">
            <a:avLst/>
          </a:prstGeom>
        </p:spPr>
      </p:pic>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1555610" y="790571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5059610" y="790571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9821210" y="790571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38925" y="2439035"/>
            <a:ext cx="4622800" cy="1866900"/>
          </a:xfrm>
        </p:spPr>
        <p:txBody>
          <a:bodyPr wrap="square" anchor="ctr" anchorCtr="0">
            <a:normAutofit/>
          </a:bodyPr>
          <a:lstStyle>
            <a:lvl1pPr algn="l">
              <a:defRPr sz="5400"/>
            </a:lvl1pPr>
          </a:lstStyle>
          <a:p>
            <a:r>
              <a:rPr dirty="0"/>
              <a:t>单击此处编辑母版标题样式</a:t>
            </a:r>
            <a:endParaRPr dirty="0"/>
          </a:p>
        </p:txBody>
      </p:sp>
      <p:sp>
        <p:nvSpPr>
          <p:cNvPr id="8" name="节编号 3"/>
          <p:cNvSpPr>
            <a:spLocks noGrp="1"/>
          </p:cNvSpPr>
          <p:nvPr>
            <p:ph type="body" sz="quarter" idx="13" hasCustomPrompt="1"/>
            <p:custDataLst>
              <p:tags r:id="rId3"/>
            </p:custDataLst>
          </p:nvPr>
        </p:nvSpPr>
        <p:spPr>
          <a:xfrm>
            <a:off x="1726565" y="2343785"/>
            <a:ext cx="3096895" cy="2061210"/>
          </a:xfrm>
        </p:spPr>
        <p:txBody>
          <a:bodyPr wrap="none" anchor="ctr" anchorCtr="0">
            <a:normAutofit/>
          </a:bodyPr>
          <a:lstStyle>
            <a:lvl1pPr marL="0" indent="0" algn="ctr">
              <a:buNone/>
              <a:defRPr sz="11500" b="1">
                <a:gradFill>
                  <a:gsLst>
                    <a:gs pos="0">
                      <a:schemeClr val="accent1">
                        <a:lumMod val="60000"/>
                        <a:lumOff val="40000"/>
                      </a:schemeClr>
                    </a:gs>
                    <a:gs pos="100000">
                      <a:schemeClr val="accent1"/>
                    </a:gs>
                  </a:gsLst>
                  <a:lin ang="3600000" scaled="0"/>
                </a:gradFill>
              </a:defRPr>
            </a:lvl1pPr>
          </a:lstStyle>
          <a:p>
            <a:pPr lvl="0"/>
            <a:r>
              <a:rPr lang="zh-CN" altLang="en-US" dirty="0"/>
              <a:t>编号</a:t>
            </a:r>
            <a:endParaRPr lang="zh-CN" altLang="en-US" dirty="0"/>
          </a:p>
        </p:txBody>
      </p:sp>
      <p:sp>
        <p:nvSpPr>
          <p:cNvPr id="4" name="日期占位符 4"/>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5"/>
          <p:cNvSpPr>
            <a:spLocks noGrp="1"/>
          </p:cNvSpPr>
          <p:nvPr>
            <p:ph type="ftr" sz="quarter" idx="11"/>
            <p:custDataLst>
              <p:tags r:id="rId5"/>
            </p:custDataLst>
          </p:nvPr>
        </p:nvSpPr>
        <p:spPr/>
        <p:txBody>
          <a:bodyPr/>
          <a:lstStyle/>
          <a:p>
            <a:endParaRPr lang="zh-CN" altLang="en-US"/>
          </a:p>
        </p:txBody>
      </p:sp>
      <p:sp>
        <p:nvSpPr>
          <p:cNvPr id="6" name="灯片编号占位符 6"/>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
        <p:nvSpPr>
          <p:cNvPr id="9" name="弧形 8"/>
          <p:cNvSpPr>
            <a:spLocks noChangeAspect="1"/>
          </p:cNvSpPr>
          <p:nvPr userDrawn="1">
            <p:custDataLst>
              <p:tags r:id="rId7"/>
            </p:custDataLst>
          </p:nvPr>
        </p:nvSpPr>
        <p:spPr>
          <a:xfrm rot="16200000">
            <a:off x="971196" y="1125001"/>
            <a:ext cx="4608000" cy="4608000"/>
          </a:xfrm>
          <a:prstGeom prst="arc">
            <a:avLst>
              <a:gd name="adj1" fmla="val 6911636"/>
              <a:gd name="adj2" fmla="val 13883405"/>
            </a:avLst>
          </a:prstGeom>
          <a:noFill/>
          <a:ln>
            <a:gradFill flip="none" rotWithShape="1">
              <a:gsLst>
                <a:gs pos="0">
                  <a:schemeClr val="accent1">
                    <a:lumMod val="70000"/>
                    <a:lumOff val="30000"/>
                    <a:alpha val="60000"/>
                  </a:schemeClr>
                </a:gs>
                <a:gs pos="100000">
                  <a:schemeClr val="accent1">
                    <a:lumMod val="70000"/>
                    <a:lumOff val="30000"/>
                    <a:alpha val="20000"/>
                  </a:schemeClr>
                </a:gs>
              </a:gsLst>
              <a:lin ang="120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0" name="椭圆 9"/>
          <p:cNvSpPr>
            <a:spLocks noChangeAspect="1"/>
          </p:cNvSpPr>
          <p:nvPr userDrawn="1">
            <p:custDataLst>
              <p:tags r:id="rId8"/>
            </p:custDataLst>
          </p:nvPr>
        </p:nvSpPr>
        <p:spPr>
          <a:xfrm rot="16200000">
            <a:off x="3995627" y="5533172"/>
            <a:ext cx="144000" cy="144000"/>
          </a:xfrm>
          <a:prstGeom prst="ellipse">
            <a:avLst/>
          </a:prstGeom>
          <a:ln w="19050">
            <a:solidFill>
              <a:schemeClr val="accent1">
                <a:lumMod val="40000"/>
                <a:lumOff val="60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1" name="椭圆 10"/>
          <p:cNvSpPr>
            <a:spLocks noChangeAspect="1"/>
          </p:cNvSpPr>
          <p:nvPr userDrawn="1">
            <p:custDataLst>
              <p:tags r:id="rId9"/>
            </p:custDataLst>
          </p:nvPr>
        </p:nvSpPr>
        <p:spPr>
          <a:xfrm rot="16200000">
            <a:off x="1295196" y="1449001"/>
            <a:ext cx="3960000" cy="3960000"/>
          </a:xfrm>
          <a:prstGeom prst="ellipse">
            <a:avLst/>
          </a:prstGeom>
          <a:noFill/>
          <a:ln w="19050">
            <a:solidFill>
              <a:schemeClr val="accent1">
                <a:lumMod val="40000"/>
                <a:lumOff val="60000"/>
                <a:alpha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弧形 11"/>
          <p:cNvSpPr>
            <a:spLocks noChangeAspect="1"/>
          </p:cNvSpPr>
          <p:nvPr userDrawn="1">
            <p:custDataLst>
              <p:tags r:id="rId10"/>
            </p:custDataLst>
          </p:nvPr>
        </p:nvSpPr>
        <p:spPr>
          <a:xfrm rot="16200000">
            <a:off x="683196" y="837001"/>
            <a:ext cx="5184000" cy="5184000"/>
          </a:xfrm>
          <a:prstGeom prst="arc">
            <a:avLst>
              <a:gd name="adj1" fmla="val 11844446"/>
              <a:gd name="adj2" fmla="val 2553147"/>
            </a:avLst>
          </a:prstGeom>
          <a:noFill/>
          <a:ln>
            <a:gradFill flip="none" rotWithShape="1">
              <a:gsLst>
                <a:gs pos="0">
                  <a:schemeClr val="accent1">
                    <a:lumMod val="70000"/>
                    <a:lumOff val="30000"/>
                    <a:alpha val="70000"/>
                  </a:schemeClr>
                </a:gs>
                <a:gs pos="100000">
                  <a:schemeClr val="accent1">
                    <a:lumMod val="70000"/>
                    <a:lumOff val="30000"/>
                    <a:alpha val="20000"/>
                  </a:schemeClr>
                </a:gs>
              </a:gsLst>
              <a:lin ang="120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3" name="椭圆 12"/>
          <p:cNvSpPr>
            <a:spLocks noChangeAspect="1"/>
          </p:cNvSpPr>
          <p:nvPr userDrawn="1">
            <p:custDataLst>
              <p:tags r:id="rId11"/>
            </p:custDataLst>
          </p:nvPr>
        </p:nvSpPr>
        <p:spPr>
          <a:xfrm rot="16200000">
            <a:off x="1355848" y="1544326"/>
            <a:ext cx="144000" cy="144000"/>
          </a:xfrm>
          <a:prstGeom prst="ellipse">
            <a:avLst/>
          </a:prstGeom>
          <a:ln w="19050">
            <a:solidFill>
              <a:schemeClr val="accent1">
                <a:lumMod val="40000"/>
                <a:lumOff val="60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showMasterSp="0">
  <p:cSld name="纯白">
    <p:spTree>
      <p:nvGrpSpPr>
        <p:cNvPr id="1" name=""/>
        <p:cNvGrpSpPr/>
        <p:nvPr/>
      </p:nvGrpSpPr>
      <p:grpSpPr>
        <a:xfrm>
          <a:off x="0" y="0"/>
          <a:ext cx="0" cy="0"/>
          <a:chOff x="0" y="0"/>
          <a:chExt cx="0" cy="0"/>
        </a:xfrm>
      </p:grpSpPr>
      <p:sp>
        <p:nvSpPr>
          <p:cNvPr id="4" name="幻灯片编号"/>
          <p:cNvSpPr txBox="1"/>
          <p:nvPr userDrawn="1"/>
        </p:nvSpPr>
        <p:spPr>
          <a:xfrm>
            <a:off x="11916226" y="6538569"/>
            <a:ext cx="114300" cy="189230"/>
          </a:xfrm>
          <a:prstGeom prst="rect">
            <a:avLst/>
          </a:prstGeom>
          <a:ln w="12700">
            <a:miter lim="400000"/>
          </a:ln>
        </p:spPr>
        <p:txBody>
          <a:bodyPr wrap="none" lIns="25400" tIns="25400" rIns="25400" bIns="25400" anchor="b">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Helvetica Neue" panose="02000503000000020004"/>
              </a:defRPr>
            </a:lvl1pPr>
            <a:lvl2pPr marL="0" marR="0" indent="457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2pPr>
            <a:lvl3pPr marL="0" marR="0" indent="914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3pPr>
            <a:lvl4pPr marL="0" marR="0" indent="1371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4pPr>
            <a:lvl5pPr marL="0" marR="0" indent="18288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5pPr>
            <a:lvl6pPr marL="0" marR="0" indent="22860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6pPr>
            <a:lvl7pPr marL="0" marR="0" indent="2743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7pPr>
            <a:lvl8pPr marL="0" marR="0" indent="3200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8pPr>
            <a:lvl9pPr marL="0" marR="0" indent="3657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9pPr>
          </a:lstStyle>
          <a:p>
            <a:fld id="{86CB4B4D-7CA3-9044-876B-883B54F8677D}" type="slidenum">
              <a:rPr lang="en-US" altLang="zh-CN" sz="900" smtClean="0"/>
            </a:fld>
            <a:endParaRPr lang="en-US" altLang="zh-CN" sz="900" dirty="0"/>
          </a:p>
        </p:txBody>
      </p:sp>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76404" y="107143"/>
            <a:ext cx="1389099" cy="364572"/>
          </a:xfrm>
          <a:prstGeom prst="rect">
            <a:avLst/>
          </a:prstGeom>
        </p:spPr>
      </p:pic>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1555610" y="790571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5059610" y="790571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9821210" y="790571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tags" Target="../tags/tag22.xml"/><Relationship Id="rId8" Type="http://schemas.openxmlformats.org/officeDocument/2006/relationships/tags" Target="../tags/tag21.xml"/><Relationship Id="rId7" Type="http://schemas.openxmlformats.org/officeDocument/2006/relationships/tags" Target="../tags/tag20.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slideLayout" Target="../slideLayouts/slideLayout10.xml"/><Relationship Id="rId2" Type="http://schemas.openxmlformats.org/officeDocument/2006/relationships/slideLayout" Target="../slideLayouts/slideLayout9.xml"/><Relationship Id="rId10" Type="http://schemas.openxmlformats.org/officeDocument/2006/relationships/theme" Target="../theme/theme2.xml"/><Relationship Id="rId1"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4"/>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5"/>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2"/>
            <p:custDataLst>
              <p:tags r:id="rId6"/>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7"/>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8"/>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sp>
        <p:nvSpPr>
          <p:cNvPr id="7" name="KSO_TEMPLATE" hidden="1"/>
          <p:cNvSpPr/>
          <p:nvPr userDrawn="1">
            <p:custDataLst>
              <p:tags r:id="rId9"/>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Lst>
  <p:txStyles>
    <p:titleStyle>
      <a:lvl1pPr algn="l" defTabSz="914400" rtl="0" eaLnBrk="1" latinLnBrk="0" hangingPunct="1">
        <a:lnSpc>
          <a:spcPct val="10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notesSlide" Target="../notesSlides/notesSlide1.xml"/><Relationship Id="rId7"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tags" Target="../tags/tag26.xml"/><Relationship Id="rId4" Type="http://schemas.openxmlformats.org/officeDocument/2006/relationships/tags" Target="../tags/tag25.xml"/><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9" Type="http://schemas.openxmlformats.org/officeDocument/2006/relationships/tags" Target="../tags/tag34.xml"/><Relationship Id="rId8" Type="http://schemas.openxmlformats.org/officeDocument/2006/relationships/tags" Target="../tags/tag33.xml"/><Relationship Id="rId7" Type="http://schemas.openxmlformats.org/officeDocument/2006/relationships/tags" Target="../tags/tag32.x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3" Type="http://schemas.openxmlformats.org/officeDocument/2006/relationships/tags" Target="../tags/tag28.xml"/><Relationship Id="rId21" Type="http://schemas.openxmlformats.org/officeDocument/2006/relationships/notesSlide" Target="../notesSlides/notesSlide2.xml"/><Relationship Id="rId20" Type="http://schemas.openxmlformats.org/officeDocument/2006/relationships/slideLayout" Target="../slideLayouts/slideLayout6.xml"/><Relationship Id="rId2" Type="http://schemas.openxmlformats.org/officeDocument/2006/relationships/tags" Target="../tags/tag27.xml"/><Relationship Id="rId19" Type="http://schemas.openxmlformats.org/officeDocument/2006/relationships/tags" Target="../tags/tag42.xml"/><Relationship Id="rId18" Type="http://schemas.openxmlformats.org/officeDocument/2006/relationships/image" Target="../media/image7.png"/><Relationship Id="rId17" Type="http://schemas.openxmlformats.org/officeDocument/2006/relationships/tags" Target="../tags/tag41.xml"/><Relationship Id="rId16" Type="http://schemas.openxmlformats.org/officeDocument/2006/relationships/tags" Target="../tags/tag40.xml"/><Relationship Id="rId15" Type="http://schemas.openxmlformats.org/officeDocument/2006/relationships/tags" Target="../tags/tag39.xml"/><Relationship Id="rId14" Type="http://schemas.openxmlformats.org/officeDocument/2006/relationships/image" Target="../media/image6.png"/><Relationship Id="rId13" Type="http://schemas.openxmlformats.org/officeDocument/2006/relationships/tags" Target="../tags/tag38.xml"/><Relationship Id="rId12" Type="http://schemas.openxmlformats.org/officeDocument/2006/relationships/tags" Target="../tags/tag37.xml"/><Relationship Id="rId11" Type="http://schemas.openxmlformats.org/officeDocument/2006/relationships/tags" Target="../tags/tag36.xml"/><Relationship Id="rId10" Type="http://schemas.openxmlformats.org/officeDocument/2006/relationships/tags" Target="../tags/tag35.xml"/><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6.xml"/><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image" Target="../media/image6.png"/><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9" Type="http://schemas.openxmlformats.org/officeDocument/2006/relationships/tags" Target="../tags/tag53.xml"/><Relationship Id="rId8" Type="http://schemas.openxmlformats.org/officeDocument/2006/relationships/tags" Target="../tags/tag52.xml"/><Relationship Id="rId7" Type="http://schemas.openxmlformats.org/officeDocument/2006/relationships/tags" Target="../tags/tag51.xml"/><Relationship Id="rId6" Type="http://schemas.openxmlformats.org/officeDocument/2006/relationships/tags" Target="../tags/tag50.xml"/><Relationship Id="rId51" Type="http://schemas.openxmlformats.org/officeDocument/2006/relationships/notesSlide" Target="../notesSlides/notesSlide4.xml"/><Relationship Id="rId50" Type="http://schemas.openxmlformats.org/officeDocument/2006/relationships/slideLayout" Target="../slideLayouts/slideLayout1.xml"/><Relationship Id="rId5" Type="http://schemas.openxmlformats.org/officeDocument/2006/relationships/tags" Target="../tags/tag49.xml"/><Relationship Id="rId49" Type="http://schemas.openxmlformats.org/officeDocument/2006/relationships/tags" Target="../tags/tag87.xml"/><Relationship Id="rId48" Type="http://schemas.openxmlformats.org/officeDocument/2006/relationships/tags" Target="../tags/tag86.xml"/><Relationship Id="rId47" Type="http://schemas.openxmlformats.org/officeDocument/2006/relationships/tags" Target="../tags/tag85.xml"/><Relationship Id="rId46" Type="http://schemas.openxmlformats.org/officeDocument/2006/relationships/tags" Target="../tags/tag84.xml"/><Relationship Id="rId45" Type="http://schemas.openxmlformats.org/officeDocument/2006/relationships/tags" Target="../tags/tag83.xml"/><Relationship Id="rId44" Type="http://schemas.openxmlformats.org/officeDocument/2006/relationships/image" Target="../media/image13.svg"/><Relationship Id="rId43" Type="http://schemas.openxmlformats.org/officeDocument/2006/relationships/image" Target="../media/image12.png"/><Relationship Id="rId42" Type="http://schemas.openxmlformats.org/officeDocument/2006/relationships/tags" Target="../tags/tag82.xml"/><Relationship Id="rId41" Type="http://schemas.openxmlformats.org/officeDocument/2006/relationships/tags" Target="../tags/tag81.xml"/><Relationship Id="rId40" Type="http://schemas.openxmlformats.org/officeDocument/2006/relationships/tags" Target="../tags/tag80.xml"/><Relationship Id="rId4" Type="http://schemas.openxmlformats.org/officeDocument/2006/relationships/image" Target="../media/image6.png"/><Relationship Id="rId39" Type="http://schemas.openxmlformats.org/officeDocument/2006/relationships/tags" Target="../tags/tag79.xml"/><Relationship Id="rId38" Type="http://schemas.openxmlformats.org/officeDocument/2006/relationships/tags" Target="../tags/tag78.xml"/><Relationship Id="rId37" Type="http://schemas.openxmlformats.org/officeDocument/2006/relationships/tags" Target="../tags/tag77.xml"/><Relationship Id="rId36" Type="http://schemas.openxmlformats.org/officeDocument/2006/relationships/tags" Target="../tags/tag76.xml"/><Relationship Id="rId35" Type="http://schemas.openxmlformats.org/officeDocument/2006/relationships/tags" Target="../tags/tag75.xml"/><Relationship Id="rId34" Type="http://schemas.openxmlformats.org/officeDocument/2006/relationships/tags" Target="../tags/tag74.xml"/><Relationship Id="rId33" Type="http://schemas.openxmlformats.org/officeDocument/2006/relationships/tags" Target="../tags/tag73.xml"/><Relationship Id="rId32" Type="http://schemas.openxmlformats.org/officeDocument/2006/relationships/tags" Target="../tags/tag72.xml"/><Relationship Id="rId31" Type="http://schemas.openxmlformats.org/officeDocument/2006/relationships/tags" Target="../tags/tag71.xml"/><Relationship Id="rId30" Type="http://schemas.openxmlformats.org/officeDocument/2006/relationships/tags" Target="../tags/tag70.xml"/><Relationship Id="rId3" Type="http://schemas.openxmlformats.org/officeDocument/2006/relationships/tags" Target="../tags/tag48.xml"/><Relationship Id="rId29" Type="http://schemas.openxmlformats.org/officeDocument/2006/relationships/tags" Target="../tags/tag69.xml"/><Relationship Id="rId28" Type="http://schemas.openxmlformats.org/officeDocument/2006/relationships/tags" Target="../tags/tag68.xml"/><Relationship Id="rId27" Type="http://schemas.openxmlformats.org/officeDocument/2006/relationships/image" Target="../media/image11.svg"/><Relationship Id="rId26" Type="http://schemas.openxmlformats.org/officeDocument/2006/relationships/image" Target="../media/image10.png"/><Relationship Id="rId25" Type="http://schemas.openxmlformats.org/officeDocument/2006/relationships/tags" Target="../tags/tag67.xml"/><Relationship Id="rId24" Type="http://schemas.openxmlformats.org/officeDocument/2006/relationships/tags" Target="../tags/tag66.xml"/><Relationship Id="rId23" Type="http://schemas.openxmlformats.org/officeDocument/2006/relationships/tags" Target="../tags/tag65.xml"/><Relationship Id="rId22" Type="http://schemas.openxmlformats.org/officeDocument/2006/relationships/tags" Target="../tags/tag64.xml"/><Relationship Id="rId21" Type="http://schemas.openxmlformats.org/officeDocument/2006/relationships/tags" Target="../tags/tag63.xml"/><Relationship Id="rId20" Type="http://schemas.openxmlformats.org/officeDocument/2006/relationships/tags" Target="../tags/tag62.xml"/><Relationship Id="rId2" Type="http://schemas.openxmlformats.org/officeDocument/2006/relationships/tags" Target="../tags/tag47.xml"/><Relationship Id="rId19" Type="http://schemas.openxmlformats.org/officeDocument/2006/relationships/tags" Target="../tags/tag61.xml"/><Relationship Id="rId18" Type="http://schemas.openxmlformats.org/officeDocument/2006/relationships/image" Target="../media/image9.svg"/><Relationship Id="rId17" Type="http://schemas.openxmlformats.org/officeDocument/2006/relationships/image" Target="../media/image8.png"/><Relationship Id="rId16" Type="http://schemas.openxmlformats.org/officeDocument/2006/relationships/tags" Target="../tags/tag60.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tags" Target="../tags/tag56.xml"/><Relationship Id="rId11" Type="http://schemas.openxmlformats.org/officeDocument/2006/relationships/tags" Target="../tags/tag55.xml"/><Relationship Id="rId10" Type="http://schemas.openxmlformats.org/officeDocument/2006/relationships/tags" Target="../tags/tag54.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9" Type="http://schemas.openxmlformats.org/officeDocument/2006/relationships/tags" Target="../tags/tag95.xml"/><Relationship Id="rId8" Type="http://schemas.openxmlformats.org/officeDocument/2006/relationships/tags" Target="../tags/tag94.xml"/><Relationship Id="rId7" Type="http://schemas.openxmlformats.org/officeDocument/2006/relationships/tags" Target="../tags/tag93.xml"/><Relationship Id="rId6" Type="http://schemas.openxmlformats.org/officeDocument/2006/relationships/tags" Target="../tags/tag92.xml"/><Relationship Id="rId5" Type="http://schemas.openxmlformats.org/officeDocument/2006/relationships/tags" Target="../tags/tag91.xml"/><Relationship Id="rId4" Type="http://schemas.openxmlformats.org/officeDocument/2006/relationships/tags" Target="../tags/tag90.xml"/><Relationship Id="rId35" Type="http://schemas.openxmlformats.org/officeDocument/2006/relationships/notesSlide" Target="../notesSlides/notesSlide5.xml"/><Relationship Id="rId34" Type="http://schemas.openxmlformats.org/officeDocument/2006/relationships/slideLayout" Target="../slideLayouts/slideLayout1.xml"/><Relationship Id="rId33" Type="http://schemas.openxmlformats.org/officeDocument/2006/relationships/image" Target="../media/image23.png"/><Relationship Id="rId32" Type="http://schemas.openxmlformats.org/officeDocument/2006/relationships/image" Target="../media/image22.png"/><Relationship Id="rId31" Type="http://schemas.openxmlformats.org/officeDocument/2006/relationships/tags" Target="../tags/tag109.xml"/><Relationship Id="rId30" Type="http://schemas.openxmlformats.org/officeDocument/2006/relationships/tags" Target="../tags/tag108.xml"/><Relationship Id="rId3" Type="http://schemas.openxmlformats.org/officeDocument/2006/relationships/tags" Target="../tags/tag89.xml"/><Relationship Id="rId29" Type="http://schemas.openxmlformats.org/officeDocument/2006/relationships/tags" Target="../tags/tag107.xml"/><Relationship Id="rId28" Type="http://schemas.openxmlformats.org/officeDocument/2006/relationships/tags" Target="../tags/tag106.xml"/><Relationship Id="rId27" Type="http://schemas.openxmlformats.org/officeDocument/2006/relationships/tags" Target="../tags/tag105.xml"/><Relationship Id="rId26" Type="http://schemas.openxmlformats.org/officeDocument/2006/relationships/image" Target="../media/image21.png"/><Relationship Id="rId25" Type="http://schemas.openxmlformats.org/officeDocument/2006/relationships/image" Target="../media/image20.png"/><Relationship Id="rId24" Type="http://schemas.openxmlformats.org/officeDocument/2006/relationships/image" Target="../media/image19.png"/><Relationship Id="rId23" Type="http://schemas.openxmlformats.org/officeDocument/2006/relationships/image" Target="../media/image18.png"/><Relationship Id="rId22" Type="http://schemas.openxmlformats.org/officeDocument/2006/relationships/image" Target="../media/image17.png"/><Relationship Id="rId21" Type="http://schemas.openxmlformats.org/officeDocument/2006/relationships/image" Target="../media/image16.png"/><Relationship Id="rId20" Type="http://schemas.openxmlformats.org/officeDocument/2006/relationships/image" Target="../media/image15.png"/><Relationship Id="rId2" Type="http://schemas.openxmlformats.org/officeDocument/2006/relationships/tags" Target="../tags/tag88.xml"/><Relationship Id="rId19" Type="http://schemas.openxmlformats.org/officeDocument/2006/relationships/image" Target="../media/image6.png"/><Relationship Id="rId18" Type="http://schemas.openxmlformats.org/officeDocument/2006/relationships/tags" Target="../tags/tag104.xml"/><Relationship Id="rId17" Type="http://schemas.openxmlformats.org/officeDocument/2006/relationships/tags" Target="../tags/tag103.xml"/><Relationship Id="rId16" Type="http://schemas.openxmlformats.org/officeDocument/2006/relationships/tags" Target="../tags/tag102.xml"/><Relationship Id="rId15" Type="http://schemas.openxmlformats.org/officeDocument/2006/relationships/tags" Target="../tags/tag101.xml"/><Relationship Id="rId14" Type="http://schemas.openxmlformats.org/officeDocument/2006/relationships/tags" Target="../tags/tag100.xml"/><Relationship Id="rId13" Type="http://schemas.openxmlformats.org/officeDocument/2006/relationships/tags" Target="../tags/tag99.xml"/><Relationship Id="rId12" Type="http://schemas.openxmlformats.org/officeDocument/2006/relationships/tags" Target="../tags/tag98.xml"/><Relationship Id="rId11" Type="http://schemas.openxmlformats.org/officeDocument/2006/relationships/tags" Target="../tags/tag97.xml"/><Relationship Id="rId10" Type="http://schemas.openxmlformats.org/officeDocument/2006/relationships/tags" Target="../tags/tag96.xml"/><Relationship Id="rId1"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6.xml"/><Relationship Id="rId6" Type="http://schemas.openxmlformats.org/officeDocument/2006/relationships/tags" Target="../tags/tag113.xml"/><Relationship Id="rId5" Type="http://schemas.openxmlformats.org/officeDocument/2006/relationships/tags" Target="../tags/tag112.xml"/><Relationship Id="rId4" Type="http://schemas.openxmlformats.org/officeDocument/2006/relationships/image" Target="../media/image6.png"/><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9" Type="http://schemas.openxmlformats.org/officeDocument/2006/relationships/tags" Target="../tags/tag122.xml"/><Relationship Id="rId8" Type="http://schemas.openxmlformats.org/officeDocument/2006/relationships/tags" Target="../tags/tag121.xml"/><Relationship Id="rId7" Type="http://schemas.openxmlformats.org/officeDocument/2006/relationships/tags" Target="../tags/tag120.xml"/><Relationship Id="rId6" Type="http://schemas.openxmlformats.org/officeDocument/2006/relationships/tags" Target="../tags/tag119.xml"/><Relationship Id="rId5" Type="http://schemas.openxmlformats.org/officeDocument/2006/relationships/tags" Target="../tags/tag118.xml"/><Relationship Id="rId41" Type="http://schemas.openxmlformats.org/officeDocument/2006/relationships/notesSlide" Target="../notesSlides/notesSlide7.xml"/><Relationship Id="rId40" Type="http://schemas.openxmlformats.org/officeDocument/2006/relationships/slideLayout" Target="../slideLayouts/slideLayout6.xml"/><Relationship Id="rId4" Type="http://schemas.openxmlformats.org/officeDocument/2006/relationships/tags" Target="../tags/tag117.xml"/><Relationship Id="rId39" Type="http://schemas.openxmlformats.org/officeDocument/2006/relationships/tags" Target="../tags/tag151.xml"/><Relationship Id="rId38" Type="http://schemas.openxmlformats.org/officeDocument/2006/relationships/tags" Target="../tags/tag150.xml"/><Relationship Id="rId37" Type="http://schemas.openxmlformats.org/officeDocument/2006/relationships/tags" Target="../tags/tag149.xml"/><Relationship Id="rId36" Type="http://schemas.openxmlformats.org/officeDocument/2006/relationships/tags" Target="../tags/tag148.xml"/><Relationship Id="rId35" Type="http://schemas.openxmlformats.org/officeDocument/2006/relationships/tags" Target="../tags/tag147.xml"/><Relationship Id="rId34" Type="http://schemas.openxmlformats.org/officeDocument/2006/relationships/tags" Target="../tags/tag146.xml"/><Relationship Id="rId33" Type="http://schemas.openxmlformats.org/officeDocument/2006/relationships/tags" Target="../tags/tag145.xml"/><Relationship Id="rId32" Type="http://schemas.openxmlformats.org/officeDocument/2006/relationships/image" Target="../media/image6.png"/><Relationship Id="rId31" Type="http://schemas.openxmlformats.org/officeDocument/2006/relationships/tags" Target="../tags/tag144.xml"/><Relationship Id="rId30" Type="http://schemas.openxmlformats.org/officeDocument/2006/relationships/tags" Target="../tags/tag143.xml"/><Relationship Id="rId3" Type="http://schemas.openxmlformats.org/officeDocument/2006/relationships/tags" Target="../tags/tag116.xml"/><Relationship Id="rId29" Type="http://schemas.openxmlformats.org/officeDocument/2006/relationships/tags" Target="../tags/tag142.xml"/><Relationship Id="rId28" Type="http://schemas.openxmlformats.org/officeDocument/2006/relationships/tags" Target="../tags/tag141.xml"/><Relationship Id="rId27" Type="http://schemas.openxmlformats.org/officeDocument/2006/relationships/tags" Target="../tags/tag140.xml"/><Relationship Id="rId26" Type="http://schemas.openxmlformats.org/officeDocument/2006/relationships/tags" Target="../tags/tag139.xml"/><Relationship Id="rId25" Type="http://schemas.openxmlformats.org/officeDocument/2006/relationships/tags" Target="../tags/tag138.xml"/><Relationship Id="rId24" Type="http://schemas.openxmlformats.org/officeDocument/2006/relationships/tags" Target="../tags/tag137.xml"/><Relationship Id="rId23" Type="http://schemas.openxmlformats.org/officeDocument/2006/relationships/tags" Target="../tags/tag136.xml"/><Relationship Id="rId22" Type="http://schemas.openxmlformats.org/officeDocument/2006/relationships/tags" Target="../tags/tag135.xml"/><Relationship Id="rId21" Type="http://schemas.openxmlformats.org/officeDocument/2006/relationships/tags" Target="../tags/tag134.xml"/><Relationship Id="rId20" Type="http://schemas.openxmlformats.org/officeDocument/2006/relationships/tags" Target="../tags/tag133.xml"/><Relationship Id="rId2" Type="http://schemas.openxmlformats.org/officeDocument/2006/relationships/tags" Target="../tags/tag115.xml"/><Relationship Id="rId19" Type="http://schemas.openxmlformats.org/officeDocument/2006/relationships/tags" Target="../tags/tag132.xml"/><Relationship Id="rId18" Type="http://schemas.openxmlformats.org/officeDocument/2006/relationships/tags" Target="../tags/tag131.xml"/><Relationship Id="rId17" Type="http://schemas.openxmlformats.org/officeDocument/2006/relationships/tags" Target="../tags/tag130.xml"/><Relationship Id="rId16" Type="http://schemas.openxmlformats.org/officeDocument/2006/relationships/tags" Target="../tags/tag129.xml"/><Relationship Id="rId15" Type="http://schemas.openxmlformats.org/officeDocument/2006/relationships/tags" Target="../tags/tag128.xml"/><Relationship Id="rId14" Type="http://schemas.openxmlformats.org/officeDocument/2006/relationships/tags" Target="../tags/tag127.xml"/><Relationship Id="rId13" Type="http://schemas.openxmlformats.org/officeDocument/2006/relationships/tags" Target="../tags/tag126.xml"/><Relationship Id="rId12" Type="http://schemas.openxmlformats.org/officeDocument/2006/relationships/tags" Target="../tags/tag125.xml"/><Relationship Id="rId11" Type="http://schemas.openxmlformats.org/officeDocument/2006/relationships/tags" Target="../tags/tag124.xml"/><Relationship Id="rId10" Type="http://schemas.openxmlformats.org/officeDocument/2006/relationships/tags" Target="../tags/tag123.xml"/><Relationship Id="rId1" Type="http://schemas.openxmlformats.org/officeDocument/2006/relationships/tags" Target="../tags/tag114.xml"/></Relationships>
</file>

<file path=ppt/slides/_rels/slide8.xml.rels><?xml version="1.0" encoding="UTF-8" standalone="yes"?>
<Relationships xmlns="http://schemas.openxmlformats.org/package/2006/relationships"><Relationship Id="rId9" Type="http://schemas.openxmlformats.org/officeDocument/2006/relationships/tags" Target="../tags/tag158.xml"/><Relationship Id="rId8" Type="http://schemas.openxmlformats.org/officeDocument/2006/relationships/tags" Target="../tags/tag157.xml"/><Relationship Id="rId7" Type="http://schemas.openxmlformats.org/officeDocument/2006/relationships/tags" Target="../tags/tag156.xml"/><Relationship Id="rId6" Type="http://schemas.openxmlformats.org/officeDocument/2006/relationships/tags" Target="../tags/tag155.xml"/><Relationship Id="rId5" Type="http://schemas.openxmlformats.org/officeDocument/2006/relationships/image" Target="../media/image14.png"/><Relationship Id="rId4" Type="http://schemas.openxmlformats.org/officeDocument/2006/relationships/image" Target="../media/image6.png"/><Relationship Id="rId32" Type="http://schemas.openxmlformats.org/officeDocument/2006/relationships/notesSlide" Target="../notesSlides/notesSlide8.xml"/><Relationship Id="rId31" Type="http://schemas.openxmlformats.org/officeDocument/2006/relationships/slideLayout" Target="../slideLayouts/slideLayout6.xml"/><Relationship Id="rId30" Type="http://schemas.openxmlformats.org/officeDocument/2006/relationships/image" Target="../media/image19.png"/><Relationship Id="rId3" Type="http://schemas.openxmlformats.org/officeDocument/2006/relationships/tags" Target="../tags/tag154.xml"/><Relationship Id="rId29" Type="http://schemas.openxmlformats.org/officeDocument/2006/relationships/image" Target="../media/image23.png"/><Relationship Id="rId28" Type="http://schemas.openxmlformats.org/officeDocument/2006/relationships/tags" Target="../tags/tag171.xml"/><Relationship Id="rId27" Type="http://schemas.openxmlformats.org/officeDocument/2006/relationships/tags" Target="../tags/tag170.xml"/><Relationship Id="rId26" Type="http://schemas.openxmlformats.org/officeDocument/2006/relationships/tags" Target="../tags/tag169.xml"/><Relationship Id="rId25" Type="http://schemas.openxmlformats.org/officeDocument/2006/relationships/tags" Target="../tags/tag168.xml"/><Relationship Id="rId24" Type="http://schemas.openxmlformats.org/officeDocument/2006/relationships/tags" Target="../tags/tag167.xml"/><Relationship Id="rId23" Type="http://schemas.openxmlformats.org/officeDocument/2006/relationships/tags" Target="../tags/tag166.xml"/><Relationship Id="rId22" Type="http://schemas.openxmlformats.org/officeDocument/2006/relationships/tags" Target="../tags/tag165.xml"/><Relationship Id="rId21" Type="http://schemas.openxmlformats.org/officeDocument/2006/relationships/image" Target="../media/image21.png"/><Relationship Id="rId20" Type="http://schemas.openxmlformats.org/officeDocument/2006/relationships/image" Target="../media/image20.png"/><Relationship Id="rId2" Type="http://schemas.openxmlformats.org/officeDocument/2006/relationships/tags" Target="../tags/tag153.xml"/><Relationship Id="rId19" Type="http://schemas.openxmlformats.org/officeDocument/2006/relationships/image" Target="../media/image18.png"/><Relationship Id="rId18" Type="http://schemas.openxmlformats.org/officeDocument/2006/relationships/image" Target="../media/image17.png"/><Relationship Id="rId17" Type="http://schemas.openxmlformats.org/officeDocument/2006/relationships/image" Target="../media/image16.png"/><Relationship Id="rId16" Type="http://schemas.openxmlformats.org/officeDocument/2006/relationships/image" Target="../media/image15.png"/><Relationship Id="rId15" Type="http://schemas.openxmlformats.org/officeDocument/2006/relationships/tags" Target="../tags/tag164.xml"/><Relationship Id="rId14" Type="http://schemas.openxmlformats.org/officeDocument/2006/relationships/tags" Target="../tags/tag163.xml"/><Relationship Id="rId13" Type="http://schemas.openxmlformats.org/officeDocument/2006/relationships/tags" Target="../tags/tag162.xml"/><Relationship Id="rId12" Type="http://schemas.openxmlformats.org/officeDocument/2006/relationships/tags" Target="../tags/tag161.xml"/><Relationship Id="rId11" Type="http://schemas.openxmlformats.org/officeDocument/2006/relationships/tags" Target="../tags/tag160.xml"/><Relationship Id="rId10" Type="http://schemas.openxmlformats.org/officeDocument/2006/relationships/tags" Target="../tags/tag159.xml"/><Relationship Id="rId1" Type="http://schemas.openxmlformats.org/officeDocument/2006/relationships/tags" Target="../tags/tag152.xml"/></Relationships>
</file>

<file path=ppt/slides/_rels/slide9.xml.rels><?xml version="1.0" encoding="UTF-8" standalone="yes"?>
<Relationships xmlns="http://schemas.openxmlformats.org/package/2006/relationships"><Relationship Id="rId9" Type="http://schemas.openxmlformats.org/officeDocument/2006/relationships/tags" Target="../tags/tag178.xml"/><Relationship Id="rId8" Type="http://schemas.openxmlformats.org/officeDocument/2006/relationships/tags" Target="../tags/tag177.xml"/><Relationship Id="rId7" Type="http://schemas.openxmlformats.org/officeDocument/2006/relationships/tags" Target="../tags/tag176.xml"/><Relationship Id="rId6" Type="http://schemas.openxmlformats.org/officeDocument/2006/relationships/tags" Target="../tags/tag175.xml"/><Relationship Id="rId5" Type="http://schemas.openxmlformats.org/officeDocument/2006/relationships/image" Target="../media/image24.png"/><Relationship Id="rId46" Type="http://schemas.openxmlformats.org/officeDocument/2006/relationships/notesSlide" Target="../notesSlides/notesSlide9.xml"/><Relationship Id="rId45" Type="http://schemas.openxmlformats.org/officeDocument/2006/relationships/slideLayout" Target="../slideLayouts/slideLayout1.xml"/><Relationship Id="rId44" Type="http://schemas.openxmlformats.org/officeDocument/2006/relationships/tags" Target="../tags/tag213.xml"/><Relationship Id="rId43" Type="http://schemas.openxmlformats.org/officeDocument/2006/relationships/tags" Target="../tags/tag212.xml"/><Relationship Id="rId42" Type="http://schemas.openxmlformats.org/officeDocument/2006/relationships/tags" Target="../tags/tag211.xml"/><Relationship Id="rId41" Type="http://schemas.openxmlformats.org/officeDocument/2006/relationships/tags" Target="../tags/tag210.xml"/><Relationship Id="rId40" Type="http://schemas.openxmlformats.org/officeDocument/2006/relationships/tags" Target="../tags/tag209.xml"/><Relationship Id="rId4" Type="http://schemas.openxmlformats.org/officeDocument/2006/relationships/tags" Target="../tags/tag174.xml"/><Relationship Id="rId39" Type="http://schemas.openxmlformats.org/officeDocument/2006/relationships/tags" Target="../tags/tag208.xml"/><Relationship Id="rId38" Type="http://schemas.openxmlformats.org/officeDocument/2006/relationships/tags" Target="../tags/tag207.xml"/><Relationship Id="rId37" Type="http://schemas.openxmlformats.org/officeDocument/2006/relationships/tags" Target="../tags/tag206.xml"/><Relationship Id="rId36" Type="http://schemas.openxmlformats.org/officeDocument/2006/relationships/tags" Target="../tags/tag205.xml"/><Relationship Id="rId35" Type="http://schemas.openxmlformats.org/officeDocument/2006/relationships/tags" Target="../tags/tag204.xml"/><Relationship Id="rId34" Type="http://schemas.openxmlformats.org/officeDocument/2006/relationships/tags" Target="../tags/tag203.xml"/><Relationship Id="rId33" Type="http://schemas.openxmlformats.org/officeDocument/2006/relationships/tags" Target="../tags/tag202.xml"/><Relationship Id="rId32" Type="http://schemas.openxmlformats.org/officeDocument/2006/relationships/tags" Target="../tags/tag201.xml"/><Relationship Id="rId31" Type="http://schemas.openxmlformats.org/officeDocument/2006/relationships/tags" Target="../tags/tag200.xml"/><Relationship Id="rId30" Type="http://schemas.openxmlformats.org/officeDocument/2006/relationships/tags" Target="../tags/tag199.xml"/><Relationship Id="rId3" Type="http://schemas.openxmlformats.org/officeDocument/2006/relationships/image" Target="../media/image6.png"/><Relationship Id="rId29" Type="http://schemas.openxmlformats.org/officeDocument/2006/relationships/tags" Target="../tags/tag198.xml"/><Relationship Id="rId28" Type="http://schemas.openxmlformats.org/officeDocument/2006/relationships/tags" Target="../tags/tag197.xml"/><Relationship Id="rId27" Type="http://schemas.openxmlformats.org/officeDocument/2006/relationships/tags" Target="../tags/tag196.xml"/><Relationship Id="rId26" Type="http://schemas.openxmlformats.org/officeDocument/2006/relationships/tags" Target="../tags/tag195.xml"/><Relationship Id="rId25" Type="http://schemas.openxmlformats.org/officeDocument/2006/relationships/tags" Target="../tags/tag194.xml"/><Relationship Id="rId24" Type="http://schemas.openxmlformats.org/officeDocument/2006/relationships/tags" Target="../tags/tag193.xml"/><Relationship Id="rId23" Type="http://schemas.openxmlformats.org/officeDocument/2006/relationships/tags" Target="../tags/tag192.xml"/><Relationship Id="rId22" Type="http://schemas.openxmlformats.org/officeDocument/2006/relationships/tags" Target="../tags/tag191.xml"/><Relationship Id="rId21" Type="http://schemas.openxmlformats.org/officeDocument/2006/relationships/tags" Target="../tags/tag190.xml"/><Relationship Id="rId20" Type="http://schemas.openxmlformats.org/officeDocument/2006/relationships/tags" Target="../tags/tag189.xml"/><Relationship Id="rId2" Type="http://schemas.openxmlformats.org/officeDocument/2006/relationships/tags" Target="../tags/tag173.xml"/><Relationship Id="rId19" Type="http://schemas.openxmlformats.org/officeDocument/2006/relationships/tags" Target="../tags/tag188.xml"/><Relationship Id="rId18" Type="http://schemas.openxmlformats.org/officeDocument/2006/relationships/tags" Target="../tags/tag187.xml"/><Relationship Id="rId17" Type="http://schemas.openxmlformats.org/officeDocument/2006/relationships/tags" Target="../tags/tag186.xml"/><Relationship Id="rId16" Type="http://schemas.openxmlformats.org/officeDocument/2006/relationships/tags" Target="../tags/tag185.xml"/><Relationship Id="rId15" Type="http://schemas.openxmlformats.org/officeDocument/2006/relationships/tags" Target="../tags/tag184.xml"/><Relationship Id="rId14" Type="http://schemas.openxmlformats.org/officeDocument/2006/relationships/tags" Target="../tags/tag183.xml"/><Relationship Id="rId13" Type="http://schemas.openxmlformats.org/officeDocument/2006/relationships/tags" Target="../tags/tag182.xml"/><Relationship Id="rId12" Type="http://schemas.openxmlformats.org/officeDocument/2006/relationships/tags" Target="../tags/tag181.xml"/><Relationship Id="rId11" Type="http://schemas.openxmlformats.org/officeDocument/2006/relationships/tags" Target="../tags/tag180.xml"/><Relationship Id="rId10" Type="http://schemas.openxmlformats.org/officeDocument/2006/relationships/tags" Target="../tags/tag179.xml"/><Relationship Id="rId1" Type="http://schemas.openxmlformats.org/officeDocument/2006/relationships/tags" Target="../tags/tag172.xml"/></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8.xml"/><Relationship Id="rId5" Type="http://schemas.openxmlformats.org/officeDocument/2006/relationships/tags" Target="../tags/tag217.xml"/><Relationship Id="rId4" Type="http://schemas.openxmlformats.org/officeDocument/2006/relationships/image" Target="../media/image6.png"/><Relationship Id="rId3" Type="http://schemas.openxmlformats.org/officeDocument/2006/relationships/tags" Target="../tags/tag216.xml"/><Relationship Id="rId2" Type="http://schemas.openxmlformats.org/officeDocument/2006/relationships/tags" Target="../tags/tag215.xml"/><Relationship Id="rId1" Type="http://schemas.openxmlformats.org/officeDocument/2006/relationships/tags" Target="../tags/tag214.xml"/></Relationships>
</file>

<file path=ppt/slides/_rels/slide11.xml.rels><?xml version="1.0" encoding="UTF-8" standalone="yes"?>
<Relationships xmlns="http://schemas.openxmlformats.org/package/2006/relationships"><Relationship Id="rId9" Type="http://schemas.openxmlformats.org/officeDocument/2006/relationships/tags" Target="../tags/tag222.xml"/><Relationship Id="rId8" Type="http://schemas.openxmlformats.org/officeDocument/2006/relationships/tags" Target="../tags/tag221.xml"/><Relationship Id="rId7" Type="http://schemas.openxmlformats.org/officeDocument/2006/relationships/tags" Target="../tags/tag220.xml"/><Relationship Id="rId6" Type="http://schemas.openxmlformats.org/officeDocument/2006/relationships/image" Target="../media/image6.png"/><Relationship Id="rId5" Type="http://schemas.openxmlformats.org/officeDocument/2006/relationships/tags" Target="../tags/tag219.xml"/><Relationship Id="rId4" Type="http://schemas.openxmlformats.org/officeDocument/2006/relationships/tags" Target="../tags/tag218.xml"/><Relationship Id="rId3" Type="http://schemas.openxmlformats.org/officeDocument/2006/relationships/chart" Target="../charts/chart3.xml"/><Relationship Id="rId28" Type="http://schemas.openxmlformats.org/officeDocument/2006/relationships/slideLayout" Target="../slideLayouts/slideLayout1.xml"/><Relationship Id="rId27" Type="http://schemas.openxmlformats.org/officeDocument/2006/relationships/tags" Target="../tags/tag232.xml"/><Relationship Id="rId26" Type="http://schemas.openxmlformats.org/officeDocument/2006/relationships/image" Target="../media/image32.svg"/><Relationship Id="rId25" Type="http://schemas.openxmlformats.org/officeDocument/2006/relationships/image" Target="../media/image31.png"/><Relationship Id="rId24" Type="http://schemas.openxmlformats.org/officeDocument/2006/relationships/image" Target="../media/image30.svg"/><Relationship Id="rId23" Type="http://schemas.openxmlformats.org/officeDocument/2006/relationships/image" Target="../media/image29.png"/><Relationship Id="rId22" Type="http://schemas.openxmlformats.org/officeDocument/2006/relationships/image" Target="../media/image28.svg"/><Relationship Id="rId21" Type="http://schemas.openxmlformats.org/officeDocument/2006/relationships/image" Target="../media/image27.png"/><Relationship Id="rId20" Type="http://schemas.openxmlformats.org/officeDocument/2006/relationships/image" Target="../media/image26.svg"/><Relationship Id="rId2" Type="http://schemas.openxmlformats.org/officeDocument/2006/relationships/chart" Target="../charts/chart2.xml"/><Relationship Id="rId19" Type="http://schemas.openxmlformats.org/officeDocument/2006/relationships/image" Target="../media/image25.png"/><Relationship Id="rId18" Type="http://schemas.openxmlformats.org/officeDocument/2006/relationships/tags" Target="../tags/tag231.xml"/><Relationship Id="rId17" Type="http://schemas.openxmlformats.org/officeDocument/2006/relationships/tags" Target="../tags/tag230.xml"/><Relationship Id="rId16" Type="http://schemas.openxmlformats.org/officeDocument/2006/relationships/tags" Target="../tags/tag229.xml"/><Relationship Id="rId15" Type="http://schemas.openxmlformats.org/officeDocument/2006/relationships/tags" Target="../tags/tag228.xml"/><Relationship Id="rId14" Type="http://schemas.openxmlformats.org/officeDocument/2006/relationships/tags" Target="../tags/tag227.xml"/><Relationship Id="rId13" Type="http://schemas.openxmlformats.org/officeDocument/2006/relationships/tags" Target="../tags/tag226.xml"/><Relationship Id="rId12" Type="http://schemas.openxmlformats.org/officeDocument/2006/relationships/tags" Target="../tags/tag225.xml"/><Relationship Id="rId11" Type="http://schemas.openxmlformats.org/officeDocument/2006/relationships/tags" Target="../tags/tag224.xml"/><Relationship Id="rId10" Type="http://schemas.openxmlformats.org/officeDocument/2006/relationships/tags" Target="../tags/tag223.xml"/><Relationship Id="rId1" Type="http://schemas.openxmlformats.org/officeDocument/2006/relationships/chart" Target="../charts/chart1.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234.xml"/><Relationship Id="rId2" Type="http://schemas.openxmlformats.org/officeDocument/2006/relationships/image" Target="../media/image6.png"/><Relationship Id="rId1" Type="http://schemas.openxmlformats.org/officeDocument/2006/relationships/tags" Target="../tags/tag233.xml"/></Relationships>
</file>

<file path=ppt/slides/_rels/slide13.xml.rels><?xml version="1.0" encoding="UTF-8" standalone="yes"?>
<Relationships xmlns="http://schemas.openxmlformats.org/package/2006/relationships"><Relationship Id="rId9" Type="http://schemas.openxmlformats.org/officeDocument/2006/relationships/image" Target="../media/image38.svg"/><Relationship Id="rId8" Type="http://schemas.openxmlformats.org/officeDocument/2006/relationships/image" Target="../media/image37.png"/><Relationship Id="rId7" Type="http://schemas.openxmlformats.org/officeDocument/2006/relationships/image" Target="../media/image36.svg"/><Relationship Id="rId6" Type="http://schemas.openxmlformats.org/officeDocument/2006/relationships/image" Target="../media/image35.png"/><Relationship Id="rId5" Type="http://schemas.openxmlformats.org/officeDocument/2006/relationships/tags" Target="../tags/tag236.xml"/><Relationship Id="rId4" Type="http://schemas.openxmlformats.org/officeDocument/2006/relationships/image" Target="../media/image34.svg"/><Relationship Id="rId3" Type="http://schemas.openxmlformats.org/officeDocument/2006/relationships/image" Target="../media/image33.png"/><Relationship Id="rId25" Type="http://schemas.openxmlformats.org/officeDocument/2006/relationships/slideLayout" Target="../slideLayouts/slideLayout1.xml"/><Relationship Id="rId24" Type="http://schemas.openxmlformats.org/officeDocument/2006/relationships/image" Target="../media/image6.png"/><Relationship Id="rId23" Type="http://schemas.openxmlformats.org/officeDocument/2006/relationships/image" Target="../media/image48.svg"/><Relationship Id="rId22" Type="http://schemas.openxmlformats.org/officeDocument/2006/relationships/image" Target="../media/image47.png"/><Relationship Id="rId21" Type="http://schemas.openxmlformats.org/officeDocument/2006/relationships/tags" Target="../tags/tag240.xml"/><Relationship Id="rId20" Type="http://schemas.openxmlformats.org/officeDocument/2006/relationships/image" Target="../media/image46.svg"/><Relationship Id="rId2" Type="http://schemas.openxmlformats.org/officeDocument/2006/relationships/tags" Target="../tags/tag235.xml"/><Relationship Id="rId19" Type="http://schemas.openxmlformats.org/officeDocument/2006/relationships/image" Target="../media/image45.png"/><Relationship Id="rId18" Type="http://schemas.openxmlformats.org/officeDocument/2006/relationships/tags" Target="../tags/tag239.xml"/><Relationship Id="rId17" Type="http://schemas.openxmlformats.org/officeDocument/2006/relationships/image" Target="../media/image44.svg"/><Relationship Id="rId16" Type="http://schemas.openxmlformats.org/officeDocument/2006/relationships/image" Target="../media/image43.png"/><Relationship Id="rId15" Type="http://schemas.openxmlformats.org/officeDocument/2006/relationships/tags" Target="../tags/tag238.xml"/><Relationship Id="rId14" Type="http://schemas.openxmlformats.org/officeDocument/2006/relationships/image" Target="../media/image42.svg"/><Relationship Id="rId13" Type="http://schemas.openxmlformats.org/officeDocument/2006/relationships/image" Target="../media/image41.png"/><Relationship Id="rId12" Type="http://schemas.openxmlformats.org/officeDocument/2006/relationships/image" Target="../media/image40.svg"/><Relationship Id="rId11" Type="http://schemas.openxmlformats.org/officeDocument/2006/relationships/image" Target="../media/image39.png"/><Relationship Id="rId10" Type="http://schemas.openxmlformats.org/officeDocument/2006/relationships/tags" Target="../tags/tag237.xml"/><Relationship Id="rId1" Type="http://schemas.openxmlformats.org/officeDocument/2006/relationships/chart" Target="../charts/chart4.xml"/></Relationships>
</file>

<file path=ppt/slides/_rels/slide14.xml.rels><?xml version="1.0" encoding="UTF-8" standalone="yes"?>
<Relationships xmlns="http://schemas.openxmlformats.org/package/2006/relationships"><Relationship Id="rId9" Type="http://schemas.openxmlformats.org/officeDocument/2006/relationships/tags" Target="../tags/tag248.xml"/><Relationship Id="rId8" Type="http://schemas.openxmlformats.org/officeDocument/2006/relationships/tags" Target="../tags/tag247.xml"/><Relationship Id="rId7" Type="http://schemas.openxmlformats.org/officeDocument/2006/relationships/tags" Target="../tags/tag246.xml"/><Relationship Id="rId6" Type="http://schemas.openxmlformats.org/officeDocument/2006/relationships/tags" Target="../tags/tag245.xml"/><Relationship Id="rId51" Type="http://schemas.openxmlformats.org/officeDocument/2006/relationships/slideLayout" Target="../slideLayouts/slideLayout1.xml"/><Relationship Id="rId50" Type="http://schemas.openxmlformats.org/officeDocument/2006/relationships/image" Target="../media/image6.png"/><Relationship Id="rId5" Type="http://schemas.openxmlformats.org/officeDocument/2006/relationships/tags" Target="../tags/tag244.xml"/><Relationship Id="rId49" Type="http://schemas.openxmlformats.org/officeDocument/2006/relationships/image" Target="../media/image59.svg"/><Relationship Id="rId48" Type="http://schemas.openxmlformats.org/officeDocument/2006/relationships/image" Target="../media/image58.png"/><Relationship Id="rId47" Type="http://schemas.openxmlformats.org/officeDocument/2006/relationships/image" Target="../media/image57.svg"/><Relationship Id="rId46" Type="http://schemas.openxmlformats.org/officeDocument/2006/relationships/image" Target="../media/image56.png"/><Relationship Id="rId45" Type="http://schemas.openxmlformats.org/officeDocument/2006/relationships/image" Target="../media/image55.svg"/><Relationship Id="rId44" Type="http://schemas.openxmlformats.org/officeDocument/2006/relationships/image" Target="../media/image54.png"/><Relationship Id="rId43" Type="http://schemas.openxmlformats.org/officeDocument/2006/relationships/image" Target="../media/image53.svg"/><Relationship Id="rId42" Type="http://schemas.openxmlformats.org/officeDocument/2006/relationships/image" Target="../media/image52.png"/><Relationship Id="rId41" Type="http://schemas.openxmlformats.org/officeDocument/2006/relationships/image" Target="../media/image51.svg"/><Relationship Id="rId40" Type="http://schemas.openxmlformats.org/officeDocument/2006/relationships/image" Target="../media/image50.png"/><Relationship Id="rId4" Type="http://schemas.openxmlformats.org/officeDocument/2006/relationships/tags" Target="../tags/tag243.xml"/><Relationship Id="rId39" Type="http://schemas.openxmlformats.org/officeDocument/2006/relationships/tags" Target="../tags/tag276.xml"/><Relationship Id="rId38" Type="http://schemas.openxmlformats.org/officeDocument/2006/relationships/tags" Target="../tags/tag275.xml"/><Relationship Id="rId37" Type="http://schemas.openxmlformats.org/officeDocument/2006/relationships/tags" Target="../tags/tag274.xml"/><Relationship Id="rId36" Type="http://schemas.openxmlformats.org/officeDocument/2006/relationships/tags" Target="../tags/tag273.xml"/><Relationship Id="rId35" Type="http://schemas.openxmlformats.org/officeDocument/2006/relationships/tags" Target="../tags/tag272.xml"/><Relationship Id="rId34" Type="http://schemas.openxmlformats.org/officeDocument/2006/relationships/tags" Target="../tags/tag271.xml"/><Relationship Id="rId33" Type="http://schemas.openxmlformats.org/officeDocument/2006/relationships/tags" Target="../tags/tag270.xml"/><Relationship Id="rId32" Type="http://schemas.openxmlformats.org/officeDocument/2006/relationships/tags" Target="../tags/tag269.xml"/><Relationship Id="rId31" Type="http://schemas.openxmlformats.org/officeDocument/2006/relationships/tags" Target="../tags/tag268.xml"/><Relationship Id="rId30" Type="http://schemas.openxmlformats.org/officeDocument/2006/relationships/tags" Target="../tags/tag267.xml"/><Relationship Id="rId3" Type="http://schemas.openxmlformats.org/officeDocument/2006/relationships/tags" Target="../tags/tag242.xml"/><Relationship Id="rId29" Type="http://schemas.openxmlformats.org/officeDocument/2006/relationships/tags" Target="../tags/tag266.xml"/><Relationship Id="rId28" Type="http://schemas.openxmlformats.org/officeDocument/2006/relationships/tags" Target="../tags/tag265.xml"/><Relationship Id="rId27" Type="http://schemas.openxmlformats.org/officeDocument/2006/relationships/tags" Target="../tags/tag264.xml"/><Relationship Id="rId26" Type="http://schemas.openxmlformats.org/officeDocument/2006/relationships/tags" Target="../tags/tag263.xml"/><Relationship Id="rId25" Type="http://schemas.openxmlformats.org/officeDocument/2006/relationships/tags" Target="../tags/tag262.xml"/><Relationship Id="rId24" Type="http://schemas.openxmlformats.org/officeDocument/2006/relationships/tags" Target="../tags/tag261.xml"/><Relationship Id="rId23" Type="http://schemas.openxmlformats.org/officeDocument/2006/relationships/tags" Target="../tags/tag260.xml"/><Relationship Id="rId22" Type="http://schemas.openxmlformats.org/officeDocument/2006/relationships/tags" Target="../tags/tag259.xml"/><Relationship Id="rId21" Type="http://schemas.openxmlformats.org/officeDocument/2006/relationships/tags" Target="../tags/tag258.xml"/><Relationship Id="rId20" Type="http://schemas.openxmlformats.org/officeDocument/2006/relationships/tags" Target="../tags/tag257.xml"/><Relationship Id="rId2" Type="http://schemas.openxmlformats.org/officeDocument/2006/relationships/tags" Target="../tags/tag241.xml"/><Relationship Id="rId19" Type="http://schemas.openxmlformats.org/officeDocument/2006/relationships/tags" Target="../tags/tag256.xml"/><Relationship Id="rId18" Type="http://schemas.openxmlformats.org/officeDocument/2006/relationships/tags" Target="../tags/tag255.xml"/><Relationship Id="rId17" Type="http://schemas.openxmlformats.org/officeDocument/2006/relationships/tags" Target="../tags/tag254.xml"/><Relationship Id="rId16" Type="http://schemas.openxmlformats.org/officeDocument/2006/relationships/tags" Target="../tags/tag253.xml"/><Relationship Id="rId15" Type="http://schemas.openxmlformats.org/officeDocument/2006/relationships/image" Target="../media/image42.svg"/><Relationship Id="rId14" Type="http://schemas.openxmlformats.org/officeDocument/2006/relationships/image" Target="../media/image49.png"/><Relationship Id="rId13" Type="http://schemas.openxmlformats.org/officeDocument/2006/relationships/tags" Target="../tags/tag252.xml"/><Relationship Id="rId12" Type="http://schemas.openxmlformats.org/officeDocument/2006/relationships/tags" Target="../tags/tag251.xml"/><Relationship Id="rId11" Type="http://schemas.openxmlformats.org/officeDocument/2006/relationships/tags" Target="../tags/tag250.xml"/><Relationship Id="rId10" Type="http://schemas.openxmlformats.org/officeDocument/2006/relationships/tags" Target="../tags/tag249.xml"/><Relationship Id="rId1" Type="http://schemas.openxmlformats.org/officeDocument/2006/relationships/chart" Target="../charts/chart5.xml"/></Relationships>
</file>

<file path=ppt/slides/_rels/slide15.xml.rels><?xml version="1.0" encoding="UTF-8" standalone="yes"?>
<Relationships xmlns="http://schemas.openxmlformats.org/package/2006/relationships"><Relationship Id="rId9" Type="http://schemas.openxmlformats.org/officeDocument/2006/relationships/image" Target="../media/image60.png"/><Relationship Id="rId8" Type="http://schemas.openxmlformats.org/officeDocument/2006/relationships/tags" Target="../tags/tag280.xml"/><Relationship Id="rId7" Type="http://schemas.openxmlformats.org/officeDocument/2006/relationships/tags" Target="../tags/tag279.xml"/><Relationship Id="rId6" Type="http://schemas.openxmlformats.org/officeDocument/2006/relationships/tags" Target="../tags/tag278.xml"/><Relationship Id="rId5" Type="http://schemas.openxmlformats.org/officeDocument/2006/relationships/tags" Target="../tags/tag277.xml"/><Relationship Id="rId4" Type="http://schemas.openxmlformats.org/officeDocument/2006/relationships/chart" Target="../charts/chart9.xml"/><Relationship Id="rId3" Type="http://schemas.openxmlformats.org/officeDocument/2006/relationships/chart" Target="../charts/chart8.xml"/><Relationship Id="rId2" Type="http://schemas.openxmlformats.org/officeDocument/2006/relationships/chart" Target="../charts/chart7.xml"/><Relationship Id="rId11" Type="http://schemas.openxmlformats.org/officeDocument/2006/relationships/slideLayout" Target="../slideLayouts/slideLayout1.xml"/><Relationship Id="rId10" Type="http://schemas.openxmlformats.org/officeDocument/2006/relationships/image" Target="../media/image6.png"/><Relationship Id="rId1" Type="http://schemas.openxmlformats.org/officeDocument/2006/relationships/chart" Target="../charts/chart6.xml"/></Relationships>
</file>

<file path=ppt/slides/_rels/slide16.xml.rels><?xml version="1.0" encoding="UTF-8" standalone="yes"?>
<Relationships xmlns="http://schemas.openxmlformats.org/package/2006/relationships"><Relationship Id="rId9" Type="http://schemas.openxmlformats.org/officeDocument/2006/relationships/image" Target="../media/image64.png"/><Relationship Id="rId8" Type="http://schemas.openxmlformats.org/officeDocument/2006/relationships/image" Target="../media/image63.svg"/><Relationship Id="rId7" Type="http://schemas.openxmlformats.org/officeDocument/2006/relationships/image" Target="../media/image62.png"/><Relationship Id="rId6" Type="http://schemas.openxmlformats.org/officeDocument/2006/relationships/tags" Target="../tags/tag283.xml"/><Relationship Id="rId5" Type="http://schemas.openxmlformats.org/officeDocument/2006/relationships/image" Target="../media/image61.svg"/><Relationship Id="rId4" Type="http://schemas.openxmlformats.org/officeDocument/2006/relationships/image" Target="../media/image45.png"/><Relationship Id="rId3" Type="http://schemas.openxmlformats.org/officeDocument/2006/relationships/tags" Target="../tags/tag282.xml"/><Relationship Id="rId24" Type="http://schemas.openxmlformats.org/officeDocument/2006/relationships/slideLayout" Target="../slideLayouts/slideLayout1.xml"/><Relationship Id="rId23" Type="http://schemas.openxmlformats.org/officeDocument/2006/relationships/image" Target="../media/image6.png"/><Relationship Id="rId22" Type="http://schemas.openxmlformats.org/officeDocument/2006/relationships/image" Target="../media/image40.svg"/><Relationship Id="rId21" Type="http://schemas.openxmlformats.org/officeDocument/2006/relationships/image" Target="../media/image69.png"/><Relationship Id="rId20" Type="http://schemas.openxmlformats.org/officeDocument/2006/relationships/tags" Target="../tags/tag286.xml"/><Relationship Id="rId2" Type="http://schemas.openxmlformats.org/officeDocument/2006/relationships/tags" Target="../tags/tag281.xml"/><Relationship Id="rId19" Type="http://schemas.openxmlformats.org/officeDocument/2006/relationships/image" Target="../media/image38.svg"/><Relationship Id="rId18" Type="http://schemas.openxmlformats.org/officeDocument/2006/relationships/image" Target="../media/image68.png"/><Relationship Id="rId17" Type="http://schemas.openxmlformats.org/officeDocument/2006/relationships/image" Target="../media/image36.svg"/><Relationship Id="rId16" Type="http://schemas.openxmlformats.org/officeDocument/2006/relationships/image" Target="../media/image67.png"/><Relationship Id="rId15" Type="http://schemas.openxmlformats.org/officeDocument/2006/relationships/tags" Target="../tags/tag285.xml"/><Relationship Id="rId14" Type="http://schemas.openxmlformats.org/officeDocument/2006/relationships/image" Target="../media/image34.svg"/><Relationship Id="rId13" Type="http://schemas.openxmlformats.org/officeDocument/2006/relationships/image" Target="../media/image66.png"/><Relationship Id="rId12" Type="http://schemas.openxmlformats.org/officeDocument/2006/relationships/tags" Target="../tags/tag284.xml"/><Relationship Id="rId11" Type="http://schemas.openxmlformats.org/officeDocument/2006/relationships/image" Target="../media/image60.png"/><Relationship Id="rId10" Type="http://schemas.openxmlformats.org/officeDocument/2006/relationships/image" Target="../media/image65.svg"/><Relationship Id="rId1" Type="http://schemas.openxmlformats.org/officeDocument/2006/relationships/chart" Target="../charts/chart10.xml"/></Relationships>
</file>

<file path=ppt/slides/_rels/slide17.xml.rels><?xml version="1.0" encoding="UTF-8" standalone="yes"?>
<Relationships xmlns="http://schemas.openxmlformats.org/package/2006/relationships"><Relationship Id="rId9" Type="http://schemas.openxmlformats.org/officeDocument/2006/relationships/image" Target="../media/image72.png"/><Relationship Id="rId8" Type="http://schemas.openxmlformats.org/officeDocument/2006/relationships/image" Target="../media/image71.png"/><Relationship Id="rId7" Type="http://schemas.openxmlformats.org/officeDocument/2006/relationships/image" Target="../media/image70.png"/><Relationship Id="rId6" Type="http://schemas.openxmlformats.org/officeDocument/2006/relationships/tags" Target="../tags/tag292.xml"/><Relationship Id="rId5" Type="http://schemas.openxmlformats.org/officeDocument/2006/relationships/tags" Target="../tags/tag291.xml"/><Relationship Id="rId4" Type="http://schemas.openxmlformats.org/officeDocument/2006/relationships/tags" Target="../tags/tag290.xml"/><Relationship Id="rId3" Type="http://schemas.openxmlformats.org/officeDocument/2006/relationships/tags" Target="../tags/tag289.xml"/><Relationship Id="rId29" Type="http://schemas.openxmlformats.org/officeDocument/2006/relationships/slideLayout" Target="../slideLayouts/slideLayout1.xml"/><Relationship Id="rId28" Type="http://schemas.openxmlformats.org/officeDocument/2006/relationships/image" Target="../media/image6.png"/><Relationship Id="rId27" Type="http://schemas.openxmlformats.org/officeDocument/2006/relationships/image" Target="../media/image85.svg"/><Relationship Id="rId26" Type="http://schemas.openxmlformats.org/officeDocument/2006/relationships/image" Target="../media/image84.png"/><Relationship Id="rId25" Type="http://schemas.openxmlformats.org/officeDocument/2006/relationships/image" Target="../media/image83.svg"/><Relationship Id="rId24" Type="http://schemas.openxmlformats.org/officeDocument/2006/relationships/image" Target="../media/image82.png"/><Relationship Id="rId23" Type="http://schemas.openxmlformats.org/officeDocument/2006/relationships/image" Target="../media/image81.svg"/><Relationship Id="rId22" Type="http://schemas.openxmlformats.org/officeDocument/2006/relationships/image" Target="../media/image80.png"/><Relationship Id="rId21" Type="http://schemas.openxmlformats.org/officeDocument/2006/relationships/image" Target="../media/image42.svg"/><Relationship Id="rId20" Type="http://schemas.openxmlformats.org/officeDocument/2006/relationships/image" Target="../media/image41.png"/><Relationship Id="rId2" Type="http://schemas.openxmlformats.org/officeDocument/2006/relationships/tags" Target="../tags/tag288.xml"/><Relationship Id="rId19" Type="http://schemas.openxmlformats.org/officeDocument/2006/relationships/image" Target="../media/image60.png"/><Relationship Id="rId18" Type="http://schemas.openxmlformats.org/officeDocument/2006/relationships/image" Target="../media/image79.png"/><Relationship Id="rId17" Type="http://schemas.openxmlformats.org/officeDocument/2006/relationships/image" Target="../media/image78.png"/><Relationship Id="rId16" Type="http://schemas.openxmlformats.org/officeDocument/2006/relationships/image" Target="../media/image77.svg"/><Relationship Id="rId15" Type="http://schemas.openxmlformats.org/officeDocument/2006/relationships/image" Target="../media/image76.png"/><Relationship Id="rId14" Type="http://schemas.openxmlformats.org/officeDocument/2006/relationships/image" Target="../media/image75.svg"/><Relationship Id="rId13" Type="http://schemas.openxmlformats.org/officeDocument/2006/relationships/image" Target="../media/image74.png"/><Relationship Id="rId12" Type="http://schemas.openxmlformats.org/officeDocument/2006/relationships/image" Target="../media/image73.png"/><Relationship Id="rId11" Type="http://schemas.openxmlformats.org/officeDocument/2006/relationships/tags" Target="../tags/tag294.xml"/><Relationship Id="rId10" Type="http://schemas.openxmlformats.org/officeDocument/2006/relationships/tags" Target="../tags/tag293.xml"/><Relationship Id="rId1" Type="http://schemas.openxmlformats.org/officeDocument/2006/relationships/tags" Target="../tags/tag287.xml"/></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8.xml"/><Relationship Id="rId5" Type="http://schemas.openxmlformats.org/officeDocument/2006/relationships/tags" Target="../tags/tag298.xml"/><Relationship Id="rId4" Type="http://schemas.openxmlformats.org/officeDocument/2006/relationships/image" Target="../media/image6.png"/><Relationship Id="rId3" Type="http://schemas.openxmlformats.org/officeDocument/2006/relationships/tags" Target="../tags/tag297.xml"/><Relationship Id="rId2" Type="http://schemas.openxmlformats.org/officeDocument/2006/relationships/tags" Target="../tags/tag296.xml"/><Relationship Id="rId1" Type="http://schemas.openxmlformats.org/officeDocument/2006/relationships/tags" Target="../tags/tag295.xml"/></Relationships>
</file>

<file path=ppt/slides/_rels/slide19.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86.png"/><Relationship Id="rId4" Type="http://schemas.openxmlformats.org/officeDocument/2006/relationships/tags" Target="../tags/tag302.xml"/><Relationship Id="rId3" Type="http://schemas.openxmlformats.org/officeDocument/2006/relationships/tags" Target="../tags/tag301.xml"/><Relationship Id="rId2" Type="http://schemas.openxmlformats.org/officeDocument/2006/relationships/tags" Target="../tags/tag300.xml"/><Relationship Id="rId1" Type="http://schemas.openxmlformats.org/officeDocument/2006/relationships/tags" Target="../tags/tag299.xml"/></Relationships>
</file>

<file path=ppt/slides/_rels/slide20.xml.rels><?xml version="1.0" encoding="UTF-8" standalone="yes"?>
<Relationships xmlns="http://schemas.openxmlformats.org/package/2006/relationships"><Relationship Id="rId6" Type="http://schemas.openxmlformats.org/officeDocument/2006/relationships/slideLayout" Target="../slideLayouts/slideLayout8.xml"/><Relationship Id="rId5" Type="http://schemas.openxmlformats.org/officeDocument/2006/relationships/tags" Target="../tags/tag306.xml"/><Relationship Id="rId4" Type="http://schemas.openxmlformats.org/officeDocument/2006/relationships/image" Target="../media/image6.png"/><Relationship Id="rId3" Type="http://schemas.openxmlformats.org/officeDocument/2006/relationships/tags" Target="../tags/tag305.xml"/><Relationship Id="rId2" Type="http://schemas.openxmlformats.org/officeDocument/2006/relationships/tags" Target="../tags/tag304.xml"/><Relationship Id="rId1" Type="http://schemas.openxmlformats.org/officeDocument/2006/relationships/tags" Target="../tags/tag303.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22.xml.rels><?xml version="1.0" encoding="UTF-8" standalone="yes"?>
<Relationships xmlns="http://schemas.openxmlformats.org/package/2006/relationships"><Relationship Id="rId99" Type="http://schemas.openxmlformats.org/officeDocument/2006/relationships/tags" Target="../tags/tag383.xml"/><Relationship Id="rId98" Type="http://schemas.openxmlformats.org/officeDocument/2006/relationships/tags" Target="../tags/tag382.xml"/><Relationship Id="rId97" Type="http://schemas.openxmlformats.org/officeDocument/2006/relationships/tags" Target="../tags/tag381.xml"/><Relationship Id="rId96" Type="http://schemas.openxmlformats.org/officeDocument/2006/relationships/tags" Target="../tags/tag380.xml"/><Relationship Id="rId95" Type="http://schemas.openxmlformats.org/officeDocument/2006/relationships/tags" Target="../tags/tag379.xml"/><Relationship Id="rId94" Type="http://schemas.openxmlformats.org/officeDocument/2006/relationships/image" Target="../media/image104.png"/><Relationship Id="rId93" Type="http://schemas.openxmlformats.org/officeDocument/2006/relationships/tags" Target="../tags/tag378.xml"/><Relationship Id="rId92" Type="http://schemas.openxmlformats.org/officeDocument/2006/relationships/tags" Target="../tags/tag377.xml"/><Relationship Id="rId91" Type="http://schemas.openxmlformats.org/officeDocument/2006/relationships/tags" Target="../tags/tag376.xml"/><Relationship Id="rId90" Type="http://schemas.openxmlformats.org/officeDocument/2006/relationships/tags" Target="../tags/tag375.xml"/><Relationship Id="rId9" Type="http://schemas.openxmlformats.org/officeDocument/2006/relationships/tags" Target="../tags/tag313.xml"/><Relationship Id="rId89" Type="http://schemas.openxmlformats.org/officeDocument/2006/relationships/tags" Target="../tags/tag374.xml"/><Relationship Id="rId88" Type="http://schemas.openxmlformats.org/officeDocument/2006/relationships/tags" Target="../tags/tag373.xml"/><Relationship Id="rId87" Type="http://schemas.openxmlformats.org/officeDocument/2006/relationships/tags" Target="../tags/tag372.xml"/><Relationship Id="rId86" Type="http://schemas.openxmlformats.org/officeDocument/2006/relationships/tags" Target="../tags/tag371.xml"/><Relationship Id="rId85" Type="http://schemas.openxmlformats.org/officeDocument/2006/relationships/image" Target="../media/image103.png"/><Relationship Id="rId84" Type="http://schemas.openxmlformats.org/officeDocument/2006/relationships/tags" Target="../tags/tag370.xml"/><Relationship Id="rId83" Type="http://schemas.openxmlformats.org/officeDocument/2006/relationships/image" Target="../media/image102.png"/><Relationship Id="rId82" Type="http://schemas.openxmlformats.org/officeDocument/2006/relationships/tags" Target="../tags/tag369.xml"/><Relationship Id="rId81" Type="http://schemas.openxmlformats.org/officeDocument/2006/relationships/tags" Target="../tags/tag368.xml"/><Relationship Id="rId80" Type="http://schemas.openxmlformats.org/officeDocument/2006/relationships/tags" Target="../tags/tag367.xml"/><Relationship Id="rId8" Type="http://schemas.openxmlformats.org/officeDocument/2006/relationships/image" Target="../media/image88.png"/><Relationship Id="rId79" Type="http://schemas.openxmlformats.org/officeDocument/2006/relationships/tags" Target="../tags/tag366.xml"/><Relationship Id="rId78" Type="http://schemas.openxmlformats.org/officeDocument/2006/relationships/image" Target="../media/image101.png"/><Relationship Id="rId77" Type="http://schemas.openxmlformats.org/officeDocument/2006/relationships/tags" Target="../tags/tag365.xml"/><Relationship Id="rId76" Type="http://schemas.openxmlformats.org/officeDocument/2006/relationships/tags" Target="../tags/tag364.xml"/><Relationship Id="rId75" Type="http://schemas.openxmlformats.org/officeDocument/2006/relationships/tags" Target="../tags/tag363.xml"/><Relationship Id="rId74" Type="http://schemas.openxmlformats.org/officeDocument/2006/relationships/tags" Target="../tags/tag362.xml"/><Relationship Id="rId73" Type="http://schemas.openxmlformats.org/officeDocument/2006/relationships/tags" Target="../tags/tag361.xml"/><Relationship Id="rId72" Type="http://schemas.openxmlformats.org/officeDocument/2006/relationships/tags" Target="../tags/tag360.xml"/><Relationship Id="rId71" Type="http://schemas.openxmlformats.org/officeDocument/2006/relationships/tags" Target="../tags/tag359.xml"/><Relationship Id="rId70" Type="http://schemas.openxmlformats.org/officeDocument/2006/relationships/tags" Target="../tags/tag358.xml"/><Relationship Id="rId7" Type="http://schemas.openxmlformats.org/officeDocument/2006/relationships/tags" Target="../tags/tag312.xml"/><Relationship Id="rId69" Type="http://schemas.openxmlformats.org/officeDocument/2006/relationships/tags" Target="../tags/tag357.xml"/><Relationship Id="rId68" Type="http://schemas.openxmlformats.org/officeDocument/2006/relationships/tags" Target="../tags/tag356.xml"/><Relationship Id="rId67" Type="http://schemas.openxmlformats.org/officeDocument/2006/relationships/tags" Target="../tags/tag355.xml"/><Relationship Id="rId66" Type="http://schemas.openxmlformats.org/officeDocument/2006/relationships/tags" Target="../tags/tag354.xml"/><Relationship Id="rId65" Type="http://schemas.openxmlformats.org/officeDocument/2006/relationships/tags" Target="../tags/tag353.xml"/><Relationship Id="rId64" Type="http://schemas.openxmlformats.org/officeDocument/2006/relationships/tags" Target="../tags/tag352.xml"/><Relationship Id="rId63" Type="http://schemas.openxmlformats.org/officeDocument/2006/relationships/image" Target="../media/image100.svg"/><Relationship Id="rId62" Type="http://schemas.openxmlformats.org/officeDocument/2006/relationships/image" Target="../media/image76.png"/><Relationship Id="rId61" Type="http://schemas.openxmlformats.org/officeDocument/2006/relationships/image" Target="../media/image99.svg"/><Relationship Id="rId60" Type="http://schemas.openxmlformats.org/officeDocument/2006/relationships/image" Target="../media/image74.png"/><Relationship Id="rId6" Type="http://schemas.openxmlformats.org/officeDocument/2006/relationships/image" Target="../media/image87.png"/><Relationship Id="rId59" Type="http://schemas.openxmlformats.org/officeDocument/2006/relationships/image" Target="../media/image73.png"/><Relationship Id="rId58" Type="http://schemas.openxmlformats.org/officeDocument/2006/relationships/tags" Target="../tags/tag351.xml"/><Relationship Id="rId57" Type="http://schemas.openxmlformats.org/officeDocument/2006/relationships/tags" Target="../tags/tag350.xml"/><Relationship Id="rId56" Type="http://schemas.openxmlformats.org/officeDocument/2006/relationships/image" Target="../media/image6.png"/><Relationship Id="rId55" Type="http://schemas.openxmlformats.org/officeDocument/2006/relationships/tags" Target="../tags/tag349.xml"/><Relationship Id="rId54" Type="http://schemas.openxmlformats.org/officeDocument/2006/relationships/image" Target="../media/image98.png"/><Relationship Id="rId53" Type="http://schemas.openxmlformats.org/officeDocument/2006/relationships/tags" Target="../tags/tag348.xml"/><Relationship Id="rId52" Type="http://schemas.openxmlformats.org/officeDocument/2006/relationships/tags" Target="../tags/tag347.xml"/><Relationship Id="rId51" Type="http://schemas.openxmlformats.org/officeDocument/2006/relationships/tags" Target="../tags/tag346.xml"/><Relationship Id="rId50" Type="http://schemas.openxmlformats.org/officeDocument/2006/relationships/image" Target="../media/image97.png"/><Relationship Id="rId5" Type="http://schemas.openxmlformats.org/officeDocument/2006/relationships/tags" Target="../tags/tag311.xml"/><Relationship Id="rId49" Type="http://schemas.openxmlformats.org/officeDocument/2006/relationships/tags" Target="../tags/tag345.xml"/><Relationship Id="rId48" Type="http://schemas.openxmlformats.org/officeDocument/2006/relationships/tags" Target="../tags/tag344.xml"/><Relationship Id="rId47" Type="http://schemas.openxmlformats.org/officeDocument/2006/relationships/tags" Target="../tags/tag343.xml"/><Relationship Id="rId46" Type="http://schemas.openxmlformats.org/officeDocument/2006/relationships/tags" Target="../tags/tag342.xml"/><Relationship Id="rId45" Type="http://schemas.openxmlformats.org/officeDocument/2006/relationships/tags" Target="../tags/tag341.xml"/><Relationship Id="rId44" Type="http://schemas.openxmlformats.org/officeDocument/2006/relationships/tags" Target="../tags/tag340.xml"/><Relationship Id="rId43" Type="http://schemas.openxmlformats.org/officeDocument/2006/relationships/tags" Target="../tags/tag339.xml"/><Relationship Id="rId42" Type="http://schemas.openxmlformats.org/officeDocument/2006/relationships/image" Target="../media/image96.png"/><Relationship Id="rId41" Type="http://schemas.openxmlformats.org/officeDocument/2006/relationships/tags" Target="../tags/tag338.xml"/><Relationship Id="rId40" Type="http://schemas.openxmlformats.org/officeDocument/2006/relationships/tags" Target="../tags/tag337.xml"/><Relationship Id="rId4" Type="http://schemas.openxmlformats.org/officeDocument/2006/relationships/tags" Target="../tags/tag310.xml"/><Relationship Id="rId39" Type="http://schemas.openxmlformats.org/officeDocument/2006/relationships/tags" Target="../tags/tag336.xml"/><Relationship Id="rId38" Type="http://schemas.openxmlformats.org/officeDocument/2006/relationships/image" Target="../media/image95.png"/><Relationship Id="rId37" Type="http://schemas.openxmlformats.org/officeDocument/2006/relationships/tags" Target="../tags/tag335.xml"/><Relationship Id="rId36" Type="http://schemas.openxmlformats.org/officeDocument/2006/relationships/tags" Target="../tags/tag334.xml"/><Relationship Id="rId35" Type="http://schemas.openxmlformats.org/officeDocument/2006/relationships/image" Target="../media/image94.png"/><Relationship Id="rId34" Type="http://schemas.openxmlformats.org/officeDocument/2006/relationships/tags" Target="../tags/tag333.xml"/><Relationship Id="rId33" Type="http://schemas.openxmlformats.org/officeDocument/2006/relationships/tags" Target="../tags/tag332.xml"/><Relationship Id="rId32" Type="http://schemas.openxmlformats.org/officeDocument/2006/relationships/tags" Target="../tags/tag331.xml"/><Relationship Id="rId31" Type="http://schemas.openxmlformats.org/officeDocument/2006/relationships/tags" Target="../tags/tag330.xml"/><Relationship Id="rId30" Type="http://schemas.openxmlformats.org/officeDocument/2006/relationships/tags" Target="../tags/tag329.xml"/><Relationship Id="rId3" Type="http://schemas.openxmlformats.org/officeDocument/2006/relationships/tags" Target="../tags/tag309.xml"/><Relationship Id="rId29" Type="http://schemas.openxmlformats.org/officeDocument/2006/relationships/tags" Target="../tags/tag328.xml"/><Relationship Id="rId28" Type="http://schemas.openxmlformats.org/officeDocument/2006/relationships/tags" Target="../tags/tag327.xml"/><Relationship Id="rId27" Type="http://schemas.openxmlformats.org/officeDocument/2006/relationships/tags" Target="../tags/tag326.xml"/><Relationship Id="rId26" Type="http://schemas.openxmlformats.org/officeDocument/2006/relationships/image" Target="../media/image93.png"/><Relationship Id="rId25" Type="http://schemas.openxmlformats.org/officeDocument/2006/relationships/tags" Target="../tags/tag325.xml"/><Relationship Id="rId24" Type="http://schemas.openxmlformats.org/officeDocument/2006/relationships/tags" Target="../tags/tag324.xml"/><Relationship Id="rId23" Type="http://schemas.openxmlformats.org/officeDocument/2006/relationships/tags" Target="../tags/tag323.xml"/><Relationship Id="rId22" Type="http://schemas.openxmlformats.org/officeDocument/2006/relationships/tags" Target="../tags/tag322.xml"/><Relationship Id="rId21" Type="http://schemas.openxmlformats.org/officeDocument/2006/relationships/tags" Target="../tags/tag321.xml"/><Relationship Id="rId20" Type="http://schemas.openxmlformats.org/officeDocument/2006/relationships/tags" Target="../tags/tag320.xml"/><Relationship Id="rId2" Type="http://schemas.openxmlformats.org/officeDocument/2006/relationships/tags" Target="../tags/tag308.xml"/><Relationship Id="rId19" Type="http://schemas.openxmlformats.org/officeDocument/2006/relationships/image" Target="../media/image92.png"/><Relationship Id="rId184" Type="http://schemas.openxmlformats.org/officeDocument/2006/relationships/slideLayout" Target="../slideLayouts/slideLayout1.xml"/><Relationship Id="rId183" Type="http://schemas.openxmlformats.org/officeDocument/2006/relationships/tags" Target="../tags/tag467.xml"/><Relationship Id="rId182" Type="http://schemas.openxmlformats.org/officeDocument/2006/relationships/tags" Target="../tags/tag466.xml"/><Relationship Id="rId181" Type="http://schemas.openxmlformats.org/officeDocument/2006/relationships/tags" Target="../tags/tag465.xml"/><Relationship Id="rId180" Type="http://schemas.openxmlformats.org/officeDocument/2006/relationships/tags" Target="../tags/tag464.xml"/><Relationship Id="rId18" Type="http://schemas.openxmlformats.org/officeDocument/2006/relationships/tags" Target="../tags/tag319.xml"/><Relationship Id="rId179" Type="http://schemas.openxmlformats.org/officeDocument/2006/relationships/tags" Target="../tags/tag463.xml"/><Relationship Id="rId178" Type="http://schemas.openxmlformats.org/officeDocument/2006/relationships/tags" Target="../tags/tag462.xml"/><Relationship Id="rId177" Type="http://schemas.openxmlformats.org/officeDocument/2006/relationships/tags" Target="../tags/tag461.xml"/><Relationship Id="rId176" Type="http://schemas.openxmlformats.org/officeDocument/2006/relationships/tags" Target="../tags/tag460.xml"/><Relationship Id="rId175" Type="http://schemas.openxmlformats.org/officeDocument/2006/relationships/tags" Target="../tags/tag459.xml"/><Relationship Id="rId174" Type="http://schemas.openxmlformats.org/officeDocument/2006/relationships/tags" Target="../tags/tag458.xml"/><Relationship Id="rId173" Type="http://schemas.openxmlformats.org/officeDocument/2006/relationships/tags" Target="../tags/tag457.xml"/><Relationship Id="rId172" Type="http://schemas.openxmlformats.org/officeDocument/2006/relationships/tags" Target="../tags/tag456.xml"/><Relationship Id="rId171" Type="http://schemas.openxmlformats.org/officeDocument/2006/relationships/tags" Target="../tags/tag455.xml"/><Relationship Id="rId170" Type="http://schemas.openxmlformats.org/officeDocument/2006/relationships/tags" Target="../tags/tag454.xml"/><Relationship Id="rId17" Type="http://schemas.openxmlformats.org/officeDocument/2006/relationships/image" Target="../media/image91.png"/><Relationship Id="rId169" Type="http://schemas.openxmlformats.org/officeDocument/2006/relationships/tags" Target="../tags/tag453.xml"/><Relationship Id="rId168" Type="http://schemas.openxmlformats.org/officeDocument/2006/relationships/tags" Target="../tags/tag452.xml"/><Relationship Id="rId167" Type="http://schemas.openxmlformats.org/officeDocument/2006/relationships/tags" Target="../tags/tag451.xml"/><Relationship Id="rId166" Type="http://schemas.openxmlformats.org/officeDocument/2006/relationships/tags" Target="../tags/tag450.xml"/><Relationship Id="rId165" Type="http://schemas.openxmlformats.org/officeDocument/2006/relationships/tags" Target="../tags/tag449.xml"/><Relationship Id="rId164" Type="http://schemas.openxmlformats.org/officeDocument/2006/relationships/tags" Target="../tags/tag448.xml"/><Relationship Id="rId163" Type="http://schemas.openxmlformats.org/officeDocument/2006/relationships/tags" Target="../tags/tag447.xml"/><Relationship Id="rId162" Type="http://schemas.openxmlformats.org/officeDocument/2006/relationships/tags" Target="../tags/tag446.xml"/><Relationship Id="rId161" Type="http://schemas.openxmlformats.org/officeDocument/2006/relationships/tags" Target="../tags/tag445.xml"/><Relationship Id="rId160" Type="http://schemas.openxmlformats.org/officeDocument/2006/relationships/tags" Target="../tags/tag444.xml"/><Relationship Id="rId16" Type="http://schemas.openxmlformats.org/officeDocument/2006/relationships/tags" Target="../tags/tag318.xml"/><Relationship Id="rId159" Type="http://schemas.openxmlformats.org/officeDocument/2006/relationships/tags" Target="../tags/tag443.xml"/><Relationship Id="rId158" Type="http://schemas.openxmlformats.org/officeDocument/2006/relationships/tags" Target="../tags/tag442.xml"/><Relationship Id="rId157" Type="http://schemas.openxmlformats.org/officeDocument/2006/relationships/tags" Target="../tags/tag441.xml"/><Relationship Id="rId156" Type="http://schemas.openxmlformats.org/officeDocument/2006/relationships/tags" Target="../tags/tag440.xml"/><Relationship Id="rId155" Type="http://schemas.openxmlformats.org/officeDocument/2006/relationships/tags" Target="../tags/tag439.xml"/><Relationship Id="rId154" Type="http://schemas.openxmlformats.org/officeDocument/2006/relationships/tags" Target="../tags/tag438.xml"/><Relationship Id="rId153" Type="http://schemas.openxmlformats.org/officeDocument/2006/relationships/tags" Target="../tags/tag437.xml"/><Relationship Id="rId152" Type="http://schemas.openxmlformats.org/officeDocument/2006/relationships/tags" Target="../tags/tag436.xml"/><Relationship Id="rId151" Type="http://schemas.openxmlformats.org/officeDocument/2006/relationships/tags" Target="../tags/tag435.xml"/><Relationship Id="rId150" Type="http://schemas.openxmlformats.org/officeDocument/2006/relationships/tags" Target="../tags/tag434.xml"/><Relationship Id="rId15" Type="http://schemas.openxmlformats.org/officeDocument/2006/relationships/tags" Target="../tags/tag317.xml"/><Relationship Id="rId149" Type="http://schemas.openxmlformats.org/officeDocument/2006/relationships/tags" Target="../tags/tag433.xml"/><Relationship Id="rId148" Type="http://schemas.openxmlformats.org/officeDocument/2006/relationships/tags" Target="../tags/tag432.xml"/><Relationship Id="rId147" Type="http://schemas.openxmlformats.org/officeDocument/2006/relationships/tags" Target="../tags/tag431.xml"/><Relationship Id="rId146" Type="http://schemas.openxmlformats.org/officeDocument/2006/relationships/tags" Target="../tags/tag430.xml"/><Relationship Id="rId145" Type="http://schemas.openxmlformats.org/officeDocument/2006/relationships/tags" Target="../tags/tag429.xml"/><Relationship Id="rId144" Type="http://schemas.openxmlformats.org/officeDocument/2006/relationships/tags" Target="../tags/tag428.xml"/><Relationship Id="rId143" Type="http://schemas.openxmlformats.org/officeDocument/2006/relationships/tags" Target="../tags/tag427.xml"/><Relationship Id="rId142" Type="http://schemas.openxmlformats.org/officeDocument/2006/relationships/tags" Target="../tags/tag426.xml"/><Relationship Id="rId141" Type="http://schemas.openxmlformats.org/officeDocument/2006/relationships/tags" Target="../tags/tag425.xml"/><Relationship Id="rId140" Type="http://schemas.openxmlformats.org/officeDocument/2006/relationships/tags" Target="../tags/tag424.xml"/><Relationship Id="rId14" Type="http://schemas.openxmlformats.org/officeDocument/2006/relationships/image" Target="../media/image90.png"/><Relationship Id="rId139" Type="http://schemas.openxmlformats.org/officeDocument/2006/relationships/tags" Target="../tags/tag423.xml"/><Relationship Id="rId138" Type="http://schemas.openxmlformats.org/officeDocument/2006/relationships/tags" Target="../tags/tag422.xml"/><Relationship Id="rId137" Type="http://schemas.openxmlformats.org/officeDocument/2006/relationships/tags" Target="../tags/tag421.xml"/><Relationship Id="rId136" Type="http://schemas.openxmlformats.org/officeDocument/2006/relationships/tags" Target="../tags/tag420.xml"/><Relationship Id="rId135" Type="http://schemas.openxmlformats.org/officeDocument/2006/relationships/tags" Target="../tags/tag419.xml"/><Relationship Id="rId134" Type="http://schemas.openxmlformats.org/officeDocument/2006/relationships/tags" Target="../tags/tag418.xml"/><Relationship Id="rId133" Type="http://schemas.openxmlformats.org/officeDocument/2006/relationships/tags" Target="../tags/tag417.xml"/><Relationship Id="rId132" Type="http://schemas.openxmlformats.org/officeDocument/2006/relationships/tags" Target="../tags/tag416.xml"/><Relationship Id="rId131" Type="http://schemas.openxmlformats.org/officeDocument/2006/relationships/tags" Target="../tags/tag415.xml"/><Relationship Id="rId130" Type="http://schemas.openxmlformats.org/officeDocument/2006/relationships/tags" Target="../tags/tag414.xml"/><Relationship Id="rId13" Type="http://schemas.openxmlformats.org/officeDocument/2006/relationships/tags" Target="../tags/tag316.xml"/><Relationship Id="rId129" Type="http://schemas.openxmlformats.org/officeDocument/2006/relationships/tags" Target="../tags/tag413.xml"/><Relationship Id="rId128" Type="http://schemas.openxmlformats.org/officeDocument/2006/relationships/tags" Target="../tags/tag412.xml"/><Relationship Id="rId127" Type="http://schemas.openxmlformats.org/officeDocument/2006/relationships/tags" Target="../tags/tag411.xml"/><Relationship Id="rId126" Type="http://schemas.openxmlformats.org/officeDocument/2006/relationships/tags" Target="../tags/tag410.xml"/><Relationship Id="rId125" Type="http://schemas.openxmlformats.org/officeDocument/2006/relationships/tags" Target="../tags/tag409.xml"/><Relationship Id="rId124" Type="http://schemas.openxmlformats.org/officeDocument/2006/relationships/tags" Target="../tags/tag408.xml"/><Relationship Id="rId123" Type="http://schemas.openxmlformats.org/officeDocument/2006/relationships/tags" Target="../tags/tag407.xml"/><Relationship Id="rId122" Type="http://schemas.openxmlformats.org/officeDocument/2006/relationships/tags" Target="../tags/tag406.xml"/><Relationship Id="rId121" Type="http://schemas.openxmlformats.org/officeDocument/2006/relationships/tags" Target="../tags/tag405.xml"/><Relationship Id="rId120" Type="http://schemas.openxmlformats.org/officeDocument/2006/relationships/tags" Target="../tags/tag404.xml"/><Relationship Id="rId12" Type="http://schemas.openxmlformats.org/officeDocument/2006/relationships/tags" Target="../tags/tag315.xml"/><Relationship Id="rId119" Type="http://schemas.openxmlformats.org/officeDocument/2006/relationships/tags" Target="../tags/tag403.xml"/><Relationship Id="rId118" Type="http://schemas.openxmlformats.org/officeDocument/2006/relationships/tags" Target="../tags/tag402.xml"/><Relationship Id="rId117" Type="http://schemas.openxmlformats.org/officeDocument/2006/relationships/tags" Target="../tags/tag401.xml"/><Relationship Id="rId116" Type="http://schemas.openxmlformats.org/officeDocument/2006/relationships/tags" Target="../tags/tag400.xml"/><Relationship Id="rId115" Type="http://schemas.openxmlformats.org/officeDocument/2006/relationships/tags" Target="../tags/tag399.xml"/><Relationship Id="rId114" Type="http://schemas.openxmlformats.org/officeDocument/2006/relationships/tags" Target="../tags/tag398.xml"/><Relationship Id="rId113" Type="http://schemas.openxmlformats.org/officeDocument/2006/relationships/tags" Target="../tags/tag397.xml"/><Relationship Id="rId112" Type="http://schemas.openxmlformats.org/officeDocument/2006/relationships/tags" Target="../tags/tag396.xml"/><Relationship Id="rId111" Type="http://schemas.openxmlformats.org/officeDocument/2006/relationships/tags" Target="../tags/tag395.xml"/><Relationship Id="rId110" Type="http://schemas.openxmlformats.org/officeDocument/2006/relationships/tags" Target="../tags/tag394.xml"/><Relationship Id="rId11" Type="http://schemas.openxmlformats.org/officeDocument/2006/relationships/image" Target="../media/image89.png"/><Relationship Id="rId109" Type="http://schemas.openxmlformats.org/officeDocument/2006/relationships/tags" Target="../tags/tag393.xml"/><Relationship Id="rId108" Type="http://schemas.openxmlformats.org/officeDocument/2006/relationships/tags" Target="../tags/tag392.xml"/><Relationship Id="rId107" Type="http://schemas.openxmlformats.org/officeDocument/2006/relationships/tags" Target="../tags/tag391.xml"/><Relationship Id="rId106" Type="http://schemas.openxmlformats.org/officeDocument/2006/relationships/tags" Target="../tags/tag390.xml"/><Relationship Id="rId105" Type="http://schemas.openxmlformats.org/officeDocument/2006/relationships/tags" Target="../tags/tag389.xml"/><Relationship Id="rId104" Type="http://schemas.openxmlformats.org/officeDocument/2006/relationships/tags" Target="../tags/tag388.xml"/><Relationship Id="rId103" Type="http://schemas.openxmlformats.org/officeDocument/2006/relationships/tags" Target="../tags/tag387.xml"/><Relationship Id="rId102" Type="http://schemas.openxmlformats.org/officeDocument/2006/relationships/tags" Target="../tags/tag386.xml"/><Relationship Id="rId101" Type="http://schemas.openxmlformats.org/officeDocument/2006/relationships/tags" Target="../tags/tag385.xml"/><Relationship Id="rId100" Type="http://schemas.openxmlformats.org/officeDocument/2006/relationships/tags" Target="../tags/tag384.xml"/><Relationship Id="rId10" Type="http://schemas.openxmlformats.org/officeDocument/2006/relationships/tags" Target="../tags/tag314.xml"/><Relationship Id="rId1" Type="http://schemas.openxmlformats.org/officeDocument/2006/relationships/tags" Target="../tags/tag307.xml"/></Relationships>
</file>

<file path=ppt/slides/_rels/slide23.xml.rels><?xml version="1.0" encoding="UTF-8" standalone="yes"?>
<Relationships xmlns="http://schemas.openxmlformats.org/package/2006/relationships"><Relationship Id="rId6" Type="http://schemas.openxmlformats.org/officeDocument/2006/relationships/slideLayout" Target="../slideLayouts/slideLayout8.xml"/><Relationship Id="rId5" Type="http://schemas.openxmlformats.org/officeDocument/2006/relationships/tags" Target="../tags/tag471.xml"/><Relationship Id="rId4" Type="http://schemas.openxmlformats.org/officeDocument/2006/relationships/image" Target="../media/image6.png"/><Relationship Id="rId3" Type="http://schemas.openxmlformats.org/officeDocument/2006/relationships/tags" Target="../tags/tag470.xml"/><Relationship Id="rId2" Type="http://schemas.openxmlformats.org/officeDocument/2006/relationships/tags" Target="../tags/tag469.xml"/><Relationship Id="rId1" Type="http://schemas.openxmlformats.org/officeDocument/2006/relationships/tags" Target="../tags/tag468.xml"/></Relationships>
</file>

<file path=ppt/slides/_rels/slide24.xml.rels><?xml version="1.0" encoding="UTF-8" standalone="yes"?>
<Relationships xmlns="http://schemas.openxmlformats.org/package/2006/relationships"><Relationship Id="rId9" Type="http://schemas.openxmlformats.org/officeDocument/2006/relationships/tags" Target="../tags/tag480.xml"/><Relationship Id="rId8" Type="http://schemas.openxmlformats.org/officeDocument/2006/relationships/tags" Target="../tags/tag479.xml"/><Relationship Id="rId7" Type="http://schemas.openxmlformats.org/officeDocument/2006/relationships/tags" Target="../tags/tag478.xml"/><Relationship Id="rId6" Type="http://schemas.openxmlformats.org/officeDocument/2006/relationships/tags" Target="../tags/tag477.xml"/><Relationship Id="rId5" Type="http://schemas.openxmlformats.org/officeDocument/2006/relationships/tags" Target="../tags/tag476.xml"/><Relationship Id="rId4" Type="http://schemas.openxmlformats.org/officeDocument/2006/relationships/tags" Target="../tags/tag475.xml"/><Relationship Id="rId3" Type="http://schemas.openxmlformats.org/officeDocument/2006/relationships/tags" Target="../tags/tag474.xml"/><Relationship Id="rId22" Type="http://schemas.openxmlformats.org/officeDocument/2006/relationships/slideLayout" Target="../slideLayouts/slideLayout1.xml"/><Relationship Id="rId21" Type="http://schemas.openxmlformats.org/officeDocument/2006/relationships/image" Target="../media/image6.png"/><Relationship Id="rId20" Type="http://schemas.openxmlformats.org/officeDocument/2006/relationships/tags" Target="../tags/tag491.xml"/><Relationship Id="rId2" Type="http://schemas.openxmlformats.org/officeDocument/2006/relationships/tags" Target="../tags/tag473.xml"/><Relationship Id="rId19" Type="http://schemas.openxmlformats.org/officeDocument/2006/relationships/tags" Target="../tags/tag490.xml"/><Relationship Id="rId18" Type="http://schemas.openxmlformats.org/officeDocument/2006/relationships/tags" Target="../tags/tag489.xml"/><Relationship Id="rId17" Type="http://schemas.openxmlformats.org/officeDocument/2006/relationships/tags" Target="../tags/tag488.xml"/><Relationship Id="rId16" Type="http://schemas.openxmlformats.org/officeDocument/2006/relationships/tags" Target="../tags/tag487.xml"/><Relationship Id="rId15" Type="http://schemas.openxmlformats.org/officeDocument/2006/relationships/tags" Target="../tags/tag486.xml"/><Relationship Id="rId14" Type="http://schemas.openxmlformats.org/officeDocument/2006/relationships/tags" Target="../tags/tag485.xml"/><Relationship Id="rId13" Type="http://schemas.openxmlformats.org/officeDocument/2006/relationships/tags" Target="../tags/tag484.xml"/><Relationship Id="rId12" Type="http://schemas.openxmlformats.org/officeDocument/2006/relationships/tags" Target="../tags/tag483.xml"/><Relationship Id="rId11" Type="http://schemas.openxmlformats.org/officeDocument/2006/relationships/tags" Target="../tags/tag482.xml"/><Relationship Id="rId10" Type="http://schemas.openxmlformats.org/officeDocument/2006/relationships/tags" Target="../tags/tag481.xml"/><Relationship Id="rId1" Type="http://schemas.openxmlformats.org/officeDocument/2006/relationships/tags" Target="../tags/tag472.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06.png"/><Relationship Id="rId1" Type="http://schemas.openxmlformats.org/officeDocument/2006/relationships/image" Target="../media/image105.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a:xfrm>
          <a:off x="0" y="0"/>
          <a:ext cx="0" cy="0"/>
          <a:chOff x="0" y="0"/>
          <a:chExt cx="0" cy="0"/>
        </a:xfrm>
      </p:grpSpPr>
      <p:sp>
        <p:nvSpPr>
          <p:cNvPr id="11" name="文本框 8"/>
          <p:cNvSpPr txBox="1">
            <a:spLocks noChangeArrowheads="1"/>
          </p:cNvSpPr>
          <p:nvPr/>
        </p:nvSpPr>
        <p:spPr bwMode="auto">
          <a:xfrm>
            <a:off x="6732905" y="2976245"/>
            <a:ext cx="4755515" cy="345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r">
              <a:lnSpc>
                <a:spcPct val="100000"/>
              </a:lnSpc>
              <a:spcBef>
                <a:spcPct val="0"/>
              </a:spcBef>
              <a:buNone/>
            </a:pPr>
            <a:r>
              <a:rPr lang="en-US" altLang="zh-CN" sz="1800" dirty="0">
                <a:solidFill>
                  <a:srgbClr val="216EE3"/>
                </a:solidFill>
                <a:latin typeface="微软雅黑" panose="020B0503020204020204" charset="-122"/>
                <a:ea typeface="微软雅黑" panose="020B0503020204020204" charset="-122"/>
                <a:cs typeface="微软雅黑" panose="020B0503020204020204" charset="-122"/>
                <a:sym typeface="+mn-ea"/>
              </a:rPr>
              <a:t>7*24H</a:t>
            </a:r>
            <a:r>
              <a:rPr lang="zh-CN" altLang="en-US" sz="1800" dirty="0">
                <a:solidFill>
                  <a:srgbClr val="216EE3"/>
                </a:solidFill>
                <a:latin typeface="微软雅黑" panose="020B0503020204020204" charset="-122"/>
                <a:ea typeface="微软雅黑" panose="020B0503020204020204" charset="-122"/>
                <a:cs typeface="微软雅黑" panose="020B0503020204020204" charset="-122"/>
                <a:sym typeface="+mn-ea"/>
              </a:rPr>
              <a:t>全时守护</a:t>
            </a:r>
            <a:r>
              <a:rPr lang="en-US" altLang="zh-CN" sz="1800" dirty="0">
                <a:solidFill>
                  <a:srgbClr val="216EE3"/>
                </a:solidFill>
                <a:latin typeface="微软雅黑" panose="020B0503020204020204" charset="-122"/>
                <a:ea typeface="微软雅黑" panose="020B0503020204020204" charset="-122"/>
                <a:cs typeface="微软雅黑" panose="020B0503020204020204" charset="-122"/>
                <a:sym typeface="+mn-ea"/>
              </a:rPr>
              <a:t>  </a:t>
            </a:r>
            <a:r>
              <a:rPr lang="zh-CN" altLang="en-US" sz="1800" dirty="0">
                <a:solidFill>
                  <a:srgbClr val="216EE3"/>
                </a:solidFill>
                <a:latin typeface="微软雅黑" panose="020B0503020204020204" charset="-122"/>
                <a:ea typeface="微软雅黑" panose="020B0503020204020204" charset="-122"/>
                <a:cs typeface="微软雅黑" panose="020B0503020204020204" charset="-122"/>
                <a:sym typeface="+mn-ea"/>
              </a:rPr>
              <a:t>安全效果护航业务稳定运行</a:t>
            </a:r>
            <a:r>
              <a:rPr lang="en-US" altLang="zh-CN" sz="1800" dirty="0">
                <a:solidFill>
                  <a:srgbClr val="216EE3"/>
                </a:solidFill>
                <a:latin typeface="微软雅黑" panose="020B0503020204020204" charset="-122"/>
                <a:ea typeface="微软雅黑" panose="020B0503020204020204" charset="-122"/>
                <a:cs typeface="微软雅黑" panose="020B0503020204020204" charset="-122"/>
                <a:sym typeface="+mn-ea"/>
              </a:rPr>
              <a:t> </a:t>
            </a:r>
            <a:endParaRPr lang="en-US" altLang="zh-CN" sz="1800" dirty="0">
              <a:solidFill>
                <a:srgbClr val="216EE3"/>
              </a:solidFill>
              <a:latin typeface="微软雅黑" panose="020B0503020204020204" charset="-122"/>
              <a:ea typeface="微软雅黑" panose="020B0503020204020204" charset="-122"/>
              <a:cs typeface="微软雅黑" panose="020B0503020204020204" charset="-122"/>
              <a:sym typeface="+mn-ea"/>
            </a:endParaRPr>
          </a:p>
        </p:txBody>
      </p:sp>
      <p:grpSp>
        <p:nvGrpSpPr>
          <p:cNvPr id="2" name="组合 1"/>
          <p:cNvGrpSpPr/>
          <p:nvPr/>
        </p:nvGrpSpPr>
        <p:grpSpPr>
          <a:xfrm>
            <a:off x="7806690" y="3568065"/>
            <a:ext cx="3681730" cy="412750"/>
            <a:chOff x="12294" y="5673"/>
            <a:chExt cx="5798" cy="650"/>
          </a:xfrm>
        </p:grpSpPr>
        <p:sp>
          <p:nvSpPr>
            <p:cNvPr id="10" name="矩形 9"/>
            <p:cNvSpPr/>
            <p:nvPr>
              <p:custDataLst>
                <p:tags r:id="rId2"/>
              </p:custDataLst>
            </p:nvPr>
          </p:nvSpPr>
          <p:spPr>
            <a:xfrm>
              <a:off x="12294" y="5673"/>
              <a:ext cx="5798" cy="651"/>
            </a:xfrm>
            <a:prstGeom prst="rect">
              <a:avLst/>
            </a:prstGeom>
            <a:gradFill flip="none" rotWithShape="1">
              <a:gsLst>
                <a:gs pos="0">
                  <a:srgbClr val="0066F6">
                    <a:alpha val="50000"/>
                  </a:srgbClr>
                </a:gs>
                <a:gs pos="100000">
                  <a:srgbClr val="0746B3"/>
                </a:gs>
              </a:gsLst>
              <a:lin ang="8100000" scaled="0"/>
            </a:gradFill>
            <a:ln w="25400" cap="flat">
              <a:noFill/>
              <a:miter lim="400000"/>
            </a:ln>
            <a:effectLst>
              <a:outerShdw blurRad="139700" dist="38100" dir="5400000" algn="t" rotWithShape="0">
                <a:srgbClr val="0062DC">
                  <a:alpha val="64000"/>
                </a:srgbClr>
              </a:outerShdw>
            </a:effectLst>
          </p:spPr>
          <p:txBody>
            <a:bodyPr wrap="square" lIns="22860" tIns="22860" rIns="22860" bIns="22860" numCol="1" anchor="ctr">
              <a:noAutofit/>
            </a:bodyPr>
            <a:p>
              <a:endParaRPr lang="zh-CN" altLang="en-US" sz="900" kern="0">
                <a:solidFill>
                  <a:srgbClr val="FFFFFF"/>
                </a:solidFill>
                <a:latin typeface="微软雅黑" panose="020B0503020204020204" charset="-122"/>
                <a:ea typeface="微软雅黑" panose="020B0503020204020204" charset="-122"/>
              </a:endParaRPr>
            </a:p>
          </p:txBody>
        </p:sp>
        <p:sp>
          <p:nvSpPr>
            <p:cNvPr id="3" name="文本框 2"/>
            <p:cNvSpPr txBox="1"/>
            <p:nvPr>
              <p:custDataLst>
                <p:tags r:id="rId3"/>
              </p:custDataLst>
            </p:nvPr>
          </p:nvSpPr>
          <p:spPr>
            <a:xfrm>
              <a:off x="12611" y="5695"/>
              <a:ext cx="5227" cy="580"/>
            </a:xfrm>
            <a:prstGeom prst="rect">
              <a:avLst/>
            </a:prstGeom>
            <a:noFill/>
          </p:spPr>
          <p:txBody>
            <a:bodyPr wrap="square" rtlCol="0">
              <a:spAutoFit/>
            </a:bodyPr>
            <a:p>
              <a:pPr marL="0" indent="0" algn="r" defTabSz="914400">
                <a:lnSpc>
                  <a:spcPct val="100000"/>
                </a:lnSpc>
                <a:spcBef>
                  <a:spcPts val="0"/>
                </a:spcBef>
                <a:spcAft>
                  <a:spcPts val="0"/>
                </a:spcAft>
                <a:buClrTx/>
                <a:buSzTx/>
                <a:buFontTx/>
                <a:buNone/>
              </a:pPr>
              <a:r>
                <a:rPr lang="zh-CN" b="1">
                  <a:solidFill>
                    <a:schemeClr val="bg1"/>
                  </a:solidFill>
                  <a:latin typeface="微软雅黑" panose="020B0503020204020204" charset="-122"/>
                  <a:ea typeface="微软雅黑" panose="020B0503020204020204" charset="-122"/>
                  <a:sym typeface="+mn-ea"/>
                </a:rPr>
                <a:t>深信服</a:t>
              </a:r>
              <a:r>
                <a:rPr lang="zh-CN" b="1">
                  <a:solidFill>
                    <a:schemeClr val="bg1"/>
                  </a:solidFill>
                  <a:latin typeface="微软雅黑" panose="020B0503020204020204" charset="-122"/>
                  <a:ea typeface="微软雅黑" panose="020B0503020204020204" charset="-122"/>
                  <a:sym typeface="+mn-ea"/>
                </a:rPr>
                <a:t>科技</a:t>
              </a:r>
              <a:endParaRPr lang="zh-CN" b="1">
                <a:solidFill>
                  <a:schemeClr val="bg1"/>
                </a:solidFill>
                <a:latin typeface="微软雅黑" panose="020B0503020204020204" charset="-122"/>
                <a:ea typeface="微软雅黑" panose="020B0503020204020204" charset="-122"/>
                <a:sym typeface="+mn-ea"/>
              </a:endParaRPr>
            </a:p>
          </p:txBody>
        </p:sp>
      </p:grpSp>
      <p:grpSp>
        <p:nvGrpSpPr>
          <p:cNvPr id="7" name="组合 6"/>
          <p:cNvGrpSpPr/>
          <p:nvPr/>
        </p:nvGrpSpPr>
        <p:grpSpPr>
          <a:xfrm>
            <a:off x="5521960" y="1716405"/>
            <a:ext cx="5967095" cy="1121410"/>
            <a:chOff x="8695" y="2872"/>
            <a:chExt cx="9397" cy="1766"/>
          </a:xfrm>
        </p:grpSpPr>
        <p:sp>
          <p:nvSpPr>
            <p:cNvPr id="5" name="文本框 8"/>
            <p:cNvSpPr txBox="1"/>
            <p:nvPr>
              <p:custDataLst>
                <p:tags r:id="rId4"/>
              </p:custDataLst>
            </p:nvPr>
          </p:nvSpPr>
          <p:spPr>
            <a:xfrm>
              <a:off x="8695" y="3755"/>
              <a:ext cx="9397" cy="883"/>
            </a:xfrm>
            <a:prstGeom prst="rect">
              <a:avLst/>
            </a:prstGeom>
            <a:ln w="12700">
              <a:miter lim="400000"/>
            </a:ln>
          </p:spPr>
          <p:txBody>
            <a:bodyPr wrap="square" lIns="34290" tIns="34290" rIns="34290" bIns="34290">
              <a:spAutoFit/>
            </a:bodyPr>
            <a:lstStyle>
              <a:lvl1pPr>
                <a:defRPr sz="32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algn="r"/>
              <a:r>
                <a:rPr lang="zh-CN" altLang="en-US" dirty="0" smtClean="0">
                  <a:gradFill>
                    <a:gsLst>
                      <a:gs pos="50000">
                        <a:schemeClr val="tx1"/>
                      </a:gs>
                      <a:gs pos="0">
                        <a:schemeClr val="tx1">
                          <a:lumMod val="25000"/>
                          <a:lumOff val="75000"/>
                        </a:schemeClr>
                      </a:gs>
                      <a:gs pos="100000">
                        <a:schemeClr val="tx1">
                          <a:lumMod val="85000"/>
                        </a:schemeClr>
                      </a:gs>
                    </a:gsLst>
                    <a:lin ang="5400000" scaled="1"/>
                  </a:gradFill>
                </a:rPr>
                <a:t>安全运营工作</a:t>
              </a:r>
              <a:r>
                <a:rPr lang="zh-CN" altLang="en-US" dirty="0" smtClean="0">
                  <a:gradFill>
                    <a:gsLst>
                      <a:gs pos="50000">
                        <a:schemeClr val="tx1"/>
                      </a:gs>
                      <a:gs pos="0">
                        <a:schemeClr val="tx1">
                          <a:lumMod val="25000"/>
                          <a:lumOff val="75000"/>
                        </a:schemeClr>
                      </a:gs>
                      <a:gs pos="100000">
                        <a:schemeClr val="tx1">
                          <a:lumMod val="85000"/>
                        </a:schemeClr>
                      </a:gs>
                    </a:gsLst>
                    <a:lin ang="5400000" scaled="1"/>
                  </a:gradFill>
                </a:rPr>
                <a:t>报告</a:t>
              </a:r>
              <a:endParaRPr lang="zh-CN" altLang="en-US" dirty="0" smtClean="0">
                <a:gradFill>
                  <a:gsLst>
                    <a:gs pos="50000">
                      <a:schemeClr val="tx1"/>
                    </a:gs>
                    <a:gs pos="0">
                      <a:schemeClr val="tx1">
                        <a:lumMod val="25000"/>
                        <a:lumOff val="75000"/>
                      </a:schemeClr>
                    </a:gs>
                    <a:gs pos="100000">
                      <a:schemeClr val="tx1">
                        <a:lumMod val="85000"/>
                      </a:schemeClr>
                    </a:gs>
                  </a:gsLst>
                  <a:lin ang="5400000" scaled="1"/>
                </a:gradFill>
              </a:endParaRPr>
            </a:p>
          </p:txBody>
        </p:sp>
        <p:sp>
          <p:nvSpPr>
            <p:cNvPr id="4" name="文本框 8"/>
            <p:cNvSpPr txBox="1"/>
            <p:nvPr>
              <p:custDataLst>
                <p:tags r:id="rId5"/>
              </p:custDataLst>
            </p:nvPr>
          </p:nvSpPr>
          <p:spPr>
            <a:xfrm>
              <a:off x="8695" y="2872"/>
              <a:ext cx="9397" cy="883"/>
            </a:xfrm>
            <a:prstGeom prst="rect">
              <a:avLst/>
            </a:prstGeom>
            <a:ln w="12700">
              <a:miter lim="400000"/>
            </a:ln>
          </p:spPr>
          <p:txBody>
            <a:bodyPr wrap="square" lIns="34290" tIns="34290" rIns="34290" bIns="34290">
              <a:spAutoFit/>
            </a:bodyPr>
            <a:lstStyle>
              <a:lvl1pPr>
                <a:defRPr sz="32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algn="r"/>
              <a:r>
                <a:rPr lang="zh-CN" altLang="en-US" dirty="0" smtClean="0">
                  <a:gradFill>
                    <a:gsLst>
                      <a:gs pos="50000">
                        <a:schemeClr val="tx1"/>
                      </a:gs>
                      <a:gs pos="0">
                        <a:schemeClr val="tx1">
                          <a:lumMod val="25000"/>
                          <a:lumOff val="75000"/>
                        </a:schemeClr>
                      </a:gs>
                      <a:gs pos="100000">
                        <a:schemeClr val="tx1">
                          <a:lumMod val="85000"/>
                        </a:schemeClr>
                      </a:gs>
                    </a:gsLst>
                    <a:lin ang="5400000" scaled="1"/>
                  </a:gradFill>
                  <a:highlight>
                    <a:srgbClr val="FFFF00"/>
                  </a:highlight>
                </a:rPr>
                <a:t>客户名称</a:t>
              </a:r>
              <a:endParaRPr lang="zh-CN" altLang="en-US" dirty="0" smtClean="0">
                <a:gradFill>
                  <a:gsLst>
                    <a:gs pos="50000">
                      <a:schemeClr val="tx1"/>
                    </a:gs>
                    <a:gs pos="0">
                      <a:schemeClr val="tx1">
                        <a:lumMod val="25000"/>
                        <a:lumOff val="75000"/>
                      </a:schemeClr>
                    </a:gs>
                    <a:gs pos="100000">
                      <a:schemeClr val="tx1">
                        <a:lumMod val="85000"/>
                      </a:schemeClr>
                    </a:gs>
                  </a:gsLst>
                  <a:lin ang="5400000" scaled="1"/>
                </a:gradFill>
                <a:highlight>
                  <a:srgbClr val="FFFF00"/>
                </a:highlight>
              </a:endParaRPr>
            </a:p>
          </p:txBody>
        </p:sp>
      </p:grpSp>
      <p:sp>
        <p:nvSpPr>
          <p:cNvPr id="6" name="文本框 8"/>
          <p:cNvSpPr txBox="1">
            <a:spLocks noChangeArrowheads="1"/>
          </p:cNvSpPr>
          <p:nvPr/>
        </p:nvSpPr>
        <p:spPr bwMode="auto">
          <a:xfrm>
            <a:off x="6732905" y="4562475"/>
            <a:ext cx="4755515"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r">
              <a:lnSpc>
                <a:spcPct val="100000"/>
              </a:lnSpc>
              <a:spcBef>
                <a:spcPct val="0"/>
              </a:spcBef>
              <a:buNone/>
            </a:pPr>
            <a:r>
              <a:rPr lang="zh-CN" altLang="en-US" sz="1800" dirty="0">
                <a:solidFill>
                  <a:srgbClr val="515151"/>
                </a:solidFill>
                <a:latin typeface="微软雅黑" panose="020B0503020204020204" charset="-122"/>
                <a:ea typeface="微软雅黑" panose="020B0503020204020204" charset="-122"/>
                <a:cs typeface="微软雅黑" panose="020B0503020204020204" charset="-122"/>
                <a:sym typeface="+mn-ea"/>
              </a:rPr>
              <a:t>运营周期</a:t>
            </a:r>
            <a:r>
              <a:rPr lang="en-US" altLang="zh-CN" sz="1800" dirty="0">
                <a:solidFill>
                  <a:srgbClr val="515151"/>
                </a:solidFill>
                <a:latin typeface="微软雅黑" panose="020B0503020204020204" charset="-122"/>
                <a:ea typeface="微软雅黑" panose="020B0503020204020204" charset="-122"/>
                <a:cs typeface="微软雅黑" panose="020B0503020204020204" charset="-122"/>
                <a:sym typeface="+mn-ea"/>
              </a:rPr>
              <a:t>：{{period_start}} </a:t>
            </a:r>
            <a:r>
              <a:rPr lang="en-US" altLang="zh-CN" sz="1800" b="1" dirty="0">
                <a:solidFill>
                  <a:srgbClr val="515151"/>
                </a:solidFill>
                <a:latin typeface="微软雅黑" panose="020B0503020204020204" charset="-122"/>
                <a:ea typeface="微软雅黑" panose="020B0503020204020204" charset="-122"/>
                <a:cs typeface="微软雅黑" panose="020B0503020204020204" charset="-122"/>
                <a:sym typeface="+mn-ea"/>
              </a:rPr>
              <a:t>~ </a:t>
            </a:r>
            <a:r>
              <a:rPr lang="en-US" altLang="zh-CN" sz="1800" dirty="0">
                <a:solidFill>
                  <a:srgbClr val="515151"/>
                </a:solidFill>
                <a:latin typeface="微软雅黑" panose="020B0503020204020204" charset="-122"/>
                <a:ea typeface="微软雅黑" panose="020B0503020204020204" charset="-122"/>
                <a:cs typeface="微软雅黑" panose="020B0503020204020204" charset="-122"/>
                <a:sym typeface="+mn-ea"/>
              </a:rPr>
              <a:t>{{period_end}}</a:t>
            </a:r>
            <a:endParaRPr lang="en-US" altLang="zh-CN" sz="1800" dirty="0">
              <a:solidFill>
                <a:srgbClr val="515151"/>
              </a:solidFill>
              <a:highlight>
                <a:srgbClr val="FFFF00"/>
              </a:highlight>
              <a:latin typeface="微软雅黑" panose="020B0503020204020204" charset="-122"/>
              <a:ea typeface="微软雅黑" panose="020B0503020204020204" charset="-122"/>
              <a:cs typeface="微软雅黑" panose="020B0503020204020204" charset="-122"/>
              <a:sym typeface="+mn-ea"/>
            </a:endParaRPr>
          </a:p>
          <a:p>
            <a:pPr algn="r">
              <a:lnSpc>
                <a:spcPct val="100000"/>
              </a:lnSpc>
              <a:spcBef>
                <a:spcPct val="0"/>
              </a:spcBef>
              <a:buNone/>
            </a:pPr>
            <a:endParaRPr lang="en-US" altLang="zh-CN" sz="1800" dirty="0">
              <a:solidFill>
                <a:srgbClr val="515151"/>
              </a:solidFill>
              <a:highlight>
                <a:srgbClr val="FFFF00"/>
              </a:highlight>
              <a:latin typeface="微软雅黑" panose="020B0503020204020204" charset="-122"/>
              <a:ea typeface="微软雅黑" panose="020B0503020204020204" charset="-122"/>
              <a:cs typeface="微软雅黑" panose="020B0503020204020204" charset="-122"/>
              <a:sym typeface="+mn-ea"/>
            </a:endParaRPr>
          </a:p>
        </p:txBody>
      </p:sp>
      <p:pic>
        <p:nvPicPr>
          <p:cNvPr id="8" name="图片 7" descr="LOGO-深信服&amp;智安全@4x"/>
          <p:cNvPicPr>
            <a:picLocks noChangeAspect="1"/>
          </p:cNvPicPr>
          <p:nvPr/>
        </p:nvPicPr>
        <p:blipFill>
          <a:blip r:embed="rId6"/>
          <a:stretch>
            <a:fillRect/>
          </a:stretch>
        </p:blipFill>
        <p:spPr>
          <a:xfrm>
            <a:off x="643255" y="5992495"/>
            <a:ext cx="3002280" cy="424180"/>
          </a:xfrm>
          <a:prstGeom prst="rect">
            <a:avLst/>
          </a:prstGeom>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a:xfrm>
          <a:off x="0" y="0"/>
          <a:ext cx="0" cy="0"/>
          <a:chOff x="0" y="0"/>
          <a:chExt cx="0" cy="0"/>
        </a:xfrm>
      </p:grpSpPr>
      <p:sp>
        <p:nvSpPr>
          <p:cNvPr id="56" name="textbox 18"/>
          <p:cNvSpPr/>
          <p:nvPr/>
        </p:nvSpPr>
        <p:spPr>
          <a:xfrm>
            <a:off x="0" y="676910"/>
            <a:ext cx="5527675" cy="1368000"/>
          </a:xfrm>
          <a:prstGeom prst="rect">
            <a:avLst/>
          </a:prstGeom>
          <a:noFill/>
          <a:ln w="0" cap="flat">
            <a:noFill/>
            <a:prstDash val="solid"/>
            <a:miter lim="0"/>
          </a:ln>
        </p:spPr>
        <p:txBody>
          <a:bodyPr vert="horz" wrap="square" lIns="0" tIns="0" rIns="0" bIns="0" anchor="ctr" anchorCtr="0"/>
          <a:p>
            <a:pPr algn="l" rtl="0" eaLnBrk="0">
              <a:lnSpc>
                <a:spcPct val="96000"/>
              </a:lnSpc>
            </a:pPr>
            <a:r>
              <a:rPr lang="en-US" altLang="zh-CN" sz="8800" b="1" kern="0" spc="60" dirty="0">
                <a:ln>
                  <a:gradFill>
                    <a:gsLst>
                      <a:gs pos="0">
                        <a:srgbClr val="FFFFFF"/>
                      </a:gs>
                      <a:gs pos="100000">
                        <a:srgbClr val="FFFFFF">
                          <a:alpha val="36000"/>
                        </a:srgbClr>
                      </a:gs>
                    </a:gsLst>
                    <a:lin ang="5400000" scaled="1"/>
                  </a:gradFill>
                </a:ln>
                <a:noFill/>
                <a:latin typeface="微软雅黑" panose="020B0503020204020204" charset="-122"/>
                <a:ea typeface="微软雅黑" panose="020B0503020204020204" charset="-122"/>
                <a:cs typeface="黑体" panose="02010609060101010101" charset="-122"/>
              </a:rPr>
              <a:t>contents</a:t>
            </a:r>
            <a:endParaRPr lang="en-US" altLang="zh-CN" sz="8800" b="1" kern="0" spc="60" dirty="0">
              <a:ln>
                <a:gradFill>
                  <a:gsLst>
                    <a:gs pos="0">
                      <a:srgbClr val="FFFFFF"/>
                    </a:gs>
                    <a:gs pos="100000">
                      <a:srgbClr val="FFFFFF">
                        <a:alpha val="36000"/>
                      </a:srgbClr>
                    </a:gs>
                  </a:gsLst>
                  <a:lin ang="5400000" scaled="1"/>
                </a:gradFill>
              </a:ln>
              <a:noFill/>
              <a:latin typeface="微软雅黑" panose="020B0503020204020204" charset="-122"/>
              <a:ea typeface="微软雅黑" panose="020B0503020204020204" charset="-122"/>
              <a:cs typeface="黑体" panose="02010609060101010101" charset="-122"/>
            </a:endParaRPr>
          </a:p>
        </p:txBody>
      </p:sp>
      <p:sp>
        <p:nvSpPr>
          <p:cNvPr id="23" name="textbox 18"/>
          <p:cNvSpPr/>
          <p:nvPr/>
        </p:nvSpPr>
        <p:spPr>
          <a:xfrm>
            <a:off x="2851150" y="1457325"/>
            <a:ext cx="2094865" cy="918845"/>
          </a:xfrm>
          <a:prstGeom prst="rect">
            <a:avLst/>
          </a:prstGeom>
          <a:noFill/>
          <a:ln w="0" cap="flat">
            <a:noFill/>
            <a:prstDash val="solid"/>
            <a:miter lim="0"/>
          </a:ln>
        </p:spPr>
        <p:txBody>
          <a:bodyPr vert="horz" wrap="square" lIns="0" tIns="0" rIns="0" bIns="0" anchor="ctr" anchorCtr="0"/>
          <a:p>
            <a:pPr algn="l" rtl="0" eaLnBrk="0">
              <a:lnSpc>
                <a:spcPct val="96000"/>
              </a:lnSpc>
            </a:pPr>
            <a:r>
              <a:rPr sz="6600" b="1" kern="0" spc="60" dirty="0">
                <a:solidFill>
                  <a:srgbClr val="0C51C2"/>
                </a:solidFill>
                <a:latin typeface="微软雅黑" panose="020B0503020204020204" charset="-122"/>
                <a:ea typeface="微软雅黑" panose="020B0503020204020204" charset="-122"/>
                <a:cs typeface="黑体" panose="02010609060101010101" charset="-122"/>
              </a:rPr>
              <a:t>目</a:t>
            </a:r>
            <a:r>
              <a:rPr lang="en-US" sz="6600" b="1" kern="0" spc="60" dirty="0">
                <a:solidFill>
                  <a:srgbClr val="0C51C2"/>
                </a:solidFill>
                <a:latin typeface="微软雅黑" panose="020B0503020204020204" charset="-122"/>
                <a:ea typeface="微软雅黑" panose="020B0503020204020204" charset="-122"/>
                <a:cs typeface="黑体" panose="02010609060101010101" charset="-122"/>
              </a:rPr>
              <a:t> </a:t>
            </a:r>
            <a:r>
              <a:rPr sz="6600" b="1" kern="0" spc="60" dirty="0">
                <a:solidFill>
                  <a:srgbClr val="0C51C2"/>
                </a:solidFill>
                <a:latin typeface="微软雅黑" panose="020B0503020204020204" charset="-122"/>
                <a:ea typeface="微软雅黑" panose="020B0503020204020204" charset="-122"/>
                <a:cs typeface="黑体" panose="02010609060101010101" charset="-122"/>
              </a:rPr>
              <a:t>录</a:t>
            </a:r>
            <a:endParaRPr sz="6600" b="1" kern="0" spc="60" dirty="0">
              <a:solidFill>
                <a:srgbClr val="0C51C2"/>
              </a:solidFill>
              <a:latin typeface="微软雅黑" panose="020B0503020204020204" charset="-122"/>
              <a:ea typeface="微软雅黑" panose="020B0503020204020204" charset="-122"/>
              <a:cs typeface="黑体" panose="02010609060101010101" charset="-122"/>
            </a:endParaRPr>
          </a:p>
        </p:txBody>
      </p:sp>
      <p:grpSp>
        <p:nvGrpSpPr>
          <p:cNvPr id="12" name="组合 11"/>
          <p:cNvGrpSpPr/>
          <p:nvPr/>
        </p:nvGrpSpPr>
        <p:grpSpPr>
          <a:xfrm rot="0">
            <a:off x="7091045" y="1566180"/>
            <a:ext cx="3239770" cy="468000"/>
            <a:chOff x="10673" y="2666"/>
            <a:chExt cx="5102" cy="874"/>
          </a:xfrm>
        </p:grpSpPr>
        <p:sp>
          <p:nvSpPr>
            <p:cNvPr id="41" name="文本框 40"/>
            <p:cNvSpPr txBox="1"/>
            <p:nvPr>
              <p:custDataLst>
                <p:tags r:id="rId2"/>
              </p:custDataLst>
            </p:nvPr>
          </p:nvSpPr>
          <p:spPr>
            <a:xfrm>
              <a:off x="10673" y="2666"/>
              <a:ext cx="4692" cy="484"/>
            </a:xfrm>
            <a:prstGeom prst="rect">
              <a:avLst/>
            </a:prstGeom>
            <a:noFill/>
            <a:ln w="0">
              <a:noFill/>
            </a:ln>
          </p:spPr>
          <p:txBody>
            <a:bodyPr wrap="square" lIns="0" tIns="0" rIns="0" bIns="0" anchor="t">
              <a:noAutofit/>
            </a:bodyPr>
            <a:p>
              <a:pPr algn="l"/>
              <a:r>
                <a:rPr lang="zh-CN" altLang="en-US" b="1" u="none" strike="noStrike" kern="0">
                  <a:solidFill>
                    <a:schemeClr val="tx1"/>
                  </a:solidFill>
                  <a:uFillTx/>
                  <a:latin typeface="Source Han Sans CN Bold" panose="020B0600000000000000" charset="-122"/>
                  <a:ea typeface="Source Han Sans CN Bold" panose="020B0600000000000000" charset="-122"/>
                  <a:cs typeface="微软雅黑" panose="020B0503020204020204" charset="-122"/>
                  <a:sym typeface="+mn-ea"/>
                </a:rPr>
                <a:t>运营目标达成情况</a:t>
              </a:r>
              <a:endParaRPr lang="zh-CN" altLang="en-US" b="1" u="none" strike="noStrike" kern="0">
                <a:solidFill>
                  <a:schemeClr val="tx1"/>
                </a:solidFill>
                <a:uFillTx/>
                <a:latin typeface="Source Han Sans CN Bold" panose="020B0600000000000000" charset="-122"/>
                <a:ea typeface="Source Han Sans CN Bold" panose="020B0600000000000000" charset="-122"/>
                <a:cs typeface="微软雅黑" panose="020B0503020204020204" charset="-122"/>
                <a:sym typeface="+mn-ea"/>
              </a:endParaRPr>
            </a:p>
          </p:txBody>
        </p:sp>
        <p:sp>
          <p:nvSpPr>
            <p:cNvPr id="3" name="文本框 2"/>
            <p:cNvSpPr txBox="1"/>
            <p:nvPr>
              <p:custDataLst>
                <p:tags r:id="rId3"/>
              </p:custDataLst>
            </p:nvPr>
          </p:nvSpPr>
          <p:spPr>
            <a:xfrm>
              <a:off x="10673" y="3200"/>
              <a:ext cx="5102" cy="340"/>
            </a:xfrm>
            <a:prstGeom prst="rect">
              <a:avLst/>
            </a:prstGeom>
            <a:noFill/>
            <a:ln w="0">
              <a:noFill/>
            </a:ln>
          </p:spPr>
          <p:txBody>
            <a:bodyPr wrap="square" lIns="0" tIns="0" rIns="0" bIns="0" anchor="ctr" anchorCtr="0">
              <a:noAutofit/>
            </a:bodyPr>
            <a:p>
              <a:pPr marL="20955" algn="l" rtl="0" eaLnBrk="0">
                <a:lnSpc>
                  <a:spcPct val="89000"/>
                </a:lnSpc>
                <a:spcBef>
                  <a:spcPts val="85"/>
                </a:spcBef>
              </a:pPr>
              <a:r>
                <a:rPr lang="zh-CN" altLang="en-US" sz="1000" kern="0" spc="60" dirty="0">
                  <a:solidFill>
                    <a:schemeClr val="tx1">
                      <a:lumMod val="65000"/>
                      <a:lumOff val="35000"/>
                    </a:schemeClr>
                  </a:solidFill>
                  <a:latin typeface="Source Han Sans CN" panose="020B0600000000000000" charset="-122"/>
                  <a:ea typeface="Source Han Sans CN" panose="020B0600000000000000" charset="-122"/>
                  <a:cs typeface="黑体" panose="02010609060101010101" charset="-122"/>
                  <a:sym typeface="+mn-ea"/>
                </a:rPr>
                <a:t>业务连续性保障、风险防控、合规达成</a:t>
              </a:r>
              <a:endParaRPr lang="zh-CN" altLang="en-US" sz="1000" kern="0" spc="60" dirty="0">
                <a:solidFill>
                  <a:schemeClr val="tx1">
                    <a:lumMod val="65000"/>
                    <a:lumOff val="35000"/>
                  </a:schemeClr>
                </a:solidFill>
                <a:latin typeface="Source Han Sans CN" panose="020B0600000000000000" charset="-122"/>
                <a:ea typeface="Source Han Sans CN" panose="020B0600000000000000" charset="-122"/>
                <a:cs typeface="黑体" panose="02010609060101010101" charset="-122"/>
                <a:sym typeface="+mn-ea"/>
              </a:endParaRPr>
            </a:p>
          </p:txBody>
        </p:sp>
      </p:grpSp>
      <p:grpSp>
        <p:nvGrpSpPr>
          <p:cNvPr id="31" name="组合 30"/>
          <p:cNvGrpSpPr/>
          <p:nvPr/>
        </p:nvGrpSpPr>
        <p:grpSpPr>
          <a:xfrm>
            <a:off x="7091045" y="2498632"/>
            <a:ext cx="3239770" cy="468000"/>
            <a:chOff x="11278" y="3926"/>
            <a:chExt cx="5102" cy="859"/>
          </a:xfrm>
        </p:grpSpPr>
        <p:sp>
          <p:nvSpPr>
            <p:cNvPr id="27" name="文本框 26"/>
            <p:cNvSpPr txBox="1"/>
            <p:nvPr>
              <p:custDataLst>
                <p:tags r:id="rId4"/>
              </p:custDataLst>
            </p:nvPr>
          </p:nvSpPr>
          <p:spPr>
            <a:xfrm>
              <a:off x="11278" y="3926"/>
              <a:ext cx="4692" cy="484"/>
            </a:xfrm>
            <a:prstGeom prst="rect">
              <a:avLst/>
            </a:prstGeom>
            <a:noFill/>
            <a:ln w="0">
              <a:noFill/>
            </a:ln>
          </p:spPr>
          <p:txBody>
            <a:bodyPr wrap="square" lIns="0" tIns="0" rIns="0" bIns="0" anchor="t">
              <a:noAutofit/>
            </a:bodyPr>
            <a:p>
              <a:pPr lvl="0" algn="l">
                <a:buClrTx/>
                <a:buSzTx/>
                <a:buFontTx/>
              </a:pPr>
              <a:r>
                <a:rPr lang="zh-CN" altLang="en-US" b="1" u="none" strike="noStrike" kern="0">
                  <a:solidFill>
                    <a:schemeClr val="tx1"/>
                  </a:solidFill>
                  <a:uFillTx/>
                  <a:latin typeface="Source Han Sans CN Bold" panose="020B0600000000000000" charset="-122"/>
                  <a:ea typeface="Source Han Sans CN Bold" panose="020B0600000000000000" charset="-122"/>
                  <a:cs typeface="微软雅黑" panose="020B0503020204020204" charset="-122"/>
                  <a:sym typeface="+mn-ea"/>
                </a:rPr>
                <a:t>详细工作内容</a:t>
              </a:r>
              <a:endParaRPr lang="zh-CN" altLang="en-US" b="1" u="none" strike="noStrike" kern="0">
                <a:solidFill>
                  <a:schemeClr val="tx1"/>
                </a:solidFill>
                <a:uFillTx/>
                <a:latin typeface="Source Han Sans CN Bold" panose="020B0600000000000000" charset="-122"/>
                <a:ea typeface="Source Han Sans CN Bold" panose="020B0600000000000000" charset="-122"/>
                <a:cs typeface="微软雅黑" panose="020B0503020204020204" charset="-122"/>
                <a:sym typeface="+mn-ea"/>
              </a:endParaRPr>
            </a:p>
          </p:txBody>
        </p:sp>
        <p:sp>
          <p:nvSpPr>
            <p:cNvPr id="28" name="文本框 27"/>
            <p:cNvSpPr txBox="1"/>
            <p:nvPr>
              <p:custDataLst>
                <p:tags r:id="rId5"/>
              </p:custDataLst>
            </p:nvPr>
          </p:nvSpPr>
          <p:spPr>
            <a:xfrm>
              <a:off x="11278" y="4445"/>
              <a:ext cx="5102" cy="340"/>
            </a:xfrm>
            <a:prstGeom prst="rect">
              <a:avLst/>
            </a:prstGeom>
            <a:noFill/>
            <a:ln w="0">
              <a:noFill/>
            </a:ln>
          </p:spPr>
          <p:txBody>
            <a:bodyPr wrap="square" lIns="0" tIns="0" rIns="0" bIns="0" anchor="ctr" anchorCtr="0">
              <a:noAutofit/>
            </a:bodyPr>
            <a:p>
              <a:pPr marL="12700" algn="l" rtl="0" eaLnBrk="0">
                <a:lnSpc>
                  <a:spcPct val="100000"/>
                </a:lnSpc>
                <a:spcBef>
                  <a:spcPts val="5"/>
                </a:spcBef>
              </a:pPr>
              <a:r>
                <a:rPr lang="zh-CN" sz="1200" kern="0" spc="70" dirty="0">
                  <a:solidFill>
                    <a:schemeClr val="tx1">
                      <a:lumMod val="65000"/>
                      <a:lumOff val="35000"/>
                    </a:schemeClr>
                  </a:solidFill>
                  <a:latin typeface="Source Han Sans CN" panose="020B0600000000000000" charset="-122"/>
                  <a:ea typeface="Source Han Sans CN" panose="020B0600000000000000" charset="-122"/>
                  <a:cs typeface="黑体" panose="02010609060101010101" charset="-122"/>
                  <a:sym typeface="+mn-ea"/>
                </a:rPr>
                <a:t>业务保护、通报</a:t>
              </a:r>
              <a:r>
                <a:rPr lang="zh-CN" sz="1200" kern="0" spc="70" dirty="0">
                  <a:solidFill>
                    <a:schemeClr val="tx1">
                      <a:lumMod val="65000"/>
                      <a:lumOff val="35000"/>
                    </a:schemeClr>
                  </a:solidFill>
                  <a:latin typeface="Source Han Sans CN" panose="020B0600000000000000" charset="-122"/>
                  <a:ea typeface="Source Han Sans CN" panose="020B0600000000000000" charset="-122"/>
                  <a:cs typeface="黑体" panose="02010609060101010101" charset="-122"/>
                  <a:sym typeface="+mn-ea"/>
                </a:rPr>
                <a:t>应对</a:t>
              </a:r>
              <a:endParaRPr lang="zh-CN" sz="1200" kern="0" spc="70" dirty="0">
                <a:solidFill>
                  <a:schemeClr val="tx1">
                    <a:lumMod val="65000"/>
                    <a:lumOff val="35000"/>
                  </a:schemeClr>
                </a:solidFill>
                <a:latin typeface="Source Han Sans CN" panose="020B0600000000000000" charset="-122"/>
                <a:ea typeface="Source Han Sans CN" panose="020B0600000000000000" charset="-122"/>
                <a:cs typeface="黑体" panose="02010609060101010101" charset="-122"/>
                <a:sym typeface="+mn-ea"/>
              </a:endParaRPr>
            </a:p>
          </p:txBody>
        </p:sp>
      </p:grpSp>
      <p:grpSp>
        <p:nvGrpSpPr>
          <p:cNvPr id="32" name="组合 31"/>
          <p:cNvGrpSpPr/>
          <p:nvPr/>
        </p:nvGrpSpPr>
        <p:grpSpPr>
          <a:xfrm rot="0">
            <a:off x="7091045" y="3430812"/>
            <a:ext cx="3239770" cy="468000"/>
            <a:chOff x="11278" y="3926"/>
            <a:chExt cx="5102" cy="859"/>
          </a:xfrm>
        </p:grpSpPr>
        <p:sp>
          <p:nvSpPr>
            <p:cNvPr id="33" name="文本框 32"/>
            <p:cNvSpPr txBox="1"/>
            <p:nvPr>
              <p:custDataLst>
                <p:tags r:id="rId6"/>
              </p:custDataLst>
            </p:nvPr>
          </p:nvSpPr>
          <p:spPr>
            <a:xfrm>
              <a:off x="11278" y="3926"/>
              <a:ext cx="4692" cy="484"/>
            </a:xfrm>
            <a:prstGeom prst="rect">
              <a:avLst/>
            </a:prstGeom>
            <a:noFill/>
            <a:ln w="0">
              <a:noFill/>
            </a:ln>
          </p:spPr>
          <p:txBody>
            <a:bodyPr wrap="square" lIns="0" tIns="0" rIns="0" bIns="0" anchor="t">
              <a:noAutofit/>
            </a:bodyPr>
            <a:p>
              <a:pPr lvl="0" algn="l">
                <a:buClrTx/>
                <a:buSzTx/>
                <a:buFontTx/>
              </a:pPr>
              <a:r>
                <a:rPr lang="zh-CN" altLang="en-US" b="1" u="none" strike="noStrike" kern="0">
                  <a:solidFill>
                    <a:schemeClr val="tx1"/>
                  </a:solidFill>
                  <a:uFillTx/>
                  <a:latin typeface="Source Han Sans CN Bold" panose="020B0600000000000000" charset="-122"/>
                  <a:ea typeface="Source Han Sans CN Bold" panose="020B0600000000000000" charset="-122"/>
                  <a:cs typeface="微软雅黑" panose="020B0503020204020204" charset="-122"/>
                  <a:sym typeface="+mn-ea"/>
                </a:rPr>
                <a:t>关键问题与解决方案</a:t>
              </a:r>
              <a:endParaRPr lang="zh-CN" altLang="en-US" b="1" u="none" strike="noStrike" kern="0">
                <a:solidFill>
                  <a:schemeClr val="tx1"/>
                </a:solidFill>
                <a:uFillTx/>
                <a:latin typeface="Source Han Sans CN Bold" panose="020B0600000000000000" charset="-122"/>
                <a:ea typeface="Source Han Sans CN Bold" panose="020B0600000000000000" charset="-122"/>
                <a:cs typeface="微软雅黑" panose="020B0503020204020204" charset="-122"/>
                <a:sym typeface="+mn-ea"/>
              </a:endParaRPr>
            </a:p>
          </p:txBody>
        </p:sp>
        <p:sp>
          <p:nvSpPr>
            <p:cNvPr id="34" name="文本框 33"/>
            <p:cNvSpPr txBox="1"/>
            <p:nvPr>
              <p:custDataLst>
                <p:tags r:id="rId7"/>
              </p:custDataLst>
            </p:nvPr>
          </p:nvSpPr>
          <p:spPr>
            <a:xfrm>
              <a:off x="11278" y="4445"/>
              <a:ext cx="5102" cy="340"/>
            </a:xfrm>
            <a:prstGeom prst="rect">
              <a:avLst/>
            </a:prstGeom>
            <a:noFill/>
            <a:ln w="0">
              <a:noFill/>
            </a:ln>
          </p:spPr>
          <p:txBody>
            <a:bodyPr wrap="square" lIns="0" tIns="0" rIns="0" bIns="0" anchor="ctr" anchorCtr="0">
              <a:noAutofit/>
            </a:bodyPr>
            <a:p>
              <a:pPr algn="l"/>
              <a:r>
                <a:rPr lang="zh-CN" sz="1200" kern="0" spc="60" dirty="0">
                  <a:solidFill>
                    <a:schemeClr val="tx1">
                      <a:lumMod val="65000"/>
                      <a:lumOff val="35000"/>
                    </a:schemeClr>
                  </a:solidFill>
                  <a:latin typeface="Source Han Sans CN" panose="020B0600000000000000" charset="-122"/>
                  <a:ea typeface="Source Han Sans CN" panose="020B0600000000000000" charset="-122"/>
                  <a:cs typeface="黑体" panose="02010609060101010101" charset="-122"/>
                  <a:sym typeface="+mn-ea"/>
                </a:rPr>
                <a:t>安全运营关键挑战与应对</a:t>
              </a:r>
              <a:r>
                <a:rPr lang="zh-CN" sz="1200" kern="0" spc="60" dirty="0">
                  <a:solidFill>
                    <a:schemeClr val="tx1">
                      <a:lumMod val="65000"/>
                      <a:lumOff val="35000"/>
                    </a:schemeClr>
                  </a:solidFill>
                  <a:latin typeface="Source Han Sans CN" panose="020B0600000000000000" charset="-122"/>
                  <a:ea typeface="Source Han Sans CN" panose="020B0600000000000000" charset="-122"/>
                  <a:cs typeface="黑体" panose="02010609060101010101" charset="-122"/>
                  <a:sym typeface="+mn-ea"/>
                </a:rPr>
                <a:t>思路讨论</a:t>
              </a:r>
              <a:endParaRPr lang="zh-CN" sz="1200" kern="0" spc="60" dirty="0">
                <a:solidFill>
                  <a:schemeClr val="tx1">
                    <a:lumMod val="65000"/>
                    <a:lumOff val="35000"/>
                  </a:schemeClr>
                </a:solidFill>
                <a:latin typeface="Source Han Sans CN" panose="020B0600000000000000" charset="-122"/>
                <a:ea typeface="Source Han Sans CN" panose="020B0600000000000000" charset="-122"/>
                <a:cs typeface="黑体" panose="02010609060101010101" charset="-122"/>
                <a:sym typeface="+mn-ea"/>
              </a:endParaRPr>
            </a:p>
          </p:txBody>
        </p:sp>
      </p:grpSp>
      <p:grpSp>
        <p:nvGrpSpPr>
          <p:cNvPr id="48" name="组合 47"/>
          <p:cNvGrpSpPr/>
          <p:nvPr/>
        </p:nvGrpSpPr>
        <p:grpSpPr>
          <a:xfrm rot="0">
            <a:off x="7091045" y="4362992"/>
            <a:ext cx="3239770" cy="468000"/>
            <a:chOff x="11278" y="3926"/>
            <a:chExt cx="5102" cy="859"/>
          </a:xfrm>
        </p:grpSpPr>
        <p:sp>
          <p:nvSpPr>
            <p:cNvPr id="50" name="文本框 49"/>
            <p:cNvSpPr txBox="1"/>
            <p:nvPr>
              <p:custDataLst>
                <p:tags r:id="rId8"/>
              </p:custDataLst>
            </p:nvPr>
          </p:nvSpPr>
          <p:spPr>
            <a:xfrm>
              <a:off x="11278" y="3926"/>
              <a:ext cx="4692" cy="484"/>
            </a:xfrm>
            <a:prstGeom prst="rect">
              <a:avLst/>
            </a:prstGeom>
            <a:noFill/>
            <a:ln w="0">
              <a:noFill/>
            </a:ln>
          </p:spPr>
          <p:txBody>
            <a:bodyPr wrap="square" lIns="0" tIns="0" rIns="0" bIns="0" anchor="t">
              <a:noAutofit/>
            </a:bodyPr>
            <a:p>
              <a:pPr lvl="0" algn="l">
                <a:buClrTx/>
                <a:buSzTx/>
                <a:buFontTx/>
              </a:pPr>
              <a:r>
                <a:rPr lang="zh-CN" altLang="en-US" b="1" u="none" strike="noStrike" kern="0">
                  <a:solidFill>
                    <a:schemeClr val="tx1"/>
                  </a:solidFill>
                  <a:uFillTx/>
                  <a:latin typeface="Source Han Sans CN Bold" panose="020B0600000000000000" charset="-122"/>
                  <a:ea typeface="Source Han Sans CN Bold" panose="020B0600000000000000" charset="-122"/>
                  <a:cs typeface="微软雅黑" panose="020B0503020204020204" charset="-122"/>
                  <a:sym typeface="+mn-ea"/>
                </a:rPr>
                <a:t>下阶段工作规划</a:t>
              </a:r>
              <a:endParaRPr lang="zh-CN" altLang="en-US" b="1" u="none" strike="noStrike" kern="0">
                <a:solidFill>
                  <a:schemeClr val="tx1"/>
                </a:solidFill>
                <a:uFillTx/>
                <a:latin typeface="Source Han Sans CN Bold" panose="020B0600000000000000" charset="-122"/>
                <a:ea typeface="Source Han Sans CN Bold" panose="020B0600000000000000" charset="-122"/>
                <a:cs typeface="微软雅黑" panose="020B0503020204020204" charset="-122"/>
                <a:sym typeface="+mn-ea"/>
              </a:endParaRPr>
            </a:p>
          </p:txBody>
        </p:sp>
        <p:sp>
          <p:nvSpPr>
            <p:cNvPr id="52" name="文本框 51"/>
            <p:cNvSpPr txBox="1"/>
            <p:nvPr>
              <p:custDataLst>
                <p:tags r:id="rId9"/>
              </p:custDataLst>
            </p:nvPr>
          </p:nvSpPr>
          <p:spPr>
            <a:xfrm>
              <a:off x="11278" y="4445"/>
              <a:ext cx="5102" cy="340"/>
            </a:xfrm>
            <a:prstGeom prst="rect">
              <a:avLst/>
            </a:prstGeom>
            <a:noFill/>
            <a:ln w="0">
              <a:noFill/>
            </a:ln>
          </p:spPr>
          <p:txBody>
            <a:bodyPr wrap="square" lIns="0" tIns="0" rIns="0" bIns="0" anchor="ctr" anchorCtr="0">
              <a:noAutofit/>
            </a:bodyPr>
            <a:p>
              <a:pPr marL="12700" algn="l" rtl="0" eaLnBrk="0">
                <a:lnSpc>
                  <a:spcPct val="100000"/>
                </a:lnSpc>
                <a:spcBef>
                  <a:spcPts val="0"/>
                </a:spcBef>
              </a:pPr>
              <a:r>
                <a:rPr lang="zh-CN" sz="1200" kern="0" spc="60" dirty="0">
                  <a:solidFill>
                    <a:schemeClr val="tx1">
                      <a:lumMod val="65000"/>
                      <a:lumOff val="35000"/>
                    </a:schemeClr>
                  </a:solidFill>
                  <a:latin typeface="Source Han Sans CN" panose="020B0600000000000000" charset="-122"/>
                  <a:ea typeface="Source Han Sans CN" panose="020B0600000000000000" charset="-122"/>
                  <a:cs typeface="黑体" panose="02010609060101010101" charset="-122"/>
                  <a:sym typeface="+mn-ea"/>
                </a:rPr>
                <a:t>后续工作重点投入方向</a:t>
              </a:r>
              <a:r>
                <a:rPr lang="zh-CN" sz="1200" kern="0" spc="60" dirty="0">
                  <a:solidFill>
                    <a:schemeClr val="tx1">
                      <a:lumMod val="65000"/>
                      <a:lumOff val="35000"/>
                    </a:schemeClr>
                  </a:solidFill>
                  <a:latin typeface="Source Han Sans CN" panose="020B0600000000000000" charset="-122"/>
                  <a:ea typeface="Source Han Sans CN" panose="020B0600000000000000" charset="-122"/>
                  <a:cs typeface="黑体" panose="02010609060101010101" charset="-122"/>
                  <a:sym typeface="+mn-ea"/>
                </a:rPr>
                <a:t>对齐</a:t>
              </a:r>
              <a:endParaRPr lang="zh-CN" sz="1200" kern="0" spc="60" dirty="0">
                <a:solidFill>
                  <a:schemeClr val="tx1">
                    <a:lumMod val="65000"/>
                    <a:lumOff val="35000"/>
                  </a:schemeClr>
                </a:solidFill>
                <a:latin typeface="Source Han Sans CN" panose="020B0600000000000000" charset="-122"/>
                <a:ea typeface="Source Han Sans CN" panose="020B0600000000000000" charset="-122"/>
                <a:cs typeface="黑体" panose="02010609060101010101" charset="-122"/>
                <a:sym typeface="+mn-ea"/>
              </a:endParaRPr>
            </a:p>
          </p:txBody>
        </p:sp>
      </p:grpSp>
      <p:sp>
        <p:nvSpPr>
          <p:cNvPr id="64" name="节编号"/>
          <p:cNvSpPr>
            <a:spLocks noGrp="1"/>
          </p:cNvSpPr>
          <p:nvPr>
            <p:custDataLst>
              <p:tags r:id="rId10"/>
            </p:custDataLst>
          </p:nvPr>
        </p:nvSpPr>
        <p:spPr>
          <a:xfrm>
            <a:off x="6029960" y="1440180"/>
            <a:ext cx="1008000" cy="720000"/>
          </a:xfrm>
          <a:prstGeom prst="rect">
            <a:avLst/>
          </a:prstGeom>
        </p:spPr>
        <p:txBody>
          <a:bodyPr vert="horz" wrap="none" lIns="0" tIns="0" rIns="0" bIns="0" rtlCol="0" anchor="ctr" anchorCtr="0">
            <a:normAutofit/>
          </a:bodyPr>
          <a:lstStyle>
            <a:lvl1pPr marL="0" indent="0" algn="ctr" defTabSz="914400" rtl="0" eaLnBrk="1" latinLnBrk="0" hangingPunct="1">
              <a:lnSpc>
                <a:spcPct val="130000"/>
              </a:lnSpc>
              <a:spcBef>
                <a:spcPts val="1000"/>
              </a:spcBef>
              <a:buFont typeface="Arial" panose="020B0604020202020204" pitchFamily="34" charset="0"/>
              <a:buNone/>
              <a:defRPr sz="11500" b="1" kern="1200">
                <a:gradFill>
                  <a:gsLst>
                    <a:gs pos="0">
                      <a:schemeClr val="accent1">
                        <a:lumMod val="60000"/>
                        <a:lumOff val="40000"/>
                      </a:schemeClr>
                    </a:gs>
                    <a:gs pos="100000">
                      <a:schemeClr val="accent1"/>
                    </a:gs>
                  </a:gsLst>
                  <a:lin ang="3600000" scaled="0"/>
                </a:gra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altLang="en-US" sz="3600">
                <a:solidFill>
                  <a:srgbClr val="0C51C2"/>
                </a:solidFill>
                <a:latin typeface="Arial" panose="020B0604020202020204" pitchFamily="34" charset="0"/>
                <a:ea typeface="微软雅黑" panose="020B0503020204020204" charset="-122"/>
                <a:cs typeface="Arial" panose="020B0604020202020204" pitchFamily="34" charset="0"/>
              </a:rPr>
              <a:t>01</a:t>
            </a:r>
            <a:endParaRPr lang="en-US" altLang="en-US" sz="3600">
              <a:solidFill>
                <a:srgbClr val="0C51C2"/>
              </a:solidFill>
              <a:latin typeface="Arial" panose="020B0604020202020204" pitchFamily="34" charset="0"/>
              <a:ea typeface="微软雅黑" panose="020B0503020204020204" charset="-122"/>
              <a:cs typeface="Arial" panose="020B0604020202020204" pitchFamily="34" charset="0"/>
            </a:endParaRPr>
          </a:p>
        </p:txBody>
      </p:sp>
      <p:sp>
        <p:nvSpPr>
          <p:cNvPr id="65" name="节编号"/>
          <p:cNvSpPr>
            <a:spLocks noGrp="1"/>
          </p:cNvSpPr>
          <p:nvPr>
            <p:custDataLst>
              <p:tags r:id="rId11"/>
            </p:custDataLst>
          </p:nvPr>
        </p:nvSpPr>
        <p:spPr>
          <a:xfrm>
            <a:off x="6029960" y="2372905"/>
            <a:ext cx="1008000" cy="719455"/>
          </a:xfrm>
          <a:prstGeom prst="rect">
            <a:avLst/>
          </a:prstGeom>
        </p:spPr>
        <p:txBody>
          <a:bodyPr vert="horz" wrap="none" lIns="0" tIns="0" rIns="0" bIns="0" rtlCol="0" anchor="ctr" anchorCtr="0">
            <a:normAutofit/>
          </a:bodyPr>
          <a:lstStyle>
            <a:lvl1pPr marL="0" indent="0" algn="ctr" defTabSz="914400" rtl="0" eaLnBrk="1" latinLnBrk="0" hangingPunct="1">
              <a:lnSpc>
                <a:spcPct val="130000"/>
              </a:lnSpc>
              <a:spcBef>
                <a:spcPts val="1000"/>
              </a:spcBef>
              <a:buFont typeface="Arial" panose="020B0604020202020204" pitchFamily="34" charset="0"/>
              <a:buNone/>
              <a:defRPr sz="11500" b="1" kern="1200">
                <a:gradFill>
                  <a:gsLst>
                    <a:gs pos="0">
                      <a:schemeClr val="accent1">
                        <a:lumMod val="60000"/>
                        <a:lumOff val="40000"/>
                      </a:schemeClr>
                    </a:gs>
                    <a:gs pos="100000">
                      <a:schemeClr val="accent1"/>
                    </a:gs>
                  </a:gsLst>
                  <a:lin ang="3600000" scaled="0"/>
                </a:gra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altLang="en-US" sz="3600">
                <a:solidFill>
                  <a:srgbClr val="0C51C2"/>
                </a:solidFill>
                <a:latin typeface="Arial" panose="020B0604020202020204" pitchFamily="34" charset="0"/>
                <a:ea typeface="微软雅黑" panose="020B0503020204020204" charset="-122"/>
                <a:cs typeface="Arial" panose="020B0604020202020204" pitchFamily="34" charset="0"/>
              </a:rPr>
              <a:t>02</a:t>
            </a:r>
            <a:endParaRPr lang="en-US" altLang="en-US" sz="3600">
              <a:solidFill>
                <a:srgbClr val="0C51C2"/>
              </a:solidFill>
              <a:latin typeface="DINPro Bold" panose="02000503030000020004" charset="0"/>
              <a:ea typeface="微软雅黑" panose="020B0503020204020204" charset="-122"/>
              <a:cs typeface="DINPro Bold" panose="02000503030000020004" charset="0"/>
            </a:endParaRPr>
          </a:p>
        </p:txBody>
      </p:sp>
      <p:sp>
        <p:nvSpPr>
          <p:cNvPr id="66" name="节编号"/>
          <p:cNvSpPr>
            <a:spLocks noGrp="1"/>
          </p:cNvSpPr>
          <p:nvPr>
            <p:custDataLst>
              <p:tags r:id="rId12"/>
            </p:custDataLst>
          </p:nvPr>
        </p:nvSpPr>
        <p:spPr>
          <a:xfrm>
            <a:off x="6029960" y="3305085"/>
            <a:ext cx="1008000" cy="719455"/>
          </a:xfrm>
          <a:prstGeom prst="rect">
            <a:avLst/>
          </a:prstGeom>
        </p:spPr>
        <p:txBody>
          <a:bodyPr vert="horz" wrap="none" lIns="0" tIns="0" rIns="0" bIns="0" rtlCol="0" anchor="ctr" anchorCtr="0">
            <a:normAutofit/>
          </a:bodyPr>
          <a:lstStyle>
            <a:lvl1pPr marL="0" indent="0" algn="ctr" defTabSz="914400" rtl="0" eaLnBrk="1" latinLnBrk="0" hangingPunct="1">
              <a:lnSpc>
                <a:spcPct val="130000"/>
              </a:lnSpc>
              <a:spcBef>
                <a:spcPts val="1000"/>
              </a:spcBef>
              <a:buFont typeface="Arial" panose="020B0604020202020204" pitchFamily="34" charset="0"/>
              <a:buNone/>
              <a:defRPr sz="11500" b="1" kern="1200">
                <a:gradFill>
                  <a:gsLst>
                    <a:gs pos="0">
                      <a:schemeClr val="accent1">
                        <a:lumMod val="60000"/>
                        <a:lumOff val="40000"/>
                      </a:schemeClr>
                    </a:gs>
                    <a:gs pos="100000">
                      <a:schemeClr val="accent1"/>
                    </a:gs>
                  </a:gsLst>
                  <a:lin ang="3600000" scaled="0"/>
                </a:gra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altLang="en-US" sz="3600">
                <a:solidFill>
                  <a:srgbClr val="0C51C2"/>
                </a:solidFill>
                <a:latin typeface="Arial" panose="020B0604020202020204" pitchFamily="34" charset="0"/>
                <a:ea typeface="微软雅黑" panose="020B0503020204020204" charset="-122"/>
                <a:cs typeface="Arial" panose="020B0604020202020204" pitchFamily="34" charset="0"/>
              </a:rPr>
              <a:t>03</a:t>
            </a:r>
            <a:endParaRPr lang="en-US" altLang="en-US" sz="3600">
              <a:solidFill>
                <a:srgbClr val="0C51C2"/>
              </a:solidFill>
              <a:latin typeface="DINPro Bold" panose="02000503030000020004" charset="0"/>
              <a:ea typeface="微软雅黑" panose="020B0503020204020204" charset="-122"/>
              <a:cs typeface="DINPro Bold" panose="02000503030000020004" charset="0"/>
            </a:endParaRPr>
          </a:p>
        </p:txBody>
      </p:sp>
      <p:sp>
        <p:nvSpPr>
          <p:cNvPr id="67" name="节编号"/>
          <p:cNvSpPr>
            <a:spLocks noGrp="1"/>
          </p:cNvSpPr>
          <p:nvPr>
            <p:custDataLst>
              <p:tags r:id="rId13"/>
            </p:custDataLst>
          </p:nvPr>
        </p:nvSpPr>
        <p:spPr>
          <a:xfrm>
            <a:off x="6029960" y="4237265"/>
            <a:ext cx="1008000" cy="719455"/>
          </a:xfrm>
          <a:prstGeom prst="rect">
            <a:avLst/>
          </a:prstGeom>
        </p:spPr>
        <p:txBody>
          <a:bodyPr vert="horz" wrap="none" lIns="0" tIns="0" rIns="0" bIns="0" rtlCol="0" anchor="ctr" anchorCtr="0">
            <a:normAutofit/>
          </a:bodyPr>
          <a:lstStyle>
            <a:lvl1pPr marL="0" indent="0" algn="ctr" defTabSz="914400" rtl="0" eaLnBrk="1" latinLnBrk="0" hangingPunct="1">
              <a:lnSpc>
                <a:spcPct val="130000"/>
              </a:lnSpc>
              <a:spcBef>
                <a:spcPts val="1000"/>
              </a:spcBef>
              <a:buFont typeface="Arial" panose="020B0604020202020204" pitchFamily="34" charset="0"/>
              <a:buNone/>
              <a:defRPr sz="11500" b="1" kern="1200">
                <a:gradFill>
                  <a:gsLst>
                    <a:gs pos="0">
                      <a:schemeClr val="accent1">
                        <a:lumMod val="60000"/>
                        <a:lumOff val="40000"/>
                      </a:schemeClr>
                    </a:gs>
                    <a:gs pos="100000">
                      <a:schemeClr val="accent1"/>
                    </a:gs>
                  </a:gsLst>
                  <a:lin ang="3600000" scaled="0"/>
                </a:gra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altLang="en-US" sz="3600">
                <a:solidFill>
                  <a:srgbClr val="0C51C2"/>
                </a:solidFill>
                <a:latin typeface="Arial" panose="020B0604020202020204" pitchFamily="34" charset="0"/>
                <a:ea typeface="微软雅黑" panose="020B0503020204020204" charset="-122"/>
                <a:cs typeface="Arial" panose="020B0604020202020204" pitchFamily="34" charset="0"/>
              </a:rPr>
              <a:t>04</a:t>
            </a:r>
            <a:endParaRPr lang="en-US" altLang="en-US" sz="3600">
              <a:solidFill>
                <a:srgbClr val="0C51C2"/>
              </a:solidFill>
              <a:latin typeface="DINPro Bold" panose="02000503030000020004" charset="0"/>
              <a:ea typeface="微软雅黑" panose="020B0503020204020204" charset="-122"/>
              <a:cs typeface="DINPro Bold" panose="02000503030000020004" charset="0"/>
            </a:endParaRPr>
          </a:p>
        </p:txBody>
      </p:sp>
      <p:pic>
        <p:nvPicPr>
          <p:cNvPr id="68" name="图片 67" descr="深信服 + 智安全"/>
          <p:cNvPicPr>
            <a:picLocks noChangeAspect="1"/>
          </p:cNvPicPr>
          <p:nvPr/>
        </p:nvPicPr>
        <p:blipFill>
          <a:blip r:embed="rId14"/>
          <a:srcRect l="5232" t="26576" r="4938" b="29565"/>
          <a:stretch>
            <a:fillRect/>
          </a:stretch>
        </p:blipFill>
        <p:spPr>
          <a:xfrm>
            <a:off x="10330815" y="273073"/>
            <a:ext cx="1629867" cy="360000"/>
          </a:xfrm>
          <a:prstGeom prst="rect">
            <a:avLst/>
          </a:prstGeom>
        </p:spPr>
      </p:pic>
      <p:sp>
        <p:nvSpPr>
          <p:cNvPr id="5" name="节编号"/>
          <p:cNvSpPr>
            <a:spLocks noGrp="1"/>
          </p:cNvSpPr>
          <p:nvPr>
            <p:custDataLst>
              <p:tags r:id="rId15"/>
            </p:custDataLst>
          </p:nvPr>
        </p:nvSpPr>
        <p:spPr>
          <a:xfrm>
            <a:off x="6029960" y="5169445"/>
            <a:ext cx="1008000" cy="719455"/>
          </a:xfrm>
          <a:prstGeom prst="rect">
            <a:avLst/>
          </a:prstGeom>
        </p:spPr>
        <p:txBody>
          <a:bodyPr vert="horz" wrap="none" lIns="0" tIns="0" rIns="0" bIns="0" rtlCol="0" anchor="ctr" anchorCtr="0">
            <a:normAutofit/>
          </a:bodyPr>
          <a:lstStyle>
            <a:lvl1pPr marL="0" indent="0" algn="ctr" defTabSz="914400" rtl="0" eaLnBrk="1" latinLnBrk="0" hangingPunct="1">
              <a:lnSpc>
                <a:spcPct val="130000"/>
              </a:lnSpc>
              <a:spcBef>
                <a:spcPts val="1000"/>
              </a:spcBef>
              <a:buFont typeface="Arial" panose="020B0604020202020204" pitchFamily="34" charset="0"/>
              <a:buNone/>
              <a:defRPr sz="11500" b="1" kern="1200">
                <a:gradFill>
                  <a:gsLst>
                    <a:gs pos="0">
                      <a:schemeClr val="accent1">
                        <a:lumMod val="60000"/>
                        <a:lumOff val="40000"/>
                      </a:schemeClr>
                    </a:gs>
                    <a:gs pos="100000">
                      <a:schemeClr val="accent1"/>
                    </a:gs>
                  </a:gsLst>
                  <a:lin ang="3600000" scaled="0"/>
                </a:gra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altLang="en-US" sz="3600">
                <a:solidFill>
                  <a:srgbClr val="0C51C2"/>
                </a:solidFill>
                <a:latin typeface="Arial" panose="020B0604020202020204" pitchFamily="34" charset="0"/>
                <a:ea typeface="微软雅黑" panose="020B0503020204020204" charset="-122"/>
                <a:cs typeface="Arial" panose="020B0604020202020204" pitchFamily="34" charset="0"/>
              </a:rPr>
              <a:t>05</a:t>
            </a:r>
            <a:endParaRPr lang="en-US" altLang="en-US" sz="3600">
              <a:solidFill>
                <a:srgbClr val="0C51C2"/>
              </a:solidFill>
              <a:latin typeface="DINPro Bold" panose="02000503030000020004" charset="0"/>
              <a:ea typeface="微软雅黑" panose="020B0503020204020204" charset="-122"/>
              <a:cs typeface="DINPro Bold" panose="02000503030000020004" charset="0"/>
            </a:endParaRPr>
          </a:p>
        </p:txBody>
      </p:sp>
      <p:grpSp>
        <p:nvGrpSpPr>
          <p:cNvPr id="6" name="组合 5"/>
          <p:cNvGrpSpPr/>
          <p:nvPr/>
        </p:nvGrpSpPr>
        <p:grpSpPr>
          <a:xfrm rot="0">
            <a:off x="7091045" y="5295172"/>
            <a:ext cx="3239770" cy="468000"/>
            <a:chOff x="11278" y="3926"/>
            <a:chExt cx="5102" cy="859"/>
          </a:xfrm>
        </p:grpSpPr>
        <p:sp>
          <p:nvSpPr>
            <p:cNvPr id="7" name="文本框 6"/>
            <p:cNvSpPr txBox="1"/>
            <p:nvPr>
              <p:custDataLst>
                <p:tags r:id="rId16"/>
              </p:custDataLst>
            </p:nvPr>
          </p:nvSpPr>
          <p:spPr>
            <a:xfrm>
              <a:off x="11278" y="3926"/>
              <a:ext cx="4692" cy="484"/>
            </a:xfrm>
            <a:prstGeom prst="rect">
              <a:avLst/>
            </a:prstGeom>
            <a:noFill/>
            <a:ln w="0">
              <a:noFill/>
            </a:ln>
          </p:spPr>
          <p:txBody>
            <a:bodyPr wrap="square" lIns="0" tIns="0" rIns="0" bIns="0" anchor="t">
              <a:noAutofit/>
            </a:bodyPr>
            <a:p>
              <a:pPr lvl="0" algn="l">
                <a:buClrTx/>
                <a:buSzTx/>
                <a:buFontTx/>
              </a:pPr>
              <a:r>
                <a:rPr lang="zh-CN" altLang="en-US" b="1" u="none" strike="noStrike" kern="0">
                  <a:solidFill>
                    <a:schemeClr val="tx1"/>
                  </a:solidFill>
                  <a:uFillTx/>
                  <a:latin typeface="Source Han Sans CN Bold" panose="020B0600000000000000" charset="-122"/>
                  <a:ea typeface="Source Han Sans CN Bold" panose="020B0600000000000000" charset="-122"/>
                  <a:cs typeface="微软雅黑" panose="020B0503020204020204" charset="-122"/>
                  <a:sym typeface="+mn-ea"/>
                </a:rPr>
                <a:t>总结</a:t>
              </a:r>
              <a:r>
                <a:rPr lang="zh-CN" altLang="en-US" b="1" u="none" strike="noStrike" kern="0">
                  <a:solidFill>
                    <a:schemeClr val="tx1"/>
                  </a:solidFill>
                  <a:uFillTx/>
                  <a:latin typeface="Source Han Sans CN Bold" panose="020B0600000000000000" charset="-122"/>
                  <a:ea typeface="Source Han Sans CN Bold" panose="020B0600000000000000" charset="-122"/>
                  <a:cs typeface="微软雅黑" panose="020B0503020204020204" charset="-122"/>
                  <a:sym typeface="+mn-ea"/>
                </a:rPr>
                <a:t>与建议</a:t>
              </a:r>
              <a:endParaRPr lang="zh-CN" altLang="en-US" b="1" u="none" strike="noStrike" kern="0">
                <a:solidFill>
                  <a:schemeClr val="tx1"/>
                </a:solidFill>
                <a:uFillTx/>
                <a:latin typeface="Source Han Sans CN Bold" panose="020B0600000000000000" charset="-122"/>
                <a:ea typeface="Source Han Sans CN Bold" panose="020B0600000000000000" charset="-122"/>
                <a:cs typeface="微软雅黑" panose="020B0503020204020204" charset="-122"/>
                <a:sym typeface="+mn-ea"/>
              </a:endParaRPr>
            </a:p>
          </p:txBody>
        </p:sp>
        <p:sp>
          <p:nvSpPr>
            <p:cNvPr id="8" name="文本框 7"/>
            <p:cNvSpPr txBox="1"/>
            <p:nvPr>
              <p:custDataLst>
                <p:tags r:id="rId17"/>
              </p:custDataLst>
            </p:nvPr>
          </p:nvSpPr>
          <p:spPr>
            <a:xfrm>
              <a:off x="11278" y="4445"/>
              <a:ext cx="5102" cy="340"/>
            </a:xfrm>
            <a:prstGeom prst="rect">
              <a:avLst/>
            </a:prstGeom>
            <a:noFill/>
            <a:ln w="0">
              <a:noFill/>
            </a:ln>
          </p:spPr>
          <p:txBody>
            <a:bodyPr wrap="square" lIns="0" tIns="0" rIns="0" bIns="0" anchor="ctr" anchorCtr="0">
              <a:noAutofit/>
            </a:bodyPr>
            <a:p>
              <a:pPr marL="12700" algn="l" rtl="0" eaLnBrk="0">
                <a:lnSpc>
                  <a:spcPct val="100000"/>
                </a:lnSpc>
                <a:spcBef>
                  <a:spcPts val="0"/>
                </a:spcBef>
              </a:pPr>
              <a:r>
                <a:rPr lang="zh-CN" altLang="en-US" sz="1200" kern="0" spc="60" dirty="0">
                  <a:solidFill>
                    <a:schemeClr val="tx1">
                      <a:lumMod val="65000"/>
                      <a:lumOff val="35000"/>
                    </a:schemeClr>
                  </a:solidFill>
                  <a:latin typeface="Source Han Sans CN" panose="020B0600000000000000" charset="-122"/>
                  <a:ea typeface="Source Han Sans CN" panose="020B0600000000000000" charset="-122"/>
                  <a:cs typeface="黑体" panose="02010609060101010101" charset="-122"/>
                  <a:sym typeface="+mn-ea"/>
                </a:rPr>
                <a:t>成果回顾、决策建议、未来展望</a:t>
              </a:r>
              <a:endParaRPr lang="zh-CN" altLang="en-US" sz="1200" kern="0" spc="60" dirty="0">
                <a:solidFill>
                  <a:schemeClr val="tx1">
                    <a:lumMod val="65000"/>
                    <a:lumOff val="35000"/>
                  </a:schemeClr>
                </a:solidFill>
                <a:latin typeface="Source Han Sans CN" panose="020B0600000000000000" charset="-122"/>
                <a:ea typeface="Source Han Sans CN" panose="020B0600000000000000" charset="-122"/>
                <a:cs typeface="黑体" panose="02010609060101010101" charset="-122"/>
                <a:sym typeface="+mn-ea"/>
              </a:endParaRPr>
            </a:p>
          </p:txBody>
        </p:sp>
      </p:grpSp>
      <p:pic>
        <p:nvPicPr>
          <p:cNvPr id="62" name="图片 61" descr="病毒检测@4x"/>
          <p:cNvPicPr>
            <a:picLocks noChangeAspect="1"/>
          </p:cNvPicPr>
          <p:nvPr/>
        </p:nvPicPr>
        <p:blipFill>
          <a:blip r:embed="rId18">
            <a:alphaModFix amt="84000"/>
          </a:blip>
          <a:srcRect l="-4651" t="-6497" r="18828" b="21030"/>
          <a:stretch>
            <a:fillRect/>
          </a:stretch>
        </p:blipFill>
        <p:spPr>
          <a:xfrm flipH="1">
            <a:off x="0" y="2709545"/>
            <a:ext cx="8221980" cy="4148455"/>
          </a:xfrm>
          <a:prstGeom prst="rect">
            <a:avLst/>
          </a:prstGeom>
        </p:spPr>
      </p:pic>
    </p:spTree>
    <p:custDataLst>
      <p:tags r:id="rId19"/>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a:xfrm>
          <a:off x="0" y="0"/>
          <a:ext cx="0" cy="0"/>
          <a:chOff x="0" y="0"/>
          <a:chExt cx="0" cy="0"/>
        </a:xfrm>
      </p:grpSpPr>
      <p:sp>
        <p:nvSpPr>
          <p:cNvPr id="4" name="标题"/>
          <p:cNvSpPr>
            <a:spLocks noGrp="1"/>
          </p:cNvSpPr>
          <p:nvPr>
            <p:ph type="title" idx="4294967295"/>
            <p:custDataLst>
              <p:tags r:id="rId2"/>
            </p:custDataLst>
          </p:nvPr>
        </p:nvSpPr>
        <p:spPr>
          <a:xfrm>
            <a:off x="4723130" y="2691130"/>
            <a:ext cx="5440045" cy="798195"/>
          </a:xfrm>
        </p:spPr>
        <p:txBody>
          <a:bodyPr lIns="0" tIns="0" rIns="0" bIns="0">
            <a:normAutofit/>
          </a:bodyPr>
          <a:lstStyle/>
          <a:p>
            <a:pPr>
              <a:lnSpc>
                <a:spcPct val="100000"/>
              </a:lnSpc>
            </a:pPr>
            <a:r>
              <a:rPr lang="zh-CN" altLang="en-US" sz="4400" b="1" kern="0">
                <a:solidFill>
                  <a:srgbClr val="0B4CBB"/>
                </a:solidFill>
                <a:uFillTx/>
                <a:latin typeface="Source Han Sans CN Bold" panose="020B0600000000000000" charset="-122"/>
                <a:ea typeface="Source Han Sans CN Bold" panose="020B0600000000000000" charset="-122"/>
                <a:cs typeface="微软雅黑" panose="020B0503020204020204" charset="-122"/>
                <a:sym typeface="+mn-ea"/>
              </a:rPr>
              <a:t>项目背景回顾</a:t>
            </a:r>
            <a:endParaRPr lang="zh-CN" altLang="en-US" sz="4400" b="1" kern="0" dirty="0">
              <a:solidFill>
                <a:srgbClr val="0B4CBB"/>
              </a:solidFill>
              <a:uFillTx/>
              <a:latin typeface="Source Han Sans CN Bold" panose="020B0600000000000000" charset="-122"/>
              <a:ea typeface="Source Han Sans CN Bold" panose="020B0600000000000000" charset="-122"/>
              <a:cs typeface="微软雅黑" panose="020B0503020204020204" charset="-122"/>
              <a:sym typeface="+mn-ea"/>
            </a:endParaRPr>
          </a:p>
        </p:txBody>
      </p:sp>
      <p:sp>
        <p:nvSpPr>
          <p:cNvPr id="44" name="文本框 43"/>
          <p:cNvSpPr txBox="1"/>
          <p:nvPr>
            <p:custDataLst>
              <p:tags r:id="rId3"/>
            </p:custDataLst>
          </p:nvPr>
        </p:nvSpPr>
        <p:spPr>
          <a:xfrm>
            <a:off x="4723130" y="3601720"/>
            <a:ext cx="4703445" cy="424815"/>
          </a:xfrm>
          <a:prstGeom prst="rect">
            <a:avLst/>
          </a:prstGeom>
          <a:noFill/>
          <a:ln w="0">
            <a:noFill/>
          </a:ln>
        </p:spPr>
        <p:txBody>
          <a:bodyPr wrap="square" lIns="0" tIns="0" rIns="0" bIns="0" anchor="ctr" anchorCtr="0">
            <a:noAutofit/>
          </a:bodyPr>
          <a:p>
            <a:pPr marL="20955" algn="l" rtl="0" eaLnBrk="0">
              <a:lnSpc>
                <a:spcPct val="89000"/>
              </a:lnSpc>
              <a:spcBef>
                <a:spcPts val="85"/>
              </a:spcBef>
            </a:pPr>
            <a:r>
              <a:rPr lang="zh-CN" sz="2000" kern="0" spc="60" dirty="0">
                <a:solidFill>
                  <a:schemeClr val="tx1">
                    <a:lumMod val="65000"/>
                    <a:lumOff val="35000"/>
                  </a:schemeClr>
                </a:solidFill>
                <a:latin typeface="Source Han Sans CN Regular" panose="020B0600000000000000" charset="-122"/>
                <a:ea typeface="Source Han Sans CN Regular" panose="020B0600000000000000" charset="-122"/>
                <a:cs typeface="黑体" panose="02010609060101010101" charset="-122"/>
                <a:sym typeface="+mn-ea"/>
              </a:rPr>
              <a:t>同步项目信息、对齐运营目标</a:t>
            </a:r>
            <a:endParaRPr lang="zh-CN" altLang="en-US" sz="2000" kern="0" spc="60" dirty="0">
              <a:solidFill>
                <a:schemeClr val="tx1">
                  <a:lumMod val="65000"/>
                  <a:lumOff val="35000"/>
                </a:schemeClr>
              </a:solidFill>
              <a:latin typeface="Source Han Sans CN Regular" panose="020B0600000000000000" charset="-122"/>
              <a:ea typeface="Source Han Sans CN Regular" panose="020B0600000000000000" charset="-122"/>
              <a:cs typeface="黑体" panose="02010609060101010101" charset="-122"/>
              <a:sym typeface="+mn-ea"/>
            </a:endParaRPr>
          </a:p>
        </p:txBody>
      </p:sp>
      <p:pic>
        <p:nvPicPr>
          <p:cNvPr id="63" name="图片 62" descr="深信服 + 智安全"/>
          <p:cNvPicPr>
            <a:picLocks noChangeAspect="1"/>
          </p:cNvPicPr>
          <p:nvPr/>
        </p:nvPicPr>
        <p:blipFill>
          <a:blip r:embed="rId4"/>
          <a:srcRect l="5232" t="26576" r="4938" b="29565"/>
          <a:stretch>
            <a:fillRect/>
          </a:stretch>
        </p:blipFill>
        <p:spPr>
          <a:xfrm>
            <a:off x="10330815" y="273073"/>
            <a:ext cx="1629867" cy="360000"/>
          </a:xfrm>
          <a:prstGeom prst="rect">
            <a:avLst/>
          </a:prstGeom>
        </p:spPr>
      </p:pic>
      <p:sp>
        <p:nvSpPr>
          <p:cNvPr id="2" name="节编号"/>
          <p:cNvSpPr>
            <a:spLocks noGrp="1"/>
          </p:cNvSpPr>
          <p:nvPr>
            <p:custDataLst>
              <p:tags r:id="rId5"/>
            </p:custDataLst>
          </p:nvPr>
        </p:nvSpPr>
        <p:spPr>
          <a:xfrm>
            <a:off x="2720340" y="2466340"/>
            <a:ext cx="1800000" cy="1570990"/>
          </a:xfr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Aft>
                <a:spcPts val="0"/>
              </a:spcAft>
              <a:buNone/>
            </a:pPr>
            <a:r>
              <a:rPr lang="zh-CN" altLang="en-US" sz="9600" kern="0">
                <a:solidFill>
                  <a:srgbClr val="0B4CBB"/>
                </a:solidFill>
                <a:uFillTx/>
                <a:latin typeface="Arial" panose="020B0604020202020204" pitchFamily="34" charset="0"/>
                <a:ea typeface="Source Han Sans CN Bold" panose="020B0600000000000000" charset="-122"/>
                <a:cs typeface="Arial" panose="020B0604020202020204" pitchFamily="34" charset="0"/>
              </a:rPr>
              <a:t>00</a:t>
            </a:r>
            <a:endParaRPr lang="zh-CN" altLang="en-US" sz="9600" kern="0">
              <a:solidFill>
                <a:srgbClr val="0B4CBB"/>
              </a:solidFill>
              <a:uFillTx/>
              <a:latin typeface="Arial" panose="020B0604020202020204" pitchFamily="34" charset="0"/>
              <a:ea typeface="Source Han Sans CN Bold" panose="020B0600000000000000" charset="-122"/>
              <a:cs typeface="Arial" panose="020B0604020202020204" pitchFamily="34" charset="0"/>
            </a:endParaRPr>
          </a:p>
        </p:txBody>
      </p:sp>
    </p:spTree>
    <p:custDataLst>
      <p:tags r:id="rId6"/>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1">
            <a:alphaModFix amt="61000"/>
          </a:blip>
          <a:stretch>
            <a:fillRect/>
          </a:stretch>
        </a:blipFill>
        <a:effectLst/>
      </p:bgPr>
    </p:bg>
    <p:spTree>
      <p:nvGrpSpPr>
        <p:cNvPr id="1" name=""/>
        <p:cNvGrpSpPr/>
        <p:nvPr/>
      </p:nvGrpSpPr>
      <p:grpSpPr>
        <a:xfrm>
          <a:off x="0" y="0"/>
          <a:ext cx="0" cy="0"/>
          <a:chOff x="0" y="0"/>
          <a:chExt cx="0" cy="0"/>
        </a:xfrm>
      </p:grpSpPr>
      <p:sp>
        <p:nvSpPr>
          <p:cNvPr id="103" name="文本框 102"/>
          <p:cNvSpPr txBox="1"/>
          <p:nvPr/>
        </p:nvSpPr>
        <p:spPr>
          <a:xfrm>
            <a:off x="1299210" y="1151890"/>
            <a:ext cx="9592945" cy="1110615"/>
          </a:xfrm>
          <a:prstGeom prst="rect">
            <a:avLst/>
          </a:prstGeom>
          <a:noFill/>
        </p:spPr>
        <p:txBody>
          <a:bodyPr wrap="square" lIns="0" tIns="0" rIns="0" bIns="0" rtlCol="0" anchor="t" anchorCtr="0">
            <a:noAutofit/>
          </a:bodyPr>
          <a:lstStyle/>
          <a:p>
            <a:pPr lvl="0" algn="l">
              <a:lnSpc>
                <a:spcPct val="150000"/>
              </a:lnSpc>
              <a:spcAft>
                <a:spcPts val="1000"/>
              </a:spcAft>
              <a:buClrTx/>
              <a:buSzTx/>
              <a:buFontTx/>
            </a:pP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近年来，国家对信息安全的重视不断提升，相关政策明确要求企业加强防护能力并接受更严格的监管。随着单位业务的快速发展，信息安全风险防控已成为经营风险管理的关键环节。本项目将从网络安全、应用安全、系统安全等方面系统提升单位的信息化安全运营水平，通过引入专业安全团队和云网端一体化方案，构建平战结合的安全运营体系。</a:t>
            </a:r>
            <a:endPar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endParaRPr>
          </a:p>
        </p:txBody>
      </p:sp>
      <p:grpSp>
        <p:nvGrpSpPr>
          <p:cNvPr id="20" name="组合 19"/>
          <p:cNvGrpSpPr/>
          <p:nvPr/>
        </p:nvGrpSpPr>
        <p:grpSpPr>
          <a:xfrm>
            <a:off x="224790" y="289878"/>
            <a:ext cx="3597275" cy="326390"/>
            <a:chOff x="533" y="646"/>
            <a:chExt cx="5665" cy="514"/>
          </a:xfrm>
        </p:grpSpPr>
        <p:grpSp>
          <p:nvGrpSpPr>
            <p:cNvPr id="6" name="组合 5"/>
            <p:cNvGrpSpPr/>
            <p:nvPr/>
          </p:nvGrpSpPr>
          <p:grpSpPr>
            <a:xfrm rot="0">
              <a:off x="533" y="672"/>
              <a:ext cx="582" cy="420"/>
              <a:chOff x="533" y="672"/>
              <a:chExt cx="582" cy="420"/>
            </a:xfrm>
          </p:grpSpPr>
          <p:sp>
            <p:nvSpPr>
              <p:cNvPr id="4" name="燕尾形 86"/>
              <p:cNvSpPr/>
              <p:nvPr>
                <p:custDataLst>
                  <p:tags r:id="rId2"/>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5" name="燕尾形 103"/>
              <p:cNvSpPr/>
              <p:nvPr>
                <p:custDataLst>
                  <p:tags r:id="rId3"/>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16" name="textbox 158"/>
            <p:cNvSpPr/>
            <p:nvPr/>
          </p:nvSpPr>
          <p:spPr>
            <a:xfrm>
              <a:off x="1345" y="646"/>
              <a:ext cx="2427" cy="515"/>
            </a:xfrm>
            <a:prstGeom prst="rect">
              <a:avLst/>
            </a:prstGeom>
            <a:noFill/>
            <a:ln w="0" cap="flat">
              <a:noFill/>
              <a:prstDash val="solid"/>
              <a:miter lim="0"/>
            </a:ln>
          </p:spPr>
          <p:txBody>
            <a:bodyPr vert="horz" wrap="square" lIns="0" tIns="0" rIns="0" bIns="0"/>
            <a:p>
              <a:pPr algn="l" rtl="0" eaLnBrk="0">
                <a:lnSpc>
                  <a:spcPct val="78000"/>
                </a:lnSpc>
              </a:pPr>
              <a:endParaRPr sz="100" b="1" dirty="0">
                <a:solidFill>
                  <a:schemeClr val="tx1">
                    <a:lumMod val="85000"/>
                    <a:lumOff val="15000"/>
                  </a:schemeClr>
                </a:solidFill>
                <a:latin typeface="Source Han Sans CN Bold" panose="020B0600000000000000" charset="-122"/>
                <a:ea typeface="Source Han Sans CN Bold" panose="020B0600000000000000" charset="-122"/>
                <a:cs typeface="Arial" panose="020B0604020202020204"/>
              </a:endParaRPr>
            </a:p>
            <a:p>
              <a:pPr algn="l" rtl="0" eaLnBrk="0">
                <a:lnSpc>
                  <a:spcPct val="101000"/>
                </a:lnSpc>
              </a:pPr>
              <a:r>
                <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rPr>
                <a:t>项目背景回顾</a:t>
              </a:r>
              <a:endPar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cs typeface="黑体" panose="02010609060101010101" charset="-122"/>
                <a:sym typeface="Calibri" panose="020F0502020204030204" charset="0"/>
              </a:endParaRPr>
            </a:p>
          </p:txBody>
        </p:sp>
        <p:sp>
          <p:nvSpPr>
            <p:cNvPr id="19" name="textbox 158"/>
            <p:cNvSpPr/>
            <p:nvPr/>
          </p:nvSpPr>
          <p:spPr>
            <a:xfrm>
              <a:off x="3772" y="646"/>
              <a:ext cx="2427" cy="515"/>
            </a:xfrm>
            <a:prstGeom prst="rect">
              <a:avLst/>
            </a:prstGeom>
            <a:noFill/>
            <a:ln w="0" cap="flat">
              <a:noFill/>
              <a:prstDash val="solid"/>
              <a:miter lim="0"/>
            </a:ln>
          </p:spPr>
          <p:txBody>
            <a:bodyPr vert="horz" wrap="square" lIns="0" tIns="0" rIns="0" bIns="0"/>
            <a:p>
              <a:pPr algn="l" rtl="0" eaLnBrk="0">
                <a:lnSpc>
                  <a:spcPct val="58000"/>
                </a:lnSpc>
              </a:pPr>
              <a:endParaRPr sz="1600" b="1" dirty="0">
                <a:solidFill>
                  <a:srgbClr val="0B4CBB"/>
                </a:solidFill>
                <a:latin typeface="Source Han Sans CN Bold" panose="020B0600000000000000" charset="-122"/>
                <a:ea typeface="Source Han Sans CN Bold" panose="020B0600000000000000" charset="-122"/>
                <a:cs typeface="Arial" panose="020B0604020202020204"/>
              </a:endParaRPr>
            </a:p>
            <a:p>
              <a:pPr algn="l" rtl="0" eaLnBrk="0">
                <a:lnSpc>
                  <a:spcPct val="58000"/>
                </a:lnSpc>
              </a:pPr>
              <a:r>
                <a:rPr lang="zh-CN" altLang="en-US" sz="1600" b="1" noProof="0" dirty="0">
                  <a:solidFill>
                    <a:srgbClr val="0B4CBB"/>
                  </a:solidFill>
                  <a:uLnTx/>
                  <a:latin typeface="Source Han Sans CN Bold" panose="020B0600000000000000" charset="-122"/>
                  <a:ea typeface="Source Han Sans CN Bold" panose="020B0600000000000000" charset="-122"/>
                  <a:sym typeface="Calibri" panose="020F0502020204030204" charset="0"/>
                </a:rPr>
                <a:t>背景概述</a:t>
              </a:r>
              <a:endParaRPr lang="zh-CN" altLang="en-US" sz="1600" b="1" noProof="0" dirty="0">
                <a:solidFill>
                  <a:srgbClr val="0B4CBB"/>
                </a:solidFill>
                <a:uLnTx/>
                <a:latin typeface="Source Han Sans CN Bold" panose="020B0600000000000000" charset="-122"/>
                <a:ea typeface="Source Han Sans CN Bold" panose="020B0600000000000000" charset="-122"/>
                <a:sym typeface="Calibri" panose="020F0502020204030204" charset="0"/>
              </a:endParaRPr>
            </a:p>
          </p:txBody>
        </p:sp>
      </p:grpSp>
      <p:pic>
        <p:nvPicPr>
          <p:cNvPr id="63" name="图片 62" descr="深信服 + 智安全"/>
          <p:cNvPicPr>
            <a:picLocks noChangeAspect="1"/>
          </p:cNvPicPr>
          <p:nvPr/>
        </p:nvPicPr>
        <p:blipFill>
          <a:blip r:embed="rId4"/>
          <a:srcRect l="5232" t="26576" r="4938" b="29565"/>
          <a:stretch>
            <a:fillRect/>
          </a:stretch>
        </p:blipFill>
        <p:spPr>
          <a:xfrm>
            <a:off x="10330815" y="273073"/>
            <a:ext cx="1629867" cy="360000"/>
          </a:xfrm>
          <a:prstGeom prst="rect">
            <a:avLst/>
          </a:prstGeom>
        </p:spPr>
      </p:pic>
      <p:sp>
        <p:nvSpPr>
          <p:cNvPr id="144" name="任意多边形: 形状 143"/>
          <p:cNvSpPr/>
          <p:nvPr>
            <p:custDataLst>
              <p:tags r:id="rId5"/>
            </p:custDataLst>
          </p:nvPr>
        </p:nvSpPr>
        <p:spPr>
          <a:xfrm>
            <a:off x="1869440" y="6057583"/>
            <a:ext cx="1631950" cy="244475"/>
          </a:xfrm>
          <a:custGeom>
            <a:avLst/>
            <a:gdLst>
              <a:gd name="connsiteX0" fmla="*/ 682943 w 682942"/>
              <a:gd name="connsiteY0" fmla="*/ 48101 h 96202"/>
              <a:gd name="connsiteX1" fmla="*/ 341471 w 682942"/>
              <a:gd name="connsiteY1" fmla="*/ 96203 h 96202"/>
              <a:gd name="connsiteX2" fmla="*/ 0 w 682942"/>
              <a:gd name="connsiteY2" fmla="*/ 48101 h 96202"/>
              <a:gd name="connsiteX3" fmla="*/ 341471 w 682942"/>
              <a:gd name="connsiteY3" fmla="*/ 0 h 96202"/>
              <a:gd name="connsiteX4" fmla="*/ 682943 w 682942"/>
              <a:gd name="connsiteY4" fmla="*/ 48101 h 96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942" h="96202">
                <a:moveTo>
                  <a:pt x="682943" y="48101"/>
                </a:moveTo>
                <a:cubicBezTo>
                  <a:pt x="682943" y="74667"/>
                  <a:pt x="530061" y="96203"/>
                  <a:pt x="341471" y="96203"/>
                </a:cubicBezTo>
                <a:cubicBezTo>
                  <a:pt x="152882" y="96203"/>
                  <a:pt x="0" y="74667"/>
                  <a:pt x="0" y="48101"/>
                </a:cubicBezTo>
                <a:cubicBezTo>
                  <a:pt x="0" y="21536"/>
                  <a:pt x="152882" y="0"/>
                  <a:pt x="341471" y="0"/>
                </a:cubicBezTo>
                <a:cubicBezTo>
                  <a:pt x="530061" y="0"/>
                  <a:pt x="682943" y="21536"/>
                  <a:pt x="682943" y="48101"/>
                </a:cubicBezTo>
                <a:close/>
              </a:path>
            </a:pathLst>
          </a:custGeom>
          <a:noFill/>
          <a:ln w="4763" cap="flat">
            <a:gradFill>
              <a:gsLst>
                <a:gs pos="0">
                  <a:schemeClr val="accent5">
                    <a:alpha val="50000"/>
                  </a:schemeClr>
                </a:gs>
                <a:gs pos="100000">
                  <a:schemeClr val="accent5">
                    <a:lumMod val="60000"/>
                    <a:lumOff val="40000"/>
                    <a:alpha val="0"/>
                  </a:schemeClr>
                </a:gs>
              </a:gsLst>
              <a:lin ang="162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45" name="任意多边形: 形状 144"/>
          <p:cNvSpPr/>
          <p:nvPr>
            <p:custDataLst>
              <p:tags r:id="rId6"/>
            </p:custDataLst>
          </p:nvPr>
        </p:nvSpPr>
        <p:spPr>
          <a:xfrm>
            <a:off x="1612900" y="6003608"/>
            <a:ext cx="2131060" cy="354965"/>
          </a:xfrm>
          <a:custGeom>
            <a:avLst/>
            <a:gdLst>
              <a:gd name="connsiteX0" fmla="*/ 891921 w 891921"/>
              <a:gd name="connsiteY0" fmla="*/ 69723 h 139446"/>
              <a:gd name="connsiteX1" fmla="*/ 445961 w 891921"/>
              <a:gd name="connsiteY1" fmla="*/ 139446 h 139446"/>
              <a:gd name="connsiteX2" fmla="*/ 0 w 891921"/>
              <a:gd name="connsiteY2" fmla="*/ 69723 h 139446"/>
              <a:gd name="connsiteX3" fmla="*/ 445961 w 891921"/>
              <a:gd name="connsiteY3" fmla="*/ 0 h 139446"/>
              <a:gd name="connsiteX4" fmla="*/ 891921 w 891921"/>
              <a:gd name="connsiteY4" fmla="*/ 69723 h 139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921" h="139446">
                <a:moveTo>
                  <a:pt x="891921" y="69723"/>
                </a:moveTo>
                <a:cubicBezTo>
                  <a:pt x="891921" y="108230"/>
                  <a:pt x="692258" y="139446"/>
                  <a:pt x="445961" y="139446"/>
                </a:cubicBezTo>
                <a:cubicBezTo>
                  <a:pt x="199663" y="139446"/>
                  <a:pt x="0" y="108230"/>
                  <a:pt x="0" y="69723"/>
                </a:cubicBezTo>
                <a:cubicBezTo>
                  <a:pt x="0" y="31216"/>
                  <a:pt x="199663" y="0"/>
                  <a:pt x="445961" y="0"/>
                </a:cubicBezTo>
                <a:cubicBezTo>
                  <a:pt x="692258" y="0"/>
                  <a:pt x="891921" y="31216"/>
                  <a:pt x="891921" y="69723"/>
                </a:cubicBezTo>
                <a:close/>
              </a:path>
            </a:pathLst>
          </a:custGeom>
          <a:noFill/>
          <a:ln w="4763" cap="flat">
            <a:gradFill>
              <a:gsLst>
                <a:gs pos="0">
                  <a:schemeClr val="accent5">
                    <a:alpha val="30000"/>
                  </a:schemeClr>
                </a:gs>
                <a:gs pos="84000">
                  <a:schemeClr val="accent5">
                    <a:lumMod val="60000"/>
                    <a:lumOff val="40000"/>
                    <a:alpha val="0"/>
                  </a:schemeClr>
                </a:gs>
              </a:gsLst>
              <a:lin ang="162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48" name="图形 146"/>
          <p:cNvSpPr/>
          <p:nvPr>
            <p:custDataLst>
              <p:tags r:id="rId7"/>
            </p:custDataLst>
          </p:nvPr>
        </p:nvSpPr>
        <p:spPr>
          <a:xfrm>
            <a:off x="2106295" y="6113463"/>
            <a:ext cx="1145540" cy="129540"/>
          </a:xfrm>
          <a:custGeom>
            <a:avLst/>
            <a:gdLst>
              <a:gd name="connsiteX0" fmla="*/ 468440 w 468439"/>
              <a:gd name="connsiteY0" fmla="*/ 26480 h 52958"/>
              <a:gd name="connsiteX1" fmla="*/ 234220 w 468439"/>
              <a:gd name="connsiteY1" fmla="*/ 52959 h 52958"/>
              <a:gd name="connsiteX2" fmla="*/ 0 w 468439"/>
              <a:gd name="connsiteY2" fmla="*/ 26480 h 52958"/>
              <a:gd name="connsiteX3" fmla="*/ 234220 w 468439"/>
              <a:gd name="connsiteY3" fmla="*/ 0 h 52958"/>
              <a:gd name="connsiteX4" fmla="*/ 468440 w 468439"/>
              <a:gd name="connsiteY4" fmla="*/ 26480 h 52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439" h="52958">
                <a:moveTo>
                  <a:pt x="468440" y="26480"/>
                </a:moveTo>
                <a:cubicBezTo>
                  <a:pt x="468440" y="41104"/>
                  <a:pt x="363576" y="52959"/>
                  <a:pt x="234220" y="52959"/>
                </a:cubicBezTo>
                <a:cubicBezTo>
                  <a:pt x="104864" y="52959"/>
                  <a:pt x="0" y="41104"/>
                  <a:pt x="0" y="26480"/>
                </a:cubicBezTo>
                <a:cubicBezTo>
                  <a:pt x="0" y="11855"/>
                  <a:pt x="104864" y="0"/>
                  <a:pt x="234220" y="0"/>
                </a:cubicBezTo>
                <a:cubicBezTo>
                  <a:pt x="363576" y="0"/>
                  <a:pt x="468440" y="11855"/>
                  <a:pt x="468440" y="26480"/>
                </a:cubicBezTo>
                <a:close/>
              </a:path>
            </a:pathLst>
          </a:custGeom>
          <a:gradFill>
            <a:gsLst>
              <a:gs pos="100000">
                <a:schemeClr val="accent5">
                  <a:alpha val="0"/>
                </a:schemeClr>
              </a:gs>
              <a:gs pos="0">
                <a:schemeClr val="accent5">
                  <a:alpha val="75000"/>
                </a:schemeClr>
              </a:gs>
            </a:gsLst>
            <a:lin ang="16200000" scaled="0"/>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useBgFill="1">
        <p:nvSpPr>
          <p:cNvPr id="7" name="任意多边形: 形状 138"/>
          <p:cNvSpPr/>
          <p:nvPr>
            <p:custDataLst>
              <p:tags r:id="rId8"/>
            </p:custDataLst>
          </p:nvPr>
        </p:nvSpPr>
        <p:spPr>
          <a:xfrm>
            <a:off x="1422400" y="2568258"/>
            <a:ext cx="2410460" cy="3412490"/>
          </a:xfrm>
          <a:custGeom>
            <a:avLst/>
            <a:gdLst>
              <a:gd name="connsiteX0" fmla="*/ 760571 w 789813"/>
              <a:gd name="connsiteY0" fmla="*/ 1082152 h 1121631"/>
              <a:gd name="connsiteX1" fmla="*/ 32576 w 789813"/>
              <a:gd name="connsiteY1" fmla="*/ 1121586 h 1121631"/>
              <a:gd name="connsiteX2" fmla="*/ 0 w 789813"/>
              <a:gd name="connsiteY2" fmla="*/ 1090725 h 1121631"/>
              <a:gd name="connsiteX3" fmla="*/ 0 w 789813"/>
              <a:gd name="connsiteY3" fmla="*/ 30973 h 1121631"/>
              <a:gd name="connsiteX4" fmla="*/ 32004 w 789813"/>
              <a:gd name="connsiteY4" fmla="*/ 17 h 1121631"/>
              <a:gd name="connsiteX5" fmla="*/ 760000 w 789813"/>
              <a:gd name="connsiteY5" fmla="*/ 25734 h 1121631"/>
              <a:gd name="connsiteX6" fmla="*/ 789813 w 789813"/>
              <a:gd name="connsiteY6" fmla="*/ 56691 h 1121631"/>
              <a:gd name="connsiteX7" fmla="*/ 789813 w 789813"/>
              <a:gd name="connsiteY7" fmla="*/ 1051291 h 1121631"/>
              <a:gd name="connsiteX8" fmla="*/ 760571 w 789813"/>
              <a:gd name="connsiteY8" fmla="*/ 1082152 h 1121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9813" h="1121631">
                <a:moveTo>
                  <a:pt x="760571" y="1082152"/>
                </a:moveTo>
                <a:lnTo>
                  <a:pt x="32576" y="1121586"/>
                </a:lnTo>
                <a:cubicBezTo>
                  <a:pt x="14859" y="1122538"/>
                  <a:pt x="0" y="1108441"/>
                  <a:pt x="0" y="1090725"/>
                </a:cubicBezTo>
                <a:lnTo>
                  <a:pt x="0" y="30973"/>
                </a:lnTo>
                <a:cubicBezTo>
                  <a:pt x="0" y="13447"/>
                  <a:pt x="14478" y="-555"/>
                  <a:pt x="32004" y="17"/>
                </a:cubicBezTo>
                <a:lnTo>
                  <a:pt x="760000" y="25734"/>
                </a:lnTo>
                <a:cubicBezTo>
                  <a:pt x="776669" y="26306"/>
                  <a:pt x="789813" y="40022"/>
                  <a:pt x="789813" y="56691"/>
                </a:cubicBezTo>
                <a:lnTo>
                  <a:pt x="789813" y="1051291"/>
                </a:lnTo>
                <a:cubicBezTo>
                  <a:pt x="789908" y="1067674"/>
                  <a:pt x="777050" y="1081295"/>
                  <a:pt x="760571" y="1082152"/>
                </a:cubicBezTo>
                <a:close/>
              </a:path>
            </a:pathLst>
          </a:custGeom>
          <a:ln w="9525" cap="flat">
            <a:noFill/>
            <a:prstDash val="solid"/>
            <a:miter/>
          </a:ln>
          <a:effectLst>
            <a:outerShdw blurRad="139700" dist="63500" dir="5400000" algn="t" rotWithShape="0">
              <a:schemeClr val="accent5">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useBgFill="1">
        <p:nvSpPr>
          <p:cNvPr id="139" name="任意多边形: 形状 138"/>
          <p:cNvSpPr/>
          <p:nvPr>
            <p:custDataLst>
              <p:tags r:id="rId9"/>
            </p:custDataLst>
          </p:nvPr>
        </p:nvSpPr>
        <p:spPr>
          <a:xfrm>
            <a:off x="1527810" y="2712403"/>
            <a:ext cx="2199005" cy="3124200"/>
          </a:xfrm>
          <a:custGeom>
            <a:avLst/>
            <a:gdLst>
              <a:gd name="connsiteX0" fmla="*/ 760571 w 789813"/>
              <a:gd name="connsiteY0" fmla="*/ 1082152 h 1121631"/>
              <a:gd name="connsiteX1" fmla="*/ 32576 w 789813"/>
              <a:gd name="connsiteY1" fmla="*/ 1121586 h 1121631"/>
              <a:gd name="connsiteX2" fmla="*/ 0 w 789813"/>
              <a:gd name="connsiteY2" fmla="*/ 1090725 h 1121631"/>
              <a:gd name="connsiteX3" fmla="*/ 0 w 789813"/>
              <a:gd name="connsiteY3" fmla="*/ 30973 h 1121631"/>
              <a:gd name="connsiteX4" fmla="*/ 32004 w 789813"/>
              <a:gd name="connsiteY4" fmla="*/ 17 h 1121631"/>
              <a:gd name="connsiteX5" fmla="*/ 760000 w 789813"/>
              <a:gd name="connsiteY5" fmla="*/ 25734 h 1121631"/>
              <a:gd name="connsiteX6" fmla="*/ 789813 w 789813"/>
              <a:gd name="connsiteY6" fmla="*/ 56691 h 1121631"/>
              <a:gd name="connsiteX7" fmla="*/ 789813 w 789813"/>
              <a:gd name="connsiteY7" fmla="*/ 1051291 h 1121631"/>
              <a:gd name="connsiteX8" fmla="*/ 760571 w 789813"/>
              <a:gd name="connsiteY8" fmla="*/ 1082152 h 1121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9813" h="1121631">
                <a:moveTo>
                  <a:pt x="760571" y="1082152"/>
                </a:moveTo>
                <a:lnTo>
                  <a:pt x="32576" y="1121586"/>
                </a:lnTo>
                <a:cubicBezTo>
                  <a:pt x="14859" y="1122538"/>
                  <a:pt x="0" y="1108441"/>
                  <a:pt x="0" y="1090725"/>
                </a:cubicBezTo>
                <a:lnTo>
                  <a:pt x="0" y="30973"/>
                </a:lnTo>
                <a:cubicBezTo>
                  <a:pt x="0" y="13447"/>
                  <a:pt x="14478" y="-555"/>
                  <a:pt x="32004" y="17"/>
                </a:cubicBezTo>
                <a:lnTo>
                  <a:pt x="760000" y="25734"/>
                </a:lnTo>
                <a:cubicBezTo>
                  <a:pt x="776669" y="26306"/>
                  <a:pt x="789813" y="40022"/>
                  <a:pt x="789813" y="56691"/>
                </a:cubicBezTo>
                <a:lnTo>
                  <a:pt x="789813" y="1051291"/>
                </a:lnTo>
                <a:cubicBezTo>
                  <a:pt x="789908" y="1067674"/>
                  <a:pt x="777050" y="1081295"/>
                  <a:pt x="760571" y="1082152"/>
                </a:cubicBezTo>
                <a:close/>
              </a:path>
            </a:pathLst>
          </a:custGeom>
          <a:ln w="9525" cap="flat">
            <a:solidFill>
              <a:schemeClr val="accent5">
                <a:alpha val="10000"/>
              </a:schemeClr>
            </a:solidFill>
            <a:prstDash val="solid"/>
            <a:miter/>
          </a:ln>
          <a:effectLst>
            <a:outerShdw blurRad="114300" dist="50800" dir="5400000" algn="t" rotWithShape="0">
              <a:schemeClr val="accent5">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useBgFill="1">
        <p:nvSpPr>
          <p:cNvPr id="17" name="任意多边形: 形状 138"/>
          <p:cNvSpPr/>
          <p:nvPr>
            <p:custDataLst>
              <p:tags r:id="rId10"/>
            </p:custDataLst>
          </p:nvPr>
        </p:nvSpPr>
        <p:spPr>
          <a:xfrm>
            <a:off x="1527810" y="2712403"/>
            <a:ext cx="2199005" cy="3124200"/>
          </a:xfrm>
          <a:custGeom>
            <a:avLst/>
            <a:gdLst>
              <a:gd name="connsiteX0" fmla="*/ 760571 w 789813"/>
              <a:gd name="connsiteY0" fmla="*/ 1082152 h 1121631"/>
              <a:gd name="connsiteX1" fmla="*/ 32576 w 789813"/>
              <a:gd name="connsiteY1" fmla="*/ 1121586 h 1121631"/>
              <a:gd name="connsiteX2" fmla="*/ 0 w 789813"/>
              <a:gd name="connsiteY2" fmla="*/ 1090725 h 1121631"/>
              <a:gd name="connsiteX3" fmla="*/ 0 w 789813"/>
              <a:gd name="connsiteY3" fmla="*/ 30973 h 1121631"/>
              <a:gd name="connsiteX4" fmla="*/ 32004 w 789813"/>
              <a:gd name="connsiteY4" fmla="*/ 17 h 1121631"/>
              <a:gd name="connsiteX5" fmla="*/ 760000 w 789813"/>
              <a:gd name="connsiteY5" fmla="*/ 25734 h 1121631"/>
              <a:gd name="connsiteX6" fmla="*/ 789813 w 789813"/>
              <a:gd name="connsiteY6" fmla="*/ 56691 h 1121631"/>
              <a:gd name="connsiteX7" fmla="*/ 789813 w 789813"/>
              <a:gd name="connsiteY7" fmla="*/ 1051291 h 1121631"/>
              <a:gd name="connsiteX8" fmla="*/ 760571 w 789813"/>
              <a:gd name="connsiteY8" fmla="*/ 1082152 h 1121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9813" h="1121631">
                <a:moveTo>
                  <a:pt x="760571" y="1082152"/>
                </a:moveTo>
                <a:lnTo>
                  <a:pt x="32576" y="1121586"/>
                </a:lnTo>
                <a:cubicBezTo>
                  <a:pt x="14859" y="1122538"/>
                  <a:pt x="0" y="1108441"/>
                  <a:pt x="0" y="1090725"/>
                </a:cubicBezTo>
                <a:lnTo>
                  <a:pt x="0" y="30973"/>
                </a:lnTo>
                <a:cubicBezTo>
                  <a:pt x="0" y="13447"/>
                  <a:pt x="14478" y="-555"/>
                  <a:pt x="32004" y="17"/>
                </a:cubicBezTo>
                <a:lnTo>
                  <a:pt x="760000" y="25734"/>
                </a:lnTo>
                <a:cubicBezTo>
                  <a:pt x="776669" y="26306"/>
                  <a:pt x="789813" y="40022"/>
                  <a:pt x="789813" y="56691"/>
                </a:cubicBezTo>
                <a:lnTo>
                  <a:pt x="789813" y="1051291"/>
                </a:lnTo>
                <a:cubicBezTo>
                  <a:pt x="789908" y="1067674"/>
                  <a:pt x="777050" y="1081295"/>
                  <a:pt x="760571" y="1082152"/>
                </a:cubicBezTo>
                <a:close/>
              </a:path>
            </a:pathLst>
          </a:custGeom>
          <a:solidFill>
            <a:schemeClr val="lt1">
              <a:lumMod val="100000"/>
              <a:alpha val="20000"/>
            </a:schemeClr>
          </a:solidFill>
          <a:ln w="317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latin typeface="+mn-ea"/>
              <a:sym typeface="+mn-ea"/>
            </a:endParaRPr>
          </a:p>
        </p:txBody>
      </p:sp>
      <p:sp>
        <p:nvSpPr>
          <p:cNvPr id="8" name="任意多边形: 形状 138"/>
          <p:cNvSpPr/>
          <p:nvPr>
            <p:custDataLst>
              <p:tags r:id="rId11"/>
            </p:custDataLst>
          </p:nvPr>
        </p:nvSpPr>
        <p:spPr>
          <a:xfrm>
            <a:off x="1527810" y="2712403"/>
            <a:ext cx="2199005" cy="3124200"/>
          </a:xfrm>
          <a:custGeom>
            <a:avLst/>
            <a:gdLst>
              <a:gd name="connsiteX0" fmla="*/ 760571 w 789813"/>
              <a:gd name="connsiteY0" fmla="*/ 1082152 h 1121631"/>
              <a:gd name="connsiteX1" fmla="*/ 32576 w 789813"/>
              <a:gd name="connsiteY1" fmla="*/ 1121586 h 1121631"/>
              <a:gd name="connsiteX2" fmla="*/ 0 w 789813"/>
              <a:gd name="connsiteY2" fmla="*/ 1090725 h 1121631"/>
              <a:gd name="connsiteX3" fmla="*/ 0 w 789813"/>
              <a:gd name="connsiteY3" fmla="*/ 30973 h 1121631"/>
              <a:gd name="connsiteX4" fmla="*/ 32004 w 789813"/>
              <a:gd name="connsiteY4" fmla="*/ 17 h 1121631"/>
              <a:gd name="connsiteX5" fmla="*/ 760000 w 789813"/>
              <a:gd name="connsiteY5" fmla="*/ 25734 h 1121631"/>
              <a:gd name="connsiteX6" fmla="*/ 789813 w 789813"/>
              <a:gd name="connsiteY6" fmla="*/ 56691 h 1121631"/>
              <a:gd name="connsiteX7" fmla="*/ 789813 w 789813"/>
              <a:gd name="connsiteY7" fmla="*/ 1051291 h 1121631"/>
              <a:gd name="connsiteX8" fmla="*/ 760571 w 789813"/>
              <a:gd name="connsiteY8" fmla="*/ 1082152 h 1121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9813" h="1121631">
                <a:moveTo>
                  <a:pt x="760571" y="1082152"/>
                </a:moveTo>
                <a:lnTo>
                  <a:pt x="32576" y="1121586"/>
                </a:lnTo>
                <a:cubicBezTo>
                  <a:pt x="14859" y="1122538"/>
                  <a:pt x="0" y="1108441"/>
                  <a:pt x="0" y="1090725"/>
                </a:cubicBezTo>
                <a:lnTo>
                  <a:pt x="0" y="30973"/>
                </a:lnTo>
                <a:cubicBezTo>
                  <a:pt x="0" y="13447"/>
                  <a:pt x="14478" y="-555"/>
                  <a:pt x="32004" y="17"/>
                </a:cubicBezTo>
                <a:lnTo>
                  <a:pt x="760000" y="25734"/>
                </a:lnTo>
                <a:cubicBezTo>
                  <a:pt x="776669" y="26306"/>
                  <a:pt x="789813" y="40022"/>
                  <a:pt x="789813" y="56691"/>
                </a:cubicBezTo>
                <a:lnTo>
                  <a:pt x="789813" y="1051291"/>
                </a:lnTo>
                <a:cubicBezTo>
                  <a:pt x="789908" y="1067674"/>
                  <a:pt x="777050" y="1081295"/>
                  <a:pt x="760571" y="1082152"/>
                </a:cubicBezTo>
                <a:close/>
              </a:path>
            </a:pathLst>
          </a:custGeom>
          <a:gradFill>
            <a:gsLst>
              <a:gs pos="100000">
                <a:schemeClr val="accent5">
                  <a:lumMod val="60000"/>
                  <a:lumOff val="40000"/>
                  <a:alpha val="0"/>
                </a:schemeClr>
              </a:gs>
              <a:gs pos="0">
                <a:schemeClr val="accent5">
                  <a:lumMod val="60000"/>
                  <a:lumOff val="40000"/>
                  <a:alpha val="10000"/>
                </a:schemeClr>
              </a:gs>
            </a:gsLst>
            <a:lin ang="5400000" scaled="0"/>
          </a:gradFill>
          <a:ln w="4763" cap="flat">
            <a:noFill/>
            <a:prstDash val="solid"/>
            <a:miter/>
          </a:ln>
          <a:effectLst>
            <a:outerShdw blurRad="114300" dist="76200" dir="5400000" algn="t" rotWithShape="0">
              <a:schemeClr val="accent5">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21" name="文本框 20"/>
          <p:cNvSpPr txBox="1"/>
          <p:nvPr>
            <p:custDataLst>
              <p:tags r:id="rId12"/>
            </p:custDataLst>
          </p:nvPr>
        </p:nvSpPr>
        <p:spPr>
          <a:xfrm>
            <a:off x="1681480" y="3101340"/>
            <a:ext cx="1877060" cy="380365"/>
          </a:xfrm>
          <a:prstGeom prst="rect">
            <a:avLst/>
          </a:prstGeom>
          <a:noFill/>
        </p:spPr>
        <p:txBody>
          <a:bodyPr wrap="square" lIns="0" tIns="0" rIns="0" bIns="0" rtlCol="0" anchor="ctr" anchorCtr="0">
            <a:noAutofit/>
          </a:bodyPr>
          <a:lstStyle/>
          <a:p>
            <a:pPr lvl="0" algn="l">
              <a:buClrTx/>
              <a:buSzTx/>
              <a:buFontTx/>
            </a:pPr>
            <a:r>
              <a:rPr lang="zh-CN" altLang="en-US" b="1">
                <a:solidFill>
                  <a:schemeClr val="accent5"/>
                </a:solidFill>
                <a:sym typeface="+mn-ea"/>
              </a:rPr>
              <a:t>监管通报有效应对</a:t>
            </a:r>
            <a:endParaRPr lang="zh-CN" altLang="en-US" b="1">
              <a:solidFill>
                <a:schemeClr val="accent5"/>
              </a:solidFill>
              <a:sym typeface="+mn-ea"/>
            </a:endParaRPr>
          </a:p>
        </p:txBody>
      </p:sp>
      <p:sp>
        <p:nvSpPr>
          <p:cNvPr id="22" name="文本框 21"/>
          <p:cNvSpPr txBox="1"/>
          <p:nvPr>
            <p:custDataLst>
              <p:tags r:id="rId13"/>
            </p:custDataLst>
          </p:nvPr>
        </p:nvSpPr>
        <p:spPr>
          <a:xfrm>
            <a:off x="1681480" y="3805238"/>
            <a:ext cx="1877060" cy="1579245"/>
          </a:xfrm>
          <a:prstGeom prst="rect">
            <a:avLst/>
          </a:prstGeom>
          <a:noFill/>
        </p:spPr>
        <p:txBody>
          <a:bodyPr wrap="square" lIns="0" tIns="0" rIns="0" bIns="0" rtlCol="0" anchor="t" anchorCtr="0">
            <a:noAutofit/>
          </a:bodyPr>
          <a:lstStyle/>
          <a:p>
            <a:pPr lvl="0" algn="l">
              <a:lnSpc>
                <a:spcPct val="150000"/>
              </a:lnSpc>
              <a:spcAft>
                <a:spcPts val="1000"/>
              </a:spcAft>
              <a:buClrTx/>
              <a:buSzTx/>
              <a:buFontTx/>
            </a:pP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持续降低资产脆弱性风险，减少被黑客利用的机会</a:t>
            </a: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有效应对监管机构的风险通报，保障信息化业务运营的合规</a:t>
            </a:r>
            <a:endPar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3" name="直接连接符 2"/>
          <p:cNvCxnSpPr/>
          <p:nvPr>
            <p:custDataLst>
              <p:tags r:id="rId14"/>
            </p:custDataLst>
          </p:nvPr>
        </p:nvCxnSpPr>
        <p:spPr>
          <a:xfrm>
            <a:off x="1713230" y="3609023"/>
            <a:ext cx="387985" cy="0"/>
          </a:xfrm>
          <a:prstGeom prst="line">
            <a:avLst/>
          </a:prstGeom>
          <a:ln w="22225" cap="rnd">
            <a:gradFill>
              <a:gsLst>
                <a:gs pos="0">
                  <a:schemeClr val="accent5">
                    <a:alpha val="100000"/>
                  </a:schemeClr>
                </a:gs>
                <a:gs pos="100000">
                  <a:schemeClr val="accent5">
                    <a:alpha val="71000"/>
                  </a:schemeClr>
                </a:gs>
              </a:gsLst>
              <a:lin ang="0" scaled="1"/>
            </a:gradFill>
            <a:round/>
          </a:ln>
        </p:spPr>
        <p:style>
          <a:lnRef idx="2">
            <a:schemeClr val="accent1"/>
          </a:lnRef>
          <a:fillRef idx="0">
            <a:srgbClr val="FFFFFF"/>
          </a:fillRef>
          <a:effectRef idx="0">
            <a:srgbClr val="FFFFFF"/>
          </a:effectRef>
          <a:fontRef idx="minor">
            <a:schemeClr val="tx1"/>
          </a:fontRef>
        </p:style>
      </p:cxnSp>
      <p:sp>
        <p:nvSpPr>
          <p:cNvPr id="9" name="椭圆 8"/>
          <p:cNvSpPr/>
          <p:nvPr>
            <p:custDataLst>
              <p:tags r:id="rId15"/>
            </p:custDataLst>
          </p:nvPr>
        </p:nvSpPr>
        <p:spPr>
          <a:xfrm>
            <a:off x="1681480" y="2478088"/>
            <a:ext cx="424815" cy="424815"/>
          </a:xfrm>
          <a:prstGeom prst="ellipse">
            <a:avLst/>
          </a:prstGeom>
          <a:gradFill>
            <a:gsLst>
              <a:gs pos="100000">
                <a:schemeClr val="accent5">
                  <a:lumMod val="60000"/>
                  <a:lumOff val="40000"/>
                  <a:alpha val="100000"/>
                </a:schemeClr>
              </a:gs>
              <a:gs pos="2000">
                <a:schemeClr val="accent5">
                  <a:alpha val="100000"/>
                </a:schemeClr>
              </a:gs>
            </a:gsLst>
            <a:lin ang="2700000" scaled="0"/>
          </a:gradFill>
          <a:ln>
            <a:noFill/>
          </a:ln>
          <a:effectLst>
            <a:outerShdw blurRad="76200" dist="76200" dir="5400000" sx="97000" sy="97000" algn="t" rotWithShape="0">
              <a:schemeClr val="accent5">
                <a:lumMod val="75000"/>
                <a:alpha val="15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lt1"/>
              </a:solidFill>
            </a:endParaRPr>
          </a:p>
        </p:txBody>
      </p:sp>
      <p:pic>
        <p:nvPicPr>
          <p:cNvPr id="18" name="图片 17" descr="333438303937363b333438313037323bcad0b3a1cdc6b9e3"/>
          <p:cNvPicPr>
            <a:picLocks noChangeAspect="1"/>
          </p:cNvPicPr>
          <p:nvPr>
            <p:custDataLst>
              <p:tags r:id="rId16"/>
            </p:custDataLst>
          </p:nvPr>
        </p:nvPicPr>
        <p:blipFill>
          <a:blip r:embed="rId17">
            <a:extLst>
              <a:ext uri="{96DAC541-7B7A-43D3-8B79-37D633B846F1}">
                <asvg:svgBlip xmlns:asvg="http://schemas.microsoft.com/office/drawing/2016/SVG/main" r:embed="rId18"/>
              </a:ext>
            </a:extLst>
          </a:blip>
          <a:stretch>
            <a:fillRect/>
          </a:stretch>
        </p:blipFill>
        <p:spPr>
          <a:xfrm>
            <a:off x="1785620" y="2582228"/>
            <a:ext cx="215900" cy="215900"/>
          </a:xfrm>
          <a:prstGeom prst="rect">
            <a:avLst/>
          </a:prstGeom>
        </p:spPr>
      </p:pic>
      <p:cxnSp>
        <p:nvCxnSpPr>
          <p:cNvPr id="49" name="直接连接符 48"/>
          <p:cNvCxnSpPr/>
          <p:nvPr>
            <p:custDataLst>
              <p:tags r:id="rId19"/>
            </p:custDataLst>
          </p:nvPr>
        </p:nvCxnSpPr>
        <p:spPr>
          <a:xfrm>
            <a:off x="3926205" y="4444683"/>
            <a:ext cx="460375" cy="0"/>
          </a:xfrm>
          <a:prstGeom prst="line">
            <a:avLst/>
          </a:prstGeom>
          <a:ln cap="rnd">
            <a:gradFill>
              <a:gsLst>
                <a:gs pos="0">
                  <a:schemeClr val="accent6">
                    <a:alpha val="90000"/>
                  </a:schemeClr>
                </a:gs>
                <a:gs pos="100000">
                  <a:schemeClr val="accent6">
                    <a:lumMod val="60000"/>
                    <a:lumOff val="40000"/>
                    <a:alpha val="0"/>
                  </a:schemeClr>
                </a:gs>
              </a:gsLst>
              <a:lin ang="10800000" scaled="1"/>
            </a:gradFill>
            <a:round/>
            <a:tailEnd type="triangle"/>
          </a:ln>
        </p:spPr>
        <p:style>
          <a:lnRef idx="2">
            <a:schemeClr val="accent1"/>
          </a:lnRef>
          <a:fillRef idx="0">
            <a:srgbClr val="FFFFFF"/>
          </a:fillRef>
          <a:effectRef idx="0">
            <a:srgbClr val="FFFFFF"/>
          </a:effectRef>
          <a:fontRef idx="minor">
            <a:schemeClr val="tx1"/>
          </a:fontRef>
        </p:style>
      </p:cxnSp>
      <p:sp useBgFill="1">
        <p:nvSpPr>
          <p:cNvPr id="10" name="任意多边形: 形状 139"/>
          <p:cNvSpPr/>
          <p:nvPr>
            <p:custDataLst>
              <p:tags r:id="rId20"/>
            </p:custDataLst>
          </p:nvPr>
        </p:nvSpPr>
        <p:spPr>
          <a:xfrm>
            <a:off x="4545330" y="2602230"/>
            <a:ext cx="3041650" cy="3254375"/>
          </a:xfrm>
          <a:custGeom>
            <a:avLst/>
            <a:gdLst>
              <a:gd name="connsiteX0" fmla="*/ 784289 w 817721"/>
              <a:gd name="connsiteY0" fmla="*/ 1079849 h 1079849"/>
              <a:gd name="connsiteX1" fmla="*/ 33433 w 817721"/>
              <a:gd name="connsiteY1" fmla="*/ 1079849 h 1079849"/>
              <a:gd name="connsiteX2" fmla="*/ 0 w 817721"/>
              <a:gd name="connsiteY2" fmla="*/ 1046417 h 1079849"/>
              <a:gd name="connsiteX3" fmla="*/ 0 w 817721"/>
              <a:gd name="connsiteY3" fmla="*/ 33433 h 1079849"/>
              <a:gd name="connsiteX4" fmla="*/ 33433 w 817721"/>
              <a:gd name="connsiteY4" fmla="*/ 0 h 1079849"/>
              <a:gd name="connsiteX5" fmla="*/ 784289 w 817721"/>
              <a:gd name="connsiteY5" fmla="*/ 0 h 1079849"/>
              <a:gd name="connsiteX6" fmla="*/ 817721 w 817721"/>
              <a:gd name="connsiteY6" fmla="*/ 33433 h 1079849"/>
              <a:gd name="connsiteX7" fmla="*/ 817721 w 817721"/>
              <a:gd name="connsiteY7" fmla="*/ 1046321 h 1079849"/>
              <a:gd name="connsiteX8" fmla="*/ 784289 w 817721"/>
              <a:gd name="connsiteY8" fmla="*/ 1079849 h 1079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7721" h="1079849">
                <a:moveTo>
                  <a:pt x="784289" y="1079849"/>
                </a:moveTo>
                <a:lnTo>
                  <a:pt x="33433" y="1079849"/>
                </a:lnTo>
                <a:cubicBezTo>
                  <a:pt x="14954" y="1079849"/>
                  <a:pt x="0" y="1064895"/>
                  <a:pt x="0" y="1046417"/>
                </a:cubicBezTo>
                <a:lnTo>
                  <a:pt x="0" y="33433"/>
                </a:lnTo>
                <a:cubicBezTo>
                  <a:pt x="0" y="14954"/>
                  <a:pt x="14954" y="0"/>
                  <a:pt x="33433" y="0"/>
                </a:cubicBezTo>
                <a:lnTo>
                  <a:pt x="784289" y="0"/>
                </a:lnTo>
                <a:cubicBezTo>
                  <a:pt x="802767" y="0"/>
                  <a:pt x="817721" y="14954"/>
                  <a:pt x="817721" y="33433"/>
                </a:cubicBezTo>
                <a:lnTo>
                  <a:pt x="817721" y="1046321"/>
                </a:lnTo>
                <a:cubicBezTo>
                  <a:pt x="817721" y="1064800"/>
                  <a:pt x="802767" y="1079849"/>
                  <a:pt x="784289" y="1079849"/>
                </a:cubicBezTo>
                <a:close/>
              </a:path>
            </a:pathLst>
          </a:custGeom>
          <a:ln w="9525" cap="flat">
            <a:noFill/>
            <a:prstDash val="solid"/>
            <a:miter/>
          </a:ln>
          <a:effectLst>
            <a:outerShdw blurRad="139700" dist="63500" dir="5400000" algn="t" rotWithShape="0">
              <a:schemeClr val="accent6">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useBgFill="1">
        <p:nvSpPr>
          <p:cNvPr id="140" name="任意多边形: 形状 139"/>
          <p:cNvSpPr/>
          <p:nvPr>
            <p:custDataLst>
              <p:tags r:id="rId21"/>
            </p:custDataLst>
          </p:nvPr>
        </p:nvSpPr>
        <p:spPr>
          <a:xfrm>
            <a:off x="4648835" y="2725420"/>
            <a:ext cx="2846705" cy="3007995"/>
          </a:xfrm>
          <a:custGeom>
            <a:avLst/>
            <a:gdLst>
              <a:gd name="connsiteX0" fmla="*/ 784289 w 817721"/>
              <a:gd name="connsiteY0" fmla="*/ 1079849 h 1079849"/>
              <a:gd name="connsiteX1" fmla="*/ 33433 w 817721"/>
              <a:gd name="connsiteY1" fmla="*/ 1079849 h 1079849"/>
              <a:gd name="connsiteX2" fmla="*/ 0 w 817721"/>
              <a:gd name="connsiteY2" fmla="*/ 1046417 h 1079849"/>
              <a:gd name="connsiteX3" fmla="*/ 0 w 817721"/>
              <a:gd name="connsiteY3" fmla="*/ 33433 h 1079849"/>
              <a:gd name="connsiteX4" fmla="*/ 33433 w 817721"/>
              <a:gd name="connsiteY4" fmla="*/ 0 h 1079849"/>
              <a:gd name="connsiteX5" fmla="*/ 784289 w 817721"/>
              <a:gd name="connsiteY5" fmla="*/ 0 h 1079849"/>
              <a:gd name="connsiteX6" fmla="*/ 817721 w 817721"/>
              <a:gd name="connsiteY6" fmla="*/ 33433 h 1079849"/>
              <a:gd name="connsiteX7" fmla="*/ 817721 w 817721"/>
              <a:gd name="connsiteY7" fmla="*/ 1046321 h 1079849"/>
              <a:gd name="connsiteX8" fmla="*/ 784289 w 817721"/>
              <a:gd name="connsiteY8" fmla="*/ 1079849 h 1079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7721" h="1079849">
                <a:moveTo>
                  <a:pt x="784289" y="1079849"/>
                </a:moveTo>
                <a:lnTo>
                  <a:pt x="33433" y="1079849"/>
                </a:lnTo>
                <a:cubicBezTo>
                  <a:pt x="14954" y="1079849"/>
                  <a:pt x="0" y="1064895"/>
                  <a:pt x="0" y="1046417"/>
                </a:cubicBezTo>
                <a:lnTo>
                  <a:pt x="0" y="33433"/>
                </a:lnTo>
                <a:cubicBezTo>
                  <a:pt x="0" y="14954"/>
                  <a:pt x="14954" y="0"/>
                  <a:pt x="33433" y="0"/>
                </a:cubicBezTo>
                <a:lnTo>
                  <a:pt x="784289" y="0"/>
                </a:lnTo>
                <a:cubicBezTo>
                  <a:pt x="802767" y="0"/>
                  <a:pt x="817721" y="14954"/>
                  <a:pt x="817721" y="33433"/>
                </a:cubicBezTo>
                <a:lnTo>
                  <a:pt x="817721" y="1046321"/>
                </a:lnTo>
                <a:cubicBezTo>
                  <a:pt x="817721" y="1064800"/>
                  <a:pt x="802767" y="1079849"/>
                  <a:pt x="784289" y="1079849"/>
                </a:cubicBezTo>
                <a:close/>
              </a:path>
            </a:pathLst>
          </a:custGeom>
          <a:ln w="9525" cap="flat">
            <a:solidFill>
              <a:schemeClr val="accent6">
                <a:alpha val="10000"/>
              </a:schemeClr>
            </a:solidFill>
            <a:prstDash val="solid"/>
            <a:miter/>
          </a:ln>
          <a:effectLst>
            <a:outerShdw blurRad="114300" dist="50800" dir="5400000" algn="t" rotWithShape="0">
              <a:schemeClr val="accent6">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useBgFill="1">
        <p:nvSpPr>
          <p:cNvPr id="23" name="任意多边形: 形状 139"/>
          <p:cNvSpPr/>
          <p:nvPr>
            <p:custDataLst>
              <p:tags r:id="rId22"/>
            </p:custDataLst>
          </p:nvPr>
        </p:nvSpPr>
        <p:spPr>
          <a:xfrm>
            <a:off x="4649470" y="2725420"/>
            <a:ext cx="2762250" cy="3007995"/>
          </a:xfrm>
          <a:custGeom>
            <a:avLst/>
            <a:gdLst>
              <a:gd name="connsiteX0" fmla="*/ 784289 w 817721"/>
              <a:gd name="connsiteY0" fmla="*/ 1079849 h 1079849"/>
              <a:gd name="connsiteX1" fmla="*/ 33433 w 817721"/>
              <a:gd name="connsiteY1" fmla="*/ 1079849 h 1079849"/>
              <a:gd name="connsiteX2" fmla="*/ 0 w 817721"/>
              <a:gd name="connsiteY2" fmla="*/ 1046417 h 1079849"/>
              <a:gd name="connsiteX3" fmla="*/ 0 w 817721"/>
              <a:gd name="connsiteY3" fmla="*/ 33433 h 1079849"/>
              <a:gd name="connsiteX4" fmla="*/ 33433 w 817721"/>
              <a:gd name="connsiteY4" fmla="*/ 0 h 1079849"/>
              <a:gd name="connsiteX5" fmla="*/ 784289 w 817721"/>
              <a:gd name="connsiteY5" fmla="*/ 0 h 1079849"/>
              <a:gd name="connsiteX6" fmla="*/ 817721 w 817721"/>
              <a:gd name="connsiteY6" fmla="*/ 33433 h 1079849"/>
              <a:gd name="connsiteX7" fmla="*/ 817721 w 817721"/>
              <a:gd name="connsiteY7" fmla="*/ 1046321 h 1079849"/>
              <a:gd name="connsiteX8" fmla="*/ 784289 w 817721"/>
              <a:gd name="connsiteY8" fmla="*/ 1079849 h 1079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7721" h="1079849">
                <a:moveTo>
                  <a:pt x="784289" y="1079849"/>
                </a:moveTo>
                <a:lnTo>
                  <a:pt x="33433" y="1079849"/>
                </a:lnTo>
                <a:cubicBezTo>
                  <a:pt x="14954" y="1079849"/>
                  <a:pt x="0" y="1064895"/>
                  <a:pt x="0" y="1046417"/>
                </a:cubicBezTo>
                <a:lnTo>
                  <a:pt x="0" y="33433"/>
                </a:lnTo>
                <a:cubicBezTo>
                  <a:pt x="0" y="14954"/>
                  <a:pt x="14954" y="0"/>
                  <a:pt x="33433" y="0"/>
                </a:cubicBezTo>
                <a:lnTo>
                  <a:pt x="784289" y="0"/>
                </a:lnTo>
                <a:cubicBezTo>
                  <a:pt x="802767" y="0"/>
                  <a:pt x="817721" y="14954"/>
                  <a:pt x="817721" y="33433"/>
                </a:cubicBezTo>
                <a:lnTo>
                  <a:pt x="817721" y="1046321"/>
                </a:lnTo>
                <a:cubicBezTo>
                  <a:pt x="817721" y="1064800"/>
                  <a:pt x="802767" y="1079849"/>
                  <a:pt x="784289" y="1079849"/>
                </a:cubicBezTo>
                <a:close/>
              </a:path>
            </a:pathLst>
          </a:custGeom>
          <a:solidFill>
            <a:schemeClr val="lt1">
              <a:lumMod val="100000"/>
              <a:alpha val="20000"/>
            </a:schemeClr>
          </a:solidFill>
          <a:ln w="317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latin typeface="+mn-ea"/>
              <a:sym typeface="+mn-ea"/>
            </a:endParaRPr>
          </a:p>
        </p:txBody>
      </p:sp>
      <p:sp>
        <p:nvSpPr>
          <p:cNvPr id="11" name="任意多边形: 形状 139"/>
          <p:cNvSpPr/>
          <p:nvPr>
            <p:custDataLst>
              <p:tags r:id="rId23"/>
            </p:custDataLst>
          </p:nvPr>
        </p:nvSpPr>
        <p:spPr>
          <a:xfrm>
            <a:off x="4648835" y="2725420"/>
            <a:ext cx="2762250" cy="3007995"/>
          </a:xfrm>
          <a:custGeom>
            <a:avLst/>
            <a:gdLst>
              <a:gd name="connsiteX0" fmla="*/ 784289 w 817721"/>
              <a:gd name="connsiteY0" fmla="*/ 1079849 h 1079849"/>
              <a:gd name="connsiteX1" fmla="*/ 33433 w 817721"/>
              <a:gd name="connsiteY1" fmla="*/ 1079849 h 1079849"/>
              <a:gd name="connsiteX2" fmla="*/ 0 w 817721"/>
              <a:gd name="connsiteY2" fmla="*/ 1046417 h 1079849"/>
              <a:gd name="connsiteX3" fmla="*/ 0 w 817721"/>
              <a:gd name="connsiteY3" fmla="*/ 33433 h 1079849"/>
              <a:gd name="connsiteX4" fmla="*/ 33433 w 817721"/>
              <a:gd name="connsiteY4" fmla="*/ 0 h 1079849"/>
              <a:gd name="connsiteX5" fmla="*/ 784289 w 817721"/>
              <a:gd name="connsiteY5" fmla="*/ 0 h 1079849"/>
              <a:gd name="connsiteX6" fmla="*/ 817721 w 817721"/>
              <a:gd name="connsiteY6" fmla="*/ 33433 h 1079849"/>
              <a:gd name="connsiteX7" fmla="*/ 817721 w 817721"/>
              <a:gd name="connsiteY7" fmla="*/ 1046321 h 1079849"/>
              <a:gd name="connsiteX8" fmla="*/ 784289 w 817721"/>
              <a:gd name="connsiteY8" fmla="*/ 1079849 h 1079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7721" h="1079849">
                <a:moveTo>
                  <a:pt x="784289" y="1079849"/>
                </a:moveTo>
                <a:lnTo>
                  <a:pt x="33433" y="1079849"/>
                </a:lnTo>
                <a:cubicBezTo>
                  <a:pt x="14954" y="1079849"/>
                  <a:pt x="0" y="1064895"/>
                  <a:pt x="0" y="1046417"/>
                </a:cubicBezTo>
                <a:lnTo>
                  <a:pt x="0" y="33433"/>
                </a:lnTo>
                <a:cubicBezTo>
                  <a:pt x="0" y="14954"/>
                  <a:pt x="14954" y="0"/>
                  <a:pt x="33433" y="0"/>
                </a:cubicBezTo>
                <a:lnTo>
                  <a:pt x="784289" y="0"/>
                </a:lnTo>
                <a:cubicBezTo>
                  <a:pt x="802767" y="0"/>
                  <a:pt x="817721" y="14954"/>
                  <a:pt x="817721" y="33433"/>
                </a:cubicBezTo>
                <a:lnTo>
                  <a:pt x="817721" y="1046321"/>
                </a:lnTo>
                <a:cubicBezTo>
                  <a:pt x="817721" y="1064800"/>
                  <a:pt x="802767" y="1079849"/>
                  <a:pt x="784289" y="1079849"/>
                </a:cubicBezTo>
                <a:close/>
              </a:path>
            </a:pathLst>
          </a:custGeom>
          <a:gradFill>
            <a:gsLst>
              <a:gs pos="100000">
                <a:schemeClr val="accent6">
                  <a:lumMod val="60000"/>
                  <a:lumOff val="40000"/>
                  <a:alpha val="0"/>
                </a:schemeClr>
              </a:gs>
              <a:gs pos="0">
                <a:schemeClr val="accent6">
                  <a:lumMod val="60000"/>
                  <a:lumOff val="40000"/>
                  <a:alpha val="10000"/>
                </a:schemeClr>
              </a:gs>
            </a:gsLst>
            <a:lin ang="5400000" scaled="0"/>
          </a:gradFill>
          <a:ln w="4763" cap="flat">
            <a:noFill/>
            <a:prstDash val="solid"/>
            <a:miter/>
          </a:ln>
          <a:effectLst>
            <a:outerShdw blurRad="114300" dist="76200" dir="5400000" algn="t" rotWithShape="0">
              <a:schemeClr val="accent6">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p:nvSpPr>
          <p:cNvPr id="31" name="椭圆 30"/>
          <p:cNvSpPr/>
          <p:nvPr>
            <p:custDataLst>
              <p:tags r:id="rId24"/>
            </p:custDataLst>
          </p:nvPr>
        </p:nvSpPr>
        <p:spPr>
          <a:xfrm>
            <a:off x="5129530" y="2493963"/>
            <a:ext cx="424815" cy="424815"/>
          </a:xfrm>
          <a:prstGeom prst="ellipse">
            <a:avLst/>
          </a:prstGeom>
          <a:gradFill>
            <a:gsLst>
              <a:gs pos="100000">
                <a:schemeClr val="accent6">
                  <a:lumMod val="60000"/>
                  <a:lumOff val="40000"/>
                  <a:alpha val="100000"/>
                </a:schemeClr>
              </a:gs>
              <a:gs pos="2000">
                <a:schemeClr val="accent6">
                  <a:alpha val="100000"/>
                </a:schemeClr>
              </a:gs>
            </a:gsLst>
            <a:lin ang="2700000" scaled="0"/>
          </a:gradFill>
          <a:ln>
            <a:noFill/>
          </a:ln>
          <a:effectLst>
            <a:outerShdw blurRad="76200" dist="76200" dir="5400000" sx="97000" sy="97000" algn="t" rotWithShape="0">
              <a:schemeClr val="accent6">
                <a:lumMod val="75000"/>
                <a:alpha val="15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lt1"/>
              </a:solidFill>
            </a:endParaRPr>
          </a:p>
        </p:txBody>
      </p:sp>
      <p:pic>
        <p:nvPicPr>
          <p:cNvPr id="12" name="图片 11" descr="333438303937363b333438313038303bd7e9d6afbcdcb9b9"/>
          <p:cNvPicPr>
            <a:picLocks noChangeAspect="1"/>
          </p:cNvPicPr>
          <p:nvPr>
            <p:custDataLst>
              <p:tags r:id="rId25"/>
            </p:custDataLst>
          </p:nvPr>
        </p:nvPicPr>
        <p:blipFill>
          <a:blip r:embed="rId26">
            <a:extLst>
              <a:ext uri="{96DAC541-7B7A-43D3-8B79-37D633B846F1}">
                <asvg:svgBlip xmlns:asvg="http://schemas.microsoft.com/office/drawing/2016/SVG/main" r:embed="rId27"/>
              </a:ext>
            </a:extLst>
          </a:blip>
          <a:stretch>
            <a:fillRect/>
          </a:stretch>
        </p:blipFill>
        <p:spPr>
          <a:xfrm>
            <a:off x="5233670" y="2598103"/>
            <a:ext cx="215900" cy="215900"/>
          </a:xfrm>
          <a:prstGeom prst="rect">
            <a:avLst/>
          </a:prstGeom>
        </p:spPr>
      </p:pic>
      <p:sp>
        <p:nvSpPr>
          <p:cNvPr id="13" name="文本框 12"/>
          <p:cNvSpPr txBox="1"/>
          <p:nvPr>
            <p:custDataLst>
              <p:tags r:id="rId28"/>
            </p:custDataLst>
          </p:nvPr>
        </p:nvSpPr>
        <p:spPr>
          <a:xfrm>
            <a:off x="4927600" y="2919095"/>
            <a:ext cx="2336165" cy="578485"/>
          </a:xfrm>
          <a:prstGeom prst="rect">
            <a:avLst/>
          </a:prstGeom>
          <a:noFill/>
        </p:spPr>
        <p:txBody>
          <a:bodyPr wrap="square" lIns="0" tIns="0" rIns="0" bIns="0" rtlCol="0" anchor="ctr" anchorCtr="0">
            <a:noAutofit/>
          </a:bodyPr>
          <a:lstStyle/>
          <a:p>
            <a:pPr algn="l"/>
            <a:r>
              <a:rPr lang="en-US" altLang="zh-CN" b="1">
                <a:solidFill>
                  <a:schemeClr val="accent6"/>
                </a:solidFill>
              </a:rPr>
              <a:t>7*24</a:t>
            </a:r>
            <a:r>
              <a:rPr lang="zh-CN" altLang="en-US" b="1">
                <a:solidFill>
                  <a:schemeClr val="accent6"/>
                </a:solidFill>
              </a:rPr>
              <a:t>小时业务安全保护</a:t>
            </a:r>
            <a:endParaRPr lang="zh-CN" altLang="en-US" b="1">
              <a:solidFill>
                <a:schemeClr val="accent6"/>
              </a:solidFill>
            </a:endParaRPr>
          </a:p>
        </p:txBody>
      </p:sp>
      <p:sp>
        <p:nvSpPr>
          <p:cNvPr id="14" name="文本框 13"/>
          <p:cNvSpPr txBox="1"/>
          <p:nvPr>
            <p:custDataLst>
              <p:tags r:id="rId29"/>
            </p:custDataLst>
          </p:nvPr>
        </p:nvSpPr>
        <p:spPr>
          <a:xfrm>
            <a:off x="4957445" y="3821430"/>
            <a:ext cx="2336165" cy="1579245"/>
          </a:xfrm>
          <a:prstGeom prst="rect">
            <a:avLst/>
          </a:prstGeom>
          <a:noFill/>
        </p:spPr>
        <p:txBody>
          <a:bodyPr wrap="square" lIns="0" tIns="0" rIns="0" bIns="0" rtlCol="0" anchor="t" anchorCtr="0">
            <a:noAutofit/>
          </a:bodyPr>
          <a:lstStyle/>
          <a:p>
            <a:pPr lvl="0" algn="l">
              <a:lnSpc>
                <a:spcPct val="150000"/>
              </a:lnSpc>
              <a:spcAft>
                <a:spcPts val="1000"/>
              </a:spcAft>
              <a:buClrTx/>
              <a:buSzTx/>
              <a:buFontTx/>
            </a:pP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针对核心业务资产建立</a:t>
            </a: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7*24</a:t>
            </a: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小时的安全威胁检测与安全事件主动响应机制，持续监测安全威胁和事件，高效对抗攻击，保障数字化业务</a:t>
            </a: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0</a:t>
            </a: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安全事故，有效规避业务损失</a:t>
            </a:r>
            <a:endPar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15" name="直接连接符 14"/>
          <p:cNvCxnSpPr/>
          <p:nvPr>
            <p:custDataLst>
              <p:tags r:id="rId30"/>
            </p:custDataLst>
          </p:nvPr>
        </p:nvCxnSpPr>
        <p:spPr>
          <a:xfrm>
            <a:off x="4932680" y="3624898"/>
            <a:ext cx="387985" cy="0"/>
          </a:xfrm>
          <a:prstGeom prst="line">
            <a:avLst/>
          </a:prstGeom>
          <a:ln w="22225" cap="rnd">
            <a:gradFill>
              <a:gsLst>
                <a:gs pos="0">
                  <a:schemeClr val="accent6">
                    <a:alpha val="100000"/>
                  </a:schemeClr>
                </a:gs>
                <a:gs pos="100000">
                  <a:schemeClr val="accent6">
                    <a:alpha val="71000"/>
                  </a:schemeClr>
                </a:gs>
              </a:gsLst>
              <a:lin ang="0" scaled="1"/>
            </a:gradFill>
            <a:round/>
          </a:ln>
        </p:spPr>
        <p:style>
          <a:lnRef idx="2">
            <a:schemeClr val="accent1"/>
          </a:lnRef>
          <a:fillRef idx="0">
            <a:srgbClr val="FFFFFF"/>
          </a:fillRef>
          <a:effectRef idx="0">
            <a:srgbClr val="FFFFFF"/>
          </a:effectRef>
          <a:fontRef idx="minor">
            <a:schemeClr val="tx1"/>
          </a:fontRef>
        </p:style>
      </p:cxnSp>
      <p:sp>
        <p:nvSpPr>
          <p:cNvPr id="51" name="任意多边形: 形状 143"/>
          <p:cNvSpPr/>
          <p:nvPr>
            <p:custDataLst>
              <p:tags r:id="rId31"/>
            </p:custDataLst>
          </p:nvPr>
        </p:nvSpPr>
        <p:spPr>
          <a:xfrm>
            <a:off x="5250815" y="6057583"/>
            <a:ext cx="1631950" cy="244475"/>
          </a:xfrm>
          <a:custGeom>
            <a:avLst/>
            <a:gdLst>
              <a:gd name="connsiteX0" fmla="*/ 682943 w 682942"/>
              <a:gd name="connsiteY0" fmla="*/ 48101 h 96202"/>
              <a:gd name="connsiteX1" fmla="*/ 341471 w 682942"/>
              <a:gd name="connsiteY1" fmla="*/ 96203 h 96202"/>
              <a:gd name="connsiteX2" fmla="*/ 0 w 682942"/>
              <a:gd name="connsiteY2" fmla="*/ 48101 h 96202"/>
              <a:gd name="connsiteX3" fmla="*/ 341471 w 682942"/>
              <a:gd name="connsiteY3" fmla="*/ 0 h 96202"/>
              <a:gd name="connsiteX4" fmla="*/ 682943 w 682942"/>
              <a:gd name="connsiteY4" fmla="*/ 48101 h 96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942" h="96202">
                <a:moveTo>
                  <a:pt x="682943" y="48101"/>
                </a:moveTo>
                <a:cubicBezTo>
                  <a:pt x="682943" y="74667"/>
                  <a:pt x="530061" y="96203"/>
                  <a:pt x="341471" y="96203"/>
                </a:cubicBezTo>
                <a:cubicBezTo>
                  <a:pt x="152882" y="96203"/>
                  <a:pt x="0" y="74667"/>
                  <a:pt x="0" y="48101"/>
                </a:cubicBezTo>
                <a:cubicBezTo>
                  <a:pt x="0" y="21536"/>
                  <a:pt x="152882" y="0"/>
                  <a:pt x="341471" y="0"/>
                </a:cubicBezTo>
                <a:cubicBezTo>
                  <a:pt x="530061" y="0"/>
                  <a:pt x="682943" y="21536"/>
                  <a:pt x="682943" y="48101"/>
                </a:cubicBezTo>
                <a:close/>
              </a:path>
            </a:pathLst>
          </a:custGeom>
          <a:noFill/>
          <a:ln w="4763" cap="flat">
            <a:gradFill>
              <a:gsLst>
                <a:gs pos="0">
                  <a:schemeClr val="accent6">
                    <a:alpha val="50000"/>
                  </a:schemeClr>
                </a:gs>
                <a:gs pos="100000">
                  <a:schemeClr val="accent6">
                    <a:lumMod val="60000"/>
                    <a:lumOff val="40000"/>
                    <a:alpha val="0"/>
                  </a:schemeClr>
                </a:gs>
              </a:gsLst>
              <a:lin ang="162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p:nvSpPr>
          <p:cNvPr id="52" name="任意多边形: 形状 144"/>
          <p:cNvSpPr/>
          <p:nvPr>
            <p:custDataLst>
              <p:tags r:id="rId32"/>
            </p:custDataLst>
          </p:nvPr>
        </p:nvSpPr>
        <p:spPr>
          <a:xfrm>
            <a:off x="5001260" y="6003608"/>
            <a:ext cx="2131060" cy="354965"/>
          </a:xfrm>
          <a:custGeom>
            <a:avLst/>
            <a:gdLst>
              <a:gd name="connsiteX0" fmla="*/ 891921 w 891921"/>
              <a:gd name="connsiteY0" fmla="*/ 69723 h 139446"/>
              <a:gd name="connsiteX1" fmla="*/ 445961 w 891921"/>
              <a:gd name="connsiteY1" fmla="*/ 139446 h 139446"/>
              <a:gd name="connsiteX2" fmla="*/ 0 w 891921"/>
              <a:gd name="connsiteY2" fmla="*/ 69723 h 139446"/>
              <a:gd name="connsiteX3" fmla="*/ 445961 w 891921"/>
              <a:gd name="connsiteY3" fmla="*/ 0 h 139446"/>
              <a:gd name="connsiteX4" fmla="*/ 891921 w 891921"/>
              <a:gd name="connsiteY4" fmla="*/ 69723 h 139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921" h="139446">
                <a:moveTo>
                  <a:pt x="891921" y="69723"/>
                </a:moveTo>
                <a:cubicBezTo>
                  <a:pt x="891921" y="108230"/>
                  <a:pt x="692258" y="139446"/>
                  <a:pt x="445961" y="139446"/>
                </a:cubicBezTo>
                <a:cubicBezTo>
                  <a:pt x="199663" y="139446"/>
                  <a:pt x="0" y="108230"/>
                  <a:pt x="0" y="69723"/>
                </a:cubicBezTo>
                <a:cubicBezTo>
                  <a:pt x="0" y="31216"/>
                  <a:pt x="199663" y="0"/>
                  <a:pt x="445961" y="0"/>
                </a:cubicBezTo>
                <a:cubicBezTo>
                  <a:pt x="692258" y="0"/>
                  <a:pt x="891921" y="31216"/>
                  <a:pt x="891921" y="69723"/>
                </a:cubicBezTo>
                <a:close/>
              </a:path>
            </a:pathLst>
          </a:custGeom>
          <a:noFill/>
          <a:ln w="4763" cap="flat">
            <a:gradFill>
              <a:gsLst>
                <a:gs pos="0">
                  <a:schemeClr val="accent6">
                    <a:alpha val="30000"/>
                  </a:schemeClr>
                </a:gs>
                <a:gs pos="84000">
                  <a:schemeClr val="accent6">
                    <a:lumMod val="60000"/>
                    <a:lumOff val="40000"/>
                    <a:alpha val="0"/>
                  </a:schemeClr>
                </a:gs>
              </a:gsLst>
              <a:lin ang="162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p:nvSpPr>
          <p:cNvPr id="53" name="图形 146"/>
          <p:cNvSpPr/>
          <p:nvPr>
            <p:custDataLst>
              <p:tags r:id="rId33"/>
            </p:custDataLst>
          </p:nvPr>
        </p:nvSpPr>
        <p:spPr>
          <a:xfrm>
            <a:off x="5494020" y="6113463"/>
            <a:ext cx="1145540" cy="129540"/>
          </a:xfrm>
          <a:custGeom>
            <a:avLst/>
            <a:gdLst>
              <a:gd name="connsiteX0" fmla="*/ 468440 w 468439"/>
              <a:gd name="connsiteY0" fmla="*/ 26480 h 52958"/>
              <a:gd name="connsiteX1" fmla="*/ 234220 w 468439"/>
              <a:gd name="connsiteY1" fmla="*/ 52959 h 52958"/>
              <a:gd name="connsiteX2" fmla="*/ 0 w 468439"/>
              <a:gd name="connsiteY2" fmla="*/ 26480 h 52958"/>
              <a:gd name="connsiteX3" fmla="*/ 234220 w 468439"/>
              <a:gd name="connsiteY3" fmla="*/ 0 h 52958"/>
              <a:gd name="connsiteX4" fmla="*/ 468440 w 468439"/>
              <a:gd name="connsiteY4" fmla="*/ 26480 h 52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439" h="52958">
                <a:moveTo>
                  <a:pt x="468440" y="26480"/>
                </a:moveTo>
                <a:cubicBezTo>
                  <a:pt x="468440" y="41104"/>
                  <a:pt x="363576" y="52959"/>
                  <a:pt x="234220" y="52959"/>
                </a:cubicBezTo>
                <a:cubicBezTo>
                  <a:pt x="104864" y="52959"/>
                  <a:pt x="0" y="41104"/>
                  <a:pt x="0" y="26480"/>
                </a:cubicBezTo>
                <a:cubicBezTo>
                  <a:pt x="0" y="11855"/>
                  <a:pt x="104864" y="0"/>
                  <a:pt x="234220" y="0"/>
                </a:cubicBezTo>
                <a:cubicBezTo>
                  <a:pt x="363576" y="0"/>
                  <a:pt x="468440" y="11855"/>
                  <a:pt x="468440" y="26480"/>
                </a:cubicBezTo>
                <a:close/>
              </a:path>
            </a:pathLst>
          </a:custGeom>
          <a:gradFill>
            <a:gsLst>
              <a:gs pos="100000">
                <a:schemeClr val="accent6">
                  <a:alpha val="0"/>
                </a:schemeClr>
              </a:gs>
              <a:gs pos="0">
                <a:schemeClr val="accent6">
                  <a:alpha val="75000"/>
                </a:schemeClr>
              </a:gs>
            </a:gsLst>
            <a:lin ang="16200000" scaled="0"/>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useBgFill="1">
        <p:nvSpPr>
          <p:cNvPr id="24" name="任意多边形: 形状 138"/>
          <p:cNvSpPr/>
          <p:nvPr>
            <p:custDataLst>
              <p:tags r:id="rId34"/>
            </p:custDataLst>
          </p:nvPr>
        </p:nvSpPr>
        <p:spPr>
          <a:xfrm flipH="1">
            <a:off x="8300720" y="2589848"/>
            <a:ext cx="2421890" cy="3380740"/>
          </a:xfrm>
          <a:custGeom>
            <a:avLst/>
            <a:gdLst>
              <a:gd name="connsiteX0" fmla="*/ 760571 w 789813"/>
              <a:gd name="connsiteY0" fmla="*/ 1082152 h 1121631"/>
              <a:gd name="connsiteX1" fmla="*/ 32576 w 789813"/>
              <a:gd name="connsiteY1" fmla="*/ 1121586 h 1121631"/>
              <a:gd name="connsiteX2" fmla="*/ 0 w 789813"/>
              <a:gd name="connsiteY2" fmla="*/ 1090725 h 1121631"/>
              <a:gd name="connsiteX3" fmla="*/ 0 w 789813"/>
              <a:gd name="connsiteY3" fmla="*/ 30973 h 1121631"/>
              <a:gd name="connsiteX4" fmla="*/ 32004 w 789813"/>
              <a:gd name="connsiteY4" fmla="*/ 17 h 1121631"/>
              <a:gd name="connsiteX5" fmla="*/ 760000 w 789813"/>
              <a:gd name="connsiteY5" fmla="*/ 25734 h 1121631"/>
              <a:gd name="connsiteX6" fmla="*/ 789813 w 789813"/>
              <a:gd name="connsiteY6" fmla="*/ 56691 h 1121631"/>
              <a:gd name="connsiteX7" fmla="*/ 789813 w 789813"/>
              <a:gd name="connsiteY7" fmla="*/ 1051291 h 1121631"/>
              <a:gd name="connsiteX8" fmla="*/ 760571 w 789813"/>
              <a:gd name="connsiteY8" fmla="*/ 1082152 h 1121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9813" h="1121631">
                <a:moveTo>
                  <a:pt x="760571" y="1082152"/>
                </a:moveTo>
                <a:lnTo>
                  <a:pt x="32576" y="1121586"/>
                </a:lnTo>
                <a:cubicBezTo>
                  <a:pt x="14859" y="1122538"/>
                  <a:pt x="0" y="1108441"/>
                  <a:pt x="0" y="1090725"/>
                </a:cubicBezTo>
                <a:lnTo>
                  <a:pt x="0" y="30973"/>
                </a:lnTo>
                <a:cubicBezTo>
                  <a:pt x="0" y="13447"/>
                  <a:pt x="14478" y="-555"/>
                  <a:pt x="32004" y="17"/>
                </a:cubicBezTo>
                <a:lnTo>
                  <a:pt x="760000" y="25734"/>
                </a:lnTo>
                <a:cubicBezTo>
                  <a:pt x="776669" y="26306"/>
                  <a:pt x="789813" y="40022"/>
                  <a:pt x="789813" y="56691"/>
                </a:cubicBezTo>
                <a:lnTo>
                  <a:pt x="789813" y="1051291"/>
                </a:lnTo>
                <a:cubicBezTo>
                  <a:pt x="789908" y="1067674"/>
                  <a:pt x="777050" y="1081295"/>
                  <a:pt x="760571" y="1082152"/>
                </a:cubicBezTo>
                <a:close/>
              </a:path>
            </a:pathLst>
          </a:custGeom>
          <a:ln w="9525" cap="flat">
            <a:noFill/>
            <a:prstDash val="solid"/>
            <a:miter/>
          </a:ln>
          <a:effectLst>
            <a:outerShdw blurRad="139700" dist="63500" dir="5400000" algn="t" rotWithShape="0">
              <a:schemeClr val="accent5">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useBgFill="1">
        <p:nvSpPr>
          <p:cNvPr id="29" name="任意多边形: 形状 138"/>
          <p:cNvSpPr/>
          <p:nvPr>
            <p:custDataLst>
              <p:tags r:id="rId35"/>
            </p:custDataLst>
          </p:nvPr>
        </p:nvSpPr>
        <p:spPr>
          <a:xfrm flipH="1">
            <a:off x="8411845" y="2718118"/>
            <a:ext cx="2199005" cy="3124200"/>
          </a:xfrm>
          <a:custGeom>
            <a:avLst/>
            <a:gdLst>
              <a:gd name="connsiteX0" fmla="*/ 760571 w 789813"/>
              <a:gd name="connsiteY0" fmla="*/ 1082152 h 1121631"/>
              <a:gd name="connsiteX1" fmla="*/ 32576 w 789813"/>
              <a:gd name="connsiteY1" fmla="*/ 1121586 h 1121631"/>
              <a:gd name="connsiteX2" fmla="*/ 0 w 789813"/>
              <a:gd name="connsiteY2" fmla="*/ 1090725 h 1121631"/>
              <a:gd name="connsiteX3" fmla="*/ 0 w 789813"/>
              <a:gd name="connsiteY3" fmla="*/ 30973 h 1121631"/>
              <a:gd name="connsiteX4" fmla="*/ 32004 w 789813"/>
              <a:gd name="connsiteY4" fmla="*/ 17 h 1121631"/>
              <a:gd name="connsiteX5" fmla="*/ 760000 w 789813"/>
              <a:gd name="connsiteY5" fmla="*/ 25734 h 1121631"/>
              <a:gd name="connsiteX6" fmla="*/ 789813 w 789813"/>
              <a:gd name="connsiteY6" fmla="*/ 56691 h 1121631"/>
              <a:gd name="connsiteX7" fmla="*/ 789813 w 789813"/>
              <a:gd name="connsiteY7" fmla="*/ 1051291 h 1121631"/>
              <a:gd name="connsiteX8" fmla="*/ 760571 w 789813"/>
              <a:gd name="connsiteY8" fmla="*/ 1082152 h 1121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9813" h="1121631">
                <a:moveTo>
                  <a:pt x="760571" y="1082152"/>
                </a:moveTo>
                <a:lnTo>
                  <a:pt x="32576" y="1121586"/>
                </a:lnTo>
                <a:cubicBezTo>
                  <a:pt x="14859" y="1122538"/>
                  <a:pt x="0" y="1108441"/>
                  <a:pt x="0" y="1090725"/>
                </a:cubicBezTo>
                <a:lnTo>
                  <a:pt x="0" y="30973"/>
                </a:lnTo>
                <a:cubicBezTo>
                  <a:pt x="0" y="13447"/>
                  <a:pt x="14478" y="-555"/>
                  <a:pt x="32004" y="17"/>
                </a:cubicBezTo>
                <a:lnTo>
                  <a:pt x="760000" y="25734"/>
                </a:lnTo>
                <a:cubicBezTo>
                  <a:pt x="776669" y="26306"/>
                  <a:pt x="789813" y="40022"/>
                  <a:pt x="789813" y="56691"/>
                </a:cubicBezTo>
                <a:lnTo>
                  <a:pt x="789813" y="1051291"/>
                </a:lnTo>
                <a:cubicBezTo>
                  <a:pt x="789908" y="1067674"/>
                  <a:pt x="777050" y="1081295"/>
                  <a:pt x="760571" y="1082152"/>
                </a:cubicBezTo>
                <a:close/>
              </a:path>
            </a:pathLst>
          </a:custGeom>
          <a:ln w="9525" cap="flat">
            <a:solidFill>
              <a:schemeClr val="accent5">
                <a:alpha val="10000"/>
              </a:schemeClr>
            </a:solidFill>
            <a:prstDash val="solid"/>
            <a:miter/>
          </a:ln>
          <a:effectLst>
            <a:outerShdw blurRad="114300" dist="50800" dir="5400000" algn="t" rotWithShape="0">
              <a:schemeClr val="accent5">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useBgFill="1">
        <p:nvSpPr>
          <p:cNvPr id="40" name="任意多边形: 形状 138"/>
          <p:cNvSpPr/>
          <p:nvPr>
            <p:custDataLst>
              <p:tags r:id="rId36"/>
            </p:custDataLst>
          </p:nvPr>
        </p:nvSpPr>
        <p:spPr>
          <a:xfrm flipH="1">
            <a:off x="8411845" y="2718118"/>
            <a:ext cx="2199005" cy="3124200"/>
          </a:xfrm>
          <a:custGeom>
            <a:avLst/>
            <a:gdLst>
              <a:gd name="connsiteX0" fmla="*/ 760571 w 789813"/>
              <a:gd name="connsiteY0" fmla="*/ 1082152 h 1121631"/>
              <a:gd name="connsiteX1" fmla="*/ 32576 w 789813"/>
              <a:gd name="connsiteY1" fmla="*/ 1121586 h 1121631"/>
              <a:gd name="connsiteX2" fmla="*/ 0 w 789813"/>
              <a:gd name="connsiteY2" fmla="*/ 1090725 h 1121631"/>
              <a:gd name="connsiteX3" fmla="*/ 0 w 789813"/>
              <a:gd name="connsiteY3" fmla="*/ 30973 h 1121631"/>
              <a:gd name="connsiteX4" fmla="*/ 32004 w 789813"/>
              <a:gd name="connsiteY4" fmla="*/ 17 h 1121631"/>
              <a:gd name="connsiteX5" fmla="*/ 760000 w 789813"/>
              <a:gd name="connsiteY5" fmla="*/ 25734 h 1121631"/>
              <a:gd name="connsiteX6" fmla="*/ 789813 w 789813"/>
              <a:gd name="connsiteY6" fmla="*/ 56691 h 1121631"/>
              <a:gd name="connsiteX7" fmla="*/ 789813 w 789813"/>
              <a:gd name="connsiteY7" fmla="*/ 1051291 h 1121631"/>
              <a:gd name="connsiteX8" fmla="*/ 760571 w 789813"/>
              <a:gd name="connsiteY8" fmla="*/ 1082152 h 1121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9813" h="1121631">
                <a:moveTo>
                  <a:pt x="760571" y="1082152"/>
                </a:moveTo>
                <a:lnTo>
                  <a:pt x="32576" y="1121586"/>
                </a:lnTo>
                <a:cubicBezTo>
                  <a:pt x="14859" y="1122538"/>
                  <a:pt x="0" y="1108441"/>
                  <a:pt x="0" y="1090725"/>
                </a:cubicBezTo>
                <a:lnTo>
                  <a:pt x="0" y="30973"/>
                </a:lnTo>
                <a:cubicBezTo>
                  <a:pt x="0" y="13447"/>
                  <a:pt x="14478" y="-555"/>
                  <a:pt x="32004" y="17"/>
                </a:cubicBezTo>
                <a:lnTo>
                  <a:pt x="760000" y="25734"/>
                </a:lnTo>
                <a:cubicBezTo>
                  <a:pt x="776669" y="26306"/>
                  <a:pt x="789813" y="40022"/>
                  <a:pt x="789813" y="56691"/>
                </a:cubicBezTo>
                <a:lnTo>
                  <a:pt x="789813" y="1051291"/>
                </a:lnTo>
                <a:cubicBezTo>
                  <a:pt x="789908" y="1067674"/>
                  <a:pt x="777050" y="1081295"/>
                  <a:pt x="760571" y="1082152"/>
                </a:cubicBezTo>
                <a:close/>
              </a:path>
            </a:pathLst>
          </a:custGeom>
          <a:solidFill>
            <a:schemeClr val="lt1">
              <a:lumMod val="100000"/>
              <a:alpha val="20000"/>
            </a:schemeClr>
          </a:solidFill>
          <a:ln w="317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latin typeface="+mn-ea"/>
              <a:sym typeface="+mn-ea"/>
            </a:endParaRPr>
          </a:p>
        </p:txBody>
      </p:sp>
      <p:sp>
        <p:nvSpPr>
          <p:cNvPr id="41" name="任意多边形: 形状 138"/>
          <p:cNvSpPr/>
          <p:nvPr>
            <p:custDataLst>
              <p:tags r:id="rId37"/>
            </p:custDataLst>
          </p:nvPr>
        </p:nvSpPr>
        <p:spPr>
          <a:xfrm flipH="1">
            <a:off x="8411845" y="2718118"/>
            <a:ext cx="2199005" cy="3124200"/>
          </a:xfrm>
          <a:custGeom>
            <a:avLst/>
            <a:gdLst>
              <a:gd name="connsiteX0" fmla="*/ 760571 w 789813"/>
              <a:gd name="connsiteY0" fmla="*/ 1082152 h 1121631"/>
              <a:gd name="connsiteX1" fmla="*/ 32576 w 789813"/>
              <a:gd name="connsiteY1" fmla="*/ 1121586 h 1121631"/>
              <a:gd name="connsiteX2" fmla="*/ 0 w 789813"/>
              <a:gd name="connsiteY2" fmla="*/ 1090725 h 1121631"/>
              <a:gd name="connsiteX3" fmla="*/ 0 w 789813"/>
              <a:gd name="connsiteY3" fmla="*/ 30973 h 1121631"/>
              <a:gd name="connsiteX4" fmla="*/ 32004 w 789813"/>
              <a:gd name="connsiteY4" fmla="*/ 17 h 1121631"/>
              <a:gd name="connsiteX5" fmla="*/ 760000 w 789813"/>
              <a:gd name="connsiteY5" fmla="*/ 25734 h 1121631"/>
              <a:gd name="connsiteX6" fmla="*/ 789813 w 789813"/>
              <a:gd name="connsiteY6" fmla="*/ 56691 h 1121631"/>
              <a:gd name="connsiteX7" fmla="*/ 789813 w 789813"/>
              <a:gd name="connsiteY7" fmla="*/ 1051291 h 1121631"/>
              <a:gd name="connsiteX8" fmla="*/ 760571 w 789813"/>
              <a:gd name="connsiteY8" fmla="*/ 1082152 h 1121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9813" h="1121631">
                <a:moveTo>
                  <a:pt x="760571" y="1082152"/>
                </a:moveTo>
                <a:lnTo>
                  <a:pt x="32576" y="1121586"/>
                </a:lnTo>
                <a:cubicBezTo>
                  <a:pt x="14859" y="1122538"/>
                  <a:pt x="0" y="1108441"/>
                  <a:pt x="0" y="1090725"/>
                </a:cubicBezTo>
                <a:lnTo>
                  <a:pt x="0" y="30973"/>
                </a:lnTo>
                <a:cubicBezTo>
                  <a:pt x="0" y="13447"/>
                  <a:pt x="14478" y="-555"/>
                  <a:pt x="32004" y="17"/>
                </a:cubicBezTo>
                <a:lnTo>
                  <a:pt x="760000" y="25734"/>
                </a:lnTo>
                <a:cubicBezTo>
                  <a:pt x="776669" y="26306"/>
                  <a:pt x="789813" y="40022"/>
                  <a:pt x="789813" y="56691"/>
                </a:cubicBezTo>
                <a:lnTo>
                  <a:pt x="789813" y="1051291"/>
                </a:lnTo>
                <a:cubicBezTo>
                  <a:pt x="789908" y="1067674"/>
                  <a:pt x="777050" y="1081295"/>
                  <a:pt x="760571" y="1082152"/>
                </a:cubicBezTo>
                <a:close/>
              </a:path>
            </a:pathLst>
          </a:custGeom>
          <a:gradFill>
            <a:gsLst>
              <a:gs pos="100000">
                <a:schemeClr val="accent5">
                  <a:lumMod val="60000"/>
                  <a:lumOff val="40000"/>
                  <a:alpha val="0"/>
                </a:schemeClr>
              </a:gs>
              <a:gs pos="0">
                <a:schemeClr val="accent5">
                  <a:lumMod val="60000"/>
                  <a:lumOff val="40000"/>
                  <a:alpha val="10000"/>
                </a:schemeClr>
              </a:gs>
            </a:gsLst>
            <a:lin ang="5400000" scaled="0"/>
          </a:gradFill>
          <a:ln w="4763" cap="flat">
            <a:noFill/>
            <a:prstDash val="solid"/>
            <a:miter/>
          </a:ln>
          <a:effectLst>
            <a:outerShdw blurRad="114300" dist="76200" dir="5400000" algn="t" rotWithShape="0">
              <a:schemeClr val="accent5">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p:nvSpPr>
          <p:cNvPr id="43" name="文本框 42"/>
          <p:cNvSpPr txBox="1"/>
          <p:nvPr>
            <p:custDataLst>
              <p:tags r:id="rId38"/>
            </p:custDataLst>
          </p:nvPr>
        </p:nvSpPr>
        <p:spPr>
          <a:xfrm>
            <a:off x="8572500" y="3117215"/>
            <a:ext cx="1877695" cy="380365"/>
          </a:xfrm>
          <a:prstGeom prst="rect">
            <a:avLst/>
          </a:prstGeom>
          <a:noFill/>
        </p:spPr>
        <p:txBody>
          <a:bodyPr wrap="square" lIns="0" tIns="0" rIns="0" bIns="0" rtlCol="0" anchor="ctr" anchorCtr="0">
            <a:noAutofit/>
          </a:bodyPr>
          <a:lstStyle/>
          <a:p>
            <a:pPr algn="l"/>
            <a:r>
              <a:rPr lang="zh-CN" altLang="en-US" b="1">
                <a:solidFill>
                  <a:schemeClr val="accent5"/>
                </a:solidFill>
              </a:rPr>
              <a:t>重要时期安全保障</a:t>
            </a:r>
            <a:endParaRPr lang="zh-CN" altLang="en-US" b="1">
              <a:solidFill>
                <a:schemeClr val="accent5"/>
              </a:solidFill>
            </a:endParaRPr>
          </a:p>
        </p:txBody>
      </p:sp>
      <p:sp>
        <p:nvSpPr>
          <p:cNvPr id="44" name="文本框 43"/>
          <p:cNvSpPr txBox="1"/>
          <p:nvPr>
            <p:custDataLst>
              <p:tags r:id="rId39"/>
            </p:custDataLst>
          </p:nvPr>
        </p:nvSpPr>
        <p:spPr>
          <a:xfrm>
            <a:off x="8572500" y="3821430"/>
            <a:ext cx="1958975" cy="1911985"/>
          </a:xfrm>
          <a:prstGeom prst="rect">
            <a:avLst/>
          </a:prstGeom>
          <a:noFill/>
        </p:spPr>
        <p:txBody>
          <a:bodyPr wrap="square" lIns="0" tIns="0" rIns="0" bIns="0" rtlCol="0" anchor="t" anchorCtr="0">
            <a:noAutofit/>
          </a:bodyPr>
          <a:lstStyle/>
          <a:p>
            <a:pPr lvl="0" algn="l">
              <a:lnSpc>
                <a:spcPct val="150000"/>
              </a:lnSpc>
              <a:spcAft>
                <a:spcPts val="1000"/>
              </a:spcAft>
              <a:buClrTx/>
              <a:buSzTx/>
              <a:buFontTx/>
            </a:pP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提升重点时期网络安全保障和应急能力</a:t>
            </a: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通过专项风险加固、全量威胁监测、多级安全专家协同</a:t>
            </a: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提高单位重要时期网络安全保障水平，</a:t>
            </a: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帮助</a:t>
            </a:r>
            <a:endPar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45" name="直接连接符 44"/>
          <p:cNvCxnSpPr/>
          <p:nvPr>
            <p:custDataLst>
              <p:tags r:id="rId40"/>
            </p:custDataLst>
          </p:nvPr>
        </p:nvCxnSpPr>
        <p:spPr>
          <a:xfrm>
            <a:off x="8604250" y="3624898"/>
            <a:ext cx="387985" cy="0"/>
          </a:xfrm>
          <a:prstGeom prst="line">
            <a:avLst/>
          </a:prstGeom>
          <a:ln w="22225" cap="rnd">
            <a:gradFill>
              <a:gsLst>
                <a:gs pos="0">
                  <a:schemeClr val="accent5">
                    <a:alpha val="100000"/>
                  </a:schemeClr>
                </a:gs>
                <a:gs pos="100000">
                  <a:schemeClr val="accent5">
                    <a:alpha val="71000"/>
                  </a:schemeClr>
                </a:gs>
              </a:gsLst>
              <a:lin ang="0" scaled="1"/>
            </a:gradFill>
            <a:round/>
          </a:ln>
        </p:spPr>
        <p:style>
          <a:lnRef idx="2">
            <a:schemeClr val="accent1"/>
          </a:lnRef>
          <a:fillRef idx="0">
            <a:srgbClr val="FFFFFF"/>
          </a:fillRef>
          <a:effectRef idx="0">
            <a:srgbClr val="FFFFFF"/>
          </a:effectRef>
          <a:fontRef idx="minor">
            <a:schemeClr val="tx1"/>
          </a:fontRef>
        </p:style>
      </p:cxnSp>
      <p:sp>
        <p:nvSpPr>
          <p:cNvPr id="46" name="椭圆 45"/>
          <p:cNvSpPr/>
          <p:nvPr>
            <p:custDataLst>
              <p:tags r:id="rId41"/>
            </p:custDataLst>
          </p:nvPr>
        </p:nvSpPr>
        <p:spPr>
          <a:xfrm>
            <a:off x="8572500" y="2487613"/>
            <a:ext cx="424815" cy="424815"/>
          </a:xfrm>
          <a:prstGeom prst="ellipse">
            <a:avLst/>
          </a:prstGeom>
          <a:gradFill>
            <a:gsLst>
              <a:gs pos="100000">
                <a:schemeClr val="accent5">
                  <a:lumMod val="60000"/>
                  <a:lumOff val="40000"/>
                  <a:alpha val="100000"/>
                </a:schemeClr>
              </a:gs>
              <a:gs pos="2000">
                <a:schemeClr val="accent5">
                  <a:alpha val="100000"/>
                </a:schemeClr>
              </a:gs>
            </a:gsLst>
            <a:lin ang="2700000" scaled="0"/>
          </a:gradFill>
          <a:ln>
            <a:noFill/>
          </a:ln>
          <a:effectLst>
            <a:outerShdw blurRad="76200" dist="76200" dir="5400000" sx="97000" sy="97000" algn="t" rotWithShape="0">
              <a:schemeClr val="accent5">
                <a:lumMod val="75000"/>
                <a:alpha val="15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lt1"/>
              </a:solidFill>
            </a:endParaRPr>
          </a:p>
        </p:txBody>
      </p:sp>
      <p:pic>
        <p:nvPicPr>
          <p:cNvPr id="48" name="图片 47" descr="333438303937363b333438313035353bb2fac6b7c4a3d0cd"/>
          <p:cNvPicPr>
            <a:picLocks noChangeAspect="1"/>
          </p:cNvPicPr>
          <p:nvPr>
            <p:custDataLst>
              <p:tags r:id="rId42"/>
            </p:custDataLst>
          </p:nvPr>
        </p:nvPicPr>
        <p:blipFill>
          <a:blip r:embed="rId43">
            <a:extLst>
              <a:ext uri="{96DAC541-7B7A-43D3-8B79-37D633B846F1}">
                <asvg:svgBlip xmlns:asvg="http://schemas.microsoft.com/office/drawing/2016/SVG/main" r:embed="rId44"/>
              </a:ext>
            </a:extLst>
          </a:blip>
          <a:stretch>
            <a:fillRect/>
          </a:stretch>
        </p:blipFill>
        <p:spPr>
          <a:xfrm>
            <a:off x="8676640" y="2591753"/>
            <a:ext cx="215900" cy="215900"/>
          </a:xfrm>
          <a:prstGeom prst="rect">
            <a:avLst/>
          </a:prstGeom>
        </p:spPr>
      </p:pic>
      <p:sp>
        <p:nvSpPr>
          <p:cNvPr id="54" name="任意多边形: 形状 143"/>
          <p:cNvSpPr/>
          <p:nvPr>
            <p:custDataLst>
              <p:tags r:id="rId45"/>
            </p:custDataLst>
          </p:nvPr>
        </p:nvSpPr>
        <p:spPr>
          <a:xfrm>
            <a:off x="8656320" y="6044883"/>
            <a:ext cx="1631950" cy="244475"/>
          </a:xfrm>
          <a:custGeom>
            <a:avLst/>
            <a:gdLst>
              <a:gd name="connsiteX0" fmla="*/ 682943 w 682942"/>
              <a:gd name="connsiteY0" fmla="*/ 48101 h 96202"/>
              <a:gd name="connsiteX1" fmla="*/ 341471 w 682942"/>
              <a:gd name="connsiteY1" fmla="*/ 96203 h 96202"/>
              <a:gd name="connsiteX2" fmla="*/ 0 w 682942"/>
              <a:gd name="connsiteY2" fmla="*/ 48101 h 96202"/>
              <a:gd name="connsiteX3" fmla="*/ 341471 w 682942"/>
              <a:gd name="connsiteY3" fmla="*/ 0 h 96202"/>
              <a:gd name="connsiteX4" fmla="*/ 682943 w 682942"/>
              <a:gd name="connsiteY4" fmla="*/ 48101 h 96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942" h="96202">
                <a:moveTo>
                  <a:pt x="682943" y="48101"/>
                </a:moveTo>
                <a:cubicBezTo>
                  <a:pt x="682943" y="74667"/>
                  <a:pt x="530061" y="96203"/>
                  <a:pt x="341471" y="96203"/>
                </a:cubicBezTo>
                <a:cubicBezTo>
                  <a:pt x="152882" y="96203"/>
                  <a:pt x="0" y="74667"/>
                  <a:pt x="0" y="48101"/>
                </a:cubicBezTo>
                <a:cubicBezTo>
                  <a:pt x="0" y="21536"/>
                  <a:pt x="152882" y="0"/>
                  <a:pt x="341471" y="0"/>
                </a:cubicBezTo>
                <a:cubicBezTo>
                  <a:pt x="530061" y="0"/>
                  <a:pt x="682943" y="21536"/>
                  <a:pt x="682943" y="48101"/>
                </a:cubicBezTo>
                <a:close/>
              </a:path>
            </a:pathLst>
          </a:custGeom>
          <a:noFill/>
          <a:ln w="4763" cap="flat">
            <a:gradFill>
              <a:gsLst>
                <a:gs pos="0">
                  <a:schemeClr val="accent5">
                    <a:alpha val="50000"/>
                  </a:schemeClr>
                </a:gs>
                <a:gs pos="100000">
                  <a:schemeClr val="accent5">
                    <a:lumMod val="60000"/>
                    <a:lumOff val="40000"/>
                    <a:alpha val="0"/>
                  </a:schemeClr>
                </a:gs>
              </a:gsLst>
              <a:lin ang="162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p:nvSpPr>
          <p:cNvPr id="55" name="任意多边形: 形状 144"/>
          <p:cNvSpPr/>
          <p:nvPr>
            <p:custDataLst>
              <p:tags r:id="rId46"/>
            </p:custDataLst>
          </p:nvPr>
        </p:nvSpPr>
        <p:spPr>
          <a:xfrm>
            <a:off x="8399780" y="5990908"/>
            <a:ext cx="2131060" cy="354965"/>
          </a:xfrm>
          <a:custGeom>
            <a:avLst/>
            <a:gdLst>
              <a:gd name="connsiteX0" fmla="*/ 891921 w 891921"/>
              <a:gd name="connsiteY0" fmla="*/ 69723 h 139446"/>
              <a:gd name="connsiteX1" fmla="*/ 445961 w 891921"/>
              <a:gd name="connsiteY1" fmla="*/ 139446 h 139446"/>
              <a:gd name="connsiteX2" fmla="*/ 0 w 891921"/>
              <a:gd name="connsiteY2" fmla="*/ 69723 h 139446"/>
              <a:gd name="connsiteX3" fmla="*/ 445961 w 891921"/>
              <a:gd name="connsiteY3" fmla="*/ 0 h 139446"/>
              <a:gd name="connsiteX4" fmla="*/ 891921 w 891921"/>
              <a:gd name="connsiteY4" fmla="*/ 69723 h 139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921" h="139446">
                <a:moveTo>
                  <a:pt x="891921" y="69723"/>
                </a:moveTo>
                <a:cubicBezTo>
                  <a:pt x="891921" y="108230"/>
                  <a:pt x="692258" y="139446"/>
                  <a:pt x="445961" y="139446"/>
                </a:cubicBezTo>
                <a:cubicBezTo>
                  <a:pt x="199663" y="139446"/>
                  <a:pt x="0" y="108230"/>
                  <a:pt x="0" y="69723"/>
                </a:cubicBezTo>
                <a:cubicBezTo>
                  <a:pt x="0" y="31216"/>
                  <a:pt x="199663" y="0"/>
                  <a:pt x="445961" y="0"/>
                </a:cubicBezTo>
                <a:cubicBezTo>
                  <a:pt x="692258" y="0"/>
                  <a:pt x="891921" y="31216"/>
                  <a:pt x="891921" y="69723"/>
                </a:cubicBezTo>
                <a:close/>
              </a:path>
            </a:pathLst>
          </a:custGeom>
          <a:noFill/>
          <a:ln w="4763" cap="flat">
            <a:gradFill>
              <a:gsLst>
                <a:gs pos="0">
                  <a:schemeClr val="accent5">
                    <a:alpha val="30000"/>
                  </a:schemeClr>
                </a:gs>
                <a:gs pos="84000">
                  <a:schemeClr val="accent5">
                    <a:lumMod val="60000"/>
                    <a:lumOff val="40000"/>
                    <a:alpha val="0"/>
                  </a:schemeClr>
                </a:gs>
              </a:gsLst>
              <a:lin ang="162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p:nvSpPr>
          <p:cNvPr id="56" name="图形 146"/>
          <p:cNvSpPr/>
          <p:nvPr>
            <p:custDataLst>
              <p:tags r:id="rId47"/>
            </p:custDataLst>
          </p:nvPr>
        </p:nvSpPr>
        <p:spPr>
          <a:xfrm>
            <a:off x="8893175" y="6100763"/>
            <a:ext cx="1145540" cy="129540"/>
          </a:xfrm>
          <a:custGeom>
            <a:avLst/>
            <a:gdLst>
              <a:gd name="connsiteX0" fmla="*/ 468440 w 468439"/>
              <a:gd name="connsiteY0" fmla="*/ 26480 h 52958"/>
              <a:gd name="connsiteX1" fmla="*/ 234220 w 468439"/>
              <a:gd name="connsiteY1" fmla="*/ 52959 h 52958"/>
              <a:gd name="connsiteX2" fmla="*/ 0 w 468439"/>
              <a:gd name="connsiteY2" fmla="*/ 26480 h 52958"/>
              <a:gd name="connsiteX3" fmla="*/ 234220 w 468439"/>
              <a:gd name="connsiteY3" fmla="*/ 0 h 52958"/>
              <a:gd name="connsiteX4" fmla="*/ 468440 w 468439"/>
              <a:gd name="connsiteY4" fmla="*/ 26480 h 52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439" h="52958">
                <a:moveTo>
                  <a:pt x="468440" y="26480"/>
                </a:moveTo>
                <a:cubicBezTo>
                  <a:pt x="468440" y="41104"/>
                  <a:pt x="363576" y="52959"/>
                  <a:pt x="234220" y="52959"/>
                </a:cubicBezTo>
                <a:cubicBezTo>
                  <a:pt x="104864" y="52959"/>
                  <a:pt x="0" y="41104"/>
                  <a:pt x="0" y="26480"/>
                </a:cubicBezTo>
                <a:cubicBezTo>
                  <a:pt x="0" y="11855"/>
                  <a:pt x="104864" y="0"/>
                  <a:pt x="234220" y="0"/>
                </a:cubicBezTo>
                <a:cubicBezTo>
                  <a:pt x="363576" y="0"/>
                  <a:pt x="468440" y="11855"/>
                  <a:pt x="468440" y="26480"/>
                </a:cubicBezTo>
                <a:close/>
              </a:path>
            </a:pathLst>
          </a:custGeom>
          <a:gradFill>
            <a:gsLst>
              <a:gs pos="100000">
                <a:schemeClr val="accent5">
                  <a:alpha val="0"/>
                </a:schemeClr>
              </a:gs>
              <a:gs pos="0">
                <a:schemeClr val="accent5">
                  <a:alpha val="75000"/>
                </a:schemeClr>
              </a:gs>
            </a:gsLst>
            <a:lin ang="16200000" scaled="0"/>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cxnSp>
        <p:nvCxnSpPr>
          <p:cNvPr id="62" name="直接连接符 61"/>
          <p:cNvCxnSpPr/>
          <p:nvPr>
            <p:custDataLst>
              <p:tags r:id="rId48"/>
            </p:custDataLst>
          </p:nvPr>
        </p:nvCxnSpPr>
        <p:spPr>
          <a:xfrm>
            <a:off x="7586980" y="4444683"/>
            <a:ext cx="460375" cy="0"/>
          </a:xfrm>
          <a:prstGeom prst="line">
            <a:avLst/>
          </a:prstGeom>
          <a:ln cap="rnd">
            <a:gradFill>
              <a:gsLst>
                <a:gs pos="0">
                  <a:schemeClr val="accent5">
                    <a:alpha val="90000"/>
                  </a:schemeClr>
                </a:gs>
                <a:gs pos="100000">
                  <a:schemeClr val="accent5">
                    <a:lumMod val="60000"/>
                    <a:lumOff val="40000"/>
                    <a:alpha val="0"/>
                  </a:schemeClr>
                </a:gs>
              </a:gsLst>
              <a:lin ang="10800000" scaled="1"/>
            </a:gradFill>
            <a:round/>
            <a:tailEnd type="triangle"/>
          </a:ln>
        </p:spPr>
        <p:style>
          <a:lnRef idx="2">
            <a:schemeClr val="accent1"/>
          </a:lnRef>
          <a:fillRef idx="0">
            <a:srgbClr val="FFFFFF"/>
          </a:fillRef>
          <a:effectRef idx="0">
            <a:srgbClr val="FFFFFF"/>
          </a:effectRef>
          <a:fontRef idx="minor">
            <a:schemeClr val="tx1"/>
          </a:fontRef>
        </p:style>
      </p:cxnSp>
    </p:spTree>
    <p:custDataLst>
      <p:tags r:id="rId49"/>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组 33832@2x (1)"/>
          <p:cNvPicPr>
            <a:picLocks noChangeAspect="1"/>
          </p:cNvPicPr>
          <p:nvPr/>
        </p:nvPicPr>
        <p:blipFill>
          <a:blip r:embed="rId1"/>
          <a:stretch>
            <a:fillRect/>
          </a:stretch>
        </p:blipFill>
        <p:spPr>
          <a:xfrm>
            <a:off x="0" y="1936115"/>
            <a:ext cx="10034270" cy="4688205"/>
          </a:xfrm>
          <a:prstGeom prst="rect">
            <a:avLst/>
          </a:prstGeom>
        </p:spPr>
      </p:pic>
      <p:sp>
        <p:nvSpPr>
          <p:cNvPr id="80" name="椭圆 79"/>
          <p:cNvSpPr/>
          <p:nvPr/>
        </p:nvSpPr>
        <p:spPr>
          <a:xfrm>
            <a:off x="7504430" y="4028440"/>
            <a:ext cx="2442845" cy="1725930"/>
          </a:xfrm>
          <a:prstGeom prst="ellipse">
            <a:avLst/>
          </a:prstGeom>
          <a:gradFill>
            <a:gsLst>
              <a:gs pos="100000">
                <a:schemeClr val="bg1"/>
              </a:gs>
              <a:gs pos="0">
                <a:schemeClr val="bg1">
                  <a:alpha val="28000"/>
                </a:schemeClr>
              </a:gs>
            </a:gsLst>
            <a:lin ang="5400000" scaled="0"/>
          </a:gradFill>
          <a:ln>
            <a:solidFill>
              <a:schemeClr val="tx2">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9" name="椭圆 78"/>
          <p:cNvSpPr/>
          <p:nvPr/>
        </p:nvSpPr>
        <p:spPr>
          <a:xfrm>
            <a:off x="7504430" y="2788285"/>
            <a:ext cx="2442845" cy="1725930"/>
          </a:xfrm>
          <a:prstGeom prst="ellipse">
            <a:avLst/>
          </a:prstGeom>
          <a:gradFill>
            <a:gsLst>
              <a:gs pos="0">
                <a:schemeClr val="bg1"/>
              </a:gs>
              <a:gs pos="100000">
                <a:schemeClr val="bg1">
                  <a:alpha val="0"/>
                </a:schemeClr>
              </a:gs>
            </a:gsLst>
            <a:lin ang="5400000" scaled="0"/>
          </a:gradFill>
          <a:ln>
            <a:solidFill>
              <a:schemeClr val="tx2">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矩形 14"/>
          <p:cNvSpPr/>
          <p:nvPr>
            <p:custDataLst>
              <p:tags r:id="rId2"/>
            </p:custDataLst>
          </p:nvPr>
        </p:nvSpPr>
        <p:spPr>
          <a:xfrm>
            <a:off x="10292715" y="2060575"/>
            <a:ext cx="1260000" cy="180000"/>
          </a:xfrm>
          <a:prstGeom prst="rect">
            <a:avLst/>
          </a:prstGeom>
          <a:noFill/>
        </p:spPr>
        <p:txBody>
          <a:bodyPr wrap="square" lIns="0" tIns="0" rIns="0" bIns="0" rtlCol="0" anchor="ctr" anchorCtr="0">
            <a:noAutofit/>
          </a:bodyPr>
          <a:p>
            <a:pPr algn="just">
              <a:spcBef>
                <a:spcPct val="0"/>
              </a:spcBef>
              <a:spcAft>
                <a:spcPct val="0"/>
              </a:spcAft>
            </a:pPr>
            <a:r>
              <a:rPr lang="zh-CN" altLang="en-US" sz="1200">
                <a:solidFill>
                  <a:schemeClr val="accent5"/>
                </a:solidFill>
                <a:latin typeface="Source Han Sans CN Medium" panose="020B0600000000000000" charset="-122"/>
                <a:ea typeface="Source Han Sans CN Medium" panose="020B0600000000000000" charset="-122"/>
                <a:cs typeface="+mn-ea"/>
                <a:sym typeface="+mn-ea"/>
              </a:rPr>
              <a:t>下一代防火墙</a:t>
            </a:r>
            <a:endParaRPr lang="zh-CN" altLang="en-US" sz="1200">
              <a:solidFill>
                <a:schemeClr val="accent5"/>
              </a:solidFill>
              <a:latin typeface="Source Han Sans CN Medium" panose="020B0600000000000000" charset="-122"/>
              <a:ea typeface="Source Han Sans CN Medium" panose="020B0600000000000000" charset="-122"/>
              <a:cs typeface="+mn-ea"/>
              <a:sym typeface="+mn-ea"/>
            </a:endParaRPr>
          </a:p>
        </p:txBody>
      </p:sp>
      <p:sp>
        <p:nvSpPr>
          <p:cNvPr id="17" name="矩形 16"/>
          <p:cNvSpPr/>
          <p:nvPr>
            <p:custDataLst>
              <p:tags r:id="rId3"/>
            </p:custDataLst>
          </p:nvPr>
        </p:nvSpPr>
        <p:spPr>
          <a:xfrm>
            <a:off x="10292715" y="2240280"/>
            <a:ext cx="1672590" cy="540385"/>
          </a:xfrm>
          <a:prstGeom prst="rect">
            <a:avLst/>
          </a:prstGeom>
          <a:noFill/>
        </p:spPr>
        <p:txBody>
          <a:bodyPr wrap="square" lIns="0" tIns="0" rIns="0" bIns="0" rtlCol="0" anchor="t" anchorCtr="0">
            <a:noAutofit/>
          </a:bodyPr>
          <a:p>
            <a:pPr indent="0" algn="just" fontAlgn="auto">
              <a:lnSpc>
                <a:spcPct val="100000"/>
              </a:lnSpc>
              <a:spcBef>
                <a:spcPct val="0"/>
              </a:spcBef>
              <a:spcAft>
                <a:spcPct val="0"/>
              </a:spcAft>
            </a:pPr>
            <a:r>
              <a:rPr lang="zh-CN" altLang="en-US" sz="9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mn-ea"/>
                <a:sym typeface="+mn-ea"/>
              </a:rPr>
              <a:t>提供攻击路径上的应用层网络攻击保护，接入安全运营平台统一管理和联动响应。</a:t>
            </a:r>
            <a:endParaRPr lang="zh-CN" altLang="en-US" sz="9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mn-ea"/>
              <a:sym typeface="+mn-ea"/>
            </a:endParaRPr>
          </a:p>
        </p:txBody>
      </p:sp>
      <p:sp>
        <p:nvSpPr>
          <p:cNvPr id="24" name="矩形 23"/>
          <p:cNvSpPr/>
          <p:nvPr>
            <p:custDataLst>
              <p:tags r:id="rId4"/>
            </p:custDataLst>
          </p:nvPr>
        </p:nvSpPr>
        <p:spPr>
          <a:xfrm>
            <a:off x="10155238" y="2073275"/>
            <a:ext cx="32400" cy="612000"/>
          </a:xfrm>
          <a:prstGeom prst="rect">
            <a:avLst/>
          </a:prstGeom>
          <a:solidFill>
            <a:schemeClr val="accent5">
              <a:lumMod val="60000"/>
              <a:lumOff val="40000"/>
              <a:alpha val="7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400">
              <a:solidFill>
                <a:schemeClr val="lt1"/>
              </a:solidFill>
              <a:latin typeface="微软雅黑" panose="020B0503020204020204" charset="-122"/>
              <a:ea typeface="微软雅黑" panose="020B0503020204020204" charset="-122"/>
            </a:endParaRPr>
          </a:p>
        </p:txBody>
      </p:sp>
      <p:sp>
        <p:nvSpPr>
          <p:cNvPr id="25" name="矩形 24"/>
          <p:cNvSpPr/>
          <p:nvPr>
            <p:custDataLst>
              <p:tags r:id="rId5"/>
            </p:custDataLst>
          </p:nvPr>
        </p:nvSpPr>
        <p:spPr>
          <a:xfrm>
            <a:off x="10292715" y="3830320"/>
            <a:ext cx="1350010" cy="179705"/>
          </a:xfrm>
          <a:prstGeom prst="rect">
            <a:avLst/>
          </a:prstGeom>
          <a:noFill/>
        </p:spPr>
        <p:txBody>
          <a:bodyPr wrap="square" lIns="0" tIns="0" rIns="0" bIns="0" rtlCol="0" anchor="b">
            <a:noAutofit/>
          </a:bodyPr>
          <a:p>
            <a:pPr algn="just">
              <a:spcBef>
                <a:spcPct val="0"/>
              </a:spcBef>
              <a:spcAft>
                <a:spcPct val="0"/>
              </a:spcAft>
            </a:pPr>
            <a:r>
              <a:rPr lang="zh-CN" altLang="en-US" sz="1200">
                <a:solidFill>
                  <a:schemeClr val="accent5"/>
                </a:solidFill>
                <a:latin typeface="Source Han Sans CN Medium" panose="020B0600000000000000" charset="-122"/>
                <a:ea typeface="Source Han Sans CN Medium" panose="020B0600000000000000" charset="-122"/>
                <a:cs typeface="+mn-ea"/>
                <a:sym typeface="+mn-ea"/>
              </a:rPr>
              <a:t>端点安全软件</a:t>
            </a:r>
            <a:endParaRPr lang="zh-CN" altLang="en-US" sz="1200">
              <a:solidFill>
                <a:schemeClr val="accent5"/>
              </a:solidFill>
              <a:latin typeface="Source Han Sans CN Medium" panose="020B0600000000000000" charset="-122"/>
              <a:ea typeface="Source Han Sans CN Medium" panose="020B0600000000000000" charset="-122"/>
              <a:cs typeface="+mn-ea"/>
              <a:sym typeface="+mn-ea"/>
            </a:endParaRPr>
          </a:p>
        </p:txBody>
      </p:sp>
      <p:sp>
        <p:nvSpPr>
          <p:cNvPr id="27" name="矩形 26"/>
          <p:cNvSpPr/>
          <p:nvPr>
            <p:custDataLst>
              <p:tags r:id="rId6"/>
            </p:custDataLst>
          </p:nvPr>
        </p:nvSpPr>
        <p:spPr>
          <a:xfrm>
            <a:off x="10292715" y="4010660"/>
            <a:ext cx="1672590" cy="539750"/>
          </a:xfrm>
          <a:prstGeom prst="rect">
            <a:avLst/>
          </a:prstGeom>
          <a:noFill/>
        </p:spPr>
        <p:txBody>
          <a:bodyPr wrap="square" lIns="0" tIns="0" rIns="0" bIns="0" rtlCol="0" anchor="t" anchorCtr="0">
            <a:noAutofit/>
          </a:bodyPr>
          <a:p>
            <a:pPr indent="0" algn="just" fontAlgn="auto">
              <a:lnSpc>
                <a:spcPct val="100000"/>
              </a:lnSpc>
              <a:spcBef>
                <a:spcPct val="0"/>
              </a:spcBef>
              <a:spcAft>
                <a:spcPct val="0"/>
              </a:spcAft>
            </a:pPr>
            <a:r>
              <a:rPr lang="en-US" altLang="en-US" sz="900">
                <a:ln>
                  <a:noFill/>
                  <a:prstDash val="sysDot"/>
                </a:ln>
                <a:solidFill>
                  <a:schemeClr val="tx1">
                    <a:lumMod val="65000"/>
                    <a:lumOff val="35000"/>
                  </a:schemeClr>
                </a:solidFill>
                <a:uFillTx/>
                <a:latin typeface="Source Han Sans CN Regular" panose="020B0600000000000000" charset="-122"/>
                <a:ea typeface="Source Han Sans CN Regular" panose="020B0600000000000000" charset="-122"/>
                <a:cs typeface="Source Han Sans CN Regular" panose="020B0600000000000000" charset="-122"/>
                <a:sym typeface="+mn-ea"/>
              </a:rPr>
              <a:t>AES</a:t>
            </a:r>
            <a:r>
              <a:rPr lang="zh-CN" altLang="en-US" sz="900">
                <a:ln>
                  <a:noFill/>
                  <a:prstDash val="sysDot"/>
                </a:ln>
                <a:solidFill>
                  <a:schemeClr val="tx1">
                    <a:lumMod val="65000"/>
                    <a:lumOff val="35000"/>
                  </a:schemeClr>
                </a:solidFill>
                <a:uFillTx/>
                <a:latin typeface="Source Han Sans CN Regular" panose="020B0600000000000000" charset="-122"/>
                <a:ea typeface="Source Han Sans CN Regular" panose="020B0600000000000000" charset="-122"/>
                <a:cs typeface="Source Han Sans CN Regular" panose="020B0600000000000000" charset="-122"/>
                <a:sym typeface="+mn-ea"/>
              </a:rPr>
              <a:t>实现端点恶意文件</a:t>
            </a:r>
            <a:r>
              <a:rPr lang="en-US" altLang="zh-CN" sz="900">
                <a:ln>
                  <a:noFill/>
                  <a:prstDash val="sysDot"/>
                </a:ln>
                <a:solidFill>
                  <a:schemeClr val="tx1">
                    <a:lumMod val="65000"/>
                    <a:lumOff val="35000"/>
                  </a:schemeClr>
                </a:solidFill>
                <a:uFillTx/>
                <a:latin typeface="Source Han Sans CN Regular" panose="020B0600000000000000" charset="-122"/>
                <a:ea typeface="Source Han Sans CN Regular" panose="020B0600000000000000" charset="-122"/>
                <a:cs typeface="Source Han Sans CN Regular" panose="020B0600000000000000" charset="-122"/>
                <a:sym typeface="+mn-ea"/>
              </a:rPr>
              <a:t>/</a:t>
            </a:r>
            <a:r>
              <a:rPr lang="zh-CN" altLang="en-US" sz="900">
                <a:ln>
                  <a:noFill/>
                  <a:prstDash val="sysDot"/>
                </a:ln>
                <a:solidFill>
                  <a:schemeClr val="tx1">
                    <a:lumMod val="65000"/>
                    <a:lumOff val="35000"/>
                  </a:schemeClr>
                </a:solidFill>
                <a:uFillTx/>
                <a:latin typeface="Source Han Sans CN Regular" panose="020B0600000000000000" charset="-122"/>
                <a:ea typeface="Source Han Sans CN Regular" panose="020B0600000000000000" charset="-122"/>
                <a:cs typeface="Source Han Sans CN Regular" panose="020B0600000000000000" charset="-122"/>
                <a:sym typeface="+mn-ea"/>
              </a:rPr>
              <a:t>进程</a:t>
            </a:r>
            <a:r>
              <a:rPr lang="en-US" altLang="zh-CN" sz="900">
                <a:ln>
                  <a:noFill/>
                  <a:prstDash val="sysDot"/>
                </a:ln>
                <a:solidFill>
                  <a:schemeClr val="tx1">
                    <a:lumMod val="65000"/>
                    <a:lumOff val="35000"/>
                  </a:schemeClr>
                </a:solidFill>
                <a:uFillTx/>
                <a:latin typeface="Source Han Sans CN Regular" panose="020B0600000000000000" charset="-122"/>
                <a:ea typeface="Source Han Sans CN Regular" panose="020B0600000000000000" charset="-122"/>
                <a:cs typeface="Source Han Sans CN Regular" panose="020B0600000000000000" charset="-122"/>
                <a:sym typeface="+mn-ea"/>
              </a:rPr>
              <a:t>/</a:t>
            </a:r>
            <a:r>
              <a:rPr lang="zh-CN" altLang="en-US" sz="900">
                <a:ln>
                  <a:noFill/>
                  <a:prstDash val="sysDot"/>
                </a:ln>
                <a:solidFill>
                  <a:schemeClr val="tx1">
                    <a:lumMod val="65000"/>
                    <a:lumOff val="35000"/>
                  </a:schemeClr>
                </a:solidFill>
                <a:uFillTx/>
                <a:latin typeface="Source Han Sans CN Regular" panose="020B0600000000000000" charset="-122"/>
                <a:ea typeface="Source Han Sans CN Regular" panose="020B0600000000000000" charset="-122"/>
                <a:cs typeface="Source Han Sans CN Regular" panose="020B0600000000000000" charset="-122"/>
                <a:sym typeface="+mn-ea"/>
              </a:rPr>
              <a:t>高级威胁防护，联动</a:t>
            </a:r>
            <a:r>
              <a:rPr lang="en-US" altLang="zh-CN" sz="900">
                <a:ln>
                  <a:noFill/>
                  <a:prstDash val="sysDot"/>
                </a:ln>
                <a:solidFill>
                  <a:schemeClr val="tx1">
                    <a:lumMod val="65000"/>
                    <a:lumOff val="35000"/>
                  </a:schemeClr>
                </a:solidFill>
                <a:uFillTx/>
                <a:latin typeface="Source Han Sans CN Regular" panose="020B0600000000000000" charset="-122"/>
                <a:ea typeface="Source Han Sans CN Regular" panose="020B0600000000000000" charset="-122"/>
                <a:cs typeface="Source Han Sans CN Regular" panose="020B0600000000000000" charset="-122"/>
                <a:sym typeface="+mn-ea"/>
              </a:rPr>
              <a:t>XDR/</a:t>
            </a:r>
            <a:r>
              <a:rPr lang="en-US" altLang="zh-CN" sz="9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Source Han Sans CN Regular" panose="020B0600000000000000" charset="-122"/>
                <a:sym typeface="+mn-ea"/>
              </a:rPr>
              <a:t>MSSP</a:t>
            </a:r>
            <a:r>
              <a:rPr lang="zh-CN" altLang="en-US" sz="900">
                <a:ln>
                  <a:noFill/>
                  <a:prstDash val="sysDot"/>
                </a:ln>
                <a:solidFill>
                  <a:schemeClr val="tx1">
                    <a:lumMod val="65000"/>
                    <a:lumOff val="35000"/>
                  </a:schemeClr>
                </a:solidFill>
                <a:uFillTx/>
                <a:latin typeface="Source Han Sans CN Regular" panose="020B0600000000000000" charset="-122"/>
                <a:ea typeface="Source Han Sans CN Regular" panose="020B0600000000000000" charset="-122"/>
                <a:cs typeface="Source Han Sans CN Regular" panose="020B0600000000000000" charset="-122"/>
                <a:sym typeface="+mn-ea"/>
              </a:rPr>
              <a:t>平台实现端侧异常快速响应。</a:t>
            </a:r>
            <a:endParaRPr lang="zh-CN" altLang="en-US" sz="900">
              <a:ln>
                <a:noFill/>
                <a:prstDash val="sysDot"/>
              </a:ln>
              <a:solidFill>
                <a:schemeClr val="tx1">
                  <a:lumMod val="65000"/>
                  <a:lumOff val="35000"/>
                </a:schemeClr>
              </a:solidFill>
              <a:uFillTx/>
              <a:latin typeface="Source Han Sans CN Regular" panose="020B0600000000000000" charset="-122"/>
              <a:ea typeface="Source Han Sans CN Regular" panose="020B0600000000000000" charset="-122"/>
              <a:cs typeface="Source Han Sans CN Regular" panose="020B0600000000000000" charset="-122"/>
              <a:sym typeface="+mn-ea"/>
            </a:endParaRPr>
          </a:p>
        </p:txBody>
      </p:sp>
      <p:sp>
        <p:nvSpPr>
          <p:cNvPr id="28" name="矩形 27"/>
          <p:cNvSpPr/>
          <p:nvPr>
            <p:custDataLst>
              <p:tags r:id="rId7"/>
            </p:custDataLst>
          </p:nvPr>
        </p:nvSpPr>
        <p:spPr>
          <a:xfrm>
            <a:off x="10155238" y="3830003"/>
            <a:ext cx="32400" cy="612000"/>
          </a:xfrm>
          <a:prstGeom prst="rect">
            <a:avLst/>
          </a:prstGeom>
          <a:solidFill>
            <a:schemeClr val="accent5">
              <a:lumMod val="60000"/>
              <a:lumOff val="40000"/>
              <a:alpha val="7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30" name="矩形 29"/>
          <p:cNvSpPr/>
          <p:nvPr>
            <p:custDataLst>
              <p:tags r:id="rId8"/>
            </p:custDataLst>
          </p:nvPr>
        </p:nvSpPr>
        <p:spPr>
          <a:xfrm>
            <a:off x="10292398" y="2969578"/>
            <a:ext cx="1260000" cy="180000"/>
          </a:xfrm>
          <a:prstGeom prst="rect">
            <a:avLst/>
          </a:prstGeom>
          <a:noFill/>
        </p:spPr>
        <p:txBody>
          <a:bodyPr wrap="square" lIns="0" tIns="0" rIns="0" bIns="0" rtlCol="0" anchor="b">
            <a:noAutofit/>
          </a:bodyPr>
          <a:p>
            <a:pPr algn="just">
              <a:spcBef>
                <a:spcPct val="0"/>
              </a:spcBef>
              <a:spcAft>
                <a:spcPct val="0"/>
              </a:spcAft>
            </a:pPr>
            <a:r>
              <a:rPr lang="zh-CN" altLang="en-US" sz="1200">
                <a:solidFill>
                  <a:schemeClr val="accent6"/>
                </a:solidFill>
                <a:latin typeface="Source Han Sans CN Medium" panose="020B0600000000000000" charset="-122"/>
                <a:ea typeface="Source Han Sans CN Medium" panose="020B0600000000000000" charset="-122"/>
                <a:cs typeface="+mn-ea"/>
                <a:sym typeface="+mn-ea"/>
              </a:rPr>
              <a:t>潜伏威胁探针</a:t>
            </a:r>
            <a:endParaRPr lang="zh-CN" altLang="en-US" sz="1200">
              <a:solidFill>
                <a:schemeClr val="accent6"/>
              </a:solidFill>
              <a:latin typeface="Source Han Sans CN Medium" panose="020B0600000000000000" charset="-122"/>
              <a:ea typeface="Source Han Sans CN Medium" panose="020B0600000000000000" charset="-122"/>
              <a:cs typeface="+mn-ea"/>
              <a:sym typeface="+mn-ea"/>
            </a:endParaRPr>
          </a:p>
        </p:txBody>
      </p:sp>
      <p:sp>
        <p:nvSpPr>
          <p:cNvPr id="31" name="矩形 30"/>
          <p:cNvSpPr/>
          <p:nvPr>
            <p:custDataLst>
              <p:tags r:id="rId9"/>
            </p:custDataLst>
          </p:nvPr>
        </p:nvSpPr>
        <p:spPr>
          <a:xfrm>
            <a:off x="10292715" y="3149600"/>
            <a:ext cx="1673225" cy="540385"/>
          </a:xfrm>
          <a:prstGeom prst="rect">
            <a:avLst/>
          </a:prstGeom>
          <a:noFill/>
        </p:spPr>
        <p:txBody>
          <a:bodyPr wrap="square" lIns="0" tIns="0" rIns="0" bIns="0" rtlCol="0" anchor="t" anchorCtr="0">
            <a:noAutofit/>
          </a:bodyPr>
          <a:p>
            <a:pPr indent="0" algn="just" fontAlgn="auto">
              <a:lnSpc>
                <a:spcPct val="100000"/>
              </a:lnSpc>
              <a:spcBef>
                <a:spcPct val="0"/>
              </a:spcBef>
              <a:spcAft>
                <a:spcPct val="0"/>
              </a:spcAft>
            </a:pPr>
            <a:r>
              <a:rPr lang="zh-CN" altLang="en-US" sz="9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mn-ea"/>
                <a:sym typeface="+mn-ea"/>
              </a:rPr>
              <a:t>实时监测覆盖全网流量，日志上报安全能力中台统一分析。</a:t>
            </a:r>
            <a:endParaRPr lang="zh-CN" altLang="en-US" sz="9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mn-ea"/>
              <a:sym typeface="+mn-ea"/>
            </a:endParaRPr>
          </a:p>
        </p:txBody>
      </p:sp>
      <p:sp>
        <p:nvSpPr>
          <p:cNvPr id="32" name="矩形 31"/>
          <p:cNvSpPr/>
          <p:nvPr>
            <p:custDataLst>
              <p:tags r:id="rId10"/>
            </p:custDataLst>
          </p:nvPr>
        </p:nvSpPr>
        <p:spPr>
          <a:xfrm>
            <a:off x="10155238" y="2956878"/>
            <a:ext cx="32400" cy="612000"/>
          </a:xfrm>
          <a:prstGeom prst="rect">
            <a:avLst/>
          </a:prstGeom>
          <a:solidFill>
            <a:schemeClr val="accent6">
              <a:lumMod val="60000"/>
              <a:lumOff val="40000"/>
              <a:alpha val="7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34" name="矩形 33"/>
          <p:cNvSpPr/>
          <p:nvPr>
            <p:custDataLst>
              <p:tags r:id="rId11"/>
            </p:custDataLst>
          </p:nvPr>
        </p:nvSpPr>
        <p:spPr>
          <a:xfrm>
            <a:off x="10292398" y="5729923"/>
            <a:ext cx="1260000" cy="180000"/>
          </a:xfrm>
          <a:prstGeom prst="rect">
            <a:avLst/>
          </a:prstGeom>
          <a:noFill/>
        </p:spPr>
        <p:txBody>
          <a:bodyPr wrap="square" lIns="0" tIns="0" rIns="0" bIns="0" rtlCol="0" anchor="b">
            <a:noAutofit/>
          </a:bodyPr>
          <a:p>
            <a:pPr lvl="0" algn="just">
              <a:buClrTx/>
              <a:buSzTx/>
              <a:buFontTx/>
            </a:pPr>
            <a:r>
              <a:rPr lang="zh-CN" altLang="en-US" sz="1200">
                <a:solidFill>
                  <a:schemeClr val="accent5"/>
                </a:solidFill>
                <a:latin typeface="Source Han Sans CN Medium" panose="020B0600000000000000" charset="-122"/>
                <a:ea typeface="Source Han Sans CN Medium" panose="020B0600000000000000" charset="-122"/>
                <a:cs typeface="+mn-ea"/>
                <a:sym typeface="+mn-ea"/>
              </a:rPr>
              <a:t>安全专家服务</a:t>
            </a:r>
            <a:endParaRPr lang="zh-CN" altLang="en-US" sz="1200">
              <a:solidFill>
                <a:schemeClr val="accent5"/>
              </a:solidFill>
              <a:latin typeface="Source Han Sans CN Medium" panose="020B0600000000000000" charset="-122"/>
              <a:ea typeface="Source Han Sans CN Medium" panose="020B0600000000000000" charset="-122"/>
              <a:cs typeface="+mn-ea"/>
              <a:sym typeface="+mn-ea"/>
            </a:endParaRPr>
          </a:p>
        </p:txBody>
      </p:sp>
      <p:sp>
        <p:nvSpPr>
          <p:cNvPr id="35" name="矩形 34"/>
          <p:cNvSpPr/>
          <p:nvPr>
            <p:custDataLst>
              <p:tags r:id="rId12"/>
            </p:custDataLst>
          </p:nvPr>
        </p:nvSpPr>
        <p:spPr>
          <a:xfrm>
            <a:off x="10292715" y="5922645"/>
            <a:ext cx="1672590" cy="540385"/>
          </a:xfrm>
          <a:prstGeom prst="rect">
            <a:avLst/>
          </a:prstGeom>
          <a:noFill/>
        </p:spPr>
        <p:txBody>
          <a:bodyPr wrap="square" lIns="0" tIns="0" rIns="0" bIns="0" rtlCol="0" anchor="t" anchorCtr="0">
            <a:noAutofit/>
          </a:bodyPr>
          <a:p>
            <a:pPr indent="0" algn="just" fontAlgn="auto">
              <a:lnSpc>
                <a:spcPct val="100000"/>
              </a:lnSpc>
              <a:spcBef>
                <a:spcPct val="0"/>
              </a:spcBef>
              <a:spcAft>
                <a:spcPct val="0"/>
              </a:spcAft>
            </a:pPr>
            <a:r>
              <a:rPr lang="zh-CN" altLang="en-US" sz="9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Source Han Sans CN Normal" panose="020B0600000000000000" charset="-122"/>
                <a:sym typeface="+mn-ea"/>
              </a:rPr>
              <a:t>安全专家</a:t>
            </a:r>
            <a:r>
              <a:rPr lang="en-US" altLang="zh-CN" sz="9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Source Han Sans CN Normal" panose="020B0600000000000000" charset="-122"/>
                <a:sym typeface="+mn-ea"/>
              </a:rPr>
              <a:t>7*24</a:t>
            </a:r>
            <a:r>
              <a:rPr lang="zh-CN" altLang="en-US" sz="9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Source Han Sans CN Normal" panose="020B0600000000000000" charset="-122"/>
                <a:sym typeface="+mn-ea"/>
              </a:rPr>
              <a:t>护航，二次校验告警工单，主动跟进问题确保闭环，定期排查潜在风险保障预防有效</a:t>
            </a:r>
            <a:endParaRPr lang="zh-CN" altLang="en-US" sz="9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Source Han Sans CN Normal" panose="020B0600000000000000" charset="-122"/>
              <a:sym typeface="+mn-ea"/>
            </a:endParaRPr>
          </a:p>
        </p:txBody>
      </p:sp>
      <p:sp>
        <p:nvSpPr>
          <p:cNvPr id="36" name="矩形 35"/>
          <p:cNvSpPr/>
          <p:nvPr>
            <p:custDataLst>
              <p:tags r:id="rId13"/>
            </p:custDataLst>
          </p:nvPr>
        </p:nvSpPr>
        <p:spPr>
          <a:xfrm>
            <a:off x="10155238" y="5717223"/>
            <a:ext cx="32385" cy="612000"/>
          </a:xfrm>
          <a:prstGeom prst="rect">
            <a:avLst/>
          </a:prstGeom>
          <a:solidFill>
            <a:schemeClr val="accent5">
              <a:lumMod val="60000"/>
              <a:lumOff val="40000"/>
              <a:alpha val="7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sym typeface="+mn-ea"/>
            </a:endParaRPr>
          </a:p>
        </p:txBody>
      </p:sp>
      <p:sp>
        <p:nvSpPr>
          <p:cNvPr id="37" name="矩形 36"/>
          <p:cNvSpPr/>
          <p:nvPr>
            <p:custDataLst>
              <p:tags r:id="rId14"/>
            </p:custDataLst>
          </p:nvPr>
        </p:nvSpPr>
        <p:spPr>
          <a:xfrm>
            <a:off x="10292398" y="4757103"/>
            <a:ext cx="1260000" cy="180000"/>
          </a:xfrm>
          <a:prstGeom prst="rect">
            <a:avLst/>
          </a:prstGeom>
          <a:noFill/>
        </p:spPr>
        <p:txBody>
          <a:bodyPr wrap="square" lIns="0" tIns="0" rIns="0" bIns="0" rtlCol="0" anchor="b">
            <a:noAutofit/>
          </a:bodyPr>
          <a:p>
            <a:pPr lvl="0" algn="just">
              <a:buClrTx/>
              <a:buSzTx/>
              <a:buFontTx/>
            </a:pPr>
            <a:r>
              <a:rPr lang="zh-CN" altLang="en-US" sz="1200">
                <a:solidFill>
                  <a:schemeClr val="accent6"/>
                </a:solidFill>
                <a:latin typeface="Source Han Sans CN Medium" panose="020B0600000000000000" charset="-122"/>
                <a:ea typeface="Source Han Sans CN Medium" panose="020B0600000000000000" charset="-122"/>
                <a:cs typeface="Source Han Sans CN Medium" panose="020B0600000000000000" charset="-122"/>
                <a:sym typeface="+mn-ea"/>
              </a:rPr>
              <a:t>XDR及MSSP平台</a:t>
            </a:r>
            <a:endParaRPr lang="zh-CN" altLang="en-US" sz="1200">
              <a:solidFill>
                <a:schemeClr val="accent6"/>
              </a:solidFill>
              <a:latin typeface="Source Han Sans CN Medium" panose="020B0600000000000000" charset="-122"/>
              <a:ea typeface="Source Han Sans CN Medium" panose="020B0600000000000000" charset="-122"/>
              <a:cs typeface="Source Han Sans CN Medium" panose="020B0600000000000000" charset="-122"/>
              <a:sym typeface="+mn-ea"/>
            </a:endParaRPr>
          </a:p>
        </p:txBody>
      </p:sp>
      <p:sp>
        <p:nvSpPr>
          <p:cNvPr id="38" name="矩形 37"/>
          <p:cNvSpPr/>
          <p:nvPr>
            <p:custDataLst>
              <p:tags r:id="rId15"/>
            </p:custDataLst>
          </p:nvPr>
        </p:nvSpPr>
        <p:spPr>
          <a:xfrm>
            <a:off x="10292715" y="4982210"/>
            <a:ext cx="1673225" cy="539750"/>
          </a:xfrm>
          <a:prstGeom prst="rect">
            <a:avLst/>
          </a:prstGeom>
          <a:noFill/>
        </p:spPr>
        <p:txBody>
          <a:bodyPr wrap="square" lIns="0" tIns="0" rIns="0" bIns="0" rtlCol="0" anchor="t" anchorCtr="0">
            <a:noAutofit/>
          </a:bodyPr>
          <a:p>
            <a:pPr indent="0" algn="just" fontAlgn="auto">
              <a:lnSpc>
                <a:spcPct val="100000"/>
              </a:lnSpc>
              <a:spcBef>
                <a:spcPct val="0"/>
              </a:spcBef>
              <a:spcAft>
                <a:spcPct val="0"/>
              </a:spcAft>
            </a:pPr>
            <a:r>
              <a:rPr lang="zh-CN" altLang="en-US" sz="9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Source Han Sans CN Normal" panose="020B0600000000000000" charset="-122"/>
                <a:sym typeface="+mn-ea"/>
              </a:rPr>
              <a:t>集成</a:t>
            </a:r>
            <a:r>
              <a:rPr lang="en-US" altLang="zh-CN" sz="9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Source Han Sans CN Normal" panose="020B0600000000000000" charset="-122"/>
                <a:sym typeface="+mn-ea"/>
              </a:rPr>
              <a:t>AI</a:t>
            </a:r>
            <a:r>
              <a:rPr lang="zh-CN" altLang="en-US" sz="9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Source Han Sans CN Normal" panose="020B0600000000000000" charset="-122"/>
                <a:sym typeface="+mn-ea"/>
              </a:rPr>
              <a:t>能力，通过智能解析日志、智能检测分析、智能研判调查大幅提升运营效率。</a:t>
            </a:r>
            <a:endParaRPr lang="zh-CN" altLang="en-US" sz="9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Source Han Sans CN Normal" panose="020B0600000000000000" charset="-122"/>
              <a:sym typeface="+mn-ea"/>
            </a:endParaRPr>
          </a:p>
        </p:txBody>
      </p:sp>
      <p:sp>
        <p:nvSpPr>
          <p:cNvPr id="39" name="矩形 38"/>
          <p:cNvSpPr/>
          <p:nvPr>
            <p:custDataLst>
              <p:tags r:id="rId16"/>
            </p:custDataLst>
          </p:nvPr>
        </p:nvSpPr>
        <p:spPr>
          <a:xfrm>
            <a:off x="10155238" y="4757103"/>
            <a:ext cx="32385" cy="612000"/>
          </a:xfrm>
          <a:prstGeom prst="rect">
            <a:avLst/>
          </a:prstGeom>
          <a:solidFill>
            <a:schemeClr val="accent6">
              <a:lumMod val="60000"/>
              <a:lumOff val="40000"/>
              <a:alpha val="7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sym typeface="+mn-ea"/>
            </a:endParaRPr>
          </a:p>
        </p:txBody>
      </p:sp>
      <p:grpSp>
        <p:nvGrpSpPr>
          <p:cNvPr id="12" name="组合 11"/>
          <p:cNvGrpSpPr/>
          <p:nvPr/>
        </p:nvGrpSpPr>
        <p:grpSpPr>
          <a:xfrm>
            <a:off x="224790" y="289878"/>
            <a:ext cx="5715000" cy="327025"/>
            <a:chOff x="533" y="646"/>
            <a:chExt cx="9000" cy="515"/>
          </a:xfrm>
        </p:grpSpPr>
        <p:grpSp>
          <p:nvGrpSpPr>
            <p:cNvPr id="13" name="组合 12"/>
            <p:cNvGrpSpPr/>
            <p:nvPr/>
          </p:nvGrpSpPr>
          <p:grpSpPr>
            <a:xfrm rot="0">
              <a:off x="533" y="672"/>
              <a:ext cx="582" cy="420"/>
              <a:chOff x="533" y="672"/>
              <a:chExt cx="582" cy="420"/>
            </a:xfrm>
          </p:grpSpPr>
          <p:sp>
            <p:nvSpPr>
              <p:cNvPr id="14" name="燕尾形 86"/>
              <p:cNvSpPr/>
              <p:nvPr>
                <p:custDataLst>
                  <p:tags r:id="rId17"/>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6" name="燕尾形 103"/>
              <p:cNvSpPr/>
              <p:nvPr>
                <p:custDataLst>
                  <p:tags r:id="rId18"/>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18" name="textbox 158"/>
            <p:cNvSpPr/>
            <p:nvPr/>
          </p:nvSpPr>
          <p:spPr>
            <a:xfrm>
              <a:off x="1345" y="646"/>
              <a:ext cx="3627"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Source Han Sans CN Medium" panose="020B0600000000000000" charset="-122"/>
                <a:ea typeface="Source Han Sans CN Medium" panose="020B0600000000000000" charset="-122"/>
                <a:cs typeface="Arial" panose="020B0604020202020204"/>
              </a:endParaRPr>
            </a:p>
            <a:p>
              <a:pPr algn="l" rtl="0" eaLnBrk="0">
                <a:lnSpc>
                  <a:spcPct val="101000"/>
                </a:lnSpc>
              </a:pPr>
              <a:r>
                <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rPr>
                <a:t>安全运营技术</a:t>
              </a:r>
              <a:r>
                <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rPr>
                <a:t>架构</a:t>
              </a:r>
              <a:endPar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endParaRPr>
            </a:p>
          </p:txBody>
        </p:sp>
        <p:sp>
          <p:nvSpPr>
            <p:cNvPr id="19" name="textbox 158"/>
            <p:cNvSpPr/>
            <p:nvPr/>
          </p:nvSpPr>
          <p:spPr>
            <a:xfrm>
              <a:off x="4863" y="715"/>
              <a:ext cx="4670" cy="422"/>
            </a:xfrm>
            <a:prstGeom prst="rect">
              <a:avLst/>
            </a:prstGeom>
            <a:noFill/>
            <a:ln w="0" cap="flat">
              <a:noFill/>
              <a:prstDash val="solid"/>
              <a:miter lim="0"/>
            </a:ln>
          </p:spPr>
          <p:txBody>
            <a:bodyPr vert="horz" wrap="square" lIns="0" tIns="0" rIns="0" bIns="0" anchor="t" anchorCtr="0"/>
            <a:p>
              <a:pPr algn="l" rtl="0" eaLnBrk="0">
                <a:lnSpc>
                  <a:spcPct val="100000"/>
                </a:lnSpc>
              </a:pPr>
              <a:r>
                <a:rPr lang="zh-CN" altLang="en-US" sz="1600" b="1" noProof="0" dirty="0">
                  <a:solidFill>
                    <a:srgbClr val="0B4CBB"/>
                  </a:solidFill>
                  <a:uLnTx/>
                  <a:latin typeface="Source Han Sans CN Bold" panose="020B0600000000000000" charset="-122"/>
                  <a:ea typeface="Source Han Sans CN Bold" panose="020B0600000000000000" charset="-122"/>
                  <a:sym typeface="Calibri" panose="020F0502020204030204" charset="0"/>
                </a:rPr>
                <a:t>人机共智、云地协同运营</a:t>
              </a:r>
              <a:endParaRPr lang="zh-CN" altLang="en-US" sz="1600" b="1" noProof="0" dirty="0">
                <a:solidFill>
                  <a:srgbClr val="0B4CBB"/>
                </a:solidFill>
                <a:uLnTx/>
                <a:latin typeface="Source Han Sans CN Bold" panose="020B0600000000000000" charset="-122"/>
                <a:ea typeface="Source Han Sans CN Bold" panose="020B0600000000000000" charset="-122"/>
                <a:sym typeface="Calibri" panose="020F0502020204030204" charset="0"/>
              </a:endParaRPr>
            </a:p>
          </p:txBody>
        </p:sp>
      </p:grpSp>
      <p:pic>
        <p:nvPicPr>
          <p:cNvPr id="20" name="图片 19" descr="深信服 + 智安全"/>
          <p:cNvPicPr>
            <a:picLocks noChangeAspect="1"/>
          </p:cNvPicPr>
          <p:nvPr/>
        </p:nvPicPr>
        <p:blipFill>
          <a:blip r:embed="rId19"/>
          <a:srcRect l="5232" t="26576" r="4938" b="29565"/>
          <a:stretch>
            <a:fillRect/>
          </a:stretch>
        </p:blipFill>
        <p:spPr>
          <a:xfrm>
            <a:off x="10330815" y="273073"/>
            <a:ext cx="1629867" cy="360000"/>
          </a:xfrm>
          <a:prstGeom prst="rect">
            <a:avLst/>
          </a:prstGeom>
        </p:spPr>
      </p:pic>
      <p:sp>
        <p:nvSpPr>
          <p:cNvPr id="21" name="文本框 20"/>
          <p:cNvSpPr txBox="1"/>
          <p:nvPr/>
        </p:nvSpPr>
        <p:spPr>
          <a:xfrm>
            <a:off x="560070" y="819150"/>
            <a:ext cx="11071225" cy="737235"/>
          </a:xfrm>
          <a:prstGeom prst="rect">
            <a:avLst/>
          </a:prstGeom>
          <a:noFill/>
        </p:spPr>
        <p:txBody>
          <a:bodyPr wrap="square" rtlCol="0" anchor="ctr" anchorCtr="0">
            <a:spAutoFit/>
          </a:bodyPr>
          <a:p>
            <a:pPr algn="l">
              <a:lnSpc>
                <a:spcPct val="150000"/>
              </a:lnSpc>
            </a:pPr>
            <a:r>
              <a:rPr lang="zh-CN" altLang="en-US" sz="1400" dirty="0">
                <a:effectLst/>
                <a:latin typeface="Source Han Sans CN Medium" panose="020B0600000000000000" charset="-122"/>
                <a:ea typeface="Source Han Sans CN Medium" panose="020B0600000000000000" charset="-122"/>
                <a:cs typeface="Source Han Sans CN Medium" panose="020B0600000000000000" charset="-122"/>
                <a:sym typeface="+mn-ea"/>
              </a:rPr>
              <a:t>以</a:t>
            </a:r>
            <a:r>
              <a:rPr lang="en-US" altLang="zh-CN" sz="1400" dirty="0">
                <a:effectLst/>
                <a:latin typeface="Source Han Sans CN Medium" panose="020B0600000000000000" charset="-122"/>
                <a:ea typeface="Source Han Sans CN Medium" panose="020B0600000000000000" charset="-122"/>
                <a:cs typeface="Source Han Sans CN Medium" panose="020B0600000000000000" charset="-122"/>
                <a:sym typeface="+mn-ea"/>
              </a:rPr>
              <a:t>“</a:t>
            </a:r>
            <a:r>
              <a:rPr lang="zh-CN" altLang="en-US" sz="1400" dirty="0">
                <a:solidFill>
                  <a:srgbClr val="4C61E7"/>
                </a:solidFill>
                <a:latin typeface="微软雅黑" panose="020B0503020204020204" charset="-122"/>
                <a:ea typeface="微软雅黑" panose="020B0503020204020204" charset="-122"/>
                <a:cs typeface="微软雅黑" panose="020B0503020204020204" charset="-122"/>
                <a:sym typeface="+mn-ea"/>
              </a:rPr>
              <a:t>安全组件+平台+专家服务</a:t>
            </a:r>
            <a:r>
              <a:rPr lang="en-US" altLang="zh-CN" sz="1400" dirty="0">
                <a:effectLst/>
                <a:latin typeface="Source Han Sans CN Medium" panose="020B0600000000000000" charset="-122"/>
                <a:ea typeface="Source Han Sans CN Medium" panose="020B0600000000000000" charset="-122"/>
                <a:cs typeface="Source Han Sans CN Medium" panose="020B0600000000000000" charset="-122"/>
                <a:sym typeface="+mn-ea"/>
              </a:rPr>
              <a:t>”</a:t>
            </a:r>
            <a:r>
              <a:rPr lang="zh-CN" altLang="en-US" sz="1400" dirty="0">
                <a:effectLst/>
                <a:latin typeface="Source Han Sans CN Medium" panose="020B0600000000000000" charset="-122"/>
                <a:ea typeface="Source Han Sans CN Medium" panose="020B0600000000000000" charset="-122"/>
                <a:cs typeface="Source Han Sans CN Medium" panose="020B0600000000000000" charset="-122"/>
                <a:sym typeface="+mn-ea"/>
              </a:rPr>
              <a:t>构建云网端安全托管运营解决方案，聚焦风险管控成效，以</a:t>
            </a:r>
            <a:r>
              <a:rPr lang="en-US" altLang="zh-CN" sz="1400" dirty="0">
                <a:effectLst/>
                <a:latin typeface="Source Han Sans CN Medium" panose="020B0600000000000000" charset="-122"/>
                <a:ea typeface="Source Han Sans CN Medium" panose="020B0600000000000000" charset="-122"/>
                <a:cs typeface="Source Han Sans CN Medium" panose="020B0600000000000000" charset="-122"/>
                <a:sym typeface="+mn-ea"/>
              </a:rPr>
              <a:t>“</a:t>
            </a:r>
            <a:r>
              <a:rPr lang="zh-CN" altLang="en-US" sz="1400" dirty="0">
                <a:solidFill>
                  <a:srgbClr val="4C61E7"/>
                </a:solidFill>
                <a:latin typeface="微软雅黑" panose="020B0503020204020204" charset="-122"/>
                <a:ea typeface="微软雅黑" panose="020B0503020204020204" charset="-122"/>
                <a:cs typeface="微软雅黑" panose="020B0503020204020204" charset="-122"/>
                <a:sym typeface="+mn-ea"/>
              </a:rPr>
              <a:t>人机共智</a:t>
            </a:r>
            <a:r>
              <a:rPr lang="en-US" altLang="zh-CN" sz="1400" dirty="0">
                <a:effectLst/>
                <a:latin typeface="Source Han Sans CN Medium" panose="020B0600000000000000" charset="-122"/>
                <a:ea typeface="Source Han Sans CN Medium" panose="020B0600000000000000" charset="-122"/>
                <a:cs typeface="Source Han Sans CN Medium" panose="020B0600000000000000" charset="-122"/>
                <a:sym typeface="+mn-ea"/>
              </a:rPr>
              <a:t>”</a:t>
            </a:r>
            <a:r>
              <a:rPr lang="zh-CN" altLang="en-US" sz="1400" dirty="0">
                <a:effectLst/>
                <a:latin typeface="Source Han Sans CN Medium" panose="020B0600000000000000" charset="-122"/>
                <a:ea typeface="Source Han Sans CN Medium" panose="020B0600000000000000" charset="-122"/>
                <a:cs typeface="Source Han Sans CN Medium" panose="020B0600000000000000" charset="-122"/>
                <a:sym typeface="+mn-ea"/>
              </a:rPr>
              <a:t>驱动，依托</a:t>
            </a:r>
            <a:r>
              <a:rPr lang="zh-CN" altLang="en-US" sz="1400" dirty="0">
                <a:solidFill>
                  <a:srgbClr val="4C61E7"/>
                </a:solidFill>
                <a:latin typeface="微软雅黑" panose="020B0503020204020204" charset="-122"/>
                <a:ea typeface="微软雅黑" panose="020B0503020204020204" charset="-122"/>
                <a:cs typeface="微软雅黑" panose="020B0503020204020204" charset="-122"/>
                <a:sym typeface="+mn-ea"/>
              </a:rPr>
              <a:t>7×24小时</a:t>
            </a:r>
            <a:r>
              <a:rPr lang="zh-CN" altLang="en-US" sz="1400" dirty="0">
                <a:effectLst/>
                <a:latin typeface="Source Han Sans CN Medium" panose="020B0600000000000000" charset="-122"/>
                <a:ea typeface="Source Han Sans CN Medium" panose="020B0600000000000000" charset="-122"/>
                <a:cs typeface="Source Han Sans CN Medium" panose="020B0600000000000000" charset="-122"/>
                <a:sym typeface="+mn-ea"/>
              </a:rPr>
              <a:t>持续守护，围绕</a:t>
            </a:r>
            <a:r>
              <a:rPr lang="zh-CN" altLang="en-US" sz="1400" dirty="0">
                <a:solidFill>
                  <a:srgbClr val="4C61E7"/>
                </a:solidFill>
                <a:latin typeface="微软雅黑" panose="020B0503020204020204" charset="-122"/>
                <a:ea typeface="微软雅黑" panose="020B0503020204020204" charset="-122"/>
                <a:cs typeface="微软雅黑" panose="020B0503020204020204" charset="-122"/>
                <a:sym typeface="+mn-ea"/>
              </a:rPr>
              <a:t>资产、脆弱性、威胁、事件</a:t>
            </a:r>
            <a:r>
              <a:rPr lang="zh-CN" altLang="en-US" sz="1400" dirty="0">
                <a:effectLst/>
                <a:latin typeface="Source Han Sans CN Medium" panose="020B0600000000000000" charset="-122"/>
                <a:ea typeface="Source Han Sans CN Medium" panose="020B0600000000000000" charset="-122"/>
                <a:cs typeface="Source Han Sans CN Medium" panose="020B0600000000000000" charset="-122"/>
                <a:sym typeface="+mn-ea"/>
              </a:rPr>
              <a:t>四大核心要素，打造平战结合的安全运营体系，为业务资产提供稳定、可靠的全周期防护。</a:t>
            </a:r>
            <a:endParaRPr lang="zh-CN" altLang="en-US" sz="1400" dirty="0">
              <a:solidFill>
                <a:schemeClr val="tx1">
                  <a:lumMod val="85000"/>
                  <a:lumOff val="15000"/>
                </a:schemeClr>
              </a:solidFill>
              <a:latin typeface="Source Han Sans CN Medium" panose="020B0600000000000000" charset="-122"/>
              <a:ea typeface="Source Han Sans CN Medium" panose="020B0600000000000000" charset="-122"/>
              <a:cs typeface="Source Han Sans CN Medium" panose="020B0600000000000000" charset="-122"/>
              <a:sym typeface="+mn-ea"/>
            </a:endParaRPr>
          </a:p>
        </p:txBody>
      </p:sp>
      <p:grpSp>
        <p:nvGrpSpPr>
          <p:cNvPr id="42" name="组合 41"/>
          <p:cNvGrpSpPr/>
          <p:nvPr/>
        </p:nvGrpSpPr>
        <p:grpSpPr>
          <a:xfrm>
            <a:off x="285115" y="2419985"/>
            <a:ext cx="1834515" cy="829945"/>
            <a:chOff x="449" y="3673"/>
            <a:chExt cx="2889" cy="1307"/>
          </a:xfrm>
        </p:grpSpPr>
        <p:pic>
          <p:nvPicPr>
            <p:cNvPr id="5" name="图片 4" descr="LOGO-AF@1x"/>
            <p:cNvPicPr>
              <a:picLocks noChangeAspect="1"/>
            </p:cNvPicPr>
            <p:nvPr/>
          </p:nvPicPr>
          <p:blipFill>
            <a:blip r:embed="rId20"/>
            <a:stretch>
              <a:fillRect/>
            </a:stretch>
          </p:blipFill>
          <p:spPr>
            <a:xfrm>
              <a:off x="449" y="4001"/>
              <a:ext cx="628" cy="628"/>
            </a:xfrm>
            <a:prstGeom prst="rect">
              <a:avLst/>
            </a:prstGeom>
          </p:spPr>
        </p:pic>
        <p:sp>
          <p:nvSpPr>
            <p:cNvPr id="11" name="文本框 10"/>
            <p:cNvSpPr txBox="1"/>
            <p:nvPr/>
          </p:nvSpPr>
          <p:spPr>
            <a:xfrm>
              <a:off x="1213" y="3673"/>
              <a:ext cx="2125" cy="1307"/>
            </a:xfrm>
            <a:prstGeom prst="rect">
              <a:avLst/>
            </a:prstGeom>
            <a:noFill/>
          </p:spPr>
          <p:txBody>
            <a:bodyPr wrap="square" rtlCol="0" anchor="ctr" anchorCtr="0">
              <a:spAutoFit/>
            </a:bodyPr>
            <a:p>
              <a:pPr algn="l">
                <a:lnSpc>
                  <a:spcPct val="100000"/>
                </a:lnSpc>
              </a:pPr>
              <a:r>
                <a:rPr lang="zh-CN" altLang="en-US"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边界下一代防火墙</a:t>
              </a:r>
              <a:r>
                <a:rPr lang="en-US" altLang="zh-CN"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AF*</a:t>
              </a:r>
              <a:r>
                <a:rPr lang="en-US" altLang="zh-CN"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{{AF_count}}</a:t>
              </a:r>
              <a:endParaRPr lang="zh-CN" altLang="en-US" sz="1200" dirty="0">
                <a:solidFill>
                  <a:srgbClr val="4C61E7"/>
                </a:solidFill>
                <a:latin typeface="微软雅黑" panose="020B0503020204020204" charset="-122"/>
                <a:ea typeface="微软雅黑" panose="020B0503020204020204" charset="-122"/>
                <a:cs typeface="微软雅黑" panose="020B0503020204020204" charset="-122"/>
                <a:sym typeface="+mn-ea"/>
              </a:endParaRPr>
            </a:p>
            <a:p>
              <a:pPr algn="l">
                <a:lnSpc>
                  <a:spcPct val="100000"/>
                </a:lnSpc>
              </a:pPr>
              <a:endParaRPr lang="en-US" altLang="zh-CN"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grpSp>
        <p:nvGrpSpPr>
          <p:cNvPr id="41" name="组合 40"/>
          <p:cNvGrpSpPr/>
          <p:nvPr/>
        </p:nvGrpSpPr>
        <p:grpSpPr>
          <a:xfrm>
            <a:off x="285115" y="3426460"/>
            <a:ext cx="1805305" cy="645160"/>
            <a:chOff x="449" y="5258"/>
            <a:chExt cx="2843" cy="1016"/>
          </a:xfrm>
        </p:grpSpPr>
        <p:pic>
          <p:nvPicPr>
            <p:cNvPr id="7" name="图片 6" descr="LOGO-STA@1x"/>
            <p:cNvPicPr>
              <a:picLocks noChangeAspect="1"/>
            </p:cNvPicPr>
            <p:nvPr/>
          </p:nvPicPr>
          <p:blipFill>
            <a:blip r:embed="rId21"/>
            <a:stretch>
              <a:fillRect/>
            </a:stretch>
          </p:blipFill>
          <p:spPr>
            <a:xfrm>
              <a:off x="449" y="5449"/>
              <a:ext cx="628" cy="628"/>
            </a:xfrm>
            <a:prstGeom prst="rect">
              <a:avLst/>
            </a:prstGeom>
          </p:spPr>
        </p:pic>
        <p:sp>
          <p:nvSpPr>
            <p:cNvPr id="22" name="文本框 21"/>
            <p:cNvSpPr txBox="1"/>
            <p:nvPr/>
          </p:nvSpPr>
          <p:spPr>
            <a:xfrm>
              <a:off x="1166" y="5258"/>
              <a:ext cx="2126" cy="1016"/>
            </a:xfrm>
            <a:prstGeom prst="rect">
              <a:avLst/>
            </a:prstGeom>
            <a:noFill/>
          </p:spPr>
          <p:txBody>
            <a:bodyPr wrap="square" rtlCol="0" anchor="ctr" anchorCtr="0">
              <a:spAutoFit/>
            </a:bodyPr>
            <a:p>
              <a:pPr algn="l">
                <a:lnSpc>
                  <a:spcPct val="100000"/>
                </a:lnSpc>
              </a:pPr>
              <a:r>
                <a:rPr lang="zh-CN" altLang="en-US"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全流量威胁检测与分析组</a:t>
              </a:r>
              <a:r>
                <a:rPr lang="en-US" altLang="zh-CN"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STA*</a:t>
              </a:r>
              <a:r>
                <a:rPr lang="en-US" altLang="zh-CN" sz="1200" dirty="0">
                  <a:solidFill>
                    <a:srgbClr val="14161A"/>
                  </a:solidFill>
                  <a:latin typeface="微软雅黑" panose="020B0503020204020204" charset="-122"/>
                  <a:ea typeface="微软雅黑" panose="020B0503020204020204" charset="-122"/>
                  <a:cs typeface="微软雅黑" panose="020B0503020204020204" charset="-122"/>
                  <a:sym typeface="+mn-ea"/>
                </a:rPr>
                <a:t>{{</a:t>
              </a:r>
              <a:r>
                <a:rPr lang="en-US" altLang="zh-CN"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STA_count</a:t>
              </a:r>
              <a:r>
                <a:rPr lang="en-US" altLang="zh-CN" sz="1200" dirty="0">
                  <a:solidFill>
                    <a:srgbClr val="14161A"/>
                  </a:solidFill>
                  <a:latin typeface="微软雅黑" panose="020B0503020204020204" charset="-122"/>
                  <a:ea typeface="微软雅黑" panose="020B0503020204020204" charset="-122"/>
                  <a:cs typeface="微软雅黑" panose="020B0503020204020204" charset="-122"/>
                  <a:sym typeface="+mn-ea"/>
                </a:rPr>
                <a:t>}}</a:t>
              </a:r>
              <a:endParaRPr lang="en-US" altLang="zh-CN"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grpSp>
        <p:nvGrpSpPr>
          <p:cNvPr id="40" name="组合 39"/>
          <p:cNvGrpSpPr/>
          <p:nvPr/>
        </p:nvGrpSpPr>
        <p:grpSpPr>
          <a:xfrm>
            <a:off x="285115" y="4295775"/>
            <a:ext cx="1804670" cy="645160"/>
            <a:chOff x="449" y="6627"/>
            <a:chExt cx="2842" cy="1016"/>
          </a:xfrm>
        </p:grpSpPr>
        <p:pic>
          <p:nvPicPr>
            <p:cNvPr id="6" name="图片 5" descr="LOGO-EDR@1x"/>
            <p:cNvPicPr>
              <a:picLocks noChangeAspect="1"/>
            </p:cNvPicPr>
            <p:nvPr/>
          </p:nvPicPr>
          <p:blipFill>
            <a:blip r:embed="rId22"/>
            <a:stretch>
              <a:fillRect/>
            </a:stretch>
          </p:blipFill>
          <p:spPr>
            <a:xfrm>
              <a:off x="449" y="6816"/>
              <a:ext cx="628" cy="628"/>
            </a:xfrm>
            <a:prstGeom prst="rect">
              <a:avLst/>
            </a:prstGeom>
          </p:spPr>
        </p:pic>
        <p:sp>
          <p:nvSpPr>
            <p:cNvPr id="26" name="文本框 25"/>
            <p:cNvSpPr txBox="1"/>
            <p:nvPr/>
          </p:nvSpPr>
          <p:spPr>
            <a:xfrm>
              <a:off x="1166" y="6627"/>
              <a:ext cx="2125" cy="1016"/>
            </a:xfrm>
            <a:prstGeom prst="rect">
              <a:avLst/>
            </a:prstGeom>
            <a:noFill/>
          </p:spPr>
          <p:txBody>
            <a:bodyPr wrap="square" rtlCol="0" anchor="ctr" anchorCtr="0">
              <a:spAutoFit/>
            </a:bodyPr>
            <a:p>
              <a:pPr algn="l">
                <a:lnSpc>
                  <a:spcPct val="100000"/>
                </a:lnSpc>
              </a:pPr>
              <a:r>
                <a:rPr lang="zh-CN" altLang="en-US"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端点安全防护软件</a:t>
              </a:r>
              <a:r>
                <a:rPr lang="en-US" altLang="zh-CN"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EDR*</a:t>
              </a:r>
              <a:r>
                <a:rPr lang="en-US" altLang="zh-CN" sz="1200" dirty="0">
                  <a:solidFill>
                    <a:srgbClr val="14161A"/>
                  </a:solidFill>
                  <a:latin typeface="微软雅黑" panose="020B0503020204020204" charset="-122"/>
                  <a:ea typeface="微软雅黑" panose="020B0503020204020204" charset="-122"/>
                  <a:cs typeface="微软雅黑" panose="020B0503020204020204" charset="-122"/>
                  <a:sym typeface="+mn-ea"/>
                </a:rPr>
                <a:t>{{</a:t>
              </a:r>
              <a:r>
                <a:rPr lang="en-US" altLang="zh-CN"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EDR_count</a:t>
              </a:r>
              <a:r>
                <a:rPr lang="en-US" altLang="zh-CN" sz="1200" dirty="0">
                  <a:solidFill>
                    <a:srgbClr val="14161A"/>
                  </a:solidFill>
                  <a:latin typeface="微软雅黑" panose="020B0503020204020204" charset="-122"/>
                  <a:ea typeface="微软雅黑" panose="020B0503020204020204" charset="-122"/>
                  <a:cs typeface="微软雅黑" panose="020B0503020204020204" charset="-122"/>
                  <a:sym typeface="+mn-ea"/>
                </a:rPr>
                <a:t>}}</a:t>
              </a:r>
              <a:endParaRPr lang="en-US" altLang="zh-CN"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grpSp>
        <p:nvGrpSpPr>
          <p:cNvPr id="33" name="组合 32"/>
          <p:cNvGrpSpPr/>
          <p:nvPr/>
        </p:nvGrpSpPr>
        <p:grpSpPr>
          <a:xfrm>
            <a:off x="285115" y="5301615"/>
            <a:ext cx="1864995" cy="460375"/>
            <a:chOff x="449" y="8211"/>
            <a:chExt cx="2937" cy="725"/>
          </a:xfrm>
        </p:grpSpPr>
        <p:pic>
          <p:nvPicPr>
            <p:cNvPr id="4" name="图片 3" descr="异常扫描@1x"/>
            <p:cNvPicPr>
              <a:picLocks noChangeAspect="1"/>
            </p:cNvPicPr>
            <p:nvPr/>
          </p:nvPicPr>
          <p:blipFill>
            <a:blip r:embed="rId23"/>
            <a:stretch>
              <a:fillRect/>
            </a:stretch>
          </p:blipFill>
          <p:spPr>
            <a:xfrm>
              <a:off x="449" y="8260"/>
              <a:ext cx="628" cy="628"/>
            </a:xfrm>
            <a:prstGeom prst="rect">
              <a:avLst/>
            </a:prstGeom>
          </p:spPr>
        </p:pic>
        <p:sp>
          <p:nvSpPr>
            <p:cNvPr id="29" name="文本框 28"/>
            <p:cNvSpPr txBox="1"/>
            <p:nvPr/>
          </p:nvSpPr>
          <p:spPr>
            <a:xfrm>
              <a:off x="1166" y="8211"/>
              <a:ext cx="2220" cy="725"/>
            </a:xfrm>
            <a:prstGeom prst="rect">
              <a:avLst/>
            </a:prstGeom>
            <a:noFill/>
          </p:spPr>
          <p:txBody>
            <a:bodyPr wrap="square" rtlCol="0" anchor="ctr" anchorCtr="0">
              <a:spAutoFit/>
            </a:bodyPr>
            <a:p>
              <a:pPr algn="l">
                <a:lnSpc>
                  <a:spcPct val="100000"/>
                </a:lnSpc>
              </a:pPr>
              <a:r>
                <a:rPr lang="zh-CN" altLang="en-US"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漏洞扫描组件</a:t>
              </a:r>
              <a:endParaRPr lang="zh-CN" altLang="en-US"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a:p>
              <a:pPr algn="l">
                <a:lnSpc>
                  <a:spcPct val="100000"/>
                </a:lnSpc>
              </a:pPr>
              <a:r>
                <a:rPr lang="en-US" altLang="zh-CN"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TSS*</a:t>
              </a:r>
              <a:r>
                <a:rPr lang="en-US" altLang="zh-CN" sz="1200" dirty="0">
                  <a:solidFill>
                    <a:srgbClr val="14161A"/>
                  </a:solidFill>
                  <a:latin typeface="微软雅黑" panose="020B0503020204020204" charset="-122"/>
                  <a:ea typeface="微软雅黑" panose="020B0503020204020204" charset="-122"/>
                  <a:cs typeface="微软雅黑" panose="020B0503020204020204" charset="-122"/>
                  <a:sym typeface="+mn-ea"/>
                </a:rPr>
                <a:t>{{</a:t>
              </a:r>
              <a:r>
                <a:rPr lang="en-US" altLang="zh-CN"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TSS_count</a:t>
              </a:r>
              <a:r>
                <a:rPr lang="en-US" altLang="zh-CN" sz="1200" dirty="0">
                  <a:solidFill>
                    <a:srgbClr val="14161A"/>
                  </a:solidFill>
                  <a:latin typeface="微软雅黑" panose="020B0503020204020204" charset="-122"/>
                  <a:ea typeface="微软雅黑" panose="020B0503020204020204" charset="-122"/>
                  <a:cs typeface="微软雅黑" panose="020B0503020204020204" charset="-122"/>
                  <a:sym typeface="+mn-ea"/>
                </a:rPr>
                <a:t>}}</a:t>
              </a:r>
              <a:endParaRPr lang="en-US" altLang="zh-CN"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grpSp>
        <p:nvGrpSpPr>
          <p:cNvPr id="49" name="组合 48"/>
          <p:cNvGrpSpPr/>
          <p:nvPr/>
        </p:nvGrpSpPr>
        <p:grpSpPr>
          <a:xfrm>
            <a:off x="2089785" y="1801495"/>
            <a:ext cx="1268095" cy="721360"/>
            <a:chOff x="3291" y="2837"/>
            <a:chExt cx="1997" cy="1136"/>
          </a:xfrm>
        </p:grpSpPr>
        <p:grpSp>
          <p:nvGrpSpPr>
            <p:cNvPr id="47" name="组合 46"/>
            <p:cNvGrpSpPr/>
            <p:nvPr/>
          </p:nvGrpSpPr>
          <p:grpSpPr>
            <a:xfrm>
              <a:off x="3460" y="2837"/>
              <a:ext cx="1828" cy="554"/>
              <a:chOff x="4793" y="4123"/>
              <a:chExt cx="1828" cy="554"/>
            </a:xfrm>
          </p:grpSpPr>
          <p:sp>
            <p:nvSpPr>
              <p:cNvPr id="45" name="文本框 44"/>
              <p:cNvSpPr txBox="1"/>
              <p:nvPr/>
            </p:nvSpPr>
            <p:spPr>
              <a:xfrm>
                <a:off x="4793" y="4123"/>
                <a:ext cx="1331" cy="290"/>
              </a:xfrm>
              <a:prstGeom prst="rect">
                <a:avLst/>
              </a:prstGeom>
              <a:noFill/>
            </p:spPr>
            <p:txBody>
              <a:bodyPr wrap="square" lIns="0" tIns="0" rIns="0" bIns="0" rtlCol="0" anchor="t" anchorCtr="0">
                <a:spAutoFit/>
              </a:bodyPr>
              <a:p>
                <a:pPr algn="l">
                  <a:lnSpc>
                    <a:spcPct val="100000"/>
                  </a:lnSpc>
                </a:pPr>
                <a:r>
                  <a:rPr lang="zh-CN" altLang="en-US" sz="1200" dirty="0">
                    <a:solidFill>
                      <a:srgbClr val="4C61E7"/>
                    </a:solidFill>
                    <a:latin typeface="微软雅黑" panose="020B0503020204020204" charset="-122"/>
                    <a:ea typeface="微软雅黑" panose="020B0503020204020204" charset="-122"/>
                    <a:cs typeface="微软雅黑" panose="020B0503020204020204" charset="-122"/>
                    <a:sym typeface="+mn-ea"/>
                  </a:rPr>
                  <a:t>安全日志</a:t>
                </a:r>
                <a:endParaRPr lang="zh-CN" altLang="en-US" sz="1200" dirty="0">
                  <a:solidFill>
                    <a:srgbClr val="4C61E7"/>
                  </a:solidFill>
                  <a:latin typeface="微软雅黑" panose="020B0503020204020204" charset="-122"/>
                  <a:ea typeface="微软雅黑" panose="020B0503020204020204" charset="-122"/>
                  <a:cs typeface="微软雅黑" panose="020B0503020204020204" charset="-122"/>
                  <a:sym typeface="+mn-ea"/>
                </a:endParaRPr>
              </a:p>
            </p:txBody>
          </p:sp>
          <p:sp>
            <p:nvSpPr>
              <p:cNvPr id="46" name="文本框 45"/>
              <p:cNvSpPr txBox="1"/>
              <p:nvPr/>
            </p:nvSpPr>
            <p:spPr>
              <a:xfrm>
                <a:off x="4793" y="4435"/>
                <a:ext cx="1828" cy="242"/>
              </a:xfrm>
              <a:prstGeom prst="rect">
                <a:avLst/>
              </a:prstGeom>
              <a:noFill/>
            </p:spPr>
            <p:txBody>
              <a:bodyPr wrap="square" lIns="0" tIns="0" rIns="0" bIns="0" rtlCol="0" anchor="t" anchorCtr="0">
                <a:spAutoFit/>
              </a:bodyPr>
              <a:p>
                <a:pPr algn="l">
                  <a:lnSpc>
                    <a:spcPct val="100000"/>
                  </a:lnSpc>
                </a:pPr>
                <a:r>
                  <a:rPr lang="zh-CN" altLang="en-US" sz="1000" dirty="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关联聚合、智能分析</a:t>
                </a:r>
                <a:endParaRPr lang="zh-CN" altLang="en-US" sz="1000" dirty="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cxnSp>
          <p:nvCxnSpPr>
            <p:cNvPr id="48" name="直接连接符 47"/>
            <p:cNvCxnSpPr/>
            <p:nvPr/>
          </p:nvCxnSpPr>
          <p:spPr>
            <a:xfrm>
              <a:off x="3291" y="2971"/>
              <a:ext cx="0" cy="1002"/>
            </a:xfrm>
            <a:prstGeom prst="line">
              <a:avLst/>
            </a:prstGeom>
            <a:ln>
              <a:gradFill>
                <a:gsLst>
                  <a:gs pos="0">
                    <a:schemeClr val="accent1">
                      <a:alpha val="48000"/>
                    </a:schemeClr>
                  </a:gs>
                  <a:gs pos="100000">
                    <a:schemeClr val="accent1">
                      <a:alpha val="0"/>
                    </a:schemeClr>
                  </a:gs>
                </a:gsLst>
                <a:lin ang="5400000" scaled="1"/>
              </a:gradFill>
              <a:headEnd type="oval"/>
            </a:ln>
          </p:spPr>
          <p:style>
            <a:lnRef idx="2">
              <a:schemeClr val="accent1"/>
            </a:lnRef>
            <a:fillRef idx="0">
              <a:srgbClr val="FFFFFF"/>
            </a:fillRef>
            <a:effectRef idx="0">
              <a:srgbClr val="FFFFFF"/>
            </a:effectRef>
            <a:fontRef idx="minor">
              <a:schemeClr val="tx1"/>
            </a:fontRef>
          </p:style>
        </p:cxnSp>
      </p:grpSp>
      <p:grpSp>
        <p:nvGrpSpPr>
          <p:cNvPr id="50" name="组合 49"/>
          <p:cNvGrpSpPr/>
          <p:nvPr/>
        </p:nvGrpSpPr>
        <p:grpSpPr>
          <a:xfrm>
            <a:off x="3721100" y="2305685"/>
            <a:ext cx="1268095" cy="721360"/>
            <a:chOff x="3291" y="2837"/>
            <a:chExt cx="1997" cy="1136"/>
          </a:xfrm>
        </p:grpSpPr>
        <p:grpSp>
          <p:nvGrpSpPr>
            <p:cNvPr id="51" name="组合 50"/>
            <p:cNvGrpSpPr/>
            <p:nvPr/>
          </p:nvGrpSpPr>
          <p:grpSpPr>
            <a:xfrm>
              <a:off x="3460" y="2837"/>
              <a:ext cx="1828" cy="554"/>
              <a:chOff x="4793" y="4123"/>
              <a:chExt cx="1828" cy="554"/>
            </a:xfrm>
          </p:grpSpPr>
          <p:sp>
            <p:nvSpPr>
              <p:cNvPr id="52" name="文本框 51"/>
              <p:cNvSpPr txBox="1"/>
              <p:nvPr/>
            </p:nvSpPr>
            <p:spPr>
              <a:xfrm>
                <a:off x="4793" y="4123"/>
                <a:ext cx="1331" cy="290"/>
              </a:xfrm>
              <a:prstGeom prst="rect">
                <a:avLst/>
              </a:prstGeom>
              <a:noFill/>
            </p:spPr>
            <p:txBody>
              <a:bodyPr wrap="square" lIns="0" tIns="0" rIns="0" bIns="0" rtlCol="0" anchor="t" anchorCtr="0">
                <a:spAutoFit/>
              </a:bodyPr>
              <a:p>
                <a:pPr algn="l">
                  <a:lnSpc>
                    <a:spcPct val="100000"/>
                  </a:lnSpc>
                  <a:buClrTx/>
                  <a:buSzTx/>
                  <a:buFontTx/>
                </a:pPr>
                <a:r>
                  <a:rPr lang="zh-CN" altLang="en-US" sz="1200" dirty="0">
                    <a:solidFill>
                      <a:srgbClr val="4C61E7"/>
                    </a:solidFill>
                    <a:latin typeface="微软雅黑" panose="020B0503020204020204" charset="-122"/>
                    <a:ea typeface="微软雅黑" panose="020B0503020204020204" charset="-122"/>
                    <a:cs typeface="微软雅黑" panose="020B0503020204020204" charset="-122"/>
                    <a:sym typeface="+mn-ea"/>
                  </a:rPr>
                  <a:t>安全告警</a:t>
                </a:r>
                <a:endParaRPr lang="zh-CN" altLang="en-US" sz="1200" dirty="0">
                  <a:solidFill>
                    <a:srgbClr val="4C61E7"/>
                  </a:solidFill>
                  <a:latin typeface="微软雅黑" panose="020B0503020204020204" charset="-122"/>
                  <a:ea typeface="微软雅黑" panose="020B0503020204020204" charset="-122"/>
                  <a:cs typeface="微软雅黑" panose="020B0503020204020204" charset="-122"/>
                  <a:sym typeface="+mn-ea"/>
                </a:endParaRPr>
              </a:p>
            </p:txBody>
          </p:sp>
          <p:sp>
            <p:nvSpPr>
              <p:cNvPr id="53" name="文本框 52"/>
              <p:cNvSpPr txBox="1"/>
              <p:nvPr/>
            </p:nvSpPr>
            <p:spPr>
              <a:xfrm>
                <a:off x="4793" y="4435"/>
                <a:ext cx="1828" cy="242"/>
              </a:xfrm>
              <a:prstGeom prst="rect">
                <a:avLst/>
              </a:prstGeom>
              <a:noFill/>
            </p:spPr>
            <p:txBody>
              <a:bodyPr wrap="square" lIns="0" tIns="0" rIns="0" bIns="0" rtlCol="0" anchor="t" anchorCtr="0">
                <a:spAutoFit/>
              </a:bodyPr>
              <a:p>
                <a:pPr algn="l">
                  <a:lnSpc>
                    <a:spcPct val="100000"/>
                  </a:lnSpc>
                </a:pPr>
                <a:r>
                  <a:rPr lang="zh-CN" altLang="en-US" sz="1000" dirty="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深度理解、智能校验</a:t>
                </a:r>
                <a:endParaRPr lang="zh-CN" altLang="en-US" sz="1000" dirty="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cxnSp>
          <p:nvCxnSpPr>
            <p:cNvPr id="54" name="直接连接符 53"/>
            <p:cNvCxnSpPr/>
            <p:nvPr/>
          </p:nvCxnSpPr>
          <p:spPr>
            <a:xfrm>
              <a:off x="3291" y="2971"/>
              <a:ext cx="0" cy="1002"/>
            </a:xfrm>
            <a:prstGeom prst="line">
              <a:avLst/>
            </a:prstGeom>
            <a:ln>
              <a:gradFill>
                <a:gsLst>
                  <a:gs pos="0">
                    <a:schemeClr val="accent1">
                      <a:alpha val="48000"/>
                    </a:schemeClr>
                  </a:gs>
                  <a:gs pos="100000">
                    <a:schemeClr val="accent1">
                      <a:alpha val="0"/>
                    </a:schemeClr>
                  </a:gs>
                </a:gsLst>
                <a:lin ang="5400000" scaled="1"/>
              </a:gradFill>
              <a:headEnd type="oval"/>
            </a:ln>
          </p:spPr>
          <p:style>
            <a:lnRef idx="2">
              <a:schemeClr val="accent1"/>
            </a:lnRef>
            <a:fillRef idx="0">
              <a:srgbClr val="FFFFFF"/>
            </a:fillRef>
            <a:effectRef idx="0">
              <a:srgbClr val="FFFFFF"/>
            </a:effectRef>
            <a:fontRef idx="minor">
              <a:schemeClr val="tx1"/>
            </a:fontRef>
          </p:style>
        </p:cxnSp>
      </p:grpSp>
      <p:grpSp>
        <p:nvGrpSpPr>
          <p:cNvPr id="55" name="组合 54"/>
          <p:cNvGrpSpPr/>
          <p:nvPr/>
        </p:nvGrpSpPr>
        <p:grpSpPr>
          <a:xfrm>
            <a:off x="4989195" y="2842895"/>
            <a:ext cx="1268095" cy="721360"/>
            <a:chOff x="3291" y="2837"/>
            <a:chExt cx="1997" cy="1136"/>
          </a:xfrm>
        </p:grpSpPr>
        <p:grpSp>
          <p:nvGrpSpPr>
            <p:cNvPr id="56" name="组合 55"/>
            <p:cNvGrpSpPr/>
            <p:nvPr/>
          </p:nvGrpSpPr>
          <p:grpSpPr>
            <a:xfrm>
              <a:off x="3460" y="2837"/>
              <a:ext cx="1828" cy="554"/>
              <a:chOff x="4793" y="4123"/>
              <a:chExt cx="1828" cy="554"/>
            </a:xfrm>
          </p:grpSpPr>
          <p:sp>
            <p:nvSpPr>
              <p:cNvPr id="57" name="文本框 56"/>
              <p:cNvSpPr txBox="1"/>
              <p:nvPr/>
            </p:nvSpPr>
            <p:spPr>
              <a:xfrm>
                <a:off x="4793" y="4123"/>
                <a:ext cx="1331" cy="290"/>
              </a:xfrm>
              <a:prstGeom prst="rect">
                <a:avLst/>
              </a:prstGeom>
              <a:noFill/>
            </p:spPr>
            <p:txBody>
              <a:bodyPr wrap="square" lIns="0" tIns="0" rIns="0" bIns="0" rtlCol="0" anchor="t" anchorCtr="0">
                <a:spAutoFit/>
              </a:bodyPr>
              <a:p>
                <a:pPr algn="l">
                  <a:lnSpc>
                    <a:spcPct val="100000"/>
                  </a:lnSpc>
                  <a:buClrTx/>
                  <a:buSzTx/>
                  <a:buFontTx/>
                </a:pPr>
                <a:r>
                  <a:rPr lang="zh-CN" altLang="en-US" sz="1200" dirty="0">
                    <a:solidFill>
                      <a:srgbClr val="4C61E7"/>
                    </a:solidFill>
                    <a:latin typeface="微软雅黑" panose="020B0503020204020204" charset="-122"/>
                    <a:ea typeface="微软雅黑" panose="020B0503020204020204" charset="-122"/>
                    <a:cs typeface="微软雅黑" panose="020B0503020204020204" charset="-122"/>
                    <a:sym typeface="+mn-ea"/>
                  </a:rPr>
                  <a:t>安全事件</a:t>
                </a:r>
                <a:endParaRPr lang="zh-CN" altLang="en-US" sz="1200" dirty="0">
                  <a:solidFill>
                    <a:srgbClr val="4C61E7"/>
                  </a:solidFill>
                  <a:latin typeface="微软雅黑" panose="020B0503020204020204" charset="-122"/>
                  <a:ea typeface="微软雅黑" panose="020B0503020204020204" charset="-122"/>
                  <a:cs typeface="微软雅黑" panose="020B0503020204020204" charset="-122"/>
                  <a:sym typeface="+mn-ea"/>
                </a:endParaRPr>
              </a:p>
            </p:txBody>
          </p:sp>
          <p:sp>
            <p:nvSpPr>
              <p:cNvPr id="58" name="文本框 57"/>
              <p:cNvSpPr txBox="1"/>
              <p:nvPr/>
            </p:nvSpPr>
            <p:spPr>
              <a:xfrm>
                <a:off x="4793" y="4435"/>
                <a:ext cx="1828" cy="242"/>
              </a:xfrm>
              <a:prstGeom prst="rect">
                <a:avLst/>
              </a:prstGeom>
              <a:noFill/>
            </p:spPr>
            <p:txBody>
              <a:bodyPr wrap="square" lIns="0" tIns="0" rIns="0" bIns="0" rtlCol="0" anchor="t" anchorCtr="0">
                <a:spAutoFit/>
              </a:bodyPr>
              <a:p>
                <a:pPr algn="l">
                  <a:lnSpc>
                    <a:spcPct val="100000"/>
                  </a:lnSpc>
                </a:pPr>
                <a:r>
                  <a:rPr lang="zh-CN" altLang="en-US" sz="1000" dirty="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专家研判、协同处置</a:t>
                </a:r>
                <a:endParaRPr lang="zh-CN" altLang="en-US" sz="1000" dirty="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cxnSp>
          <p:nvCxnSpPr>
            <p:cNvPr id="59" name="直接连接符 58"/>
            <p:cNvCxnSpPr/>
            <p:nvPr/>
          </p:nvCxnSpPr>
          <p:spPr>
            <a:xfrm>
              <a:off x="3291" y="2971"/>
              <a:ext cx="0" cy="1002"/>
            </a:xfrm>
            <a:prstGeom prst="line">
              <a:avLst/>
            </a:prstGeom>
            <a:ln>
              <a:gradFill>
                <a:gsLst>
                  <a:gs pos="0">
                    <a:schemeClr val="accent1">
                      <a:alpha val="48000"/>
                    </a:schemeClr>
                  </a:gs>
                  <a:gs pos="100000">
                    <a:schemeClr val="accent1">
                      <a:alpha val="0"/>
                    </a:schemeClr>
                  </a:gs>
                </a:gsLst>
                <a:lin ang="5400000" scaled="1"/>
              </a:gradFill>
              <a:headEnd type="oval"/>
            </a:ln>
          </p:spPr>
          <p:style>
            <a:lnRef idx="2">
              <a:schemeClr val="accent1"/>
            </a:lnRef>
            <a:fillRef idx="0">
              <a:srgbClr val="FFFFFF"/>
            </a:fillRef>
            <a:effectRef idx="0">
              <a:srgbClr val="FFFFFF"/>
            </a:effectRef>
            <a:fontRef idx="minor">
              <a:schemeClr val="tx1"/>
            </a:fontRef>
          </p:style>
        </p:cxnSp>
      </p:grpSp>
      <p:sp>
        <p:nvSpPr>
          <p:cNvPr id="61" name="文本框 60"/>
          <p:cNvSpPr txBox="1"/>
          <p:nvPr/>
        </p:nvSpPr>
        <p:spPr>
          <a:xfrm>
            <a:off x="2995930" y="4069715"/>
            <a:ext cx="3489960" cy="184150"/>
          </a:xfrm>
          <a:prstGeom prst="rect">
            <a:avLst/>
          </a:prstGeom>
          <a:noFill/>
        </p:spPr>
        <p:txBody>
          <a:bodyPr wrap="square" lIns="0" tIns="0" rIns="0" bIns="0" rtlCol="0" anchor="t" anchorCtr="0">
            <a:spAutoFit/>
          </a:bodyPr>
          <a:p>
            <a:pPr algn="l">
              <a:lnSpc>
                <a:spcPct val="100000"/>
              </a:lnSpc>
            </a:pPr>
            <a:r>
              <a:rPr lang="en-US" altLang="zh-CN" sz="1200" dirty="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AI</a:t>
            </a:r>
            <a:r>
              <a:rPr lang="zh-CN" altLang="en-US" sz="1200" dirty="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能力贯穿检测、运营、问题处理，提升运营效率</a:t>
            </a:r>
            <a:endParaRPr lang="zh-CN" altLang="en-US" sz="1200" dirty="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nvGrpSpPr>
          <p:cNvPr id="68" name="组合 67"/>
          <p:cNvGrpSpPr/>
          <p:nvPr/>
        </p:nvGrpSpPr>
        <p:grpSpPr>
          <a:xfrm>
            <a:off x="6441440" y="3272790"/>
            <a:ext cx="1038860" cy="2517140"/>
            <a:chOff x="10432" y="5154"/>
            <a:chExt cx="1636" cy="3964"/>
          </a:xfrm>
        </p:grpSpPr>
        <p:pic>
          <p:nvPicPr>
            <p:cNvPr id="8" name="图片 7" descr="多边形 2@1x"/>
            <p:cNvPicPr>
              <a:picLocks noChangeAspect="1"/>
            </p:cNvPicPr>
            <p:nvPr/>
          </p:nvPicPr>
          <p:blipFill>
            <a:blip r:embed="rId24"/>
            <a:stretch>
              <a:fillRect/>
            </a:stretch>
          </p:blipFill>
          <p:spPr>
            <a:xfrm>
              <a:off x="10960" y="8696"/>
              <a:ext cx="511" cy="422"/>
            </a:xfrm>
            <a:prstGeom prst="rect">
              <a:avLst/>
            </a:prstGeom>
          </p:spPr>
        </p:pic>
        <p:pic>
          <p:nvPicPr>
            <p:cNvPr id="9" name="图片 8" descr="矩形 2419@1x-2"/>
            <p:cNvPicPr>
              <a:picLocks noChangeAspect="1"/>
            </p:cNvPicPr>
            <p:nvPr/>
          </p:nvPicPr>
          <p:blipFill>
            <a:blip r:embed="rId25"/>
            <a:stretch>
              <a:fillRect/>
            </a:stretch>
          </p:blipFill>
          <p:spPr>
            <a:xfrm>
              <a:off x="10432" y="6826"/>
              <a:ext cx="1636" cy="929"/>
            </a:xfrm>
            <a:prstGeom prst="rect">
              <a:avLst/>
            </a:prstGeom>
          </p:spPr>
        </p:pic>
        <p:pic>
          <p:nvPicPr>
            <p:cNvPr id="10" name="图片 9" descr="矩形 2419@1x"/>
            <p:cNvPicPr>
              <a:picLocks noChangeAspect="1"/>
            </p:cNvPicPr>
            <p:nvPr/>
          </p:nvPicPr>
          <p:blipFill>
            <a:blip r:embed="rId26"/>
            <a:stretch>
              <a:fillRect/>
            </a:stretch>
          </p:blipFill>
          <p:spPr>
            <a:xfrm>
              <a:off x="10432" y="5433"/>
              <a:ext cx="1636" cy="929"/>
            </a:xfrm>
            <a:prstGeom prst="rect">
              <a:avLst/>
            </a:prstGeom>
          </p:spPr>
        </p:pic>
        <p:sp>
          <p:nvSpPr>
            <p:cNvPr id="63" name="矩形 62"/>
            <p:cNvSpPr/>
            <p:nvPr>
              <p:custDataLst>
                <p:tags r:id="rId27"/>
              </p:custDataLst>
            </p:nvPr>
          </p:nvSpPr>
          <p:spPr>
            <a:xfrm>
              <a:off x="10502" y="5154"/>
              <a:ext cx="1331" cy="242"/>
            </a:xfrm>
            <a:prstGeom prst="rect">
              <a:avLst/>
            </a:prstGeom>
            <a:noFill/>
          </p:spPr>
          <p:txBody>
            <a:bodyPr wrap="square" lIns="0" tIns="0" rIns="0" bIns="0" rtlCol="0" anchor="t" anchorCtr="0">
              <a:spAutoFit/>
            </a:bodyPr>
            <a:p>
              <a:pPr indent="0" algn="ctr" fontAlgn="auto">
                <a:lnSpc>
                  <a:spcPct val="100000"/>
                </a:lnSpc>
                <a:spcBef>
                  <a:spcPct val="0"/>
                </a:spcBef>
                <a:spcAft>
                  <a:spcPct val="0"/>
                </a:spcAft>
              </a:pPr>
              <a:r>
                <a:rPr lang="en-US" altLang="zh-CN" sz="1000">
                  <a:ln>
                    <a:noFill/>
                    <a:prstDash val="sysDot"/>
                  </a:ln>
                  <a:solidFill>
                    <a:schemeClr val="tx1">
                      <a:lumMod val="50000"/>
                      <a:lumOff val="50000"/>
                    </a:schemeClr>
                  </a:solidFill>
                  <a:uFillTx/>
                  <a:latin typeface="Source Han Sans CN Normal" panose="020B0600000000000000" charset="-122"/>
                  <a:ea typeface="Source Han Sans CN Normal" panose="020B0600000000000000" charset="-122"/>
                  <a:cs typeface="+mn-ea"/>
                  <a:sym typeface="+mn-ea"/>
                </a:rPr>
                <a:t>MSS</a:t>
              </a:r>
              <a:r>
                <a:rPr lang="zh-CN" altLang="en-US" sz="1000">
                  <a:ln>
                    <a:noFill/>
                    <a:prstDash val="sysDot"/>
                  </a:ln>
                  <a:solidFill>
                    <a:schemeClr val="tx1">
                      <a:lumMod val="50000"/>
                      <a:lumOff val="50000"/>
                    </a:schemeClr>
                  </a:solidFill>
                  <a:uFillTx/>
                  <a:latin typeface="Source Han Sans CN Normal" panose="020B0600000000000000" charset="-122"/>
                  <a:ea typeface="Source Han Sans CN Normal" panose="020B0600000000000000" charset="-122"/>
                  <a:cs typeface="+mn-ea"/>
                  <a:sym typeface="+mn-ea"/>
                </a:rPr>
                <a:t>服务资产</a:t>
              </a:r>
              <a:endParaRPr lang="zh-CN" altLang="en-US" sz="1000">
                <a:ln>
                  <a:noFill/>
                  <a:prstDash val="sysDot"/>
                </a:ln>
                <a:solidFill>
                  <a:schemeClr val="tx1">
                    <a:lumMod val="50000"/>
                    <a:lumOff val="50000"/>
                  </a:schemeClr>
                </a:solidFill>
                <a:uFillTx/>
                <a:latin typeface="Source Han Sans CN Normal" panose="020B0600000000000000" charset="-122"/>
                <a:ea typeface="Source Han Sans CN Normal" panose="020B0600000000000000" charset="-122"/>
                <a:cs typeface="+mn-ea"/>
                <a:sym typeface="+mn-ea"/>
              </a:endParaRPr>
            </a:p>
          </p:txBody>
        </p:sp>
        <p:sp>
          <p:nvSpPr>
            <p:cNvPr id="64" name="矩形 63"/>
            <p:cNvSpPr/>
            <p:nvPr>
              <p:custDataLst>
                <p:tags r:id="rId28"/>
              </p:custDataLst>
            </p:nvPr>
          </p:nvSpPr>
          <p:spPr>
            <a:xfrm>
              <a:off x="10502" y="8014"/>
              <a:ext cx="1542" cy="242"/>
            </a:xfrm>
            <a:prstGeom prst="rect">
              <a:avLst/>
            </a:prstGeom>
            <a:noFill/>
          </p:spPr>
          <p:txBody>
            <a:bodyPr wrap="square" lIns="0" tIns="0" rIns="0" bIns="0" rtlCol="0" anchor="t" anchorCtr="0">
              <a:spAutoFit/>
            </a:bodyPr>
            <a:p>
              <a:pPr indent="0" algn="ctr" fontAlgn="auto">
                <a:lnSpc>
                  <a:spcPct val="100000"/>
                </a:lnSpc>
                <a:spcBef>
                  <a:spcPct val="0"/>
                </a:spcBef>
                <a:spcAft>
                  <a:spcPct val="0"/>
                </a:spcAft>
              </a:pPr>
              <a:r>
                <a:rPr lang="zh-CN" altLang="en-US" sz="1000">
                  <a:ln>
                    <a:noFill/>
                    <a:prstDash val="sysDot"/>
                  </a:ln>
                  <a:solidFill>
                    <a:schemeClr val="tx1">
                      <a:lumMod val="50000"/>
                      <a:lumOff val="50000"/>
                    </a:schemeClr>
                  </a:solidFill>
                  <a:uFillTx/>
                  <a:latin typeface="Source Han Sans CN Normal" panose="020B0600000000000000" charset="-122"/>
                  <a:ea typeface="Source Han Sans CN Normal" panose="020B0600000000000000" charset="-122"/>
                  <a:cs typeface="+mn-ea"/>
                  <a:sym typeface="+mn-ea"/>
                </a:rPr>
                <a:t>非</a:t>
              </a:r>
              <a:r>
                <a:rPr lang="en-US" altLang="zh-CN" sz="1000">
                  <a:ln>
                    <a:noFill/>
                    <a:prstDash val="sysDot"/>
                  </a:ln>
                  <a:solidFill>
                    <a:schemeClr val="tx1">
                      <a:lumMod val="50000"/>
                      <a:lumOff val="50000"/>
                    </a:schemeClr>
                  </a:solidFill>
                  <a:uFillTx/>
                  <a:latin typeface="Source Han Sans CN Normal" panose="020B0600000000000000" charset="-122"/>
                  <a:ea typeface="Source Han Sans CN Normal" panose="020B0600000000000000" charset="-122"/>
                  <a:cs typeface="+mn-ea"/>
                  <a:sym typeface="+mn-ea"/>
                </a:rPr>
                <a:t>MSS</a:t>
              </a:r>
              <a:r>
                <a:rPr lang="zh-CN" altLang="en-US" sz="1000">
                  <a:ln>
                    <a:noFill/>
                    <a:prstDash val="sysDot"/>
                  </a:ln>
                  <a:solidFill>
                    <a:schemeClr val="tx1">
                      <a:lumMod val="50000"/>
                      <a:lumOff val="50000"/>
                    </a:schemeClr>
                  </a:solidFill>
                  <a:uFillTx/>
                  <a:latin typeface="Source Han Sans CN Normal" panose="020B0600000000000000" charset="-122"/>
                  <a:ea typeface="Source Han Sans CN Normal" panose="020B0600000000000000" charset="-122"/>
                  <a:cs typeface="+mn-ea"/>
                  <a:sym typeface="+mn-ea"/>
                </a:rPr>
                <a:t>服务资产</a:t>
              </a:r>
              <a:endParaRPr lang="zh-CN" altLang="en-US" sz="1000">
                <a:ln>
                  <a:noFill/>
                  <a:prstDash val="sysDot"/>
                </a:ln>
                <a:solidFill>
                  <a:schemeClr val="tx1">
                    <a:lumMod val="50000"/>
                    <a:lumOff val="50000"/>
                  </a:schemeClr>
                </a:solidFill>
                <a:uFillTx/>
                <a:latin typeface="Source Han Sans CN Normal" panose="020B0600000000000000" charset="-122"/>
                <a:ea typeface="Source Han Sans CN Normal" panose="020B0600000000000000" charset="-122"/>
                <a:cs typeface="+mn-ea"/>
                <a:sym typeface="+mn-ea"/>
              </a:endParaRPr>
            </a:p>
          </p:txBody>
        </p:sp>
        <p:sp>
          <p:nvSpPr>
            <p:cNvPr id="65" name="矩形 64"/>
            <p:cNvSpPr/>
            <p:nvPr>
              <p:custDataLst>
                <p:tags r:id="rId29"/>
              </p:custDataLst>
            </p:nvPr>
          </p:nvSpPr>
          <p:spPr>
            <a:xfrm>
              <a:off x="10502" y="5720"/>
              <a:ext cx="1474" cy="289"/>
            </a:xfrm>
            <a:prstGeom prst="rect">
              <a:avLst/>
            </a:prstGeom>
            <a:noFill/>
          </p:spPr>
          <p:txBody>
            <a:bodyPr wrap="square" lIns="0" tIns="0" rIns="0" bIns="0" rtlCol="0" anchor="t" anchorCtr="0">
              <a:noAutofit/>
            </a:bodyPr>
            <a:p>
              <a:pPr indent="0" algn="just" fontAlgn="auto">
                <a:lnSpc>
                  <a:spcPct val="100000"/>
                </a:lnSpc>
                <a:spcBef>
                  <a:spcPct val="0"/>
                </a:spcBef>
                <a:spcAft>
                  <a:spcPct val="0"/>
                </a:spcAft>
              </a:pPr>
              <a:r>
                <a:rPr lang="zh-CN" altLang="en-US" sz="1200">
                  <a:ln>
                    <a:noFill/>
                    <a:prstDash val="sysDot"/>
                  </a:ln>
                  <a:solidFill>
                    <a:schemeClr val="bg1"/>
                  </a:solidFill>
                  <a:uFillTx/>
                  <a:latin typeface="Source Han Sans CN Medium" panose="020B0600000000000000" charset="-122"/>
                  <a:ea typeface="Source Han Sans CN Medium" panose="020B0600000000000000" charset="-122"/>
                  <a:cs typeface="Source Han Sans CN Medium" panose="020B0600000000000000" charset="-122"/>
                  <a:sym typeface="+mn-ea"/>
                </a:rPr>
                <a:t>安全托管</a:t>
              </a:r>
              <a:r>
                <a:rPr lang="zh-CN" altLang="en-US" sz="1200">
                  <a:ln>
                    <a:noFill/>
                    <a:prstDash val="sysDot"/>
                  </a:ln>
                  <a:solidFill>
                    <a:schemeClr val="bg1"/>
                  </a:solidFill>
                  <a:uFillTx/>
                  <a:latin typeface="Source Han Sans CN Medium" panose="020B0600000000000000" charset="-122"/>
                  <a:ea typeface="Source Han Sans CN Medium" panose="020B0600000000000000" charset="-122"/>
                  <a:cs typeface="Source Han Sans CN Medium" panose="020B0600000000000000" charset="-122"/>
                  <a:sym typeface="+mn-ea"/>
                </a:rPr>
                <a:t>服务</a:t>
              </a:r>
              <a:endParaRPr lang="zh-CN" altLang="en-US" sz="1200">
                <a:ln>
                  <a:noFill/>
                  <a:prstDash val="sysDot"/>
                </a:ln>
                <a:solidFill>
                  <a:schemeClr val="bg1"/>
                </a:solidFill>
                <a:uFillTx/>
                <a:latin typeface="Source Han Sans CN Medium" panose="020B0600000000000000" charset="-122"/>
                <a:ea typeface="Source Han Sans CN Medium" panose="020B0600000000000000" charset="-122"/>
                <a:cs typeface="Source Han Sans CN Medium" panose="020B0600000000000000" charset="-122"/>
                <a:sym typeface="+mn-ea"/>
              </a:endParaRPr>
            </a:p>
          </p:txBody>
        </p:sp>
        <p:sp>
          <p:nvSpPr>
            <p:cNvPr id="66" name="矩形 65"/>
            <p:cNvSpPr/>
            <p:nvPr>
              <p:custDataLst>
                <p:tags r:id="rId30"/>
              </p:custDataLst>
            </p:nvPr>
          </p:nvSpPr>
          <p:spPr>
            <a:xfrm>
              <a:off x="10502" y="7142"/>
              <a:ext cx="1138" cy="290"/>
            </a:xfrm>
            <a:prstGeom prst="rect">
              <a:avLst/>
            </a:prstGeom>
            <a:noFill/>
          </p:spPr>
          <p:txBody>
            <a:bodyPr wrap="square" lIns="0" tIns="0" rIns="0" bIns="0" rtlCol="0" anchor="t" anchorCtr="0">
              <a:spAutoFit/>
            </a:bodyPr>
            <a:p>
              <a:pPr indent="0" algn="just" fontAlgn="auto">
                <a:lnSpc>
                  <a:spcPct val="100000"/>
                </a:lnSpc>
                <a:spcBef>
                  <a:spcPct val="0"/>
                </a:spcBef>
                <a:spcAft>
                  <a:spcPct val="0"/>
                </a:spcAft>
              </a:pPr>
              <a:r>
                <a:rPr lang="zh-CN" altLang="en-US" sz="1200">
                  <a:ln>
                    <a:noFill/>
                    <a:prstDash val="sysDot"/>
                  </a:ln>
                  <a:solidFill>
                    <a:schemeClr val="bg1"/>
                  </a:solidFill>
                  <a:uFillTx/>
                  <a:latin typeface="Source Han Sans CN Medium" panose="020B0600000000000000" charset="-122"/>
                  <a:ea typeface="Source Han Sans CN Medium" panose="020B0600000000000000" charset="-122"/>
                  <a:cs typeface="Source Han Sans CN Medium" panose="020B0600000000000000" charset="-122"/>
                  <a:sym typeface="+mn-ea"/>
                </a:rPr>
                <a:t>本地运营</a:t>
              </a:r>
              <a:endParaRPr lang="zh-CN" altLang="en-US" sz="1200">
                <a:ln>
                  <a:noFill/>
                  <a:prstDash val="sysDot"/>
                </a:ln>
                <a:solidFill>
                  <a:schemeClr val="bg1"/>
                </a:solidFill>
                <a:uFillTx/>
                <a:latin typeface="Source Han Sans CN Medium" panose="020B0600000000000000" charset="-122"/>
                <a:ea typeface="Source Han Sans CN Medium" panose="020B0600000000000000" charset="-122"/>
                <a:cs typeface="Source Han Sans CN Medium" panose="020B0600000000000000" charset="-122"/>
                <a:sym typeface="+mn-ea"/>
              </a:endParaRPr>
            </a:p>
          </p:txBody>
        </p:sp>
        <p:sp>
          <p:nvSpPr>
            <p:cNvPr id="67" name="矩形 66"/>
            <p:cNvSpPr/>
            <p:nvPr>
              <p:custDataLst>
                <p:tags r:id="rId31"/>
              </p:custDataLst>
            </p:nvPr>
          </p:nvSpPr>
          <p:spPr>
            <a:xfrm>
              <a:off x="10890" y="6164"/>
              <a:ext cx="457" cy="704"/>
            </a:xfrm>
            <a:prstGeom prst="rect">
              <a:avLst/>
            </a:prstGeom>
            <a:noFill/>
          </p:spPr>
          <p:txBody>
            <a:bodyPr wrap="square" lIns="0" tIns="0" rIns="0" bIns="0" rtlCol="0" anchor="t" anchorCtr="0">
              <a:noAutofit/>
            </a:bodyPr>
            <a:p>
              <a:pPr indent="0" algn="ctr" fontAlgn="auto">
                <a:lnSpc>
                  <a:spcPct val="100000"/>
                </a:lnSpc>
                <a:spcBef>
                  <a:spcPct val="0"/>
                </a:spcBef>
                <a:spcAft>
                  <a:spcPct val="0"/>
                </a:spcAft>
              </a:pPr>
              <a:r>
                <a:rPr lang="en-US" sz="32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mn-ea"/>
                  <a:sym typeface="+mn-ea"/>
                </a:rPr>
                <a:t>+</a:t>
              </a:r>
              <a:endParaRPr lang="en-US" sz="32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mn-ea"/>
                <a:sym typeface="+mn-ea"/>
              </a:endParaRPr>
            </a:p>
          </p:txBody>
        </p:sp>
      </p:grpSp>
      <p:grpSp>
        <p:nvGrpSpPr>
          <p:cNvPr id="74" name="组合 73"/>
          <p:cNvGrpSpPr/>
          <p:nvPr/>
        </p:nvGrpSpPr>
        <p:grpSpPr>
          <a:xfrm>
            <a:off x="7620000" y="3346450"/>
            <a:ext cx="885190" cy="552450"/>
            <a:chOff x="12442" y="5162"/>
            <a:chExt cx="1394" cy="870"/>
          </a:xfrm>
        </p:grpSpPr>
        <p:pic>
          <p:nvPicPr>
            <p:cNvPr id="3" name="图片 2" descr="路径 642@1x"/>
            <p:cNvPicPr>
              <a:picLocks noChangeAspect="1"/>
            </p:cNvPicPr>
            <p:nvPr/>
          </p:nvPicPr>
          <p:blipFill>
            <a:blip r:embed="rId32"/>
            <a:stretch>
              <a:fillRect/>
            </a:stretch>
          </p:blipFill>
          <p:spPr>
            <a:xfrm>
              <a:off x="12442" y="5162"/>
              <a:ext cx="1395" cy="870"/>
            </a:xfrm>
            <a:prstGeom prst="rect">
              <a:avLst/>
            </a:prstGeom>
          </p:spPr>
        </p:pic>
        <p:sp>
          <p:nvSpPr>
            <p:cNvPr id="70" name="文本框 69"/>
            <p:cNvSpPr txBox="1"/>
            <p:nvPr/>
          </p:nvSpPr>
          <p:spPr>
            <a:xfrm>
              <a:off x="12645" y="5393"/>
              <a:ext cx="989" cy="484"/>
            </a:xfrm>
            <a:prstGeom prst="rect">
              <a:avLst/>
            </a:prstGeom>
          </p:spPr>
          <p:txBody>
            <a:bodyPr wrap="square" lIns="0" tIns="0" rIns="0" bIns="0">
              <a:spAutoFit/>
            </a:bodyPr>
            <a:p>
              <a:pPr algn="ctr"/>
              <a:r>
                <a:rPr lang="en-US" altLang="zh-CN" sz="1000">
                  <a:latin typeface="Source Han Sans CN Normal" panose="020B0600000000000000" charset="-122"/>
                  <a:ea typeface="Source Han Sans CN Normal" panose="020B0600000000000000" charset="-122"/>
                  <a:cs typeface="Source Han Sans CN Normal" panose="020B0600000000000000" charset="-122"/>
                </a:rPr>
                <a:t>AI</a:t>
              </a:r>
              <a:r>
                <a:rPr lang="zh-CN" altLang="en-US" sz="1000">
                  <a:latin typeface="Source Han Sans CN Normal" panose="020B0600000000000000" charset="-122"/>
                  <a:ea typeface="Source Han Sans CN Normal" panose="020B0600000000000000" charset="-122"/>
                  <a:cs typeface="Source Han Sans CN Normal" panose="020B0600000000000000" charset="-122"/>
                </a:rPr>
                <a:t>智能</a:t>
              </a:r>
              <a:endParaRPr lang="zh-CN" altLang="en-US" sz="1000">
                <a:latin typeface="Source Han Sans CN Normal" panose="020B0600000000000000" charset="-122"/>
                <a:ea typeface="Source Han Sans CN Normal" panose="020B0600000000000000" charset="-122"/>
                <a:cs typeface="Source Han Sans CN Normal" panose="020B0600000000000000" charset="-122"/>
              </a:endParaRPr>
            </a:p>
            <a:p>
              <a:pPr algn="ctr"/>
              <a:r>
                <a:rPr lang="zh-CN" altLang="en-US" sz="1000">
                  <a:latin typeface="Source Han Sans CN Normal" panose="020B0600000000000000" charset="-122"/>
                  <a:ea typeface="Source Han Sans CN Normal" panose="020B0600000000000000" charset="-122"/>
                  <a:cs typeface="Source Han Sans CN Normal" panose="020B0600000000000000" charset="-122"/>
                </a:rPr>
                <a:t>分析</a:t>
              </a:r>
              <a:endParaRPr lang="zh-CN" altLang="en-US" sz="1000">
                <a:latin typeface="Source Han Sans CN Normal" panose="020B0600000000000000" charset="-122"/>
                <a:ea typeface="Source Han Sans CN Normal" panose="020B0600000000000000" charset="-122"/>
                <a:cs typeface="Source Han Sans CN Normal" panose="020B0600000000000000" charset="-122"/>
              </a:endParaRPr>
            </a:p>
          </p:txBody>
        </p:sp>
      </p:grpSp>
      <p:grpSp>
        <p:nvGrpSpPr>
          <p:cNvPr id="75" name="组合 74"/>
          <p:cNvGrpSpPr/>
          <p:nvPr/>
        </p:nvGrpSpPr>
        <p:grpSpPr>
          <a:xfrm>
            <a:off x="7620000" y="4607560"/>
            <a:ext cx="885190" cy="552450"/>
            <a:chOff x="12442" y="7479"/>
            <a:chExt cx="1394" cy="870"/>
          </a:xfrm>
        </p:grpSpPr>
        <p:pic>
          <p:nvPicPr>
            <p:cNvPr id="71" name="图片 70" descr="路径 642@1x"/>
            <p:cNvPicPr>
              <a:picLocks noChangeAspect="1"/>
            </p:cNvPicPr>
            <p:nvPr/>
          </p:nvPicPr>
          <p:blipFill>
            <a:blip r:embed="rId32"/>
            <a:stretch>
              <a:fillRect/>
            </a:stretch>
          </p:blipFill>
          <p:spPr>
            <a:xfrm>
              <a:off x="12442" y="7479"/>
              <a:ext cx="1395" cy="870"/>
            </a:xfrm>
            <a:prstGeom prst="rect">
              <a:avLst/>
            </a:prstGeom>
          </p:spPr>
        </p:pic>
        <p:sp>
          <p:nvSpPr>
            <p:cNvPr id="72" name="文本框 71"/>
            <p:cNvSpPr txBox="1"/>
            <p:nvPr/>
          </p:nvSpPr>
          <p:spPr>
            <a:xfrm>
              <a:off x="12645" y="7710"/>
              <a:ext cx="989" cy="484"/>
            </a:xfrm>
            <a:prstGeom prst="rect">
              <a:avLst/>
            </a:prstGeom>
          </p:spPr>
          <p:txBody>
            <a:bodyPr wrap="square" lIns="0" tIns="0" rIns="0" bIns="0">
              <a:spAutoFit/>
            </a:bodyPr>
            <a:p>
              <a:pPr algn="ctr"/>
              <a:r>
                <a:rPr lang="en-US" altLang="zh-CN" sz="1000">
                  <a:latin typeface="Source Han Sans CN Normal" panose="020B0600000000000000" charset="-122"/>
                  <a:ea typeface="Source Han Sans CN Normal" panose="020B0600000000000000" charset="-122"/>
                  <a:cs typeface="Source Han Sans CN Normal" panose="020B0600000000000000" charset="-122"/>
                </a:rPr>
                <a:t>AI</a:t>
              </a:r>
              <a:r>
                <a:rPr lang="zh-CN" altLang="en-US" sz="1000">
                  <a:latin typeface="Source Han Sans CN Normal" panose="020B0600000000000000" charset="-122"/>
                  <a:ea typeface="Source Han Sans CN Normal" panose="020B0600000000000000" charset="-122"/>
                  <a:cs typeface="Source Han Sans CN Normal" panose="020B0600000000000000" charset="-122"/>
                </a:rPr>
                <a:t>智能</a:t>
              </a:r>
              <a:endParaRPr lang="zh-CN" altLang="en-US" sz="1000">
                <a:latin typeface="Source Han Sans CN Normal" panose="020B0600000000000000" charset="-122"/>
                <a:ea typeface="Source Han Sans CN Normal" panose="020B0600000000000000" charset="-122"/>
                <a:cs typeface="Source Han Sans CN Normal" panose="020B0600000000000000" charset="-122"/>
              </a:endParaRPr>
            </a:p>
            <a:p>
              <a:pPr algn="ctr"/>
              <a:r>
                <a:rPr lang="zh-CN" altLang="en-US" sz="1000">
                  <a:latin typeface="Source Han Sans CN Normal" panose="020B0600000000000000" charset="-122"/>
                  <a:ea typeface="Source Han Sans CN Normal" panose="020B0600000000000000" charset="-122"/>
                  <a:cs typeface="Source Han Sans CN Normal" panose="020B0600000000000000" charset="-122"/>
                </a:rPr>
                <a:t>分析</a:t>
              </a:r>
              <a:endParaRPr lang="zh-CN" altLang="en-US" sz="1000">
                <a:latin typeface="Source Han Sans CN Normal" panose="020B0600000000000000" charset="-122"/>
                <a:ea typeface="Source Han Sans CN Normal" panose="020B0600000000000000" charset="-122"/>
                <a:cs typeface="Source Han Sans CN Normal" panose="020B0600000000000000" charset="-122"/>
              </a:endParaRPr>
            </a:p>
          </p:txBody>
        </p:sp>
      </p:grpSp>
      <p:sp>
        <p:nvSpPr>
          <p:cNvPr id="76" name="文本框 75"/>
          <p:cNvSpPr txBox="1"/>
          <p:nvPr/>
        </p:nvSpPr>
        <p:spPr>
          <a:xfrm>
            <a:off x="8618855" y="3093085"/>
            <a:ext cx="1160780" cy="737235"/>
          </a:xfrm>
          <a:prstGeom prst="rect">
            <a:avLst/>
          </a:prstGeom>
        </p:spPr>
        <p:txBody>
          <a:bodyPr wrap="square" lIns="0" tIns="0" rIns="0" bIns="0">
            <a:noAutofit/>
          </a:bodyPr>
          <a:p>
            <a:pPr>
              <a:lnSpc>
                <a:spcPct val="15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脆弱性管理</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a:p>
            <a:pPr>
              <a:lnSpc>
                <a:spcPct val="15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专家研判</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a:p>
            <a:pPr>
              <a:lnSpc>
                <a:spcPct val="15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专家对抗</a:t>
            </a:r>
            <a:r>
              <a:rPr lang="en-US" altLang="zh-CN"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a:t>
            </a: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应急处置</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a:p>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p:txBody>
      </p:sp>
      <p:sp>
        <p:nvSpPr>
          <p:cNvPr id="77" name="文本框 76"/>
          <p:cNvSpPr txBox="1"/>
          <p:nvPr/>
        </p:nvSpPr>
        <p:spPr>
          <a:xfrm>
            <a:off x="8618855" y="4607560"/>
            <a:ext cx="1160780" cy="899795"/>
          </a:xfrm>
          <a:prstGeom prst="rect">
            <a:avLst/>
          </a:prstGeom>
        </p:spPr>
        <p:txBody>
          <a:bodyPr wrap="square" lIns="0" tIns="0" rIns="0" bIns="0">
            <a:noAutofit/>
          </a:bodyPr>
          <a:p>
            <a:pPr>
              <a:lnSpc>
                <a:spcPct val="14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智能高效响应</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a:p>
            <a:pPr>
              <a:lnSpc>
                <a:spcPct val="14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完整溯源分析</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a:p>
            <a:pPr>
              <a:lnSpc>
                <a:spcPct val="14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移动化运营支持</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a:p>
            <a:pPr>
              <a:lnSpc>
                <a:spcPct val="14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事件处置闭环</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p:txBody>
      </p:sp>
      <p:sp>
        <p:nvSpPr>
          <p:cNvPr id="78" name="文本框 77"/>
          <p:cNvSpPr txBox="1"/>
          <p:nvPr/>
        </p:nvSpPr>
        <p:spPr>
          <a:xfrm>
            <a:off x="8178800" y="4195445"/>
            <a:ext cx="1094105" cy="168910"/>
          </a:xfrm>
          <a:prstGeom prst="rect">
            <a:avLst/>
          </a:prstGeom>
        </p:spPr>
        <p:txBody>
          <a:bodyPr wrap="square" lIns="0" tIns="0" rIns="0" bIns="0">
            <a:spAutoFit/>
          </a:bodyPr>
          <a:p>
            <a:pPr>
              <a:lnSpc>
                <a:spcPct val="11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专家咨询</a:t>
            </a:r>
            <a:r>
              <a:rPr lang="en-US" altLang="zh-CN"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a:t>
            </a: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协助处置</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p:txBody>
      </p:sp>
      <p:pic>
        <p:nvPicPr>
          <p:cNvPr id="23" name="图片 22" descr="组 3169@1x"/>
          <p:cNvPicPr>
            <a:picLocks noChangeAspect="1"/>
          </p:cNvPicPr>
          <p:nvPr/>
        </p:nvPicPr>
        <p:blipFill>
          <a:blip r:embed="rId33"/>
          <a:stretch>
            <a:fillRect/>
          </a:stretch>
        </p:blipFill>
        <p:spPr>
          <a:xfrm>
            <a:off x="1270635" y="6097905"/>
            <a:ext cx="8941435" cy="590550"/>
          </a:xfrm>
          <a:prstGeom prst="rect">
            <a:avLst/>
          </a:prstGeom>
        </p:spPr>
      </p:pic>
      <p:sp>
        <p:nvSpPr>
          <p:cNvPr id="81" name="文本框 80"/>
          <p:cNvSpPr txBox="1"/>
          <p:nvPr/>
        </p:nvSpPr>
        <p:spPr>
          <a:xfrm>
            <a:off x="2974340" y="6189345"/>
            <a:ext cx="5531485" cy="306705"/>
          </a:xfrm>
          <a:prstGeom prst="rect">
            <a:avLst/>
          </a:prstGeom>
        </p:spPr>
        <p:txBody>
          <a:bodyPr wrap="square">
            <a:spAutoFit/>
          </a:bodyPr>
          <a:p>
            <a:pPr algn="ctr"/>
            <a:r>
              <a:rPr lang="zh-CN" altLang="en-US"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rPr>
              <a:t>全量资产安全状况在XDR平台统一可视</a:t>
            </a:r>
            <a:r>
              <a:rPr lang="en-US" altLang="zh-CN"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rPr>
              <a:t>  </a:t>
            </a:r>
            <a:r>
              <a:rPr lang="zh-CN" altLang="en-US"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sym typeface="+mn-ea"/>
              </a:rPr>
              <a:t>多维度展示</a:t>
            </a:r>
            <a:r>
              <a:rPr lang="zh-CN" altLang="en-US"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rPr>
              <a:t>运营结果 </a:t>
            </a:r>
            <a:endParaRPr lang="zh-CN" altLang="en-US"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endParaRPr>
          </a:p>
        </p:txBody>
      </p:sp>
      <p:sp>
        <p:nvSpPr>
          <p:cNvPr id="43" name="文本框 42"/>
          <p:cNvSpPr txBox="1"/>
          <p:nvPr/>
        </p:nvSpPr>
        <p:spPr>
          <a:xfrm flipH="1">
            <a:off x="2293620" y="3424555"/>
            <a:ext cx="634365" cy="1538605"/>
          </a:xfrm>
          <a:prstGeom prst="rect">
            <a:avLst/>
          </a:prstGeom>
          <a:noFill/>
        </p:spPr>
        <p:txBody>
          <a:bodyPr vert="eaVert" wrap="square" lIns="0" tIns="0" rIns="0" bIns="0" rtlCol="0" anchor="ctr" anchorCtr="0">
            <a:noAutofit/>
          </a:bodyPr>
          <a:p>
            <a:pPr algn="ctr">
              <a:lnSpc>
                <a:spcPct val="100000"/>
              </a:lnSpc>
            </a:pPr>
            <a:r>
              <a:rPr lang="zh-CN" altLang="en-US" sz="2000" dirty="0">
                <a:solidFill>
                  <a:srgbClr val="4C61E7"/>
                </a:solidFill>
                <a:latin typeface="微软雅黑" panose="020B0503020204020204" charset="-122"/>
                <a:ea typeface="微软雅黑" panose="020B0503020204020204" charset="-122"/>
                <a:cs typeface="微软雅黑" panose="020B0503020204020204" charset="-122"/>
                <a:sym typeface="+mn-ea"/>
              </a:rPr>
              <a:t>XDR平台</a:t>
            </a:r>
            <a:endParaRPr lang="zh-CN" altLang="en-US" sz="2000" dirty="0">
              <a:solidFill>
                <a:srgbClr val="4C61E7"/>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a:xfrm>
          <a:off x="0" y="0"/>
          <a:ext cx="0" cy="0"/>
          <a:chOff x="0" y="0"/>
          <a:chExt cx="0" cy="0"/>
        </a:xfrm>
      </p:grpSpPr>
      <p:sp>
        <p:nvSpPr>
          <p:cNvPr id="4" name="标题"/>
          <p:cNvSpPr>
            <a:spLocks noGrp="1"/>
          </p:cNvSpPr>
          <p:nvPr>
            <p:ph type="title" idx="4294967295"/>
            <p:custDataLst>
              <p:tags r:id="rId2"/>
            </p:custDataLst>
          </p:nvPr>
        </p:nvSpPr>
        <p:spPr>
          <a:xfrm>
            <a:off x="4723130" y="2691130"/>
            <a:ext cx="5440045" cy="798195"/>
          </a:xfrm>
        </p:spPr>
        <p:txBody>
          <a:bodyPr lIns="0" tIns="0" rIns="0" bIns="0">
            <a:normAutofit/>
          </a:bodyPr>
          <a:lstStyle/>
          <a:p>
            <a:pPr>
              <a:lnSpc>
                <a:spcPct val="100000"/>
              </a:lnSpc>
            </a:pPr>
            <a:r>
              <a:rPr lang="zh-CN" altLang="en-US" sz="4400" b="1" kern="0" dirty="0">
                <a:solidFill>
                  <a:srgbClr val="0B4CBB"/>
                </a:solidFill>
                <a:uFillTx/>
                <a:latin typeface="Source Han Sans CN Bold" panose="020B0600000000000000" charset="-122"/>
                <a:ea typeface="Source Han Sans CN Bold" panose="020B0600000000000000" charset="-122"/>
                <a:cs typeface="微软雅黑" panose="020B0503020204020204" charset="-122"/>
                <a:sym typeface="+mn-ea"/>
              </a:rPr>
              <a:t>运营目标达成情况</a:t>
            </a:r>
            <a:endParaRPr lang="zh-CN" altLang="en-US" sz="4400" b="1" kern="0" dirty="0">
              <a:solidFill>
                <a:srgbClr val="0B4CBB"/>
              </a:solidFill>
              <a:uFillTx/>
              <a:latin typeface="Source Han Sans CN Bold" panose="020B0600000000000000" charset="-122"/>
              <a:ea typeface="Source Han Sans CN Bold" panose="020B0600000000000000" charset="-122"/>
              <a:cs typeface="微软雅黑" panose="020B0503020204020204" charset="-122"/>
              <a:sym typeface="+mn-ea"/>
            </a:endParaRPr>
          </a:p>
        </p:txBody>
      </p:sp>
      <p:sp>
        <p:nvSpPr>
          <p:cNvPr id="44" name="文本框 43"/>
          <p:cNvSpPr txBox="1"/>
          <p:nvPr>
            <p:custDataLst>
              <p:tags r:id="rId3"/>
            </p:custDataLst>
          </p:nvPr>
        </p:nvSpPr>
        <p:spPr>
          <a:xfrm>
            <a:off x="4723130" y="3601720"/>
            <a:ext cx="4703445" cy="424815"/>
          </a:xfrm>
          <a:prstGeom prst="rect">
            <a:avLst/>
          </a:prstGeom>
          <a:noFill/>
          <a:ln w="0">
            <a:noFill/>
          </a:ln>
        </p:spPr>
        <p:txBody>
          <a:bodyPr wrap="square" lIns="0" tIns="0" rIns="0" bIns="0" anchor="ctr" anchorCtr="0">
            <a:noAutofit/>
          </a:bodyPr>
          <a:p>
            <a:pPr marL="20955" algn="l" rtl="0" eaLnBrk="0">
              <a:lnSpc>
                <a:spcPct val="89000"/>
              </a:lnSpc>
              <a:spcBef>
                <a:spcPts val="85"/>
              </a:spcBef>
            </a:pPr>
            <a:r>
              <a:rPr lang="zh-CN" altLang="en-US" sz="2000" kern="0" spc="60" dirty="0">
                <a:solidFill>
                  <a:schemeClr val="tx1">
                    <a:lumMod val="65000"/>
                    <a:lumOff val="35000"/>
                  </a:schemeClr>
                </a:solidFill>
                <a:latin typeface="Source Han Sans CN Regular" panose="020B0600000000000000" charset="-122"/>
                <a:ea typeface="Source Han Sans CN Regular" panose="020B0600000000000000" charset="-122"/>
                <a:cs typeface="黑体" panose="02010609060101010101" charset="-122"/>
                <a:sym typeface="+mn-ea"/>
              </a:rPr>
              <a:t>业务连续性保障、风险防控、合规达成</a:t>
            </a:r>
            <a:endParaRPr lang="zh-CN" altLang="en-US" sz="2000" kern="0" spc="60" dirty="0">
              <a:solidFill>
                <a:schemeClr val="tx1">
                  <a:lumMod val="65000"/>
                  <a:lumOff val="35000"/>
                </a:schemeClr>
              </a:solidFill>
              <a:latin typeface="Source Han Sans CN Regular" panose="020B0600000000000000" charset="-122"/>
              <a:ea typeface="Source Han Sans CN Regular" panose="020B0600000000000000" charset="-122"/>
              <a:cs typeface="黑体" panose="02010609060101010101" charset="-122"/>
              <a:sym typeface="+mn-ea"/>
            </a:endParaRPr>
          </a:p>
        </p:txBody>
      </p:sp>
      <p:pic>
        <p:nvPicPr>
          <p:cNvPr id="63" name="图片 62" descr="深信服 + 智安全"/>
          <p:cNvPicPr>
            <a:picLocks noChangeAspect="1"/>
          </p:cNvPicPr>
          <p:nvPr/>
        </p:nvPicPr>
        <p:blipFill>
          <a:blip r:embed="rId4"/>
          <a:srcRect l="5232" t="26576" r="4938" b="29565"/>
          <a:stretch>
            <a:fillRect/>
          </a:stretch>
        </p:blipFill>
        <p:spPr>
          <a:xfrm>
            <a:off x="10330815" y="273073"/>
            <a:ext cx="1629867" cy="360000"/>
          </a:xfrm>
          <a:prstGeom prst="rect">
            <a:avLst/>
          </a:prstGeom>
        </p:spPr>
      </p:pic>
      <p:sp>
        <p:nvSpPr>
          <p:cNvPr id="2" name="节编号"/>
          <p:cNvSpPr>
            <a:spLocks noGrp="1"/>
          </p:cNvSpPr>
          <p:nvPr>
            <p:custDataLst>
              <p:tags r:id="rId5"/>
            </p:custDataLst>
          </p:nvPr>
        </p:nvSpPr>
        <p:spPr>
          <a:xfrm>
            <a:off x="2720340" y="2455545"/>
            <a:ext cx="1800225" cy="1570355"/>
          </a:xfr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Aft>
                <a:spcPts val="0"/>
              </a:spcAft>
              <a:buNone/>
            </a:pPr>
            <a:r>
              <a:rPr lang="zh-CN" altLang="en-US" sz="9600" kern="0">
                <a:solidFill>
                  <a:srgbClr val="0B4CBB"/>
                </a:solidFill>
                <a:uFillTx/>
                <a:latin typeface="Arial" panose="020B0604020202020204" pitchFamily="34" charset="0"/>
                <a:ea typeface="Source Han Sans CN Bold" panose="020B0600000000000000" charset="-122"/>
                <a:cs typeface="Arial" panose="020B0604020202020204" pitchFamily="34" charset="0"/>
              </a:rPr>
              <a:t>0</a:t>
            </a:r>
            <a:r>
              <a:rPr lang="en-US" altLang="zh-CN" sz="9600" kern="0">
                <a:solidFill>
                  <a:srgbClr val="0B4CBB"/>
                </a:solidFill>
                <a:uFillTx/>
                <a:latin typeface="Arial" panose="020B0604020202020204" pitchFamily="34" charset="0"/>
                <a:ea typeface="Source Han Sans CN Bold" panose="020B0600000000000000" charset="-122"/>
                <a:cs typeface="Arial" panose="020B0604020202020204" pitchFamily="34" charset="0"/>
              </a:rPr>
              <a:t>1</a:t>
            </a:r>
            <a:endParaRPr lang="en-US" altLang="zh-CN" sz="9600" kern="0">
              <a:solidFill>
                <a:srgbClr val="0B4CBB"/>
              </a:solidFill>
              <a:uFillTx/>
              <a:latin typeface="Arial" panose="020B0604020202020204" pitchFamily="34" charset="0"/>
              <a:ea typeface="Source Han Sans CN Bold" panose="020B0600000000000000" charset="-122"/>
              <a:cs typeface="Arial" panose="020B0604020202020204" pitchFamily="34" charset="0"/>
            </a:endParaRPr>
          </a:p>
        </p:txBody>
      </p:sp>
    </p:spTree>
    <p:custDataLst>
      <p:tags r:id="rId6"/>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6" name="直接连接符 85"/>
          <p:cNvCxnSpPr>
            <a:endCxn id="89" idx="4"/>
          </p:cNvCxnSpPr>
          <p:nvPr>
            <p:custDataLst>
              <p:tags r:id="rId1"/>
            </p:custDataLst>
          </p:nvPr>
        </p:nvCxnSpPr>
        <p:spPr>
          <a:xfrm>
            <a:off x="985816" y="1403350"/>
            <a:ext cx="0" cy="1047750"/>
          </a:xfrm>
          <a:prstGeom prst="line">
            <a:avLst/>
          </a:prstGeom>
          <a:solidFill>
            <a:srgbClr val="66A840"/>
          </a:solidFill>
          <a:ln w="25400">
            <a:gradFill>
              <a:gsLst>
                <a:gs pos="100000">
                  <a:srgbClr val="C5E0B4"/>
                </a:gs>
                <a:gs pos="12000">
                  <a:srgbClr val="C5E0B4">
                    <a:alpha val="55000"/>
                  </a:srgbClr>
                </a:gs>
              </a:gsLst>
              <a:lin ang="5400000" scaled="1"/>
            </a:gradFill>
          </a:ln>
        </p:spPr>
        <p:style>
          <a:lnRef idx="0">
            <a:srgbClr val="FFFFFF"/>
          </a:lnRef>
          <a:fillRef idx="0">
            <a:srgbClr val="FFFFFF"/>
          </a:fillRef>
          <a:effectRef idx="0">
            <a:srgbClr val="FFFFFF"/>
          </a:effectRef>
          <a:fontRef idx="minor">
            <a:schemeClr val="tx1"/>
          </a:fontRef>
        </p:style>
      </p:cxnSp>
      <p:cxnSp>
        <p:nvCxnSpPr>
          <p:cNvPr id="94" name="直接连接符 93"/>
          <p:cNvCxnSpPr>
            <a:endCxn id="96" idx="4"/>
          </p:cNvCxnSpPr>
          <p:nvPr>
            <p:custDataLst>
              <p:tags r:id="rId2"/>
            </p:custDataLst>
          </p:nvPr>
        </p:nvCxnSpPr>
        <p:spPr>
          <a:xfrm>
            <a:off x="3739153" y="1403350"/>
            <a:ext cx="4445" cy="1047750"/>
          </a:xfrm>
          <a:prstGeom prst="line">
            <a:avLst/>
          </a:prstGeom>
          <a:solidFill>
            <a:srgbClr val="66A840"/>
          </a:solidFill>
          <a:ln w="25400">
            <a:gradFill>
              <a:gsLst>
                <a:gs pos="100000">
                  <a:srgbClr val="C5E0B4"/>
                </a:gs>
                <a:gs pos="12000">
                  <a:srgbClr val="C5E0B4">
                    <a:alpha val="55000"/>
                  </a:srgbClr>
                </a:gs>
              </a:gsLst>
              <a:lin ang="5400000" scaled="1"/>
            </a:gradFill>
          </a:ln>
        </p:spPr>
        <p:style>
          <a:lnRef idx="0">
            <a:srgbClr val="FFFFFF"/>
          </a:lnRef>
          <a:fillRef idx="0">
            <a:srgbClr val="FFFFFF"/>
          </a:fillRef>
          <a:effectRef idx="0">
            <a:srgbClr val="FFFFFF"/>
          </a:effectRef>
          <a:fontRef idx="minor">
            <a:schemeClr val="tx1"/>
          </a:fontRef>
        </p:style>
      </p:cxnSp>
      <p:cxnSp>
        <p:nvCxnSpPr>
          <p:cNvPr id="101" name="直接连接符 100"/>
          <p:cNvCxnSpPr/>
          <p:nvPr>
            <p:custDataLst>
              <p:tags r:id="rId3"/>
            </p:custDataLst>
          </p:nvPr>
        </p:nvCxnSpPr>
        <p:spPr>
          <a:xfrm flipH="1">
            <a:off x="6470605" y="1403350"/>
            <a:ext cx="6350" cy="939800"/>
          </a:xfrm>
          <a:prstGeom prst="line">
            <a:avLst/>
          </a:prstGeom>
          <a:solidFill>
            <a:schemeClr val="accent1">
              <a:alpha val="0"/>
            </a:schemeClr>
          </a:solidFill>
          <a:ln w="25400">
            <a:gradFill>
              <a:gsLst>
                <a:gs pos="100000">
                  <a:srgbClr val="8FAADC"/>
                </a:gs>
                <a:gs pos="0">
                  <a:srgbClr val="8FAADC">
                    <a:alpha val="23000"/>
                  </a:srgbClr>
                </a:gs>
              </a:gsLst>
              <a:lin ang="5400000" scaled="1"/>
            </a:gradFill>
          </a:ln>
        </p:spPr>
        <p:style>
          <a:lnRef idx="0">
            <a:srgbClr val="FFFFFF"/>
          </a:lnRef>
          <a:fillRef idx="0">
            <a:srgbClr val="FFFFFF"/>
          </a:fillRef>
          <a:effectRef idx="0">
            <a:srgbClr val="FFFFFF"/>
          </a:effectRef>
          <a:fontRef idx="minor">
            <a:schemeClr val="tx1"/>
          </a:fontRef>
        </p:style>
      </p:cxnSp>
      <p:cxnSp>
        <p:nvCxnSpPr>
          <p:cNvPr id="108" name="直接连接符 107"/>
          <p:cNvCxnSpPr/>
          <p:nvPr>
            <p:custDataLst>
              <p:tags r:id="rId4"/>
            </p:custDataLst>
          </p:nvPr>
        </p:nvCxnSpPr>
        <p:spPr>
          <a:xfrm>
            <a:off x="9235078" y="1403350"/>
            <a:ext cx="2540" cy="1047750"/>
          </a:xfrm>
          <a:prstGeom prst="line">
            <a:avLst/>
          </a:prstGeom>
          <a:solidFill>
            <a:srgbClr val="66A840"/>
          </a:solidFill>
          <a:ln w="25400">
            <a:gradFill>
              <a:gsLst>
                <a:gs pos="100000">
                  <a:srgbClr val="C5E0B4"/>
                </a:gs>
                <a:gs pos="12000">
                  <a:srgbClr val="C5E0B4">
                    <a:alpha val="55000"/>
                  </a:srgbClr>
                </a:gs>
              </a:gsLst>
              <a:lin ang="5400000" scaled="1"/>
            </a:gradFill>
          </a:ln>
        </p:spPr>
        <p:style>
          <a:lnRef idx="0">
            <a:srgbClr val="FFFFFF"/>
          </a:lnRef>
          <a:fillRef idx="0">
            <a:srgbClr val="FFFFFF"/>
          </a:fillRef>
          <a:effectRef idx="0">
            <a:srgbClr val="FFFFFF"/>
          </a:effectRef>
          <a:fontRef idx="minor">
            <a:schemeClr val="tx1"/>
          </a:fontRef>
        </p:style>
      </p:cxnSp>
      <p:sp>
        <p:nvSpPr>
          <p:cNvPr id="77" name="圆角矩形 76"/>
          <p:cNvSpPr/>
          <p:nvPr>
            <p:custDataLst>
              <p:tags r:id="rId5"/>
            </p:custDataLst>
          </p:nvPr>
        </p:nvSpPr>
        <p:spPr>
          <a:xfrm flipH="1">
            <a:off x="704215" y="982345"/>
            <a:ext cx="10784205" cy="431800"/>
          </a:xfrm>
          <a:prstGeom prst="roundRect">
            <a:avLst>
              <a:gd name="adj" fmla="val 50000"/>
            </a:avLst>
          </a:prstGeom>
          <a:gradFill>
            <a:gsLst>
              <a:gs pos="55000">
                <a:srgbClr val="75FBCA">
                  <a:alpha val="3000"/>
                </a:srgbClr>
              </a:gs>
              <a:gs pos="0">
                <a:schemeClr val="accent1">
                  <a:alpha val="46000"/>
                </a:schemeClr>
              </a:gs>
              <a:gs pos="100000">
                <a:srgbClr val="92D050">
                  <a:alpha val="55000"/>
                </a:srgb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algn="ctr">
              <a:spcBef>
                <a:spcPct val="0"/>
              </a:spcBef>
              <a:spcAft>
                <a:spcPct val="0"/>
              </a:spcAft>
            </a:pPr>
            <a:endParaRPr lang="zh-CN" altLang="en-US" dirty="0">
              <a:solidFill>
                <a:schemeClr val="tx1"/>
              </a:solidFill>
              <a:highlight>
                <a:srgbClr val="FFFF00"/>
              </a:highlight>
              <a:latin typeface="Source Han Sans CN Normal" panose="020B0600000000000000" charset="-122"/>
              <a:ea typeface="Source Han Sans CN Normal" panose="020B0600000000000000" charset="-122"/>
              <a:cs typeface="+mn-ea"/>
              <a:sym typeface="+mn-ea"/>
            </a:endParaRPr>
          </a:p>
        </p:txBody>
      </p:sp>
      <p:grpSp>
        <p:nvGrpSpPr>
          <p:cNvPr id="50" name="组合 49"/>
          <p:cNvGrpSpPr/>
          <p:nvPr>
            <p:custDataLst>
              <p:tags r:id="rId6"/>
            </p:custDataLst>
          </p:nvPr>
        </p:nvGrpSpPr>
        <p:grpSpPr>
          <a:xfrm>
            <a:off x="820420" y="1014730"/>
            <a:ext cx="2737485" cy="360045"/>
            <a:chOff x="1292" y="3676"/>
            <a:chExt cx="4311" cy="567"/>
          </a:xfrm>
        </p:grpSpPr>
        <p:sp>
          <p:nvSpPr>
            <p:cNvPr id="78" name="序号"/>
            <p:cNvSpPr/>
            <p:nvPr>
              <p:custDataLst>
                <p:tags r:id="rId7"/>
              </p:custDataLst>
            </p:nvPr>
          </p:nvSpPr>
          <p:spPr>
            <a:xfrm>
              <a:off x="1292" y="3676"/>
              <a:ext cx="567" cy="567"/>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p>
              <a:pPr lvl="0" algn="ctr">
                <a:spcBef>
                  <a:spcPct val="0"/>
                </a:spcBef>
                <a:spcAft>
                  <a:spcPct val="0"/>
                </a:spcAft>
                <a:buClrTx/>
                <a:buSzTx/>
                <a:buFontTx/>
              </a:pPr>
              <a:r>
                <a:rPr lang="en-US" altLang="zh-CN" dirty="0">
                  <a:solidFill>
                    <a:schemeClr val="tx1">
                      <a:lumMod val="75000"/>
                      <a:lumOff val="25000"/>
                    </a:schemeClr>
                  </a:solidFill>
                  <a:latin typeface="Source Han Sans CN Normal" panose="020B0600000000000000" charset="-122"/>
                  <a:ea typeface="Source Han Sans CN Normal" panose="020B0600000000000000" charset="-122"/>
                  <a:cs typeface="+mn-ea"/>
                  <a:sym typeface="+mn-ea"/>
                </a:rPr>
                <a:t>Q1</a:t>
              </a:r>
              <a:endParaRPr lang="en-US" altLang="zh-CN" dirty="0">
                <a:solidFill>
                  <a:schemeClr val="tx1">
                    <a:lumMod val="75000"/>
                    <a:lumOff val="25000"/>
                  </a:schemeClr>
                </a:solidFill>
                <a:latin typeface="Source Han Sans CN Normal" panose="020B0600000000000000" charset="-122"/>
                <a:ea typeface="Source Han Sans CN Normal" panose="020B0600000000000000" charset="-122"/>
                <a:cs typeface="+mn-ea"/>
                <a:sym typeface="+mn-ea"/>
              </a:endParaRPr>
            </a:p>
          </p:txBody>
        </p:sp>
        <p:sp>
          <p:nvSpPr>
            <p:cNvPr id="82" name="文本框 81"/>
            <p:cNvSpPr txBox="1"/>
            <p:nvPr>
              <p:custDataLst>
                <p:tags r:id="rId8"/>
              </p:custDataLst>
            </p:nvPr>
          </p:nvSpPr>
          <p:spPr>
            <a:xfrm>
              <a:off x="1859" y="3764"/>
              <a:ext cx="3744" cy="410"/>
            </a:xfrm>
            <a:prstGeom prst="rect">
              <a:avLst/>
            </a:prstGeom>
            <a:noFill/>
          </p:spPr>
          <p:txBody>
            <a:bodyPr wrap="square" rtlCol="0" anchor="t">
              <a:spAutoFit/>
            </a:bodyPr>
            <a:p>
              <a:r>
                <a:rPr lang="en-US" sz="1100" kern="0" spc="9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a:t>
              </a:r>
              <a:r>
                <a:rPr lang="en-US" altLang="zh-CN" sz="1100" kern="0" spc="9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first_quarter_date_range</a:t>
              </a:r>
              <a:r>
                <a:rPr lang="en-US" sz="1100" kern="0" spc="9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a:t>
              </a:r>
              <a:endParaRPr lang="en-US" sz="1100" kern="0" spc="9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grpSp>
        <p:nvGrpSpPr>
          <p:cNvPr id="45" name="组合 44"/>
          <p:cNvGrpSpPr/>
          <p:nvPr>
            <p:custDataLst>
              <p:tags r:id="rId9"/>
            </p:custDataLst>
          </p:nvPr>
        </p:nvGrpSpPr>
        <p:grpSpPr>
          <a:xfrm>
            <a:off x="3557905" y="1014730"/>
            <a:ext cx="2912745" cy="360045"/>
            <a:chOff x="5403" y="3676"/>
            <a:chExt cx="4587" cy="567"/>
          </a:xfrm>
        </p:grpSpPr>
        <p:sp>
          <p:nvSpPr>
            <p:cNvPr id="79" name="序号"/>
            <p:cNvSpPr/>
            <p:nvPr>
              <p:custDataLst>
                <p:tags r:id="rId10"/>
              </p:custDataLst>
            </p:nvPr>
          </p:nvSpPr>
          <p:spPr>
            <a:xfrm>
              <a:off x="5403" y="3676"/>
              <a:ext cx="566" cy="567"/>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p>
              <a:pPr lvl="0" algn="ctr">
                <a:spcBef>
                  <a:spcPct val="0"/>
                </a:spcBef>
                <a:spcAft>
                  <a:spcPct val="0"/>
                </a:spcAft>
                <a:buClrTx/>
                <a:buSzTx/>
                <a:buFontTx/>
              </a:pPr>
              <a:r>
                <a:rPr lang="en-US" altLang="zh-CN" dirty="0">
                  <a:solidFill>
                    <a:schemeClr val="tx1">
                      <a:lumMod val="75000"/>
                      <a:lumOff val="25000"/>
                    </a:schemeClr>
                  </a:solidFill>
                  <a:latin typeface="Source Han Sans CN Normal" panose="020B0600000000000000" charset="-122"/>
                  <a:ea typeface="Source Han Sans CN Normal" panose="020B0600000000000000" charset="-122"/>
                  <a:cs typeface="+mn-ea"/>
                  <a:sym typeface="+mn-ea"/>
                </a:rPr>
                <a:t>Q2</a:t>
              </a:r>
              <a:endParaRPr lang="en-US" altLang="zh-CN" dirty="0">
                <a:solidFill>
                  <a:schemeClr val="tx1">
                    <a:lumMod val="75000"/>
                    <a:lumOff val="25000"/>
                  </a:schemeClr>
                </a:solidFill>
                <a:latin typeface="Source Han Sans CN Normal" panose="020B0600000000000000" charset="-122"/>
                <a:ea typeface="Source Han Sans CN Normal" panose="020B0600000000000000" charset="-122"/>
                <a:cs typeface="+mn-ea"/>
                <a:sym typeface="+mn-ea"/>
              </a:endParaRPr>
            </a:p>
          </p:txBody>
        </p:sp>
        <p:sp>
          <p:nvSpPr>
            <p:cNvPr id="83" name="文本框 82"/>
            <p:cNvSpPr txBox="1"/>
            <p:nvPr>
              <p:custDataLst>
                <p:tags r:id="rId11"/>
              </p:custDataLst>
            </p:nvPr>
          </p:nvSpPr>
          <p:spPr>
            <a:xfrm>
              <a:off x="5979" y="3758"/>
              <a:ext cx="4011" cy="410"/>
            </a:xfrm>
            <a:prstGeom prst="rect">
              <a:avLst/>
            </a:prstGeom>
            <a:noFill/>
          </p:spPr>
          <p:txBody>
            <a:bodyPr wrap="square" rtlCol="0" anchor="t">
              <a:spAutoFit/>
            </a:bodyPr>
            <a:p>
              <a:r>
                <a:rPr lang="en-US" sz="1100" kern="0" spc="9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a:t>
              </a:r>
              <a:r>
                <a:rPr lang="en-US" altLang="zh-CN" sz="1100" kern="0" spc="9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second_quarter_date_range</a:t>
              </a:r>
              <a:r>
                <a:rPr lang="en-US" sz="1100" kern="0" spc="9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a:t>
              </a:r>
              <a:endParaRPr lang="en-US" sz="1100" kern="0" spc="9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grpSp>
        <p:nvGrpSpPr>
          <p:cNvPr id="14" name="组合 13"/>
          <p:cNvGrpSpPr/>
          <p:nvPr>
            <p:custDataLst>
              <p:tags r:id="rId12"/>
            </p:custDataLst>
          </p:nvPr>
        </p:nvGrpSpPr>
        <p:grpSpPr>
          <a:xfrm>
            <a:off x="6301105" y="1014730"/>
            <a:ext cx="2755900" cy="360045"/>
            <a:chOff x="9514" y="3676"/>
            <a:chExt cx="4340" cy="567"/>
          </a:xfrm>
        </p:grpSpPr>
        <p:sp>
          <p:nvSpPr>
            <p:cNvPr id="80" name="序号"/>
            <p:cNvSpPr/>
            <p:nvPr>
              <p:custDataLst>
                <p:tags r:id="rId13"/>
              </p:custDataLst>
            </p:nvPr>
          </p:nvSpPr>
          <p:spPr>
            <a:xfrm>
              <a:off x="9514" y="3676"/>
              <a:ext cx="566" cy="567"/>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p>
              <a:pPr lvl="0" algn="ctr">
                <a:spcBef>
                  <a:spcPct val="0"/>
                </a:spcBef>
                <a:spcAft>
                  <a:spcPct val="0"/>
                </a:spcAft>
                <a:buClrTx/>
                <a:buSzTx/>
                <a:buFontTx/>
              </a:pPr>
              <a:r>
                <a:rPr lang="en-US" altLang="zh-CN" dirty="0">
                  <a:solidFill>
                    <a:schemeClr val="tx1">
                      <a:lumMod val="75000"/>
                      <a:lumOff val="25000"/>
                    </a:schemeClr>
                  </a:solidFill>
                  <a:latin typeface="Source Han Sans CN Normal" panose="020B0600000000000000" charset="-122"/>
                  <a:ea typeface="Source Han Sans CN Normal" panose="020B0600000000000000" charset="-122"/>
                  <a:cs typeface="+mn-ea"/>
                  <a:sym typeface="+mn-ea"/>
                </a:rPr>
                <a:t>Q3</a:t>
              </a:r>
              <a:endParaRPr lang="en-US" altLang="zh-CN" dirty="0">
                <a:solidFill>
                  <a:schemeClr val="tx1">
                    <a:lumMod val="75000"/>
                    <a:lumOff val="25000"/>
                  </a:schemeClr>
                </a:solidFill>
                <a:latin typeface="Source Han Sans CN Normal" panose="020B0600000000000000" charset="-122"/>
                <a:ea typeface="Source Han Sans CN Normal" panose="020B0600000000000000" charset="-122"/>
                <a:cs typeface="+mn-ea"/>
                <a:sym typeface="+mn-ea"/>
              </a:endParaRPr>
            </a:p>
          </p:txBody>
        </p:sp>
        <p:sp>
          <p:nvSpPr>
            <p:cNvPr id="84" name="文本框 83"/>
            <p:cNvSpPr txBox="1"/>
            <p:nvPr>
              <p:custDataLst>
                <p:tags r:id="rId14"/>
              </p:custDataLst>
            </p:nvPr>
          </p:nvSpPr>
          <p:spPr>
            <a:xfrm>
              <a:off x="10112" y="3752"/>
              <a:ext cx="3742" cy="386"/>
            </a:xfrm>
            <a:prstGeom prst="rect">
              <a:avLst/>
            </a:prstGeom>
            <a:noFill/>
          </p:spPr>
          <p:txBody>
            <a:bodyPr wrap="square" rtlCol="0" anchor="t">
              <a:spAutoFit/>
            </a:bodyPr>
            <a:p>
              <a:r>
                <a:rPr lang="en-US" sz="1000" kern="0" spc="9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a:t>
              </a:r>
              <a:r>
                <a:rPr lang="en-US" altLang="zh-CN" sz="1000" kern="0" spc="9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third_quarter_date_range</a:t>
              </a:r>
              <a:r>
                <a:rPr lang="en-US" sz="1000" kern="0" spc="9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a:t>
              </a:r>
              <a:endParaRPr lang="en-US" sz="1000" kern="0" spc="9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grpSp>
        <p:nvGrpSpPr>
          <p:cNvPr id="7" name="组合 6"/>
          <p:cNvGrpSpPr/>
          <p:nvPr>
            <p:custDataLst>
              <p:tags r:id="rId15"/>
            </p:custDataLst>
          </p:nvPr>
        </p:nvGrpSpPr>
        <p:grpSpPr>
          <a:xfrm>
            <a:off x="9057005" y="1014730"/>
            <a:ext cx="3001010" cy="360045"/>
            <a:chOff x="13625" y="3676"/>
            <a:chExt cx="4726" cy="567"/>
          </a:xfrm>
        </p:grpSpPr>
        <p:sp>
          <p:nvSpPr>
            <p:cNvPr id="81" name="序号"/>
            <p:cNvSpPr/>
            <p:nvPr>
              <p:custDataLst>
                <p:tags r:id="rId16"/>
              </p:custDataLst>
            </p:nvPr>
          </p:nvSpPr>
          <p:spPr>
            <a:xfrm>
              <a:off x="13625" y="3676"/>
              <a:ext cx="566" cy="567"/>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p>
              <a:pPr lvl="0" algn="ctr">
                <a:spcBef>
                  <a:spcPct val="0"/>
                </a:spcBef>
                <a:spcAft>
                  <a:spcPct val="0"/>
                </a:spcAft>
                <a:buClrTx/>
                <a:buSzTx/>
                <a:buFontTx/>
              </a:pPr>
              <a:r>
                <a:rPr lang="en-US" altLang="zh-CN" dirty="0">
                  <a:solidFill>
                    <a:schemeClr val="tx1">
                      <a:lumMod val="75000"/>
                      <a:lumOff val="25000"/>
                    </a:schemeClr>
                  </a:solidFill>
                  <a:latin typeface="Source Han Sans CN Normal" panose="020B0600000000000000" charset="-122"/>
                  <a:ea typeface="Source Han Sans CN Normal" panose="020B0600000000000000" charset="-122"/>
                  <a:cs typeface="+mn-ea"/>
                  <a:sym typeface="+mn-ea"/>
                </a:rPr>
                <a:t>Q4</a:t>
              </a:r>
              <a:endParaRPr lang="en-US" altLang="zh-CN" dirty="0">
                <a:solidFill>
                  <a:schemeClr val="tx1">
                    <a:lumMod val="75000"/>
                    <a:lumOff val="25000"/>
                  </a:schemeClr>
                </a:solidFill>
                <a:latin typeface="Source Han Sans CN Normal" panose="020B0600000000000000" charset="-122"/>
                <a:ea typeface="Source Han Sans CN Normal" panose="020B0600000000000000" charset="-122"/>
                <a:cs typeface="+mn-ea"/>
                <a:sym typeface="+mn-ea"/>
              </a:endParaRPr>
            </a:p>
          </p:txBody>
        </p:sp>
        <p:sp>
          <p:nvSpPr>
            <p:cNvPr id="85" name="文本框 84"/>
            <p:cNvSpPr txBox="1"/>
            <p:nvPr>
              <p:custDataLst>
                <p:tags r:id="rId17"/>
              </p:custDataLst>
            </p:nvPr>
          </p:nvSpPr>
          <p:spPr>
            <a:xfrm>
              <a:off x="14257" y="3764"/>
              <a:ext cx="4094" cy="410"/>
            </a:xfrm>
            <a:prstGeom prst="rect">
              <a:avLst/>
            </a:prstGeom>
            <a:noFill/>
          </p:spPr>
          <p:txBody>
            <a:bodyPr wrap="square" rtlCol="0" anchor="t">
              <a:spAutoFit/>
            </a:bodyPr>
            <a:p>
              <a:r>
                <a:rPr lang="en-US" sz="1100" kern="0" spc="9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a:t>
              </a:r>
              <a:r>
                <a:rPr lang="en-US" altLang="zh-CN" sz="1100" kern="0" spc="9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fourth_quarter_date_range</a:t>
              </a:r>
              <a:r>
                <a:rPr lang="en-US" sz="1100" kern="0" spc="9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a:t>
              </a:r>
              <a:endParaRPr lang="en-US" sz="1100" kern="0" spc="9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sp>
        <p:nvSpPr>
          <p:cNvPr id="89" name="椭圆 88"/>
          <p:cNvSpPr/>
          <p:nvPr>
            <p:custDataLst>
              <p:tags r:id="rId18"/>
            </p:custDataLst>
          </p:nvPr>
        </p:nvSpPr>
        <p:spPr>
          <a:xfrm>
            <a:off x="931498" y="2343150"/>
            <a:ext cx="108000" cy="108000"/>
          </a:xfrm>
          <a:prstGeom prst="ellipse">
            <a:avLst/>
          </a:prstGeom>
          <a:solidFill>
            <a:schemeClr val="accent6">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Source Han Sans CN Normal" panose="020B0600000000000000" charset="-122"/>
              <a:ea typeface="Source Han Sans CN Normal" panose="020B0600000000000000" charset="-122"/>
              <a:sym typeface="+mn-ea"/>
            </a:endParaRPr>
          </a:p>
        </p:txBody>
      </p:sp>
      <p:sp>
        <p:nvSpPr>
          <p:cNvPr id="96" name="椭圆 95"/>
          <p:cNvSpPr/>
          <p:nvPr>
            <p:custDataLst>
              <p:tags r:id="rId19"/>
            </p:custDataLst>
          </p:nvPr>
        </p:nvSpPr>
        <p:spPr>
          <a:xfrm>
            <a:off x="3687376" y="2343150"/>
            <a:ext cx="108000" cy="108000"/>
          </a:xfrm>
          <a:prstGeom prst="ellipse">
            <a:avLst/>
          </a:prstGeom>
          <a:solidFill>
            <a:schemeClr val="accent6">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Source Han Sans CN Normal" panose="020B0600000000000000" charset="-122"/>
              <a:ea typeface="Source Han Sans CN Normal" panose="020B0600000000000000" charset="-122"/>
            </a:endParaRPr>
          </a:p>
        </p:txBody>
      </p:sp>
      <p:sp>
        <p:nvSpPr>
          <p:cNvPr id="103" name="椭圆 102"/>
          <p:cNvSpPr/>
          <p:nvPr>
            <p:custDataLst>
              <p:tags r:id="rId20"/>
            </p:custDataLst>
          </p:nvPr>
        </p:nvSpPr>
        <p:spPr>
          <a:xfrm>
            <a:off x="6419780" y="2343150"/>
            <a:ext cx="108000" cy="108000"/>
          </a:xfrm>
          <a:prstGeom prst="ellipse">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Source Han Sans CN Normal" panose="020B0600000000000000" charset="-122"/>
              <a:ea typeface="Source Han Sans CN Normal" panose="020B0600000000000000" charset="-122"/>
              <a:sym typeface="+mn-ea"/>
            </a:endParaRPr>
          </a:p>
        </p:txBody>
      </p:sp>
      <p:sp>
        <p:nvSpPr>
          <p:cNvPr id="110" name="椭圆 109"/>
          <p:cNvSpPr/>
          <p:nvPr>
            <p:custDataLst>
              <p:tags r:id="rId21"/>
            </p:custDataLst>
          </p:nvPr>
        </p:nvSpPr>
        <p:spPr>
          <a:xfrm>
            <a:off x="9184253" y="2343150"/>
            <a:ext cx="108000" cy="108000"/>
          </a:xfrm>
          <a:prstGeom prst="ellipse">
            <a:avLst/>
          </a:prstGeom>
          <a:solidFill>
            <a:schemeClr val="accent6">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Source Han Sans CN Normal" panose="020B0600000000000000" charset="-122"/>
              <a:ea typeface="Source Han Sans CN Normal" panose="020B0600000000000000" charset="-122"/>
            </a:endParaRPr>
          </a:p>
        </p:txBody>
      </p:sp>
      <p:sp>
        <p:nvSpPr>
          <p:cNvPr id="114" name="文本框 113"/>
          <p:cNvSpPr txBox="1"/>
          <p:nvPr>
            <p:custDataLst>
              <p:tags r:id="rId22"/>
            </p:custDataLst>
          </p:nvPr>
        </p:nvSpPr>
        <p:spPr>
          <a:xfrm>
            <a:off x="1180465" y="1492885"/>
            <a:ext cx="2018665" cy="756285"/>
          </a:xfrm>
          <a:prstGeom prst="rect">
            <a:avLst/>
          </a:prstGeom>
          <a:solidFill>
            <a:schemeClr val="bg1"/>
          </a:solidFill>
          <a:ln>
            <a:noFill/>
          </a:ln>
        </p:spPr>
        <p:txBody>
          <a:bodyPr wrap="square" lIns="0" tIns="0" rIns="0" bIns="0" rtlCol="0" anchor="t" anchorCtr="0">
            <a:noAutofit/>
          </a:bodyPr>
          <a:p>
            <a:pPr algn="l" rtl="0" eaLnBrk="0">
              <a:lnSpc>
                <a:spcPct val="127000"/>
              </a:lnSpc>
            </a:pPr>
            <a:r>
              <a:rPr lang="zh-CN" altLang="en-US" sz="1400" kern="0" spc="120" dirty="0">
                <a:solidFill>
                  <a:srgbClr val="000000">
                    <a:alpha val="100000"/>
                  </a:srgbClr>
                </a:solidFill>
                <a:latin typeface="Source Han Sans CN Medium" panose="020B0600000000000000" charset="-122"/>
                <a:ea typeface="Source Han Sans CN Medium" panose="020B0600000000000000" charset="-122"/>
                <a:cs typeface="Source Han Sans CN Medium" panose="020B0600000000000000" charset="-122"/>
                <a:sym typeface="+mn-ea"/>
              </a:rPr>
              <a:t>实施</a:t>
            </a:r>
            <a:r>
              <a:rPr lang="en-US" altLang="zh-CN" sz="1400" kern="0" spc="120" dirty="0">
                <a:solidFill>
                  <a:srgbClr val="000000">
                    <a:alpha val="100000"/>
                  </a:srgbClr>
                </a:solidFill>
                <a:latin typeface="Source Han Sans CN Medium" panose="020B0600000000000000" charset="-122"/>
                <a:ea typeface="Source Han Sans CN Medium" panose="020B0600000000000000" charset="-122"/>
                <a:cs typeface="Source Han Sans CN Medium" panose="020B0600000000000000" charset="-122"/>
                <a:sym typeface="+mn-ea"/>
              </a:rPr>
              <a:t>&amp;</a:t>
            </a:r>
            <a:r>
              <a:rPr lang="zh-CN" altLang="en-US" sz="1400" kern="0" spc="120" dirty="0">
                <a:solidFill>
                  <a:srgbClr val="000000">
                    <a:alpha val="100000"/>
                  </a:srgbClr>
                </a:solidFill>
                <a:latin typeface="Source Han Sans CN Medium" panose="020B0600000000000000" charset="-122"/>
                <a:ea typeface="Source Han Sans CN Medium" panose="020B0600000000000000" charset="-122"/>
                <a:cs typeface="Source Han Sans CN Medium" panose="020B0600000000000000" charset="-122"/>
                <a:sym typeface="+mn-ea"/>
              </a:rPr>
              <a:t>上线</a:t>
            </a:r>
            <a:r>
              <a:rPr lang="en-US" altLang="zh-CN" sz="1400" kern="0" spc="120" dirty="0">
                <a:solidFill>
                  <a:srgbClr val="000000">
                    <a:alpha val="100000"/>
                  </a:srgbClr>
                </a:solidFill>
                <a:latin typeface="Source Han Sans CN Medium" panose="020B0600000000000000" charset="-122"/>
                <a:ea typeface="Source Han Sans CN Medium" panose="020B0600000000000000" charset="-122"/>
                <a:cs typeface="Source Han Sans CN Medium" panose="020B0600000000000000" charset="-122"/>
                <a:sym typeface="+mn-ea"/>
              </a:rPr>
              <a:t>&amp;</a:t>
            </a:r>
            <a:r>
              <a:rPr lang="zh-CN" altLang="en-US" sz="1400" kern="0" spc="120" dirty="0">
                <a:solidFill>
                  <a:srgbClr val="000000">
                    <a:alpha val="100000"/>
                  </a:srgbClr>
                </a:solidFill>
                <a:latin typeface="Source Han Sans CN Medium" panose="020B0600000000000000" charset="-122"/>
                <a:ea typeface="Source Han Sans CN Medium" panose="020B0600000000000000" charset="-122"/>
                <a:cs typeface="Source Han Sans CN Medium" panose="020B0600000000000000" charset="-122"/>
                <a:sym typeface="+mn-ea"/>
              </a:rPr>
              <a:t>首次报告</a:t>
            </a:r>
            <a:endParaRPr lang="zh-CN" sz="1400" kern="0" spc="120" dirty="0">
              <a:solidFill>
                <a:srgbClr val="000000">
                  <a:alpha val="100000"/>
                </a:srgbClr>
              </a:solidFill>
              <a:latin typeface="Source Han Sans CN Medium" panose="020B0600000000000000" charset="-122"/>
              <a:ea typeface="Source Han Sans CN Medium" panose="020B0600000000000000" charset="-122"/>
              <a:cs typeface="Source Han Sans CN Medium" panose="020B0600000000000000" charset="-122"/>
              <a:sym typeface="+mn-ea"/>
            </a:endParaRPr>
          </a:p>
          <a:p>
            <a:pPr algn="l" rtl="0" eaLnBrk="0">
              <a:lnSpc>
                <a:spcPct val="127000"/>
              </a:lnSpc>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对齐运营目标</a:t>
            </a:r>
            <a:r>
              <a:rPr lang="en-US" alt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a:t>
            </a: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运营计划</a:t>
            </a:r>
            <a:r>
              <a:rPr lang="zh-CN" altLang="en-US"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a:t>
            </a: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首次安全体检及处置、上线运营</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sp>
        <p:nvSpPr>
          <p:cNvPr id="115" name="文本框 114"/>
          <p:cNvSpPr txBox="1"/>
          <p:nvPr>
            <p:custDataLst>
              <p:tags r:id="rId23"/>
            </p:custDataLst>
          </p:nvPr>
        </p:nvSpPr>
        <p:spPr>
          <a:xfrm>
            <a:off x="1180465" y="2266950"/>
            <a:ext cx="1785620" cy="715645"/>
          </a:xfrm>
          <a:prstGeom prst="rect">
            <a:avLst/>
          </a:prstGeom>
          <a:solidFill>
            <a:schemeClr val="bg1"/>
          </a:solidFill>
          <a:ln>
            <a:noFill/>
          </a:ln>
        </p:spPr>
        <p:txBody>
          <a:bodyPr wrap="square" lIns="0" tIns="0" rIns="0" bIns="0" rtlCol="0" anchor="t" anchorCtr="0">
            <a:noAutofit/>
          </a:bodyPr>
          <a:p>
            <a:pPr indent="0" algn="l" rtl="0" eaLnBrk="0">
              <a:lnSpc>
                <a:spcPct val="110000"/>
              </a:lnSpc>
              <a:buClrTx/>
              <a:buSzTx/>
              <a:buFont typeface="Wingdings" panose="05000000000000000000" charset="0"/>
              <a:buNone/>
            </a:pPr>
            <a:r>
              <a:rPr lang="zh-CN" altLang="en-US"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微软雅黑" panose="020B0503020204020204" charset="-122"/>
              </a:rPr>
              <a:t>服务启动（首个组件接入）</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微软雅黑" panose="020B0503020204020204" charset="-122"/>
            </a:endParaRPr>
          </a:p>
          <a:p>
            <a:pPr indent="0" algn="l" rtl="0" eaLnBrk="0">
              <a:lnSpc>
                <a:spcPct val="110000"/>
              </a:lnSpc>
              <a:buFont typeface="Wingdings" panose="05000000000000000000" charset="0"/>
              <a:buNone/>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首次安全体检</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a:p>
            <a:pPr indent="0" algn="l" rtl="0" eaLnBrk="0">
              <a:lnSpc>
                <a:spcPct val="110000"/>
              </a:lnSpc>
              <a:buFont typeface="Wingdings" panose="05000000000000000000" charset="0"/>
              <a:buNone/>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潜伏威胁发现与处置</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a:p>
            <a:pPr indent="0" algn="l" rtl="0" eaLnBrk="0">
              <a:lnSpc>
                <a:spcPct val="110000"/>
              </a:lnSpc>
              <a:buFont typeface="Wingdings" panose="05000000000000000000" charset="0"/>
              <a:buNone/>
            </a:pPr>
            <a:r>
              <a:rPr lang="en-US" alt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XDR</a:t>
            </a:r>
            <a:r>
              <a:rPr lang="zh-CN" altLang="en-US"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最佳使用路径培训</a:t>
            </a:r>
            <a:endParaRPr lang="zh-CN" altLang="en-US"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sp>
        <p:nvSpPr>
          <p:cNvPr id="2" name="文本框 1"/>
          <p:cNvSpPr txBox="1"/>
          <p:nvPr>
            <p:custDataLst>
              <p:tags r:id="rId24"/>
            </p:custDataLst>
          </p:nvPr>
        </p:nvSpPr>
        <p:spPr>
          <a:xfrm>
            <a:off x="3930015" y="1492885"/>
            <a:ext cx="2155190" cy="756285"/>
          </a:xfrm>
          <a:prstGeom prst="rect">
            <a:avLst/>
          </a:prstGeom>
          <a:noFill/>
        </p:spPr>
        <p:txBody>
          <a:bodyPr wrap="square" lIns="0" tIns="0" rIns="0" bIns="0" rtlCol="0" anchor="t" anchorCtr="0">
            <a:noAutofit/>
          </a:bodyPr>
          <a:p>
            <a:pPr algn="l" rtl="0" eaLnBrk="0">
              <a:lnSpc>
                <a:spcPct val="127000"/>
              </a:lnSpc>
            </a:pPr>
            <a:r>
              <a:rPr lang="zh-CN" sz="1400" kern="0" spc="120" dirty="0">
                <a:solidFill>
                  <a:srgbClr val="000000">
                    <a:alpha val="100000"/>
                  </a:srgbClr>
                </a:solidFill>
                <a:latin typeface="Source Han Sans CN Medium" panose="020B0600000000000000" charset="-122"/>
                <a:ea typeface="Source Han Sans CN Medium" panose="020B0600000000000000" charset="-122"/>
                <a:cs typeface="Source Han Sans CN Medium" panose="020B0600000000000000" charset="-122"/>
                <a:sym typeface="+mn-ea"/>
              </a:rPr>
              <a:t>持续运营</a:t>
            </a:r>
            <a:r>
              <a:rPr lang="en-US" altLang="zh-CN" sz="1400" kern="0" spc="120" dirty="0">
                <a:solidFill>
                  <a:srgbClr val="000000">
                    <a:alpha val="100000"/>
                  </a:srgbClr>
                </a:solidFill>
                <a:latin typeface="Source Han Sans CN Medium" panose="020B0600000000000000" charset="-122"/>
                <a:ea typeface="Source Han Sans CN Medium" panose="020B0600000000000000" charset="-122"/>
                <a:cs typeface="Source Han Sans CN Medium" panose="020B0600000000000000" charset="-122"/>
                <a:sym typeface="+mn-ea"/>
              </a:rPr>
              <a:t>&amp;</a:t>
            </a:r>
            <a:r>
              <a:rPr lang="zh-CN" altLang="en-US" sz="1400" kern="0" spc="120" dirty="0">
                <a:solidFill>
                  <a:srgbClr val="000000">
                    <a:alpha val="100000"/>
                  </a:srgbClr>
                </a:solidFill>
                <a:latin typeface="Source Han Sans CN Medium" panose="020B0600000000000000" charset="-122"/>
                <a:ea typeface="Source Han Sans CN Medium" panose="020B0600000000000000" charset="-122"/>
                <a:cs typeface="Source Han Sans CN Medium" panose="020B0600000000000000" charset="-122"/>
                <a:sym typeface="+mn-ea"/>
              </a:rPr>
              <a:t>半年度</a:t>
            </a:r>
            <a:r>
              <a:rPr lang="zh-CN" sz="1400" kern="0" spc="120" dirty="0">
                <a:solidFill>
                  <a:srgbClr val="000000">
                    <a:alpha val="100000"/>
                  </a:srgbClr>
                </a:solidFill>
                <a:latin typeface="Source Han Sans CN Medium" panose="020B0600000000000000" charset="-122"/>
                <a:ea typeface="Source Han Sans CN Medium" panose="020B0600000000000000" charset="-122"/>
                <a:cs typeface="Source Han Sans CN Medium" panose="020B0600000000000000" charset="-122"/>
                <a:sym typeface="+mn-ea"/>
              </a:rPr>
              <a:t>复盘</a:t>
            </a:r>
            <a:endParaRPr lang="zh-CN" sz="1400" kern="0" spc="120" dirty="0">
              <a:solidFill>
                <a:srgbClr val="000000">
                  <a:alpha val="100000"/>
                </a:srgbClr>
              </a:solidFill>
              <a:latin typeface="Source Han Sans CN Normal" panose="020B0600000000000000" charset="-122"/>
              <a:ea typeface="Source Han Sans CN Normal" panose="020B0600000000000000" charset="-122"/>
              <a:cs typeface="Source Han Sans CN Normal" panose="020B0600000000000000" charset="-122"/>
              <a:sym typeface="+mn-ea"/>
            </a:endParaRPr>
          </a:p>
          <a:p>
            <a:pPr algn="l" rtl="0" eaLnBrk="0">
              <a:lnSpc>
                <a:spcPct val="127000"/>
              </a:lnSpc>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威胁对抗、风险预防、问题闭环、运营可视</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sp>
        <p:nvSpPr>
          <p:cNvPr id="6" name="文本框 5"/>
          <p:cNvSpPr txBox="1"/>
          <p:nvPr>
            <p:custDataLst>
              <p:tags r:id="rId25"/>
            </p:custDataLst>
          </p:nvPr>
        </p:nvSpPr>
        <p:spPr>
          <a:xfrm>
            <a:off x="6660515" y="1492885"/>
            <a:ext cx="2155190" cy="756285"/>
          </a:xfrm>
          <a:prstGeom prst="rect">
            <a:avLst/>
          </a:prstGeom>
          <a:noFill/>
        </p:spPr>
        <p:txBody>
          <a:bodyPr wrap="square" lIns="0" tIns="0" rIns="0" bIns="0" rtlCol="0" anchor="t" anchorCtr="0">
            <a:noAutofit/>
          </a:bodyPr>
          <a:p>
            <a:pPr algn="l" rtl="0" eaLnBrk="0">
              <a:lnSpc>
                <a:spcPct val="127000"/>
              </a:lnSpc>
            </a:pPr>
            <a:r>
              <a:rPr lang="zh-CN" sz="1400" kern="0" spc="120" dirty="0">
                <a:solidFill>
                  <a:srgbClr val="000000">
                    <a:alpha val="100000"/>
                  </a:srgbClr>
                </a:solidFill>
                <a:latin typeface="Source Han Sans CN Medium" panose="020B0600000000000000" charset="-122"/>
                <a:ea typeface="Source Han Sans CN Medium" panose="020B0600000000000000" charset="-122"/>
                <a:cs typeface="黑体" panose="02010609060101010101" charset="-122"/>
                <a:sym typeface="+mn-ea"/>
              </a:rPr>
              <a:t>持续运营</a:t>
            </a:r>
            <a:endParaRPr lang="zh-CN" sz="1400" kern="0" spc="120" dirty="0">
              <a:solidFill>
                <a:srgbClr val="000000">
                  <a:alpha val="100000"/>
                </a:srgbClr>
              </a:solidFill>
              <a:latin typeface="Source Han Sans CN Normal" panose="020B0600000000000000" charset="-122"/>
              <a:ea typeface="Source Han Sans CN Normal" panose="020B0600000000000000" charset="-122"/>
              <a:cs typeface="黑体" panose="02010609060101010101" charset="-122"/>
              <a:sym typeface="+mn-ea"/>
            </a:endParaRPr>
          </a:p>
          <a:p>
            <a:pPr algn="l" rtl="0" eaLnBrk="0">
              <a:lnSpc>
                <a:spcPct val="127000"/>
              </a:lnSpc>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mn-ea"/>
              </a:rPr>
              <a:t>威胁对抗、风险预防、问题闭环、运营可视</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mn-ea"/>
            </a:endParaRPr>
          </a:p>
        </p:txBody>
      </p:sp>
      <p:sp>
        <p:nvSpPr>
          <p:cNvPr id="12" name="文本框 11"/>
          <p:cNvSpPr txBox="1"/>
          <p:nvPr>
            <p:custDataLst>
              <p:tags r:id="rId26"/>
            </p:custDataLst>
          </p:nvPr>
        </p:nvSpPr>
        <p:spPr>
          <a:xfrm>
            <a:off x="9415780" y="1492885"/>
            <a:ext cx="2155190" cy="756285"/>
          </a:xfrm>
          <a:prstGeom prst="rect">
            <a:avLst/>
          </a:prstGeom>
          <a:noFill/>
        </p:spPr>
        <p:txBody>
          <a:bodyPr wrap="square" lIns="0" tIns="0" rIns="0" bIns="0" rtlCol="0" anchor="t" anchorCtr="0">
            <a:noAutofit/>
          </a:bodyPr>
          <a:p>
            <a:pPr algn="l" rtl="0" eaLnBrk="0">
              <a:lnSpc>
                <a:spcPct val="127000"/>
              </a:lnSpc>
            </a:pPr>
            <a:r>
              <a:rPr lang="zh-CN" sz="1400" kern="0" spc="120" dirty="0">
                <a:solidFill>
                  <a:srgbClr val="000000">
                    <a:alpha val="100000"/>
                  </a:srgbClr>
                </a:solidFill>
                <a:latin typeface="Source Han Sans CN Medium" panose="020B0600000000000000" charset="-122"/>
                <a:ea typeface="Source Han Sans CN Medium" panose="020B0600000000000000" charset="-122"/>
                <a:cs typeface="Source Han Sans CN Medium" panose="020B0600000000000000" charset="-122"/>
                <a:sym typeface="+mn-ea"/>
              </a:rPr>
              <a:t>持续运营</a:t>
            </a:r>
            <a:r>
              <a:rPr lang="en-US" altLang="zh-CN" sz="1400" kern="0" spc="120" dirty="0">
                <a:solidFill>
                  <a:srgbClr val="000000">
                    <a:alpha val="100000"/>
                  </a:srgbClr>
                </a:solidFill>
                <a:latin typeface="Source Han Sans CN Medium" panose="020B0600000000000000" charset="-122"/>
                <a:ea typeface="Source Han Sans CN Medium" panose="020B0600000000000000" charset="-122"/>
                <a:cs typeface="Source Han Sans CN Medium" panose="020B0600000000000000" charset="-122"/>
                <a:sym typeface="+mn-ea"/>
              </a:rPr>
              <a:t>&amp;</a:t>
            </a:r>
            <a:r>
              <a:rPr lang="zh-CN" altLang="en-US" sz="1400" kern="0" spc="120" dirty="0">
                <a:solidFill>
                  <a:srgbClr val="000000">
                    <a:alpha val="100000"/>
                  </a:srgbClr>
                </a:solidFill>
                <a:latin typeface="Source Han Sans CN Medium" panose="020B0600000000000000" charset="-122"/>
                <a:ea typeface="Source Han Sans CN Medium" panose="020B0600000000000000" charset="-122"/>
                <a:cs typeface="Source Han Sans CN Medium" panose="020B0600000000000000" charset="-122"/>
                <a:sym typeface="+mn-ea"/>
              </a:rPr>
              <a:t>年度总结</a:t>
            </a:r>
            <a:endParaRPr lang="zh-CN" sz="1400" kern="0" spc="120" dirty="0">
              <a:solidFill>
                <a:srgbClr val="000000">
                  <a:alpha val="100000"/>
                </a:srgbClr>
              </a:solidFill>
              <a:latin typeface="Source Han Sans CN Normal" panose="020B0600000000000000" charset="-122"/>
              <a:ea typeface="Source Han Sans CN Normal" panose="020B0600000000000000" charset="-122"/>
              <a:cs typeface="Source Han Sans CN Normal" panose="020B0600000000000000" charset="-122"/>
              <a:sym typeface="+mn-ea"/>
            </a:endParaRPr>
          </a:p>
          <a:p>
            <a:pPr algn="l" rtl="0" eaLnBrk="0">
              <a:lnSpc>
                <a:spcPct val="127000"/>
              </a:lnSpc>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常态化运营、年度运营工作总结、关键差距分析与改进方案</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sp>
        <p:nvSpPr>
          <p:cNvPr id="16" name="文本框 15"/>
          <p:cNvSpPr txBox="1"/>
          <p:nvPr>
            <p:custDataLst>
              <p:tags r:id="rId27"/>
            </p:custDataLst>
          </p:nvPr>
        </p:nvSpPr>
        <p:spPr>
          <a:xfrm>
            <a:off x="9415780" y="2266950"/>
            <a:ext cx="2115185" cy="716915"/>
          </a:xfrm>
          <a:prstGeom prst="rect">
            <a:avLst/>
          </a:prstGeom>
          <a:solidFill>
            <a:schemeClr val="bg1"/>
          </a:solidFill>
          <a:ln>
            <a:noFill/>
          </a:ln>
        </p:spPr>
        <p:txBody>
          <a:bodyPr wrap="square" lIns="0" tIns="0" rIns="0" bIns="0" rtlCol="0" anchor="t" anchorCtr="0">
            <a:noAutofit/>
          </a:bodyPr>
          <a:p>
            <a:pPr lvl="0" indent="0" algn="l" eaLnBrk="0">
              <a:lnSpc>
                <a:spcPct val="150000"/>
              </a:lnSpc>
              <a:buClrTx/>
              <a:buSzTx/>
              <a:buFont typeface="Wingdings" panose="05000000000000000000" charset="0"/>
              <a:buNone/>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rPr>
              <a:t>运营关键成果总结与障碍分析</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endParaRPr>
          </a:p>
          <a:p>
            <a:pPr lvl="0" indent="0" algn="l" eaLnBrk="0">
              <a:lnSpc>
                <a:spcPct val="150000"/>
              </a:lnSpc>
              <a:buClrTx/>
              <a:buSzTx/>
              <a:buFont typeface="Wingdings" panose="05000000000000000000" charset="0"/>
              <a:buNone/>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mn-ea"/>
              </a:rPr>
              <a:t>对齐次年运营目标和关键举措</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mn-ea"/>
            </a:endParaRPr>
          </a:p>
          <a:p>
            <a:pPr lvl="0" indent="0" algn="l" eaLnBrk="0">
              <a:lnSpc>
                <a:spcPct val="150000"/>
              </a:lnSpc>
              <a:buClrTx/>
              <a:buSzTx/>
              <a:buFont typeface="Wingdings" panose="05000000000000000000" charset="0"/>
              <a:buNone/>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mn-ea"/>
              </a:rPr>
              <a:t>明确落地动作与实施计划</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mn-ea"/>
            </a:endParaRPr>
          </a:p>
        </p:txBody>
      </p:sp>
      <p:sp>
        <p:nvSpPr>
          <p:cNvPr id="27" name="文本框 26"/>
          <p:cNvSpPr txBox="1"/>
          <p:nvPr>
            <p:custDataLst>
              <p:tags r:id="rId28"/>
            </p:custDataLst>
          </p:nvPr>
        </p:nvSpPr>
        <p:spPr>
          <a:xfrm>
            <a:off x="3930015" y="2266950"/>
            <a:ext cx="2303780" cy="716280"/>
          </a:xfrm>
          <a:prstGeom prst="rect">
            <a:avLst/>
          </a:prstGeom>
          <a:solidFill>
            <a:schemeClr val="bg1"/>
          </a:solidFill>
          <a:ln>
            <a:noFill/>
          </a:ln>
        </p:spPr>
        <p:txBody>
          <a:bodyPr wrap="square" lIns="0" tIns="0" rIns="0" bIns="0" rtlCol="0" anchor="t" anchorCtr="0">
            <a:noAutofit/>
          </a:bodyPr>
          <a:p>
            <a:pPr lvl="0" indent="0" algn="l" eaLnBrk="0">
              <a:lnSpc>
                <a:spcPct val="150000"/>
              </a:lnSpc>
              <a:buClrTx/>
              <a:buSzTx/>
              <a:buFont typeface="Wingdings" panose="05000000000000000000" charset="0"/>
              <a:buNone/>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rPr>
              <a:t>安全现状关键问题总结</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endParaRPr>
          </a:p>
          <a:p>
            <a:pPr lvl="0" indent="0" algn="l" eaLnBrk="0">
              <a:lnSpc>
                <a:spcPct val="150000"/>
              </a:lnSpc>
              <a:buClrTx/>
              <a:buSzTx/>
              <a:buFont typeface="Wingdings" panose="05000000000000000000" charset="0"/>
              <a:buNone/>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rPr>
              <a:t>运营计划有效性复盘</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endParaRPr>
          </a:p>
          <a:p>
            <a:pPr lvl="0" indent="0" algn="l" eaLnBrk="0">
              <a:lnSpc>
                <a:spcPct val="150000"/>
              </a:lnSpc>
              <a:buClrTx/>
              <a:buSzTx/>
              <a:buFont typeface="Wingdings" panose="05000000000000000000" charset="0"/>
              <a:buNone/>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rPr>
              <a:t>优化运营机制与执行标准</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endParaRPr>
          </a:p>
        </p:txBody>
      </p:sp>
      <p:sp>
        <p:nvSpPr>
          <p:cNvPr id="33" name="文本框 32"/>
          <p:cNvSpPr txBox="1"/>
          <p:nvPr>
            <p:custDataLst>
              <p:tags r:id="rId29"/>
            </p:custDataLst>
          </p:nvPr>
        </p:nvSpPr>
        <p:spPr>
          <a:xfrm>
            <a:off x="6660515" y="2266950"/>
            <a:ext cx="2018665" cy="716915"/>
          </a:xfrm>
          <a:prstGeom prst="rect">
            <a:avLst/>
          </a:prstGeom>
          <a:solidFill>
            <a:schemeClr val="bg1"/>
          </a:solidFill>
          <a:ln>
            <a:noFill/>
          </a:ln>
        </p:spPr>
        <p:txBody>
          <a:bodyPr wrap="square" lIns="0" tIns="0" rIns="0" bIns="0" rtlCol="0" anchor="t" anchorCtr="0">
            <a:noAutofit/>
          </a:bodyPr>
          <a:p>
            <a:pPr lvl="0" indent="0" algn="l" eaLnBrk="0">
              <a:lnSpc>
                <a:spcPct val="150000"/>
              </a:lnSpc>
              <a:buClrTx/>
              <a:buSzTx/>
              <a:buFont typeface="Wingdings" panose="05000000000000000000" charset="0"/>
              <a:buNone/>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rPr>
              <a:t>安全态势总结分析</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endParaRPr>
          </a:p>
          <a:p>
            <a:pPr lvl="0" indent="0" algn="l" eaLnBrk="0">
              <a:lnSpc>
                <a:spcPct val="150000"/>
              </a:lnSpc>
              <a:buClrTx/>
              <a:buSzTx/>
              <a:buFont typeface="Wingdings" panose="05000000000000000000" charset="0"/>
              <a:buNone/>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rPr>
              <a:t>运营计划执行成果</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endParaRPr>
          </a:p>
          <a:p>
            <a:pPr lvl="0" indent="0" algn="l" eaLnBrk="0">
              <a:lnSpc>
                <a:spcPct val="150000"/>
              </a:lnSpc>
              <a:buClrTx/>
              <a:buSzTx/>
              <a:buFont typeface="Wingdings" panose="05000000000000000000" charset="0"/>
              <a:buNone/>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rPr>
              <a:t>重点问题总结与改进计划</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endParaRPr>
          </a:p>
        </p:txBody>
      </p:sp>
      <p:grpSp>
        <p:nvGrpSpPr>
          <p:cNvPr id="3" name="组合 2"/>
          <p:cNvGrpSpPr/>
          <p:nvPr/>
        </p:nvGrpSpPr>
        <p:grpSpPr>
          <a:xfrm>
            <a:off x="224790" y="289878"/>
            <a:ext cx="8289290" cy="327025"/>
            <a:chOff x="533" y="646"/>
            <a:chExt cx="13054" cy="515"/>
          </a:xfrm>
        </p:grpSpPr>
        <p:grpSp>
          <p:nvGrpSpPr>
            <p:cNvPr id="5" name="组合 4"/>
            <p:cNvGrpSpPr/>
            <p:nvPr/>
          </p:nvGrpSpPr>
          <p:grpSpPr>
            <a:xfrm rot="0">
              <a:off x="533" y="672"/>
              <a:ext cx="582" cy="420"/>
              <a:chOff x="533" y="672"/>
              <a:chExt cx="582" cy="420"/>
            </a:xfrm>
          </p:grpSpPr>
          <p:sp>
            <p:nvSpPr>
              <p:cNvPr id="10" name="燕尾形 86"/>
              <p:cNvSpPr/>
              <p:nvPr>
                <p:custDataLst>
                  <p:tags r:id="rId30"/>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30" name="燕尾形 103"/>
              <p:cNvSpPr/>
              <p:nvPr>
                <p:custDataLst>
                  <p:tags r:id="rId31"/>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34" name="textbox 158"/>
            <p:cNvSpPr/>
            <p:nvPr/>
          </p:nvSpPr>
          <p:spPr>
            <a:xfrm>
              <a:off x="1345" y="646"/>
              <a:ext cx="4579" cy="515"/>
            </a:xfrm>
            <a:prstGeom prst="rect">
              <a:avLst/>
            </a:prstGeom>
            <a:noFill/>
            <a:ln w="0" cap="flat">
              <a:noFill/>
              <a:prstDash val="solid"/>
              <a:miter lim="0"/>
            </a:ln>
          </p:spPr>
          <p:txBody>
            <a:bodyPr vert="horz" wrap="square" lIns="0" tIns="0" rIns="0" bIns="0" anchor="ctr" anchorCtr="0"/>
            <a:p>
              <a:pPr algn="l" rtl="0" eaLnBrk="0">
                <a:lnSpc>
                  <a:spcPct val="100000"/>
                </a:lnSpc>
              </a:pPr>
              <a:r>
                <a:rPr lang="zh-CN" altLang="en-US" sz="1900" b="1" noProof="0" dirty="0">
                  <a:solidFill>
                    <a:schemeClr val="tx1">
                      <a:lumMod val="85000"/>
                      <a:lumOff val="15000"/>
                    </a:schemeClr>
                  </a:solidFill>
                  <a:uLnTx/>
                  <a:latin typeface="微软雅黑" panose="020B0503020204020204" charset="-122"/>
                  <a:ea typeface="微软雅黑" panose="020B0503020204020204" charset="-122"/>
                  <a:sym typeface="Calibri" panose="020F0502020204030204" charset="0"/>
                </a:rPr>
                <a:t>安全运营</a:t>
              </a:r>
              <a:r>
                <a:rPr lang="zh-CN" altLang="en-US" sz="1900" b="1" noProof="0" dirty="0">
                  <a:solidFill>
                    <a:schemeClr val="tx1">
                      <a:lumMod val="85000"/>
                      <a:lumOff val="15000"/>
                    </a:schemeClr>
                  </a:solidFill>
                  <a:uLnTx/>
                  <a:latin typeface="微软雅黑" panose="020B0503020204020204" charset="-122"/>
                  <a:ea typeface="微软雅黑" panose="020B0503020204020204" charset="-122"/>
                  <a:sym typeface="Calibri" panose="020F0502020204030204" charset="0"/>
                </a:rPr>
                <a:t>总览</a:t>
              </a:r>
              <a:endParaRPr lang="zh-CN" altLang="en-US" sz="1900" b="1" noProof="0" dirty="0">
                <a:solidFill>
                  <a:schemeClr val="tx1">
                    <a:lumMod val="85000"/>
                    <a:lumOff val="15000"/>
                  </a:schemeClr>
                </a:solidFill>
                <a:uLnTx/>
                <a:latin typeface="微软雅黑" panose="020B0503020204020204" charset="-122"/>
                <a:ea typeface="微软雅黑" panose="020B0503020204020204" charset="-122"/>
                <a:sym typeface="Calibri" panose="020F0502020204030204" charset="0"/>
              </a:endParaRPr>
            </a:p>
          </p:txBody>
        </p:sp>
        <p:sp>
          <p:nvSpPr>
            <p:cNvPr id="35" name="textbox 158"/>
            <p:cNvSpPr/>
            <p:nvPr/>
          </p:nvSpPr>
          <p:spPr>
            <a:xfrm>
              <a:off x="4750" y="715"/>
              <a:ext cx="8837" cy="422"/>
            </a:xfrm>
            <a:prstGeom prst="rect">
              <a:avLst/>
            </a:prstGeom>
            <a:noFill/>
            <a:ln w="0" cap="flat">
              <a:noFill/>
              <a:prstDash val="solid"/>
              <a:miter lim="0"/>
            </a:ln>
          </p:spPr>
          <p:txBody>
            <a:bodyPr vert="horz" wrap="square" lIns="0" tIns="0" rIns="0" bIns="0" anchor="t" anchorCtr="0"/>
            <a:p>
              <a:pPr algn="l" rtl="0" eaLnBrk="0">
                <a:lnSpc>
                  <a:spcPct val="100000"/>
                </a:lnSpc>
              </a:pPr>
              <a:r>
                <a:rPr lang="zh-CN" altLang="en-US" sz="1600" b="1" noProof="0" dirty="0">
                  <a:solidFill>
                    <a:srgbClr val="0B4CBB"/>
                  </a:solidFill>
                  <a:uLnTx/>
                  <a:latin typeface="Source Han Sans CN Bold" panose="020B0600000000000000" charset="-122"/>
                  <a:ea typeface="Source Han Sans CN Bold" panose="020B0600000000000000" charset="-122"/>
                  <a:sym typeface="Calibri" panose="020F0502020204030204" charset="0"/>
                </a:rPr>
                <a:t>目标达成</a:t>
              </a:r>
              <a:r>
                <a:rPr lang="zh-CN" altLang="en-US" sz="1600" b="1" noProof="0" dirty="0">
                  <a:solidFill>
                    <a:srgbClr val="0B4CBB"/>
                  </a:solidFill>
                  <a:uLnTx/>
                  <a:latin typeface="Source Han Sans CN Bold" panose="020B0600000000000000" charset="-122"/>
                  <a:ea typeface="Source Han Sans CN Bold" panose="020B0600000000000000" charset="-122"/>
                  <a:sym typeface="Calibri" panose="020F0502020204030204" charset="0"/>
                </a:rPr>
                <a:t>进度</a:t>
              </a:r>
              <a:endParaRPr lang="zh-CN" altLang="en-US" sz="1600" b="1" noProof="0" dirty="0">
                <a:solidFill>
                  <a:srgbClr val="0B4CBB"/>
                </a:solidFill>
                <a:uLnTx/>
                <a:latin typeface="Source Han Sans CN Bold" panose="020B0600000000000000" charset="-122"/>
                <a:ea typeface="Source Han Sans CN Bold" panose="020B0600000000000000" charset="-122"/>
                <a:sym typeface="Calibri" panose="020F0502020204030204" charset="0"/>
              </a:endParaRPr>
            </a:p>
          </p:txBody>
        </p:sp>
      </p:grpSp>
      <p:pic>
        <p:nvPicPr>
          <p:cNvPr id="36" name="图片 35" descr="深信服 + 智安全"/>
          <p:cNvPicPr>
            <a:picLocks noChangeAspect="1"/>
          </p:cNvPicPr>
          <p:nvPr/>
        </p:nvPicPr>
        <p:blipFill>
          <a:blip r:embed="rId32"/>
          <a:srcRect l="5232" t="26576" r="4938" b="29565"/>
          <a:stretch>
            <a:fillRect/>
          </a:stretch>
        </p:blipFill>
        <p:spPr>
          <a:xfrm>
            <a:off x="10330815" y="273073"/>
            <a:ext cx="1629867" cy="360000"/>
          </a:xfrm>
          <a:prstGeom prst="rect">
            <a:avLst/>
          </a:prstGeom>
        </p:spPr>
      </p:pic>
      <p:sp>
        <p:nvSpPr>
          <p:cNvPr id="46" name="椭圆 45"/>
          <p:cNvSpPr/>
          <p:nvPr>
            <p:custDataLst>
              <p:tags r:id="rId33"/>
            </p:custDataLst>
          </p:nvPr>
        </p:nvSpPr>
        <p:spPr>
          <a:xfrm>
            <a:off x="9184888" y="1608455"/>
            <a:ext cx="108000" cy="108000"/>
          </a:xfrm>
          <a:prstGeom prst="ellipse">
            <a:avLst/>
          </a:prstGeom>
          <a:solidFill>
            <a:schemeClr val="accent6">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Source Han Sans CN Normal" panose="020B0600000000000000" charset="-122"/>
              <a:ea typeface="Source Han Sans CN Normal" panose="020B0600000000000000" charset="-122"/>
            </a:endParaRPr>
          </a:p>
        </p:txBody>
      </p:sp>
      <p:sp>
        <p:nvSpPr>
          <p:cNvPr id="47" name="椭圆 46"/>
          <p:cNvSpPr/>
          <p:nvPr>
            <p:custDataLst>
              <p:tags r:id="rId34"/>
            </p:custDataLst>
          </p:nvPr>
        </p:nvSpPr>
        <p:spPr>
          <a:xfrm>
            <a:off x="6419780" y="1608455"/>
            <a:ext cx="108000" cy="108000"/>
          </a:xfrm>
          <a:prstGeom prst="ellipse">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Source Han Sans CN Normal" panose="020B0600000000000000" charset="-122"/>
              <a:ea typeface="Source Han Sans CN Normal" panose="020B0600000000000000" charset="-122"/>
              <a:sym typeface="+mn-ea"/>
            </a:endParaRPr>
          </a:p>
        </p:txBody>
      </p:sp>
      <p:sp>
        <p:nvSpPr>
          <p:cNvPr id="48" name="椭圆 47"/>
          <p:cNvSpPr/>
          <p:nvPr>
            <p:custDataLst>
              <p:tags r:id="rId35"/>
            </p:custDataLst>
          </p:nvPr>
        </p:nvSpPr>
        <p:spPr>
          <a:xfrm>
            <a:off x="3687376" y="1608455"/>
            <a:ext cx="108000" cy="108000"/>
          </a:xfrm>
          <a:prstGeom prst="ellipse">
            <a:avLst/>
          </a:prstGeom>
          <a:solidFill>
            <a:schemeClr val="accent6">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Source Han Sans CN Normal" panose="020B0600000000000000" charset="-122"/>
              <a:ea typeface="Source Han Sans CN Normal" panose="020B0600000000000000" charset="-122"/>
            </a:endParaRPr>
          </a:p>
        </p:txBody>
      </p:sp>
      <p:sp>
        <p:nvSpPr>
          <p:cNvPr id="49" name="椭圆 48"/>
          <p:cNvSpPr/>
          <p:nvPr>
            <p:custDataLst>
              <p:tags r:id="rId36"/>
            </p:custDataLst>
          </p:nvPr>
        </p:nvSpPr>
        <p:spPr>
          <a:xfrm>
            <a:off x="931498" y="1608455"/>
            <a:ext cx="108000" cy="108000"/>
          </a:xfrm>
          <a:prstGeom prst="ellipse">
            <a:avLst/>
          </a:prstGeom>
          <a:solidFill>
            <a:schemeClr val="accent6">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Source Han Sans CN Normal" panose="020B0600000000000000" charset="-122"/>
              <a:ea typeface="Source Han Sans CN Normal" panose="020B0600000000000000" charset="-122"/>
              <a:sym typeface="+mn-ea"/>
            </a:endParaRPr>
          </a:p>
        </p:txBody>
      </p:sp>
      <p:grpSp>
        <p:nvGrpSpPr>
          <p:cNvPr id="4" name="组合 3"/>
          <p:cNvGrpSpPr/>
          <p:nvPr/>
        </p:nvGrpSpPr>
        <p:grpSpPr>
          <a:xfrm>
            <a:off x="704937" y="3070860"/>
            <a:ext cx="10866033" cy="3382645"/>
            <a:chOff x="925" y="1855"/>
            <a:chExt cx="17295" cy="4723"/>
          </a:xfrm>
        </p:grpSpPr>
        <p:sp>
          <p:nvSpPr>
            <p:cNvPr id="54" name="Text 2"/>
            <p:cNvSpPr/>
            <p:nvPr/>
          </p:nvSpPr>
          <p:spPr>
            <a:xfrm>
              <a:off x="925" y="1855"/>
              <a:ext cx="1505" cy="4723"/>
            </a:xfrm>
            <a:prstGeom prst="rect">
              <a:avLst/>
            </a:prstGeom>
            <a:solidFill>
              <a:schemeClr val="accent1">
                <a:lumMod val="20000"/>
                <a:lumOff val="80000"/>
              </a:schemeClr>
            </a:solidFill>
            <a:ln w="12700">
              <a:solidFill>
                <a:schemeClr val="accent1">
                  <a:lumMod val="40000"/>
                  <a:lumOff val="60000"/>
                </a:schemeClr>
              </a:solidFill>
            </a:ln>
          </p:spPr>
          <p:txBody>
            <a:bodyPr wrap="square" lIns="91440" tIns="45720" rIns="91440" bIns="45720" rtlCol="0" anchor="ctr" anchorCtr="0"/>
            <a:p>
              <a:pPr marL="0" indent="0" algn="ctr">
                <a:lnSpc>
                  <a:spcPct val="100000"/>
                </a:lnSpc>
                <a:buNone/>
              </a:pPr>
              <a:r>
                <a:rPr lang="en-US" sz="1400" b="1" dirty="0">
                  <a:solidFill>
                    <a:srgbClr val="14161A"/>
                  </a:solidFill>
                  <a:latin typeface="微软雅黑" panose="020B0503020204020204" charset="-122"/>
                  <a:ea typeface="微软雅黑" panose="020B0503020204020204" charset="-122"/>
                  <a:cs typeface="微软雅黑" panose="020B0503020204020204" pitchFamily="34" charset="-120"/>
                </a:rPr>
                <a:t>交付物</a:t>
              </a:r>
              <a:endParaRPr lang="en-US" sz="1400" dirty="0">
                <a:latin typeface="微软雅黑" panose="020B0503020204020204" charset="-122"/>
                <a:ea typeface="微软雅黑" panose="020B0503020204020204" charset="-122"/>
              </a:endParaRPr>
            </a:p>
          </p:txBody>
        </p:sp>
        <p:sp>
          <p:nvSpPr>
            <p:cNvPr id="55" name="Shape 3"/>
            <p:cNvSpPr/>
            <p:nvPr/>
          </p:nvSpPr>
          <p:spPr>
            <a:xfrm>
              <a:off x="2429" y="1855"/>
              <a:ext cx="15791" cy="4722"/>
            </a:xfrm>
            <a:prstGeom prst="rect">
              <a:avLst/>
            </a:prstGeom>
            <a:noFill/>
            <a:ln w="12700">
              <a:solidFill>
                <a:schemeClr val="accent1">
                  <a:lumMod val="40000"/>
                  <a:lumOff val="60000"/>
                </a:schemeClr>
              </a:solidFill>
              <a:prstDash val="solid"/>
            </a:ln>
          </p:spPr>
        </p:sp>
      </p:grpSp>
      <p:sp>
        <p:nvSpPr>
          <p:cNvPr id="56" name="Text 4"/>
          <p:cNvSpPr/>
          <p:nvPr/>
        </p:nvSpPr>
        <p:spPr>
          <a:xfrm>
            <a:off x="1804035" y="3141980"/>
            <a:ext cx="1753870" cy="3263900"/>
          </a:xfrm>
          <a:prstGeom prst="rect">
            <a:avLst/>
          </a:prstGeom>
          <a:noFill/>
        </p:spPr>
        <p:txBody>
          <a:bodyPr wrap="square" lIns="0" tIns="0" rIns="0" bIns="0" rtlCol="0" anchor="t"/>
          <a:p>
            <a:pPr marL="0" indent="0" algn="l">
              <a:lnSpc>
                <a:spcPct val="150000"/>
              </a:lnSpc>
              <a:buNone/>
            </a:pPr>
            <a:r>
              <a:rPr lang="zh-CN" altLang="en-US" sz="1200" dirty="0">
                <a:solidFill>
                  <a:srgbClr val="4C61E7"/>
                </a:solidFill>
                <a:latin typeface="微软雅黑" panose="020B0503020204020204" charset="-122"/>
                <a:ea typeface="微软雅黑" panose="020B0503020204020204" charset="-122"/>
                <a:cs typeface="微软雅黑" panose="020B0503020204020204" charset="-122"/>
              </a:rPr>
              <a:t>运营过程输出物</a:t>
            </a:r>
            <a:endParaRPr lang="en-US" sz="1200" dirty="0">
              <a:solidFill>
                <a:srgbClr val="4C61E7"/>
              </a:solidFill>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sz="1200" dirty="0">
                <a:solidFill>
                  <a:srgbClr val="14161A"/>
                </a:solidFill>
                <a:latin typeface="微软雅黑" panose="020B0503020204020204" charset="-122"/>
                <a:ea typeface="微软雅黑" panose="020B0503020204020204" charset="-122"/>
                <a:cs typeface="微软雅黑" panose="020B0503020204020204" charset="-122"/>
              </a:rPr>
              <a:t>《项目启动会PPT》</a:t>
            </a:r>
            <a:endParaRPr lang="en-US" sz="1200" dirty="0">
              <a:solidFill>
                <a:srgbClr val="14161A"/>
              </a:solidFill>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sz="1200" dirty="0">
                <a:solidFill>
                  <a:srgbClr val="14161A"/>
                </a:solidFill>
                <a:latin typeface="微软雅黑" panose="020B0503020204020204" charset="-122"/>
                <a:ea typeface="微软雅黑" panose="020B0503020204020204" charset="-122"/>
                <a:cs typeface="微软雅黑" panose="020B0503020204020204" charset="-122"/>
              </a:rPr>
              <a:t>《首次分析与处置报告》</a:t>
            </a:r>
            <a:endParaRPr lang="en-US" sz="1200" dirty="0">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sz="1200" dirty="0">
                <a:solidFill>
                  <a:srgbClr val="14161A"/>
                </a:solidFill>
                <a:latin typeface="微软雅黑" panose="020B0503020204020204" charset="-122"/>
                <a:ea typeface="微软雅黑" panose="020B0503020204020204" charset="-122"/>
                <a:cs typeface="微软雅黑" panose="020B0503020204020204" charset="-122"/>
              </a:rPr>
              <a:t>《漏洞管理举证报告》</a:t>
            </a:r>
            <a:endParaRPr lang="en-US" sz="1200" dirty="0">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sz="1200" dirty="0">
                <a:solidFill>
                  <a:srgbClr val="14161A"/>
                </a:solidFill>
                <a:latin typeface="微软雅黑" panose="020B0503020204020204" charset="-122"/>
                <a:ea typeface="微软雅黑" panose="020B0503020204020204" charset="-122"/>
                <a:cs typeface="微软雅黑" panose="020B0503020204020204" charset="-122"/>
              </a:rPr>
              <a:t>《漏洞清单》</a:t>
            </a:r>
            <a:endParaRPr lang="en-US" sz="1200" dirty="0">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sz="1200" dirty="0">
                <a:solidFill>
                  <a:srgbClr val="14161A"/>
                </a:solidFill>
                <a:latin typeface="微软雅黑" panose="020B0503020204020204" charset="-122"/>
                <a:ea typeface="微软雅黑" panose="020B0503020204020204" charset="-122"/>
                <a:cs typeface="微软雅黑" panose="020B0503020204020204" charset="-122"/>
              </a:rPr>
              <a:t>《服务资产表》</a:t>
            </a:r>
            <a:endParaRPr lang="en-US" sz="1200" dirty="0">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sz="1200" dirty="0">
                <a:solidFill>
                  <a:srgbClr val="14161A"/>
                </a:solidFill>
                <a:latin typeface="微软雅黑" panose="020B0503020204020204" charset="-122"/>
                <a:ea typeface="微软雅黑" panose="020B0503020204020204" charset="-122"/>
                <a:cs typeface="微软雅黑" panose="020B0503020204020204" charset="-122"/>
              </a:rPr>
              <a:t>《事件</a:t>
            </a:r>
            <a:r>
              <a:rPr lang="zh-CN" altLang="en-US" sz="1200" dirty="0">
                <a:solidFill>
                  <a:srgbClr val="14161A"/>
                </a:solidFill>
                <a:latin typeface="微软雅黑" panose="020B0503020204020204" charset="-122"/>
                <a:ea typeface="微软雅黑" panose="020B0503020204020204" charset="-122"/>
                <a:cs typeface="微软雅黑" panose="020B0503020204020204" charset="-122"/>
              </a:rPr>
              <a:t>跟踪表</a:t>
            </a:r>
            <a:r>
              <a:rPr lang="en-US" sz="1200" dirty="0">
                <a:solidFill>
                  <a:srgbClr val="14161A"/>
                </a:solidFill>
                <a:latin typeface="微软雅黑" panose="020B0503020204020204" charset="-122"/>
                <a:ea typeface="微软雅黑" panose="020B0503020204020204" charset="-122"/>
                <a:cs typeface="微软雅黑" panose="020B0503020204020204" charset="-122"/>
              </a:rPr>
              <a:t>》</a:t>
            </a:r>
            <a:endParaRPr lang="en-US" sz="1200" dirty="0">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sz="1200" dirty="0">
                <a:solidFill>
                  <a:srgbClr val="14161A"/>
                </a:solidFill>
                <a:latin typeface="微软雅黑" panose="020B0503020204020204" charset="-122"/>
                <a:ea typeface="微软雅黑" panose="020B0503020204020204" charset="-122"/>
                <a:cs typeface="微软雅黑" panose="020B0503020204020204" charset="-122"/>
              </a:rPr>
              <a:t>《应急响应报告》</a:t>
            </a:r>
            <a:endParaRPr lang="en-US" sz="1200" dirty="0">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sz="1200" dirty="0">
                <a:solidFill>
                  <a:srgbClr val="14161A"/>
                </a:solidFill>
                <a:latin typeface="微软雅黑" panose="020B0503020204020204" charset="-122"/>
                <a:ea typeface="微软雅黑" panose="020B0503020204020204" charset="-122"/>
                <a:cs typeface="微软雅黑" panose="020B0503020204020204" charset="-122"/>
              </a:rPr>
              <a:t>《暴露面梳理报告》</a:t>
            </a:r>
            <a:endParaRPr lang="en-US" sz="1200" dirty="0">
              <a:solidFill>
                <a:srgbClr val="14161A"/>
              </a:solidFill>
              <a:latin typeface="微软雅黑" panose="020B0503020204020204" charset="-122"/>
              <a:ea typeface="微软雅黑" panose="020B0503020204020204" charset="-122"/>
              <a:cs typeface="微软雅黑" panose="020B0503020204020204" charset="-122"/>
            </a:endParaRPr>
          </a:p>
        </p:txBody>
      </p:sp>
      <p:sp>
        <p:nvSpPr>
          <p:cNvPr id="57" name="Text 5"/>
          <p:cNvSpPr/>
          <p:nvPr/>
        </p:nvSpPr>
        <p:spPr>
          <a:xfrm>
            <a:off x="6388735" y="3108960"/>
            <a:ext cx="2795905" cy="3411220"/>
          </a:xfrm>
          <a:prstGeom prst="rect">
            <a:avLst/>
          </a:prstGeom>
          <a:noFill/>
        </p:spPr>
        <p:txBody>
          <a:bodyPr wrap="square" lIns="0" tIns="0" rIns="0" bIns="0" rtlCol="0" anchor="t"/>
          <a:p>
            <a:pPr indent="0" algn="l" defTabSz="914400" fontAlgn="auto">
              <a:lnSpc>
                <a:spcPct val="150000"/>
              </a:lnSpc>
              <a:spcAft>
                <a:spcPts val="500"/>
              </a:spcAft>
              <a:buNone/>
              <a:tabLst>
                <a:tab pos="3044190" algn="l"/>
              </a:tabLst>
            </a:pPr>
            <a:r>
              <a:rPr lang="zh-CN" altLang="en-US" sz="1200" dirty="0">
                <a:solidFill>
                  <a:srgbClr val="4C61E7"/>
                </a:solidFill>
                <a:latin typeface="微软雅黑" panose="020B0503020204020204" charset="-122"/>
                <a:ea typeface="微软雅黑" panose="020B0503020204020204" charset="-122"/>
                <a:cs typeface="微软雅黑" panose="020B0503020204020204" charset="-122"/>
              </a:rPr>
              <a:t>阶段性运营报告</a:t>
            </a:r>
            <a:endParaRPr lang="en-US" sz="1200" dirty="0">
              <a:solidFill>
                <a:srgbClr val="4C61E7"/>
              </a:solidFill>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r>
              <a:rPr lang="en-US" sz="1200" dirty="0">
                <a:solidFill>
                  <a:srgbClr val="14161A"/>
                </a:solidFill>
                <a:latin typeface="微软雅黑" panose="020B0503020204020204" charset="-122"/>
                <a:ea typeface="微软雅黑" panose="020B0503020204020204" charset="-122"/>
                <a:cs typeface="微软雅黑" panose="020B0503020204020204" charset="-122"/>
              </a:rPr>
              <a:t>《安全运营报告》--周报</a:t>
            </a:r>
            <a:endParaRPr lang="en-US" sz="900" dirty="0">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r>
              <a:rPr lang="en-US" sz="1200" dirty="0">
                <a:solidFill>
                  <a:srgbClr val="14161A"/>
                </a:solidFill>
                <a:latin typeface="微软雅黑" panose="020B0503020204020204" charset="-122"/>
                <a:ea typeface="微软雅黑" panose="020B0503020204020204" charset="-122"/>
                <a:cs typeface="微软雅黑" panose="020B0503020204020204" charset="-122"/>
              </a:rPr>
              <a:t>《综合分析报告》--月报</a:t>
            </a:r>
            <a:endParaRPr lang="en-US" sz="900" dirty="0">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r>
              <a:rPr lang="en-US" sz="1200" dirty="0">
                <a:solidFill>
                  <a:srgbClr val="14161A"/>
                </a:solidFill>
                <a:latin typeface="微软雅黑" panose="020B0503020204020204" charset="-122"/>
                <a:ea typeface="微软雅黑" panose="020B0503020204020204" charset="-122"/>
                <a:cs typeface="微软雅黑" panose="020B0503020204020204" charset="-122"/>
              </a:rPr>
              <a:t>《</a:t>
            </a:r>
            <a:r>
              <a:rPr lang="en-US" sz="1200" dirty="0">
                <a:solidFill>
                  <a:srgbClr val="14161A"/>
                </a:solidFill>
                <a:latin typeface="微软雅黑" panose="020B0503020204020204" charset="-122"/>
                <a:ea typeface="微软雅黑" panose="020B0503020204020204" charset="-122"/>
                <a:cs typeface="微软雅黑" panose="020B0503020204020204" charset="-122"/>
                <a:sym typeface="+mn-ea"/>
              </a:rPr>
              <a:t>安全运营报告</a:t>
            </a:r>
            <a:r>
              <a:rPr lang="en-US" sz="1200" dirty="0">
                <a:solidFill>
                  <a:srgbClr val="14161A"/>
                </a:solidFill>
                <a:latin typeface="微软雅黑" panose="020B0503020204020204" charset="-122"/>
                <a:ea typeface="微软雅黑" panose="020B0503020204020204" charset="-122"/>
                <a:cs typeface="微软雅黑" panose="020B0503020204020204" charset="-122"/>
              </a:rPr>
              <a:t>》--季报</a:t>
            </a:r>
            <a:endParaRPr lang="en-US" altLang="zh-CN" sz="1200" dirty="0">
              <a:solidFill>
                <a:schemeClr val="tx1"/>
              </a:solidFill>
              <a:highlight>
                <a:srgbClr val="000000">
                  <a:alpha val="0"/>
                </a:srgbClr>
              </a:highlight>
              <a:latin typeface="微软雅黑" panose="020B0503020204020204" charset="-122"/>
              <a:ea typeface="微软雅黑" panose="020B0503020204020204" charset="-122"/>
              <a:cs typeface="微软雅黑" panose="020B0503020204020204" charset="-122"/>
            </a:endParaRPr>
          </a:p>
          <a:p>
            <a:pPr indent="0" algn="l" defTabSz="914400" fontAlgn="auto">
              <a:lnSpc>
                <a:spcPct val="150000"/>
              </a:lnSpc>
              <a:spcBef>
                <a:spcPts val="600"/>
              </a:spcBef>
              <a:spcAft>
                <a:spcPts val="500"/>
              </a:spcAft>
              <a:buNone/>
              <a:tabLst>
                <a:tab pos="3044190" algn="l"/>
              </a:tabLst>
            </a:pPr>
            <a:r>
              <a:rPr lang="zh-CN" altLang="en-US" sz="1200" dirty="0">
                <a:solidFill>
                  <a:srgbClr val="4C61E7"/>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重要时期保障总结报告</a:t>
            </a:r>
            <a:endParaRPr lang="en-US" sz="1200" dirty="0">
              <a:solidFill>
                <a:srgbClr val="4C61E7"/>
              </a:solidFill>
              <a:highlight>
                <a:srgbClr val="000000">
                  <a:alpha val="0"/>
                </a:srgbClr>
              </a:highlight>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r>
              <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a:t>
            </a:r>
            <a:r>
              <a:rPr lang="zh-CN" alt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重要节假日</a:t>
            </a:r>
            <a:r>
              <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网络安全保障工作简报</a:t>
            </a:r>
            <a:r>
              <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a:t>
            </a:r>
            <a:endPar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endPar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endParaRPr>
          </a:p>
          <a:p>
            <a:pPr marL="0" indent="0" algn="l" defTabSz="914400">
              <a:lnSpc>
                <a:spcPct val="150000"/>
              </a:lnSpc>
              <a:buNone/>
              <a:tabLst>
                <a:tab pos="3044190" algn="l"/>
              </a:tabLst>
            </a:pPr>
            <a:endParaRPr lang="en-US" altLang="zh-CN"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endParaRPr>
          </a:p>
          <a:p>
            <a:pPr indent="0" algn="l" defTabSz="914400" fontAlgn="auto">
              <a:lnSpc>
                <a:spcPct val="150000"/>
              </a:lnSpc>
              <a:spcBef>
                <a:spcPts val="600"/>
              </a:spcBef>
              <a:spcAft>
                <a:spcPts val="500"/>
              </a:spcAft>
              <a:buClrTx/>
              <a:buSzTx/>
              <a:buFontTx/>
              <a:buNone/>
              <a:tabLst>
                <a:tab pos="3044190" algn="l"/>
              </a:tabLst>
            </a:pPr>
            <a:r>
              <a:rPr lang="zh-CN" altLang="en-US" sz="1200" dirty="0">
                <a:solidFill>
                  <a:srgbClr val="4C61E7"/>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其他交付物</a:t>
            </a:r>
            <a:endParaRPr lang="zh-CN" altLang="en-US" sz="1200" dirty="0">
              <a:solidFill>
                <a:srgbClr val="4C61E7"/>
              </a:solidFill>
              <a:highlight>
                <a:srgbClr val="000000">
                  <a:alpha val="0"/>
                </a:srgbClr>
              </a:highlight>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r>
              <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a:t>
            </a:r>
            <a:r>
              <a:rPr lang="zh-CN" alt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网络安全态势</a:t>
            </a:r>
            <a:r>
              <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半月刊》+</a:t>
            </a:r>
            <a:r>
              <a:rPr lang="zh-CN" alt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最新威胁情报</a:t>
            </a:r>
            <a:r>
              <a:rPr lang="en-US" altLang="zh-CN"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 </a:t>
            </a:r>
            <a:endParaRPr lang="en-US" sz="1200" dirty="0">
              <a:highlight>
                <a:srgbClr val="000000">
                  <a:alpha val="0"/>
                </a:srgbClr>
              </a:highlight>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r>
              <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a:t>
            </a:r>
            <a:r>
              <a:rPr lang="zh-CN" alt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钓鱼场景安全意识海报</a:t>
            </a:r>
            <a:r>
              <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 </a:t>
            </a:r>
            <a:endParaRPr lang="en-US" sz="1200" dirty="0">
              <a:highlight>
                <a:srgbClr val="000000">
                  <a:alpha val="0"/>
                </a:srgbClr>
              </a:highlight>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3044190" algn="l"/>
              </a:tabLst>
            </a:pPr>
            <a:endParaRPr lang="en-US" sz="1200" dirty="0">
              <a:highlight>
                <a:srgbClr val="000000">
                  <a:alpha val="0"/>
                </a:srgbClr>
              </a:highlight>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endPar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endParaRPr>
          </a:p>
          <a:p>
            <a:pPr marL="0" indent="0" algn="l" defTabSz="914400">
              <a:lnSpc>
                <a:spcPct val="150000"/>
              </a:lnSpc>
              <a:buNone/>
              <a:tabLst>
                <a:tab pos="3044190" algn="l"/>
              </a:tabLst>
            </a:pPr>
            <a:r>
              <a:rPr lang="en-US" sz="1200" dirty="0">
                <a:solidFill>
                  <a:srgbClr val="0B4CBB"/>
                </a:solidFill>
                <a:highlight>
                  <a:srgbClr val="000000">
                    <a:alpha val="0"/>
                  </a:srgbClr>
                </a:highlight>
                <a:latin typeface="微软雅黑" panose="020B0503020204020204" charset="-122"/>
                <a:ea typeface="微软雅黑" panose="020B0503020204020204" charset="-122"/>
                <a:cs typeface="微软雅黑" panose="020B0503020204020204" charset="-122"/>
              </a:rPr>
              <a:t> </a:t>
            </a:r>
            <a:endParaRPr lang="zh-CN" altLang="en-US" sz="1200" dirty="0">
              <a:solidFill>
                <a:srgbClr val="0B4CBB"/>
              </a:solidFill>
              <a:highlight>
                <a:srgbClr val="000000">
                  <a:alpha val="0"/>
                </a:srgbClr>
              </a:highlight>
              <a:latin typeface="微软雅黑" panose="020B0503020204020204" charset="-122"/>
              <a:ea typeface="微软雅黑" panose="020B0503020204020204" charset="-122"/>
              <a:cs typeface="微软雅黑" panose="020B0503020204020204" charset="-122"/>
            </a:endParaRPr>
          </a:p>
        </p:txBody>
      </p:sp>
      <p:sp>
        <p:nvSpPr>
          <p:cNvPr id="58" name="Text 8"/>
          <p:cNvSpPr/>
          <p:nvPr/>
        </p:nvSpPr>
        <p:spPr>
          <a:xfrm>
            <a:off x="6407785" y="4300855"/>
            <a:ext cx="5097780" cy="1235710"/>
          </a:xfrm>
          <a:prstGeom prst="rect">
            <a:avLst/>
          </a:prstGeom>
          <a:noFill/>
        </p:spPr>
        <p:txBody>
          <a:bodyPr wrap="square" lIns="0" tIns="0" rIns="0" bIns="0" rtlCol="0" anchor="t"/>
          <a:p>
            <a:pPr marL="0" indent="0" algn="l">
              <a:lnSpc>
                <a:spcPct val="160000"/>
              </a:lnSpc>
              <a:buNone/>
            </a:pPr>
            <a:endParaRPr lang="en-US" sz="1200" dirty="0">
              <a:solidFill>
                <a:srgbClr val="14161A"/>
              </a:solidFill>
              <a:latin typeface="微软雅黑" panose="020B0503020204020204" charset="-122"/>
              <a:ea typeface="微软雅黑" panose="020B0503020204020204" charset="-122"/>
              <a:cs typeface="微软雅黑" panose="020B0503020204020204" charset="-122"/>
              <a:sym typeface="+mn-ea"/>
            </a:endParaRPr>
          </a:p>
        </p:txBody>
      </p:sp>
      <p:sp>
        <p:nvSpPr>
          <p:cNvPr id="161" name="椭圆 160"/>
          <p:cNvSpPr/>
          <p:nvPr>
            <p:custDataLst>
              <p:tags r:id="rId37"/>
            </p:custDataLst>
          </p:nvPr>
        </p:nvSpPr>
        <p:spPr>
          <a:xfrm>
            <a:off x="6415088" y="1009968"/>
            <a:ext cx="93600" cy="94643"/>
          </a:xfrm>
          <a:prstGeom prst="ellipse">
            <a:avLst/>
          </a:prstGeom>
          <a:solidFill>
            <a:schemeClr val="accent2"/>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微软雅黑" panose="020B0503020204020204" charset="-122"/>
            </a:endParaRPr>
          </a:p>
        </p:txBody>
      </p:sp>
      <p:sp>
        <p:nvSpPr>
          <p:cNvPr id="163" name="流程图: 延期 162"/>
          <p:cNvSpPr/>
          <p:nvPr>
            <p:custDataLst>
              <p:tags r:id="rId38"/>
            </p:custDataLst>
          </p:nvPr>
        </p:nvSpPr>
        <p:spPr>
          <a:xfrm>
            <a:off x="6457950" y="608330"/>
            <a:ext cx="347345" cy="238760"/>
          </a:xfrm>
          <a:prstGeom prst="flowChartDelay">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rmAutofit fontScale="60000"/>
          </a:bodyPr>
          <a:p>
            <a:pPr lvl="0" algn="r">
              <a:spcBef>
                <a:spcPct val="0"/>
              </a:spcBef>
              <a:spcAft>
                <a:spcPct val="0"/>
              </a:spcAft>
              <a:buClrTx/>
              <a:buSzTx/>
              <a:buFontTx/>
            </a:pPr>
            <a:r>
              <a:rPr lang="en-US" altLang="zh-CN" b="1">
                <a:solidFill>
                  <a:srgbClr val="FFFFFF"/>
                </a:solidFill>
                <a:effectLst>
                  <a:outerShdw blurRad="50800" dist="38100" dir="5400000" algn="t" rotWithShape="0">
                    <a:schemeClr val="accent1">
                      <a:lumMod val="75000"/>
                      <a:alpha val="40000"/>
                    </a:schemeClr>
                  </a:outerShdw>
                </a:effectLst>
                <a:latin typeface="+mn-ea"/>
                <a:cs typeface="+mn-ea"/>
                <a:sym typeface="+mn-ea"/>
              </a:rPr>
              <a:t>50%</a:t>
            </a:r>
            <a:endParaRPr lang="en-US" altLang="zh-CN" b="1" dirty="0">
              <a:solidFill>
                <a:srgbClr val="FFFFFF"/>
              </a:solidFill>
              <a:effectLst>
                <a:outerShdw blurRad="50800" dist="38100" dir="5400000" algn="t" rotWithShape="0">
                  <a:schemeClr val="accent1">
                    <a:lumMod val="75000"/>
                    <a:alpha val="40000"/>
                  </a:schemeClr>
                </a:outerShdw>
              </a:effectLst>
              <a:latin typeface="+mn-ea"/>
              <a:cs typeface="+mn-ea"/>
              <a:sym typeface="+mn-ea"/>
            </a:endParaRPr>
          </a:p>
        </p:txBody>
      </p:sp>
      <p:cxnSp>
        <p:nvCxnSpPr>
          <p:cNvPr id="162" name="直接连接符 161"/>
          <p:cNvCxnSpPr/>
          <p:nvPr>
            <p:custDataLst>
              <p:tags r:id="rId39"/>
            </p:custDataLst>
          </p:nvPr>
        </p:nvCxnSpPr>
        <p:spPr>
          <a:xfrm>
            <a:off x="6457797" y="609636"/>
            <a:ext cx="0" cy="432000"/>
          </a:xfrm>
          <a:prstGeom prst="line">
            <a:avLst/>
          </a:prstGeom>
          <a:ln w="25400">
            <a:gradFill>
              <a:gsLst>
                <a:gs pos="17000">
                  <a:schemeClr val="accent1">
                    <a:alpha val="0"/>
                  </a:schemeClr>
                </a:gs>
                <a:gs pos="61000">
                  <a:schemeClr val="accent1">
                    <a:alpha val="100000"/>
                  </a:schemeClr>
                </a:gs>
              </a:gsLst>
              <a:lin ang="16200000" scaled="1"/>
            </a:gradFill>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3958590" y="3359785"/>
            <a:ext cx="2275205" cy="4523105"/>
          </a:xfrm>
          <a:prstGeom prst="rect">
            <a:avLst/>
          </a:prstGeom>
          <a:noFill/>
        </p:spPr>
        <p:txBody>
          <a:bodyPr wrap="square" rtlCol="0" anchor="t">
            <a:spAutoFit/>
          </a:bodyPr>
          <a:p>
            <a:pPr marL="0" indent="0" algn="l" defTabSz="914400">
              <a:lnSpc>
                <a:spcPct val="200000"/>
              </a:lnSpc>
              <a:buNone/>
              <a:tabLst>
                <a:tab pos="2506980" algn="l"/>
              </a:tabLst>
            </a:pPr>
            <a:r>
              <a:rPr lang="en-US" altLang="zh-CN" sz="1200" dirty="0">
                <a:solidFill>
                  <a:srgbClr val="14161A"/>
                </a:solidFill>
                <a:latin typeface="微软雅黑" panose="020B0503020204020204" charset="-122"/>
                <a:ea typeface="微软雅黑" panose="020B0503020204020204" charset="-122"/>
                <a:cs typeface="微软雅黑" panose="020B0503020204020204" charset="-122"/>
                <a:sym typeface="+mn-ea"/>
              </a:rPr>
              <a:t>{{project_launch_ppt}}</a:t>
            </a:r>
            <a:r>
              <a:rPr lang="zh-CN" altLang="en-US" sz="1200" dirty="0">
                <a:solidFill>
                  <a:srgbClr val="14161A"/>
                </a:solidFill>
                <a:latin typeface="微软雅黑" panose="020B0503020204020204" charset="-122"/>
                <a:ea typeface="微软雅黑" panose="020B0503020204020204" charset="-122"/>
                <a:cs typeface="微软雅黑" panose="020B0503020204020204" charset="-122"/>
                <a:sym typeface="+mn-ea"/>
              </a:rPr>
              <a:t>份</a:t>
            </a:r>
            <a:endParaRPr lang="en-US" sz="1200" dirty="0">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altLang="zh-CN" sz="1200" dirty="0">
                <a:solidFill>
                  <a:srgbClr val="14161A"/>
                </a:solidFill>
                <a:latin typeface="微软雅黑" panose="020B0503020204020204" charset="-122"/>
                <a:ea typeface="微软雅黑" panose="020B0503020204020204" charset="-122"/>
                <a:cs typeface="微软雅黑" panose="020B0503020204020204" charset="-122"/>
                <a:sym typeface="+mn-ea"/>
              </a:rPr>
              <a:t>{{initial_analysis_and_disposal_report}}</a:t>
            </a:r>
            <a:r>
              <a:rPr lang="zh-CN" altLang="en-US" sz="1200" dirty="0">
                <a:solidFill>
                  <a:srgbClr val="14161A"/>
                </a:solidFill>
                <a:latin typeface="微软雅黑" panose="020B0503020204020204" charset="-122"/>
                <a:ea typeface="微软雅黑" panose="020B0503020204020204" charset="-122"/>
                <a:cs typeface="微软雅黑" panose="020B0503020204020204" charset="-122"/>
                <a:sym typeface="+mn-ea"/>
              </a:rPr>
              <a:t>份</a:t>
            </a:r>
            <a:endParaRPr lang="en-US" sz="1200" dirty="0">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altLang="zh-CN" sz="1200" dirty="0">
                <a:solidFill>
                  <a:srgbClr val="14161A"/>
                </a:solidFill>
                <a:latin typeface="微软雅黑" panose="020B0503020204020204" charset="-122"/>
                <a:ea typeface="微软雅黑" panose="020B0503020204020204" charset="-122"/>
                <a:cs typeface="微软雅黑" panose="020B0503020204020204" charset="-122"/>
                <a:sym typeface="+mn-ea"/>
              </a:rPr>
              <a:t>{{vulnerability_management_evidence_report}}</a:t>
            </a:r>
            <a:r>
              <a:rPr lang="zh-CN" altLang="en-US" sz="1200" dirty="0">
                <a:solidFill>
                  <a:srgbClr val="14161A"/>
                </a:solidFill>
                <a:latin typeface="微软雅黑" panose="020B0503020204020204" charset="-122"/>
                <a:ea typeface="微软雅黑" panose="020B0503020204020204" charset="-122"/>
                <a:cs typeface="微软雅黑" panose="020B0503020204020204" charset="-122"/>
                <a:sym typeface="+mn-ea"/>
              </a:rPr>
              <a:t>份</a:t>
            </a:r>
            <a:endParaRPr lang="en-US" sz="1200" dirty="0">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altLang="zh-CN" sz="1200" dirty="0">
                <a:solidFill>
                  <a:srgbClr val="14161A"/>
                </a:solidFill>
                <a:latin typeface="微软雅黑" panose="020B0503020204020204" charset="-122"/>
                <a:ea typeface="微软雅黑" panose="020B0503020204020204" charset="-122"/>
                <a:cs typeface="微软雅黑" panose="020B0503020204020204" charset="-122"/>
                <a:sym typeface="+mn-ea"/>
              </a:rPr>
              <a:t>{{vulnerability_list}}</a:t>
            </a:r>
            <a:r>
              <a:rPr lang="zh-CN" altLang="en-US" sz="1200" dirty="0">
                <a:solidFill>
                  <a:srgbClr val="14161A"/>
                </a:solidFill>
                <a:latin typeface="微软雅黑" panose="020B0503020204020204" charset="-122"/>
                <a:ea typeface="微软雅黑" panose="020B0503020204020204" charset="-122"/>
                <a:cs typeface="微软雅黑" panose="020B0503020204020204" charset="-122"/>
                <a:sym typeface="+mn-ea"/>
              </a:rPr>
              <a:t>份</a:t>
            </a:r>
            <a:endParaRPr lang="en-US" sz="1200" dirty="0">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altLang="zh-CN" sz="1200" dirty="0">
                <a:solidFill>
                  <a:srgbClr val="14161A"/>
                </a:solidFill>
                <a:latin typeface="微软雅黑" panose="020B0503020204020204" charset="-122"/>
                <a:ea typeface="微软雅黑" panose="020B0503020204020204" charset="-122"/>
                <a:cs typeface="微软雅黑" panose="020B0503020204020204" charset="-122"/>
                <a:sym typeface="+mn-ea"/>
              </a:rPr>
              <a:t>{{service_asset_table}}</a:t>
            </a:r>
            <a:r>
              <a:rPr lang="zh-CN" altLang="en-US" sz="1200" dirty="0">
                <a:solidFill>
                  <a:srgbClr val="14161A"/>
                </a:solidFill>
                <a:latin typeface="微软雅黑" panose="020B0503020204020204" charset="-122"/>
                <a:ea typeface="微软雅黑" panose="020B0503020204020204" charset="-122"/>
                <a:cs typeface="微软雅黑" panose="020B0503020204020204" charset="-122"/>
                <a:sym typeface="+mn-ea"/>
              </a:rPr>
              <a:t>份</a:t>
            </a:r>
            <a:endParaRPr lang="en-US" sz="1200" dirty="0">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altLang="zh-CN" sz="1200" dirty="0">
                <a:solidFill>
                  <a:srgbClr val="14161A"/>
                </a:solidFill>
                <a:latin typeface="微软雅黑" panose="020B0503020204020204" charset="-122"/>
                <a:ea typeface="微软雅黑" panose="020B0503020204020204" charset="-122"/>
                <a:cs typeface="微软雅黑" panose="020B0503020204020204" charset="-122"/>
                <a:sym typeface="+mn-ea"/>
              </a:rPr>
              <a:t>{{incident_tracking_table}}</a:t>
            </a:r>
            <a:r>
              <a:rPr lang="zh-CN" altLang="en-US" sz="1200" dirty="0">
                <a:solidFill>
                  <a:srgbClr val="14161A"/>
                </a:solidFill>
                <a:latin typeface="微软雅黑" panose="020B0503020204020204" charset="-122"/>
                <a:ea typeface="微软雅黑" panose="020B0503020204020204" charset="-122"/>
                <a:cs typeface="微软雅黑" panose="020B0503020204020204" charset="-122"/>
                <a:sym typeface="+mn-ea"/>
              </a:rPr>
              <a:t>份</a:t>
            </a:r>
            <a:endParaRPr lang="en-US" sz="1200" dirty="0">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altLang="zh-CN" sz="1200" dirty="0">
                <a:solidFill>
                  <a:srgbClr val="14161A"/>
                </a:solidFill>
                <a:latin typeface="微软雅黑" panose="020B0503020204020204" charset="-122"/>
                <a:ea typeface="微软雅黑" panose="020B0503020204020204" charset="-122"/>
                <a:cs typeface="微软雅黑" panose="020B0503020204020204" charset="-122"/>
                <a:sym typeface="+mn-ea"/>
              </a:rPr>
              <a:t>{{emergency_response_report}}</a:t>
            </a:r>
            <a:r>
              <a:rPr lang="zh-CN" altLang="en-US" sz="1200" dirty="0">
                <a:solidFill>
                  <a:srgbClr val="14161A"/>
                </a:solidFill>
                <a:latin typeface="微软雅黑" panose="020B0503020204020204" charset="-122"/>
                <a:ea typeface="微软雅黑" panose="020B0503020204020204" charset="-122"/>
                <a:cs typeface="微软雅黑" panose="020B0503020204020204" charset="-122"/>
                <a:sym typeface="+mn-ea"/>
              </a:rPr>
              <a:t>份</a:t>
            </a:r>
            <a:endParaRPr lang="en-US" sz="1200" dirty="0">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altLang="zh-CN" sz="1200" dirty="0">
                <a:solidFill>
                  <a:srgbClr val="14161A"/>
                </a:solidFill>
                <a:latin typeface="微软雅黑" panose="020B0503020204020204" charset="-122"/>
                <a:ea typeface="微软雅黑" panose="020B0503020204020204" charset="-122"/>
                <a:cs typeface="微软雅黑" panose="020B0503020204020204" charset="-122"/>
                <a:sym typeface="+mn-ea"/>
              </a:rPr>
              <a:t>{{exposure_surface_analysis_report}}</a:t>
            </a:r>
            <a:r>
              <a:rPr lang="zh-CN" altLang="en-US" sz="1200" dirty="0">
                <a:solidFill>
                  <a:srgbClr val="14161A"/>
                </a:solidFill>
                <a:latin typeface="微软雅黑" panose="020B0503020204020204" charset="-122"/>
                <a:ea typeface="微软雅黑" panose="020B0503020204020204" charset="-122"/>
                <a:cs typeface="微软雅黑" panose="020B0503020204020204" charset="-122"/>
                <a:sym typeface="+mn-ea"/>
              </a:rPr>
              <a:t>份</a:t>
            </a:r>
            <a:endParaRPr lang="zh-CN" altLang="en-US" sz="1200" dirty="0">
              <a:solidFill>
                <a:srgbClr val="14161A"/>
              </a:solidFill>
              <a:latin typeface="微软雅黑" panose="020B0503020204020204" charset="-122"/>
              <a:ea typeface="微软雅黑" panose="020B0503020204020204" charset="-122"/>
              <a:cs typeface="微软雅黑" panose="020B0503020204020204" charset="-122"/>
              <a:sym typeface="+mn-ea"/>
            </a:endParaRPr>
          </a:p>
        </p:txBody>
      </p:sp>
      <p:sp>
        <p:nvSpPr>
          <p:cNvPr id="13" name="Text 5"/>
          <p:cNvSpPr/>
          <p:nvPr/>
        </p:nvSpPr>
        <p:spPr>
          <a:xfrm>
            <a:off x="9678035" y="3446780"/>
            <a:ext cx="4048125" cy="3411220"/>
          </a:xfrm>
          <a:prstGeom prst="rect">
            <a:avLst/>
          </a:prstGeom>
          <a:noFill/>
        </p:spPr>
        <p:txBody>
          <a:bodyPr wrap="square" lIns="0" tIns="0" rIns="0" bIns="0" rtlCol="0" anchor="t"/>
          <a:p>
            <a:pPr marL="0" indent="0" algn="l" defTabSz="914400">
              <a:lnSpc>
                <a:spcPct val="150000"/>
              </a:lnSpc>
              <a:buNone/>
              <a:tabLst>
                <a:tab pos="3044190" algn="l"/>
              </a:tabLst>
            </a:pPr>
            <a:r>
              <a:rPr lang="en-US" altLang="zh-CN" sz="1200" dirty="0">
                <a:solidFill>
                  <a:srgbClr val="14161A"/>
                </a:solidFill>
                <a:latin typeface="微软雅黑" panose="020B0503020204020204" charset="-122"/>
                <a:ea typeface="微软雅黑" panose="020B0503020204020204" charset="-122"/>
                <a:cs typeface="微软雅黑" panose="020B0503020204020204" charset="-122"/>
              </a:rPr>
              <a:t>{{security_operations_report_weekly}}</a:t>
            </a:r>
            <a:r>
              <a:rPr lang="zh-CN" altLang="en-US" sz="1200" dirty="0">
                <a:solidFill>
                  <a:srgbClr val="14161A"/>
                </a:solidFill>
                <a:latin typeface="微软雅黑" panose="020B0503020204020204" charset="-122"/>
                <a:ea typeface="微软雅黑" panose="020B0503020204020204" charset="-122"/>
                <a:cs typeface="微软雅黑" panose="020B0503020204020204" charset="-122"/>
              </a:rPr>
              <a:t>份</a:t>
            </a:r>
            <a:endParaRPr lang="en-US" sz="900" dirty="0">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r>
              <a:rPr lang="en-US" altLang="zh-CN" sz="1200" dirty="0">
                <a:solidFill>
                  <a:srgbClr val="14161A"/>
                </a:solidFill>
                <a:latin typeface="微软雅黑" panose="020B0503020204020204" charset="-122"/>
                <a:ea typeface="微软雅黑" panose="020B0503020204020204" charset="-122"/>
                <a:cs typeface="微软雅黑" panose="020B0503020204020204" charset="-122"/>
              </a:rPr>
              <a:t>{{comprehensive_analysis_report_monthly}}</a:t>
            </a:r>
            <a:r>
              <a:rPr lang="zh-CN" altLang="en-US" sz="1200" dirty="0">
                <a:solidFill>
                  <a:srgbClr val="14161A"/>
                </a:solidFill>
                <a:latin typeface="微软雅黑" panose="020B0503020204020204" charset="-122"/>
                <a:ea typeface="微软雅黑" panose="020B0503020204020204" charset="-122"/>
                <a:cs typeface="微软雅黑" panose="020B0503020204020204" charset="-122"/>
              </a:rPr>
              <a:t>份</a:t>
            </a:r>
            <a:endParaRPr lang="en-US" sz="900" dirty="0">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r>
              <a:rPr lang="en-US" altLang="zh-CN" sz="1200" dirty="0">
                <a:solidFill>
                  <a:schemeClr val="tx1"/>
                </a:solidFill>
                <a:highlight>
                  <a:srgbClr val="000000">
                    <a:alpha val="0"/>
                  </a:srgbClr>
                </a:highlight>
                <a:latin typeface="微软雅黑" panose="020B0503020204020204" charset="-122"/>
                <a:ea typeface="微软雅黑" panose="020B0503020204020204" charset="-122"/>
                <a:cs typeface="微软雅黑" panose="020B0503020204020204" charset="-122"/>
              </a:rPr>
              <a:t>{{security_operations_report_quarterly}}</a:t>
            </a:r>
            <a:r>
              <a:rPr lang="zh-CN" alt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份</a:t>
            </a:r>
            <a:endParaRPr lang="en-US" altLang="zh-CN" sz="1200" dirty="0">
              <a:solidFill>
                <a:schemeClr val="tx1"/>
              </a:solidFill>
              <a:highlight>
                <a:srgbClr val="000000">
                  <a:alpha val="0"/>
                </a:srgbClr>
              </a:highlight>
              <a:latin typeface="微软雅黑" panose="020B0503020204020204" charset="-122"/>
              <a:ea typeface="微软雅黑" panose="020B0503020204020204" charset="-122"/>
              <a:cs typeface="微软雅黑" panose="020B0503020204020204" charset="-122"/>
            </a:endParaRPr>
          </a:p>
          <a:p>
            <a:pPr indent="0" algn="l" defTabSz="914400" fontAlgn="auto">
              <a:lnSpc>
                <a:spcPct val="150000"/>
              </a:lnSpc>
              <a:spcBef>
                <a:spcPts val="600"/>
              </a:spcBef>
              <a:spcAft>
                <a:spcPts val="500"/>
              </a:spcAft>
              <a:buNone/>
              <a:tabLst>
                <a:tab pos="3044190" algn="l"/>
              </a:tabLst>
            </a:pPr>
            <a:endParaRPr lang="en-US" sz="1200" dirty="0">
              <a:solidFill>
                <a:srgbClr val="4C61E7"/>
              </a:solidFill>
              <a:highlight>
                <a:srgbClr val="000000">
                  <a:alpha val="0"/>
                </a:srgbClr>
              </a:highlight>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r>
              <a:rPr lang="en-US" altLang="zh-CN"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{{important_holiday_network_security_work_report}}</a:t>
            </a:r>
            <a:r>
              <a:rPr lang="zh-CN" alt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份</a:t>
            </a:r>
            <a:endPar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endPar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endParaRPr>
          </a:p>
          <a:p>
            <a:pPr marL="0" indent="0" algn="l" defTabSz="914400">
              <a:lnSpc>
                <a:spcPct val="150000"/>
              </a:lnSpc>
              <a:buNone/>
              <a:tabLst>
                <a:tab pos="3044190" algn="l"/>
              </a:tabLst>
            </a:pPr>
            <a:endParaRPr lang="en-US" altLang="zh-CN"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endParaRPr>
          </a:p>
          <a:p>
            <a:pPr indent="0" algn="l" defTabSz="914400" fontAlgn="auto">
              <a:lnSpc>
                <a:spcPct val="150000"/>
              </a:lnSpc>
              <a:spcBef>
                <a:spcPts val="600"/>
              </a:spcBef>
              <a:spcAft>
                <a:spcPts val="500"/>
              </a:spcAft>
              <a:buClrTx/>
              <a:buSzTx/>
              <a:buFontTx/>
              <a:buNone/>
              <a:tabLst>
                <a:tab pos="3044190" algn="l"/>
              </a:tabLst>
            </a:pPr>
            <a:endParaRPr lang="zh-CN" altLang="en-US" sz="1200" dirty="0">
              <a:solidFill>
                <a:srgbClr val="4C61E7"/>
              </a:solidFill>
              <a:highlight>
                <a:srgbClr val="000000">
                  <a:alpha val="0"/>
                </a:srgbClr>
              </a:highlight>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r>
              <a:rPr lang="en-US" altLang="zh-CN"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{{security_trends_semi_monthly_report}}</a:t>
            </a:r>
            <a:r>
              <a:rPr lang="zh-CN" alt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份</a:t>
            </a:r>
            <a:endParaRPr lang="en-US" sz="1200" dirty="0">
              <a:highlight>
                <a:srgbClr val="000000">
                  <a:alpha val="0"/>
                </a:srgbClr>
              </a:highlight>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r>
              <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a:t>
            </a:r>
            <a:r>
              <a:rPr lang="en-US" altLang="zh-CN"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{phishing_scenario_security_poster}}</a:t>
            </a:r>
            <a:r>
              <a:rPr lang="zh-CN" alt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份</a:t>
            </a:r>
            <a:endParaRPr lang="en-US" sz="1200" dirty="0">
              <a:highlight>
                <a:srgbClr val="000000">
                  <a:alpha val="0"/>
                </a:srgbClr>
              </a:highlight>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3044190" algn="l"/>
              </a:tabLst>
            </a:pPr>
            <a:endParaRPr lang="en-US" sz="1200" dirty="0">
              <a:highlight>
                <a:srgbClr val="000000">
                  <a:alpha val="0"/>
                </a:srgbClr>
              </a:highlight>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endPar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endParaRPr>
          </a:p>
          <a:p>
            <a:pPr marL="0" indent="0" algn="l" defTabSz="914400">
              <a:lnSpc>
                <a:spcPct val="150000"/>
              </a:lnSpc>
              <a:buNone/>
              <a:tabLst>
                <a:tab pos="3044190" algn="l"/>
              </a:tabLst>
            </a:pPr>
            <a:r>
              <a:rPr lang="en-US" sz="1200" dirty="0">
                <a:solidFill>
                  <a:srgbClr val="0B4CBB"/>
                </a:solidFill>
                <a:highlight>
                  <a:srgbClr val="000000">
                    <a:alpha val="0"/>
                  </a:srgbClr>
                </a:highlight>
                <a:latin typeface="微软雅黑" panose="020B0503020204020204" charset="-122"/>
                <a:ea typeface="微软雅黑" panose="020B0503020204020204" charset="-122"/>
                <a:cs typeface="微软雅黑" panose="020B0503020204020204" charset="-122"/>
              </a:rPr>
              <a:t> </a:t>
            </a:r>
            <a:endParaRPr lang="zh-CN" altLang="en-US" sz="1200" dirty="0">
              <a:solidFill>
                <a:srgbClr val="0B4CBB"/>
              </a:solidFill>
              <a:highlight>
                <a:srgbClr val="000000">
                  <a:alpha val="0"/>
                </a:srgbClr>
              </a:highlight>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7" name="组合 146"/>
          <p:cNvGrpSpPr/>
          <p:nvPr/>
        </p:nvGrpSpPr>
        <p:grpSpPr>
          <a:xfrm>
            <a:off x="858520" y="989330"/>
            <a:ext cx="10779125" cy="976630"/>
            <a:chOff x="1351" y="1540"/>
            <a:chExt cx="16785" cy="1538"/>
          </a:xfrm>
        </p:grpSpPr>
        <p:sp>
          <p:nvSpPr>
            <p:cNvPr id="37" name="圆角矩形 36"/>
            <p:cNvSpPr/>
            <p:nvPr/>
          </p:nvSpPr>
          <p:spPr>
            <a:xfrm>
              <a:off x="1351" y="1540"/>
              <a:ext cx="16785" cy="1538"/>
            </a:xfrm>
            <a:prstGeom prst="roundRect">
              <a:avLst>
                <a:gd name="adj" fmla="val 11007"/>
              </a:avLst>
            </a:prstGeom>
            <a:solidFill>
              <a:schemeClr val="accent1">
                <a:alpha val="17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oAutofit/>
            </a:bodyPr>
            <a:p>
              <a:pPr algn="l" rtl="0" eaLnBrk="0">
                <a:lnSpc>
                  <a:spcPct val="110000"/>
                </a:lnSpc>
              </a:pPr>
              <a:endParaRPr dirty="0">
                <a:latin typeface="Source Han Sans CN Normal" panose="020B0600000000000000" charset="-122"/>
                <a:ea typeface="Source Han Sans CN Normal" panose="020B0600000000000000" charset="-122"/>
                <a:cs typeface="Arial" panose="020B0604020202020204"/>
              </a:endParaRPr>
            </a:p>
            <a:p>
              <a:pPr algn="ctr" defTabSz="1315720"/>
              <a:endParaRPr lang="zh-CN" altLang="en-US" dirty="0">
                <a:latin typeface="Source Han Sans CN Normal" panose="020B0600000000000000" charset="-122"/>
                <a:ea typeface="Source Han Sans CN Normal" panose="020B0600000000000000" charset="-122"/>
                <a:cs typeface="Arial" panose="020B0604020202020204"/>
              </a:endParaRPr>
            </a:p>
          </p:txBody>
        </p:sp>
        <p:sp>
          <p:nvSpPr>
            <p:cNvPr id="146" name="圆角矩形 145"/>
            <p:cNvSpPr/>
            <p:nvPr>
              <p:custDataLst>
                <p:tags r:id="rId1"/>
              </p:custDataLst>
            </p:nvPr>
          </p:nvSpPr>
          <p:spPr>
            <a:xfrm flipH="1">
              <a:off x="1352" y="1553"/>
              <a:ext cx="16784" cy="453"/>
            </a:xfrm>
            <a:prstGeom prst="roundRect">
              <a:avLst>
                <a:gd name="adj" fmla="val 15011"/>
              </a:avLst>
            </a:prstGeom>
            <a:gradFill>
              <a:gsLst>
                <a:gs pos="55000">
                  <a:srgbClr val="75FBCA">
                    <a:alpha val="3000"/>
                  </a:srgbClr>
                </a:gs>
                <a:gs pos="0">
                  <a:schemeClr val="accent1">
                    <a:alpha val="46000"/>
                  </a:schemeClr>
                </a:gs>
                <a:gs pos="100000">
                  <a:srgbClr val="92D050">
                    <a:alpha val="55000"/>
                  </a:srgb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algn="ctr">
                <a:spcBef>
                  <a:spcPct val="0"/>
                </a:spcBef>
                <a:spcAft>
                  <a:spcPct val="0"/>
                </a:spcAft>
              </a:pPr>
              <a:endParaRPr lang="zh-CN" altLang="en-US" dirty="0">
                <a:solidFill>
                  <a:schemeClr val="tx1"/>
                </a:solidFill>
                <a:highlight>
                  <a:srgbClr val="FFFF00"/>
                </a:highlight>
                <a:latin typeface="Source Han Sans CN Normal" panose="020B0600000000000000" charset="-122"/>
                <a:ea typeface="Source Han Sans CN Normal" panose="020B0600000000000000" charset="-122"/>
                <a:cs typeface="+mn-ea"/>
                <a:sym typeface="+mn-ea"/>
              </a:endParaRPr>
            </a:p>
          </p:txBody>
        </p:sp>
      </p:grpSp>
      <p:grpSp>
        <p:nvGrpSpPr>
          <p:cNvPr id="43" name="组合 42"/>
          <p:cNvGrpSpPr/>
          <p:nvPr/>
        </p:nvGrpSpPr>
        <p:grpSpPr>
          <a:xfrm rot="0">
            <a:off x="675640" y="986155"/>
            <a:ext cx="1521460" cy="976630"/>
            <a:chOff x="1078" y="1403"/>
            <a:chExt cx="2396" cy="1538"/>
          </a:xfrm>
        </p:grpSpPr>
        <p:sp>
          <p:nvSpPr>
            <p:cNvPr id="9" name="圆角矩形 8"/>
            <p:cNvSpPr/>
            <p:nvPr/>
          </p:nvSpPr>
          <p:spPr>
            <a:xfrm>
              <a:off x="1078" y="1403"/>
              <a:ext cx="2396" cy="1538"/>
            </a:xfrm>
            <a:prstGeom prst="roundRect">
              <a:avLst>
                <a:gd name="adj" fmla="val 11007"/>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oAutofit/>
            </a:bodyPr>
            <a:p>
              <a:pPr algn="l" rtl="0" eaLnBrk="0">
                <a:lnSpc>
                  <a:spcPct val="110000"/>
                </a:lnSpc>
              </a:pPr>
              <a:endParaRPr dirty="0">
                <a:latin typeface="Source Han Sans CN Normal" panose="020B0600000000000000" charset="-122"/>
                <a:ea typeface="Source Han Sans CN Normal" panose="020B0600000000000000" charset="-122"/>
                <a:cs typeface="Arial" panose="020B0604020202020204"/>
              </a:endParaRPr>
            </a:p>
            <a:p>
              <a:pPr algn="ctr" defTabSz="1315720"/>
              <a:endParaRPr lang="zh-CN" altLang="en-US" dirty="0">
                <a:latin typeface="Source Han Sans CN Normal" panose="020B0600000000000000" charset="-122"/>
                <a:ea typeface="Source Han Sans CN Normal" panose="020B0600000000000000" charset="-122"/>
                <a:cs typeface="Arial" panose="020B0604020202020204"/>
              </a:endParaRPr>
            </a:p>
          </p:txBody>
        </p:sp>
        <p:sp>
          <p:nvSpPr>
            <p:cNvPr id="13" name="文本框 12"/>
            <p:cNvSpPr txBox="1"/>
            <p:nvPr/>
          </p:nvSpPr>
          <p:spPr>
            <a:xfrm>
              <a:off x="1364" y="1634"/>
              <a:ext cx="1830" cy="1077"/>
            </a:xfrm>
            <a:prstGeom prst="rect">
              <a:avLst/>
            </a:prstGeom>
            <a:noFill/>
          </p:spPr>
          <p:txBody>
            <a:bodyPr wrap="square" lIns="0" tIns="0" rIns="0" bIns="0" rtlCol="0" anchor="ctr" anchorCtr="0">
              <a:noAutofit/>
            </a:bodyPr>
            <a:p>
              <a:pPr marL="40640" algn="ctr" rtl="0" eaLnBrk="0">
                <a:lnSpc>
                  <a:spcPct val="115000"/>
                </a:lnSpc>
                <a:spcBef>
                  <a:spcPts val="0"/>
                </a:spcBef>
              </a:pPr>
              <a:r>
                <a:rPr lang="zh-CN" kern="0" spc="140" dirty="0">
                  <a:solidFill>
                    <a:srgbClr val="FFFFFF">
                      <a:alpha val="100000"/>
                    </a:srgbClr>
                  </a:solidFill>
                  <a:latin typeface="Source Han Sans CN Normal" panose="020B0600000000000000" charset="-122"/>
                  <a:ea typeface="Source Han Sans CN Normal" panose="020B0600000000000000" charset="-122"/>
                  <a:cs typeface="黑体" panose="02010609060101010101" charset="-122"/>
                  <a:sym typeface="+mn-ea"/>
                </a:rPr>
                <a:t>关键目标达成</a:t>
              </a:r>
              <a:r>
                <a:rPr lang="zh-CN" kern="0" spc="140" dirty="0">
                  <a:solidFill>
                    <a:srgbClr val="FFFFFF">
                      <a:alpha val="100000"/>
                    </a:srgbClr>
                  </a:solidFill>
                  <a:latin typeface="Source Han Sans CN Normal" panose="020B0600000000000000" charset="-122"/>
                  <a:ea typeface="Source Han Sans CN Normal" panose="020B0600000000000000" charset="-122"/>
                  <a:cs typeface="黑体" panose="02010609060101010101" charset="-122"/>
                  <a:sym typeface="+mn-ea"/>
                </a:rPr>
                <a:t>进度</a:t>
              </a:r>
              <a:endParaRPr lang="zh-CN" kern="0" spc="140" dirty="0">
                <a:solidFill>
                  <a:srgbClr val="FFFFFF">
                    <a:alpha val="100000"/>
                  </a:srgbClr>
                </a:solidFill>
                <a:latin typeface="Source Han Sans CN Normal" panose="020B0600000000000000" charset="-122"/>
                <a:ea typeface="Source Han Sans CN Normal" panose="020B0600000000000000" charset="-122"/>
                <a:cs typeface="黑体" panose="02010609060101010101" charset="-122"/>
                <a:sym typeface="+mn-ea"/>
              </a:endParaRPr>
            </a:p>
          </p:txBody>
        </p:sp>
      </p:grpSp>
      <p:sp>
        <p:nvSpPr>
          <p:cNvPr id="8" name="textbox 42"/>
          <p:cNvSpPr/>
          <p:nvPr/>
        </p:nvSpPr>
        <p:spPr>
          <a:xfrm>
            <a:off x="2322195" y="1335405"/>
            <a:ext cx="1800000" cy="360045"/>
          </a:xfrm>
          <a:prstGeom prst="rect">
            <a:avLst/>
          </a:prstGeom>
          <a:noFill/>
          <a:ln w="0" cap="flat">
            <a:noFill/>
            <a:prstDash val="solid"/>
            <a:miter lim="0"/>
          </a:ln>
        </p:spPr>
        <p:txBody>
          <a:bodyPr vert="horz" wrap="square" lIns="0" tIns="0" rIns="0" bIns="0" anchor="ctr" anchorCtr="0"/>
          <a:p>
            <a:pPr algn="ctr" rtl="0" eaLnBrk="0">
              <a:lnSpc>
                <a:spcPct val="100000"/>
              </a:lnSpc>
            </a:pPr>
            <a:r>
              <a:rPr lang="en-US"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rPr>
              <a:t>{{</a:t>
            </a:r>
            <a:r>
              <a:rPr lang="en-US" altLang="zh-CN"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rPr>
              <a:t>cybersecurity_incident</a:t>
            </a:r>
            <a:r>
              <a:rPr lang="en-US"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rPr>
              <a:t>}}</a:t>
            </a:r>
            <a:endParaRPr lang="en-US"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endParaRPr>
          </a:p>
        </p:txBody>
      </p:sp>
      <p:sp>
        <p:nvSpPr>
          <p:cNvPr id="17" name="文本框 16"/>
          <p:cNvSpPr txBox="1"/>
          <p:nvPr/>
        </p:nvSpPr>
        <p:spPr>
          <a:xfrm>
            <a:off x="2322195" y="1696085"/>
            <a:ext cx="1800000" cy="215900"/>
          </a:xfrm>
          <a:prstGeom prst="rect">
            <a:avLst/>
          </a:prstGeom>
          <a:noFill/>
        </p:spPr>
        <p:txBody>
          <a:bodyPr wrap="square" rtlCol="0" anchor="ctr" anchorCtr="0">
            <a:noAutofit/>
          </a:bodyPr>
          <a:p>
            <a:pPr marL="12700" algn="ctr" rtl="0" eaLnBrk="0">
              <a:lnSpc>
                <a:spcPct val="100000"/>
              </a:lnSpc>
              <a:spcBef>
                <a:spcPts val="5"/>
              </a:spcBef>
            </a:pPr>
            <a:r>
              <a:rPr lang="zh-CN"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rPr>
              <a:t>网络安全事故</a:t>
            </a:r>
            <a:endParaRPr lang="zh-CN" altLang="en-US"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endParaRPr>
          </a:p>
        </p:txBody>
      </p:sp>
      <p:sp>
        <p:nvSpPr>
          <p:cNvPr id="18" name="textbox 42"/>
          <p:cNvSpPr/>
          <p:nvPr/>
        </p:nvSpPr>
        <p:spPr>
          <a:xfrm>
            <a:off x="4169185" y="1335405"/>
            <a:ext cx="1799590" cy="360045"/>
          </a:xfrm>
          <a:prstGeom prst="rect">
            <a:avLst/>
          </a:prstGeom>
          <a:noFill/>
          <a:ln w="0" cap="flat">
            <a:noFill/>
            <a:prstDash val="solid"/>
            <a:miter lim="0"/>
          </a:ln>
        </p:spPr>
        <p:txBody>
          <a:bodyPr vert="horz" wrap="square" lIns="0" tIns="0" rIns="0" bIns="0" anchor="ctr" anchorCtr="0"/>
          <a:p>
            <a:pPr algn="ctr" rtl="0" eaLnBrk="0">
              <a:lnSpc>
                <a:spcPct val="100000"/>
              </a:lnSpc>
            </a:pPr>
            <a:r>
              <a:rPr lang="en-US"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rPr>
              <a:t>{{</a:t>
            </a:r>
            <a:r>
              <a:rPr lang="en-US" altLang="zh-CN"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rPr>
              <a:t>proactive_protection</a:t>
            </a:r>
            <a:r>
              <a:rPr lang="en-US"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rPr>
              <a:t>}}</a:t>
            </a:r>
            <a:endParaRPr lang="en-US"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endParaRPr>
          </a:p>
        </p:txBody>
      </p:sp>
      <p:sp>
        <p:nvSpPr>
          <p:cNvPr id="19" name="文本框 18"/>
          <p:cNvSpPr txBox="1"/>
          <p:nvPr/>
        </p:nvSpPr>
        <p:spPr>
          <a:xfrm>
            <a:off x="4169185" y="1696085"/>
            <a:ext cx="1799590" cy="215900"/>
          </a:xfrm>
          <a:prstGeom prst="rect">
            <a:avLst/>
          </a:prstGeom>
          <a:noFill/>
        </p:spPr>
        <p:txBody>
          <a:bodyPr wrap="square" rtlCol="0" anchor="ctr" anchorCtr="0">
            <a:noAutofit/>
          </a:bodyPr>
          <a:p>
            <a:pPr marL="12700" algn="ctr" rtl="0" eaLnBrk="0">
              <a:lnSpc>
                <a:spcPct val="100000"/>
              </a:lnSpc>
              <a:spcBef>
                <a:spcPts val="5"/>
              </a:spcBef>
            </a:pPr>
            <a:r>
              <a:rPr lang="zh-CN"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rPr>
              <a:t>业务系统</a:t>
            </a:r>
            <a:r>
              <a:rPr lang="zh-CN"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rPr>
              <a:t>主动</a:t>
            </a:r>
            <a:r>
              <a:rPr lang="zh-CN"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rPr>
              <a:t>保护</a:t>
            </a:r>
            <a:endParaRPr lang="zh-CN"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endParaRPr>
          </a:p>
        </p:txBody>
      </p:sp>
      <p:sp>
        <p:nvSpPr>
          <p:cNvPr id="20" name="文本框 19"/>
          <p:cNvSpPr txBox="1"/>
          <p:nvPr/>
        </p:nvSpPr>
        <p:spPr>
          <a:xfrm>
            <a:off x="6015765" y="1696085"/>
            <a:ext cx="1799590" cy="215900"/>
          </a:xfrm>
          <a:prstGeom prst="rect">
            <a:avLst/>
          </a:prstGeom>
          <a:noFill/>
        </p:spPr>
        <p:txBody>
          <a:bodyPr wrap="square" rtlCol="0" anchor="ctr" anchorCtr="0">
            <a:noAutofit/>
          </a:bodyPr>
          <a:p>
            <a:pPr marL="12700" algn="ctr" rtl="0" eaLnBrk="0">
              <a:lnSpc>
                <a:spcPct val="100000"/>
              </a:lnSpc>
              <a:spcBef>
                <a:spcPts val="5"/>
              </a:spcBef>
            </a:pPr>
            <a:r>
              <a:rPr lang="zh-CN"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rPr>
              <a:t>被通报问题</a:t>
            </a:r>
            <a:endParaRPr lang="zh-CN"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endParaRPr>
          </a:p>
        </p:txBody>
      </p:sp>
      <p:sp>
        <p:nvSpPr>
          <p:cNvPr id="22" name="文本框 21"/>
          <p:cNvSpPr txBox="1"/>
          <p:nvPr/>
        </p:nvSpPr>
        <p:spPr>
          <a:xfrm>
            <a:off x="7862345" y="1696085"/>
            <a:ext cx="1799590" cy="215900"/>
          </a:xfrm>
          <a:prstGeom prst="rect">
            <a:avLst/>
          </a:prstGeom>
          <a:noFill/>
        </p:spPr>
        <p:txBody>
          <a:bodyPr wrap="square" rtlCol="0" anchor="ctr" anchorCtr="0">
            <a:noAutofit/>
          </a:bodyPr>
          <a:p>
            <a:pPr marL="12700" algn="ctr" rtl="0" eaLnBrk="0">
              <a:lnSpc>
                <a:spcPct val="100000"/>
              </a:lnSpc>
              <a:spcBef>
                <a:spcPts val="5"/>
              </a:spcBef>
            </a:pPr>
            <a:r>
              <a:rPr lang="zh-CN"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rPr>
              <a:t>安全</a:t>
            </a:r>
            <a:r>
              <a:rPr lang="zh-CN"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rPr>
              <a:t>事件</a:t>
            </a:r>
            <a:endParaRPr lang="zh-CN"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endParaRPr>
          </a:p>
        </p:txBody>
      </p:sp>
      <p:sp>
        <p:nvSpPr>
          <p:cNvPr id="24" name="textbox 42"/>
          <p:cNvSpPr/>
          <p:nvPr/>
        </p:nvSpPr>
        <p:spPr>
          <a:xfrm>
            <a:off x="9708925" y="1335405"/>
            <a:ext cx="1799590" cy="360045"/>
          </a:xfrm>
          <a:prstGeom prst="rect">
            <a:avLst/>
          </a:prstGeom>
          <a:noFill/>
          <a:ln w="0" cap="flat">
            <a:noFill/>
            <a:prstDash val="solid"/>
            <a:miter lim="0"/>
          </a:ln>
        </p:spPr>
        <p:txBody>
          <a:bodyPr vert="horz" wrap="square" lIns="0" tIns="0" rIns="0" bIns="0" anchor="ctr" anchorCtr="0"/>
          <a:p>
            <a:pPr algn="ctr" rtl="0" eaLnBrk="0">
              <a:lnSpc>
                <a:spcPct val="100000"/>
              </a:lnSpc>
            </a:pPr>
            <a:r>
              <a:rPr lang="en-US" altLang="zh-CN" b="1" kern="0" spc="-10" dirty="0">
                <a:solidFill>
                  <a:srgbClr val="0B4CBB">
                    <a:alpha val="100000"/>
                  </a:srgbClr>
                </a:solidFill>
                <a:latin typeface="Source Han Sans CN Bold" panose="020B0600000000000000" charset="-122"/>
                <a:ea typeface="Source Han Sans CN Bold" panose="020B0600000000000000" charset="-122"/>
                <a:cs typeface="Source Han Sans CN Bold" panose="020B0600000000000000" charset="-122"/>
              </a:rPr>
              <a:t>{{response_time}}</a:t>
            </a:r>
            <a:r>
              <a:rPr lang="zh-CN" altLang="en-US" sz="1200" b="1" kern="0" spc="-10" dirty="0">
                <a:solidFill>
                  <a:srgbClr val="00B050">
                    <a:alpha val="100000"/>
                  </a:srgbClr>
                </a:solidFill>
                <a:latin typeface="Source Han Sans CN Bold" panose="020B0600000000000000" charset="-122"/>
                <a:ea typeface="Source Han Sans CN Bold" panose="020B0600000000000000" charset="-122"/>
                <a:cs typeface="Source Han Sans CN Bold" panose="020B0600000000000000" charset="-122"/>
              </a:rPr>
              <a:t>分钟</a:t>
            </a:r>
            <a:endParaRPr lang="zh-CN" altLang="en-US" sz="1200" b="1" kern="0" spc="-10" dirty="0">
              <a:solidFill>
                <a:srgbClr val="00B050">
                  <a:alpha val="100000"/>
                </a:srgbClr>
              </a:solidFill>
              <a:latin typeface="Source Han Sans CN Bold" panose="020B0600000000000000" charset="-122"/>
              <a:ea typeface="Source Han Sans CN Bold" panose="020B0600000000000000" charset="-122"/>
              <a:cs typeface="Source Han Sans CN Bold" panose="020B0600000000000000" charset="-122"/>
            </a:endParaRPr>
          </a:p>
        </p:txBody>
      </p:sp>
      <p:sp>
        <p:nvSpPr>
          <p:cNvPr id="26" name="文本框 25"/>
          <p:cNvSpPr txBox="1"/>
          <p:nvPr/>
        </p:nvSpPr>
        <p:spPr>
          <a:xfrm>
            <a:off x="9708925" y="1696085"/>
            <a:ext cx="1799590" cy="215900"/>
          </a:xfrm>
          <a:prstGeom prst="rect">
            <a:avLst/>
          </a:prstGeom>
          <a:noFill/>
        </p:spPr>
        <p:txBody>
          <a:bodyPr wrap="square" rtlCol="0" anchor="ctr" anchorCtr="0">
            <a:noAutofit/>
          </a:bodyPr>
          <a:p>
            <a:pPr marL="12700" algn="ctr" rtl="0" eaLnBrk="0">
              <a:lnSpc>
                <a:spcPct val="100000"/>
              </a:lnSpc>
              <a:spcBef>
                <a:spcPts val="5"/>
              </a:spcBef>
            </a:pPr>
            <a:r>
              <a:rPr lang="zh-CN"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rPr>
              <a:t>事件平均处置</a:t>
            </a:r>
            <a:r>
              <a:rPr lang="zh-CN"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rPr>
              <a:t>时间</a:t>
            </a:r>
            <a:endParaRPr lang="zh-CN"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endParaRPr>
          </a:p>
        </p:txBody>
      </p:sp>
      <p:grpSp>
        <p:nvGrpSpPr>
          <p:cNvPr id="3" name="组合 2"/>
          <p:cNvGrpSpPr/>
          <p:nvPr/>
        </p:nvGrpSpPr>
        <p:grpSpPr>
          <a:xfrm>
            <a:off x="224790" y="289878"/>
            <a:ext cx="3423285" cy="327025"/>
            <a:chOff x="533" y="646"/>
            <a:chExt cx="5391" cy="515"/>
          </a:xfrm>
        </p:grpSpPr>
        <p:grpSp>
          <p:nvGrpSpPr>
            <p:cNvPr id="5" name="组合 4"/>
            <p:cNvGrpSpPr/>
            <p:nvPr/>
          </p:nvGrpSpPr>
          <p:grpSpPr>
            <a:xfrm rot="0">
              <a:off x="533" y="672"/>
              <a:ext cx="582" cy="420"/>
              <a:chOff x="533" y="672"/>
              <a:chExt cx="582" cy="420"/>
            </a:xfrm>
          </p:grpSpPr>
          <p:sp>
            <p:nvSpPr>
              <p:cNvPr id="10" name="燕尾形 86"/>
              <p:cNvSpPr/>
              <p:nvPr>
                <p:custDataLst>
                  <p:tags r:id="rId2"/>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30" name="燕尾形 103"/>
              <p:cNvSpPr/>
              <p:nvPr>
                <p:custDataLst>
                  <p:tags r:id="rId3"/>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34" name="textbox 158"/>
            <p:cNvSpPr/>
            <p:nvPr/>
          </p:nvSpPr>
          <p:spPr>
            <a:xfrm>
              <a:off x="1345" y="646"/>
              <a:ext cx="4579" cy="515"/>
            </a:xfrm>
            <a:prstGeom prst="rect">
              <a:avLst/>
            </a:prstGeom>
            <a:noFill/>
            <a:ln w="0" cap="flat">
              <a:noFill/>
              <a:prstDash val="solid"/>
              <a:miter lim="0"/>
            </a:ln>
          </p:spPr>
          <p:txBody>
            <a:bodyPr vert="horz" wrap="square" lIns="0" tIns="0" rIns="0" bIns="0" anchor="ctr" anchorCtr="0"/>
            <a:p>
              <a:pPr algn="l" rtl="0" eaLnBrk="0">
                <a:lnSpc>
                  <a:spcPct val="100000"/>
                </a:lnSpc>
              </a:pPr>
              <a:r>
                <a:rPr lang="zh-CN" altLang="en-US" sz="1900" b="1" noProof="0" dirty="0">
                  <a:solidFill>
                    <a:schemeClr val="tx1">
                      <a:lumMod val="85000"/>
                      <a:lumOff val="15000"/>
                    </a:schemeClr>
                  </a:solidFill>
                  <a:uLnTx/>
                  <a:latin typeface="微软雅黑" panose="020B0503020204020204" charset="-122"/>
                  <a:ea typeface="微软雅黑" panose="020B0503020204020204" charset="-122"/>
                  <a:sym typeface="Calibri" panose="020F0502020204030204" charset="0"/>
                </a:rPr>
                <a:t>安全运营总览</a:t>
              </a:r>
              <a:endParaRPr lang="zh-CN" altLang="en-US" sz="1900" b="1" noProof="0" dirty="0">
                <a:solidFill>
                  <a:schemeClr val="tx1">
                    <a:lumMod val="85000"/>
                    <a:lumOff val="15000"/>
                  </a:schemeClr>
                </a:solidFill>
                <a:uLnTx/>
                <a:latin typeface="微软雅黑" panose="020B0503020204020204" charset="-122"/>
                <a:ea typeface="微软雅黑" panose="020B0503020204020204" charset="-122"/>
                <a:sym typeface="Calibri" panose="020F0502020204030204" charset="0"/>
              </a:endParaRPr>
            </a:p>
          </p:txBody>
        </p:sp>
      </p:grpSp>
      <p:pic>
        <p:nvPicPr>
          <p:cNvPr id="36" name="图片 35" descr="深信服 + 智安全"/>
          <p:cNvPicPr>
            <a:picLocks noChangeAspect="1"/>
          </p:cNvPicPr>
          <p:nvPr/>
        </p:nvPicPr>
        <p:blipFill>
          <a:blip r:embed="rId4"/>
          <a:srcRect l="5232" t="26576" r="4938" b="29565"/>
          <a:stretch>
            <a:fillRect/>
          </a:stretch>
        </p:blipFill>
        <p:spPr>
          <a:xfrm>
            <a:off x="10330815" y="273073"/>
            <a:ext cx="1629867" cy="360000"/>
          </a:xfrm>
          <a:prstGeom prst="rect">
            <a:avLst/>
          </a:prstGeom>
        </p:spPr>
      </p:pic>
      <p:sp>
        <p:nvSpPr>
          <p:cNvPr id="54" name="文本框 53"/>
          <p:cNvSpPr txBox="1"/>
          <p:nvPr/>
        </p:nvSpPr>
        <p:spPr>
          <a:xfrm>
            <a:off x="9935845" y="2327275"/>
            <a:ext cx="1603375" cy="4423410"/>
          </a:xfrm>
          <a:prstGeom prst="rect">
            <a:avLst/>
          </a:prstGeom>
          <a:solidFill>
            <a:sysClr val="window" lastClr="FFFFFF">
              <a:lumMod val="95000"/>
            </a:sysClr>
          </a:solidFill>
        </p:spPr>
        <p:txBody>
          <a:bodyPr wrap="square" rtlCol="0">
            <a:noAutofit/>
          </a:bodyPr>
          <a:p>
            <a:endParaRPr lang="zh-CN" altLang="en-US" sz="2400"/>
          </a:p>
        </p:txBody>
      </p:sp>
      <p:pic>
        <p:nvPicPr>
          <p:cNvPr id="55" name="图片 54" descr="组 33832@2x (1)"/>
          <p:cNvPicPr>
            <a:picLocks noChangeAspect="1"/>
          </p:cNvPicPr>
          <p:nvPr/>
        </p:nvPicPr>
        <p:blipFill>
          <a:blip r:embed="rId5"/>
          <a:stretch>
            <a:fillRect/>
          </a:stretch>
        </p:blipFill>
        <p:spPr>
          <a:xfrm>
            <a:off x="0" y="3156585"/>
            <a:ext cx="10034270" cy="3594100"/>
          </a:xfrm>
          <a:prstGeom prst="rect">
            <a:avLst/>
          </a:prstGeom>
        </p:spPr>
      </p:pic>
      <p:sp>
        <p:nvSpPr>
          <p:cNvPr id="56" name="椭圆 55"/>
          <p:cNvSpPr/>
          <p:nvPr/>
        </p:nvSpPr>
        <p:spPr>
          <a:xfrm>
            <a:off x="7504430" y="4288155"/>
            <a:ext cx="2442845" cy="1725930"/>
          </a:xfrm>
          <a:prstGeom prst="ellipse">
            <a:avLst/>
          </a:prstGeom>
          <a:gradFill>
            <a:gsLst>
              <a:gs pos="100000">
                <a:schemeClr val="bg1"/>
              </a:gs>
              <a:gs pos="0">
                <a:schemeClr val="bg1">
                  <a:alpha val="28000"/>
                </a:schemeClr>
              </a:gs>
            </a:gsLst>
            <a:lin ang="5400000" scaled="0"/>
          </a:gradFill>
          <a:ln>
            <a:solidFill>
              <a:schemeClr val="tx2">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7" name="椭圆 56"/>
          <p:cNvSpPr/>
          <p:nvPr/>
        </p:nvSpPr>
        <p:spPr>
          <a:xfrm>
            <a:off x="7504430" y="3048000"/>
            <a:ext cx="2442845" cy="1725930"/>
          </a:xfrm>
          <a:prstGeom prst="ellipse">
            <a:avLst/>
          </a:prstGeom>
          <a:gradFill>
            <a:gsLst>
              <a:gs pos="0">
                <a:schemeClr val="bg1"/>
              </a:gs>
              <a:gs pos="100000">
                <a:schemeClr val="bg1">
                  <a:alpha val="0"/>
                </a:schemeClr>
              </a:gs>
            </a:gsLst>
            <a:lin ang="5400000" scaled="0"/>
          </a:gradFill>
          <a:ln>
            <a:solidFill>
              <a:schemeClr val="tx2">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8" name="文本框 57"/>
          <p:cNvSpPr txBox="1"/>
          <p:nvPr>
            <p:custDataLst>
              <p:tags r:id="rId6"/>
            </p:custDataLst>
          </p:nvPr>
        </p:nvSpPr>
        <p:spPr>
          <a:xfrm>
            <a:off x="9970770" y="2424430"/>
            <a:ext cx="1429385" cy="288290"/>
          </a:xfrm>
          <a:prstGeom prst="rect">
            <a:avLst/>
          </a:prstGeom>
          <a:noFill/>
        </p:spPr>
        <p:txBody>
          <a:bodyPr wrap="square" lIns="91440" tIns="45720" rIns="91440" bIns="45720" rtlCol="0" anchor="t" anchorCtr="0">
            <a:noAutofit/>
          </a:bodyPr>
          <a:p>
            <a:pPr lvl="0" algn="ctr" eaLnBrk="0">
              <a:lnSpc>
                <a:spcPct val="76000"/>
              </a:lnSpc>
              <a:spcBef>
                <a:spcPts val="520"/>
              </a:spcBef>
              <a:buClrTx/>
              <a:buSzTx/>
              <a:buFontTx/>
            </a:pPr>
            <a:r>
              <a:rPr lang="en-US" altLang="zh-CN" sz="1400" b="1" kern="0" spc="-20" dirty="0">
                <a:solidFill>
                  <a:srgbClr val="2040C0">
                    <a:alpha val="100000"/>
                  </a:srgbClr>
                </a:solidFill>
                <a:latin typeface="Times New Roman" panose="02020603050405020304"/>
                <a:ea typeface="宋体" panose="02010600030101010101" pitchFamily="2" charset="-122"/>
                <a:cs typeface="Times New Roman" panose="02020603050405020304"/>
                <a:sym typeface="+mn-ea"/>
              </a:rPr>
              <a:t>{{AF_protection_path_coverage_rate}}</a:t>
            </a:r>
            <a:endParaRPr lang="zh-CN" altLang="en-US" sz="1400" b="1" kern="0" spc="-20" dirty="0">
              <a:solidFill>
                <a:srgbClr val="2040C0">
                  <a:alpha val="100000"/>
                </a:srgbClr>
              </a:solidFill>
              <a:latin typeface="Times New Roman" panose="02020603050405020304"/>
              <a:ea typeface="宋体" panose="02010600030101010101" pitchFamily="2" charset="-122"/>
              <a:cs typeface="Times New Roman" panose="02020603050405020304"/>
              <a:sym typeface="+mn-ea"/>
            </a:endParaRPr>
          </a:p>
        </p:txBody>
      </p:sp>
      <p:sp>
        <p:nvSpPr>
          <p:cNvPr id="59" name="矩形 58"/>
          <p:cNvSpPr/>
          <p:nvPr>
            <p:custDataLst>
              <p:tags r:id="rId7"/>
            </p:custDataLst>
          </p:nvPr>
        </p:nvSpPr>
        <p:spPr>
          <a:xfrm>
            <a:off x="10010389" y="2712430"/>
            <a:ext cx="1440000" cy="360000"/>
          </a:xfrm>
          <a:prstGeom prst="rect">
            <a:avLst/>
          </a:prstGeom>
          <a:noFill/>
        </p:spPr>
        <p:txBody>
          <a:bodyPr wrap="square" lIns="0" tIns="0" rIns="0" bIns="0" rtlCol="0" anchor="ctr" anchorCtr="0">
            <a:noAutofit/>
          </a:bodyPr>
          <a:p>
            <a:pPr indent="0" algn="ctr" fontAlgn="auto">
              <a:lnSpc>
                <a:spcPct val="120000"/>
              </a:lnSpc>
              <a:spcBef>
                <a:spcPct val="0"/>
              </a:spcBef>
              <a:spcAft>
                <a:spcPct val="0"/>
              </a:spcAft>
            </a:pPr>
            <a:r>
              <a:rPr lang="zh-CN" altLang="en-US" sz="900">
                <a:ln>
                  <a:noFill/>
                  <a:prstDash val="sysDot"/>
                </a:ln>
                <a:solidFill>
                  <a:schemeClr val="tx1"/>
                </a:solidFill>
                <a:uFillTx/>
                <a:latin typeface="黑体" panose="02010609060101010101" charset="-122"/>
                <a:ea typeface="黑体" panose="02010609060101010101" charset="-122"/>
                <a:cs typeface="+mn-ea"/>
                <a:sym typeface="+mn-ea"/>
              </a:rPr>
              <a:t>互联网攻击路径防护率</a:t>
            </a:r>
            <a:endParaRPr lang="en-US" altLang="zh-CN" sz="900">
              <a:ln>
                <a:noFill/>
                <a:prstDash val="sysDot"/>
              </a:ln>
              <a:solidFill>
                <a:srgbClr val="00B050"/>
              </a:solidFill>
              <a:uFillTx/>
              <a:latin typeface="黑体" panose="02010609060101010101" charset="-122"/>
              <a:ea typeface="黑体" panose="02010609060101010101" charset="-122"/>
              <a:cs typeface="+mn-ea"/>
              <a:sym typeface="+mn-ea"/>
            </a:endParaRPr>
          </a:p>
        </p:txBody>
      </p:sp>
      <p:sp>
        <p:nvSpPr>
          <p:cNvPr id="60" name="文本框 59"/>
          <p:cNvSpPr txBox="1"/>
          <p:nvPr>
            <p:custDataLst>
              <p:tags r:id="rId8"/>
            </p:custDataLst>
          </p:nvPr>
        </p:nvSpPr>
        <p:spPr>
          <a:xfrm>
            <a:off x="9871710" y="4170045"/>
            <a:ext cx="1609725" cy="287655"/>
          </a:xfrm>
          <a:prstGeom prst="rect">
            <a:avLst/>
          </a:prstGeom>
          <a:noFill/>
        </p:spPr>
        <p:txBody>
          <a:bodyPr wrap="square" lIns="91440" tIns="45720" rIns="91440" bIns="45720" rtlCol="0" anchor="t" anchorCtr="0">
            <a:noAutofit/>
          </a:bodyPr>
          <a:p>
            <a:pPr lvl="0" algn="ctr" eaLnBrk="0">
              <a:lnSpc>
                <a:spcPct val="76000"/>
              </a:lnSpc>
              <a:spcBef>
                <a:spcPts val="520"/>
              </a:spcBef>
              <a:buClrTx/>
              <a:buSzTx/>
              <a:buFontTx/>
            </a:pPr>
            <a:r>
              <a:rPr lang="en-US" altLang="zh-CN" sz="1400" b="1" kern="0" spc="-20" dirty="0">
                <a:solidFill>
                  <a:srgbClr val="2040C0">
                    <a:alpha val="100000"/>
                  </a:srgbClr>
                </a:solidFill>
                <a:latin typeface="Times New Roman" panose="02020603050405020304"/>
                <a:ea typeface="宋体" panose="02010600030101010101" pitchFamily="2" charset="-122"/>
                <a:cs typeface="Times New Roman" panose="02020603050405020304"/>
                <a:sym typeface="+mn-ea"/>
              </a:rPr>
              <a:t>{{AES_installation_coverage_rate}}</a:t>
            </a:r>
            <a:endParaRPr lang="zh-CN" altLang="en-US" sz="1400" b="1" kern="0" spc="-20" dirty="0">
              <a:solidFill>
                <a:srgbClr val="2040C0">
                  <a:alpha val="100000"/>
                </a:srgbClr>
              </a:solidFill>
              <a:latin typeface="Times New Roman" panose="02020603050405020304"/>
              <a:ea typeface="宋体" panose="02010600030101010101" pitchFamily="2" charset="-122"/>
              <a:cs typeface="Times New Roman" panose="02020603050405020304"/>
              <a:sym typeface="+mn-ea"/>
            </a:endParaRPr>
          </a:p>
        </p:txBody>
      </p:sp>
      <p:sp>
        <p:nvSpPr>
          <p:cNvPr id="61" name="矩形 60"/>
          <p:cNvSpPr/>
          <p:nvPr>
            <p:custDataLst>
              <p:tags r:id="rId9"/>
            </p:custDataLst>
          </p:nvPr>
        </p:nvSpPr>
        <p:spPr>
          <a:xfrm>
            <a:off x="10021184" y="4458000"/>
            <a:ext cx="1440000" cy="359410"/>
          </a:xfrm>
          <a:prstGeom prst="rect">
            <a:avLst/>
          </a:prstGeom>
          <a:noFill/>
        </p:spPr>
        <p:txBody>
          <a:bodyPr wrap="square" lIns="0" tIns="0" rIns="0" bIns="0" rtlCol="0" anchor="ctr" anchorCtr="0">
            <a:noAutofit/>
          </a:bodyPr>
          <a:p>
            <a:pPr algn="ctr" rtl="0" eaLnBrk="0">
              <a:lnSpc>
                <a:spcPct val="127000"/>
              </a:lnSpc>
            </a:pPr>
            <a:r>
              <a:rPr lang="zh-CN" sz="9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业务资产端点</a:t>
            </a:r>
            <a:r>
              <a:rPr lang="zh-CN" sz="9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防护覆盖率</a:t>
            </a:r>
            <a:endParaRPr lang="en-US" altLang="zh-CN" sz="9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62" name="文本框 61"/>
          <p:cNvSpPr txBox="1"/>
          <p:nvPr>
            <p:custDataLst>
              <p:tags r:id="rId10"/>
            </p:custDataLst>
          </p:nvPr>
        </p:nvSpPr>
        <p:spPr>
          <a:xfrm>
            <a:off x="9830435" y="3297555"/>
            <a:ext cx="1752600" cy="287655"/>
          </a:xfrm>
          <a:prstGeom prst="rect">
            <a:avLst/>
          </a:prstGeom>
          <a:noFill/>
        </p:spPr>
        <p:txBody>
          <a:bodyPr wrap="square" lIns="91440" tIns="45720" rIns="91440" bIns="45720" rtlCol="0" anchor="t" anchorCtr="0">
            <a:noAutofit/>
          </a:bodyPr>
          <a:p>
            <a:pPr lvl="0" algn="ctr" eaLnBrk="0">
              <a:lnSpc>
                <a:spcPct val="76000"/>
              </a:lnSpc>
              <a:spcBef>
                <a:spcPts val="520"/>
              </a:spcBef>
              <a:buClrTx/>
              <a:buSzTx/>
              <a:buFontTx/>
            </a:pPr>
            <a:r>
              <a:rPr lang="en-US" altLang="zh-CN" sz="1400" b="1" kern="0" spc="-20" dirty="0">
                <a:solidFill>
                  <a:srgbClr val="2040C0">
                    <a:alpha val="100000"/>
                  </a:srgbClr>
                </a:solidFill>
                <a:latin typeface="Times New Roman" panose="02020603050405020304"/>
                <a:ea typeface="宋体" panose="02010600030101010101" pitchFamily="2" charset="-122"/>
                <a:cs typeface="Times New Roman" panose="02020603050405020304"/>
                <a:sym typeface="+mn-ea"/>
              </a:rPr>
              <a:t>{{probe_traffic_monitoring_coverage_rate}}</a:t>
            </a:r>
            <a:endParaRPr lang="zh-CN" altLang="en-US" sz="1400" b="1" kern="0" spc="-20" dirty="0">
              <a:solidFill>
                <a:srgbClr val="2040C0">
                  <a:alpha val="100000"/>
                </a:srgbClr>
              </a:solidFill>
              <a:latin typeface="Times New Roman" panose="02020603050405020304"/>
              <a:ea typeface="宋体" panose="02010600030101010101" pitchFamily="2" charset="-122"/>
              <a:cs typeface="Times New Roman" panose="02020603050405020304"/>
              <a:sym typeface="+mn-ea"/>
            </a:endParaRPr>
          </a:p>
        </p:txBody>
      </p:sp>
      <p:sp>
        <p:nvSpPr>
          <p:cNvPr id="63" name="矩形 62"/>
          <p:cNvSpPr/>
          <p:nvPr>
            <p:custDataLst>
              <p:tags r:id="rId11"/>
            </p:custDataLst>
          </p:nvPr>
        </p:nvSpPr>
        <p:spPr>
          <a:xfrm>
            <a:off x="10031979" y="3585510"/>
            <a:ext cx="1440000" cy="359410"/>
          </a:xfrm>
          <a:prstGeom prst="rect">
            <a:avLst/>
          </a:prstGeom>
          <a:noFill/>
        </p:spPr>
        <p:txBody>
          <a:bodyPr wrap="square" lIns="0" tIns="0" rIns="0" bIns="0" rtlCol="0" anchor="ctr" anchorCtr="0">
            <a:noAutofit/>
          </a:bodyPr>
          <a:p>
            <a:pPr algn="ctr" rtl="0" eaLnBrk="0">
              <a:lnSpc>
                <a:spcPct val="127000"/>
              </a:lnSpc>
            </a:pPr>
            <a:r>
              <a:rPr lang="zh-CN" sz="9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资产流量监测覆盖率</a:t>
            </a:r>
            <a:endParaRPr lang="en-US" altLang="zh-CN" sz="9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64" name="文本框 63"/>
          <p:cNvSpPr txBox="1"/>
          <p:nvPr>
            <p:custDataLst>
              <p:tags r:id="rId12"/>
            </p:custDataLst>
          </p:nvPr>
        </p:nvSpPr>
        <p:spPr>
          <a:xfrm>
            <a:off x="9916795" y="5914390"/>
            <a:ext cx="1565275" cy="287655"/>
          </a:xfrm>
          <a:prstGeom prst="rect">
            <a:avLst/>
          </a:prstGeom>
          <a:noFill/>
        </p:spPr>
        <p:txBody>
          <a:bodyPr wrap="square" lIns="91440" tIns="45720" rIns="91440" bIns="45720" rtlCol="0" anchor="t" anchorCtr="0">
            <a:noAutofit/>
          </a:bodyPr>
          <a:p>
            <a:pPr lvl="0" algn="ctr" eaLnBrk="0">
              <a:lnSpc>
                <a:spcPct val="76000"/>
              </a:lnSpc>
              <a:spcBef>
                <a:spcPts val="520"/>
              </a:spcBef>
              <a:buClrTx/>
              <a:buSzTx/>
              <a:buFontTx/>
            </a:pPr>
            <a:r>
              <a:rPr lang="en-US" altLang="zh-CN" sz="1400" b="1" kern="0" spc="-20" dirty="0">
                <a:solidFill>
                  <a:srgbClr val="2040C0">
                    <a:alpha val="100000"/>
                  </a:srgbClr>
                </a:solidFill>
                <a:latin typeface="Times New Roman" panose="02020603050405020304"/>
                <a:ea typeface="宋体" panose="02010600030101010101" pitchFamily="2" charset="-122"/>
                <a:cs typeface="Times New Roman" panose="02020603050405020304"/>
                <a:sym typeface="+mn-ea"/>
              </a:rPr>
              <a:t>{{alert_manual_analysis_ratio}}</a:t>
            </a:r>
            <a:endParaRPr lang="zh-CN" altLang="en-US" sz="1400" b="1" kern="0" spc="-20" dirty="0">
              <a:solidFill>
                <a:srgbClr val="2040C0">
                  <a:alpha val="100000"/>
                </a:srgbClr>
              </a:solidFill>
              <a:latin typeface="Times New Roman" panose="02020603050405020304"/>
              <a:ea typeface="宋体" panose="02010600030101010101" pitchFamily="2" charset="-122"/>
              <a:cs typeface="Times New Roman" panose="02020603050405020304"/>
              <a:sym typeface="+mn-ea"/>
            </a:endParaRPr>
          </a:p>
        </p:txBody>
      </p:sp>
      <p:sp>
        <p:nvSpPr>
          <p:cNvPr id="65" name="矩形 64"/>
          <p:cNvSpPr/>
          <p:nvPr>
            <p:custDataLst>
              <p:tags r:id="rId13"/>
            </p:custDataLst>
          </p:nvPr>
        </p:nvSpPr>
        <p:spPr>
          <a:xfrm>
            <a:off x="9956414" y="6202980"/>
            <a:ext cx="1440000" cy="359410"/>
          </a:xfrm>
          <a:prstGeom prst="rect">
            <a:avLst/>
          </a:prstGeom>
          <a:noFill/>
        </p:spPr>
        <p:txBody>
          <a:bodyPr wrap="square" lIns="0" tIns="0" rIns="0" bIns="0" rtlCol="0" anchor="ctr" anchorCtr="0">
            <a:noAutofit/>
          </a:bodyPr>
          <a:p>
            <a:pPr algn="ctr" rtl="0" eaLnBrk="0">
              <a:lnSpc>
                <a:spcPct val="127000"/>
              </a:lnSpc>
            </a:pPr>
            <a:r>
              <a:rPr lang="zh-CN" sz="900" kern="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安全告警分析专家复审</a:t>
            </a:r>
            <a:r>
              <a:rPr lang="zh-CN" sz="900" kern="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率</a:t>
            </a:r>
            <a:endParaRPr lang="zh-CN" sz="900" kern="0" spc="1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66" name="文本框 65"/>
          <p:cNvSpPr txBox="1"/>
          <p:nvPr>
            <p:custDataLst>
              <p:tags r:id="rId14"/>
            </p:custDataLst>
          </p:nvPr>
        </p:nvSpPr>
        <p:spPr>
          <a:xfrm>
            <a:off x="10100310" y="5042535"/>
            <a:ext cx="1259840" cy="287020"/>
          </a:xfrm>
          <a:prstGeom prst="rect">
            <a:avLst/>
          </a:prstGeom>
          <a:noFill/>
        </p:spPr>
        <p:txBody>
          <a:bodyPr wrap="square" lIns="91440" tIns="45720" rIns="91440" bIns="45720" rtlCol="0" anchor="t" anchorCtr="0">
            <a:noAutofit/>
          </a:bodyPr>
          <a:p>
            <a:pPr lvl="0" algn="ctr" eaLnBrk="0">
              <a:lnSpc>
                <a:spcPct val="76000"/>
              </a:lnSpc>
              <a:spcBef>
                <a:spcPts val="520"/>
              </a:spcBef>
              <a:buClrTx/>
              <a:buSzTx/>
              <a:buFontTx/>
            </a:pPr>
            <a:r>
              <a:rPr lang="en-US" altLang="zh-CN" sz="1400" b="1" kern="0" spc="-20" dirty="0">
                <a:solidFill>
                  <a:srgbClr val="2040C0">
                    <a:alpha val="100000"/>
                  </a:srgbClr>
                </a:solidFill>
                <a:latin typeface="Times New Roman" panose="02020603050405020304"/>
                <a:ea typeface="宋体" panose="02010600030101010101" pitchFamily="2" charset="-122"/>
                <a:cs typeface="Times New Roman" panose="02020603050405020304"/>
                <a:sym typeface="+mn-ea"/>
              </a:rPr>
              <a:t>{{alert_automatic_analysis_ratio}}</a:t>
            </a:r>
            <a:endParaRPr lang="zh-CN" altLang="en-US" sz="1400" b="1" kern="0" spc="-20" dirty="0">
              <a:solidFill>
                <a:srgbClr val="2040C0">
                  <a:alpha val="100000"/>
                </a:srgbClr>
              </a:solidFill>
              <a:latin typeface="Times New Roman" panose="02020603050405020304"/>
              <a:ea typeface="宋体" panose="02010600030101010101" pitchFamily="2" charset="-122"/>
              <a:cs typeface="Times New Roman" panose="02020603050405020304"/>
              <a:sym typeface="+mn-ea"/>
            </a:endParaRPr>
          </a:p>
        </p:txBody>
      </p:sp>
      <p:sp>
        <p:nvSpPr>
          <p:cNvPr id="67" name="矩形 66"/>
          <p:cNvSpPr/>
          <p:nvPr>
            <p:custDataLst>
              <p:tags r:id="rId15"/>
            </p:custDataLst>
          </p:nvPr>
        </p:nvSpPr>
        <p:spPr>
          <a:xfrm>
            <a:off x="10021184" y="5330490"/>
            <a:ext cx="1440000" cy="359410"/>
          </a:xfrm>
          <a:prstGeom prst="rect">
            <a:avLst/>
          </a:prstGeom>
          <a:noFill/>
        </p:spPr>
        <p:txBody>
          <a:bodyPr wrap="square" lIns="0" tIns="0" rIns="0" bIns="0" rtlCol="0" anchor="ctr" anchorCtr="0">
            <a:noAutofit/>
          </a:bodyPr>
          <a:p>
            <a:pPr algn="ctr" rtl="0" eaLnBrk="0">
              <a:lnSpc>
                <a:spcPct val="127000"/>
              </a:lnSpc>
            </a:pPr>
            <a:r>
              <a:rPr lang="zh-CN" sz="900" kern="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安全告警分析</a:t>
            </a:r>
            <a:r>
              <a:rPr lang="zh-CN" sz="900" kern="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自动化率</a:t>
            </a:r>
            <a:endParaRPr lang="zh-CN" sz="900" kern="0" spc="1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68" name="组合 67"/>
          <p:cNvGrpSpPr/>
          <p:nvPr/>
        </p:nvGrpSpPr>
        <p:grpSpPr>
          <a:xfrm>
            <a:off x="580390" y="2997200"/>
            <a:ext cx="1788795" cy="429895"/>
            <a:chOff x="449" y="3978"/>
            <a:chExt cx="2817" cy="677"/>
          </a:xfrm>
        </p:grpSpPr>
        <p:pic>
          <p:nvPicPr>
            <p:cNvPr id="69" name="图片 68" descr="LOGO-AF@1x"/>
            <p:cNvPicPr>
              <a:picLocks noChangeAspect="1"/>
            </p:cNvPicPr>
            <p:nvPr/>
          </p:nvPicPr>
          <p:blipFill>
            <a:blip r:embed="rId16"/>
            <a:stretch>
              <a:fillRect/>
            </a:stretch>
          </p:blipFill>
          <p:spPr>
            <a:xfrm>
              <a:off x="449" y="4001"/>
              <a:ext cx="628" cy="628"/>
            </a:xfrm>
            <a:prstGeom prst="rect">
              <a:avLst/>
            </a:prstGeom>
          </p:spPr>
        </p:pic>
        <p:sp>
          <p:nvSpPr>
            <p:cNvPr id="70" name="文本框 69"/>
            <p:cNvSpPr txBox="1"/>
            <p:nvPr/>
          </p:nvSpPr>
          <p:spPr>
            <a:xfrm>
              <a:off x="1046" y="3978"/>
              <a:ext cx="2220" cy="677"/>
            </a:xfrm>
            <a:prstGeom prst="rect">
              <a:avLst/>
            </a:prstGeom>
            <a:noFill/>
          </p:spPr>
          <p:txBody>
            <a:bodyPr wrap="square" rtlCol="0" anchor="ctr" anchorCtr="0">
              <a:spAutoFit/>
            </a:bodyPr>
            <a:p>
              <a:pPr algn="l">
                <a:lnSpc>
                  <a:spcPct val="100000"/>
                </a:lnSpc>
              </a:pPr>
              <a:r>
                <a:rPr lang="zh-CN" altLang="en-US"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边界下一代防火墙</a:t>
              </a:r>
              <a:endParaRPr lang="zh-CN" altLang="en-US"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a:p>
              <a:pPr algn="l">
                <a:lnSpc>
                  <a:spcPct val="100000"/>
                </a:lnSpc>
              </a:pPr>
              <a:r>
                <a:rPr lang="en-US" altLang="zh-CN" sz="10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AF*{{AF_count}}</a:t>
              </a:r>
              <a:endParaRPr lang="zh-CN" altLang="en-US" sz="1000" dirty="0">
                <a:solidFill>
                  <a:srgbClr val="4C61E7"/>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71" name="组合 70"/>
          <p:cNvGrpSpPr/>
          <p:nvPr/>
        </p:nvGrpSpPr>
        <p:grpSpPr>
          <a:xfrm>
            <a:off x="580390" y="3824605"/>
            <a:ext cx="1788795" cy="614045"/>
            <a:chOff x="449" y="5281"/>
            <a:chExt cx="2817" cy="967"/>
          </a:xfrm>
        </p:grpSpPr>
        <p:pic>
          <p:nvPicPr>
            <p:cNvPr id="72" name="图片 71" descr="LOGO-STA@1x"/>
            <p:cNvPicPr>
              <a:picLocks noChangeAspect="1"/>
            </p:cNvPicPr>
            <p:nvPr/>
          </p:nvPicPr>
          <p:blipFill>
            <a:blip r:embed="rId17"/>
            <a:stretch>
              <a:fillRect/>
            </a:stretch>
          </p:blipFill>
          <p:spPr>
            <a:xfrm>
              <a:off x="449" y="5449"/>
              <a:ext cx="628" cy="628"/>
            </a:xfrm>
            <a:prstGeom prst="rect">
              <a:avLst/>
            </a:prstGeom>
          </p:spPr>
        </p:pic>
        <p:sp>
          <p:nvSpPr>
            <p:cNvPr id="73" name="文本框 72"/>
            <p:cNvSpPr txBox="1"/>
            <p:nvPr/>
          </p:nvSpPr>
          <p:spPr>
            <a:xfrm>
              <a:off x="1046" y="5281"/>
              <a:ext cx="2220" cy="967"/>
            </a:xfrm>
            <a:prstGeom prst="rect">
              <a:avLst/>
            </a:prstGeom>
            <a:noFill/>
          </p:spPr>
          <p:txBody>
            <a:bodyPr wrap="square" rtlCol="0" anchor="ctr" anchorCtr="0">
              <a:spAutoFit/>
            </a:bodyPr>
            <a:p>
              <a:pPr algn="l">
                <a:lnSpc>
                  <a:spcPct val="100000"/>
                </a:lnSpc>
              </a:pPr>
              <a:r>
                <a:rPr lang="zh-CN" altLang="en-US"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全流量威胁检测与分析组件</a:t>
              </a:r>
              <a:endParaRPr lang="zh-CN" altLang="en-US"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a:p>
              <a:pPr algn="l">
                <a:lnSpc>
                  <a:spcPct val="100000"/>
                </a:lnSpc>
                <a:buClrTx/>
                <a:buSzTx/>
                <a:buFontTx/>
              </a:pPr>
              <a:r>
                <a:rPr lang="en-US" altLang="zh-CN" sz="10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STA*{{STA_count}}</a:t>
              </a:r>
              <a:endParaRPr lang="zh-CN" altLang="en-US" sz="1000" dirty="0">
                <a:solidFill>
                  <a:srgbClr val="4C61E7"/>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74" name="组合 73"/>
          <p:cNvGrpSpPr/>
          <p:nvPr/>
        </p:nvGrpSpPr>
        <p:grpSpPr>
          <a:xfrm>
            <a:off x="580390" y="4783455"/>
            <a:ext cx="1788795" cy="429895"/>
            <a:chOff x="449" y="6791"/>
            <a:chExt cx="2817" cy="677"/>
          </a:xfrm>
        </p:grpSpPr>
        <p:pic>
          <p:nvPicPr>
            <p:cNvPr id="75" name="图片 74" descr="LOGO-EDR@1x"/>
            <p:cNvPicPr>
              <a:picLocks noChangeAspect="1"/>
            </p:cNvPicPr>
            <p:nvPr/>
          </p:nvPicPr>
          <p:blipFill>
            <a:blip r:embed="rId18"/>
            <a:stretch>
              <a:fillRect/>
            </a:stretch>
          </p:blipFill>
          <p:spPr>
            <a:xfrm>
              <a:off x="449" y="6816"/>
              <a:ext cx="628" cy="628"/>
            </a:xfrm>
            <a:prstGeom prst="rect">
              <a:avLst/>
            </a:prstGeom>
          </p:spPr>
        </p:pic>
        <p:sp>
          <p:nvSpPr>
            <p:cNvPr id="76" name="文本框 75"/>
            <p:cNvSpPr txBox="1"/>
            <p:nvPr/>
          </p:nvSpPr>
          <p:spPr>
            <a:xfrm>
              <a:off x="1046" y="6791"/>
              <a:ext cx="2220" cy="677"/>
            </a:xfrm>
            <a:prstGeom prst="rect">
              <a:avLst/>
            </a:prstGeom>
            <a:noFill/>
          </p:spPr>
          <p:txBody>
            <a:bodyPr wrap="square" rtlCol="0" anchor="ctr" anchorCtr="0">
              <a:spAutoFit/>
            </a:bodyPr>
            <a:p>
              <a:pPr algn="l">
                <a:lnSpc>
                  <a:spcPct val="100000"/>
                </a:lnSpc>
              </a:pPr>
              <a:r>
                <a:rPr lang="zh-CN" altLang="en-US"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端点安全防护软件</a:t>
              </a:r>
              <a:endParaRPr lang="zh-CN" altLang="en-US"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a:p>
              <a:pPr algn="l">
                <a:lnSpc>
                  <a:spcPct val="100000"/>
                </a:lnSpc>
                <a:buClrTx/>
                <a:buSzTx/>
                <a:buFontTx/>
              </a:pPr>
              <a:r>
                <a:rPr lang="en-US" altLang="zh-CN" sz="10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EDR*{{EDR_count}}</a:t>
              </a:r>
              <a:endParaRPr lang="zh-CN" altLang="en-US" sz="1000" dirty="0">
                <a:solidFill>
                  <a:srgbClr val="4C61E7"/>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87" name="组合 86"/>
          <p:cNvGrpSpPr/>
          <p:nvPr/>
        </p:nvGrpSpPr>
        <p:grpSpPr>
          <a:xfrm>
            <a:off x="580390" y="5700395"/>
            <a:ext cx="1808480" cy="429895"/>
            <a:chOff x="449" y="8235"/>
            <a:chExt cx="2848" cy="677"/>
          </a:xfrm>
        </p:grpSpPr>
        <p:pic>
          <p:nvPicPr>
            <p:cNvPr id="88" name="图片 87" descr="异常扫描@1x"/>
            <p:cNvPicPr>
              <a:picLocks noChangeAspect="1"/>
            </p:cNvPicPr>
            <p:nvPr/>
          </p:nvPicPr>
          <p:blipFill>
            <a:blip r:embed="rId19"/>
            <a:stretch>
              <a:fillRect/>
            </a:stretch>
          </p:blipFill>
          <p:spPr>
            <a:xfrm>
              <a:off x="449" y="8260"/>
              <a:ext cx="628" cy="628"/>
            </a:xfrm>
            <a:prstGeom prst="rect">
              <a:avLst/>
            </a:prstGeom>
          </p:spPr>
        </p:pic>
        <p:sp>
          <p:nvSpPr>
            <p:cNvPr id="90" name="文本框 89"/>
            <p:cNvSpPr txBox="1"/>
            <p:nvPr/>
          </p:nvSpPr>
          <p:spPr>
            <a:xfrm>
              <a:off x="1077" y="8235"/>
              <a:ext cx="2220" cy="677"/>
            </a:xfrm>
            <a:prstGeom prst="rect">
              <a:avLst/>
            </a:prstGeom>
            <a:noFill/>
          </p:spPr>
          <p:txBody>
            <a:bodyPr wrap="square" rtlCol="0" anchor="ctr" anchorCtr="0">
              <a:spAutoFit/>
            </a:bodyPr>
            <a:p>
              <a:pPr algn="l">
                <a:lnSpc>
                  <a:spcPct val="100000"/>
                </a:lnSpc>
              </a:pPr>
              <a:r>
                <a:rPr lang="zh-CN" altLang="en-US"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漏洞扫描组件</a:t>
              </a:r>
              <a:endParaRPr lang="zh-CN" altLang="en-US"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a:p>
              <a:pPr algn="l">
                <a:lnSpc>
                  <a:spcPct val="100000"/>
                </a:lnSpc>
                <a:buClrTx/>
                <a:buSzTx/>
                <a:buFontTx/>
              </a:pPr>
              <a:r>
                <a:rPr lang="en-US" altLang="zh-CN" sz="10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TSS*{{TSS_count}}</a:t>
              </a:r>
              <a:endParaRPr lang="zh-CN" altLang="en-US" sz="1000" dirty="0">
                <a:solidFill>
                  <a:srgbClr val="4C61E7"/>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91" name="组合 90"/>
          <p:cNvGrpSpPr/>
          <p:nvPr/>
        </p:nvGrpSpPr>
        <p:grpSpPr>
          <a:xfrm>
            <a:off x="2089785" y="2185035"/>
            <a:ext cx="3131820" cy="721360"/>
            <a:chOff x="3291" y="2837"/>
            <a:chExt cx="3683" cy="1136"/>
          </a:xfrm>
        </p:grpSpPr>
        <p:grpSp>
          <p:nvGrpSpPr>
            <p:cNvPr id="92" name="组合 91"/>
            <p:cNvGrpSpPr/>
            <p:nvPr/>
          </p:nvGrpSpPr>
          <p:grpSpPr>
            <a:xfrm>
              <a:off x="3460" y="2837"/>
              <a:ext cx="3514" cy="796"/>
              <a:chOff x="4793" y="4123"/>
              <a:chExt cx="3514" cy="796"/>
            </a:xfrm>
          </p:grpSpPr>
          <p:sp>
            <p:nvSpPr>
              <p:cNvPr id="93" name="文本框 92"/>
              <p:cNvSpPr txBox="1"/>
              <p:nvPr/>
            </p:nvSpPr>
            <p:spPr>
              <a:xfrm>
                <a:off x="4793" y="4123"/>
                <a:ext cx="3223" cy="376"/>
              </a:xfrm>
              <a:prstGeom prst="rect">
                <a:avLst/>
              </a:prstGeom>
              <a:noFill/>
            </p:spPr>
            <p:txBody>
              <a:bodyPr wrap="square" lIns="0" tIns="0" rIns="0" bIns="0" rtlCol="0" anchor="t" anchorCtr="0">
                <a:noAutofit/>
              </a:bodyPr>
              <a:p>
                <a:pPr marL="0" indent="0" algn="l">
                  <a:buNone/>
                </a:pPr>
                <a:r>
                  <a:rPr lang="en-US" altLang="zh-CN" sz="1400" dirty="0">
                    <a:solidFill>
                      <a:srgbClr val="4C61E7"/>
                    </a:solidFill>
                    <a:latin typeface="微软雅黑" panose="020B0503020204020204" charset="-122"/>
                    <a:ea typeface="微软雅黑" panose="020B0503020204020204" charset="-122"/>
                    <a:cs typeface="微软雅黑" panose="020B0503020204020204" charset="-122"/>
                    <a:sym typeface="+mn-ea"/>
                  </a:rPr>
                  <a:t>{{number_of_security_logs}</a:t>
                </a:r>
                <a:r>
                  <a:rPr lang="zh-CN" altLang="en-US" sz="1400" dirty="0">
                    <a:solidFill>
                      <a:srgbClr val="4C61E7"/>
                    </a:solidFill>
                    <a:latin typeface="微软雅黑" panose="020B0503020204020204" charset="-122"/>
                    <a:ea typeface="微软雅黑" panose="020B0503020204020204" charset="-122"/>
                    <a:cs typeface="微软雅黑" panose="020B0503020204020204" charset="-122"/>
                    <a:sym typeface="+mn-ea"/>
                  </a:rPr>
                  <a:t>}</a:t>
                </a:r>
                <a:r>
                  <a:rPr lang="zh-CN" altLang="en-US" sz="1400" dirty="0">
                    <a:solidFill>
                      <a:schemeClr val="tx1"/>
                    </a:solidFill>
                    <a:latin typeface="微软雅黑" panose="020B0503020204020204" charset="-122"/>
                    <a:ea typeface="微软雅黑" panose="020B0503020204020204" charset="-122"/>
                    <a:cs typeface="微软雅黑" panose="020B0503020204020204" charset="-122"/>
                    <a:sym typeface="+mn-ea"/>
                  </a:rPr>
                  <a:t>安全日志</a:t>
                </a:r>
                <a:endParaRPr lang="zh-CN" altLang="en-US" sz="1400"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95" name="文本框 94"/>
              <p:cNvSpPr txBox="1"/>
              <p:nvPr/>
            </p:nvSpPr>
            <p:spPr>
              <a:xfrm>
                <a:off x="4793" y="4485"/>
                <a:ext cx="3514" cy="434"/>
              </a:xfrm>
              <a:prstGeom prst="rect">
                <a:avLst/>
              </a:prstGeom>
              <a:noFill/>
            </p:spPr>
            <p:txBody>
              <a:bodyPr wrap="square" lIns="0" tIns="0" rIns="0" bIns="0" rtlCol="0" anchor="ctr" anchorCtr="0">
                <a:noAutofit/>
              </a:bodyPr>
              <a:p>
                <a:pPr algn="l" rtl="0" eaLnBrk="0">
                  <a:lnSpc>
                    <a:spcPct val="100000"/>
                  </a:lnSpc>
                </a:pPr>
                <a:r>
                  <a:rPr lang="zh-CN" altLang="en-US" sz="10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日志降噪率</a:t>
                </a:r>
                <a:r>
                  <a:rPr lang="en-US" altLang="zh-CN" sz="1000" kern="0" spc="130" dirty="0">
                    <a:solidFill>
                      <a:srgbClr val="4C61E7">
                        <a:alpha val="100000"/>
                      </a:srgbClr>
                    </a:solidFill>
                    <a:latin typeface="微软雅黑" panose="020B0503020204020204" charset="-122"/>
                    <a:ea typeface="微软雅黑" panose="020B0503020204020204" charset="-122"/>
                    <a:cs typeface="微软雅黑" panose="020B0503020204020204" charset="-122"/>
                    <a:sym typeface="+mn-ea"/>
                  </a:rPr>
                  <a:t>{{log_noise_reduction_rate}}</a:t>
                </a:r>
                <a:endParaRPr lang="en-US" altLang="zh-CN" sz="1000" kern="0" spc="130" dirty="0">
                  <a:solidFill>
                    <a:srgbClr val="4C61E7">
                      <a:alpha val="100000"/>
                    </a:srgbClr>
                  </a:solidFill>
                  <a:latin typeface="微软雅黑" panose="020B0503020204020204" charset="-122"/>
                  <a:ea typeface="微软雅黑" panose="020B0503020204020204" charset="-122"/>
                  <a:cs typeface="微软雅黑" panose="020B0503020204020204" charset="-122"/>
                  <a:sym typeface="+mn-ea"/>
                </a:endParaRPr>
              </a:p>
            </p:txBody>
          </p:sp>
        </p:grpSp>
        <p:cxnSp>
          <p:nvCxnSpPr>
            <p:cNvPr id="97" name="直接连接符 96"/>
            <p:cNvCxnSpPr/>
            <p:nvPr/>
          </p:nvCxnSpPr>
          <p:spPr>
            <a:xfrm>
              <a:off x="3291" y="2971"/>
              <a:ext cx="0" cy="1002"/>
            </a:xfrm>
            <a:prstGeom prst="line">
              <a:avLst/>
            </a:prstGeom>
            <a:ln>
              <a:gradFill>
                <a:gsLst>
                  <a:gs pos="0">
                    <a:schemeClr val="accent1">
                      <a:alpha val="48000"/>
                    </a:schemeClr>
                  </a:gs>
                  <a:gs pos="100000">
                    <a:schemeClr val="accent1">
                      <a:alpha val="0"/>
                    </a:schemeClr>
                  </a:gs>
                </a:gsLst>
                <a:lin ang="5400000" scaled="1"/>
              </a:gradFill>
              <a:headEnd type="oval"/>
            </a:ln>
          </p:spPr>
          <p:style>
            <a:lnRef idx="2">
              <a:schemeClr val="accent1"/>
            </a:lnRef>
            <a:fillRef idx="0">
              <a:srgbClr val="FFFFFF"/>
            </a:fillRef>
            <a:effectRef idx="0">
              <a:srgbClr val="FFFFFF"/>
            </a:effectRef>
            <a:fontRef idx="minor">
              <a:schemeClr val="tx1"/>
            </a:fontRef>
          </p:style>
        </p:cxnSp>
      </p:grpSp>
      <p:grpSp>
        <p:nvGrpSpPr>
          <p:cNvPr id="98" name="组合 97"/>
          <p:cNvGrpSpPr/>
          <p:nvPr/>
        </p:nvGrpSpPr>
        <p:grpSpPr>
          <a:xfrm>
            <a:off x="3721100" y="2640267"/>
            <a:ext cx="2154555" cy="516318"/>
            <a:chOff x="3291" y="2718"/>
            <a:chExt cx="3393" cy="1255"/>
          </a:xfrm>
        </p:grpSpPr>
        <p:grpSp>
          <p:nvGrpSpPr>
            <p:cNvPr id="99" name="组合 98"/>
            <p:cNvGrpSpPr/>
            <p:nvPr/>
          </p:nvGrpSpPr>
          <p:grpSpPr>
            <a:xfrm>
              <a:off x="3460" y="2718"/>
              <a:ext cx="3224" cy="1169"/>
              <a:chOff x="4793" y="4004"/>
              <a:chExt cx="3224" cy="1169"/>
            </a:xfrm>
          </p:grpSpPr>
          <p:sp>
            <p:nvSpPr>
              <p:cNvPr id="100" name="文本框 99"/>
              <p:cNvSpPr txBox="1"/>
              <p:nvPr/>
            </p:nvSpPr>
            <p:spPr>
              <a:xfrm>
                <a:off x="4793" y="4004"/>
                <a:ext cx="3222" cy="448"/>
              </a:xfrm>
              <a:prstGeom prst="rect">
                <a:avLst/>
              </a:prstGeom>
              <a:noFill/>
            </p:spPr>
            <p:txBody>
              <a:bodyPr wrap="square" lIns="0" tIns="0" rIns="0" bIns="0" rtlCol="0" anchor="t" anchorCtr="0">
                <a:noAutofit/>
              </a:bodyPr>
              <a:p>
                <a:pPr marL="0" indent="0" algn="l">
                  <a:buNone/>
                </a:pPr>
                <a:r>
                  <a:rPr lang="en-US" altLang="zh-CN" sz="1400" dirty="0">
                    <a:solidFill>
                      <a:srgbClr val="4C61E7"/>
                    </a:solidFill>
                    <a:latin typeface="微软雅黑" panose="020B0503020204020204" charset="-122"/>
                    <a:ea typeface="微软雅黑" panose="020B0503020204020204" charset="-122"/>
                    <a:cs typeface="微软雅黑" panose="020B0503020204020204" charset="-122"/>
                    <a:sym typeface="+mn-ea"/>
                  </a:rPr>
                  <a:t>{{number_of_security_alerts}}</a:t>
                </a:r>
                <a:r>
                  <a:rPr lang="zh-CN" altLang="en-US" sz="1400" dirty="0">
                    <a:solidFill>
                      <a:srgbClr val="FFC000"/>
                    </a:solidFill>
                    <a:latin typeface="微软雅黑" panose="020B0503020204020204" charset="-122"/>
                    <a:ea typeface="微软雅黑" panose="020B0503020204020204" charset="-122"/>
                    <a:cs typeface="微软雅黑" panose="020B0503020204020204" charset="-122"/>
                    <a:sym typeface="+mn-ea"/>
                  </a:rPr>
                  <a:t>安全告警</a:t>
                </a:r>
                <a:endParaRPr lang="zh-CN" altLang="en-US" sz="1400" dirty="0">
                  <a:solidFill>
                    <a:srgbClr val="FFC000"/>
                  </a:solidFill>
                  <a:latin typeface="微软雅黑" panose="020B0503020204020204" charset="-122"/>
                  <a:ea typeface="微软雅黑" panose="020B0503020204020204" charset="-122"/>
                  <a:cs typeface="微软雅黑" panose="020B0503020204020204" charset="-122"/>
                  <a:sym typeface="+mn-ea"/>
                </a:endParaRPr>
              </a:p>
            </p:txBody>
          </p:sp>
          <p:sp>
            <p:nvSpPr>
              <p:cNvPr id="102" name="文本框 101"/>
              <p:cNvSpPr txBox="1"/>
              <p:nvPr/>
            </p:nvSpPr>
            <p:spPr>
              <a:xfrm>
                <a:off x="4793" y="4651"/>
                <a:ext cx="3224" cy="522"/>
              </a:xfrm>
              <a:prstGeom prst="rect">
                <a:avLst/>
              </a:prstGeom>
              <a:noFill/>
            </p:spPr>
            <p:txBody>
              <a:bodyPr wrap="square" lIns="0" tIns="0" rIns="0" bIns="0" rtlCol="0" anchor="ctr" anchorCtr="0">
                <a:noAutofit/>
              </a:bodyPr>
              <a:p>
                <a:pPr algn="l" rtl="0" eaLnBrk="0">
                  <a:lnSpc>
                    <a:spcPct val="100000"/>
                  </a:lnSpc>
                  <a:buClrTx/>
                  <a:buSzTx/>
                  <a:buFontTx/>
                </a:pPr>
                <a:r>
                  <a:rPr lang="zh-CN" altLang="en-US" sz="10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告警消减率</a:t>
                </a:r>
                <a:r>
                  <a:rPr lang="en-US" altLang="zh-CN" sz="1000" kern="0" spc="130" dirty="0">
                    <a:solidFill>
                      <a:srgbClr val="4C61E7">
                        <a:alpha val="100000"/>
                      </a:srgbClr>
                    </a:solidFill>
                    <a:latin typeface="微软雅黑" panose="020B0503020204020204" charset="-122"/>
                    <a:ea typeface="微软雅黑" panose="020B0503020204020204" charset="-122"/>
                    <a:cs typeface="微软雅黑" panose="020B0503020204020204" charset="-122"/>
                    <a:sym typeface="+mn-ea"/>
                  </a:rPr>
                  <a:t>{{alert_reduction_rate}}</a:t>
                </a:r>
                <a:endParaRPr lang="en-US" altLang="zh-CN" sz="1000" kern="0" spc="130" dirty="0">
                  <a:solidFill>
                    <a:srgbClr val="4C61E7">
                      <a:alpha val="100000"/>
                    </a:srgbClr>
                  </a:solidFill>
                  <a:latin typeface="微软雅黑" panose="020B0503020204020204" charset="-122"/>
                  <a:ea typeface="微软雅黑" panose="020B0503020204020204" charset="-122"/>
                  <a:cs typeface="微软雅黑" panose="020B0503020204020204" charset="-122"/>
                  <a:sym typeface="+mn-ea"/>
                </a:endParaRPr>
              </a:p>
            </p:txBody>
          </p:sp>
        </p:grpSp>
        <p:cxnSp>
          <p:nvCxnSpPr>
            <p:cNvPr id="104" name="直接连接符 103"/>
            <p:cNvCxnSpPr/>
            <p:nvPr/>
          </p:nvCxnSpPr>
          <p:spPr>
            <a:xfrm>
              <a:off x="3291" y="2971"/>
              <a:ext cx="0" cy="1002"/>
            </a:xfrm>
            <a:prstGeom prst="line">
              <a:avLst/>
            </a:prstGeom>
            <a:ln>
              <a:gradFill>
                <a:gsLst>
                  <a:gs pos="0">
                    <a:schemeClr val="accent1">
                      <a:alpha val="48000"/>
                    </a:schemeClr>
                  </a:gs>
                  <a:gs pos="100000">
                    <a:schemeClr val="accent1">
                      <a:alpha val="0"/>
                    </a:schemeClr>
                  </a:gs>
                </a:gsLst>
                <a:lin ang="5400000" scaled="1"/>
              </a:gradFill>
              <a:headEnd type="oval"/>
            </a:ln>
          </p:spPr>
          <p:style>
            <a:lnRef idx="2">
              <a:schemeClr val="accent1"/>
            </a:lnRef>
            <a:fillRef idx="0">
              <a:srgbClr val="FFFFFF"/>
            </a:fillRef>
            <a:effectRef idx="0">
              <a:srgbClr val="FFFFFF"/>
            </a:effectRef>
            <a:fontRef idx="minor">
              <a:schemeClr val="tx1"/>
            </a:fontRef>
          </p:style>
        </p:cxnSp>
      </p:grpSp>
      <p:grpSp>
        <p:nvGrpSpPr>
          <p:cNvPr id="105" name="组合 104"/>
          <p:cNvGrpSpPr/>
          <p:nvPr/>
        </p:nvGrpSpPr>
        <p:grpSpPr>
          <a:xfrm>
            <a:off x="4989195" y="3226435"/>
            <a:ext cx="2515235" cy="705485"/>
            <a:chOff x="3291" y="2837"/>
            <a:chExt cx="3961" cy="1136"/>
          </a:xfrm>
        </p:grpSpPr>
        <p:grpSp>
          <p:nvGrpSpPr>
            <p:cNvPr id="106" name="组合 105"/>
            <p:cNvGrpSpPr/>
            <p:nvPr/>
          </p:nvGrpSpPr>
          <p:grpSpPr>
            <a:xfrm>
              <a:off x="3460" y="2837"/>
              <a:ext cx="3792" cy="693"/>
              <a:chOff x="4793" y="4123"/>
              <a:chExt cx="3792" cy="693"/>
            </a:xfrm>
          </p:grpSpPr>
          <p:sp>
            <p:nvSpPr>
              <p:cNvPr id="107" name="文本框 106"/>
              <p:cNvSpPr txBox="1"/>
              <p:nvPr/>
            </p:nvSpPr>
            <p:spPr>
              <a:xfrm>
                <a:off x="4793" y="4123"/>
                <a:ext cx="3716" cy="693"/>
              </a:xfrm>
              <a:prstGeom prst="rect">
                <a:avLst/>
              </a:prstGeom>
              <a:noFill/>
            </p:spPr>
            <p:txBody>
              <a:bodyPr wrap="square" lIns="0" tIns="0" rIns="0" bIns="0" rtlCol="0" anchor="t" anchorCtr="0">
                <a:spAutoFit/>
              </a:bodyPr>
              <a:p>
                <a:pPr algn="l">
                  <a:lnSpc>
                    <a:spcPct val="100000"/>
                  </a:lnSpc>
                </a:pPr>
                <a:r>
                  <a:rPr lang="en-US" altLang="zh-CN" sz="1400" dirty="0">
                    <a:solidFill>
                      <a:srgbClr val="0B4CBB"/>
                    </a:solidFill>
                    <a:latin typeface="微软雅黑" panose="020B0503020204020204" charset="-122"/>
                    <a:ea typeface="微软雅黑" panose="020B0503020204020204" charset="-122"/>
                    <a:cs typeface="微软雅黑" panose="020B0503020204020204" charset="-122"/>
                    <a:sym typeface="+mn-ea"/>
                  </a:rPr>
                  <a:t>{{number_of_security_incidents}}</a:t>
                </a:r>
                <a:r>
                  <a:rPr lang="en-US" altLang="zh-CN" sz="1400" dirty="0">
                    <a:solidFill>
                      <a:srgbClr val="0B4CBB"/>
                    </a:solidFill>
                    <a:latin typeface="微软雅黑" panose="020B0503020204020204" charset="-122"/>
                    <a:ea typeface="微软雅黑" panose="020B0503020204020204" charset="-122"/>
                    <a:cs typeface="微软雅黑" panose="020B0503020204020204" charset="-122"/>
                    <a:sym typeface="+mn-ea"/>
                  </a:rPr>
                  <a:t> </a:t>
                </a:r>
                <a:r>
                  <a:rPr lang="zh-CN" altLang="en-US" sz="1400" dirty="0">
                    <a:solidFill>
                      <a:schemeClr val="accent2"/>
                    </a:solidFill>
                    <a:latin typeface="微软雅黑" panose="020B0503020204020204" charset="-122"/>
                    <a:ea typeface="微软雅黑" panose="020B0503020204020204" charset="-122"/>
                    <a:cs typeface="微软雅黑" panose="020B0503020204020204" charset="-122"/>
                    <a:sym typeface="+mn-ea"/>
                  </a:rPr>
                  <a:t>安全事件</a:t>
                </a:r>
                <a:endParaRPr lang="zh-CN" altLang="en-US" sz="1400" dirty="0">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sp>
            <p:nvSpPr>
              <p:cNvPr id="109" name="文本框 108"/>
              <p:cNvSpPr txBox="1"/>
              <p:nvPr/>
            </p:nvSpPr>
            <p:spPr>
              <a:xfrm>
                <a:off x="4793" y="4507"/>
                <a:ext cx="3792" cy="278"/>
              </a:xfrm>
              <a:prstGeom prst="rect">
                <a:avLst/>
              </a:prstGeom>
              <a:noFill/>
            </p:spPr>
            <p:txBody>
              <a:bodyPr wrap="square" lIns="0" tIns="0" rIns="0" bIns="0" rtlCol="0" anchor="ctr" anchorCtr="0">
                <a:noAutofit/>
              </a:bodyPr>
              <a:p>
                <a:pPr algn="l">
                  <a:lnSpc>
                    <a:spcPct val="100000"/>
                  </a:lnSpc>
                </a:pPr>
                <a:r>
                  <a:rPr lang="zh-CN" altLang="en-US" sz="10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影响</a:t>
                </a:r>
                <a:r>
                  <a:rPr lang="en-US" altLang="zh-CN" sz="1000" kern="0" spc="130" dirty="0">
                    <a:solidFill>
                      <a:srgbClr val="4C61E7">
                        <a:alpha val="100000"/>
                      </a:srgbClr>
                    </a:solidFill>
                    <a:latin typeface="微软雅黑" panose="020B0503020204020204" charset="-122"/>
                    <a:ea typeface="微软雅黑" panose="020B0503020204020204" charset="-122"/>
                    <a:cs typeface="微软雅黑" panose="020B0503020204020204" charset="-122"/>
                    <a:sym typeface="+mn-ea"/>
                  </a:rPr>
                  <a:t>{{number_of_risk_assets}}</a:t>
                </a:r>
                <a:r>
                  <a:rPr lang="zh-CN" altLang="en-US" sz="10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个</a:t>
                </a:r>
                <a:r>
                  <a:rPr lang="en-US" altLang="zh-CN" sz="1000" kern="0" spc="130" dirty="0">
                    <a:solidFill>
                      <a:schemeClr val="tx1">
                        <a:alpha val="100000"/>
                      </a:schemeClr>
                    </a:solidFill>
                    <a:latin typeface="黑体" panose="02010609060101010101" charset="-122"/>
                    <a:ea typeface="黑体" panose="02010609060101010101" charset="-122"/>
                    <a:cs typeface="黑体" panose="02010609060101010101" charset="-122"/>
                    <a:sym typeface="+mn-ea"/>
                  </a:rPr>
                  <a:t>风险</a:t>
                </a:r>
                <a:r>
                  <a:rPr lang="zh-CN" altLang="en-US" sz="10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资产</a:t>
                </a:r>
                <a:endParaRPr lang="zh-CN" altLang="en-US" sz="1000" dirty="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cxnSp>
          <p:nvCxnSpPr>
            <p:cNvPr id="111" name="直接连接符 110"/>
            <p:cNvCxnSpPr/>
            <p:nvPr/>
          </p:nvCxnSpPr>
          <p:spPr>
            <a:xfrm>
              <a:off x="3291" y="2971"/>
              <a:ext cx="0" cy="1002"/>
            </a:xfrm>
            <a:prstGeom prst="line">
              <a:avLst/>
            </a:prstGeom>
            <a:ln>
              <a:gradFill>
                <a:gsLst>
                  <a:gs pos="0">
                    <a:schemeClr val="accent1">
                      <a:alpha val="48000"/>
                    </a:schemeClr>
                  </a:gs>
                  <a:gs pos="100000">
                    <a:schemeClr val="accent1">
                      <a:alpha val="0"/>
                    </a:schemeClr>
                  </a:gs>
                </a:gsLst>
                <a:lin ang="5400000" scaled="1"/>
              </a:gradFill>
              <a:headEnd type="oval"/>
            </a:ln>
          </p:spPr>
          <p:style>
            <a:lnRef idx="2">
              <a:schemeClr val="accent1"/>
            </a:lnRef>
            <a:fillRef idx="0">
              <a:srgbClr val="FFFFFF"/>
            </a:fillRef>
            <a:effectRef idx="0">
              <a:srgbClr val="FFFFFF"/>
            </a:effectRef>
            <a:fontRef idx="minor">
              <a:schemeClr val="tx1"/>
            </a:fontRef>
          </p:style>
        </p:cxnSp>
      </p:grpSp>
      <p:sp>
        <p:nvSpPr>
          <p:cNvPr id="118" name="文本框 117"/>
          <p:cNvSpPr txBox="1"/>
          <p:nvPr/>
        </p:nvSpPr>
        <p:spPr>
          <a:xfrm>
            <a:off x="2893060" y="4364355"/>
            <a:ext cx="3489960" cy="184150"/>
          </a:xfrm>
          <a:prstGeom prst="rect">
            <a:avLst/>
          </a:prstGeom>
          <a:noFill/>
        </p:spPr>
        <p:txBody>
          <a:bodyPr wrap="square" lIns="0" tIns="0" rIns="0" bIns="0" rtlCol="0" anchor="t" anchorCtr="0">
            <a:spAutoFit/>
          </a:bodyPr>
          <a:p>
            <a:pPr algn="dist">
              <a:lnSpc>
                <a:spcPct val="100000"/>
              </a:lnSpc>
            </a:pPr>
            <a:r>
              <a:rPr lang="en-US" altLang="zh-CN" sz="1200" dirty="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AI</a:t>
            </a:r>
            <a:r>
              <a:rPr lang="zh-CN" altLang="en-US" sz="1200" dirty="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能力贯穿检测、运营、问题处理，提升运营效率</a:t>
            </a:r>
            <a:endParaRPr lang="zh-CN" altLang="en-US" sz="1200" dirty="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nvGrpSpPr>
          <p:cNvPr id="119" name="组合 118"/>
          <p:cNvGrpSpPr/>
          <p:nvPr/>
        </p:nvGrpSpPr>
        <p:grpSpPr>
          <a:xfrm>
            <a:off x="6441440" y="3890645"/>
            <a:ext cx="1043940" cy="1318260"/>
            <a:chOff x="10432" y="5541"/>
            <a:chExt cx="1644" cy="2076"/>
          </a:xfrm>
        </p:grpSpPr>
        <p:pic>
          <p:nvPicPr>
            <p:cNvPr id="120" name="图片 119" descr="矩形 2419@1x-2"/>
            <p:cNvPicPr/>
            <p:nvPr/>
          </p:nvPicPr>
          <p:blipFill>
            <a:blip r:embed="rId20"/>
            <a:stretch>
              <a:fillRect/>
            </a:stretch>
          </p:blipFill>
          <p:spPr>
            <a:xfrm>
              <a:off x="10432" y="6880"/>
              <a:ext cx="1644" cy="737"/>
            </a:xfrm>
            <a:prstGeom prst="rect">
              <a:avLst/>
            </a:prstGeom>
          </p:spPr>
        </p:pic>
        <p:pic>
          <p:nvPicPr>
            <p:cNvPr id="121" name="图片 120" descr="矩形 2419@1x"/>
            <p:cNvPicPr/>
            <p:nvPr/>
          </p:nvPicPr>
          <p:blipFill>
            <a:blip r:embed="rId21"/>
            <a:stretch>
              <a:fillRect/>
            </a:stretch>
          </p:blipFill>
          <p:spPr>
            <a:xfrm>
              <a:off x="10432" y="5541"/>
              <a:ext cx="1599" cy="737"/>
            </a:xfrm>
            <a:prstGeom prst="rect">
              <a:avLst/>
            </a:prstGeom>
          </p:spPr>
        </p:pic>
        <p:sp>
          <p:nvSpPr>
            <p:cNvPr id="122" name="矩形 121"/>
            <p:cNvSpPr/>
            <p:nvPr>
              <p:custDataLst>
                <p:tags r:id="rId22"/>
              </p:custDataLst>
            </p:nvPr>
          </p:nvSpPr>
          <p:spPr>
            <a:xfrm>
              <a:off x="10502" y="5765"/>
              <a:ext cx="1474" cy="289"/>
            </a:xfrm>
            <a:prstGeom prst="rect">
              <a:avLst/>
            </a:prstGeom>
            <a:noFill/>
          </p:spPr>
          <p:txBody>
            <a:bodyPr wrap="square" lIns="0" tIns="0" rIns="0" bIns="0" rtlCol="0" anchor="t" anchorCtr="0">
              <a:noAutofit/>
            </a:bodyPr>
            <a:p>
              <a:pPr indent="0" algn="just" fontAlgn="auto">
                <a:lnSpc>
                  <a:spcPct val="100000"/>
                </a:lnSpc>
                <a:spcBef>
                  <a:spcPct val="0"/>
                </a:spcBef>
                <a:spcAft>
                  <a:spcPct val="0"/>
                </a:spcAft>
              </a:pPr>
              <a:r>
                <a:rPr lang="zh-CN" altLang="en-US" sz="1200">
                  <a:ln>
                    <a:noFill/>
                    <a:prstDash val="sysDot"/>
                  </a:ln>
                  <a:solidFill>
                    <a:schemeClr val="bg1"/>
                  </a:solidFill>
                  <a:uFillTx/>
                  <a:latin typeface="Source Han Sans CN Medium" panose="020B0600000000000000" charset="-122"/>
                  <a:ea typeface="Source Han Sans CN Medium" panose="020B0600000000000000" charset="-122"/>
                  <a:cs typeface="Source Han Sans CN Medium" panose="020B0600000000000000" charset="-122"/>
                  <a:sym typeface="+mn-ea"/>
                </a:rPr>
                <a:t>安全托管</a:t>
              </a:r>
              <a:r>
                <a:rPr lang="zh-CN" altLang="en-US" sz="1200">
                  <a:ln>
                    <a:noFill/>
                    <a:prstDash val="sysDot"/>
                  </a:ln>
                  <a:solidFill>
                    <a:schemeClr val="bg1"/>
                  </a:solidFill>
                  <a:uFillTx/>
                  <a:latin typeface="Source Han Sans CN Medium" panose="020B0600000000000000" charset="-122"/>
                  <a:ea typeface="Source Han Sans CN Medium" panose="020B0600000000000000" charset="-122"/>
                  <a:cs typeface="Source Han Sans CN Medium" panose="020B0600000000000000" charset="-122"/>
                  <a:sym typeface="+mn-ea"/>
                </a:rPr>
                <a:t>服务</a:t>
              </a:r>
              <a:endParaRPr lang="zh-CN" altLang="en-US" sz="1200">
                <a:ln>
                  <a:noFill/>
                  <a:prstDash val="sysDot"/>
                </a:ln>
                <a:solidFill>
                  <a:schemeClr val="bg1"/>
                </a:solidFill>
                <a:uFillTx/>
                <a:latin typeface="Source Han Sans CN Medium" panose="020B0600000000000000" charset="-122"/>
                <a:ea typeface="Source Han Sans CN Medium" panose="020B0600000000000000" charset="-122"/>
                <a:cs typeface="Source Han Sans CN Medium" panose="020B0600000000000000" charset="-122"/>
                <a:sym typeface="+mn-ea"/>
              </a:endParaRPr>
            </a:p>
          </p:txBody>
        </p:sp>
        <p:sp>
          <p:nvSpPr>
            <p:cNvPr id="123" name="矩形 122"/>
            <p:cNvSpPr/>
            <p:nvPr>
              <p:custDataLst>
                <p:tags r:id="rId23"/>
              </p:custDataLst>
            </p:nvPr>
          </p:nvSpPr>
          <p:spPr>
            <a:xfrm>
              <a:off x="10502" y="7104"/>
              <a:ext cx="1138" cy="290"/>
            </a:xfrm>
            <a:prstGeom prst="rect">
              <a:avLst/>
            </a:prstGeom>
            <a:noFill/>
          </p:spPr>
          <p:txBody>
            <a:bodyPr wrap="square" lIns="0" tIns="0" rIns="0" bIns="0" rtlCol="0" anchor="t" anchorCtr="0">
              <a:spAutoFit/>
            </a:bodyPr>
            <a:p>
              <a:pPr indent="0" algn="just" fontAlgn="auto">
                <a:lnSpc>
                  <a:spcPct val="100000"/>
                </a:lnSpc>
                <a:spcBef>
                  <a:spcPct val="0"/>
                </a:spcBef>
                <a:spcAft>
                  <a:spcPct val="0"/>
                </a:spcAft>
              </a:pPr>
              <a:r>
                <a:rPr lang="zh-CN" altLang="en-US" sz="1200">
                  <a:ln>
                    <a:noFill/>
                    <a:prstDash val="sysDot"/>
                  </a:ln>
                  <a:solidFill>
                    <a:schemeClr val="bg1"/>
                  </a:solidFill>
                  <a:uFillTx/>
                  <a:latin typeface="Source Han Sans CN Medium" panose="020B0600000000000000" charset="-122"/>
                  <a:ea typeface="Source Han Sans CN Medium" panose="020B0600000000000000" charset="-122"/>
                  <a:cs typeface="Source Han Sans CN Medium" panose="020B0600000000000000" charset="-122"/>
                  <a:sym typeface="+mn-ea"/>
                </a:rPr>
                <a:t>本地运营</a:t>
              </a:r>
              <a:endParaRPr lang="zh-CN" altLang="en-US" sz="1200">
                <a:ln>
                  <a:noFill/>
                  <a:prstDash val="sysDot"/>
                </a:ln>
                <a:solidFill>
                  <a:schemeClr val="bg1"/>
                </a:solidFill>
                <a:uFillTx/>
                <a:latin typeface="Source Han Sans CN Medium" panose="020B0600000000000000" charset="-122"/>
                <a:ea typeface="Source Han Sans CN Medium" panose="020B0600000000000000" charset="-122"/>
                <a:cs typeface="Source Han Sans CN Medium" panose="020B0600000000000000" charset="-122"/>
                <a:sym typeface="+mn-ea"/>
              </a:endParaRPr>
            </a:p>
          </p:txBody>
        </p:sp>
        <p:sp>
          <p:nvSpPr>
            <p:cNvPr id="124" name="矩形 123"/>
            <p:cNvSpPr/>
            <p:nvPr>
              <p:custDataLst>
                <p:tags r:id="rId24"/>
              </p:custDataLst>
            </p:nvPr>
          </p:nvSpPr>
          <p:spPr>
            <a:xfrm>
              <a:off x="10890" y="6164"/>
              <a:ext cx="457" cy="704"/>
            </a:xfrm>
            <a:prstGeom prst="rect">
              <a:avLst/>
            </a:prstGeom>
            <a:noFill/>
          </p:spPr>
          <p:txBody>
            <a:bodyPr wrap="square" lIns="0" tIns="0" rIns="0" bIns="0" rtlCol="0" anchor="ctr" anchorCtr="0">
              <a:noAutofit/>
            </a:bodyPr>
            <a:p>
              <a:pPr indent="0" algn="ctr" fontAlgn="auto">
                <a:lnSpc>
                  <a:spcPct val="100000"/>
                </a:lnSpc>
                <a:spcBef>
                  <a:spcPct val="0"/>
                </a:spcBef>
                <a:spcAft>
                  <a:spcPct val="0"/>
                </a:spcAft>
              </a:pPr>
              <a:r>
                <a:rPr lang="en-US" sz="32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mn-ea"/>
                  <a:sym typeface="+mn-ea"/>
                </a:rPr>
                <a:t>+</a:t>
              </a:r>
              <a:endParaRPr lang="en-US" sz="32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mn-ea"/>
                <a:sym typeface="+mn-ea"/>
              </a:endParaRPr>
            </a:p>
          </p:txBody>
        </p:sp>
      </p:grpSp>
      <p:sp>
        <p:nvSpPr>
          <p:cNvPr id="125" name="文本框 124"/>
          <p:cNvSpPr txBox="1"/>
          <p:nvPr/>
        </p:nvSpPr>
        <p:spPr>
          <a:xfrm>
            <a:off x="7524115" y="3585210"/>
            <a:ext cx="648000" cy="540000"/>
          </a:xfrm>
          <a:prstGeom prst="rect">
            <a:avLst/>
          </a:prstGeom>
        </p:spPr>
        <p:txBody>
          <a:bodyPr wrap="square" lIns="0" tIns="0" rIns="0" bIns="0">
            <a:noAutofit/>
          </a:bodyPr>
          <a:p>
            <a:pPr algn="ctr"/>
            <a:r>
              <a:rPr lang="en-US" altLang="zh-CN" sz="1000">
                <a:solidFill>
                  <a:srgbClr val="4C61E7"/>
                </a:solidFill>
                <a:latin typeface="Source Han Sans CN Normal" panose="020B0600000000000000" charset="-122"/>
                <a:ea typeface="Source Han Sans CN Normal" panose="020B0600000000000000" charset="-122"/>
                <a:cs typeface="Source Han Sans CN Normal" panose="020B0600000000000000" charset="-122"/>
              </a:rPr>
              <a:t>{{mss_risk_asset}}</a:t>
            </a:r>
            <a:r>
              <a:rPr lang="zh-CN" altLang="en-US" sz="1000">
                <a:latin typeface="Source Han Sans CN Normal" panose="020B0600000000000000" charset="-122"/>
                <a:ea typeface="Source Han Sans CN Normal" panose="020B0600000000000000" charset="-122"/>
                <a:cs typeface="Source Han Sans CN Normal" panose="020B0600000000000000" charset="-122"/>
              </a:rPr>
              <a:t>个风险资产</a:t>
            </a:r>
            <a:endParaRPr lang="zh-CN" altLang="en-US" sz="1000">
              <a:latin typeface="Source Han Sans CN Normal" panose="020B0600000000000000" charset="-122"/>
              <a:ea typeface="Source Han Sans CN Normal" panose="020B0600000000000000" charset="-122"/>
              <a:cs typeface="Source Han Sans CN Normal" panose="020B0600000000000000" charset="-122"/>
            </a:endParaRPr>
          </a:p>
        </p:txBody>
      </p:sp>
      <p:sp>
        <p:nvSpPr>
          <p:cNvPr id="126" name="文本框 125"/>
          <p:cNvSpPr txBox="1"/>
          <p:nvPr/>
        </p:nvSpPr>
        <p:spPr>
          <a:xfrm>
            <a:off x="7545070" y="5019675"/>
            <a:ext cx="648000" cy="540000"/>
          </a:xfrm>
          <a:prstGeom prst="rect">
            <a:avLst/>
          </a:prstGeom>
        </p:spPr>
        <p:txBody>
          <a:bodyPr wrap="square" lIns="0" tIns="0" rIns="0" bIns="0">
            <a:noAutofit/>
          </a:bodyPr>
          <a:p>
            <a:pPr algn="ctr"/>
            <a:r>
              <a:rPr lang="en-US" altLang="zh-CN" sz="1000">
                <a:solidFill>
                  <a:srgbClr val="4C61E7"/>
                </a:solidFill>
                <a:latin typeface="Source Han Sans CN Normal" panose="020B0600000000000000" charset="-122"/>
                <a:ea typeface="Source Han Sans CN Normal" panose="020B0600000000000000" charset="-122"/>
                <a:cs typeface="Source Han Sans CN Normal" panose="020B0600000000000000" charset="-122"/>
                <a:sym typeface="+mn-ea"/>
              </a:rPr>
              <a:t>{{nonmss_risk_asset}}</a:t>
            </a:r>
            <a:r>
              <a:rPr lang="zh-CN" altLang="en-US" sz="1000">
                <a:latin typeface="Source Han Sans CN Normal" panose="020B0600000000000000" charset="-122"/>
                <a:ea typeface="Source Han Sans CN Normal" panose="020B0600000000000000" charset="-122"/>
                <a:cs typeface="Source Han Sans CN Normal" panose="020B0600000000000000" charset="-122"/>
                <a:sym typeface="+mn-ea"/>
              </a:rPr>
              <a:t>个风险资产</a:t>
            </a:r>
            <a:endParaRPr lang="zh-CN" altLang="en-US" sz="1000">
              <a:latin typeface="Source Han Sans CN Normal" panose="020B0600000000000000" charset="-122"/>
              <a:ea typeface="Source Han Sans CN Normal" panose="020B0600000000000000" charset="-122"/>
              <a:cs typeface="Source Han Sans CN Normal" panose="020B0600000000000000" charset="-122"/>
            </a:endParaRPr>
          </a:p>
        </p:txBody>
      </p:sp>
      <p:sp>
        <p:nvSpPr>
          <p:cNvPr id="127" name="文本框 126"/>
          <p:cNvSpPr txBox="1"/>
          <p:nvPr/>
        </p:nvSpPr>
        <p:spPr>
          <a:xfrm>
            <a:off x="8357235" y="3317875"/>
            <a:ext cx="1743710" cy="1455420"/>
          </a:xfrm>
          <a:prstGeom prst="rect">
            <a:avLst/>
          </a:prstGeom>
        </p:spPr>
        <p:txBody>
          <a:bodyPr wrap="square" lIns="0" tIns="0" rIns="0" bIns="0">
            <a:noAutofit/>
          </a:bodyPr>
          <a:p>
            <a:pPr>
              <a:lnSpc>
                <a:spcPct val="15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安全告警</a:t>
            </a:r>
            <a:r>
              <a:rPr lang="en-US" altLang="zh-CN"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 </a:t>
            </a:r>
            <a:r>
              <a:rPr lang="en-US" altLang="zh-CN" sz="1000">
                <a:solidFill>
                  <a:srgbClr val="4C61E7"/>
                </a:solidFill>
                <a:latin typeface="Source Han Sans CN Normal" panose="020B0600000000000000" charset="-122"/>
                <a:ea typeface="Source Han Sans CN Normal" panose="020B0600000000000000" charset="-122"/>
                <a:cs typeface="Source Han Sans CN Normal" panose="020B0600000000000000" charset="-122"/>
              </a:rPr>
              <a:t>{{alert_mss}}</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a:p>
            <a:pPr>
              <a:lnSpc>
                <a:spcPct val="15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安全事件</a:t>
            </a:r>
            <a:r>
              <a:rPr lang="en-US" altLang="zh-CN"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 </a:t>
            </a:r>
            <a:r>
              <a:rPr lang="en-US" altLang="zh-CN" sz="1000">
                <a:solidFill>
                  <a:srgbClr val="4C61E7"/>
                </a:solidFill>
                <a:latin typeface="Source Han Sans CN Normal" panose="020B0600000000000000" charset="-122"/>
                <a:ea typeface="Source Han Sans CN Normal" panose="020B0600000000000000" charset="-122"/>
                <a:cs typeface="Source Han Sans CN Normal" panose="020B0600000000000000" charset="-122"/>
              </a:rPr>
              <a:t>{{incident_</a:t>
            </a:r>
            <a:r>
              <a:rPr lang="en-US" altLang="zh-CN" sz="1000">
                <a:solidFill>
                  <a:srgbClr val="4C61E7"/>
                </a:solidFill>
                <a:latin typeface="Source Han Sans CN Normal" panose="020B0600000000000000" charset="-122"/>
                <a:ea typeface="Source Han Sans CN Normal" panose="020B0600000000000000" charset="-122"/>
                <a:cs typeface="Source Han Sans CN Normal" panose="020B0600000000000000" charset="-122"/>
                <a:sym typeface="+mn-ea"/>
              </a:rPr>
              <a:t>mss</a:t>
            </a:r>
            <a:r>
              <a:rPr lang="en-US" altLang="zh-CN" sz="1000">
                <a:solidFill>
                  <a:srgbClr val="4C61E7"/>
                </a:solidFill>
                <a:latin typeface="Source Han Sans CN Normal" panose="020B0600000000000000" charset="-122"/>
                <a:ea typeface="Source Han Sans CN Normal" panose="020B0600000000000000" charset="-122"/>
                <a:cs typeface="Source Han Sans CN Normal" panose="020B0600000000000000" charset="-122"/>
              </a:rPr>
              <a:t>}}</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a:p>
            <a:pPr>
              <a:lnSpc>
                <a:spcPct val="15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告警</a:t>
            </a:r>
            <a:r>
              <a:rPr lang="en-US" altLang="zh-CN"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a:t>
            </a: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事件处置率</a:t>
            </a:r>
            <a:r>
              <a:rPr lang="en-US" altLang="zh-CN"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 </a:t>
            </a:r>
            <a:r>
              <a:rPr lang="en-US" altLang="zh-CN" sz="1000">
                <a:solidFill>
                  <a:srgbClr val="4C61E7"/>
                </a:solidFill>
                <a:latin typeface="Source Han Sans CN Normal" panose="020B0600000000000000" charset="-122"/>
                <a:ea typeface="Source Han Sans CN Normal" panose="020B0600000000000000" charset="-122"/>
                <a:cs typeface="Source Han Sans CN Normal" panose="020B0600000000000000" charset="-122"/>
                <a:sym typeface="+mn-ea"/>
              </a:rPr>
              <a:t>{{handling_rate_</a:t>
            </a:r>
            <a:r>
              <a:rPr lang="en-US" altLang="zh-CN" sz="1000">
                <a:solidFill>
                  <a:srgbClr val="4C61E7"/>
                </a:solidFill>
                <a:latin typeface="Source Han Sans CN Normal" panose="020B0600000000000000" charset="-122"/>
                <a:ea typeface="Source Han Sans CN Normal" panose="020B0600000000000000" charset="-122"/>
                <a:cs typeface="Source Han Sans CN Normal" panose="020B0600000000000000" charset="-122"/>
                <a:sym typeface="+mn-ea"/>
              </a:rPr>
              <a:t>mss</a:t>
            </a:r>
            <a:r>
              <a:rPr lang="en-US" altLang="zh-CN" sz="1000">
                <a:solidFill>
                  <a:srgbClr val="4C61E7"/>
                </a:solidFill>
                <a:latin typeface="Source Han Sans CN Normal" panose="020B0600000000000000" charset="-122"/>
                <a:ea typeface="Source Han Sans CN Normal" panose="020B0600000000000000" charset="-122"/>
                <a:cs typeface="Source Han Sans CN Normal" panose="020B0600000000000000" charset="-122"/>
                <a:sym typeface="+mn-ea"/>
              </a:rPr>
              <a:t>}}</a:t>
            </a:r>
            <a:endParaRPr lang="en-US" altLang="zh-CN"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a:p>
            <a:pPr>
              <a:lnSpc>
                <a:spcPct val="15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平均响应时间</a:t>
            </a:r>
            <a:r>
              <a:rPr lang="en-US" altLang="zh-CN"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 </a:t>
            </a:r>
            <a:r>
              <a:rPr lang="en-US" altLang="zh-CN" sz="1000">
                <a:solidFill>
                  <a:srgbClr val="4C61E7"/>
                </a:solidFill>
                <a:latin typeface="Source Han Sans CN Normal" panose="020B0600000000000000" charset="-122"/>
                <a:ea typeface="Source Han Sans CN Normal" panose="020B0600000000000000" charset="-122"/>
                <a:cs typeface="Source Han Sans CN Normal" panose="020B0600000000000000" charset="-122"/>
                <a:sym typeface="+mn-ea"/>
              </a:rPr>
              <a:t>{{response_time_</a:t>
            </a:r>
            <a:r>
              <a:rPr lang="en-US" altLang="zh-CN" sz="1000">
                <a:solidFill>
                  <a:srgbClr val="4C61E7"/>
                </a:solidFill>
                <a:latin typeface="Source Han Sans CN Normal" panose="020B0600000000000000" charset="-122"/>
                <a:ea typeface="Source Han Sans CN Normal" panose="020B0600000000000000" charset="-122"/>
                <a:cs typeface="Source Han Sans CN Normal" panose="020B0600000000000000" charset="-122"/>
                <a:sym typeface="+mn-ea"/>
              </a:rPr>
              <a:t>mss</a:t>
            </a:r>
            <a:r>
              <a:rPr lang="en-US" altLang="zh-CN" sz="1000">
                <a:solidFill>
                  <a:srgbClr val="4C61E7"/>
                </a:solidFill>
                <a:latin typeface="Source Han Sans CN Normal" panose="020B0600000000000000" charset="-122"/>
                <a:ea typeface="Source Han Sans CN Normal" panose="020B0600000000000000" charset="-122"/>
                <a:cs typeface="Source Han Sans CN Normal" panose="020B0600000000000000" charset="-122"/>
                <a:sym typeface="+mn-ea"/>
              </a:rPr>
              <a:t>}}</a:t>
            </a: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分钟</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p:txBody>
      </p:sp>
      <p:sp>
        <p:nvSpPr>
          <p:cNvPr id="128" name="文本框 127"/>
          <p:cNvSpPr txBox="1"/>
          <p:nvPr/>
        </p:nvSpPr>
        <p:spPr>
          <a:xfrm>
            <a:off x="8178800" y="4455160"/>
            <a:ext cx="1094105" cy="168910"/>
          </a:xfrm>
          <a:prstGeom prst="rect">
            <a:avLst/>
          </a:prstGeom>
        </p:spPr>
        <p:txBody>
          <a:bodyPr wrap="square" lIns="0" tIns="0" rIns="0" bIns="0">
            <a:spAutoFit/>
          </a:bodyPr>
          <a:p>
            <a:pPr>
              <a:lnSpc>
                <a:spcPct val="11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专家咨询</a:t>
            </a:r>
            <a:r>
              <a:rPr lang="en-US" altLang="zh-CN"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a:t>
            </a: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协助处置</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p:txBody>
      </p:sp>
      <p:sp>
        <p:nvSpPr>
          <p:cNvPr id="129" name="文本框 128"/>
          <p:cNvSpPr txBox="1"/>
          <p:nvPr/>
        </p:nvSpPr>
        <p:spPr>
          <a:xfrm>
            <a:off x="8357235" y="4873625"/>
            <a:ext cx="1854200" cy="1432560"/>
          </a:xfrm>
          <a:prstGeom prst="rect">
            <a:avLst/>
          </a:prstGeom>
        </p:spPr>
        <p:txBody>
          <a:bodyPr wrap="square" lIns="0" tIns="0" rIns="0" bIns="0">
            <a:noAutofit/>
          </a:bodyPr>
          <a:p>
            <a:pPr>
              <a:lnSpc>
                <a:spcPct val="15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安全告警</a:t>
            </a:r>
            <a:r>
              <a:rPr lang="en-US" altLang="zh-CN"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 </a:t>
            </a:r>
            <a:r>
              <a:rPr lang="en-US" altLang="zh-CN" sz="1000">
                <a:solidFill>
                  <a:srgbClr val="4C61E7"/>
                </a:solidFill>
                <a:latin typeface="Source Han Sans CN Normal" panose="020B0600000000000000" charset="-122"/>
                <a:ea typeface="Source Han Sans CN Normal" panose="020B0600000000000000" charset="-122"/>
                <a:cs typeface="Source Han Sans CN Normal" panose="020B0600000000000000" charset="-122"/>
                <a:sym typeface="+mn-ea"/>
              </a:rPr>
              <a:t>{{alert_nonmss}}</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a:p>
            <a:pPr>
              <a:lnSpc>
                <a:spcPct val="15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安全事件</a:t>
            </a:r>
            <a:r>
              <a:rPr lang="en-US" altLang="zh-CN"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 </a:t>
            </a:r>
            <a:r>
              <a:rPr lang="en-US" altLang="zh-CN" sz="1000">
                <a:solidFill>
                  <a:srgbClr val="4C61E7"/>
                </a:solidFill>
                <a:latin typeface="Source Han Sans CN Normal" panose="020B0600000000000000" charset="-122"/>
                <a:ea typeface="Source Han Sans CN Normal" panose="020B0600000000000000" charset="-122"/>
                <a:cs typeface="Source Han Sans CN Normal" panose="020B0600000000000000" charset="-122"/>
                <a:sym typeface="+mn-ea"/>
              </a:rPr>
              <a:t>{{incident_nonmss}}</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a:p>
            <a:pPr>
              <a:lnSpc>
                <a:spcPct val="15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告警</a:t>
            </a:r>
            <a:r>
              <a:rPr lang="en-US" altLang="zh-CN"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a:t>
            </a: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事件处置率</a:t>
            </a:r>
            <a:r>
              <a:rPr lang="en-US" altLang="zh-CN"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 </a:t>
            </a:r>
            <a:r>
              <a:rPr lang="en-US" altLang="zh-CN" sz="1000">
                <a:solidFill>
                  <a:srgbClr val="4C61E7"/>
                </a:solidFill>
                <a:latin typeface="Source Han Sans CN Normal" panose="020B0600000000000000" charset="-122"/>
                <a:ea typeface="Source Han Sans CN Normal" panose="020B0600000000000000" charset="-122"/>
                <a:cs typeface="Source Han Sans CN Normal" panose="020B0600000000000000" charset="-122"/>
                <a:sym typeface="+mn-ea"/>
              </a:rPr>
              <a:t>{{handling_rate_nonmss}}</a:t>
            </a:r>
            <a:endParaRPr lang="en-US" altLang="zh-CN"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a:p>
            <a:pPr>
              <a:lnSpc>
                <a:spcPct val="15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平均响应时间</a:t>
            </a:r>
            <a:r>
              <a:rPr lang="en-US" altLang="zh-CN"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 </a:t>
            </a:r>
            <a:r>
              <a:rPr lang="en-US" altLang="zh-CN" sz="1000">
                <a:solidFill>
                  <a:srgbClr val="4C61E7"/>
                </a:solidFill>
                <a:latin typeface="Source Han Sans CN Normal" panose="020B0600000000000000" charset="-122"/>
                <a:ea typeface="Source Han Sans CN Normal" panose="020B0600000000000000" charset="-122"/>
                <a:cs typeface="Source Han Sans CN Normal" panose="020B0600000000000000" charset="-122"/>
                <a:sym typeface="+mn-ea"/>
              </a:rPr>
              <a:t>{{response_time_nonmss}}</a:t>
            </a: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分钟</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p:txBody>
      </p:sp>
      <p:cxnSp>
        <p:nvCxnSpPr>
          <p:cNvPr id="160" name="直接箭头连接符 159"/>
          <p:cNvCxnSpPr/>
          <p:nvPr>
            <p:custDataLst>
              <p:tags r:id="rId25"/>
            </p:custDataLst>
          </p:nvPr>
        </p:nvCxnSpPr>
        <p:spPr>
          <a:xfrm>
            <a:off x="2249488" y="1132523"/>
            <a:ext cx="4511675" cy="0"/>
          </a:xfrm>
          <a:prstGeom prst="straightConnector1">
            <a:avLst/>
          </a:prstGeom>
          <a:ln>
            <a:solidFill>
              <a:srgbClr val="FFFFFF"/>
            </a:solidFill>
            <a:tailEnd type="triangle"/>
          </a:ln>
        </p:spPr>
        <p:style>
          <a:lnRef idx="1">
            <a:schemeClr val="accent1"/>
          </a:lnRef>
          <a:fillRef idx="0">
            <a:schemeClr val="accent1"/>
          </a:fillRef>
          <a:effectRef idx="0">
            <a:schemeClr val="accent1"/>
          </a:effectRef>
          <a:fontRef idx="minor">
            <a:schemeClr val="tx1"/>
          </a:fontRef>
        </p:style>
      </p:cxnSp>
      <p:sp>
        <p:nvSpPr>
          <p:cNvPr id="161" name="椭圆 160"/>
          <p:cNvSpPr/>
          <p:nvPr>
            <p:custDataLst>
              <p:tags r:id="rId26"/>
            </p:custDataLst>
          </p:nvPr>
        </p:nvSpPr>
        <p:spPr>
          <a:xfrm>
            <a:off x="6714173" y="1126808"/>
            <a:ext cx="93600" cy="94643"/>
          </a:xfrm>
          <a:prstGeom prst="ellipse">
            <a:avLst/>
          </a:prstGeom>
          <a:solidFill>
            <a:schemeClr val="accent2"/>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微软雅黑" panose="020B0503020204020204" charset="-122"/>
            </a:endParaRPr>
          </a:p>
        </p:txBody>
      </p:sp>
      <p:cxnSp>
        <p:nvCxnSpPr>
          <p:cNvPr id="162" name="直接连接符 161"/>
          <p:cNvCxnSpPr/>
          <p:nvPr>
            <p:custDataLst>
              <p:tags r:id="rId27"/>
            </p:custDataLst>
          </p:nvPr>
        </p:nvCxnSpPr>
        <p:spPr>
          <a:xfrm>
            <a:off x="6756882" y="675676"/>
            <a:ext cx="0" cy="432000"/>
          </a:xfrm>
          <a:prstGeom prst="line">
            <a:avLst/>
          </a:prstGeom>
          <a:ln w="25400">
            <a:gradFill>
              <a:gsLst>
                <a:gs pos="17000">
                  <a:schemeClr val="accent1">
                    <a:alpha val="0"/>
                  </a:schemeClr>
                </a:gs>
                <a:gs pos="61000">
                  <a:schemeClr val="accent1">
                    <a:alpha val="100000"/>
                  </a:schemeClr>
                </a:gs>
              </a:gsLst>
              <a:lin ang="16200000" scaled="1"/>
            </a:gradFill>
          </a:ln>
        </p:spPr>
        <p:style>
          <a:lnRef idx="1">
            <a:schemeClr val="accent1"/>
          </a:lnRef>
          <a:fillRef idx="0">
            <a:schemeClr val="accent1"/>
          </a:fillRef>
          <a:effectRef idx="0">
            <a:schemeClr val="accent1"/>
          </a:effectRef>
          <a:fontRef idx="minor">
            <a:schemeClr val="tx1"/>
          </a:fontRef>
        </p:style>
      </p:cxnSp>
      <p:sp>
        <p:nvSpPr>
          <p:cNvPr id="163" name="流程图: 延期 162"/>
          <p:cNvSpPr/>
          <p:nvPr>
            <p:custDataLst>
              <p:tags r:id="rId28"/>
            </p:custDataLst>
          </p:nvPr>
        </p:nvSpPr>
        <p:spPr>
          <a:xfrm>
            <a:off x="6757035" y="674370"/>
            <a:ext cx="347345" cy="238760"/>
          </a:xfrm>
          <a:prstGeom prst="flowChartDelay">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rmAutofit fontScale="60000"/>
          </a:bodyPr>
          <a:p>
            <a:pPr lvl="0" algn="r">
              <a:spcBef>
                <a:spcPct val="0"/>
              </a:spcBef>
              <a:spcAft>
                <a:spcPct val="0"/>
              </a:spcAft>
              <a:buClrTx/>
              <a:buSzTx/>
              <a:buFontTx/>
            </a:pPr>
            <a:r>
              <a:rPr lang="en-US" altLang="zh-CN" b="1">
                <a:solidFill>
                  <a:srgbClr val="FFFFFF"/>
                </a:solidFill>
                <a:effectLst>
                  <a:outerShdw blurRad="50800" dist="38100" dir="5400000" algn="t" rotWithShape="0">
                    <a:schemeClr val="accent1">
                      <a:lumMod val="75000"/>
                      <a:alpha val="40000"/>
                    </a:schemeClr>
                  </a:outerShdw>
                </a:effectLst>
                <a:latin typeface="+mn-ea"/>
                <a:cs typeface="+mn-ea"/>
                <a:sym typeface="+mn-ea"/>
              </a:rPr>
              <a:t>50%</a:t>
            </a:r>
            <a:endParaRPr lang="en-US" altLang="zh-CN" b="1" dirty="0">
              <a:solidFill>
                <a:srgbClr val="FFFFFF"/>
              </a:solidFill>
              <a:effectLst>
                <a:outerShdw blurRad="50800" dist="38100" dir="5400000" algn="t" rotWithShape="0">
                  <a:schemeClr val="accent1">
                    <a:lumMod val="75000"/>
                    <a:alpha val="40000"/>
                  </a:schemeClr>
                </a:outerShdw>
              </a:effectLst>
              <a:latin typeface="+mn-ea"/>
              <a:cs typeface="+mn-ea"/>
              <a:sym typeface="+mn-ea"/>
            </a:endParaRPr>
          </a:p>
        </p:txBody>
      </p:sp>
      <p:sp>
        <p:nvSpPr>
          <p:cNvPr id="164" name="文本框 163"/>
          <p:cNvSpPr txBox="1"/>
          <p:nvPr/>
        </p:nvSpPr>
        <p:spPr>
          <a:xfrm>
            <a:off x="5660390" y="989330"/>
            <a:ext cx="1043940" cy="267970"/>
          </a:xfrm>
          <a:prstGeom prst="rect">
            <a:avLst/>
          </a:prstGeom>
          <a:noFill/>
        </p:spPr>
        <p:txBody>
          <a:bodyPr wrap="square" lIns="0" tIns="0" rIns="0" bIns="0" rtlCol="0" anchor="ctr" anchorCtr="0">
            <a:noAutofit/>
          </a:bodyPr>
          <a:p>
            <a:pPr marL="0" indent="0" algn="ctr">
              <a:buNone/>
            </a:pPr>
            <a:r>
              <a:rPr lang="zh-CN" altLang="en-US" sz="1200" dirty="0">
                <a:solidFill>
                  <a:schemeClr val="tx1"/>
                </a:solidFill>
                <a:latin typeface="微软雅黑" panose="020B0503020204020204" charset="-122"/>
                <a:ea typeface="微软雅黑" panose="020B0503020204020204" charset="-122"/>
                <a:cs typeface="微软雅黑" panose="020B0503020204020204" charset="-122"/>
                <a:sym typeface="+mn-ea"/>
              </a:rPr>
              <a:t>当前运营进度</a:t>
            </a:r>
            <a:endParaRPr lang="zh-CN" altLang="en-US" sz="1200"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pic>
        <p:nvPicPr>
          <p:cNvPr id="23" name="图片 22" descr="组 3169@1x"/>
          <p:cNvPicPr>
            <a:picLocks noChangeAspect="1"/>
          </p:cNvPicPr>
          <p:nvPr/>
        </p:nvPicPr>
        <p:blipFill>
          <a:blip r:embed="rId29"/>
          <a:stretch>
            <a:fillRect/>
          </a:stretch>
        </p:blipFill>
        <p:spPr>
          <a:xfrm>
            <a:off x="1270635" y="6097905"/>
            <a:ext cx="8941435" cy="590550"/>
          </a:xfrm>
          <a:prstGeom prst="rect">
            <a:avLst/>
          </a:prstGeom>
        </p:spPr>
      </p:pic>
      <p:sp>
        <p:nvSpPr>
          <p:cNvPr id="81" name="文本框 80"/>
          <p:cNvSpPr txBox="1"/>
          <p:nvPr/>
        </p:nvSpPr>
        <p:spPr>
          <a:xfrm>
            <a:off x="1814195" y="6189345"/>
            <a:ext cx="7851775" cy="521970"/>
          </a:xfrm>
          <a:prstGeom prst="rect">
            <a:avLst/>
          </a:prstGeom>
        </p:spPr>
        <p:txBody>
          <a:bodyPr wrap="square">
            <a:spAutoFit/>
          </a:bodyPr>
          <a:p>
            <a:pPr algn="ctr"/>
            <a:r>
              <a:rPr lang="zh-CN" altLang="en-US"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rPr>
              <a:t>安全保护对象：</a:t>
            </a:r>
            <a:r>
              <a:rPr lang="en-US" altLang="zh-CN"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rPr>
              <a:t>{{business_system}}</a:t>
            </a:r>
            <a:r>
              <a:rPr lang="zh-CN" altLang="en-US"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rPr>
              <a:t>个业务系统</a:t>
            </a:r>
            <a:r>
              <a:rPr lang="en-US" altLang="zh-CN"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rPr>
              <a:t>、{{server_asset}}</a:t>
            </a:r>
            <a:r>
              <a:rPr lang="zh-CN" altLang="en-US"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rPr>
              <a:t>个服务器、</a:t>
            </a:r>
            <a:r>
              <a:rPr lang="en-US" altLang="zh-CN"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rPr>
              <a:t>{{pc_asset}}</a:t>
            </a:r>
            <a:r>
              <a:rPr lang="zh-CN" altLang="en-US"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rPr>
              <a:t>个</a:t>
            </a:r>
            <a:r>
              <a:rPr lang="en-US" altLang="zh-CN"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rPr>
              <a:t>PC</a:t>
            </a:r>
            <a:endParaRPr lang="en-US" altLang="zh-CN"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endParaRPr>
          </a:p>
        </p:txBody>
      </p:sp>
      <p:pic>
        <p:nvPicPr>
          <p:cNvPr id="2" name="图片 1" descr="多边形 2@1x"/>
          <p:cNvPicPr>
            <a:picLocks noChangeAspect="1"/>
          </p:cNvPicPr>
          <p:nvPr/>
        </p:nvPicPr>
        <p:blipFill>
          <a:blip r:embed="rId30"/>
          <a:stretch>
            <a:fillRect/>
          </a:stretch>
        </p:blipFill>
        <p:spPr>
          <a:xfrm rot="10800000">
            <a:off x="5660390" y="5685155"/>
            <a:ext cx="324485" cy="267970"/>
          </a:xfrm>
          <a:prstGeom prst="rect">
            <a:avLst/>
          </a:prstGeom>
        </p:spPr>
      </p:pic>
      <p:sp>
        <p:nvSpPr>
          <p:cNvPr id="4" name="左大括号 3"/>
          <p:cNvSpPr/>
          <p:nvPr/>
        </p:nvSpPr>
        <p:spPr>
          <a:xfrm>
            <a:off x="8234045" y="3463290"/>
            <a:ext cx="75565" cy="662305"/>
          </a:xfrm>
          <a:prstGeom prst="lef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6" name="左大括号 5"/>
          <p:cNvSpPr/>
          <p:nvPr/>
        </p:nvSpPr>
        <p:spPr>
          <a:xfrm>
            <a:off x="8234045" y="5022850"/>
            <a:ext cx="75565" cy="662305"/>
          </a:xfrm>
          <a:prstGeom prst="lef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7" name="文本框 6"/>
          <p:cNvSpPr txBox="1"/>
          <p:nvPr/>
        </p:nvSpPr>
        <p:spPr>
          <a:xfrm flipH="1">
            <a:off x="2293620" y="3688715"/>
            <a:ext cx="634365" cy="1538605"/>
          </a:xfrm>
          <a:prstGeom prst="rect">
            <a:avLst/>
          </a:prstGeom>
          <a:noFill/>
        </p:spPr>
        <p:txBody>
          <a:bodyPr vert="eaVert" wrap="square" lIns="0" tIns="0" rIns="0" bIns="0" rtlCol="0" anchor="ctr" anchorCtr="0">
            <a:noAutofit/>
          </a:bodyPr>
          <a:p>
            <a:pPr algn="ctr">
              <a:lnSpc>
                <a:spcPct val="100000"/>
              </a:lnSpc>
            </a:pPr>
            <a:r>
              <a:rPr lang="zh-CN" altLang="en-US" sz="2000" dirty="0">
                <a:solidFill>
                  <a:srgbClr val="4C61E7"/>
                </a:solidFill>
                <a:latin typeface="微软雅黑" panose="020B0503020204020204" charset="-122"/>
                <a:ea typeface="微软雅黑" panose="020B0503020204020204" charset="-122"/>
                <a:cs typeface="微软雅黑" panose="020B0503020204020204" charset="-122"/>
                <a:sym typeface="+mn-ea"/>
              </a:rPr>
              <a:t>XDR平台</a:t>
            </a:r>
            <a:endParaRPr lang="zh-CN" altLang="en-US" sz="2000" dirty="0">
              <a:solidFill>
                <a:srgbClr val="4C61E7"/>
              </a:solidFill>
              <a:latin typeface="微软雅黑" panose="020B0503020204020204" charset="-122"/>
              <a:ea typeface="微软雅黑" panose="020B0503020204020204" charset="-122"/>
              <a:cs typeface="微软雅黑" panose="020B0503020204020204" charset="-122"/>
              <a:sym typeface="+mn-ea"/>
            </a:endParaRPr>
          </a:p>
        </p:txBody>
      </p:sp>
      <p:sp>
        <p:nvSpPr>
          <p:cNvPr id="28" name="文本框 27"/>
          <p:cNvSpPr txBox="1"/>
          <p:nvPr/>
        </p:nvSpPr>
        <p:spPr>
          <a:xfrm>
            <a:off x="6189980" y="1333500"/>
            <a:ext cx="1721485" cy="339725"/>
          </a:xfrm>
          <a:prstGeom prst="rect">
            <a:avLst/>
          </a:prstGeom>
          <a:noFill/>
        </p:spPr>
        <p:txBody>
          <a:bodyPr wrap="square" rtlCol="0" anchor="t">
            <a:noAutofit/>
          </a:bodyPr>
          <a:p>
            <a:r>
              <a:rPr lang="en-US"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sym typeface="+mn-ea"/>
              </a:rPr>
              <a:t>{{</a:t>
            </a:r>
            <a:r>
              <a:rPr lang="en-US" altLang="zh-CN"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sym typeface="+mn-ea"/>
              </a:rPr>
              <a:t>incident_count1</a:t>
            </a:r>
            <a:r>
              <a:rPr lang="en-US"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sym typeface="+mn-ea"/>
              </a:rPr>
              <a:t>}}</a:t>
            </a:r>
            <a:r>
              <a:rPr lang="zh-CN" altLang="en-US" sz="1200" b="1" kern="0" spc="-10" dirty="0">
                <a:solidFill>
                  <a:srgbClr val="00B050">
                    <a:alpha val="100000"/>
                  </a:srgbClr>
                </a:solidFill>
                <a:latin typeface="Source Han Sans CN Bold" panose="020B0600000000000000" charset="-122"/>
                <a:ea typeface="Source Han Sans CN Bold" panose="020B0600000000000000" charset="-122"/>
                <a:cs typeface="宋体" panose="02010600030101010101" pitchFamily="2" charset="-122"/>
                <a:sym typeface="+mn-ea"/>
              </a:rPr>
              <a:t>起</a:t>
            </a:r>
            <a:r>
              <a:rPr lang="en-US" altLang="zh-CN" sz="1200" b="1" kern="0" spc="-10" dirty="0">
                <a:solidFill>
                  <a:srgbClr val="00B050">
                    <a:alpha val="100000"/>
                  </a:srgbClr>
                </a:solidFill>
                <a:latin typeface="Source Han Sans CN Bold" panose="020B0600000000000000" charset="-122"/>
                <a:ea typeface="Source Han Sans CN Bold" panose="020B0600000000000000" charset="-122"/>
                <a:cs typeface="宋体" panose="02010600030101010101" pitchFamily="2" charset="-122"/>
                <a:sym typeface="+mn-ea"/>
              </a:rPr>
              <a:t> </a:t>
            </a:r>
            <a:r>
              <a:rPr lang="en-US" altLang="zh-CN"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sym typeface="+mn-ea"/>
              </a:rPr>
              <a:t>{{closure_rate1}}</a:t>
            </a:r>
            <a:r>
              <a:rPr lang="zh-CN" altLang="en-US" sz="1200" b="1" kern="0" spc="-10" dirty="0">
                <a:solidFill>
                  <a:srgbClr val="00B050">
                    <a:alpha val="100000"/>
                  </a:srgbClr>
                </a:solidFill>
                <a:latin typeface="Source Han Sans CN Bold" panose="020B0600000000000000" charset="-122"/>
                <a:ea typeface="Source Han Sans CN Bold" panose="020B0600000000000000" charset="-122"/>
                <a:cs typeface="宋体" panose="02010600030101010101" pitchFamily="2" charset="-122"/>
                <a:sym typeface="+mn-ea"/>
              </a:rPr>
              <a:t>闭环</a:t>
            </a:r>
            <a:endParaRPr lang="en-US" altLang="zh-CN" sz="1200"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sym typeface="+mn-ea"/>
            </a:endParaRPr>
          </a:p>
          <a:p>
            <a:endParaRPr lang="en-US" altLang="en-US" sz="1200"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sym typeface="+mn-ea"/>
            </a:endParaRPr>
          </a:p>
        </p:txBody>
      </p:sp>
      <p:sp>
        <p:nvSpPr>
          <p:cNvPr id="29" name="文本框 28"/>
          <p:cNvSpPr txBox="1"/>
          <p:nvPr/>
        </p:nvSpPr>
        <p:spPr>
          <a:xfrm>
            <a:off x="7994650" y="1345565"/>
            <a:ext cx="1626870" cy="350520"/>
          </a:xfrm>
          <a:prstGeom prst="rect">
            <a:avLst/>
          </a:prstGeom>
          <a:noFill/>
        </p:spPr>
        <p:txBody>
          <a:bodyPr wrap="square" rtlCol="0" anchor="t">
            <a:noAutofit/>
          </a:bodyPr>
          <a:p>
            <a:r>
              <a:rPr lang="en-US"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sym typeface="+mn-ea"/>
              </a:rPr>
              <a:t>{{</a:t>
            </a:r>
            <a:r>
              <a:rPr lang="en-US" altLang="zh-CN"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sym typeface="+mn-ea"/>
              </a:rPr>
              <a:t>incident_count2</a:t>
            </a:r>
            <a:r>
              <a:rPr lang="en-US"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sym typeface="+mn-ea"/>
              </a:rPr>
              <a:t>}}</a:t>
            </a:r>
            <a:r>
              <a:rPr lang="zh-CN" altLang="en-US" sz="1200" b="1" kern="0" spc="-10" dirty="0">
                <a:solidFill>
                  <a:srgbClr val="00B050">
                    <a:alpha val="100000"/>
                  </a:srgbClr>
                </a:solidFill>
                <a:latin typeface="Source Han Sans CN Bold" panose="020B0600000000000000" charset="-122"/>
                <a:ea typeface="Source Han Sans CN Bold" panose="020B0600000000000000" charset="-122"/>
                <a:cs typeface="宋体" panose="02010600030101010101" pitchFamily="2" charset="-122"/>
                <a:sym typeface="+mn-ea"/>
              </a:rPr>
              <a:t>起</a:t>
            </a:r>
            <a:r>
              <a:rPr lang="en-US" altLang="zh-CN" sz="1200" b="1" kern="0" spc="-10" dirty="0">
                <a:solidFill>
                  <a:srgbClr val="00B050">
                    <a:alpha val="100000"/>
                  </a:srgbClr>
                </a:solidFill>
                <a:latin typeface="Source Han Sans CN Bold" panose="020B0600000000000000" charset="-122"/>
                <a:ea typeface="Source Han Sans CN Bold" panose="020B0600000000000000" charset="-122"/>
                <a:cs typeface="宋体" panose="02010600030101010101" pitchFamily="2" charset="-122"/>
                <a:sym typeface="+mn-ea"/>
              </a:rPr>
              <a:t> </a:t>
            </a:r>
            <a:r>
              <a:rPr lang="en-US" altLang="zh-CN"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sym typeface="+mn-ea"/>
              </a:rPr>
              <a:t>{{closure_rate2}}</a:t>
            </a:r>
            <a:r>
              <a:rPr lang="zh-CN" altLang="en-US" sz="1200" b="1" kern="0" spc="-10" dirty="0">
                <a:solidFill>
                  <a:srgbClr val="00B050">
                    <a:alpha val="100000"/>
                  </a:srgbClr>
                </a:solidFill>
                <a:latin typeface="Source Han Sans CN Bold" panose="020B0600000000000000" charset="-122"/>
                <a:ea typeface="Source Han Sans CN Bold" panose="020B0600000000000000" charset="-122"/>
                <a:cs typeface="宋体" panose="02010600030101010101" pitchFamily="2" charset="-122"/>
                <a:sym typeface="+mn-ea"/>
              </a:rPr>
              <a:t>闭环</a:t>
            </a:r>
            <a:endParaRPr lang="en-US" altLang="zh-CN" sz="1200"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224790" y="289878"/>
            <a:ext cx="8361045" cy="327025"/>
            <a:chOff x="533" y="646"/>
            <a:chExt cx="13167" cy="515"/>
          </a:xfrm>
        </p:grpSpPr>
        <p:grpSp>
          <p:nvGrpSpPr>
            <p:cNvPr id="13" name="组合 12"/>
            <p:cNvGrpSpPr/>
            <p:nvPr/>
          </p:nvGrpSpPr>
          <p:grpSpPr>
            <a:xfrm rot="0">
              <a:off x="533" y="672"/>
              <a:ext cx="582" cy="420"/>
              <a:chOff x="533" y="672"/>
              <a:chExt cx="582" cy="420"/>
            </a:xfrm>
          </p:grpSpPr>
          <p:sp>
            <p:nvSpPr>
              <p:cNvPr id="14" name="燕尾形 86"/>
              <p:cNvSpPr/>
              <p:nvPr>
                <p:custDataLst>
                  <p:tags r:id="rId1"/>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6" name="燕尾形 103"/>
              <p:cNvSpPr/>
              <p:nvPr>
                <p:custDataLst>
                  <p:tags r:id="rId2"/>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3" name="textbox 158"/>
            <p:cNvSpPr/>
            <p:nvPr/>
          </p:nvSpPr>
          <p:spPr>
            <a:xfrm>
              <a:off x="1345" y="646"/>
              <a:ext cx="3627"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微软雅黑" panose="020B0503020204020204" charset="-122"/>
                <a:ea typeface="微软雅黑" panose="020B0503020204020204" charset="-122"/>
                <a:cs typeface="Arial" panose="020B0604020202020204"/>
              </a:endParaRPr>
            </a:p>
            <a:p>
              <a:pPr algn="l" rtl="0" eaLnBrk="0">
                <a:lnSpc>
                  <a:spcPct val="101000"/>
                </a:lnSpc>
              </a:pPr>
              <a:r>
                <a:rPr lang="zh-CN" altLang="en-US" sz="1900" b="1" noProof="0" dirty="0">
                  <a:solidFill>
                    <a:schemeClr val="tx1">
                      <a:lumMod val="85000"/>
                      <a:lumOff val="15000"/>
                    </a:schemeClr>
                  </a:solidFill>
                  <a:uLnTx/>
                  <a:latin typeface="微软雅黑" panose="020B0503020204020204" charset="-122"/>
                  <a:ea typeface="微软雅黑" panose="020B0503020204020204" charset="-122"/>
                  <a:sym typeface="Calibri" panose="020F0502020204030204" charset="0"/>
                </a:rPr>
                <a:t>业务</a:t>
              </a:r>
              <a:r>
                <a:rPr lang="zh-CN" altLang="en-US" sz="1900" b="1" noProof="0" dirty="0">
                  <a:solidFill>
                    <a:schemeClr val="tx1">
                      <a:lumMod val="85000"/>
                      <a:lumOff val="15000"/>
                    </a:schemeClr>
                  </a:solidFill>
                  <a:uLnTx/>
                  <a:latin typeface="微软雅黑" panose="020B0503020204020204" charset="-122"/>
                  <a:ea typeface="微软雅黑" panose="020B0503020204020204" charset="-122"/>
                  <a:sym typeface="Calibri" panose="020F0502020204030204" charset="0"/>
                </a:rPr>
                <a:t>保护成效总览</a:t>
              </a:r>
              <a:endParaRPr lang="zh-CN" altLang="en-US" sz="1900" b="1" noProof="0" dirty="0">
                <a:solidFill>
                  <a:schemeClr val="tx1">
                    <a:lumMod val="85000"/>
                    <a:lumOff val="15000"/>
                  </a:schemeClr>
                </a:solidFill>
                <a:uLnTx/>
                <a:latin typeface="微软雅黑" panose="020B0503020204020204" charset="-122"/>
                <a:ea typeface="微软雅黑" panose="020B0503020204020204" charset="-122"/>
                <a:sym typeface="Calibri" panose="020F0502020204030204" charset="0"/>
              </a:endParaRPr>
            </a:p>
          </p:txBody>
        </p:sp>
        <p:sp>
          <p:nvSpPr>
            <p:cNvPr id="4" name="textbox 158"/>
            <p:cNvSpPr/>
            <p:nvPr/>
          </p:nvSpPr>
          <p:spPr>
            <a:xfrm>
              <a:off x="4863" y="715"/>
              <a:ext cx="8837" cy="422"/>
            </a:xfrm>
            <a:prstGeom prst="rect">
              <a:avLst/>
            </a:prstGeom>
            <a:noFill/>
            <a:ln w="0" cap="flat">
              <a:noFill/>
              <a:prstDash val="solid"/>
              <a:miter lim="0"/>
            </a:ln>
          </p:spPr>
          <p:txBody>
            <a:bodyPr vert="horz" wrap="square" lIns="0" tIns="0" rIns="0" bIns="0" anchor="t" anchorCtr="0"/>
            <a:p>
              <a:pPr algn="l" rtl="0" eaLnBrk="0">
                <a:lnSpc>
                  <a:spcPct val="100000"/>
                </a:lnSpc>
              </a:pPr>
              <a:r>
                <a:rPr lang="en-US" altLang="zh-CN"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rPr>
                <a:t>7*24H</a:t>
              </a:r>
              <a:r>
                <a:rPr lang="zh-CN" altLang="en-US"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rPr>
                <a:t>全场景守护、安全事件</a:t>
              </a:r>
              <a:r>
                <a:rPr lang="en-US" altLang="zh-CN"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rPr>
                <a:t>“0”</a:t>
              </a:r>
              <a:r>
                <a:rPr lang="zh-CN" altLang="en-US"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rPr>
                <a:t>损失、安全成效可量化</a:t>
              </a:r>
              <a:endParaRPr lang="zh-CN" altLang="en-US"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endParaRPr>
            </a:p>
          </p:txBody>
        </p:sp>
      </p:grpSp>
      <p:pic>
        <p:nvPicPr>
          <p:cNvPr id="5" name="图片 4" descr="深信服 + 智安全"/>
          <p:cNvPicPr>
            <a:picLocks noChangeAspect="1"/>
          </p:cNvPicPr>
          <p:nvPr/>
        </p:nvPicPr>
        <p:blipFill>
          <a:blip r:embed="rId3"/>
          <a:srcRect l="5232" t="26576" r="4938" b="29565"/>
          <a:stretch>
            <a:fillRect/>
          </a:stretch>
        </p:blipFill>
        <p:spPr>
          <a:xfrm>
            <a:off x="10330815" y="273073"/>
            <a:ext cx="1629867" cy="360000"/>
          </a:xfrm>
          <a:prstGeom prst="rect">
            <a:avLst/>
          </a:prstGeom>
        </p:spPr>
      </p:pic>
      <p:sp>
        <p:nvSpPr>
          <p:cNvPr id="6" name="圆角矩形 5"/>
          <p:cNvSpPr/>
          <p:nvPr/>
        </p:nvSpPr>
        <p:spPr>
          <a:xfrm>
            <a:off x="3649345" y="904875"/>
            <a:ext cx="7760335" cy="327025"/>
          </a:xfrm>
          <a:prstGeom prst="roundRect">
            <a:avLst>
              <a:gd name="adj" fmla="val 7741"/>
            </a:avLst>
          </a:prstGeom>
          <a:solidFill>
            <a:schemeClr val="accent5">
              <a:alpha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35990" rIns="179705" numCol="1" spcCol="0" rtlCol="0" fromWordArt="0" anchor="ctr" anchorCtr="0" forceAA="0" compatLnSpc="1">
            <a:noAutofit/>
          </a:bodyPr>
          <a:p>
            <a:pPr lvl="0" algn="l">
              <a:lnSpc>
                <a:spcPct val="130000"/>
              </a:lnSpc>
              <a:buClrTx/>
              <a:buSzTx/>
              <a:buFontTx/>
            </a:pPr>
            <a:endParaRPr lang="en-US" kern="0" dirty="0">
              <a:ln>
                <a:noFill/>
                <a:prstDash val="sysDot"/>
              </a:ln>
              <a:solidFill>
                <a:schemeClr val="tx1">
                  <a:lumMod val="85000"/>
                  <a:lumOff val="15000"/>
                </a:schemeClr>
              </a:solidFill>
              <a:latin typeface="微软雅黑" panose="020B0503020204020204" charset="-122"/>
              <a:ea typeface="微软雅黑" panose="020B0503020204020204" charset="-122"/>
              <a:sym typeface="+mn-ea"/>
            </a:endParaRPr>
          </a:p>
        </p:txBody>
      </p:sp>
      <p:grpSp>
        <p:nvGrpSpPr>
          <p:cNvPr id="11" name="组合 10"/>
          <p:cNvGrpSpPr/>
          <p:nvPr/>
        </p:nvGrpSpPr>
        <p:grpSpPr>
          <a:xfrm rot="0">
            <a:off x="783590" y="909955"/>
            <a:ext cx="10558780" cy="972185"/>
            <a:chOff x="603" y="1527"/>
            <a:chExt cx="16628" cy="1531"/>
          </a:xfrm>
        </p:grpSpPr>
        <p:sp>
          <p:nvSpPr>
            <p:cNvPr id="32" name="圆角矩形 31"/>
            <p:cNvSpPr/>
            <p:nvPr>
              <p:custDataLst>
                <p:tags r:id="rId4"/>
              </p:custDataLst>
            </p:nvPr>
          </p:nvSpPr>
          <p:spPr>
            <a:xfrm>
              <a:off x="603" y="1527"/>
              <a:ext cx="3969" cy="1531"/>
            </a:xfrm>
            <a:prstGeom prst="roundRect">
              <a:avLst>
                <a:gd name="adj" fmla="val 5594"/>
              </a:avLst>
            </a:prstGeom>
            <a:solidFill>
              <a:schemeClr val="accent5">
                <a:alpha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lIns="935990" rIns="179705" rtlCol="0" anchor="ctr">
              <a:noAutofit/>
            </a:bodyPr>
            <a:p>
              <a:pPr lvl="0" indent="0" algn="l" fontAlgn="auto">
                <a:lnSpc>
                  <a:spcPct val="130000"/>
                </a:lnSpc>
                <a:buClrTx/>
                <a:buSzTx/>
                <a:buFontTx/>
              </a:pPr>
              <a:endParaRPr lang="zh-CN" altLang="en-US" kern="0" dirty="0">
                <a:ln>
                  <a:noFill/>
                  <a:prstDash val="sysDot"/>
                </a:ln>
                <a:solidFill>
                  <a:schemeClr val="tx1">
                    <a:lumMod val="85000"/>
                    <a:lumOff val="15000"/>
                  </a:schemeClr>
                </a:solidFill>
                <a:latin typeface="微软雅黑" panose="020B0503020204020204" charset="-122"/>
                <a:ea typeface="微软雅黑" panose="020B0503020204020204" charset="-122"/>
                <a:sym typeface="+mn-ea"/>
              </a:endParaRPr>
            </a:p>
          </p:txBody>
        </p:sp>
        <p:sp>
          <p:nvSpPr>
            <p:cNvPr id="36" name="文本框 35"/>
            <p:cNvSpPr txBox="1"/>
            <p:nvPr/>
          </p:nvSpPr>
          <p:spPr>
            <a:xfrm>
              <a:off x="5234" y="1560"/>
              <a:ext cx="11997" cy="434"/>
            </a:xfrm>
            <a:prstGeom prst="rect">
              <a:avLst/>
            </a:prstGeom>
            <a:noFill/>
          </p:spPr>
          <p:txBody>
            <a:bodyPr wrap="square" rtlCol="0" anchor="t">
              <a:spAutoFit/>
            </a:bodyPr>
            <a:p>
              <a:pPr algn="l" rtl="0" eaLnBrk="0">
                <a:lnSpc>
                  <a:spcPct val="100000"/>
                </a:lnSpc>
              </a:pPr>
              <a:r>
                <a:rPr lang="zh-CN" altLang="en-US" sz="1200" b="1" kern="0" spc="120" dirty="0">
                  <a:solidFill>
                    <a:schemeClr val="accent6">
                      <a:alpha val="100000"/>
                    </a:schemeClr>
                  </a:solidFill>
                  <a:latin typeface="Source Han Sans CN Bold" panose="020B0600000000000000" charset="-122"/>
                  <a:ea typeface="Source Han Sans CN Bold" panose="020B0600000000000000" charset="-122"/>
                  <a:cs typeface="Source Han Sans CN Bold" panose="020B0600000000000000" charset="-122"/>
                  <a:sym typeface="+mn-ea"/>
                </a:rPr>
                <a:t>业务安全“</a:t>
              </a:r>
              <a:r>
                <a:rPr lang="en-US" altLang="zh-CN" sz="1200" b="1" kern="0" spc="120" dirty="0">
                  <a:solidFill>
                    <a:schemeClr val="accent6">
                      <a:alpha val="100000"/>
                    </a:schemeClr>
                  </a:solidFill>
                  <a:latin typeface="Source Han Sans CN Bold" panose="020B0600000000000000" charset="-122"/>
                  <a:ea typeface="Source Han Sans CN Bold" panose="020B0600000000000000" charset="-122"/>
                  <a:cs typeface="Source Han Sans CN Bold" panose="020B0600000000000000" charset="-122"/>
                  <a:sym typeface="+mn-ea"/>
                </a:rPr>
                <a:t>0”</a:t>
              </a:r>
              <a:r>
                <a:rPr lang="zh-CN" altLang="en-US" sz="1200" b="1" kern="0" spc="120" dirty="0">
                  <a:solidFill>
                    <a:schemeClr val="accent6">
                      <a:alpha val="100000"/>
                    </a:schemeClr>
                  </a:solidFill>
                  <a:latin typeface="Source Han Sans CN Bold" panose="020B0600000000000000" charset="-122"/>
                  <a:ea typeface="Source Han Sans CN Bold" panose="020B0600000000000000" charset="-122"/>
                  <a:cs typeface="Source Han Sans CN Bold" panose="020B0600000000000000" charset="-122"/>
                  <a:sym typeface="+mn-ea"/>
                </a:rPr>
                <a:t>中断</a:t>
              </a:r>
              <a:r>
                <a:rPr lang="en-US" altLang="zh-CN" sz="1200" b="1" kern="0" spc="120" dirty="0">
                  <a:solidFill>
                    <a:schemeClr val="accent6">
                      <a:alpha val="100000"/>
                    </a:schemeClr>
                  </a:solidFill>
                  <a:latin typeface="Source Han Sans CN Bold" panose="020B0600000000000000" charset="-122"/>
                  <a:ea typeface="Source Han Sans CN Bold" panose="020B0600000000000000" charset="-122"/>
                  <a:cs typeface="Source Han Sans CN Bold" panose="020B0600000000000000" charset="-122"/>
                  <a:sym typeface="+mn-ea"/>
                </a:rPr>
                <a:t>    </a:t>
              </a:r>
              <a:r>
                <a:rPr lang="zh-CN" altLang="en-US" sz="1200" b="1" kern="0" spc="120" dirty="0">
                  <a:solidFill>
                    <a:schemeClr val="accent6">
                      <a:alpha val="100000"/>
                    </a:schemeClr>
                  </a:solidFill>
                  <a:latin typeface="Source Han Sans CN Bold" panose="020B0600000000000000" charset="-122"/>
                  <a:ea typeface="Source Han Sans CN Bold" panose="020B0600000000000000" charset="-122"/>
                  <a:cs typeface="Source Han Sans CN Bold" panose="020B0600000000000000" charset="-122"/>
                  <a:sym typeface="+mn-ea"/>
                </a:rPr>
                <a:t>安全事件“</a:t>
              </a:r>
              <a:r>
                <a:rPr lang="en-US" altLang="zh-CN" sz="1200" b="1" kern="0" spc="120" dirty="0">
                  <a:solidFill>
                    <a:schemeClr val="accent6">
                      <a:alpha val="100000"/>
                    </a:schemeClr>
                  </a:solidFill>
                  <a:latin typeface="Source Han Sans CN Bold" panose="020B0600000000000000" charset="-122"/>
                  <a:ea typeface="Source Han Sans CN Bold" panose="020B0600000000000000" charset="-122"/>
                  <a:cs typeface="Source Han Sans CN Bold" panose="020B0600000000000000" charset="-122"/>
                  <a:sym typeface="+mn-ea"/>
                </a:rPr>
                <a:t>0</a:t>
              </a:r>
              <a:r>
                <a:rPr lang="zh-CN" altLang="en-US" sz="1200" b="1" kern="0" spc="120" dirty="0">
                  <a:solidFill>
                    <a:schemeClr val="accent6">
                      <a:alpha val="100000"/>
                    </a:schemeClr>
                  </a:solidFill>
                  <a:latin typeface="Source Han Sans CN Bold" panose="020B0600000000000000" charset="-122"/>
                  <a:ea typeface="Source Han Sans CN Bold" panose="020B0600000000000000" charset="-122"/>
                  <a:cs typeface="Source Han Sans CN Bold" panose="020B0600000000000000" charset="-122"/>
                  <a:sym typeface="+mn-ea"/>
                </a:rPr>
                <a:t>”损失</a:t>
              </a:r>
              <a:endParaRPr lang="zh-CN" altLang="en-US" sz="1200" b="1" kern="0" spc="120" dirty="0">
                <a:solidFill>
                  <a:schemeClr val="accent6">
                    <a:alpha val="100000"/>
                  </a:schemeClr>
                </a:solidFill>
                <a:latin typeface="Source Han Sans CN Bold" panose="020B0600000000000000" charset="-122"/>
                <a:ea typeface="Source Han Sans CN Bold" panose="020B0600000000000000" charset="-122"/>
                <a:cs typeface="Source Han Sans CN Bold" panose="020B0600000000000000" charset="-122"/>
                <a:sym typeface="+mn-ea"/>
              </a:endParaRPr>
            </a:p>
          </p:txBody>
        </p:sp>
        <p:grpSp>
          <p:nvGrpSpPr>
            <p:cNvPr id="10" name="组合 9"/>
            <p:cNvGrpSpPr/>
            <p:nvPr/>
          </p:nvGrpSpPr>
          <p:grpSpPr>
            <a:xfrm>
              <a:off x="951" y="1754"/>
              <a:ext cx="3211" cy="1077"/>
              <a:chOff x="1042" y="1516"/>
              <a:chExt cx="3211" cy="1077"/>
            </a:xfrm>
          </p:grpSpPr>
          <p:sp>
            <p:nvSpPr>
              <p:cNvPr id="34" name="文本框 33"/>
              <p:cNvSpPr txBox="1"/>
              <p:nvPr/>
            </p:nvSpPr>
            <p:spPr>
              <a:xfrm>
                <a:off x="2195" y="1516"/>
                <a:ext cx="2058" cy="1077"/>
              </a:xfrm>
              <a:prstGeom prst="rect">
                <a:avLst/>
              </a:prstGeom>
              <a:noFill/>
            </p:spPr>
            <p:txBody>
              <a:bodyPr wrap="square" rtlCol="0" anchor="ctr" anchorCtr="0">
                <a:noAutofit/>
              </a:bodyPr>
              <a:p>
                <a:pPr lvl="0" algn="l" fontAlgn="auto">
                  <a:lnSpc>
                    <a:spcPct val="100000"/>
                  </a:lnSpc>
                  <a:buClrTx/>
                  <a:buSzTx/>
                  <a:buFontTx/>
                  <a:buNone/>
                </a:pPr>
                <a:r>
                  <a:rPr lang="zh-CN" altLang="en-US" sz="1600" kern="0" dirty="0">
                    <a:ln>
                      <a:noFill/>
                      <a:prstDash val="sysDot"/>
                    </a:ln>
                    <a:solidFill>
                      <a:schemeClr val="tx1">
                        <a:lumMod val="85000"/>
                        <a:lumOff val="15000"/>
                      </a:schemeClr>
                    </a:solidFill>
                    <a:latin typeface="Source Han Sans CN Regular" panose="020B0600000000000000" charset="-122"/>
                    <a:ea typeface="Source Han Sans CN Regular" panose="020B0600000000000000" charset="-122"/>
                    <a:cs typeface="Source Han Sans CN Regular" panose="020B0600000000000000" charset="-122"/>
                    <a:sym typeface="+mn-ea"/>
                  </a:rPr>
                  <a:t>7*24业务系统安全保护</a:t>
                </a:r>
                <a:endParaRPr lang="zh-CN" altLang="en-US" sz="1600" kern="0" dirty="0">
                  <a:ln>
                    <a:noFill/>
                    <a:prstDash val="sysDot"/>
                  </a:ln>
                  <a:solidFill>
                    <a:schemeClr val="tx1">
                      <a:lumMod val="85000"/>
                      <a:lumOff val="15000"/>
                    </a:schemeClr>
                  </a:solidFill>
                  <a:latin typeface="Source Han Sans CN Regular" panose="020B0600000000000000" charset="-122"/>
                  <a:ea typeface="Source Han Sans CN Regular" panose="020B0600000000000000" charset="-122"/>
                  <a:cs typeface="Source Han Sans CN Regular" panose="020B0600000000000000" charset="-122"/>
                  <a:sym typeface="+mn-ea"/>
                </a:endParaRPr>
              </a:p>
            </p:txBody>
          </p:sp>
          <p:pic>
            <p:nvPicPr>
              <p:cNvPr id="9" name="图片 8" descr="风险行为@2x (1)"/>
              <p:cNvPicPr>
                <a:picLocks noChangeAspect="1"/>
              </p:cNvPicPr>
              <p:nvPr/>
            </p:nvPicPr>
            <p:blipFill>
              <a:blip r:embed="rId5"/>
              <a:stretch>
                <a:fillRect/>
              </a:stretch>
            </p:blipFill>
            <p:spPr>
              <a:xfrm>
                <a:off x="1042" y="1558"/>
                <a:ext cx="922" cy="922"/>
              </a:xfrm>
              <a:prstGeom prst="rect">
                <a:avLst/>
              </a:prstGeom>
            </p:spPr>
          </p:pic>
        </p:grpSp>
      </p:grpSp>
      <p:grpSp>
        <p:nvGrpSpPr>
          <p:cNvPr id="46" name="组合 45"/>
          <p:cNvGrpSpPr/>
          <p:nvPr/>
        </p:nvGrpSpPr>
        <p:grpSpPr>
          <a:xfrm rot="0">
            <a:off x="3649345" y="1348740"/>
            <a:ext cx="7750175" cy="586105"/>
            <a:chOff x="5780" y="2900"/>
            <a:chExt cx="12205" cy="923"/>
          </a:xfrm>
        </p:grpSpPr>
        <p:grpSp>
          <p:nvGrpSpPr>
            <p:cNvPr id="25" name="组合 24"/>
            <p:cNvGrpSpPr/>
            <p:nvPr/>
          </p:nvGrpSpPr>
          <p:grpSpPr>
            <a:xfrm>
              <a:off x="5780" y="2900"/>
              <a:ext cx="2644" cy="923"/>
              <a:chOff x="5780" y="2900"/>
              <a:chExt cx="2644" cy="923"/>
            </a:xfrm>
          </p:grpSpPr>
          <p:sp>
            <p:nvSpPr>
              <p:cNvPr id="24" name="圆角矩形 23"/>
              <p:cNvSpPr/>
              <p:nvPr/>
            </p:nvSpPr>
            <p:spPr>
              <a:xfrm>
                <a:off x="5780" y="2900"/>
                <a:ext cx="2644" cy="832"/>
              </a:xfrm>
              <a:prstGeom prst="roundRect">
                <a:avLst>
                  <a:gd name="adj" fmla="val 5408"/>
                </a:avLst>
              </a:prstGeom>
              <a:noFill/>
              <a:ln w="12700" cmpd="sng">
                <a:solidFill>
                  <a:schemeClr val="bg1">
                    <a:lumMod val="85000"/>
                  </a:scheme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23" name="组合 22"/>
              <p:cNvGrpSpPr/>
              <p:nvPr/>
            </p:nvGrpSpPr>
            <p:grpSpPr>
              <a:xfrm>
                <a:off x="5884" y="2970"/>
                <a:ext cx="2437" cy="853"/>
                <a:chOff x="5987" y="2974"/>
                <a:chExt cx="2437" cy="853"/>
              </a:xfrm>
            </p:grpSpPr>
            <p:sp>
              <p:nvSpPr>
                <p:cNvPr id="106" name="文本框 105"/>
                <p:cNvSpPr txBox="1"/>
                <p:nvPr/>
              </p:nvSpPr>
              <p:spPr>
                <a:xfrm>
                  <a:off x="5987" y="2974"/>
                  <a:ext cx="2437" cy="383"/>
                </a:xfrm>
                <a:prstGeom prst="rect">
                  <a:avLst/>
                </a:prstGeom>
                <a:noFill/>
                <a:ln>
                  <a:noFill/>
                </a:ln>
              </p:spPr>
              <p:txBody>
                <a:bodyPr wrap="square" rtlCol="0" anchor="ctr" anchorCtr="0">
                  <a:noAutofit/>
                </a:bodyPr>
                <a:p>
                  <a:pPr algn="ctr" rtl="0" eaLnBrk="0">
                    <a:lnSpc>
                      <a:spcPct val="100000"/>
                    </a:lnSpc>
                  </a:pPr>
                  <a:r>
                    <a:rPr lang="zh-CN" sz="1000" kern="0" spc="120" dirty="0">
                      <a:solidFill>
                        <a:srgbClr val="000000">
                          <a:alpha val="100000"/>
                        </a:srgbClr>
                      </a:solidFill>
                      <a:latin typeface="Source Han Sans CN Regular" panose="020B0600000000000000" charset="-122"/>
                      <a:ea typeface="Source Han Sans CN Regular" panose="020B0600000000000000" charset="-122"/>
                      <a:cs typeface="黑体" panose="02010609060101010101" charset="-122"/>
                      <a:sym typeface="+mn-ea"/>
                    </a:rPr>
                    <a:t>高危可利用漏洞防护</a:t>
                  </a:r>
                  <a:endParaRPr lang="zh-CN" sz="1000" kern="0" spc="120" dirty="0">
                    <a:solidFill>
                      <a:srgbClr val="000000">
                        <a:alpha val="100000"/>
                      </a:srgbClr>
                    </a:solidFill>
                    <a:latin typeface="Source Han Sans CN Regular" panose="020B0600000000000000" charset="-122"/>
                    <a:ea typeface="Source Han Sans CN Regular" panose="020B0600000000000000" charset="-122"/>
                    <a:cs typeface="黑体" panose="02010609060101010101" charset="-122"/>
                    <a:sym typeface="+mn-ea"/>
                  </a:endParaRPr>
                </a:p>
              </p:txBody>
            </p:sp>
            <p:sp>
              <p:nvSpPr>
                <p:cNvPr id="17" name="文本框 16"/>
                <p:cNvSpPr txBox="1"/>
                <p:nvPr/>
              </p:nvSpPr>
              <p:spPr>
                <a:xfrm>
                  <a:off x="6096" y="3116"/>
                  <a:ext cx="2203" cy="711"/>
                </a:xfrm>
                <a:prstGeom prst="rect">
                  <a:avLst/>
                </a:prstGeom>
                <a:noFill/>
                <a:ln>
                  <a:noFill/>
                </a:ln>
              </p:spPr>
              <p:txBody>
                <a:bodyPr wrap="square" rtlCol="0" anchor="ctr" anchorCtr="0">
                  <a:noAutofit/>
                </a:bodyPr>
                <a:p>
                  <a:pPr algn="ctr" rtl="0" eaLnBrk="0">
                    <a:lnSpc>
                      <a:spcPct val="100000"/>
                    </a:lnSpc>
                  </a:pPr>
                  <a:r>
                    <a:rPr lang="en-US" altLang="zh-CN" sz="1000" b="1" kern="0" spc="120" dirty="0">
                      <a:solidFill>
                        <a:srgbClr val="0B4CBB">
                          <a:alpha val="100000"/>
                        </a:srgbClr>
                      </a:solidFill>
                      <a:latin typeface="微软雅黑" panose="020B0503020204020204" charset="-122"/>
                      <a:ea typeface="微软雅黑" panose="020B0503020204020204" charset="-122"/>
                      <a:cs typeface="DINPro Bold" panose="02000503030000020004" charset="0"/>
                      <a:sym typeface="+mn-ea"/>
                    </a:rPr>
                    <a:t>{{high_risk_exploitable_vulnerability_protection_rate}}</a:t>
                  </a:r>
                  <a:endParaRPr lang="en-US" altLang="zh-CN" sz="1000" b="1" kern="0" spc="120" dirty="0">
                    <a:solidFill>
                      <a:srgbClr val="0B4CBB">
                        <a:alpha val="100000"/>
                      </a:srgbClr>
                    </a:solidFill>
                    <a:latin typeface="微软雅黑" panose="020B0503020204020204" charset="-122"/>
                    <a:ea typeface="微软雅黑" panose="020B0503020204020204" charset="-122"/>
                    <a:cs typeface="DINPro Bold" panose="02000503030000020004" charset="0"/>
                    <a:sym typeface="+mn-ea"/>
                  </a:endParaRPr>
                </a:p>
              </p:txBody>
            </p:sp>
          </p:grpSp>
        </p:grpSp>
        <p:grpSp>
          <p:nvGrpSpPr>
            <p:cNvPr id="26" name="组合 25"/>
            <p:cNvGrpSpPr/>
            <p:nvPr/>
          </p:nvGrpSpPr>
          <p:grpSpPr>
            <a:xfrm>
              <a:off x="8967" y="2900"/>
              <a:ext cx="2644" cy="832"/>
              <a:chOff x="5780" y="2900"/>
              <a:chExt cx="2644" cy="832"/>
            </a:xfrm>
          </p:grpSpPr>
          <p:sp>
            <p:nvSpPr>
              <p:cNvPr id="27" name="圆角矩形 26"/>
              <p:cNvSpPr/>
              <p:nvPr/>
            </p:nvSpPr>
            <p:spPr>
              <a:xfrm>
                <a:off x="5780" y="2900"/>
                <a:ext cx="2644" cy="832"/>
              </a:xfrm>
              <a:prstGeom prst="roundRect">
                <a:avLst>
                  <a:gd name="adj" fmla="val 5408"/>
                </a:avLst>
              </a:prstGeom>
              <a:noFill/>
              <a:ln w="12700" cmpd="sng">
                <a:solidFill>
                  <a:schemeClr val="bg1">
                    <a:lumMod val="85000"/>
                  </a:scheme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28" name="组合 27"/>
              <p:cNvGrpSpPr/>
              <p:nvPr/>
            </p:nvGrpSpPr>
            <p:grpSpPr>
              <a:xfrm>
                <a:off x="5884" y="2970"/>
                <a:ext cx="2540" cy="693"/>
                <a:chOff x="5987" y="2974"/>
                <a:chExt cx="2540" cy="693"/>
              </a:xfrm>
            </p:grpSpPr>
            <p:sp>
              <p:nvSpPr>
                <p:cNvPr id="29" name="文本框 28"/>
                <p:cNvSpPr txBox="1"/>
                <p:nvPr/>
              </p:nvSpPr>
              <p:spPr>
                <a:xfrm>
                  <a:off x="5987" y="2974"/>
                  <a:ext cx="2437" cy="383"/>
                </a:xfrm>
                <a:prstGeom prst="rect">
                  <a:avLst/>
                </a:prstGeom>
                <a:noFill/>
                <a:ln>
                  <a:noFill/>
                </a:ln>
              </p:spPr>
              <p:txBody>
                <a:bodyPr wrap="square" rtlCol="0" anchor="ctr" anchorCtr="0">
                  <a:noAutofit/>
                </a:bodyPr>
                <a:p>
                  <a:pPr algn="ctr" rtl="0" eaLnBrk="0">
                    <a:lnSpc>
                      <a:spcPct val="100000"/>
                    </a:lnSpc>
                  </a:pPr>
                  <a:r>
                    <a:rPr lang="en-US" altLang="zh-CN" sz="1000" kern="0" spc="120" dirty="0">
                      <a:solidFill>
                        <a:srgbClr val="000000">
                          <a:alpha val="100000"/>
                        </a:srgbClr>
                      </a:solidFill>
                      <a:latin typeface="Source Han Sans CN Regular" panose="020B0600000000000000" charset="-122"/>
                      <a:ea typeface="Source Han Sans CN Regular" panose="020B0600000000000000" charset="-122"/>
                      <a:cs typeface="黑体" panose="02010609060101010101" charset="-122"/>
                      <a:sym typeface="+mn-ea"/>
                    </a:rPr>
                    <a:t> </a:t>
                  </a:r>
                  <a:r>
                    <a:rPr lang="zh-CN" sz="1000" kern="0" spc="120" dirty="0">
                      <a:solidFill>
                        <a:srgbClr val="000000">
                          <a:alpha val="100000"/>
                        </a:srgbClr>
                      </a:solidFill>
                      <a:latin typeface="Source Han Sans CN Regular" panose="020B0600000000000000" charset="-122"/>
                      <a:ea typeface="Source Han Sans CN Regular" panose="020B0600000000000000" charset="-122"/>
                      <a:cs typeface="黑体" panose="02010609060101010101" charset="-122"/>
                      <a:sym typeface="+mn-ea"/>
                    </a:rPr>
                    <a:t>服务资产告警研判</a:t>
                  </a:r>
                  <a:endParaRPr lang="zh-CN" sz="1000" kern="0" spc="120" dirty="0">
                    <a:solidFill>
                      <a:srgbClr val="000000">
                        <a:alpha val="100000"/>
                      </a:srgbClr>
                    </a:solidFill>
                    <a:latin typeface="Source Han Sans CN Regular" panose="020B0600000000000000" charset="-122"/>
                    <a:ea typeface="Source Han Sans CN Regular" panose="020B0600000000000000" charset="-122"/>
                    <a:cs typeface="黑体" panose="02010609060101010101" charset="-122"/>
                    <a:sym typeface="+mn-ea"/>
                  </a:endParaRPr>
                </a:p>
              </p:txBody>
            </p:sp>
            <p:sp>
              <p:nvSpPr>
                <p:cNvPr id="30" name="文本框 29"/>
                <p:cNvSpPr txBox="1"/>
                <p:nvPr/>
              </p:nvSpPr>
              <p:spPr>
                <a:xfrm>
                  <a:off x="6142" y="3316"/>
                  <a:ext cx="2385" cy="351"/>
                </a:xfrm>
                <a:prstGeom prst="rect">
                  <a:avLst/>
                </a:prstGeom>
                <a:noFill/>
                <a:ln>
                  <a:noFill/>
                </a:ln>
              </p:spPr>
              <p:txBody>
                <a:bodyPr wrap="square" rtlCol="0" anchor="ctr" anchorCtr="0">
                  <a:noAutofit/>
                </a:bodyPr>
                <a:p>
                  <a:pPr algn="ctr" rtl="0" eaLnBrk="0">
                    <a:lnSpc>
                      <a:spcPct val="100000"/>
                    </a:lnSpc>
                  </a:pPr>
                  <a:r>
                    <a:rPr lang="en-US" altLang="zh-CN" sz="1000" b="1" kern="0" spc="120" dirty="0">
                      <a:solidFill>
                        <a:srgbClr val="0B4CBB">
                          <a:alpha val="100000"/>
                        </a:srgbClr>
                      </a:solidFill>
                      <a:latin typeface="微软雅黑" panose="020B0503020204020204" charset="-122"/>
                      <a:ea typeface="微软雅黑" panose="020B0503020204020204" charset="-122"/>
                      <a:cs typeface="DINPro Bold" panose="02000503030000020004" charset="0"/>
                      <a:sym typeface="+mn-ea"/>
                    </a:rPr>
                    <a:t>{{alert_analysis_rate}}</a:t>
                  </a:r>
                  <a:endParaRPr lang="en-US" altLang="zh-CN" sz="1000" b="1" kern="0" spc="120" dirty="0">
                    <a:solidFill>
                      <a:srgbClr val="0B4CBB">
                        <a:alpha val="100000"/>
                      </a:srgbClr>
                    </a:solidFill>
                    <a:latin typeface="微软雅黑" panose="020B0503020204020204" charset="-122"/>
                    <a:ea typeface="微软雅黑" panose="020B0503020204020204" charset="-122"/>
                    <a:cs typeface="DINPro Bold" panose="02000503030000020004" charset="0"/>
                    <a:sym typeface="+mn-ea"/>
                  </a:endParaRPr>
                </a:p>
              </p:txBody>
            </p:sp>
          </p:grpSp>
        </p:grpSp>
        <p:grpSp>
          <p:nvGrpSpPr>
            <p:cNvPr id="31" name="组合 30"/>
            <p:cNvGrpSpPr/>
            <p:nvPr/>
          </p:nvGrpSpPr>
          <p:grpSpPr>
            <a:xfrm>
              <a:off x="12154" y="2900"/>
              <a:ext cx="2644" cy="832"/>
              <a:chOff x="5780" y="2900"/>
              <a:chExt cx="2644" cy="832"/>
            </a:xfrm>
          </p:grpSpPr>
          <p:sp>
            <p:nvSpPr>
              <p:cNvPr id="33" name="圆角矩形 32"/>
              <p:cNvSpPr/>
              <p:nvPr/>
            </p:nvSpPr>
            <p:spPr>
              <a:xfrm>
                <a:off x="5780" y="2900"/>
                <a:ext cx="2644" cy="832"/>
              </a:xfrm>
              <a:prstGeom prst="roundRect">
                <a:avLst>
                  <a:gd name="adj" fmla="val 5408"/>
                </a:avLst>
              </a:prstGeom>
              <a:noFill/>
              <a:ln w="12700" cmpd="sng">
                <a:solidFill>
                  <a:schemeClr val="bg1">
                    <a:lumMod val="85000"/>
                  </a:scheme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38" name="组合 37"/>
              <p:cNvGrpSpPr/>
              <p:nvPr/>
            </p:nvGrpSpPr>
            <p:grpSpPr>
              <a:xfrm>
                <a:off x="5884" y="2970"/>
                <a:ext cx="2437" cy="680"/>
                <a:chOff x="5987" y="2974"/>
                <a:chExt cx="2437" cy="680"/>
              </a:xfrm>
            </p:grpSpPr>
            <p:sp>
              <p:nvSpPr>
                <p:cNvPr id="39" name="文本框 38"/>
                <p:cNvSpPr txBox="1"/>
                <p:nvPr/>
              </p:nvSpPr>
              <p:spPr>
                <a:xfrm>
                  <a:off x="5987" y="2974"/>
                  <a:ext cx="2437" cy="383"/>
                </a:xfrm>
                <a:prstGeom prst="rect">
                  <a:avLst/>
                </a:prstGeom>
                <a:noFill/>
                <a:ln>
                  <a:noFill/>
                </a:ln>
              </p:spPr>
              <p:txBody>
                <a:bodyPr wrap="square" rtlCol="0" anchor="ctr" anchorCtr="0">
                  <a:noAutofit/>
                </a:bodyPr>
                <a:p>
                  <a:pPr algn="ctr" rtl="0" eaLnBrk="0">
                    <a:lnSpc>
                      <a:spcPct val="100000"/>
                    </a:lnSpc>
                  </a:pPr>
                  <a:r>
                    <a:rPr lang="zh-CN" sz="1000" kern="0" spc="120" dirty="0">
                      <a:solidFill>
                        <a:srgbClr val="000000">
                          <a:alpha val="100000"/>
                        </a:srgbClr>
                      </a:solidFill>
                      <a:latin typeface="Source Han Sans CN Regular" panose="020B0600000000000000" charset="-122"/>
                      <a:ea typeface="Source Han Sans CN Regular" panose="020B0600000000000000" charset="-122"/>
                      <a:cs typeface="黑体" panose="02010609060101010101" charset="-122"/>
                      <a:sym typeface="+mn-ea"/>
                    </a:rPr>
                    <a:t>告警平均</a:t>
                  </a:r>
                  <a:r>
                    <a:rPr lang="zh-CN" sz="1000" kern="0" spc="120" dirty="0">
                      <a:solidFill>
                        <a:srgbClr val="000000">
                          <a:alpha val="100000"/>
                        </a:srgbClr>
                      </a:solidFill>
                      <a:latin typeface="Source Han Sans CN Regular" panose="020B0600000000000000" charset="-122"/>
                      <a:ea typeface="Source Han Sans CN Regular" panose="020B0600000000000000" charset="-122"/>
                      <a:cs typeface="黑体" panose="02010609060101010101" charset="-122"/>
                      <a:sym typeface="+mn-ea"/>
                    </a:rPr>
                    <a:t>响应时间</a:t>
                  </a:r>
                  <a:endParaRPr lang="zh-CN" sz="1000" kern="0" spc="120" dirty="0">
                    <a:solidFill>
                      <a:srgbClr val="000000">
                        <a:alpha val="100000"/>
                      </a:srgbClr>
                    </a:solidFill>
                    <a:latin typeface="Source Han Sans CN Regular" panose="020B0600000000000000" charset="-122"/>
                    <a:ea typeface="Source Han Sans CN Regular" panose="020B0600000000000000" charset="-122"/>
                    <a:cs typeface="黑体" panose="02010609060101010101" charset="-122"/>
                    <a:sym typeface="+mn-ea"/>
                  </a:endParaRPr>
                </a:p>
              </p:txBody>
            </p:sp>
            <p:sp>
              <p:nvSpPr>
                <p:cNvPr id="40" name="文本框 39"/>
                <p:cNvSpPr txBox="1"/>
                <p:nvPr/>
              </p:nvSpPr>
              <p:spPr>
                <a:xfrm>
                  <a:off x="6260" y="3303"/>
                  <a:ext cx="1945" cy="351"/>
                </a:xfrm>
                <a:prstGeom prst="rect">
                  <a:avLst/>
                </a:prstGeom>
                <a:noFill/>
                <a:ln>
                  <a:noFill/>
                </a:ln>
              </p:spPr>
              <p:txBody>
                <a:bodyPr wrap="square" rtlCol="0" anchor="ctr" anchorCtr="0">
                  <a:noAutofit/>
                </a:bodyPr>
                <a:p>
                  <a:pPr algn="ctr" rtl="0" eaLnBrk="0">
                    <a:lnSpc>
                      <a:spcPct val="100000"/>
                    </a:lnSpc>
                  </a:pPr>
                  <a:r>
                    <a:rPr lang="en-US" altLang="zh-CN" sz="1200" b="1" kern="0" spc="120" dirty="0">
                      <a:solidFill>
                        <a:srgbClr val="0B4CBB">
                          <a:alpha val="100000"/>
                        </a:srgbClr>
                      </a:solidFill>
                      <a:latin typeface="微软雅黑" panose="020B0503020204020204" charset="-122"/>
                      <a:ea typeface="微软雅黑" panose="020B0503020204020204" charset="-122"/>
                      <a:cs typeface="微软雅黑" panose="020B0503020204020204" charset="-122"/>
                      <a:sym typeface="+mn-ea"/>
                    </a:rPr>
                    <a:t>{{alert_average_response_time}}</a:t>
                  </a:r>
                  <a:r>
                    <a:rPr lang="zh-CN" altLang="en-US" sz="1200" b="1" kern="0" spc="120" dirty="0">
                      <a:solidFill>
                        <a:srgbClr val="0B4CBB">
                          <a:alpha val="100000"/>
                        </a:srgbClr>
                      </a:solidFill>
                      <a:latin typeface="微软雅黑" panose="020B0503020204020204" charset="-122"/>
                      <a:ea typeface="微软雅黑" panose="020B0503020204020204" charset="-122"/>
                      <a:cs typeface="微软雅黑" panose="020B0503020204020204" charset="-122"/>
                      <a:sym typeface="+mn-ea"/>
                    </a:rPr>
                    <a:t>分钟</a:t>
                  </a:r>
                  <a:endParaRPr lang="zh-CN" altLang="en-US" sz="1200" b="1" kern="0" spc="120" dirty="0">
                    <a:solidFill>
                      <a:srgbClr val="0B4CBB">
                        <a:alpha val="100000"/>
                      </a:srgbClr>
                    </a:solidFill>
                    <a:latin typeface="微软雅黑" panose="020B0503020204020204" charset="-122"/>
                    <a:ea typeface="微软雅黑" panose="020B0503020204020204" charset="-122"/>
                    <a:cs typeface="微软雅黑" panose="020B0503020204020204" charset="-122"/>
                    <a:sym typeface="+mn-ea"/>
                  </a:endParaRPr>
                </a:p>
              </p:txBody>
            </p:sp>
          </p:grpSp>
        </p:grpSp>
        <p:grpSp>
          <p:nvGrpSpPr>
            <p:cNvPr id="41" name="组合 40"/>
            <p:cNvGrpSpPr/>
            <p:nvPr/>
          </p:nvGrpSpPr>
          <p:grpSpPr>
            <a:xfrm>
              <a:off x="15146" y="2900"/>
              <a:ext cx="2839" cy="832"/>
              <a:chOff x="5585" y="2900"/>
              <a:chExt cx="2839" cy="832"/>
            </a:xfrm>
          </p:grpSpPr>
          <p:sp>
            <p:nvSpPr>
              <p:cNvPr id="42" name="圆角矩形 41"/>
              <p:cNvSpPr/>
              <p:nvPr/>
            </p:nvSpPr>
            <p:spPr>
              <a:xfrm>
                <a:off x="5780" y="2900"/>
                <a:ext cx="2644" cy="832"/>
              </a:xfrm>
              <a:prstGeom prst="roundRect">
                <a:avLst>
                  <a:gd name="adj" fmla="val 5408"/>
                </a:avLst>
              </a:prstGeom>
              <a:noFill/>
              <a:ln w="12700" cmpd="sng">
                <a:solidFill>
                  <a:schemeClr val="bg1">
                    <a:lumMod val="85000"/>
                  </a:scheme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43" name="组合 42"/>
              <p:cNvGrpSpPr/>
              <p:nvPr/>
            </p:nvGrpSpPr>
            <p:grpSpPr>
              <a:xfrm>
                <a:off x="5585" y="2970"/>
                <a:ext cx="2803" cy="677"/>
                <a:chOff x="5688" y="2974"/>
                <a:chExt cx="2803" cy="677"/>
              </a:xfrm>
            </p:grpSpPr>
            <p:sp>
              <p:nvSpPr>
                <p:cNvPr id="44" name="文本框 43"/>
                <p:cNvSpPr txBox="1"/>
                <p:nvPr/>
              </p:nvSpPr>
              <p:spPr>
                <a:xfrm>
                  <a:off x="5987" y="2974"/>
                  <a:ext cx="2437" cy="383"/>
                </a:xfrm>
                <a:prstGeom prst="rect">
                  <a:avLst/>
                </a:prstGeom>
                <a:noFill/>
                <a:ln>
                  <a:noFill/>
                </a:ln>
              </p:spPr>
              <p:txBody>
                <a:bodyPr wrap="square" rtlCol="0" anchor="ctr" anchorCtr="0">
                  <a:noAutofit/>
                </a:bodyPr>
                <a:p>
                  <a:pPr algn="ctr" rtl="0" eaLnBrk="0">
                    <a:lnSpc>
                      <a:spcPct val="100000"/>
                    </a:lnSpc>
                  </a:pPr>
                  <a:r>
                    <a:rPr lang="zh-CN" sz="1000" kern="0" spc="120" dirty="0">
                      <a:solidFill>
                        <a:srgbClr val="000000">
                          <a:alpha val="100000"/>
                        </a:srgbClr>
                      </a:solidFill>
                      <a:latin typeface="Source Han Sans CN Regular" panose="020B0600000000000000" charset="-122"/>
                      <a:ea typeface="Source Han Sans CN Regular" panose="020B0600000000000000" charset="-122"/>
                      <a:cs typeface="黑体" panose="02010609060101010101" charset="-122"/>
                      <a:sym typeface="+mn-ea"/>
                    </a:rPr>
                    <a:t>威胁</a:t>
                  </a:r>
                  <a:r>
                    <a:rPr lang="zh-CN" sz="1000" kern="0" spc="120" dirty="0">
                      <a:solidFill>
                        <a:srgbClr val="000000">
                          <a:alpha val="100000"/>
                        </a:srgbClr>
                      </a:solidFill>
                      <a:latin typeface="Source Han Sans CN Regular" panose="020B0600000000000000" charset="-122"/>
                      <a:ea typeface="Source Han Sans CN Regular" panose="020B0600000000000000" charset="-122"/>
                      <a:cs typeface="黑体" panose="02010609060101010101" charset="-122"/>
                      <a:sym typeface="+mn-ea"/>
                    </a:rPr>
                    <a:t>实时遏制率</a:t>
                  </a:r>
                  <a:endParaRPr lang="zh-CN" sz="1000" kern="0" spc="120" dirty="0">
                    <a:solidFill>
                      <a:srgbClr val="000000">
                        <a:alpha val="100000"/>
                      </a:srgbClr>
                    </a:solidFill>
                    <a:latin typeface="Source Han Sans CN Regular" panose="020B0600000000000000" charset="-122"/>
                    <a:ea typeface="Source Han Sans CN Regular" panose="020B0600000000000000" charset="-122"/>
                    <a:cs typeface="黑体" panose="02010609060101010101" charset="-122"/>
                    <a:sym typeface="+mn-ea"/>
                  </a:endParaRPr>
                </a:p>
              </p:txBody>
            </p:sp>
            <p:sp>
              <p:nvSpPr>
                <p:cNvPr id="45" name="文本框 44"/>
                <p:cNvSpPr txBox="1"/>
                <p:nvPr/>
              </p:nvSpPr>
              <p:spPr>
                <a:xfrm>
                  <a:off x="5688" y="3316"/>
                  <a:ext cx="2803" cy="335"/>
                </a:xfrm>
                <a:prstGeom prst="rect">
                  <a:avLst/>
                </a:prstGeom>
                <a:noFill/>
                <a:ln>
                  <a:noFill/>
                </a:ln>
              </p:spPr>
              <p:txBody>
                <a:bodyPr wrap="square" rtlCol="0" anchor="ctr" anchorCtr="0">
                  <a:noAutofit/>
                </a:bodyPr>
                <a:p>
                  <a:pPr algn="ctr" rtl="0" eaLnBrk="0">
                    <a:lnSpc>
                      <a:spcPct val="100000"/>
                    </a:lnSpc>
                  </a:pPr>
                  <a:r>
                    <a:rPr lang="en-US" altLang="zh-CN" sz="1000" b="1" kern="0" spc="120" dirty="0">
                      <a:solidFill>
                        <a:srgbClr val="0B4CBB">
                          <a:alpha val="100000"/>
                        </a:srgbClr>
                      </a:solidFill>
                      <a:latin typeface="微软雅黑" panose="020B0503020204020204" charset="-122"/>
                      <a:ea typeface="微软雅黑" panose="020B0503020204020204" charset="-122"/>
                      <a:cs typeface="DINPro Bold" panose="02000503030000020004" charset="0"/>
                      <a:sym typeface="+mn-ea"/>
                    </a:rPr>
                    <a:t>{{real_time_threat_tracking_rate}}</a:t>
                  </a:r>
                  <a:endParaRPr lang="en-US" altLang="zh-CN" sz="1000" b="1" kern="0" spc="120" dirty="0">
                    <a:solidFill>
                      <a:srgbClr val="0B4CBB">
                        <a:alpha val="100000"/>
                      </a:srgbClr>
                    </a:solidFill>
                    <a:latin typeface="微软雅黑" panose="020B0503020204020204" charset="-122"/>
                    <a:ea typeface="微软雅黑" panose="020B0503020204020204" charset="-122"/>
                    <a:cs typeface="DINPro Bold" panose="02000503030000020004" charset="0"/>
                    <a:sym typeface="+mn-ea"/>
                  </a:endParaRPr>
                </a:p>
              </p:txBody>
            </p:sp>
          </p:grpSp>
        </p:grpSp>
      </p:grpSp>
      <p:grpSp>
        <p:nvGrpSpPr>
          <p:cNvPr id="96" name="组合 95"/>
          <p:cNvGrpSpPr/>
          <p:nvPr>
            <p:custDataLst>
              <p:tags r:id="rId6"/>
            </p:custDataLst>
          </p:nvPr>
        </p:nvGrpSpPr>
        <p:grpSpPr>
          <a:xfrm rot="0">
            <a:off x="4242000" y="2247900"/>
            <a:ext cx="3708000" cy="3708000"/>
            <a:chOff x="8503" y="4270"/>
            <a:chExt cx="3856" cy="3887"/>
          </a:xfrm>
        </p:grpSpPr>
        <p:sp>
          <p:nvSpPr>
            <p:cNvPr id="64" name="椭圆 63"/>
            <p:cNvSpPr/>
            <p:nvPr>
              <p:custDataLst>
                <p:tags r:id="rId7"/>
              </p:custDataLst>
            </p:nvPr>
          </p:nvSpPr>
          <p:spPr>
            <a:xfrm>
              <a:off x="8503" y="4301"/>
              <a:ext cx="3856" cy="3857"/>
            </a:xfrm>
            <a:prstGeom prst="ellipse">
              <a:avLst/>
            </a:prstGeom>
            <a:noFill/>
            <a:ln w="15875">
              <a:gradFill>
                <a:gsLst>
                  <a:gs pos="0">
                    <a:schemeClr val="accent5">
                      <a:lumMod val="60000"/>
                      <a:lumOff val="40000"/>
                      <a:alpha val="100000"/>
                    </a:schemeClr>
                  </a:gs>
                  <a:gs pos="100000">
                    <a:schemeClr val="accent5">
                      <a:lumMod val="60000"/>
                      <a:lumOff val="40000"/>
                      <a:alpha val="40000"/>
                    </a:schemeClr>
                  </a:gs>
                </a:gsLst>
                <a:lin ang="5400000" scaled="1"/>
              </a:gradFill>
            </a:ln>
            <a:effectLst>
              <a:outerShdw blurRad="50800" dist="25400" dir="2700000" algn="tl" rotWithShape="0">
                <a:schemeClr val="accent5">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65" name="形状1"/>
            <p:cNvSpPr/>
            <p:nvPr>
              <p:custDataLst>
                <p:tags r:id="rId8"/>
              </p:custDataLst>
            </p:nvPr>
          </p:nvSpPr>
          <p:spPr>
            <a:xfrm>
              <a:off x="10700" y="4516"/>
              <a:ext cx="1589" cy="1685"/>
            </a:xfrm>
            <a:custGeom>
              <a:avLst/>
              <a:gdLst/>
              <a:ahLst/>
              <a:cxnLst/>
              <a:rect l="l" t="t" r="r" b="b"/>
              <a:pathLst>
                <a:path w="1594308" h="1688900">
                  <a:moveTo>
                    <a:pt x="35722" y="0"/>
                  </a:moveTo>
                  <a:cubicBezTo>
                    <a:pt x="63267" y="1812"/>
                    <a:pt x="90236" y="7301"/>
                    <a:pt x="117153" y="13441"/>
                  </a:cubicBezTo>
                  <a:cubicBezTo>
                    <a:pt x="712437" y="149226"/>
                    <a:pt x="1193213" y="583065"/>
                    <a:pt x="1389874" y="1157658"/>
                  </a:cubicBezTo>
                  <a:lnTo>
                    <a:pt x="1594308" y="1091234"/>
                  </a:lnTo>
                  <a:lnTo>
                    <a:pt x="1206709" y="1688900"/>
                  </a:lnTo>
                  <a:lnTo>
                    <a:pt x="586966" y="1418539"/>
                  </a:lnTo>
                  <a:lnTo>
                    <a:pt x="805208" y="1347628"/>
                  </a:lnTo>
                  <a:cubicBezTo>
                    <a:pt x="678722" y="983781"/>
                    <a:pt x="375808" y="708460"/>
                    <a:pt x="0" y="616979"/>
                  </a:cubicBezTo>
                  <a:lnTo>
                    <a:pt x="281137" y="300469"/>
                  </a:lnTo>
                  <a:close/>
                </a:path>
              </a:pathLst>
            </a:custGeom>
            <a:gradFill>
              <a:gsLst>
                <a:gs pos="20000">
                  <a:schemeClr val="accent6">
                    <a:alpha val="100000"/>
                  </a:schemeClr>
                </a:gs>
                <a:gs pos="100000">
                  <a:schemeClr val="accent6">
                    <a:alpha val="60000"/>
                  </a:schemeClr>
                </a:gs>
              </a:gsLst>
              <a:lin ang="13500000" scaled="0"/>
            </a:gradFill>
            <a:ln w="3175">
              <a:noFill/>
            </a:ln>
            <a:effectLst>
              <a:outerShdw blurRad="152400" dist="50800" dir="2700000" algn="tl" rotWithShape="0">
                <a:schemeClr val="accent6">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a:lnSpc>
                  <a:spcPct val="120000"/>
                </a:lnSpc>
              </a:pPr>
              <a:endParaRPr lang="zh-CN" altLang="en-US" sz="1600">
                <a:solidFill>
                  <a:srgbClr val="FFFFFF"/>
                </a:solidFill>
                <a:latin typeface="+mn-ea"/>
              </a:endParaRPr>
            </a:p>
          </p:txBody>
        </p:sp>
        <p:sp>
          <p:nvSpPr>
            <p:cNvPr id="66" name="形状2"/>
            <p:cNvSpPr/>
            <p:nvPr>
              <p:custDataLst>
                <p:tags r:id="rId9"/>
              </p:custDataLst>
            </p:nvPr>
          </p:nvSpPr>
          <p:spPr>
            <a:xfrm>
              <a:off x="8880" y="4270"/>
              <a:ext cx="1962" cy="1358"/>
            </a:xfrm>
            <a:custGeom>
              <a:avLst/>
              <a:gdLst/>
              <a:ahLst/>
              <a:cxnLst/>
              <a:rect l="l" t="t" r="r" b="b"/>
              <a:pathLst>
                <a:path w="1966020" h="1362845">
                  <a:moveTo>
                    <a:pt x="1517380" y="0"/>
                  </a:moveTo>
                  <a:lnTo>
                    <a:pt x="1966020" y="553317"/>
                  </a:lnTo>
                  <a:lnTo>
                    <a:pt x="1517380" y="1059182"/>
                  </a:lnTo>
                  <a:lnTo>
                    <a:pt x="1517380" y="829708"/>
                  </a:lnTo>
                  <a:cubicBezTo>
                    <a:pt x="1135027" y="837512"/>
                    <a:pt x="781922" y="1037666"/>
                    <a:pt x="578396" y="1362845"/>
                  </a:cubicBezTo>
                  <a:lnTo>
                    <a:pt x="365134" y="999160"/>
                  </a:lnTo>
                  <a:lnTo>
                    <a:pt x="0" y="1141086"/>
                  </a:lnTo>
                  <a:cubicBezTo>
                    <a:pt x="9651" y="1116826"/>
                    <a:pt x="22493" y="1094201"/>
                    <a:pt x="35872" y="1071801"/>
                  </a:cubicBezTo>
                  <a:cubicBezTo>
                    <a:pt x="348964" y="547612"/>
                    <a:pt x="910137" y="224431"/>
                    <a:pt x="1517380" y="214954"/>
                  </a:cubicBezTo>
                  <a:close/>
                </a:path>
              </a:pathLst>
            </a:custGeom>
            <a:solidFill>
              <a:srgbClr val="00B050"/>
            </a:solidFill>
            <a:ln w="3175">
              <a:noFill/>
            </a:ln>
            <a:effectLst>
              <a:outerShdw blurRad="152400" dist="50800" dir="2700000" algn="tl" rotWithShape="0">
                <a:schemeClr val="accent5">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a:lnSpc>
                  <a:spcPct val="120000"/>
                </a:lnSpc>
              </a:pPr>
              <a:endParaRPr lang="zh-CN" altLang="en-US" sz="1600">
                <a:solidFill>
                  <a:srgbClr val="FFFFFF"/>
                </a:solidFill>
                <a:latin typeface="+mn-ea"/>
              </a:endParaRPr>
            </a:p>
          </p:txBody>
        </p:sp>
        <p:sp>
          <p:nvSpPr>
            <p:cNvPr id="67" name="形状3"/>
            <p:cNvSpPr/>
            <p:nvPr>
              <p:custDataLst>
                <p:tags r:id="rId10"/>
              </p:custDataLst>
            </p:nvPr>
          </p:nvSpPr>
          <p:spPr>
            <a:xfrm>
              <a:off x="8546" y="5403"/>
              <a:ext cx="1007" cy="2054"/>
            </a:xfrm>
            <a:custGeom>
              <a:avLst/>
              <a:gdLst/>
              <a:ahLst/>
              <a:cxnLst/>
              <a:rect l="l" t="t" r="r" b="b"/>
              <a:pathLst>
                <a:path w="1010957" h="2059095">
                  <a:moveTo>
                    <a:pt x="664874" y="0"/>
                  </a:moveTo>
                  <a:lnTo>
                    <a:pt x="1007342" y="583003"/>
                  </a:lnTo>
                  <a:lnTo>
                    <a:pt x="789100" y="512092"/>
                  </a:lnTo>
                  <a:cubicBezTo>
                    <a:pt x="677581" y="880742"/>
                    <a:pt x="760774" y="1281465"/>
                    <a:pt x="1010957" y="1576352"/>
                  </a:cubicBezTo>
                  <a:lnTo>
                    <a:pt x="601664" y="1666244"/>
                  </a:lnTo>
                  <a:lnTo>
                    <a:pt x="623909" y="2059095"/>
                  </a:lnTo>
                  <a:cubicBezTo>
                    <a:pt x="601129" y="2040072"/>
                    <a:pt x="581084" y="2018273"/>
                    <a:pt x="561533" y="1995901"/>
                  </a:cubicBezTo>
                  <a:cubicBezTo>
                    <a:pt x="159750" y="1536149"/>
                    <a:pt x="25799" y="902573"/>
                    <a:pt x="204434" y="322122"/>
                  </a:cubicBezTo>
                  <a:lnTo>
                    <a:pt x="0" y="255698"/>
                  </a:lnTo>
                  <a:close/>
                </a:path>
              </a:pathLst>
            </a:custGeom>
            <a:gradFill>
              <a:gsLst>
                <a:gs pos="20000">
                  <a:schemeClr val="accent5">
                    <a:alpha val="100000"/>
                  </a:schemeClr>
                </a:gs>
                <a:gs pos="100000">
                  <a:schemeClr val="accent5">
                    <a:alpha val="60000"/>
                  </a:schemeClr>
                </a:gs>
              </a:gsLst>
              <a:lin ang="2700000" scaled="0"/>
            </a:gradFill>
            <a:ln w="3175">
              <a:noFill/>
            </a:ln>
            <a:effectLst>
              <a:outerShdw blurRad="152400" dist="50800" dir="2700000" algn="tl" rotWithShape="0">
                <a:schemeClr val="accent5">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a:lnSpc>
                  <a:spcPct val="120000"/>
                </a:lnSpc>
              </a:pPr>
              <a:endParaRPr lang="zh-CN" altLang="en-US" sz="1600">
                <a:solidFill>
                  <a:srgbClr val="FFFFFF"/>
                </a:solidFill>
                <a:latin typeface="+mn-ea"/>
              </a:endParaRPr>
            </a:p>
          </p:txBody>
        </p:sp>
        <p:sp>
          <p:nvSpPr>
            <p:cNvPr id="68" name="形状4"/>
            <p:cNvSpPr/>
            <p:nvPr>
              <p:custDataLst>
                <p:tags r:id="rId11"/>
              </p:custDataLst>
            </p:nvPr>
          </p:nvSpPr>
          <p:spPr>
            <a:xfrm>
              <a:off x="9263" y="6996"/>
              <a:ext cx="1923" cy="999"/>
            </a:xfrm>
            <a:custGeom>
              <a:avLst/>
              <a:gdLst/>
              <a:ahLst/>
              <a:cxnLst/>
              <a:rect l="l" t="t" r="r" b="b"/>
              <a:pathLst>
                <a:path w="1930283" h="1002383">
                  <a:moveTo>
                    <a:pt x="660298" y="0"/>
                  </a:moveTo>
                  <a:lnTo>
                    <a:pt x="525416" y="185649"/>
                  </a:lnTo>
                  <a:cubicBezTo>
                    <a:pt x="839116" y="403925"/>
                    <a:pt x="1242091" y="449635"/>
                    <a:pt x="1597690" y="306518"/>
                  </a:cubicBezTo>
                  <a:lnTo>
                    <a:pt x="1556078" y="729928"/>
                  </a:lnTo>
                  <a:lnTo>
                    <a:pt x="1930283" y="828511"/>
                  </a:lnTo>
                  <a:cubicBezTo>
                    <a:pt x="1910040" y="841361"/>
                    <a:pt x="1888287" y="851190"/>
                    <a:pt x="1866280" y="860600"/>
                  </a:cubicBezTo>
                  <a:cubicBezTo>
                    <a:pt x="1304873" y="1100647"/>
                    <a:pt x="660913" y="1032256"/>
                    <a:pt x="164073" y="682995"/>
                  </a:cubicBezTo>
                  <a:lnTo>
                    <a:pt x="37726" y="856896"/>
                  </a:lnTo>
                  <a:lnTo>
                    <a:pt x="0" y="145550"/>
                  </a:lnTo>
                  <a:close/>
                </a:path>
              </a:pathLst>
            </a:custGeom>
            <a:gradFill>
              <a:gsLst>
                <a:gs pos="20000">
                  <a:schemeClr val="accent6">
                    <a:alpha val="100000"/>
                  </a:schemeClr>
                </a:gs>
                <a:gs pos="100000">
                  <a:schemeClr val="accent6">
                    <a:alpha val="60000"/>
                  </a:schemeClr>
                </a:gs>
              </a:gsLst>
              <a:lin ang="2700000" scaled="0"/>
            </a:gradFill>
            <a:ln w="3175">
              <a:noFill/>
            </a:ln>
            <a:effectLst>
              <a:outerShdw blurRad="152400" dist="50800" dir="2700000" algn="tl" rotWithShape="0">
                <a:schemeClr val="accent6">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a:lnSpc>
                  <a:spcPct val="120000"/>
                </a:lnSpc>
              </a:pPr>
              <a:endParaRPr lang="zh-CN" altLang="en-US" sz="1600">
                <a:solidFill>
                  <a:srgbClr val="FFFFFF"/>
                </a:solidFill>
                <a:latin typeface="+mn-ea"/>
              </a:endParaRPr>
            </a:p>
          </p:txBody>
        </p:sp>
        <p:sp>
          <p:nvSpPr>
            <p:cNvPr id="69" name="形状5"/>
            <p:cNvSpPr/>
            <p:nvPr>
              <p:custDataLst>
                <p:tags r:id="rId12"/>
              </p:custDataLst>
            </p:nvPr>
          </p:nvSpPr>
          <p:spPr>
            <a:xfrm>
              <a:off x="10922" y="6004"/>
              <a:ext cx="1261" cy="1814"/>
            </a:xfrm>
            <a:custGeom>
              <a:avLst/>
              <a:gdLst/>
              <a:ahLst/>
              <a:cxnLst/>
              <a:rect l="l" t="t" r="r" b="b"/>
              <a:pathLst>
                <a:path w="1263895" h="1819562">
                  <a:moveTo>
                    <a:pt x="1244377" y="0"/>
                  </a:moveTo>
                  <a:cubicBezTo>
                    <a:pt x="1251168" y="26772"/>
                    <a:pt x="1254285" y="54134"/>
                    <a:pt x="1256765" y="81647"/>
                  </a:cubicBezTo>
                  <a:cubicBezTo>
                    <a:pt x="1311579" y="689756"/>
                    <a:pt x="1047542" y="1281065"/>
                    <a:pt x="561842" y="1645660"/>
                  </a:cubicBezTo>
                  <a:lnTo>
                    <a:pt x="688189" y="1819562"/>
                  </a:lnTo>
                  <a:lnTo>
                    <a:pt x="0" y="1635623"/>
                  </a:lnTo>
                  <a:lnTo>
                    <a:pt x="65617" y="962666"/>
                  </a:lnTo>
                  <a:lnTo>
                    <a:pt x="200498" y="1148313"/>
                  </a:lnTo>
                  <a:cubicBezTo>
                    <a:pt x="507005" y="915921"/>
                    <a:pt x="675203" y="543500"/>
                    <a:pt x="646608" y="158417"/>
                  </a:cubicBezTo>
                  <a:lnTo>
                    <a:pt x="1033591" y="327589"/>
                  </a:lnTo>
                  <a:close/>
                </a:path>
              </a:pathLst>
            </a:custGeom>
            <a:gradFill>
              <a:gsLst>
                <a:gs pos="20000">
                  <a:schemeClr val="accent5">
                    <a:alpha val="100000"/>
                  </a:schemeClr>
                </a:gs>
                <a:gs pos="100000">
                  <a:schemeClr val="accent5">
                    <a:alpha val="60000"/>
                  </a:schemeClr>
                </a:gs>
              </a:gsLst>
              <a:lin ang="18900000" scaled="0"/>
            </a:gradFill>
            <a:ln w="3175">
              <a:noFill/>
            </a:ln>
            <a:effectLst>
              <a:outerShdw blurRad="152400" dist="50800" dir="2700000" algn="tl" rotWithShape="0">
                <a:schemeClr val="accent5">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a:lnSpc>
                  <a:spcPct val="120000"/>
                </a:lnSpc>
              </a:pPr>
              <a:endParaRPr lang="zh-CN" altLang="en-US" sz="1600">
                <a:solidFill>
                  <a:srgbClr val="FFFFFF"/>
                </a:solidFill>
                <a:latin typeface="+mn-ea"/>
              </a:endParaRPr>
            </a:p>
          </p:txBody>
        </p:sp>
      </p:grpSp>
      <p:sp>
        <p:nvSpPr>
          <p:cNvPr id="70" name="矩形 69"/>
          <p:cNvSpPr/>
          <p:nvPr>
            <p:custDataLst>
              <p:tags r:id="rId13"/>
            </p:custDataLst>
          </p:nvPr>
        </p:nvSpPr>
        <p:spPr>
          <a:xfrm>
            <a:off x="5263028" y="3660408"/>
            <a:ext cx="1656000" cy="972000"/>
          </a:xfrm>
          <a:prstGeom prst="rect">
            <a:avLst/>
          </a:prstGeom>
          <a:noFill/>
        </p:spPr>
        <p:txBody>
          <a:bodyPr wrap="square" lIns="0" tIns="0" rIns="0" bIns="0" rtlCol="0" anchor="ctr" anchorCtr="0">
            <a:noAutofit/>
          </a:bodyPr>
          <a:p>
            <a:pPr algn="ctr">
              <a:spcBef>
                <a:spcPct val="0"/>
              </a:spcBef>
              <a:spcAft>
                <a:spcPct val="0"/>
              </a:spcAft>
            </a:pPr>
            <a:r>
              <a:rPr lang="en-US" altLang="zh-CN" sz="3200" b="1">
                <a:solidFill>
                  <a:schemeClr val="accent5"/>
                </a:solidFill>
                <a:latin typeface="+mn-ea"/>
                <a:cs typeface="+mn-ea"/>
              </a:rPr>
              <a:t>IPDRO</a:t>
            </a:r>
            <a:endParaRPr lang="en-US" altLang="zh-CN" sz="3200" b="1">
              <a:solidFill>
                <a:schemeClr val="accent5"/>
              </a:solidFill>
              <a:latin typeface="+mn-ea"/>
              <a:cs typeface="+mn-ea"/>
            </a:endParaRPr>
          </a:p>
        </p:txBody>
      </p:sp>
      <p:sp>
        <p:nvSpPr>
          <p:cNvPr id="71" name="矩形 70"/>
          <p:cNvSpPr/>
          <p:nvPr>
            <p:custDataLst>
              <p:tags r:id="rId14"/>
            </p:custDataLst>
          </p:nvPr>
        </p:nvSpPr>
        <p:spPr>
          <a:xfrm>
            <a:off x="740410" y="5034280"/>
            <a:ext cx="3122295" cy="439420"/>
          </a:xfrm>
          <a:prstGeom prst="rect">
            <a:avLst/>
          </a:prstGeom>
          <a:noFill/>
        </p:spPr>
        <p:txBody>
          <a:bodyPr wrap="square" lIns="0" tIns="0" rIns="0" bIns="0" rtlCol="0" anchor="ctr" anchorCtr="0">
            <a:noAutofit/>
          </a:bodyPr>
          <a:p>
            <a:pPr lvl="0" algn="r">
              <a:buClrTx/>
              <a:buSzTx/>
              <a:buFontTx/>
            </a:pPr>
            <a:r>
              <a:rPr lang="zh-CN" altLang="en-US" sz="1600" b="1">
                <a:solidFill>
                  <a:schemeClr val="accent6"/>
                </a:solidFill>
                <a:latin typeface="+mn-ea"/>
                <a:cs typeface="+mn-ea"/>
                <a:sym typeface="+mn-ea"/>
              </a:rPr>
              <a:t>专家运营及</a:t>
            </a:r>
            <a:r>
              <a:rPr lang="zh-CN" altLang="en-US" sz="1600" b="1">
                <a:solidFill>
                  <a:schemeClr val="accent6"/>
                </a:solidFill>
                <a:latin typeface="+mn-ea"/>
                <a:cs typeface="+mn-ea"/>
                <a:sym typeface="+mn-ea"/>
              </a:rPr>
              <a:t>可视化</a:t>
            </a:r>
            <a:endParaRPr lang="zh-CN" altLang="en-US" sz="1600" b="1">
              <a:solidFill>
                <a:schemeClr val="accent6"/>
              </a:solidFill>
              <a:latin typeface="+mn-ea"/>
              <a:cs typeface="+mn-ea"/>
              <a:sym typeface="+mn-ea"/>
            </a:endParaRPr>
          </a:p>
        </p:txBody>
      </p:sp>
      <p:sp>
        <p:nvSpPr>
          <p:cNvPr id="73" name="矩形 72"/>
          <p:cNvSpPr/>
          <p:nvPr>
            <p:custDataLst>
              <p:tags r:id="rId15"/>
            </p:custDataLst>
          </p:nvPr>
        </p:nvSpPr>
        <p:spPr>
          <a:xfrm>
            <a:off x="8278495" y="4250055"/>
            <a:ext cx="3013075" cy="400050"/>
          </a:xfrm>
          <a:prstGeom prst="rect">
            <a:avLst/>
          </a:prstGeom>
          <a:noFill/>
        </p:spPr>
        <p:txBody>
          <a:bodyPr wrap="square" lIns="0" tIns="0" rIns="0" bIns="0" rtlCol="0" anchor="ctr" anchorCtr="0">
            <a:noAutofit/>
          </a:bodyPr>
          <a:p>
            <a:pPr lvl="0" algn="l">
              <a:buClrTx/>
              <a:buSzTx/>
              <a:buFontTx/>
            </a:pPr>
            <a:r>
              <a:rPr lang="zh-CN" altLang="en-US" sz="1600" b="1" dirty="0">
                <a:solidFill>
                  <a:schemeClr val="accent5"/>
                </a:solidFill>
                <a:latin typeface="+mn-ea"/>
                <a:cs typeface="+mn-ea"/>
                <a:sym typeface="+mn-ea"/>
              </a:rPr>
              <a:t>专家</a:t>
            </a:r>
            <a:r>
              <a:rPr lang="zh-CN" altLang="en-US" sz="1600" b="1" dirty="0">
                <a:solidFill>
                  <a:schemeClr val="accent5"/>
                </a:solidFill>
                <a:latin typeface="+mn-ea"/>
                <a:cs typeface="+mn-ea"/>
                <a:sym typeface="+mn-ea"/>
              </a:rPr>
              <a:t>+</a:t>
            </a:r>
            <a:r>
              <a:rPr lang="zh-CN" altLang="en-US" sz="1600" b="1" dirty="0">
                <a:solidFill>
                  <a:schemeClr val="accent5"/>
                </a:solidFill>
                <a:latin typeface="+mn-ea"/>
                <a:cs typeface="+mn-ea"/>
                <a:sym typeface="+mn-ea"/>
              </a:rPr>
              <a:t>平台</a:t>
            </a:r>
            <a:r>
              <a:rPr lang="en-US" altLang="zh-CN" sz="1600" b="1" dirty="0">
                <a:solidFill>
                  <a:schemeClr val="accent5"/>
                </a:solidFill>
                <a:latin typeface="+mn-ea"/>
                <a:cs typeface="+mn-ea"/>
                <a:sym typeface="+mn-ea"/>
              </a:rPr>
              <a:t>+</a:t>
            </a:r>
            <a:r>
              <a:rPr lang="zh-CN" altLang="en-US" sz="1600" b="1" dirty="0">
                <a:solidFill>
                  <a:schemeClr val="accent5"/>
                </a:solidFill>
                <a:latin typeface="+mn-ea"/>
                <a:cs typeface="+mn-ea"/>
                <a:sym typeface="+mn-ea"/>
              </a:rPr>
              <a:t>组件</a:t>
            </a:r>
            <a:r>
              <a:rPr lang="zh-CN" altLang="en-US" sz="1600" b="1" dirty="0">
                <a:solidFill>
                  <a:schemeClr val="accent5"/>
                </a:solidFill>
                <a:latin typeface="+mn-ea"/>
                <a:cs typeface="+mn-ea"/>
                <a:sym typeface="+mn-ea"/>
              </a:rPr>
              <a:t>联动响应</a:t>
            </a:r>
            <a:endParaRPr lang="zh-CN" altLang="en-US" sz="1600" b="1" dirty="0">
              <a:solidFill>
                <a:schemeClr val="accent5"/>
              </a:solidFill>
              <a:latin typeface="+mn-ea"/>
              <a:cs typeface="+mn-ea"/>
              <a:sym typeface="+mn-ea"/>
            </a:endParaRPr>
          </a:p>
        </p:txBody>
      </p:sp>
      <p:sp>
        <p:nvSpPr>
          <p:cNvPr id="75" name="矩形 74"/>
          <p:cNvSpPr/>
          <p:nvPr>
            <p:custDataLst>
              <p:tags r:id="rId16"/>
            </p:custDataLst>
          </p:nvPr>
        </p:nvSpPr>
        <p:spPr>
          <a:xfrm>
            <a:off x="370205" y="2247900"/>
            <a:ext cx="3607435" cy="398780"/>
          </a:xfrm>
          <a:prstGeom prst="rect">
            <a:avLst/>
          </a:prstGeom>
          <a:noFill/>
          <a:extLst>
            <a:ext uri="{909E8E84-426E-40DD-AFC4-6F175D3DCCD1}">
              <a14:hiddenFill xmlns:a14="http://schemas.microsoft.com/office/drawing/2010/main">
                <a:solidFill>
                  <a:srgbClr val="00B050"/>
                </a:solidFill>
              </a14:hiddenFill>
            </a:ext>
          </a:extLst>
        </p:spPr>
        <p:txBody>
          <a:bodyPr wrap="square" lIns="0" tIns="0" rIns="0" bIns="0" rtlCol="0" anchor="ctr" anchorCtr="0">
            <a:noAutofit/>
          </a:bodyPr>
          <a:p>
            <a:pPr lvl="0" algn="r">
              <a:buClrTx/>
              <a:buSzTx/>
              <a:buFontTx/>
            </a:pPr>
            <a:r>
              <a:rPr lang="zh-CN" altLang="en-US" sz="1600" b="1" dirty="0">
                <a:solidFill>
                  <a:srgbClr val="00B050"/>
                </a:solidFill>
                <a:latin typeface="+mn-ea"/>
                <a:cs typeface="+mn-ea"/>
                <a:sym typeface="+mn-ea"/>
              </a:rPr>
              <a:t>用好安全设备保障基础防护功能</a:t>
            </a:r>
            <a:endParaRPr lang="zh-CN" altLang="en-US" sz="1600" b="1" dirty="0">
              <a:solidFill>
                <a:srgbClr val="00B050"/>
              </a:solidFill>
              <a:latin typeface="+mn-ea"/>
              <a:cs typeface="+mn-ea"/>
              <a:sym typeface="+mn-ea"/>
            </a:endParaRPr>
          </a:p>
        </p:txBody>
      </p:sp>
      <p:sp>
        <p:nvSpPr>
          <p:cNvPr id="76" name="矩形 75"/>
          <p:cNvSpPr/>
          <p:nvPr>
            <p:custDataLst>
              <p:tags r:id="rId17"/>
            </p:custDataLst>
          </p:nvPr>
        </p:nvSpPr>
        <p:spPr>
          <a:xfrm>
            <a:off x="4408805" y="4023995"/>
            <a:ext cx="585470" cy="379095"/>
          </a:xfrm>
          <a:prstGeom prst="rect">
            <a:avLst/>
          </a:prstGeom>
          <a:noFill/>
        </p:spPr>
        <p:txBody>
          <a:bodyPr wrap="square" lIns="0" tIns="0" rIns="0" bIns="0" rtlCol="0" anchor="ctr" anchorCtr="0">
            <a:noAutofit/>
          </a:bodyPr>
          <a:p>
            <a:pPr algn="ctr">
              <a:spcBef>
                <a:spcPct val="0"/>
              </a:spcBef>
              <a:spcAft>
                <a:spcPct val="0"/>
              </a:spcAft>
            </a:pPr>
            <a:r>
              <a:rPr lang="zh-CN" altLang="en-US" sz="1600" b="1" dirty="0">
                <a:solidFill>
                  <a:schemeClr val="tx1"/>
                </a:solidFill>
                <a:latin typeface="+mn-ea"/>
                <a:cs typeface="+mn-ea"/>
              </a:rPr>
              <a:t>识别</a:t>
            </a:r>
            <a:endParaRPr lang="zh-CN" altLang="en-US" sz="1600" b="1" dirty="0">
              <a:solidFill>
                <a:schemeClr val="tx1"/>
              </a:solidFill>
              <a:latin typeface="+mn-ea"/>
              <a:cs typeface="+mn-ea"/>
            </a:endParaRPr>
          </a:p>
        </p:txBody>
      </p:sp>
      <p:sp>
        <p:nvSpPr>
          <p:cNvPr id="77" name="矩形 76"/>
          <p:cNvSpPr/>
          <p:nvPr>
            <p:custDataLst>
              <p:tags r:id="rId18"/>
            </p:custDataLst>
          </p:nvPr>
        </p:nvSpPr>
        <p:spPr>
          <a:xfrm>
            <a:off x="8242935" y="2247900"/>
            <a:ext cx="3107055" cy="398780"/>
          </a:xfrm>
          <a:prstGeom prst="rect">
            <a:avLst/>
          </a:prstGeom>
          <a:noFill/>
        </p:spPr>
        <p:txBody>
          <a:bodyPr wrap="square" lIns="0" tIns="0" rIns="0" bIns="0" rtlCol="0" anchor="ctr" anchorCtr="0">
            <a:noAutofit/>
          </a:bodyPr>
          <a:p>
            <a:pPr lvl="0" algn="l">
              <a:buClrTx/>
              <a:buSzTx/>
              <a:buFontTx/>
            </a:pPr>
            <a:r>
              <a:rPr lang="zh-CN" altLang="en-US" sz="1600" b="1">
                <a:solidFill>
                  <a:schemeClr val="accent6"/>
                </a:solidFill>
                <a:latin typeface="+mn-ea"/>
                <a:cs typeface="+mn-ea"/>
                <a:sym typeface="+mn-ea"/>
              </a:rPr>
              <a:t>组件</a:t>
            </a:r>
            <a:r>
              <a:rPr lang="zh-CN" altLang="en-US" sz="1600" b="1">
                <a:solidFill>
                  <a:schemeClr val="accent6"/>
                </a:solidFill>
                <a:latin typeface="+mn-ea"/>
                <a:cs typeface="+mn-ea"/>
                <a:sym typeface="+mn-ea"/>
              </a:rPr>
              <a:t>+</a:t>
            </a:r>
            <a:r>
              <a:rPr lang="zh-CN" altLang="en-US" sz="1600" b="1">
                <a:solidFill>
                  <a:schemeClr val="accent6"/>
                </a:solidFill>
                <a:latin typeface="+mn-ea"/>
                <a:cs typeface="+mn-ea"/>
                <a:sym typeface="+mn-ea"/>
              </a:rPr>
              <a:t>平台</a:t>
            </a:r>
            <a:r>
              <a:rPr lang="zh-CN" altLang="en-US" sz="1600" b="1">
                <a:solidFill>
                  <a:schemeClr val="accent6"/>
                </a:solidFill>
                <a:latin typeface="+mn-ea"/>
                <a:cs typeface="+mn-ea"/>
                <a:sym typeface="+mn-ea"/>
              </a:rPr>
              <a:t>+</a:t>
            </a:r>
            <a:r>
              <a:rPr lang="zh-CN" altLang="en-US" sz="1600" b="1">
                <a:solidFill>
                  <a:schemeClr val="accent6"/>
                </a:solidFill>
                <a:latin typeface="+mn-ea"/>
                <a:cs typeface="+mn-ea"/>
                <a:sym typeface="+mn-ea"/>
              </a:rPr>
              <a:t>专家监测</a:t>
            </a:r>
            <a:endParaRPr lang="zh-CN" altLang="en-US" sz="1600" b="1">
              <a:solidFill>
                <a:schemeClr val="accent6"/>
              </a:solidFill>
              <a:latin typeface="+mn-ea"/>
              <a:cs typeface="+mn-ea"/>
              <a:sym typeface="+mn-ea"/>
            </a:endParaRPr>
          </a:p>
        </p:txBody>
      </p:sp>
      <p:sp>
        <p:nvSpPr>
          <p:cNvPr id="79" name="矩形 78"/>
          <p:cNvSpPr/>
          <p:nvPr>
            <p:custDataLst>
              <p:tags r:id="rId19"/>
            </p:custDataLst>
          </p:nvPr>
        </p:nvSpPr>
        <p:spPr>
          <a:xfrm>
            <a:off x="614045" y="3684270"/>
            <a:ext cx="3363595" cy="399415"/>
          </a:xfrm>
          <a:prstGeom prst="rect">
            <a:avLst/>
          </a:prstGeom>
          <a:noFill/>
        </p:spPr>
        <p:txBody>
          <a:bodyPr wrap="square" lIns="0" tIns="0" rIns="0" bIns="0" rtlCol="0" anchor="ctr" anchorCtr="0">
            <a:noAutofit/>
          </a:bodyPr>
          <a:p>
            <a:pPr lvl="0" algn="r">
              <a:buClrTx/>
              <a:buSzTx/>
              <a:buFontTx/>
            </a:pPr>
            <a:r>
              <a:rPr lang="zh-CN" altLang="en-US" sz="1600" b="1" dirty="0">
                <a:solidFill>
                  <a:schemeClr val="accent5"/>
                </a:solidFill>
                <a:latin typeface="+mn-ea"/>
                <a:cs typeface="+mn-ea"/>
                <a:sym typeface="+mn-ea"/>
              </a:rPr>
              <a:t>识别</a:t>
            </a:r>
            <a:r>
              <a:rPr lang="zh-CN" altLang="en-US" sz="1600" b="1" dirty="0">
                <a:solidFill>
                  <a:schemeClr val="accent5"/>
                </a:solidFill>
                <a:latin typeface="+mn-ea"/>
                <a:cs typeface="+mn-ea"/>
                <a:sym typeface="+mn-ea"/>
              </a:rPr>
              <a:t>保护对象及</a:t>
            </a:r>
            <a:r>
              <a:rPr lang="zh-CN" altLang="en-US" sz="1600" b="1" dirty="0">
                <a:solidFill>
                  <a:schemeClr val="accent5"/>
                </a:solidFill>
                <a:latin typeface="+mn-ea"/>
                <a:cs typeface="+mn-ea"/>
                <a:sym typeface="+mn-ea"/>
              </a:rPr>
              <a:t>其脆弱性</a:t>
            </a:r>
            <a:endParaRPr lang="zh-CN" altLang="en-US" sz="1600" b="1" dirty="0">
              <a:solidFill>
                <a:schemeClr val="accent5"/>
              </a:solidFill>
              <a:latin typeface="+mn-ea"/>
              <a:cs typeface="+mn-ea"/>
              <a:sym typeface="+mn-ea"/>
            </a:endParaRPr>
          </a:p>
        </p:txBody>
      </p:sp>
      <p:grpSp>
        <p:nvGrpSpPr>
          <p:cNvPr id="20" name="组合 19"/>
          <p:cNvGrpSpPr/>
          <p:nvPr>
            <p:custDataLst>
              <p:tags r:id="rId20"/>
            </p:custDataLst>
          </p:nvPr>
        </p:nvGrpSpPr>
        <p:grpSpPr>
          <a:xfrm>
            <a:off x="4043680" y="2373630"/>
            <a:ext cx="1595755" cy="165100"/>
            <a:chOff x="6409" y="4299"/>
            <a:chExt cx="2513" cy="260"/>
          </a:xfrm>
        </p:grpSpPr>
        <p:sp>
          <p:nvSpPr>
            <p:cNvPr id="81" name="椭圆 80"/>
            <p:cNvSpPr/>
            <p:nvPr>
              <p:custDataLst>
                <p:tags r:id="rId21"/>
              </p:custDataLst>
            </p:nvPr>
          </p:nvSpPr>
          <p:spPr>
            <a:xfrm>
              <a:off x="8662" y="4299"/>
              <a:ext cx="260" cy="260"/>
            </a:xfrm>
            <a:prstGeom prst="ellipse">
              <a:avLst/>
            </a:prstGeom>
            <a:solidFill>
              <a:schemeClr val="accent5">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82" name="椭圆 81"/>
            <p:cNvSpPr/>
            <p:nvPr>
              <p:custDataLst>
                <p:tags r:id="rId22"/>
              </p:custDataLst>
            </p:nvPr>
          </p:nvSpPr>
          <p:spPr>
            <a:xfrm>
              <a:off x="8747" y="4384"/>
              <a:ext cx="90" cy="90"/>
            </a:xfrm>
            <a:prstGeom prst="ellipse">
              <a:avLst/>
            </a:prstGeom>
            <a:solidFill>
              <a:schemeClr val="accent5"/>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cxnSp>
          <p:nvCxnSpPr>
            <p:cNvPr id="83" name="直接连接符 82"/>
            <p:cNvCxnSpPr/>
            <p:nvPr>
              <p:custDataLst>
                <p:tags r:id="rId23"/>
              </p:custDataLst>
            </p:nvPr>
          </p:nvCxnSpPr>
          <p:spPr>
            <a:xfrm>
              <a:off x="6409" y="4429"/>
              <a:ext cx="2253" cy="0"/>
            </a:xfrm>
            <a:prstGeom prst="line">
              <a:avLst/>
            </a:prstGeom>
            <a:ln>
              <a:solidFill>
                <a:srgbClr val="00B050"/>
              </a:solidFill>
              <a:prstDash val="sysDot"/>
            </a:ln>
          </p:spPr>
          <p:style>
            <a:lnRef idx="1">
              <a:schemeClr val="accent1"/>
            </a:lnRef>
            <a:fillRef idx="0">
              <a:schemeClr val="accent1"/>
            </a:fillRef>
            <a:effectRef idx="0">
              <a:schemeClr val="accent1"/>
            </a:effectRef>
            <a:fontRef idx="minor">
              <a:schemeClr val="tx1"/>
            </a:fontRef>
          </p:style>
        </p:cxnSp>
      </p:grpSp>
      <p:grpSp>
        <p:nvGrpSpPr>
          <p:cNvPr id="21" name="组合 20"/>
          <p:cNvGrpSpPr/>
          <p:nvPr>
            <p:custDataLst>
              <p:tags r:id="rId24"/>
            </p:custDataLst>
          </p:nvPr>
        </p:nvGrpSpPr>
        <p:grpSpPr>
          <a:xfrm>
            <a:off x="4010660" y="3797300"/>
            <a:ext cx="398145" cy="165100"/>
            <a:chOff x="6563" y="6481"/>
            <a:chExt cx="627" cy="260"/>
          </a:xfrm>
        </p:grpSpPr>
        <p:sp>
          <p:nvSpPr>
            <p:cNvPr id="84" name="椭圆 83"/>
            <p:cNvSpPr/>
            <p:nvPr>
              <p:custDataLst>
                <p:tags r:id="rId25"/>
              </p:custDataLst>
            </p:nvPr>
          </p:nvSpPr>
          <p:spPr>
            <a:xfrm>
              <a:off x="6930" y="6481"/>
              <a:ext cx="260" cy="260"/>
            </a:xfrm>
            <a:prstGeom prst="ellipse">
              <a:avLst/>
            </a:prstGeom>
            <a:solidFill>
              <a:schemeClr val="accent5">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85" name="椭圆 84"/>
            <p:cNvSpPr/>
            <p:nvPr>
              <p:custDataLst>
                <p:tags r:id="rId26"/>
              </p:custDataLst>
            </p:nvPr>
          </p:nvSpPr>
          <p:spPr>
            <a:xfrm>
              <a:off x="7015" y="6566"/>
              <a:ext cx="90" cy="9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cxnSp>
          <p:nvCxnSpPr>
            <p:cNvPr id="86" name="直接连接符 85"/>
            <p:cNvCxnSpPr/>
            <p:nvPr>
              <p:custDataLst>
                <p:tags r:id="rId27"/>
              </p:custDataLst>
            </p:nvPr>
          </p:nvCxnSpPr>
          <p:spPr>
            <a:xfrm>
              <a:off x="6563" y="6611"/>
              <a:ext cx="397" cy="0"/>
            </a:xfrm>
            <a:prstGeom prst="line">
              <a:avLst/>
            </a:prstGeom>
            <a:ln>
              <a:solidFill>
                <a:schemeClr val="accent5"/>
              </a:solidFill>
              <a:prstDash val="sysDot"/>
            </a:ln>
          </p:spPr>
          <p:style>
            <a:lnRef idx="1">
              <a:schemeClr val="accent1"/>
            </a:lnRef>
            <a:fillRef idx="0">
              <a:schemeClr val="accent1"/>
            </a:fillRef>
            <a:effectRef idx="0">
              <a:schemeClr val="accent1"/>
            </a:effectRef>
            <a:fontRef idx="minor">
              <a:schemeClr val="tx1"/>
            </a:fontRef>
          </p:style>
        </p:cxnSp>
      </p:grpSp>
      <p:grpSp>
        <p:nvGrpSpPr>
          <p:cNvPr id="19" name="组合 18"/>
          <p:cNvGrpSpPr/>
          <p:nvPr>
            <p:custDataLst>
              <p:tags r:id="rId28"/>
            </p:custDataLst>
          </p:nvPr>
        </p:nvGrpSpPr>
        <p:grpSpPr>
          <a:xfrm>
            <a:off x="6616700" y="2373630"/>
            <a:ext cx="1569085" cy="165100"/>
            <a:chOff x="11214" y="4546"/>
            <a:chExt cx="2471" cy="260"/>
          </a:xfrm>
        </p:grpSpPr>
        <p:sp>
          <p:nvSpPr>
            <p:cNvPr id="87" name="椭圆 86"/>
            <p:cNvSpPr/>
            <p:nvPr>
              <p:custDataLst>
                <p:tags r:id="rId29"/>
              </p:custDataLst>
            </p:nvPr>
          </p:nvSpPr>
          <p:spPr>
            <a:xfrm>
              <a:off x="11214" y="4546"/>
              <a:ext cx="260" cy="260"/>
            </a:xfrm>
            <a:prstGeom prst="ellipse">
              <a:avLst/>
            </a:prstGeom>
            <a:solidFill>
              <a:schemeClr val="accent6">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88" name="椭圆 87"/>
            <p:cNvSpPr/>
            <p:nvPr>
              <p:custDataLst>
                <p:tags r:id="rId30"/>
              </p:custDataLst>
            </p:nvPr>
          </p:nvSpPr>
          <p:spPr>
            <a:xfrm>
              <a:off x="11299" y="4631"/>
              <a:ext cx="90" cy="9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cxnSp>
          <p:nvCxnSpPr>
            <p:cNvPr id="89" name="直接连接符 88"/>
            <p:cNvCxnSpPr/>
            <p:nvPr>
              <p:custDataLst>
                <p:tags r:id="rId31"/>
              </p:custDataLst>
            </p:nvPr>
          </p:nvCxnSpPr>
          <p:spPr>
            <a:xfrm>
              <a:off x="11474" y="4676"/>
              <a:ext cx="2211" cy="0"/>
            </a:xfrm>
            <a:prstGeom prst="line">
              <a:avLst/>
            </a:prstGeom>
            <a:ln>
              <a:solidFill>
                <a:schemeClr val="accent6"/>
              </a:solidFill>
              <a:prstDash val="sysDot"/>
            </a:ln>
          </p:spPr>
          <p:style>
            <a:lnRef idx="1">
              <a:schemeClr val="accent1"/>
            </a:lnRef>
            <a:fillRef idx="0">
              <a:schemeClr val="accent1"/>
            </a:fillRef>
            <a:effectRef idx="0">
              <a:schemeClr val="accent1"/>
            </a:effectRef>
            <a:fontRef idx="minor">
              <a:schemeClr val="tx1"/>
            </a:fontRef>
          </p:style>
        </p:cxnSp>
      </p:grpSp>
      <p:grpSp>
        <p:nvGrpSpPr>
          <p:cNvPr id="18" name="组合 17"/>
          <p:cNvGrpSpPr/>
          <p:nvPr>
            <p:custDataLst>
              <p:tags r:id="rId32"/>
            </p:custDataLst>
          </p:nvPr>
        </p:nvGrpSpPr>
        <p:grpSpPr>
          <a:xfrm>
            <a:off x="7740015" y="4398010"/>
            <a:ext cx="488315" cy="165100"/>
            <a:chOff x="12414" y="7692"/>
            <a:chExt cx="769" cy="260"/>
          </a:xfrm>
        </p:grpSpPr>
        <p:sp>
          <p:nvSpPr>
            <p:cNvPr id="90" name="椭圆 89"/>
            <p:cNvSpPr/>
            <p:nvPr>
              <p:custDataLst>
                <p:tags r:id="rId33"/>
              </p:custDataLst>
            </p:nvPr>
          </p:nvSpPr>
          <p:spPr>
            <a:xfrm>
              <a:off x="12414" y="7692"/>
              <a:ext cx="260" cy="260"/>
            </a:xfrm>
            <a:prstGeom prst="ellipse">
              <a:avLst/>
            </a:prstGeom>
            <a:solidFill>
              <a:schemeClr val="accent5">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91" name="椭圆 90"/>
            <p:cNvSpPr/>
            <p:nvPr>
              <p:custDataLst>
                <p:tags r:id="rId34"/>
              </p:custDataLst>
            </p:nvPr>
          </p:nvSpPr>
          <p:spPr>
            <a:xfrm>
              <a:off x="12484" y="7762"/>
              <a:ext cx="120" cy="12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cxnSp>
          <p:nvCxnSpPr>
            <p:cNvPr id="92" name="直接连接符 91"/>
            <p:cNvCxnSpPr/>
            <p:nvPr>
              <p:custDataLst>
                <p:tags r:id="rId35"/>
              </p:custDataLst>
            </p:nvPr>
          </p:nvCxnSpPr>
          <p:spPr>
            <a:xfrm>
              <a:off x="12673" y="7822"/>
              <a:ext cx="510" cy="0"/>
            </a:xfrm>
            <a:prstGeom prst="line">
              <a:avLst/>
            </a:prstGeom>
            <a:ln>
              <a:solidFill>
                <a:schemeClr val="accent5"/>
              </a:solidFill>
              <a:prstDash val="sysDot"/>
            </a:ln>
          </p:spPr>
          <p:style>
            <a:lnRef idx="1">
              <a:schemeClr val="accent1"/>
            </a:lnRef>
            <a:fillRef idx="0">
              <a:schemeClr val="accent1"/>
            </a:fillRef>
            <a:effectRef idx="0">
              <a:schemeClr val="accent1"/>
            </a:effectRef>
            <a:fontRef idx="minor">
              <a:schemeClr val="tx1"/>
            </a:fontRef>
          </p:style>
        </p:cxnSp>
      </p:grpSp>
      <p:grpSp>
        <p:nvGrpSpPr>
          <p:cNvPr id="22" name="组合 21"/>
          <p:cNvGrpSpPr/>
          <p:nvPr>
            <p:custDataLst>
              <p:tags r:id="rId36"/>
            </p:custDataLst>
          </p:nvPr>
        </p:nvGrpSpPr>
        <p:grpSpPr>
          <a:xfrm>
            <a:off x="3962400" y="5174615"/>
            <a:ext cx="1022985" cy="165100"/>
            <a:chOff x="6487" y="8782"/>
            <a:chExt cx="1611" cy="260"/>
          </a:xfrm>
        </p:grpSpPr>
        <p:sp>
          <p:nvSpPr>
            <p:cNvPr id="93" name="椭圆 92"/>
            <p:cNvSpPr/>
            <p:nvPr>
              <p:custDataLst>
                <p:tags r:id="rId37"/>
              </p:custDataLst>
            </p:nvPr>
          </p:nvSpPr>
          <p:spPr>
            <a:xfrm>
              <a:off x="7838" y="8782"/>
              <a:ext cx="260" cy="260"/>
            </a:xfrm>
            <a:prstGeom prst="ellipse">
              <a:avLst/>
            </a:prstGeom>
            <a:solidFill>
              <a:schemeClr val="accent6">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94" name="椭圆 93"/>
            <p:cNvSpPr/>
            <p:nvPr>
              <p:custDataLst>
                <p:tags r:id="rId38"/>
              </p:custDataLst>
            </p:nvPr>
          </p:nvSpPr>
          <p:spPr>
            <a:xfrm>
              <a:off x="7923" y="8867"/>
              <a:ext cx="90" cy="9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cxnSp>
          <p:nvCxnSpPr>
            <p:cNvPr id="95" name="直接连接符 94"/>
            <p:cNvCxnSpPr/>
            <p:nvPr>
              <p:custDataLst>
                <p:tags r:id="rId39"/>
              </p:custDataLst>
            </p:nvPr>
          </p:nvCxnSpPr>
          <p:spPr>
            <a:xfrm>
              <a:off x="6487" y="8912"/>
              <a:ext cx="1479" cy="0"/>
            </a:xfrm>
            <a:prstGeom prst="line">
              <a:avLst/>
            </a:prstGeom>
            <a:ln>
              <a:solidFill>
                <a:schemeClr val="accent6"/>
              </a:solidFill>
              <a:prstDash val="sysDot"/>
            </a:ln>
          </p:spPr>
          <p:style>
            <a:lnRef idx="1">
              <a:schemeClr val="accent1"/>
            </a:lnRef>
            <a:fillRef idx="0">
              <a:schemeClr val="accent1"/>
            </a:fillRef>
            <a:effectRef idx="0">
              <a:schemeClr val="accent1"/>
            </a:effectRef>
            <a:fontRef idx="minor">
              <a:schemeClr val="tx1"/>
            </a:fontRef>
          </p:style>
        </p:cxnSp>
      </p:grpSp>
      <p:sp>
        <p:nvSpPr>
          <p:cNvPr id="99" name="矩形 98"/>
          <p:cNvSpPr/>
          <p:nvPr>
            <p:custDataLst>
              <p:tags r:id="rId40"/>
            </p:custDataLst>
          </p:nvPr>
        </p:nvSpPr>
        <p:spPr>
          <a:xfrm>
            <a:off x="5251450" y="2675890"/>
            <a:ext cx="585470" cy="379095"/>
          </a:xfrm>
          <a:prstGeom prst="rect">
            <a:avLst/>
          </a:prstGeom>
          <a:noFill/>
        </p:spPr>
        <p:txBody>
          <a:bodyPr wrap="square" lIns="0" tIns="0" rIns="0" bIns="0" rtlCol="0" anchor="ctr" anchorCtr="0">
            <a:noAutofit/>
          </a:bodyPr>
          <a:p>
            <a:pPr algn="ctr">
              <a:spcBef>
                <a:spcPct val="0"/>
              </a:spcBef>
              <a:spcAft>
                <a:spcPct val="0"/>
              </a:spcAft>
            </a:pPr>
            <a:r>
              <a:rPr lang="zh-CN" altLang="en-US" sz="1600" b="1" dirty="0">
                <a:solidFill>
                  <a:schemeClr val="tx1"/>
                </a:solidFill>
                <a:latin typeface="+mn-ea"/>
                <a:cs typeface="+mn-ea"/>
              </a:rPr>
              <a:t>防护</a:t>
            </a:r>
            <a:endParaRPr lang="zh-CN" altLang="en-US" sz="1600" b="1" dirty="0">
              <a:solidFill>
                <a:schemeClr val="tx1"/>
              </a:solidFill>
              <a:latin typeface="+mn-ea"/>
              <a:cs typeface="+mn-ea"/>
            </a:endParaRPr>
          </a:p>
        </p:txBody>
      </p:sp>
      <p:sp>
        <p:nvSpPr>
          <p:cNvPr id="100" name="矩形 99"/>
          <p:cNvSpPr/>
          <p:nvPr>
            <p:custDataLst>
              <p:tags r:id="rId41"/>
            </p:custDataLst>
          </p:nvPr>
        </p:nvSpPr>
        <p:spPr>
          <a:xfrm>
            <a:off x="6821805" y="3000375"/>
            <a:ext cx="585470" cy="379095"/>
          </a:xfrm>
          <a:prstGeom prst="rect">
            <a:avLst/>
          </a:prstGeom>
          <a:noFill/>
        </p:spPr>
        <p:txBody>
          <a:bodyPr wrap="square" lIns="0" tIns="0" rIns="0" bIns="0" rtlCol="0" anchor="ctr" anchorCtr="0">
            <a:noAutofit/>
          </a:bodyPr>
          <a:p>
            <a:pPr algn="ctr">
              <a:spcBef>
                <a:spcPct val="0"/>
              </a:spcBef>
              <a:spcAft>
                <a:spcPct val="0"/>
              </a:spcAft>
            </a:pPr>
            <a:r>
              <a:rPr lang="zh-CN" altLang="en-US" sz="1600" b="1" dirty="0">
                <a:solidFill>
                  <a:schemeClr val="tx1"/>
                </a:solidFill>
                <a:latin typeface="+mn-ea"/>
                <a:cs typeface="+mn-ea"/>
              </a:rPr>
              <a:t>检测</a:t>
            </a:r>
            <a:endParaRPr lang="zh-CN" altLang="en-US" sz="1600" b="1" dirty="0">
              <a:solidFill>
                <a:schemeClr val="tx1"/>
              </a:solidFill>
              <a:latin typeface="+mn-ea"/>
              <a:cs typeface="+mn-ea"/>
            </a:endParaRPr>
          </a:p>
        </p:txBody>
      </p:sp>
      <p:sp>
        <p:nvSpPr>
          <p:cNvPr id="101" name="矩形 100"/>
          <p:cNvSpPr/>
          <p:nvPr>
            <p:custDataLst>
              <p:tags r:id="rId42"/>
            </p:custDataLst>
          </p:nvPr>
        </p:nvSpPr>
        <p:spPr>
          <a:xfrm>
            <a:off x="7017385" y="4611370"/>
            <a:ext cx="585470" cy="379095"/>
          </a:xfrm>
          <a:prstGeom prst="rect">
            <a:avLst/>
          </a:prstGeom>
          <a:noFill/>
        </p:spPr>
        <p:txBody>
          <a:bodyPr wrap="square" lIns="0" tIns="0" rIns="0" bIns="0" rtlCol="0" anchor="ctr" anchorCtr="0">
            <a:noAutofit/>
          </a:bodyPr>
          <a:p>
            <a:pPr algn="ctr">
              <a:spcBef>
                <a:spcPct val="0"/>
              </a:spcBef>
              <a:spcAft>
                <a:spcPct val="0"/>
              </a:spcAft>
            </a:pPr>
            <a:r>
              <a:rPr lang="zh-CN" altLang="en-US" sz="1600" b="1" dirty="0">
                <a:solidFill>
                  <a:schemeClr val="tx1"/>
                </a:solidFill>
                <a:latin typeface="+mn-ea"/>
                <a:cs typeface="+mn-ea"/>
              </a:rPr>
              <a:t>响应</a:t>
            </a:r>
            <a:endParaRPr lang="zh-CN" altLang="en-US" sz="1600" b="1" dirty="0">
              <a:solidFill>
                <a:schemeClr val="tx1"/>
              </a:solidFill>
              <a:latin typeface="+mn-ea"/>
              <a:cs typeface="+mn-ea"/>
            </a:endParaRPr>
          </a:p>
        </p:txBody>
      </p:sp>
      <p:sp>
        <p:nvSpPr>
          <p:cNvPr id="102" name="矩形 101"/>
          <p:cNvSpPr/>
          <p:nvPr>
            <p:custDataLst>
              <p:tags r:id="rId43"/>
            </p:custDataLst>
          </p:nvPr>
        </p:nvSpPr>
        <p:spPr>
          <a:xfrm>
            <a:off x="5436870" y="5241925"/>
            <a:ext cx="585470" cy="379095"/>
          </a:xfrm>
          <a:prstGeom prst="rect">
            <a:avLst/>
          </a:prstGeom>
          <a:noFill/>
        </p:spPr>
        <p:txBody>
          <a:bodyPr wrap="square" lIns="0" tIns="0" rIns="0" bIns="0" rtlCol="0" anchor="ctr" anchorCtr="0">
            <a:noAutofit/>
          </a:bodyPr>
          <a:p>
            <a:pPr algn="ctr">
              <a:spcBef>
                <a:spcPct val="0"/>
              </a:spcBef>
              <a:spcAft>
                <a:spcPct val="0"/>
              </a:spcAft>
            </a:pPr>
            <a:r>
              <a:rPr lang="zh-CN" altLang="en-US" sz="1600" b="1" dirty="0">
                <a:solidFill>
                  <a:schemeClr val="tx1"/>
                </a:solidFill>
                <a:latin typeface="+mn-ea"/>
                <a:cs typeface="+mn-ea"/>
              </a:rPr>
              <a:t>运营</a:t>
            </a:r>
            <a:endParaRPr lang="zh-CN" altLang="en-US" sz="1600" b="1" dirty="0">
              <a:solidFill>
                <a:schemeClr val="tx1"/>
              </a:solidFill>
              <a:latin typeface="+mn-ea"/>
              <a:cs typeface="+mn-ea"/>
            </a:endParaRPr>
          </a:p>
        </p:txBody>
      </p:sp>
      <p:sp>
        <p:nvSpPr>
          <p:cNvPr id="7" name="文本框 6"/>
          <p:cNvSpPr txBox="1"/>
          <p:nvPr/>
        </p:nvSpPr>
        <p:spPr>
          <a:xfrm>
            <a:off x="-1907540" y="4057650"/>
            <a:ext cx="5897245" cy="904240"/>
          </a:xfrm>
          <a:prstGeom prst="rect">
            <a:avLst/>
          </a:prstGeom>
          <a:noFill/>
        </p:spPr>
        <p:txBody>
          <a:bodyPr wrap="square" rtlCol="0" anchor="t">
            <a:noAutofit/>
          </a:bodyPr>
          <a:p>
            <a:pPr lvl="0" algn="r">
              <a:lnSpc>
                <a:spcPct val="130000"/>
              </a:lnSpc>
              <a:buClrTx/>
              <a:buSzTx/>
              <a:buFontTx/>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开展</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a:t>
            </a:r>
            <a:r>
              <a:rPr lang="en-US" altLang="zh-CN"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{{exposure_surface_scan_count}} </a:t>
            </a:r>
            <a:r>
              <a:rPr lang="zh-CN" altLang="en-US"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次</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暴露面、</a:t>
            </a:r>
            <a:r>
              <a:rPr lang="en-US" altLang="zh-CN"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{{vulnerability_and_scan_count}} </a:t>
            </a:r>
            <a:r>
              <a:rPr lang="zh-CN" altLang="en-US"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次</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资产及漏洞扫描</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lvl="0" algn="r">
              <a:lnSpc>
                <a:spcPct val="130000"/>
              </a:lnSpc>
              <a:buClrTx/>
              <a:buSzTx/>
              <a:buFontTx/>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资产：服务器</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a:t>
            </a:r>
            <a:r>
              <a:rPr lang="en-US" altLang="zh-CN"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{{service_asset_count}} </a:t>
            </a:r>
            <a:r>
              <a:rPr lang="zh-CN" altLang="en-US"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个</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PC</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终端</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a:t>
            </a:r>
            <a:r>
              <a:rPr lang="en-US" altLang="zh-CN"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{{PC_asset_count}} </a:t>
            </a:r>
            <a:r>
              <a:rPr lang="zh-CN" altLang="en-US"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个</a:t>
            </a:r>
            <a:endParaRPr lang="zh-CN" altLang="en-US" sz="1200" spc="120" dirty="0">
              <a:highlight>
                <a:srgbClr val="FFFF00"/>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lvl="0" algn="r">
              <a:lnSpc>
                <a:spcPct val="130000"/>
              </a:lnSpc>
              <a:buClrTx/>
              <a:buSzTx/>
              <a:buFontTx/>
            </a:pPr>
            <a:r>
              <a:rPr lang="zh-CN" altLang="en-US"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高危可利用漏洞</a:t>
            </a:r>
            <a:r>
              <a:rPr lang="en-US" altLang="zh-CN"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 {{high_risk_exploitable_vulnerability_count}} </a:t>
            </a:r>
            <a:r>
              <a:rPr lang="zh-CN" altLang="en-US"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个，暴露面风险</a:t>
            </a:r>
            <a:r>
              <a:rPr lang="en-US" altLang="zh-CN"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 {{exposure_surface_risk_count}} </a:t>
            </a:r>
            <a:r>
              <a:rPr lang="zh-CN" altLang="en-US"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个</a:t>
            </a:r>
            <a:endParaRPr lang="zh-CN" altLang="en-US"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endParaRPr>
          </a:p>
        </p:txBody>
      </p:sp>
      <p:sp>
        <p:nvSpPr>
          <p:cNvPr id="8" name="文本框 7"/>
          <p:cNvSpPr txBox="1"/>
          <p:nvPr/>
        </p:nvSpPr>
        <p:spPr>
          <a:xfrm>
            <a:off x="-2004060" y="5473700"/>
            <a:ext cx="5981065" cy="1769745"/>
          </a:xfrm>
          <a:prstGeom prst="rect">
            <a:avLst/>
          </a:prstGeom>
          <a:noFill/>
        </p:spPr>
        <p:txBody>
          <a:bodyPr wrap="square" rtlCol="0" anchor="t">
            <a:spAutoFit/>
          </a:bodyPr>
          <a:p>
            <a:pPr algn="r">
              <a:lnSpc>
                <a:spcPct val="13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安全运营专家跟踪闭环</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{{closed_loop_incident_ticket_count}} </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条事件工单</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algn="r">
              <a:lnSpc>
                <a:spcPct val="13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运营专家协同业务负责人闭环</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{{closed_loop_vulnerability_ticket_count}} </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条漏洞工单</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algn="r">
              <a:lnSpc>
                <a:spcPct val="13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输出运营周报</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{{operational_weekly_report_count}} </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份、运营月报</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{{operational_monthly_report_count}} </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份</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algn="r">
              <a:lnSpc>
                <a:spcPct val="13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小程序、</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portal</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页面实现运营过程可视</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p:txBody>
      </p:sp>
      <p:sp>
        <p:nvSpPr>
          <p:cNvPr id="35" name="文本框 34"/>
          <p:cNvSpPr txBox="1"/>
          <p:nvPr/>
        </p:nvSpPr>
        <p:spPr>
          <a:xfrm>
            <a:off x="-2238375" y="2595880"/>
            <a:ext cx="6215380" cy="1290320"/>
          </a:xfrm>
          <a:prstGeom prst="rect">
            <a:avLst/>
          </a:prstGeom>
          <a:noFill/>
        </p:spPr>
        <p:txBody>
          <a:bodyPr wrap="square" rtlCol="0" anchor="t">
            <a:spAutoFit/>
          </a:bodyPr>
          <a:p>
            <a:pPr algn="r">
              <a:lnSpc>
                <a:spcPct val="13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边界</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AF</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防御</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a:t>
            </a:r>
            <a:r>
              <a:rPr lang="en-US" altLang="zh-CN"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{{AF_external_attack_blocks}} </a:t>
            </a:r>
            <a:r>
              <a:rPr lang="zh-CN" altLang="en-US"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次</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外部攻击</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algn="r">
              <a:lnSpc>
                <a:spcPct val="130000"/>
              </a:lnSpc>
              <a:spcBef>
                <a:spcPct val="0"/>
              </a:spcBef>
              <a:spcAft>
                <a:spcPct val="0"/>
              </a:spcAft>
            </a:pP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EDR</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防护端点安全风险</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a:t>
            </a:r>
            <a:r>
              <a:rPr lang="en-US" altLang="zh-CN"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{{EDR_endpoint_risk_count}} </a:t>
            </a:r>
            <a:r>
              <a:rPr lang="zh-CN" altLang="en-US"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次</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algn="r">
              <a:lnSpc>
                <a:spcPct val="13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开展策略检查与优化</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a:t>
            </a:r>
            <a:r>
              <a:rPr lang="en-US" altLang="zh-CN"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{{policy_check_and_optimization_count}} </a:t>
            </a:r>
            <a:r>
              <a:rPr lang="zh-CN" altLang="en-US"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次</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algn="r">
              <a:lnSpc>
                <a:spcPct val="13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防御</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a:t>
            </a:r>
            <a:r>
              <a:rPr lang="en-US" altLang="zh-CN"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{{high_risk_exploitable_vulnerability_protection_count}} </a:t>
            </a:r>
            <a:r>
              <a:rPr lang="zh-CN" altLang="en-US"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个</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高危可利用漏洞</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p:txBody>
      </p:sp>
      <p:sp>
        <p:nvSpPr>
          <p:cNvPr id="37" name="文本框 36"/>
          <p:cNvSpPr txBox="1"/>
          <p:nvPr/>
        </p:nvSpPr>
        <p:spPr>
          <a:xfrm>
            <a:off x="8242935" y="2573020"/>
            <a:ext cx="5594350" cy="1869440"/>
          </a:xfrm>
          <a:prstGeom prst="rect">
            <a:avLst/>
          </a:prstGeom>
          <a:noFill/>
        </p:spPr>
        <p:txBody>
          <a:bodyPr wrap="square" rtlCol="0" anchor="t">
            <a:noAutofit/>
          </a:bodyPr>
          <a:p>
            <a:pPr algn="just">
              <a:lnSpc>
                <a:spcPct val="14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监测到</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a:t>
            </a:r>
            <a:r>
              <a:rPr lang="en-US" altLang="zh-CN"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{{XDR_security_log_count}} </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条安全日志</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algn="just">
              <a:lnSpc>
                <a:spcPct val="14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智能聚合分析识别</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{{XDR_security_alert_total_count}} </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条安全告警</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algn="just">
              <a:lnSpc>
                <a:spcPct val="140000"/>
              </a:lnSpc>
              <a:spcBef>
                <a:spcPct val="0"/>
              </a:spcBef>
              <a:spcAft>
                <a:spcPct val="0"/>
              </a:spcAft>
            </a:pP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AI</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分析研判识别</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{{XDR_security_incident_count}} </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条高可信度事件</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algn="just">
              <a:lnSpc>
                <a:spcPct val="14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安全专家研判识别出</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{{MSS_pushed_event_count}} </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条有效事件工单</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algn="just">
              <a:lnSpc>
                <a:spcPct val="14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专家分析环节平均响应时间</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{{MSS_event_average_push_duration}} </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分钟</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p:txBody>
      </p:sp>
      <p:sp>
        <p:nvSpPr>
          <p:cNvPr id="48" name="文本框 47"/>
          <p:cNvSpPr txBox="1"/>
          <p:nvPr/>
        </p:nvSpPr>
        <p:spPr>
          <a:xfrm>
            <a:off x="8278495" y="4658995"/>
            <a:ext cx="5559425" cy="1864995"/>
          </a:xfrm>
          <a:prstGeom prst="rect">
            <a:avLst/>
          </a:prstGeom>
          <a:noFill/>
        </p:spPr>
        <p:txBody>
          <a:bodyPr wrap="square" rtlCol="0" anchor="t">
            <a:noAutofit/>
          </a:bodyPr>
          <a:p>
            <a:pPr algn="just">
              <a:lnSpc>
                <a:spcPct val="130000"/>
              </a:lnSpc>
              <a:spcBef>
                <a:spcPct val="0"/>
              </a:spcBef>
              <a:spcAft>
                <a:spcPct val="0"/>
              </a:spcAft>
            </a:pP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XDR</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平台剧本和</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AI</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自动化处置</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{{XDR_automated_processing_event_count}} </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条</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事件</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algn="just">
              <a:lnSpc>
                <a:spcPct val="13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安全专家研判后联动处置</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{{MSS_processed_event_count}} </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条事件</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algn="just">
              <a:lnSpc>
                <a:spcPct val="13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安全专家上机应急处置</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{{emergency_response_event_count}} </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条事件</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algn="just">
              <a:lnSpc>
                <a:spcPct val="13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安全事件遏制影响</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平均时间</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{{event_average_response_time}} </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分钟</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p:txBody>
      </p:sp>
    </p:spTree>
    <p:custDataLst>
      <p:tags r:id="rId44"/>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p:cNvSpPr txBox="1"/>
          <p:nvPr>
            <p:custDataLst>
              <p:tags r:id="rId1"/>
            </p:custDataLst>
          </p:nvPr>
        </p:nvSpPr>
        <p:spPr>
          <a:xfrm>
            <a:off x="6092825" y="3663315"/>
            <a:ext cx="4703445" cy="424815"/>
          </a:xfrm>
          <a:prstGeom prst="rect">
            <a:avLst/>
          </a:prstGeom>
          <a:noFill/>
          <a:ln w="0">
            <a:noFill/>
          </a:ln>
        </p:spPr>
        <p:txBody>
          <a:bodyPr wrap="square" lIns="0" tIns="0" rIns="0" bIns="0" anchor="ctr" anchorCtr="0">
            <a:noAutofit/>
          </a:bodyPr>
          <a:p>
            <a:pPr marL="12700" algn="l" rtl="0" eaLnBrk="0">
              <a:lnSpc>
                <a:spcPct val="100000"/>
              </a:lnSpc>
              <a:spcBef>
                <a:spcPts val="5"/>
              </a:spcBef>
            </a:pPr>
            <a:r>
              <a:rPr sz="1600" kern="0" spc="70" dirty="0">
                <a:solidFill>
                  <a:schemeClr val="dk1"/>
                </a:solidFill>
                <a:latin typeface="黑体" panose="02010609060101010101" charset="-122"/>
                <a:ea typeface="黑体" panose="02010609060101010101" charset="-122"/>
                <a:cs typeface="黑体" panose="02010609060101010101" charset="-122"/>
                <a:sym typeface="+mn-ea"/>
              </a:rPr>
              <a:t>资产管理、威胁监测、漏洞管理、事</a:t>
            </a:r>
            <a:r>
              <a:rPr sz="1600" kern="0" spc="60" dirty="0">
                <a:solidFill>
                  <a:schemeClr val="dk1"/>
                </a:solidFill>
                <a:latin typeface="黑体" panose="02010609060101010101" charset="-122"/>
                <a:ea typeface="黑体" panose="02010609060101010101" charset="-122"/>
                <a:cs typeface="黑体" panose="02010609060101010101" charset="-122"/>
                <a:sym typeface="+mn-ea"/>
              </a:rPr>
              <a:t>件处置</a:t>
            </a:r>
            <a:endParaRPr lang="en-US" sz="1600" b="0" u="none" strike="noStrike" kern="0" spc="60" dirty="0">
              <a:solidFill>
                <a:schemeClr val="dk1"/>
              </a:solidFill>
              <a:effectLst/>
              <a:uFillTx/>
              <a:latin typeface="黑体" panose="02010609060101010101" charset="-122"/>
              <a:ea typeface="黑体" panose="02010609060101010101" charset="-122"/>
              <a:cs typeface="黑体" panose="02010609060101010101" charset="-122"/>
              <a:sym typeface="+mn-ea"/>
            </a:endParaRPr>
          </a:p>
        </p:txBody>
      </p:sp>
      <p:sp>
        <p:nvSpPr>
          <p:cNvPr id="4" name="标题"/>
          <p:cNvSpPr>
            <a:spLocks noGrp="1"/>
          </p:cNvSpPr>
          <p:nvPr>
            <p:ph type="title"/>
            <p:custDataLst>
              <p:tags r:id="rId2"/>
            </p:custDataLst>
          </p:nvPr>
        </p:nvSpPr>
        <p:spPr>
          <a:xfrm>
            <a:off x="6092825" y="2439035"/>
            <a:ext cx="4622800" cy="1224000"/>
          </a:xfrm>
        </p:spPr>
        <p:txBody>
          <a:bodyPr/>
          <a:lstStyle/>
          <a:p>
            <a:r>
              <a:rPr lang="zh-CN" altLang="en-US">
                <a:solidFill>
                  <a:srgbClr val="4C61E7"/>
                </a:solidFill>
              </a:rPr>
              <a:t>详细工作内容</a:t>
            </a:r>
            <a:endParaRPr lang="zh-CN" altLang="en-US">
              <a:solidFill>
                <a:srgbClr val="4C61E7"/>
              </a:solidFill>
            </a:endParaRPr>
          </a:p>
        </p:txBody>
      </p:sp>
      <p:sp>
        <p:nvSpPr>
          <p:cNvPr id="6" name="节编号"/>
          <p:cNvSpPr>
            <a:spLocks noGrp="1"/>
          </p:cNvSpPr>
          <p:nvPr>
            <p:ph type="body" sz="quarter" idx="13"/>
            <p:custDataLst>
              <p:tags r:id="rId3"/>
            </p:custDataLst>
          </p:nvPr>
        </p:nvSpPr>
        <p:spPr/>
        <p:txBody>
          <a:bodyPr>
            <a:normAutofit lnSpcReduction="20000"/>
          </a:bodyPr>
          <a:lstStyle/>
          <a:p>
            <a:r>
              <a:rPr lang="en-US" altLang="en-US">
                <a:solidFill>
                  <a:srgbClr val="4C61E7"/>
                </a:solidFill>
              </a:rPr>
              <a:t>02</a:t>
            </a:r>
            <a:endParaRPr lang="en-US" altLang="en-US">
              <a:solidFill>
                <a:srgbClr val="4C61E7"/>
              </a:solidFill>
            </a:endParaRPr>
          </a:p>
        </p:txBody>
      </p:sp>
      <p:pic>
        <p:nvPicPr>
          <p:cNvPr id="7" name="图片 6" descr="深信服 + 智安全"/>
          <p:cNvPicPr>
            <a:picLocks noChangeAspect="1"/>
          </p:cNvPicPr>
          <p:nvPr/>
        </p:nvPicPr>
        <p:blipFill>
          <a:blip r:embed="rId4"/>
          <a:srcRect l="5232" t="26576" r="4938" b="29565"/>
          <a:stretch>
            <a:fillRect/>
          </a:stretch>
        </p:blipFill>
        <p:spPr>
          <a:xfrm>
            <a:off x="10017125" y="238760"/>
            <a:ext cx="1629867" cy="360000"/>
          </a:xfrm>
          <a:prstGeom prst="rect">
            <a:avLst/>
          </a:prstGeom>
        </p:spPr>
      </p:pic>
    </p:spTree>
    <p:custDataLst>
      <p:tags r:id="rId5"/>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50"/>
          <p:cNvSpPr/>
          <p:nvPr/>
        </p:nvSpPr>
        <p:spPr>
          <a:xfrm>
            <a:off x="6888480" y="3974465"/>
            <a:ext cx="4751705" cy="2370455"/>
          </a:xfrm>
          <a:prstGeom prst="rect">
            <a:avLst/>
          </a:prstGeom>
          <a:solidFill>
            <a:schemeClr val="accent4">
              <a:lumMod val="20000"/>
              <a:lumOff val="80000"/>
            </a:schemeClr>
          </a:solidFill>
          <a:ln w="0" cap="flat">
            <a:noFill/>
            <a:prstDash val="solid"/>
            <a:miter lim="0"/>
          </a:ln>
        </p:spPr>
        <p:txBody>
          <a:bodyPr vert="horz" wrap="square" lIns="0" tIns="0" rIns="0" bIns="0"/>
          <a:p>
            <a:pPr algn="l" rtl="0" eaLnBrk="0">
              <a:lnSpc>
                <a:spcPct val="109000"/>
              </a:lnSpc>
            </a:pPr>
            <a:endParaRPr sz="2400" dirty="0">
              <a:highlight>
                <a:srgbClr val="FFFF00"/>
              </a:highlight>
              <a:latin typeface="Times New Roman" panose="02020603050405020304"/>
              <a:ea typeface="Times New Roman" panose="02020603050405020304"/>
              <a:cs typeface="Times New Roman" panose="02020603050405020304"/>
            </a:endParaRPr>
          </a:p>
          <a:p>
            <a:pPr marL="710565" algn="l" rtl="0" eaLnBrk="0">
              <a:lnSpc>
                <a:spcPts val="1085"/>
              </a:lnSpc>
              <a:spcBef>
                <a:spcPts val="5"/>
              </a:spcBef>
            </a:pPr>
            <a:endParaRPr sz="900" kern="0" spc="130" dirty="0">
              <a:solidFill>
                <a:srgbClr val="307050">
                  <a:alpha val="100000"/>
                </a:srgbClr>
              </a:solidFill>
              <a:highlight>
                <a:srgbClr val="FFFF00"/>
              </a:highlight>
              <a:latin typeface="黑体" panose="02010609060101010101" charset="-122"/>
              <a:ea typeface="黑体" panose="02010609060101010101" charset="-122"/>
              <a:cs typeface="黑体" panose="02010609060101010101" charset="-122"/>
            </a:endParaRPr>
          </a:p>
        </p:txBody>
      </p:sp>
      <p:sp>
        <p:nvSpPr>
          <p:cNvPr id="30" name="textbox 50"/>
          <p:cNvSpPr/>
          <p:nvPr/>
        </p:nvSpPr>
        <p:spPr>
          <a:xfrm>
            <a:off x="875665" y="3974465"/>
            <a:ext cx="2744470" cy="2370455"/>
          </a:xfrm>
          <a:prstGeom prst="rect">
            <a:avLst/>
          </a:prstGeom>
          <a:solidFill>
            <a:schemeClr val="accent6">
              <a:lumMod val="20000"/>
              <a:lumOff val="80000"/>
            </a:schemeClr>
          </a:solidFill>
          <a:ln w="0" cap="flat">
            <a:noFill/>
            <a:prstDash val="solid"/>
            <a:miter lim="0"/>
          </a:ln>
        </p:spPr>
        <p:txBody>
          <a:bodyPr vert="horz" wrap="square" lIns="0" tIns="0" rIns="0" bIns="0"/>
          <a:p>
            <a:pPr algn="l" rtl="0" eaLnBrk="0">
              <a:lnSpc>
                <a:spcPct val="109000"/>
              </a:lnSpc>
            </a:pPr>
            <a:endParaRPr sz="2400" dirty="0">
              <a:highlight>
                <a:srgbClr val="FFFF00"/>
              </a:highlight>
              <a:latin typeface="Times New Roman" panose="02020603050405020304"/>
              <a:ea typeface="Times New Roman" panose="02020603050405020304"/>
              <a:cs typeface="Times New Roman" panose="02020603050405020304"/>
            </a:endParaRPr>
          </a:p>
          <a:p>
            <a:pPr marL="710565" algn="l" rtl="0" eaLnBrk="0">
              <a:lnSpc>
                <a:spcPts val="1085"/>
              </a:lnSpc>
              <a:spcBef>
                <a:spcPts val="5"/>
              </a:spcBef>
            </a:pPr>
            <a:endParaRPr sz="900" kern="0" spc="130" dirty="0">
              <a:solidFill>
                <a:srgbClr val="307050">
                  <a:alpha val="100000"/>
                </a:srgbClr>
              </a:solidFill>
              <a:highlight>
                <a:srgbClr val="FFFF00"/>
              </a:highlight>
              <a:latin typeface="黑体" panose="02010609060101010101" charset="-122"/>
              <a:ea typeface="黑体" panose="02010609060101010101" charset="-122"/>
              <a:cs typeface="黑体" panose="02010609060101010101" charset="-122"/>
            </a:endParaRPr>
          </a:p>
        </p:txBody>
      </p:sp>
      <p:sp>
        <p:nvSpPr>
          <p:cNvPr id="14" name="textbox 158"/>
          <p:cNvSpPr/>
          <p:nvPr/>
        </p:nvSpPr>
        <p:spPr>
          <a:xfrm>
            <a:off x="647740" y="360198"/>
            <a:ext cx="3639820" cy="600075"/>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a:ea typeface="Arial" panose="020B0604020202020204"/>
              <a:cs typeface="Arial" panose="020B0604020202020204"/>
            </a:endParaRPr>
          </a:p>
          <a:p>
            <a:pPr marL="15875" algn="l" rtl="0" eaLnBrk="0">
              <a:lnSpc>
                <a:spcPct val="98000"/>
              </a:lnSpc>
            </a:pPr>
            <a:r>
              <a:rPr lang="zh-CN" altLang="en-US" sz="1900" kern="0" noProof="0" dirty="0">
                <a:solidFill>
                  <a:srgbClr val="4C61E7"/>
                </a:solidFill>
                <a:uLnTx/>
                <a:latin typeface="Calibri" panose="020F0502020204030204" charset="0"/>
                <a:ea typeface="微软雅黑" panose="020B0503020204020204" charset="-122"/>
              </a:rPr>
              <a:t>安全</a:t>
            </a:r>
            <a:r>
              <a:rPr lang="zh-CN" altLang="en-US" sz="1900" kern="0" noProof="0" dirty="0">
                <a:solidFill>
                  <a:srgbClr val="4C61E7"/>
                </a:solidFill>
                <a:uLnTx/>
                <a:latin typeface="Calibri" panose="020F0502020204030204" charset="0"/>
                <a:ea typeface="微软雅黑" panose="020B0503020204020204" charset="-122"/>
              </a:rPr>
              <a:t>事件管理成效</a:t>
            </a:r>
            <a:endParaRPr sz="1900" dirty="0">
              <a:latin typeface="黑体" panose="02010609060101010101" charset="-122"/>
              <a:ea typeface="黑体" panose="02010609060101010101" charset="-122"/>
              <a:cs typeface="黑体" panose="02010609060101010101" charset="-122"/>
            </a:endParaRPr>
          </a:p>
          <a:p>
            <a:pPr algn="l" rtl="0" eaLnBrk="0">
              <a:lnSpc>
                <a:spcPct val="101000"/>
              </a:lnSpc>
            </a:pPr>
            <a:endParaRPr sz="800" dirty="0">
              <a:latin typeface="Arial" panose="020B0604020202020204"/>
              <a:ea typeface="Arial" panose="020B0604020202020204"/>
              <a:cs typeface="Arial" panose="020B0604020202020204"/>
            </a:endParaRPr>
          </a:p>
          <a:p>
            <a:pPr marL="12700" algn="l" rtl="0" eaLnBrk="0">
              <a:lnSpc>
                <a:spcPct val="92000"/>
              </a:lnSpc>
              <a:spcBef>
                <a:spcPts val="5"/>
              </a:spcBef>
            </a:pPr>
            <a:r>
              <a:rPr lang="zh-CN" altLang="en-US" sz="1000" dirty="0">
                <a:solidFill>
                  <a:sysClr val="windowText" lastClr="000000"/>
                </a:solidFill>
                <a:latin typeface="黑体" panose="02010609060101010101" charset="-122"/>
                <a:ea typeface="黑体" panose="02010609060101010101" charset="-122"/>
                <a:cs typeface="黑体" panose="02010609060101010101" charset="-122"/>
                <a:sym typeface="+mn-ea"/>
              </a:rPr>
              <a:t>主动管理，及时阻断，有效闭环，避免业务</a:t>
            </a:r>
            <a:r>
              <a:rPr lang="zh-CN" altLang="en-US" sz="1000" dirty="0">
                <a:solidFill>
                  <a:sysClr val="windowText" lastClr="000000"/>
                </a:solidFill>
                <a:latin typeface="黑体" panose="02010609060101010101" charset="-122"/>
                <a:ea typeface="黑体" panose="02010609060101010101" charset="-122"/>
                <a:cs typeface="黑体" panose="02010609060101010101" charset="-122"/>
                <a:sym typeface="+mn-ea"/>
              </a:rPr>
              <a:t>影响</a:t>
            </a:r>
            <a:endParaRPr lang="zh-CN" altLang="en-US" sz="1000" dirty="0">
              <a:solidFill>
                <a:sysClr val="windowText" lastClr="000000"/>
              </a:solidFill>
              <a:latin typeface="黑体" panose="02010609060101010101" charset="-122"/>
              <a:ea typeface="黑体" panose="02010609060101010101" charset="-122"/>
              <a:cs typeface="黑体" panose="02010609060101010101" charset="-122"/>
              <a:sym typeface="+mn-ea"/>
            </a:endParaRPr>
          </a:p>
        </p:txBody>
      </p:sp>
      <p:sp>
        <p:nvSpPr>
          <p:cNvPr id="20" name="textbox 50"/>
          <p:cNvSpPr/>
          <p:nvPr/>
        </p:nvSpPr>
        <p:spPr>
          <a:xfrm>
            <a:off x="3750945" y="3974465"/>
            <a:ext cx="3006725" cy="2370455"/>
          </a:xfrm>
          <a:prstGeom prst="rect">
            <a:avLst/>
          </a:prstGeom>
          <a:solidFill>
            <a:sysClr val="window" lastClr="FFFFFF">
              <a:lumMod val="95000"/>
            </a:sysClr>
          </a:solidFill>
          <a:ln w="0" cap="flat">
            <a:noFill/>
            <a:prstDash val="solid"/>
            <a:miter lim="0"/>
          </a:ln>
        </p:spPr>
        <p:txBody>
          <a:bodyPr vert="horz" wrap="square" lIns="0" tIns="0" rIns="0" bIns="0"/>
          <a:p>
            <a:pPr algn="l" rtl="0" eaLnBrk="0">
              <a:lnSpc>
                <a:spcPct val="109000"/>
              </a:lnSpc>
            </a:pPr>
            <a:endParaRPr sz="2400" dirty="0">
              <a:highlight>
                <a:srgbClr val="FFFF00"/>
              </a:highlight>
              <a:latin typeface="Times New Roman" panose="02020603050405020304"/>
              <a:ea typeface="Times New Roman" panose="02020603050405020304"/>
              <a:cs typeface="Times New Roman" panose="02020603050405020304"/>
            </a:endParaRPr>
          </a:p>
          <a:p>
            <a:pPr marL="710565" algn="l" rtl="0" eaLnBrk="0">
              <a:lnSpc>
                <a:spcPts val="1085"/>
              </a:lnSpc>
              <a:spcBef>
                <a:spcPts val="5"/>
              </a:spcBef>
            </a:pPr>
            <a:endParaRPr sz="900" kern="0" spc="130" dirty="0">
              <a:solidFill>
                <a:srgbClr val="307050">
                  <a:alpha val="100000"/>
                </a:srgbClr>
              </a:solidFill>
              <a:highlight>
                <a:srgbClr val="FFFF00"/>
              </a:highlight>
              <a:latin typeface="黑体" panose="02010609060101010101" charset="-122"/>
              <a:ea typeface="黑体" panose="02010609060101010101" charset="-122"/>
              <a:cs typeface="黑体" panose="02010609060101010101" charset="-122"/>
            </a:endParaRPr>
          </a:p>
        </p:txBody>
      </p:sp>
      <p:sp>
        <p:nvSpPr>
          <p:cNvPr id="90" name="íṥlïḍê"/>
          <p:cNvSpPr txBox="1"/>
          <p:nvPr>
            <p:custDataLst>
              <p:tags r:id="rId4"/>
            </p:custDataLst>
          </p:nvPr>
        </p:nvSpPr>
        <p:spPr>
          <a:xfrm>
            <a:off x="3881755" y="4057650"/>
            <a:ext cx="2336800" cy="242570"/>
          </a:xfrm>
          <a:prstGeom prst="rect">
            <a:avLst/>
          </a:prstGeom>
          <a:noFill/>
        </p:spPr>
        <p:txBody>
          <a:bodyPr wrap="square" rtlCol="0" anchor="t"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28575" lvl="0" algn="l" defTabSz="2438400" eaLnBrk="0">
              <a:lnSpc>
                <a:spcPct val="98000"/>
              </a:lnSpc>
            </a:pPr>
            <a:r>
              <a:rPr lang="zh-CN"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平均处置时效（</a:t>
            </a:r>
            <a:r>
              <a:rPr lang="zh-CN"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分钟）</a:t>
            </a:r>
            <a:endParaRPr lang="zh-CN"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22" name="组合 21"/>
          <p:cNvGrpSpPr/>
          <p:nvPr/>
        </p:nvGrpSpPr>
        <p:grpSpPr>
          <a:xfrm>
            <a:off x="3875723" y="2318703"/>
            <a:ext cx="7772083" cy="1512571"/>
            <a:chOff x="12177" y="-373"/>
            <a:chExt cx="24479" cy="4764"/>
          </a:xfrm>
        </p:grpSpPr>
        <p:sp>
          <p:nvSpPr>
            <p:cNvPr id="23" name="textbox 40"/>
            <p:cNvSpPr/>
            <p:nvPr/>
          </p:nvSpPr>
          <p:spPr>
            <a:xfrm>
              <a:off x="12564" y="294"/>
              <a:ext cx="24092" cy="4010"/>
            </a:xfrm>
            <a:prstGeom prst="rect">
              <a:avLst/>
            </a:prstGeom>
            <a:solidFill>
              <a:srgbClr val="DAE3F3"/>
            </a:solid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ct val="119000"/>
                </a:lnSpc>
              </a:pP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endParaRPr sz="900" dirty="0">
                <a:latin typeface="黑体" panose="02010609060101010101" charset="-122"/>
                <a:ea typeface="黑体" panose="02010609060101010101" charset="-122"/>
                <a:cs typeface="黑体" panose="02010609060101010101" charset="-122"/>
              </a:endParaRPr>
            </a:p>
          </p:txBody>
        </p:sp>
        <p:sp>
          <p:nvSpPr>
            <p:cNvPr id="94" name="文本框 93"/>
            <p:cNvSpPr txBox="1"/>
            <p:nvPr/>
          </p:nvSpPr>
          <p:spPr>
            <a:xfrm>
              <a:off x="12749" y="207"/>
              <a:ext cx="7708" cy="4076"/>
            </a:xfrm>
            <a:prstGeom prst="rect">
              <a:avLst/>
            </a:prstGeom>
            <a:noFill/>
          </p:spPr>
          <p:txBody>
            <a:bodyPr wrap="square" rtlCol="0" anchor="t">
              <a:noAutofit/>
            </a:bodyPr>
            <a:p>
              <a:pPr algn="l" rtl="0" eaLnBrk="0">
                <a:lnSpc>
                  <a:spcPct val="155000"/>
                </a:lnSpc>
              </a:pPr>
              <a:r>
                <a:rPr sz="9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业务持续性保障</a:t>
              </a:r>
              <a:endParaRPr sz="900" dirty="0">
                <a:latin typeface="黑体" panose="02010609060101010101" charset="-122"/>
                <a:ea typeface="黑体" panose="02010609060101010101" charset="-122"/>
                <a:cs typeface="黑体" panose="02010609060101010101" charset="-122"/>
              </a:endParaRPr>
            </a:p>
            <a:p>
              <a:pPr algn="just" rtl="0" eaLnBrk="0">
                <a:lnSpc>
                  <a:spcPct val="119000"/>
                </a:lnSpc>
                <a:spcBef>
                  <a:spcPts val="185"/>
                </a:spcBef>
                <a:buClrTx/>
                <a:buSzTx/>
                <a:buFontTx/>
              </a:pPr>
              <a:r>
                <a:rPr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business_continuity_assurance_conclusion</a:t>
              </a:r>
              <a:r>
                <a:rPr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4" name="文本框 23"/>
            <p:cNvSpPr txBox="1"/>
            <p:nvPr/>
          </p:nvSpPr>
          <p:spPr>
            <a:xfrm>
              <a:off x="20551" y="353"/>
              <a:ext cx="7742" cy="4038"/>
            </a:xfrm>
            <a:prstGeom prst="rect">
              <a:avLst/>
            </a:prstGeom>
            <a:noFill/>
          </p:spPr>
          <p:txBody>
            <a:bodyPr wrap="square" rtlCol="0" anchor="t">
              <a:noAutofit/>
            </a:bodyPr>
            <a:p>
              <a:pPr algn="l" rtl="0" eaLnBrk="0">
                <a:lnSpc>
                  <a:spcPct val="119000"/>
                </a:lnSpc>
              </a:pPr>
              <a:r>
                <a:rPr lang="zh-CN" sz="900" b="1"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用户信赖度保障</a:t>
              </a: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just" rtl="0" eaLnBrk="0">
                <a:lnSpc>
                  <a:spcPct val="119000"/>
                </a:lnSpc>
              </a:pPr>
              <a:r>
                <a:rPr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user_trust_assurance_conclusion</a:t>
              </a:r>
              <a:r>
                <a:rPr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6" name="文本框 25"/>
            <p:cNvSpPr txBox="1"/>
            <p:nvPr/>
          </p:nvSpPr>
          <p:spPr>
            <a:xfrm>
              <a:off x="28496" y="428"/>
              <a:ext cx="7694" cy="2784"/>
            </a:xfrm>
            <a:prstGeom prst="rect">
              <a:avLst/>
            </a:prstGeom>
            <a:noFill/>
          </p:spPr>
          <p:txBody>
            <a:bodyPr wrap="square" rtlCol="0" anchor="t">
              <a:noAutofit/>
            </a:bodyPr>
            <a:p>
              <a:pPr algn="l" rtl="0" eaLnBrk="0">
                <a:lnSpc>
                  <a:spcPct val="108000"/>
                </a:lnSpc>
              </a:pPr>
              <a:r>
                <a:rPr sz="900" b="1"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运营风险与成本降低</a:t>
              </a: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just" rtl="0" eaLnBrk="0">
                <a:lnSpc>
                  <a:spcPct val="108000"/>
                </a:lnSpc>
              </a:pPr>
              <a:r>
                <a:rPr lang="zh-CN" altLang="en-US"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构建</a:t>
              </a:r>
              <a:r>
                <a:rPr lang="en-US" altLang="zh-CN"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 7</a:t>
              </a:r>
              <a:r>
                <a:rPr lang="en-US" altLang="en-US"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24</a:t>
              </a:r>
              <a:r>
                <a:rPr lang="zh-CN" altLang="en-US"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小时主动运营体系，实现持续监控与风险预警，及时发现并处理潜在问题，减少应急处置成本，避免业务中断损失；同时持续降低运营风险，有效支撑公司经营效率提升。</a:t>
              </a:r>
              <a:endParaRPr lang="zh-CN" altLang="en-US"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7" name="íṥlïḍê"/>
            <p:cNvSpPr txBox="1"/>
            <p:nvPr>
              <p:custDataLst>
                <p:tags r:id="rId5"/>
              </p:custDataLst>
            </p:nvPr>
          </p:nvSpPr>
          <p:spPr>
            <a:xfrm>
              <a:off x="12177" y="-373"/>
              <a:ext cx="7359" cy="850"/>
            </a:xfrm>
            <a:prstGeom prst="rect">
              <a:avLst/>
            </a:prstGeom>
            <a:noFill/>
          </p:spPr>
          <p:txBody>
            <a:bodyPr wrap="square" rtlCol="0" anchor="t"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28575" lvl="0" algn="l" defTabSz="2438400" eaLnBrk="0">
                <a:lnSpc>
                  <a:spcPct val="98000"/>
                </a:lnSpc>
              </a:pPr>
              <a:r>
                <a:rPr lang="zh-CN" sz="12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关键结论</a:t>
              </a:r>
              <a:endParaRPr lang="zh-CN" sz="1200"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grpSp>
      <p:pic>
        <p:nvPicPr>
          <p:cNvPr id="28" name="图片 27" descr="深信服 + 智安全"/>
          <p:cNvPicPr>
            <a:picLocks noChangeAspect="1"/>
          </p:cNvPicPr>
          <p:nvPr/>
        </p:nvPicPr>
        <p:blipFill>
          <a:blip r:embed="rId6"/>
          <a:srcRect l="5232" t="26576" r="4938" b="29565"/>
          <a:stretch>
            <a:fillRect/>
          </a:stretch>
        </p:blipFill>
        <p:spPr>
          <a:xfrm>
            <a:off x="10017125" y="238760"/>
            <a:ext cx="1629867" cy="360000"/>
          </a:xfrm>
          <a:prstGeom prst="rect">
            <a:avLst/>
          </a:prstGeom>
        </p:spPr>
      </p:pic>
      <p:graphicFrame>
        <p:nvGraphicFramePr>
          <p:cNvPr id="2" name="图表 1"/>
          <p:cNvGraphicFramePr/>
          <p:nvPr/>
        </p:nvGraphicFramePr>
        <p:xfrm>
          <a:off x="3780790" y="4460240"/>
          <a:ext cx="2948305" cy="1845945"/>
        </p:xfrm>
        <a:graphic>
          <a:graphicData uri="http://schemas.openxmlformats.org/drawingml/2006/chart">
            <c:chart xmlns:c="http://schemas.openxmlformats.org/drawingml/2006/chart" xmlns:r="http://schemas.openxmlformats.org/officeDocument/2006/relationships" r:id="rId1"/>
          </a:graphicData>
        </a:graphic>
      </p:graphicFrame>
      <p:sp>
        <p:nvSpPr>
          <p:cNvPr id="21" name="textbox 48"/>
          <p:cNvSpPr/>
          <p:nvPr/>
        </p:nvSpPr>
        <p:spPr>
          <a:xfrm>
            <a:off x="875665" y="1275715"/>
            <a:ext cx="3006000" cy="2519998"/>
          </a:xfrm>
          <a:prstGeom prst="rect">
            <a:avLst/>
          </a:prstGeom>
          <a:solidFill>
            <a:srgbClr val="5B9BD5">
              <a:lumMod val="20000"/>
              <a:lumOff val="80000"/>
            </a:srgbClr>
          </a:solidFill>
          <a:ln w="0" cap="flat">
            <a:noFill/>
            <a:prstDash val="solid"/>
            <a:miter lim="0"/>
          </a:ln>
        </p:spPr>
        <p:txBody>
          <a:bodyPr vert="horz" wrap="square" lIns="0" tIns="0" rIns="0" bIns="0"/>
          <a:p>
            <a:pPr algn="l" rtl="0" eaLnBrk="0">
              <a:lnSpc>
                <a:spcPct val="182000"/>
              </a:lnSpc>
            </a:pPr>
            <a:endParaRPr sz="1000" dirty="0">
              <a:latin typeface="Arial" panose="020B0604020202020204"/>
              <a:ea typeface="Arial" panose="020B0604020202020204"/>
              <a:cs typeface="Arial" panose="020B0604020202020204"/>
            </a:endParaRPr>
          </a:p>
          <a:p>
            <a:pPr algn="l" rtl="0" eaLnBrk="0">
              <a:lnSpc>
                <a:spcPct val="101000"/>
              </a:lnSpc>
            </a:pPr>
            <a:endParaRPr sz="500" dirty="0">
              <a:latin typeface="Arial" panose="020B0604020202020204"/>
              <a:ea typeface="Arial" panose="020B0604020202020204"/>
              <a:cs typeface="Arial" panose="020B0604020202020204"/>
            </a:endParaRPr>
          </a:p>
          <a:p>
            <a:pPr marL="716915" algn="l" rtl="0" eaLnBrk="0">
              <a:lnSpc>
                <a:spcPct val="100000"/>
              </a:lnSpc>
              <a:spcBef>
                <a:spcPts val="5"/>
              </a:spcBef>
            </a:pPr>
            <a:endParaRPr sz="900" dirty="0">
              <a:latin typeface="黑体" panose="02010609060101010101" charset="-122"/>
              <a:ea typeface="黑体" panose="02010609060101010101" charset="-122"/>
              <a:cs typeface="黑体" panose="02010609060101010101" charset="-122"/>
            </a:endParaRPr>
          </a:p>
        </p:txBody>
      </p:sp>
      <p:sp>
        <p:nvSpPr>
          <p:cNvPr id="67" name="文本框 66"/>
          <p:cNvSpPr txBox="1"/>
          <p:nvPr/>
        </p:nvSpPr>
        <p:spPr>
          <a:xfrm>
            <a:off x="1038860" y="1305560"/>
            <a:ext cx="1824355" cy="288290"/>
          </a:xfrm>
          <a:prstGeom prst="rect">
            <a:avLst/>
          </a:prstGeom>
          <a:noFill/>
        </p:spPr>
        <p:txBody>
          <a:bodyPr wrap="square" rtlCol="0" anchor="t"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28575" lvl="0" algn="l" defTabSz="2438400" eaLnBrk="0">
              <a:lnSpc>
                <a:spcPct val="98000"/>
              </a:lnSpc>
            </a:pPr>
            <a:r>
              <a:rPr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多级安全响应流程</a:t>
            </a:r>
            <a:endParaRPr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68" name="组合 67"/>
          <p:cNvGrpSpPr/>
          <p:nvPr>
            <p:custDataLst>
              <p:tags r:id="rId7"/>
            </p:custDataLst>
          </p:nvPr>
        </p:nvGrpSpPr>
        <p:grpSpPr>
          <a:xfrm>
            <a:off x="1006502" y="1723785"/>
            <a:ext cx="2729838" cy="397339"/>
            <a:chOff x="3275" y="5404"/>
            <a:chExt cx="8787" cy="1279"/>
          </a:xfrm>
        </p:grpSpPr>
        <p:sp>
          <p:nvSpPr>
            <p:cNvPr id="69" name="圆角矩形 14"/>
            <p:cNvSpPr/>
            <p:nvPr>
              <p:custDataLst>
                <p:tags r:id="rId8"/>
              </p:custDataLst>
            </p:nvPr>
          </p:nvSpPr>
          <p:spPr>
            <a:xfrm>
              <a:off x="3275" y="5498"/>
              <a:ext cx="8787" cy="1185"/>
            </a:xfrm>
            <a:prstGeom prst="roundRect">
              <a:avLst>
                <a:gd name="adj" fmla="val 15982"/>
              </a:avLst>
            </a:prstGeom>
            <a:solidFill>
              <a:srgbClr val="4472C4">
                <a:lumMod val="60000"/>
                <a:lumOff val="40000"/>
                <a:alpha val="12000"/>
              </a:srgbClr>
            </a:solidFill>
            <a:ln w="9525" cap="flat" cmpd="sng" algn="ctr">
              <a:gradFill>
                <a:gsLst>
                  <a:gs pos="100000">
                    <a:srgbClr val="4472C4">
                      <a:alpha val="15000"/>
                    </a:srgbClr>
                  </a:gs>
                  <a:gs pos="0">
                    <a:srgbClr val="4472C4">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lIns="72072" tIns="0" rIns="72072" bIns="0" rtlCol="0" anchor="ctr"/>
            <a:p>
              <a:pPr marL="13970" algn="l" rtl="0" eaLnBrk="0">
                <a:lnSpc>
                  <a:spcPct val="100000"/>
                </a:lnSpc>
                <a:spcBef>
                  <a:spcPts val="215"/>
                </a:spcBef>
              </a:pPr>
              <a:r>
                <a:rPr sz="1000" b="1"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L1</a:t>
              </a:r>
              <a:r>
                <a:rPr lang="en-US" sz="1000" b="1"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 </a:t>
              </a:r>
              <a:r>
                <a:rPr sz="1000" b="1"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a:t>
              </a:r>
              <a:r>
                <a:rPr sz="1000" b="1" spc="10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 </a:t>
              </a:r>
              <a:r>
                <a:rPr sz="1000" b="1"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自动检测</a:t>
              </a:r>
              <a:endParaRPr sz="1000" b="1" dirty="0">
                <a:latin typeface="宋体" panose="02010600030101010101" pitchFamily="2" charset="-122"/>
                <a:ea typeface="宋体" panose="02010600030101010101" pitchFamily="2" charset="-122"/>
                <a:cs typeface="宋体" panose="02010600030101010101" pitchFamily="2" charset="-122"/>
              </a:endParaRPr>
            </a:p>
            <a:p>
              <a:pPr marL="13970" algn="l" rtl="0" eaLnBrk="0">
                <a:lnSpc>
                  <a:spcPct val="100000"/>
                </a:lnSpc>
                <a:spcBef>
                  <a:spcPts val="110"/>
                </a:spcBef>
              </a:pPr>
              <a:r>
                <a:rPr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7*24小时智能检测，平均检出时间</a:t>
              </a:r>
              <a:r>
                <a:rPr lang="en-US"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 </a:t>
              </a:r>
              <a:r>
                <a:rPr sz="1000" dirty="0">
                  <a:solidFill>
                    <a:srgbClr val="2040A0">
                      <a:alpha val="100000"/>
                    </a:srgbClr>
                  </a:solidFill>
                  <a:latin typeface="黑体" panose="02010609060101010101" charset="-122"/>
                  <a:ea typeface="黑体" panose="02010609060101010101" charset="-122"/>
                  <a:cs typeface="黑体" panose="02010609060101010101" charset="-122"/>
                  <a:sym typeface="+mn-ea"/>
                </a:rPr>
                <a:t>3分钟</a:t>
              </a:r>
              <a:endParaRPr lang="zh-CN" altLang="en-US" sz="1000" kern="0" dirty="0">
                <a:ln>
                  <a:noFill/>
                  <a:prstDash val="sysDot"/>
                </a:ln>
                <a:solidFill>
                  <a:srgbClr val="2040A0">
                    <a:alpha val="100000"/>
                  </a:srgbClr>
                </a:solidFill>
                <a:uFillTx/>
                <a:latin typeface="黑体" panose="02010609060101010101" charset="-122"/>
                <a:ea typeface="黑体" panose="02010609060101010101" charset="-122"/>
                <a:cs typeface="黑体" panose="02010609060101010101" charset="-122"/>
                <a:sym typeface="+mn-ea"/>
              </a:endParaRPr>
            </a:p>
          </p:txBody>
        </p:sp>
        <p:sp>
          <p:nvSpPr>
            <p:cNvPr id="70" name="圆角矩形 69"/>
            <p:cNvSpPr/>
            <p:nvPr>
              <p:custDataLst>
                <p:tags r:id="rId9"/>
              </p:custDataLst>
            </p:nvPr>
          </p:nvSpPr>
          <p:spPr>
            <a:xfrm>
              <a:off x="3636" y="5404"/>
              <a:ext cx="1108" cy="137"/>
            </a:xfrm>
            <a:prstGeom prst="roundRect">
              <a:avLst>
                <a:gd name="adj" fmla="val 50000"/>
              </a:avLst>
            </a:prstGeom>
            <a:gradFill>
              <a:gsLst>
                <a:gs pos="100000">
                  <a:srgbClr val="4472C4">
                    <a:lumMod val="60000"/>
                    <a:lumOff val="40000"/>
                    <a:alpha val="71000"/>
                  </a:srgbClr>
                </a:gs>
                <a:gs pos="0">
                  <a:srgbClr val="4472C4">
                    <a:alpha val="100000"/>
                  </a:srgbClr>
                </a:gs>
              </a:gsLst>
              <a:lin ang="0"/>
            </a:gradFill>
            <a:ln w="12700" cap="flat" cmpd="sng" algn="ctr">
              <a:noFill/>
              <a:prstDash val="solid"/>
              <a:miter lim="800000"/>
            </a:ln>
            <a:effectLst>
              <a:outerShdw blurRad="50800" dist="38100" dir="2700000" algn="tl" rotWithShape="0">
                <a:srgbClr val="4472C4">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1200">
                <a:solidFill>
                  <a:sysClr val="window" lastClr="FFFFFF"/>
                </a:solidFill>
              </a:endParaRPr>
            </a:p>
          </p:txBody>
        </p:sp>
      </p:grpSp>
      <p:grpSp>
        <p:nvGrpSpPr>
          <p:cNvPr id="71" name="组合 70"/>
          <p:cNvGrpSpPr/>
          <p:nvPr>
            <p:custDataLst>
              <p:tags r:id="rId10"/>
            </p:custDataLst>
          </p:nvPr>
        </p:nvGrpSpPr>
        <p:grpSpPr>
          <a:xfrm>
            <a:off x="1005570" y="2238115"/>
            <a:ext cx="2729838" cy="401824"/>
            <a:chOff x="3275" y="7389"/>
            <a:chExt cx="8787" cy="1293"/>
          </a:xfrm>
        </p:grpSpPr>
        <p:sp>
          <p:nvSpPr>
            <p:cNvPr id="72" name="圆角矩形 14"/>
            <p:cNvSpPr/>
            <p:nvPr>
              <p:custDataLst>
                <p:tags r:id="rId11"/>
              </p:custDataLst>
            </p:nvPr>
          </p:nvSpPr>
          <p:spPr>
            <a:xfrm>
              <a:off x="3275" y="7497"/>
              <a:ext cx="8787" cy="1185"/>
            </a:xfrm>
            <a:prstGeom prst="roundRect">
              <a:avLst>
                <a:gd name="adj" fmla="val 15982"/>
              </a:avLst>
            </a:prstGeom>
            <a:solidFill>
              <a:srgbClr val="70AD47">
                <a:lumMod val="60000"/>
                <a:lumOff val="40000"/>
                <a:alpha val="12000"/>
              </a:srgbClr>
            </a:solidFill>
            <a:ln w="9525" cap="flat" cmpd="sng" algn="ctr">
              <a:gradFill>
                <a:gsLst>
                  <a:gs pos="100000">
                    <a:srgbClr val="70AD47">
                      <a:alpha val="15000"/>
                    </a:srgbClr>
                  </a:gs>
                  <a:gs pos="0">
                    <a:srgbClr val="70AD47">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vertOverflow="overflow" horzOverflow="overflow" vert="horz" wrap="square" lIns="72072" tIns="0" rIns="72072" bIns="0" numCol="1" spcCol="0" rtlCol="0" fromWordArt="0" anchor="ctr" anchorCtr="0" forceAA="0" compatLnSpc="1">
              <a:noAutofit/>
            </a:bodyPr>
            <a:p>
              <a:pPr marL="24130" algn="l" rtl="0" eaLnBrk="0">
                <a:lnSpc>
                  <a:spcPct val="100000"/>
                </a:lnSpc>
                <a:spcBef>
                  <a:spcPts val="215"/>
                </a:spcBef>
              </a:pPr>
              <a:r>
                <a:rPr sz="1000" b="1"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L2</a:t>
              </a:r>
              <a:r>
                <a:rPr lang="en-US" sz="1000" b="1"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 </a:t>
              </a:r>
              <a:r>
                <a:rPr sz="1000" b="1"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a:t>
              </a:r>
              <a:r>
                <a:rPr sz="1000" b="1"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 </a:t>
              </a:r>
              <a:r>
                <a:rPr sz="1000" b="1"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专家分析</a:t>
              </a:r>
              <a:endParaRPr sz="1000" b="1"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endParaRPr>
            </a:p>
            <a:p>
              <a:pPr marL="24130" algn="l" rtl="0" eaLnBrk="0">
                <a:lnSpc>
                  <a:spcPct val="100000"/>
                </a:lnSpc>
                <a:spcBef>
                  <a:spcPts val="215"/>
                </a:spcBef>
              </a:pPr>
              <a:r>
                <a:rPr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专家研判分析，平</a:t>
              </a:r>
              <a:r>
                <a:rPr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均响应时间</a:t>
              </a:r>
              <a:r>
                <a:rPr lang="en-US"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 </a:t>
              </a:r>
              <a:r>
                <a:rPr sz="1000" dirty="0">
                  <a:solidFill>
                    <a:srgbClr val="2040A0">
                      <a:alpha val="100000"/>
                    </a:srgbClr>
                  </a:solidFill>
                  <a:latin typeface="黑体" panose="02010609060101010101" charset="-122"/>
                  <a:ea typeface="黑体" panose="02010609060101010101" charset="-122"/>
                  <a:cs typeface="黑体" panose="02010609060101010101" charset="-122"/>
                  <a:sym typeface="+mn-ea"/>
                </a:rPr>
                <a:t>30分钟</a:t>
              </a:r>
              <a:endParaRPr lang="zh-CN" altLang="en-US" sz="1000" kern="0" dirty="0">
                <a:ln>
                  <a:noFill/>
                  <a:prstDash val="sysDot"/>
                </a:ln>
                <a:solidFill>
                  <a:srgbClr val="2040A0">
                    <a:alpha val="100000"/>
                  </a:srgbClr>
                </a:solidFill>
                <a:uFillTx/>
                <a:latin typeface="黑体" panose="02010609060101010101" charset="-122"/>
                <a:ea typeface="黑体" panose="02010609060101010101" charset="-122"/>
                <a:cs typeface="黑体" panose="02010609060101010101" charset="-122"/>
                <a:sym typeface="+mn-ea"/>
              </a:endParaRPr>
            </a:p>
          </p:txBody>
        </p:sp>
        <p:sp>
          <p:nvSpPr>
            <p:cNvPr id="73" name="圆角矩形 72"/>
            <p:cNvSpPr/>
            <p:nvPr>
              <p:custDataLst>
                <p:tags r:id="rId12"/>
              </p:custDataLst>
            </p:nvPr>
          </p:nvSpPr>
          <p:spPr>
            <a:xfrm>
              <a:off x="3636" y="7389"/>
              <a:ext cx="1108" cy="137"/>
            </a:xfrm>
            <a:prstGeom prst="roundRect">
              <a:avLst>
                <a:gd name="adj" fmla="val 50000"/>
              </a:avLst>
            </a:prstGeom>
            <a:gradFill>
              <a:gsLst>
                <a:gs pos="100000">
                  <a:srgbClr val="70AD47">
                    <a:lumMod val="60000"/>
                    <a:lumOff val="40000"/>
                    <a:alpha val="71000"/>
                  </a:srgbClr>
                </a:gs>
                <a:gs pos="0">
                  <a:srgbClr val="70AD47">
                    <a:alpha val="100000"/>
                  </a:srgbClr>
                </a:gs>
              </a:gsLst>
              <a:lin ang="0"/>
            </a:gradFill>
            <a:ln w="12700" cap="flat" cmpd="sng" algn="ctr">
              <a:noFill/>
              <a:prstDash val="solid"/>
              <a:miter lim="800000"/>
            </a:ln>
            <a:effectLst>
              <a:outerShdw blurRad="50800" dist="38100" dir="2700000" algn="tl" rotWithShape="0">
                <a:srgbClr val="70AD47">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1200">
                <a:solidFill>
                  <a:sysClr val="window" lastClr="FFFFFF"/>
                </a:solidFill>
              </a:endParaRPr>
            </a:p>
          </p:txBody>
        </p:sp>
      </p:grpSp>
      <p:grpSp>
        <p:nvGrpSpPr>
          <p:cNvPr id="74" name="组合 73"/>
          <p:cNvGrpSpPr/>
          <p:nvPr>
            <p:custDataLst>
              <p:tags r:id="rId13"/>
            </p:custDataLst>
          </p:nvPr>
        </p:nvGrpSpPr>
        <p:grpSpPr>
          <a:xfrm>
            <a:off x="1006502" y="2757084"/>
            <a:ext cx="2729838" cy="396390"/>
            <a:chOff x="3275" y="9388"/>
            <a:chExt cx="8787" cy="1276"/>
          </a:xfrm>
        </p:grpSpPr>
        <p:sp>
          <p:nvSpPr>
            <p:cNvPr id="78" name="圆角矩形 14"/>
            <p:cNvSpPr/>
            <p:nvPr>
              <p:custDataLst>
                <p:tags r:id="rId14"/>
              </p:custDataLst>
            </p:nvPr>
          </p:nvSpPr>
          <p:spPr>
            <a:xfrm>
              <a:off x="3275" y="9479"/>
              <a:ext cx="8787" cy="1185"/>
            </a:xfrm>
            <a:prstGeom prst="roundRect">
              <a:avLst>
                <a:gd name="adj" fmla="val 15982"/>
              </a:avLst>
            </a:prstGeom>
            <a:solidFill>
              <a:srgbClr val="4472C4">
                <a:lumMod val="60000"/>
                <a:lumOff val="40000"/>
                <a:alpha val="12000"/>
              </a:srgbClr>
            </a:solidFill>
            <a:ln w="9525" cap="flat" cmpd="sng" algn="ctr">
              <a:gradFill>
                <a:gsLst>
                  <a:gs pos="100000">
                    <a:srgbClr val="4472C4">
                      <a:alpha val="15000"/>
                    </a:srgbClr>
                  </a:gs>
                  <a:gs pos="0">
                    <a:srgbClr val="4472C4">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vertOverflow="overflow" horzOverflow="overflow" vert="horz" wrap="square" lIns="72072" tIns="0" rIns="72072" bIns="0" numCol="1" spcCol="0" rtlCol="0" fromWordArt="0" anchor="ctr" anchorCtr="0" forceAA="0" compatLnSpc="1">
              <a:noAutofit/>
            </a:bodyPr>
            <a:p>
              <a:pPr marL="0" algn="l" rtl="0" eaLnBrk="0">
                <a:lnSpc>
                  <a:spcPct val="150000"/>
                </a:lnSpc>
                <a:spcBef>
                  <a:spcPts val="215"/>
                </a:spcBef>
              </a:pPr>
              <a:r>
                <a:rPr sz="1000" b="1"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L3</a:t>
              </a:r>
              <a:r>
                <a:rPr lang="en-US" sz="1000" b="1"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 </a:t>
              </a:r>
              <a:r>
                <a:rPr sz="1000" b="1"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  应急处置</a:t>
              </a:r>
              <a:endParaRPr sz="1000" b="1"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endParaRPr>
            </a:p>
            <a:p>
              <a:pPr marL="0" algn="l" rtl="0" eaLnBrk="0">
                <a:lnSpc>
                  <a:spcPct val="100000"/>
                </a:lnSpc>
              </a:pPr>
              <a:r>
                <a:rPr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制定处置方案，平均处置时间</a:t>
              </a:r>
              <a:r>
                <a:rPr lang="en-US"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 </a:t>
              </a:r>
              <a:r>
                <a:rPr sz="1000" dirty="0">
                  <a:solidFill>
                    <a:srgbClr val="2040A0">
                      <a:alpha val="100000"/>
                    </a:srgbClr>
                  </a:solidFill>
                  <a:latin typeface="黑体" panose="02010609060101010101" charset="-122"/>
                  <a:ea typeface="黑体" panose="02010609060101010101" charset="-122"/>
                  <a:cs typeface="黑体" panose="02010609060101010101" charset="-122"/>
                  <a:sym typeface="+mn-ea"/>
                </a:rPr>
                <a:t>2小时</a:t>
              </a:r>
              <a:endParaRPr lang="zh-CN" altLang="en-US" sz="100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80" name="圆角矩形 79"/>
            <p:cNvSpPr/>
            <p:nvPr>
              <p:custDataLst>
                <p:tags r:id="rId15"/>
              </p:custDataLst>
            </p:nvPr>
          </p:nvSpPr>
          <p:spPr>
            <a:xfrm>
              <a:off x="3636" y="9388"/>
              <a:ext cx="1108" cy="137"/>
            </a:xfrm>
            <a:prstGeom prst="roundRect">
              <a:avLst>
                <a:gd name="adj" fmla="val 50000"/>
              </a:avLst>
            </a:prstGeom>
            <a:gradFill>
              <a:gsLst>
                <a:gs pos="100000">
                  <a:srgbClr val="4472C4">
                    <a:lumMod val="60000"/>
                    <a:lumOff val="40000"/>
                    <a:alpha val="71000"/>
                  </a:srgbClr>
                </a:gs>
                <a:gs pos="0">
                  <a:srgbClr val="4472C4">
                    <a:alpha val="100000"/>
                  </a:srgbClr>
                </a:gs>
              </a:gsLst>
              <a:lin ang="0"/>
            </a:gradFill>
            <a:ln w="12700" cap="flat" cmpd="sng" algn="ctr">
              <a:noFill/>
              <a:prstDash val="solid"/>
              <a:miter lim="800000"/>
            </a:ln>
            <a:effectLst>
              <a:outerShdw blurRad="50800" dist="38100" dir="2700000" algn="tl" rotWithShape="0">
                <a:srgbClr val="4472C4">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1200">
                <a:solidFill>
                  <a:sysClr val="window" lastClr="FFFFFF"/>
                </a:solidFill>
              </a:endParaRPr>
            </a:p>
          </p:txBody>
        </p:sp>
      </p:grpSp>
      <p:grpSp>
        <p:nvGrpSpPr>
          <p:cNvPr id="82" name="组合 81"/>
          <p:cNvGrpSpPr/>
          <p:nvPr>
            <p:custDataLst>
              <p:tags r:id="rId16"/>
            </p:custDataLst>
          </p:nvPr>
        </p:nvGrpSpPr>
        <p:grpSpPr>
          <a:xfrm>
            <a:off x="1005570" y="3270484"/>
            <a:ext cx="2729838" cy="372912"/>
            <a:chOff x="3275" y="11370"/>
            <a:chExt cx="8787" cy="1200"/>
          </a:xfrm>
        </p:grpSpPr>
        <p:sp>
          <p:nvSpPr>
            <p:cNvPr id="84" name="圆角矩形 14"/>
            <p:cNvSpPr/>
            <p:nvPr>
              <p:custDataLst>
                <p:tags r:id="rId17"/>
              </p:custDataLst>
            </p:nvPr>
          </p:nvSpPr>
          <p:spPr>
            <a:xfrm>
              <a:off x="3275" y="11442"/>
              <a:ext cx="8787" cy="1128"/>
            </a:xfrm>
            <a:prstGeom prst="roundRect">
              <a:avLst>
                <a:gd name="adj" fmla="val 15982"/>
              </a:avLst>
            </a:prstGeom>
            <a:solidFill>
              <a:srgbClr val="70AD47">
                <a:lumMod val="60000"/>
                <a:lumOff val="40000"/>
                <a:alpha val="12000"/>
              </a:srgbClr>
            </a:solidFill>
            <a:ln w="9525" cap="flat" cmpd="sng" algn="ctr">
              <a:gradFill>
                <a:gsLst>
                  <a:gs pos="100000">
                    <a:srgbClr val="70AD47">
                      <a:alpha val="15000"/>
                    </a:srgbClr>
                  </a:gs>
                  <a:gs pos="0">
                    <a:srgbClr val="70AD47">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vertOverflow="overflow" horzOverflow="overflow" vert="horz" wrap="square" lIns="72072" tIns="0" rIns="72072" bIns="0" numCol="1" spcCol="0" rtlCol="0" fromWordArt="0" anchor="ctr" anchorCtr="0" forceAA="0" compatLnSpc="1">
              <a:noAutofit/>
            </a:bodyPr>
            <a:p>
              <a:pPr marL="15875" algn="l" rtl="0" eaLnBrk="0">
                <a:lnSpc>
                  <a:spcPct val="150000"/>
                </a:lnSpc>
                <a:spcBef>
                  <a:spcPts val="220"/>
                </a:spcBef>
              </a:pPr>
              <a:r>
                <a:rPr sz="1000" b="1"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L4</a:t>
              </a:r>
              <a:r>
                <a:rPr lang="en-US" sz="1000" b="1"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 </a:t>
              </a:r>
              <a:r>
                <a:rPr sz="1000" b="1"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  闭环验证</a:t>
              </a:r>
              <a:r>
                <a:rPr lang="en-US" sz="1000" b="1"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 </a:t>
              </a:r>
              <a:endParaRPr sz="1000" b="1" dirty="0">
                <a:latin typeface="宋体" panose="02010600030101010101" pitchFamily="2" charset="-122"/>
                <a:ea typeface="宋体" panose="02010600030101010101" pitchFamily="2" charset="-122"/>
                <a:cs typeface="宋体" panose="02010600030101010101" pitchFamily="2" charset="-122"/>
              </a:endParaRPr>
            </a:p>
            <a:p>
              <a:pPr marL="15875" algn="l" rtl="0" eaLnBrk="0">
                <a:lnSpc>
                  <a:spcPct val="100000"/>
                </a:lnSpc>
                <a:spcBef>
                  <a:spcPts val="115"/>
                </a:spcBef>
              </a:pPr>
              <a:r>
                <a:rPr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处置效果验证，平均闭环时间</a:t>
              </a:r>
              <a:r>
                <a:rPr lang="en-US"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 </a:t>
              </a:r>
              <a:r>
                <a:rPr lang="en-US" sz="1000" dirty="0">
                  <a:solidFill>
                    <a:srgbClr val="2040A0">
                      <a:alpha val="100000"/>
                    </a:srgbClr>
                  </a:solidFill>
                  <a:latin typeface="黑体" panose="02010609060101010101" charset="-122"/>
                  <a:ea typeface="黑体" panose="02010609060101010101" charset="-122"/>
                  <a:cs typeface="黑体" panose="02010609060101010101" charset="-122"/>
                  <a:sym typeface="+mn-ea"/>
                </a:rPr>
                <a:t>24</a:t>
              </a:r>
              <a:r>
                <a:rPr lang="zh-CN" sz="1000" dirty="0">
                  <a:solidFill>
                    <a:srgbClr val="2040A0">
                      <a:alpha val="100000"/>
                    </a:srgbClr>
                  </a:solidFill>
                  <a:latin typeface="黑体" panose="02010609060101010101" charset="-122"/>
                  <a:ea typeface="黑体" panose="02010609060101010101" charset="-122"/>
                  <a:cs typeface="黑体" panose="02010609060101010101" charset="-122"/>
                  <a:sym typeface="+mn-ea"/>
                </a:rPr>
                <a:t>小时</a:t>
              </a:r>
              <a:endParaRPr lang="zh-CN" sz="1000" dirty="0">
                <a:solidFill>
                  <a:srgbClr val="2040A0">
                    <a:alpha val="100000"/>
                  </a:srgbClr>
                </a:solidFill>
                <a:latin typeface="黑体" panose="02010609060101010101" charset="-122"/>
                <a:ea typeface="黑体" panose="02010609060101010101" charset="-122"/>
                <a:cs typeface="黑体" panose="02010609060101010101" charset="-122"/>
                <a:sym typeface="+mn-ea"/>
              </a:endParaRPr>
            </a:p>
          </p:txBody>
        </p:sp>
        <p:sp>
          <p:nvSpPr>
            <p:cNvPr id="88" name="圆角矩形 87"/>
            <p:cNvSpPr/>
            <p:nvPr>
              <p:custDataLst>
                <p:tags r:id="rId18"/>
              </p:custDataLst>
            </p:nvPr>
          </p:nvSpPr>
          <p:spPr>
            <a:xfrm>
              <a:off x="3636" y="11370"/>
              <a:ext cx="1108" cy="137"/>
            </a:xfrm>
            <a:prstGeom prst="roundRect">
              <a:avLst>
                <a:gd name="adj" fmla="val 50000"/>
              </a:avLst>
            </a:prstGeom>
            <a:gradFill>
              <a:gsLst>
                <a:gs pos="100000">
                  <a:srgbClr val="70AD47">
                    <a:lumMod val="60000"/>
                    <a:lumOff val="40000"/>
                    <a:alpha val="71000"/>
                  </a:srgbClr>
                </a:gs>
                <a:gs pos="0">
                  <a:srgbClr val="70AD47">
                    <a:alpha val="100000"/>
                  </a:srgbClr>
                </a:gs>
              </a:gsLst>
              <a:lin ang="0"/>
            </a:gradFill>
            <a:ln w="12700" cap="flat" cmpd="sng" algn="ctr">
              <a:noFill/>
              <a:prstDash val="solid"/>
              <a:miter lim="800000"/>
            </a:ln>
            <a:effectLst>
              <a:outerShdw blurRad="50800" dist="38100" dir="2700000" algn="tl" rotWithShape="0">
                <a:srgbClr val="70AD47">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1200">
                <a:solidFill>
                  <a:sysClr val="window" lastClr="FFFFFF"/>
                </a:solidFill>
              </a:endParaRPr>
            </a:p>
          </p:txBody>
        </p:sp>
      </p:grpSp>
      <p:grpSp>
        <p:nvGrpSpPr>
          <p:cNvPr id="92" name="组合 91"/>
          <p:cNvGrpSpPr/>
          <p:nvPr/>
        </p:nvGrpSpPr>
        <p:grpSpPr>
          <a:xfrm>
            <a:off x="3865880" y="1143635"/>
            <a:ext cx="2346325" cy="1145223"/>
            <a:chOff x="12176" y="5135"/>
            <a:chExt cx="7390" cy="3607"/>
          </a:xfrm>
        </p:grpSpPr>
        <p:sp>
          <p:nvSpPr>
            <p:cNvPr id="93" name="文本框 92"/>
            <p:cNvSpPr txBox="1"/>
            <p:nvPr/>
          </p:nvSpPr>
          <p:spPr>
            <a:xfrm>
              <a:off x="13504" y="6575"/>
              <a:ext cx="4499" cy="567"/>
            </a:xfrm>
            <a:prstGeom prst="rect">
              <a:avLst/>
            </a:prstGeom>
            <a:noFill/>
          </p:spPr>
          <p:txBody>
            <a:bodyPr wrap="square" rtlCol="0" anchor="ctr" anchorCtr="0">
              <a:noAutofit/>
            </a:bodyPr>
            <a:p>
              <a:pPr algn="ctr" rtl="0" eaLnBrk="0">
                <a:lnSpc>
                  <a:spcPct val="127000"/>
                </a:lnSpc>
              </a:pPr>
              <a:r>
                <a:rPr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安全事件</a:t>
              </a: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识别</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95" name="文本框 94"/>
            <p:cNvSpPr txBox="1"/>
            <p:nvPr/>
          </p:nvSpPr>
          <p:spPr>
            <a:xfrm>
              <a:off x="12176" y="7483"/>
              <a:ext cx="7390"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{{incident_total}}</a:t>
              </a:r>
              <a:r>
                <a:rPr lang="en-US"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en-US" sz="2000" b="1" kern="0" spc="-20" dirty="0">
                <a:solidFill>
                  <a:srgbClr val="2040C0">
                    <a:alpha val="100000"/>
                  </a:srgbClr>
                </a:solidFill>
                <a:latin typeface="Times New Roman" panose="02020603050405020304"/>
                <a:ea typeface="Times New Roman" panose="02020603050405020304"/>
                <a:cs typeface="Times New Roman" panose="02020603050405020304"/>
                <a:sym typeface="+mn-ea"/>
              </a:endParaRPr>
            </a:p>
          </p:txBody>
        </p:sp>
        <p:sp>
          <p:nvSpPr>
            <p:cNvPr id="96" name="文本框 95"/>
            <p:cNvSpPr txBox="1"/>
            <p:nvPr/>
          </p:nvSpPr>
          <p:spPr>
            <a:xfrm>
              <a:off x="13504" y="8175"/>
              <a:ext cx="4499" cy="567"/>
            </a:xfrm>
            <a:prstGeom prst="rect">
              <a:avLst/>
            </a:prstGeom>
            <a:noFill/>
          </p:spPr>
          <p:txBody>
            <a:bodyPr wrap="square" rtlCol="0" anchor="ctr" anchorCtr="0">
              <a:noAutofit/>
            </a:bodyPr>
            <a:p>
              <a:pPr algn="ctr" rtl="0" eaLnBrk="0">
                <a:lnSpc>
                  <a:spcPct val="127000"/>
                </a:lnSpc>
              </a:pPr>
              <a:r>
                <a:rPr lang="en-US" altLang="zh-CN"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100%</a:t>
              </a:r>
              <a:r>
                <a:rPr lang="zh-CN" altLang="en-US"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响应率</a:t>
              </a:r>
              <a:endParaRPr lang="zh-CN" altLang="en-US"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97" name="图片 96" descr="警示"/>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5187" y="5135"/>
              <a:ext cx="1134" cy="1134"/>
            </a:xfrm>
            <a:prstGeom prst="rect">
              <a:avLst/>
            </a:prstGeom>
          </p:spPr>
        </p:pic>
      </p:grpSp>
      <p:grpSp>
        <p:nvGrpSpPr>
          <p:cNvPr id="98" name="组合 97"/>
          <p:cNvGrpSpPr/>
          <p:nvPr/>
        </p:nvGrpSpPr>
        <p:grpSpPr>
          <a:xfrm>
            <a:off x="5847715" y="1143635"/>
            <a:ext cx="2378075" cy="1145223"/>
            <a:chOff x="17104" y="5135"/>
            <a:chExt cx="7490" cy="3607"/>
          </a:xfrm>
        </p:grpSpPr>
        <p:pic>
          <p:nvPicPr>
            <p:cNvPr id="99" name="图片 98" descr="极速响应"/>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20219" y="5135"/>
              <a:ext cx="1134" cy="1134"/>
            </a:xfrm>
            <a:prstGeom prst="rect">
              <a:avLst/>
            </a:prstGeom>
          </p:spPr>
        </p:pic>
        <p:sp>
          <p:nvSpPr>
            <p:cNvPr id="100" name="文本框 99"/>
            <p:cNvSpPr txBox="1"/>
            <p:nvPr/>
          </p:nvSpPr>
          <p:spPr>
            <a:xfrm>
              <a:off x="18536" y="6575"/>
              <a:ext cx="4499" cy="567"/>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平均响应时间</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01" name="文本框 100"/>
            <p:cNvSpPr txBox="1"/>
            <p:nvPr/>
          </p:nvSpPr>
          <p:spPr>
            <a:xfrm>
              <a:off x="17104" y="7483"/>
              <a:ext cx="7490"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{{average_response_time}}</a:t>
              </a:r>
              <a:r>
                <a:rPr lang="en-US"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zh-CN" altLang="en-US" sz="2000" b="1" kern="0" spc="-20" dirty="0">
                <a:solidFill>
                  <a:srgbClr val="2040C0">
                    <a:alpha val="100000"/>
                  </a:srgbClr>
                </a:solidFill>
                <a:latin typeface="Times New Roman" panose="02020603050405020304"/>
                <a:ea typeface="Times New Roman" panose="02020603050405020304"/>
                <a:cs typeface="Times New Roman" panose="02020603050405020304"/>
                <a:sym typeface="+mn-ea"/>
              </a:endParaRPr>
            </a:p>
          </p:txBody>
        </p:sp>
        <p:sp>
          <p:nvSpPr>
            <p:cNvPr id="103" name="文本框 102"/>
            <p:cNvSpPr txBox="1"/>
            <p:nvPr/>
          </p:nvSpPr>
          <p:spPr>
            <a:xfrm>
              <a:off x="18536" y="8175"/>
              <a:ext cx="4499" cy="567"/>
            </a:xfrm>
            <a:prstGeom prst="rect">
              <a:avLst/>
            </a:prstGeom>
            <a:noFill/>
          </p:spPr>
          <p:txBody>
            <a:bodyPr wrap="square" rtlCol="0" anchor="ctr" anchorCtr="0">
              <a:noAutofit/>
            </a:bodyPr>
            <a:p>
              <a:pPr algn="ctr" rtl="0" eaLnBrk="0">
                <a:lnSpc>
                  <a:spcPct val="127000"/>
                </a:lnSpc>
              </a:pPr>
              <a:r>
                <a:rPr lang="zh-CN" altLang="en-US"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达到行业领先水平</a:t>
              </a:r>
              <a:endParaRPr lang="zh-CN" altLang="en-US"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endParaRPr>
            </a:p>
          </p:txBody>
        </p:sp>
      </p:grpSp>
      <p:grpSp>
        <p:nvGrpSpPr>
          <p:cNvPr id="105" name="组合 104"/>
          <p:cNvGrpSpPr/>
          <p:nvPr/>
        </p:nvGrpSpPr>
        <p:grpSpPr>
          <a:xfrm>
            <a:off x="8117205" y="1143635"/>
            <a:ext cx="1869440" cy="1139826"/>
            <a:chOff x="22605" y="5162"/>
            <a:chExt cx="5888" cy="3590"/>
          </a:xfrm>
        </p:grpSpPr>
        <p:sp>
          <p:nvSpPr>
            <p:cNvPr id="106" name="文本框 105"/>
            <p:cNvSpPr txBox="1"/>
            <p:nvPr/>
          </p:nvSpPr>
          <p:spPr>
            <a:xfrm>
              <a:off x="23235" y="6585"/>
              <a:ext cx="4499" cy="567"/>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平均处置时间</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07" name="文本框 106"/>
            <p:cNvSpPr txBox="1"/>
            <p:nvPr/>
          </p:nvSpPr>
          <p:spPr>
            <a:xfrm>
              <a:off x="22605" y="7494"/>
              <a:ext cx="5888"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{{average_resolution_duration}}</a:t>
              </a:r>
              <a:r>
                <a:rPr lang="en-US"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zh-CN" altLang="en-US" sz="2000" b="1" kern="0" spc="-20" dirty="0">
                <a:solidFill>
                  <a:srgbClr val="2040C0">
                    <a:alpha val="100000"/>
                  </a:srgbClr>
                </a:solidFill>
                <a:latin typeface="Times New Roman" panose="02020603050405020304"/>
                <a:ea typeface="Times New Roman" panose="02020603050405020304"/>
                <a:cs typeface="Times New Roman" panose="02020603050405020304"/>
                <a:sym typeface="+mn-ea"/>
              </a:endParaRPr>
            </a:p>
          </p:txBody>
        </p:sp>
        <p:sp>
          <p:nvSpPr>
            <p:cNvPr id="108" name="文本框 107"/>
            <p:cNvSpPr txBox="1"/>
            <p:nvPr/>
          </p:nvSpPr>
          <p:spPr>
            <a:xfrm>
              <a:off x="23235" y="8185"/>
              <a:ext cx="4499" cy="567"/>
            </a:xfrm>
            <a:prstGeom prst="rect">
              <a:avLst/>
            </a:prstGeom>
            <a:noFill/>
          </p:spPr>
          <p:txBody>
            <a:bodyPr wrap="square" rtlCol="0" anchor="ctr" anchorCtr="0">
              <a:noAutofit/>
            </a:bodyPr>
            <a:p>
              <a:pPr algn="ctr" rtl="0" eaLnBrk="0">
                <a:lnSpc>
                  <a:spcPct val="127000"/>
                </a:lnSpc>
              </a:pPr>
              <a:r>
                <a:rPr lang="zh-CN" altLang="en-US" sz="900" kern="0" spc="120" dirty="0">
                  <a:solidFill>
                    <a:srgbClr val="00B0F0">
                      <a:alpha val="100000"/>
                    </a:srgbClr>
                  </a:solidFill>
                  <a:latin typeface="黑体" panose="02010609060101010101" charset="-122"/>
                  <a:ea typeface="黑体" panose="02010609060101010101" charset="-122"/>
                  <a:cs typeface="黑体" panose="02010609060101010101" charset="-122"/>
                  <a:sym typeface="+mn-ea"/>
                </a:rPr>
                <a:t>基本符合预期水平</a:t>
              </a:r>
              <a:endParaRPr lang="zh-CN" altLang="en-US" sz="900" kern="0" spc="120" dirty="0">
                <a:solidFill>
                  <a:srgbClr val="00B0F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109" name="图片 108" descr="打印机"/>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24918" y="5162"/>
              <a:ext cx="1134" cy="1134"/>
            </a:xfrm>
            <a:prstGeom prst="rect">
              <a:avLst/>
            </a:prstGeom>
          </p:spPr>
        </p:pic>
      </p:grpSp>
      <p:grpSp>
        <p:nvGrpSpPr>
          <p:cNvPr id="110" name="组合 109"/>
          <p:cNvGrpSpPr/>
          <p:nvPr/>
        </p:nvGrpSpPr>
        <p:grpSpPr>
          <a:xfrm>
            <a:off x="9887825" y="1143635"/>
            <a:ext cx="2310913" cy="1145223"/>
            <a:chOff x="29119" y="5135"/>
            <a:chExt cx="7272" cy="3607"/>
          </a:xfrm>
        </p:grpSpPr>
        <p:pic>
          <p:nvPicPr>
            <p:cNvPr id="111" name="图片 110" descr="招标结束"/>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32200" y="5135"/>
              <a:ext cx="1134" cy="1134"/>
            </a:xfrm>
            <a:prstGeom prst="rect">
              <a:avLst/>
            </a:prstGeom>
          </p:spPr>
        </p:pic>
        <p:sp>
          <p:nvSpPr>
            <p:cNvPr id="112" name="文本框 111"/>
            <p:cNvSpPr txBox="1"/>
            <p:nvPr/>
          </p:nvSpPr>
          <p:spPr>
            <a:xfrm>
              <a:off x="30517" y="6575"/>
              <a:ext cx="4499" cy="567"/>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事件闭环率</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13" name="文本框 112"/>
            <p:cNvSpPr txBox="1"/>
            <p:nvPr/>
          </p:nvSpPr>
          <p:spPr>
            <a:xfrm>
              <a:off x="29119" y="7483"/>
              <a:ext cx="7272"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{{event_closed_loop_rate}}</a:t>
              </a:r>
              <a:r>
                <a:rPr lang="en-US"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en-US" sz="2000" b="1" kern="0" spc="-20" dirty="0">
                <a:solidFill>
                  <a:srgbClr val="2040C0">
                    <a:alpha val="100000"/>
                  </a:srgbClr>
                </a:solidFill>
                <a:latin typeface="Times New Roman" panose="02020603050405020304"/>
                <a:ea typeface="Times New Roman" panose="02020603050405020304"/>
                <a:cs typeface="Times New Roman" panose="02020603050405020304"/>
                <a:sym typeface="+mn-ea"/>
              </a:endParaRPr>
            </a:p>
          </p:txBody>
        </p:sp>
        <p:sp>
          <p:nvSpPr>
            <p:cNvPr id="114" name="文本框 113"/>
            <p:cNvSpPr txBox="1"/>
            <p:nvPr/>
          </p:nvSpPr>
          <p:spPr>
            <a:xfrm>
              <a:off x="30517" y="8175"/>
              <a:ext cx="4499" cy="567"/>
            </a:xfrm>
            <a:prstGeom prst="rect">
              <a:avLst/>
            </a:prstGeom>
            <a:noFill/>
          </p:spPr>
          <p:txBody>
            <a:bodyPr wrap="square" rtlCol="0" anchor="ctr" anchorCtr="0">
              <a:noAutofit/>
            </a:bodyPr>
            <a:p>
              <a:pPr algn="ctr" rtl="0" eaLnBrk="0">
                <a:lnSpc>
                  <a:spcPct val="127000"/>
                </a:lnSpc>
              </a:pPr>
              <a:r>
                <a:rPr lang="en-US" altLang="zh-CN"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0</a:t>
              </a:r>
              <a:r>
                <a:rPr lang="zh-CN" altLang="en-US"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安全事故</a:t>
              </a:r>
              <a:endParaRPr lang="zh-CN" altLang="en-US"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endParaRPr>
            </a:p>
          </p:txBody>
        </p:sp>
      </p:grpSp>
      <p:graphicFrame>
        <p:nvGraphicFramePr>
          <p:cNvPr id="29" name="图表 28" descr="7b0a202020202263686172745265734964223a20223230343736383734220a7d0a"/>
          <p:cNvGraphicFramePr/>
          <p:nvPr/>
        </p:nvGraphicFramePr>
        <p:xfrm>
          <a:off x="941070" y="4445635"/>
          <a:ext cx="2476500" cy="1846580"/>
        </p:xfrm>
        <a:graphic>
          <a:graphicData uri="http://schemas.openxmlformats.org/drawingml/2006/chart">
            <c:chart xmlns:c="http://schemas.openxmlformats.org/drawingml/2006/chart" xmlns:r="http://schemas.openxmlformats.org/officeDocument/2006/relationships" r:id="rId2"/>
          </a:graphicData>
        </a:graphic>
      </p:graphicFrame>
      <p:sp>
        <p:nvSpPr>
          <p:cNvPr id="124" name="文本框 123"/>
          <p:cNvSpPr txBox="1"/>
          <p:nvPr/>
        </p:nvSpPr>
        <p:spPr>
          <a:xfrm>
            <a:off x="1062990" y="4008755"/>
            <a:ext cx="1800000" cy="288000"/>
          </a:xfrm>
          <a:prstGeom prst="rect">
            <a:avLst/>
          </a:prstGeom>
          <a:noFill/>
        </p:spPr>
        <p:txBody>
          <a:bodyPr rot="0" vert="horz" wrap="square" lIns="91440" tIns="45720" rIns="91440" bIns="45720" numCol="1" spcCol="0" rtlCol="0" anchor="t" anchorCtr="0" forceAA="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12700" lvl="0" algn="l" defTabSz="2438400" eaLnBrk="0">
              <a:lnSpc>
                <a:spcPct val="98000"/>
              </a:lnSpc>
            </a:pPr>
            <a:r>
              <a:rPr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事件类型分布</a:t>
            </a:r>
            <a:endParaRPr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graphicFrame>
        <p:nvGraphicFramePr>
          <p:cNvPr id="33" name="图表 32" descr="7b0a202020202263686172745265734964223a20223230343731343133220a7d0a"/>
          <p:cNvGraphicFramePr/>
          <p:nvPr/>
        </p:nvGraphicFramePr>
        <p:xfrm>
          <a:off x="6888480" y="4445635"/>
          <a:ext cx="4751705" cy="1940560"/>
        </p:xfrm>
        <a:graphic>
          <a:graphicData uri="http://schemas.openxmlformats.org/drawingml/2006/chart">
            <c:chart xmlns:c="http://schemas.openxmlformats.org/drawingml/2006/chart" xmlns:r="http://schemas.openxmlformats.org/officeDocument/2006/relationships" r:id="rId3"/>
          </a:graphicData>
        </a:graphic>
      </p:graphicFrame>
      <p:sp>
        <p:nvSpPr>
          <p:cNvPr id="35" name="íṥlïḍê"/>
          <p:cNvSpPr txBox="1"/>
          <p:nvPr>
            <p:custDataLst>
              <p:tags r:id="rId27"/>
            </p:custDataLst>
          </p:nvPr>
        </p:nvSpPr>
        <p:spPr>
          <a:xfrm>
            <a:off x="7019290" y="4057650"/>
            <a:ext cx="2396490" cy="242570"/>
          </a:xfrm>
          <a:prstGeom prst="rect">
            <a:avLst/>
          </a:prstGeom>
          <a:noFill/>
        </p:spPr>
        <p:txBody>
          <a:bodyPr wrap="square" rtlCol="0" anchor="t"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28575" lvl="0" algn="l" defTabSz="2438400" eaLnBrk="0">
              <a:lnSpc>
                <a:spcPct val="98000"/>
              </a:lnSpc>
            </a:pPr>
            <a:r>
              <a:rPr lang="zh-CN"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平均响应趋势（</a:t>
            </a:r>
            <a:r>
              <a:rPr lang="zh-CN"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分钟）</a:t>
            </a:r>
            <a:endParaRPr lang="zh-CN"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2" name="文本框 11"/>
          <p:cNvSpPr txBox="1"/>
          <p:nvPr/>
        </p:nvSpPr>
        <p:spPr>
          <a:xfrm>
            <a:off x="10017125" y="4091940"/>
            <a:ext cx="1636395" cy="368300"/>
          </a:xfrm>
          <a:prstGeom prst="rect">
            <a:avLst/>
          </a:prstGeom>
          <a:noFill/>
        </p:spPr>
        <p:txBody>
          <a:bodyPr wrap="square" rtlCol="0" anchor="t">
            <a:spAutoFit/>
          </a:bodyPr>
          <a:p>
            <a:r>
              <a:rPr lang="zh-CN" altLang="en-US">
                <a:sym typeface="+mn-ea"/>
              </a:rPr>
              <a:t>{{P1</a:t>
            </a:r>
            <a:r>
              <a:rPr lang="en-US" altLang="zh-CN">
                <a:sym typeface="+mn-ea"/>
              </a:rPr>
              <a:t>1</a:t>
            </a:r>
            <a:r>
              <a:rPr lang="zh-CN" altLang="en-US">
                <a:sym typeface="+mn-ea"/>
              </a:rPr>
              <a:t>_</a:t>
            </a:r>
            <a:r>
              <a:rPr lang="en-US" altLang="zh-CN">
                <a:sym typeface="+mn-ea"/>
              </a:rPr>
              <a:t>line</a:t>
            </a:r>
            <a:r>
              <a:rPr lang="zh-CN" altLang="en-US">
                <a:sym typeface="+mn-ea"/>
              </a:rPr>
              <a:t>}}</a:t>
            </a:r>
            <a:endParaRPr lang="zh-CN" altLang="en-US">
              <a:sym typeface="+mn-ea"/>
            </a:endParaRPr>
          </a:p>
        </p:txBody>
      </p:sp>
      <p:sp>
        <p:nvSpPr>
          <p:cNvPr id="3" name="文本框 2"/>
          <p:cNvSpPr txBox="1"/>
          <p:nvPr/>
        </p:nvSpPr>
        <p:spPr>
          <a:xfrm>
            <a:off x="4141470" y="4445635"/>
            <a:ext cx="1506855" cy="368300"/>
          </a:xfrm>
          <a:prstGeom prst="rect">
            <a:avLst/>
          </a:prstGeom>
          <a:noFill/>
        </p:spPr>
        <p:txBody>
          <a:bodyPr wrap="square" rtlCol="0" anchor="t">
            <a:spAutoFit/>
          </a:bodyPr>
          <a:p>
            <a:r>
              <a:rPr lang="zh-CN" altLang="en-US">
                <a:sym typeface="+mn-ea"/>
              </a:rPr>
              <a:t>{{</a:t>
            </a:r>
            <a:r>
              <a:rPr lang="en-US" altLang="zh-CN">
                <a:sym typeface="+mn-ea"/>
              </a:rPr>
              <a:t>P11_bar}</a:t>
            </a:r>
            <a:r>
              <a:rPr lang="zh-CN" altLang="en-US">
                <a:sym typeface="+mn-ea"/>
              </a:rPr>
              <a:t>}</a:t>
            </a:r>
            <a:endParaRPr lang="zh-CN" altLang="en-US">
              <a:sym typeface="+mn-ea"/>
            </a:endParaRPr>
          </a:p>
        </p:txBody>
      </p:sp>
      <p:sp>
        <p:nvSpPr>
          <p:cNvPr id="13" name="文本框 12"/>
          <p:cNvSpPr txBox="1"/>
          <p:nvPr/>
        </p:nvSpPr>
        <p:spPr>
          <a:xfrm>
            <a:off x="798830" y="4300220"/>
            <a:ext cx="1256665" cy="368300"/>
          </a:xfrm>
          <a:prstGeom prst="rect">
            <a:avLst/>
          </a:prstGeom>
          <a:noFill/>
        </p:spPr>
        <p:txBody>
          <a:bodyPr wrap="square" rtlCol="0" anchor="t">
            <a:spAutoFit/>
          </a:bodyPr>
          <a:p>
            <a:r>
              <a:rPr lang="zh-CN" altLang="en-US">
                <a:sym typeface="+mn-ea"/>
              </a:rPr>
              <a:t>{{</a:t>
            </a:r>
            <a:r>
              <a:rPr lang="en-US" altLang="zh-CN">
                <a:sym typeface="+mn-ea"/>
              </a:rPr>
              <a:t>P11_pie}</a:t>
            </a:r>
            <a:r>
              <a:rPr lang="zh-CN" altLang="en-US">
                <a:sym typeface="+mn-ea"/>
              </a:rPr>
              <a:t>}</a:t>
            </a:r>
            <a:endParaRPr lang="zh-CN" altLang="en-US">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textbox 158"/>
          <p:cNvSpPr/>
          <p:nvPr/>
        </p:nvSpPr>
        <p:spPr>
          <a:xfrm>
            <a:off x="647740" y="360198"/>
            <a:ext cx="3639820" cy="600075"/>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a:ea typeface="Arial" panose="020B0604020202020204"/>
              <a:cs typeface="Arial" panose="020B0604020202020204"/>
            </a:endParaRPr>
          </a:p>
          <a:p>
            <a:pPr marL="15875" algn="l" rtl="0" eaLnBrk="0">
              <a:lnSpc>
                <a:spcPct val="98000"/>
              </a:lnSpc>
            </a:pPr>
            <a:r>
              <a:rPr lang="zh-CN" altLang="en-US" sz="1900" dirty="0">
                <a:solidFill>
                  <a:srgbClr val="4C61E7"/>
                </a:solidFill>
                <a:latin typeface="黑体" panose="02010609060101010101" charset="-122"/>
                <a:ea typeface="黑体" panose="02010609060101010101" charset="-122"/>
                <a:cs typeface="黑体" panose="02010609060101010101" charset="-122"/>
              </a:rPr>
              <a:t>安全事件管理成效</a:t>
            </a:r>
            <a:endParaRPr lang="zh-CN" altLang="en-US" sz="1900" dirty="0">
              <a:solidFill>
                <a:srgbClr val="4C61E7"/>
              </a:solidFill>
              <a:latin typeface="黑体" panose="02010609060101010101" charset="-122"/>
              <a:ea typeface="黑体" panose="02010609060101010101" charset="-122"/>
              <a:cs typeface="黑体" panose="02010609060101010101" charset="-122"/>
            </a:endParaRPr>
          </a:p>
          <a:p>
            <a:pPr algn="l" rtl="0" eaLnBrk="0">
              <a:lnSpc>
                <a:spcPct val="101000"/>
              </a:lnSpc>
            </a:pPr>
            <a:endParaRPr sz="800" dirty="0">
              <a:latin typeface="Arial" panose="020B0604020202020204"/>
              <a:ea typeface="Arial" panose="020B0604020202020204"/>
              <a:cs typeface="Arial" panose="020B0604020202020204"/>
            </a:endParaRPr>
          </a:p>
          <a:p>
            <a:pPr marL="12700" algn="l" rtl="0" eaLnBrk="0">
              <a:lnSpc>
                <a:spcPct val="92000"/>
              </a:lnSpc>
              <a:spcBef>
                <a:spcPts val="5"/>
              </a:spcBef>
            </a:pPr>
            <a:r>
              <a:rPr lang="zh-CN" altLang="en-US" sz="1000" dirty="0">
                <a:solidFill>
                  <a:sysClr val="windowText" lastClr="000000"/>
                </a:solidFill>
                <a:latin typeface="黑体" panose="02010609060101010101" charset="-122"/>
                <a:ea typeface="黑体" panose="02010609060101010101" charset="-122"/>
                <a:cs typeface="黑体" panose="02010609060101010101" charset="-122"/>
                <a:sym typeface="+mn-ea"/>
              </a:rPr>
              <a:t>典型事件案例</a:t>
            </a:r>
            <a:r>
              <a:rPr lang="zh-CN" altLang="en-US" sz="1000" dirty="0">
                <a:solidFill>
                  <a:sysClr val="windowText" lastClr="000000"/>
                </a:solidFill>
                <a:latin typeface="黑体" panose="02010609060101010101" charset="-122"/>
                <a:ea typeface="黑体" panose="02010609060101010101" charset="-122"/>
                <a:cs typeface="黑体" panose="02010609060101010101" charset="-122"/>
                <a:sym typeface="+mn-ea"/>
              </a:rPr>
              <a:t>分析</a:t>
            </a:r>
            <a:endParaRPr lang="zh-CN" altLang="en-US" sz="1000" dirty="0">
              <a:solidFill>
                <a:sysClr val="windowText" lastClr="000000"/>
              </a:solidFill>
              <a:latin typeface="黑体" panose="02010609060101010101" charset="-122"/>
              <a:ea typeface="黑体" panose="02010609060101010101" charset="-122"/>
              <a:cs typeface="黑体" panose="02010609060101010101" charset="-122"/>
              <a:sym typeface="+mn-ea"/>
            </a:endParaRPr>
          </a:p>
        </p:txBody>
      </p:sp>
      <p:sp>
        <p:nvSpPr>
          <p:cNvPr id="115" name="文本框 114"/>
          <p:cNvSpPr txBox="1"/>
          <p:nvPr/>
        </p:nvSpPr>
        <p:spPr>
          <a:xfrm>
            <a:off x="647700" y="5847080"/>
            <a:ext cx="10999470" cy="826135"/>
          </a:xfrm>
          <a:prstGeom prst="rect">
            <a:avLst/>
          </a:prstGeom>
          <a:solidFill>
            <a:sysClr val="window" lastClr="FFFFFF">
              <a:lumMod val="95000"/>
            </a:sysClr>
          </a:solidFill>
        </p:spPr>
        <p:txBody>
          <a:bodyPr wrap="square" rtlCol="0">
            <a:noAutofit/>
          </a:bodyPr>
          <a:p>
            <a:endParaRPr lang="zh-CN" altLang="en-US" sz="2400"/>
          </a:p>
        </p:txBody>
      </p:sp>
      <p:sp>
        <p:nvSpPr>
          <p:cNvPr id="116" name="textbox 54"/>
          <p:cNvSpPr/>
          <p:nvPr/>
        </p:nvSpPr>
        <p:spPr>
          <a:xfrm>
            <a:off x="871220" y="5922010"/>
            <a:ext cx="2519998" cy="264795"/>
          </a:xfrm>
          <a:prstGeom prst="rect">
            <a:avLst/>
          </a:prstGeom>
          <a:noFill/>
          <a:ln w="0" cap="flat">
            <a:noFill/>
            <a:prstDash val="solid"/>
            <a:miter lim="0"/>
          </a:ln>
        </p:spPr>
        <p:txBody>
          <a:bodyPr vert="horz" wrap="square" lIns="0" tIns="0" rIns="0" bIns="0" anchor="ctr" anchorCtr="0"/>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ct val="100000"/>
              </a:lnSpc>
            </a:pPr>
            <a:r>
              <a:rPr sz="1200" b="1" spc="90" dirty="0">
                <a:solidFill>
                  <a:srgbClr val="000000">
                    <a:alpha val="100000"/>
                  </a:srgbClr>
                </a:solidFill>
                <a:latin typeface="黑体" panose="02010609060101010101" charset="-122"/>
                <a:ea typeface="黑体" panose="02010609060101010101" charset="-122"/>
                <a:cs typeface="黑体" panose="02010609060101010101" charset="-122"/>
              </a:rPr>
              <a:t>安全事件管理</a:t>
            </a:r>
            <a:r>
              <a:rPr lang="zh-CN" sz="1200" b="1" spc="90" dirty="0">
                <a:solidFill>
                  <a:srgbClr val="000000">
                    <a:alpha val="100000"/>
                  </a:srgbClr>
                </a:solidFill>
                <a:latin typeface="黑体" panose="02010609060101010101" charset="-122"/>
                <a:ea typeface="黑体" panose="02010609060101010101" charset="-122"/>
                <a:cs typeface="黑体" panose="02010609060101010101" charset="-122"/>
              </a:rPr>
              <a:t>待提升</a:t>
            </a:r>
            <a:r>
              <a:rPr lang="zh-CN" sz="1200" b="1" spc="90" dirty="0">
                <a:solidFill>
                  <a:srgbClr val="000000">
                    <a:alpha val="100000"/>
                  </a:srgbClr>
                </a:solidFill>
                <a:latin typeface="黑体" panose="02010609060101010101" charset="-122"/>
                <a:ea typeface="黑体" panose="02010609060101010101" charset="-122"/>
                <a:cs typeface="黑体" panose="02010609060101010101" charset="-122"/>
              </a:rPr>
              <a:t>项</a:t>
            </a:r>
            <a:endParaRPr lang="zh-CN" sz="1200" b="1" spc="90" dirty="0">
              <a:solidFill>
                <a:srgbClr val="000000">
                  <a:alpha val="100000"/>
                </a:srgbClr>
              </a:solidFill>
              <a:latin typeface="黑体" panose="02010609060101010101" charset="-122"/>
              <a:ea typeface="黑体" panose="02010609060101010101" charset="-122"/>
              <a:cs typeface="黑体" panose="02010609060101010101" charset="-122"/>
            </a:endParaRPr>
          </a:p>
        </p:txBody>
      </p:sp>
      <p:sp>
        <p:nvSpPr>
          <p:cNvPr id="117" name="文本框 116"/>
          <p:cNvSpPr txBox="1"/>
          <p:nvPr/>
        </p:nvSpPr>
        <p:spPr>
          <a:xfrm>
            <a:off x="1167765" y="6194425"/>
            <a:ext cx="1799590" cy="288290"/>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扩大</a:t>
            </a:r>
            <a:r>
              <a:rPr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安全事件</a:t>
            </a: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监控</a:t>
            </a: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范围</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18" name="文本框 117"/>
          <p:cNvSpPr txBox="1"/>
          <p:nvPr/>
        </p:nvSpPr>
        <p:spPr>
          <a:xfrm>
            <a:off x="4072890" y="6194425"/>
            <a:ext cx="1643380" cy="288290"/>
          </a:xfrm>
          <a:prstGeom prst="rect">
            <a:avLst/>
          </a:prstGeom>
          <a:noFill/>
        </p:spPr>
        <p:txBody>
          <a:bodyPr wrap="square" rtlCol="0" anchor="ctr" anchorCtr="0">
            <a:noAutofit/>
          </a:bodyPr>
          <a:p>
            <a:pPr algn="ctr" rtl="0" eaLnBrk="0">
              <a:lnSpc>
                <a:spcPct val="127000"/>
              </a:lnSpc>
            </a:pPr>
            <a:r>
              <a:rPr lang="zh-CN" sz="9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提高安全事件响应</a:t>
            </a:r>
            <a:r>
              <a:rPr lang="zh-CN" sz="9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效率</a:t>
            </a:r>
            <a:endParaRPr lang="zh-CN" sz="9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19" name="文本框 118"/>
          <p:cNvSpPr txBox="1"/>
          <p:nvPr/>
        </p:nvSpPr>
        <p:spPr>
          <a:xfrm>
            <a:off x="6977380" y="6194425"/>
            <a:ext cx="1643380" cy="288290"/>
          </a:xfrm>
          <a:prstGeom prst="rect">
            <a:avLst/>
          </a:prstGeom>
          <a:noFill/>
        </p:spPr>
        <p:txBody>
          <a:bodyPr wrap="square" rtlCol="0" anchor="ctr" anchorCtr="0">
            <a:noAutofit/>
          </a:bodyPr>
          <a:p>
            <a:pPr algn="ctr" rtl="0" eaLnBrk="0">
              <a:lnSpc>
                <a:spcPct val="127000"/>
              </a:lnSpc>
            </a:pPr>
            <a:r>
              <a:rPr lang="zh-CN" sz="9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提高自动化处置</a:t>
            </a:r>
            <a:r>
              <a:rPr lang="zh-CN" sz="9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率</a:t>
            </a:r>
            <a:endParaRPr lang="zh-CN" sz="9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20" name="文本框 119"/>
          <p:cNvSpPr txBox="1"/>
          <p:nvPr/>
        </p:nvSpPr>
        <p:spPr>
          <a:xfrm>
            <a:off x="9679305" y="6194425"/>
            <a:ext cx="1630045" cy="288290"/>
          </a:xfrm>
          <a:prstGeom prst="rect">
            <a:avLst/>
          </a:prstGeom>
          <a:noFill/>
        </p:spPr>
        <p:txBody>
          <a:bodyPr wrap="square" rtlCol="0" anchor="ctr" anchorCtr="0">
            <a:noAutofit/>
          </a:bodyPr>
          <a:p>
            <a:pPr algn="ctr" rtl="0" eaLnBrk="0">
              <a:lnSpc>
                <a:spcPct val="127000"/>
              </a:lnSpc>
            </a:pPr>
            <a:r>
              <a:rPr lang="zh-CN" sz="900" kern="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优化业务协同联动</a:t>
            </a:r>
            <a:r>
              <a:rPr lang="zh-CN" sz="900" kern="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能力</a:t>
            </a:r>
            <a:endParaRPr lang="zh-CN" sz="900" kern="0" spc="1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4" name="textbox 308"/>
          <p:cNvSpPr/>
          <p:nvPr/>
        </p:nvSpPr>
        <p:spPr>
          <a:xfrm>
            <a:off x="651510" y="1272540"/>
            <a:ext cx="5400000" cy="2156460"/>
          </a:xfrm>
          <a:prstGeom prst="rect">
            <a:avLst/>
          </a:prstGeom>
          <a:solidFill>
            <a:schemeClr val="accent6">
              <a:lumMod val="20000"/>
              <a:lumOff val="80000"/>
            </a:schemeClr>
          </a:solidFill>
          <a:ln w="0" cap="flat">
            <a:noFill/>
            <a:prstDash val="solid"/>
            <a:miter lim="0"/>
          </a:ln>
        </p:spPr>
        <p:txBody>
          <a:bodyPr vert="horz" wrap="square" lIns="0" tIns="0" rIns="0" bIns="0" anchor="t" anchorCtr="0"/>
          <a:p>
            <a:pPr algn="l" rtl="0" eaLnBrk="0">
              <a:lnSpc>
                <a:spcPct val="150000"/>
              </a:lnSpc>
            </a:pPr>
            <a:r>
              <a:rPr sz="900" b="1" kern="0" spc="170" dirty="0">
                <a:solidFill>
                  <a:srgbClr val="000000">
                    <a:alpha val="100000"/>
                  </a:srgbClr>
                </a:solidFill>
                <a:latin typeface="黑体" panose="02010609060101010101" charset="-122"/>
                <a:ea typeface="黑体" panose="02010609060101010101" charset="-122"/>
                <a:cs typeface="黑体" panose="02010609060101010101" charset="-122"/>
              </a:rPr>
              <a:t>案例</a:t>
            </a:r>
            <a:r>
              <a:rPr lang="en-US" sz="900" b="1" kern="0" spc="170" dirty="0">
                <a:solidFill>
                  <a:srgbClr val="000000">
                    <a:alpha val="100000"/>
                  </a:srgbClr>
                </a:solidFill>
                <a:latin typeface="黑体" panose="02010609060101010101" charset="-122"/>
                <a:ea typeface="黑体" panose="02010609060101010101" charset="-122"/>
                <a:cs typeface="黑体" panose="02010609060101010101" charset="-122"/>
              </a:rPr>
              <a:t>1</a:t>
            </a:r>
            <a:r>
              <a:rPr sz="900" b="1" kern="0" spc="170" dirty="0">
                <a:solidFill>
                  <a:srgbClr val="000000">
                    <a:alpha val="100000"/>
                  </a:srgbClr>
                </a:solidFill>
                <a:latin typeface="黑体" panose="02010609060101010101" charset="-122"/>
                <a:ea typeface="黑体" panose="02010609060101010101" charset="-122"/>
                <a:cs typeface="黑体" panose="02010609060101010101" charset="-122"/>
              </a:rPr>
              <a:t>：</a:t>
            </a:r>
            <a:r>
              <a:rPr lang="zh-CN" sz="900" b="1" kern="0" spc="170" dirty="0">
                <a:solidFill>
                  <a:srgbClr val="000000">
                    <a:alpha val="100000"/>
                  </a:srgbClr>
                </a:solidFill>
                <a:latin typeface="黑体" panose="02010609060101010101" charset="-122"/>
                <a:ea typeface="黑体" panose="02010609060101010101" charset="-122"/>
                <a:cs typeface="黑体" panose="02010609060101010101" charset="-122"/>
              </a:rPr>
              <a:t>主机异常行为</a:t>
            </a:r>
            <a:r>
              <a:rPr sz="900" b="1" kern="0" spc="170" dirty="0">
                <a:solidFill>
                  <a:srgbClr val="000000">
                    <a:alpha val="100000"/>
                  </a:srgbClr>
                </a:solidFill>
                <a:latin typeface="黑体" panose="02010609060101010101" charset="-122"/>
                <a:ea typeface="黑体" panose="02010609060101010101" charset="-122"/>
                <a:cs typeface="黑体" panose="02010609060101010101" charset="-122"/>
              </a:rPr>
              <a:t>处置</a:t>
            </a:r>
            <a:r>
              <a:rPr lang="en-US" altLang="zh-CN" sz="9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zh-CN" altLang="en-US" sz="9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典型事件样例</a:t>
            </a:r>
            <a:r>
              <a:rPr lang="en-US" altLang="zh-CN" sz="9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en-US" sz="9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sz="900" dirty="0">
              <a:latin typeface="黑体" panose="02010609060101010101" charset="-122"/>
              <a:ea typeface="黑体" panose="02010609060101010101" charset="-122"/>
              <a:cs typeface="黑体" panose="02010609060101010101" charset="-122"/>
            </a:endParaRPr>
          </a:p>
          <a:p>
            <a:pPr marL="253365" indent="0" algn="l" defTabSz="2438400" rtl="0" eaLnBrk="0" fontAlgn="auto">
              <a:lnSpc>
                <a:spcPct val="100000"/>
              </a:lnSpc>
              <a:spcBef>
                <a:spcPts val="300"/>
              </a:spcBef>
            </a:pPr>
            <a:r>
              <a:rPr sz="900" b="1" kern="0" spc="40" dirty="0">
                <a:solidFill>
                  <a:srgbClr val="2040A0">
                    <a:alpha val="100000"/>
                  </a:srgbClr>
                </a:solidFill>
                <a:latin typeface="黑体" panose="02010609060101010101" charset="-122"/>
                <a:ea typeface="黑体" panose="02010609060101010101" charset="-122"/>
                <a:cs typeface="黑体" panose="02010609060101010101" charset="-122"/>
              </a:rPr>
              <a:t>2025-02-17 18:12:08 - 威胁检测</a:t>
            </a:r>
            <a:endParaRPr sz="900" b="1" kern="0" spc="40" dirty="0">
              <a:solidFill>
                <a:srgbClr val="2040A0">
                  <a:alpha val="100000"/>
                </a:srgbClr>
              </a:solidFill>
              <a:latin typeface="黑体" panose="02010609060101010101" charset="-122"/>
              <a:ea typeface="黑体" panose="02010609060101010101" charset="-122"/>
              <a:cs typeface="黑体" panose="02010609060101010101" charset="-122"/>
            </a:endParaRPr>
          </a:p>
          <a:p>
            <a:pPr marL="253365" indent="0" algn="l" defTabSz="914400" rtl="0" eaLnBrk="0" fontAlgn="auto">
              <a:lnSpc>
                <a:spcPct val="100000"/>
              </a:lnSpc>
              <a:spcBef>
                <a:spcPts val="300"/>
              </a:spcBef>
              <a:buClrTx/>
              <a:buSzTx/>
              <a:buFontTx/>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rPr>
              <a:t>STA检测到192.168.1.110存在外联可疑的远控主机的行为；</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endParaRPr>
          </a:p>
          <a:p>
            <a:pPr marL="253365" indent="0" algn="l" rtl="0" eaLnBrk="0" fontAlgn="auto">
              <a:lnSpc>
                <a:spcPct val="100000"/>
              </a:lnSpc>
              <a:spcBef>
                <a:spcPts val="300"/>
              </a:spcBef>
            </a:pP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2025-02-17 18:26:52</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 </a:t>
            </a:r>
            <a:r>
              <a:rPr sz="900" b="1" kern="0" spc="40" dirty="0">
                <a:solidFill>
                  <a:srgbClr val="2040A0">
                    <a:alpha val="100000"/>
                  </a:srgbClr>
                </a:solidFill>
                <a:latin typeface="黑体" panose="02010609060101010101" charset="-122"/>
                <a:ea typeface="黑体" panose="02010609060101010101" charset="-122"/>
                <a:cs typeface="黑体" panose="02010609060101010101" charset="-122"/>
              </a:rPr>
              <a:t>-</a:t>
            </a:r>
            <a:r>
              <a:rPr lang="en-US" sz="900" b="1" kern="0" spc="40" dirty="0">
                <a:solidFill>
                  <a:srgbClr val="2040A0">
                    <a:alpha val="100000"/>
                  </a:srgbClr>
                </a:solidFill>
                <a:latin typeface="黑体" panose="02010609060101010101" charset="-122"/>
                <a:ea typeface="黑体" panose="02010609060101010101" charset="-122"/>
                <a:cs typeface="黑体" panose="02010609060101010101" charset="-122"/>
              </a:rPr>
              <a:t> </a:t>
            </a:r>
            <a:r>
              <a:rPr sz="900" b="1" kern="0" spc="40" dirty="0">
                <a:solidFill>
                  <a:srgbClr val="2040A0">
                    <a:alpha val="100000"/>
                  </a:srgbClr>
                </a:solidFill>
                <a:latin typeface="黑体" panose="02010609060101010101" charset="-122"/>
                <a:ea typeface="黑体" panose="02010609060101010101" charset="-122"/>
                <a:cs typeface="黑体" panose="02010609060101010101" charset="-122"/>
              </a:rPr>
              <a:t>AI智能研判</a:t>
            </a:r>
            <a:endParaRPr sz="900" b="1" spc="40" dirty="0">
              <a:solidFill>
                <a:srgbClr val="2040A0">
                  <a:alpha val="100000"/>
                </a:srgbClr>
              </a:solidFill>
              <a:latin typeface="黑体" panose="02010609060101010101" charset="-122"/>
              <a:ea typeface="黑体" panose="02010609060101010101" charset="-122"/>
              <a:cs typeface="黑体" panose="02010609060101010101" charset="-122"/>
            </a:endParaRPr>
          </a:p>
          <a:p>
            <a:pPr marL="253365" indent="0" algn="l" rtl="0" eaLnBrk="0" fontAlgn="auto">
              <a:lnSpc>
                <a:spcPct val="100000"/>
              </a:lnSpc>
              <a:spcBef>
                <a:spcPts val="300"/>
              </a:spcBef>
              <a:buClrTx/>
              <a:buSzTx/>
              <a:buFontTx/>
            </a:pP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rPr>
              <a:t>AI</a:t>
            </a:r>
            <a:r>
              <a:rPr lang="zh-CN" altLang="en-US" sz="800" spc="-10" dirty="0">
                <a:solidFill>
                  <a:srgbClr val="000000">
                    <a:alpha val="100000"/>
                  </a:srgbClr>
                </a:solidFill>
                <a:latin typeface="黑体" panose="02010609060101010101" charset="-122"/>
                <a:ea typeface="黑体" panose="02010609060101010101" charset="-122"/>
                <a:cs typeface="黑体" panose="02010609060101010101" charset="-122"/>
              </a:rPr>
              <a:t>助手根据情报</a:t>
            </a: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rPr>
              <a:t>判定为高危威胁，疑似APT组织定向攻击，可能导致数据泄露；</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endParaRPr>
          </a:p>
          <a:p>
            <a:pPr marL="253365" indent="0" algn="l" rtl="0" eaLnBrk="0" fontAlgn="auto">
              <a:lnSpc>
                <a:spcPct val="100000"/>
              </a:lnSpc>
              <a:spcBef>
                <a:spcPts val="300"/>
              </a:spcBef>
            </a:pP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2025-02-17 18:</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31</a:t>
            </a: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41 </a:t>
            </a: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 </a:t>
            </a:r>
            <a:r>
              <a:rPr lang="zh-CN"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专家研判</a:t>
            </a:r>
            <a:endPar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endParaRPr>
          </a:p>
          <a:p>
            <a:pPr marL="253365" indent="0" algn="l" rtl="0" eaLnBrk="0" fontAlgn="auto">
              <a:lnSpc>
                <a:spcPct val="100000"/>
              </a:lnSpc>
              <a:spcBef>
                <a:spcPts val="300"/>
              </a:spcBef>
              <a:buClrTx/>
              <a:buSzTx/>
              <a:buFontTx/>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rPr>
              <a:t>安全专家结合恶意情报和主机行为特征，还原攻击链，判定为恶意程序</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endParaRPr>
          </a:p>
          <a:p>
            <a:pPr marL="255270" indent="0" algn="l" rtl="0" eaLnBrk="0" fontAlgn="auto">
              <a:lnSpc>
                <a:spcPct val="100000"/>
              </a:lnSpc>
              <a:spcBef>
                <a:spcPts val="300"/>
              </a:spcBef>
            </a:pP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2025-02-17 18:</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32</a:t>
            </a: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35 </a:t>
            </a: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 </a:t>
            </a:r>
            <a:r>
              <a:rPr lang="zh-CN"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联动遏制</a:t>
            </a:r>
            <a:endParaRPr sz="900" dirty="0">
              <a:latin typeface="黑体" panose="02010609060101010101" charset="-122"/>
              <a:ea typeface="黑体" panose="02010609060101010101" charset="-122"/>
              <a:cs typeface="黑体" panose="02010609060101010101" charset="-122"/>
            </a:endParaRPr>
          </a:p>
          <a:p>
            <a:pPr marL="253365" indent="0" algn="l" rtl="0" eaLnBrk="0" fontAlgn="auto">
              <a:lnSpc>
                <a:spcPct val="100000"/>
              </a:lnSpc>
              <a:spcBef>
                <a:spcPts val="300"/>
              </a:spcBef>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安全专家联动青岛园区出口</a:t>
            </a: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AF</a:t>
            </a:r>
            <a:r>
              <a:rPr lang="zh-CN" alt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封禁外联目标地址，阻断攻击；同时通告用户侧协同上机排查；</a:t>
            </a:r>
            <a:endParaRPr lang="zh-CN" alt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253365" indent="0" algn="l" rtl="0" eaLnBrk="0" fontAlgn="auto">
              <a:lnSpc>
                <a:spcPct val="100000"/>
              </a:lnSpc>
              <a:spcBef>
                <a:spcPts val="300"/>
              </a:spcBef>
            </a:pP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2025-02-1</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8</a:t>
            </a: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 </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09:</a:t>
            </a:r>
            <a:r>
              <a:rPr lang="en-US" altLang="zh-CN"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00:00</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 </a:t>
            </a: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 </a:t>
            </a:r>
            <a:r>
              <a:rPr lang="zh-CN" alt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闭环验证</a:t>
            </a:r>
            <a:endParaRPr lang="zh-CN" alt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endParaRPr>
          </a:p>
          <a:p>
            <a:pPr marL="253365" indent="0" algn="l" rtl="0" eaLnBrk="0" fontAlgn="auto">
              <a:lnSpc>
                <a:spcPct val="100000"/>
              </a:lnSpc>
              <a:spcBef>
                <a:spcPts val="300"/>
              </a:spcBef>
              <a:buClrTx/>
              <a:buSzTx/>
              <a:buFontTx/>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服务经理持续观察主机外联恶意地址的行为是否持续存在，直到无异常再关闭工单。</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 name="textbox 40"/>
          <p:cNvSpPr/>
          <p:nvPr/>
        </p:nvSpPr>
        <p:spPr>
          <a:xfrm>
            <a:off x="647700" y="3527425"/>
            <a:ext cx="5400000" cy="2156460"/>
          </a:xfrm>
          <a:prstGeom prst="rect">
            <a:avLst/>
          </a:prstGeom>
          <a:solidFill>
            <a:schemeClr val="accent6">
              <a:lumMod val="40000"/>
              <a:lumOff val="60000"/>
            </a:schemeClr>
          </a:solid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ct val="119000"/>
              </a:lnSpc>
            </a:pP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endParaRPr sz="900" dirty="0">
              <a:latin typeface="黑体" panose="02010609060101010101" charset="-122"/>
              <a:ea typeface="黑体" panose="02010609060101010101" charset="-122"/>
              <a:cs typeface="黑体" panose="02010609060101010101" charset="-122"/>
            </a:endParaRPr>
          </a:p>
        </p:txBody>
      </p:sp>
      <p:sp>
        <p:nvSpPr>
          <p:cNvPr id="94" name="文本框 93"/>
          <p:cNvSpPr txBox="1"/>
          <p:nvPr/>
        </p:nvSpPr>
        <p:spPr>
          <a:xfrm>
            <a:off x="913765" y="3852545"/>
            <a:ext cx="5040000" cy="1710055"/>
          </a:xfrm>
          <a:prstGeom prst="rect">
            <a:avLst/>
          </a:prstGeom>
          <a:noFill/>
        </p:spPr>
        <p:txBody>
          <a:bodyPr wrap="square" rtlCol="0" anchor="t">
            <a:noAutofit/>
          </a:bodyPr>
          <a:p>
            <a:pPr algn="l" rtl="0" eaLnBrk="0">
              <a:lnSpc>
                <a:spcPct val="155000"/>
              </a:lnSpc>
            </a:pPr>
            <a:r>
              <a:rPr lang="zh-CN" sz="9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快速反应，</a:t>
            </a:r>
            <a:r>
              <a:rPr lang="en-US" altLang="zh-CN" sz="9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20</a:t>
            </a:r>
            <a:r>
              <a:rPr lang="zh-CN" altLang="en-US" sz="9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分钟完成检出到遏制</a:t>
            </a:r>
            <a:endParaRPr sz="900" dirty="0">
              <a:latin typeface="黑体" panose="02010609060101010101" charset="-122"/>
              <a:ea typeface="黑体" panose="02010609060101010101" charset="-122"/>
              <a:cs typeface="黑体" panose="02010609060101010101" charset="-122"/>
            </a:endParaRPr>
          </a:p>
          <a:p>
            <a:pPr marL="11430" algn="l" rtl="0" eaLnBrk="0">
              <a:lnSpc>
                <a:spcPct val="100000"/>
              </a:lnSpc>
              <a:spcBef>
                <a:spcPts val="185"/>
              </a:spcBef>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多级响应策略有效的降低大量安全日志的噪声影响，支撑安全人员快速响应，避免进一步</a:t>
            </a: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入侵</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11430" algn="l" rtl="0" eaLnBrk="0">
              <a:lnSpc>
                <a:spcPct val="100000"/>
              </a:lnSpc>
              <a:spcBef>
                <a:spcPts val="185"/>
              </a:spcBef>
            </a:pP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algn="l" rtl="0" eaLnBrk="0">
              <a:lnSpc>
                <a:spcPct val="155000"/>
              </a:lnSpc>
            </a:pPr>
            <a:r>
              <a:rPr lang="zh-CN" sz="8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半自动化处置，</a:t>
            </a:r>
            <a:r>
              <a:rPr lang="zh-CN" altLang="en-US" sz="8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无需运维配合，高效省心</a:t>
            </a:r>
            <a:endParaRPr sz="800" dirty="0">
              <a:latin typeface="黑体" panose="02010609060101010101" charset="-122"/>
              <a:ea typeface="黑体" panose="02010609060101010101" charset="-122"/>
              <a:cs typeface="黑体" panose="02010609060101010101" charset="-122"/>
            </a:endParaRPr>
          </a:p>
          <a:p>
            <a:pPr marL="11430" algn="l" rtl="0" eaLnBrk="0">
              <a:lnSpc>
                <a:spcPct val="100000"/>
              </a:lnSpc>
              <a:spcBef>
                <a:spcPts val="185"/>
              </a:spcBef>
              <a:buClrTx/>
              <a:buSzTx/>
              <a:buFontTx/>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在不产出业务影响的情况下，云端安全专家通过调用安全设备的能力完成无感遏制，让业务省心</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11430" algn="l" rtl="0" eaLnBrk="0">
              <a:lnSpc>
                <a:spcPct val="100000"/>
              </a:lnSpc>
              <a:spcBef>
                <a:spcPts val="185"/>
              </a:spcBef>
            </a:pP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algn="l" rtl="0" eaLnBrk="0">
              <a:lnSpc>
                <a:spcPct val="155000"/>
              </a:lnSpc>
            </a:pPr>
            <a:r>
              <a:rPr lang="zh-CN" sz="8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阻断黑客攻击，避免业务损失</a:t>
            </a:r>
            <a:endParaRPr sz="800" dirty="0">
              <a:latin typeface="黑体" panose="02010609060101010101" charset="-122"/>
              <a:ea typeface="黑体" panose="02010609060101010101" charset="-122"/>
              <a:cs typeface="黑体" panose="02010609060101010101" charset="-122"/>
            </a:endParaRPr>
          </a:p>
          <a:p>
            <a:pPr marL="11430" algn="l" rtl="0" eaLnBrk="0">
              <a:lnSpc>
                <a:spcPct val="100000"/>
              </a:lnSpc>
              <a:spcBef>
                <a:spcPts val="185"/>
              </a:spcBef>
              <a:buClrTx/>
              <a:buSzTx/>
              <a:buFontTx/>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主机外联远控地址极容易导致黑客取得内网主机控制权，进而实施内网隐蔽攻击或投放勒索病毒等，给企业造成重大损失。</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8" name="íṥlïḍê"/>
          <p:cNvSpPr txBox="1"/>
          <p:nvPr>
            <p:custDataLst>
              <p:tags r:id="rId1"/>
            </p:custDataLst>
          </p:nvPr>
        </p:nvSpPr>
        <p:spPr>
          <a:xfrm>
            <a:off x="723265" y="3566160"/>
            <a:ext cx="3600000" cy="269875"/>
          </a:xfrm>
          <a:prstGeom prst="rect">
            <a:avLst/>
          </a:prstGeom>
          <a:noFill/>
        </p:spPr>
        <p:txBody>
          <a:bodyPr wrap="square" rtlCol="0" anchor="ctr"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28575" lvl="0" algn="l" defTabSz="2438400" eaLnBrk="0">
              <a:lnSpc>
                <a:spcPct val="98000"/>
              </a:lnSpc>
            </a:pPr>
            <a:r>
              <a:rPr lang="zh-CN" sz="10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事例总结</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zh-CN" altLang="en-US"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典型事件分析总结</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zh-CN" sz="1000"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7" name="图片 6" descr="深信服 + 智安全"/>
          <p:cNvPicPr>
            <a:picLocks noChangeAspect="1"/>
          </p:cNvPicPr>
          <p:nvPr/>
        </p:nvPicPr>
        <p:blipFill>
          <a:blip r:embed="rId2"/>
          <a:srcRect l="5232" t="26576" r="4938" b="29565"/>
          <a:stretch>
            <a:fillRect/>
          </a:stretch>
        </p:blipFill>
        <p:spPr>
          <a:xfrm>
            <a:off x="10017125" y="238760"/>
            <a:ext cx="1629867" cy="360000"/>
          </a:xfrm>
          <a:prstGeom prst="rect">
            <a:avLst/>
          </a:prstGeom>
        </p:spPr>
      </p:pic>
      <p:sp>
        <p:nvSpPr>
          <p:cNvPr id="2" name="textbox 40"/>
          <p:cNvSpPr/>
          <p:nvPr/>
        </p:nvSpPr>
        <p:spPr>
          <a:xfrm>
            <a:off x="6244590" y="3527425"/>
            <a:ext cx="5400000" cy="2156460"/>
          </a:xfrm>
          <a:prstGeom prst="rect">
            <a:avLst/>
          </a:prstGeom>
          <a:solidFill>
            <a:schemeClr val="accent5">
              <a:lumMod val="40000"/>
              <a:lumOff val="60000"/>
            </a:schemeClr>
          </a:solid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ct val="119000"/>
              </a:lnSpc>
            </a:pP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endParaRPr sz="900" dirty="0">
              <a:latin typeface="黑体" panose="02010609060101010101" charset="-122"/>
              <a:ea typeface="黑体" panose="02010609060101010101" charset="-122"/>
              <a:cs typeface="黑体" panose="02010609060101010101" charset="-122"/>
            </a:endParaRPr>
          </a:p>
        </p:txBody>
      </p:sp>
      <p:sp>
        <p:nvSpPr>
          <p:cNvPr id="3" name="文本框 2"/>
          <p:cNvSpPr txBox="1"/>
          <p:nvPr/>
        </p:nvSpPr>
        <p:spPr>
          <a:xfrm>
            <a:off x="6516370" y="3852545"/>
            <a:ext cx="5040000" cy="1710055"/>
          </a:xfrm>
          <a:prstGeom prst="rect">
            <a:avLst/>
          </a:prstGeom>
          <a:noFill/>
        </p:spPr>
        <p:txBody>
          <a:bodyPr wrap="square" rtlCol="0" anchor="t">
            <a:noAutofit/>
          </a:bodyPr>
          <a:p>
            <a:pPr algn="l" rtl="0" eaLnBrk="0">
              <a:lnSpc>
                <a:spcPct val="155000"/>
              </a:lnSpc>
            </a:pPr>
            <a:r>
              <a:rPr lang="zh-CN" sz="9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快速反应，</a:t>
            </a:r>
            <a:r>
              <a:rPr lang="en-US" altLang="zh-CN" sz="9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20</a:t>
            </a:r>
            <a:r>
              <a:rPr lang="zh-CN" altLang="en-US" sz="9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分钟完成检出到遏制</a:t>
            </a:r>
            <a:endParaRPr sz="900" dirty="0">
              <a:latin typeface="黑体" panose="02010609060101010101" charset="-122"/>
              <a:ea typeface="黑体" panose="02010609060101010101" charset="-122"/>
              <a:cs typeface="黑体" panose="02010609060101010101" charset="-122"/>
            </a:endParaRPr>
          </a:p>
          <a:p>
            <a:pPr marL="11430" algn="l" rtl="0" eaLnBrk="0">
              <a:lnSpc>
                <a:spcPct val="100000"/>
              </a:lnSpc>
              <a:spcBef>
                <a:spcPts val="185"/>
              </a:spcBef>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多级响应策略有效的降低大量安全日志的噪声影响，支撑安全人员快速响应，避免进一步</a:t>
            </a: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入侵</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11430" algn="l" rtl="0" eaLnBrk="0">
              <a:lnSpc>
                <a:spcPct val="100000"/>
              </a:lnSpc>
              <a:spcBef>
                <a:spcPts val="185"/>
              </a:spcBef>
            </a:pP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algn="l" rtl="0" eaLnBrk="0">
              <a:lnSpc>
                <a:spcPct val="155000"/>
              </a:lnSpc>
            </a:pPr>
            <a:r>
              <a:rPr lang="zh-CN" sz="8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半自动化处置，</a:t>
            </a:r>
            <a:r>
              <a:rPr lang="zh-CN" altLang="en-US" sz="8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无需运维配合，高效省心</a:t>
            </a:r>
            <a:endParaRPr sz="800" dirty="0">
              <a:latin typeface="黑体" panose="02010609060101010101" charset="-122"/>
              <a:ea typeface="黑体" panose="02010609060101010101" charset="-122"/>
              <a:cs typeface="黑体" panose="02010609060101010101" charset="-122"/>
            </a:endParaRPr>
          </a:p>
          <a:p>
            <a:pPr marL="11430" algn="l" rtl="0" eaLnBrk="0">
              <a:lnSpc>
                <a:spcPct val="100000"/>
              </a:lnSpc>
              <a:spcBef>
                <a:spcPts val="185"/>
              </a:spcBef>
              <a:buClrTx/>
              <a:buSzTx/>
              <a:buFontTx/>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在不产出业务影响的情况下，云端安全专家通过调用安全设备的能力完成无感遏制，让业务省心</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11430" algn="l" rtl="0" eaLnBrk="0">
              <a:lnSpc>
                <a:spcPct val="100000"/>
              </a:lnSpc>
              <a:spcBef>
                <a:spcPts val="185"/>
              </a:spcBef>
            </a:pP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algn="l" rtl="0" eaLnBrk="0">
              <a:lnSpc>
                <a:spcPct val="155000"/>
              </a:lnSpc>
            </a:pPr>
            <a:r>
              <a:rPr lang="zh-CN" sz="8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阻断黑客攻击，避免业务损失</a:t>
            </a:r>
            <a:endParaRPr sz="800" dirty="0">
              <a:latin typeface="黑体" panose="02010609060101010101" charset="-122"/>
              <a:ea typeface="黑体" panose="02010609060101010101" charset="-122"/>
              <a:cs typeface="黑体" panose="02010609060101010101" charset="-122"/>
            </a:endParaRPr>
          </a:p>
          <a:p>
            <a:pPr marL="11430" algn="l" rtl="0" eaLnBrk="0">
              <a:lnSpc>
                <a:spcPct val="100000"/>
              </a:lnSpc>
              <a:spcBef>
                <a:spcPts val="185"/>
              </a:spcBef>
              <a:buClrTx/>
              <a:buSzTx/>
              <a:buFontTx/>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主机外联远控地址极容易导致黑客取得内网主机控制权，进而实施内网隐蔽攻击或投放勒索病毒等，给企业造成重大损失。</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6" name="íṥlïḍê"/>
          <p:cNvSpPr txBox="1"/>
          <p:nvPr>
            <p:custDataLst>
              <p:tags r:id="rId3"/>
            </p:custDataLst>
          </p:nvPr>
        </p:nvSpPr>
        <p:spPr>
          <a:xfrm>
            <a:off x="6325870" y="3566160"/>
            <a:ext cx="3600000" cy="269875"/>
          </a:xfrm>
          <a:prstGeom prst="rect">
            <a:avLst/>
          </a:prstGeom>
          <a:noFill/>
        </p:spPr>
        <p:txBody>
          <a:bodyPr wrap="square" rtlCol="0" anchor="ctr"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28575" lvl="0" algn="l" defTabSz="2438400" eaLnBrk="0">
              <a:lnSpc>
                <a:spcPct val="98000"/>
              </a:lnSpc>
            </a:pPr>
            <a:r>
              <a:rPr lang="zh-CN" sz="10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事例总结</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zh-CN" altLang="en-US"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典型事件分析总结</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zh-CN" sz="1000"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1" name="textbox 308"/>
          <p:cNvSpPr/>
          <p:nvPr/>
        </p:nvSpPr>
        <p:spPr>
          <a:xfrm>
            <a:off x="6244590" y="1272540"/>
            <a:ext cx="5400000" cy="2156460"/>
          </a:xfrm>
          <a:prstGeom prst="rect">
            <a:avLst/>
          </a:prstGeom>
          <a:solidFill>
            <a:schemeClr val="accent5">
              <a:lumMod val="20000"/>
              <a:lumOff val="80000"/>
            </a:schemeClr>
          </a:solidFill>
          <a:ln w="0" cap="flat">
            <a:noFill/>
            <a:prstDash val="solid"/>
            <a:miter lim="0"/>
          </a:ln>
        </p:spPr>
        <p:txBody>
          <a:bodyPr vert="horz" wrap="square" lIns="0" tIns="0" rIns="0" bIns="0" anchor="t" anchorCtr="0"/>
          <a:p>
            <a:pPr algn="l" rtl="0" eaLnBrk="0">
              <a:lnSpc>
                <a:spcPct val="150000"/>
              </a:lnSpc>
            </a:pPr>
            <a:r>
              <a:rPr sz="900" b="1" kern="0" spc="170" dirty="0">
                <a:solidFill>
                  <a:srgbClr val="000000">
                    <a:alpha val="100000"/>
                  </a:srgbClr>
                </a:solidFill>
                <a:latin typeface="黑体" panose="02010609060101010101" charset="-122"/>
                <a:ea typeface="黑体" panose="02010609060101010101" charset="-122"/>
                <a:cs typeface="黑体" panose="02010609060101010101" charset="-122"/>
              </a:rPr>
              <a:t>案例</a:t>
            </a:r>
            <a:r>
              <a:rPr lang="en-US" sz="900" b="1" kern="0" spc="170" dirty="0">
                <a:solidFill>
                  <a:srgbClr val="000000">
                    <a:alpha val="100000"/>
                  </a:srgbClr>
                </a:solidFill>
                <a:latin typeface="黑体" panose="02010609060101010101" charset="-122"/>
                <a:ea typeface="黑体" panose="02010609060101010101" charset="-122"/>
                <a:cs typeface="黑体" panose="02010609060101010101" charset="-122"/>
              </a:rPr>
              <a:t>1</a:t>
            </a:r>
            <a:r>
              <a:rPr sz="900" b="1" kern="0" spc="170" dirty="0">
                <a:solidFill>
                  <a:srgbClr val="000000">
                    <a:alpha val="100000"/>
                  </a:srgbClr>
                </a:solidFill>
                <a:latin typeface="黑体" panose="02010609060101010101" charset="-122"/>
                <a:ea typeface="黑体" panose="02010609060101010101" charset="-122"/>
                <a:cs typeface="黑体" panose="02010609060101010101" charset="-122"/>
              </a:rPr>
              <a:t>：</a:t>
            </a:r>
            <a:r>
              <a:rPr lang="zh-CN" sz="900" b="1" kern="0" spc="170" dirty="0">
                <a:solidFill>
                  <a:srgbClr val="000000">
                    <a:alpha val="100000"/>
                  </a:srgbClr>
                </a:solidFill>
                <a:latin typeface="黑体" panose="02010609060101010101" charset="-122"/>
                <a:ea typeface="黑体" panose="02010609060101010101" charset="-122"/>
                <a:cs typeface="黑体" panose="02010609060101010101" charset="-122"/>
              </a:rPr>
              <a:t>主机异常行为</a:t>
            </a:r>
            <a:r>
              <a:rPr sz="900" b="1" kern="0" spc="170" dirty="0">
                <a:solidFill>
                  <a:srgbClr val="000000">
                    <a:alpha val="100000"/>
                  </a:srgbClr>
                </a:solidFill>
                <a:latin typeface="黑体" panose="02010609060101010101" charset="-122"/>
                <a:ea typeface="黑体" panose="02010609060101010101" charset="-122"/>
                <a:cs typeface="黑体" panose="02010609060101010101" charset="-122"/>
              </a:rPr>
              <a:t>处置</a:t>
            </a:r>
            <a:r>
              <a:rPr lang="en-US" altLang="zh-CN" sz="9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zh-CN" altLang="en-US" sz="9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典型事件样例</a:t>
            </a:r>
            <a:r>
              <a:rPr lang="en-US" altLang="zh-CN" sz="9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en-US" sz="9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sz="900" dirty="0">
              <a:latin typeface="黑体" panose="02010609060101010101" charset="-122"/>
              <a:ea typeface="黑体" panose="02010609060101010101" charset="-122"/>
              <a:cs typeface="黑体" panose="02010609060101010101" charset="-122"/>
            </a:endParaRPr>
          </a:p>
          <a:p>
            <a:pPr marL="253365" indent="0" algn="l" defTabSz="2438400" rtl="0" eaLnBrk="0" fontAlgn="auto">
              <a:lnSpc>
                <a:spcPct val="100000"/>
              </a:lnSpc>
              <a:spcBef>
                <a:spcPts val="300"/>
              </a:spcBef>
            </a:pPr>
            <a:r>
              <a:rPr sz="900" b="1" kern="0" spc="40" dirty="0">
                <a:solidFill>
                  <a:srgbClr val="2040A0">
                    <a:alpha val="100000"/>
                  </a:srgbClr>
                </a:solidFill>
                <a:latin typeface="黑体" panose="02010609060101010101" charset="-122"/>
                <a:ea typeface="黑体" panose="02010609060101010101" charset="-122"/>
                <a:cs typeface="黑体" panose="02010609060101010101" charset="-122"/>
              </a:rPr>
              <a:t>2025-02-17 18:12:08 - 威胁检测</a:t>
            </a:r>
            <a:endParaRPr sz="900" b="1" kern="0" spc="40" dirty="0">
              <a:solidFill>
                <a:srgbClr val="2040A0">
                  <a:alpha val="100000"/>
                </a:srgbClr>
              </a:solidFill>
              <a:latin typeface="黑体" panose="02010609060101010101" charset="-122"/>
              <a:ea typeface="黑体" panose="02010609060101010101" charset="-122"/>
              <a:cs typeface="黑体" panose="02010609060101010101" charset="-122"/>
            </a:endParaRPr>
          </a:p>
          <a:p>
            <a:pPr marL="253365" indent="0" algn="l" defTabSz="914400" rtl="0" eaLnBrk="0" fontAlgn="auto">
              <a:lnSpc>
                <a:spcPct val="100000"/>
              </a:lnSpc>
              <a:spcBef>
                <a:spcPts val="300"/>
              </a:spcBef>
              <a:buClrTx/>
              <a:buSzTx/>
              <a:buFontTx/>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rPr>
              <a:t>STA检测到192.168.1.110存在外联可疑的远控主机的行为；</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endParaRPr>
          </a:p>
          <a:p>
            <a:pPr marL="253365" indent="0" algn="l" rtl="0" eaLnBrk="0" fontAlgn="auto">
              <a:lnSpc>
                <a:spcPct val="100000"/>
              </a:lnSpc>
              <a:spcBef>
                <a:spcPts val="300"/>
              </a:spcBef>
            </a:pP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2025-02-17 18:26:52</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 </a:t>
            </a:r>
            <a:r>
              <a:rPr sz="900" b="1" kern="0" spc="40" dirty="0">
                <a:solidFill>
                  <a:srgbClr val="2040A0">
                    <a:alpha val="100000"/>
                  </a:srgbClr>
                </a:solidFill>
                <a:latin typeface="黑体" panose="02010609060101010101" charset="-122"/>
                <a:ea typeface="黑体" panose="02010609060101010101" charset="-122"/>
                <a:cs typeface="黑体" panose="02010609060101010101" charset="-122"/>
              </a:rPr>
              <a:t>-</a:t>
            </a:r>
            <a:r>
              <a:rPr lang="en-US" sz="900" b="1" kern="0" spc="40" dirty="0">
                <a:solidFill>
                  <a:srgbClr val="2040A0">
                    <a:alpha val="100000"/>
                  </a:srgbClr>
                </a:solidFill>
                <a:latin typeface="黑体" panose="02010609060101010101" charset="-122"/>
                <a:ea typeface="黑体" panose="02010609060101010101" charset="-122"/>
                <a:cs typeface="黑体" panose="02010609060101010101" charset="-122"/>
              </a:rPr>
              <a:t> </a:t>
            </a:r>
            <a:r>
              <a:rPr sz="900" b="1" kern="0" spc="40" dirty="0">
                <a:solidFill>
                  <a:srgbClr val="2040A0">
                    <a:alpha val="100000"/>
                  </a:srgbClr>
                </a:solidFill>
                <a:latin typeface="黑体" panose="02010609060101010101" charset="-122"/>
                <a:ea typeface="黑体" panose="02010609060101010101" charset="-122"/>
                <a:cs typeface="黑体" panose="02010609060101010101" charset="-122"/>
              </a:rPr>
              <a:t>AI智能研判</a:t>
            </a:r>
            <a:endParaRPr sz="900" b="1" spc="40" dirty="0">
              <a:solidFill>
                <a:srgbClr val="2040A0">
                  <a:alpha val="100000"/>
                </a:srgbClr>
              </a:solidFill>
              <a:latin typeface="黑体" panose="02010609060101010101" charset="-122"/>
              <a:ea typeface="黑体" panose="02010609060101010101" charset="-122"/>
              <a:cs typeface="黑体" panose="02010609060101010101" charset="-122"/>
            </a:endParaRPr>
          </a:p>
          <a:p>
            <a:pPr marL="253365" indent="0" algn="l" rtl="0" eaLnBrk="0" fontAlgn="auto">
              <a:lnSpc>
                <a:spcPct val="100000"/>
              </a:lnSpc>
              <a:spcBef>
                <a:spcPts val="300"/>
              </a:spcBef>
              <a:buClrTx/>
              <a:buSzTx/>
              <a:buFontTx/>
            </a:pP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rPr>
              <a:t>AI</a:t>
            </a:r>
            <a:r>
              <a:rPr lang="zh-CN" altLang="en-US" sz="800" spc="-10" dirty="0">
                <a:solidFill>
                  <a:srgbClr val="000000">
                    <a:alpha val="100000"/>
                  </a:srgbClr>
                </a:solidFill>
                <a:latin typeface="黑体" panose="02010609060101010101" charset="-122"/>
                <a:ea typeface="黑体" panose="02010609060101010101" charset="-122"/>
                <a:cs typeface="黑体" panose="02010609060101010101" charset="-122"/>
              </a:rPr>
              <a:t>助手根据情报</a:t>
            </a: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rPr>
              <a:t>判定为高危威胁，疑似APT组织定向攻击，可能导致数据泄露；</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endParaRPr>
          </a:p>
          <a:p>
            <a:pPr marL="253365" indent="0" algn="l" rtl="0" eaLnBrk="0" fontAlgn="auto">
              <a:lnSpc>
                <a:spcPct val="100000"/>
              </a:lnSpc>
              <a:spcBef>
                <a:spcPts val="300"/>
              </a:spcBef>
            </a:pP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2025-02-17 18:</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31</a:t>
            </a: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41 </a:t>
            </a: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 </a:t>
            </a:r>
            <a:r>
              <a:rPr lang="zh-CN"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专家研判</a:t>
            </a:r>
            <a:endPar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endParaRPr>
          </a:p>
          <a:p>
            <a:pPr marL="253365" indent="0" algn="l" rtl="0" eaLnBrk="0" fontAlgn="auto">
              <a:lnSpc>
                <a:spcPct val="100000"/>
              </a:lnSpc>
              <a:spcBef>
                <a:spcPts val="300"/>
              </a:spcBef>
              <a:buClrTx/>
              <a:buSzTx/>
              <a:buFontTx/>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rPr>
              <a:t>安全专家结合恶意情报和主机行为特征，还原攻击链，判定为恶意程序</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endParaRPr>
          </a:p>
          <a:p>
            <a:pPr marL="255270" indent="0" algn="l" rtl="0" eaLnBrk="0" fontAlgn="auto">
              <a:lnSpc>
                <a:spcPct val="100000"/>
              </a:lnSpc>
              <a:spcBef>
                <a:spcPts val="300"/>
              </a:spcBef>
            </a:pP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2025-02-17 18:</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32</a:t>
            </a: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35 </a:t>
            </a: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 </a:t>
            </a:r>
            <a:r>
              <a:rPr lang="zh-CN"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联动遏制</a:t>
            </a:r>
            <a:endParaRPr sz="900" dirty="0">
              <a:latin typeface="黑体" panose="02010609060101010101" charset="-122"/>
              <a:ea typeface="黑体" panose="02010609060101010101" charset="-122"/>
              <a:cs typeface="黑体" panose="02010609060101010101" charset="-122"/>
            </a:endParaRPr>
          </a:p>
          <a:p>
            <a:pPr marL="253365" indent="0" algn="l" rtl="0" eaLnBrk="0" fontAlgn="auto">
              <a:lnSpc>
                <a:spcPct val="100000"/>
              </a:lnSpc>
              <a:spcBef>
                <a:spcPts val="300"/>
              </a:spcBef>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安全专家联动青岛园区出口</a:t>
            </a: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AF</a:t>
            </a:r>
            <a:r>
              <a:rPr lang="zh-CN" alt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封禁外联目标地址，阻断攻击；同时通告用户侧协同上机排查；</a:t>
            </a:r>
            <a:endParaRPr lang="zh-CN" alt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253365" indent="0" algn="l" rtl="0" eaLnBrk="0" fontAlgn="auto">
              <a:lnSpc>
                <a:spcPct val="100000"/>
              </a:lnSpc>
              <a:spcBef>
                <a:spcPts val="300"/>
              </a:spcBef>
            </a:pP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2025-02-1</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8</a:t>
            </a: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 </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09:</a:t>
            </a:r>
            <a:r>
              <a:rPr lang="en-US" altLang="zh-CN"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00:00</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 </a:t>
            </a: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 </a:t>
            </a:r>
            <a:r>
              <a:rPr lang="zh-CN" alt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闭环验证</a:t>
            </a:r>
            <a:endParaRPr lang="zh-CN" alt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endParaRPr>
          </a:p>
          <a:p>
            <a:pPr marL="253365" indent="0" algn="l" rtl="0" eaLnBrk="0" fontAlgn="auto">
              <a:lnSpc>
                <a:spcPct val="100000"/>
              </a:lnSpc>
              <a:spcBef>
                <a:spcPts val="300"/>
              </a:spcBef>
              <a:buClrTx/>
              <a:buSzTx/>
              <a:buFontTx/>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服务经理持续观察主机外联恶意地址的行为是否持续存在，直到无异常再关闭工单。</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textbox 48"/>
          <p:cNvSpPr/>
          <p:nvPr/>
        </p:nvSpPr>
        <p:spPr>
          <a:xfrm>
            <a:off x="647700" y="1196658"/>
            <a:ext cx="3006000" cy="2388870"/>
          </a:xfrm>
          <a:prstGeom prst="rect">
            <a:avLst/>
          </a:prstGeom>
          <a:solidFill>
            <a:srgbClr val="5B9BD5">
              <a:lumMod val="20000"/>
              <a:lumOff val="80000"/>
            </a:srgbClr>
          </a:solidFill>
          <a:ln w="0" cap="flat">
            <a:noFill/>
            <a:prstDash val="solid"/>
            <a:miter lim="0"/>
          </a:ln>
        </p:spPr>
        <p:txBody>
          <a:bodyPr vert="horz" wrap="square" lIns="0" tIns="0" rIns="0" bIns="0"/>
          <a:p>
            <a:pPr algn="l" rtl="0" eaLnBrk="0">
              <a:lnSpc>
                <a:spcPct val="182000"/>
              </a:lnSpc>
            </a:pPr>
            <a:endParaRPr sz="1000" dirty="0">
              <a:latin typeface="Arial" panose="020B0604020202020204"/>
              <a:ea typeface="Arial" panose="020B0604020202020204"/>
              <a:cs typeface="Arial" panose="020B0604020202020204"/>
            </a:endParaRPr>
          </a:p>
          <a:p>
            <a:pPr algn="l" rtl="0" eaLnBrk="0">
              <a:lnSpc>
                <a:spcPct val="101000"/>
              </a:lnSpc>
            </a:pPr>
            <a:endParaRPr sz="500" dirty="0">
              <a:latin typeface="Arial" panose="020B0604020202020204"/>
              <a:ea typeface="Arial" panose="020B0604020202020204"/>
              <a:cs typeface="Arial" panose="020B0604020202020204"/>
            </a:endParaRPr>
          </a:p>
          <a:p>
            <a:pPr marL="716915" algn="l" rtl="0" eaLnBrk="0">
              <a:lnSpc>
                <a:spcPct val="100000"/>
              </a:lnSpc>
              <a:spcBef>
                <a:spcPts val="5"/>
              </a:spcBef>
            </a:pPr>
            <a:endParaRPr sz="900" dirty="0">
              <a:latin typeface="黑体" panose="02010609060101010101" charset="-122"/>
              <a:ea typeface="黑体" panose="02010609060101010101" charset="-122"/>
              <a:cs typeface="黑体" panose="02010609060101010101" charset="-122"/>
            </a:endParaRPr>
          </a:p>
        </p:txBody>
      </p:sp>
      <p:sp>
        <p:nvSpPr>
          <p:cNvPr id="2" name="textbox 158"/>
          <p:cNvSpPr/>
          <p:nvPr/>
        </p:nvSpPr>
        <p:spPr>
          <a:xfrm>
            <a:off x="647700" y="360045"/>
            <a:ext cx="4261485" cy="600075"/>
          </a:xfrm>
          <a:prstGeom prst="rect">
            <a:avLst/>
          </a:prstGeom>
          <a:noFill/>
          <a:ln w="0" cap="flat">
            <a:noFill/>
            <a:prstDash val="solid"/>
            <a:miter lim="0"/>
          </a:ln>
        </p:spPr>
        <p:txBody>
          <a:bodyPr vert="horz" wrap="square" lIns="0" tIns="0" rIns="0" bIns="0"/>
          <a:p>
            <a:pPr marL="15875" algn="l" rtl="0" eaLnBrk="0">
              <a:lnSpc>
                <a:spcPct val="98000"/>
              </a:lnSpc>
            </a:pPr>
            <a:r>
              <a:rPr lang="zh-CN" altLang="en-US" sz="1900" kern="0" dirty="0">
                <a:solidFill>
                  <a:srgbClr val="4C61E7"/>
                </a:solidFill>
                <a:latin typeface="黑体" panose="02010609060101010101" charset="-122"/>
                <a:ea typeface="黑体" panose="02010609060101010101" charset="-122"/>
                <a:cs typeface="黑体" panose="02010609060101010101" charset="-122"/>
              </a:rPr>
              <a:t>资产安全管理成效</a:t>
            </a:r>
            <a:endParaRPr lang="zh-CN" altLang="en-US" sz="1900" dirty="0">
              <a:solidFill>
                <a:srgbClr val="4C61E7"/>
              </a:solidFill>
              <a:latin typeface="黑体" panose="02010609060101010101" charset="-122"/>
              <a:ea typeface="黑体" panose="02010609060101010101" charset="-122"/>
              <a:cs typeface="黑体" panose="02010609060101010101" charset="-122"/>
            </a:endParaRPr>
          </a:p>
          <a:p>
            <a:pPr algn="l" rtl="0" eaLnBrk="0">
              <a:lnSpc>
                <a:spcPct val="101000"/>
              </a:lnSpc>
            </a:pPr>
            <a:endParaRPr sz="800" dirty="0">
              <a:latin typeface="Arial" panose="020B0604020202020204"/>
              <a:ea typeface="Arial" panose="020B0604020202020204"/>
              <a:cs typeface="Arial" panose="020B0604020202020204"/>
            </a:endParaRPr>
          </a:p>
          <a:p>
            <a:pPr marL="12700" algn="l" rtl="0" eaLnBrk="0">
              <a:lnSpc>
                <a:spcPct val="92000"/>
              </a:lnSpc>
              <a:spcBef>
                <a:spcPts val="5"/>
              </a:spcBef>
            </a:pPr>
            <a:r>
              <a:rPr lang="zh-CN" altLang="en-US" sz="1000" dirty="0">
                <a:solidFill>
                  <a:sysClr val="windowText" lastClr="000000"/>
                </a:solidFill>
                <a:latin typeface="黑体" panose="02010609060101010101" charset="-122"/>
                <a:ea typeface="黑体" panose="02010609060101010101" charset="-122"/>
                <a:cs typeface="黑体" panose="02010609060101010101" charset="-122"/>
              </a:rPr>
              <a:t>全面理清保护对象，提高运营</a:t>
            </a:r>
            <a:r>
              <a:rPr lang="zh-CN" altLang="en-US" sz="1000" dirty="0">
                <a:solidFill>
                  <a:sysClr val="windowText" lastClr="000000"/>
                </a:solidFill>
                <a:latin typeface="黑体" panose="02010609060101010101" charset="-122"/>
                <a:ea typeface="黑体" panose="02010609060101010101" charset="-122"/>
                <a:cs typeface="黑体" panose="02010609060101010101" charset="-122"/>
              </a:rPr>
              <a:t>效率</a:t>
            </a:r>
            <a:endParaRPr lang="zh-CN" altLang="en-US" sz="1000" dirty="0">
              <a:solidFill>
                <a:sysClr val="windowText" lastClr="000000"/>
              </a:solidFill>
              <a:latin typeface="黑体" panose="02010609060101010101" charset="-122"/>
              <a:ea typeface="黑体" panose="02010609060101010101" charset="-122"/>
              <a:cs typeface="黑体" panose="02010609060101010101" charset="-122"/>
            </a:endParaRPr>
          </a:p>
        </p:txBody>
      </p:sp>
      <p:sp>
        <p:nvSpPr>
          <p:cNvPr id="10" name="文本框 9"/>
          <p:cNvSpPr txBox="1"/>
          <p:nvPr/>
        </p:nvSpPr>
        <p:spPr>
          <a:xfrm>
            <a:off x="3926205" y="1196658"/>
            <a:ext cx="7623493" cy="2388870"/>
          </a:xfrm>
          <a:prstGeom prst="rect">
            <a:avLst/>
          </a:prstGeom>
          <a:solidFill>
            <a:srgbClr val="EAEEF1"/>
          </a:solidFill>
        </p:spPr>
        <p:txBody>
          <a:bodyPr wrap="square" rtlCol="0" anchor="t">
            <a:noAutofit/>
          </a:bodyPr>
          <a:p>
            <a:pPr marL="11430" algn="l" rtl="0" eaLnBrk="0">
              <a:lnSpc>
                <a:spcPct val="99000"/>
              </a:lnSpc>
            </a:pPr>
            <a:endParaRPr lang="zh-CN" sz="9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5" name="文本框 14"/>
          <p:cNvSpPr txBox="1"/>
          <p:nvPr/>
        </p:nvSpPr>
        <p:spPr>
          <a:xfrm>
            <a:off x="665480" y="5856605"/>
            <a:ext cx="10908030" cy="934720"/>
          </a:xfrm>
          <a:prstGeom prst="rect">
            <a:avLst/>
          </a:prstGeom>
          <a:solidFill>
            <a:schemeClr val="bg1">
              <a:lumMod val="95000"/>
            </a:schemeClr>
          </a:solidFill>
        </p:spPr>
        <p:txBody>
          <a:bodyPr wrap="square" rtlCol="0">
            <a:noAutofit/>
          </a:bodyPr>
          <a:p>
            <a:endParaRPr lang="en-US" altLang="zh-CN"/>
          </a:p>
        </p:txBody>
      </p:sp>
      <p:sp>
        <p:nvSpPr>
          <p:cNvPr id="94" name="textbox 94"/>
          <p:cNvSpPr/>
          <p:nvPr/>
        </p:nvSpPr>
        <p:spPr>
          <a:xfrm>
            <a:off x="3926523" y="4878070"/>
            <a:ext cx="7622858" cy="812800"/>
          </a:xfrm>
          <a:prstGeom prst="rect">
            <a:avLst/>
          </a:prstGeom>
          <a:solidFill>
            <a:srgbClr val="EFF5FD">
              <a:alpha val="100000"/>
            </a:srgbClr>
          </a:solidFill>
          <a:ln w="0" cap="flat">
            <a:noFill/>
            <a:prstDash val="solid"/>
            <a:miter lim="0"/>
          </a:ln>
        </p:spPr>
        <p:txBody>
          <a:bodyPr vert="horz" wrap="square" lIns="0" tIns="0" rIns="0" bIns="0"/>
          <a:p>
            <a:pPr algn="l" rtl="0" eaLnBrk="0">
              <a:lnSpc>
                <a:spcPct val="114000"/>
              </a:lnSpc>
            </a:pPr>
            <a:endParaRPr sz="500" dirty="0">
              <a:latin typeface="Arial" panose="020B0604020202020204"/>
              <a:ea typeface="Arial" panose="020B0604020202020204"/>
              <a:cs typeface="Arial" panose="020B0604020202020204"/>
            </a:endParaRPr>
          </a:p>
          <a:p>
            <a:pPr marL="133350" algn="l" rtl="0" eaLnBrk="0">
              <a:lnSpc>
                <a:spcPct val="150000"/>
              </a:lnSpc>
              <a:spcBef>
                <a:spcPts val="5"/>
              </a:spcBef>
            </a:pPr>
            <a:endParaRPr sz="1000" dirty="0">
              <a:latin typeface="黑体" panose="02010609060101010101" charset="-122"/>
              <a:ea typeface="黑体" panose="02010609060101010101" charset="-122"/>
              <a:cs typeface="黑体" panose="02010609060101010101" charset="-122"/>
            </a:endParaRPr>
          </a:p>
        </p:txBody>
      </p:sp>
      <p:sp>
        <p:nvSpPr>
          <p:cNvPr id="104" name="textbox 104"/>
          <p:cNvSpPr/>
          <p:nvPr/>
        </p:nvSpPr>
        <p:spPr>
          <a:xfrm>
            <a:off x="3926523" y="3720465"/>
            <a:ext cx="7628573" cy="1133158"/>
          </a:xfrm>
          <a:prstGeom prst="rect">
            <a:avLst/>
          </a:prstGeom>
          <a:solidFill>
            <a:schemeClr val="accent6">
              <a:lumMod val="20000"/>
              <a:lumOff val="80000"/>
            </a:schemeClr>
          </a:solidFill>
          <a:ln w="0" cap="flat">
            <a:noFill/>
            <a:prstDash val="solid"/>
            <a:miter lim="0"/>
          </a:ln>
        </p:spPr>
        <p:txBody>
          <a:bodyPr vert="horz" wrap="square" lIns="0" tIns="0" rIns="0" bIns="0"/>
          <a:p>
            <a:pPr algn="l" rtl="0" eaLnBrk="0">
              <a:lnSpc>
                <a:spcPct val="89000"/>
              </a:lnSpc>
            </a:pPr>
            <a:endParaRPr sz="100" dirty="0">
              <a:latin typeface="Arial" panose="020B0604020202020204"/>
              <a:ea typeface="Arial" panose="020B0604020202020204"/>
              <a:cs typeface="Arial" panose="020B0604020202020204"/>
            </a:endParaRPr>
          </a:p>
          <a:p>
            <a:pPr marL="12700" algn="l" rtl="0" eaLnBrk="0">
              <a:lnSpc>
                <a:spcPct val="95000"/>
              </a:lnSpc>
            </a:pPr>
            <a:endParaRPr sz="900" dirty="0">
              <a:latin typeface="黑体" panose="02010609060101010101" charset="-122"/>
              <a:ea typeface="黑体" panose="02010609060101010101" charset="-122"/>
              <a:cs typeface="黑体" panose="02010609060101010101" charset="-122"/>
            </a:endParaRPr>
          </a:p>
        </p:txBody>
      </p:sp>
      <p:grpSp>
        <p:nvGrpSpPr>
          <p:cNvPr id="55" name="组合 54"/>
          <p:cNvGrpSpPr/>
          <p:nvPr/>
        </p:nvGrpSpPr>
        <p:grpSpPr>
          <a:xfrm rot="0">
            <a:off x="7090093" y="4111308"/>
            <a:ext cx="1439545" cy="692150"/>
            <a:chOff x="23598" y="12409"/>
            <a:chExt cx="4534" cy="2180"/>
          </a:xfrm>
        </p:grpSpPr>
        <p:sp>
          <p:nvSpPr>
            <p:cNvPr id="8" name="文本框 7"/>
            <p:cNvSpPr txBox="1"/>
            <p:nvPr/>
          </p:nvSpPr>
          <p:spPr>
            <a:xfrm>
              <a:off x="23598" y="13455"/>
              <a:ext cx="4534" cy="1134"/>
            </a:xfrm>
            <a:prstGeom prst="rect">
              <a:avLst/>
            </a:prstGeom>
            <a:ln>
              <a:solidFill>
                <a:srgbClr val="92D050"/>
              </a:solidFill>
            </a:ln>
          </p:spPr>
          <p:style>
            <a:lnRef idx="3">
              <a:schemeClr val="accent3"/>
            </a:lnRef>
            <a:fillRef idx="0">
              <a:srgbClr val="FFFFFF"/>
            </a:fillRef>
            <a:effectRef idx="0">
              <a:srgbClr val="FFFFFF"/>
            </a:effectRef>
            <a:fontRef idx="minor">
              <a:schemeClr val="tx1"/>
            </a:fontRef>
          </p:style>
          <p:txBody>
            <a:bodyPr wrap="square" rtlCol="0" anchor="ctr" anchorCtr="0">
              <a:noAutofit/>
            </a:bodyPr>
            <a:p>
              <a:pPr lvl="0" algn="ctr" eaLnBrk="0"/>
              <a:r>
                <a:rPr lang="en-US" altLang="zh-CN" sz="1000" b="1"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{{asset_value2}}</a:t>
              </a:r>
              <a:endParaRPr lang="en-US" altLang="zh-CN" sz="1000" b="1" spc="-60" dirty="0">
                <a:solidFill>
                  <a:srgbClr val="20409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3" name="组合 2"/>
            <p:cNvGrpSpPr/>
            <p:nvPr/>
          </p:nvGrpSpPr>
          <p:grpSpPr>
            <a:xfrm rot="0">
              <a:off x="25412" y="12409"/>
              <a:ext cx="907" cy="907"/>
              <a:chOff x="25500" y="11572"/>
              <a:chExt cx="907" cy="907"/>
            </a:xfrm>
          </p:grpSpPr>
          <p:sp>
            <p:nvSpPr>
              <p:cNvPr id="12" name="椭圆 11"/>
              <p:cNvSpPr/>
              <p:nvPr>
                <p:custDataLst>
                  <p:tags r:id="rId2"/>
                </p:custDataLst>
              </p:nvPr>
            </p:nvSpPr>
            <p:spPr bwMode="auto">
              <a:xfrm>
                <a:off x="25500" y="11572"/>
                <a:ext cx="907" cy="907"/>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fontScale="80000"/>
              </a:bodyPr>
              <a:p>
                <a:pPr algn="ctr"/>
                <a:endParaRPr lang="zh-CN" altLang="en-US" sz="900">
                  <a:solidFill>
                    <a:sysClr val="windowText" lastClr="000000"/>
                  </a:solidFill>
                  <a:cs typeface="+mn-ea"/>
                </a:endParaRPr>
              </a:p>
            </p:txBody>
          </p:sp>
          <p:pic>
            <p:nvPicPr>
              <p:cNvPr id="4" name="图片 3" descr="闪电"/>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670" y="11742"/>
                <a:ext cx="567" cy="567"/>
              </a:xfrm>
              <a:prstGeom prst="rect">
                <a:avLst/>
              </a:prstGeom>
            </p:spPr>
          </p:pic>
        </p:grpSp>
      </p:grpSp>
      <p:grpSp>
        <p:nvGrpSpPr>
          <p:cNvPr id="56" name="组合 55"/>
          <p:cNvGrpSpPr/>
          <p:nvPr/>
        </p:nvGrpSpPr>
        <p:grpSpPr>
          <a:xfrm rot="0">
            <a:off x="9679623" y="4111308"/>
            <a:ext cx="1439545" cy="692150"/>
            <a:chOff x="31276" y="12409"/>
            <a:chExt cx="4534" cy="2180"/>
          </a:xfrm>
        </p:grpSpPr>
        <p:sp>
          <p:nvSpPr>
            <p:cNvPr id="7" name="文本框 6"/>
            <p:cNvSpPr txBox="1"/>
            <p:nvPr/>
          </p:nvSpPr>
          <p:spPr>
            <a:xfrm>
              <a:off x="31276" y="13455"/>
              <a:ext cx="4534" cy="1134"/>
            </a:xfrm>
            <a:prstGeom prst="rect">
              <a:avLst/>
            </a:prstGeom>
            <a:ln>
              <a:solidFill>
                <a:srgbClr val="92D050"/>
              </a:solidFill>
            </a:ln>
          </p:spPr>
          <p:style>
            <a:lnRef idx="3">
              <a:schemeClr val="accent3"/>
            </a:lnRef>
            <a:fillRef idx="0">
              <a:srgbClr val="FFFFFF"/>
            </a:fillRef>
            <a:effectRef idx="0">
              <a:srgbClr val="FFFFFF"/>
            </a:effectRef>
            <a:fontRef idx="minor">
              <a:schemeClr val="tx1"/>
            </a:fontRef>
          </p:style>
          <p:txBody>
            <a:bodyPr wrap="square" rtlCol="0" anchor="ctr" anchorCtr="0">
              <a:noAutofit/>
            </a:bodyPr>
            <a:p>
              <a:pPr lvl="0" algn="ctr" eaLnBrk="0"/>
              <a:r>
                <a:rPr lang="en-US" altLang="zh-CN" sz="1000" b="1"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{{asset_value3}}</a:t>
              </a:r>
              <a:endParaRPr lang="en-US" altLang="zh-CN" sz="1000" b="1" spc="-60" dirty="0">
                <a:solidFill>
                  <a:srgbClr val="20409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14" name="组合 13"/>
            <p:cNvGrpSpPr/>
            <p:nvPr/>
          </p:nvGrpSpPr>
          <p:grpSpPr>
            <a:xfrm rot="0">
              <a:off x="33090" y="12409"/>
              <a:ext cx="907" cy="907"/>
              <a:chOff x="33129" y="11647"/>
              <a:chExt cx="907" cy="907"/>
            </a:xfrm>
          </p:grpSpPr>
          <p:sp>
            <p:nvSpPr>
              <p:cNvPr id="13" name="椭圆 12"/>
              <p:cNvSpPr/>
              <p:nvPr>
                <p:custDataLst>
                  <p:tags r:id="rId5"/>
                </p:custDataLst>
              </p:nvPr>
            </p:nvSpPr>
            <p:spPr bwMode="auto">
              <a:xfrm>
                <a:off x="33129" y="11647"/>
                <a:ext cx="907" cy="907"/>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fontScale="80000"/>
              </a:bodyPr>
              <a:p>
                <a:pPr algn="ctr"/>
                <a:endParaRPr lang="zh-CN" altLang="en-US" sz="900">
                  <a:solidFill>
                    <a:sysClr val="windowText" lastClr="000000"/>
                  </a:solidFill>
                  <a:cs typeface="+mn-ea"/>
                </a:endParaRPr>
              </a:p>
            </p:txBody>
          </p:sp>
          <p:pic>
            <p:nvPicPr>
              <p:cNvPr id="5" name="图片 4" descr="人力费用"/>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3299" y="11817"/>
                <a:ext cx="567" cy="567"/>
              </a:xfrm>
              <a:prstGeom prst="rect">
                <a:avLst/>
              </a:prstGeom>
            </p:spPr>
          </p:pic>
        </p:grpSp>
      </p:grpSp>
      <p:pic>
        <p:nvPicPr>
          <p:cNvPr id="60" name="图片 59" descr="折线图"/>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117975" y="3811905"/>
            <a:ext cx="215900" cy="215900"/>
          </a:xfrm>
          <a:prstGeom prst="rect">
            <a:avLst/>
          </a:prstGeom>
        </p:spPr>
      </p:pic>
      <p:sp>
        <p:nvSpPr>
          <p:cNvPr id="18" name="文本框 17"/>
          <p:cNvSpPr txBox="1"/>
          <p:nvPr/>
        </p:nvSpPr>
        <p:spPr>
          <a:xfrm>
            <a:off x="4497705" y="3775710"/>
            <a:ext cx="1900555" cy="288290"/>
          </a:xfrm>
          <a:prstGeom prst="rect">
            <a:avLst/>
          </a:prstGeom>
          <a:noFill/>
        </p:spPr>
        <p:txBody>
          <a:bodyPr wrap="square" rtlCol="0" anchor="ctr" anchorCtr="0">
            <a:noAutofit/>
          </a:bodyPr>
          <a:p>
            <a:pPr marL="12700" algn="l" rtl="0" eaLnBrk="0">
              <a:lnSpc>
                <a:spcPct val="95000"/>
              </a:lnSpc>
            </a:pPr>
            <a:r>
              <a:rPr sz="900" b="1" kern="0" spc="230" dirty="0">
                <a:solidFill>
                  <a:srgbClr val="000000">
                    <a:alpha val="100000"/>
                  </a:srgbClr>
                </a:solidFill>
                <a:latin typeface="黑体" panose="02010609060101010101" charset="-122"/>
                <a:ea typeface="黑体" panose="02010609060101010101" charset="-122"/>
                <a:cs typeface="黑体" panose="02010609060101010101" charset="-122"/>
                <a:sym typeface="+mn-ea"/>
              </a:rPr>
              <a:t>资产安全管理价值</a:t>
            </a:r>
            <a:endParaRPr lang="zh-CN" altLang="en-US" sz="900" b="1" kern="0" spc="23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52" name="组合 51"/>
          <p:cNvGrpSpPr/>
          <p:nvPr/>
        </p:nvGrpSpPr>
        <p:grpSpPr>
          <a:xfrm rot="0">
            <a:off x="4499928" y="4124960"/>
            <a:ext cx="1440180" cy="692150"/>
            <a:chOff x="15001" y="12047"/>
            <a:chExt cx="4536" cy="2180"/>
          </a:xfrm>
        </p:grpSpPr>
        <p:sp>
          <p:nvSpPr>
            <p:cNvPr id="9" name="文本框 8"/>
            <p:cNvSpPr txBox="1"/>
            <p:nvPr/>
          </p:nvSpPr>
          <p:spPr>
            <a:xfrm>
              <a:off x="15001" y="13093"/>
              <a:ext cx="4536" cy="1134"/>
            </a:xfrm>
            <a:prstGeom prst="rect">
              <a:avLst/>
            </a:prstGeom>
            <a:ln>
              <a:solidFill>
                <a:srgbClr val="92D050"/>
              </a:solidFill>
            </a:ln>
          </p:spPr>
          <p:style>
            <a:lnRef idx="3">
              <a:schemeClr val="accent3"/>
            </a:lnRef>
            <a:fillRef idx="0">
              <a:srgbClr val="FFFFFF"/>
            </a:fillRef>
            <a:effectRef idx="0">
              <a:srgbClr val="FFFFFF"/>
            </a:effectRef>
            <a:fontRef idx="minor">
              <a:schemeClr val="tx1"/>
            </a:fontRef>
          </p:style>
          <p:txBody>
            <a:bodyPr wrap="square" rtlCol="0" anchor="ctr" anchorCtr="0">
              <a:noAutofit/>
            </a:bodyPr>
            <a:p>
              <a:pPr algn="ctr" rtl="0" eaLnBrk="0">
                <a:lnSpc>
                  <a:spcPct val="100000"/>
                </a:lnSpc>
              </a:pPr>
              <a:r>
                <a:rPr lang="en-US" altLang="zh-CN" sz="1000" b="1" kern="0"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{{asset_value1}}</a:t>
              </a:r>
              <a:endParaRPr lang="en-US" altLang="zh-CN" sz="1000" b="1" kern="0" spc="-60" dirty="0">
                <a:solidFill>
                  <a:srgbClr val="20409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11" name="组合 10"/>
            <p:cNvGrpSpPr/>
            <p:nvPr/>
          </p:nvGrpSpPr>
          <p:grpSpPr>
            <a:xfrm>
              <a:off x="16816" y="12047"/>
              <a:ext cx="907" cy="907"/>
              <a:chOff x="16280" y="11640"/>
              <a:chExt cx="907" cy="907"/>
            </a:xfrm>
          </p:grpSpPr>
          <p:sp>
            <p:nvSpPr>
              <p:cNvPr id="31" name="椭圆 30"/>
              <p:cNvSpPr/>
              <p:nvPr>
                <p:custDataLst>
                  <p:tags r:id="rId10"/>
                </p:custDataLst>
              </p:nvPr>
            </p:nvSpPr>
            <p:spPr bwMode="auto">
              <a:xfrm>
                <a:off x="16280" y="11640"/>
                <a:ext cx="907" cy="907"/>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fontScale="80000"/>
              </a:bodyPr>
              <a:p>
                <a:pPr algn="ctr"/>
                <a:endParaRPr lang="zh-CN" altLang="en-US" sz="900">
                  <a:solidFill>
                    <a:sysClr val="windowText" lastClr="000000"/>
                  </a:solidFill>
                  <a:cs typeface="+mn-ea"/>
                </a:endParaRPr>
              </a:p>
            </p:txBody>
          </p:sp>
          <p:pic>
            <p:nvPicPr>
              <p:cNvPr id="19" name="图片 18" descr="放大镜"/>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6471" y="11817"/>
                <a:ext cx="567" cy="567"/>
              </a:xfrm>
              <a:prstGeom prst="rect">
                <a:avLst/>
              </a:prstGeom>
            </p:spPr>
          </p:pic>
        </p:grpSp>
      </p:grpSp>
      <p:grpSp>
        <p:nvGrpSpPr>
          <p:cNvPr id="37" name="组合 36"/>
          <p:cNvGrpSpPr/>
          <p:nvPr/>
        </p:nvGrpSpPr>
        <p:grpSpPr>
          <a:xfrm>
            <a:off x="1275398" y="1650365"/>
            <a:ext cx="2159635" cy="815340"/>
            <a:chOff x="4017" y="5198"/>
            <a:chExt cx="8006" cy="2568"/>
          </a:xfrm>
        </p:grpSpPr>
        <p:sp>
          <p:nvSpPr>
            <p:cNvPr id="21" name="文本框 20"/>
            <p:cNvSpPr txBox="1"/>
            <p:nvPr/>
          </p:nvSpPr>
          <p:spPr>
            <a:xfrm>
              <a:off x="4017" y="5198"/>
              <a:ext cx="8006" cy="62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96000"/>
                </a:lnSpc>
                <a:spcBef>
                  <a:spcPts val="1125"/>
                </a:spcBef>
              </a:pP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资产识别（</a:t>
              </a:r>
              <a:r>
                <a:rPr lang="en-US" alt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XDR</a:t>
              </a: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2" name="文本框 21"/>
            <p:cNvSpPr txBox="1"/>
            <p:nvPr/>
          </p:nvSpPr>
          <p:spPr>
            <a:xfrm>
              <a:off x="4017" y="6002"/>
              <a:ext cx="4696" cy="176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79000"/>
                </a:lnSpc>
                <a:spcBef>
                  <a:spcPts val="310"/>
                </a:spcBef>
              </a:pPr>
              <a:r>
                <a:rPr lang="en-US" altLang="zh-CN"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{{total_server_assets_count}}</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altLang="zh-CN"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 </a:t>
              </a:r>
              <a:r>
                <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服务器</a:t>
              </a:r>
              <a:endPar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endParaRPr>
            </a:p>
          </p:txBody>
        </p:sp>
      </p:grpSp>
      <p:sp>
        <p:nvSpPr>
          <p:cNvPr id="76" name="textbox 54"/>
          <p:cNvSpPr/>
          <p:nvPr/>
        </p:nvSpPr>
        <p:spPr>
          <a:xfrm>
            <a:off x="718185" y="5624830"/>
            <a:ext cx="2519998" cy="264795"/>
          </a:xfrm>
          <a:prstGeom prst="rect">
            <a:avLst/>
          </a:prstGeom>
          <a:noFill/>
          <a:ln w="0" cap="flat">
            <a:noFill/>
            <a:prstDash val="solid"/>
            <a:miter lim="0"/>
          </a:ln>
        </p:spPr>
        <p:txBody>
          <a:bodyPr vert="horz" wrap="square" lIns="0" tIns="0" rIns="0" bIns="0" anchor="ctr" anchorCtr="0"/>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ct val="100000"/>
              </a:lnSpc>
            </a:pPr>
            <a:r>
              <a:rPr lang="zh-CN" sz="1200" b="1" spc="90" dirty="0">
                <a:solidFill>
                  <a:srgbClr val="000000">
                    <a:alpha val="100000"/>
                  </a:srgbClr>
                </a:solidFill>
                <a:latin typeface="黑体" panose="02010609060101010101" charset="-122"/>
                <a:ea typeface="黑体" panose="02010609060101010101" charset="-122"/>
                <a:cs typeface="黑体" panose="02010609060101010101" charset="-122"/>
              </a:rPr>
              <a:t>资产安全管理待提升</a:t>
            </a:r>
            <a:r>
              <a:rPr lang="zh-CN" sz="1200" b="1" spc="90" dirty="0">
                <a:solidFill>
                  <a:srgbClr val="000000">
                    <a:alpha val="100000"/>
                  </a:srgbClr>
                </a:solidFill>
                <a:latin typeface="黑体" panose="02010609060101010101" charset="-122"/>
                <a:ea typeface="黑体" panose="02010609060101010101" charset="-122"/>
                <a:cs typeface="黑体" panose="02010609060101010101" charset="-122"/>
              </a:rPr>
              <a:t>项</a:t>
            </a:r>
            <a:endParaRPr lang="zh-CN" sz="1200" b="1" spc="90" dirty="0">
              <a:solidFill>
                <a:srgbClr val="000000">
                  <a:alpha val="100000"/>
                </a:srgbClr>
              </a:solidFill>
              <a:latin typeface="黑体" panose="02010609060101010101" charset="-122"/>
              <a:ea typeface="黑体" panose="02010609060101010101" charset="-122"/>
              <a:cs typeface="黑体" panose="02010609060101010101" charset="-122"/>
            </a:endParaRPr>
          </a:p>
        </p:txBody>
      </p:sp>
      <p:sp>
        <p:nvSpPr>
          <p:cNvPr id="24" name="文本框 23"/>
          <p:cNvSpPr txBox="1"/>
          <p:nvPr/>
        </p:nvSpPr>
        <p:spPr>
          <a:xfrm>
            <a:off x="4487545" y="5904865"/>
            <a:ext cx="3531870" cy="86106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anchorCtr="0" forceAA="0">
            <a:noAutofit/>
          </a:bodyPr>
          <a:p>
            <a:pPr marL="0" marR="0" indent="0" algn="just" defTabSz="2438400" rtl="0" fontAlgn="auto" latinLnBrk="0" hangingPunct="0">
              <a:lnSpc>
                <a:spcPct val="100000"/>
              </a:lnSpc>
              <a:spcBef>
                <a:spcPts val="0"/>
              </a:spcBef>
              <a:spcAft>
                <a:spcPts val="0"/>
              </a:spcAft>
              <a:buClrTx/>
              <a:buSzTx/>
              <a:buFontTx/>
              <a:buNone/>
            </a:pPr>
            <a:r>
              <a:rPr kumimoji="0" lang="en-US" altLang="zh-CN" sz="1000" b="0" i="0" u="none" strike="noStrike" cap="none" spc="0" normalizeH="0" baseline="0" dirty="0">
                <a:ln>
                  <a:noFill/>
                </a:ln>
                <a:solidFill>
                  <a:srgbClr val="000000">
                    <a:alpha val="100000"/>
                  </a:srgbClr>
                </a:solidFill>
                <a:effectLst/>
                <a:uFillTx/>
                <a:latin typeface="黑体" panose="02010609060101010101" charset="-122"/>
                <a:ea typeface="黑体" panose="02010609060101010101" charset="-122"/>
                <a:cs typeface="黑体" panose="02010609060101010101" charset="-122"/>
                <a:sym typeface="+mn-ea"/>
              </a:rPr>
              <a:t>{{asset_improve2}}</a:t>
            </a:r>
            <a:endParaRPr kumimoji="0" lang="en-US" altLang="zh-CN" sz="1000" b="0" i="0" u="none" strike="noStrike" cap="none" spc="0" normalizeH="0" baseline="0" dirty="0">
              <a:ln>
                <a:noFill/>
              </a:ln>
              <a:solidFill>
                <a:srgbClr val="000000">
                  <a:alpha val="100000"/>
                </a:srgbClr>
              </a:solidFill>
              <a:effectLst/>
              <a:uFillTx/>
              <a:latin typeface="黑体" panose="02010609060101010101" charset="-122"/>
              <a:ea typeface="黑体" panose="02010609060101010101" charset="-122"/>
              <a:cs typeface="黑体" panose="02010609060101010101" charset="-122"/>
              <a:sym typeface="+mn-ea"/>
            </a:endParaRPr>
          </a:p>
        </p:txBody>
      </p:sp>
      <p:sp>
        <p:nvSpPr>
          <p:cNvPr id="25" name="文本框 24"/>
          <p:cNvSpPr txBox="1"/>
          <p:nvPr/>
        </p:nvSpPr>
        <p:spPr>
          <a:xfrm>
            <a:off x="8352790" y="5909310"/>
            <a:ext cx="3039745" cy="83820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anchorCtr="0" forceAA="0">
            <a:noAutofit/>
          </a:bodyPr>
          <a:p>
            <a:pPr algn="just" rtl="0" eaLnBrk="0">
              <a:lnSpc>
                <a:spcPct val="83000"/>
              </a:lnSpc>
            </a:pPr>
            <a:r>
              <a:rPr kumimoji="0" lang="en-US" altLang="zh-CN" sz="1000" b="0" i="0" u="none" strike="noStrike" cap="none" spc="0" normalizeH="0" baseline="0" dirty="0">
                <a:ln>
                  <a:noFill/>
                </a:ln>
                <a:solidFill>
                  <a:srgbClr val="000000">
                    <a:alpha val="100000"/>
                  </a:srgbClr>
                </a:solidFill>
                <a:effectLst/>
                <a:uFillTx/>
                <a:latin typeface="黑体" panose="02010609060101010101" charset="-122"/>
                <a:ea typeface="黑体" panose="02010609060101010101" charset="-122"/>
                <a:cs typeface="黑体" panose="02010609060101010101" charset="-122"/>
                <a:sym typeface="+mn-ea"/>
              </a:rPr>
              <a:t>{{asset_improve3}}</a:t>
            </a:r>
            <a:endParaRPr kumimoji="0" lang="en-US" altLang="zh-CN" sz="1000" b="0" i="0" u="none" strike="noStrike" cap="none" spc="0" normalizeH="0" baseline="0" dirty="0">
              <a:ln>
                <a:noFill/>
              </a:ln>
              <a:solidFill>
                <a:srgbClr val="000000">
                  <a:alpha val="100000"/>
                </a:srgbClr>
              </a:solidFill>
              <a:effectLst/>
              <a:uFillTx/>
              <a:latin typeface="黑体" panose="02010609060101010101" charset="-122"/>
              <a:ea typeface="黑体" panose="02010609060101010101" charset="-122"/>
              <a:cs typeface="黑体" panose="02010609060101010101" charset="-122"/>
              <a:sym typeface="+mn-ea"/>
            </a:endParaRPr>
          </a:p>
        </p:txBody>
      </p:sp>
      <p:grpSp>
        <p:nvGrpSpPr>
          <p:cNvPr id="49" name="组合 48"/>
          <p:cNvGrpSpPr/>
          <p:nvPr/>
        </p:nvGrpSpPr>
        <p:grpSpPr>
          <a:xfrm>
            <a:off x="1275398" y="2854325"/>
            <a:ext cx="2159953" cy="826453"/>
            <a:chOff x="4017" y="8989"/>
            <a:chExt cx="8006" cy="2603"/>
          </a:xfrm>
        </p:grpSpPr>
        <p:sp>
          <p:nvSpPr>
            <p:cNvPr id="28" name="文本框 27"/>
            <p:cNvSpPr txBox="1"/>
            <p:nvPr/>
          </p:nvSpPr>
          <p:spPr>
            <a:xfrm>
              <a:off x="4017" y="8989"/>
              <a:ext cx="8006" cy="62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96000"/>
                </a:lnSpc>
                <a:spcBef>
                  <a:spcPts val="1125"/>
                </a:spcBef>
              </a:pP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资产指纹扫描</a:t>
              </a:r>
              <a:endPar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9" name="文本框 28"/>
            <p:cNvSpPr txBox="1"/>
            <p:nvPr/>
          </p:nvSpPr>
          <p:spPr>
            <a:xfrm>
              <a:off x="4017" y="9828"/>
              <a:ext cx="3892" cy="176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79000"/>
                </a:lnSpc>
                <a:spcBef>
                  <a:spcPts val="310"/>
                </a:spcBef>
              </a:pPr>
              <a:r>
                <a:rPr lang="en-US" altLang="zh-CN"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{{asset_identification_runs}}</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 </a:t>
              </a:r>
              <a:r>
                <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次</a:t>
              </a:r>
              <a:endPar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endParaRPr>
            </a:p>
          </p:txBody>
        </p:sp>
      </p:grpSp>
      <p:graphicFrame>
        <p:nvGraphicFramePr>
          <p:cNvPr id="30" name="图表 29" descr="7b0a202020202263686172745265734964223a20223230323931393734220a7d0a"/>
          <p:cNvGraphicFramePr/>
          <p:nvPr/>
        </p:nvGraphicFramePr>
        <p:xfrm>
          <a:off x="647700" y="3992245"/>
          <a:ext cx="2987993" cy="1686243"/>
        </p:xfrm>
        <a:graphic>
          <a:graphicData uri="http://schemas.openxmlformats.org/drawingml/2006/chart">
            <c:chart xmlns:c="http://schemas.openxmlformats.org/drawingml/2006/chart" xmlns:r="http://schemas.openxmlformats.org/officeDocument/2006/relationships" r:id="rId1"/>
          </a:graphicData>
        </a:graphic>
      </p:graphicFrame>
      <p:pic>
        <p:nvPicPr>
          <p:cNvPr id="123" name="图片 122" descr="星星"/>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063365" y="5104448"/>
            <a:ext cx="359728" cy="360045"/>
          </a:xfrm>
          <a:prstGeom prst="rect">
            <a:avLst/>
          </a:prstGeom>
        </p:spPr>
      </p:pic>
      <p:sp>
        <p:nvSpPr>
          <p:cNvPr id="32" name="文本框 31"/>
          <p:cNvSpPr txBox="1"/>
          <p:nvPr/>
        </p:nvSpPr>
        <p:spPr>
          <a:xfrm>
            <a:off x="4581525" y="4912995"/>
            <a:ext cx="6812280" cy="77724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noAutofit/>
          </a:bodyPr>
          <a:p>
            <a:pPr marL="133350" algn="just" rtl="0" eaLnBrk="0">
              <a:lnSpc>
                <a:spcPct val="150000"/>
              </a:lnSpc>
              <a:spcBef>
                <a:spcPts val="5"/>
              </a:spcBef>
            </a:pPr>
            <a:r>
              <a:rPr lang="zh-CN" altLang="en-US" sz="1000" spc="-10" dirty="0">
                <a:solidFill>
                  <a:srgbClr val="2040A0">
                    <a:alpha val="100000"/>
                  </a:srgbClr>
                </a:solidFill>
                <a:latin typeface="黑体" panose="02010609060101010101" charset="-122"/>
                <a:ea typeface="黑体" panose="02010609060101010101" charset="-122"/>
                <a:cs typeface="黑体" panose="02010609060101010101" charset="-122"/>
                <a:sym typeface="+mn-ea"/>
              </a:rPr>
              <a:t>资产安全管理总结</a:t>
            </a:r>
            <a:r>
              <a:rPr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{{asset_summary}}</a:t>
            </a:r>
            <a:endParaRPr kumimoji="0" lang="zh-CN" altLang="en-US" sz="1000" b="0" i="0" u="none" strike="noStrike" cap="none" spc="-10" normalizeH="0" baseline="0" dirty="0">
              <a:ln>
                <a:noFill/>
              </a:ln>
              <a:solidFill>
                <a:srgbClr val="000000">
                  <a:alpha val="100000"/>
                </a:srgbClr>
              </a:solidFill>
              <a:effectLst/>
              <a:uFillTx/>
              <a:latin typeface="黑体" panose="02010609060101010101" charset="-122"/>
              <a:ea typeface="黑体" panose="02010609060101010101" charset="-122"/>
              <a:cs typeface="黑体" panose="02010609060101010101" charset="-122"/>
              <a:sym typeface="+mn-ea"/>
            </a:endParaRPr>
          </a:p>
        </p:txBody>
      </p:sp>
      <p:grpSp>
        <p:nvGrpSpPr>
          <p:cNvPr id="38" name="组合 37"/>
          <p:cNvGrpSpPr/>
          <p:nvPr/>
        </p:nvGrpSpPr>
        <p:grpSpPr>
          <a:xfrm>
            <a:off x="1275398" y="2252345"/>
            <a:ext cx="2418355" cy="961390"/>
            <a:chOff x="4017" y="7030"/>
            <a:chExt cx="7906" cy="3028"/>
          </a:xfrm>
        </p:grpSpPr>
        <p:sp>
          <p:nvSpPr>
            <p:cNvPr id="26" name="文本框 25"/>
            <p:cNvSpPr txBox="1"/>
            <p:nvPr/>
          </p:nvSpPr>
          <p:spPr>
            <a:xfrm>
              <a:off x="4017" y="7030"/>
              <a:ext cx="6336" cy="62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96000"/>
                </a:lnSpc>
                <a:spcBef>
                  <a:spcPts val="1125"/>
                </a:spcBef>
              </a:pP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互联网暴露面识别</a:t>
              </a:r>
              <a:endPar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7" name="文本框 26"/>
            <p:cNvSpPr txBox="1"/>
            <p:nvPr/>
          </p:nvSpPr>
          <p:spPr>
            <a:xfrm>
              <a:off x="4017" y="7834"/>
              <a:ext cx="3590" cy="222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79000"/>
                </a:lnSpc>
                <a:spcBef>
                  <a:spcPts val="310"/>
                </a:spcBef>
              </a:pPr>
              <a:r>
                <a:rPr lang="en-US" altLang="zh-CN"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{{internet_IP_domain_count}}</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altLang="zh-CN" b="1" spc="-30" dirty="0">
                  <a:solidFill>
                    <a:srgbClr val="2040C0">
                      <a:alpha val="100000"/>
                    </a:srgbClr>
                  </a:solidFill>
                  <a:latin typeface="Times New Roman" panose="02020603050405020304"/>
                  <a:ea typeface="Times New Roman" panose="02020603050405020304"/>
                  <a:cs typeface="Times New Roman" panose="02020603050405020304"/>
                  <a:sym typeface="+mn-ea"/>
                </a:rPr>
                <a:t> </a:t>
              </a:r>
              <a:r>
                <a:rPr lang="zh-CN" altLang="en-US" sz="800" b="1" spc="-30" dirty="0">
                  <a:solidFill>
                    <a:schemeClr val="bg2">
                      <a:lumMod val="10000"/>
                      <a:alpha val="100000"/>
                    </a:schemeClr>
                  </a:solidFill>
                  <a:latin typeface="宋体" panose="02010600030101010101" pitchFamily="2" charset="-122"/>
                  <a:ea typeface="宋体" panose="02010600030101010101" pitchFamily="2" charset="-122"/>
                  <a:cs typeface="Times New Roman" panose="02020603050405020304"/>
                  <a:sym typeface="+mn-ea"/>
                </a:rPr>
                <a:t>可访问入口</a:t>
              </a:r>
              <a:endParaRPr lang="zh-CN" altLang="en-US" sz="800" b="1" spc="-30" dirty="0">
                <a:solidFill>
                  <a:schemeClr val="bg2">
                    <a:lumMod val="10000"/>
                    <a:alpha val="100000"/>
                  </a:schemeClr>
                </a:solidFill>
                <a:latin typeface="宋体" panose="02010600030101010101" pitchFamily="2" charset="-122"/>
                <a:ea typeface="宋体" panose="02010600030101010101" pitchFamily="2" charset="-122"/>
                <a:cs typeface="Times New Roman" panose="02020603050405020304"/>
                <a:sym typeface="+mn-ea"/>
              </a:endParaRPr>
            </a:p>
          </p:txBody>
        </p:sp>
        <p:sp>
          <p:nvSpPr>
            <p:cNvPr id="33" name="文本框 32"/>
            <p:cNvSpPr txBox="1"/>
            <p:nvPr/>
          </p:nvSpPr>
          <p:spPr>
            <a:xfrm>
              <a:off x="8157" y="7834"/>
              <a:ext cx="3766" cy="222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79000"/>
                </a:lnSpc>
                <a:spcBef>
                  <a:spcPts val="310"/>
                </a:spcBef>
              </a:pPr>
              <a:r>
                <a:rPr lang="en-US" altLang="zh-CN"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{{internet_exposed_ports_count}}</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altLang="zh-CN" b="1" spc="-30" dirty="0">
                  <a:solidFill>
                    <a:srgbClr val="2040C0">
                      <a:alpha val="100000"/>
                    </a:srgbClr>
                  </a:solidFill>
                  <a:latin typeface="Times New Roman" panose="02020603050405020304"/>
                  <a:ea typeface="Times New Roman" panose="02020603050405020304"/>
                  <a:cs typeface="Times New Roman" panose="02020603050405020304"/>
                  <a:sym typeface="+mn-ea"/>
                </a:rPr>
                <a:t> </a:t>
              </a:r>
              <a:r>
                <a:rPr lang="zh-CN" altLang="en-US" sz="800" b="1" spc="-30" dirty="0">
                  <a:solidFill>
                    <a:schemeClr val="bg2">
                      <a:lumMod val="10000"/>
                      <a:alpha val="100000"/>
                    </a:schemeClr>
                  </a:solidFill>
                  <a:latin typeface="宋体" panose="02010600030101010101" pitchFamily="2" charset="-122"/>
                  <a:ea typeface="宋体" panose="02010600030101010101" pitchFamily="2" charset="-122"/>
                  <a:cs typeface="Times New Roman" panose="02020603050405020304"/>
                  <a:sym typeface="+mn-ea"/>
                </a:rPr>
                <a:t>暴露端口</a:t>
              </a:r>
              <a:endParaRPr lang="zh-CN" altLang="en-US" sz="800" b="1" spc="-30" dirty="0">
                <a:solidFill>
                  <a:schemeClr val="bg2">
                    <a:lumMod val="10000"/>
                    <a:alpha val="100000"/>
                  </a:schemeClr>
                </a:solidFill>
                <a:latin typeface="宋体" panose="02010600030101010101" pitchFamily="2" charset="-122"/>
                <a:ea typeface="宋体" panose="02010600030101010101" pitchFamily="2" charset="-122"/>
                <a:cs typeface="Times New Roman" panose="02020603050405020304"/>
                <a:sym typeface="+mn-ea"/>
              </a:endParaRPr>
            </a:p>
          </p:txBody>
        </p:sp>
      </p:grpSp>
      <p:grpSp>
        <p:nvGrpSpPr>
          <p:cNvPr id="36" name="组合 35"/>
          <p:cNvGrpSpPr/>
          <p:nvPr/>
        </p:nvGrpSpPr>
        <p:grpSpPr>
          <a:xfrm>
            <a:off x="733743" y="1696562"/>
            <a:ext cx="432118" cy="432118"/>
            <a:chOff x="2311" y="5484"/>
            <a:chExt cx="1361" cy="1361"/>
          </a:xfrm>
        </p:grpSpPr>
        <p:sp>
          <p:nvSpPr>
            <p:cNvPr id="35" name="椭圆 34"/>
            <p:cNvSpPr/>
            <p:nvPr>
              <p:custDataLst>
                <p:tags r:id="rId15"/>
              </p:custDataLst>
            </p:nvPr>
          </p:nvSpPr>
          <p:spPr bwMode="auto">
            <a:xfrm>
              <a:off x="2311" y="5484"/>
              <a:ext cx="1361" cy="1361"/>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a:bodyPr>
            <a:p>
              <a:pPr algn="ctr"/>
              <a:endParaRPr lang="zh-CN" altLang="en-US" sz="900">
                <a:solidFill>
                  <a:sysClr val="windowText" lastClr="000000"/>
                </a:solidFill>
                <a:cs typeface="+mn-ea"/>
              </a:endParaRPr>
            </a:p>
          </p:txBody>
        </p:sp>
        <p:pic>
          <p:nvPicPr>
            <p:cNvPr id="34" name="图片 33" descr="服务器"/>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2623" y="5796"/>
              <a:ext cx="737" cy="737"/>
            </a:xfrm>
            <a:prstGeom prst="rect">
              <a:avLst/>
            </a:prstGeom>
          </p:spPr>
        </p:pic>
      </p:grpSp>
      <p:grpSp>
        <p:nvGrpSpPr>
          <p:cNvPr id="43" name="组合 42"/>
          <p:cNvGrpSpPr/>
          <p:nvPr/>
        </p:nvGrpSpPr>
        <p:grpSpPr>
          <a:xfrm>
            <a:off x="728028" y="2298700"/>
            <a:ext cx="431800" cy="431800"/>
            <a:chOff x="2293" y="7118"/>
            <a:chExt cx="1360" cy="1360"/>
          </a:xfrm>
        </p:grpSpPr>
        <p:sp>
          <p:nvSpPr>
            <p:cNvPr id="40" name="椭圆 39"/>
            <p:cNvSpPr/>
            <p:nvPr>
              <p:custDataLst>
                <p:tags r:id="rId18"/>
              </p:custDataLst>
            </p:nvPr>
          </p:nvSpPr>
          <p:spPr bwMode="auto">
            <a:xfrm>
              <a:off x="2293" y="7118"/>
              <a:ext cx="1361" cy="1361"/>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a:bodyPr>
            <a:p>
              <a:pPr algn="ctr"/>
              <a:endParaRPr lang="zh-CN" altLang="en-US" sz="900">
                <a:solidFill>
                  <a:sysClr val="windowText" lastClr="000000"/>
                </a:solidFill>
                <a:cs typeface="+mn-ea"/>
              </a:endParaRPr>
            </a:p>
          </p:txBody>
        </p:sp>
        <p:pic>
          <p:nvPicPr>
            <p:cNvPr id="42" name="图片 41" descr="道路危险标志"/>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2548" y="7373"/>
              <a:ext cx="850" cy="850"/>
            </a:xfrm>
            <a:prstGeom prst="rect">
              <a:avLst/>
            </a:prstGeom>
          </p:spPr>
        </p:pic>
      </p:grpSp>
      <p:grpSp>
        <p:nvGrpSpPr>
          <p:cNvPr id="48" name="组合 47"/>
          <p:cNvGrpSpPr/>
          <p:nvPr/>
        </p:nvGrpSpPr>
        <p:grpSpPr>
          <a:xfrm>
            <a:off x="734060" y="2906237"/>
            <a:ext cx="431800" cy="431800"/>
            <a:chOff x="2312" y="9063"/>
            <a:chExt cx="1360" cy="1360"/>
          </a:xfrm>
        </p:grpSpPr>
        <p:sp>
          <p:nvSpPr>
            <p:cNvPr id="45" name="椭圆 44"/>
            <p:cNvSpPr/>
            <p:nvPr>
              <p:custDataLst>
                <p:tags r:id="rId21"/>
              </p:custDataLst>
            </p:nvPr>
          </p:nvSpPr>
          <p:spPr bwMode="auto">
            <a:xfrm>
              <a:off x="2312" y="9063"/>
              <a:ext cx="1361" cy="1361"/>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a:bodyPr>
            <a:p>
              <a:pPr algn="ctr"/>
              <a:endParaRPr lang="zh-CN" altLang="en-US" sz="900">
                <a:solidFill>
                  <a:sysClr val="windowText" lastClr="000000"/>
                </a:solidFill>
                <a:cs typeface="+mn-ea"/>
              </a:endParaRPr>
            </a:p>
          </p:txBody>
        </p:sp>
        <p:pic>
          <p:nvPicPr>
            <p:cNvPr id="47" name="图片 46" descr="指纹"/>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2567" y="9318"/>
              <a:ext cx="850" cy="850"/>
            </a:xfrm>
            <a:prstGeom prst="rect">
              <a:avLst/>
            </a:prstGeom>
          </p:spPr>
        </p:pic>
      </p:grpSp>
      <p:sp>
        <p:nvSpPr>
          <p:cNvPr id="51" name="Text 2"/>
          <p:cNvSpPr/>
          <p:nvPr/>
        </p:nvSpPr>
        <p:spPr>
          <a:xfrm>
            <a:off x="4063365" y="1281589"/>
            <a:ext cx="7306628" cy="2219008"/>
          </a:xfrm>
          <a:prstGeom prst="rect">
            <a:avLst/>
          </a:prstGeom>
          <a:noFill/>
        </p:spPr>
        <p:txBody>
          <a:bodyPr wrap="square" lIns="0" tIns="0" rIns="0" bIns="0" rtlCol="0" anchor="t"/>
          <a:p>
            <a:pPr algn="l">
              <a:lnSpc>
                <a:spcPct val="150000"/>
              </a:lnSpc>
              <a:buSzPct val="100000"/>
            </a:pPr>
            <a:r>
              <a:rPr lang="zh-CN" altLang="en-US" sz="1000" b="1" dirty="0">
                <a:solidFill>
                  <a:srgbClr val="14161A"/>
                </a:solidFill>
                <a:latin typeface="微软雅黑" panose="020B0503020204020204" charset="-122"/>
                <a:ea typeface="微软雅黑" panose="020B0503020204020204" charset="-122"/>
                <a:cs typeface="微软雅黑" panose="020B0503020204020204" pitchFamily="34" charset="-120"/>
              </a:rPr>
              <a:t>当前集团</a:t>
            </a:r>
            <a:r>
              <a:rPr lang="en-US" altLang="zh-CN" sz="1000" b="1" dirty="0">
                <a:solidFill>
                  <a:srgbClr val="14161A"/>
                </a:solidFill>
                <a:latin typeface="微软雅黑" panose="020B0503020204020204" charset="-122"/>
                <a:ea typeface="微软雅黑" panose="020B0503020204020204" charset="-122"/>
                <a:cs typeface="微软雅黑" panose="020B0503020204020204" pitchFamily="34" charset="-120"/>
              </a:rPr>
              <a:t>IT</a:t>
            </a:r>
            <a:r>
              <a:rPr lang="zh-CN" altLang="en-US" sz="1000" b="1" dirty="0">
                <a:solidFill>
                  <a:srgbClr val="14161A"/>
                </a:solidFill>
                <a:latin typeface="微软雅黑" panose="020B0503020204020204" charset="-122"/>
                <a:ea typeface="微软雅黑" panose="020B0503020204020204" charset="-122"/>
                <a:cs typeface="微软雅黑" panose="020B0503020204020204" pitchFamily="34" charset="-120"/>
              </a:rPr>
              <a:t>资产管理整体情况良好，无重大安全风险。</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当前潜在的主要问题在于全国园区分散，缺乏统一的网络基础建设规划，存在各园区</a:t>
            </a: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rPr>
              <a:t>IP</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地址重叠、服务器</a:t>
            </a: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rPr>
              <a:t>/</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终端</a:t>
            </a: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rPr>
              <a:t>IP</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地址混用、安全域划分不清晰的问题，给业务系统安全保护带来攻击路径复杂、风险定位困难、威胁应对处置慢等风险。</a:t>
            </a:r>
            <a:endPar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endParaRPr>
          </a:p>
          <a:p>
            <a:pPr algn="l">
              <a:lnSpc>
                <a:spcPct val="150000"/>
              </a:lnSpc>
              <a:buSzPct val="100000"/>
            </a:pPr>
            <a:endParaRPr lang="en-US" sz="1000" b="1" dirty="0">
              <a:solidFill>
                <a:srgbClr val="14161A"/>
              </a:solidFill>
              <a:latin typeface="微软雅黑" panose="020B0503020204020204" charset="-122"/>
              <a:ea typeface="微软雅黑" panose="020B0503020204020204" charset="-122"/>
              <a:cs typeface="微软雅黑" panose="020B0503020204020204" pitchFamily="34" charset="-120"/>
            </a:endParaRPr>
          </a:p>
          <a:p>
            <a:pPr marL="101600" indent="-101600" algn="l">
              <a:lnSpc>
                <a:spcPct val="150000"/>
              </a:lnSpc>
              <a:buSzPct val="100000"/>
              <a:buChar char="•"/>
            </a:pPr>
            <a:r>
              <a:rPr lang="en-US" sz="1000" dirty="0">
                <a:solidFill>
                  <a:srgbClr val="14161A"/>
                </a:solidFill>
                <a:latin typeface="微软雅黑" panose="020B0503020204020204" charset="-122"/>
                <a:ea typeface="微软雅黑" panose="020B0503020204020204" charset="-122"/>
                <a:cs typeface="微软雅黑" panose="020B0503020204020204" pitchFamily="34" charset="-120"/>
              </a:rPr>
              <a:t>【</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内网</a:t>
            </a:r>
            <a:r>
              <a:rPr lang="en-US" sz="1000" dirty="0">
                <a:solidFill>
                  <a:srgbClr val="14161A"/>
                </a:solidFill>
                <a:latin typeface="微软雅黑" panose="020B0503020204020204" charset="-122"/>
                <a:ea typeface="微软雅黑" panose="020B0503020204020204" charset="-122"/>
                <a:cs typeface="微软雅黑" panose="020B0503020204020204" pitchFamily="34" charset="-120"/>
              </a:rPr>
              <a:t>资产识别】</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针对</a:t>
            </a:r>
            <a:r>
              <a:rPr lang="en-US" sz="1000" dirty="0">
                <a:solidFill>
                  <a:srgbClr val="4C61E7"/>
                </a:solidFill>
                <a:latin typeface="微软雅黑" panose="020B0503020204020204" charset="-122"/>
                <a:ea typeface="微软雅黑" panose="020B0503020204020204" charset="-122"/>
                <a:cs typeface="微软雅黑" panose="020B0503020204020204" pitchFamily="34" charset="-120"/>
              </a:rPr>
              <a:t>{{</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rPr>
              <a:t>internal_network_business_area</a:t>
            </a:r>
            <a:r>
              <a:rPr lang="en-US" sz="1000" dirty="0">
                <a:solidFill>
                  <a:srgbClr val="4C61E7"/>
                </a:solidFill>
                <a:latin typeface="微软雅黑" panose="020B0503020204020204" charset="-122"/>
                <a:ea typeface="微软雅黑" panose="020B0503020204020204" charset="-122"/>
                <a:cs typeface="微软雅黑" panose="020B0503020204020204" pitchFamily="34" charset="-120"/>
              </a:rPr>
              <a:t>}}</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服务器网段进行全量存活资产检测，识别到</a:t>
            </a:r>
            <a:r>
              <a:rPr lang="en-US" sz="1000" dirty="0">
                <a:solidFill>
                  <a:srgbClr val="14161A"/>
                </a:solidFill>
                <a:latin typeface="微软雅黑" panose="020B0503020204020204" charset="-122"/>
                <a:ea typeface="微软雅黑" panose="020B0503020204020204" charset="-122"/>
                <a:cs typeface="微软雅黑" panose="020B0503020204020204" pitchFamily="34" charset="-120"/>
              </a:rPr>
              <a:t>服务</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器</a:t>
            </a:r>
            <a:r>
              <a:rPr lang="en-US" sz="1000" dirty="0">
                <a:solidFill>
                  <a:srgbClr val="14161A"/>
                </a:solidFill>
                <a:latin typeface="微软雅黑" panose="020B0503020204020204" charset="-122"/>
                <a:ea typeface="微软雅黑" panose="020B0503020204020204" charset="-122"/>
                <a:cs typeface="微软雅黑" panose="020B0503020204020204" pitchFamily="34" charset="-120"/>
              </a:rPr>
              <a:t>资产</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rPr>
              <a:t> </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{{internal_network_server_count}} </a:t>
            </a:r>
            <a:r>
              <a:rPr lang="en-US" sz="1000" dirty="0">
                <a:solidFill>
                  <a:srgbClr val="14161A"/>
                </a:solidFill>
                <a:latin typeface="微软雅黑" panose="020B0503020204020204" charset="-122"/>
                <a:ea typeface="微软雅黑" panose="020B0503020204020204" charset="-122"/>
                <a:cs typeface="微软雅黑" panose="020B0503020204020204" pitchFamily="34" charset="-120"/>
              </a:rPr>
              <a:t>个，</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网络</a:t>
            </a: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rPr>
              <a:t>/</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安全设备</a:t>
            </a: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rPr>
              <a:t> </a:t>
            </a: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rPr>
              <a:t>{{internal_network_network_device_count}}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rPr>
              <a:t> </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个，物联网设备</a:t>
            </a: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rPr>
              <a:t> </a:t>
            </a: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{{internal_network_IoT_device_count}}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个；将</a:t>
            </a: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rPr>
              <a:t> </a:t>
            </a: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{{internal_network_MSS_service_asset_count}}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个核心资产纳入</a:t>
            </a:r>
            <a:r>
              <a:rPr lang="en-US" sz="1000" dirty="0">
                <a:solidFill>
                  <a:srgbClr val="14161A"/>
                </a:solidFill>
                <a:latin typeface="微软雅黑" panose="020B0503020204020204" charset="-122"/>
                <a:ea typeface="微软雅黑" panose="020B0503020204020204" charset="-122"/>
                <a:cs typeface="微软雅黑" panose="020B0503020204020204" pitchFamily="34" charset="-120"/>
              </a:rPr>
              <a:t>7*24h持续保障中</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a:t>
            </a:r>
            <a:endPar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endParaRPr>
          </a:p>
          <a:p>
            <a:pPr marL="101600" indent="-101600" algn="l">
              <a:lnSpc>
                <a:spcPct val="150000"/>
              </a:lnSpc>
              <a:buSzPct val="100000"/>
              <a:buChar char="•"/>
            </a:pPr>
            <a:endParaRPr lang="en-US" sz="800" dirty="0"/>
          </a:p>
          <a:p>
            <a:pPr marL="101600" indent="-101600" algn="l">
              <a:lnSpc>
                <a:spcPct val="150000"/>
              </a:lnSpc>
              <a:buSzPct val="100000"/>
              <a:buChar char="•"/>
            </a:pPr>
            <a:r>
              <a:rPr lang="en-US" sz="1000" dirty="0">
                <a:solidFill>
                  <a:srgbClr val="14161A"/>
                </a:solidFill>
                <a:latin typeface="微软雅黑" panose="020B0503020204020204" charset="-122"/>
                <a:ea typeface="微软雅黑" panose="020B0503020204020204" charset="-122"/>
                <a:cs typeface="微软雅黑" panose="020B0503020204020204" pitchFamily="34" charset="-120"/>
              </a:rPr>
              <a:t>【</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外网资产识别</a:t>
            </a:r>
            <a:r>
              <a:rPr lang="en-US" sz="1000" dirty="0">
                <a:solidFill>
                  <a:srgbClr val="14161A"/>
                </a:solidFill>
                <a:latin typeface="微软雅黑" panose="020B0503020204020204" charset="-122"/>
                <a:ea typeface="微软雅黑" panose="020B0503020204020204" charset="-122"/>
                <a:cs typeface="微软雅黑" panose="020B0503020204020204" pitchFamily="34" charset="-120"/>
              </a:rPr>
              <a:t>】</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对</a:t>
            </a:r>
            <a:r>
              <a:rPr lang="en-US"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external_network_business_area}</a:t>
            </a:r>
            <a:r>
              <a:rPr lang="en-US"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出口暴露面情况进行扫描，共发现根域名资产</a:t>
            </a: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rPr>
              <a:t> </a:t>
            </a: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{{external_root_domain_asset_count}}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个，子域名资产</a:t>
            </a: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rPr>
              <a:t> </a:t>
            </a: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rPr>
              <a:t>{{</a:t>
            </a: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external_subdomain_asset_count</a:t>
            </a: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个，</a:t>
            </a: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rPr>
              <a:t>WEB</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资产</a:t>
            </a: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rPr>
              <a:t> </a:t>
            </a: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{{web_asset}}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个，非</a:t>
            </a: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rPr>
              <a:t>WEB</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资产</a:t>
            </a: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rPr>
              <a:t> </a:t>
            </a: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{{nonweb_asset}}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个，登录入口</a:t>
            </a: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rPr>
              <a:t> </a:t>
            </a: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{{login_endpoint_count}}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个。</a:t>
            </a:r>
            <a:endPar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endParaRPr>
          </a:p>
        </p:txBody>
      </p:sp>
      <p:sp>
        <p:nvSpPr>
          <p:cNvPr id="58" name="文本框 57"/>
          <p:cNvSpPr txBox="1"/>
          <p:nvPr/>
        </p:nvSpPr>
        <p:spPr>
          <a:xfrm>
            <a:off x="647700" y="3784600"/>
            <a:ext cx="1506220" cy="2222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algn="l" rtl="0" eaLnBrk="0">
              <a:lnSpc>
                <a:spcPct val="80000"/>
              </a:lnSpc>
            </a:pPr>
            <a:r>
              <a:rPr sz="1400" b="1"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资产</a:t>
            </a:r>
            <a:r>
              <a:rPr lang="zh-CN" sz="1400" b="1"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类型分布</a:t>
            </a:r>
            <a:endParaRPr kumimoji="0" lang="zh-CN" altLang="en-US" sz="1400" b="1" i="0" u="none" strike="noStrike" cap="none" spc="-60" normalizeH="0" baseline="0" dirty="0">
              <a:ln>
                <a:noFill/>
              </a:ln>
              <a:solidFill>
                <a:srgbClr val="204090">
                  <a:alpha val="100000"/>
                </a:srgbClr>
              </a:solidFill>
              <a:effectLst/>
              <a:uFillTx/>
              <a:latin typeface="黑体" panose="02010609060101010101" charset="-122"/>
              <a:ea typeface="黑体" panose="02010609060101010101" charset="-122"/>
              <a:cs typeface="黑体" panose="02010609060101010101" charset="-122"/>
              <a:sym typeface="+mn-ea"/>
            </a:endParaRPr>
          </a:p>
        </p:txBody>
      </p:sp>
      <p:sp>
        <p:nvSpPr>
          <p:cNvPr id="59" name="文本框 58"/>
          <p:cNvSpPr txBox="1"/>
          <p:nvPr/>
        </p:nvSpPr>
        <p:spPr>
          <a:xfrm>
            <a:off x="728028" y="1276985"/>
            <a:ext cx="1814195" cy="2222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algn="l" rtl="0" eaLnBrk="0">
              <a:lnSpc>
                <a:spcPct val="80000"/>
              </a:lnSpc>
            </a:pPr>
            <a:r>
              <a:rPr sz="1400" b="1"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资产全量梳理成</a:t>
            </a:r>
            <a:r>
              <a:rPr sz="1400" b="1" spc="-60" dirty="0">
                <a:solidFill>
                  <a:srgbClr val="304090">
                    <a:alpha val="100000"/>
                  </a:srgbClr>
                </a:solidFill>
                <a:latin typeface="黑体" panose="02010609060101010101" charset="-122"/>
                <a:ea typeface="黑体" panose="02010609060101010101" charset="-122"/>
                <a:cs typeface="黑体" panose="02010609060101010101" charset="-122"/>
                <a:sym typeface="+mn-ea"/>
              </a:rPr>
              <a:t>果</a:t>
            </a:r>
            <a:endParaRPr kumimoji="0" lang="zh-CN" altLang="en-US" sz="1400" b="1" i="0" u="none" strike="noStrike" cap="none" spc="-60" normalizeH="0" baseline="0" dirty="0">
              <a:ln>
                <a:noFill/>
              </a:ln>
              <a:solidFill>
                <a:srgbClr val="304090">
                  <a:alpha val="100000"/>
                </a:srgbClr>
              </a:solidFill>
              <a:effectLst/>
              <a:uFillTx/>
              <a:latin typeface="黑体" panose="02010609060101010101" charset="-122"/>
              <a:ea typeface="黑体" panose="02010609060101010101" charset="-122"/>
              <a:cs typeface="黑体" panose="02010609060101010101" charset="-122"/>
              <a:sym typeface="+mn-ea"/>
            </a:endParaRPr>
          </a:p>
        </p:txBody>
      </p:sp>
      <p:pic>
        <p:nvPicPr>
          <p:cNvPr id="16" name="图片 15" descr="深信服 + 智安全"/>
          <p:cNvPicPr>
            <a:picLocks noChangeAspect="1"/>
          </p:cNvPicPr>
          <p:nvPr/>
        </p:nvPicPr>
        <p:blipFill>
          <a:blip r:embed="rId24"/>
          <a:srcRect l="5232" t="26576" r="4938" b="29565"/>
          <a:stretch>
            <a:fillRect/>
          </a:stretch>
        </p:blipFill>
        <p:spPr>
          <a:xfrm>
            <a:off x="10017125" y="238760"/>
            <a:ext cx="1629867" cy="360000"/>
          </a:xfrm>
          <a:prstGeom prst="rect">
            <a:avLst/>
          </a:prstGeom>
        </p:spPr>
      </p:pic>
      <p:sp>
        <p:nvSpPr>
          <p:cNvPr id="6" name="文本框 5"/>
          <p:cNvSpPr txBox="1"/>
          <p:nvPr/>
        </p:nvSpPr>
        <p:spPr>
          <a:xfrm>
            <a:off x="2541905" y="1908175"/>
            <a:ext cx="1009650" cy="22034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noAutofit/>
          </a:bodyPr>
          <a:p>
            <a:pPr marL="34290" algn="l" rtl="0" eaLnBrk="0">
              <a:lnSpc>
                <a:spcPct val="79000"/>
              </a:lnSpc>
              <a:spcBef>
                <a:spcPts val="310"/>
              </a:spcBef>
            </a:pPr>
            <a:r>
              <a:rPr lang="en-US" altLang="zh-CN"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{{PC_assets_count}}</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altLang="zh-CN"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PC</a:t>
            </a:r>
            <a:endParaRPr lang="en-US" altLang="zh-CN"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17" name="文本框 16"/>
          <p:cNvSpPr txBox="1"/>
          <p:nvPr/>
        </p:nvSpPr>
        <p:spPr>
          <a:xfrm>
            <a:off x="2232660" y="3695700"/>
            <a:ext cx="1403985" cy="368300"/>
          </a:xfrm>
          <a:prstGeom prst="rect">
            <a:avLst/>
          </a:prstGeom>
          <a:noFill/>
        </p:spPr>
        <p:txBody>
          <a:bodyPr wrap="square" rtlCol="0" anchor="t">
            <a:spAutoFit/>
          </a:bodyPr>
          <a:p>
            <a:r>
              <a:rPr lang="zh-CN" altLang="en-US">
                <a:sym typeface="+mn-ea"/>
              </a:rPr>
              <a:t>{{</a:t>
            </a:r>
            <a:r>
              <a:rPr lang="en-US" altLang="zh-CN">
                <a:sym typeface="+mn-ea"/>
              </a:rPr>
              <a:t>P13_pie}</a:t>
            </a:r>
            <a:r>
              <a:rPr lang="zh-CN" altLang="en-US">
                <a:sym typeface="+mn-ea"/>
              </a:rPr>
              <a:t>}</a:t>
            </a:r>
            <a:endParaRPr lang="zh-CN" altLang="en-US">
              <a:sym typeface="+mn-ea"/>
            </a:endParaRPr>
          </a:p>
        </p:txBody>
      </p:sp>
      <p:sp>
        <p:nvSpPr>
          <p:cNvPr id="20" name="文本框 19"/>
          <p:cNvSpPr txBox="1"/>
          <p:nvPr/>
        </p:nvSpPr>
        <p:spPr>
          <a:xfrm>
            <a:off x="660400" y="5922010"/>
            <a:ext cx="3531870" cy="86106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anchorCtr="0" forceAA="0">
            <a:noAutofit/>
          </a:bodyPr>
          <a:p>
            <a:pPr marL="0" marR="0" indent="0" algn="just" defTabSz="2438400" rtl="0" fontAlgn="auto" latinLnBrk="0" hangingPunct="0">
              <a:lnSpc>
                <a:spcPct val="100000"/>
              </a:lnSpc>
              <a:spcBef>
                <a:spcPts val="0"/>
              </a:spcBef>
              <a:spcAft>
                <a:spcPts val="0"/>
              </a:spcAft>
              <a:buClrTx/>
              <a:buSzTx/>
              <a:buFontTx/>
              <a:buNone/>
            </a:pPr>
            <a:r>
              <a:rPr kumimoji="0" lang="en-US" altLang="zh-CN" sz="1000" b="0" i="0" u="none" strike="noStrike" cap="none" spc="0" normalizeH="0" baseline="0" dirty="0">
                <a:ln>
                  <a:noFill/>
                </a:ln>
                <a:solidFill>
                  <a:srgbClr val="000000">
                    <a:alpha val="100000"/>
                  </a:srgbClr>
                </a:solidFill>
                <a:effectLst/>
                <a:uFillTx/>
                <a:latin typeface="黑体" panose="02010609060101010101" charset="-122"/>
                <a:ea typeface="黑体" panose="02010609060101010101" charset="-122"/>
                <a:cs typeface="黑体" panose="02010609060101010101" charset="-122"/>
                <a:sym typeface="+mn-ea"/>
              </a:rPr>
              <a:t>{{asset_improve1}}</a:t>
            </a:r>
            <a:endParaRPr kumimoji="0" lang="en-US" altLang="zh-CN" sz="1000" b="0" i="0" u="none" strike="noStrike" cap="none" spc="0" normalizeH="0" baseline="0" dirty="0">
              <a:ln>
                <a:noFill/>
              </a:ln>
              <a:solidFill>
                <a:srgbClr val="000000">
                  <a:alpha val="100000"/>
                </a:srgbClr>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textbox 104"/>
          <p:cNvSpPr/>
          <p:nvPr/>
        </p:nvSpPr>
        <p:spPr>
          <a:xfrm>
            <a:off x="4300220" y="2936875"/>
            <a:ext cx="7414578" cy="2179003"/>
          </a:xfrm>
          <a:prstGeom prst="rect">
            <a:avLst/>
          </a:prstGeom>
          <a:solidFill>
            <a:srgbClr val="EAEEF1"/>
          </a:solidFill>
          <a:ln w="0" cap="flat">
            <a:noFill/>
            <a:prstDash val="solid"/>
            <a:miter lim="0"/>
          </a:ln>
        </p:spPr>
        <p:txBody>
          <a:bodyPr vert="horz" wrap="square" lIns="0" tIns="0" rIns="0" bIns="0"/>
          <a:p>
            <a:pPr algn="l" rtl="0" eaLnBrk="0">
              <a:lnSpc>
                <a:spcPct val="89000"/>
              </a:lnSpc>
            </a:pPr>
            <a:endParaRPr sz="100" dirty="0">
              <a:latin typeface="Arial" panose="020B0604020202020204"/>
              <a:ea typeface="Arial" panose="020B0604020202020204"/>
              <a:cs typeface="Arial" panose="020B0604020202020204"/>
            </a:endParaRPr>
          </a:p>
          <a:p>
            <a:pPr marL="12700" algn="l" rtl="0" eaLnBrk="0">
              <a:lnSpc>
                <a:spcPct val="95000"/>
              </a:lnSpc>
            </a:pPr>
            <a:endParaRPr lang="zh-CN" sz="14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p:txBody>
      </p:sp>
      <p:sp>
        <p:nvSpPr>
          <p:cNvPr id="64" name="textbox 48"/>
          <p:cNvSpPr/>
          <p:nvPr/>
        </p:nvSpPr>
        <p:spPr>
          <a:xfrm>
            <a:off x="647700" y="1275715"/>
            <a:ext cx="3006000" cy="2519998"/>
          </a:xfrm>
          <a:prstGeom prst="rect">
            <a:avLst/>
          </a:prstGeom>
          <a:solidFill>
            <a:srgbClr val="5B9BD5">
              <a:lumMod val="20000"/>
              <a:lumOff val="80000"/>
            </a:srgbClr>
          </a:solidFill>
          <a:ln w="0" cap="flat">
            <a:noFill/>
            <a:prstDash val="solid"/>
            <a:miter lim="0"/>
          </a:ln>
        </p:spPr>
        <p:txBody>
          <a:bodyPr vert="horz" wrap="square" lIns="0" tIns="0" rIns="0" bIns="0"/>
          <a:p>
            <a:pPr algn="l" rtl="0" eaLnBrk="0">
              <a:lnSpc>
                <a:spcPct val="182000"/>
              </a:lnSpc>
            </a:pPr>
            <a:endParaRPr sz="1000" dirty="0">
              <a:latin typeface="Arial" panose="020B0604020202020204"/>
              <a:ea typeface="Arial" panose="020B0604020202020204"/>
              <a:cs typeface="Arial" panose="020B0604020202020204"/>
            </a:endParaRPr>
          </a:p>
          <a:p>
            <a:pPr algn="l" rtl="0" eaLnBrk="0">
              <a:lnSpc>
                <a:spcPct val="101000"/>
              </a:lnSpc>
            </a:pPr>
            <a:endParaRPr sz="500" dirty="0">
              <a:latin typeface="Arial" panose="020B0604020202020204"/>
              <a:ea typeface="Arial" panose="020B0604020202020204"/>
              <a:cs typeface="Arial" panose="020B0604020202020204"/>
            </a:endParaRPr>
          </a:p>
          <a:p>
            <a:pPr marL="716915" algn="l" rtl="0" eaLnBrk="0">
              <a:lnSpc>
                <a:spcPct val="100000"/>
              </a:lnSpc>
              <a:spcBef>
                <a:spcPts val="5"/>
              </a:spcBef>
            </a:pPr>
            <a:endParaRPr sz="900" dirty="0">
              <a:latin typeface="黑体" panose="02010609060101010101" charset="-122"/>
              <a:ea typeface="黑体" panose="02010609060101010101" charset="-122"/>
              <a:cs typeface="黑体" panose="02010609060101010101" charset="-122"/>
            </a:endParaRPr>
          </a:p>
        </p:txBody>
      </p:sp>
      <p:sp>
        <p:nvSpPr>
          <p:cNvPr id="65" name="textbox 158"/>
          <p:cNvSpPr/>
          <p:nvPr/>
        </p:nvSpPr>
        <p:spPr>
          <a:xfrm>
            <a:off x="647740" y="360198"/>
            <a:ext cx="3639820" cy="600075"/>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a:ea typeface="Arial" panose="020B0604020202020204"/>
              <a:cs typeface="Arial" panose="020B0604020202020204"/>
            </a:endParaRPr>
          </a:p>
          <a:p>
            <a:pPr marL="15875" algn="l" rtl="0" eaLnBrk="0">
              <a:lnSpc>
                <a:spcPct val="98000"/>
              </a:lnSpc>
            </a:pPr>
            <a:r>
              <a:rPr lang="zh-CN" altLang="en-US" sz="1900" dirty="0">
                <a:solidFill>
                  <a:srgbClr val="4C61E7"/>
                </a:solidFill>
                <a:latin typeface="黑体" panose="02010609060101010101" charset="-122"/>
                <a:ea typeface="黑体" panose="02010609060101010101" charset="-122"/>
                <a:cs typeface="黑体" panose="02010609060101010101" charset="-122"/>
              </a:rPr>
              <a:t>脆弱性管理成效</a:t>
            </a:r>
            <a:endParaRPr lang="zh-CN" altLang="en-US" sz="1900" dirty="0">
              <a:solidFill>
                <a:srgbClr val="4C61E7"/>
              </a:solidFill>
              <a:latin typeface="黑体" panose="02010609060101010101" charset="-122"/>
              <a:ea typeface="黑体" panose="02010609060101010101" charset="-122"/>
              <a:cs typeface="黑体" panose="02010609060101010101" charset="-122"/>
            </a:endParaRPr>
          </a:p>
          <a:p>
            <a:pPr algn="l" rtl="0" eaLnBrk="0">
              <a:lnSpc>
                <a:spcPct val="101000"/>
              </a:lnSpc>
            </a:pPr>
            <a:endParaRPr sz="800" dirty="0">
              <a:latin typeface="Arial" panose="020B0604020202020204"/>
              <a:ea typeface="Arial" panose="020B0604020202020204"/>
              <a:cs typeface="Arial" panose="020B0604020202020204"/>
            </a:endParaRPr>
          </a:p>
          <a:p>
            <a:pPr marL="12700" algn="l" rtl="0" eaLnBrk="0">
              <a:lnSpc>
                <a:spcPct val="92000"/>
              </a:lnSpc>
              <a:spcBef>
                <a:spcPts val="5"/>
              </a:spcBef>
            </a:pPr>
            <a:r>
              <a:rPr lang="zh-CN" altLang="en-US" sz="1000" dirty="0">
                <a:solidFill>
                  <a:sysClr val="windowText" lastClr="000000"/>
                </a:solidFill>
                <a:latin typeface="黑体" panose="02010609060101010101" charset="-122"/>
                <a:ea typeface="黑体" panose="02010609060101010101" charset="-122"/>
                <a:cs typeface="黑体" panose="02010609060101010101" charset="-122"/>
                <a:sym typeface="+mn-ea"/>
              </a:rPr>
              <a:t>持续治理业务脆弱性，防范风险于未然</a:t>
            </a:r>
            <a:endParaRPr lang="zh-CN" altLang="en-US" sz="1000" dirty="0">
              <a:solidFill>
                <a:sysClr val="windowText" lastClr="000000"/>
              </a:solidFill>
              <a:latin typeface="黑体" panose="02010609060101010101" charset="-122"/>
              <a:ea typeface="黑体" panose="02010609060101010101" charset="-122"/>
              <a:cs typeface="黑体" panose="02010609060101010101" charset="-122"/>
              <a:sym typeface="+mn-ea"/>
            </a:endParaRPr>
          </a:p>
        </p:txBody>
      </p:sp>
      <p:sp>
        <p:nvSpPr>
          <p:cNvPr id="67" name="文本框 66"/>
          <p:cNvSpPr txBox="1"/>
          <p:nvPr/>
        </p:nvSpPr>
        <p:spPr>
          <a:xfrm>
            <a:off x="758190" y="1305560"/>
            <a:ext cx="1824355" cy="288290"/>
          </a:xfrm>
          <a:prstGeom prst="rect">
            <a:avLst/>
          </a:prstGeom>
          <a:noFill/>
        </p:spPr>
        <p:txBody>
          <a:bodyPr wrap="square" rtlCol="0" anchor="t"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28575" lvl="0" algn="l" defTabSz="2438400" eaLnBrk="0">
              <a:lnSpc>
                <a:spcPct val="98000"/>
              </a:lnSpc>
            </a:pPr>
            <a:r>
              <a:rPr lang="zh-CN"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漏洞分层管理机制</a:t>
            </a:r>
            <a:endParaRPr lang="zh-CN"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68" name="组合 67"/>
          <p:cNvGrpSpPr/>
          <p:nvPr>
            <p:custDataLst>
              <p:tags r:id="rId2"/>
            </p:custDataLst>
          </p:nvPr>
        </p:nvGrpSpPr>
        <p:grpSpPr>
          <a:xfrm>
            <a:off x="759127" y="1745375"/>
            <a:ext cx="2744509" cy="399474"/>
            <a:chOff x="3275" y="5404"/>
            <a:chExt cx="8787" cy="1279"/>
          </a:xfrm>
        </p:grpSpPr>
        <p:sp>
          <p:nvSpPr>
            <p:cNvPr id="69" name="圆角矩形 14"/>
            <p:cNvSpPr/>
            <p:nvPr>
              <p:custDataLst>
                <p:tags r:id="rId3"/>
              </p:custDataLst>
            </p:nvPr>
          </p:nvSpPr>
          <p:spPr>
            <a:xfrm>
              <a:off x="3275" y="5498"/>
              <a:ext cx="8787" cy="1185"/>
            </a:xfrm>
            <a:prstGeom prst="roundRect">
              <a:avLst>
                <a:gd name="adj" fmla="val 15982"/>
              </a:avLst>
            </a:prstGeom>
            <a:solidFill>
              <a:srgbClr val="4472C4">
                <a:lumMod val="60000"/>
                <a:lumOff val="40000"/>
                <a:alpha val="12000"/>
              </a:srgbClr>
            </a:solidFill>
            <a:ln w="9525" cap="flat" cmpd="sng" algn="ctr">
              <a:gradFill>
                <a:gsLst>
                  <a:gs pos="100000">
                    <a:srgbClr val="4472C4">
                      <a:alpha val="15000"/>
                    </a:srgbClr>
                  </a:gs>
                  <a:gs pos="0">
                    <a:srgbClr val="4472C4">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lIns="72072" tIns="0" rIns="72072" bIns="0" rtlCol="0" anchor="ctr"/>
            <a:p>
              <a:pPr marL="238125" algn="l" rtl="0" eaLnBrk="0">
                <a:lnSpc>
                  <a:spcPct val="100000"/>
                </a:lnSpc>
                <a:spcBef>
                  <a:spcPts val="215"/>
                </a:spcBef>
              </a:pPr>
              <a:r>
                <a:rPr lang="zh-CN" altLang="en-US" sz="1000" kern="0" dirty="0">
                  <a:ln>
                    <a:noFill/>
                    <a:prstDash val="sysDot"/>
                  </a:ln>
                  <a:solidFill>
                    <a:srgbClr val="2040A0">
                      <a:alpha val="100000"/>
                    </a:srgbClr>
                  </a:solidFill>
                  <a:uFillTx/>
                  <a:latin typeface="黑体" panose="02010609060101010101" charset="-122"/>
                  <a:ea typeface="黑体" panose="02010609060101010101" charset="-122"/>
                  <a:cs typeface="黑体" panose="02010609060101010101" charset="-122"/>
                  <a:sym typeface="+mn-ea"/>
                </a:rPr>
                <a:t>每季度扫描，优先级排序，提高管理效率</a:t>
              </a:r>
              <a:endParaRPr lang="zh-CN" altLang="en-US" sz="1000" kern="0" dirty="0">
                <a:ln>
                  <a:noFill/>
                  <a:prstDash val="sysDot"/>
                </a:ln>
                <a:solidFill>
                  <a:srgbClr val="2040A0">
                    <a:alpha val="100000"/>
                  </a:srgbClr>
                </a:solidFill>
                <a:uFillTx/>
                <a:latin typeface="黑体" panose="02010609060101010101" charset="-122"/>
                <a:ea typeface="黑体" panose="02010609060101010101" charset="-122"/>
                <a:cs typeface="黑体" panose="02010609060101010101" charset="-122"/>
                <a:sym typeface="+mn-ea"/>
              </a:endParaRPr>
            </a:p>
          </p:txBody>
        </p:sp>
        <p:sp>
          <p:nvSpPr>
            <p:cNvPr id="70" name="圆角矩形 69"/>
            <p:cNvSpPr/>
            <p:nvPr>
              <p:custDataLst>
                <p:tags r:id="rId4"/>
              </p:custDataLst>
            </p:nvPr>
          </p:nvSpPr>
          <p:spPr>
            <a:xfrm>
              <a:off x="3636" y="5404"/>
              <a:ext cx="1108" cy="137"/>
            </a:xfrm>
            <a:prstGeom prst="roundRect">
              <a:avLst>
                <a:gd name="adj" fmla="val 50000"/>
              </a:avLst>
            </a:prstGeom>
            <a:gradFill>
              <a:gsLst>
                <a:gs pos="100000">
                  <a:srgbClr val="4472C4">
                    <a:lumMod val="60000"/>
                    <a:lumOff val="40000"/>
                    <a:alpha val="71000"/>
                  </a:srgbClr>
                </a:gs>
                <a:gs pos="0">
                  <a:srgbClr val="4472C4">
                    <a:alpha val="100000"/>
                  </a:srgbClr>
                </a:gs>
              </a:gsLst>
              <a:lin ang="0"/>
            </a:gradFill>
            <a:ln w="12700" cap="flat" cmpd="sng" algn="ctr">
              <a:noFill/>
              <a:prstDash val="solid"/>
              <a:miter lim="800000"/>
            </a:ln>
            <a:effectLst>
              <a:outerShdw blurRad="50800" dist="38100" dir="2700000" algn="tl" rotWithShape="0">
                <a:srgbClr val="4472C4">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900">
                <a:solidFill>
                  <a:sysClr val="window" lastClr="FFFFFF"/>
                </a:solidFill>
              </a:endParaRPr>
            </a:p>
          </p:txBody>
        </p:sp>
      </p:grpSp>
      <p:grpSp>
        <p:nvGrpSpPr>
          <p:cNvPr id="71" name="组合 70"/>
          <p:cNvGrpSpPr/>
          <p:nvPr>
            <p:custDataLst>
              <p:tags r:id="rId5"/>
            </p:custDataLst>
          </p:nvPr>
        </p:nvGrpSpPr>
        <p:grpSpPr>
          <a:xfrm>
            <a:off x="758190" y="2262469"/>
            <a:ext cx="2744509" cy="403984"/>
            <a:chOff x="3275" y="7389"/>
            <a:chExt cx="8787" cy="1293"/>
          </a:xfrm>
        </p:grpSpPr>
        <p:sp>
          <p:nvSpPr>
            <p:cNvPr id="72" name="圆角矩形 14"/>
            <p:cNvSpPr/>
            <p:nvPr>
              <p:custDataLst>
                <p:tags r:id="rId6"/>
              </p:custDataLst>
            </p:nvPr>
          </p:nvSpPr>
          <p:spPr>
            <a:xfrm>
              <a:off x="3275" y="7497"/>
              <a:ext cx="8787" cy="1185"/>
            </a:xfrm>
            <a:prstGeom prst="roundRect">
              <a:avLst>
                <a:gd name="adj" fmla="val 15982"/>
              </a:avLst>
            </a:prstGeom>
            <a:solidFill>
              <a:srgbClr val="70AD47">
                <a:lumMod val="60000"/>
                <a:lumOff val="40000"/>
                <a:alpha val="12000"/>
              </a:srgbClr>
            </a:solidFill>
            <a:ln w="9525" cap="flat" cmpd="sng" algn="ctr">
              <a:gradFill>
                <a:gsLst>
                  <a:gs pos="100000">
                    <a:srgbClr val="70AD47">
                      <a:alpha val="15000"/>
                    </a:srgbClr>
                  </a:gs>
                  <a:gs pos="0">
                    <a:srgbClr val="70AD47">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vertOverflow="overflow" horzOverflow="overflow" vert="horz" wrap="square" lIns="72072" tIns="0" rIns="72072" bIns="0" numCol="1" spcCol="0" rtlCol="0" fromWordArt="0" anchor="ctr" anchorCtr="0" forceAA="0" compatLnSpc="1">
              <a:noAutofit/>
            </a:bodyPr>
            <a:p>
              <a:pPr marL="230505" algn="l" rtl="0" eaLnBrk="0">
                <a:lnSpc>
                  <a:spcPct val="100000"/>
                </a:lnSpc>
                <a:spcBef>
                  <a:spcPts val="215"/>
                </a:spcBef>
              </a:pPr>
              <a:r>
                <a:rPr lang="zh-CN" sz="1000" b="1"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互联网资产漏洞优先防护，高效降低被利用风险</a:t>
              </a:r>
              <a:endParaRPr lang="zh-CN" sz="1000" b="1"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73" name="圆角矩形 72"/>
            <p:cNvSpPr/>
            <p:nvPr>
              <p:custDataLst>
                <p:tags r:id="rId7"/>
              </p:custDataLst>
            </p:nvPr>
          </p:nvSpPr>
          <p:spPr>
            <a:xfrm>
              <a:off x="3636" y="7389"/>
              <a:ext cx="1108" cy="137"/>
            </a:xfrm>
            <a:prstGeom prst="roundRect">
              <a:avLst>
                <a:gd name="adj" fmla="val 50000"/>
              </a:avLst>
            </a:prstGeom>
            <a:gradFill>
              <a:gsLst>
                <a:gs pos="100000">
                  <a:srgbClr val="70AD47">
                    <a:lumMod val="60000"/>
                    <a:lumOff val="40000"/>
                    <a:alpha val="71000"/>
                  </a:srgbClr>
                </a:gs>
                <a:gs pos="0">
                  <a:srgbClr val="70AD47">
                    <a:alpha val="100000"/>
                  </a:srgbClr>
                </a:gs>
              </a:gsLst>
              <a:lin ang="0"/>
            </a:gradFill>
            <a:ln w="12700" cap="flat" cmpd="sng" algn="ctr">
              <a:noFill/>
              <a:prstDash val="solid"/>
              <a:miter lim="800000"/>
            </a:ln>
            <a:effectLst>
              <a:outerShdw blurRad="50800" dist="38100" dir="2700000" algn="tl" rotWithShape="0">
                <a:srgbClr val="70AD47">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900">
                <a:solidFill>
                  <a:sysClr val="window" lastClr="FFFFFF"/>
                </a:solidFill>
              </a:endParaRPr>
            </a:p>
          </p:txBody>
        </p:sp>
      </p:grpSp>
      <p:grpSp>
        <p:nvGrpSpPr>
          <p:cNvPr id="74" name="组合 73"/>
          <p:cNvGrpSpPr/>
          <p:nvPr>
            <p:custDataLst>
              <p:tags r:id="rId8"/>
            </p:custDataLst>
          </p:nvPr>
        </p:nvGrpSpPr>
        <p:grpSpPr>
          <a:xfrm>
            <a:off x="759127" y="2784227"/>
            <a:ext cx="2744509" cy="398520"/>
            <a:chOff x="3275" y="9388"/>
            <a:chExt cx="8787" cy="1276"/>
          </a:xfrm>
        </p:grpSpPr>
        <p:sp>
          <p:nvSpPr>
            <p:cNvPr id="78" name="圆角矩形 14"/>
            <p:cNvSpPr/>
            <p:nvPr>
              <p:custDataLst>
                <p:tags r:id="rId9"/>
              </p:custDataLst>
            </p:nvPr>
          </p:nvSpPr>
          <p:spPr>
            <a:xfrm>
              <a:off x="3275" y="9479"/>
              <a:ext cx="8787" cy="1185"/>
            </a:xfrm>
            <a:prstGeom prst="roundRect">
              <a:avLst>
                <a:gd name="adj" fmla="val 15982"/>
              </a:avLst>
            </a:prstGeom>
            <a:solidFill>
              <a:srgbClr val="4472C4">
                <a:lumMod val="60000"/>
                <a:lumOff val="40000"/>
                <a:alpha val="12000"/>
              </a:srgbClr>
            </a:solidFill>
            <a:ln w="9525" cap="flat" cmpd="sng" algn="ctr">
              <a:gradFill>
                <a:gsLst>
                  <a:gs pos="100000">
                    <a:srgbClr val="4472C4">
                      <a:alpha val="15000"/>
                    </a:srgbClr>
                  </a:gs>
                  <a:gs pos="0">
                    <a:srgbClr val="4472C4">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vertOverflow="overflow" horzOverflow="overflow" vert="horz" wrap="square" lIns="72072" tIns="0" rIns="72072" bIns="0" numCol="1" spcCol="0" rtlCol="0" fromWordArt="0" anchor="ctr" anchorCtr="0" forceAA="0" compatLnSpc="1">
              <a:noAutofit/>
            </a:bodyPr>
            <a:p>
              <a:pPr marL="238125" algn="l" rtl="0" eaLnBrk="0">
                <a:lnSpc>
                  <a:spcPct val="100000"/>
                </a:lnSpc>
                <a:spcBef>
                  <a:spcPts val="215"/>
                </a:spcBef>
              </a:pPr>
              <a:r>
                <a:rPr lang="zh-CN" sz="1000" b="1"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无法防护的可利用漏洞优先修复，精准定位修复对象</a:t>
              </a:r>
              <a:endParaRPr lang="zh-CN" sz="1000" b="1"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80" name="圆角矩形 79"/>
            <p:cNvSpPr/>
            <p:nvPr>
              <p:custDataLst>
                <p:tags r:id="rId10"/>
              </p:custDataLst>
            </p:nvPr>
          </p:nvSpPr>
          <p:spPr>
            <a:xfrm>
              <a:off x="3636" y="9388"/>
              <a:ext cx="1108" cy="137"/>
            </a:xfrm>
            <a:prstGeom prst="roundRect">
              <a:avLst>
                <a:gd name="adj" fmla="val 50000"/>
              </a:avLst>
            </a:prstGeom>
            <a:gradFill>
              <a:gsLst>
                <a:gs pos="100000">
                  <a:srgbClr val="4472C4">
                    <a:lumMod val="60000"/>
                    <a:lumOff val="40000"/>
                    <a:alpha val="71000"/>
                  </a:srgbClr>
                </a:gs>
                <a:gs pos="0">
                  <a:srgbClr val="4472C4">
                    <a:alpha val="100000"/>
                  </a:srgbClr>
                </a:gs>
              </a:gsLst>
              <a:lin ang="0"/>
            </a:gradFill>
            <a:ln w="12700" cap="flat" cmpd="sng" algn="ctr">
              <a:noFill/>
              <a:prstDash val="solid"/>
              <a:miter lim="800000"/>
            </a:ln>
            <a:effectLst>
              <a:outerShdw blurRad="50800" dist="38100" dir="2700000" algn="tl" rotWithShape="0">
                <a:srgbClr val="4472C4">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900">
                <a:solidFill>
                  <a:sysClr val="window" lastClr="FFFFFF"/>
                </a:solidFill>
              </a:endParaRPr>
            </a:p>
          </p:txBody>
        </p:sp>
      </p:grpSp>
      <p:grpSp>
        <p:nvGrpSpPr>
          <p:cNvPr id="82" name="组合 81"/>
          <p:cNvGrpSpPr/>
          <p:nvPr>
            <p:custDataLst>
              <p:tags r:id="rId11"/>
            </p:custDataLst>
          </p:nvPr>
        </p:nvGrpSpPr>
        <p:grpSpPr>
          <a:xfrm>
            <a:off x="758190" y="3300387"/>
            <a:ext cx="2744509" cy="374916"/>
            <a:chOff x="3275" y="11370"/>
            <a:chExt cx="8787" cy="1200"/>
          </a:xfrm>
        </p:grpSpPr>
        <p:sp>
          <p:nvSpPr>
            <p:cNvPr id="84" name="圆角矩形 14"/>
            <p:cNvSpPr/>
            <p:nvPr>
              <p:custDataLst>
                <p:tags r:id="rId12"/>
              </p:custDataLst>
            </p:nvPr>
          </p:nvSpPr>
          <p:spPr>
            <a:xfrm>
              <a:off x="3275" y="11442"/>
              <a:ext cx="8787" cy="1128"/>
            </a:xfrm>
            <a:prstGeom prst="roundRect">
              <a:avLst>
                <a:gd name="adj" fmla="val 15982"/>
              </a:avLst>
            </a:prstGeom>
            <a:solidFill>
              <a:srgbClr val="70AD47">
                <a:lumMod val="60000"/>
                <a:lumOff val="40000"/>
                <a:alpha val="12000"/>
              </a:srgbClr>
            </a:solidFill>
            <a:ln w="9525" cap="flat" cmpd="sng" algn="ctr">
              <a:gradFill>
                <a:gsLst>
                  <a:gs pos="100000">
                    <a:srgbClr val="70AD47">
                      <a:alpha val="15000"/>
                    </a:srgbClr>
                  </a:gs>
                  <a:gs pos="0">
                    <a:srgbClr val="70AD47">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vertOverflow="overflow" horzOverflow="overflow" vert="horz" wrap="square" lIns="72072" tIns="0" rIns="72072" bIns="0" numCol="1" spcCol="0" rtlCol="0" fromWordArt="0" anchor="ctr" anchorCtr="0" forceAA="0" compatLnSpc="1">
              <a:noAutofit/>
            </a:bodyPr>
            <a:p>
              <a:pPr marL="231775" algn="l" rtl="0" eaLnBrk="0">
                <a:lnSpc>
                  <a:spcPct val="100000"/>
                </a:lnSpc>
                <a:spcBef>
                  <a:spcPts val="220"/>
                </a:spcBef>
              </a:pPr>
              <a:r>
                <a:rPr lang="zh-CN" sz="1000" b="1"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关联威胁监测，漏洞利用风险实时可视可控</a:t>
              </a:r>
              <a:endParaRPr lang="zh-CN" sz="1000" b="1"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88" name="圆角矩形 87"/>
            <p:cNvSpPr/>
            <p:nvPr>
              <p:custDataLst>
                <p:tags r:id="rId13"/>
              </p:custDataLst>
            </p:nvPr>
          </p:nvSpPr>
          <p:spPr>
            <a:xfrm>
              <a:off x="3636" y="11370"/>
              <a:ext cx="1108" cy="137"/>
            </a:xfrm>
            <a:prstGeom prst="roundRect">
              <a:avLst>
                <a:gd name="adj" fmla="val 50000"/>
              </a:avLst>
            </a:prstGeom>
            <a:gradFill>
              <a:gsLst>
                <a:gs pos="100000">
                  <a:srgbClr val="70AD47">
                    <a:lumMod val="60000"/>
                    <a:lumOff val="40000"/>
                    <a:alpha val="71000"/>
                  </a:srgbClr>
                </a:gs>
                <a:gs pos="0">
                  <a:srgbClr val="70AD47">
                    <a:alpha val="100000"/>
                  </a:srgbClr>
                </a:gs>
              </a:gsLst>
              <a:lin ang="0"/>
            </a:gradFill>
            <a:ln w="12700" cap="flat" cmpd="sng" algn="ctr">
              <a:noFill/>
              <a:prstDash val="solid"/>
              <a:miter lim="800000"/>
            </a:ln>
            <a:effectLst>
              <a:outerShdw blurRad="50800" dist="38100" dir="2700000" algn="tl" rotWithShape="0">
                <a:srgbClr val="70AD47">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900">
                <a:solidFill>
                  <a:sysClr val="window" lastClr="FFFFFF"/>
                </a:solidFill>
              </a:endParaRPr>
            </a:p>
          </p:txBody>
        </p:sp>
      </p:grpSp>
      <p:sp>
        <p:nvSpPr>
          <p:cNvPr id="91" name="textbox 94"/>
          <p:cNvSpPr/>
          <p:nvPr/>
        </p:nvSpPr>
        <p:spPr>
          <a:xfrm>
            <a:off x="4300220" y="5212398"/>
            <a:ext cx="7461568" cy="792000"/>
          </a:xfrm>
          <a:prstGeom prst="rect">
            <a:avLst/>
          </a:prstGeom>
          <a:solidFill>
            <a:srgbClr val="EFF5FD">
              <a:alpha val="100000"/>
            </a:srgbClr>
          </a:solidFill>
          <a:ln w="0" cap="flat">
            <a:noFill/>
            <a:prstDash val="solid"/>
            <a:miter lim="0"/>
          </a:ln>
        </p:spPr>
        <p:txBody>
          <a:bodyPr vert="horz" wrap="square" lIns="0" tIns="0" rIns="0" bIns="0"/>
          <a:lstStyle/>
          <a:p>
            <a:pPr algn="l" rtl="0" eaLnBrk="0">
              <a:lnSpc>
                <a:spcPct val="114000"/>
              </a:lnSpc>
            </a:pPr>
            <a:endParaRPr sz="500" dirty="0">
              <a:latin typeface="Arial" panose="020B0604020202020204"/>
              <a:ea typeface="Arial" panose="020B0604020202020204"/>
              <a:cs typeface="Arial" panose="020B0604020202020204"/>
            </a:endParaRPr>
          </a:p>
          <a:p>
            <a:pPr marL="133350" algn="l" rtl="0" eaLnBrk="0">
              <a:lnSpc>
                <a:spcPct val="150000"/>
              </a:lnSpc>
              <a:spcBef>
                <a:spcPts val="5"/>
              </a:spcBef>
            </a:pPr>
            <a:endParaRPr sz="1000" dirty="0">
              <a:latin typeface="黑体" panose="02010609060101010101" charset="-122"/>
              <a:ea typeface="黑体" panose="02010609060101010101" charset="-122"/>
              <a:cs typeface="黑体" panose="02010609060101010101" charset="-122"/>
            </a:endParaRPr>
          </a:p>
        </p:txBody>
      </p:sp>
      <p:grpSp>
        <p:nvGrpSpPr>
          <p:cNvPr id="92" name="组合 91"/>
          <p:cNvGrpSpPr/>
          <p:nvPr/>
        </p:nvGrpSpPr>
        <p:grpSpPr>
          <a:xfrm>
            <a:off x="4060190" y="1732915"/>
            <a:ext cx="1896745" cy="688340"/>
            <a:chOff x="12788" y="6575"/>
            <a:chExt cx="5974" cy="2168"/>
          </a:xfrm>
        </p:grpSpPr>
        <p:sp>
          <p:nvSpPr>
            <p:cNvPr id="93" name="文本框 92"/>
            <p:cNvSpPr txBox="1"/>
            <p:nvPr/>
          </p:nvSpPr>
          <p:spPr>
            <a:xfrm>
              <a:off x="13504" y="6575"/>
              <a:ext cx="4499" cy="567"/>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高危可利用漏洞</a:t>
              </a: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分析</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95" name="文本框 94"/>
            <p:cNvSpPr txBox="1"/>
            <p:nvPr/>
          </p:nvSpPr>
          <p:spPr>
            <a:xfrm>
              <a:off x="12788" y="7483"/>
              <a:ext cx="5974"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{{high_risk_exploitable_vulnerability_count}}</a:t>
              </a:r>
              <a:r>
                <a:rPr lang="en-US"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en-US" sz="2000" b="1" kern="0" spc="-20" dirty="0">
                <a:solidFill>
                  <a:srgbClr val="2040C0">
                    <a:alpha val="100000"/>
                  </a:srgbClr>
                </a:solidFill>
                <a:latin typeface="Times New Roman" panose="02020603050405020304"/>
                <a:ea typeface="Times New Roman" panose="02020603050405020304"/>
                <a:cs typeface="Times New Roman" panose="02020603050405020304"/>
                <a:sym typeface="+mn-ea"/>
              </a:endParaRPr>
            </a:p>
          </p:txBody>
        </p:sp>
        <p:sp>
          <p:nvSpPr>
            <p:cNvPr id="96" name="文本框 95"/>
            <p:cNvSpPr txBox="1"/>
            <p:nvPr/>
          </p:nvSpPr>
          <p:spPr>
            <a:xfrm>
              <a:off x="13504" y="8175"/>
              <a:ext cx="4500" cy="568"/>
            </a:xfrm>
            <a:prstGeom prst="rect">
              <a:avLst/>
            </a:prstGeom>
            <a:noFill/>
          </p:spPr>
          <p:txBody>
            <a:bodyPr wrap="square" rtlCol="0" anchor="ctr" anchorCtr="0">
              <a:noAutofit/>
            </a:bodyPr>
            <a:p>
              <a:pPr algn="ctr" rtl="0" eaLnBrk="0">
                <a:lnSpc>
                  <a:spcPct val="127000"/>
                </a:lnSpc>
              </a:pPr>
              <a:r>
                <a:rPr lang="en-US" altLang="zh-CN"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rPr>
                <a:t>100%</a:t>
              </a:r>
              <a:r>
                <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rPr>
                <a:t>验证可利用性</a:t>
              </a:r>
              <a:endPar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endParaRPr>
            </a:p>
          </p:txBody>
        </p:sp>
      </p:grpSp>
      <p:grpSp>
        <p:nvGrpSpPr>
          <p:cNvPr id="98" name="组合 97"/>
          <p:cNvGrpSpPr/>
          <p:nvPr/>
        </p:nvGrpSpPr>
        <p:grpSpPr>
          <a:xfrm>
            <a:off x="5881370" y="1732915"/>
            <a:ext cx="2358390" cy="688340"/>
            <a:chOff x="17210" y="6575"/>
            <a:chExt cx="7428" cy="2168"/>
          </a:xfrm>
        </p:grpSpPr>
        <p:sp>
          <p:nvSpPr>
            <p:cNvPr id="100" name="文本框 99"/>
            <p:cNvSpPr txBox="1"/>
            <p:nvPr/>
          </p:nvSpPr>
          <p:spPr>
            <a:xfrm>
              <a:off x="18536" y="6575"/>
              <a:ext cx="4499" cy="567"/>
            </a:xfrm>
            <a:prstGeom prst="rect">
              <a:avLst/>
            </a:prstGeom>
            <a:noFill/>
          </p:spPr>
          <p:txBody>
            <a:bodyPr wrap="square" rtlCol="0" anchor="ctr" anchorCtr="0">
              <a:noAutofit/>
            </a:bodyPr>
            <a:p>
              <a:pPr algn="ctr" rtl="0" eaLnBrk="0">
                <a:lnSpc>
                  <a:spcPct val="127000"/>
                </a:lnSpc>
              </a:pPr>
              <a:r>
                <a:rPr lang="zh-CN" altLang="en-US"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外部风险收敛</a:t>
              </a:r>
              <a:endParaRPr lang="zh-CN" altLang="en-US"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01" name="文本框 100"/>
            <p:cNvSpPr txBox="1"/>
            <p:nvPr/>
          </p:nvSpPr>
          <p:spPr>
            <a:xfrm>
              <a:off x="17210" y="7483"/>
              <a:ext cx="7428"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en-US" altLang="zh-CN"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{closed_loop_external_asset_vulnerability_count}}</a:t>
              </a:r>
              <a:r>
                <a:rPr lang="en-US"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en-US" sz="2000" b="1" kern="0" spc="-20" dirty="0">
                <a:solidFill>
                  <a:srgbClr val="2040C0">
                    <a:alpha val="100000"/>
                  </a:srgbClr>
                </a:solidFill>
                <a:latin typeface="Times New Roman" panose="02020603050405020304"/>
                <a:ea typeface="Times New Roman" panose="02020603050405020304"/>
                <a:cs typeface="Times New Roman" panose="02020603050405020304"/>
                <a:sym typeface="+mn-ea"/>
              </a:endParaRPr>
            </a:p>
          </p:txBody>
        </p:sp>
        <p:sp>
          <p:nvSpPr>
            <p:cNvPr id="103" name="文本框 102"/>
            <p:cNvSpPr txBox="1"/>
            <p:nvPr/>
          </p:nvSpPr>
          <p:spPr>
            <a:xfrm>
              <a:off x="18632" y="8175"/>
              <a:ext cx="4536" cy="568"/>
            </a:xfrm>
            <a:prstGeom prst="rect">
              <a:avLst/>
            </a:prstGeom>
            <a:noFill/>
          </p:spPr>
          <p:txBody>
            <a:bodyPr wrap="square" rtlCol="0" anchor="ctr" anchorCtr="0">
              <a:noAutofit/>
            </a:bodyPr>
            <a:p>
              <a:pPr algn="ctr" rtl="0" eaLnBrk="0">
                <a:lnSpc>
                  <a:spcPct val="127000"/>
                </a:lnSpc>
              </a:pPr>
              <a:r>
                <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rPr>
                <a:t>及时发现和收敛外部风险</a:t>
              </a:r>
              <a:endPar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endParaRPr>
            </a:p>
          </p:txBody>
        </p:sp>
      </p:grpSp>
      <p:grpSp>
        <p:nvGrpSpPr>
          <p:cNvPr id="105" name="组合 104"/>
          <p:cNvGrpSpPr/>
          <p:nvPr/>
        </p:nvGrpSpPr>
        <p:grpSpPr>
          <a:xfrm>
            <a:off x="8110220" y="1727518"/>
            <a:ext cx="1979296" cy="688023"/>
            <a:chOff x="22583" y="6585"/>
            <a:chExt cx="6234" cy="2167"/>
          </a:xfrm>
        </p:grpSpPr>
        <p:sp>
          <p:nvSpPr>
            <p:cNvPr id="106" name="文本框 105"/>
            <p:cNvSpPr txBox="1"/>
            <p:nvPr/>
          </p:nvSpPr>
          <p:spPr>
            <a:xfrm>
              <a:off x="23235" y="6585"/>
              <a:ext cx="4499" cy="567"/>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管理员弱密码</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07" name="文本框 106"/>
            <p:cNvSpPr txBox="1"/>
            <p:nvPr/>
          </p:nvSpPr>
          <p:spPr>
            <a:xfrm>
              <a:off x="22583" y="7493"/>
              <a:ext cx="6234"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{{admin_weak_password_count}}</a:t>
              </a:r>
              <a:r>
                <a:rPr lang="en-US"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en-US" sz="2000" b="1" kern="0" spc="-20" dirty="0">
                <a:solidFill>
                  <a:srgbClr val="2040C0">
                    <a:alpha val="100000"/>
                  </a:srgbClr>
                </a:solidFill>
                <a:latin typeface="Times New Roman" panose="02020603050405020304"/>
                <a:ea typeface="Times New Roman" panose="02020603050405020304"/>
                <a:cs typeface="Times New Roman" panose="02020603050405020304"/>
                <a:sym typeface="+mn-ea"/>
              </a:endParaRPr>
            </a:p>
          </p:txBody>
        </p:sp>
        <p:sp>
          <p:nvSpPr>
            <p:cNvPr id="108" name="文本框 107"/>
            <p:cNvSpPr txBox="1"/>
            <p:nvPr/>
          </p:nvSpPr>
          <p:spPr>
            <a:xfrm>
              <a:off x="23299" y="8185"/>
              <a:ext cx="4499" cy="567"/>
            </a:xfrm>
            <a:prstGeom prst="rect">
              <a:avLst/>
            </a:prstGeom>
            <a:noFill/>
          </p:spPr>
          <p:txBody>
            <a:bodyPr wrap="square" rtlCol="0" anchor="ctr" anchorCtr="0">
              <a:noAutofit/>
            </a:bodyPr>
            <a:p>
              <a:pPr algn="ctr" rtl="0" eaLnBrk="0">
                <a:lnSpc>
                  <a:spcPct val="127000"/>
                </a:lnSpc>
              </a:pPr>
              <a:r>
                <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rPr>
                <a:t>降低业务风险</a:t>
              </a:r>
              <a:endPar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endParaRPr>
            </a:p>
          </p:txBody>
        </p:sp>
      </p:grpSp>
      <p:grpSp>
        <p:nvGrpSpPr>
          <p:cNvPr id="110" name="组合 109"/>
          <p:cNvGrpSpPr/>
          <p:nvPr/>
        </p:nvGrpSpPr>
        <p:grpSpPr>
          <a:xfrm>
            <a:off x="10119488" y="1727835"/>
            <a:ext cx="1893030" cy="693103"/>
            <a:chOff x="29848" y="6559"/>
            <a:chExt cx="5957" cy="2183"/>
          </a:xfrm>
        </p:grpSpPr>
        <p:sp>
          <p:nvSpPr>
            <p:cNvPr id="112" name="文本框 111"/>
            <p:cNvSpPr txBox="1"/>
            <p:nvPr/>
          </p:nvSpPr>
          <p:spPr>
            <a:xfrm>
              <a:off x="30013" y="6559"/>
              <a:ext cx="5191" cy="584"/>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高危可利用漏洞闭环率</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13" name="文本框 112"/>
            <p:cNvSpPr txBox="1"/>
            <p:nvPr/>
          </p:nvSpPr>
          <p:spPr>
            <a:xfrm>
              <a:off x="29848" y="7473"/>
              <a:ext cx="5957"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{{high_risk_exploitable_vulnerability_closure_rate}}</a:t>
              </a:r>
              <a:r>
                <a:rPr lang="en-US"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en-US" sz="2000" b="1" kern="0" spc="-20" dirty="0">
                <a:solidFill>
                  <a:srgbClr val="2040C0">
                    <a:alpha val="100000"/>
                  </a:srgbClr>
                </a:solidFill>
                <a:latin typeface="Times New Roman" panose="02020603050405020304"/>
                <a:ea typeface="Times New Roman" panose="02020603050405020304"/>
                <a:cs typeface="Times New Roman" panose="02020603050405020304"/>
                <a:sym typeface="+mn-ea"/>
              </a:endParaRPr>
            </a:p>
          </p:txBody>
        </p:sp>
        <p:sp>
          <p:nvSpPr>
            <p:cNvPr id="114" name="文本框 113"/>
            <p:cNvSpPr txBox="1"/>
            <p:nvPr/>
          </p:nvSpPr>
          <p:spPr>
            <a:xfrm>
              <a:off x="30517" y="8175"/>
              <a:ext cx="4499" cy="567"/>
            </a:xfrm>
            <a:prstGeom prst="rect">
              <a:avLst/>
            </a:prstGeom>
            <a:noFill/>
          </p:spPr>
          <p:txBody>
            <a:bodyPr wrap="square" rtlCol="0" anchor="ctr" anchorCtr="0">
              <a:noAutofit/>
            </a:bodyPr>
            <a:p>
              <a:pPr algn="ctr" rtl="0" eaLnBrk="0">
                <a:lnSpc>
                  <a:spcPct val="127000"/>
                </a:lnSpc>
              </a:pPr>
              <a:r>
                <a:rPr lang="en-US" altLang="zh-CN"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rPr>
                <a:t>0</a:t>
              </a:r>
              <a:r>
                <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rPr>
                <a:t>漏洞利用成功事故</a:t>
              </a:r>
              <a:endPar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endParaRPr>
            </a:p>
          </p:txBody>
        </p:sp>
      </p:grpSp>
      <p:sp>
        <p:nvSpPr>
          <p:cNvPr id="115" name="文本框 114"/>
          <p:cNvSpPr txBox="1"/>
          <p:nvPr/>
        </p:nvSpPr>
        <p:spPr>
          <a:xfrm>
            <a:off x="673735" y="6067425"/>
            <a:ext cx="11088053" cy="617855"/>
          </a:xfrm>
          <a:prstGeom prst="rect">
            <a:avLst/>
          </a:prstGeom>
          <a:solidFill>
            <a:sysClr val="window" lastClr="FFFFFF">
              <a:lumMod val="95000"/>
            </a:sysClr>
          </a:solidFill>
        </p:spPr>
        <p:txBody>
          <a:bodyPr wrap="square" rtlCol="0">
            <a:noAutofit/>
          </a:bodyPr>
          <a:p>
            <a:endParaRPr lang="zh-CN" altLang="en-US" sz="2400"/>
          </a:p>
        </p:txBody>
      </p:sp>
      <p:sp>
        <p:nvSpPr>
          <p:cNvPr id="116" name="textbox 54"/>
          <p:cNvSpPr/>
          <p:nvPr/>
        </p:nvSpPr>
        <p:spPr>
          <a:xfrm>
            <a:off x="769620" y="6088063"/>
            <a:ext cx="10838498" cy="576580"/>
          </a:xfrm>
          <a:prstGeom prst="rect">
            <a:avLst/>
          </a:prstGeom>
          <a:noFill/>
          <a:ln w="0" cap="flat">
            <a:noFill/>
            <a:prstDash val="solid"/>
            <a:miter lim="0"/>
          </a:ln>
        </p:spPr>
        <p:txBody>
          <a:bodyPr vert="horz" wrap="square" lIns="0" tIns="0" rIns="0" bIns="0" anchor="ctr" anchorCtr="0"/>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ct val="100000"/>
              </a:lnSpc>
            </a:pPr>
            <a:r>
              <a:rPr sz="90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系统性</a:t>
            </a:r>
            <a:r>
              <a:rPr lang="zh-CN" sz="90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的</a:t>
            </a:r>
            <a:r>
              <a:rPr sz="90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漏洞管理不仅是技术问题，更是业务持续性保障的关键环节。</a:t>
            </a:r>
            <a:r>
              <a:rPr sz="900" spc="30" dirty="0">
                <a:solidFill>
                  <a:srgbClr val="000000">
                    <a:alpha val="100000"/>
                  </a:srgbClr>
                </a:solidFill>
                <a:latin typeface="黑体" panose="02010609060101010101" charset="-122"/>
                <a:ea typeface="黑体" panose="02010609060101010101" charset="-122"/>
                <a:cs typeface="黑体" panose="02010609060101010101" charset="-122"/>
                <a:sym typeface="+mn-ea"/>
              </a:rPr>
              <a:t>结合业务节奏的漏洞</a:t>
            </a:r>
            <a:r>
              <a:rPr sz="90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修复策略，让技术防护与业务发展协同推进，有效降低安全风险同时不影响业务创新速度。建议将漏洞管理纳入</a:t>
            </a:r>
            <a:r>
              <a:rPr sz="90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IT</a:t>
            </a:r>
            <a:r>
              <a:rPr sz="90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治理</a:t>
            </a:r>
            <a:r>
              <a:rPr sz="9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体系，形成常态化机制。</a:t>
            </a:r>
            <a:endParaRPr lang="zh-CN" sz="1200" b="1" spc="90" dirty="0">
              <a:solidFill>
                <a:srgbClr val="000000">
                  <a:alpha val="100000"/>
                </a:srgbClr>
              </a:solidFill>
              <a:latin typeface="黑体" panose="02010609060101010101" charset="-122"/>
              <a:ea typeface="黑体" panose="02010609060101010101" charset="-122"/>
              <a:cs typeface="黑体" panose="02010609060101010101" charset="-122"/>
            </a:endParaRPr>
          </a:p>
        </p:txBody>
      </p:sp>
      <p:sp>
        <p:nvSpPr>
          <p:cNvPr id="122" name="文本框 121"/>
          <p:cNvSpPr txBox="1"/>
          <p:nvPr/>
        </p:nvSpPr>
        <p:spPr>
          <a:xfrm>
            <a:off x="4812030" y="5160010"/>
            <a:ext cx="6786245" cy="807085"/>
          </a:xfrm>
          <a:prstGeom prst="rect">
            <a:avLst/>
          </a:prstGeom>
          <a:noFill/>
        </p:spPr>
        <p:txBody>
          <a:bodyPr wrap="square" rtlCol="0" anchor="t">
            <a:noAutofit/>
          </a:bodyPr>
          <a:p>
            <a:pPr marL="133350" algn="just" rtl="0" eaLnBrk="0">
              <a:lnSpc>
                <a:spcPct val="150000"/>
              </a:lnSpc>
              <a:spcBef>
                <a:spcPts val="5"/>
              </a:spcBef>
            </a:pPr>
            <a:r>
              <a:rPr lang="zh-CN" sz="1000" spc="20" dirty="0">
                <a:solidFill>
                  <a:srgbClr val="204090">
                    <a:alpha val="100000"/>
                  </a:srgbClr>
                </a:solidFill>
                <a:latin typeface="黑体" panose="02010609060101010101" charset="-122"/>
                <a:ea typeface="黑体" panose="02010609060101010101" charset="-122"/>
                <a:cs typeface="黑体" panose="02010609060101010101" charset="-122"/>
                <a:sym typeface="+mn-ea"/>
              </a:rPr>
              <a:t>脆弱性管理总结</a:t>
            </a:r>
            <a:r>
              <a:rPr sz="100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全年开展</a:t>
            </a:r>
            <a:r>
              <a:rPr lang="en-US" alt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 </a:t>
            </a:r>
            <a:r>
              <a:rPr lang="zh-CN" altLang="en-US"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scanning</a:t>
            </a:r>
            <a:r>
              <a:rPr lang="zh-CN" altLang="en-US"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次漏洞扫描，</a:t>
            </a:r>
            <a:r>
              <a:rPr lang="en-US" alt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{{vuln_summary}}</a:t>
            </a:r>
            <a:endParaRPr lang="en-US" alt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75" name="图片 74" descr="星星"/>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364673" y="5396729"/>
            <a:ext cx="360000" cy="360000"/>
          </a:xfrm>
          <a:prstGeom prst="rect">
            <a:avLst/>
          </a:prstGeom>
        </p:spPr>
      </p:pic>
      <p:sp useBgFill="1">
        <p:nvSpPr>
          <p:cNvPr id="141" name="单圆角矩形 5"/>
          <p:cNvSpPr/>
          <p:nvPr>
            <p:custDataLst>
              <p:tags r:id="rId16"/>
            </p:custDataLst>
          </p:nvPr>
        </p:nvSpPr>
        <p:spPr>
          <a:xfrm>
            <a:off x="8296576" y="4199758"/>
            <a:ext cx="3240000" cy="863891"/>
          </a:xfrm>
          <a:prstGeom prst="round1Rect">
            <a:avLst>
              <a:gd name="adj" fmla="val 0"/>
            </a:avLst>
          </a:prstGeom>
          <a:noFill/>
          <a:ln w="9525" cap="flat" cmpd="sng" algn="ctr">
            <a:solidFill>
              <a:srgbClr val="61D836">
                <a:lumMod val="40000"/>
                <a:lumOff val="60000"/>
              </a:srgbClr>
            </a:solidFill>
            <a:prstDash val="solid"/>
          </a:ln>
          <a:effectLst>
            <a:outerShdw blurRad="203200" dist="76200" dir="8100000" algn="tr" rotWithShape="0">
              <a:srgbClr val="16E7CF">
                <a:lumMod val="75000"/>
                <a:alpha val="20000"/>
              </a:srgbClr>
            </a:outerShdw>
          </a:effectLst>
          <a:extLst>
            <a:ext uri="{909E8E84-426E-40DD-AFC4-6F175D3DCCD1}">
              <a14:hiddenFill xmlns:a14="http://schemas.microsoft.com/office/drawing/2010/main">
                <a:gradFill rotWithShape="1">
                  <a:gsLst>
                    <a:gs pos="0">
                      <a:srgbClr val="00A2FF">
                        <a:tint val="50000"/>
                        <a:satMod val="300000"/>
                      </a:srgbClr>
                    </a:gs>
                    <a:gs pos="35000">
                      <a:srgbClr val="00A2FF">
                        <a:tint val="37000"/>
                        <a:satMod val="300000"/>
                      </a:srgbClr>
                    </a:gs>
                    <a:gs pos="100000">
                      <a:srgbClr val="00A2FF">
                        <a:tint val="15000"/>
                        <a:satMod val="350000"/>
                      </a:srgbClr>
                    </a:gs>
                  </a:gsLst>
                  <a:lin ang="16200000" scaled="1"/>
                </a:gradFill>
              </a14:hiddenFill>
            </a:ext>
          </a:extLst>
        </p:spPr>
        <p:txBody>
          <a:bodyPr vertOverflow="overflow" horzOverflow="overflow" vert="horz" wrap="square" lIns="0" tIns="0" rIns="0" bIns="0" numCol="1" spcCol="0" rtlCol="0" fromWordArt="0" anchor="ctr" anchorCtr="0" forceAA="0" compatLnSpc="1">
            <a:noAutofit/>
          </a:bodyPr>
          <a:p>
            <a:pPr algn="ctr"/>
            <a:endParaRPr lang="zh-CN" altLang="en-US" sz="1200" b="1" spc="300">
              <a:solidFill>
                <a:srgbClr val="FFFFFF">
                  <a:lumMod val="100000"/>
                </a:srgbClr>
              </a:solidFill>
              <a:latin typeface="微软雅黑" panose="020B0503020204020204" charset="-122"/>
              <a:ea typeface="微软雅黑" panose="020B0503020204020204" charset="-122"/>
              <a:sym typeface="微软雅黑" panose="020B0503020204020204" charset="-122"/>
            </a:endParaRPr>
          </a:p>
        </p:txBody>
      </p:sp>
      <p:sp useBgFill="1">
        <p:nvSpPr>
          <p:cNvPr id="142" name="单圆角矩形 5"/>
          <p:cNvSpPr/>
          <p:nvPr>
            <p:custDataLst>
              <p:tags r:id="rId17"/>
            </p:custDataLst>
          </p:nvPr>
        </p:nvSpPr>
        <p:spPr>
          <a:xfrm>
            <a:off x="8296576" y="4199758"/>
            <a:ext cx="3240000" cy="863891"/>
          </a:xfrm>
          <a:prstGeom prst="round1Rect">
            <a:avLst>
              <a:gd name="adj" fmla="val 0"/>
            </a:avLst>
          </a:prstGeom>
          <a:solidFill>
            <a:srgbClr val="FFFFFF">
              <a:lumMod val="100000"/>
              <a:alpha val="20000"/>
            </a:srgbClr>
          </a:solidFill>
          <a:ln w="9525" cap="flat" cmpd="sng" algn="ctr">
            <a:solidFill>
              <a:srgbClr val="00B050">
                <a:alpha val="35000"/>
              </a:srgbClr>
            </a:solidFill>
            <a:prstDash val="solid"/>
          </a:ln>
          <a:effectLst/>
        </p:spPr>
        <p:txBody>
          <a:bodyPr vertOverflow="overflow" horzOverflow="overflow" vert="horz" wrap="square" lIns="0" tIns="0" rIns="0" bIns="0" numCol="1" spcCol="0" rtlCol="0" fromWordArt="0" anchor="ctr" anchorCtr="0" forceAA="0" compatLnSpc="1">
            <a:noAutofit/>
          </a:bodyPr>
          <a:p>
            <a:pPr lvl="0" algn="ctr">
              <a:buClrTx/>
              <a:buSzTx/>
              <a:buFontTx/>
            </a:pPr>
            <a:endParaRPr lang="zh-CN" altLang="en-US" sz="1200" b="1" spc="300">
              <a:solidFill>
                <a:srgbClr val="FFFFFF">
                  <a:lumMod val="100000"/>
                </a:srgbClr>
              </a:solidFill>
              <a:latin typeface="微软雅黑" panose="020B0503020204020204" charset="-122"/>
              <a:ea typeface="微软雅黑" panose="020B0503020204020204" charset="-122"/>
              <a:sym typeface="微软雅黑" panose="020B0503020204020204" charset="-122"/>
            </a:endParaRPr>
          </a:p>
        </p:txBody>
      </p:sp>
      <p:sp useBgFill="1">
        <p:nvSpPr>
          <p:cNvPr id="143" name="单圆角矩形 5"/>
          <p:cNvSpPr/>
          <p:nvPr>
            <p:custDataLst>
              <p:tags r:id="rId18"/>
            </p:custDataLst>
          </p:nvPr>
        </p:nvSpPr>
        <p:spPr>
          <a:xfrm>
            <a:off x="4821261" y="4197853"/>
            <a:ext cx="3240000" cy="863891"/>
          </a:xfrm>
          <a:prstGeom prst="round1Rect">
            <a:avLst>
              <a:gd name="adj" fmla="val 0"/>
            </a:avLst>
          </a:prstGeom>
          <a:noFill/>
          <a:ln w="9525" cap="flat" cmpd="sng" algn="ctr">
            <a:solidFill>
              <a:srgbClr val="92D050"/>
            </a:solidFill>
            <a:prstDash val="solid"/>
          </a:ln>
          <a:effectLst>
            <a:outerShdw blurRad="203200" dist="76200" dir="8100000" algn="tr" rotWithShape="0">
              <a:srgbClr val="16E7CF">
                <a:lumMod val="75000"/>
                <a:alpha val="20000"/>
              </a:srgbClr>
            </a:outerShdw>
          </a:effectLst>
          <a:extLst>
            <a:ext uri="{909E8E84-426E-40DD-AFC4-6F175D3DCCD1}">
              <a14:hiddenFill xmlns:a14="http://schemas.microsoft.com/office/drawing/2010/main">
                <a:gradFill rotWithShape="1">
                  <a:gsLst>
                    <a:gs pos="0">
                      <a:srgbClr val="00A2FF">
                        <a:tint val="50000"/>
                        <a:satMod val="300000"/>
                      </a:srgbClr>
                    </a:gs>
                    <a:gs pos="35000">
                      <a:srgbClr val="00A2FF">
                        <a:tint val="37000"/>
                        <a:satMod val="300000"/>
                      </a:srgbClr>
                    </a:gs>
                    <a:gs pos="100000">
                      <a:srgbClr val="00A2FF">
                        <a:tint val="15000"/>
                        <a:satMod val="350000"/>
                      </a:srgbClr>
                    </a:gs>
                  </a:gsLst>
                  <a:lin ang="16200000" scaled="1"/>
                </a:gradFill>
              </a14:hiddenFill>
            </a:ext>
          </a:extLst>
        </p:spPr>
        <p:txBody>
          <a:bodyPr vertOverflow="overflow" horzOverflow="overflow" vert="horz" wrap="square" lIns="0" tIns="0" rIns="0" bIns="0" numCol="1" spcCol="0" rtlCol="0" fromWordArt="0" anchor="ctr" anchorCtr="0" forceAA="0" compatLnSpc="1">
            <a:noAutofit/>
          </a:bodyPr>
          <a:p>
            <a:pPr algn="ctr"/>
            <a:endParaRPr lang="zh-CN" altLang="en-US" sz="1200" b="1" spc="300">
              <a:solidFill>
                <a:srgbClr val="FFFFFF">
                  <a:lumMod val="100000"/>
                </a:srgbClr>
              </a:solidFill>
              <a:latin typeface="微软雅黑" panose="020B0503020204020204" charset="-122"/>
              <a:ea typeface="微软雅黑" panose="020B0503020204020204" charset="-122"/>
              <a:sym typeface="微软雅黑" panose="020B0503020204020204" charset="-122"/>
            </a:endParaRPr>
          </a:p>
        </p:txBody>
      </p:sp>
      <p:sp useBgFill="1">
        <p:nvSpPr>
          <p:cNvPr id="144" name="单圆角矩形 143"/>
          <p:cNvSpPr/>
          <p:nvPr>
            <p:custDataLst>
              <p:tags r:id="rId19"/>
            </p:custDataLst>
          </p:nvPr>
        </p:nvSpPr>
        <p:spPr>
          <a:xfrm>
            <a:off x="4821238" y="4199890"/>
            <a:ext cx="3240000" cy="863918"/>
          </a:xfrm>
          <a:prstGeom prst="round1Rect">
            <a:avLst>
              <a:gd name="adj" fmla="val 0"/>
            </a:avLst>
          </a:prstGeom>
          <a:noFill/>
          <a:ln w="9525" cap="flat" cmpd="sng" algn="ctr">
            <a:solidFill>
              <a:srgbClr val="16E7CF">
                <a:lumMod val="60000"/>
                <a:lumOff val="40000"/>
                <a:alpha val="35000"/>
              </a:srgbClr>
            </a:solidFill>
            <a:prstDash val="solid"/>
          </a:ln>
          <a:effectLst/>
          <a:extLst>
            <a:ext uri="{909E8E84-426E-40DD-AFC4-6F175D3DCCD1}">
              <a14:hiddenFill xmlns:a14="http://schemas.microsoft.com/office/drawing/2010/main">
                <a:solidFill>
                  <a:srgbClr val="FFFFFF">
                    <a:lumMod val="100000"/>
                    <a:alpha val="20000"/>
                  </a:srgbClr>
                </a:solidFill>
              </a14:hiddenFill>
            </a:ext>
          </a:extLst>
        </p:spPr>
        <p:txBody>
          <a:bodyPr vertOverflow="overflow" horzOverflow="overflow" vert="horz" wrap="square" lIns="0" tIns="0" rIns="0" bIns="0" numCol="1" spcCol="0" rtlCol="0" fromWordArt="0" anchor="ctr" anchorCtr="0" forceAA="0" compatLnSpc="1">
            <a:noAutofit/>
          </a:bodyPr>
          <a:p>
            <a:pPr lvl="0" algn="ctr">
              <a:buClrTx/>
              <a:buSzTx/>
              <a:buFontTx/>
            </a:pPr>
            <a:endParaRPr lang="zh-CN" altLang="en-US" sz="1200" b="1" spc="300">
              <a:solidFill>
                <a:srgbClr val="FFFFFF">
                  <a:lumMod val="100000"/>
                </a:srgbClr>
              </a:solidFill>
              <a:latin typeface="微软雅黑" panose="020B0503020204020204" charset="-122"/>
              <a:ea typeface="微软雅黑" panose="020B0503020204020204" charset="-122"/>
              <a:sym typeface="微软雅黑" panose="020B0503020204020204" charset="-122"/>
            </a:endParaRPr>
          </a:p>
        </p:txBody>
      </p:sp>
      <p:sp useBgFill="1">
        <p:nvSpPr>
          <p:cNvPr id="145" name="单圆角矩形 5"/>
          <p:cNvSpPr/>
          <p:nvPr>
            <p:custDataLst>
              <p:tags r:id="rId20"/>
            </p:custDataLst>
          </p:nvPr>
        </p:nvSpPr>
        <p:spPr>
          <a:xfrm>
            <a:off x="8296575" y="3265949"/>
            <a:ext cx="3240000" cy="863891"/>
          </a:xfrm>
          <a:prstGeom prst="round1Rect">
            <a:avLst>
              <a:gd name="adj" fmla="val 0"/>
            </a:avLst>
          </a:prstGeom>
          <a:noFill/>
          <a:ln w="9525" cap="flat" cmpd="sng" algn="ctr">
            <a:noFill/>
            <a:prstDash val="solid"/>
          </a:ln>
          <a:effectLst>
            <a:outerShdw blurRad="203200" dist="76200" dir="8100000" algn="tr" rotWithShape="0">
              <a:srgbClr val="00A2FF">
                <a:lumMod val="75000"/>
                <a:alpha val="20000"/>
              </a:srgbClr>
            </a:outerShdw>
          </a:effectLst>
          <a:extLst>
            <a:ext uri="{909E8E84-426E-40DD-AFC4-6F175D3DCCD1}">
              <a14:hiddenFill xmlns:a14="http://schemas.microsoft.com/office/drawing/2010/main">
                <a:gradFill rotWithShape="1">
                  <a:gsLst>
                    <a:gs pos="0">
                      <a:srgbClr val="00A2FF">
                        <a:tint val="50000"/>
                        <a:satMod val="300000"/>
                      </a:srgbClr>
                    </a:gs>
                    <a:gs pos="35000">
                      <a:srgbClr val="00A2FF">
                        <a:tint val="37000"/>
                        <a:satMod val="300000"/>
                      </a:srgbClr>
                    </a:gs>
                    <a:gs pos="100000">
                      <a:srgbClr val="00A2FF">
                        <a:tint val="15000"/>
                        <a:satMod val="350000"/>
                      </a:srgbClr>
                    </a:gs>
                  </a:gsLst>
                  <a:lin ang="16200000" scaled="1"/>
                </a:gradFill>
              </a14:hiddenFill>
            </a:ext>
          </a:extLst>
        </p:spPr>
        <p:txBody>
          <a:bodyPr vertOverflow="overflow" horzOverflow="overflow" vert="horz" wrap="square" lIns="0" tIns="0" rIns="0" bIns="0" numCol="1" spcCol="0" rtlCol="0" fromWordArt="0" anchor="ctr" anchorCtr="0" forceAA="0" compatLnSpc="1">
            <a:noAutofit/>
          </a:bodyPr>
          <a:p>
            <a:pPr algn="ctr"/>
            <a:endParaRPr lang="zh-CN" altLang="en-US" sz="1200" b="1" spc="300">
              <a:solidFill>
                <a:srgbClr val="FFFFFF">
                  <a:lumMod val="100000"/>
                </a:srgbClr>
              </a:solidFill>
              <a:latin typeface="微软雅黑" panose="020B0503020204020204" charset="-122"/>
              <a:ea typeface="微软雅黑" panose="020B0503020204020204" charset="-122"/>
              <a:sym typeface="微软雅黑" panose="020B0503020204020204" charset="-122"/>
            </a:endParaRPr>
          </a:p>
        </p:txBody>
      </p:sp>
      <p:sp useBgFill="1">
        <p:nvSpPr>
          <p:cNvPr id="146" name="单圆角矩形 5"/>
          <p:cNvSpPr/>
          <p:nvPr>
            <p:custDataLst>
              <p:tags r:id="rId21"/>
            </p:custDataLst>
          </p:nvPr>
        </p:nvSpPr>
        <p:spPr>
          <a:xfrm>
            <a:off x="8296593" y="3265805"/>
            <a:ext cx="3240000" cy="863918"/>
          </a:xfrm>
          <a:prstGeom prst="round1Rect">
            <a:avLst>
              <a:gd name="adj" fmla="val 0"/>
            </a:avLst>
          </a:prstGeom>
          <a:solidFill>
            <a:srgbClr val="FFFFFF">
              <a:lumMod val="100000"/>
              <a:alpha val="20000"/>
            </a:srgbClr>
          </a:solidFill>
          <a:ln w="9525" cap="flat" cmpd="sng" algn="ctr">
            <a:solidFill>
              <a:srgbClr val="00A2FF">
                <a:lumMod val="60000"/>
                <a:lumOff val="40000"/>
                <a:alpha val="35000"/>
              </a:srgbClr>
            </a:solidFill>
            <a:prstDash val="solid"/>
          </a:ln>
          <a:effectLst/>
        </p:spPr>
        <p:txBody>
          <a:bodyPr vertOverflow="overflow" horzOverflow="overflow" vert="horz" wrap="square" lIns="0" tIns="0" rIns="0" bIns="0" numCol="1" spcCol="0" rtlCol="0" fromWordArt="0" anchor="ctr" anchorCtr="0" forceAA="0" compatLnSpc="1">
            <a:noAutofit/>
          </a:bodyPr>
          <a:p>
            <a:pPr lvl="0" algn="ctr">
              <a:buClrTx/>
              <a:buSzTx/>
              <a:buFontTx/>
            </a:pPr>
            <a:r>
              <a:rPr lang="en-US" altLang="zh-CN" sz="1200" b="1" spc="300">
                <a:solidFill>
                  <a:srgbClr val="FFFFFF">
                    <a:lumMod val="100000"/>
                  </a:srgbClr>
                </a:solidFill>
                <a:latin typeface="微软雅黑" panose="020B0503020204020204" charset="-122"/>
                <a:ea typeface="微软雅黑" panose="020B0503020204020204" charset="-122"/>
                <a:sym typeface="微软雅黑" panose="020B0503020204020204" charset="-122"/>
              </a:rPr>
              <a:t> </a:t>
            </a:r>
            <a:endParaRPr lang="en-US" altLang="zh-CN" sz="1200" b="1" spc="300">
              <a:solidFill>
                <a:srgbClr val="FFFFFF">
                  <a:lumMod val="100000"/>
                </a:srgbClr>
              </a:solidFill>
              <a:latin typeface="微软雅黑" panose="020B0503020204020204" charset="-122"/>
              <a:ea typeface="微软雅黑" panose="020B0503020204020204" charset="-122"/>
              <a:sym typeface="微软雅黑" panose="020B0503020204020204" charset="-122"/>
            </a:endParaRPr>
          </a:p>
        </p:txBody>
      </p:sp>
      <p:sp useBgFill="1">
        <p:nvSpPr>
          <p:cNvPr id="147" name="单圆角矩形 5"/>
          <p:cNvSpPr/>
          <p:nvPr>
            <p:custDataLst>
              <p:tags r:id="rId22"/>
            </p:custDataLst>
          </p:nvPr>
        </p:nvSpPr>
        <p:spPr>
          <a:xfrm>
            <a:off x="4821261" y="3265949"/>
            <a:ext cx="3240000" cy="863891"/>
          </a:xfrm>
          <a:prstGeom prst="round1Rect">
            <a:avLst>
              <a:gd name="adj" fmla="val 0"/>
            </a:avLst>
          </a:prstGeom>
          <a:noFill/>
          <a:ln w="9525" cap="flat" cmpd="sng" algn="ctr">
            <a:noFill/>
            <a:prstDash val="solid"/>
          </a:ln>
          <a:effectLst>
            <a:outerShdw blurRad="203200" dist="76200" dir="8100000" algn="tr" rotWithShape="0">
              <a:srgbClr val="00A2FF">
                <a:lumMod val="75000"/>
                <a:alpha val="20000"/>
              </a:srgbClr>
            </a:outerShdw>
          </a:effectLst>
          <a:extLst>
            <a:ext uri="{909E8E84-426E-40DD-AFC4-6F175D3DCCD1}">
              <a14:hiddenFill xmlns:a14="http://schemas.microsoft.com/office/drawing/2010/main">
                <a:gradFill rotWithShape="1">
                  <a:gsLst>
                    <a:gs pos="0">
                      <a:srgbClr val="00A2FF">
                        <a:tint val="50000"/>
                        <a:satMod val="300000"/>
                      </a:srgbClr>
                    </a:gs>
                    <a:gs pos="35000">
                      <a:srgbClr val="00A2FF">
                        <a:tint val="37000"/>
                        <a:satMod val="300000"/>
                      </a:srgbClr>
                    </a:gs>
                    <a:gs pos="100000">
                      <a:srgbClr val="00A2FF">
                        <a:tint val="15000"/>
                        <a:satMod val="350000"/>
                      </a:srgbClr>
                    </a:gs>
                  </a:gsLst>
                  <a:lin ang="16200000" scaled="1"/>
                </a:gradFill>
              </a14:hiddenFill>
            </a:ext>
          </a:extLst>
        </p:spPr>
        <p:txBody>
          <a:bodyPr vertOverflow="overflow" horzOverflow="overflow" vert="horz" wrap="square" lIns="0" tIns="0" rIns="0" bIns="0" numCol="1" spcCol="0" rtlCol="0" fromWordArt="0" anchor="ctr" anchorCtr="0" forceAA="0" compatLnSpc="1">
            <a:noAutofit/>
          </a:bodyPr>
          <a:p>
            <a:pPr algn="ctr"/>
            <a:endParaRPr lang="zh-CN" altLang="en-US" sz="1200" b="1" spc="300">
              <a:solidFill>
                <a:srgbClr val="FFFFFF">
                  <a:lumMod val="100000"/>
                </a:srgbClr>
              </a:solidFill>
              <a:latin typeface="微软雅黑" panose="020B0503020204020204" charset="-122"/>
              <a:ea typeface="微软雅黑" panose="020B0503020204020204" charset="-122"/>
              <a:sym typeface="微软雅黑" panose="020B0503020204020204" charset="-122"/>
            </a:endParaRPr>
          </a:p>
        </p:txBody>
      </p:sp>
      <p:sp useBgFill="1">
        <p:nvSpPr>
          <p:cNvPr id="148" name="单圆角矩形 5"/>
          <p:cNvSpPr/>
          <p:nvPr>
            <p:custDataLst>
              <p:tags r:id="rId23"/>
            </p:custDataLst>
          </p:nvPr>
        </p:nvSpPr>
        <p:spPr>
          <a:xfrm>
            <a:off x="4821238" y="3265805"/>
            <a:ext cx="3240000" cy="863918"/>
          </a:xfrm>
          <a:prstGeom prst="round1Rect">
            <a:avLst>
              <a:gd name="adj" fmla="val 0"/>
            </a:avLst>
          </a:prstGeom>
          <a:noFill/>
          <a:ln w="9525" cap="flat" cmpd="sng" algn="ctr">
            <a:solidFill>
              <a:srgbClr val="00A2FF">
                <a:lumMod val="60000"/>
                <a:lumOff val="40000"/>
                <a:alpha val="35000"/>
              </a:srgbClr>
            </a:solidFill>
            <a:prstDash val="solid"/>
          </a:ln>
          <a:effectLst/>
          <a:extLst>
            <a:ext uri="{909E8E84-426E-40DD-AFC4-6F175D3DCCD1}">
              <a14:hiddenFill xmlns:a14="http://schemas.microsoft.com/office/drawing/2010/main">
                <a:solidFill>
                  <a:srgbClr val="FFFFFF">
                    <a:lumMod val="100000"/>
                    <a:alpha val="20000"/>
                  </a:srgbClr>
                </a:solidFill>
              </a14:hiddenFill>
            </a:ext>
          </a:extLst>
        </p:spPr>
        <p:txBody>
          <a:bodyPr vertOverflow="overflow" horzOverflow="overflow" vert="horz" wrap="square" lIns="0" tIns="0" rIns="0" bIns="0" numCol="1" spcCol="0" rtlCol="0" fromWordArt="0" anchor="ctr" anchorCtr="0" forceAA="0" compatLnSpc="1">
            <a:noAutofit/>
          </a:bodyPr>
          <a:p>
            <a:pPr lvl="0" algn="ctr">
              <a:buClrTx/>
              <a:buSzTx/>
              <a:buFontTx/>
            </a:pPr>
            <a:endParaRPr lang="zh-CN" altLang="en-US" sz="1200" b="1" spc="300">
              <a:solidFill>
                <a:srgbClr val="FFFFFF">
                  <a:lumMod val="100000"/>
                </a:srgbClr>
              </a:solidFill>
              <a:latin typeface="微软雅黑" panose="020B0503020204020204" charset="-122"/>
              <a:ea typeface="微软雅黑" panose="020B0503020204020204" charset="-122"/>
              <a:sym typeface="微软雅黑" panose="020B0503020204020204" charset="-122"/>
            </a:endParaRPr>
          </a:p>
        </p:txBody>
      </p:sp>
      <p:sp>
        <p:nvSpPr>
          <p:cNvPr id="149" name="矩形 148"/>
          <p:cNvSpPr/>
          <p:nvPr>
            <p:custDataLst>
              <p:tags r:id="rId24"/>
            </p:custDataLst>
          </p:nvPr>
        </p:nvSpPr>
        <p:spPr>
          <a:xfrm>
            <a:off x="5148562" y="3294203"/>
            <a:ext cx="2112696" cy="217778"/>
          </a:xfrm>
          <a:prstGeom prst="rect">
            <a:avLst/>
          </a:prstGeom>
          <a:noFill/>
        </p:spPr>
        <p:txBody>
          <a:bodyPr wrap="square" lIns="0" tIns="0" rIns="0" bIns="0" rtlCol="0" anchor="b">
            <a:noAutofit/>
          </a:bodyPr>
          <a:p>
            <a:pPr algn="l">
              <a:spcBef>
                <a:spcPct val="0"/>
              </a:spcBef>
              <a:spcAft>
                <a:spcPct val="0"/>
              </a:spcAft>
            </a:pPr>
            <a:r>
              <a:rPr lang="zh-CN" altLang="en-US" sz="1200" b="1">
                <a:solidFill>
                  <a:srgbClr val="00A2FF"/>
                </a:solidFill>
                <a:latin typeface="微软雅黑" panose="020B0503020204020204" charset="-122"/>
                <a:cs typeface="微软雅黑" panose="020B0503020204020204" charset="-122"/>
              </a:rPr>
              <a:t>优化补丁管理流程</a:t>
            </a:r>
            <a:endParaRPr lang="zh-CN" altLang="en-US" sz="1200" b="1">
              <a:solidFill>
                <a:srgbClr val="00A2FF"/>
              </a:solidFill>
              <a:latin typeface="微软雅黑" panose="020B0503020204020204" charset="-122"/>
              <a:cs typeface="微软雅黑" panose="020B0503020204020204" charset="-122"/>
            </a:endParaRPr>
          </a:p>
        </p:txBody>
      </p:sp>
      <p:sp>
        <p:nvSpPr>
          <p:cNvPr id="150" name="矩形 149"/>
          <p:cNvSpPr/>
          <p:nvPr>
            <p:custDataLst>
              <p:tags r:id="rId25"/>
            </p:custDataLst>
          </p:nvPr>
        </p:nvSpPr>
        <p:spPr>
          <a:xfrm>
            <a:off x="5148879" y="3539600"/>
            <a:ext cx="2112062" cy="553651"/>
          </a:xfrm>
          <a:prstGeom prst="rect">
            <a:avLst/>
          </a:prstGeom>
          <a:noFill/>
        </p:spPr>
        <p:txBody>
          <a:bodyPr wrap="square" lIns="0" tIns="0" rIns="0" bIns="0" rtlCol="0" anchor="t" anchorCtr="0">
            <a:noAutofit/>
          </a:bodyPr>
          <a:p>
            <a:pPr lvl="0" indent="0" algn="l" fontAlgn="auto">
              <a:lnSpc>
                <a:spcPct val="140000"/>
              </a:lnSpc>
              <a:buClrTx/>
              <a:buSzTx/>
              <a:buFontTx/>
            </a:pPr>
            <a:r>
              <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rPr>
              <a:t>·建立专门的测试环境验证·分批次滚动更新策略·减少业务中断风险</a:t>
            </a:r>
            <a:endPar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endParaRPr>
          </a:p>
        </p:txBody>
      </p:sp>
      <p:sp>
        <p:nvSpPr>
          <p:cNvPr id="151" name="圆角矩形 19"/>
          <p:cNvSpPr/>
          <p:nvPr>
            <p:custDataLst>
              <p:tags r:id="rId26"/>
            </p:custDataLst>
          </p:nvPr>
        </p:nvSpPr>
        <p:spPr>
          <a:xfrm rot="5400000">
            <a:off x="4822531" y="3314045"/>
            <a:ext cx="217066" cy="219365"/>
          </a:xfrm>
          <a:prstGeom prst="roundRect">
            <a:avLst>
              <a:gd name="adj" fmla="val 0"/>
            </a:avLst>
          </a:prstGeom>
          <a:gradFill flip="none" rotWithShape="1">
            <a:gsLst>
              <a:gs pos="100000">
                <a:srgbClr val="00A2FF">
                  <a:alpha val="100000"/>
                </a:srgbClr>
              </a:gs>
              <a:gs pos="0">
                <a:srgbClr val="00A2FF">
                  <a:lumMod val="70000"/>
                  <a:lumOff val="30000"/>
                  <a:alpha val="100000"/>
                </a:srgbClr>
              </a:gs>
            </a:gsLst>
            <a:lin ang="13200000" scaled="0"/>
            <a:tileRect/>
          </a:gradFill>
          <a:ln w="9525" cap="flat" cmpd="sng" algn="ctr">
            <a:noFill/>
            <a:prstDash val="solid"/>
          </a:ln>
          <a:effectLst>
            <a:outerShdw blurRad="203200" dist="76200" dir="8100000" algn="tr" rotWithShape="0">
              <a:srgbClr val="00A2FF">
                <a:lumMod val="75000"/>
                <a:alpha val="20000"/>
              </a:srgbClr>
            </a:outerShdw>
          </a:effectLst>
        </p:spPr>
        <p:txBody>
          <a:bodyPr vertOverflow="overflow" horzOverflow="overflow" vert="horz" wrap="square" lIns="0" tIns="0" rIns="0" bIns="0" numCol="1" spcCol="0" rtlCol="0" fromWordArt="0" anchor="ctr" anchorCtr="0" forceAA="0" compatLnSpc="1">
            <a:noAutofit/>
          </a:bodyPr>
          <a:p>
            <a:pPr algn="ctr"/>
            <a:endParaRPr lang="zh-CN" altLang="en-US" sz="1200" b="1" spc="300">
              <a:solidFill>
                <a:srgbClr val="FFFFFF">
                  <a:lumMod val="100000"/>
                </a:srgbClr>
              </a:solidFill>
              <a:latin typeface="微软雅黑" panose="020B0503020204020204" charset="-122"/>
              <a:ea typeface="微软雅黑" panose="020B0503020204020204" charset="-122"/>
            </a:endParaRPr>
          </a:p>
        </p:txBody>
      </p:sp>
      <p:sp>
        <p:nvSpPr>
          <p:cNvPr id="152" name="燕尾形 20"/>
          <p:cNvSpPr/>
          <p:nvPr>
            <p:custDataLst>
              <p:tags r:id="rId27"/>
            </p:custDataLst>
          </p:nvPr>
        </p:nvSpPr>
        <p:spPr>
          <a:xfrm>
            <a:off x="4902531" y="3381663"/>
            <a:ext cx="56867" cy="84598"/>
          </a:xfrm>
          <a:prstGeom prst="chevron">
            <a:avLst>
              <a:gd name="adj" fmla="val 64013"/>
            </a:avLst>
          </a:prstGeom>
          <a:solidFill>
            <a:srgbClr val="FFFFFF"/>
          </a:solidFill>
          <a:ln w="25400" cap="flat" cmpd="sng" algn="ctr">
            <a:noFill/>
            <a:prstDash val="solid"/>
          </a:ln>
          <a:effectLst/>
        </p:spPr>
        <p:txBody>
          <a:bodyPr lIns="0" tIns="0" rIns="0" bIns="0" rtlCol="0" anchor="ctr">
            <a:noAutofit/>
          </a:bodyPr>
          <a:p>
            <a:pPr algn="ctr"/>
            <a:endParaRPr lang="zh-CN" altLang="en-US" sz="900">
              <a:solidFill>
                <a:srgbClr val="FFFFFF"/>
              </a:solidFill>
              <a:latin typeface="Calibri" panose="020F0502020204030204" charset="0"/>
              <a:ea typeface="微软雅黑" panose="020B0503020204020204" charset="-122"/>
            </a:endParaRPr>
          </a:p>
        </p:txBody>
      </p:sp>
      <p:sp>
        <p:nvSpPr>
          <p:cNvPr id="153" name="矩形 152"/>
          <p:cNvSpPr/>
          <p:nvPr>
            <p:custDataLst>
              <p:tags r:id="rId28"/>
            </p:custDataLst>
          </p:nvPr>
        </p:nvSpPr>
        <p:spPr>
          <a:xfrm>
            <a:off x="8623877" y="3294045"/>
            <a:ext cx="2112696" cy="217778"/>
          </a:xfrm>
          <a:prstGeom prst="rect">
            <a:avLst/>
          </a:prstGeom>
          <a:noFill/>
        </p:spPr>
        <p:txBody>
          <a:bodyPr wrap="square" lIns="0" tIns="0" rIns="0" bIns="0" rtlCol="0" anchor="b">
            <a:noAutofit/>
          </a:bodyPr>
          <a:p>
            <a:pPr algn="l">
              <a:spcBef>
                <a:spcPct val="0"/>
              </a:spcBef>
              <a:spcAft>
                <a:spcPct val="0"/>
              </a:spcAft>
            </a:pPr>
            <a:r>
              <a:rPr lang="zh-CN" altLang="en-US" sz="900" dirty="0">
                <a:solidFill>
                  <a:srgbClr val="00C2C7"/>
                </a:solidFill>
                <a:latin typeface="黑体" panose="02010609060101010101" charset="-122"/>
                <a:ea typeface="黑体" panose="02010609060101010101" charset="-122"/>
                <a:cs typeface="黑体" panose="02010609060101010101" charset="-122"/>
                <a:sym typeface="微软雅黑" panose="020B0503020204020204" charset="-122"/>
              </a:rPr>
              <a:t>分类闭环处理机制</a:t>
            </a:r>
            <a:endParaRPr lang="zh-CN" altLang="en-US" sz="1200" b="1">
              <a:solidFill>
                <a:srgbClr val="00A2FF"/>
              </a:solidFill>
              <a:latin typeface="微软雅黑" panose="020B0503020204020204" charset="-122"/>
              <a:cs typeface="微软雅黑" panose="020B0503020204020204" charset="-122"/>
            </a:endParaRPr>
          </a:p>
        </p:txBody>
      </p:sp>
      <p:sp>
        <p:nvSpPr>
          <p:cNvPr id="154" name="矩形 153"/>
          <p:cNvSpPr/>
          <p:nvPr>
            <p:custDataLst>
              <p:tags r:id="rId29"/>
            </p:custDataLst>
          </p:nvPr>
        </p:nvSpPr>
        <p:spPr>
          <a:xfrm>
            <a:off x="8624194" y="3539441"/>
            <a:ext cx="2112062" cy="578412"/>
          </a:xfrm>
          <a:prstGeom prst="rect">
            <a:avLst/>
          </a:prstGeom>
          <a:noFill/>
        </p:spPr>
        <p:txBody>
          <a:bodyPr wrap="square" lIns="0" tIns="0" rIns="0" bIns="0" rtlCol="0" anchor="t" anchorCtr="0">
            <a:noAutofit/>
          </a:bodyPr>
          <a:p>
            <a:pPr algn="l">
              <a:lnSpc>
                <a:spcPct val="140000"/>
              </a:lnSpc>
            </a:pPr>
            <a:r>
              <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rPr>
              <a:t>·风险等级动态评估</a:t>
            </a:r>
            <a:endParaRPr lang="zh-CN" altLang="en-US" sz="850" dirty="0">
              <a:solidFill>
                <a:srgbClr val="D5D5D5">
                  <a:lumMod val="10000"/>
                </a:srgbClr>
              </a:solidFill>
              <a:effectLst/>
              <a:latin typeface="黑体" panose="02010609060101010101" charset="-122"/>
              <a:ea typeface="黑体" panose="02010609060101010101" charset="-122"/>
              <a:cs typeface="黑体" panose="02010609060101010101" charset="-122"/>
            </a:endParaRPr>
          </a:p>
          <a:p>
            <a:pPr algn="l">
              <a:lnSpc>
                <a:spcPct val="140000"/>
              </a:lnSpc>
            </a:pPr>
            <a:r>
              <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rPr>
              <a:t>·业务影响分析配合修复</a:t>
            </a:r>
            <a:endParaRPr lang="zh-CN" altLang="en-US" sz="850" dirty="0">
              <a:solidFill>
                <a:srgbClr val="D5D5D5">
                  <a:lumMod val="10000"/>
                </a:srgbClr>
              </a:solidFill>
              <a:effectLst/>
              <a:latin typeface="黑体" panose="02010609060101010101" charset="-122"/>
              <a:ea typeface="黑体" panose="02010609060101010101" charset="-122"/>
              <a:cs typeface="黑体" panose="02010609060101010101" charset="-122"/>
            </a:endParaRPr>
          </a:p>
          <a:p>
            <a:pPr algn="l">
              <a:lnSpc>
                <a:spcPct val="140000"/>
              </a:lnSpc>
            </a:pPr>
            <a:r>
              <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rPr>
              <a:t>·修复时间与业务节奏同步</a:t>
            </a:r>
            <a:endPar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endParaRPr>
          </a:p>
        </p:txBody>
      </p:sp>
      <p:sp>
        <p:nvSpPr>
          <p:cNvPr id="155" name="圆角矩形 19"/>
          <p:cNvSpPr/>
          <p:nvPr>
            <p:custDataLst>
              <p:tags r:id="rId30"/>
            </p:custDataLst>
          </p:nvPr>
        </p:nvSpPr>
        <p:spPr>
          <a:xfrm rot="5400000">
            <a:off x="8297528" y="3314045"/>
            <a:ext cx="217143" cy="219365"/>
          </a:xfrm>
          <a:prstGeom prst="roundRect">
            <a:avLst>
              <a:gd name="adj" fmla="val 0"/>
            </a:avLst>
          </a:prstGeom>
          <a:solidFill>
            <a:srgbClr val="00C2C7"/>
          </a:solidFill>
          <a:ln w="9525" cap="flat" cmpd="sng" algn="ctr">
            <a:noFill/>
            <a:prstDash val="solid"/>
          </a:ln>
          <a:effectLst>
            <a:outerShdw blurRad="203200" dist="76200" dir="8100000" algn="tr" rotWithShape="0">
              <a:srgbClr val="00A2FF">
                <a:lumMod val="75000"/>
                <a:alpha val="20000"/>
              </a:srgbClr>
            </a:outerShdw>
          </a:effectLst>
        </p:spPr>
        <p:txBody>
          <a:bodyPr vertOverflow="overflow" horzOverflow="overflow" vert="horz" wrap="square" lIns="0" tIns="0" rIns="0" bIns="0" numCol="1" spcCol="0" rtlCol="0" fromWordArt="0" anchor="ctr" anchorCtr="0" forceAA="0" compatLnSpc="1">
            <a:noAutofit/>
          </a:bodyPr>
          <a:p>
            <a:pPr algn="ctr"/>
            <a:endParaRPr lang="zh-CN" altLang="en-US" sz="1200" b="1" spc="300">
              <a:solidFill>
                <a:srgbClr val="FFFFFF">
                  <a:lumMod val="100000"/>
                </a:srgbClr>
              </a:solidFill>
              <a:latin typeface="微软雅黑" panose="020B0503020204020204" charset="-122"/>
              <a:ea typeface="微软雅黑" panose="020B0503020204020204" charset="-122"/>
            </a:endParaRPr>
          </a:p>
        </p:txBody>
      </p:sp>
      <p:sp>
        <p:nvSpPr>
          <p:cNvPr id="156" name="燕尾形 20"/>
          <p:cNvSpPr/>
          <p:nvPr>
            <p:custDataLst>
              <p:tags r:id="rId31"/>
            </p:custDataLst>
          </p:nvPr>
        </p:nvSpPr>
        <p:spPr>
          <a:xfrm>
            <a:off x="8377845" y="3381663"/>
            <a:ext cx="56826" cy="84444"/>
          </a:xfrm>
          <a:prstGeom prst="chevron">
            <a:avLst>
              <a:gd name="adj" fmla="val 64013"/>
            </a:avLst>
          </a:prstGeom>
          <a:solidFill>
            <a:srgbClr val="FFFFFF"/>
          </a:solidFill>
          <a:ln w="25400" cap="flat" cmpd="sng" algn="ctr">
            <a:noFill/>
            <a:prstDash val="solid"/>
          </a:ln>
          <a:effectLst/>
        </p:spPr>
        <p:txBody>
          <a:bodyPr lIns="0" tIns="0" rIns="0" bIns="0" rtlCol="0" anchor="ctr">
            <a:noAutofit/>
          </a:bodyPr>
          <a:p>
            <a:pPr algn="ctr"/>
            <a:endParaRPr lang="zh-CN" altLang="en-US" sz="900">
              <a:solidFill>
                <a:srgbClr val="FFFFFF"/>
              </a:solidFill>
              <a:latin typeface="Calibri" panose="020F0502020204030204" charset="0"/>
              <a:ea typeface="微软雅黑" panose="020B0503020204020204" charset="-122"/>
            </a:endParaRPr>
          </a:p>
        </p:txBody>
      </p:sp>
      <p:sp>
        <p:nvSpPr>
          <p:cNvPr id="157" name="矩形 156"/>
          <p:cNvSpPr/>
          <p:nvPr>
            <p:custDataLst>
              <p:tags r:id="rId32"/>
            </p:custDataLst>
          </p:nvPr>
        </p:nvSpPr>
        <p:spPr>
          <a:xfrm>
            <a:off x="5148580" y="4224020"/>
            <a:ext cx="2112645" cy="217805"/>
          </a:xfrm>
          <a:prstGeom prst="rect">
            <a:avLst/>
          </a:prstGeom>
          <a:noFill/>
        </p:spPr>
        <p:txBody>
          <a:bodyPr wrap="square" lIns="0" tIns="0" rIns="0" bIns="0" rtlCol="0" anchor="b">
            <a:noAutofit/>
          </a:bodyPr>
          <a:p>
            <a:pPr algn="l">
              <a:spcBef>
                <a:spcPct val="0"/>
              </a:spcBef>
              <a:spcAft>
                <a:spcPct val="0"/>
              </a:spcAft>
            </a:pPr>
            <a:r>
              <a:rPr sz="900" b="1" spc="10" dirty="0">
                <a:solidFill>
                  <a:srgbClr val="92D050">
                    <a:alpha val="100000"/>
                  </a:srgbClr>
                </a:solidFill>
                <a:latin typeface="黑体" panose="02010609060101010101" charset="-122"/>
                <a:ea typeface="黑体" panose="02010609060101010101" charset="-122"/>
                <a:cs typeface="黑体" panose="02010609060101010101" charset="-122"/>
                <a:sym typeface="微软雅黑" panose="020B0503020204020204" charset="-122"/>
              </a:rPr>
              <a:t>自动化检测与预警</a:t>
            </a:r>
            <a:endParaRPr lang="zh-CN" altLang="en-US" sz="900" b="1" spc="10" dirty="0">
              <a:solidFill>
                <a:srgbClr val="92D050">
                  <a:alpha val="100000"/>
                </a:srgbClr>
              </a:solidFill>
              <a:latin typeface="黑体" panose="02010609060101010101" charset="-122"/>
              <a:ea typeface="黑体" panose="02010609060101010101" charset="-122"/>
              <a:cs typeface="黑体" panose="02010609060101010101" charset="-122"/>
              <a:sym typeface="微软雅黑" panose="020B0503020204020204" charset="-122"/>
            </a:endParaRPr>
          </a:p>
        </p:txBody>
      </p:sp>
      <p:sp>
        <p:nvSpPr>
          <p:cNvPr id="159" name="矩形 158"/>
          <p:cNvSpPr/>
          <p:nvPr>
            <p:custDataLst>
              <p:tags r:id="rId33"/>
            </p:custDataLst>
          </p:nvPr>
        </p:nvSpPr>
        <p:spPr>
          <a:xfrm>
            <a:off x="5148880" y="4469599"/>
            <a:ext cx="2112062" cy="578412"/>
          </a:xfrm>
          <a:prstGeom prst="rect">
            <a:avLst/>
          </a:prstGeom>
          <a:noFill/>
        </p:spPr>
        <p:txBody>
          <a:bodyPr wrap="square" lIns="0" tIns="0" rIns="0" bIns="0" rtlCol="0" anchor="t" anchorCtr="0">
            <a:noAutofit/>
          </a:bodyPr>
          <a:p>
            <a:pPr algn="l" rtl="0">
              <a:lnSpc>
                <a:spcPct val="140000"/>
              </a:lnSpc>
              <a:spcBef>
                <a:spcPts val="0"/>
              </a:spcBef>
              <a:buClrTx/>
              <a:buSzTx/>
              <a:buFontTx/>
            </a:pPr>
            <a:r>
              <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rPr>
              <a:t>·漏洞扫描自动化周期执行</a:t>
            </a:r>
            <a:endParaRPr lang="zh-CN" altLang="en-US" sz="850" dirty="0">
              <a:solidFill>
                <a:srgbClr val="D5D5D5">
                  <a:lumMod val="10000"/>
                </a:srgbClr>
              </a:solidFill>
              <a:effectLst/>
              <a:latin typeface="黑体" panose="02010609060101010101" charset="-122"/>
              <a:ea typeface="黑体" panose="02010609060101010101" charset="-122"/>
              <a:cs typeface="黑体" panose="02010609060101010101" charset="-122"/>
            </a:endParaRPr>
          </a:p>
          <a:p>
            <a:pPr algn="l" rtl="0">
              <a:lnSpc>
                <a:spcPct val="140000"/>
              </a:lnSpc>
              <a:spcBef>
                <a:spcPts val="0"/>
              </a:spcBef>
              <a:buClrTx/>
              <a:buSzTx/>
              <a:buFontTx/>
            </a:pPr>
            <a:r>
              <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rPr>
              <a:t>·威胁情报实时推送预警</a:t>
            </a:r>
            <a:endParaRPr lang="zh-CN" altLang="en-US" sz="850" dirty="0">
              <a:solidFill>
                <a:srgbClr val="D5D5D5">
                  <a:lumMod val="10000"/>
                </a:srgbClr>
              </a:solidFill>
              <a:effectLst/>
              <a:latin typeface="黑体" panose="02010609060101010101" charset="-122"/>
              <a:ea typeface="黑体" panose="02010609060101010101" charset="-122"/>
              <a:cs typeface="黑体" panose="02010609060101010101" charset="-122"/>
            </a:endParaRPr>
          </a:p>
          <a:p>
            <a:pPr algn="l" rtl="0">
              <a:lnSpc>
                <a:spcPct val="140000"/>
              </a:lnSpc>
              <a:spcBef>
                <a:spcPts val="0"/>
              </a:spcBef>
              <a:buClrTx/>
              <a:buSzTx/>
              <a:buFontTx/>
            </a:pPr>
            <a:r>
              <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rPr>
              <a:t>·最新漏洞影响风险及时排查</a:t>
            </a:r>
            <a:endPar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endParaRPr>
          </a:p>
        </p:txBody>
      </p:sp>
      <p:sp>
        <p:nvSpPr>
          <p:cNvPr id="160" name="圆角矩形 19"/>
          <p:cNvSpPr/>
          <p:nvPr>
            <p:custDataLst>
              <p:tags r:id="rId34"/>
            </p:custDataLst>
          </p:nvPr>
        </p:nvSpPr>
        <p:spPr>
          <a:xfrm rot="5400000">
            <a:off x="4822531" y="4244202"/>
            <a:ext cx="217143" cy="219365"/>
          </a:xfrm>
          <a:prstGeom prst="roundRect">
            <a:avLst>
              <a:gd name="adj" fmla="val 0"/>
            </a:avLst>
          </a:prstGeom>
          <a:solidFill>
            <a:srgbClr val="92D050"/>
          </a:solidFill>
          <a:ln w="9525" cap="flat" cmpd="sng" algn="ctr">
            <a:noFill/>
            <a:prstDash val="solid"/>
          </a:ln>
          <a:effectLst>
            <a:outerShdw blurRad="203200" dist="76200" dir="8100000" algn="tr" rotWithShape="0">
              <a:srgbClr val="16E7CF">
                <a:lumMod val="75000"/>
                <a:alpha val="20000"/>
              </a:srgbClr>
            </a:outerShdw>
          </a:effectLst>
        </p:spPr>
        <p:txBody>
          <a:bodyPr vertOverflow="overflow" horzOverflow="overflow" vert="horz" wrap="square" lIns="0" tIns="0" rIns="0" bIns="0" numCol="1" spcCol="0" rtlCol="0" fromWordArt="0" anchor="ctr" anchorCtr="0" forceAA="0" compatLnSpc="1">
            <a:noAutofit/>
          </a:bodyPr>
          <a:p>
            <a:pPr algn="ctr"/>
            <a:endParaRPr lang="zh-CN" altLang="en-US" sz="1200" b="1" spc="300">
              <a:solidFill>
                <a:srgbClr val="FFFFFF">
                  <a:lumMod val="100000"/>
                </a:srgbClr>
              </a:solidFill>
              <a:latin typeface="微软雅黑" panose="020B0503020204020204" charset="-122"/>
              <a:ea typeface="微软雅黑" panose="020B0503020204020204" charset="-122"/>
            </a:endParaRPr>
          </a:p>
        </p:txBody>
      </p:sp>
      <p:sp>
        <p:nvSpPr>
          <p:cNvPr id="161" name="燕尾形 20"/>
          <p:cNvSpPr/>
          <p:nvPr>
            <p:custDataLst>
              <p:tags r:id="rId35"/>
            </p:custDataLst>
          </p:nvPr>
        </p:nvSpPr>
        <p:spPr>
          <a:xfrm>
            <a:off x="4902531" y="4311821"/>
            <a:ext cx="56826" cy="84444"/>
          </a:xfrm>
          <a:prstGeom prst="chevron">
            <a:avLst>
              <a:gd name="adj" fmla="val 64013"/>
            </a:avLst>
          </a:prstGeom>
          <a:solidFill>
            <a:srgbClr val="FFFFFF"/>
          </a:solidFill>
          <a:ln w="25400" cap="flat" cmpd="sng" algn="ctr">
            <a:noFill/>
            <a:prstDash val="solid"/>
          </a:ln>
          <a:effectLst/>
        </p:spPr>
        <p:txBody>
          <a:bodyPr lIns="0" tIns="0" rIns="0" bIns="0" rtlCol="0" anchor="ctr">
            <a:noAutofit/>
          </a:bodyPr>
          <a:p>
            <a:pPr algn="ctr"/>
            <a:endParaRPr lang="zh-CN" altLang="en-US" sz="900">
              <a:solidFill>
                <a:srgbClr val="FFFFFF"/>
              </a:solidFill>
              <a:latin typeface="Calibri" panose="020F0502020204030204" charset="0"/>
              <a:ea typeface="微软雅黑" panose="020B0503020204020204" charset="-122"/>
            </a:endParaRPr>
          </a:p>
        </p:txBody>
      </p:sp>
      <p:sp>
        <p:nvSpPr>
          <p:cNvPr id="162" name="矩形 161"/>
          <p:cNvSpPr/>
          <p:nvPr>
            <p:custDataLst>
              <p:tags r:id="rId36"/>
            </p:custDataLst>
          </p:nvPr>
        </p:nvSpPr>
        <p:spPr>
          <a:xfrm>
            <a:off x="8623935" y="4224338"/>
            <a:ext cx="2112645" cy="217805"/>
          </a:xfrm>
          <a:prstGeom prst="rect">
            <a:avLst/>
          </a:prstGeom>
          <a:noFill/>
        </p:spPr>
        <p:txBody>
          <a:bodyPr wrap="square" lIns="0" tIns="0" rIns="0" bIns="0" rtlCol="0" anchor="b">
            <a:noAutofit/>
          </a:bodyPr>
          <a:p>
            <a:pPr lvl="0" algn="l"/>
            <a:r>
              <a:rPr sz="900" b="1" spc="10" dirty="0">
                <a:solidFill>
                  <a:srgbClr val="00B050">
                    <a:alpha val="100000"/>
                  </a:srgbClr>
                </a:solidFill>
                <a:latin typeface="黑体" panose="02010609060101010101" charset="-122"/>
                <a:ea typeface="黑体" panose="02010609060101010101" charset="-122"/>
                <a:cs typeface="黑体" panose="02010609060101010101" charset="-122"/>
                <a:sym typeface="微软雅黑" panose="020B0503020204020204" charset="-122"/>
              </a:rPr>
              <a:t>虚拟补丁快速防护</a:t>
            </a:r>
            <a:endParaRPr sz="900" b="1" spc="10" dirty="0">
              <a:solidFill>
                <a:srgbClr val="00B050">
                  <a:alpha val="100000"/>
                </a:srgbClr>
              </a:solidFill>
              <a:latin typeface="黑体" panose="02010609060101010101" charset="-122"/>
              <a:ea typeface="黑体" panose="02010609060101010101" charset="-122"/>
              <a:cs typeface="黑体" panose="02010609060101010101" charset="-122"/>
              <a:sym typeface="微软雅黑" panose="020B0503020204020204" charset="-122"/>
            </a:endParaRPr>
          </a:p>
        </p:txBody>
      </p:sp>
      <p:sp>
        <p:nvSpPr>
          <p:cNvPr id="163" name="矩形 162"/>
          <p:cNvSpPr/>
          <p:nvPr>
            <p:custDataLst>
              <p:tags r:id="rId37"/>
            </p:custDataLst>
          </p:nvPr>
        </p:nvSpPr>
        <p:spPr>
          <a:xfrm>
            <a:off x="8624194" y="4421504"/>
            <a:ext cx="2112062" cy="578412"/>
          </a:xfrm>
          <a:prstGeom prst="rect">
            <a:avLst/>
          </a:prstGeom>
          <a:noFill/>
        </p:spPr>
        <p:txBody>
          <a:bodyPr wrap="square" lIns="0" tIns="0" rIns="0" bIns="0" rtlCol="0" anchor="t" anchorCtr="0">
            <a:noAutofit/>
          </a:bodyPr>
          <a:p>
            <a:pPr lvl="0" algn="l">
              <a:lnSpc>
                <a:spcPct val="140000"/>
              </a:lnSpc>
            </a:pPr>
            <a:r>
              <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rPr>
              <a:t>·边界设备策略优先防护</a:t>
            </a:r>
            <a:endPar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endParaRPr>
          </a:p>
          <a:p>
            <a:pPr lvl="0" algn="l">
              <a:lnSpc>
                <a:spcPct val="140000"/>
              </a:lnSpc>
            </a:pPr>
            <a:r>
              <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rPr>
              <a:t>·WAF  规则动态更新</a:t>
            </a:r>
            <a:endPar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endParaRPr>
          </a:p>
          <a:p>
            <a:pPr lvl="0" algn="l">
              <a:lnSpc>
                <a:spcPct val="140000"/>
              </a:lnSpc>
            </a:pPr>
            <a:r>
              <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rPr>
              <a:t>·EDR  轻量级主机防护</a:t>
            </a:r>
            <a:endPar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endParaRPr>
          </a:p>
        </p:txBody>
      </p:sp>
      <p:sp>
        <p:nvSpPr>
          <p:cNvPr id="164" name="圆角矩形 19"/>
          <p:cNvSpPr/>
          <p:nvPr>
            <p:custDataLst>
              <p:tags r:id="rId38"/>
            </p:custDataLst>
          </p:nvPr>
        </p:nvSpPr>
        <p:spPr>
          <a:xfrm rot="5400000">
            <a:off x="8297846" y="4230234"/>
            <a:ext cx="217143" cy="219365"/>
          </a:xfrm>
          <a:prstGeom prst="roundRect">
            <a:avLst>
              <a:gd name="adj" fmla="val 0"/>
            </a:avLst>
          </a:prstGeom>
          <a:solidFill>
            <a:srgbClr val="00B050"/>
          </a:solidFill>
          <a:ln w="9525" cap="flat" cmpd="sng" algn="ctr">
            <a:noFill/>
            <a:prstDash val="solid"/>
          </a:ln>
          <a:effectLst>
            <a:outerShdw blurRad="203200" dist="76200" dir="8100000" algn="tr" rotWithShape="0">
              <a:srgbClr val="16E7CF">
                <a:lumMod val="75000"/>
                <a:alpha val="20000"/>
              </a:srgbClr>
            </a:outerShdw>
          </a:effectLst>
        </p:spPr>
        <p:txBody>
          <a:bodyPr vertOverflow="overflow" horzOverflow="overflow" vert="horz" wrap="square" lIns="0" tIns="0" rIns="0" bIns="0" numCol="1" spcCol="0" rtlCol="0" fromWordArt="0" anchor="ctr" anchorCtr="0" forceAA="0" compatLnSpc="1">
            <a:noAutofit/>
          </a:bodyPr>
          <a:p>
            <a:pPr algn="ctr"/>
            <a:r>
              <a:rPr lang="en-US" altLang="zh-CN" sz="1200" b="1" spc="300">
                <a:solidFill>
                  <a:srgbClr val="00B050"/>
                </a:solidFill>
                <a:latin typeface="微软雅黑" panose="020B0503020204020204" charset="-122"/>
                <a:ea typeface="微软雅黑" panose="020B0503020204020204" charset="-122"/>
              </a:rPr>
              <a:t> </a:t>
            </a:r>
            <a:endParaRPr lang="en-US" altLang="zh-CN" sz="1200" b="1" spc="300">
              <a:solidFill>
                <a:srgbClr val="00B050"/>
              </a:solidFill>
              <a:latin typeface="微软雅黑" panose="020B0503020204020204" charset="-122"/>
              <a:ea typeface="微软雅黑" panose="020B0503020204020204" charset="-122"/>
            </a:endParaRPr>
          </a:p>
        </p:txBody>
      </p:sp>
      <p:sp>
        <p:nvSpPr>
          <p:cNvPr id="165" name="燕尾形 20"/>
          <p:cNvSpPr/>
          <p:nvPr>
            <p:custDataLst>
              <p:tags r:id="rId39"/>
            </p:custDataLst>
          </p:nvPr>
        </p:nvSpPr>
        <p:spPr>
          <a:xfrm>
            <a:off x="8377845" y="4297853"/>
            <a:ext cx="56826" cy="84444"/>
          </a:xfrm>
          <a:prstGeom prst="chevron">
            <a:avLst>
              <a:gd name="adj" fmla="val 64013"/>
            </a:avLst>
          </a:prstGeom>
          <a:solidFill>
            <a:srgbClr val="FFFFFF"/>
          </a:solidFill>
          <a:ln w="25400" cap="flat" cmpd="sng" algn="ctr">
            <a:noFill/>
            <a:prstDash val="solid"/>
          </a:ln>
          <a:effectLst/>
        </p:spPr>
        <p:txBody>
          <a:bodyPr lIns="0" tIns="0" rIns="0" bIns="0" rtlCol="0" anchor="ctr">
            <a:noAutofit/>
          </a:bodyPr>
          <a:p>
            <a:pPr algn="ctr"/>
            <a:endParaRPr lang="zh-CN" altLang="en-US" sz="900">
              <a:solidFill>
                <a:srgbClr val="FFFFFF"/>
              </a:solidFill>
              <a:latin typeface="Calibri" panose="020F0502020204030204" charset="0"/>
              <a:ea typeface="微软雅黑" panose="020B0503020204020204" charset="-122"/>
            </a:endParaRPr>
          </a:p>
        </p:txBody>
      </p:sp>
      <p:pic>
        <p:nvPicPr>
          <p:cNvPr id="166" name="图片 165" descr="螺丝刀"/>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4508818" y="3013660"/>
            <a:ext cx="216000" cy="216000"/>
          </a:xfrm>
          <a:prstGeom prst="rect">
            <a:avLst/>
          </a:prstGeom>
        </p:spPr>
      </p:pic>
      <p:sp>
        <p:nvSpPr>
          <p:cNvPr id="168" name="文本框 167"/>
          <p:cNvSpPr txBox="1"/>
          <p:nvPr/>
        </p:nvSpPr>
        <p:spPr>
          <a:xfrm>
            <a:off x="4821238" y="2977515"/>
            <a:ext cx="1900555" cy="288290"/>
          </a:xfrm>
          <a:prstGeom prst="rect">
            <a:avLst/>
          </a:prstGeom>
          <a:noFill/>
        </p:spPr>
        <p:txBody>
          <a:bodyPr wrap="square" rtlCol="0" anchor="ctr" anchorCtr="0">
            <a:noAutofit/>
          </a:bodyPr>
          <a:p>
            <a:pPr marL="12700" algn="l" rtl="0" eaLnBrk="0">
              <a:lnSpc>
                <a:spcPct val="95000"/>
              </a:lnSpc>
            </a:pPr>
            <a:r>
              <a:rPr lang="zh-CN" sz="900" b="1" kern="0" spc="230" dirty="0">
                <a:solidFill>
                  <a:srgbClr val="000000">
                    <a:alpha val="100000"/>
                  </a:srgbClr>
                </a:solidFill>
                <a:latin typeface="黑体" panose="02010609060101010101" charset="-122"/>
                <a:ea typeface="黑体" panose="02010609060101010101" charset="-122"/>
                <a:cs typeface="黑体" panose="02010609060101010101" charset="-122"/>
                <a:sym typeface="+mn-ea"/>
              </a:rPr>
              <a:t>推荐</a:t>
            </a:r>
            <a:r>
              <a:rPr lang="zh-CN" sz="900" b="1" kern="0" spc="230" dirty="0">
                <a:solidFill>
                  <a:srgbClr val="000000">
                    <a:alpha val="100000"/>
                  </a:srgbClr>
                </a:solidFill>
                <a:latin typeface="黑体" panose="02010609060101010101" charset="-122"/>
                <a:ea typeface="黑体" panose="02010609060101010101" charset="-122"/>
                <a:cs typeface="黑体" panose="02010609060101010101" charset="-122"/>
                <a:sym typeface="+mn-ea"/>
              </a:rPr>
              <a:t>的系统性闭环方案</a:t>
            </a:r>
            <a:endParaRPr lang="zh-CN" sz="900" b="1" kern="0" spc="23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3" name="图片 2" descr="APP漏扫"/>
          <p:cNvPicPr>
            <a:picLocks noChangeAspect="1"/>
          </p:cNvPicPr>
          <p:nvPr/>
        </p:nvPicPr>
        <p:blipFill>
          <a:blip r:embed="rId42">
            <a:extLst>
              <a:ext uri="{96DAC541-7B7A-43D3-8B79-37D633B846F1}">
                <asvg:svgBlip xmlns:asvg="http://schemas.microsoft.com/office/drawing/2016/SVG/main" r:embed="rId43"/>
              </a:ext>
            </a:extLst>
          </a:blip>
          <a:stretch>
            <a:fillRect/>
          </a:stretch>
        </p:blipFill>
        <p:spPr>
          <a:xfrm>
            <a:off x="4821238" y="1270318"/>
            <a:ext cx="360000" cy="360000"/>
          </a:xfrm>
          <a:prstGeom prst="rect">
            <a:avLst/>
          </a:prstGeom>
        </p:spPr>
      </p:pic>
      <p:sp>
        <p:nvSpPr>
          <p:cNvPr id="58" name="文本框 57"/>
          <p:cNvSpPr txBox="1"/>
          <p:nvPr/>
        </p:nvSpPr>
        <p:spPr>
          <a:xfrm>
            <a:off x="647700" y="3895090"/>
            <a:ext cx="1506220" cy="2222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algn="l" rtl="0" eaLnBrk="0">
              <a:lnSpc>
                <a:spcPct val="80000"/>
              </a:lnSpc>
            </a:pPr>
            <a:r>
              <a:rPr lang="zh-CN" sz="1400" b="1"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漏洞类型分布</a:t>
            </a:r>
            <a:endParaRPr kumimoji="0" lang="zh-CN" altLang="en-US" sz="1400" b="1" i="0" u="none" strike="noStrike" cap="none" spc="-60" normalizeH="0" baseline="0" dirty="0">
              <a:ln>
                <a:noFill/>
              </a:ln>
              <a:solidFill>
                <a:srgbClr val="204090">
                  <a:alpha val="100000"/>
                </a:srgbClr>
              </a:solidFill>
              <a:effectLst/>
              <a:uFillTx/>
              <a:latin typeface="黑体" panose="02010609060101010101" charset="-122"/>
              <a:ea typeface="黑体" panose="02010609060101010101" charset="-122"/>
              <a:cs typeface="黑体" panose="02010609060101010101" charset="-122"/>
              <a:sym typeface="+mn-ea"/>
            </a:endParaRPr>
          </a:p>
        </p:txBody>
      </p:sp>
      <p:graphicFrame>
        <p:nvGraphicFramePr>
          <p:cNvPr id="5" name="图表 4" descr="7b0a202020202263686172745265734964223a20223230323931393734220a7d0a"/>
          <p:cNvGraphicFramePr/>
          <p:nvPr/>
        </p:nvGraphicFramePr>
        <p:xfrm>
          <a:off x="647700" y="4129723"/>
          <a:ext cx="3010535" cy="1836420"/>
        </p:xfrm>
        <a:graphic>
          <a:graphicData uri="http://schemas.openxmlformats.org/drawingml/2006/chart">
            <c:chart xmlns:c="http://schemas.openxmlformats.org/drawingml/2006/chart" xmlns:r="http://schemas.openxmlformats.org/officeDocument/2006/relationships" r:id="rId1"/>
          </a:graphicData>
        </a:graphic>
      </p:graphicFrame>
      <p:pic>
        <p:nvPicPr>
          <p:cNvPr id="6" name="图片 5" descr="项目风险"/>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6836410" y="1270318"/>
            <a:ext cx="360000" cy="360000"/>
          </a:xfrm>
          <a:prstGeom prst="rect">
            <a:avLst/>
          </a:prstGeom>
        </p:spPr>
      </p:pic>
      <p:pic>
        <p:nvPicPr>
          <p:cNvPr id="7" name="图片 6" descr="项目风险"/>
          <p:cNvPicPr>
            <a:picLocks noChangeAspect="1"/>
          </p:cNvPicPr>
          <p:nvPr/>
        </p:nvPicPr>
        <p:blipFill>
          <a:blip r:embed="rId46">
            <a:extLst>
              <a:ext uri="{96DAC541-7B7A-43D3-8B79-37D633B846F1}">
                <asvg:svgBlip xmlns:asvg="http://schemas.microsoft.com/office/drawing/2016/SVG/main" r:embed="rId47"/>
              </a:ext>
            </a:extLst>
          </a:blip>
          <a:stretch>
            <a:fillRect/>
          </a:stretch>
        </p:blipFill>
        <p:spPr>
          <a:xfrm>
            <a:off x="8851265" y="1270318"/>
            <a:ext cx="360000" cy="360000"/>
          </a:xfrm>
          <a:prstGeom prst="rect">
            <a:avLst/>
          </a:prstGeom>
        </p:spPr>
      </p:pic>
      <p:pic>
        <p:nvPicPr>
          <p:cNvPr id="8" name="图片 7" descr="已办事项"/>
          <p:cNvPicPr>
            <a:picLocks noChangeAspect="1"/>
          </p:cNvPicPr>
          <p:nvPr/>
        </p:nvPicPr>
        <p:blipFill>
          <a:blip r:embed="rId48">
            <a:extLst>
              <a:ext uri="{96DAC541-7B7A-43D3-8B79-37D633B846F1}">
                <asvg:svgBlip xmlns:asvg="http://schemas.microsoft.com/office/drawing/2016/SVG/main" r:embed="rId49"/>
              </a:ext>
            </a:extLst>
          </a:blip>
          <a:stretch>
            <a:fillRect/>
          </a:stretch>
        </p:blipFill>
        <p:spPr>
          <a:xfrm>
            <a:off x="10867073" y="1270318"/>
            <a:ext cx="360000" cy="360000"/>
          </a:xfrm>
          <a:prstGeom prst="rect">
            <a:avLst/>
          </a:prstGeom>
        </p:spPr>
      </p:pic>
      <p:pic>
        <p:nvPicPr>
          <p:cNvPr id="2" name="图片 1" descr="深信服 + 智安全"/>
          <p:cNvPicPr>
            <a:picLocks noChangeAspect="1"/>
          </p:cNvPicPr>
          <p:nvPr/>
        </p:nvPicPr>
        <p:blipFill>
          <a:blip r:embed="rId50"/>
          <a:srcRect l="5232" t="26576" r="4938" b="29565"/>
          <a:stretch>
            <a:fillRect/>
          </a:stretch>
        </p:blipFill>
        <p:spPr>
          <a:xfrm>
            <a:off x="10017125" y="238760"/>
            <a:ext cx="1629867" cy="360000"/>
          </a:xfrm>
          <a:prstGeom prst="rect">
            <a:avLst/>
          </a:prstGeom>
        </p:spPr>
      </p:pic>
      <p:sp>
        <p:nvSpPr>
          <p:cNvPr id="11" name="文本框 10"/>
          <p:cNvSpPr txBox="1"/>
          <p:nvPr/>
        </p:nvSpPr>
        <p:spPr>
          <a:xfrm>
            <a:off x="190500" y="4311650"/>
            <a:ext cx="1323975" cy="368300"/>
          </a:xfrm>
          <a:prstGeom prst="rect">
            <a:avLst/>
          </a:prstGeom>
          <a:noFill/>
        </p:spPr>
        <p:txBody>
          <a:bodyPr wrap="square" rtlCol="0" anchor="t">
            <a:spAutoFit/>
          </a:bodyPr>
          <a:p>
            <a:r>
              <a:rPr lang="zh-CN" altLang="en-US"/>
              <a:t>{{</a:t>
            </a:r>
            <a:r>
              <a:rPr lang="en-US" altLang="zh-CN"/>
              <a:t>P14_pie</a:t>
            </a:r>
            <a:r>
              <a:rPr lang="zh-CN" altLang="en-US"/>
              <a:t>}}</a:t>
            </a:r>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textbox 244"/>
          <p:cNvSpPr/>
          <p:nvPr/>
        </p:nvSpPr>
        <p:spPr>
          <a:xfrm>
            <a:off x="7811770" y="1202055"/>
            <a:ext cx="3747135" cy="287020"/>
          </a:xfrm>
          <a:prstGeom prst="rect">
            <a:avLst/>
          </a:prstGeom>
          <a:noFill/>
          <a:ln w="0" cap="flat">
            <a:noFill/>
            <a:prstDash val="solid"/>
            <a:miter lim="0"/>
          </a:ln>
        </p:spPr>
        <p:txBody>
          <a:bodyPr vert="horz" wrap="square" lIns="0" tIns="0" rIns="0" bIns="0"/>
          <a:p>
            <a:pPr algn="l" rtl="0" eaLnBrk="0">
              <a:lnSpc>
                <a:spcPct val="83000"/>
              </a:lnSpc>
            </a:pPr>
            <a:endParaRPr sz="100" dirty="0">
              <a:latin typeface="Arial" panose="020B0604020202020204"/>
              <a:ea typeface="Arial" panose="020B0604020202020204"/>
              <a:cs typeface="Arial" panose="020B0604020202020204"/>
            </a:endParaRPr>
          </a:p>
          <a:p>
            <a:pPr marL="28575" algn="l" rtl="0" eaLnBrk="0">
              <a:lnSpc>
                <a:spcPct val="98000"/>
              </a:lnSpc>
            </a:pPr>
            <a:r>
              <a:rPr lang="en-US" altLang="zh-CN" sz="1200" b="1" kern="0" spc="30" dirty="0">
                <a:solidFill>
                  <a:srgbClr val="204080">
                    <a:alpha val="100000"/>
                  </a:srgbClr>
                </a:solidFill>
                <a:latin typeface="黑体" panose="02010609060101010101" charset="-122"/>
                <a:ea typeface="黑体" panose="02010609060101010101" charset="-122"/>
                <a:cs typeface="黑体" panose="02010609060101010101" charset="-122"/>
              </a:rPr>
              <a:t>威胁运营总结</a:t>
            </a:r>
            <a:endParaRPr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46" name="textbox 246"/>
          <p:cNvSpPr/>
          <p:nvPr/>
        </p:nvSpPr>
        <p:spPr>
          <a:xfrm>
            <a:off x="647700" y="1202055"/>
            <a:ext cx="3003550" cy="2772410"/>
          </a:xfrm>
          <a:prstGeom prst="rect">
            <a:avLst/>
          </a:prstGeom>
          <a:solidFill>
            <a:srgbClr val="F1F6FF">
              <a:alpha val="100000"/>
            </a:srgbClr>
          </a:solidFill>
          <a:ln w="0" cap="flat">
            <a:noFill/>
            <a:prstDash val="solid"/>
            <a:miter lim="0"/>
          </a:ln>
        </p:spPr>
        <p:txBody>
          <a:bodyPr vert="horz" wrap="square" lIns="0" tIns="0" rIns="0" bIns="0"/>
          <a:p>
            <a:pPr algn="l" rtl="0" eaLnBrk="0">
              <a:lnSpc>
                <a:spcPct val="130000"/>
              </a:lnSpc>
            </a:pPr>
            <a:endParaRPr sz="700" dirty="0">
              <a:latin typeface="黑体" panose="02010609060101010101" charset="-122"/>
              <a:ea typeface="黑体" panose="02010609060101010101" charset="-122"/>
              <a:cs typeface="黑体" panose="02010609060101010101" charset="-122"/>
            </a:endParaRPr>
          </a:p>
        </p:txBody>
      </p:sp>
      <p:sp>
        <p:nvSpPr>
          <p:cNvPr id="158" name="textbox 158"/>
          <p:cNvSpPr/>
          <p:nvPr/>
        </p:nvSpPr>
        <p:spPr>
          <a:xfrm>
            <a:off x="647700" y="360045"/>
            <a:ext cx="4261485" cy="600075"/>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a:ea typeface="Arial" panose="020B0604020202020204"/>
              <a:cs typeface="Arial" panose="020B0604020202020204"/>
            </a:endParaRPr>
          </a:p>
          <a:p>
            <a:pPr marL="15875" algn="l" rtl="0" eaLnBrk="0">
              <a:lnSpc>
                <a:spcPct val="98000"/>
              </a:lnSpc>
            </a:pPr>
            <a:r>
              <a:rPr lang="zh-CN" altLang="en-US" sz="1900" kern="0" dirty="0">
                <a:solidFill>
                  <a:srgbClr val="4C61E7"/>
                </a:solidFill>
                <a:latin typeface="黑体" panose="02010609060101010101" charset="-122"/>
                <a:ea typeface="黑体" panose="02010609060101010101" charset="-122"/>
                <a:cs typeface="黑体" panose="02010609060101010101" charset="-122"/>
              </a:rPr>
              <a:t>威胁</a:t>
            </a:r>
            <a:r>
              <a:rPr lang="zh-CN" altLang="en-US" sz="1900" kern="0" dirty="0">
                <a:solidFill>
                  <a:srgbClr val="4C61E7"/>
                </a:solidFill>
                <a:latin typeface="黑体" panose="02010609060101010101" charset="-122"/>
                <a:ea typeface="黑体" panose="02010609060101010101" charset="-122"/>
                <a:cs typeface="黑体" panose="02010609060101010101" charset="-122"/>
              </a:rPr>
              <a:t>运营成效</a:t>
            </a:r>
            <a:endParaRPr lang="zh-CN" altLang="en-US" sz="1900" dirty="0">
              <a:solidFill>
                <a:srgbClr val="4C61E7"/>
              </a:solidFill>
              <a:latin typeface="黑体" panose="02010609060101010101" charset="-122"/>
              <a:ea typeface="黑体" panose="02010609060101010101" charset="-122"/>
              <a:cs typeface="黑体" panose="02010609060101010101" charset="-122"/>
            </a:endParaRPr>
          </a:p>
          <a:p>
            <a:pPr algn="l" rtl="0" eaLnBrk="0">
              <a:lnSpc>
                <a:spcPct val="101000"/>
              </a:lnSpc>
            </a:pPr>
            <a:endParaRPr sz="800" dirty="0">
              <a:latin typeface="Arial" panose="020B0604020202020204"/>
              <a:ea typeface="Arial" panose="020B0604020202020204"/>
              <a:cs typeface="Arial" panose="020B0604020202020204"/>
            </a:endParaRPr>
          </a:p>
          <a:p>
            <a:pPr marL="12700" algn="l" rtl="0" eaLnBrk="0">
              <a:lnSpc>
                <a:spcPct val="92000"/>
              </a:lnSpc>
              <a:spcBef>
                <a:spcPts val="5"/>
              </a:spcBef>
            </a:pPr>
            <a:r>
              <a:rPr lang="zh-CN" altLang="en-US" sz="1000" kern="0" spc="40" dirty="0">
                <a:solidFill>
                  <a:srgbClr val="000000">
                    <a:alpha val="100000"/>
                  </a:srgbClr>
                </a:solidFill>
                <a:latin typeface="黑体" panose="02010609060101010101" charset="-122"/>
                <a:ea typeface="黑体" panose="02010609060101010101" charset="-122"/>
                <a:cs typeface="黑体" panose="02010609060101010101" charset="-122"/>
              </a:rPr>
              <a:t>全方位防护体系，有效阻断网络攻击，保障业务安全</a:t>
            </a:r>
            <a:endParaRPr lang="zh-CN" altLang="en-US" sz="1000" kern="0" spc="40" dirty="0">
              <a:solidFill>
                <a:srgbClr val="000000">
                  <a:alpha val="100000"/>
                </a:srgbClr>
              </a:solidFill>
              <a:latin typeface="黑体" panose="02010609060101010101" charset="-122"/>
              <a:ea typeface="黑体" panose="02010609060101010101" charset="-122"/>
              <a:cs typeface="黑体" panose="02010609060101010101" charset="-122"/>
            </a:endParaRPr>
          </a:p>
        </p:txBody>
      </p:sp>
      <p:grpSp>
        <p:nvGrpSpPr>
          <p:cNvPr id="2" name="组合 1"/>
          <p:cNvGrpSpPr/>
          <p:nvPr/>
        </p:nvGrpSpPr>
        <p:grpSpPr>
          <a:xfrm>
            <a:off x="648335" y="4287520"/>
            <a:ext cx="10918825" cy="1179024"/>
            <a:chOff x="2042" y="13744"/>
            <a:chExt cx="34390" cy="3714"/>
          </a:xfrm>
        </p:grpSpPr>
        <p:sp>
          <p:nvSpPr>
            <p:cNvPr id="12" name="Shape 1"/>
            <p:cNvSpPr/>
            <p:nvPr/>
          </p:nvSpPr>
          <p:spPr>
            <a:xfrm>
              <a:off x="2042" y="13744"/>
              <a:ext cx="34390" cy="3714"/>
            </a:xfrm>
            <a:prstGeom prst="roundRect">
              <a:avLst>
                <a:gd name="adj" fmla="val 6757"/>
              </a:avLst>
            </a:prstGeom>
            <a:noFill/>
            <a:ln w="12700">
              <a:solidFill>
                <a:srgbClr val="CCE1F5"/>
              </a:solidFill>
              <a:prstDash val="solid"/>
            </a:ln>
          </p:spPr>
        </p:sp>
        <p:graphicFrame>
          <p:nvGraphicFramePr>
            <p:cNvPr id="29" name="图表 28"/>
            <p:cNvGraphicFramePr/>
            <p:nvPr/>
          </p:nvGraphicFramePr>
          <p:xfrm>
            <a:off x="2318" y="13879"/>
            <a:ext cx="33839" cy="3398"/>
          </p:xfrm>
          <a:graphic>
            <a:graphicData uri="http://schemas.openxmlformats.org/drawingml/2006/chart">
              <c:chart xmlns:c="http://schemas.openxmlformats.org/drawingml/2006/chart" xmlns:r="http://schemas.openxmlformats.org/officeDocument/2006/relationships" r:id="rId1"/>
            </a:graphicData>
          </a:graphic>
        </p:graphicFrame>
      </p:grpSp>
      <p:sp>
        <p:nvSpPr>
          <p:cNvPr id="4" name="文本框 3"/>
          <p:cNvSpPr txBox="1"/>
          <p:nvPr/>
        </p:nvSpPr>
        <p:spPr>
          <a:xfrm>
            <a:off x="575945" y="4050983"/>
            <a:ext cx="1140778" cy="235903"/>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威胁分布</a:t>
            </a:r>
            <a:r>
              <a:rPr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趋势</a:t>
            </a:r>
            <a:endParaRPr lang="zh-CN" altLang="en-US"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79" name="文本框 78"/>
          <p:cNvSpPr txBox="1"/>
          <p:nvPr/>
        </p:nvSpPr>
        <p:spPr>
          <a:xfrm>
            <a:off x="735965" y="1253490"/>
            <a:ext cx="2299970" cy="269875"/>
          </a:xfrm>
          <a:prstGeom prst="rect">
            <a:avLst/>
          </a:prstGeom>
          <a:noFill/>
        </p:spPr>
        <p:txBody>
          <a:bodyPr wrap="square" rtlCol="0" anchor="ctr" anchorCtr="0">
            <a:noAutofit/>
          </a:bodyPr>
          <a:p>
            <a:pPr marL="28575" algn="l" rtl="0" eaLnBrk="0">
              <a:lnSpc>
                <a:spcPct val="98000"/>
              </a:lnSpc>
              <a:spcBef>
                <a:spcPts val="0"/>
              </a:spcBef>
            </a:pPr>
            <a:r>
              <a:rPr lang="en-US" altLang="zh-CN"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7*24</a:t>
            </a:r>
            <a:r>
              <a:rPr lang="zh-CN" altLang="en-US"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小时威胁对抗</a:t>
            </a:r>
            <a:endParaRPr lang="zh-CN" altLang="en-US"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sp>
        <p:nvSpPr>
          <p:cNvPr id="81" name="íṥlïḍê"/>
          <p:cNvSpPr txBox="1"/>
          <p:nvPr>
            <p:custDataLst>
              <p:tags r:id="rId5"/>
            </p:custDataLst>
          </p:nvPr>
        </p:nvSpPr>
        <p:spPr>
          <a:xfrm>
            <a:off x="982980" y="1506220"/>
            <a:ext cx="2746375" cy="269875"/>
          </a:xfrm>
          <a:prstGeom prst="rect">
            <a:avLst/>
          </a:prstGeom>
        </p:spPr>
        <p:txBody>
          <a:bodyPr wrap="square" rtlCol="0" anchor="ctr"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lvl="0" algn="l" hangingPunct="1">
              <a:defRPr/>
            </a:pP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{external_attack_log_count_XDR}}</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余条内外部攻击日志</a:t>
            </a:r>
            <a:endPar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87" name="文本框 86"/>
          <p:cNvSpPr txBox="1"/>
          <p:nvPr/>
        </p:nvSpPr>
        <p:spPr>
          <a:xfrm>
            <a:off x="982663" y="2565718"/>
            <a:ext cx="2380298" cy="235585"/>
          </a:xfrm>
          <a:prstGeom prst="rect">
            <a:avLst/>
          </a:prstGeom>
          <a:noFill/>
        </p:spPr>
        <p:txBody>
          <a:bodyPr wrap="square" rtlCol="0" anchor="t">
            <a:noAutofit/>
          </a:bodyPr>
          <a:p>
            <a:pPr marL="11430" lvl="0" algn="l" eaLnBrk="0">
              <a:spcBef>
                <a:spcPts val="5"/>
              </a:spcBef>
            </a:pPr>
            <a:r>
              <a:rPr lang="en-US" altLang="zh-CN" sz="1000" b="1"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{{security_device_policy_check_count}}</a:t>
            </a:r>
            <a:r>
              <a:rPr lang="en-US" sz="9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spc="120" dirty="0">
                <a:solidFill>
                  <a:schemeClr val="tx1">
                    <a:alpha val="100000"/>
                  </a:schemeClr>
                </a:solidFill>
                <a:latin typeface="黑体" panose="02010609060101010101" charset="-122"/>
                <a:ea typeface="黑体" panose="02010609060101010101" charset="-122"/>
                <a:cs typeface="黑体" panose="02010609060101010101" charset="-122"/>
                <a:sym typeface="+mn-ea"/>
              </a:rPr>
              <a:t>次策略有效性检查</a:t>
            </a:r>
            <a:endParaRPr lang="zh-CN" altLang="en-US" sz="1000" spc="120" dirty="0">
              <a:solidFill>
                <a:schemeClr val="tx1">
                  <a:alpha val="100000"/>
                </a:schemeClr>
              </a:solidFill>
              <a:latin typeface="黑体" panose="02010609060101010101" charset="-122"/>
              <a:ea typeface="黑体" panose="02010609060101010101" charset="-122"/>
              <a:cs typeface="黑体" panose="02010609060101010101" charset="-122"/>
              <a:sym typeface="+mn-ea"/>
            </a:endParaRPr>
          </a:p>
        </p:txBody>
      </p:sp>
      <p:sp>
        <p:nvSpPr>
          <p:cNvPr id="9" name="íṥlïḍê"/>
          <p:cNvSpPr txBox="1"/>
          <p:nvPr>
            <p:custDataLst>
              <p:tags r:id="rId6"/>
            </p:custDataLst>
          </p:nvPr>
        </p:nvSpPr>
        <p:spPr>
          <a:xfrm>
            <a:off x="982980" y="1744980"/>
            <a:ext cx="3094990" cy="269875"/>
          </a:xfrm>
          <a:prstGeom prst="rect">
            <a:avLst/>
          </a:prstGeom>
        </p:spPr>
        <p:txBody>
          <a:bodyPr wrap="square" rtlCol="0" anchor="ctr"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lvl="0" algn="l" hangingPunct="1">
              <a:defRPr/>
            </a:pP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{{real_time_threat_alert_count}}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条实时威胁告警</a:t>
            </a:r>
            <a:endPar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10" name="íṥlïḍê"/>
          <p:cNvSpPr txBox="1"/>
          <p:nvPr>
            <p:custDataLst>
              <p:tags r:id="rId7"/>
            </p:custDataLst>
          </p:nvPr>
        </p:nvSpPr>
        <p:spPr>
          <a:xfrm>
            <a:off x="982663" y="1998663"/>
            <a:ext cx="2495233" cy="269875"/>
          </a:xfrm>
          <a:prstGeom prst="rect">
            <a:avLst/>
          </a:prstGeom>
        </p:spPr>
        <p:txBody>
          <a:bodyPr wrap="square" rtlCol="0" anchor="ctr"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lvl="0" algn="l" hangingPunct="1">
              <a:defRPr/>
            </a:pP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{{MSS_threat_ticket_count}}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条威胁工单及时处置，平均</a:t>
            </a:r>
            <a:r>
              <a:rPr lang="en-US" altLang="zh-CN"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  </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{{threat_ticket_average_response_time}}</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分钟响应</a:t>
            </a:r>
            <a:endPar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11" name="文本框 10"/>
          <p:cNvSpPr txBox="1"/>
          <p:nvPr/>
        </p:nvSpPr>
        <p:spPr>
          <a:xfrm>
            <a:off x="735965" y="2332038"/>
            <a:ext cx="2299653" cy="241935"/>
          </a:xfrm>
          <a:prstGeom prst="rect">
            <a:avLst/>
          </a:prstGeom>
          <a:noFill/>
        </p:spPr>
        <p:txBody>
          <a:bodyPr wrap="square" rtlCol="0" anchor="t">
            <a:spAutoFit/>
          </a:bodyPr>
          <a:p>
            <a:pPr marL="28575" lvl="0" algn="l" eaLnBrk="0">
              <a:lnSpc>
                <a:spcPct val="98000"/>
              </a:lnSpc>
              <a:spcBef>
                <a:spcPts val="0"/>
              </a:spcBef>
              <a:buClrTx/>
              <a:buSzTx/>
              <a:buFontTx/>
            </a:pPr>
            <a:r>
              <a:rPr lang="en-US" altLang="zh-CN"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策略有效性监测与预防</a:t>
            </a:r>
            <a:endParaRPr lang="en-US" altLang="zh-CN"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3" name="文本框 12"/>
          <p:cNvSpPr txBox="1"/>
          <p:nvPr/>
        </p:nvSpPr>
        <p:spPr>
          <a:xfrm>
            <a:off x="982980" y="2782570"/>
            <a:ext cx="2494915" cy="235585"/>
          </a:xfrm>
          <a:prstGeom prst="rect">
            <a:avLst/>
          </a:prstGeom>
          <a:noFill/>
        </p:spPr>
        <p:txBody>
          <a:bodyPr wrap="square" rtlCol="0" anchor="t">
            <a:noAutofit/>
          </a:bodyPr>
          <a:p>
            <a:pPr marL="11430" lvl="0" algn="l" eaLnBrk="0">
              <a:spcBef>
                <a:spcPts val="5"/>
              </a:spcBef>
            </a:pPr>
            <a:r>
              <a:rPr lang="en-US" altLang="zh-CN" sz="1000" b="1"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{{optimized_policy_risk_count}}</a:t>
            </a:r>
            <a:r>
              <a:rPr lang="en-US" sz="9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spc="120" dirty="0">
                <a:solidFill>
                  <a:schemeClr val="tx1">
                    <a:alpha val="100000"/>
                  </a:schemeClr>
                </a:solidFill>
                <a:latin typeface="黑体" panose="02010609060101010101" charset="-122"/>
                <a:ea typeface="黑体" panose="02010609060101010101" charset="-122"/>
                <a:cs typeface="黑体" panose="02010609060101010101" charset="-122"/>
                <a:sym typeface="+mn-ea"/>
              </a:rPr>
              <a:t>次策略隐患有效修复</a:t>
            </a:r>
            <a:endParaRPr lang="zh-CN" altLang="en-US" sz="1000" spc="120" dirty="0">
              <a:solidFill>
                <a:schemeClr val="tx1">
                  <a:alpha val="100000"/>
                </a:schemeClr>
              </a:solidFill>
              <a:latin typeface="黑体" panose="02010609060101010101" charset="-122"/>
              <a:ea typeface="黑体" panose="02010609060101010101" charset="-122"/>
              <a:cs typeface="黑体" panose="02010609060101010101" charset="-122"/>
              <a:sym typeface="+mn-ea"/>
            </a:endParaRPr>
          </a:p>
        </p:txBody>
      </p:sp>
      <p:sp>
        <p:nvSpPr>
          <p:cNvPr id="14" name="文本框 13"/>
          <p:cNvSpPr txBox="1"/>
          <p:nvPr/>
        </p:nvSpPr>
        <p:spPr>
          <a:xfrm>
            <a:off x="735965" y="3079433"/>
            <a:ext cx="2299653" cy="258763"/>
          </a:xfrm>
          <a:prstGeom prst="rect">
            <a:avLst/>
          </a:prstGeom>
          <a:noFill/>
        </p:spPr>
        <p:txBody>
          <a:bodyPr wrap="square" rtlCol="0" anchor="ctr" anchorCtr="0">
            <a:noAutofit/>
          </a:bodyPr>
          <a:p>
            <a:pPr marL="28575" lvl="0" algn="l" eaLnBrk="0">
              <a:lnSpc>
                <a:spcPct val="98000"/>
              </a:lnSpc>
            </a:pPr>
            <a:r>
              <a:rPr lang="en-US" altLang="zh-CN"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最新情报风险</a:t>
            </a:r>
            <a:r>
              <a:rPr lang="zh-CN" altLang="en-US"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排查</a:t>
            </a:r>
            <a:endParaRPr lang="zh-CN" altLang="en-US"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5" name="íṥlïḍê"/>
          <p:cNvSpPr txBox="1"/>
          <p:nvPr>
            <p:custDataLst>
              <p:tags r:id="rId8"/>
            </p:custDataLst>
          </p:nvPr>
        </p:nvSpPr>
        <p:spPr>
          <a:xfrm>
            <a:off x="982663" y="3335338"/>
            <a:ext cx="2495233" cy="269875"/>
          </a:xfrm>
          <a:prstGeom prst="rect">
            <a:avLst/>
          </a:prstGeom>
        </p:spPr>
        <p:txBody>
          <a:bodyPr wrap="square" rtlCol="0" anchor="ctr"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lvl="0" algn="l" hangingPunct="1">
              <a:defRPr/>
            </a:pP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{{latest_threat_intelligence_count}}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条最新威胁情报</a:t>
            </a:r>
            <a:endPar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16" name="文本框 15"/>
          <p:cNvSpPr txBox="1"/>
          <p:nvPr/>
        </p:nvSpPr>
        <p:spPr>
          <a:xfrm>
            <a:off x="982663" y="3605848"/>
            <a:ext cx="2299335" cy="229870"/>
          </a:xfrm>
          <a:prstGeom prst="rect">
            <a:avLst/>
          </a:prstGeom>
        </p:spPr>
        <p:txBody>
          <a:bodyPr rot="0" vert="horz" wrap="square" lIns="91440" tIns="45720" rIns="91440" bIns="45720" numCol="1" spcCol="0" rtlCol="0" anchor="ctr" anchorCtr="0" forceAA="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lvl="0" algn="l">
              <a:defRPr/>
            </a:pP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{{latest_threat_impacted_asset_count}}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个受影响资产快速修复，遏制风险</a:t>
            </a:r>
            <a:endParaRPr 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graphicFrame>
        <p:nvGraphicFramePr>
          <p:cNvPr id="35" name="图表 34"/>
          <p:cNvGraphicFramePr/>
          <p:nvPr/>
        </p:nvGraphicFramePr>
        <p:xfrm>
          <a:off x="3896360" y="2966720"/>
          <a:ext cx="3826510" cy="1021715"/>
        </p:xfrm>
        <a:graphic>
          <a:graphicData uri="http://schemas.openxmlformats.org/drawingml/2006/chart">
            <c:chart xmlns:c="http://schemas.openxmlformats.org/drawingml/2006/chart" xmlns:r="http://schemas.openxmlformats.org/officeDocument/2006/relationships" r:id="rId2"/>
          </a:graphicData>
        </a:graphic>
      </p:graphicFrame>
      <p:sp>
        <p:nvSpPr>
          <p:cNvPr id="17" name="文本框 16"/>
          <p:cNvSpPr txBox="1"/>
          <p:nvPr/>
        </p:nvSpPr>
        <p:spPr>
          <a:xfrm>
            <a:off x="3896360" y="2721610"/>
            <a:ext cx="2299970" cy="236220"/>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遭受攻击业务主机</a:t>
            </a:r>
            <a:r>
              <a:rPr lang="en-US" alt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TOP5</a:t>
            </a:r>
            <a:endParaRPr lang="en-US" alt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8" name="文本框 17"/>
          <p:cNvSpPr txBox="1"/>
          <p:nvPr/>
        </p:nvSpPr>
        <p:spPr>
          <a:xfrm>
            <a:off x="3896360" y="1223010"/>
            <a:ext cx="1677035" cy="215265"/>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攻击来源地域分布</a:t>
            </a:r>
            <a:r>
              <a:rPr lang="en-US" alt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TOP5</a:t>
            </a:r>
            <a:endParaRPr lang="en-US" alt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graphicFrame>
        <p:nvGraphicFramePr>
          <p:cNvPr id="19" name="图表 18"/>
          <p:cNvGraphicFramePr/>
          <p:nvPr/>
        </p:nvGraphicFramePr>
        <p:xfrm>
          <a:off x="3896360" y="1489075"/>
          <a:ext cx="1858645" cy="12166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0" name="图表 19"/>
          <p:cNvGraphicFramePr/>
          <p:nvPr/>
        </p:nvGraphicFramePr>
        <p:xfrm>
          <a:off x="6024245" y="1488440"/>
          <a:ext cx="1698625" cy="1220470"/>
        </p:xfrm>
        <a:graphic>
          <a:graphicData uri="http://schemas.openxmlformats.org/drawingml/2006/chart">
            <c:chart xmlns:c="http://schemas.openxmlformats.org/drawingml/2006/chart" xmlns:r="http://schemas.openxmlformats.org/officeDocument/2006/relationships" r:id="rId4"/>
          </a:graphicData>
        </a:graphic>
      </p:graphicFrame>
      <p:sp>
        <p:nvSpPr>
          <p:cNvPr id="21" name="文本框 20"/>
          <p:cNvSpPr txBox="1"/>
          <p:nvPr/>
        </p:nvSpPr>
        <p:spPr>
          <a:xfrm>
            <a:off x="6024130" y="1222693"/>
            <a:ext cx="1620000" cy="215265"/>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攻击类型分布</a:t>
            </a:r>
            <a:r>
              <a:rPr lang="en-US" alt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TOP5</a:t>
            </a:r>
            <a:endParaRPr lang="en-US" alt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23" name="图片 22" descr="1755071818846"/>
          <p:cNvPicPr>
            <a:picLocks noChangeAspect="1"/>
          </p:cNvPicPr>
          <p:nvPr/>
        </p:nvPicPr>
        <p:blipFill>
          <a:blip r:embed="rId9"/>
          <a:stretch>
            <a:fillRect/>
          </a:stretch>
        </p:blipFill>
        <p:spPr>
          <a:xfrm>
            <a:off x="630873" y="5719763"/>
            <a:ext cx="10940415" cy="801688"/>
          </a:xfrm>
          <a:prstGeom prst="rect">
            <a:avLst/>
          </a:prstGeom>
        </p:spPr>
      </p:pic>
      <p:sp>
        <p:nvSpPr>
          <p:cNvPr id="25" name="文本框 24"/>
          <p:cNvSpPr txBox="1"/>
          <p:nvPr/>
        </p:nvSpPr>
        <p:spPr>
          <a:xfrm>
            <a:off x="594043" y="5504180"/>
            <a:ext cx="1503998" cy="235903"/>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威胁运营待提升</a:t>
            </a: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项</a:t>
            </a:r>
            <a:endPar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6" name="文本框 25"/>
          <p:cNvSpPr txBox="1"/>
          <p:nvPr/>
        </p:nvSpPr>
        <p:spPr>
          <a:xfrm>
            <a:off x="758190" y="5788025"/>
            <a:ext cx="3376930" cy="6540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anchorCtr="0" forceAA="0">
            <a:noAutofit/>
          </a:bodyPr>
          <a:p>
            <a:pPr marL="0" marR="0" indent="0" algn="just" defTabSz="2438400" rtl="0" fontAlgn="auto" latinLnBrk="0" hangingPunct="0">
              <a:lnSpc>
                <a:spcPct val="100000"/>
              </a:lnSpc>
              <a:spcBef>
                <a:spcPts val="0"/>
              </a:spcBef>
              <a:spcAft>
                <a:spcPts val="0"/>
              </a:spcAft>
              <a:buClrTx/>
              <a:buSzTx/>
              <a:buFontTx/>
              <a:buNone/>
            </a:pPr>
            <a:r>
              <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rPr>
              <a:t>{{threat_improve1}}</a:t>
            </a:r>
            <a:endPar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7" name="文本框 26"/>
          <p:cNvSpPr txBox="1"/>
          <p:nvPr/>
        </p:nvSpPr>
        <p:spPr>
          <a:xfrm>
            <a:off x="4297680" y="5782310"/>
            <a:ext cx="3564890" cy="71310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anchorCtr="0" forceAA="0">
            <a:noAutofit/>
          </a:bodyPr>
          <a:p>
            <a:pPr marL="0" marR="0" indent="0" algn="just" defTabSz="2438400" rtl="0" fontAlgn="auto" latinLnBrk="0" hangingPunct="0">
              <a:lnSpc>
                <a:spcPct val="100000"/>
              </a:lnSpc>
              <a:spcBef>
                <a:spcPts val="0"/>
              </a:spcBef>
              <a:spcAft>
                <a:spcPts val="0"/>
              </a:spcAft>
              <a:buClrTx/>
              <a:buSzTx/>
              <a:buFontTx/>
              <a:buNone/>
            </a:pPr>
            <a:r>
              <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rPr>
              <a:t>{{threat_improve2}}</a:t>
            </a:r>
            <a:endPar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8" name="文本框 27"/>
          <p:cNvSpPr txBox="1"/>
          <p:nvPr/>
        </p:nvSpPr>
        <p:spPr>
          <a:xfrm>
            <a:off x="8025765" y="5796280"/>
            <a:ext cx="3460750" cy="62357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anchorCtr="0" forceAA="0">
            <a:noAutofit/>
          </a:bodyPr>
          <a:p>
            <a:pPr marL="0" marR="0" indent="0" algn="just" defTabSz="2438400" rtl="0" fontAlgn="auto" latinLnBrk="0" hangingPunct="0">
              <a:lnSpc>
                <a:spcPct val="100000"/>
              </a:lnSpc>
              <a:spcBef>
                <a:spcPts val="0"/>
              </a:spcBef>
              <a:spcAft>
                <a:spcPts val="0"/>
              </a:spcAft>
              <a:buClrTx/>
              <a:buSzTx/>
              <a:buFontTx/>
              <a:buNone/>
            </a:pPr>
            <a:r>
              <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rPr>
              <a:t>{{threat_improve3}}</a:t>
            </a:r>
            <a:endPar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22" name="图片 21" descr="深信服 + 智安全"/>
          <p:cNvPicPr>
            <a:picLocks noChangeAspect="1"/>
          </p:cNvPicPr>
          <p:nvPr/>
        </p:nvPicPr>
        <p:blipFill>
          <a:blip r:embed="rId10"/>
          <a:srcRect l="5232" t="26576" r="4938" b="29565"/>
          <a:stretch>
            <a:fillRect/>
          </a:stretch>
        </p:blipFill>
        <p:spPr>
          <a:xfrm>
            <a:off x="10017125" y="238760"/>
            <a:ext cx="1629867" cy="360000"/>
          </a:xfrm>
          <a:prstGeom prst="rect">
            <a:avLst/>
          </a:prstGeom>
        </p:spPr>
      </p:pic>
      <p:sp>
        <p:nvSpPr>
          <p:cNvPr id="6" name="文本框 5"/>
          <p:cNvSpPr txBox="1"/>
          <p:nvPr/>
        </p:nvSpPr>
        <p:spPr>
          <a:xfrm>
            <a:off x="7740650" y="1530985"/>
            <a:ext cx="3817620" cy="2458085"/>
          </a:xfrm>
          <a:prstGeom prst="rect">
            <a:avLst/>
          </a:prstGeom>
          <a:noFill/>
        </p:spPr>
        <p:txBody>
          <a:bodyPr wrap="square" rtlCol="0" anchor="t">
            <a:noAutofit/>
          </a:bodyPr>
          <a:p>
            <a:pPr algn="just"/>
            <a:r>
              <a:rPr lang="en-US" altLang="zh-CN" sz="10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{{threat_summary}}</a:t>
            </a:r>
            <a:endParaRPr lang="en-US" altLang="zh-CN" sz="1000" spc="-5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3" name="文本框 2"/>
          <p:cNvSpPr txBox="1"/>
          <p:nvPr/>
        </p:nvSpPr>
        <p:spPr>
          <a:xfrm>
            <a:off x="8744585" y="4549775"/>
            <a:ext cx="1654810" cy="213995"/>
          </a:xfrm>
          <a:prstGeom prst="rect">
            <a:avLst/>
          </a:prstGeom>
          <a:noFill/>
        </p:spPr>
        <p:txBody>
          <a:bodyPr wrap="square" rtlCol="0" anchor="t">
            <a:spAutoFit/>
          </a:bodyPr>
          <a:p>
            <a:r>
              <a:rPr lang="zh-CN" altLang="en-US" sz="800">
                <a:sym typeface="+mn-ea"/>
              </a:rPr>
              <a:t>{{</a:t>
            </a:r>
            <a:r>
              <a:rPr lang="en-US" altLang="zh-CN" sz="800">
                <a:sym typeface="+mn-ea"/>
              </a:rPr>
              <a:t>P15_line</a:t>
            </a:r>
            <a:r>
              <a:rPr lang="zh-CN" altLang="en-US" sz="800">
                <a:sym typeface="+mn-ea"/>
              </a:rPr>
              <a:t>}}</a:t>
            </a:r>
            <a:endParaRPr lang="zh-CN" altLang="en-US" sz="800">
              <a:sym typeface="+mn-ea"/>
            </a:endParaRPr>
          </a:p>
        </p:txBody>
      </p:sp>
      <p:sp>
        <p:nvSpPr>
          <p:cNvPr id="5" name="文本框 4"/>
          <p:cNvSpPr txBox="1"/>
          <p:nvPr/>
        </p:nvSpPr>
        <p:spPr>
          <a:xfrm>
            <a:off x="4135120" y="1016635"/>
            <a:ext cx="853440" cy="213995"/>
          </a:xfrm>
          <a:prstGeom prst="rect">
            <a:avLst/>
          </a:prstGeom>
          <a:noFill/>
        </p:spPr>
        <p:txBody>
          <a:bodyPr wrap="square" rtlCol="0" anchor="t">
            <a:spAutoFit/>
          </a:bodyPr>
          <a:p>
            <a:r>
              <a:rPr lang="zh-CN" altLang="en-US" sz="800">
                <a:sym typeface="+mn-ea"/>
              </a:rPr>
              <a:t>{{</a:t>
            </a:r>
            <a:r>
              <a:rPr lang="en-US" altLang="zh-CN" sz="800">
                <a:sym typeface="+mn-ea"/>
              </a:rPr>
              <a:t>P15_pie_1</a:t>
            </a:r>
            <a:r>
              <a:rPr lang="zh-CN" altLang="en-US" sz="800">
                <a:sym typeface="+mn-ea"/>
              </a:rPr>
              <a:t>}}</a:t>
            </a:r>
            <a:endParaRPr lang="zh-CN" altLang="en-US" sz="800">
              <a:sym typeface="+mn-ea"/>
            </a:endParaRPr>
          </a:p>
        </p:txBody>
      </p:sp>
      <p:sp>
        <p:nvSpPr>
          <p:cNvPr id="7" name="文本框 6"/>
          <p:cNvSpPr txBox="1"/>
          <p:nvPr/>
        </p:nvSpPr>
        <p:spPr>
          <a:xfrm>
            <a:off x="6163310" y="982980"/>
            <a:ext cx="876935" cy="213995"/>
          </a:xfrm>
          <a:prstGeom prst="rect">
            <a:avLst/>
          </a:prstGeom>
          <a:noFill/>
        </p:spPr>
        <p:txBody>
          <a:bodyPr wrap="square" rtlCol="0" anchor="t">
            <a:spAutoFit/>
          </a:bodyPr>
          <a:p>
            <a:r>
              <a:rPr lang="zh-CN" altLang="en-US" sz="800">
                <a:sym typeface="+mn-ea"/>
              </a:rPr>
              <a:t>{{</a:t>
            </a:r>
            <a:r>
              <a:rPr lang="en-US" altLang="zh-CN" sz="800">
                <a:sym typeface="+mn-ea"/>
              </a:rPr>
              <a:t>P15_pie_2</a:t>
            </a:r>
            <a:r>
              <a:rPr lang="zh-CN" altLang="en-US" sz="800">
                <a:sym typeface="+mn-ea"/>
              </a:rPr>
              <a:t>}}</a:t>
            </a:r>
            <a:endParaRPr lang="zh-CN" altLang="en-US" sz="800">
              <a:sym typeface="+mn-ea"/>
            </a:endParaRPr>
          </a:p>
        </p:txBody>
      </p:sp>
      <p:sp>
        <p:nvSpPr>
          <p:cNvPr id="8" name="文本框 7"/>
          <p:cNvSpPr txBox="1"/>
          <p:nvPr/>
        </p:nvSpPr>
        <p:spPr>
          <a:xfrm>
            <a:off x="6767195" y="3022600"/>
            <a:ext cx="876935" cy="213995"/>
          </a:xfrm>
          <a:prstGeom prst="rect">
            <a:avLst/>
          </a:prstGeom>
          <a:noFill/>
        </p:spPr>
        <p:txBody>
          <a:bodyPr wrap="square" rtlCol="0" anchor="t">
            <a:spAutoFit/>
          </a:bodyPr>
          <a:p>
            <a:r>
              <a:rPr lang="zh-CN" altLang="en-US" sz="800">
                <a:sym typeface="+mn-ea"/>
              </a:rPr>
              <a:t>{{</a:t>
            </a:r>
            <a:r>
              <a:rPr lang="en-US" altLang="zh-CN" sz="800">
                <a:sym typeface="+mn-ea"/>
              </a:rPr>
              <a:t>P15_bar</a:t>
            </a:r>
            <a:r>
              <a:rPr lang="zh-CN" altLang="en-US" sz="800">
                <a:sym typeface="+mn-ea"/>
              </a:rPr>
              <a:t>}}</a:t>
            </a:r>
            <a:endParaRPr lang="zh-CN" altLang="en-US" sz="800">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textbox 40"/>
          <p:cNvSpPr/>
          <p:nvPr/>
        </p:nvSpPr>
        <p:spPr>
          <a:xfrm>
            <a:off x="647700" y="3670618"/>
            <a:ext cx="3005773" cy="1883093"/>
          </a:xfrm>
          <a:prstGeom prst="rect">
            <a:avLst/>
          </a:prstGeom>
          <a:solidFill>
            <a:schemeClr val="bg1">
              <a:lumMod val="95000"/>
            </a:schemeClr>
          </a:solidFill>
          <a:ln w="0" cap="flat">
            <a:noFill/>
            <a:prstDash val="solid"/>
            <a:miter lim="0"/>
          </a:ln>
        </p:spPr>
        <p:txBody>
          <a:bodyPr vert="horz" wrap="square" lIns="0" tIns="0" rIns="0" bIns="0"/>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ct val="119000"/>
              </a:lnSpc>
            </a:pP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endParaRPr sz="900" dirty="0">
              <a:latin typeface="黑体" panose="02010609060101010101" charset="-122"/>
              <a:ea typeface="黑体" panose="02010609060101010101" charset="-122"/>
              <a:cs typeface="黑体" panose="02010609060101010101" charset="-122"/>
            </a:endParaRPr>
          </a:p>
        </p:txBody>
      </p:sp>
      <p:sp>
        <p:nvSpPr>
          <p:cNvPr id="94" name="文本框 93"/>
          <p:cNvSpPr txBox="1"/>
          <p:nvPr/>
        </p:nvSpPr>
        <p:spPr>
          <a:xfrm>
            <a:off x="734060" y="3723323"/>
            <a:ext cx="2880000" cy="600075"/>
          </a:xfrm>
          <a:prstGeom prst="rect">
            <a:avLst/>
          </a:prstGeom>
          <a:noFill/>
        </p:spPr>
        <p:txBody>
          <a:bodyPr wrap="square" rtlCol="0" anchor="t">
            <a:noAutofit/>
          </a:bodyPr>
          <a:p>
            <a:pPr algn="l" rtl="0" eaLnBrk="0">
              <a:lnSpc>
                <a:spcPct val="155000"/>
              </a:lnSpc>
            </a:pPr>
            <a:r>
              <a:rPr lang="zh-CN" altLang="en-US" sz="10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完备的保障机制</a:t>
            </a:r>
            <a:endParaRPr sz="1000" dirty="0">
              <a:latin typeface="黑体" panose="02010609060101010101" charset="-122"/>
              <a:ea typeface="黑体" panose="02010609060101010101" charset="-122"/>
              <a:cs typeface="黑体" panose="02010609060101010101" charset="-122"/>
            </a:endParaRPr>
          </a:p>
          <a:p>
            <a:pPr marL="11430" algn="l" rtl="0" eaLnBrk="0">
              <a:lnSpc>
                <a:spcPct val="97000"/>
              </a:lnSpc>
              <a:spcBef>
                <a:spcPts val="185"/>
              </a:spcBef>
            </a:pPr>
            <a:r>
              <a:rPr lang="zh-CN" altLang="en-US"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结合业务运维，制定各类安全风险的分级分类响应标准和闭环流程；重要时期前进行潜在风险排查。</a:t>
            </a:r>
            <a:endParaRPr lang="zh-CN" altLang="en-US"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95" name="文本框 94"/>
          <p:cNvSpPr txBox="1"/>
          <p:nvPr/>
        </p:nvSpPr>
        <p:spPr>
          <a:xfrm>
            <a:off x="734060" y="4338320"/>
            <a:ext cx="2880000" cy="566420"/>
          </a:xfrm>
          <a:prstGeom prst="rect">
            <a:avLst/>
          </a:prstGeom>
          <a:noFill/>
        </p:spPr>
        <p:txBody>
          <a:bodyPr wrap="square" rtlCol="0" anchor="t">
            <a:spAutoFit/>
          </a:bodyPr>
          <a:p>
            <a:pPr algn="l" rtl="0" eaLnBrk="0">
              <a:lnSpc>
                <a:spcPct val="119000"/>
              </a:lnSpc>
            </a:pPr>
            <a:r>
              <a:rPr lang="zh-CN" sz="1000" b="1"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事件分级响应</a:t>
            </a:r>
            <a:r>
              <a:rPr lang="en-US" altLang="zh-CN" sz="1000" b="1"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 </a:t>
            </a:r>
            <a:endParaRPr lang="zh-CN" sz="1000" b="1" spc="-4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algn="l" rtl="0" eaLnBrk="0">
              <a:lnSpc>
                <a:spcPct val="119000"/>
              </a:lnSpc>
            </a:pPr>
            <a:r>
              <a:rPr lang="zh-CN" altLang="en-US"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预先定义安全威胁和安全事件分级分类响应标准与执行规范</a:t>
            </a:r>
            <a:r>
              <a:rPr lang="zh-CN"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lang="zh-CN"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96" name="文本框 95"/>
          <p:cNvSpPr txBox="1"/>
          <p:nvPr/>
        </p:nvSpPr>
        <p:spPr>
          <a:xfrm>
            <a:off x="734060" y="4946650"/>
            <a:ext cx="2880000" cy="554990"/>
          </a:xfrm>
          <a:prstGeom prst="rect">
            <a:avLst/>
          </a:prstGeom>
          <a:noFill/>
        </p:spPr>
        <p:txBody>
          <a:bodyPr wrap="square" rtlCol="0" anchor="t">
            <a:noAutofit/>
          </a:bodyPr>
          <a:p>
            <a:pPr algn="l" rtl="0" eaLnBrk="0">
              <a:lnSpc>
                <a:spcPct val="108000"/>
              </a:lnSpc>
            </a:pPr>
            <a:r>
              <a:rPr lang="zh-CN" sz="1000" b="1" kern="0" spc="-40" dirty="0">
                <a:solidFill>
                  <a:srgbClr val="000000">
                    <a:alpha val="100000"/>
                  </a:srgbClr>
                </a:solidFill>
                <a:latin typeface="黑体" panose="02010609060101010101" charset="-122"/>
                <a:ea typeface="黑体" panose="02010609060101010101" charset="-122"/>
                <a:cs typeface="黑体" panose="02010609060101010101" charset="-122"/>
              </a:rPr>
              <a:t>工单在线可视，微信群</a:t>
            </a:r>
            <a:r>
              <a:rPr lang="en-US" altLang="zh-CN" sz="1000" b="1" kern="0" spc="-40" dirty="0">
                <a:solidFill>
                  <a:srgbClr val="000000">
                    <a:alpha val="100000"/>
                  </a:srgbClr>
                </a:solidFill>
                <a:latin typeface="黑体" panose="02010609060101010101" charset="-122"/>
                <a:ea typeface="黑体" panose="02010609060101010101" charset="-122"/>
                <a:cs typeface="黑体" panose="02010609060101010101" charset="-122"/>
              </a:rPr>
              <a:t>/</a:t>
            </a:r>
            <a:r>
              <a:rPr lang="zh-CN" altLang="en-US" sz="1000" b="1" kern="0" spc="-40" dirty="0">
                <a:solidFill>
                  <a:srgbClr val="000000">
                    <a:alpha val="100000"/>
                  </a:srgbClr>
                </a:solidFill>
                <a:latin typeface="黑体" panose="02010609060101010101" charset="-122"/>
                <a:ea typeface="黑体" panose="02010609060101010101" charset="-122"/>
                <a:cs typeface="黑体" panose="02010609060101010101" charset="-122"/>
              </a:rPr>
              <a:t>小程序多通道协同</a:t>
            </a:r>
            <a:endParaRPr sz="10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r>
              <a:rPr lang="zh-CN"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告警和事件通过在线工单和微信群实现协同响应，高效便捷，有效降低运维压力。</a:t>
            </a:r>
            <a:endParaRPr lang="zh-CN"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58" name="textbox 158"/>
          <p:cNvSpPr/>
          <p:nvPr/>
        </p:nvSpPr>
        <p:spPr>
          <a:xfrm>
            <a:off x="647700" y="360045"/>
            <a:ext cx="5448300" cy="600075"/>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a:ea typeface="Arial" panose="020B0604020202020204"/>
              <a:cs typeface="Arial" panose="020B0604020202020204"/>
            </a:endParaRPr>
          </a:p>
          <a:p>
            <a:pPr algn="l" rtl="0" eaLnBrk="0">
              <a:lnSpc>
                <a:spcPct val="101000"/>
              </a:lnSpc>
            </a:pPr>
            <a:r>
              <a:rPr lang="zh-CN" altLang="en-US" sz="1900" kern="0" dirty="0">
                <a:solidFill>
                  <a:srgbClr val="4C61E7"/>
                </a:solidFill>
                <a:latin typeface="黑体" panose="02010609060101010101" charset="-122"/>
                <a:ea typeface="黑体" panose="02010609060101010101" charset="-122"/>
                <a:cs typeface="黑体" panose="02010609060101010101" charset="-122"/>
              </a:rPr>
              <a:t>重要时期保障成效</a:t>
            </a:r>
            <a:endParaRPr sz="800" dirty="0">
              <a:latin typeface="Arial" panose="020B0604020202020204"/>
              <a:ea typeface="Arial" panose="020B0604020202020204"/>
              <a:cs typeface="Arial" panose="020B0604020202020204"/>
            </a:endParaRPr>
          </a:p>
          <a:p>
            <a:pPr marL="12700" algn="l" rtl="0" eaLnBrk="0">
              <a:lnSpc>
                <a:spcPct val="92000"/>
              </a:lnSpc>
              <a:spcBef>
                <a:spcPts val="5"/>
              </a:spcBef>
            </a:pPr>
            <a:endParaRPr lang="zh-CN" altLang="en-US" sz="1000"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marL="12700" algn="l" rtl="0" eaLnBrk="0">
              <a:lnSpc>
                <a:spcPct val="92000"/>
              </a:lnSpc>
              <a:spcBef>
                <a:spcPts val="5"/>
              </a:spcBef>
            </a:pPr>
            <a:r>
              <a:rPr lang="zh-CN" altLang="en-US" sz="1000" kern="0" spc="40" dirty="0">
                <a:solidFill>
                  <a:srgbClr val="000000">
                    <a:alpha val="100000"/>
                  </a:srgbClr>
                </a:solidFill>
                <a:latin typeface="黑体" panose="02010609060101010101" charset="-122"/>
                <a:ea typeface="黑体" panose="02010609060101010101" charset="-122"/>
                <a:cs typeface="黑体" panose="02010609060101010101" charset="-122"/>
              </a:rPr>
              <a:t>全天候应急响应机制与重要时期精细化保障，确保业务持续性与安全稳定</a:t>
            </a:r>
            <a:endParaRPr lang="zh-CN" altLang="en-US" sz="1000" kern="0" spc="40" dirty="0">
              <a:solidFill>
                <a:srgbClr val="000000">
                  <a:alpha val="100000"/>
                </a:srgbClr>
              </a:solidFill>
              <a:latin typeface="黑体" panose="02010609060101010101" charset="-122"/>
              <a:ea typeface="黑体" panose="02010609060101010101" charset="-122"/>
              <a:cs typeface="黑体" panose="02010609060101010101" charset="-122"/>
            </a:endParaRPr>
          </a:p>
        </p:txBody>
      </p:sp>
      <p:sp>
        <p:nvSpPr>
          <p:cNvPr id="77" name="textbox 48"/>
          <p:cNvSpPr/>
          <p:nvPr/>
        </p:nvSpPr>
        <p:spPr>
          <a:xfrm>
            <a:off x="647700" y="1196023"/>
            <a:ext cx="3006000" cy="2388870"/>
          </a:xfrm>
          <a:prstGeom prst="rect">
            <a:avLst/>
          </a:prstGeom>
          <a:solidFill>
            <a:srgbClr val="5B9BD5">
              <a:lumMod val="20000"/>
              <a:lumOff val="80000"/>
            </a:srgbClr>
          </a:solidFill>
          <a:ln w="0" cap="flat">
            <a:noFill/>
            <a:prstDash val="solid"/>
            <a:miter lim="0"/>
          </a:ln>
        </p:spPr>
        <p:txBody>
          <a:bodyPr vert="horz" wrap="square" lIns="0" tIns="0" rIns="0" bIns="0"/>
          <a:p>
            <a:pPr algn="l" rtl="0" eaLnBrk="0">
              <a:lnSpc>
                <a:spcPct val="182000"/>
              </a:lnSpc>
            </a:pPr>
            <a:endParaRPr sz="1000" dirty="0">
              <a:latin typeface="Arial" panose="020B0604020202020204"/>
              <a:ea typeface="Arial" panose="020B0604020202020204"/>
              <a:cs typeface="Arial" panose="020B0604020202020204"/>
            </a:endParaRPr>
          </a:p>
          <a:p>
            <a:pPr algn="l" rtl="0" eaLnBrk="0">
              <a:lnSpc>
                <a:spcPct val="101000"/>
              </a:lnSpc>
            </a:pPr>
            <a:endParaRPr sz="500" dirty="0">
              <a:latin typeface="Arial" panose="020B0604020202020204"/>
              <a:ea typeface="Arial" panose="020B0604020202020204"/>
              <a:cs typeface="Arial" panose="020B0604020202020204"/>
            </a:endParaRPr>
          </a:p>
          <a:p>
            <a:pPr marL="716915" algn="l" rtl="0" eaLnBrk="0">
              <a:lnSpc>
                <a:spcPct val="100000"/>
              </a:lnSpc>
              <a:spcBef>
                <a:spcPts val="5"/>
              </a:spcBef>
            </a:pPr>
            <a:endParaRPr sz="900" dirty="0">
              <a:latin typeface="黑体" panose="02010609060101010101" charset="-122"/>
              <a:ea typeface="黑体" panose="02010609060101010101" charset="-122"/>
              <a:cs typeface="黑体" panose="02010609060101010101" charset="-122"/>
            </a:endParaRPr>
          </a:p>
        </p:txBody>
      </p:sp>
      <p:grpSp>
        <p:nvGrpSpPr>
          <p:cNvPr id="37" name="组合 36"/>
          <p:cNvGrpSpPr/>
          <p:nvPr/>
        </p:nvGrpSpPr>
        <p:grpSpPr>
          <a:xfrm>
            <a:off x="1275398" y="1650365"/>
            <a:ext cx="2159635" cy="475615"/>
            <a:chOff x="4017" y="5198"/>
            <a:chExt cx="8006" cy="1498"/>
          </a:xfrm>
        </p:grpSpPr>
        <p:sp>
          <p:nvSpPr>
            <p:cNvPr id="21" name="文本框 20"/>
            <p:cNvSpPr txBox="1"/>
            <p:nvPr/>
          </p:nvSpPr>
          <p:spPr>
            <a:xfrm>
              <a:off x="4017" y="5198"/>
              <a:ext cx="8006" cy="62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96000"/>
                </a:lnSpc>
                <a:spcBef>
                  <a:spcPts val="1125"/>
                </a:spcBef>
              </a:pP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重要时期值守次数</a:t>
              </a:r>
              <a:endPar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2" name="文本框 21"/>
            <p:cNvSpPr txBox="1"/>
            <p:nvPr/>
          </p:nvSpPr>
          <p:spPr>
            <a:xfrm>
              <a:off x="4701" y="6002"/>
              <a:ext cx="6643" cy="69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79000"/>
                </a:lnSpc>
                <a:spcBef>
                  <a:spcPts val="310"/>
                </a:spcBef>
              </a:pPr>
              <a:r>
                <a:rPr lang="en-US" altLang="zh-CN" sz="1400" b="1"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{{duty_critical}}</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次</a:t>
              </a:r>
              <a:endPar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49" name="组合 48"/>
          <p:cNvGrpSpPr/>
          <p:nvPr/>
        </p:nvGrpSpPr>
        <p:grpSpPr>
          <a:xfrm>
            <a:off x="1275398" y="2854325"/>
            <a:ext cx="2159953" cy="487046"/>
            <a:chOff x="4017" y="8989"/>
            <a:chExt cx="8006" cy="1534"/>
          </a:xfrm>
        </p:grpSpPr>
        <p:sp>
          <p:nvSpPr>
            <p:cNvPr id="28" name="文本框 27"/>
            <p:cNvSpPr txBox="1"/>
            <p:nvPr/>
          </p:nvSpPr>
          <p:spPr>
            <a:xfrm>
              <a:off x="4017" y="8989"/>
              <a:ext cx="8006" cy="62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96000"/>
                </a:lnSpc>
                <a:spcBef>
                  <a:spcPts val="1125"/>
                </a:spcBef>
              </a:pP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业务可用性保障</a:t>
              </a:r>
              <a:endPar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9" name="文本框 28"/>
            <p:cNvSpPr txBox="1"/>
            <p:nvPr/>
          </p:nvSpPr>
          <p:spPr>
            <a:xfrm>
              <a:off x="4632" y="9829"/>
              <a:ext cx="7245" cy="69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79000"/>
                </a:lnSpc>
                <a:spcBef>
                  <a:spcPts val="310"/>
                </a:spcBef>
              </a:pPr>
              <a:r>
                <a:rPr lang="en-US" altLang="zh-CN" sz="1400" b="1"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{{availability_assure}}</a:t>
              </a:r>
              <a:endParaRPr lang="en-US" altLang="zh-CN"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38" name="组合 37"/>
          <p:cNvGrpSpPr/>
          <p:nvPr/>
        </p:nvGrpSpPr>
        <p:grpSpPr>
          <a:xfrm>
            <a:off x="1275398" y="2252345"/>
            <a:ext cx="2113996" cy="656591"/>
            <a:chOff x="4017" y="7030"/>
            <a:chExt cx="6911" cy="2068"/>
          </a:xfrm>
        </p:grpSpPr>
        <p:sp>
          <p:nvSpPr>
            <p:cNvPr id="3" name="文本框 2"/>
            <p:cNvSpPr txBox="1"/>
            <p:nvPr/>
          </p:nvSpPr>
          <p:spPr>
            <a:xfrm>
              <a:off x="4017" y="7030"/>
              <a:ext cx="6336" cy="62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96000"/>
                </a:lnSpc>
                <a:spcBef>
                  <a:spcPts val="1125"/>
                </a:spcBef>
              </a:pP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重要时期安全事件</a:t>
              </a:r>
              <a:endPar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7" name="文本框 26"/>
            <p:cNvSpPr txBox="1"/>
            <p:nvPr/>
          </p:nvSpPr>
          <p:spPr>
            <a:xfrm>
              <a:off x="4590" y="7868"/>
              <a:ext cx="6338" cy="123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79000"/>
                </a:lnSpc>
                <a:spcBef>
                  <a:spcPts val="310"/>
                </a:spcBef>
              </a:pPr>
              <a:r>
                <a:rPr lang="en-US" altLang="zh-CN" sz="1400" b="1"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{{incident_critical}}</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起</a:t>
              </a:r>
              <a:endParaRPr lang="zh-CN" altLang="en-US" sz="800" b="1" spc="-30" dirty="0">
                <a:solidFill>
                  <a:schemeClr val="bg2">
                    <a:lumMod val="10000"/>
                    <a:alpha val="100000"/>
                  </a:schemeClr>
                </a:solidFill>
                <a:latin typeface="宋体" panose="02010600030101010101" pitchFamily="2" charset="-122"/>
                <a:ea typeface="宋体" panose="02010600030101010101" pitchFamily="2" charset="-122"/>
                <a:cs typeface="Times New Roman" panose="02020603050405020304"/>
                <a:sym typeface="+mn-ea"/>
              </a:endParaRPr>
            </a:p>
          </p:txBody>
        </p:sp>
      </p:grpSp>
      <p:sp>
        <p:nvSpPr>
          <p:cNvPr id="35" name="椭圆 34"/>
          <p:cNvSpPr/>
          <p:nvPr>
            <p:custDataLst>
              <p:tags r:id="rId2"/>
            </p:custDataLst>
          </p:nvPr>
        </p:nvSpPr>
        <p:spPr bwMode="auto">
          <a:xfrm>
            <a:off x="733743" y="1696720"/>
            <a:ext cx="432118" cy="432118"/>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a:bodyPr>
          <a:p>
            <a:pPr algn="ctr"/>
            <a:endParaRPr lang="zh-CN" altLang="en-US" sz="900">
              <a:solidFill>
                <a:sysClr val="windowText" lastClr="000000"/>
              </a:solidFill>
              <a:cs typeface="+mn-ea"/>
            </a:endParaRPr>
          </a:p>
        </p:txBody>
      </p:sp>
      <p:grpSp>
        <p:nvGrpSpPr>
          <p:cNvPr id="43" name="组合 42"/>
          <p:cNvGrpSpPr/>
          <p:nvPr/>
        </p:nvGrpSpPr>
        <p:grpSpPr>
          <a:xfrm>
            <a:off x="728028" y="2298700"/>
            <a:ext cx="431800" cy="431800"/>
            <a:chOff x="2293" y="7118"/>
            <a:chExt cx="1360" cy="1360"/>
          </a:xfrm>
        </p:grpSpPr>
        <p:sp>
          <p:nvSpPr>
            <p:cNvPr id="40" name="椭圆 39"/>
            <p:cNvSpPr/>
            <p:nvPr>
              <p:custDataLst>
                <p:tags r:id="rId3"/>
              </p:custDataLst>
            </p:nvPr>
          </p:nvSpPr>
          <p:spPr bwMode="auto">
            <a:xfrm>
              <a:off x="2293" y="7118"/>
              <a:ext cx="1361" cy="1361"/>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a:bodyPr>
            <a:p>
              <a:pPr algn="ctr"/>
              <a:endParaRPr lang="zh-CN" altLang="en-US" sz="900">
                <a:solidFill>
                  <a:sysClr val="windowText" lastClr="000000"/>
                </a:solidFill>
                <a:cs typeface="+mn-ea"/>
              </a:endParaRPr>
            </a:p>
          </p:txBody>
        </p:sp>
        <p:pic>
          <p:nvPicPr>
            <p:cNvPr id="42" name="图片 41" descr="道路危险标志"/>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48" y="7373"/>
              <a:ext cx="850" cy="850"/>
            </a:xfrm>
            <a:prstGeom prst="rect">
              <a:avLst/>
            </a:prstGeom>
          </p:spPr>
        </p:pic>
      </p:grpSp>
      <p:sp>
        <p:nvSpPr>
          <p:cNvPr id="45" name="椭圆 44"/>
          <p:cNvSpPr/>
          <p:nvPr>
            <p:custDataLst>
              <p:tags r:id="rId6"/>
            </p:custDataLst>
          </p:nvPr>
        </p:nvSpPr>
        <p:spPr bwMode="auto">
          <a:xfrm>
            <a:off x="734060" y="2906395"/>
            <a:ext cx="432118" cy="432118"/>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a:bodyPr>
          <a:p>
            <a:pPr algn="ctr"/>
            <a:endParaRPr lang="zh-CN" altLang="en-US" sz="900">
              <a:solidFill>
                <a:sysClr val="windowText" lastClr="000000"/>
              </a:solidFill>
              <a:cs typeface="+mn-ea"/>
            </a:endParaRPr>
          </a:p>
        </p:txBody>
      </p:sp>
      <p:sp>
        <p:nvSpPr>
          <p:cNvPr id="59" name="文本框 58"/>
          <p:cNvSpPr txBox="1"/>
          <p:nvPr/>
        </p:nvSpPr>
        <p:spPr>
          <a:xfrm>
            <a:off x="728028" y="1276985"/>
            <a:ext cx="1814195" cy="2222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algn="l" rtl="0" eaLnBrk="0">
              <a:lnSpc>
                <a:spcPct val="80000"/>
              </a:lnSpc>
            </a:pPr>
            <a:r>
              <a:rPr lang="zh-CN" sz="1400" b="1"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重要时期值守保障</a:t>
            </a:r>
            <a:endParaRPr lang="zh-CN" sz="1400" b="1" spc="-60" dirty="0">
              <a:solidFill>
                <a:srgbClr val="20409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5" name="图片 4" descr="重点"/>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14802" y="1777779"/>
            <a:ext cx="270000" cy="270000"/>
          </a:xfrm>
          <a:prstGeom prst="rect">
            <a:avLst/>
          </a:prstGeom>
        </p:spPr>
      </p:pic>
      <p:pic>
        <p:nvPicPr>
          <p:cNvPr id="6" name="图片 5" descr="无尽"/>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15119" y="2987454"/>
            <a:ext cx="270000" cy="270000"/>
          </a:xfrm>
          <a:prstGeom prst="rect">
            <a:avLst/>
          </a:prstGeom>
        </p:spPr>
      </p:pic>
      <p:graphicFrame>
        <p:nvGraphicFramePr>
          <p:cNvPr id="32" name="图表 31"/>
          <p:cNvGraphicFramePr/>
          <p:nvPr/>
        </p:nvGraphicFramePr>
        <p:xfrm>
          <a:off x="3942715" y="1484630"/>
          <a:ext cx="3971608" cy="2817813"/>
        </p:xfrm>
        <a:graphic>
          <a:graphicData uri="http://schemas.openxmlformats.org/drawingml/2006/chart">
            <c:chart xmlns:c="http://schemas.openxmlformats.org/drawingml/2006/chart" xmlns:r="http://schemas.openxmlformats.org/officeDocument/2006/relationships" r:id="rId1"/>
          </a:graphicData>
        </a:graphic>
      </p:graphicFrame>
      <p:sp>
        <p:nvSpPr>
          <p:cNvPr id="7" name="文本框 6"/>
          <p:cNvSpPr txBox="1"/>
          <p:nvPr/>
        </p:nvSpPr>
        <p:spPr>
          <a:xfrm>
            <a:off x="3945890" y="1196023"/>
            <a:ext cx="2010410" cy="235903"/>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重要时期安全态势对比</a:t>
            </a:r>
            <a:endPar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0" name="文本框 9"/>
          <p:cNvSpPr txBox="1"/>
          <p:nvPr/>
        </p:nvSpPr>
        <p:spPr>
          <a:xfrm>
            <a:off x="8211820" y="1196340"/>
            <a:ext cx="3359785" cy="2362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noAutofit/>
          </a:bodyPr>
          <a:p>
            <a:pPr marL="13970" algn="l" rtl="0" eaLnBrk="0">
              <a:lnSpc>
                <a:spcPct val="95000"/>
              </a:lnSpc>
            </a:pPr>
            <a:r>
              <a:rPr sz="1000" b="1"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重要时期值守</a:t>
            </a:r>
            <a:r>
              <a:rPr lang="zh-CN" sz="1000" b="1"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详情</a:t>
            </a:r>
            <a:endParaRPr kumimoji="0" lang="zh-CN" altLang="en-US" sz="800" b="0" i="0" u="none" strike="noStrike" cap="none" spc="50" normalizeH="0" baseline="0" dirty="0">
              <a:ln>
                <a:noFill/>
              </a:ln>
              <a:solidFill>
                <a:srgbClr val="000000">
                  <a:alpha val="100000"/>
                </a:srgbClr>
              </a:solidFill>
              <a:effectLst/>
              <a:uFillTx/>
              <a:latin typeface="黑体" panose="02010609060101010101" charset="-122"/>
              <a:ea typeface="黑体" panose="02010609060101010101" charset="-122"/>
              <a:cs typeface="黑体" panose="02010609060101010101" charset="-122"/>
              <a:sym typeface="+mn-ea"/>
            </a:endParaRPr>
          </a:p>
        </p:txBody>
      </p:sp>
      <p:pic>
        <p:nvPicPr>
          <p:cNvPr id="23" name="图片 22" descr="1755071818846"/>
          <p:cNvPicPr>
            <a:picLocks noChangeAspect="1"/>
          </p:cNvPicPr>
          <p:nvPr/>
        </p:nvPicPr>
        <p:blipFill>
          <a:blip r:embed="rId11"/>
          <a:stretch>
            <a:fillRect/>
          </a:stretch>
        </p:blipFill>
        <p:spPr>
          <a:xfrm>
            <a:off x="630873" y="5719763"/>
            <a:ext cx="10940415" cy="801688"/>
          </a:xfrm>
          <a:prstGeom prst="rect">
            <a:avLst/>
          </a:prstGeom>
        </p:spPr>
      </p:pic>
      <p:sp>
        <p:nvSpPr>
          <p:cNvPr id="11" name="文本框 10"/>
          <p:cNvSpPr txBox="1"/>
          <p:nvPr/>
        </p:nvSpPr>
        <p:spPr>
          <a:xfrm>
            <a:off x="815340" y="5792470"/>
            <a:ext cx="10667365" cy="65595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ctr" anchorCtr="0" forceAA="0">
            <a:noAutofit/>
          </a:bodyPr>
          <a:p>
            <a:pPr marL="0" marR="0" indent="0" algn="l" defTabSz="2438400" rtl="0" fontAlgn="auto" latinLnBrk="0" hangingPunct="0">
              <a:lnSpc>
                <a:spcPct val="100000"/>
              </a:lnSpc>
              <a:spcBef>
                <a:spcPts val="0"/>
              </a:spcBef>
              <a:spcAft>
                <a:spcPts val="0"/>
              </a:spcAft>
              <a:buClrTx/>
              <a:buSzTx/>
              <a:buFontTx/>
              <a:buNone/>
            </a:pPr>
            <a:r>
              <a:rPr lang="zh-CN" sz="9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关键时期的</a:t>
            </a:r>
            <a:r>
              <a:rPr sz="9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应急响应</a:t>
            </a:r>
            <a:r>
              <a:rPr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能力</a:t>
            </a:r>
            <a:r>
              <a:rPr lang="zh-CN"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是</a:t>
            </a:r>
            <a:r>
              <a:rPr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企业核心竞争力之一</a:t>
            </a:r>
            <a:r>
              <a:rPr lang="zh-CN"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在重要节假日等业务高</a:t>
            </a:r>
            <a:r>
              <a:rPr sz="9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峰期，我们的值守和应急响应机制直接保</a:t>
            </a:r>
            <a:r>
              <a:rPr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障了</a:t>
            </a:r>
            <a:r>
              <a:rPr lang="zh-CN"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公司的</a:t>
            </a:r>
            <a:r>
              <a:rPr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营收实现，有效避免了因安全事件导致的业务中断和客户流失</a:t>
            </a:r>
            <a:r>
              <a:rPr lang="zh-CN"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kumimoji="0" lang="zh-CN" sz="900" b="0" i="0" u="none" strike="noStrike" cap="none" spc="40" normalizeH="0" baseline="0" dirty="0">
              <a:ln>
                <a:noFill/>
              </a:ln>
              <a:solidFill>
                <a:srgbClr val="000000">
                  <a:alpha val="100000"/>
                </a:srgbClr>
              </a:solidFill>
              <a:effectLst/>
              <a:uFillTx/>
              <a:latin typeface="黑体" panose="02010609060101010101" charset="-122"/>
              <a:ea typeface="黑体" panose="02010609060101010101" charset="-122"/>
              <a:cs typeface="黑体" panose="02010609060101010101" charset="-122"/>
              <a:sym typeface="+mn-ea"/>
            </a:endParaRPr>
          </a:p>
        </p:txBody>
      </p:sp>
      <p:sp>
        <p:nvSpPr>
          <p:cNvPr id="104" name="textbox 104"/>
          <p:cNvSpPr/>
          <p:nvPr/>
        </p:nvSpPr>
        <p:spPr>
          <a:xfrm>
            <a:off x="3942715" y="4420870"/>
            <a:ext cx="7628573" cy="1133158"/>
          </a:xfrm>
          <a:prstGeom prst="rect">
            <a:avLst/>
          </a:prstGeom>
          <a:solidFill>
            <a:schemeClr val="accent6">
              <a:lumMod val="20000"/>
              <a:lumOff val="80000"/>
            </a:schemeClr>
          </a:solidFill>
          <a:ln w="0" cap="flat">
            <a:noFill/>
            <a:prstDash val="solid"/>
            <a:miter lim="0"/>
          </a:ln>
        </p:spPr>
        <p:txBody>
          <a:bodyPr vert="horz" wrap="square" lIns="0" tIns="0" rIns="0" bIns="0"/>
          <a:p>
            <a:pPr algn="l" rtl="0" eaLnBrk="0">
              <a:lnSpc>
                <a:spcPct val="89000"/>
              </a:lnSpc>
            </a:pPr>
            <a:endParaRPr sz="100" dirty="0">
              <a:latin typeface="Arial" panose="020B0604020202020204"/>
              <a:ea typeface="Arial" panose="020B0604020202020204"/>
              <a:cs typeface="Arial" panose="020B0604020202020204"/>
            </a:endParaRPr>
          </a:p>
          <a:p>
            <a:pPr marL="12700" algn="l" rtl="0" eaLnBrk="0">
              <a:lnSpc>
                <a:spcPct val="95000"/>
              </a:lnSpc>
            </a:pPr>
            <a:endParaRPr sz="900" dirty="0">
              <a:latin typeface="黑体" panose="02010609060101010101" charset="-122"/>
              <a:ea typeface="黑体" panose="02010609060101010101" charset="-122"/>
              <a:cs typeface="黑体" panose="02010609060101010101" charset="-122"/>
            </a:endParaRPr>
          </a:p>
        </p:txBody>
      </p:sp>
      <p:grpSp>
        <p:nvGrpSpPr>
          <p:cNvPr id="55" name="组合 54"/>
          <p:cNvGrpSpPr/>
          <p:nvPr/>
        </p:nvGrpSpPr>
        <p:grpSpPr>
          <a:xfrm rot="0">
            <a:off x="7106285" y="4794568"/>
            <a:ext cx="1439545" cy="692150"/>
            <a:chOff x="23598" y="12409"/>
            <a:chExt cx="4534" cy="2180"/>
          </a:xfrm>
        </p:grpSpPr>
        <p:sp>
          <p:nvSpPr>
            <p:cNvPr id="14" name="文本框 13"/>
            <p:cNvSpPr txBox="1"/>
            <p:nvPr/>
          </p:nvSpPr>
          <p:spPr>
            <a:xfrm>
              <a:off x="23598" y="13455"/>
              <a:ext cx="4534" cy="1134"/>
            </a:xfrm>
            <a:prstGeom prst="rect">
              <a:avLst/>
            </a:prstGeom>
            <a:ln>
              <a:solidFill>
                <a:srgbClr val="92D050"/>
              </a:solidFill>
            </a:ln>
          </p:spPr>
          <p:style>
            <a:lnRef idx="3">
              <a:schemeClr val="accent3"/>
            </a:lnRef>
            <a:fillRef idx="0">
              <a:srgbClr val="FFFFFF"/>
            </a:fillRef>
            <a:effectRef idx="0">
              <a:srgbClr val="FFFFFF"/>
            </a:effectRef>
            <a:fontRef idx="minor">
              <a:schemeClr val="tx1"/>
            </a:fontRef>
          </p:style>
          <p:txBody>
            <a:bodyPr wrap="square" rtlCol="0" anchor="ctr" anchorCtr="0">
              <a:noAutofit/>
            </a:bodyPr>
            <a:p>
              <a:pPr lvl="0" algn="ctr" eaLnBrk="0"/>
              <a:r>
                <a:rPr lang="en-US" altLang="zh-CN" sz="1000" b="1"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{{security_value2}}</a:t>
              </a:r>
              <a:endParaRPr lang="en-US" altLang="zh-CN" sz="1000" b="1" spc="-60" dirty="0">
                <a:solidFill>
                  <a:srgbClr val="20409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20" name="组合 19"/>
            <p:cNvGrpSpPr/>
            <p:nvPr/>
          </p:nvGrpSpPr>
          <p:grpSpPr>
            <a:xfrm rot="0">
              <a:off x="25412" y="12409"/>
              <a:ext cx="907" cy="907"/>
              <a:chOff x="25500" y="11572"/>
              <a:chExt cx="907" cy="907"/>
            </a:xfrm>
          </p:grpSpPr>
          <p:sp>
            <p:nvSpPr>
              <p:cNvPr id="15" name="椭圆 14"/>
              <p:cNvSpPr/>
              <p:nvPr>
                <p:custDataLst>
                  <p:tags r:id="rId12"/>
                </p:custDataLst>
              </p:nvPr>
            </p:nvSpPr>
            <p:spPr bwMode="auto">
              <a:xfrm>
                <a:off x="25500" y="11572"/>
                <a:ext cx="907" cy="907"/>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fontScale="80000"/>
              </a:bodyPr>
              <a:p>
                <a:pPr algn="ctr"/>
                <a:endParaRPr lang="zh-CN" altLang="en-US" sz="900">
                  <a:solidFill>
                    <a:sysClr val="windowText" lastClr="000000"/>
                  </a:solidFill>
                  <a:cs typeface="+mn-ea"/>
                </a:endParaRPr>
              </a:p>
            </p:txBody>
          </p:sp>
          <p:pic>
            <p:nvPicPr>
              <p:cNvPr id="16" name="图片 15" descr="闪电"/>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5670" y="11742"/>
                <a:ext cx="567" cy="567"/>
              </a:xfrm>
              <a:prstGeom prst="rect">
                <a:avLst/>
              </a:prstGeom>
            </p:spPr>
          </p:pic>
        </p:grpSp>
      </p:grpSp>
      <p:grpSp>
        <p:nvGrpSpPr>
          <p:cNvPr id="56" name="组合 55"/>
          <p:cNvGrpSpPr/>
          <p:nvPr/>
        </p:nvGrpSpPr>
        <p:grpSpPr>
          <a:xfrm rot="0">
            <a:off x="9695815" y="4794568"/>
            <a:ext cx="1439545" cy="692150"/>
            <a:chOff x="31276" y="12409"/>
            <a:chExt cx="4534" cy="2180"/>
          </a:xfrm>
        </p:grpSpPr>
        <p:sp>
          <p:nvSpPr>
            <p:cNvPr id="17" name="文本框 16"/>
            <p:cNvSpPr txBox="1"/>
            <p:nvPr/>
          </p:nvSpPr>
          <p:spPr>
            <a:xfrm>
              <a:off x="31276" y="13455"/>
              <a:ext cx="4534" cy="1134"/>
            </a:xfrm>
            <a:prstGeom prst="rect">
              <a:avLst/>
            </a:prstGeom>
            <a:ln>
              <a:solidFill>
                <a:srgbClr val="92D050"/>
              </a:solidFill>
            </a:ln>
          </p:spPr>
          <p:style>
            <a:lnRef idx="3">
              <a:schemeClr val="accent3"/>
            </a:lnRef>
            <a:fillRef idx="0">
              <a:srgbClr val="FFFFFF"/>
            </a:fillRef>
            <a:effectRef idx="0">
              <a:srgbClr val="FFFFFF"/>
            </a:effectRef>
            <a:fontRef idx="minor">
              <a:schemeClr val="tx1"/>
            </a:fontRef>
          </p:style>
          <p:txBody>
            <a:bodyPr wrap="square" rtlCol="0" anchor="ctr" anchorCtr="0">
              <a:noAutofit/>
            </a:bodyPr>
            <a:p>
              <a:pPr lvl="0" algn="ctr" eaLnBrk="0"/>
              <a:r>
                <a:rPr lang="en-US" altLang="zh-CN" sz="1000" b="1"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{{security_value3}}</a:t>
              </a:r>
              <a:endParaRPr lang="en-US" altLang="zh-CN" sz="1000" b="1" spc="-60" dirty="0">
                <a:solidFill>
                  <a:srgbClr val="20409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18" name="组合 17"/>
            <p:cNvGrpSpPr/>
            <p:nvPr/>
          </p:nvGrpSpPr>
          <p:grpSpPr>
            <a:xfrm rot="0">
              <a:off x="33090" y="12409"/>
              <a:ext cx="907" cy="907"/>
              <a:chOff x="33129" y="11647"/>
              <a:chExt cx="907" cy="907"/>
            </a:xfrm>
          </p:grpSpPr>
          <p:sp>
            <p:nvSpPr>
              <p:cNvPr id="19" name="椭圆 18"/>
              <p:cNvSpPr/>
              <p:nvPr>
                <p:custDataLst>
                  <p:tags r:id="rId15"/>
                </p:custDataLst>
              </p:nvPr>
            </p:nvSpPr>
            <p:spPr bwMode="auto">
              <a:xfrm>
                <a:off x="33129" y="11647"/>
                <a:ext cx="907" cy="907"/>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fontScale="80000"/>
              </a:bodyPr>
              <a:p>
                <a:pPr algn="ctr"/>
                <a:endParaRPr lang="zh-CN" altLang="en-US" sz="900">
                  <a:solidFill>
                    <a:sysClr val="windowText" lastClr="000000"/>
                  </a:solidFill>
                  <a:cs typeface="+mn-ea"/>
                </a:endParaRPr>
              </a:p>
            </p:txBody>
          </p:sp>
          <p:pic>
            <p:nvPicPr>
              <p:cNvPr id="24" name="图片 23" descr="人力费用"/>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33299" y="11817"/>
                <a:ext cx="567" cy="567"/>
              </a:xfrm>
              <a:prstGeom prst="rect">
                <a:avLst/>
              </a:prstGeom>
            </p:spPr>
          </p:pic>
        </p:grpSp>
      </p:grpSp>
      <p:pic>
        <p:nvPicPr>
          <p:cNvPr id="60" name="图片 59" descr="折线图"/>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134168" y="4495165"/>
            <a:ext cx="215900" cy="215900"/>
          </a:xfrm>
          <a:prstGeom prst="rect">
            <a:avLst/>
          </a:prstGeom>
        </p:spPr>
      </p:pic>
      <p:sp>
        <p:nvSpPr>
          <p:cNvPr id="30" name="文本框 29"/>
          <p:cNvSpPr txBox="1"/>
          <p:nvPr/>
        </p:nvSpPr>
        <p:spPr>
          <a:xfrm>
            <a:off x="4513898" y="4458970"/>
            <a:ext cx="2719705" cy="288290"/>
          </a:xfrm>
          <a:prstGeom prst="rect">
            <a:avLst/>
          </a:prstGeom>
          <a:noFill/>
        </p:spPr>
        <p:txBody>
          <a:bodyPr wrap="square" rtlCol="0" anchor="ctr" anchorCtr="0">
            <a:noAutofit/>
          </a:bodyPr>
          <a:p>
            <a:pPr marL="12700" algn="l" rtl="0" eaLnBrk="0">
              <a:lnSpc>
                <a:spcPct val="95000"/>
              </a:lnSpc>
            </a:pPr>
            <a:r>
              <a:rPr lang="zh-CN" sz="900" b="1" kern="0" spc="230" dirty="0">
                <a:solidFill>
                  <a:srgbClr val="000000">
                    <a:alpha val="100000"/>
                  </a:srgbClr>
                </a:solidFill>
                <a:latin typeface="黑体" panose="02010609060101010101" charset="-122"/>
                <a:ea typeface="黑体" panose="02010609060101010101" charset="-122"/>
                <a:cs typeface="黑体" panose="02010609060101010101" charset="-122"/>
                <a:sym typeface="+mn-ea"/>
              </a:rPr>
              <a:t>重要时期网络安全保障工作价值</a:t>
            </a:r>
            <a:endParaRPr lang="zh-CN" sz="900" b="1" kern="0" spc="23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52" name="组合 51"/>
          <p:cNvGrpSpPr/>
          <p:nvPr/>
        </p:nvGrpSpPr>
        <p:grpSpPr>
          <a:xfrm rot="0">
            <a:off x="4516120" y="4794568"/>
            <a:ext cx="1440180" cy="692150"/>
            <a:chOff x="15001" y="12047"/>
            <a:chExt cx="4536" cy="2180"/>
          </a:xfrm>
        </p:grpSpPr>
        <p:sp>
          <p:nvSpPr>
            <p:cNvPr id="31" name="文本框 30"/>
            <p:cNvSpPr txBox="1"/>
            <p:nvPr/>
          </p:nvSpPr>
          <p:spPr>
            <a:xfrm>
              <a:off x="15001" y="13093"/>
              <a:ext cx="4536" cy="1134"/>
            </a:xfrm>
            <a:prstGeom prst="rect">
              <a:avLst/>
            </a:prstGeom>
            <a:ln>
              <a:solidFill>
                <a:srgbClr val="92D050"/>
              </a:solidFill>
            </a:ln>
          </p:spPr>
          <p:style>
            <a:lnRef idx="3">
              <a:schemeClr val="accent3"/>
            </a:lnRef>
            <a:fillRef idx="0">
              <a:srgbClr val="FFFFFF"/>
            </a:fillRef>
            <a:effectRef idx="0">
              <a:srgbClr val="FFFFFF"/>
            </a:effectRef>
            <a:fontRef idx="minor">
              <a:schemeClr val="tx1"/>
            </a:fontRef>
          </p:style>
          <p:txBody>
            <a:bodyPr wrap="square" rtlCol="0" anchor="ctr" anchorCtr="0">
              <a:noAutofit/>
            </a:bodyPr>
            <a:p>
              <a:pPr algn="ctr" rtl="0" eaLnBrk="0">
                <a:lnSpc>
                  <a:spcPct val="100000"/>
                </a:lnSpc>
              </a:pPr>
              <a:r>
                <a:rPr lang="en-US" altLang="zh-CN" sz="1000" b="1" kern="0"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{{security_value1}}</a:t>
              </a:r>
              <a:endParaRPr lang="en-US" altLang="zh-CN" sz="1000" b="1" kern="0" spc="-60" dirty="0">
                <a:solidFill>
                  <a:srgbClr val="20409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33" name="组合 32"/>
            <p:cNvGrpSpPr/>
            <p:nvPr/>
          </p:nvGrpSpPr>
          <p:grpSpPr>
            <a:xfrm>
              <a:off x="16816" y="12047"/>
              <a:ext cx="907" cy="907"/>
              <a:chOff x="16280" y="11640"/>
              <a:chExt cx="907" cy="907"/>
            </a:xfrm>
          </p:grpSpPr>
          <p:sp>
            <p:nvSpPr>
              <p:cNvPr id="34" name="椭圆 33"/>
              <p:cNvSpPr/>
              <p:nvPr>
                <p:custDataLst>
                  <p:tags r:id="rId20"/>
                </p:custDataLst>
              </p:nvPr>
            </p:nvSpPr>
            <p:spPr bwMode="auto">
              <a:xfrm>
                <a:off x="16280" y="11640"/>
                <a:ext cx="907" cy="907"/>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fontScale="80000"/>
              </a:bodyPr>
              <a:p>
                <a:pPr algn="ctr"/>
                <a:endParaRPr lang="zh-CN" altLang="en-US" sz="900">
                  <a:solidFill>
                    <a:sysClr val="windowText" lastClr="000000"/>
                  </a:solidFill>
                  <a:cs typeface="+mn-ea"/>
                </a:endParaRPr>
              </a:p>
            </p:txBody>
          </p:sp>
          <p:pic>
            <p:nvPicPr>
              <p:cNvPr id="36" name="图片 35" descr="放大镜"/>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6471" y="11817"/>
                <a:ext cx="567" cy="567"/>
              </a:xfrm>
              <a:prstGeom prst="rect">
                <a:avLst/>
              </a:prstGeom>
            </p:spPr>
          </p:pic>
        </p:grpSp>
      </p:grpSp>
      <p:pic>
        <p:nvPicPr>
          <p:cNvPr id="2" name="图片 1" descr="深信服 + 智安全"/>
          <p:cNvPicPr>
            <a:picLocks noChangeAspect="1"/>
          </p:cNvPicPr>
          <p:nvPr/>
        </p:nvPicPr>
        <p:blipFill>
          <a:blip r:embed="rId23"/>
          <a:srcRect l="5232" t="26576" r="4938" b="29565"/>
          <a:stretch>
            <a:fillRect/>
          </a:stretch>
        </p:blipFill>
        <p:spPr>
          <a:xfrm>
            <a:off x="10017125" y="238760"/>
            <a:ext cx="1629867" cy="360000"/>
          </a:xfrm>
          <a:prstGeom prst="rect">
            <a:avLst/>
          </a:prstGeom>
        </p:spPr>
      </p:pic>
      <p:sp>
        <p:nvSpPr>
          <p:cNvPr id="4" name="文本框 3"/>
          <p:cNvSpPr txBox="1"/>
          <p:nvPr/>
        </p:nvSpPr>
        <p:spPr>
          <a:xfrm>
            <a:off x="8013065" y="1371600"/>
            <a:ext cx="3558540" cy="2509520"/>
          </a:xfrm>
          <a:prstGeom prst="rect">
            <a:avLst/>
          </a:prstGeom>
          <a:noFill/>
        </p:spPr>
        <p:txBody>
          <a:bodyPr wrap="square" rtlCol="0" anchor="t">
            <a:spAutoFit/>
          </a:bodyPr>
          <a:p>
            <a:pPr marL="191770" indent="0" algn="l" rtl="0" eaLnBrk="0" fontAlgn="auto">
              <a:lnSpc>
                <a:spcPct val="150000"/>
              </a:lnSpc>
              <a:spcBef>
                <a:spcPts val="0"/>
              </a:spcBef>
            </a:pP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中秋节</a:t>
            </a: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mid_autumn_festival</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国庆</a:t>
            </a: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national_day</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a:p>
            <a:pPr marL="191770" indent="0" algn="l" defTabSz="2438400" rtl="0" eaLnBrk="0" fontAlgn="auto">
              <a:lnSpc>
                <a:spcPct val="140000"/>
              </a:lnSpc>
              <a:spcBef>
                <a:spcPts val="0"/>
              </a:spcBef>
            </a:pP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元旦</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节</a:t>
            </a: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sz="800" b="1" spc="40" dirty="0">
              <a:solidFill>
                <a:srgbClr val="204080">
                  <a:alpha val="100000"/>
                </a:srgbClr>
              </a:solidFill>
              <a:latin typeface="黑体" panose="02010609060101010101" charset="-122"/>
              <a:ea typeface="黑体" panose="02010609060101010101" charset="-122"/>
              <a:cs typeface="黑体" panose="02010609060101010101" charset="-122"/>
            </a:endParaRPr>
          </a:p>
          <a:p>
            <a:pPr marL="191770" indent="0" algn="l" rtl="0" eaLnBrk="0" fontAlgn="auto">
              <a:lnSpc>
                <a:spcPct val="140000"/>
              </a:lnSpc>
              <a:spcBef>
                <a:spcPts val="0"/>
              </a:spcBef>
            </a:pP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new_years_day</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春节值守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sz="800" dirty="0">
              <a:latin typeface="黑体" panose="02010609060101010101" charset="-122"/>
              <a:ea typeface="黑体" panose="02010609060101010101" charset="-122"/>
              <a:cs typeface="黑体" panose="02010609060101010101" charset="-122"/>
            </a:endParaRPr>
          </a:p>
          <a:p>
            <a:pPr marL="191770" indent="0" algn="l" rtl="0" eaLnBrk="0" fontAlgn="auto">
              <a:lnSpc>
                <a:spcPct val="140000"/>
              </a:lnSpc>
              <a:spcBef>
                <a:spcPts val="0"/>
              </a:spcBef>
            </a:pP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spring_festival</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lang="zh-CN" altLang="en-US"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清明节</a:t>
            </a: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sz="800" dirty="0">
              <a:latin typeface="黑体" panose="02010609060101010101" charset="-122"/>
              <a:ea typeface="黑体" panose="02010609060101010101" charset="-122"/>
              <a:cs typeface="黑体" panose="02010609060101010101" charset="-122"/>
            </a:endParaRPr>
          </a:p>
          <a:p>
            <a:pPr marL="191770" indent="0" algn="l" rtl="0" eaLnBrk="0" fontAlgn="auto">
              <a:lnSpc>
                <a:spcPct val="140000"/>
              </a:lnSpc>
              <a:spcBef>
                <a:spcPts val="0"/>
              </a:spcBef>
            </a:pP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qingming_festival</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sz="800" spc="-10" dirty="0">
              <a:solidFill>
                <a:srgbClr val="000000">
                  <a:alpha val="100000"/>
                </a:srgbClr>
              </a:solidFill>
              <a:latin typeface="黑体" panose="02010609060101010101" charset="-122"/>
              <a:ea typeface="黑体" panose="02010609060101010101" charset="-122"/>
              <a:cs typeface="黑体" panose="02010609060101010101" charset="-122"/>
            </a:endParaRPr>
          </a:p>
          <a:p>
            <a:pPr marL="191770" indent="0" algn="l" defTabSz="2438400" rtl="0" eaLnBrk="0" fontAlgn="auto">
              <a:lnSpc>
                <a:spcPct val="140000"/>
              </a:lnSpc>
              <a:spcBef>
                <a:spcPts val="0"/>
              </a:spcBef>
            </a:pP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五一值守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sz="800" b="1" spc="40" dirty="0">
              <a:solidFill>
                <a:srgbClr val="204080">
                  <a:alpha val="100000"/>
                </a:srgbClr>
              </a:solidFill>
              <a:latin typeface="黑体" panose="02010609060101010101" charset="-122"/>
              <a:ea typeface="黑体" panose="02010609060101010101" charset="-122"/>
              <a:cs typeface="黑体" panose="02010609060101010101" charset="-122"/>
            </a:endParaRPr>
          </a:p>
          <a:p>
            <a:pPr marL="191770" indent="0" algn="l" rtl="0" eaLnBrk="0" fontAlgn="auto">
              <a:lnSpc>
                <a:spcPct val="140000"/>
              </a:lnSpc>
              <a:spcBef>
                <a:spcPts val="0"/>
              </a:spcBef>
            </a:pP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labor_day</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端午节值守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sz="800" b="1" spc="40" dirty="0">
              <a:solidFill>
                <a:srgbClr val="204080">
                  <a:alpha val="100000"/>
                </a:srgbClr>
              </a:solidFill>
              <a:latin typeface="黑体" panose="02010609060101010101" charset="-122"/>
              <a:ea typeface="黑体" panose="02010609060101010101" charset="-122"/>
              <a:cs typeface="黑体" panose="02010609060101010101" charset="-122"/>
            </a:endParaRPr>
          </a:p>
          <a:p>
            <a:pPr marL="191770" indent="0" algn="l" rtl="0" eaLnBrk="0" fontAlgn="auto">
              <a:lnSpc>
                <a:spcPct val="140000"/>
              </a:lnSpc>
              <a:spcBef>
                <a:spcPts val="0"/>
              </a:spcBef>
            </a:pP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dragon_boat_festival</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lang="zh-CN" altLang="en-US"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8" name="文本框 7"/>
          <p:cNvSpPr txBox="1"/>
          <p:nvPr/>
        </p:nvSpPr>
        <p:spPr>
          <a:xfrm>
            <a:off x="5333365" y="1484630"/>
            <a:ext cx="1885315" cy="368300"/>
          </a:xfrm>
          <a:prstGeom prst="rect">
            <a:avLst/>
          </a:prstGeom>
          <a:noFill/>
        </p:spPr>
        <p:txBody>
          <a:bodyPr wrap="square" rtlCol="0" anchor="t">
            <a:spAutoFit/>
          </a:bodyPr>
          <a:p>
            <a:r>
              <a:rPr lang="zh-CN" altLang="en-US"/>
              <a:t>{{P16_combo}}</a:t>
            </a:r>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158"/>
          <p:cNvSpPr/>
          <p:nvPr/>
        </p:nvSpPr>
        <p:spPr>
          <a:xfrm>
            <a:off x="647700" y="346710"/>
            <a:ext cx="4261485" cy="613410"/>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a:ea typeface="Arial" panose="020B0604020202020204"/>
              <a:cs typeface="Arial" panose="020B0604020202020204"/>
            </a:endParaRPr>
          </a:p>
          <a:p>
            <a:pPr marL="15875" algn="l" rtl="0" eaLnBrk="0">
              <a:lnSpc>
                <a:spcPct val="98000"/>
              </a:lnSpc>
            </a:pPr>
            <a:r>
              <a:rPr lang="zh-CN" altLang="en-US" sz="1900" kern="0" dirty="0">
                <a:solidFill>
                  <a:srgbClr val="4C61E7"/>
                </a:solidFill>
                <a:latin typeface="黑体" panose="02010609060101010101" charset="-122"/>
                <a:ea typeface="黑体" panose="02010609060101010101" charset="-122"/>
                <a:cs typeface="黑体" panose="02010609060101010101" charset="-122"/>
              </a:rPr>
              <a:t>安全设备与平台成效</a:t>
            </a:r>
            <a:endParaRPr lang="zh-CN" altLang="en-US" sz="1900" dirty="0">
              <a:solidFill>
                <a:srgbClr val="4C61E7"/>
              </a:solidFill>
              <a:latin typeface="黑体" panose="02010609060101010101" charset="-122"/>
              <a:ea typeface="黑体" panose="02010609060101010101" charset="-122"/>
              <a:cs typeface="黑体" panose="02010609060101010101" charset="-122"/>
            </a:endParaRPr>
          </a:p>
          <a:p>
            <a:pPr algn="l" rtl="0" eaLnBrk="0">
              <a:lnSpc>
                <a:spcPct val="101000"/>
              </a:lnSpc>
            </a:pPr>
            <a:endParaRPr sz="800" dirty="0">
              <a:latin typeface="Arial" panose="020B0604020202020204"/>
              <a:ea typeface="Arial" panose="020B0604020202020204"/>
              <a:cs typeface="Arial" panose="020B0604020202020204"/>
            </a:endParaRPr>
          </a:p>
          <a:p>
            <a:pPr marL="12700" algn="l" rtl="0" eaLnBrk="0">
              <a:lnSpc>
                <a:spcPct val="92000"/>
              </a:lnSpc>
              <a:spcBef>
                <a:spcPts val="5"/>
              </a:spcBef>
            </a:pPr>
            <a:r>
              <a:rPr lang="zh-CN" altLang="en-US" sz="1000" kern="0" spc="40" dirty="0">
                <a:solidFill>
                  <a:srgbClr val="000000">
                    <a:alpha val="100000"/>
                  </a:srgbClr>
                </a:solidFill>
                <a:latin typeface="黑体" panose="02010609060101010101" charset="-122"/>
                <a:ea typeface="黑体" panose="02010609060101010101" charset="-122"/>
                <a:cs typeface="黑体" panose="02010609060101010101" charset="-122"/>
              </a:rPr>
              <a:t>技术能力加持业务安全，确保安全</a:t>
            </a:r>
            <a:r>
              <a:rPr lang="zh-CN" altLang="en-US" sz="1000" kern="0" spc="40" dirty="0">
                <a:solidFill>
                  <a:srgbClr val="000000">
                    <a:alpha val="100000"/>
                  </a:srgbClr>
                </a:solidFill>
                <a:latin typeface="黑体" panose="02010609060101010101" charset="-122"/>
                <a:ea typeface="黑体" panose="02010609060101010101" charset="-122"/>
                <a:cs typeface="黑体" panose="02010609060101010101" charset="-122"/>
              </a:rPr>
              <a:t>投入价值最大化</a:t>
            </a:r>
            <a:endParaRPr lang="zh-CN" altLang="en-US" sz="1000" kern="0" spc="40" dirty="0">
              <a:solidFill>
                <a:srgbClr val="000000">
                  <a:alpha val="100000"/>
                </a:srgbClr>
              </a:solidFill>
              <a:latin typeface="黑体" panose="02010609060101010101" charset="-122"/>
              <a:ea typeface="黑体" panose="02010609060101010101" charset="-122"/>
              <a:cs typeface="黑体" panose="02010609060101010101" charset="-122"/>
            </a:endParaRPr>
          </a:p>
        </p:txBody>
      </p:sp>
      <p:sp>
        <p:nvSpPr>
          <p:cNvPr id="13" name="文本框 12"/>
          <p:cNvSpPr txBox="1"/>
          <p:nvPr/>
        </p:nvSpPr>
        <p:spPr>
          <a:xfrm>
            <a:off x="1275398" y="1644650"/>
            <a:ext cx="1331913" cy="1981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noAutofit/>
          </a:bodyPr>
          <a:p>
            <a:pPr marL="34290" algn="ctr" rtl="0" eaLnBrk="0">
              <a:lnSpc>
                <a:spcPct val="96000"/>
              </a:lnSpc>
              <a:spcBef>
                <a:spcPts val="1125"/>
              </a:spcBef>
            </a:pP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边界防火墙检出攻击</a:t>
            </a:r>
            <a:endPar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4" name="文本框 13"/>
          <p:cNvSpPr txBox="1"/>
          <p:nvPr/>
        </p:nvSpPr>
        <p:spPr>
          <a:xfrm>
            <a:off x="1178560" y="1905635"/>
            <a:ext cx="1643380" cy="39052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ctr" rtl="0" eaLnBrk="0">
              <a:lnSpc>
                <a:spcPct val="79000"/>
              </a:lnSpc>
              <a:spcBef>
                <a:spcPts val="310"/>
              </a:spcBef>
            </a:pPr>
            <a:r>
              <a:rPr lang="en-US" altLang="zh-CN"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{{firewall_detected_attack_count}}</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次</a:t>
            </a:r>
            <a:endPar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19" name="文本框 18"/>
          <p:cNvSpPr txBox="1"/>
          <p:nvPr/>
        </p:nvSpPr>
        <p:spPr>
          <a:xfrm>
            <a:off x="1275398" y="2240598"/>
            <a:ext cx="1396048" cy="1981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ctr" rtl="0" eaLnBrk="0">
              <a:lnSpc>
                <a:spcPct val="96000"/>
              </a:lnSpc>
              <a:spcBef>
                <a:spcPts val="1125"/>
              </a:spcBef>
            </a:pPr>
            <a:r>
              <a:rPr lang="en-US" alt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AES</a:t>
            </a: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检出端点安全风险</a:t>
            </a:r>
            <a:endPar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0" name="文本框 19"/>
          <p:cNvSpPr txBox="1"/>
          <p:nvPr/>
        </p:nvSpPr>
        <p:spPr>
          <a:xfrm>
            <a:off x="1289685" y="2510155"/>
            <a:ext cx="1335405" cy="7302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ctr" rtl="0" eaLnBrk="0">
              <a:lnSpc>
                <a:spcPct val="79000"/>
              </a:lnSpc>
              <a:spcBef>
                <a:spcPts val="310"/>
              </a:spcBef>
            </a:pPr>
            <a:r>
              <a:rPr lang="en-US" altLang="zh-CN"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{{AES_detected_endpoint_security_risk_count}}</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 </a:t>
            </a:r>
            <a:r>
              <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起</a:t>
            </a:r>
            <a:endParaRPr lang="zh-CN" altLang="en-US" sz="800" b="1" spc="-30" dirty="0">
              <a:solidFill>
                <a:schemeClr val="bg2">
                  <a:lumMod val="10000"/>
                  <a:alpha val="100000"/>
                </a:schemeClr>
              </a:solidFill>
              <a:latin typeface="宋体" panose="02010600030101010101" pitchFamily="2" charset="-122"/>
              <a:ea typeface="宋体" panose="02010600030101010101" pitchFamily="2" charset="-122"/>
              <a:cs typeface="Times New Roman" panose="02020603050405020304"/>
              <a:sym typeface="+mn-ea"/>
            </a:endParaRPr>
          </a:p>
        </p:txBody>
      </p:sp>
      <p:sp>
        <p:nvSpPr>
          <p:cNvPr id="23" name="椭圆 22"/>
          <p:cNvSpPr/>
          <p:nvPr>
            <p:custDataLst>
              <p:tags r:id="rId1"/>
            </p:custDataLst>
          </p:nvPr>
        </p:nvSpPr>
        <p:spPr bwMode="auto">
          <a:xfrm>
            <a:off x="733743" y="1696720"/>
            <a:ext cx="432118" cy="432118"/>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a:bodyPr>
          <a:p>
            <a:pPr algn="ctr"/>
            <a:endParaRPr lang="zh-CN" altLang="en-US" sz="900">
              <a:solidFill>
                <a:sysClr val="windowText" lastClr="000000"/>
              </a:solidFill>
              <a:cs typeface="+mn-ea"/>
            </a:endParaRPr>
          </a:p>
        </p:txBody>
      </p:sp>
      <p:sp>
        <p:nvSpPr>
          <p:cNvPr id="25" name="椭圆 24"/>
          <p:cNvSpPr/>
          <p:nvPr>
            <p:custDataLst>
              <p:tags r:id="rId2"/>
            </p:custDataLst>
          </p:nvPr>
        </p:nvSpPr>
        <p:spPr bwMode="auto">
          <a:xfrm>
            <a:off x="728028" y="2298700"/>
            <a:ext cx="432118" cy="432118"/>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a:bodyPr>
          <a:p>
            <a:pPr algn="ctr"/>
            <a:endParaRPr lang="zh-CN" altLang="en-US" sz="900">
              <a:solidFill>
                <a:sysClr val="windowText" lastClr="000000"/>
              </a:solidFill>
              <a:cs typeface="+mn-ea"/>
            </a:endParaRPr>
          </a:p>
        </p:txBody>
      </p:sp>
      <p:sp>
        <p:nvSpPr>
          <p:cNvPr id="30" name="椭圆 29"/>
          <p:cNvSpPr/>
          <p:nvPr>
            <p:custDataLst>
              <p:tags r:id="rId3"/>
            </p:custDataLst>
          </p:nvPr>
        </p:nvSpPr>
        <p:spPr bwMode="auto">
          <a:xfrm>
            <a:off x="734060" y="2906395"/>
            <a:ext cx="432118" cy="432118"/>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a:bodyPr>
          <a:p>
            <a:pPr algn="ctr"/>
            <a:endParaRPr lang="zh-CN" altLang="en-US" sz="900">
              <a:solidFill>
                <a:sysClr val="windowText" lastClr="000000"/>
              </a:solidFill>
              <a:cs typeface="+mn-ea"/>
            </a:endParaRPr>
          </a:p>
        </p:txBody>
      </p:sp>
      <p:sp>
        <p:nvSpPr>
          <p:cNvPr id="199" name="任意多边形 47"/>
          <p:cNvSpPr/>
          <p:nvPr>
            <p:custDataLst>
              <p:tags r:id="rId4"/>
            </p:custDataLst>
          </p:nvPr>
        </p:nvSpPr>
        <p:spPr>
          <a:xfrm rot="10800000">
            <a:off x="8055573" y="2678228"/>
            <a:ext cx="2448000" cy="666000"/>
          </a:xfrm>
          <a:custGeom>
            <a:avLst/>
            <a:gdLst>
              <a:gd name="connsiteX0" fmla="*/ 8555392 w 17110784"/>
              <a:gd name="connsiteY0" fmla="*/ 3271968 h 3271968"/>
              <a:gd name="connsiteX1" fmla="*/ 0 w 17110784"/>
              <a:gd name="connsiteY1" fmla="*/ 1635984 h 3271968"/>
              <a:gd name="connsiteX2" fmla="*/ 8555392 w 17110784"/>
              <a:gd name="connsiteY2" fmla="*/ 0 h 3271968"/>
              <a:gd name="connsiteX3" fmla="*/ 17110784 w 17110784"/>
              <a:gd name="connsiteY3" fmla="*/ 1635984 h 3271968"/>
              <a:gd name="connsiteX4" fmla="*/ 8555392 w 17110784"/>
              <a:gd name="connsiteY4" fmla="*/ 3271968 h 3271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10784" h="3271968">
                <a:moveTo>
                  <a:pt x="8555392" y="3271968"/>
                </a:moveTo>
                <a:cubicBezTo>
                  <a:pt x="3830376" y="3271968"/>
                  <a:pt x="0" y="2539513"/>
                  <a:pt x="0" y="1635984"/>
                </a:cubicBezTo>
                <a:cubicBezTo>
                  <a:pt x="0" y="732455"/>
                  <a:pt x="3830376" y="0"/>
                  <a:pt x="8555392" y="0"/>
                </a:cubicBezTo>
                <a:cubicBezTo>
                  <a:pt x="13280404" y="0"/>
                  <a:pt x="17110784" y="732455"/>
                  <a:pt x="17110784" y="1635984"/>
                </a:cubicBezTo>
                <a:cubicBezTo>
                  <a:pt x="17110784" y="2539513"/>
                  <a:pt x="13280404" y="3271968"/>
                  <a:pt x="8555392" y="3271968"/>
                </a:cubicBezTo>
                <a:close/>
              </a:path>
            </a:pathLst>
          </a:custGeom>
          <a:noFill/>
          <a:ln w="6350" cap="flat" cmpd="sng" algn="ctr">
            <a:gradFill>
              <a:gsLst>
                <a:gs pos="0">
                  <a:srgbClr val="00539F"/>
                </a:gs>
                <a:gs pos="100000">
                  <a:srgbClr val="00539F">
                    <a:alpha val="0"/>
                  </a:srgbClr>
                </a:gs>
              </a:gsLst>
              <a:lin ang="5400000" scaled="1"/>
            </a:gradFill>
            <a:prstDash val="solid"/>
            <a:miter lim="800000"/>
          </a:ln>
          <a:effectLst/>
        </p:spPr>
        <p:txBody>
          <a:bodyPr wrap="square" lIns="91422" tIns="45712" rIns="91422" bIns="45712"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200" name="任意多边形 44"/>
          <p:cNvSpPr/>
          <p:nvPr>
            <p:custDataLst>
              <p:tags r:id="rId5"/>
            </p:custDataLst>
          </p:nvPr>
        </p:nvSpPr>
        <p:spPr>
          <a:xfrm rot="10800000">
            <a:off x="7893573" y="3301048"/>
            <a:ext cx="2772000" cy="864235"/>
          </a:xfrm>
          <a:custGeom>
            <a:avLst/>
            <a:gdLst>
              <a:gd name="connsiteX0" fmla="*/ 9001018 w 18002036"/>
              <a:gd name="connsiteY0" fmla="*/ 3661446 h 3661446"/>
              <a:gd name="connsiteX1" fmla="*/ 0 w 18002036"/>
              <a:gd name="connsiteY1" fmla="*/ 1830723 h 3661446"/>
              <a:gd name="connsiteX2" fmla="*/ 9001018 w 18002036"/>
              <a:gd name="connsiteY2" fmla="*/ 0 h 3661446"/>
              <a:gd name="connsiteX3" fmla="*/ 18002036 w 18002036"/>
              <a:gd name="connsiteY3" fmla="*/ 1830723 h 3661446"/>
              <a:gd name="connsiteX4" fmla="*/ 9001018 w 18002036"/>
              <a:gd name="connsiteY4" fmla="*/ 3661446 h 3661446"/>
              <a:gd name="connsiteX5" fmla="*/ 8979248 w 18002036"/>
              <a:gd name="connsiteY5" fmla="*/ 3549038 h 3661446"/>
              <a:gd name="connsiteX6" fmla="*/ 17534640 w 18002036"/>
              <a:gd name="connsiteY6" fmla="*/ 1913054 h 3661446"/>
              <a:gd name="connsiteX7" fmla="*/ 8979248 w 18002036"/>
              <a:gd name="connsiteY7" fmla="*/ 277070 h 3661446"/>
              <a:gd name="connsiteX8" fmla="*/ 423856 w 18002036"/>
              <a:gd name="connsiteY8" fmla="*/ 1913054 h 3661446"/>
              <a:gd name="connsiteX9" fmla="*/ 8979248 w 18002036"/>
              <a:gd name="connsiteY9" fmla="*/ 3549038 h 3661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36" h="3661446">
                <a:moveTo>
                  <a:pt x="9001018" y="3661446"/>
                </a:moveTo>
                <a:cubicBezTo>
                  <a:pt x="4029896" y="3661446"/>
                  <a:pt x="0" y="2841803"/>
                  <a:pt x="0" y="1830723"/>
                </a:cubicBezTo>
                <a:cubicBezTo>
                  <a:pt x="0" y="819643"/>
                  <a:pt x="4029896" y="0"/>
                  <a:pt x="9001018" y="0"/>
                </a:cubicBezTo>
                <a:cubicBezTo>
                  <a:pt x="13972142" y="0"/>
                  <a:pt x="18002036" y="819643"/>
                  <a:pt x="18002036" y="1830723"/>
                </a:cubicBezTo>
                <a:cubicBezTo>
                  <a:pt x="18002036" y="2841803"/>
                  <a:pt x="13972142" y="3661446"/>
                  <a:pt x="9001018" y="3661446"/>
                </a:cubicBezTo>
                <a:close/>
                <a:moveTo>
                  <a:pt x="8979248" y="3549038"/>
                </a:moveTo>
                <a:cubicBezTo>
                  <a:pt x="13704260" y="3549038"/>
                  <a:pt x="17534640" y="2816583"/>
                  <a:pt x="17534640" y="1913054"/>
                </a:cubicBezTo>
                <a:cubicBezTo>
                  <a:pt x="17534640" y="1009525"/>
                  <a:pt x="13704260" y="277070"/>
                  <a:pt x="8979248" y="277070"/>
                </a:cubicBezTo>
                <a:cubicBezTo>
                  <a:pt x="4254232" y="277070"/>
                  <a:pt x="423856" y="1009525"/>
                  <a:pt x="423856" y="1913054"/>
                </a:cubicBezTo>
                <a:cubicBezTo>
                  <a:pt x="423856" y="2816583"/>
                  <a:pt x="4254232" y="3549038"/>
                  <a:pt x="8979248" y="3549038"/>
                </a:cubicBezTo>
                <a:close/>
              </a:path>
            </a:pathLst>
          </a:custGeom>
          <a:gradFill>
            <a:gsLst>
              <a:gs pos="100000">
                <a:srgbClr val="7AC141">
                  <a:alpha val="0"/>
                </a:srgbClr>
              </a:gs>
              <a:gs pos="0">
                <a:srgbClr val="00539F"/>
              </a:gs>
            </a:gsLst>
            <a:lin ang="5400000" scaled="1"/>
          </a:gradFill>
          <a:ln w="6350" cap="flat" cmpd="sng" algn="ctr">
            <a:gradFill>
              <a:gsLst>
                <a:gs pos="0">
                  <a:srgbClr val="00539F"/>
                </a:gs>
                <a:gs pos="100000">
                  <a:srgbClr val="00539F">
                    <a:alpha val="0"/>
                  </a:srgbClr>
                </a:gs>
              </a:gsLst>
              <a:lin ang="5400000" scaled="1"/>
            </a:gradFill>
            <a:prstDash val="solid"/>
            <a:miter lim="800000"/>
          </a:ln>
          <a:effectLst/>
        </p:spPr>
        <p:txBody>
          <a:bodyPr wrap="square" lIns="91422" tIns="45712" rIns="91422" bIns="45712"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900"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201" name="任意多边形 46"/>
          <p:cNvSpPr/>
          <p:nvPr>
            <p:custDataLst>
              <p:tags r:id="rId6"/>
            </p:custDataLst>
          </p:nvPr>
        </p:nvSpPr>
        <p:spPr>
          <a:xfrm rot="10800000">
            <a:off x="8280573" y="2795228"/>
            <a:ext cx="1998000" cy="432000"/>
          </a:xfrm>
          <a:custGeom>
            <a:avLst/>
            <a:gdLst>
              <a:gd name="connsiteX0" fmla="*/ 8555392 w 17110784"/>
              <a:gd name="connsiteY0" fmla="*/ 3271968 h 3271968"/>
              <a:gd name="connsiteX1" fmla="*/ 0 w 17110784"/>
              <a:gd name="connsiteY1" fmla="*/ 1635984 h 3271968"/>
              <a:gd name="connsiteX2" fmla="*/ 8555392 w 17110784"/>
              <a:gd name="connsiteY2" fmla="*/ 0 h 3271968"/>
              <a:gd name="connsiteX3" fmla="*/ 17110784 w 17110784"/>
              <a:gd name="connsiteY3" fmla="*/ 1635984 h 3271968"/>
              <a:gd name="connsiteX4" fmla="*/ 8555392 w 17110784"/>
              <a:gd name="connsiteY4" fmla="*/ 3271968 h 3271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10784" h="3271968">
                <a:moveTo>
                  <a:pt x="8555392" y="3271968"/>
                </a:moveTo>
                <a:cubicBezTo>
                  <a:pt x="3830376" y="3271968"/>
                  <a:pt x="0" y="2539513"/>
                  <a:pt x="0" y="1635984"/>
                </a:cubicBezTo>
                <a:cubicBezTo>
                  <a:pt x="0" y="732455"/>
                  <a:pt x="3830376" y="0"/>
                  <a:pt x="8555392" y="0"/>
                </a:cubicBezTo>
                <a:cubicBezTo>
                  <a:pt x="13280404" y="0"/>
                  <a:pt x="17110784" y="732455"/>
                  <a:pt x="17110784" y="1635984"/>
                </a:cubicBezTo>
                <a:cubicBezTo>
                  <a:pt x="17110784" y="2539513"/>
                  <a:pt x="13280404" y="3271968"/>
                  <a:pt x="8555392" y="3271968"/>
                </a:cubicBezTo>
                <a:close/>
              </a:path>
            </a:pathLst>
          </a:custGeom>
          <a:noFill/>
          <a:ln w="6350" cap="flat" cmpd="sng" algn="ctr">
            <a:gradFill>
              <a:gsLst>
                <a:gs pos="0">
                  <a:srgbClr val="00539F"/>
                </a:gs>
                <a:gs pos="100000">
                  <a:srgbClr val="00539F">
                    <a:alpha val="0"/>
                  </a:srgbClr>
                </a:gs>
              </a:gsLst>
              <a:lin ang="5400000" scaled="1"/>
            </a:gradFill>
            <a:prstDash val="dash"/>
            <a:miter lim="800000"/>
          </a:ln>
          <a:effectLst/>
        </p:spPr>
        <p:txBody>
          <a:bodyPr wrap="square" lIns="91422" tIns="45712" rIns="91422" bIns="45712"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202" name="图片 20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794340" y="2653983"/>
            <a:ext cx="1152000" cy="491122"/>
          </a:xfrm>
          <a:prstGeom prst="rect">
            <a:avLst/>
          </a:prstGeom>
        </p:spPr>
      </p:pic>
      <p:sp>
        <p:nvSpPr>
          <p:cNvPr id="203" name="椭圆 202"/>
          <p:cNvSpPr/>
          <p:nvPr/>
        </p:nvSpPr>
        <p:spPr>
          <a:xfrm>
            <a:off x="7029573" y="4106228"/>
            <a:ext cx="4500000" cy="1440000"/>
          </a:xfrm>
          <a:prstGeom prst="ellipse">
            <a:avLst/>
          </a:prstGeom>
          <a:noFill/>
          <a:ln w="76200" cap="flat" cmpd="sng" algn="ctr">
            <a:gradFill>
              <a:gsLst>
                <a:gs pos="0">
                  <a:srgbClr val="4472C4">
                    <a:lumMod val="5000"/>
                    <a:lumOff val="95000"/>
                    <a:alpha val="1000"/>
                  </a:srgbClr>
                </a:gs>
                <a:gs pos="78000">
                  <a:srgbClr val="4472C4">
                    <a:lumMod val="45000"/>
                    <a:lumOff val="55000"/>
                  </a:srgbClr>
                </a:gs>
                <a:gs pos="100000">
                  <a:srgbClr val="4472C4"/>
                </a:gs>
              </a:gsLst>
              <a:lin ang="5400000" scaled="1"/>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09" name="矩形 52"/>
          <p:cNvSpPr>
            <a:spLocks noChangeArrowheads="1"/>
          </p:cNvSpPr>
          <p:nvPr/>
        </p:nvSpPr>
        <p:spPr bwMode="auto">
          <a:xfrm>
            <a:off x="7578090" y="4895850"/>
            <a:ext cx="1396365" cy="29908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spAutoFit/>
          </a:bodyPr>
          <a:lstStyle/>
          <a:p>
            <a:pPr marL="0" marR="0" lvl="0" indent="0" algn="ctr" defTabSz="914400" eaLnBrk="1" fontAlgn="auto" latinLnBrk="0" hangingPunct="1">
              <a:lnSpc>
                <a:spcPct val="150000"/>
              </a:lnSpc>
              <a:spcBef>
                <a:spcPts val="0"/>
              </a:spcBef>
              <a:spcAft>
                <a:spcPts val="0"/>
              </a:spcAft>
              <a:buClrTx/>
              <a:buSzTx/>
              <a:buFontTx/>
              <a:buNone/>
              <a:defRPr/>
            </a:pPr>
            <a:r>
              <a:rPr lang="zh-CN" altLang="en-US" sz="900" b="1" kern="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rPr>
              <a:t>端点安全组件</a:t>
            </a:r>
            <a:r>
              <a:rPr lang="en-US" altLang="zh-CN" sz="900" b="1" kern="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rPr>
              <a:t>aES</a:t>
            </a:r>
            <a:endParaRPr kumimoji="0" lang="en-US" altLang="zh-CN" sz="900" b="1" i="0" u="none" strike="noStrike" kern="0" cap="none" spc="0" normalizeH="0" baseline="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endParaRPr>
          </a:p>
        </p:txBody>
      </p:sp>
      <p:sp>
        <p:nvSpPr>
          <p:cNvPr id="210" name="矩形 52"/>
          <p:cNvSpPr>
            <a:spLocks noChangeArrowheads="1"/>
          </p:cNvSpPr>
          <p:nvPr/>
        </p:nvSpPr>
        <p:spPr bwMode="auto">
          <a:xfrm>
            <a:off x="8691722" y="5196205"/>
            <a:ext cx="1397000" cy="29908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spAutoFit/>
          </a:bodyPr>
          <a:lstStyle/>
          <a:p>
            <a:pPr marL="0" marR="0" lvl="0" indent="0" algn="ctr" defTabSz="914400" eaLnBrk="1" fontAlgn="auto" latinLnBrk="0" hangingPunct="1">
              <a:lnSpc>
                <a:spcPct val="150000"/>
              </a:lnSpc>
              <a:spcBef>
                <a:spcPts val="0"/>
              </a:spcBef>
              <a:spcAft>
                <a:spcPts val="0"/>
              </a:spcAft>
              <a:buClrTx/>
              <a:buSzTx/>
              <a:buFontTx/>
              <a:buNone/>
              <a:defRPr/>
            </a:pPr>
            <a:r>
              <a:rPr kumimoji="0" lang="zh-CN" altLang="en-US" sz="900" b="1" i="0" u="none" strike="noStrike" kern="0" cap="none" spc="0" normalizeH="0" baseline="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rPr>
              <a:t>端点安全组件</a:t>
            </a:r>
            <a:r>
              <a:rPr kumimoji="0" lang="en-US" altLang="zh-CN" sz="900" b="1" i="0" u="none" strike="noStrike" kern="0" cap="none" spc="0" normalizeH="0" baseline="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rPr>
              <a:t>aES</a:t>
            </a:r>
            <a:endParaRPr kumimoji="0" lang="en-US" altLang="zh-CN" sz="900" b="1" i="0" u="none" strike="noStrike" kern="0" cap="none" spc="0" normalizeH="0" baseline="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endParaRPr>
          </a:p>
        </p:txBody>
      </p:sp>
      <p:pic>
        <p:nvPicPr>
          <p:cNvPr id="211" name="图片 210"/>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194642" y="4606925"/>
            <a:ext cx="391160" cy="614045"/>
          </a:xfrm>
          <a:prstGeom prst="rect">
            <a:avLst/>
          </a:prstGeom>
          <a:gradFill>
            <a:gsLst>
              <a:gs pos="100000">
                <a:srgbClr val="7AC141">
                  <a:alpha val="0"/>
                </a:srgbClr>
              </a:gs>
              <a:gs pos="0">
                <a:srgbClr val="00539F"/>
              </a:gs>
            </a:gsLst>
            <a:lin ang="5400000" scaled="1"/>
          </a:gradFill>
          <a:ln w="6350" cap="flat" cmpd="sng" algn="ctr">
            <a:gradFill>
              <a:gsLst>
                <a:gs pos="0">
                  <a:srgbClr val="00539F"/>
                </a:gs>
                <a:gs pos="100000">
                  <a:srgbClr val="00539F">
                    <a:alpha val="0"/>
                  </a:srgbClr>
                </a:gs>
              </a:gsLst>
              <a:lin ang="5400000" scaled="1"/>
            </a:gradFill>
            <a:prstDash val="solid"/>
            <a:miter lim="800000"/>
            <a:headEnd/>
            <a:tailEnd/>
          </a:ln>
          <a:effectLst/>
        </p:spPr>
      </p:pic>
      <p:sp>
        <p:nvSpPr>
          <p:cNvPr id="212" name="矩形 52"/>
          <p:cNvSpPr>
            <a:spLocks noChangeArrowheads="1"/>
          </p:cNvSpPr>
          <p:nvPr/>
        </p:nvSpPr>
        <p:spPr bwMode="auto">
          <a:xfrm>
            <a:off x="9758998" y="5039678"/>
            <a:ext cx="1397000" cy="183833"/>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nchor="ctr" anchorCtr="0">
            <a:noAutofit/>
          </a:bodyPr>
          <a:lstStyle/>
          <a:p>
            <a:pPr marL="0" marR="0" lvl="0" indent="0" algn="ctr" defTabSz="914400" eaLnBrk="1" fontAlgn="auto" latinLnBrk="0" hangingPunct="1">
              <a:lnSpc>
                <a:spcPct val="150000"/>
              </a:lnSpc>
              <a:spcBef>
                <a:spcPts val="0"/>
              </a:spcBef>
              <a:spcAft>
                <a:spcPts val="0"/>
              </a:spcAft>
              <a:buClrTx/>
              <a:buSzTx/>
              <a:buFontTx/>
              <a:buNone/>
              <a:defRPr/>
            </a:pPr>
            <a:r>
              <a:rPr lang="zh-CN" altLang="en-US" sz="900" b="1" kern="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rPr>
              <a:t>端点安全组件</a:t>
            </a:r>
            <a:r>
              <a:rPr lang="en-US" altLang="zh-CN" sz="900" b="1" kern="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rPr>
              <a:t>aES</a:t>
            </a:r>
            <a:endParaRPr kumimoji="0" lang="en-US" altLang="zh-CN" sz="900" b="1" i="0" u="none" strike="noStrike" kern="0" cap="none" spc="0" normalizeH="0" baseline="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endParaRPr>
          </a:p>
        </p:txBody>
      </p:sp>
      <p:pic>
        <p:nvPicPr>
          <p:cNvPr id="213" name="图片 21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261918" y="4471035"/>
            <a:ext cx="391160" cy="614045"/>
          </a:xfrm>
          <a:prstGeom prst="rect">
            <a:avLst/>
          </a:prstGeom>
          <a:gradFill>
            <a:gsLst>
              <a:gs pos="100000">
                <a:srgbClr val="7AC141">
                  <a:alpha val="0"/>
                </a:srgbClr>
              </a:gs>
              <a:gs pos="0">
                <a:srgbClr val="00539F"/>
              </a:gs>
            </a:gsLst>
            <a:lin ang="5400000" scaled="1"/>
          </a:gradFill>
          <a:ln w="6350" cap="flat" cmpd="sng" algn="ctr">
            <a:gradFill>
              <a:gsLst>
                <a:gs pos="0">
                  <a:srgbClr val="00539F"/>
                </a:gs>
                <a:gs pos="100000">
                  <a:srgbClr val="00539F">
                    <a:alpha val="0"/>
                  </a:srgbClr>
                </a:gs>
              </a:gsLst>
              <a:lin ang="5400000" scaled="1"/>
            </a:gradFill>
            <a:prstDash val="solid"/>
            <a:miter lim="800000"/>
            <a:headEnd/>
            <a:tailEnd/>
          </a:ln>
          <a:effectLst/>
        </p:spPr>
      </p:pic>
      <p:grpSp>
        <p:nvGrpSpPr>
          <p:cNvPr id="214" name="组合 213"/>
          <p:cNvGrpSpPr/>
          <p:nvPr/>
        </p:nvGrpSpPr>
        <p:grpSpPr>
          <a:xfrm rot="1359959">
            <a:off x="8393859" y="4125766"/>
            <a:ext cx="90000" cy="234000"/>
            <a:chOff x="6043944" y="3770285"/>
            <a:chExt cx="126059" cy="1250361"/>
          </a:xfrm>
        </p:grpSpPr>
        <p:sp>
          <p:nvSpPr>
            <p:cNvPr id="215" name="燕尾形 97"/>
            <p:cNvSpPr/>
            <p:nvPr/>
          </p:nvSpPr>
          <p:spPr>
            <a:xfrm rot="5400000">
              <a:off x="6025477" y="3788752"/>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16" name="燕尾形 98"/>
            <p:cNvSpPr/>
            <p:nvPr/>
          </p:nvSpPr>
          <p:spPr>
            <a:xfrm rot="5400000">
              <a:off x="6025477" y="3969133"/>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17" name="燕尾形 99"/>
            <p:cNvSpPr/>
            <p:nvPr/>
          </p:nvSpPr>
          <p:spPr>
            <a:xfrm rot="5400000">
              <a:off x="6025477" y="4149513"/>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18" name="燕尾形 100"/>
            <p:cNvSpPr/>
            <p:nvPr/>
          </p:nvSpPr>
          <p:spPr>
            <a:xfrm rot="5400000">
              <a:off x="6025477" y="4329892"/>
              <a:ext cx="162994"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19" name="燕尾形 103"/>
            <p:cNvSpPr/>
            <p:nvPr/>
          </p:nvSpPr>
          <p:spPr>
            <a:xfrm rot="5400000">
              <a:off x="6025477" y="4514637"/>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20" name="燕尾形 104"/>
            <p:cNvSpPr/>
            <p:nvPr/>
          </p:nvSpPr>
          <p:spPr>
            <a:xfrm rot="5400000">
              <a:off x="6025477" y="4695018"/>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21" name="燕尾形 106"/>
            <p:cNvSpPr/>
            <p:nvPr/>
          </p:nvSpPr>
          <p:spPr>
            <a:xfrm rot="5400000">
              <a:off x="6025477" y="4876120"/>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222" name="组合 221"/>
          <p:cNvGrpSpPr/>
          <p:nvPr/>
        </p:nvGrpSpPr>
        <p:grpSpPr>
          <a:xfrm rot="0">
            <a:off x="9332437" y="4208780"/>
            <a:ext cx="115570" cy="268605"/>
            <a:chOff x="6043944" y="3770285"/>
            <a:chExt cx="126059" cy="1250361"/>
          </a:xfrm>
        </p:grpSpPr>
        <p:sp>
          <p:nvSpPr>
            <p:cNvPr id="223" name="燕尾形 97"/>
            <p:cNvSpPr/>
            <p:nvPr/>
          </p:nvSpPr>
          <p:spPr>
            <a:xfrm rot="5400000">
              <a:off x="6025477" y="3788752"/>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24" name="燕尾形 98"/>
            <p:cNvSpPr/>
            <p:nvPr/>
          </p:nvSpPr>
          <p:spPr>
            <a:xfrm rot="5400000">
              <a:off x="6025477" y="3969133"/>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25" name="燕尾形 99"/>
            <p:cNvSpPr/>
            <p:nvPr/>
          </p:nvSpPr>
          <p:spPr>
            <a:xfrm rot="5400000">
              <a:off x="6025477" y="4149513"/>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26" name="燕尾形 100"/>
            <p:cNvSpPr/>
            <p:nvPr/>
          </p:nvSpPr>
          <p:spPr>
            <a:xfrm rot="5400000">
              <a:off x="6025477" y="4329892"/>
              <a:ext cx="162994"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27" name="燕尾形 103"/>
            <p:cNvSpPr/>
            <p:nvPr/>
          </p:nvSpPr>
          <p:spPr>
            <a:xfrm rot="5400000">
              <a:off x="6025477" y="4514637"/>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28" name="燕尾形 104"/>
            <p:cNvSpPr/>
            <p:nvPr/>
          </p:nvSpPr>
          <p:spPr>
            <a:xfrm rot="5400000">
              <a:off x="6025477" y="4695018"/>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29" name="燕尾形 106"/>
            <p:cNvSpPr/>
            <p:nvPr/>
          </p:nvSpPr>
          <p:spPr>
            <a:xfrm rot="5400000">
              <a:off x="6025477" y="4876120"/>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230" name="组合 229"/>
          <p:cNvGrpSpPr/>
          <p:nvPr/>
        </p:nvGrpSpPr>
        <p:grpSpPr>
          <a:xfrm rot="20700000" flipH="1">
            <a:off x="10247745" y="4131029"/>
            <a:ext cx="90000" cy="234000"/>
            <a:chOff x="6043944" y="3770285"/>
            <a:chExt cx="126059" cy="1250361"/>
          </a:xfrm>
        </p:grpSpPr>
        <p:sp>
          <p:nvSpPr>
            <p:cNvPr id="231" name="燕尾形 97"/>
            <p:cNvSpPr/>
            <p:nvPr/>
          </p:nvSpPr>
          <p:spPr>
            <a:xfrm rot="5400000">
              <a:off x="6025477" y="3788752"/>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32" name="燕尾形 98"/>
            <p:cNvSpPr/>
            <p:nvPr/>
          </p:nvSpPr>
          <p:spPr>
            <a:xfrm rot="5400000">
              <a:off x="6025477" y="3969133"/>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33" name="燕尾形 99"/>
            <p:cNvSpPr/>
            <p:nvPr/>
          </p:nvSpPr>
          <p:spPr>
            <a:xfrm rot="5400000">
              <a:off x="6025477" y="4149513"/>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34" name="燕尾形 100"/>
            <p:cNvSpPr/>
            <p:nvPr/>
          </p:nvSpPr>
          <p:spPr>
            <a:xfrm rot="5400000">
              <a:off x="6025477" y="4329892"/>
              <a:ext cx="162994"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35" name="燕尾形 103"/>
            <p:cNvSpPr/>
            <p:nvPr/>
          </p:nvSpPr>
          <p:spPr>
            <a:xfrm rot="5400000">
              <a:off x="6025477" y="4514637"/>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36" name="燕尾形 104"/>
            <p:cNvSpPr/>
            <p:nvPr/>
          </p:nvSpPr>
          <p:spPr>
            <a:xfrm rot="5400000">
              <a:off x="6025477" y="4695018"/>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37" name="燕尾形 106"/>
            <p:cNvSpPr/>
            <p:nvPr/>
          </p:nvSpPr>
          <p:spPr>
            <a:xfrm rot="5400000">
              <a:off x="6025477" y="4876120"/>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sp>
        <p:nvSpPr>
          <p:cNvPr id="238" name="圆角矩形 237"/>
          <p:cNvSpPr/>
          <p:nvPr/>
        </p:nvSpPr>
        <p:spPr>
          <a:xfrm>
            <a:off x="8724222" y="4215448"/>
            <a:ext cx="1332000" cy="198000"/>
          </a:xfrm>
          <a:prstGeom prst="roundRect">
            <a:avLst/>
          </a:prstGeom>
          <a:solidFill>
            <a:srgbClr val="000000">
              <a:alpha val="0"/>
            </a:srgbClr>
          </a:solidFill>
          <a:ln w="12700" cap="flat" cmpd="sng" algn="ctr">
            <a:noFill/>
            <a:prstDash val="solid"/>
            <a:miter lim="800000"/>
          </a:ln>
          <a:effectLst/>
        </p:spPr>
        <p:txBody>
          <a:bodyPr wrap="square" lIns="108000" tIns="108000" rIns="108000" bIns="108000" rtlCol="0" anchor="ctr" anchorCtr="0">
            <a:noAutofit/>
          </a:bodyPr>
          <a:lstStyle/>
          <a:p>
            <a:pPr>
              <a:lnSpc>
                <a:spcPct val="150000"/>
              </a:lnSpc>
            </a:pPr>
            <a:r>
              <a:rPr kumimoji="1" lang="zh-CN" altLang="en-US" sz="900" b="1" kern="0" dirty="0">
                <a:solidFill>
                  <a:srgbClr val="003492"/>
                </a:solidFill>
                <a:latin typeface="微软雅黑" panose="020B0503020204020204" charset="-122"/>
                <a:ea typeface="微软雅黑" panose="020B0503020204020204" charset="-122"/>
              </a:rPr>
              <a:t>行为分析检测引擎</a:t>
            </a:r>
            <a:endParaRPr kumimoji="1" lang="zh-CN" altLang="en-US" sz="900" b="1" kern="0" dirty="0">
              <a:solidFill>
                <a:srgbClr val="003492"/>
              </a:solidFill>
              <a:latin typeface="微软雅黑" panose="020B0503020204020204" charset="-122"/>
              <a:ea typeface="微软雅黑" panose="020B0503020204020204" charset="-122"/>
            </a:endParaRPr>
          </a:p>
        </p:txBody>
      </p:sp>
      <p:pic>
        <p:nvPicPr>
          <p:cNvPr id="239" name="图片 238"/>
          <p:cNvPicPr>
            <a:picLocks noChangeAspect="1"/>
          </p:cNvPicPr>
          <p:nvPr/>
        </p:nvPicPr>
        <p:blipFill>
          <a:blip r:embed="rId9"/>
          <a:stretch>
            <a:fillRect/>
          </a:stretch>
        </p:blipFill>
        <p:spPr>
          <a:xfrm>
            <a:off x="9089390" y="4580255"/>
            <a:ext cx="311785" cy="328930"/>
          </a:xfrm>
          <a:prstGeom prst="rect">
            <a:avLst/>
          </a:prstGeom>
          <a:gradFill>
            <a:gsLst>
              <a:gs pos="100000">
                <a:srgbClr val="7AC141">
                  <a:alpha val="0"/>
                </a:srgbClr>
              </a:gs>
              <a:gs pos="0">
                <a:srgbClr val="00539F"/>
              </a:gs>
            </a:gsLst>
            <a:lin ang="5400000" scaled="1"/>
          </a:gradFill>
          <a:ln w="6350" cap="flat" cmpd="sng" algn="ctr">
            <a:gradFill>
              <a:gsLst>
                <a:gs pos="0">
                  <a:srgbClr val="00539F"/>
                </a:gs>
                <a:gs pos="100000">
                  <a:srgbClr val="00539F">
                    <a:alpha val="0"/>
                  </a:srgbClr>
                </a:gs>
              </a:gsLst>
              <a:lin ang="5400000" scaled="1"/>
            </a:gradFill>
            <a:prstDash val="solid"/>
            <a:miter lim="800000"/>
            <a:headEnd/>
            <a:tailEnd/>
          </a:ln>
          <a:effectLst/>
        </p:spPr>
      </p:pic>
      <p:pic>
        <p:nvPicPr>
          <p:cNvPr id="240" name="图片 239"/>
          <p:cNvPicPr>
            <a:picLocks noChangeAspect="1"/>
          </p:cNvPicPr>
          <p:nvPr/>
        </p:nvPicPr>
        <p:blipFill>
          <a:blip r:embed="rId9"/>
          <a:stretch>
            <a:fillRect/>
          </a:stretch>
        </p:blipFill>
        <p:spPr>
          <a:xfrm>
            <a:off x="10177780" y="4427220"/>
            <a:ext cx="311785" cy="328930"/>
          </a:xfrm>
          <a:prstGeom prst="rect">
            <a:avLst/>
          </a:prstGeom>
          <a:gradFill>
            <a:gsLst>
              <a:gs pos="100000">
                <a:srgbClr val="7AC141">
                  <a:alpha val="0"/>
                </a:srgbClr>
              </a:gs>
              <a:gs pos="0">
                <a:srgbClr val="00539F"/>
              </a:gs>
            </a:gsLst>
            <a:lin ang="5400000" scaled="1"/>
          </a:gradFill>
          <a:ln w="6350" cap="flat" cmpd="sng" algn="ctr">
            <a:gradFill>
              <a:gsLst>
                <a:gs pos="0">
                  <a:srgbClr val="00539F"/>
                </a:gs>
                <a:gs pos="100000">
                  <a:srgbClr val="00539F">
                    <a:alpha val="0"/>
                  </a:srgbClr>
                </a:gs>
              </a:gsLst>
              <a:lin ang="5400000" scaled="1"/>
            </a:gradFill>
            <a:prstDash val="solid"/>
            <a:miter lim="800000"/>
            <a:headEnd/>
            <a:tailEnd/>
          </a:ln>
          <a:effectLst/>
        </p:spPr>
      </p:pic>
      <p:sp>
        <p:nvSpPr>
          <p:cNvPr id="241" name="矩形 52"/>
          <p:cNvSpPr>
            <a:spLocks noChangeArrowheads="1"/>
          </p:cNvSpPr>
          <p:nvPr/>
        </p:nvSpPr>
        <p:spPr bwMode="auto">
          <a:xfrm>
            <a:off x="8581073" y="3013393"/>
            <a:ext cx="1397000" cy="299085"/>
          </a:xfrm>
          <a:prstGeom prst="rect">
            <a:avLst/>
          </a:prstGeom>
          <a:extLst>
            <a:ext uri="{909E8E84-426E-40DD-AFC4-6F175D3DCCD1}">
              <a14:hiddenFill xmlns:a14="http://schemas.microsoft.com/office/drawing/2010/main">
                <a:solidFill>
                  <a:srgbClr val="FFFFFF"/>
                </a:solidFill>
              </a14:hiddenFill>
            </a:ext>
          </a:extLst>
        </p:spPr>
        <p:txBody>
          <a:bodyPr wrap="square">
            <a:spAutoFit/>
          </a:bodyPr>
          <a:lstStyle/>
          <a:p>
            <a:pPr lvl="0" algn="ctr">
              <a:lnSpc>
                <a:spcPct val="150000"/>
              </a:lnSpc>
              <a:spcBef>
                <a:spcPts val="0"/>
              </a:spcBef>
              <a:spcAft>
                <a:spcPts val="0"/>
              </a:spcAft>
              <a:buClrTx/>
              <a:buSzTx/>
              <a:buFontTx/>
              <a:defRPr/>
            </a:pPr>
            <a:r>
              <a:rPr lang="zh-CN" altLang="en-US" sz="900" b="1" kern="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rPr>
              <a:t>下一代防火墙AF</a:t>
            </a:r>
            <a:endParaRPr lang="zh-CN" altLang="en-US" sz="900" b="1" kern="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endParaRPr>
          </a:p>
        </p:txBody>
      </p:sp>
      <p:sp>
        <p:nvSpPr>
          <p:cNvPr id="242" name="PA-椭圆 227_1"/>
          <p:cNvSpPr/>
          <p:nvPr>
            <p:custDataLst>
              <p:tags r:id="rId10"/>
            </p:custDataLst>
          </p:nvPr>
        </p:nvSpPr>
        <p:spPr>
          <a:xfrm rot="10800000">
            <a:off x="7029573" y="1076643"/>
            <a:ext cx="4500000" cy="1439545"/>
          </a:xfrm>
          <a:prstGeom prst="ellipse">
            <a:avLst/>
          </a:prstGeom>
          <a:noFill/>
          <a:ln w="57150" cap="flat" cmpd="sng" algn="ctr">
            <a:gradFill>
              <a:gsLst>
                <a:gs pos="0">
                  <a:srgbClr val="00539F"/>
                </a:gs>
                <a:gs pos="100000">
                  <a:srgbClr val="00539F">
                    <a:alpha val="0"/>
                  </a:srgbClr>
                </a:gs>
              </a:gsLst>
              <a:lin ang="5400000" scaled="1"/>
            </a:gradFill>
            <a:prstDash val="solid"/>
            <a:miter lim="800000"/>
          </a:ln>
          <a:effectLst/>
        </p:spPr>
        <p:txBody>
          <a:bodyPr lIns="91422" tIns="45712" rIns="91422" bIns="45712"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243" name="任意多边形 168"/>
          <p:cNvSpPr/>
          <p:nvPr>
            <p:custDataLst>
              <p:tags r:id="rId11"/>
            </p:custDataLst>
          </p:nvPr>
        </p:nvSpPr>
        <p:spPr>
          <a:xfrm rot="10800000">
            <a:off x="8848090" y="2369503"/>
            <a:ext cx="321310" cy="51435"/>
          </a:xfrm>
          <a:custGeom>
            <a:avLst/>
            <a:gdLst>
              <a:gd name="connsiteX0" fmla="*/ 8555392 w 17110784"/>
              <a:gd name="connsiteY0" fmla="*/ 3271968 h 3271968"/>
              <a:gd name="connsiteX1" fmla="*/ 0 w 17110784"/>
              <a:gd name="connsiteY1" fmla="*/ 1635984 h 3271968"/>
              <a:gd name="connsiteX2" fmla="*/ 8555392 w 17110784"/>
              <a:gd name="connsiteY2" fmla="*/ 0 h 3271968"/>
              <a:gd name="connsiteX3" fmla="*/ 17110784 w 17110784"/>
              <a:gd name="connsiteY3" fmla="*/ 1635984 h 3271968"/>
              <a:gd name="connsiteX4" fmla="*/ 8555392 w 17110784"/>
              <a:gd name="connsiteY4" fmla="*/ 3271968 h 3271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10784" h="3271968">
                <a:moveTo>
                  <a:pt x="8555392" y="3271968"/>
                </a:moveTo>
                <a:cubicBezTo>
                  <a:pt x="3830376" y="3271968"/>
                  <a:pt x="0" y="2539513"/>
                  <a:pt x="0" y="1635984"/>
                </a:cubicBezTo>
                <a:cubicBezTo>
                  <a:pt x="0" y="732455"/>
                  <a:pt x="3830376" y="0"/>
                  <a:pt x="8555392" y="0"/>
                </a:cubicBezTo>
                <a:cubicBezTo>
                  <a:pt x="13280404" y="0"/>
                  <a:pt x="17110784" y="732455"/>
                  <a:pt x="17110784" y="1635984"/>
                </a:cubicBezTo>
                <a:cubicBezTo>
                  <a:pt x="17110784" y="2539513"/>
                  <a:pt x="13280404" y="3271968"/>
                  <a:pt x="8555392" y="3271968"/>
                </a:cubicBezTo>
                <a:close/>
              </a:path>
            </a:pathLst>
          </a:custGeom>
          <a:solidFill>
            <a:sysClr val="window" lastClr="FFFFFF">
              <a:lumMod val="65000"/>
            </a:sysClr>
          </a:solidFill>
          <a:ln w="6350" cap="flat" cmpd="sng" algn="ctr">
            <a:gradFill>
              <a:gsLst>
                <a:gs pos="0">
                  <a:srgbClr val="00539F"/>
                </a:gs>
                <a:gs pos="100000">
                  <a:srgbClr val="00539F">
                    <a:alpha val="0"/>
                  </a:srgbClr>
                </a:gs>
              </a:gsLst>
              <a:lin ang="5400000" scaled="1"/>
            </a:gradFill>
            <a:prstDash val="solid"/>
            <a:miter lim="800000"/>
          </a:ln>
          <a:effectLst>
            <a:reflection stA="45000" endPos="0" dist="50800" dir="5400000" sy="-100000" algn="bl" rotWithShape="0"/>
            <a:softEdge rad="101600"/>
          </a:effectLst>
        </p:spPr>
        <p:txBody>
          <a:bodyPr wrap="square" lIns="91422" tIns="45712" rIns="91422" bIns="45712"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grpSp>
        <p:nvGrpSpPr>
          <p:cNvPr id="244" name="组合 243"/>
          <p:cNvGrpSpPr/>
          <p:nvPr/>
        </p:nvGrpSpPr>
        <p:grpSpPr>
          <a:xfrm rot="0">
            <a:off x="7696835" y="1208723"/>
            <a:ext cx="1105535" cy="448855"/>
            <a:chOff x="3042" y="2781"/>
            <a:chExt cx="1847" cy="890"/>
          </a:xfrm>
        </p:grpSpPr>
        <p:sp>
          <p:nvSpPr>
            <p:cNvPr id="245" name="searching-data-in-database_30659"/>
            <p:cNvSpPr/>
            <p:nvPr/>
          </p:nvSpPr>
          <p:spPr>
            <a:xfrm>
              <a:off x="3621" y="2781"/>
              <a:ext cx="703" cy="465"/>
            </a:xfrm>
            <a:custGeom>
              <a:avLst/>
              <a:gdLst>
                <a:gd name="T0" fmla="*/ 5776 w 6302"/>
                <a:gd name="T1" fmla="*/ 4472 h 6310"/>
                <a:gd name="T2" fmla="*/ 5270 w 6302"/>
                <a:gd name="T3" fmla="*/ 4866 h 6310"/>
                <a:gd name="T4" fmla="*/ 4858 w 6302"/>
                <a:gd name="T5" fmla="*/ 4866 h 6310"/>
                <a:gd name="T6" fmla="*/ 4858 w 6302"/>
                <a:gd name="T7" fmla="*/ 3708 h 6310"/>
                <a:gd name="T8" fmla="*/ 5776 w 6302"/>
                <a:gd name="T9" fmla="*/ 2634 h 6310"/>
                <a:gd name="T10" fmla="*/ 5050 w 6302"/>
                <a:gd name="T11" fmla="*/ 1594 h 6310"/>
                <a:gd name="T12" fmla="*/ 5094 w 6302"/>
                <a:gd name="T13" fmla="*/ 1179 h 6310"/>
                <a:gd name="T14" fmla="*/ 3822 w 6302"/>
                <a:gd name="T15" fmla="*/ 8 h 6310"/>
                <a:gd name="T16" fmla="*/ 2623 w 6302"/>
                <a:gd name="T17" fmla="*/ 780 h 6310"/>
                <a:gd name="T18" fmla="*/ 1936 w 6302"/>
                <a:gd name="T19" fmla="*/ 590 h 6310"/>
                <a:gd name="T20" fmla="*/ 1119 w 6302"/>
                <a:gd name="T21" fmla="*/ 1212 h 6310"/>
                <a:gd name="T22" fmla="*/ 1074 w 6302"/>
                <a:gd name="T23" fmla="*/ 1677 h 6310"/>
                <a:gd name="T24" fmla="*/ 525 w 6302"/>
                <a:gd name="T25" fmla="*/ 2634 h 6310"/>
                <a:gd name="T26" fmla="*/ 1444 w 6302"/>
                <a:gd name="T27" fmla="*/ 3706 h 6310"/>
                <a:gd name="T28" fmla="*/ 1444 w 6302"/>
                <a:gd name="T29" fmla="*/ 4866 h 6310"/>
                <a:gd name="T30" fmla="*/ 1032 w 6302"/>
                <a:gd name="T31" fmla="*/ 4866 h 6310"/>
                <a:gd name="T32" fmla="*/ 525 w 6302"/>
                <a:gd name="T33" fmla="*/ 4472 h 6310"/>
                <a:gd name="T34" fmla="*/ 0 w 6302"/>
                <a:gd name="T35" fmla="*/ 4997 h 6310"/>
                <a:gd name="T36" fmla="*/ 525 w 6302"/>
                <a:gd name="T37" fmla="*/ 5522 h 6310"/>
                <a:gd name="T38" fmla="*/ 1032 w 6302"/>
                <a:gd name="T39" fmla="*/ 5128 h 6310"/>
                <a:gd name="T40" fmla="*/ 1707 w 6302"/>
                <a:gd name="T41" fmla="*/ 5128 h 6310"/>
                <a:gd name="T42" fmla="*/ 1707 w 6302"/>
                <a:gd name="T43" fmla="*/ 3739 h 6310"/>
                <a:gd name="T44" fmla="*/ 1754 w 6302"/>
                <a:gd name="T45" fmla="*/ 3741 h 6310"/>
                <a:gd name="T46" fmla="*/ 2363 w 6302"/>
                <a:gd name="T47" fmla="*/ 3741 h 6310"/>
                <a:gd name="T48" fmla="*/ 2363 w 6302"/>
                <a:gd name="T49" fmla="*/ 5278 h 6310"/>
                <a:gd name="T50" fmla="*/ 1969 w 6302"/>
                <a:gd name="T51" fmla="*/ 5785 h 6310"/>
                <a:gd name="T52" fmla="*/ 2494 w 6302"/>
                <a:gd name="T53" fmla="*/ 6310 h 6310"/>
                <a:gd name="T54" fmla="*/ 3020 w 6302"/>
                <a:gd name="T55" fmla="*/ 5785 h 6310"/>
                <a:gd name="T56" fmla="*/ 2626 w 6302"/>
                <a:gd name="T57" fmla="*/ 5278 h 6310"/>
                <a:gd name="T58" fmla="*/ 2626 w 6302"/>
                <a:gd name="T59" fmla="*/ 3741 h 6310"/>
                <a:gd name="T60" fmla="*/ 3676 w 6302"/>
                <a:gd name="T61" fmla="*/ 3741 h 6310"/>
                <a:gd name="T62" fmla="*/ 3676 w 6302"/>
                <a:gd name="T63" fmla="*/ 5278 h 6310"/>
                <a:gd name="T64" fmla="*/ 3282 w 6302"/>
                <a:gd name="T65" fmla="*/ 5785 h 6310"/>
                <a:gd name="T66" fmla="*/ 3807 w 6302"/>
                <a:gd name="T67" fmla="*/ 6310 h 6310"/>
                <a:gd name="T68" fmla="*/ 4332 w 6302"/>
                <a:gd name="T69" fmla="*/ 5785 h 6310"/>
                <a:gd name="T70" fmla="*/ 3939 w 6302"/>
                <a:gd name="T71" fmla="*/ 5278 h 6310"/>
                <a:gd name="T72" fmla="*/ 3939 w 6302"/>
                <a:gd name="T73" fmla="*/ 3741 h 6310"/>
                <a:gd name="T74" fmla="*/ 4548 w 6302"/>
                <a:gd name="T75" fmla="*/ 3741 h 6310"/>
                <a:gd name="T76" fmla="*/ 4595 w 6302"/>
                <a:gd name="T77" fmla="*/ 3739 h 6310"/>
                <a:gd name="T78" fmla="*/ 4595 w 6302"/>
                <a:gd name="T79" fmla="*/ 5128 h 6310"/>
                <a:gd name="T80" fmla="*/ 5270 w 6302"/>
                <a:gd name="T81" fmla="*/ 5128 h 6310"/>
                <a:gd name="T82" fmla="*/ 5777 w 6302"/>
                <a:gd name="T83" fmla="*/ 5522 h 6310"/>
                <a:gd name="T84" fmla="*/ 6302 w 6302"/>
                <a:gd name="T85" fmla="*/ 4997 h 6310"/>
                <a:gd name="T86" fmla="*/ 5776 w 6302"/>
                <a:gd name="T87" fmla="*/ 4472 h 6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302" h="6310">
                  <a:moveTo>
                    <a:pt x="5776" y="4472"/>
                  </a:moveTo>
                  <a:cubicBezTo>
                    <a:pt x="5532" y="4472"/>
                    <a:pt x="5329" y="4640"/>
                    <a:pt x="5270" y="4866"/>
                  </a:cubicBezTo>
                  <a:lnTo>
                    <a:pt x="4858" y="4866"/>
                  </a:lnTo>
                  <a:lnTo>
                    <a:pt x="4858" y="3708"/>
                  </a:lnTo>
                  <a:cubicBezTo>
                    <a:pt x="5405" y="3593"/>
                    <a:pt x="5776" y="3177"/>
                    <a:pt x="5776" y="2634"/>
                  </a:cubicBezTo>
                  <a:cubicBezTo>
                    <a:pt x="5776" y="2166"/>
                    <a:pt x="5478" y="1752"/>
                    <a:pt x="5050" y="1594"/>
                  </a:cubicBezTo>
                  <a:cubicBezTo>
                    <a:pt x="5089" y="1464"/>
                    <a:pt x="5103" y="1329"/>
                    <a:pt x="5094" y="1179"/>
                  </a:cubicBezTo>
                  <a:cubicBezTo>
                    <a:pt x="5054" y="539"/>
                    <a:pt x="4483" y="13"/>
                    <a:pt x="3822" y="8"/>
                  </a:cubicBezTo>
                  <a:cubicBezTo>
                    <a:pt x="3289" y="0"/>
                    <a:pt x="2820" y="318"/>
                    <a:pt x="2623" y="780"/>
                  </a:cubicBezTo>
                  <a:cubicBezTo>
                    <a:pt x="2430" y="636"/>
                    <a:pt x="2185" y="566"/>
                    <a:pt x="1936" y="590"/>
                  </a:cubicBezTo>
                  <a:cubicBezTo>
                    <a:pt x="1578" y="624"/>
                    <a:pt x="1264" y="861"/>
                    <a:pt x="1119" y="1212"/>
                  </a:cubicBezTo>
                  <a:cubicBezTo>
                    <a:pt x="1049" y="1379"/>
                    <a:pt x="1058" y="1564"/>
                    <a:pt x="1074" y="1677"/>
                  </a:cubicBezTo>
                  <a:cubicBezTo>
                    <a:pt x="738" y="1874"/>
                    <a:pt x="525" y="2239"/>
                    <a:pt x="525" y="2634"/>
                  </a:cubicBezTo>
                  <a:cubicBezTo>
                    <a:pt x="525" y="3167"/>
                    <a:pt x="903" y="3589"/>
                    <a:pt x="1444" y="3706"/>
                  </a:cubicBezTo>
                  <a:lnTo>
                    <a:pt x="1444" y="4866"/>
                  </a:lnTo>
                  <a:lnTo>
                    <a:pt x="1032" y="4866"/>
                  </a:lnTo>
                  <a:cubicBezTo>
                    <a:pt x="973" y="4640"/>
                    <a:pt x="769" y="4472"/>
                    <a:pt x="525" y="4472"/>
                  </a:cubicBezTo>
                  <a:cubicBezTo>
                    <a:pt x="235" y="4472"/>
                    <a:pt x="0" y="4707"/>
                    <a:pt x="0" y="4997"/>
                  </a:cubicBezTo>
                  <a:cubicBezTo>
                    <a:pt x="0" y="5286"/>
                    <a:pt x="235" y="5522"/>
                    <a:pt x="525" y="5522"/>
                  </a:cubicBezTo>
                  <a:cubicBezTo>
                    <a:pt x="769" y="5522"/>
                    <a:pt x="973" y="5354"/>
                    <a:pt x="1032" y="5128"/>
                  </a:cubicBezTo>
                  <a:lnTo>
                    <a:pt x="1707" y="5128"/>
                  </a:lnTo>
                  <a:lnTo>
                    <a:pt x="1707" y="3739"/>
                  </a:lnTo>
                  <a:cubicBezTo>
                    <a:pt x="1722" y="3739"/>
                    <a:pt x="1738" y="3741"/>
                    <a:pt x="1754" y="3741"/>
                  </a:cubicBezTo>
                  <a:lnTo>
                    <a:pt x="2363" y="3741"/>
                  </a:lnTo>
                  <a:lnTo>
                    <a:pt x="2363" y="5278"/>
                  </a:lnTo>
                  <a:cubicBezTo>
                    <a:pt x="2137" y="5337"/>
                    <a:pt x="1969" y="5540"/>
                    <a:pt x="1969" y="5785"/>
                  </a:cubicBezTo>
                  <a:cubicBezTo>
                    <a:pt x="1969" y="6073"/>
                    <a:pt x="2204" y="6310"/>
                    <a:pt x="2494" y="6310"/>
                  </a:cubicBezTo>
                  <a:cubicBezTo>
                    <a:pt x="2785" y="6310"/>
                    <a:pt x="3020" y="6073"/>
                    <a:pt x="3020" y="5785"/>
                  </a:cubicBezTo>
                  <a:cubicBezTo>
                    <a:pt x="3020" y="5540"/>
                    <a:pt x="2852" y="5337"/>
                    <a:pt x="2626" y="5278"/>
                  </a:cubicBezTo>
                  <a:lnTo>
                    <a:pt x="2626" y="3741"/>
                  </a:lnTo>
                  <a:lnTo>
                    <a:pt x="3676" y="3741"/>
                  </a:lnTo>
                  <a:lnTo>
                    <a:pt x="3676" y="5278"/>
                  </a:lnTo>
                  <a:cubicBezTo>
                    <a:pt x="3450" y="5337"/>
                    <a:pt x="3282" y="5540"/>
                    <a:pt x="3282" y="5785"/>
                  </a:cubicBezTo>
                  <a:cubicBezTo>
                    <a:pt x="3282" y="6073"/>
                    <a:pt x="3517" y="6310"/>
                    <a:pt x="3807" y="6310"/>
                  </a:cubicBezTo>
                  <a:cubicBezTo>
                    <a:pt x="4097" y="6310"/>
                    <a:pt x="4332" y="6073"/>
                    <a:pt x="4332" y="5785"/>
                  </a:cubicBezTo>
                  <a:cubicBezTo>
                    <a:pt x="4332" y="5540"/>
                    <a:pt x="4164" y="5337"/>
                    <a:pt x="3939" y="5278"/>
                  </a:cubicBezTo>
                  <a:lnTo>
                    <a:pt x="3939" y="3741"/>
                  </a:lnTo>
                  <a:lnTo>
                    <a:pt x="4548" y="3741"/>
                  </a:lnTo>
                  <a:cubicBezTo>
                    <a:pt x="4563" y="3741"/>
                    <a:pt x="4579" y="3739"/>
                    <a:pt x="4595" y="3739"/>
                  </a:cubicBezTo>
                  <a:lnTo>
                    <a:pt x="4595" y="5128"/>
                  </a:lnTo>
                  <a:lnTo>
                    <a:pt x="5270" y="5128"/>
                  </a:lnTo>
                  <a:cubicBezTo>
                    <a:pt x="5329" y="5354"/>
                    <a:pt x="5532" y="5522"/>
                    <a:pt x="5777" y="5522"/>
                  </a:cubicBezTo>
                  <a:cubicBezTo>
                    <a:pt x="6067" y="5522"/>
                    <a:pt x="6302" y="5286"/>
                    <a:pt x="6302" y="4997"/>
                  </a:cubicBezTo>
                  <a:cubicBezTo>
                    <a:pt x="6302" y="4707"/>
                    <a:pt x="6067" y="4472"/>
                    <a:pt x="5776" y="4472"/>
                  </a:cubicBezTo>
                  <a:close/>
                </a:path>
              </a:pathLst>
            </a:custGeom>
            <a:solidFill>
              <a:srgbClr val="184199"/>
            </a:soli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prstClr val="white"/>
                </a:solidFill>
                <a:effectLst/>
                <a:uLnTx/>
                <a:uFillTx/>
                <a:latin typeface="等线" panose="02010600030101010101" charset="-122"/>
                <a:ea typeface="+mn-ea"/>
                <a:cs typeface="+mn-cs"/>
              </a:endParaRPr>
            </a:p>
          </p:txBody>
        </p:sp>
        <p:sp>
          <p:nvSpPr>
            <p:cNvPr id="246" name="文本框 245"/>
            <p:cNvSpPr txBox="1"/>
            <p:nvPr/>
          </p:nvSpPr>
          <p:spPr>
            <a:xfrm>
              <a:off x="3042" y="3247"/>
              <a:ext cx="1847" cy="424"/>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800" b="1" i="0" u="none" strike="noStrike" kern="0" cap="none" spc="0" normalizeH="0" baseline="0" noProof="0" dirty="0">
                  <a:ln>
                    <a:noFill/>
                  </a:ln>
                  <a:solidFill>
                    <a:srgbClr val="184199"/>
                  </a:solidFill>
                  <a:effectLst/>
                  <a:uLnTx/>
                  <a:uFillTx/>
                  <a:latin typeface="微软雅黑" panose="020B0503020204020204" charset="-122"/>
                  <a:ea typeface="微软雅黑" panose="020B0503020204020204" charset="-122"/>
                </a:rPr>
                <a:t>流式分析引擎</a:t>
              </a:r>
              <a:endParaRPr kumimoji="0" lang="zh-CN" altLang="en-US" sz="800" b="1" i="0" u="none" strike="noStrike" kern="0" cap="none" spc="0" normalizeH="0" baseline="0" noProof="0" dirty="0">
                <a:ln>
                  <a:noFill/>
                </a:ln>
                <a:solidFill>
                  <a:srgbClr val="184199"/>
                </a:solidFill>
                <a:effectLst/>
                <a:uLnTx/>
                <a:uFillTx/>
                <a:latin typeface="微软雅黑" panose="020B0503020204020204" charset="-122"/>
                <a:ea typeface="微软雅黑" panose="020B0503020204020204" charset="-122"/>
              </a:endParaRPr>
            </a:p>
          </p:txBody>
        </p:sp>
      </p:grpSp>
      <p:grpSp>
        <p:nvGrpSpPr>
          <p:cNvPr id="247" name="组合 246"/>
          <p:cNvGrpSpPr/>
          <p:nvPr/>
        </p:nvGrpSpPr>
        <p:grpSpPr>
          <a:xfrm rot="0">
            <a:off x="10219208" y="1711008"/>
            <a:ext cx="917778" cy="437438"/>
            <a:chOff x="4539" y="4898"/>
            <a:chExt cx="1534" cy="867"/>
          </a:xfrm>
        </p:grpSpPr>
        <p:sp>
          <p:nvSpPr>
            <p:cNvPr id="248" name="binary-mind_83501"/>
            <p:cNvSpPr/>
            <p:nvPr/>
          </p:nvSpPr>
          <p:spPr>
            <a:xfrm>
              <a:off x="4979" y="4898"/>
              <a:ext cx="446" cy="530"/>
            </a:xfrm>
            <a:custGeom>
              <a:avLst/>
              <a:gdLst>
                <a:gd name="connsiteX0" fmla="*/ 369056 w 473095"/>
                <a:gd name="connsiteY0" fmla="*/ 195535 h 607498"/>
                <a:gd name="connsiteX1" fmla="*/ 359269 w 473095"/>
                <a:gd name="connsiteY1" fmla="*/ 209862 h 607498"/>
                <a:gd name="connsiteX2" fmla="*/ 369056 w 473095"/>
                <a:gd name="connsiteY2" fmla="*/ 224188 h 607498"/>
                <a:gd name="connsiteX3" fmla="*/ 378842 w 473095"/>
                <a:gd name="connsiteY3" fmla="*/ 209862 h 607498"/>
                <a:gd name="connsiteX4" fmla="*/ 369056 w 473095"/>
                <a:gd name="connsiteY4" fmla="*/ 195535 h 607498"/>
                <a:gd name="connsiteX5" fmla="*/ 313233 w 473095"/>
                <a:gd name="connsiteY5" fmla="*/ 195535 h 607498"/>
                <a:gd name="connsiteX6" fmla="*/ 303450 w 473095"/>
                <a:gd name="connsiteY6" fmla="*/ 209862 h 607498"/>
                <a:gd name="connsiteX7" fmla="*/ 313233 w 473095"/>
                <a:gd name="connsiteY7" fmla="*/ 224188 h 607498"/>
                <a:gd name="connsiteX8" fmla="*/ 322886 w 473095"/>
                <a:gd name="connsiteY8" fmla="*/ 209862 h 607498"/>
                <a:gd name="connsiteX9" fmla="*/ 313233 w 473095"/>
                <a:gd name="connsiteY9" fmla="*/ 195535 h 607498"/>
                <a:gd name="connsiteX10" fmla="*/ 257451 w 473095"/>
                <a:gd name="connsiteY10" fmla="*/ 195535 h 607498"/>
                <a:gd name="connsiteX11" fmla="*/ 247689 w 473095"/>
                <a:gd name="connsiteY11" fmla="*/ 209862 h 607498"/>
                <a:gd name="connsiteX12" fmla="*/ 257451 w 473095"/>
                <a:gd name="connsiteY12" fmla="*/ 224188 h 607498"/>
                <a:gd name="connsiteX13" fmla="*/ 267084 w 473095"/>
                <a:gd name="connsiteY13" fmla="*/ 209862 h 607498"/>
                <a:gd name="connsiteX14" fmla="*/ 257451 w 473095"/>
                <a:gd name="connsiteY14" fmla="*/ 195535 h 607498"/>
                <a:gd name="connsiteX15" fmla="*/ 201533 w 473095"/>
                <a:gd name="connsiteY15" fmla="*/ 195535 h 607498"/>
                <a:gd name="connsiteX16" fmla="*/ 191877 w 473095"/>
                <a:gd name="connsiteY16" fmla="*/ 209862 h 607498"/>
                <a:gd name="connsiteX17" fmla="*/ 201533 w 473095"/>
                <a:gd name="connsiteY17" fmla="*/ 224188 h 607498"/>
                <a:gd name="connsiteX18" fmla="*/ 211320 w 473095"/>
                <a:gd name="connsiteY18" fmla="*/ 209862 h 607498"/>
                <a:gd name="connsiteX19" fmla="*/ 201533 w 473095"/>
                <a:gd name="connsiteY19" fmla="*/ 195535 h 607498"/>
                <a:gd name="connsiteX20" fmla="*/ 145710 w 473095"/>
                <a:gd name="connsiteY20" fmla="*/ 195535 h 607498"/>
                <a:gd name="connsiteX21" fmla="*/ 135927 w 473095"/>
                <a:gd name="connsiteY21" fmla="*/ 209862 h 607498"/>
                <a:gd name="connsiteX22" fmla="*/ 145710 w 473095"/>
                <a:gd name="connsiteY22" fmla="*/ 224188 h 607498"/>
                <a:gd name="connsiteX23" fmla="*/ 155363 w 473095"/>
                <a:gd name="connsiteY23" fmla="*/ 209862 h 607498"/>
                <a:gd name="connsiteX24" fmla="*/ 145710 w 473095"/>
                <a:gd name="connsiteY24" fmla="*/ 195535 h 607498"/>
                <a:gd name="connsiteX25" fmla="*/ 331233 w 473095"/>
                <a:gd name="connsiteY25" fmla="*/ 190597 h 607498"/>
                <a:gd name="connsiteX26" fmla="*/ 345205 w 473095"/>
                <a:gd name="connsiteY26" fmla="*/ 190597 h 607498"/>
                <a:gd name="connsiteX27" fmla="*/ 345205 w 473095"/>
                <a:gd name="connsiteY27" fmla="*/ 229126 h 607498"/>
                <a:gd name="connsiteX28" fmla="*/ 338676 w 473095"/>
                <a:gd name="connsiteY28" fmla="*/ 229126 h 607498"/>
                <a:gd name="connsiteX29" fmla="*/ 338676 w 473095"/>
                <a:gd name="connsiteY29" fmla="*/ 196455 h 607498"/>
                <a:gd name="connsiteX30" fmla="*/ 331233 w 473095"/>
                <a:gd name="connsiteY30" fmla="*/ 196455 h 607498"/>
                <a:gd name="connsiteX31" fmla="*/ 275345 w 473095"/>
                <a:gd name="connsiteY31" fmla="*/ 190597 h 607498"/>
                <a:gd name="connsiteX32" fmla="*/ 289388 w 473095"/>
                <a:gd name="connsiteY32" fmla="*/ 190597 h 607498"/>
                <a:gd name="connsiteX33" fmla="*/ 289388 w 473095"/>
                <a:gd name="connsiteY33" fmla="*/ 229126 h 607498"/>
                <a:gd name="connsiteX34" fmla="*/ 282887 w 473095"/>
                <a:gd name="connsiteY34" fmla="*/ 229126 h 607498"/>
                <a:gd name="connsiteX35" fmla="*/ 282887 w 473095"/>
                <a:gd name="connsiteY35" fmla="*/ 196455 h 607498"/>
                <a:gd name="connsiteX36" fmla="*/ 275345 w 473095"/>
                <a:gd name="connsiteY36" fmla="*/ 196455 h 607498"/>
                <a:gd name="connsiteX37" fmla="*/ 219527 w 473095"/>
                <a:gd name="connsiteY37" fmla="*/ 190597 h 607498"/>
                <a:gd name="connsiteX38" fmla="*/ 233570 w 473095"/>
                <a:gd name="connsiteY38" fmla="*/ 190597 h 607498"/>
                <a:gd name="connsiteX39" fmla="*/ 233570 w 473095"/>
                <a:gd name="connsiteY39" fmla="*/ 229126 h 607498"/>
                <a:gd name="connsiteX40" fmla="*/ 227069 w 473095"/>
                <a:gd name="connsiteY40" fmla="*/ 229126 h 607498"/>
                <a:gd name="connsiteX41" fmla="*/ 227069 w 473095"/>
                <a:gd name="connsiteY41" fmla="*/ 196455 h 607498"/>
                <a:gd name="connsiteX42" fmla="*/ 219527 w 473095"/>
                <a:gd name="connsiteY42" fmla="*/ 196455 h 607498"/>
                <a:gd name="connsiteX43" fmla="*/ 163710 w 473095"/>
                <a:gd name="connsiteY43" fmla="*/ 190597 h 607498"/>
                <a:gd name="connsiteX44" fmla="*/ 177682 w 473095"/>
                <a:gd name="connsiteY44" fmla="*/ 190597 h 607498"/>
                <a:gd name="connsiteX45" fmla="*/ 177682 w 473095"/>
                <a:gd name="connsiteY45" fmla="*/ 229126 h 607498"/>
                <a:gd name="connsiteX46" fmla="*/ 171283 w 473095"/>
                <a:gd name="connsiteY46" fmla="*/ 229126 h 607498"/>
                <a:gd name="connsiteX47" fmla="*/ 171283 w 473095"/>
                <a:gd name="connsiteY47" fmla="*/ 196455 h 607498"/>
                <a:gd name="connsiteX48" fmla="*/ 163710 w 473095"/>
                <a:gd name="connsiteY48" fmla="*/ 196455 h 607498"/>
                <a:gd name="connsiteX49" fmla="*/ 369056 w 473095"/>
                <a:gd name="connsiteY49" fmla="*/ 190456 h 607498"/>
                <a:gd name="connsiteX50" fmla="*/ 385497 w 473095"/>
                <a:gd name="connsiteY50" fmla="*/ 209862 h 607498"/>
                <a:gd name="connsiteX51" fmla="*/ 369056 w 473095"/>
                <a:gd name="connsiteY51" fmla="*/ 229267 h 607498"/>
                <a:gd name="connsiteX52" fmla="*/ 352614 w 473095"/>
                <a:gd name="connsiteY52" fmla="*/ 209862 h 607498"/>
                <a:gd name="connsiteX53" fmla="*/ 369056 w 473095"/>
                <a:gd name="connsiteY53" fmla="*/ 190456 h 607498"/>
                <a:gd name="connsiteX54" fmla="*/ 313233 w 473095"/>
                <a:gd name="connsiteY54" fmla="*/ 190456 h 607498"/>
                <a:gd name="connsiteX55" fmla="*/ 329539 w 473095"/>
                <a:gd name="connsiteY55" fmla="*/ 209862 h 607498"/>
                <a:gd name="connsiteX56" fmla="*/ 313233 w 473095"/>
                <a:gd name="connsiteY56" fmla="*/ 229267 h 607498"/>
                <a:gd name="connsiteX57" fmla="*/ 296797 w 473095"/>
                <a:gd name="connsiteY57" fmla="*/ 209862 h 607498"/>
                <a:gd name="connsiteX58" fmla="*/ 313233 w 473095"/>
                <a:gd name="connsiteY58" fmla="*/ 190456 h 607498"/>
                <a:gd name="connsiteX59" fmla="*/ 257451 w 473095"/>
                <a:gd name="connsiteY59" fmla="*/ 190456 h 607498"/>
                <a:gd name="connsiteX60" fmla="*/ 273722 w 473095"/>
                <a:gd name="connsiteY60" fmla="*/ 209862 h 607498"/>
                <a:gd name="connsiteX61" fmla="*/ 257451 w 473095"/>
                <a:gd name="connsiteY61" fmla="*/ 229267 h 607498"/>
                <a:gd name="connsiteX62" fmla="*/ 241050 w 473095"/>
                <a:gd name="connsiteY62" fmla="*/ 209862 h 607498"/>
                <a:gd name="connsiteX63" fmla="*/ 257451 w 473095"/>
                <a:gd name="connsiteY63" fmla="*/ 190456 h 607498"/>
                <a:gd name="connsiteX64" fmla="*/ 201533 w 473095"/>
                <a:gd name="connsiteY64" fmla="*/ 190456 h 607498"/>
                <a:gd name="connsiteX65" fmla="*/ 217975 w 473095"/>
                <a:gd name="connsiteY65" fmla="*/ 209862 h 607498"/>
                <a:gd name="connsiteX66" fmla="*/ 201533 w 473095"/>
                <a:gd name="connsiteY66" fmla="*/ 229267 h 607498"/>
                <a:gd name="connsiteX67" fmla="*/ 185092 w 473095"/>
                <a:gd name="connsiteY67" fmla="*/ 209862 h 607498"/>
                <a:gd name="connsiteX68" fmla="*/ 201533 w 473095"/>
                <a:gd name="connsiteY68" fmla="*/ 190456 h 607498"/>
                <a:gd name="connsiteX69" fmla="*/ 145710 w 473095"/>
                <a:gd name="connsiteY69" fmla="*/ 190456 h 607498"/>
                <a:gd name="connsiteX70" fmla="*/ 162016 w 473095"/>
                <a:gd name="connsiteY70" fmla="*/ 209862 h 607498"/>
                <a:gd name="connsiteX71" fmla="*/ 145710 w 473095"/>
                <a:gd name="connsiteY71" fmla="*/ 229267 h 607498"/>
                <a:gd name="connsiteX72" fmla="*/ 135857 w 473095"/>
                <a:gd name="connsiteY72" fmla="*/ 225211 h 607498"/>
                <a:gd name="connsiteX73" fmla="*/ 132913 w 473095"/>
                <a:gd name="connsiteY73" fmla="*/ 222169 h 607498"/>
                <a:gd name="connsiteX74" fmla="*/ 129274 w 473095"/>
                <a:gd name="connsiteY74" fmla="*/ 209862 h 607498"/>
                <a:gd name="connsiteX75" fmla="*/ 145710 w 473095"/>
                <a:gd name="connsiteY75" fmla="*/ 190456 h 607498"/>
                <a:gd name="connsiteX76" fmla="*/ 135026 w 473095"/>
                <a:gd name="connsiteY76" fmla="*/ 143967 h 607498"/>
                <a:gd name="connsiteX77" fmla="*/ 120032 w 473095"/>
                <a:gd name="connsiteY77" fmla="*/ 163101 h 607498"/>
                <a:gd name="connsiteX78" fmla="*/ 126160 w 473095"/>
                <a:gd name="connsiteY78" fmla="*/ 165314 h 607498"/>
                <a:gd name="connsiteX79" fmla="*/ 135808 w 473095"/>
                <a:gd name="connsiteY79" fmla="*/ 150996 h 607498"/>
                <a:gd name="connsiteX80" fmla="*/ 135026 w 473095"/>
                <a:gd name="connsiteY80" fmla="*/ 143967 h 607498"/>
                <a:gd name="connsiteX81" fmla="*/ 293686 w 473095"/>
                <a:gd name="connsiteY81" fmla="*/ 136684 h 607498"/>
                <a:gd name="connsiteX82" fmla="*/ 283903 w 473095"/>
                <a:gd name="connsiteY82" fmla="*/ 151010 h 607498"/>
                <a:gd name="connsiteX83" fmla="*/ 293686 w 473095"/>
                <a:gd name="connsiteY83" fmla="*/ 165337 h 607498"/>
                <a:gd name="connsiteX84" fmla="*/ 303339 w 473095"/>
                <a:gd name="connsiteY84" fmla="*/ 151010 h 607498"/>
                <a:gd name="connsiteX85" fmla="*/ 293686 w 473095"/>
                <a:gd name="connsiteY85" fmla="*/ 136684 h 607498"/>
                <a:gd name="connsiteX86" fmla="*/ 218322 w 473095"/>
                <a:gd name="connsiteY86" fmla="*/ 136684 h 607498"/>
                <a:gd name="connsiteX87" fmla="*/ 208539 w 473095"/>
                <a:gd name="connsiteY87" fmla="*/ 151010 h 607498"/>
                <a:gd name="connsiteX88" fmla="*/ 218322 w 473095"/>
                <a:gd name="connsiteY88" fmla="*/ 165337 h 607498"/>
                <a:gd name="connsiteX89" fmla="*/ 227975 w 473095"/>
                <a:gd name="connsiteY89" fmla="*/ 151010 h 607498"/>
                <a:gd name="connsiteX90" fmla="*/ 218322 w 473095"/>
                <a:gd name="connsiteY90" fmla="*/ 136684 h 607498"/>
                <a:gd name="connsiteX91" fmla="*/ 349503 w 473095"/>
                <a:gd name="connsiteY91" fmla="*/ 136677 h 607498"/>
                <a:gd name="connsiteX92" fmla="*/ 339855 w 473095"/>
                <a:gd name="connsiteY92" fmla="*/ 150996 h 607498"/>
                <a:gd name="connsiteX93" fmla="*/ 349503 w 473095"/>
                <a:gd name="connsiteY93" fmla="*/ 165314 h 607498"/>
                <a:gd name="connsiteX94" fmla="*/ 359282 w 473095"/>
                <a:gd name="connsiteY94" fmla="*/ 150996 h 607498"/>
                <a:gd name="connsiteX95" fmla="*/ 349503 w 473095"/>
                <a:gd name="connsiteY95" fmla="*/ 136677 h 607498"/>
                <a:gd name="connsiteX96" fmla="*/ 162406 w 473095"/>
                <a:gd name="connsiteY96" fmla="*/ 136677 h 607498"/>
                <a:gd name="connsiteX97" fmla="*/ 152758 w 473095"/>
                <a:gd name="connsiteY97" fmla="*/ 150996 h 607498"/>
                <a:gd name="connsiteX98" fmla="*/ 162406 w 473095"/>
                <a:gd name="connsiteY98" fmla="*/ 165314 h 607498"/>
                <a:gd name="connsiteX99" fmla="*/ 172185 w 473095"/>
                <a:gd name="connsiteY99" fmla="*/ 150996 h 607498"/>
                <a:gd name="connsiteX100" fmla="*/ 162406 w 473095"/>
                <a:gd name="connsiteY100" fmla="*/ 136677 h 607498"/>
                <a:gd name="connsiteX101" fmla="*/ 311686 w 473095"/>
                <a:gd name="connsiteY101" fmla="*/ 131746 h 607498"/>
                <a:gd name="connsiteX102" fmla="*/ 325658 w 473095"/>
                <a:gd name="connsiteY102" fmla="*/ 131746 h 607498"/>
                <a:gd name="connsiteX103" fmla="*/ 325658 w 473095"/>
                <a:gd name="connsiteY103" fmla="*/ 170275 h 607498"/>
                <a:gd name="connsiteX104" fmla="*/ 319260 w 473095"/>
                <a:gd name="connsiteY104" fmla="*/ 170275 h 607498"/>
                <a:gd name="connsiteX105" fmla="*/ 319260 w 473095"/>
                <a:gd name="connsiteY105" fmla="*/ 137473 h 607498"/>
                <a:gd name="connsiteX106" fmla="*/ 311686 w 473095"/>
                <a:gd name="connsiteY106" fmla="*/ 137473 h 607498"/>
                <a:gd name="connsiteX107" fmla="*/ 255728 w 473095"/>
                <a:gd name="connsiteY107" fmla="*/ 131746 h 607498"/>
                <a:gd name="connsiteX108" fmla="*/ 269841 w 473095"/>
                <a:gd name="connsiteY108" fmla="*/ 131746 h 607498"/>
                <a:gd name="connsiteX109" fmla="*/ 269841 w 473095"/>
                <a:gd name="connsiteY109" fmla="*/ 170275 h 607498"/>
                <a:gd name="connsiteX110" fmla="*/ 263307 w 473095"/>
                <a:gd name="connsiteY110" fmla="*/ 170275 h 607498"/>
                <a:gd name="connsiteX111" fmla="*/ 263307 w 473095"/>
                <a:gd name="connsiteY111" fmla="*/ 137473 h 607498"/>
                <a:gd name="connsiteX112" fmla="*/ 255728 w 473095"/>
                <a:gd name="connsiteY112" fmla="*/ 137473 h 607498"/>
                <a:gd name="connsiteX113" fmla="*/ 236181 w 473095"/>
                <a:gd name="connsiteY113" fmla="*/ 131746 h 607498"/>
                <a:gd name="connsiteX114" fmla="*/ 250294 w 473095"/>
                <a:gd name="connsiteY114" fmla="*/ 131746 h 607498"/>
                <a:gd name="connsiteX115" fmla="*/ 250294 w 473095"/>
                <a:gd name="connsiteY115" fmla="*/ 170275 h 607498"/>
                <a:gd name="connsiteX116" fmla="*/ 243760 w 473095"/>
                <a:gd name="connsiteY116" fmla="*/ 170275 h 607498"/>
                <a:gd name="connsiteX117" fmla="*/ 243760 w 473095"/>
                <a:gd name="connsiteY117" fmla="*/ 137473 h 607498"/>
                <a:gd name="connsiteX118" fmla="*/ 236181 w 473095"/>
                <a:gd name="connsiteY118" fmla="*/ 137473 h 607498"/>
                <a:gd name="connsiteX119" fmla="*/ 180434 w 473095"/>
                <a:gd name="connsiteY119" fmla="*/ 131746 h 607498"/>
                <a:gd name="connsiteX120" fmla="*/ 194477 w 473095"/>
                <a:gd name="connsiteY120" fmla="*/ 131746 h 607498"/>
                <a:gd name="connsiteX121" fmla="*/ 194477 w 473095"/>
                <a:gd name="connsiteY121" fmla="*/ 170275 h 607498"/>
                <a:gd name="connsiteX122" fmla="*/ 187975 w 473095"/>
                <a:gd name="connsiteY122" fmla="*/ 170275 h 607498"/>
                <a:gd name="connsiteX123" fmla="*/ 187975 w 473095"/>
                <a:gd name="connsiteY123" fmla="*/ 137473 h 607498"/>
                <a:gd name="connsiteX124" fmla="*/ 180434 w 473095"/>
                <a:gd name="connsiteY124" fmla="*/ 137473 h 607498"/>
                <a:gd name="connsiteX125" fmla="*/ 293686 w 473095"/>
                <a:gd name="connsiteY125" fmla="*/ 131605 h 607498"/>
                <a:gd name="connsiteX126" fmla="*/ 309992 w 473095"/>
                <a:gd name="connsiteY126" fmla="*/ 151010 h 607498"/>
                <a:gd name="connsiteX127" fmla="*/ 293686 w 473095"/>
                <a:gd name="connsiteY127" fmla="*/ 170416 h 607498"/>
                <a:gd name="connsiteX128" fmla="*/ 277250 w 473095"/>
                <a:gd name="connsiteY128" fmla="*/ 151010 h 607498"/>
                <a:gd name="connsiteX129" fmla="*/ 293686 w 473095"/>
                <a:gd name="connsiteY129" fmla="*/ 131605 h 607498"/>
                <a:gd name="connsiteX130" fmla="*/ 218322 w 473095"/>
                <a:gd name="connsiteY130" fmla="*/ 131605 h 607498"/>
                <a:gd name="connsiteX131" fmla="*/ 234628 w 473095"/>
                <a:gd name="connsiteY131" fmla="*/ 151010 h 607498"/>
                <a:gd name="connsiteX132" fmla="*/ 218322 w 473095"/>
                <a:gd name="connsiteY132" fmla="*/ 170416 h 607498"/>
                <a:gd name="connsiteX133" fmla="*/ 201886 w 473095"/>
                <a:gd name="connsiteY133" fmla="*/ 151010 h 607498"/>
                <a:gd name="connsiteX134" fmla="*/ 218322 w 473095"/>
                <a:gd name="connsiteY134" fmla="*/ 131605 h 607498"/>
                <a:gd name="connsiteX135" fmla="*/ 284182 w 473095"/>
                <a:gd name="connsiteY135" fmla="*/ 88124 h 607498"/>
                <a:gd name="connsiteX136" fmla="*/ 283922 w 473095"/>
                <a:gd name="connsiteY136" fmla="*/ 92159 h 607498"/>
                <a:gd name="connsiteX137" fmla="*/ 293700 w 473095"/>
                <a:gd name="connsiteY137" fmla="*/ 106348 h 607498"/>
                <a:gd name="connsiteX138" fmla="*/ 303088 w 473095"/>
                <a:gd name="connsiteY138" fmla="*/ 96715 h 607498"/>
                <a:gd name="connsiteX139" fmla="*/ 295265 w 473095"/>
                <a:gd name="connsiteY139" fmla="*/ 96064 h 607498"/>
                <a:gd name="connsiteX140" fmla="*/ 289919 w 473095"/>
                <a:gd name="connsiteY140" fmla="*/ 96455 h 607498"/>
                <a:gd name="connsiteX141" fmla="*/ 284182 w 473095"/>
                <a:gd name="connsiteY141" fmla="*/ 88124 h 607498"/>
                <a:gd name="connsiteX142" fmla="*/ 257451 w 473095"/>
                <a:gd name="connsiteY142" fmla="*/ 77823 h 607498"/>
                <a:gd name="connsiteX143" fmla="*/ 247689 w 473095"/>
                <a:gd name="connsiteY143" fmla="*/ 92153 h 607498"/>
                <a:gd name="connsiteX144" fmla="*/ 257451 w 473095"/>
                <a:gd name="connsiteY144" fmla="*/ 106353 h 607498"/>
                <a:gd name="connsiteX145" fmla="*/ 267084 w 473095"/>
                <a:gd name="connsiteY145" fmla="*/ 92153 h 607498"/>
                <a:gd name="connsiteX146" fmla="*/ 257451 w 473095"/>
                <a:gd name="connsiteY146" fmla="*/ 77823 h 607498"/>
                <a:gd name="connsiteX147" fmla="*/ 201533 w 473095"/>
                <a:gd name="connsiteY147" fmla="*/ 77823 h 607498"/>
                <a:gd name="connsiteX148" fmla="*/ 191877 w 473095"/>
                <a:gd name="connsiteY148" fmla="*/ 92153 h 607498"/>
                <a:gd name="connsiteX149" fmla="*/ 201533 w 473095"/>
                <a:gd name="connsiteY149" fmla="*/ 106353 h 607498"/>
                <a:gd name="connsiteX150" fmla="*/ 211320 w 473095"/>
                <a:gd name="connsiteY150" fmla="*/ 92153 h 607498"/>
                <a:gd name="connsiteX151" fmla="*/ 201533 w 473095"/>
                <a:gd name="connsiteY151" fmla="*/ 77823 h 607498"/>
                <a:gd name="connsiteX152" fmla="*/ 219527 w 473095"/>
                <a:gd name="connsiteY152" fmla="*/ 72894 h 607498"/>
                <a:gd name="connsiteX153" fmla="*/ 233570 w 473095"/>
                <a:gd name="connsiteY153" fmla="*/ 72894 h 607498"/>
                <a:gd name="connsiteX154" fmla="*/ 233570 w 473095"/>
                <a:gd name="connsiteY154" fmla="*/ 111282 h 607498"/>
                <a:gd name="connsiteX155" fmla="*/ 227069 w 473095"/>
                <a:gd name="connsiteY155" fmla="*/ 111282 h 607498"/>
                <a:gd name="connsiteX156" fmla="*/ 227069 w 473095"/>
                <a:gd name="connsiteY156" fmla="*/ 78620 h 607498"/>
                <a:gd name="connsiteX157" fmla="*/ 219527 w 473095"/>
                <a:gd name="connsiteY157" fmla="*/ 78620 h 607498"/>
                <a:gd name="connsiteX158" fmla="*/ 257451 w 473095"/>
                <a:gd name="connsiteY158" fmla="*/ 72612 h 607498"/>
                <a:gd name="connsiteX159" fmla="*/ 273722 w 473095"/>
                <a:gd name="connsiteY159" fmla="*/ 92153 h 607498"/>
                <a:gd name="connsiteX160" fmla="*/ 257451 w 473095"/>
                <a:gd name="connsiteY160" fmla="*/ 111564 h 607498"/>
                <a:gd name="connsiteX161" fmla="*/ 241050 w 473095"/>
                <a:gd name="connsiteY161" fmla="*/ 92153 h 607498"/>
                <a:gd name="connsiteX162" fmla="*/ 257451 w 473095"/>
                <a:gd name="connsiteY162" fmla="*/ 72612 h 607498"/>
                <a:gd name="connsiteX163" fmla="*/ 201533 w 473095"/>
                <a:gd name="connsiteY163" fmla="*/ 72612 h 607498"/>
                <a:gd name="connsiteX164" fmla="*/ 217975 w 473095"/>
                <a:gd name="connsiteY164" fmla="*/ 92153 h 607498"/>
                <a:gd name="connsiteX165" fmla="*/ 201533 w 473095"/>
                <a:gd name="connsiteY165" fmla="*/ 111564 h 607498"/>
                <a:gd name="connsiteX166" fmla="*/ 185092 w 473095"/>
                <a:gd name="connsiteY166" fmla="*/ 92153 h 607498"/>
                <a:gd name="connsiteX167" fmla="*/ 201533 w 473095"/>
                <a:gd name="connsiteY167" fmla="*/ 72612 h 607498"/>
                <a:gd name="connsiteX168" fmla="*/ 228379 w 473095"/>
                <a:gd name="connsiteY168" fmla="*/ 61179 h 607498"/>
                <a:gd name="connsiteX169" fmla="*/ 177661 w 473095"/>
                <a:gd name="connsiteY169" fmla="*/ 82267 h 607498"/>
                <a:gd name="connsiteX170" fmla="*/ 177661 w 473095"/>
                <a:gd name="connsiteY170" fmla="*/ 111294 h 607498"/>
                <a:gd name="connsiteX171" fmla="*/ 171272 w 473095"/>
                <a:gd name="connsiteY171" fmla="*/ 111294 h 607498"/>
                <a:gd name="connsiteX172" fmla="*/ 171272 w 473095"/>
                <a:gd name="connsiteY172" fmla="*/ 89816 h 607498"/>
                <a:gd name="connsiteX173" fmla="*/ 157061 w 473095"/>
                <a:gd name="connsiteY173" fmla="*/ 132251 h 607498"/>
                <a:gd name="connsiteX174" fmla="*/ 162406 w 473095"/>
                <a:gd name="connsiteY174" fmla="*/ 131601 h 607498"/>
                <a:gd name="connsiteX175" fmla="*/ 178834 w 473095"/>
                <a:gd name="connsiteY175" fmla="*/ 150996 h 607498"/>
                <a:gd name="connsiteX176" fmla="*/ 162406 w 473095"/>
                <a:gd name="connsiteY176" fmla="*/ 170391 h 607498"/>
                <a:gd name="connsiteX177" fmla="*/ 146109 w 473095"/>
                <a:gd name="connsiteY177" fmla="*/ 150996 h 607498"/>
                <a:gd name="connsiteX178" fmla="*/ 151976 w 473095"/>
                <a:gd name="connsiteY178" fmla="*/ 134985 h 607498"/>
                <a:gd name="connsiteX179" fmla="*/ 140502 w 473095"/>
                <a:gd name="connsiteY179" fmla="*/ 140192 h 607498"/>
                <a:gd name="connsiteX180" fmla="*/ 142588 w 473095"/>
                <a:gd name="connsiteY180" fmla="*/ 150996 h 607498"/>
                <a:gd name="connsiteX181" fmla="*/ 126160 w 473095"/>
                <a:gd name="connsiteY181" fmla="*/ 170391 h 607498"/>
                <a:gd name="connsiteX182" fmla="*/ 117946 w 473095"/>
                <a:gd name="connsiteY182" fmla="*/ 168569 h 607498"/>
                <a:gd name="connsiteX183" fmla="*/ 115208 w 473095"/>
                <a:gd name="connsiteY183" fmla="*/ 185100 h 607498"/>
                <a:gd name="connsiteX184" fmla="*/ 115469 w 473095"/>
                <a:gd name="connsiteY184" fmla="*/ 190567 h 607498"/>
                <a:gd name="connsiteX185" fmla="*/ 121858 w 473095"/>
                <a:gd name="connsiteY185" fmla="*/ 190567 h 607498"/>
                <a:gd name="connsiteX186" fmla="*/ 121858 w 473095"/>
                <a:gd name="connsiteY186" fmla="*/ 210743 h 607498"/>
                <a:gd name="connsiteX187" fmla="*/ 132913 w 473095"/>
                <a:gd name="connsiteY187" fmla="*/ 222169 h 607498"/>
                <a:gd name="connsiteX188" fmla="*/ 133530 w 473095"/>
                <a:gd name="connsiteY188" fmla="*/ 224253 h 607498"/>
                <a:gd name="connsiteX189" fmla="*/ 135857 w 473095"/>
                <a:gd name="connsiteY189" fmla="*/ 225211 h 607498"/>
                <a:gd name="connsiteX190" fmla="*/ 140877 w 473095"/>
                <a:gd name="connsiteY190" fmla="*/ 230399 h 607498"/>
                <a:gd name="connsiteX191" fmla="*/ 168013 w 473095"/>
                <a:gd name="connsiteY191" fmla="*/ 237949 h 607498"/>
                <a:gd name="connsiteX192" fmla="*/ 354327 w 473095"/>
                <a:gd name="connsiteY192" fmla="*/ 237949 h 607498"/>
                <a:gd name="connsiteX193" fmla="*/ 394615 w 473095"/>
                <a:gd name="connsiteY193" fmla="*/ 219335 h 607498"/>
                <a:gd name="connsiteX194" fmla="*/ 394615 w 473095"/>
                <a:gd name="connsiteY194" fmla="*/ 196425 h 607498"/>
                <a:gd name="connsiteX195" fmla="*/ 387053 w 473095"/>
                <a:gd name="connsiteY195" fmla="*/ 196425 h 607498"/>
                <a:gd name="connsiteX196" fmla="*/ 387053 w 473095"/>
                <a:gd name="connsiteY196" fmla="*/ 190567 h 607498"/>
                <a:gd name="connsiteX197" fmla="*/ 401134 w 473095"/>
                <a:gd name="connsiteY197" fmla="*/ 190567 h 607498"/>
                <a:gd name="connsiteX198" fmla="*/ 401134 w 473095"/>
                <a:gd name="connsiteY198" fmla="*/ 209702 h 607498"/>
                <a:gd name="connsiteX199" fmla="*/ 407132 w 473095"/>
                <a:gd name="connsiteY199" fmla="*/ 185230 h 607498"/>
                <a:gd name="connsiteX200" fmla="*/ 405046 w 473095"/>
                <a:gd name="connsiteY200" fmla="*/ 170391 h 607498"/>
                <a:gd name="connsiteX201" fmla="*/ 389009 w 473095"/>
                <a:gd name="connsiteY201" fmla="*/ 150996 h 607498"/>
                <a:gd name="connsiteX202" fmla="*/ 389400 w 473095"/>
                <a:gd name="connsiteY202" fmla="*/ 145789 h 607498"/>
                <a:gd name="connsiteX203" fmla="*/ 381577 w 473095"/>
                <a:gd name="connsiteY203" fmla="*/ 139931 h 607498"/>
                <a:gd name="connsiteX204" fmla="*/ 381577 w 473095"/>
                <a:gd name="connsiteY204" fmla="*/ 170261 h 607498"/>
                <a:gd name="connsiteX205" fmla="*/ 375058 w 473095"/>
                <a:gd name="connsiteY205" fmla="*/ 170261 h 607498"/>
                <a:gd name="connsiteX206" fmla="*/ 375058 w 473095"/>
                <a:gd name="connsiteY206" fmla="*/ 137458 h 607498"/>
                <a:gd name="connsiteX207" fmla="*/ 367496 w 473095"/>
                <a:gd name="connsiteY207" fmla="*/ 137458 h 607498"/>
                <a:gd name="connsiteX208" fmla="*/ 367496 w 473095"/>
                <a:gd name="connsiteY208" fmla="*/ 134074 h 607498"/>
                <a:gd name="connsiteX209" fmla="*/ 355501 w 473095"/>
                <a:gd name="connsiteY209" fmla="*/ 132512 h 607498"/>
                <a:gd name="connsiteX210" fmla="*/ 365931 w 473095"/>
                <a:gd name="connsiteY210" fmla="*/ 150996 h 607498"/>
                <a:gd name="connsiteX211" fmla="*/ 349503 w 473095"/>
                <a:gd name="connsiteY211" fmla="*/ 170391 h 607498"/>
                <a:gd name="connsiteX212" fmla="*/ 333075 w 473095"/>
                <a:gd name="connsiteY212" fmla="*/ 150996 h 607498"/>
                <a:gd name="connsiteX213" fmla="*/ 345331 w 473095"/>
                <a:gd name="connsiteY213" fmla="*/ 131991 h 607498"/>
                <a:gd name="connsiteX214" fmla="*/ 325644 w 473095"/>
                <a:gd name="connsiteY214" fmla="*/ 105697 h 607498"/>
                <a:gd name="connsiteX215" fmla="*/ 325644 w 473095"/>
                <a:gd name="connsiteY215" fmla="*/ 111294 h 607498"/>
                <a:gd name="connsiteX216" fmla="*/ 319255 w 473095"/>
                <a:gd name="connsiteY216" fmla="*/ 111294 h 607498"/>
                <a:gd name="connsiteX217" fmla="*/ 319255 w 473095"/>
                <a:gd name="connsiteY217" fmla="*/ 101792 h 607498"/>
                <a:gd name="connsiteX218" fmla="*/ 309476 w 473095"/>
                <a:gd name="connsiteY218" fmla="*/ 98017 h 607498"/>
                <a:gd name="connsiteX219" fmla="*/ 293700 w 473095"/>
                <a:gd name="connsiteY219" fmla="*/ 111555 h 607498"/>
                <a:gd name="connsiteX220" fmla="*/ 277272 w 473095"/>
                <a:gd name="connsiteY220" fmla="*/ 92159 h 607498"/>
                <a:gd name="connsiteX221" fmla="*/ 278967 w 473095"/>
                <a:gd name="connsiteY221" fmla="*/ 82267 h 607498"/>
                <a:gd name="connsiteX222" fmla="*/ 228379 w 473095"/>
                <a:gd name="connsiteY222" fmla="*/ 61179 h 607498"/>
                <a:gd name="connsiteX223" fmla="*/ 242069 w 473095"/>
                <a:gd name="connsiteY223" fmla="*/ 0 h 607498"/>
                <a:gd name="connsiteX224" fmla="*/ 429296 w 473095"/>
                <a:gd name="connsiteY224" fmla="*/ 90077 h 607498"/>
                <a:gd name="connsiteX225" fmla="*/ 458111 w 473095"/>
                <a:gd name="connsiteY225" fmla="*/ 290146 h 607498"/>
                <a:gd name="connsiteX226" fmla="*/ 430470 w 473095"/>
                <a:gd name="connsiteY226" fmla="*/ 335055 h 607498"/>
                <a:gd name="connsiteX227" fmla="*/ 391747 w 473095"/>
                <a:gd name="connsiteY227" fmla="*/ 452988 h 607498"/>
                <a:gd name="connsiteX228" fmla="*/ 389530 w 473095"/>
                <a:gd name="connsiteY228" fmla="*/ 461579 h 607498"/>
                <a:gd name="connsiteX229" fmla="*/ 238940 w 473095"/>
                <a:gd name="connsiteY229" fmla="*/ 605155 h 607498"/>
                <a:gd name="connsiteX230" fmla="*/ 233073 w 473095"/>
                <a:gd name="connsiteY230" fmla="*/ 607498 h 607498"/>
                <a:gd name="connsiteX231" fmla="*/ 230726 w 473095"/>
                <a:gd name="connsiteY231" fmla="*/ 607108 h 607498"/>
                <a:gd name="connsiteX232" fmla="*/ 224859 w 473095"/>
                <a:gd name="connsiteY232" fmla="*/ 601120 h 607498"/>
                <a:gd name="connsiteX233" fmla="*/ 160581 w 473095"/>
                <a:gd name="connsiteY233" fmla="*/ 498286 h 607498"/>
                <a:gd name="connsiteX234" fmla="*/ 150802 w 473095"/>
                <a:gd name="connsiteY234" fmla="*/ 497375 h 607498"/>
                <a:gd name="connsiteX235" fmla="*/ 124856 w 473095"/>
                <a:gd name="connsiteY235" fmla="*/ 499458 h 607498"/>
                <a:gd name="connsiteX236" fmla="*/ 91088 w 473095"/>
                <a:gd name="connsiteY236" fmla="*/ 502192 h 607498"/>
                <a:gd name="connsiteX237" fmla="*/ 50800 w 473095"/>
                <a:gd name="connsiteY237" fmla="*/ 479021 h 607498"/>
                <a:gd name="connsiteX238" fmla="*/ 47019 w 473095"/>
                <a:gd name="connsiteY238" fmla="*/ 451686 h 607498"/>
                <a:gd name="connsiteX239" fmla="*/ 7905 w 473095"/>
                <a:gd name="connsiteY239" fmla="*/ 355101 h 607498"/>
                <a:gd name="connsiteX240" fmla="*/ 18205 w 473095"/>
                <a:gd name="connsiteY240" fmla="*/ 295093 h 607498"/>
                <a:gd name="connsiteX241" fmla="*/ 35154 w 473095"/>
                <a:gd name="connsiteY241" fmla="*/ 252267 h 607498"/>
                <a:gd name="connsiteX242" fmla="*/ 33590 w 473095"/>
                <a:gd name="connsiteY242" fmla="*/ 240552 h 607498"/>
                <a:gd name="connsiteX243" fmla="*/ 70096 w 473095"/>
                <a:gd name="connsiteY243" fmla="*/ 75628 h 607498"/>
                <a:gd name="connsiteX244" fmla="*/ 70357 w 473095"/>
                <a:gd name="connsiteY244" fmla="*/ 75368 h 607498"/>
                <a:gd name="connsiteX245" fmla="*/ 242069 w 473095"/>
                <a:gd name="connsiteY245" fmla="*/ 0 h 607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Lst>
              <a:rect l="l" t="t" r="r" b="b"/>
              <a:pathLst>
                <a:path w="473095" h="607498">
                  <a:moveTo>
                    <a:pt x="369056" y="195535"/>
                  </a:moveTo>
                  <a:cubicBezTo>
                    <a:pt x="362531" y="195535"/>
                    <a:pt x="359269" y="200094"/>
                    <a:pt x="359269" y="209862"/>
                  </a:cubicBezTo>
                  <a:cubicBezTo>
                    <a:pt x="359269" y="219629"/>
                    <a:pt x="362531" y="224188"/>
                    <a:pt x="369056" y="224188"/>
                  </a:cubicBezTo>
                  <a:cubicBezTo>
                    <a:pt x="375580" y="224188"/>
                    <a:pt x="378842" y="219629"/>
                    <a:pt x="378842" y="209862"/>
                  </a:cubicBezTo>
                  <a:cubicBezTo>
                    <a:pt x="378842" y="200094"/>
                    <a:pt x="375580" y="195535"/>
                    <a:pt x="369056" y="195535"/>
                  </a:cubicBezTo>
                  <a:close/>
                  <a:moveTo>
                    <a:pt x="313233" y="195535"/>
                  </a:moveTo>
                  <a:cubicBezTo>
                    <a:pt x="306711" y="195535"/>
                    <a:pt x="303450" y="200094"/>
                    <a:pt x="303450" y="209862"/>
                  </a:cubicBezTo>
                  <a:cubicBezTo>
                    <a:pt x="303450" y="219629"/>
                    <a:pt x="306711" y="224188"/>
                    <a:pt x="313233" y="224188"/>
                  </a:cubicBezTo>
                  <a:cubicBezTo>
                    <a:pt x="319625" y="224188"/>
                    <a:pt x="322886" y="219629"/>
                    <a:pt x="322886" y="209862"/>
                  </a:cubicBezTo>
                  <a:cubicBezTo>
                    <a:pt x="322886" y="200094"/>
                    <a:pt x="319625" y="195535"/>
                    <a:pt x="313233" y="195535"/>
                  </a:cubicBezTo>
                  <a:close/>
                  <a:moveTo>
                    <a:pt x="257451" y="195535"/>
                  </a:moveTo>
                  <a:cubicBezTo>
                    <a:pt x="250943" y="195535"/>
                    <a:pt x="247689" y="200094"/>
                    <a:pt x="247689" y="209862"/>
                  </a:cubicBezTo>
                  <a:cubicBezTo>
                    <a:pt x="247689" y="219629"/>
                    <a:pt x="250943" y="224188"/>
                    <a:pt x="257451" y="224188"/>
                  </a:cubicBezTo>
                  <a:cubicBezTo>
                    <a:pt x="263830" y="224188"/>
                    <a:pt x="267084" y="219629"/>
                    <a:pt x="267084" y="209862"/>
                  </a:cubicBezTo>
                  <a:cubicBezTo>
                    <a:pt x="267084" y="200094"/>
                    <a:pt x="263830" y="195535"/>
                    <a:pt x="257451" y="195535"/>
                  </a:cubicBezTo>
                  <a:close/>
                  <a:moveTo>
                    <a:pt x="201533" y="195535"/>
                  </a:moveTo>
                  <a:cubicBezTo>
                    <a:pt x="195009" y="195535"/>
                    <a:pt x="191877" y="200094"/>
                    <a:pt x="191877" y="209862"/>
                  </a:cubicBezTo>
                  <a:cubicBezTo>
                    <a:pt x="191877" y="219629"/>
                    <a:pt x="195009" y="224188"/>
                    <a:pt x="201533" y="224188"/>
                  </a:cubicBezTo>
                  <a:cubicBezTo>
                    <a:pt x="208058" y="224188"/>
                    <a:pt x="211320" y="219629"/>
                    <a:pt x="211320" y="209862"/>
                  </a:cubicBezTo>
                  <a:cubicBezTo>
                    <a:pt x="211320" y="200094"/>
                    <a:pt x="208058" y="195535"/>
                    <a:pt x="201533" y="195535"/>
                  </a:cubicBezTo>
                  <a:close/>
                  <a:moveTo>
                    <a:pt x="145710" y="195535"/>
                  </a:moveTo>
                  <a:cubicBezTo>
                    <a:pt x="139188" y="195535"/>
                    <a:pt x="135927" y="200094"/>
                    <a:pt x="135927" y="209862"/>
                  </a:cubicBezTo>
                  <a:cubicBezTo>
                    <a:pt x="135927" y="219629"/>
                    <a:pt x="139188" y="224188"/>
                    <a:pt x="145710" y="224188"/>
                  </a:cubicBezTo>
                  <a:cubicBezTo>
                    <a:pt x="152102" y="224188"/>
                    <a:pt x="155363" y="219629"/>
                    <a:pt x="155363" y="209862"/>
                  </a:cubicBezTo>
                  <a:cubicBezTo>
                    <a:pt x="155363" y="200094"/>
                    <a:pt x="152102" y="195535"/>
                    <a:pt x="145710" y="195535"/>
                  </a:cubicBezTo>
                  <a:close/>
                  <a:moveTo>
                    <a:pt x="331233" y="190597"/>
                  </a:moveTo>
                  <a:lnTo>
                    <a:pt x="345205" y="190597"/>
                  </a:lnTo>
                  <a:lnTo>
                    <a:pt x="345205" y="229126"/>
                  </a:lnTo>
                  <a:lnTo>
                    <a:pt x="338676" y="229126"/>
                  </a:lnTo>
                  <a:lnTo>
                    <a:pt x="338676" y="196455"/>
                  </a:lnTo>
                  <a:lnTo>
                    <a:pt x="331233" y="196455"/>
                  </a:lnTo>
                  <a:close/>
                  <a:moveTo>
                    <a:pt x="275345" y="190597"/>
                  </a:moveTo>
                  <a:lnTo>
                    <a:pt x="289388" y="190597"/>
                  </a:lnTo>
                  <a:lnTo>
                    <a:pt x="289388" y="229126"/>
                  </a:lnTo>
                  <a:lnTo>
                    <a:pt x="282887" y="229126"/>
                  </a:lnTo>
                  <a:lnTo>
                    <a:pt x="282887" y="196455"/>
                  </a:lnTo>
                  <a:lnTo>
                    <a:pt x="275345" y="196455"/>
                  </a:lnTo>
                  <a:close/>
                  <a:moveTo>
                    <a:pt x="219527" y="190597"/>
                  </a:moveTo>
                  <a:lnTo>
                    <a:pt x="233570" y="190597"/>
                  </a:lnTo>
                  <a:lnTo>
                    <a:pt x="233570" y="229126"/>
                  </a:lnTo>
                  <a:lnTo>
                    <a:pt x="227069" y="229126"/>
                  </a:lnTo>
                  <a:lnTo>
                    <a:pt x="227069" y="196455"/>
                  </a:lnTo>
                  <a:lnTo>
                    <a:pt x="219527" y="196455"/>
                  </a:lnTo>
                  <a:close/>
                  <a:moveTo>
                    <a:pt x="163710" y="190597"/>
                  </a:moveTo>
                  <a:lnTo>
                    <a:pt x="177682" y="190597"/>
                  </a:lnTo>
                  <a:lnTo>
                    <a:pt x="177682" y="229126"/>
                  </a:lnTo>
                  <a:lnTo>
                    <a:pt x="171283" y="229126"/>
                  </a:lnTo>
                  <a:lnTo>
                    <a:pt x="171283" y="196455"/>
                  </a:lnTo>
                  <a:lnTo>
                    <a:pt x="163710" y="196455"/>
                  </a:lnTo>
                  <a:close/>
                  <a:moveTo>
                    <a:pt x="369056" y="190456"/>
                  </a:moveTo>
                  <a:cubicBezTo>
                    <a:pt x="379625" y="190456"/>
                    <a:pt x="385497" y="197359"/>
                    <a:pt x="385497" y="209862"/>
                  </a:cubicBezTo>
                  <a:cubicBezTo>
                    <a:pt x="385497" y="222364"/>
                    <a:pt x="379625" y="229267"/>
                    <a:pt x="369056" y="229267"/>
                  </a:cubicBezTo>
                  <a:cubicBezTo>
                    <a:pt x="358486" y="229267"/>
                    <a:pt x="352614" y="222364"/>
                    <a:pt x="352614" y="209862"/>
                  </a:cubicBezTo>
                  <a:cubicBezTo>
                    <a:pt x="352614" y="197359"/>
                    <a:pt x="358486" y="190456"/>
                    <a:pt x="369056" y="190456"/>
                  </a:cubicBezTo>
                  <a:close/>
                  <a:moveTo>
                    <a:pt x="313233" y="190456"/>
                  </a:moveTo>
                  <a:cubicBezTo>
                    <a:pt x="323800" y="190456"/>
                    <a:pt x="329539" y="197359"/>
                    <a:pt x="329539" y="209862"/>
                  </a:cubicBezTo>
                  <a:cubicBezTo>
                    <a:pt x="329539" y="222364"/>
                    <a:pt x="323800" y="229267"/>
                    <a:pt x="313233" y="229267"/>
                  </a:cubicBezTo>
                  <a:cubicBezTo>
                    <a:pt x="302667" y="229267"/>
                    <a:pt x="296797" y="222364"/>
                    <a:pt x="296797" y="209862"/>
                  </a:cubicBezTo>
                  <a:cubicBezTo>
                    <a:pt x="296797" y="197359"/>
                    <a:pt x="302667" y="190456"/>
                    <a:pt x="313233" y="190456"/>
                  </a:cubicBezTo>
                  <a:close/>
                  <a:moveTo>
                    <a:pt x="257451" y="190456"/>
                  </a:moveTo>
                  <a:cubicBezTo>
                    <a:pt x="267865" y="190456"/>
                    <a:pt x="273722" y="197359"/>
                    <a:pt x="273722" y="209862"/>
                  </a:cubicBezTo>
                  <a:cubicBezTo>
                    <a:pt x="273722" y="222364"/>
                    <a:pt x="267865" y="229267"/>
                    <a:pt x="257451" y="229267"/>
                  </a:cubicBezTo>
                  <a:cubicBezTo>
                    <a:pt x="246908" y="229267"/>
                    <a:pt x="241050" y="222364"/>
                    <a:pt x="241050" y="209862"/>
                  </a:cubicBezTo>
                  <a:cubicBezTo>
                    <a:pt x="241050" y="197359"/>
                    <a:pt x="246908" y="190456"/>
                    <a:pt x="257451" y="190456"/>
                  </a:cubicBezTo>
                  <a:close/>
                  <a:moveTo>
                    <a:pt x="201533" y="190456"/>
                  </a:moveTo>
                  <a:cubicBezTo>
                    <a:pt x="212103" y="190456"/>
                    <a:pt x="217975" y="197359"/>
                    <a:pt x="217975" y="209862"/>
                  </a:cubicBezTo>
                  <a:cubicBezTo>
                    <a:pt x="217975" y="222364"/>
                    <a:pt x="212103" y="229267"/>
                    <a:pt x="201533" y="229267"/>
                  </a:cubicBezTo>
                  <a:cubicBezTo>
                    <a:pt x="190964" y="229267"/>
                    <a:pt x="185092" y="222364"/>
                    <a:pt x="185092" y="209862"/>
                  </a:cubicBezTo>
                  <a:cubicBezTo>
                    <a:pt x="185092" y="197359"/>
                    <a:pt x="190964" y="190456"/>
                    <a:pt x="201533" y="190456"/>
                  </a:cubicBezTo>
                  <a:close/>
                  <a:moveTo>
                    <a:pt x="145710" y="190456"/>
                  </a:moveTo>
                  <a:cubicBezTo>
                    <a:pt x="156276" y="190456"/>
                    <a:pt x="162016" y="197359"/>
                    <a:pt x="162016" y="209862"/>
                  </a:cubicBezTo>
                  <a:cubicBezTo>
                    <a:pt x="162016" y="222364"/>
                    <a:pt x="156276" y="229267"/>
                    <a:pt x="145710" y="229267"/>
                  </a:cubicBezTo>
                  <a:lnTo>
                    <a:pt x="135857" y="225211"/>
                  </a:lnTo>
                  <a:lnTo>
                    <a:pt x="132913" y="222169"/>
                  </a:lnTo>
                  <a:lnTo>
                    <a:pt x="129274" y="209862"/>
                  </a:lnTo>
                  <a:cubicBezTo>
                    <a:pt x="129274" y="197359"/>
                    <a:pt x="135144" y="190456"/>
                    <a:pt x="145710" y="190456"/>
                  </a:cubicBezTo>
                  <a:close/>
                  <a:moveTo>
                    <a:pt x="135026" y="143967"/>
                  </a:moveTo>
                  <a:cubicBezTo>
                    <a:pt x="128637" y="149043"/>
                    <a:pt x="123553" y="155682"/>
                    <a:pt x="120032" y="163101"/>
                  </a:cubicBezTo>
                  <a:cubicBezTo>
                    <a:pt x="121597" y="164533"/>
                    <a:pt x="123683" y="165314"/>
                    <a:pt x="126160" y="165314"/>
                  </a:cubicBezTo>
                  <a:cubicBezTo>
                    <a:pt x="132549" y="165314"/>
                    <a:pt x="135808" y="160758"/>
                    <a:pt x="135808" y="150996"/>
                  </a:cubicBezTo>
                  <a:cubicBezTo>
                    <a:pt x="135808" y="148262"/>
                    <a:pt x="135548" y="145919"/>
                    <a:pt x="135026" y="143967"/>
                  </a:cubicBezTo>
                  <a:close/>
                  <a:moveTo>
                    <a:pt x="293686" y="136684"/>
                  </a:moveTo>
                  <a:cubicBezTo>
                    <a:pt x="287164" y="136684"/>
                    <a:pt x="283903" y="141243"/>
                    <a:pt x="283903" y="151010"/>
                  </a:cubicBezTo>
                  <a:cubicBezTo>
                    <a:pt x="283903" y="160778"/>
                    <a:pt x="287164" y="165337"/>
                    <a:pt x="293686" y="165337"/>
                  </a:cubicBezTo>
                  <a:cubicBezTo>
                    <a:pt x="300078" y="165337"/>
                    <a:pt x="303339" y="160778"/>
                    <a:pt x="303339" y="151010"/>
                  </a:cubicBezTo>
                  <a:cubicBezTo>
                    <a:pt x="303339" y="141243"/>
                    <a:pt x="300078" y="136684"/>
                    <a:pt x="293686" y="136684"/>
                  </a:cubicBezTo>
                  <a:close/>
                  <a:moveTo>
                    <a:pt x="218322" y="136684"/>
                  </a:moveTo>
                  <a:cubicBezTo>
                    <a:pt x="211800" y="136684"/>
                    <a:pt x="208539" y="141243"/>
                    <a:pt x="208539" y="151010"/>
                  </a:cubicBezTo>
                  <a:cubicBezTo>
                    <a:pt x="208539" y="160778"/>
                    <a:pt x="211800" y="165337"/>
                    <a:pt x="218322" y="165337"/>
                  </a:cubicBezTo>
                  <a:cubicBezTo>
                    <a:pt x="224714" y="165337"/>
                    <a:pt x="227975" y="160778"/>
                    <a:pt x="227975" y="151010"/>
                  </a:cubicBezTo>
                  <a:cubicBezTo>
                    <a:pt x="227975" y="141243"/>
                    <a:pt x="224714" y="136684"/>
                    <a:pt x="218322" y="136684"/>
                  </a:cubicBezTo>
                  <a:close/>
                  <a:moveTo>
                    <a:pt x="349503" y="136677"/>
                  </a:moveTo>
                  <a:cubicBezTo>
                    <a:pt x="342984" y="136677"/>
                    <a:pt x="339855" y="141233"/>
                    <a:pt x="339855" y="150996"/>
                  </a:cubicBezTo>
                  <a:cubicBezTo>
                    <a:pt x="339855" y="160758"/>
                    <a:pt x="342984" y="165314"/>
                    <a:pt x="349503" y="165314"/>
                  </a:cubicBezTo>
                  <a:cubicBezTo>
                    <a:pt x="356022" y="165314"/>
                    <a:pt x="359282" y="160758"/>
                    <a:pt x="359282" y="150996"/>
                  </a:cubicBezTo>
                  <a:cubicBezTo>
                    <a:pt x="359282" y="141233"/>
                    <a:pt x="356022" y="136677"/>
                    <a:pt x="349503" y="136677"/>
                  </a:cubicBezTo>
                  <a:close/>
                  <a:moveTo>
                    <a:pt x="162406" y="136677"/>
                  </a:moveTo>
                  <a:cubicBezTo>
                    <a:pt x="156017" y="136677"/>
                    <a:pt x="152758" y="141233"/>
                    <a:pt x="152758" y="150996"/>
                  </a:cubicBezTo>
                  <a:cubicBezTo>
                    <a:pt x="152758" y="160758"/>
                    <a:pt x="156017" y="165314"/>
                    <a:pt x="162406" y="165314"/>
                  </a:cubicBezTo>
                  <a:cubicBezTo>
                    <a:pt x="168925" y="165314"/>
                    <a:pt x="172185" y="160758"/>
                    <a:pt x="172185" y="150996"/>
                  </a:cubicBezTo>
                  <a:cubicBezTo>
                    <a:pt x="172185" y="141233"/>
                    <a:pt x="168925" y="136677"/>
                    <a:pt x="162406" y="136677"/>
                  </a:cubicBezTo>
                  <a:close/>
                  <a:moveTo>
                    <a:pt x="311686" y="131746"/>
                  </a:moveTo>
                  <a:lnTo>
                    <a:pt x="325658" y="131746"/>
                  </a:lnTo>
                  <a:lnTo>
                    <a:pt x="325658" y="170275"/>
                  </a:lnTo>
                  <a:lnTo>
                    <a:pt x="319260" y="170275"/>
                  </a:lnTo>
                  <a:lnTo>
                    <a:pt x="319260" y="137473"/>
                  </a:lnTo>
                  <a:lnTo>
                    <a:pt x="311686" y="137473"/>
                  </a:lnTo>
                  <a:close/>
                  <a:moveTo>
                    <a:pt x="255728" y="131746"/>
                  </a:moveTo>
                  <a:lnTo>
                    <a:pt x="269841" y="131746"/>
                  </a:lnTo>
                  <a:lnTo>
                    <a:pt x="269841" y="170275"/>
                  </a:lnTo>
                  <a:lnTo>
                    <a:pt x="263307" y="170275"/>
                  </a:lnTo>
                  <a:lnTo>
                    <a:pt x="263307" y="137473"/>
                  </a:lnTo>
                  <a:lnTo>
                    <a:pt x="255728" y="137473"/>
                  </a:lnTo>
                  <a:close/>
                  <a:moveTo>
                    <a:pt x="236181" y="131746"/>
                  </a:moveTo>
                  <a:lnTo>
                    <a:pt x="250294" y="131746"/>
                  </a:lnTo>
                  <a:lnTo>
                    <a:pt x="250294" y="170275"/>
                  </a:lnTo>
                  <a:lnTo>
                    <a:pt x="243760" y="170275"/>
                  </a:lnTo>
                  <a:lnTo>
                    <a:pt x="243760" y="137473"/>
                  </a:lnTo>
                  <a:lnTo>
                    <a:pt x="236181" y="137473"/>
                  </a:lnTo>
                  <a:close/>
                  <a:moveTo>
                    <a:pt x="180434" y="131746"/>
                  </a:moveTo>
                  <a:lnTo>
                    <a:pt x="194477" y="131746"/>
                  </a:lnTo>
                  <a:lnTo>
                    <a:pt x="194477" y="170275"/>
                  </a:lnTo>
                  <a:lnTo>
                    <a:pt x="187975" y="170275"/>
                  </a:lnTo>
                  <a:lnTo>
                    <a:pt x="187975" y="137473"/>
                  </a:lnTo>
                  <a:lnTo>
                    <a:pt x="180434" y="137473"/>
                  </a:lnTo>
                  <a:close/>
                  <a:moveTo>
                    <a:pt x="293686" y="131605"/>
                  </a:moveTo>
                  <a:cubicBezTo>
                    <a:pt x="304253" y="131605"/>
                    <a:pt x="309992" y="138508"/>
                    <a:pt x="309992" y="151010"/>
                  </a:cubicBezTo>
                  <a:cubicBezTo>
                    <a:pt x="309992" y="163513"/>
                    <a:pt x="304253" y="170416"/>
                    <a:pt x="293686" y="170416"/>
                  </a:cubicBezTo>
                  <a:cubicBezTo>
                    <a:pt x="283120" y="170416"/>
                    <a:pt x="277250" y="163513"/>
                    <a:pt x="277250" y="151010"/>
                  </a:cubicBezTo>
                  <a:cubicBezTo>
                    <a:pt x="277250" y="138508"/>
                    <a:pt x="283120" y="131605"/>
                    <a:pt x="293686" y="131605"/>
                  </a:cubicBezTo>
                  <a:close/>
                  <a:moveTo>
                    <a:pt x="218322" y="131605"/>
                  </a:moveTo>
                  <a:cubicBezTo>
                    <a:pt x="228758" y="131605"/>
                    <a:pt x="234628" y="138508"/>
                    <a:pt x="234628" y="151010"/>
                  </a:cubicBezTo>
                  <a:cubicBezTo>
                    <a:pt x="234628" y="163513"/>
                    <a:pt x="228758" y="170416"/>
                    <a:pt x="218322" y="170416"/>
                  </a:cubicBezTo>
                  <a:cubicBezTo>
                    <a:pt x="207756" y="170416"/>
                    <a:pt x="201886" y="163513"/>
                    <a:pt x="201886" y="151010"/>
                  </a:cubicBezTo>
                  <a:cubicBezTo>
                    <a:pt x="201886" y="138508"/>
                    <a:pt x="207756" y="131605"/>
                    <a:pt x="218322" y="131605"/>
                  </a:cubicBezTo>
                  <a:close/>
                  <a:moveTo>
                    <a:pt x="284182" y="88124"/>
                  </a:moveTo>
                  <a:cubicBezTo>
                    <a:pt x="284052" y="89296"/>
                    <a:pt x="283922" y="90597"/>
                    <a:pt x="283922" y="92159"/>
                  </a:cubicBezTo>
                  <a:cubicBezTo>
                    <a:pt x="283922" y="101792"/>
                    <a:pt x="287181" y="106348"/>
                    <a:pt x="293700" y="106348"/>
                  </a:cubicBezTo>
                  <a:cubicBezTo>
                    <a:pt x="299046" y="106348"/>
                    <a:pt x="302175" y="103224"/>
                    <a:pt x="303088" y="96715"/>
                  </a:cubicBezTo>
                  <a:cubicBezTo>
                    <a:pt x="300610" y="96325"/>
                    <a:pt x="298003" y="96064"/>
                    <a:pt x="295265" y="96064"/>
                  </a:cubicBezTo>
                  <a:cubicBezTo>
                    <a:pt x="293439" y="96064"/>
                    <a:pt x="291614" y="96195"/>
                    <a:pt x="289919" y="96455"/>
                  </a:cubicBezTo>
                  <a:cubicBezTo>
                    <a:pt x="288224" y="93461"/>
                    <a:pt x="286269" y="90728"/>
                    <a:pt x="284182" y="88124"/>
                  </a:cubicBezTo>
                  <a:close/>
                  <a:moveTo>
                    <a:pt x="257451" y="77823"/>
                  </a:moveTo>
                  <a:cubicBezTo>
                    <a:pt x="250943" y="77823"/>
                    <a:pt x="247689" y="82252"/>
                    <a:pt x="247689" y="92153"/>
                  </a:cubicBezTo>
                  <a:cubicBezTo>
                    <a:pt x="247689" y="101793"/>
                    <a:pt x="250943" y="106353"/>
                    <a:pt x="257451" y="106353"/>
                  </a:cubicBezTo>
                  <a:cubicBezTo>
                    <a:pt x="263830" y="106353"/>
                    <a:pt x="267084" y="101793"/>
                    <a:pt x="267084" y="92153"/>
                  </a:cubicBezTo>
                  <a:cubicBezTo>
                    <a:pt x="267084" y="82252"/>
                    <a:pt x="263830" y="77823"/>
                    <a:pt x="257451" y="77823"/>
                  </a:cubicBezTo>
                  <a:close/>
                  <a:moveTo>
                    <a:pt x="201533" y="77823"/>
                  </a:moveTo>
                  <a:cubicBezTo>
                    <a:pt x="195009" y="77823"/>
                    <a:pt x="191877" y="82252"/>
                    <a:pt x="191877" y="92153"/>
                  </a:cubicBezTo>
                  <a:cubicBezTo>
                    <a:pt x="191877" y="101793"/>
                    <a:pt x="195009" y="106353"/>
                    <a:pt x="201533" y="106353"/>
                  </a:cubicBezTo>
                  <a:cubicBezTo>
                    <a:pt x="208058" y="106353"/>
                    <a:pt x="211320" y="101793"/>
                    <a:pt x="211320" y="92153"/>
                  </a:cubicBezTo>
                  <a:cubicBezTo>
                    <a:pt x="211320" y="82252"/>
                    <a:pt x="208058" y="77823"/>
                    <a:pt x="201533" y="77823"/>
                  </a:cubicBezTo>
                  <a:close/>
                  <a:moveTo>
                    <a:pt x="219527" y="72894"/>
                  </a:moveTo>
                  <a:lnTo>
                    <a:pt x="233570" y="72894"/>
                  </a:lnTo>
                  <a:lnTo>
                    <a:pt x="233570" y="111282"/>
                  </a:lnTo>
                  <a:lnTo>
                    <a:pt x="227069" y="111282"/>
                  </a:lnTo>
                  <a:lnTo>
                    <a:pt x="227069" y="78620"/>
                  </a:lnTo>
                  <a:lnTo>
                    <a:pt x="219527" y="78620"/>
                  </a:lnTo>
                  <a:close/>
                  <a:moveTo>
                    <a:pt x="257451" y="72612"/>
                  </a:moveTo>
                  <a:cubicBezTo>
                    <a:pt x="267865" y="72612"/>
                    <a:pt x="273722" y="79647"/>
                    <a:pt x="273722" y="92153"/>
                  </a:cubicBezTo>
                  <a:cubicBezTo>
                    <a:pt x="273722" y="104529"/>
                    <a:pt x="267865" y="111564"/>
                    <a:pt x="257451" y="111564"/>
                  </a:cubicBezTo>
                  <a:cubicBezTo>
                    <a:pt x="246908" y="111564"/>
                    <a:pt x="241050" y="104529"/>
                    <a:pt x="241050" y="92153"/>
                  </a:cubicBezTo>
                  <a:cubicBezTo>
                    <a:pt x="241050" y="79647"/>
                    <a:pt x="246908" y="72612"/>
                    <a:pt x="257451" y="72612"/>
                  </a:cubicBezTo>
                  <a:close/>
                  <a:moveTo>
                    <a:pt x="201533" y="72612"/>
                  </a:moveTo>
                  <a:cubicBezTo>
                    <a:pt x="212103" y="72612"/>
                    <a:pt x="217975" y="79647"/>
                    <a:pt x="217975" y="92153"/>
                  </a:cubicBezTo>
                  <a:cubicBezTo>
                    <a:pt x="217975" y="104529"/>
                    <a:pt x="212103" y="111564"/>
                    <a:pt x="201533" y="111564"/>
                  </a:cubicBezTo>
                  <a:cubicBezTo>
                    <a:pt x="190964" y="111564"/>
                    <a:pt x="185092" y="104529"/>
                    <a:pt x="185092" y="92153"/>
                  </a:cubicBezTo>
                  <a:cubicBezTo>
                    <a:pt x="185092" y="79647"/>
                    <a:pt x="190964" y="72612"/>
                    <a:pt x="201533" y="72612"/>
                  </a:cubicBezTo>
                  <a:close/>
                  <a:moveTo>
                    <a:pt x="228379" y="61179"/>
                  </a:moveTo>
                  <a:cubicBezTo>
                    <a:pt x="208561" y="61179"/>
                    <a:pt x="190699" y="69250"/>
                    <a:pt x="177661" y="82267"/>
                  </a:cubicBezTo>
                  <a:lnTo>
                    <a:pt x="177661" y="111294"/>
                  </a:lnTo>
                  <a:lnTo>
                    <a:pt x="171272" y="111294"/>
                  </a:lnTo>
                  <a:lnTo>
                    <a:pt x="171272" y="89816"/>
                  </a:lnTo>
                  <a:cubicBezTo>
                    <a:pt x="162276" y="101662"/>
                    <a:pt x="157061" y="116371"/>
                    <a:pt x="157061" y="132251"/>
                  </a:cubicBezTo>
                  <a:cubicBezTo>
                    <a:pt x="158625" y="131861"/>
                    <a:pt x="160450" y="131601"/>
                    <a:pt x="162406" y="131601"/>
                  </a:cubicBezTo>
                  <a:cubicBezTo>
                    <a:pt x="172967" y="131601"/>
                    <a:pt x="178834" y="138500"/>
                    <a:pt x="178834" y="150996"/>
                  </a:cubicBezTo>
                  <a:cubicBezTo>
                    <a:pt x="178834" y="163492"/>
                    <a:pt x="172967" y="170391"/>
                    <a:pt x="162406" y="170391"/>
                  </a:cubicBezTo>
                  <a:cubicBezTo>
                    <a:pt x="151845" y="170391"/>
                    <a:pt x="146109" y="163492"/>
                    <a:pt x="146109" y="150996"/>
                  </a:cubicBezTo>
                  <a:cubicBezTo>
                    <a:pt x="146109" y="143576"/>
                    <a:pt x="148064" y="138109"/>
                    <a:pt x="151976" y="134985"/>
                  </a:cubicBezTo>
                  <a:cubicBezTo>
                    <a:pt x="147934" y="136287"/>
                    <a:pt x="144022" y="137979"/>
                    <a:pt x="140502" y="140192"/>
                  </a:cubicBezTo>
                  <a:cubicBezTo>
                    <a:pt x="141806" y="143055"/>
                    <a:pt x="142588" y="146700"/>
                    <a:pt x="142588" y="150996"/>
                  </a:cubicBezTo>
                  <a:cubicBezTo>
                    <a:pt x="142588" y="163492"/>
                    <a:pt x="136721" y="170391"/>
                    <a:pt x="126160" y="170391"/>
                  </a:cubicBezTo>
                  <a:cubicBezTo>
                    <a:pt x="123031" y="170391"/>
                    <a:pt x="120293" y="169740"/>
                    <a:pt x="117946" y="168569"/>
                  </a:cubicBezTo>
                  <a:cubicBezTo>
                    <a:pt x="116251" y="173775"/>
                    <a:pt x="115208" y="179373"/>
                    <a:pt x="115208" y="185100"/>
                  </a:cubicBezTo>
                  <a:cubicBezTo>
                    <a:pt x="115208" y="187052"/>
                    <a:pt x="115339" y="188875"/>
                    <a:pt x="115469" y="190567"/>
                  </a:cubicBezTo>
                  <a:lnTo>
                    <a:pt x="121858" y="190567"/>
                  </a:lnTo>
                  <a:lnTo>
                    <a:pt x="121858" y="210743"/>
                  </a:lnTo>
                  <a:lnTo>
                    <a:pt x="132913" y="222169"/>
                  </a:lnTo>
                  <a:lnTo>
                    <a:pt x="133530" y="224253"/>
                  </a:lnTo>
                  <a:lnTo>
                    <a:pt x="135857" y="225211"/>
                  </a:lnTo>
                  <a:lnTo>
                    <a:pt x="140877" y="230399"/>
                  </a:lnTo>
                  <a:cubicBezTo>
                    <a:pt x="148814" y="235183"/>
                    <a:pt x="158104" y="237949"/>
                    <a:pt x="168013" y="237949"/>
                  </a:cubicBezTo>
                  <a:lnTo>
                    <a:pt x="354327" y="237949"/>
                  </a:lnTo>
                  <a:cubicBezTo>
                    <a:pt x="370495" y="237949"/>
                    <a:pt x="384967" y="230659"/>
                    <a:pt x="394615" y="219335"/>
                  </a:cubicBezTo>
                  <a:lnTo>
                    <a:pt x="394615" y="196425"/>
                  </a:lnTo>
                  <a:lnTo>
                    <a:pt x="387053" y="196425"/>
                  </a:lnTo>
                  <a:lnTo>
                    <a:pt x="387053" y="190567"/>
                  </a:lnTo>
                  <a:lnTo>
                    <a:pt x="401134" y="190567"/>
                  </a:lnTo>
                  <a:lnTo>
                    <a:pt x="401134" y="209702"/>
                  </a:lnTo>
                  <a:cubicBezTo>
                    <a:pt x="404915" y="202413"/>
                    <a:pt x="407132" y="194082"/>
                    <a:pt x="407132" y="185230"/>
                  </a:cubicBezTo>
                  <a:cubicBezTo>
                    <a:pt x="407132" y="180023"/>
                    <a:pt x="406349" y="175077"/>
                    <a:pt x="405046" y="170391"/>
                  </a:cubicBezTo>
                  <a:cubicBezTo>
                    <a:pt x="394746" y="170261"/>
                    <a:pt x="389009" y="163362"/>
                    <a:pt x="389009" y="150996"/>
                  </a:cubicBezTo>
                  <a:cubicBezTo>
                    <a:pt x="389009" y="149043"/>
                    <a:pt x="389139" y="147351"/>
                    <a:pt x="389400" y="145789"/>
                  </a:cubicBezTo>
                  <a:cubicBezTo>
                    <a:pt x="386923" y="143576"/>
                    <a:pt x="384315" y="141624"/>
                    <a:pt x="381577" y="139931"/>
                  </a:cubicBezTo>
                  <a:lnTo>
                    <a:pt x="381577" y="170261"/>
                  </a:lnTo>
                  <a:lnTo>
                    <a:pt x="375058" y="170261"/>
                  </a:lnTo>
                  <a:lnTo>
                    <a:pt x="375058" y="137458"/>
                  </a:lnTo>
                  <a:lnTo>
                    <a:pt x="367496" y="137458"/>
                  </a:lnTo>
                  <a:lnTo>
                    <a:pt x="367496" y="134074"/>
                  </a:lnTo>
                  <a:cubicBezTo>
                    <a:pt x="363584" y="133163"/>
                    <a:pt x="359673" y="132512"/>
                    <a:pt x="355501" y="132512"/>
                  </a:cubicBezTo>
                  <a:cubicBezTo>
                    <a:pt x="362281" y="134725"/>
                    <a:pt x="365931" y="141103"/>
                    <a:pt x="365931" y="150996"/>
                  </a:cubicBezTo>
                  <a:cubicBezTo>
                    <a:pt x="365931" y="163492"/>
                    <a:pt x="360064" y="170391"/>
                    <a:pt x="349503" y="170391"/>
                  </a:cubicBezTo>
                  <a:cubicBezTo>
                    <a:pt x="338942" y="170391"/>
                    <a:pt x="333075" y="163492"/>
                    <a:pt x="333075" y="150996"/>
                  </a:cubicBezTo>
                  <a:cubicBezTo>
                    <a:pt x="333075" y="140192"/>
                    <a:pt x="337508" y="133683"/>
                    <a:pt x="345331" y="131991"/>
                  </a:cubicBezTo>
                  <a:cubicBezTo>
                    <a:pt x="341811" y="121317"/>
                    <a:pt x="334770" y="112075"/>
                    <a:pt x="325644" y="105697"/>
                  </a:cubicBezTo>
                  <a:lnTo>
                    <a:pt x="325644" y="111294"/>
                  </a:lnTo>
                  <a:lnTo>
                    <a:pt x="319255" y="111294"/>
                  </a:lnTo>
                  <a:lnTo>
                    <a:pt x="319255" y="101792"/>
                  </a:lnTo>
                  <a:cubicBezTo>
                    <a:pt x="316126" y="100230"/>
                    <a:pt x="312866" y="98928"/>
                    <a:pt x="309476" y="98017"/>
                  </a:cubicBezTo>
                  <a:cubicBezTo>
                    <a:pt x="307912" y="106738"/>
                    <a:pt x="302436" y="111555"/>
                    <a:pt x="293700" y="111555"/>
                  </a:cubicBezTo>
                  <a:cubicBezTo>
                    <a:pt x="283139" y="111555"/>
                    <a:pt x="277272" y="104525"/>
                    <a:pt x="277272" y="92159"/>
                  </a:cubicBezTo>
                  <a:cubicBezTo>
                    <a:pt x="277272" y="88254"/>
                    <a:pt x="277794" y="85000"/>
                    <a:pt x="278967" y="82267"/>
                  </a:cubicBezTo>
                  <a:cubicBezTo>
                    <a:pt x="266059" y="69250"/>
                    <a:pt x="248067" y="61179"/>
                    <a:pt x="228379" y="61179"/>
                  </a:cubicBezTo>
                  <a:close/>
                  <a:moveTo>
                    <a:pt x="242069" y="0"/>
                  </a:moveTo>
                  <a:cubicBezTo>
                    <a:pt x="332945" y="0"/>
                    <a:pt x="402568" y="56623"/>
                    <a:pt x="429296" y="90077"/>
                  </a:cubicBezTo>
                  <a:cubicBezTo>
                    <a:pt x="466977" y="137068"/>
                    <a:pt x="489793" y="223110"/>
                    <a:pt x="458111" y="290146"/>
                  </a:cubicBezTo>
                  <a:cubicBezTo>
                    <a:pt x="451200" y="304725"/>
                    <a:pt x="441161" y="319434"/>
                    <a:pt x="430470" y="335055"/>
                  </a:cubicBezTo>
                  <a:cubicBezTo>
                    <a:pt x="406089" y="370851"/>
                    <a:pt x="378448" y="411334"/>
                    <a:pt x="391747" y="452988"/>
                  </a:cubicBezTo>
                  <a:cubicBezTo>
                    <a:pt x="392659" y="455982"/>
                    <a:pt x="391877" y="459366"/>
                    <a:pt x="389530" y="461579"/>
                  </a:cubicBezTo>
                  <a:lnTo>
                    <a:pt x="238940" y="605155"/>
                  </a:lnTo>
                  <a:cubicBezTo>
                    <a:pt x="237245" y="606587"/>
                    <a:pt x="235159" y="607498"/>
                    <a:pt x="233073" y="607498"/>
                  </a:cubicBezTo>
                  <a:cubicBezTo>
                    <a:pt x="232291" y="607498"/>
                    <a:pt x="231509" y="607368"/>
                    <a:pt x="230726" y="607108"/>
                  </a:cubicBezTo>
                  <a:cubicBezTo>
                    <a:pt x="227858" y="606327"/>
                    <a:pt x="225641" y="603984"/>
                    <a:pt x="224859" y="601120"/>
                  </a:cubicBezTo>
                  <a:cubicBezTo>
                    <a:pt x="215602" y="565584"/>
                    <a:pt x="189917" y="506357"/>
                    <a:pt x="160581" y="498286"/>
                  </a:cubicBezTo>
                  <a:cubicBezTo>
                    <a:pt x="158104" y="497636"/>
                    <a:pt x="154844" y="497375"/>
                    <a:pt x="150802" y="497375"/>
                  </a:cubicBezTo>
                  <a:cubicBezTo>
                    <a:pt x="143501" y="497375"/>
                    <a:pt x="134505" y="498417"/>
                    <a:pt x="124856" y="499458"/>
                  </a:cubicBezTo>
                  <a:cubicBezTo>
                    <a:pt x="113513" y="500760"/>
                    <a:pt x="101909" y="502192"/>
                    <a:pt x="91088" y="502192"/>
                  </a:cubicBezTo>
                  <a:cubicBezTo>
                    <a:pt x="66576" y="502192"/>
                    <a:pt x="53408" y="494642"/>
                    <a:pt x="50800" y="479021"/>
                  </a:cubicBezTo>
                  <a:cubicBezTo>
                    <a:pt x="49366" y="470040"/>
                    <a:pt x="48192" y="460668"/>
                    <a:pt x="47019" y="451686"/>
                  </a:cubicBezTo>
                  <a:cubicBezTo>
                    <a:pt x="42064" y="413937"/>
                    <a:pt x="36980" y="374886"/>
                    <a:pt x="7905" y="355101"/>
                  </a:cubicBezTo>
                  <a:cubicBezTo>
                    <a:pt x="-9175" y="343386"/>
                    <a:pt x="4776" y="318914"/>
                    <a:pt x="18205" y="295093"/>
                  </a:cubicBezTo>
                  <a:cubicBezTo>
                    <a:pt x="27201" y="279212"/>
                    <a:pt x="36588" y="262941"/>
                    <a:pt x="35154" y="252267"/>
                  </a:cubicBezTo>
                  <a:cubicBezTo>
                    <a:pt x="34633" y="248362"/>
                    <a:pt x="34111" y="244457"/>
                    <a:pt x="33590" y="240552"/>
                  </a:cubicBezTo>
                  <a:cubicBezTo>
                    <a:pt x="24985" y="178201"/>
                    <a:pt x="18205" y="128997"/>
                    <a:pt x="70096" y="75628"/>
                  </a:cubicBezTo>
                  <a:cubicBezTo>
                    <a:pt x="70227" y="75498"/>
                    <a:pt x="70227" y="75498"/>
                    <a:pt x="70357" y="75368"/>
                  </a:cubicBezTo>
                  <a:cubicBezTo>
                    <a:pt x="123553" y="25383"/>
                    <a:pt x="181442" y="0"/>
                    <a:pt x="242069" y="0"/>
                  </a:cubicBezTo>
                  <a:close/>
                </a:path>
              </a:pathLst>
            </a:custGeom>
            <a:solidFill>
              <a:srgbClr val="18419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400" b="0" i="0" u="none" strike="noStrike" kern="0" cap="none" spc="0" normalizeH="0" baseline="0" noProof="0">
                <a:ln>
                  <a:noFill/>
                </a:ln>
                <a:solidFill>
                  <a:prstClr val="white"/>
                </a:solidFill>
                <a:effectLst/>
                <a:uLnTx/>
                <a:uFillTx/>
                <a:latin typeface="等线" panose="02010600030101010101" charset="-122"/>
                <a:ea typeface="+mn-ea"/>
                <a:cs typeface="+mn-cs"/>
              </a:endParaRPr>
            </a:p>
          </p:txBody>
        </p:sp>
        <p:sp>
          <p:nvSpPr>
            <p:cNvPr id="249" name="文本框 248"/>
            <p:cNvSpPr txBox="1"/>
            <p:nvPr/>
          </p:nvSpPr>
          <p:spPr>
            <a:xfrm>
              <a:off x="4539" y="5341"/>
              <a:ext cx="1534" cy="424"/>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800" b="1" i="0" u="none" strike="noStrike" kern="0" cap="none" spc="0" normalizeH="0" baseline="0" noProof="0" dirty="0">
                  <a:ln>
                    <a:noFill/>
                  </a:ln>
                  <a:solidFill>
                    <a:srgbClr val="184199"/>
                  </a:solidFill>
                  <a:effectLst/>
                  <a:uLnTx/>
                  <a:uFillTx/>
                  <a:latin typeface="微软雅黑" panose="020B0503020204020204" charset="-122"/>
                  <a:ea typeface="微软雅黑" panose="020B0503020204020204" charset="-122"/>
                </a:rPr>
                <a:t>新型威胁情报</a:t>
              </a:r>
              <a:endParaRPr kumimoji="0" lang="zh-CN" altLang="en-US" sz="800" b="1" i="0" u="none" strike="noStrike" kern="0" cap="none" spc="0" normalizeH="0" baseline="0" noProof="0" dirty="0">
                <a:ln>
                  <a:noFill/>
                </a:ln>
                <a:solidFill>
                  <a:srgbClr val="184199"/>
                </a:solidFill>
                <a:effectLst/>
                <a:uLnTx/>
                <a:uFillTx/>
                <a:latin typeface="微软雅黑" panose="020B0503020204020204" charset="-122"/>
                <a:ea typeface="微软雅黑" panose="020B0503020204020204" charset="-122"/>
              </a:endParaRPr>
            </a:p>
          </p:txBody>
        </p:sp>
      </p:grpSp>
      <p:grpSp>
        <p:nvGrpSpPr>
          <p:cNvPr id="250" name="组合 249"/>
          <p:cNvGrpSpPr/>
          <p:nvPr/>
        </p:nvGrpSpPr>
        <p:grpSpPr>
          <a:xfrm rot="0">
            <a:off x="8540750" y="1736408"/>
            <a:ext cx="719824" cy="482968"/>
            <a:chOff x="5374" y="3400"/>
            <a:chExt cx="1204" cy="1087"/>
          </a:xfrm>
        </p:grpSpPr>
        <p:pic>
          <p:nvPicPr>
            <p:cNvPr id="251" name="图片 250"/>
            <p:cNvPicPr>
              <a:picLocks noChangeAspect="1"/>
            </p:cNvPicPr>
            <p:nvPr/>
          </p:nvPicPr>
          <p:blipFill>
            <a:blip r:embed="rId12"/>
            <a:srcRect/>
            <a:stretch>
              <a:fillRect/>
            </a:stretch>
          </p:blipFill>
          <p:spPr>
            <a:xfrm>
              <a:off x="5594" y="3400"/>
              <a:ext cx="398" cy="506"/>
            </a:xfrm>
            <a:prstGeom prst="rect">
              <a:avLst/>
            </a:prstGeom>
          </p:spPr>
        </p:pic>
        <p:pic>
          <p:nvPicPr>
            <p:cNvPr id="252" name="图片 251"/>
            <p:cNvPicPr>
              <a:picLocks noChangeAspect="1"/>
            </p:cNvPicPr>
            <p:nvPr/>
          </p:nvPicPr>
          <p:blipFill>
            <a:blip r:embed="rId12"/>
            <a:srcRect/>
            <a:stretch>
              <a:fillRect/>
            </a:stretch>
          </p:blipFill>
          <p:spPr>
            <a:xfrm>
              <a:off x="5778" y="3458"/>
              <a:ext cx="464" cy="590"/>
            </a:xfrm>
            <a:prstGeom prst="rect">
              <a:avLst/>
            </a:prstGeom>
          </p:spPr>
        </p:pic>
        <p:sp>
          <p:nvSpPr>
            <p:cNvPr id="253" name="文本框 252"/>
            <p:cNvSpPr txBox="1"/>
            <p:nvPr/>
          </p:nvSpPr>
          <p:spPr>
            <a:xfrm>
              <a:off x="5374" y="4005"/>
              <a:ext cx="1204" cy="482"/>
            </a:xfrm>
            <a:prstGeom prst="rect">
              <a:avLst/>
            </a:prstGeom>
            <a:noFill/>
          </p:spPr>
          <p:txBody>
            <a:bodyPr wrap="square">
              <a:spAutoFit/>
            </a:bodyPr>
            <a:lstStyle/>
            <a:p>
              <a:r>
                <a:rPr lang="zh-CN" altLang="en-US" sz="800" b="1" dirty="0">
                  <a:solidFill>
                    <a:srgbClr val="4472C4">
                      <a:lumMod val="75000"/>
                    </a:srgbClr>
                  </a:solidFill>
                  <a:latin typeface="微软雅黑" panose="020B0503020204020204" charset="-122"/>
                  <a:ea typeface="微软雅黑" panose="020B0503020204020204" charset="-122"/>
                </a:rPr>
                <a:t>专家研判</a:t>
              </a:r>
              <a:endParaRPr lang="zh-CN" altLang="en-US" sz="800" b="1" dirty="0">
                <a:solidFill>
                  <a:srgbClr val="4472C4">
                    <a:lumMod val="75000"/>
                  </a:srgbClr>
                </a:solidFill>
                <a:latin typeface="微软雅黑" panose="020B0503020204020204" charset="-122"/>
                <a:ea typeface="微软雅黑" panose="020B0503020204020204" charset="-122"/>
              </a:endParaRPr>
            </a:p>
          </p:txBody>
        </p:sp>
      </p:grpSp>
      <p:grpSp>
        <p:nvGrpSpPr>
          <p:cNvPr id="254" name="组合 253"/>
          <p:cNvGrpSpPr/>
          <p:nvPr/>
        </p:nvGrpSpPr>
        <p:grpSpPr>
          <a:xfrm rot="0">
            <a:off x="10219055" y="1256347"/>
            <a:ext cx="839470" cy="431103"/>
            <a:chOff x="4230" y="3255"/>
            <a:chExt cx="1402" cy="854"/>
          </a:xfrm>
        </p:grpSpPr>
        <p:sp>
          <p:nvSpPr>
            <p:cNvPr id="256" name="文本框 255"/>
            <p:cNvSpPr txBox="1"/>
            <p:nvPr/>
          </p:nvSpPr>
          <p:spPr>
            <a:xfrm>
              <a:off x="4230" y="3685"/>
              <a:ext cx="1402" cy="424"/>
            </a:xfrm>
            <a:prstGeom prst="rect">
              <a:avLst/>
            </a:prstGeom>
            <a:noFill/>
          </p:spPr>
          <p:txBody>
            <a:bodyPr wrap="square">
              <a:spAutoFit/>
            </a:bodyPr>
            <a:lstStyle/>
            <a:p>
              <a:r>
                <a:rPr lang="zh-CN" altLang="en-US" sz="800" b="1" dirty="0">
                  <a:solidFill>
                    <a:srgbClr val="4472C4">
                      <a:lumMod val="75000"/>
                    </a:srgbClr>
                  </a:solidFill>
                  <a:latin typeface="微软雅黑" panose="020B0503020204020204" charset="-122"/>
                  <a:ea typeface="微软雅黑" panose="020B0503020204020204" charset="-122"/>
                </a:rPr>
                <a:t>专家咨询</a:t>
              </a:r>
              <a:endParaRPr lang="zh-CN" altLang="en-US" sz="800" b="1" dirty="0">
                <a:solidFill>
                  <a:srgbClr val="4472C4">
                    <a:lumMod val="75000"/>
                  </a:srgbClr>
                </a:solidFill>
                <a:latin typeface="微软雅黑" panose="020B0503020204020204" charset="-122"/>
                <a:ea typeface="微软雅黑" panose="020B0503020204020204" charset="-122"/>
              </a:endParaRPr>
            </a:p>
          </p:txBody>
        </p:sp>
        <p:pic>
          <p:nvPicPr>
            <p:cNvPr id="257" name="图片 14" descr="32303038313137363b32303131373338373bbfcdb7fe"/>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698" y="3255"/>
              <a:ext cx="466" cy="466"/>
            </a:xfrm>
            <a:prstGeom prst="rect">
              <a:avLst/>
            </a:prstGeom>
          </p:spPr>
        </p:pic>
      </p:grpSp>
      <p:grpSp>
        <p:nvGrpSpPr>
          <p:cNvPr id="258" name="组合 257"/>
          <p:cNvGrpSpPr/>
          <p:nvPr/>
        </p:nvGrpSpPr>
        <p:grpSpPr>
          <a:xfrm rot="0">
            <a:off x="7454265" y="1677353"/>
            <a:ext cx="989727" cy="563294"/>
            <a:chOff x="1499" y="2594"/>
            <a:chExt cx="1624" cy="1116"/>
          </a:xfrm>
        </p:grpSpPr>
        <p:pic>
          <p:nvPicPr>
            <p:cNvPr id="259" name="图片 14" descr="3504981"/>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869" y="2594"/>
              <a:ext cx="883" cy="883"/>
            </a:xfrm>
            <a:prstGeom prst="rect">
              <a:avLst/>
            </a:prstGeom>
          </p:spPr>
        </p:pic>
        <p:sp>
          <p:nvSpPr>
            <p:cNvPr id="260" name="文本框 259"/>
            <p:cNvSpPr txBox="1"/>
            <p:nvPr/>
          </p:nvSpPr>
          <p:spPr>
            <a:xfrm>
              <a:off x="1499" y="3345"/>
              <a:ext cx="1624" cy="365"/>
            </a:xfrm>
            <a:prstGeom prst="rect">
              <a:avLst/>
            </a:prstGeom>
            <a:noFill/>
          </p:spPr>
          <p:txBody>
            <a:bodyPr wrap="square">
              <a:noAutofit/>
            </a:bodyPr>
            <a:lstStyle/>
            <a:p>
              <a:pPr algn="ctr"/>
              <a:r>
                <a:rPr lang="en-US" altLang="zh-CN" sz="800" b="1" dirty="0">
                  <a:solidFill>
                    <a:srgbClr val="184199"/>
                  </a:solidFill>
                  <a:latin typeface="微软雅黑" panose="020B0503020204020204" charset="-122"/>
                  <a:ea typeface="微软雅黑" panose="020B0503020204020204" charset="-122"/>
                </a:rPr>
                <a:t>AI</a:t>
              </a:r>
              <a:r>
                <a:rPr lang="zh-CN" altLang="en-US" sz="800" b="1" dirty="0">
                  <a:solidFill>
                    <a:srgbClr val="184199"/>
                  </a:solidFill>
                  <a:latin typeface="微软雅黑" panose="020B0503020204020204" charset="-122"/>
                  <a:ea typeface="微软雅黑" panose="020B0503020204020204" charset="-122"/>
                </a:rPr>
                <a:t>智能检测引擎</a:t>
              </a:r>
              <a:endParaRPr lang="zh-CN" altLang="en-US" sz="800" b="1" dirty="0">
                <a:solidFill>
                  <a:srgbClr val="184199"/>
                </a:solidFill>
                <a:latin typeface="微软雅黑" panose="020B0503020204020204" charset="-122"/>
                <a:ea typeface="微软雅黑" panose="020B0503020204020204" charset="-122"/>
              </a:endParaRPr>
            </a:p>
          </p:txBody>
        </p:sp>
      </p:grpSp>
      <p:sp>
        <p:nvSpPr>
          <p:cNvPr id="261" name="shield-user-interface-symbol-for-security_47744"/>
          <p:cNvSpPr>
            <a:spLocks noChangeAspect="1"/>
          </p:cNvSpPr>
          <p:nvPr/>
        </p:nvSpPr>
        <p:spPr>
          <a:xfrm>
            <a:off x="9600883" y="1690688"/>
            <a:ext cx="317500" cy="333375"/>
          </a:xfrm>
          <a:custGeom>
            <a:avLst/>
            <a:gdLst>
              <a:gd name="T0" fmla="*/ 3246 w 7943"/>
              <a:gd name="T1" fmla="*/ 3842 h 8160"/>
              <a:gd name="T2" fmla="*/ 5168 w 7943"/>
              <a:gd name="T3" fmla="*/ 1921 h 8160"/>
              <a:gd name="T4" fmla="*/ 3246 w 7943"/>
              <a:gd name="T5" fmla="*/ 0 h 8160"/>
              <a:gd name="T6" fmla="*/ 1325 w 7943"/>
              <a:gd name="T7" fmla="*/ 1921 h 8160"/>
              <a:gd name="T8" fmla="*/ 3246 w 7943"/>
              <a:gd name="T9" fmla="*/ 3842 h 8160"/>
              <a:gd name="T10" fmla="*/ 4144 w 7943"/>
              <a:gd name="T11" fmla="*/ 2685 h 8160"/>
              <a:gd name="T12" fmla="*/ 3234 w 7943"/>
              <a:gd name="T13" fmla="*/ 3191 h 8160"/>
              <a:gd name="T14" fmla="*/ 2323 w 7943"/>
              <a:gd name="T15" fmla="*/ 2685 h 8160"/>
              <a:gd name="T16" fmla="*/ 4144 w 7943"/>
              <a:gd name="T17" fmla="*/ 2685 h 8160"/>
              <a:gd name="T18" fmla="*/ 7939 w 7943"/>
              <a:gd name="T19" fmla="*/ 5684 h 8160"/>
              <a:gd name="T20" fmla="*/ 6355 w 7943"/>
              <a:gd name="T21" fmla="*/ 8160 h 8160"/>
              <a:gd name="T22" fmla="*/ 4770 w 7943"/>
              <a:gd name="T23" fmla="*/ 5684 h 8160"/>
              <a:gd name="T24" fmla="*/ 4929 w 7943"/>
              <a:gd name="T25" fmla="*/ 5527 h 8160"/>
              <a:gd name="T26" fmla="*/ 6261 w 7943"/>
              <a:gd name="T27" fmla="*/ 5067 h 8160"/>
              <a:gd name="T28" fmla="*/ 6449 w 7943"/>
              <a:gd name="T29" fmla="*/ 5067 h 8160"/>
              <a:gd name="T30" fmla="*/ 7781 w 7943"/>
              <a:gd name="T31" fmla="*/ 5527 h 8160"/>
              <a:gd name="T32" fmla="*/ 7939 w 7943"/>
              <a:gd name="T33" fmla="*/ 5684 h 8160"/>
              <a:gd name="T34" fmla="*/ 4439 w 7943"/>
              <a:gd name="T35" fmla="*/ 5696 h 8160"/>
              <a:gd name="T36" fmla="*/ 4731 w 7943"/>
              <a:gd name="T37" fmla="*/ 7078 h 8160"/>
              <a:gd name="T38" fmla="*/ 3246 w 7943"/>
              <a:gd name="T39" fmla="*/ 7155 h 8160"/>
              <a:gd name="T40" fmla="*/ 155 w 7943"/>
              <a:gd name="T41" fmla="*/ 6704 h 8160"/>
              <a:gd name="T42" fmla="*/ 0 w 7943"/>
              <a:gd name="T43" fmla="*/ 6463 h 8160"/>
              <a:gd name="T44" fmla="*/ 0 w 7943"/>
              <a:gd name="T45" fmla="*/ 5830 h 8160"/>
              <a:gd name="T46" fmla="*/ 1645 w 7943"/>
              <a:gd name="T47" fmla="*/ 3988 h 8160"/>
              <a:gd name="T48" fmla="*/ 1737 w 7943"/>
              <a:gd name="T49" fmla="*/ 4013 h 8160"/>
              <a:gd name="T50" fmla="*/ 3246 w 7943"/>
              <a:gd name="T51" fmla="*/ 4505 h 8160"/>
              <a:gd name="T52" fmla="*/ 4756 w 7943"/>
              <a:gd name="T53" fmla="*/ 4013 h 8160"/>
              <a:gd name="T54" fmla="*/ 4848 w 7943"/>
              <a:gd name="T55" fmla="*/ 3988 h 8160"/>
              <a:gd name="T56" fmla="*/ 6143 w 7943"/>
              <a:gd name="T57" fmla="*/ 4753 h 8160"/>
              <a:gd name="T58" fmla="*/ 6050 w 7943"/>
              <a:gd name="T59" fmla="*/ 4811 h 8160"/>
              <a:gd name="T60" fmla="*/ 5017 w 7943"/>
              <a:gd name="T61" fmla="*/ 5198 h 8160"/>
              <a:gd name="T62" fmla="*/ 4943 w 7943"/>
              <a:gd name="T63" fmla="*/ 5196 h 8160"/>
              <a:gd name="T64" fmla="*/ 4922 w 7943"/>
              <a:gd name="T65" fmla="*/ 5195 h 8160"/>
              <a:gd name="T66" fmla="*/ 4574 w 7943"/>
              <a:gd name="T67" fmla="*/ 5343 h 8160"/>
              <a:gd name="T68" fmla="*/ 4439 w 7943"/>
              <a:gd name="T69" fmla="*/ 5696 h 8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943" h="8160">
                <a:moveTo>
                  <a:pt x="3246" y="3842"/>
                </a:moveTo>
                <a:cubicBezTo>
                  <a:pt x="4307" y="3842"/>
                  <a:pt x="5168" y="2982"/>
                  <a:pt x="5168" y="1921"/>
                </a:cubicBezTo>
                <a:cubicBezTo>
                  <a:pt x="5168" y="860"/>
                  <a:pt x="4307" y="0"/>
                  <a:pt x="3246" y="0"/>
                </a:cubicBezTo>
                <a:cubicBezTo>
                  <a:pt x="2185" y="0"/>
                  <a:pt x="1325" y="860"/>
                  <a:pt x="1325" y="1921"/>
                </a:cubicBezTo>
                <a:cubicBezTo>
                  <a:pt x="1325" y="2982"/>
                  <a:pt x="2185" y="3842"/>
                  <a:pt x="3246" y="3842"/>
                </a:cubicBezTo>
                <a:close/>
                <a:moveTo>
                  <a:pt x="4144" y="2685"/>
                </a:moveTo>
                <a:cubicBezTo>
                  <a:pt x="4057" y="2974"/>
                  <a:pt x="3683" y="3191"/>
                  <a:pt x="3234" y="3191"/>
                </a:cubicBezTo>
                <a:cubicBezTo>
                  <a:pt x="2785" y="3191"/>
                  <a:pt x="2411" y="2974"/>
                  <a:pt x="2323" y="2685"/>
                </a:cubicBezTo>
                <a:lnTo>
                  <a:pt x="4144" y="2685"/>
                </a:lnTo>
                <a:close/>
                <a:moveTo>
                  <a:pt x="7939" y="5684"/>
                </a:moveTo>
                <a:cubicBezTo>
                  <a:pt x="7898" y="6822"/>
                  <a:pt x="7435" y="7800"/>
                  <a:pt x="6355" y="8160"/>
                </a:cubicBezTo>
                <a:cubicBezTo>
                  <a:pt x="5274" y="7800"/>
                  <a:pt x="4811" y="6822"/>
                  <a:pt x="4770" y="5684"/>
                </a:cubicBezTo>
                <a:cubicBezTo>
                  <a:pt x="4767" y="5595"/>
                  <a:pt x="4840" y="5523"/>
                  <a:pt x="4929" y="5527"/>
                </a:cubicBezTo>
                <a:cubicBezTo>
                  <a:pt x="5434" y="5548"/>
                  <a:pt x="5875" y="5386"/>
                  <a:pt x="6261" y="5067"/>
                </a:cubicBezTo>
                <a:cubicBezTo>
                  <a:pt x="6315" y="5022"/>
                  <a:pt x="6395" y="5022"/>
                  <a:pt x="6449" y="5067"/>
                </a:cubicBezTo>
                <a:cubicBezTo>
                  <a:pt x="6835" y="5386"/>
                  <a:pt x="7276" y="5548"/>
                  <a:pt x="7781" y="5527"/>
                </a:cubicBezTo>
                <a:cubicBezTo>
                  <a:pt x="7869" y="5523"/>
                  <a:pt x="7943" y="5595"/>
                  <a:pt x="7939" y="5684"/>
                </a:cubicBezTo>
                <a:close/>
                <a:moveTo>
                  <a:pt x="4439" y="5696"/>
                </a:moveTo>
                <a:cubicBezTo>
                  <a:pt x="4458" y="6218"/>
                  <a:pt x="4558" y="6682"/>
                  <a:pt x="4731" y="7078"/>
                </a:cubicBezTo>
                <a:cubicBezTo>
                  <a:pt x="4323" y="7124"/>
                  <a:pt x="3832" y="7155"/>
                  <a:pt x="3246" y="7155"/>
                </a:cubicBezTo>
                <a:cubicBezTo>
                  <a:pt x="1394" y="7155"/>
                  <a:pt x="488" y="6852"/>
                  <a:pt x="155" y="6704"/>
                </a:cubicBezTo>
                <a:cubicBezTo>
                  <a:pt x="70" y="6666"/>
                  <a:pt x="0" y="6557"/>
                  <a:pt x="0" y="6463"/>
                </a:cubicBezTo>
                <a:lnTo>
                  <a:pt x="0" y="5830"/>
                </a:lnTo>
                <a:cubicBezTo>
                  <a:pt x="0" y="4881"/>
                  <a:pt x="723" y="4093"/>
                  <a:pt x="1645" y="3988"/>
                </a:cubicBezTo>
                <a:cubicBezTo>
                  <a:pt x="1673" y="3985"/>
                  <a:pt x="1714" y="3997"/>
                  <a:pt x="1737" y="4013"/>
                </a:cubicBezTo>
                <a:cubicBezTo>
                  <a:pt x="2162" y="4321"/>
                  <a:pt x="2683" y="4505"/>
                  <a:pt x="3246" y="4505"/>
                </a:cubicBezTo>
                <a:cubicBezTo>
                  <a:pt x="3810" y="4505"/>
                  <a:pt x="4331" y="4321"/>
                  <a:pt x="4756" y="4013"/>
                </a:cubicBezTo>
                <a:cubicBezTo>
                  <a:pt x="4778" y="3997"/>
                  <a:pt x="4820" y="3985"/>
                  <a:pt x="4848" y="3988"/>
                </a:cubicBezTo>
                <a:cubicBezTo>
                  <a:pt x="5380" y="4049"/>
                  <a:pt x="5845" y="4338"/>
                  <a:pt x="6143" y="4753"/>
                </a:cubicBezTo>
                <a:cubicBezTo>
                  <a:pt x="6110" y="4769"/>
                  <a:pt x="6078" y="4788"/>
                  <a:pt x="6050" y="4811"/>
                </a:cubicBezTo>
                <a:cubicBezTo>
                  <a:pt x="5735" y="5071"/>
                  <a:pt x="5398" y="5198"/>
                  <a:pt x="5017" y="5198"/>
                </a:cubicBezTo>
                <a:cubicBezTo>
                  <a:pt x="4993" y="5198"/>
                  <a:pt x="4968" y="5197"/>
                  <a:pt x="4943" y="5196"/>
                </a:cubicBezTo>
                <a:lnTo>
                  <a:pt x="4922" y="5195"/>
                </a:lnTo>
                <a:cubicBezTo>
                  <a:pt x="4792" y="5195"/>
                  <a:pt x="4665" y="5249"/>
                  <a:pt x="4574" y="5343"/>
                </a:cubicBezTo>
                <a:cubicBezTo>
                  <a:pt x="4484" y="5437"/>
                  <a:pt x="4434" y="5566"/>
                  <a:pt x="4439" y="569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62" name="文本框 261"/>
          <p:cNvSpPr txBox="1"/>
          <p:nvPr/>
        </p:nvSpPr>
        <p:spPr>
          <a:xfrm>
            <a:off x="9378315" y="2002473"/>
            <a:ext cx="762635" cy="213995"/>
          </a:xfrm>
          <a:prstGeom prst="rect">
            <a:avLst/>
          </a:prstGeom>
          <a:noFill/>
        </p:spPr>
        <p:txBody>
          <a:bodyPr wrap="square">
            <a:spAutoFit/>
          </a:bodyPr>
          <a:lstStyle/>
          <a:p>
            <a:r>
              <a:rPr lang="zh-CN" altLang="en-US" sz="800" b="1" dirty="0">
                <a:solidFill>
                  <a:srgbClr val="4472C4">
                    <a:lumMod val="75000"/>
                  </a:srgbClr>
                </a:solidFill>
                <a:latin typeface="微软雅黑" panose="020B0503020204020204" charset="-122"/>
                <a:ea typeface="微软雅黑" panose="020B0503020204020204" charset="-122"/>
              </a:rPr>
              <a:t>专家对抗</a:t>
            </a:r>
            <a:endParaRPr lang="zh-CN" altLang="en-US" sz="800" b="1" dirty="0">
              <a:solidFill>
                <a:srgbClr val="4472C4">
                  <a:lumMod val="75000"/>
                </a:srgbClr>
              </a:solidFill>
              <a:latin typeface="微软雅黑" panose="020B0503020204020204" charset="-122"/>
              <a:ea typeface="微软雅黑" panose="020B0503020204020204" charset="-122"/>
            </a:endParaRPr>
          </a:p>
        </p:txBody>
      </p:sp>
      <p:grpSp>
        <p:nvGrpSpPr>
          <p:cNvPr id="263" name="组 10"/>
          <p:cNvGrpSpPr/>
          <p:nvPr/>
        </p:nvGrpSpPr>
        <p:grpSpPr>
          <a:xfrm rot="0">
            <a:off x="8802370" y="1173163"/>
            <a:ext cx="1169670" cy="454660"/>
            <a:chOff x="1912344" y="2460387"/>
            <a:chExt cx="4101733" cy="2816522"/>
          </a:xfrm>
        </p:grpSpPr>
        <p:sp>
          <p:nvSpPr>
            <p:cNvPr id="264" name="任意形状 61"/>
            <p:cNvSpPr/>
            <p:nvPr/>
          </p:nvSpPr>
          <p:spPr>
            <a:xfrm>
              <a:off x="1912344" y="2460387"/>
              <a:ext cx="4101733" cy="2816522"/>
            </a:xfrm>
            <a:custGeom>
              <a:avLst/>
              <a:gdLst>
                <a:gd name="connsiteX0" fmla="*/ 2206623 w 4101733"/>
                <a:gd name="connsiteY0" fmla="*/ 0 h 2816522"/>
                <a:gd name="connsiteX1" fmla="*/ 3442163 w 4101733"/>
                <a:gd name="connsiteY1" fmla="*/ 735363 h 2816522"/>
                <a:gd name="connsiteX2" fmla="*/ 3474201 w 4101733"/>
                <a:gd name="connsiteY2" fmla="*/ 801869 h 2816522"/>
                <a:gd name="connsiteX3" fmla="*/ 3551004 w 4101733"/>
                <a:gd name="connsiteY3" fmla="*/ 838867 h 2816522"/>
                <a:gd name="connsiteX4" fmla="*/ 4101733 w 4101733"/>
                <a:gd name="connsiteY4" fmla="*/ 1764189 h 2816522"/>
                <a:gd name="connsiteX5" fmla="*/ 3049399 w 4101733"/>
                <a:gd name="connsiteY5" fmla="*/ 2816522 h 2816522"/>
                <a:gd name="connsiteX6" fmla="*/ 2736467 w 4101733"/>
                <a:gd name="connsiteY6" fmla="*/ 2769211 h 2816522"/>
                <a:gd name="connsiteX7" fmla="*/ 2650250 w 4101733"/>
                <a:gd name="connsiteY7" fmla="*/ 2737655 h 2816522"/>
                <a:gd name="connsiteX8" fmla="*/ 2624467 w 4101733"/>
                <a:gd name="connsiteY8" fmla="*/ 2747092 h 2816522"/>
                <a:gd name="connsiteX9" fmla="*/ 2206623 w 4101733"/>
                <a:gd name="connsiteY9" fmla="*/ 2810264 h 2816522"/>
                <a:gd name="connsiteX10" fmla="*/ 1788780 w 4101733"/>
                <a:gd name="connsiteY10" fmla="*/ 2747092 h 2816522"/>
                <a:gd name="connsiteX11" fmla="*/ 1694619 w 4101733"/>
                <a:gd name="connsiteY11" fmla="*/ 2712629 h 2816522"/>
                <a:gd name="connsiteX12" fmla="*/ 1644417 w 4101733"/>
                <a:gd name="connsiteY12" fmla="*/ 2739878 h 2816522"/>
                <a:gd name="connsiteX13" fmla="*/ 1424889 w 4101733"/>
                <a:gd name="connsiteY13" fmla="*/ 2784198 h 2816522"/>
                <a:gd name="connsiteX14" fmla="*/ 1311227 w 4101733"/>
                <a:gd name="connsiteY14" fmla="*/ 2772740 h 2816522"/>
                <a:gd name="connsiteX15" fmla="*/ 1221929 w 4101733"/>
                <a:gd name="connsiteY15" fmla="*/ 2745021 h 2816522"/>
                <a:gd name="connsiteX16" fmla="*/ 1217032 w 4101733"/>
                <a:gd name="connsiteY16" fmla="*/ 2747679 h 2816522"/>
                <a:gd name="connsiteX17" fmla="*/ 876038 w 4101733"/>
                <a:gd name="connsiteY17" fmla="*/ 2816522 h 2816522"/>
                <a:gd name="connsiteX18" fmla="*/ 0 w 4101733"/>
                <a:gd name="connsiteY18" fmla="*/ 1940485 h 2816522"/>
                <a:gd name="connsiteX19" fmla="*/ 343498 w 4101733"/>
                <a:gd name="connsiteY19" fmla="*/ 1244841 h 2816522"/>
                <a:gd name="connsiteX20" fmla="*/ 464644 w 4101733"/>
                <a:gd name="connsiteY20" fmla="*/ 1168238 h 2816522"/>
                <a:gd name="connsiteX21" fmla="*/ 463079 w 4101733"/>
                <a:gd name="connsiteY21" fmla="*/ 1163194 h 2816522"/>
                <a:gd name="connsiteX22" fmla="*/ 453124 w 4101733"/>
                <a:gd name="connsiteY22" fmla="*/ 1064447 h 2816522"/>
                <a:gd name="connsiteX23" fmla="*/ 943103 w 4101733"/>
                <a:gd name="connsiteY23" fmla="*/ 574469 h 2816522"/>
                <a:gd name="connsiteX24" fmla="*/ 1041851 w 4101733"/>
                <a:gd name="connsiteY24" fmla="*/ 584424 h 2816522"/>
                <a:gd name="connsiteX25" fmla="*/ 1061682 w 4101733"/>
                <a:gd name="connsiteY25" fmla="*/ 590579 h 2816522"/>
                <a:gd name="connsiteX26" fmla="*/ 1201197 w 4101733"/>
                <a:gd name="connsiteY26" fmla="*/ 423544 h 2816522"/>
                <a:gd name="connsiteX27" fmla="*/ 2206623 w 4101733"/>
                <a:gd name="connsiteY27" fmla="*/ 0 h 2816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101733" h="2816522">
                  <a:moveTo>
                    <a:pt x="2206623" y="0"/>
                  </a:moveTo>
                  <a:cubicBezTo>
                    <a:pt x="2740146" y="0"/>
                    <a:pt x="3204219" y="297347"/>
                    <a:pt x="3442163" y="735363"/>
                  </a:cubicBezTo>
                  <a:lnTo>
                    <a:pt x="3474201" y="801869"/>
                  </a:lnTo>
                  <a:lnTo>
                    <a:pt x="3551004" y="838867"/>
                  </a:lnTo>
                  <a:cubicBezTo>
                    <a:pt x="3879043" y="1017068"/>
                    <a:pt x="4101733" y="1364623"/>
                    <a:pt x="4101733" y="1764189"/>
                  </a:cubicBezTo>
                  <a:cubicBezTo>
                    <a:pt x="4101733" y="2345376"/>
                    <a:pt x="3630587" y="2816522"/>
                    <a:pt x="3049399" y="2816522"/>
                  </a:cubicBezTo>
                  <a:cubicBezTo>
                    <a:pt x="2940427" y="2816522"/>
                    <a:pt x="2835322" y="2799959"/>
                    <a:pt x="2736467" y="2769211"/>
                  </a:cubicBezTo>
                  <a:lnTo>
                    <a:pt x="2650250" y="2737655"/>
                  </a:lnTo>
                  <a:lnTo>
                    <a:pt x="2624467" y="2747092"/>
                  </a:lnTo>
                  <a:cubicBezTo>
                    <a:pt x="2492470" y="2788147"/>
                    <a:pt x="2352129" y="2810264"/>
                    <a:pt x="2206623" y="2810264"/>
                  </a:cubicBezTo>
                  <a:cubicBezTo>
                    <a:pt x="2061117" y="2810264"/>
                    <a:pt x="1920776" y="2788147"/>
                    <a:pt x="1788780" y="2747092"/>
                  </a:cubicBezTo>
                  <a:lnTo>
                    <a:pt x="1694619" y="2712629"/>
                  </a:lnTo>
                  <a:lnTo>
                    <a:pt x="1644417" y="2739878"/>
                  </a:lnTo>
                  <a:cubicBezTo>
                    <a:pt x="1576943" y="2768417"/>
                    <a:pt x="1502759" y="2784198"/>
                    <a:pt x="1424889" y="2784198"/>
                  </a:cubicBezTo>
                  <a:cubicBezTo>
                    <a:pt x="1385954" y="2784198"/>
                    <a:pt x="1347941" y="2780253"/>
                    <a:pt x="1311227" y="2772740"/>
                  </a:cubicBezTo>
                  <a:lnTo>
                    <a:pt x="1221929" y="2745021"/>
                  </a:lnTo>
                  <a:lnTo>
                    <a:pt x="1217032" y="2747679"/>
                  </a:lnTo>
                  <a:cubicBezTo>
                    <a:pt x="1112224" y="2792009"/>
                    <a:pt x="996994" y="2816522"/>
                    <a:pt x="876038" y="2816522"/>
                  </a:cubicBezTo>
                  <a:cubicBezTo>
                    <a:pt x="392216" y="2816522"/>
                    <a:pt x="0" y="2424307"/>
                    <a:pt x="0" y="1940485"/>
                  </a:cubicBezTo>
                  <a:cubicBezTo>
                    <a:pt x="0" y="1656996"/>
                    <a:pt x="134657" y="1404957"/>
                    <a:pt x="343498" y="1244841"/>
                  </a:cubicBezTo>
                  <a:lnTo>
                    <a:pt x="464644" y="1168238"/>
                  </a:lnTo>
                  <a:lnTo>
                    <a:pt x="463079" y="1163194"/>
                  </a:lnTo>
                  <a:cubicBezTo>
                    <a:pt x="456552" y="1131298"/>
                    <a:pt x="453124" y="1098273"/>
                    <a:pt x="453124" y="1064447"/>
                  </a:cubicBezTo>
                  <a:cubicBezTo>
                    <a:pt x="453124" y="793840"/>
                    <a:pt x="672495" y="574469"/>
                    <a:pt x="943103" y="574469"/>
                  </a:cubicBezTo>
                  <a:cubicBezTo>
                    <a:pt x="976929" y="574469"/>
                    <a:pt x="1009955" y="577897"/>
                    <a:pt x="1041851" y="584424"/>
                  </a:cubicBezTo>
                  <a:lnTo>
                    <a:pt x="1061682" y="590579"/>
                  </a:lnTo>
                  <a:lnTo>
                    <a:pt x="1201197" y="423544"/>
                  </a:lnTo>
                  <a:cubicBezTo>
                    <a:pt x="1456355" y="162228"/>
                    <a:pt x="1812544" y="0"/>
                    <a:pt x="2206623" y="0"/>
                  </a:cubicBezTo>
                  <a:close/>
                </a:path>
              </a:pathLst>
            </a:custGeom>
            <a:solidFill>
              <a:schemeClr val="bg1">
                <a:alpha val="15000"/>
              </a:schemeClr>
            </a:solidFill>
            <a:ln w="38100">
              <a:gradFill>
                <a:gsLst>
                  <a:gs pos="0">
                    <a:srgbClr val="00539F"/>
                  </a:gs>
                  <a:gs pos="100000">
                    <a:srgbClr val="7AC141"/>
                  </a:gs>
                </a:gsLst>
                <a:lin ang="3600000" scaled="0"/>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900" dirty="0">
                <a:solidFill>
                  <a:schemeClr val="tx1"/>
                </a:solidFill>
              </a:endParaRPr>
            </a:p>
          </p:txBody>
        </p:sp>
        <p:sp>
          <p:nvSpPr>
            <p:cNvPr id="265" name="任意形状 63"/>
            <p:cNvSpPr/>
            <p:nvPr/>
          </p:nvSpPr>
          <p:spPr>
            <a:xfrm>
              <a:off x="2161500" y="2631473"/>
              <a:ext cx="3603420" cy="2474348"/>
            </a:xfrm>
            <a:custGeom>
              <a:avLst/>
              <a:gdLst>
                <a:gd name="connsiteX0" fmla="*/ 2206623 w 4101733"/>
                <a:gd name="connsiteY0" fmla="*/ 0 h 2816522"/>
                <a:gd name="connsiteX1" fmla="*/ 3442163 w 4101733"/>
                <a:gd name="connsiteY1" fmla="*/ 735363 h 2816522"/>
                <a:gd name="connsiteX2" fmla="*/ 3474201 w 4101733"/>
                <a:gd name="connsiteY2" fmla="*/ 801869 h 2816522"/>
                <a:gd name="connsiteX3" fmla="*/ 3551004 w 4101733"/>
                <a:gd name="connsiteY3" fmla="*/ 838867 h 2816522"/>
                <a:gd name="connsiteX4" fmla="*/ 4101733 w 4101733"/>
                <a:gd name="connsiteY4" fmla="*/ 1764189 h 2816522"/>
                <a:gd name="connsiteX5" fmla="*/ 3049399 w 4101733"/>
                <a:gd name="connsiteY5" fmla="*/ 2816522 h 2816522"/>
                <a:gd name="connsiteX6" fmla="*/ 2736467 w 4101733"/>
                <a:gd name="connsiteY6" fmla="*/ 2769211 h 2816522"/>
                <a:gd name="connsiteX7" fmla="*/ 2650250 w 4101733"/>
                <a:gd name="connsiteY7" fmla="*/ 2737655 h 2816522"/>
                <a:gd name="connsiteX8" fmla="*/ 2624467 w 4101733"/>
                <a:gd name="connsiteY8" fmla="*/ 2747092 h 2816522"/>
                <a:gd name="connsiteX9" fmla="*/ 2206623 w 4101733"/>
                <a:gd name="connsiteY9" fmla="*/ 2810264 h 2816522"/>
                <a:gd name="connsiteX10" fmla="*/ 1788780 w 4101733"/>
                <a:gd name="connsiteY10" fmla="*/ 2747092 h 2816522"/>
                <a:gd name="connsiteX11" fmla="*/ 1694619 w 4101733"/>
                <a:gd name="connsiteY11" fmla="*/ 2712629 h 2816522"/>
                <a:gd name="connsiteX12" fmla="*/ 1644417 w 4101733"/>
                <a:gd name="connsiteY12" fmla="*/ 2739878 h 2816522"/>
                <a:gd name="connsiteX13" fmla="*/ 1424889 w 4101733"/>
                <a:gd name="connsiteY13" fmla="*/ 2784198 h 2816522"/>
                <a:gd name="connsiteX14" fmla="*/ 1311227 w 4101733"/>
                <a:gd name="connsiteY14" fmla="*/ 2772740 h 2816522"/>
                <a:gd name="connsiteX15" fmla="*/ 1221929 w 4101733"/>
                <a:gd name="connsiteY15" fmla="*/ 2745021 h 2816522"/>
                <a:gd name="connsiteX16" fmla="*/ 1217032 w 4101733"/>
                <a:gd name="connsiteY16" fmla="*/ 2747679 h 2816522"/>
                <a:gd name="connsiteX17" fmla="*/ 876038 w 4101733"/>
                <a:gd name="connsiteY17" fmla="*/ 2816522 h 2816522"/>
                <a:gd name="connsiteX18" fmla="*/ 0 w 4101733"/>
                <a:gd name="connsiteY18" fmla="*/ 1940485 h 2816522"/>
                <a:gd name="connsiteX19" fmla="*/ 343498 w 4101733"/>
                <a:gd name="connsiteY19" fmla="*/ 1244841 h 2816522"/>
                <a:gd name="connsiteX20" fmla="*/ 464644 w 4101733"/>
                <a:gd name="connsiteY20" fmla="*/ 1168238 h 2816522"/>
                <a:gd name="connsiteX21" fmla="*/ 463079 w 4101733"/>
                <a:gd name="connsiteY21" fmla="*/ 1163194 h 2816522"/>
                <a:gd name="connsiteX22" fmla="*/ 453124 w 4101733"/>
                <a:gd name="connsiteY22" fmla="*/ 1064447 h 2816522"/>
                <a:gd name="connsiteX23" fmla="*/ 943103 w 4101733"/>
                <a:gd name="connsiteY23" fmla="*/ 574469 h 2816522"/>
                <a:gd name="connsiteX24" fmla="*/ 1041851 w 4101733"/>
                <a:gd name="connsiteY24" fmla="*/ 584424 h 2816522"/>
                <a:gd name="connsiteX25" fmla="*/ 1061682 w 4101733"/>
                <a:gd name="connsiteY25" fmla="*/ 590579 h 2816522"/>
                <a:gd name="connsiteX26" fmla="*/ 1201197 w 4101733"/>
                <a:gd name="connsiteY26" fmla="*/ 423544 h 2816522"/>
                <a:gd name="connsiteX27" fmla="*/ 2206623 w 4101733"/>
                <a:gd name="connsiteY27" fmla="*/ 0 h 2816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101733" h="2816522">
                  <a:moveTo>
                    <a:pt x="2206623" y="0"/>
                  </a:moveTo>
                  <a:cubicBezTo>
                    <a:pt x="2740146" y="0"/>
                    <a:pt x="3204219" y="297347"/>
                    <a:pt x="3442163" y="735363"/>
                  </a:cubicBezTo>
                  <a:lnTo>
                    <a:pt x="3474201" y="801869"/>
                  </a:lnTo>
                  <a:lnTo>
                    <a:pt x="3551004" y="838867"/>
                  </a:lnTo>
                  <a:cubicBezTo>
                    <a:pt x="3879043" y="1017068"/>
                    <a:pt x="4101733" y="1364623"/>
                    <a:pt x="4101733" y="1764189"/>
                  </a:cubicBezTo>
                  <a:cubicBezTo>
                    <a:pt x="4101733" y="2345376"/>
                    <a:pt x="3630587" y="2816522"/>
                    <a:pt x="3049399" y="2816522"/>
                  </a:cubicBezTo>
                  <a:cubicBezTo>
                    <a:pt x="2940427" y="2816522"/>
                    <a:pt x="2835322" y="2799959"/>
                    <a:pt x="2736467" y="2769211"/>
                  </a:cubicBezTo>
                  <a:lnTo>
                    <a:pt x="2650250" y="2737655"/>
                  </a:lnTo>
                  <a:lnTo>
                    <a:pt x="2624467" y="2747092"/>
                  </a:lnTo>
                  <a:cubicBezTo>
                    <a:pt x="2492470" y="2788147"/>
                    <a:pt x="2352129" y="2810264"/>
                    <a:pt x="2206623" y="2810264"/>
                  </a:cubicBezTo>
                  <a:cubicBezTo>
                    <a:pt x="2061117" y="2810264"/>
                    <a:pt x="1920776" y="2788147"/>
                    <a:pt x="1788780" y="2747092"/>
                  </a:cubicBezTo>
                  <a:lnTo>
                    <a:pt x="1694619" y="2712629"/>
                  </a:lnTo>
                  <a:lnTo>
                    <a:pt x="1644417" y="2739878"/>
                  </a:lnTo>
                  <a:cubicBezTo>
                    <a:pt x="1576943" y="2768417"/>
                    <a:pt x="1502759" y="2784198"/>
                    <a:pt x="1424889" y="2784198"/>
                  </a:cubicBezTo>
                  <a:cubicBezTo>
                    <a:pt x="1385954" y="2784198"/>
                    <a:pt x="1347941" y="2780253"/>
                    <a:pt x="1311227" y="2772740"/>
                  </a:cubicBezTo>
                  <a:lnTo>
                    <a:pt x="1221929" y="2745021"/>
                  </a:lnTo>
                  <a:lnTo>
                    <a:pt x="1217032" y="2747679"/>
                  </a:lnTo>
                  <a:cubicBezTo>
                    <a:pt x="1112224" y="2792009"/>
                    <a:pt x="996994" y="2816522"/>
                    <a:pt x="876038" y="2816522"/>
                  </a:cubicBezTo>
                  <a:cubicBezTo>
                    <a:pt x="392216" y="2816522"/>
                    <a:pt x="0" y="2424307"/>
                    <a:pt x="0" y="1940485"/>
                  </a:cubicBezTo>
                  <a:cubicBezTo>
                    <a:pt x="0" y="1656996"/>
                    <a:pt x="134657" y="1404957"/>
                    <a:pt x="343498" y="1244841"/>
                  </a:cubicBezTo>
                  <a:lnTo>
                    <a:pt x="464644" y="1168238"/>
                  </a:lnTo>
                  <a:lnTo>
                    <a:pt x="463079" y="1163194"/>
                  </a:lnTo>
                  <a:cubicBezTo>
                    <a:pt x="456552" y="1131298"/>
                    <a:pt x="453124" y="1098273"/>
                    <a:pt x="453124" y="1064447"/>
                  </a:cubicBezTo>
                  <a:cubicBezTo>
                    <a:pt x="453124" y="793840"/>
                    <a:pt x="672495" y="574469"/>
                    <a:pt x="943103" y="574469"/>
                  </a:cubicBezTo>
                  <a:cubicBezTo>
                    <a:pt x="976929" y="574469"/>
                    <a:pt x="1009955" y="577897"/>
                    <a:pt x="1041851" y="584424"/>
                  </a:cubicBezTo>
                  <a:lnTo>
                    <a:pt x="1061682" y="590579"/>
                  </a:lnTo>
                  <a:lnTo>
                    <a:pt x="1201197" y="423544"/>
                  </a:lnTo>
                  <a:cubicBezTo>
                    <a:pt x="1456355" y="162228"/>
                    <a:pt x="1812544" y="0"/>
                    <a:pt x="2206623" y="0"/>
                  </a:cubicBezTo>
                  <a:close/>
                </a:path>
              </a:pathLst>
            </a:custGeom>
            <a:gradFill flip="none" rotWithShape="1">
              <a:gsLst>
                <a:gs pos="0">
                  <a:srgbClr val="002A50"/>
                </a:gs>
                <a:gs pos="47000">
                  <a:srgbClr val="00539F"/>
                </a:gs>
                <a:gs pos="100000">
                  <a:srgbClr val="7AC141"/>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ea typeface="微软雅黑" panose="020B0503020204020204" charset="-122"/>
              </a:endParaRPr>
            </a:p>
          </p:txBody>
        </p:sp>
      </p:grpSp>
      <p:sp>
        <p:nvSpPr>
          <p:cNvPr id="266" name="矩形 52"/>
          <p:cNvSpPr>
            <a:spLocks noChangeArrowheads="1"/>
          </p:cNvSpPr>
          <p:nvPr/>
        </p:nvSpPr>
        <p:spPr bwMode="auto">
          <a:xfrm>
            <a:off x="8873490" y="1265238"/>
            <a:ext cx="1050290" cy="32893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9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sym typeface="微软雅黑" panose="020B0503020204020204" charset="-122"/>
              </a:rPr>
              <a:t>云化</a:t>
            </a:r>
            <a:r>
              <a:rPr kumimoji="0" lang="en-US" altLang="zh-CN" sz="9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sym typeface="微软雅黑" panose="020B0503020204020204" charset="-122"/>
              </a:rPr>
              <a:t>XDR</a:t>
            </a:r>
            <a:r>
              <a:rPr kumimoji="0" lang="zh-CN" altLang="en-US" sz="9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sym typeface="微软雅黑" panose="020B0503020204020204" charset="-122"/>
              </a:rPr>
              <a:t>平台</a:t>
            </a:r>
            <a:r>
              <a:rPr kumimoji="0" lang="en-US" altLang="zh-CN" sz="9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sym typeface="微软雅黑" panose="020B0503020204020204" charset="-122"/>
              </a:rPr>
              <a:t>+MSS</a:t>
            </a:r>
            <a:r>
              <a:rPr kumimoji="0" lang="zh-CN" altLang="en-US" sz="9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sym typeface="微软雅黑" panose="020B0503020204020204" charset="-122"/>
              </a:rPr>
              <a:t>服务</a:t>
            </a:r>
            <a:endParaRPr kumimoji="0" lang="zh-CN" altLang="en-US" sz="9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sym typeface="微软雅黑" panose="020B0503020204020204" charset="-122"/>
            </a:endParaRPr>
          </a:p>
        </p:txBody>
      </p:sp>
      <p:grpSp>
        <p:nvGrpSpPr>
          <p:cNvPr id="276" name="组合 275"/>
          <p:cNvGrpSpPr/>
          <p:nvPr/>
        </p:nvGrpSpPr>
        <p:grpSpPr>
          <a:xfrm>
            <a:off x="8206423" y="2131695"/>
            <a:ext cx="2324735" cy="924560"/>
            <a:chOff x="24796" y="7065"/>
            <a:chExt cx="7322" cy="2912"/>
          </a:xfrm>
        </p:grpSpPr>
        <p:sp>
          <p:nvSpPr>
            <p:cNvPr id="204" name="下箭头 143"/>
            <p:cNvSpPr/>
            <p:nvPr/>
          </p:nvSpPr>
          <p:spPr>
            <a:xfrm rot="10800000">
              <a:off x="28334" y="7741"/>
              <a:ext cx="422" cy="1796"/>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205" name="下箭头 145"/>
            <p:cNvSpPr/>
            <p:nvPr/>
          </p:nvSpPr>
          <p:spPr>
            <a:xfrm rot="10800000">
              <a:off x="27042" y="7729"/>
              <a:ext cx="422" cy="1796"/>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206" name="下箭头 146"/>
            <p:cNvSpPr/>
            <p:nvPr/>
          </p:nvSpPr>
          <p:spPr>
            <a:xfrm rot="10800000">
              <a:off x="29632" y="7729"/>
              <a:ext cx="424" cy="1796"/>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207" name="下箭头 57"/>
            <p:cNvSpPr/>
            <p:nvPr/>
          </p:nvSpPr>
          <p:spPr>
            <a:xfrm>
              <a:off x="29028" y="8147"/>
              <a:ext cx="424" cy="1796"/>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208" name="下箭头 58"/>
            <p:cNvSpPr/>
            <p:nvPr/>
          </p:nvSpPr>
          <p:spPr>
            <a:xfrm>
              <a:off x="27530" y="8181"/>
              <a:ext cx="424" cy="1796"/>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267" name="内容占位符 2"/>
            <p:cNvSpPr txBox="1"/>
            <p:nvPr/>
          </p:nvSpPr>
          <p:spPr>
            <a:xfrm>
              <a:off x="24796" y="7065"/>
              <a:ext cx="7322" cy="1108"/>
            </a:xfrm>
            <a:prstGeom prst="rect">
              <a:avLst/>
            </a:prstGeom>
          </p:spPr>
          <p:txBody>
            <a:bodyPr vert="horz" lIns="91422" tIns="45712" rIns="91422" bIns="45712" rtlCol="0">
              <a:noAutofit/>
            </a:bodyPr>
            <a:lstStyle>
              <a:defPPr>
                <a:defRPr lang="zh-CN"/>
              </a:defPPr>
              <a:lvl1pPr indent="0" algn="ctr" defTabSz="1733550">
                <a:lnSpc>
                  <a:spcPct val="100000"/>
                </a:lnSpc>
                <a:spcBef>
                  <a:spcPts val="1895"/>
                </a:spcBef>
                <a:buFont typeface="Arial" panose="020B0604020202020204" pitchFamily="34" charset="0"/>
                <a:buNone/>
                <a:defRPr sz="1400" b="1">
                  <a:solidFill>
                    <a:srgbClr val="314EA4"/>
                  </a:solidFill>
                  <a:latin typeface="微软雅黑" panose="020B0503020204020204" charset="-122"/>
                  <a:ea typeface="微软雅黑" panose="020B0503020204020204" charset="-122"/>
                </a:defRPr>
              </a:lvl1pPr>
              <a:lvl2pPr marL="1300480" indent="-433705" defTabSz="1733550">
                <a:lnSpc>
                  <a:spcPct val="90000"/>
                </a:lnSpc>
                <a:spcBef>
                  <a:spcPts val="950"/>
                </a:spcBef>
                <a:buFont typeface="Arial" panose="020B0604020202020204" pitchFamily="34" charset="0"/>
                <a:buChar char="•"/>
                <a:defRPr sz="4550"/>
              </a:lvl2pPr>
              <a:lvl3pPr marL="2167255" indent="-433705" defTabSz="1733550">
                <a:lnSpc>
                  <a:spcPct val="90000"/>
                </a:lnSpc>
                <a:spcBef>
                  <a:spcPts val="950"/>
                </a:spcBef>
                <a:buFont typeface="Arial" panose="020B0604020202020204" pitchFamily="34" charset="0"/>
                <a:buChar char="•"/>
                <a:defRPr sz="3790"/>
              </a:lvl3pPr>
              <a:lvl4pPr marL="3034030" indent="-433705" defTabSz="1733550">
                <a:lnSpc>
                  <a:spcPct val="90000"/>
                </a:lnSpc>
                <a:spcBef>
                  <a:spcPts val="950"/>
                </a:spcBef>
                <a:buFont typeface="Arial" panose="020B0604020202020204" pitchFamily="34" charset="0"/>
                <a:buChar char="•"/>
                <a:defRPr sz="3415"/>
              </a:lvl4pPr>
              <a:lvl5pPr marL="3900805" indent="-433705" defTabSz="1733550">
                <a:lnSpc>
                  <a:spcPct val="90000"/>
                </a:lnSpc>
                <a:spcBef>
                  <a:spcPts val="950"/>
                </a:spcBef>
                <a:buFont typeface="Arial" panose="020B0604020202020204" pitchFamily="34" charset="0"/>
                <a:buChar char="•"/>
                <a:defRPr sz="3415"/>
              </a:lvl5pPr>
              <a:lvl6pPr marL="4768215" indent="-433705" defTabSz="1733550">
                <a:lnSpc>
                  <a:spcPct val="90000"/>
                </a:lnSpc>
                <a:spcBef>
                  <a:spcPts val="950"/>
                </a:spcBef>
                <a:buFont typeface="Arial" panose="020B0604020202020204" pitchFamily="34" charset="0"/>
                <a:buChar char="•"/>
                <a:defRPr sz="3415"/>
              </a:lvl6pPr>
              <a:lvl7pPr marL="5634990" indent="-433705" defTabSz="1733550">
                <a:lnSpc>
                  <a:spcPct val="90000"/>
                </a:lnSpc>
                <a:spcBef>
                  <a:spcPts val="950"/>
                </a:spcBef>
                <a:buFont typeface="Arial" panose="020B0604020202020204" pitchFamily="34" charset="0"/>
                <a:buChar char="•"/>
                <a:defRPr sz="3415"/>
              </a:lvl7pPr>
              <a:lvl8pPr marL="6501765" indent="-433705" defTabSz="1733550">
                <a:lnSpc>
                  <a:spcPct val="90000"/>
                </a:lnSpc>
                <a:spcBef>
                  <a:spcPts val="950"/>
                </a:spcBef>
                <a:buFont typeface="Arial" panose="020B0604020202020204" pitchFamily="34" charset="0"/>
                <a:buChar char="•"/>
                <a:defRPr sz="3415"/>
              </a:lvl8pPr>
              <a:lvl9pPr marL="7368540" indent="-433705" defTabSz="1733550">
                <a:lnSpc>
                  <a:spcPct val="90000"/>
                </a:lnSpc>
                <a:spcBef>
                  <a:spcPts val="950"/>
                </a:spcBef>
                <a:buFont typeface="Arial" panose="020B0604020202020204" pitchFamily="34" charset="0"/>
                <a:buChar char="•"/>
                <a:defRPr sz="3415"/>
              </a:lvl9pPr>
            </a:lstStyle>
            <a:p>
              <a:pPr marL="0" marR="0" lvl="0" indent="0" algn="ctr" defTabSz="914400" eaLnBrk="1" fontAlgn="auto" latinLnBrk="0" hangingPunct="1">
                <a:lnSpc>
                  <a:spcPct val="150000"/>
                </a:lnSpc>
                <a:spcBef>
                  <a:spcPts val="1295"/>
                </a:spcBef>
                <a:spcAft>
                  <a:spcPts val="0"/>
                </a:spcAft>
                <a:buClrTx/>
                <a:buSzTx/>
                <a:buFont typeface="Arial" panose="020B0604020202020204" pitchFamily="34" charset="0"/>
                <a:buNone/>
                <a:defRPr/>
              </a:pPr>
              <a:r>
                <a:rPr kumimoji="0" lang="zh-CN" altLang="en-US" sz="1000" b="1" i="0" u="none" strike="noStrike" kern="0" cap="none" spc="0" normalizeH="0" baseline="0" noProof="0" dirty="0">
                  <a:ln>
                    <a:noFill/>
                  </a:ln>
                  <a:solidFill>
                    <a:srgbClr val="003492"/>
                  </a:solidFill>
                  <a:effectLst/>
                  <a:uLnTx/>
                  <a:uFillTx/>
                  <a:latin typeface="微软雅黑" panose="020B0503020204020204" charset="-122"/>
                  <a:ea typeface="微软雅黑" panose="020B0503020204020204" charset="-122"/>
                </a:rPr>
                <a:t>云端赋能与安全运营</a:t>
              </a:r>
              <a:endParaRPr kumimoji="0" lang="zh-CN" altLang="en-US" sz="1000" b="1" i="0" u="none" strike="noStrike" kern="0" cap="none" spc="0" normalizeH="0" baseline="0" noProof="0" dirty="0">
                <a:ln>
                  <a:noFill/>
                </a:ln>
                <a:solidFill>
                  <a:srgbClr val="003492"/>
                </a:solidFill>
                <a:effectLst/>
                <a:uLnTx/>
                <a:uFillTx/>
                <a:latin typeface="微软雅黑" panose="020B0503020204020204" charset="-122"/>
                <a:ea typeface="微软雅黑" panose="020B0503020204020204" charset="-122"/>
              </a:endParaRPr>
            </a:p>
          </p:txBody>
        </p:sp>
      </p:grpSp>
      <p:pic>
        <p:nvPicPr>
          <p:cNvPr id="268" name="图片 267"/>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8595573" y="3357245"/>
            <a:ext cx="1368000" cy="623071"/>
          </a:xfrm>
          <a:prstGeom prst="rect">
            <a:avLst/>
          </a:prstGeom>
        </p:spPr>
      </p:pic>
      <p:pic>
        <p:nvPicPr>
          <p:cNvPr id="269" name="图片 268"/>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7889240" y="4477385"/>
            <a:ext cx="704215" cy="492125"/>
          </a:xfrm>
          <a:prstGeom prst="rect">
            <a:avLst/>
          </a:prstGeom>
        </p:spPr>
      </p:pic>
      <p:pic>
        <p:nvPicPr>
          <p:cNvPr id="270" name="图片 269"/>
          <p:cNvPicPr>
            <a:picLocks noChangeAspect="1"/>
          </p:cNvPicPr>
          <p:nvPr/>
        </p:nvPicPr>
        <p:blipFill>
          <a:blip r:embed="rId9"/>
          <a:stretch>
            <a:fillRect/>
          </a:stretch>
        </p:blipFill>
        <p:spPr>
          <a:xfrm>
            <a:off x="8279130" y="4664710"/>
            <a:ext cx="151130" cy="160020"/>
          </a:xfrm>
          <a:prstGeom prst="rect">
            <a:avLst/>
          </a:prstGeom>
          <a:gradFill>
            <a:gsLst>
              <a:gs pos="100000">
                <a:srgbClr val="7AC141">
                  <a:alpha val="0"/>
                </a:srgbClr>
              </a:gs>
              <a:gs pos="0">
                <a:srgbClr val="00539F"/>
              </a:gs>
            </a:gsLst>
            <a:lin ang="5400000" scaled="1"/>
          </a:gradFill>
          <a:ln w="6350" cap="flat" cmpd="sng" algn="ctr">
            <a:gradFill>
              <a:gsLst>
                <a:gs pos="0">
                  <a:srgbClr val="00539F"/>
                </a:gs>
                <a:gs pos="100000">
                  <a:srgbClr val="00539F">
                    <a:alpha val="0"/>
                  </a:srgbClr>
                </a:gs>
              </a:gsLst>
              <a:lin ang="5400000" scaled="1"/>
            </a:gradFill>
            <a:prstDash val="solid"/>
            <a:miter lim="800000"/>
            <a:headEnd/>
            <a:tailEnd/>
          </a:ln>
          <a:effectLst/>
        </p:spPr>
      </p:pic>
      <p:sp>
        <p:nvSpPr>
          <p:cNvPr id="274" name="矩形 52"/>
          <p:cNvSpPr>
            <a:spLocks noChangeArrowheads="1"/>
          </p:cNvSpPr>
          <p:nvPr/>
        </p:nvSpPr>
        <p:spPr bwMode="auto">
          <a:xfrm>
            <a:off x="8374063" y="3836988"/>
            <a:ext cx="1811020" cy="29908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spAutoFit/>
          </a:bodyPr>
          <a:p>
            <a:pPr marL="0" marR="0" lvl="0" indent="0" algn="ctr" defTabSz="914400" eaLnBrk="1" fontAlgn="auto" latinLnBrk="0" hangingPunct="1">
              <a:lnSpc>
                <a:spcPct val="150000"/>
              </a:lnSpc>
              <a:spcBef>
                <a:spcPts val="0"/>
              </a:spcBef>
              <a:spcAft>
                <a:spcPts val="0"/>
              </a:spcAft>
              <a:buClrTx/>
              <a:buSzTx/>
              <a:buFontTx/>
              <a:buNone/>
              <a:defRPr/>
            </a:pPr>
            <a:r>
              <a:rPr kumimoji="0" lang="zh-CN" altLang="en-US" sz="900" b="1" i="0" u="none" strike="noStrike" kern="0" cap="none" spc="0" normalizeH="0" baseline="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rPr>
              <a:t>潜伏威胁检测</a:t>
            </a:r>
            <a:r>
              <a:rPr kumimoji="0" lang="en-US" altLang="zh-CN" sz="900" b="1" i="0" u="none" strike="noStrike" kern="0" cap="none" spc="0" normalizeH="0" baseline="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rPr>
              <a:t>-STA</a:t>
            </a:r>
            <a:endParaRPr kumimoji="0" lang="en-US" altLang="zh-CN" sz="900" b="1" i="0" u="none" strike="noStrike" kern="0" cap="none" spc="0" normalizeH="0" baseline="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endParaRPr>
          </a:p>
        </p:txBody>
      </p:sp>
      <p:sp>
        <p:nvSpPr>
          <p:cNvPr id="275" name="文本框 274"/>
          <p:cNvSpPr txBox="1"/>
          <p:nvPr/>
        </p:nvSpPr>
        <p:spPr>
          <a:xfrm>
            <a:off x="734060" y="1175068"/>
            <a:ext cx="3878263" cy="2222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fromWordArt="0" anchor="t" anchorCtr="0" forceAA="0" compatLnSpc="1">
            <a:spAutoFit/>
          </a:bodyPr>
          <a:p>
            <a:pPr lvl="0" algn="l" eaLnBrk="0">
              <a:lnSpc>
                <a:spcPct val="80000"/>
              </a:lnSpc>
            </a:pPr>
            <a:r>
              <a:rPr lang="zh-CN" sz="1400" b="1"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云网端协同防御体系，安全工作效率显著提升</a:t>
            </a:r>
            <a:endParaRPr lang="zh-CN" sz="1400" b="1" spc="-60" dirty="0">
              <a:solidFill>
                <a:srgbClr val="20409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6" name="文本框 15"/>
          <p:cNvSpPr txBox="1"/>
          <p:nvPr/>
        </p:nvSpPr>
        <p:spPr>
          <a:xfrm>
            <a:off x="1275398" y="2854325"/>
            <a:ext cx="1404000" cy="1981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ctr" rtl="0" eaLnBrk="0">
              <a:lnSpc>
                <a:spcPct val="96000"/>
              </a:lnSpc>
              <a:spcBef>
                <a:spcPts val="1125"/>
              </a:spcBef>
            </a:pPr>
            <a:r>
              <a:rPr lang="en-US" alt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XDR</a:t>
            </a: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平台全网安全日志</a:t>
            </a:r>
            <a:endPar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7" name="文本框 16"/>
          <p:cNvSpPr txBox="1"/>
          <p:nvPr/>
        </p:nvSpPr>
        <p:spPr>
          <a:xfrm>
            <a:off x="1335405" y="3100070"/>
            <a:ext cx="1299845" cy="56007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ctr" rtl="0" eaLnBrk="0">
              <a:lnSpc>
                <a:spcPct val="79000"/>
              </a:lnSpc>
              <a:spcBef>
                <a:spcPts val="310"/>
              </a:spcBef>
            </a:pPr>
            <a:r>
              <a:rPr lang="en-US" altLang="zh-CN"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{{XDR_total_security_log_count}}</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278" name="文本框 277"/>
          <p:cNvSpPr txBox="1"/>
          <p:nvPr/>
        </p:nvSpPr>
        <p:spPr>
          <a:xfrm>
            <a:off x="1369695" y="3272790"/>
            <a:ext cx="1296000" cy="18351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ctr" anchorCtr="0" forceAA="0">
            <a:noAutofit/>
          </a:bodyPr>
          <a:p>
            <a:pPr algn="ctr" rtl="0" eaLnBrk="0">
              <a:lnSpc>
                <a:spcPct val="127000"/>
              </a:lnSpc>
            </a:pPr>
            <a:r>
              <a:rPr lang="zh-CN" altLang="en-US" sz="70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平均每月</a:t>
            </a:r>
            <a:r>
              <a:rPr lang="en-US" altLang="zh-CN" sz="7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{{XDR_monthly_average_log_count}}</a:t>
            </a:r>
            <a:r>
              <a:rPr lang="en-US" sz="7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zh-CN" altLang="en-US" sz="700" spc="120" dirty="0">
              <a:solidFill>
                <a:srgbClr val="66A84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3" name="图片 2" descr="1755071818846"/>
          <p:cNvPicPr>
            <a:picLocks noChangeAspect="1"/>
          </p:cNvPicPr>
          <p:nvPr/>
        </p:nvPicPr>
        <p:blipFill>
          <a:blip r:embed="rId19"/>
          <a:stretch>
            <a:fillRect/>
          </a:stretch>
        </p:blipFill>
        <p:spPr>
          <a:xfrm>
            <a:off x="630873" y="5719763"/>
            <a:ext cx="10940415" cy="801688"/>
          </a:xfrm>
          <a:prstGeom prst="rect">
            <a:avLst/>
          </a:prstGeom>
        </p:spPr>
      </p:pic>
      <p:sp>
        <p:nvSpPr>
          <p:cNvPr id="5" name="文本框 4"/>
          <p:cNvSpPr txBox="1"/>
          <p:nvPr/>
        </p:nvSpPr>
        <p:spPr>
          <a:xfrm>
            <a:off x="616903" y="5527040"/>
            <a:ext cx="2016000" cy="235903"/>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安全技术平台待提升</a:t>
            </a: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项</a:t>
            </a:r>
            <a:endPar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6" name="文本框 25"/>
          <p:cNvSpPr txBox="1"/>
          <p:nvPr/>
        </p:nvSpPr>
        <p:spPr>
          <a:xfrm>
            <a:off x="712470" y="5818505"/>
            <a:ext cx="3289300" cy="68961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anchorCtr="0" forceAA="0">
            <a:noAutofit/>
          </a:bodyPr>
          <a:p>
            <a:pPr marL="0" marR="0" indent="0" algn="l" defTabSz="2438400" rtl="0" fontAlgn="auto" latinLnBrk="0" hangingPunct="0">
              <a:lnSpc>
                <a:spcPct val="100000"/>
              </a:lnSpc>
              <a:spcBef>
                <a:spcPts val="0"/>
              </a:spcBef>
              <a:spcAft>
                <a:spcPts val="0"/>
              </a:spcAft>
              <a:buClrTx/>
              <a:buSzTx/>
              <a:buFontTx/>
              <a:buNone/>
            </a:pPr>
            <a:r>
              <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rPr>
              <a:t>{{platform_improve1}}</a:t>
            </a:r>
            <a:endPar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7" name="文本框 26"/>
          <p:cNvSpPr txBox="1"/>
          <p:nvPr/>
        </p:nvSpPr>
        <p:spPr>
          <a:xfrm>
            <a:off x="4239895" y="5812790"/>
            <a:ext cx="3722370" cy="59817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anchorCtr="0" forceAA="0">
            <a:noAutofit/>
          </a:bodyPr>
          <a:p>
            <a:pPr marL="0" marR="0" indent="0" algn="l" defTabSz="2438400" rtl="0" fontAlgn="auto" latinLnBrk="0" hangingPunct="0">
              <a:lnSpc>
                <a:spcPct val="100000"/>
              </a:lnSpc>
              <a:spcBef>
                <a:spcPts val="0"/>
              </a:spcBef>
              <a:spcAft>
                <a:spcPts val="0"/>
              </a:spcAft>
              <a:buClrTx/>
              <a:buSzTx/>
              <a:buFontTx/>
              <a:buNone/>
            </a:pPr>
            <a:r>
              <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rPr>
              <a:t>{{platform_improve2}}</a:t>
            </a:r>
            <a:endPar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8" name="文本框 27"/>
          <p:cNvSpPr txBox="1"/>
          <p:nvPr/>
        </p:nvSpPr>
        <p:spPr>
          <a:xfrm>
            <a:off x="8128000" y="5826760"/>
            <a:ext cx="3381375" cy="58420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anchorCtr="0" forceAA="0">
            <a:noAutofit/>
          </a:bodyPr>
          <a:p>
            <a:pPr marL="0" marR="0" indent="0" algn="l" defTabSz="2438400" rtl="0" fontAlgn="auto" latinLnBrk="0" hangingPunct="0">
              <a:lnSpc>
                <a:spcPct val="100000"/>
              </a:lnSpc>
              <a:spcBef>
                <a:spcPts val="0"/>
              </a:spcBef>
              <a:spcAft>
                <a:spcPts val="0"/>
              </a:spcAft>
              <a:buClrTx/>
              <a:buSzTx/>
              <a:buFontTx/>
              <a:buNone/>
            </a:pPr>
            <a:r>
              <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rPr>
              <a:t>{{platform_improve3}}</a:t>
            </a:r>
            <a:endPar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04" name="textbox 104"/>
          <p:cNvSpPr/>
          <p:nvPr/>
        </p:nvSpPr>
        <p:spPr>
          <a:xfrm>
            <a:off x="647700" y="4848225"/>
            <a:ext cx="6139815" cy="614045"/>
          </a:xfrm>
          <a:prstGeom prst="rect">
            <a:avLst/>
          </a:prstGeom>
          <a:solidFill>
            <a:srgbClr val="EFF5FD">
              <a:alpha val="100000"/>
            </a:srgbClr>
          </a:solidFill>
          <a:ln w="0" cap="flat">
            <a:noFill/>
            <a:prstDash val="solid"/>
            <a:miter lim="0"/>
          </a:ln>
        </p:spPr>
        <p:txBody>
          <a:bodyPr vert="horz" wrap="square" lIns="0" tIns="0" rIns="0" bIns="0">
            <a:noAutofit/>
          </a:bodyPr>
          <a:lstStyle/>
          <a:p>
            <a:pPr lvl="0" algn="l" eaLnBrk="0">
              <a:lnSpc>
                <a:spcPct val="114000"/>
              </a:lnSpc>
            </a:pPr>
            <a:endParaRPr sz="500" dirty="0">
              <a:latin typeface="Arial" panose="020B0604020202020204"/>
              <a:ea typeface="Arial" panose="020B0604020202020204"/>
              <a:cs typeface="Arial" panose="020B0604020202020204"/>
              <a:sym typeface="+mn-ea"/>
            </a:endParaRPr>
          </a:p>
          <a:p>
            <a:pPr lvl="0" algn="l" eaLnBrk="0">
              <a:lnSpc>
                <a:spcPct val="114000"/>
              </a:lnSpc>
            </a:pPr>
            <a:endParaRPr sz="500" dirty="0">
              <a:latin typeface="Arial" panose="020B0604020202020204"/>
              <a:ea typeface="Arial" panose="020B0604020202020204"/>
              <a:cs typeface="Arial" panose="020B0604020202020204"/>
              <a:sym typeface="+mn-ea"/>
            </a:endParaRPr>
          </a:p>
        </p:txBody>
      </p:sp>
      <p:sp>
        <p:nvSpPr>
          <p:cNvPr id="6" name="文本框 5"/>
          <p:cNvSpPr txBox="1"/>
          <p:nvPr/>
        </p:nvSpPr>
        <p:spPr>
          <a:xfrm>
            <a:off x="1260475" y="4876165"/>
            <a:ext cx="5384165" cy="57023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ctr" anchorCtr="0" forceAA="0">
            <a:noAutofit/>
          </a:bodyPr>
          <a:p>
            <a:pPr marL="133350" algn="l" rtl="0" eaLnBrk="0">
              <a:lnSpc>
                <a:spcPct val="150000"/>
              </a:lnSpc>
              <a:spcBef>
                <a:spcPts val="5"/>
              </a:spcBef>
            </a:pPr>
            <a:r>
              <a:rPr sz="1000" spc="-7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安全设备不只是合规需求，更是提升运营</a:t>
            </a:r>
            <a:r>
              <a:rPr sz="1000"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效率、减少人力成本的战</a:t>
            </a:r>
            <a:r>
              <a:rPr sz="1000" spc="-70" dirty="0">
                <a:solidFill>
                  <a:srgbClr val="000000">
                    <a:alpha val="100000"/>
                  </a:srgbClr>
                </a:solidFill>
                <a:latin typeface="黑体" panose="02010609060101010101" charset="-122"/>
                <a:ea typeface="黑体" panose="02010609060101010101" charset="-122"/>
                <a:cs typeface="黑体" panose="02010609060101010101" charset="-122"/>
                <a:sym typeface="+mn-ea"/>
              </a:rPr>
              <a:t>略投资。通过平台化、自动化建设，</a:t>
            </a:r>
            <a:r>
              <a:rPr lang="zh-CN" sz="1000" spc="-70" dirty="0">
                <a:solidFill>
                  <a:srgbClr val="000000">
                    <a:alpha val="100000"/>
                  </a:srgbClr>
                </a:solidFill>
                <a:latin typeface="黑体" panose="02010609060101010101" charset="-122"/>
                <a:ea typeface="黑体" panose="02010609060101010101" charset="-122"/>
                <a:cs typeface="黑体" panose="02010609060101010101" charset="-122"/>
                <a:sym typeface="+mn-ea"/>
              </a:rPr>
              <a:t>有效降低了</a:t>
            </a:r>
            <a:r>
              <a:rPr sz="1000" spc="-7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安全人力</a:t>
            </a:r>
            <a:r>
              <a:rPr lang="zh-CN" sz="1000" spc="-70" dirty="0">
                <a:solidFill>
                  <a:srgbClr val="000000">
                    <a:alpha val="100000"/>
                  </a:srgbClr>
                </a:solidFill>
                <a:latin typeface="黑体" panose="02010609060101010101" charset="-122"/>
                <a:ea typeface="黑体" panose="02010609060101010101" charset="-122"/>
                <a:cs typeface="黑体" panose="02010609060101010101" charset="-122"/>
                <a:sym typeface="+mn-ea"/>
              </a:rPr>
              <a:t>投入</a:t>
            </a:r>
            <a:r>
              <a:rPr sz="1000"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sz="10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提升安全响应效率约</a:t>
            </a:r>
            <a:r>
              <a:rPr lang="en-US" sz="10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 </a:t>
            </a: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{{component_anomaly_automatic_handling_count}}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sz="10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,确保业务持续性不受安全事件影响。</a:t>
            </a:r>
            <a:endParaRPr kumimoji="0" lang="zh-CN" altLang="en-US" sz="1000" b="0" i="0" u="none" strike="noStrike" cap="none" spc="-40" normalizeH="0" baseline="0" dirty="0">
              <a:ln>
                <a:noFill/>
              </a:ln>
              <a:solidFill>
                <a:srgbClr val="000000">
                  <a:alpha val="100000"/>
                </a:srgbClr>
              </a:solidFill>
              <a:effectLst/>
              <a:uFillTx/>
              <a:latin typeface="黑体" panose="02010609060101010101" charset="-122"/>
              <a:ea typeface="黑体" panose="02010609060101010101" charset="-122"/>
              <a:cs typeface="黑体" panose="02010609060101010101" charset="-122"/>
              <a:sym typeface="+mn-ea"/>
            </a:endParaRPr>
          </a:p>
        </p:txBody>
      </p:sp>
      <p:pic>
        <p:nvPicPr>
          <p:cNvPr id="75" name="图片 74" descr="星星"/>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728028" y="5039700"/>
            <a:ext cx="360000" cy="360000"/>
          </a:xfrm>
          <a:prstGeom prst="rect">
            <a:avLst/>
          </a:prstGeom>
        </p:spPr>
      </p:pic>
      <p:sp>
        <p:nvSpPr>
          <p:cNvPr id="7" name="文本框 6"/>
          <p:cNvSpPr txBox="1"/>
          <p:nvPr/>
        </p:nvSpPr>
        <p:spPr>
          <a:xfrm>
            <a:off x="3100705" y="2240598"/>
            <a:ext cx="1396048" cy="1981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96000"/>
              </a:lnSpc>
              <a:spcBef>
                <a:spcPts val="1125"/>
              </a:spcBef>
            </a:pP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主机异常风险联动处置</a:t>
            </a:r>
            <a:endPar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9" name="文本框 8"/>
          <p:cNvSpPr txBox="1"/>
          <p:nvPr/>
        </p:nvSpPr>
        <p:spPr>
          <a:xfrm>
            <a:off x="4990783" y="2240598"/>
            <a:ext cx="1440000" cy="1981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96000"/>
              </a:lnSpc>
              <a:spcBef>
                <a:spcPts val="1125"/>
              </a:spcBef>
            </a:pP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服务器资产端点覆盖率</a:t>
            </a:r>
            <a:endPar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0" name="文本框 9"/>
          <p:cNvSpPr txBox="1"/>
          <p:nvPr/>
        </p:nvSpPr>
        <p:spPr>
          <a:xfrm>
            <a:off x="3100705" y="1644650"/>
            <a:ext cx="1331913" cy="1981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noAutofit/>
          </a:bodyPr>
          <a:p>
            <a:pPr marL="34290" algn="ctr" rtl="0" eaLnBrk="0">
              <a:lnSpc>
                <a:spcPct val="96000"/>
              </a:lnSpc>
              <a:spcBef>
                <a:spcPts val="1125"/>
              </a:spcBef>
            </a:pP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防火墙自动拦截率</a:t>
            </a:r>
            <a:endPar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1" name="文本框 10"/>
          <p:cNvSpPr txBox="1"/>
          <p:nvPr/>
        </p:nvSpPr>
        <p:spPr>
          <a:xfrm>
            <a:off x="4926013" y="1644650"/>
            <a:ext cx="1440000" cy="1981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noAutofit/>
          </a:bodyPr>
          <a:p>
            <a:pPr marL="34290" algn="ctr" rtl="0" eaLnBrk="0">
              <a:lnSpc>
                <a:spcPct val="96000"/>
              </a:lnSpc>
              <a:spcBef>
                <a:spcPts val="1125"/>
              </a:spcBef>
            </a:pP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防火墙防护路径覆盖率</a:t>
            </a:r>
            <a:endPar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2" name="文本框 11"/>
          <p:cNvSpPr txBox="1"/>
          <p:nvPr/>
        </p:nvSpPr>
        <p:spPr>
          <a:xfrm>
            <a:off x="4926330" y="1905635"/>
            <a:ext cx="1486535" cy="56007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ctr" rtl="0" eaLnBrk="0">
              <a:lnSpc>
                <a:spcPct val="79000"/>
              </a:lnSpc>
              <a:spcBef>
                <a:spcPts val="310"/>
              </a:spcBef>
            </a:pPr>
            <a:r>
              <a:rPr lang="en-US" altLang="zh-CN"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{{firewall_protection_path_coverage_rate}}</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en-US" sz="1400" b="1" spc="-30" dirty="0">
              <a:solidFill>
                <a:srgbClr val="00B050">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15" name="文本框 14"/>
          <p:cNvSpPr txBox="1"/>
          <p:nvPr/>
        </p:nvSpPr>
        <p:spPr>
          <a:xfrm>
            <a:off x="4828540" y="2518410"/>
            <a:ext cx="1713865" cy="39052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ctr" rtl="0" eaLnBrk="0">
              <a:lnSpc>
                <a:spcPct val="79000"/>
              </a:lnSpc>
              <a:spcBef>
                <a:spcPts val="310"/>
              </a:spcBef>
            </a:pPr>
            <a:r>
              <a:rPr lang="en-US" altLang="zh-CN"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{{server_endpoint_coverage_rate}}</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18" name="文本框 17"/>
          <p:cNvSpPr txBox="1"/>
          <p:nvPr/>
        </p:nvSpPr>
        <p:spPr>
          <a:xfrm>
            <a:off x="3089275" y="2858135"/>
            <a:ext cx="1396048" cy="1981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ctr" rtl="0" eaLnBrk="0">
              <a:lnSpc>
                <a:spcPct val="96000"/>
              </a:lnSpc>
              <a:spcBef>
                <a:spcPts val="1125"/>
              </a:spcBef>
            </a:pP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聚合识别安全告警</a:t>
            </a:r>
            <a:endPar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1" name="文本框 20"/>
          <p:cNvSpPr txBox="1"/>
          <p:nvPr/>
        </p:nvSpPr>
        <p:spPr>
          <a:xfrm>
            <a:off x="4958398" y="2847340"/>
            <a:ext cx="1440000" cy="1981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ctr" rtl="0" eaLnBrk="0">
              <a:lnSpc>
                <a:spcPct val="96000"/>
              </a:lnSpc>
              <a:spcBef>
                <a:spcPts val="1125"/>
              </a:spcBef>
            </a:pP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智能研判识别安全事件</a:t>
            </a:r>
            <a:endPar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2" name="文本框 21"/>
          <p:cNvSpPr txBox="1"/>
          <p:nvPr/>
        </p:nvSpPr>
        <p:spPr>
          <a:xfrm>
            <a:off x="2983865" y="3100070"/>
            <a:ext cx="1656715" cy="39052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ctr" rtl="0" eaLnBrk="0">
              <a:lnSpc>
                <a:spcPct val="79000"/>
              </a:lnSpc>
              <a:spcBef>
                <a:spcPts val="310"/>
              </a:spcBef>
            </a:pPr>
            <a:r>
              <a:rPr lang="en-US" altLang="zh-CN"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{{aggregated_security_alert_count}}</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122" name="文本框 121"/>
          <p:cNvSpPr txBox="1"/>
          <p:nvPr/>
        </p:nvSpPr>
        <p:spPr>
          <a:xfrm>
            <a:off x="647700" y="3702368"/>
            <a:ext cx="6118543" cy="1015683"/>
          </a:xfrm>
          <a:prstGeom prst="rect">
            <a:avLst/>
          </a:prstGeom>
          <a:solidFill>
            <a:schemeClr val="accent5">
              <a:lumMod val="20000"/>
              <a:lumOff val="80000"/>
            </a:schemeClr>
          </a:solidFill>
        </p:spPr>
        <p:txBody>
          <a:bodyPr wrap="square" rtlCol="0" anchor="t">
            <a:noAutofit/>
          </a:bodyPr>
          <a:p>
            <a:pPr marL="133350" algn="l" rtl="0" eaLnBrk="0">
              <a:lnSpc>
                <a:spcPct val="150000"/>
              </a:lnSpc>
              <a:spcBef>
                <a:spcPts val="5"/>
              </a:spcBef>
            </a:pPr>
            <a:r>
              <a:rPr lang="zh-CN" sz="1000" b="1" spc="20" dirty="0">
                <a:solidFill>
                  <a:srgbClr val="204090">
                    <a:alpha val="100000"/>
                  </a:srgbClr>
                </a:solidFill>
                <a:latin typeface="黑体" panose="02010609060101010101" charset="-122"/>
                <a:ea typeface="黑体" panose="02010609060101010101" charset="-122"/>
                <a:cs typeface="黑体" panose="02010609060101010101" charset="-122"/>
                <a:sym typeface="+mn-ea"/>
              </a:rPr>
              <a:t>安全组件运行状态智能监测</a:t>
            </a:r>
            <a:r>
              <a:rPr sz="100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zh-CN" sz="1000" spc="90" dirty="0">
                <a:solidFill>
                  <a:srgbClr val="000000">
                    <a:alpha val="100000"/>
                  </a:srgbClr>
                </a:solidFill>
                <a:latin typeface="黑体" panose="02010609060101010101" charset="-122"/>
                <a:ea typeface="黑体" panose="02010609060101010101" charset="-122"/>
                <a:cs typeface="黑体" panose="02010609060101010101" charset="-122"/>
                <a:sym typeface="+mn-ea"/>
              </a:rPr>
              <a:t>通过</a:t>
            </a:r>
            <a:r>
              <a:rPr lang="en-US" altLang="zh-CN" sz="1000" spc="90" dirty="0">
                <a:solidFill>
                  <a:srgbClr val="000000">
                    <a:alpha val="100000"/>
                  </a:srgbClr>
                </a:solidFill>
                <a:latin typeface="黑体" panose="02010609060101010101" charset="-122"/>
                <a:ea typeface="黑体" panose="02010609060101010101" charset="-122"/>
                <a:cs typeface="黑体" panose="02010609060101010101" charset="-122"/>
                <a:sym typeface="+mn-ea"/>
              </a:rPr>
              <a:t>AI</a:t>
            </a:r>
            <a:r>
              <a:rPr lang="zh-CN" altLang="en-US" sz="1000" spc="9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安全平台，对连云的安全组件运行状态实现智能监控，及时识别设备运行异常、设备日志解析和同步异常、安全策略配置异常等风险</a:t>
            </a:r>
            <a:r>
              <a:rPr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总共检测到</a:t>
            </a:r>
            <a:r>
              <a:rPr lang="en-US" alt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 </a:t>
            </a: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{{component_network_connectivity_anomaly_count}}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次安全组件网络连通性和</a:t>
            </a:r>
            <a:r>
              <a:rPr lang="en-US" alt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 </a:t>
            </a: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{{component_log_synchronization_anomaly_count}}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次安全组件日志同步异常的风险告警以及</a:t>
            </a:r>
            <a:r>
              <a:rPr lang="en-US" alt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 </a:t>
            </a: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{{component_policy_effectiveness_alert_count}}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次策略有效性告警，均及时预警和处置，保障</a:t>
            </a: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了安全体系有效运行。</a:t>
            </a:r>
            <a:endPar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4" name="文本框 23"/>
          <p:cNvSpPr txBox="1"/>
          <p:nvPr/>
        </p:nvSpPr>
        <p:spPr>
          <a:xfrm>
            <a:off x="4914900" y="3100070"/>
            <a:ext cx="1541780" cy="7302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ctr" rtl="0" eaLnBrk="0">
              <a:lnSpc>
                <a:spcPct val="79000"/>
              </a:lnSpc>
              <a:spcBef>
                <a:spcPts val="310"/>
              </a:spcBef>
            </a:pPr>
            <a:r>
              <a:rPr lang="en-US" altLang="zh-CN"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{{intelligent_security_incident_identification_count}}</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29" name="文本框 28"/>
          <p:cNvSpPr txBox="1"/>
          <p:nvPr/>
        </p:nvSpPr>
        <p:spPr>
          <a:xfrm>
            <a:off x="3145314" y="3294063"/>
            <a:ext cx="1368000" cy="1600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ctr" anchorCtr="0" forceAA="0">
            <a:noAutofit/>
          </a:bodyPr>
          <a:p>
            <a:pPr algn="ctr" rtl="0" eaLnBrk="0">
              <a:lnSpc>
                <a:spcPct val="127000"/>
              </a:lnSpc>
            </a:pPr>
            <a:r>
              <a:rPr lang="zh-CN" altLang="en-US" sz="70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平均每月</a:t>
            </a:r>
            <a:r>
              <a:rPr lang="en-US" altLang="zh-CN" sz="7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{{XDR_monthly_average_alert_count}}</a:t>
            </a:r>
            <a:r>
              <a:rPr lang="en-US" sz="7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zh-CN" altLang="en-US" sz="700" spc="120" dirty="0">
              <a:solidFill>
                <a:srgbClr val="66A840">
                  <a:alpha val="100000"/>
                </a:srgbClr>
              </a:solidFill>
              <a:latin typeface="黑体" panose="02010609060101010101" charset="-122"/>
              <a:ea typeface="黑体" panose="02010609060101010101" charset="-122"/>
              <a:cs typeface="黑体" panose="02010609060101010101" charset="-122"/>
              <a:sym typeface="+mn-ea"/>
            </a:endParaRPr>
          </a:p>
        </p:txBody>
      </p:sp>
      <p:sp>
        <p:nvSpPr>
          <p:cNvPr id="31" name="文本框 30"/>
          <p:cNvSpPr txBox="1"/>
          <p:nvPr/>
        </p:nvSpPr>
        <p:spPr>
          <a:xfrm>
            <a:off x="5069840" y="3296285"/>
            <a:ext cx="1300480" cy="15811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ctr" anchorCtr="0" forceAA="0">
            <a:noAutofit/>
          </a:bodyPr>
          <a:p>
            <a:pPr algn="ctr" rtl="0" eaLnBrk="0">
              <a:lnSpc>
                <a:spcPct val="127000"/>
              </a:lnSpc>
            </a:pPr>
            <a:r>
              <a:rPr lang="zh-CN" altLang="en-US" sz="70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平均每月</a:t>
            </a:r>
            <a:r>
              <a:rPr lang="en-US" altLang="zh-CN" sz="7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{{XDR_monthly_average_incident_count}}</a:t>
            </a:r>
            <a:r>
              <a:rPr lang="en-US" sz="7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zh-CN" altLang="en-US" sz="700" spc="120" dirty="0">
              <a:solidFill>
                <a:srgbClr val="66A840">
                  <a:alpha val="100000"/>
                </a:srgbClr>
              </a:solidFill>
              <a:latin typeface="黑体" panose="02010609060101010101" charset="-122"/>
              <a:ea typeface="黑体" panose="02010609060101010101" charset="-122"/>
              <a:cs typeface="黑体" panose="02010609060101010101" charset="-122"/>
              <a:sym typeface="+mn-ea"/>
            </a:endParaRPr>
          </a:p>
        </p:txBody>
      </p:sp>
      <p:sp>
        <p:nvSpPr>
          <p:cNvPr id="32" name="文本框 31"/>
          <p:cNvSpPr txBox="1"/>
          <p:nvPr/>
        </p:nvSpPr>
        <p:spPr>
          <a:xfrm>
            <a:off x="4742815" y="2700655"/>
            <a:ext cx="1941195" cy="1600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ctr" anchorCtr="0" forceAA="0">
            <a:noAutofit/>
          </a:bodyPr>
          <a:p>
            <a:pPr algn="ctr" rtl="0" eaLnBrk="0">
              <a:lnSpc>
                <a:spcPct val="127000"/>
              </a:lnSpc>
            </a:pPr>
            <a:r>
              <a:rPr lang="zh-CN" altLang="en-US" sz="70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安装</a:t>
            </a:r>
            <a:r>
              <a:rPr lang="en-US" altLang="zh-CN" sz="7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{{agent_installation_count}}</a:t>
            </a:r>
            <a:r>
              <a:rPr lang="en-US" sz="7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altLang="zh-CN" sz="70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a:t>
            </a:r>
            <a:r>
              <a:rPr lang="en-US" altLang="zh-CN" sz="7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{{total_asset_count}</a:t>
            </a:r>
            <a:r>
              <a:rPr lang="en-US" altLang="zh-CN" sz="7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en-US" sz="7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70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总量</a:t>
            </a:r>
            <a:endParaRPr lang="zh-CN" altLang="en-US" sz="700" spc="120" dirty="0">
              <a:solidFill>
                <a:srgbClr val="66A840">
                  <a:alpha val="100000"/>
                </a:srgbClr>
              </a:solidFill>
              <a:latin typeface="黑体" panose="02010609060101010101" charset="-122"/>
              <a:ea typeface="黑体" panose="02010609060101010101" charset="-122"/>
              <a:cs typeface="黑体" panose="02010609060101010101" charset="-122"/>
              <a:sym typeface="+mn-ea"/>
            </a:endParaRPr>
          </a:p>
        </p:txBody>
      </p:sp>
      <p:sp>
        <p:nvSpPr>
          <p:cNvPr id="33" name="文本框 32"/>
          <p:cNvSpPr txBox="1"/>
          <p:nvPr/>
        </p:nvSpPr>
        <p:spPr>
          <a:xfrm>
            <a:off x="3243580" y="1902460"/>
            <a:ext cx="1049973" cy="56007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ctr" rtl="0" eaLnBrk="0">
              <a:lnSpc>
                <a:spcPct val="79000"/>
              </a:lnSpc>
              <a:spcBef>
                <a:spcPts val="310"/>
              </a:spcBef>
            </a:pPr>
            <a:r>
              <a:rPr lang="en-US" altLang="zh-CN"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{{firewall_automatic_block_rate}}</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en-US" altLang="zh-CN" sz="1400" b="1" spc="-30" dirty="0">
              <a:solidFill>
                <a:schemeClr val="accent6">
                  <a:alpha val="10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34" name="文本框 33"/>
          <p:cNvSpPr txBox="1"/>
          <p:nvPr/>
        </p:nvSpPr>
        <p:spPr>
          <a:xfrm>
            <a:off x="2803525" y="2510155"/>
            <a:ext cx="1998980" cy="39052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ctr" rtl="0" eaLnBrk="0">
              <a:lnSpc>
                <a:spcPct val="79000"/>
              </a:lnSpc>
              <a:spcBef>
                <a:spcPts val="310"/>
              </a:spcBef>
            </a:pPr>
            <a:r>
              <a:rPr lang="en-US" altLang="zh-CN"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{{host_anomaly_risk_handling_count}}</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 </a:t>
            </a:r>
            <a:r>
              <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起</a:t>
            </a:r>
            <a:endParaRPr lang="zh-CN" altLang="en-US" sz="800" b="1" spc="-30" dirty="0">
              <a:solidFill>
                <a:schemeClr val="bg2">
                  <a:lumMod val="10000"/>
                  <a:alpha val="100000"/>
                </a:schemeClr>
              </a:solidFill>
              <a:latin typeface="宋体" panose="02010600030101010101" pitchFamily="2" charset="-122"/>
              <a:ea typeface="宋体" panose="02010600030101010101" pitchFamily="2" charset="-122"/>
              <a:cs typeface="Times New Roman" panose="02020603050405020304"/>
              <a:sym typeface="+mn-ea"/>
            </a:endParaRPr>
          </a:p>
        </p:txBody>
      </p:sp>
      <p:sp>
        <p:nvSpPr>
          <p:cNvPr id="35" name="文本框 34"/>
          <p:cNvSpPr txBox="1"/>
          <p:nvPr/>
        </p:nvSpPr>
        <p:spPr>
          <a:xfrm>
            <a:off x="3100388" y="2678113"/>
            <a:ext cx="1404000" cy="1600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ctr" anchorCtr="0" forceAA="0">
            <a:noAutofit/>
          </a:bodyPr>
          <a:p>
            <a:pPr algn="ctr" rtl="0" eaLnBrk="0">
              <a:lnSpc>
                <a:spcPct val="127000"/>
              </a:lnSpc>
            </a:pPr>
            <a:r>
              <a:rPr lang="zh-CN" altLang="en-US" sz="70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业务判白信任</a:t>
            </a:r>
            <a:r>
              <a:rPr lang="en-US" altLang="zh-CN" sz="7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{{AES_trusted_risk_event_count}</a:t>
            </a:r>
            <a:r>
              <a:rPr lang="en-US" sz="7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a:t>
            </a:r>
            <a:r>
              <a:rPr lang="zh-CN" altLang="en-US" sz="70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起</a:t>
            </a:r>
            <a:endParaRPr lang="en-US" altLang="zh-CN" sz="700" spc="120" dirty="0">
              <a:solidFill>
                <a:srgbClr val="66A84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36" name="图片 35" descr="盾牌"/>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814802" y="1777779"/>
            <a:ext cx="270000" cy="270000"/>
          </a:xfrm>
          <a:prstGeom prst="rect">
            <a:avLst/>
          </a:prstGeom>
        </p:spPr>
      </p:pic>
      <p:pic>
        <p:nvPicPr>
          <p:cNvPr id="37" name="图片 36" descr="电脑显示器主机"/>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809087" y="2379759"/>
            <a:ext cx="270000" cy="270000"/>
          </a:xfrm>
          <a:prstGeom prst="rect">
            <a:avLst/>
          </a:prstGeom>
        </p:spPr>
      </p:pic>
      <p:pic>
        <p:nvPicPr>
          <p:cNvPr id="38" name="图片 37" descr="网络安全"/>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815119" y="2987454"/>
            <a:ext cx="270000" cy="270000"/>
          </a:xfrm>
          <a:prstGeom prst="rect">
            <a:avLst/>
          </a:prstGeom>
        </p:spPr>
      </p:pic>
      <p:pic>
        <p:nvPicPr>
          <p:cNvPr id="40" name="图片 39" descr="深信服 + 智安全"/>
          <p:cNvPicPr>
            <a:picLocks noChangeAspect="1"/>
          </p:cNvPicPr>
          <p:nvPr/>
        </p:nvPicPr>
        <p:blipFill>
          <a:blip r:embed="rId28"/>
          <a:srcRect l="5232" t="26576" r="4938" b="29565"/>
          <a:stretch>
            <a:fillRect/>
          </a:stretch>
        </p:blipFill>
        <p:spPr>
          <a:xfrm>
            <a:off x="10017125" y="238760"/>
            <a:ext cx="1629867" cy="360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p:cNvSpPr txBox="1"/>
          <p:nvPr>
            <p:custDataLst>
              <p:tags r:id="rId1"/>
            </p:custDataLst>
          </p:nvPr>
        </p:nvSpPr>
        <p:spPr>
          <a:xfrm>
            <a:off x="6092825" y="3663315"/>
            <a:ext cx="4703445" cy="424815"/>
          </a:xfrm>
          <a:prstGeom prst="rect">
            <a:avLst/>
          </a:prstGeom>
          <a:noFill/>
          <a:ln w="0">
            <a:noFill/>
          </a:ln>
        </p:spPr>
        <p:txBody>
          <a:bodyPr wrap="square" lIns="0" tIns="0" rIns="0" bIns="0" anchor="ctr" anchorCtr="0">
            <a:noAutofit/>
          </a:bodyPr>
          <a:p>
            <a:pPr algn="l"/>
            <a:r>
              <a:rPr sz="1600" kern="0" spc="60" dirty="0">
                <a:solidFill>
                  <a:srgbClr val="000000">
                    <a:alpha val="100000"/>
                  </a:srgbClr>
                </a:solidFill>
                <a:latin typeface="黑体" panose="02010609060101010101" charset="-122"/>
                <a:ea typeface="黑体" panose="02010609060101010101" charset="-122"/>
                <a:cs typeface="黑体" panose="02010609060101010101" charset="-122"/>
                <a:sym typeface="+mn-ea"/>
              </a:rPr>
              <a:t>问题描述、根因分析、影响面评估、解决方案</a:t>
            </a:r>
            <a:endParaRPr lang="en-US" sz="1600" b="0" u="none" strike="noStrike" kern="0" spc="60" dirty="0">
              <a:solidFill>
                <a:schemeClr val="dk1"/>
              </a:solidFill>
              <a:effectLst/>
              <a:uFillTx/>
              <a:latin typeface="黑体" panose="02010609060101010101" charset="-122"/>
              <a:ea typeface="黑体" panose="02010609060101010101" charset="-122"/>
              <a:cs typeface="黑体" panose="02010609060101010101" charset="-122"/>
              <a:sym typeface="+mn-ea"/>
            </a:endParaRPr>
          </a:p>
        </p:txBody>
      </p:sp>
      <p:sp>
        <p:nvSpPr>
          <p:cNvPr id="4" name="标题"/>
          <p:cNvSpPr>
            <a:spLocks noGrp="1"/>
          </p:cNvSpPr>
          <p:nvPr>
            <p:ph type="title"/>
            <p:custDataLst>
              <p:tags r:id="rId2"/>
            </p:custDataLst>
          </p:nvPr>
        </p:nvSpPr>
        <p:spPr>
          <a:xfrm>
            <a:off x="6092825" y="2439035"/>
            <a:ext cx="5633720" cy="1224280"/>
          </a:xfrm>
        </p:spPr>
        <p:txBody>
          <a:bodyPr anchor="ctr" anchorCtr="0">
            <a:normAutofit fontScale="90000"/>
          </a:bodyPr>
          <a:lstStyle/>
          <a:p>
            <a:r>
              <a:rPr lang="zh-CN" altLang="en-US">
                <a:solidFill>
                  <a:srgbClr val="4C61E7"/>
                </a:solidFill>
              </a:rPr>
              <a:t>关键问题与解决方案</a:t>
            </a:r>
            <a:endParaRPr lang="zh-CN" altLang="en-US">
              <a:solidFill>
                <a:srgbClr val="4C61E7"/>
              </a:solidFill>
            </a:endParaRPr>
          </a:p>
        </p:txBody>
      </p:sp>
      <p:sp>
        <p:nvSpPr>
          <p:cNvPr id="6" name="节编号"/>
          <p:cNvSpPr>
            <a:spLocks noGrp="1"/>
          </p:cNvSpPr>
          <p:nvPr>
            <p:ph type="body" sz="quarter" idx="13"/>
            <p:custDataLst>
              <p:tags r:id="rId3"/>
            </p:custDataLst>
          </p:nvPr>
        </p:nvSpPr>
        <p:spPr/>
        <p:txBody>
          <a:bodyPr>
            <a:normAutofit lnSpcReduction="20000"/>
          </a:bodyPr>
          <a:lstStyle/>
          <a:p>
            <a:r>
              <a:rPr lang="en-US" altLang="en-US">
                <a:solidFill>
                  <a:srgbClr val="4C61E7"/>
                </a:solidFill>
              </a:rPr>
              <a:t>03</a:t>
            </a:r>
            <a:endParaRPr lang="en-US" altLang="en-US">
              <a:solidFill>
                <a:srgbClr val="4C61E7"/>
              </a:solidFill>
            </a:endParaRPr>
          </a:p>
        </p:txBody>
      </p:sp>
      <p:pic>
        <p:nvPicPr>
          <p:cNvPr id="7" name="图片 6" descr="深信服 + 智安全"/>
          <p:cNvPicPr>
            <a:picLocks noChangeAspect="1"/>
          </p:cNvPicPr>
          <p:nvPr/>
        </p:nvPicPr>
        <p:blipFill>
          <a:blip r:embed="rId4"/>
          <a:srcRect l="5232" t="26576" r="4938" b="29565"/>
          <a:stretch>
            <a:fillRect/>
          </a:stretch>
        </p:blipFill>
        <p:spPr>
          <a:xfrm>
            <a:off x="10017125" y="238760"/>
            <a:ext cx="1629867" cy="360000"/>
          </a:xfrm>
          <a:prstGeom prst="rect">
            <a:avLst/>
          </a:prstGeom>
        </p:spPr>
      </p:pic>
    </p:spTree>
    <p:custDataLst>
      <p:tags r:id="rId5"/>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26" name="table 726"/>
          <p:cNvGraphicFramePr>
            <a:graphicFrameLocks noGrp="1"/>
          </p:cNvGraphicFramePr>
          <p:nvPr>
            <p:custDataLst>
              <p:tags r:id="rId1"/>
            </p:custDataLst>
          </p:nvPr>
        </p:nvGraphicFramePr>
        <p:xfrm>
          <a:off x="647700" y="1197610"/>
          <a:ext cx="5037455" cy="2154555"/>
        </p:xfrm>
        <a:graphic>
          <a:graphicData uri="http://schemas.openxmlformats.org/drawingml/2006/table">
            <a:tbl>
              <a:tblPr>
                <a:solidFill>
                  <a:srgbClr val="FCF2F1"/>
                </a:solidFill>
              </a:tblPr>
              <a:tblGrid>
                <a:gridCol w="2543175"/>
                <a:gridCol w="2494280"/>
              </a:tblGrid>
              <a:tr h="2154555">
                <a:tc>
                  <a:txBody>
                    <a:bodyPr/>
                    <a:lstStyle/>
                    <a:p>
                      <a:pPr algn="l" rtl="0" eaLnBrk="0">
                        <a:lnSpc>
                          <a:spcPct val="6000"/>
                        </a:lnSpc>
                      </a:pPr>
                      <a:endParaRPr sz="1200" dirty="0">
                        <a:latin typeface="Arial" panose="020B0604020202020204"/>
                        <a:ea typeface="Arial" panose="020B0604020202020204"/>
                        <a:cs typeface="Arial" panose="020B0604020202020204"/>
                      </a:endParaRPr>
                    </a:p>
                    <a:p>
                      <a:pPr marL="24130" algn="l" rtl="0" eaLnBrk="0">
                        <a:lnSpc>
                          <a:spcPct val="150000"/>
                        </a:lnSpc>
                      </a:pPr>
                      <a:r>
                        <a:rPr sz="1200" kern="0" spc="20" dirty="0">
                          <a:solidFill>
                            <a:srgbClr val="000000">
                              <a:alpha val="100000"/>
                            </a:srgbClr>
                          </a:solidFill>
                          <a:latin typeface="黑体" panose="02010609060101010101" charset="-122"/>
                          <a:ea typeface="黑体" panose="02010609060101010101" charset="-122"/>
                          <a:cs typeface="黑体" panose="02010609060101010101" charset="-122"/>
                        </a:rPr>
                        <a:t>●</a:t>
                      </a:r>
                      <a:r>
                        <a:rPr sz="1200" b="1" kern="0" spc="20" dirty="0">
                          <a:solidFill>
                            <a:srgbClr val="000000">
                              <a:alpha val="100000"/>
                            </a:srgbClr>
                          </a:solidFill>
                          <a:latin typeface="黑体" panose="02010609060101010101" charset="-122"/>
                          <a:ea typeface="黑体" panose="02010609060101010101" charset="-122"/>
                          <a:cs typeface="黑体" panose="02010609060101010101" charset="-122"/>
                        </a:rPr>
                        <a:t>业务系统安全漏洞与弱口令</a:t>
                      </a:r>
                      <a:endParaRPr sz="1200" dirty="0">
                        <a:latin typeface="黑体" panose="02010609060101010101" charset="-122"/>
                        <a:ea typeface="黑体" panose="02010609060101010101" charset="-122"/>
                        <a:cs typeface="黑体" panose="02010609060101010101" charset="-122"/>
                      </a:endParaRPr>
                    </a:p>
                    <a:p>
                      <a:pPr marL="95250" indent="0" algn="l" rtl="0" eaLnBrk="0" fontAlgn="auto">
                        <a:lnSpc>
                          <a:spcPct val="150000"/>
                        </a:lnSpc>
                        <a:spcBef>
                          <a:spcPts val="600"/>
                        </a:spcBef>
                      </a:pPr>
                      <a:r>
                        <a:rPr sz="1000" b="1" kern="0" spc="50" dirty="0">
                          <a:solidFill>
                            <a:srgbClr val="000000">
                              <a:alpha val="100000"/>
                            </a:srgbClr>
                          </a:solidFill>
                          <a:latin typeface="黑体" panose="02010609060101010101" charset="-122"/>
                          <a:ea typeface="黑体" panose="02010609060101010101" charset="-122"/>
                          <a:cs typeface="黑体" panose="02010609060101010101" charset="-122"/>
                        </a:rPr>
                        <a:t>问题描述</a:t>
                      </a:r>
                      <a:endParaRPr sz="1000" b="1" kern="0" spc="50" dirty="0">
                        <a:solidFill>
                          <a:srgbClr val="000000">
                            <a:alpha val="100000"/>
                          </a:srgbClr>
                        </a:solidFill>
                        <a:latin typeface="黑体" panose="02010609060101010101" charset="-122"/>
                        <a:ea typeface="黑体" panose="02010609060101010101" charset="-122"/>
                        <a:cs typeface="黑体" panose="02010609060101010101" charset="-122"/>
                      </a:endParaRPr>
                    </a:p>
                    <a:p>
                      <a:pPr marL="95250" indent="0" algn="l" rtl="0" eaLnBrk="0" fontAlgn="auto">
                        <a:lnSpc>
                          <a:spcPct val="100000"/>
                        </a:lnSpc>
                        <a:spcBef>
                          <a:spcPts val="600"/>
                        </a:spcBef>
                      </a:pPr>
                      <a:r>
                        <a:rPr sz="1000" kern="0" spc="10" dirty="0">
                          <a:solidFill>
                            <a:srgbClr val="000000">
                              <a:alpha val="100000"/>
                            </a:srgbClr>
                          </a:solidFill>
                          <a:latin typeface="黑体" panose="02010609060101010101" charset="-122"/>
                          <a:ea typeface="黑体" panose="02010609060101010101" charset="-122"/>
                          <a:cs typeface="黑体" panose="02010609060101010101" charset="-122"/>
                        </a:rPr>
                        <a:t>业务系统存在大量漏洞(456个)与弱口令</a:t>
                      </a:r>
                      <a:r>
                        <a:rPr sz="1000" kern="0" spc="0" dirty="0">
                          <a:solidFill>
                            <a:srgbClr val="000000">
                              <a:alpha val="100000"/>
                            </a:srgbClr>
                          </a:solidFill>
                          <a:latin typeface="黑体" panose="02010609060101010101" charset="-122"/>
                          <a:ea typeface="黑体" panose="02010609060101010101" charset="-122"/>
                          <a:cs typeface="黑体" panose="02010609060101010101" charset="-122"/>
                        </a:rPr>
                        <a:t> </a:t>
                      </a:r>
                      <a:r>
                        <a:rPr sz="1000" kern="0" spc="10" dirty="0">
                          <a:solidFill>
                            <a:srgbClr val="000000">
                              <a:alpha val="100000"/>
                            </a:srgbClr>
                          </a:solidFill>
                          <a:latin typeface="黑体" panose="02010609060101010101" charset="-122"/>
                          <a:ea typeface="黑体" panose="02010609060101010101" charset="-122"/>
                          <a:cs typeface="黑体" panose="02010609060101010101" charset="-122"/>
                        </a:rPr>
                        <a:t>(106个),修复周期长达3-6个月，形成</a:t>
                      </a:r>
                      <a:r>
                        <a:rPr sz="1000" kern="0" spc="-20" dirty="0">
                          <a:solidFill>
                            <a:srgbClr val="000000">
                              <a:alpha val="100000"/>
                            </a:srgbClr>
                          </a:solidFill>
                          <a:latin typeface="黑体" panose="02010609060101010101" charset="-122"/>
                          <a:ea typeface="黑体" panose="02010609060101010101" charset="-122"/>
                          <a:cs typeface="黑体" panose="02010609060101010101" charset="-122"/>
                        </a:rPr>
                        <a:t>持续性安全风险。</a:t>
                      </a:r>
                      <a:endParaRPr sz="1000" dirty="0">
                        <a:latin typeface="黑体" panose="02010609060101010101" charset="-122"/>
                        <a:ea typeface="黑体" panose="02010609060101010101" charset="-122"/>
                        <a:cs typeface="黑体" panose="02010609060101010101" charset="-122"/>
                      </a:endParaRPr>
                    </a:p>
                    <a:p>
                      <a:pPr marL="95250" indent="0" algn="l" rtl="0" eaLnBrk="0" fontAlgn="auto">
                        <a:lnSpc>
                          <a:spcPct val="150000"/>
                        </a:lnSpc>
                        <a:spcBef>
                          <a:spcPts val="600"/>
                        </a:spcBef>
                      </a:pPr>
                      <a:r>
                        <a:rPr sz="1000" b="1" kern="0" spc="60" dirty="0">
                          <a:solidFill>
                            <a:srgbClr val="000000">
                              <a:alpha val="100000"/>
                            </a:srgbClr>
                          </a:solidFill>
                          <a:latin typeface="黑体" panose="02010609060101010101" charset="-122"/>
                          <a:ea typeface="黑体" panose="02010609060101010101" charset="-122"/>
                          <a:cs typeface="黑体" panose="02010609060101010101" charset="-122"/>
                        </a:rPr>
                        <a:t>根因分析</a:t>
                      </a:r>
                      <a:endParaRPr sz="1000" dirty="0">
                        <a:latin typeface="黑体" panose="02010609060101010101" charset="-122"/>
                        <a:ea typeface="黑体" panose="02010609060101010101" charset="-122"/>
                        <a:cs typeface="黑体" panose="02010609060101010101" charset="-122"/>
                      </a:endParaRPr>
                    </a:p>
                    <a:p>
                      <a:pPr marL="95250" indent="0" algn="l" rtl="0" eaLnBrk="0" fontAlgn="auto">
                        <a:lnSpc>
                          <a:spcPct val="100000"/>
                        </a:lnSpc>
                        <a:spcBef>
                          <a:spcPts val="600"/>
                        </a:spcBef>
                      </a:pPr>
                      <a:r>
                        <a:rPr sz="1000" kern="0" spc="0" dirty="0">
                          <a:solidFill>
                            <a:srgbClr val="000000">
                              <a:alpha val="100000"/>
                            </a:srgbClr>
                          </a:solidFill>
                          <a:latin typeface="黑体" panose="02010609060101010101" charset="-122"/>
                          <a:ea typeface="黑体" panose="02010609060101010101" charset="-122"/>
                          <a:cs typeface="黑体" panose="02010609060101010101" charset="-122"/>
                        </a:rPr>
                        <a:t>业务开发与部署流程缺</a:t>
                      </a:r>
                      <a:r>
                        <a:rPr sz="1000" kern="0" spc="-10" dirty="0">
                          <a:solidFill>
                            <a:srgbClr val="000000">
                              <a:alpha val="100000"/>
                            </a:srgbClr>
                          </a:solidFill>
                          <a:latin typeface="黑体" panose="02010609060101010101" charset="-122"/>
                          <a:ea typeface="黑体" panose="02010609060101010101" charset="-122"/>
                          <a:cs typeface="黑体" panose="02010609060101010101" charset="-122"/>
                        </a:rPr>
                        <a:t>乏安全验收环节，  </a:t>
                      </a:r>
                      <a:r>
                        <a:rPr sz="1000" kern="0" spc="-30" dirty="0">
                          <a:solidFill>
                            <a:srgbClr val="000000">
                              <a:alpha val="100000"/>
                            </a:srgbClr>
                          </a:solidFill>
                          <a:latin typeface="黑体" panose="02010609060101010101" charset="-122"/>
                          <a:ea typeface="黑体" panose="02010609060101010101" charset="-122"/>
                          <a:cs typeface="黑体" panose="02010609060101010101" charset="-122"/>
                        </a:rPr>
                        <a:t>运维人员安全意识不足，系统更新与业务</a:t>
                      </a:r>
                      <a:r>
                        <a:rPr sz="1000" kern="0" spc="10" dirty="0">
                          <a:solidFill>
                            <a:srgbClr val="000000">
                              <a:alpha val="100000"/>
                            </a:srgbClr>
                          </a:solidFill>
                          <a:latin typeface="黑体" panose="02010609060101010101" charset="-122"/>
                          <a:ea typeface="黑体" panose="02010609060101010101" charset="-122"/>
                          <a:cs typeface="黑体" panose="02010609060101010101" charset="-122"/>
                        </a:rPr>
                        <a:t>   </a:t>
                      </a:r>
                      <a:r>
                        <a:rPr sz="1000" kern="0" spc="-20" dirty="0">
                          <a:solidFill>
                            <a:srgbClr val="000000">
                              <a:alpha val="100000"/>
                            </a:srgbClr>
                          </a:solidFill>
                          <a:latin typeface="黑体" panose="02010609060101010101" charset="-122"/>
                          <a:ea typeface="黑体" panose="02010609060101010101" charset="-122"/>
                          <a:cs typeface="黑体" panose="02010609060101010101" charset="-122"/>
                        </a:rPr>
                        <a:t>运行存在冲突</a:t>
                      </a:r>
                      <a:r>
                        <a:rPr sz="600" kern="0" spc="-20" dirty="0">
                          <a:solidFill>
                            <a:srgbClr val="000000">
                              <a:alpha val="100000"/>
                            </a:srgbClr>
                          </a:solidFill>
                          <a:latin typeface="黑体" panose="02010609060101010101" charset="-122"/>
                          <a:ea typeface="黑体" panose="02010609060101010101" charset="-122"/>
                          <a:cs typeface="黑体" panose="02010609060101010101" charset="-122"/>
                        </a:rPr>
                        <a:t>。</a:t>
                      </a:r>
                      <a:endParaRPr sz="600" dirty="0">
                        <a:latin typeface="黑体" panose="02010609060101010101" charset="-122"/>
                        <a:ea typeface="黑体" panose="02010609060101010101" charset="-122"/>
                        <a:cs typeface="黑体" panose="02010609060101010101" charset="-122"/>
                      </a:endParaRPr>
                    </a:p>
                  </a:txBody>
                  <a:tcPr marL="0" marR="0" marT="0" marB="0" vert="horz">
                    <a:lnL>
                      <a:noFill/>
                    </a:lnL>
                    <a:lnR>
                      <a:noFill/>
                    </a:lnR>
                    <a:lnT>
                      <a:noFill/>
                    </a:lnT>
                    <a:lnB>
                      <a:noFill/>
                    </a:lnB>
                    <a:solidFill>
                      <a:schemeClr val="accent2">
                        <a:lumMod val="20000"/>
                        <a:lumOff val="80000"/>
                      </a:schemeClr>
                    </a:solidFill>
                  </a:tcPr>
                </a:tc>
                <a:tc>
                  <a:txBody>
                    <a:bodyPr/>
                    <a:lstStyle/>
                    <a:p>
                      <a:pPr algn="r" defTabSz="179705" rtl="0" eaLnBrk="0">
                        <a:lnSpc>
                          <a:spcPct val="131000"/>
                        </a:lnSpc>
                      </a:pPr>
                      <a:r>
                        <a:rPr sz="1200" kern="0" spc="-10" dirty="0">
                          <a:solidFill>
                            <a:srgbClr val="FF0000">
                              <a:alpha val="100000"/>
                            </a:srgbClr>
                          </a:solidFill>
                          <a:latin typeface="隶书" panose="02010509060101010101" charset="-122"/>
                          <a:ea typeface="隶书" panose="02010509060101010101" charset="-122"/>
                          <a:cs typeface="隶书" panose="02010509060101010101" charset="-122"/>
                        </a:rPr>
                        <a:t>优先级：高</a:t>
                      </a:r>
                      <a:endParaRPr sz="600" dirty="0">
                        <a:latin typeface="隶书" panose="02010509060101010101" charset="-122"/>
                        <a:ea typeface="隶书" panose="02010509060101010101" charset="-122"/>
                        <a:cs typeface="隶书" panose="02010509060101010101" charset="-122"/>
                      </a:endParaRPr>
                    </a:p>
                    <a:p>
                      <a:pPr marL="95250" algn="l" rtl="0" eaLnBrk="0" fontAlgn="auto">
                        <a:lnSpc>
                          <a:spcPct val="150000"/>
                        </a:lnSpc>
                        <a:spcBef>
                          <a:spcPts val="600"/>
                        </a:spcBef>
                        <a:buClrTx/>
                        <a:buSzTx/>
                        <a:buFontTx/>
                      </a:pPr>
                      <a:r>
                        <a:rPr sz="1000" b="1" kern="0" spc="50" dirty="0">
                          <a:solidFill>
                            <a:srgbClr val="000000">
                              <a:alpha val="100000"/>
                            </a:srgbClr>
                          </a:solidFill>
                          <a:latin typeface="黑体" panose="02010609060101010101" charset="-122"/>
                          <a:ea typeface="黑体" panose="02010609060101010101" charset="-122"/>
                          <a:cs typeface="黑体" panose="02010609060101010101" charset="-122"/>
                        </a:rPr>
                        <a:t>业务影响</a:t>
                      </a:r>
                      <a:endParaRPr sz="1000" b="1" kern="0" spc="50" dirty="0">
                        <a:solidFill>
                          <a:srgbClr val="000000">
                            <a:alpha val="100000"/>
                          </a:srgbClr>
                        </a:solidFill>
                        <a:latin typeface="黑体" panose="02010609060101010101" charset="-122"/>
                        <a:ea typeface="黑体" panose="02010609060101010101" charset="-122"/>
                        <a:cs typeface="黑体" panose="02010609060101010101" charset="-122"/>
                      </a:endParaRPr>
                    </a:p>
                    <a:p>
                      <a:pPr marL="43180" indent="0" algn="l" rtl="0" eaLnBrk="0" fontAlgn="auto">
                        <a:lnSpc>
                          <a:spcPct val="110000"/>
                        </a:lnSpc>
                        <a:spcBef>
                          <a:spcPts val="300"/>
                        </a:spcBef>
                      </a:pPr>
                      <a:r>
                        <a:rPr sz="1000" kern="0" spc="-10" dirty="0">
                          <a:solidFill>
                            <a:srgbClr val="000000">
                              <a:alpha val="100000"/>
                            </a:srgbClr>
                          </a:solidFill>
                          <a:latin typeface="黑体" panose="02010609060101010101" charset="-122"/>
                          <a:ea typeface="黑体" panose="02010609060101010101" charset="-122"/>
                          <a:cs typeface="黑体" panose="02010609060101010101" charset="-122"/>
                        </a:rPr>
                        <a:t>·增加数据泄露风险</a:t>
                      </a:r>
                      <a:r>
                        <a:rPr sz="1000" kern="0" spc="-20" dirty="0">
                          <a:solidFill>
                            <a:srgbClr val="000000">
                              <a:alpha val="100000"/>
                            </a:srgbClr>
                          </a:solidFill>
                          <a:latin typeface="黑体" panose="02010609060101010101" charset="-122"/>
                          <a:ea typeface="黑体" panose="02010609060101010101" charset="-122"/>
                          <a:cs typeface="黑体" panose="02010609060101010101" charset="-122"/>
                        </a:rPr>
                        <a:t>，导致</a:t>
                      </a:r>
                      <a:r>
                        <a:rPr lang="zh-CN" sz="1000" kern="0" spc="-20" dirty="0">
                          <a:solidFill>
                            <a:srgbClr val="000000">
                              <a:alpha val="100000"/>
                            </a:srgbClr>
                          </a:solidFill>
                          <a:latin typeface="黑体" panose="02010609060101010101" charset="-122"/>
                          <a:ea typeface="黑体" panose="02010609060101010101" charset="-122"/>
                          <a:cs typeface="黑体" panose="02010609060101010101" charset="-122"/>
                        </a:rPr>
                        <a:t>业务数据</a:t>
                      </a:r>
                      <a:r>
                        <a:rPr sz="1000" kern="0" spc="-20" dirty="0">
                          <a:solidFill>
                            <a:srgbClr val="000000">
                              <a:alpha val="100000"/>
                            </a:srgbClr>
                          </a:solidFill>
                          <a:latin typeface="黑体" panose="02010609060101010101" charset="-122"/>
                          <a:ea typeface="黑体" panose="02010609060101010101" charset="-122"/>
                          <a:cs typeface="黑体" panose="02010609060101010101" charset="-122"/>
                        </a:rPr>
                        <a:t>泄露</a:t>
                      </a:r>
                      <a:endParaRPr sz="1000" dirty="0">
                        <a:latin typeface="黑体" panose="02010609060101010101" charset="-122"/>
                        <a:ea typeface="黑体" panose="02010609060101010101" charset="-122"/>
                        <a:cs typeface="黑体" panose="02010609060101010101" charset="-122"/>
                      </a:endParaRPr>
                    </a:p>
                    <a:p>
                      <a:pPr marL="53340" indent="-2540" algn="l" rtl="0" eaLnBrk="0" fontAlgn="auto">
                        <a:lnSpc>
                          <a:spcPct val="100000"/>
                        </a:lnSpc>
                        <a:spcBef>
                          <a:spcPts val="300"/>
                        </a:spcBef>
                      </a:pPr>
                      <a:r>
                        <a:rPr sz="1000" kern="0" spc="10" dirty="0">
                          <a:solidFill>
                            <a:srgbClr val="000000">
                              <a:alpha val="100000"/>
                            </a:srgbClr>
                          </a:solidFill>
                          <a:latin typeface="黑体" panose="02010609060101010101" charset="-122"/>
                          <a:ea typeface="黑体" panose="02010609060101010101" charset="-122"/>
                          <a:cs typeface="黑体" panose="02010609060101010101" charset="-122"/>
                        </a:rPr>
                        <a:t>·系统被入侵概率</a:t>
                      </a:r>
                      <a:r>
                        <a:rPr lang="zh-CN" sz="1000" kern="0" spc="10" dirty="0">
                          <a:solidFill>
                            <a:srgbClr val="000000">
                              <a:alpha val="100000"/>
                            </a:srgbClr>
                          </a:solidFill>
                          <a:latin typeface="黑体" panose="02010609060101010101" charset="-122"/>
                          <a:ea typeface="黑体" panose="02010609060101010101" charset="-122"/>
                          <a:cs typeface="黑体" panose="02010609060101010101" charset="-122"/>
                        </a:rPr>
                        <a:t>大幅增加，潜在经济损失风险巨大；</a:t>
                      </a:r>
                      <a:endParaRPr lang="zh-CN" sz="1000" kern="0" spc="-20" dirty="0">
                        <a:solidFill>
                          <a:srgbClr val="000000">
                            <a:alpha val="100000"/>
                          </a:srgbClr>
                        </a:solidFill>
                        <a:latin typeface="黑体" panose="02010609060101010101" charset="-122"/>
                        <a:ea typeface="黑体" panose="02010609060101010101" charset="-122"/>
                        <a:cs typeface="黑体" panose="02010609060101010101" charset="-122"/>
                      </a:endParaRPr>
                    </a:p>
                    <a:p>
                      <a:pPr marL="95250" algn="l" rtl="0" eaLnBrk="0" fontAlgn="auto">
                        <a:lnSpc>
                          <a:spcPct val="150000"/>
                        </a:lnSpc>
                        <a:spcBef>
                          <a:spcPts val="600"/>
                        </a:spcBef>
                        <a:buClrTx/>
                        <a:buSzTx/>
                        <a:buFontTx/>
                      </a:pPr>
                      <a:r>
                        <a:rPr sz="1000" b="1" kern="0" spc="50" dirty="0">
                          <a:solidFill>
                            <a:srgbClr val="000000">
                              <a:alpha val="100000"/>
                            </a:srgbClr>
                          </a:solidFill>
                          <a:latin typeface="黑体" panose="02010609060101010101" charset="-122"/>
                          <a:ea typeface="黑体" panose="02010609060101010101" charset="-122"/>
                          <a:cs typeface="黑体" panose="02010609060101010101" charset="-122"/>
                        </a:rPr>
                        <a:t>解决方案</a:t>
                      </a:r>
                      <a:endParaRPr sz="1000" b="1" kern="0" spc="50" dirty="0">
                        <a:solidFill>
                          <a:srgbClr val="000000">
                            <a:alpha val="100000"/>
                          </a:srgbClr>
                        </a:solidFill>
                        <a:latin typeface="黑体" panose="02010609060101010101" charset="-122"/>
                        <a:ea typeface="黑体" panose="02010609060101010101" charset="-122"/>
                        <a:cs typeface="黑体" panose="02010609060101010101" charset="-122"/>
                      </a:endParaRPr>
                    </a:p>
                    <a:p>
                      <a:pPr marL="95250" algn="l" rtl="0" eaLnBrk="0" fontAlgn="auto">
                        <a:lnSpc>
                          <a:spcPct val="100000"/>
                        </a:lnSpc>
                        <a:spcBef>
                          <a:spcPts val="600"/>
                        </a:spcBef>
                        <a:buClrTx/>
                        <a:buSzTx/>
                        <a:buFontTx/>
                      </a:pPr>
                      <a:r>
                        <a:rPr sz="1000" kern="0" spc="10" dirty="0">
                          <a:solidFill>
                            <a:srgbClr val="000000">
                              <a:alpha val="100000"/>
                            </a:srgbClr>
                          </a:solidFill>
                          <a:latin typeface="黑体" panose="02010609060101010101" charset="-122"/>
                          <a:ea typeface="黑体" panose="02010609060101010101" charset="-122"/>
                          <a:cs typeface="黑体" panose="02010609060101010101" charset="-122"/>
                        </a:rPr>
                        <a:t>1、扩大7*24小时监测覆盖范围，对脆弱性利用行为快速发现，及时遏制，降低造成业务损失的风险</a:t>
                      </a:r>
                      <a:endParaRPr sz="1000" kern="0" spc="10" dirty="0">
                        <a:solidFill>
                          <a:srgbClr val="000000">
                            <a:alpha val="100000"/>
                          </a:srgbClr>
                        </a:solidFill>
                        <a:latin typeface="黑体" panose="02010609060101010101" charset="-122"/>
                        <a:ea typeface="黑体" panose="02010609060101010101" charset="-122"/>
                        <a:cs typeface="黑体" panose="02010609060101010101" charset="-122"/>
                      </a:endParaRPr>
                    </a:p>
                  </a:txBody>
                  <a:tcPr marL="0" marR="0" marT="0" marB="0" vert="horz">
                    <a:lnL>
                      <a:noFill/>
                    </a:lnL>
                    <a:lnR>
                      <a:noFill/>
                    </a:lnR>
                    <a:lnT>
                      <a:noFill/>
                    </a:lnT>
                    <a:lnB>
                      <a:noFill/>
                    </a:lnB>
                    <a:solidFill>
                      <a:schemeClr val="accent2">
                        <a:lumMod val="20000"/>
                        <a:lumOff val="80000"/>
                      </a:schemeClr>
                    </a:solidFill>
                  </a:tcPr>
                </a:tc>
              </a:tr>
            </a:tbl>
          </a:graphicData>
        </a:graphic>
      </p:graphicFrame>
      <p:sp>
        <p:nvSpPr>
          <p:cNvPr id="158" name="textbox 158"/>
          <p:cNvSpPr/>
          <p:nvPr/>
        </p:nvSpPr>
        <p:spPr>
          <a:xfrm>
            <a:off x="647700" y="360045"/>
            <a:ext cx="5448300" cy="600075"/>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a:ea typeface="Arial" panose="020B0604020202020204"/>
              <a:cs typeface="Arial" panose="020B0604020202020204"/>
            </a:endParaRPr>
          </a:p>
          <a:p>
            <a:pPr marL="15875" algn="l" rtl="0" eaLnBrk="0">
              <a:lnSpc>
                <a:spcPct val="98000"/>
              </a:lnSpc>
            </a:pPr>
            <a:r>
              <a:rPr lang="zh-CN" altLang="en-US" sz="1900" kern="0" dirty="0">
                <a:solidFill>
                  <a:srgbClr val="4C61E7"/>
                </a:solidFill>
                <a:latin typeface="黑体" panose="02010609060101010101" charset="-122"/>
                <a:ea typeface="黑体" panose="02010609060101010101" charset="-122"/>
                <a:cs typeface="黑体" panose="02010609060101010101" charset="-122"/>
              </a:rPr>
              <a:t>关键问题分析与解决方案</a:t>
            </a:r>
            <a:endParaRPr sz="1900" dirty="0">
              <a:latin typeface="黑体" panose="02010609060101010101" charset="-122"/>
              <a:ea typeface="黑体" panose="02010609060101010101" charset="-122"/>
              <a:cs typeface="黑体" panose="02010609060101010101" charset="-122"/>
            </a:endParaRPr>
          </a:p>
          <a:p>
            <a:pPr algn="l" rtl="0" eaLnBrk="0">
              <a:lnSpc>
                <a:spcPct val="101000"/>
              </a:lnSpc>
            </a:pPr>
            <a:endParaRPr sz="800" dirty="0">
              <a:latin typeface="Arial" panose="020B0604020202020204"/>
              <a:ea typeface="Arial" panose="020B0604020202020204"/>
              <a:cs typeface="Arial" panose="020B0604020202020204"/>
            </a:endParaRPr>
          </a:p>
          <a:p>
            <a:pPr marL="12700" algn="l" rtl="0" eaLnBrk="0">
              <a:lnSpc>
                <a:spcPct val="92000"/>
              </a:lnSpc>
              <a:spcBef>
                <a:spcPts val="5"/>
              </a:spcBef>
            </a:pPr>
            <a:r>
              <a:rPr sz="1000" kern="0" spc="140" dirty="0">
                <a:solidFill>
                  <a:srgbClr val="000000">
                    <a:alpha val="100000"/>
                  </a:srgbClr>
                </a:solidFill>
                <a:latin typeface="黑体" panose="02010609060101010101" charset="-122"/>
                <a:ea typeface="黑体" panose="02010609060101010101" charset="-122"/>
                <a:cs typeface="黑体" panose="02010609060101010101" charset="-122"/>
                <a:sym typeface="+mn-ea"/>
              </a:rPr>
              <a:t>从业务价值分析安全挑战</a:t>
            </a:r>
            <a:r>
              <a:rPr lang="zh-CN" sz="10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及后续安全</a:t>
            </a:r>
            <a:r>
              <a:rPr lang="zh-CN" sz="10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工作投入</a:t>
            </a:r>
            <a:r>
              <a:rPr sz="10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建议</a:t>
            </a:r>
            <a:endParaRPr lang="zh-CN" altLang="en-US" sz="1000" kern="0" spc="40" dirty="0">
              <a:solidFill>
                <a:srgbClr val="000000">
                  <a:alpha val="100000"/>
                </a:srgbClr>
              </a:solidFill>
              <a:latin typeface="黑体" panose="02010609060101010101" charset="-122"/>
              <a:ea typeface="黑体" panose="02010609060101010101" charset="-122"/>
              <a:cs typeface="黑体" panose="02010609060101010101" charset="-122"/>
            </a:endParaRPr>
          </a:p>
        </p:txBody>
      </p:sp>
      <p:graphicFrame>
        <p:nvGraphicFramePr>
          <p:cNvPr id="2" name="table 726"/>
          <p:cNvGraphicFramePr>
            <a:graphicFrameLocks noGrp="1"/>
          </p:cNvGraphicFramePr>
          <p:nvPr>
            <p:custDataLst>
              <p:tags r:id="rId2"/>
            </p:custDataLst>
          </p:nvPr>
        </p:nvGraphicFramePr>
        <p:xfrm>
          <a:off x="6103620" y="1197610"/>
          <a:ext cx="5038090" cy="2154555"/>
        </p:xfrm>
        <a:graphic>
          <a:graphicData uri="http://schemas.openxmlformats.org/drawingml/2006/table">
            <a:tbl>
              <a:tblPr>
                <a:solidFill>
                  <a:srgbClr val="FCF2F1"/>
                </a:solidFill>
              </a:tblPr>
              <a:tblGrid>
                <a:gridCol w="2543810"/>
                <a:gridCol w="2494280"/>
              </a:tblGrid>
              <a:tr h="2154555">
                <a:tc>
                  <a:txBody>
                    <a:bodyPr/>
                    <a:p>
                      <a:pPr algn="l" rtl="0" eaLnBrk="0">
                        <a:lnSpc>
                          <a:spcPct val="150000"/>
                        </a:lnSpc>
                        <a:buClrTx/>
                        <a:buSzTx/>
                        <a:buFontTx/>
                      </a:pPr>
                      <a:r>
                        <a:rPr sz="1200" b="1" kern="0" spc="20" dirty="0">
                          <a:solidFill>
                            <a:srgbClr val="000000">
                              <a:alpha val="100000"/>
                            </a:srgbClr>
                          </a:solidFill>
                          <a:latin typeface="黑体" panose="02010609060101010101" charset="-122"/>
                          <a:ea typeface="黑体" panose="02010609060101010101" charset="-122"/>
                          <a:cs typeface="黑体" panose="02010609060101010101" charset="-122"/>
                        </a:rPr>
                        <a:t>●业务资产互联网暴露过度</a:t>
                      </a:r>
                      <a:endParaRPr sz="1200" b="1" kern="0" spc="20" dirty="0">
                        <a:solidFill>
                          <a:srgbClr val="000000">
                            <a:alpha val="100000"/>
                          </a:srgbClr>
                        </a:solidFill>
                        <a:latin typeface="黑体" panose="02010609060101010101" charset="-122"/>
                        <a:ea typeface="黑体" panose="02010609060101010101" charset="-122"/>
                        <a:cs typeface="黑体" panose="02010609060101010101" charset="-122"/>
                      </a:endParaRPr>
                    </a:p>
                    <a:p>
                      <a:pPr marL="90805" indent="0" algn="l" rtl="0" eaLnBrk="0" fontAlgn="auto">
                        <a:lnSpc>
                          <a:spcPct val="100000"/>
                        </a:lnSpc>
                        <a:spcBef>
                          <a:spcPts val="600"/>
                        </a:spcBef>
                      </a:pPr>
                      <a:r>
                        <a:rPr lang="zh-CN" altLang="en-US" sz="1000" dirty="0">
                          <a:latin typeface="黑体" panose="02010609060101010101" charset="-122"/>
                          <a:ea typeface="黑体" panose="02010609060101010101" charset="-122"/>
                          <a:cs typeface="黑体" panose="02010609060101010101" charset="-122"/>
                        </a:rPr>
                        <a:t>问题描述</a:t>
                      </a:r>
                      <a:endParaRPr lang="zh-CN" altLang="en-US" sz="1000" dirty="0">
                        <a:latin typeface="黑体" panose="02010609060101010101" charset="-122"/>
                        <a:ea typeface="黑体" panose="02010609060101010101" charset="-122"/>
                        <a:cs typeface="黑体" panose="02010609060101010101" charset="-122"/>
                      </a:endParaRPr>
                    </a:p>
                    <a:p>
                      <a:pPr marL="90805" indent="0" algn="l" rtl="0" eaLnBrk="0" fontAlgn="auto">
                        <a:lnSpc>
                          <a:spcPct val="100000"/>
                        </a:lnSpc>
                        <a:spcBef>
                          <a:spcPts val="600"/>
                        </a:spcBef>
                      </a:pPr>
                      <a:r>
                        <a:rPr lang="en-US" altLang="zh-CN" sz="1000" dirty="0">
                          <a:latin typeface="黑体" panose="02010609060101010101" charset="-122"/>
                          <a:ea typeface="黑体" panose="02010609060101010101" charset="-122"/>
                          <a:cs typeface="黑体" panose="02010609060101010101" charset="-122"/>
                        </a:rPr>
                        <a:t>23</a:t>
                      </a:r>
                      <a:r>
                        <a:rPr lang="zh-CN" altLang="en-US" sz="1000" dirty="0">
                          <a:latin typeface="黑体" panose="02010609060101010101" charset="-122"/>
                          <a:ea typeface="黑体" panose="02010609060101010101" charset="-122"/>
                          <a:cs typeface="黑体" panose="02010609060101010101" charset="-122"/>
                        </a:rPr>
                        <a:t>个业务资产对外存在互联网映射并且可</a:t>
                      </a:r>
                      <a:r>
                        <a:rPr lang="en-US" altLang="zh-CN" sz="1000" dirty="0">
                          <a:latin typeface="黑体" panose="02010609060101010101" charset="-122"/>
                          <a:ea typeface="黑体" panose="02010609060101010101" charset="-122"/>
                          <a:cs typeface="黑体" panose="02010609060101010101" charset="-122"/>
                        </a:rPr>
                        <a:t> </a:t>
                      </a:r>
                      <a:r>
                        <a:rPr lang="zh-CN" altLang="en-US" sz="1000" dirty="0">
                          <a:latin typeface="黑体" panose="02010609060101010101" charset="-122"/>
                          <a:ea typeface="黑体" panose="02010609060101010101" charset="-122"/>
                          <a:cs typeface="黑体" panose="02010609060101010101" charset="-122"/>
                        </a:rPr>
                        <a:t>被直接访问，其中包含</a:t>
                      </a:r>
                      <a:r>
                        <a:rPr lang="en-US" altLang="zh-CN" sz="1000" dirty="0">
                          <a:latin typeface="黑体" panose="02010609060101010101" charset="-122"/>
                          <a:ea typeface="黑体" panose="02010609060101010101" charset="-122"/>
                          <a:cs typeface="黑体" panose="02010609060101010101" charset="-122"/>
                        </a:rPr>
                        <a:t>19</a:t>
                      </a:r>
                      <a:r>
                        <a:rPr lang="zh-CN" altLang="en-US" sz="1000" dirty="0">
                          <a:latin typeface="黑体" panose="02010609060101010101" charset="-122"/>
                          <a:ea typeface="黑体" panose="02010609060101010101" charset="-122"/>
                          <a:cs typeface="黑体" panose="02010609060101010101" charset="-122"/>
                        </a:rPr>
                        <a:t>个高危端口和服</a:t>
                      </a:r>
                      <a:r>
                        <a:rPr lang="en-US" altLang="zh-CN" sz="1000" dirty="0">
                          <a:latin typeface="黑体" panose="02010609060101010101" charset="-122"/>
                          <a:ea typeface="黑体" panose="02010609060101010101" charset="-122"/>
                          <a:cs typeface="黑体" panose="02010609060101010101" charset="-122"/>
                        </a:rPr>
                        <a:t> </a:t>
                      </a:r>
                      <a:r>
                        <a:rPr lang="zh-CN" altLang="en-US" sz="1000" dirty="0">
                          <a:latin typeface="黑体" panose="02010609060101010101" charset="-122"/>
                          <a:ea typeface="黑体" panose="02010609060101010101" charset="-122"/>
                          <a:cs typeface="黑体" panose="02010609060101010101" charset="-122"/>
                        </a:rPr>
                        <a:t>务，成为攻击者首选目标。</a:t>
                      </a:r>
                      <a:endParaRPr lang="zh-CN" altLang="en-US" sz="1000" dirty="0">
                        <a:latin typeface="黑体" panose="02010609060101010101" charset="-122"/>
                        <a:ea typeface="黑体" panose="02010609060101010101" charset="-122"/>
                        <a:cs typeface="黑体" panose="02010609060101010101" charset="-122"/>
                      </a:endParaRPr>
                    </a:p>
                    <a:p>
                      <a:pPr marL="90805" indent="0" algn="l" rtl="0" eaLnBrk="0" fontAlgn="auto">
                        <a:lnSpc>
                          <a:spcPct val="100000"/>
                        </a:lnSpc>
                        <a:spcBef>
                          <a:spcPts val="600"/>
                        </a:spcBef>
                      </a:pPr>
                      <a:r>
                        <a:rPr lang="zh-CN" altLang="en-US" sz="1000" dirty="0">
                          <a:latin typeface="黑体" panose="02010609060101010101" charset="-122"/>
                          <a:ea typeface="黑体" panose="02010609060101010101" charset="-122"/>
                          <a:cs typeface="黑体" panose="02010609060101010101" charset="-122"/>
                        </a:rPr>
                        <a:t>根因分析</a:t>
                      </a:r>
                      <a:endParaRPr lang="zh-CN" altLang="en-US" sz="1000" dirty="0">
                        <a:latin typeface="黑体" panose="02010609060101010101" charset="-122"/>
                        <a:ea typeface="黑体" panose="02010609060101010101" charset="-122"/>
                        <a:cs typeface="黑体" panose="02010609060101010101" charset="-122"/>
                      </a:endParaRPr>
                    </a:p>
                    <a:p>
                      <a:pPr marL="90805" indent="0" algn="l" rtl="0" eaLnBrk="0" fontAlgn="auto">
                        <a:lnSpc>
                          <a:spcPct val="100000"/>
                        </a:lnSpc>
                        <a:spcBef>
                          <a:spcPts val="600"/>
                        </a:spcBef>
                      </a:pPr>
                      <a:r>
                        <a:rPr lang="zh-CN" altLang="en-US" sz="1000" dirty="0">
                          <a:latin typeface="黑体" panose="02010609060101010101" charset="-122"/>
                          <a:ea typeface="黑体" panose="02010609060101010101" charset="-122"/>
                          <a:cs typeface="黑体" panose="02010609060101010101" charset="-122"/>
                        </a:rPr>
                        <a:t>业务扩张过程中临时开放的测试环境未及</a:t>
                      </a:r>
                      <a:r>
                        <a:rPr lang="en-US" altLang="zh-CN" sz="1000" dirty="0">
                          <a:latin typeface="黑体" panose="02010609060101010101" charset="-122"/>
                          <a:ea typeface="黑体" panose="02010609060101010101" charset="-122"/>
                          <a:cs typeface="黑体" panose="02010609060101010101" charset="-122"/>
                        </a:rPr>
                        <a:t> </a:t>
                      </a:r>
                      <a:r>
                        <a:rPr lang="zh-CN" altLang="en-US" sz="1000" dirty="0">
                          <a:latin typeface="黑体" panose="02010609060101010101" charset="-122"/>
                          <a:ea typeface="黑体" panose="02010609060101010101" charset="-122"/>
                          <a:cs typeface="黑体" panose="02010609060101010101" charset="-122"/>
                        </a:rPr>
                        <a:t>时收回，缺乏统一的资产暴露审批和定期</a:t>
                      </a:r>
                      <a:r>
                        <a:rPr lang="en-US" altLang="zh-CN" sz="1000" dirty="0">
                          <a:latin typeface="黑体" panose="02010609060101010101" charset="-122"/>
                          <a:ea typeface="黑体" panose="02010609060101010101" charset="-122"/>
                          <a:cs typeface="黑体" panose="02010609060101010101" charset="-122"/>
                        </a:rPr>
                        <a:t> </a:t>
                      </a:r>
                      <a:r>
                        <a:rPr lang="zh-CN" altLang="en-US" sz="1000" dirty="0">
                          <a:latin typeface="黑体" panose="02010609060101010101" charset="-122"/>
                          <a:ea typeface="黑体" panose="02010609060101010101" charset="-122"/>
                          <a:cs typeface="黑体" panose="02010609060101010101" charset="-122"/>
                        </a:rPr>
                        <a:t>复查机制。</a:t>
                      </a:r>
                      <a:endParaRPr lang="zh-CN" altLang="en-US" sz="1000" dirty="0">
                        <a:latin typeface="黑体" panose="02010609060101010101" charset="-122"/>
                        <a:ea typeface="黑体" panose="02010609060101010101" charset="-122"/>
                        <a:cs typeface="黑体" panose="02010609060101010101" charset="-122"/>
                      </a:endParaRPr>
                    </a:p>
                  </a:txBody>
                  <a:tcPr marL="0" marR="0" marT="0" marB="0" vert="horz">
                    <a:lnL>
                      <a:noFill/>
                    </a:lnL>
                    <a:lnR>
                      <a:noFill/>
                    </a:lnR>
                    <a:lnT>
                      <a:noFill/>
                    </a:lnT>
                    <a:lnB>
                      <a:noFill/>
                    </a:lnB>
                    <a:solidFill>
                      <a:schemeClr val="accent4">
                        <a:lumMod val="20000"/>
                        <a:lumOff val="80000"/>
                      </a:schemeClr>
                    </a:solidFill>
                  </a:tcPr>
                </a:tc>
                <a:tc>
                  <a:txBody>
                    <a:bodyPr/>
                    <a:p>
                      <a:pPr algn="r" rtl="0" eaLnBrk="0">
                        <a:lnSpc>
                          <a:spcPct val="131000"/>
                        </a:lnSpc>
                      </a:pPr>
                      <a:r>
                        <a:rPr lang="en-US" sz="1200" kern="0" spc="-10" dirty="0">
                          <a:solidFill>
                            <a:srgbClr val="503020">
                              <a:alpha val="100000"/>
                            </a:srgbClr>
                          </a:solidFill>
                          <a:latin typeface="隶书" panose="02010509060101010101" charset="-122"/>
                          <a:ea typeface="隶书" panose="02010509060101010101" charset="-122"/>
                          <a:cs typeface="隶书" panose="02010509060101010101" charset="-122"/>
                        </a:rPr>
                        <a:t> </a:t>
                      </a:r>
                      <a:r>
                        <a:rPr sz="1200" kern="0" spc="-10" dirty="0">
                          <a:solidFill>
                            <a:schemeClr val="accent4">
                              <a:alpha val="100000"/>
                            </a:schemeClr>
                          </a:solidFill>
                          <a:latin typeface="隶书" panose="02010509060101010101" charset="-122"/>
                          <a:ea typeface="隶书" panose="02010509060101010101" charset="-122"/>
                          <a:cs typeface="隶书" panose="02010509060101010101" charset="-122"/>
                        </a:rPr>
                        <a:t>优先级：</a:t>
                      </a:r>
                      <a:r>
                        <a:rPr lang="zh-CN" sz="1200" kern="0" spc="-10" dirty="0">
                          <a:solidFill>
                            <a:schemeClr val="accent4">
                              <a:alpha val="100000"/>
                            </a:schemeClr>
                          </a:solidFill>
                          <a:latin typeface="隶书" panose="02010509060101010101" charset="-122"/>
                          <a:ea typeface="隶书" panose="02010509060101010101" charset="-122"/>
                          <a:cs typeface="隶书" panose="02010509060101010101" charset="-122"/>
                        </a:rPr>
                        <a:t>中</a:t>
                      </a:r>
                      <a:endParaRPr sz="600" dirty="0">
                        <a:latin typeface="隶书" panose="02010509060101010101" charset="-122"/>
                        <a:ea typeface="隶书" panose="02010509060101010101" charset="-122"/>
                        <a:cs typeface="隶书" panose="02010509060101010101" charset="-122"/>
                      </a:endParaRPr>
                    </a:p>
                    <a:p>
                      <a:pPr marL="90805" algn="l" rtl="0" eaLnBrk="0">
                        <a:lnSpc>
                          <a:spcPct val="100000"/>
                        </a:lnSpc>
                        <a:spcBef>
                          <a:spcPts val="600"/>
                        </a:spcBef>
                        <a:buClrTx/>
                        <a:buSzTx/>
                        <a:buNone/>
                      </a:pPr>
                      <a:r>
                        <a:rPr lang="zh-CN" altLang="en-US" sz="1000" dirty="0">
                          <a:latin typeface="黑体" panose="02010609060101010101" charset="-122"/>
                          <a:ea typeface="黑体" panose="02010609060101010101" charset="-122"/>
                          <a:cs typeface="黑体" panose="02010609060101010101" charset="-122"/>
                        </a:rPr>
                        <a:t>业务影响</a:t>
                      </a:r>
                      <a:endParaRPr lang="zh-CN" altLang="en-US" sz="1000" dirty="0">
                        <a:latin typeface="黑体" panose="02010609060101010101" charset="-122"/>
                        <a:ea typeface="黑体" panose="02010609060101010101" charset="-122"/>
                        <a:cs typeface="黑体" panose="02010609060101010101" charset="-122"/>
                      </a:endParaRPr>
                    </a:p>
                    <a:p>
                      <a:pPr marL="90805" algn="l" rtl="0" eaLnBrk="0">
                        <a:lnSpc>
                          <a:spcPct val="100000"/>
                        </a:lnSpc>
                        <a:spcBef>
                          <a:spcPts val="600"/>
                        </a:spcBef>
                        <a:buClrTx/>
                        <a:buSzTx/>
                        <a:buNone/>
                      </a:pPr>
                      <a:r>
                        <a:rPr lang="zh-CN" altLang="en-US" sz="1000" dirty="0">
                          <a:latin typeface="黑体" panose="02010609060101010101" charset="-122"/>
                          <a:ea typeface="黑体" panose="02010609060101010101" charset="-122"/>
                          <a:cs typeface="黑体" panose="02010609060101010101" charset="-122"/>
                        </a:rPr>
                        <a:t>·攻击面扩大，被攻击概率</a:t>
                      </a:r>
                      <a:r>
                        <a:rPr lang="zh-CN" altLang="en-US" sz="1000" dirty="0">
                          <a:latin typeface="黑体" panose="02010609060101010101" charset="-122"/>
                          <a:ea typeface="黑体" panose="02010609060101010101" charset="-122"/>
                          <a:cs typeface="黑体" panose="02010609060101010101" charset="-122"/>
                        </a:rPr>
                        <a:t>大幅增加；</a:t>
                      </a:r>
                      <a:endParaRPr lang="zh-CN" altLang="en-US" sz="1000" dirty="0">
                        <a:latin typeface="黑体" panose="02010609060101010101" charset="-122"/>
                        <a:ea typeface="黑体" panose="02010609060101010101" charset="-122"/>
                        <a:cs typeface="黑体" panose="02010609060101010101" charset="-122"/>
                      </a:endParaRPr>
                    </a:p>
                    <a:p>
                      <a:pPr marL="90805" algn="l" rtl="0" eaLnBrk="0">
                        <a:lnSpc>
                          <a:spcPct val="100000"/>
                        </a:lnSpc>
                        <a:spcBef>
                          <a:spcPts val="600"/>
                        </a:spcBef>
                        <a:buClrTx/>
                        <a:buSzTx/>
                        <a:buNone/>
                      </a:pPr>
                      <a:r>
                        <a:rPr lang="zh-CN" altLang="en-US" sz="1000" dirty="0">
                          <a:latin typeface="黑体" panose="02010609060101010101" charset="-122"/>
                          <a:ea typeface="黑体" panose="02010609060101010101" charset="-122"/>
                          <a:cs typeface="黑体" panose="02010609060101010101" charset="-122"/>
                        </a:rPr>
                        <a:t>·增加被监管通报风险，影响企业声誉；</a:t>
                      </a:r>
                      <a:endParaRPr lang="zh-CN" altLang="en-US" sz="1000" dirty="0">
                        <a:latin typeface="黑体" panose="02010609060101010101" charset="-122"/>
                        <a:ea typeface="黑体" panose="02010609060101010101" charset="-122"/>
                        <a:cs typeface="黑体" panose="02010609060101010101" charset="-122"/>
                      </a:endParaRPr>
                    </a:p>
                    <a:p>
                      <a:pPr marL="90805" algn="l" rtl="0" eaLnBrk="0">
                        <a:lnSpc>
                          <a:spcPct val="100000"/>
                        </a:lnSpc>
                        <a:spcBef>
                          <a:spcPts val="600"/>
                        </a:spcBef>
                        <a:buClrTx/>
                        <a:buSzTx/>
                        <a:buNone/>
                      </a:pPr>
                      <a:r>
                        <a:rPr lang="zh-CN" altLang="en-US" sz="1000" dirty="0">
                          <a:latin typeface="黑体" panose="02010609060101010101" charset="-122"/>
                          <a:ea typeface="黑体" panose="02010609060101010101" charset="-122"/>
                          <a:cs typeface="黑体" panose="02010609060101010101" charset="-122"/>
                        </a:rPr>
                        <a:t>解决方案</a:t>
                      </a:r>
                      <a:endParaRPr lang="zh-CN" altLang="en-US" sz="1000" dirty="0">
                        <a:latin typeface="黑体" panose="02010609060101010101" charset="-122"/>
                        <a:ea typeface="黑体" panose="02010609060101010101" charset="-122"/>
                        <a:cs typeface="黑体" panose="02010609060101010101" charset="-122"/>
                      </a:endParaRPr>
                    </a:p>
                    <a:p>
                      <a:pPr marL="90805" algn="l" rtl="0" eaLnBrk="0">
                        <a:lnSpc>
                          <a:spcPct val="100000"/>
                        </a:lnSpc>
                        <a:spcBef>
                          <a:spcPts val="600"/>
                        </a:spcBef>
                        <a:buClrTx/>
                        <a:buSzTx/>
                        <a:buNone/>
                      </a:pPr>
                      <a:r>
                        <a:rPr lang="zh-CN" altLang="en-US" sz="1000" dirty="0">
                          <a:latin typeface="黑体" panose="02010609060101010101" charset="-122"/>
                          <a:ea typeface="黑体" panose="02010609060101010101" charset="-122"/>
                          <a:cs typeface="黑体" panose="02010609060101010101" charset="-122"/>
                        </a:rPr>
                        <a:t>实施零信任访问架构，通过零信任/堡垒机规范远程访问，优化暴露面管理流程，对网络出口实施最小开放</a:t>
                      </a:r>
                      <a:r>
                        <a:rPr lang="zh-CN" altLang="en-US" sz="1000" dirty="0">
                          <a:latin typeface="黑体" panose="02010609060101010101" charset="-122"/>
                          <a:ea typeface="黑体" panose="02010609060101010101" charset="-122"/>
                          <a:cs typeface="黑体" panose="02010609060101010101" charset="-122"/>
                        </a:rPr>
                        <a:t>原则；</a:t>
                      </a:r>
                      <a:endParaRPr lang="zh-CN" altLang="en-US" sz="1000" dirty="0">
                        <a:latin typeface="黑体" panose="02010609060101010101" charset="-122"/>
                        <a:ea typeface="黑体" panose="02010609060101010101" charset="-122"/>
                        <a:cs typeface="黑体" panose="02010609060101010101" charset="-122"/>
                      </a:endParaRPr>
                    </a:p>
                    <a:p>
                      <a:pPr marL="90805" algn="l" rtl="0" eaLnBrk="0">
                        <a:lnSpc>
                          <a:spcPct val="100000"/>
                        </a:lnSpc>
                        <a:spcBef>
                          <a:spcPts val="600"/>
                        </a:spcBef>
                        <a:buClrTx/>
                        <a:buSzTx/>
                        <a:buNone/>
                      </a:pPr>
                      <a:r>
                        <a:rPr lang="zh-CN" altLang="en-US" sz="1000" dirty="0">
                          <a:latin typeface="黑体" panose="02010609060101010101" charset="-122"/>
                          <a:ea typeface="黑体" panose="02010609060101010101" charset="-122"/>
                          <a:cs typeface="黑体" panose="02010609060101010101" charset="-122"/>
                        </a:rPr>
                        <a:t>持续监测互联网暴露面，及时发现潜在的暴露</a:t>
                      </a:r>
                      <a:r>
                        <a:rPr lang="zh-CN" altLang="en-US" sz="1000" dirty="0">
                          <a:latin typeface="黑体" panose="02010609060101010101" charset="-122"/>
                          <a:ea typeface="黑体" panose="02010609060101010101" charset="-122"/>
                          <a:cs typeface="黑体" panose="02010609060101010101" charset="-122"/>
                        </a:rPr>
                        <a:t>风险。</a:t>
                      </a:r>
                      <a:endParaRPr lang="zh-CN" altLang="en-US" sz="1000" dirty="0">
                        <a:latin typeface="黑体" panose="02010609060101010101" charset="-122"/>
                        <a:ea typeface="黑体" panose="02010609060101010101" charset="-122"/>
                        <a:cs typeface="黑体" panose="02010609060101010101" charset="-122"/>
                      </a:endParaRPr>
                    </a:p>
                  </a:txBody>
                  <a:tcPr marL="0" marR="0" marT="0" marB="0" vert="horz">
                    <a:lnL>
                      <a:noFill/>
                    </a:lnL>
                    <a:lnR>
                      <a:noFill/>
                    </a:lnR>
                    <a:lnT>
                      <a:noFill/>
                    </a:lnT>
                    <a:lnB>
                      <a:noFill/>
                    </a:lnB>
                    <a:solidFill>
                      <a:schemeClr val="accent4">
                        <a:lumMod val="20000"/>
                        <a:lumOff val="80000"/>
                      </a:schemeClr>
                    </a:solidFill>
                  </a:tcPr>
                </a:tc>
              </a:tr>
            </a:tbl>
          </a:graphicData>
        </a:graphic>
      </p:graphicFrame>
      <p:graphicFrame>
        <p:nvGraphicFramePr>
          <p:cNvPr id="3" name="table 726"/>
          <p:cNvGraphicFramePr>
            <a:graphicFrameLocks noGrp="1"/>
          </p:cNvGraphicFramePr>
          <p:nvPr>
            <p:custDataLst>
              <p:tags r:id="rId3"/>
            </p:custDataLst>
          </p:nvPr>
        </p:nvGraphicFramePr>
        <p:xfrm>
          <a:off x="647700" y="3479165"/>
          <a:ext cx="5037455" cy="2154555"/>
        </p:xfrm>
        <a:graphic>
          <a:graphicData uri="http://schemas.openxmlformats.org/drawingml/2006/table">
            <a:tbl>
              <a:tblPr>
                <a:solidFill>
                  <a:srgbClr val="FCF2F1"/>
                </a:solidFill>
              </a:tblPr>
              <a:tblGrid>
                <a:gridCol w="2543175"/>
                <a:gridCol w="2494280"/>
              </a:tblGrid>
              <a:tr h="2154555">
                <a:tc>
                  <a:txBody>
                    <a:bodyPr/>
                    <a:p>
                      <a:pPr algn="l" rtl="0" eaLnBrk="0">
                        <a:lnSpc>
                          <a:spcPct val="150000"/>
                        </a:lnSpc>
                        <a:buClrTx/>
                        <a:buSzTx/>
                        <a:buFontTx/>
                      </a:pPr>
                      <a:r>
                        <a:rPr sz="1200" b="1" kern="0" spc="20" dirty="0">
                          <a:solidFill>
                            <a:srgbClr val="000000">
                              <a:alpha val="100000"/>
                            </a:srgbClr>
                          </a:solidFill>
                          <a:latin typeface="黑体" panose="02010609060101010101" charset="-122"/>
                          <a:ea typeface="黑体" panose="02010609060101010101" charset="-122"/>
                          <a:cs typeface="黑体" panose="02010609060101010101" charset="-122"/>
                        </a:rPr>
                        <a:t>●</a:t>
                      </a:r>
                      <a:r>
                        <a:rPr sz="1200" b="1"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关键业务系统防护盲区</a:t>
                      </a:r>
                      <a:endParaRPr sz="1200" b="1" kern="0" spc="20" dirty="0">
                        <a:solidFill>
                          <a:srgbClr val="000000">
                            <a:alpha val="100000"/>
                          </a:srgbClr>
                        </a:solidFill>
                        <a:latin typeface="黑体" panose="02010609060101010101" charset="-122"/>
                        <a:ea typeface="黑体" panose="02010609060101010101" charset="-122"/>
                        <a:cs typeface="黑体" panose="02010609060101010101" charset="-122"/>
                      </a:endParaRPr>
                    </a:p>
                    <a:p>
                      <a:pPr marL="90805" indent="0" algn="l" rtl="0" eaLnBrk="0" fontAlgn="auto">
                        <a:lnSpc>
                          <a:spcPct val="100000"/>
                        </a:lnSpc>
                        <a:spcBef>
                          <a:spcPts val="600"/>
                        </a:spcBef>
                      </a:pPr>
                      <a:r>
                        <a:rPr lang="zh-CN" altLang="en-US" sz="1000" b="1" dirty="0">
                          <a:latin typeface="黑体" panose="02010609060101010101" charset="-122"/>
                          <a:ea typeface="黑体" panose="02010609060101010101" charset="-122"/>
                          <a:cs typeface="黑体" panose="02010609060101010101" charset="-122"/>
                        </a:rPr>
                        <a:t>问题描述</a:t>
                      </a:r>
                      <a:endParaRPr lang="zh-CN" altLang="en-US" sz="1000" b="1" dirty="0">
                        <a:latin typeface="黑体" panose="02010609060101010101" charset="-122"/>
                        <a:ea typeface="黑体" panose="02010609060101010101" charset="-122"/>
                        <a:cs typeface="黑体" panose="02010609060101010101" charset="-122"/>
                      </a:endParaRPr>
                    </a:p>
                    <a:p>
                      <a:pPr marL="90805" indent="0" algn="l" rtl="0" eaLnBrk="0" fontAlgn="auto">
                        <a:lnSpc>
                          <a:spcPct val="100000"/>
                        </a:lnSpc>
                        <a:spcBef>
                          <a:spcPts val="600"/>
                        </a:spcBef>
                      </a:pPr>
                      <a:r>
                        <a:rPr lang="en-US" altLang="zh-CN" sz="1000" dirty="0">
                          <a:latin typeface="黑体" panose="02010609060101010101" charset="-122"/>
                          <a:ea typeface="黑体" panose="02010609060101010101" charset="-122"/>
                          <a:cs typeface="黑体" panose="02010609060101010101" charset="-122"/>
                        </a:rPr>
                        <a:t>XX</a:t>
                      </a:r>
                      <a:r>
                        <a:rPr lang="zh-CN" altLang="en-US" sz="1000" dirty="0">
                          <a:latin typeface="黑体" panose="02010609060101010101" charset="-122"/>
                          <a:ea typeface="黑体" panose="02010609060101010101" charset="-122"/>
                          <a:cs typeface="黑体" panose="02010609060101010101" charset="-122"/>
                        </a:rPr>
                        <a:t>系统、</a:t>
                      </a:r>
                      <a:r>
                        <a:rPr lang="en-US" altLang="zh-CN" sz="1000" dirty="0">
                          <a:latin typeface="黑体" panose="02010609060101010101" charset="-122"/>
                          <a:ea typeface="黑体" panose="02010609060101010101" charset="-122"/>
                          <a:cs typeface="黑体" panose="02010609060101010101" charset="-122"/>
                        </a:rPr>
                        <a:t>XX</a:t>
                      </a:r>
                      <a:r>
                        <a:rPr lang="zh-CN" altLang="en-US" sz="1000" dirty="0">
                          <a:latin typeface="黑体" panose="02010609060101010101" charset="-122"/>
                          <a:ea typeface="黑体" panose="02010609060101010101" charset="-122"/>
                          <a:cs typeface="黑体" panose="02010609060101010101" charset="-122"/>
                        </a:rPr>
                        <a:t>系统等</a:t>
                      </a:r>
                      <a:r>
                        <a:rPr lang="en-US" altLang="zh-CN" sz="1000" dirty="0">
                          <a:latin typeface="黑体" panose="02010609060101010101" charset="-122"/>
                          <a:ea typeface="黑体" panose="02010609060101010101" charset="-122"/>
                          <a:cs typeface="黑体" panose="02010609060101010101" charset="-122"/>
                        </a:rPr>
                        <a:t>X</a:t>
                      </a:r>
                      <a:r>
                        <a:rPr lang="zh-CN" altLang="en-US" sz="1000" dirty="0">
                          <a:latin typeface="黑体" panose="02010609060101010101" charset="-122"/>
                          <a:ea typeface="黑体" panose="02010609060101010101" charset="-122"/>
                          <a:cs typeface="黑体" panose="02010609060101010101" charset="-122"/>
                        </a:rPr>
                        <a:t>个核心业务系统未纳入</a:t>
                      </a:r>
                      <a:r>
                        <a:rPr lang="en-US" altLang="zh-CN" sz="1000" dirty="0">
                          <a:latin typeface="黑体" panose="02010609060101010101" charset="-122"/>
                          <a:ea typeface="黑体" panose="02010609060101010101" charset="-122"/>
                          <a:cs typeface="黑体" panose="02010609060101010101" charset="-122"/>
                        </a:rPr>
                        <a:t>7*24</a:t>
                      </a:r>
                      <a:r>
                        <a:rPr lang="zh-CN" altLang="en-US" sz="1000" dirty="0">
                          <a:latin typeface="黑体" panose="02010609060101010101" charset="-122"/>
                          <a:ea typeface="黑体" panose="02010609060101010101" charset="-122"/>
                          <a:cs typeface="黑体" panose="02010609060101010101" charset="-122"/>
                        </a:rPr>
                        <a:t>小时保障范围，缺乏实时监控与</a:t>
                      </a:r>
                      <a:r>
                        <a:rPr lang="zh-CN" altLang="en-US" sz="1000" dirty="0">
                          <a:latin typeface="黑体" panose="02010609060101010101" charset="-122"/>
                          <a:ea typeface="黑体" panose="02010609060101010101" charset="-122"/>
                          <a:cs typeface="黑体" panose="02010609060101010101" charset="-122"/>
                        </a:rPr>
                        <a:t>响应。</a:t>
                      </a:r>
                      <a:endParaRPr lang="zh-CN" altLang="en-US" sz="1000" dirty="0">
                        <a:latin typeface="黑体" panose="02010609060101010101" charset="-122"/>
                        <a:ea typeface="黑体" panose="02010609060101010101" charset="-122"/>
                        <a:cs typeface="黑体" panose="02010609060101010101" charset="-122"/>
                      </a:endParaRPr>
                    </a:p>
                    <a:p>
                      <a:pPr marL="90805" indent="0" algn="l" rtl="0" eaLnBrk="0" fontAlgn="auto">
                        <a:lnSpc>
                          <a:spcPct val="100000"/>
                        </a:lnSpc>
                        <a:spcBef>
                          <a:spcPts val="600"/>
                        </a:spcBef>
                      </a:pPr>
                      <a:r>
                        <a:rPr lang="en-US" altLang="zh-CN" sz="1000" dirty="0">
                          <a:latin typeface="黑体" panose="02010609060101010101" charset="-122"/>
                          <a:ea typeface="黑体" panose="02010609060101010101" charset="-122"/>
                          <a:cs typeface="黑体" panose="02010609060101010101" charset="-122"/>
                        </a:rPr>
                        <a:t>XX</a:t>
                      </a:r>
                      <a:r>
                        <a:rPr lang="zh-CN" altLang="en-US" sz="1000" dirty="0">
                          <a:latin typeface="黑体" panose="02010609060101010101" charset="-122"/>
                          <a:ea typeface="黑体" panose="02010609060101010101" charset="-122"/>
                          <a:cs typeface="黑体" panose="02010609060101010101" charset="-122"/>
                        </a:rPr>
                        <a:t>系统缺少端点安全保护组件，无法应对钓鱼等高级威胁手段，发生异常时不能及时</a:t>
                      </a:r>
                      <a:r>
                        <a:rPr lang="zh-CN" altLang="en-US" sz="1000" dirty="0">
                          <a:latin typeface="黑体" panose="02010609060101010101" charset="-122"/>
                          <a:ea typeface="黑体" panose="02010609060101010101" charset="-122"/>
                          <a:cs typeface="黑体" panose="02010609060101010101" charset="-122"/>
                        </a:rPr>
                        <a:t>处置</a:t>
                      </a:r>
                      <a:endParaRPr lang="zh-CN" altLang="en-US" sz="1000" dirty="0">
                        <a:latin typeface="黑体" panose="02010609060101010101" charset="-122"/>
                        <a:ea typeface="黑体" panose="02010609060101010101" charset="-122"/>
                        <a:cs typeface="黑体" panose="02010609060101010101" charset="-122"/>
                      </a:endParaRPr>
                    </a:p>
                    <a:p>
                      <a:pPr marL="90805" indent="0" algn="l" rtl="0" eaLnBrk="0" fontAlgn="auto">
                        <a:lnSpc>
                          <a:spcPct val="100000"/>
                        </a:lnSpc>
                        <a:spcBef>
                          <a:spcPts val="600"/>
                        </a:spcBef>
                      </a:pPr>
                      <a:r>
                        <a:rPr lang="zh-CN" altLang="en-US" sz="1000" b="1" dirty="0">
                          <a:latin typeface="黑体" panose="02010609060101010101" charset="-122"/>
                          <a:ea typeface="黑体" panose="02010609060101010101" charset="-122"/>
                          <a:cs typeface="黑体" panose="02010609060101010101" charset="-122"/>
                        </a:rPr>
                        <a:t>根因分析</a:t>
                      </a:r>
                      <a:endParaRPr lang="zh-CN" altLang="en-US" sz="1000" b="1" dirty="0">
                        <a:latin typeface="黑体" panose="02010609060101010101" charset="-122"/>
                        <a:ea typeface="黑体" panose="02010609060101010101" charset="-122"/>
                        <a:cs typeface="黑体" panose="02010609060101010101" charset="-122"/>
                      </a:endParaRPr>
                    </a:p>
                    <a:p>
                      <a:pPr marL="90805" indent="0" algn="l" rtl="0" eaLnBrk="0" fontAlgn="auto">
                        <a:lnSpc>
                          <a:spcPct val="100000"/>
                        </a:lnSpc>
                        <a:spcBef>
                          <a:spcPts val="600"/>
                        </a:spcBef>
                      </a:pPr>
                      <a:r>
                        <a:rPr lang="zh-CN" altLang="en-US" sz="1000" dirty="0">
                          <a:latin typeface="黑体" panose="02010609060101010101" charset="-122"/>
                          <a:ea typeface="黑体" panose="02010609060101010101" charset="-122"/>
                          <a:cs typeface="黑体" panose="02010609060101010101" charset="-122"/>
                        </a:rPr>
                        <a:t>业务扩张过程中临时开放的测试环境未及</a:t>
                      </a:r>
                      <a:r>
                        <a:rPr lang="en-US" altLang="zh-CN" sz="1000" dirty="0">
                          <a:latin typeface="黑体" panose="02010609060101010101" charset="-122"/>
                          <a:ea typeface="黑体" panose="02010609060101010101" charset="-122"/>
                          <a:cs typeface="黑体" panose="02010609060101010101" charset="-122"/>
                        </a:rPr>
                        <a:t> </a:t>
                      </a:r>
                      <a:r>
                        <a:rPr lang="zh-CN" altLang="en-US" sz="1000" dirty="0">
                          <a:latin typeface="黑体" panose="02010609060101010101" charset="-122"/>
                          <a:ea typeface="黑体" panose="02010609060101010101" charset="-122"/>
                          <a:cs typeface="黑体" panose="02010609060101010101" charset="-122"/>
                        </a:rPr>
                        <a:t>时收回，缺乏统一的资产暴露审批和定期</a:t>
                      </a:r>
                      <a:r>
                        <a:rPr lang="en-US" altLang="zh-CN" sz="1000" dirty="0">
                          <a:latin typeface="黑体" panose="02010609060101010101" charset="-122"/>
                          <a:ea typeface="黑体" panose="02010609060101010101" charset="-122"/>
                          <a:cs typeface="黑体" panose="02010609060101010101" charset="-122"/>
                        </a:rPr>
                        <a:t> </a:t>
                      </a:r>
                      <a:r>
                        <a:rPr lang="zh-CN" altLang="en-US" sz="1000" dirty="0">
                          <a:latin typeface="黑体" panose="02010609060101010101" charset="-122"/>
                          <a:ea typeface="黑体" panose="02010609060101010101" charset="-122"/>
                          <a:cs typeface="黑体" panose="02010609060101010101" charset="-122"/>
                        </a:rPr>
                        <a:t>复查机制。</a:t>
                      </a:r>
                      <a:endParaRPr lang="zh-CN" altLang="en-US" sz="1000" dirty="0">
                        <a:latin typeface="黑体" panose="02010609060101010101" charset="-122"/>
                        <a:ea typeface="黑体" panose="02010609060101010101" charset="-122"/>
                        <a:cs typeface="黑体" panose="02010609060101010101" charset="-122"/>
                      </a:endParaRPr>
                    </a:p>
                  </a:txBody>
                  <a:tcPr marL="0" marR="0" marT="0" marB="0" vert="horz">
                    <a:lnL>
                      <a:noFill/>
                    </a:lnL>
                    <a:lnR>
                      <a:noFill/>
                    </a:lnR>
                    <a:lnT>
                      <a:noFill/>
                    </a:lnT>
                    <a:lnB>
                      <a:noFill/>
                    </a:lnB>
                    <a:solidFill>
                      <a:schemeClr val="accent5">
                        <a:lumMod val="20000"/>
                        <a:lumOff val="80000"/>
                      </a:schemeClr>
                    </a:solidFill>
                  </a:tcPr>
                </a:tc>
                <a:tc>
                  <a:txBody>
                    <a:bodyPr/>
                    <a:p>
                      <a:pPr algn="r" rtl="0" eaLnBrk="0">
                        <a:lnSpc>
                          <a:spcPct val="131000"/>
                        </a:lnSpc>
                      </a:pPr>
                      <a:r>
                        <a:rPr lang="en-US" sz="1200" kern="0" spc="-10" dirty="0">
                          <a:solidFill>
                            <a:srgbClr val="503020">
                              <a:alpha val="100000"/>
                            </a:srgbClr>
                          </a:solidFill>
                          <a:latin typeface="隶书" panose="02010509060101010101" charset="-122"/>
                          <a:ea typeface="隶书" panose="02010509060101010101" charset="-122"/>
                          <a:cs typeface="隶书" panose="02010509060101010101" charset="-122"/>
                        </a:rPr>
                        <a:t> </a:t>
                      </a:r>
                      <a:r>
                        <a:rPr sz="1200" kern="0" spc="-10" dirty="0">
                          <a:solidFill>
                            <a:schemeClr val="accent4">
                              <a:alpha val="100000"/>
                            </a:schemeClr>
                          </a:solidFill>
                          <a:latin typeface="隶书" panose="02010509060101010101" charset="-122"/>
                          <a:ea typeface="隶书" panose="02010509060101010101" charset="-122"/>
                          <a:cs typeface="隶书" panose="02010509060101010101" charset="-122"/>
                        </a:rPr>
                        <a:t>优先级：</a:t>
                      </a:r>
                      <a:r>
                        <a:rPr lang="zh-CN" sz="1200" kern="0" spc="-10" dirty="0">
                          <a:solidFill>
                            <a:schemeClr val="accent4">
                              <a:alpha val="100000"/>
                            </a:schemeClr>
                          </a:solidFill>
                          <a:latin typeface="隶书" panose="02010509060101010101" charset="-122"/>
                          <a:ea typeface="隶书" panose="02010509060101010101" charset="-122"/>
                          <a:cs typeface="隶书" panose="02010509060101010101" charset="-122"/>
                        </a:rPr>
                        <a:t>中</a:t>
                      </a:r>
                      <a:endParaRPr sz="600" dirty="0">
                        <a:latin typeface="隶书" panose="02010509060101010101" charset="-122"/>
                        <a:ea typeface="隶书" panose="02010509060101010101" charset="-122"/>
                        <a:cs typeface="隶书" panose="02010509060101010101" charset="-122"/>
                      </a:endParaRPr>
                    </a:p>
                    <a:p>
                      <a:pPr marL="90805" algn="l" rtl="0" eaLnBrk="0">
                        <a:lnSpc>
                          <a:spcPct val="100000"/>
                        </a:lnSpc>
                        <a:spcBef>
                          <a:spcPts val="600"/>
                        </a:spcBef>
                        <a:buClrTx/>
                        <a:buSzTx/>
                        <a:buNone/>
                      </a:pPr>
                      <a:r>
                        <a:rPr lang="zh-CN" altLang="en-US" sz="1000" b="1" dirty="0">
                          <a:latin typeface="黑体" panose="02010609060101010101" charset="-122"/>
                          <a:ea typeface="黑体" panose="02010609060101010101" charset="-122"/>
                          <a:cs typeface="黑体" panose="02010609060101010101" charset="-122"/>
                        </a:rPr>
                        <a:t>业务影响</a:t>
                      </a:r>
                      <a:endParaRPr lang="zh-CN" altLang="en-US" sz="1000" b="1" dirty="0">
                        <a:latin typeface="黑体" panose="02010609060101010101" charset="-122"/>
                        <a:ea typeface="黑体" panose="02010609060101010101" charset="-122"/>
                        <a:cs typeface="黑体" panose="02010609060101010101" charset="-122"/>
                      </a:endParaRPr>
                    </a:p>
                    <a:p>
                      <a:pPr marL="126365" indent="-100965" algn="l" rtl="0" eaLnBrk="0">
                        <a:lnSpc>
                          <a:spcPct val="110000"/>
                        </a:lnSpc>
                        <a:spcBef>
                          <a:spcPts val="440"/>
                        </a:spcBef>
                      </a:pPr>
                      <a:r>
                        <a:rPr sz="10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·业务核心系统存在</a:t>
                      </a:r>
                      <a:r>
                        <a:rPr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安全盲区，可能</a:t>
                      </a:r>
                      <a:r>
                        <a:rPr lang="zh-CN"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导致安全入侵无法主动发现，造成业务损失</a:t>
                      </a:r>
                      <a:endParaRPr sz="1000" dirty="0">
                        <a:latin typeface="黑体" panose="02010609060101010101" charset="-122"/>
                        <a:ea typeface="黑体" panose="02010609060101010101" charset="-122"/>
                        <a:cs typeface="黑体" panose="02010609060101010101" charset="-122"/>
                      </a:endParaRPr>
                    </a:p>
                    <a:p>
                      <a:pPr marL="126365" indent="-100965" algn="l" rtl="0" eaLnBrk="0">
                        <a:lnSpc>
                          <a:spcPct val="106000"/>
                        </a:lnSpc>
                        <a:spcBef>
                          <a:spcPts val="130"/>
                        </a:spcBef>
                      </a:pPr>
                      <a:r>
                        <a:rPr sz="10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·员工和客户数据保</a:t>
                      </a:r>
                      <a:r>
                        <a:rPr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护不足，</a:t>
                      </a:r>
                      <a:r>
                        <a:rPr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增</a:t>
                      </a:r>
                      <a:r>
                        <a:rPr sz="10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加</a:t>
                      </a:r>
                      <a:r>
                        <a:rPr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合规风险</a:t>
                      </a:r>
                      <a:endParaRPr sz="1000" dirty="0">
                        <a:latin typeface="黑体" panose="02010609060101010101" charset="-122"/>
                        <a:ea typeface="黑体" panose="02010609060101010101" charset="-122"/>
                        <a:cs typeface="黑体" panose="02010609060101010101" charset="-122"/>
                      </a:endParaRPr>
                    </a:p>
                    <a:p>
                      <a:pPr marL="126365" indent="-100965" algn="l" rtl="0" eaLnBrk="0">
                        <a:lnSpc>
                          <a:spcPct val="110000"/>
                        </a:lnSpc>
                        <a:spcBef>
                          <a:spcPts val="10"/>
                        </a:spcBef>
                      </a:pPr>
                      <a:r>
                        <a:rPr sz="10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·安全事件</a:t>
                      </a:r>
                      <a:r>
                        <a:rPr lang="zh-CN" sz="10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响应滞后</a:t>
                      </a:r>
                      <a:r>
                        <a:rPr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，响应时间延长</a:t>
                      </a:r>
                      <a:endParaRPr sz="1000" dirty="0">
                        <a:latin typeface="黑体" panose="02010609060101010101" charset="-122"/>
                        <a:ea typeface="黑体" panose="02010609060101010101" charset="-122"/>
                        <a:cs typeface="黑体" panose="02010609060101010101" charset="-122"/>
                      </a:endParaRPr>
                    </a:p>
                    <a:p>
                      <a:pPr marL="90805" algn="l" rtl="0" eaLnBrk="0">
                        <a:lnSpc>
                          <a:spcPct val="100000"/>
                        </a:lnSpc>
                        <a:spcBef>
                          <a:spcPts val="600"/>
                        </a:spcBef>
                        <a:buClrTx/>
                        <a:buSzTx/>
                        <a:buNone/>
                      </a:pPr>
                      <a:r>
                        <a:rPr lang="zh-CN" altLang="en-US" sz="1000" b="1" dirty="0">
                          <a:latin typeface="黑体" panose="02010609060101010101" charset="-122"/>
                          <a:ea typeface="黑体" panose="02010609060101010101" charset="-122"/>
                          <a:cs typeface="黑体" panose="02010609060101010101" charset="-122"/>
                        </a:rPr>
                        <a:t>解决方案</a:t>
                      </a:r>
                      <a:endParaRPr lang="zh-CN" altLang="en-US" sz="1000" b="1" dirty="0">
                        <a:latin typeface="黑体" panose="02010609060101010101" charset="-122"/>
                        <a:ea typeface="黑体" panose="02010609060101010101" charset="-122"/>
                        <a:cs typeface="黑体" panose="02010609060101010101" charset="-122"/>
                      </a:endParaRPr>
                    </a:p>
                    <a:p>
                      <a:pPr marL="90805" algn="l" rtl="0" eaLnBrk="0">
                        <a:lnSpc>
                          <a:spcPct val="100000"/>
                        </a:lnSpc>
                        <a:spcBef>
                          <a:spcPts val="600"/>
                        </a:spcBef>
                        <a:buClrTx/>
                        <a:buSzTx/>
                        <a:buFontTx/>
                        <a:buNone/>
                      </a:pPr>
                      <a:r>
                        <a:rPr lang="en-US" altLang="zh-CN" sz="1000" dirty="0">
                          <a:latin typeface="黑体" panose="02010609060101010101" charset="-122"/>
                          <a:ea typeface="黑体" panose="02010609060101010101" charset="-122"/>
                          <a:cs typeface="黑体" panose="02010609060101010101" charset="-122"/>
                          <a:sym typeface="+mn-ea"/>
                        </a:rPr>
                        <a:t>扩大安全运营覆盖范围，为关键业务系统部署专项防护，并建立业务资产自动发现与安全纳管机制。</a:t>
                      </a:r>
                      <a:endParaRPr lang="en-US" altLang="zh-CN" sz="1000" b="0" dirty="0">
                        <a:latin typeface="黑体" panose="02010609060101010101" charset="-122"/>
                        <a:ea typeface="黑体" panose="02010609060101010101" charset="-122"/>
                        <a:cs typeface="黑体" panose="02010609060101010101" charset="-122"/>
                      </a:endParaRPr>
                    </a:p>
                  </a:txBody>
                  <a:tcPr marL="0" marR="0" marT="0" marB="0" vert="horz">
                    <a:lnL>
                      <a:noFill/>
                    </a:lnL>
                    <a:lnR>
                      <a:noFill/>
                    </a:lnR>
                    <a:lnT>
                      <a:noFill/>
                    </a:lnT>
                    <a:lnB>
                      <a:noFill/>
                    </a:lnB>
                    <a:solidFill>
                      <a:schemeClr val="accent5">
                        <a:lumMod val="20000"/>
                        <a:lumOff val="80000"/>
                      </a:schemeClr>
                    </a:solidFill>
                  </a:tcPr>
                </a:tc>
              </a:tr>
            </a:tbl>
          </a:graphicData>
        </a:graphic>
      </p:graphicFrame>
      <p:graphicFrame>
        <p:nvGraphicFramePr>
          <p:cNvPr id="4" name="table 726"/>
          <p:cNvGraphicFramePr>
            <a:graphicFrameLocks noGrp="1"/>
          </p:cNvGraphicFramePr>
          <p:nvPr>
            <p:custDataLst>
              <p:tags r:id="rId4"/>
            </p:custDataLst>
          </p:nvPr>
        </p:nvGraphicFramePr>
        <p:xfrm>
          <a:off x="6103620" y="3479165"/>
          <a:ext cx="5037455" cy="2154555"/>
        </p:xfrm>
        <a:graphic>
          <a:graphicData uri="http://schemas.openxmlformats.org/drawingml/2006/table">
            <a:tbl>
              <a:tblPr>
                <a:solidFill>
                  <a:srgbClr val="FCF2F1"/>
                </a:solidFill>
              </a:tblPr>
              <a:tblGrid>
                <a:gridCol w="2543175"/>
                <a:gridCol w="2494280"/>
              </a:tblGrid>
              <a:tr h="2154555">
                <a:tc>
                  <a:txBody>
                    <a:bodyPr/>
                    <a:p>
                      <a:pPr algn="l" rtl="0" eaLnBrk="0">
                        <a:lnSpc>
                          <a:spcPct val="150000"/>
                        </a:lnSpc>
                        <a:buClrTx/>
                        <a:buSzTx/>
                        <a:buFontTx/>
                      </a:pPr>
                      <a:r>
                        <a:rPr sz="1200" b="1" kern="0" spc="20" dirty="0">
                          <a:solidFill>
                            <a:srgbClr val="000000">
                              <a:alpha val="100000"/>
                            </a:srgbClr>
                          </a:solidFill>
                          <a:latin typeface="黑体" panose="02010609060101010101" charset="-122"/>
                          <a:ea typeface="黑体" panose="02010609060101010101" charset="-122"/>
                          <a:cs typeface="黑体" panose="02010609060101010101" charset="-122"/>
                        </a:rPr>
                        <a:t>●</a:t>
                      </a:r>
                      <a:r>
                        <a:rPr lang="zh-CN" altLang="en-US" sz="1200" b="1" kern="0" spc="20" dirty="0">
                          <a:solidFill>
                            <a:srgbClr val="000000">
                              <a:alpha val="100000"/>
                            </a:srgbClr>
                          </a:solidFill>
                          <a:latin typeface="黑体" panose="02010609060101010101" charset="-122"/>
                          <a:ea typeface="黑体" panose="02010609060101010101" charset="-122"/>
                          <a:cs typeface="黑体" panose="02010609060101010101" charset="-122"/>
                        </a:rPr>
                        <a:t>安全事件监测与处置流程效率低</a:t>
                      </a:r>
                      <a:endParaRPr lang="en-US" altLang="zh-CN" sz="1200" b="1" kern="0" spc="20" dirty="0">
                        <a:solidFill>
                          <a:srgbClr val="000000">
                            <a:alpha val="100000"/>
                          </a:srgbClr>
                        </a:solidFill>
                        <a:latin typeface="黑体" panose="02010609060101010101" charset="-122"/>
                        <a:ea typeface="黑体" panose="02010609060101010101" charset="-122"/>
                        <a:cs typeface="黑体" panose="02010609060101010101" charset="-122"/>
                      </a:endParaRPr>
                    </a:p>
                    <a:p>
                      <a:pPr marL="90805" indent="0" algn="l" rtl="0" eaLnBrk="0" fontAlgn="auto">
                        <a:lnSpc>
                          <a:spcPct val="100000"/>
                        </a:lnSpc>
                        <a:spcBef>
                          <a:spcPts val="600"/>
                        </a:spcBef>
                      </a:pPr>
                      <a:r>
                        <a:rPr lang="zh-CN" altLang="en-US" sz="1000" b="1" dirty="0">
                          <a:latin typeface="黑体" panose="02010609060101010101" charset="-122"/>
                          <a:ea typeface="黑体" panose="02010609060101010101" charset="-122"/>
                          <a:cs typeface="黑体" panose="02010609060101010101" charset="-122"/>
                        </a:rPr>
                        <a:t>问题描述</a:t>
                      </a:r>
                      <a:endParaRPr lang="zh-CN" altLang="en-US" sz="1000" b="1" dirty="0">
                        <a:latin typeface="黑体" panose="02010609060101010101" charset="-122"/>
                        <a:ea typeface="黑体" panose="02010609060101010101" charset="-122"/>
                        <a:cs typeface="黑体" panose="02010609060101010101" charset="-122"/>
                      </a:endParaRPr>
                    </a:p>
                    <a:p>
                      <a:pPr marL="90805" indent="0" algn="l" rtl="0" eaLnBrk="0" fontAlgn="auto">
                        <a:lnSpc>
                          <a:spcPct val="100000"/>
                        </a:lnSpc>
                        <a:spcBef>
                          <a:spcPts val="600"/>
                        </a:spcBef>
                      </a:pPr>
                      <a:r>
                        <a:rPr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事件监测主要依赖网络侧</a:t>
                      </a:r>
                      <a:r>
                        <a:rPr sz="1000" kern="0" spc="-30" dirty="0">
                          <a:solidFill>
                            <a:srgbClr val="000000">
                              <a:alpha val="100000"/>
                            </a:srgbClr>
                          </a:solidFill>
                          <a:latin typeface="黑体" panose="02010609060101010101" charset="-122"/>
                          <a:ea typeface="黑体" panose="02010609060101010101" charset="-122"/>
                          <a:cs typeface="黑体" panose="02010609060101010101" charset="-122"/>
                          <a:sym typeface="+mn-ea"/>
                        </a:rPr>
                        <a:t>流量，缺乏终端</a:t>
                      </a:r>
                      <a:r>
                        <a:rPr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侧监控，导致安全事件发</a:t>
                      </a:r>
                      <a:r>
                        <a:rPr sz="1000" kern="0" spc="-30" dirty="0">
                          <a:solidFill>
                            <a:srgbClr val="000000">
                              <a:alpha val="100000"/>
                            </a:srgbClr>
                          </a:solidFill>
                          <a:latin typeface="黑体" panose="02010609060101010101" charset="-122"/>
                          <a:ea typeface="黑体" panose="02010609060101010101" charset="-122"/>
                          <a:cs typeface="黑体" panose="02010609060101010101" charset="-122"/>
                          <a:sym typeface="+mn-ea"/>
                        </a:rPr>
                        <a:t>现不全面，处置</a:t>
                      </a:r>
                      <a:r>
                        <a:rPr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效率低下</a:t>
                      </a:r>
                      <a:endParaRPr lang="zh-CN" altLang="en-US" sz="1000" dirty="0">
                        <a:latin typeface="黑体" panose="02010609060101010101" charset="-122"/>
                        <a:ea typeface="黑体" panose="02010609060101010101" charset="-122"/>
                        <a:cs typeface="黑体" panose="02010609060101010101" charset="-122"/>
                      </a:endParaRPr>
                    </a:p>
                    <a:p>
                      <a:pPr marL="90805" indent="0" algn="l" rtl="0" eaLnBrk="0" fontAlgn="auto">
                        <a:lnSpc>
                          <a:spcPct val="100000"/>
                        </a:lnSpc>
                        <a:spcBef>
                          <a:spcPts val="600"/>
                        </a:spcBef>
                      </a:pPr>
                      <a:r>
                        <a:rPr lang="zh-CN" altLang="en-US" sz="1000" b="1" dirty="0">
                          <a:latin typeface="黑体" panose="02010609060101010101" charset="-122"/>
                          <a:ea typeface="黑体" panose="02010609060101010101" charset="-122"/>
                          <a:cs typeface="黑体" panose="02010609060101010101" charset="-122"/>
                        </a:rPr>
                        <a:t>根因分析</a:t>
                      </a:r>
                      <a:endParaRPr lang="zh-CN" altLang="en-US" sz="1000" b="1" dirty="0">
                        <a:latin typeface="黑体" panose="02010609060101010101" charset="-122"/>
                        <a:ea typeface="黑体" panose="02010609060101010101" charset="-122"/>
                        <a:cs typeface="黑体" panose="02010609060101010101" charset="-122"/>
                      </a:endParaRPr>
                    </a:p>
                    <a:p>
                      <a:pPr marL="90805" indent="0" algn="l" rtl="0" eaLnBrk="0" fontAlgn="auto">
                        <a:lnSpc>
                          <a:spcPct val="100000"/>
                        </a:lnSpc>
                        <a:spcBef>
                          <a:spcPts val="600"/>
                        </a:spcBef>
                      </a:pPr>
                      <a:r>
                        <a:rPr sz="1000" kern="0" spc="-30" dirty="0">
                          <a:solidFill>
                            <a:srgbClr val="000000">
                              <a:alpha val="100000"/>
                            </a:srgbClr>
                          </a:solidFill>
                          <a:latin typeface="黑体" panose="02010609060101010101" charset="-122"/>
                          <a:ea typeface="黑体" panose="02010609060101010101" charset="-122"/>
                          <a:cs typeface="黑体" panose="02010609060101010101" charset="-122"/>
                          <a:sym typeface="+mn-ea"/>
                        </a:rPr>
                        <a:t>终端防护部署不足，监测技术单一，自动</a:t>
                      </a:r>
                      <a:r>
                        <a:rPr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化响应流程缺失，导</a:t>
                      </a:r>
                      <a:r>
                        <a:rPr sz="1000" kern="0" spc="-30" dirty="0">
                          <a:solidFill>
                            <a:srgbClr val="000000">
                              <a:alpha val="100000"/>
                            </a:srgbClr>
                          </a:solidFill>
                          <a:latin typeface="黑体" panose="02010609060101010101" charset="-122"/>
                          <a:ea typeface="黑体" panose="02010609060101010101" charset="-122"/>
                          <a:cs typeface="黑体" panose="02010609060101010101" charset="-122"/>
                          <a:sym typeface="+mn-ea"/>
                        </a:rPr>
                        <a:t>致大量人工处置工</a:t>
                      </a:r>
                      <a:r>
                        <a:rPr lang="zh-CN" altLang="en-US" sz="1000" dirty="0">
                          <a:latin typeface="黑体" panose="02010609060101010101" charset="-122"/>
                          <a:ea typeface="黑体" panose="02010609060101010101" charset="-122"/>
                          <a:cs typeface="黑体" panose="02010609060101010101" charset="-122"/>
                        </a:rPr>
                        <a:t>。</a:t>
                      </a:r>
                      <a:endParaRPr lang="zh-CN" altLang="en-US" sz="1000" dirty="0">
                        <a:latin typeface="黑体" panose="02010609060101010101" charset="-122"/>
                        <a:ea typeface="黑体" panose="02010609060101010101" charset="-122"/>
                        <a:cs typeface="黑体" panose="02010609060101010101" charset="-122"/>
                      </a:endParaRPr>
                    </a:p>
                  </a:txBody>
                  <a:tcPr marL="0" marR="0" marT="0" marB="0" vert="horz">
                    <a:lnL>
                      <a:noFill/>
                    </a:lnL>
                    <a:lnR>
                      <a:noFill/>
                    </a:lnR>
                    <a:lnT>
                      <a:noFill/>
                    </a:lnT>
                    <a:lnB>
                      <a:noFill/>
                    </a:lnB>
                    <a:solidFill>
                      <a:schemeClr val="accent6">
                        <a:lumMod val="20000"/>
                        <a:lumOff val="80000"/>
                      </a:schemeClr>
                    </a:solidFill>
                  </a:tcPr>
                </a:tc>
                <a:tc>
                  <a:txBody>
                    <a:bodyPr/>
                    <a:p>
                      <a:pPr algn="r" rtl="0" eaLnBrk="0">
                        <a:lnSpc>
                          <a:spcPct val="131000"/>
                        </a:lnSpc>
                      </a:pPr>
                      <a:r>
                        <a:rPr lang="en-US" sz="1200" kern="0" spc="-10" dirty="0">
                          <a:solidFill>
                            <a:srgbClr val="00B050">
                              <a:alpha val="100000"/>
                            </a:srgbClr>
                          </a:solidFill>
                          <a:latin typeface="隶书" panose="02010509060101010101" charset="-122"/>
                          <a:ea typeface="隶书" panose="02010509060101010101" charset="-122"/>
                          <a:cs typeface="隶书" panose="02010509060101010101" charset="-122"/>
                        </a:rPr>
                        <a:t> </a:t>
                      </a:r>
                      <a:r>
                        <a:rPr sz="1200" kern="0" spc="-10" dirty="0">
                          <a:solidFill>
                            <a:srgbClr val="00B050">
                              <a:alpha val="100000"/>
                            </a:srgbClr>
                          </a:solidFill>
                          <a:latin typeface="隶书" panose="02010509060101010101" charset="-122"/>
                          <a:ea typeface="隶书" panose="02010509060101010101" charset="-122"/>
                          <a:cs typeface="隶书" panose="02010509060101010101" charset="-122"/>
                        </a:rPr>
                        <a:t>优先级：</a:t>
                      </a:r>
                      <a:r>
                        <a:rPr lang="zh-CN" sz="1200" kern="0" spc="-10" dirty="0">
                          <a:solidFill>
                            <a:srgbClr val="00B050">
                              <a:alpha val="100000"/>
                            </a:srgbClr>
                          </a:solidFill>
                          <a:latin typeface="隶书" panose="02010509060101010101" charset="-122"/>
                          <a:ea typeface="隶书" panose="02010509060101010101" charset="-122"/>
                          <a:cs typeface="隶书" panose="02010509060101010101" charset="-122"/>
                        </a:rPr>
                        <a:t>低</a:t>
                      </a:r>
                      <a:endParaRPr sz="600" dirty="0">
                        <a:latin typeface="隶书" panose="02010509060101010101" charset="-122"/>
                        <a:ea typeface="隶书" panose="02010509060101010101" charset="-122"/>
                        <a:cs typeface="隶书" panose="02010509060101010101" charset="-122"/>
                      </a:endParaRPr>
                    </a:p>
                    <a:p>
                      <a:pPr marL="90805" algn="l" rtl="0" eaLnBrk="0">
                        <a:lnSpc>
                          <a:spcPct val="100000"/>
                        </a:lnSpc>
                        <a:spcBef>
                          <a:spcPts val="600"/>
                        </a:spcBef>
                        <a:buClrTx/>
                        <a:buSzTx/>
                        <a:buNone/>
                      </a:pPr>
                      <a:r>
                        <a:rPr lang="zh-CN" altLang="en-US" sz="1000" b="1" dirty="0">
                          <a:latin typeface="黑体" panose="02010609060101010101" charset="-122"/>
                          <a:ea typeface="黑体" panose="02010609060101010101" charset="-122"/>
                          <a:cs typeface="黑体" panose="02010609060101010101" charset="-122"/>
                        </a:rPr>
                        <a:t>业务影响</a:t>
                      </a:r>
                      <a:endParaRPr lang="zh-CN" altLang="en-US" sz="1000" b="1" dirty="0">
                        <a:latin typeface="黑体" panose="02010609060101010101" charset="-122"/>
                        <a:ea typeface="黑体" panose="02010609060101010101" charset="-122"/>
                        <a:cs typeface="黑体" panose="02010609060101010101" charset="-122"/>
                      </a:endParaRPr>
                    </a:p>
                    <a:p>
                      <a:pPr marL="126365" indent="-100965" algn="l" rtl="0" eaLnBrk="0">
                        <a:lnSpc>
                          <a:spcPct val="110000"/>
                        </a:lnSpc>
                        <a:spcBef>
                          <a:spcPts val="440"/>
                        </a:spcBef>
                      </a:pPr>
                      <a:r>
                        <a:rPr lang="en-US" altLang="zh-CN" sz="1000" b="0" dirty="0">
                          <a:latin typeface="黑体" panose="02010609060101010101" charset="-122"/>
                          <a:ea typeface="黑体" panose="02010609060101010101" charset="-122"/>
                          <a:cs typeface="黑体" panose="02010609060101010101" charset="-122"/>
                        </a:rPr>
                        <a:t>·</a:t>
                      </a:r>
                      <a:r>
                        <a:rPr lang="zh-CN" altLang="en-US" sz="1000" b="0" dirty="0">
                          <a:latin typeface="黑体" panose="02010609060101010101" charset="-122"/>
                          <a:ea typeface="黑体" panose="02010609060101010101" charset="-122"/>
                          <a:cs typeface="黑体" panose="02010609060101010101" charset="-122"/>
                        </a:rPr>
                        <a:t>安全事件平均处置时间近</a:t>
                      </a:r>
                      <a:r>
                        <a:rPr lang="en-US" altLang="zh-CN" sz="1000" b="0" dirty="0">
                          <a:latin typeface="黑体" panose="02010609060101010101" charset="-122"/>
                          <a:ea typeface="黑体" panose="02010609060101010101" charset="-122"/>
                          <a:cs typeface="黑体" panose="02010609060101010101" charset="-122"/>
                        </a:rPr>
                        <a:t>10</a:t>
                      </a:r>
                      <a:r>
                        <a:rPr lang="zh-CN" altLang="en-US" sz="1000" b="0" dirty="0">
                          <a:latin typeface="黑体" panose="02010609060101010101" charset="-122"/>
                          <a:ea typeface="黑体" panose="02010609060101010101" charset="-122"/>
                          <a:cs typeface="黑体" panose="02010609060101010101" charset="-122"/>
                        </a:rPr>
                        <a:t>小时，影响</a:t>
                      </a:r>
                      <a:r>
                        <a:rPr lang="zh-CN" altLang="en-US" sz="1000" b="0" dirty="0">
                          <a:latin typeface="黑体" panose="02010609060101010101" charset="-122"/>
                          <a:ea typeface="黑体" panose="02010609060101010101" charset="-122"/>
                          <a:cs typeface="黑体" panose="02010609060101010101" charset="-122"/>
                        </a:rPr>
                        <a:t>业务连续性</a:t>
                      </a:r>
                      <a:endParaRPr lang="zh-CN" altLang="en-US" sz="1000" b="0" dirty="0">
                        <a:latin typeface="黑体" panose="02010609060101010101" charset="-122"/>
                        <a:ea typeface="黑体" panose="02010609060101010101" charset="-122"/>
                        <a:cs typeface="黑体" panose="02010609060101010101" charset="-122"/>
                      </a:endParaRPr>
                    </a:p>
                    <a:p>
                      <a:pPr marL="126365" indent="-100965" algn="l" rtl="0" eaLnBrk="0">
                        <a:lnSpc>
                          <a:spcPct val="110000"/>
                        </a:lnSpc>
                        <a:spcBef>
                          <a:spcPts val="440"/>
                        </a:spcBef>
                      </a:pPr>
                      <a:r>
                        <a:rPr lang="en-US" altLang="zh-CN" sz="1000" b="0" dirty="0">
                          <a:latin typeface="黑体" panose="02010609060101010101" charset="-122"/>
                          <a:ea typeface="黑体" panose="02010609060101010101" charset="-122"/>
                          <a:cs typeface="黑体" panose="02010609060101010101" charset="-122"/>
                        </a:rPr>
                        <a:t>·IT </a:t>
                      </a:r>
                      <a:r>
                        <a:rPr lang="zh-CN" altLang="en-US" sz="1000" b="0" dirty="0">
                          <a:latin typeface="黑体" panose="02010609060101010101" charset="-122"/>
                          <a:ea typeface="黑体" panose="02010609060101010101" charset="-122"/>
                          <a:cs typeface="黑体" panose="02010609060101010101" charset="-122"/>
                        </a:rPr>
                        <a:t>运维团队处置负担重，人力成本</a:t>
                      </a:r>
                      <a:r>
                        <a:rPr lang="zh-CN" altLang="en-US" sz="1000" b="0" dirty="0">
                          <a:latin typeface="黑体" panose="02010609060101010101" charset="-122"/>
                          <a:ea typeface="黑体" panose="02010609060101010101" charset="-122"/>
                          <a:cs typeface="黑体" panose="02010609060101010101" charset="-122"/>
                        </a:rPr>
                        <a:t>增加</a:t>
                      </a:r>
                      <a:endParaRPr lang="zh-CN" altLang="en-US" sz="1000" b="0" dirty="0">
                        <a:latin typeface="黑体" panose="02010609060101010101" charset="-122"/>
                        <a:ea typeface="黑体" panose="02010609060101010101" charset="-122"/>
                        <a:cs typeface="黑体" panose="02010609060101010101" charset="-122"/>
                      </a:endParaRPr>
                    </a:p>
                    <a:p>
                      <a:pPr marL="90805" algn="l" rtl="0" eaLnBrk="0">
                        <a:lnSpc>
                          <a:spcPct val="100000"/>
                        </a:lnSpc>
                        <a:spcBef>
                          <a:spcPts val="600"/>
                        </a:spcBef>
                        <a:buClrTx/>
                        <a:buSzTx/>
                        <a:buNone/>
                      </a:pPr>
                      <a:r>
                        <a:rPr lang="zh-CN" altLang="en-US" sz="1000" b="1" dirty="0">
                          <a:latin typeface="黑体" panose="02010609060101010101" charset="-122"/>
                          <a:ea typeface="黑体" panose="02010609060101010101" charset="-122"/>
                          <a:cs typeface="黑体" panose="02010609060101010101" charset="-122"/>
                        </a:rPr>
                        <a:t>解决方案</a:t>
                      </a:r>
                      <a:endParaRPr lang="zh-CN" altLang="en-US" sz="1000" b="1" dirty="0">
                        <a:latin typeface="黑体" panose="02010609060101010101" charset="-122"/>
                        <a:ea typeface="黑体" panose="02010609060101010101" charset="-122"/>
                        <a:cs typeface="黑体" panose="02010609060101010101" charset="-122"/>
                      </a:endParaRPr>
                    </a:p>
                    <a:p>
                      <a:pPr marL="90805" algn="l" rtl="0" eaLnBrk="0">
                        <a:lnSpc>
                          <a:spcPct val="100000"/>
                        </a:lnSpc>
                        <a:spcBef>
                          <a:spcPts val="600"/>
                        </a:spcBef>
                        <a:buClrTx/>
                        <a:buSzTx/>
                        <a:buFontTx/>
                        <a:buNone/>
                      </a:pPr>
                      <a:r>
                        <a:rPr sz="1000" b="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部署</a:t>
                      </a:r>
                      <a:r>
                        <a:rPr sz="1000" b="0"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EDR</a:t>
                      </a:r>
                      <a:r>
                        <a:rPr sz="1000" b="0" kern="0" spc="-9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 </a:t>
                      </a:r>
                      <a:r>
                        <a:rPr sz="1000" b="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解决方案，强化终端</a:t>
                      </a:r>
                      <a:r>
                        <a:rPr sz="1000" b="0" kern="0" spc="-30" dirty="0">
                          <a:solidFill>
                            <a:srgbClr val="000000">
                              <a:alpha val="100000"/>
                            </a:srgbClr>
                          </a:solidFill>
                          <a:latin typeface="黑体" panose="02010609060101010101" charset="-122"/>
                          <a:ea typeface="黑体" panose="02010609060101010101" charset="-122"/>
                          <a:cs typeface="黑体" panose="02010609060101010101" charset="-122"/>
                          <a:sym typeface="+mn-ea"/>
                        </a:rPr>
                        <a:t>监控能力，建立自动化响应流程，预计可提</a:t>
                      </a:r>
                      <a:r>
                        <a:rPr sz="1000" b="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升处置效率</a:t>
                      </a:r>
                      <a:r>
                        <a:rPr lang="en-US" sz="1000" b="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70</a:t>
                      </a:r>
                      <a:r>
                        <a:rPr sz="1000" b="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lang="en-US" altLang="zh-CN" sz="1000" b="0" dirty="0">
                        <a:latin typeface="黑体" panose="02010609060101010101" charset="-122"/>
                        <a:ea typeface="黑体" panose="02010609060101010101" charset="-122"/>
                        <a:cs typeface="黑体" panose="02010609060101010101" charset="-122"/>
                      </a:endParaRPr>
                    </a:p>
                  </a:txBody>
                  <a:tcPr marL="0" marR="0" marT="0" marB="0" vert="horz">
                    <a:lnL>
                      <a:noFill/>
                    </a:lnL>
                    <a:lnR>
                      <a:noFill/>
                    </a:lnR>
                    <a:lnT>
                      <a:noFill/>
                    </a:lnT>
                    <a:lnB>
                      <a:noFill/>
                    </a:lnB>
                    <a:solidFill>
                      <a:schemeClr val="accent6">
                        <a:lumMod val="20000"/>
                        <a:lumOff val="80000"/>
                      </a:schemeClr>
                    </a:solidFill>
                  </a:tcPr>
                </a:tc>
              </a:tr>
            </a:tbl>
          </a:graphicData>
        </a:graphic>
      </p:graphicFrame>
      <p:pic>
        <p:nvPicPr>
          <p:cNvPr id="5" name="图片 4" descr="1755143421298"/>
          <p:cNvPicPr>
            <a:picLocks noChangeAspect="1"/>
          </p:cNvPicPr>
          <p:nvPr/>
        </p:nvPicPr>
        <p:blipFill>
          <a:blip r:embed="rId5"/>
          <a:stretch>
            <a:fillRect/>
          </a:stretch>
        </p:blipFill>
        <p:spPr>
          <a:xfrm>
            <a:off x="647700" y="5785485"/>
            <a:ext cx="10494010" cy="779145"/>
          </a:xfrm>
          <a:prstGeom prst="rect">
            <a:avLst/>
          </a:prstGeom>
        </p:spPr>
      </p:pic>
      <p:sp>
        <p:nvSpPr>
          <p:cNvPr id="8" name="文本框 7"/>
          <p:cNvSpPr txBox="1"/>
          <p:nvPr/>
        </p:nvSpPr>
        <p:spPr>
          <a:xfrm>
            <a:off x="860425" y="5889943"/>
            <a:ext cx="10148570" cy="570230"/>
          </a:xfrm>
          <a:prstGeom prst="rect">
            <a:avLst/>
          </a:prstGeom>
          <a:noFill/>
        </p:spPr>
        <p:txBody>
          <a:bodyPr wrap="square" rtlCol="0" anchor="t">
            <a:noAutofit/>
          </a:bodyPr>
          <a:p>
            <a:pPr indent="0" fontAlgn="auto">
              <a:spcBef>
                <a:spcPts val="600"/>
              </a:spcBef>
            </a:pPr>
            <a:r>
              <a:rPr lang="zh-CN" sz="1000" b="1" spc="20" dirty="0">
                <a:solidFill>
                  <a:srgbClr val="204090">
                    <a:alpha val="100000"/>
                  </a:srgbClr>
                </a:solidFill>
                <a:latin typeface="黑体" panose="02010609060101010101" charset="-122"/>
                <a:ea typeface="黑体" panose="02010609060101010101" charset="-122"/>
                <a:cs typeface="黑体" panose="02010609060101010101" charset="-122"/>
                <a:sym typeface="+mn-ea"/>
              </a:rPr>
              <a:t>决策建议</a:t>
            </a:r>
            <a:endParaRPr lang="zh-CN" sz="1000" b="1" spc="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indent="0" fontAlgn="auto">
              <a:spcBef>
                <a:spcPts val="600"/>
              </a:spcBef>
            </a:pPr>
            <a:r>
              <a:rPr lang="zh-CN" sz="1000" spc="90" dirty="0">
                <a:solidFill>
                  <a:srgbClr val="000000">
                    <a:alpha val="100000"/>
                  </a:srgbClr>
                </a:solidFill>
                <a:latin typeface="黑体" panose="02010609060101010101" charset="-122"/>
                <a:ea typeface="黑体" panose="02010609060101010101" charset="-122"/>
                <a:cs typeface="黑体" panose="02010609060101010101" charset="-122"/>
                <a:sym typeface="+mn-ea"/>
              </a:rPr>
              <a:t>结合企业经营现状和业务发展目标，建议系统性规划各园区网络架构的统一建设，逐渐实施</a:t>
            </a:r>
            <a:r>
              <a:rPr lang="en-US" altLang="zh-CN" sz="1000" spc="90" dirty="0">
                <a:solidFill>
                  <a:srgbClr val="000000">
                    <a:alpha val="100000"/>
                  </a:srgbClr>
                </a:solidFill>
                <a:latin typeface="黑体" panose="02010609060101010101" charset="-122"/>
                <a:ea typeface="黑体" panose="02010609060101010101" charset="-122"/>
                <a:cs typeface="黑体" panose="02010609060101010101" charset="-122"/>
                <a:sym typeface="+mn-ea"/>
              </a:rPr>
              <a:t>IT</a:t>
            </a:r>
            <a:r>
              <a:rPr lang="zh-CN" altLang="en-US" sz="1000" spc="90" dirty="0">
                <a:solidFill>
                  <a:srgbClr val="000000">
                    <a:alpha val="100000"/>
                  </a:srgbClr>
                </a:solidFill>
                <a:latin typeface="黑体" panose="02010609060101010101" charset="-122"/>
                <a:ea typeface="黑体" panose="02010609060101010101" charset="-122"/>
                <a:cs typeface="黑体" panose="02010609060101010101" charset="-122"/>
                <a:sym typeface="+mn-ea"/>
              </a:rPr>
              <a:t>系统智能化运营，跟专业的安全团队加强合作互信，高性价比的获得完善的安全运营</a:t>
            </a:r>
            <a:r>
              <a:rPr lang="zh-CN" altLang="en-US" sz="1000" spc="90" dirty="0">
                <a:solidFill>
                  <a:srgbClr val="000000">
                    <a:alpha val="100000"/>
                  </a:srgbClr>
                </a:solidFill>
                <a:latin typeface="黑体" panose="02010609060101010101" charset="-122"/>
                <a:ea typeface="黑体" panose="02010609060101010101" charset="-122"/>
                <a:cs typeface="黑体" panose="02010609060101010101" charset="-122"/>
                <a:sym typeface="+mn-ea"/>
              </a:rPr>
              <a:t>能力。</a:t>
            </a:r>
            <a:endParaRPr lang="zh-CN" altLang="en-US" sz="1000" spc="9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9" name="图片 8" descr="深信服 + 智安全"/>
          <p:cNvPicPr>
            <a:picLocks noChangeAspect="1"/>
          </p:cNvPicPr>
          <p:nvPr/>
        </p:nvPicPr>
        <p:blipFill>
          <a:blip r:embed="rId6"/>
          <a:srcRect l="5232" t="26576" r="4938" b="29565"/>
          <a:stretch>
            <a:fillRect/>
          </a:stretch>
        </p:blipFill>
        <p:spPr>
          <a:xfrm>
            <a:off x="10017125" y="238760"/>
            <a:ext cx="1629867" cy="360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p:cNvSpPr txBox="1"/>
          <p:nvPr>
            <p:custDataLst>
              <p:tags r:id="rId1"/>
            </p:custDataLst>
          </p:nvPr>
        </p:nvSpPr>
        <p:spPr>
          <a:xfrm>
            <a:off x="6092825" y="3663315"/>
            <a:ext cx="4703445" cy="424815"/>
          </a:xfrm>
          <a:prstGeom prst="rect">
            <a:avLst/>
          </a:prstGeom>
          <a:noFill/>
          <a:ln w="0">
            <a:noFill/>
          </a:ln>
        </p:spPr>
        <p:txBody>
          <a:bodyPr wrap="square" lIns="0" tIns="0" rIns="0" bIns="0" anchor="ctr" anchorCtr="0">
            <a:noAutofit/>
          </a:bodyPr>
          <a:p>
            <a:pPr algn="l"/>
            <a:r>
              <a:rPr lang="zh-CN" altLang="en-US" sz="1600" b="0" u="none" strike="noStrike" kern="0" spc="60" dirty="0">
                <a:solidFill>
                  <a:schemeClr val="dk1"/>
                </a:solidFill>
                <a:effectLst/>
                <a:uFillTx/>
                <a:latin typeface="黑体" panose="02010609060101010101" charset="-122"/>
                <a:ea typeface="黑体" panose="02010609060101010101" charset="-122"/>
                <a:cs typeface="黑体" panose="02010609060101010101" charset="-122"/>
                <a:sym typeface="+mn-ea"/>
              </a:rPr>
              <a:t>安全</a:t>
            </a:r>
            <a:r>
              <a:rPr lang="zh-CN" altLang="en-US" sz="1600" kern="0" spc="60" dirty="0">
                <a:solidFill>
                  <a:schemeClr val="dk1"/>
                </a:solidFill>
                <a:effectLst/>
                <a:uFillTx/>
                <a:latin typeface="黑体" panose="02010609060101010101" charset="-122"/>
                <a:ea typeface="黑体" panose="02010609060101010101" charset="-122"/>
                <a:cs typeface="黑体" panose="02010609060101010101" charset="-122"/>
                <a:sym typeface="+mn-ea"/>
              </a:rPr>
              <a:t>工作重点</a:t>
            </a:r>
            <a:r>
              <a:rPr lang="zh-CN" altLang="en-US" sz="1600" b="0" u="none" strike="noStrike" kern="0" spc="60" dirty="0">
                <a:solidFill>
                  <a:schemeClr val="dk1"/>
                </a:solidFill>
                <a:effectLst/>
                <a:uFillTx/>
                <a:latin typeface="黑体" panose="02010609060101010101" charset="-122"/>
                <a:ea typeface="黑体" panose="02010609060101010101" charset="-122"/>
                <a:cs typeface="黑体" panose="02010609060101010101" charset="-122"/>
                <a:sym typeface="+mn-ea"/>
              </a:rPr>
              <a:t>投入方向</a:t>
            </a:r>
            <a:endParaRPr lang="zh-CN" altLang="en-US" sz="1600" b="0" u="none" strike="noStrike" kern="0" spc="60" dirty="0">
              <a:solidFill>
                <a:schemeClr val="dk1"/>
              </a:solidFill>
              <a:effectLst/>
              <a:uFillTx/>
              <a:latin typeface="黑体" panose="02010609060101010101" charset="-122"/>
              <a:ea typeface="黑体" panose="02010609060101010101" charset="-122"/>
              <a:cs typeface="黑体" panose="02010609060101010101" charset="-122"/>
              <a:sym typeface="+mn-ea"/>
            </a:endParaRPr>
          </a:p>
        </p:txBody>
      </p:sp>
      <p:sp>
        <p:nvSpPr>
          <p:cNvPr id="4" name="标题"/>
          <p:cNvSpPr>
            <a:spLocks noGrp="1"/>
          </p:cNvSpPr>
          <p:nvPr>
            <p:ph type="title"/>
            <p:custDataLst>
              <p:tags r:id="rId2"/>
            </p:custDataLst>
          </p:nvPr>
        </p:nvSpPr>
        <p:spPr>
          <a:xfrm>
            <a:off x="6092825" y="2439035"/>
            <a:ext cx="5633720" cy="1224280"/>
          </a:xfrm>
        </p:spPr>
        <p:txBody>
          <a:bodyPr anchor="ctr" anchorCtr="0">
            <a:normAutofit/>
          </a:bodyPr>
          <a:lstStyle/>
          <a:p>
            <a:r>
              <a:rPr lang="zh-CN" altLang="en-US">
                <a:solidFill>
                  <a:srgbClr val="4C61E7"/>
                </a:solidFill>
              </a:rPr>
              <a:t>下</a:t>
            </a:r>
            <a:r>
              <a:rPr lang="zh-CN" altLang="en-US">
                <a:solidFill>
                  <a:srgbClr val="4C61E7"/>
                </a:solidFill>
              </a:rPr>
              <a:t>阶段工作规划</a:t>
            </a:r>
            <a:endParaRPr lang="zh-CN" altLang="en-US">
              <a:solidFill>
                <a:srgbClr val="4C61E7"/>
              </a:solidFill>
            </a:endParaRPr>
          </a:p>
        </p:txBody>
      </p:sp>
      <p:sp>
        <p:nvSpPr>
          <p:cNvPr id="6" name="节编号"/>
          <p:cNvSpPr>
            <a:spLocks noGrp="1"/>
          </p:cNvSpPr>
          <p:nvPr>
            <p:ph type="body" sz="quarter" idx="13"/>
            <p:custDataLst>
              <p:tags r:id="rId3"/>
            </p:custDataLst>
          </p:nvPr>
        </p:nvSpPr>
        <p:spPr/>
        <p:txBody>
          <a:bodyPr>
            <a:normAutofit lnSpcReduction="20000"/>
          </a:bodyPr>
          <a:lstStyle/>
          <a:p>
            <a:r>
              <a:rPr lang="en-US" altLang="en-US">
                <a:solidFill>
                  <a:srgbClr val="4C61E7"/>
                </a:solidFill>
              </a:rPr>
              <a:t>04</a:t>
            </a:r>
            <a:endParaRPr lang="en-US" altLang="en-US">
              <a:solidFill>
                <a:srgbClr val="4C61E7"/>
              </a:solidFill>
            </a:endParaRPr>
          </a:p>
        </p:txBody>
      </p:sp>
      <p:pic>
        <p:nvPicPr>
          <p:cNvPr id="7" name="图片 6" descr="深信服 + 智安全"/>
          <p:cNvPicPr>
            <a:picLocks noChangeAspect="1"/>
          </p:cNvPicPr>
          <p:nvPr/>
        </p:nvPicPr>
        <p:blipFill>
          <a:blip r:embed="rId4"/>
          <a:srcRect l="5232" t="26576" r="4938" b="29565"/>
          <a:stretch>
            <a:fillRect/>
          </a:stretch>
        </p:blipFill>
        <p:spPr>
          <a:xfrm>
            <a:off x="10017125" y="238760"/>
            <a:ext cx="1629867" cy="360000"/>
          </a:xfrm>
          <a:prstGeom prst="rect">
            <a:avLst/>
          </a:prstGeom>
        </p:spPr>
      </p:pic>
    </p:spTree>
    <p:custDataLst>
      <p:tags r:id="rId5"/>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textbox 158"/>
          <p:cNvSpPr/>
          <p:nvPr/>
        </p:nvSpPr>
        <p:spPr>
          <a:xfrm>
            <a:off x="647700" y="360045"/>
            <a:ext cx="5448300" cy="600075"/>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a:ea typeface="Arial" panose="020B0604020202020204"/>
              <a:cs typeface="Arial" panose="020B0604020202020204"/>
            </a:endParaRPr>
          </a:p>
          <a:p>
            <a:pPr marL="15875" algn="l" rtl="0" eaLnBrk="0">
              <a:lnSpc>
                <a:spcPct val="98000"/>
              </a:lnSpc>
              <a:buClrTx/>
              <a:buSzTx/>
              <a:buFontTx/>
            </a:pPr>
            <a:r>
              <a:rPr lang="zh-CN" altLang="en-US" sz="1900" kern="0" dirty="0">
                <a:solidFill>
                  <a:srgbClr val="4C61E7"/>
                </a:solidFill>
                <a:latin typeface="黑体" panose="02010609060101010101" charset="-122"/>
                <a:ea typeface="黑体" panose="02010609060101010101" charset="-122"/>
                <a:cs typeface="黑体" panose="02010609060101010101" charset="-122"/>
              </a:rPr>
              <a:t>下阶段工作规划</a:t>
            </a:r>
            <a:endParaRPr lang="zh-CN" altLang="en-US" sz="1900" kern="0" dirty="0">
              <a:solidFill>
                <a:srgbClr val="4C61E7"/>
              </a:solidFill>
              <a:latin typeface="黑体" panose="02010609060101010101" charset="-122"/>
              <a:ea typeface="黑体" panose="02010609060101010101" charset="-122"/>
              <a:cs typeface="黑体" panose="02010609060101010101" charset="-122"/>
            </a:endParaRPr>
          </a:p>
          <a:p>
            <a:pPr marL="15875" algn="l" rtl="0" eaLnBrk="0">
              <a:lnSpc>
                <a:spcPct val="98000"/>
              </a:lnSpc>
            </a:pPr>
            <a:endParaRPr sz="800" dirty="0">
              <a:latin typeface="Arial" panose="020B0604020202020204"/>
              <a:ea typeface="Arial" panose="020B0604020202020204"/>
              <a:cs typeface="Arial" panose="020B0604020202020204"/>
            </a:endParaRPr>
          </a:p>
          <a:p>
            <a:pPr marL="12700" algn="l" rtl="0" eaLnBrk="0">
              <a:lnSpc>
                <a:spcPct val="92000"/>
              </a:lnSpc>
              <a:spcBef>
                <a:spcPts val="5"/>
              </a:spcBef>
            </a:pPr>
            <a:r>
              <a:rPr lang="zh-CN" sz="10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以业务需求为导向，</a:t>
            </a:r>
            <a:r>
              <a:rPr sz="10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提供精准安全</a:t>
            </a:r>
            <a:r>
              <a:rPr lang="zh-CN"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工作投入建议</a:t>
            </a:r>
            <a:r>
              <a:rPr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，实现安全与业务双赢</a:t>
            </a:r>
            <a:endParaRPr sz="1000" dirty="0">
              <a:latin typeface="黑体" panose="02010609060101010101" charset="-122"/>
              <a:ea typeface="黑体" panose="02010609060101010101" charset="-122"/>
              <a:cs typeface="黑体" panose="02010609060101010101" charset="-122"/>
            </a:endParaRPr>
          </a:p>
          <a:p>
            <a:pPr marL="12700" algn="l" rtl="0" eaLnBrk="0">
              <a:lnSpc>
                <a:spcPct val="92000"/>
              </a:lnSpc>
              <a:spcBef>
                <a:spcPts val="5"/>
              </a:spcBef>
            </a:pPr>
            <a:endParaRPr lang="zh-CN" altLang="en-US" sz="1000" kern="0" spc="40" dirty="0">
              <a:solidFill>
                <a:srgbClr val="000000">
                  <a:alpha val="100000"/>
                </a:srgbClr>
              </a:solidFill>
              <a:latin typeface="黑体" panose="02010609060101010101" charset="-122"/>
              <a:ea typeface="黑体" panose="02010609060101010101" charset="-122"/>
              <a:cs typeface="黑体" panose="02010609060101010101" charset="-122"/>
            </a:endParaRPr>
          </a:p>
        </p:txBody>
      </p:sp>
      <p:sp>
        <p:nvSpPr>
          <p:cNvPr id="2" name="textbox 746"/>
          <p:cNvSpPr/>
          <p:nvPr/>
        </p:nvSpPr>
        <p:spPr>
          <a:xfrm>
            <a:off x="647700" y="1189990"/>
            <a:ext cx="3966845" cy="4925695"/>
          </a:xfrm>
          <a:prstGeom prst="rect">
            <a:avLst/>
          </a:prstGeom>
          <a:solidFill>
            <a:srgbClr val="EFF6FD">
              <a:alpha val="100000"/>
            </a:srgbClr>
          </a:solidFill>
          <a:ln w="0" cap="flat">
            <a:noFill/>
            <a:prstDash val="solid"/>
            <a:miter lim="0"/>
          </a:ln>
        </p:spPr>
        <p:txBody>
          <a:bodyPr vert="horz" wrap="square" lIns="0" tIns="0" rIns="0" bIns="0"/>
          <a:p>
            <a:pPr marL="127000" algn="l" rtl="0" eaLnBrk="0">
              <a:lnSpc>
                <a:spcPct val="100000"/>
              </a:lnSpc>
              <a:spcBef>
                <a:spcPts val="975"/>
              </a:spcBef>
            </a:pPr>
            <a:endParaRPr sz="1200" kern="0" spc="100" dirty="0">
              <a:solidFill>
                <a:srgbClr val="000000">
                  <a:alpha val="100000"/>
                </a:srgbClr>
              </a:solidFill>
              <a:latin typeface="黑体" panose="02010609060101010101" charset="-122"/>
              <a:ea typeface="黑体" panose="02010609060101010101" charset="-122"/>
              <a:cs typeface="黑体" panose="02010609060101010101" charset="-122"/>
            </a:endParaRPr>
          </a:p>
        </p:txBody>
      </p:sp>
      <p:sp>
        <p:nvSpPr>
          <p:cNvPr id="10" name="文本框 9"/>
          <p:cNvSpPr txBox="1"/>
          <p:nvPr/>
        </p:nvSpPr>
        <p:spPr>
          <a:xfrm>
            <a:off x="4687570" y="1189990"/>
            <a:ext cx="6959600" cy="1960880"/>
          </a:xfrm>
          <a:prstGeom prst="rect">
            <a:avLst/>
          </a:prstGeom>
          <a:solidFill>
            <a:srgbClr val="EAEEF1"/>
          </a:solidFill>
        </p:spPr>
        <p:txBody>
          <a:bodyPr wrap="square" rtlCol="0" anchor="t">
            <a:noAutofit/>
          </a:bodyPr>
          <a:p>
            <a:pPr marL="11430" algn="l" rtl="0" eaLnBrk="0">
              <a:lnSpc>
                <a:spcPct val="99000"/>
              </a:lnSpc>
            </a:pPr>
            <a:endParaRPr lang="zh-CN" sz="9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1" name="Text 2"/>
          <p:cNvSpPr/>
          <p:nvPr/>
        </p:nvSpPr>
        <p:spPr>
          <a:xfrm>
            <a:off x="4824730" y="1189990"/>
            <a:ext cx="1271270" cy="332740"/>
          </a:xfrm>
          <a:prstGeom prst="rect">
            <a:avLst/>
          </a:prstGeom>
          <a:noFill/>
        </p:spPr>
        <p:txBody>
          <a:bodyPr wrap="square" lIns="0" tIns="0" rIns="0" bIns="0" rtlCol="0" anchor="ctr" anchorCtr="0"/>
          <a:p>
            <a:pPr algn="l" eaLnBrk="0">
              <a:lnSpc>
                <a:spcPct val="150000"/>
              </a:lnSpc>
              <a:buClrTx/>
              <a:buSzTx/>
              <a:buFontTx/>
            </a:pPr>
            <a:r>
              <a:rPr lang="zh-CN" sz="1200" b="1" kern="0" dirty="0">
                <a:solidFill>
                  <a:srgbClr val="304080">
                    <a:alpha val="100000"/>
                  </a:srgbClr>
                </a:solidFill>
                <a:latin typeface="黑体" panose="02010609060101010101" charset="-122"/>
                <a:ea typeface="黑体" panose="02010609060101010101" charset="-122"/>
                <a:cs typeface="黑体" panose="02010609060101010101" charset="-122"/>
              </a:rPr>
              <a:t>新增能力建设规划</a:t>
            </a:r>
            <a:endParaRPr lang="zh-CN" sz="1200" b="1" kern="0" dirty="0">
              <a:solidFill>
                <a:srgbClr val="304080">
                  <a:alpha val="100000"/>
                </a:srgbClr>
              </a:solidFill>
              <a:latin typeface="黑体" panose="02010609060101010101" charset="-122"/>
              <a:ea typeface="黑体" panose="02010609060101010101" charset="-122"/>
              <a:cs typeface="黑体" panose="02010609060101010101" charset="-122"/>
            </a:endParaRPr>
          </a:p>
        </p:txBody>
      </p:sp>
      <p:sp>
        <p:nvSpPr>
          <p:cNvPr id="3" name="textbox 748"/>
          <p:cNvSpPr/>
          <p:nvPr/>
        </p:nvSpPr>
        <p:spPr>
          <a:xfrm>
            <a:off x="4687570" y="4667250"/>
            <a:ext cx="6959600" cy="1448435"/>
          </a:xfrm>
          <a:prstGeom prst="rect">
            <a:avLst/>
          </a:prstGeom>
          <a:solidFill>
            <a:srgbClr val="F1F5FD">
              <a:alpha val="100000"/>
            </a:srgbClr>
          </a:solidFill>
          <a:ln w="0" cap="flat">
            <a:noFill/>
            <a:prstDash val="solid"/>
            <a:miter lim="0"/>
          </a:ln>
        </p:spPr>
        <p:txBody>
          <a:bodyPr vert="horz" wrap="square" lIns="0" tIns="0" rIns="0" bIns="0"/>
          <a:p>
            <a:pPr indent="457200" algn="l" rtl="0" eaLnBrk="0">
              <a:lnSpc>
                <a:spcPct val="111000"/>
              </a:lnSpc>
            </a:pPr>
            <a:endParaRPr sz="600" dirty="0">
              <a:latin typeface="黑体" panose="02010609060101010101" charset="-122"/>
              <a:ea typeface="黑体" panose="02010609060101010101" charset="-122"/>
              <a:cs typeface="黑体" panose="02010609060101010101" charset="-122"/>
            </a:endParaRPr>
          </a:p>
        </p:txBody>
      </p:sp>
      <p:sp>
        <p:nvSpPr>
          <p:cNvPr id="5" name="Text 2"/>
          <p:cNvSpPr/>
          <p:nvPr/>
        </p:nvSpPr>
        <p:spPr>
          <a:xfrm>
            <a:off x="760730" y="1189990"/>
            <a:ext cx="1271270" cy="332740"/>
          </a:xfrm>
          <a:prstGeom prst="rect">
            <a:avLst/>
          </a:prstGeom>
          <a:noFill/>
        </p:spPr>
        <p:txBody>
          <a:bodyPr wrap="square" lIns="0" tIns="0" rIns="0" bIns="0" rtlCol="0" anchor="ctr" anchorCtr="0"/>
          <a:p>
            <a:pPr algn="l" eaLnBrk="0">
              <a:lnSpc>
                <a:spcPct val="150000"/>
              </a:lnSpc>
              <a:buClrTx/>
              <a:buSzTx/>
              <a:buFontTx/>
            </a:pPr>
            <a:r>
              <a:rPr lang="zh-CN" sz="1200" b="1" kern="0" dirty="0">
                <a:solidFill>
                  <a:srgbClr val="304080">
                    <a:alpha val="100000"/>
                  </a:srgbClr>
                </a:solidFill>
                <a:latin typeface="黑体" panose="02010609060101010101" charset="-122"/>
                <a:ea typeface="黑体" panose="02010609060101010101" charset="-122"/>
                <a:cs typeface="黑体" panose="02010609060101010101" charset="-122"/>
              </a:rPr>
              <a:t>重点工作时间</a:t>
            </a:r>
            <a:r>
              <a:rPr lang="zh-CN" sz="1200" b="1" kern="0" dirty="0">
                <a:solidFill>
                  <a:srgbClr val="304080">
                    <a:alpha val="100000"/>
                  </a:srgbClr>
                </a:solidFill>
                <a:latin typeface="黑体" panose="02010609060101010101" charset="-122"/>
                <a:ea typeface="黑体" panose="02010609060101010101" charset="-122"/>
                <a:cs typeface="黑体" panose="02010609060101010101" charset="-122"/>
              </a:rPr>
              <a:t>计划</a:t>
            </a:r>
            <a:endParaRPr lang="zh-CN" sz="1200" b="1" kern="0" dirty="0">
              <a:solidFill>
                <a:srgbClr val="304080">
                  <a:alpha val="100000"/>
                </a:srgbClr>
              </a:solidFill>
              <a:latin typeface="黑体" panose="02010609060101010101" charset="-122"/>
              <a:ea typeface="黑体" panose="02010609060101010101" charset="-122"/>
              <a:cs typeface="黑体" panose="02010609060101010101" charset="-122"/>
            </a:endParaRPr>
          </a:p>
        </p:txBody>
      </p:sp>
      <p:pic>
        <p:nvPicPr>
          <p:cNvPr id="7" name="图片 6" descr="深信服 + 智安全"/>
          <p:cNvPicPr>
            <a:picLocks noChangeAspect="1"/>
          </p:cNvPicPr>
          <p:nvPr/>
        </p:nvPicPr>
        <p:blipFill>
          <a:blip r:embed="rId1"/>
          <a:srcRect l="5232" t="26576" r="4938" b="29565"/>
          <a:stretch>
            <a:fillRect/>
          </a:stretch>
        </p:blipFill>
        <p:spPr>
          <a:xfrm>
            <a:off x="10017125" y="238760"/>
            <a:ext cx="1629867" cy="360000"/>
          </a:xfrm>
          <a:prstGeom prst="rect">
            <a:avLst/>
          </a:prstGeom>
        </p:spPr>
      </p:pic>
      <p:sp>
        <p:nvSpPr>
          <p:cNvPr id="9" name="文本框 8"/>
          <p:cNvSpPr txBox="1"/>
          <p:nvPr/>
        </p:nvSpPr>
        <p:spPr>
          <a:xfrm>
            <a:off x="770890" y="1522730"/>
            <a:ext cx="3779520" cy="1030605"/>
          </a:xfrm>
          <a:prstGeom prst="rect">
            <a:avLst/>
          </a:prstGeom>
          <a:noFill/>
        </p:spPr>
        <p:txBody>
          <a:bodyPr wrap="square" rtlCol="0" anchor="t">
            <a:noAutofit/>
          </a:bodyPr>
          <a:p>
            <a:pPr marL="0" indent="0" algn="l">
              <a:lnSpc>
                <a:spcPct val="150000"/>
              </a:lnSpc>
              <a:buNone/>
            </a:pPr>
            <a:r>
              <a:rPr 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X月XX日-X月XX日 脆弱性管理：</a:t>
            </a:r>
            <a:endParaRPr lang="en-US" sz="1000" b="1" dirty="0">
              <a:solidFill>
                <a:srgbClr val="365FD9"/>
              </a:solidFill>
              <a:latin typeface="微软雅黑" panose="020B0503020204020204" charset="-122"/>
              <a:ea typeface="微软雅黑" panose="020B0503020204020204" charset="-122"/>
              <a:cs typeface="微软雅黑" panose="020B0503020204020204" pitchFamily="34" charset="-120"/>
            </a:endParaRPr>
          </a:p>
          <a:p>
            <a:pPr marL="101600" indent="-101600" algn="l">
              <a:lnSpc>
                <a:spcPct val="150000"/>
              </a:lnSpc>
              <a:buSzPct val="100000"/>
              <a:buFont typeface="+mj-lt"/>
              <a:buAutoNum type="arabicPeriod"/>
            </a:pP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对服务资产</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开展</a:t>
            </a: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漏洞</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复测</a:t>
            </a: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分析新增漏洞情况，梳理高风险漏洞</a:t>
            </a: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跟进修复情况，</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制定未闭环漏洞风险削减措施</a:t>
            </a: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a:t>
            </a:r>
            <a:endParaRPr lang="en-US" sz="800" dirty="0"/>
          </a:p>
          <a:p>
            <a:pPr marL="101600" indent="-101600" algn="l">
              <a:lnSpc>
                <a:spcPct val="150000"/>
              </a:lnSpc>
              <a:buSzPct val="100000"/>
              <a:buFont typeface="+mj-lt"/>
              <a:buAutoNum type="arabicPeriod"/>
            </a:pP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持续</a:t>
            </a: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监测弱口令情况，</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重点关注</a:t>
            </a: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外网高权限</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及</a:t>
            </a: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管理员账号的弱口令进行跟进修复。</a:t>
            </a:r>
            <a:endParaRPr lang="en-US"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endParaRPr>
          </a:p>
          <a:p>
            <a:pPr marL="0" indent="0" algn="l">
              <a:lnSpc>
                <a:spcPct val="150000"/>
              </a:lnSpc>
              <a:buNone/>
            </a:pPr>
            <a:endParaRPr lang="en-US"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1" name="文本框 10"/>
          <p:cNvSpPr txBox="1"/>
          <p:nvPr/>
        </p:nvSpPr>
        <p:spPr>
          <a:xfrm>
            <a:off x="760730" y="2626360"/>
            <a:ext cx="3779520" cy="875665"/>
          </a:xfrm>
          <a:prstGeom prst="rect">
            <a:avLst/>
          </a:prstGeom>
          <a:noFill/>
        </p:spPr>
        <p:txBody>
          <a:bodyPr wrap="square" rtlCol="0" anchor="t">
            <a:spAutoFit/>
          </a:bodyPr>
          <a:p>
            <a:pPr marL="0" indent="0" algn="l">
              <a:lnSpc>
                <a:spcPct val="150000"/>
              </a:lnSpc>
              <a:buNone/>
            </a:pPr>
            <a:r>
              <a:rPr 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X</a:t>
            </a: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月</a:t>
            </a:r>
            <a:r>
              <a:rPr lang="en-US" altLang="zh-CN"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XX</a:t>
            </a: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日</a:t>
            </a:r>
            <a:r>
              <a:rPr lang="en-US" altLang="zh-CN"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-X</a:t>
            </a: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月</a:t>
            </a:r>
            <a:r>
              <a:rPr lang="en-US" altLang="zh-CN"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XX</a:t>
            </a: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日</a:t>
            </a:r>
            <a:r>
              <a:rPr lang="en-US" altLang="zh-CN"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暴露面风险处置</a:t>
            </a:r>
            <a:r>
              <a:rPr 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a:t>
            </a:r>
            <a:endParaRPr lang="en-US" sz="800" dirty="0"/>
          </a:p>
          <a:p>
            <a:pPr marL="101600" indent="-101600" algn="l">
              <a:lnSpc>
                <a:spcPct val="150000"/>
              </a:lnSpc>
              <a:buSzPct val="100000"/>
              <a:buFont typeface="+mj-lt"/>
              <a:buAutoNum type="arabicPeriod"/>
            </a:pP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对新增的暴露面风险进行验证和确认，暴露面监测持续开展</a:t>
            </a: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a:t>
            </a:r>
            <a:endParaRPr lang="en-US" sz="800" dirty="0">
              <a:solidFill>
                <a:srgbClr val="14161A"/>
              </a:solidFill>
              <a:latin typeface="微软雅黑" panose="020B0503020204020204" charset="-122"/>
              <a:ea typeface="微软雅黑" panose="020B0503020204020204" charset="-122"/>
              <a:cs typeface="微软雅黑" panose="020B0503020204020204" pitchFamily="34" charset="-120"/>
            </a:endParaRPr>
          </a:p>
          <a:p>
            <a:pPr marL="101600" indent="-101600" algn="l">
              <a:lnSpc>
                <a:spcPct val="150000"/>
              </a:lnSpc>
              <a:buSzPct val="100000"/>
              <a:buFont typeface="+mj-lt"/>
              <a:buAutoNum type="arabicPeriod"/>
            </a:pP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每月开展一次暴露面威胁狩猎，即使发现潜在的安全漏洞</a:t>
            </a:r>
            <a:endPar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endParaRPr>
          </a:p>
          <a:p>
            <a:pPr marL="101600" indent="-101600" algn="l">
              <a:lnSpc>
                <a:spcPct val="150000"/>
              </a:lnSpc>
              <a:buSzPct val="100000"/>
              <a:buFont typeface="+mj-lt"/>
              <a:buAutoNum type="arabicPeriod"/>
            </a:pP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对已发现的外网应用系统漏洞的防护方案和漏洞修复方案做跟进、验证效果</a:t>
            </a: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a:t>
            </a:r>
            <a:endParaRPr lang="en-US"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2" name="文本框 11"/>
          <p:cNvSpPr txBox="1"/>
          <p:nvPr/>
        </p:nvSpPr>
        <p:spPr>
          <a:xfrm>
            <a:off x="760730" y="3575050"/>
            <a:ext cx="3778885" cy="1245235"/>
          </a:xfrm>
          <a:prstGeom prst="rect">
            <a:avLst/>
          </a:prstGeom>
          <a:noFill/>
        </p:spPr>
        <p:txBody>
          <a:bodyPr wrap="square" rtlCol="0" anchor="t">
            <a:spAutoFit/>
          </a:bodyPr>
          <a:p>
            <a:pPr marL="0" indent="0" algn="l">
              <a:lnSpc>
                <a:spcPct val="150000"/>
              </a:lnSpc>
              <a:buNone/>
            </a:pPr>
            <a:r>
              <a:rPr 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X月XX日-X月XX日 </a:t>
            </a:r>
            <a:r>
              <a:rPr 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威胁&amp;</a:t>
            </a: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事件</a:t>
            </a:r>
            <a:r>
              <a:rPr 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管理：</a:t>
            </a:r>
            <a:endParaRPr lang="en-US" sz="1000" dirty="0"/>
          </a:p>
          <a:p>
            <a:pPr marL="101600" indent="-101600" algn="l">
              <a:lnSpc>
                <a:spcPct val="150000"/>
              </a:lnSpc>
              <a:buSzPct val="100000"/>
              <a:buFont typeface="+mj-lt"/>
              <a:buAutoNum type="arabicPeriod"/>
            </a:pP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持续监测互联网外部的网络攻击行为，对内外网威胁提供有效处置闭环方法或远程上机排查。</a:t>
            </a:r>
            <a:endParaRPr lang="en-US" sz="800" dirty="0"/>
          </a:p>
          <a:p>
            <a:pPr marL="101600" indent="-101600" algn="l">
              <a:lnSpc>
                <a:spcPct val="150000"/>
              </a:lnSpc>
              <a:buSzPct val="100000"/>
              <a:buFont typeface="+mj-lt"/>
              <a:buAutoNum type="arabicPeriod"/>
            </a:pP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按需推送行业安全威胁情报，并检测单位内部资产命中威胁的情况，并反馈单位内部排查。</a:t>
            </a:r>
            <a:endParaRPr lang="en-US" sz="800" dirty="0"/>
          </a:p>
          <a:p>
            <a:pPr marL="101600" indent="-101600" algn="l">
              <a:lnSpc>
                <a:spcPct val="150000"/>
              </a:lnSpc>
              <a:buSzPct val="100000"/>
              <a:buFont typeface="+mj-lt"/>
              <a:buAutoNum type="arabicPeriod"/>
            </a:pP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对安全组件</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每月执行</a:t>
            </a:r>
            <a:r>
              <a:rPr lang="en-US" altLang="zh-CN"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1 </a:t>
            </a: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次策略检查，发现策略隐患</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并及时加固</a:t>
            </a: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a:t>
            </a:r>
            <a:endParaRPr lang="en-US"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3" name="Text 2"/>
          <p:cNvSpPr/>
          <p:nvPr/>
        </p:nvSpPr>
        <p:spPr>
          <a:xfrm>
            <a:off x="4824730" y="4667250"/>
            <a:ext cx="1271270" cy="332740"/>
          </a:xfrm>
          <a:prstGeom prst="rect">
            <a:avLst/>
          </a:prstGeom>
          <a:noFill/>
        </p:spPr>
        <p:txBody>
          <a:bodyPr wrap="square" lIns="0" tIns="0" rIns="0" bIns="0" rtlCol="0" anchor="ctr" anchorCtr="0"/>
          <a:p>
            <a:pPr algn="l" eaLnBrk="0">
              <a:lnSpc>
                <a:spcPct val="150000"/>
              </a:lnSpc>
              <a:buClrTx/>
              <a:buSzTx/>
              <a:buFontTx/>
            </a:pPr>
            <a:r>
              <a:rPr lang="zh-CN" sz="1200" b="1" kern="0" dirty="0">
                <a:solidFill>
                  <a:srgbClr val="304080">
                    <a:alpha val="100000"/>
                  </a:srgbClr>
                </a:solidFill>
                <a:latin typeface="黑体" panose="02010609060101010101" charset="-122"/>
                <a:ea typeface="黑体" panose="02010609060101010101" charset="-122"/>
                <a:cs typeface="黑体" panose="02010609060101010101" charset="-122"/>
              </a:rPr>
              <a:t>决策</a:t>
            </a:r>
            <a:r>
              <a:rPr lang="zh-CN" sz="1200" b="1" kern="0" dirty="0">
                <a:solidFill>
                  <a:srgbClr val="304080">
                    <a:alpha val="100000"/>
                  </a:srgbClr>
                </a:solidFill>
                <a:latin typeface="黑体" panose="02010609060101010101" charset="-122"/>
                <a:ea typeface="黑体" panose="02010609060101010101" charset="-122"/>
                <a:cs typeface="黑体" panose="02010609060101010101" charset="-122"/>
              </a:rPr>
              <a:t>建议</a:t>
            </a:r>
            <a:endParaRPr lang="zh-CN" sz="1200" b="1" kern="0" dirty="0">
              <a:solidFill>
                <a:srgbClr val="304080">
                  <a:alpha val="100000"/>
                </a:srgbClr>
              </a:solidFill>
              <a:latin typeface="黑体" panose="02010609060101010101" charset="-122"/>
              <a:ea typeface="黑体" panose="02010609060101010101" charset="-122"/>
              <a:cs typeface="黑体" panose="02010609060101010101" charset="-122"/>
            </a:endParaRPr>
          </a:p>
        </p:txBody>
      </p:sp>
      <p:sp>
        <p:nvSpPr>
          <p:cNvPr id="14" name="文本框 13"/>
          <p:cNvSpPr txBox="1"/>
          <p:nvPr/>
        </p:nvSpPr>
        <p:spPr>
          <a:xfrm>
            <a:off x="4687570" y="3213100"/>
            <a:ext cx="6959600" cy="1386840"/>
          </a:xfrm>
          <a:prstGeom prst="rect">
            <a:avLst/>
          </a:prstGeom>
          <a:solidFill>
            <a:srgbClr val="EAEEF1"/>
          </a:solidFill>
        </p:spPr>
        <p:txBody>
          <a:bodyPr wrap="square" rtlCol="0" anchor="t">
            <a:noAutofit/>
          </a:bodyPr>
          <a:p>
            <a:pPr marL="11430" algn="l" rtl="0" eaLnBrk="0">
              <a:lnSpc>
                <a:spcPct val="99000"/>
              </a:lnSpc>
            </a:pPr>
            <a:endParaRPr lang="zh-CN" sz="9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5" name="Text 2"/>
          <p:cNvSpPr/>
          <p:nvPr/>
        </p:nvSpPr>
        <p:spPr>
          <a:xfrm>
            <a:off x="4824730" y="3213100"/>
            <a:ext cx="1271270" cy="332740"/>
          </a:xfrm>
          <a:prstGeom prst="rect">
            <a:avLst/>
          </a:prstGeom>
          <a:noFill/>
        </p:spPr>
        <p:txBody>
          <a:bodyPr wrap="square" lIns="0" tIns="0" rIns="0" bIns="0" rtlCol="0" anchor="ctr" anchorCtr="0"/>
          <a:p>
            <a:pPr algn="l" eaLnBrk="0">
              <a:lnSpc>
                <a:spcPct val="150000"/>
              </a:lnSpc>
              <a:buClrTx/>
              <a:buSzTx/>
              <a:buFontTx/>
            </a:pPr>
            <a:r>
              <a:rPr lang="zh-CN" sz="1200" b="1" kern="0" dirty="0">
                <a:solidFill>
                  <a:srgbClr val="304080">
                    <a:alpha val="100000"/>
                  </a:srgbClr>
                </a:solidFill>
                <a:latin typeface="黑体" panose="02010609060101010101" charset="-122"/>
                <a:ea typeface="黑体" panose="02010609060101010101" charset="-122"/>
                <a:cs typeface="黑体" panose="02010609060101010101" charset="-122"/>
              </a:rPr>
              <a:t>预期</a:t>
            </a:r>
            <a:r>
              <a:rPr lang="zh-CN" sz="1200" b="1" kern="0" dirty="0">
                <a:solidFill>
                  <a:srgbClr val="304080">
                    <a:alpha val="100000"/>
                  </a:srgbClr>
                </a:solidFill>
                <a:latin typeface="黑体" panose="02010609060101010101" charset="-122"/>
                <a:ea typeface="黑体" panose="02010609060101010101" charset="-122"/>
                <a:cs typeface="黑体" panose="02010609060101010101" charset="-122"/>
              </a:rPr>
              <a:t>收益</a:t>
            </a:r>
            <a:endParaRPr lang="zh-CN" sz="1200" b="1" kern="0" dirty="0">
              <a:solidFill>
                <a:srgbClr val="304080">
                  <a:alpha val="100000"/>
                </a:srgbClr>
              </a:solidFill>
              <a:latin typeface="黑体" panose="02010609060101010101" charset="-122"/>
              <a:ea typeface="黑体" panose="02010609060101010101" charset="-122"/>
              <a:cs typeface="黑体" panose="02010609060101010101" charset="-122"/>
            </a:endParaRPr>
          </a:p>
        </p:txBody>
      </p:sp>
      <p:sp>
        <p:nvSpPr>
          <p:cNvPr id="16" name="文本框 15"/>
          <p:cNvSpPr txBox="1"/>
          <p:nvPr/>
        </p:nvSpPr>
        <p:spPr>
          <a:xfrm>
            <a:off x="761365" y="4893310"/>
            <a:ext cx="3778885" cy="982345"/>
          </a:xfrm>
          <a:prstGeom prst="rect">
            <a:avLst/>
          </a:prstGeom>
          <a:noFill/>
        </p:spPr>
        <p:txBody>
          <a:bodyPr wrap="square" rtlCol="0" anchor="t">
            <a:noAutofit/>
          </a:bodyPr>
          <a:p>
            <a:pPr marL="0" algn="l">
              <a:lnSpc>
                <a:spcPct val="150000"/>
              </a:lnSpc>
              <a:buClrTx/>
              <a:buSzTx/>
              <a:buFontTx/>
              <a:buNone/>
            </a:pPr>
            <a:r>
              <a:rPr 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X月XX日-X月XX日 安全响应能力提升</a:t>
            </a:r>
            <a:r>
              <a:rPr 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a:t>
            </a:r>
            <a:endParaRPr 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endParaRPr>
          </a:p>
          <a:p>
            <a:pPr marL="0" indent="0" algn="l">
              <a:lnSpc>
                <a:spcPct val="150000"/>
              </a:lnSpc>
              <a:buNone/>
            </a:pPr>
            <a:r>
              <a:rPr lang="en-US" altLang="zh-CN"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1.</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跟进</a:t>
            </a:r>
            <a:r>
              <a:rPr lang="en-US" altLang="zh-CN"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XX</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设备版本升级，提高边界安全防护能力；</a:t>
            </a:r>
            <a:endPar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endParaRPr>
          </a:p>
          <a:p>
            <a:pPr marL="0" indent="0" algn="l">
              <a:lnSpc>
                <a:spcPct val="150000"/>
              </a:lnSpc>
              <a:buNone/>
            </a:pPr>
            <a:r>
              <a:rPr lang="en-US" altLang="zh-CN"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2.</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增加服务器和端点</a:t>
            </a:r>
            <a:r>
              <a:rPr lang="en-US" altLang="zh-CN"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PC</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的安全防护软件安装覆盖率，提升终端安全问题响应处置</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效率。</a:t>
            </a:r>
            <a:endPar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7" name="文本框 16"/>
          <p:cNvSpPr txBox="1"/>
          <p:nvPr/>
        </p:nvSpPr>
        <p:spPr>
          <a:xfrm>
            <a:off x="4824730" y="1584325"/>
            <a:ext cx="2214245" cy="600075"/>
          </a:xfrm>
          <a:prstGeom prst="rect">
            <a:avLst/>
          </a:prstGeom>
          <a:noFill/>
        </p:spPr>
        <p:txBody>
          <a:bodyPr wrap="square" rtlCol="0" anchor="t">
            <a:noAutofit/>
          </a:bodyPr>
          <a:p>
            <a:pPr marL="0" indent="0" algn="l">
              <a:lnSpc>
                <a:spcPct val="150000"/>
              </a:lnSpc>
              <a:buNone/>
            </a:pP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端点安全保护能力</a:t>
            </a:r>
            <a:endParaRPr lang="en-US" sz="700" dirty="0"/>
          </a:p>
          <a:p>
            <a:pPr indent="0" algn="l">
              <a:lnSpc>
                <a:spcPct val="150000"/>
              </a:lnSpc>
              <a:buSzPct val="100000"/>
              <a:buFont typeface="+mj-lt"/>
              <a:buNone/>
            </a:pP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端点防护覆盖全部服务器资产和办公</a:t>
            </a:r>
            <a:r>
              <a:rPr lang="en-US" altLang="zh-CN"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PC</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资产</a:t>
            </a:r>
            <a:endPar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8" name="文本框 17"/>
          <p:cNvSpPr txBox="1"/>
          <p:nvPr/>
        </p:nvSpPr>
        <p:spPr>
          <a:xfrm>
            <a:off x="4824730" y="5067300"/>
            <a:ext cx="6096000" cy="1014730"/>
          </a:xfrm>
          <a:prstGeom prst="rect">
            <a:avLst/>
          </a:prstGeom>
          <a:noFill/>
        </p:spPr>
        <p:txBody>
          <a:bodyPr wrap="square" rtlCol="0" anchor="t">
            <a:spAutoFit/>
          </a:bodyPr>
          <a:p>
            <a:pPr marL="0" indent="0" algn="l">
              <a:lnSpc>
                <a:spcPct val="150000"/>
              </a:lnSpc>
              <a:buNone/>
            </a:pP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1</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优先落地互联网暴露面最小化原则，减少不必要的暴露面引入的入侵</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风险；</a:t>
            </a:r>
            <a:endPar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endParaRPr>
          </a:p>
          <a:p>
            <a:pPr marL="0" indent="0" algn="l">
              <a:lnSpc>
                <a:spcPct val="150000"/>
              </a:lnSpc>
              <a:buNone/>
            </a:pP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2</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鉴于各园区安全运维能力薄弱，人力不足，可以优先</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考虑增加服务器和端点</a:t>
            </a: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PC</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的安全防护软件安装覆盖率，提升终端安全问题响应处置效率；</a:t>
            </a:r>
            <a:endPar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endParaRPr>
          </a:p>
          <a:p>
            <a:pPr marL="0" indent="0" algn="l">
              <a:lnSpc>
                <a:spcPct val="150000"/>
              </a:lnSpc>
              <a:buNone/>
            </a:pP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3</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、长期布局：综合多园区统一网络架构规划设计，进一步提高</a:t>
            </a: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IT</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投入的精准度和维护效率。</a:t>
            </a:r>
            <a:endPar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9" name="文本框 18"/>
          <p:cNvSpPr txBox="1"/>
          <p:nvPr/>
        </p:nvSpPr>
        <p:spPr>
          <a:xfrm>
            <a:off x="4824730" y="3545840"/>
            <a:ext cx="6524625" cy="783590"/>
          </a:xfrm>
          <a:prstGeom prst="rect">
            <a:avLst/>
          </a:prstGeom>
          <a:noFill/>
        </p:spPr>
        <p:txBody>
          <a:bodyPr wrap="square" rtlCol="0" anchor="t">
            <a:spAutoFit/>
          </a:bodyPr>
          <a:p>
            <a:pPr marL="0" indent="0" algn="l">
              <a:lnSpc>
                <a:spcPct val="150000"/>
              </a:lnSpc>
              <a:buNone/>
            </a:pP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收敛暴露面和完善脆弱性闭环机制后，可进一步降低互联网业务被入侵导致的数据泄露以及企业声誉受损的</a:t>
            </a: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风险；</a:t>
            </a:r>
            <a:endPar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endParaRPr>
          </a:p>
          <a:p>
            <a:pPr marL="0" indent="0" algn="l">
              <a:lnSpc>
                <a:spcPct val="150000"/>
              </a:lnSpc>
              <a:buNone/>
            </a:pP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增加端点安全能力，有效识别人员安全意识薄弱带来的钓鱼、高级威胁入侵等新型攻击手段，可有效避免勒索、网络诈骗等高危风险的</a:t>
            </a: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扩散</a:t>
            </a:r>
            <a:endPar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20" name="文本框 19"/>
          <p:cNvSpPr txBox="1"/>
          <p:nvPr/>
        </p:nvSpPr>
        <p:spPr>
          <a:xfrm>
            <a:off x="4824730" y="2185035"/>
            <a:ext cx="2214245" cy="718820"/>
          </a:xfrm>
          <a:prstGeom prst="rect">
            <a:avLst/>
          </a:prstGeom>
          <a:noFill/>
        </p:spPr>
        <p:txBody>
          <a:bodyPr wrap="square" rtlCol="0" anchor="t">
            <a:noAutofit/>
          </a:bodyPr>
          <a:p>
            <a:pPr marL="0" indent="0" algn="l">
              <a:lnSpc>
                <a:spcPct val="150000"/>
              </a:lnSpc>
              <a:buNone/>
            </a:pP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基础网络</a:t>
            </a: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准入能力</a:t>
            </a:r>
            <a:endParaRPr lang="en-US" sz="700" dirty="0"/>
          </a:p>
          <a:p>
            <a:pPr indent="0" algn="l">
              <a:lnSpc>
                <a:spcPct val="150000"/>
              </a:lnSpc>
              <a:buSzPct val="100000"/>
              <a:buFont typeface="+mj-lt"/>
              <a:buNone/>
            </a:pP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针对园区弱电间等隐蔽设施实施网络端口准入策略，限制非认证终端接入</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网络</a:t>
            </a:r>
            <a:endPar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21" name="文本框 20"/>
          <p:cNvSpPr txBox="1"/>
          <p:nvPr/>
        </p:nvSpPr>
        <p:spPr>
          <a:xfrm>
            <a:off x="7567295" y="1522730"/>
            <a:ext cx="2214245" cy="600075"/>
          </a:xfrm>
          <a:prstGeom prst="rect">
            <a:avLst/>
          </a:prstGeom>
          <a:noFill/>
        </p:spPr>
        <p:txBody>
          <a:bodyPr wrap="square" rtlCol="0" anchor="t">
            <a:noAutofit/>
          </a:bodyPr>
          <a:p>
            <a:pPr marL="0" indent="0" algn="l">
              <a:lnSpc>
                <a:spcPct val="150000"/>
              </a:lnSpc>
              <a:buNone/>
            </a:pPr>
            <a:r>
              <a:rPr lang="en-US" altLang="zh-CN"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AI</a:t>
            </a: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智能响应能力</a:t>
            </a:r>
            <a:endParaRPr lang="en-US" sz="700" dirty="0"/>
          </a:p>
          <a:p>
            <a:pPr indent="0" algn="l">
              <a:lnSpc>
                <a:spcPct val="150000"/>
              </a:lnSpc>
              <a:buSzPct val="100000"/>
              <a:buFont typeface="+mj-lt"/>
              <a:buNone/>
            </a:pP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根据企业业务特点，引入</a:t>
            </a:r>
            <a:r>
              <a:rPr lang="en-US" altLang="zh-CN"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AI</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智能体，大幅提升安全运营</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效率</a:t>
            </a:r>
            <a:endPar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in title Main title"/>
          <p:cNvSpPr txBox="1"/>
          <p:nvPr>
            <p:custDataLst>
              <p:tags r:id="rId1"/>
            </p:custDataLst>
          </p:nvPr>
        </p:nvSpPr>
        <p:spPr>
          <a:xfrm>
            <a:off x="265418" y="194652"/>
            <a:ext cx="10123182" cy="381001"/>
          </a:xfrm>
          <a:prstGeom prst="rect">
            <a:avLst/>
          </a:prstGeom>
        </p:spPr>
        <p:txBody>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0" marR="0" lvl="0" indent="0" algn="l" defTabSz="825500" rtl="0" eaLnBrk="1" fontAlgn="auto" latinLnBrk="0" hangingPunct="1">
              <a:lnSpc>
                <a:spcPct val="100000"/>
              </a:lnSpc>
              <a:spcBef>
                <a:spcPts val="0"/>
              </a:spcBef>
              <a:spcAft>
                <a:spcPts val="0"/>
              </a:spcAft>
              <a:buClrTx/>
              <a:buSzTx/>
              <a:buFontTx/>
              <a:buNone/>
              <a:defRPr/>
            </a:pPr>
            <a:r>
              <a:rPr lang="zh-CN" altLang="en-US" sz="2400" noProof="0" dirty="0">
                <a:solidFill>
                  <a:srgbClr val="4C61E7"/>
                </a:solidFill>
                <a:uLnTx/>
                <a:latin typeface="Calibri" panose="020F0502020204030204" charset="0"/>
                <a:ea typeface="微软雅黑" panose="020B0503020204020204" charset="-122"/>
                <a:sym typeface="Calibri" panose="020F0502020204030204" charset="0"/>
              </a:rPr>
              <a:t>安全运营技术架构升级</a:t>
            </a:r>
            <a:endParaRPr lang="zh-CN" altLang="en-US" sz="2400" noProof="0" dirty="0">
              <a:solidFill>
                <a:srgbClr val="4C61E7"/>
              </a:solidFill>
              <a:uLnTx/>
              <a:latin typeface="Calibri" panose="020F0502020204030204" charset="0"/>
              <a:ea typeface="微软雅黑" panose="020B0503020204020204" charset="-122"/>
              <a:sym typeface="Calibri" panose="020F0502020204030204" charset="0"/>
            </a:endParaRPr>
          </a:p>
        </p:txBody>
      </p:sp>
      <p:grpSp>
        <p:nvGrpSpPr>
          <p:cNvPr id="559" name="组合 558"/>
          <p:cNvGrpSpPr/>
          <p:nvPr/>
        </p:nvGrpSpPr>
        <p:grpSpPr>
          <a:xfrm>
            <a:off x="1922463" y="2857183"/>
            <a:ext cx="2002155" cy="1808163"/>
            <a:chOff x="17126" y="6499"/>
            <a:chExt cx="6306" cy="5695"/>
          </a:xfrm>
        </p:grpSpPr>
        <p:sp>
          <p:nvSpPr>
            <p:cNvPr id="560" name="圆角矩形 264"/>
            <p:cNvSpPr/>
            <p:nvPr>
              <p:custDataLst>
                <p:tags r:id="rId2"/>
              </p:custDataLst>
            </p:nvPr>
          </p:nvSpPr>
          <p:spPr>
            <a:xfrm>
              <a:off x="17237" y="6857"/>
              <a:ext cx="6177" cy="5337"/>
            </a:xfrm>
            <a:prstGeom prst="roundRect">
              <a:avLst>
                <a:gd name="adj" fmla="val 4717"/>
              </a:avLst>
            </a:prstGeom>
            <a:solidFill>
              <a:schemeClr val="accent1">
                <a:lumMod val="20000"/>
                <a:lumOff val="80000"/>
              </a:schemeClr>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561" name="直接连接符 560"/>
            <p:cNvCxnSpPr/>
            <p:nvPr>
              <p:custDataLst>
                <p:tags r:id="rId3"/>
              </p:custDataLst>
            </p:nvPr>
          </p:nvCxnSpPr>
          <p:spPr>
            <a:xfrm rot="5400000">
              <a:off x="20965" y="8649"/>
              <a:ext cx="514" cy="5"/>
            </a:xfrm>
            <a:prstGeom prst="line">
              <a:avLst/>
            </a:prstGeom>
            <a:noFill/>
            <a:ln w="25400" cap="flat" cmpd="sng" algn="ctr">
              <a:solidFill>
                <a:srgbClr val="184199"/>
              </a:solidFill>
              <a:prstDash val="solid"/>
              <a:miter lim="800000"/>
            </a:ln>
            <a:effectLst/>
          </p:spPr>
        </p:cxnSp>
        <p:cxnSp>
          <p:nvCxnSpPr>
            <p:cNvPr id="562" name="直接连接符 561"/>
            <p:cNvCxnSpPr/>
            <p:nvPr>
              <p:custDataLst>
                <p:tags r:id="rId4"/>
              </p:custDataLst>
            </p:nvPr>
          </p:nvCxnSpPr>
          <p:spPr>
            <a:xfrm rot="16200000" flipH="1">
              <a:off x="18712" y="8747"/>
              <a:ext cx="706" cy="0"/>
            </a:xfrm>
            <a:prstGeom prst="line">
              <a:avLst/>
            </a:prstGeom>
            <a:noFill/>
            <a:ln w="25400" cap="flat" cmpd="sng" algn="ctr">
              <a:solidFill>
                <a:srgbClr val="184199"/>
              </a:solidFill>
              <a:prstDash val="solid"/>
              <a:miter lim="800000"/>
            </a:ln>
            <a:effectLst/>
          </p:spPr>
        </p:cxnSp>
        <p:grpSp>
          <p:nvGrpSpPr>
            <p:cNvPr id="563" name="组合 267"/>
            <p:cNvGrpSpPr/>
            <p:nvPr/>
          </p:nvGrpSpPr>
          <p:grpSpPr bwMode="auto">
            <a:xfrm rot="0">
              <a:off x="17718" y="9923"/>
              <a:ext cx="4724" cy="1458"/>
              <a:chOff x="6320702" y="3308854"/>
              <a:chExt cx="3316375" cy="917306"/>
            </a:xfrm>
          </p:grpSpPr>
          <p:pic>
            <p:nvPicPr>
              <p:cNvPr id="564" name="Picture 7" descr="C:\Users\Abject-3D\Desktop\VMWare Files\FINAL diagrams\Basic Virtualization\3D PNGs\DGRM_UpdateManager_OfflineVM_Q210_R1_Comm-(2)_6.png"/>
              <p:cNvPicPr>
                <a:picLocks noChangeAspect="1" noChangeArrowheads="1"/>
              </p:cNvPicPr>
              <p:nvPr>
                <p:custDataLst>
                  <p:tags r:id="rId5"/>
                </p:custDataLst>
              </p:nvPr>
            </p:nvPicPr>
            <p:blipFill>
              <a:blip r:embed="rId6" cstate="email"/>
              <a:srcRect/>
              <a:stretch>
                <a:fillRect/>
              </a:stretch>
            </p:blipFill>
            <p:spPr bwMode="auto">
              <a:xfrm>
                <a:off x="7226335" y="3548581"/>
                <a:ext cx="842013" cy="347144"/>
              </a:xfrm>
              <a:prstGeom prst="rect">
                <a:avLst/>
              </a:prstGeom>
              <a:noFill/>
              <a:ln w="9525">
                <a:noFill/>
                <a:miter lim="800000"/>
                <a:headEnd/>
                <a:tailEnd/>
              </a:ln>
            </p:spPr>
          </p:pic>
          <p:pic>
            <p:nvPicPr>
              <p:cNvPr id="565" name="Picture 7" descr="C:\Users\Abject-3D\Desktop\VMWare Files\FINAL diagrams\Basic Virtualization\3D PNGs\DGRM_UpdateManager_OfflineVM_Q210_R1_Comm-(2)_6.png"/>
              <p:cNvPicPr>
                <a:picLocks noChangeAspect="1" noChangeArrowheads="1"/>
              </p:cNvPicPr>
              <p:nvPr>
                <p:custDataLst>
                  <p:tags r:id="rId7"/>
                </p:custDataLst>
              </p:nvPr>
            </p:nvPicPr>
            <p:blipFill>
              <a:blip r:embed="rId8" cstate="email"/>
              <a:srcRect/>
              <a:stretch>
                <a:fillRect/>
              </a:stretch>
            </p:blipFill>
            <p:spPr bwMode="auto">
              <a:xfrm>
                <a:off x="6365550" y="3552935"/>
                <a:ext cx="853653" cy="340792"/>
              </a:xfrm>
              <a:prstGeom prst="rect">
                <a:avLst/>
              </a:prstGeom>
              <a:noFill/>
              <a:ln w="9525">
                <a:noFill/>
                <a:miter lim="800000"/>
                <a:headEnd/>
                <a:tailEnd/>
              </a:ln>
            </p:spPr>
          </p:pic>
          <p:sp>
            <p:nvSpPr>
              <p:cNvPr id="566" name="圆角矩形 3"/>
              <p:cNvSpPr>
                <a:spLocks noChangeArrowheads="1"/>
              </p:cNvSpPr>
              <p:nvPr>
                <p:custDataLst>
                  <p:tags r:id="rId9"/>
                </p:custDataLst>
              </p:nvPr>
            </p:nvSpPr>
            <p:spPr bwMode="auto">
              <a:xfrm>
                <a:off x="6320702" y="3858244"/>
                <a:ext cx="3305439" cy="367916"/>
              </a:xfrm>
              <a:prstGeom prst="roundRect">
                <a:avLst>
                  <a:gd name="adj" fmla="val 16667"/>
                </a:avLst>
              </a:prstGeom>
              <a:solidFill>
                <a:srgbClr val="5B9BD5">
                  <a:lumMod val="60000"/>
                  <a:lumOff val="40000"/>
                </a:srgbClr>
              </a:solidFill>
              <a:ln>
                <a:noFill/>
              </a:ln>
            </p:spPr>
            <p:txBody>
              <a:bodyPr/>
              <a:lstStyle>
                <a:lvl1pPr>
                  <a:lnSpc>
                    <a:spcPct val="90000"/>
                  </a:lnSpc>
                  <a:spcBef>
                    <a:spcPts val="1000"/>
                  </a:spcBef>
                  <a:buFont typeface="Arial" panose="020B0604020202020204" pitchFamily="34" charset="0"/>
                  <a:buChar char="•"/>
                  <a:defRPr kumimoji="1" sz="2800">
                    <a:solidFill>
                      <a:schemeClr val="tx1"/>
                    </a:solidFill>
                    <a:latin typeface="Impact" panose="020B0806030902050204" charset="0"/>
                    <a:ea typeface="微软雅黑" panose="020B0503020204020204" charset="-122"/>
                    <a:sym typeface="Impact" panose="020B0806030902050204" charset="0"/>
                  </a:defRPr>
                </a:lvl1pPr>
                <a:lvl2pPr marL="742950" indent="-285750">
                  <a:lnSpc>
                    <a:spcPct val="90000"/>
                  </a:lnSpc>
                  <a:spcBef>
                    <a:spcPts val="500"/>
                  </a:spcBef>
                  <a:buFont typeface="Arial" panose="020B0604020202020204" pitchFamily="34" charset="0"/>
                  <a:buChar char="•"/>
                  <a:defRPr kumimoji="1" sz="2400">
                    <a:solidFill>
                      <a:schemeClr val="tx1"/>
                    </a:solidFill>
                    <a:latin typeface="Impact" panose="020B0806030902050204" charset="0"/>
                    <a:ea typeface="微软雅黑" panose="020B0503020204020204" charset="-122"/>
                    <a:sym typeface="Impact" panose="020B0806030902050204" charset="0"/>
                  </a:defRPr>
                </a:lvl2pPr>
                <a:lvl3pPr marL="1143000" indent="-228600">
                  <a:lnSpc>
                    <a:spcPct val="90000"/>
                  </a:lnSpc>
                  <a:spcBef>
                    <a:spcPts val="500"/>
                  </a:spcBef>
                  <a:buFont typeface="Arial" panose="020B0604020202020204" pitchFamily="34" charset="0"/>
                  <a:buChar char="•"/>
                  <a:defRPr kumimoji="1" sz="2000">
                    <a:solidFill>
                      <a:schemeClr val="tx1"/>
                    </a:solidFill>
                    <a:latin typeface="Impact" panose="020B0806030902050204" charset="0"/>
                    <a:ea typeface="微软雅黑" panose="020B0503020204020204" charset="-122"/>
                    <a:sym typeface="Impact" panose="020B0806030902050204" charset="0"/>
                  </a:defRPr>
                </a:lvl3pPr>
                <a:lvl4pPr marL="1600200" indent="-228600">
                  <a:lnSpc>
                    <a:spcPct val="90000"/>
                  </a:lnSpc>
                  <a:spcBef>
                    <a:spcPts val="500"/>
                  </a:spcBef>
                  <a:buFont typeface="Arial" panose="020B0604020202020204" pitchFamily="34" charset="0"/>
                  <a:buChar char="•"/>
                  <a:defRPr kumimoji="1">
                    <a:solidFill>
                      <a:schemeClr val="tx1"/>
                    </a:solidFill>
                    <a:latin typeface="Impact" panose="020B0806030902050204" charset="0"/>
                    <a:ea typeface="微软雅黑" panose="020B0503020204020204" charset="-122"/>
                    <a:sym typeface="Impact" panose="020B0806030902050204" charset="0"/>
                  </a:defRPr>
                </a:lvl4pPr>
                <a:lvl5pPr marL="2057400" indent="-228600">
                  <a:lnSpc>
                    <a:spcPct val="90000"/>
                  </a:lnSpc>
                  <a:spcBef>
                    <a:spcPts val="500"/>
                  </a:spcBef>
                  <a:buFont typeface="Arial" panose="020B0604020202020204" pitchFamily="34" charset="0"/>
                  <a:buChar char="•"/>
                  <a:defRPr kumimoji="1">
                    <a:solidFill>
                      <a:schemeClr val="tx1"/>
                    </a:solidFill>
                    <a:latin typeface="Impact" panose="020B0806030902050204" charset="0"/>
                    <a:ea typeface="微软雅黑" panose="020B0503020204020204" charset="-122"/>
                    <a:sym typeface="Impact" panose="020B080603090205020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Impact" panose="020B0806030902050204" charset="0"/>
                    <a:ea typeface="微软雅黑" panose="020B0503020204020204" charset="-122"/>
                    <a:sym typeface="Impact" panose="020B080603090205020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Impact" panose="020B0806030902050204" charset="0"/>
                    <a:ea typeface="微软雅黑" panose="020B0503020204020204" charset="-122"/>
                    <a:sym typeface="Impact" panose="020B080603090205020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Impact" panose="020B0806030902050204" charset="0"/>
                    <a:ea typeface="微软雅黑" panose="020B0503020204020204" charset="-122"/>
                    <a:sym typeface="Impact" panose="020B080603090205020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Impact" panose="020B0806030902050204" charset="0"/>
                    <a:ea typeface="微软雅黑" panose="020B0503020204020204" charset="-122"/>
                    <a:sym typeface="Impact" panose="020B0806030902050204" charset="0"/>
                  </a:defRPr>
                </a:lvl9pPr>
              </a:lstStyle>
              <a:p>
                <a:pPr marL="0" marR="0" lvl="0" indent="0" defTabSz="91440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en-US" sz="1000" b="0"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sym typeface="Impact" panose="020B0806030902050204" charset="0"/>
                </a:endParaRPr>
              </a:p>
            </p:txBody>
          </p:sp>
          <p:pic>
            <p:nvPicPr>
              <p:cNvPr id="567" name="Picture 8" descr="ICON_Server_flat_Q408.png"/>
              <p:cNvPicPr>
                <a:picLocks noChangeAspect="1"/>
              </p:cNvPicPr>
              <p:nvPr>
                <p:custDataLst>
                  <p:tags r:id="rId10"/>
                </p:custDataLst>
              </p:nvPr>
            </p:nvPicPr>
            <p:blipFill>
              <a:blip r:embed="rId11" cstate="email"/>
              <a:srcRect/>
              <a:stretch>
                <a:fillRect/>
              </a:stretch>
            </p:blipFill>
            <p:spPr bwMode="auto">
              <a:xfrm>
                <a:off x="6484327" y="3889293"/>
                <a:ext cx="1304926" cy="312461"/>
              </a:xfrm>
              <a:prstGeom prst="rect">
                <a:avLst/>
              </a:prstGeom>
              <a:noFill/>
              <a:ln w="9525">
                <a:noFill/>
                <a:miter lim="800000"/>
                <a:headEnd/>
                <a:tailEnd/>
              </a:ln>
            </p:spPr>
          </p:pic>
          <p:pic>
            <p:nvPicPr>
              <p:cNvPr id="568" name="Picture 8" descr="ICON_Server_flat_Q408.png"/>
              <p:cNvPicPr>
                <a:picLocks noChangeAspect="1"/>
              </p:cNvPicPr>
              <p:nvPr>
                <p:custDataLst>
                  <p:tags r:id="rId12"/>
                </p:custDataLst>
              </p:nvPr>
            </p:nvPicPr>
            <p:blipFill>
              <a:blip r:embed="rId11" cstate="email"/>
              <a:srcRect/>
              <a:stretch>
                <a:fillRect/>
              </a:stretch>
            </p:blipFill>
            <p:spPr bwMode="auto">
              <a:xfrm>
                <a:off x="8149293" y="3884918"/>
                <a:ext cx="1304926" cy="312461"/>
              </a:xfrm>
              <a:prstGeom prst="rect">
                <a:avLst/>
              </a:prstGeom>
              <a:noFill/>
              <a:ln w="9525">
                <a:noFill/>
                <a:miter lim="800000"/>
                <a:headEnd/>
                <a:tailEnd/>
              </a:ln>
            </p:spPr>
          </p:pic>
          <p:pic>
            <p:nvPicPr>
              <p:cNvPr id="569" name="Picture 4"/>
              <p:cNvPicPr>
                <a:picLocks noChangeAspect="1" noChangeArrowheads="1"/>
              </p:cNvPicPr>
              <p:nvPr>
                <p:custDataLst>
                  <p:tags r:id="rId13"/>
                </p:custDataLst>
              </p:nvPr>
            </p:nvPicPr>
            <p:blipFill>
              <a:blip r:embed="rId14" cstate="email">
                <a:duotone>
                  <a:prstClr val="black"/>
                  <a:srgbClr val="4EBE53">
                    <a:tint val="45000"/>
                    <a:satMod val="400000"/>
                  </a:srgbClr>
                </a:duotone>
              </a:blip>
              <a:srcRect/>
              <a:stretch>
                <a:fillRect/>
              </a:stretch>
            </p:blipFill>
            <p:spPr bwMode="auto">
              <a:xfrm>
                <a:off x="6950419" y="3309872"/>
                <a:ext cx="493636" cy="352184"/>
              </a:xfrm>
              <a:prstGeom prst="rect">
                <a:avLst/>
              </a:prstGeom>
              <a:noFill/>
              <a:ln>
                <a:noFill/>
              </a:ln>
              <a:effectLst/>
            </p:spPr>
          </p:pic>
          <p:pic>
            <p:nvPicPr>
              <p:cNvPr id="570" name="Picture 4"/>
              <p:cNvPicPr>
                <a:picLocks noChangeAspect="1" noChangeArrowheads="1"/>
              </p:cNvPicPr>
              <p:nvPr>
                <p:custDataLst>
                  <p:tags r:id="rId15"/>
                </p:custDataLst>
              </p:nvPr>
            </p:nvPicPr>
            <p:blipFill>
              <a:blip r:embed="rId14" cstate="email">
                <a:duotone>
                  <a:prstClr val="black"/>
                  <a:srgbClr val="4EBE53">
                    <a:tint val="45000"/>
                    <a:satMod val="400000"/>
                  </a:srgbClr>
                </a:duotone>
              </a:blip>
              <a:srcRect/>
              <a:stretch>
                <a:fillRect/>
              </a:stretch>
            </p:blipFill>
            <p:spPr bwMode="auto">
              <a:xfrm>
                <a:off x="7543558" y="3318131"/>
                <a:ext cx="493636" cy="352184"/>
              </a:xfrm>
              <a:prstGeom prst="rect">
                <a:avLst/>
              </a:prstGeom>
              <a:noFill/>
              <a:ln>
                <a:noFill/>
              </a:ln>
              <a:effectLst/>
            </p:spPr>
          </p:pic>
          <p:pic>
            <p:nvPicPr>
              <p:cNvPr id="571" name="Picture 7" descr="C:\Users\Abject-3D\Desktop\VMWare Files\FINAL diagrams\Basic Virtualization\3D PNGs\DGRM_UpdateManager_OfflineVM_Q210_R1_Comm-(2)_6.png"/>
              <p:cNvPicPr>
                <a:picLocks noChangeAspect="1" noChangeArrowheads="1"/>
              </p:cNvPicPr>
              <p:nvPr>
                <p:custDataLst>
                  <p:tags r:id="rId16"/>
                </p:custDataLst>
              </p:nvPr>
            </p:nvPicPr>
            <p:blipFill>
              <a:blip r:embed="rId17" cstate="email"/>
              <a:srcRect/>
              <a:stretch>
                <a:fillRect/>
              </a:stretch>
            </p:blipFill>
            <p:spPr bwMode="auto">
              <a:xfrm>
                <a:off x="8776425" y="3545299"/>
                <a:ext cx="769784" cy="325706"/>
              </a:xfrm>
              <a:prstGeom prst="rect">
                <a:avLst/>
              </a:prstGeom>
              <a:noFill/>
              <a:ln w="9525">
                <a:noFill/>
                <a:miter lim="800000"/>
                <a:headEnd/>
                <a:tailEnd/>
              </a:ln>
            </p:spPr>
          </p:pic>
          <p:pic>
            <p:nvPicPr>
              <p:cNvPr id="572" name="Picture 7" descr="C:\Users\Abject-3D\Desktop\VMWare Files\FINAL diagrams\Basic Virtualization\3D PNGs\DGRM_UpdateManager_OfflineVM_Q210_R1_Comm-(2)_6.png"/>
              <p:cNvPicPr>
                <a:picLocks noChangeAspect="1" noChangeArrowheads="1"/>
              </p:cNvPicPr>
              <p:nvPr>
                <p:custDataLst>
                  <p:tags r:id="rId18"/>
                </p:custDataLst>
              </p:nvPr>
            </p:nvPicPr>
            <p:blipFill>
              <a:blip r:embed="rId19" cstate="email"/>
              <a:srcRect/>
              <a:stretch>
                <a:fillRect/>
              </a:stretch>
            </p:blipFill>
            <p:spPr bwMode="auto">
              <a:xfrm>
                <a:off x="8079804" y="3554677"/>
                <a:ext cx="887656" cy="303183"/>
              </a:xfrm>
              <a:prstGeom prst="rect">
                <a:avLst/>
              </a:prstGeom>
              <a:noFill/>
              <a:ln w="9525">
                <a:noFill/>
                <a:miter lim="800000"/>
                <a:headEnd/>
                <a:tailEnd/>
              </a:ln>
            </p:spPr>
          </p:pic>
          <p:pic>
            <p:nvPicPr>
              <p:cNvPr id="573" name="Picture 4"/>
              <p:cNvPicPr>
                <a:picLocks noChangeAspect="1" noChangeArrowheads="1"/>
              </p:cNvPicPr>
              <p:nvPr>
                <p:custDataLst>
                  <p:tags r:id="rId20"/>
                </p:custDataLst>
              </p:nvPr>
            </p:nvPicPr>
            <p:blipFill>
              <a:blip r:embed="rId14" cstate="email">
                <a:duotone>
                  <a:srgbClr val="FFC000">
                    <a:shade val="45000"/>
                    <a:satMod val="135000"/>
                  </a:srgbClr>
                  <a:prstClr val="white"/>
                </a:duotone>
              </a:blip>
              <a:srcRect/>
              <a:stretch>
                <a:fillRect/>
              </a:stretch>
            </p:blipFill>
            <p:spPr bwMode="auto">
              <a:xfrm>
                <a:off x="8618168" y="3318696"/>
                <a:ext cx="493636" cy="352184"/>
              </a:xfrm>
              <a:prstGeom prst="rect">
                <a:avLst/>
              </a:prstGeom>
              <a:noFill/>
              <a:ln>
                <a:noFill/>
              </a:ln>
              <a:effectLst/>
            </p:spPr>
          </p:pic>
          <p:pic>
            <p:nvPicPr>
              <p:cNvPr id="574" name="Picture 4"/>
              <p:cNvPicPr>
                <a:picLocks noChangeAspect="1" noChangeArrowheads="1"/>
              </p:cNvPicPr>
              <p:nvPr>
                <p:custDataLst>
                  <p:tags r:id="rId21"/>
                </p:custDataLst>
              </p:nvPr>
            </p:nvPicPr>
            <p:blipFill>
              <a:blip r:embed="rId14" cstate="email">
                <a:duotone>
                  <a:srgbClr val="FFC000">
                    <a:shade val="45000"/>
                    <a:satMod val="135000"/>
                  </a:srgbClr>
                  <a:prstClr val="white"/>
                </a:duotone>
              </a:blip>
              <a:srcRect/>
              <a:stretch>
                <a:fillRect/>
              </a:stretch>
            </p:blipFill>
            <p:spPr bwMode="auto">
              <a:xfrm>
                <a:off x="9143441" y="3318696"/>
                <a:ext cx="493636" cy="352184"/>
              </a:xfrm>
              <a:prstGeom prst="rect">
                <a:avLst/>
              </a:prstGeom>
              <a:noFill/>
              <a:ln>
                <a:noFill/>
              </a:ln>
              <a:effectLst/>
            </p:spPr>
          </p:pic>
          <p:pic>
            <p:nvPicPr>
              <p:cNvPr id="575" name="Picture 4"/>
              <p:cNvPicPr>
                <a:picLocks noChangeAspect="1" noChangeArrowheads="1"/>
              </p:cNvPicPr>
              <p:nvPr>
                <p:custDataLst>
                  <p:tags r:id="rId22"/>
                </p:custDataLst>
              </p:nvPr>
            </p:nvPicPr>
            <p:blipFill>
              <a:blip r:embed="rId14" cstate="email">
                <a:duotone>
                  <a:prstClr val="black"/>
                  <a:srgbClr val="4EBE53">
                    <a:tint val="45000"/>
                    <a:satMod val="400000"/>
                  </a:srgbClr>
                </a:duotone>
              </a:blip>
              <a:srcRect/>
              <a:stretch>
                <a:fillRect/>
              </a:stretch>
            </p:blipFill>
            <p:spPr bwMode="auto">
              <a:xfrm>
                <a:off x="6330978" y="3308854"/>
                <a:ext cx="493636" cy="352184"/>
              </a:xfrm>
              <a:prstGeom prst="rect">
                <a:avLst/>
              </a:prstGeom>
              <a:noFill/>
              <a:ln>
                <a:noFill/>
              </a:ln>
              <a:effectLst/>
            </p:spPr>
          </p:pic>
          <p:pic>
            <p:nvPicPr>
              <p:cNvPr id="576" name="Picture 4"/>
              <p:cNvPicPr>
                <a:picLocks noChangeAspect="1" noChangeArrowheads="1"/>
              </p:cNvPicPr>
              <p:nvPr>
                <p:custDataLst>
                  <p:tags r:id="rId23"/>
                </p:custDataLst>
              </p:nvPr>
            </p:nvPicPr>
            <p:blipFill>
              <a:blip r:embed="rId14" cstate="email">
                <a:duotone>
                  <a:srgbClr val="FFC000">
                    <a:shade val="45000"/>
                    <a:satMod val="135000"/>
                  </a:srgbClr>
                  <a:prstClr val="white"/>
                </a:duotone>
              </a:blip>
              <a:srcRect/>
              <a:stretch>
                <a:fillRect/>
              </a:stretch>
            </p:blipFill>
            <p:spPr bwMode="auto">
              <a:xfrm>
                <a:off x="8081860" y="3321898"/>
                <a:ext cx="493636" cy="352184"/>
              </a:xfrm>
              <a:prstGeom prst="rect">
                <a:avLst/>
              </a:prstGeom>
              <a:noFill/>
              <a:ln>
                <a:noFill/>
              </a:ln>
              <a:effectLst/>
            </p:spPr>
          </p:pic>
        </p:grpSp>
        <p:sp>
          <p:nvSpPr>
            <p:cNvPr id="577" name="矩形 285"/>
            <p:cNvSpPr>
              <a:spLocks noChangeArrowheads="1"/>
            </p:cNvSpPr>
            <p:nvPr>
              <p:custDataLst>
                <p:tags r:id="rId24"/>
              </p:custDataLst>
            </p:nvPr>
          </p:nvSpPr>
          <p:spPr bwMode="auto">
            <a:xfrm>
              <a:off x="17126" y="11604"/>
              <a:ext cx="1931" cy="506"/>
            </a:xfrm>
            <a:prstGeom prst="rect">
              <a:avLst/>
            </a:prstGeom>
            <a:noFill/>
            <a:ln w="9525">
              <a:noFill/>
              <a:miter lim="800000"/>
            </a:ln>
          </p:spPr>
          <p:txBody>
            <a:bodyPr wrap="square">
              <a:spAutoFit/>
            </a:bodyPr>
            <a:lstStyle/>
            <a:p>
              <a:pPr marL="228600" indent="-228600">
                <a:lnSpc>
                  <a:spcPct val="90000"/>
                </a:lnSpc>
                <a:spcBef>
                  <a:spcPts val="1000"/>
                </a:spcBef>
              </a:pPr>
              <a:r>
                <a:rPr kumimoji="1" lang="zh-CN" altLang="en-US" sz="500" b="1" dirty="0">
                  <a:solidFill>
                    <a:srgbClr val="184199"/>
                  </a:solidFill>
                  <a:latin typeface="微软雅黑" panose="020B0503020204020204" charset="-122"/>
                  <a:ea typeface="微软雅黑" panose="020B0503020204020204" charset="-122"/>
                </a:rPr>
                <a:t>业务区</a:t>
              </a:r>
              <a:endParaRPr kumimoji="1" lang="zh-CN" altLang="en-US" sz="500" b="1" dirty="0">
                <a:solidFill>
                  <a:srgbClr val="184199"/>
                </a:solidFill>
                <a:latin typeface="微软雅黑" panose="020B0503020204020204" charset="-122"/>
                <a:ea typeface="微软雅黑" panose="020B0503020204020204" charset="-122"/>
              </a:endParaRPr>
            </a:p>
          </p:txBody>
        </p:sp>
        <p:pic>
          <p:nvPicPr>
            <p:cNvPr id="578" name="图片 291"/>
            <p:cNvPicPr>
              <a:picLocks noChangeAspect="1"/>
            </p:cNvPicPr>
            <p:nvPr>
              <p:custDataLst>
                <p:tags r:id="rId25"/>
              </p:custDataLst>
            </p:nvPr>
          </p:nvPicPr>
          <p:blipFill>
            <a:blip r:embed="rId26" cstate="email"/>
            <a:srcRect/>
            <a:stretch>
              <a:fillRect/>
            </a:stretch>
          </p:blipFill>
          <p:spPr bwMode="auto">
            <a:xfrm>
              <a:off x="17921" y="10347"/>
              <a:ext cx="307" cy="334"/>
            </a:xfrm>
            <a:prstGeom prst="rect">
              <a:avLst/>
            </a:prstGeom>
            <a:noFill/>
            <a:ln w="9525">
              <a:noFill/>
              <a:miter lim="800000"/>
              <a:headEnd/>
              <a:tailEnd/>
            </a:ln>
          </p:spPr>
        </p:pic>
        <p:pic>
          <p:nvPicPr>
            <p:cNvPr id="579" name="图片 292"/>
            <p:cNvPicPr>
              <a:picLocks noChangeAspect="1"/>
            </p:cNvPicPr>
            <p:nvPr>
              <p:custDataLst>
                <p:tags r:id="rId27"/>
              </p:custDataLst>
            </p:nvPr>
          </p:nvPicPr>
          <p:blipFill>
            <a:blip r:embed="rId26" cstate="email"/>
            <a:srcRect/>
            <a:stretch>
              <a:fillRect/>
            </a:stretch>
          </p:blipFill>
          <p:spPr bwMode="auto">
            <a:xfrm>
              <a:off x="18828" y="10347"/>
              <a:ext cx="309" cy="334"/>
            </a:xfrm>
            <a:prstGeom prst="rect">
              <a:avLst/>
            </a:prstGeom>
            <a:noFill/>
            <a:ln w="9525">
              <a:noFill/>
              <a:miter lim="800000"/>
              <a:headEnd/>
              <a:tailEnd/>
            </a:ln>
          </p:spPr>
        </p:pic>
        <p:pic>
          <p:nvPicPr>
            <p:cNvPr id="580" name="图片 293"/>
            <p:cNvPicPr>
              <a:picLocks noChangeAspect="1"/>
            </p:cNvPicPr>
            <p:nvPr>
              <p:custDataLst>
                <p:tags r:id="rId28"/>
              </p:custDataLst>
            </p:nvPr>
          </p:nvPicPr>
          <p:blipFill>
            <a:blip r:embed="rId26" cstate="email"/>
            <a:srcRect/>
            <a:stretch>
              <a:fillRect/>
            </a:stretch>
          </p:blipFill>
          <p:spPr bwMode="auto">
            <a:xfrm>
              <a:off x="19658" y="10356"/>
              <a:ext cx="312" cy="336"/>
            </a:xfrm>
            <a:prstGeom prst="rect">
              <a:avLst/>
            </a:prstGeom>
            <a:noFill/>
            <a:ln w="9525">
              <a:noFill/>
              <a:miter lim="800000"/>
              <a:headEnd/>
              <a:tailEnd/>
            </a:ln>
          </p:spPr>
        </p:pic>
        <p:pic>
          <p:nvPicPr>
            <p:cNvPr id="581" name="图片 294"/>
            <p:cNvPicPr>
              <a:picLocks noChangeAspect="1"/>
            </p:cNvPicPr>
            <p:nvPr>
              <p:custDataLst>
                <p:tags r:id="rId29"/>
              </p:custDataLst>
            </p:nvPr>
          </p:nvPicPr>
          <p:blipFill>
            <a:blip r:embed="rId26" cstate="email"/>
            <a:srcRect/>
            <a:stretch>
              <a:fillRect/>
            </a:stretch>
          </p:blipFill>
          <p:spPr bwMode="auto">
            <a:xfrm>
              <a:off x="20429" y="10356"/>
              <a:ext cx="307" cy="339"/>
            </a:xfrm>
            <a:prstGeom prst="rect">
              <a:avLst/>
            </a:prstGeom>
            <a:noFill/>
            <a:ln w="9525">
              <a:noFill/>
              <a:miter lim="800000"/>
              <a:headEnd/>
              <a:tailEnd/>
            </a:ln>
          </p:spPr>
        </p:pic>
        <p:pic>
          <p:nvPicPr>
            <p:cNvPr id="582" name="图片 295"/>
            <p:cNvPicPr>
              <a:picLocks noChangeAspect="1"/>
            </p:cNvPicPr>
            <p:nvPr>
              <p:custDataLst>
                <p:tags r:id="rId30"/>
              </p:custDataLst>
            </p:nvPr>
          </p:nvPicPr>
          <p:blipFill>
            <a:blip r:embed="rId26" cstate="email"/>
            <a:srcRect/>
            <a:stretch>
              <a:fillRect/>
            </a:stretch>
          </p:blipFill>
          <p:spPr bwMode="auto">
            <a:xfrm>
              <a:off x="21196" y="10356"/>
              <a:ext cx="309" cy="339"/>
            </a:xfrm>
            <a:prstGeom prst="rect">
              <a:avLst/>
            </a:prstGeom>
            <a:noFill/>
            <a:ln w="9525">
              <a:noFill/>
              <a:miter lim="800000"/>
              <a:headEnd/>
              <a:tailEnd/>
            </a:ln>
          </p:spPr>
        </p:pic>
        <p:pic>
          <p:nvPicPr>
            <p:cNvPr id="583" name="图片 296"/>
            <p:cNvPicPr>
              <a:picLocks noChangeAspect="1"/>
            </p:cNvPicPr>
            <p:nvPr>
              <p:custDataLst>
                <p:tags r:id="rId31"/>
              </p:custDataLst>
            </p:nvPr>
          </p:nvPicPr>
          <p:blipFill>
            <a:blip r:embed="rId26" cstate="email"/>
            <a:srcRect/>
            <a:stretch>
              <a:fillRect/>
            </a:stretch>
          </p:blipFill>
          <p:spPr bwMode="auto">
            <a:xfrm>
              <a:off x="21894" y="10356"/>
              <a:ext cx="312" cy="339"/>
            </a:xfrm>
            <a:prstGeom prst="rect">
              <a:avLst/>
            </a:prstGeom>
            <a:noFill/>
            <a:ln w="9525">
              <a:noFill/>
              <a:miter lim="800000"/>
              <a:headEnd/>
              <a:tailEnd/>
            </a:ln>
          </p:spPr>
        </p:pic>
        <p:cxnSp>
          <p:nvCxnSpPr>
            <p:cNvPr id="584" name="直接连接符 583"/>
            <p:cNvCxnSpPr/>
            <p:nvPr>
              <p:custDataLst>
                <p:tags r:id="rId32"/>
              </p:custDataLst>
            </p:nvPr>
          </p:nvCxnSpPr>
          <p:spPr>
            <a:xfrm>
              <a:off x="19435" y="8025"/>
              <a:ext cx="1363" cy="0"/>
            </a:xfrm>
            <a:prstGeom prst="line">
              <a:avLst/>
            </a:prstGeom>
            <a:noFill/>
            <a:ln w="12700" cap="flat" cmpd="sng" algn="ctr">
              <a:solidFill>
                <a:srgbClr val="184199"/>
              </a:solidFill>
              <a:prstDash val="dash"/>
              <a:miter lim="800000"/>
            </a:ln>
            <a:effectLst/>
          </p:spPr>
        </p:cxnSp>
        <p:cxnSp>
          <p:nvCxnSpPr>
            <p:cNvPr id="585" name="直接连接符 584"/>
            <p:cNvCxnSpPr/>
            <p:nvPr>
              <p:custDataLst>
                <p:tags r:id="rId33"/>
              </p:custDataLst>
            </p:nvPr>
          </p:nvCxnSpPr>
          <p:spPr>
            <a:xfrm>
              <a:off x="19435" y="9244"/>
              <a:ext cx="1363" cy="0"/>
            </a:xfrm>
            <a:prstGeom prst="line">
              <a:avLst/>
            </a:prstGeom>
            <a:noFill/>
            <a:ln w="12700" cap="flat" cmpd="sng" algn="ctr">
              <a:solidFill>
                <a:srgbClr val="184199"/>
              </a:solidFill>
              <a:prstDash val="dash"/>
              <a:miter lim="800000"/>
            </a:ln>
            <a:effectLst/>
          </p:spPr>
        </p:cxnSp>
        <p:pic>
          <p:nvPicPr>
            <p:cNvPr id="586" name="图片 323"/>
            <p:cNvPicPr>
              <a:picLocks noChangeAspect="1"/>
            </p:cNvPicPr>
            <p:nvPr>
              <p:custDataLst>
                <p:tags r:id="rId34"/>
              </p:custDataLst>
            </p:nvPr>
          </p:nvPicPr>
          <p:blipFill>
            <a:blip r:embed="rId35" cstate="email"/>
            <a:srcRect/>
            <a:stretch>
              <a:fillRect/>
            </a:stretch>
          </p:blipFill>
          <p:spPr bwMode="auto">
            <a:xfrm>
              <a:off x="18664" y="7586"/>
              <a:ext cx="834" cy="810"/>
            </a:xfrm>
            <a:prstGeom prst="rect">
              <a:avLst/>
            </a:prstGeom>
            <a:noFill/>
            <a:ln w="9525">
              <a:noFill/>
              <a:miter lim="800000"/>
              <a:headEnd/>
              <a:tailEnd/>
            </a:ln>
          </p:spPr>
        </p:pic>
        <p:pic>
          <p:nvPicPr>
            <p:cNvPr id="587" name="图片 324"/>
            <p:cNvPicPr>
              <a:picLocks noChangeAspect="1"/>
            </p:cNvPicPr>
            <p:nvPr>
              <p:custDataLst>
                <p:tags r:id="rId36"/>
              </p:custDataLst>
            </p:nvPr>
          </p:nvPicPr>
          <p:blipFill>
            <a:blip r:embed="rId35" cstate="email"/>
            <a:srcRect/>
            <a:stretch>
              <a:fillRect/>
            </a:stretch>
          </p:blipFill>
          <p:spPr bwMode="auto">
            <a:xfrm>
              <a:off x="20791" y="7586"/>
              <a:ext cx="834" cy="810"/>
            </a:xfrm>
            <a:prstGeom prst="rect">
              <a:avLst/>
            </a:prstGeom>
            <a:noFill/>
            <a:ln w="9525">
              <a:noFill/>
              <a:miter lim="800000"/>
              <a:headEnd/>
              <a:tailEnd/>
            </a:ln>
          </p:spPr>
        </p:pic>
        <p:pic>
          <p:nvPicPr>
            <p:cNvPr id="588" name="图片 343"/>
            <p:cNvPicPr>
              <a:picLocks noChangeAspect="1"/>
            </p:cNvPicPr>
            <p:nvPr>
              <p:custDataLst>
                <p:tags r:id="rId37"/>
              </p:custDataLst>
            </p:nvPr>
          </p:nvPicPr>
          <p:blipFill>
            <a:blip r:embed="rId38" cstate="email"/>
            <a:srcRect/>
            <a:stretch>
              <a:fillRect/>
            </a:stretch>
          </p:blipFill>
          <p:spPr bwMode="auto">
            <a:xfrm>
              <a:off x="18723" y="8822"/>
              <a:ext cx="748" cy="737"/>
            </a:xfrm>
            <a:prstGeom prst="rect">
              <a:avLst/>
            </a:prstGeom>
            <a:noFill/>
            <a:ln w="9525">
              <a:noFill/>
              <a:miter lim="800000"/>
              <a:headEnd/>
              <a:tailEnd/>
            </a:ln>
          </p:spPr>
        </p:pic>
        <p:pic>
          <p:nvPicPr>
            <p:cNvPr id="589" name="图片 344"/>
            <p:cNvPicPr>
              <a:picLocks noChangeAspect="1"/>
            </p:cNvPicPr>
            <p:nvPr>
              <p:custDataLst>
                <p:tags r:id="rId39"/>
              </p:custDataLst>
            </p:nvPr>
          </p:nvPicPr>
          <p:blipFill>
            <a:blip r:embed="rId38" cstate="email"/>
            <a:srcRect/>
            <a:stretch>
              <a:fillRect/>
            </a:stretch>
          </p:blipFill>
          <p:spPr bwMode="auto">
            <a:xfrm>
              <a:off x="20838" y="8822"/>
              <a:ext cx="748" cy="737"/>
            </a:xfrm>
            <a:prstGeom prst="rect">
              <a:avLst/>
            </a:prstGeom>
            <a:noFill/>
            <a:ln w="9525">
              <a:noFill/>
              <a:miter lim="800000"/>
              <a:headEnd/>
              <a:tailEnd/>
            </a:ln>
          </p:spPr>
        </p:pic>
        <p:grpSp>
          <p:nvGrpSpPr>
            <p:cNvPr id="590" name="组合 397"/>
            <p:cNvGrpSpPr/>
            <p:nvPr/>
          </p:nvGrpSpPr>
          <p:grpSpPr bwMode="auto">
            <a:xfrm rot="0">
              <a:off x="21586" y="8998"/>
              <a:ext cx="1846" cy="842"/>
              <a:chOff x="9789635" y="4889149"/>
              <a:chExt cx="752717" cy="338168"/>
            </a:xfrm>
          </p:grpSpPr>
          <p:sp>
            <p:nvSpPr>
              <p:cNvPr id="591" name="TextBox 79"/>
              <p:cNvSpPr txBox="1">
                <a:spLocks noChangeArrowheads="1"/>
              </p:cNvSpPr>
              <p:nvPr>
                <p:custDataLst>
                  <p:tags r:id="rId40"/>
                </p:custDataLst>
              </p:nvPr>
            </p:nvSpPr>
            <p:spPr bwMode="auto">
              <a:xfrm>
                <a:off x="9899227" y="5033747"/>
                <a:ext cx="643125" cy="193570"/>
              </a:xfrm>
              <a:prstGeom prst="rect">
                <a:avLst/>
              </a:prstGeom>
              <a:noFill/>
              <a:ln w="9525">
                <a:noFill/>
                <a:miter lim="800000"/>
              </a:ln>
            </p:spPr>
            <p:txBody>
              <a:bodyPr wrap="square">
                <a:spAutoFit/>
              </a:bodyPr>
              <a:lstStyle/>
              <a:p>
                <a:pPr marL="228600" marR="0" lvl="0" indent="-228600" defTabSz="914400" eaLnBrk="1" fontAlgn="auto" latinLnBrk="0" hangingPunct="1">
                  <a:lnSpc>
                    <a:spcPct val="90000"/>
                  </a:lnSpc>
                  <a:spcBef>
                    <a:spcPts val="1000"/>
                  </a:spcBef>
                  <a:spcAft>
                    <a:spcPts val="0"/>
                  </a:spcAft>
                  <a:buClrTx/>
                  <a:buSzTx/>
                  <a:buFontTx/>
                  <a:buNone/>
                  <a:defRPr/>
                </a:pPr>
                <a:r>
                  <a:rPr kumimoji="1" lang="zh-CN" altLang="en-US" sz="450" b="1" i="0" u="none" strike="noStrike" kern="0" cap="none" spc="0" normalizeH="0" baseline="0" noProof="0">
                    <a:ln>
                      <a:noFill/>
                    </a:ln>
                    <a:solidFill>
                      <a:srgbClr val="C00000"/>
                    </a:solidFill>
                    <a:effectLst/>
                    <a:uLnTx/>
                    <a:uFillTx/>
                    <a:latin typeface="微软雅黑" panose="020B0503020204020204" charset="-122"/>
                    <a:ea typeface="微软雅黑" panose="020B0503020204020204" charset="-122"/>
                  </a:rPr>
                  <a:t>探针</a:t>
                </a:r>
                <a:r>
                  <a:rPr kumimoji="1" lang="en-US" altLang="zh-CN" sz="450" b="1" i="0" u="none" strike="noStrike" kern="0" cap="none" spc="0" normalizeH="0" baseline="0" noProof="0">
                    <a:ln>
                      <a:noFill/>
                    </a:ln>
                    <a:solidFill>
                      <a:srgbClr val="C00000"/>
                    </a:solidFill>
                    <a:effectLst/>
                    <a:uLnTx/>
                    <a:uFillTx/>
                    <a:latin typeface="微软雅黑" panose="020B0503020204020204" charset="-122"/>
                    <a:ea typeface="微软雅黑" panose="020B0503020204020204" charset="-122"/>
                  </a:rPr>
                  <a:t>STA</a:t>
                </a:r>
                <a:endParaRPr kumimoji="1" lang="zh-CN" altLang="en-US" sz="450" b="1" i="0" u="none" strike="noStrike" kern="0" cap="none" spc="0" normalizeH="0" baseline="0" noProof="0">
                  <a:ln>
                    <a:noFill/>
                  </a:ln>
                  <a:solidFill>
                    <a:srgbClr val="C00000"/>
                  </a:solidFill>
                  <a:effectLst/>
                  <a:uLnTx/>
                  <a:uFillTx/>
                  <a:latin typeface="微软雅黑" panose="020B0503020204020204" charset="-122"/>
                  <a:ea typeface="微软雅黑" panose="020B0503020204020204" charset="-122"/>
                </a:endParaRPr>
              </a:p>
            </p:txBody>
          </p:sp>
          <p:pic>
            <p:nvPicPr>
              <p:cNvPr id="592" name="图片 399"/>
              <p:cNvPicPr>
                <a:picLocks noChangeAspect="1"/>
              </p:cNvPicPr>
              <p:nvPr>
                <p:custDataLst>
                  <p:tags r:id="rId41"/>
                </p:custDataLst>
              </p:nvPr>
            </p:nvPicPr>
            <p:blipFill>
              <a:blip r:embed="rId42" cstate="email"/>
              <a:srcRect/>
              <a:stretch>
                <a:fillRect/>
              </a:stretch>
            </p:blipFill>
            <p:spPr bwMode="auto">
              <a:xfrm>
                <a:off x="10006395" y="4889149"/>
                <a:ext cx="388999" cy="177146"/>
              </a:xfrm>
              <a:prstGeom prst="rect">
                <a:avLst/>
              </a:prstGeom>
              <a:noFill/>
              <a:ln w="9525">
                <a:noFill/>
                <a:miter lim="800000"/>
                <a:headEnd/>
                <a:tailEnd/>
              </a:ln>
            </p:spPr>
          </p:pic>
          <p:cxnSp>
            <p:nvCxnSpPr>
              <p:cNvPr id="593" name="直接连接符 592"/>
              <p:cNvCxnSpPr/>
              <p:nvPr>
                <p:custDataLst>
                  <p:tags r:id="rId43"/>
                </p:custDataLst>
              </p:nvPr>
            </p:nvCxnSpPr>
            <p:spPr>
              <a:xfrm>
                <a:off x="9789635" y="4990645"/>
                <a:ext cx="219145" cy="1586"/>
              </a:xfrm>
              <a:prstGeom prst="line">
                <a:avLst/>
              </a:prstGeom>
              <a:noFill/>
              <a:ln w="25400" cap="flat" cmpd="sng" algn="ctr">
                <a:solidFill>
                  <a:srgbClr val="184199"/>
                </a:solidFill>
                <a:prstDash val="solid"/>
                <a:miter lim="800000"/>
              </a:ln>
              <a:effectLst/>
            </p:spPr>
          </p:cxnSp>
        </p:grpSp>
        <p:sp>
          <p:nvSpPr>
            <p:cNvPr id="594" name="矩形 377"/>
            <p:cNvSpPr>
              <a:spLocks noChangeArrowheads="1"/>
            </p:cNvSpPr>
            <p:nvPr>
              <p:custDataLst>
                <p:tags r:id="rId44"/>
              </p:custDataLst>
            </p:nvPr>
          </p:nvSpPr>
          <p:spPr bwMode="auto">
            <a:xfrm>
              <a:off x="22112" y="10415"/>
              <a:ext cx="1161" cy="682"/>
            </a:xfrm>
            <a:prstGeom prst="rect">
              <a:avLst/>
            </a:prstGeom>
            <a:noFill/>
            <a:ln w="9525">
              <a:noFill/>
              <a:miter lim="800000"/>
            </a:ln>
          </p:spPr>
          <p:txBody>
            <a:bodyPr wrap="square">
              <a:noAutofit/>
            </a:bodyPr>
            <a:lstStyle/>
            <a:p>
              <a:pPr algn="ctr">
                <a:lnSpc>
                  <a:spcPct val="90000"/>
                </a:lnSpc>
                <a:spcBef>
                  <a:spcPts val="1000"/>
                </a:spcBef>
              </a:pPr>
              <a:r>
                <a:rPr kumimoji="1" lang="zh-CN" altLang="en-US" sz="450" b="1" dirty="0">
                  <a:solidFill>
                    <a:srgbClr val="C00000"/>
                  </a:solidFill>
                  <a:latin typeface="微软雅黑" panose="020B0503020204020204" charset="-122"/>
                  <a:ea typeface="微软雅黑" panose="020B0503020204020204" charset="-122"/>
                </a:rPr>
                <a:t>EDR</a:t>
              </a:r>
              <a:endParaRPr kumimoji="1" lang="zh-CN" altLang="en-US" sz="450" b="1" dirty="0">
                <a:solidFill>
                  <a:srgbClr val="C00000"/>
                </a:solidFill>
                <a:latin typeface="微软雅黑" panose="020B0503020204020204" charset="-122"/>
                <a:ea typeface="微软雅黑" panose="020B0503020204020204" charset="-122"/>
              </a:endParaRPr>
            </a:p>
          </p:txBody>
        </p:sp>
        <p:sp>
          <p:nvSpPr>
            <p:cNvPr id="595" name="任意形状 33"/>
            <p:cNvSpPr/>
            <p:nvPr>
              <p:custDataLst>
                <p:tags r:id="rId45"/>
              </p:custDataLst>
            </p:nvPr>
          </p:nvSpPr>
          <p:spPr>
            <a:xfrm>
              <a:off x="19488" y="6499"/>
              <a:ext cx="1610" cy="807"/>
            </a:xfrm>
            <a:custGeom>
              <a:avLst/>
              <a:gdLst>
                <a:gd name="connsiteX0" fmla="*/ 2225150 w 3964603"/>
                <a:gd name="connsiteY0" fmla="*/ 0 h 2369669"/>
                <a:gd name="connsiteX1" fmla="*/ 3326336 w 3964603"/>
                <a:gd name="connsiteY1" fmla="*/ 897492 h 2369669"/>
                <a:gd name="connsiteX2" fmla="*/ 3342312 w 3964603"/>
                <a:gd name="connsiteY2" fmla="*/ 1002169 h 2369669"/>
                <a:gd name="connsiteX3" fmla="*/ 3416048 w 3964603"/>
                <a:gd name="connsiteY3" fmla="*/ 1009602 h 2369669"/>
                <a:gd name="connsiteX4" fmla="*/ 3964603 w 3964603"/>
                <a:gd name="connsiteY4" fmla="*/ 1682657 h 2369669"/>
                <a:gd name="connsiteX5" fmla="*/ 3277591 w 3964603"/>
                <a:gd name="connsiteY5" fmla="*/ 2369669 h 2369669"/>
                <a:gd name="connsiteX6" fmla="*/ 3265322 w 3964603"/>
                <a:gd name="connsiteY6" fmla="*/ 2368432 h 2369669"/>
                <a:gd name="connsiteX7" fmla="*/ 3265322 w 3964603"/>
                <a:gd name="connsiteY7" fmla="*/ 2369669 h 2369669"/>
                <a:gd name="connsiteX8" fmla="*/ 696120 w 3964603"/>
                <a:gd name="connsiteY8" fmla="*/ 2369669 h 2369669"/>
                <a:gd name="connsiteX9" fmla="*/ 696120 w 3964603"/>
                <a:gd name="connsiteY9" fmla="*/ 2368751 h 2369669"/>
                <a:gd name="connsiteX10" fmla="*/ 687012 w 3964603"/>
                <a:gd name="connsiteY10" fmla="*/ 2369669 h 2369669"/>
                <a:gd name="connsiteX11" fmla="*/ 0 w 3964603"/>
                <a:gd name="connsiteY11" fmla="*/ 1682657 h 2369669"/>
                <a:gd name="connsiteX12" fmla="*/ 419596 w 3964603"/>
                <a:gd name="connsiteY12" fmla="*/ 1049634 h 2369669"/>
                <a:gd name="connsiteX13" fmla="*/ 479586 w 3964603"/>
                <a:gd name="connsiteY13" fmla="*/ 1031012 h 2369669"/>
                <a:gd name="connsiteX14" fmla="*/ 480815 w 3964603"/>
                <a:gd name="connsiteY14" fmla="*/ 1018815 h 2369669"/>
                <a:gd name="connsiteX15" fmla="*/ 1118086 w 3964603"/>
                <a:gd name="connsiteY15" fmla="*/ 499425 h 2369669"/>
                <a:gd name="connsiteX16" fmla="*/ 1249182 w 3964603"/>
                <a:gd name="connsiteY16" fmla="*/ 512640 h 2369669"/>
                <a:gd name="connsiteX17" fmla="*/ 1277402 w 3964603"/>
                <a:gd name="connsiteY17" fmla="*/ 521400 h 2369669"/>
                <a:gd name="connsiteX18" fmla="*/ 1293094 w 3964603"/>
                <a:gd name="connsiteY18" fmla="*/ 495571 h 2369669"/>
                <a:gd name="connsiteX19" fmla="*/ 2225150 w 3964603"/>
                <a:gd name="connsiteY19" fmla="*/ 0 h 2369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964603" h="2369669">
                  <a:moveTo>
                    <a:pt x="2225150" y="0"/>
                  </a:moveTo>
                  <a:cubicBezTo>
                    <a:pt x="2768333" y="0"/>
                    <a:pt x="3221525" y="385295"/>
                    <a:pt x="3326336" y="897492"/>
                  </a:cubicBezTo>
                  <a:lnTo>
                    <a:pt x="3342312" y="1002169"/>
                  </a:lnTo>
                  <a:lnTo>
                    <a:pt x="3416048" y="1009602"/>
                  </a:lnTo>
                  <a:cubicBezTo>
                    <a:pt x="3729108" y="1073664"/>
                    <a:pt x="3964603" y="1350659"/>
                    <a:pt x="3964603" y="1682657"/>
                  </a:cubicBezTo>
                  <a:cubicBezTo>
                    <a:pt x="3964603" y="2062083"/>
                    <a:pt x="3657017" y="2369669"/>
                    <a:pt x="3277591" y="2369669"/>
                  </a:cubicBezTo>
                  <a:lnTo>
                    <a:pt x="3265322" y="2368432"/>
                  </a:lnTo>
                  <a:lnTo>
                    <a:pt x="3265322" y="2369669"/>
                  </a:lnTo>
                  <a:lnTo>
                    <a:pt x="696120" y="2369669"/>
                  </a:lnTo>
                  <a:lnTo>
                    <a:pt x="696120" y="2368751"/>
                  </a:lnTo>
                  <a:lnTo>
                    <a:pt x="687012" y="2369669"/>
                  </a:lnTo>
                  <a:cubicBezTo>
                    <a:pt x="307586" y="2369669"/>
                    <a:pt x="0" y="2062083"/>
                    <a:pt x="0" y="1682657"/>
                  </a:cubicBezTo>
                  <a:cubicBezTo>
                    <a:pt x="0" y="1398087"/>
                    <a:pt x="173017" y="1153928"/>
                    <a:pt x="419596" y="1049634"/>
                  </a:cubicBezTo>
                  <a:lnTo>
                    <a:pt x="479586" y="1031012"/>
                  </a:lnTo>
                  <a:lnTo>
                    <a:pt x="480815" y="1018815"/>
                  </a:lnTo>
                  <a:cubicBezTo>
                    <a:pt x="541471" y="722400"/>
                    <a:pt x="803740" y="499425"/>
                    <a:pt x="1118086" y="499425"/>
                  </a:cubicBezTo>
                  <a:cubicBezTo>
                    <a:pt x="1162993" y="499425"/>
                    <a:pt x="1206837" y="503975"/>
                    <a:pt x="1249182" y="512640"/>
                  </a:cubicBezTo>
                  <a:lnTo>
                    <a:pt x="1277402" y="521400"/>
                  </a:lnTo>
                  <a:lnTo>
                    <a:pt x="1293094" y="495571"/>
                  </a:lnTo>
                  <a:cubicBezTo>
                    <a:pt x="1495089" y="196579"/>
                    <a:pt x="1837163" y="0"/>
                    <a:pt x="2225150" y="0"/>
                  </a:cubicBezTo>
                  <a:close/>
                </a:path>
              </a:pathLst>
            </a:custGeom>
            <a:solidFill>
              <a:srgbClr val="0170C1"/>
            </a:solidFill>
            <a:ln w="12700" cap="flat" cmpd="sng" algn="ctr">
              <a:noFill/>
              <a:prstDash val="solid"/>
              <a:miter lim="800000"/>
            </a:ln>
            <a:effectLst/>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1" lang="zh-CN" altLang="en-US" sz="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96" name="矩形 242"/>
            <p:cNvSpPr>
              <a:spLocks noChangeArrowheads="1"/>
            </p:cNvSpPr>
            <p:nvPr>
              <p:custDataLst>
                <p:tags r:id="rId46"/>
              </p:custDataLst>
            </p:nvPr>
          </p:nvSpPr>
          <p:spPr bwMode="auto">
            <a:xfrm>
              <a:off x="19319" y="6755"/>
              <a:ext cx="1975" cy="506"/>
            </a:xfrm>
            <a:prstGeom prst="rect">
              <a:avLst/>
            </a:prstGeom>
            <a:noFill/>
            <a:ln w="9525">
              <a:noFill/>
              <a:miter lim="800000"/>
            </a:ln>
          </p:spPr>
          <p:txBody>
            <a:bodyPr wrap="square">
              <a:spAutoFit/>
            </a:bodyPr>
            <a:p>
              <a:pPr marL="228600" indent="-228600">
                <a:lnSpc>
                  <a:spcPct val="90000"/>
                </a:lnSpc>
                <a:spcBef>
                  <a:spcPts val="1000"/>
                </a:spcBef>
              </a:pPr>
              <a:r>
                <a:rPr kumimoji="1" lang="en-US" altLang="zh-CN" sz="500">
                  <a:solidFill>
                    <a:prstClr val="white"/>
                  </a:solidFill>
                  <a:latin typeface="微软雅黑" panose="020B0503020204020204" charset="-122"/>
                  <a:ea typeface="微软雅黑" panose="020B0503020204020204" charset="-122"/>
                </a:rPr>
                <a:t>Internet</a:t>
              </a:r>
              <a:endParaRPr kumimoji="1" lang="zh-CN" altLang="en-US" sz="500">
                <a:solidFill>
                  <a:prstClr val="white"/>
                </a:solidFill>
                <a:latin typeface="微软雅黑" panose="020B0503020204020204" charset="-122"/>
                <a:ea typeface="微软雅黑" panose="020B0503020204020204" charset="-122"/>
              </a:endParaRPr>
            </a:p>
          </p:txBody>
        </p:sp>
      </p:grpSp>
      <p:sp>
        <p:nvSpPr>
          <p:cNvPr id="597" name="任意多边形 47"/>
          <p:cNvSpPr/>
          <p:nvPr>
            <p:custDataLst>
              <p:tags r:id="rId47"/>
            </p:custDataLst>
          </p:nvPr>
        </p:nvSpPr>
        <p:spPr>
          <a:xfrm rot="10800000">
            <a:off x="1321118" y="3015933"/>
            <a:ext cx="3204845" cy="775335"/>
          </a:xfrm>
          <a:custGeom>
            <a:avLst/>
            <a:gdLst>
              <a:gd name="connsiteX0" fmla="*/ 8555392 w 17110784"/>
              <a:gd name="connsiteY0" fmla="*/ 3271968 h 3271968"/>
              <a:gd name="connsiteX1" fmla="*/ 0 w 17110784"/>
              <a:gd name="connsiteY1" fmla="*/ 1635984 h 3271968"/>
              <a:gd name="connsiteX2" fmla="*/ 8555392 w 17110784"/>
              <a:gd name="connsiteY2" fmla="*/ 0 h 3271968"/>
              <a:gd name="connsiteX3" fmla="*/ 17110784 w 17110784"/>
              <a:gd name="connsiteY3" fmla="*/ 1635984 h 3271968"/>
              <a:gd name="connsiteX4" fmla="*/ 8555392 w 17110784"/>
              <a:gd name="connsiteY4" fmla="*/ 3271968 h 3271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10784" h="3271968">
                <a:moveTo>
                  <a:pt x="8555392" y="3271968"/>
                </a:moveTo>
                <a:cubicBezTo>
                  <a:pt x="3830376" y="3271968"/>
                  <a:pt x="0" y="2539513"/>
                  <a:pt x="0" y="1635984"/>
                </a:cubicBezTo>
                <a:cubicBezTo>
                  <a:pt x="0" y="732455"/>
                  <a:pt x="3830376" y="0"/>
                  <a:pt x="8555392" y="0"/>
                </a:cubicBezTo>
                <a:cubicBezTo>
                  <a:pt x="13280404" y="0"/>
                  <a:pt x="17110784" y="732455"/>
                  <a:pt x="17110784" y="1635984"/>
                </a:cubicBezTo>
                <a:cubicBezTo>
                  <a:pt x="17110784" y="2539513"/>
                  <a:pt x="13280404" y="3271968"/>
                  <a:pt x="8555392" y="3271968"/>
                </a:cubicBezTo>
                <a:close/>
              </a:path>
            </a:pathLst>
          </a:custGeom>
          <a:noFill/>
          <a:ln w="6350" cap="flat" cmpd="sng" algn="ctr">
            <a:gradFill>
              <a:gsLst>
                <a:gs pos="0">
                  <a:srgbClr val="00539F"/>
                </a:gs>
                <a:gs pos="100000">
                  <a:srgbClr val="00539F">
                    <a:alpha val="0"/>
                  </a:srgbClr>
                </a:gs>
              </a:gsLst>
              <a:lin ang="5400000" scaled="1"/>
            </a:gradFill>
            <a:prstDash val="solid"/>
            <a:miter lim="800000"/>
          </a:ln>
          <a:effectLst/>
        </p:spPr>
        <p:txBody>
          <a:bodyPr wrap="square" lIns="91422" tIns="45712" rIns="91422" bIns="45712"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598" name="任意多边形 46"/>
          <p:cNvSpPr/>
          <p:nvPr>
            <p:custDataLst>
              <p:tags r:id="rId48"/>
            </p:custDataLst>
          </p:nvPr>
        </p:nvSpPr>
        <p:spPr>
          <a:xfrm rot="10800000">
            <a:off x="1682750" y="3068638"/>
            <a:ext cx="2481580" cy="494030"/>
          </a:xfrm>
          <a:custGeom>
            <a:avLst/>
            <a:gdLst>
              <a:gd name="connsiteX0" fmla="*/ 8555392 w 17110784"/>
              <a:gd name="connsiteY0" fmla="*/ 3271968 h 3271968"/>
              <a:gd name="connsiteX1" fmla="*/ 0 w 17110784"/>
              <a:gd name="connsiteY1" fmla="*/ 1635984 h 3271968"/>
              <a:gd name="connsiteX2" fmla="*/ 8555392 w 17110784"/>
              <a:gd name="connsiteY2" fmla="*/ 0 h 3271968"/>
              <a:gd name="connsiteX3" fmla="*/ 17110784 w 17110784"/>
              <a:gd name="connsiteY3" fmla="*/ 1635984 h 3271968"/>
              <a:gd name="connsiteX4" fmla="*/ 8555392 w 17110784"/>
              <a:gd name="connsiteY4" fmla="*/ 3271968 h 3271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10784" h="3271968">
                <a:moveTo>
                  <a:pt x="8555392" y="3271968"/>
                </a:moveTo>
                <a:cubicBezTo>
                  <a:pt x="3830376" y="3271968"/>
                  <a:pt x="0" y="2539513"/>
                  <a:pt x="0" y="1635984"/>
                </a:cubicBezTo>
                <a:cubicBezTo>
                  <a:pt x="0" y="732455"/>
                  <a:pt x="3830376" y="0"/>
                  <a:pt x="8555392" y="0"/>
                </a:cubicBezTo>
                <a:cubicBezTo>
                  <a:pt x="13280404" y="0"/>
                  <a:pt x="17110784" y="732455"/>
                  <a:pt x="17110784" y="1635984"/>
                </a:cubicBezTo>
                <a:cubicBezTo>
                  <a:pt x="17110784" y="2539513"/>
                  <a:pt x="13280404" y="3271968"/>
                  <a:pt x="8555392" y="3271968"/>
                </a:cubicBezTo>
                <a:close/>
              </a:path>
            </a:pathLst>
          </a:custGeom>
          <a:noFill/>
          <a:ln w="6350" cap="flat" cmpd="sng" algn="ctr">
            <a:gradFill>
              <a:gsLst>
                <a:gs pos="0">
                  <a:srgbClr val="00539F"/>
                </a:gs>
                <a:gs pos="100000">
                  <a:srgbClr val="00539F">
                    <a:alpha val="0"/>
                  </a:srgbClr>
                </a:gs>
              </a:gsLst>
              <a:lin ang="5400000" scaled="1"/>
            </a:gradFill>
            <a:prstDash val="dash"/>
            <a:miter lim="800000"/>
          </a:ln>
          <a:effectLst/>
        </p:spPr>
        <p:txBody>
          <a:bodyPr wrap="square" lIns="91422" tIns="45712" rIns="91422" bIns="45712"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599" name="下箭头 143"/>
          <p:cNvSpPr/>
          <p:nvPr/>
        </p:nvSpPr>
        <p:spPr>
          <a:xfrm rot="10800000">
            <a:off x="2893378" y="2476183"/>
            <a:ext cx="133985" cy="570230"/>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600" name="下箭头 145"/>
          <p:cNvSpPr/>
          <p:nvPr/>
        </p:nvSpPr>
        <p:spPr>
          <a:xfrm rot="10800000">
            <a:off x="2483168" y="2472373"/>
            <a:ext cx="133985" cy="570230"/>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601" name="下箭头 146"/>
          <p:cNvSpPr/>
          <p:nvPr/>
        </p:nvSpPr>
        <p:spPr>
          <a:xfrm rot="10800000">
            <a:off x="3305493" y="2472373"/>
            <a:ext cx="134620" cy="570230"/>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602" name="下箭头 57"/>
          <p:cNvSpPr/>
          <p:nvPr/>
        </p:nvSpPr>
        <p:spPr>
          <a:xfrm>
            <a:off x="3113723" y="2605088"/>
            <a:ext cx="134620" cy="570230"/>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603" name="下箭头 58"/>
          <p:cNvSpPr/>
          <p:nvPr/>
        </p:nvSpPr>
        <p:spPr>
          <a:xfrm>
            <a:off x="2638108" y="2615883"/>
            <a:ext cx="134620" cy="570230"/>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670" name="下箭头 146"/>
          <p:cNvSpPr/>
          <p:nvPr/>
        </p:nvSpPr>
        <p:spPr>
          <a:xfrm rot="10800000">
            <a:off x="1264285" y="2668063"/>
            <a:ext cx="134620" cy="1134000"/>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671" name="下箭头 57"/>
          <p:cNvSpPr/>
          <p:nvPr/>
        </p:nvSpPr>
        <p:spPr>
          <a:xfrm>
            <a:off x="1072515" y="3364548"/>
            <a:ext cx="134620" cy="1134000"/>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672" name="下箭头 146"/>
          <p:cNvSpPr/>
          <p:nvPr/>
        </p:nvSpPr>
        <p:spPr>
          <a:xfrm rot="10800000">
            <a:off x="4645343" y="2671238"/>
            <a:ext cx="134620" cy="1134000"/>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673" name="下箭头 57"/>
          <p:cNvSpPr/>
          <p:nvPr/>
        </p:nvSpPr>
        <p:spPr>
          <a:xfrm>
            <a:off x="4453573" y="3367723"/>
            <a:ext cx="134620" cy="1134000"/>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971" name="矩形 970"/>
          <p:cNvSpPr/>
          <p:nvPr/>
        </p:nvSpPr>
        <p:spPr>
          <a:xfrm>
            <a:off x="5740400" y="1158875"/>
            <a:ext cx="335280" cy="2218690"/>
          </a:xfrm>
          <a:prstGeom prst="rect">
            <a:avLst/>
          </a:prstGeom>
          <a:ln>
            <a:tailEnd type="arrow" w="med" len="med"/>
          </a:ln>
        </p:spPr>
        <p:style>
          <a:lnRef idx="0">
            <a:srgbClr val="FFFFFF"/>
          </a:lnRef>
          <a:fillRef idx="1">
            <a:schemeClr val="accent1"/>
          </a:fillRef>
          <a:effectRef idx="0">
            <a:srgbClr val="FFFFFF"/>
          </a:effectRef>
          <a:fontRef idx="minor">
            <a:schemeClr val="lt1"/>
          </a:fontRef>
        </p:style>
        <p:txBody>
          <a:bodyPr anchor="ctr" anchorCtr="0"/>
          <a:lstStyle/>
          <a:p>
            <a:pPr algn="ctr"/>
            <a:r>
              <a:rPr lang="en-US" altLang="zh-CN" sz="1400" b="1">
                <a:latin typeface="微软雅黑" panose="020B0503020204020204" charset="-122"/>
                <a:ea typeface="微软雅黑" panose="020B0503020204020204" charset="-122"/>
              </a:rPr>
              <a:t>AI</a:t>
            </a:r>
            <a:endParaRPr lang="en-US" altLang="zh-CN" sz="1400" b="1">
              <a:latin typeface="微软雅黑" panose="020B0503020204020204" charset="-122"/>
              <a:ea typeface="微软雅黑" panose="020B0503020204020204" charset="-122"/>
            </a:endParaRPr>
          </a:p>
          <a:p>
            <a:pPr algn="ctr"/>
            <a:r>
              <a:rPr lang="zh-CN" altLang="en-US" sz="1400" b="1">
                <a:latin typeface="微软雅黑" panose="020B0503020204020204" charset="-122"/>
                <a:ea typeface="微软雅黑" panose="020B0503020204020204" charset="-122"/>
              </a:rPr>
              <a:t>安服技术创新</a:t>
            </a:r>
            <a:endParaRPr lang="zh-CN" altLang="en-US" sz="1400" b="1">
              <a:latin typeface="微软雅黑" panose="020B0503020204020204" charset="-122"/>
              <a:ea typeface="微软雅黑" panose="020B0503020204020204" charset="-122"/>
            </a:endParaRPr>
          </a:p>
        </p:txBody>
      </p:sp>
      <p:sp>
        <p:nvSpPr>
          <p:cNvPr id="972" name="矩形 971"/>
          <p:cNvSpPr/>
          <p:nvPr/>
        </p:nvSpPr>
        <p:spPr>
          <a:xfrm>
            <a:off x="5740400" y="3562985"/>
            <a:ext cx="335280" cy="2964815"/>
          </a:xfrm>
          <a:prstGeom prst="rect">
            <a:avLst/>
          </a:prstGeom>
          <a:ln>
            <a:tailEnd type="arrow" w="med" len="med"/>
          </a:ln>
        </p:spPr>
        <p:style>
          <a:lnRef idx="0">
            <a:srgbClr val="FFFFFF"/>
          </a:lnRef>
          <a:fillRef idx="1">
            <a:schemeClr val="accent1"/>
          </a:fillRef>
          <a:effectRef idx="0">
            <a:srgbClr val="FFFFFF"/>
          </a:effectRef>
          <a:fontRef idx="minor">
            <a:schemeClr val="lt1"/>
          </a:fontRef>
        </p:style>
        <p:txBody>
          <a:bodyPr anchor="ctr" anchorCtr="0"/>
          <a:lstStyle/>
          <a:p>
            <a:pPr algn="ctr"/>
            <a:r>
              <a:rPr lang="zh-CN" altLang="en-US" sz="1400" b="1">
                <a:latin typeface="微软雅黑" panose="020B0503020204020204" charset="-122"/>
                <a:ea typeface="微软雅黑" panose="020B0503020204020204" charset="-122"/>
              </a:rPr>
              <a:t>方案建议</a:t>
            </a:r>
            <a:r>
              <a:rPr lang="zh-CN" altLang="en-US" sz="1400" b="1">
                <a:latin typeface="微软雅黑" panose="020B0503020204020204" charset="-122"/>
                <a:ea typeface="微软雅黑" panose="020B0503020204020204" charset="-122"/>
              </a:rPr>
              <a:t>配置清单</a:t>
            </a:r>
            <a:endParaRPr lang="zh-CN" altLang="en-US" sz="1400" b="1">
              <a:latin typeface="微软雅黑" panose="020B0503020204020204" charset="-122"/>
              <a:ea typeface="微软雅黑" panose="020B0503020204020204" charset="-122"/>
            </a:endParaRPr>
          </a:p>
        </p:txBody>
      </p:sp>
      <p:sp>
        <p:nvSpPr>
          <p:cNvPr id="974" name="文本框 973"/>
          <p:cNvSpPr txBox="1"/>
          <p:nvPr/>
        </p:nvSpPr>
        <p:spPr>
          <a:xfrm>
            <a:off x="6165850" y="1138555"/>
            <a:ext cx="5612765" cy="273050"/>
          </a:xfrm>
          <a:prstGeom prst="rect">
            <a:avLst/>
          </a:prstGeom>
          <a:noFill/>
        </p:spPr>
        <p:txBody>
          <a:bodyPr wrap="square" rtlCol="0">
            <a:noAutofit/>
          </a:bodyPr>
          <a:lstStyle/>
          <a:p>
            <a:pPr algn="l"/>
            <a:r>
              <a:rPr lang="en-US" sz="1200">
                <a:solidFill>
                  <a:schemeClr val="accent1"/>
                </a:solidFill>
                <a:latin typeface="微软雅黑" panose="020B0503020204020204" charset="-122"/>
                <a:ea typeface="微软雅黑" panose="020B0503020204020204" charset="-122"/>
                <a:cs typeface="微软雅黑" panose="020B0503020204020204" charset="-122"/>
              </a:rPr>
              <a:t>AI</a:t>
            </a:r>
            <a:r>
              <a:rPr lang="zh-CN" altLang="en-US" sz="1200">
                <a:solidFill>
                  <a:schemeClr val="accent1"/>
                </a:solidFill>
                <a:latin typeface="微软雅黑" panose="020B0503020204020204" charset="-122"/>
                <a:ea typeface="微软雅黑" panose="020B0503020204020204" charset="-122"/>
                <a:cs typeface="微软雅黑" panose="020B0503020204020204" charset="-122"/>
              </a:rPr>
              <a:t>赋能支持威胁检测、分析研判、智能处置</a:t>
            </a:r>
            <a:r>
              <a:rPr lang="zh-CN" altLang="en-US" sz="1200">
                <a:solidFill>
                  <a:schemeClr val="accent1"/>
                </a:solidFill>
                <a:latin typeface="微软雅黑" panose="020B0503020204020204" charset="-122"/>
                <a:ea typeface="微软雅黑" panose="020B0503020204020204" charset="-122"/>
                <a:cs typeface="微软雅黑" panose="020B0503020204020204" charset="-122"/>
              </a:rPr>
              <a:t>等全栈效率提升，带来更强运营</a:t>
            </a:r>
            <a:r>
              <a:rPr lang="zh-CN" altLang="en-US" sz="1200">
                <a:solidFill>
                  <a:schemeClr val="accent1"/>
                </a:solidFill>
                <a:latin typeface="微软雅黑" panose="020B0503020204020204" charset="-122"/>
                <a:ea typeface="微软雅黑" panose="020B0503020204020204" charset="-122"/>
                <a:cs typeface="微软雅黑" panose="020B0503020204020204" charset="-122"/>
              </a:rPr>
              <a:t>能力</a:t>
            </a:r>
            <a:endParaRPr lang="zh-CN" altLang="en-US" sz="1200">
              <a:solidFill>
                <a:schemeClr val="accent1"/>
              </a:solidFill>
              <a:latin typeface="微软雅黑" panose="020B0503020204020204" charset="-122"/>
              <a:ea typeface="微软雅黑" panose="020B0503020204020204" charset="-122"/>
              <a:cs typeface="微软雅黑" panose="020B0503020204020204" charset="-122"/>
            </a:endParaRPr>
          </a:p>
        </p:txBody>
      </p:sp>
      <p:pic>
        <p:nvPicPr>
          <p:cNvPr id="976" name="图像" descr="图像"/>
          <p:cNvPicPr/>
          <p:nvPr>
            <p:custDataLst>
              <p:tags r:id="rId49"/>
            </p:custDataLst>
          </p:nvPr>
        </p:nvPicPr>
        <p:blipFill>
          <a:blip r:embed="rId50"/>
          <a:stretch>
            <a:fillRect/>
          </a:stretch>
        </p:blipFill>
        <p:spPr>
          <a:xfrm>
            <a:off x="6569710" y="1524635"/>
            <a:ext cx="360045" cy="360045"/>
          </a:xfrm>
          <a:prstGeom prst="rect">
            <a:avLst/>
          </a:prstGeom>
          <a:effectLst/>
        </p:spPr>
      </p:pic>
      <p:sp>
        <p:nvSpPr>
          <p:cNvPr id="977" name="文本框 976"/>
          <p:cNvSpPr txBox="1"/>
          <p:nvPr>
            <p:custDataLst>
              <p:tags r:id="rId51"/>
            </p:custDataLst>
          </p:nvPr>
        </p:nvSpPr>
        <p:spPr>
          <a:xfrm>
            <a:off x="6280785" y="1849755"/>
            <a:ext cx="942340" cy="229870"/>
          </a:xfrm>
          <a:prstGeom prst="rect">
            <a:avLst/>
          </a:prstGeom>
          <a:noFill/>
        </p:spPr>
        <p:txBody>
          <a:bodyPr wrap="square" rtlCol="0">
            <a:spAutoFit/>
          </a:bodyPr>
          <a:lstStyle/>
          <a:p>
            <a:pPr lvl="0" algn="ctr">
              <a:lnSpc>
                <a:spcPct val="100000"/>
              </a:lnSpc>
              <a:spcBef>
                <a:spcPts val="0"/>
              </a:spcBef>
              <a:spcAft>
                <a:spcPts val="0"/>
              </a:spcAft>
              <a:buClrTx/>
              <a:buSzTx/>
              <a:buFontTx/>
            </a:pPr>
            <a:r>
              <a:rPr lang="zh-CN" altLang="en-US" sz="900" b="1">
                <a:solidFill>
                  <a:schemeClr val="tx1"/>
                </a:solidFill>
                <a:effectLst/>
                <a:latin typeface="微软雅黑" panose="020B0503020204020204" charset="-122"/>
                <a:ea typeface="微软雅黑" panose="020B0503020204020204" charset="-122"/>
                <a:sym typeface="+mn-ea"/>
              </a:rPr>
              <a:t>检测类大模型</a:t>
            </a:r>
            <a:endParaRPr lang="zh-CN" altLang="en-US" sz="900" b="1">
              <a:solidFill>
                <a:schemeClr val="tx1"/>
              </a:solidFill>
              <a:effectLst/>
              <a:latin typeface="微软雅黑" panose="020B0503020204020204" charset="-122"/>
              <a:ea typeface="微软雅黑" panose="020B0503020204020204" charset="-122"/>
              <a:sym typeface="+mn-ea"/>
            </a:endParaRPr>
          </a:p>
        </p:txBody>
      </p:sp>
      <p:pic>
        <p:nvPicPr>
          <p:cNvPr id="979" name="图像" descr="图像"/>
          <p:cNvPicPr/>
          <p:nvPr>
            <p:custDataLst>
              <p:tags r:id="rId52"/>
            </p:custDataLst>
          </p:nvPr>
        </p:nvPicPr>
        <p:blipFill>
          <a:blip r:embed="rId50"/>
          <a:stretch>
            <a:fillRect/>
          </a:stretch>
        </p:blipFill>
        <p:spPr>
          <a:xfrm>
            <a:off x="6569075" y="2132330"/>
            <a:ext cx="360000" cy="360000"/>
          </a:xfrm>
          <a:prstGeom prst="rect">
            <a:avLst/>
          </a:prstGeom>
          <a:effectLst/>
        </p:spPr>
      </p:pic>
      <p:sp>
        <p:nvSpPr>
          <p:cNvPr id="980" name="文本框 979"/>
          <p:cNvSpPr txBox="1"/>
          <p:nvPr>
            <p:custDataLst>
              <p:tags r:id="rId53"/>
            </p:custDataLst>
          </p:nvPr>
        </p:nvSpPr>
        <p:spPr>
          <a:xfrm>
            <a:off x="6280150" y="2468245"/>
            <a:ext cx="942340" cy="229870"/>
          </a:xfrm>
          <a:prstGeom prst="rect">
            <a:avLst/>
          </a:prstGeom>
          <a:noFill/>
        </p:spPr>
        <p:txBody>
          <a:bodyPr wrap="square" rtlCol="0">
            <a:spAutoFit/>
          </a:bodyPr>
          <a:lstStyle/>
          <a:p>
            <a:pPr lvl="0" algn="ctr">
              <a:lnSpc>
                <a:spcPct val="100000"/>
              </a:lnSpc>
              <a:spcBef>
                <a:spcPts val="0"/>
              </a:spcBef>
              <a:spcAft>
                <a:spcPts val="0"/>
              </a:spcAft>
              <a:buClrTx/>
              <a:buSzTx/>
              <a:buFontTx/>
            </a:pPr>
            <a:r>
              <a:rPr lang="zh-CN" altLang="en-US" sz="900" b="1">
                <a:solidFill>
                  <a:schemeClr val="tx1"/>
                </a:solidFill>
                <a:effectLst/>
                <a:latin typeface="微软雅黑" panose="020B0503020204020204" charset="-122"/>
                <a:ea typeface="微软雅黑" panose="020B0503020204020204" charset="-122"/>
                <a:sym typeface="+mn-ea"/>
              </a:rPr>
              <a:t>运营类大模型</a:t>
            </a:r>
            <a:endParaRPr lang="zh-CN" altLang="en-US" sz="900" b="1">
              <a:solidFill>
                <a:schemeClr val="tx1"/>
              </a:solidFill>
              <a:effectLst/>
              <a:latin typeface="微软雅黑" panose="020B0503020204020204" charset="-122"/>
              <a:ea typeface="微软雅黑" panose="020B0503020204020204" charset="-122"/>
              <a:sym typeface="+mn-ea"/>
            </a:endParaRPr>
          </a:p>
        </p:txBody>
      </p:sp>
      <p:pic>
        <p:nvPicPr>
          <p:cNvPr id="982" name="图片 981"/>
          <p:cNvPicPr/>
          <p:nvPr/>
        </p:nvPicPr>
        <p:blipFill>
          <a:blip r:embed="rId54"/>
          <a:stretch>
            <a:fillRect/>
          </a:stretch>
        </p:blipFill>
        <p:spPr>
          <a:xfrm>
            <a:off x="6569075" y="2733040"/>
            <a:ext cx="360000" cy="360000"/>
          </a:xfrm>
          <a:prstGeom prst="rect">
            <a:avLst/>
          </a:prstGeom>
        </p:spPr>
      </p:pic>
      <p:sp>
        <p:nvSpPr>
          <p:cNvPr id="983" name="文本框 982"/>
          <p:cNvSpPr txBox="1"/>
          <p:nvPr>
            <p:custDataLst>
              <p:tags r:id="rId55"/>
            </p:custDataLst>
          </p:nvPr>
        </p:nvSpPr>
        <p:spPr>
          <a:xfrm>
            <a:off x="6202680" y="3128010"/>
            <a:ext cx="1180465" cy="229870"/>
          </a:xfrm>
          <a:prstGeom prst="rect">
            <a:avLst/>
          </a:prstGeom>
          <a:noFill/>
        </p:spPr>
        <p:txBody>
          <a:bodyPr wrap="square" rtlCol="0">
            <a:spAutoFit/>
          </a:bodyPr>
          <a:lstStyle/>
          <a:p>
            <a:pPr lvl="0" algn="ctr">
              <a:lnSpc>
                <a:spcPct val="100000"/>
              </a:lnSpc>
              <a:spcBef>
                <a:spcPts val="0"/>
              </a:spcBef>
              <a:spcAft>
                <a:spcPts val="0"/>
              </a:spcAft>
              <a:buClrTx/>
              <a:buSzTx/>
              <a:buFontTx/>
            </a:pPr>
            <a:r>
              <a:rPr lang="en-US" altLang="zh-CN" sz="900" b="1">
                <a:solidFill>
                  <a:schemeClr val="tx1"/>
                </a:solidFill>
                <a:effectLst/>
                <a:latin typeface="微软雅黑" panose="020B0503020204020204" charset="-122"/>
                <a:ea typeface="微软雅黑" panose="020B0503020204020204" charset="-122"/>
                <a:sym typeface="+mn-ea"/>
              </a:rPr>
              <a:t>MSS</a:t>
            </a:r>
            <a:r>
              <a:rPr lang="zh-CN" altLang="en-US" sz="900" b="1">
                <a:solidFill>
                  <a:schemeClr val="tx1"/>
                </a:solidFill>
                <a:effectLst/>
                <a:latin typeface="微软雅黑" panose="020B0503020204020204" charset="-122"/>
                <a:ea typeface="微软雅黑" panose="020B0503020204020204" charset="-122"/>
                <a:sym typeface="+mn-ea"/>
              </a:rPr>
              <a:t>数字化助理</a:t>
            </a:r>
            <a:endParaRPr lang="zh-CN" altLang="en-US" sz="900" b="1">
              <a:solidFill>
                <a:schemeClr val="tx1"/>
              </a:solidFill>
              <a:effectLst/>
              <a:latin typeface="微软雅黑" panose="020B0503020204020204" charset="-122"/>
              <a:ea typeface="微软雅黑" panose="020B0503020204020204" charset="-122"/>
              <a:sym typeface="+mn-ea"/>
            </a:endParaRPr>
          </a:p>
        </p:txBody>
      </p:sp>
      <p:sp>
        <p:nvSpPr>
          <p:cNvPr id="984" name="文本框 983"/>
          <p:cNvSpPr txBox="1"/>
          <p:nvPr/>
        </p:nvSpPr>
        <p:spPr>
          <a:xfrm>
            <a:off x="7234555" y="1508760"/>
            <a:ext cx="3063875" cy="570865"/>
          </a:xfrm>
          <a:prstGeom prst="rect">
            <a:avLst/>
          </a:prstGeom>
          <a:noFill/>
        </p:spPr>
        <p:txBody>
          <a:bodyPr wrap="square" rtlCol="0" anchor="ctr" anchorCtr="0">
            <a:noAutofit/>
          </a:bodyPr>
          <a:lstStyle/>
          <a:p>
            <a:pPr algn="l"/>
            <a:r>
              <a:rPr lang="zh-CN" altLang="en-US" sz="1000" dirty="0">
                <a:latin typeface="微软雅黑" panose="020B0503020204020204" charset="-122"/>
                <a:ea typeface="微软雅黑" panose="020B0503020204020204" charset="-122"/>
                <a:sym typeface="+mn-ea"/>
              </a:rPr>
              <a:t>从全网日志中，精准识别各类</a:t>
            </a:r>
            <a:r>
              <a:rPr lang="zh-CN" altLang="en-US" sz="1000" b="1" dirty="0">
                <a:latin typeface="微软雅黑" panose="020B0503020204020204" charset="-122"/>
                <a:ea typeface="微软雅黑" panose="020B0503020204020204" charset="-122"/>
                <a:sym typeface="+mn-ea"/>
              </a:rPr>
              <a:t>常见/新型的勒索变种攻击、0DAY漏洞利用、webshell投递等攻击行为。</a:t>
            </a:r>
            <a:endParaRPr kumimoji="1" lang="zh-CN" altLang="en-US" sz="1000" b="1" dirty="0">
              <a:solidFill>
                <a:schemeClr val="tx1"/>
              </a:solidFill>
              <a:latin typeface="微软雅黑" panose="020B0503020204020204" charset="-122"/>
              <a:ea typeface="微软雅黑" panose="020B0503020204020204" charset="-122"/>
              <a:sym typeface="+mn-ea"/>
            </a:endParaRPr>
          </a:p>
        </p:txBody>
      </p:sp>
      <p:sp>
        <p:nvSpPr>
          <p:cNvPr id="985" name="文本框 984"/>
          <p:cNvSpPr txBox="1"/>
          <p:nvPr/>
        </p:nvSpPr>
        <p:spPr>
          <a:xfrm>
            <a:off x="7251065" y="2103120"/>
            <a:ext cx="3063875" cy="502920"/>
          </a:xfrm>
          <a:prstGeom prst="rect">
            <a:avLst/>
          </a:prstGeom>
          <a:noFill/>
        </p:spPr>
        <p:txBody>
          <a:bodyPr wrap="square" rtlCol="0" anchor="ctr" anchorCtr="0">
            <a:noAutofit/>
          </a:bodyPr>
          <a:lstStyle/>
          <a:p>
            <a:pPr algn="l"/>
            <a:r>
              <a:rPr kumimoji="1" lang="en-US" altLang="zh-CN" sz="1000">
                <a:solidFill>
                  <a:schemeClr val="tx1"/>
                </a:solidFill>
                <a:latin typeface="微软雅黑" panose="020B0503020204020204" charset="-122"/>
                <a:ea typeface="微软雅黑" panose="020B0503020204020204" charset="-122"/>
                <a:sym typeface="+mn-ea"/>
              </a:rPr>
              <a:t>AI</a:t>
            </a:r>
            <a:r>
              <a:rPr kumimoji="1" lang="zh-CN" altLang="en-US" sz="1000">
                <a:solidFill>
                  <a:schemeClr val="tx1"/>
                </a:solidFill>
                <a:latin typeface="微软雅黑" panose="020B0503020204020204" charset="-122"/>
                <a:ea typeface="微软雅黑" panose="020B0503020204020204" charset="-122"/>
                <a:sym typeface="+mn-ea"/>
              </a:rPr>
              <a:t>安服技术创新，</a:t>
            </a:r>
            <a:r>
              <a:rPr kumimoji="1" lang="zh-CN" altLang="en-US" sz="1000" b="1">
                <a:solidFill>
                  <a:schemeClr val="tx1"/>
                </a:solidFill>
                <a:latin typeface="微软雅黑" panose="020B0503020204020204" charset="-122"/>
                <a:ea typeface="微软雅黑" panose="020B0503020204020204" charset="-122"/>
                <a:sym typeface="+mn-ea"/>
              </a:rPr>
              <a:t>全量告警逐条研判定性，各类强</a:t>
            </a:r>
            <a:r>
              <a:rPr kumimoji="1" lang="en-US" altLang="zh-CN" sz="1000" b="1">
                <a:solidFill>
                  <a:schemeClr val="tx1"/>
                </a:solidFill>
                <a:latin typeface="微软雅黑" panose="020B0503020204020204" charset="-122"/>
                <a:ea typeface="微软雅黑" panose="020B0503020204020204" charset="-122"/>
                <a:sym typeface="+mn-ea"/>
              </a:rPr>
              <a:t>/</a:t>
            </a:r>
            <a:r>
              <a:rPr kumimoji="1" lang="zh-CN" altLang="en-US" sz="1000" b="1">
                <a:solidFill>
                  <a:schemeClr val="tx1"/>
                </a:solidFill>
                <a:latin typeface="微软雅黑" panose="020B0503020204020204" charset="-122"/>
                <a:ea typeface="微软雅黑" panose="020B0503020204020204" charset="-122"/>
                <a:sym typeface="+mn-ea"/>
              </a:rPr>
              <a:t>弱威胁信号均需经过审核，威胁不漏过。</a:t>
            </a:r>
            <a:endParaRPr kumimoji="1" lang="zh-CN" altLang="en-US" sz="1000" b="1">
              <a:solidFill>
                <a:schemeClr val="tx1"/>
              </a:solidFill>
              <a:latin typeface="微软雅黑" panose="020B0503020204020204" charset="-122"/>
              <a:ea typeface="微软雅黑" panose="020B0503020204020204" charset="-122"/>
              <a:sym typeface="+mn-ea"/>
            </a:endParaRPr>
          </a:p>
        </p:txBody>
      </p:sp>
      <p:sp>
        <p:nvSpPr>
          <p:cNvPr id="986" name="文本框 985"/>
          <p:cNvSpPr txBox="1"/>
          <p:nvPr/>
        </p:nvSpPr>
        <p:spPr>
          <a:xfrm>
            <a:off x="7234555" y="2698115"/>
            <a:ext cx="3063875" cy="504190"/>
          </a:xfrm>
          <a:prstGeom prst="rect">
            <a:avLst/>
          </a:prstGeom>
          <a:noFill/>
        </p:spPr>
        <p:txBody>
          <a:bodyPr wrap="square" rtlCol="0" anchor="ctr" anchorCtr="0">
            <a:noAutofit/>
          </a:bodyPr>
          <a:lstStyle/>
          <a:p>
            <a:pPr lvl="0" algn="l">
              <a:buClrTx/>
              <a:buSzTx/>
              <a:buFontTx/>
            </a:pPr>
            <a:r>
              <a:rPr kumimoji="1" lang="en-US" altLang="zh-CN" sz="1000">
                <a:solidFill>
                  <a:schemeClr val="tx1"/>
                </a:solidFill>
                <a:latin typeface="微软雅黑" panose="020B0503020204020204" charset="-122"/>
                <a:ea typeface="微软雅黑" panose="020B0503020204020204" charset="-122"/>
                <a:sym typeface="+mn-ea"/>
              </a:rPr>
              <a:t>AI</a:t>
            </a:r>
            <a:r>
              <a:rPr kumimoji="1" lang="zh-CN" altLang="en-US" sz="1000">
                <a:solidFill>
                  <a:schemeClr val="tx1"/>
                </a:solidFill>
                <a:latin typeface="微软雅黑" panose="020B0503020204020204" charset="-122"/>
                <a:ea typeface="微软雅黑" panose="020B0503020204020204" charset="-122"/>
                <a:sym typeface="+mn-ea"/>
              </a:rPr>
              <a:t>数字化助理，</a:t>
            </a:r>
            <a:r>
              <a:rPr kumimoji="1" lang="zh-CN" altLang="en-US" sz="1000" b="1">
                <a:solidFill>
                  <a:schemeClr val="tx1"/>
                </a:solidFill>
                <a:latin typeface="微软雅黑" panose="020B0503020204020204" charset="-122"/>
                <a:ea typeface="微软雅黑" panose="020B0503020204020204" charset="-122"/>
                <a:sym typeface="+mn-ea"/>
              </a:rPr>
              <a:t>提升各类疑难问题处理效率及质量</a:t>
            </a:r>
            <a:r>
              <a:rPr kumimoji="1" lang="zh-CN" altLang="en-US" sz="1000">
                <a:solidFill>
                  <a:schemeClr val="tx1"/>
                </a:solidFill>
                <a:latin typeface="微软雅黑" panose="020B0503020204020204" charset="-122"/>
                <a:ea typeface="微软雅黑" panose="020B0503020204020204" charset="-122"/>
                <a:sym typeface="+mn-ea"/>
              </a:rPr>
              <a:t>，降低问题响应时长，提升各类问题处置效率。</a:t>
            </a:r>
            <a:endParaRPr kumimoji="1" lang="zh-CN" altLang="en-US" sz="1000">
              <a:solidFill>
                <a:schemeClr val="tx1"/>
              </a:solidFill>
              <a:latin typeface="微软雅黑" panose="020B0503020204020204" charset="-122"/>
              <a:ea typeface="微软雅黑" panose="020B0503020204020204" charset="-122"/>
              <a:sym typeface="+mn-ea"/>
            </a:endParaRPr>
          </a:p>
        </p:txBody>
      </p:sp>
      <p:sp>
        <p:nvSpPr>
          <p:cNvPr id="987" name="矩形 986"/>
          <p:cNvSpPr/>
          <p:nvPr/>
        </p:nvSpPr>
        <p:spPr>
          <a:xfrm>
            <a:off x="6202680" y="1414145"/>
            <a:ext cx="5511800" cy="1943735"/>
          </a:xfrm>
          <a:prstGeom prst="rect">
            <a:avLst/>
          </a:prstGeom>
          <a:noFill/>
          <a:ln>
            <a:solidFill>
              <a:srgbClr val="4E984F"/>
            </a:solidFill>
            <a:prstDash val="sys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pic>
        <p:nvPicPr>
          <p:cNvPr id="23" name="图片 22" descr="深信服 + 智安全"/>
          <p:cNvPicPr>
            <a:picLocks noChangeAspect="1"/>
          </p:cNvPicPr>
          <p:nvPr/>
        </p:nvPicPr>
        <p:blipFill>
          <a:blip r:embed="rId56"/>
          <a:srcRect l="5232" t="26576" r="4938" b="29565"/>
          <a:stretch>
            <a:fillRect/>
          </a:stretch>
        </p:blipFill>
        <p:spPr>
          <a:xfrm>
            <a:off x="10017125" y="238760"/>
            <a:ext cx="1629867" cy="360000"/>
          </a:xfrm>
          <a:prstGeom prst="rect">
            <a:avLst/>
          </a:prstGeom>
        </p:spPr>
      </p:pic>
      <p:sp>
        <p:nvSpPr>
          <p:cNvPr id="24" name="文本框 23"/>
          <p:cNvSpPr txBox="1"/>
          <p:nvPr/>
        </p:nvSpPr>
        <p:spPr>
          <a:xfrm>
            <a:off x="10440035" y="1633220"/>
            <a:ext cx="1054735" cy="321945"/>
          </a:xfrm>
          <a:prstGeom prst="rect">
            <a:avLst/>
          </a:prstGeom>
          <a:noFill/>
        </p:spPr>
        <p:txBody>
          <a:bodyPr wrap="square" rtlCol="0">
            <a:spAutoFit/>
          </a:bodyPr>
          <a:lstStyle>
            <a:defPPr>
              <a:defRPr lang="zh-CN"/>
            </a:defPPr>
            <a:lvl1pPr>
              <a:lnSpc>
                <a:spcPct val="150000"/>
              </a:lnSpc>
              <a:defRPr kumimoji="0" sz="1200" b="1" i="0" u="none" strike="noStrike" cap="none" spc="0" normalizeH="0" baseline="0">
                <a:ln>
                  <a:noFill/>
                </a:ln>
                <a:effectLst/>
                <a:uLnTx/>
                <a:uFillTx/>
              </a:defRPr>
            </a:lvl1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rPr>
              <a:t>监测范围</a:t>
            </a:r>
            <a:r>
              <a:rPr kumimoji="0" lang="en-US" altLang="zh-CN"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rPr>
              <a:t>  </a:t>
            </a:r>
            <a:r>
              <a:rPr kumimoji="0" lang="zh-CN" altLang="en-US"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rPr>
              <a:t>更</a:t>
            </a:r>
            <a:r>
              <a:rPr kumimoji="0" lang="zh-CN" altLang="en-US"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rPr>
              <a:t>全</a:t>
            </a:r>
            <a:endParaRPr kumimoji="0" lang="zh-CN" altLang="en-US"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endParaRPr>
          </a:p>
        </p:txBody>
      </p:sp>
      <p:sp>
        <p:nvSpPr>
          <p:cNvPr id="25" name="文本框 24"/>
          <p:cNvSpPr txBox="1"/>
          <p:nvPr/>
        </p:nvSpPr>
        <p:spPr>
          <a:xfrm>
            <a:off x="10440035" y="2193608"/>
            <a:ext cx="1055370" cy="321945"/>
          </a:xfrm>
          <a:prstGeom prst="rect">
            <a:avLst/>
          </a:prstGeom>
          <a:noFill/>
        </p:spPr>
        <p:txBody>
          <a:bodyPr wrap="square" rtlCol="0">
            <a:spAutoFit/>
          </a:bodyPr>
          <a:lstStyle>
            <a:defPPr>
              <a:defRPr lang="zh-CN"/>
            </a:defPPr>
            <a:lvl1pPr>
              <a:lnSpc>
                <a:spcPct val="150000"/>
              </a:lnSpc>
              <a:defRPr kumimoji="0" sz="1200" b="1" i="0" u="none" strike="noStrike" cap="none" spc="0" normalizeH="0" baseline="0">
                <a:ln>
                  <a:noFill/>
                </a:ln>
                <a:effectLst/>
                <a:uLnTx/>
                <a:uFillTx/>
              </a:defRPr>
            </a:lvl1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rPr>
              <a:t>覆盖资产</a:t>
            </a:r>
            <a:r>
              <a:rPr kumimoji="0" lang="en-US" altLang="zh-CN"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rPr>
              <a:t>  </a:t>
            </a:r>
            <a:r>
              <a:rPr kumimoji="0" lang="zh-CN" altLang="en-US"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rPr>
              <a:t>更</a:t>
            </a:r>
            <a:r>
              <a:rPr kumimoji="0" lang="zh-CN" altLang="en-US"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rPr>
              <a:t>广</a:t>
            </a:r>
            <a:endParaRPr kumimoji="0" lang="zh-CN" altLang="en-US"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endParaRPr>
          </a:p>
        </p:txBody>
      </p:sp>
      <p:sp>
        <p:nvSpPr>
          <p:cNvPr id="26" name="文本框 25"/>
          <p:cNvSpPr txBox="1"/>
          <p:nvPr/>
        </p:nvSpPr>
        <p:spPr>
          <a:xfrm>
            <a:off x="10439400" y="2789238"/>
            <a:ext cx="1055370" cy="321945"/>
          </a:xfrm>
          <a:prstGeom prst="rect">
            <a:avLst/>
          </a:prstGeom>
          <a:noFill/>
        </p:spPr>
        <p:txBody>
          <a:bodyPr wrap="square" rtlCol="0">
            <a:spAutoFit/>
          </a:bodyPr>
          <a:lstStyle>
            <a:defPPr>
              <a:defRPr lang="zh-CN"/>
            </a:defPPr>
            <a:lvl1pPr>
              <a:lnSpc>
                <a:spcPct val="150000"/>
              </a:lnSpc>
              <a:defRPr kumimoji="0" sz="1200" b="1" i="0" u="none" strike="noStrike" cap="none" spc="0" normalizeH="0" baseline="0">
                <a:ln>
                  <a:noFill/>
                </a:ln>
                <a:effectLst/>
                <a:uLnTx/>
                <a:uFillTx/>
              </a:defRPr>
            </a:lvl1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rPr>
              <a:t>处置闭环</a:t>
            </a:r>
            <a:r>
              <a:rPr kumimoji="0" lang="en-US" altLang="zh-CN"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rPr>
              <a:t>  </a:t>
            </a:r>
            <a:r>
              <a:rPr kumimoji="0" lang="zh-CN" altLang="en-US"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rPr>
              <a:t>更</a:t>
            </a:r>
            <a:r>
              <a:rPr kumimoji="0" lang="zh-CN" altLang="en-US"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rPr>
              <a:t>快</a:t>
            </a:r>
            <a:endParaRPr kumimoji="0" lang="zh-CN" altLang="en-US"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endParaRPr>
          </a:p>
        </p:txBody>
      </p:sp>
      <p:graphicFrame>
        <p:nvGraphicFramePr>
          <p:cNvPr id="27" name="表格 26"/>
          <p:cNvGraphicFramePr/>
          <p:nvPr>
            <p:custDataLst>
              <p:tags r:id="rId57"/>
            </p:custDataLst>
          </p:nvPr>
        </p:nvGraphicFramePr>
        <p:xfrm>
          <a:off x="6202680" y="3562985"/>
          <a:ext cx="5511800" cy="2964815"/>
        </p:xfrm>
        <a:graphic>
          <a:graphicData uri="http://schemas.openxmlformats.org/drawingml/2006/table">
            <a:tbl>
              <a:tblPr firstRow="1" bandRow="1"/>
              <a:tblGrid>
                <a:gridCol w="757555"/>
                <a:gridCol w="3792220"/>
                <a:gridCol w="962025"/>
              </a:tblGrid>
              <a:tr h="236855">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marL="0" indent="0" algn="ctr" defTabSz="914400" rtl="0" eaLnBrk="1" latinLnBrk="0" hangingPunct="1">
                        <a:buNone/>
                      </a:pPr>
                      <a:r>
                        <a:rPr lang="zh-CN" altLang="en-US" sz="1000" b="1" kern="1200" dirty="0">
                          <a:solidFill>
                            <a:schemeClr val="lt1"/>
                          </a:solidFill>
                          <a:latin typeface="Microsoft YaHei UI" panose="020B0503020204020204" pitchFamily="34" charset="-122"/>
                          <a:ea typeface="Microsoft YaHei UI" panose="020B0503020204020204" pitchFamily="34" charset="-122"/>
                          <a:cs typeface="+mn-cs"/>
                        </a:rPr>
                        <a:t>配置项</a:t>
                      </a:r>
                      <a:endParaRPr lang="zh-CN" altLang="en-US" sz="1000" b="1" kern="1200" dirty="0">
                        <a:solidFill>
                          <a:schemeClr val="lt1"/>
                        </a:solidFill>
                        <a:latin typeface="Microsoft YaHei UI" panose="020B0503020204020204" pitchFamily="34" charset="-122"/>
                        <a:ea typeface="Microsoft YaHei UI" panose="020B0503020204020204" pitchFamily="34" charset="-122"/>
                        <a:cs typeface="+mn-cs"/>
                      </a:endParaRPr>
                    </a:p>
                  </a:txBody>
                  <a:tcPr marL="0" marR="0" marT="0" marB="0"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chemeClr val="accent1">
                        <a:lumMod val="75000"/>
                      </a:schemeClr>
                    </a:solidFill>
                  </a:tcPr>
                </a:tc>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marL="0" indent="0" algn="ctr" defTabSz="914400" rtl="0" eaLnBrk="1" latinLnBrk="0" hangingPunct="1">
                        <a:buNone/>
                      </a:pPr>
                      <a:r>
                        <a:rPr lang="zh-CN" altLang="en-US" sz="1000" b="1" kern="1200" dirty="0">
                          <a:solidFill>
                            <a:schemeClr val="lt1"/>
                          </a:solidFill>
                          <a:latin typeface="Microsoft YaHei UI" panose="020B0503020204020204" pitchFamily="34" charset="-122"/>
                          <a:ea typeface="Microsoft YaHei UI" panose="020B0503020204020204" pitchFamily="34" charset="-122"/>
                          <a:cs typeface="+mn-cs"/>
                        </a:rPr>
                        <a:t>核心能力支持</a:t>
                      </a:r>
                      <a:endParaRPr lang="zh-CN" altLang="en-US" sz="1000" b="1" kern="1200" dirty="0">
                        <a:solidFill>
                          <a:schemeClr val="lt1"/>
                        </a:solidFill>
                        <a:latin typeface="Microsoft YaHei UI" panose="020B0503020204020204" pitchFamily="34" charset="-122"/>
                        <a:ea typeface="Microsoft YaHei UI" panose="020B0503020204020204" pitchFamily="34" charset="-122"/>
                        <a:cs typeface="+mn-cs"/>
                      </a:endParaRPr>
                    </a:p>
                  </a:txBody>
                  <a:tcPr marL="0" marR="0" marT="0" marB="0"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chemeClr val="accent1">
                        <a:lumMod val="75000"/>
                      </a:schemeClr>
                    </a:solidFill>
                  </a:tcPr>
                </a:tc>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marL="0" indent="0" algn="ctr" defTabSz="914400" rtl="0" eaLnBrk="1" latinLnBrk="0" hangingPunct="1">
                        <a:buNone/>
                      </a:pPr>
                      <a:r>
                        <a:rPr lang="zh-CN" altLang="en-US" sz="1000" b="1" kern="1200" dirty="0">
                          <a:solidFill>
                            <a:schemeClr val="lt1"/>
                          </a:solidFill>
                          <a:latin typeface="Microsoft YaHei UI" panose="020B0503020204020204" pitchFamily="34" charset="-122"/>
                          <a:ea typeface="Microsoft YaHei UI" panose="020B0503020204020204" pitchFamily="34" charset="-122"/>
                          <a:cs typeface="+mn-cs"/>
                        </a:rPr>
                        <a:t>采购类型</a:t>
                      </a:r>
                      <a:endParaRPr lang="zh-CN" altLang="en-US" sz="1000" b="1" kern="1200" dirty="0">
                        <a:solidFill>
                          <a:schemeClr val="lt1"/>
                        </a:solidFill>
                        <a:latin typeface="Microsoft YaHei UI" panose="020B0503020204020204" pitchFamily="34" charset="-122"/>
                        <a:ea typeface="Microsoft YaHei UI" panose="020B0503020204020204" pitchFamily="34" charset="-122"/>
                        <a:cs typeface="+mn-cs"/>
                      </a:endParaRPr>
                    </a:p>
                  </a:txBody>
                  <a:tcPr marL="0" marR="0" marT="0" marB="0"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chemeClr val="accent1">
                        <a:lumMod val="75000"/>
                      </a:schemeClr>
                    </a:solidFill>
                  </a:tcPr>
                </a:tc>
              </a:tr>
              <a:tr h="788670">
                <a:tc>
                  <a:txBody>
                    <a:bodyPr/>
                    <a:lstStyle/>
                    <a:p>
                      <a:pPr indent="0" algn="ctr">
                        <a:buNone/>
                      </a:pPr>
                      <a:r>
                        <a:rPr lang="en-US" altLang="zh-CN" sz="1000" dirty="0">
                          <a:latin typeface="微软雅黑" panose="020B0503020204020204" charset="-122"/>
                          <a:ea typeface="微软雅黑" panose="020B0503020204020204" charset="-122"/>
                          <a:cs typeface="微软雅黑" panose="020B0503020204020204" charset="-122"/>
                        </a:rPr>
                        <a:t>SaaS XDR</a:t>
                      </a:r>
                      <a:endParaRPr lang="en-US" altLang="zh-CN" sz="1000" dirty="0">
                        <a:latin typeface="微软雅黑" panose="020B0503020204020204" charset="-122"/>
                        <a:ea typeface="微软雅黑" panose="020B0503020204020204" charset="-122"/>
                        <a:cs typeface="微软雅黑" panose="020B0503020204020204" charset="-122"/>
                      </a:endParaRPr>
                    </a:p>
                    <a:p>
                      <a:pPr indent="0" algn="ctr">
                        <a:buNone/>
                      </a:pPr>
                      <a:r>
                        <a:rPr lang="en-US" altLang="zh-CN" sz="1000" dirty="0">
                          <a:latin typeface="微软雅黑" panose="020B0503020204020204" charset="-122"/>
                          <a:ea typeface="微软雅黑" panose="020B0503020204020204" charset="-122"/>
                          <a:cs typeface="微软雅黑" panose="020B0503020204020204" charset="-122"/>
                        </a:rPr>
                        <a:t>(</a:t>
                      </a:r>
                      <a:r>
                        <a:rPr lang="zh-CN" altLang="en-US" sz="1000" dirty="0">
                          <a:latin typeface="微软雅黑" panose="020B0503020204020204" charset="-122"/>
                          <a:ea typeface="微软雅黑" panose="020B0503020204020204" charset="-122"/>
                          <a:cs typeface="微软雅黑" panose="020B0503020204020204" charset="-122"/>
                        </a:rPr>
                        <a:t>包含运营大模型）</a:t>
                      </a:r>
                      <a:endParaRPr lang="zh-CN" altLang="en-US" sz="1000" dirty="0">
                        <a:latin typeface="微软雅黑" panose="020B0503020204020204" charset="-122"/>
                        <a:ea typeface="微软雅黑" panose="020B0503020204020204" charset="-122"/>
                        <a:cs typeface="微软雅黑" panose="020B0503020204020204" charset="-122"/>
                      </a:endParaRPr>
                    </a:p>
                  </a:txBody>
                  <a:tcPr marL="0" marR="0" marT="0" marB="0" anchor="ctr">
                    <a:lnL w="12700" cmpd="sng">
                      <a:solidFill>
                        <a:prstClr val="black"/>
                      </a:solidFill>
                      <a:prstDash val="soli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71755" indent="0" algn="l" fontAlgn="auto">
                        <a:buNone/>
                      </a:pPr>
                      <a:r>
                        <a:rPr lang="zh-CN" altLang="en-US" sz="1000" dirty="0">
                          <a:latin typeface="微软雅黑" panose="020B0503020204020204" charset="-122"/>
                          <a:ea typeface="微软雅黑" panose="020B0503020204020204" charset="-122"/>
                          <a:cs typeface="微软雅黑" panose="020B0503020204020204" charset="-122"/>
                        </a:rPr>
                        <a:t>云化安全运营平台，聚合本地流量和主机日志汇总分析，实现完整入侵链条的可视化呈现，联动边界和终端组件实现</a:t>
                      </a:r>
                      <a:r>
                        <a:rPr lang="zh-CN" altLang="en-US" sz="1000" dirty="0">
                          <a:latin typeface="微软雅黑" panose="020B0503020204020204" charset="-122"/>
                          <a:ea typeface="微软雅黑" panose="020B0503020204020204" charset="-122"/>
                          <a:cs typeface="微软雅黑" panose="020B0503020204020204" charset="-122"/>
                        </a:rPr>
                        <a:t>智能处置；</a:t>
                      </a:r>
                      <a:r>
                        <a:rPr lang="en-US" altLang="zh-CN" sz="1000" b="0" i="0" spc="0" dirty="0">
                          <a:solidFill>
                            <a:srgbClr val="000000"/>
                          </a:solidFill>
                          <a:effectLst/>
                          <a:latin typeface="微软雅黑" panose="020B0503020204020204" charset="-122"/>
                          <a:ea typeface="微软雅黑" panose="020B0503020204020204" charset="-122"/>
                        </a:rPr>
                        <a:t>GPT</a:t>
                      </a:r>
                      <a:r>
                        <a:rPr lang="zh-CN" altLang="en-US" sz="1000" b="0" i="0" spc="0" dirty="0">
                          <a:solidFill>
                            <a:srgbClr val="000000"/>
                          </a:solidFill>
                          <a:effectLst/>
                          <a:latin typeface="微软雅黑" panose="020B0503020204020204" charset="-122"/>
                          <a:ea typeface="微软雅黑" panose="020B0503020204020204" charset="-122"/>
                        </a:rPr>
                        <a:t>赋能全量告警（事件）</a:t>
                      </a:r>
                      <a:r>
                        <a:rPr lang="en-US" altLang="zh-CN" sz="1000" b="0" i="0" spc="0" dirty="0">
                          <a:solidFill>
                            <a:srgbClr val="000000"/>
                          </a:solidFill>
                          <a:effectLst/>
                          <a:latin typeface="微软雅黑" panose="020B0503020204020204" charset="-122"/>
                          <a:ea typeface="微软雅黑" panose="020B0503020204020204" charset="-122"/>
                        </a:rPr>
                        <a:t>AI</a:t>
                      </a:r>
                      <a:r>
                        <a:rPr lang="zh-CN" altLang="en-US" sz="1000" b="0" i="0" spc="0" dirty="0">
                          <a:solidFill>
                            <a:srgbClr val="000000"/>
                          </a:solidFill>
                          <a:effectLst/>
                          <a:latin typeface="微软雅黑" panose="020B0503020204020204" charset="-122"/>
                          <a:ea typeface="微软雅黑" panose="020B0503020204020204" charset="-122"/>
                        </a:rPr>
                        <a:t>智能研判分析、定性，辅助决策的智能响应、智能推荐处置预案，</a:t>
                      </a:r>
                      <a:r>
                        <a:rPr lang="en-US" altLang="zh-CN" sz="1000" b="0" i="0" spc="0" dirty="0">
                          <a:solidFill>
                            <a:srgbClr val="000000"/>
                          </a:solidFill>
                          <a:effectLst/>
                          <a:latin typeface="微软雅黑" panose="020B0503020204020204" charset="-122"/>
                          <a:ea typeface="微软雅黑" panose="020B0503020204020204" charset="-122"/>
                        </a:rPr>
                        <a:t>GPT</a:t>
                      </a:r>
                      <a:r>
                        <a:rPr lang="zh-CN" altLang="en-US" sz="1000" b="0" i="0" spc="0" dirty="0">
                          <a:solidFill>
                            <a:srgbClr val="000000"/>
                          </a:solidFill>
                          <a:effectLst/>
                          <a:latin typeface="微软雅黑" panose="020B0503020204020204" charset="-122"/>
                          <a:ea typeface="微软雅黑" panose="020B0503020204020204" charset="-122"/>
                        </a:rPr>
                        <a:t>辅助运营助手辅助高效排查、统计及问答等。</a:t>
                      </a:r>
                      <a:endParaRPr lang="zh-CN" altLang="en-US" sz="1000" dirty="0">
                        <a:effectLst/>
                        <a:latin typeface="微软雅黑" panose="020B0503020204020204" charset="-122"/>
                        <a:ea typeface="微软雅黑" panose="020B0503020204020204" charset="-122"/>
                      </a:endParaRPr>
                    </a:p>
                  </a:txBody>
                  <a:tcPr marL="0" marR="0" marT="0" marB="0"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ctr">
                        <a:buNone/>
                      </a:pPr>
                      <a:r>
                        <a:rPr lang="zh-CN" altLang="en-US" sz="1000" dirty="0">
                          <a:latin typeface="微软雅黑" panose="020B0503020204020204" charset="-122"/>
                          <a:ea typeface="微软雅黑" panose="020B0503020204020204" charset="-122"/>
                        </a:rPr>
                        <a:t>续期</a:t>
                      </a:r>
                      <a:r>
                        <a:rPr lang="en-US" altLang="zh-CN" sz="1000" dirty="0">
                          <a:latin typeface="微软雅黑" panose="020B0503020204020204" charset="-122"/>
                          <a:ea typeface="微软雅黑" panose="020B0503020204020204" charset="-122"/>
                        </a:rPr>
                        <a:t>/</a:t>
                      </a:r>
                      <a:r>
                        <a:rPr lang="zh-CN" altLang="en-US" sz="1000" dirty="0">
                          <a:latin typeface="微软雅黑" panose="020B0503020204020204" charset="-122"/>
                          <a:ea typeface="微软雅黑" panose="020B0503020204020204" charset="-122"/>
                        </a:rPr>
                        <a:t>新购</a:t>
                      </a:r>
                      <a:endParaRPr lang="zh-CN" altLang="en-US" sz="1000" dirty="0">
                        <a:latin typeface="微软雅黑" panose="020B0503020204020204" charset="-122"/>
                        <a:ea typeface="微软雅黑" panose="020B0503020204020204" charset="-122"/>
                      </a:endParaRPr>
                    </a:p>
                  </a:txBody>
                  <a:tcPr marL="0" marR="0" marT="0" marB="0" anchor="ctr">
                    <a:lnL w="12700" cap="flat" cmpd="sng" algn="ctr">
                      <a:solidFill>
                        <a:prstClr val="black"/>
                      </a:solidFill>
                      <a:prstDash val="solid"/>
                      <a:round/>
                      <a:headEnd type="none" w="med" len="med"/>
                      <a:tailEnd type="none" w="med" len="med"/>
                    </a:lnL>
                    <a:lnR w="12700" cmpd="sng">
                      <a:solidFill>
                        <a:prstClr val="black"/>
                      </a:solidFill>
                      <a:prstDash val="soli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w="12700" cmpd="sng">
                      <a:noFill/>
                      <a:prstDash val="solid"/>
                    </a:lnTlToBr>
                    <a:lnBlToTr w="12700" cmpd="sng">
                      <a:noFill/>
                      <a:prstDash val="solid"/>
                    </a:lnBlToTr>
                    <a:noFill/>
                  </a:tcPr>
                </a:tc>
              </a:tr>
              <a:tr h="473710">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indent="0" algn="ctr">
                        <a:buNone/>
                      </a:pPr>
                      <a:r>
                        <a:rPr lang="zh-CN" altLang="en-US" sz="1000" dirty="0">
                          <a:latin typeface="微软雅黑" panose="020B0503020204020204" charset="-122"/>
                          <a:ea typeface="微软雅黑" panose="020B0503020204020204" charset="-122"/>
                          <a:cs typeface="微软雅黑" panose="020B0503020204020204" charset="-122"/>
                        </a:rPr>
                        <a:t>安全托管服务</a:t>
                      </a:r>
                      <a:r>
                        <a:rPr lang="en-US" altLang="zh-CN" sz="1000" dirty="0">
                          <a:highlight>
                            <a:srgbClr val="FFFF00"/>
                          </a:highlight>
                          <a:latin typeface="微软雅黑" panose="020B0503020204020204" charset="-122"/>
                          <a:ea typeface="微软雅黑" panose="020B0503020204020204" charset="-122"/>
                          <a:cs typeface="微软雅黑" panose="020B0503020204020204" charset="-122"/>
                        </a:rPr>
                        <a:t>MSS*X</a:t>
                      </a:r>
                      <a:r>
                        <a:rPr lang="zh-CN" altLang="en-US" sz="1000" dirty="0">
                          <a:highlight>
                            <a:srgbClr val="FFFF00"/>
                          </a:highlight>
                          <a:latin typeface="微软雅黑" panose="020B0503020204020204" charset="-122"/>
                          <a:ea typeface="微软雅黑" panose="020B0503020204020204" charset="-122"/>
                          <a:cs typeface="微软雅黑" panose="020B0503020204020204" charset="-122"/>
                        </a:rPr>
                        <a:t>资产</a:t>
                      </a:r>
                      <a:endParaRPr lang="zh-CN" altLang="en-US" sz="1000" dirty="0">
                        <a:highlight>
                          <a:srgbClr val="FFFF00"/>
                        </a:highlight>
                        <a:latin typeface="微软雅黑" panose="020B0503020204020204" charset="-122"/>
                        <a:ea typeface="微软雅黑" panose="020B0503020204020204" charset="-122"/>
                        <a:cs typeface="微软雅黑" panose="020B0503020204020204" charset="-122"/>
                      </a:endParaRPr>
                    </a:p>
                  </a:txBody>
                  <a:tcPr marL="0" marR="0" marT="0" marB="0" anchor="ctr">
                    <a:lnL w="12700" cmpd="sng">
                      <a:solidFill>
                        <a:prstClr val="black"/>
                      </a:solidFill>
                      <a:prstDash val="soli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marL="71755" indent="0" algn="l" fontAlgn="auto">
                        <a:buNone/>
                      </a:pPr>
                      <a:r>
                        <a:rPr lang="zh-CN" altLang="en-US" sz="1000" dirty="0">
                          <a:latin typeface="微软雅黑" panose="020B0503020204020204" charset="-122"/>
                          <a:ea typeface="微软雅黑" panose="020B0503020204020204" charset="-122"/>
                          <a:cs typeface="微软雅黑" panose="020B0503020204020204" charset="-122"/>
                        </a:rPr>
                        <a:t>云端专家</a:t>
                      </a:r>
                      <a:r>
                        <a:rPr lang="en-US" altLang="zh-CN" sz="1000" dirty="0">
                          <a:latin typeface="微软雅黑" panose="020B0503020204020204" charset="-122"/>
                          <a:ea typeface="微软雅黑" panose="020B0503020204020204" charset="-122"/>
                          <a:cs typeface="微软雅黑" panose="020B0503020204020204" charset="-122"/>
                        </a:rPr>
                        <a:t>7*24H</a:t>
                      </a:r>
                      <a:r>
                        <a:rPr lang="zh-CN" altLang="en-US" sz="1000" dirty="0">
                          <a:latin typeface="微软雅黑" panose="020B0503020204020204" charset="-122"/>
                          <a:ea typeface="微软雅黑" panose="020B0503020204020204" charset="-122"/>
                          <a:cs typeface="微软雅黑" panose="020B0503020204020204" charset="-122"/>
                        </a:rPr>
                        <a:t>持续提供服务，实现安全事件</a:t>
                      </a:r>
                      <a:r>
                        <a:rPr lang="en-US" altLang="zh-CN" sz="1000" dirty="0">
                          <a:latin typeface="微软雅黑" panose="020B0503020204020204" charset="-122"/>
                          <a:ea typeface="微软雅黑" panose="020B0503020204020204" charset="-122"/>
                          <a:cs typeface="微软雅黑" panose="020B0503020204020204" charset="-122"/>
                        </a:rPr>
                        <a:t>100%</a:t>
                      </a:r>
                      <a:r>
                        <a:rPr lang="zh-CN" altLang="en-US" sz="1000" dirty="0">
                          <a:latin typeface="微软雅黑" panose="020B0503020204020204" charset="-122"/>
                          <a:ea typeface="微软雅黑" panose="020B0503020204020204" charset="-122"/>
                          <a:cs typeface="微软雅黑" panose="020B0503020204020204" charset="-122"/>
                        </a:rPr>
                        <a:t>闭环，为用户保障可承诺的检测与响应效果。</a:t>
                      </a:r>
                      <a:endParaRPr lang="zh-CN" altLang="en-US" sz="1000" dirty="0">
                        <a:latin typeface="微软雅黑" panose="020B0503020204020204" charset="-122"/>
                        <a:ea typeface="微软雅黑" panose="020B0503020204020204" charset="-122"/>
                        <a:cs typeface="微软雅黑" panose="020B0503020204020204" charset="-122"/>
                      </a:endParaRPr>
                    </a:p>
                  </a:txBody>
                  <a:tcPr marL="0" marR="0" marT="0" marB="0"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dirty="0">
                          <a:latin typeface="微软雅黑" panose="020B0503020204020204" charset="-122"/>
                          <a:ea typeface="微软雅黑" panose="020B0503020204020204" charset="-122"/>
                        </a:rPr>
                        <a:t>续期</a:t>
                      </a:r>
                      <a:r>
                        <a:rPr lang="en-US" altLang="zh-CN" sz="1000" dirty="0">
                          <a:latin typeface="微软雅黑" panose="020B0503020204020204" charset="-122"/>
                          <a:ea typeface="微软雅黑" panose="020B0503020204020204" charset="-122"/>
                        </a:rPr>
                        <a:t>/</a:t>
                      </a:r>
                      <a:r>
                        <a:rPr lang="zh-CN" altLang="en-US" sz="1000" dirty="0">
                          <a:latin typeface="微软雅黑" panose="020B0503020204020204" charset="-122"/>
                          <a:ea typeface="微软雅黑" panose="020B0503020204020204" charset="-122"/>
                        </a:rPr>
                        <a:t>加点</a:t>
                      </a:r>
                      <a:endParaRPr lang="zh-CN" altLang="en-US" sz="1000" dirty="0">
                        <a:latin typeface="微软雅黑" panose="020B0503020204020204" charset="-122"/>
                        <a:ea typeface="微软雅黑" panose="020B0503020204020204" charset="-122"/>
                      </a:endParaRPr>
                    </a:p>
                  </a:txBody>
                  <a:tcPr marL="0" marR="0" marT="0" marB="0" anchor="ctr">
                    <a:lnL w="12700" cap="flat" cmpd="sng" algn="ctr">
                      <a:solidFill>
                        <a:prstClr val="black"/>
                      </a:solidFill>
                      <a:prstDash val="solid"/>
                      <a:round/>
                      <a:headEnd type="none" w="med" len="med"/>
                      <a:tailEnd type="none" w="med" len="med"/>
                    </a:lnL>
                    <a:lnR w="12700" cmpd="sng">
                      <a:solidFill>
                        <a:prstClr val="black"/>
                      </a:solidFill>
                      <a:prstDash val="solid"/>
                    </a:lnR>
                    <a:lnT w="12700" cap="flat" cmpd="sng" algn="ctr">
                      <a:solidFill>
                        <a:prstClr val="black"/>
                      </a:solidFill>
                      <a:prstDash val="solid"/>
                      <a:round/>
                      <a:headEnd type="none" w="med" len="med"/>
                      <a:tailEnd type="none" w="med" len="med"/>
                    </a:lnT>
                    <a:lnB w="12700" cmpd="sng">
                      <a:solidFill>
                        <a:prstClr val="black"/>
                      </a:solidFill>
                      <a:prstDash val="solid"/>
                    </a:lnB>
                    <a:lnTlToBr w="12700" cmpd="sng">
                      <a:noFill/>
                      <a:prstDash val="solid"/>
                    </a:lnTlToBr>
                    <a:lnBlToTr w="12700" cmpd="sng">
                      <a:noFill/>
                      <a:prstDash val="solid"/>
                    </a:lnBlToTr>
                    <a:noFill/>
                  </a:tcPr>
                </a:tc>
              </a:tr>
              <a:tr h="316230">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indent="0" algn="ctr">
                        <a:buNone/>
                      </a:pPr>
                      <a:r>
                        <a:rPr lang="en-US" altLang="zh-CN" sz="1000" dirty="0">
                          <a:latin typeface="微软雅黑" panose="020B0503020204020204" charset="-122"/>
                          <a:ea typeface="微软雅黑" panose="020B0503020204020204" charset="-122"/>
                        </a:rPr>
                        <a:t>SaaS </a:t>
                      </a:r>
                      <a:r>
                        <a:rPr lang="en-US" altLang="zh-CN" sz="1000" dirty="0" err="1">
                          <a:latin typeface="微软雅黑" panose="020B0503020204020204" charset="-122"/>
                          <a:ea typeface="微软雅黑" panose="020B0503020204020204" charset="-122"/>
                        </a:rPr>
                        <a:t>aES</a:t>
                      </a:r>
                      <a:endParaRPr lang="en-US" altLang="zh-CN" sz="1000" dirty="0">
                        <a:latin typeface="微软雅黑" panose="020B0503020204020204" charset="-122"/>
                        <a:ea typeface="微软雅黑" panose="020B0503020204020204" charset="-122"/>
                      </a:endParaRPr>
                    </a:p>
                  </a:txBody>
                  <a:tcPr marL="0" marR="0" marT="0" marB="0" anchor="ctr">
                    <a:lnL w="12700" cmpd="sng">
                      <a:solidFill>
                        <a:prstClr val="black"/>
                      </a:solidFill>
                      <a:prstDash val="solid"/>
                    </a:lnL>
                    <a:lnR w="12700" cmpd="sng">
                      <a:solidFill>
                        <a:prstClr val="black"/>
                      </a:solidFill>
                      <a:prstDash val="solid"/>
                    </a:lnR>
                    <a:lnT w="12700" cap="flat" cmpd="sng" algn="ctr">
                      <a:solidFill>
                        <a:prstClr val="black"/>
                      </a:solidFill>
                      <a:prstDash val="solid"/>
                      <a:round/>
                      <a:headEnd type="none" w="med" len="med"/>
                      <a:tailEnd type="none" w="med" len="me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marL="71755" indent="0" algn="l" fontAlgn="auto">
                        <a:buNone/>
                      </a:pPr>
                      <a:r>
                        <a:rPr lang="zh-CN" altLang="en-US" sz="1000" dirty="0">
                          <a:latin typeface="微软雅黑" panose="020B0503020204020204" charset="-122"/>
                          <a:ea typeface="微软雅黑" panose="020B0503020204020204" charset="-122"/>
                          <a:cs typeface="微软雅黑" panose="020B0503020204020204" charset="-122"/>
                        </a:rPr>
                        <a:t>端点威胁检测，端点安全问题联动处置，大幅提升安全事件响应</a:t>
                      </a:r>
                      <a:r>
                        <a:rPr lang="zh-CN" altLang="en-US" sz="1000" dirty="0">
                          <a:latin typeface="微软雅黑" panose="020B0503020204020204" charset="-122"/>
                          <a:ea typeface="微软雅黑" panose="020B0503020204020204" charset="-122"/>
                          <a:cs typeface="微软雅黑" panose="020B0503020204020204" charset="-122"/>
                        </a:rPr>
                        <a:t>和闭环</a:t>
                      </a:r>
                      <a:r>
                        <a:rPr lang="zh-CN" altLang="en-US" sz="1000" dirty="0">
                          <a:latin typeface="微软雅黑" panose="020B0503020204020204" charset="-122"/>
                          <a:ea typeface="微软雅黑" panose="020B0503020204020204" charset="-122"/>
                          <a:cs typeface="微软雅黑" panose="020B0503020204020204" charset="-122"/>
                        </a:rPr>
                        <a:t>效率。</a:t>
                      </a:r>
                      <a:endParaRPr lang="zh-CN" altLang="en-US" sz="1000" dirty="0">
                        <a:latin typeface="微软雅黑" panose="020B0503020204020204" charset="-122"/>
                        <a:ea typeface="微软雅黑" panose="020B0503020204020204" charset="-122"/>
                        <a:cs typeface="微软雅黑" panose="020B0503020204020204" charset="-122"/>
                      </a:endParaRPr>
                    </a:p>
                  </a:txBody>
                  <a:tcPr marL="0" marR="0" marT="0" marB="0" anchor="ctr">
                    <a:lnL w="12700" cmpd="sng">
                      <a:solidFill>
                        <a:prstClr val="black"/>
                      </a:solidFill>
                      <a:prstDash val="solid"/>
                    </a:lnL>
                    <a:lnR w="12700" cmpd="sng">
                      <a:solidFill>
                        <a:prstClr val="black"/>
                      </a:solidFill>
                      <a:prstDash val="solid"/>
                    </a:lnR>
                    <a:lnT w="12700" cap="flat" cmpd="sng" algn="ctr">
                      <a:solidFill>
                        <a:prstClr val="black"/>
                      </a:solidFill>
                      <a:prstDash val="solid"/>
                      <a:round/>
                      <a:headEnd type="none" w="med" len="med"/>
                      <a:tailEnd type="none" w="med" len="me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indent="0" algn="ctr">
                        <a:buNone/>
                      </a:pPr>
                      <a:r>
                        <a:rPr lang="zh-CN" altLang="en-US" sz="1000" kern="1200" dirty="0">
                          <a:solidFill>
                            <a:schemeClr val="tx1"/>
                          </a:solidFill>
                          <a:latin typeface="微软雅黑" panose="020B0503020204020204" charset="-122"/>
                          <a:ea typeface="微软雅黑" panose="020B0503020204020204" charset="-122"/>
                        </a:rPr>
                        <a:t>续期</a:t>
                      </a:r>
                      <a:r>
                        <a:rPr lang="en-US" altLang="zh-CN" sz="1000" kern="1200" dirty="0">
                          <a:solidFill>
                            <a:schemeClr val="tx1"/>
                          </a:solidFill>
                          <a:latin typeface="微软雅黑" panose="020B0503020204020204" charset="-122"/>
                          <a:ea typeface="微软雅黑" panose="020B0503020204020204" charset="-122"/>
                        </a:rPr>
                        <a:t>/</a:t>
                      </a:r>
                      <a:r>
                        <a:rPr lang="zh-CN" altLang="en-US" sz="1000" kern="1200" dirty="0">
                          <a:solidFill>
                            <a:schemeClr val="tx1"/>
                          </a:solidFill>
                          <a:latin typeface="微软雅黑" panose="020B0503020204020204" charset="-122"/>
                          <a:ea typeface="微软雅黑" panose="020B0503020204020204" charset="-122"/>
                        </a:rPr>
                        <a:t>加点</a:t>
                      </a:r>
                      <a:r>
                        <a:rPr lang="en-US" altLang="zh-CN" sz="1000" kern="1200" dirty="0">
                          <a:solidFill>
                            <a:schemeClr val="tx1"/>
                          </a:solidFill>
                          <a:latin typeface="微软雅黑" panose="020B0503020204020204" charset="-122"/>
                          <a:ea typeface="微软雅黑" panose="020B0503020204020204" charset="-122"/>
                        </a:rPr>
                        <a:t>/</a:t>
                      </a:r>
                      <a:r>
                        <a:rPr lang="zh-CN" altLang="en-US" sz="1000" kern="1200" dirty="0">
                          <a:solidFill>
                            <a:schemeClr val="tx1"/>
                          </a:solidFill>
                          <a:latin typeface="微软雅黑" panose="020B0503020204020204" charset="-122"/>
                          <a:ea typeface="微软雅黑" panose="020B0503020204020204" charset="-122"/>
                        </a:rPr>
                        <a:t>新购</a:t>
                      </a:r>
                      <a:endParaRPr lang="zh-CN" altLang="en-US" sz="1000" kern="1200" dirty="0">
                        <a:solidFill>
                          <a:schemeClr val="tx1"/>
                        </a:solidFill>
                        <a:latin typeface="微软雅黑" panose="020B0503020204020204" charset="-122"/>
                        <a:ea typeface="微软雅黑" panose="020B0503020204020204" charset="-122"/>
                      </a:endParaRPr>
                    </a:p>
                  </a:txBody>
                  <a:tcPr marL="0" marR="0" marT="0" marB="0" anchor="ctr">
                    <a:lnL w="12700" cmpd="sng">
                      <a:solidFill>
                        <a:prstClr val="black"/>
                      </a:solidFill>
                      <a:prstDash val="solid"/>
                    </a:lnL>
                    <a:lnR w="12700" cmpd="sng">
                      <a:solidFill>
                        <a:prstClr val="black"/>
                      </a:solidFill>
                      <a:prstDash val="solid"/>
                    </a:lnR>
                    <a:lnT w="12700" cap="flat" cmpd="sng" algn="ctr">
                      <a:solidFill>
                        <a:prstClr val="black"/>
                      </a:solidFill>
                      <a:prstDash val="solid"/>
                      <a:round/>
                      <a:headEnd type="none" w="med" len="med"/>
                      <a:tailEnd type="none" w="med" len="med"/>
                    </a:lnT>
                    <a:lnB w="12700" cmpd="sng">
                      <a:solidFill>
                        <a:prstClr val="black"/>
                      </a:solidFill>
                      <a:prstDash val="solid"/>
                    </a:lnB>
                    <a:lnTlToBr w="12700" cmpd="sng">
                      <a:noFill/>
                      <a:prstDash val="solid"/>
                    </a:lnTlToBr>
                    <a:lnBlToTr w="12700" cmpd="sng">
                      <a:noFill/>
                      <a:prstDash val="solid"/>
                    </a:lnBlToTr>
                    <a:noFill/>
                  </a:tcPr>
                </a:tc>
              </a:tr>
              <a:tr h="348615">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indent="0" algn="ctr">
                        <a:buNone/>
                      </a:pPr>
                      <a:r>
                        <a:rPr lang="zh-CN" altLang="en-US" sz="1000" dirty="0">
                          <a:latin typeface="微软雅黑" panose="020B0503020204020204" charset="-122"/>
                          <a:ea typeface="微软雅黑" panose="020B0503020204020204" charset="-122"/>
                          <a:cs typeface="微软雅黑" panose="020B0503020204020204" charset="-122"/>
                        </a:rPr>
                        <a:t>下一代防火墙</a:t>
                      </a:r>
                      <a:r>
                        <a:rPr lang="en-US" altLang="zh-CN" sz="1000" dirty="0">
                          <a:latin typeface="微软雅黑" panose="020B0503020204020204" charset="-122"/>
                          <a:ea typeface="微软雅黑" panose="020B0503020204020204" charset="-122"/>
                          <a:cs typeface="微软雅黑" panose="020B0503020204020204" charset="-122"/>
                        </a:rPr>
                        <a:t>AF</a:t>
                      </a:r>
                      <a:endParaRPr lang="en-US" altLang="zh-CN" sz="1000" dirty="0">
                        <a:latin typeface="微软雅黑" panose="020B0503020204020204" charset="-122"/>
                        <a:ea typeface="微软雅黑" panose="020B0503020204020204" charset="-122"/>
                        <a:cs typeface="微软雅黑" panose="020B0503020204020204" charset="-122"/>
                      </a:endParaRPr>
                    </a:p>
                  </a:txBody>
                  <a:tcPr marL="0" marR="0" marT="0" marB="0"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marL="71755" indent="0" algn="l" fontAlgn="auto">
                        <a:buNone/>
                      </a:pPr>
                      <a:r>
                        <a:rPr lang="zh-CN" altLang="en-US" sz="1000" dirty="0">
                          <a:latin typeface="微软雅黑" panose="020B0503020204020204" charset="-122"/>
                          <a:ea typeface="微软雅黑" panose="020B0503020204020204" charset="-122"/>
                          <a:cs typeface="微软雅黑" panose="020B0503020204020204" charset="-122"/>
                        </a:rPr>
                        <a:t>提供网络边界防御能力，实现南北向流量监测与</a:t>
                      </a:r>
                      <a:r>
                        <a:rPr lang="zh-CN" altLang="en-US" sz="1000" dirty="0">
                          <a:latin typeface="微软雅黑" panose="020B0503020204020204" charset="-122"/>
                          <a:ea typeface="微软雅黑" panose="020B0503020204020204" charset="-122"/>
                          <a:cs typeface="微软雅黑" panose="020B0503020204020204" charset="-122"/>
                        </a:rPr>
                        <a:t>防护，实现边界防护的安全托管。</a:t>
                      </a:r>
                      <a:endParaRPr lang="zh-CN" altLang="en-US" sz="1000" dirty="0">
                        <a:latin typeface="微软雅黑" panose="020B0503020204020204" charset="-122"/>
                        <a:ea typeface="微软雅黑" panose="020B0503020204020204" charset="-122"/>
                        <a:cs typeface="微软雅黑" panose="020B0503020204020204" charset="-122"/>
                      </a:endParaRPr>
                    </a:p>
                  </a:txBody>
                  <a:tcPr marL="0" marR="0" marT="0" marB="0"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marL="0" indent="0" algn="ctr" defTabSz="914400" rtl="0" eaLnBrk="1" latinLnBrk="0" hangingPunct="1">
                        <a:buNone/>
                      </a:pPr>
                      <a:r>
                        <a:rPr lang="zh-CN" altLang="en-US" sz="1000" kern="1200" dirty="0">
                          <a:solidFill>
                            <a:schemeClr val="tx1"/>
                          </a:solidFill>
                          <a:latin typeface="微软雅黑" panose="020B0503020204020204" charset="-122"/>
                          <a:ea typeface="微软雅黑" panose="020B0503020204020204" charset="-122"/>
                        </a:rPr>
                        <a:t>按需选型，续保</a:t>
                      </a:r>
                      <a:r>
                        <a:rPr lang="en-US" altLang="zh-CN" sz="1000" kern="1200" dirty="0">
                          <a:solidFill>
                            <a:schemeClr val="tx1"/>
                          </a:solidFill>
                          <a:latin typeface="微软雅黑" panose="020B0503020204020204" charset="-122"/>
                          <a:ea typeface="微软雅黑" panose="020B0503020204020204" charset="-122"/>
                        </a:rPr>
                        <a:t>/</a:t>
                      </a:r>
                      <a:r>
                        <a:rPr lang="zh-CN" altLang="en-US" sz="1000" kern="1200" dirty="0">
                          <a:solidFill>
                            <a:schemeClr val="tx1"/>
                          </a:solidFill>
                          <a:latin typeface="微软雅黑" panose="020B0503020204020204" charset="-122"/>
                          <a:ea typeface="微软雅黑" panose="020B0503020204020204" charset="-122"/>
                        </a:rPr>
                        <a:t>新购</a:t>
                      </a:r>
                      <a:endParaRPr lang="zh-CN" altLang="en-US" sz="1000" kern="1200" dirty="0">
                        <a:solidFill>
                          <a:schemeClr val="tx1"/>
                        </a:solidFill>
                        <a:latin typeface="微软雅黑" panose="020B0503020204020204" charset="-122"/>
                        <a:ea typeface="微软雅黑" panose="020B0503020204020204" charset="-122"/>
                      </a:endParaRPr>
                    </a:p>
                  </a:txBody>
                  <a:tcPr marL="0" marR="0" marT="0" marB="0"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r>
              <a:tr h="327025">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dirty="0">
                          <a:solidFill>
                            <a:schemeClr val="tx1"/>
                          </a:solidFill>
                          <a:latin typeface="Microsoft YaHei UI" panose="020B0503020204020204" pitchFamily="34" charset="-122"/>
                          <a:ea typeface="Microsoft YaHei UI" panose="020B0503020204020204" pitchFamily="34" charset="-122"/>
                        </a:rPr>
                        <a:t>流量检测探针</a:t>
                      </a:r>
                      <a:r>
                        <a:rPr lang="en-US" altLang="zh-CN" sz="1000" dirty="0">
                          <a:solidFill>
                            <a:schemeClr val="tx1"/>
                          </a:solidFill>
                          <a:latin typeface="Microsoft YaHei UI" panose="020B0503020204020204" pitchFamily="34" charset="-122"/>
                          <a:ea typeface="Microsoft YaHei UI" panose="020B0503020204020204" pitchFamily="34" charset="-122"/>
                        </a:rPr>
                        <a:t>STA</a:t>
                      </a:r>
                      <a:endParaRPr lang="zh-CN" altLang="en-US" sz="1000" dirty="0">
                        <a:solidFill>
                          <a:schemeClr val="tx1"/>
                        </a:solidFill>
                        <a:latin typeface="Microsoft YaHei UI" panose="020B0503020204020204" pitchFamily="34" charset="-122"/>
                        <a:ea typeface="Microsoft YaHei UI" panose="020B0503020204020204" pitchFamily="34" charset="-122"/>
                      </a:endParaRPr>
                    </a:p>
                  </a:txBody>
                  <a:tcPr marL="0" marR="0" marT="0" marB="0" anchor="ctr">
                    <a:lnL w="12700" cmpd="sng">
                      <a:solidFill>
                        <a:prstClr val="black"/>
                      </a:solidFill>
                      <a:prstDash val="soli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mpd="sng">
                      <a:solidFill>
                        <a:prstClr val="black"/>
                      </a:solidFill>
                      <a:prstDash val="solid"/>
                    </a:lnB>
                    <a:lnTlToBr w="12700" cmpd="sng">
                      <a:noFill/>
                      <a:prstDash val="solid"/>
                    </a:lnTlToBr>
                    <a:lnBlToTr w="12700" cmpd="sng">
                      <a:noFill/>
                      <a:prstDash val="solid"/>
                    </a:lnBlToTr>
                    <a:noFill/>
                  </a:tcPr>
                </a:tc>
                <a:tc>
                  <a:txBody>
                    <a:bodyPr/>
                    <a:lstStyle/>
                    <a:p>
                      <a:pPr marL="71755" indent="0" algn="l" fontAlgn="auto">
                        <a:buNone/>
                      </a:pPr>
                      <a:r>
                        <a:rPr lang="zh-CN" altLang="en-US" sz="1000" dirty="0">
                          <a:latin typeface="微软雅黑" panose="020B0503020204020204" charset="-122"/>
                          <a:ea typeface="微软雅黑" panose="020B0503020204020204" charset="-122"/>
                          <a:cs typeface="微软雅黑" panose="020B0503020204020204" charset="-122"/>
                        </a:rPr>
                        <a:t>潜伏威胁探针，用于网络流量采集和分析，采集从内到外，从外到内流量。</a:t>
                      </a:r>
                      <a:endParaRPr lang="zh-CN" altLang="en-US" sz="1000" dirty="0">
                        <a:latin typeface="微软雅黑" panose="020B0503020204020204" charset="-122"/>
                        <a:ea typeface="微软雅黑" panose="020B0503020204020204" charset="-122"/>
                        <a:cs typeface="微软雅黑" panose="020B0503020204020204" charset="-122"/>
                      </a:endParaRPr>
                    </a:p>
                  </a:txBody>
                  <a:tcPr marL="0" marR="0" marT="0" marB="0"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mpd="sng">
                      <a:solidFill>
                        <a:prstClr val="black"/>
                      </a:solidFill>
                      <a:prstDash val="solid"/>
                    </a:lnB>
                    <a:lnTlToBr w="12700" cmpd="sng">
                      <a:noFill/>
                      <a:prstDash val="solid"/>
                    </a:lnTlToBr>
                    <a:lnBlToTr w="12700" cmpd="sng">
                      <a:noFill/>
                      <a:prstDash val="solid"/>
                    </a:lnBlToTr>
                    <a:noFill/>
                  </a:tcPr>
                </a:tc>
                <a:tc>
                  <a:txBody>
                    <a:bodyPr/>
                    <a:lstStyle/>
                    <a:p>
                      <a:pPr marL="0" indent="0" algn="ctr" defTabSz="914400" rtl="0" eaLnBrk="1" latinLnBrk="0" hangingPunct="1">
                        <a:buNone/>
                      </a:pPr>
                      <a:r>
                        <a:rPr lang="zh-CN" altLang="en-US" sz="1000" dirty="0">
                          <a:latin typeface="微软雅黑" panose="020B0503020204020204" charset="-122"/>
                          <a:ea typeface="微软雅黑" panose="020B0503020204020204" charset="-122"/>
                          <a:sym typeface="+mn-ea"/>
                        </a:rPr>
                        <a:t>按需选型，续保</a:t>
                      </a:r>
                      <a:r>
                        <a:rPr lang="en-US" altLang="zh-CN" sz="1000" dirty="0">
                          <a:latin typeface="微软雅黑" panose="020B0503020204020204" charset="-122"/>
                          <a:ea typeface="微软雅黑" panose="020B0503020204020204" charset="-122"/>
                          <a:sym typeface="+mn-ea"/>
                        </a:rPr>
                        <a:t>/</a:t>
                      </a:r>
                      <a:r>
                        <a:rPr lang="zh-CN" altLang="en-US" sz="1000" dirty="0">
                          <a:latin typeface="微软雅黑" panose="020B0503020204020204" charset="-122"/>
                          <a:ea typeface="微软雅黑" panose="020B0503020204020204" charset="-122"/>
                          <a:sym typeface="+mn-ea"/>
                        </a:rPr>
                        <a:t>新购</a:t>
                      </a:r>
                      <a:endParaRPr lang="zh-CN" altLang="en-US" sz="1000" dirty="0">
                        <a:latin typeface="微软雅黑" panose="020B0503020204020204" charset="-122"/>
                        <a:ea typeface="微软雅黑" panose="020B0503020204020204" charset="-122"/>
                      </a:endParaRPr>
                    </a:p>
                  </a:txBody>
                  <a:tcPr marL="0" marR="0" marT="0" marB="0" anchor="ctr">
                    <a:lnL w="12700" cap="flat" cmpd="sng" algn="ctr">
                      <a:solidFill>
                        <a:prstClr val="black"/>
                      </a:solidFill>
                      <a:prstDash val="solid"/>
                      <a:round/>
                      <a:headEnd type="none" w="med" len="med"/>
                      <a:tailEnd type="none" w="med" len="med"/>
                    </a:lnL>
                    <a:lnR w="12700" cmpd="sng">
                      <a:solidFill>
                        <a:prstClr val="black"/>
                      </a:solidFill>
                      <a:prstDash val="solid"/>
                    </a:lnR>
                    <a:lnT w="12700" cap="flat" cmpd="sng" algn="ctr">
                      <a:solidFill>
                        <a:prstClr val="black"/>
                      </a:solidFill>
                      <a:prstDash val="solid"/>
                      <a:round/>
                      <a:headEnd type="none" w="med" len="med"/>
                      <a:tailEnd type="none" w="med" len="med"/>
                    </a:lnT>
                    <a:lnB w="12700" cmpd="sng">
                      <a:solidFill>
                        <a:prstClr val="black"/>
                      </a:solidFill>
                      <a:prstDash val="solid"/>
                    </a:lnB>
                    <a:lnTlToBr w="12700" cmpd="sng">
                      <a:noFill/>
                      <a:prstDash val="solid"/>
                    </a:lnTlToBr>
                    <a:lnBlToTr w="12700" cmpd="sng">
                      <a:noFill/>
                      <a:prstDash val="solid"/>
                    </a:lnBlToTr>
                    <a:noFill/>
                  </a:tcPr>
                </a:tc>
              </a:tr>
              <a:tr h="473710">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indent="0" algn="ctr">
                        <a:buNone/>
                      </a:pPr>
                      <a:r>
                        <a:rPr lang="en-US" altLang="zh-CN" sz="1000" dirty="0">
                          <a:latin typeface="微软雅黑" panose="020B0503020204020204" charset="-122"/>
                          <a:ea typeface="微软雅黑" panose="020B0503020204020204" charset="-122"/>
                        </a:rPr>
                        <a:t>EASM</a:t>
                      </a:r>
                      <a:endParaRPr lang="en-US" altLang="zh-CN" sz="1000" dirty="0">
                        <a:latin typeface="微软雅黑" panose="020B0503020204020204" charset="-122"/>
                        <a:ea typeface="微软雅黑" panose="020B0503020204020204" charset="-122"/>
                      </a:endParaRPr>
                    </a:p>
                  </a:txBody>
                  <a:tcPr marL="0" marR="0" marT="0" marB="0" anchor="ctr">
                    <a:lnL w="12700" cmpd="sng">
                      <a:solidFill>
                        <a:prstClr val="black"/>
                      </a:solidFill>
                      <a:prstDash val="solid"/>
                    </a:lnL>
                    <a:lnR w="12700" cmpd="sng">
                      <a:solidFill>
                        <a:prstClr val="black"/>
                      </a:solidFill>
                      <a:prstDash val="solid"/>
                    </a:lnR>
                    <a:lnT w="12700" cmpd="sng">
                      <a:solidFill>
                        <a:prstClr val="black"/>
                      </a:solidFill>
                      <a:prstDash val="solid"/>
                    </a:lnT>
                    <a:lnB w="12700" cap="flat" cmpd="sng" algn="ctr">
                      <a:solidFill>
                        <a:prstClr val="black"/>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marL="71755" indent="0" algn="l" fontAlgn="auto">
                        <a:buNone/>
                      </a:pPr>
                      <a:r>
                        <a:rPr lang="en-US" altLang="zh-CN" sz="1000" dirty="0">
                          <a:latin typeface="微软雅黑" panose="020B0503020204020204" charset="-122"/>
                          <a:ea typeface="微软雅黑" panose="020B0503020204020204" charset="-122"/>
                          <a:cs typeface="微软雅黑" panose="020B0503020204020204" charset="-122"/>
                        </a:rPr>
                        <a:t>1.</a:t>
                      </a:r>
                      <a:r>
                        <a:rPr lang="zh-CN" altLang="en-US" sz="1000" dirty="0">
                          <a:latin typeface="微软雅黑" panose="020B0503020204020204" charset="-122"/>
                          <a:ea typeface="微软雅黑" panose="020B0503020204020204" charset="-122"/>
                          <a:cs typeface="微软雅黑" panose="020B0503020204020204" charset="-122"/>
                        </a:rPr>
                        <a:t>持续监测互联网暴露面，以便收敛已知、未知的暴露面，持续监测暴露面潜在风险，</a:t>
                      </a:r>
                      <a:r>
                        <a:rPr lang="zh-CN" altLang="en-US" sz="1000" dirty="0">
                          <a:latin typeface="微软雅黑" panose="020B0503020204020204" charset="-122"/>
                          <a:ea typeface="微软雅黑" panose="020B0503020204020204" charset="-122"/>
                          <a:cs typeface="微软雅黑" panose="020B0503020204020204" charset="-122"/>
                          <a:sym typeface="+mn-ea"/>
                        </a:rPr>
                        <a:t>降低资产被外部攻击的可能性；</a:t>
                      </a:r>
                      <a:endParaRPr lang="zh-CN" altLang="en-US" sz="1000" dirty="0">
                        <a:latin typeface="微软雅黑" panose="020B0503020204020204" charset="-122"/>
                        <a:ea typeface="微软雅黑" panose="020B0503020204020204" charset="-122"/>
                        <a:cs typeface="微软雅黑" panose="020B0503020204020204" charset="-122"/>
                      </a:endParaRPr>
                    </a:p>
                    <a:p>
                      <a:pPr marL="71755" indent="0" algn="l" fontAlgn="auto">
                        <a:buNone/>
                      </a:pPr>
                      <a:r>
                        <a:rPr lang="en-US" altLang="zh-CN" sz="1000" dirty="0">
                          <a:latin typeface="微软雅黑" panose="020B0503020204020204" charset="-122"/>
                          <a:ea typeface="微软雅黑" panose="020B0503020204020204" charset="-122"/>
                          <a:cs typeface="微软雅黑" panose="020B0503020204020204" charset="-122"/>
                        </a:rPr>
                        <a:t>2.</a:t>
                      </a:r>
                      <a:r>
                        <a:rPr lang="zh-CN" altLang="en-US" sz="1000" dirty="0">
                          <a:latin typeface="微软雅黑" panose="020B0503020204020204" charset="-122"/>
                          <a:ea typeface="微软雅黑" panose="020B0503020204020204" charset="-122"/>
                          <a:cs typeface="微软雅黑" panose="020B0503020204020204" charset="-122"/>
                        </a:rPr>
                        <a:t>全网敏感信息排查，主动发现数据泄露</a:t>
                      </a:r>
                      <a:r>
                        <a:rPr lang="zh-CN" altLang="en-US" sz="1000" dirty="0">
                          <a:latin typeface="微软雅黑" panose="020B0503020204020204" charset="-122"/>
                          <a:ea typeface="微软雅黑" panose="020B0503020204020204" charset="-122"/>
                          <a:cs typeface="微软雅黑" panose="020B0503020204020204" charset="-122"/>
                        </a:rPr>
                        <a:t>情况。</a:t>
                      </a:r>
                      <a:endParaRPr lang="zh-CN" altLang="en-US" sz="1000" dirty="0">
                        <a:latin typeface="微软雅黑" panose="020B0503020204020204" charset="-122"/>
                        <a:ea typeface="微软雅黑" panose="020B0503020204020204" charset="-122"/>
                        <a:cs typeface="微软雅黑" panose="020B0503020204020204" charset="-122"/>
                      </a:endParaRPr>
                    </a:p>
                  </a:txBody>
                  <a:tcPr marL="0" marR="0" marT="0" marB="0"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kern="1200" dirty="0">
                          <a:solidFill>
                            <a:schemeClr val="tx1"/>
                          </a:solidFill>
                          <a:latin typeface="微软雅黑" panose="020B0503020204020204" charset="-122"/>
                          <a:ea typeface="微软雅黑" panose="020B0503020204020204" charset="-122"/>
                          <a:cs typeface="+mn-cs"/>
                        </a:rPr>
                        <a:t>可选，按需</a:t>
                      </a:r>
                      <a:endParaRPr lang="zh-CN" altLang="en-US" sz="1000" kern="1200" dirty="0">
                        <a:solidFill>
                          <a:schemeClr val="tx1"/>
                        </a:solidFill>
                        <a:latin typeface="微软雅黑" panose="020B0503020204020204" charset="-122"/>
                        <a:ea typeface="微软雅黑" panose="020B0503020204020204" charset="-122"/>
                        <a:cs typeface="+mn-cs"/>
                      </a:endParaRPr>
                    </a:p>
                  </a:txBody>
                  <a:tcPr marL="0" marR="0" marT="0" marB="0" anchor="ctr">
                    <a:lnL w="12700" cmpd="sng">
                      <a:solidFill>
                        <a:prstClr val="black"/>
                      </a:solidFill>
                      <a:prstDash val="solid"/>
                    </a:lnL>
                    <a:lnR w="12700" cmpd="sng">
                      <a:solidFill>
                        <a:prstClr val="black"/>
                      </a:solidFill>
                      <a:prstDash val="solid"/>
                    </a:lnR>
                    <a:lnT w="12700" cmpd="sng">
                      <a:solidFill>
                        <a:prstClr val="black"/>
                      </a:solidFill>
                      <a:prstDash val="solid"/>
                    </a:lnT>
                    <a:lnB w="12700" cap="flat" cmpd="sng" algn="ctr">
                      <a:solidFill>
                        <a:prstClr val="black"/>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grpSp>
        <p:nvGrpSpPr>
          <p:cNvPr id="136" name="组合 135"/>
          <p:cNvGrpSpPr/>
          <p:nvPr/>
        </p:nvGrpSpPr>
        <p:grpSpPr>
          <a:xfrm>
            <a:off x="719455" y="1218565"/>
            <a:ext cx="4499610" cy="1438910"/>
            <a:chOff x="726" y="1583"/>
            <a:chExt cx="7086" cy="2266"/>
          </a:xfrm>
        </p:grpSpPr>
        <p:sp>
          <p:nvSpPr>
            <p:cNvPr id="242" name="PA-椭圆 227_1"/>
            <p:cNvSpPr/>
            <p:nvPr>
              <p:custDataLst>
                <p:tags r:id="rId58"/>
              </p:custDataLst>
            </p:nvPr>
          </p:nvSpPr>
          <p:spPr>
            <a:xfrm rot="10800000">
              <a:off x="726" y="1583"/>
              <a:ext cx="7087" cy="2267"/>
            </a:xfrm>
            <a:prstGeom prst="ellipse">
              <a:avLst/>
            </a:prstGeom>
            <a:noFill/>
            <a:ln w="57150" cap="flat" cmpd="sng" algn="ctr">
              <a:gradFill>
                <a:gsLst>
                  <a:gs pos="0">
                    <a:srgbClr val="00539F"/>
                  </a:gs>
                  <a:gs pos="100000">
                    <a:srgbClr val="00539F">
                      <a:alpha val="0"/>
                    </a:srgbClr>
                  </a:gs>
                </a:gsLst>
                <a:lin ang="5400000" scaled="1"/>
              </a:gradFill>
              <a:prstDash val="solid"/>
              <a:miter lim="800000"/>
            </a:ln>
            <a:effectLst/>
          </p:spPr>
          <p:txBody>
            <a:bodyPr lIns="91422" tIns="45712" rIns="91422" bIns="45712"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grpSp>
          <p:nvGrpSpPr>
            <p:cNvPr id="244" name="组合 243"/>
            <p:cNvGrpSpPr/>
            <p:nvPr/>
          </p:nvGrpSpPr>
          <p:grpSpPr>
            <a:xfrm rot="0">
              <a:off x="1777" y="1791"/>
              <a:ext cx="1741" cy="707"/>
              <a:chOff x="3042" y="2781"/>
              <a:chExt cx="1847" cy="890"/>
            </a:xfrm>
          </p:grpSpPr>
          <p:sp>
            <p:nvSpPr>
              <p:cNvPr id="245" name="searching-data-in-database_30659"/>
              <p:cNvSpPr/>
              <p:nvPr/>
            </p:nvSpPr>
            <p:spPr>
              <a:xfrm>
                <a:off x="3621" y="2781"/>
                <a:ext cx="703" cy="465"/>
              </a:xfrm>
              <a:custGeom>
                <a:avLst/>
                <a:gdLst>
                  <a:gd name="T0" fmla="*/ 5776 w 6302"/>
                  <a:gd name="T1" fmla="*/ 4472 h 6310"/>
                  <a:gd name="T2" fmla="*/ 5270 w 6302"/>
                  <a:gd name="T3" fmla="*/ 4866 h 6310"/>
                  <a:gd name="T4" fmla="*/ 4858 w 6302"/>
                  <a:gd name="T5" fmla="*/ 4866 h 6310"/>
                  <a:gd name="T6" fmla="*/ 4858 w 6302"/>
                  <a:gd name="T7" fmla="*/ 3708 h 6310"/>
                  <a:gd name="T8" fmla="*/ 5776 w 6302"/>
                  <a:gd name="T9" fmla="*/ 2634 h 6310"/>
                  <a:gd name="T10" fmla="*/ 5050 w 6302"/>
                  <a:gd name="T11" fmla="*/ 1594 h 6310"/>
                  <a:gd name="T12" fmla="*/ 5094 w 6302"/>
                  <a:gd name="T13" fmla="*/ 1179 h 6310"/>
                  <a:gd name="T14" fmla="*/ 3822 w 6302"/>
                  <a:gd name="T15" fmla="*/ 8 h 6310"/>
                  <a:gd name="T16" fmla="*/ 2623 w 6302"/>
                  <a:gd name="T17" fmla="*/ 780 h 6310"/>
                  <a:gd name="T18" fmla="*/ 1936 w 6302"/>
                  <a:gd name="T19" fmla="*/ 590 h 6310"/>
                  <a:gd name="T20" fmla="*/ 1119 w 6302"/>
                  <a:gd name="T21" fmla="*/ 1212 h 6310"/>
                  <a:gd name="T22" fmla="*/ 1074 w 6302"/>
                  <a:gd name="T23" fmla="*/ 1677 h 6310"/>
                  <a:gd name="T24" fmla="*/ 525 w 6302"/>
                  <a:gd name="T25" fmla="*/ 2634 h 6310"/>
                  <a:gd name="T26" fmla="*/ 1444 w 6302"/>
                  <a:gd name="T27" fmla="*/ 3706 h 6310"/>
                  <a:gd name="T28" fmla="*/ 1444 w 6302"/>
                  <a:gd name="T29" fmla="*/ 4866 h 6310"/>
                  <a:gd name="T30" fmla="*/ 1032 w 6302"/>
                  <a:gd name="T31" fmla="*/ 4866 h 6310"/>
                  <a:gd name="T32" fmla="*/ 525 w 6302"/>
                  <a:gd name="T33" fmla="*/ 4472 h 6310"/>
                  <a:gd name="T34" fmla="*/ 0 w 6302"/>
                  <a:gd name="T35" fmla="*/ 4997 h 6310"/>
                  <a:gd name="T36" fmla="*/ 525 w 6302"/>
                  <a:gd name="T37" fmla="*/ 5522 h 6310"/>
                  <a:gd name="T38" fmla="*/ 1032 w 6302"/>
                  <a:gd name="T39" fmla="*/ 5128 h 6310"/>
                  <a:gd name="T40" fmla="*/ 1707 w 6302"/>
                  <a:gd name="T41" fmla="*/ 5128 h 6310"/>
                  <a:gd name="T42" fmla="*/ 1707 w 6302"/>
                  <a:gd name="T43" fmla="*/ 3739 h 6310"/>
                  <a:gd name="T44" fmla="*/ 1754 w 6302"/>
                  <a:gd name="T45" fmla="*/ 3741 h 6310"/>
                  <a:gd name="T46" fmla="*/ 2363 w 6302"/>
                  <a:gd name="T47" fmla="*/ 3741 h 6310"/>
                  <a:gd name="T48" fmla="*/ 2363 w 6302"/>
                  <a:gd name="T49" fmla="*/ 5278 h 6310"/>
                  <a:gd name="T50" fmla="*/ 1969 w 6302"/>
                  <a:gd name="T51" fmla="*/ 5785 h 6310"/>
                  <a:gd name="T52" fmla="*/ 2494 w 6302"/>
                  <a:gd name="T53" fmla="*/ 6310 h 6310"/>
                  <a:gd name="T54" fmla="*/ 3020 w 6302"/>
                  <a:gd name="T55" fmla="*/ 5785 h 6310"/>
                  <a:gd name="T56" fmla="*/ 2626 w 6302"/>
                  <a:gd name="T57" fmla="*/ 5278 h 6310"/>
                  <a:gd name="T58" fmla="*/ 2626 w 6302"/>
                  <a:gd name="T59" fmla="*/ 3741 h 6310"/>
                  <a:gd name="T60" fmla="*/ 3676 w 6302"/>
                  <a:gd name="T61" fmla="*/ 3741 h 6310"/>
                  <a:gd name="T62" fmla="*/ 3676 w 6302"/>
                  <a:gd name="T63" fmla="*/ 5278 h 6310"/>
                  <a:gd name="T64" fmla="*/ 3282 w 6302"/>
                  <a:gd name="T65" fmla="*/ 5785 h 6310"/>
                  <a:gd name="T66" fmla="*/ 3807 w 6302"/>
                  <a:gd name="T67" fmla="*/ 6310 h 6310"/>
                  <a:gd name="T68" fmla="*/ 4332 w 6302"/>
                  <a:gd name="T69" fmla="*/ 5785 h 6310"/>
                  <a:gd name="T70" fmla="*/ 3939 w 6302"/>
                  <a:gd name="T71" fmla="*/ 5278 h 6310"/>
                  <a:gd name="T72" fmla="*/ 3939 w 6302"/>
                  <a:gd name="T73" fmla="*/ 3741 h 6310"/>
                  <a:gd name="T74" fmla="*/ 4548 w 6302"/>
                  <a:gd name="T75" fmla="*/ 3741 h 6310"/>
                  <a:gd name="T76" fmla="*/ 4595 w 6302"/>
                  <a:gd name="T77" fmla="*/ 3739 h 6310"/>
                  <a:gd name="T78" fmla="*/ 4595 w 6302"/>
                  <a:gd name="T79" fmla="*/ 5128 h 6310"/>
                  <a:gd name="T80" fmla="*/ 5270 w 6302"/>
                  <a:gd name="T81" fmla="*/ 5128 h 6310"/>
                  <a:gd name="T82" fmla="*/ 5777 w 6302"/>
                  <a:gd name="T83" fmla="*/ 5522 h 6310"/>
                  <a:gd name="T84" fmla="*/ 6302 w 6302"/>
                  <a:gd name="T85" fmla="*/ 4997 h 6310"/>
                  <a:gd name="T86" fmla="*/ 5776 w 6302"/>
                  <a:gd name="T87" fmla="*/ 4472 h 6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302" h="6310">
                    <a:moveTo>
                      <a:pt x="5776" y="4472"/>
                    </a:moveTo>
                    <a:cubicBezTo>
                      <a:pt x="5532" y="4472"/>
                      <a:pt x="5329" y="4640"/>
                      <a:pt x="5270" y="4866"/>
                    </a:cubicBezTo>
                    <a:lnTo>
                      <a:pt x="4858" y="4866"/>
                    </a:lnTo>
                    <a:lnTo>
                      <a:pt x="4858" y="3708"/>
                    </a:lnTo>
                    <a:cubicBezTo>
                      <a:pt x="5405" y="3593"/>
                      <a:pt x="5776" y="3177"/>
                      <a:pt x="5776" y="2634"/>
                    </a:cubicBezTo>
                    <a:cubicBezTo>
                      <a:pt x="5776" y="2166"/>
                      <a:pt x="5478" y="1752"/>
                      <a:pt x="5050" y="1594"/>
                    </a:cubicBezTo>
                    <a:cubicBezTo>
                      <a:pt x="5089" y="1464"/>
                      <a:pt x="5103" y="1329"/>
                      <a:pt x="5094" y="1179"/>
                    </a:cubicBezTo>
                    <a:cubicBezTo>
                      <a:pt x="5054" y="539"/>
                      <a:pt x="4483" y="13"/>
                      <a:pt x="3822" y="8"/>
                    </a:cubicBezTo>
                    <a:cubicBezTo>
                      <a:pt x="3289" y="0"/>
                      <a:pt x="2820" y="318"/>
                      <a:pt x="2623" y="780"/>
                    </a:cubicBezTo>
                    <a:cubicBezTo>
                      <a:pt x="2430" y="636"/>
                      <a:pt x="2185" y="566"/>
                      <a:pt x="1936" y="590"/>
                    </a:cubicBezTo>
                    <a:cubicBezTo>
                      <a:pt x="1578" y="624"/>
                      <a:pt x="1264" y="861"/>
                      <a:pt x="1119" y="1212"/>
                    </a:cubicBezTo>
                    <a:cubicBezTo>
                      <a:pt x="1049" y="1379"/>
                      <a:pt x="1058" y="1564"/>
                      <a:pt x="1074" y="1677"/>
                    </a:cubicBezTo>
                    <a:cubicBezTo>
                      <a:pt x="738" y="1874"/>
                      <a:pt x="525" y="2239"/>
                      <a:pt x="525" y="2634"/>
                    </a:cubicBezTo>
                    <a:cubicBezTo>
                      <a:pt x="525" y="3167"/>
                      <a:pt x="903" y="3589"/>
                      <a:pt x="1444" y="3706"/>
                    </a:cubicBezTo>
                    <a:lnTo>
                      <a:pt x="1444" y="4866"/>
                    </a:lnTo>
                    <a:lnTo>
                      <a:pt x="1032" y="4866"/>
                    </a:lnTo>
                    <a:cubicBezTo>
                      <a:pt x="973" y="4640"/>
                      <a:pt x="769" y="4472"/>
                      <a:pt x="525" y="4472"/>
                    </a:cubicBezTo>
                    <a:cubicBezTo>
                      <a:pt x="235" y="4472"/>
                      <a:pt x="0" y="4707"/>
                      <a:pt x="0" y="4997"/>
                    </a:cubicBezTo>
                    <a:cubicBezTo>
                      <a:pt x="0" y="5286"/>
                      <a:pt x="235" y="5522"/>
                      <a:pt x="525" y="5522"/>
                    </a:cubicBezTo>
                    <a:cubicBezTo>
                      <a:pt x="769" y="5522"/>
                      <a:pt x="973" y="5354"/>
                      <a:pt x="1032" y="5128"/>
                    </a:cubicBezTo>
                    <a:lnTo>
                      <a:pt x="1707" y="5128"/>
                    </a:lnTo>
                    <a:lnTo>
                      <a:pt x="1707" y="3739"/>
                    </a:lnTo>
                    <a:cubicBezTo>
                      <a:pt x="1722" y="3739"/>
                      <a:pt x="1738" y="3741"/>
                      <a:pt x="1754" y="3741"/>
                    </a:cubicBezTo>
                    <a:lnTo>
                      <a:pt x="2363" y="3741"/>
                    </a:lnTo>
                    <a:lnTo>
                      <a:pt x="2363" y="5278"/>
                    </a:lnTo>
                    <a:cubicBezTo>
                      <a:pt x="2137" y="5337"/>
                      <a:pt x="1969" y="5540"/>
                      <a:pt x="1969" y="5785"/>
                    </a:cubicBezTo>
                    <a:cubicBezTo>
                      <a:pt x="1969" y="6073"/>
                      <a:pt x="2204" y="6310"/>
                      <a:pt x="2494" y="6310"/>
                    </a:cubicBezTo>
                    <a:cubicBezTo>
                      <a:pt x="2785" y="6310"/>
                      <a:pt x="3020" y="6073"/>
                      <a:pt x="3020" y="5785"/>
                    </a:cubicBezTo>
                    <a:cubicBezTo>
                      <a:pt x="3020" y="5540"/>
                      <a:pt x="2852" y="5337"/>
                      <a:pt x="2626" y="5278"/>
                    </a:cubicBezTo>
                    <a:lnTo>
                      <a:pt x="2626" y="3741"/>
                    </a:lnTo>
                    <a:lnTo>
                      <a:pt x="3676" y="3741"/>
                    </a:lnTo>
                    <a:lnTo>
                      <a:pt x="3676" y="5278"/>
                    </a:lnTo>
                    <a:cubicBezTo>
                      <a:pt x="3450" y="5337"/>
                      <a:pt x="3282" y="5540"/>
                      <a:pt x="3282" y="5785"/>
                    </a:cubicBezTo>
                    <a:cubicBezTo>
                      <a:pt x="3282" y="6073"/>
                      <a:pt x="3517" y="6310"/>
                      <a:pt x="3807" y="6310"/>
                    </a:cubicBezTo>
                    <a:cubicBezTo>
                      <a:pt x="4097" y="6310"/>
                      <a:pt x="4332" y="6073"/>
                      <a:pt x="4332" y="5785"/>
                    </a:cubicBezTo>
                    <a:cubicBezTo>
                      <a:pt x="4332" y="5540"/>
                      <a:pt x="4164" y="5337"/>
                      <a:pt x="3939" y="5278"/>
                    </a:cubicBezTo>
                    <a:lnTo>
                      <a:pt x="3939" y="3741"/>
                    </a:lnTo>
                    <a:lnTo>
                      <a:pt x="4548" y="3741"/>
                    </a:lnTo>
                    <a:cubicBezTo>
                      <a:pt x="4563" y="3741"/>
                      <a:pt x="4579" y="3739"/>
                      <a:pt x="4595" y="3739"/>
                    </a:cubicBezTo>
                    <a:lnTo>
                      <a:pt x="4595" y="5128"/>
                    </a:lnTo>
                    <a:lnTo>
                      <a:pt x="5270" y="5128"/>
                    </a:lnTo>
                    <a:cubicBezTo>
                      <a:pt x="5329" y="5354"/>
                      <a:pt x="5532" y="5522"/>
                      <a:pt x="5777" y="5522"/>
                    </a:cubicBezTo>
                    <a:cubicBezTo>
                      <a:pt x="6067" y="5522"/>
                      <a:pt x="6302" y="5286"/>
                      <a:pt x="6302" y="4997"/>
                    </a:cubicBezTo>
                    <a:cubicBezTo>
                      <a:pt x="6302" y="4707"/>
                      <a:pt x="6067" y="4472"/>
                      <a:pt x="5776" y="4472"/>
                    </a:cubicBezTo>
                    <a:close/>
                  </a:path>
                </a:pathLst>
              </a:custGeom>
              <a:solidFill>
                <a:srgbClr val="184199"/>
              </a:soli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prstClr val="white"/>
                  </a:solidFill>
                  <a:effectLst/>
                  <a:uLnTx/>
                  <a:uFillTx/>
                  <a:latin typeface="等线" panose="02010600030101010101" charset="-122"/>
                  <a:ea typeface="+mn-ea"/>
                  <a:cs typeface="+mn-cs"/>
                </a:endParaRPr>
              </a:p>
            </p:txBody>
          </p:sp>
          <p:sp>
            <p:nvSpPr>
              <p:cNvPr id="246" name="文本框 245"/>
              <p:cNvSpPr txBox="1"/>
              <p:nvPr/>
            </p:nvSpPr>
            <p:spPr>
              <a:xfrm>
                <a:off x="3042" y="3247"/>
                <a:ext cx="1847" cy="424"/>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800" b="1" i="0" u="none" strike="noStrike" kern="0" cap="none" spc="0" normalizeH="0" baseline="0" noProof="0" dirty="0">
                    <a:ln>
                      <a:noFill/>
                    </a:ln>
                    <a:solidFill>
                      <a:srgbClr val="184199"/>
                    </a:solidFill>
                    <a:effectLst/>
                    <a:uLnTx/>
                    <a:uFillTx/>
                    <a:latin typeface="微软雅黑" panose="020B0503020204020204" charset="-122"/>
                    <a:ea typeface="微软雅黑" panose="020B0503020204020204" charset="-122"/>
                  </a:rPr>
                  <a:t>流式分析引擎</a:t>
                </a:r>
                <a:endParaRPr kumimoji="0" lang="zh-CN" altLang="en-US" sz="800" b="1" i="0" u="none" strike="noStrike" kern="0" cap="none" spc="0" normalizeH="0" baseline="0" noProof="0" dirty="0">
                  <a:ln>
                    <a:noFill/>
                  </a:ln>
                  <a:solidFill>
                    <a:srgbClr val="184199"/>
                  </a:solidFill>
                  <a:effectLst/>
                  <a:uLnTx/>
                  <a:uFillTx/>
                  <a:latin typeface="微软雅黑" panose="020B0503020204020204" charset="-122"/>
                  <a:ea typeface="微软雅黑" panose="020B0503020204020204" charset="-122"/>
                </a:endParaRPr>
              </a:p>
            </p:txBody>
          </p:sp>
        </p:grpSp>
        <p:grpSp>
          <p:nvGrpSpPr>
            <p:cNvPr id="247" name="组合 246"/>
            <p:cNvGrpSpPr/>
            <p:nvPr/>
          </p:nvGrpSpPr>
          <p:grpSpPr>
            <a:xfrm rot="0">
              <a:off x="5749" y="2582"/>
              <a:ext cx="1445" cy="689"/>
              <a:chOff x="4539" y="4898"/>
              <a:chExt cx="1534" cy="867"/>
            </a:xfrm>
          </p:grpSpPr>
          <p:sp>
            <p:nvSpPr>
              <p:cNvPr id="248" name="binary-mind_83501"/>
              <p:cNvSpPr/>
              <p:nvPr/>
            </p:nvSpPr>
            <p:spPr>
              <a:xfrm>
                <a:off x="4979" y="4898"/>
                <a:ext cx="446" cy="530"/>
              </a:xfrm>
              <a:custGeom>
                <a:avLst/>
                <a:gdLst>
                  <a:gd name="connsiteX0" fmla="*/ 369056 w 473095"/>
                  <a:gd name="connsiteY0" fmla="*/ 195535 h 607498"/>
                  <a:gd name="connsiteX1" fmla="*/ 359269 w 473095"/>
                  <a:gd name="connsiteY1" fmla="*/ 209862 h 607498"/>
                  <a:gd name="connsiteX2" fmla="*/ 369056 w 473095"/>
                  <a:gd name="connsiteY2" fmla="*/ 224188 h 607498"/>
                  <a:gd name="connsiteX3" fmla="*/ 378842 w 473095"/>
                  <a:gd name="connsiteY3" fmla="*/ 209862 h 607498"/>
                  <a:gd name="connsiteX4" fmla="*/ 369056 w 473095"/>
                  <a:gd name="connsiteY4" fmla="*/ 195535 h 607498"/>
                  <a:gd name="connsiteX5" fmla="*/ 313233 w 473095"/>
                  <a:gd name="connsiteY5" fmla="*/ 195535 h 607498"/>
                  <a:gd name="connsiteX6" fmla="*/ 303450 w 473095"/>
                  <a:gd name="connsiteY6" fmla="*/ 209862 h 607498"/>
                  <a:gd name="connsiteX7" fmla="*/ 313233 w 473095"/>
                  <a:gd name="connsiteY7" fmla="*/ 224188 h 607498"/>
                  <a:gd name="connsiteX8" fmla="*/ 322886 w 473095"/>
                  <a:gd name="connsiteY8" fmla="*/ 209862 h 607498"/>
                  <a:gd name="connsiteX9" fmla="*/ 313233 w 473095"/>
                  <a:gd name="connsiteY9" fmla="*/ 195535 h 607498"/>
                  <a:gd name="connsiteX10" fmla="*/ 257451 w 473095"/>
                  <a:gd name="connsiteY10" fmla="*/ 195535 h 607498"/>
                  <a:gd name="connsiteX11" fmla="*/ 247689 w 473095"/>
                  <a:gd name="connsiteY11" fmla="*/ 209862 h 607498"/>
                  <a:gd name="connsiteX12" fmla="*/ 257451 w 473095"/>
                  <a:gd name="connsiteY12" fmla="*/ 224188 h 607498"/>
                  <a:gd name="connsiteX13" fmla="*/ 267084 w 473095"/>
                  <a:gd name="connsiteY13" fmla="*/ 209862 h 607498"/>
                  <a:gd name="connsiteX14" fmla="*/ 257451 w 473095"/>
                  <a:gd name="connsiteY14" fmla="*/ 195535 h 607498"/>
                  <a:gd name="connsiteX15" fmla="*/ 201533 w 473095"/>
                  <a:gd name="connsiteY15" fmla="*/ 195535 h 607498"/>
                  <a:gd name="connsiteX16" fmla="*/ 191877 w 473095"/>
                  <a:gd name="connsiteY16" fmla="*/ 209862 h 607498"/>
                  <a:gd name="connsiteX17" fmla="*/ 201533 w 473095"/>
                  <a:gd name="connsiteY17" fmla="*/ 224188 h 607498"/>
                  <a:gd name="connsiteX18" fmla="*/ 211320 w 473095"/>
                  <a:gd name="connsiteY18" fmla="*/ 209862 h 607498"/>
                  <a:gd name="connsiteX19" fmla="*/ 201533 w 473095"/>
                  <a:gd name="connsiteY19" fmla="*/ 195535 h 607498"/>
                  <a:gd name="connsiteX20" fmla="*/ 145710 w 473095"/>
                  <a:gd name="connsiteY20" fmla="*/ 195535 h 607498"/>
                  <a:gd name="connsiteX21" fmla="*/ 135927 w 473095"/>
                  <a:gd name="connsiteY21" fmla="*/ 209862 h 607498"/>
                  <a:gd name="connsiteX22" fmla="*/ 145710 w 473095"/>
                  <a:gd name="connsiteY22" fmla="*/ 224188 h 607498"/>
                  <a:gd name="connsiteX23" fmla="*/ 155363 w 473095"/>
                  <a:gd name="connsiteY23" fmla="*/ 209862 h 607498"/>
                  <a:gd name="connsiteX24" fmla="*/ 145710 w 473095"/>
                  <a:gd name="connsiteY24" fmla="*/ 195535 h 607498"/>
                  <a:gd name="connsiteX25" fmla="*/ 331233 w 473095"/>
                  <a:gd name="connsiteY25" fmla="*/ 190597 h 607498"/>
                  <a:gd name="connsiteX26" fmla="*/ 345205 w 473095"/>
                  <a:gd name="connsiteY26" fmla="*/ 190597 h 607498"/>
                  <a:gd name="connsiteX27" fmla="*/ 345205 w 473095"/>
                  <a:gd name="connsiteY27" fmla="*/ 229126 h 607498"/>
                  <a:gd name="connsiteX28" fmla="*/ 338676 w 473095"/>
                  <a:gd name="connsiteY28" fmla="*/ 229126 h 607498"/>
                  <a:gd name="connsiteX29" fmla="*/ 338676 w 473095"/>
                  <a:gd name="connsiteY29" fmla="*/ 196455 h 607498"/>
                  <a:gd name="connsiteX30" fmla="*/ 331233 w 473095"/>
                  <a:gd name="connsiteY30" fmla="*/ 196455 h 607498"/>
                  <a:gd name="connsiteX31" fmla="*/ 275345 w 473095"/>
                  <a:gd name="connsiteY31" fmla="*/ 190597 h 607498"/>
                  <a:gd name="connsiteX32" fmla="*/ 289388 w 473095"/>
                  <a:gd name="connsiteY32" fmla="*/ 190597 h 607498"/>
                  <a:gd name="connsiteX33" fmla="*/ 289388 w 473095"/>
                  <a:gd name="connsiteY33" fmla="*/ 229126 h 607498"/>
                  <a:gd name="connsiteX34" fmla="*/ 282887 w 473095"/>
                  <a:gd name="connsiteY34" fmla="*/ 229126 h 607498"/>
                  <a:gd name="connsiteX35" fmla="*/ 282887 w 473095"/>
                  <a:gd name="connsiteY35" fmla="*/ 196455 h 607498"/>
                  <a:gd name="connsiteX36" fmla="*/ 275345 w 473095"/>
                  <a:gd name="connsiteY36" fmla="*/ 196455 h 607498"/>
                  <a:gd name="connsiteX37" fmla="*/ 219527 w 473095"/>
                  <a:gd name="connsiteY37" fmla="*/ 190597 h 607498"/>
                  <a:gd name="connsiteX38" fmla="*/ 233570 w 473095"/>
                  <a:gd name="connsiteY38" fmla="*/ 190597 h 607498"/>
                  <a:gd name="connsiteX39" fmla="*/ 233570 w 473095"/>
                  <a:gd name="connsiteY39" fmla="*/ 229126 h 607498"/>
                  <a:gd name="connsiteX40" fmla="*/ 227069 w 473095"/>
                  <a:gd name="connsiteY40" fmla="*/ 229126 h 607498"/>
                  <a:gd name="connsiteX41" fmla="*/ 227069 w 473095"/>
                  <a:gd name="connsiteY41" fmla="*/ 196455 h 607498"/>
                  <a:gd name="connsiteX42" fmla="*/ 219527 w 473095"/>
                  <a:gd name="connsiteY42" fmla="*/ 196455 h 607498"/>
                  <a:gd name="connsiteX43" fmla="*/ 163710 w 473095"/>
                  <a:gd name="connsiteY43" fmla="*/ 190597 h 607498"/>
                  <a:gd name="connsiteX44" fmla="*/ 177682 w 473095"/>
                  <a:gd name="connsiteY44" fmla="*/ 190597 h 607498"/>
                  <a:gd name="connsiteX45" fmla="*/ 177682 w 473095"/>
                  <a:gd name="connsiteY45" fmla="*/ 229126 h 607498"/>
                  <a:gd name="connsiteX46" fmla="*/ 171283 w 473095"/>
                  <a:gd name="connsiteY46" fmla="*/ 229126 h 607498"/>
                  <a:gd name="connsiteX47" fmla="*/ 171283 w 473095"/>
                  <a:gd name="connsiteY47" fmla="*/ 196455 h 607498"/>
                  <a:gd name="connsiteX48" fmla="*/ 163710 w 473095"/>
                  <a:gd name="connsiteY48" fmla="*/ 196455 h 607498"/>
                  <a:gd name="connsiteX49" fmla="*/ 369056 w 473095"/>
                  <a:gd name="connsiteY49" fmla="*/ 190456 h 607498"/>
                  <a:gd name="connsiteX50" fmla="*/ 385497 w 473095"/>
                  <a:gd name="connsiteY50" fmla="*/ 209862 h 607498"/>
                  <a:gd name="connsiteX51" fmla="*/ 369056 w 473095"/>
                  <a:gd name="connsiteY51" fmla="*/ 229267 h 607498"/>
                  <a:gd name="connsiteX52" fmla="*/ 352614 w 473095"/>
                  <a:gd name="connsiteY52" fmla="*/ 209862 h 607498"/>
                  <a:gd name="connsiteX53" fmla="*/ 369056 w 473095"/>
                  <a:gd name="connsiteY53" fmla="*/ 190456 h 607498"/>
                  <a:gd name="connsiteX54" fmla="*/ 313233 w 473095"/>
                  <a:gd name="connsiteY54" fmla="*/ 190456 h 607498"/>
                  <a:gd name="connsiteX55" fmla="*/ 329539 w 473095"/>
                  <a:gd name="connsiteY55" fmla="*/ 209862 h 607498"/>
                  <a:gd name="connsiteX56" fmla="*/ 313233 w 473095"/>
                  <a:gd name="connsiteY56" fmla="*/ 229267 h 607498"/>
                  <a:gd name="connsiteX57" fmla="*/ 296797 w 473095"/>
                  <a:gd name="connsiteY57" fmla="*/ 209862 h 607498"/>
                  <a:gd name="connsiteX58" fmla="*/ 313233 w 473095"/>
                  <a:gd name="connsiteY58" fmla="*/ 190456 h 607498"/>
                  <a:gd name="connsiteX59" fmla="*/ 257451 w 473095"/>
                  <a:gd name="connsiteY59" fmla="*/ 190456 h 607498"/>
                  <a:gd name="connsiteX60" fmla="*/ 273722 w 473095"/>
                  <a:gd name="connsiteY60" fmla="*/ 209862 h 607498"/>
                  <a:gd name="connsiteX61" fmla="*/ 257451 w 473095"/>
                  <a:gd name="connsiteY61" fmla="*/ 229267 h 607498"/>
                  <a:gd name="connsiteX62" fmla="*/ 241050 w 473095"/>
                  <a:gd name="connsiteY62" fmla="*/ 209862 h 607498"/>
                  <a:gd name="connsiteX63" fmla="*/ 257451 w 473095"/>
                  <a:gd name="connsiteY63" fmla="*/ 190456 h 607498"/>
                  <a:gd name="connsiteX64" fmla="*/ 201533 w 473095"/>
                  <a:gd name="connsiteY64" fmla="*/ 190456 h 607498"/>
                  <a:gd name="connsiteX65" fmla="*/ 217975 w 473095"/>
                  <a:gd name="connsiteY65" fmla="*/ 209862 h 607498"/>
                  <a:gd name="connsiteX66" fmla="*/ 201533 w 473095"/>
                  <a:gd name="connsiteY66" fmla="*/ 229267 h 607498"/>
                  <a:gd name="connsiteX67" fmla="*/ 185092 w 473095"/>
                  <a:gd name="connsiteY67" fmla="*/ 209862 h 607498"/>
                  <a:gd name="connsiteX68" fmla="*/ 201533 w 473095"/>
                  <a:gd name="connsiteY68" fmla="*/ 190456 h 607498"/>
                  <a:gd name="connsiteX69" fmla="*/ 145710 w 473095"/>
                  <a:gd name="connsiteY69" fmla="*/ 190456 h 607498"/>
                  <a:gd name="connsiteX70" fmla="*/ 162016 w 473095"/>
                  <a:gd name="connsiteY70" fmla="*/ 209862 h 607498"/>
                  <a:gd name="connsiteX71" fmla="*/ 145710 w 473095"/>
                  <a:gd name="connsiteY71" fmla="*/ 229267 h 607498"/>
                  <a:gd name="connsiteX72" fmla="*/ 135857 w 473095"/>
                  <a:gd name="connsiteY72" fmla="*/ 225211 h 607498"/>
                  <a:gd name="connsiteX73" fmla="*/ 132913 w 473095"/>
                  <a:gd name="connsiteY73" fmla="*/ 222169 h 607498"/>
                  <a:gd name="connsiteX74" fmla="*/ 129274 w 473095"/>
                  <a:gd name="connsiteY74" fmla="*/ 209862 h 607498"/>
                  <a:gd name="connsiteX75" fmla="*/ 145710 w 473095"/>
                  <a:gd name="connsiteY75" fmla="*/ 190456 h 607498"/>
                  <a:gd name="connsiteX76" fmla="*/ 135026 w 473095"/>
                  <a:gd name="connsiteY76" fmla="*/ 143967 h 607498"/>
                  <a:gd name="connsiteX77" fmla="*/ 120032 w 473095"/>
                  <a:gd name="connsiteY77" fmla="*/ 163101 h 607498"/>
                  <a:gd name="connsiteX78" fmla="*/ 126160 w 473095"/>
                  <a:gd name="connsiteY78" fmla="*/ 165314 h 607498"/>
                  <a:gd name="connsiteX79" fmla="*/ 135808 w 473095"/>
                  <a:gd name="connsiteY79" fmla="*/ 150996 h 607498"/>
                  <a:gd name="connsiteX80" fmla="*/ 135026 w 473095"/>
                  <a:gd name="connsiteY80" fmla="*/ 143967 h 607498"/>
                  <a:gd name="connsiteX81" fmla="*/ 293686 w 473095"/>
                  <a:gd name="connsiteY81" fmla="*/ 136684 h 607498"/>
                  <a:gd name="connsiteX82" fmla="*/ 283903 w 473095"/>
                  <a:gd name="connsiteY82" fmla="*/ 151010 h 607498"/>
                  <a:gd name="connsiteX83" fmla="*/ 293686 w 473095"/>
                  <a:gd name="connsiteY83" fmla="*/ 165337 h 607498"/>
                  <a:gd name="connsiteX84" fmla="*/ 303339 w 473095"/>
                  <a:gd name="connsiteY84" fmla="*/ 151010 h 607498"/>
                  <a:gd name="connsiteX85" fmla="*/ 293686 w 473095"/>
                  <a:gd name="connsiteY85" fmla="*/ 136684 h 607498"/>
                  <a:gd name="connsiteX86" fmla="*/ 218322 w 473095"/>
                  <a:gd name="connsiteY86" fmla="*/ 136684 h 607498"/>
                  <a:gd name="connsiteX87" fmla="*/ 208539 w 473095"/>
                  <a:gd name="connsiteY87" fmla="*/ 151010 h 607498"/>
                  <a:gd name="connsiteX88" fmla="*/ 218322 w 473095"/>
                  <a:gd name="connsiteY88" fmla="*/ 165337 h 607498"/>
                  <a:gd name="connsiteX89" fmla="*/ 227975 w 473095"/>
                  <a:gd name="connsiteY89" fmla="*/ 151010 h 607498"/>
                  <a:gd name="connsiteX90" fmla="*/ 218322 w 473095"/>
                  <a:gd name="connsiteY90" fmla="*/ 136684 h 607498"/>
                  <a:gd name="connsiteX91" fmla="*/ 349503 w 473095"/>
                  <a:gd name="connsiteY91" fmla="*/ 136677 h 607498"/>
                  <a:gd name="connsiteX92" fmla="*/ 339855 w 473095"/>
                  <a:gd name="connsiteY92" fmla="*/ 150996 h 607498"/>
                  <a:gd name="connsiteX93" fmla="*/ 349503 w 473095"/>
                  <a:gd name="connsiteY93" fmla="*/ 165314 h 607498"/>
                  <a:gd name="connsiteX94" fmla="*/ 359282 w 473095"/>
                  <a:gd name="connsiteY94" fmla="*/ 150996 h 607498"/>
                  <a:gd name="connsiteX95" fmla="*/ 349503 w 473095"/>
                  <a:gd name="connsiteY95" fmla="*/ 136677 h 607498"/>
                  <a:gd name="connsiteX96" fmla="*/ 162406 w 473095"/>
                  <a:gd name="connsiteY96" fmla="*/ 136677 h 607498"/>
                  <a:gd name="connsiteX97" fmla="*/ 152758 w 473095"/>
                  <a:gd name="connsiteY97" fmla="*/ 150996 h 607498"/>
                  <a:gd name="connsiteX98" fmla="*/ 162406 w 473095"/>
                  <a:gd name="connsiteY98" fmla="*/ 165314 h 607498"/>
                  <a:gd name="connsiteX99" fmla="*/ 172185 w 473095"/>
                  <a:gd name="connsiteY99" fmla="*/ 150996 h 607498"/>
                  <a:gd name="connsiteX100" fmla="*/ 162406 w 473095"/>
                  <a:gd name="connsiteY100" fmla="*/ 136677 h 607498"/>
                  <a:gd name="connsiteX101" fmla="*/ 311686 w 473095"/>
                  <a:gd name="connsiteY101" fmla="*/ 131746 h 607498"/>
                  <a:gd name="connsiteX102" fmla="*/ 325658 w 473095"/>
                  <a:gd name="connsiteY102" fmla="*/ 131746 h 607498"/>
                  <a:gd name="connsiteX103" fmla="*/ 325658 w 473095"/>
                  <a:gd name="connsiteY103" fmla="*/ 170275 h 607498"/>
                  <a:gd name="connsiteX104" fmla="*/ 319260 w 473095"/>
                  <a:gd name="connsiteY104" fmla="*/ 170275 h 607498"/>
                  <a:gd name="connsiteX105" fmla="*/ 319260 w 473095"/>
                  <a:gd name="connsiteY105" fmla="*/ 137473 h 607498"/>
                  <a:gd name="connsiteX106" fmla="*/ 311686 w 473095"/>
                  <a:gd name="connsiteY106" fmla="*/ 137473 h 607498"/>
                  <a:gd name="connsiteX107" fmla="*/ 255728 w 473095"/>
                  <a:gd name="connsiteY107" fmla="*/ 131746 h 607498"/>
                  <a:gd name="connsiteX108" fmla="*/ 269841 w 473095"/>
                  <a:gd name="connsiteY108" fmla="*/ 131746 h 607498"/>
                  <a:gd name="connsiteX109" fmla="*/ 269841 w 473095"/>
                  <a:gd name="connsiteY109" fmla="*/ 170275 h 607498"/>
                  <a:gd name="connsiteX110" fmla="*/ 263307 w 473095"/>
                  <a:gd name="connsiteY110" fmla="*/ 170275 h 607498"/>
                  <a:gd name="connsiteX111" fmla="*/ 263307 w 473095"/>
                  <a:gd name="connsiteY111" fmla="*/ 137473 h 607498"/>
                  <a:gd name="connsiteX112" fmla="*/ 255728 w 473095"/>
                  <a:gd name="connsiteY112" fmla="*/ 137473 h 607498"/>
                  <a:gd name="connsiteX113" fmla="*/ 236181 w 473095"/>
                  <a:gd name="connsiteY113" fmla="*/ 131746 h 607498"/>
                  <a:gd name="connsiteX114" fmla="*/ 250294 w 473095"/>
                  <a:gd name="connsiteY114" fmla="*/ 131746 h 607498"/>
                  <a:gd name="connsiteX115" fmla="*/ 250294 w 473095"/>
                  <a:gd name="connsiteY115" fmla="*/ 170275 h 607498"/>
                  <a:gd name="connsiteX116" fmla="*/ 243760 w 473095"/>
                  <a:gd name="connsiteY116" fmla="*/ 170275 h 607498"/>
                  <a:gd name="connsiteX117" fmla="*/ 243760 w 473095"/>
                  <a:gd name="connsiteY117" fmla="*/ 137473 h 607498"/>
                  <a:gd name="connsiteX118" fmla="*/ 236181 w 473095"/>
                  <a:gd name="connsiteY118" fmla="*/ 137473 h 607498"/>
                  <a:gd name="connsiteX119" fmla="*/ 180434 w 473095"/>
                  <a:gd name="connsiteY119" fmla="*/ 131746 h 607498"/>
                  <a:gd name="connsiteX120" fmla="*/ 194477 w 473095"/>
                  <a:gd name="connsiteY120" fmla="*/ 131746 h 607498"/>
                  <a:gd name="connsiteX121" fmla="*/ 194477 w 473095"/>
                  <a:gd name="connsiteY121" fmla="*/ 170275 h 607498"/>
                  <a:gd name="connsiteX122" fmla="*/ 187975 w 473095"/>
                  <a:gd name="connsiteY122" fmla="*/ 170275 h 607498"/>
                  <a:gd name="connsiteX123" fmla="*/ 187975 w 473095"/>
                  <a:gd name="connsiteY123" fmla="*/ 137473 h 607498"/>
                  <a:gd name="connsiteX124" fmla="*/ 180434 w 473095"/>
                  <a:gd name="connsiteY124" fmla="*/ 137473 h 607498"/>
                  <a:gd name="connsiteX125" fmla="*/ 293686 w 473095"/>
                  <a:gd name="connsiteY125" fmla="*/ 131605 h 607498"/>
                  <a:gd name="connsiteX126" fmla="*/ 309992 w 473095"/>
                  <a:gd name="connsiteY126" fmla="*/ 151010 h 607498"/>
                  <a:gd name="connsiteX127" fmla="*/ 293686 w 473095"/>
                  <a:gd name="connsiteY127" fmla="*/ 170416 h 607498"/>
                  <a:gd name="connsiteX128" fmla="*/ 277250 w 473095"/>
                  <a:gd name="connsiteY128" fmla="*/ 151010 h 607498"/>
                  <a:gd name="connsiteX129" fmla="*/ 293686 w 473095"/>
                  <a:gd name="connsiteY129" fmla="*/ 131605 h 607498"/>
                  <a:gd name="connsiteX130" fmla="*/ 218322 w 473095"/>
                  <a:gd name="connsiteY130" fmla="*/ 131605 h 607498"/>
                  <a:gd name="connsiteX131" fmla="*/ 234628 w 473095"/>
                  <a:gd name="connsiteY131" fmla="*/ 151010 h 607498"/>
                  <a:gd name="connsiteX132" fmla="*/ 218322 w 473095"/>
                  <a:gd name="connsiteY132" fmla="*/ 170416 h 607498"/>
                  <a:gd name="connsiteX133" fmla="*/ 201886 w 473095"/>
                  <a:gd name="connsiteY133" fmla="*/ 151010 h 607498"/>
                  <a:gd name="connsiteX134" fmla="*/ 218322 w 473095"/>
                  <a:gd name="connsiteY134" fmla="*/ 131605 h 607498"/>
                  <a:gd name="connsiteX135" fmla="*/ 284182 w 473095"/>
                  <a:gd name="connsiteY135" fmla="*/ 88124 h 607498"/>
                  <a:gd name="connsiteX136" fmla="*/ 283922 w 473095"/>
                  <a:gd name="connsiteY136" fmla="*/ 92159 h 607498"/>
                  <a:gd name="connsiteX137" fmla="*/ 293700 w 473095"/>
                  <a:gd name="connsiteY137" fmla="*/ 106348 h 607498"/>
                  <a:gd name="connsiteX138" fmla="*/ 303088 w 473095"/>
                  <a:gd name="connsiteY138" fmla="*/ 96715 h 607498"/>
                  <a:gd name="connsiteX139" fmla="*/ 295265 w 473095"/>
                  <a:gd name="connsiteY139" fmla="*/ 96064 h 607498"/>
                  <a:gd name="connsiteX140" fmla="*/ 289919 w 473095"/>
                  <a:gd name="connsiteY140" fmla="*/ 96455 h 607498"/>
                  <a:gd name="connsiteX141" fmla="*/ 284182 w 473095"/>
                  <a:gd name="connsiteY141" fmla="*/ 88124 h 607498"/>
                  <a:gd name="connsiteX142" fmla="*/ 257451 w 473095"/>
                  <a:gd name="connsiteY142" fmla="*/ 77823 h 607498"/>
                  <a:gd name="connsiteX143" fmla="*/ 247689 w 473095"/>
                  <a:gd name="connsiteY143" fmla="*/ 92153 h 607498"/>
                  <a:gd name="connsiteX144" fmla="*/ 257451 w 473095"/>
                  <a:gd name="connsiteY144" fmla="*/ 106353 h 607498"/>
                  <a:gd name="connsiteX145" fmla="*/ 267084 w 473095"/>
                  <a:gd name="connsiteY145" fmla="*/ 92153 h 607498"/>
                  <a:gd name="connsiteX146" fmla="*/ 257451 w 473095"/>
                  <a:gd name="connsiteY146" fmla="*/ 77823 h 607498"/>
                  <a:gd name="connsiteX147" fmla="*/ 201533 w 473095"/>
                  <a:gd name="connsiteY147" fmla="*/ 77823 h 607498"/>
                  <a:gd name="connsiteX148" fmla="*/ 191877 w 473095"/>
                  <a:gd name="connsiteY148" fmla="*/ 92153 h 607498"/>
                  <a:gd name="connsiteX149" fmla="*/ 201533 w 473095"/>
                  <a:gd name="connsiteY149" fmla="*/ 106353 h 607498"/>
                  <a:gd name="connsiteX150" fmla="*/ 211320 w 473095"/>
                  <a:gd name="connsiteY150" fmla="*/ 92153 h 607498"/>
                  <a:gd name="connsiteX151" fmla="*/ 201533 w 473095"/>
                  <a:gd name="connsiteY151" fmla="*/ 77823 h 607498"/>
                  <a:gd name="connsiteX152" fmla="*/ 219527 w 473095"/>
                  <a:gd name="connsiteY152" fmla="*/ 72894 h 607498"/>
                  <a:gd name="connsiteX153" fmla="*/ 233570 w 473095"/>
                  <a:gd name="connsiteY153" fmla="*/ 72894 h 607498"/>
                  <a:gd name="connsiteX154" fmla="*/ 233570 w 473095"/>
                  <a:gd name="connsiteY154" fmla="*/ 111282 h 607498"/>
                  <a:gd name="connsiteX155" fmla="*/ 227069 w 473095"/>
                  <a:gd name="connsiteY155" fmla="*/ 111282 h 607498"/>
                  <a:gd name="connsiteX156" fmla="*/ 227069 w 473095"/>
                  <a:gd name="connsiteY156" fmla="*/ 78620 h 607498"/>
                  <a:gd name="connsiteX157" fmla="*/ 219527 w 473095"/>
                  <a:gd name="connsiteY157" fmla="*/ 78620 h 607498"/>
                  <a:gd name="connsiteX158" fmla="*/ 257451 w 473095"/>
                  <a:gd name="connsiteY158" fmla="*/ 72612 h 607498"/>
                  <a:gd name="connsiteX159" fmla="*/ 273722 w 473095"/>
                  <a:gd name="connsiteY159" fmla="*/ 92153 h 607498"/>
                  <a:gd name="connsiteX160" fmla="*/ 257451 w 473095"/>
                  <a:gd name="connsiteY160" fmla="*/ 111564 h 607498"/>
                  <a:gd name="connsiteX161" fmla="*/ 241050 w 473095"/>
                  <a:gd name="connsiteY161" fmla="*/ 92153 h 607498"/>
                  <a:gd name="connsiteX162" fmla="*/ 257451 w 473095"/>
                  <a:gd name="connsiteY162" fmla="*/ 72612 h 607498"/>
                  <a:gd name="connsiteX163" fmla="*/ 201533 w 473095"/>
                  <a:gd name="connsiteY163" fmla="*/ 72612 h 607498"/>
                  <a:gd name="connsiteX164" fmla="*/ 217975 w 473095"/>
                  <a:gd name="connsiteY164" fmla="*/ 92153 h 607498"/>
                  <a:gd name="connsiteX165" fmla="*/ 201533 w 473095"/>
                  <a:gd name="connsiteY165" fmla="*/ 111564 h 607498"/>
                  <a:gd name="connsiteX166" fmla="*/ 185092 w 473095"/>
                  <a:gd name="connsiteY166" fmla="*/ 92153 h 607498"/>
                  <a:gd name="connsiteX167" fmla="*/ 201533 w 473095"/>
                  <a:gd name="connsiteY167" fmla="*/ 72612 h 607498"/>
                  <a:gd name="connsiteX168" fmla="*/ 228379 w 473095"/>
                  <a:gd name="connsiteY168" fmla="*/ 61179 h 607498"/>
                  <a:gd name="connsiteX169" fmla="*/ 177661 w 473095"/>
                  <a:gd name="connsiteY169" fmla="*/ 82267 h 607498"/>
                  <a:gd name="connsiteX170" fmla="*/ 177661 w 473095"/>
                  <a:gd name="connsiteY170" fmla="*/ 111294 h 607498"/>
                  <a:gd name="connsiteX171" fmla="*/ 171272 w 473095"/>
                  <a:gd name="connsiteY171" fmla="*/ 111294 h 607498"/>
                  <a:gd name="connsiteX172" fmla="*/ 171272 w 473095"/>
                  <a:gd name="connsiteY172" fmla="*/ 89816 h 607498"/>
                  <a:gd name="connsiteX173" fmla="*/ 157061 w 473095"/>
                  <a:gd name="connsiteY173" fmla="*/ 132251 h 607498"/>
                  <a:gd name="connsiteX174" fmla="*/ 162406 w 473095"/>
                  <a:gd name="connsiteY174" fmla="*/ 131601 h 607498"/>
                  <a:gd name="connsiteX175" fmla="*/ 178834 w 473095"/>
                  <a:gd name="connsiteY175" fmla="*/ 150996 h 607498"/>
                  <a:gd name="connsiteX176" fmla="*/ 162406 w 473095"/>
                  <a:gd name="connsiteY176" fmla="*/ 170391 h 607498"/>
                  <a:gd name="connsiteX177" fmla="*/ 146109 w 473095"/>
                  <a:gd name="connsiteY177" fmla="*/ 150996 h 607498"/>
                  <a:gd name="connsiteX178" fmla="*/ 151976 w 473095"/>
                  <a:gd name="connsiteY178" fmla="*/ 134985 h 607498"/>
                  <a:gd name="connsiteX179" fmla="*/ 140502 w 473095"/>
                  <a:gd name="connsiteY179" fmla="*/ 140192 h 607498"/>
                  <a:gd name="connsiteX180" fmla="*/ 142588 w 473095"/>
                  <a:gd name="connsiteY180" fmla="*/ 150996 h 607498"/>
                  <a:gd name="connsiteX181" fmla="*/ 126160 w 473095"/>
                  <a:gd name="connsiteY181" fmla="*/ 170391 h 607498"/>
                  <a:gd name="connsiteX182" fmla="*/ 117946 w 473095"/>
                  <a:gd name="connsiteY182" fmla="*/ 168569 h 607498"/>
                  <a:gd name="connsiteX183" fmla="*/ 115208 w 473095"/>
                  <a:gd name="connsiteY183" fmla="*/ 185100 h 607498"/>
                  <a:gd name="connsiteX184" fmla="*/ 115469 w 473095"/>
                  <a:gd name="connsiteY184" fmla="*/ 190567 h 607498"/>
                  <a:gd name="connsiteX185" fmla="*/ 121858 w 473095"/>
                  <a:gd name="connsiteY185" fmla="*/ 190567 h 607498"/>
                  <a:gd name="connsiteX186" fmla="*/ 121858 w 473095"/>
                  <a:gd name="connsiteY186" fmla="*/ 210743 h 607498"/>
                  <a:gd name="connsiteX187" fmla="*/ 132913 w 473095"/>
                  <a:gd name="connsiteY187" fmla="*/ 222169 h 607498"/>
                  <a:gd name="connsiteX188" fmla="*/ 133530 w 473095"/>
                  <a:gd name="connsiteY188" fmla="*/ 224253 h 607498"/>
                  <a:gd name="connsiteX189" fmla="*/ 135857 w 473095"/>
                  <a:gd name="connsiteY189" fmla="*/ 225211 h 607498"/>
                  <a:gd name="connsiteX190" fmla="*/ 140877 w 473095"/>
                  <a:gd name="connsiteY190" fmla="*/ 230399 h 607498"/>
                  <a:gd name="connsiteX191" fmla="*/ 168013 w 473095"/>
                  <a:gd name="connsiteY191" fmla="*/ 237949 h 607498"/>
                  <a:gd name="connsiteX192" fmla="*/ 354327 w 473095"/>
                  <a:gd name="connsiteY192" fmla="*/ 237949 h 607498"/>
                  <a:gd name="connsiteX193" fmla="*/ 394615 w 473095"/>
                  <a:gd name="connsiteY193" fmla="*/ 219335 h 607498"/>
                  <a:gd name="connsiteX194" fmla="*/ 394615 w 473095"/>
                  <a:gd name="connsiteY194" fmla="*/ 196425 h 607498"/>
                  <a:gd name="connsiteX195" fmla="*/ 387053 w 473095"/>
                  <a:gd name="connsiteY195" fmla="*/ 196425 h 607498"/>
                  <a:gd name="connsiteX196" fmla="*/ 387053 w 473095"/>
                  <a:gd name="connsiteY196" fmla="*/ 190567 h 607498"/>
                  <a:gd name="connsiteX197" fmla="*/ 401134 w 473095"/>
                  <a:gd name="connsiteY197" fmla="*/ 190567 h 607498"/>
                  <a:gd name="connsiteX198" fmla="*/ 401134 w 473095"/>
                  <a:gd name="connsiteY198" fmla="*/ 209702 h 607498"/>
                  <a:gd name="connsiteX199" fmla="*/ 407132 w 473095"/>
                  <a:gd name="connsiteY199" fmla="*/ 185230 h 607498"/>
                  <a:gd name="connsiteX200" fmla="*/ 405046 w 473095"/>
                  <a:gd name="connsiteY200" fmla="*/ 170391 h 607498"/>
                  <a:gd name="connsiteX201" fmla="*/ 389009 w 473095"/>
                  <a:gd name="connsiteY201" fmla="*/ 150996 h 607498"/>
                  <a:gd name="connsiteX202" fmla="*/ 389400 w 473095"/>
                  <a:gd name="connsiteY202" fmla="*/ 145789 h 607498"/>
                  <a:gd name="connsiteX203" fmla="*/ 381577 w 473095"/>
                  <a:gd name="connsiteY203" fmla="*/ 139931 h 607498"/>
                  <a:gd name="connsiteX204" fmla="*/ 381577 w 473095"/>
                  <a:gd name="connsiteY204" fmla="*/ 170261 h 607498"/>
                  <a:gd name="connsiteX205" fmla="*/ 375058 w 473095"/>
                  <a:gd name="connsiteY205" fmla="*/ 170261 h 607498"/>
                  <a:gd name="connsiteX206" fmla="*/ 375058 w 473095"/>
                  <a:gd name="connsiteY206" fmla="*/ 137458 h 607498"/>
                  <a:gd name="connsiteX207" fmla="*/ 367496 w 473095"/>
                  <a:gd name="connsiteY207" fmla="*/ 137458 h 607498"/>
                  <a:gd name="connsiteX208" fmla="*/ 367496 w 473095"/>
                  <a:gd name="connsiteY208" fmla="*/ 134074 h 607498"/>
                  <a:gd name="connsiteX209" fmla="*/ 355501 w 473095"/>
                  <a:gd name="connsiteY209" fmla="*/ 132512 h 607498"/>
                  <a:gd name="connsiteX210" fmla="*/ 365931 w 473095"/>
                  <a:gd name="connsiteY210" fmla="*/ 150996 h 607498"/>
                  <a:gd name="connsiteX211" fmla="*/ 349503 w 473095"/>
                  <a:gd name="connsiteY211" fmla="*/ 170391 h 607498"/>
                  <a:gd name="connsiteX212" fmla="*/ 333075 w 473095"/>
                  <a:gd name="connsiteY212" fmla="*/ 150996 h 607498"/>
                  <a:gd name="connsiteX213" fmla="*/ 345331 w 473095"/>
                  <a:gd name="connsiteY213" fmla="*/ 131991 h 607498"/>
                  <a:gd name="connsiteX214" fmla="*/ 325644 w 473095"/>
                  <a:gd name="connsiteY214" fmla="*/ 105697 h 607498"/>
                  <a:gd name="connsiteX215" fmla="*/ 325644 w 473095"/>
                  <a:gd name="connsiteY215" fmla="*/ 111294 h 607498"/>
                  <a:gd name="connsiteX216" fmla="*/ 319255 w 473095"/>
                  <a:gd name="connsiteY216" fmla="*/ 111294 h 607498"/>
                  <a:gd name="connsiteX217" fmla="*/ 319255 w 473095"/>
                  <a:gd name="connsiteY217" fmla="*/ 101792 h 607498"/>
                  <a:gd name="connsiteX218" fmla="*/ 309476 w 473095"/>
                  <a:gd name="connsiteY218" fmla="*/ 98017 h 607498"/>
                  <a:gd name="connsiteX219" fmla="*/ 293700 w 473095"/>
                  <a:gd name="connsiteY219" fmla="*/ 111555 h 607498"/>
                  <a:gd name="connsiteX220" fmla="*/ 277272 w 473095"/>
                  <a:gd name="connsiteY220" fmla="*/ 92159 h 607498"/>
                  <a:gd name="connsiteX221" fmla="*/ 278967 w 473095"/>
                  <a:gd name="connsiteY221" fmla="*/ 82267 h 607498"/>
                  <a:gd name="connsiteX222" fmla="*/ 228379 w 473095"/>
                  <a:gd name="connsiteY222" fmla="*/ 61179 h 607498"/>
                  <a:gd name="connsiteX223" fmla="*/ 242069 w 473095"/>
                  <a:gd name="connsiteY223" fmla="*/ 0 h 607498"/>
                  <a:gd name="connsiteX224" fmla="*/ 429296 w 473095"/>
                  <a:gd name="connsiteY224" fmla="*/ 90077 h 607498"/>
                  <a:gd name="connsiteX225" fmla="*/ 458111 w 473095"/>
                  <a:gd name="connsiteY225" fmla="*/ 290146 h 607498"/>
                  <a:gd name="connsiteX226" fmla="*/ 430470 w 473095"/>
                  <a:gd name="connsiteY226" fmla="*/ 335055 h 607498"/>
                  <a:gd name="connsiteX227" fmla="*/ 391747 w 473095"/>
                  <a:gd name="connsiteY227" fmla="*/ 452988 h 607498"/>
                  <a:gd name="connsiteX228" fmla="*/ 389530 w 473095"/>
                  <a:gd name="connsiteY228" fmla="*/ 461579 h 607498"/>
                  <a:gd name="connsiteX229" fmla="*/ 238940 w 473095"/>
                  <a:gd name="connsiteY229" fmla="*/ 605155 h 607498"/>
                  <a:gd name="connsiteX230" fmla="*/ 233073 w 473095"/>
                  <a:gd name="connsiteY230" fmla="*/ 607498 h 607498"/>
                  <a:gd name="connsiteX231" fmla="*/ 230726 w 473095"/>
                  <a:gd name="connsiteY231" fmla="*/ 607108 h 607498"/>
                  <a:gd name="connsiteX232" fmla="*/ 224859 w 473095"/>
                  <a:gd name="connsiteY232" fmla="*/ 601120 h 607498"/>
                  <a:gd name="connsiteX233" fmla="*/ 160581 w 473095"/>
                  <a:gd name="connsiteY233" fmla="*/ 498286 h 607498"/>
                  <a:gd name="connsiteX234" fmla="*/ 150802 w 473095"/>
                  <a:gd name="connsiteY234" fmla="*/ 497375 h 607498"/>
                  <a:gd name="connsiteX235" fmla="*/ 124856 w 473095"/>
                  <a:gd name="connsiteY235" fmla="*/ 499458 h 607498"/>
                  <a:gd name="connsiteX236" fmla="*/ 91088 w 473095"/>
                  <a:gd name="connsiteY236" fmla="*/ 502192 h 607498"/>
                  <a:gd name="connsiteX237" fmla="*/ 50800 w 473095"/>
                  <a:gd name="connsiteY237" fmla="*/ 479021 h 607498"/>
                  <a:gd name="connsiteX238" fmla="*/ 47019 w 473095"/>
                  <a:gd name="connsiteY238" fmla="*/ 451686 h 607498"/>
                  <a:gd name="connsiteX239" fmla="*/ 7905 w 473095"/>
                  <a:gd name="connsiteY239" fmla="*/ 355101 h 607498"/>
                  <a:gd name="connsiteX240" fmla="*/ 18205 w 473095"/>
                  <a:gd name="connsiteY240" fmla="*/ 295093 h 607498"/>
                  <a:gd name="connsiteX241" fmla="*/ 35154 w 473095"/>
                  <a:gd name="connsiteY241" fmla="*/ 252267 h 607498"/>
                  <a:gd name="connsiteX242" fmla="*/ 33590 w 473095"/>
                  <a:gd name="connsiteY242" fmla="*/ 240552 h 607498"/>
                  <a:gd name="connsiteX243" fmla="*/ 70096 w 473095"/>
                  <a:gd name="connsiteY243" fmla="*/ 75628 h 607498"/>
                  <a:gd name="connsiteX244" fmla="*/ 70357 w 473095"/>
                  <a:gd name="connsiteY244" fmla="*/ 75368 h 607498"/>
                  <a:gd name="connsiteX245" fmla="*/ 242069 w 473095"/>
                  <a:gd name="connsiteY245" fmla="*/ 0 h 607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Lst>
                <a:rect l="l" t="t" r="r" b="b"/>
                <a:pathLst>
                  <a:path w="473095" h="607498">
                    <a:moveTo>
                      <a:pt x="369056" y="195535"/>
                    </a:moveTo>
                    <a:cubicBezTo>
                      <a:pt x="362531" y="195535"/>
                      <a:pt x="359269" y="200094"/>
                      <a:pt x="359269" y="209862"/>
                    </a:cubicBezTo>
                    <a:cubicBezTo>
                      <a:pt x="359269" y="219629"/>
                      <a:pt x="362531" y="224188"/>
                      <a:pt x="369056" y="224188"/>
                    </a:cubicBezTo>
                    <a:cubicBezTo>
                      <a:pt x="375580" y="224188"/>
                      <a:pt x="378842" y="219629"/>
                      <a:pt x="378842" y="209862"/>
                    </a:cubicBezTo>
                    <a:cubicBezTo>
                      <a:pt x="378842" y="200094"/>
                      <a:pt x="375580" y="195535"/>
                      <a:pt x="369056" y="195535"/>
                    </a:cubicBezTo>
                    <a:close/>
                    <a:moveTo>
                      <a:pt x="313233" y="195535"/>
                    </a:moveTo>
                    <a:cubicBezTo>
                      <a:pt x="306711" y="195535"/>
                      <a:pt x="303450" y="200094"/>
                      <a:pt x="303450" y="209862"/>
                    </a:cubicBezTo>
                    <a:cubicBezTo>
                      <a:pt x="303450" y="219629"/>
                      <a:pt x="306711" y="224188"/>
                      <a:pt x="313233" y="224188"/>
                    </a:cubicBezTo>
                    <a:cubicBezTo>
                      <a:pt x="319625" y="224188"/>
                      <a:pt x="322886" y="219629"/>
                      <a:pt x="322886" y="209862"/>
                    </a:cubicBezTo>
                    <a:cubicBezTo>
                      <a:pt x="322886" y="200094"/>
                      <a:pt x="319625" y="195535"/>
                      <a:pt x="313233" y="195535"/>
                    </a:cubicBezTo>
                    <a:close/>
                    <a:moveTo>
                      <a:pt x="257451" y="195535"/>
                    </a:moveTo>
                    <a:cubicBezTo>
                      <a:pt x="250943" y="195535"/>
                      <a:pt x="247689" y="200094"/>
                      <a:pt x="247689" y="209862"/>
                    </a:cubicBezTo>
                    <a:cubicBezTo>
                      <a:pt x="247689" y="219629"/>
                      <a:pt x="250943" y="224188"/>
                      <a:pt x="257451" y="224188"/>
                    </a:cubicBezTo>
                    <a:cubicBezTo>
                      <a:pt x="263830" y="224188"/>
                      <a:pt x="267084" y="219629"/>
                      <a:pt x="267084" y="209862"/>
                    </a:cubicBezTo>
                    <a:cubicBezTo>
                      <a:pt x="267084" y="200094"/>
                      <a:pt x="263830" y="195535"/>
                      <a:pt x="257451" y="195535"/>
                    </a:cubicBezTo>
                    <a:close/>
                    <a:moveTo>
                      <a:pt x="201533" y="195535"/>
                    </a:moveTo>
                    <a:cubicBezTo>
                      <a:pt x="195009" y="195535"/>
                      <a:pt x="191877" y="200094"/>
                      <a:pt x="191877" y="209862"/>
                    </a:cubicBezTo>
                    <a:cubicBezTo>
                      <a:pt x="191877" y="219629"/>
                      <a:pt x="195009" y="224188"/>
                      <a:pt x="201533" y="224188"/>
                    </a:cubicBezTo>
                    <a:cubicBezTo>
                      <a:pt x="208058" y="224188"/>
                      <a:pt x="211320" y="219629"/>
                      <a:pt x="211320" y="209862"/>
                    </a:cubicBezTo>
                    <a:cubicBezTo>
                      <a:pt x="211320" y="200094"/>
                      <a:pt x="208058" y="195535"/>
                      <a:pt x="201533" y="195535"/>
                    </a:cubicBezTo>
                    <a:close/>
                    <a:moveTo>
                      <a:pt x="145710" y="195535"/>
                    </a:moveTo>
                    <a:cubicBezTo>
                      <a:pt x="139188" y="195535"/>
                      <a:pt x="135927" y="200094"/>
                      <a:pt x="135927" y="209862"/>
                    </a:cubicBezTo>
                    <a:cubicBezTo>
                      <a:pt x="135927" y="219629"/>
                      <a:pt x="139188" y="224188"/>
                      <a:pt x="145710" y="224188"/>
                    </a:cubicBezTo>
                    <a:cubicBezTo>
                      <a:pt x="152102" y="224188"/>
                      <a:pt x="155363" y="219629"/>
                      <a:pt x="155363" y="209862"/>
                    </a:cubicBezTo>
                    <a:cubicBezTo>
                      <a:pt x="155363" y="200094"/>
                      <a:pt x="152102" y="195535"/>
                      <a:pt x="145710" y="195535"/>
                    </a:cubicBezTo>
                    <a:close/>
                    <a:moveTo>
                      <a:pt x="331233" y="190597"/>
                    </a:moveTo>
                    <a:lnTo>
                      <a:pt x="345205" y="190597"/>
                    </a:lnTo>
                    <a:lnTo>
                      <a:pt x="345205" y="229126"/>
                    </a:lnTo>
                    <a:lnTo>
                      <a:pt x="338676" y="229126"/>
                    </a:lnTo>
                    <a:lnTo>
                      <a:pt x="338676" y="196455"/>
                    </a:lnTo>
                    <a:lnTo>
                      <a:pt x="331233" y="196455"/>
                    </a:lnTo>
                    <a:close/>
                    <a:moveTo>
                      <a:pt x="275345" y="190597"/>
                    </a:moveTo>
                    <a:lnTo>
                      <a:pt x="289388" y="190597"/>
                    </a:lnTo>
                    <a:lnTo>
                      <a:pt x="289388" y="229126"/>
                    </a:lnTo>
                    <a:lnTo>
                      <a:pt x="282887" y="229126"/>
                    </a:lnTo>
                    <a:lnTo>
                      <a:pt x="282887" y="196455"/>
                    </a:lnTo>
                    <a:lnTo>
                      <a:pt x="275345" y="196455"/>
                    </a:lnTo>
                    <a:close/>
                    <a:moveTo>
                      <a:pt x="219527" y="190597"/>
                    </a:moveTo>
                    <a:lnTo>
                      <a:pt x="233570" y="190597"/>
                    </a:lnTo>
                    <a:lnTo>
                      <a:pt x="233570" y="229126"/>
                    </a:lnTo>
                    <a:lnTo>
                      <a:pt x="227069" y="229126"/>
                    </a:lnTo>
                    <a:lnTo>
                      <a:pt x="227069" y="196455"/>
                    </a:lnTo>
                    <a:lnTo>
                      <a:pt x="219527" y="196455"/>
                    </a:lnTo>
                    <a:close/>
                    <a:moveTo>
                      <a:pt x="163710" y="190597"/>
                    </a:moveTo>
                    <a:lnTo>
                      <a:pt x="177682" y="190597"/>
                    </a:lnTo>
                    <a:lnTo>
                      <a:pt x="177682" y="229126"/>
                    </a:lnTo>
                    <a:lnTo>
                      <a:pt x="171283" y="229126"/>
                    </a:lnTo>
                    <a:lnTo>
                      <a:pt x="171283" y="196455"/>
                    </a:lnTo>
                    <a:lnTo>
                      <a:pt x="163710" y="196455"/>
                    </a:lnTo>
                    <a:close/>
                    <a:moveTo>
                      <a:pt x="369056" y="190456"/>
                    </a:moveTo>
                    <a:cubicBezTo>
                      <a:pt x="379625" y="190456"/>
                      <a:pt x="385497" y="197359"/>
                      <a:pt x="385497" y="209862"/>
                    </a:cubicBezTo>
                    <a:cubicBezTo>
                      <a:pt x="385497" y="222364"/>
                      <a:pt x="379625" y="229267"/>
                      <a:pt x="369056" y="229267"/>
                    </a:cubicBezTo>
                    <a:cubicBezTo>
                      <a:pt x="358486" y="229267"/>
                      <a:pt x="352614" y="222364"/>
                      <a:pt x="352614" y="209862"/>
                    </a:cubicBezTo>
                    <a:cubicBezTo>
                      <a:pt x="352614" y="197359"/>
                      <a:pt x="358486" y="190456"/>
                      <a:pt x="369056" y="190456"/>
                    </a:cubicBezTo>
                    <a:close/>
                    <a:moveTo>
                      <a:pt x="313233" y="190456"/>
                    </a:moveTo>
                    <a:cubicBezTo>
                      <a:pt x="323800" y="190456"/>
                      <a:pt x="329539" y="197359"/>
                      <a:pt x="329539" y="209862"/>
                    </a:cubicBezTo>
                    <a:cubicBezTo>
                      <a:pt x="329539" y="222364"/>
                      <a:pt x="323800" y="229267"/>
                      <a:pt x="313233" y="229267"/>
                    </a:cubicBezTo>
                    <a:cubicBezTo>
                      <a:pt x="302667" y="229267"/>
                      <a:pt x="296797" y="222364"/>
                      <a:pt x="296797" y="209862"/>
                    </a:cubicBezTo>
                    <a:cubicBezTo>
                      <a:pt x="296797" y="197359"/>
                      <a:pt x="302667" y="190456"/>
                      <a:pt x="313233" y="190456"/>
                    </a:cubicBezTo>
                    <a:close/>
                    <a:moveTo>
                      <a:pt x="257451" y="190456"/>
                    </a:moveTo>
                    <a:cubicBezTo>
                      <a:pt x="267865" y="190456"/>
                      <a:pt x="273722" y="197359"/>
                      <a:pt x="273722" y="209862"/>
                    </a:cubicBezTo>
                    <a:cubicBezTo>
                      <a:pt x="273722" y="222364"/>
                      <a:pt x="267865" y="229267"/>
                      <a:pt x="257451" y="229267"/>
                    </a:cubicBezTo>
                    <a:cubicBezTo>
                      <a:pt x="246908" y="229267"/>
                      <a:pt x="241050" y="222364"/>
                      <a:pt x="241050" y="209862"/>
                    </a:cubicBezTo>
                    <a:cubicBezTo>
                      <a:pt x="241050" y="197359"/>
                      <a:pt x="246908" y="190456"/>
                      <a:pt x="257451" y="190456"/>
                    </a:cubicBezTo>
                    <a:close/>
                    <a:moveTo>
                      <a:pt x="201533" y="190456"/>
                    </a:moveTo>
                    <a:cubicBezTo>
                      <a:pt x="212103" y="190456"/>
                      <a:pt x="217975" y="197359"/>
                      <a:pt x="217975" y="209862"/>
                    </a:cubicBezTo>
                    <a:cubicBezTo>
                      <a:pt x="217975" y="222364"/>
                      <a:pt x="212103" y="229267"/>
                      <a:pt x="201533" y="229267"/>
                    </a:cubicBezTo>
                    <a:cubicBezTo>
                      <a:pt x="190964" y="229267"/>
                      <a:pt x="185092" y="222364"/>
                      <a:pt x="185092" y="209862"/>
                    </a:cubicBezTo>
                    <a:cubicBezTo>
                      <a:pt x="185092" y="197359"/>
                      <a:pt x="190964" y="190456"/>
                      <a:pt x="201533" y="190456"/>
                    </a:cubicBezTo>
                    <a:close/>
                    <a:moveTo>
                      <a:pt x="145710" y="190456"/>
                    </a:moveTo>
                    <a:cubicBezTo>
                      <a:pt x="156276" y="190456"/>
                      <a:pt x="162016" y="197359"/>
                      <a:pt x="162016" y="209862"/>
                    </a:cubicBezTo>
                    <a:cubicBezTo>
                      <a:pt x="162016" y="222364"/>
                      <a:pt x="156276" y="229267"/>
                      <a:pt x="145710" y="229267"/>
                    </a:cubicBezTo>
                    <a:lnTo>
                      <a:pt x="135857" y="225211"/>
                    </a:lnTo>
                    <a:lnTo>
                      <a:pt x="132913" y="222169"/>
                    </a:lnTo>
                    <a:lnTo>
                      <a:pt x="129274" y="209862"/>
                    </a:lnTo>
                    <a:cubicBezTo>
                      <a:pt x="129274" y="197359"/>
                      <a:pt x="135144" y="190456"/>
                      <a:pt x="145710" y="190456"/>
                    </a:cubicBezTo>
                    <a:close/>
                    <a:moveTo>
                      <a:pt x="135026" y="143967"/>
                    </a:moveTo>
                    <a:cubicBezTo>
                      <a:pt x="128637" y="149043"/>
                      <a:pt x="123553" y="155682"/>
                      <a:pt x="120032" y="163101"/>
                    </a:cubicBezTo>
                    <a:cubicBezTo>
                      <a:pt x="121597" y="164533"/>
                      <a:pt x="123683" y="165314"/>
                      <a:pt x="126160" y="165314"/>
                    </a:cubicBezTo>
                    <a:cubicBezTo>
                      <a:pt x="132549" y="165314"/>
                      <a:pt x="135808" y="160758"/>
                      <a:pt x="135808" y="150996"/>
                    </a:cubicBezTo>
                    <a:cubicBezTo>
                      <a:pt x="135808" y="148262"/>
                      <a:pt x="135548" y="145919"/>
                      <a:pt x="135026" y="143967"/>
                    </a:cubicBezTo>
                    <a:close/>
                    <a:moveTo>
                      <a:pt x="293686" y="136684"/>
                    </a:moveTo>
                    <a:cubicBezTo>
                      <a:pt x="287164" y="136684"/>
                      <a:pt x="283903" y="141243"/>
                      <a:pt x="283903" y="151010"/>
                    </a:cubicBezTo>
                    <a:cubicBezTo>
                      <a:pt x="283903" y="160778"/>
                      <a:pt x="287164" y="165337"/>
                      <a:pt x="293686" y="165337"/>
                    </a:cubicBezTo>
                    <a:cubicBezTo>
                      <a:pt x="300078" y="165337"/>
                      <a:pt x="303339" y="160778"/>
                      <a:pt x="303339" y="151010"/>
                    </a:cubicBezTo>
                    <a:cubicBezTo>
                      <a:pt x="303339" y="141243"/>
                      <a:pt x="300078" y="136684"/>
                      <a:pt x="293686" y="136684"/>
                    </a:cubicBezTo>
                    <a:close/>
                    <a:moveTo>
                      <a:pt x="218322" y="136684"/>
                    </a:moveTo>
                    <a:cubicBezTo>
                      <a:pt x="211800" y="136684"/>
                      <a:pt x="208539" y="141243"/>
                      <a:pt x="208539" y="151010"/>
                    </a:cubicBezTo>
                    <a:cubicBezTo>
                      <a:pt x="208539" y="160778"/>
                      <a:pt x="211800" y="165337"/>
                      <a:pt x="218322" y="165337"/>
                    </a:cubicBezTo>
                    <a:cubicBezTo>
                      <a:pt x="224714" y="165337"/>
                      <a:pt x="227975" y="160778"/>
                      <a:pt x="227975" y="151010"/>
                    </a:cubicBezTo>
                    <a:cubicBezTo>
                      <a:pt x="227975" y="141243"/>
                      <a:pt x="224714" y="136684"/>
                      <a:pt x="218322" y="136684"/>
                    </a:cubicBezTo>
                    <a:close/>
                    <a:moveTo>
                      <a:pt x="349503" y="136677"/>
                    </a:moveTo>
                    <a:cubicBezTo>
                      <a:pt x="342984" y="136677"/>
                      <a:pt x="339855" y="141233"/>
                      <a:pt x="339855" y="150996"/>
                    </a:cubicBezTo>
                    <a:cubicBezTo>
                      <a:pt x="339855" y="160758"/>
                      <a:pt x="342984" y="165314"/>
                      <a:pt x="349503" y="165314"/>
                    </a:cubicBezTo>
                    <a:cubicBezTo>
                      <a:pt x="356022" y="165314"/>
                      <a:pt x="359282" y="160758"/>
                      <a:pt x="359282" y="150996"/>
                    </a:cubicBezTo>
                    <a:cubicBezTo>
                      <a:pt x="359282" y="141233"/>
                      <a:pt x="356022" y="136677"/>
                      <a:pt x="349503" y="136677"/>
                    </a:cubicBezTo>
                    <a:close/>
                    <a:moveTo>
                      <a:pt x="162406" y="136677"/>
                    </a:moveTo>
                    <a:cubicBezTo>
                      <a:pt x="156017" y="136677"/>
                      <a:pt x="152758" y="141233"/>
                      <a:pt x="152758" y="150996"/>
                    </a:cubicBezTo>
                    <a:cubicBezTo>
                      <a:pt x="152758" y="160758"/>
                      <a:pt x="156017" y="165314"/>
                      <a:pt x="162406" y="165314"/>
                    </a:cubicBezTo>
                    <a:cubicBezTo>
                      <a:pt x="168925" y="165314"/>
                      <a:pt x="172185" y="160758"/>
                      <a:pt x="172185" y="150996"/>
                    </a:cubicBezTo>
                    <a:cubicBezTo>
                      <a:pt x="172185" y="141233"/>
                      <a:pt x="168925" y="136677"/>
                      <a:pt x="162406" y="136677"/>
                    </a:cubicBezTo>
                    <a:close/>
                    <a:moveTo>
                      <a:pt x="311686" y="131746"/>
                    </a:moveTo>
                    <a:lnTo>
                      <a:pt x="325658" y="131746"/>
                    </a:lnTo>
                    <a:lnTo>
                      <a:pt x="325658" y="170275"/>
                    </a:lnTo>
                    <a:lnTo>
                      <a:pt x="319260" y="170275"/>
                    </a:lnTo>
                    <a:lnTo>
                      <a:pt x="319260" y="137473"/>
                    </a:lnTo>
                    <a:lnTo>
                      <a:pt x="311686" y="137473"/>
                    </a:lnTo>
                    <a:close/>
                    <a:moveTo>
                      <a:pt x="255728" y="131746"/>
                    </a:moveTo>
                    <a:lnTo>
                      <a:pt x="269841" y="131746"/>
                    </a:lnTo>
                    <a:lnTo>
                      <a:pt x="269841" y="170275"/>
                    </a:lnTo>
                    <a:lnTo>
                      <a:pt x="263307" y="170275"/>
                    </a:lnTo>
                    <a:lnTo>
                      <a:pt x="263307" y="137473"/>
                    </a:lnTo>
                    <a:lnTo>
                      <a:pt x="255728" y="137473"/>
                    </a:lnTo>
                    <a:close/>
                    <a:moveTo>
                      <a:pt x="236181" y="131746"/>
                    </a:moveTo>
                    <a:lnTo>
                      <a:pt x="250294" y="131746"/>
                    </a:lnTo>
                    <a:lnTo>
                      <a:pt x="250294" y="170275"/>
                    </a:lnTo>
                    <a:lnTo>
                      <a:pt x="243760" y="170275"/>
                    </a:lnTo>
                    <a:lnTo>
                      <a:pt x="243760" y="137473"/>
                    </a:lnTo>
                    <a:lnTo>
                      <a:pt x="236181" y="137473"/>
                    </a:lnTo>
                    <a:close/>
                    <a:moveTo>
                      <a:pt x="180434" y="131746"/>
                    </a:moveTo>
                    <a:lnTo>
                      <a:pt x="194477" y="131746"/>
                    </a:lnTo>
                    <a:lnTo>
                      <a:pt x="194477" y="170275"/>
                    </a:lnTo>
                    <a:lnTo>
                      <a:pt x="187975" y="170275"/>
                    </a:lnTo>
                    <a:lnTo>
                      <a:pt x="187975" y="137473"/>
                    </a:lnTo>
                    <a:lnTo>
                      <a:pt x="180434" y="137473"/>
                    </a:lnTo>
                    <a:close/>
                    <a:moveTo>
                      <a:pt x="293686" y="131605"/>
                    </a:moveTo>
                    <a:cubicBezTo>
                      <a:pt x="304253" y="131605"/>
                      <a:pt x="309992" y="138508"/>
                      <a:pt x="309992" y="151010"/>
                    </a:cubicBezTo>
                    <a:cubicBezTo>
                      <a:pt x="309992" y="163513"/>
                      <a:pt x="304253" y="170416"/>
                      <a:pt x="293686" y="170416"/>
                    </a:cubicBezTo>
                    <a:cubicBezTo>
                      <a:pt x="283120" y="170416"/>
                      <a:pt x="277250" y="163513"/>
                      <a:pt x="277250" y="151010"/>
                    </a:cubicBezTo>
                    <a:cubicBezTo>
                      <a:pt x="277250" y="138508"/>
                      <a:pt x="283120" y="131605"/>
                      <a:pt x="293686" y="131605"/>
                    </a:cubicBezTo>
                    <a:close/>
                    <a:moveTo>
                      <a:pt x="218322" y="131605"/>
                    </a:moveTo>
                    <a:cubicBezTo>
                      <a:pt x="228758" y="131605"/>
                      <a:pt x="234628" y="138508"/>
                      <a:pt x="234628" y="151010"/>
                    </a:cubicBezTo>
                    <a:cubicBezTo>
                      <a:pt x="234628" y="163513"/>
                      <a:pt x="228758" y="170416"/>
                      <a:pt x="218322" y="170416"/>
                    </a:cubicBezTo>
                    <a:cubicBezTo>
                      <a:pt x="207756" y="170416"/>
                      <a:pt x="201886" y="163513"/>
                      <a:pt x="201886" y="151010"/>
                    </a:cubicBezTo>
                    <a:cubicBezTo>
                      <a:pt x="201886" y="138508"/>
                      <a:pt x="207756" y="131605"/>
                      <a:pt x="218322" y="131605"/>
                    </a:cubicBezTo>
                    <a:close/>
                    <a:moveTo>
                      <a:pt x="284182" y="88124"/>
                    </a:moveTo>
                    <a:cubicBezTo>
                      <a:pt x="284052" y="89296"/>
                      <a:pt x="283922" y="90597"/>
                      <a:pt x="283922" y="92159"/>
                    </a:cubicBezTo>
                    <a:cubicBezTo>
                      <a:pt x="283922" y="101792"/>
                      <a:pt x="287181" y="106348"/>
                      <a:pt x="293700" y="106348"/>
                    </a:cubicBezTo>
                    <a:cubicBezTo>
                      <a:pt x="299046" y="106348"/>
                      <a:pt x="302175" y="103224"/>
                      <a:pt x="303088" y="96715"/>
                    </a:cubicBezTo>
                    <a:cubicBezTo>
                      <a:pt x="300610" y="96325"/>
                      <a:pt x="298003" y="96064"/>
                      <a:pt x="295265" y="96064"/>
                    </a:cubicBezTo>
                    <a:cubicBezTo>
                      <a:pt x="293439" y="96064"/>
                      <a:pt x="291614" y="96195"/>
                      <a:pt x="289919" y="96455"/>
                    </a:cubicBezTo>
                    <a:cubicBezTo>
                      <a:pt x="288224" y="93461"/>
                      <a:pt x="286269" y="90728"/>
                      <a:pt x="284182" y="88124"/>
                    </a:cubicBezTo>
                    <a:close/>
                    <a:moveTo>
                      <a:pt x="257451" y="77823"/>
                    </a:moveTo>
                    <a:cubicBezTo>
                      <a:pt x="250943" y="77823"/>
                      <a:pt x="247689" y="82252"/>
                      <a:pt x="247689" y="92153"/>
                    </a:cubicBezTo>
                    <a:cubicBezTo>
                      <a:pt x="247689" y="101793"/>
                      <a:pt x="250943" y="106353"/>
                      <a:pt x="257451" y="106353"/>
                    </a:cubicBezTo>
                    <a:cubicBezTo>
                      <a:pt x="263830" y="106353"/>
                      <a:pt x="267084" y="101793"/>
                      <a:pt x="267084" y="92153"/>
                    </a:cubicBezTo>
                    <a:cubicBezTo>
                      <a:pt x="267084" y="82252"/>
                      <a:pt x="263830" y="77823"/>
                      <a:pt x="257451" y="77823"/>
                    </a:cubicBezTo>
                    <a:close/>
                    <a:moveTo>
                      <a:pt x="201533" y="77823"/>
                    </a:moveTo>
                    <a:cubicBezTo>
                      <a:pt x="195009" y="77823"/>
                      <a:pt x="191877" y="82252"/>
                      <a:pt x="191877" y="92153"/>
                    </a:cubicBezTo>
                    <a:cubicBezTo>
                      <a:pt x="191877" y="101793"/>
                      <a:pt x="195009" y="106353"/>
                      <a:pt x="201533" y="106353"/>
                    </a:cubicBezTo>
                    <a:cubicBezTo>
                      <a:pt x="208058" y="106353"/>
                      <a:pt x="211320" y="101793"/>
                      <a:pt x="211320" y="92153"/>
                    </a:cubicBezTo>
                    <a:cubicBezTo>
                      <a:pt x="211320" y="82252"/>
                      <a:pt x="208058" y="77823"/>
                      <a:pt x="201533" y="77823"/>
                    </a:cubicBezTo>
                    <a:close/>
                    <a:moveTo>
                      <a:pt x="219527" y="72894"/>
                    </a:moveTo>
                    <a:lnTo>
                      <a:pt x="233570" y="72894"/>
                    </a:lnTo>
                    <a:lnTo>
                      <a:pt x="233570" y="111282"/>
                    </a:lnTo>
                    <a:lnTo>
                      <a:pt x="227069" y="111282"/>
                    </a:lnTo>
                    <a:lnTo>
                      <a:pt x="227069" y="78620"/>
                    </a:lnTo>
                    <a:lnTo>
                      <a:pt x="219527" y="78620"/>
                    </a:lnTo>
                    <a:close/>
                    <a:moveTo>
                      <a:pt x="257451" y="72612"/>
                    </a:moveTo>
                    <a:cubicBezTo>
                      <a:pt x="267865" y="72612"/>
                      <a:pt x="273722" y="79647"/>
                      <a:pt x="273722" y="92153"/>
                    </a:cubicBezTo>
                    <a:cubicBezTo>
                      <a:pt x="273722" y="104529"/>
                      <a:pt x="267865" y="111564"/>
                      <a:pt x="257451" y="111564"/>
                    </a:cubicBezTo>
                    <a:cubicBezTo>
                      <a:pt x="246908" y="111564"/>
                      <a:pt x="241050" y="104529"/>
                      <a:pt x="241050" y="92153"/>
                    </a:cubicBezTo>
                    <a:cubicBezTo>
                      <a:pt x="241050" y="79647"/>
                      <a:pt x="246908" y="72612"/>
                      <a:pt x="257451" y="72612"/>
                    </a:cubicBezTo>
                    <a:close/>
                    <a:moveTo>
                      <a:pt x="201533" y="72612"/>
                    </a:moveTo>
                    <a:cubicBezTo>
                      <a:pt x="212103" y="72612"/>
                      <a:pt x="217975" y="79647"/>
                      <a:pt x="217975" y="92153"/>
                    </a:cubicBezTo>
                    <a:cubicBezTo>
                      <a:pt x="217975" y="104529"/>
                      <a:pt x="212103" y="111564"/>
                      <a:pt x="201533" y="111564"/>
                    </a:cubicBezTo>
                    <a:cubicBezTo>
                      <a:pt x="190964" y="111564"/>
                      <a:pt x="185092" y="104529"/>
                      <a:pt x="185092" y="92153"/>
                    </a:cubicBezTo>
                    <a:cubicBezTo>
                      <a:pt x="185092" y="79647"/>
                      <a:pt x="190964" y="72612"/>
                      <a:pt x="201533" y="72612"/>
                    </a:cubicBezTo>
                    <a:close/>
                    <a:moveTo>
                      <a:pt x="228379" y="61179"/>
                    </a:moveTo>
                    <a:cubicBezTo>
                      <a:pt x="208561" y="61179"/>
                      <a:pt x="190699" y="69250"/>
                      <a:pt x="177661" y="82267"/>
                    </a:cubicBezTo>
                    <a:lnTo>
                      <a:pt x="177661" y="111294"/>
                    </a:lnTo>
                    <a:lnTo>
                      <a:pt x="171272" y="111294"/>
                    </a:lnTo>
                    <a:lnTo>
                      <a:pt x="171272" y="89816"/>
                    </a:lnTo>
                    <a:cubicBezTo>
                      <a:pt x="162276" y="101662"/>
                      <a:pt x="157061" y="116371"/>
                      <a:pt x="157061" y="132251"/>
                    </a:cubicBezTo>
                    <a:cubicBezTo>
                      <a:pt x="158625" y="131861"/>
                      <a:pt x="160450" y="131601"/>
                      <a:pt x="162406" y="131601"/>
                    </a:cubicBezTo>
                    <a:cubicBezTo>
                      <a:pt x="172967" y="131601"/>
                      <a:pt x="178834" y="138500"/>
                      <a:pt x="178834" y="150996"/>
                    </a:cubicBezTo>
                    <a:cubicBezTo>
                      <a:pt x="178834" y="163492"/>
                      <a:pt x="172967" y="170391"/>
                      <a:pt x="162406" y="170391"/>
                    </a:cubicBezTo>
                    <a:cubicBezTo>
                      <a:pt x="151845" y="170391"/>
                      <a:pt x="146109" y="163492"/>
                      <a:pt x="146109" y="150996"/>
                    </a:cubicBezTo>
                    <a:cubicBezTo>
                      <a:pt x="146109" y="143576"/>
                      <a:pt x="148064" y="138109"/>
                      <a:pt x="151976" y="134985"/>
                    </a:cubicBezTo>
                    <a:cubicBezTo>
                      <a:pt x="147934" y="136287"/>
                      <a:pt x="144022" y="137979"/>
                      <a:pt x="140502" y="140192"/>
                    </a:cubicBezTo>
                    <a:cubicBezTo>
                      <a:pt x="141806" y="143055"/>
                      <a:pt x="142588" y="146700"/>
                      <a:pt x="142588" y="150996"/>
                    </a:cubicBezTo>
                    <a:cubicBezTo>
                      <a:pt x="142588" y="163492"/>
                      <a:pt x="136721" y="170391"/>
                      <a:pt x="126160" y="170391"/>
                    </a:cubicBezTo>
                    <a:cubicBezTo>
                      <a:pt x="123031" y="170391"/>
                      <a:pt x="120293" y="169740"/>
                      <a:pt x="117946" y="168569"/>
                    </a:cubicBezTo>
                    <a:cubicBezTo>
                      <a:pt x="116251" y="173775"/>
                      <a:pt x="115208" y="179373"/>
                      <a:pt x="115208" y="185100"/>
                    </a:cubicBezTo>
                    <a:cubicBezTo>
                      <a:pt x="115208" y="187052"/>
                      <a:pt x="115339" y="188875"/>
                      <a:pt x="115469" y="190567"/>
                    </a:cubicBezTo>
                    <a:lnTo>
                      <a:pt x="121858" y="190567"/>
                    </a:lnTo>
                    <a:lnTo>
                      <a:pt x="121858" y="210743"/>
                    </a:lnTo>
                    <a:lnTo>
                      <a:pt x="132913" y="222169"/>
                    </a:lnTo>
                    <a:lnTo>
                      <a:pt x="133530" y="224253"/>
                    </a:lnTo>
                    <a:lnTo>
                      <a:pt x="135857" y="225211"/>
                    </a:lnTo>
                    <a:lnTo>
                      <a:pt x="140877" y="230399"/>
                    </a:lnTo>
                    <a:cubicBezTo>
                      <a:pt x="148814" y="235183"/>
                      <a:pt x="158104" y="237949"/>
                      <a:pt x="168013" y="237949"/>
                    </a:cubicBezTo>
                    <a:lnTo>
                      <a:pt x="354327" y="237949"/>
                    </a:lnTo>
                    <a:cubicBezTo>
                      <a:pt x="370495" y="237949"/>
                      <a:pt x="384967" y="230659"/>
                      <a:pt x="394615" y="219335"/>
                    </a:cubicBezTo>
                    <a:lnTo>
                      <a:pt x="394615" y="196425"/>
                    </a:lnTo>
                    <a:lnTo>
                      <a:pt x="387053" y="196425"/>
                    </a:lnTo>
                    <a:lnTo>
                      <a:pt x="387053" y="190567"/>
                    </a:lnTo>
                    <a:lnTo>
                      <a:pt x="401134" y="190567"/>
                    </a:lnTo>
                    <a:lnTo>
                      <a:pt x="401134" y="209702"/>
                    </a:lnTo>
                    <a:cubicBezTo>
                      <a:pt x="404915" y="202413"/>
                      <a:pt x="407132" y="194082"/>
                      <a:pt x="407132" y="185230"/>
                    </a:cubicBezTo>
                    <a:cubicBezTo>
                      <a:pt x="407132" y="180023"/>
                      <a:pt x="406349" y="175077"/>
                      <a:pt x="405046" y="170391"/>
                    </a:cubicBezTo>
                    <a:cubicBezTo>
                      <a:pt x="394746" y="170261"/>
                      <a:pt x="389009" y="163362"/>
                      <a:pt x="389009" y="150996"/>
                    </a:cubicBezTo>
                    <a:cubicBezTo>
                      <a:pt x="389009" y="149043"/>
                      <a:pt x="389139" y="147351"/>
                      <a:pt x="389400" y="145789"/>
                    </a:cubicBezTo>
                    <a:cubicBezTo>
                      <a:pt x="386923" y="143576"/>
                      <a:pt x="384315" y="141624"/>
                      <a:pt x="381577" y="139931"/>
                    </a:cubicBezTo>
                    <a:lnTo>
                      <a:pt x="381577" y="170261"/>
                    </a:lnTo>
                    <a:lnTo>
                      <a:pt x="375058" y="170261"/>
                    </a:lnTo>
                    <a:lnTo>
                      <a:pt x="375058" y="137458"/>
                    </a:lnTo>
                    <a:lnTo>
                      <a:pt x="367496" y="137458"/>
                    </a:lnTo>
                    <a:lnTo>
                      <a:pt x="367496" y="134074"/>
                    </a:lnTo>
                    <a:cubicBezTo>
                      <a:pt x="363584" y="133163"/>
                      <a:pt x="359673" y="132512"/>
                      <a:pt x="355501" y="132512"/>
                    </a:cubicBezTo>
                    <a:cubicBezTo>
                      <a:pt x="362281" y="134725"/>
                      <a:pt x="365931" y="141103"/>
                      <a:pt x="365931" y="150996"/>
                    </a:cubicBezTo>
                    <a:cubicBezTo>
                      <a:pt x="365931" y="163492"/>
                      <a:pt x="360064" y="170391"/>
                      <a:pt x="349503" y="170391"/>
                    </a:cubicBezTo>
                    <a:cubicBezTo>
                      <a:pt x="338942" y="170391"/>
                      <a:pt x="333075" y="163492"/>
                      <a:pt x="333075" y="150996"/>
                    </a:cubicBezTo>
                    <a:cubicBezTo>
                      <a:pt x="333075" y="140192"/>
                      <a:pt x="337508" y="133683"/>
                      <a:pt x="345331" y="131991"/>
                    </a:cubicBezTo>
                    <a:cubicBezTo>
                      <a:pt x="341811" y="121317"/>
                      <a:pt x="334770" y="112075"/>
                      <a:pt x="325644" y="105697"/>
                    </a:cubicBezTo>
                    <a:lnTo>
                      <a:pt x="325644" y="111294"/>
                    </a:lnTo>
                    <a:lnTo>
                      <a:pt x="319255" y="111294"/>
                    </a:lnTo>
                    <a:lnTo>
                      <a:pt x="319255" y="101792"/>
                    </a:lnTo>
                    <a:cubicBezTo>
                      <a:pt x="316126" y="100230"/>
                      <a:pt x="312866" y="98928"/>
                      <a:pt x="309476" y="98017"/>
                    </a:cubicBezTo>
                    <a:cubicBezTo>
                      <a:pt x="307912" y="106738"/>
                      <a:pt x="302436" y="111555"/>
                      <a:pt x="293700" y="111555"/>
                    </a:cubicBezTo>
                    <a:cubicBezTo>
                      <a:pt x="283139" y="111555"/>
                      <a:pt x="277272" y="104525"/>
                      <a:pt x="277272" y="92159"/>
                    </a:cubicBezTo>
                    <a:cubicBezTo>
                      <a:pt x="277272" y="88254"/>
                      <a:pt x="277794" y="85000"/>
                      <a:pt x="278967" y="82267"/>
                    </a:cubicBezTo>
                    <a:cubicBezTo>
                      <a:pt x="266059" y="69250"/>
                      <a:pt x="248067" y="61179"/>
                      <a:pt x="228379" y="61179"/>
                    </a:cubicBezTo>
                    <a:close/>
                    <a:moveTo>
                      <a:pt x="242069" y="0"/>
                    </a:moveTo>
                    <a:cubicBezTo>
                      <a:pt x="332945" y="0"/>
                      <a:pt x="402568" y="56623"/>
                      <a:pt x="429296" y="90077"/>
                    </a:cubicBezTo>
                    <a:cubicBezTo>
                      <a:pt x="466977" y="137068"/>
                      <a:pt x="489793" y="223110"/>
                      <a:pt x="458111" y="290146"/>
                    </a:cubicBezTo>
                    <a:cubicBezTo>
                      <a:pt x="451200" y="304725"/>
                      <a:pt x="441161" y="319434"/>
                      <a:pt x="430470" y="335055"/>
                    </a:cubicBezTo>
                    <a:cubicBezTo>
                      <a:pt x="406089" y="370851"/>
                      <a:pt x="378448" y="411334"/>
                      <a:pt x="391747" y="452988"/>
                    </a:cubicBezTo>
                    <a:cubicBezTo>
                      <a:pt x="392659" y="455982"/>
                      <a:pt x="391877" y="459366"/>
                      <a:pt x="389530" y="461579"/>
                    </a:cubicBezTo>
                    <a:lnTo>
                      <a:pt x="238940" y="605155"/>
                    </a:lnTo>
                    <a:cubicBezTo>
                      <a:pt x="237245" y="606587"/>
                      <a:pt x="235159" y="607498"/>
                      <a:pt x="233073" y="607498"/>
                    </a:cubicBezTo>
                    <a:cubicBezTo>
                      <a:pt x="232291" y="607498"/>
                      <a:pt x="231509" y="607368"/>
                      <a:pt x="230726" y="607108"/>
                    </a:cubicBezTo>
                    <a:cubicBezTo>
                      <a:pt x="227858" y="606327"/>
                      <a:pt x="225641" y="603984"/>
                      <a:pt x="224859" y="601120"/>
                    </a:cubicBezTo>
                    <a:cubicBezTo>
                      <a:pt x="215602" y="565584"/>
                      <a:pt x="189917" y="506357"/>
                      <a:pt x="160581" y="498286"/>
                    </a:cubicBezTo>
                    <a:cubicBezTo>
                      <a:pt x="158104" y="497636"/>
                      <a:pt x="154844" y="497375"/>
                      <a:pt x="150802" y="497375"/>
                    </a:cubicBezTo>
                    <a:cubicBezTo>
                      <a:pt x="143501" y="497375"/>
                      <a:pt x="134505" y="498417"/>
                      <a:pt x="124856" y="499458"/>
                    </a:cubicBezTo>
                    <a:cubicBezTo>
                      <a:pt x="113513" y="500760"/>
                      <a:pt x="101909" y="502192"/>
                      <a:pt x="91088" y="502192"/>
                    </a:cubicBezTo>
                    <a:cubicBezTo>
                      <a:pt x="66576" y="502192"/>
                      <a:pt x="53408" y="494642"/>
                      <a:pt x="50800" y="479021"/>
                    </a:cubicBezTo>
                    <a:cubicBezTo>
                      <a:pt x="49366" y="470040"/>
                      <a:pt x="48192" y="460668"/>
                      <a:pt x="47019" y="451686"/>
                    </a:cubicBezTo>
                    <a:cubicBezTo>
                      <a:pt x="42064" y="413937"/>
                      <a:pt x="36980" y="374886"/>
                      <a:pt x="7905" y="355101"/>
                    </a:cubicBezTo>
                    <a:cubicBezTo>
                      <a:pt x="-9175" y="343386"/>
                      <a:pt x="4776" y="318914"/>
                      <a:pt x="18205" y="295093"/>
                    </a:cubicBezTo>
                    <a:cubicBezTo>
                      <a:pt x="27201" y="279212"/>
                      <a:pt x="36588" y="262941"/>
                      <a:pt x="35154" y="252267"/>
                    </a:cubicBezTo>
                    <a:cubicBezTo>
                      <a:pt x="34633" y="248362"/>
                      <a:pt x="34111" y="244457"/>
                      <a:pt x="33590" y="240552"/>
                    </a:cubicBezTo>
                    <a:cubicBezTo>
                      <a:pt x="24985" y="178201"/>
                      <a:pt x="18205" y="128997"/>
                      <a:pt x="70096" y="75628"/>
                    </a:cubicBezTo>
                    <a:cubicBezTo>
                      <a:pt x="70227" y="75498"/>
                      <a:pt x="70227" y="75498"/>
                      <a:pt x="70357" y="75368"/>
                    </a:cubicBezTo>
                    <a:cubicBezTo>
                      <a:pt x="123553" y="25383"/>
                      <a:pt x="181442" y="0"/>
                      <a:pt x="242069" y="0"/>
                    </a:cubicBezTo>
                    <a:close/>
                  </a:path>
                </a:pathLst>
              </a:custGeom>
              <a:solidFill>
                <a:srgbClr val="18419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400" b="0" i="0" u="none" strike="noStrike" kern="0" cap="none" spc="0" normalizeH="0" baseline="0" noProof="0">
                  <a:ln>
                    <a:noFill/>
                  </a:ln>
                  <a:solidFill>
                    <a:prstClr val="white"/>
                  </a:solidFill>
                  <a:effectLst/>
                  <a:uLnTx/>
                  <a:uFillTx/>
                  <a:latin typeface="等线" panose="02010600030101010101" charset="-122"/>
                  <a:ea typeface="+mn-ea"/>
                  <a:cs typeface="+mn-cs"/>
                </a:endParaRPr>
              </a:p>
            </p:txBody>
          </p:sp>
          <p:sp>
            <p:nvSpPr>
              <p:cNvPr id="249" name="文本框 248"/>
              <p:cNvSpPr txBox="1"/>
              <p:nvPr/>
            </p:nvSpPr>
            <p:spPr>
              <a:xfrm>
                <a:off x="4539" y="5341"/>
                <a:ext cx="1534" cy="424"/>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800" b="1" i="0" u="none" strike="noStrike" kern="0" cap="none" spc="0" normalizeH="0" baseline="0" noProof="0" dirty="0">
                    <a:ln>
                      <a:noFill/>
                    </a:ln>
                    <a:solidFill>
                      <a:srgbClr val="184199"/>
                    </a:solidFill>
                    <a:effectLst/>
                    <a:uLnTx/>
                    <a:uFillTx/>
                    <a:latin typeface="微软雅黑" panose="020B0503020204020204" charset="-122"/>
                    <a:ea typeface="微软雅黑" panose="020B0503020204020204" charset="-122"/>
                  </a:rPr>
                  <a:t>新型威胁情报</a:t>
                </a:r>
                <a:endParaRPr kumimoji="0" lang="zh-CN" altLang="en-US" sz="800" b="1" i="0" u="none" strike="noStrike" kern="0" cap="none" spc="0" normalizeH="0" baseline="0" noProof="0" dirty="0">
                  <a:ln>
                    <a:noFill/>
                  </a:ln>
                  <a:solidFill>
                    <a:srgbClr val="184199"/>
                  </a:solidFill>
                  <a:effectLst/>
                  <a:uLnTx/>
                  <a:uFillTx/>
                  <a:latin typeface="微软雅黑" panose="020B0503020204020204" charset="-122"/>
                  <a:ea typeface="微软雅黑" panose="020B0503020204020204" charset="-122"/>
                </a:endParaRPr>
              </a:p>
            </p:txBody>
          </p:sp>
        </p:grpSp>
        <p:grpSp>
          <p:nvGrpSpPr>
            <p:cNvPr id="250" name="组合 249"/>
            <p:cNvGrpSpPr/>
            <p:nvPr/>
          </p:nvGrpSpPr>
          <p:grpSpPr>
            <a:xfrm rot="0">
              <a:off x="3106" y="2622"/>
              <a:ext cx="1134" cy="761"/>
              <a:chOff x="5374" y="3400"/>
              <a:chExt cx="1204" cy="1087"/>
            </a:xfrm>
          </p:grpSpPr>
          <p:pic>
            <p:nvPicPr>
              <p:cNvPr id="251" name="图片 250"/>
              <p:cNvPicPr>
                <a:picLocks noChangeAspect="1"/>
              </p:cNvPicPr>
              <p:nvPr/>
            </p:nvPicPr>
            <p:blipFill>
              <a:blip r:embed="rId59"/>
              <a:srcRect/>
              <a:stretch>
                <a:fillRect/>
              </a:stretch>
            </p:blipFill>
            <p:spPr>
              <a:xfrm>
                <a:off x="5594" y="3400"/>
                <a:ext cx="398" cy="506"/>
              </a:xfrm>
              <a:prstGeom prst="rect">
                <a:avLst/>
              </a:prstGeom>
            </p:spPr>
          </p:pic>
          <p:pic>
            <p:nvPicPr>
              <p:cNvPr id="252" name="图片 251"/>
              <p:cNvPicPr>
                <a:picLocks noChangeAspect="1"/>
              </p:cNvPicPr>
              <p:nvPr/>
            </p:nvPicPr>
            <p:blipFill>
              <a:blip r:embed="rId59"/>
              <a:srcRect/>
              <a:stretch>
                <a:fillRect/>
              </a:stretch>
            </p:blipFill>
            <p:spPr>
              <a:xfrm>
                <a:off x="5778" y="3458"/>
                <a:ext cx="464" cy="590"/>
              </a:xfrm>
              <a:prstGeom prst="rect">
                <a:avLst/>
              </a:prstGeom>
            </p:spPr>
          </p:pic>
          <p:sp>
            <p:nvSpPr>
              <p:cNvPr id="253" name="文本框 252"/>
              <p:cNvSpPr txBox="1"/>
              <p:nvPr/>
            </p:nvSpPr>
            <p:spPr>
              <a:xfrm>
                <a:off x="5374" y="4005"/>
                <a:ext cx="1204" cy="482"/>
              </a:xfrm>
              <a:prstGeom prst="rect">
                <a:avLst/>
              </a:prstGeom>
              <a:noFill/>
            </p:spPr>
            <p:txBody>
              <a:bodyPr wrap="square">
                <a:spAutoFit/>
              </a:bodyPr>
              <a:lstStyle/>
              <a:p>
                <a:r>
                  <a:rPr lang="zh-CN" altLang="en-US" sz="800" b="1" dirty="0">
                    <a:solidFill>
                      <a:srgbClr val="4472C4">
                        <a:lumMod val="75000"/>
                      </a:srgbClr>
                    </a:solidFill>
                    <a:latin typeface="微软雅黑" panose="020B0503020204020204" charset="-122"/>
                    <a:ea typeface="微软雅黑" panose="020B0503020204020204" charset="-122"/>
                  </a:rPr>
                  <a:t>专家研判</a:t>
                </a:r>
                <a:endParaRPr lang="zh-CN" altLang="en-US" sz="800" b="1" dirty="0">
                  <a:solidFill>
                    <a:srgbClr val="4472C4">
                      <a:lumMod val="75000"/>
                    </a:srgbClr>
                  </a:solidFill>
                  <a:latin typeface="微软雅黑" panose="020B0503020204020204" charset="-122"/>
                  <a:ea typeface="微软雅黑" panose="020B0503020204020204" charset="-122"/>
                </a:endParaRPr>
              </a:p>
            </p:txBody>
          </p:sp>
        </p:grpSp>
        <p:grpSp>
          <p:nvGrpSpPr>
            <p:cNvPr id="254" name="组合 253"/>
            <p:cNvGrpSpPr/>
            <p:nvPr/>
          </p:nvGrpSpPr>
          <p:grpSpPr>
            <a:xfrm rot="0">
              <a:off x="5749" y="1865"/>
              <a:ext cx="1322" cy="679"/>
              <a:chOff x="4230" y="3255"/>
              <a:chExt cx="1402" cy="854"/>
            </a:xfrm>
          </p:grpSpPr>
          <p:sp>
            <p:nvSpPr>
              <p:cNvPr id="256" name="文本框 255"/>
              <p:cNvSpPr txBox="1"/>
              <p:nvPr/>
            </p:nvSpPr>
            <p:spPr>
              <a:xfrm>
                <a:off x="4230" y="3685"/>
                <a:ext cx="1402" cy="424"/>
              </a:xfrm>
              <a:prstGeom prst="rect">
                <a:avLst/>
              </a:prstGeom>
              <a:noFill/>
            </p:spPr>
            <p:txBody>
              <a:bodyPr wrap="square">
                <a:spAutoFit/>
              </a:bodyPr>
              <a:lstStyle/>
              <a:p>
                <a:r>
                  <a:rPr lang="zh-CN" altLang="en-US" sz="800" b="1" dirty="0">
                    <a:solidFill>
                      <a:srgbClr val="4472C4">
                        <a:lumMod val="75000"/>
                      </a:srgbClr>
                    </a:solidFill>
                    <a:latin typeface="微软雅黑" panose="020B0503020204020204" charset="-122"/>
                    <a:ea typeface="微软雅黑" panose="020B0503020204020204" charset="-122"/>
                  </a:rPr>
                  <a:t>专家咨询</a:t>
                </a:r>
                <a:endParaRPr lang="zh-CN" altLang="en-US" sz="800" b="1" dirty="0">
                  <a:solidFill>
                    <a:srgbClr val="4472C4">
                      <a:lumMod val="75000"/>
                    </a:srgbClr>
                  </a:solidFill>
                  <a:latin typeface="微软雅黑" panose="020B0503020204020204" charset="-122"/>
                  <a:ea typeface="微软雅黑" panose="020B0503020204020204" charset="-122"/>
                </a:endParaRPr>
              </a:p>
            </p:txBody>
          </p:sp>
          <p:pic>
            <p:nvPicPr>
              <p:cNvPr id="257" name="图片 14" descr="32303038313137363b32303131373338373bbfcdb7fe"/>
              <p:cNvPicPr>
                <a:picLocks noChangeAspect="1"/>
              </p:cNvPicPr>
              <p:nvPr/>
            </p:nvPicPr>
            <p:blipFill>
              <a:blip r:embed="rId60">
                <a:extLst>
                  <a:ext uri="{96DAC541-7B7A-43D3-8B79-37D633B846F1}">
                    <asvg:svgBlip xmlns:asvg="http://schemas.microsoft.com/office/drawing/2016/SVG/main" r:embed="rId61"/>
                  </a:ext>
                </a:extLst>
              </a:blip>
              <a:stretch>
                <a:fillRect/>
              </a:stretch>
            </p:blipFill>
            <p:spPr>
              <a:xfrm>
                <a:off x="4698" y="3255"/>
                <a:ext cx="466" cy="466"/>
              </a:xfrm>
              <a:prstGeom prst="rect">
                <a:avLst/>
              </a:prstGeom>
            </p:spPr>
          </p:pic>
        </p:grpSp>
        <p:grpSp>
          <p:nvGrpSpPr>
            <p:cNvPr id="258" name="组合 257"/>
            <p:cNvGrpSpPr/>
            <p:nvPr/>
          </p:nvGrpSpPr>
          <p:grpSpPr>
            <a:xfrm rot="0">
              <a:off x="1395" y="2529"/>
              <a:ext cx="1559" cy="887"/>
              <a:chOff x="1499" y="2594"/>
              <a:chExt cx="1624" cy="1116"/>
            </a:xfrm>
          </p:grpSpPr>
          <p:pic>
            <p:nvPicPr>
              <p:cNvPr id="259" name="图片 14" descr="3504981"/>
              <p:cNvPicPr>
                <a:picLocks noChangeAspect="1"/>
              </p:cNvPicPr>
              <p:nvPr/>
            </p:nvPicPr>
            <p:blipFill>
              <a:blip r:embed="rId62">
                <a:extLst>
                  <a:ext uri="{96DAC541-7B7A-43D3-8B79-37D633B846F1}">
                    <asvg:svgBlip xmlns:asvg="http://schemas.microsoft.com/office/drawing/2016/SVG/main" r:embed="rId63"/>
                  </a:ext>
                </a:extLst>
              </a:blip>
              <a:stretch>
                <a:fillRect/>
              </a:stretch>
            </p:blipFill>
            <p:spPr>
              <a:xfrm>
                <a:off x="1869" y="2594"/>
                <a:ext cx="883" cy="883"/>
              </a:xfrm>
              <a:prstGeom prst="rect">
                <a:avLst/>
              </a:prstGeom>
            </p:spPr>
          </p:pic>
          <p:sp>
            <p:nvSpPr>
              <p:cNvPr id="260" name="文本框 259"/>
              <p:cNvSpPr txBox="1"/>
              <p:nvPr/>
            </p:nvSpPr>
            <p:spPr>
              <a:xfrm>
                <a:off x="1499" y="3345"/>
                <a:ext cx="1624" cy="365"/>
              </a:xfrm>
              <a:prstGeom prst="rect">
                <a:avLst/>
              </a:prstGeom>
              <a:noFill/>
            </p:spPr>
            <p:txBody>
              <a:bodyPr wrap="square">
                <a:noAutofit/>
              </a:bodyPr>
              <a:lstStyle/>
              <a:p>
                <a:pPr algn="ctr"/>
                <a:r>
                  <a:rPr lang="en-US" altLang="zh-CN" sz="800" b="1" dirty="0">
                    <a:solidFill>
                      <a:srgbClr val="184199"/>
                    </a:solidFill>
                    <a:latin typeface="微软雅黑" panose="020B0503020204020204" charset="-122"/>
                    <a:ea typeface="微软雅黑" panose="020B0503020204020204" charset="-122"/>
                  </a:rPr>
                  <a:t>AI</a:t>
                </a:r>
                <a:r>
                  <a:rPr lang="zh-CN" altLang="en-US" sz="800" b="1" dirty="0">
                    <a:solidFill>
                      <a:srgbClr val="184199"/>
                    </a:solidFill>
                    <a:latin typeface="微软雅黑" panose="020B0503020204020204" charset="-122"/>
                    <a:ea typeface="微软雅黑" panose="020B0503020204020204" charset="-122"/>
                  </a:rPr>
                  <a:t>智能检测引擎</a:t>
                </a:r>
                <a:endParaRPr lang="zh-CN" altLang="en-US" sz="800" b="1" dirty="0">
                  <a:solidFill>
                    <a:srgbClr val="184199"/>
                  </a:solidFill>
                  <a:latin typeface="微软雅黑" panose="020B0503020204020204" charset="-122"/>
                  <a:ea typeface="微软雅黑" panose="020B0503020204020204" charset="-122"/>
                </a:endParaRPr>
              </a:p>
            </p:txBody>
          </p:sp>
        </p:grpSp>
        <p:sp>
          <p:nvSpPr>
            <p:cNvPr id="261" name="shield-user-interface-symbol-for-security_47744"/>
            <p:cNvSpPr>
              <a:spLocks noChangeAspect="1"/>
            </p:cNvSpPr>
            <p:nvPr/>
          </p:nvSpPr>
          <p:spPr>
            <a:xfrm>
              <a:off x="4776" y="2550"/>
              <a:ext cx="500" cy="525"/>
            </a:xfrm>
            <a:custGeom>
              <a:avLst/>
              <a:gdLst>
                <a:gd name="T0" fmla="*/ 3246 w 7943"/>
                <a:gd name="T1" fmla="*/ 3842 h 8160"/>
                <a:gd name="T2" fmla="*/ 5168 w 7943"/>
                <a:gd name="T3" fmla="*/ 1921 h 8160"/>
                <a:gd name="T4" fmla="*/ 3246 w 7943"/>
                <a:gd name="T5" fmla="*/ 0 h 8160"/>
                <a:gd name="T6" fmla="*/ 1325 w 7943"/>
                <a:gd name="T7" fmla="*/ 1921 h 8160"/>
                <a:gd name="T8" fmla="*/ 3246 w 7943"/>
                <a:gd name="T9" fmla="*/ 3842 h 8160"/>
                <a:gd name="T10" fmla="*/ 4144 w 7943"/>
                <a:gd name="T11" fmla="*/ 2685 h 8160"/>
                <a:gd name="T12" fmla="*/ 3234 w 7943"/>
                <a:gd name="T13" fmla="*/ 3191 h 8160"/>
                <a:gd name="T14" fmla="*/ 2323 w 7943"/>
                <a:gd name="T15" fmla="*/ 2685 h 8160"/>
                <a:gd name="T16" fmla="*/ 4144 w 7943"/>
                <a:gd name="T17" fmla="*/ 2685 h 8160"/>
                <a:gd name="T18" fmla="*/ 7939 w 7943"/>
                <a:gd name="T19" fmla="*/ 5684 h 8160"/>
                <a:gd name="T20" fmla="*/ 6355 w 7943"/>
                <a:gd name="T21" fmla="*/ 8160 h 8160"/>
                <a:gd name="T22" fmla="*/ 4770 w 7943"/>
                <a:gd name="T23" fmla="*/ 5684 h 8160"/>
                <a:gd name="T24" fmla="*/ 4929 w 7943"/>
                <a:gd name="T25" fmla="*/ 5527 h 8160"/>
                <a:gd name="T26" fmla="*/ 6261 w 7943"/>
                <a:gd name="T27" fmla="*/ 5067 h 8160"/>
                <a:gd name="T28" fmla="*/ 6449 w 7943"/>
                <a:gd name="T29" fmla="*/ 5067 h 8160"/>
                <a:gd name="T30" fmla="*/ 7781 w 7943"/>
                <a:gd name="T31" fmla="*/ 5527 h 8160"/>
                <a:gd name="T32" fmla="*/ 7939 w 7943"/>
                <a:gd name="T33" fmla="*/ 5684 h 8160"/>
                <a:gd name="T34" fmla="*/ 4439 w 7943"/>
                <a:gd name="T35" fmla="*/ 5696 h 8160"/>
                <a:gd name="T36" fmla="*/ 4731 w 7943"/>
                <a:gd name="T37" fmla="*/ 7078 h 8160"/>
                <a:gd name="T38" fmla="*/ 3246 w 7943"/>
                <a:gd name="T39" fmla="*/ 7155 h 8160"/>
                <a:gd name="T40" fmla="*/ 155 w 7943"/>
                <a:gd name="T41" fmla="*/ 6704 h 8160"/>
                <a:gd name="T42" fmla="*/ 0 w 7943"/>
                <a:gd name="T43" fmla="*/ 6463 h 8160"/>
                <a:gd name="T44" fmla="*/ 0 w 7943"/>
                <a:gd name="T45" fmla="*/ 5830 h 8160"/>
                <a:gd name="T46" fmla="*/ 1645 w 7943"/>
                <a:gd name="T47" fmla="*/ 3988 h 8160"/>
                <a:gd name="T48" fmla="*/ 1737 w 7943"/>
                <a:gd name="T49" fmla="*/ 4013 h 8160"/>
                <a:gd name="T50" fmla="*/ 3246 w 7943"/>
                <a:gd name="T51" fmla="*/ 4505 h 8160"/>
                <a:gd name="T52" fmla="*/ 4756 w 7943"/>
                <a:gd name="T53" fmla="*/ 4013 h 8160"/>
                <a:gd name="T54" fmla="*/ 4848 w 7943"/>
                <a:gd name="T55" fmla="*/ 3988 h 8160"/>
                <a:gd name="T56" fmla="*/ 6143 w 7943"/>
                <a:gd name="T57" fmla="*/ 4753 h 8160"/>
                <a:gd name="T58" fmla="*/ 6050 w 7943"/>
                <a:gd name="T59" fmla="*/ 4811 h 8160"/>
                <a:gd name="T60" fmla="*/ 5017 w 7943"/>
                <a:gd name="T61" fmla="*/ 5198 h 8160"/>
                <a:gd name="T62" fmla="*/ 4943 w 7943"/>
                <a:gd name="T63" fmla="*/ 5196 h 8160"/>
                <a:gd name="T64" fmla="*/ 4922 w 7943"/>
                <a:gd name="T65" fmla="*/ 5195 h 8160"/>
                <a:gd name="T66" fmla="*/ 4574 w 7943"/>
                <a:gd name="T67" fmla="*/ 5343 h 8160"/>
                <a:gd name="T68" fmla="*/ 4439 w 7943"/>
                <a:gd name="T69" fmla="*/ 5696 h 8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943" h="8160">
                  <a:moveTo>
                    <a:pt x="3246" y="3842"/>
                  </a:moveTo>
                  <a:cubicBezTo>
                    <a:pt x="4307" y="3842"/>
                    <a:pt x="5168" y="2982"/>
                    <a:pt x="5168" y="1921"/>
                  </a:cubicBezTo>
                  <a:cubicBezTo>
                    <a:pt x="5168" y="860"/>
                    <a:pt x="4307" y="0"/>
                    <a:pt x="3246" y="0"/>
                  </a:cubicBezTo>
                  <a:cubicBezTo>
                    <a:pt x="2185" y="0"/>
                    <a:pt x="1325" y="860"/>
                    <a:pt x="1325" y="1921"/>
                  </a:cubicBezTo>
                  <a:cubicBezTo>
                    <a:pt x="1325" y="2982"/>
                    <a:pt x="2185" y="3842"/>
                    <a:pt x="3246" y="3842"/>
                  </a:cubicBezTo>
                  <a:close/>
                  <a:moveTo>
                    <a:pt x="4144" y="2685"/>
                  </a:moveTo>
                  <a:cubicBezTo>
                    <a:pt x="4057" y="2974"/>
                    <a:pt x="3683" y="3191"/>
                    <a:pt x="3234" y="3191"/>
                  </a:cubicBezTo>
                  <a:cubicBezTo>
                    <a:pt x="2785" y="3191"/>
                    <a:pt x="2411" y="2974"/>
                    <a:pt x="2323" y="2685"/>
                  </a:cubicBezTo>
                  <a:lnTo>
                    <a:pt x="4144" y="2685"/>
                  </a:lnTo>
                  <a:close/>
                  <a:moveTo>
                    <a:pt x="7939" y="5684"/>
                  </a:moveTo>
                  <a:cubicBezTo>
                    <a:pt x="7898" y="6822"/>
                    <a:pt x="7435" y="7800"/>
                    <a:pt x="6355" y="8160"/>
                  </a:cubicBezTo>
                  <a:cubicBezTo>
                    <a:pt x="5274" y="7800"/>
                    <a:pt x="4811" y="6822"/>
                    <a:pt x="4770" y="5684"/>
                  </a:cubicBezTo>
                  <a:cubicBezTo>
                    <a:pt x="4767" y="5595"/>
                    <a:pt x="4840" y="5523"/>
                    <a:pt x="4929" y="5527"/>
                  </a:cubicBezTo>
                  <a:cubicBezTo>
                    <a:pt x="5434" y="5548"/>
                    <a:pt x="5875" y="5386"/>
                    <a:pt x="6261" y="5067"/>
                  </a:cubicBezTo>
                  <a:cubicBezTo>
                    <a:pt x="6315" y="5022"/>
                    <a:pt x="6395" y="5022"/>
                    <a:pt x="6449" y="5067"/>
                  </a:cubicBezTo>
                  <a:cubicBezTo>
                    <a:pt x="6835" y="5386"/>
                    <a:pt x="7276" y="5548"/>
                    <a:pt x="7781" y="5527"/>
                  </a:cubicBezTo>
                  <a:cubicBezTo>
                    <a:pt x="7869" y="5523"/>
                    <a:pt x="7943" y="5595"/>
                    <a:pt x="7939" y="5684"/>
                  </a:cubicBezTo>
                  <a:close/>
                  <a:moveTo>
                    <a:pt x="4439" y="5696"/>
                  </a:moveTo>
                  <a:cubicBezTo>
                    <a:pt x="4458" y="6218"/>
                    <a:pt x="4558" y="6682"/>
                    <a:pt x="4731" y="7078"/>
                  </a:cubicBezTo>
                  <a:cubicBezTo>
                    <a:pt x="4323" y="7124"/>
                    <a:pt x="3832" y="7155"/>
                    <a:pt x="3246" y="7155"/>
                  </a:cubicBezTo>
                  <a:cubicBezTo>
                    <a:pt x="1394" y="7155"/>
                    <a:pt x="488" y="6852"/>
                    <a:pt x="155" y="6704"/>
                  </a:cubicBezTo>
                  <a:cubicBezTo>
                    <a:pt x="70" y="6666"/>
                    <a:pt x="0" y="6557"/>
                    <a:pt x="0" y="6463"/>
                  </a:cubicBezTo>
                  <a:lnTo>
                    <a:pt x="0" y="5830"/>
                  </a:lnTo>
                  <a:cubicBezTo>
                    <a:pt x="0" y="4881"/>
                    <a:pt x="723" y="4093"/>
                    <a:pt x="1645" y="3988"/>
                  </a:cubicBezTo>
                  <a:cubicBezTo>
                    <a:pt x="1673" y="3985"/>
                    <a:pt x="1714" y="3997"/>
                    <a:pt x="1737" y="4013"/>
                  </a:cubicBezTo>
                  <a:cubicBezTo>
                    <a:pt x="2162" y="4321"/>
                    <a:pt x="2683" y="4505"/>
                    <a:pt x="3246" y="4505"/>
                  </a:cubicBezTo>
                  <a:cubicBezTo>
                    <a:pt x="3810" y="4505"/>
                    <a:pt x="4331" y="4321"/>
                    <a:pt x="4756" y="4013"/>
                  </a:cubicBezTo>
                  <a:cubicBezTo>
                    <a:pt x="4778" y="3997"/>
                    <a:pt x="4820" y="3985"/>
                    <a:pt x="4848" y="3988"/>
                  </a:cubicBezTo>
                  <a:cubicBezTo>
                    <a:pt x="5380" y="4049"/>
                    <a:pt x="5845" y="4338"/>
                    <a:pt x="6143" y="4753"/>
                  </a:cubicBezTo>
                  <a:cubicBezTo>
                    <a:pt x="6110" y="4769"/>
                    <a:pt x="6078" y="4788"/>
                    <a:pt x="6050" y="4811"/>
                  </a:cubicBezTo>
                  <a:cubicBezTo>
                    <a:pt x="5735" y="5071"/>
                    <a:pt x="5398" y="5198"/>
                    <a:pt x="5017" y="5198"/>
                  </a:cubicBezTo>
                  <a:cubicBezTo>
                    <a:pt x="4993" y="5198"/>
                    <a:pt x="4968" y="5197"/>
                    <a:pt x="4943" y="5196"/>
                  </a:cubicBezTo>
                  <a:lnTo>
                    <a:pt x="4922" y="5195"/>
                  </a:lnTo>
                  <a:cubicBezTo>
                    <a:pt x="4792" y="5195"/>
                    <a:pt x="4665" y="5249"/>
                    <a:pt x="4574" y="5343"/>
                  </a:cubicBezTo>
                  <a:cubicBezTo>
                    <a:pt x="4484" y="5437"/>
                    <a:pt x="4434" y="5566"/>
                    <a:pt x="4439" y="569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62" name="文本框 261"/>
            <p:cNvSpPr txBox="1"/>
            <p:nvPr/>
          </p:nvSpPr>
          <p:spPr>
            <a:xfrm>
              <a:off x="4425" y="3041"/>
              <a:ext cx="1201" cy="337"/>
            </a:xfrm>
            <a:prstGeom prst="rect">
              <a:avLst/>
            </a:prstGeom>
            <a:noFill/>
          </p:spPr>
          <p:txBody>
            <a:bodyPr wrap="square">
              <a:spAutoFit/>
            </a:bodyPr>
            <a:lstStyle/>
            <a:p>
              <a:r>
                <a:rPr lang="zh-CN" altLang="en-US" sz="800" b="1" dirty="0">
                  <a:solidFill>
                    <a:srgbClr val="4472C4">
                      <a:lumMod val="75000"/>
                    </a:srgbClr>
                  </a:solidFill>
                  <a:latin typeface="微软雅黑" panose="020B0503020204020204" charset="-122"/>
                  <a:ea typeface="微软雅黑" panose="020B0503020204020204" charset="-122"/>
                </a:rPr>
                <a:t>专家对抗</a:t>
              </a:r>
              <a:endParaRPr lang="zh-CN" altLang="en-US" sz="800" b="1" dirty="0">
                <a:solidFill>
                  <a:srgbClr val="4472C4">
                    <a:lumMod val="75000"/>
                  </a:srgbClr>
                </a:solidFill>
                <a:latin typeface="微软雅黑" panose="020B0503020204020204" charset="-122"/>
                <a:ea typeface="微软雅黑" panose="020B0503020204020204" charset="-122"/>
              </a:endParaRPr>
            </a:p>
          </p:txBody>
        </p:sp>
        <p:grpSp>
          <p:nvGrpSpPr>
            <p:cNvPr id="263" name="组 10"/>
            <p:cNvGrpSpPr/>
            <p:nvPr/>
          </p:nvGrpSpPr>
          <p:grpSpPr>
            <a:xfrm rot="0">
              <a:off x="3518" y="1735"/>
              <a:ext cx="1842" cy="716"/>
              <a:chOff x="1912344" y="2460387"/>
              <a:chExt cx="4101733" cy="2816522"/>
            </a:xfrm>
          </p:grpSpPr>
          <p:sp>
            <p:nvSpPr>
              <p:cNvPr id="264" name="任意形状 61"/>
              <p:cNvSpPr/>
              <p:nvPr/>
            </p:nvSpPr>
            <p:spPr>
              <a:xfrm>
                <a:off x="1912344" y="2460387"/>
                <a:ext cx="4101733" cy="2816522"/>
              </a:xfrm>
              <a:custGeom>
                <a:avLst/>
                <a:gdLst>
                  <a:gd name="connsiteX0" fmla="*/ 2206623 w 4101733"/>
                  <a:gd name="connsiteY0" fmla="*/ 0 h 2816522"/>
                  <a:gd name="connsiteX1" fmla="*/ 3442163 w 4101733"/>
                  <a:gd name="connsiteY1" fmla="*/ 735363 h 2816522"/>
                  <a:gd name="connsiteX2" fmla="*/ 3474201 w 4101733"/>
                  <a:gd name="connsiteY2" fmla="*/ 801869 h 2816522"/>
                  <a:gd name="connsiteX3" fmla="*/ 3551004 w 4101733"/>
                  <a:gd name="connsiteY3" fmla="*/ 838867 h 2816522"/>
                  <a:gd name="connsiteX4" fmla="*/ 4101733 w 4101733"/>
                  <a:gd name="connsiteY4" fmla="*/ 1764189 h 2816522"/>
                  <a:gd name="connsiteX5" fmla="*/ 3049399 w 4101733"/>
                  <a:gd name="connsiteY5" fmla="*/ 2816522 h 2816522"/>
                  <a:gd name="connsiteX6" fmla="*/ 2736467 w 4101733"/>
                  <a:gd name="connsiteY6" fmla="*/ 2769211 h 2816522"/>
                  <a:gd name="connsiteX7" fmla="*/ 2650250 w 4101733"/>
                  <a:gd name="connsiteY7" fmla="*/ 2737655 h 2816522"/>
                  <a:gd name="connsiteX8" fmla="*/ 2624467 w 4101733"/>
                  <a:gd name="connsiteY8" fmla="*/ 2747092 h 2816522"/>
                  <a:gd name="connsiteX9" fmla="*/ 2206623 w 4101733"/>
                  <a:gd name="connsiteY9" fmla="*/ 2810264 h 2816522"/>
                  <a:gd name="connsiteX10" fmla="*/ 1788780 w 4101733"/>
                  <a:gd name="connsiteY10" fmla="*/ 2747092 h 2816522"/>
                  <a:gd name="connsiteX11" fmla="*/ 1694619 w 4101733"/>
                  <a:gd name="connsiteY11" fmla="*/ 2712629 h 2816522"/>
                  <a:gd name="connsiteX12" fmla="*/ 1644417 w 4101733"/>
                  <a:gd name="connsiteY12" fmla="*/ 2739878 h 2816522"/>
                  <a:gd name="connsiteX13" fmla="*/ 1424889 w 4101733"/>
                  <a:gd name="connsiteY13" fmla="*/ 2784198 h 2816522"/>
                  <a:gd name="connsiteX14" fmla="*/ 1311227 w 4101733"/>
                  <a:gd name="connsiteY14" fmla="*/ 2772740 h 2816522"/>
                  <a:gd name="connsiteX15" fmla="*/ 1221929 w 4101733"/>
                  <a:gd name="connsiteY15" fmla="*/ 2745021 h 2816522"/>
                  <a:gd name="connsiteX16" fmla="*/ 1217032 w 4101733"/>
                  <a:gd name="connsiteY16" fmla="*/ 2747679 h 2816522"/>
                  <a:gd name="connsiteX17" fmla="*/ 876038 w 4101733"/>
                  <a:gd name="connsiteY17" fmla="*/ 2816522 h 2816522"/>
                  <a:gd name="connsiteX18" fmla="*/ 0 w 4101733"/>
                  <a:gd name="connsiteY18" fmla="*/ 1940485 h 2816522"/>
                  <a:gd name="connsiteX19" fmla="*/ 343498 w 4101733"/>
                  <a:gd name="connsiteY19" fmla="*/ 1244841 h 2816522"/>
                  <a:gd name="connsiteX20" fmla="*/ 464644 w 4101733"/>
                  <a:gd name="connsiteY20" fmla="*/ 1168238 h 2816522"/>
                  <a:gd name="connsiteX21" fmla="*/ 463079 w 4101733"/>
                  <a:gd name="connsiteY21" fmla="*/ 1163194 h 2816522"/>
                  <a:gd name="connsiteX22" fmla="*/ 453124 w 4101733"/>
                  <a:gd name="connsiteY22" fmla="*/ 1064447 h 2816522"/>
                  <a:gd name="connsiteX23" fmla="*/ 943103 w 4101733"/>
                  <a:gd name="connsiteY23" fmla="*/ 574469 h 2816522"/>
                  <a:gd name="connsiteX24" fmla="*/ 1041851 w 4101733"/>
                  <a:gd name="connsiteY24" fmla="*/ 584424 h 2816522"/>
                  <a:gd name="connsiteX25" fmla="*/ 1061682 w 4101733"/>
                  <a:gd name="connsiteY25" fmla="*/ 590579 h 2816522"/>
                  <a:gd name="connsiteX26" fmla="*/ 1201197 w 4101733"/>
                  <a:gd name="connsiteY26" fmla="*/ 423544 h 2816522"/>
                  <a:gd name="connsiteX27" fmla="*/ 2206623 w 4101733"/>
                  <a:gd name="connsiteY27" fmla="*/ 0 h 2816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101733" h="2816522">
                    <a:moveTo>
                      <a:pt x="2206623" y="0"/>
                    </a:moveTo>
                    <a:cubicBezTo>
                      <a:pt x="2740146" y="0"/>
                      <a:pt x="3204219" y="297347"/>
                      <a:pt x="3442163" y="735363"/>
                    </a:cubicBezTo>
                    <a:lnTo>
                      <a:pt x="3474201" y="801869"/>
                    </a:lnTo>
                    <a:lnTo>
                      <a:pt x="3551004" y="838867"/>
                    </a:lnTo>
                    <a:cubicBezTo>
                      <a:pt x="3879043" y="1017068"/>
                      <a:pt x="4101733" y="1364623"/>
                      <a:pt x="4101733" y="1764189"/>
                    </a:cubicBezTo>
                    <a:cubicBezTo>
                      <a:pt x="4101733" y="2345376"/>
                      <a:pt x="3630587" y="2816522"/>
                      <a:pt x="3049399" y="2816522"/>
                    </a:cubicBezTo>
                    <a:cubicBezTo>
                      <a:pt x="2940427" y="2816522"/>
                      <a:pt x="2835322" y="2799959"/>
                      <a:pt x="2736467" y="2769211"/>
                    </a:cubicBezTo>
                    <a:lnTo>
                      <a:pt x="2650250" y="2737655"/>
                    </a:lnTo>
                    <a:lnTo>
                      <a:pt x="2624467" y="2747092"/>
                    </a:lnTo>
                    <a:cubicBezTo>
                      <a:pt x="2492470" y="2788147"/>
                      <a:pt x="2352129" y="2810264"/>
                      <a:pt x="2206623" y="2810264"/>
                    </a:cubicBezTo>
                    <a:cubicBezTo>
                      <a:pt x="2061117" y="2810264"/>
                      <a:pt x="1920776" y="2788147"/>
                      <a:pt x="1788780" y="2747092"/>
                    </a:cubicBezTo>
                    <a:lnTo>
                      <a:pt x="1694619" y="2712629"/>
                    </a:lnTo>
                    <a:lnTo>
                      <a:pt x="1644417" y="2739878"/>
                    </a:lnTo>
                    <a:cubicBezTo>
                      <a:pt x="1576943" y="2768417"/>
                      <a:pt x="1502759" y="2784198"/>
                      <a:pt x="1424889" y="2784198"/>
                    </a:cubicBezTo>
                    <a:cubicBezTo>
                      <a:pt x="1385954" y="2784198"/>
                      <a:pt x="1347941" y="2780253"/>
                      <a:pt x="1311227" y="2772740"/>
                    </a:cubicBezTo>
                    <a:lnTo>
                      <a:pt x="1221929" y="2745021"/>
                    </a:lnTo>
                    <a:lnTo>
                      <a:pt x="1217032" y="2747679"/>
                    </a:lnTo>
                    <a:cubicBezTo>
                      <a:pt x="1112224" y="2792009"/>
                      <a:pt x="996994" y="2816522"/>
                      <a:pt x="876038" y="2816522"/>
                    </a:cubicBezTo>
                    <a:cubicBezTo>
                      <a:pt x="392216" y="2816522"/>
                      <a:pt x="0" y="2424307"/>
                      <a:pt x="0" y="1940485"/>
                    </a:cubicBezTo>
                    <a:cubicBezTo>
                      <a:pt x="0" y="1656996"/>
                      <a:pt x="134657" y="1404957"/>
                      <a:pt x="343498" y="1244841"/>
                    </a:cubicBezTo>
                    <a:lnTo>
                      <a:pt x="464644" y="1168238"/>
                    </a:lnTo>
                    <a:lnTo>
                      <a:pt x="463079" y="1163194"/>
                    </a:lnTo>
                    <a:cubicBezTo>
                      <a:pt x="456552" y="1131298"/>
                      <a:pt x="453124" y="1098273"/>
                      <a:pt x="453124" y="1064447"/>
                    </a:cubicBezTo>
                    <a:cubicBezTo>
                      <a:pt x="453124" y="793840"/>
                      <a:pt x="672495" y="574469"/>
                      <a:pt x="943103" y="574469"/>
                    </a:cubicBezTo>
                    <a:cubicBezTo>
                      <a:pt x="976929" y="574469"/>
                      <a:pt x="1009955" y="577897"/>
                      <a:pt x="1041851" y="584424"/>
                    </a:cubicBezTo>
                    <a:lnTo>
                      <a:pt x="1061682" y="590579"/>
                    </a:lnTo>
                    <a:lnTo>
                      <a:pt x="1201197" y="423544"/>
                    </a:lnTo>
                    <a:cubicBezTo>
                      <a:pt x="1456355" y="162228"/>
                      <a:pt x="1812544" y="0"/>
                      <a:pt x="2206623" y="0"/>
                    </a:cubicBezTo>
                    <a:close/>
                  </a:path>
                </a:pathLst>
              </a:custGeom>
              <a:solidFill>
                <a:schemeClr val="bg1">
                  <a:alpha val="15000"/>
                </a:schemeClr>
              </a:solidFill>
              <a:ln w="38100">
                <a:gradFill>
                  <a:gsLst>
                    <a:gs pos="0">
                      <a:srgbClr val="00539F"/>
                    </a:gs>
                    <a:gs pos="100000">
                      <a:srgbClr val="7AC141"/>
                    </a:gs>
                  </a:gsLst>
                  <a:lin ang="3600000" scaled="0"/>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900" dirty="0">
                  <a:solidFill>
                    <a:schemeClr val="tx1"/>
                  </a:solidFill>
                </a:endParaRPr>
              </a:p>
            </p:txBody>
          </p:sp>
          <p:sp>
            <p:nvSpPr>
              <p:cNvPr id="265" name="任意形状 63"/>
              <p:cNvSpPr/>
              <p:nvPr/>
            </p:nvSpPr>
            <p:spPr>
              <a:xfrm>
                <a:off x="2161500" y="2631473"/>
                <a:ext cx="3603420" cy="2474348"/>
              </a:xfrm>
              <a:custGeom>
                <a:avLst/>
                <a:gdLst>
                  <a:gd name="connsiteX0" fmla="*/ 2206623 w 4101733"/>
                  <a:gd name="connsiteY0" fmla="*/ 0 h 2816522"/>
                  <a:gd name="connsiteX1" fmla="*/ 3442163 w 4101733"/>
                  <a:gd name="connsiteY1" fmla="*/ 735363 h 2816522"/>
                  <a:gd name="connsiteX2" fmla="*/ 3474201 w 4101733"/>
                  <a:gd name="connsiteY2" fmla="*/ 801869 h 2816522"/>
                  <a:gd name="connsiteX3" fmla="*/ 3551004 w 4101733"/>
                  <a:gd name="connsiteY3" fmla="*/ 838867 h 2816522"/>
                  <a:gd name="connsiteX4" fmla="*/ 4101733 w 4101733"/>
                  <a:gd name="connsiteY4" fmla="*/ 1764189 h 2816522"/>
                  <a:gd name="connsiteX5" fmla="*/ 3049399 w 4101733"/>
                  <a:gd name="connsiteY5" fmla="*/ 2816522 h 2816522"/>
                  <a:gd name="connsiteX6" fmla="*/ 2736467 w 4101733"/>
                  <a:gd name="connsiteY6" fmla="*/ 2769211 h 2816522"/>
                  <a:gd name="connsiteX7" fmla="*/ 2650250 w 4101733"/>
                  <a:gd name="connsiteY7" fmla="*/ 2737655 h 2816522"/>
                  <a:gd name="connsiteX8" fmla="*/ 2624467 w 4101733"/>
                  <a:gd name="connsiteY8" fmla="*/ 2747092 h 2816522"/>
                  <a:gd name="connsiteX9" fmla="*/ 2206623 w 4101733"/>
                  <a:gd name="connsiteY9" fmla="*/ 2810264 h 2816522"/>
                  <a:gd name="connsiteX10" fmla="*/ 1788780 w 4101733"/>
                  <a:gd name="connsiteY10" fmla="*/ 2747092 h 2816522"/>
                  <a:gd name="connsiteX11" fmla="*/ 1694619 w 4101733"/>
                  <a:gd name="connsiteY11" fmla="*/ 2712629 h 2816522"/>
                  <a:gd name="connsiteX12" fmla="*/ 1644417 w 4101733"/>
                  <a:gd name="connsiteY12" fmla="*/ 2739878 h 2816522"/>
                  <a:gd name="connsiteX13" fmla="*/ 1424889 w 4101733"/>
                  <a:gd name="connsiteY13" fmla="*/ 2784198 h 2816522"/>
                  <a:gd name="connsiteX14" fmla="*/ 1311227 w 4101733"/>
                  <a:gd name="connsiteY14" fmla="*/ 2772740 h 2816522"/>
                  <a:gd name="connsiteX15" fmla="*/ 1221929 w 4101733"/>
                  <a:gd name="connsiteY15" fmla="*/ 2745021 h 2816522"/>
                  <a:gd name="connsiteX16" fmla="*/ 1217032 w 4101733"/>
                  <a:gd name="connsiteY16" fmla="*/ 2747679 h 2816522"/>
                  <a:gd name="connsiteX17" fmla="*/ 876038 w 4101733"/>
                  <a:gd name="connsiteY17" fmla="*/ 2816522 h 2816522"/>
                  <a:gd name="connsiteX18" fmla="*/ 0 w 4101733"/>
                  <a:gd name="connsiteY18" fmla="*/ 1940485 h 2816522"/>
                  <a:gd name="connsiteX19" fmla="*/ 343498 w 4101733"/>
                  <a:gd name="connsiteY19" fmla="*/ 1244841 h 2816522"/>
                  <a:gd name="connsiteX20" fmla="*/ 464644 w 4101733"/>
                  <a:gd name="connsiteY20" fmla="*/ 1168238 h 2816522"/>
                  <a:gd name="connsiteX21" fmla="*/ 463079 w 4101733"/>
                  <a:gd name="connsiteY21" fmla="*/ 1163194 h 2816522"/>
                  <a:gd name="connsiteX22" fmla="*/ 453124 w 4101733"/>
                  <a:gd name="connsiteY22" fmla="*/ 1064447 h 2816522"/>
                  <a:gd name="connsiteX23" fmla="*/ 943103 w 4101733"/>
                  <a:gd name="connsiteY23" fmla="*/ 574469 h 2816522"/>
                  <a:gd name="connsiteX24" fmla="*/ 1041851 w 4101733"/>
                  <a:gd name="connsiteY24" fmla="*/ 584424 h 2816522"/>
                  <a:gd name="connsiteX25" fmla="*/ 1061682 w 4101733"/>
                  <a:gd name="connsiteY25" fmla="*/ 590579 h 2816522"/>
                  <a:gd name="connsiteX26" fmla="*/ 1201197 w 4101733"/>
                  <a:gd name="connsiteY26" fmla="*/ 423544 h 2816522"/>
                  <a:gd name="connsiteX27" fmla="*/ 2206623 w 4101733"/>
                  <a:gd name="connsiteY27" fmla="*/ 0 h 2816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101733" h="2816522">
                    <a:moveTo>
                      <a:pt x="2206623" y="0"/>
                    </a:moveTo>
                    <a:cubicBezTo>
                      <a:pt x="2740146" y="0"/>
                      <a:pt x="3204219" y="297347"/>
                      <a:pt x="3442163" y="735363"/>
                    </a:cubicBezTo>
                    <a:lnTo>
                      <a:pt x="3474201" y="801869"/>
                    </a:lnTo>
                    <a:lnTo>
                      <a:pt x="3551004" y="838867"/>
                    </a:lnTo>
                    <a:cubicBezTo>
                      <a:pt x="3879043" y="1017068"/>
                      <a:pt x="4101733" y="1364623"/>
                      <a:pt x="4101733" y="1764189"/>
                    </a:cubicBezTo>
                    <a:cubicBezTo>
                      <a:pt x="4101733" y="2345376"/>
                      <a:pt x="3630587" y="2816522"/>
                      <a:pt x="3049399" y="2816522"/>
                    </a:cubicBezTo>
                    <a:cubicBezTo>
                      <a:pt x="2940427" y="2816522"/>
                      <a:pt x="2835322" y="2799959"/>
                      <a:pt x="2736467" y="2769211"/>
                    </a:cubicBezTo>
                    <a:lnTo>
                      <a:pt x="2650250" y="2737655"/>
                    </a:lnTo>
                    <a:lnTo>
                      <a:pt x="2624467" y="2747092"/>
                    </a:lnTo>
                    <a:cubicBezTo>
                      <a:pt x="2492470" y="2788147"/>
                      <a:pt x="2352129" y="2810264"/>
                      <a:pt x="2206623" y="2810264"/>
                    </a:cubicBezTo>
                    <a:cubicBezTo>
                      <a:pt x="2061117" y="2810264"/>
                      <a:pt x="1920776" y="2788147"/>
                      <a:pt x="1788780" y="2747092"/>
                    </a:cubicBezTo>
                    <a:lnTo>
                      <a:pt x="1694619" y="2712629"/>
                    </a:lnTo>
                    <a:lnTo>
                      <a:pt x="1644417" y="2739878"/>
                    </a:lnTo>
                    <a:cubicBezTo>
                      <a:pt x="1576943" y="2768417"/>
                      <a:pt x="1502759" y="2784198"/>
                      <a:pt x="1424889" y="2784198"/>
                    </a:cubicBezTo>
                    <a:cubicBezTo>
                      <a:pt x="1385954" y="2784198"/>
                      <a:pt x="1347941" y="2780253"/>
                      <a:pt x="1311227" y="2772740"/>
                    </a:cubicBezTo>
                    <a:lnTo>
                      <a:pt x="1221929" y="2745021"/>
                    </a:lnTo>
                    <a:lnTo>
                      <a:pt x="1217032" y="2747679"/>
                    </a:lnTo>
                    <a:cubicBezTo>
                      <a:pt x="1112224" y="2792009"/>
                      <a:pt x="996994" y="2816522"/>
                      <a:pt x="876038" y="2816522"/>
                    </a:cubicBezTo>
                    <a:cubicBezTo>
                      <a:pt x="392216" y="2816522"/>
                      <a:pt x="0" y="2424307"/>
                      <a:pt x="0" y="1940485"/>
                    </a:cubicBezTo>
                    <a:cubicBezTo>
                      <a:pt x="0" y="1656996"/>
                      <a:pt x="134657" y="1404957"/>
                      <a:pt x="343498" y="1244841"/>
                    </a:cubicBezTo>
                    <a:lnTo>
                      <a:pt x="464644" y="1168238"/>
                    </a:lnTo>
                    <a:lnTo>
                      <a:pt x="463079" y="1163194"/>
                    </a:lnTo>
                    <a:cubicBezTo>
                      <a:pt x="456552" y="1131298"/>
                      <a:pt x="453124" y="1098273"/>
                      <a:pt x="453124" y="1064447"/>
                    </a:cubicBezTo>
                    <a:cubicBezTo>
                      <a:pt x="453124" y="793840"/>
                      <a:pt x="672495" y="574469"/>
                      <a:pt x="943103" y="574469"/>
                    </a:cubicBezTo>
                    <a:cubicBezTo>
                      <a:pt x="976929" y="574469"/>
                      <a:pt x="1009955" y="577897"/>
                      <a:pt x="1041851" y="584424"/>
                    </a:cubicBezTo>
                    <a:lnTo>
                      <a:pt x="1061682" y="590579"/>
                    </a:lnTo>
                    <a:lnTo>
                      <a:pt x="1201197" y="423544"/>
                    </a:lnTo>
                    <a:cubicBezTo>
                      <a:pt x="1456355" y="162228"/>
                      <a:pt x="1812544" y="0"/>
                      <a:pt x="2206623" y="0"/>
                    </a:cubicBezTo>
                    <a:close/>
                  </a:path>
                </a:pathLst>
              </a:custGeom>
              <a:gradFill flip="none" rotWithShape="1">
                <a:gsLst>
                  <a:gs pos="0">
                    <a:srgbClr val="002A50"/>
                  </a:gs>
                  <a:gs pos="47000">
                    <a:srgbClr val="00539F"/>
                  </a:gs>
                  <a:gs pos="100000">
                    <a:srgbClr val="7AC141"/>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ea typeface="微软雅黑" panose="020B0503020204020204" charset="-122"/>
                </a:endParaRPr>
              </a:p>
            </p:txBody>
          </p:sp>
        </p:grpSp>
        <p:sp>
          <p:nvSpPr>
            <p:cNvPr id="266" name="矩形 52"/>
            <p:cNvSpPr>
              <a:spLocks noChangeArrowheads="1"/>
            </p:cNvSpPr>
            <p:nvPr/>
          </p:nvSpPr>
          <p:spPr bwMode="auto">
            <a:xfrm>
              <a:off x="3630" y="1880"/>
              <a:ext cx="1654" cy="51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9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sym typeface="微软雅黑" panose="020B0503020204020204" charset="-122"/>
                </a:rPr>
                <a:t>云化</a:t>
              </a:r>
              <a:r>
                <a:rPr kumimoji="0" lang="en-US" altLang="zh-CN" sz="9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sym typeface="微软雅黑" panose="020B0503020204020204" charset="-122"/>
                </a:rPr>
                <a:t>XDR</a:t>
              </a:r>
              <a:r>
                <a:rPr kumimoji="0" lang="zh-CN" altLang="en-US" sz="9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sym typeface="微软雅黑" panose="020B0503020204020204" charset="-122"/>
                </a:rPr>
                <a:t>平台</a:t>
              </a:r>
              <a:r>
                <a:rPr kumimoji="0" lang="en-US" altLang="zh-CN" sz="9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sym typeface="微软雅黑" panose="020B0503020204020204" charset="-122"/>
                </a:rPr>
                <a:t>+MSS</a:t>
              </a:r>
              <a:r>
                <a:rPr kumimoji="0" lang="zh-CN" altLang="en-US" sz="9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sym typeface="微软雅黑" panose="020B0503020204020204" charset="-122"/>
                </a:rPr>
                <a:t>服务</a:t>
              </a:r>
              <a:endParaRPr kumimoji="0" lang="zh-CN" altLang="en-US" sz="9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sym typeface="微软雅黑" panose="020B0503020204020204" charset="-122"/>
              </a:endParaRPr>
            </a:p>
          </p:txBody>
        </p:sp>
      </p:grpSp>
      <p:grpSp>
        <p:nvGrpSpPr>
          <p:cNvPr id="29" name="组合 28"/>
          <p:cNvGrpSpPr/>
          <p:nvPr/>
        </p:nvGrpSpPr>
        <p:grpSpPr>
          <a:xfrm>
            <a:off x="200660" y="4841240"/>
            <a:ext cx="1368425" cy="1695450"/>
            <a:chOff x="696" y="7623"/>
            <a:chExt cx="2155" cy="2670"/>
          </a:xfrm>
        </p:grpSpPr>
        <p:cxnSp>
          <p:nvCxnSpPr>
            <p:cNvPr id="635" name="直接连接符 634"/>
            <p:cNvCxnSpPr/>
            <p:nvPr>
              <p:custDataLst>
                <p:tags r:id="rId64"/>
              </p:custDataLst>
            </p:nvPr>
          </p:nvCxnSpPr>
          <p:spPr>
            <a:xfrm rot="16200000" flipH="1">
              <a:off x="1832" y="8657"/>
              <a:ext cx="333" cy="0"/>
            </a:xfrm>
            <a:prstGeom prst="line">
              <a:avLst/>
            </a:prstGeom>
            <a:noFill/>
            <a:ln w="25400" cap="flat" cmpd="sng" algn="ctr">
              <a:solidFill>
                <a:srgbClr val="184199"/>
              </a:solidFill>
              <a:prstDash val="solid"/>
              <a:miter lim="800000"/>
            </a:ln>
            <a:effectLst/>
          </p:spPr>
        </p:cxnSp>
        <p:cxnSp>
          <p:nvCxnSpPr>
            <p:cNvPr id="636" name="直接连接符 635"/>
            <p:cNvCxnSpPr/>
            <p:nvPr>
              <p:custDataLst>
                <p:tags r:id="rId65"/>
              </p:custDataLst>
            </p:nvPr>
          </p:nvCxnSpPr>
          <p:spPr>
            <a:xfrm rot="5400000">
              <a:off x="1903" y="8003"/>
              <a:ext cx="242" cy="2"/>
            </a:xfrm>
            <a:prstGeom prst="line">
              <a:avLst/>
            </a:prstGeom>
            <a:noFill/>
            <a:ln w="25400" cap="flat" cmpd="sng" algn="ctr">
              <a:solidFill>
                <a:srgbClr val="184199"/>
              </a:solidFill>
              <a:prstDash val="solid"/>
              <a:miter lim="800000"/>
            </a:ln>
            <a:effectLst/>
          </p:spPr>
        </p:cxnSp>
        <p:cxnSp>
          <p:nvCxnSpPr>
            <p:cNvPr id="637" name="直接连接符 636"/>
            <p:cNvCxnSpPr/>
            <p:nvPr>
              <p:custDataLst>
                <p:tags r:id="rId66"/>
              </p:custDataLst>
            </p:nvPr>
          </p:nvCxnSpPr>
          <p:spPr>
            <a:xfrm>
              <a:off x="1935" y="8334"/>
              <a:ext cx="716" cy="0"/>
            </a:xfrm>
            <a:prstGeom prst="line">
              <a:avLst/>
            </a:prstGeom>
            <a:noFill/>
            <a:ln w="12700" cap="flat" cmpd="sng" algn="ctr">
              <a:solidFill>
                <a:srgbClr val="184199"/>
              </a:solidFill>
              <a:prstDash val="dash"/>
              <a:miter lim="800000"/>
            </a:ln>
            <a:effectLst/>
          </p:spPr>
        </p:cxnSp>
        <p:cxnSp>
          <p:nvCxnSpPr>
            <p:cNvPr id="638" name="直接连接符 637"/>
            <p:cNvCxnSpPr/>
            <p:nvPr>
              <p:custDataLst>
                <p:tags r:id="rId67"/>
              </p:custDataLst>
            </p:nvPr>
          </p:nvCxnSpPr>
          <p:spPr>
            <a:xfrm>
              <a:off x="1935" y="8909"/>
              <a:ext cx="716" cy="0"/>
            </a:xfrm>
            <a:prstGeom prst="line">
              <a:avLst/>
            </a:prstGeom>
            <a:noFill/>
            <a:ln w="12700" cap="flat" cmpd="sng" algn="ctr">
              <a:solidFill>
                <a:srgbClr val="184199"/>
              </a:solidFill>
              <a:prstDash val="dash"/>
              <a:miter lim="800000"/>
            </a:ln>
            <a:effectLst/>
          </p:spPr>
        </p:cxnSp>
        <p:pic>
          <p:nvPicPr>
            <p:cNvPr id="639" name="图片 323"/>
            <p:cNvPicPr>
              <a:picLocks noChangeAspect="1"/>
            </p:cNvPicPr>
            <p:nvPr>
              <p:custDataLst>
                <p:tags r:id="rId68"/>
              </p:custDataLst>
            </p:nvPr>
          </p:nvPicPr>
          <p:blipFill>
            <a:blip r:embed="rId35" cstate="email"/>
            <a:srcRect/>
            <a:stretch>
              <a:fillRect/>
            </a:stretch>
          </p:blipFill>
          <p:spPr bwMode="auto">
            <a:xfrm>
              <a:off x="1788" y="8110"/>
              <a:ext cx="438" cy="382"/>
            </a:xfrm>
            <a:prstGeom prst="rect">
              <a:avLst/>
            </a:prstGeom>
            <a:noFill/>
            <a:ln w="9525">
              <a:noFill/>
              <a:miter lim="800000"/>
              <a:headEnd/>
              <a:tailEnd/>
            </a:ln>
          </p:spPr>
        </p:pic>
        <p:pic>
          <p:nvPicPr>
            <p:cNvPr id="640" name="图片 343"/>
            <p:cNvPicPr>
              <a:picLocks noChangeAspect="1"/>
            </p:cNvPicPr>
            <p:nvPr>
              <p:custDataLst>
                <p:tags r:id="rId69"/>
              </p:custDataLst>
            </p:nvPr>
          </p:nvPicPr>
          <p:blipFill>
            <a:blip r:embed="rId38" cstate="email"/>
            <a:srcRect/>
            <a:stretch>
              <a:fillRect/>
            </a:stretch>
          </p:blipFill>
          <p:spPr bwMode="auto">
            <a:xfrm>
              <a:off x="1819" y="8693"/>
              <a:ext cx="393" cy="348"/>
            </a:xfrm>
            <a:prstGeom prst="rect">
              <a:avLst/>
            </a:prstGeom>
            <a:noFill/>
            <a:ln w="9525">
              <a:noFill/>
              <a:miter lim="800000"/>
              <a:headEnd/>
              <a:tailEnd/>
            </a:ln>
          </p:spPr>
        </p:pic>
        <p:sp>
          <p:nvSpPr>
            <p:cNvPr id="641" name="圆角矩形 228"/>
            <p:cNvSpPr/>
            <p:nvPr>
              <p:custDataLst>
                <p:tags r:id="rId70"/>
              </p:custDataLst>
            </p:nvPr>
          </p:nvSpPr>
          <p:spPr>
            <a:xfrm>
              <a:off x="793" y="7809"/>
              <a:ext cx="2058" cy="2485"/>
            </a:xfrm>
            <a:prstGeom prst="roundRect">
              <a:avLst>
                <a:gd name="adj" fmla="val 4717"/>
              </a:avLst>
            </a:prstGeom>
            <a:solidFill>
              <a:schemeClr val="accent3">
                <a:lumMod val="20000"/>
                <a:lumOff val="80000"/>
              </a:schemeClr>
            </a:solidFill>
            <a:ln w="12700" cap="flat" cmpd="sng" algn="ctr">
              <a:noFill/>
              <a:prstDash val="solid"/>
              <a:miter lim="800000"/>
            </a:ln>
            <a:effectLst/>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642" name="直接连接符 641"/>
            <p:cNvCxnSpPr>
              <a:stCxn id="654" idx="2"/>
              <a:endCxn id="649" idx="0"/>
            </p:cNvCxnSpPr>
            <p:nvPr>
              <p:custDataLst>
                <p:tags r:id="rId71"/>
              </p:custDataLst>
            </p:nvPr>
          </p:nvCxnSpPr>
          <p:spPr>
            <a:xfrm flipH="1">
              <a:off x="1283" y="8660"/>
              <a:ext cx="10" cy="240"/>
            </a:xfrm>
            <a:prstGeom prst="line">
              <a:avLst/>
            </a:prstGeom>
            <a:noFill/>
            <a:ln w="25400" cap="flat" cmpd="sng" algn="ctr">
              <a:solidFill>
                <a:srgbClr val="184199"/>
              </a:solidFill>
              <a:prstDash val="solid"/>
              <a:miter lim="800000"/>
            </a:ln>
            <a:effectLst/>
          </p:spPr>
        </p:cxnSp>
        <p:cxnSp>
          <p:nvCxnSpPr>
            <p:cNvPr id="643" name="直接连接符 642"/>
            <p:cNvCxnSpPr>
              <a:stCxn id="655" idx="2"/>
              <a:endCxn id="650" idx="0"/>
            </p:cNvCxnSpPr>
            <p:nvPr>
              <p:custDataLst>
                <p:tags r:id="rId72"/>
              </p:custDataLst>
            </p:nvPr>
          </p:nvCxnSpPr>
          <p:spPr>
            <a:xfrm flipH="1">
              <a:off x="1847" y="8661"/>
              <a:ext cx="9" cy="219"/>
            </a:xfrm>
            <a:prstGeom prst="line">
              <a:avLst/>
            </a:prstGeom>
            <a:noFill/>
            <a:ln w="25400" cap="flat" cmpd="sng" algn="ctr">
              <a:solidFill>
                <a:srgbClr val="184199"/>
              </a:solidFill>
              <a:prstDash val="solid"/>
              <a:miter lim="800000"/>
            </a:ln>
            <a:effectLst/>
          </p:spPr>
        </p:cxnSp>
        <p:grpSp>
          <p:nvGrpSpPr>
            <p:cNvPr id="644" name="组合 643"/>
            <p:cNvGrpSpPr/>
            <p:nvPr/>
          </p:nvGrpSpPr>
          <p:grpSpPr>
            <a:xfrm rot="0">
              <a:off x="1499" y="7623"/>
              <a:ext cx="863" cy="376"/>
              <a:chOff x="2467936" y="2358207"/>
              <a:chExt cx="669925" cy="310515"/>
            </a:xfrm>
          </p:grpSpPr>
          <p:sp>
            <p:nvSpPr>
              <p:cNvPr id="645" name="任意形状 33"/>
              <p:cNvSpPr/>
              <p:nvPr>
                <p:custDataLst>
                  <p:tags r:id="rId73"/>
                </p:custDataLst>
              </p:nvPr>
            </p:nvSpPr>
            <p:spPr>
              <a:xfrm>
                <a:off x="2525086" y="2358207"/>
                <a:ext cx="546100" cy="310515"/>
              </a:xfrm>
              <a:custGeom>
                <a:avLst/>
                <a:gdLst>
                  <a:gd name="connsiteX0" fmla="*/ 2225150 w 3964603"/>
                  <a:gd name="connsiteY0" fmla="*/ 0 h 2369669"/>
                  <a:gd name="connsiteX1" fmla="*/ 3326336 w 3964603"/>
                  <a:gd name="connsiteY1" fmla="*/ 897492 h 2369669"/>
                  <a:gd name="connsiteX2" fmla="*/ 3342312 w 3964603"/>
                  <a:gd name="connsiteY2" fmla="*/ 1002169 h 2369669"/>
                  <a:gd name="connsiteX3" fmla="*/ 3416048 w 3964603"/>
                  <a:gd name="connsiteY3" fmla="*/ 1009602 h 2369669"/>
                  <a:gd name="connsiteX4" fmla="*/ 3964603 w 3964603"/>
                  <a:gd name="connsiteY4" fmla="*/ 1682657 h 2369669"/>
                  <a:gd name="connsiteX5" fmla="*/ 3277591 w 3964603"/>
                  <a:gd name="connsiteY5" fmla="*/ 2369669 h 2369669"/>
                  <a:gd name="connsiteX6" fmla="*/ 3265322 w 3964603"/>
                  <a:gd name="connsiteY6" fmla="*/ 2368432 h 2369669"/>
                  <a:gd name="connsiteX7" fmla="*/ 3265322 w 3964603"/>
                  <a:gd name="connsiteY7" fmla="*/ 2369669 h 2369669"/>
                  <a:gd name="connsiteX8" fmla="*/ 696120 w 3964603"/>
                  <a:gd name="connsiteY8" fmla="*/ 2369669 h 2369669"/>
                  <a:gd name="connsiteX9" fmla="*/ 696120 w 3964603"/>
                  <a:gd name="connsiteY9" fmla="*/ 2368751 h 2369669"/>
                  <a:gd name="connsiteX10" fmla="*/ 687012 w 3964603"/>
                  <a:gd name="connsiteY10" fmla="*/ 2369669 h 2369669"/>
                  <a:gd name="connsiteX11" fmla="*/ 0 w 3964603"/>
                  <a:gd name="connsiteY11" fmla="*/ 1682657 h 2369669"/>
                  <a:gd name="connsiteX12" fmla="*/ 419596 w 3964603"/>
                  <a:gd name="connsiteY12" fmla="*/ 1049634 h 2369669"/>
                  <a:gd name="connsiteX13" fmla="*/ 479586 w 3964603"/>
                  <a:gd name="connsiteY13" fmla="*/ 1031012 h 2369669"/>
                  <a:gd name="connsiteX14" fmla="*/ 480815 w 3964603"/>
                  <a:gd name="connsiteY14" fmla="*/ 1018815 h 2369669"/>
                  <a:gd name="connsiteX15" fmla="*/ 1118086 w 3964603"/>
                  <a:gd name="connsiteY15" fmla="*/ 499425 h 2369669"/>
                  <a:gd name="connsiteX16" fmla="*/ 1249182 w 3964603"/>
                  <a:gd name="connsiteY16" fmla="*/ 512640 h 2369669"/>
                  <a:gd name="connsiteX17" fmla="*/ 1277402 w 3964603"/>
                  <a:gd name="connsiteY17" fmla="*/ 521400 h 2369669"/>
                  <a:gd name="connsiteX18" fmla="*/ 1293094 w 3964603"/>
                  <a:gd name="connsiteY18" fmla="*/ 495571 h 2369669"/>
                  <a:gd name="connsiteX19" fmla="*/ 2225150 w 3964603"/>
                  <a:gd name="connsiteY19" fmla="*/ 0 h 2369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964603" h="2369669">
                    <a:moveTo>
                      <a:pt x="2225150" y="0"/>
                    </a:moveTo>
                    <a:cubicBezTo>
                      <a:pt x="2768333" y="0"/>
                      <a:pt x="3221525" y="385295"/>
                      <a:pt x="3326336" y="897492"/>
                    </a:cubicBezTo>
                    <a:lnTo>
                      <a:pt x="3342312" y="1002169"/>
                    </a:lnTo>
                    <a:lnTo>
                      <a:pt x="3416048" y="1009602"/>
                    </a:lnTo>
                    <a:cubicBezTo>
                      <a:pt x="3729108" y="1073664"/>
                      <a:pt x="3964603" y="1350659"/>
                      <a:pt x="3964603" y="1682657"/>
                    </a:cubicBezTo>
                    <a:cubicBezTo>
                      <a:pt x="3964603" y="2062083"/>
                      <a:pt x="3657017" y="2369669"/>
                      <a:pt x="3277591" y="2369669"/>
                    </a:cubicBezTo>
                    <a:lnTo>
                      <a:pt x="3265322" y="2368432"/>
                    </a:lnTo>
                    <a:lnTo>
                      <a:pt x="3265322" y="2369669"/>
                    </a:lnTo>
                    <a:lnTo>
                      <a:pt x="696120" y="2369669"/>
                    </a:lnTo>
                    <a:lnTo>
                      <a:pt x="696120" y="2368751"/>
                    </a:lnTo>
                    <a:lnTo>
                      <a:pt x="687012" y="2369669"/>
                    </a:lnTo>
                    <a:cubicBezTo>
                      <a:pt x="307586" y="2369669"/>
                      <a:pt x="0" y="2062083"/>
                      <a:pt x="0" y="1682657"/>
                    </a:cubicBezTo>
                    <a:cubicBezTo>
                      <a:pt x="0" y="1398087"/>
                      <a:pt x="173017" y="1153928"/>
                      <a:pt x="419596" y="1049634"/>
                    </a:cubicBezTo>
                    <a:lnTo>
                      <a:pt x="479586" y="1031012"/>
                    </a:lnTo>
                    <a:lnTo>
                      <a:pt x="480815" y="1018815"/>
                    </a:lnTo>
                    <a:cubicBezTo>
                      <a:pt x="541471" y="722400"/>
                      <a:pt x="803740" y="499425"/>
                      <a:pt x="1118086" y="499425"/>
                    </a:cubicBezTo>
                    <a:cubicBezTo>
                      <a:pt x="1162993" y="499425"/>
                      <a:pt x="1206837" y="503975"/>
                      <a:pt x="1249182" y="512640"/>
                    </a:cubicBezTo>
                    <a:lnTo>
                      <a:pt x="1277402" y="521400"/>
                    </a:lnTo>
                    <a:lnTo>
                      <a:pt x="1293094" y="495571"/>
                    </a:lnTo>
                    <a:cubicBezTo>
                      <a:pt x="1495089" y="196579"/>
                      <a:pt x="1837163" y="0"/>
                      <a:pt x="2225150" y="0"/>
                    </a:cubicBezTo>
                    <a:close/>
                  </a:path>
                </a:pathLst>
              </a:custGeom>
              <a:solidFill>
                <a:srgbClr val="0170C1"/>
              </a:solidFill>
              <a:ln w="12700" cap="flat" cmpd="sng" algn="ctr">
                <a:noFill/>
                <a:prstDash val="solid"/>
                <a:miter lim="800000"/>
              </a:ln>
              <a:effectLst/>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1" lang="zh-CN" altLang="en-US" sz="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46" name="矩形 242"/>
              <p:cNvSpPr>
                <a:spLocks noChangeArrowheads="1"/>
              </p:cNvSpPr>
              <p:nvPr>
                <p:custDataLst>
                  <p:tags r:id="rId74"/>
                </p:custDataLst>
              </p:nvPr>
            </p:nvSpPr>
            <p:spPr bwMode="auto">
              <a:xfrm>
                <a:off x="2467936" y="2456632"/>
                <a:ext cx="669925" cy="208937"/>
              </a:xfrm>
              <a:prstGeom prst="rect">
                <a:avLst/>
              </a:prstGeom>
              <a:noFill/>
              <a:ln w="9525">
                <a:noFill/>
                <a:miter lim="800000"/>
              </a:ln>
            </p:spPr>
            <p:txBody>
              <a:bodyPr wrap="square">
                <a:spAutoFit/>
              </a:bodyPr>
              <a:p>
                <a:pPr marL="228600" indent="-228600">
                  <a:lnSpc>
                    <a:spcPct val="90000"/>
                  </a:lnSpc>
                  <a:spcBef>
                    <a:spcPts val="1000"/>
                  </a:spcBef>
                </a:pPr>
                <a:r>
                  <a:rPr kumimoji="1" lang="en-US" altLang="zh-CN" sz="500">
                    <a:solidFill>
                      <a:prstClr val="white"/>
                    </a:solidFill>
                    <a:latin typeface="微软雅黑" panose="020B0503020204020204" charset="-122"/>
                    <a:ea typeface="微软雅黑" panose="020B0503020204020204" charset="-122"/>
                  </a:rPr>
                  <a:t>Internet</a:t>
                </a:r>
                <a:endParaRPr kumimoji="1" lang="zh-CN" altLang="en-US" sz="500">
                  <a:solidFill>
                    <a:prstClr val="white"/>
                  </a:solidFill>
                  <a:latin typeface="微软雅黑" panose="020B0503020204020204" charset="-122"/>
                  <a:ea typeface="微软雅黑" panose="020B0503020204020204" charset="-122"/>
                </a:endParaRPr>
              </a:p>
            </p:txBody>
          </p:sp>
        </p:grpSp>
        <p:cxnSp>
          <p:nvCxnSpPr>
            <p:cNvPr id="647" name="直接连接符 646"/>
            <p:cNvCxnSpPr/>
            <p:nvPr>
              <p:custDataLst>
                <p:tags r:id="rId75"/>
              </p:custDataLst>
            </p:nvPr>
          </p:nvCxnSpPr>
          <p:spPr>
            <a:xfrm>
              <a:off x="1429" y="8456"/>
              <a:ext cx="340" cy="0"/>
            </a:xfrm>
            <a:prstGeom prst="line">
              <a:avLst/>
            </a:prstGeom>
            <a:noFill/>
            <a:ln w="12700" cap="flat" cmpd="sng" algn="ctr">
              <a:solidFill>
                <a:srgbClr val="184199"/>
              </a:solidFill>
              <a:prstDash val="dash"/>
              <a:miter lim="800000"/>
            </a:ln>
            <a:effectLst/>
          </p:spPr>
        </p:cxnSp>
        <p:cxnSp>
          <p:nvCxnSpPr>
            <p:cNvPr id="648" name="直接连接符 647"/>
            <p:cNvCxnSpPr/>
            <p:nvPr>
              <p:custDataLst>
                <p:tags r:id="rId76"/>
              </p:custDataLst>
            </p:nvPr>
          </p:nvCxnSpPr>
          <p:spPr>
            <a:xfrm>
              <a:off x="1412" y="9062"/>
              <a:ext cx="397" cy="0"/>
            </a:xfrm>
            <a:prstGeom prst="line">
              <a:avLst/>
            </a:prstGeom>
            <a:noFill/>
            <a:ln w="12700" cap="flat" cmpd="sng" algn="ctr">
              <a:solidFill>
                <a:srgbClr val="184199"/>
              </a:solidFill>
              <a:prstDash val="dash"/>
              <a:miter lim="800000"/>
            </a:ln>
            <a:effectLst/>
          </p:spPr>
        </p:cxnSp>
        <p:pic>
          <p:nvPicPr>
            <p:cNvPr id="649" name="图片 335"/>
            <p:cNvPicPr>
              <a:picLocks noChangeAspect="1"/>
            </p:cNvPicPr>
            <p:nvPr>
              <p:custDataLst>
                <p:tags r:id="rId77"/>
              </p:custDataLst>
            </p:nvPr>
          </p:nvPicPr>
          <p:blipFill>
            <a:blip r:embed="rId78" cstate="email"/>
            <a:srcRect/>
            <a:stretch>
              <a:fillRect/>
            </a:stretch>
          </p:blipFill>
          <p:spPr bwMode="auto">
            <a:xfrm>
              <a:off x="1052" y="8900"/>
              <a:ext cx="461" cy="410"/>
            </a:xfrm>
            <a:prstGeom prst="rect">
              <a:avLst/>
            </a:prstGeom>
            <a:noFill/>
            <a:ln w="9525">
              <a:noFill/>
              <a:miter lim="800000"/>
              <a:headEnd/>
              <a:tailEnd/>
            </a:ln>
          </p:spPr>
        </p:pic>
        <p:pic>
          <p:nvPicPr>
            <p:cNvPr id="650" name="图片 338"/>
            <p:cNvPicPr>
              <a:picLocks noChangeAspect="1"/>
            </p:cNvPicPr>
            <p:nvPr>
              <p:custDataLst>
                <p:tags r:id="rId79"/>
              </p:custDataLst>
            </p:nvPr>
          </p:nvPicPr>
          <p:blipFill>
            <a:blip r:embed="rId78" cstate="email"/>
            <a:srcRect/>
            <a:stretch>
              <a:fillRect/>
            </a:stretch>
          </p:blipFill>
          <p:spPr bwMode="auto">
            <a:xfrm>
              <a:off x="1616" y="8880"/>
              <a:ext cx="461" cy="410"/>
            </a:xfrm>
            <a:prstGeom prst="rect">
              <a:avLst/>
            </a:prstGeom>
            <a:noFill/>
            <a:ln w="9525">
              <a:noFill/>
              <a:miter lim="800000"/>
              <a:headEnd/>
              <a:tailEnd/>
            </a:ln>
          </p:spPr>
        </p:pic>
        <p:pic>
          <p:nvPicPr>
            <p:cNvPr id="652" name="图片 385"/>
            <p:cNvPicPr>
              <a:picLocks noChangeAspect="1"/>
            </p:cNvPicPr>
            <p:nvPr>
              <p:custDataLst>
                <p:tags r:id="rId80"/>
              </p:custDataLst>
            </p:nvPr>
          </p:nvPicPr>
          <p:blipFill>
            <a:blip r:embed="rId42" cstate="email"/>
            <a:srcRect/>
            <a:stretch>
              <a:fillRect/>
            </a:stretch>
          </p:blipFill>
          <p:spPr bwMode="auto">
            <a:xfrm>
              <a:off x="2179" y="8967"/>
              <a:ext cx="501" cy="207"/>
            </a:xfrm>
            <a:prstGeom prst="rect">
              <a:avLst/>
            </a:prstGeom>
            <a:noFill/>
            <a:ln w="9525">
              <a:noFill/>
              <a:miter lim="800000"/>
              <a:headEnd/>
              <a:tailEnd/>
            </a:ln>
          </p:spPr>
        </p:pic>
        <p:cxnSp>
          <p:nvCxnSpPr>
            <p:cNvPr id="653" name="直接连接符 652"/>
            <p:cNvCxnSpPr/>
            <p:nvPr>
              <p:custDataLst>
                <p:tags r:id="rId81"/>
              </p:custDataLst>
            </p:nvPr>
          </p:nvCxnSpPr>
          <p:spPr>
            <a:xfrm>
              <a:off x="1980" y="9100"/>
              <a:ext cx="282" cy="2"/>
            </a:xfrm>
            <a:prstGeom prst="line">
              <a:avLst/>
            </a:prstGeom>
            <a:noFill/>
            <a:ln w="25400" cap="flat" cmpd="sng" algn="ctr">
              <a:solidFill>
                <a:srgbClr val="184199"/>
              </a:solidFill>
              <a:prstDash val="solid"/>
              <a:miter lim="800000"/>
            </a:ln>
            <a:effectLst/>
          </p:spPr>
        </p:cxnSp>
        <p:pic>
          <p:nvPicPr>
            <p:cNvPr id="654" name="图片 330"/>
            <p:cNvPicPr>
              <a:picLocks noChangeAspect="1"/>
            </p:cNvPicPr>
            <p:nvPr>
              <p:custDataLst>
                <p:tags r:id="rId82"/>
              </p:custDataLst>
            </p:nvPr>
          </p:nvPicPr>
          <p:blipFill>
            <a:blip r:embed="rId83" cstate="email"/>
            <a:srcRect/>
            <a:stretch>
              <a:fillRect/>
            </a:stretch>
          </p:blipFill>
          <p:spPr bwMode="auto">
            <a:xfrm>
              <a:off x="1087" y="8304"/>
              <a:ext cx="412" cy="357"/>
            </a:xfrm>
            <a:prstGeom prst="rect">
              <a:avLst/>
            </a:prstGeom>
            <a:noFill/>
            <a:ln w="9525">
              <a:noFill/>
              <a:miter lim="800000"/>
              <a:headEnd/>
              <a:tailEnd/>
            </a:ln>
          </p:spPr>
        </p:pic>
        <p:pic>
          <p:nvPicPr>
            <p:cNvPr id="655" name="图片 331"/>
            <p:cNvPicPr>
              <a:picLocks noChangeAspect="1"/>
            </p:cNvPicPr>
            <p:nvPr>
              <p:custDataLst>
                <p:tags r:id="rId84"/>
              </p:custDataLst>
            </p:nvPr>
          </p:nvPicPr>
          <p:blipFill>
            <a:blip r:embed="rId83" cstate="email"/>
            <a:srcRect/>
            <a:stretch>
              <a:fillRect/>
            </a:stretch>
          </p:blipFill>
          <p:spPr bwMode="auto">
            <a:xfrm>
              <a:off x="1650" y="8304"/>
              <a:ext cx="412" cy="357"/>
            </a:xfrm>
            <a:prstGeom prst="rect">
              <a:avLst/>
            </a:prstGeom>
            <a:noFill/>
            <a:ln w="9525">
              <a:noFill/>
              <a:miter lim="800000"/>
              <a:headEnd/>
              <a:tailEnd/>
            </a:ln>
          </p:spPr>
        </p:pic>
        <p:pic>
          <p:nvPicPr>
            <p:cNvPr id="656" name="图片 655"/>
            <p:cNvPicPr>
              <a:picLocks noChangeAspect="1"/>
            </p:cNvPicPr>
            <p:nvPr/>
          </p:nvPicPr>
          <p:blipFill>
            <a:blip r:embed="rId85" cstate="screen"/>
            <a:stretch>
              <a:fillRect/>
            </a:stretch>
          </p:blipFill>
          <p:spPr>
            <a:xfrm>
              <a:off x="906" y="9552"/>
              <a:ext cx="284" cy="235"/>
            </a:xfrm>
            <a:prstGeom prst="rect">
              <a:avLst/>
            </a:prstGeom>
          </p:spPr>
        </p:pic>
        <p:pic>
          <p:nvPicPr>
            <p:cNvPr id="657" name="图片 656"/>
            <p:cNvPicPr>
              <a:picLocks noChangeAspect="1"/>
            </p:cNvPicPr>
            <p:nvPr/>
          </p:nvPicPr>
          <p:blipFill>
            <a:blip r:embed="rId85" cstate="screen"/>
            <a:stretch>
              <a:fillRect/>
            </a:stretch>
          </p:blipFill>
          <p:spPr>
            <a:xfrm>
              <a:off x="1291" y="9552"/>
              <a:ext cx="284" cy="235"/>
            </a:xfrm>
            <a:prstGeom prst="rect">
              <a:avLst/>
            </a:prstGeom>
          </p:spPr>
        </p:pic>
        <p:pic>
          <p:nvPicPr>
            <p:cNvPr id="658" name="Picture 8" descr="ICON_Server_flat_Q408.png"/>
            <p:cNvPicPr>
              <a:picLocks noChangeAspect="1"/>
            </p:cNvPicPr>
            <p:nvPr>
              <p:custDataLst>
                <p:tags r:id="rId86"/>
              </p:custDataLst>
            </p:nvPr>
          </p:nvPicPr>
          <p:blipFill>
            <a:blip r:embed="rId11" cstate="email"/>
            <a:srcRect/>
            <a:stretch>
              <a:fillRect/>
            </a:stretch>
          </p:blipFill>
          <p:spPr bwMode="auto">
            <a:xfrm>
              <a:off x="1987" y="9850"/>
              <a:ext cx="786" cy="189"/>
            </a:xfrm>
            <a:prstGeom prst="rect">
              <a:avLst/>
            </a:prstGeom>
            <a:noFill/>
            <a:ln w="9525">
              <a:noFill/>
              <a:miter lim="800000"/>
              <a:headEnd/>
              <a:tailEnd/>
            </a:ln>
          </p:spPr>
        </p:pic>
        <p:pic>
          <p:nvPicPr>
            <p:cNvPr id="659" name="Picture 4"/>
            <p:cNvPicPr>
              <a:picLocks noChangeAspect="1" noChangeArrowheads="1"/>
            </p:cNvPicPr>
            <p:nvPr>
              <p:custDataLst>
                <p:tags r:id="rId87"/>
              </p:custDataLst>
            </p:nvPr>
          </p:nvPicPr>
          <p:blipFill>
            <a:blip r:embed="rId14" cstate="email">
              <a:duotone>
                <a:prstClr val="black"/>
                <a:srgbClr val="4EBE53">
                  <a:tint val="45000"/>
                  <a:satMod val="400000"/>
                </a:srgbClr>
              </a:duotone>
            </a:blip>
            <a:srcRect/>
            <a:stretch>
              <a:fillRect/>
            </a:stretch>
          </p:blipFill>
          <p:spPr bwMode="auto">
            <a:xfrm>
              <a:off x="2436" y="9507"/>
              <a:ext cx="297" cy="213"/>
            </a:xfrm>
            <a:prstGeom prst="rect">
              <a:avLst/>
            </a:prstGeom>
            <a:noFill/>
            <a:ln>
              <a:noFill/>
            </a:ln>
            <a:effectLst/>
          </p:spPr>
        </p:pic>
        <p:pic>
          <p:nvPicPr>
            <p:cNvPr id="661" name="Picture 4"/>
            <p:cNvPicPr>
              <a:picLocks noChangeAspect="1" noChangeArrowheads="1"/>
            </p:cNvPicPr>
            <p:nvPr>
              <p:custDataLst>
                <p:tags r:id="rId88"/>
              </p:custDataLst>
            </p:nvPr>
          </p:nvPicPr>
          <p:blipFill>
            <a:blip r:embed="rId14" cstate="email">
              <a:duotone>
                <a:prstClr val="black"/>
                <a:srgbClr val="4EBE53">
                  <a:tint val="45000"/>
                  <a:satMod val="400000"/>
                </a:srgbClr>
              </a:duotone>
            </a:blip>
            <a:srcRect/>
            <a:stretch>
              <a:fillRect/>
            </a:stretch>
          </p:blipFill>
          <p:spPr bwMode="auto">
            <a:xfrm>
              <a:off x="2105" y="9507"/>
              <a:ext cx="297" cy="213"/>
            </a:xfrm>
            <a:prstGeom prst="rect">
              <a:avLst/>
            </a:prstGeom>
            <a:noFill/>
            <a:ln>
              <a:noFill/>
            </a:ln>
            <a:effectLst/>
          </p:spPr>
        </p:pic>
        <p:pic>
          <p:nvPicPr>
            <p:cNvPr id="662" name="图片 291"/>
            <p:cNvPicPr>
              <a:picLocks noChangeAspect="1"/>
            </p:cNvPicPr>
            <p:nvPr>
              <p:custDataLst>
                <p:tags r:id="rId89"/>
              </p:custDataLst>
            </p:nvPr>
          </p:nvPicPr>
          <p:blipFill>
            <a:blip r:embed="rId26" cstate="email"/>
            <a:srcRect/>
            <a:stretch>
              <a:fillRect/>
            </a:stretch>
          </p:blipFill>
          <p:spPr bwMode="auto">
            <a:xfrm>
              <a:off x="2189" y="9672"/>
              <a:ext cx="161" cy="158"/>
            </a:xfrm>
            <a:prstGeom prst="rect">
              <a:avLst/>
            </a:prstGeom>
            <a:noFill/>
            <a:ln w="9525">
              <a:noFill/>
              <a:miter lim="800000"/>
              <a:headEnd/>
              <a:tailEnd/>
            </a:ln>
          </p:spPr>
        </p:pic>
        <p:pic>
          <p:nvPicPr>
            <p:cNvPr id="663" name="图片 292"/>
            <p:cNvPicPr>
              <a:picLocks noChangeAspect="1"/>
            </p:cNvPicPr>
            <p:nvPr>
              <p:custDataLst>
                <p:tags r:id="rId90"/>
              </p:custDataLst>
            </p:nvPr>
          </p:nvPicPr>
          <p:blipFill>
            <a:blip r:embed="rId26" cstate="email"/>
            <a:srcRect/>
            <a:stretch>
              <a:fillRect/>
            </a:stretch>
          </p:blipFill>
          <p:spPr bwMode="auto">
            <a:xfrm>
              <a:off x="2533" y="9672"/>
              <a:ext cx="162" cy="158"/>
            </a:xfrm>
            <a:prstGeom prst="rect">
              <a:avLst/>
            </a:prstGeom>
            <a:noFill/>
            <a:ln w="9525">
              <a:noFill/>
              <a:miter lim="800000"/>
              <a:headEnd/>
              <a:tailEnd/>
            </a:ln>
          </p:spPr>
        </p:pic>
        <p:sp>
          <p:nvSpPr>
            <p:cNvPr id="665" name="矩形 285"/>
            <p:cNvSpPr>
              <a:spLocks noChangeArrowheads="1"/>
            </p:cNvSpPr>
            <p:nvPr>
              <p:custDataLst>
                <p:tags r:id="rId91"/>
              </p:custDataLst>
            </p:nvPr>
          </p:nvSpPr>
          <p:spPr bwMode="auto">
            <a:xfrm>
              <a:off x="1979" y="10049"/>
              <a:ext cx="794" cy="227"/>
            </a:xfrm>
            <a:prstGeom prst="rect">
              <a:avLst/>
            </a:prstGeom>
            <a:noFill/>
            <a:ln w="9525">
              <a:noFill/>
              <a:miter lim="800000"/>
            </a:ln>
          </p:spPr>
          <p:txBody>
            <a:bodyPr wrap="square">
              <a:noAutofit/>
            </a:bodyPr>
            <a:p>
              <a:pPr marL="228600" indent="-227965" algn="ctr">
                <a:lnSpc>
                  <a:spcPct val="90000"/>
                </a:lnSpc>
                <a:spcBef>
                  <a:spcPts val="1000"/>
                </a:spcBef>
              </a:pPr>
              <a:r>
                <a:rPr kumimoji="1" lang="zh-CN" altLang="en-US" sz="500" b="1" dirty="0">
                  <a:solidFill>
                    <a:srgbClr val="184199"/>
                  </a:solidFill>
                  <a:latin typeface="微软雅黑" panose="020B0503020204020204" charset="-122"/>
                  <a:ea typeface="微软雅黑" panose="020B0503020204020204" charset="-122"/>
                </a:rPr>
                <a:t>业务区</a:t>
              </a:r>
              <a:endParaRPr kumimoji="1" lang="zh-CN" altLang="en-US" sz="500" b="1" dirty="0">
                <a:solidFill>
                  <a:srgbClr val="184199"/>
                </a:solidFill>
                <a:latin typeface="微软雅黑" panose="020B0503020204020204" charset="-122"/>
                <a:ea typeface="微软雅黑" panose="020B0503020204020204" charset="-122"/>
              </a:endParaRPr>
            </a:p>
          </p:txBody>
        </p:sp>
        <p:sp>
          <p:nvSpPr>
            <p:cNvPr id="666" name="矩形 284"/>
            <p:cNvSpPr>
              <a:spLocks noChangeArrowheads="1"/>
            </p:cNvSpPr>
            <p:nvPr>
              <p:custDataLst>
                <p:tags r:id="rId92"/>
              </p:custDataLst>
            </p:nvPr>
          </p:nvSpPr>
          <p:spPr bwMode="auto">
            <a:xfrm>
              <a:off x="906" y="10013"/>
              <a:ext cx="832" cy="253"/>
            </a:xfrm>
            <a:prstGeom prst="rect">
              <a:avLst/>
            </a:prstGeom>
            <a:noFill/>
            <a:ln w="9525">
              <a:noFill/>
              <a:miter lim="800000"/>
            </a:ln>
          </p:spPr>
          <p:txBody>
            <a:bodyPr wrap="square">
              <a:spAutoFit/>
            </a:bodyPr>
            <a:p>
              <a:pPr marL="228600" indent="-228600">
                <a:lnSpc>
                  <a:spcPct val="90000"/>
                </a:lnSpc>
                <a:spcBef>
                  <a:spcPts val="1000"/>
                </a:spcBef>
              </a:pPr>
              <a:r>
                <a:rPr kumimoji="1" lang="zh-CN" altLang="en-US" sz="500" b="1" dirty="0">
                  <a:solidFill>
                    <a:srgbClr val="184199"/>
                  </a:solidFill>
                  <a:latin typeface="微软雅黑" panose="020B0503020204020204" charset="-122"/>
                  <a:ea typeface="微软雅黑" panose="020B0503020204020204" charset="-122"/>
                </a:rPr>
                <a:t>办公区</a:t>
              </a:r>
              <a:endParaRPr kumimoji="1" lang="zh-CN" altLang="en-US" sz="500" b="1" dirty="0">
                <a:solidFill>
                  <a:srgbClr val="184199"/>
                </a:solidFill>
                <a:latin typeface="微软雅黑" panose="020B0503020204020204" charset="-122"/>
                <a:ea typeface="微软雅黑" panose="020B0503020204020204" charset="-122"/>
              </a:endParaRPr>
            </a:p>
          </p:txBody>
        </p:sp>
        <p:pic>
          <p:nvPicPr>
            <p:cNvPr id="667" name="图片 260"/>
            <p:cNvPicPr/>
            <p:nvPr>
              <p:custDataLst>
                <p:tags r:id="rId93"/>
              </p:custDataLst>
            </p:nvPr>
          </p:nvPicPr>
          <p:blipFill>
            <a:blip r:embed="rId94" cstate="email"/>
            <a:srcRect/>
            <a:stretch>
              <a:fillRect/>
            </a:stretch>
          </p:blipFill>
          <p:spPr bwMode="auto">
            <a:xfrm>
              <a:off x="1650" y="9552"/>
              <a:ext cx="284" cy="227"/>
            </a:xfrm>
            <a:prstGeom prst="rect">
              <a:avLst/>
            </a:prstGeom>
            <a:noFill/>
            <a:ln w="9525">
              <a:noFill/>
              <a:miter lim="800000"/>
              <a:headEnd/>
              <a:tailEnd/>
            </a:ln>
          </p:spPr>
        </p:pic>
        <p:sp>
          <p:nvSpPr>
            <p:cNvPr id="668" name="TextBox 79"/>
            <p:cNvSpPr txBox="1">
              <a:spLocks noChangeArrowheads="1"/>
            </p:cNvSpPr>
            <p:nvPr>
              <p:custDataLst>
                <p:tags r:id="rId95"/>
              </p:custDataLst>
            </p:nvPr>
          </p:nvSpPr>
          <p:spPr bwMode="auto">
            <a:xfrm>
              <a:off x="696" y="9344"/>
              <a:ext cx="828" cy="241"/>
            </a:xfrm>
            <a:prstGeom prst="rect">
              <a:avLst/>
            </a:prstGeom>
            <a:noFill/>
            <a:ln w="9525">
              <a:noFill/>
              <a:miter lim="800000"/>
            </a:ln>
          </p:spPr>
          <p:txBody>
            <a:bodyPr wrap="square">
              <a:spAutoFit/>
            </a:bodyPr>
            <a:p>
              <a:pPr marL="228600" marR="0" lvl="0" indent="-228600" defTabSz="914400" eaLnBrk="1" fontAlgn="auto" latinLnBrk="0" hangingPunct="1">
                <a:lnSpc>
                  <a:spcPct val="90000"/>
                </a:lnSpc>
                <a:spcBef>
                  <a:spcPts val="1000"/>
                </a:spcBef>
                <a:spcAft>
                  <a:spcPts val="0"/>
                </a:spcAft>
                <a:buClrTx/>
                <a:buSzTx/>
                <a:buFontTx/>
                <a:buNone/>
                <a:defRPr/>
              </a:pPr>
              <a:r>
                <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rPr>
                <a:t>EDR agent</a:t>
              </a:r>
              <a:endPar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endParaRPr>
            </a:p>
          </p:txBody>
        </p:sp>
        <p:sp>
          <p:nvSpPr>
            <p:cNvPr id="669" name="TextBox 79"/>
            <p:cNvSpPr txBox="1">
              <a:spLocks noChangeArrowheads="1"/>
            </p:cNvSpPr>
            <p:nvPr>
              <p:custDataLst>
                <p:tags r:id="rId96"/>
              </p:custDataLst>
            </p:nvPr>
          </p:nvSpPr>
          <p:spPr bwMode="auto">
            <a:xfrm>
              <a:off x="2023" y="9523"/>
              <a:ext cx="828" cy="241"/>
            </a:xfrm>
            <a:prstGeom prst="rect">
              <a:avLst/>
            </a:prstGeom>
            <a:noFill/>
            <a:ln w="9525">
              <a:noFill/>
              <a:miter lim="800000"/>
            </a:ln>
          </p:spPr>
          <p:txBody>
            <a:bodyPr wrap="square">
              <a:spAutoFit/>
            </a:bodyPr>
            <a:p>
              <a:pPr marL="228600" marR="0" lvl="0" indent="-228600" defTabSz="914400" eaLnBrk="1" fontAlgn="auto" latinLnBrk="0" hangingPunct="1">
                <a:lnSpc>
                  <a:spcPct val="90000"/>
                </a:lnSpc>
                <a:spcBef>
                  <a:spcPts val="1000"/>
                </a:spcBef>
                <a:spcAft>
                  <a:spcPts val="0"/>
                </a:spcAft>
                <a:buClrTx/>
                <a:buSzTx/>
                <a:buFontTx/>
                <a:buNone/>
                <a:defRPr/>
              </a:pPr>
              <a:r>
                <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rPr>
                <a:t>EDR agent</a:t>
              </a:r>
              <a:endPar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endParaRPr>
            </a:p>
          </p:txBody>
        </p:sp>
        <p:sp>
          <p:nvSpPr>
            <p:cNvPr id="28" name="文本框 27"/>
            <p:cNvSpPr txBox="1"/>
            <p:nvPr/>
          </p:nvSpPr>
          <p:spPr>
            <a:xfrm>
              <a:off x="2105" y="8729"/>
              <a:ext cx="682" cy="276"/>
            </a:xfrm>
            <a:prstGeom prst="rect">
              <a:avLst/>
            </a:prstGeom>
            <a:noFill/>
          </p:spPr>
          <p:txBody>
            <a:bodyPr wrap="square" rtlCol="0" anchor="ctr" anchorCtr="0">
              <a:noAutofit/>
            </a:bodyPr>
            <a:p>
              <a:pPr marR="0" lvl="0" indent="0" algn="ctr" defTabSz="914400" fontAlgn="auto">
                <a:lnSpc>
                  <a:spcPct val="90000"/>
                </a:lnSpc>
                <a:spcBef>
                  <a:spcPts val="0"/>
                </a:spcBef>
                <a:spcAft>
                  <a:spcPts val="0"/>
                </a:spcAft>
                <a:buClrTx/>
                <a:buSzTx/>
                <a:buFontTx/>
                <a:buNone/>
                <a:defRPr/>
              </a:pPr>
              <a:r>
                <a:rPr kumimoji="1" lang="zh-CN" altLang="en-US" sz="450" b="1" kern="0" noProof="0" dirty="0">
                  <a:ln>
                    <a:noFill/>
                  </a:ln>
                  <a:solidFill>
                    <a:srgbClr val="C00000"/>
                  </a:solidFill>
                  <a:effectLst/>
                  <a:uLnTx/>
                  <a:uFillTx/>
                  <a:latin typeface="微软雅黑" panose="020B0503020204020204" charset="-122"/>
                  <a:ea typeface="微软雅黑" panose="020B0503020204020204" charset="-122"/>
                  <a:sym typeface="+mn-ea"/>
                </a:rPr>
                <a:t>探针</a:t>
              </a:r>
              <a:r>
                <a:rPr kumimoji="1" lang="en-US" altLang="zh-CN" sz="450" b="1" kern="0" noProof="0" dirty="0">
                  <a:ln>
                    <a:noFill/>
                  </a:ln>
                  <a:solidFill>
                    <a:srgbClr val="C00000"/>
                  </a:solidFill>
                  <a:effectLst/>
                  <a:uLnTx/>
                  <a:uFillTx/>
                  <a:latin typeface="微软雅黑" panose="020B0503020204020204" charset="-122"/>
                  <a:ea typeface="微软雅黑" panose="020B0503020204020204" charset="-122"/>
                  <a:sym typeface="+mn-ea"/>
                </a:rPr>
                <a:t>STA</a:t>
              </a:r>
              <a:endParaRPr kumimoji="1" lang="en-US" altLang="zh-CN" sz="450" b="1" kern="0" noProof="0" dirty="0">
                <a:ln>
                  <a:noFill/>
                </a:ln>
                <a:solidFill>
                  <a:srgbClr val="C00000"/>
                </a:solidFill>
                <a:effectLst/>
                <a:uLnTx/>
                <a:uFillTx/>
                <a:latin typeface="微软雅黑" panose="020B0503020204020204" charset="-122"/>
                <a:ea typeface="微软雅黑" panose="020B0503020204020204" charset="-122"/>
                <a:sym typeface="+mn-ea"/>
              </a:endParaRPr>
            </a:p>
          </p:txBody>
        </p:sp>
      </p:grpSp>
      <p:grpSp>
        <p:nvGrpSpPr>
          <p:cNvPr id="30" name="组合 29"/>
          <p:cNvGrpSpPr/>
          <p:nvPr/>
        </p:nvGrpSpPr>
        <p:grpSpPr>
          <a:xfrm>
            <a:off x="1548130" y="4841240"/>
            <a:ext cx="1368425" cy="1695450"/>
            <a:chOff x="696" y="7623"/>
            <a:chExt cx="2155" cy="2670"/>
          </a:xfrm>
        </p:grpSpPr>
        <p:cxnSp>
          <p:nvCxnSpPr>
            <p:cNvPr id="31" name="直接连接符 30"/>
            <p:cNvCxnSpPr/>
            <p:nvPr>
              <p:custDataLst>
                <p:tags r:id="rId97"/>
              </p:custDataLst>
            </p:nvPr>
          </p:nvCxnSpPr>
          <p:spPr>
            <a:xfrm rot="16200000" flipH="1">
              <a:off x="1832" y="8657"/>
              <a:ext cx="333" cy="0"/>
            </a:xfrm>
            <a:prstGeom prst="line">
              <a:avLst/>
            </a:prstGeom>
            <a:noFill/>
            <a:ln w="25400" cap="flat" cmpd="sng" algn="ctr">
              <a:solidFill>
                <a:srgbClr val="184199"/>
              </a:solidFill>
              <a:prstDash val="solid"/>
              <a:miter lim="800000"/>
            </a:ln>
            <a:effectLst/>
          </p:spPr>
        </p:cxnSp>
        <p:cxnSp>
          <p:nvCxnSpPr>
            <p:cNvPr id="32" name="直接连接符 31"/>
            <p:cNvCxnSpPr/>
            <p:nvPr>
              <p:custDataLst>
                <p:tags r:id="rId98"/>
              </p:custDataLst>
            </p:nvPr>
          </p:nvCxnSpPr>
          <p:spPr>
            <a:xfrm rot="5400000">
              <a:off x="1903" y="8003"/>
              <a:ext cx="242" cy="2"/>
            </a:xfrm>
            <a:prstGeom prst="line">
              <a:avLst/>
            </a:prstGeom>
            <a:noFill/>
            <a:ln w="25400" cap="flat" cmpd="sng" algn="ctr">
              <a:solidFill>
                <a:srgbClr val="184199"/>
              </a:solidFill>
              <a:prstDash val="solid"/>
              <a:miter lim="800000"/>
            </a:ln>
            <a:effectLst/>
          </p:spPr>
        </p:cxnSp>
        <p:cxnSp>
          <p:nvCxnSpPr>
            <p:cNvPr id="33" name="直接连接符 32"/>
            <p:cNvCxnSpPr/>
            <p:nvPr>
              <p:custDataLst>
                <p:tags r:id="rId99"/>
              </p:custDataLst>
            </p:nvPr>
          </p:nvCxnSpPr>
          <p:spPr>
            <a:xfrm>
              <a:off x="1935" y="8334"/>
              <a:ext cx="716" cy="0"/>
            </a:xfrm>
            <a:prstGeom prst="line">
              <a:avLst/>
            </a:prstGeom>
            <a:noFill/>
            <a:ln w="12700" cap="flat" cmpd="sng" algn="ctr">
              <a:solidFill>
                <a:srgbClr val="184199"/>
              </a:solidFill>
              <a:prstDash val="dash"/>
              <a:miter lim="800000"/>
            </a:ln>
            <a:effectLst/>
          </p:spPr>
        </p:cxnSp>
        <p:cxnSp>
          <p:nvCxnSpPr>
            <p:cNvPr id="34" name="直接连接符 33"/>
            <p:cNvCxnSpPr/>
            <p:nvPr>
              <p:custDataLst>
                <p:tags r:id="rId100"/>
              </p:custDataLst>
            </p:nvPr>
          </p:nvCxnSpPr>
          <p:spPr>
            <a:xfrm>
              <a:off x="1935" y="8909"/>
              <a:ext cx="716" cy="0"/>
            </a:xfrm>
            <a:prstGeom prst="line">
              <a:avLst/>
            </a:prstGeom>
            <a:noFill/>
            <a:ln w="12700" cap="flat" cmpd="sng" algn="ctr">
              <a:solidFill>
                <a:srgbClr val="184199"/>
              </a:solidFill>
              <a:prstDash val="dash"/>
              <a:miter lim="800000"/>
            </a:ln>
            <a:effectLst/>
          </p:spPr>
        </p:cxnSp>
        <p:pic>
          <p:nvPicPr>
            <p:cNvPr id="35" name="图片 323"/>
            <p:cNvPicPr>
              <a:picLocks noChangeAspect="1"/>
            </p:cNvPicPr>
            <p:nvPr>
              <p:custDataLst>
                <p:tags r:id="rId101"/>
              </p:custDataLst>
            </p:nvPr>
          </p:nvPicPr>
          <p:blipFill>
            <a:blip r:embed="rId35" cstate="email"/>
            <a:srcRect/>
            <a:stretch>
              <a:fillRect/>
            </a:stretch>
          </p:blipFill>
          <p:spPr bwMode="auto">
            <a:xfrm>
              <a:off x="1788" y="8110"/>
              <a:ext cx="438" cy="382"/>
            </a:xfrm>
            <a:prstGeom prst="rect">
              <a:avLst/>
            </a:prstGeom>
            <a:noFill/>
            <a:ln w="9525">
              <a:noFill/>
              <a:miter lim="800000"/>
              <a:headEnd/>
              <a:tailEnd/>
            </a:ln>
          </p:spPr>
        </p:pic>
        <p:pic>
          <p:nvPicPr>
            <p:cNvPr id="36" name="图片 343"/>
            <p:cNvPicPr>
              <a:picLocks noChangeAspect="1"/>
            </p:cNvPicPr>
            <p:nvPr>
              <p:custDataLst>
                <p:tags r:id="rId102"/>
              </p:custDataLst>
            </p:nvPr>
          </p:nvPicPr>
          <p:blipFill>
            <a:blip r:embed="rId38" cstate="email"/>
            <a:srcRect/>
            <a:stretch>
              <a:fillRect/>
            </a:stretch>
          </p:blipFill>
          <p:spPr bwMode="auto">
            <a:xfrm>
              <a:off x="1819" y="8693"/>
              <a:ext cx="393" cy="348"/>
            </a:xfrm>
            <a:prstGeom prst="rect">
              <a:avLst/>
            </a:prstGeom>
            <a:noFill/>
            <a:ln w="9525">
              <a:noFill/>
              <a:miter lim="800000"/>
              <a:headEnd/>
              <a:tailEnd/>
            </a:ln>
          </p:spPr>
        </p:pic>
        <p:sp>
          <p:nvSpPr>
            <p:cNvPr id="37" name="圆角矩形 228"/>
            <p:cNvSpPr/>
            <p:nvPr>
              <p:custDataLst>
                <p:tags r:id="rId103"/>
              </p:custDataLst>
            </p:nvPr>
          </p:nvSpPr>
          <p:spPr>
            <a:xfrm>
              <a:off x="793" y="7809"/>
              <a:ext cx="2058" cy="2485"/>
            </a:xfrm>
            <a:prstGeom prst="roundRect">
              <a:avLst>
                <a:gd name="adj" fmla="val 4717"/>
              </a:avLst>
            </a:prstGeom>
            <a:solidFill>
              <a:schemeClr val="accent3">
                <a:lumMod val="20000"/>
                <a:lumOff val="80000"/>
              </a:schemeClr>
            </a:solidFill>
            <a:ln w="12700" cap="flat" cmpd="sng" algn="ctr">
              <a:noFill/>
              <a:prstDash val="solid"/>
              <a:miter lim="800000"/>
            </a:ln>
            <a:effectLst/>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38" name="直接连接符 37"/>
            <p:cNvCxnSpPr>
              <a:stCxn id="52" idx="2"/>
              <a:endCxn id="48" idx="0"/>
            </p:cNvCxnSpPr>
            <p:nvPr>
              <p:custDataLst>
                <p:tags r:id="rId104"/>
              </p:custDataLst>
            </p:nvPr>
          </p:nvCxnSpPr>
          <p:spPr>
            <a:xfrm flipH="1">
              <a:off x="1283" y="8660"/>
              <a:ext cx="10" cy="240"/>
            </a:xfrm>
            <a:prstGeom prst="line">
              <a:avLst/>
            </a:prstGeom>
            <a:noFill/>
            <a:ln w="25400" cap="flat" cmpd="sng" algn="ctr">
              <a:solidFill>
                <a:srgbClr val="184199"/>
              </a:solidFill>
              <a:prstDash val="solid"/>
              <a:miter lim="800000"/>
            </a:ln>
            <a:effectLst/>
          </p:spPr>
        </p:cxnSp>
        <p:cxnSp>
          <p:nvCxnSpPr>
            <p:cNvPr id="39" name="直接连接符 38"/>
            <p:cNvCxnSpPr>
              <a:stCxn id="53" idx="2"/>
              <a:endCxn id="49" idx="0"/>
            </p:cNvCxnSpPr>
            <p:nvPr>
              <p:custDataLst>
                <p:tags r:id="rId105"/>
              </p:custDataLst>
            </p:nvPr>
          </p:nvCxnSpPr>
          <p:spPr>
            <a:xfrm flipH="1">
              <a:off x="1847" y="8661"/>
              <a:ext cx="9" cy="219"/>
            </a:xfrm>
            <a:prstGeom prst="line">
              <a:avLst/>
            </a:prstGeom>
            <a:noFill/>
            <a:ln w="25400" cap="flat" cmpd="sng" algn="ctr">
              <a:solidFill>
                <a:srgbClr val="184199"/>
              </a:solidFill>
              <a:prstDash val="solid"/>
              <a:miter lim="800000"/>
            </a:ln>
            <a:effectLst/>
          </p:spPr>
        </p:cxnSp>
        <p:grpSp>
          <p:nvGrpSpPr>
            <p:cNvPr id="41" name="组合 40"/>
            <p:cNvGrpSpPr/>
            <p:nvPr/>
          </p:nvGrpSpPr>
          <p:grpSpPr>
            <a:xfrm rot="0">
              <a:off x="1499" y="7623"/>
              <a:ext cx="863" cy="376"/>
              <a:chOff x="2467936" y="2358207"/>
              <a:chExt cx="669925" cy="310515"/>
            </a:xfrm>
          </p:grpSpPr>
          <p:sp>
            <p:nvSpPr>
              <p:cNvPr id="43" name="任意形状 33"/>
              <p:cNvSpPr/>
              <p:nvPr>
                <p:custDataLst>
                  <p:tags r:id="rId106"/>
                </p:custDataLst>
              </p:nvPr>
            </p:nvSpPr>
            <p:spPr>
              <a:xfrm>
                <a:off x="2525086" y="2358207"/>
                <a:ext cx="546100" cy="310515"/>
              </a:xfrm>
              <a:custGeom>
                <a:avLst/>
                <a:gdLst>
                  <a:gd name="connsiteX0" fmla="*/ 2225150 w 3964603"/>
                  <a:gd name="connsiteY0" fmla="*/ 0 h 2369669"/>
                  <a:gd name="connsiteX1" fmla="*/ 3326336 w 3964603"/>
                  <a:gd name="connsiteY1" fmla="*/ 897492 h 2369669"/>
                  <a:gd name="connsiteX2" fmla="*/ 3342312 w 3964603"/>
                  <a:gd name="connsiteY2" fmla="*/ 1002169 h 2369669"/>
                  <a:gd name="connsiteX3" fmla="*/ 3416048 w 3964603"/>
                  <a:gd name="connsiteY3" fmla="*/ 1009602 h 2369669"/>
                  <a:gd name="connsiteX4" fmla="*/ 3964603 w 3964603"/>
                  <a:gd name="connsiteY4" fmla="*/ 1682657 h 2369669"/>
                  <a:gd name="connsiteX5" fmla="*/ 3277591 w 3964603"/>
                  <a:gd name="connsiteY5" fmla="*/ 2369669 h 2369669"/>
                  <a:gd name="connsiteX6" fmla="*/ 3265322 w 3964603"/>
                  <a:gd name="connsiteY6" fmla="*/ 2368432 h 2369669"/>
                  <a:gd name="connsiteX7" fmla="*/ 3265322 w 3964603"/>
                  <a:gd name="connsiteY7" fmla="*/ 2369669 h 2369669"/>
                  <a:gd name="connsiteX8" fmla="*/ 696120 w 3964603"/>
                  <a:gd name="connsiteY8" fmla="*/ 2369669 h 2369669"/>
                  <a:gd name="connsiteX9" fmla="*/ 696120 w 3964603"/>
                  <a:gd name="connsiteY9" fmla="*/ 2368751 h 2369669"/>
                  <a:gd name="connsiteX10" fmla="*/ 687012 w 3964603"/>
                  <a:gd name="connsiteY10" fmla="*/ 2369669 h 2369669"/>
                  <a:gd name="connsiteX11" fmla="*/ 0 w 3964603"/>
                  <a:gd name="connsiteY11" fmla="*/ 1682657 h 2369669"/>
                  <a:gd name="connsiteX12" fmla="*/ 419596 w 3964603"/>
                  <a:gd name="connsiteY12" fmla="*/ 1049634 h 2369669"/>
                  <a:gd name="connsiteX13" fmla="*/ 479586 w 3964603"/>
                  <a:gd name="connsiteY13" fmla="*/ 1031012 h 2369669"/>
                  <a:gd name="connsiteX14" fmla="*/ 480815 w 3964603"/>
                  <a:gd name="connsiteY14" fmla="*/ 1018815 h 2369669"/>
                  <a:gd name="connsiteX15" fmla="*/ 1118086 w 3964603"/>
                  <a:gd name="connsiteY15" fmla="*/ 499425 h 2369669"/>
                  <a:gd name="connsiteX16" fmla="*/ 1249182 w 3964603"/>
                  <a:gd name="connsiteY16" fmla="*/ 512640 h 2369669"/>
                  <a:gd name="connsiteX17" fmla="*/ 1277402 w 3964603"/>
                  <a:gd name="connsiteY17" fmla="*/ 521400 h 2369669"/>
                  <a:gd name="connsiteX18" fmla="*/ 1293094 w 3964603"/>
                  <a:gd name="connsiteY18" fmla="*/ 495571 h 2369669"/>
                  <a:gd name="connsiteX19" fmla="*/ 2225150 w 3964603"/>
                  <a:gd name="connsiteY19" fmla="*/ 0 h 2369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964603" h="2369669">
                    <a:moveTo>
                      <a:pt x="2225150" y="0"/>
                    </a:moveTo>
                    <a:cubicBezTo>
                      <a:pt x="2768333" y="0"/>
                      <a:pt x="3221525" y="385295"/>
                      <a:pt x="3326336" y="897492"/>
                    </a:cubicBezTo>
                    <a:lnTo>
                      <a:pt x="3342312" y="1002169"/>
                    </a:lnTo>
                    <a:lnTo>
                      <a:pt x="3416048" y="1009602"/>
                    </a:lnTo>
                    <a:cubicBezTo>
                      <a:pt x="3729108" y="1073664"/>
                      <a:pt x="3964603" y="1350659"/>
                      <a:pt x="3964603" y="1682657"/>
                    </a:cubicBezTo>
                    <a:cubicBezTo>
                      <a:pt x="3964603" y="2062083"/>
                      <a:pt x="3657017" y="2369669"/>
                      <a:pt x="3277591" y="2369669"/>
                    </a:cubicBezTo>
                    <a:lnTo>
                      <a:pt x="3265322" y="2368432"/>
                    </a:lnTo>
                    <a:lnTo>
                      <a:pt x="3265322" y="2369669"/>
                    </a:lnTo>
                    <a:lnTo>
                      <a:pt x="696120" y="2369669"/>
                    </a:lnTo>
                    <a:lnTo>
                      <a:pt x="696120" y="2368751"/>
                    </a:lnTo>
                    <a:lnTo>
                      <a:pt x="687012" y="2369669"/>
                    </a:lnTo>
                    <a:cubicBezTo>
                      <a:pt x="307586" y="2369669"/>
                      <a:pt x="0" y="2062083"/>
                      <a:pt x="0" y="1682657"/>
                    </a:cubicBezTo>
                    <a:cubicBezTo>
                      <a:pt x="0" y="1398087"/>
                      <a:pt x="173017" y="1153928"/>
                      <a:pt x="419596" y="1049634"/>
                    </a:cubicBezTo>
                    <a:lnTo>
                      <a:pt x="479586" y="1031012"/>
                    </a:lnTo>
                    <a:lnTo>
                      <a:pt x="480815" y="1018815"/>
                    </a:lnTo>
                    <a:cubicBezTo>
                      <a:pt x="541471" y="722400"/>
                      <a:pt x="803740" y="499425"/>
                      <a:pt x="1118086" y="499425"/>
                    </a:cubicBezTo>
                    <a:cubicBezTo>
                      <a:pt x="1162993" y="499425"/>
                      <a:pt x="1206837" y="503975"/>
                      <a:pt x="1249182" y="512640"/>
                    </a:cubicBezTo>
                    <a:lnTo>
                      <a:pt x="1277402" y="521400"/>
                    </a:lnTo>
                    <a:lnTo>
                      <a:pt x="1293094" y="495571"/>
                    </a:lnTo>
                    <a:cubicBezTo>
                      <a:pt x="1495089" y="196579"/>
                      <a:pt x="1837163" y="0"/>
                      <a:pt x="2225150" y="0"/>
                    </a:cubicBezTo>
                    <a:close/>
                  </a:path>
                </a:pathLst>
              </a:custGeom>
              <a:solidFill>
                <a:srgbClr val="0170C1"/>
              </a:solidFill>
              <a:ln w="12700" cap="flat" cmpd="sng" algn="ctr">
                <a:noFill/>
                <a:prstDash val="solid"/>
                <a:miter lim="800000"/>
              </a:ln>
              <a:effectLst/>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1" lang="zh-CN" altLang="en-US" sz="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5" name="矩形 242"/>
              <p:cNvSpPr>
                <a:spLocks noChangeArrowheads="1"/>
              </p:cNvSpPr>
              <p:nvPr>
                <p:custDataLst>
                  <p:tags r:id="rId107"/>
                </p:custDataLst>
              </p:nvPr>
            </p:nvSpPr>
            <p:spPr bwMode="auto">
              <a:xfrm>
                <a:off x="2467936" y="2456632"/>
                <a:ext cx="669925" cy="208937"/>
              </a:xfrm>
              <a:prstGeom prst="rect">
                <a:avLst/>
              </a:prstGeom>
              <a:noFill/>
              <a:ln w="9525">
                <a:noFill/>
                <a:miter lim="800000"/>
              </a:ln>
            </p:spPr>
            <p:txBody>
              <a:bodyPr wrap="square">
                <a:spAutoFit/>
              </a:bodyPr>
              <a:p>
                <a:pPr marL="228600" indent="-228600">
                  <a:lnSpc>
                    <a:spcPct val="90000"/>
                  </a:lnSpc>
                  <a:spcBef>
                    <a:spcPts val="1000"/>
                  </a:spcBef>
                </a:pPr>
                <a:r>
                  <a:rPr kumimoji="1" lang="en-US" altLang="zh-CN" sz="500">
                    <a:solidFill>
                      <a:prstClr val="white"/>
                    </a:solidFill>
                    <a:latin typeface="微软雅黑" panose="020B0503020204020204" charset="-122"/>
                    <a:ea typeface="微软雅黑" panose="020B0503020204020204" charset="-122"/>
                  </a:rPr>
                  <a:t>Internet</a:t>
                </a:r>
                <a:endParaRPr kumimoji="1" lang="zh-CN" altLang="en-US" sz="500">
                  <a:solidFill>
                    <a:prstClr val="white"/>
                  </a:solidFill>
                  <a:latin typeface="微软雅黑" panose="020B0503020204020204" charset="-122"/>
                  <a:ea typeface="微软雅黑" panose="020B0503020204020204" charset="-122"/>
                </a:endParaRPr>
              </a:p>
            </p:txBody>
          </p:sp>
        </p:grpSp>
        <p:cxnSp>
          <p:nvCxnSpPr>
            <p:cNvPr id="46" name="直接连接符 45"/>
            <p:cNvCxnSpPr/>
            <p:nvPr>
              <p:custDataLst>
                <p:tags r:id="rId108"/>
              </p:custDataLst>
            </p:nvPr>
          </p:nvCxnSpPr>
          <p:spPr>
            <a:xfrm>
              <a:off x="1429" y="8456"/>
              <a:ext cx="340" cy="0"/>
            </a:xfrm>
            <a:prstGeom prst="line">
              <a:avLst/>
            </a:prstGeom>
            <a:noFill/>
            <a:ln w="12700" cap="flat" cmpd="sng" algn="ctr">
              <a:solidFill>
                <a:srgbClr val="184199"/>
              </a:solidFill>
              <a:prstDash val="dash"/>
              <a:miter lim="800000"/>
            </a:ln>
            <a:effectLst/>
          </p:spPr>
        </p:cxnSp>
        <p:cxnSp>
          <p:nvCxnSpPr>
            <p:cNvPr id="47" name="直接连接符 46"/>
            <p:cNvCxnSpPr/>
            <p:nvPr>
              <p:custDataLst>
                <p:tags r:id="rId109"/>
              </p:custDataLst>
            </p:nvPr>
          </p:nvCxnSpPr>
          <p:spPr>
            <a:xfrm>
              <a:off x="1412" y="9062"/>
              <a:ext cx="397" cy="0"/>
            </a:xfrm>
            <a:prstGeom prst="line">
              <a:avLst/>
            </a:prstGeom>
            <a:noFill/>
            <a:ln w="12700" cap="flat" cmpd="sng" algn="ctr">
              <a:solidFill>
                <a:srgbClr val="184199"/>
              </a:solidFill>
              <a:prstDash val="dash"/>
              <a:miter lim="800000"/>
            </a:ln>
            <a:effectLst/>
          </p:spPr>
        </p:cxnSp>
        <p:pic>
          <p:nvPicPr>
            <p:cNvPr id="48" name="图片 335"/>
            <p:cNvPicPr>
              <a:picLocks noChangeAspect="1"/>
            </p:cNvPicPr>
            <p:nvPr>
              <p:custDataLst>
                <p:tags r:id="rId110"/>
              </p:custDataLst>
            </p:nvPr>
          </p:nvPicPr>
          <p:blipFill>
            <a:blip r:embed="rId78" cstate="email"/>
            <a:srcRect/>
            <a:stretch>
              <a:fillRect/>
            </a:stretch>
          </p:blipFill>
          <p:spPr bwMode="auto">
            <a:xfrm>
              <a:off x="1052" y="8900"/>
              <a:ext cx="461" cy="410"/>
            </a:xfrm>
            <a:prstGeom prst="rect">
              <a:avLst/>
            </a:prstGeom>
            <a:noFill/>
            <a:ln w="9525">
              <a:noFill/>
              <a:miter lim="800000"/>
              <a:headEnd/>
              <a:tailEnd/>
            </a:ln>
          </p:spPr>
        </p:pic>
        <p:pic>
          <p:nvPicPr>
            <p:cNvPr id="49" name="图片 338"/>
            <p:cNvPicPr>
              <a:picLocks noChangeAspect="1"/>
            </p:cNvPicPr>
            <p:nvPr>
              <p:custDataLst>
                <p:tags r:id="rId111"/>
              </p:custDataLst>
            </p:nvPr>
          </p:nvPicPr>
          <p:blipFill>
            <a:blip r:embed="rId78" cstate="email"/>
            <a:srcRect/>
            <a:stretch>
              <a:fillRect/>
            </a:stretch>
          </p:blipFill>
          <p:spPr bwMode="auto">
            <a:xfrm>
              <a:off x="1616" y="8880"/>
              <a:ext cx="461" cy="410"/>
            </a:xfrm>
            <a:prstGeom prst="rect">
              <a:avLst/>
            </a:prstGeom>
            <a:noFill/>
            <a:ln w="9525">
              <a:noFill/>
              <a:miter lim="800000"/>
              <a:headEnd/>
              <a:tailEnd/>
            </a:ln>
          </p:spPr>
        </p:pic>
        <p:pic>
          <p:nvPicPr>
            <p:cNvPr id="50" name="图片 385"/>
            <p:cNvPicPr>
              <a:picLocks noChangeAspect="1"/>
            </p:cNvPicPr>
            <p:nvPr>
              <p:custDataLst>
                <p:tags r:id="rId112"/>
              </p:custDataLst>
            </p:nvPr>
          </p:nvPicPr>
          <p:blipFill>
            <a:blip r:embed="rId42" cstate="email"/>
            <a:srcRect/>
            <a:stretch>
              <a:fillRect/>
            </a:stretch>
          </p:blipFill>
          <p:spPr bwMode="auto">
            <a:xfrm>
              <a:off x="2179" y="8967"/>
              <a:ext cx="501" cy="207"/>
            </a:xfrm>
            <a:prstGeom prst="rect">
              <a:avLst/>
            </a:prstGeom>
            <a:noFill/>
            <a:ln w="9525">
              <a:noFill/>
              <a:miter lim="800000"/>
              <a:headEnd/>
              <a:tailEnd/>
            </a:ln>
          </p:spPr>
        </p:pic>
        <p:cxnSp>
          <p:nvCxnSpPr>
            <p:cNvPr id="51" name="直接连接符 50"/>
            <p:cNvCxnSpPr/>
            <p:nvPr>
              <p:custDataLst>
                <p:tags r:id="rId113"/>
              </p:custDataLst>
            </p:nvPr>
          </p:nvCxnSpPr>
          <p:spPr>
            <a:xfrm>
              <a:off x="1980" y="9100"/>
              <a:ext cx="282" cy="2"/>
            </a:xfrm>
            <a:prstGeom prst="line">
              <a:avLst/>
            </a:prstGeom>
            <a:noFill/>
            <a:ln w="25400" cap="flat" cmpd="sng" algn="ctr">
              <a:solidFill>
                <a:srgbClr val="184199"/>
              </a:solidFill>
              <a:prstDash val="solid"/>
              <a:miter lim="800000"/>
            </a:ln>
            <a:effectLst/>
          </p:spPr>
        </p:cxnSp>
        <p:pic>
          <p:nvPicPr>
            <p:cNvPr id="52" name="图片 330"/>
            <p:cNvPicPr>
              <a:picLocks noChangeAspect="1"/>
            </p:cNvPicPr>
            <p:nvPr>
              <p:custDataLst>
                <p:tags r:id="rId114"/>
              </p:custDataLst>
            </p:nvPr>
          </p:nvPicPr>
          <p:blipFill>
            <a:blip r:embed="rId83" cstate="email"/>
            <a:srcRect/>
            <a:stretch>
              <a:fillRect/>
            </a:stretch>
          </p:blipFill>
          <p:spPr bwMode="auto">
            <a:xfrm>
              <a:off x="1087" y="8304"/>
              <a:ext cx="412" cy="357"/>
            </a:xfrm>
            <a:prstGeom prst="rect">
              <a:avLst/>
            </a:prstGeom>
            <a:noFill/>
            <a:ln w="9525">
              <a:noFill/>
              <a:miter lim="800000"/>
              <a:headEnd/>
              <a:tailEnd/>
            </a:ln>
          </p:spPr>
        </p:pic>
        <p:pic>
          <p:nvPicPr>
            <p:cNvPr id="53" name="图片 331"/>
            <p:cNvPicPr>
              <a:picLocks noChangeAspect="1"/>
            </p:cNvPicPr>
            <p:nvPr>
              <p:custDataLst>
                <p:tags r:id="rId115"/>
              </p:custDataLst>
            </p:nvPr>
          </p:nvPicPr>
          <p:blipFill>
            <a:blip r:embed="rId83" cstate="email"/>
            <a:srcRect/>
            <a:stretch>
              <a:fillRect/>
            </a:stretch>
          </p:blipFill>
          <p:spPr bwMode="auto">
            <a:xfrm>
              <a:off x="1650" y="8304"/>
              <a:ext cx="412" cy="357"/>
            </a:xfrm>
            <a:prstGeom prst="rect">
              <a:avLst/>
            </a:prstGeom>
            <a:noFill/>
            <a:ln w="9525">
              <a:noFill/>
              <a:miter lim="800000"/>
              <a:headEnd/>
              <a:tailEnd/>
            </a:ln>
          </p:spPr>
        </p:pic>
        <p:pic>
          <p:nvPicPr>
            <p:cNvPr id="54" name="图片 53"/>
            <p:cNvPicPr>
              <a:picLocks noChangeAspect="1"/>
            </p:cNvPicPr>
            <p:nvPr/>
          </p:nvPicPr>
          <p:blipFill>
            <a:blip r:embed="rId85" cstate="screen"/>
            <a:stretch>
              <a:fillRect/>
            </a:stretch>
          </p:blipFill>
          <p:spPr>
            <a:xfrm>
              <a:off x="906" y="9552"/>
              <a:ext cx="284" cy="235"/>
            </a:xfrm>
            <a:prstGeom prst="rect">
              <a:avLst/>
            </a:prstGeom>
          </p:spPr>
        </p:pic>
        <p:pic>
          <p:nvPicPr>
            <p:cNvPr id="55" name="图片 54"/>
            <p:cNvPicPr>
              <a:picLocks noChangeAspect="1"/>
            </p:cNvPicPr>
            <p:nvPr/>
          </p:nvPicPr>
          <p:blipFill>
            <a:blip r:embed="rId85" cstate="screen"/>
            <a:stretch>
              <a:fillRect/>
            </a:stretch>
          </p:blipFill>
          <p:spPr>
            <a:xfrm>
              <a:off x="1291" y="9552"/>
              <a:ext cx="284" cy="235"/>
            </a:xfrm>
            <a:prstGeom prst="rect">
              <a:avLst/>
            </a:prstGeom>
          </p:spPr>
        </p:pic>
        <p:pic>
          <p:nvPicPr>
            <p:cNvPr id="56" name="Picture 8" descr="ICON_Server_flat_Q408.png"/>
            <p:cNvPicPr>
              <a:picLocks noChangeAspect="1"/>
            </p:cNvPicPr>
            <p:nvPr>
              <p:custDataLst>
                <p:tags r:id="rId116"/>
              </p:custDataLst>
            </p:nvPr>
          </p:nvPicPr>
          <p:blipFill>
            <a:blip r:embed="rId11" cstate="email"/>
            <a:srcRect/>
            <a:stretch>
              <a:fillRect/>
            </a:stretch>
          </p:blipFill>
          <p:spPr bwMode="auto">
            <a:xfrm>
              <a:off x="1987" y="9850"/>
              <a:ext cx="786" cy="189"/>
            </a:xfrm>
            <a:prstGeom prst="rect">
              <a:avLst/>
            </a:prstGeom>
            <a:noFill/>
            <a:ln w="9525">
              <a:noFill/>
              <a:miter lim="800000"/>
              <a:headEnd/>
              <a:tailEnd/>
            </a:ln>
          </p:spPr>
        </p:pic>
        <p:pic>
          <p:nvPicPr>
            <p:cNvPr id="57" name="Picture 4"/>
            <p:cNvPicPr>
              <a:picLocks noChangeAspect="1" noChangeArrowheads="1"/>
            </p:cNvPicPr>
            <p:nvPr>
              <p:custDataLst>
                <p:tags r:id="rId117"/>
              </p:custDataLst>
            </p:nvPr>
          </p:nvPicPr>
          <p:blipFill>
            <a:blip r:embed="rId14" cstate="email">
              <a:duotone>
                <a:prstClr val="black"/>
                <a:srgbClr val="4EBE53">
                  <a:tint val="45000"/>
                  <a:satMod val="400000"/>
                </a:srgbClr>
              </a:duotone>
            </a:blip>
            <a:srcRect/>
            <a:stretch>
              <a:fillRect/>
            </a:stretch>
          </p:blipFill>
          <p:spPr bwMode="auto">
            <a:xfrm>
              <a:off x="2436" y="9507"/>
              <a:ext cx="297" cy="213"/>
            </a:xfrm>
            <a:prstGeom prst="rect">
              <a:avLst/>
            </a:prstGeom>
            <a:noFill/>
            <a:ln>
              <a:noFill/>
            </a:ln>
            <a:effectLst/>
          </p:spPr>
        </p:pic>
        <p:pic>
          <p:nvPicPr>
            <p:cNvPr id="58" name="Picture 4"/>
            <p:cNvPicPr>
              <a:picLocks noChangeAspect="1" noChangeArrowheads="1"/>
            </p:cNvPicPr>
            <p:nvPr>
              <p:custDataLst>
                <p:tags r:id="rId118"/>
              </p:custDataLst>
            </p:nvPr>
          </p:nvPicPr>
          <p:blipFill>
            <a:blip r:embed="rId14" cstate="email">
              <a:duotone>
                <a:prstClr val="black"/>
                <a:srgbClr val="4EBE53">
                  <a:tint val="45000"/>
                  <a:satMod val="400000"/>
                </a:srgbClr>
              </a:duotone>
            </a:blip>
            <a:srcRect/>
            <a:stretch>
              <a:fillRect/>
            </a:stretch>
          </p:blipFill>
          <p:spPr bwMode="auto">
            <a:xfrm>
              <a:off x="2105" y="9507"/>
              <a:ext cx="297" cy="213"/>
            </a:xfrm>
            <a:prstGeom prst="rect">
              <a:avLst/>
            </a:prstGeom>
            <a:noFill/>
            <a:ln>
              <a:noFill/>
            </a:ln>
            <a:effectLst/>
          </p:spPr>
        </p:pic>
        <p:pic>
          <p:nvPicPr>
            <p:cNvPr id="59" name="图片 291"/>
            <p:cNvPicPr>
              <a:picLocks noChangeAspect="1"/>
            </p:cNvPicPr>
            <p:nvPr>
              <p:custDataLst>
                <p:tags r:id="rId119"/>
              </p:custDataLst>
            </p:nvPr>
          </p:nvPicPr>
          <p:blipFill>
            <a:blip r:embed="rId26" cstate="email"/>
            <a:srcRect/>
            <a:stretch>
              <a:fillRect/>
            </a:stretch>
          </p:blipFill>
          <p:spPr bwMode="auto">
            <a:xfrm>
              <a:off x="2189" y="9672"/>
              <a:ext cx="161" cy="158"/>
            </a:xfrm>
            <a:prstGeom prst="rect">
              <a:avLst/>
            </a:prstGeom>
            <a:noFill/>
            <a:ln w="9525">
              <a:noFill/>
              <a:miter lim="800000"/>
              <a:headEnd/>
              <a:tailEnd/>
            </a:ln>
          </p:spPr>
        </p:pic>
        <p:pic>
          <p:nvPicPr>
            <p:cNvPr id="60" name="图片 292"/>
            <p:cNvPicPr>
              <a:picLocks noChangeAspect="1"/>
            </p:cNvPicPr>
            <p:nvPr>
              <p:custDataLst>
                <p:tags r:id="rId120"/>
              </p:custDataLst>
            </p:nvPr>
          </p:nvPicPr>
          <p:blipFill>
            <a:blip r:embed="rId26" cstate="email"/>
            <a:srcRect/>
            <a:stretch>
              <a:fillRect/>
            </a:stretch>
          </p:blipFill>
          <p:spPr bwMode="auto">
            <a:xfrm>
              <a:off x="2533" y="9672"/>
              <a:ext cx="162" cy="158"/>
            </a:xfrm>
            <a:prstGeom prst="rect">
              <a:avLst/>
            </a:prstGeom>
            <a:noFill/>
            <a:ln w="9525">
              <a:noFill/>
              <a:miter lim="800000"/>
              <a:headEnd/>
              <a:tailEnd/>
            </a:ln>
          </p:spPr>
        </p:pic>
        <p:sp>
          <p:nvSpPr>
            <p:cNvPr id="61" name="矩形 285"/>
            <p:cNvSpPr>
              <a:spLocks noChangeArrowheads="1"/>
            </p:cNvSpPr>
            <p:nvPr>
              <p:custDataLst>
                <p:tags r:id="rId121"/>
              </p:custDataLst>
            </p:nvPr>
          </p:nvSpPr>
          <p:spPr bwMode="auto">
            <a:xfrm>
              <a:off x="1979" y="10049"/>
              <a:ext cx="794" cy="227"/>
            </a:xfrm>
            <a:prstGeom prst="rect">
              <a:avLst/>
            </a:prstGeom>
            <a:noFill/>
            <a:ln w="9525">
              <a:noFill/>
              <a:miter lim="800000"/>
            </a:ln>
          </p:spPr>
          <p:txBody>
            <a:bodyPr wrap="square">
              <a:noAutofit/>
            </a:bodyPr>
            <a:p>
              <a:pPr marL="228600" indent="-227965" algn="ctr">
                <a:lnSpc>
                  <a:spcPct val="90000"/>
                </a:lnSpc>
                <a:spcBef>
                  <a:spcPts val="1000"/>
                </a:spcBef>
              </a:pPr>
              <a:r>
                <a:rPr kumimoji="1" lang="zh-CN" altLang="en-US" sz="500" b="1" dirty="0">
                  <a:solidFill>
                    <a:srgbClr val="184199"/>
                  </a:solidFill>
                  <a:latin typeface="微软雅黑" panose="020B0503020204020204" charset="-122"/>
                  <a:ea typeface="微软雅黑" panose="020B0503020204020204" charset="-122"/>
                </a:rPr>
                <a:t>业务区</a:t>
              </a:r>
              <a:endParaRPr kumimoji="1" lang="zh-CN" altLang="en-US" sz="500" b="1" dirty="0">
                <a:solidFill>
                  <a:srgbClr val="184199"/>
                </a:solidFill>
                <a:latin typeface="微软雅黑" panose="020B0503020204020204" charset="-122"/>
                <a:ea typeface="微软雅黑" panose="020B0503020204020204" charset="-122"/>
              </a:endParaRPr>
            </a:p>
          </p:txBody>
        </p:sp>
        <p:sp>
          <p:nvSpPr>
            <p:cNvPr id="62" name="矩形 284"/>
            <p:cNvSpPr>
              <a:spLocks noChangeArrowheads="1"/>
            </p:cNvSpPr>
            <p:nvPr>
              <p:custDataLst>
                <p:tags r:id="rId122"/>
              </p:custDataLst>
            </p:nvPr>
          </p:nvSpPr>
          <p:spPr bwMode="auto">
            <a:xfrm>
              <a:off x="906" y="10013"/>
              <a:ext cx="832" cy="253"/>
            </a:xfrm>
            <a:prstGeom prst="rect">
              <a:avLst/>
            </a:prstGeom>
            <a:noFill/>
            <a:ln w="9525">
              <a:noFill/>
              <a:miter lim="800000"/>
            </a:ln>
          </p:spPr>
          <p:txBody>
            <a:bodyPr wrap="square">
              <a:spAutoFit/>
            </a:bodyPr>
            <a:p>
              <a:pPr marL="228600" indent="-228600">
                <a:lnSpc>
                  <a:spcPct val="90000"/>
                </a:lnSpc>
                <a:spcBef>
                  <a:spcPts val="1000"/>
                </a:spcBef>
              </a:pPr>
              <a:r>
                <a:rPr kumimoji="1" lang="zh-CN" altLang="en-US" sz="500" b="1" dirty="0">
                  <a:solidFill>
                    <a:srgbClr val="184199"/>
                  </a:solidFill>
                  <a:latin typeface="微软雅黑" panose="020B0503020204020204" charset="-122"/>
                  <a:ea typeface="微软雅黑" panose="020B0503020204020204" charset="-122"/>
                </a:rPr>
                <a:t>办公区</a:t>
              </a:r>
              <a:endParaRPr kumimoji="1" lang="zh-CN" altLang="en-US" sz="500" b="1" dirty="0">
                <a:solidFill>
                  <a:srgbClr val="184199"/>
                </a:solidFill>
                <a:latin typeface="微软雅黑" panose="020B0503020204020204" charset="-122"/>
                <a:ea typeface="微软雅黑" panose="020B0503020204020204" charset="-122"/>
              </a:endParaRPr>
            </a:p>
          </p:txBody>
        </p:sp>
        <p:pic>
          <p:nvPicPr>
            <p:cNvPr id="63" name="图片 260"/>
            <p:cNvPicPr/>
            <p:nvPr>
              <p:custDataLst>
                <p:tags r:id="rId123"/>
              </p:custDataLst>
            </p:nvPr>
          </p:nvPicPr>
          <p:blipFill>
            <a:blip r:embed="rId94" cstate="email"/>
            <a:srcRect/>
            <a:stretch>
              <a:fillRect/>
            </a:stretch>
          </p:blipFill>
          <p:spPr bwMode="auto">
            <a:xfrm>
              <a:off x="1650" y="9552"/>
              <a:ext cx="284" cy="227"/>
            </a:xfrm>
            <a:prstGeom prst="rect">
              <a:avLst/>
            </a:prstGeom>
            <a:noFill/>
            <a:ln w="9525">
              <a:noFill/>
              <a:miter lim="800000"/>
              <a:headEnd/>
              <a:tailEnd/>
            </a:ln>
          </p:spPr>
        </p:pic>
        <p:sp>
          <p:nvSpPr>
            <p:cNvPr id="64" name="TextBox 79"/>
            <p:cNvSpPr txBox="1">
              <a:spLocks noChangeArrowheads="1"/>
            </p:cNvSpPr>
            <p:nvPr>
              <p:custDataLst>
                <p:tags r:id="rId124"/>
              </p:custDataLst>
            </p:nvPr>
          </p:nvSpPr>
          <p:spPr bwMode="auto">
            <a:xfrm>
              <a:off x="696" y="9344"/>
              <a:ext cx="828" cy="241"/>
            </a:xfrm>
            <a:prstGeom prst="rect">
              <a:avLst/>
            </a:prstGeom>
            <a:noFill/>
            <a:ln w="9525">
              <a:noFill/>
              <a:miter lim="800000"/>
            </a:ln>
          </p:spPr>
          <p:txBody>
            <a:bodyPr wrap="square">
              <a:spAutoFit/>
            </a:bodyPr>
            <a:p>
              <a:pPr marL="228600" marR="0" lvl="0" indent="-228600" defTabSz="914400" eaLnBrk="1" fontAlgn="auto" latinLnBrk="0" hangingPunct="1">
                <a:lnSpc>
                  <a:spcPct val="90000"/>
                </a:lnSpc>
                <a:spcBef>
                  <a:spcPts val="1000"/>
                </a:spcBef>
                <a:spcAft>
                  <a:spcPts val="0"/>
                </a:spcAft>
                <a:buClrTx/>
                <a:buSzTx/>
                <a:buFontTx/>
                <a:buNone/>
                <a:defRPr/>
              </a:pPr>
              <a:r>
                <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rPr>
                <a:t>EDR agent</a:t>
              </a:r>
              <a:endPar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endParaRPr>
            </a:p>
          </p:txBody>
        </p:sp>
        <p:sp>
          <p:nvSpPr>
            <p:cNvPr id="65" name="TextBox 79"/>
            <p:cNvSpPr txBox="1">
              <a:spLocks noChangeArrowheads="1"/>
            </p:cNvSpPr>
            <p:nvPr>
              <p:custDataLst>
                <p:tags r:id="rId125"/>
              </p:custDataLst>
            </p:nvPr>
          </p:nvSpPr>
          <p:spPr bwMode="auto">
            <a:xfrm>
              <a:off x="2023" y="9523"/>
              <a:ext cx="828" cy="241"/>
            </a:xfrm>
            <a:prstGeom prst="rect">
              <a:avLst/>
            </a:prstGeom>
            <a:noFill/>
            <a:ln w="9525">
              <a:noFill/>
              <a:miter lim="800000"/>
            </a:ln>
          </p:spPr>
          <p:txBody>
            <a:bodyPr wrap="square">
              <a:spAutoFit/>
            </a:bodyPr>
            <a:p>
              <a:pPr marL="228600" marR="0" lvl="0" indent="-228600" defTabSz="914400" eaLnBrk="1" fontAlgn="auto" latinLnBrk="0" hangingPunct="1">
                <a:lnSpc>
                  <a:spcPct val="90000"/>
                </a:lnSpc>
                <a:spcBef>
                  <a:spcPts val="1000"/>
                </a:spcBef>
                <a:spcAft>
                  <a:spcPts val="0"/>
                </a:spcAft>
                <a:buClrTx/>
                <a:buSzTx/>
                <a:buFontTx/>
                <a:buNone/>
                <a:defRPr/>
              </a:pPr>
              <a:r>
                <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rPr>
                <a:t>EDR agent</a:t>
              </a:r>
              <a:endPar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endParaRPr>
            </a:p>
          </p:txBody>
        </p:sp>
        <p:sp>
          <p:nvSpPr>
            <p:cNvPr id="66" name="文本框 65"/>
            <p:cNvSpPr txBox="1"/>
            <p:nvPr/>
          </p:nvSpPr>
          <p:spPr>
            <a:xfrm>
              <a:off x="2105" y="8729"/>
              <a:ext cx="682" cy="276"/>
            </a:xfrm>
            <a:prstGeom prst="rect">
              <a:avLst/>
            </a:prstGeom>
            <a:noFill/>
          </p:spPr>
          <p:txBody>
            <a:bodyPr wrap="square" rtlCol="0" anchor="ctr" anchorCtr="0">
              <a:noAutofit/>
            </a:bodyPr>
            <a:p>
              <a:pPr marR="0" lvl="0" indent="0" algn="ctr" defTabSz="914400" fontAlgn="auto">
                <a:lnSpc>
                  <a:spcPct val="90000"/>
                </a:lnSpc>
                <a:spcBef>
                  <a:spcPts val="0"/>
                </a:spcBef>
                <a:spcAft>
                  <a:spcPts val="0"/>
                </a:spcAft>
                <a:buClrTx/>
                <a:buSzTx/>
                <a:buFontTx/>
                <a:buNone/>
                <a:defRPr/>
              </a:pPr>
              <a:r>
                <a:rPr kumimoji="1" lang="zh-CN" altLang="en-US" sz="450" b="1" kern="0" noProof="0" dirty="0">
                  <a:ln>
                    <a:noFill/>
                  </a:ln>
                  <a:solidFill>
                    <a:srgbClr val="C00000"/>
                  </a:solidFill>
                  <a:effectLst/>
                  <a:uLnTx/>
                  <a:uFillTx/>
                  <a:latin typeface="微软雅黑" panose="020B0503020204020204" charset="-122"/>
                  <a:ea typeface="微软雅黑" panose="020B0503020204020204" charset="-122"/>
                  <a:sym typeface="+mn-ea"/>
                </a:rPr>
                <a:t>探针</a:t>
              </a:r>
              <a:r>
                <a:rPr kumimoji="1" lang="en-US" altLang="zh-CN" sz="450" b="1" kern="0" noProof="0" dirty="0">
                  <a:ln>
                    <a:noFill/>
                  </a:ln>
                  <a:solidFill>
                    <a:srgbClr val="C00000"/>
                  </a:solidFill>
                  <a:effectLst/>
                  <a:uLnTx/>
                  <a:uFillTx/>
                  <a:latin typeface="微软雅黑" panose="020B0503020204020204" charset="-122"/>
                  <a:ea typeface="微软雅黑" panose="020B0503020204020204" charset="-122"/>
                  <a:sym typeface="+mn-ea"/>
                </a:rPr>
                <a:t>STA</a:t>
              </a:r>
              <a:endParaRPr kumimoji="1" lang="en-US" altLang="zh-CN" sz="450" b="1" kern="0" noProof="0" dirty="0">
                <a:ln>
                  <a:noFill/>
                </a:ln>
                <a:solidFill>
                  <a:srgbClr val="C00000"/>
                </a:solidFill>
                <a:effectLst/>
                <a:uLnTx/>
                <a:uFillTx/>
                <a:latin typeface="微软雅黑" panose="020B0503020204020204" charset="-122"/>
                <a:ea typeface="微软雅黑" panose="020B0503020204020204" charset="-122"/>
                <a:sym typeface="+mn-ea"/>
              </a:endParaRPr>
            </a:p>
          </p:txBody>
        </p:sp>
      </p:grpSp>
      <p:grpSp>
        <p:nvGrpSpPr>
          <p:cNvPr id="68" name="组合 67"/>
          <p:cNvGrpSpPr/>
          <p:nvPr/>
        </p:nvGrpSpPr>
        <p:grpSpPr>
          <a:xfrm>
            <a:off x="2895600" y="4831715"/>
            <a:ext cx="1368425" cy="1695450"/>
            <a:chOff x="696" y="7623"/>
            <a:chExt cx="2155" cy="2670"/>
          </a:xfrm>
        </p:grpSpPr>
        <p:cxnSp>
          <p:nvCxnSpPr>
            <p:cNvPr id="69" name="直接连接符 68"/>
            <p:cNvCxnSpPr/>
            <p:nvPr>
              <p:custDataLst>
                <p:tags r:id="rId126"/>
              </p:custDataLst>
            </p:nvPr>
          </p:nvCxnSpPr>
          <p:spPr>
            <a:xfrm rot="16200000" flipH="1">
              <a:off x="1832" y="8657"/>
              <a:ext cx="333" cy="0"/>
            </a:xfrm>
            <a:prstGeom prst="line">
              <a:avLst/>
            </a:prstGeom>
            <a:noFill/>
            <a:ln w="25400" cap="flat" cmpd="sng" algn="ctr">
              <a:solidFill>
                <a:srgbClr val="184199"/>
              </a:solidFill>
              <a:prstDash val="solid"/>
              <a:miter lim="800000"/>
            </a:ln>
            <a:effectLst/>
          </p:spPr>
        </p:cxnSp>
        <p:cxnSp>
          <p:nvCxnSpPr>
            <p:cNvPr id="70" name="直接连接符 69"/>
            <p:cNvCxnSpPr/>
            <p:nvPr>
              <p:custDataLst>
                <p:tags r:id="rId127"/>
              </p:custDataLst>
            </p:nvPr>
          </p:nvCxnSpPr>
          <p:spPr>
            <a:xfrm rot="5400000">
              <a:off x="1903" y="8003"/>
              <a:ext cx="242" cy="2"/>
            </a:xfrm>
            <a:prstGeom prst="line">
              <a:avLst/>
            </a:prstGeom>
            <a:noFill/>
            <a:ln w="25400" cap="flat" cmpd="sng" algn="ctr">
              <a:solidFill>
                <a:srgbClr val="184199"/>
              </a:solidFill>
              <a:prstDash val="solid"/>
              <a:miter lim="800000"/>
            </a:ln>
            <a:effectLst/>
          </p:spPr>
        </p:cxnSp>
        <p:cxnSp>
          <p:nvCxnSpPr>
            <p:cNvPr id="71" name="直接连接符 70"/>
            <p:cNvCxnSpPr/>
            <p:nvPr>
              <p:custDataLst>
                <p:tags r:id="rId128"/>
              </p:custDataLst>
            </p:nvPr>
          </p:nvCxnSpPr>
          <p:spPr>
            <a:xfrm>
              <a:off x="1935" y="8334"/>
              <a:ext cx="716" cy="0"/>
            </a:xfrm>
            <a:prstGeom prst="line">
              <a:avLst/>
            </a:prstGeom>
            <a:noFill/>
            <a:ln w="12700" cap="flat" cmpd="sng" algn="ctr">
              <a:solidFill>
                <a:srgbClr val="184199"/>
              </a:solidFill>
              <a:prstDash val="dash"/>
              <a:miter lim="800000"/>
            </a:ln>
            <a:effectLst/>
          </p:spPr>
        </p:cxnSp>
        <p:cxnSp>
          <p:nvCxnSpPr>
            <p:cNvPr id="72" name="直接连接符 71"/>
            <p:cNvCxnSpPr/>
            <p:nvPr>
              <p:custDataLst>
                <p:tags r:id="rId129"/>
              </p:custDataLst>
            </p:nvPr>
          </p:nvCxnSpPr>
          <p:spPr>
            <a:xfrm>
              <a:off x="1935" y="8909"/>
              <a:ext cx="716" cy="0"/>
            </a:xfrm>
            <a:prstGeom prst="line">
              <a:avLst/>
            </a:prstGeom>
            <a:noFill/>
            <a:ln w="12700" cap="flat" cmpd="sng" algn="ctr">
              <a:solidFill>
                <a:srgbClr val="184199"/>
              </a:solidFill>
              <a:prstDash val="dash"/>
              <a:miter lim="800000"/>
            </a:ln>
            <a:effectLst/>
          </p:spPr>
        </p:cxnSp>
        <p:pic>
          <p:nvPicPr>
            <p:cNvPr id="73" name="图片 323"/>
            <p:cNvPicPr>
              <a:picLocks noChangeAspect="1"/>
            </p:cNvPicPr>
            <p:nvPr>
              <p:custDataLst>
                <p:tags r:id="rId130"/>
              </p:custDataLst>
            </p:nvPr>
          </p:nvPicPr>
          <p:blipFill>
            <a:blip r:embed="rId35" cstate="email"/>
            <a:srcRect/>
            <a:stretch>
              <a:fillRect/>
            </a:stretch>
          </p:blipFill>
          <p:spPr bwMode="auto">
            <a:xfrm>
              <a:off x="1788" y="8110"/>
              <a:ext cx="438" cy="382"/>
            </a:xfrm>
            <a:prstGeom prst="rect">
              <a:avLst/>
            </a:prstGeom>
            <a:noFill/>
            <a:ln w="9525">
              <a:noFill/>
              <a:miter lim="800000"/>
              <a:headEnd/>
              <a:tailEnd/>
            </a:ln>
          </p:spPr>
        </p:pic>
        <p:pic>
          <p:nvPicPr>
            <p:cNvPr id="74" name="图片 343"/>
            <p:cNvPicPr>
              <a:picLocks noChangeAspect="1"/>
            </p:cNvPicPr>
            <p:nvPr>
              <p:custDataLst>
                <p:tags r:id="rId131"/>
              </p:custDataLst>
            </p:nvPr>
          </p:nvPicPr>
          <p:blipFill>
            <a:blip r:embed="rId38" cstate="email"/>
            <a:srcRect/>
            <a:stretch>
              <a:fillRect/>
            </a:stretch>
          </p:blipFill>
          <p:spPr bwMode="auto">
            <a:xfrm>
              <a:off x="1819" y="8693"/>
              <a:ext cx="393" cy="348"/>
            </a:xfrm>
            <a:prstGeom prst="rect">
              <a:avLst/>
            </a:prstGeom>
            <a:noFill/>
            <a:ln w="9525">
              <a:noFill/>
              <a:miter lim="800000"/>
              <a:headEnd/>
              <a:tailEnd/>
            </a:ln>
          </p:spPr>
        </p:pic>
        <p:sp>
          <p:nvSpPr>
            <p:cNvPr id="75" name="圆角矩形 228"/>
            <p:cNvSpPr/>
            <p:nvPr>
              <p:custDataLst>
                <p:tags r:id="rId132"/>
              </p:custDataLst>
            </p:nvPr>
          </p:nvSpPr>
          <p:spPr>
            <a:xfrm>
              <a:off x="793" y="7809"/>
              <a:ext cx="2058" cy="2485"/>
            </a:xfrm>
            <a:prstGeom prst="roundRect">
              <a:avLst>
                <a:gd name="adj" fmla="val 4717"/>
              </a:avLst>
            </a:prstGeom>
            <a:solidFill>
              <a:schemeClr val="accent3">
                <a:lumMod val="20000"/>
                <a:lumOff val="80000"/>
              </a:schemeClr>
            </a:solidFill>
            <a:ln w="12700" cap="flat" cmpd="sng" algn="ctr">
              <a:noFill/>
              <a:prstDash val="solid"/>
              <a:miter lim="800000"/>
            </a:ln>
            <a:effectLst/>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76" name="直接连接符 75"/>
            <p:cNvCxnSpPr>
              <a:stCxn id="87" idx="2"/>
              <a:endCxn id="83" idx="0"/>
            </p:cNvCxnSpPr>
            <p:nvPr>
              <p:custDataLst>
                <p:tags r:id="rId133"/>
              </p:custDataLst>
            </p:nvPr>
          </p:nvCxnSpPr>
          <p:spPr>
            <a:xfrm flipH="1">
              <a:off x="1283" y="8660"/>
              <a:ext cx="10" cy="240"/>
            </a:xfrm>
            <a:prstGeom prst="line">
              <a:avLst/>
            </a:prstGeom>
            <a:noFill/>
            <a:ln w="25400" cap="flat" cmpd="sng" algn="ctr">
              <a:solidFill>
                <a:srgbClr val="184199"/>
              </a:solidFill>
              <a:prstDash val="solid"/>
              <a:miter lim="800000"/>
            </a:ln>
            <a:effectLst/>
          </p:spPr>
        </p:cxnSp>
        <p:cxnSp>
          <p:nvCxnSpPr>
            <p:cNvPr id="77" name="直接连接符 76"/>
            <p:cNvCxnSpPr>
              <a:stCxn id="88" idx="2"/>
              <a:endCxn id="84" idx="0"/>
            </p:cNvCxnSpPr>
            <p:nvPr>
              <p:custDataLst>
                <p:tags r:id="rId134"/>
              </p:custDataLst>
            </p:nvPr>
          </p:nvCxnSpPr>
          <p:spPr>
            <a:xfrm flipH="1">
              <a:off x="1847" y="8661"/>
              <a:ext cx="9" cy="219"/>
            </a:xfrm>
            <a:prstGeom prst="line">
              <a:avLst/>
            </a:prstGeom>
            <a:noFill/>
            <a:ln w="25400" cap="flat" cmpd="sng" algn="ctr">
              <a:solidFill>
                <a:srgbClr val="184199"/>
              </a:solidFill>
              <a:prstDash val="solid"/>
              <a:miter lim="800000"/>
            </a:ln>
            <a:effectLst/>
          </p:spPr>
        </p:cxnSp>
        <p:grpSp>
          <p:nvGrpSpPr>
            <p:cNvPr id="78" name="组合 77"/>
            <p:cNvGrpSpPr/>
            <p:nvPr/>
          </p:nvGrpSpPr>
          <p:grpSpPr>
            <a:xfrm rot="0">
              <a:off x="1499" y="7623"/>
              <a:ext cx="863" cy="376"/>
              <a:chOff x="2467936" y="2358207"/>
              <a:chExt cx="669925" cy="310515"/>
            </a:xfrm>
          </p:grpSpPr>
          <p:sp>
            <p:nvSpPr>
              <p:cNvPr id="79" name="任意形状 33"/>
              <p:cNvSpPr/>
              <p:nvPr>
                <p:custDataLst>
                  <p:tags r:id="rId135"/>
                </p:custDataLst>
              </p:nvPr>
            </p:nvSpPr>
            <p:spPr>
              <a:xfrm>
                <a:off x="2525086" y="2358207"/>
                <a:ext cx="546100" cy="310515"/>
              </a:xfrm>
              <a:custGeom>
                <a:avLst/>
                <a:gdLst>
                  <a:gd name="connsiteX0" fmla="*/ 2225150 w 3964603"/>
                  <a:gd name="connsiteY0" fmla="*/ 0 h 2369669"/>
                  <a:gd name="connsiteX1" fmla="*/ 3326336 w 3964603"/>
                  <a:gd name="connsiteY1" fmla="*/ 897492 h 2369669"/>
                  <a:gd name="connsiteX2" fmla="*/ 3342312 w 3964603"/>
                  <a:gd name="connsiteY2" fmla="*/ 1002169 h 2369669"/>
                  <a:gd name="connsiteX3" fmla="*/ 3416048 w 3964603"/>
                  <a:gd name="connsiteY3" fmla="*/ 1009602 h 2369669"/>
                  <a:gd name="connsiteX4" fmla="*/ 3964603 w 3964603"/>
                  <a:gd name="connsiteY4" fmla="*/ 1682657 h 2369669"/>
                  <a:gd name="connsiteX5" fmla="*/ 3277591 w 3964603"/>
                  <a:gd name="connsiteY5" fmla="*/ 2369669 h 2369669"/>
                  <a:gd name="connsiteX6" fmla="*/ 3265322 w 3964603"/>
                  <a:gd name="connsiteY6" fmla="*/ 2368432 h 2369669"/>
                  <a:gd name="connsiteX7" fmla="*/ 3265322 w 3964603"/>
                  <a:gd name="connsiteY7" fmla="*/ 2369669 h 2369669"/>
                  <a:gd name="connsiteX8" fmla="*/ 696120 w 3964603"/>
                  <a:gd name="connsiteY8" fmla="*/ 2369669 h 2369669"/>
                  <a:gd name="connsiteX9" fmla="*/ 696120 w 3964603"/>
                  <a:gd name="connsiteY9" fmla="*/ 2368751 h 2369669"/>
                  <a:gd name="connsiteX10" fmla="*/ 687012 w 3964603"/>
                  <a:gd name="connsiteY10" fmla="*/ 2369669 h 2369669"/>
                  <a:gd name="connsiteX11" fmla="*/ 0 w 3964603"/>
                  <a:gd name="connsiteY11" fmla="*/ 1682657 h 2369669"/>
                  <a:gd name="connsiteX12" fmla="*/ 419596 w 3964603"/>
                  <a:gd name="connsiteY12" fmla="*/ 1049634 h 2369669"/>
                  <a:gd name="connsiteX13" fmla="*/ 479586 w 3964603"/>
                  <a:gd name="connsiteY13" fmla="*/ 1031012 h 2369669"/>
                  <a:gd name="connsiteX14" fmla="*/ 480815 w 3964603"/>
                  <a:gd name="connsiteY14" fmla="*/ 1018815 h 2369669"/>
                  <a:gd name="connsiteX15" fmla="*/ 1118086 w 3964603"/>
                  <a:gd name="connsiteY15" fmla="*/ 499425 h 2369669"/>
                  <a:gd name="connsiteX16" fmla="*/ 1249182 w 3964603"/>
                  <a:gd name="connsiteY16" fmla="*/ 512640 h 2369669"/>
                  <a:gd name="connsiteX17" fmla="*/ 1277402 w 3964603"/>
                  <a:gd name="connsiteY17" fmla="*/ 521400 h 2369669"/>
                  <a:gd name="connsiteX18" fmla="*/ 1293094 w 3964603"/>
                  <a:gd name="connsiteY18" fmla="*/ 495571 h 2369669"/>
                  <a:gd name="connsiteX19" fmla="*/ 2225150 w 3964603"/>
                  <a:gd name="connsiteY19" fmla="*/ 0 h 2369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964603" h="2369669">
                    <a:moveTo>
                      <a:pt x="2225150" y="0"/>
                    </a:moveTo>
                    <a:cubicBezTo>
                      <a:pt x="2768333" y="0"/>
                      <a:pt x="3221525" y="385295"/>
                      <a:pt x="3326336" y="897492"/>
                    </a:cubicBezTo>
                    <a:lnTo>
                      <a:pt x="3342312" y="1002169"/>
                    </a:lnTo>
                    <a:lnTo>
                      <a:pt x="3416048" y="1009602"/>
                    </a:lnTo>
                    <a:cubicBezTo>
                      <a:pt x="3729108" y="1073664"/>
                      <a:pt x="3964603" y="1350659"/>
                      <a:pt x="3964603" y="1682657"/>
                    </a:cubicBezTo>
                    <a:cubicBezTo>
                      <a:pt x="3964603" y="2062083"/>
                      <a:pt x="3657017" y="2369669"/>
                      <a:pt x="3277591" y="2369669"/>
                    </a:cubicBezTo>
                    <a:lnTo>
                      <a:pt x="3265322" y="2368432"/>
                    </a:lnTo>
                    <a:lnTo>
                      <a:pt x="3265322" y="2369669"/>
                    </a:lnTo>
                    <a:lnTo>
                      <a:pt x="696120" y="2369669"/>
                    </a:lnTo>
                    <a:lnTo>
                      <a:pt x="696120" y="2368751"/>
                    </a:lnTo>
                    <a:lnTo>
                      <a:pt x="687012" y="2369669"/>
                    </a:lnTo>
                    <a:cubicBezTo>
                      <a:pt x="307586" y="2369669"/>
                      <a:pt x="0" y="2062083"/>
                      <a:pt x="0" y="1682657"/>
                    </a:cubicBezTo>
                    <a:cubicBezTo>
                      <a:pt x="0" y="1398087"/>
                      <a:pt x="173017" y="1153928"/>
                      <a:pt x="419596" y="1049634"/>
                    </a:cubicBezTo>
                    <a:lnTo>
                      <a:pt x="479586" y="1031012"/>
                    </a:lnTo>
                    <a:lnTo>
                      <a:pt x="480815" y="1018815"/>
                    </a:lnTo>
                    <a:cubicBezTo>
                      <a:pt x="541471" y="722400"/>
                      <a:pt x="803740" y="499425"/>
                      <a:pt x="1118086" y="499425"/>
                    </a:cubicBezTo>
                    <a:cubicBezTo>
                      <a:pt x="1162993" y="499425"/>
                      <a:pt x="1206837" y="503975"/>
                      <a:pt x="1249182" y="512640"/>
                    </a:cubicBezTo>
                    <a:lnTo>
                      <a:pt x="1277402" y="521400"/>
                    </a:lnTo>
                    <a:lnTo>
                      <a:pt x="1293094" y="495571"/>
                    </a:lnTo>
                    <a:cubicBezTo>
                      <a:pt x="1495089" y="196579"/>
                      <a:pt x="1837163" y="0"/>
                      <a:pt x="2225150" y="0"/>
                    </a:cubicBezTo>
                    <a:close/>
                  </a:path>
                </a:pathLst>
              </a:custGeom>
              <a:solidFill>
                <a:srgbClr val="0170C1"/>
              </a:solidFill>
              <a:ln w="12700" cap="flat" cmpd="sng" algn="ctr">
                <a:noFill/>
                <a:prstDash val="solid"/>
                <a:miter lim="800000"/>
              </a:ln>
              <a:effectLst/>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1" lang="zh-CN" altLang="en-US" sz="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0" name="矩形 242"/>
              <p:cNvSpPr>
                <a:spLocks noChangeArrowheads="1"/>
              </p:cNvSpPr>
              <p:nvPr>
                <p:custDataLst>
                  <p:tags r:id="rId136"/>
                </p:custDataLst>
              </p:nvPr>
            </p:nvSpPr>
            <p:spPr bwMode="auto">
              <a:xfrm>
                <a:off x="2467936" y="2456632"/>
                <a:ext cx="669925" cy="208937"/>
              </a:xfrm>
              <a:prstGeom prst="rect">
                <a:avLst/>
              </a:prstGeom>
              <a:noFill/>
              <a:ln w="9525">
                <a:noFill/>
                <a:miter lim="800000"/>
              </a:ln>
            </p:spPr>
            <p:txBody>
              <a:bodyPr wrap="square">
                <a:spAutoFit/>
              </a:bodyPr>
              <a:p>
                <a:pPr marL="228600" indent="-228600">
                  <a:lnSpc>
                    <a:spcPct val="90000"/>
                  </a:lnSpc>
                  <a:spcBef>
                    <a:spcPts val="1000"/>
                  </a:spcBef>
                </a:pPr>
                <a:r>
                  <a:rPr kumimoji="1" lang="en-US" altLang="zh-CN" sz="500">
                    <a:solidFill>
                      <a:prstClr val="white"/>
                    </a:solidFill>
                    <a:latin typeface="微软雅黑" panose="020B0503020204020204" charset="-122"/>
                    <a:ea typeface="微软雅黑" panose="020B0503020204020204" charset="-122"/>
                  </a:rPr>
                  <a:t>Internet</a:t>
                </a:r>
                <a:endParaRPr kumimoji="1" lang="zh-CN" altLang="en-US" sz="500">
                  <a:solidFill>
                    <a:prstClr val="white"/>
                  </a:solidFill>
                  <a:latin typeface="微软雅黑" panose="020B0503020204020204" charset="-122"/>
                  <a:ea typeface="微软雅黑" panose="020B0503020204020204" charset="-122"/>
                </a:endParaRPr>
              </a:p>
            </p:txBody>
          </p:sp>
        </p:grpSp>
        <p:cxnSp>
          <p:nvCxnSpPr>
            <p:cNvPr id="81" name="直接连接符 80"/>
            <p:cNvCxnSpPr/>
            <p:nvPr>
              <p:custDataLst>
                <p:tags r:id="rId137"/>
              </p:custDataLst>
            </p:nvPr>
          </p:nvCxnSpPr>
          <p:spPr>
            <a:xfrm>
              <a:off x="1429" y="8456"/>
              <a:ext cx="340" cy="0"/>
            </a:xfrm>
            <a:prstGeom prst="line">
              <a:avLst/>
            </a:prstGeom>
            <a:noFill/>
            <a:ln w="12700" cap="flat" cmpd="sng" algn="ctr">
              <a:solidFill>
                <a:srgbClr val="184199"/>
              </a:solidFill>
              <a:prstDash val="dash"/>
              <a:miter lim="800000"/>
            </a:ln>
            <a:effectLst/>
          </p:spPr>
        </p:cxnSp>
        <p:cxnSp>
          <p:nvCxnSpPr>
            <p:cNvPr id="82" name="直接连接符 81"/>
            <p:cNvCxnSpPr/>
            <p:nvPr>
              <p:custDataLst>
                <p:tags r:id="rId138"/>
              </p:custDataLst>
            </p:nvPr>
          </p:nvCxnSpPr>
          <p:spPr>
            <a:xfrm>
              <a:off x="1412" y="9062"/>
              <a:ext cx="397" cy="0"/>
            </a:xfrm>
            <a:prstGeom prst="line">
              <a:avLst/>
            </a:prstGeom>
            <a:noFill/>
            <a:ln w="12700" cap="flat" cmpd="sng" algn="ctr">
              <a:solidFill>
                <a:srgbClr val="184199"/>
              </a:solidFill>
              <a:prstDash val="dash"/>
              <a:miter lim="800000"/>
            </a:ln>
            <a:effectLst/>
          </p:spPr>
        </p:cxnSp>
        <p:pic>
          <p:nvPicPr>
            <p:cNvPr id="83" name="图片 335"/>
            <p:cNvPicPr>
              <a:picLocks noChangeAspect="1"/>
            </p:cNvPicPr>
            <p:nvPr>
              <p:custDataLst>
                <p:tags r:id="rId139"/>
              </p:custDataLst>
            </p:nvPr>
          </p:nvPicPr>
          <p:blipFill>
            <a:blip r:embed="rId78" cstate="email"/>
            <a:srcRect/>
            <a:stretch>
              <a:fillRect/>
            </a:stretch>
          </p:blipFill>
          <p:spPr bwMode="auto">
            <a:xfrm>
              <a:off x="1052" y="8900"/>
              <a:ext cx="461" cy="410"/>
            </a:xfrm>
            <a:prstGeom prst="rect">
              <a:avLst/>
            </a:prstGeom>
            <a:noFill/>
            <a:ln w="9525">
              <a:noFill/>
              <a:miter lim="800000"/>
              <a:headEnd/>
              <a:tailEnd/>
            </a:ln>
          </p:spPr>
        </p:pic>
        <p:pic>
          <p:nvPicPr>
            <p:cNvPr id="84" name="图片 338"/>
            <p:cNvPicPr>
              <a:picLocks noChangeAspect="1"/>
            </p:cNvPicPr>
            <p:nvPr>
              <p:custDataLst>
                <p:tags r:id="rId140"/>
              </p:custDataLst>
            </p:nvPr>
          </p:nvPicPr>
          <p:blipFill>
            <a:blip r:embed="rId78" cstate="email"/>
            <a:srcRect/>
            <a:stretch>
              <a:fillRect/>
            </a:stretch>
          </p:blipFill>
          <p:spPr bwMode="auto">
            <a:xfrm>
              <a:off x="1616" y="8880"/>
              <a:ext cx="461" cy="410"/>
            </a:xfrm>
            <a:prstGeom prst="rect">
              <a:avLst/>
            </a:prstGeom>
            <a:noFill/>
            <a:ln w="9525">
              <a:noFill/>
              <a:miter lim="800000"/>
              <a:headEnd/>
              <a:tailEnd/>
            </a:ln>
          </p:spPr>
        </p:pic>
        <p:pic>
          <p:nvPicPr>
            <p:cNvPr id="85" name="图片 385"/>
            <p:cNvPicPr>
              <a:picLocks noChangeAspect="1"/>
            </p:cNvPicPr>
            <p:nvPr>
              <p:custDataLst>
                <p:tags r:id="rId141"/>
              </p:custDataLst>
            </p:nvPr>
          </p:nvPicPr>
          <p:blipFill>
            <a:blip r:embed="rId42" cstate="email"/>
            <a:srcRect/>
            <a:stretch>
              <a:fillRect/>
            </a:stretch>
          </p:blipFill>
          <p:spPr bwMode="auto">
            <a:xfrm>
              <a:off x="2179" y="8967"/>
              <a:ext cx="501" cy="207"/>
            </a:xfrm>
            <a:prstGeom prst="rect">
              <a:avLst/>
            </a:prstGeom>
            <a:noFill/>
            <a:ln w="9525">
              <a:noFill/>
              <a:miter lim="800000"/>
              <a:headEnd/>
              <a:tailEnd/>
            </a:ln>
          </p:spPr>
        </p:pic>
        <p:cxnSp>
          <p:nvCxnSpPr>
            <p:cNvPr id="86" name="直接连接符 85"/>
            <p:cNvCxnSpPr/>
            <p:nvPr>
              <p:custDataLst>
                <p:tags r:id="rId142"/>
              </p:custDataLst>
            </p:nvPr>
          </p:nvCxnSpPr>
          <p:spPr>
            <a:xfrm>
              <a:off x="1980" y="9100"/>
              <a:ext cx="282" cy="2"/>
            </a:xfrm>
            <a:prstGeom prst="line">
              <a:avLst/>
            </a:prstGeom>
            <a:noFill/>
            <a:ln w="25400" cap="flat" cmpd="sng" algn="ctr">
              <a:solidFill>
                <a:srgbClr val="184199"/>
              </a:solidFill>
              <a:prstDash val="solid"/>
              <a:miter lim="800000"/>
            </a:ln>
            <a:effectLst/>
          </p:spPr>
        </p:cxnSp>
        <p:pic>
          <p:nvPicPr>
            <p:cNvPr id="87" name="图片 330"/>
            <p:cNvPicPr>
              <a:picLocks noChangeAspect="1"/>
            </p:cNvPicPr>
            <p:nvPr>
              <p:custDataLst>
                <p:tags r:id="rId143"/>
              </p:custDataLst>
            </p:nvPr>
          </p:nvPicPr>
          <p:blipFill>
            <a:blip r:embed="rId83" cstate="email"/>
            <a:srcRect/>
            <a:stretch>
              <a:fillRect/>
            </a:stretch>
          </p:blipFill>
          <p:spPr bwMode="auto">
            <a:xfrm>
              <a:off x="1087" y="8304"/>
              <a:ext cx="412" cy="357"/>
            </a:xfrm>
            <a:prstGeom prst="rect">
              <a:avLst/>
            </a:prstGeom>
            <a:noFill/>
            <a:ln w="9525">
              <a:noFill/>
              <a:miter lim="800000"/>
              <a:headEnd/>
              <a:tailEnd/>
            </a:ln>
          </p:spPr>
        </p:pic>
        <p:pic>
          <p:nvPicPr>
            <p:cNvPr id="88" name="图片 331"/>
            <p:cNvPicPr>
              <a:picLocks noChangeAspect="1"/>
            </p:cNvPicPr>
            <p:nvPr>
              <p:custDataLst>
                <p:tags r:id="rId144"/>
              </p:custDataLst>
            </p:nvPr>
          </p:nvPicPr>
          <p:blipFill>
            <a:blip r:embed="rId83" cstate="email"/>
            <a:srcRect/>
            <a:stretch>
              <a:fillRect/>
            </a:stretch>
          </p:blipFill>
          <p:spPr bwMode="auto">
            <a:xfrm>
              <a:off x="1650" y="8304"/>
              <a:ext cx="412" cy="357"/>
            </a:xfrm>
            <a:prstGeom prst="rect">
              <a:avLst/>
            </a:prstGeom>
            <a:noFill/>
            <a:ln w="9525">
              <a:noFill/>
              <a:miter lim="800000"/>
              <a:headEnd/>
              <a:tailEnd/>
            </a:ln>
          </p:spPr>
        </p:pic>
        <p:pic>
          <p:nvPicPr>
            <p:cNvPr id="89" name="图片 88"/>
            <p:cNvPicPr>
              <a:picLocks noChangeAspect="1"/>
            </p:cNvPicPr>
            <p:nvPr/>
          </p:nvPicPr>
          <p:blipFill>
            <a:blip r:embed="rId85" cstate="screen"/>
            <a:stretch>
              <a:fillRect/>
            </a:stretch>
          </p:blipFill>
          <p:spPr>
            <a:xfrm>
              <a:off x="906" y="9552"/>
              <a:ext cx="284" cy="235"/>
            </a:xfrm>
            <a:prstGeom prst="rect">
              <a:avLst/>
            </a:prstGeom>
          </p:spPr>
        </p:pic>
        <p:pic>
          <p:nvPicPr>
            <p:cNvPr id="90" name="图片 89"/>
            <p:cNvPicPr>
              <a:picLocks noChangeAspect="1"/>
            </p:cNvPicPr>
            <p:nvPr/>
          </p:nvPicPr>
          <p:blipFill>
            <a:blip r:embed="rId85" cstate="screen"/>
            <a:stretch>
              <a:fillRect/>
            </a:stretch>
          </p:blipFill>
          <p:spPr>
            <a:xfrm>
              <a:off x="1291" y="9552"/>
              <a:ext cx="284" cy="235"/>
            </a:xfrm>
            <a:prstGeom prst="rect">
              <a:avLst/>
            </a:prstGeom>
          </p:spPr>
        </p:pic>
        <p:pic>
          <p:nvPicPr>
            <p:cNvPr id="91" name="Picture 8" descr="ICON_Server_flat_Q408.png"/>
            <p:cNvPicPr>
              <a:picLocks noChangeAspect="1"/>
            </p:cNvPicPr>
            <p:nvPr>
              <p:custDataLst>
                <p:tags r:id="rId145"/>
              </p:custDataLst>
            </p:nvPr>
          </p:nvPicPr>
          <p:blipFill>
            <a:blip r:embed="rId11" cstate="email"/>
            <a:srcRect/>
            <a:stretch>
              <a:fillRect/>
            </a:stretch>
          </p:blipFill>
          <p:spPr bwMode="auto">
            <a:xfrm>
              <a:off x="1987" y="9850"/>
              <a:ext cx="786" cy="189"/>
            </a:xfrm>
            <a:prstGeom prst="rect">
              <a:avLst/>
            </a:prstGeom>
            <a:noFill/>
            <a:ln w="9525">
              <a:noFill/>
              <a:miter lim="800000"/>
              <a:headEnd/>
              <a:tailEnd/>
            </a:ln>
          </p:spPr>
        </p:pic>
        <p:pic>
          <p:nvPicPr>
            <p:cNvPr id="92" name="Picture 4"/>
            <p:cNvPicPr>
              <a:picLocks noChangeAspect="1" noChangeArrowheads="1"/>
            </p:cNvPicPr>
            <p:nvPr>
              <p:custDataLst>
                <p:tags r:id="rId146"/>
              </p:custDataLst>
            </p:nvPr>
          </p:nvPicPr>
          <p:blipFill>
            <a:blip r:embed="rId14" cstate="email">
              <a:duotone>
                <a:prstClr val="black"/>
                <a:srgbClr val="4EBE53">
                  <a:tint val="45000"/>
                  <a:satMod val="400000"/>
                </a:srgbClr>
              </a:duotone>
            </a:blip>
            <a:srcRect/>
            <a:stretch>
              <a:fillRect/>
            </a:stretch>
          </p:blipFill>
          <p:spPr bwMode="auto">
            <a:xfrm>
              <a:off x="2436" y="9507"/>
              <a:ext cx="297" cy="213"/>
            </a:xfrm>
            <a:prstGeom prst="rect">
              <a:avLst/>
            </a:prstGeom>
            <a:noFill/>
            <a:ln>
              <a:noFill/>
            </a:ln>
            <a:effectLst/>
          </p:spPr>
        </p:pic>
        <p:pic>
          <p:nvPicPr>
            <p:cNvPr id="93" name="Picture 4"/>
            <p:cNvPicPr>
              <a:picLocks noChangeAspect="1" noChangeArrowheads="1"/>
            </p:cNvPicPr>
            <p:nvPr>
              <p:custDataLst>
                <p:tags r:id="rId147"/>
              </p:custDataLst>
            </p:nvPr>
          </p:nvPicPr>
          <p:blipFill>
            <a:blip r:embed="rId14" cstate="email">
              <a:duotone>
                <a:prstClr val="black"/>
                <a:srgbClr val="4EBE53">
                  <a:tint val="45000"/>
                  <a:satMod val="400000"/>
                </a:srgbClr>
              </a:duotone>
            </a:blip>
            <a:srcRect/>
            <a:stretch>
              <a:fillRect/>
            </a:stretch>
          </p:blipFill>
          <p:spPr bwMode="auto">
            <a:xfrm>
              <a:off x="2105" y="9507"/>
              <a:ext cx="297" cy="213"/>
            </a:xfrm>
            <a:prstGeom prst="rect">
              <a:avLst/>
            </a:prstGeom>
            <a:noFill/>
            <a:ln>
              <a:noFill/>
            </a:ln>
            <a:effectLst/>
          </p:spPr>
        </p:pic>
        <p:pic>
          <p:nvPicPr>
            <p:cNvPr id="94" name="图片 291"/>
            <p:cNvPicPr>
              <a:picLocks noChangeAspect="1"/>
            </p:cNvPicPr>
            <p:nvPr>
              <p:custDataLst>
                <p:tags r:id="rId148"/>
              </p:custDataLst>
            </p:nvPr>
          </p:nvPicPr>
          <p:blipFill>
            <a:blip r:embed="rId26" cstate="email"/>
            <a:srcRect/>
            <a:stretch>
              <a:fillRect/>
            </a:stretch>
          </p:blipFill>
          <p:spPr bwMode="auto">
            <a:xfrm>
              <a:off x="2189" y="9672"/>
              <a:ext cx="161" cy="158"/>
            </a:xfrm>
            <a:prstGeom prst="rect">
              <a:avLst/>
            </a:prstGeom>
            <a:noFill/>
            <a:ln w="9525">
              <a:noFill/>
              <a:miter lim="800000"/>
              <a:headEnd/>
              <a:tailEnd/>
            </a:ln>
          </p:spPr>
        </p:pic>
        <p:pic>
          <p:nvPicPr>
            <p:cNvPr id="95" name="图片 292"/>
            <p:cNvPicPr>
              <a:picLocks noChangeAspect="1"/>
            </p:cNvPicPr>
            <p:nvPr>
              <p:custDataLst>
                <p:tags r:id="rId149"/>
              </p:custDataLst>
            </p:nvPr>
          </p:nvPicPr>
          <p:blipFill>
            <a:blip r:embed="rId26" cstate="email"/>
            <a:srcRect/>
            <a:stretch>
              <a:fillRect/>
            </a:stretch>
          </p:blipFill>
          <p:spPr bwMode="auto">
            <a:xfrm>
              <a:off x="2533" y="9672"/>
              <a:ext cx="162" cy="158"/>
            </a:xfrm>
            <a:prstGeom prst="rect">
              <a:avLst/>
            </a:prstGeom>
            <a:noFill/>
            <a:ln w="9525">
              <a:noFill/>
              <a:miter lim="800000"/>
              <a:headEnd/>
              <a:tailEnd/>
            </a:ln>
          </p:spPr>
        </p:pic>
        <p:sp>
          <p:nvSpPr>
            <p:cNvPr id="96" name="矩形 285"/>
            <p:cNvSpPr>
              <a:spLocks noChangeArrowheads="1"/>
            </p:cNvSpPr>
            <p:nvPr>
              <p:custDataLst>
                <p:tags r:id="rId150"/>
              </p:custDataLst>
            </p:nvPr>
          </p:nvSpPr>
          <p:spPr bwMode="auto">
            <a:xfrm>
              <a:off x="1979" y="10049"/>
              <a:ext cx="794" cy="227"/>
            </a:xfrm>
            <a:prstGeom prst="rect">
              <a:avLst/>
            </a:prstGeom>
            <a:noFill/>
            <a:ln w="9525">
              <a:noFill/>
              <a:miter lim="800000"/>
            </a:ln>
          </p:spPr>
          <p:txBody>
            <a:bodyPr wrap="square">
              <a:noAutofit/>
            </a:bodyPr>
            <a:p>
              <a:pPr marL="228600" indent="-227965" algn="ctr">
                <a:lnSpc>
                  <a:spcPct val="90000"/>
                </a:lnSpc>
                <a:spcBef>
                  <a:spcPts val="1000"/>
                </a:spcBef>
              </a:pPr>
              <a:r>
                <a:rPr kumimoji="1" lang="zh-CN" altLang="en-US" sz="500" b="1" dirty="0">
                  <a:solidFill>
                    <a:srgbClr val="184199"/>
                  </a:solidFill>
                  <a:latin typeface="微软雅黑" panose="020B0503020204020204" charset="-122"/>
                  <a:ea typeface="微软雅黑" panose="020B0503020204020204" charset="-122"/>
                </a:rPr>
                <a:t>业务区</a:t>
              </a:r>
              <a:endParaRPr kumimoji="1" lang="zh-CN" altLang="en-US" sz="500" b="1" dirty="0">
                <a:solidFill>
                  <a:srgbClr val="184199"/>
                </a:solidFill>
                <a:latin typeface="微软雅黑" panose="020B0503020204020204" charset="-122"/>
                <a:ea typeface="微软雅黑" panose="020B0503020204020204" charset="-122"/>
              </a:endParaRPr>
            </a:p>
          </p:txBody>
        </p:sp>
        <p:sp>
          <p:nvSpPr>
            <p:cNvPr id="97" name="矩形 284"/>
            <p:cNvSpPr>
              <a:spLocks noChangeArrowheads="1"/>
            </p:cNvSpPr>
            <p:nvPr>
              <p:custDataLst>
                <p:tags r:id="rId151"/>
              </p:custDataLst>
            </p:nvPr>
          </p:nvSpPr>
          <p:spPr bwMode="auto">
            <a:xfrm>
              <a:off x="906" y="10013"/>
              <a:ext cx="832" cy="253"/>
            </a:xfrm>
            <a:prstGeom prst="rect">
              <a:avLst/>
            </a:prstGeom>
            <a:noFill/>
            <a:ln w="9525">
              <a:noFill/>
              <a:miter lim="800000"/>
            </a:ln>
          </p:spPr>
          <p:txBody>
            <a:bodyPr wrap="square">
              <a:spAutoFit/>
            </a:bodyPr>
            <a:p>
              <a:pPr marL="228600" indent="-228600">
                <a:lnSpc>
                  <a:spcPct val="90000"/>
                </a:lnSpc>
                <a:spcBef>
                  <a:spcPts val="1000"/>
                </a:spcBef>
              </a:pPr>
              <a:r>
                <a:rPr kumimoji="1" lang="zh-CN" altLang="en-US" sz="500" b="1" dirty="0">
                  <a:solidFill>
                    <a:srgbClr val="184199"/>
                  </a:solidFill>
                  <a:latin typeface="微软雅黑" panose="020B0503020204020204" charset="-122"/>
                  <a:ea typeface="微软雅黑" panose="020B0503020204020204" charset="-122"/>
                </a:rPr>
                <a:t>办公区</a:t>
              </a:r>
              <a:endParaRPr kumimoji="1" lang="zh-CN" altLang="en-US" sz="500" b="1" dirty="0">
                <a:solidFill>
                  <a:srgbClr val="184199"/>
                </a:solidFill>
                <a:latin typeface="微软雅黑" panose="020B0503020204020204" charset="-122"/>
                <a:ea typeface="微软雅黑" panose="020B0503020204020204" charset="-122"/>
              </a:endParaRPr>
            </a:p>
          </p:txBody>
        </p:sp>
        <p:pic>
          <p:nvPicPr>
            <p:cNvPr id="98" name="图片 260"/>
            <p:cNvPicPr/>
            <p:nvPr>
              <p:custDataLst>
                <p:tags r:id="rId152"/>
              </p:custDataLst>
            </p:nvPr>
          </p:nvPicPr>
          <p:blipFill>
            <a:blip r:embed="rId94" cstate="email"/>
            <a:srcRect/>
            <a:stretch>
              <a:fillRect/>
            </a:stretch>
          </p:blipFill>
          <p:spPr bwMode="auto">
            <a:xfrm>
              <a:off x="1650" y="9552"/>
              <a:ext cx="284" cy="227"/>
            </a:xfrm>
            <a:prstGeom prst="rect">
              <a:avLst/>
            </a:prstGeom>
            <a:noFill/>
            <a:ln w="9525">
              <a:noFill/>
              <a:miter lim="800000"/>
              <a:headEnd/>
              <a:tailEnd/>
            </a:ln>
          </p:spPr>
        </p:pic>
        <p:sp>
          <p:nvSpPr>
            <p:cNvPr id="99" name="TextBox 79"/>
            <p:cNvSpPr txBox="1">
              <a:spLocks noChangeArrowheads="1"/>
            </p:cNvSpPr>
            <p:nvPr>
              <p:custDataLst>
                <p:tags r:id="rId153"/>
              </p:custDataLst>
            </p:nvPr>
          </p:nvSpPr>
          <p:spPr bwMode="auto">
            <a:xfrm>
              <a:off x="696" y="9344"/>
              <a:ext cx="828" cy="241"/>
            </a:xfrm>
            <a:prstGeom prst="rect">
              <a:avLst/>
            </a:prstGeom>
            <a:noFill/>
            <a:ln w="9525">
              <a:noFill/>
              <a:miter lim="800000"/>
            </a:ln>
          </p:spPr>
          <p:txBody>
            <a:bodyPr wrap="square">
              <a:spAutoFit/>
            </a:bodyPr>
            <a:p>
              <a:pPr marL="228600" marR="0" lvl="0" indent="-228600" defTabSz="914400" eaLnBrk="1" fontAlgn="auto" latinLnBrk="0" hangingPunct="1">
                <a:lnSpc>
                  <a:spcPct val="90000"/>
                </a:lnSpc>
                <a:spcBef>
                  <a:spcPts val="1000"/>
                </a:spcBef>
                <a:spcAft>
                  <a:spcPts val="0"/>
                </a:spcAft>
                <a:buClrTx/>
                <a:buSzTx/>
                <a:buFontTx/>
                <a:buNone/>
                <a:defRPr/>
              </a:pPr>
              <a:r>
                <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rPr>
                <a:t>EDR agent</a:t>
              </a:r>
              <a:endPar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endParaRPr>
            </a:p>
          </p:txBody>
        </p:sp>
        <p:sp>
          <p:nvSpPr>
            <p:cNvPr id="100" name="TextBox 79"/>
            <p:cNvSpPr txBox="1">
              <a:spLocks noChangeArrowheads="1"/>
            </p:cNvSpPr>
            <p:nvPr>
              <p:custDataLst>
                <p:tags r:id="rId154"/>
              </p:custDataLst>
            </p:nvPr>
          </p:nvSpPr>
          <p:spPr bwMode="auto">
            <a:xfrm>
              <a:off x="2023" y="9523"/>
              <a:ext cx="828" cy="241"/>
            </a:xfrm>
            <a:prstGeom prst="rect">
              <a:avLst/>
            </a:prstGeom>
            <a:noFill/>
            <a:ln w="9525">
              <a:noFill/>
              <a:miter lim="800000"/>
            </a:ln>
          </p:spPr>
          <p:txBody>
            <a:bodyPr wrap="square">
              <a:spAutoFit/>
            </a:bodyPr>
            <a:p>
              <a:pPr marL="228600" marR="0" lvl="0" indent="-228600" defTabSz="914400" eaLnBrk="1" fontAlgn="auto" latinLnBrk="0" hangingPunct="1">
                <a:lnSpc>
                  <a:spcPct val="90000"/>
                </a:lnSpc>
                <a:spcBef>
                  <a:spcPts val="1000"/>
                </a:spcBef>
                <a:spcAft>
                  <a:spcPts val="0"/>
                </a:spcAft>
                <a:buClrTx/>
                <a:buSzTx/>
                <a:buFontTx/>
                <a:buNone/>
                <a:defRPr/>
              </a:pPr>
              <a:r>
                <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rPr>
                <a:t>EDR agent</a:t>
              </a:r>
              <a:endPar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endParaRPr>
            </a:p>
          </p:txBody>
        </p:sp>
        <p:sp>
          <p:nvSpPr>
            <p:cNvPr id="101" name="文本框 100"/>
            <p:cNvSpPr txBox="1"/>
            <p:nvPr/>
          </p:nvSpPr>
          <p:spPr>
            <a:xfrm>
              <a:off x="2105" y="8729"/>
              <a:ext cx="682" cy="276"/>
            </a:xfrm>
            <a:prstGeom prst="rect">
              <a:avLst/>
            </a:prstGeom>
            <a:noFill/>
          </p:spPr>
          <p:txBody>
            <a:bodyPr wrap="square" rtlCol="0" anchor="ctr" anchorCtr="0">
              <a:noAutofit/>
            </a:bodyPr>
            <a:p>
              <a:pPr marR="0" lvl="0" indent="0" algn="ctr" defTabSz="914400" fontAlgn="auto">
                <a:lnSpc>
                  <a:spcPct val="90000"/>
                </a:lnSpc>
                <a:spcBef>
                  <a:spcPts val="0"/>
                </a:spcBef>
                <a:spcAft>
                  <a:spcPts val="0"/>
                </a:spcAft>
                <a:buClrTx/>
                <a:buSzTx/>
                <a:buFontTx/>
                <a:buNone/>
                <a:defRPr/>
              </a:pPr>
              <a:r>
                <a:rPr kumimoji="1" lang="zh-CN" altLang="en-US" sz="450" b="1" kern="0" noProof="0" dirty="0">
                  <a:ln>
                    <a:noFill/>
                  </a:ln>
                  <a:solidFill>
                    <a:srgbClr val="C00000"/>
                  </a:solidFill>
                  <a:effectLst/>
                  <a:uLnTx/>
                  <a:uFillTx/>
                  <a:latin typeface="微软雅黑" panose="020B0503020204020204" charset="-122"/>
                  <a:ea typeface="微软雅黑" panose="020B0503020204020204" charset="-122"/>
                  <a:sym typeface="+mn-ea"/>
                </a:rPr>
                <a:t>探针</a:t>
              </a:r>
              <a:r>
                <a:rPr kumimoji="1" lang="en-US" altLang="zh-CN" sz="450" b="1" kern="0" noProof="0" dirty="0">
                  <a:ln>
                    <a:noFill/>
                  </a:ln>
                  <a:solidFill>
                    <a:srgbClr val="C00000"/>
                  </a:solidFill>
                  <a:effectLst/>
                  <a:uLnTx/>
                  <a:uFillTx/>
                  <a:latin typeface="微软雅黑" panose="020B0503020204020204" charset="-122"/>
                  <a:ea typeface="微软雅黑" panose="020B0503020204020204" charset="-122"/>
                  <a:sym typeface="+mn-ea"/>
                </a:rPr>
                <a:t>STA</a:t>
              </a:r>
              <a:endParaRPr kumimoji="1" lang="en-US" altLang="zh-CN" sz="450" b="1" kern="0" noProof="0" dirty="0">
                <a:ln>
                  <a:noFill/>
                </a:ln>
                <a:solidFill>
                  <a:srgbClr val="C00000"/>
                </a:solidFill>
                <a:effectLst/>
                <a:uLnTx/>
                <a:uFillTx/>
                <a:latin typeface="微软雅黑" panose="020B0503020204020204" charset="-122"/>
                <a:ea typeface="微软雅黑" panose="020B0503020204020204" charset="-122"/>
                <a:sym typeface="+mn-ea"/>
              </a:endParaRPr>
            </a:p>
          </p:txBody>
        </p:sp>
      </p:grpSp>
      <p:grpSp>
        <p:nvGrpSpPr>
          <p:cNvPr id="102" name="组合 101"/>
          <p:cNvGrpSpPr/>
          <p:nvPr/>
        </p:nvGrpSpPr>
        <p:grpSpPr>
          <a:xfrm>
            <a:off x="4243070" y="4829810"/>
            <a:ext cx="1368425" cy="1695450"/>
            <a:chOff x="696" y="7623"/>
            <a:chExt cx="2155" cy="2670"/>
          </a:xfrm>
        </p:grpSpPr>
        <p:cxnSp>
          <p:nvCxnSpPr>
            <p:cNvPr id="103" name="直接连接符 102"/>
            <p:cNvCxnSpPr/>
            <p:nvPr>
              <p:custDataLst>
                <p:tags r:id="rId155"/>
              </p:custDataLst>
            </p:nvPr>
          </p:nvCxnSpPr>
          <p:spPr>
            <a:xfrm rot="16200000" flipH="1">
              <a:off x="1832" y="8657"/>
              <a:ext cx="333" cy="0"/>
            </a:xfrm>
            <a:prstGeom prst="line">
              <a:avLst/>
            </a:prstGeom>
            <a:noFill/>
            <a:ln w="25400" cap="flat" cmpd="sng" algn="ctr">
              <a:solidFill>
                <a:srgbClr val="184199"/>
              </a:solidFill>
              <a:prstDash val="solid"/>
              <a:miter lim="800000"/>
            </a:ln>
            <a:effectLst/>
          </p:spPr>
        </p:cxnSp>
        <p:cxnSp>
          <p:nvCxnSpPr>
            <p:cNvPr id="104" name="直接连接符 103"/>
            <p:cNvCxnSpPr/>
            <p:nvPr>
              <p:custDataLst>
                <p:tags r:id="rId156"/>
              </p:custDataLst>
            </p:nvPr>
          </p:nvCxnSpPr>
          <p:spPr>
            <a:xfrm rot="5400000">
              <a:off x="1903" y="8003"/>
              <a:ext cx="242" cy="2"/>
            </a:xfrm>
            <a:prstGeom prst="line">
              <a:avLst/>
            </a:prstGeom>
            <a:noFill/>
            <a:ln w="25400" cap="flat" cmpd="sng" algn="ctr">
              <a:solidFill>
                <a:srgbClr val="184199"/>
              </a:solidFill>
              <a:prstDash val="solid"/>
              <a:miter lim="800000"/>
            </a:ln>
            <a:effectLst/>
          </p:spPr>
        </p:cxnSp>
        <p:cxnSp>
          <p:nvCxnSpPr>
            <p:cNvPr id="105" name="直接连接符 104"/>
            <p:cNvCxnSpPr/>
            <p:nvPr>
              <p:custDataLst>
                <p:tags r:id="rId157"/>
              </p:custDataLst>
            </p:nvPr>
          </p:nvCxnSpPr>
          <p:spPr>
            <a:xfrm>
              <a:off x="1935" y="8334"/>
              <a:ext cx="716" cy="0"/>
            </a:xfrm>
            <a:prstGeom prst="line">
              <a:avLst/>
            </a:prstGeom>
            <a:noFill/>
            <a:ln w="12700" cap="flat" cmpd="sng" algn="ctr">
              <a:solidFill>
                <a:srgbClr val="184199"/>
              </a:solidFill>
              <a:prstDash val="dash"/>
              <a:miter lim="800000"/>
            </a:ln>
            <a:effectLst/>
          </p:spPr>
        </p:cxnSp>
        <p:cxnSp>
          <p:nvCxnSpPr>
            <p:cNvPr id="106" name="直接连接符 105"/>
            <p:cNvCxnSpPr/>
            <p:nvPr>
              <p:custDataLst>
                <p:tags r:id="rId158"/>
              </p:custDataLst>
            </p:nvPr>
          </p:nvCxnSpPr>
          <p:spPr>
            <a:xfrm>
              <a:off x="1935" y="8909"/>
              <a:ext cx="716" cy="0"/>
            </a:xfrm>
            <a:prstGeom prst="line">
              <a:avLst/>
            </a:prstGeom>
            <a:noFill/>
            <a:ln w="12700" cap="flat" cmpd="sng" algn="ctr">
              <a:solidFill>
                <a:srgbClr val="184199"/>
              </a:solidFill>
              <a:prstDash val="dash"/>
              <a:miter lim="800000"/>
            </a:ln>
            <a:effectLst/>
          </p:spPr>
        </p:cxnSp>
        <p:pic>
          <p:nvPicPr>
            <p:cNvPr id="107" name="图片 323"/>
            <p:cNvPicPr>
              <a:picLocks noChangeAspect="1"/>
            </p:cNvPicPr>
            <p:nvPr>
              <p:custDataLst>
                <p:tags r:id="rId159"/>
              </p:custDataLst>
            </p:nvPr>
          </p:nvPicPr>
          <p:blipFill>
            <a:blip r:embed="rId35" cstate="email"/>
            <a:srcRect/>
            <a:stretch>
              <a:fillRect/>
            </a:stretch>
          </p:blipFill>
          <p:spPr bwMode="auto">
            <a:xfrm>
              <a:off x="1788" y="8110"/>
              <a:ext cx="438" cy="382"/>
            </a:xfrm>
            <a:prstGeom prst="rect">
              <a:avLst/>
            </a:prstGeom>
            <a:noFill/>
            <a:ln w="9525">
              <a:noFill/>
              <a:miter lim="800000"/>
              <a:headEnd/>
              <a:tailEnd/>
            </a:ln>
          </p:spPr>
        </p:pic>
        <p:pic>
          <p:nvPicPr>
            <p:cNvPr id="108" name="图片 343"/>
            <p:cNvPicPr>
              <a:picLocks noChangeAspect="1"/>
            </p:cNvPicPr>
            <p:nvPr>
              <p:custDataLst>
                <p:tags r:id="rId160"/>
              </p:custDataLst>
            </p:nvPr>
          </p:nvPicPr>
          <p:blipFill>
            <a:blip r:embed="rId38" cstate="email"/>
            <a:srcRect/>
            <a:stretch>
              <a:fillRect/>
            </a:stretch>
          </p:blipFill>
          <p:spPr bwMode="auto">
            <a:xfrm>
              <a:off x="1819" y="8693"/>
              <a:ext cx="393" cy="348"/>
            </a:xfrm>
            <a:prstGeom prst="rect">
              <a:avLst/>
            </a:prstGeom>
            <a:noFill/>
            <a:ln w="9525">
              <a:noFill/>
              <a:miter lim="800000"/>
              <a:headEnd/>
              <a:tailEnd/>
            </a:ln>
          </p:spPr>
        </p:pic>
        <p:sp>
          <p:nvSpPr>
            <p:cNvPr id="109" name="圆角矩形 228"/>
            <p:cNvSpPr/>
            <p:nvPr>
              <p:custDataLst>
                <p:tags r:id="rId161"/>
              </p:custDataLst>
            </p:nvPr>
          </p:nvSpPr>
          <p:spPr>
            <a:xfrm>
              <a:off x="793" y="7809"/>
              <a:ext cx="2058" cy="2485"/>
            </a:xfrm>
            <a:prstGeom prst="roundRect">
              <a:avLst>
                <a:gd name="adj" fmla="val 4717"/>
              </a:avLst>
            </a:prstGeom>
            <a:solidFill>
              <a:schemeClr val="accent3">
                <a:lumMod val="20000"/>
                <a:lumOff val="80000"/>
              </a:schemeClr>
            </a:solidFill>
            <a:ln w="12700" cap="flat" cmpd="sng" algn="ctr">
              <a:noFill/>
              <a:prstDash val="solid"/>
              <a:miter lim="800000"/>
            </a:ln>
            <a:effectLst/>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110" name="直接连接符 109"/>
            <p:cNvCxnSpPr>
              <a:stCxn id="121" idx="2"/>
              <a:endCxn id="117" idx="0"/>
            </p:cNvCxnSpPr>
            <p:nvPr>
              <p:custDataLst>
                <p:tags r:id="rId162"/>
              </p:custDataLst>
            </p:nvPr>
          </p:nvCxnSpPr>
          <p:spPr>
            <a:xfrm flipH="1">
              <a:off x="1283" y="8660"/>
              <a:ext cx="10" cy="240"/>
            </a:xfrm>
            <a:prstGeom prst="line">
              <a:avLst/>
            </a:prstGeom>
            <a:noFill/>
            <a:ln w="25400" cap="flat" cmpd="sng" algn="ctr">
              <a:solidFill>
                <a:srgbClr val="184199"/>
              </a:solidFill>
              <a:prstDash val="solid"/>
              <a:miter lim="800000"/>
            </a:ln>
            <a:effectLst/>
          </p:spPr>
        </p:cxnSp>
        <p:cxnSp>
          <p:nvCxnSpPr>
            <p:cNvPr id="111" name="直接连接符 110"/>
            <p:cNvCxnSpPr>
              <a:stCxn id="122" idx="2"/>
              <a:endCxn id="118" idx="0"/>
            </p:cNvCxnSpPr>
            <p:nvPr>
              <p:custDataLst>
                <p:tags r:id="rId163"/>
              </p:custDataLst>
            </p:nvPr>
          </p:nvCxnSpPr>
          <p:spPr>
            <a:xfrm flipH="1">
              <a:off x="1847" y="8661"/>
              <a:ext cx="9" cy="219"/>
            </a:xfrm>
            <a:prstGeom prst="line">
              <a:avLst/>
            </a:prstGeom>
            <a:noFill/>
            <a:ln w="25400" cap="flat" cmpd="sng" algn="ctr">
              <a:solidFill>
                <a:srgbClr val="184199"/>
              </a:solidFill>
              <a:prstDash val="solid"/>
              <a:miter lim="800000"/>
            </a:ln>
            <a:effectLst/>
          </p:spPr>
        </p:cxnSp>
        <p:grpSp>
          <p:nvGrpSpPr>
            <p:cNvPr id="112" name="组合 111"/>
            <p:cNvGrpSpPr/>
            <p:nvPr/>
          </p:nvGrpSpPr>
          <p:grpSpPr>
            <a:xfrm rot="0">
              <a:off x="1499" y="7623"/>
              <a:ext cx="863" cy="376"/>
              <a:chOff x="2467936" y="2358207"/>
              <a:chExt cx="669925" cy="310515"/>
            </a:xfrm>
          </p:grpSpPr>
          <p:sp>
            <p:nvSpPr>
              <p:cNvPr id="113" name="任意形状 33"/>
              <p:cNvSpPr/>
              <p:nvPr>
                <p:custDataLst>
                  <p:tags r:id="rId164"/>
                </p:custDataLst>
              </p:nvPr>
            </p:nvSpPr>
            <p:spPr>
              <a:xfrm>
                <a:off x="2525086" y="2358207"/>
                <a:ext cx="546100" cy="310515"/>
              </a:xfrm>
              <a:custGeom>
                <a:avLst/>
                <a:gdLst>
                  <a:gd name="connsiteX0" fmla="*/ 2225150 w 3964603"/>
                  <a:gd name="connsiteY0" fmla="*/ 0 h 2369669"/>
                  <a:gd name="connsiteX1" fmla="*/ 3326336 w 3964603"/>
                  <a:gd name="connsiteY1" fmla="*/ 897492 h 2369669"/>
                  <a:gd name="connsiteX2" fmla="*/ 3342312 w 3964603"/>
                  <a:gd name="connsiteY2" fmla="*/ 1002169 h 2369669"/>
                  <a:gd name="connsiteX3" fmla="*/ 3416048 w 3964603"/>
                  <a:gd name="connsiteY3" fmla="*/ 1009602 h 2369669"/>
                  <a:gd name="connsiteX4" fmla="*/ 3964603 w 3964603"/>
                  <a:gd name="connsiteY4" fmla="*/ 1682657 h 2369669"/>
                  <a:gd name="connsiteX5" fmla="*/ 3277591 w 3964603"/>
                  <a:gd name="connsiteY5" fmla="*/ 2369669 h 2369669"/>
                  <a:gd name="connsiteX6" fmla="*/ 3265322 w 3964603"/>
                  <a:gd name="connsiteY6" fmla="*/ 2368432 h 2369669"/>
                  <a:gd name="connsiteX7" fmla="*/ 3265322 w 3964603"/>
                  <a:gd name="connsiteY7" fmla="*/ 2369669 h 2369669"/>
                  <a:gd name="connsiteX8" fmla="*/ 696120 w 3964603"/>
                  <a:gd name="connsiteY8" fmla="*/ 2369669 h 2369669"/>
                  <a:gd name="connsiteX9" fmla="*/ 696120 w 3964603"/>
                  <a:gd name="connsiteY9" fmla="*/ 2368751 h 2369669"/>
                  <a:gd name="connsiteX10" fmla="*/ 687012 w 3964603"/>
                  <a:gd name="connsiteY10" fmla="*/ 2369669 h 2369669"/>
                  <a:gd name="connsiteX11" fmla="*/ 0 w 3964603"/>
                  <a:gd name="connsiteY11" fmla="*/ 1682657 h 2369669"/>
                  <a:gd name="connsiteX12" fmla="*/ 419596 w 3964603"/>
                  <a:gd name="connsiteY12" fmla="*/ 1049634 h 2369669"/>
                  <a:gd name="connsiteX13" fmla="*/ 479586 w 3964603"/>
                  <a:gd name="connsiteY13" fmla="*/ 1031012 h 2369669"/>
                  <a:gd name="connsiteX14" fmla="*/ 480815 w 3964603"/>
                  <a:gd name="connsiteY14" fmla="*/ 1018815 h 2369669"/>
                  <a:gd name="connsiteX15" fmla="*/ 1118086 w 3964603"/>
                  <a:gd name="connsiteY15" fmla="*/ 499425 h 2369669"/>
                  <a:gd name="connsiteX16" fmla="*/ 1249182 w 3964603"/>
                  <a:gd name="connsiteY16" fmla="*/ 512640 h 2369669"/>
                  <a:gd name="connsiteX17" fmla="*/ 1277402 w 3964603"/>
                  <a:gd name="connsiteY17" fmla="*/ 521400 h 2369669"/>
                  <a:gd name="connsiteX18" fmla="*/ 1293094 w 3964603"/>
                  <a:gd name="connsiteY18" fmla="*/ 495571 h 2369669"/>
                  <a:gd name="connsiteX19" fmla="*/ 2225150 w 3964603"/>
                  <a:gd name="connsiteY19" fmla="*/ 0 h 2369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964603" h="2369669">
                    <a:moveTo>
                      <a:pt x="2225150" y="0"/>
                    </a:moveTo>
                    <a:cubicBezTo>
                      <a:pt x="2768333" y="0"/>
                      <a:pt x="3221525" y="385295"/>
                      <a:pt x="3326336" y="897492"/>
                    </a:cubicBezTo>
                    <a:lnTo>
                      <a:pt x="3342312" y="1002169"/>
                    </a:lnTo>
                    <a:lnTo>
                      <a:pt x="3416048" y="1009602"/>
                    </a:lnTo>
                    <a:cubicBezTo>
                      <a:pt x="3729108" y="1073664"/>
                      <a:pt x="3964603" y="1350659"/>
                      <a:pt x="3964603" y="1682657"/>
                    </a:cubicBezTo>
                    <a:cubicBezTo>
                      <a:pt x="3964603" y="2062083"/>
                      <a:pt x="3657017" y="2369669"/>
                      <a:pt x="3277591" y="2369669"/>
                    </a:cubicBezTo>
                    <a:lnTo>
                      <a:pt x="3265322" y="2368432"/>
                    </a:lnTo>
                    <a:lnTo>
                      <a:pt x="3265322" y="2369669"/>
                    </a:lnTo>
                    <a:lnTo>
                      <a:pt x="696120" y="2369669"/>
                    </a:lnTo>
                    <a:lnTo>
                      <a:pt x="696120" y="2368751"/>
                    </a:lnTo>
                    <a:lnTo>
                      <a:pt x="687012" y="2369669"/>
                    </a:lnTo>
                    <a:cubicBezTo>
                      <a:pt x="307586" y="2369669"/>
                      <a:pt x="0" y="2062083"/>
                      <a:pt x="0" y="1682657"/>
                    </a:cubicBezTo>
                    <a:cubicBezTo>
                      <a:pt x="0" y="1398087"/>
                      <a:pt x="173017" y="1153928"/>
                      <a:pt x="419596" y="1049634"/>
                    </a:cubicBezTo>
                    <a:lnTo>
                      <a:pt x="479586" y="1031012"/>
                    </a:lnTo>
                    <a:lnTo>
                      <a:pt x="480815" y="1018815"/>
                    </a:lnTo>
                    <a:cubicBezTo>
                      <a:pt x="541471" y="722400"/>
                      <a:pt x="803740" y="499425"/>
                      <a:pt x="1118086" y="499425"/>
                    </a:cubicBezTo>
                    <a:cubicBezTo>
                      <a:pt x="1162993" y="499425"/>
                      <a:pt x="1206837" y="503975"/>
                      <a:pt x="1249182" y="512640"/>
                    </a:cubicBezTo>
                    <a:lnTo>
                      <a:pt x="1277402" y="521400"/>
                    </a:lnTo>
                    <a:lnTo>
                      <a:pt x="1293094" y="495571"/>
                    </a:lnTo>
                    <a:cubicBezTo>
                      <a:pt x="1495089" y="196579"/>
                      <a:pt x="1837163" y="0"/>
                      <a:pt x="2225150" y="0"/>
                    </a:cubicBezTo>
                    <a:close/>
                  </a:path>
                </a:pathLst>
              </a:custGeom>
              <a:solidFill>
                <a:srgbClr val="0170C1"/>
              </a:solidFill>
              <a:ln w="12700" cap="flat" cmpd="sng" algn="ctr">
                <a:noFill/>
                <a:prstDash val="solid"/>
                <a:miter lim="800000"/>
              </a:ln>
              <a:effectLst/>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1" lang="zh-CN" altLang="en-US" sz="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4" name="矩形 242"/>
              <p:cNvSpPr>
                <a:spLocks noChangeArrowheads="1"/>
              </p:cNvSpPr>
              <p:nvPr>
                <p:custDataLst>
                  <p:tags r:id="rId165"/>
                </p:custDataLst>
              </p:nvPr>
            </p:nvSpPr>
            <p:spPr bwMode="auto">
              <a:xfrm>
                <a:off x="2467936" y="2456632"/>
                <a:ext cx="669925" cy="208937"/>
              </a:xfrm>
              <a:prstGeom prst="rect">
                <a:avLst/>
              </a:prstGeom>
              <a:noFill/>
              <a:ln w="9525">
                <a:noFill/>
                <a:miter lim="800000"/>
              </a:ln>
            </p:spPr>
            <p:txBody>
              <a:bodyPr wrap="square">
                <a:spAutoFit/>
              </a:bodyPr>
              <a:p>
                <a:pPr marL="228600" indent="-228600">
                  <a:lnSpc>
                    <a:spcPct val="90000"/>
                  </a:lnSpc>
                  <a:spcBef>
                    <a:spcPts val="1000"/>
                  </a:spcBef>
                </a:pPr>
                <a:r>
                  <a:rPr kumimoji="1" lang="en-US" altLang="zh-CN" sz="500">
                    <a:solidFill>
                      <a:prstClr val="white"/>
                    </a:solidFill>
                    <a:latin typeface="微软雅黑" panose="020B0503020204020204" charset="-122"/>
                    <a:ea typeface="微软雅黑" panose="020B0503020204020204" charset="-122"/>
                  </a:rPr>
                  <a:t>Internet</a:t>
                </a:r>
                <a:endParaRPr kumimoji="1" lang="zh-CN" altLang="en-US" sz="500">
                  <a:solidFill>
                    <a:prstClr val="white"/>
                  </a:solidFill>
                  <a:latin typeface="微软雅黑" panose="020B0503020204020204" charset="-122"/>
                  <a:ea typeface="微软雅黑" panose="020B0503020204020204" charset="-122"/>
                </a:endParaRPr>
              </a:p>
            </p:txBody>
          </p:sp>
        </p:grpSp>
        <p:cxnSp>
          <p:nvCxnSpPr>
            <p:cNvPr id="115" name="直接连接符 114"/>
            <p:cNvCxnSpPr/>
            <p:nvPr>
              <p:custDataLst>
                <p:tags r:id="rId166"/>
              </p:custDataLst>
            </p:nvPr>
          </p:nvCxnSpPr>
          <p:spPr>
            <a:xfrm>
              <a:off x="1429" y="8456"/>
              <a:ext cx="340" cy="0"/>
            </a:xfrm>
            <a:prstGeom prst="line">
              <a:avLst/>
            </a:prstGeom>
            <a:noFill/>
            <a:ln w="12700" cap="flat" cmpd="sng" algn="ctr">
              <a:solidFill>
                <a:srgbClr val="184199"/>
              </a:solidFill>
              <a:prstDash val="dash"/>
              <a:miter lim="800000"/>
            </a:ln>
            <a:effectLst/>
          </p:spPr>
        </p:cxnSp>
        <p:cxnSp>
          <p:nvCxnSpPr>
            <p:cNvPr id="116" name="直接连接符 115"/>
            <p:cNvCxnSpPr/>
            <p:nvPr>
              <p:custDataLst>
                <p:tags r:id="rId167"/>
              </p:custDataLst>
            </p:nvPr>
          </p:nvCxnSpPr>
          <p:spPr>
            <a:xfrm>
              <a:off x="1412" y="9062"/>
              <a:ext cx="397" cy="0"/>
            </a:xfrm>
            <a:prstGeom prst="line">
              <a:avLst/>
            </a:prstGeom>
            <a:noFill/>
            <a:ln w="12700" cap="flat" cmpd="sng" algn="ctr">
              <a:solidFill>
                <a:srgbClr val="184199"/>
              </a:solidFill>
              <a:prstDash val="dash"/>
              <a:miter lim="800000"/>
            </a:ln>
            <a:effectLst/>
          </p:spPr>
        </p:cxnSp>
        <p:pic>
          <p:nvPicPr>
            <p:cNvPr id="117" name="图片 335"/>
            <p:cNvPicPr>
              <a:picLocks noChangeAspect="1"/>
            </p:cNvPicPr>
            <p:nvPr>
              <p:custDataLst>
                <p:tags r:id="rId168"/>
              </p:custDataLst>
            </p:nvPr>
          </p:nvPicPr>
          <p:blipFill>
            <a:blip r:embed="rId78" cstate="email"/>
            <a:srcRect/>
            <a:stretch>
              <a:fillRect/>
            </a:stretch>
          </p:blipFill>
          <p:spPr bwMode="auto">
            <a:xfrm>
              <a:off x="1052" y="8900"/>
              <a:ext cx="461" cy="410"/>
            </a:xfrm>
            <a:prstGeom prst="rect">
              <a:avLst/>
            </a:prstGeom>
            <a:noFill/>
            <a:ln w="9525">
              <a:noFill/>
              <a:miter lim="800000"/>
              <a:headEnd/>
              <a:tailEnd/>
            </a:ln>
          </p:spPr>
        </p:pic>
        <p:pic>
          <p:nvPicPr>
            <p:cNvPr id="118" name="图片 338"/>
            <p:cNvPicPr>
              <a:picLocks noChangeAspect="1"/>
            </p:cNvPicPr>
            <p:nvPr>
              <p:custDataLst>
                <p:tags r:id="rId169"/>
              </p:custDataLst>
            </p:nvPr>
          </p:nvPicPr>
          <p:blipFill>
            <a:blip r:embed="rId78" cstate="email"/>
            <a:srcRect/>
            <a:stretch>
              <a:fillRect/>
            </a:stretch>
          </p:blipFill>
          <p:spPr bwMode="auto">
            <a:xfrm>
              <a:off x="1616" y="8880"/>
              <a:ext cx="461" cy="410"/>
            </a:xfrm>
            <a:prstGeom prst="rect">
              <a:avLst/>
            </a:prstGeom>
            <a:noFill/>
            <a:ln w="9525">
              <a:noFill/>
              <a:miter lim="800000"/>
              <a:headEnd/>
              <a:tailEnd/>
            </a:ln>
          </p:spPr>
        </p:pic>
        <p:pic>
          <p:nvPicPr>
            <p:cNvPr id="119" name="图片 385"/>
            <p:cNvPicPr>
              <a:picLocks noChangeAspect="1"/>
            </p:cNvPicPr>
            <p:nvPr>
              <p:custDataLst>
                <p:tags r:id="rId170"/>
              </p:custDataLst>
            </p:nvPr>
          </p:nvPicPr>
          <p:blipFill>
            <a:blip r:embed="rId42" cstate="email"/>
            <a:srcRect/>
            <a:stretch>
              <a:fillRect/>
            </a:stretch>
          </p:blipFill>
          <p:spPr bwMode="auto">
            <a:xfrm>
              <a:off x="2179" y="8967"/>
              <a:ext cx="501" cy="207"/>
            </a:xfrm>
            <a:prstGeom prst="rect">
              <a:avLst/>
            </a:prstGeom>
            <a:noFill/>
            <a:ln w="9525">
              <a:noFill/>
              <a:miter lim="800000"/>
              <a:headEnd/>
              <a:tailEnd/>
            </a:ln>
          </p:spPr>
        </p:pic>
        <p:cxnSp>
          <p:nvCxnSpPr>
            <p:cNvPr id="120" name="直接连接符 119"/>
            <p:cNvCxnSpPr/>
            <p:nvPr>
              <p:custDataLst>
                <p:tags r:id="rId171"/>
              </p:custDataLst>
            </p:nvPr>
          </p:nvCxnSpPr>
          <p:spPr>
            <a:xfrm>
              <a:off x="1980" y="9100"/>
              <a:ext cx="282" cy="2"/>
            </a:xfrm>
            <a:prstGeom prst="line">
              <a:avLst/>
            </a:prstGeom>
            <a:noFill/>
            <a:ln w="25400" cap="flat" cmpd="sng" algn="ctr">
              <a:solidFill>
                <a:srgbClr val="184199"/>
              </a:solidFill>
              <a:prstDash val="solid"/>
              <a:miter lim="800000"/>
            </a:ln>
            <a:effectLst/>
          </p:spPr>
        </p:cxnSp>
        <p:pic>
          <p:nvPicPr>
            <p:cNvPr id="121" name="图片 330"/>
            <p:cNvPicPr>
              <a:picLocks noChangeAspect="1"/>
            </p:cNvPicPr>
            <p:nvPr>
              <p:custDataLst>
                <p:tags r:id="rId172"/>
              </p:custDataLst>
            </p:nvPr>
          </p:nvPicPr>
          <p:blipFill>
            <a:blip r:embed="rId83" cstate="email"/>
            <a:srcRect/>
            <a:stretch>
              <a:fillRect/>
            </a:stretch>
          </p:blipFill>
          <p:spPr bwMode="auto">
            <a:xfrm>
              <a:off x="1087" y="8304"/>
              <a:ext cx="412" cy="357"/>
            </a:xfrm>
            <a:prstGeom prst="rect">
              <a:avLst/>
            </a:prstGeom>
            <a:noFill/>
            <a:ln w="9525">
              <a:noFill/>
              <a:miter lim="800000"/>
              <a:headEnd/>
              <a:tailEnd/>
            </a:ln>
          </p:spPr>
        </p:pic>
        <p:pic>
          <p:nvPicPr>
            <p:cNvPr id="122" name="图片 331"/>
            <p:cNvPicPr>
              <a:picLocks noChangeAspect="1"/>
            </p:cNvPicPr>
            <p:nvPr>
              <p:custDataLst>
                <p:tags r:id="rId173"/>
              </p:custDataLst>
            </p:nvPr>
          </p:nvPicPr>
          <p:blipFill>
            <a:blip r:embed="rId83" cstate="email"/>
            <a:srcRect/>
            <a:stretch>
              <a:fillRect/>
            </a:stretch>
          </p:blipFill>
          <p:spPr bwMode="auto">
            <a:xfrm>
              <a:off x="1650" y="8304"/>
              <a:ext cx="412" cy="357"/>
            </a:xfrm>
            <a:prstGeom prst="rect">
              <a:avLst/>
            </a:prstGeom>
            <a:noFill/>
            <a:ln w="9525">
              <a:noFill/>
              <a:miter lim="800000"/>
              <a:headEnd/>
              <a:tailEnd/>
            </a:ln>
          </p:spPr>
        </p:pic>
        <p:pic>
          <p:nvPicPr>
            <p:cNvPr id="123" name="图片 122"/>
            <p:cNvPicPr>
              <a:picLocks noChangeAspect="1"/>
            </p:cNvPicPr>
            <p:nvPr/>
          </p:nvPicPr>
          <p:blipFill>
            <a:blip r:embed="rId85" cstate="screen"/>
            <a:stretch>
              <a:fillRect/>
            </a:stretch>
          </p:blipFill>
          <p:spPr>
            <a:xfrm>
              <a:off x="906" y="9552"/>
              <a:ext cx="284" cy="235"/>
            </a:xfrm>
            <a:prstGeom prst="rect">
              <a:avLst/>
            </a:prstGeom>
          </p:spPr>
        </p:pic>
        <p:pic>
          <p:nvPicPr>
            <p:cNvPr id="124" name="图片 123"/>
            <p:cNvPicPr>
              <a:picLocks noChangeAspect="1"/>
            </p:cNvPicPr>
            <p:nvPr/>
          </p:nvPicPr>
          <p:blipFill>
            <a:blip r:embed="rId85" cstate="screen"/>
            <a:stretch>
              <a:fillRect/>
            </a:stretch>
          </p:blipFill>
          <p:spPr>
            <a:xfrm>
              <a:off x="1291" y="9552"/>
              <a:ext cx="284" cy="235"/>
            </a:xfrm>
            <a:prstGeom prst="rect">
              <a:avLst/>
            </a:prstGeom>
          </p:spPr>
        </p:pic>
        <p:pic>
          <p:nvPicPr>
            <p:cNvPr id="125" name="Picture 8" descr="ICON_Server_flat_Q408.png"/>
            <p:cNvPicPr>
              <a:picLocks noChangeAspect="1"/>
            </p:cNvPicPr>
            <p:nvPr>
              <p:custDataLst>
                <p:tags r:id="rId174"/>
              </p:custDataLst>
            </p:nvPr>
          </p:nvPicPr>
          <p:blipFill>
            <a:blip r:embed="rId11" cstate="email"/>
            <a:srcRect/>
            <a:stretch>
              <a:fillRect/>
            </a:stretch>
          </p:blipFill>
          <p:spPr bwMode="auto">
            <a:xfrm>
              <a:off x="1987" y="9850"/>
              <a:ext cx="786" cy="189"/>
            </a:xfrm>
            <a:prstGeom prst="rect">
              <a:avLst/>
            </a:prstGeom>
            <a:noFill/>
            <a:ln w="9525">
              <a:noFill/>
              <a:miter lim="800000"/>
              <a:headEnd/>
              <a:tailEnd/>
            </a:ln>
          </p:spPr>
        </p:pic>
        <p:pic>
          <p:nvPicPr>
            <p:cNvPr id="126" name="Picture 4"/>
            <p:cNvPicPr>
              <a:picLocks noChangeAspect="1" noChangeArrowheads="1"/>
            </p:cNvPicPr>
            <p:nvPr>
              <p:custDataLst>
                <p:tags r:id="rId175"/>
              </p:custDataLst>
            </p:nvPr>
          </p:nvPicPr>
          <p:blipFill>
            <a:blip r:embed="rId14" cstate="email">
              <a:duotone>
                <a:prstClr val="black"/>
                <a:srgbClr val="4EBE53">
                  <a:tint val="45000"/>
                  <a:satMod val="400000"/>
                </a:srgbClr>
              </a:duotone>
            </a:blip>
            <a:srcRect/>
            <a:stretch>
              <a:fillRect/>
            </a:stretch>
          </p:blipFill>
          <p:spPr bwMode="auto">
            <a:xfrm>
              <a:off x="2436" y="9507"/>
              <a:ext cx="297" cy="213"/>
            </a:xfrm>
            <a:prstGeom prst="rect">
              <a:avLst/>
            </a:prstGeom>
            <a:noFill/>
            <a:ln>
              <a:noFill/>
            </a:ln>
            <a:effectLst/>
          </p:spPr>
        </p:pic>
        <p:pic>
          <p:nvPicPr>
            <p:cNvPr id="127" name="Picture 4"/>
            <p:cNvPicPr>
              <a:picLocks noChangeAspect="1" noChangeArrowheads="1"/>
            </p:cNvPicPr>
            <p:nvPr>
              <p:custDataLst>
                <p:tags r:id="rId176"/>
              </p:custDataLst>
            </p:nvPr>
          </p:nvPicPr>
          <p:blipFill>
            <a:blip r:embed="rId14" cstate="email">
              <a:duotone>
                <a:prstClr val="black"/>
                <a:srgbClr val="4EBE53">
                  <a:tint val="45000"/>
                  <a:satMod val="400000"/>
                </a:srgbClr>
              </a:duotone>
            </a:blip>
            <a:srcRect/>
            <a:stretch>
              <a:fillRect/>
            </a:stretch>
          </p:blipFill>
          <p:spPr bwMode="auto">
            <a:xfrm>
              <a:off x="2105" y="9507"/>
              <a:ext cx="297" cy="213"/>
            </a:xfrm>
            <a:prstGeom prst="rect">
              <a:avLst/>
            </a:prstGeom>
            <a:noFill/>
            <a:ln>
              <a:noFill/>
            </a:ln>
            <a:effectLst/>
          </p:spPr>
        </p:pic>
        <p:pic>
          <p:nvPicPr>
            <p:cNvPr id="128" name="图片 291"/>
            <p:cNvPicPr>
              <a:picLocks noChangeAspect="1"/>
            </p:cNvPicPr>
            <p:nvPr>
              <p:custDataLst>
                <p:tags r:id="rId177"/>
              </p:custDataLst>
            </p:nvPr>
          </p:nvPicPr>
          <p:blipFill>
            <a:blip r:embed="rId26" cstate="email"/>
            <a:srcRect/>
            <a:stretch>
              <a:fillRect/>
            </a:stretch>
          </p:blipFill>
          <p:spPr bwMode="auto">
            <a:xfrm>
              <a:off x="2189" y="9672"/>
              <a:ext cx="161" cy="158"/>
            </a:xfrm>
            <a:prstGeom prst="rect">
              <a:avLst/>
            </a:prstGeom>
            <a:noFill/>
            <a:ln w="9525">
              <a:noFill/>
              <a:miter lim="800000"/>
              <a:headEnd/>
              <a:tailEnd/>
            </a:ln>
          </p:spPr>
        </p:pic>
        <p:pic>
          <p:nvPicPr>
            <p:cNvPr id="129" name="图片 292"/>
            <p:cNvPicPr>
              <a:picLocks noChangeAspect="1"/>
            </p:cNvPicPr>
            <p:nvPr>
              <p:custDataLst>
                <p:tags r:id="rId178"/>
              </p:custDataLst>
            </p:nvPr>
          </p:nvPicPr>
          <p:blipFill>
            <a:blip r:embed="rId26" cstate="email"/>
            <a:srcRect/>
            <a:stretch>
              <a:fillRect/>
            </a:stretch>
          </p:blipFill>
          <p:spPr bwMode="auto">
            <a:xfrm>
              <a:off x="2533" y="9672"/>
              <a:ext cx="162" cy="158"/>
            </a:xfrm>
            <a:prstGeom prst="rect">
              <a:avLst/>
            </a:prstGeom>
            <a:noFill/>
            <a:ln w="9525">
              <a:noFill/>
              <a:miter lim="800000"/>
              <a:headEnd/>
              <a:tailEnd/>
            </a:ln>
          </p:spPr>
        </p:pic>
        <p:sp>
          <p:nvSpPr>
            <p:cNvPr id="130" name="矩形 285"/>
            <p:cNvSpPr>
              <a:spLocks noChangeArrowheads="1"/>
            </p:cNvSpPr>
            <p:nvPr>
              <p:custDataLst>
                <p:tags r:id="rId179"/>
              </p:custDataLst>
            </p:nvPr>
          </p:nvSpPr>
          <p:spPr bwMode="auto">
            <a:xfrm>
              <a:off x="1979" y="10049"/>
              <a:ext cx="794" cy="227"/>
            </a:xfrm>
            <a:prstGeom prst="rect">
              <a:avLst/>
            </a:prstGeom>
            <a:noFill/>
            <a:ln w="9525">
              <a:noFill/>
              <a:miter lim="800000"/>
            </a:ln>
          </p:spPr>
          <p:txBody>
            <a:bodyPr wrap="square">
              <a:noAutofit/>
            </a:bodyPr>
            <a:p>
              <a:pPr marL="228600" indent="-227965" algn="ctr">
                <a:lnSpc>
                  <a:spcPct val="90000"/>
                </a:lnSpc>
                <a:spcBef>
                  <a:spcPts val="1000"/>
                </a:spcBef>
              </a:pPr>
              <a:r>
                <a:rPr kumimoji="1" lang="zh-CN" altLang="en-US" sz="500" b="1" dirty="0">
                  <a:solidFill>
                    <a:srgbClr val="184199"/>
                  </a:solidFill>
                  <a:latin typeface="微软雅黑" panose="020B0503020204020204" charset="-122"/>
                  <a:ea typeface="微软雅黑" panose="020B0503020204020204" charset="-122"/>
                </a:rPr>
                <a:t>业务区</a:t>
              </a:r>
              <a:endParaRPr kumimoji="1" lang="zh-CN" altLang="en-US" sz="500" b="1" dirty="0">
                <a:solidFill>
                  <a:srgbClr val="184199"/>
                </a:solidFill>
                <a:latin typeface="微软雅黑" panose="020B0503020204020204" charset="-122"/>
                <a:ea typeface="微软雅黑" panose="020B0503020204020204" charset="-122"/>
              </a:endParaRPr>
            </a:p>
          </p:txBody>
        </p:sp>
        <p:sp>
          <p:nvSpPr>
            <p:cNvPr id="131" name="矩形 284"/>
            <p:cNvSpPr>
              <a:spLocks noChangeArrowheads="1"/>
            </p:cNvSpPr>
            <p:nvPr>
              <p:custDataLst>
                <p:tags r:id="rId180"/>
              </p:custDataLst>
            </p:nvPr>
          </p:nvSpPr>
          <p:spPr bwMode="auto">
            <a:xfrm>
              <a:off x="906" y="10013"/>
              <a:ext cx="832" cy="253"/>
            </a:xfrm>
            <a:prstGeom prst="rect">
              <a:avLst/>
            </a:prstGeom>
            <a:noFill/>
            <a:ln w="9525">
              <a:noFill/>
              <a:miter lim="800000"/>
            </a:ln>
          </p:spPr>
          <p:txBody>
            <a:bodyPr wrap="square">
              <a:spAutoFit/>
            </a:bodyPr>
            <a:p>
              <a:pPr marL="228600" indent="-228600">
                <a:lnSpc>
                  <a:spcPct val="90000"/>
                </a:lnSpc>
                <a:spcBef>
                  <a:spcPts val="1000"/>
                </a:spcBef>
              </a:pPr>
              <a:r>
                <a:rPr kumimoji="1" lang="zh-CN" altLang="en-US" sz="500" b="1" dirty="0">
                  <a:solidFill>
                    <a:srgbClr val="184199"/>
                  </a:solidFill>
                  <a:latin typeface="微软雅黑" panose="020B0503020204020204" charset="-122"/>
                  <a:ea typeface="微软雅黑" panose="020B0503020204020204" charset="-122"/>
                </a:rPr>
                <a:t>办公区</a:t>
              </a:r>
              <a:endParaRPr kumimoji="1" lang="zh-CN" altLang="en-US" sz="500" b="1" dirty="0">
                <a:solidFill>
                  <a:srgbClr val="184199"/>
                </a:solidFill>
                <a:latin typeface="微软雅黑" panose="020B0503020204020204" charset="-122"/>
                <a:ea typeface="微软雅黑" panose="020B0503020204020204" charset="-122"/>
              </a:endParaRPr>
            </a:p>
          </p:txBody>
        </p:sp>
        <p:pic>
          <p:nvPicPr>
            <p:cNvPr id="132" name="图片 260"/>
            <p:cNvPicPr/>
            <p:nvPr>
              <p:custDataLst>
                <p:tags r:id="rId181"/>
              </p:custDataLst>
            </p:nvPr>
          </p:nvPicPr>
          <p:blipFill>
            <a:blip r:embed="rId94" cstate="email"/>
            <a:srcRect/>
            <a:stretch>
              <a:fillRect/>
            </a:stretch>
          </p:blipFill>
          <p:spPr bwMode="auto">
            <a:xfrm>
              <a:off x="1650" y="9552"/>
              <a:ext cx="284" cy="227"/>
            </a:xfrm>
            <a:prstGeom prst="rect">
              <a:avLst/>
            </a:prstGeom>
            <a:noFill/>
            <a:ln w="9525">
              <a:noFill/>
              <a:miter lim="800000"/>
              <a:headEnd/>
              <a:tailEnd/>
            </a:ln>
          </p:spPr>
        </p:pic>
        <p:sp>
          <p:nvSpPr>
            <p:cNvPr id="133" name="TextBox 79"/>
            <p:cNvSpPr txBox="1">
              <a:spLocks noChangeArrowheads="1"/>
            </p:cNvSpPr>
            <p:nvPr>
              <p:custDataLst>
                <p:tags r:id="rId182"/>
              </p:custDataLst>
            </p:nvPr>
          </p:nvSpPr>
          <p:spPr bwMode="auto">
            <a:xfrm>
              <a:off x="696" y="9344"/>
              <a:ext cx="828" cy="241"/>
            </a:xfrm>
            <a:prstGeom prst="rect">
              <a:avLst/>
            </a:prstGeom>
            <a:noFill/>
            <a:ln w="9525">
              <a:noFill/>
              <a:miter lim="800000"/>
            </a:ln>
          </p:spPr>
          <p:txBody>
            <a:bodyPr wrap="square">
              <a:spAutoFit/>
            </a:bodyPr>
            <a:p>
              <a:pPr marL="228600" marR="0" lvl="0" indent="-228600" defTabSz="914400" eaLnBrk="1" fontAlgn="auto" latinLnBrk="0" hangingPunct="1">
                <a:lnSpc>
                  <a:spcPct val="90000"/>
                </a:lnSpc>
                <a:spcBef>
                  <a:spcPts val="1000"/>
                </a:spcBef>
                <a:spcAft>
                  <a:spcPts val="0"/>
                </a:spcAft>
                <a:buClrTx/>
                <a:buSzTx/>
                <a:buFontTx/>
                <a:buNone/>
                <a:defRPr/>
              </a:pPr>
              <a:r>
                <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rPr>
                <a:t>EDR agent</a:t>
              </a:r>
              <a:endPar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endParaRPr>
            </a:p>
          </p:txBody>
        </p:sp>
        <p:sp>
          <p:nvSpPr>
            <p:cNvPr id="134" name="TextBox 79"/>
            <p:cNvSpPr txBox="1">
              <a:spLocks noChangeArrowheads="1"/>
            </p:cNvSpPr>
            <p:nvPr>
              <p:custDataLst>
                <p:tags r:id="rId183"/>
              </p:custDataLst>
            </p:nvPr>
          </p:nvSpPr>
          <p:spPr bwMode="auto">
            <a:xfrm>
              <a:off x="2023" y="9523"/>
              <a:ext cx="828" cy="241"/>
            </a:xfrm>
            <a:prstGeom prst="rect">
              <a:avLst/>
            </a:prstGeom>
            <a:noFill/>
            <a:ln w="9525">
              <a:noFill/>
              <a:miter lim="800000"/>
            </a:ln>
          </p:spPr>
          <p:txBody>
            <a:bodyPr wrap="square">
              <a:spAutoFit/>
            </a:bodyPr>
            <a:p>
              <a:pPr marL="228600" marR="0" lvl="0" indent="-228600" defTabSz="914400" eaLnBrk="1" fontAlgn="auto" latinLnBrk="0" hangingPunct="1">
                <a:lnSpc>
                  <a:spcPct val="90000"/>
                </a:lnSpc>
                <a:spcBef>
                  <a:spcPts val="1000"/>
                </a:spcBef>
                <a:spcAft>
                  <a:spcPts val="0"/>
                </a:spcAft>
                <a:buClrTx/>
                <a:buSzTx/>
                <a:buFontTx/>
                <a:buNone/>
                <a:defRPr/>
              </a:pPr>
              <a:r>
                <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rPr>
                <a:t>EDR agent</a:t>
              </a:r>
              <a:endPar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endParaRPr>
            </a:p>
          </p:txBody>
        </p:sp>
        <p:sp>
          <p:nvSpPr>
            <p:cNvPr id="135" name="文本框 134"/>
            <p:cNvSpPr txBox="1"/>
            <p:nvPr/>
          </p:nvSpPr>
          <p:spPr>
            <a:xfrm>
              <a:off x="2105" y="8729"/>
              <a:ext cx="682" cy="276"/>
            </a:xfrm>
            <a:prstGeom prst="rect">
              <a:avLst/>
            </a:prstGeom>
            <a:noFill/>
          </p:spPr>
          <p:txBody>
            <a:bodyPr wrap="square" rtlCol="0" anchor="ctr" anchorCtr="0">
              <a:noAutofit/>
            </a:bodyPr>
            <a:p>
              <a:pPr marR="0" lvl="0" indent="0" algn="ctr" defTabSz="914400" fontAlgn="auto">
                <a:lnSpc>
                  <a:spcPct val="90000"/>
                </a:lnSpc>
                <a:spcBef>
                  <a:spcPts val="0"/>
                </a:spcBef>
                <a:spcAft>
                  <a:spcPts val="0"/>
                </a:spcAft>
                <a:buClrTx/>
                <a:buSzTx/>
                <a:buFontTx/>
                <a:buNone/>
                <a:defRPr/>
              </a:pPr>
              <a:r>
                <a:rPr kumimoji="1" lang="zh-CN" altLang="en-US" sz="450" b="1" kern="0" noProof="0" dirty="0">
                  <a:ln>
                    <a:noFill/>
                  </a:ln>
                  <a:solidFill>
                    <a:srgbClr val="C00000"/>
                  </a:solidFill>
                  <a:effectLst/>
                  <a:uLnTx/>
                  <a:uFillTx/>
                  <a:latin typeface="微软雅黑" panose="020B0503020204020204" charset="-122"/>
                  <a:ea typeface="微软雅黑" panose="020B0503020204020204" charset="-122"/>
                  <a:sym typeface="+mn-ea"/>
                </a:rPr>
                <a:t>探针</a:t>
              </a:r>
              <a:r>
                <a:rPr kumimoji="1" lang="en-US" altLang="zh-CN" sz="450" b="1" kern="0" noProof="0" dirty="0">
                  <a:ln>
                    <a:noFill/>
                  </a:ln>
                  <a:solidFill>
                    <a:srgbClr val="C00000"/>
                  </a:solidFill>
                  <a:effectLst/>
                  <a:uLnTx/>
                  <a:uFillTx/>
                  <a:latin typeface="微软雅黑" panose="020B0503020204020204" charset="-122"/>
                  <a:ea typeface="微软雅黑" panose="020B0503020204020204" charset="-122"/>
                  <a:sym typeface="+mn-ea"/>
                </a:rPr>
                <a:t>STA</a:t>
              </a:r>
              <a:endParaRPr kumimoji="1" lang="en-US" altLang="zh-CN" sz="450" b="1" kern="0" noProof="0" dirty="0">
                <a:ln>
                  <a:noFill/>
                </a:ln>
                <a:solidFill>
                  <a:srgbClr val="C00000"/>
                </a:solidFill>
                <a:effectLst/>
                <a:uLnTx/>
                <a:uFillTx/>
                <a:latin typeface="微软雅黑" panose="020B0503020204020204" charset="-122"/>
                <a:ea typeface="微软雅黑" panose="020B0503020204020204" charset="-122"/>
                <a:sym typeface="+mn-ea"/>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p:cNvSpPr txBox="1"/>
          <p:nvPr>
            <p:custDataLst>
              <p:tags r:id="rId1"/>
            </p:custDataLst>
          </p:nvPr>
        </p:nvSpPr>
        <p:spPr>
          <a:xfrm>
            <a:off x="6092825" y="3663315"/>
            <a:ext cx="4703445" cy="424815"/>
          </a:xfrm>
          <a:prstGeom prst="rect">
            <a:avLst/>
          </a:prstGeom>
          <a:noFill/>
          <a:ln w="0">
            <a:noFill/>
          </a:ln>
        </p:spPr>
        <p:txBody>
          <a:bodyPr wrap="square" lIns="0" tIns="0" rIns="0" bIns="0" anchor="ctr" anchorCtr="0">
            <a:noAutofit/>
          </a:bodyPr>
          <a:p>
            <a:pPr marL="12700" algn="l" rtl="0" eaLnBrk="0">
              <a:lnSpc>
                <a:spcPct val="100000"/>
              </a:lnSpc>
              <a:spcBef>
                <a:spcPts val="0"/>
              </a:spcBef>
            </a:pPr>
            <a:r>
              <a:rPr sz="1600" kern="0" spc="60" dirty="0">
                <a:solidFill>
                  <a:srgbClr val="000000">
                    <a:alpha val="100000"/>
                  </a:srgbClr>
                </a:solidFill>
                <a:latin typeface="黑体" panose="02010609060101010101" charset="-122"/>
                <a:ea typeface="黑体" panose="02010609060101010101" charset="-122"/>
                <a:cs typeface="黑体" panose="02010609060101010101" charset="-122"/>
                <a:sym typeface="+mn-ea"/>
              </a:rPr>
              <a:t>成果回顾、决策建议、未来展望</a:t>
            </a:r>
            <a:endParaRPr lang="zh-CN" altLang="en-US" sz="1600" b="0" u="none" strike="noStrike" kern="0" spc="60" dirty="0">
              <a:solidFill>
                <a:schemeClr val="dk1"/>
              </a:solidFill>
              <a:effectLst/>
              <a:uFillTx/>
              <a:latin typeface="黑体" panose="02010609060101010101" charset="-122"/>
              <a:ea typeface="黑体" panose="02010609060101010101" charset="-122"/>
              <a:cs typeface="黑体" panose="02010609060101010101" charset="-122"/>
              <a:sym typeface="+mn-ea"/>
            </a:endParaRPr>
          </a:p>
        </p:txBody>
      </p:sp>
      <p:sp>
        <p:nvSpPr>
          <p:cNvPr id="4" name="标题"/>
          <p:cNvSpPr>
            <a:spLocks noGrp="1"/>
          </p:cNvSpPr>
          <p:nvPr>
            <p:ph type="title"/>
            <p:custDataLst>
              <p:tags r:id="rId2"/>
            </p:custDataLst>
          </p:nvPr>
        </p:nvSpPr>
        <p:spPr>
          <a:xfrm>
            <a:off x="6092825" y="2439035"/>
            <a:ext cx="5633720" cy="1224280"/>
          </a:xfrm>
        </p:spPr>
        <p:txBody>
          <a:bodyPr anchor="ctr" anchorCtr="0">
            <a:normAutofit/>
          </a:bodyPr>
          <a:lstStyle/>
          <a:p>
            <a:r>
              <a:rPr lang="zh-CN" altLang="en-US">
                <a:solidFill>
                  <a:srgbClr val="4C61E7"/>
                </a:solidFill>
              </a:rPr>
              <a:t>总结与建议</a:t>
            </a:r>
            <a:endParaRPr lang="zh-CN" altLang="en-US">
              <a:solidFill>
                <a:srgbClr val="4C61E7"/>
              </a:solidFill>
            </a:endParaRPr>
          </a:p>
        </p:txBody>
      </p:sp>
      <p:sp>
        <p:nvSpPr>
          <p:cNvPr id="6" name="节编号"/>
          <p:cNvSpPr>
            <a:spLocks noGrp="1"/>
          </p:cNvSpPr>
          <p:nvPr>
            <p:ph type="body" sz="quarter" idx="13"/>
            <p:custDataLst>
              <p:tags r:id="rId3"/>
            </p:custDataLst>
          </p:nvPr>
        </p:nvSpPr>
        <p:spPr/>
        <p:txBody>
          <a:bodyPr>
            <a:normAutofit lnSpcReduction="20000"/>
          </a:bodyPr>
          <a:lstStyle/>
          <a:p>
            <a:r>
              <a:rPr lang="en-US" altLang="en-US">
                <a:solidFill>
                  <a:srgbClr val="4C61E7"/>
                </a:solidFill>
              </a:rPr>
              <a:t>05</a:t>
            </a:r>
            <a:endParaRPr lang="en-US" altLang="en-US">
              <a:solidFill>
                <a:srgbClr val="4C61E7"/>
              </a:solidFill>
            </a:endParaRPr>
          </a:p>
        </p:txBody>
      </p:sp>
      <p:pic>
        <p:nvPicPr>
          <p:cNvPr id="7" name="图片 6" descr="深信服 + 智安全"/>
          <p:cNvPicPr>
            <a:picLocks noChangeAspect="1"/>
          </p:cNvPicPr>
          <p:nvPr/>
        </p:nvPicPr>
        <p:blipFill>
          <a:blip r:embed="rId4"/>
          <a:srcRect l="5232" t="26576" r="4938" b="29565"/>
          <a:stretch>
            <a:fillRect/>
          </a:stretch>
        </p:blipFill>
        <p:spPr>
          <a:xfrm>
            <a:off x="10017125" y="238760"/>
            <a:ext cx="1629867" cy="360000"/>
          </a:xfrm>
          <a:prstGeom prst="rect">
            <a:avLst/>
          </a:prstGeom>
        </p:spPr>
      </p:pic>
    </p:spTree>
    <p:custDataLst>
      <p:tags r:id="rId5"/>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textbox 158"/>
          <p:cNvSpPr/>
          <p:nvPr/>
        </p:nvSpPr>
        <p:spPr>
          <a:xfrm>
            <a:off x="647700" y="360045"/>
            <a:ext cx="5448300" cy="600075"/>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a:ea typeface="Arial" panose="020B0604020202020204"/>
              <a:cs typeface="Arial" panose="020B0604020202020204"/>
            </a:endParaRPr>
          </a:p>
          <a:p>
            <a:pPr marL="15875" algn="l" rtl="0" eaLnBrk="0">
              <a:lnSpc>
                <a:spcPct val="98000"/>
              </a:lnSpc>
            </a:pPr>
            <a:r>
              <a:rPr lang="zh-CN" altLang="en-US" sz="1900" b="1" kern="0" spc="130" dirty="0">
                <a:solidFill>
                  <a:srgbClr val="2050B0">
                    <a:alpha val="100000"/>
                  </a:srgbClr>
                </a:solidFill>
                <a:latin typeface="黑体" panose="02010609060101010101" charset="-122"/>
                <a:ea typeface="黑体" panose="02010609060101010101" charset="-122"/>
                <a:cs typeface="黑体" panose="02010609060101010101" charset="-122"/>
              </a:rPr>
              <a:t>总结与建议</a:t>
            </a:r>
            <a:endParaRPr sz="1900" dirty="0">
              <a:latin typeface="黑体" panose="02010609060101010101" charset="-122"/>
              <a:ea typeface="黑体" panose="02010609060101010101" charset="-122"/>
              <a:cs typeface="黑体" panose="02010609060101010101" charset="-122"/>
            </a:endParaRPr>
          </a:p>
          <a:p>
            <a:pPr algn="l" rtl="0" eaLnBrk="0">
              <a:lnSpc>
                <a:spcPct val="101000"/>
              </a:lnSpc>
            </a:pPr>
            <a:endParaRPr sz="800" dirty="0">
              <a:latin typeface="Arial" panose="020B0604020202020204"/>
              <a:ea typeface="Arial" panose="020B0604020202020204"/>
              <a:cs typeface="Arial" panose="020B0604020202020204"/>
            </a:endParaRPr>
          </a:p>
          <a:p>
            <a:pPr marL="12700" algn="l" rtl="0" eaLnBrk="0">
              <a:lnSpc>
                <a:spcPct val="92000"/>
              </a:lnSpc>
              <a:spcBef>
                <a:spcPts val="5"/>
              </a:spcBef>
            </a:pPr>
            <a:r>
              <a:rPr sz="1000" kern="0" spc="17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安全运营价值回顾与未来发展建议</a:t>
            </a:r>
            <a:endParaRPr sz="1000" dirty="0">
              <a:latin typeface="黑体" panose="02010609060101010101" charset="-122"/>
              <a:ea typeface="黑体" panose="02010609060101010101" charset="-122"/>
              <a:cs typeface="黑体" panose="02010609060101010101" charset="-122"/>
            </a:endParaRPr>
          </a:p>
          <a:p>
            <a:pPr marL="12700" algn="l" rtl="0" eaLnBrk="0">
              <a:lnSpc>
                <a:spcPct val="92000"/>
              </a:lnSpc>
              <a:spcBef>
                <a:spcPts val="5"/>
              </a:spcBef>
            </a:pPr>
            <a:endParaRPr lang="zh-CN" altLang="en-US" sz="1000" kern="0" spc="40" dirty="0">
              <a:solidFill>
                <a:srgbClr val="000000">
                  <a:alpha val="100000"/>
                </a:srgbClr>
              </a:solidFill>
              <a:latin typeface="黑体" panose="02010609060101010101" charset="-122"/>
              <a:ea typeface="黑体" panose="02010609060101010101" charset="-122"/>
              <a:cs typeface="黑体" panose="02010609060101010101" charset="-122"/>
            </a:endParaRPr>
          </a:p>
        </p:txBody>
      </p:sp>
      <p:sp>
        <p:nvSpPr>
          <p:cNvPr id="11" name="任意多边形: 形状 10"/>
          <p:cNvSpPr/>
          <p:nvPr>
            <p:custDataLst>
              <p:tags r:id="rId1"/>
            </p:custDataLst>
          </p:nvPr>
        </p:nvSpPr>
        <p:spPr>
          <a:xfrm>
            <a:off x="825231" y="1493177"/>
            <a:ext cx="2208529" cy="3832413"/>
          </a:xfrm>
          <a:custGeom>
            <a:avLst/>
            <a:gdLst>
              <a:gd name="connsiteX0" fmla="*/ 1708785 w 1708784"/>
              <a:gd name="connsiteY0" fmla="*/ 2771585 h 2957512"/>
              <a:gd name="connsiteX1" fmla="*/ 0 w 1708784"/>
              <a:gd name="connsiteY1" fmla="*/ 2957513 h 2957512"/>
              <a:gd name="connsiteX2" fmla="*/ 0 w 1708784"/>
              <a:gd name="connsiteY2" fmla="*/ 0 h 2957512"/>
              <a:gd name="connsiteX3" fmla="*/ 1708785 w 1708784"/>
              <a:gd name="connsiteY3" fmla="*/ 212503 h 2957512"/>
            </a:gdLst>
            <a:ahLst/>
            <a:cxnLst>
              <a:cxn ang="0">
                <a:pos x="connsiteX0" y="connsiteY0"/>
              </a:cxn>
              <a:cxn ang="0">
                <a:pos x="connsiteX1" y="connsiteY1"/>
              </a:cxn>
              <a:cxn ang="0">
                <a:pos x="connsiteX2" y="connsiteY2"/>
              </a:cxn>
              <a:cxn ang="0">
                <a:pos x="connsiteX3" y="connsiteY3"/>
              </a:cxn>
            </a:cxnLst>
            <a:rect l="l" t="t" r="r" b="b"/>
            <a:pathLst>
              <a:path w="1708784" h="2957512">
                <a:moveTo>
                  <a:pt x="1708785" y="2771585"/>
                </a:moveTo>
                <a:lnTo>
                  <a:pt x="0" y="2957513"/>
                </a:lnTo>
                <a:lnTo>
                  <a:pt x="0" y="0"/>
                </a:lnTo>
                <a:lnTo>
                  <a:pt x="1708785" y="212503"/>
                </a:lnTo>
                <a:close/>
              </a:path>
            </a:pathLst>
          </a:custGeom>
          <a:noFill/>
          <a:ln w="9525" cap="flat">
            <a:solidFill>
              <a:schemeClr val="accent5">
                <a:lumMod val="60000"/>
                <a:lumOff val="40000"/>
                <a:alpha val="80000"/>
              </a:schemeClr>
            </a:solidFill>
            <a:prstDash val="solid"/>
            <a:miter/>
          </a:ln>
        </p:spPr>
        <p:txBody>
          <a:bodyPr rtlCol="0" anchor="ctr"/>
          <a:p>
            <a:endParaRPr lang="zh-CN" altLang="en-US">
              <a:solidFill>
                <a:schemeClr val="tx1"/>
              </a:solidFill>
            </a:endParaRPr>
          </a:p>
        </p:txBody>
      </p:sp>
      <p:sp>
        <p:nvSpPr>
          <p:cNvPr id="31" name="任意多边形: 形状 30"/>
          <p:cNvSpPr/>
          <p:nvPr>
            <p:custDataLst>
              <p:tags r:id="rId2"/>
            </p:custDataLst>
          </p:nvPr>
        </p:nvSpPr>
        <p:spPr>
          <a:xfrm>
            <a:off x="1066241" y="1743456"/>
            <a:ext cx="2105120" cy="3332534"/>
          </a:xfrm>
          <a:custGeom>
            <a:avLst/>
            <a:gdLst>
              <a:gd name="connsiteX0" fmla="*/ 1628775 w 1628775"/>
              <a:gd name="connsiteY0" fmla="*/ 2409825 h 2571750"/>
              <a:gd name="connsiteX1" fmla="*/ 0 w 1628775"/>
              <a:gd name="connsiteY1" fmla="*/ 2571750 h 2571750"/>
              <a:gd name="connsiteX2" fmla="*/ 0 w 1628775"/>
              <a:gd name="connsiteY2" fmla="*/ 0 h 2571750"/>
              <a:gd name="connsiteX3" fmla="*/ 1628775 w 1628775"/>
              <a:gd name="connsiteY3" fmla="*/ 180975 h 2571750"/>
            </a:gdLst>
            <a:ahLst/>
            <a:cxnLst>
              <a:cxn ang="0">
                <a:pos x="connsiteX0" y="connsiteY0"/>
              </a:cxn>
              <a:cxn ang="0">
                <a:pos x="connsiteX1" y="connsiteY1"/>
              </a:cxn>
              <a:cxn ang="0">
                <a:pos x="connsiteX2" y="connsiteY2"/>
              </a:cxn>
              <a:cxn ang="0">
                <a:pos x="connsiteX3" y="connsiteY3"/>
              </a:cxn>
            </a:cxnLst>
            <a:rect l="l" t="t" r="r" b="b"/>
            <a:pathLst>
              <a:path w="1628775" h="2571750">
                <a:moveTo>
                  <a:pt x="1628775" y="2409825"/>
                </a:moveTo>
                <a:lnTo>
                  <a:pt x="0" y="2571750"/>
                </a:lnTo>
                <a:lnTo>
                  <a:pt x="0" y="0"/>
                </a:lnTo>
                <a:lnTo>
                  <a:pt x="1628775" y="180975"/>
                </a:lnTo>
                <a:close/>
              </a:path>
            </a:pathLst>
          </a:custGeom>
          <a:solidFill>
            <a:schemeClr val="bg2"/>
          </a:solidFill>
          <a:ln w="9525" cap="flat">
            <a:noFill/>
            <a:prstDash val="solid"/>
            <a:miter/>
          </a:ln>
          <a:effectLst>
            <a:outerShdw blurRad="152400" dist="38100" dir="8100000" algn="tr" rotWithShape="0">
              <a:schemeClr val="accent5">
                <a:alpha val="15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a:solidFill>
                <a:schemeClr val="tx1"/>
              </a:solidFill>
            </a:endParaRPr>
          </a:p>
        </p:txBody>
      </p:sp>
      <p:sp>
        <p:nvSpPr>
          <p:cNvPr id="12" name="任意多边形: 形状 11"/>
          <p:cNvSpPr/>
          <p:nvPr>
            <p:custDataLst>
              <p:tags r:id="rId3"/>
            </p:custDataLst>
          </p:nvPr>
        </p:nvSpPr>
        <p:spPr>
          <a:xfrm>
            <a:off x="1066241" y="1743456"/>
            <a:ext cx="2105120" cy="3332534"/>
          </a:xfrm>
          <a:custGeom>
            <a:avLst/>
            <a:gdLst>
              <a:gd name="connsiteX0" fmla="*/ 1628775 w 1628775"/>
              <a:gd name="connsiteY0" fmla="*/ 2409825 h 2571750"/>
              <a:gd name="connsiteX1" fmla="*/ 0 w 1628775"/>
              <a:gd name="connsiteY1" fmla="*/ 2571750 h 2571750"/>
              <a:gd name="connsiteX2" fmla="*/ 0 w 1628775"/>
              <a:gd name="connsiteY2" fmla="*/ 0 h 2571750"/>
              <a:gd name="connsiteX3" fmla="*/ 1628775 w 1628775"/>
              <a:gd name="connsiteY3" fmla="*/ 180975 h 2571750"/>
            </a:gdLst>
            <a:ahLst/>
            <a:cxnLst>
              <a:cxn ang="0">
                <a:pos x="connsiteX0" y="connsiteY0"/>
              </a:cxn>
              <a:cxn ang="0">
                <a:pos x="connsiteX1" y="connsiteY1"/>
              </a:cxn>
              <a:cxn ang="0">
                <a:pos x="connsiteX2" y="connsiteY2"/>
              </a:cxn>
              <a:cxn ang="0">
                <a:pos x="connsiteX3" y="connsiteY3"/>
              </a:cxn>
            </a:cxnLst>
            <a:rect l="l" t="t" r="r" b="b"/>
            <a:pathLst>
              <a:path w="1628775" h="2571750">
                <a:moveTo>
                  <a:pt x="1628775" y="2409825"/>
                </a:moveTo>
                <a:lnTo>
                  <a:pt x="0" y="2571750"/>
                </a:lnTo>
                <a:lnTo>
                  <a:pt x="0" y="0"/>
                </a:lnTo>
                <a:lnTo>
                  <a:pt x="1628775" y="180975"/>
                </a:lnTo>
                <a:close/>
              </a:path>
            </a:pathLst>
          </a:custGeom>
          <a:solidFill>
            <a:srgbClr val="FFFFFF">
              <a:alpha val="15000"/>
            </a:srgbClr>
          </a:solidFill>
          <a:ln w="9525"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a:solidFill>
                <a:schemeClr val="tx1"/>
              </a:solidFill>
            </a:endParaRPr>
          </a:p>
        </p:txBody>
      </p:sp>
      <p:sp>
        <p:nvSpPr>
          <p:cNvPr id="22" name="文本框 21"/>
          <p:cNvSpPr txBox="1"/>
          <p:nvPr>
            <p:custDataLst>
              <p:tags r:id="rId4"/>
            </p:custDataLst>
          </p:nvPr>
        </p:nvSpPr>
        <p:spPr>
          <a:xfrm>
            <a:off x="1244600" y="2610485"/>
            <a:ext cx="1788160" cy="2261870"/>
          </a:xfrm>
          <a:prstGeom prst="rect">
            <a:avLst/>
          </a:prstGeom>
          <a:noFill/>
        </p:spPr>
        <p:txBody>
          <a:bodyPr wrap="square" lIns="0" tIns="0" rIns="0" bIns="0" rtlCol="0">
            <a:noAutofit/>
          </a:bodyPr>
          <a:p>
            <a:pPr marL="193675" indent="-171450" algn="l" defTabSz="179705" rtl="0" eaLnBrk="0" fontAlgn="auto">
              <a:lnSpc>
                <a:spcPct val="100000"/>
              </a:lnSpc>
              <a:spcBef>
                <a:spcPts val="300"/>
              </a:spcBef>
              <a:buFont typeface="Arial" panose="020B0604020202020204" pitchFamily="34" charset="0"/>
              <a:buChar char="•"/>
            </a:pPr>
            <a:r>
              <a:rPr sz="1200"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服务内资产零安全事故，业务连续性99.9</a:t>
            </a:r>
            <a:r>
              <a:rPr sz="1200" kern="0" spc="30" dirty="0">
                <a:solidFill>
                  <a:srgbClr val="000000">
                    <a:alpha val="100000"/>
                  </a:srgbClr>
                </a:solidFill>
                <a:latin typeface="黑体" panose="02010609060101010101" charset="-122"/>
                <a:ea typeface="黑体" panose="02010609060101010101" charset="-122"/>
                <a:cs typeface="黑体" panose="02010609060101010101" charset="-122"/>
                <a:sym typeface="+mn-ea"/>
              </a:rPr>
              <a:t>9%</a:t>
            </a:r>
            <a:r>
              <a:rPr lang="zh-CN" sz="1200" kern="0" spc="3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sz="1200" dirty="0">
              <a:latin typeface="黑体" panose="02010609060101010101" charset="-122"/>
              <a:ea typeface="黑体" panose="02010609060101010101" charset="-122"/>
              <a:cs typeface="黑体" panose="02010609060101010101" charset="-122"/>
            </a:endParaRPr>
          </a:p>
          <a:p>
            <a:pPr marL="182880" indent="-171450" algn="l" defTabSz="179705" rtl="0" eaLnBrk="0" fontAlgn="auto">
              <a:lnSpc>
                <a:spcPct val="100000"/>
              </a:lnSpc>
              <a:spcBef>
                <a:spcPts val="300"/>
              </a:spcBef>
              <a:buFont typeface="Arial" panose="020B0604020202020204" pitchFamily="34" charset="0"/>
              <a:buChar char="•"/>
            </a:pPr>
            <a:r>
              <a:rPr sz="1200" kern="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阻断网络攻击151.81万次，减</a:t>
            </a:r>
            <a:r>
              <a:rPr sz="1200"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少66%被通报次数</a:t>
            </a:r>
            <a:r>
              <a:rPr lang="zh-CN" sz="1200"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sz="1200" dirty="0">
              <a:latin typeface="Arial" panose="020B0604020202020204"/>
              <a:ea typeface="Arial" panose="020B0604020202020204"/>
              <a:cs typeface="Arial" panose="020B0604020202020204"/>
            </a:endParaRPr>
          </a:p>
          <a:p>
            <a:pPr marL="193675" indent="-171450" algn="l" defTabSz="179705" rtl="0" eaLnBrk="0" fontAlgn="auto">
              <a:lnSpc>
                <a:spcPct val="100000"/>
              </a:lnSpc>
              <a:spcBef>
                <a:spcPts val="300"/>
              </a:spcBef>
              <a:buFont typeface="Arial" panose="020B0604020202020204" pitchFamily="34" charset="0"/>
              <a:buChar char="•"/>
            </a:pPr>
            <a:r>
              <a:rPr sz="1200" kern="0" spc="30" dirty="0">
                <a:solidFill>
                  <a:srgbClr val="000000">
                    <a:alpha val="100000"/>
                  </a:srgbClr>
                </a:solidFill>
                <a:latin typeface="黑体" panose="02010609060101010101" charset="-122"/>
                <a:ea typeface="黑体" panose="02010609060101010101" charset="-122"/>
                <a:cs typeface="黑体" panose="02010609060101010101" charset="-122"/>
                <a:sym typeface="+mn-ea"/>
              </a:rPr>
              <a:t>完成456个漏洞闭环管理，降低企业风险敞</a:t>
            </a:r>
            <a:r>
              <a:rPr sz="12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口</a:t>
            </a:r>
            <a:r>
              <a:rPr lang="zh-CN" sz="12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lang="zh-CN" sz="1200" kern="0" spc="20" dirty="0">
              <a:ln>
                <a:noFill/>
                <a:prstDash val="sysDot"/>
              </a:ln>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4" name="文本框 23"/>
          <p:cNvSpPr txBox="1"/>
          <p:nvPr>
            <p:custDataLst>
              <p:tags r:id="rId5"/>
            </p:custDataLst>
          </p:nvPr>
        </p:nvSpPr>
        <p:spPr>
          <a:xfrm>
            <a:off x="1414513" y="2077642"/>
            <a:ext cx="1495714" cy="352244"/>
          </a:xfrm>
          <a:prstGeom prst="rect">
            <a:avLst/>
          </a:prstGeom>
          <a:noFill/>
        </p:spPr>
        <p:txBody>
          <a:bodyPr wrap="square" lIns="0" tIns="0" rIns="0" bIns="0" rtlCol="0" anchor="ctr" anchorCtr="0">
            <a:noAutofit/>
          </a:bodyPr>
          <a:p>
            <a:pPr algn="ctr"/>
            <a:r>
              <a:rPr lang="zh-CN" altLang="en-US" sz="1400" b="1" dirty="0">
                <a:solidFill>
                  <a:schemeClr val="accent5"/>
                </a:solidFill>
              </a:rPr>
              <a:t>安全运营成果回顾</a:t>
            </a:r>
            <a:endParaRPr lang="zh-CN" altLang="en-US" sz="1400" b="1" dirty="0">
              <a:solidFill>
                <a:schemeClr val="accent5"/>
              </a:solidFill>
            </a:endParaRPr>
          </a:p>
        </p:txBody>
      </p:sp>
      <p:sp>
        <p:nvSpPr>
          <p:cNvPr id="9" name="任意多边形: 形状 8"/>
          <p:cNvSpPr/>
          <p:nvPr>
            <p:custDataLst>
              <p:tags r:id="rId6"/>
            </p:custDataLst>
          </p:nvPr>
        </p:nvSpPr>
        <p:spPr>
          <a:xfrm>
            <a:off x="3624647" y="1493177"/>
            <a:ext cx="2208529" cy="3832413"/>
          </a:xfrm>
          <a:custGeom>
            <a:avLst/>
            <a:gdLst>
              <a:gd name="connsiteX0" fmla="*/ 1708785 w 1708784"/>
              <a:gd name="connsiteY0" fmla="*/ 2771585 h 2957512"/>
              <a:gd name="connsiteX1" fmla="*/ 0 w 1708784"/>
              <a:gd name="connsiteY1" fmla="*/ 2957513 h 2957512"/>
              <a:gd name="connsiteX2" fmla="*/ 0 w 1708784"/>
              <a:gd name="connsiteY2" fmla="*/ 0 h 2957512"/>
              <a:gd name="connsiteX3" fmla="*/ 1708785 w 1708784"/>
              <a:gd name="connsiteY3" fmla="*/ 212503 h 2957512"/>
            </a:gdLst>
            <a:ahLst/>
            <a:cxnLst>
              <a:cxn ang="0">
                <a:pos x="connsiteX0" y="connsiteY0"/>
              </a:cxn>
              <a:cxn ang="0">
                <a:pos x="connsiteX1" y="connsiteY1"/>
              </a:cxn>
              <a:cxn ang="0">
                <a:pos x="connsiteX2" y="connsiteY2"/>
              </a:cxn>
              <a:cxn ang="0">
                <a:pos x="connsiteX3" y="connsiteY3"/>
              </a:cxn>
            </a:cxnLst>
            <a:rect l="l" t="t" r="r" b="b"/>
            <a:pathLst>
              <a:path w="1708784" h="2957512">
                <a:moveTo>
                  <a:pt x="1708785" y="2771585"/>
                </a:moveTo>
                <a:lnTo>
                  <a:pt x="0" y="2957513"/>
                </a:lnTo>
                <a:lnTo>
                  <a:pt x="0" y="0"/>
                </a:lnTo>
                <a:lnTo>
                  <a:pt x="1708785" y="212503"/>
                </a:lnTo>
                <a:close/>
              </a:path>
            </a:pathLst>
          </a:custGeom>
          <a:noFill/>
          <a:ln w="9525" cap="flat">
            <a:solidFill>
              <a:schemeClr val="accent6">
                <a:lumMod val="60000"/>
                <a:lumOff val="40000"/>
                <a:alpha val="80000"/>
              </a:schemeClr>
            </a:solidFill>
            <a:prstDash val="solid"/>
            <a:miter/>
          </a:ln>
        </p:spPr>
        <p:txBody>
          <a:bodyPr rtlCol="0" anchor="ctr"/>
          <a:p>
            <a:endParaRPr lang="zh-CN" altLang="en-US">
              <a:solidFill>
                <a:schemeClr val="tx1"/>
              </a:solidFill>
            </a:endParaRPr>
          </a:p>
        </p:txBody>
      </p:sp>
      <p:sp>
        <p:nvSpPr>
          <p:cNvPr id="13" name="任意多边形: 形状 12"/>
          <p:cNvSpPr/>
          <p:nvPr>
            <p:custDataLst>
              <p:tags r:id="rId7"/>
            </p:custDataLst>
          </p:nvPr>
        </p:nvSpPr>
        <p:spPr>
          <a:xfrm>
            <a:off x="3865656" y="1743456"/>
            <a:ext cx="2105120" cy="3332534"/>
          </a:xfrm>
          <a:custGeom>
            <a:avLst/>
            <a:gdLst>
              <a:gd name="connsiteX0" fmla="*/ 1628775 w 1628775"/>
              <a:gd name="connsiteY0" fmla="*/ 2409825 h 2571750"/>
              <a:gd name="connsiteX1" fmla="*/ 0 w 1628775"/>
              <a:gd name="connsiteY1" fmla="*/ 2571750 h 2571750"/>
              <a:gd name="connsiteX2" fmla="*/ 0 w 1628775"/>
              <a:gd name="connsiteY2" fmla="*/ 0 h 2571750"/>
              <a:gd name="connsiteX3" fmla="*/ 1628775 w 1628775"/>
              <a:gd name="connsiteY3" fmla="*/ 180975 h 2571750"/>
            </a:gdLst>
            <a:ahLst/>
            <a:cxnLst>
              <a:cxn ang="0">
                <a:pos x="connsiteX0" y="connsiteY0"/>
              </a:cxn>
              <a:cxn ang="0">
                <a:pos x="connsiteX1" y="connsiteY1"/>
              </a:cxn>
              <a:cxn ang="0">
                <a:pos x="connsiteX2" y="connsiteY2"/>
              </a:cxn>
              <a:cxn ang="0">
                <a:pos x="connsiteX3" y="connsiteY3"/>
              </a:cxn>
            </a:cxnLst>
            <a:rect l="l" t="t" r="r" b="b"/>
            <a:pathLst>
              <a:path w="1628775" h="2571750">
                <a:moveTo>
                  <a:pt x="1628775" y="2409825"/>
                </a:moveTo>
                <a:lnTo>
                  <a:pt x="0" y="2571750"/>
                </a:lnTo>
                <a:lnTo>
                  <a:pt x="0" y="0"/>
                </a:lnTo>
                <a:lnTo>
                  <a:pt x="1628775" y="180975"/>
                </a:lnTo>
                <a:close/>
              </a:path>
            </a:pathLst>
          </a:custGeom>
          <a:solidFill>
            <a:schemeClr val="bg2"/>
          </a:solidFill>
          <a:ln w="9525" cap="flat">
            <a:noFill/>
            <a:prstDash val="solid"/>
            <a:miter/>
          </a:ln>
          <a:effectLst>
            <a:outerShdw blurRad="152400" dist="38100" dir="8100000" algn="tr" rotWithShape="0">
              <a:schemeClr val="accent6">
                <a:alpha val="15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a:solidFill>
                <a:schemeClr val="tx1"/>
              </a:solidFill>
            </a:endParaRPr>
          </a:p>
        </p:txBody>
      </p:sp>
      <p:sp>
        <p:nvSpPr>
          <p:cNvPr id="10" name="任意多边形: 形状 9"/>
          <p:cNvSpPr/>
          <p:nvPr>
            <p:custDataLst>
              <p:tags r:id="rId8"/>
            </p:custDataLst>
          </p:nvPr>
        </p:nvSpPr>
        <p:spPr>
          <a:xfrm>
            <a:off x="3865656" y="1743456"/>
            <a:ext cx="2105120" cy="3332534"/>
          </a:xfrm>
          <a:custGeom>
            <a:avLst/>
            <a:gdLst>
              <a:gd name="connsiteX0" fmla="*/ 1628775 w 1628775"/>
              <a:gd name="connsiteY0" fmla="*/ 2409825 h 2571750"/>
              <a:gd name="connsiteX1" fmla="*/ 0 w 1628775"/>
              <a:gd name="connsiteY1" fmla="*/ 2571750 h 2571750"/>
              <a:gd name="connsiteX2" fmla="*/ 0 w 1628775"/>
              <a:gd name="connsiteY2" fmla="*/ 0 h 2571750"/>
              <a:gd name="connsiteX3" fmla="*/ 1628775 w 1628775"/>
              <a:gd name="connsiteY3" fmla="*/ 180975 h 2571750"/>
            </a:gdLst>
            <a:ahLst/>
            <a:cxnLst>
              <a:cxn ang="0">
                <a:pos x="connsiteX0" y="connsiteY0"/>
              </a:cxn>
              <a:cxn ang="0">
                <a:pos x="connsiteX1" y="connsiteY1"/>
              </a:cxn>
              <a:cxn ang="0">
                <a:pos x="connsiteX2" y="connsiteY2"/>
              </a:cxn>
              <a:cxn ang="0">
                <a:pos x="connsiteX3" y="connsiteY3"/>
              </a:cxn>
            </a:cxnLst>
            <a:rect l="l" t="t" r="r" b="b"/>
            <a:pathLst>
              <a:path w="1628775" h="2571750">
                <a:moveTo>
                  <a:pt x="1628775" y="2409825"/>
                </a:moveTo>
                <a:lnTo>
                  <a:pt x="0" y="2571750"/>
                </a:lnTo>
                <a:lnTo>
                  <a:pt x="0" y="0"/>
                </a:lnTo>
                <a:lnTo>
                  <a:pt x="1628775" y="180975"/>
                </a:lnTo>
                <a:close/>
              </a:path>
            </a:pathLst>
          </a:custGeom>
          <a:solidFill>
            <a:srgbClr val="FFFFFF">
              <a:alpha val="15000"/>
            </a:srgbClr>
          </a:solidFill>
          <a:ln w="9525"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a:solidFill>
                <a:schemeClr val="tx1"/>
              </a:solidFill>
            </a:endParaRPr>
          </a:p>
        </p:txBody>
      </p:sp>
      <p:sp>
        <p:nvSpPr>
          <p:cNvPr id="14" name="文本框 13"/>
          <p:cNvSpPr txBox="1"/>
          <p:nvPr>
            <p:custDataLst>
              <p:tags r:id="rId9"/>
            </p:custDataLst>
          </p:nvPr>
        </p:nvSpPr>
        <p:spPr>
          <a:xfrm>
            <a:off x="4050030" y="2610485"/>
            <a:ext cx="1783080" cy="1383030"/>
          </a:xfrm>
          <a:prstGeom prst="rect">
            <a:avLst/>
          </a:prstGeom>
          <a:noFill/>
        </p:spPr>
        <p:txBody>
          <a:bodyPr wrap="square" lIns="0" tIns="0" rIns="0" bIns="0" rtlCol="0">
            <a:noAutofit/>
          </a:bodyPr>
          <a:p>
            <a:pPr marL="13970" algn="l" eaLnBrk="0">
              <a:lnSpc>
                <a:spcPct val="95000"/>
              </a:lnSpc>
              <a:spcBef>
                <a:spcPts val="1400"/>
              </a:spcBef>
            </a:pPr>
            <a:r>
              <a:rPr sz="12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保障</a:t>
            </a:r>
            <a:r>
              <a:rPr lang="zh-CN" sz="12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企业声誉和经营数据安全</a:t>
            </a:r>
            <a:endParaRPr sz="1200" dirty="0">
              <a:latin typeface="黑体" panose="02010609060101010101" charset="-122"/>
              <a:ea typeface="黑体" panose="02010609060101010101" charset="-122"/>
              <a:cs typeface="黑体" panose="02010609060101010101" charset="-122"/>
            </a:endParaRPr>
          </a:p>
          <a:p>
            <a:pPr marL="24765" algn="l" eaLnBrk="0">
              <a:lnSpc>
                <a:spcPct val="95000"/>
              </a:lnSpc>
              <a:spcBef>
                <a:spcPts val="1030"/>
              </a:spcBef>
            </a:pPr>
            <a:r>
              <a:rPr sz="1200" kern="0" spc="70" dirty="0">
                <a:solidFill>
                  <a:srgbClr val="000000">
                    <a:alpha val="100000"/>
                  </a:srgbClr>
                </a:solidFill>
                <a:latin typeface="黑体" panose="02010609060101010101" charset="-122"/>
                <a:ea typeface="黑体" panose="02010609060101010101" charset="-122"/>
                <a:cs typeface="黑体" panose="02010609060101010101" charset="-122"/>
                <a:sym typeface="+mn-ea"/>
              </a:rPr>
              <a:t>降低</a:t>
            </a:r>
            <a:r>
              <a:rPr sz="1200" kern="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IT</a:t>
            </a:r>
            <a:r>
              <a:rPr sz="1200" kern="0" spc="70" dirty="0">
                <a:solidFill>
                  <a:srgbClr val="000000">
                    <a:alpha val="100000"/>
                  </a:srgbClr>
                </a:solidFill>
                <a:latin typeface="黑体" panose="02010609060101010101" charset="-122"/>
                <a:ea typeface="黑体" panose="02010609060101010101" charset="-122"/>
                <a:cs typeface="黑体" panose="02010609060101010101" charset="-122"/>
                <a:sym typeface="+mn-ea"/>
              </a:rPr>
              <a:t>运维人力成本,</a:t>
            </a:r>
            <a:r>
              <a:rPr sz="1200" kern="0" spc="60" dirty="0">
                <a:solidFill>
                  <a:srgbClr val="000000">
                    <a:alpha val="100000"/>
                  </a:srgbClr>
                </a:solidFill>
                <a:latin typeface="黑体" panose="02010609060101010101" charset="-122"/>
                <a:ea typeface="黑体" panose="02010609060101010101" charset="-122"/>
                <a:cs typeface="黑体" panose="02010609060101010101" charset="-122"/>
                <a:sym typeface="+mn-ea"/>
              </a:rPr>
              <a:t>提升运维效率</a:t>
            </a:r>
            <a:endParaRPr sz="1200" dirty="0">
              <a:latin typeface="黑体" panose="02010609060101010101" charset="-122"/>
              <a:ea typeface="黑体" panose="02010609060101010101" charset="-122"/>
              <a:cs typeface="黑体" panose="02010609060101010101" charset="-122"/>
            </a:endParaRPr>
          </a:p>
          <a:p>
            <a:pPr algn="l" eaLnBrk="0">
              <a:lnSpc>
                <a:spcPct val="106000"/>
              </a:lnSpc>
            </a:pPr>
            <a:endParaRPr sz="800" dirty="0">
              <a:latin typeface="Arial" panose="020B0604020202020204"/>
              <a:ea typeface="Arial" panose="020B0604020202020204"/>
              <a:cs typeface="Arial" panose="020B0604020202020204"/>
            </a:endParaRPr>
          </a:p>
          <a:p>
            <a:pPr marL="13970" algn="l" eaLnBrk="0">
              <a:lnSpc>
                <a:spcPct val="92000"/>
              </a:lnSpc>
              <a:spcBef>
                <a:spcPts val="5"/>
              </a:spcBef>
            </a:pPr>
            <a:r>
              <a:rPr sz="12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安全赋能数字化转型，提升客户信任与</a:t>
            </a:r>
            <a:r>
              <a:rPr lang="zh-CN" sz="12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公司</a:t>
            </a:r>
            <a:r>
              <a:rPr lang="zh-CN" sz="12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形象</a:t>
            </a:r>
            <a:endParaRPr lang="zh-CN" sz="12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5" name="文本框 14"/>
          <p:cNvSpPr txBox="1"/>
          <p:nvPr>
            <p:custDataLst>
              <p:tags r:id="rId10"/>
            </p:custDataLst>
          </p:nvPr>
        </p:nvSpPr>
        <p:spPr>
          <a:xfrm>
            <a:off x="4102195" y="2077642"/>
            <a:ext cx="1495714" cy="352244"/>
          </a:xfrm>
          <a:prstGeom prst="rect">
            <a:avLst/>
          </a:prstGeom>
          <a:noFill/>
        </p:spPr>
        <p:txBody>
          <a:bodyPr wrap="square" lIns="0" tIns="0" rIns="0" bIns="0" rtlCol="0" anchor="ctr" anchorCtr="0">
            <a:noAutofit/>
          </a:bodyPr>
          <a:p>
            <a:pPr lvl="0" algn="ctr">
              <a:buClrTx/>
              <a:buSzTx/>
              <a:buFontTx/>
            </a:pPr>
            <a:r>
              <a:rPr lang="zh-CN" altLang="en-US" sz="1400" b="1" dirty="0">
                <a:solidFill>
                  <a:schemeClr val="accent6"/>
                </a:solidFill>
                <a:sym typeface="+mn-ea"/>
              </a:rPr>
              <a:t>对业务的支持与赋能</a:t>
            </a:r>
            <a:endParaRPr lang="zh-CN" altLang="en-US" sz="1400" b="1" dirty="0">
              <a:solidFill>
                <a:schemeClr val="accent6"/>
              </a:solidFill>
              <a:sym typeface="+mn-ea"/>
            </a:endParaRPr>
          </a:p>
        </p:txBody>
      </p:sp>
      <p:sp>
        <p:nvSpPr>
          <p:cNvPr id="55" name="任意多边形: 形状 54"/>
          <p:cNvSpPr/>
          <p:nvPr>
            <p:custDataLst>
              <p:tags r:id="rId11"/>
            </p:custDataLst>
          </p:nvPr>
        </p:nvSpPr>
        <p:spPr>
          <a:xfrm>
            <a:off x="6424062" y="1493177"/>
            <a:ext cx="2208529" cy="3832413"/>
          </a:xfrm>
          <a:custGeom>
            <a:avLst/>
            <a:gdLst>
              <a:gd name="connsiteX0" fmla="*/ 1708785 w 1708784"/>
              <a:gd name="connsiteY0" fmla="*/ 2771585 h 2957512"/>
              <a:gd name="connsiteX1" fmla="*/ 0 w 1708784"/>
              <a:gd name="connsiteY1" fmla="*/ 2957513 h 2957512"/>
              <a:gd name="connsiteX2" fmla="*/ 0 w 1708784"/>
              <a:gd name="connsiteY2" fmla="*/ 0 h 2957512"/>
              <a:gd name="connsiteX3" fmla="*/ 1708785 w 1708784"/>
              <a:gd name="connsiteY3" fmla="*/ 212503 h 2957512"/>
            </a:gdLst>
            <a:ahLst/>
            <a:cxnLst>
              <a:cxn ang="0">
                <a:pos x="connsiteX0" y="connsiteY0"/>
              </a:cxn>
              <a:cxn ang="0">
                <a:pos x="connsiteX1" y="connsiteY1"/>
              </a:cxn>
              <a:cxn ang="0">
                <a:pos x="connsiteX2" y="connsiteY2"/>
              </a:cxn>
              <a:cxn ang="0">
                <a:pos x="connsiteX3" y="connsiteY3"/>
              </a:cxn>
            </a:cxnLst>
            <a:rect l="l" t="t" r="r" b="b"/>
            <a:pathLst>
              <a:path w="1708784" h="2957512">
                <a:moveTo>
                  <a:pt x="1708785" y="2771585"/>
                </a:moveTo>
                <a:lnTo>
                  <a:pt x="0" y="2957513"/>
                </a:lnTo>
                <a:lnTo>
                  <a:pt x="0" y="0"/>
                </a:lnTo>
                <a:lnTo>
                  <a:pt x="1708785" y="212503"/>
                </a:lnTo>
                <a:close/>
              </a:path>
            </a:pathLst>
          </a:custGeom>
          <a:noFill/>
          <a:ln w="9525" cap="flat">
            <a:solidFill>
              <a:schemeClr val="accent5">
                <a:lumMod val="60000"/>
                <a:lumOff val="40000"/>
                <a:alpha val="80000"/>
              </a:schemeClr>
            </a:solidFill>
            <a:prstDash val="solid"/>
            <a:miter/>
          </a:ln>
        </p:spPr>
        <p:txBody>
          <a:bodyPr rtlCol="0" anchor="ctr"/>
          <a:p>
            <a:endParaRPr lang="zh-CN" altLang="en-US">
              <a:solidFill>
                <a:schemeClr val="tx1"/>
              </a:solidFill>
            </a:endParaRPr>
          </a:p>
        </p:txBody>
      </p:sp>
      <p:sp>
        <p:nvSpPr>
          <p:cNvPr id="57" name="任意多边形: 形状 56"/>
          <p:cNvSpPr/>
          <p:nvPr>
            <p:custDataLst>
              <p:tags r:id="rId12"/>
            </p:custDataLst>
          </p:nvPr>
        </p:nvSpPr>
        <p:spPr>
          <a:xfrm>
            <a:off x="6665734" y="1743456"/>
            <a:ext cx="2105120" cy="3332534"/>
          </a:xfrm>
          <a:custGeom>
            <a:avLst/>
            <a:gdLst>
              <a:gd name="connsiteX0" fmla="*/ 1628775 w 1628775"/>
              <a:gd name="connsiteY0" fmla="*/ 2409825 h 2571750"/>
              <a:gd name="connsiteX1" fmla="*/ 0 w 1628775"/>
              <a:gd name="connsiteY1" fmla="*/ 2571750 h 2571750"/>
              <a:gd name="connsiteX2" fmla="*/ 0 w 1628775"/>
              <a:gd name="connsiteY2" fmla="*/ 0 h 2571750"/>
              <a:gd name="connsiteX3" fmla="*/ 1628775 w 1628775"/>
              <a:gd name="connsiteY3" fmla="*/ 180975 h 2571750"/>
            </a:gdLst>
            <a:ahLst/>
            <a:cxnLst>
              <a:cxn ang="0">
                <a:pos x="connsiteX0" y="connsiteY0"/>
              </a:cxn>
              <a:cxn ang="0">
                <a:pos x="connsiteX1" y="connsiteY1"/>
              </a:cxn>
              <a:cxn ang="0">
                <a:pos x="connsiteX2" y="connsiteY2"/>
              </a:cxn>
              <a:cxn ang="0">
                <a:pos x="connsiteX3" y="connsiteY3"/>
              </a:cxn>
            </a:cxnLst>
            <a:rect l="l" t="t" r="r" b="b"/>
            <a:pathLst>
              <a:path w="1628775" h="2571750">
                <a:moveTo>
                  <a:pt x="1628775" y="2409825"/>
                </a:moveTo>
                <a:lnTo>
                  <a:pt x="0" y="2571750"/>
                </a:lnTo>
                <a:lnTo>
                  <a:pt x="0" y="0"/>
                </a:lnTo>
                <a:lnTo>
                  <a:pt x="1628775" y="180975"/>
                </a:lnTo>
                <a:close/>
              </a:path>
            </a:pathLst>
          </a:custGeom>
          <a:solidFill>
            <a:schemeClr val="bg2"/>
          </a:solidFill>
          <a:ln w="9525" cap="flat">
            <a:noFill/>
            <a:prstDash val="solid"/>
            <a:miter/>
          </a:ln>
          <a:effectLst>
            <a:outerShdw blurRad="152400" dist="38100" dir="8100000" algn="tr" rotWithShape="0">
              <a:schemeClr val="accent5">
                <a:alpha val="15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a:solidFill>
                <a:schemeClr val="tx1"/>
              </a:solidFill>
            </a:endParaRPr>
          </a:p>
        </p:txBody>
      </p:sp>
      <p:sp>
        <p:nvSpPr>
          <p:cNvPr id="56" name="任意多边形: 形状 55"/>
          <p:cNvSpPr/>
          <p:nvPr>
            <p:custDataLst>
              <p:tags r:id="rId13"/>
            </p:custDataLst>
          </p:nvPr>
        </p:nvSpPr>
        <p:spPr>
          <a:xfrm>
            <a:off x="6665734" y="1743456"/>
            <a:ext cx="2105120" cy="3332534"/>
          </a:xfrm>
          <a:custGeom>
            <a:avLst/>
            <a:gdLst>
              <a:gd name="connsiteX0" fmla="*/ 1628775 w 1628775"/>
              <a:gd name="connsiteY0" fmla="*/ 2409825 h 2571750"/>
              <a:gd name="connsiteX1" fmla="*/ 0 w 1628775"/>
              <a:gd name="connsiteY1" fmla="*/ 2571750 h 2571750"/>
              <a:gd name="connsiteX2" fmla="*/ 0 w 1628775"/>
              <a:gd name="connsiteY2" fmla="*/ 0 h 2571750"/>
              <a:gd name="connsiteX3" fmla="*/ 1628775 w 1628775"/>
              <a:gd name="connsiteY3" fmla="*/ 180975 h 2571750"/>
            </a:gdLst>
            <a:ahLst/>
            <a:cxnLst>
              <a:cxn ang="0">
                <a:pos x="connsiteX0" y="connsiteY0"/>
              </a:cxn>
              <a:cxn ang="0">
                <a:pos x="connsiteX1" y="connsiteY1"/>
              </a:cxn>
              <a:cxn ang="0">
                <a:pos x="connsiteX2" y="connsiteY2"/>
              </a:cxn>
              <a:cxn ang="0">
                <a:pos x="connsiteX3" y="connsiteY3"/>
              </a:cxn>
            </a:cxnLst>
            <a:rect l="l" t="t" r="r" b="b"/>
            <a:pathLst>
              <a:path w="1628775" h="2571750">
                <a:moveTo>
                  <a:pt x="1628775" y="2409825"/>
                </a:moveTo>
                <a:lnTo>
                  <a:pt x="0" y="2571750"/>
                </a:lnTo>
                <a:lnTo>
                  <a:pt x="0" y="0"/>
                </a:lnTo>
                <a:lnTo>
                  <a:pt x="1628775" y="180975"/>
                </a:lnTo>
                <a:close/>
              </a:path>
            </a:pathLst>
          </a:custGeom>
          <a:solidFill>
            <a:srgbClr val="FFFFFF">
              <a:alpha val="15000"/>
            </a:srgbClr>
          </a:solidFill>
          <a:ln w="9525"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a:solidFill>
                <a:schemeClr val="tx1"/>
              </a:solidFill>
            </a:endParaRPr>
          </a:p>
        </p:txBody>
      </p:sp>
      <p:sp>
        <p:nvSpPr>
          <p:cNvPr id="58" name="文本框 57"/>
          <p:cNvSpPr txBox="1"/>
          <p:nvPr>
            <p:custDataLst>
              <p:tags r:id="rId14"/>
            </p:custDataLst>
          </p:nvPr>
        </p:nvSpPr>
        <p:spPr>
          <a:xfrm>
            <a:off x="6850380" y="2609850"/>
            <a:ext cx="1736090" cy="2261870"/>
          </a:xfrm>
          <a:prstGeom prst="rect">
            <a:avLst/>
          </a:prstGeom>
          <a:noFill/>
        </p:spPr>
        <p:txBody>
          <a:bodyPr wrap="square" lIns="0" tIns="0" rIns="0" bIns="0" rtlCol="0">
            <a:noAutofit/>
          </a:bodyPr>
          <a:p>
            <a:pPr marL="22225" lvl="0" indent="0" algn="l" defTabSz="179705" eaLnBrk="0">
              <a:spcBef>
                <a:spcPts val="300"/>
              </a:spcBef>
              <a:buClrTx/>
              <a:buSzTx/>
              <a:buFont typeface="Arial" panose="020B0604020202020204" pitchFamily="34" charset="0"/>
              <a:buNone/>
            </a:pPr>
            <a:r>
              <a:rPr sz="1200"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基于本年度安全运营成果与经验，我们将进一步深化安全与业务融合</a:t>
            </a:r>
            <a:r>
              <a:rPr lang="zh-CN" sz="1200"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sz="1200"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提升安全运营自动化水平，助力企业实现数字化转型目标。未来一年，我们将重点关注业务弱点闭环、暴露面管控、</a:t>
            </a:r>
            <a:r>
              <a:rPr lang="zh-CN" sz="1200"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实时威胁对抗，</a:t>
            </a:r>
            <a:r>
              <a:rPr sz="1200"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确保企业业务安全与持续发展。</a:t>
            </a:r>
            <a:endParaRPr sz="1200"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9" name="文本框 58"/>
          <p:cNvSpPr txBox="1"/>
          <p:nvPr>
            <p:custDataLst>
              <p:tags r:id="rId15"/>
            </p:custDataLst>
          </p:nvPr>
        </p:nvSpPr>
        <p:spPr>
          <a:xfrm>
            <a:off x="6926375" y="2077642"/>
            <a:ext cx="1495714" cy="352244"/>
          </a:xfrm>
          <a:prstGeom prst="rect">
            <a:avLst/>
          </a:prstGeom>
          <a:noFill/>
        </p:spPr>
        <p:txBody>
          <a:bodyPr wrap="square" lIns="0" tIns="0" rIns="0" bIns="0" rtlCol="0" anchor="ctr" anchorCtr="0">
            <a:noAutofit/>
          </a:bodyPr>
          <a:p>
            <a:pPr lvl="0" algn="ctr">
              <a:buClrTx/>
              <a:buSzTx/>
              <a:buFontTx/>
            </a:pPr>
            <a:r>
              <a:rPr lang="zh-CN" altLang="en-US" sz="1400" b="1" dirty="0">
                <a:solidFill>
                  <a:schemeClr val="accent5"/>
                </a:solidFill>
                <a:sym typeface="+mn-ea"/>
              </a:rPr>
              <a:t>未来展望</a:t>
            </a:r>
            <a:endParaRPr lang="zh-CN" altLang="en-US" sz="1400" b="1" dirty="0">
              <a:solidFill>
                <a:schemeClr val="accent5"/>
              </a:solidFill>
              <a:sym typeface="+mn-ea"/>
            </a:endParaRPr>
          </a:p>
        </p:txBody>
      </p:sp>
      <p:sp>
        <p:nvSpPr>
          <p:cNvPr id="61" name="任意多边形: 形状 60"/>
          <p:cNvSpPr/>
          <p:nvPr>
            <p:custDataLst>
              <p:tags r:id="rId16"/>
            </p:custDataLst>
          </p:nvPr>
        </p:nvSpPr>
        <p:spPr>
          <a:xfrm>
            <a:off x="9224140" y="1493177"/>
            <a:ext cx="2208529" cy="3832413"/>
          </a:xfrm>
          <a:custGeom>
            <a:avLst/>
            <a:gdLst>
              <a:gd name="connsiteX0" fmla="*/ 1708785 w 1708784"/>
              <a:gd name="connsiteY0" fmla="*/ 2771585 h 2957512"/>
              <a:gd name="connsiteX1" fmla="*/ 0 w 1708784"/>
              <a:gd name="connsiteY1" fmla="*/ 2957513 h 2957512"/>
              <a:gd name="connsiteX2" fmla="*/ 0 w 1708784"/>
              <a:gd name="connsiteY2" fmla="*/ 0 h 2957512"/>
              <a:gd name="connsiteX3" fmla="*/ 1708785 w 1708784"/>
              <a:gd name="connsiteY3" fmla="*/ 212503 h 2957512"/>
            </a:gdLst>
            <a:ahLst/>
            <a:cxnLst>
              <a:cxn ang="0">
                <a:pos x="connsiteX0" y="connsiteY0"/>
              </a:cxn>
              <a:cxn ang="0">
                <a:pos x="connsiteX1" y="connsiteY1"/>
              </a:cxn>
              <a:cxn ang="0">
                <a:pos x="connsiteX2" y="connsiteY2"/>
              </a:cxn>
              <a:cxn ang="0">
                <a:pos x="connsiteX3" y="connsiteY3"/>
              </a:cxn>
            </a:cxnLst>
            <a:rect l="l" t="t" r="r" b="b"/>
            <a:pathLst>
              <a:path w="1708784" h="2957512">
                <a:moveTo>
                  <a:pt x="1708785" y="2771585"/>
                </a:moveTo>
                <a:lnTo>
                  <a:pt x="0" y="2957513"/>
                </a:lnTo>
                <a:lnTo>
                  <a:pt x="0" y="0"/>
                </a:lnTo>
                <a:lnTo>
                  <a:pt x="1708785" y="212503"/>
                </a:lnTo>
                <a:close/>
              </a:path>
            </a:pathLst>
          </a:custGeom>
          <a:noFill/>
          <a:ln w="9525" cap="flat">
            <a:solidFill>
              <a:schemeClr val="accent6">
                <a:lumMod val="60000"/>
                <a:lumOff val="40000"/>
                <a:alpha val="80000"/>
              </a:schemeClr>
            </a:solidFill>
            <a:prstDash val="solid"/>
            <a:miter/>
          </a:ln>
        </p:spPr>
        <p:txBody>
          <a:bodyPr rtlCol="0" anchor="ctr"/>
          <a:p>
            <a:endParaRPr lang="zh-CN" altLang="en-US">
              <a:solidFill>
                <a:schemeClr val="tx1"/>
              </a:solidFill>
            </a:endParaRPr>
          </a:p>
        </p:txBody>
      </p:sp>
      <p:sp>
        <p:nvSpPr>
          <p:cNvPr id="63" name="任意多边形: 形状 62"/>
          <p:cNvSpPr/>
          <p:nvPr>
            <p:custDataLst>
              <p:tags r:id="rId17"/>
            </p:custDataLst>
          </p:nvPr>
        </p:nvSpPr>
        <p:spPr>
          <a:xfrm>
            <a:off x="9465149" y="1743456"/>
            <a:ext cx="2105120" cy="3332534"/>
          </a:xfrm>
          <a:custGeom>
            <a:avLst/>
            <a:gdLst>
              <a:gd name="connsiteX0" fmla="*/ 1628775 w 1628775"/>
              <a:gd name="connsiteY0" fmla="*/ 2409825 h 2571750"/>
              <a:gd name="connsiteX1" fmla="*/ 0 w 1628775"/>
              <a:gd name="connsiteY1" fmla="*/ 2571750 h 2571750"/>
              <a:gd name="connsiteX2" fmla="*/ 0 w 1628775"/>
              <a:gd name="connsiteY2" fmla="*/ 0 h 2571750"/>
              <a:gd name="connsiteX3" fmla="*/ 1628775 w 1628775"/>
              <a:gd name="connsiteY3" fmla="*/ 180975 h 2571750"/>
            </a:gdLst>
            <a:ahLst/>
            <a:cxnLst>
              <a:cxn ang="0">
                <a:pos x="connsiteX0" y="connsiteY0"/>
              </a:cxn>
              <a:cxn ang="0">
                <a:pos x="connsiteX1" y="connsiteY1"/>
              </a:cxn>
              <a:cxn ang="0">
                <a:pos x="connsiteX2" y="connsiteY2"/>
              </a:cxn>
              <a:cxn ang="0">
                <a:pos x="connsiteX3" y="connsiteY3"/>
              </a:cxn>
            </a:cxnLst>
            <a:rect l="l" t="t" r="r" b="b"/>
            <a:pathLst>
              <a:path w="1628775" h="2571750">
                <a:moveTo>
                  <a:pt x="1628775" y="2409825"/>
                </a:moveTo>
                <a:lnTo>
                  <a:pt x="0" y="2571750"/>
                </a:lnTo>
                <a:lnTo>
                  <a:pt x="0" y="0"/>
                </a:lnTo>
                <a:lnTo>
                  <a:pt x="1628775" y="180975"/>
                </a:lnTo>
                <a:close/>
              </a:path>
            </a:pathLst>
          </a:custGeom>
          <a:solidFill>
            <a:schemeClr val="bg2"/>
          </a:solidFill>
          <a:ln w="9525" cap="flat">
            <a:noFill/>
            <a:prstDash val="solid"/>
            <a:miter/>
          </a:ln>
          <a:effectLst>
            <a:outerShdw blurRad="152400" dist="38100" dir="8100000" algn="tr" rotWithShape="0">
              <a:schemeClr val="accent6">
                <a:alpha val="15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a:solidFill>
                <a:schemeClr val="tx1"/>
              </a:solidFill>
            </a:endParaRPr>
          </a:p>
        </p:txBody>
      </p:sp>
      <p:sp>
        <p:nvSpPr>
          <p:cNvPr id="62" name="任意多边形: 形状 61"/>
          <p:cNvSpPr/>
          <p:nvPr>
            <p:custDataLst>
              <p:tags r:id="rId18"/>
            </p:custDataLst>
          </p:nvPr>
        </p:nvSpPr>
        <p:spPr>
          <a:xfrm>
            <a:off x="9465149" y="1743456"/>
            <a:ext cx="2105120" cy="3332534"/>
          </a:xfrm>
          <a:custGeom>
            <a:avLst/>
            <a:gdLst>
              <a:gd name="connsiteX0" fmla="*/ 1628775 w 1628775"/>
              <a:gd name="connsiteY0" fmla="*/ 2409825 h 2571750"/>
              <a:gd name="connsiteX1" fmla="*/ 0 w 1628775"/>
              <a:gd name="connsiteY1" fmla="*/ 2571750 h 2571750"/>
              <a:gd name="connsiteX2" fmla="*/ 0 w 1628775"/>
              <a:gd name="connsiteY2" fmla="*/ 0 h 2571750"/>
              <a:gd name="connsiteX3" fmla="*/ 1628775 w 1628775"/>
              <a:gd name="connsiteY3" fmla="*/ 180975 h 2571750"/>
            </a:gdLst>
            <a:ahLst/>
            <a:cxnLst>
              <a:cxn ang="0">
                <a:pos x="connsiteX0" y="connsiteY0"/>
              </a:cxn>
              <a:cxn ang="0">
                <a:pos x="connsiteX1" y="connsiteY1"/>
              </a:cxn>
              <a:cxn ang="0">
                <a:pos x="connsiteX2" y="connsiteY2"/>
              </a:cxn>
              <a:cxn ang="0">
                <a:pos x="connsiteX3" y="connsiteY3"/>
              </a:cxn>
            </a:cxnLst>
            <a:rect l="l" t="t" r="r" b="b"/>
            <a:pathLst>
              <a:path w="1628775" h="2571750">
                <a:moveTo>
                  <a:pt x="1628775" y="2409825"/>
                </a:moveTo>
                <a:lnTo>
                  <a:pt x="0" y="2571750"/>
                </a:lnTo>
                <a:lnTo>
                  <a:pt x="0" y="0"/>
                </a:lnTo>
                <a:lnTo>
                  <a:pt x="1628775" y="180975"/>
                </a:lnTo>
                <a:close/>
              </a:path>
            </a:pathLst>
          </a:custGeom>
          <a:solidFill>
            <a:srgbClr val="FFFFFF">
              <a:alpha val="15000"/>
            </a:srgbClr>
          </a:solidFill>
          <a:ln w="9525"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a:solidFill>
                <a:schemeClr val="tx1"/>
              </a:solidFill>
            </a:endParaRPr>
          </a:p>
        </p:txBody>
      </p:sp>
      <p:sp>
        <p:nvSpPr>
          <p:cNvPr id="64" name="文本框 63"/>
          <p:cNvSpPr txBox="1"/>
          <p:nvPr>
            <p:custDataLst>
              <p:tags r:id="rId19"/>
            </p:custDataLst>
          </p:nvPr>
        </p:nvSpPr>
        <p:spPr>
          <a:xfrm>
            <a:off x="9685020" y="2611120"/>
            <a:ext cx="1736725" cy="2142490"/>
          </a:xfrm>
          <a:prstGeom prst="rect">
            <a:avLst/>
          </a:prstGeom>
          <a:noFill/>
        </p:spPr>
        <p:txBody>
          <a:bodyPr wrap="square" lIns="0" tIns="0" rIns="0" bIns="0" rtlCol="0">
            <a:noAutofit/>
          </a:bodyPr>
          <a:p>
            <a:pPr marL="22225" lvl="0" algn="l" defTabSz="179705" eaLnBrk="0">
              <a:spcBef>
                <a:spcPts val="300"/>
              </a:spcBef>
              <a:buClrTx/>
              <a:buSzTx/>
              <a:buFont typeface="Arial" panose="020B0604020202020204" pitchFamily="34" charset="0"/>
            </a:pPr>
            <a:r>
              <a:rPr sz="1200" b="1"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管理机制完善</a:t>
            </a:r>
            <a:endParaRPr sz="1200" b="1"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22225" lvl="0" algn="l" defTabSz="179705" eaLnBrk="0">
              <a:spcBef>
                <a:spcPts val="300"/>
              </a:spcBef>
              <a:buClrTx/>
              <a:buSzTx/>
              <a:buFont typeface="Arial" panose="020B0604020202020204" pitchFamily="34" charset="0"/>
            </a:pPr>
            <a:r>
              <a:rPr sz="1200"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建立安全与业务协同机制，统一安全基线标准，促进跨部门合作</a:t>
            </a:r>
            <a:endParaRPr sz="1200"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22225" lvl="0" algn="l" defTabSz="179705" eaLnBrk="0">
              <a:spcBef>
                <a:spcPts val="300"/>
              </a:spcBef>
              <a:buClrTx/>
              <a:buSzTx/>
              <a:buFont typeface="Arial" panose="020B0604020202020204" pitchFamily="34" charset="0"/>
            </a:pPr>
            <a:r>
              <a:rPr sz="1200" b="1"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人才能力建设</a:t>
            </a:r>
            <a:endParaRPr sz="1200" b="1"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22225" lvl="0" algn="l" defTabSz="179705" eaLnBrk="0">
              <a:spcBef>
                <a:spcPts val="300"/>
              </a:spcBef>
              <a:buClrTx/>
              <a:buSzTx/>
              <a:buFont typeface="Arial" panose="020B0604020202020204" pitchFamily="34" charset="0"/>
            </a:pPr>
            <a:r>
              <a:rPr sz="1200"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组建专业安全运营团队，开展定期安全意识培训与技能提升计划</a:t>
            </a:r>
            <a:endParaRPr sz="1200"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22225" lvl="0" algn="l" defTabSz="179705" eaLnBrk="0">
              <a:spcBef>
                <a:spcPts val="300"/>
              </a:spcBef>
              <a:buClrTx/>
              <a:buSzTx/>
              <a:buFont typeface="Arial" panose="020B0604020202020204" pitchFamily="34" charset="0"/>
            </a:pPr>
            <a:r>
              <a:rPr lang="zh-CN" sz="1200" b="1"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安全投资建议</a:t>
            </a:r>
            <a:endParaRPr lang="zh-CN" sz="1200" b="1"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22225" lvl="0" algn="l" defTabSz="179705" eaLnBrk="0">
              <a:spcBef>
                <a:spcPts val="300"/>
              </a:spcBef>
              <a:buClrTx/>
              <a:buSzTx/>
              <a:buFont typeface="Arial" panose="020B0604020202020204" pitchFamily="34" charset="0"/>
            </a:pPr>
            <a:endParaRPr lang="zh-CN" sz="1200" b="1"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65" name="文本框 64"/>
          <p:cNvSpPr txBox="1"/>
          <p:nvPr>
            <p:custDataLst>
              <p:tags r:id="rId20"/>
            </p:custDataLst>
          </p:nvPr>
        </p:nvSpPr>
        <p:spPr>
          <a:xfrm>
            <a:off x="9750556" y="2077642"/>
            <a:ext cx="1495714" cy="352244"/>
          </a:xfrm>
          <a:prstGeom prst="rect">
            <a:avLst/>
          </a:prstGeom>
          <a:noFill/>
        </p:spPr>
        <p:txBody>
          <a:bodyPr wrap="square" lIns="0" tIns="0" rIns="0" bIns="0" rtlCol="0" anchor="ctr" anchorCtr="0">
            <a:noAutofit/>
          </a:bodyPr>
          <a:p>
            <a:pPr lvl="0" algn="ctr">
              <a:buClrTx/>
              <a:buSzTx/>
              <a:buFontTx/>
            </a:pPr>
            <a:r>
              <a:rPr lang="zh-CN" altLang="en-US" sz="1400" b="1" dirty="0">
                <a:solidFill>
                  <a:schemeClr val="accent6"/>
                </a:solidFill>
                <a:sym typeface="+mn-ea"/>
              </a:rPr>
              <a:t>决策层行动建议</a:t>
            </a:r>
            <a:endParaRPr lang="zh-CN" altLang="en-US" sz="1400" b="1" dirty="0">
              <a:solidFill>
                <a:schemeClr val="accent6"/>
              </a:solidFill>
              <a:sym typeface="+mn-ea"/>
            </a:endParaRPr>
          </a:p>
        </p:txBody>
      </p:sp>
      <p:pic>
        <p:nvPicPr>
          <p:cNvPr id="7" name="图片 6" descr="深信服 + 智安全"/>
          <p:cNvPicPr>
            <a:picLocks noChangeAspect="1"/>
          </p:cNvPicPr>
          <p:nvPr/>
        </p:nvPicPr>
        <p:blipFill>
          <a:blip r:embed="rId21"/>
          <a:srcRect l="5232" t="26576" r="4938" b="29565"/>
          <a:stretch>
            <a:fillRect/>
          </a:stretch>
        </p:blipFill>
        <p:spPr>
          <a:xfrm>
            <a:off x="10017125" y="238760"/>
            <a:ext cx="1629867" cy="360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78" name="图片 2" descr="图片 2"/>
          <p:cNvPicPr>
            <a:picLocks noChangeAspect="1"/>
          </p:cNvPicPr>
          <p:nvPr/>
        </p:nvPicPr>
        <p:blipFill>
          <a:blip r:embed="rId1"/>
          <a:stretch>
            <a:fillRect/>
          </a:stretch>
        </p:blipFill>
        <p:spPr>
          <a:xfrm>
            <a:off x="0" y="0"/>
            <a:ext cx="12192000" cy="6858000"/>
          </a:xfrm>
          <a:prstGeom prst="rect">
            <a:avLst/>
          </a:prstGeom>
          <a:ln w="12700">
            <a:miter lim="400000"/>
            <a:headEnd/>
            <a:tailEnd/>
          </a:ln>
        </p:spPr>
      </p:pic>
      <p:sp>
        <p:nvSpPr>
          <p:cNvPr id="1879" name="文本框 8"/>
          <p:cNvSpPr txBox="1"/>
          <p:nvPr/>
        </p:nvSpPr>
        <p:spPr>
          <a:xfrm>
            <a:off x="7391052" y="2854804"/>
            <a:ext cx="3522283" cy="991870"/>
          </a:xfrm>
          <a:prstGeom prst="rect">
            <a:avLst/>
          </a:prstGeom>
          <a:ln w="12700">
            <a:miter lim="400000"/>
          </a:ln>
        </p:spPr>
        <p:txBody>
          <a:bodyPr lIns="34290" tIns="34290" rIns="34290" bIns="34290">
            <a:spAutoFit/>
          </a:bodyPr>
          <a:lstStyle>
            <a:lvl1pPr>
              <a:defRPr sz="6000" b="1" spc="6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谢谢聆听</a:t>
            </a:r>
          </a:p>
        </p:txBody>
      </p:sp>
      <p:sp>
        <p:nvSpPr>
          <p:cNvPr id="1880" name="文本框 8"/>
          <p:cNvSpPr txBox="1"/>
          <p:nvPr/>
        </p:nvSpPr>
        <p:spPr>
          <a:xfrm>
            <a:off x="6916783" y="3956601"/>
            <a:ext cx="3730784" cy="240030"/>
          </a:xfrm>
          <a:prstGeom prst="rect">
            <a:avLst/>
          </a:prstGeom>
          <a:ln w="12700">
            <a:miter lim="400000"/>
          </a:ln>
        </p:spPr>
        <p:txBody>
          <a:bodyPr lIns="34290" tIns="34290" rIns="34290" bIns="34290">
            <a:spAutoFit/>
          </a:bodyPr>
          <a:lstStyle>
            <a:lvl1pPr algn="just">
              <a:lnSpc>
                <a:spcPct val="80000"/>
              </a:lnSpc>
              <a:spcBef>
                <a:spcPts val="1000"/>
              </a:spcBef>
              <a:defRPr sz="14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algn="r"/>
            <a:r>
              <a:t>让每个用户的数字化更简单、更安全!</a:t>
            </a:r>
          </a:p>
        </p:txBody>
      </p:sp>
      <p:pic>
        <p:nvPicPr>
          <p:cNvPr id="1882" name="图像" descr="图像"/>
          <p:cNvPicPr>
            <a:picLocks noChangeAspect="1"/>
          </p:cNvPicPr>
          <p:nvPr/>
        </p:nvPicPr>
        <p:blipFill>
          <a:blip r:embed="rId2" cstate="screen"/>
          <a:stretch>
            <a:fillRect/>
          </a:stretch>
        </p:blipFill>
        <p:spPr>
          <a:xfrm>
            <a:off x="9293011" y="2276951"/>
            <a:ext cx="1360209" cy="440446"/>
          </a:xfrm>
          <a:prstGeom prst="rect">
            <a:avLst/>
          </a:prstGeom>
          <a:ln w="12700">
            <a:miter lim="400000"/>
            <a:headEnd/>
            <a:tailEnd/>
          </a:ln>
        </p:spPr>
      </p:pic>
    </p:spTree>
  </p:cSld>
  <p:clrMapOvr>
    <a:masterClrMapping/>
  </p:clrMapOvr>
  <p:transition spd="med"/>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4"/>
</p:tagLst>
</file>

<file path=ppt/tags/tag5.xml><?xml version="1.0" encoding="utf-8"?>
<p:tagLst xmlns:p="http://schemas.openxmlformats.org/presentationml/2006/main">
  <p:tag name="KSO_WM_UNIT_TYPE" val="e"/>
  <p:tag name="KSO_WM_UNIT_INDEX" val="1"/>
  <p:tag name="KSO_WM_BEAUTIFY_FLAG" val="#wm#"/>
  <p:tag name="KSO_WM_TAG_VERSION" val="3.0"/>
  <p:tag name="KSO_WM_UNIT_PRESET_TEXT" val="编号"/>
  <p:tag name="KSO_WM_UNIT_ID" val="_4*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2"/>
</p:tagLst>
</file>

<file path=ppt/tags/tag6.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xml><?xml version="1.0" encoding="utf-8"?>
<p:tagLst xmlns:p="http://schemas.openxmlformats.org/presentationml/2006/main">
  <p:tag name="KSO_WM_UNIT_TYPE" val="i"/>
  <p:tag name="KSO_WM_UNIT_INDEX" val="2"/>
  <p:tag name="KSO_WM_BEAUTIFY_FLAG" val="#wm#"/>
  <p:tag name="KSO_WM_TAG_VERSION" val="3.0"/>
  <p:tag name="KSO_WM_UNIT_ID" val="_4*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xml><?xml version="1.0" encoding="utf-8"?>
<p:tagLst xmlns:p="http://schemas.openxmlformats.org/presentationml/2006/main">
  <p:tag name="KSO_WM_UNIT_TYPE" val="i"/>
  <p:tag name="KSO_WM_UNIT_INDEX" val="5"/>
  <p:tag name="KSO_WM_BEAUTIFY_FLAG" val="#wm#"/>
  <p:tag name="KSO_WM_TAG_VERSION" val="3.0"/>
  <p:tag name="KSO_WM_UNIT_ID" val="_4*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xml><?xml version="1.0" encoding="utf-8"?>
<p:tagLst xmlns:p="http://schemas.openxmlformats.org/presentationml/2006/main">
  <p:tag name="KSO_WM_UNIT_TYPE" val="i"/>
  <p:tag name="KSO_WM_UNIT_INDEX" val="3"/>
  <p:tag name="KSO_WM_BEAUTIFY_FLAG" val="#wm#"/>
  <p:tag name="KSO_WM_TAG_VERSION" val="3.0"/>
  <p:tag name="KSO_WM_UNIT_ID" val="_4*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xml><?xml version="1.0" encoding="utf-8"?>
<p:tagLst xmlns:p="http://schemas.openxmlformats.org/presentationml/2006/main">
  <p:tag name="KSO_WM_UNIT_TYPE" val="i"/>
  <p:tag name="KSO_WM_UNIT_INDEX" val="1"/>
  <p:tag name="KSO_WM_BEAUTIFY_FLAG" val="#wm#"/>
  <p:tag name="KSO_WM_TAG_VERSION" val="3.0"/>
  <p:tag name="KSO_WM_UNIT_ID" val="_4*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xml><?xml version="1.0" encoding="utf-8"?>
<p:tagLst xmlns:p="http://schemas.openxmlformats.org/presentationml/2006/main">
  <p:tag name="KSO_WM_UNIT_TYPE" val="i"/>
  <p:tag name="KSO_WM_UNIT_INDEX" val="4"/>
  <p:tag name="KSO_WM_BEAUTIFY_FLAG" val="#wm#"/>
  <p:tag name="KSO_WM_TAG_VERSION" val="3.0"/>
  <p:tag name="KSO_WM_UNIT_ID" val="_4*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7.xml><?xml version="1.0" encoding="utf-8"?>
<p:tagLst xmlns:p="http://schemas.openxmlformats.org/presentationml/2006/main">
  <p:tag name="KSO_WM_UNIT_TYPE" val="a"/>
  <p:tag name="KSO_WM_UNIT_INDEX" val="1"/>
  <p:tag name="KSO_WM_BEAUTIFY_FLAG" val="#wm#"/>
  <p:tag name="KSO_WM_TAG_VERSION" val="1.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20238577"/>
</p:tagLst>
</file>

<file path=ppt/tags/tag18.xml><?xml version="1.0" encoding="utf-8"?>
<p:tagLst xmlns:p="http://schemas.openxmlformats.org/presentationml/2006/main">
  <p:tag name="KSO_WM_UNIT_TYPE" val="f"/>
  <p:tag name="KSO_WM_UNIT_SUBTYPE" val="a"/>
  <p:tag name="KSO_WM_UNIT_INDEX" val="1"/>
  <p:tag name="KSO_WM_BEAUTIFY_FLAG" val="#wm#"/>
  <p:tag name="KSO_WM_TAG_VERSION" val="1.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CATEGORY" val="custom"/>
  <p:tag name="KSO_WM_TEMPLATE_INDEX" val="20238577"/>
</p:tagLst>
</file>

<file path=ppt/tags/tag19.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xml><?xml version="1.0" encoding="utf-8"?>
<p:tagLst xmlns:p="http://schemas.openxmlformats.org/presentationml/2006/main">
  <p:tag name="KSO_WM_TEMPLATE_SUBCATEGORY" val="29"/>
  <p:tag name="KSO_WM_TEMPLATE_COLOR_TYPE" val="0"/>
  <p:tag name="KSO_WM_TAG_VERSION" val="3.0"/>
  <p:tag name="KSO_WM_TEMPLATE_THUMBS_INDEX" val="1、9"/>
  <p:tag name="KSO_WM_BEAUTIFY_FLAG" val="#wm#"/>
  <p:tag name="KSO_WM_TEMPLATE_INDEX" val="20238577"/>
  <p:tag name="KSO_WM_TEMPLATE_CATEGORY" val="custom"/>
  <p:tag name="KSO_WM_TEMPLATE_MASTER_TYPE" val="0"/>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DIAGRAM_VIRTUALLY_FRAME" val="{&quot;height&quot;:389.6,&quot;left&quot;:211.45,&quot;top&quot;:116.65,&quot;width&quot;:477.55}"/>
</p:tagLst>
</file>

<file path=ppt/tags/tag28.xml><?xml version="1.0" encoding="utf-8"?>
<p:tagLst xmlns:p="http://schemas.openxmlformats.org/presentationml/2006/main">
  <p:tag name="KSO_WM_DIAGRAM_VIRTUALLY_FRAME" val="{&quot;height&quot;:389.6,&quot;left&quot;:211.45,&quot;top&quot;:116.65,&quot;width&quot;:477.55}"/>
</p:tagLst>
</file>

<file path=ppt/tags/tag29.xml><?xml version="1.0" encoding="utf-8"?>
<p:tagLst xmlns:p="http://schemas.openxmlformats.org/presentationml/2006/main">
  <p:tag name="KSO_WM_DIAGRAM_VIRTUALLY_FRAME" val="{&quot;height&quot;:389.6,&quot;left&quot;:211.45,&quot;top&quot;:116.65,&quot;width&quot;:477.55}"/>
</p:tagLst>
</file>

<file path=ppt/tags/tag30.xml><?xml version="1.0" encoding="utf-8"?>
<p:tagLst xmlns:p="http://schemas.openxmlformats.org/presentationml/2006/main">
  <p:tag name="KSO_WM_DIAGRAM_VIRTUALLY_FRAME" val="{&quot;height&quot;:389.6,&quot;left&quot;:211.45,&quot;top&quot;:116.65,&quot;width&quot;:477.55}"/>
</p:tagLst>
</file>

<file path=ppt/tags/tag31.xml><?xml version="1.0" encoding="utf-8"?>
<p:tagLst xmlns:p="http://schemas.openxmlformats.org/presentationml/2006/main">
  <p:tag name="KSO_WM_DIAGRAM_VIRTUALLY_FRAME" val="{&quot;height&quot;:389.6,&quot;left&quot;:211.45,&quot;top&quot;:116.65,&quot;width&quot;:477.55}"/>
</p:tagLst>
</file>

<file path=ppt/tags/tag32.xml><?xml version="1.0" encoding="utf-8"?>
<p:tagLst xmlns:p="http://schemas.openxmlformats.org/presentationml/2006/main">
  <p:tag name="KSO_WM_DIAGRAM_VIRTUALLY_FRAME" val="{&quot;height&quot;:389.6,&quot;left&quot;:211.45,&quot;top&quot;:116.65,&quot;width&quot;:477.55}"/>
</p:tagLst>
</file>

<file path=ppt/tags/tag33.xml><?xml version="1.0" encoding="utf-8"?>
<p:tagLst xmlns:p="http://schemas.openxmlformats.org/presentationml/2006/main">
  <p:tag name="KSO_WM_DIAGRAM_VIRTUALLY_FRAME" val="{&quot;height&quot;:389.6,&quot;left&quot;:211.45,&quot;top&quot;:116.65,&quot;width&quot;:477.55}"/>
</p:tagLst>
</file>

<file path=ppt/tags/tag34.xml><?xml version="1.0" encoding="utf-8"?>
<p:tagLst xmlns:p="http://schemas.openxmlformats.org/presentationml/2006/main">
  <p:tag name="KSO_WM_DIAGRAM_VIRTUALLY_FRAME" val="{&quot;height&quot;:389.6,&quot;left&quot;:211.45,&quot;top&quot;:116.65,&quot;width&quot;:477.55}"/>
</p:tagLst>
</file>

<file path=ppt/tags/tag35.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36.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37.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38.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39.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40.xml><?xml version="1.0" encoding="utf-8"?>
<p:tagLst xmlns:p="http://schemas.openxmlformats.org/presentationml/2006/main">
  <p:tag name="KSO_WM_DIAGRAM_VIRTUALLY_FRAME" val="{&quot;height&quot;:389.6,&quot;left&quot;:211.45,&quot;top&quot;:116.65,&quot;width&quot;:477.55}"/>
</p:tagLst>
</file>

<file path=ppt/tags/tag41.xml><?xml version="1.0" encoding="utf-8"?>
<p:tagLst xmlns:p="http://schemas.openxmlformats.org/presentationml/2006/main">
  <p:tag name="KSO_WM_DIAGRAM_VIRTUALLY_FRAME" val="{&quot;height&quot;:389.6,&quot;left&quot;:211.45,&quot;top&quot;:116.65,&quot;width&quot;:477.55}"/>
</p:tagLst>
</file>

<file path=ppt/tags/tag42.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43.xml><?xml version="1.0" encoding="utf-8"?>
<p:tagLst xmlns:p="http://schemas.openxmlformats.org/presentationml/2006/main">
  <p:tag name="KSO_WM_UNIT_TYPE" val="a"/>
  <p:tag name="KSO_WM_UNIT_INDEX" val="1"/>
  <p:tag name="KSO_WM_BEAUTIFY_FLAG" val="#wm#"/>
  <p:tag name="KSO_WM_TAG_VERSION" val="3.0"/>
  <p:tag name="KSO_WM_UNIT_ID" val="custom20238577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ISCONTENTSTITLE" val="0"/>
  <p:tag name="KSO_WM_UNIT_VALUE" val="14"/>
  <p:tag name="KSO_WM_UNIT_TEXT_TYPE" val="1"/>
  <p:tag name="KSO_WM_UNIT_PRESET_TEXT" val="单击此处添加&#10;章节标题"/>
</p:tagLst>
</file>

<file path=ppt/tags/tag44.xml><?xml version="1.0" encoding="utf-8"?>
<p:tagLst xmlns:p="http://schemas.openxmlformats.org/presentationml/2006/main">
  <p:tag name="KSO_WM_DIAGRAM_VIRTUALLY_FRAME" val="{&quot;height&quot;:389.6,&quot;left&quot;:211.45,&quot;top&quot;:116.65,&quot;width&quot;:477.55}"/>
</p:tagLst>
</file>

<file path=ppt/tags/tag45.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46.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1_2"/>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1_2"/>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gradient&quot;:[{&quot;brightness&quot;:0,&quot;colorType&quot;:1,&quot;foreColorIndex&quot;:5,&quot;pos&quot;:0,&quot;transparency&quot;:0.5},{&quot;brightness&quot;:0.4000000059604645,&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1_3"/>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1_3"/>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gradient&quot;:[{&quot;brightness&quot;:0,&quot;colorType&quot;:1,&quot;foreColorIndex&quot;:5,&quot;pos&quot;:0,&quot;transparency&quot;:0.699999988079071},{&quot;brightness&quot;:0.4000000059604645,&quot;colorType&quot;:1,&quot;foreColorIndex&quot;:5,&quot;pos&quot;:0.8399999737739563,&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1_4"/>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1_4"/>
  <p:tag name="KSO_WM_UNIT_FILL_TYPE" val="3"/>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gradient&quot;:[{&quot;brightness&quot;:0,&quot;colorType&quot;:1,&quot;foreColorIndex&quot;:5,&quot;pos&quot;:1,&quot;transparency&quot;:1},{&quot;brightness&quot;:0,&quot;colorType&quot;:1,&quot;foreColorIndex&quot;:5,&quot;pos&quot;:0,&quot;transparency&quot;:0.25}],&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1_5"/>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1_5"/>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type&quot;:0},&quot;shadow&quot;:{&quot;brightness&quot;:-0.25,&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1_6"/>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1_6"/>
  <p:tag name="KSO_WM_UNIT_LINE_FORE_SCHEMECOLOR_INDEX" val="5"/>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solidLine&quot;:{&quot;brightness&quot;:0,&quot;colorType&quot;:1,&quot;foreColorIndex&quot;:5,&quot;transparency&quot;:0.8999999761581421},&quot;type&quot;:1},&quot;shadow&quot;:{&quot;brightness&quot;:-0.25,&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1_7"/>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1_7"/>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1_8"/>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1_8"/>
  <p:tag name="KSO_WM_UNIT_FILL_TYPE" val="3"/>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gradient&quot;:[{&quot;brightness&quot;:0.4000000059604645,&quot;colorType&quot;:1,&quot;foreColorIndex&quot;:5,&quot;pos&quot;:1,&quot;transparency&quot;:1},{&quot;brightness&quot;:0.4000000059604645,&quot;colorType&quot;:1,&quot;foreColorIndex&quot;:5,&quot;pos&quot;:0,&quot;transparency&quot;:0.8999999761581421}],&quot;type&quot;:3},&quot;glow&quot;:{&quot;colorType&quot;:0},&quot;line&quot;:{&quot;type&quot;:0},&quot;shadow&quot;:{&quot;brightness&quot;:-0.25,&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a*1_1_1"/>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UNIT_ISCONTENTSTITLE" val="0"/>
  <p:tag name="KSO_WM_UNIT_ISNUMDGMTITLE" val="0"/>
  <p:tag name="KSO_WM_UNIT_NOCLEAR" val="0"/>
  <p:tag name="KSO_WM_DIAGRAM_GROUP_CODE" val="l1-1"/>
  <p:tag name="KSO_WM_UNIT_TYPE" val="l_h_a"/>
  <p:tag name="KSO_WM_UNIT_INDEX" val="1_1_1"/>
  <p:tag name="KSO_WM_UNIT_VALUE" val="6"/>
  <p:tag name="KSO_WM_UNIT_PRESET_TEXT" val="添加标题"/>
  <p:tag name="KSO_WM_UNIT_TEXT_TYPE" val="1"/>
  <p:tag name="KSO_WM_UNIT_LINE_FORE_SCHEMECOLOR_INDEX" val="-2"/>
  <p:tag name="KSO_WM_UNIT_TEXT_FILL_FORE_SCHEMECOLOR_INDEX" val="1"/>
  <p:tag name="KSO_WM_UNIT_TEXT_FILL_TYPE" val="1"/>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f*1_1_1"/>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UNIT_SUBTYPE" val="a"/>
  <p:tag name="KSO_WM_UNIT_TEXT_LAYER_COUNT" val="1"/>
  <p:tag name="KSO_WM_UNIT_NOCLEAR" val="0"/>
  <p:tag name="KSO_WM_DIAGRAM_GROUP_CODE" val="l1-1"/>
  <p:tag name="KSO_WM_UNIT_TYPE" val="l_h_f"/>
  <p:tag name="KSO_WM_UNIT_INDEX" val="1_1_1"/>
  <p:tag name="KSO_WM_UNIT_VALUE" val="50"/>
  <p:tag name="KSO_WM_UNIT_PRESET_TEXT" val="单击此处添加文本，简明扼要地阐述您的观点。根据需要可酌情增减文字，以便观者准确地理解您传达的思想"/>
  <p:tag name="KSO_WM_UNIT_TEXT_TYPE" val="1"/>
  <p:tag name="KSO_WM_UNIT_LINE_FORE_SCHEMECOLOR_INDEX" val="-2"/>
  <p:tag name="KSO_WM_UNIT_TEXT_FILL_FORE_SCHEMECOLOR_INDEX" val="1"/>
  <p:tag name="KSO_WM_UNIT_TEXT_FILL_TYPE" val="1"/>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1_9"/>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1_9"/>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gradient&quot;:[{&quot;brightness&quot;:0,&quot;colorType&quot;:1,&quot;foreColorIndex&quot;:5,&quot;pos&quot;:0,&quot;transparency&quot;:0},{&quot;brightness&quot;:0,&quot;colorType&quot;:1,&quot;foreColorIndex&quot;:5,&quot;pos&quot;:1,&quot;transparency&quot;:0.28999999165534973}],&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1_10"/>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1_10"/>
  <p:tag name="KSO_WM_UNIT_FILL_TYPE" val="3"/>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gradient&quot;:[{&quot;brightness&quot;:0.4000000059604645,&quot;colorType&quot;:1,&quot;foreColorIndex&quot;:5,&quot;pos&quot;:1,&quot;transparency&quot;:0},{&quot;brightness&quot;:0,&quot;colorType&quot;:1,&quot;foreColorIndex&quot;:5,&quot;pos&quot;:0.019999999552965164,&quot;transparency&quot;:0}],&quot;type&quot;:3},&quot;glow&quot;:{&quot;colorType&quot;:0},&quot;line&quot;:{&quot;type&quot;:0},&quot;shadow&quot;:{&quot;brightness&quot;:-0.25,&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x*1_1_1"/>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UNIT_VALUE" val="60*60"/>
  <p:tag name="KSO_WM_DIAGRAM_GROUP_CODE" val="l1-1"/>
  <p:tag name="KSO_WM_UNIT_TYPE" val="l_h_x"/>
  <p:tag name="KSO_WM_UNIT_INDEX" val="1_1_1"/>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2_11"/>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2_11"/>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gradient&quot;:[{&quot;brightness&quot;:0,&quot;colorType&quot;:1,&quot;foreColorIndex&quot;:5,&quot;pos&quot;:0,&quot;transparency&quot;:0.10000000149011612},{&quot;brightness&quot;:0.4000000059604645,&quot;colorType&quot;:1,&quot;foreColorIndex&quot;:5,&quot;pos&quot;:1,&quot;transparency&quot;:1}],&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2_5"/>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2_5"/>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type&quot;:0},&quot;shadow&quot;:{&quot;brightness&quot;:-0.25,&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2_6"/>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2_6"/>
  <p:tag name="KSO_WM_UNIT_LINE_FORE_SCHEMECOLOR_INDEX" val="5"/>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solidLine&quot;:{&quot;brightness&quot;:0,&quot;colorType&quot;:1,&quot;foreColorIndex&quot;:5,&quot;transparency&quot;:0.8999999761581421},&quot;type&quot;:1},&quot;shadow&quot;:{&quot;brightness&quot;:-0.25,&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2_7"/>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2_7"/>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2_8"/>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2_8"/>
  <p:tag name="KSO_WM_UNIT_FILL_TYPE" val="3"/>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gradient&quot;:[{&quot;brightness&quot;:0.4000000059604645,&quot;colorType&quot;:1,&quot;foreColorIndex&quot;:5,&quot;pos&quot;:1,&quot;transparency&quot;:1},{&quot;brightness&quot;:0.4000000059604645,&quot;colorType&quot;:1,&quot;foreColorIndex&quot;:5,&quot;pos&quot;:0,&quot;transparency&quot;:0.8999999761581421}],&quot;type&quot;:3},&quot;glow&quot;:{&quot;colorType&quot;:0},&quot;line&quot;:{&quot;type&quot;:0},&quot;shadow&quot;:{&quot;brightness&quot;:-0.25,&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2_10"/>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2_10"/>
  <p:tag name="KSO_WM_UNIT_FILL_TYPE" val="3"/>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gradient&quot;:[{&quot;brightness&quot;:0.4000000059604645,&quot;colorType&quot;:1,&quot;foreColorIndex&quot;:5,&quot;pos&quot;:1,&quot;transparency&quot;:0},{&quot;brightness&quot;:0,&quot;colorType&quot;:1,&quot;foreColorIndex&quot;:5,&quot;pos&quot;:0.019999999552965164,&quot;transparency&quot;:0}],&quot;type&quot;:3},&quot;glow&quot;:{&quot;colorType&quot;:0},&quot;line&quot;:{&quot;type&quot;:0},&quot;shadow&quot;:{&quot;brightness&quot;:-0.25,&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x*1_2_1"/>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UNIT_VALUE" val="60*60"/>
  <p:tag name="KSO_WM_DIAGRAM_GROUP_CODE" val="l1-1"/>
  <p:tag name="KSO_WM_UNIT_TYPE" val="l_h_x"/>
  <p:tag name="KSO_WM_UNIT_INDEX" val="1_2_1"/>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a*1_2_1"/>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UNIT_ISCONTENTSTITLE" val="0"/>
  <p:tag name="KSO_WM_UNIT_ISNUMDGMTITLE" val="0"/>
  <p:tag name="KSO_WM_UNIT_NOCLEAR" val="0"/>
  <p:tag name="KSO_WM_DIAGRAM_GROUP_CODE" val="l1-1"/>
  <p:tag name="KSO_WM_UNIT_TYPE" val="l_h_a"/>
  <p:tag name="KSO_WM_UNIT_INDEX" val="1_2_1"/>
  <p:tag name="KSO_WM_UNIT_VALUE" val="6"/>
  <p:tag name="KSO_WM_UNIT_PRESET_TEXT" val="添加标题"/>
  <p:tag name="KSO_WM_UNIT_TEXT_TYPE" val="1"/>
  <p:tag name="KSO_WM_UNIT_LINE_FORE_SCHEMECOLOR_INDEX" val="-2"/>
  <p:tag name="KSO_WM_UNIT_TEXT_FILL_FORE_SCHEMECOLOR_INDEX" val="1"/>
  <p:tag name="KSO_WM_UNIT_TEXT_FILL_TYPE" val="1"/>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f*1_2_1"/>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UNIT_SUBTYPE" val="a"/>
  <p:tag name="KSO_WM_UNIT_TEXT_LAYER_COUNT" val="1"/>
  <p:tag name="KSO_WM_UNIT_NOCLEAR" val="0"/>
  <p:tag name="KSO_WM_DIAGRAM_GROUP_CODE" val="l1-1"/>
  <p:tag name="KSO_WM_UNIT_TYPE" val="l_h_f"/>
  <p:tag name="KSO_WM_UNIT_INDEX" val="1_2_1"/>
  <p:tag name="KSO_WM_UNIT_VALUE" val="50"/>
  <p:tag name="KSO_WM_UNIT_PRESET_TEXT" val="单击此处添加文本，简明扼要地阐述您的观点。需要可酌情增减文字，以便观者准确地理解您传达的思想"/>
  <p:tag name="KSO_WM_UNIT_TEXT_TYPE" val="1"/>
  <p:tag name="KSO_WM_UNIT_LINE_FORE_SCHEMECOLOR_INDEX" val="-2"/>
  <p:tag name="KSO_WM_UNIT_TEXT_FILL_FORE_SCHEMECOLOR_INDEX" val="1"/>
  <p:tag name="KSO_WM_UNIT_TEXT_FILL_TYPE" val="1"/>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2_9"/>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2_9"/>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gradient&quot;:[{&quot;brightness&quot;:0,&quot;colorType&quot;:1,&quot;foreColorIndex&quot;:5,&quot;pos&quot;:0,&quot;transparency&quot;:0},{&quot;brightness&quot;:0,&quot;colorType&quot;:1,&quot;foreColorIndex&quot;:5,&quot;pos&quot;:1,&quot;transparency&quot;:0.28999999165534973}],&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2_2"/>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2_2"/>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gradient&quot;:[{&quot;brightness&quot;:0,&quot;colorType&quot;:1,&quot;foreColorIndex&quot;:5,&quot;pos&quot;:0,&quot;transparency&quot;:0.5},{&quot;brightness&quot;:0.4000000059604645,&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2_3"/>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2_3"/>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gradient&quot;:[{&quot;brightness&quot;:0,&quot;colorType&quot;:1,&quot;foreColorIndex&quot;:5,&quot;pos&quot;:0,&quot;transparency&quot;:0.699999988079071},{&quot;brightness&quot;:0.4000000059604645,&quot;colorType&quot;:1,&quot;foreColorIndex&quot;:5,&quot;pos&quot;:0.8399999737739563,&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2_4"/>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2_4"/>
  <p:tag name="KSO_WM_UNIT_FILL_TYPE" val="3"/>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gradient&quot;:[{&quot;brightness&quot;:0,&quot;colorType&quot;:1,&quot;foreColorIndex&quot;:5,&quot;pos&quot;:1,&quot;transparency&quot;:1},{&quot;brightness&quot;:0,&quot;colorType&quot;:1,&quot;foreColorIndex&quot;:5,&quot;pos&quot;:0,&quot;transparency&quot;:0.25}],&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3_5"/>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3_5"/>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type&quot;:0},&quot;shadow&quot;:{&quot;brightness&quot;:-0.25,&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3_6"/>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3_6"/>
  <p:tag name="KSO_WM_UNIT_LINE_FORE_SCHEMECOLOR_INDEX" val="5"/>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solidLine&quot;:{&quot;brightness&quot;:0,&quot;colorType&quot;:1,&quot;foreColorIndex&quot;:5,&quot;transparency&quot;:0.8999999761581421},&quot;type&quot;:1},&quot;shadow&quot;:{&quot;brightness&quot;:-0.25,&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3_7"/>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3_7"/>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3_8"/>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3_8"/>
  <p:tag name="KSO_WM_UNIT_FILL_TYPE" val="3"/>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gradient&quot;:[{&quot;brightness&quot;:0.4000000059604645,&quot;colorType&quot;:1,&quot;foreColorIndex&quot;:5,&quot;pos&quot;:1,&quot;transparency&quot;:1},{&quot;brightness&quot;:0.4000000059604645,&quot;colorType&quot;:1,&quot;foreColorIndex&quot;:5,&quot;pos&quot;:0,&quot;transparency&quot;:0.8999999761581421}],&quot;type&quot;:3},&quot;glow&quot;:{&quot;colorType&quot;:0},&quot;line&quot;:{&quot;type&quot;:0},&quot;shadow&quot;:{&quot;brightness&quot;:-0.25,&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a*1_3_1"/>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UNIT_ISCONTENTSTITLE" val="0"/>
  <p:tag name="KSO_WM_UNIT_ISNUMDGMTITLE" val="0"/>
  <p:tag name="KSO_WM_UNIT_NOCLEAR" val="0"/>
  <p:tag name="KSO_WM_DIAGRAM_GROUP_CODE" val="l1-1"/>
  <p:tag name="KSO_WM_UNIT_TYPE" val="l_h_a"/>
  <p:tag name="KSO_WM_UNIT_INDEX" val="1_3_1"/>
  <p:tag name="KSO_WM_UNIT_PRESET_TEXT" val="添加标题"/>
  <p:tag name="KSO_WM_UNIT_TEXT_TYPE" val="1"/>
  <p:tag name="KSO_WM_UNIT_LINE_FORE_SCHEMECOLOR_INDEX" val="-2"/>
  <p:tag name="KSO_WM_UNIT_TEXT_FILL_FORE_SCHEMECOLOR_INDEX" val="1"/>
  <p:tag name="KSO_WM_UNIT_TEXT_FILL_TYPE" val="1"/>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f*1_3_1"/>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UNIT_SUBTYPE" val="a"/>
  <p:tag name="KSO_WM_UNIT_TEXT_LAYER_COUNT" val="1"/>
  <p:tag name="KSO_WM_UNIT_NOCLEAR" val="0"/>
  <p:tag name="KSO_WM_DIAGRAM_GROUP_CODE" val="l1-1"/>
  <p:tag name="KSO_WM_UNIT_TYPE" val="l_h_f"/>
  <p:tag name="KSO_WM_UNIT_INDEX" val="1_3_1"/>
  <p:tag name="KSO_WM_UNIT_PRESET_TEXT" val="单击此处添加文本，简明扼要地阐述您的观点。根据需要可酌情增减文字，以便观者准确地理解您传达的思想"/>
  <p:tag name="KSO_WM_UNIT_TEXT_TYPE" val="1"/>
  <p:tag name="KSO_WM_UNIT_LINE_FORE_SCHEMECOLOR_INDEX" val="-2"/>
  <p:tag name="KSO_WM_UNIT_TEXT_FILL_FORE_SCHEMECOLOR_INDEX" val="1"/>
  <p:tag name="KSO_WM_UNIT_TEXT_FILL_TYPE" val="1"/>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3_10"/>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3_10"/>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gradient&quot;:[{&quot;brightness&quot;:0,&quot;colorType&quot;:1,&quot;foreColorIndex&quot;:5,&quot;pos&quot;:0,&quot;transparency&quot;:0},{&quot;brightness&quot;:0,&quot;colorType&quot;:1,&quot;foreColorIndex&quot;:5,&quot;pos&quot;:1,&quot;transparency&quot;:0.28999999165534973}],&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3_9"/>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3_9"/>
  <p:tag name="KSO_WM_UNIT_FILL_TYPE" val="3"/>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gradient&quot;:[{&quot;brightness&quot;:0.4000000059604645,&quot;colorType&quot;:1,&quot;foreColorIndex&quot;:5,&quot;pos&quot;:1,&quot;transparency&quot;:0},{&quot;brightness&quot;:0,&quot;colorType&quot;:1,&quot;foreColorIndex&quot;:5,&quot;pos&quot;:0.019999999552965164,&quot;transparency&quot;:0}],&quot;type&quot;:3},&quot;glow&quot;:{&quot;colorType&quot;:0},&quot;line&quot;:{&quot;type&quot;:0},&quot;shadow&quot;:{&quot;brightness&quot;:-0.25,&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x*1_3_1"/>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UNIT_VALUE" val="60*60"/>
  <p:tag name="KSO_WM_DIAGRAM_GROUP_CODE" val="l1-1"/>
  <p:tag name="KSO_WM_UNIT_TYPE" val="l_h_x"/>
  <p:tag name="KSO_WM_UNIT_INDEX" val="1_3_1"/>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3_2"/>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3_2"/>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gradient&quot;:[{&quot;brightness&quot;:0,&quot;colorType&quot;:1,&quot;foreColorIndex&quot;:5,&quot;pos&quot;:0,&quot;transparency&quot;:0.5},{&quot;brightness&quot;:0.4000000059604645,&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3_3"/>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3_3"/>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gradient&quot;:[{&quot;brightness&quot;:0,&quot;colorType&quot;:1,&quot;foreColorIndex&quot;:5,&quot;pos&quot;:0,&quot;transparency&quot;:0.699999988079071},{&quot;brightness&quot;:0.4000000059604645,&quot;colorType&quot;:1,&quot;foreColorIndex&quot;:5,&quot;pos&quot;:0.8399999737739563,&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3_4"/>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3_4"/>
  <p:tag name="KSO_WM_UNIT_FILL_TYPE" val="3"/>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gradient&quot;:[{&quot;brightness&quot;:0,&quot;colorType&quot;:1,&quot;foreColorIndex&quot;:5,&quot;pos&quot;:1,&quot;transparency&quot;:1},{&quot;brightness&quot;:0,&quot;colorType&quot;:1,&quot;foreColorIndex&quot;:5,&quot;pos&quot;:0,&quot;transparency&quot;:0.25}],&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3_11"/>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3_11"/>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gradient&quot;:[{&quot;brightness&quot;:0,&quot;colorType&quot;:1,&quot;foreColorIndex&quot;:5,&quot;pos&quot;:0,&quot;transparency&quot;:0.10000000149011612},{&quot;brightness&quot;:0.4000000059604645,&quot;colorType&quot;:1,&quot;foreColorIndex&quot;:5,&quot;pos&quot;:1,&quot;transparency&quot;:1}],&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87.xml><?xml version="1.0" encoding="utf-8"?>
<p:tagLst xmlns:p="http://schemas.openxmlformats.org/presentationml/2006/main">
  <p:tag name="KSO_WM_SLIDE_ITEM_CNT" val="3"/>
  <p:tag name="resource_record_key" val="{&quot;70&quot;:[3429242]}"/>
</p:tagLst>
</file>

<file path=ppt/tags/tag88.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40492880_2*l_h_a*1_1_1"/>
  <p:tag name="KSO_WM_TEMPLATE_CATEGORY" val="diagram"/>
  <p:tag name="KSO_WM_TEMPLATE_INDEX" val="40492880"/>
  <p:tag name="KSO_WM_UNIT_LAYERLEVEL" val="1_1_1"/>
  <p:tag name="KSO_WM_TAG_VERSION" val="3.0"/>
  <p:tag name="KSO_WM_BEAUTIFY_FLAG" val="#wm#"/>
  <p:tag name="KSO_WM_UNIT_PRESET_TEXT" val="单击此处添加项目标题"/>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9.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40492880_2*l_h_f*1_1_1"/>
  <p:tag name="KSO_WM_TEMPLATE_CATEGORY" val="diagram"/>
  <p:tag name="KSO_WM_TEMPLATE_INDEX" val="40492880"/>
  <p:tag name="KSO_WM_UNIT_LAYERLEVEL" val="1_1_1"/>
  <p:tag name="KSO_WM_TAG_VERSION" val="3.0"/>
  <p:tag name="KSO_WM_BEAUTIFY_FLAG" val="#wm#"/>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90.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40492880_2*l_h_i*1_1_1"/>
  <p:tag name="KSO_WM_TEMPLATE_CATEGORY" val="diagram"/>
  <p:tag name="KSO_WM_TEMPLATE_INDEX" val="40492880"/>
  <p:tag name="KSO_WM_UNIT_LAYERLEVEL" val="1_1_1"/>
  <p:tag name="KSO_WM_TAG_VERSION" val="3.0"/>
  <p:tag name="KSO_WM_BEAUTIFY_FLAG" val="#wm#"/>
  <p:tag name="KSO_WM_UNIT_FILL_TYPE" val="1"/>
  <p:tag name="KSO_WM_UNIT_FILL_FORE_SCHEMECOLOR_INDEX" val="5"/>
  <p:tag name="KSO_WM_UNIT_FILL_FORE_SCHEMECOLOR_INDEX_BRIGHTNESS" val="0.4"/>
  <p:tag name="KSO_WM_DIAGRAM_MAX_ITEMCNT" val="8"/>
  <p:tag name="KSO_WM_DIAGRAM_MIN_ITEMCNT" val="4"/>
  <p:tag name="KSO_WM_DIAGRAM_COLOR_MATCH_VALUE" val="{&quot;shape&quot;:{&quot;fill&quot;:{&quot;solid&quot;:{&quot;brightness&quot;:0.4000000059604645,&quot;colorType&quot;:1,&quot;foreColorIndex&quot;:5,&quot;transparency&quot;:0.3000000119209289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91.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40492880_2*l_h_a*1_3_1"/>
  <p:tag name="KSO_WM_TEMPLATE_CATEGORY" val="diagram"/>
  <p:tag name="KSO_WM_TEMPLATE_INDEX" val="40492880"/>
  <p:tag name="KSO_WM_UNIT_LAYERLEVEL" val="1_1_1"/>
  <p:tag name="KSO_WM_TAG_VERSION" val="3.0"/>
  <p:tag name="KSO_WM_BEAUTIFY_FLAG" val="#wm#"/>
  <p:tag name="KSO_WM_UNIT_PRESET_TEXT" val="单击此处添加项目标题"/>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92.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40492880_2*l_h_f*1_3_1"/>
  <p:tag name="KSO_WM_TEMPLATE_CATEGORY" val="diagram"/>
  <p:tag name="KSO_WM_TEMPLATE_INDEX" val="40492880"/>
  <p:tag name="KSO_WM_UNIT_LAYERLEVEL" val="1_1_1"/>
  <p:tag name="KSO_WM_TAG_VERSION" val="3.0"/>
  <p:tag name="KSO_WM_BEAUTIFY_FLAG" val="#wm#"/>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93.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40492880_2*l_h_i*1_3_1"/>
  <p:tag name="KSO_WM_TEMPLATE_CATEGORY" val="diagram"/>
  <p:tag name="KSO_WM_TEMPLATE_INDEX" val="40492880"/>
  <p:tag name="KSO_WM_UNIT_LAYERLEVEL" val="1_1_1"/>
  <p:tag name="KSO_WM_TAG_VERSION" val="3.0"/>
  <p:tag name="KSO_WM_BEAUTIFY_FLAG" val="#wm#"/>
  <p:tag name="KSO_WM_UNIT_FILL_TYPE" val="1"/>
  <p:tag name="KSO_WM_UNIT_FILL_FORE_SCHEMECOLOR_INDEX" val="5"/>
  <p:tag name="KSO_WM_UNIT_FILL_FORE_SCHEMECOLOR_INDEX_BRIGHTNESS" val="0.4"/>
  <p:tag name="KSO_WM_DIAGRAM_MAX_ITEMCNT" val="8"/>
  <p:tag name="KSO_WM_DIAGRAM_MIN_ITEMCNT" val="4"/>
  <p:tag name="KSO_WM_DIAGRAM_COLOR_MATCH_VALUE" val="{&quot;shape&quot;:{&quot;fill&quot;:{&quot;solid&quot;:{&quot;brightness&quot;:0.4000000059604645,&quot;colorType&quot;:1,&quot;foreColorIndex&quot;:5,&quot;transparency&quot;:0.3000000119209289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94.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40492880_2*l_h_a*1_2_1"/>
  <p:tag name="KSO_WM_TEMPLATE_CATEGORY" val="diagram"/>
  <p:tag name="KSO_WM_TEMPLATE_INDEX" val="40492880"/>
  <p:tag name="KSO_WM_UNIT_LAYERLEVEL" val="1_1_1"/>
  <p:tag name="KSO_WM_TAG_VERSION" val="3.0"/>
  <p:tag name="KSO_WM_BEAUTIFY_FLAG" val="#wm#"/>
  <p:tag name="KSO_WM_UNIT_PRESET_TEXT" val="单击此处添加项目标题"/>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95.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40492880_2*l_h_f*1_2_1"/>
  <p:tag name="KSO_WM_TEMPLATE_CATEGORY" val="diagram"/>
  <p:tag name="KSO_WM_TEMPLATE_INDEX" val="40492880"/>
  <p:tag name="KSO_WM_UNIT_LAYERLEVEL" val="1_1_1"/>
  <p:tag name="KSO_WM_TAG_VERSION" val="3.0"/>
  <p:tag name="KSO_WM_BEAUTIFY_FLAG" val="#wm#"/>
  <p:tag name="KSO_WM_UNIT_PRESET_TEXT" val="单击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96.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40492880_2*l_h_i*1_2_1"/>
  <p:tag name="KSO_WM_TEMPLATE_CATEGORY" val="diagram"/>
  <p:tag name="KSO_WM_TEMPLATE_INDEX" val="40492880"/>
  <p:tag name="KSO_WM_UNIT_LAYERLEVEL" val="1_1_1"/>
  <p:tag name="KSO_WM_TAG_VERSION" val="3.0"/>
  <p:tag name="KSO_WM_BEAUTIFY_FLAG" val="#wm#"/>
  <p:tag name="KSO_WM_UNIT_FILL_TYPE" val="1"/>
  <p:tag name="KSO_WM_UNIT_FILL_FORE_SCHEMECOLOR_INDEX" val="5"/>
  <p:tag name="KSO_WM_UNIT_FILL_FORE_SCHEMECOLOR_INDEX_BRIGHTNESS" val="0.4"/>
  <p:tag name="KSO_WM_DIAGRAM_MAX_ITEMCNT" val="8"/>
  <p:tag name="KSO_WM_DIAGRAM_MIN_ITEMCNT" val="4"/>
  <p:tag name="KSO_WM_DIAGRAM_COLOR_MATCH_VALUE" val="{&quot;shape&quot;:{&quot;fill&quot;:{&quot;solid&quot;:{&quot;brightness&quot;:0.4000000059604645,&quot;colorType&quot;:1,&quot;foreColorIndex&quot;:5,&quot;transparency&quot;:0.3000000119209289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97.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40492880_2*l_h_a*1_4_1"/>
  <p:tag name="KSO_WM_TEMPLATE_CATEGORY" val="diagram"/>
  <p:tag name="KSO_WM_TEMPLATE_INDEX" val="40492880"/>
  <p:tag name="KSO_WM_UNIT_LAYERLEVEL" val="1_1_1"/>
  <p:tag name="KSO_WM_TAG_VERSION" val="3.0"/>
  <p:tag name="KSO_WM_BEAUTIFY_FLAG" val="#wm#"/>
  <p:tag name="KSO_WM_UNIT_PRESET_TEXT" val="单击此处添加项目标题"/>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98.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40492880_2*l_h_f*1_4_1"/>
  <p:tag name="KSO_WM_TEMPLATE_CATEGORY" val="diagram"/>
  <p:tag name="KSO_WM_TEMPLATE_INDEX" val="40492880"/>
  <p:tag name="KSO_WM_UNIT_LAYERLEVEL" val="1_1_1"/>
  <p:tag name="KSO_WM_TAG_VERSION" val="3.0"/>
  <p:tag name="KSO_WM_BEAUTIFY_FLAG" val="#wm#"/>
  <p:tag name="KSO_WM_UNIT_PRESET_TEXT" val="单击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99.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40492880_2*l_h_i*1_4_1"/>
  <p:tag name="KSO_WM_TEMPLATE_CATEGORY" val="diagram"/>
  <p:tag name="KSO_WM_TEMPLATE_INDEX" val="40492880"/>
  <p:tag name="KSO_WM_UNIT_LAYERLEVEL" val="1_1_1"/>
  <p:tag name="KSO_WM_TAG_VERSION" val="3.0"/>
  <p:tag name="KSO_WM_BEAUTIFY_FLAG" val="#wm#"/>
  <p:tag name="KSO_WM_UNIT_FILL_TYPE" val="1"/>
  <p:tag name="KSO_WM_UNIT_FILL_FORE_SCHEMECOLOR_INDEX" val="5"/>
  <p:tag name="KSO_WM_UNIT_FILL_FORE_SCHEMECOLOR_INDEX_BRIGHTNESS" val="0.4"/>
  <p:tag name="KSO_WM_DIAGRAM_MAX_ITEMCNT" val="8"/>
  <p:tag name="KSO_WM_DIAGRAM_MIN_ITEMCNT" val="4"/>
  <p:tag name="KSO_WM_DIAGRAM_COLOR_MATCH_VALUE" val="{&quot;shape&quot;:{&quot;fill&quot;:{&quot;solid&quot;:{&quot;brightness&quot;:0.4000000059604645,&quot;colorType&quot;:1,&quot;foreColorIndex&quot;:5,&quot;transparency&quot;:0.3000000119209289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00.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5_1"/>
  <p:tag name="KSO_WM_UNIT_ID" val="diagram40492880_2*l_h_a*1_5_1"/>
  <p:tag name="KSO_WM_TEMPLATE_CATEGORY" val="diagram"/>
  <p:tag name="KSO_WM_TEMPLATE_INDEX" val="40492880"/>
  <p:tag name="KSO_WM_UNIT_LAYERLEVEL" val="1_1_1"/>
  <p:tag name="KSO_WM_TAG_VERSION" val="3.0"/>
  <p:tag name="KSO_WM_BEAUTIFY_FLAG" val="#wm#"/>
  <p:tag name="KSO_WM_UNIT_PRESET_TEXT" val="单击此处添加项目标题"/>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01.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5_1"/>
  <p:tag name="KSO_WM_UNIT_ID" val="diagram40492880_2*l_h_f*1_5_1"/>
  <p:tag name="KSO_WM_TEMPLATE_CATEGORY" val="diagram"/>
  <p:tag name="KSO_WM_TEMPLATE_INDEX" val="40492880"/>
  <p:tag name="KSO_WM_UNIT_LAYERLEVEL" val="1_1_1"/>
  <p:tag name="KSO_WM_TAG_VERSION" val="3.0"/>
  <p:tag name="KSO_WM_BEAUTIFY_FLAG" val="#wm#"/>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02.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5_1"/>
  <p:tag name="KSO_WM_UNIT_ID" val="diagram40492880_2*l_h_i*1_5_1"/>
  <p:tag name="KSO_WM_TEMPLATE_CATEGORY" val="diagram"/>
  <p:tag name="KSO_WM_TEMPLATE_INDEX" val="40492880"/>
  <p:tag name="KSO_WM_UNIT_LAYERLEVEL" val="1_1_1"/>
  <p:tag name="KSO_WM_TAG_VERSION" val="3.0"/>
  <p:tag name="KSO_WM_BEAUTIFY_FLAG" val="#wm#"/>
  <p:tag name="KSO_WM_UNIT_FILL_TYPE" val="1"/>
  <p:tag name="KSO_WM_UNIT_FILL_FORE_SCHEMECOLOR_INDEX" val="5"/>
  <p:tag name="KSO_WM_UNIT_FILL_FORE_SCHEMECOLOR_INDEX_BRIGHTNESS" val="0.4"/>
  <p:tag name="KSO_WM_DIAGRAM_MAX_ITEMCNT" val="8"/>
  <p:tag name="KSO_WM_DIAGRAM_MIN_ITEMCNT" val="4"/>
  <p:tag name="KSO_WM_DIAGRAM_COLOR_MATCH_VALUE" val="{&quot;shape&quot;:{&quot;fill&quot;:{&quot;solid&quot;:{&quot;brightness&quot;:0.4000000059604645,&quot;colorType&quot;:1,&quot;foreColorIndex&quot;:5,&quot;transparency&quot;:0.3000000119209289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DIAGRAM_VIRTUALLY_FRAME" val="{&quot;height&quot;:357.72499694824216,&quot;left&quot;:795.575,&quot;top&quot;:151.1750030517578,&quot;width&quot;:864.2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40492880_2*l_h_f*1_1_1"/>
  <p:tag name="KSO_WM_TEMPLATE_CATEGORY" val="diagram"/>
  <p:tag name="KSO_WM_TEMPLATE_INDEX" val="40492880"/>
  <p:tag name="KSO_WM_UNIT_LAYERLEVEL" val="1_1_1"/>
  <p:tag name="KSO_WM_TAG_VERSION" val="3.0"/>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06.xml><?xml version="1.0" encoding="utf-8"?>
<p:tagLst xmlns:p="http://schemas.openxmlformats.org/presentationml/2006/main">
  <p:tag name="KSO_WM_DIAGRAM_VIRTUALLY_FRAME" val="{&quot;height&quot;:357.72499694824216,&quot;left&quot;:795.575,&quot;top&quot;:151.1750030517578,&quot;width&quot;:864.2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40492880_2*l_h_f*1_1_1"/>
  <p:tag name="KSO_WM_TEMPLATE_CATEGORY" val="diagram"/>
  <p:tag name="KSO_WM_TEMPLATE_INDEX" val="40492880"/>
  <p:tag name="KSO_WM_UNIT_LAYERLEVEL" val="1_1_1"/>
  <p:tag name="KSO_WM_TAG_VERSION" val="3.0"/>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07.xml><?xml version="1.0" encoding="utf-8"?>
<p:tagLst xmlns:p="http://schemas.openxmlformats.org/presentationml/2006/main">
  <p:tag name="KSO_WM_DIAGRAM_VIRTUALLY_FRAME" val="{&quot;height&quot;:357.72499694824216,&quot;left&quot;:795.575,&quot;top&quot;:151.1750030517578,&quot;width&quot;:864.2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40492880_2*l_h_f*1_1_1"/>
  <p:tag name="KSO_WM_TEMPLATE_CATEGORY" val="diagram"/>
  <p:tag name="KSO_WM_TEMPLATE_INDEX" val="40492880"/>
  <p:tag name="KSO_WM_UNIT_LAYERLEVEL" val="1_1_1"/>
  <p:tag name="KSO_WM_TAG_VERSION" val="3.0"/>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08.xml><?xml version="1.0" encoding="utf-8"?>
<p:tagLst xmlns:p="http://schemas.openxmlformats.org/presentationml/2006/main">
  <p:tag name="KSO_WM_DIAGRAM_VIRTUALLY_FRAME" val="{&quot;height&quot;:357.72499694824216,&quot;left&quot;:795.575,&quot;top&quot;:151.1750030517578,&quot;width&quot;:864.2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40492880_2*l_h_f*1_1_1"/>
  <p:tag name="KSO_WM_TEMPLATE_CATEGORY" val="diagram"/>
  <p:tag name="KSO_WM_TEMPLATE_INDEX" val="40492880"/>
  <p:tag name="KSO_WM_UNIT_LAYERLEVEL" val="1_1_1"/>
  <p:tag name="KSO_WM_TAG_VERSION" val="3.0"/>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09.xml><?xml version="1.0" encoding="utf-8"?>
<p:tagLst xmlns:p="http://schemas.openxmlformats.org/presentationml/2006/main">
  <p:tag name="KSO_WM_DIAGRAM_VIRTUALLY_FRAME" val="{&quot;height&quot;:357.72499694824216,&quot;left&quot;:795.575,&quot;top&quot;:151.1750030517578,&quot;width&quot;:864.2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40492880_2*l_h_f*1_1_1"/>
  <p:tag name="KSO_WM_TEMPLATE_CATEGORY" val="diagram"/>
  <p:tag name="KSO_WM_TEMPLATE_INDEX" val="40492880"/>
  <p:tag name="KSO_WM_UNIT_LAYERLEVEL" val="1_1_1"/>
  <p:tag name="KSO_WM_TAG_VERSION" val="3.0"/>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10.xml><?xml version="1.0" encoding="utf-8"?>
<p:tagLst xmlns:p="http://schemas.openxmlformats.org/presentationml/2006/main">
  <p:tag name="KSO_WM_UNIT_TYPE" val="a"/>
  <p:tag name="KSO_WM_UNIT_INDEX" val="1"/>
  <p:tag name="KSO_WM_BEAUTIFY_FLAG" val="#wm#"/>
  <p:tag name="KSO_WM_TAG_VERSION" val="3.0"/>
  <p:tag name="KSO_WM_UNIT_ID" val="custom20238577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ISCONTENTSTITLE" val="0"/>
  <p:tag name="KSO_WM_UNIT_VALUE" val="14"/>
  <p:tag name="KSO_WM_UNIT_TEXT_TYPE" val="1"/>
  <p:tag name="KSO_WM_UNIT_PRESET_TEXT" val="单击此处添加&#10;章节标题"/>
</p:tagLst>
</file>

<file path=ppt/tags/tag111.xml><?xml version="1.0" encoding="utf-8"?>
<p:tagLst xmlns:p="http://schemas.openxmlformats.org/presentationml/2006/main">
  <p:tag name="KSO_WM_DIAGRAM_VIRTUALLY_FRAME" val="{&quot;height&quot;:389.6,&quot;left&quot;:211.45,&quot;top&quot;:116.65,&quot;width&quot;:477.55}"/>
</p:tagLst>
</file>

<file path=ppt/tags/tag112.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113.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114.xml><?xml version="1.0" encoding="utf-8"?>
<p:tagLst xmlns:p="http://schemas.openxmlformats.org/presentationml/2006/main">
  <p:tag name="KSO_WM_DIAGRAM_VIRTUALLY_FRAME" val="{&quot;height&quot;:466.31314960629936,&quot;left&quot;:49.274993896484375,&quot;top&quot;:34.32503937007873,&quot;width&quot;:1115.1750061035157}"/>
</p:tagLst>
</file>

<file path=ppt/tags/tag115.xml><?xml version="1.0" encoding="utf-8"?>
<p:tagLst xmlns:p="http://schemas.openxmlformats.org/presentationml/2006/main">
  <p:tag name="KSO_WM_DIAGRAM_VIRTUALLY_FRAME" val="{&quot;height&quot;:466.31314960629936,&quot;left&quot;:49.274993896484375,&quot;top&quot;:34.32503937007873,&quot;width&quot;:1115.1750061035157}"/>
</p:tagLst>
</file>

<file path=ppt/tags/tag116.xml><?xml version="1.0" encoding="utf-8"?>
<p:tagLst xmlns:p="http://schemas.openxmlformats.org/presentationml/2006/main">
  <p:tag name="KSO_WM_DIAGRAM_VIRTUALLY_FRAME" val="{&quot;height&quot;:466.31314960629936,&quot;left&quot;:49.274993896484375,&quot;top&quot;:34.32503937007873,&quot;width&quot;:1115.1750061035157}"/>
</p:tagLst>
</file>

<file path=ppt/tags/tag117.xml><?xml version="1.0" encoding="utf-8"?>
<p:tagLst xmlns:p="http://schemas.openxmlformats.org/presentationml/2006/main">
  <p:tag name="KSO_WM_DIAGRAM_VIRTUALLY_FRAME" val="{&quot;height&quot;:466.31314960629936,&quot;left&quot;:49.274993896484375,&quot;top&quot;:34.32503937007873,&quot;width&quot;:1115.1750061035157}"/>
</p:tagLst>
</file>

<file path=ppt/tags/tag11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686_1*l_h_a*1_1_1"/>
  <p:tag name="KSO_WM_TEMPLATE_CATEGORY" val="diagram"/>
  <p:tag name="KSO_WM_TEMPLATE_INDEX" val="2023168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466.31314960629936,&quot;left&quot;:49.274993896484375,&quot;top&quot;:34.32503937007873,&quot;width&quot;:1115.1750061035157}"/>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FILL_TYPE" val="1"/>
  <p:tag name="KSO_WM_UNIT_FILL_FORE_SCHEMECOLOR_INDEX" val="5"/>
  <p:tag name="KSO_WM_UNIT_FILL_FORE_SCHEMECOLOR_INDEX_BRIGHTNESS" val="0"/>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119.xml><?xml version="1.0" encoding="utf-8"?>
<p:tagLst xmlns:p="http://schemas.openxmlformats.org/presentationml/2006/main">
  <p:tag name="KSO_WM_DIAGRAM_VIRTUALLY_FRAME" val="{&quot;height&quot;:466.31314960629936,&quot;left&quot;:49.274993896484375,&quot;top&quot;:34.32503937007873,&quot;width&quot;:1115.1750061035157}"/>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diagram20231686_1*l_h_i*1_1_1"/>
  <p:tag name="KSO_WM_TEMPLATE_CATEGORY" val="diagram"/>
  <p:tag name="KSO_WM_TEMPLATE_INDEX" val="20231686"/>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466.31314960629936,&quot;left&quot;:49.274993896484375,&quot;top&quot;:34.32503937007873,&quot;width&quot;:1115.1750061035157}"/>
  <p:tag name="KSO_WM_DIAGRAM_COLOR_MATCH_VALUE" val="{&quot;shape&quot;:{&quot;fill&quot;:{&quot;solid&quot;:{&quot;brightness&quot;:0.25,&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25"/>
  <p:tag name="KSO_WM_UNIT_TEXT_FILL_FORE_SCHEMECOLOR_INDEX" val="1"/>
  <p:tag name="KSO_WM_UNIT_TEXT_FILL_TYPE" val="1"/>
  <p:tag name="KSO_WM_DIAGRAM_USE_COLOR_VALUE" val="{&quot;color_scheme&quot;:1,&quot;color_type&quot;:1,&quot;theme_color_indexes&quot;:[5,6,5,6,5,6]}"/>
</p:tagLst>
</file>

<file path=ppt/tags/tag121.xml><?xml version="1.0" encoding="utf-8"?>
<p:tagLst xmlns:p="http://schemas.openxmlformats.org/presentationml/2006/main">
  <p:tag name="KSO_WM_DIAGRAM_VIRTUALLY_FRAME" val="{&quot;height&quot;:466.31314960629936,&quot;left&quot;:49.274993896484375,&quot;top&quot;:34.32503937007873,&quot;width&quot;:1115.1750061035157}"/>
</p:tagLst>
</file>

<file path=ppt/tags/tag122.xml><?xml version="1.0" encoding="utf-8"?>
<p:tagLst xmlns:p="http://schemas.openxmlformats.org/presentationml/2006/main">
  <p:tag name="KSO_WM_DIAGRAM_VIRTUALLY_FRAME" val="{&quot;height&quot;:466.31314960629936,&quot;left&quot;:49.274993896484375,&quot;top&quot;:34.32503937007873,&quot;width&quot;:1115.1750061035157}"/>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diagram20231686_1*l_h_i*1_1_1"/>
  <p:tag name="KSO_WM_TEMPLATE_CATEGORY" val="diagram"/>
  <p:tag name="KSO_WM_TEMPLATE_INDEX" val="20231686"/>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466.31314960629936,&quot;left&quot;:49.274993896484375,&quot;top&quot;:34.32503937007873,&quot;width&quot;:1115.1750061035157}"/>
  <p:tag name="KSO_WM_DIAGRAM_COLOR_MATCH_VALUE" val="{&quot;shape&quot;:{&quot;fill&quot;:{&quot;solid&quot;:{&quot;brightness&quot;:0.25,&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25"/>
  <p:tag name="KSO_WM_UNIT_TEXT_FILL_FORE_SCHEMECOLOR_INDEX" val="1"/>
  <p:tag name="KSO_WM_UNIT_TEXT_FILL_TYPE" val="1"/>
  <p:tag name="KSO_WM_DIAGRAM_USE_COLOR_VALUE" val="{&quot;color_scheme&quot;:1,&quot;color_type&quot;:1,&quot;theme_color_indexes&quot;:[5,6,5,6,5,6]}"/>
</p:tagLst>
</file>

<file path=ppt/tags/tag124.xml><?xml version="1.0" encoding="utf-8"?>
<p:tagLst xmlns:p="http://schemas.openxmlformats.org/presentationml/2006/main">
  <p:tag name="KSO_WM_DIAGRAM_VIRTUALLY_FRAME" val="{&quot;height&quot;:466.31314960629936,&quot;left&quot;:49.274993896484375,&quot;top&quot;:34.32503937007873,&quot;width&quot;:1115.1750061035157}"/>
</p:tagLst>
</file>

<file path=ppt/tags/tag125.xml><?xml version="1.0" encoding="utf-8"?>
<p:tagLst xmlns:p="http://schemas.openxmlformats.org/presentationml/2006/main">
  <p:tag name="KSO_WM_DIAGRAM_VIRTUALLY_FRAME" val="{&quot;height&quot;:466.31314960629936,&quot;left&quot;:49.274993896484375,&quot;top&quot;:34.32503937007873,&quot;width&quot;:1115.1750061035157}"/>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diagram20231686_1*l_h_i*1_1_1"/>
  <p:tag name="KSO_WM_TEMPLATE_CATEGORY" val="diagram"/>
  <p:tag name="KSO_WM_TEMPLATE_INDEX" val="20231686"/>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466.31314960629936,&quot;left&quot;:49.274993896484375,&quot;top&quot;:34.32503937007873,&quot;width&quot;:1115.1750061035157}"/>
  <p:tag name="KSO_WM_DIAGRAM_COLOR_MATCH_VALUE" val="{&quot;shape&quot;:{&quot;fill&quot;:{&quot;solid&quot;:{&quot;brightness&quot;:0.25,&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25"/>
  <p:tag name="KSO_WM_UNIT_TEXT_FILL_FORE_SCHEMECOLOR_INDEX" val="1"/>
  <p:tag name="KSO_WM_UNIT_TEXT_FILL_TYPE" val="1"/>
  <p:tag name="KSO_WM_DIAGRAM_USE_COLOR_VALUE" val="{&quot;color_scheme&quot;:1,&quot;color_type&quot;:1,&quot;theme_color_indexes&quot;:[5,6,5,6,5,6]}"/>
</p:tagLst>
</file>

<file path=ppt/tags/tag127.xml><?xml version="1.0" encoding="utf-8"?>
<p:tagLst xmlns:p="http://schemas.openxmlformats.org/presentationml/2006/main">
  <p:tag name="KSO_WM_DIAGRAM_VIRTUALLY_FRAME" val="{&quot;height&quot;:466.31314960629936,&quot;left&quot;:49.274993896484375,&quot;top&quot;:34.32503937007873,&quot;width&quot;:1115.1750061035157}"/>
</p:tagLst>
</file>

<file path=ppt/tags/tag128.xml><?xml version="1.0" encoding="utf-8"?>
<p:tagLst xmlns:p="http://schemas.openxmlformats.org/presentationml/2006/main">
  <p:tag name="KSO_WM_DIAGRAM_VIRTUALLY_FRAME" val="{&quot;height&quot;:466.31314960629936,&quot;left&quot;:49.274993896484375,&quot;top&quot;:34.32503937007873,&quot;width&quot;:1115.1750061035157}"/>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diagram20231686_1*l_h_i*1_1_1"/>
  <p:tag name="KSO_WM_TEMPLATE_CATEGORY" val="diagram"/>
  <p:tag name="KSO_WM_TEMPLATE_INDEX" val="20231686"/>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466.31314960629936,&quot;left&quot;:49.274993896484375,&quot;top&quot;:34.32503937007873,&quot;width&quot;:1115.1750061035157}"/>
  <p:tag name="KSO_WM_DIAGRAM_COLOR_MATCH_VALUE" val="{&quot;shape&quot;:{&quot;fill&quot;:{&quot;solid&quot;:{&quot;brightness&quot;:0.25,&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25"/>
  <p:tag name="KSO_WM_UNIT_TEXT_FILL_FORE_SCHEMECOLOR_INDEX" val="1"/>
  <p:tag name="KSO_WM_UNIT_TEXT_FILL_TYPE" val="1"/>
  <p:tag name="KSO_WM_DIAGRAM_USE_COLOR_VALUE" val="{&quot;color_scheme&quot;:1,&quot;color_type&quot;:1,&quot;theme_color_indexes&quot;:[5,6,5,6,5,6]}"/>
</p:tagLst>
</file>

<file path=ppt/tags/tag130.xml><?xml version="1.0" encoding="utf-8"?>
<p:tagLst xmlns:p="http://schemas.openxmlformats.org/presentationml/2006/main">
  <p:tag name="KSO_WM_DIAGRAM_VIRTUALLY_FRAME" val="{&quot;height&quot;:466.31314960629936,&quot;left&quot;:49.274993896484375,&quot;top&quot;:34.32503937007873,&quot;width&quot;:1115.1750061035157}"/>
</p:tagLst>
</file>

<file path=ppt/tags/tag131.xml><?xml version="1.0" encoding="utf-8"?>
<p:tagLst xmlns:p="http://schemas.openxmlformats.org/presentationml/2006/main">
  <p:tag name="KSO_WM_DIAGRAM_VIRTUALLY_FRAME" val="{&quot;height&quot;:466.31314960629936,&quot;left&quot;:49.274993896484375,&quot;top&quot;:34.32503937007873,&quot;width&quot;:1115.1750061035157}"/>
</p:tagLst>
</file>

<file path=ppt/tags/tag132.xml><?xml version="1.0" encoding="utf-8"?>
<p:tagLst xmlns:p="http://schemas.openxmlformats.org/presentationml/2006/main">
  <p:tag name="KSO_WM_DIAGRAM_VIRTUALLY_FRAME" val="{&quot;height&quot;:466.31314960629936,&quot;left&quot;:49.274993896484375,&quot;top&quot;:34.32503937007873,&quot;width&quot;:1115.1750061035157}"/>
</p:tagLst>
</file>

<file path=ppt/tags/tag133.xml><?xml version="1.0" encoding="utf-8"?>
<p:tagLst xmlns:p="http://schemas.openxmlformats.org/presentationml/2006/main">
  <p:tag name="KSO_WM_DIAGRAM_VIRTUALLY_FRAME" val="{&quot;height&quot;:466.31314960629936,&quot;left&quot;:49.274993896484375,&quot;top&quot;:34.32503937007873,&quot;width&quot;:1115.1750061035157}"/>
</p:tagLst>
</file>

<file path=ppt/tags/tag134.xml><?xml version="1.0" encoding="utf-8"?>
<p:tagLst xmlns:p="http://schemas.openxmlformats.org/presentationml/2006/main">
  <p:tag name="KSO_WM_DIAGRAM_VIRTUALLY_FRAME" val="{&quot;height&quot;:466.31314960629936,&quot;left&quot;:49.274993896484375,&quot;top&quot;:34.32503937007873,&quot;width&quot;:1115.1750061035157}"/>
</p:tagLst>
</file>

<file path=ppt/tags/tag135.xml><?xml version="1.0" encoding="utf-8"?>
<p:tagLst xmlns:p="http://schemas.openxmlformats.org/presentationml/2006/main">
  <p:tag name="KSO_WM_DIAGRAM_VIRTUALLY_FRAME" val="{&quot;height&quot;:466.31314960629936,&quot;left&quot;:49.274993896484375,&quot;top&quot;:34.32503937007873,&quot;width&quot;:1115.1750061035157}"/>
</p:tagLst>
</file>

<file path=ppt/tags/tag136.xml><?xml version="1.0" encoding="utf-8"?>
<p:tagLst xmlns:p="http://schemas.openxmlformats.org/presentationml/2006/main">
  <p:tag name="KSO_WM_DIAGRAM_VIRTUALLY_FRAME" val="{&quot;height&quot;:466.31314960629936,&quot;left&quot;:49.274993896484375,&quot;top&quot;:34.32503937007873,&quot;width&quot;:1115.1750061035157}"/>
</p:tagLst>
</file>

<file path=ppt/tags/tag137.xml><?xml version="1.0" encoding="utf-8"?>
<p:tagLst xmlns:p="http://schemas.openxmlformats.org/presentationml/2006/main">
  <p:tag name="KSO_WM_DIAGRAM_VIRTUALLY_FRAME" val="{&quot;height&quot;:466.31314960629936,&quot;left&quot;:49.274993896484375,&quot;top&quot;:34.32503937007873,&quot;width&quot;:1115.1750061035157}"/>
</p:tagLst>
</file>

<file path=ppt/tags/tag138.xml><?xml version="1.0" encoding="utf-8"?>
<p:tagLst xmlns:p="http://schemas.openxmlformats.org/presentationml/2006/main">
  <p:tag name="KSO_WM_DIAGRAM_VIRTUALLY_FRAME" val="{&quot;height&quot;:466.31314960629936,&quot;left&quot;:49.274993896484375,&quot;top&quot;:34.32503937007873,&quot;width&quot;:1115.1750061035157}"/>
</p:tagLst>
</file>

<file path=ppt/tags/tag139.xml><?xml version="1.0" encoding="utf-8"?>
<p:tagLst xmlns:p="http://schemas.openxmlformats.org/presentationml/2006/main">
  <p:tag name="KSO_WM_DIAGRAM_VIRTUALLY_FRAME" val="{&quot;height&quot;:466.31314960629936,&quot;left&quot;:49.274993896484375,&quot;top&quot;:34.32503937007873,&quot;width&quot;:1115.1750061035157}"/>
</p:tagLst>
</file>

<file path=ppt/tags/tag140.xml><?xml version="1.0" encoding="utf-8"?>
<p:tagLst xmlns:p="http://schemas.openxmlformats.org/presentationml/2006/main">
  <p:tag name="KSO_WM_DIAGRAM_VIRTUALLY_FRAME" val="{&quot;height&quot;:466.31314960629936,&quot;left&quot;:49.274993896484375,&quot;top&quot;:34.32503937007873,&quot;width&quot;:1115.1750061035157}"/>
</p:tagLst>
</file>

<file path=ppt/tags/tag141.xml><?xml version="1.0" encoding="utf-8"?>
<p:tagLst xmlns:p="http://schemas.openxmlformats.org/presentationml/2006/main">
  <p:tag name="KSO_WM_DIAGRAM_VIRTUALLY_FRAME" val="{&quot;height&quot;:466.31314960629936,&quot;left&quot;:49.274993896484375,&quot;top&quot;:34.32503937007873,&quot;width&quot;:1115.1750061035157}"/>
</p:tagLst>
</file>

<file path=ppt/tags/tag142.xml><?xml version="1.0" encoding="utf-8"?>
<p:tagLst xmlns:p="http://schemas.openxmlformats.org/presentationml/2006/main">
  <p:tag name="KSO_WM_DIAGRAM_VIRTUALLY_FRAME" val="{&quot;height&quot;:466.31314960629936,&quot;left&quot;:49.274993896484375,&quot;top&quot;:34.32503937007873,&quot;width&quot;:1115.1750061035157}"/>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DIAGRAM_VIRTUALLY_FRAME" val="{&quot;height&quot;:466.31314960629936,&quot;left&quot;:49.274993896484375,&quot;top&quot;:34.32503937007873,&quot;width&quot;:1115.1750061035157}"/>
</p:tagLst>
</file>

<file path=ppt/tags/tag146.xml><?xml version="1.0" encoding="utf-8"?>
<p:tagLst xmlns:p="http://schemas.openxmlformats.org/presentationml/2006/main">
  <p:tag name="KSO_WM_DIAGRAM_VIRTUALLY_FRAME" val="{&quot;height&quot;:466.31314960629936,&quot;left&quot;:49.274993896484375,&quot;top&quot;:34.32503937007873,&quot;width&quot;:1115.1750061035157}"/>
</p:tagLst>
</file>

<file path=ppt/tags/tag147.xml><?xml version="1.0" encoding="utf-8"?>
<p:tagLst xmlns:p="http://schemas.openxmlformats.org/presentationml/2006/main">
  <p:tag name="KSO_WM_DIAGRAM_VIRTUALLY_FRAME" val="{&quot;height&quot;:466.31314960629936,&quot;left&quot;:49.274993896484375,&quot;top&quot;:34.32503937007873,&quot;width&quot;:1115.1750061035157}"/>
</p:tagLst>
</file>

<file path=ppt/tags/tag148.xml><?xml version="1.0" encoding="utf-8"?>
<p:tagLst xmlns:p="http://schemas.openxmlformats.org/presentationml/2006/main">
  <p:tag name="KSO_WM_DIAGRAM_VIRTUALLY_FRAME" val="{&quot;height&quot;:466.31314960629936,&quot;left&quot;:49.274993896484375,&quot;top&quot;:34.32503937007873,&quot;width&quot;:1115.1750061035157}"/>
</p:tagLst>
</file>

<file path=ppt/tags/tag14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2_2"/>
  <p:tag name="KSO_WM_UNIT_ID" val="diagram20230941_1*m_h_i*1_2_2"/>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466.31314960629936,&quot;left&quot;:49.274993896484375,&quot;top&quot;:34.32503937007873,&quot;width&quot;:1115.1750061035157}"/>
  <p:tag name="KSO_WM_DIAGRAM_COLOR_MATCH_VALUE" val="{&quot;shape&quot;:{&quot;fill&quot;:{&quot;solid&quot;:{&quot;brightness&quot;:0.4000000059604645,&quot;colorType&quot;:1,&quot;foreColorIndex&quot;:5,&quot;transparency&quot;:0},&quot;type&quot;:1},&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4"/>
  <p:tag name="KSO_WM_DIAGRAM_USE_COLOR_VALUE" val="{&quot;color_scheme&quot;:1,&quot;color_type&quot;:1,&quot;theme_color_indexes&quot;:[5,6,5,6,5,6]}"/>
</p:tagLst>
</file>

<file path=ppt/tags/tag15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1_1"/>
  <p:tag name="KSO_WM_UNIT_ID" val="diagram20230941_1*m_h_i*1_1_1"/>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297.9131496062994,&quot;left&quot;:49.274993896484375,&quot;top&quot;:202.72503937007872,&quot;width&quot;:861.450012207031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151.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1_3"/>
  <p:tag name="KSO_WM_UNIT_ID" val="diagram20230941_1*m_h_i*1_1_3"/>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297.9131496062994,&quot;left&quot;:49.274993896484375,&quot;top&quot;:202.72503937007872,&quot;width&quot;:861.4500122070312}"/>
  <p:tag name="KSO_WM_DIAGRAM_COLOR_MATCH_VALUE" val="{&quot;shape&quot;:{&quot;fill&quot;:{&quot;type&quot;:0},&quot;glow&quot;:{&quot;colorType&quot;:0},&quot;line&quot;:{&quot;gradient&quot;:[{&quot;brightness&quot;:0,&quot;colorType&quot;:1,&quot;foreColorIndex&quot;:5,&quot;pos&quot;:0.17000000178813934,&quot;transparency&quot;:1},{&quot;brightness&quot;:0,&quot;colorType&quot;:1,&quot;foreColorIndex&quot;:5,&quot;pos&quot;:0.6100000143051147,&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15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686_1*l_h_a*1_1_1"/>
  <p:tag name="KSO_WM_TEMPLATE_CATEGORY" val="diagram"/>
  <p:tag name="KSO_WM_TEMPLATE_INDEX" val="2023168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366.7997741699219,&quot;left&quot;:74.67503937007874,&quot;top&quot;:342.2001129150391,&quot;width&quot;:801.218069760780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FILL_TYPE" val="1"/>
  <p:tag name="KSO_WM_UNIT_FILL_FORE_SCHEMECOLOR_INDEX" val="5"/>
  <p:tag name="KSO_WM_UNIT_FILL_FORE_SCHEMECOLOR_INDEX_BRIGHTNESS" val="0"/>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DIAGRAM_VIRTUALLY_FRAME" val="{&quot;height&quot;:337.8236218820407,&quot;left&quot;:774.05,&quot;top&quot;:187.65,&quot;width&quot;:167.75}"/>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40492880_2*l_h_a*1_1_1"/>
  <p:tag name="KSO_WM_TEMPLATE_CATEGORY" val="diagram"/>
  <p:tag name="KSO_WM_TEMPLATE_INDEX" val="40492880"/>
  <p:tag name="KSO_WM_UNIT_LAYERLEVEL" val="1_1_1"/>
  <p:tag name="KSO_WM_TAG_VERSION" val="3.0"/>
  <p:tag name="KSO_WM_BEAUTIFY_FLAG" val="#wm#"/>
  <p:tag name="KSO_WM_UNIT_PRESET_TEXT" val="单击此处添加项目标题"/>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56.xml><?xml version="1.0" encoding="utf-8"?>
<p:tagLst xmlns:p="http://schemas.openxmlformats.org/presentationml/2006/main">
  <p:tag name="KSO_WM_DIAGRAM_VIRTUALLY_FRAME" val="{&quot;height&quot;:337.8236218820407,&quot;left&quot;:774.05,&quot;top&quot;:187.65,&quot;width&quot;:167.7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40492880_2*l_h_f*1_1_1"/>
  <p:tag name="KSO_WM_TEMPLATE_CATEGORY" val="diagram"/>
  <p:tag name="KSO_WM_TEMPLATE_INDEX" val="40492880"/>
  <p:tag name="KSO_WM_UNIT_LAYERLEVEL" val="1_1_1"/>
  <p:tag name="KSO_WM_TAG_VERSION" val="3.0"/>
  <p:tag name="KSO_WM_BEAUTIFY_FLAG" val="#wm#"/>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57.xml><?xml version="1.0" encoding="utf-8"?>
<p:tagLst xmlns:p="http://schemas.openxmlformats.org/presentationml/2006/main">
  <p:tag name="KSO_WM_DIAGRAM_VIRTUALLY_FRAME" val="{&quot;height&quot;:337.8236218820407,&quot;left&quot;:774.05,&quot;top&quot;:187.65,&quot;width&quot;:167.75}"/>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40492880_2*l_h_a*1_3_1"/>
  <p:tag name="KSO_WM_TEMPLATE_CATEGORY" val="diagram"/>
  <p:tag name="KSO_WM_TEMPLATE_INDEX" val="40492880"/>
  <p:tag name="KSO_WM_UNIT_LAYERLEVEL" val="1_1_1"/>
  <p:tag name="KSO_WM_TAG_VERSION" val="3.0"/>
  <p:tag name="KSO_WM_BEAUTIFY_FLAG" val="#wm#"/>
  <p:tag name="KSO_WM_UNIT_PRESET_TEXT" val="单击此处添加项目标题"/>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58.xml><?xml version="1.0" encoding="utf-8"?>
<p:tagLst xmlns:p="http://schemas.openxmlformats.org/presentationml/2006/main">
  <p:tag name="KSO_WM_DIAGRAM_VIRTUALLY_FRAME" val="{&quot;height&quot;:337.8236218820407,&quot;left&quot;:774.05,&quot;top&quot;:187.65,&quot;width&quot;:167.7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40492880_2*l_h_f*1_3_1"/>
  <p:tag name="KSO_WM_TEMPLATE_CATEGORY" val="diagram"/>
  <p:tag name="KSO_WM_TEMPLATE_INDEX" val="40492880"/>
  <p:tag name="KSO_WM_UNIT_LAYERLEVEL" val="1_1_1"/>
  <p:tag name="KSO_WM_TAG_VERSION" val="3.0"/>
  <p:tag name="KSO_WM_BEAUTIFY_FLAG" val="#wm#"/>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59.xml><?xml version="1.0" encoding="utf-8"?>
<p:tagLst xmlns:p="http://schemas.openxmlformats.org/presentationml/2006/main">
  <p:tag name="KSO_WM_DIAGRAM_VIRTUALLY_FRAME" val="{&quot;height&quot;:337.8236218820407,&quot;left&quot;:774.05,&quot;top&quot;:187.65,&quot;width&quot;:167.75}"/>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40492880_2*l_h_a*1_2_1"/>
  <p:tag name="KSO_WM_TEMPLATE_CATEGORY" val="diagram"/>
  <p:tag name="KSO_WM_TEMPLATE_INDEX" val="40492880"/>
  <p:tag name="KSO_WM_UNIT_LAYERLEVEL" val="1_1_1"/>
  <p:tag name="KSO_WM_TAG_VERSION" val="3.0"/>
  <p:tag name="KSO_WM_BEAUTIFY_FLAG" val="#wm#"/>
  <p:tag name="KSO_WM_UNIT_PRESET_TEXT" val="单击此处添加项目标题"/>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60.xml><?xml version="1.0" encoding="utf-8"?>
<p:tagLst xmlns:p="http://schemas.openxmlformats.org/presentationml/2006/main">
  <p:tag name="KSO_WM_DIAGRAM_VIRTUALLY_FRAME" val="{&quot;height&quot;:337.8236218820407,&quot;left&quot;:774.05,&quot;top&quot;:187.65,&quot;width&quot;:167.7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40492880_2*l_h_f*1_2_1"/>
  <p:tag name="KSO_WM_TEMPLATE_CATEGORY" val="diagram"/>
  <p:tag name="KSO_WM_TEMPLATE_INDEX" val="40492880"/>
  <p:tag name="KSO_WM_UNIT_LAYERLEVEL" val="1_1_1"/>
  <p:tag name="KSO_WM_TAG_VERSION" val="3.0"/>
  <p:tag name="KSO_WM_BEAUTIFY_FLAG" val="#wm#"/>
  <p:tag name="KSO_WM_UNIT_PRESET_TEXT" val="单击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61.xml><?xml version="1.0" encoding="utf-8"?>
<p:tagLst xmlns:p="http://schemas.openxmlformats.org/presentationml/2006/main">
  <p:tag name="KSO_WM_DIAGRAM_VIRTUALLY_FRAME" val="{&quot;height&quot;:337.8236218820407,&quot;left&quot;:774.05,&quot;top&quot;:187.65,&quot;width&quot;:167.75}"/>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40492880_2*l_h_a*1_4_1"/>
  <p:tag name="KSO_WM_TEMPLATE_CATEGORY" val="diagram"/>
  <p:tag name="KSO_WM_TEMPLATE_INDEX" val="40492880"/>
  <p:tag name="KSO_WM_UNIT_LAYERLEVEL" val="1_1_1"/>
  <p:tag name="KSO_WM_TAG_VERSION" val="3.0"/>
  <p:tag name="KSO_WM_BEAUTIFY_FLAG" val="#wm#"/>
  <p:tag name="KSO_WM_UNIT_PRESET_TEXT" val="单击此处添加项目标题"/>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62.xml><?xml version="1.0" encoding="utf-8"?>
<p:tagLst xmlns:p="http://schemas.openxmlformats.org/presentationml/2006/main">
  <p:tag name="KSO_WM_DIAGRAM_VIRTUALLY_FRAME" val="{&quot;height&quot;:337.8236218820407,&quot;left&quot;:774.05,&quot;top&quot;:187.65,&quot;width&quot;:167.7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40492880_2*l_h_f*1_4_1"/>
  <p:tag name="KSO_WM_TEMPLATE_CATEGORY" val="diagram"/>
  <p:tag name="KSO_WM_TEMPLATE_INDEX" val="40492880"/>
  <p:tag name="KSO_WM_UNIT_LAYERLEVEL" val="1_1_1"/>
  <p:tag name="KSO_WM_TAG_VERSION" val="3.0"/>
  <p:tag name="KSO_WM_BEAUTIFY_FLAG" val="#wm#"/>
  <p:tag name="KSO_WM_UNIT_PRESET_TEXT" val="单击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63.xml><?xml version="1.0" encoding="utf-8"?>
<p:tagLst xmlns:p="http://schemas.openxmlformats.org/presentationml/2006/main">
  <p:tag name="KSO_WM_DIAGRAM_VIRTUALLY_FRAME" val="{&quot;height&quot;:337.8236218820407,&quot;left&quot;:774.05,&quot;top&quot;:187.65,&quot;width&quot;:167.75}"/>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5_1"/>
  <p:tag name="KSO_WM_UNIT_ID" val="diagram40492880_2*l_h_a*1_5_1"/>
  <p:tag name="KSO_WM_TEMPLATE_CATEGORY" val="diagram"/>
  <p:tag name="KSO_WM_TEMPLATE_INDEX" val="40492880"/>
  <p:tag name="KSO_WM_UNIT_LAYERLEVEL" val="1_1_1"/>
  <p:tag name="KSO_WM_TAG_VERSION" val="3.0"/>
  <p:tag name="KSO_WM_BEAUTIFY_FLAG" val="#wm#"/>
  <p:tag name="KSO_WM_UNIT_PRESET_TEXT" val="单击此处添加项目标题"/>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64.xml><?xml version="1.0" encoding="utf-8"?>
<p:tagLst xmlns:p="http://schemas.openxmlformats.org/presentationml/2006/main">
  <p:tag name="KSO_WM_DIAGRAM_VIRTUALLY_FRAME" val="{&quot;height&quot;:337.8236218820407,&quot;left&quot;:774.05,&quot;top&quot;:187.65,&quot;width&quot;:167.7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5_1"/>
  <p:tag name="KSO_WM_UNIT_ID" val="diagram40492880_2*l_h_f*1_5_1"/>
  <p:tag name="KSO_WM_TEMPLATE_CATEGORY" val="diagram"/>
  <p:tag name="KSO_WM_TEMPLATE_INDEX" val="40492880"/>
  <p:tag name="KSO_WM_UNIT_LAYERLEVEL" val="1_1_1"/>
  <p:tag name="KSO_WM_TAG_VERSION" val="3.0"/>
  <p:tag name="KSO_WM_BEAUTIFY_FLAG" val="#wm#"/>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65.xml><?xml version="1.0" encoding="utf-8"?>
<p:tagLst xmlns:p="http://schemas.openxmlformats.org/presentationml/2006/main">
  <p:tag name="KSO_WM_DIAGRAM_VIRTUALLY_FRAME" val="{&quot;height&quot;:357.72499694824216,&quot;left&quot;:795.575,&quot;top&quot;:151.1750030517578,&quot;width&quot;:864.2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40492880_2*l_h_f*1_1_1"/>
  <p:tag name="KSO_WM_TEMPLATE_CATEGORY" val="diagram"/>
  <p:tag name="KSO_WM_TEMPLATE_INDEX" val="40492880"/>
  <p:tag name="KSO_WM_UNIT_LAYERLEVEL" val="1_1_1"/>
  <p:tag name="KSO_WM_TAG_VERSION" val="3.0"/>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66.xml><?xml version="1.0" encoding="utf-8"?>
<p:tagLst xmlns:p="http://schemas.openxmlformats.org/presentationml/2006/main">
  <p:tag name="KSO_WM_DIAGRAM_VIRTUALLY_FRAME" val="{&quot;height&quot;:357.72499694824216,&quot;left&quot;:795.575,&quot;top&quot;:151.1750030517578,&quot;width&quot;:864.2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40492880_2*l_h_f*1_1_1"/>
  <p:tag name="KSO_WM_TEMPLATE_CATEGORY" val="diagram"/>
  <p:tag name="KSO_WM_TEMPLATE_INDEX" val="40492880"/>
  <p:tag name="KSO_WM_UNIT_LAYERLEVEL" val="1_1_1"/>
  <p:tag name="KSO_WM_TAG_VERSION" val="3.0"/>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67.xml><?xml version="1.0" encoding="utf-8"?>
<p:tagLst xmlns:p="http://schemas.openxmlformats.org/presentationml/2006/main">
  <p:tag name="KSO_WM_DIAGRAM_VIRTUALLY_FRAME" val="{&quot;height&quot;:357.72499694824216,&quot;left&quot;:795.575,&quot;top&quot;:151.1750030517578,&quot;width&quot;:864.2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40492880_2*l_h_f*1_1_1"/>
  <p:tag name="KSO_WM_TEMPLATE_CATEGORY" val="diagram"/>
  <p:tag name="KSO_WM_TEMPLATE_INDEX" val="40492880"/>
  <p:tag name="KSO_WM_UNIT_LAYERLEVEL" val="1_1_1"/>
  <p:tag name="KSO_WM_TAG_VERSION" val="3.0"/>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68.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i"/>
  <p:tag name="KSO_WM_UNIT_INDEX" val="1_2"/>
  <p:tag name="KSO_WM_UNIT_ID" val="diagram20230941_1*m_i*1_2"/>
  <p:tag name="KSO_WM_TEMPLATE_CATEGORY" val="diagram"/>
  <p:tag name="KSO_WM_TEMPLATE_INDEX" val="20230941"/>
  <p:tag name="KSO_WM_UNIT_LAYERLEVEL" val="1_1"/>
  <p:tag name="KSO_WM_TAG_VERSION" val="3.0"/>
  <p:tag name="KSO_WM_DIAGRAM_MAX_ITEMCNT" val="6"/>
  <p:tag name="KSO_WM_DIAGRAM_MIN_ITEMCNT" val="2"/>
  <p:tag name="KSO_WM_DIAGRAM_VIRTUALLY_FRAME" val="{&quot;height&quot;:466.31314960629936,&quot;left&quot;:49.274993896484375,&quot;top&quot;:34.32503937007873,&quot;width&quot;:861.4500122070312}"/>
  <p:tag name="KSO_WM_DIAGRAM_COLOR_MATCH_VALUE" val="{&quot;shape&quot;:{&quot;fill&quot;:{&quot;type&quot;:0},&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16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2_2"/>
  <p:tag name="KSO_WM_UNIT_ID" val="diagram20230941_1*m_h_i*1_2_2"/>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466.31314960629936,&quot;left&quot;:49.274993896484375,&quot;top&quot;:34.32503937007873,&quot;width&quot;:861.4500122070312}"/>
  <p:tag name="KSO_WM_DIAGRAM_COLOR_MATCH_VALUE" val="{&quot;shape&quot;:{&quot;fill&quot;:{&quot;solid&quot;:{&quot;brightness&quot;:0.4000000059604645,&quot;colorType&quot;:1,&quot;foreColorIndex&quot;:5,&quot;transparency&quot;:0},&quot;type&quot;:1},&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4"/>
  <p:tag name="KSO_WM_DIAGRAM_USE_COLOR_VALUE" val="{&quot;color_scheme&quot;:1,&quot;color_type&quot;:1,&quot;theme_color_indexes&quot;:[5,6,5,6,5,6]}"/>
</p:tagLst>
</file>

<file path=ppt/tags/tag17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1_3"/>
  <p:tag name="KSO_WM_UNIT_ID" val="diagram20230941_1*m_h_i*1_1_3"/>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297.9131496062994,&quot;left&quot;:49.274993896484375,&quot;top&quot;:202.72503937007872,&quot;width&quot;:861.4500122070312}"/>
  <p:tag name="KSO_WM_DIAGRAM_COLOR_MATCH_VALUE" val="{&quot;shape&quot;:{&quot;fill&quot;:{&quot;type&quot;:0},&quot;glow&quot;:{&quot;colorType&quot;:0},&quot;line&quot;:{&quot;gradient&quot;:[{&quot;brightness&quot;:0,&quot;colorType&quot;:1,&quot;foreColorIndex&quot;:5,&quot;pos&quot;:0.17000000178813934,&quot;transparency&quot;:1},{&quot;brightness&quot;:0,&quot;colorType&quot;:1,&quot;foreColorIndex&quot;:5,&quot;pos&quot;:0.6100000143051147,&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171.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1_1"/>
  <p:tag name="KSO_WM_UNIT_ID" val="diagram20230941_1*m_h_i*1_1_1"/>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297.9131496062994,&quot;left&quot;:49.274993896484375,&quot;top&quot;:202.72503937007872,&quot;width&quot;:861.450012207031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601_2*l_h_f*1_1_1"/>
  <p:tag name="KSO_WM_TEMPLATE_CATEGORY" val="diagram"/>
  <p:tag name="KSO_WM_TEMPLATE_INDEX" val="20235601"/>
  <p:tag name="KSO_WM_UNIT_LAYERLEVEL" val="1_1_1"/>
  <p:tag name="KSO_WM_TAG_VERSION" val="3.0"/>
  <p:tag name="KSO_WM_DIAGRAM_COLOR_TRICK" val="1"/>
  <p:tag name="KSO_WM_DIAGRAM_COLOR_TEXT_CAN_REMOVE" val="n"/>
  <p:tag name="KSO_WM_UNIT_SUBTYPE" val="a"/>
  <p:tag name="KSO_WM_UNIT_NOCLEAR" val="0"/>
  <p:tag name="KSO_WM_UNIT_VALUE" val="34"/>
  <p:tag name="KSO_WM_DIAGRAM_GROUP_CODE" val="l1-1"/>
  <p:tag name="KSO_WM_UNIT_TYPE" val="l_h_f"/>
  <p:tag name="KSO_WM_UNIT_INDEX" val="1_1_1"/>
  <p:tag name="KSO_WM_DIAGRAM_MAX_ITEMCNT" val="5"/>
  <p:tag name="KSO_WM_DIAGRAM_MIN_ITEMCNT" val="2"/>
  <p:tag name="KSO_WM_DIAGRAM_VIRTUALLY_FRAME" val="{&quot;height&quot;:376.25,&quot;left&quot;:62.65,&quot;top&quot;:111,&quot;width&quot;:224.25}"/>
  <p:tag name="KSO_WM_DIAGRAM_COLOR_MATCH_VALUE" val="{&quot;shape&quot;:{&quot;fill&quot;:{&quot;solid&quot;:{&quot;brightness&quot;:0,&quot;colorType&quot;:1,&quot;foreColorIndex&quot;:5,&quot;transparency&quot;:0.899999976158142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USESOURCEFORMAT_APPLY" val="1"/>
  <p:tag name="KSO_WM_DIAGRAM_VERSION" val="3"/>
  <p:tag name="KSO_WM_UNIT_PRESET_TEXT" val="单击添加正文"/>
  <p:tag name="KSO_WM_UNIT_FILL_TYPE" val="1"/>
  <p:tag name="KSO_WM_UNIT_FILL_FORE_SCHEMECOLOR_INDEX" val="5"/>
  <p:tag name="KSO_WM_UNIT_FILL_FORE_SCHEMECOLOR_INDEX_BRIGHTNESS" val="0"/>
  <p:tag name="KSO_WM_UNIT_TEXT_FILL_FORE_SCHEMECOLOR_INDEX" val="1"/>
  <p:tag name="KSO_WM_UNIT_TEXT_FILL_TYPE" val="1"/>
  <p:tag name="KSO_WM_DIAGRAM_USE_COLOR_VALUE" val="{&quot;color_scheme&quot;:1,&quot;color_type&quot;:1,&quot;theme_color_indexes&quot;:[9,10,9,10,9,10]}"/>
</p:tagLst>
</file>

<file path=ppt/tags/tag175.xml><?xml version="1.0" encoding="utf-8"?>
<p:tagLst xmlns:p="http://schemas.openxmlformats.org/presentationml/2006/main">
  <p:tag name="KSO_WM_DIAGRAM_VIRTUALLY_FRAME" val="{&quot;height&quot;:340.9,&quot;left&quot;:23.55,&quot;top&quot;:177,&quot;width&quot;:876}"/>
</p:tagLst>
</file>

<file path=ppt/tags/tag17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i"/>
  <p:tag name="KSO_WM_UNIT_INDEX" val="1_1_5"/>
  <p:tag name="KSO_WM_UNIT_ID" val="diagram20230949_1*n_h_i*1_1_5"/>
  <p:tag name="KSO_WM_TEMPLATE_CATEGORY" val="diagram"/>
  <p:tag name="KSO_WM_TEMPLATE_INDEX" val="20230949"/>
  <p:tag name="KSO_WM_UNIT_LAYERLEVEL" val="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type&quot;:0},&quot;glow&quot;:{&quot;colorType&quot;:0},&quot;line&quot;:{&quot;gradient&quot;:[{&quot;brightness&quot;:0.4000000059604645,&quot;colorType&quot;:1,&quot;foreColorIndex&quot;:5,&quot;pos&quot;:0,&quot;transparency&quot;:0},{&quot;brightness&quot;:0.4000000059604645,&quot;colorType&quot;:1,&quot;foreColorIndex&quot;:5,&quot;pos&quot;:1,&quot;transparency&quot;:0.6000000238418579}],&quot;type&quot;:2},&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2"/>
  <p:tag name="KSO_WM_DIAGRAM_USE_COLOR_VALUE" val="{&quot;color_scheme&quot;:1,&quot;color_type&quot;:1,&quot;theme_color_indexes&quot;:[9,10,9,10,9,10]}"/>
</p:tagLst>
</file>

<file path=ppt/tags/tag177.xml><?xml version="1.0" encoding="utf-8"?>
<p:tagLst xmlns:p="http://schemas.openxmlformats.org/presentationml/2006/main">
  <p:tag name="MH" val="20160512072910"/>
  <p:tag name="MH_LIBRARY" val="GRAPHIC"/>
  <p:tag name="MH_TYPE" val="Other"/>
  <p:tag name="MH_ORDER" val="1"/>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2_4"/>
  <p:tag name="KSO_WM_UNIT_ID" val="diagram20230949_1*n_h_h_i*1_2_2_4"/>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gradient&quot;:[{&quot;brightness&quot;:0,&quot;colorType&quot;:1,&quot;foreColorIndex&quot;:5,&quot;pos&quot;:0.20000000298023224,&quot;transparency&quot;:0},{&quot;brightness&quot;:0,&quot;colorType&quot;:1,&quot;foreColorIndex&quot;:5,&quot;pos&quot;:1,&quot;transparency&quot;:0.4000000059604645}],&quot;type&quot;:3},&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LINE_FORE_SCHEMECOLOR_INDEX" val="-2"/>
  <p:tag name="KSO_WM_DIAGRAM_USE_COLOR_VALUE" val="{&quot;color_scheme&quot;:1,&quot;color_type&quot;:1,&quot;theme_color_indexes&quot;:[9,10,9,10,9,10]}"/>
</p:tagLst>
</file>

<file path=ppt/tags/tag178.xml><?xml version="1.0" encoding="utf-8"?>
<p:tagLst xmlns:p="http://schemas.openxmlformats.org/presentationml/2006/main">
  <p:tag name="MH" val="20160512072910"/>
  <p:tag name="MH_LIBRARY" val="GRAPHIC"/>
  <p:tag name="MH_TYPE" val="Other"/>
  <p:tag name="MH_ORDER" val="2"/>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1_4"/>
  <p:tag name="KSO_WM_UNIT_ID" val="diagram20230949_1*n_h_h_i*1_2_1_4"/>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gradient&quot;:[{&quot;brightness&quot;:0,&quot;colorType&quot;:1,&quot;foreColorIndex&quot;:5,&quot;pos&quot;:0.20000000298023224,&quot;transparency&quot;:0},{&quot;brightness&quot;:0,&quot;colorType&quot;:1,&quot;foreColorIndex&quot;:5,&quot;pos&quot;:1,&quot;transparency&quot;:0.4000000059604645}],&quot;type&quot;:3},&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LINE_FORE_SCHEMECOLOR_INDEX" val="-2"/>
  <p:tag name="KSO_WM_DIAGRAM_USE_COLOR_VALUE" val="{&quot;color_scheme&quot;:1,&quot;color_type&quot;:1,&quot;theme_color_indexes&quot;:[9,10,9,10,9,10]}"/>
</p:tagLst>
</file>

<file path=ppt/tags/tag179.xml><?xml version="1.0" encoding="utf-8"?>
<p:tagLst xmlns:p="http://schemas.openxmlformats.org/presentationml/2006/main">
  <p:tag name="MH" val="20160512072910"/>
  <p:tag name="MH_LIBRARY" val="GRAPHIC"/>
  <p:tag name="MH_TYPE" val="Other"/>
  <p:tag name="MH_ORDER" val="3"/>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5_4"/>
  <p:tag name="KSO_WM_UNIT_ID" val="diagram20230949_1*n_h_h_i*1_2_5_4"/>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gradient&quot;:[{&quot;brightness&quot;:0,&quot;colorType&quot;:1,&quot;foreColorIndex&quot;:5,&quot;pos&quot;:0.20000000298023224,&quot;transparency&quot;:0},{&quot;brightness&quot;:0,&quot;colorType&quot;:1,&quot;foreColorIndex&quot;:5,&quot;pos&quot;:1,&quot;transparency&quot;:0.4000000059604645}],&quot;type&quot;:3},&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LINE_FORE_SCHEMECOLOR_INDEX" val="-2"/>
  <p:tag name="KSO_WM_DIAGRAM_USE_COLOR_VALUE" val="{&quot;color_scheme&quot;:1,&quot;color_type&quot;:1,&quot;theme_color_indexes&quot;:[9,10,9,10,9,10]}"/>
</p:tagLst>
</file>

<file path=ppt/tags/tag180.xml><?xml version="1.0" encoding="utf-8"?>
<p:tagLst xmlns:p="http://schemas.openxmlformats.org/presentationml/2006/main">
  <p:tag name="MH" val="20160512072910"/>
  <p:tag name="MH_LIBRARY" val="GRAPHIC"/>
  <p:tag name="MH_TYPE" val="Other"/>
  <p:tag name="MH_ORDER" val="4"/>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4_4"/>
  <p:tag name="KSO_WM_UNIT_ID" val="diagram20230949_1*n_h_h_i*1_2_4_4"/>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gradient&quot;:[{&quot;brightness&quot;:0,&quot;colorType&quot;:1,&quot;foreColorIndex&quot;:5,&quot;pos&quot;:0.20000000298023224,&quot;transparency&quot;:0},{&quot;brightness&quot;:0,&quot;colorType&quot;:1,&quot;foreColorIndex&quot;:5,&quot;pos&quot;:1,&quot;transparency&quot;:0.4000000059604645}],&quot;type&quot;:3},&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LINE_FORE_SCHEMECOLOR_INDEX" val="-2"/>
  <p:tag name="KSO_WM_DIAGRAM_USE_COLOR_VALUE" val="{&quot;color_scheme&quot;:1,&quot;color_type&quot;:1,&quot;theme_color_indexes&quot;:[9,10,9,10,9,10]}"/>
</p:tagLst>
</file>

<file path=ppt/tags/tag181.xml><?xml version="1.0" encoding="utf-8"?>
<p:tagLst xmlns:p="http://schemas.openxmlformats.org/presentationml/2006/main">
  <p:tag name="MH" val="20160512072910"/>
  <p:tag name="MH_LIBRARY" val="GRAPHIC"/>
  <p:tag name="MH_TYPE" val="Other"/>
  <p:tag name="MH_ORDER" val="5"/>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3_4"/>
  <p:tag name="KSO_WM_UNIT_ID" val="diagram20230949_1*n_h_h_i*1_2_3_4"/>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gradient&quot;:[{&quot;brightness&quot;:0,&quot;colorType&quot;:1,&quot;foreColorIndex&quot;:5,&quot;pos&quot;:0.20000000298023224,&quot;transparency&quot;:0},{&quot;brightness&quot;:0,&quot;colorType&quot;:1,&quot;foreColorIndex&quot;:5,&quot;pos&quot;:1,&quot;transparency&quot;:0.4000000059604645}],&quot;type&quot;:3},&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LINE_FORE_SCHEMECOLOR_INDEX" val="-2"/>
  <p:tag name="KSO_WM_DIAGRAM_USE_COLOR_VALUE" val="{&quot;color_scheme&quot;:1,&quot;color_type&quot;:1,&quot;theme_color_indexes&quot;:[9,10,9,10,9,10]}"/>
</p:tagLst>
</file>

<file path=ppt/tags/tag18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a"/>
  <p:tag name="KSO_WM_UNIT_INDEX" val="1_1_1"/>
  <p:tag name="KSO_WM_UNIT_ID" val="diagram20230949_1*n_h_a*1_1_1"/>
  <p:tag name="KSO_WM_TEMPLATE_CATEGORY" val="diagram"/>
  <p:tag name="KSO_WM_TEMPLATE_INDEX" val="20230949"/>
  <p:tag name="KSO_WM_UNIT_LAYERLEVEL" val="1_1_1"/>
  <p:tag name="KSO_WM_TAG_VERSION" val="3.0"/>
  <p:tag name="KSO_WM_DIAGRAM_VERSION" val="3"/>
  <p:tag name="KSO_WM_DIAGRAM_COLOR_TRICK" val="1"/>
  <p:tag name="KSO_WM_DIAGRAM_COLOR_TEXT_CAN_REMOVE" val="n"/>
  <p:tag name="KSO_WM_DIAGRAM_GROUP_CODE" val="n1-1"/>
  <p:tag name="KSO_WM_DIAGRAM_MAX_ITEMCNT" val="5"/>
  <p:tag name="KSO_WM_DIAGRAM_MIN_ITEMCNT" val="5"/>
  <p:tag name="KSO_WM_DIAGRAM_VIRTUALLY_FRAME" val="{&quot;height&quot;:340.9,&quot;left&quot;:23.55,&quot;top&quot;:177,&quot;width&quot;:8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AISAS"/>
  <p:tag name="KSO_WM_UNIT_LINE_FORE_SCHEMECOLOR_INDEX" val="-2"/>
  <p:tag name="KSO_WM_UNIT_TEXT_FILL_FORE_SCHEMECOLOR_INDEX" val="1"/>
  <p:tag name="KSO_WM_UNIT_TEXT_FILL_TYPE" val="1"/>
  <p:tag name="KSO_WM_DIAGRAM_USE_COLOR_VALUE" val="{&quot;color_scheme&quot;:1,&quot;color_type&quot;:1,&quot;theme_color_indexes&quot;:[9,10,9,10,9,10]}"/>
</p:tagLst>
</file>

<file path=ppt/tags/tag18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4_1"/>
  <p:tag name="KSO_WM_UNIT_ID" val="diagram20230949_1*n_h_h_f*1_2_4_1"/>
  <p:tag name="KSO_WM_TEMPLATE_CATEGORY" val="diagram"/>
  <p:tag name="KSO_WM_TEMPLATE_INDEX" val="20230949"/>
  <p:tag name="KSO_WM_UNIT_LAYERLEVEL" val="1_1_1_1"/>
  <p:tag name="KSO_WM_TAG_VERSION" val="3.0"/>
  <p:tag name="KSO_WM_DIAGRAM_VERSION" val="3"/>
  <p:tag name="KSO_WM_DIAGRAM_COLOR_TRICK" val="1"/>
  <p:tag name="KSO_WM_DIAGRAM_COLOR_TEXT_CAN_REMOVE" val="n"/>
  <p:tag name="KSO_WM_DIAGRAM_GROUP_CODE" val="n1-1"/>
  <p:tag name="KSO_WM_DIAGRAM_MAX_ITEMCNT" val="5"/>
  <p:tag name="KSO_WM_DIAGRAM_MIN_ITEMCNT" val="5"/>
  <p:tag name="KSO_WM_DIAGRAM_VIRTUALLY_FRAME" val="{&quot;height&quot;:340.9,&quot;left&quot;:23.55,&quot;top&quot;:177,&quot;width&quot;:8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正文，文字是您思想的提炼，请言简意赅的阐述您的观点。"/>
  <p:tag name="KSO_WM_UNIT_LINE_FORE_SCHEMECOLOR_INDEX" val="-2"/>
  <p:tag name="KSO_WM_UNIT_TEXT_FILL_FORE_SCHEMECOLOR_INDEX" val="1"/>
  <p:tag name="KSO_WM_UNIT_TEXT_FILL_TYPE" val="1"/>
  <p:tag name="KSO_WM_DIAGRAM_USE_COLOR_VALUE" val="{&quot;color_scheme&quot;:1,&quot;color_type&quot;:1,&quot;theme_color_indexes&quot;:[9,10,9,10,9,10]}"/>
</p:tagLst>
</file>

<file path=ppt/tags/tag18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3_1"/>
  <p:tag name="KSO_WM_UNIT_ID" val="diagram20230949_1*n_h_h_f*1_2_3_1"/>
  <p:tag name="KSO_WM_TEMPLATE_CATEGORY" val="diagram"/>
  <p:tag name="KSO_WM_TEMPLATE_INDEX" val="20230949"/>
  <p:tag name="KSO_WM_UNIT_LAYERLEVEL" val="1_1_1_1"/>
  <p:tag name="KSO_WM_TAG_VERSION" val="3.0"/>
  <p:tag name="KSO_WM_DIAGRAM_VERSION" val="3"/>
  <p:tag name="KSO_WM_DIAGRAM_COLOR_TRICK" val="1"/>
  <p:tag name="KSO_WM_DIAGRAM_COLOR_TEXT_CAN_REMOVE" val="n"/>
  <p:tag name="KSO_WM_DIAGRAM_GROUP_CODE" val="n1-1"/>
  <p:tag name="KSO_WM_DIAGRAM_MAX_ITEMCNT" val="5"/>
  <p:tag name="KSO_WM_DIAGRAM_MIN_ITEMCNT" val="5"/>
  <p:tag name="KSO_WM_DIAGRAM_VIRTUALLY_FRAME" val="{&quot;height&quot;:340.9,&quot;left&quot;:23.55,&quot;top&quot;:177,&quot;width&quot;:8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正文，文字是您思想的提炼。"/>
  <p:tag name="KSO_WM_UNIT_LINE_FORE_SCHEMECOLOR_INDEX" val="-2"/>
  <p:tag name="KSO_WM_UNIT_TEXT_FILL_FORE_SCHEMECOLOR_INDEX" val="1"/>
  <p:tag name="KSO_WM_UNIT_TEXT_FILL_TYPE" val="1"/>
  <p:tag name="KSO_WM_DIAGRAM_USE_COLOR_VALUE" val="{&quot;color_scheme&quot;:1,&quot;color_type&quot;:1,&quot;theme_color_indexes&quot;:[9,10,9,10,9,10]}"/>
</p:tagLst>
</file>

<file path=ppt/tags/tag18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5_1"/>
  <p:tag name="KSO_WM_UNIT_ID" val="diagram20230949_1*n_h_h_f*1_2_5_1"/>
  <p:tag name="KSO_WM_TEMPLATE_CATEGORY" val="diagram"/>
  <p:tag name="KSO_WM_TEMPLATE_INDEX" val="20230949"/>
  <p:tag name="KSO_WM_UNIT_LAYERLEVEL" val="1_1_1_1"/>
  <p:tag name="KSO_WM_TAG_VERSION" val="3.0"/>
  <p:tag name="KSO_WM_DIAGRAM_VERSION" val="3"/>
  <p:tag name="KSO_WM_DIAGRAM_COLOR_TRICK" val="1"/>
  <p:tag name="KSO_WM_DIAGRAM_COLOR_TEXT_CAN_REMOVE" val="n"/>
  <p:tag name="KSO_WM_DIAGRAM_GROUP_CODE" val="n1-1"/>
  <p:tag name="KSO_WM_DIAGRAM_MAX_ITEMCNT" val="5"/>
  <p:tag name="KSO_WM_DIAGRAM_MIN_ITEMCNT" val="5"/>
  <p:tag name="KSO_WM_DIAGRAM_VIRTUALLY_FRAME" val="{&quot;height&quot;:340.9,&quot;left&quot;:23.55,&quot;top&quot;:177,&quot;width&quot;:8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正文具体内容，文字是您思想的提炼，请言简意赅的阐述您的观点。"/>
  <p:tag name="KSO_WM_UNIT_LINE_FORE_SCHEMECOLOR_INDEX" val="-2"/>
  <p:tag name="KSO_WM_UNIT_TEXT_FILL_FORE_SCHEMECOLOR_INDEX" val="1"/>
  <p:tag name="KSO_WM_UNIT_TEXT_FILL_TYPE" val="1"/>
  <p:tag name="KSO_WM_DIAGRAM_USE_COLOR_VALUE" val="{&quot;color_scheme&quot;:1,&quot;color_type&quot;:1,&quot;theme_color_indexes&quot;:[9,10,9,10,9,10]}"/>
</p:tagLst>
</file>

<file path=ppt/tags/tag18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5_1"/>
  <p:tag name="KSO_WM_UNIT_ID" val="diagram20230949_1*n_h_h_a*1_2_5_1"/>
  <p:tag name="KSO_WM_TEMPLATE_CATEGORY" val="diagram"/>
  <p:tag name="KSO_WM_TEMPLATE_INDEX" val="20230949"/>
  <p:tag name="KSO_WM_UNIT_LAYERLEVEL" val="1_1_1_1"/>
  <p:tag name="KSO_WM_TAG_VERSION" val="3.0"/>
  <p:tag name="KSO_WM_DIAGRAM_VERSION" val="3"/>
  <p:tag name="KSO_WM_DIAGRAM_COLOR_TRICK" val="1"/>
  <p:tag name="KSO_WM_DIAGRAM_COLOR_TEXT_CAN_REMOVE" val="n"/>
  <p:tag name="KSO_WM_DIAGRAM_GROUP_CODE" val="n1-1"/>
  <p:tag name="KSO_WM_DIAGRAM_MAX_ITEMCNT" val="5"/>
  <p:tag name="KSO_WM_DIAGRAM_MIN_ITEMCNT" val="5"/>
  <p:tag name="KSO_WM_DIAGRAM_VIRTUALLY_FRAME" val="{&quot;height&quot;:340.9,&quot;left&quot;:23.55,&quot;top&quot;:177,&quot;width&quot;:8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Share分享"/>
  <p:tag name="KSO_WM_UNIT_LINE_FORE_SCHEMECOLOR_INDEX" val="-2"/>
  <p:tag name="KSO_WM_UNIT_TEXT_FILL_FORE_SCHEMECOLOR_INDEX" val="1"/>
  <p:tag name="KSO_WM_UNIT_TEXT_FILL_TYPE" val="1"/>
  <p:tag name="KSO_WM_DIAGRAM_USE_COLOR_VALUE" val="{&quot;color_scheme&quot;:1,&quot;color_type&quot;:1,&quot;theme_color_indexes&quot;:[9,10,9,10,9,10]}"/>
</p:tagLst>
</file>

<file path=ppt/tags/tag18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2_1"/>
  <p:tag name="KSO_WM_UNIT_ID" val="diagram20230949_1*n_h_h_f*1_2_2_1"/>
  <p:tag name="KSO_WM_TEMPLATE_CATEGORY" val="diagram"/>
  <p:tag name="KSO_WM_TEMPLATE_INDEX" val="20230949"/>
  <p:tag name="KSO_WM_UNIT_LAYERLEVEL" val="1_1_1_1"/>
  <p:tag name="KSO_WM_TAG_VERSION" val="3.0"/>
  <p:tag name="KSO_WM_DIAGRAM_VERSION" val="3"/>
  <p:tag name="KSO_WM_DIAGRAM_COLOR_TRICK" val="1"/>
  <p:tag name="KSO_WM_DIAGRAM_COLOR_TEXT_CAN_REMOVE" val="n"/>
  <p:tag name="KSO_WM_DIAGRAM_GROUP_CODE" val="n1-1"/>
  <p:tag name="KSO_WM_DIAGRAM_MAX_ITEMCNT" val="5"/>
  <p:tag name="KSO_WM_DIAGRAM_MIN_ITEMCNT" val="5"/>
  <p:tag name="KSO_WM_DIAGRAM_VIRTUALLY_FRAME" val="{&quot;height&quot;:340.9,&quot;left&quot;:23.55,&quot;top&quot;:177,&quot;width&quot;:8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正文具体内容，文字是您思想的提炼，请言简意赅的阐述您的观点。"/>
  <p:tag name="KSO_WM_UNIT_LINE_FORE_SCHEMECOLOR_INDEX" val="-2"/>
  <p:tag name="KSO_WM_UNIT_TEXT_FILL_FORE_SCHEMECOLOR_INDEX" val="1"/>
  <p:tag name="KSO_WM_UNIT_TEXT_FILL_TYPE" val="1"/>
  <p:tag name="KSO_WM_DIAGRAM_USE_COLOR_VALUE" val="{&quot;color_scheme&quot;:1,&quot;color_type&quot;:1,&quot;theme_color_indexes&quot;:[9,10,9,10,9,10]}"/>
</p:tagLst>
</file>

<file path=ppt/tags/tag18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1_1"/>
  <p:tag name="KSO_WM_UNIT_ID" val="diagram20230949_1*n_h_h_f*1_2_1_1"/>
  <p:tag name="KSO_WM_TEMPLATE_CATEGORY" val="diagram"/>
  <p:tag name="KSO_WM_TEMPLATE_INDEX" val="20230949"/>
  <p:tag name="KSO_WM_UNIT_LAYERLEVEL" val="1_1_1_1"/>
  <p:tag name="KSO_WM_TAG_VERSION" val="3.0"/>
  <p:tag name="KSO_WM_DIAGRAM_VERSION" val="3"/>
  <p:tag name="KSO_WM_DIAGRAM_COLOR_TRICK" val="1"/>
  <p:tag name="KSO_WM_DIAGRAM_COLOR_TEXT_CAN_REMOVE" val="n"/>
  <p:tag name="KSO_WM_DIAGRAM_GROUP_CODE" val="n1-1"/>
  <p:tag name="KSO_WM_DIAGRAM_MAX_ITEMCNT" val="5"/>
  <p:tag name="KSO_WM_DIAGRAM_MIN_ITEMCNT" val="5"/>
  <p:tag name="KSO_WM_DIAGRAM_VIRTUALLY_FRAME" val="{&quot;height&quot;:340.9,&quot;left&quot;:23.55,&quot;top&quot;:177,&quot;width&quot;:8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正文，文字是您思想的提炼。"/>
  <p:tag name="KSO_WM_UNIT_LINE_FORE_SCHEMECOLOR_INDEX" val="-2"/>
  <p:tag name="KSO_WM_UNIT_TEXT_FILL_FORE_SCHEMECOLOR_INDEX" val="1"/>
  <p:tag name="KSO_WM_UNIT_TEXT_FILL_TYPE" val="1"/>
  <p:tag name="KSO_WM_DIAGRAM_USE_COLOR_VALUE" val="{&quot;color_scheme&quot;:1,&quot;color_type&quot;:1,&quot;theme_color_indexes&quot;:[9,10,9,10,9,10]}"/>
</p:tagLst>
</file>

<file path=ppt/tags/tag189.xml><?xml version="1.0" encoding="utf-8"?>
<p:tagLst xmlns:p="http://schemas.openxmlformats.org/presentationml/2006/main">
  <p:tag name="KSO_WM_DIAGRAM_VIRTUALLY_FRAME" val="{&quot;height&quot;:340.9,&quot;left&quot;:23.55,&quot;top&quot;:177,&quot;width&quot;:876}"/>
</p:tagLst>
</file>

<file path=ppt/tags/tag19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1_3"/>
  <p:tag name="KSO_WM_UNIT_ID" val="diagram20230949_1*n_h_h_i*1_2_1_3"/>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solid&quot;:{&quot;brightness&quot;:0,&quot;colorType&quot;:1,&quot;foreColorIndex&quot;:5,&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2"/>
  <p:tag name="KSO_WM_DIAGRAM_USE_COLOR_VALUE" val="{&quot;color_scheme&quot;:1,&quot;color_type&quot;:1,&quot;theme_color_indexes&quot;:[9,10,9,10,9,10]}"/>
</p:tagLst>
</file>

<file path=ppt/tags/tag191.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1_2"/>
  <p:tag name="KSO_WM_UNIT_ID" val="diagram20230949_1*n_h_h_i*1_2_1_2"/>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2"/>
  <p:tag name="KSO_WM_DIAGRAM_USE_COLOR_VALUE" val="{&quot;color_scheme&quot;:1,&quot;color_type&quot;:1,&quot;theme_color_indexes&quot;:[9,10,9,10,9,10]}"/>
</p:tagLst>
</file>

<file path=ppt/tags/tag192.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1_1"/>
  <p:tag name="KSO_WM_UNIT_ID" val="diagram20230949_1*n_h_h_i*1_2_1_1"/>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 name="KSO_WM_DIAGRAM_USE_COLOR_VALUE" val="{&quot;color_scheme&quot;:1,&quot;color_type&quot;:1,&quot;theme_color_indexes&quot;:[9,10,9,10,9,10]}"/>
</p:tagLst>
</file>

<file path=ppt/tags/tag193.xml><?xml version="1.0" encoding="utf-8"?>
<p:tagLst xmlns:p="http://schemas.openxmlformats.org/presentationml/2006/main">
  <p:tag name="KSO_WM_DIAGRAM_VIRTUALLY_FRAME" val="{&quot;height&quot;:340.9,&quot;left&quot;:23.55,&quot;top&quot;:177,&quot;width&quot;:876}"/>
</p:tagLst>
</file>

<file path=ppt/tags/tag194.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5_3"/>
  <p:tag name="KSO_WM_UNIT_ID" val="diagram20230949_1*n_h_h_i*1_2_5_3"/>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solid&quot;:{&quot;brightness&quot;:0,&quot;colorType&quot;:1,&quot;foreColorIndex&quot;:5,&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2"/>
  <p:tag name="KSO_WM_DIAGRAM_USE_COLOR_VALUE" val="{&quot;color_scheme&quot;:1,&quot;color_type&quot;:1,&quot;theme_color_indexes&quot;:[9,10,9,10,9,10]}"/>
</p:tagLst>
</file>

<file path=ppt/tags/tag195.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5_2"/>
  <p:tag name="KSO_WM_UNIT_ID" val="diagram20230949_1*n_h_h_i*1_2_5_2"/>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2"/>
  <p:tag name="KSO_WM_DIAGRAM_USE_COLOR_VALUE" val="{&quot;color_scheme&quot;:1,&quot;color_type&quot;:1,&quot;theme_color_indexes&quot;:[9,10,9,10,9,10]}"/>
</p:tagLst>
</file>

<file path=ppt/tags/tag19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5_1"/>
  <p:tag name="KSO_WM_UNIT_ID" val="diagram20230949_1*n_h_h_i*1_2_5_1"/>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 name="KSO_WM_DIAGRAM_USE_COLOR_VALUE" val="{&quot;color_scheme&quot;:1,&quot;color_type&quot;:1,&quot;theme_color_indexes&quot;:[9,10,9,10,9,10]}"/>
</p:tagLst>
</file>

<file path=ppt/tags/tag197.xml><?xml version="1.0" encoding="utf-8"?>
<p:tagLst xmlns:p="http://schemas.openxmlformats.org/presentationml/2006/main">
  <p:tag name="KSO_WM_DIAGRAM_VIRTUALLY_FRAME" val="{&quot;height&quot;:340.9,&quot;left&quot;:23.55,&quot;top&quot;:177,&quot;width&quot;:876}"/>
</p:tagLst>
</file>

<file path=ppt/tags/tag198.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2_3"/>
  <p:tag name="KSO_WM_UNIT_ID" val="diagram20230949_1*n_h_h_i*1_2_2_3"/>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solid&quot;:{&quot;brightness&quot;:0,&quot;colorType&quot;:1,&quot;foreColorIndex&quot;:5,&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2"/>
  <p:tag name="KSO_WM_DIAGRAM_USE_COLOR_VALUE" val="{&quot;color_scheme&quot;:1,&quot;color_type&quot;:1,&quot;theme_color_indexes&quot;:[9,10,9,10,9,10]}"/>
</p:tagLst>
</file>

<file path=ppt/tags/tag19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2_2"/>
  <p:tag name="KSO_WM_UNIT_ID" val="diagram20230949_1*n_h_h_i*1_2_2_2"/>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2"/>
  <p:tag name="KSO_WM_DIAGRAM_USE_COLOR_VALUE" val="{&quot;color_scheme&quot;:1,&quot;color_type&quot;:1,&quot;theme_color_indexes&quot;:[9,10,9,10,9,10]}"/>
</p:tagLst>
</file>

<file path=ppt/tags/tag20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2_1"/>
  <p:tag name="KSO_WM_UNIT_ID" val="diagram20230949_1*n_h_h_i*1_2_2_1"/>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 name="KSO_WM_DIAGRAM_USE_COLOR_VALUE" val="{&quot;color_scheme&quot;:1,&quot;color_type&quot;:1,&quot;theme_color_indexes&quot;:[9,10,9,10,9,10]}"/>
</p:tagLst>
</file>

<file path=ppt/tags/tag201.xml><?xml version="1.0" encoding="utf-8"?>
<p:tagLst xmlns:p="http://schemas.openxmlformats.org/presentationml/2006/main">
  <p:tag name="KSO_WM_DIAGRAM_VIRTUALLY_FRAME" val="{&quot;height&quot;:340.9,&quot;left&quot;:23.55,&quot;top&quot;:177,&quot;width&quot;:876}"/>
</p:tagLst>
</file>

<file path=ppt/tags/tag202.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3_3"/>
  <p:tag name="KSO_WM_UNIT_ID" val="diagram20230949_1*n_h_h_i*1_2_3_3"/>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solid&quot;:{&quot;brightness&quot;:0,&quot;colorType&quot;:1,&quot;foreColorIndex&quot;:5,&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2"/>
  <p:tag name="KSO_WM_DIAGRAM_USE_COLOR_VALUE" val="{&quot;color_scheme&quot;:1,&quot;color_type&quot;:1,&quot;theme_color_indexes&quot;:[9,10,9,10,9,10]}"/>
</p:tagLst>
</file>

<file path=ppt/tags/tag203.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3_2"/>
  <p:tag name="KSO_WM_UNIT_ID" val="diagram20230949_1*n_h_h_i*1_2_3_2"/>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2"/>
  <p:tag name="KSO_WM_DIAGRAM_USE_COLOR_VALUE" val="{&quot;color_scheme&quot;:1,&quot;color_type&quot;:1,&quot;theme_color_indexes&quot;:[9,10,9,10,9,10]}"/>
</p:tagLst>
</file>

<file path=ppt/tags/tag204.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3_1"/>
  <p:tag name="KSO_WM_UNIT_ID" val="diagram20230949_1*n_h_h_i*1_2_3_1"/>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 name="KSO_WM_DIAGRAM_USE_COLOR_VALUE" val="{&quot;color_scheme&quot;:1,&quot;color_type&quot;:1,&quot;theme_color_indexes&quot;:[9,10,9,10,9,10]}"/>
</p:tagLst>
</file>

<file path=ppt/tags/tag205.xml><?xml version="1.0" encoding="utf-8"?>
<p:tagLst xmlns:p="http://schemas.openxmlformats.org/presentationml/2006/main">
  <p:tag name="KSO_WM_DIAGRAM_VIRTUALLY_FRAME" val="{&quot;height&quot;:340.9,&quot;left&quot;:23.55,&quot;top&quot;:177,&quot;width&quot;:876}"/>
</p:tagLst>
</file>

<file path=ppt/tags/tag20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4_3"/>
  <p:tag name="KSO_WM_UNIT_ID" val="diagram20230949_1*n_h_h_i*1_2_4_3"/>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solid&quot;:{&quot;brightness&quot;:0,&quot;colorType&quot;:1,&quot;foreColorIndex&quot;:5,&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2"/>
  <p:tag name="KSO_WM_DIAGRAM_USE_COLOR_VALUE" val="{&quot;color_scheme&quot;:1,&quot;color_type&quot;:1,&quot;theme_color_indexes&quot;:[9,10,9,10,9,10]}"/>
</p:tagLst>
</file>

<file path=ppt/tags/tag207.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4_2"/>
  <p:tag name="KSO_WM_UNIT_ID" val="diagram20230949_1*n_h_h_i*1_2_4_2"/>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2"/>
  <p:tag name="KSO_WM_DIAGRAM_USE_COLOR_VALUE" val="{&quot;color_scheme&quot;:1,&quot;color_type&quot;:1,&quot;theme_color_indexes&quot;:[9,10,9,10,9,10]}"/>
</p:tagLst>
</file>

<file path=ppt/tags/tag208.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4_1"/>
  <p:tag name="KSO_WM_UNIT_ID" val="diagram20230949_1*n_h_h_i*1_2_4_1"/>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 name="KSO_WM_DIAGRAM_USE_COLOR_VALUE" val="{&quot;color_scheme&quot;:1,&quot;color_type&quot;:1,&quot;theme_color_indexes&quot;:[9,10,9,10,9,10]}"/>
</p:tagLst>
</file>

<file path=ppt/tags/tag20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5_1"/>
  <p:tag name="KSO_WM_UNIT_ID" val="diagram20230949_1*n_h_h_a*1_2_5_1"/>
  <p:tag name="KSO_WM_TEMPLATE_CATEGORY" val="diagram"/>
  <p:tag name="KSO_WM_TEMPLATE_INDEX" val="20230949"/>
  <p:tag name="KSO_WM_UNIT_LAYERLEVEL" val="1_1_1_1"/>
  <p:tag name="KSO_WM_TAG_VERSION" val="3.0"/>
  <p:tag name="KSO_WM_DIAGRAM_VERSION" val="3"/>
  <p:tag name="KSO_WM_DIAGRAM_COLOR_TRICK" val="1"/>
  <p:tag name="KSO_WM_DIAGRAM_COLOR_TEXT_CAN_REMOVE" val="n"/>
  <p:tag name="KSO_WM_DIAGRAM_GROUP_CODE" val="n1-1"/>
  <p:tag name="KSO_WM_DIAGRAM_MAX_ITEMCNT" val="5"/>
  <p:tag name="KSO_WM_DIAGRAM_MIN_ITEMCNT" val="5"/>
  <p:tag name="KSO_WM_DIAGRAM_VIRTUALLY_FRAME" val="{&quot;height&quot;:286.12503937007875,&quot;left&quot;:64.593310546875,&quot;top&quot;:213.5,&quot;width&quot;:830.820075279896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Share分享"/>
  <p:tag name="KSO_WM_UNIT_LINE_FORE_SCHEMECOLOR_INDEX" val="-2"/>
  <p:tag name="KSO_WM_UNIT_TEXT_FILL_FORE_SCHEMECOLOR_INDEX" val="1"/>
  <p:tag name="KSO_WM_UNIT_TEXT_FILL_TYPE" val="1"/>
  <p:tag name="KSO_WM_DIAGRAM_USE_COLOR_VALUE" val="{&quot;color_scheme&quot;:1,&quot;color_type&quot;:1,&quot;theme_color_indexes&quot;:[9,10,9,10,9,10]}"/>
</p:tagLst>
</file>

<file path=ppt/tags/tag21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5_1"/>
  <p:tag name="KSO_WM_UNIT_ID" val="diagram20230949_1*n_h_h_a*1_2_5_1"/>
  <p:tag name="KSO_WM_TEMPLATE_CATEGORY" val="diagram"/>
  <p:tag name="KSO_WM_TEMPLATE_INDEX" val="20230949"/>
  <p:tag name="KSO_WM_UNIT_LAYERLEVEL" val="1_1_1_1"/>
  <p:tag name="KSO_WM_TAG_VERSION" val="3.0"/>
  <p:tag name="KSO_WM_DIAGRAM_VERSION" val="3"/>
  <p:tag name="KSO_WM_DIAGRAM_COLOR_TRICK" val="1"/>
  <p:tag name="KSO_WM_DIAGRAM_COLOR_TEXT_CAN_REMOVE" val="n"/>
  <p:tag name="KSO_WM_DIAGRAM_GROUP_CODE" val="n1-1"/>
  <p:tag name="KSO_WM_DIAGRAM_MAX_ITEMCNT" val="5"/>
  <p:tag name="KSO_WM_DIAGRAM_MIN_ITEMCNT" val="5"/>
  <p:tag name="KSO_WM_DIAGRAM_VIRTUALLY_FRAME" val="{&quot;height&quot;:286.12503937007875,&quot;left&quot;:64.593310546875,&quot;top&quot;:213.5,&quot;width&quot;:830.820075279896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Share分享"/>
  <p:tag name="KSO_WM_UNIT_LINE_FORE_SCHEMECOLOR_INDEX" val="-2"/>
  <p:tag name="KSO_WM_UNIT_TEXT_FILL_FORE_SCHEMECOLOR_INDEX" val="1"/>
  <p:tag name="KSO_WM_UNIT_TEXT_FILL_TYPE" val="1"/>
  <p:tag name="KSO_WM_DIAGRAM_USE_COLOR_VALUE" val="{&quot;color_scheme&quot;:1,&quot;color_type&quot;:1,&quot;theme_color_indexes&quot;:[9,10,9,10,9,10]}"/>
</p:tagLst>
</file>

<file path=ppt/tags/tag21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5_1"/>
  <p:tag name="KSO_WM_UNIT_ID" val="diagram20230949_1*n_h_h_a*1_2_5_1"/>
  <p:tag name="KSO_WM_TEMPLATE_CATEGORY" val="diagram"/>
  <p:tag name="KSO_WM_TEMPLATE_INDEX" val="20230949"/>
  <p:tag name="KSO_WM_UNIT_LAYERLEVEL" val="1_1_1_1"/>
  <p:tag name="KSO_WM_TAG_VERSION" val="3.0"/>
  <p:tag name="KSO_WM_DIAGRAM_VERSION" val="3"/>
  <p:tag name="KSO_WM_DIAGRAM_COLOR_TRICK" val="1"/>
  <p:tag name="KSO_WM_DIAGRAM_COLOR_TEXT_CAN_REMOVE" val="n"/>
  <p:tag name="KSO_WM_DIAGRAM_GROUP_CODE" val="n1-1"/>
  <p:tag name="KSO_WM_DIAGRAM_MAX_ITEMCNT" val="5"/>
  <p:tag name="KSO_WM_DIAGRAM_MIN_ITEMCNT" val="5"/>
  <p:tag name="KSO_WM_DIAGRAM_VIRTUALLY_FRAME" val="{&quot;height&quot;:286.12503937007875,&quot;left&quot;:64.593310546875,&quot;top&quot;:213.5,&quot;width&quot;:830.820075279896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Share分享"/>
  <p:tag name="KSO_WM_UNIT_LINE_FORE_SCHEMECOLOR_INDEX" val="-2"/>
  <p:tag name="KSO_WM_UNIT_TEXT_FILL_FORE_SCHEMECOLOR_INDEX" val="1"/>
  <p:tag name="KSO_WM_UNIT_TEXT_FILL_TYPE" val="1"/>
  <p:tag name="KSO_WM_DIAGRAM_USE_COLOR_VALUE" val="{&quot;color_scheme&quot;:1,&quot;color_type&quot;:1,&quot;theme_color_indexes&quot;:[9,10,9,10,9,10]}"/>
</p:tagLst>
</file>

<file path=ppt/tags/tag21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5_1"/>
  <p:tag name="KSO_WM_UNIT_ID" val="diagram20230949_1*n_h_h_a*1_2_5_1"/>
  <p:tag name="KSO_WM_TEMPLATE_CATEGORY" val="diagram"/>
  <p:tag name="KSO_WM_TEMPLATE_INDEX" val="20230949"/>
  <p:tag name="KSO_WM_UNIT_LAYERLEVEL" val="1_1_1_1"/>
  <p:tag name="KSO_WM_TAG_VERSION" val="3.0"/>
  <p:tag name="KSO_WM_DIAGRAM_VERSION" val="3"/>
  <p:tag name="KSO_WM_DIAGRAM_COLOR_TRICK" val="1"/>
  <p:tag name="KSO_WM_DIAGRAM_COLOR_TEXT_CAN_REMOVE" val="n"/>
  <p:tag name="KSO_WM_DIAGRAM_GROUP_CODE" val="n1-1"/>
  <p:tag name="KSO_WM_DIAGRAM_MAX_ITEMCNT" val="5"/>
  <p:tag name="KSO_WM_DIAGRAM_MIN_ITEMCNT" val="5"/>
  <p:tag name="KSO_WM_DIAGRAM_VIRTUALLY_FRAME" val="{&quot;height&quot;:286.12503937007875,&quot;left&quot;:64.593310546875,&quot;top&quot;:213.5,&quot;width&quot;:830.820075279896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Share分享"/>
  <p:tag name="KSO_WM_UNIT_LINE_FORE_SCHEMECOLOR_INDEX" val="-2"/>
  <p:tag name="KSO_WM_UNIT_TEXT_FILL_FORE_SCHEMECOLOR_INDEX" val="1"/>
  <p:tag name="KSO_WM_UNIT_TEXT_FILL_TYPE" val="1"/>
  <p:tag name="KSO_WM_DIAGRAM_USE_COLOR_VALUE" val="{&quot;color_scheme&quot;:1,&quot;color_type&quot;:1,&quot;theme_color_indexes&quot;:[9,10,9,10,9,10]}"/>
</p:tagLst>
</file>

<file path=ppt/tags/tag213.xml><?xml version="1.0" encoding="utf-8"?>
<p:tagLst xmlns:p="http://schemas.openxmlformats.org/presentationml/2006/main">
  <p:tag name="KSO_WM_SLIDE_ITEM_CNT" val="3"/>
  <p:tag name="resource_record_key" val="{&quot;10&quot;:[3505430,50036384],&quot;29&quot;:[50053024,50052948],&quot;70&quot;:[3405561,3319090,3312439]}"/>
</p:tagLst>
</file>

<file path=ppt/tags/tag214.xml><?xml version="1.0" encoding="utf-8"?>
<p:tagLst xmlns:p="http://schemas.openxmlformats.org/presentationml/2006/main">
  <p:tag name="KSO_WM_DIAGRAM_VIRTUALLY_FRAME" val="{&quot;height&quot;:389.6,&quot;left&quot;:211.45,&quot;top&quot;:116.65,&quot;width&quot;:477.55}"/>
</p:tagLst>
</file>

<file path=ppt/tags/tag215.xml><?xml version="1.0" encoding="utf-8"?>
<p:tagLst xmlns:p="http://schemas.openxmlformats.org/presentationml/2006/main">
  <p:tag name="KSO_WM_UNIT_TYPE" val="a"/>
  <p:tag name="KSO_WM_UNIT_INDEX" val="1"/>
  <p:tag name="KSO_WM_BEAUTIFY_FLAG" val="#wm#"/>
  <p:tag name="KSO_WM_TAG_VERSION" val="3.0"/>
  <p:tag name="KSO_WM_UNIT_ID" val="custom20238577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ISCONTENTSTITLE" val="0"/>
  <p:tag name="KSO_WM_UNIT_VALUE" val="14"/>
  <p:tag name="KSO_WM_UNIT_TEXT_TYPE" val="1"/>
  <p:tag name="KSO_WM_UNIT_PRESET_TEXT" val="单击此处添加&#10;章节标题"/>
</p:tagLst>
</file>

<file path=ppt/tags/tag216.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217.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218.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219.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220.xml><?xml version="1.0" encoding="utf-8"?>
<p:tagLst xmlns:p="http://schemas.openxmlformats.org/presentationml/2006/main">
  <p:tag name="KSO_WM_DIAGRAM_VIRTUALLY_FRAME" val="{&quot;height&quot;:156.26889153427965,&quot;left&quot;:79.175,&quot;top&quot;:135.73110236220472,&quot;width&quot;:215.02872924804697}"/>
</p:tagLst>
</file>

<file path=ppt/tags/tag221.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46_3*l_h_f*1_1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156.26889153427965,&quot;left&quot;:79.175,&quot;top&quot;:135.73110236220472,&quot;width&quot;:215.02872924804697}"/>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22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1_1"/>
  <p:tag name="KSO_WM_TEMPLATE_CATEGORY" val="diagram"/>
  <p:tag name="KSO_WM_TEMPLATE_INDEX" val="20235146"/>
  <p:tag name="KSO_WM_UNIT_LAYERLEVEL" val="1_1_1"/>
  <p:tag name="KSO_WM_TAG_VERSION" val="3.0"/>
  <p:tag name="KSO_WM_BEAUTIFY_FLAG" val="#wm#"/>
  <p:tag name="KSO_WM_UNIT_TYPE" val="l_h_i"/>
  <p:tag name="KSO_WM_UNIT_INDEX" val="1_1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156.26889153427965,&quot;left&quot;:79.175,&quot;top&quot;:135.73110236220472,&quot;width&quot;:215.02872924804697}"/>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223.xml><?xml version="1.0" encoding="utf-8"?>
<p:tagLst xmlns:p="http://schemas.openxmlformats.org/presentationml/2006/main">
  <p:tag name="KSO_WM_DIAGRAM_VIRTUALLY_FRAME" val="{&quot;height&quot;:156.26889153427965,&quot;left&quot;:79.175,&quot;top&quot;:135.73110236220472,&quot;width&quot;:215.02872924804697}"/>
</p:tagLst>
</file>

<file path=ppt/tags/tag224.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146_3*l_h_f*1_2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156.26889153427965,&quot;left&quot;:79.175,&quot;top&quot;:135.73110236220472,&quot;width&quot;:215.02872924804697}"/>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22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2_1"/>
  <p:tag name="KSO_WM_TEMPLATE_CATEGORY" val="diagram"/>
  <p:tag name="KSO_WM_TEMPLATE_INDEX" val="20235146"/>
  <p:tag name="KSO_WM_UNIT_LAYERLEVEL" val="1_1_1"/>
  <p:tag name="KSO_WM_TAG_VERSION" val="3.0"/>
  <p:tag name="KSO_WM_BEAUTIFY_FLAG" val="#wm#"/>
  <p:tag name="KSO_WM_UNIT_TYPE" val="l_h_i"/>
  <p:tag name="KSO_WM_UNIT_INDEX" val="1_2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156.26889153427965,&quot;left&quot;:79.175,&quot;top&quot;:135.73110236220472,&quot;width&quot;:215.02872924804697}"/>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226.xml><?xml version="1.0" encoding="utf-8"?>
<p:tagLst xmlns:p="http://schemas.openxmlformats.org/presentationml/2006/main">
  <p:tag name="KSO_WM_DIAGRAM_VIRTUALLY_FRAME" val="{&quot;height&quot;:156.26889153427965,&quot;left&quot;:79.175,&quot;top&quot;:135.73110236220472,&quot;width&quot;:215.02872924804697}"/>
</p:tagLst>
</file>

<file path=ppt/tags/tag227.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5146_3*l_h_f*1_3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156.26889153427965,&quot;left&quot;:79.175,&quot;top&quot;:135.73110236220472,&quot;width&quot;:215.02872924804697}"/>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22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3_1"/>
  <p:tag name="KSO_WM_TEMPLATE_CATEGORY" val="diagram"/>
  <p:tag name="KSO_WM_TEMPLATE_INDEX" val="20235146"/>
  <p:tag name="KSO_WM_UNIT_LAYERLEVEL" val="1_1_1"/>
  <p:tag name="KSO_WM_TAG_VERSION" val="3.0"/>
  <p:tag name="KSO_WM_BEAUTIFY_FLAG" val="#wm#"/>
  <p:tag name="KSO_WM_UNIT_TYPE" val="l_h_i"/>
  <p:tag name="KSO_WM_UNIT_INDEX" val="1_3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156.26889153427965,&quot;left&quot;:79.175,&quot;top&quot;:135.73110236220472,&quot;width&quot;:215.02872924804697}"/>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229.xml><?xml version="1.0" encoding="utf-8"?>
<p:tagLst xmlns:p="http://schemas.openxmlformats.org/presentationml/2006/main">
  <p:tag name="KSO_WM_DIAGRAM_VIRTUALLY_FRAME" val="{&quot;height&quot;:156.26889153427965,&quot;left&quot;:79.175,&quot;top&quot;:135.73110236220472,&quot;width&quot;:215.02872924804697}"/>
</p:tagLst>
</file>

<file path=ppt/tags/tag230.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5146_3*l_h_f*1_4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156.26889153427965,&quot;left&quot;:79.175,&quot;top&quot;:135.73110236220472,&quot;width&quot;:215.02872924804697}"/>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23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4_1"/>
  <p:tag name="KSO_WM_TEMPLATE_CATEGORY" val="diagram"/>
  <p:tag name="KSO_WM_TEMPLATE_INDEX" val="20235146"/>
  <p:tag name="KSO_WM_UNIT_LAYERLEVEL" val="1_1_1"/>
  <p:tag name="KSO_WM_TAG_VERSION" val="3.0"/>
  <p:tag name="KSO_WM_BEAUTIFY_FLAG" val="#wm#"/>
  <p:tag name="KSO_WM_UNIT_TYPE" val="l_h_i"/>
  <p:tag name="KSO_WM_UNIT_INDEX" val="1_4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156.26889153427965,&quot;left&quot;:79.175,&quot;top&quot;:135.73110236220472,&quot;width&quot;:215.02872924804697}"/>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232.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233.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234.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2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41.xml><?xml version="1.0" encoding="utf-8"?>
<p:tagLst xmlns:p="http://schemas.openxmlformats.org/presentationml/2006/main">
  <p:tag name="KSO_WM_DIAGRAM_VIRTUALLY_FRAME" val="{&quot;height&quot;:443.51889153427965,&quot;left&quot;:59.7,&quot;top&quot;:137.43110236220474,&quot;width&quot;:492.053729248047}"/>
</p:tagLst>
</file>

<file path=ppt/tags/tag242.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46_3*l_h_f*1_1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24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1_1"/>
  <p:tag name="KSO_WM_TEMPLATE_CATEGORY" val="diagram"/>
  <p:tag name="KSO_WM_TEMPLATE_INDEX" val="20235146"/>
  <p:tag name="KSO_WM_UNIT_LAYERLEVEL" val="1_1_1"/>
  <p:tag name="KSO_WM_TAG_VERSION" val="3.0"/>
  <p:tag name="KSO_WM_BEAUTIFY_FLAG" val="#wm#"/>
  <p:tag name="KSO_WM_UNIT_TYPE" val="l_h_i"/>
  <p:tag name="KSO_WM_UNIT_INDEX" val="1_1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244.xml><?xml version="1.0" encoding="utf-8"?>
<p:tagLst xmlns:p="http://schemas.openxmlformats.org/presentationml/2006/main">
  <p:tag name="KSO_WM_DIAGRAM_VIRTUALLY_FRAME" val="{&quot;height&quot;:443.51889153427965,&quot;left&quot;:59.7,&quot;top&quot;:137.43110236220474,&quot;width&quot;:492.053729248047}"/>
</p:tagLst>
</file>

<file path=ppt/tags/tag245.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146_3*l_h_f*1_2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24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2_1"/>
  <p:tag name="KSO_WM_TEMPLATE_CATEGORY" val="diagram"/>
  <p:tag name="KSO_WM_TEMPLATE_INDEX" val="20235146"/>
  <p:tag name="KSO_WM_UNIT_LAYERLEVEL" val="1_1_1"/>
  <p:tag name="KSO_WM_TAG_VERSION" val="3.0"/>
  <p:tag name="KSO_WM_BEAUTIFY_FLAG" val="#wm#"/>
  <p:tag name="KSO_WM_UNIT_TYPE" val="l_h_i"/>
  <p:tag name="KSO_WM_UNIT_INDEX" val="1_2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247.xml><?xml version="1.0" encoding="utf-8"?>
<p:tagLst xmlns:p="http://schemas.openxmlformats.org/presentationml/2006/main">
  <p:tag name="KSO_WM_DIAGRAM_VIRTUALLY_FRAME" val="{&quot;height&quot;:443.51889153427965,&quot;left&quot;:59.7,&quot;top&quot;:137.43110236220474,&quot;width&quot;:492.053729248047}"/>
</p:tagLst>
</file>

<file path=ppt/tags/tag248.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5146_3*l_h_f*1_3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24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3_1"/>
  <p:tag name="KSO_WM_TEMPLATE_CATEGORY" val="diagram"/>
  <p:tag name="KSO_WM_TEMPLATE_INDEX" val="20235146"/>
  <p:tag name="KSO_WM_UNIT_LAYERLEVEL" val="1_1_1"/>
  <p:tag name="KSO_WM_TAG_VERSION" val="3.0"/>
  <p:tag name="KSO_WM_BEAUTIFY_FLAG" val="#wm#"/>
  <p:tag name="KSO_WM_UNIT_TYPE" val="l_h_i"/>
  <p:tag name="KSO_WM_UNIT_INDEX" val="1_3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250.xml><?xml version="1.0" encoding="utf-8"?>
<p:tagLst xmlns:p="http://schemas.openxmlformats.org/presentationml/2006/main">
  <p:tag name="KSO_WM_DIAGRAM_VIRTUALLY_FRAME" val="{&quot;height&quot;:443.51889153427965,&quot;left&quot;:59.7,&quot;top&quot;:137.43110236220474,&quot;width&quot;:492.053729248047}"/>
</p:tagLst>
</file>

<file path=ppt/tags/tag251.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5146_3*l_h_f*1_4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25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4_1"/>
  <p:tag name="KSO_WM_TEMPLATE_CATEGORY" val="diagram"/>
  <p:tag name="KSO_WM_TEMPLATE_INDEX" val="20235146"/>
  <p:tag name="KSO_WM_UNIT_LAYERLEVEL" val="1_1_1"/>
  <p:tag name="KSO_WM_TAG_VERSION" val="3.0"/>
  <p:tag name="KSO_WM_BEAUTIFY_FLAG" val="#wm#"/>
  <p:tag name="KSO_WM_UNIT_TYPE" val="l_h_i"/>
  <p:tag name="KSO_WM_UNIT_INDEX" val="1_4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2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4_3"/>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4_3"/>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BEAUTIFY_FLAG" val="#wm#"/>
  <p:tag name="KSO_WM_DIAGRAM_USE_COLOR_VALUE" val="{&quot;color_scheme&quot;:1,&quot;color_type&quot;:1,&quot;theme_color_indexes&quot;:[5,6,5,6,5,6]}"/>
</p:tagLst>
</file>

<file path=ppt/tags/tag2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4_4"/>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4_4"/>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solidLine&quot;:{&quot;brightness&quot;:0.4000000059604645,&quot;colorType&quot;:1,&quot;foreColorIndex&quot;:5,&quot;transparency&quot;:0.6499999761581421},&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BEAUTIFY_FLAG" val="#wm#"/>
  <p:tag name="KSO_WM_UNIT_LINE_FORE_SCHEMECOLOR_INDEX" val="5"/>
  <p:tag name="KSO_WM_DIAGRAM_USE_COLOR_VALUE" val="{&quot;color_scheme&quot;:1,&quot;color_type&quot;:1,&quot;theme_color_indexes&quot;:[5,6,5,6,5,6]}"/>
</p:tagLst>
</file>

<file path=ppt/tags/tag2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2_3"/>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2_3"/>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BEAUTIFY_FLAG" val="#wm#"/>
  <p:tag name="KSO_WM_DIAGRAM_USE_COLOR_VALUE" val="{&quot;color_scheme&quot;:1,&quot;color_type&quot;:1,&quot;theme_color_indexes&quot;:[5,6,5,6,5,6]}"/>
</p:tagLst>
</file>

<file path=ppt/tags/tag2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2_4"/>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2_4"/>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solidLine&quot;:{&quot;brightness&quot;:0.4000000059604645,&quot;colorType&quot;:1,&quot;foreColorIndex&quot;:5,&quot;transparency&quot;:0.6499999761581421},&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BEAUTIFY_FLAG" val="#wm#"/>
  <p:tag name="KSO_WM_UNIT_LINE_FORE_SCHEMECOLOR_INDEX" val="5"/>
  <p:tag name="KSO_WM_DIAGRAM_USE_COLOR_VALUE" val="{&quot;color_scheme&quot;:1,&quot;color_type&quot;:1,&quot;theme_color_indexes&quot;:[5,6,5,6,5,6]}"/>
</p:tagLst>
</file>

<file path=ppt/tags/tag2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3_3"/>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3_3"/>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BEAUTIFY_FLAG" val="#wm#"/>
  <p:tag name="KSO_WM_DIAGRAM_USE_COLOR_VALUE" val="{&quot;color_scheme&quot;:1,&quot;color_type&quot;:1,&quot;theme_color_indexes&quot;:[5,6,5,6,5,6]}"/>
</p:tagLst>
</file>

<file path=ppt/tags/tag2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3_4"/>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3_4"/>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solidLine&quot;:{&quot;brightness&quot;:0.4000000059604645,&quot;colorType&quot;:1,&quot;foreColorIndex&quot;:5,&quot;transparency&quot;:0.6499999761581421},&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BEAUTIFY_FLAG" val="#wm#"/>
  <p:tag name="KSO_WM_UNIT_LINE_FORE_SCHEMECOLOR_INDEX" val="5"/>
  <p:tag name="KSO_WM_DIAGRAM_USE_COLOR_VALUE" val="{&quot;color_scheme&quot;:1,&quot;color_type&quot;:1,&quot;theme_color_indexes&quot;:[5,6,5,6,5,6]}"/>
</p:tagLst>
</file>

<file path=ppt/tags/tag2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1_3"/>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1_3"/>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BEAUTIFY_FLAG" val="#wm#"/>
  <p:tag name="KSO_WM_DIAGRAM_USE_COLOR_VALUE" val="{&quot;color_scheme&quot;:1,&quot;color_type&quot;:1,&quot;theme_color_indexes&quot;:[5,6,5,6,5,6]}"/>
</p:tagLst>
</file>

<file path=ppt/tags/tag2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1_4"/>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1_4"/>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solidLine&quot;:{&quot;brightness&quot;:0.4000000059604645,&quot;colorType&quot;:1,&quot;foreColorIndex&quot;:5,&quot;transparency&quot;:0.6499999761581421},&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BEAUTIFY_FLAG" val="#wm#"/>
  <p:tag name="KSO_WM_UNIT_LINE_FORE_SCHEMECOLOR_INDEX" val="5"/>
  <p:tag name="KSO_WM_DIAGRAM_USE_COLOR_VALUE" val="{&quot;color_scheme&quot;:1,&quot;color_type&quot;:1,&quot;theme_color_indexes&quot;:[5,6,5,6,5,6]}"/>
</p:tagLst>
</file>

<file path=ppt/tags/tag26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976_2*l_h_a*1_1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26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976_2*l_h_f*1_1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请单击此处输入你的正文具体内容，文字是您思想的提炼，为了最终演示发布的良好效果，可酌情增减你的文字。"/>
  <p:tag name="KSO_WM_UNIT_TEXT_FILL_FORE_SCHEMECOLOR_INDEX" val="1"/>
  <p:tag name="KSO_WM_UNIT_TEXT_FILL_TYPE" val="1"/>
  <p:tag name="KSO_WM_DIAGRAM_USE_COLOR_VALUE" val="{&quot;color_scheme&quot;:1,&quot;color_type&quot;:1,&quot;theme_color_indexes&quot;:[5,6,5,6,5,6]}"/>
</p:tagLst>
</file>

<file path=ppt/tags/tag2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1_2"/>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1_2"/>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gradient&quot;:[{&quot;brightness&quot;:0,&quot;colorType&quot;:1,&quot;foreColorIndex&quot;:5,&quot;pos&quot;:1,&quot;transparency&quot;:0},{&quot;brightness&quot;:0.30000001192092896,&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2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1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1_1"/>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BEAUTIFY_FLAG" val="#wm#"/>
  <p:tag name="KSO_WM_DIAGRAM_USE_COLOR_VALUE" val="{&quot;color_scheme&quot;:1,&quot;color_type&quot;:1,&quot;theme_color_indexes&quot;:[5,6,5,6,5,6]}"/>
</p:tagLst>
</file>

<file path=ppt/tags/tag26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1976_2*l_h_a*1_3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26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1976_2*l_h_f*1_3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请单击此处输入你的正文具体内容，文字是您思想的提炼，为了最终演示发布的良好效果，根据需要可酌情增减你的文字。"/>
  <p:tag name="KSO_WM_UNIT_TEXT_FILL_FORE_SCHEMECOLOR_INDEX" val="1"/>
  <p:tag name="KSO_WM_UNIT_TEXT_FILL_TYPE" val="1"/>
  <p:tag name="KSO_WM_DIAGRAM_USE_COLOR_VALUE" val="{&quot;color_scheme&quot;:1,&quot;color_type&quot;:1,&quot;theme_color_indexes&quot;:[5,6,5,6,5,6]}"/>
</p:tagLst>
</file>

<file path=ppt/tags/tag2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3_2"/>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3_2"/>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gradient&quot;:[{&quot;brightness&quot;:0,&quot;colorType&quot;:1,&quot;foreColorIndex&quot;:5,&quot;pos&quot;:1,&quot;transparency&quot;:0},{&quot;brightness&quot;:0.30000001192092896,&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2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3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3_1"/>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BEAUTIFY_FLAG" val="#wm#"/>
  <p:tag name="KSO_WM_DIAGRAM_USE_COLOR_VALUE" val="{&quot;color_scheme&quot;:1,&quot;color_type&quot;:1,&quot;theme_color_indexes&quot;:[5,6,5,6,5,6]}"/>
</p:tagLst>
</file>

<file path=ppt/tags/tag26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976_2*l_h_a*1_2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27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1976_2*l_h_f*1_2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请单击此处输入你的正文具体内容，文字是您思想的提炼，为了最终演示发布的良好效果，根据需要可酌情增减你的文字。"/>
  <p:tag name="KSO_WM_UNIT_TEXT_FILL_FORE_SCHEMECOLOR_INDEX" val="1"/>
  <p:tag name="KSO_WM_UNIT_TEXT_FILL_TYPE" val="1"/>
  <p:tag name="KSO_WM_DIAGRAM_USE_COLOR_VALUE" val="{&quot;color_scheme&quot;:1,&quot;color_type&quot;:1,&quot;theme_color_indexes&quot;:[5,6,5,6,5,6]}"/>
</p:tagLst>
</file>

<file path=ppt/tags/tag2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2_2"/>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2_2"/>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gradient&quot;:[{&quot;brightness&quot;:0,&quot;colorType&quot;:1,&quot;foreColorIndex&quot;:5,&quot;pos&quot;:1,&quot;transparency&quot;:0},{&quot;brightness&quot;:0.30000001192092896,&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2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2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2_1"/>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BEAUTIFY_FLAG" val="#wm#"/>
  <p:tag name="KSO_WM_DIAGRAM_USE_COLOR_VALUE" val="{&quot;color_scheme&quot;:1,&quot;color_type&quot;:1,&quot;theme_color_indexes&quot;:[5,6,5,6,5,6]}"/>
</p:tagLst>
</file>

<file path=ppt/tags/tag27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4_1"/>
  <p:tag name="KSO_WM_UNIT_ID" val="diagram20231976_2*l_h_a*1_4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27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4_1"/>
  <p:tag name="KSO_WM_UNIT_ID" val="diagram20231976_2*l_h_f*1_4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请单击此处输入你的正文具体内容，文字是您思想的提炼，为了最终演示发布的良好效果，可酌情增减你的文字。"/>
  <p:tag name="KSO_WM_UNIT_TEXT_FILL_FORE_SCHEMECOLOR_INDEX" val="1"/>
  <p:tag name="KSO_WM_UNIT_TEXT_FILL_TYPE" val="1"/>
  <p:tag name="KSO_WM_DIAGRAM_USE_COLOR_VALUE" val="{&quot;color_scheme&quot;:1,&quot;color_type&quot;:1,&quot;theme_color_indexes&quot;:[5,6,5,6,5,6]}"/>
</p:tagLst>
</file>

<file path=ppt/tags/tag2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4_2"/>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4_2"/>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gradient&quot;:[{&quot;brightness&quot;:0,&quot;colorType&quot;:1,&quot;foreColorIndex&quot;:5,&quot;pos&quot;:1,&quot;transparency&quot;:0},{&quot;brightness&quot;:0.30000001192092896,&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2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4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4_1"/>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BEAUTIFY_FLAG" val="#wm#"/>
  <p:tag name="KSO_WM_DIAGRAM_USE_COLOR_VALUE" val="{&quot;color_scheme&quot;:1,&quot;color_type&quot;:1,&quot;theme_color_indexes&quot;:[5,6,5,6,5,6]}"/>
</p:tagLst>
</file>

<file path=ppt/tags/tag277.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278.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279.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280.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2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90.xml><?xml version="1.0" encoding="utf-8"?>
<p:tagLst xmlns:p="http://schemas.openxmlformats.org/presentationml/2006/main">
  <p:tag name="PA" val="v4.3.1"/>
</p:tagLst>
</file>

<file path=ppt/tags/tag291.xml><?xml version="1.0" encoding="utf-8"?>
<p:tagLst xmlns:p="http://schemas.openxmlformats.org/presentationml/2006/main">
  <p:tag name="PA" val="v4.3.1"/>
</p:tagLst>
</file>

<file path=ppt/tags/tag292.xml><?xml version="1.0" encoding="utf-8"?>
<p:tagLst xmlns:p="http://schemas.openxmlformats.org/presentationml/2006/main">
  <p:tag name="PA" val="v4.3.1"/>
</p:tagLst>
</file>

<file path=ppt/tags/tag293.xml><?xml version="1.0" encoding="utf-8"?>
<p:tagLst xmlns:p="http://schemas.openxmlformats.org/presentationml/2006/main">
  <p:tag name="PA" val="v4.3.1"/>
</p:tagLst>
</file>

<file path=ppt/tags/tag294.xml><?xml version="1.0" encoding="utf-8"?>
<p:tagLst xmlns:p="http://schemas.openxmlformats.org/presentationml/2006/main">
  <p:tag name="PA" val="v4.3.1"/>
</p:tagLst>
</file>

<file path=ppt/tags/tag295.xml><?xml version="1.0" encoding="utf-8"?>
<p:tagLst xmlns:p="http://schemas.openxmlformats.org/presentationml/2006/main">
  <p:tag name="KSO_WM_DIAGRAM_VIRTUALLY_FRAME" val="{&quot;height&quot;:389.6,&quot;left&quot;:211.45,&quot;top&quot;:116.65,&quot;width&quot;:477.55}"/>
</p:tagLst>
</file>

<file path=ppt/tags/tag296.xml><?xml version="1.0" encoding="utf-8"?>
<p:tagLst xmlns:p="http://schemas.openxmlformats.org/presentationml/2006/main">
  <p:tag name="KSO_WM_UNIT_TYPE" val="a"/>
  <p:tag name="KSO_WM_UNIT_INDEX" val="1"/>
  <p:tag name="KSO_WM_BEAUTIFY_FLAG" val="#wm#"/>
  <p:tag name="KSO_WM_TAG_VERSION" val="3.0"/>
  <p:tag name="KSO_WM_UNIT_ID" val="custom20238577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ISCONTENTSTITLE" val="0"/>
  <p:tag name="KSO_WM_UNIT_VALUE" val="14"/>
  <p:tag name="KSO_WM_UNIT_TEXT_TYPE" val="1"/>
  <p:tag name="KSO_WM_UNIT_PRESET_TEXT" val="单击此处添加&#10;章节标题"/>
</p:tagLst>
</file>

<file path=ppt/tags/tag297.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298.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299.xml><?xml version="1.0" encoding="utf-8"?>
<p:tagLst xmlns:p="http://schemas.openxmlformats.org/presentationml/2006/main">
  <p:tag name="TABLE_ENDDRAG_ORIGIN_RECT" val="396*169"/>
  <p:tag name="TABLE_ENDDRAG_RECT" val="51*94*396*169"/>
</p:tagLst>
</file>

<file path=ppt/tags/tag300.xml><?xml version="1.0" encoding="utf-8"?>
<p:tagLst xmlns:p="http://schemas.openxmlformats.org/presentationml/2006/main">
  <p:tag name="TABLE_ENDDRAG_ORIGIN_RECT" val="396*169"/>
  <p:tag name="TABLE_ENDDRAG_RECT" val="480*94*396*169"/>
</p:tagLst>
</file>

<file path=ppt/tags/tag301.xml><?xml version="1.0" encoding="utf-8"?>
<p:tagLst xmlns:p="http://schemas.openxmlformats.org/presentationml/2006/main">
  <p:tag name="TABLE_ENDDRAG_ORIGIN_RECT" val="396*169"/>
  <p:tag name="TABLE_ENDDRAG_RECT" val="51*273*396*169"/>
</p:tagLst>
</file>

<file path=ppt/tags/tag302.xml><?xml version="1.0" encoding="utf-8"?>
<p:tagLst xmlns:p="http://schemas.openxmlformats.org/presentationml/2006/main">
  <p:tag name="TABLE_ENDDRAG_ORIGIN_RECT" val="396*169"/>
  <p:tag name="TABLE_ENDDRAG_RECT" val="51*273*396*169"/>
</p:tagLst>
</file>

<file path=ppt/tags/tag303.xml><?xml version="1.0" encoding="utf-8"?>
<p:tagLst xmlns:p="http://schemas.openxmlformats.org/presentationml/2006/main">
  <p:tag name="KSO_WM_DIAGRAM_VIRTUALLY_FRAME" val="{&quot;height&quot;:389.6,&quot;left&quot;:211.45,&quot;top&quot;:116.65,&quot;width&quot;:477.55}"/>
</p:tagLst>
</file>

<file path=ppt/tags/tag304.xml><?xml version="1.0" encoding="utf-8"?>
<p:tagLst xmlns:p="http://schemas.openxmlformats.org/presentationml/2006/main">
  <p:tag name="KSO_WM_UNIT_TYPE" val="a"/>
  <p:tag name="KSO_WM_UNIT_INDEX" val="1"/>
  <p:tag name="KSO_WM_BEAUTIFY_FLAG" val="#wm#"/>
  <p:tag name="KSO_WM_TAG_VERSION" val="3.0"/>
  <p:tag name="KSO_WM_UNIT_ID" val="custom20238577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ISCONTENTSTITLE" val="0"/>
  <p:tag name="KSO_WM_UNIT_VALUE" val="14"/>
  <p:tag name="KSO_WM_UNIT_TEXT_TYPE" val="1"/>
  <p:tag name="KSO_WM_UNIT_PRESET_TEXT" val="单击此处添加&#10;章节标题"/>
</p:tagLst>
</file>

<file path=ppt/tags/tag305.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306.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307.xml><?xml version="1.0" encoding="utf-8"?>
<p:tagLst xmlns:p="http://schemas.openxmlformats.org/presentationml/2006/main">
  <p:tag name="KSO_WM_BEAUTIFY_FLAG" val=""/>
</p:tagLst>
</file>

<file path=ppt/tags/tag308.xml><?xml version="1.0" encoding="utf-8"?>
<p:tagLst xmlns:p="http://schemas.openxmlformats.org/presentationml/2006/main">
  <p:tag name="KSO_WM_BEAUTIFY_FLAG" val=""/>
</p:tagLst>
</file>

<file path=ppt/tags/tag309.xml><?xml version="1.0" encoding="utf-8"?>
<p:tagLst xmlns:p="http://schemas.openxmlformats.org/presentationml/2006/main">
  <p:tag name="KSO_WM_BEAUTIFY_FLAG" val=""/>
</p:tagLst>
</file>

<file path=ppt/tags/tag310.xml><?xml version="1.0" encoding="utf-8"?>
<p:tagLst xmlns:p="http://schemas.openxmlformats.org/presentationml/2006/main">
  <p:tag name="KSO_WM_BEAUTIFY_FLAG" val=""/>
</p:tagLst>
</file>

<file path=ppt/tags/tag311.xml><?xml version="1.0" encoding="utf-8"?>
<p:tagLst xmlns:p="http://schemas.openxmlformats.org/presentationml/2006/main">
  <p:tag name="KSO_WM_BEAUTIFY_FLAG" val=""/>
</p:tagLst>
</file>

<file path=ppt/tags/tag312.xml><?xml version="1.0" encoding="utf-8"?>
<p:tagLst xmlns:p="http://schemas.openxmlformats.org/presentationml/2006/main">
  <p:tag name="KSO_WM_BEAUTIFY_FLAG" val=""/>
</p:tagLst>
</file>

<file path=ppt/tags/tag313.xml><?xml version="1.0" encoding="utf-8"?>
<p:tagLst xmlns:p="http://schemas.openxmlformats.org/presentationml/2006/main">
  <p:tag name="KSO_WM_BEAUTIFY_FLAG" val=""/>
</p:tagLst>
</file>

<file path=ppt/tags/tag314.xml><?xml version="1.0" encoding="utf-8"?>
<p:tagLst xmlns:p="http://schemas.openxmlformats.org/presentationml/2006/main">
  <p:tag name="KSO_WM_BEAUTIFY_FLAG" val=""/>
</p:tagLst>
</file>

<file path=ppt/tags/tag315.xml><?xml version="1.0" encoding="utf-8"?>
<p:tagLst xmlns:p="http://schemas.openxmlformats.org/presentationml/2006/main">
  <p:tag name="KSO_WM_BEAUTIFY_FLAG" val=""/>
</p:tagLst>
</file>

<file path=ppt/tags/tag316.xml><?xml version="1.0" encoding="utf-8"?>
<p:tagLst xmlns:p="http://schemas.openxmlformats.org/presentationml/2006/main">
  <p:tag name="KSO_WM_BEAUTIFY_FLAG" val=""/>
</p:tagLst>
</file>

<file path=ppt/tags/tag317.xml><?xml version="1.0" encoding="utf-8"?>
<p:tagLst xmlns:p="http://schemas.openxmlformats.org/presentationml/2006/main">
  <p:tag name="KSO_WM_BEAUTIFY_FLAG" val=""/>
</p:tagLst>
</file>

<file path=ppt/tags/tag318.xml><?xml version="1.0" encoding="utf-8"?>
<p:tagLst xmlns:p="http://schemas.openxmlformats.org/presentationml/2006/main">
  <p:tag name="KSO_WM_BEAUTIFY_FLAG" val=""/>
</p:tagLst>
</file>

<file path=ppt/tags/tag319.xml><?xml version="1.0" encoding="utf-8"?>
<p:tagLst xmlns:p="http://schemas.openxmlformats.org/presentationml/2006/main">
  <p:tag name="KSO_WM_BEAUTIFY_FLAG" val=""/>
</p:tagLst>
</file>

<file path=ppt/tags/tag320.xml><?xml version="1.0" encoding="utf-8"?>
<p:tagLst xmlns:p="http://schemas.openxmlformats.org/presentationml/2006/main">
  <p:tag name="KSO_WM_BEAUTIFY_FLAG" val=""/>
</p:tagLst>
</file>

<file path=ppt/tags/tag321.xml><?xml version="1.0" encoding="utf-8"?>
<p:tagLst xmlns:p="http://schemas.openxmlformats.org/presentationml/2006/main">
  <p:tag name="KSO_WM_BEAUTIFY_FLAG" val=""/>
</p:tagLst>
</file>

<file path=ppt/tags/tag322.xml><?xml version="1.0" encoding="utf-8"?>
<p:tagLst xmlns:p="http://schemas.openxmlformats.org/presentationml/2006/main">
  <p:tag name="KSO_WM_BEAUTIFY_FLAG" val=""/>
</p:tagLst>
</file>

<file path=ppt/tags/tag323.xml><?xml version="1.0" encoding="utf-8"?>
<p:tagLst xmlns:p="http://schemas.openxmlformats.org/presentationml/2006/main">
  <p:tag name="KSO_WM_BEAUTIFY_FLAG" val=""/>
</p:tagLst>
</file>

<file path=ppt/tags/tag324.xml><?xml version="1.0" encoding="utf-8"?>
<p:tagLst xmlns:p="http://schemas.openxmlformats.org/presentationml/2006/main">
  <p:tag name="KSO_WM_BEAUTIFY_FLAG" val=""/>
</p:tagLst>
</file>

<file path=ppt/tags/tag325.xml><?xml version="1.0" encoding="utf-8"?>
<p:tagLst xmlns:p="http://schemas.openxmlformats.org/presentationml/2006/main">
  <p:tag name="KSO_WM_BEAUTIFY_FLAG" val=""/>
</p:tagLst>
</file>

<file path=ppt/tags/tag326.xml><?xml version="1.0" encoding="utf-8"?>
<p:tagLst xmlns:p="http://schemas.openxmlformats.org/presentationml/2006/main">
  <p:tag name="KSO_WM_BEAUTIFY_FLAG" val=""/>
</p:tagLst>
</file>

<file path=ppt/tags/tag327.xml><?xml version="1.0" encoding="utf-8"?>
<p:tagLst xmlns:p="http://schemas.openxmlformats.org/presentationml/2006/main">
  <p:tag name="KSO_WM_BEAUTIFY_FLAG" val=""/>
</p:tagLst>
</file>

<file path=ppt/tags/tag328.xml><?xml version="1.0" encoding="utf-8"?>
<p:tagLst xmlns:p="http://schemas.openxmlformats.org/presentationml/2006/main">
  <p:tag name="KSO_WM_BEAUTIFY_FLAG" val=""/>
</p:tagLst>
</file>

<file path=ppt/tags/tag329.xml><?xml version="1.0" encoding="utf-8"?>
<p:tagLst xmlns:p="http://schemas.openxmlformats.org/presentationml/2006/main">
  <p:tag name="KSO_WM_BEAUTIFY_FLAG" val=""/>
</p:tagLst>
</file>

<file path=ppt/tags/tag330.xml><?xml version="1.0" encoding="utf-8"?>
<p:tagLst xmlns:p="http://schemas.openxmlformats.org/presentationml/2006/main">
  <p:tag name="KSO_WM_BEAUTIFY_FLAG" val=""/>
</p:tagLst>
</file>

<file path=ppt/tags/tag331.xml><?xml version="1.0" encoding="utf-8"?>
<p:tagLst xmlns:p="http://schemas.openxmlformats.org/presentationml/2006/main">
  <p:tag name="KSO_WM_BEAUTIFY_FLAG" val=""/>
</p:tagLst>
</file>

<file path=ppt/tags/tag332.xml><?xml version="1.0" encoding="utf-8"?>
<p:tagLst xmlns:p="http://schemas.openxmlformats.org/presentationml/2006/main">
  <p:tag name="KSO_WM_BEAUTIFY_FLAG" val=""/>
</p:tagLst>
</file>

<file path=ppt/tags/tag333.xml><?xml version="1.0" encoding="utf-8"?>
<p:tagLst xmlns:p="http://schemas.openxmlformats.org/presentationml/2006/main">
  <p:tag name="KSO_WM_BEAUTIFY_FLAG" val=""/>
</p:tagLst>
</file>

<file path=ppt/tags/tag334.xml><?xml version="1.0" encoding="utf-8"?>
<p:tagLst xmlns:p="http://schemas.openxmlformats.org/presentationml/2006/main">
  <p:tag name="KSO_WM_BEAUTIFY_FLAG" val=""/>
</p:tagLst>
</file>

<file path=ppt/tags/tag335.xml><?xml version="1.0" encoding="utf-8"?>
<p:tagLst xmlns:p="http://schemas.openxmlformats.org/presentationml/2006/main">
  <p:tag name="KSO_WM_BEAUTIFY_FLAG" val=""/>
</p:tagLst>
</file>

<file path=ppt/tags/tag336.xml><?xml version="1.0" encoding="utf-8"?>
<p:tagLst xmlns:p="http://schemas.openxmlformats.org/presentationml/2006/main">
  <p:tag name="KSO_WM_BEAUTIFY_FLAG" val=""/>
</p:tagLst>
</file>

<file path=ppt/tags/tag337.xml><?xml version="1.0" encoding="utf-8"?>
<p:tagLst xmlns:p="http://schemas.openxmlformats.org/presentationml/2006/main">
  <p:tag name="KSO_WM_BEAUTIFY_FLAG" val=""/>
</p:tagLst>
</file>

<file path=ppt/tags/tag338.xml><?xml version="1.0" encoding="utf-8"?>
<p:tagLst xmlns:p="http://schemas.openxmlformats.org/presentationml/2006/main">
  <p:tag name="KSO_WM_BEAUTIFY_FLAG" val=""/>
</p:tagLst>
</file>

<file path=ppt/tags/tag339.xml><?xml version="1.0" encoding="utf-8"?>
<p:tagLst xmlns:p="http://schemas.openxmlformats.org/presentationml/2006/main">
  <p:tag name="KSO_WM_BEAUTIFY_FLAG" val=""/>
</p:tagLst>
</file>

<file path=ppt/tags/tag340.xml><?xml version="1.0" encoding="utf-8"?>
<p:tagLst xmlns:p="http://schemas.openxmlformats.org/presentationml/2006/main">
  <p:tag name="KSO_WM_BEAUTIFY_FLAG" val=""/>
</p:tagLst>
</file>

<file path=ppt/tags/tag341.xml><?xml version="1.0" encoding="utf-8"?>
<p:tagLst xmlns:p="http://schemas.openxmlformats.org/presentationml/2006/main">
  <p:tag name="KSO_WM_BEAUTIFY_FLAG" val=""/>
</p:tagLst>
</file>

<file path=ppt/tags/tag342.xml><?xml version="1.0" encoding="utf-8"?>
<p:tagLst xmlns:p="http://schemas.openxmlformats.org/presentationml/2006/main">
  <p:tag name="KSO_WM_BEAUTIFY_FLAG" val=""/>
</p:tagLst>
</file>

<file path=ppt/tags/tag343.xml><?xml version="1.0" encoding="utf-8"?>
<p:tagLst xmlns:p="http://schemas.openxmlformats.org/presentationml/2006/main">
  <p:tag name="PA" val="v4.3.1"/>
</p:tagLst>
</file>

<file path=ppt/tags/tag344.xml><?xml version="1.0" encoding="utf-8"?>
<p:tagLst xmlns:p="http://schemas.openxmlformats.org/presentationml/2006/main">
  <p:tag name="PA" val="v4.3.1"/>
</p:tagLst>
</file>

<file path=ppt/tags/tag345.xml><?xml version="1.0" encoding="utf-8"?>
<p:tagLst xmlns:p="http://schemas.openxmlformats.org/presentationml/2006/main">
  <p:tag name="KSO_WM_BEAUTIFY_FLAG" val=""/>
</p:tagLst>
</file>

<file path=ppt/tags/tag346.xml><?xml version="1.0" encoding="utf-8"?>
<p:tagLst xmlns:p="http://schemas.openxmlformats.org/presentationml/2006/main">
  <p:tag name="KSO_WM_BEAUTIFY_FLAG" val=""/>
</p:tagLst>
</file>

<file path=ppt/tags/tag347.xml><?xml version="1.0" encoding="utf-8"?>
<p:tagLst xmlns:p="http://schemas.openxmlformats.org/presentationml/2006/main">
  <p:tag name="KSO_WM_BEAUTIFY_FLAG" val=""/>
</p:tagLst>
</file>

<file path=ppt/tags/tag348.xml><?xml version="1.0" encoding="utf-8"?>
<p:tagLst xmlns:p="http://schemas.openxmlformats.org/presentationml/2006/main">
  <p:tag name="KSO_WM_BEAUTIFY_FLAG" val=""/>
</p:tagLst>
</file>

<file path=ppt/tags/tag349.xml><?xml version="1.0" encoding="utf-8"?>
<p:tagLst xmlns:p="http://schemas.openxmlformats.org/presentationml/2006/main">
  <p:tag name="KSO_WM_BEAUTIFY_FLAG" val=""/>
</p:tagLst>
</file>

<file path=ppt/tags/tag350.xml><?xml version="1.0" encoding="utf-8"?>
<p:tagLst xmlns:p="http://schemas.openxmlformats.org/presentationml/2006/main">
  <p:tag name="TABLE_ENDDRAG_ORIGIN_RECT" val="427*233"/>
  <p:tag name="TABLE_ENDDRAG_RECT" val="488*280*427*233"/>
</p:tagLst>
</file>

<file path=ppt/tags/tag351.xml><?xml version="1.0" encoding="utf-8"?>
<p:tagLst xmlns:p="http://schemas.openxmlformats.org/presentationml/2006/main">
  <p:tag name="PA" val="v4.3.1"/>
</p:tagLst>
</file>

<file path=ppt/tags/tag352.xml><?xml version="1.0" encoding="utf-8"?>
<p:tagLst xmlns:p="http://schemas.openxmlformats.org/presentationml/2006/main">
  <p:tag name="KSO_WM_BEAUTIFY_FLAG" val=""/>
</p:tagLst>
</file>

<file path=ppt/tags/tag353.xml><?xml version="1.0" encoding="utf-8"?>
<p:tagLst xmlns:p="http://schemas.openxmlformats.org/presentationml/2006/main">
  <p:tag name="KSO_WM_BEAUTIFY_FLAG" val=""/>
</p:tagLst>
</file>

<file path=ppt/tags/tag354.xml><?xml version="1.0" encoding="utf-8"?>
<p:tagLst xmlns:p="http://schemas.openxmlformats.org/presentationml/2006/main">
  <p:tag name="KSO_WM_BEAUTIFY_FLAG" val=""/>
</p:tagLst>
</file>

<file path=ppt/tags/tag355.xml><?xml version="1.0" encoding="utf-8"?>
<p:tagLst xmlns:p="http://schemas.openxmlformats.org/presentationml/2006/main">
  <p:tag name="KSO_WM_BEAUTIFY_FLAG" val=""/>
</p:tagLst>
</file>

<file path=ppt/tags/tag356.xml><?xml version="1.0" encoding="utf-8"?>
<p:tagLst xmlns:p="http://schemas.openxmlformats.org/presentationml/2006/main">
  <p:tag name="KSO_WM_BEAUTIFY_FLAG" val=""/>
</p:tagLst>
</file>

<file path=ppt/tags/tag357.xml><?xml version="1.0" encoding="utf-8"?>
<p:tagLst xmlns:p="http://schemas.openxmlformats.org/presentationml/2006/main">
  <p:tag name="KSO_WM_BEAUTIFY_FLAG" val=""/>
</p:tagLst>
</file>

<file path=ppt/tags/tag358.xml><?xml version="1.0" encoding="utf-8"?>
<p:tagLst xmlns:p="http://schemas.openxmlformats.org/presentationml/2006/main">
  <p:tag name="KSO_WM_BEAUTIFY_FLAG" val=""/>
</p:tagLst>
</file>

<file path=ppt/tags/tag359.xml><?xml version="1.0" encoding="utf-8"?>
<p:tagLst xmlns:p="http://schemas.openxmlformats.org/presentationml/2006/main">
  <p:tag name="KSO_WM_BEAUTIFY_FLAG" val=""/>
</p:tagLst>
</file>

<file path=ppt/tags/tag360.xml><?xml version="1.0" encoding="utf-8"?>
<p:tagLst xmlns:p="http://schemas.openxmlformats.org/presentationml/2006/main">
  <p:tag name="KSO_WM_BEAUTIFY_FLAG" val=""/>
</p:tagLst>
</file>

<file path=ppt/tags/tag361.xml><?xml version="1.0" encoding="utf-8"?>
<p:tagLst xmlns:p="http://schemas.openxmlformats.org/presentationml/2006/main">
  <p:tag name="KSO_WM_BEAUTIFY_FLAG" val=""/>
</p:tagLst>
</file>

<file path=ppt/tags/tag362.xml><?xml version="1.0" encoding="utf-8"?>
<p:tagLst xmlns:p="http://schemas.openxmlformats.org/presentationml/2006/main">
  <p:tag name="KSO_WM_BEAUTIFY_FLAG" val=""/>
</p:tagLst>
</file>

<file path=ppt/tags/tag363.xml><?xml version="1.0" encoding="utf-8"?>
<p:tagLst xmlns:p="http://schemas.openxmlformats.org/presentationml/2006/main">
  <p:tag name="KSO_WM_BEAUTIFY_FLAG" val=""/>
</p:tagLst>
</file>

<file path=ppt/tags/tag364.xml><?xml version="1.0" encoding="utf-8"?>
<p:tagLst xmlns:p="http://schemas.openxmlformats.org/presentationml/2006/main">
  <p:tag name="KSO_WM_BEAUTIFY_FLAG" val=""/>
</p:tagLst>
</file>

<file path=ppt/tags/tag365.xml><?xml version="1.0" encoding="utf-8"?>
<p:tagLst xmlns:p="http://schemas.openxmlformats.org/presentationml/2006/main">
  <p:tag name="KSO_WM_BEAUTIFY_FLAG" val=""/>
</p:tagLst>
</file>

<file path=ppt/tags/tag366.xml><?xml version="1.0" encoding="utf-8"?>
<p:tagLst xmlns:p="http://schemas.openxmlformats.org/presentationml/2006/main">
  <p:tag name="KSO_WM_BEAUTIFY_FLAG" val=""/>
</p:tagLst>
</file>

<file path=ppt/tags/tag367.xml><?xml version="1.0" encoding="utf-8"?>
<p:tagLst xmlns:p="http://schemas.openxmlformats.org/presentationml/2006/main">
  <p:tag name="KSO_WM_BEAUTIFY_FLAG" val=""/>
</p:tagLst>
</file>

<file path=ppt/tags/tag368.xml><?xml version="1.0" encoding="utf-8"?>
<p:tagLst xmlns:p="http://schemas.openxmlformats.org/presentationml/2006/main">
  <p:tag name="KSO_WM_BEAUTIFY_FLAG" val=""/>
</p:tagLst>
</file>

<file path=ppt/tags/tag369.xml><?xml version="1.0" encoding="utf-8"?>
<p:tagLst xmlns:p="http://schemas.openxmlformats.org/presentationml/2006/main">
  <p:tag name="KSO_WM_BEAUTIFY_FLAG" val=""/>
</p:tagLst>
</file>

<file path=ppt/tags/tag370.xml><?xml version="1.0" encoding="utf-8"?>
<p:tagLst xmlns:p="http://schemas.openxmlformats.org/presentationml/2006/main">
  <p:tag name="KSO_WM_BEAUTIFY_FLAG" val=""/>
</p:tagLst>
</file>

<file path=ppt/tags/tag371.xml><?xml version="1.0" encoding="utf-8"?>
<p:tagLst xmlns:p="http://schemas.openxmlformats.org/presentationml/2006/main">
  <p:tag name="KSO_WM_BEAUTIFY_FLAG" val=""/>
</p:tagLst>
</file>

<file path=ppt/tags/tag372.xml><?xml version="1.0" encoding="utf-8"?>
<p:tagLst xmlns:p="http://schemas.openxmlformats.org/presentationml/2006/main">
  <p:tag name="KSO_WM_BEAUTIFY_FLAG" val=""/>
</p:tagLst>
</file>

<file path=ppt/tags/tag373.xml><?xml version="1.0" encoding="utf-8"?>
<p:tagLst xmlns:p="http://schemas.openxmlformats.org/presentationml/2006/main">
  <p:tag name="KSO_WM_BEAUTIFY_FLAG" val=""/>
</p:tagLst>
</file>

<file path=ppt/tags/tag374.xml><?xml version="1.0" encoding="utf-8"?>
<p:tagLst xmlns:p="http://schemas.openxmlformats.org/presentationml/2006/main">
  <p:tag name="KSO_WM_BEAUTIFY_FLAG" val=""/>
</p:tagLst>
</file>

<file path=ppt/tags/tag375.xml><?xml version="1.0" encoding="utf-8"?>
<p:tagLst xmlns:p="http://schemas.openxmlformats.org/presentationml/2006/main">
  <p:tag name="KSO_WM_BEAUTIFY_FLAG" val=""/>
</p:tagLst>
</file>

<file path=ppt/tags/tag376.xml><?xml version="1.0" encoding="utf-8"?>
<p:tagLst xmlns:p="http://schemas.openxmlformats.org/presentationml/2006/main">
  <p:tag name="KSO_WM_BEAUTIFY_FLAG" val=""/>
</p:tagLst>
</file>

<file path=ppt/tags/tag377.xml><?xml version="1.0" encoding="utf-8"?>
<p:tagLst xmlns:p="http://schemas.openxmlformats.org/presentationml/2006/main">
  <p:tag name="KSO_WM_BEAUTIFY_FLAG" val=""/>
</p:tagLst>
</file>

<file path=ppt/tags/tag378.xml><?xml version="1.0" encoding="utf-8"?>
<p:tagLst xmlns:p="http://schemas.openxmlformats.org/presentationml/2006/main">
  <p:tag name="KSO_WM_BEAUTIFY_FLAG" val=""/>
</p:tagLst>
</file>

<file path=ppt/tags/tag379.xml><?xml version="1.0" encoding="utf-8"?>
<p:tagLst xmlns:p="http://schemas.openxmlformats.org/presentationml/2006/main">
  <p:tag name="KSO_WM_BEAUTIFY_FLAG" val=""/>
</p:tagLst>
</file>

<file path=ppt/tags/tag380.xml><?xml version="1.0" encoding="utf-8"?>
<p:tagLst xmlns:p="http://schemas.openxmlformats.org/presentationml/2006/main">
  <p:tag name="KSO_WM_BEAUTIFY_FLAG" val=""/>
</p:tagLst>
</file>

<file path=ppt/tags/tag381.xml><?xml version="1.0" encoding="utf-8"?>
<p:tagLst xmlns:p="http://schemas.openxmlformats.org/presentationml/2006/main">
  <p:tag name="KSO_WM_BEAUTIFY_FLAG" val=""/>
</p:tagLst>
</file>

<file path=ppt/tags/tag382.xml><?xml version="1.0" encoding="utf-8"?>
<p:tagLst xmlns:p="http://schemas.openxmlformats.org/presentationml/2006/main">
  <p:tag name="KSO_WM_BEAUTIFY_FLAG" val=""/>
</p:tagLst>
</file>

<file path=ppt/tags/tag383.xml><?xml version="1.0" encoding="utf-8"?>
<p:tagLst xmlns:p="http://schemas.openxmlformats.org/presentationml/2006/main">
  <p:tag name="KSO_WM_BEAUTIFY_FLAG" val=""/>
</p:tagLst>
</file>

<file path=ppt/tags/tag384.xml><?xml version="1.0" encoding="utf-8"?>
<p:tagLst xmlns:p="http://schemas.openxmlformats.org/presentationml/2006/main">
  <p:tag name="KSO_WM_BEAUTIFY_FLAG" val=""/>
</p:tagLst>
</file>

<file path=ppt/tags/tag385.xml><?xml version="1.0" encoding="utf-8"?>
<p:tagLst xmlns:p="http://schemas.openxmlformats.org/presentationml/2006/main">
  <p:tag name="KSO_WM_BEAUTIFY_FLAG" val=""/>
</p:tagLst>
</file>

<file path=ppt/tags/tag386.xml><?xml version="1.0" encoding="utf-8"?>
<p:tagLst xmlns:p="http://schemas.openxmlformats.org/presentationml/2006/main">
  <p:tag name="KSO_WM_BEAUTIFY_FLAG" val=""/>
</p:tagLst>
</file>

<file path=ppt/tags/tag387.xml><?xml version="1.0" encoding="utf-8"?>
<p:tagLst xmlns:p="http://schemas.openxmlformats.org/presentationml/2006/main">
  <p:tag name="KSO_WM_BEAUTIFY_FLAG" val=""/>
</p:tagLst>
</file>

<file path=ppt/tags/tag388.xml><?xml version="1.0" encoding="utf-8"?>
<p:tagLst xmlns:p="http://schemas.openxmlformats.org/presentationml/2006/main">
  <p:tag name="KSO_WM_BEAUTIFY_FLAG" val=""/>
</p:tagLst>
</file>

<file path=ppt/tags/tag389.xml><?xml version="1.0" encoding="utf-8"?>
<p:tagLst xmlns:p="http://schemas.openxmlformats.org/presentationml/2006/main">
  <p:tag name="KSO_WM_BEAUTIFY_FLAG" val=""/>
</p:tagLst>
</file>

<file path=ppt/tags/tag390.xml><?xml version="1.0" encoding="utf-8"?>
<p:tagLst xmlns:p="http://schemas.openxmlformats.org/presentationml/2006/main">
  <p:tag name="KSO_WM_BEAUTIFY_FLAG" val=""/>
</p:tagLst>
</file>

<file path=ppt/tags/tag391.xml><?xml version="1.0" encoding="utf-8"?>
<p:tagLst xmlns:p="http://schemas.openxmlformats.org/presentationml/2006/main">
  <p:tag name="KSO_WM_BEAUTIFY_FLAG" val=""/>
</p:tagLst>
</file>

<file path=ppt/tags/tag392.xml><?xml version="1.0" encoding="utf-8"?>
<p:tagLst xmlns:p="http://schemas.openxmlformats.org/presentationml/2006/main">
  <p:tag name="KSO_WM_BEAUTIFY_FLAG" val=""/>
</p:tagLst>
</file>

<file path=ppt/tags/tag393.xml><?xml version="1.0" encoding="utf-8"?>
<p:tagLst xmlns:p="http://schemas.openxmlformats.org/presentationml/2006/main">
  <p:tag name="KSO_WM_BEAUTIFY_FLAG" val=""/>
</p:tagLst>
</file>

<file path=ppt/tags/tag394.xml><?xml version="1.0" encoding="utf-8"?>
<p:tagLst xmlns:p="http://schemas.openxmlformats.org/presentationml/2006/main">
  <p:tag name="KSO_WM_BEAUTIFY_FLAG" val=""/>
</p:tagLst>
</file>

<file path=ppt/tags/tag395.xml><?xml version="1.0" encoding="utf-8"?>
<p:tagLst xmlns:p="http://schemas.openxmlformats.org/presentationml/2006/main">
  <p:tag name="KSO_WM_BEAUTIFY_FLAG" val=""/>
</p:tagLst>
</file>

<file path=ppt/tags/tag396.xml><?xml version="1.0" encoding="utf-8"?>
<p:tagLst xmlns:p="http://schemas.openxmlformats.org/presentationml/2006/main">
  <p:tag name="KSO_WM_BEAUTIFY_FLAG" val=""/>
</p:tagLst>
</file>

<file path=ppt/tags/tag397.xml><?xml version="1.0" encoding="utf-8"?>
<p:tagLst xmlns:p="http://schemas.openxmlformats.org/presentationml/2006/main">
  <p:tag name="KSO_WM_BEAUTIFY_FLAG" val=""/>
</p:tagLst>
</file>

<file path=ppt/tags/tag398.xml><?xml version="1.0" encoding="utf-8"?>
<p:tagLst xmlns:p="http://schemas.openxmlformats.org/presentationml/2006/main">
  <p:tag name="KSO_WM_BEAUTIFY_FLAG" val=""/>
</p:tagLst>
</file>

<file path=ppt/tags/tag399.xml><?xml version="1.0" encoding="utf-8"?>
<p:tagLst xmlns:p="http://schemas.openxmlformats.org/presentationml/2006/main">
  <p:tag name="KSO_WM_BEAUTIFY_FLAG" val=""/>
</p:tagLst>
</file>

<file path=ppt/tags/tag400.xml><?xml version="1.0" encoding="utf-8"?>
<p:tagLst xmlns:p="http://schemas.openxmlformats.org/presentationml/2006/main">
  <p:tag name="KSO_WM_BEAUTIFY_FLAG" val=""/>
</p:tagLst>
</file>

<file path=ppt/tags/tag401.xml><?xml version="1.0" encoding="utf-8"?>
<p:tagLst xmlns:p="http://schemas.openxmlformats.org/presentationml/2006/main">
  <p:tag name="KSO_WM_BEAUTIFY_FLAG" val=""/>
</p:tagLst>
</file>

<file path=ppt/tags/tag402.xml><?xml version="1.0" encoding="utf-8"?>
<p:tagLst xmlns:p="http://schemas.openxmlformats.org/presentationml/2006/main">
  <p:tag name="KSO_WM_BEAUTIFY_FLAG" val=""/>
</p:tagLst>
</file>

<file path=ppt/tags/tag403.xml><?xml version="1.0" encoding="utf-8"?>
<p:tagLst xmlns:p="http://schemas.openxmlformats.org/presentationml/2006/main">
  <p:tag name="KSO_WM_BEAUTIFY_FLAG" val=""/>
</p:tagLst>
</file>

<file path=ppt/tags/tag404.xml><?xml version="1.0" encoding="utf-8"?>
<p:tagLst xmlns:p="http://schemas.openxmlformats.org/presentationml/2006/main">
  <p:tag name="KSO_WM_BEAUTIFY_FLAG" val=""/>
</p:tagLst>
</file>

<file path=ppt/tags/tag405.xml><?xml version="1.0" encoding="utf-8"?>
<p:tagLst xmlns:p="http://schemas.openxmlformats.org/presentationml/2006/main">
  <p:tag name="KSO_WM_BEAUTIFY_FLAG" val=""/>
</p:tagLst>
</file>

<file path=ppt/tags/tag406.xml><?xml version="1.0" encoding="utf-8"?>
<p:tagLst xmlns:p="http://schemas.openxmlformats.org/presentationml/2006/main">
  <p:tag name="KSO_WM_BEAUTIFY_FLAG" val=""/>
</p:tagLst>
</file>

<file path=ppt/tags/tag407.xml><?xml version="1.0" encoding="utf-8"?>
<p:tagLst xmlns:p="http://schemas.openxmlformats.org/presentationml/2006/main">
  <p:tag name="KSO_WM_BEAUTIFY_FLAG" val=""/>
</p:tagLst>
</file>

<file path=ppt/tags/tag408.xml><?xml version="1.0" encoding="utf-8"?>
<p:tagLst xmlns:p="http://schemas.openxmlformats.org/presentationml/2006/main">
  <p:tag name="KSO_WM_BEAUTIFY_FLAG" val=""/>
</p:tagLst>
</file>

<file path=ppt/tags/tag409.xml><?xml version="1.0" encoding="utf-8"?>
<p:tagLst xmlns:p="http://schemas.openxmlformats.org/presentationml/2006/main">
  <p:tag name="KSO_WM_BEAUTIFY_FLAG" val=""/>
</p:tagLst>
</file>

<file path=ppt/tags/tag410.xml><?xml version="1.0" encoding="utf-8"?>
<p:tagLst xmlns:p="http://schemas.openxmlformats.org/presentationml/2006/main">
  <p:tag name="KSO_WM_BEAUTIFY_FLAG" val=""/>
</p:tagLst>
</file>

<file path=ppt/tags/tag411.xml><?xml version="1.0" encoding="utf-8"?>
<p:tagLst xmlns:p="http://schemas.openxmlformats.org/presentationml/2006/main">
  <p:tag name="KSO_WM_BEAUTIFY_FLAG" val=""/>
</p:tagLst>
</file>

<file path=ppt/tags/tag412.xml><?xml version="1.0" encoding="utf-8"?>
<p:tagLst xmlns:p="http://schemas.openxmlformats.org/presentationml/2006/main">
  <p:tag name="KSO_WM_BEAUTIFY_FLAG" val=""/>
</p:tagLst>
</file>

<file path=ppt/tags/tag413.xml><?xml version="1.0" encoding="utf-8"?>
<p:tagLst xmlns:p="http://schemas.openxmlformats.org/presentationml/2006/main">
  <p:tag name="KSO_WM_BEAUTIFY_FLAG" val=""/>
</p:tagLst>
</file>

<file path=ppt/tags/tag414.xml><?xml version="1.0" encoding="utf-8"?>
<p:tagLst xmlns:p="http://schemas.openxmlformats.org/presentationml/2006/main">
  <p:tag name="KSO_WM_BEAUTIFY_FLAG" val=""/>
</p:tagLst>
</file>

<file path=ppt/tags/tag415.xml><?xml version="1.0" encoding="utf-8"?>
<p:tagLst xmlns:p="http://schemas.openxmlformats.org/presentationml/2006/main">
  <p:tag name="KSO_WM_BEAUTIFY_FLAG" val=""/>
</p:tagLst>
</file>

<file path=ppt/tags/tag416.xml><?xml version="1.0" encoding="utf-8"?>
<p:tagLst xmlns:p="http://schemas.openxmlformats.org/presentationml/2006/main">
  <p:tag name="KSO_WM_BEAUTIFY_FLAG" val=""/>
</p:tagLst>
</file>

<file path=ppt/tags/tag417.xml><?xml version="1.0" encoding="utf-8"?>
<p:tagLst xmlns:p="http://schemas.openxmlformats.org/presentationml/2006/main">
  <p:tag name="KSO_WM_BEAUTIFY_FLAG" val=""/>
</p:tagLst>
</file>

<file path=ppt/tags/tag418.xml><?xml version="1.0" encoding="utf-8"?>
<p:tagLst xmlns:p="http://schemas.openxmlformats.org/presentationml/2006/main">
  <p:tag name="KSO_WM_BEAUTIFY_FLAG" val=""/>
</p:tagLst>
</file>

<file path=ppt/tags/tag419.xml><?xml version="1.0" encoding="utf-8"?>
<p:tagLst xmlns:p="http://schemas.openxmlformats.org/presentationml/2006/main">
  <p:tag name="KSO_WM_BEAUTIFY_FLAG" val=""/>
</p:tagLst>
</file>

<file path=ppt/tags/tag420.xml><?xml version="1.0" encoding="utf-8"?>
<p:tagLst xmlns:p="http://schemas.openxmlformats.org/presentationml/2006/main">
  <p:tag name="KSO_WM_BEAUTIFY_FLAG" val=""/>
</p:tagLst>
</file>

<file path=ppt/tags/tag421.xml><?xml version="1.0" encoding="utf-8"?>
<p:tagLst xmlns:p="http://schemas.openxmlformats.org/presentationml/2006/main">
  <p:tag name="KSO_WM_BEAUTIFY_FLAG" val=""/>
</p:tagLst>
</file>

<file path=ppt/tags/tag422.xml><?xml version="1.0" encoding="utf-8"?>
<p:tagLst xmlns:p="http://schemas.openxmlformats.org/presentationml/2006/main">
  <p:tag name="KSO_WM_BEAUTIFY_FLAG" val=""/>
</p:tagLst>
</file>

<file path=ppt/tags/tag423.xml><?xml version="1.0" encoding="utf-8"?>
<p:tagLst xmlns:p="http://schemas.openxmlformats.org/presentationml/2006/main">
  <p:tag name="KSO_WM_BEAUTIFY_FLAG" val=""/>
</p:tagLst>
</file>

<file path=ppt/tags/tag424.xml><?xml version="1.0" encoding="utf-8"?>
<p:tagLst xmlns:p="http://schemas.openxmlformats.org/presentationml/2006/main">
  <p:tag name="KSO_WM_BEAUTIFY_FLAG" val=""/>
</p:tagLst>
</file>

<file path=ppt/tags/tag425.xml><?xml version="1.0" encoding="utf-8"?>
<p:tagLst xmlns:p="http://schemas.openxmlformats.org/presentationml/2006/main">
  <p:tag name="KSO_WM_BEAUTIFY_FLAG" val=""/>
</p:tagLst>
</file>

<file path=ppt/tags/tag426.xml><?xml version="1.0" encoding="utf-8"?>
<p:tagLst xmlns:p="http://schemas.openxmlformats.org/presentationml/2006/main">
  <p:tag name="KSO_WM_BEAUTIFY_FLAG" val=""/>
</p:tagLst>
</file>

<file path=ppt/tags/tag427.xml><?xml version="1.0" encoding="utf-8"?>
<p:tagLst xmlns:p="http://schemas.openxmlformats.org/presentationml/2006/main">
  <p:tag name="KSO_WM_BEAUTIFY_FLAG" val=""/>
</p:tagLst>
</file>

<file path=ppt/tags/tag428.xml><?xml version="1.0" encoding="utf-8"?>
<p:tagLst xmlns:p="http://schemas.openxmlformats.org/presentationml/2006/main">
  <p:tag name="KSO_WM_BEAUTIFY_FLAG" val=""/>
</p:tagLst>
</file>

<file path=ppt/tags/tag429.xml><?xml version="1.0" encoding="utf-8"?>
<p:tagLst xmlns:p="http://schemas.openxmlformats.org/presentationml/2006/main">
  <p:tag name="KSO_WM_BEAUTIFY_FLAG" val=""/>
</p:tagLst>
</file>

<file path=ppt/tags/tag430.xml><?xml version="1.0" encoding="utf-8"?>
<p:tagLst xmlns:p="http://schemas.openxmlformats.org/presentationml/2006/main">
  <p:tag name="KSO_WM_BEAUTIFY_FLAG" val=""/>
</p:tagLst>
</file>

<file path=ppt/tags/tag431.xml><?xml version="1.0" encoding="utf-8"?>
<p:tagLst xmlns:p="http://schemas.openxmlformats.org/presentationml/2006/main">
  <p:tag name="KSO_WM_BEAUTIFY_FLAG" val=""/>
</p:tagLst>
</file>

<file path=ppt/tags/tag432.xml><?xml version="1.0" encoding="utf-8"?>
<p:tagLst xmlns:p="http://schemas.openxmlformats.org/presentationml/2006/main">
  <p:tag name="KSO_WM_BEAUTIFY_FLAG" val=""/>
</p:tagLst>
</file>

<file path=ppt/tags/tag433.xml><?xml version="1.0" encoding="utf-8"?>
<p:tagLst xmlns:p="http://schemas.openxmlformats.org/presentationml/2006/main">
  <p:tag name="KSO_WM_BEAUTIFY_FLAG" val=""/>
</p:tagLst>
</file>

<file path=ppt/tags/tag434.xml><?xml version="1.0" encoding="utf-8"?>
<p:tagLst xmlns:p="http://schemas.openxmlformats.org/presentationml/2006/main">
  <p:tag name="KSO_WM_BEAUTIFY_FLAG" val=""/>
</p:tagLst>
</file>

<file path=ppt/tags/tag435.xml><?xml version="1.0" encoding="utf-8"?>
<p:tagLst xmlns:p="http://schemas.openxmlformats.org/presentationml/2006/main">
  <p:tag name="KSO_WM_BEAUTIFY_FLAG" val=""/>
</p:tagLst>
</file>

<file path=ppt/tags/tag436.xml><?xml version="1.0" encoding="utf-8"?>
<p:tagLst xmlns:p="http://schemas.openxmlformats.org/presentationml/2006/main">
  <p:tag name="KSO_WM_BEAUTIFY_FLAG" val=""/>
</p:tagLst>
</file>

<file path=ppt/tags/tag437.xml><?xml version="1.0" encoding="utf-8"?>
<p:tagLst xmlns:p="http://schemas.openxmlformats.org/presentationml/2006/main">
  <p:tag name="KSO_WM_BEAUTIFY_FLAG" val=""/>
</p:tagLst>
</file>

<file path=ppt/tags/tag438.xml><?xml version="1.0" encoding="utf-8"?>
<p:tagLst xmlns:p="http://schemas.openxmlformats.org/presentationml/2006/main">
  <p:tag name="KSO_WM_BEAUTIFY_FLAG" val=""/>
</p:tagLst>
</file>

<file path=ppt/tags/tag439.xml><?xml version="1.0" encoding="utf-8"?>
<p:tagLst xmlns:p="http://schemas.openxmlformats.org/presentationml/2006/main">
  <p:tag name="KSO_WM_BEAUTIFY_FLAG" val=""/>
</p:tagLst>
</file>

<file path=ppt/tags/tag440.xml><?xml version="1.0" encoding="utf-8"?>
<p:tagLst xmlns:p="http://schemas.openxmlformats.org/presentationml/2006/main">
  <p:tag name="KSO_WM_BEAUTIFY_FLAG" val=""/>
</p:tagLst>
</file>

<file path=ppt/tags/tag441.xml><?xml version="1.0" encoding="utf-8"?>
<p:tagLst xmlns:p="http://schemas.openxmlformats.org/presentationml/2006/main">
  <p:tag name="KSO_WM_BEAUTIFY_FLAG" val=""/>
</p:tagLst>
</file>

<file path=ppt/tags/tag442.xml><?xml version="1.0" encoding="utf-8"?>
<p:tagLst xmlns:p="http://schemas.openxmlformats.org/presentationml/2006/main">
  <p:tag name="KSO_WM_BEAUTIFY_FLAG" val=""/>
</p:tagLst>
</file>

<file path=ppt/tags/tag443.xml><?xml version="1.0" encoding="utf-8"?>
<p:tagLst xmlns:p="http://schemas.openxmlformats.org/presentationml/2006/main">
  <p:tag name="KSO_WM_BEAUTIFY_FLAG" val=""/>
</p:tagLst>
</file>

<file path=ppt/tags/tag444.xml><?xml version="1.0" encoding="utf-8"?>
<p:tagLst xmlns:p="http://schemas.openxmlformats.org/presentationml/2006/main">
  <p:tag name="KSO_WM_BEAUTIFY_FLAG" val=""/>
</p:tagLst>
</file>

<file path=ppt/tags/tag445.xml><?xml version="1.0" encoding="utf-8"?>
<p:tagLst xmlns:p="http://schemas.openxmlformats.org/presentationml/2006/main">
  <p:tag name="KSO_WM_BEAUTIFY_FLAG" val=""/>
</p:tagLst>
</file>

<file path=ppt/tags/tag446.xml><?xml version="1.0" encoding="utf-8"?>
<p:tagLst xmlns:p="http://schemas.openxmlformats.org/presentationml/2006/main">
  <p:tag name="KSO_WM_BEAUTIFY_FLAG" val=""/>
</p:tagLst>
</file>

<file path=ppt/tags/tag447.xml><?xml version="1.0" encoding="utf-8"?>
<p:tagLst xmlns:p="http://schemas.openxmlformats.org/presentationml/2006/main">
  <p:tag name="KSO_WM_BEAUTIFY_FLAG" val=""/>
</p:tagLst>
</file>

<file path=ppt/tags/tag448.xml><?xml version="1.0" encoding="utf-8"?>
<p:tagLst xmlns:p="http://schemas.openxmlformats.org/presentationml/2006/main">
  <p:tag name="KSO_WM_BEAUTIFY_FLAG" val=""/>
</p:tagLst>
</file>

<file path=ppt/tags/tag449.xml><?xml version="1.0" encoding="utf-8"?>
<p:tagLst xmlns:p="http://schemas.openxmlformats.org/presentationml/2006/main">
  <p:tag name="KSO_WM_BEAUTIFY_FLAG" val=""/>
</p:tagLst>
</file>

<file path=ppt/tags/tag450.xml><?xml version="1.0" encoding="utf-8"?>
<p:tagLst xmlns:p="http://schemas.openxmlformats.org/presentationml/2006/main">
  <p:tag name="KSO_WM_BEAUTIFY_FLAG" val=""/>
</p:tagLst>
</file>

<file path=ppt/tags/tag451.xml><?xml version="1.0" encoding="utf-8"?>
<p:tagLst xmlns:p="http://schemas.openxmlformats.org/presentationml/2006/main">
  <p:tag name="KSO_WM_BEAUTIFY_FLAG" val=""/>
</p:tagLst>
</file>

<file path=ppt/tags/tag452.xml><?xml version="1.0" encoding="utf-8"?>
<p:tagLst xmlns:p="http://schemas.openxmlformats.org/presentationml/2006/main">
  <p:tag name="KSO_WM_BEAUTIFY_FLAG" val=""/>
</p:tagLst>
</file>

<file path=ppt/tags/tag453.xml><?xml version="1.0" encoding="utf-8"?>
<p:tagLst xmlns:p="http://schemas.openxmlformats.org/presentationml/2006/main">
  <p:tag name="KSO_WM_BEAUTIFY_FLAG" val=""/>
</p:tagLst>
</file>

<file path=ppt/tags/tag454.xml><?xml version="1.0" encoding="utf-8"?>
<p:tagLst xmlns:p="http://schemas.openxmlformats.org/presentationml/2006/main">
  <p:tag name="KSO_WM_BEAUTIFY_FLAG" val=""/>
</p:tagLst>
</file>

<file path=ppt/tags/tag455.xml><?xml version="1.0" encoding="utf-8"?>
<p:tagLst xmlns:p="http://schemas.openxmlformats.org/presentationml/2006/main">
  <p:tag name="KSO_WM_BEAUTIFY_FLAG" val=""/>
</p:tagLst>
</file>

<file path=ppt/tags/tag456.xml><?xml version="1.0" encoding="utf-8"?>
<p:tagLst xmlns:p="http://schemas.openxmlformats.org/presentationml/2006/main">
  <p:tag name="KSO_WM_BEAUTIFY_FLAG" val=""/>
</p:tagLst>
</file>

<file path=ppt/tags/tag457.xml><?xml version="1.0" encoding="utf-8"?>
<p:tagLst xmlns:p="http://schemas.openxmlformats.org/presentationml/2006/main">
  <p:tag name="KSO_WM_BEAUTIFY_FLAG" val=""/>
</p:tagLst>
</file>

<file path=ppt/tags/tag458.xml><?xml version="1.0" encoding="utf-8"?>
<p:tagLst xmlns:p="http://schemas.openxmlformats.org/presentationml/2006/main">
  <p:tag name="KSO_WM_BEAUTIFY_FLAG" val=""/>
</p:tagLst>
</file>

<file path=ppt/tags/tag459.xml><?xml version="1.0" encoding="utf-8"?>
<p:tagLst xmlns:p="http://schemas.openxmlformats.org/presentationml/2006/main">
  <p:tag name="KSO_WM_BEAUTIFY_FLAG" val=""/>
</p:tagLst>
</file>

<file path=ppt/tags/tag460.xml><?xml version="1.0" encoding="utf-8"?>
<p:tagLst xmlns:p="http://schemas.openxmlformats.org/presentationml/2006/main">
  <p:tag name="KSO_WM_BEAUTIFY_FLAG" val=""/>
</p:tagLst>
</file>

<file path=ppt/tags/tag461.xml><?xml version="1.0" encoding="utf-8"?>
<p:tagLst xmlns:p="http://schemas.openxmlformats.org/presentationml/2006/main">
  <p:tag name="KSO_WM_BEAUTIFY_FLAG" val=""/>
</p:tagLst>
</file>

<file path=ppt/tags/tag462.xml><?xml version="1.0" encoding="utf-8"?>
<p:tagLst xmlns:p="http://schemas.openxmlformats.org/presentationml/2006/main">
  <p:tag name="KSO_WM_BEAUTIFY_FLAG" val=""/>
</p:tagLst>
</file>

<file path=ppt/tags/tag463.xml><?xml version="1.0" encoding="utf-8"?>
<p:tagLst xmlns:p="http://schemas.openxmlformats.org/presentationml/2006/main">
  <p:tag name="KSO_WM_BEAUTIFY_FLAG" val=""/>
</p:tagLst>
</file>

<file path=ppt/tags/tag464.xml><?xml version="1.0" encoding="utf-8"?>
<p:tagLst xmlns:p="http://schemas.openxmlformats.org/presentationml/2006/main">
  <p:tag name="KSO_WM_BEAUTIFY_FLAG" val=""/>
</p:tagLst>
</file>

<file path=ppt/tags/tag465.xml><?xml version="1.0" encoding="utf-8"?>
<p:tagLst xmlns:p="http://schemas.openxmlformats.org/presentationml/2006/main">
  <p:tag name="KSO_WM_BEAUTIFY_FLAG" val=""/>
</p:tagLst>
</file>

<file path=ppt/tags/tag466.xml><?xml version="1.0" encoding="utf-8"?>
<p:tagLst xmlns:p="http://schemas.openxmlformats.org/presentationml/2006/main">
  <p:tag name="KSO_WM_BEAUTIFY_FLAG" val=""/>
</p:tagLst>
</file>

<file path=ppt/tags/tag467.xml><?xml version="1.0" encoding="utf-8"?>
<p:tagLst xmlns:p="http://schemas.openxmlformats.org/presentationml/2006/main">
  <p:tag name="KSO_WM_BEAUTIFY_FLAG" val=""/>
</p:tagLst>
</file>

<file path=ppt/tags/tag468.xml><?xml version="1.0" encoding="utf-8"?>
<p:tagLst xmlns:p="http://schemas.openxmlformats.org/presentationml/2006/main">
  <p:tag name="KSO_WM_DIAGRAM_VIRTUALLY_FRAME" val="{&quot;height&quot;:389.6,&quot;left&quot;:211.45,&quot;top&quot;:116.65,&quot;width&quot;:477.55}"/>
</p:tagLst>
</file>

<file path=ppt/tags/tag469.xml><?xml version="1.0" encoding="utf-8"?>
<p:tagLst xmlns:p="http://schemas.openxmlformats.org/presentationml/2006/main">
  <p:tag name="KSO_WM_UNIT_TYPE" val="a"/>
  <p:tag name="KSO_WM_UNIT_INDEX" val="1"/>
  <p:tag name="KSO_WM_BEAUTIFY_FLAG" val="#wm#"/>
  <p:tag name="KSO_WM_TAG_VERSION" val="3.0"/>
  <p:tag name="KSO_WM_UNIT_ID" val="custom20238577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ISCONTENTSTITLE" val="0"/>
  <p:tag name="KSO_WM_UNIT_VALUE" val="14"/>
  <p:tag name="KSO_WM_UNIT_TEXT_TYPE" val="1"/>
  <p:tag name="KSO_WM_UNIT_PRESET_TEXT" val="单击此处添加&#10;章节标题"/>
</p:tagLst>
</file>

<file path=ppt/tags/tag470.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471.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472.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36951_3*l_h_i*1_1_3"/>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solidLine&quot;:{&quot;brightness&quot;:0.4000000059604645,&quot;colorType&quot;:1,&quot;foreColorIndex&quot;:5,&quot;transparency&quot;:0.20000000298023224},&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9,10,9,10,9,10]}"/>
</p:tagLst>
</file>

<file path=ppt/tags/tag473.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6951_3*l_h_i*1_1_2"/>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solid&quot;:{&quot;brightness&quot;:0,&quot;colorType&quot;:1,&quot;foreColorIndex&quot;:16,&quot;transparency&quot;:0},&quot;type&quot;:1},&quot;glow&quot;:{&quot;colorType&quot;:0},&quot;line&quot;:{&quot;type&quot;:0},&quot;shadow&quot;:{&quot;brightness&quot;:0,&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6"/>
  <p:tag name="KSO_WM_UNIT_FILL_FORE_SCHEMECOLOR_INDEX_BRIGHTNESS" val="0"/>
  <p:tag name="KSO_WM_DIAGRAM_USE_COLOR_VALUE" val="{&quot;color_scheme&quot;:1,&quot;color_type&quot;:1,&quot;theme_color_indexes&quot;:[9,10,9,10,9,10]}"/>
</p:tagLst>
</file>

<file path=ppt/tags/tag474.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6951_3*l_h_i*1_1_1"/>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solid&quot;:{&quot;brightness&quot;:0,&quot;colorType&quot;:2,&quot;rgb&quot;:&quot;#ffffff&quot;,&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475.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6951_3*l_h_f*1_1_1"/>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VALUE" val="45"/>
  <p:tag name="KSO_WM_UNIT_PRESET_TEXT" val="单击此处添加你的文本具体内容。&#10;单击此处添加文本具体内容。"/>
  <p:tag name="KSO_WM_UNIT_TEXT_FILL_FORE_SCHEMECOLOR_INDEX" val="1"/>
  <p:tag name="KSO_WM_UNIT_TEXT_FILL_TYPE" val="1"/>
  <p:tag name="KSO_WM_DIAGRAM_USE_COLOR_VALUE" val="{&quot;color_scheme&quot;:1,&quot;color_type&quot;:1,&quot;theme_color_indexes&quot;:[9,10,9,10,9,10]}"/>
</p:tagLst>
</file>

<file path=ppt/tags/tag476.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6951_3*l_h_a*1_1_1"/>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ISCONTENTSTITLE" val="0"/>
  <p:tag name="KSO_WM_UNIT_ISNUMDGMTITLE" val="0"/>
  <p:tag name="KSO_WM_UNIT_VALUE" val="6"/>
  <p:tag name="KSO_WM_UNIT_PRESET_TEXT" val="添加标题"/>
  <p:tag name="KSO_WM_UNIT_TEXT_FILL_FORE_SCHEMECOLOR_INDEX" val="1"/>
  <p:tag name="KSO_WM_UNIT_TEXT_FILL_TYPE" val="1"/>
  <p:tag name="KSO_WM_DIAGRAM_USE_COLOR_VALUE" val="{&quot;color_scheme&quot;:1,&quot;color_type&quot;:1,&quot;theme_color_indexes&quot;:[9,10,9,10,9,10]}"/>
</p:tagLst>
</file>

<file path=ppt/tags/tag477.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20236951_3*l_h_i*1_2_3"/>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solidLine&quot;:{&quot;brightness&quot;:0.4000000059604645,&quot;colorType&quot;:1,&quot;foreColorIndex&quot;:5,&quot;transparency&quot;:0.20000000298023224},&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9,10,9,10,9,10]}"/>
</p:tagLst>
</file>

<file path=ppt/tags/tag478.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6951_3*l_h_i*1_2_2"/>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solid&quot;:{&quot;brightness&quot;:0,&quot;colorType&quot;:1,&quot;foreColorIndex&quot;:16,&quot;transparency&quot;:0},&quot;type&quot;:1},&quot;glow&quot;:{&quot;colorType&quot;:0},&quot;line&quot;:{&quot;type&quot;:0},&quot;shadow&quot;:{&quot;brightness&quot;:0,&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6"/>
  <p:tag name="KSO_WM_UNIT_FILL_FORE_SCHEMECOLOR_INDEX_BRIGHTNESS" val="0"/>
  <p:tag name="KSO_WM_DIAGRAM_USE_COLOR_VALUE" val="{&quot;color_scheme&quot;:1,&quot;color_type&quot;:1,&quot;theme_color_indexes&quot;:[9,10,9,10,9,10]}"/>
</p:tagLst>
</file>

<file path=ppt/tags/tag479.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6951_3*l_h_i*1_2_1"/>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solid&quot;:{&quot;brightness&quot;:0,&quot;colorType&quot;:2,&quot;rgb&quot;:&quot;#ffffff&quot;,&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480.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6951_3*l_h_f*1_2_1"/>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VALUE" val="45"/>
  <p:tag name="KSO_WM_UNIT_PRESET_TEXT" val="单击此处添加正文。&#10;文字是您思想的提炼，请言简意赅的阐述您的观点。"/>
  <p:tag name="KSO_WM_UNIT_TEXT_FILL_FORE_SCHEMECOLOR_INDEX" val="1"/>
  <p:tag name="KSO_WM_UNIT_TEXT_FILL_TYPE" val="1"/>
  <p:tag name="KSO_WM_DIAGRAM_USE_COLOR_VALUE" val="{&quot;color_scheme&quot;:1,&quot;color_type&quot;:1,&quot;theme_color_indexes&quot;:[9,10,9,10,9,10]}"/>
</p:tagLst>
</file>

<file path=ppt/tags/tag481.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6951_3*l_h_a*1_2_1"/>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ISCONTENTSTITLE" val="0"/>
  <p:tag name="KSO_WM_UNIT_ISNUMDGMTITLE" val="0"/>
  <p:tag name="KSO_WM_UNIT_VALUE" val="6"/>
  <p:tag name="KSO_WM_UNIT_PRESET_TEXT" val="添加标题"/>
  <p:tag name="KSO_WM_UNIT_TEXT_FILL_FORE_SCHEMECOLOR_INDEX" val="1"/>
  <p:tag name="KSO_WM_UNIT_TEXT_FILL_TYPE" val="1"/>
  <p:tag name="KSO_WM_DIAGRAM_USE_COLOR_VALUE" val="{&quot;color_scheme&quot;:1,&quot;color_type&quot;:1,&quot;theme_color_indexes&quot;:[9,10,9,10,9,10]}"/>
</p:tagLst>
</file>

<file path=ppt/tags/tag482.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3"/>
  <p:tag name="KSO_WM_UNIT_ID" val="diagram20236951_3*l_h_i*1_3_3"/>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solidLine&quot;:{&quot;brightness&quot;:0.4000000059604645,&quot;colorType&quot;:1,&quot;foreColorIndex&quot;:5,&quot;transparency&quot;:0.20000000298023224},&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9,10,9,10,9,10]}"/>
</p:tagLst>
</file>

<file path=ppt/tags/tag483.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6951_3*l_h_i*1_3_2"/>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solid&quot;:{&quot;brightness&quot;:0,&quot;colorType&quot;:1,&quot;foreColorIndex&quot;:16,&quot;transparency&quot;:0},&quot;type&quot;:1},&quot;glow&quot;:{&quot;colorType&quot;:0},&quot;line&quot;:{&quot;type&quot;:0},&quot;shadow&quot;:{&quot;brightness&quot;:0,&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6"/>
  <p:tag name="KSO_WM_UNIT_FILL_FORE_SCHEMECOLOR_INDEX_BRIGHTNESS" val="0"/>
  <p:tag name="KSO_WM_DIAGRAM_USE_COLOR_VALUE" val="{&quot;color_scheme&quot;:1,&quot;color_type&quot;:1,&quot;theme_color_indexes&quot;:[9,10,9,10,9,10]}"/>
</p:tagLst>
</file>

<file path=ppt/tags/tag484.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36951_3*l_h_i*1_3_1"/>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solid&quot;:{&quot;brightness&quot;:0,&quot;colorType&quot;:2,&quot;rgb&quot;:&quot;#ffffff&quot;,&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485.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6951_3*l_h_f*1_3_1"/>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VALUE" val="45"/>
  <p:tag name="KSO_WM_UNIT_PRESET_TEXT" val="单击此处添加你的文本具体内容。&#10;单击此处添加文本具体内容。"/>
  <p:tag name="KSO_WM_UNIT_TEXT_FILL_FORE_SCHEMECOLOR_INDEX" val="1"/>
  <p:tag name="KSO_WM_UNIT_TEXT_FILL_TYPE" val="1"/>
  <p:tag name="KSO_WM_DIAGRAM_USE_COLOR_VALUE" val="{&quot;color_scheme&quot;:1,&quot;color_type&quot;:1,&quot;theme_color_indexes&quot;:[9,10,9,10,9,10]}"/>
</p:tagLst>
</file>

<file path=ppt/tags/tag486.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6951_3*l_h_a*1_3_1"/>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ISCONTENTSTITLE" val="0"/>
  <p:tag name="KSO_WM_UNIT_ISNUMDGMTITLE" val="0"/>
  <p:tag name="KSO_WM_UNIT_VALUE" val="6"/>
  <p:tag name="KSO_WM_UNIT_PRESET_TEXT" val="添加标题"/>
  <p:tag name="KSO_WM_UNIT_TEXT_FILL_FORE_SCHEMECOLOR_INDEX" val="1"/>
  <p:tag name="KSO_WM_UNIT_TEXT_FILL_TYPE" val="1"/>
  <p:tag name="KSO_WM_DIAGRAM_USE_COLOR_VALUE" val="{&quot;color_scheme&quot;:1,&quot;color_type&quot;:1,&quot;theme_color_indexes&quot;:[9,10,9,10,9,10]}"/>
</p:tagLst>
</file>

<file path=ppt/tags/tag487.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4_3"/>
  <p:tag name="KSO_WM_UNIT_ID" val="diagram20236951_3*l_h_i*1_4_3"/>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solidLine&quot;:{&quot;brightness&quot;:0.4000000059604645,&quot;colorType&quot;:1,&quot;foreColorIndex&quot;:5,&quot;transparency&quot;:0.20000000298023224},&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9,10,9,10,9,10]}"/>
</p:tagLst>
</file>

<file path=ppt/tags/tag488.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diagram20236951_3*l_h_i*1_4_2"/>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solid&quot;:{&quot;brightness&quot;:0,&quot;colorType&quot;:1,&quot;foreColorIndex&quot;:16,&quot;transparency&quot;:0},&quot;type&quot;:1},&quot;glow&quot;:{&quot;colorType&quot;:0},&quot;line&quot;:{&quot;type&quot;:0},&quot;shadow&quot;:{&quot;brightness&quot;:0,&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6"/>
  <p:tag name="KSO_WM_UNIT_FILL_FORE_SCHEMECOLOR_INDEX_BRIGHTNESS" val="0"/>
  <p:tag name="KSO_WM_DIAGRAM_USE_COLOR_VALUE" val="{&quot;color_scheme&quot;:1,&quot;color_type&quot;:1,&quot;theme_color_indexes&quot;:[9,10,9,10,9,10]}"/>
</p:tagLst>
</file>

<file path=ppt/tags/tag489.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20236951_3*l_h_i*1_4_1"/>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solid&quot;:{&quot;brightness&quot;:0,&quot;colorType&quot;:2,&quot;rgb&quot;:&quot;#ffffff&quot;,&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490.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6951_3*l_h_f*1_4_1"/>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VALUE" val="45"/>
  <p:tag name="KSO_WM_UNIT_PRESET_TEXT" val="单击此处添加正文。&#10;文字是您思想的提炼，请言简意赅的阐述您的观点。"/>
  <p:tag name="KSO_WM_UNIT_TEXT_FILL_FORE_SCHEMECOLOR_INDEX" val="1"/>
  <p:tag name="KSO_WM_UNIT_TEXT_FILL_TYPE" val="1"/>
  <p:tag name="KSO_WM_DIAGRAM_USE_COLOR_VALUE" val="{&quot;color_scheme&quot;:1,&quot;color_type&quot;:1,&quot;theme_color_indexes&quot;:[9,10,9,10,9,10]}"/>
</p:tagLst>
</file>

<file path=ppt/tags/tag491.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20236951_3*l_h_a*1_4_1"/>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ISCONTENTSTITLE" val="0"/>
  <p:tag name="KSO_WM_UNIT_ISNUMDGMTITLE" val="0"/>
  <p:tag name="KSO_WM_UNIT_VALUE" val="6"/>
  <p:tag name="KSO_WM_UNIT_PRESET_TEXT" val="添加标题"/>
  <p:tag name="KSO_WM_UNIT_TEXT_FILL_FORE_SCHEMECOLOR_INDEX" val="1"/>
  <p:tag name="KSO_WM_UNIT_TEXT_FILL_TYPE" val="1"/>
  <p:tag name="KSO_WM_DIAGRAM_USE_COLOR_VALUE" val="{&quot;color_scheme&quot;:1,&quot;color_type&quot;:1,&quot;theme_color_indexes&quot;:[9,10,9,10,9,10]}"/>
</p:tagLst>
</file>

<file path=ppt/tags/tag492.xml><?xml version="1.0" encoding="utf-8"?>
<p:tagLst xmlns:p="http://schemas.openxmlformats.org/presentationml/2006/main">
  <p:tag name="resource_record_key" val="{&quot;10&quot;:[21571666,21547652,20253287,3481656,50035314,21552069,21576169,4588957,21550782,4522474,50021858,3634889,21570670,50024265,50041117,21572500,21581987,50042277,50043352,17421794,3659203,21566645,3639535,4521268],&quot;13&quot;:[20025430],&quot;65&quot;:[20238577],&quot;70&quot;:[3330157,3312290,3333581,3312385]}"/>
  <p:tag name="commondata" val="eyJoZGlkIjoiNzBiN2QxNGQ4NjIwZWE5Mjc3ZDY1N2NlMGYwOTU3MDUifQ=="/>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简约星环线条职场办公">
  <a:themeElements>
    <a:clrScheme name="">
      <a:dk1>
        <a:srgbClr val="000000"/>
      </a:dk1>
      <a:lt1>
        <a:srgbClr val="FFFFFF"/>
      </a:lt1>
      <a:dk2>
        <a:srgbClr val="262626"/>
      </a:dk2>
      <a:lt2>
        <a:srgbClr val="E5F8FF"/>
      </a:lt2>
      <a:accent1>
        <a:srgbClr val="6364FF"/>
      </a:accent1>
      <a:accent2>
        <a:srgbClr val="00E701"/>
      </a:accent2>
      <a:accent3>
        <a:srgbClr val="FFCF37"/>
      </a:accent3>
      <a:accent4>
        <a:srgbClr val="E45458"/>
      </a:accent4>
      <a:accent5>
        <a:srgbClr val="21C384"/>
      </a:accent5>
      <a:accent6>
        <a:srgbClr val="00A5F2"/>
      </a:accent6>
      <a:hlink>
        <a:srgbClr val="0026E5"/>
      </a:hlink>
      <a:folHlink>
        <a:srgbClr val="7E1FAD"/>
      </a:folHlink>
    </a:clrScheme>
    <a:fontScheme name="主题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彩色5">
    <a:dk1>
      <a:srgbClr val="000000"/>
    </a:dk1>
    <a:lt1>
      <a:srgbClr val="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0</TotalTime>
  <Words>14107</Words>
  <Application>WPS 演示</Application>
  <PresentationFormat/>
  <Paragraphs>1243</Paragraphs>
  <Slides>25</Slides>
  <Notes>0</Notes>
  <HiddenSlides>0</HiddenSlides>
  <MMClips>0</MMClips>
  <ScaleCrop>false</ScaleCrop>
  <HeadingPairs>
    <vt:vector size="6" baseType="variant">
      <vt:variant>
        <vt:lpstr>已用的字体</vt:lpstr>
      </vt:variant>
      <vt:variant>
        <vt:i4>24</vt:i4>
      </vt:variant>
      <vt:variant>
        <vt:lpstr>主题</vt:lpstr>
      </vt:variant>
      <vt:variant>
        <vt:i4>2</vt:i4>
      </vt:variant>
      <vt:variant>
        <vt:lpstr>幻灯片标题</vt:lpstr>
      </vt:variant>
      <vt:variant>
        <vt:i4>25</vt:i4>
      </vt:variant>
    </vt:vector>
  </HeadingPairs>
  <TitlesOfParts>
    <vt:vector size="51" baseType="lpstr">
      <vt:lpstr>Arial</vt:lpstr>
      <vt:lpstr>宋体</vt:lpstr>
      <vt:lpstr>Wingdings</vt:lpstr>
      <vt:lpstr>Calibri</vt:lpstr>
      <vt:lpstr>微软雅黑</vt:lpstr>
      <vt:lpstr>Helvetica Neue</vt:lpstr>
      <vt:lpstr>黑体</vt:lpstr>
      <vt:lpstr>Source Han Sans CN Bold</vt:lpstr>
      <vt:lpstr>Source Han Sans CN</vt:lpstr>
      <vt:lpstr>DINPro Bold</vt:lpstr>
      <vt:lpstr>Source Han Sans CN Regular</vt:lpstr>
      <vt:lpstr>Calibri</vt:lpstr>
      <vt:lpstr>Arial</vt:lpstr>
      <vt:lpstr>Source Han Sans CN Medium</vt:lpstr>
      <vt:lpstr>Source Han Sans CN Normal</vt:lpstr>
      <vt:lpstr>Wingdings</vt:lpstr>
      <vt:lpstr>微软雅黑</vt:lpstr>
      <vt:lpstr>Times New Roman</vt:lpstr>
      <vt:lpstr>Arial Unicode MS</vt:lpstr>
      <vt:lpstr>等线</vt:lpstr>
      <vt:lpstr>隶书</vt:lpstr>
      <vt:lpstr>Impact</vt:lpstr>
      <vt:lpstr>Microsoft YaHei UI</vt:lpstr>
      <vt:lpstr>Myriad Pro</vt:lpstr>
      <vt:lpstr>Office theme</vt:lpstr>
      <vt:lpstr>简约星环线条职场办公</vt:lpstr>
      <vt:lpstr>PowerPoint 演示文稿</vt:lpstr>
      <vt:lpstr>PowerPoint 演示文稿</vt:lpstr>
      <vt:lpstr>项目背景回顾</vt:lpstr>
      <vt:lpstr>PowerPoint 演示文稿</vt:lpstr>
      <vt:lpstr>PowerPoint 演示文稿</vt:lpstr>
      <vt:lpstr>运营目标达成情况</vt:lpstr>
      <vt:lpstr>PowerPoint 演示文稿</vt:lpstr>
      <vt:lpstr>PowerPoint 演示文稿</vt:lpstr>
      <vt:lpstr>PowerPoint 演示文稿</vt:lpstr>
      <vt:lpstr>详细工作内容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关键问题与解决方案</vt:lpstr>
      <vt:lpstr>PowerPoint 演示文稿</vt:lpstr>
      <vt:lpstr>下阶段工作规划</vt:lpstr>
      <vt:lpstr>PowerPoint 演示文稿</vt:lpstr>
      <vt:lpstr>PowerPoint 演示文稿</vt:lpstr>
      <vt:lpstr>总结与建议</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π</cp:lastModifiedBy>
  <cp:revision>232</cp:revision>
  <dcterms:created xsi:type="dcterms:W3CDTF">2026-02-06T08:36:00Z</dcterms:created>
  <dcterms:modified xsi:type="dcterms:W3CDTF">2026-04-01T07:24:34Z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O">
    <vt:lpwstr>wqlLaW5nc29mdCBQREYgdG8gV1BTIDExMEI</vt:lpwstr>
  </property>
  <property fmtid="{D5CDD505-2E9C-101B-9397-08002B2CF9AE}" pid="3" name="Created">
    <vt:filetime>2025-08-04T01:35:42Z</vt:filetime>
  </property>
  <property fmtid="{D5CDD505-2E9C-101B-9397-08002B2CF9AE}" pid="4" name="UsrData">
    <vt:lpwstr>687eeadea43bea0020547dd2wl</vt:lpwstr>
  </property>
  <property fmtid="{D5CDD505-2E9C-101B-9397-08002B2CF9AE}" pid="5" name="ICV">
    <vt:lpwstr>F68207EBAF53B43B88948068403FDFF7_43</vt:lpwstr>
  </property>
  <property fmtid="{D5CDD505-2E9C-101B-9397-08002B2CF9AE}" pid="6" name="KSOProductBuildVer">
    <vt:lpwstr>2052-12.1.0.25225</vt:lpwstr>
  </property>
</Properties>
</file>