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1.svg" ContentType="image/svg+xml"/>
  <Override PartName="/ppt/media/image1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75.svg" ContentType="image/svg+xml"/>
  <Override PartName="/ppt/media/image77.svg" ContentType="image/svg+xml"/>
  <Override PartName="/ppt/media/image81.svg" ContentType="image/svg+xml"/>
  <Override PartName="/ppt/media/image83.svg" ContentType="image/svg+xml"/>
  <Override PartName="/ppt/media/image85.svg" ContentType="image/svg+xml"/>
  <Override PartName="/ppt/media/image9.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notesMasterIdLst>
    <p:notesMasterId r:id="rId5"/>
  </p:notesMasterIdLst>
  <p:handoutMasterIdLst>
    <p:handoutMasterId r:id="rId30"/>
  </p:handoutMasterIdLst>
  <p:sldIdLst>
    <p:sldId id="339" r:id="rId4"/>
    <p:sldId id="346" r:id="rId6"/>
    <p:sldId id="341" r:id="rId7"/>
    <p:sldId id="338" r:id="rId8"/>
    <p:sldId id="332" r:id="rId9"/>
    <p:sldId id="342" r:id="rId10"/>
    <p:sldId id="337" r:id="rId11"/>
    <p:sldId id="345" r:id="rId12"/>
    <p:sldId id="344" r:id="rId13"/>
    <p:sldId id="293" r:id="rId14"/>
    <p:sldId id="304" r:id="rId15"/>
    <p:sldId id="301" r:id="rId16"/>
    <p:sldId id="268" r:id="rId17"/>
    <p:sldId id="265" r:id="rId18"/>
    <p:sldId id="271" r:id="rId19"/>
    <p:sldId id="269" r:id="rId20"/>
    <p:sldId id="267" r:id="rId21"/>
    <p:sldId id="295" r:id="rId22"/>
    <p:sldId id="277" r:id="rId23"/>
    <p:sldId id="296" r:id="rId24"/>
    <p:sldId id="327" r:id="rId25"/>
    <p:sldId id="278" r:id="rId26"/>
    <p:sldId id="297" r:id="rId27"/>
    <p:sldId id="316" r:id="rId28"/>
    <p:sldId id="331"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49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4793630b-2df1-4b2a-b00c-0cbcfb4b0a72}"/>
      </c:ext>
    </c:extLst>
  </c:chart>
  <c:spPr>
    <a:noFill/>
    <a:ln w="9525" cap="flat" cmpd="sng" algn="ctr">
      <a:noFill/>
      <a:prstDash val="solid"/>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a658a0f1-1560-4f81-b5b6-a4593fe9335a}"/>
      </c:ext>
    </c:extLst>
  </c:chart>
  <c:spPr>
    <a:noFill/>
    <a:ln w="9525" cap="flat" cmpd="sng" algn="ctr">
      <a:noFill/>
      <a:prstDash val="solid"/>
      <a:round/>
    </a:ln>
    <a:effectLst/>
  </c:spPr>
  <c:txPr>
    <a:bodyPr/>
    <a:lstStyle/>
    <a:p>
      <a:pPr>
        <a:defRPr lang="zh-CN" b="0">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'[很多鱼安全运营工作报告-20250801.xlsx]数据统计'!$F$73:$F$77</c:f>
              <c:strCache>
                <c:ptCount val="5"/>
                <c:pt idx="0">
                  <c:v>服务器</c:v>
                </c:pt>
                <c:pt idx="1">
                  <c:v>终端</c:v>
                </c:pt>
                <c:pt idx="2">
                  <c:v>网络设备</c:v>
                </c:pt>
                <c:pt idx="3">
                  <c:v>安全设备</c:v>
                </c:pt>
                <c:pt idx="4">
                  <c:v>物联网设备</c:v>
                </c:pt>
              </c:strCache>
            </c:strRef>
          </c:cat>
          <c:val>
            <c:numRef>
              <c:f>'[很多鱼安全运营工作报告-20250801.xlsx]数据统计'!$G$73:$G$77</c:f>
              <c:numCache>
                <c:formatCode>General</c:formatCode>
                <c:ptCount val="5"/>
                <c:pt idx="0">
                  <c:v>125</c:v>
                </c:pt>
                <c:pt idx="1">
                  <c:v>31</c:v>
                </c:pt>
                <c:pt idx="2">
                  <c:v>12</c:v>
                </c:pt>
                <c:pt idx="3">
                  <c:v>23</c:v>
                </c:pt>
                <c:pt idx="4">
                  <c:v>10</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2842459804959"/>
          <c:y val="0.255978230895547"/>
        </c:manualLayout>
      </c:layout>
      <c:overlay val="0"/>
      <c:spPr>
        <a:noFill/>
        <a:ln>
          <a:noFill/>
        </a:ln>
        <a:effectLst/>
      </c:spPr>
      <c:txPr>
        <a:bodyPr rot="0" spcFirstLastPara="0" vertOverflow="ellipsis" vert="horz" wrap="square"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881721be-47fb-4271-a6bb-de979ce1bfa8}"/>
      </c:ext>
    </c:extLst>
  </c:chart>
  <c:spPr>
    <a:noFill/>
    <a:ln w="6350" cap="flat" cmpd="sng" algn="ctr">
      <a:noFill/>
      <a:round/>
    </a:ln>
    <a:effectLst/>
  </c:spPr>
  <c:txPr>
    <a:bodyPr/>
    <a:lstStyle/>
    <a:p>
      <a:pPr>
        <a:defRPr lang="zh-CN" sz="8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b682e7dd-3b1c-4a06-a80c-367c575f5e7a}"/>
      </c:ext>
    </c:extLst>
  </c:chart>
  <c:spPr>
    <a:noFill/>
    <a:ln w="6350" cap="flat" cmpd="sng" algn="ctr">
      <a:noFill/>
      <a:round/>
    </a:ln>
    <a:effectLst/>
  </c:spPr>
  <c:txPr>
    <a:bodyPr/>
    <a:lstStyle/>
    <a:p>
      <a:pPr>
        <a:defRPr lang="zh-CN" sz="8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今天启动的XXX客户云网端安全托管服务项目，运营周期从XX年XX月XX日至XX年XX月XX日。在这段时间里，我们将提供7*24H全时守护。这意味着无论何时何地，我们的安全团队都时刻保持警觉，就像忠诚的卫士守护着业务的安全。
我们提供的安全服务不仅是一种保障，更是业务稳定运行的护航者。通过先进的技术和专业的团队，我们能有效抵御各种安全威胁，降低风险，为业务发展创造稳定的环境。让我们携手共进，为客户的业务安全保驾护航。</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当下，国家对信息安全的重视程度与日俱增，相关政策要求企业强化防护能力，接受更严格监管。同时，单位业务快速发展，信息安全风险防控成为经营风险管理的关键。在此背景下，本项目意义重大。
项目将从网络、应用、系统安全等方面提升单位信息化安全运营水平。通过引入专业安全团队和云网端一体化方案，构建平战结合的安全运营体系。
具体而言，项目可降低资产脆弱性风险，减少黑客可乘之机，有效应对监管通报，保障业务合规；建立7*24小时安全威胁检测与响应机制，保障数字化业务零事故，规避业务损失；构建安全问题主动闭环机制，提高业务系统安全水平。</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安全运营计划与执行机制需进行详细的计划制定与动作分解。年度安全运营目标明确，要实现7*24小时防范网络安全事故，业务系统保护、通报问题应对和安全问题闭环均达100%，安全告警响应</a:t>
            </a:r>
            <a:r>
              <a:rPr lang="zh-CN" altLang="en-US"/>
              <a:t>平均</a:t>
            </a:r>
            <a:r>
              <a:rPr lang="en-US" altLang="en-US">
                <a:sym typeface="+mn-ea"/>
              </a:rPr>
              <a:t>控制在</a:t>
            </a:r>
            <a:r>
              <a:rPr lang="en-US" altLang="en-US"/>
              <a:t>30分钟内。
按季度划分，Q1从12月到2月，要完成实施、上线和首次报告，进行组件接入、服务启动和首次安全体检等；Q2从3月到5月，开展威胁监测、脆弱性利用问题监测等；Q3从6月到8月，持续运营并进行半年度复盘；Q4从9月到11月，持续运营并进行年度总结。
在时间维度上，实时和每日进行安全态势总结分析，每周和每月有运营周报、月报，每季度有运营季报，每半年有半年度运营总结。如此全面规划，能确保安全运营工作有序推进。</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slideLayout" Target="../slideLayouts/slideLayout10.xml"/><Relationship Id="rId2" Type="http://schemas.openxmlformats.org/officeDocument/2006/relationships/slideLayout" Target="../slideLayouts/slideLayout9.xml"/><Relationship Id="rId10"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1" Type="http://schemas.openxmlformats.org/officeDocument/2006/relationships/notesSlide" Target="../notesSlides/notesSlide2.xml"/><Relationship Id="rId20" Type="http://schemas.openxmlformats.org/officeDocument/2006/relationships/slideLayout" Target="../slideLayouts/slideLayout6.xml"/><Relationship Id="rId2" Type="http://schemas.openxmlformats.org/officeDocument/2006/relationships/tags" Target="../tags/tag27.xml"/><Relationship Id="rId19" Type="http://schemas.openxmlformats.org/officeDocument/2006/relationships/tags" Target="../tags/tag42.xml"/><Relationship Id="rId18" Type="http://schemas.openxmlformats.org/officeDocument/2006/relationships/image" Target="../media/image7.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image" Target="../media/image6.png"/><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6.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6.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1" Type="http://schemas.openxmlformats.org/officeDocument/2006/relationships/notesSlide" Target="../notesSlides/notesSlide4.xml"/><Relationship Id="rId50" Type="http://schemas.openxmlformats.org/officeDocument/2006/relationships/slideLayout" Target="../slideLayouts/slideLayout1.xml"/><Relationship Id="rId5" Type="http://schemas.openxmlformats.org/officeDocument/2006/relationships/tags" Target="../tags/tag49.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image" Target="../media/image13.svg"/><Relationship Id="rId43" Type="http://schemas.openxmlformats.org/officeDocument/2006/relationships/image" Target="../media/image12.png"/><Relationship Id="rId42" Type="http://schemas.openxmlformats.org/officeDocument/2006/relationships/tags" Target="../tags/tag82.xml"/><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image" Target="../media/image6.png"/><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8.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image" Target="../media/image11.svg"/><Relationship Id="rId26" Type="http://schemas.openxmlformats.org/officeDocument/2006/relationships/image" Target="../media/image10.png"/><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tags" Target="../tags/tag47.xml"/><Relationship Id="rId19" Type="http://schemas.openxmlformats.org/officeDocument/2006/relationships/tags" Target="../tags/tag61.xml"/><Relationship Id="rId18" Type="http://schemas.openxmlformats.org/officeDocument/2006/relationships/image" Target="../media/image9.svg"/><Relationship Id="rId17" Type="http://schemas.openxmlformats.org/officeDocument/2006/relationships/image" Target="../media/image8.png"/><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5" Type="http://schemas.openxmlformats.org/officeDocument/2006/relationships/notesSlide" Target="../notesSlides/notesSlide5.xml"/><Relationship Id="rId34" Type="http://schemas.openxmlformats.org/officeDocument/2006/relationships/slideLayout" Target="../slideLayouts/slideLayout1.xml"/><Relationship Id="rId33" Type="http://schemas.openxmlformats.org/officeDocument/2006/relationships/image" Target="../media/image23.png"/><Relationship Id="rId32" Type="http://schemas.openxmlformats.org/officeDocument/2006/relationships/image" Target="../media/image22.png"/><Relationship Id="rId31" Type="http://schemas.openxmlformats.org/officeDocument/2006/relationships/tags" Target="../tags/tag109.xml"/><Relationship Id="rId30" Type="http://schemas.openxmlformats.org/officeDocument/2006/relationships/tags" Target="../tags/tag108.xml"/><Relationship Id="rId3" Type="http://schemas.openxmlformats.org/officeDocument/2006/relationships/tags" Target="../tags/tag89.xml"/><Relationship Id="rId29" Type="http://schemas.openxmlformats.org/officeDocument/2006/relationships/tags" Target="../tags/tag107.xml"/><Relationship Id="rId28" Type="http://schemas.openxmlformats.org/officeDocument/2006/relationships/tags" Target="../tags/tag106.xml"/><Relationship Id="rId27" Type="http://schemas.openxmlformats.org/officeDocument/2006/relationships/tags" Target="../tags/tag105.xml"/><Relationship Id="rId26" Type="http://schemas.openxmlformats.org/officeDocument/2006/relationships/image" Target="../media/image21.png"/><Relationship Id="rId25" Type="http://schemas.openxmlformats.org/officeDocument/2006/relationships/image" Target="../media/image20.png"/><Relationship Id="rId24" Type="http://schemas.openxmlformats.org/officeDocument/2006/relationships/image" Target="../media/image19.png"/><Relationship Id="rId23" Type="http://schemas.openxmlformats.org/officeDocument/2006/relationships/image" Target="../media/image18.png"/><Relationship Id="rId22" Type="http://schemas.openxmlformats.org/officeDocument/2006/relationships/image" Target="../media/image17.png"/><Relationship Id="rId21" Type="http://schemas.openxmlformats.org/officeDocument/2006/relationships/image" Target="../media/image16.png"/><Relationship Id="rId20" Type="http://schemas.openxmlformats.org/officeDocument/2006/relationships/image" Target="../media/image15.png"/><Relationship Id="rId2" Type="http://schemas.openxmlformats.org/officeDocument/2006/relationships/tags" Target="../tags/tag88.xml"/><Relationship Id="rId19" Type="http://schemas.openxmlformats.org/officeDocument/2006/relationships/image" Target="../media/image6.png"/><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6.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1" Type="http://schemas.openxmlformats.org/officeDocument/2006/relationships/notesSlide" Target="../notesSlides/notesSlide7.xml"/><Relationship Id="rId40" Type="http://schemas.openxmlformats.org/officeDocument/2006/relationships/slideLayout" Target="../slideLayouts/slideLayout6.xml"/><Relationship Id="rId4" Type="http://schemas.openxmlformats.org/officeDocument/2006/relationships/tags" Target="../tags/tag117.xml"/><Relationship Id="rId39" Type="http://schemas.openxmlformats.org/officeDocument/2006/relationships/tags" Target="../tags/tag151.xml"/><Relationship Id="rId38" Type="http://schemas.openxmlformats.org/officeDocument/2006/relationships/tags" Target="../tags/tag150.xml"/><Relationship Id="rId37" Type="http://schemas.openxmlformats.org/officeDocument/2006/relationships/tags" Target="../tags/tag149.xml"/><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tags" Target="../tags/tag146.xml"/><Relationship Id="rId33" Type="http://schemas.openxmlformats.org/officeDocument/2006/relationships/tags" Target="../tags/tag145.xml"/><Relationship Id="rId32" Type="http://schemas.openxmlformats.org/officeDocument/2006/relationships/image" Target="../media/image6.png"/><Relationship Id="rId31" Type="http://schemas.openxmlformats.org/officeDocument/2006/relationships/tags" Target="../tags/tag144.xml"/><Relationship Id="rId30" Type="http://schemas.openxmlformats.org/officeDocument/2006/relationships/tags" Target="../tags/tag143.xml"/><Relationship Id="rId3" Type="http://schemas.openxmlformats.org/officeDocument/2006/relationships/tags" Target="../tags/tag116.xml"/><Relationship Id="rId29" Type="http://schemas.openxmlformats.org/officeDocument/2006/relationships/tags" Target="../tags/tag142.xml"/><Relationship Id="rId28" Type="http://schemas.openxmlformats.org/officeDocument/2006/relationships/tags" Target="../tags/tag141.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image" Target="../media/image14.png"/><Relationship Id="rId4" Type="http://schemas.openxmlformats.org/officeDocument/2006/relationships/image" Target="../media/image6.png"/><Relationship Id="rId32" Type="http://schemas.openxmlformats.org/officeDocument/2006/relationships/notesSlide" Target="../notesSlides/notesSlide8.xml"/><Relationship Id="rId31" Type="http://schemas.openxmlformats.org/officeDocument/2006/relationships/slideLayout" Target="../slideLayouts/slideLayout6.xml"/><Relationship Id="rId30" Type="http://schemas.openxmlformats.org/officeDocument/2006/relationships/image" Target="../media/image19.png"/><Relationship Id="rId3" Type="http://schemas.openxmlformats.org/officeDocument/2006/relationships/tags" Target="../tags/tag154.xml"/><Relationship Id="rId29" Type="http://schemas.openxmlformats.org/officeDocument/2006/relationships/image" Target="../media/image23.png"/><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tags" Target="../tags/tag153.xml"/><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image" Target="../media/image24.png"/><Relationship Id="rId46" Type="http://schemas.openxmlformats.org/officeDocument/2006/relationships/notesSlide" Target="../notesSlides/notesSlide9.xml"/><Relationship Id="rId45" Type="http://schemas.openxmlformats.org/officeDocument/2006/relationships/slideLayout" Target="../slideLayouts/slideLayout1.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4.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image" Target="../media/image6.png"/><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3.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17.xml"/><Relationship Id="rId4" Type="http://schemas.openxmlformats.org/officeDocument/2006/relationships/image" Target="../media/image6.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1.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image" Target="../media/image6.png"/><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232.xml"/><Relationship Id="rId26" Type="http://schemas.openxmlformats.org/officeDocument/2006/relationships/image" Target="../media/image32.svg"/><Relationship Id="rId25" Type="http://schemas.openxmlformats.org/officeDocument/2006/relationships/image" Target="../media/image31.png"/><Relationship Id="rId24" Type="http://schemas.openxmlformats.org/officeDocument/2006/relationships/image" Target="../media/image30.svg"/><Relationship Id="rId23" Type="http://schemas.openxmlformats.org/officeDocument/2006/relationships/image" Target="../media/image29.png"/><Relationship Id="rId22" Type="http://schemas.openxmlformats.org/officeDocument/2006/relationships/image" Target="../media/image28.svg"/><Relationship Id="rId21" Type="http://schemas.openxmlformats.org/officeDocument/2006/relationships/image" Target="../media/image27.png"/><Relationship Id="rId20" Type="http://schemas.openxmlformats.org/officeDocument/2006/relationships/image" Target="../media/image26.svg"/><Relationship Id="rId2" Type="http://schemas.openxmlformats.org/officeDocument/2006/relationships/chart" Target="../charts/chart2.xml"/><Relationship Id="rId19" Type="http://schemas.openxmlformats.org/officeDocument/2006/relationships/image" Target="../media/image25.png"/><Relationship Id="rId18" Type="http://schemas.openxmlformats.org/officeDocument/2006/relationships/tags" Target="../tags/tag231.xml"/><Relationship Id="rId17" Type="http://schemas.openxmlformats.org/officeDocument/2006/relationships/tags" Target="../tags/tag230.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34.xml"/><Relationship Id="rId2" Type="http://schemas.openxmlformats.org/officeDocument/2006/relationships/image" Target="../media/image6.png"/><Relationship Id="rId1" Type="http://schemas.openxmlformats.org/officeDocument/2006/relationships/tags" Target="../tags/tag233.xml"/></Relationships>
</file>

<file path=ppt/slides/_rels/slide13.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tags" Target="../tags/tag236.xml"/><Relationship Id="rId4" Type="http://schemas.openxmlformats.org/officeDocument/2006/relationships/image" Target="../media/image34.svg"/><Relationship Id="rId3" Type="http://schemas.openxmlformats.org/officeDocument/2006/relationships/image" Target="../media/image33.png"/><Relationship Id="rId25" Type="http://schemas.openxmlformats.org/officeDocument/2006/relationships/slideLayout" Target="../slideLayouts/slideLayout1.xml"/><Relationship Id="rId24" Type="http://schemas.openxmlformats.org/officeDocument/2006/relationships/image" Target="../media/image6.png"/><Relationship Id="rId23" Type="http://schemas.openxmlformats.org/officeDocument/2006/relationships/image" Target="../media/image48.svg"/><Relationship Id="rId22" Type="http://schemas.openxmlformats.org/officeDocument/2006/relationships/image" Target="../media/image47.png"/><Relationship Id="rId21" Type="http://schemas.openxmlformats.org/officeDocument/2006/relationships/tags" Target="../tags/tag240.xml"/><Relationship Id="rId20" Type="http://schemas.openxmlformats.org/officeDocument/2006/relationships/image" Target="../media/image46.svg"/><Relationship Id="rId2" Type="http://schemas.openxmlformats.org/officeDocument/2006/relationships/tags" Target="../tags/tag235.xml"/><Relationship Id="rId19" Type="http://schemas.openxmlformats.org/officeDocument/2006/relationships/image" Target="../media/image45.png"/><Relationship Id="rId18" Type="http://schemas.openxmlformats.org/officeDocument/2006/relationships/tags" Target="../tags/tag239.xml"/><Relationship Id="rId17" Type="http://schemas.openxmlformats.org/officeDocument/2006/relationships/image" Target="../media/image44.svg"/><Relationship Id="rId16" Type="http://schemas.openxmlformats.org/officeDocument/2006/relationships/image" Target="../media/image43.png"/><Relationship Id="rId15" Type="http://schemas.openxmlformats.org/officeDocument/2006/relationships/tags" Target="../tags/tag238.xml"/><Relationship Id="rId14" Type="http://schemas.openxmlformats.org/officeDocument/2006/relationships/image" Target="../media/image42.svg"/><Relationship Id="rId13" Type="http://schemas.openxmlformats.org/officeDocument/2006/relationships/image" Target="../media/image41.png"/><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tags" Target="../tags/tag237.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1" Type="http://schemas.openxmlformats.org/officeDocument/2006/relationships/slideLayout" Target="../slideLayouts/slideLayout1.xml"/><Relationship Id="rId50" Type="http://schemas.openxmlformats.org/officeDocument/2006/relationships/image" Target="../media/image6.png"/><Relationship Id="rId5" Type="http://schemas.openxmlformats.org/officeDocument/2006/relationships/tags" Target="../tags/tag244.xml"/><Relationship Id="rId49" Type="http://schemas.openxmlformats.org/officeDocument/2006/relationships/image" Target="../media/image59.svg"/><Relationship Id="rId48" Type="http://schemas.openxmlformats.org/officeDocument/2006/relationships/image" Target="../media/image58.png"/><Relationship Id="rId47" Type="http://schemas.openxmlformats.org/officeDocument/2006/relationships/image" Target="../media/image57.svg"/><Relationship Id="rId46" Type="http://schemas.openxmlformats.org/officeDocument/2006/relationships/image" Target="../media/image56.png"/><Relationship Id="rId45" Type="http://schemas.openxmlformats.org/officeDocument/2006/relationships/image" Target="../media/image55.svg"/><Relationship Id="rId44" Type="http://schemas.openxmlformats.org/officeDocument/2006/relationships/image" Target="../media/image54.png"/><Relationship Id="rId43" Type="http://schemas.openxmlformats.org/officeDocument/2006/relationships/image" Target="../media/image53.svg"/><Relationship Id="rId42" Type="http://schemas.openxmlformats.org/officeDocument/2006/relationships/image" Target="../media/image52.png"/><Relationship Id="rId41" Type="http://schemas.openxmlformats.org/officeDocument/2006/relationships/image" Target="../media/image51.svg"/><Relationship Id="rId40" Type="http://schemas.openxmlformats.org/officeDocument/2006/relationships/image" Target="../media/image50.png"/><Relationship Id="rId4" Type="http://schemas.openxmlformats.org/officeDocument/2006/relationships/tags" Target="../tags/tag243.xml"/><Relationship Id="rId39" Type="http://schemas.openxmlformats.org/officeDocument/2006/relationships/tags" Target="../tags/tag276.xml"/><Relationship Id="rId38" Type="http://schemas.openxmlformats.org/officeDocument/2006/relationships/tags" Target="../tags/tag275.xml"/><Relationship Id="rId37" Type="http://schemas.openxmlformats.org/officeDocument/2006/relationships/tags" Target="../tags/tag274.xml"/><Relationship Id="rId36" Type="http://schemas.openxmlformats.org/officeDocument/2006/relationships/tags" Target="../tags/tag273.xml"/><Relationship Id="rId35" Type="http://schemas.openxmlformats.org/officeDocument/2006/relationships/tags" Target="../tags/tag272.xml"/><Relationship Id="rId34" Type="http://schemas.openxmlformats.org/officeDocument/2006/relationships/tags" Target="../tags/tag271.xml"/><Relationship Id="rId33" Type="http://schemas.openxmlformats.org/officeDocument/2006/relationships/tags" Target="../tags/tag270.xml"/><Relationship Id="rId32" Type="http://schemas.openxmlformats.org/officeDocument/2006/relationships/tags" Target="../tags/tag269.xml"/><Relationship Id="rId31" Type="http://schemas.openxmlformats.org/officeDocument/2006/relationships/tags" Target="../tags/tag268.xml"/><Relationship Id="rId30" Type="http://schemas.openxmlformats.org/officeDocument/2006/relationships/tags" Target="../tags/tag267.xml"/><Relationship Id="rId3" Type="http://schemas.openxmlformats.org/officeDocument/2006/relationships/tags" Target="../tags/tag242.xml"/><Relationship Id="rId29" Type="http://schemas.openxmlformats.org/officeDocument/2006/relationships/tags" Target="../tags/tag266.xml"/><Relationship Id="rId28" Type="http://schemas.openxmlformats.org/officeDocument/2006/relationships/tags" Target="../tags/tag265.xml"/><Relationship Id="rId27" Type="http://schemas.openxmlformats.org/officeDocument/2006/relationships/tags" Target="../tags/tag264.xml"/><Relationship Id="rId26" Type="http://schemas.openxmlformats.org/officeDocument/2006/relationships/tags" Target="../tags/tag263.xml"/><Relationship Id="rId25" Type="http://schemas.openxmlformats.org/officeDocument/2006/relationships/tags" Target="../tags/tag262.xml"/><Relationship Id="rId24" Type="http://schemas.openxmlformats.org/officeDocument/2006/relationships/tags" Target="../tags/tag261.xml"/><Relationship Id="rId23" Type="http://schemas.openxmlformats.org/officeDocument/2006/relationships/tags" Target="../tags/tag260.xml"/><Relationship Id="rId22" Type="http://schemas.openxmlformats.org/officeDocument/2006/relationships/tags" Target="../tags/tag259.xml"/><Relationship Id="rId21" Type="http://schemas.openxmlformats.org/officeDocument/2006/relationships/tags" Target="../tags/tag258.xml"/><Relationship Id="rId20" Type="http://schemas.openxmlformats.org/officeDocument/2006/relationships/tags" Target="../tags/tag257.xml"/><Relationship Id="rId2" Type="http://schemas.openxmlformats.org/officeDocument/2006/relationships/tags" Target="../tags/tag241.xml"/><Relationship Id="rId19" Type="http://schemas.openxmlformats.org/officeDocument/2006/relationships/tags" Target="../tags/tag256.xml"/><Relationship Id="rId18" Type="http://schemas.openxmlformats.org/officeDocument/2006/relationships/tags" Target="../tags/tag255.xml"/><Relationship Id="rId17" Type="http://schemas.openxmlformats.org/officeDocument/2006/relationships/tags" Target="../tags/tag254.xml"/><Relationship Id="rId16" Type="http://schemas.openxmlformats.org/officeDocument/2006/relationships/tags" Target="../tags/tag253.xml"/><Relationship Id="rId15" Type="http://schemas.openxmlformats.org/officeDocument/2006/relationships/image" Target="../media/image42.svg"/><Relationship Id="rId14" Type="http://schemas.openxmlformats.org/officeDocument/2006/relationships/image" Target="../media/image49.png"/><Relationship Id="rId13" Type="http://schemas.openxmlformats.org/officeDocument/2006/relationships/tags" Target="../tags/tag252.xml"/><Relationship Id="rId12" Type="http://schemas.openxmlformats.org/officeDocument/2006/relationships/tags" Target="../tags/tag251.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chart" Target="../charts/chart5.xml"/></Relationships>
</file>

<file path=ppt/slides/_rels/slide15.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chart" Target="../charts/chart9.xml"/><Relationship Id="rId3" Type="http://schemas.openxmlformats.org/officeDocument/2006/relationships/chart" Target="../charts/chart8.xml"/><Relationship Id="rId2" Type="http://schemas.openxmlformats.org/officeDocument/2006/relationships/chart" Target="../charts/chart7.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6.xml"/></Relationships>
</file>

<file path=ppt/slides/_rels/slide16.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tags" Target="../tags/tag283.xml"/><Relationship Id="rId5" Type="http://schemas.openxmlformats.org/officeDocument/2006/relationships/image" Target="../media/image61.svg"/><Relationship Id="rId4" Type="http://schemas.openxmlformats.org/officeDocument/2006/relationships/image" Target="../media/image45.png"/><Relationship Id="rId3" Type="http://schemas.openxmlformats.org/officeDocument/2006/relationships/tags" Target="../tags/tag282.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40.svg"/><Relationship Id="rId21" Type="http://schemas.openxmlformats.org/officeDocument/2006/relationships/image" Target="../media/image69.png"/><Relationship Id="rId20" Type="http://schemas.openxmlformats.org/officeDocument/2006/relationships/tags" Target="../tags/tag286.xml"/><Relationship Id="rId2" Type="http://schemas.openxmlformats.org/officeDocument/2006/relationships/tags" Target="../tags/tag281.xml"/><Relationship Id="rId19" Type="http://schemas.openxmlformats.org/officeDocument/2006/relationships/image" Target="../media/image38.svg"/><Relationship Id="rId18" Type="http://schemas.openxmlformats.org/officeDocument/2006/relationships/image" Target="../media/image68.png"/><Relationship Id="rId17" Type="http://schemas.openxmlformats.org/officeDocument/2006/relationships/image" Target="../media/image36.svg"/><Relationship Id="rId16" Type="http://schemas.openxmlformats.org/officeDocument/2006/relationships/image" Target="../media/image67.png"/><Relationship Id="rId15" Type="http://schemas.openxmlformats.org/officeDocument/2006/relationships/tags" Target="../tags/tag285.xml"/><Relationship Id="rId14" Type="http://schemas.openxmlformats.org/officeDocument/2006/relationships/image" Target="../media/image34.svg"/><Relationship Id="rId13" Type="http://schemas.openxmlformats.org/officeDocument/2006/relationships/image" Target="../media/image66.png"/><Relationship Id="rId12" Type="http://schemas.openxmlformats.org/officeDocument/2006/relationships/tags" Target="../tags/tag284.xml"/><Relationship Id="rId11" Type="http://schemas.openxmlformats.org/officeDocument/2006/relationships/image" Target="../media/image60.png"/><Relationship Id="rId10" Type="http://schemas.openxmlformats.org/officeDocument/2006/relationships/image" Target="../media/image65.svg"/><Relationship Id="rId1" Type="http://schemas.openxmlformats.org/officeDocument/2006/relationships/chart" Target="../charts/chart10.xml"/></Relationships>
</file>

<file path=ppt/slides/_rels/slide17.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9" Type="http://schemas.openxmlformats.org/officeDocument/2006/relationships/slideLayout" Target="../slideLayouts/slideLayout1.xml"/><Relationship Id="rId28" Type="http://schemas.openxmlformats.org/officeDocument/2006/relationships/image" Target="../media/image6.png"/><Relationship Id="rId27" Type="http://schemas.openxmlformats.org/officeDocument/2006/relationships/image" Target="../media/image85.svg"/><Relationship Id="rId26" Type="http://schemas.openxmlformats.org/officeDocument/2006/relationships/image" Target="../media/image84.png"/><Relationship Id="rId25" Type="http://schemas.openxmlformats.org/officeDocument/2006/relationships/image" Target="../media/image83.svg"/><Relationship Id="rId24" Type="http://schemas.openxmlformats.org/officeDocument/2006/relationships/image" Target="../media/image82.png"/><Relationship Id="rId23" Type="http://schemas.openxmlformats.org/officeDocument/2006/relationships/image" Target="../media/image81.svg"/><Relationship Id="rId22" Type="http://schemas.openxmlformats.org/officeDocument/2006/relationships/image" Target="../media/image80.png"/><Relationship Id="rId21" Type="http://schemas.openxmlformats.org/officeDocument/2006/relationships/image" Target="../media/image42.svg"/><Relationship Id="rId20" Type="http://schemas.openxmlformats.org/officeDocument/2006/relationships/image" Target="../media/image41.png"/><Relationship Id="rId2" Type="http://schemas.openxmlformats.org/officeDocument/2006/relationships/tags" Target="../tags/tag288.xml"/><Relationship Id="rId19" Type="http://schemas.openxmlformats.org/officeDocument/2006/relationships/image" Target="../media/image60.png"/><Relationship Id="rId18" Type="http://schemas.openxmlformats.org/officeDocument/2006/relationships/image" Target="../media/image79.png"/><Relationship Id="rId17" Type="http://schemas.openxmlformats.org/officeDocument/2006/relationships/image" Target="../media/image78.png"/><Relationship Id="rId16" Type="http://schemas.openxmlformats.org/officeDocument/2006/relationships/image" Target="../media/image77.svg"/><Relationship Id="rId15" Type="http://schemas.openxmlformats.org/officeDocument/2006/relationships/image" Target="../media/image76.png"/><Relationship Id="rId14" Type="http://schemas.openxmlformats.org/officeDocument/2006/relationships/image" Target="../media/image75.svg"/><Relationship Id="rId13" Type="http://schemas.openxmlformats.org/officeDocument/2006/relationships/image" Target="../media/image74.png"/><Relationship Id="rId12" Type="http://schemas.openxmlformats.org/officeDocument/2006/relationships/image" Target="../media/image73.png"/><Relationship Id="rId11" Type="http://schemas.openxmlformats.org/officeDocument/2006/relationships/tags" Target="../tags/tag294.xml"/><Relationship Id="rId10" Type="http://schemas.openxmlformats.org/officeDocument/2006/relationships/tags" Target="../tags/tag293.xml"/><Relationship Id="rId1" Type="http://schemas.openxmlformats.org/officeDocument/2006/relationships/tags" Target="../tags/tag287.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98.xml"/><Relationship Id="rId4" Type="http://schemas.openxmlformats.org/officeDocument/2006/relationships/image" Target="../media/image6.png"/><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6.png"/><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306.xml"/><Relationship Id="rId4" Type="http://schemas.openxmlformats.org/officeDocument/2006/relationships/image" Target="../media/image6.png"/><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99" Type="http://schemas.openxmlformats.org/officeDocument/2006/relationships/tags" Target="../tags/tag383.xml"/><Relationship Id="rId98" Type="http://schemas.openxmlformats.org/officeDocument/2006/relationships/tags" Target="../tags/tag382.xml"/><Relationship Id="rId97" Type="http://schemas.openxmlformats.org/officeDocument/2006/relationships/tags" Target="../tags/tag381.xml"/><Relationship Id="rId96" Type="http://schemas.openxmlformats.org/officeDocument/2006/relationships/tags" Target="../tags/tag380.xml"/><Relationship Id="rId95" Type="http://schemas.openxmlformats.org/officeDocument/2006/relationships/tags" Target="../tags/tag379.xml"/><Relationship Id="rId94" Type="http://schemas.openxmlformats.org/officeDocument/2006/relationships/image" Target="../media/image104.png"/><Relationship Id="rId93" Type="http://schemas.openxmlformats.org/officeDocument/2006/relationships/tags" Target="../tags/tag378.xml"/><Relationship Id="rId92" Type="http://schemas.openxmlformats.org/officeDocument/2006/relationships/tags" Target="../tags/tag377.xml"/><Relationship Id="rId91" Type="http://schemas.openxmlformats.org/officeDocument/2006/relationships/tags" Target="../tags/tag376.xml"/><Relationship Id="rId90" Type="http://schemas.openxmlformats.org/officeDocument/2006/relationships/tags" Target="../tags/tag375.xml"/><Relationship Id="rId9" Type="http://schemas.openxmlformats.org/officeDocument/2006/relationships/tags" Target="../tags/tag313.xml"/><Relationship Id="rId89" Type="http://schemas.openxmlformats.org/officeDocument/2006/relationships/tags" Target="../tags/tag374.xml"/><Relationship Id="rId88" Type="http://schemas.openxmlformats.org/officeDocument/2006/relationships/tags" Target="../tags/tag373.xml"/><Relationship Id="rId87" Type="http://schemas.openxmlformats.org/officeDocument/2006/relationships/tags" Target="../tags/tag372.xml"/><Relationship Id="rId86" Type="http://schemas.openxmlformats.org/officeDocument/2006/relationships/tags" Target="../tags/tag371.xml"/><Relationship Id="rId85" Type="http://schemas.openxmlformats.org/officeDocument/2006/relationships/image" Target="../media/image103.png"/><Relationship Id="rId84" Type="http://schemas.openxmlformats.org/officeDocument/2006/relationships/tags" Target="../tags/tag370.xml"/><Relationship Id="rId83" Type="http://schemas.openxmlformats.org/officeDocument/2006/relationships/image" Target="../media/image102.png"/><Relationship Id="rId82" Type="http://schemas.openxmlformats.org/officeDocument/2006/relationships/tags" Target="../tags/tag369.xml"/><Relationship Id="rId81" Type="http://schemas.openxmlformats.org/officeDocument/2006/relationships/tags" Target="../tags/tag368.xml"/><Relationship Id="rId80" Type="http://schemas.openxmlformats.org/officeDocument/2006/relationships/tags" Target="../tags/tag367.xml"/><Relationship Id="rId8" Type="http://schemas.openxmlformats.org/officeDocument/2006/relationships/image" Target="../media/image88.png"/><Relationship Id="rId79" Type="http://schemas.openxmlformats.org/officeDocument/2006/relationships/tags" Target="../tags/tag366.xml"/><Relationship Id="rId78" Type="http://schemas.openxmlformats.org/officeDocument/2006/relationships/image" Target="../media/image101.png"/><Relationship Id="rId77" Type="http://schemas.openxmlformats.org/officeDocument/2006/relationships/tags" Target="../tags/tag365.xml"/><Relationship Id="rId76" Type="http://schemas.openxmlformats.org/officeDocument/2006/relationships/tags" Target="../tags/tag364.xml"/><Relationship Id="rId75" Type="http://schemas.openxmlformats.org/officeDocument/2006/relationships/tags" Target="../tags/tag363.xml"/><Relationship Id="rId74" Type="http://schemas.openxmlformats.org/officeDocument/2006/relationships/tags" Target="../tags/tag362.xml"/><Relationship Id="rId73" Type="http://schemas.openxmlformats.org/officeDocument/2006/relationships/tags" Target="../tags/tag361.xml"/><Relationship Id="rId72" Type="http://schemas.openxmlformats.org/officeDocument/2006/relationships/tags" Target="../tags/tag360.xml"/><Relationship Id="rId71" Type="http://schemas.openxmlformats.org/officeDocument/2006/relationships/tags" Target="../tags/tag359.xml"/><Relationship Id="rId70" Type="http://schemas.openxmlformats.org/officeDocument/2006/relationships/tags" Target="../tags/tag358.xml"/><Relationship Id="rId7" Type="http://schemas.openxmlformats.org/officeDocument/2006/relationships/tags" Target="../tags/tag312.xml"/><Relationship Id="rId69" Type="http://schemas.openxmlformats.org/officeDocument/2006/relationships/tags" Target="../tags/tag357.xml"/><Relationship Id="rId68" Type="http://schemas.openxmlformats.org/officeDocument/2006/relationships/tags" Target="../tags/tag356.xml"/><Relationship Id="rId67" Type="http://schemas.openxmlformats.org/officeDocument/2006/relationships/tags" Target="../tags/tag355.xml"/><Relationship Id="rId66" Type="http://schemas.openxmlformats.org/officeDocument/2006/relationships/tags" Target="../tags/tag354.xml"/><Relationship Id="rId65" Type="http://schemas.openxmlformats.org/officeDocument/2006/relationships/tags" Target="../tags/tag353.xml"/><Relationship Id="rId64" Type="http://schemas.openxmlformats.org/officeDocument/2006/relationships/tags" Target="../tags/tag352.xml"/><Relationship Id="rId63" Type="http://schemas.openxmlformats.org/officeDocument/2006/relationships/image" Target="../media/image100.svg"/><Relationship Id="rId62" Type="http://schemas.openxmlformats.org/officeDocument/2006/relationships/image" Target="../media/image76.png"/><Relationship Id="rId61" Type="http://schemas.openxmlformats.org/officeDocument/2006/relationships/image" Target="../media/image99.svg"/><Relationship Id="rId60" Type="http://schemas.openxmlformats.org/officeDocument/2006/relationships/image" Target="../media/image74.png"/><Relationship Id="rId6" Type="http://schemas.openxmlformats.org/officeDocument/2006/relationships/image" Target="../media/image87.png"/><Relationship Id="rId59" Type="http://schemas.openxmlformats.org/officeDocument/2006/relationships/image" Target="../media/image73.png"/><Relationship Id="rId58" Type="http://schemas.openxmlformats.org/officeDocument/2006/relationships/tags" Target="../tags/tag351.xml"/><Relationship Id="rId57" Type="http://schemas.openxmlformats.org/officeDocument/2006/relationships/tags" Target="../tags/tag350.xml"/><Relationship Id="rId56" Type="http://schemas.openxmlformats.org/officeDocument/2006/relationships/image" Target="../media/image6.png"/><Relationship Id="rId55" Type="http://schemas.openxmlformats.org/officeDocument/2006/relationships/tags" Target="../tags/tag349.xml"/><Relationship Id="rId54" Type="http://schemas.openxmlformats.org/officeDocument/2006/relationships/image" Target="../media/image98.png"/><Relationship Id="rId53" Type="http://schemas.openxmlformats.org/officeDocument/2006/relationships/tags" Target="../tags/tag348.xml"/><Relationship Id="rId52" Type="http://schemas.openxmlformats.org/officeDocument/2006/relationships/tags" Target="../tags/tag347.xml"/><Relationship Id="rId51" Type="http://schemas.openxmlformats.org/officeDocument/2006/relationships/tags" Target="../tags/tag346.xml"/><Relationship Id="rId50" Type="http://schemas.openxmlformats.org/officeDocument/2006/relationships/image" Target="../media/image97.png"/><Relationship Id="rId5" Type="http://schemas.openxmlformats.org/officeDocument/2006/relationships/tags" Target="../tags/tag311.xml"/><Relationship Id="rId49" Type="http://schemas.openxmlformats.org/officeDocument/2006/relationships/tags" Target="../tags/tag345.xml"/><Relationship Id="rId48" Type="http://schemas.openxmlformats.org/officeDocument/2006/relationships/tags" Target="../tags/tag344.xml"/><Relationship Id="rId47" Type="http://schemas.openxmlformats.org/officeDocument/2006/relationships/tags" Target="../tags/tag343.xml"/><Relationship Id="rId46" Type="http://schemas.openxmlformats.org/officeDocument/2006/relationships/tags" Target="../tags/tag342.xml"/><Relationship Id="rId45" Type="http://schemas.openxmlformats.org/officeDocument/2006/relationships/tags" Target="../tags/tag341.xml"/><Relationship Id="rId44" Type="http://schemas.openxmlformats.org/officeDocument/2006/relationships/tags" Target="../tags/tag340.xml"/><Relationship Id="rId43" Type="http://schemas.openxmlformats.org/officeDocument/2006/relationships/tags" Target="../tags/tag339.xml"/><Relationship Id="rId42" Type="http://schemas.openxmlformats.org/officeDocument/2006/relationships/image" Target="../media/image96.png"/><Relationship Id="rId41" Type="http://schemas.openxmlformats.org/officeDocument/2006/relationships/tags" Target="../tags/tag338.xml"/><Relationship Id="rId40" Type="http://schemas.openxmlformats.org/officeDocument/2006/relationships/tags" Target="../tags/tag337.xml"/><Relationship Id="rId4" Type="http://schemas.openxmlformats.org/officeDocument/2006/relationships/tags" Target="../tags/tag310.xml"/><Relationship Id="rId39" Type="http://schemas.openxmlformats.org/officeDocument/2006/relationships/tags" Target="../tags/tag336.xml"/><Relationship Id="rId38" Type="http://schemas.openxmlformats.org/officeDocument/2006/relationships/image" Target="../media/image95.png"/><Relationship Id="rId37" Type="http://schemas.openxmlformats.org/officeDocument/2006/relationships/tags" Target="../tags/tag335.xml"/><Relationship Id="rId36" Type="http://schemas.openxmlformats.org/officeDocument/2006/relationships/tags" Target="../tags/tag334.xml"/><Relationship Id="rId35" Type="http://schemas.openxmlformats.org/officeDocument/2006/relationships/image" Target="../media/image94.png"/><Relationship Id="rId34" Type="http://schemas.openxmlformats.org/officeDocument/2006/relationships/tags" Target="../tags/tag333.xml"/><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9.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image" Target="../media/image93.png"/><Relationship Id="rId25" Type="http://schemas.openxmlformats.org/officeDocument/2006/relationships/tags" Target="../tags/tag325.xml"/><Relationship Id="rId24" Type="http://schemas.openxmlformats.org/officeDocument/2006/relationships/tags" Target="../tags/tag324.xml"/><Relationship Id="rId23" Type="http://schemas.openxmlformats.org/officeDocument/2006/relationships/tags" Target="../tags/tag323.xml"/><Relationship Id="rId22" Type="http://schemas.openxmlformats.org/officeDocument/2006/relationships/tags" Target="../tags/tag322.xml"/><Relationship Id="rId21" Type="http://schemas.openxmlformats.org/officeDocument/2006/relationships/tags" Target="../tags/tag321.xml"/><Relationship Id="rId20" Type="http://schemas.openxmlformats.org/officeDocument/2006/relationships/tags" Target="../tags/tag320.xml"/><Relationship Id="rId2" Type="http://schemas.openxmlformats.org/officeDocument/2006/relationships/tags" Target="../tags/tag308.xml"/><Relationship Id="rId19" Type="http://schemas.openxmlformats.org/officeDocument/2006/relationships/image" Target="../media/image92.png"/><Relationship Id="rId184" Type="http://schemas.openxmlformats.org/officeDocument/2006/relationships/slideLayout" Target="../slideLayouts/slideLayout1.xml"/><Relationship Id="rId183" Type="http://schemas.openxmlformats.org/officeDocument/2006/relationships/tags" Target="../tags/tag467.xml"/><Relationship Id="rId182" Type="http://schemas.openxmlformats.org/officeDocument/2006/relationships/tags" Target="../tags/tag466.xml"/><Relationship Id="rId181" Type="http://schemas.openxmlformats.org/officeDocument/2006/relationships/tags" Target="../tags/tag465.xml"/><Relationship Id="rId180" Type="http://schemas.openxmlformats.org/officeDocument/2006/relationships/tags" Target="../tags/tag464.xml"/><Relationship Id="rId18" Type="http://schemas.openxmlformats.org/officeDocument/2006/relationships/tags" Target="../tags/tag319.xml"/><Relationship Id="rId179" Type="http://schemas.openxmlformats.org/officeDocument/2006/relationships/tags" Target="../tags/tag463.xml"/><Relationship Id="rId178" Type="http://schemas.openxmlformats.org/officeDocument/2006/relationships/tags" Target="../tags/tag462.xml"/><Relationship Id="rId177" Type="http://schemas.openxmlformats.org/officeDocument/2006/relationships/tags" Target="../tags/tag461.xml"/><Relationship Id="rId176" Type="http://schemas.openxmlformats.org/officeDocument/2006/relationships/tags" Target="../tags/tag460.xml"/><Relationship Id="rId175" Type="http://schemas.openxmlformats.org/officeDocument/2006/relationships/tags" Target="../tags/tag459.xml"/><Relationship Id="rId174" Type="http://schemas.openxmlformats.org/officeDocument/2006/relationships/tags" Target="../tags/tag458.xml"/><Relationship Id="rId173" Type="http://schemas.openxmlformats.org/officeDocument/2006/relationships/tags" Target="../tags/tag457.xml"/><Relationship Id="rId172" Type="http://schemas.openxmlformats.org/officeDocument/2006/relationships/tags" Target="../tags/tag456.xml"/><Relationship Id="rId171" Type="http://schemas.openxmlformats.org/officeDocument/2006/relationships/tags" Target="../tags/tag455.xml"/><Relationship Id="rId170" Type="http://schemas.openxmlformats.org/officeDocument/2006/relationships/tags" Target="../tags/tag454.xml"/><Relationship Id="rId17" Type="http://schemas.openxmlformats.org/officeDocument/2006/relationships/image" Target="../media/image91.png"/><Relationship Id="rId169" Type="http://schemas.openxmlformats.org/officeDocument/2006/relationships/tags" Target="../tags/tag453.xml"/><Relationship Id="rId168" Type="http://schemas.openxmlformats.org/officeDocument/2006/relationships/tags" Target="../tags/tag452.xml"/><Relationship Id="rId167" Type="http://schemas.openxmlformats.org/officeDocument/2006/relationships/tags" Target="../tags/tag451.xml"/><Relationship Id="rId166" Type="http://schemas.openxmlformats.org/officeDocument/2006/relationships/tags" Target="../tags/tag450.xml"/><Relationship Id="rId165" Type="http://schemas.openxmlformats.org/officeDocument/2006/relationships/tags" Target="../tags/tag449.xml"/><Relationship Id="rId164" Type="http://schemas.openxmlformats.org/officeDocument/2006/relationships/tags" Target="../tags/tag448.xml"/><Relationship Id="rId163" Type="http://schemas.openxmlformats.org/officeDocument/2006/relationships/tags" Target="../tags/tag447.xml"/><Relationship Id="rId162" Type="http://schemas.openxmlformats.org/officeDocument/2006/relationships/tags" Target="../tags/tag446.xml"/><Relationship Id="rId161" Type="http://schemas.openxmlformats.org/officeDocument/2006/relationships/tags" Target="../tags/tag445.xml"/><Relationship Id="rId160" Type="http://schemas.openxmlformats.org/officeDocument/2006/relationships/tags" Target="../tags/tag444.xml"/><Relationship Id="rId16" Type="http://schemas.openxmlformats.org/officeDocument/2006/relationships/tags" Target="../tags/tag318.xml"/><Relationship Id="rId159" Type="http://schemas.openxmlformats.org/officeDocument/2006/relationships/tags" Target="../tags/tag443.xml"/><Relationship Id="rId158" Type="http://schemas.openxmlformats.org/officeDocument/2006/relationships/tags" Target="../tags/tag442.xml"/><Relationship Id="rId157" Type="http://schemas.openxmlformats.org/officeDocument/2006/relationships/tags" Target="../tags/tag441.xml"/><Relationship Id="rId156" Type="http://schemas.openxmlformats.org/officeDocument/2006/relationships/tags" Target="../tags/tag440.xml"/><Relationship Id="rId155" Type="http://schemas.openxmlformats.org/officeDocument/2006/relationships/tags" Target="../tags/tag439.xml"/><Relationship Id="rId154" Type="http://schemas.openxmlformats.org/officeDocument/2006/relationships/tags" Target="../tags/tag438.xml"/><Relationship Id="rId153" Type="http://schemas.openxmlformats.org/officeDocument/2006/relationships/tags" Target="../tags/tag437.xml"/><Relationship Id="rId152" Type="http://schemas.openxmlformats.org/officeDocument/2006/relationships/tags" Target="../tags/tag436.xml"/><Relationship Id="rId151" Type="http://schemas.openxmlformats.org/officeDocument/2006/relationships/tags" Target="../tags/tag435.xml"/><Relationship Id="rId150" Type="http://schemas.openxmlformats.org/officeDocument/2006/relationships/tags" Target="../tags/tag434.xml"/><Relationship Id="rId15" Type="http://schemas.openxmlformats.org/officeDocument/2006/relationships/tags" Target="../tags/tag317.xml"/><Relationship Id="rId149" Type="http://schemas.openxmlformats.org/officeDocument/2006/relationships/tags" Target="../tags/tag433.xml"/><Relationship Id="rId148" Type="http://schemas.openxmlformats.org/officeDocument/2006/relationships/tags" Target="../tags/tag432.xml"/><Relationship Id="rId147" Type="http://schemas.openxmlformats.org/officeDocument/2006/relationships/tags" Target="../tags/tag431.xml"/><Relationship Id="rId146" Type="http://schemas.openxmlformats.org/officeDocument/2006/relationships/tags" Target="../tags/tag430.xml"/><Relationship Id="rId145" Type="http://schemas.openxmlformats.org/officeDocument/2006/relationships/tags" Target="../tags/tag429.xml"/><Relationship Id="rId144" Type="http://schemas.openxmlformats.org/officeDocument/2006/relationships/tags" Target="../tags/tag428.xml"/><Relationship Id="rId143" Type="http://schemas.openxmlformats.org/officeDocument/2006/relationships/tags" Target="../tags/tag427.xml"/><Relationship Id="rId142" Type="http://schemas.openxmlformats.org/officeDocument/2006/relationships/tags" Target="../tags/tag426.xml"/><Relationship Id="rId141" Type="http://schemas.openxmlformats.org/officeDocument/2006/relationships/tags" Target="../tags/tag425.xml"/><Relationship Id="rId140" Type="http://schemas.openxmlformats.org/officeDocument/2006/relationships/tags" Target="../tags/tag424.xml"/><Relationship Id="rId14" Type="http://schemas.openxmlformats.org/officeDocument/2006/relationships/image" Target="../media/image90.png"/><Relationship Id="rId139" Type="http://schemas.openxmlformats.org/officeDocument/2006/relationships/tags" Target="../tags/tag423.xml"/><Relationship Id="rId138" Type="http://schemas.openxmlformats.org/officeDocument/2006/relationships/tags" Target="../tags/tag422.xml"/><Relationship Id="rId137" Type="http://schemas.openxmlformats.org/officeDocument/2006/relationships/tags" Target="../tags/tag421.xml"/><Relationship Id="rId136" Type="http://schemas.openxmlformats.org/officeDocument/2006/relationships/tags" Target="../tags/tag420.xml"/><Relationship Id="rId135" Type="http://schemas.openxmlformats.org/officeDocument/2006/relationships/tags" Target="../tags/tag419.xml"/><Relationship Id="rId134" Type="http://schemas.openxmlformats.org/officeDocument/2006/relationships/tags" Target="../tags/tag418.xml"/><Relationship Id="rId133" Type="http://schemas.openxmlformats.org/officeDocument/2006/relationships/tags" Target="../tags/tag417.xml"/><Relationship Id="rId132" Type="http://schemas.openxmlformats.org/officeDocument/2006/relationships/tags" Target="../tags/tag416.xml"/><Relationship Id="rId131" Type="http://schemas.openxmlformats.org/officeDocument/2006/relationships/tags" Target="../tags/tag415.xml"/><Relationship Id="rId130" Type="http://schemas.openxmlformats.org/officeDocument/2006/relationships/tags" Target="../tags/tag414.xml"/><Relationship Id="rId13" Type="http://schemas.openxmlformats.org/officeDocument/2006/relationships/tags" Target="../tags/tag316.xml"/><Relationship Id="rId129" Type="http://schemas.openxmlformats.org/officeDocument/2006/relationships/tags" Target="../tags/tag413.xml"/><Relationship Id="rId128" Type="http://schemas.openxmlformats.org/officeDocument/2006/relationships/tags" Target="../tags/tag412.xml"/><Relationship Id="rId127" Type="http://schemas.openxmlformats.org/officeDocument/2006/relationships/tags" Target="../tags/tag411.xml"/><Relationship Id="rId126" Type="http://schemas.openxmlformats.org/officeDocument/2006/relationships/tags" Target="../tags/tag410.xml"/><Relationship Id="rId125" Type="http://schemas.openxmlformats.org/officeDocument/2006/relationships/tags" Target="../tags/tag409.xml"/><Relationship Id="rId124" Type="http://schemas.openxmlformats.org/officeDocument/2006/relationships/tags" Target="../tags/tag408.xml"/><Relationship Id="rId123" Type="http://schemas.openxmlformats.org/officeDocument/2006/relationships/tags" Target="../tags/tag407.xml"/><Relationship Id="rId122" Type="http://schemas.openxmlformats.org/officeDocument/2006/relationships/tags" Target="../tags/tag406.xml"/><Relationship Id="rId121" Type="http://schemas.openxmlformats.org/officeDocument/2006/relationships/tags" Target="../tags/tag405.xml"/><Relationship Id="rId120" Type="http://schemas.openxmlformats.org/officeDocument/2006/relationships/tags" Target="../tags/tag404.xml"/><Relationship Id="rId12" Type="http://schemas.openxmlformats.org/officeDocument/2006/relationships/tags" Target="../tags/tag315.xml"/><Relationship Id="rId119" Type="http://schemas.openxmlformats.org/officeDocument/2006/relationships/tags" Target="../tags/tag403.xml"/><Relationship Id="rId118" Type="http://schemas.openxmlformats.org/officeDocument/2006/relationships/tags" Target="../tags/tag402.xml"/><Relationship Id="rId117" Type="http://schemas.openxmlformats.org/officeDocument/2006/relationships/tags" Target="../tags/tag401.xml"/><Relationship Id="rId116" Type="http://schemas.openxmlformats.org/officeDocument/2006/relationships/tags" Target="../tags/tag400.xml"/><Relationship Id="rId115" Type="http://schemas.openxmlformats.org/officeDocument/2006/relationships/tags" Target="../tags/tag399.xml"/><Relationship Id="rId114" Type="http://schemas.openxmlformats.org/officeDocument/2006/relationships/tags" Target="../tags/tag398.xml"/><Relationship Id="rId113" Type="http://schemas.openxmlformats.org/officeDocument/2006/relationships/tags" Target="../tags/tag397.xml"/><Relationship Id="rId112" Type="http://schemas.openxmlformats.org/officeDocument/2006/relationships/tags" Target="../tags/tag396.xml"/><Relationship Id="rId111" Type="http://schemas.openxmlformats.org/officeDocument/2006/relationships/tags" Target="../tags/tag395.xml"/><Relationship Id="rId110" Type="http://schemas.openxmlformats.org/officeDocument/2006/relationships/tags" Target="../tags/tag394.xml"/><Relationship Id="rId11" Type="http://schemas.openxmlformats.org/officeDocument/2006/relationships/image" Target="../media/image89.png"/><Relationship Id="rId109" Type="http://schemas.openxmlformats.org/officeDocument/2006/relationships/tags" Target="../tags/tag393.xml"/><Relationship Id="rId108" Type="http://schemas.openxmlformats.org/officeDocument/2006/relationships/tags" Target="../tags/tag392.xml"/><Relationship Id="rId107" Type="http://schemas.openxmlformats.org/officeDocument/2006/relationships/tags" Target="../tags/tag391.xml"/><Relationship Id="rId106" Type="http://schemas.openxmlformats.org/officeDocument/2006/relationships/tags" Target="../tags/tag390.xml"/><Relationship Id="rId105" Type="http://schemas.openxmlformats.org/officeDocument/2006/relationships/tags" Target="../tags/tag389.xml"/><Relationship Id="rId104" Type="http://schemas.openxmlformats.org/officeDocument/2006/relationships/tags" Target="../tags/tag388.xml"/><Relationship Id="rId103" Type="http://schemas.openxmlformats.org/officeDocument/2006/relationships/tags" Target="../tags/tag387.xml"/><Relationship Id="rId102" Type="http://schemas.openxmlformats.org/officeDocument/2006/relationships/tags" Target="../tags/tag386.xml"/><Relationship Id="rId101" Type="http://schemas.openxmlformats.org/officeDocument/2006/relationships/tags" Target="../tags/tag385.xml"/><Relationship Id="rId100" Type="http://schemas.openxmlformats.org/officeDocument/2006/relationships/tags" Target="../tags/tag384.xml"/><Relationship Id="rId10" Type="http://schemas.openxmlformats.org/officeDocument/2006/relationships/tags" Target="../tags/tag314.xml"/><Relationship Id="rId1" Type="http://schemas.openxmlformats.org/officeDocument/2006/relationships/tags" Target="../tags/tag30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471.xml"/><Relationship Id="rId4" Type="http://schemas.openxmlformats.org/officeDocument/2006/relationships/image" Target="../media/image6.png"/><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_rels/slide24.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2" Type="http://schemas.openxmlformats.org/officeDocument/2006/relationships/slideLayout" Target="../slideLayouts/slideLayout1.xml"/><Relationship Id="rId21" Type="http://schemas.openxmlformats.org/officeDocument/2006/relationships/image" Target="../media/image6.png"/><Relationship Id="rId20" Type="http://schemas.openxmlformats.org/officeDocument/2006/relationships/tags" Target="../tags/tag491.xml"/><Relationship Id="rId2" Type="http://schemas.openxmlformats.org/officeDocument/2006/relationships/tags" Target="../tags/tag473.xml"/><Relationship Id="rId19" Type="http://schemas.openxmlformats.org/officeDocument/2006/relationships/tags" Target="../tags/tag490.xml"/><Relationship Id="rId18" Type="http://schemas.openxmlformats.org/officeDocument/2006/relationships/tags" Target="../tags/tag489.xml"/><Relationship Id="rId17" Type="http://schemas.openxmlformats.org/officeDocument/2006/relationships/tags" Target="../tags/tag488.xml"/><Relationship Id="rId16" Type="http://schemas.openxmlformats.org/officeDocument/2006/relationships/tags" Target="../tags/tag487.xml"/><Relationship Id="rId15" Type="http://schemas.openxmlformats.org/officeDocument/2006/relationships/tags" Target="../tags/tag48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6.png"/><Relationship Id="rId1"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6732905" y="297624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7*24H</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全时守护</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安全效果护航业务稳定运行</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endPar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7806690" y="3568065"/>
            <a:ext cx="3681730" cy="412750"/>
            <a:chOff x="12294" y="5673"/>
            <a:chExt cx="5798" cy="650"/>
          </a:xfrm>
        </p:grpSpPr>
        <p:sp>
          <p:nvSpPr>
            <p:cNvPr id="10" name="矩形 9"/>
            <p:cNvSpPr/>
            <p:nvPr>
              <p:custDataLst>
                <p:tags r:id="rId2"/>
              </p:custDataLst>
            </p:nvPr>
          </p:nvSpPr>
          <p:spPr>
            <a:xfrm>
              <a:off x="12294" y="5673"/>
              <a:ext cx="5798" cy="651"/>
            </a:xfrm>
            <a:prstGeom prst="rect">
              <a:avLst/>
            </a:prstGeom>
            <a:gradFill flip="none" rotWithShape="1">
              <a:gsLst>
                <a:gs pos="0">
                  <a:srgbClr val="0066F6">
                    <a:alpha val="50000"/>
                  </a:srgbClr>
                </a:gs>
                <a:gs pos="100000">
                  <a:srgbClr val="0746B3"/>
                </a:gs>
              </a:gsLst>
              <a:lin ang="8100000" scaled="0"/>
            </a:gradFill>
            <a:ln w="25400" cap="flat">
              <a:noFill/>
              <a:miter lim="400000"/>
            </a:ln>
            <a:effectLst>
              <a:outerShdw blurRad="139700" dist="38100" dir="5400000" algn="t" rotWithShape="0">
                <a:srgbClr val="0062DC">
                  <a:alpha val="64000"/>
                </a:srgbClr>
              </a:outerShdw>
            </a:effectLst>
          </p:spPr>
          <p:txBody>
            <a:bodyPr wrap="square" lIns="22860" tIns="22860" rIns="22860" bIns="22860" numCol="1" anchor="ctr">
              <a:noAutofit/>
            </a:bodyPr>
            <a:p>
              <a:endParaRPr lang="zh-CN" altLang="en-US" sz="900" kern="0">
                <a:solidFill>
                  <a:srgbClr val="FFFFFF"/>
                </a:solidFill>
                <a:latin typeface="微软雅黑" panose="020B0503020204020204" charset="-122"/>
                <a:ea typeface="微软雅黑" panose="020B0503020204020204" charset="-122"/>
              </a:endParaRPr>
            </a:p>
          </p:txBody>
        </p:sp>
        <p:sp>
          <p:nvSpPr>
            <p:cNvPr id="3" name="文本框 2"/>
            <p:cNvSpPr txBox="1"/>
            <p:nvPr>
              <p:custDataLst>
                <p:tags r:id="rId3"/>
              </p:custDataLst>
            </p:nvPr>
          </p:nvSpPr>
          <p:spPr>
            <a:xfrm>
              <a:off x="12611" y="5695"/>
              <a:ext cx="5227" cy="580"/>
            </a:xfrm>
            <a:prstGeom prst="rect">
              <a:avLst/>
            </a:prstGeom>
            <a:noFill/>
          </p:spPr>
          <p:txBody>
            <a:bodyPr wrap="square" rtlCol="0">
              <a:spAutoFit/>
            </a:bodyPr>
            <a:p>
              <a:pPr marL="0" indent="0" algn="r" defTabSz="914400">
                <a:lnSpc>
                  <a:spcPct val="100000"/>
                </a:lnSpc>
                <a:spcBef>
                  <a:spcPts val="0"/>
                </a:spcBef>
                <a:spcAft>
                  <a:spcPts val="0"/>
                </a:spcAft>
                <a:buClrTx/>
                <a:buSzTx/>
                <a:buFontTx/>
                <a:buNone/>
              </a:pPr>
              <a:r>
                <a:rPr lang="zh-CN" b="1">
                  <a:solidFill>
                    <a:schemeClr val="bg1"/>
                  </a:solidFill>
                  <a:latin typeface="微软雅黑" panose="020B0503020204020204" charset="-122"/>
                  <a:ea typeface="微软雅黑" panose="020B0503020204020204" charset="-122"/>
                  <a:sym typeface="+mn-ea"/>
                </a:rPr>
                <a:t>深信服</a:t>
              </a:r>
              <a:r>
                <a:rPr lang="zh-CN" b="1">
                  <a:solidFill>
                    <a:schemeClr val="bg1"/>
                  </a:solidFill>
                  <a:latin typeface="微软雅黑" panose="020B0503020204020204" charset="-122"/>
                  <a:ea typeface="微软雅黑" panose="020B0503020204020204" charset="-122"/>
                  <a:sym typeface="+mn-ea"/>
                </a:rPr>
                <a:t>科技</a:t>
              </a:r>
              <a:endParaRPr lang="zh-CN" b="1">
                <a:solidFill>
                  <a:schemeClr val="bg1"/>
                </a:solidFill>
                <a:latin typeface="微软雅黑" panose="020B0503020204020204" charset="-122"/>
                <a:ea typeface="微软雅黑" panose="020B0503020204020204" charset="-122"/>
                <a:sym typeface="+mn-ea"/>
              </a:endParaRPr>
            </a:p>
          </p:txBody>
        </p:sp>
      </p:grpSp>
      <p:grpSp>
        <p:nvGrpSpPr>
          <p:cNvPr id="7" name="组合 6"/>
          <p:cNvGrpSpPr/>
          <p:nvPr/>
        </p:nvGrpSpPr>
        <p:grpSpPr>
          <a:xfrm>
            <a:off x="5521960" y="1716405"/>
            <a:ext cx="5967095" cy="1121410"/>
            <a:chOff x="8695" y="2872"/>
            <a:chExt cx="9397" cy="1766"/>
          </a:xfrm>
        </p:grpSpPr>
        <p:sp>
          <p:nvSpPr>
            <p:cNvPr id="5" name="文本框 8"/>
            <p:cNvSpPr txBox="1"/>
            <p:nvPr>
              <p:custDataLst>
                <p:tags r:id="rId4"/>
              </p:custDataLst>
            </p:nvPr>
          </p:nvSpPr>
          <p:spPr>
            <a:xfrm>
              <a:off x="8695" y="3755"/>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安全运营工作</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报告</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4" name="文本框 8"/>
            <p:cNvSpPr txBox="1"/>
            <p:nvPr>
              <p:custDataLst>
                <p:tags r:id="rId5"/>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客户名称</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微软雅黑" panose="020B0503020204020204" charset="-122"/>
                <a:ea typeface="微软雅黑" panose="020B0503020204020204" charset="-122"/>
                <a:cs typeface="微软雅黑" panose="020B0503020204020204" charset="-122"/>
                <a:sym typeface="+mn-ea"/>
              </a:rPr>
              <a:t>运营周期</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：2026-1-1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2026-12-31</a:t>
            </a: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6"/>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grpSp>
        <p:nvGrpSpPr>
          <p:cNvPr id="12" name="组合 11"/>
          <p:cNvGrpSpPr/>
          <p:nvPr/>
        </p:nvGrpSpPr>
        <p:grpSpPr>
          <a:xfrm rot="0">
            <a:off x="7091045" y="1566180"/>
            <a:ext cx="3239770" cy="468000"/>
            <a:chOff x="10673" y="2666"/>
            <a:chExt cx="5102" cy="874"/>
          </a:xfrm>
        </p:grpSpPr>
        <p:sp>
          <p:nvSpPr>
            <p:cNvPr id="41" name="文本框 40"/>
            <p:cNvSpPr txBox="1"/>
            <p:nvPr>
              <p:custDataLst>
                <p:tags r:id="rId2"/>
              </p:custDataLst>
            </p:nvPr>
          </p:nvSpPr>
          <p:spPr>
            <a:xfrm>
              <a:off x="10673" y="2666"/>
              <a:ext cx="4692" cy="484"/>
            </a:xfrm>
            <a:prstGeom prst="rect">
              <a:avLst/>
            </a:prstGeom>
            <a:noFill/>
            <a:ln w="0">
              <a:noFill/>
            </a:ln>
          </p:spPr>
          <p:txBody>
            <a:bodyPr wrap="square" lIns="0" tIns="0" rIns="0" bIns="0" anchor="t">
              <a:noAutofit/>
            </a:bodyPr>
            <a:p>
              <a:pPr algn="l"/>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 name="文本框 2"/>
            <p:cNvSpPr txBox="1"/>
            <p:nvPr>
              <p:custDataLst>
                <p:tags r:id="rId3"/>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业务连续性保障、风险防控、合规达成</a:t>
              </a:r>
              <a:endPar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1" name="组合 30"/>
          <p:cNvGrpSpPr/>
          <p:nvPr/>
        </p:nvGrpSpPr>
        <p:grpSpPr>
          <a:xfrm>
            <a:off x="7091045" y="2498632"/>
            <a:ext cx="3239770" cy="468000"/>
            <a:chOff x="11278" y="3926"/>
            <a:chExt cx="5102" cy="859"/>
          </a:xfrm>
        </p:grpSpPr>
        <p:sp>
          <p:nvSpPr>
            <p:cNvPr id="27" name="文本框 26"/>
            <p:cNvSpPr txBox="1"/>
            <p:nvPr>
              <p:custDataLst>
                <p:tags r:id="rId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详细工作内容</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28" name="文本框 27"/>
            <p:cNvSpPr txBox="1"/>
            <p:nvPr>
              <p:custDataLst>
                <p:tags r:id="rId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业务保护、通报</a:t>
              </a: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应对</a:t>
              </a:r>
              <a:endPar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2" name="组合 31"/>
          <p:cNvGrpSpPr/>
          <p:nvPr/>
        </p:nvGrpSpPr>
        <p:grpSpPr>
          <a:xfrm rot="0">
            <a:off x="7091045" y="3430812"/>
            <a:ext cx="3239770" cy="468000"/>
            <a:chOff x="11278" y="3926"/>
            <a:chExt cx="5102" cy="859"/>
          </a:xfrm>
        </p:grpSpPr>
        <p:sp>
          <p:nvSpPr>
            <p:cNvPr id="33" name="文本框 32"/>
            <p:cNvSpPr txBox="1"/>
            <p:nvPr>
              <p:custDataLst>
                <p:tags r:id="rId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关键问题与解决方案</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4" name="文本框 33"/>
            <p:cNvSpPr txBox="1"/>
            <p:nvPr>
              <p:custDataLst>
                <p:tags r:id="rId7"/>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安全运营关键挑战与应对</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思路讨论</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48" name="组合 47"/>
          <p:cNvGrpSpPr/>
          <p:nvPr/>
        </p:nvGrpSpPr>
        <p:grpSpPr>
          <a:xfrm rot="0">
            <a:off x="7091045" y="4362992"/>
            <a:ext cx="3239770" cy="468000"/>
            <a:chOff x="11278" y="3926"/>
            <a:chExt cx="5102" cy="859"/>
          </a:xfrm>
        </p:grpSpPr>
        <p:sp>
          <p:nvSpPr>
            <p:cNvPr id="50" name="文本框 4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下阶段工作规划</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52" name="文本框 51"/>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后续工作重点投入方向</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对齐</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sp>
        <p:nvSpPr>
          <p:cNvPr id="64" name="节编号"/>
          <p:cNvSpPr>
            <a:spLocks noGrp="1"/>
          </p:cNvSpPr>
          <p:nvPr>
            <p:custDataLst>
              <p:tags r:id="rId10"/>
            </p:custDataLst>
          </p:nvPr>
        </p:nvSpPr>
        <p:spPr>
          <a:xfrm>
            <a:off x="6029960" y="144018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01</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65" name="节编号"/>
          <p:cNvSpPr>
            <a:spLocks noGrp="1"/>
          </p:cNvSpPr>
          <p:nvPr>
            <p:custDataLst>
              <p:tags r:id="rId11"/>
            </p:custDataLst>
          </p:nvPr>
        </p:nvSpPr>
        <p:spPr>
          <a:xfrm>
            <a:off x="6029960" y="23729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6" name="节编号"/>
          <p:cNvSpPr>
            <a:spLocks noGrp="1"/>
          </p:cNvSpPr>
          <p:nvPr>
            <p:custDataLst>
              <p:tags r:id="rId12"/>
            </p:custDataLst>
          </p:nvPr>
        </p:nvSpPr>
        <p:spPr>
          <a:xfrm>
            <a:off x="6029960" y="330508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7" name="节编号"/>
          <p:cNvSpPr>
            <a:spLocks noGrp="1"/>
          </p:cNvSpPr>
          <p:nvPr>
            <p:custDataLst>
              <p:tags r:id="rId13"/>
            </p:custDataLst>
          </p:nvPr>
        </p:nvSpPr>
        <p:spPr>
          <a:xfrm>
            <a:off x="6029960" y="423726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pic>
        <p:nvPicPr>
          <p:cNvPr id="68" name="图片 67" descr="深信服 + 智安全"/>
          <p:cNvPicPr>
            <a:picLocks noChangeAspect="1"/>
          </p:cNvPicPr>
          <p:nvPr/>
        </p:nvPicPr>
        <p:blipFill>
          <a:blip r:embed="rId14"/>
          <a:srcRect l="5232" t="26576" r="4938" b="29565"/>
          <a:stretch>
            <a:fillRect/>
          </a:stretch>
        </p:blipFill>
        <p:spPr>
          <a:xfrm>
            <a:off x="10330815" y="273073"/>
            <a:ext cx="1629867" cy="360000"/>
          </a:xfrm>
          <a:prstGeom prst="rect">
            <a:avLst/>
          </a:prstGeom>
        </p:spPr>
      </p:pic>
      <p:sp>
        <p:nvSpPr>
          <p:cNvPr id="5" name="节编号"/>
          <p:cNvSpPr>
            <a:spLocks noGrp="1"/>
          </p:cNvSpPr>
          <p:nvPr>
            <p:custDataLst>
              <p:tags r:id="rId15"/>
            </p:custDataLst>
          </p:nvPr>
        </p:nvSpPr>
        <p:spPr>
          <a:xfrm>
            <a:off x="6029960" y="51694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05</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grpSp>
        <p:nvGrpSpPr>
          <p:cNvPr id="6" name="组合 5"/>
          <p:cNvGrpSpPr/>
          <p:nvPr/>
        </p:nvGrpSpPr>
        <p:grpSpPr>
          <a:xfrm rot="0">
            <a:off x="7091045" y="5295172"/>
            <a:ext cx="3239770" cy="468000"/>
            <a:chOff x="11278" y="3926"/>
            <a:chExt cx="5102" cy="859"/>
          </a:xfrm>
        </p:grpSpPr>
        <p:sp>
          <p:nvSpPr>
            <p:cNvPr id="7" name="文本框 6"/>
            <p:cNvSpPr txBox="1"/>
            <p:nvPr>
              <p:custDataLst>
                <p:tags r:id="rId1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总结</a:t>
              </a: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与建议</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8" name="文本框 7"/>
            <p:cNvSpPr txBox="1"/>
            <p:nvPr>
              <p:custDataLst>
                <p:tags r:id="rId17"/>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成果回顾、决策建议、未来展望</a:t>
              </a:r>
              <a:endPar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pic>
        <p:nvPicPr>
          <p:cNvPr id="62" name="图片 61" descr="病毒检测@4x"/>
          <p:cNvPicPr>
            <a:picLocks noChangeAspect="1"/>
          </p:cNvPicPr>
          <p:nvPr/>
        </p:nvPicPr>
        <p:blipFill>
          <a:blip r:embed="rId18">
            <a:alphaModFix amt="84000"/>
          </a:blip>
          <a:srcRect l="-4651" t="-6497" r="18828" b="21030"/>
          <a:stretch>
            <a:fillRect/>
          </a:stretch>
        </p:blipFill>
        <p:spPr>
          <a:xfrm flipH="1">
            <a:off x="0" y="2709545"/>
            <a:ext cx="8221980" cy="4148455"/>
          </a:xfrm>
          <a:prstGeom prst="rect">
            <a:avLst/>
          </a:prstGeom>
        </p:spPr>
      </p:pic>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项目背景回顾</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同步项目信息、对齐运营目标</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66340"/>
            <a:ext cx="1800000" cy="157099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00</a:t>
            </a:r>
            <a:endPar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alphaModFix amt="61000"/>
          </a:blip>
          <a:stretch>
            <a:fillRect/>
          </a:stretch>
        </a:blipFill>
        <a:effectLst/>
      </p:bgPr>
    </p:bg>
    <p:spTree>
      <p:nvGrpSpPr>
        <p:cNvPr id="1" name=""/>
        <p:cNvGrpSpPr/>
        <p:nvPr/>
      </p:nvGrpSpPr>
      <p:grpSpPr>
        <a:xfrm>
          <a:off x="0" y="0"/>
          <a:ext cx="0" cy="0"/>
          <a:chOff x="0" y="0"/>
          <a:chExt cx="0" cy="0"/>
        </a:xfrm>
      </p:grpSpPr>
      <p:sp>
        <p:nvSpPr>
          <p:cNvPr id="103" name="文本框 102"/>
          <p:cNvSpPr txBox="1"/>
          <p:nvPr/>
        </p:nvSpPr>
        <p:spPr>
          <a:xfrm>
            <a:off x="1299210" y="1151890"/>
            <a:ext cx="9592945" cy="111061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近年来，国家对信息安全的重视不断提升，相关政策明确要求企业加强防护能力并接受更严格的监管。随着单位业务的快速发展，信息安全风险防控已成为经营风险管理的关键环节。本项目将从网络安全、应用安全、系统安全等方面系统提升单位的信息化安全运营水平，通过引入专业安全团队和云网端一体化方案，构建平战结合的安全运营体系。</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grpSp>
        <p:nvGrpSpPr>
          <p:cNvPr id="20" name="组合 19"/>
          <p:cNvGrpSpPr/>
          <p:nvPr/>
        </p:nvGrpSpPr>
        <p:grpSpPr>
          <a:xfrm>
            <a:off x="224790" y="289878"/>
            <a:ext cx="3597275" cy="326390"/>
            <a:chOff x="533" y="646"/>
            <a:chExt cx="5665" cy="514"/>
          </a:xfrm>
        </p:grpSpPr>
        <p:grpSp>
          <p:nvGrpSpPr>
            <p:cNvPr id="6" name="组合 5"/>
            <p:cNvGrpSpPr/>
            <p:nvPr/>
          </p:nvGrpSpPr>
          <p:grpSpPr>
            <a:xfrm rot="0">
              <a:off x="533" y="672"/>
              <a:ext cx="582" cy="420"/>
              <a:chOff x="533" y="672"/>
              <a:chExt cx="582" cy="420"/>
            </a:xfrm>
          </p:grpSpPr>
          <p:sp>
            <p:nvSpPr>
              <p:cNvPr id="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2427" cy="515"/>
            </a:xfrm>
            <a:prstGeom prst="rect">
              <a:avLst/>
            </a:prstGeom>
            <a:noFill/>
            <a:ln w="0" cap="flat">
              <a:noFill/>
              <a:prstDash val="solid"/>
              <a:miter lim="0"/>
            </a:ln>
          </p:spPr>
          <p:txBody>
            <a:bodyPr vert="horz" wrap="square" lIns="0" tIns="0" rIns="0" bIns="0"/>
            <a:p>
              <a:pPr algn="l" rtl="0" eaLnBrk="0">
                <a:lnSpc>
                  <a:spcPct val="78000"/>
                </a:lnSpc>
              </a:pPr>
              <a:endParaRPr sz="100" b="1" dirty="0">
                <a:solidFill>
                  <a:schemeClr val="tx1">
                    <a:lumMod val="85000"/>
                    <a:lumOff val="15000"/>
                  </a:schemeClr>
                </a:solidFill>
                <a:latin typeface="Source Han Sans CN Bold" panose="020B0600000000000000" charset="-122"/>
                <a:ea typeface="Source Han Sans CN Bold"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项目背景回顾</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cs typeface="黑体" panose="02010609060101010101" charset="-122"/>
                <a:sym typeface="Calibri" panose="020F0502020204030204" charset="0"/>
              </a:endParaRPr>
            </a:p>
          </p:txBody>
        </p:sp>
        <p:sp>
          <p:nvSpPr>
            <p:cNvPr id="19" name="textbox 158"/>
            <p:cNvSpPr/>
            <p:nvPr/>
          </p:nvSpPr>
          <p:spPr>
            <a:xfrm>
              <a:off x="3772" y="646"/>
              <a:ext cx="2427" cy="515"/>
            </a:xfrm>
            <a:prstGeom prst="rect">
              <a:avLst/>
            </a:prstGeom>
            <a:noFill/>
            <a:ln w="0" cap="flat">
              <a:noFill/>
              <a:prstDash val="solid"/>
              <a:miter lim="0"/>
            </a:ln>
          </p:spPr>
          <p:txBody>
            <a:bodyPr vert="horz" wrap="square" lIns="0" tIns="0" rIns="0" bIns="0"/>
            <a:p>
              <a:pPr algn="l" rtl="0" eaLnBrk="0">
                <a:lnSpc>
                  <a:spcPct val="58000"/>
                </a:lnSpc>
              </a:pPr>
              <a:endParaRPr sz="1600" b="1" dirty="0">
                <a:solidFill>
                  <a:srgbClr val="0B4CBB"/>
                </a:solidFill>
                <a:latin typeface="Source Han Sans CN Bold" panose="020B0600000000000000" charset="-122"/>
                <a:ea typeface="Source Han Sans CN Bold" panose="020B0600000000000000" charset="-122"/>
                <a:cs typeface="Arial" panose="020B0604020202020204"/>
              </a:endParaRPr>
            </a:p>
            <a:p>
              <a:pPr algn="l" rtl="0" eaLnBrk="0">
                <a:lnSpc>
                  <a:spcPct val="58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背景概述</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144" name="任意多边形: 形状 143"/>
          <p:cNvSpPr/>
          <p:nvPr>
            <p:custDataLst>
              <p:tags r:id="rId5"/>
            </p:custDataLst>
          </p:nvPr>
        </p:nvSpPr>
        <p:spPr>
          <a:xfrm>
            <a:off x="1869440"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任意多边形: 形状 144"/>
          <p:cNvSpPr/>
          <p:nvPr>
            <p:custDataLst>
              <p:tags r:id="rId6"/>
            </p:custDataLst>
          </p:nvPr>
        </p:nvSpPr>
        <p:spPr>
          <a:xfrm>
            <a:off x="161290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8" name="图形 146"/>
          <p:cNvSpPr/>
          <p:nvPr>
            <p:custDataLst>
              <p:tags r:id="rId7"/>
            </p:custDataLst>
          </p:nvPr>
        </p:nvSpPr>
        <p:spPr>
          <a:xfrm>
            <a:off x="2106295"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7" name="任意多边形: 形状 138"/>
          <p:cNvSpPr/>
          <p:nvPr>
            <p:custDataLst>
              <p:tags r:id="rId8"/>
            </p:custDataLst>
          </p:nvPr>
        </p:nvSpPr>
        <p:spPr>
          <a:xfrm>
            <a:off x="1422400" y="2568258"/>
            <a:ext cx="2410460" cy="341249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39" name="任意多边形: 形状 138"/>
          <p:cNvSpPr/>
          <p:nvPr>
            <p:custDataLst>
              <p:tags r:id="rId9"/>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 name="任意多边形: 形状 138"/>
          <p:cNvSpPr/>
          <p:nvPr>
            <p:custDataLst>
              <p:tags r:id="rId10"/>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8" name="任意多边形: 形状 138"/>
          <p:cNvSpPr/>
          <p:nvPr>
            <p:custDataLst>
              <p:tags r:id="rId11"/>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1" name="文本框 20"/>
          <p:cNvSpPr txBox="1"/>
          <p:nvPr>
            <p:custDataLst>
              <p:tags r:id="rId12"/>
            </p:custDataLst>
          </p:nvPr>
        </p:nvSpPr>
        <p:spPr>
          <a:xfrm>
            <a:off x="1681480" y="3101340"/>
            <a:ext cx="1877060" cy="380365"/>
          </a:xfrm>
          <a:prstGeom prst="rect">
            <a:avLst/>
          </a:prstGeom>
          <a:noFill/>
        </p:spPr>
        <p:txBody>
          <a:bodyPr wrap="square" lIns="0" tIns="0" rIns="0" bIns="0" rtlCol="0" anchor="ctr" anchorCtr="0">
            <a:noAutofit/>
          </a:bodyPr>
          <a:lstStyle/>
          <a:p>
            <a:pPr lvl="0" algn="l">
              <a:buClrTx/>
              <a:buSzTx/>
              <a:buFontTx/>
            </a:pPr>
            <a:r>
              <a:rPr lang="zh-CN" altLang="en-US" b="1">
                <a:solidFill>
                  <a:schemeClr val="accent5"/>
                </a:solidFill>
                <a:sym typeface="+mn-ea"/>
              </a:rPr>
              <a:t>监管通报有效应对</a:t>
            </a:r>
            <a:endParaRPr lang="zh-CN" altLang="en-US" b="1">
              <a:solidFill>
                <a:schemeClr val="accent5"/>
              </a:solidFill>
              <a:sym typeface="+mn-ea"/>
            </a:endParaRPr>
          </a:p>
        </p:txBody>
      </p:sp>
      <p:sp>
        <p:nvSpPr>
          <p:cNvPr id="22" name="文本框 21"/>
          <p:cNvSpPr txBox="1"/>
          <p:nvPr>
            <p:custDataLst>
              <p:tags r:id="rId13"/>
            </p:custDataLst>
          </p:nvPr>
        </p:nvSpPr>
        <p:spPr>
          <a:xfrm>
            <a:off x="1681480" y="3805238"/>
            <a:ext cx="1877060"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持续降低资产脆弱性风险，减少被黑客利用的机会</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有效应对监管机构的风险通报，保障信息化业务运营的合规</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直接连接符 2"/>
          <p:cNvCxnSpPr/>
          <p:nvPr>
            <p:custDataLst>
              <p:tags r:id="rId14"/>
            </p:custDataLst>
          </p:nvPr>
        </p:nvCxnSpPr>
        <p:spPr>
          <a:xfrm>
            <a:off x="1713230" y="3609023"/>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9" name="椭圆 8"/>
          <p:cNvSpPr/>
          <p:nvPr>
            <p:custDataLst>
              <p:tags r:id="rId15"/>
            </p:custDataLst>
          </p:nvPr>
        </p:nvSpPr>
        <p:spPr>
          <a:xfrm>
            <a:off x="1681480" y="2478088"/>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8" name="图片 17" descr="333438303937363b333438313037323bcad0b3a1cdc6b9e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785620" y="2582228"/>
            <a:ext cx="215900" cy="215900"/>
          </a:xfrm>
          <a:prstGeom prst="rect">
            <a:avLst/>
          </a:prstGeom>
        </p:spPr>
      </p:pic>
      <p:cxnSp>
        <p:nvCxnSpPr>
          <p:cNvPr id="49" name="直接连接符 48"/>
          <p:cNvCxnSpPr/>
          <p:nvPr>
            <p:custDataLst>
              <p:tags r:id="rId19"/>
            </p:custDataLst>
          </p:nvPr>
        </p:nvCxnSpPr>
        <p:spPr>
          <a:xfrm>
            <a:off x="3926205" y="4444683"/>
            <a:ext cx="460375" cy="0"/>
          </a:xfrm>
          <a:prstGeom prst="line">
            <a:avLst/>
          </a:prstGeom>
          <a:ln cap="rnd">
            <a:gradFill>
              <a:gsLst>
                <a:gs pos="0">
                  <a:schemeClr val="accent6">
                    <a:alpha val="90000"/>
                  </a:schemeClr>
                </a:gs>
                <a:gs pos="100000">
                  <a:schemeClr val="accent6">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 useBgFill="1">
        <p:nvSpPr>
          <p:cNvPr id="10" name="任意多边形: 形状 139"/>
          <p:cNvSpPr/>
          <p:nvPr>
            <p:custDataLst>
              <p:tags r:id="rId20"/>
            </p:custDataLst>
          </p:nvPr>
        </p:nvSpPr>
        <p:spPr>
          <a:xfrm>
            <a:off x="4545330" y="2602230"/>
            <a:ext cx="3041650" cy="325437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noFill/>
            <a:prstDash val="solid"/>
            <a:miter/>
          </a:ln>
          <a:effectLst>
            <a:outerShdw blurRad="139700" dist="635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140" name="任意多边形: 形状 139"/>
          <p:cNvSpPr/>
          <p:nvPr>
            <p:custDataLst>
              <p:tags r:id="rId21"/>
            </p:custDataLst>
          </p:nvPr>
        </p:nvSpPr>
        <p:spPr>
          <a:xfrm>
            <a:off x="4648835" y="2725420"/>
            <a:ext cx="2846705"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solidFill>
              <a:schemeClr val="accent6">
                <a:alpha val="10000"/>
              </a:schemeClr>
            </a:solidFill>
            <a:prstDash val="solid"/>
            <a:miter/>
          </a:ln>
          <a:effectLst>
            <a:outerShdw blurRad="114300" dist="508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3" name="任意多边形: 形状 139"/>
          <p:cNvSpPr/>
          <p:nvPr>
            <p:custDataLst>
              <p:tags r:id="rId22"/>
            </p:custDataLst>
          </p:nvPr>
        </p:nvSpPr>
        <p:spPr>
          <a:xfrm>
            <a:off x="4649470"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11" name="任意多边形: 形状 139"/>
          <p:cNvSpPr/>
          <p:nvPr>
            <p:custDataLst>
              <p:tags r:id="rId23"/>
            </p:custDataLst>
          </p:nvPr>
        </p:nvSpPr>
        <p:spPr>
          <a:xfrm>
            <a:off x="4648835"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gradFill>
            <a:gsLst>
              <a:gs pos="100000">
                <a:schemeClr val="accent6">
                  <a:lumMod val="60000"/>
                  <a:lumOff val="40000"/>
                  <a:alpha val="0"/>
                </a:schemeClr>
              </a:gs>
              <a:gs pos="0">
                <a:schemeClr val="accent6">
                  <a:lumMod val="60000"/>
                  <a:lumOff val="40000"/>
                  <a:alpha val="10000"/>
                </a:schemeClr>
              </a:gs>
            </a:gsLst>
            <a:lin ang="5400000" scaled="0"/>
          </a:gradFill>
          <a:ln w="4763" cap="flat">
            <a:noFill/>
            <a:prstDash val="solid"/>
            <a:miter/>
          </a:ln>
          <a:effectLst>
            <a:outerShdw blurRad="114300" dist="762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31" name="椭圆 30"/>
          <p:cNvSpPr/>
          <p:nvPr>
            <p:custDataLst>
              <p:tags r:id="rId24"/>
            </p:custDataLst>
          </p:nvPr>
        </p:nvSpPr>
        <p:spPr>
          <a:xfrm>
            <a:off x="5129530" y="2493963"/>
            <a:ext cx="424815" cy="424815"/>
          </a:xfrm>
          <a:prstGeom prst="ellipse">
            <a:avLst/>
          </a:prstGeom>
          <a:gradFill>
            <a:gsLst>
              <a:gs pos="100000">
                <a:schemeClr val="accent6">
                  <a:lumMod val="60000"/>
                  <a:lumOff val="40000"/>
                  <a:alpha val="100000"/>
                </a:schemeClr>
              </a:gs>
              <a:gs pos="2000">
                <a:schemeClr val="accent6">
                  <a:alpha val="100000"/>
                </a:schemeClr>
              </a:gs>
            </a:gsLst>
            <a:lin ang="2700000" scaled="0"/>
          </a:gradFill>
          <a:ln>
            <a:noFill/>
          </a:ln>
          <a:effectLst>
            <a:outerShdw blurRad="76200" dist="76200" dir="5400000" sx="97000" sy="97000" algn="t" rotWithShape="0">
              <a:schemeClr val="accent6">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2" name="图片 11" descr="333438303937363b333438313038303bd7e9d6afbcdcb9b9"/>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5233670" y="2598103"/>
            <a:ext cx="215900" cy="215900"/>
          </a:xfrm>
          <a:prstGeom prst="rect">
            <a:avLst/>
          </a:prstGeom>
        </p:spPr>
      </p:pic>
      <p:sp>
        <p:nvSpPr>
          <p:cNvPr id="13" name="文本框 12"/>
          <p:cNvSpPr txBox="1"/>
          <p:nvPr>
            <p:custDataLst>
              <p:tags r:id="rId28"/>
            </p:custDataLst>
          </p:nvPr>
        </p:nvSpPr>
        <p:spPr>
          <a:xfrm>
            <a:off x="4927600" y="2919095"/>
            <a:ext cx="2336165" cy="578485"/>
          </a:xfrm>
          <a:prstGeom prst="rect">
            <a:avLst/>
          </a:prstGeom>
          <a:noFill/>
        </p:spPr>
        <p:txBody>
          <a:bodyPr wrap="square" lIns="0" tIns="0" rIns="0" bIns="0" rtlCol="0" anchor="ctr" anchorCtr="0">
            <a:noAutofit/>
          </a:bodyPr>
          <a:lstStyle/>
          <a:p>
            <a:pPr algn="l"/>
            <a:r>
              <a:rPr lang="en-US" altLang="zh-CN" b="1">
                <a:solidFill>
                  <a:schemeClr val="accent6"/>
                </a:solidFill>
              </a:rPr>
              <a:t>7*24</a:t>
            </a:r>
            <a:r>
              <a:rPr lang="zh-CN" altLang="en-US" b="1">
                <a:solidFill>
                  <a:schemeClr val="accent6"/>
                </a:solidFill>
              </a:rPr>
              <a:t>小时业务安全保护</a:t>
            </a:r>
            <a:endParaRPr lang="zh-CN" altLang="en-US" b="1">
              <a:solidFill>
                <a:schemeClr val="accent6"/>
              </a:solidFill>
            </a:endParaRPr>
          </a:p>
        </p:txBody>
      </p:sp>
      <p:sp>
        <p:nvSpPr>
          <p:cNvPr id="14" name="文本框 13"/>
          <p:cNvSpPr txBox="1"/>
          <p:nvPr>
            <p:custDataLst>
              <p:tags r:id="rId29"/>
            </p:custDataLst>
          </p:nvPr>
        </p:nvSpPr>
        <p:spPr>
          <a:xfrm>
            <a:off x="4957445" y="3821430"/>
            <a:ext cx="2336165"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针对核心业务资产建立</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7*24</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小时的安全威胁检测与安全事件主动响应机制，持续监测安全威胁和事件，高效对抗攻击，保障数字化业务</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安全事故，有效规避业务损失</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5" name="直接连接符 14"/>
          <p:cNvCxnSpPr/>
          <p:nvPr>
            <p:custDataLst>
              <p:tags r:id="rId30"/>
            </p:custDataLst>
          </p:nvPr>
        </p:nvCxnSpPr>
        <p:spPr>
          <a:xfrm>
            <a:off x="4932680" y="3624898"/>
            <a:ext cx="387985" cy="0"/>
          </a:xfrm>
          <a:prstGeom prst="line">
            <a:avLst/>
          </a:prstGeom>
          <a:ln w="22225" cap="rnd">
            <a:gradFill>
              <a:gsLst>
                <a:gs pos="0">
                  <a:schemeClr val="accent6">
                    <a:alpha val="100000"/>
                  </a:schemeClr>
                </a:gs>
                <a:gs pos="100000">
                  <a:schemeClr val="accent6">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51" name="任意多边形: 形状 143"/>
          <p:cNvSpPr/>
          <p:nvPr>
            <p:custDataLst>
              <p:tags r:id="rId31"/>
            </p:custDataLst>
          </p:nvPr>
        </p:nvSpPr>
        <p:spPr>
          <a:xfrm>
            <a:off x="5250815"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6">
                    <a:alpha val="50000"/>
                  </a:schemeClr>
                </a:gs>
                <a:gs pos="100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2" name="任意多边形: 形状 144"/>
          <p:cNvSpPr/>
          <p:nvPr>
            <p:custDataLst>
              <p:tags r:id="rId32"/>
            </p:custDataLst>
          </p:nvPr>
        </p:nvSpPr>
        <p:spPr>
          <a:xfrm>
            <a:off x="500126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6">
                    <a:alpha val="30000"/>
                  </a:schemeClr>
                </a:gs>
                <a:gs pos="84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3" name="图形 146"/>
          <p:cNvSpPr/>
          <p:nvPr>
            <p:custDataLst>
              <p:tags r:id="rId33"/>
            </p:custDataLst>
          </p:nvPr>
        </p:nvSpPr>
        <p:spPr>
          <a:xfrm>
            <a:off x="5494020"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6">
                  <a:alpha val="0"/>
                </a:schemeClr>
              </a:gs>
              <a:gs pos="0">
                <a:schemeClr val="accent6">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24" name="任意多边形: 形状 138"/>
          <p:cNvSpPr/>
          <p:nvPr>
            <p:custDataLst>
              <p:tags r:id="rId34"/>
            </p:custDataLst>
          </p:nvPr>
        </p:nvSpPr>
        <p:spPr>
          <a:xfrm flipH="1">
            <a:off x="8300720" y="2589848"/>
            <a:ext cx="2421890" cy="338074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9" name="任意多边形: 形状 138"/>
          <p:cNvSpPr/>
          <p:nvPr>
            <p:custDataLst>
              <p:tags r:id="rId35"/>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40" name="任意多边形: 形状 138"/>
          <p:cNvSpPr/>
          <p:nvPr>
            <p:custDataLst>
              <p:tags r:id="rId36"/>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41" name="任意多边形: 形状 138"/>
          <p:cNvSpPr/>
          <p:nvPr>
            <p:custDataLst>
              <p:tags r:id="rId37"/>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43" name="文本框 42"/>
          <p:cNvSpPr txBox="1"/>
          <p:nvPr>
            <p:custDataLst>
              <p:tags r:id="rId38"/>
            </p:custDataLst>
          </p:nvPr>
        </p:nvSpPr>
        <p:spPr>
          <a:xfrm>
            <a:off x="8572500" y="3117215"/>
            <a:ext cx="1877695" cy="380365"/>
          </a:xfrm>
          <a:prstGeom prst="rect">
            <a:avLst/>
          </a:prstGeom>
          <a:noFill/>
        </p:spPr>
        <p:txBody>
          <a:bodyPr wrap="square" lIns="0" tIns="0" rIns="0" bIns="0" rtlCol="0" anchor="ctr" anchorCtr="0">
            <a:noAutofit/>
          </a:bodyPr>
          <a:lstStyle/>
          <a:p>
            <a:pPr algn="l"/>
            <a:r>
              <a:rPr lang="zh-CN" altLang="en-US" b="1">
                <a:solidFill>
                  <a:schemeClr val="accent5"/>
                </a:solidFill>
              </a:rPr>
              <a:t>重要时期安全保障</a:t>
            </a:r>
            <a:endParaRPr lang="zh-CN" altLang="en-US" b="1">
              <a:solidFill>
                <a:schemeClr val="accent5"/>
              </a:solidFill>
            </a:endParaRPr>
          </a:p>
        </p:txBody>
      </p:sp>
      <p:sp>
        <p:nvSpPr>
          <p:cNvPr id="44" name="文本框 43"/>
          <p:cNvSpPr txBox="1"/>
          <p:nvPr>
            <p:custDataLst>
              <p:tags r:id="rId39"/>
            </p:custDataLst>
          </p:nvPr>
        </p:nvSpPr>
        <p:spPr>
          <a:xfrm>
            <a:off x="8572500" y="3821430"/>
            <a:ext cx="1958975" cy="191198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提升重点时期网络安全保障和应急能力</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通过专项风险加固、全量威胁监测、多级安全专家协同</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提高单位重要时期网络安全保障水平，</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帮助</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5" name="直接连接符 44"/>
          <p:cNvCxnSpPr/>
          <p:nvPr>
            <p:custDataLst>
              <p:tags r:id="rId40"/>
            </p:custDataLst>
          </p:nvPr>
        </p:nvCxnSpPr>
        <p:spPr>
          <a:xfrm>
            <a:off x="8604250" y="3624898"/>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46" name="椭圆 45"/>
          <p:cNvSpPr/>
          <p:nvPr>
            <p:custDataLst>
              <p:tags r:id="rId41"/>
            </p:custDataLst>
          </p:nvPr>
        </p:nvSpPr>
        <p:spPr>
          <a:xfrm>
            <a:off x="8572500" y="2487613"/>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48" name="图片 47" descr="333438303937363b333438313035353bb2fac6b7c4a3d0cd"/>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8676640" y="2591753"/>
            <a:ext cx="215900" cy="215900"/>
          </a:xfrm>
          <a:prstGeom prst="rect">
            <a:avLst/>
          </a:prstGeom>
        </p:spPr>
      </p:pic>
      <p:sp>
        <p:nvSpPr>
          <p:cNvPr id="54" name="任意多边形: 形状 143"/>
          <p:cNvSpPr/>
          <p:nvPr>
            <p:custDataLst>
              <p:tags r:id="rId45"/>
            </p:custDataLst>
          </p:nvPr>
        </p:nvSpPr>
        <p:spPr>
          <a:xfrm>
            <a:off x="8656320" y="60448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5" name="任意多边形: 形状 144"/>
          <p:cNvSpPr/>
          <p:nvPr>
            <p:custDataLst>
              <p:tags r:id="rId46"/>
            </p:custDataLst>
          </p:nvPr>
        </p:nvSpPr>
        <p:spPr>
          <a:xfrm>
            <a:off x="8399780" y="59909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6" name="图形 146"/>
          <p:cNvSpPr/>
          <p:nvPr>
            <p:custDataLst>
              <p:tags r:id="rId47"/>
            </p:custDataLst>
          </p:nvPr>
        </p:nvSpPr>
        <p:spPr>
          <a:xfrm>
            <a:off x="8893175" y="61007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62" name="直接连接符 61"/>
          <p:cNvCxnSpPr/>
          <p:nvPr>
            <p:custDataLst>
              <p:tags r:id="rId48"/>
            </p:custDataLst>
          </p:nvPr>
        </p:nvCxnSpPr>
        <p:spPr>
          <a:xfrm>
            <a:off x="7586980" y="4444683"/>
            <a:ext cx="460375" cy="0"/>
          </a:xfrm>
          <a:prstGeom prst="line">
            <a:avLst/>
          </a:prstGeom>
          <a:ln cap="rnd">
            <a:gradFill>
              <a:gsLst>
                <a:gs pos="0">
                  <a:schemeClr val="accent5">
                    <a:alpha val="90000"/>
                  </a:schemeClr>
                </a:gs>
                <a:gs pos="100000">
                  <a:schemeClr val="accent5">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Tree>
    <p:custDataLst>
      <p:tags r:id="rId4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组 33832@2x (1)"/>
          <p:cNvPicPr>
            <a:picLocks noChangeAspect="1"/>
          </p:cNvPicPr>
          <p:nvPr/>
        </p:nvPicPr>
        <p:blipFill>
          <a:blip r:embed="rId1"/>
          <a:stretch>
            <a:fillRect/>
          </a:stretch>
        </p:blipFill>
        <p:spPr>
          <a:xfrm>
            <a:off x="0" y="1936115"/>
            <a:ext cx="10034270" cy="4688205"/>
          </a:xfrm>
          <a:prstGeom prst="rect">
            <a:avLst/>
          </a:prstGeom>
        </p:spPr>
      </p:pic>
      <p:sp>
        <p:nvSpPr>
          <p:cNvPr id="80" name="椭圆 79"/>
          <p:cNvSpPr/>
          <p:nvPr/>
        </p:nvSpPr>
        <p:spPr>
          <a:xfrm>
            <a:off x="7504430" y="4028440"/>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7504430" y="2788285"/>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custDataLst>
              <p:tags r:id="rId2"/>
            </p:custDataLst>
          </p:nvPr>
        </p:nvSpPr>
        <p:spPr>
          <a:xfrm>
            <a:off x="10292715" y="2060575"/>
            <a:ext cx="1260000" cy="180000"/>
          </a:xfrm>
          <a:prstGeom prst="rect">
            <a:avLst/>
          </a:prstGeom>
          <a:noFill/>
        </p:spPr>
        <p:txBody>
          <a:bodyPr wrap="square" lIns="0" tIns="0" rIns="0" bIns="0" rtlCol="0" anchor="ctr" anchorCtr="0">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下一代防火墙</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17" name="矩形 16"/>
          <p:cNvSpPr/>
          <p:nvPr>
            <p:custDataLst>
              <p:tags r:id="rId3"/>
            </p:custDataLst>
          </p:nvPr>
        </p:nvSpPr>
        <p:spPr>
          <a:xfrm>
            <a:off x="10292715" y="2240280"/>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提供攻击路径上的应用层网络攻击保护，接入安全运营平台统一管理和联动响应。</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24" name="矩形 23"/>
          <p:cNvSpPr/>
          <p:nvPr>
            <p:custDataLst>
              <p:tags r:id="rId4"/>
            </p:custDataLst>
          </p:nvPr>
        </p:nvSpPr>
        <p:spPr>
          <a:xfrm>
            <a:off x="10155238" y="2073275"/>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25" name="矩形 24"/>
          <p:cNvSpPr/>
          <p:nvPr>
            <p:custDataLst>
              <p:tags r:id="rId5"/>
            </p:custDataLst>
          </p:nvPr>
        </p:nvSpPr>
        <p:spPr>
          <a:xfrm>
            <a:off x="10292715" y="3830320"/>
            <a:ext cx="1350010" cy="179705"/>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端点安全软件</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27" name="矩形 26"/>
          <p:cNvSpPr/>
          <p:nvPr>
            <p:custDataLst>
              <p:tags r:id="rId6"/>
            </p:custDataLst>
          </p:nvPr>
        </p:nvSpPr>
        <p:spPr>
          <a:xfrm>
            <a:off x="10292715" y="4010660"/>
            <a:ext cx="1672590"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en-US"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AES</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实现端点恶意文件</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进程</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高级威胁防护，联动</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XDR/</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Regular" panose="020B0600000000000000" charset="-122"/>
                <a:sym typeface="+mn-ea"/>
              </a:rPr>
              <a:t>MSSP</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平台实现端侧异常快速响应。</a:t>
            </a:r>
            <a:endPar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sp>
        <p:nvSpPr>
          <p:cNvPr id="28" name="矩形 27"/>
          <p:cNvSpPr/>
          <p:nvPr>
            <p:custDataLst>
              <p:tags r:id="rId7"/>
            </p:custDataLst>
          </p:nvPr>
        </p:nvSpPr>
        <p:spPr>
          <a:xfrm>
            <a:off x="10155238" y="3830003"/>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0" name="矩形 29"/>
          <p:cNvSpPr/>
          <p:nvPr>
            <p:custDataLst>
              <p:tags r:id="rId8"/>
            </p:custDataLst>
          </p:nvPr>
        </p:nvSpPr>
        <p:spPr>
          <a:xfrm>
            <a:off x="10292398" y="2969578"/>
            <a:ext cx="1260000" cy="180000"/>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6"/>
                </a:solidFill>
                <a:latin typeface="Source Han Sans CN Medium" panose="020B0600000000000000" charset="-122"/>
                <a:ea typeface="Source Han Sans CN Medium" panose="020B0600000000000000" charset="-122"/>
                <a:cs typeface="+mn-ea"/>
                <a:sym typeface="+mn-ea"/>
              </a:rPr>
              <a:t>潜伏威胁探针</a:t>
            </a:r>
            <a:endParaRPr lang="zh-CN" altLang="en-US" sz="1200">
              <a:solidFill>
                <a:schemeClr val="accent6"/>
              </a:solidFill>
              <a:latin typeface="Source Han Sans CN Medium" panose="020B0600000000000000" charset="-122"/>
              <a:ea typeface="Source Han Sans CN Medium" panose="020B0600000000000000" charset="-122"/>
              <a:cs typeface="+mn-ea"/>
              <a:sym typeface="+mn-ea"/>
            </a:endParaRPr>
          </a:p>
        </p:txBody>
      </p:sp>
      <p:sp>
        <p:nvSpPr>
          <p:cNvPr id="31" name="矩形 30"/>
          <p:cNvSpPr/>
          <p:nvPr>
            <p:custDataLst>
              <p:tags r:id="rId9"/>
            </p:custDataLst>
          </p:nvPr>
        </p:nvSpPr>
        <p:spPr>
          <a:xfrm>
            <a:off x="10292715" y="3149600"/>
            <a:ext cx="1673225"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实时监测覆盖全网流量，日志上报安全能力中台统一分析。</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32" name="矩形 31"/>
          <p:cNvSpPr/>
          <p:nvPr>
            <p:custDataLst>
              <p:tags r:id="rId10"/>
            </p:custDataLst>
          </p:nvPr>
        </p:nvSpPr>
        <p:spPr>
          <a:xfrm>
            <a:off x="10155238" y="2956878"/>
            <a:ext cx="32400"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4" name="矩形 33"/>
          <p:cNvSpPr/>
          <p:nvPr>
            <p:custDataLst>
              <p:tags r:id="rId11"/>
            </p:custDataLst>
          </p:nvPr>
        </p:nvSpPr>
        <p:spPr>
          <a:xfrm>
            <a:off x="10292398" y="572992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安全专家服务</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35" name="矩形 34"/>
          <p:cNvSpPr/>
          <p:nvPr>
            <p:custDataLst>
              <p:tags r:id="rId12"/>
            </p:custDataLst>
          </p:nvPr>
        </p:nvSpPr>
        <p:spPr>
          <a:xfrm>
            <a:off x="10292715" y="5922645"/>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安全专家</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7*24</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护航，二次校验告警工单，主动跟进问题确保闭环，定期排查潜在风险保障预防有效</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6" name="矩形 35"/>
          <p:cNvSpPr/>
          <p:nvPr>
            <p:custDataLst>
              <p:tags r:id="rId13"/>
            </p:custDataLst>
          </p:nvPr>
        </p:nvSpPr>
        <p:spPr>
          <a:xfrm>
            <a:off x="10155238" y="5717223"/>
            <a:ext cx="32385"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7" name="矩形 36"/>
          <p:cNvSpPr/>
          <p:nvPr>
            <p:custDataLst>
              <p:tags r:id="rId14"/>
            </p:custDataLst>
          </p:nvPr>
        </p:nvSpPr>
        <p:spPr>
          <a:xfrm>
            <a:off x="10292398" y="475710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rPr>
              <a:t>XDR及MSSP平台</a:t>
            </a:r>
            <a:endPar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38" name="矩形 37"/>
          <p:cNvSpPr/>
          <p:nvPr>
            <p:custDataLst>
              <p:tags r:id="rId15"/>
            </p:custDataLst>
          </p:nvPr>
        </p:nvSpPr>
        <p:spPr>
          <a:xfrm>
            <a:off x="10292715" y="4982210"/>
            <a:ext cx="1673225"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集成</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能力，通过智能解析日志、智能检测分析、智能研判调查大幅提升运营效率。</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9" name="矩形 38"/>
          <p:cNvSpPr/>
          <p:nvPr>
            <p:custDataLst>
              <p:tags r:id="rId16"/>
            </p:custDataLst>
          </p:nvPr>
        </p:nvSpPr>
        <p:spPr>
          <a:xfrm>
            <a:off x="10155238" y="4757103"/>
            <a:ext cx="32385"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grpSp>
        <p:nvGrpSpPr>
          <p:cNvPr id="12" name="组合 11"/>
          <p:cNvGrpSpPr/>
          <p:nvPr/>
        </p:nvGrpSpPr>
        <p:grpSpPr>
          <a:xfrm>
            <a:off x="224790" y="289878"/>
            <a:ext cx="5715000" cy="327025"/>
            <a:chOff x="533" y="646"/>
            <a:chExt cx="900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7"/>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18"/>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安全运营技术</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架构</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sp>
          <p:nvSpPr>
            <p:cNvPr id="19" name="textbox 158"/>
            <p:cNvSpPr/>
            <p:nvPr/>
          </p:nvSpPr>
          <p:spPr>
            <a:xfrm>
              <a:off x="4863" y="715"/>
              <a:ext cx="467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人机共智、云地协同运营</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19"/>
          <a:srcRect l="5232" t="26576" r="4938" b="29565"/>
          <a:stretch>
            <a:fillRect/>
          </a:stretch>
        </p:blipFill>
        <p:spPr>
          <a:xfrm>
            <a:off x="10330815" y="273073"/>
            <a:ext cx="1629867" cy="360000"/>
          </a:xfrm>
          <a:prstGeom prst="rect">
            <a:avLst/>
          </a:prstGeom>
        </p:spPr>
      </p:pic>
      <p:sp>
        <p:nvSpPr>
          <p:cNvPr id="21" name="文本框 20"/>
          <p:cNvSpPr txBox="1"/>
          <p:nvPr/>
        </p:nvSpPr>
        <p:spPr>
          <a:xfrm>
            <a:off x="560070" y="819150"/>
            <a:ext cx="11071225" cy="737235"/>
          </a:xfrm>
          <a:prstGeom prst="rect">
            <a:avLst/>
          </a:prstGeom>
          <a:noFill/>
        </p:spPr>
        <p:txBody>
          <a:bodyPr wrap="square" rtlCol="0" anchor="ctr" anchorCtr="0">
            <a:spAutoFit/>
          </a:bodyPr>
          <a:p>
            <a:pPr algn="l">
              <a:lnSpc>
                <a:spcPct val="150000"/>
              </a:lnSpc>
            </a:pP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安全组件+平台+专家服务</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构建云网端安全托管运营解决方案，聚焦风险管控成效，以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人机共智</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驱动，依托</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7×24小时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持续守护，围绕</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资产、脆弱性、威胁、事件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四大核心要素，打造平战结合的安全运营体系，为业务资产提供稳定、可靠的全周期防护。</a:t>
            </a:r>
            <a:endParaRPr lang="zh-CN" altLang="en-US" sz="1400" dirty="0">
              <a:solidFill>
                <a:schemeClr val="tx1">
                  <a:lumMod val="85000"/>
                  <a:lumOff val="15000"/>
                </a:schemeClr>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grpSp>
        <p:nvGrpSpPr>
          <p:cNvPr id="42" name="组合 41"/>
          <p:cNvGrpSpPr/>
          <p:nvPr/>
        </p:nvGrpSpPr>
        <p:grpSpPr>
          <a:xfrm>
            <a:off x="285115" y="2512695"/>
            <a:ext cx="1834515" cy="645160"/>
            <a:chOff x="449" y="3819"/>
            <a:chExt cx="2889" cy="1016"/>
          </a:xfrm>
        </p:grpSpPr>
        <p:pic>
          <p:nvPicPr>
            <p:cNvPr id="5" name="图片 4" descr="LOGO-AF@1x"/>
            <p:cNvPicPr>
              <a:picLocks noChangeAspect="1"/>
            </p:cNvPicPr>
            <p:nvPr/>
          </p:nvPicPr>
          <p:blipFill>
            <a:blip r:embed="rId20"/>
            <a:stretch>
              <a:fillRect/>
            </a:stretch>
          </p:blipFill>
          <p:spPr>
            <a:xfrm>
              <a:off x="449" y="4001"/>
              <a:ext cx="628" cy="628"/>
            </a:xfrm>
            <a:prstGeom prst="rect">
              <a:avLst/>
            </a:prstGeom>
          </p:spPr>
        </p:pic>
        <p:sp>
          <p:nvSpPr>
            <p:cNvPr id="11" name="文本框 10"/>
            <p:cNvSpPr txBox="1"/>
            <p:nvPr/>
          </p:nvSpPr>
          <p:spPr>
            <a:xfrm>
              <a:off x="1213" y="3819"/>
              <a:ext cx="2125"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AF*10</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pP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1" name="组合 40"/>
          <p:cNvGrpSpPr/>
          <p:nvPr/>
        </p:nvGrpSpPr>
        <p:grpSpPr>
          <a:xfrm>
            <a:off x="285115" y="3519170"/>
            <a:ext cx="1805305" cy="460375"/>
            <a:chOff x="449" y="5404"/>
            <a:chExt cx="2843" cy="725"/>
          </a:xfrm>
        </p:grpSpPr>
        <p:pic>
          <p:nvPicPr>
            <p:cNvPr id="7" name="图片 6" descr="LOGO-STA@1x"/>
            <p:cNvPicPr>
              <a:picLocks noChangeAspect="1"/>
            </p:cNvPicPr>
            <p:nvPr/>
          </p:nvPicPr>
          <p:blipFill>
            <a:blip r:embed="rId21"/>
            <a:stretch>
              <a:fillRect/>
            </a:stretch>
          </p:blipFill>
          <p:spPr>
            <a:xfrm>
              <a:off x="449" y="5449"/>
              <a:ext cx="628" cy="628"/>
            </a:xfrm>
            <a:prstGeom prst="rect">
              <a:avLst/>
            </a:prstGeom>
          </p:spPr>
        </p:pic>
        <p:sp>
          <p:nvSpPr>
            <p:cNvPr id="22" name="文本框 21"/>
            <p:cNvSpPr txBox="1"/>
            <p:nvPr/>
          </p:nvSpPr>
          <p:spPr>
            <a:xfrm>
              <a:off x="1166" y="5404"/>
              <a:ext cx="2126"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0" name="组合 39"/>
          <p:cNvGrpSpPr/>
          <p:nvPr/>
        </p:nvGrpSpPr>
        <p:grpSpPr>
          <a:xfrm>
            <a:off x="285115" y="4388485"/>
            <a:ext cx="1804670" cy="460375"/>
            <a:chOff x="449" y="6773"/>
            <a:chExt cx="2842" cy="725"/>
          </a:xfrm>
        </p:grpSpPr>
        <p:pic>
          <p:nvPicPr>
            <p:cNvPr id="6" name="图片 5" descr="LOGO-EDR@1x"/>
            <p:cNvPicPr>
              <a:picLocks noChangeAspect="1"/>
            </p:cNvPicPr>
            <p:nvPr/>
          </p:nvPicPr>
          <p:blipFill>
            <a:blip r:embed="rId22"/>
            <a:stretch>
              <a:fillRect/>
            </a:stretch>
          </p:blipFill>
          <p:spPr>
            <a:xfrm>
              <a:off x="449" y="6816"/>
              <a:ext cx="628" cy="628"/>
            </a:xfrm>
            <a:prstGeom prst="rect">
              <a:avLst/>
            </a:prstGeom>
          </p:spPr>
        </p:pic>
        <p:sp>
          <p:nvSpPr>
            <p:cNvPr id="26" name="文本框 25"/>
            <p:cNvSpPr txBox="1"/>
            <p:nvPr/>
          </p:nvSpPr>
          <p:spPr>
            <a:xfrm>
              <a:off x="1166" y="6773"/>
              <a:ext cx="2125"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33" name="组合 32"/>
          <p:cNvGrpSpPr/>
          <p:nvPr/>
        </p:nvGrpSpPr>
        <p:grpSpPr>
          <a:xfrm>
            <a:off x="285115" y="5301615"/>
            <a:ext cx="1864995" cy="460375"/>
            <a:chOff x="449" y="8211"/>
            <a:chExt cx="2937" cy="725"/>
          </a:xfrm>
        </p:grpSpPr>
        <p:pic>
          <p:nvPicPr>
            <p:cNvPr id="4" name="图片 3" descr="异常扫描@1x"/>
            <p:cNvPicPr>
              <a:picLocks noChangeAspect="1"/>
            </p:cNvPicPr>
            <p:nvPr/>
          </p:nvPicPr>
          <p:blipFill>
            <a:blip r:embed="rId23"/>
            <a:stretch>
              <a:fillRect/>
            </a:stretch>
          </p:blipFill>
          <p:spPr>
            <a:xfrm>
              <a:off x="449" y="8260"/>
              <a:ext cx="628" cy="628"/>
            </a:xfrm>
            <a:prstGeom prst="rect">
              <a:avLst/>
            </a:prstGeom>
          </p:spPr>
        </p:pic>
        <p:sp>
          <p:nvSpPr>
            <p:cNvPr id="29" name="文本框 28"/>
            <p:cNvSpPr txBox="1"/>
            <p:nvPr/>
          </p:nvSpPr>
          <p:spPr>
            <a:xfrm>
              <a:off x="1166" y="8211"/>
              <a:ext cx="2220"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9" name="组合 48"/>
          <p:cNvGrpSpPr/>
          <p:nvPr/>
        </p:nvGrpSpPr>
        <p:grpSpPr>
          <a:xfrm>
            <a:off x="2089785" y="1801495"/>
            <a:ext cx="1268095" cy="721360"/>
            <a:chOff x="3291" y="2837"/>
            <a:chExt cx="1997" cy="1136"/>
          </a:xfrm>
        </p:grpSpPr>
        <p:grpSp>
          <p:nvGrpSpPr>
            <p:cNvPr id="47" name="组合 46"/>
            <p:cNvGrpSpPr/>
            <p:nvPr/>
          </p:nvGrpSpPr>
          <p:grpSpPr>
            <a:xfrm>
              <a:off x="3460" y="2837"/>
              <a:ext cx="1828" cy="554"/>
              <a:chOff x="4793" y="4123"/>
              <a:chExt cx="1828" cy="554"/>
            </a:xfrm>
          </p:grpSpPr>
          <p:sp>
            <p:nvSpPr>
              <p:cNvPr id="45" name="文本框 44"/>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关联聚合、智能分析</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48" name="直接连接符 47"/>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0" name="组合 49"/>
          <p:cNvGrpSpPr/>
          <p:nvPr/>
        </p:nvGrpSpPr>
        <p:grpSpPr>
          <a:xfrm>
            <a:off x="3721100" y="2305685"/>
            <a:ext cx="1268095" cy="721360"/>
            <a:chOff x="3291" y="2837"/>
            <a:chExt cx="1997" cy="1136"/>
          </a:xfrm>
        </p:grpSpPr>
        <p:grpSp>
          <p:nvGrpSpPr>
            <p:cNvPr id="51" name="组合 50"/>
            <p:cNvGrpSpPr/>
            <p:nvPr/>
          </p:nvGrpSpPr>
          <p:grpSpPr>
            <a:xfrm>
              <a:off x="3460" y="2837"/>
              <a:ext cx="1828" cy="554"/>
              <a:chOff x="4793" y="4123"/>
              <a:chExt cx="1828" cy="554"/>
            </a:xfrm>
          </p:grpSpPr>
          <p:sp>
            <p:nvSpPr>
              <p:cNvPr id="52" name="文本框 51"/>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深度理解、智能校验</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4" name="直接连接符 5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5" name="组合 54"/>
          <p:cNvGrpSpPr/>
          <p:nvPr/>
        </p:nvGrpSpPr>
        <p:grpSpPr>
          <a:xfrm>
            <a:off x="4989195" y="2842895"/>
            <a:ext cx="1268095" cy="721360"/>
            <a:chOff x="3291" y="2837"/>
            <a:chExt cx="1997" cy="1136"/>
          </a:xfrm>
        </p:grpSpPr>
        <p:grpSp>
          <p:nvGrpSpPr>
            <p:cNvPr id="56" name="组合 55"/>
            <p:cNvGrpSpPr/>
            <p:nvPr/>
          </p:nvGrpSpPr>
          <p:grpSpPr>
            <a:xfrm>
              <a:off x="3460" y="2837"/>
              <a:ext cx="1828" cy="554"/>
              <a:chOff x="4793" y="4123"/>
              <a:chExt cx="1828" cy="554"/>
            </a:xfrm>
          </p:grpSpPr>
          <p:sp>
            <p:nvSpPr>
              <p:cNvPr id="57" name="文本框 56"/>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专家研判、协同处置</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9" name="直接连接符 58"/>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61" name="文本框 60"/>
          <p:cNvSpPr txBox="1"/>
          <p:nvPr/>
        </p:nvSpPr>
        <p:spPr>
          <a:xfrm>
            <a:off x="2995930" y="4069715"/>
            <a:ext cx="3489960" cy="184150"/>
          </a:xfrm>
          <a:prstGeom prst="rect">
            <a:avLst/>
          </a:prstGeom>
          <a:noFill/>
        </p:spPr>
        <p:txBody>
          <a:bodyPr wrap="square" lIns="0" tIns="0" rIns="0" bIns="0" rtlCol="0" anchor="t" anchorCtr="0">
            <a:spAutoFit/>
          </a:bodyPr>
          <a:p>
            <a:pPr algn="l">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68" name="组合 67"/>
          <p:cNvGrpSpPr/>
          <p:nvPr/>
        </p:nvGrpSpPr>
        <p:grpSpPr>
          <a:xfrm>
            <a:off x="6441440" y="3272790"/>
            <a:ext cx="1038860" cy="2517140"/>
            <a:chOff x="10432" y="5154"/>
            <a:chExt cx="1636" cy="3964"/>
          </a:xfrm>
        </p:grpSpPr>
        <p:pic>
          <p:nvPicPr>
            <p:cNvPr id="8" name="图片 7" descr="多边形 2@1x"/>
            <p:cNvPicPr>
              <a:picLocks noChangeAspect="1"/>
            </p:cNvPicPr>
            <p:nvPr/>
          </p:nvPicPr>
          <p:blipFill>
            <a:blip r:embed="rId24"/>
            <a:stretch>
              <a:fillRect/>
            </a:stretch>
          </p:blipFill>
          <p:spPr>
            <a:xfrm>
              <a:off x="10960" y="8696"/>
              <a:ext cx="511" cy="422"/>
            </a:xfrm>
            <a:prstGeom prst="rect">
              <a:avLst/>
            </a:prstGeom>
          </p:spPr>
        </p:pic>
        <p:pic>
          <p:nvPicPr>
            <p:cNvPr id="9" name="图片 8" descr="矩形 2419@1x-2"/>
            <p:cNvPicPr>
              <a:picLocks noChangeAspect="1"/>
            </p:cNvPicPr>
            <p:nvPr/>
          </p:nvPicPr>
          <p:blipFill>
            <a:blip r:embed="rId25"/>
            <a:stretch>
              <a:fillRect/>
            </a:stretch>
          </p:blipFill>
          <p:spPr>
            <a:xfrm>
              <a:off x="10432" y="6826"/>
              <a:ext cx="1636" cy="929"/>
            </a:xfrm>
            <a:prstGeom prst="rect">
              <a:avLst/>
            </a:prstGeom>
          </p:spPr>
        </p:pic>
        <p:pic>
          <p:nvPicPr>
            <p:cNvPr id="10" name="图片 9" descr="矩形 2419@1x"/>
            <p:cNvPicPr>
              <a:picLocks noChangeAspect="1"/>
            </p:cNvPicPr>
            <p:nvPr/>
          </p:nvPicPr>
          <p:blipFill>
            <a:blip r:embed="rId26"/>
            <a:stretch>
              <a:fillRect/>
            </a:stretch>
          </p:blipFill>
          <p:spPr>
            <a:xfrm>
              <a:off x="10432" y="5433"/>
              <a:ext cx="1636" cy="929"/>
            </a:xfrm>
            <a:prstGeom prst="rect">
              <a:avLst/>
            </a:prstGeom>
          </p:spPr>
        </p:pic>
        <p:sp>
          <p:nvSpPr>
            <p:cNvPr id="63" name="矩形 62"/>
            <p:cNvSpPr/>
            <p:nvPr>
              <p:custDataLst>
                <p:tags r:id="rId27"/>
              </p:custDataLst>
            </p:nvPr>
          </p:nvSpPr>
          <p:spPr>
            <a:xfrm>
              <a:off x="10502" y="5154"/>
              <a:ext cx="1331"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4" name="矩形 63"/>
            <p:cNvSpPr/>
            <p:nvPr>
              <p:custDataLst>
                <p:tags r:id="rId28"/>
              </p:custDataLst>
            </p:nvPr>
          </p:nvSpPr>
          <p:spPr>
            <a:xfrm>
              <a:off x="10502" y="8014"/>
              <a:ext cx="1542"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非</a:t>
              </a: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5" name="矩形 64"/>
            <p:cNvSpPr/>
            <p:nvPr>
              <p:custDataLst>
                <p:tags r:id="rId29"/>
              </p:custDataLst>
            </p:nvPr>
          </p:nvSpPr>
          <p:spPr>
            <a:xfrm>
              <a:off x="10502" y="5720"/>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6" name="矩形 65"/>
            <p:cNvSpPr/>
            <p:nvPr>
              <p:custDataLst>
                <p:tags r:id="rId30"/>
              </p:custDataLst>
            </p:nvPr>
          </p:nvSpPr>
          <p:spPr>
            <a:xfrm>
              <a:off x="10502" y="7142"/>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7" name="矩形 66"/>
            <p:cNvSpPr/>
            <p:nvPr>
              <p:custDataLst>
                <p:tags r:id="rId31"/>
              </p:custDataLst>
            </p:nvPr>
          </p:nvSpPr>
          <p:spPr>
            <a:xfrm>
              <a:off x="10890" y="6164"/>
              <a:ext cx="457" cy="704"/>
            </a:xfrm>
            <a:prstGeom prst="rect">
              <a:avLst/>
            </a:prstGeom>
            <a:noFill/>
          </p:spPr>
          <p:txBody>
            <a:bodyPr wrap="square" lIns="0" tIns="0" rIns="0" bIns="0" rtlCol="0" anchor="t"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grpSp>
        <p:nvGrpSpPr>
          <p:cNvPr id="74" name="组合 73"/>
          <p:cNvGrpSpPr/>
          <p:nvPr/>
        </p:nvGrpSpPr>
        <p:grpSpPr>
          <a:xfrm>
            <a:off x="7620000" y="3346450"/>
            <a:ext cx="885190" cy="552450"/>
            <a:chOff x="12442" y="5162"/>
            <a:chExt cx="1394" cy="870"/>
          </a:xfrm>
        </p:grpSpPr>
        <p:pic>
          <p:nvPicPr>
            <p:cNvPr id="3" name="图片 2" descr="路径 642@1x"/>
            <p:cNvPicPr>
              <a:picLocks noChangeAspect="1"/>
            </p:cNvPicPr>
            <p:nvPr/>
          </p:nvPicPr>
          <p:blipFill>
            <a:blip r:embed="rId32"/>
            <a:stretch>
              <a:fillRect/>
            </a:stretch>
          </p:blipFill>
          <p:spPr>
            <a:xfrm>
              <a:off x="12442" y="5162"/>
              <a:ext cx="1395" cy="870"/>
            </a:xfrm>
            <a:prstGeom prst="rect">
              <a:avLst/>
            </a:prstGeom>
          </p:spPr>
        </p:pic>
        <p:sp>
          <p:nvSpPr>
            <p:cNvPr id="70" name="文本框 69"/>
            <p:cNvSpPr txBox="1"/>
            <p:nvPr/>
          </p:nvSpPr>
          <p:spPr>
            <a:xfrm>
              <a:off x="12645" y="5393"/>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grpSp>
        <p:nvGrpSpPr>
          <p:cNvPr id="75" name="组合 74"/>
          <p:cNvGrpSpPr/>
          <p:nvPr/>
        </p:nvGrpSpPr>
        <p:grpSpPr>
          <a:xfrm>
            <a:off x="7620000" y="4607560"/>
            <a:ext cx="885190" cy="552450"/>
            <a:chOff x="12442" y="7479"/>
            <a:chExt cx="1394" cy="870"/>
          </a:xfrm>
        </p:grpSpPr>
        <p:pic>
          <p:nvPicPr>
            <p:cNvPr id="71" name="图片 70" descr="路径 642@1x"/>
            <p:cNvPicPr>
              <a:picLocks noChangeAspect="1"/>
            </p:cNvPicPr>
            <p:nvPr/>
          </p:nvPicPr>
          <p:blipFill>
            <a:blip r:embed="rId32"/>
            <a:stretch>
              <a:fillRect/>
            </a:stretch>
          </p:blipFill>
          <p:spPr>
            <a:xfrm>
              <a:off x="12442" y="7479"/>
              <a:ext cx="1395" cy="870"/>
            </a:xfrm>
            <a:prstGeom prst="rect">
              <a:avLst/>
            </a:prstGeom>
          </p:spPr>
        </p:pic>
        <p:sp>
          <p:nvSpPr>
            <p:cNvPr id="72" name="文本框 71"/>
            <p:cNvSpPr txBox="1"/>
            <p:nvPr/>
          </p:nvSpPr>
          <p:spPr>
            <a:xfrm>
              <a:off x="12645" y="7710"/>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sp>
        <p:nvSpPr>
          <p:cNvPr id="76" name="文本框 75"/>
          <p:cNvSpPr txBox="1"/>
          <p:nvPr/>
        </p:nvSpPr>
        <p:spPr>
          <a:xfrm>
            <a:off x="8618855" y="3093085"/>
            <a:ext cx="1160780" cy="73723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脆弱性管理</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专家研判</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专家对抗</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应急处置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7" name="文本框 76"/>
          <p:cNvSpPr txBox="1"/>
          <p:nvPr/>
        </p:nvSpPr>
        <p:spPr>
          <a:xfrm>
            <a:off x="8618855" y="4607560"/>
            <a:ext cx="1160780" cy="899795"/>
          </a:xfrm>
          <a:prstGeom prst="rect">
            <a:avLst/>
          </a:prstGeom>
        </p:spPr>
        <p:txBody>
          <a:bodyPr wrap="square" lIns="0" tIns="0" rIns="0" bIns="0">
            <a:noAutofit/>
          </a:bodyPr>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智能高效响应</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完整溯源分析</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移动化运营支持</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事件处置闭环</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8" name="文本框 77"/>
          <p:cNvSpPr txBox="1"/>
          <p:nvPr/>
        </p:nvSpPr>
        <p:spPr>
          <a:xfrm>
            <a:off x="8178800" y="4195445"/>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pic>
        <p:nvPicPr>
          <p:cNvPr id="23" name="图片 22" descr="组 3169@1x"/>
          <p:cNvPicPr>
            <a:picLocks noChangeAspect="1"/>
          </p:cNvPicPr>
          <p:nvPr/>
        </p:nvPicPr>
        <p:blipFill>
          <a:blip r:embed="rId33"/>
          <a:stretch>
            <a:fillRect/>
          </a:stretch>
        </p:blipFill>
        <p:spPr>
          <a:xfrm>
            <a:off x="1270635" y="6097905"/>
            <a:ext cx="8941435" cy="590550"/>
          </a:xfrm>
          <a:prstGeom prst="rect">
            <a:avLst/>
          </a:prstGeom>
        </p:spPr>
      </p:pic>
      <p:sp>
        <p:nvSpPr>
          <p:cNvPr id="81" name="文本框 80"/>
          <p:cNvSpPr txBox="1"/>
          <p:nvPr/>
        </p:nvSpPr>
        <p:spPr>
          <a:xfrm>
            <a:off x="2974340" y="6189345"/>
            <a:ext cx="553148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全量资产安全状况在XDR平台统一可视</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  </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sym typeface="+mn-ea"/>
              </a:rPr>
              <a:t>多维度展示</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运营结果 </a:t>
            </a:r>
            <a:endPar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sp>
        <p:nvSpPr>
          <p:cNvPr id="43" name="文本框 42"/>
          <p:cNvSpPr txBox="1"/>
          <p:nvPr/>
        </p:nvSpPr>
        <p:spPr>
          <a:xfrm flipH="1">
            <a:off x="2293620" y="342455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业务连续性保障、风险防控、合规达成</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55545"/>
            <a:ext cx="1800225" cy="1570355"/>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a:t>
            </a:r>
            <a:r>
              <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1</a:t>
            </a:r>
            <a:endPar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直接连接符 85"/>
          <p:cNvCxnSpPr>
            <a:endCxn id="89" idx="4"/>
          </p:cNvCxnSpPr>
          <p:nvPr>
            <p:custDataLst>
              <p:tags r:id="rId1"/>
            </p:custDataLst>
          </p:nvPr>
        </p:nvCxnSpPr>
        <p:spPr>
          <a:xfrm>
            <a:off x="985816" y="1403350"/>
            <a:ext cx="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94" name="直接连接符 93"/>
          <p:cNvCxnSpPr>
            <a:endCxn id="96" idx="4"/>
          </p:cNvCxnSpPr>
          <p:nvPr>
            <p:custDataLst>
              <p:tags r:id="rId2"/>
            </p:custDataLst>
          </p:nvPr>
        </p:nvCxnSpPr>
        <p:spPr>
          <a:xfrm>
            <a:off x="3739153" y="1403350"/>
            <a:ext cx="4445"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1" name="直接连接符 100"/>
          <p:cNvCxnSpPr/>
          <p:nvPr>
            <p:custDataLst>
              <p:tags r:id="rId3"/>
            </p:custDataLst>
          </p:nvPr>
        </p:nvCxnSpPr>
        <p:spPr>
          <a:xfrm flipH="1">
            <a:off x="6470605" y="1403350"/>
            <a:ext cx="6350" cy="939800"/>
          </a:xfrm>
          <a:prstGeom prst="line">
            <a:avLst/>
          </a:prstGeom>
          <a:solidFill>
            <a:schemeClr val="accent1">
              <a:alpha val="0"/>
            </a:schemeClr>
          </a:solidFill>
          <a:ln w="25400">
            <a:gradFill>
              <a:gsLst>
                <a:gs pos="100000">
                  <a:srgbClr val="8FAADC"/>
                </a:gs>
                <a:gs pos="0">
                  <a:srgbClr val="8FAADC">
                    <a:alpha val="23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8" name="直接连接符 107"/>
          <p:cNvCxnSpPr/>
          <p:nvPr>
            <p:custDataLst>
              <p:tags r:id="rId4"/>
            </p:custDataLst>
          </p:nvPr>
        </p:nvCxnSpPr>
        <p:spPr>
          <a:xfrm>
            <a:off x="9235078" y="1403350"/>
            <a:ext cx="254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sp>
        <p:nvSpPr>
          <p:cNvPr id="77" name="圆角矩形 76"/>
          <p:cNvSpPr/>
          <p:nvPr>
            <p:custDataLst>
              <p:tags r:id="rId5"/>
            </p:custDataLst>
          </p:nvPr>
        </p:nvSpPr>
        <p:spPr>
          <a:xfrm flipH="1">
            <a:off x="704215" y="982345"/>
            <a:ext cx="10784205" cy="431800"/>
          </a:xfrm>
          <a:prstGeom prst="roundRect">
            <a:avLst>
              <a:gd name="adj" fmla="val 50000"/>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nvGrpSpPr>
          <p:cNvPr id="50" name="组合 49"/>
          <p:cNvGrpSpPr/>
          <p:nvPr>
            <p:custDataLst>
              <p:tags r:id="rId6"/>
            </p:custDataLst>
          </p:nvPr>
        </p:nvGrpSpPr>
        <p:grpSpPr>
          <a:xfrm>
            <a:off x="820420" y="1014730"/>
            <a:ext cx="2193925" cy="360045"/>
            <a:chOff x="1292" y="3676"/>
            <a:chExt cx="3455" cy="567"/>
          </a:xfrm>
        </p:grpSpPr>
        <p:sp>
          <p:nvSpPr>
            <p:cNvPr id="78" name="序号"/>
            <p:cNvSpPr/>
            <p:nvPr>
              <p:custDataLst>
                <p:tags r:id="rId7"/>
              </p:custDataLst>
            </p:nvPr>
          </p:nvSpPr>
          <p:spPr>
            <a:xfrm>
              <a:off x="1292" y="3676"/>
              <a:ext cx="567"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Q1</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2" name="文本框 81"/>
            <p:cNvSpPr txBox="1"/>
            <p:nvPr>
              <p:custDataLst>
                <p:tags r:id="rId8"/>
              </p:custDataLst>
            </p:nvPr>
          </p:nvSpPr>
          <p:spPr>
            <a:xfrm>
              <a:off x="1859" y="3764"/>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第一季度起止时间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5" name="组合 44"/>
          <p:cNvGrpSpPr/>
          <p:nvPr>
            <p:custDataLst>
              <p:tags r:id="rId9"/>
            </p:custDataLst>
          </p:nvPr>
        </p:nvGrpSpPr>
        <p:grpSpPr>
          <a:xfrm>
            <a:off x="3557905" y="1014730"/>
            <a:ext cx="2199640" cy="360045"/>
            <a:chOff x="5403" y="3676"/>
            <a:chExt cx="3464" cy="567"/>
          </a:xfrm>
        </p:grpSpPr>
        <p:sp>
          <p:nvSpPr>
            <p:cNvPr id="79" name="序号"/>
            <p:cNvSpPr/>
            <p:nvPr>
              <p:custDataLst>
                <p:tags r:id="rId10"/>
              </p:custDataLst>
            </p:nvPr>
          </p:nvSpPr>
          <p:spPr>
            <a:xfrm>
              <a:off x="5403"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Q2</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3" name="文本框 82"/>
            <p:cNvSpPr txBox="1"/>
            <p:nvPr>
              <p:custDataLst>
                <p:tags r:id="rId11"/>
              </p:custDataLst>
            </p:nvPr>
          </p:nvSpPr>
          <p:spPr>
            <a:xfrm>
              <a:off x="5979" y="3758"/>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二季度起止时间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14" name="组合 13"/>
          <p:cNvGrpSpPr/>
          <p:nvPr>
            <p:custDataLst>
              <p:tags r:id="rId12"/>
            </p:custDataLst>
          </p:nvPr>
        </p:nvGrpSpPr>
        <p:grpSpPr>
          <a:xfrm>
            <a:off x="6301105" y="1014730"/>
            <a:ext cx="2212975" cy="360045"/>
            <a:chOff x="9514" y="3676"/>
            <a:chExt cx="3485" cy="567"/>
          </a:xfrm>
        </p:grpSpPr>
        <p:sp>
          <p:nvSpPr>
            <p:cNvPr id="80" name="序号"/>
            <p:cNvSpPr/>
            <p:nvPr>
              <p:custDataLst>
                <p:tags r:id="rId13"/>
              </p:custDataLst>
            </p:nvPr>
          </p:nvSpPr>
          <p:spPr>
            <a:xfrm>
              <a:off x="9514"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Q3</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4" name="文本框 83"/>
            <p:cNvSpPr txBox="1"/>
            <p:nvPr>
              <p:custDataLst>
                <p:tags r:id="rId14"/>
              </p:custDataLst>
            </p:nvPr>
          </p:nvSpPr>
          <p:spPr>
            <a:xfrm>
              <a:off x="10112" y="3752"/>
              <a:ext cx="2887" cy="386"/>
            </a:xfrm>
            <a:prstGeom prst="rect">
              <a:avLst/>
            </a:prstGeom>
            <a:noFill/>
          </p:spPr>
          <p:txBody>
            <a:bodyPr wrap="square" rtlCol="0" anchor="t">
              <a:spAutoFit/>
            </a:bodyPr>
            <a:p>
              <a:r>
                <a:rPr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三季度起止时间</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7" name="组合 6"/>
          <p:cNvGrpSpPr/>
          <p:nvPr>
            <p:custDataLst>
              <p:tags r:id="rId15"/>
            </p:custDataLst>
          </p:nvPr>
        </p:nvGrpSpPr>
        <p:grpSpPr>
          <a:xfrm>
            <a:off x="9057005" y="1014730"/>
            <a:ext cx="2234565" cy="360045"/>
            <a:chOff x="13625" y="3676"/>
            <a:chExt cx="3519" cy="567"/>
          </a:xfrm>
        </p:grpSpPr>
        <p:sp>
          <p:nvSpPr>
            <p:cNvPr id="81" name="序号"/>
            <p:cNvSpPr/>
            <p:nvPr>
              <p:custDataLst>
                <p:tags r:id="rId16"/>
              </p:custDataLst>
            </p:nvPr>
          </p:nvSpPr>
          <p:spPr>
            <a:xfrm>
              <a:off x="13625"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Q4</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5" name="文本框 84"/>
            <p:cNvSpPr txBox="1"/>
            <p:nvPr>
              <p:custDataLst>
                <p:tags r:id="rId17"/>
              </p:custDataLst>
            </p:nvPr>
          </p:nvSpPr>
          <p:spPr>
            <a:xfrm>
              <a:off x="14257" y="3764"/>
              <a:ext cx="2887"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四季度起止时间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sp>
        <p:nvSpPr>
          <p:cNvPr id="89" name="椭圆 88"/>
          <p:cNvSpPr/>
          <p:nvPr>
            <p:custDataLst>
              <p:tags r:id="rId18"/>
            </p:custDataLst>
          </p:nvPr>
        </p:nvSpPr>
        <p:spPr>
          <a:xfrm>
            <a:off x="931498"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96" name="椭圆 95"/>
          <p:cNvSpPr/>
          <p:nvPr>
            <p:custDataLst>
              <p:tags r:id="rId19"/>
            </p:custDataLst>
          </p:nvPr>
        </p:nvSpPr>
        <p:spPr>
          <a:xfrm>
            <a:off x="3687376"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03" name="椭圆 102"/>
          <p:cNvSpPr/>
          <p:nvPr>
            <p:custDataLst>
              <p:tags r:id="rId20"/>
            </p:custDataLst>
          </p:nvPr>
        </p:nvSpPr>
        <p:spPr>
          <a:xfrm>
            <a:off x="6419780" y="2343150"/>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110" name="椭圆 109"/>
          <p:cNvSpPr/>
          <p:nvPr>
            <p:custDataLst>
              <p:tags r:id="rId21"/>
            </p:custDataLst>
          </p:nvPr>
        </p:nvSpPr>
        <p:spPr>
          <a:xfrm>
            <a:off x="9184253"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14" name="文本框 113"/>
          <p:cNvSpPr txBox="1"/>
          <p:nvPr>
            <p:custDataLst>
              <p:tags r:id="rId22"/>
            </p:custDataLst>
          </p:nvPr>
        </p:nvSpPr>
        <p:spPr>
          <a:xfrm>
            <a:off x="1180465" y="1492885"/>
            <a:ext cx="2018665" cy="756285"/>
          </a:xfrm>
          <a:prstGeom prst="rect">
            <a:avLst/>
          </a:prstGeom>
          <a:solidFill>
            <a:schemeClr val="bg1"/>
          </a:solidFill>
          <a:ln>
            <a:noFill/>
          </a:ln>
        </p:spPr>
        <p:txBody>
          <a:bodyPr wrap="square" lIns="0" tIns="0" rIns="0" bIns="0" rtlCol="0" anchor="t" anchorCtr="0">
            <a:noAutofit/>
          </a:bodyPr>
          <a:p>
            <a:pPr algn="l" rtl="0" eaLnBrk="0">
              <a:lnSpc>
                <a:spcPct val="127000"/>
              </a:lnSpc>
            </a:pP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实施</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上线</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首次报告</a:t>
            </a:r>
            <a:endPar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对齐运营目标</a:t>
            </a: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运营计划</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首次安全体检及处置、上线运营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15" name="文本框 114"/>
          <p:cNvSpPr txBox="1"/>
          <p:nvPr>
            <p:custDataLst>
              <p:tags r:id="rId23"/>
            </p:custDataLst>
          </p:nvPr>
        </p:nvSpPr>
        <p:spPr>
          <a:xfrm>
            <a:off x="1180465" y="2266950"/>
            <a:ext cx="1785620" cy="715645"/>
          </a:xfrm>
          <a:prstGeom prst="rect">
            <a:avLst/>
          </a:prstGeom>
          <a:solidFill>
            <a:schemeClr val="bg1"/>
          </a:solidFill>
          <a:ln>
            <a:noFill/>
          </a:ln>
        </p:spPr>
        <p:txBody>
          <a:bodyPr wrap="square" lIns="0" tIns="0" rIns="0" bIns="0" rtlCol="0" anchor="t" anchorCtr="0">
            <a:noAutofit/>
          </a:bodyPr>
          <a:p>
            <a:pPr indent="0" algn="l" rtl="0" eaLnBrk="0">
              <a:lnSpc>
                <a:spcPct val="110000"/>
              </a:lnSpc>
              <a:buClrTx/>
              <a:buSzTx/>
              <a:buFont typeface="Wingdings" panose="05000000000000000000" charset="0"/>
              <a:buNone/>
            </a:pP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rPr>
              <a:t>服务启动（首个组件接入）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潜伏威胁发现与处置</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最佳使用路径培训</a:t>
            </a:r>
            <a:endPar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2" name="文本框 1"/>
          <p:cNvSpPr txBox="1"/>
          <p:nvPr>
            <p:custDataLst>
              <p:tags r:id="rId24"/>
            </p:custDataLst>
          </p:nvPr>
        </p:nvSpPr>
        <p:spPr>
          <a:xfrm>
            <a:off x="39300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半年度</a:t>
            </a: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复盘</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6" name="文本框 5"/>
          <p:cNvSpPr txBox="1"/>
          <p:nvPr>
            <p:custDataLst>
              <p:tags r:id="rId25"/>
            </p:custDataLst>
          </p:nvPr>
        </p:nvSpPr>
        <p:spPr>
          <a:xfrm>
            <a:off x="66605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黑体" panose="02010609060101010101" charset="-122"/>
                <a:sym typeface="+mn-ea"/>
              </a:rPr>
              <a:t>持续运营</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2" name="文本框 11"/>
          <p:cNvSpPr txBox="1"/>
          <p:nvPr>
            <p:custDataLst>
              <p:tags r:id="rId26"/>
            </p:custDataLst>
          </p:nvPr>
        </p:nvSpPr>
        <p:spPr>
          <a:xfrm>
            <a:off x="9415780"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年度总结</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常态化运营、年度运营工作总结、关键差距分析与改进方案</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6" name="文本框 15"/>
          <p:cNvSpPr txBox="1"/>
          <p:nvPr>
            <p:custDataLst>
              <p:tags r:id="rId27"/>
            </p:custDataLst>
          </p:nvPr>
        </p:nvSpPr>
        <p:spPr>
          <a:xfrm>
            <a:off x="9415780" y="2266950"/>
            <a:ext cx="211518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运营关键成果总结与障碍分析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对齐次年运营目标和关键举措</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明确落地动作与实施计划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7" name="文本框 26"/>
          <p:cNvSpPr txBox="1"/>
          <p:nvPr>
            <p:custDataLst>
              <p:tags r:id="rId28"/>
            </p:custDataLst>
          </p:nvPr>
        </p:nvSpPr>
        <p:spPr>
          <a:xfrm>
            <a:off x="3930015" y="2266950"/>
            <a:ext cx="2303780" cy="716280"/>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安全现状关键问题总结</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运营计划有效性复盘</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优化运营机制与执行标准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sp>
        <p:nvSpPr>
          <p:cNvPr id="33" name="文本框 32"/>
          <p:cNvSpPr txBox="1"/>
          <p:nvPr>
            <p:custDataLst>
              <p:tags r:id="rId29"/>
            </p:custDataLst>
          </p:nvPr>
        </p:nvSpPr>
        <p:spPr>
          <a:xfrm>
            <a:off x="6660515" y="2266950"/>
            <a:ext cx="201866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安全态势总结分析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运营计划执行成果</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重点问题总结与改进计划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grpSp>
        <p:nvGrpSpPr>
          <p:cNvPr id="3" name="组合 2"/>
          <p:cNvGrpSpPr/>
          <p:nvPr/>
        </p:nvGrpSpPr>
        <p:grpSpPr>
          <a:xfrm>
            <a:off x="224790" y="289878"/>
            <a:ext cx="8289290" cy="327025"/>
            <a:chOff x="533" y="646"/>
            <a:chExt cx="13054" cy="515"/>
          </a:xfrm>
        </p:grpSpPr>
        <p:grpSp>
          <p:nvGrpSpPr>
            <p:cNvPr id="5" name="组合 4"/>
            <p:cNvGrpSpPr/>
            <p:nvPr/>
          </p:nvGrpSpPr>
          <p:grpSpPr>
            <a:xfrm rot="0">
              <a:off x="533" y="672"/>
              <a:ext cx="582" cy="420"/>
              <a:chOff x="533" y="672"/>
              <a:chExt cx="582" cy="420"/>
            </a:xfrm>
          </p:grpSpPr>
          <p:sp>
            <p:nvSpPr>
              <p:cNvPr id="10" name="燕尾形 86"/>
              <p:cNvSpPr/>
              <p:nvPr>
                <p:custDataLst>
                  <p:tags r:id="rId30"/>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1"/>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35" name="textbox 158"/>
            <p:cNvSpPr/>
            <p:nvPr/>
          </p:nvSpPr>
          <p:spPr>
            <a:xfrm>
              <a:off x="4750"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目标达成</a:t>
              </a: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进度</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36" name="图片 35" descr="深信服 + 智安全"/>
          <p:cNvPicPr>
            <a:picLocks noChangeAspect="1"/>
          </p:cNvPicPr>
          <p:nvPr/>
        </p:nvPicPr>
        <p:blipFill>
          <a:blip r:embed="rId32"/>
          <a:srcRect l="5232" t="26576" r="4938" b="29565"/>
          <a:stretch>
            <a:fillRect/>
          </a:stretch>
        </p:blipFill>
        <p:spPr>
          <a:xfrm>
            <a:off x="10330815" y="273073"/>
            <a:ext cx="1629867" cy="360000"/>
          </a:xfrm>
          <a:prstGeom prst="rect">
            <a:avLst/>
          </a:prstGeom>
        </p:spPr>
      </p:pic>
      <p:sp>
        <p:nvSpPr>
          <p:cNvPr id="46" name="椭圆 45"/>
          <p:cNvSpPr/>
          <p:nvPr>
            <p:custDataLst>
              <p:tags r:id="rId33"/>
            </p:custDataLst>
          </p:nvPr>
        </p:nvSpPr>
        <p:spPr>
          <a:xfrm>
            <a:off x="918488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7" name="椭圆 46"/>
          <p:cNvSpPr/>
          <p:nvPr>
            <p:custDataLst>
              <p:tags r:id="rId34"/>
            </p:custDataLst>
          </p:nvPr>
        </p:nvSpPr>
        <p:spPr>
          <a:xfrm>
            <a:off x="6419780" y="1608455"/>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48" name="椭圆 47"/>
          <p:cNvSpPr/>
          <p:nvPr>
            <p:custDataLst>
              <p:tags r:id="rId35"/>
            </p:custDataLst>
          </p:nvPr>
        </p:nvSpPr>
        <p:spPr>
          <a:xfrm>
            <a:off x="3687376"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9" name="椭圆 48"/>
          <p:cNvSpPr/>
          <p:nvPr>
            <p:custDataLst>
              <p:tags r:id="rId36"/>
            </p:custDataLst>
          </p:nvPr>
        </p:nvSpPr>
        <p:spPr>
          <a:xfrm>
            <a:off x="93149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grpSp>
        <p:nvGrpSpPr>
          <p:cNvPr id="4" name="组合 3"/>
          <p:cNvGrpSpPr/>
          <p:nvPr/>
        </p:nvGrpSpPr>
        <p:grpSpPr>
          <a:xfrm>
            <a:off x="704937" y="3070860"/>
            <a:ext cx="10866033" cy="3382645"/>
            <a:chOff x="925" y="1855"/>
            <a:chExt cx="17295" cy="4723"/>
          </a:xfrm>
        </p:grpSpPr>
        <p:sp>
          <p:nvSpPr>
            <p:cNvPr id="54" name="Text 2"/>
            <p:cNvSpPr/>
            <p:nvPr/>
          </p:nvSpPr>
          <p:spPr>
            <a:xfrm>
              <a:off x="925" y="1855"/>
              <a:ext cx="1505" cy="4723"/>
            </a:xfrm>
            <a:prstGeom prst="rect">
              <a:avLst/>
            </a:prstGeom>
            <a:solidFill>
              <a:schemeClr val="accent1">
                <a:lumMod val="20000"/>
                <a:lumOff val="80000"/>
              </a:schemeClr>
            </a:solidFill>
            <a:ln w="12700">
              <a:solidFill>
                <a:schemeClr val="accent1">
                  <a:lumMod val="40000"/>
                  <a:lumOff val="60000"/>
                </a:schemeClr>
              </a:solidFill>
            </a:ln>
          </p:spPr>
          <p:txBody>
            <a:bodyPr wrap="square" lIns="91440" tIns="45720" rIns="91440" bIns="45720" rtlCol="0" anchor="ctr" anchorCtr="0"/>
            <a:p>
              <a:pPr marL="0" indent="0" algn="ctr">
                <a:lnSpc>
                  <a:spcPct val="100000"/>
                </a:lnSpc>
                <a:buNone/>
              </a:pPr>
              <a:r>
                <a:rPr lang="en-US" sz="1400" b="1" dirty="0">
                  <a:solidFill>
                    <a:srgbClr val="14161A"/>
                  </a:solidFill>
                  <a:latin typeface="微软雅黑" panose="020B0503020204020204" charset="-122"/>
                  <a:ea typeface="微软雅黑" panose="020B0503020204020204" charset="-122"/>
                  <a:cs typeface="微软雅黑" panose="020B0503020204020204" pitchFamily="34" charset="-120"/>
                </a:rPr>
                <a:t>交付物</a:t>
              </a:r>
              <a:endParaRPr lang="en-US" sz="1400" dirty="0">
                <a:latin typeface="微软雅黑" panose="020B0503020204020204" charset="-122"/>
                <a:ea typeface="微软雅黑" panose="020B0503020204020204" charset="-122"/>
              </a:endParaRPr>
            </a:p>
          </p:txBody>
        </p:sp>
        <p:sp>
          <p:nvSpPr>
            <p:cNvPr id="55" name="Shape 3"/>
            <p:cNvSpPr/>
            <p:nvPr/>
          </p:nvSpPr>
          <p:spPr>
            <a:xfrm>
              <a:off x="2429" y="1855"/>
              <a:ext cx="15791" cy="4722"/>
            </a:xfrm>
            <a:prstGeom prst="rect">
              <a:avLst/>
            </a:prstGeom>
            <a:noFill/>
            <a:ln w="12700">
              <a:solidFill>
                <a:schemeClr val="accent1">
                  <a:lumMod val="40000"/>
                  <a:lumOff val="60000"/>
                </a:schemeClr>
              </a:solidFill>
              <a:prstDash val="solid"/>
            </a:ln>
          </p:spPr>
        </p:sp>
      </p:grpSp>
      <p:sp>
        <p:nvSpPr>
          <p:cNvPr id="56" name="Text 4"/>
          <p:cNvSpPr/>
          <p:nvPr/>
        </p:nvSpPr>
        <p:spPr>
          <a:xfrm>
            <a:off x="1804035" y="3141980"/>
            <a:ext cx="1753870" cy="3263900"/>
          </a:xfrm>
          <a:prstGeom prst="rect">
            <a:avLst/>
          </a:prstGeom>
          <a:noFill/>
        </p:spPr>
        <p:txBody>
          <a:bodyPr wrap="square" lIns="0" tIns="0" rIns="0" bIns="0" rtlCol="0" anchor="t"/>
          <a:p>
            <a:pPr marL="0" indent="0" algn="l">
              <a:lnSpc>
                <a:spcPct val="150000"/>
              </a:lnSpc>
              <a:buNone/>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运营过程输出物</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《项目启动会PPT》</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《首次分析与处置报告》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《漏洞管理举证报告》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《漏洞清单》</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《服务资产表》</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《事件</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跟踪表</a:t>
            </a: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《应急响应报告》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《暴露面梳理报告》</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p:txBody>
      </p:sp>
      <p:sp>
        <p:nvSpPr>
          <p:cNvPr id="57" name="Text 5"/>
          <p:cNvSpPr/>
          <p:nvPr/>
        </p:nvSpPr>
        <p:spPr>
          <a:xfrm>
            <a:off x="6388735" y="3108960"/>
            <a:ext cx="2795905" cy="3411220"/>
          </a:xfrm>
          <a:prstGeom prst="rect">
            <a:avLst/>
          </a:prstGeom>
          <a:noFill/>
        </p:spPr>
        <p:txBody>
          <a:bodyPr wrap="square" lIns="0" tIns="0" rIns="0" bIns="0" rtlCol="0" anchor="t"/>
          <a:p>
            <a:pPr indent="0" algn="l" defTabSz="914400" fontAlgn="auto">
              <a:lnSpc>
                <a:spcPct val="150000"/>
              </a:lnSpc>
              <a:spcAft>
                <a:spcPts val="500"/>
              </a:spcAft>
              <a:buNone/>
              <a:tabLst>
                <a:tab pos="3044190" algn="l"/>
              </a:tabLst>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阶段性运营报告</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《安全运营报告》--周报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《综合分析报告》--月报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r>
              <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安全运营报告</a:t>
            </a:r>
            <a:r>
              <a:rPr lang="en-US" sz="1200" dirty="0">
                <a:solidFill>
                  <a:srgbClr val="14161A"/>
                </a:solidFill>
                <a:latin typeface="微软雅黑" panose="020B0503020204020204" charset="-122"/>
                <a:ea typeface="微软雅黑" panose="020B0503020204020204" charset="-122"/>
                <a:cs typeface="微软雅黑" panose="020B0503020204020204" charset="-122"/>
              </a:rPr>
              <a:t>》--季报</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重要时期保障总结报告</a:t>
            </a: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国庆</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春节</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五一</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其他交付物</a:t>
            </a: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网络安全态势</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半月刊》+</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最新威胁情报</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钓鱼场景安全意识海报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
        <p:nvSpPr>
          <p:cNvPr id="58" name="Text 8"/>
          <p:cNvSpPr/>
          <p:nvPr/>
        </p:nvSpPr>
        <p:spPr>
          <a:xfrm>
            <a:off x="6407785" y="4300855"/>
            <a:ext cx="5097780" cy="1235710"/>
          </a:xfrm>
          <a:prstGeom prst="rect">
            <a:avLst/>
          </a:prstGeom>
          <a:noFill/>
        </p:spPr>
        <p:txBody>
          <a:bodyPr wrap="square" lIns="0" tIns="0" rIns="0" bIns="0" rtlCol="0" anchor="t"/>
          <a:p>
            <a:pPr marL="0" indent="0" algn="l">
              <a:lnSpc>
                <a:spcPct val="160000"/>
              </a:lnSpc>
              <a:buNone/>
            </a:pPr>
            <a:endPar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61" name="椭圆 160"/>
          <p:cNvSpPr/>
          <p:nvPr>
            <p:custDataLst>
              <p:tags r:id="rId37"/>
            </p:custDataLst>
          </p:nvPr>
        </p:nvSpPr>
        <p:spPr>
          <a:xfrm>
            <a:off x="6415088" y="100996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sp>
        <p:nvSpPr>
          <p:cNvPr id="163" name="流程图: 延期 162"/>
          <p:cNvSpPr/>
          <p:nvPr>
            <p:custDataLst>
              <p:tags r:id="rId38"/>
            </p:custDataLst>
          </p:nvPr>
        </p:nvSpPr>
        <p:spPr>
          <a:xfrm>
            <a:off x="6457950" y="60833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162" name="直接连接符 161"/>
          <p:cNvCxnSpPr/>
          <p:nvPr>
            <p:custDataLst>
              <p:tags r:id="rId39"/>
            </p:custDataLst>
          </p:nvPr>
        </p:nvCxnSpPr>
        <p:spPr>
          <a:xfrm>
            <a:off x="6457797" y="60963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958590" y="3359785"/>
            <a:ext cx="2275205" cy="3046095"/>
          </a:xfrm>
          <a:prstGeom prst="rect">
            <a:avLst/>
          </a:prstGeom>
          <a:noFill/>
        </p:spPr>
        <p:txBody>
          <a:bodyPr wrap="square" rtlCol="0" anchor="t">
            <a:spAutoFit/>
          </a:bodyPr>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3" name="Text 5"/>
          <p:cNvSpPr/>
          <p:nvPr/>
        </p:nvSpPr>
        <p:spPr>
          <a:xfrm>
            <a:off x="9678035" y="3446780"/>
            <a:ext cx="1852930" cy="3411220"/>
          </a:xfrm>
          <a:prstGeom prst="rect">
            <a:avLst/>
          </a:prstGeom>
          <a:noFill/>
        </p:spPr>
        <p:txBody>
          <a:bodyPr wrap="square" lIns="0" tIns="0" rIns="0" bIns="0" rtlCol="0" anchor="t"/>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146"/>
          <p:cNvGrpSpPr/>
          <p:nvPr/>
        </p:nvGrpSpPr>
        <p:grpSpPr>
          <a:xfrm>
            <a:off x="858520" y="989330"/>
            <a:ext cx="10779125" cy="976630"/>
            <a:chOff x="1351" y="1540"/>
            <a:chExt cx="16785" cy="1538"/>
          </a:xfrm>
        </p:grpSpPr>
        <p:sp>
          <p:nvSpPr>
            <p:cNvPr id="37" name="圆角矩形 36"/>
            <p:cNvSpPr/>
            <p:nvPr/>
          </p:nvSpPr>
          <p:spPr>
            <a:xfrm>
              <a:off x="1351" y="1540"/>
              <a:ext cx="16785" cy="1538"/>
            </a:xfrm>
            <a:prstGeom prst="roundRect">
              <a:avLst>
                <a:gd name="adj" fmla="val 11007"/>
              </a:avLst>
            </a:prstGeom>
            <a:solidFill>
              <a:schemeClr val="accent1">
                <a:alpha val="1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46" name="圆角矩形 145"/>
            <p:cNvSpPr/>
            <p:nvPr>
              <p:custDataLst>
                <p:tags r:id="rId1"/>
              </p:custDataLst>
            </p:nvPr>
          </p:nvSpPr>
          <p:spPr>
            <a:xfrm flipH="1">
              <a:off x="1352" y="1553"/>
              <a:ext cx="16784" cy="453"/>
            </a:xfrm>
            <a:prstGeom prst="roundRect">
              <a:avLst>
                <a:gd name="adj" fmla="val 15011"/>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grpSp>
        <p:nvGrpSpPr>
          <p:cNvPr id="43" name="组合 42"/>
          <p:cNvGrpSpPr/>
          <p:nvPr/>
        </p:nvGrpSpPr>
        <p:grpSpPr>
          <a:xfrm rot="0">
            <a:off x="675640" y="986155"/>
            <a:ext cx="1521460" cy="976630"/>
            <a:chOff x="1078" y="1403"/>
            <a:chExt cx="2396" cy="1538"/>
          </a:xfrm>
        </p:grpSpPr>
        <p:sp>
          <p:nvSpPr>
            <p:cNvPr id="9" name="圆角矩形 8"/>
            <p:cNvSpPr/>
            <p:nvPr/>
          </p:nvSpPr>
          <p:spPr>
            <a:xfrm>
              <a:off x="1078" y="1403"/>
              <a:ext cx="2396" cy="1538"/>
            </a:xfrm>
            <a:prstGeom prst="roundRect">
              <a:avLst>
                <a:gd name="adj" fmla="val 11007"/>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3" name="文本框 12"/>
            <p:cNvSpPr txBox="1"/>
            <p:nvPr/>
          </p:nvSpPr>
          <p:spPr>
            <a:xfrm>
              <a:off x="1364" y="1634"/>
              <a:ext cx="1830" cy="1077"/>
            </a:xfrm>
            <a:prstGeom prst="rect">
              <a:avLst/>
            </a:prstGeom>
            <a:noFill/>
          </p:spPr>
          <p:txBody>
            <a:bodyPr wrap="square" lIns="0" tIns="0" rIns="0" bIns="0" rtlCol="0" anchor="ctr" anchorCtr="0">
              <a:noAutofit/>
            </a:bodyPr>
            <a:p>
              <a:pPr marL="40640" algn="ctr" rtl="0" eaLnBrk="0">
                <a:lnSpc>
                  <a:spcPct val="115000"/>
                </a:lnSpc>
                <a:spcBef>
                  <a:spcPts val="0"/>
                </a:spcBef>
              </a:pP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关键目标达成</a:t>
              </a: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进度</a:t>
              </a:r>
              <a:endPar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sp>
        <p:nvSpPr>
          <p:cNvPr id="8" name="textbox 42"/>
          <p:cNvSpPr/>
          <p:nvPr/>
        </p:nvSpPr>
        <p:spPr>
          <a:xfrm>
            <a:off x="2322195" y="1335405"/>
            <a:ext cx="180000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1</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7" name="文本框 16"/>
          <p:cNvSpPr txBox="1"/>
          <p:nvPr/>
        </p:nvSpPr>
        <p:spPr>
          <a:xfrm>
            <a:off x="2322195" y="1696085"/>
            <a:ext cx="180000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网络安全事故</a:t>
            </a:r>
            <a:endParaRPr lang="zh-CN" altLang="en-US"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8" name="textbox 42"/>
          <p:cNvSpPr/>
          <p:nvPr/>
        </p:nvSpPr>
        <p:spPr>
          <a:xfrm>
            <a:off x="416918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1</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9" name="文本框 18"/>
          <p:cNvSpPr txBox="1"/>
          <p:nvPr/>
        </p:nvSpPr>
        <p:spPr>
          <a:xfrm>
            <a:off x="416918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业务系统</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主动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保护</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0" name="文本框 19"/>
          <p:cNvSpPr txBox="1"/>
          <p:nvPr/>
        </p:nvSpPr>
        <p:spPr>
          <a:xfrm>
            <a:off x="601576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被通报问题</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2" name="文本框 21"/>
          <p:cNvSpPr txBox="1"/>
          <p:nvPr/>
        </p:nvSpPr>
        <p:spPr>
          <a:xfrm>
            <a:off x="786234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安全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4" name="textbox 42"/>
          <p:cNvSpPr/>
          <p:nvPr/>
        </p:nvSpPr>
        <p:spPr>
          <a:xfrm>
            <a:off x="970892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Source Han Sans CN Bold" panose="020B0600000000000000" charset="-122"/>
              </a:rPr>
              <a:t>30</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rPr>
              <a:t>分钟</a:t>
            </a:r>
            <a:endPar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endParaRPr>
          </a:p>
        </p:txBody>
      </p:sp>
      <p:sp>
        <p:nvSpPr>
          <p:cNvPr id="26" name="文本框 25"/>
          <p:cNvSpPr txBox="1"/>
          <p:nvPr/>
        </p:nvSpPr>
        <p:spPr>
          <a:xfrm>
            <a:off x="970892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事件平均处置</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时间</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nvGrpSpPr>
          <p:cNvPr id="3" name="组合 2"/>
          <p:cNvGrpSpPr/>
          <p:nvPr/>
        </p:nvGrpSpPr>
        <p:grpSpPr>
          <a:xfrm>
            <a:off x="224790" y="289878"/>
            <a:ext cx="3423285" cy="327025"/>
            <a:chOff x="533" y="646"/>
            <a:chExt cx="5391" cy="515"/>
          </a:xfrm>
        </p:grpSpPr>
        <p:grpSp>
          <p:nvGrpSpPr>
            <p:cNvPr id="5" name="组合 4"/>
            <p:cNvGrpSpPr/>
            <p:nvPr/>
          </p:nvGrpSpPr>
          <p:grpSpPr>
            <a:xfrm rot="0">
              <a:off x="533" y="672"/>
              <a:ext cx="582" cy="420"/>
              <a:chOff x="533" y="672"/>
              <a:chExt cx="582" cy="420"/>
            </a:xfrm>
          </p:grpSpPr>
          <p:sp>
            <p:nvSpPr>
              <p:cNvPr id="10"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grpSp>
      <p:pic>
        <p:nvPicPr>
          <p:cNvPr id="36" name="图片 35"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54" name="文本框 53"/>
          <p:cNvSpPr txBox="1"/>
          <p:nvPr/>
        </p:nvSpPr>
        <p:spPr>
          <a:xfrm>
            <a:off x="9935845" y="2327275"/>
            <a:ext cx="1603375" cy="4423410"/>
          </a:xfrm>
          <a:prstGeom prst="rect">
            <a:avLst/>
          </a:prstGeom>
          <a:solidFill>
            <a:sysClr val="window" lastClr="FFFFFF">
              <a:lumMod val="95000"/>
            </a:sysClr>
          </a:solidFill>
        </p:spPr>
        <p:txBody>
          <a:bodyPr wrap="square" rtlCol="0">
            <a:noAutofit/>
          </a:bodyPr>
          <a:p>
            <a:endParaRPr lang="zh-CN" altLang="en-US" sz="2400"/>
          </a:p>
        </p:txBody>
      </p:sp>
      <p:pic>
        <p:nvPicPr>
          <p:cNvPr id="55" name="图片 54" descr="组 33832@2x (1)"/>
          <p:cNvPicPr>
            <a:picLocks noChangeAspect="1"/>
          </p:cNvPicPr>
          <p:nvPr/>
        </p:nvPicPr>
        <p:blipFill>
          <a:blip r:embed="rId5"/>
          <a:stretch>
            <a:fillRect/>
          </a:stretch>
        </p:blipFill>
        <p:spPr>
          <a:xfrm>
            <a:off x="0" y="3156585"/>
            <a:ext cx="10034270" cy="3594100"/>
          </a:xfrm>
          <a:prstGeom prst="rect">
            <a:avLst/>
          </a:prstGeom>
        </p:spPr>
      </p:pic>
      <p:sp>
        <p:nvSpPr>
          <p:cNvPr id="56" name="椭圆 55"/>
          <p:cNvSpPr/>
          <p:nvPr/>
        </p:nvSpPr>
        <p:spPr>
          <a:xfrm>
            <a:off x="7504430" y="4288155"/>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椭圆 56"/>
          <p:cNvSpPr/>
          <p:nvPr/>
        </p:nvSpPr>
        <p:spPr>
          <a:xfrm>
            <a:off x="7504430" y="3048000"/>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custDataLst>
              <p:tags r:id="rId6"/>
            </p:custDataLst>
          </p:nvPr>
        </p:nvSpPr>
        <p:spPr>
          <a:xfrm>
            <a:off x="9970770" y="2424430"/>
            <a:ext cx="1429385" cy="28829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59" name="矩形 58"/>
          <p:cNvSpPr/>
          <p:nvPr>
            <p:custDataLst>
              <p:tags r:id="rId7"/>
            </p:custDataLst>
          </p:nvPr>
        </p:nvSpPr>
        <p:spPr>
          <a:xfrm>
            <a:off x="10010389" y="2712430"/>
            <a:ext cx="1440000" cy="360000"/>
          </a:xfrm>
          <a:prstGeom prst="rect">
            <a:avLst/>
          </a:prstGeom>
          <a:noFill/>
        </p:spPr>
        <p:txBody>
          <a:bodyPr wrap="square" lIns="0" tIns="0" rIns="0" bIns="0" rtlCol="0" anchor="ctr" anchorCtr="0">
            <a:noAutofit/>
          </a:bodyPr>
          <a:p>
            <a:pPr indent="0" algn="ctr" fontAlgn="auto">
              <a:lnSpc>
                <a:spcPct val="120000"/>
              </a:lnSpc>
              <a:spcBef>
                <a:spcPct val="0"/>
              </a:spcBef>
              <a:spcAft>
                <a:spcPct val="0"/>
              </a:spcAft>
            </a:pPr>
            <a:r>
              <a:rPr lang="zh-CN" altLang="en-US" sz="900">
                <a:ln>
                  <a:noFill/>
                  <a:prstDash val="sysDot"/>
                </a:ln>
                <a:solidFill>
                  <a:schemeClr val="tx1"/>
                </a:solidFill>
                <a:uFillTx/>
                <a:latin typeface="黑体" panose="02010609060101010101" charset="-122"/>
                <a:ea typeface="黑体" panose="02010609060101010101" charset="-122"/>
                <a:cs typeface="+mn-ea"/>
                <a:sym typeface="+mn-ea"/>
              </a:rPr>
              <a:t>互联网攻击路径防护率</a:t>
            </a:r>
            <a:endParaRPr lang="en-US" altLang="zh-CN" sz="900">
              <a:ln>
                <a:noFill/>
                <a:prstDash val="sysDot"/>
              </a:ln>
              <a:solidFill>
                <a:srgbClr val="00B050"/>
              </a:solidFill>
              <a:uFillTx/>
              <a:latin typeface="黑体" panose="02010609060101010101" charset="-122"/>
              <a:ea typeface="黑体" panose="02010609060101010101" charset="-122"/>
              <a:cs typeface="+mn-ea"/>
              <a:sym typeface="+mn-ea"/>
            </a:endParaRPr>
          </a:p>
        </p:txBody>
      </p:sp>
      <p:sp>
        <p:nvSpPr>
          <p:cNvPr id="60" name="文本框 59"/>
          <p:cNvSpPr txBox="1"/>
          <p:nvPr>
            <p:custDataLst>
              <p:tags r:id="rId8"/>
            </p:custDataLst>
          </p:nvPr>
        </p:nvSpPr>
        <p:spPr>
          <a:xfrm>
            <a:off x="9871710" y="4170045"/>
            <a:ext cx="160972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1" name="矩形 60"/>
          <p:cNvSpPr/>
          <p:nvPr>
            <p:custDataLst>
              <p:tags r:id="rId9"/>
            </p:custDataLst>
          </p:nvPr>
        </p:nvSpPr>
        <p:spPr>
          <a:xfrm>
            <a:off x="10021184" y="445800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业务资产端点</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防护覆盖率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2" name="文本框 61"/>
          <p:cNvSpPr txBox="1"/>
          <p:nvPr>
            <p:custDataLst>
              <p:tags r:id="rId10"/>
            </p:custDataLst>
          </p:nvPr>
        </p:nvSpPr>
        <p:spPr>
          <a:xfrm>
            <a:off x="9830435" y="3297555"/>
            <a:ext cx="1752600"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3" name="矩形 62"/>
          <p:cNvSpPr/>
          <p:nvPr>
            <p:custDataLst>
              <p:tags r:id="rId11"/>
            </p:custDataLst>
          </p:nvPr>
        </p:nvSpPr>
        <p:spPr>
          <a:xfrm>
            <a:off x="10031979" y="358551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资产流量监测覆盖率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4" name="文本框 63"/>
          <p:cNvSpPr txBox="1"/>
          <p:nvPr>
            <p:custDataLst>
              <p:tags r:id="rId12"/>
            </p:custDataLst>
          </p:nvPr>
        </p:nvSpPr>
        <p:spPr>
          <a:xfrm>
            <a:off x="9916795" y="5914390"/>
            <a:ext cx="156527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5" name="矩形 64"/>
          <p:cNvSpPr/>
          <p:nvPr>
            <p:custDataLst>
              <p:tags r:id="rId13"/>
            </p:custDataLst>
          </p:nvPr>
        </p:nvSpPr>
        <p:spPr>
          <a:xfrm>
            <a:off x="9956414" y="620298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安全告警分析专家复审</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6" name="文本框 65"/>
          <p:cNvSpPr txBox="1"/>
          <p:nvPr>
            <p:custDataLst>
              <p:tags r:id="rId14"/>
            </p:custDataLst>
          </p:nvPr>
        </p:nvSpPr>
        <p:spPr>
          <a:xfrm>
            <a:off x="10100310" y="5042535"/>
            <a:ext cx="1259840" cy="28702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7" name="矩形 66"/>
          <p:cNvSpPr/>
          <p:nvPr>
            <p:custDataLst>
              <p:tags r:id="rId15"/>
            </p:custDataLst>
          </p:nvPr>
        </p:nvSpPr>
        <p:spPr>
          <a:xfrm>
            <a:off x="10021184" y="533049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自动化率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nvGrpSpPr>
        <p:grpSpPr>
          <a:xfrm>
            <a:off x="580390" y="2997200"/>
            <a:ext cx="1788795" cy="429895"/>
            <a:chOff x="449" y="3978"/>
            <a:chExt cx="2817" cy="677"/>
          </a:xfrm>
        </p:grpSpPr>
        <p:pic>
          <p:nvPicPr>
            <p:cNvPr id="69" name="图片 68" descr="LOGO-AF@1x"/>
            <p:cNvPicPr>
              <a:picLocks noChangeAspect="1"/>
            </p:cNvPicPr>
            <p:nvPr/>
          </p:nvPicPr>
          <p:blipFill>
            <a:blip r:embed="rId16"/>
            <a:stretch>
              <a:fillRect/>
            </a:stretch>
          </p:blipFill>
          <p:spPr>
            <a:xfrm>
              <a:off x="449" y="4001"/>
              <a:ext cx="628" cy="628"/>
            </a:xfrm>
            <a:prstGeom prst="rect">
              <a:avLst/>
            </a:prstGeom>
          </p:spPr>
        </p:pic>
        <p:sp>
          <p:nvSpPr>
            <p:cNvPr id="70" name="文本框 69"/>
            <p:cNvSpPr txBox="1"/>
            <p:nvPr/>
          </p:nvSpPr>
          <p:spPr>
            <a:xfrm>
              <a:off x="1046" y="3978"/>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a:off x="580390" y="3824605"/>
            <a:ext cx="1788795" cy="614045"/>
            <a:chOff x="449" y="5281"/>
            <a:chExt cx="2817" cy="967"/>
          </a:xfrm>
        </p:grpSpPr>
        <p:pic>
          <p:nvPicPr>
            <p:cNvPr id="72" name="图片 71" descr="LOGO-STA@1x"/>
            <p:cNvPicPr>
              <a:picLocks noChangeAspect="1"/>
            </p:cNvPicPr>
            <p:nvPr/>
          </p:nvPicPr>
          <p:blipFill>
            <a:blip r:embed="rId17"/>
            <a:stretch>
              <a:fillRect/>
            </a:stretch>
          </p:blipFill>
          <p:spPr>
            <a:xfrm>
              <a:off x="449" y="5449"/>
              <a:ext cx="628" cy="628"/>
            </a:xfrm>
            <a:prstGeom prst="rect">
              <a:avLst/>
            </a:prstGeom>
          </p:spPr>
        </p:pic>
        <p:sp>
          <p:nvSpPr>
            <p:cNvPr id="73" name="文本框 72"/>
            <p:cNvSpPr txBox="1"/>
            <p:nvPr/>
          </p:nvSpPr>
          <p:spPr>
            <a:xfrm>
              <a:off x="1046" y="5281"/>
              <a:ext cx="2220" cy="96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4" name="组合 73"/>
          <p:cNvGrpSpPr/>
          <p:nvPr/>
        </p:nvGrpSpPr>
        <p:grpSpPr>
          <a:xfrm>
            <a:off x="580390" y="4783455"/>
            <a:ext cx="1788795" cy="429895"/>
            <a:chOff x="449" y="6791"/>
            <a:chExt cx="2817" cy="677"/>
          </a:xfrm>
        </p:grpSpPr>
        <p:pic>
          <p:nvPicPr>
            <p:cNvPr id="75" name="图片 74" descr="LOGO-EDR@1x"/>
            <p:cNvPicPr>
              <a:picLocks noChangeAspect="1"/>
            </p:cNvPicPr>
            <p:nvPr/>
          </p:nvPicPr>
          <p:blipFill>
            <a:blip r:embed="rId18"/>
            <a:stretch>
              <a:fillRect/>
            </a:stretch>
          </p:blipFill>
          <p:spPr>
            <a:xfrm>
              <a:off x="449" y="6816"/>
              <a:ext cx="628" cy="628"/>
            </a:xfrm>
            <a:prstGeom prst="rect">
              <a:avLst/>
            </a:prstGeom>
          </p:spPr>
        </p:pic>
        <p:sp>
          <p:nvSpPr>
            <p:cNvPr id="76" name="文本框 75"/>
            <p:cNvSpPr txBox="1"/>
            <p:nvPr/>
          </p:nvSpPr>
          <p:spPr>
            <a:xfrm>
              <a:off x="1046" y="6791"/>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87" name="组合 86"/>
          <p:cNvGrpSpPr/>
          <p:nvPr/>
        </p:nvGrpSpPr>
        <p:grpSpPr>
          <a:xfrm>
            <a:off x="580390" y="5700395"/>
            <a:ext cx="1808480" cy="429895"/>
            <a:chOff x="449" y="8235"/>
            <a:chExt cx="2848" cy="677"/>
          </a:xfrm>
        </p:grpSpPr>
        <p:pic>
          <p:nvPicPr>
            <p:cNvPr id="88" name="图片 87" descr="异常扫描@1x"/>
            <p:cNvPicPr>
              <a:picLocks noChangeAspect="1"/>
            </p:cNvPicPr>
            <p:nvPr/>
          </p:nvPicPr>
          <p:blipFill>
            <a:blip r:embed="rId19"/>
            <a:stretch>
              <a:fillRect/>
            </a:stretch>
          </p:blipFill>
          <p:spPr>
            <a:xfrm>
              <a:off x="449" y="8260"/>
              <a:ext cx="628" cy="628"/>
            </a:xfrm>
            <a:prstGeom prst="rect">
              <a:avLst/>
            </a:prstGeom>
          </p:spPr>
        </p:pic>
        <p:sp>
          <p:nvSpPr>
            <p:cNvPr id="90" name="文本框 89"/>
            <p:cNvSpPr txBox="1"/>
            <p:nvPr/>
          </p:nvSpPr>
          <p:spPr>
            <a:xfrm>
              <a:off x="1077" y="8235"/>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91" name="组合 90"/>
          <p:cNvGrpSpPr/>
          <p:nvPr/>
        </p:nvGrpSpPr>
        <p:grpSpPr>
          <a:xfrm>
            <a:off x="2089785" y="2185035"/>
            <a:ext cx="3131820" cy="721360"/>
            <a:chOff x="3291" y="2837"/>
            <a:chExt cx="3683" cy="1136"/>
          </a:xfrm>
        </p:grpSpPr>
        <p:grpSp>
          <p:nvGrpSpPr>
            <p:cNvPr id="92" name="组合 91"/>
            <p:cNvGrpSpPr/>
            <p:nvPr/>
          </p:nvGrpSpPr>
          <p:grpSpPr>
            <a:xfrm>
              <a:off x="3460" y="2837"/>
              <a:ext cx="3514" cy="796"/>
              <a:chOff x="4793" y="4123"/>
              <a:chExt cx="3514" cy="796"/>
            </a:xfrm>
          </p:grpSpPr>
          <p:sp>
            <p:nvSpPr>
              <p:cNvPr id="93" name="文本框 92"/>
              <p:cNvSpPr txBox="1"/>
              <p:nvPr/>
            </p:nvSpPr>
            <p:spPr>
              <a:xfrm>
                <a:off x="4793" y="4123"/>
                <a:ext cx="3223" cy="376"/>
              </a:xfrm>
              <a:prstGeom prst="rect">
                <a:avLst/>
              </a:prstGeom>
              <a:noFill/>
            </p:spPr>
            <p:txBody>
              <a:bodyPr wrap="square" lIns="0" tIns="0" rIns="0" bIns="0" rtlCol="0" anchor="t" anchorCtr="0">
                <a:noAutofit/>
              </a:bodyPr>
              <a:p>
                <a:pPr marL="0" indent="0" algn="l">
                  <a:buNone/>
                </a:pPr>
                <a:r>
                  <a:rPr 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1</a:t>
                </a:r>
                <a:r>
                  <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5" name="文本框 94"/>
              <p:cNvSpPr txBox="1"/>
              <p:nvPr/>
            </p:nvSpPr>
            <p:spPr>
              <a:xfrm>
                <a:off x="4793" y="4485"/>
                <a:ext cx="3514" cy="434"/>
              </a:xfrm>
              <a:prstGeom prst="rect">
                <a:avLst/>
              </a:prstGeom>
              <a:noFill/>
            </p:spPr>
            <p:txBody>
              <a:bodyPr wrap="square" lIns="0" tIns="0" rIns="0" bIns="0" rtlCol="0" anchor="ctr" anchorCtr="0">
                <a:noAutofit/>
              </a:bodyPr>
              <a:p>
                <a:pPr algn="l" rtl="0" eaLnBrk="0">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日志降噪率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10%</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97" name="直接连接符 96"/>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98" name="组合 97"/>
          <p:cNvGrpSpPr/>
          <p:nvPr/>
        </p:nvGrpSpPr>
        <p:grpSpPr>
          <a:xfrm>
            <a:off x="3721100" y="2640267"/>
            <a:ext cx="2154555" cy="516318"/>
            <a:chOff x="3291" y="2718"/>
            <a:chExt cx="3393" cy="1255"/>
          </a:xfrm>
        </p:grpSpPr>
        <p:grpSp>
          <p:nvGrpSpPr>
            <p:cNvPr id="99" name="组合 98"/>
            <p:cNvGrpSpPr/>
            <p:nvPr/>
          </p:nvGrpSpPr>
          <p:grpSpPr>
            <a:xfrm>
              <a:off x="3460" y="2718"/>
              <a:ext cx="3224" cy="1169"/>
              <a:chOff x="4793" y="4004"/>
              <a:chExt cx="3224" cy="1169"/>
            </a:xfrm>
          </p:grpSpPr>
          <p:sp>
            <p:nvSpPr>
              <p:cNvPr id="100" name="文本框 99"/>
              <p:cNvSpPr txBox="1"/>
              <p:nvPr/>
            </p:nvSpPr>
            <p:spPr>
              <a:xfrm>
                <a:off x="4793" y="4004"/>
                <a:ext cx="3222" cy="448"/>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1</a:t>
                </a:r>
                <a:r>
                  <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102" name="文本框 101"/>
              <p:cNvSpPr txBox="1"/>
              <p:nvPr/>
            </p:nvSpPr>
            <p:spPr>
              <a:xfrm>
                <a:off x="4793" y="4651"/>
                <a:ext cx="3224" cy="522"/>
              </a:xfrm>
              <a:prstGeom prst="rect">
                <a:avLst/>
              </a:prstGeom>
              <a:noFill/>
            </p:spPr>
            <p:txBody>
              <a:bodyPr wrap="square" lIns="0" tIns="0" rIns="0" bIns="0" rtlCol="0" anchor="ctr" anchorCtr="0">
                <a:noAutofit/>
              </a:bodyPr>
              <a:p>
                <a:pPr algn="l" rtl="0" eaLnBrk="0">
                  <a:lnSpc>
                    <a:spcPct val="100000"/>
                  </a:lnSpc>
                  <a:buClrTx/>
                  <a:buSzTx/>
                  <a:buFontTx/>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告警消减率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10%</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04" name="直接连接符 10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105" name="组合 104"/>
          <p:cNvGrpSpPr/>
          <p:nvPr/>
        </p:nvGrpSpPr>
        <p:grpSpPr>
          <a:xfrm>
            <a:off x="4989195" y="3226435"/>
            <a:ext cx="2515235" cy="705485"/>
            <a:chOff x="3291" y="2837"/>
            <a:chExt cx="3961" cy="1136"/>
          </a:xfrm>
        </p:grpSpPr>
        <p:grpSp>
          <p:nvGrpSpPr>
            <p:cNvPr id="106" name="组合 105"/>
            <p:cNvGrpSpPr/>
            <p:nvPr/>
          </p:nvGrpSpPr>
          <p:grpSpPr>
            <a:xfrm>
              <a:off x="3460" y="2837"/>
              <a:ext cx="3792" cy="662"/>
              <a:chOff x="4793" y="4123"/>
              <a:chExt cx="3792" cy="662"/>
            </a:xfrm>
          </p:grpSpPr>
          <p:sp>
            <p:nvSpPr>
              <p:cNvPr id="107" name="文本框 106"/>
              <p:cNvSpPr txBox="1"/>
              <p:nvPr/>
            </p:nvSpPr>
            <p:spPr>
              <a:xfrm>
                <a:off x="4793" y="4123"/>
                <a:ext cx="3716" cy="347"/>
              </a:xfrm>
              <a:prstGeom prst="rect">
                <a:avLst/>
              </a:prstGeom>
              <a:noFill/>
            </p:spPr>
            <p:txBody>
              <a:bodyPr wrap="square" lIns="0" tIns="0" rIns="0" bIns="0" rtlCol="0" anchor="t" anchorCtr="0">
                <a:spAutoFit/>
              </a:bodyPr>
              <a:p>
                <a:pPr algn="l">
                  <a:lnSpc>
                    <a:spcPct val="100000"/>
                  </a:lnSpc>
                </a:pP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1 </a:t>
                </a:r>
                <a:r>
                  <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nvSpPr>
            <p:spPr>
              <a:xfrm>
                <a:off x="4793" y="4507"/>
                <a:ext cx="3792" cy="278"/>
              </a:xfrm>
              <a:prstGeom prst="rect">
                <a:avLst/>
              </a:prstGeom>
              <a:noFill/>
            </p:spPr>
            <p:txBody>
              <a:bodyPr wrap="square" lIns="0" tIns="0" rIns="0" bIns="0" rtlCol="0" anchor="ctr" anchorCtr="0">
                <a:noAutofit/>
              </a:bodyPr>
              <a:p>
                <a:pPr algn="l">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影响</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个</a:t>
                </a:r>
                <a:r>
                  <a:rPr lang="en-US" altLang="zh-CN" sz="1000" kern="0" spc="130" dirty="0">
                    <a:solidFill>
                      <a:schemeClr val="tx1">
                        <a:alpha val="100000"/>
                      </a:schemeClr>
                    </a:solidFill>
                    <a:latin typeface="黑体" panose="02010609060101010101" charset="-122"/>
                    <a:ea typeface="黑体" panose="02010609060101010101" charset="-122"/>
                    <a:cs typeface="黑体" panose="02010609060101010101" charset="-122"/>
                    <a:sym typeface="+mn-ea"/>
                  </a:rPr>
                  <a:t>风险</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111" name="直接连接符 110"/>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118" name="文本框 117"/>
          <p:cNvSpPr txBox="1"/>
          <p:nvPr/>
        </p:nvSpPr>
        <p:spPr>
          <a:xfrm>
            <a:off x="2893060" y="4364355"/>
            <a:ext cx="3489960" cy="184150"/>
          </a:xfrm>
          <a:prstGeom prst="rect">
            <a:avLst/>
          </a:prstGeom>
          <a:noFill/>
        </p:spPr>
        <p:txBody>
          <a:bodyPr wrap="square" lIns="0" tIns="0" rIns="0" bIns="0" rtlCol="0" anchor="t" anchorCtr="0">
            <a:spAutoFit/>
          </a:bodyPr>
          <a:p>
            <a:pPr algn="dist">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119" name="组合 118"/>
          <p:cNvGrpSpPr/>
          <p:nvPr/>
        </p:nvGrpSpPr>
        <p:grpSpPr>
          <a:xfrm>
            <a:off x="6441440" y="3890645"/>
            <a:ext cx="1043940" cy="1318260"/>
            <a:chOff x="10432" y="5541"/>
            <a:chExt cx="1644" cy="2076"/>
          </a:xfrm>
        </p:grpSpPr>
        <p:pic>
          <p:nvPicPr>
            <p:cNvPr id="120" name="图片 119" descr="矩形 2419@1x-2"/>
            <p:cNvPicPr/>
            <p:nvPr/>
          </p:nvPicPr>
          <p:blipFill>
            <a:blip r:embed="rId20"/>
            <a:stretch>
              <a:fillRect/>
            </a:stretch>
          </p:blipFill>
          <p:spPr>
            <a:xfrm>
              <a:off x="10432" y="6880"/>
              <a:ext cx="1644" cy="737"/>
            </a:xfrm>
            <a:prstGeom prst="rect">
              <a:avLst/>
            </a:prstGeom>
          </p:spPr>
        </p:pic>
        <p:pic>
          <p:nvPicPr>
            <p:cNvPr id="121" name="图片 120" descr="矩形 2419@1x"/>
            <p:cNvPicPr/>
            <p:nvPr/>
          </p:nvPicPr>
          <p:blipFill>
            <a:blip r:embed="rId21"/>
            <a:stretch>
              <a:fillRect/>
            </a:stretch>
          </p:blipFill>
          <p:spPr>
            <a:xfrm>
              <a:off x="10432" y="5541"/>
              <a:ext cx="1599" cy="737"/>
            </a:xfrm>
            <a:prstGeom prst="rect">
              <a:avLst/>
            </a:prstGeom>
          </p:spPr>
        </p:pic>
        <p:sp>
          <p:nvSpPr>
            <p:cNvPr id="122" name="矩形 121"/>
            <p:cNvSpPr/>
            <p:nvPr>
              <p:custDataLst>
                <p:tags r:id="rId22"/>
              </p:custDataLst>
            </p:nvPr>
          </p:nvSpPr>
          <p:spPr>
            <a:xfrm>
              <a:off x="10502" y="5765"/>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3" name="矩形 122"/>
            <p:cNvSpPr/>
            <p:nvPr>
              <p:custDataLst>
                <p:tags r:id="rId23"/>
              </p:custDataLst>
            </p:nvPr>
          </p:nvSpPr>
          <p:spPr>
            <a:xfrm>
              <a:off x="10502" y="7104"/>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4" name="矩形 123"/>
            <p:cNvSpPr/>
            <p:nvPr>
              <p:custDataLst>
                <p:tags r:id="rId24"/>
              </p:custDataLst>
            </p:nvPr>
          </p:nvSpPr>
          <p:spPr>
            <a:xfrm>
              <a:off x="10890" y="6164"/>
              <a:ext cx="457" cy="70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sp>
        <p:nvSpPr>
          <p:cNvPr id="125" name="文本框 124"/>
          <p:cNvSpPr txBox="1"/>
          <p:nvPr/>
        </p:nvSpPr>
        <p:spPr>
          <a:xfrm>
            <a:off x="7524115" y="3585210"/>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2</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6" name="文本框 125"/>
          <p:cNvSpPr txBox="1"/>
          <p:nvPr/>
        </p:nvSpPr>
        <p:spPr>
          <a:xfrm>
            <a:off x="7545070" y="5019675"/>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{{nonmss_risk}}</a:t>
            </a:r>
            <a:r>
              <a:rPr lang="zh-CN" altLang="en-US" sz="1000">
                <a:latin typeface="Source Han Sans CN Normal" panose="020B0600000000000000" charset="-122"/>
                <a:ea typeface="Source Han Sans CN Normal" panose="020B0600000000000000" charset="-122"/>
                <a:cs typeface="Source Han Sans CN Normal" panose="020B0600000000000000" charset="-122"/>
                <a:sym typeface="+mn-ea"/>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7" name="文本框 126"/>
          <p:cNvSpPr txBox="1"/>
          <p:nvPr/>
        </p:nvSpPr>
        <p:spPr>
          <a:xfrm>
            <a:off x="8357235" y="3317875"/>
            <a:ext cx="1579245"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平均响应时间</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8" name="文本框 127"/>
          <p:cNvSpPr txBox="1"/>
          <p:nvPr/>
        </p:nvSpPr>
        <p:spPr>
          <a:xfrm>
            <a:off x="8178800" y="4455160"/>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9" name="文本框 128"/>
          <p:cNvSpPr txBox="1"/>
          <p:nvPr/>
        </p:nvSpPr>
        <p:spPr>
          <a:xfrm>
            <a:off x="8357235" y="4873625"/>
            <a:ext cx="2047240"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平均响应时间</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 10</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cxnSp>
        <p:nvCxnSpPr>
          <p:cNvPr id="160" name="直接箭头连接符 159"/>
          <p:cNvCxnSpPr/>
          <p:nvPr>
            <p:custDataLst>
              <p:tags r:id="rId25"/>
            </p:custDataLst>
          </p:nvPr>
        </p:nvCxnSpPr>
        <p:spPr>
          <a:xfrm>
            <a:off x="2249488" y="1132523"/>
            <a:ext cx="4511675"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61" name="椭圆 160"/>
          <p:cNvSpPr/>
          <p:nvPr>
            <p:custDataLst>
              <p:tags r:id="rId26"/>
            </p:custDataLst>
          </p:nvPr>
        </p:nvSpPr>
        <p:spPr>
          <a:xfrm>
            <a:off x="6714173" y="112680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cxnSp>
        <p:nvCxnSpPr>
          <p:cNvPr id="162" name="直接连接符 161"/>
          <p:cNvCxnSpPr/>
          <p:nvPr>
            <p:custDataLst>
              <p:tags r:id="rId27"/>
            </p:custDataLst>
          </p:nvPr>
        </p:nvCxnSpPr>
        <p:spPr>
          <a:xfrm>
            <a:off x="6756882" y="67567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63" name="流程图: 延期 162"/>
          <p:cNvSpPr/>
          <p:nvPr>
            <p:custDataLst>
              <p:tags r:id="rId28"/>
            </p:custDataLst>
          </p:nvPr>
        </p:nvSpPr>
        <p:spPr>
          <a:xfrm>
            <a:off x="6757035" y="67437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164" name="文本框 163"/>
          <p:cNvSpPr txBox="1"/>
          <p:nvPr/>
        </p:nvSpPr>
        <p:spPr>
          <a:xfrm>
            <a:off x="5660390" y="989330"/>
            <a:ext cx="1043940" cy="267970"/>
          </a:xfrm>
          <a:prstGeom prst="rect">
            <a:avLst/>
          </a:prstGeom>
          <a:noFill/>
        </p:spPr>
        <p:txBody>
          <a:bodyPr wrap="square" lIns="0" tIns="0" rIns="0" bIns="0" rtlCol="0" anchor="ctr" anchorCtr="0">
            <a:noAutofit/>
          </a:bodyPr>
          <a:p>
            <a:pPr marL="0" indent="0" algn="ctr">
              <a:buNone/>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当前运营进度</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23" name="图片 22" descr="组 3169@1x"/>
          <p:cNvPicPr>
            <a:picLocks noChangeAspect="1"/>
          </p:cNvPicPr>
          <p:nvPr/>
        </p:nvPicPr>
        <p:blipFill>
          <a:blip r:embed="rId29"/>
          <a:stretch>
            <a:fillRect/>
          </a:stretch>
        </p:blipFill>
        <p:spPr>
          <a:xfrm>
            <a:off x="1270635" y="6097905"/>
            <a:ext cx="8941435" cy="590550"/>
          </a:xfrm>
          <a:prstGeom prst="rect">
            <a:avLst/>
          </a:prstGeom>
        </p:spPr>
      </p:pic>
      <p:sp>
        <p:nvSpPr>
          <p:cNvPr id="81" name="文本框 80"/>
          <p:cNvSpPr txBox="1"/>
          <p:nvPr/>
        </p:nvSpPr>
        <p:spPr>
          <a:xfrm>
            <a:off x="1814195" y="6189345"/>
            <a:ext cx="785177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安全保护对象：</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个业务系统</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个服务器、</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a:t>
            </a:r>
            <a:endPar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pic>
        <p:nvPicPr>
          <p:cNvPr id="2" name="图片 1" descr="多边形 2@1x"/>
          <p:cNvPicPr>
            <a:picLocks noChangeAspect="1"/>
          </p:cNvPicPr>
          <p:nvPr/>
        </p:nvPicPr>
        <p:blipFill>
          <a:blip r:embed="rId30"/>
          <a:stretch>
            <a:fillRect/>
          </a:stretch>
        </p:blipFill>
        <p:spPr>
          <a:xfrm rot="10800000">
            <a:off x="5660390" y="5685155"/>
            <a:ext cx="324485" cy="267970"/>
          </a:xfrm>
          <a:prstGeom prst="rect">
            <a:avLst/>
          </a:prstGeom>
        </p:spPr>
      </p:pic>
      <p:sp>
        <p:nvSpPr>
          <p:cNvPr id="4" name="左大括号 3"/>
          <p:cNvSpPr/>
          <p:nvPr/>
        </p:nvSpPr>
        <p:spPr>
          <a:xfrm>
            <a:off x="8234045" y="346329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左大括号 5"/>
          <p:cNvSpPr/>
          <p:nvPr/>
        </p:nvSpPr>
        <p:spPr>
          <a:xfrm>
            <a:off x="8234045" y="502285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flipH="1">
            <a:off x="2293620" y="368871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6422390" y="1333500"/>
            <a:ext cx="1720215" cy="339725"/>
          </a:xfrm>
          <a:prstGeom prst="rect">
            <a:avLst/>
          </a:prstGeom>
          <a:noFill/>
        </p:spPr>
        <p:txBody>
          <a:bodyPr wrap="square" rtlCol="0" anchor="t">
            <a:no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a:p>
            <a:endParaRPr lang="en-US" altLang="en-US"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
        <p:nvSpPr>
          <p:cNvPr id="29" name="文本框 28"/>
          <p:cNvSpPr txBox="1"/>
          <p:nvPr/>
        </p:nvSpPr>
        <p:spPr>
          <a:xfrm>
            <a:off x="8254365" y="1345565"/>
            <a:ext cx="1626870" cy="368300"/>
          </a:xfrm>
          <a:prstGeom prst="rect">
            <a:avLst/>
          </a:prstGeom>
          <a:noFill/>
        </p:spPr>
        <p:txBody>
          <a:bodyPr wrap="square" rtlCol="0" anchor="t">
            <a:sp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8361045" cy="327025"/>
            <a:chOff x="533" y="646"/>
            <a:chExt cx="13167"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微软雅黑" panose="020B0503020204020204" charset="-122"/>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业务</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保护成效总览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4" name="textbox 158"/>
            <p:cNvSpPr/>
            <p:nvPr/>
          </p:nvSpPr>
          <p:spPr>
            <a:xfrm>
              <a:off x="4863"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7*24H</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全场景守护、安全事件</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“0”</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损失、安全成效可量化</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 name="圆角矩形 5"/>
          <p:cNvSpPr/>
          <p:nvPr/>
        </p:nvSpPr>
        <p:spPr>
          <a:xfrm>
            <a:off x="3649345" y="904875"/>
            <a:ext cx="7760335" cy="327025"/>
          </a:xfrm>
          <a:prstGeom prst="roundRect">
            <a:avLst>
              <a:gd name="adj" fmla="val 7741"/>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35990" rIns="179705" numCol="1" spcCol="0" rtlCol="0" fromWordArt="0" anchor="ctr" anchorCtr="0" forceAA="0" compatLnSpc="1">
            <a:noAutofit/>
          </a:bodyPr>
          <a:p>
            <a:pPr lvl="0" algn="l">
              <a:lnSpc>
                <a:spcPct val="130000"/>
              </a:lnSpc>
              <a:buClrTx/>
              <a:buSzTx/>
              <a:buFontTx/>
            </a:pPr>
            <a:endParaRPr 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grpSp>
        <p:nvGrpSpPr>
          <p:cNvPr id="11" name="组合 10"/>
          <p:cNvGrpSpPr/>
          <p:nvPr/>
        </p:nvGrpSpPr>
        <p:grpSpPr>
          <a:xfrm rot="0">
            <a:off x="783590" y="909955"/>
            <a:ext cx="10558780" cy="972185"/>
            <a:chOff x="603" y="1527"/>
            <a:chExt cx="16628" cy="1531"/>
          </a:xfrm>
        </p:grpSpPr>
        <p:sp>
          <p:nvSpPr>
            <p:cNvPr id="32" name="圆角矩形 31"/>
            <p:cNvSpPr/>
            <p:nvPr>
              <p:custDataLst>
                <p:tags r:id="rId4"/>
              </p:custDataLst>
            </p:nvPr>
          </p:nvSpPr>
          <p:spPr>
            <a:xfrm>
              <a:off x="603" y="1527"/>
              <a:ext cx="3969" cy="1531"/>
            </a:xfrm>
            <a:prstGeom prst="roundRect">
              <a:avLst>
                <a:gd name="adj" fmla="val 5594"/>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935990" rIns="179705" rtlCol="0" anchor="ctr">
              <a:noAutofit/>
            </a:bodyPr>
            <a:p>
              <a:pPr lvl="0" indent="0" algn="l" fontAlgn="auto">
                <a:lnSpc>
                  <a:spcPct val="130000"/>
                </a:lnSpc>
                <a:buClrTx/>
                <a:buSzTx/>
                <a:buFontTx/>
              </a:pPr>
              <a:endParaRPr lang="zh-CN" alt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36" name="文本框 35"/>
            <p:cNvSpPr txBox="1"/>
            <p:nvPr/>
          </p:nvSpPr>
          <p:spPr>
            <a:xfrm>
              <a:off x="5234" y="1560"/>
              <a:ext cx="11997" cy="434"/>
            </a:xfrm>
            <a:prstGeom prst="rect">
              <a:avLst/>
            </a:prstGeom>
            <a:noFill/>
          </p:spPr>
          <p:txBody>
            <a:bodyPr wrap="square" rtlCol="0" anchor="t">
              <a:spAutoFit/>
            </a:bodyPr>
            <a:p>
              <a:pPr algn="l" rtl="0" eaLnBrk="0">
                <a:lnSpc>
                  <a:spcPct val="100000"/>
                </a:lnSpc>
              </a:pP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业务安全“</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中断</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    </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安全事件“</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”损失</a:t>
              </a:r>
              <a:endPar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endParaRPr>
            </a:p>
          </p:txBody>
        </p:sp>
        <p:grpSp>
          <p:nvGrpSpPr>
            <p:cNvPr id="10" name="组合 9"/>
            <p:cNvGrpSpPr/>
            <p:nvPr/>
          </p:nvGrpSpPr>
          <p:grpSpPr>
            <a:xfrm>
              <a:off x="951" y="1754"/>
              <a:ext cx="3211" cy="1077"/>
              <a:chOff x="1042" y="1516"/>
              <a:chExt cx="3211" cy="1077"/>
            </a:xfrm>
          </p:grpSpPr>
          <p:sp>
            <p:nvSpPr>
              <p:cNvPr id="34" name="文本框 33"/>
              <p:cNvSpPr txBox="1"/>
              <p:nvPr/>
            </p:nvSpPr>
            <p:spPr>
              <a:xfrm>
                <a:off x="2195" y="1516"/>
                <a:ext cx="2058" cy="1077"/>
              </a:xfrm>
              <a:prstGeom prst="rect">
                <a:avLst/>
              </a:prstGeom>
              <a:noFill/>
            </p:spPr>
            <p:txBody>
              <a:bodyPr wrap="square" rtlCol="0" anchor="ctr" anchorCtr="0">
                <a:noAutofit/>
              </a:bodyPr>
              <a:p>
                <a:pPr lvl="0" algn="l" fontAlgn="auto">
                  <a:lnSpc>
                    <a:spcPct val="100000"/>
                  </a:lnSpc>
                  <a:buClrTx/>
                  <a:buSzTx/>
                  <a:buFontTx/>
                  <a:buNone/>
                </a:pPr>
                <a:r>
                  <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rPr>
                  <a:t>7*24业务系统安全保护</a:t>
                </a:r>
                <a:endPar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pic>
            <p:nvPicPr>
              <p:cNvPr id="9" name="图片 8" descr="风险行为@2x (1)"/>
              <p:cNvPicPr>
                <a:picLocks noChangeAspect="1"/>
              </p:cNvPicPr>
              <p:nvPr/>
            </p:nvPicPr>
            <p:blipFill>
              <a:blip r:embed="rId5"/>
              <a:stretch>
                <a:fillRect/>
              </a:stretch>
            </p:blipFill>
            <p:spPr>
              <a:xfrm>
                <a:off x="1042" y="1558"/>
                <a:ext cx="922" cy="922"/>
              </a:xfrm>
              <a:prstGeom prst="rect">
                <a:avLst/>
              </a:prstGeom>
            </p:spPr>
          </p:pic>
        </p:grpSp>
      </p:grpSp>
      <p:grpSp>
        <p:nvGrpSpPr>
          <p:cNvPr id="46" name="组合 45"/>
          <p:cNvGrpSpPr/>
          <p:nvPr/>
        </p:nvGrpSpPr>
        <p:grpSpPr>
          <a:xfrm rot="0">
            <a:off x="3649345" y="1348740"/>
            <a:ext cx="7759700" cy="528320"/>
            <a:chOff x="5780" y="2900"/>
            <a:chExt cx="12220" cy="832"/>
          </a:xfrm>
        </p:grpSpPr>
        <p:grpSp>
          <p:nvGrpSpPr>
            <p:cNvPr id="25" name="组合 24"/>
            <p:cNvGrpSpPr/>
            <p:nvPr/>
          </p:nvGrpSpPr>
          <p:grpSpPr>
            <a:xfrm>
              <a:off x="5780" y="2900"/>
              <a:ext cx="2644" cy="832"/>
              <a:chOff x="5780" y="2900"/>
              <a:chExt cx="2644" cy="832"/>
            </a:xfrm>
          </p:grpSpPr>
          <p:sp>
            <p:nvSpPr>
              <p:cNvPr id="24" name="圆角矩形 23"/>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3" name="组合 22"/>
              <p:cNvGrpSpPr/>
              <p:nvPr/>
            </p:nvGrpSpPr>
            <p:grpSpPr>
              <a:xfrm>
                <a:off x="5884" y="2970"/>
                <a:ext cx="2437" cy="693"/>
                <a:chOff x="5987" y="2974"/>
                <a:chExt cx="2437" cy="693"/>
              </a:xfrm>
            </p:grpSpPr>
            <p:sp>
              <p:nvSpPr>
                <p:cNvPr id="106" name="文本框 105"/>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高危可利用漏洞防护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17" name="文本框 16"/>
                <p:cNvSpPr txBox="1"/>
                <p:nvPr/>
              </p:nvSpPr>
              <p:spPr>
                <a:xfrm>
                  <a:off x="6096" y="3316"/>
                  <a:ext cx="2203"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26" name="组合 25"/>
            <p:cNvGrpSpPr/>
            <p:nvPr/>
          </p:nvGrpSpPr>
          <p:grpSpPr>
            <a:xfrm>
              <a:off x="8967" y="2900"/>
              <a:ext cx="2644" cy="832"/>
              <a:chOff x="5780" y="2900"/>
              <a:chExt cx="2644" cy="832"/>
            </a:xfrm>
          </p:grpSpPr>
          <p:sp>
            <p:nvSpPr>
              <p:cNvPr id="27" name="圆角矩形 26"/>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8" name="组合 27"/>
              <p:cNvGrpSpPr/>
              <p:nvPr/>
            </p:nvGrpSpPr>
            <p:grpSpPr>
              <a:xfrm>
                <a:off x="5884" y="2970"/>
                <a:ext cx="2540" cy="693"/>
                <a:chOff x="5987" y="2974"/>
                <a:chExt cx="2540" cy="693"/>
              </a:xfrm>
            </p:grpSpPr>
            <p:sp>
              <p:nvSpPr>
                <p:cNvPr id="29" name="文本框 2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en-US" alt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 </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服务资产告警研判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30" name="文本框 29"/>
                <p:cNvSpPr txBox="1"/>
                <p:nvPr/>
              </p:nvSpPr>
              <p:spPr>
                <a:xfrm>
                  <a:off x="6142" y="3316"/>
                  <a:ext cx="2385"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31" name="组合 30"/>
            <p:cNvGrpSpPr/>
            <p:nvPr/>
          </p:nvGrpSpPr>
          <p:grpSpPr>
            <a:xfrm>
              <a:off x="12154" y="2900"/>
              <a:ext cx="2644" cy="832"/>
              <a:chOff x="5780" y="2900"/>
              <a:chExt cx="2644" cy="832"/>
            </a:xfrm>
          </p:grpSpPr>
          <p:sp>
            <p:nvSpPr>
              <p:cNvPr id="33" name="圆角矩形 32"/>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5884" y="2970"/>
                <a:ext cx="2437" cy="680"/>
                <a:chOff x="5987" y="2974"/>
                <a:chExt cx="2437" cy="680"/>
              </a:xfrm>
            </p:grpSpPr>
            <p:sp>
              <p:nvSpPr>
                <p:cNvPr id="39" name="文本框 3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告警平均</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响应时间</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0" name="文本框 39"/>
                <p:cNvSpPr txBox="1"/>
                <p:nvPr/>
              </p:nvSpPr>
              <p:spPr>
                <a:xfrm>
                  <a:off x="6311" y="3303"/>
                  <a:ext cx="1945" cy="351"/>
                </a:xfrm>
                <a:prstGeom prst="rect">
                  <a:avLst/>
                </a:prstGeom>
                <a:noFill/>
                <a:ln>
                  <a:noFill/>
                </a:ln>
              </p:spPr>
              <p:txBody>
                <a:bodyPr wrap="square" rtlCol="0" anchor="ctr" anchorCtr="0">
                  <a:noAutofit/>
                </a:bodyPr>
                <a:p>
                  <a:pPr algn="ctr" rtl="0" eaLnBrk="0">
                    <a:lnSpc>
                      <a:spcPct val="100000"/>
                    </a:lnSpc>
                  </a:pPr>
                  <a:r>
                    <a:rPr lang="en-US" altLang="zh-CN"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10</a:t>
                  </a:r>
                  <a:r>
                    <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分钟</a:t>
                  </a:r>
                  <a:endPar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41" name="组合 40"/>
            <p:cNvGrpSpPr/>
            <p:nvPr/>
          </p:nvGrpSpPr>
          <p:grpSpPr>
            <a:xfrm>
              <a:off x="15197" y="2900"/>
              <a:ext cx="2803" cy="832"/>
              <a:chOff x="5636" y="2900"/>
              <a:chExt cx="2803" cy="832"/>
            </a:xfrm>
          </p:grpSpPr>
          <p:sp>
            <p:nvSpPr>
              <p:cNvPr id="42" name="圆角矩形 41"/>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5636" y="2970"/>
                <a:ext cx="2803" cy="677"/>
                <a:chOff x="5739" y="2974"/>
                <a:chExt cx="2803" cy="677"/>
              </a:xfrm>
            </p:grpSpPr>
            <p:sp>
              <p:nvSpPr>
                <p:cNvPr id="44" name="文本框 43"/>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威胁</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实时遏制率</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5" name="文本框 44"/>
                <p:cNvSpPr txBox="1"/>
                <p:nvPr/>
              </p:nvSpPr>
              <p:spPr>
                <a:xfrm>
                  <a:off x="5739" y="3316"/>
                  <a:ext cx="2803" cy="335"/>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grpSp>
        <p:nvGrpSpPr>
          <p:cNvPr id="96" name="组合 95"/>
          <p:cNvGrpSpPr/>
          <p:nvPr>
            <p:custDataLst>
              <p:tags r:id="rId6"/>
            </p:custDataLst>
          </p:nvPr>
        </p:nvGrpSpPr>
        <p:grpSpPr>
          <a:xfrm rot="0">
            <a:off x="4242000" y="2247900"/>
            <a:ext cx="3708000" cy="3708000"/>
            <a:chOff x="8503" y="4270"/>
            <a:chExt cx="3856" cy="3887"/>
          </a:xfrm>
        </p:grpSpPr>
        <p:sp>
          <p:nvSpPr>
            <p:cNvPr id="64" name="椭圆 63"/>
            <p:cNvSpPr/>
            <p:nvPr>
              <p:custDataLst>
                <p:tags r:id="rId7"/>
              </p:custDataLst>
            </p:nvPr>
          </p:nvSpPr>
          <p:spPr>
            <a:xfrm>
              <a:off x="8503" y="4301"/>
              <a:ext cx="3856" cy="3857"/>
            </a:xfrm>
            <a:prstGeom prst="ellipse">
              <a:avLst/>
            </a:prstGeom>
            <a:noFill/>
            <a:ln w="15875">
              <a:gradFill>
                <a:gsLst>
                  <a:gs pos="0">
                    <a:schemeClr val="accent5">
                      <a:lumMod val="60000"/>
                      <a:lumOff val="40000"/>
                      <a:alpha val="100000"/>
                    </a:schemeClr>
                  </a:gs>
                  <a:gs pos="100000">
                    <a:schemeClr val="accent5">
                      <a:lumMod val="60000"/>
                      <a:lumOff val="40000"/>
                      <a:alpha val="40000"/>
                    </a:schemeClr>
                  </a:gs>
                </a:gsLst>
                <a:lin ang="5400000" scaled="1"/>
              </a:gradFill>
            </a:ln>
            <a:effectLst>
              <a:outerShdw blurRad="50800" dist="254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65" name="形状1"/>
            <p:cNvSpPr/>
            <p:nvPr>
              <p:custDataLst>
                <p:tags r:id="rId8"/>
              </p:custDataLst>
            </p:nvPr>
          </p:nvSpPr>
          <p:spPr>
            <a:xfrm>
              <a:off x="10700" y="4516"/>
              <a:ext cx="1589" cy="1685"/>
            </a:xfrm>
            <a:custGeom>
              <a:avLst/>
              <a:gdLst/>
              <a:ahLst/>
              <a:cxnLst/>
              <a:rect l="l" t="t" r="r" b="b"/>
              <a:pathLst>
                <a:path w="1594308" h="1688900">
                  <a:moveTo>
                    <a:pt x="35722" y="0"/>
                  </a:moveTo>
                  <a:cubicBezTo>
                    <a:pt x="63267" y="1812"/>
                    <a:pt x="90236" y="7301"/>
                    <a:pt x="117153" y="13441"/>
                  </a:cubicBezTo>
                  <a:cubicBezTo>
                    <a:pt x="712437" y="149226"/>
                    <a:pt x="1193213" y="583065"/>
                    <a:pt x="1389874" y="1157658"/>
                  </a:cubicBezTo>
                  <a:lnTo>
                    <a:pt x="1594308" y="1091234"/>
                  </a:lnTo>
                  <a:lnTo>
                    <a:pt x="1206709" y="1688900"/>
                  </a:lnTo>
                  <a:lnTo>
                    <a:pt x="586966" y="1418539"/>
                  </a:lnTo>
                  <a:lnTo>
                    <a:pt x="805208" y="1347628"/>
                  </a:lnTo>
                  <a:cubicBezTo>
                    <a:pt x="678722" y="983781"/>
                    <a:pt x="375808" y="708460"/>
                    <a:pt x="0" y="616979"/>
                  </a:cubicBezTo>
                  <a:lnTo>
                    <a:pt x="281137" y="300469"/>
                  </a:lnTo>
                  <a:close/>
                </a:path>
              </a:pathLst>
            </a:custGeom>
            <a:gradFill>
              <a:gsLst>
                <a:gs pos="20000">
                  <a:schemeClr val="accent6">
                    <a:alpha val="100000"/>
                  </a:schemeClr>
                </a:gs>
                <a:gs pos="100000">
                  <a:schemeClr val="accent6">
                    <a:alpha val="60000"/>
                  </a:schemeClr>
                </a:gs>
              </a:gsLst>
              <a:lin ang="135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6" name="形状2"/>
            <p:cNvSpPr/>
            <p:nvPr>
              <p:custDataLst>
                <p:tags r:id="rId9"/>
              </p:custDataLst>
            </p:nvPr>
          </p:nvSpPr>
          <p:spPr>
            <a:xfrm>
              <a:off x="8880" y="4270"/>
              <a:ext cx="1962" cy="1358"/>
            </a:xfrm>
            <a:custGeom>
              <a:avLst/>
              <a:gdLst/>
              <a:ahLst/>
              <a:cxnLst/>
              <a:rect l="l" t="t" r="r" b="b"/>
              <a:pathLst>
                <a:path w="1966020" h="1362845">
                  <a:moveTo>
                    <a:pt x="1517380" y="0"/>
                  </a:moveTo>
                  <a:lnTo>
                    <a:pt x="1966020" y="553317"/>
                  </a:lnTo>
                  <a:lnTo>
                    <a:pt x="1517380" y="1059182"/>
                  </a:lnTo>
                  <a:lnTo>
                    <a:pt x="1517380" y="829708"/>
                  </a:lnTo>
                  <a:cubicBezTo>
                    <a:pt x="1135027" y="837512"/>
                    <a:pt x="781922" y="1037666"/>
                    <a:pt x="578396" y="1362845"/>
                  </a:cubicBezTo>
                  <a:lnTo>
                    <a:pt x="365134" y="999160"/>
                  </a:lnTo>
                  <a:lnTo>
                    <a:pt x="0" y="1141086"/>
                  </a:lnTo>
                  <a:cubicBezTo>
                    <a:pt x="9651" y="1116826"/>
                    <a:pt x="22493" y="1094201"/>
                    <a:pt x="35872" y="1071801"/>
                  </a:cubicBezTo>
                  <a:cubicBezTo>
                    <a:pt x="348964" y="547612"/>
                    <a:pt x="910137" y="224431"/>
                    <a:pt x="1517380" y="214954"/>
                  </a:cubicBezTo>
                  <a:close/>
                </a:path>
              </a:pathLst>
            </a:custGeom>
            <a:solidFill>
              <a:srgbClr val="00B050"/>
            </a:soli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7" name="形状3"/>
            <p:cNvSpPr/>
            <p:nvPr>
              <p:custDataLst>
                <p:tags r:id="rId10"/>
              </p:custDataLst>
            </p:nvPr>
          </p:nvSpPr>
          <p:spPr>
            <a:xfrm>
              <a:off x="8546" y="5403"/>
              <a:ext cx="1007" cy="2054"/>
            </a:xfrm>
            <a:custGeom>
              <a:avLst/>
              <a:gdLst/>
              <a:ahLst/>
              <a:cxnLst/>
              <a:rect l="l" t="t" r="r" b="b"/>
              <a:pathLst>
                <a:path w="1010957" h="2059095">
                  <a:moveTo>
                    <a:pt x="664874" y="0"/>
                  </a:moveTo>
                  <a:lnTo>
                    <a:pt x="1007342" y="583003"/>
                  </a:lnTo>
                  <a:lnTo>
                    <a:pt x="789100" y="512092"/>
                  </a:lnTo>
                  <a:cubicBezTo>
                    <a:pt x="677581" y="880742"/>
                    <a:pt x="760774" y="1281465"/>
                    <a:pt x="1010957" y="1576352"/>
                  </a:cubicBezTo>
                  <a:lnTo>
                    <a:pt x="601664" y="1666244"/>
                  </a:lnTo>
                  <a:lnTo>
                    <a:pt x="623909" y="2059095"/>
                  </a:lnTo>
                  <a:cubicBezTo>
                    <a:pt x="601129" y="2040072"/>
                    <a:pt x="581084" y="2018273"/>
                    <a:pt x="561533" y="1995901"/>
                  </a:cubicBezTo>
                  <a:cubicBezTo>
                    <a:pt x="159750" y="1536149"/>
                    <a:pt x="25799" y="902573"/>
                    <a:pt x="204434" y="322122"/>
                  </a:cubicBezTo>
                  <a:lnTo>
                    <a:pt x="0" y="255698"/>
                  </a:lnTo>
                  <a:close/>
                </a:path>
              </a:pathLst>
            </a:custGeom>
            <a:gradFill>
              <a:gsLst>
                <a:gs pos="20000">
                  <a:schemeClr val="accent5">
                    <a:alpha val="100000"/>
                  </a:schemeClr>
                </a:gs>
                <a:gs pos="100000">
                  <a:schemeClr val="accent5">
                    <a:alpha val="60000"/>
                  </a:schemeClr>
                </a:gs>
              </a:gsLst>
              <a:lin ang="27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8" name="形状4"/>
            <p:cNvSpPr/>
            <p:nvPr>
              <p:custDataLst>
                <p:tags r:id="rId11"/>
              </p:custDataLst>
            </p:nvPr>
          </p:nvSpPr>
          <p:spPr>
            <a:xfrm>
              <a:off x="9263" y="6996"/>
              <a:ext cx="1923" cy="999"/>
            </a:xfrm>
            <a:custGeom>
              <a:avLst/>
              <a:gdLst/>
              <a:ahLst/>
              <a:cxnLst/>
              <a:rect l="l" t="t" r="r" b="b"/>
              <a:pathLst>
                <a:path w="1930283" h="1002383">
                  <a:moveTo>
                    <a:pt x="660298" y="0"/>
                  </a:moveTo>
                  <a:lnTo>
                    <a:pt x="525416" y="185649"/>
                  </a:lnTo>
                  <a:cubicBezTo>
                    <a:pt x="839116" y="403925"/>
                    <a:pt x="1242091" y="449635"/>
                    <a:pt x="1597690" y="306518"/>
                  </a:cubicBezTo>
                  <a:lnTo>
                    <a:pt x="1556078" y="729928"/>
                  </a:lnTo>
                  <a:lnTo>
                    <a:pt x="1930283" y="828511"/>
                  </a:lnTo>
                  <a:cubicBezTo>
                    <a:pt x="1910040" y="841361"/>
                    <a:pt x="1888287" y="851190"/>
                    <a:pt x="1866280" y="860600"/>
                  </a:cubicBezTo>
                  <a:cubicBezTo>
                    <a:pt x="1304873" y="1100647"/>
                    <a:pt x="660913" y="1032256"/>
                    <a:pt x="164073" y="682995"/>
                  </a:cubicBezTo>
                  <a:lnTo>
                    <a:pt x="37726" y="856896"/>
                  </a:lnTo>
                  <a:lnTo>
                    <a:pt x="0" y="145550"/>
                  </a:lnTo>
                  <a:close/>
                </a:path>
              </a:pathLst>
            </a:custGeom>
            <a:gradFill>
              <a:gsLst>
                <a:gs pos="20000">
                  <a:schemeClr val="accent6">
                    <a:alpha val="100000"/>
                  </a:schemeClr>
                </a:gs>
                <a:gs pos="100000">
                  <a:schemeClr val="accent6">
                    <a:alpha val="60000"/>
                  </a:schemeClr>
                </a:gs>
              </a:gsLst>
              <a:lin ang="27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9" name="形状5"/>
            <p:cNvSpPr/>
            <p:nvPr>
              <p:custDataLst>
                <p:tags r:id="rId12"/>
              </p:custDataLst>
            </p:nvPr>
          </p:nvSpPr>
          <p:spPr>
            <a:xfrm>
              <a:off x="10922" y="6004"/>
              <a:ext cx="1261" cy="1814"/>
            </a:xfrm>
            <a:custGeom>
              <a:avLst/>
              <a:gdLst/>
              <a:ahLst/>
              <a:cxnLst/>
              <a:rect l="l" t="t" r="r" b="b"/>
              <a:pathLst>
                <a:path w="1263895" h="1819562">
                  <a:moveTo>
                    <a:pt x="1244377" y="0"/>
                  </a:moveTo>
                  <a:cubicBezTo>
                    <a:pt x="1251168" y="26772"/>
                    <a:pt x="1254285" y="54134"/>
                    <a:pt x="1256765" y="81647"/>
                  </a:cubicBezTo>
                  <a:cubicBezTo>
                    <a:pt x="1311579" y="689756"/>
                    <a:pt x="1047542" y="1281065"/>
                    <a:pt x="561842" y="1645660"/>
                  </a:cubicBezTo>
                  <a:lnTo>
                    <a:pt x="688189" y="1819562"/>
                  </a:lnTo>
                  <a:lnTo>
                    <a:pt x="0" y="1635623"/>
                  </a:lnTo>
                  <a:lnTo>
                    <a:pt x="65617" y="962666"/>
                  </a:lnTo>
                  <a:lnTo>
                    <a:pt x="200498" y="1148313"/>
                  </a:lnTo>
                  <a:cubicBezTo>
                    <a:pt x="507005" y="915921"/>
                    <a:pt x="675203" y="543500"/>
                    <a:pt x="646608" y="158417"/>
                  </a:cubicBezTo>
                  <a:lnTo>
                    <a:pt x="1033591" y="327589"/>
                  </a:lnTo>
                  <a:close/>
                </a:path>
              </a:pathLst>
            </a:custGeom>
            <a:gradFill>
              <a:gsLst>
                <a:gs pos="20000">
                  <a:schemeClr val="accent5">
                    <a:alpha val="100000"/>
                  </a:schemeClr>
                </a:gs>
                <a:gs pos="100000">
                  <a:schemeClr val="accent5">
                    <a:alpha val="60000"/>
                  </a:schemeClr>
                </a:gs>
              </a:gsLst>
              <a:lin ang="189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grpSp>
      <p:sp>
        <p:nvSpPr>
          <p:cNvPr id="70" name="矩形 69"/>
          <p:cNvSpPr/>
          <p:nvPr>
            <p:custDataLst>
              <p:tags r:id="rId13"/>
            </p:custDataLst>
          </p:nvPr>
        </p:nvSpPr>
        <p:spPr>
          <a:xfrm>
            <a:off x="5263028" y="3660408"/>
            <a:ext cx="1656000" cy="972000"/>
          </a:xfrm>
          <a:prstGeom prst="rect">
            <a:avLst/>
          </a:prstGeom>
          <a:noFill/>
        </p:spPr>
        <p:txBody>
          <a:bodyPr wrap="square" lIns="0" tIns="0" rIns="0" bIns="0" rtlCol="0" anchor="ctr" anchorCtr="0">
            <a:noAutofit/>
          </a:bodyPr>
          <a:p>
            <a:pPr algn="ctr">
              <a:spcBef>
                <a:spcPct val="0"/>
              </a:spcBef>
              <a:spcAft>
                <a:spcPct val="0"/>
              </a:spcAft>
            </a:pPr>
            <a:r>
              <a:rPr lang="en-US" altLang="zh-CN" sz="3200" b="1">
                <a:solidFill>
                  <a:schemeClr val="accent5"/>
                </a:solidFill>
                <a:latin typeface="+mn-ea"/>
                <a:cs typeface="+mn-ea"/>
              </a:rPr>
              <a:t>IPDRO</a:t>
            </a:r>
            <a:endParaRPr lang="en-US" altLang="zh-CN" sz="3200" b="1">
              <a:solidFill>
                <a:schemeClr val="accent5"/>
              </a:solidFill>
              <a:latin typeface="+mn-ea"/>
              <a:cs typeface="+mn-ea"/>
            </a:endParaRPr>
          </a:p>
        </p:txBody>
      </p:sp>
      <p:sp>
        <p:nvSpPr>
          <p:cNvPr id="71" name="矩形 70"/>
          <p:cNvSpPr/>
          <p:nvPr>
            <p:custDataLst>
              <p:tags r:id="rId14"/>
            </p:custDataLst>
          </p:nvPr>
        </p:nvSpPr>
        <p:spPr>
          <a:xfrm>
            <a:off x="740410" y="5034280"/>
            <a:ext cx="3122295" cy="439420"/>
          </a:xfrm>
          <a:prstGeom prst="rect">
            <a:avLst/>
          </a:prstGeom>
          <a:noFill/>
        </p:spPr>
        <p:txBody>
          <a:bodyPr wrap="square" lIns="0" tIns="0" rIns="0" bIns="0" rtlCol="0" anchor="ctr" anchorCtr="0">
            <a:noAutofit/>
          </a:bodyPr>
          <a:p>
            <a:pPr lvl="0" algn="r">
              <a:buClrTx/>
              <a:buSzTx/>
              <a:buFontTx/>
            </a:pPr>
            <a:r>
              <a:rPr lang="zh-CN" altLang="en-US" sz="1600" b="1">
                <a:solidFill>
                  <a:schemeClr val="accent6"/>
                </a:solidFill>
                <a:latin typeface="+mn-ea"/>
                <a:cs typeface="+mn-ea"/>
                <a:sym typeface="+mn-ea"/>
              </a:rPr>
              <a:t>专家运营及</a:t>
            </a:r>
            <a:r>
              <a:rPr lang="zh-CN" altLang="en-US" sz="1600" b="1">
                <a:solidFill>
                  <a:schemeClr val="accent6"/>
                </a:solidFill>
                <a:latin typeface="+mn-ea"/>
                <a:cs typeface="+mn-ea"/>
                <a:sym typeface="+mn-ea"/>
              </a:rPr>
              <a:t>可视化</a:t>
            </a:r>
            <a:endParaRPr lang="zh-CN" altLang="en-US" sz="1600" b="1">
              <a:solidFill>
                <a:schemeClr val="accent6"/>
              </a:solidFill>
              <a:latin typeface="+mn-ea"/>
              <a:cs typeface="+mn-ea"/>
              <a:sym typeface="+mn-ea"/>
            </a:endParaRPr>
          </a:p>
        </p:txBody>
      </p:sp>
      <p:sp>
        <p:nvSpPr>
          <p:cNvPr id="73" name="矩形 72"/>
          <p:cNvSpPr/>
          <p:nvPr>
            <p:custDataLst>
              <p:tags r:id="rId15"/>
            </p:custDataLst>
          </p:nvPr>
        </p:nvSpPr>
        <p:spPr>
          <a:xfrm>
            <a:off x="8278495" y="4250055"/>
            <a:ext cx="3013075" cy="400050"/>
          </a:xfrm>
          <a:prstGeom prst="rect">
            <a:avLst/>
          </a:prstGeom>
          <a:noFill/>
        </p:spPr>
        <p:txBody>
          <a:bodyPr wrap="square" lIns="0" tIns="0" rIns="0" bIns="0" rtlCol="0" anchor="ctr" anchorCtr="0">
            <a:noAutofit/>
          </a:bodyPr>
          <a:p>
            <a:pPr lvl="0" algn="l">
              <a:buClrTx/>
              <a:buSzTx/>
              <a:buFontTx/>
            </a:pPr>
            <a:r>
              <a:rPr lang="zh-CN" altLang="en-US" sz="1600" b="1" dirty="0">
                <a:solidFill>
                  <a:schemeClr val="accent5"/>
                </a:solidFill>
                <a:latin typeface="+mn-ea"/>
                <a:cs typeface="+mn-ea"/>
                <a:sym typeface="+mn-ea"/>
              </a:rPr>
              <a:t>专家</a:t>
            </a:r>
            <a:r>
              <a:rPr lang="zh-CN" altLang="en-US"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平台</a:t>
            </a:r>
            <a:r>
              <a:rPr lang="en-US" altLang="zh-CN"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组件</a:t>
            </a:r>
            <a:r>
              <a:rPr lang="zh-CN" altLang="en-US" sz="1600" b="1" dirty="0">
                <a:solidFill>
                  <a:schemeClr val="accent5"/>
                </a:solidFill>
                <a:latin typeface="+mn-ea"/>
                <a:cs typeface="+mn-ea"/>
                <a:sym typeface="+mn-ea"/>
              </a:rPr>
              <a:t>联动响应</a:t>
            </a:r>
            <a:endParaRPr lang="zh-CN" altLang="en-US" sz="1600" b="1" dirty="0">
              <a:solidFill>
                <a:schemeClr val="accent5"/>
              </a:solidFill>
              <a:latin typeface="+mn-ea"/>
              <a:cs typeface="+mn-ea"/>
              <a:sym typeface="+mn-ea"/>
            </a:endParaRPr>
          </a:p>
        </p:txBody>
      </p:sp>
      <p:sp>
        <p:nvSpPr>
          <p:cNvPr id="75" name="矩形 74"/>
          <p:cNvSpPr/>
          <p:nvPr>
            <p:custDataLst>
              <p:tags r:id="rId16"/>
            </p:custDataLst>
          </p:nvPr>
        </p:nvSpPr>
        <p:spPr>
          <a:xfrm>
            <a:off x="370205" y="2247900"/>
            <a:ext cx="3607435" cy="398780"/>
          </a:xfrm>
          <a:prstGeom prst="rect">
            <a:avLst/>
          </a:prstGeom>
          <a:noFill/>
          <a:extLst>
            <a:ext uri="{909E8E84-426E-40DD-AFC4-6F175D3DCCD1}">
              <a14:hiddenFill xmlns:a14="http://schemas.microsoft.com/office/drawing/2010/main">
                <a:solidFill>
                  <a:srgbClr val="00B050"/>
                </a:solidFill>
              </a14:hiddenFill>
            </a:ext>
          </a:extLst>
        </p:spPr>
        <p:txBody>
          <a:bodyPr wrap="square" lIns="0" tIns="0" rIns="0" bIns="0" rtlCol="0" anchor="ctr" anchorCtr="0">
            <a:noAutofit/>
          </a:bodyPr>
          <a:p>
            <a:pPr lvl="0" algn="r">
              <a:buClrTx/>
              <a:buSzTx/>
              <a:buFontTx/>
            </a:pPr>
            <a:r>
              <a:rPr lang="zh-CN" altLang="en-US" sz="1600" b="1" dirty="0">
                <a:solidFill>
                  <a:srgbClr val="00B050"/>
                </a:solidFill>
                <a:latin typeface="+mn-ea"/>
                <a:cs typeface="+mn-ea"/>
                <a:sym typeface="+mn-ea"/>
              </a:rPr>
              <a:t>用好安全设备保障基础防护功能</a:t>
            </a:r>
            <a:endParaRPr lang="zh-CN" altLang="en-US" sz="1600" b="1" dirty="0">
              <a:solidFill>
                <a:srgbClr val="00B050"/>
              </a:solidFill>
              <a:latin typeface="+mn-ea"/>
              <a:cs typeface="+mn-ea"/>
              <a:sym typeface="+mn-ea"/>
            </a:endParaRPr>
          </a:p>
        </p:txBody>
      </p:sp>
      <p:sp>
        <p:nvSpPr>
          <p:cNvPr id="76" name="矩形 75"/>
          <p:cNvSpPr/>
          <p:nvPr>
            <p:custDataLst>
              <p:tags r:id="rId17"/>
            </p:custDataLst>
          </p:nvPr>
        </p:nvSpPr>
        <p:spPr>
          <a:xfrm>
            <a:off x="4408805" y="402399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识别</a:t>
            </a:r>
            <a:endParaRPr lang="zh-CN" altLang="en-US" sz="1600" b="1" dirty="0">
              <a:solidFill>
                <a:schemeClr val="tx1"/>
              </a:solidFill>
              <a:latin typeface="+mn-ea"/>
              <a:cs typeface="+mn-ea"/>
            </a:endParaRPr>
          </a:p>
        </p:txBody>
      </p:sp>
      <p:sp>
        <p:nvSpPr>
          <p:cNvPr id="77" name="矩形 76"/>
          <p:cNvSpPr/>
          <p:nvPr>
            <p:custDataLst>
              <p:tags r:id="rId18"/>
            </p:custDataLst>
          </p:nvPr>
        </p:nvSpPr>
        <p:spPr>
          <a:xfrm>
            <a:off x="8242935" y="2247900"/>
            <a:ext cx="3107055" cy="398780"/>
          </a:xfrm>
          <a:prstGeom prst="rect">
            <a:avLst/>
          </a:prstGeom>
          <a:noFill/>
        </p:spPr>
        <p:txBody>
          <a:bodyPr wrap="square" lIns="0" tIns="0" rIns="0" bIns="0" rtlCol="0" anchor="ctr" anchorCtr="0">
            <a:noAutofit/>
          </a:bodyPr>
          <a:p>
            <a:pPr lvl="0" algn="l">
              <a:buClrTx/>
              <a:buSzTx/>
              <a:buFontTx/>
            </a:pPr>
            <a:r>
              <a:rPr lang="zh-CN" altLang="en-US" sz="1600" b="1">
                <a:solidFill>
                  <a:schemeClr val="accent6"/>
                </a:solidFill>
                <a:latin typeface="+mn-ea"/>
                <a:cs typeface="+mn-ea"/>
                <a:sym typeface="+mn-ea"/>
              </a:rPr>
              <a:t>组件</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平台</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专家监测</a:t>
            </a:r>
            <a:endParaRPr lang="zh-CN" altLang="en-US" sz="1600" b="1">
              <a:solidFill>
                <a:schemeClr val="accent6"/>
              </a:solidFill>
              <a:latin typeface="+mn-ea"/>
              <a:cs typeface="+mn-ea"/>
              <a:sym typeface="+mn-ea"/>
            </a:endParaRPr>
          </a:p>
        </p:txBody>
      </p:sp>
      <p:sp>
        <p:nvSpPr>
          <p:cNvPr id="79" name="矩形 78"/>
          <p:cNvSpPr/>
          <p:nvPr>
            <p:custDataLst>
              <p:tags r:id="rId19"/>
            </p:custDataLst>
          </p:nvPr>
        </p:nvSpPr>
        <p:spPr>
          <a:xfrm>
            <a:off x="614045" y="3684270"/>
            <a:ext cx="3363595" cy="399415"/>
          </a:xfrm>
          <a:prstGeom prst="rect">
            <a:avLst/>
          </a:prstGeom>
          <a:noFill/>
        </p:spPr>
        <p:txBody>
          <a:bodyPr wrap="square" lIns="0" tIns="0" rIns="0" bIns="0" rtlCol="0" anchor="ctr" anchorCtr="0">
            <a:noAutofit/>
          </a:bodyPr>
          <a:p>
            <a:pPr lvl="0" algn="r">
              <a:buClrTx/>
              <a:buSzTx/>
              <a:buFontTx/>
            </a:pPr>
            <a:r>
              <a:rPr lang="zh-CN" altLang="en-US" sz="1600" b="1" dirty="0">
                <a:solidFill>
                  <a:schemeClr val="accent5"/>
                </a:solidFill>
                <a:latin typeface="+mn-ea"/>
                <a:cs typeface="+mn-ea"/>
                <a:sym typeface="+mn-ea"/>
              </a:rPr>
              <a:t>识别</a:t>
            </a:r>
            <a:r>
              <a:rPr lang="zh-CN" altLang="en-US" sz="1600" b="1" dirty="0">
                <a:solidFill>
                  <a:schemeClr val="accent5"/>
                </a:solidFill>
                <a:latin typeface="+mn-ea"/>
                <a:cs typeface="+mn-ea"/>
                <a:sym typeface="+mn-ea"/>
              </a:rPr>
              <a:t>保护对象及</a:t>
            </a:r>
            <a:r>
              <a:rPr lang="zh-CN" altLang="en-US" sz="1600" b="1" dirty="0">
                <a:solidFill>
                  <a:schemeClr val="accent5"/>
                </a:solidFill>
                <a:latin typeface="+mn-ea"/>
                <a:cs typeface="+mn-ea"/>
                <a:sym typeface="+mn-ea"/>
              </a:rPr>
              <a:t>其脆弱性</a:t>
            </a:r>
            <a:endParaRPr lang="zh-CN" altLang="en-US" sz="1600" b="1" dirty="0">
              <a:solidFill>
                <a:schemeClr val="accent5"/>
              </a:solidFill>
              <a:latin typeface="+mn-ea"/>
              <a:cs typeface="+mn-ea"/>
              <a:sym typeface="+mn-ea"/>
            </a:endParaRPr>
          </a:p>
        </p:txBody>
      </p:sp>
      <p:grpSp>
        <p:nvGrpSpPr>
          <p:cNvPr id="20" name="组合 19"/>
          <p:cNvGrpSpPr/>
          <p:nvPr>
            <p:custDataLst>
              <p:tags r:id="rId20"/>
            </p:custDataLst>
          </p:nvPr>
        </p:nvGrpSpPr>
        <p:grpSpPr>
          <a:xfrm>
            <a:off x="4043680" y="2373630"/>
            <a:ext cx="1595755" cy="165100"/>
            <a:chOff x="6409" y="4299"/>
            <a:chExt cx="2513" cy="260"/>
          </a:xfrm>
        </p:grpSpPr>
        <p:sp>
          <p:nvSpPr>
            <p:cNvPr id="81" name="椭圆 80"/>
            <p:cNvSpPr/>
            <p:nvPr>
              <p:custDataLst>
                <p:tags r:id="rId21"/>
              </p:custDataLst>
            </p:nvPr>
          </p:nvSpPr>
          <p:spPr>
            <a:xfrm>
              <a:off x="8662" y="4299"/>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2" name="椭圆 81"/>
            <p:cNvSpPr/>
            <p:nvPr>
              <p:custDataLst>
                <p:tags r:id="rId22"/>
              </p:custDataLst>
            </p:nvPr>
          </p:nvSpPr>
          <p:spPr>
            <a:xfrm>
              <a:off x="8747" y="4384"/>
              <a:ext cx="90" cy="90"/>
            </a:xfrm>
            <a:prstGeom prst="ellipse">
              <a:avLst/>
            </a:prstGeom>
            <a:solidFill>
              <a:schemeClr val="accent5"/>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3" name="直接连接符 82"/>
            <p:cNvCxnSpPr/>
            <p:nvPr>
              <p:custDataLst>
                <p:tags r:id="rId23"/>
              </p:custDataLst>
            </p:nvPr>
          </p:nvCxnSpPr>
          <p:spPr>
            <a:xfrm>
              <a:off x="6409" y="4429"/>
              <a:ext cx="2253" cy="0"/>
            </a:xfrm>
            <a:prstGeom prst="line">
              <a:avLst/>
            </a:prstGeom>
            <a:ln>
              <a:solidFill>
                <a:srgbClr val="00B050"/>
              </a:solidFill>
              <a:prstDash val="sysDot"/>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custDataLst>
              <p:tags r:id="rId24"/>
            </p:custDataLst>
          </p:nvPr>
        </p:nvGrpSpPr>
        <p:grpSpPr>
          <a:xfrm>
            <a:off x="4010660" y="3797300"/>
            <a:ext cx="398145" cy="165100"/>
            <a:chOff x="6563" y="6481"/>
            <a:chExt cx="627" cy="260"/>
          </a:xfrm>
        </p:grpSpPr>
        <p:sp>
          <p:nvSpPr>
            <p:cNvPr id="84" name="椭圆 83"/>
            <p:cNvSpPr/>
            <p:nvPr>
              <p:custDataLst>
                <p:tags r:id="rId25"/>
              </p:custDataLst>
            </p:nvPr>
          </p:nvSpPr>
          <p:spPr>
            <a:xfrm>
              <a:off x="6930" y="6481"/>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5" name="椭圆 84"/>
            <p:cNvSpPr/>
            <p:nvPr>
              <p:custDataLst>
                <p:tags r:id="rId26"/>
              </p:custDataLst>
            </p:nvPr>
          </p:nvSpPr>
          <p:spPr>
            <a:xfrm>
              <a:off x="7015" y="6566"/>
              <a:ext cx="90" cy="9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6" name="直接连接符 85"/>
            <p:cNvCxnSpPr/>
            <p:nvPr>
              <p:custDataLst>
                <p:tags r:id="rId27"/>
              </p:custDataLst>
            </p:nvPr>
          </p:nvCxnSpPr>
          <p:spPr>
            <a:xfrm>
              <a:off x="6563" y="6611"/>
              <a:ext cx="397"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custDataLst>
              <p:tags r:id="rId28"/>
            </p:custDataLst>
          </p:nvPr>
        </p:nvGrpSpPr>
        <p:grpSpPr>
          <a:xfrm>
            <a:off x="6616700" y="2373630"/>
            <a:ext cx="1569085" cy="165100"/>
            <a:chOff x="11214" y="4546"/>
            <a:chExt cx="2471" cy="260"/>
          </a:xfrm>
        </p:grpSpPr>
        <p:sp>
          <p:nvSpPr>
            <p:cNvPr id="87" name="椭圆 86"/>
            <p:cNvSpPr/>
            <p:nvPr>
              <p:custDataLst>
                <p:tags r:id="rId29"/>
              </p:custDataLst>
            </p:nvPr>
          </p:nvSpPr>
          <p:spPr>
            <a:xfrm>
              <a:off x="11214" y="4546"/>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8" name="椭圆 87"/>
            <p:cNvSpPr/>
            <p:nvPr>
              <p:custDataLst>
                <p:tags r:id="rId30"/>
              </p:custDataLst>
            </p:nvPr>
          </p:nvSpPr>
          <p:spPr>
            <a:xfrm>
              <a:off x="11299" y="4631"/>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9" name="直接连接符 88"/>
            <p:cNvCxnSpPr/>
            <p:nvPr>
              <p:custDataLst>
                <p:tags r:id="rId31"/>
              </p:custDataLst>
            </p:nvPr>
          </p:nvCxnSpPr>
          <p:spPr>
            <a:xfrm>
              <a:off x="11474" y="4676"/>
              <a:ext cx="2211"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custDataLst>
              <p:tags r:id="rId32"/>
            </p:custDataLst>
          </p:nvPr>
        </p:nvGrpSpPr>
        <p:grpSpPr>
          <a:xfrm>
            <a:off x="7740015" y="4398010"/>
            <a:ext cx="488315" cy="165100"/>
            <a:chOff x="12414" y="7692"/>
            <a:chExt cx="769" cy="260"/>
          </a:xfrm>
        </p:grpSpPr>
        <p:sp>
          <p:nvSpPr>
            <p:cNvPr id="90" name="椭圆 89"/>
            <p:cNvSpPr/>
            <p:nvPr>
              <p:custDataLst>
                <p:tags r:id="rId33"/>
              </p:custDataLst>
            </p:nvPr>
          </p:nvSpPr>
          <p:spPr>
            <a:xfrm>
              <a:off x="12414" y="7692"/>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1" name="椭圆 90"/>
            <p:cNvSpPr/>
            <p:nvPr>
              <p:custDataLst>
                <p:tags r:id="rId34"/>
              </p:custDataLst>
            </p:nvPr>
          </p:nvSpPr>
          <p:spPr>
            <a:xfrm>
              <a:off x="12484" y="7762"/>
              <a:ext cx="120" cy="1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2" name="直接连接符 91"/>
            <p:cNvCxnSpPr/>
            <p:nvPr>
              <p:custDataLst>
                <p:tags r:id="rId35"/>
              </p:custDataLst>
            </p:nvPr>
          </p:nvCxnSpPr>
          <p:spPr>
            <a:xfrm>
              <a:off x="12673" y="7822"/>
              <a:ext cx="5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custDataLst>
              <p:tags r:id="rId36"/>
            </p:custDataLst>
          </p:nvPr>
        </p:nvGrpSpPr>
        <p:grpSpPr>
          <a:xfrm>
            <a:off x="3962400" y="5174615"/>
            <a:ext cx="1022985" cy="165100"/>
            <a:chOff x="6487" y="8782"/>
            <a:chExt cx="1611" cy="260"/>
          </a:xfrm>
        </p:grpSpPr>
        <p:sp>
          <p:nvSpPr>
            <p:cNvPr id="93" name="椭圆 92"/>
            <p:cNvSpPr/>
            <p:nvPr>
              <p:custDataLst>
                <p:tags r:id="rId37"/>
              </p:custDataLst>
            </p:nvPr>
          </p:nvSpPr>
          <p:spPr>
            <a:xfrm>
              <a:off x="7838" y="8782"/>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4" name="椭圆 93"/>
            <p:cNvSpPr/>
            <p:nvPr>
              <p:custDataLst>
                <p:tags r:id="rId38"/>
              </p:custDataLst>
            </p:nvPr>
          </p:nvSpPr>
          <p:spPr>
            <a:xfrm>
              <a:off x="7923" y="8867"/>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5" name="直接连接符 94"/>
            <p:cNvCxnSpPr/>
            <p:nvPr>
              <p:custDataLst>
                <p:tags r:id="rId39"/>
              </p:custDataLst>
            </p:nvPr>
          </p:nvCxnSpPr>
          <p:spPr>
            <a:xfrm>
              <a:off x="6487" y="8912"/>
              <a:ext cx="1479"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99" name="矩形 98"/>
          <p:cNvSpPr/>
          <p:nvPr>
            <p:custDataLst>
              <p:tags r:id="rId40"/>
            </p:custDataLst>
          </p:nvPr>
        </p:nvSpPr>
        <p:spPr>
          <a:xfrm>
            <a:off x="5251450" y="267589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防护</a:t>
            </a:r>
            <a:endParaRPr lang="zh-CN" altLang="en-US" sz="1600" b="1" dirty="0">
              <a:solidFill>
                <a:schemeClr val="tx1"/>
              </a:solidFill>
              <a:latin typeface="+mn-ea"/>
              <a:cs typeface="+mn-ea"/>
            </a:endParaRPr>
          </a:p>
        </p:txBody>
      </p:sp>
      <p:sp>
        <p:nvSpPr>
          <p:cNvPr id="100" name="矩形 99"/>
          <p:cNvSpPr/>
          <p:nvPr>
            <p:custDataLst>
              <p:tags r:id="rId41"/>
            </p:custDataLst>
          </p:nvPr>
        </p:nvSpPr>
        <p:spPr>
          <a:xfrm>
            <a:off x="6821805" y="300037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检测</a:t>
            </a:r>
            <a:endParaRPr lang="zh-CN" altLang="en-US" sz="1600" b="1" dirty="0">
              <a:solidFill>
                <a:schemeClr val="tx1"/>
              </a:solidFill>
              <a:latin typeface="+mn-ea"/>
              <a:cs typeface="+mn-ea"/>
            </a:endParaRPr>
          </a:p>
        </p:txBody>
      </p:sp>
      <p:sp>
        <p:nvSpPr>
          <p:cNvPr id="101" name="矩形 100"/>
          <p:cNvSpPr/>
          <p:nvPr>
            <p:custDataLst>
              <p:tags r:id="rId42"/>
            </p:custDataLst>
          </p:nvPr>
        </p:nvSpPr>
        <p:spPr>
          <a:xfrm>
            <a:off x="7017385" y="461137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响应</a:t>
            </a:r>
            <a:endParaRPr lang="zh-CN" altLang="en-US" sz="1600" b="1" dirty="0">
              <a:solidFill>
                <a:schemeClr val="tx1"/>
              </a:solidFill>
              <a:latin typeface="+mn-ea"/>
              <a:cs typeface="+mn-ea"/>
            </a:endParaRPr>
          </a:p>
        </p:txBody>
      </p:sp>
      <p:sp>
        <p:nvSpPr>
          <p:cNvPr id="102" name="矩形 101"/>
          <p:cNvSpPr/>
          <p:nvPr>
            <p:custDataLst>
              <p:tags r:id="rId43"/>
            </p:custDataLst>
          </p:nvPr>
        </p:nvSpPr>
        <p:spPr>
          <a:xfrm>
            <a:off x="5436870" y="524192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运营</a:t>
            </a:r>
            <a:endParaRPr lang="zh-CN" altLang="en-US" sz="1600" b="1" dirty="0">
              <a:solidFill>
                <a:schemeClr val="tx1"/>
              </a:solidFill>
              <a:latin typeface="+mn-ea"/>
              <a:cs typeface="+mn-ea"/>
            </a:endParaRPr>
          </a:p>
        </p:txBody>
      </p:sp>
      <p:sp>
        <p:nvSpPr>
          <p:cNvPr id="7" name="文本框 6"/>
          <p:cNvSpPr txBox="1"/>
          <p:nvPr/>
        </p:nvSpPr>
        <p:spPr>
          <a:xfrm>
            <a:off x="-1374140" y="4057650"/>
            <a:ext cx="5363845" cy="904240"/>
          </a:xfrm>
          <a:prstGeom prst="rect">
            <a:avLst/>
          </a:prstGeom>
          <a:noFill/>
        </p:spPr>
        <p:txBody>
          <a:bodyPr wrap="square" rtlCol="0" anchor="t">
            <a:noAutofit/>
          </a:bodyPr>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暴露面、</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资产及漏洞扫描</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资产：服务器</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PC</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终端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highlight>
                <a:srgbClr val="FFFF00"/>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个，暴露面风险</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8" name="文本框 7"/>
          <p:cNvSpPr txBox="1"/>
          <p:nvPr/>
        </p:nvSpPr>
        <p:spPr>
          <a:xfrm>
            <a:off x="-1059815" y="5473700"/>
            <a:ext cx="503682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安全运营专家跟踪闭环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运营专家协同业务负责人闭环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条漏洞工单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输出运营周报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份、运营月报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小程序、</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portal</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页面实现运营过程可视</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5" name="文本框 34"/>
          <p:cNvSpPr txBox="1"/>
          <p:nvPr/>
        </p:nvSpPr>
        <p:spPr>
          <a:xfrm>
            <a:off x="465455" y="2595880"/>
            <a:ext cx="351155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边界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AF</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外部攻击</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EDR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防护端点安全风险</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开展策略检查与优化</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7" name="文本框 36"/>
          <p:cNvSpPr txBox="1"/>
          <p:nvPr/>
        </p:nvSpPr>
        <p:spPr>
          <a:xfrm>
            <a:off x="8242935" y="2573020"/>
            <a:ext cx="3949065" cy="1869440"/>
          </a:xfrm>
          <a:prstGeom prst="rect">
            <a:avLst/>
          </a:prstGeom>
          <a:noFill/>
        </p:spPr>
        <p:txBody>
          <a:bodyPr wrap="square" rtlCol="0" anchor="t">
            <a:noAutofit/>
          </a:bodyPr>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监测到</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万</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条安全日志</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智能聚合分析识别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条安全告警</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分析研判识别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条高可信度事件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安全专家研判识别出</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条有效事件工单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专家分析环节平均响应时间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48" name="文本框 47"/>
          <p:cNvSpPr txBox="1"/>
          <p:nvPr/>
        </p:nvSpPr>
        <p:spPr>
          <a:xfrm>
            <a:off x="8278495" y="4658995"/>
            <a:ext cx="4286885" cy="1864995"/>
          </a:xfrm>
          <a:prstGeom prst="rect">
            <a:avLst/>
          </a:prstGeom>
          <a:noFill/>
        </p:spPr>
        <p:txBody>
          <a:bodyPr wrap="square" rtlCol="0" anchor="t">
            <a:noAutofit/>
          </a:bodyPr>
          <a:p>
            <a:pPr algn="just">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平台剧本和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自动化处置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安全专家研判后联动处置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安全专家上机应急处置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安全事件遏制影响平均时间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Tree>
    <p:custDataLst>
      <p:tags r:id="rId4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黑体" panose="02010609060101010101" charset="-122"/>
                <a:ea typeface="黑体" panose="02010609060101010101" charset="-122"/>
                <a:cs typeface="黑体" panose="02010609060101010101" charset="-122"/>
                <a:sym typeface="+mn-ea"/>
              </a:rPr>
              <a:t>资产管理、威胁监测、漏洞管理、事</a:t>
            </a:r>
            <a:r>
              <a:rPr sz="1600" kern="0" spc="60" dirty="0">
                <a:solidFill>
                  <a:schemeClr val="dk1"/>
                </a:solidFill>
                <a:latin typeface="黑体" panose="02010609060101010101" charset="-122"/>
                <a:ea typeface="黑体" panose="02010609060101010101" charset="-122"/>
                <a:cs typeface="黑体" panose="02010609060101010101" charset="-122"/>
                <a:sym typeface="+mn-ea"/>
              </a:rPr>
              <a:t>件处置</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lstStyle/>
          <a:p>
            <a:r>
              <a:rPr lang="zh-CN" altLang="en-US">
                <a:solidFill>
                  <a:srgbClr val="4C61E7"/>
                </a:solidFill>
              </a:rPr>
              <a:t>详细工作内容</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02</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30" name="textbox 50"/>
          <p:cNvSpPr/>
          <p:nvPr/>
        </p:nvSpPr>
        <p:spPr>
          <a:xfrm>
            <a:off x="875665" y="397446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14"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Calibri" panose="020F0502020204030204" charset="0"/>
                <a:ea typeface="微软雅黑" panose="020B0503020204020204" charset="-122"/>
              </a:rPr>
              <a:t>安全</a:t>
            </a:r>
            <a:r>
              <a:rPr lang="zh-CN" altLang="en-US" sz="1900" kern="0" noProof="0" dirty="0">
                <a:solidFill>
                  <a:srgbClr val="4C61E7"/>
                </a:solidFill>
                <a:uLnTx/>
                <a:latin typeface="Calibri" panose="020F0502020204030204" charset="0"/>
                <a:ea typeface="微软雅黑" panose="020B0503020204020204" charset="-122"/>
              </a:rPr>
              <a:t>事件管理成效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20" name="textbox 50"/>
          <p:cNvSpPr/>
          <p:nvPr/>
        </p:nvSpPr>
        <p:spPr>
          <a:xfrm>
            <a:off x="3750945" y="397446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90" name="íṥlïḍê"/>
          <p:cNvSpPr txBox="1"/>
          <p:nvPr>
            <p:custDataLst>
              <p:tags r:id="rId4"/>
            </p:custDataLst>
          </p:nvPr>
        </p:nvSpPr>
        <p:spPr>
          <a:xfrm>
            <a:off x="3881755" y="405765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2" name="组合 21"/>
          <p:cNvGrpSpPr/>
          <p:nvPr/>
        </p:nvGrpSpPr>
        <p:grpSpPr>
          <a:xfrm>
            <a:off x="3998595" y="2530475"/>
            <a:ext cx="7649210" cy="1273175"/>
            <a:chOff x="12564" y="294"/>
            <a:chExt cx="24092" cy="4010"/>
          </a:xfrm>
        </p:grpSpPr>
        <p:sp>
          <p:nvSpPr>
            <p:cNvPr id="23"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13014" y="1474"/>
              <a:ext cx="7096" cy="2804"/>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l" rtl="0" eaLnBrk="0">
                <a:lnSpc>
                  <a:spcPct val="119000"/>
                </a:lnSpc>
                <a:spcBef>
                  <a:spcPts val="185"/>
                </a:spcBef>
                <a:buClrTx/>
                <a:buSzTx/>
                <a:buFontTx/>
              </a:pP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20550" y="1570"/>
              <a:ext cx="7116" cy="270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19000"/>
                </a:lnSpc>
              </a:pP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稳定可靠的系统保障，</a:t>
              </a: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28632" y="1494"/>
              <a:ext cx="7210"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7*24</a:t>
              </a:r>
              <a:r>
                <a:rPr lang="zh-CN" alt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小时的</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主动</a:t>
              </a:r>
              <a:r>
                <a:rPr lang="zh-CN"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减少应急处置成本，避免业务中</a:t>
              </a:r>
              <a:r>
                <a:rPr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断损失</a:t>
              </a:r>
              <a:r>
                <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；运营风险持续降低，有效支撑公司经营效率提升。</a:t>
              </a:r>
              <a:endPar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íṥlïḍê"/>
            <p:cNvSpPr txBox="1"/>
            <p:nvPr>
              <p:custDataLst>
                <p:tags r:id="rId5"/>
              </p:custDataLst>
            </p:nvPr>
          </p:nvSpPr>
          <p:spPr>
            <a:xfrm>
              <a:off x="12753" y="555"/>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28" name="图片 27"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graphicFrame>
        <p:nvGraphicFramePr>
          <p:cNvPr id="2" name="图表 1"/>
          <p:cNvGraphicFramePr/>
          <p:nvPr/>
        </p:nvGraphicFramePr>
        <p:xfrm>
          <a:off x="3780790" y="4460240"/>
          <a:ext cx="2948305" cy="1845945"/>
        </p:xfrm>
        <a:graphic>
          <a:graphicData uri="http://schemas.openxmlformats.org/drawingml/2006/chart">
            <c:chart xmlns:c="http://schemas.openxmlformats.org/drawingml/2006/chart" xmlns:r="http://schemas.openxmlformats.org/officeDocument/2006/relationships" r:id="rId1"/>
          </a:graphicData>
        </a:graphic>
      </p:graphicFrame>
      <p:sp>
        <p:nvSpPr>
          <p:cNvPr id="21" name="textbox 48"/>
          <p:cNvSpPr/>
          <p:nvPr/>
        </p:nvSpPr>
        <p:spPr>
          <a:xfrm>
            <a:off x="875665"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103886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多级安全响应流程</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7"/>
            </p:custDataLst>
          </p:nvPr>
        </p:nvGrpSpPr>
        <p:grpSpPr>
          <a:xfrm>
            <a:off x="1006502" y="1723785"/>
            <a:ext cx="2729838" cy="397339"/>
            <a:chOff x="3275" y="5404"/>
            <a:chExt cx="8787" cy="1279"/>
          </a:xfrm>
        </p:grpSpPr>
        <p:sp>
          <p:nvSpPr>
            <p:cNvPr id="69" name="圆角矩形 14"/>
            <p:cNvSpPr/>
            <p:nvPr>
              <p:custDataLst>
                <p:tags r:id="rId8"/>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L1</a:t>
              </a:r>
              <a:r>
                <a:rPr lang="en-US"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自动检测</a:t>
              </a:r>
              <a:endParaRPr sz="1000" b="1" dirty="0">
                <a:latin typeface="宋体" panose="02010600030101010101" pitchFamily="2" charset="-122"/>
                <a:ea typeface="宋体" panose="02010600030101010101" pitchFamily="2"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7*24小时智能检测，平均检出时间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9"/>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0"/>
            </p:custDataLst>
          </p:nvPr>
        </p:nvGrpSpPr>
        <p:grpSpPr>
          <a:xfrm>
            <a:off x="1005570" y="2238115"/>
            <a:ext cx="2729838" cy="401824"/>
            <a:chOff x="3275" y="7389"/>
            <a:chExt cx="8787" cy="1293"/>
          </a:xfrm>
        </p:grpSpPr>
        <p:sp>
          <p:nvSpPr>
            <p:cNvPr id="72" name="圆角矩形 14"/>
            <p:cNvSpPr/>
            <p:nvPr>
              <p:custDataLst>
                <p:tags r:id="rId11"/>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L2</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专家分析</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专家研判分析，平</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均响应时间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3" name="圆角矩形 72"/>
            <p:cNvSpPr/>
            <p:nvPr>
              <p:custDataLst>
                <p:tags r:id="rId12"/>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13"/>
            </p:custDataLst>
          </p:nvPr>
        </p:nvGrpSpPr>
        <p:grpSpPr>
          <a:xfrm>
            <a:off x="1006502" y="2757084"/>
            <a:ext cx="2729838" cy="396390"/>
            <a:chOff x="3275" y="9388"/>
            <a:chExt cx="8787" cy="1276"/>
          </a:xfrm>
        </p:grpSpPr>
        <p:sp>
          <p:nvSpPr>
            <p:cNvPr id="78" name="圆角矩形 14"/>
            <p:cNvSpPr/>
            <p:nvPr>
              <p:custDataLst>
                <p:tags r:id="rId14"/>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L3</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应急处置</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制定处置方案，平均处置时间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2小时</a:t>
              </a:r>
              <a:endParaRPr lang="zh-CN" alt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0" name="圆角矩形 79"/>
            <p:cNvSpPr/>
            <p:nvPr>
              <p:custDataLst>
                <p:tags r:id="rId15"/>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16"/>
            </p:custDataLst>
          </p:nvPr>
        </p:nvGrpSpPr>
        <p:grpSpPr>
          <a:xfrm>
            <a:off x="1005570" y="3270484"/>
            <a:ext cx="2729838" cy="372912"/>
            <a:chOff x="3275" y="11370"/>
            <a:chExt cx="8787" cy="1200"/>
          </a:xfrm>
        </p:grpSpPr>
        <p:sp>
          <p:nvSpPr>
            <p:cNvPr id="84" name="圆角矩形 14"/>
            <p:cNvSpPr/>
            <p:nvPr>
              <p:custDataLst>
                <p:tags r:id="rId17"/>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L4</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闭环验证</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sz="1000" b="1" dirty="0">
                <a:latin typeface="宋体" panose="02010600030101010101" pitchFamily="2" charset="-122"/>
                <a:ea typeface="宋体" panose="02010600030101010101" pitchFamily="2"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处置效果验证，平均闭环时间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24</a:t>
              </a:r>
              <a:r>
                <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小时</a:t>
              </a:r>
              <a:endPar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8" name="圆角矩形 87"/>
            <p:cNvSpPr/>
            <p:nvPr>
              <p:custDataLst>
                <p:tags r:id="rId18"/>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92" name="组合 91"/>
          <p:cNvGrpSpPr/>
          <p:nvPr/>
        </p:nvGrpSpPr>
        <p:grpSpPr>
          <a:xfrm>
            <a:off x="3865880" y="1275715"/>
            <a:ext cx="2346325" cy="1145223"/>
            <a:chOff x="12176" y="5135"/>
            <a:chExt cx="7390" cy="3607"/>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176" y="7483"/>
              <a:ext cx="73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7" name="图片 96" descr="警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87" y="5135"/>
              <a:ext cx="1134" cy="1134"/>
            </a:xfrm>
            <a:prstGeom prst="rect">
              <a:avLst/>
            </a:prstGeom>
          </p:spPr>
        </p:pic>
      </p:grpSp>
      <p:grpSp>
        <p:nvGrpSpPr>
          <p:cNvPr id="98" name="组合 97"/>
          <p:cNvGrpSpPr/>
          <p:nvPr/>
        </p:nvGrpSpPr>
        <p:grpSpPr>
          <a:xfrm>
            <a:off x="5847715" y="1275715"/>
            <a:ext cx="2378075" cy="1145223"/>
            <a:chOff x="17104" y="5135"/>
            <a:chExt cx="7490" cy="3607"/>
          </a:xfrm>
        </p:grpSpPr>
        <p:pic>
          <p:nvPicPr>
            <p:cNvPr id="99" name="图片 98" descr="极速响应"/>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219" y="5135"/>
              <a:ext cx="1134" cy="1134"/>
            </a:xfrm>
            <a:prstGeom prst="rect">
              <a:avLst/>
            </a:prstGeom>
          </p:spPr>
        </p:pic>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104" y="7483"/>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7205" y="1275715"/>
            <a:ext cx="1869440" cy="1139826"/>
            <a:chOff x="22605" y="5162"/>
            <a:chExt cx="5888" cy="3590"/>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605" y="7494"/>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09" name="图片 108" descr="打印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918" y="5162"/>
              <a:ext cx="1134" cy="1134"/>
            </a:xfrm>
            <a:prstGeom prst="rect">
              <a:avLst/>
            </a:prstGeom>
          </p:spPr>
        </p:pic>
      </p:grpSp>
      <p:grpSp>
        <p:nvGrpSpPr>
          <p:cNvPr id="110" name="组合 109"/>
          <p:cNvGrpSpPr/>
          <p:nvPr/>
        </p:nvGrpSpPr>
        <p:grpSpPr>
          <a:xfrm>
            <a:off x="9887825" y="1275715"/>
            <a:ext cx="2310913" cy="1145223"/>
            <a:chOff x="29119" y="5135"/>
            <a:chExt cx="7272" cy="3607"/>
          </a:xfrm>
        </p:grpSpPr>
        <p:pic>
          <p:nvPicPr>
            <p:cNvPr id="111" name="图片 110" descr="招标结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2200" y="5135"/>
              <a:ext cx="1134" cy="1134"/>
            </a:xfrm>
            <a:prstGeom prst="rect">
              <a:avLst/>
            </a:prstGeom>
          </p:spPr>
        </p:pic>
        <p:sp>
          <p:nvSpPr>
            <p:cNvPr id="112" name="文本框 111"/>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119" y="7483"/>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29" name="图表 28" descr="7b0a202020202263686172745265734964223a20223230343736383734220a7d0a"/>
          <p:cNvGraphicFramePr/>
          <p:nvPr/>
        </p:nvGraphicFramePr>
        <p:xfrm>
          <a:off x="941070" y="4445635"/>
          <a:ext cx="2476500" cy="1846580"/>
        </p:xfrm>
        <a:graphic>
          <a:graphicData uri="http://schemas.openxmlformats.org/drawingml/2006/chart">
            <c:chart xmlns:c="http://schemas.openxmlformats.org/drawingml/2006/chart" xmlns:r="http://schemas.openxmlformats.org/officeDocument/2006/relationships" r:id="rId2"/>
          </a:graphicData>
        </a:graphic>
      </p:graphicFrame>
      <p:sp>
        <p:nvSpPr>
          <p:cNvPr id="124" name="文本框 123"/>
          <p:cNvSpPr txBox="1"/>
          <p:nvPr/>
        </p:nvSpPr>
        <p:spPr>
          <a:xfrm>
            <a:off x="1062990" y="400875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27"/>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平均响应趋势（</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10017125" y="4091940"/>
            <a:ext cx="1636395" cy="213995"/>
          </a:xfrm>
          <a:prstGeom prst="rect">
            <a:avLst/>
          </a:prstGeom>
          <a:noFill/>
        </p:spPr>
        <p:txBody>
          <a:bodyPr wrap="square" rtlCol="0" anchor="t">
            <a:spAutoFit/>
          </a:bodyPr>
          <a:p>
            <a:r>
              <a:rPr lang="zh-CN" altLang="en-US" sz="800">
                <a:sym typeface="+mn-ea"/>
              </a:rPr>
              <a:t>{{P1</a:t>
            </a:r>
            <a:r>
              <a:rPr lang="en-US" altLang="zh-CN" sz="800">
                <a:sym typeface="+mn-ea"/>
              </a:rPr>
              <a:t>1</a:t>
            </a:r>
            <a:r>
              <a:rPr lang="zh-CN" altLang="en-US" sz="800">
                <a:sym typeface="+mn-ea"/>
              </a:rPr>
              <a:t>_</a:t>
            </a:r>
            <a:r>
              <a:rPr lang="en-US" altLang="zh-CN" sz="800">
                <a:sym typeface="+mn-ea"/>
              </a:rPr>
              <a:t>line</a:t>
            </a:r>
            <a:r>
              <a:rPr lang="zh-CN" altLang="en-US" sz="800">
                <a:sym typeface="+mn-ea"/>
              </a:rPr>
              <a:t>}}</a:t>
            </a:r>
            <a:endParaRPr lang="zh-CN" altLang="en-US" sz="800">
              <a:sym typeface="+mn-ea"/>
            </a:endParaRPr>
          </a:p>
        </p:txBody>
      </p:sp>
      <p:sp>
        <p:nvSpPr>
          <p:cNvPr id="3" name="文本框 2"/>
          <p:cNvSpPr txBox="1"/>
          <p:nvPr/>
        </p:nvSpPr>
        <p:spPr>
          <a:xfrm>
            <a:off x="4141470" y="4445635"/>
            <a:ext cx="1506855" cy="213995"/>
          </a:xfrm>
          <a:prstGeom prst="rect">
            <a:avLst/>
          </a:prstGeom>
          <a:noFill/>
        </p:spPr>
        <p:txBody>
          <a:bodyPr wrap="square" rtlCol="0" anchor="t">
            <a:spAutoFit/>
          </a:bodyPr>
          <a:p>
            <a:r>
              <a:rPr lang="zh-CN" altLang="en-US" sz="800">
                <a:sym typeface="+mn-ea"/>
              </a:rPr>
              <a:t>{{</a:t>
            </a:r>
            <a:r>
              <a:rPr lang="en-US" altLang="zh-CN" sz="800">
                <a:sym typeface="+mn-ea"/>
              </a:rPr>
              <a:t>P11_bar}</a:t>
            </a:r>
            <a:r>
              <a:rPr lang="zh-CN" altLang="en-US" sz="800">
                <a:sym typeface="+mn-ea"/>
              </a:rPr>
              <a:t>}</a:t>
            </a:r>
            <a:endParaRPr lang="zh-CN" altLang="en-US" sz="800">
              <a:sym typeface="+mn-ea"/>
            </a:endParaRPr>
          </a:p>
        </p:txBody>
      </p:sp>
      <p:sp>
        <p:nvSpPr>
          <p:cNvPr id="13" name="文本框 12"/>
          <p:cNvSpPr txBox="1"/>
          <p:nvPr/>
        </p:nvSpPr>
        <p:spPr>
          <a:xfrm>
            <a:off x="798830" y="4300220"/>
            <a:ext cx="1256665" cy="213995"/>
          </a:xfrm>
          <a:prstGeom prst="rect">
            <a:avLst/>
          </a:prstGeom>
          <a:noFill/>
        </p:spPr>
        <p:txBody>
          <a:bodyPr wrap="square" rtlCol="0" anchor="t">
            <a:spAutoFit/>
          </a:bodyPr>
          <a:p>
            <a:r>
              <a:rPr lang="zh-CN" altLang="en-US" sz="800">
                <a:sym typeface="+mn-ea"/>
              </a:rPr>
              <a:t>{{</a:t>
            </a:r>
            <a:r>
              <a:rPr lang="en-US" altLang="zh-CN" sz="800">
                <a:sym typeface="+mn-ea"/>
              </a:rPr>
              <a:t>P11_pie}</a:t>
            </a:r>
            <a:r>
              <a:rPr lang="zh-CN" altLang="en-US" sz="800">
                <a:sym typeface="+mn-ea"/>
              </a:rPr>
              <a:t>}</a:t>
            </a:r>
            <a:endParaRPr lang="zh-CN" altLang="en-US" sz="80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安全事件管理成效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典型事件案例</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分析</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647700" y="5847080"/>
            <a:ext cx="10999470" cy="82613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871220" y="592201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200" b="1" spc="90" dirty="0">
                <a:solidFill>
                  <a:srgbClr val="000000">
                    <a:alpha val="100000"/>
                  </a:srgbClr>
                </a:solidFill>
                <a:latin typeface="黑体" panose="02010609060101010101" charset="-122"/>
                <a:ea typeface="黑体" panose="02010609060101010101" charset="-122"/>
                <a:cs typeface="黑体" panose="02010609060101010101" charset="-122"/>
              </a:rPr>
              <a:t>安全事件管理</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7" name="文本框 116"/>
          <p:cNvSpPr txBox="1"/>
          <p:nvPr/>
        </p:nvSpPr>
        <p:spPr>
          <a:xfrm>
            <a:off x="1167765" y="6194425"/>
            <a:ext cx="1799590" cy="288290"/>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扩大</a:t>
            </a: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范围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8" name="文本框 117"/>
          <p:cNvSpPr txBox="1"/>
          <p:nvPr/>
        </p:nvSpPr>
        <p:spPr>
          <a:xfrm>
            <a:off x="407289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提高安全事件响应</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9" name="文本框 118"/>
          <p:cNvSpPr txBox="1"/>
          <p:nvPr/>
        </p:nvSpPr>
        <p:spPr>
          <a:xfrm>
            <a:off x="697738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提高自动化处置</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0" name="文本框 119"/>
          <p:cNvSpPr txBox="1"/>
          <p:nvPr/>
        </p:nvSpPr>
        <p:spPr>
          <a:xfrm>
            <a:off x="9679305" y="6194425"/>
            <a:ext cx="1630045" cy="288290"/>
          </a:xfrm>
          <a:prstGeom prst="rect">
            <a:avLst/>
          </a:prstGeom>
          <a:noFill/>
        </p:spPr>
        <p:txBody>
          <a:bodyPr wrap="square"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优化业务协同联动</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 name="textbox 308"/>
          <p:cNvSpPr/>
          <p:nvPr/>
        </p:nvSpPr>
        <p:spPr>
          <a:xfrm>
            <a:off x="651510" y="1272540"/>
            <a:ext cx="5400000" cy="2156460"/>
          </a:xfrm>
          <a:prstGeom prst="rect">
            <a:avLst/>
          </a:prstGeom>
          <a:solidFill>
            <a:schemeClr val="accent6">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40"/>
          <p:cNvSpPr/>
          <p:nvPr/>
        </p:nvSpPr>
        <p:spPr>
          <a:xfrm>
            <a:off x="647700" y="3527425"/>
            <a:ext cx="5400000" cy="2156460"/>
          </a:xfrm>
          <a:prstGeom prst="rect">
            <a:avLst/>
          </a:prstGeom>
          <a:solidFill>
            <a:schemeClr val="accent6">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913765"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íṥlïḍê"/>
          <p:cNvSpPr txBox="1"/>
          <p:nvPr>
            <p:custDataLst>
              <p:tags r:id="rId1"/>
            </p:custDataLst>
          </p:nvPr>
        </p:nvSpPr>
        <p:spPr>
          <a:xfrm>
            <a:off x="723265"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 name="图片 6" descr="深信服 + 智安全"/>
          <p:cNvPicPr>
            <a:picLocks noChangeAspect="1"/>
          </p:cNvPicPr>
          <p:nvPr/>
        </p:nvPicPr>
        <p:blipFill>
          <a:blip r:embed="rId2"/>
          <a:srcRect l="5232" t="26576" r="4938" b="29565"/>
          <a:stretch>
            <a:fillRect/>
          </a:stretch>
        </p:blipFill>
        <p:spPr>
          <a:xfrm>
            <a:off x="10017125" y="238760"/>
            <a:ext cx="1629867" cy="360000"/>
          </a:xfrm>
          <a:prstGeom prst="rect">
            <a:avLst/>
          </a:prstGeom>
        </p:spPr>
      </p:pic>
      <p:sp>
        <p:nvSpPr>
          <p:cNvPr id="2" name="textbox 40"/>
          <p:cNvSpPr/>
          <p:nvPr/>
        </p:nvSpPr>
        <p:spPr>
          <a:xfrm>
            <a:off x="6244590" y="3527425"/>
            <a:ext cx="5400000" cy="2156460"/>
          </a:xfrm>
          <a:prstGeom prst="rect">
            <a:avLst/>
          </a:prstGeom>
          <a:solidFill>
            <a:schemeClr val="accent5">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516370"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 name="íṥlïḍê"/>
          <p:cNvSpPr txBox="1"/>
          <p:nvPr>
            <p:custDataLst>
              <p:tags r:id="rId3"/>
            </p:custDataLst>
          </p:nvPr>
        </p:nvSpPr>
        <p:spPr>
          <a:xfrm>
            <a:off x="6325870"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textbox 308"/>
          <p:cNvSpPr/>
          <p:nvPr/>
        </p:nvSpPr>
        <p:spPr>
          <a:xfrm>
            <a:off x="6244590" y="1272540"/>
            <a:ext cx="5400000" cy="2156460"/>
          </a:xfrm>
          <a:prstGeom prst="rect">
            <a:avLst/>
          </a:prstGeom>
          <a:solidFill>
            <a:schemeClr val="accent5">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48"/>
          <p:cNvSpPr/>
          <p:nvPr/>
        </p:nvSpPr>
        <p:spPr>
          <a:xfrm>
            <a:off x="647700" y="1196658"/>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2" name="textbox 158"/>
          <p:cNvSpPr/>
          <p:nvPr/>
        </p:nvSpPr>
        <p:spPr>
          <a:xfrm>
            <a:off x="647700" y="360045"/>
            <a:ext cx="4261485" cy="600075"/>
          </a:xfrm>
          <a:prstGeom prst="rect">
            <a:avLst/>
          </a:prstGeom>
          <a:noFill/>
          <a:ln w="0" cap="flat">
            <a:noFill/>
            <a:prstDash val="solid"/>
            <a:miter lim="0"/>
          </a:ln>
        </p:spPr>
        <p:txBody>
          <a:bodyPr vert="horz" wrap="square" lIns="0" tIns="0" rIns="0" bIns="0"/>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资产安全管理成效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全面理清保护对象，提高运营</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效率</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3926205" y="1196658"/>
            <a:ext cx="7623493" cy="238887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nvSpPr>
        <p:spPr>
          <a:xfrm>
            <a:off x="647383" y="5886450"/>
            <a:ext cx="10907713" cy="717550"/>
          </a:xfrm>
          <a:prstGeom prst="rect">
            <a:avLst/>
          </a:prstGeom>
          <a:solidFill>
            <a:schemeClr val="bg1">
              <a:lumMod val="95000"/>
            </a:schemeClr>
          </a:solidFill>
        </p:spPr>
        <p:txBody>
          <a:bodyPr wrap="square" rtlCol="0">
            <a:noAutofit/>
          </a:bodyPr>
          <a:p>
            <a:endParaRPr lang="zh-CN" altLang="en-US"/>
          </a:p>
        </p:txBody>
      </p:sp>
      <p:sp>
        <p:nvSpPr>
          <p:cNvPr id="94" name="textbox 94"/>
          <p:cNvSpPr/>
          <p:nvPr/>
        </p:nvSpPr>
        <p:spPr>
          <a:xfrm>
            <a:off x="3926523" y="4878070"/>
            <a:ext cx="7622858" cy="812800"/>
          </a:xfrm>
          <a:prstGeom prst="rect">
            <a:avLst/>
          </a:prstGeom>
          <a:solidFill>
            <a:srgbClr val="EFF5FD">
              <a:alpha val="100000"/>
            </a:srgbClr>
          </a:solidFill>
          <a:ln w="0" cap="flat">
            <a:noFill/>
            <a:prstDash val="solid"/>
            <a:miter lim="0"/>
          </a:ln>
        </p:spPr>
        <p:txBody>
          <a:bodyPr vert="horz" wrap="square" lIns="0" tIns="0" rIns="0" bIns="0"/>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sp>
        <p:nvSpPr>
          <p:cNvPr id="104" name="textbox 104"/>
          <p:cNvSpPr/>
          <p:nvPr/>
        </p:nvSpPr>
        <p:spPr>
          <a:xfrm>
            <a:off x="3926523" y="3720465"/>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090093" y="4111308"/>
            <a:ext cx="1439545" cy="692150"/>
            <a:chOff x="23598" y="12409"/>
            <a:chExt cx="4534" cy="2180"/>
          </a:xfrm>
        </p:grpSpPr>
        <p:sp>
          <p:nvSpPr>
            <p:cNvPr id="8" name="文本框 7"/>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 name="组合 2"/>
            <p:cNvGrpSpPr/>
            <p:nvPr/>
          </p:nvGrpSpPr>
          <p:grpSpPr>
            <a:xfrm rot="0">
              <a:off x="25412" y="12409"/>
              <a:ext cx="907" cy="907"/>
              <a:chOff x="25500" y="11572"/>
              <a:chExt cx="907" cy="907"/>
            </a:xfrm>
          </p:grpSpPr>
          <p:sp>
            <p:nvSpPr>
              <p:cNvPr id="12" name="椭圆 11"/>
              <p:cNvSpPr/>
              <p:nvPr>
                <p:custDataLst>
                  <p:tags r:id="rId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4" name="图片 3" descr="闪电"/>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0" y="11742"/>
                <a:ext cx="567" cy="567"/>
              </a:xfrm>
              <a:prstGeom prst="rect">
                <a:avLst/>
              </a:prstGeom>
            </p:spPr>
          </p:pic>
        </p:grpSp>
      </p:grpSp>
      <p:grpSp>
        <p:nvGrpSpPr>
          <p:cNvPr id="56" name="组合 55"/>
          <p:cNvGrpSpPr/>
          <p:nvPr/>
        </p:nvGrpSpPr>
        <p:grpSpPr>
          <a:xfrm rot="0">
            <a:off x="9679623" y="4111308"/>
            <a:ext cx="1439545" cy="692150"/>
            <a:chOff x="31276" y="12409"/>
            <a:chExt cx="4534" cy="2180"/>
          </a:xfrm>
        </p:grpSpPr>
        <p:sp>
          <p:nvSpPr>
            <p:cNvPr id="7" name="文本框 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4" name="组合 13"/>
            <p:cNvGrpSpPr/>
            <p:nvPr/>
          </p:nvGrpSpPr>
          <p:grpSpPr>
            <a:xfrm rot="0">
              <a:off x="33090" y="12409"/>
              <a:ext cx="907" cy="907"/>
              <a:chOff x="33129" y="11647"/>
              <a:chExt cx="907" cy="907"/>
            </a:xfrm>
          </p:grpSpPr>
          <p:sp>
            <p:nvSpPr>
              <p:cNvPr id="13" name="椭圆 12"/>
              <p:cNvSpPr/>
              <p:nvPr>
                <p:custDataLst>
                  <p:tags r:id="rId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5" name="图片 4" descr="人力费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17975" y="3811905"/>
            <a:ext cx="215900" cy="215900"/>
          </a:xfrm>
          <a:prstGeom prst="rect">
            <a:avLst/>
          </a:prstGeom>
        </p:spPr>
      </p:pic>
      <p:sp>
        <p:nvSpPr>
          <p:cNvPr id="18" name="文本框 17"/>
          <p:cNvSpPr txBox="1"/>
          <p:nvPr/>
        </p:nvSpPr>
        <p:spPr>
          <a:xfrm>
            <a:off x="4497705" y="3775710"/>
            <a:ext cx="1900555" cy="288290"/>
          </a:xfrm>
          <a:prstGeom prst="rect">
            <a:avLst/>
          </a:prstGeom>
          <a:noFill/>
        </p:spPr>
        <p:txBody>
          <a:bodyPr wrap="square" rtlCol="0" anchor="ctr" anchorCtr="0">
            <a:noAutofit/>
          </a:bodyPr>
          <a:p>
            <a:pPr marL="12700" algn="l" rtl="0" eaLnBrk="0">
              <a:lnSpc>
                <a:spcPct val="95000"/>
              </a:lnSpc>
            </a:pPr>
            <a:r>
              <a:rPr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资产安全管理价值</a:t>
            </a:r>
            <a:endParaRPr lang="zh-CN" altLang="en-US"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499928" y="4124960"/>
            <a:ext cx="1440180" cy="692150"/>
            <a:chOff x="15001" y="12047"/>
            <a:chExt cx="4536" cy="2180"/>
          </a:xfrm>
        </p:grpSpPr>
        <p:sp>
          <p:nvSpPr>
            <p:cNvPr id="9" name="文本框 8"/>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1" name="组合 10"/>
            <p:cNvGrpSpPr/>
            <p:nvPr/>
          </p:nvGrpSpPr>
          <p:grpSpPr>
            <a:xfrm>
              <a:off x="16816" y="12047"/>
              <a:ext cx="907" cy="907"/>
              <a:chOff x="16280" y="11640"/>
              <a:chExt cx="907" cy="907"/>
            </a:xfrm>
          </p:grpSpPr>
          <p:sp>
            <p:nvSpPr>
              <p:cNvPr id="31" name="椭圆 30"/>
              <p:cNvSpPr/>
              <p:nvPr>
                <p:custDataLst>
                  <p:tags r:id="rId1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9" name="图片 18" descr="放大镜"/>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471" y="11817"/>
                <a:ext cx="567" cy="567"/>
              </a:xfrm>
              <a:prstGeom prst="rect">
                <a:avLst/>
              </a:prstGeom>
            </p:spPr>
          </p:pic>
        </p:grpSp>
      </p:gr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资产识别（</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017" y="6002"/>
              <a:ext cx="4696"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服务器</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76" name="textbox 54"/>
          <p:cNvSpPr/>
          <p:nvPr/>
        </p:nvSpPr>
        <p:spPr>
          <a:xfrm>
            <a:off x="1031240" y="594360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资产安全管理待提升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3" name="文本框 22"/>
          <p:cNvSpPr txBox="1"/>
          <p:nvPr/>
        </p:nvSpPr>
        <p:spPr>
          <a:xfrm>
            <a:off x="1031240" y="6200775"/>
            <a:ext cx="3184525" cy="589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519930" y="6204585"/>
            <a:ext cx="3531870" cy="586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xxx</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25" name="文本框 24"/>
          <p:cNvSpPr txBox="1"/>
          <p:nvPr/>
        </p:nvSpPr>
        <p:spPr>
          <a:xfrm>
            <a:off x="8385175" y="6219825"/>
            <a:ext cx="3039745" cy="5708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algn="l" rtl="0" eaLnBrk="0">
              <a:lnSpc>
                <a:spcPct val="83000"/>
              </a:lnSpc>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xxx</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49" name="组合 48"/>
          <p:cNvGrpSpPr/>
          <p:nvPr/>
        </p:nvGrpSpPr>
        <p:grpSpPr>
          <a:xfrm>
            <a:off x="1275398" y="2854325"/>
            <a:ext cx="2159953" cy="486728"/>
            <a:chOff x="4017" y="8989"/>
            <a:chExt cx="8006" cy="1533"/>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资产指纹扫描</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017" y="9828"/>
              <a:ext cx="3892"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aphicFrame>
        <p:nvGraphicFramePr>
          <p:cNvPr id="30" name="图表 29" descr="7b0a202020202263686172745265734964223a20223230323931393734220a7d0a"/>
          <p:cNvGraphicFramePr/>
          <p:nvPr/>
        </p:nvGraphicFramePr>
        <p:xfrm>
          <a:off x="647700" y="3992245"/>
          <a:ext cx="2987993" cy="1686243"/>
        </p:xfrm>
        <a:graphic>
          <a:graphicData uri="http://schemas.openxmlformats.org/drawingml/2006/chart">
            <c:chart xmlns:c="http://schemas.openxmlformats.org/drawingml/2006/chart" xmlns:r="http://schemas.openxmlformats.org/officeDocument/2006/relationships" r:id="rId1"/>
          </a:graphicData>
        </a:graphic>
      </p:graphicFrame>
      <p:pic>
        <p:nvPicPr>
          <p:cNvPr id="123" name="图片 122" descr="星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63365" y="5104448"/>
            <a:ext cx="359728" cy="360045"/>
          </a:xfrm>
          <a:prstGeom prst="rect">
            <a:avLst/>
          </a:prstGeom>
        </p:spPr>
      </p:pic>
      <p:sp>
        <p:nvSpPr>
          <p:cNvPr id="32" name="文本框 31"/>
          <p:cNvSpPr txBox="1"/>
          <p:nvPr/>
        </p:nvSpPr>
        <p:spPr>
          <a:xfrm>
            <a:off x="4581208" y="4912995"/>
            <a:ext cx="6811963" cy="28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133350" algn="l" rtl="0" eaLnBrk="0">
              <a:lnSpc>
                <a:spcPct val="150000"/>
              </a:lnSpc>
              <a:spcBef>
                <a:spcPts val="5"/>
              </a:spcBef>
            </a:pPr>
            <a:r>
              <a:rPr lang="zh-CN" altLang="en-US" sz="1000" spc="-10" dirty="0">
                <a:solidFill>
                  <a:srgbClr val="2040A0">
                    <a:alpha val="100000"/>
                  </a:srgbClr>
                </a:solidFill>
                <a:latin typeface="黑体" panose="02010609060101010101" charset="-122"/>
                <a:ea typeface="黑体" panose="02010609060101010101" charset="-122"/>
                <a:cs typeface="黑体" panose="02010609060101010101" charset="-122"/>
                <a:sym typeface="+mn-ea"/>
              </a:rPr>
              <a:t>资产安全管理总结</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xxxx</a:t>
            </a:r>
            <a:endParaRPr kumimoji="0" lang="zh-CN" altLang="en-US" sz="1000" b="0" i="0" u="none" strike="noStrike" cap="none" spc="-1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38" name="组合 37"/>
          <p:cNvGrpSpPr/>
          <p:nvPr/>
        </p:nvGrpSpPr>
        <p:grpSpPr>
          <a:xfrm>
            <a:off x="1275398" y="2252345"/>
            <a:ext cx="2418355" cy="524510"/>
            <a:chOff x="4017" y="7030"/>
            <a:chExt cx="7906" cy="1652"/>
          </a:xfrm>
        </p:grpSpPr>
        <p:sp>
          <p:nvSpPr>
            <p:cNvPr id="26" name="文本框 25"/>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互联网暴露面识别</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017" y="7834"/>
              <a:ext cx="3590" cy="8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可访问入口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3" name="文本框 32"/>
            <p:cNvSpPr txBox="1"/>
            <p:nvPr/>
          </p:nvSpPr>
          <p:spPr>
            <a:xfrm>
              <a:off x="8157" y="7834"/>
              <a:ext cx="3766" cy="8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暴露端口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grpSp>
        <p:nvGrpSpPr>
          <p:cNvPr id="36" name="组合 35"/>
          <p:cNvGrpSpPr/>
          <p:nvPr/>
        </p:nvGrpSpPr>
        <p:grpSpPr>
          <a:xfrm>
            <a:off x="733743" y="1696562"/>
            <a:ext cx="432118" cy="432118"/>
            <a:chOff x="2311" y="5484"/>
            <a:chExt cx="1361" cy="1361"/>
          </a:xfrm>
        </p:grpSpPr>
        <p:sp>
          <p:nvSpPr>
            <p:cNvPr id="35" name="椭圆 34"/>
            <p:cNvSpPr/>
            <p:nvPr>
              <p:custDataLst>
                <p:tags r:id="rId15"/>
              </p:custDataLst>
            </p:nvPr>
          </p:nvSpPr>
          <p:spPr bwMode="auto">
            <a:xfrm>
              <a:off x="2311" y="5484"/>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34" name="图片 33" descr="服务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23" y="5796"/>
              <a:ext cx="737" cy="737"/>
            </a:xfrm>
            <a:prstGeom prst="rect">
              <a:avLst/>
            </a:prstGeom>
          </p:spPr>
        </p:pic>
      </p:grpSp>
      <p:grpSp>
        <p:nvGrpSpPr>
          <p:cNvPr id="43" name="组合 42"/>
          <p:cNvGrpSpPr/>
          <p:nvPr/>
        </p:nvGrpSpPr>
        <p:grpSpPr>
          <a:xfrm>
            <a:off x="728028" y="2298700"/>
            <a:ext cx="431800" cy="431800"/>
            <a:chOff x="2293" y="7118"/>
            <a:chExt cx="1360" cy="1360"/>
          </a:xfrm>
        </p:grpSpPr>
        <p:sp>
          <p:nvSpPr>
            <p:cNvPr id="40" name="椭圆 39"/>
            <p:cNvSpPr/>
            <p:nvPr>
              <p:custDataLst>
                <p:tags r:id="rId18"/>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48" y="7373"/>
              <a:ext cx="850" cy="850"/>
            </a:xfrm>
            <a:prstGeom prst="rect">
              <a:avLst/>
            </a:prstGeom>
          </p:spPr>
        </p:pic>
      </p:grpSp>
      <p:grpSp>
        <p:nvGrpSpPr>
          <p:cNvPr id="48" name="组合 47"/>
          <p:cNvGrpSpPr/>
          <p:nvPr/>
        </p:nvGrpSpPr>
        <p:grpSpPr>
          <a:xfrm>
            <a:off x="734060" y="2906237"/>
            <a:ext cx="431800" cy="431800"/>
            <a:chOff x="2312" y="9063"/>
            <a:chExt cx="1360" cy="1360"/>
          </a:xfrm>
        </p:grpSpPr>
        <p:sp>
          <p:nvSpPr>
            <p:cNvPr id="45" name="椭圆 44"/>
            <p:cNvSpPr/>
            <p:nvPr>
              <p:custDataLst>
                <p:tags r:id="rId21"/>
              </p:custDataLst>
            </p:nvPr>
          </p:nvSpPr>
          <p:spPr bwMode="auto">
            <a:xfrm>
              <a:off x="2312" y="9063"/>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7" name="图片 46" descr="指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567" y="9318"/>
              <a:ext cx="850" cy="850"/>
            </a:xfrm>
            <a:prstGeom prst="rect">
              <a:avLst/>
            </a:prstGeom>
          </p:spPr>
        </p:pic>
      </p:grpSp>
      <p:sp>
        <p:nvSpPr>
          <p:cNvPr id="51" name="Text 2"/>
          <p:cNvSpPr/>
          <p:nvPr/>
        </p:nvSpPr>
        <p:spPr>
          <a:xfrm>
            <a:off x="4063365" y="1281589"/>
            <a:ext cx="7306628" cy="2219008"/>
          </a:xfrm>
          <a:prstGeom prst="rect">
            <a:avLst/>
          </a:prstGeom>
          <a:noFill/>
        </p:spPr>
        <p:txBody>
          <a:bodyPr wrap="square" lIns="0" tIns="0" rIns="0" bIns="0" rtlCol="0" anchor="t"/>
          <a:p>
            <a:pPr algn="l">
              <a:lnSpc>
                <a:spcPct val="150000"/>
              </a:lnSpc>
              <a:buSzPct val="100000"/>
            </a:pP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当前集团</a:t>
            </a:r>
            <a:r>
              <a:rPr lang="en-US" altLang="zh-CN" sz="1000" b="1" dirty="0">
                <a:solidFill>
                  <a:srgbClr val="14161A"/>
                </a:solidFill>
                <a:latin typeface="微软雅黑" panose="020B0503020204020204" charset="-122"/>
                <a:ea typeface="微软雅黑" panose="020B0503020204020204" charset="-122"/>
                <a:cs typeface="微软雅黑" panose="020B0503020204020204" pitchFamily="34" charset="-120"/>
              </a:rPr>
              <a:t>IT</a:t>
            </a: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资产管理整体情况良好，无重大安全风险。</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当前潜在的主要问题在于全国园区分散，缺乏统一的网络基础建设规划，存在各园区</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地址重叠、服务器</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终端</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地址混用、安全域划分不清晰的问题，给业务系统安全保护带来攻击路径复杂、风险定位困难、威胁应对处置慢等风险。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algn="l">
              <a:lnSpc>
                <a:spcPct val="150000"/>
              </a:lnSpc>
              <a:buSzPct val="100000"/>
            </a:pPr>
            <a:endParaRPr lang="en-US" sz="1000" b="1"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内网</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资产识别】</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针对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服务器网段进行全量存活资产检测，识别到</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器</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网络</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安全设备</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个，物联网设备</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个；将</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个核心资产纳入</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7*24h持续保障中</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endParaRPr lang="en-US" sz="800" dirty="0"/>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外网资产识别</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出口暴露面情况进行扫描，共发现根域名资产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个，子域名资产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个，非</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个，登录入口</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p:txBody>
      </p:sp>
      <p:sp>
        <p:nvSpPr>
          <p:cNvPr id="58" name="文本框 57"/>
          <p:cNvSpPr txBox="1"/>
          <p:nvPr/>
        </p:nvSpPr>
        <p:spPr>
          <a:xfrm>
            <a:off x="647700" y="378460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a:t>
            </a: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资产全量梳理成</a:t>
            </a:r>
            <a:r>
              <a:rPr sz="1400" b="1" spc="-60" dirty="0">
                <a:solidFill>
                  <a:srgbClr val="304090">
                    <a:alpha val="100000"/>
                  </a:srgbClr>
                </a:solidFill>
                <a:latin typeface="黑体" panose="02010609060101010101" charset="-122"/>
                <a:ea typeface="黑体" panose="02010609060101010101" charset="-122"/>
                <a:cs typeface="黑体" panose="02010609060101010101" charset="-122"/>
                <a:sym typeface="+mn-ea"/>
              </a:rPr>
              <a:t>果</a:t>
            </a:r>
            <a:endParaRPr kumimoji="0" lang="zh-CN" altLang="en-US" sz="1400" b="1" i="0" u="none" strike="noStrike" cap="none" spc="-60" normalizeH="0" baseline="0" dirty="0">
              <a:ln>
                <a:noFill/>
              </a:ln>
              <a:solidFill>
                <a:srgbClr val="3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16" name="图片 15" descr="深信服 + 智安全"/>
          <p:cNvPicPr>
            <a:picLocks noChangeAspect="1"/>
          </p:cNvPicPr>
          <p:nvPr/>
        </p:nvPicPr>
        <p:blipFill>
          <a:blip r:embed="rId24"/>
          <a:srcRect l="5232" t="26576" r="4938" b="29565"/>
          <a:stretch>
            <a:fillRect/>
          </a:stretch>
        </p:blipFill>
        <p:spPr>
          <a:xfrm>
            <a:off x="10017125" y="238760"/>
            <a:ext cx="1629867" cy="360000"/>
          </a:xfrm>
          <a:prstGeom prst="rect">
            <a:avLst/>
          </a:prstGeom>
        </p:spPr>
      </p:pic>
      <p:sp>
        <p:nvSpPr>
          <p:cNvPr id="6" name="文本框 5"/>
          <p:cNvSpPr txBox="1"/>
          <p:nvPr/>
        </p:nvSpPr>
        <p:spPr>
          <a:xfrm>
            <a:off x="2541905" y="1908175"/>
            <a:ext cx="100965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l" rtl="0" eaLnBrk="0">
              <a:lnSpc>
                <a:spcPct val="79000"/>
              </a:lnSpc>
              <a:spcBef>
                <a:spcPts val="310"/>
              </a:spcBef>
            </a:pP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PC</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104"/>
          <p:cNvSpPr/>
          <p:nvPr/>
        </p:nvSpPr>
        <p:spPr>
          <a:xfrm>
            <a:off x="4300220" y="2936875"/>
            <a:ext cx="7414578" cy="2179003"/>
          </a:xfrm>
          <a:prstGeom prst="rect">
            <a:avLst/>
          </a:prstGeom>
          <a:solidFill>
            <a:srgbClr val="EAEEF1"/>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lang="zh-CN" sz="14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脆弱性管理成效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持续治理业务脆弱性，防范风险于未然</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漏洞分层管理机制</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2"/>
            </p:custDataLst>
          </p:nvPr>
        </p:nvGrpSpPr>
        <p:grpSpPr>
          <a:xfrm>
            <a:off x="759127" y="1745375"/>
            <a:ext cx="2744509" cy="399474"/>
            <a:chOff x="3275" y="5404"/>
            <a:chExt cx="8787" cy="1279"/>
          </a:xfrm>
        </p:grpSpPr>
        <p:sp>
          <p:nvSpPr>
            <p:cNvPr id="69" name="圆角矩形 14"/>
            <p:cNvSpPr/>
            <p:nvPr>
              <p:custDataLst>
                <p:tags r:id="rId3"/>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4"/>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5"/>
            </p:custDataLst>
          </p:nvPr>
        </p:nvGrpSpPr>
        <p:grpSpPr>
          <a:xfrm>
            <a:off x="758190" y="2262469"/>
            <a:ext cx="2744509" cy="403984"/>
            <a:chOff x="3275" y="7389"/>
            <a:chExt cx="8787" cy="1293"/>
          </a:xfrm>
        </p:grpSpPr>
        <p:sp>
          <p:nvSpPr>
            <p:cNvPr id="72" name="圆角矩形 14"/>
            <p:cNvSpPr/>
            <p:nvPr>
              <p:custDataLst>
                <p:tags r:id="rId6"/>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3" name="圆角矩形 72"/>
            <p:cNvSpPr/>
            <p:nvPr>
              <p:custDataLst>
                <p:tags r:id="rId7"/>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8"/>
            </p:custDataLst>
          </p:nvPr>
        </p:nvGrpSpPr>
        <p:grpSpPr>
          <a:xfrm>
            <a:off x="759127" y="2784227"/>
            <a:ext cx="2744509" cy="398520"/>
            <a:chOff x="3275" y="9388"/>
            <a:chExt cx="8787" cy="1276"/>
          </a:xfrm>
        </p:grpSpPr>
        <p:sp>
          <p:nvSpPr>
            <p:cNvPr id="78" name="圆角矩形 14"/>
            <p:cNvSpPr/>
            <p:nvPr>
              <p:custDataLst>
                <p:tags r:id="rId9"/>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0" name="圆角矩形 79"/>
            <p:cNvSpPr/>
            <p:nvPr>
              <p:custDataLst>
                <p:tags r:id="rId10"/>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1"/>
            </p:custDataLst>
          </p:nvPr>
        </p:nvGrpSpPr>
        <p:grpSpPr>
          <a:xfrm>
            <a:off x="758190" y="3300387"/>
            <a:ext cx="2744509" cy="374916"/>
            <a:chOff x="3275" y="11370"/>
            <a:chExt cx="8787" cy="1200"/>
          </a:xfrm>
        </p:grpSpPr>
        <p:sp>
          <p:nvSpPr>
            <p:cNvPr id="84" name="圆角矩形 14"/>
            <p:cNvSpPr/>
            <p:nvPr>
              <p:custDataLst>
                <p:tags r:id="rId12"/>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关联威胁监测，漏洞利用风险实时可视可控</a:t>
              </a:r>
              <a:endPar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8" name="圆角矩形 87"/>
            <p:cNvSpPr/>
            <p:nvPr>
              <p:custDataLst>
                <p:tags r:id="rId13"/>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91" name="textbox 94"/>
          <p:cNvSpPr/>
          <p:nvPr/>
        </p:nvSpPr>
        <p:spPr>
          <a:xfrm>
            <a:off x="4300220" y="5212398"/>
            <a:ext cx="7461568" cy="792000"/>
          </a:xfrm>
          <a:prstGeom prst="rect">
            <a:avLst/>
          </a:prstGeom>
          <a:solidFill>
            <a:srgbClr val="EFF5FD">
              <a:alpha val="100000"/>
            </a:srgbClr>
          </a:solidFill>
          <a:ln w="0" cap="flat">
            <a:noFill/>
            <a:prstDash val="solid"/>
            <a:miter lim="0"/>
          </a:ln>
        </p:spPr>
        <p:txBody>
          <a:bodyPr vert="horz" wrap="square" lIns="0" tIns="0" rIns="0" bIns="0"/>
          <a:lstStyle/>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grpSp>
        <p:nvGrpSpPr>
          <p:cNvPr id="92" name="组合 91"/>
          <p:cNvGrpSpPr/>
          <p:nvPr/>
        </p:nvGrpSpPr>
        <p:grpSpPr>
          <a:xfrm>
            <a:off x="4060190" y="1732915"/>
            <a:ext cx="1896745" cy="688340"/>
            <a:chOff x="12788" y="6575"/>
            <a:chExt cx="5974" cy="2168"/>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98" name="组合 97"/>
          <p:cNvGrpSpPr/>
          <p:nvPr/>
        </p:nvGrpSpPr>
        <p:grpSpPr>
          <a:xfrm>
            <a:off x="5881370" y="1732915"/>
            <a:ext cx="2358390" cy="688340"/>
            <a:chOff x="17210" y="6575"/>
            <a:chExt cx="7428" cy="2168"/>
          </a:xfrm>
        </p:grpSpPr>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0220" y="1727518"/>
            <a:ext cx="1979296" cy="688023"/>
            <a:chOff x="22583" y="6585"/>
            <a:chExt cx="6234" cy="2167"/>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10" name="组合 109"/>
          <p:cNvGrpSpPr/>
          <p:nvPr/>
        </p:nvGrpSpPr>
        <p:grpSpPr>
          <a:xfrm>
            <a:off x="10088981" y="1727835"/>
            <a:ext cx="1893030" cy="693103"/>
            <a:chOff x="29752" y="6559"/>
            <a:chExt cx="5957" cy="2183"/>
          </a:xfrm>
        </p:grpSpPr>
        <p:sp>
          <p:nvSpPr>
            <p:cNvPr id="112" name="文本框 111"/>
            <p:cNvSpPr txBox="1"/>
            <p:nvPr/>
          </p:nvSpPr>
          <p:spPr>
            <a:xfrm>
              <a:off x="30517"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752" y="748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sp>
        <p:nvSpPr>
          <p:cNvPr id="115" name="文本框 114"/>
          <p:cNvSpPr txBox="1"/>
          <p:nvPr/>
        </p:nvSpPr>
        <p:spPr>
          <a:xfrm>
            <a:off x="673735" y="6067425"/>
            <a:ext cx="11088053" cy="61785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769620" y="6088063"/>
            <a:ext cx="10838498" cy="576580"/>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系统性</a:t>
            </a:r>
            <a:r>
              <a:rPr lang="zh-CN"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的</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漏洞管理不仅是技术问题，更是业务持续性保障的关键环节。</a:t>
            </a:r>
            <a:r>
              <a:rPr sz="90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结合业务节奏的漏洞</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修复策略，让技术防护与业务发展协同推进，有效降低安全风险同时不影响业务创新速度。建议将漏洞管理纳入</a:t>
            </a:r>
            <a:r>
              <a:rPr sz="9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治理</a:t>
            </a:r>
            <a:r>
              <a:rPr sz="9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体系，形成常态化机制。</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22" name="文本框 121"/>
          <p:cNvSpPr txBox="1"/>
          <p:nvPr/>
        </p:nvSpPr>
        <p:spPr>
          <a:xfrm>
            <a:off x="4822190" y="5251450"/>
            <a:ext cx="6786245" cy="69913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脆弱性管理总结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全年开展</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次漏洞扫描，</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4673" y="5396729"/>
            <a:ext cx="360000" cy="360000"/>
          </a:xfrm>
          <a:prstGeom prst="rect">
            <a:avLst/>
          </a:prstGeom>
        </p:spPr>
      </p:pic>
      <p:sp useBgFill="1">
        <p:nvSpPr>
          <p:cNvPr id="141" name="单圆角矩形 5"/>
          <p:cNvSpPr/>
          <p:nvPr>
            <p:custDataLst>
              <p:tags r:id="rId16"/>
            </p:custDataLst>
          </p:nvPr>
        </p:nvSpPr>
        <p:spPr>
          <a:xfrm>
            <a:off x="8296576" y="4199758"/>
            <a:ext cx="3240000" cy="863891"/>
          </a:xfrm>
          <a:prstGeom prst="round1Rect">
            <a:avLst>
              <a:gd name="adj" fmla="val 0"/>
            </a:avLst>
          </a:prstGeom>
          <a:noFill/>
          <a:ln w="9525" cap="flat" cmpd="sng" algn="ctr">
            <a:solidFill>
              <a:srgbClr val="61D836">
                <a:lumMod val="40000"/>
                <a:lumOff val="60000"/>
              </a:srgbClr>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2" name="单圆角矩形 5"/>
          <p:cNvSpPr/>
          <p:nvPr>
            <p:custDataLst>
              <p:tags r:id="rId17"/>
            </p:custDataLst>
          </p:nvPr>
        </p:nvSpPr>
        <p:spPr>
          <a:xfrm>
            <a:off x="8296576" y="4199758"/>
            <a:ext cx="3240000" cy="863891"/>
          </a:xfrm>
          <a:prstGeom prst="round1Rect">
            <a:avLst>
              <a:gd name="adj" fmla="val 0"/>
            </a:avLst>
          </a:prstGeom>
          <a:solidFill>
            <a:srgbClr val="FFFFFF">
              <a:lumMod val="100000"/>
              <a:alpha val="20000"/>
            </a:srgbClr>
          </a:solidFill>
          <a:ln w="9525" cap="flat" cmpd="sng" algn="ctr">
            <a:solidFill>
              <a:srgbClr val="00B05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3" name="单圆角矩形 5"/>
          <p:cNvSpPr/>
          <p:nvPr>
            <p:custDataLst>
              <p:tags r:id="rId18"/>
            </p:custDataLst>
          </p:nvPr>
        </p:nvSpPr>
        <p:spPr>
          <a:xfrm>
            <a:off x="4821261" y="4197853"/>
            <a:ext cx="3240000" cy="863891"/>
          </a:xfrm>
          <a:prstGeom prst="round1Rect">
            <a:avLst>
              <a:gd name="adj" fmla="val 0"/>
            </a:avLst>
          </a:prstGeom>
          <a:noFill/>
          <a:ln w="9525" cap="flat" cmpd="sng" algn="ctr">
            <a:solidFill>
              <a:srgbClr val="92D050"/>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4" name="单圆角矩形 143"/>
          <p:cNvSpPr/>
          <p:nvPr>
            <p:custDataLst>
              <p:tags r:id="rId19"/>
            </p:custDataLst>
          </p:nvPr>
        </p:nvSpPr>
        <p:spPr>
          <a:xfrm>
            <a:off x="4821238" y="4199890"/>
            <a:ext cx="3240000" cy="863918"/>
          </a:xfrm>
          <a:prstGeom prst="round1Rect">
            <a:avLst>
              <a:gd name="adj" fmla="val 0"/>
            </a:avLst>
          </a:prstGeom>
          <a:noFill/>
          <a:ln w="9525" cap="flat" cmpd="sng" algn="ctr">
            <a:solidFill>
              <a:srgbClr val="16E7C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5" name="单圆角矩形 5"/>
          <p:cNvSpPr/>
          <p:nvPr>
            <p:custDataLst>
              <p:tags r:id="rId20"/>
            </p:custDataLst>
          </p:nvPr>
        </p:nvSpPr>
        <p:spPr>
          <a:xfrm>
            <a:off x="8296575"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6" name="单圆角矩形 5"/>
          <p:cNvSpPr/>
          <p:nvPr>
            <p:custDataLst>
              <p:tags r:id="rId21"/>
            </p:custDataLst>
          </p:nvPr>
        </p:nvSpPr>
        <p:spPr>
          <a:xfrm>
            <a:off x="8296593" y="3265805"/>
            <a:ext cx="3240000" cy="863918"/>
          </a:xfrm>
          <a:prstGeom prst="round1Rect">
            <a:avLst>
              <a:gd name="adj" fmla="val 0"/>
            </a:avLst>
          </a:prstGeom>
          <a:solidFill>
            <a:srgbClr val="FFFFFF">
              <a:lumMod val="100000"/>
              <a:alpha val="20000"/>
            </a:srgbClr>
          </a:solidFill>
          <a:ln w="9525" cap="flat" cmpd="sng" algn="ctr">
            <a:solidFill>
              <a:srgbClr val="00A2FF">
                <a:lumMod val="60000"/>
                <a:lumOff val="4000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rPr>
              <a:t> </a:t>
            </a:r>
            <a:endPar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7" name="单圆角矩形 5"/>
          <p:cNvSpPr/>
          <p:nvPr>
            <p:custDataLst>
              <p:tags r:id="rId22"/>
            </p:custDataLst>
          </p:nvPr>
        </p:nvSpPr>
        <p:spPr>
          <a:xfrm>
            <a:off x="4821261"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8" name="单圆角矩形 5"/>
          <p:cNvSpPr/>
          <p:nvPr>
            <p:custDataLst>
              <p:tags r:id="rId23"/>
            </p:custDataLst>
          </p:nvPr>
        </p:nvSpPr>
        <p:spPr>
          <a:xfrm>
            <a:off x="4821238" y="3265805"/>
            <a:ext cx="3240000" cy="863918"/>
          </a:xfrm>
          <a:prstGeom prst="round1Rect">
            <a:avLst>
              <a:gd name="adj" fmla="val 0"/>
            </a:avLst>
          </a:prstGeom>
          <a:noFill/>
          <a:ln w="9525" cap="flat" cmpd="sng" algn="ctr">
            <a:solidFill>
              <a:srgbClr val="00A2F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149" name="矩形 148"/>
          <p:cNvSpPr/>
          <p:nvPr>
            <p:custDataLst>
              <p:tags r:id="rId24"/>
            </p:custDataLst>
          </p:nvPr>
        </p:nvSpPr>
        <p:spPr>
          <a:xfrm>
            <a:off x="5148562" y="3294203"/>
            <a:ext cx="2112696" cy="217778"/>
          </a:xfrm>
          <a:prstGeom prst="rect">
            <a:avLst/>
          </a:prstGeom>
          <a:noFill/>
        </p:spPr>
        <p:txBody>
          <a:bodyPr wrap="square" lIns="0" tIns="0" rIns="0" bIns="0" rtlCol="0" anchor="b">
            <a:noAutofit/>
          </a:bodyPr>
          <a:p>
            <a:pPr algn="l">
              <a:spcBef>
                <a:spcPct val="0"/>
              </a:spcBef>
              <a:spcAft>
                <a:spcPct val="0"/>
              </a:spcAft>
            </a:pPr>
            <a:r>
              <a:rPr lang="zh-CN" altLang="en-US" sz="1200" b="1">
                <a:solidFill>
                  <a:srgbClr val="00A2FF"/>
                </a:solidFill>
                <a:latin typeface="微软雅黑" panose="020B0503020204020204" charset="-122"/>
                <a:cs typeface="微软雅黑" panose="020B0503020204020204" charset="-122"/>
              </a:rPr>
              <a:t>优化补丁管理流程</a:t>
            </a:r>
            <a:endParaRPr lang="zh-CN" altLang="en-US" sz="1200" b="1">
              <a:solidFill>
                <a:srgbClr val="00A2FF"/>
              </a:solidFill>
              <a:latin typeface="微软雅黑" panose="020B0503020204020204" charset="-122"/>
              <a:cs typeface="微软雅黑" panose="020B0503020204020204" charset="-122"/>
            </a:endParaRPr>
          </a:p>
        </p:txBody>
      </p:sp>
      <p:sp>
        <p:nvSpPr>
          <p:cNvPr id="150" name="矩形 149"/>
          <p:cNvSpPr/>
          <p:nvPr>
            <p:custDataLst>
              <p:tags r:id="rId25"/>
            </p:custDataLst>
          </p:nvPr>
        </p:nvSpPr>
        <p:spPr>
          <a:xfrm>
            <a:off x="5148879" y="3539600"/>
            <a:ext cx="2112062" cy="553651"/>
          </a:xfrm>
          <a:prstGeom prst="rect">
            <a:avLst/>
          </a:prstGeom>
          <a:noFill/>
        </p:spPr>
        <p:txBody>
          <a:bodyPr wrap="square" lIns="0" tIns="0" rIns="0" bIns="0" rtlCol="0" anchor="t" anchorCtr="0">
            <a:noAutofit/>
          </a:bodyPr>
          <a:p>
            <a:pPr lvl="0" indent="0" algn="l" fontAlgn="auto">
              <a:lnSpc>
                <a:spcPct val="140000"/>
              </a:lnSpc>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·建立专门的测试环境验证·分批次滚动更新策略·减少业务中断风险</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1" name="圆角矩形 19"/>
          <p:cNvSpPr/>
          <p:nvPr>
            <p:custDataLst>
              <p:tags r:id="rId26"/>
            </p:custDataLst>
          </p:nvPr>
        </p:nvSpPr>
        <p:spPr>
          <a:xfrm rot="5400000">
            <a:off x="4822531" y="3314045"/>
            <a:ext cx="217066" cy="219365"/>
          </a:xfrm>
          <a:prstGeom prst="roundRect">
            <a:avLst>
              <a:gd name="adj" fmla="val 0"/>
            </a:avLst>
          </a:prstGeom>
          <a:gradFill flip="none" rotWithShape="1">
            <a:gsLst>
              <a:gs pos="100000">
                <a:srgbClr val="00A2FF">
                  <a:alpha val="100000"/>
                </a:srgbClr>
              </a:gs>
              <a:gs pos="0">
                <a:srgbClr val="00A2FF">
                  <a:lumMod val="70000"/>
                  <a:lumOff val="30000"/>
                  <a:alpha val="100000"/>
                </a:srgbClr>
              </a:gs>
            </a:gsLst>
            <a:lin ang="13200000" scaled="0"/>
            <a:tileRect/>
          </a:gra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2" name="燕尾形 20"/>
          <p:cNvSpPr/>
          <p:nvPr>
            <p:custDataLst>
              <p:tags r:id="rId27"/>
            </p:custDataLst>
          </p:nvPr>
        </p:nvSpPr>
        <p:spPr>
          <a:xfrm>
            <a:off x="4902531" y="3381663"/>
            <a:ext cx="56867" cy="84598"/>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3" name="矩形 152"/>
          <p:cNvSpPr/>
          <p:nvPr>
            <p:custDataLst>
              <p:tags r:id="rId28"/>
            </p:custDataLst>
          </p:nvPr>
        </p:nvSpPr>
        <p:spPr>
          <a:xfrm>
            <a:off x="8623877" y="3294045"/>
            <a:ext cx="2112696" cy="217778"/>
          </a:xfrm>
          <a:prstGeom prst="rect">
            <a:avLst/>
          </a:prstGeom>
          <a:noFill/>
        </p:spPr>
        <p:txBody>
          <a:bodyPr wrap="square" lIns="0" tIns="0" rIns="0" bIns="0" rtlCol="0" anchor="b">
            <a:noAutofit/>
          </a:bodyPr>
          <a:p>
            <a:pPr algn="l">
              <a:spcBef>
                <a:spcPct val="0"/>
              </a:spcBef>
              <a:spcAft>
                <a:spcPct val="0"/>
              </a:spcAft>
            </a:pPr>
            <a:r>
              <a:rPr lang="zh-CN" altLang="en-US" sz="900" dirty="0">
                <a:solidFill>
                  <a:srgbClr val="00C2C7"/>
                </a:solidFill>
                <a:latin typeface="黑体" panose="02010609060101010101" charset="-122"/>
                <a:ea typeface="黑体" panose="02010609060101010101" charset="-122"/>
                <a:cs typeface="黑体" panose="02010609060101010101" charset="-122"/>
                <a:sym typeface="微软雅黑" panose="020B0503020204020204" charset="-122"/>
              </a:rPr>
              <a:t>分类闭环处理机制</a:t>
            </a:r>
            <a:endParaRPr lang="zh-CN" altLang="en-US" sz="1200" b="1">
              <a:solidFill>
                <a:srgbClr val="00A2FF"/>
              </a:solidFill>
              <a:latin typeface="微软雅黑" panose="020B0503020204020204" charset="-122"/>
              <a:cs typeface="微软雅黑" panose="020B0503020204020204" charset="-122"/>
            </a:endParaRPr>
          </a:p>
        </p:txBody>
      </p:sp>
      <p:sp>
        <p:nvSpPr>
          <p:cNvPr id="154" name="矩形 153"/>
          <p:cNvSpPr/>
          <p:nvPr>
            <p:custDataLst>
              <p:tags r:id="rId29"/>
            </p:custDataLst>
          </p:nvPr>
        </p:nvSpPr>
        <p:spPr>
          <a:xfrm>
            <a:off x="8624194" y="3539441"/>
            <a:ext cx="2112062" cy="578412"/>
          </a:xfrm>
          <a:prstGeom prst="rect">
            <a:avLst/>
          </a:prstGeom>
          <a:noFill/>
        </p:spPr>
        <p:txBody>
          <a:bodyPr wrap="square" lIns="0" tIns="0" rIns="0" bIns="0" rtlCol="0" anchor="t" anchorCtr="0">
            <a:noAutofit/>
          </a:bodyPr>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·风险等级动态评估</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·业务影响分析配合修复</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·修复时间与业务节奏同步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endParaRPr>
          </a:p>
        </p:txBody>
      </p:sp>
      <p:sp>
        <p:nvSpPr>
          <p:cNvPr id="155" name="圆角矩形 19"/>
          <p:cNvSpPr/>
          <p:nvPr>
            <p:custDataLst>
              <p:tags r:id="rId30"/>
            </p:custDataLst>
          </p:nvPr>
        </p:nvSpPr>
        <p:spPr>
          <a:xfrm rot="5400000">
            <a:off x="8297528" y="3314045"/>
            <a:ext cx="217143" cy="219365"/>
          </a:xfrm>
          <a:prstGeom prst="roundRect">
            <a:avLst>
              <a:gd name="adj" fmla="val 0"/>
            </a:avLst>
          </a:prstGeom>
          <a:solidFill>
            <a:srgbClr val="00C2C7"/>
          </a:soli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6" name="燕尾形 20"/>
          <p:cNvSpPr/>
          <p:nvPr>
            <p:custDataLst>
              <p:tags r:id="rId31"/>
            </p:custDataLst>
          </p:nvPr>
        </p:nvSpPr>
        <p:spPr>
          <a:xfrm>
            <a:off x="8377845" y="338166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7" name="矩形 156"/>
          <p:cNvSpPr/>
          <p:nvPr>
            <p:custDataLst>
              <p:tags r:id="rId32"/>
            </p:custDataLst>
          </p:nvPr>
        </p:nvSpPr>
        <p:spPr>
          <a:xfrm>
            <a:off x="5148580" y="4224020"/>
            <a:ext cx="2112645" cy="217805"/>
          </a:xfrm>
          <a:prstGeom prst="rect">
            <a:avLst/>
          </a:prstGeom>
          <a:noFill/>
        </p:spPr>
        <p:txBody>
          <a:bodyPr wrap="square" lIns="0" tIns="0" rIns="0" bIns="0" rtlCol="0" anchor="b">
            <a:noAutofit/>
          </a:bodyPr>
          <a:p>
            <a:pPr algn="l">
              <a:spcBef>
                <a:spcPct val="0"/>
              </a:spcBef>
              <a:spcAft>
                <a:spcPct val="0"/>
              </a:spcAft>
            </a:pPr>
            <a:r>
              <a:rPr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自动化检测与预警</a:t>
            </a:r>
            <a:endParaRPr lang="zh-CN" altLang="en-US"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9" name="矩形 158"/>
          <p:cNvSpPr/>
          <p:nvPr>
            <p:custDataLst>
              <p:tags r:id="rId33"/>
            </p:custDataLst>
          </p:nvPr>
        </p:nvSpPr>
        <p:spPr>
          <a:xfrm>
            <a:off x="5148880" y="4469599"/>
            <a:ext cx="2112062" cy="578412"/>
          </a:xfrm>
          <a:prstGeom prst="rect">
            <a:avLst/>
          </a:prstGeom>
          <a:noFill/>
        </p:spPr>
        <p:txBody>
          <a:bodyPr wrap="square" lIns="0" tIns="0" rIns="0" bIns="0" rtlCol="0" anchor="t" anchorCtr="0">
            <a:noAutofit/>
          </a:bodyPr>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·漏洞扫描自动化周期执行</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·威胁情报实时推送预警</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·最新漏洞影响风险及时排查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0" name="圆角矩形 19"/>
          <p:cNvSpPr/>
          <p:nvPr>
            <p:custDataLst>
              <p:tags r:id="rId34"/>
            </p:custDataLst>
          </p:nvPr>
        </p:nvSpPr>
        <p:spPr>
          <a:xfrm rot="5400000">
            <a:off x="4822531" y="4244202"/>
            <a:ext cx="217143" cy="219365"/>
          </a:xfrm>
          <a:prstGeom prst="roundRect">
            <a:avLst>
              <a:gd name="adj" fmla="val 0"/>
            </a:avLst>
          </a:prstGeom>
          <a:solidFill>
            <a:srgbClr val="92D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61" name="燕尾形 20"/>
          <p:cNvSpPr/>
          <p:nvPr>
            <p:custDataLst>
              <p:tags r:id="rId35"/>
            </p:custDataLst>
          </p:nvPr>
        </p:nvSpPr>
        <p:spPr>
          <a:xfrm>
            <a:off x="4902531" y="4311821"/>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62" name="矩形 161"/>
          <p:cNvSpPr/>
          <p:nvPr>
            <p:custDataLst>
              <p:tags r:id="rId36"/>
            </p:custDataLst>
          </p:nvPr>
        </p:nvSpPr>
        <p:spPr>
          <a:xfrm>
            <a:off x="8623935" y="4224338"/>
            <a:ext cx="2112645" cy="217805"/>
          </a:xfrm>
          <a:prstGeom prst="rect">
            <a:avLst/>
          </a:prstGeom>
          <a:noFill/>
        </p:spPr>
        <p:txBody>
          <a:bodyPr wrap="square" lIns="0" tIns="0" rIns="0" bIns="0" rtlCol="0" anchor="b">
            <a:noAutofit/>
          </a:bodyPr>
          <a:p>
            <a:pPr lvl="0" algn="l"/>
            <a:r>
              <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虚拟补丁快速防护</a:t>
            </a:r>
            <a:endPar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3" name="矩形 162"/>
          <p:cNvSpPr/>
          <p:nvPr>
            <p:custDataLst>
              <p:tags r:id="rId37"/>
            </p:custDataLst>
          </p:nvPr>
        </p:nvSpPr>
        <p:spPr>
          <a:xfrm>
            <a:off x="8624194" y="4421504"/>
            <a:ext cx="2112062" cy="578412"/>
          </a:xfrm>
          <a:prstGeom prst="rect">
            <a:avLst/>
          </a:prstGeom>
          <a:noFill/>
        </p:spPr>
        <p:txBody>
          <a:bodyPr wrap="square" lIns="0" tIns="0" rIns="0" bIns="0" rtlCol="0" anchor="t" anchorCtr="0">
            <a:noAutofit/>
          </a:bodyPr>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·边界设备策略优先防护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·WAF  规则动态更新</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·EDR  轻量级主机防护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4" name="圆角矩形 19"/>
          <p:cNvSpPr/>
          <p:nvPr>
            <p:custDataLst>
              <p:tags r:id="rId38"/>
            </p:custDataLst>
          </p:nvPr>
        </p:nvSpPr>
        <p:spPr>
          <a:xfrm rot="5400000">
            <a:off x="8297846" y="4230234"/>
            <a:ext cx="217143" cy="219365"/>
          </a:xfrm>
          <a:prstGeom prst="roundRect">
            <a:avLst>
              <a:gd name="adj" fmla="val 0"/>
            </a:avLst>
          </a:prstGeom>
          <a:solidFill>
            <a:srgbClr val="00B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r>
              <a:rPr lang="en-US" altLang="zh-CN" sz="1200" b="1" spc="300">
                <a:solidFill>
                  <a:srgbClr val="00B050"/>
                </a:solidFill>
                <a:latin typeface="微软雅黑" panose="020B0503020204020204" charset="-122"/>
                <a:ea typeface="微软雅黑" panose="020B0503020204020204" charset="-122"/>
              </a:rPr>
              <a:t> </a:t>
            </a:r>
            <a:endParaRPr lang="en-US" altLang="zh-CN" sz="1200" b="1" spc="300">
              <a:solidFill>
                <a:srgbClr val="00B050"/>
              </a:solidFill>
              <a:latin typeface="微软雅黑" panose="020B0503020204020204" charset="-122"/>
              <a:ea typeface="微软雅黑" panose="020B0503020204020204" charset="-122"/>
            </a:endParaRPr>
          </a:p>
        </p:txBody>
      </p:sp>
      <p:sp>
        <p:nvSpPr>
          <p:cNvPr id="165" name="燕尾形 20"/>
          <p:cNvSpPr/>
          <p:nvPr>
            <p:custDataLst>
              <p:tags r:id="rId39"/>
            </p:custDataLst>
          </p:nvPr>
        </p:nvSpPr>
        <p:spPr>
          <a:xfrm>
            <a:off x="8377845" y="429785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pic>
        <p:nvPicPr>
          <p:cNvPr id="166" name="图片 165" descr="螺丝刀"/>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508818" y="3013660"/>
            <a:ext cx="216000" cy="216000"/>
          </a:xfrm>
          <a:prstGeom prst="rect">
            <a:avLst/>
          </a:prstGeom>
        </p:spPr>
      </p:pic>
      <p:sp>
        <p:nvSpPr>
          <p:cNvPr id="168" name="文本框 167"/>
          <p:cNvSpPr txBox="1"/>
          <p:nvPr/>
        </p:nvSpPr>
        <p:spPr>
          <a:xfrm>
            <a:off x="4821238" y="2977515"/>
            <a:ext cx="190055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推荐</a:t>
            </a: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的系统性闭环方案</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APP漏扫"/>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821238" y="1270318"/>
            <a:ext cx="360000" cy="360000"/>
          </a:xfrm>
          <a:prstGeom prst="rect">
            <a:avLst/>
          </a:prstGeom>
        </p:spPr>
      </p:pic>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6" name="图片 5" descr="项目风险"/>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836410" y="1270318"/>
            <a:ext cx="360000" cy="360000"/>
          </a:xfrm>
          <a:prstGeom prst="rect">
            <a:avLst/>
          </a:prstGeom>
        </p:spPr>
      </p:pic>
      <p:pic>
        <p:nvPicPr>
          <p:cNvPr id="7" name="图片 6" descr="项目风险"/>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851265" y="1270318"/>
            <a:ext cx="360000" cy="360000"/>
          </a:xfrm>
          <a:prstGeom prst="rect">
            <a:avLst/>
          </a:prstGeom>
        </p:spPr>
      </p:pic>
      <p:pic>
        <p:nvPicPr>
          <p:cNvPr id="8" name="图片 7" descr="已办事项"/>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867073" y="1270318"/>
            <a:ext cx="360000" cy="360000"/>
          </a:xfrm>
          <a:prstGeom prst="rect">
            <a:avLst/>
          </a:prstGeom>
        </p:spPr>
      </p:pic>
      <p:pic>
        <p:nvPicPr>
          <p:cNvPr id="2" name="图片 1" descr="深信服 + 智安全"/>
          <p:cNvPicPr>
            <a:picLocks noChangeAspect="1"/>
          </p:cNvPicPr>
          <p:nvPr/>
        </p:nvPicPr>
        <p:blipFill>
          <a:blip r:embed="rId50"/>
          <a:srcRect l="5232" t="26576" r="4938" b="29565"/>
          <a:stretch>
            <a:fillRect/>
          </a:stretch>
        </p:blipFill>
        <p:spPr>
          <a:xfrm>
            <a:off x="10017125" y="238760"/>
            <a:ext cx="1629867" cy="360000"/>
          </a:xfrm>
          <a:prstGeom prst="rect">
            <a:avLst/>
          </a:prstGeom>
        </p:spPr>
      </p:pic>
      <p:sp>
        <p:nvSpPr>
          <p:cNvPr id="11" name="文本框 10"/>
          <p:cNvSpPr txBox="1"/>
          <p:nvPr/>
        </p:nvSpPr>
        <p:spPr>
          <a:xfrm>
            <a:off x="190500" y="4311650"/>
            <a:ext cx="1368425" cy="389890"/>
          </a:xfrm>
          <a:prstGeom prst="rect">
            <a:avLst/>
          </a:prstGeom>
          <a:noFill/>
        </p:spPr>
        <p:txBody>
          <a:bodyPr wrap="square" rtlCol="0" anchor="t">
            <a:noAutofit/>
          </a:bodyPr>
          <a:p>
            <a:r>
              <a:rPr lang="zh-CN" altLang="en-US" sz="800"/>
              <a:t>{{</a:t>
            </a:r>
            <a:r>
              <a:rPr lang="en-US" altLang="zh-CN" sz="800"/>
              <a:t>P14_pie</a:t>
            </a:r>
            <a:r>
              <a:rPr lang="zh-CN" altLang="en-US" sz="800"/>
              <a:t>}}</a:t>
            </a:r>
            <a:endParaRPr lang="zh-CN" altLang="en-US"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lang="en-US" altLang="zh-CN" sz="1200" b="1" spc="30" dirty="0">
              <a:solidFill>
                <a:srgbClr val="204080">
                  <a:alpha val="100000"/>
                </a:srgbClr>
              </a:solidFill>
              <a:latin typeface="黑体" panose="02010609060101010101" charset="-122"/>
              <a:ea typeface="黑体" panose="02010609060101010101" charset="-122"/>
              <a:cs typeface="黑体" panose="02010609060101010101" charset="-122"/>
            </a:endParaRPr>
          </a:p>
          <a:p>
            <a:pPr marL="261620" algn="l" rtl="0" eaLnBrk="0">
              <a:lnSpc>
                <a:spcPct val="115000"/>
              </a:lnSpc>
            </a:pPr>
            <a:endParaRPr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61620" algn="l" rtl="0" eaLnBrk="0">
              <a:lnSpc>
                <a:spcPct val="115000"/>
              </a:lnSpc>
            </a:pPr>
            <a:endParaRPr sz="1000" dirty="0">
              <a:latin typeface="黑体" panose="02010609060101010101" charset="-122"/>
              <a:ea typeface="黑体" panose="02010609060101010101" charset="-122"/>
              <a:cs typeface="黑体" panose="02010609060101010101" charset="-122"/>
            </a:endParaRPr>
          </a:p>
          <a:p>
            <a:pPr marL="285750" algn="l" rtl="0" eaLnBrk="0">
              <a:lnSpc>
                <a:spcPct val="113000"/>
              </a:lnSpc>
              <a:spcBef>
                <a:spcPts val="5"/>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algn="l" rtl="0" eaLnBrk="0">
              <a:lnSpc>
                <a:spcPct val="124000"/>
              </a:lnSpc>
              <a:spcBef>
                <a:spcPts val="100"/>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6"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158"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a:t>
            </a:r>
            <a:r>
              <a:rPr lang="zh-CN" altLang="en-US" sz="1900" kern="0" dirty="0">
                <a:solidFill>
                  <a:srgbClr val="4C61E7"/>
                </a:solidFill>
                <a:latin typeface="黑体" panose="02010609060101010101" charset="-122"/>
                <a:ea typeface="黑体" panose="02010609060101010101" charset="-122"/>
                <a:cs typeface="黑体" panose="02010609060101010101" charset="-122"/>
              </a:rPr>
              <a:t>运营成效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2" name="组合 1"/>
          <p:cNvGrpSpPr/>
          <p:nvPr/>
        </p:nvGrpSpPr>
        <p:grpSpPr>
          <a:xfrm>
            <a:off x="648335" y="4363720"/>
            <a:ext cx="10918825" cy="1179024"/>
            <a:chOff x="2042" y="13744"/>
            <a:chExt cx="34390" cy="3714"/>
          </a:xfrm>
        </p:grpSpPr>
        <p:sp>
          <p:nvSpPr>
            <p:cNvPr id="12"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9" name="图表 28"/>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4" name="文本框 3"/>
          <p:cNvSpPr txBox="1"/>
          <p:nvPr/>
        </p:nvSpPr>
        <p:spPr>
          <a:xfrm>
            <a:off x="73596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9" name="文本框 78"/>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1" name="íṥlïḍê"/>
          <p:cNvSpPr txBox="1"/>
          <p:nvPr>
            <p:custDataLst>
              <p:tags r:id="rId5"/>
            </p:custDataLst>
          </p:nvPr>
        </p:nvSpPr>
        <p:spPr>
          <a:xfrm>
            <a:off x="982663" y="150590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7" name="文本框 86"/>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9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9" name="íṥlïḍê"/>
          <p:cNvSpPr txBox="1"/>
          <p:nvPr>
            <p:custDataLst>
              <p:tags r:id="rId6"/>
            </p:custDataLst>
          </p:nvPr>
        </p:nvSpPr>
        <p:spPr>
          <a:xfrm>
            <a:off x="982980" y="1714500"/>
            <a:ext cx="249555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1" name="文本框 10"/>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 name="文本框 12"/>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9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6" name="文本框 15"/>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35" name="图表 34"/>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17" name="文本框 16"/>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文本框 17"/>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19" name="图表 18"/>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图表 19"/>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21" name="文本框 20"/>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9"/>
          <a:stretch>
            <a:fillRect/>
          </a:stretch>
        </p:blipFill>
        <p:spPr>
          <a:xfrm>
            <a:off x="630873" y="5719763"/>
            <a:ext cx="10940415" cy="801688"/>
          </a:xfrm>
          <a:prstGeom prst="rect">
            <a:avLst/>
          </a:prstGeom>
        </p:spPr>
      </p:pic>
      <p:sp>
        <p:nvSpPr>
          <p:cNvPr id="25" name="文本框 24"/>
          <p:cNvSpPr txBox="1"/>
          <p:nvPr/>
        </p:nvSpPr>
        <p:spPr>
          <a:xfrm>
            <a:off x="982663" y="576326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345"/>
            <a:ext cx="3349625"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551045" y="6056630"/>
            <a:ext cx="3377565"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101965" y="6070600"/>
            <a:ext cx="329438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2" name="图片 21"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6" name="文本框 5"/>
          <p:cNvSpPr txBox="1"/>
          <p:nvPr/>
        </p:nvSpPr>
        <p:spPr>
          <a:xfrm>
            <a:off x="7992110" y="1530985"/>
            <a:ext cx="3574415" cy="2456815"/>
          </a:xfrm>
          <a:prstGeom prst="rect">
            <a:avLst/>
          </a:prstGeom>
          <a:noFill/>
        </p:spPr>
        <p:txBody>
          <a:bodyPr wrap="square" rtlCol="0" anchor="t">
            <a:noAutofit/>
          </a:bodyPr>
          <a:p>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xxxxxx</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P15_line</a:t>
            </a:r>
            <a:r>
              <a:rPr lang="zh-CN" altLang="en-US" sz="800">
                <a:sym typeface="+mn-ea"/>
              </a:rPr>
              <a:t>}}</a:t>
            </a:r>
            <a:endParaRPr lang="zh-CN" altLang="en-US" sz="80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6" name="文本框 95"/>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algn="l" rtl="0" eaLnBrk="0">
              <a:lnSpc>
                <a:spcPct val="101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重要时期保障成效</a:t>
            </a: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77"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56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9" name="组合 48"/>
          <p:cNvGrpSpPr/>
          <p:nvPr/>
        </p:nvGrpSpPr>
        <p:grpSpPr>
          <a:xfrm>
            <a:off x="1275398" y="2854325"/>
            <a:ext cx="2159953" cy="487046"/>
            <a:chOff x="4017" y="8989"/>
            <a:chExt cx="8006" cy="1534"/>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464"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endParaRPr>
            </a:p>
          </p:txBody>
        </p:sp>
      </p:grpSp>
      <p:grpSp>
        <p:nvGrpSpPr>
          <p:cNvPr id="38" name="组合 37"/>
          <p:cNvGrpSpPr/>
          <p:nvPr/>
        </p:nvGrpSpPr>
        <p:grpSpPr>
          <a:xfrm>
            <a:off x="1275398" y="2252345"/>
            <a:ext cx="2075760" cy="486411"/>
            <a:chOff x="4017" y="7030"/>
            <a:chExt cx="6786" cy="1532"/>
          </a:xfrm>
        </p:grpSpPr>
        <p:sp>
          <p:nvSpPr>
            <p:cNvPr id="3" name="文本框 2"/>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465" y="7868"/>
              <a:ext cx="6338"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35" name="椭圆 34"/>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43" name="组合 42"/>
          <p:cNvGrpSpPr/>
          <p:nvPr/>
        </p:nvGrpSpPr>
        <p:grpSpPr>
          <a:xfrm>
            <a:off x="728028" y="2298700"/>
            <a:ext cx="431800" cy="431800"/>
            <a:chOff x="2293" y="7118"/>
            <a:chExt cx="1360" cy="1360"/>
          </a:xfrm>
        </p:grpSpPr>
        <p:sp>
          <p:nvSpPr>
            <p:cNvPr id="40" name="椭圆 39"/>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45" name="椭圆 44"/>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 name="图片 4"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 name="图片 5"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32" name="图表 31"/>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11" name="文本框 10"/>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106285" y="4794568"/>
            <a:ext cx="1439545" cy="692150"/>
            <a:chOff x="23598" y="12409"/>
            <a:chExt cx="4534" cy="2180"/>
          </a:xfrm>
        </p:grpSpPr>
        <p:sp>
          <p:nvSpPr>
            <p:cNvPr id="14" name="文本框 13"/>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0" name="组合 19"/>
            <p:cNvGrpSpPr/>
            <p:nvPr/>
          </p:nvGrpSpPr>
          <p:grpSpPr>
            <a:xfrm rot="0">
              <a:off x="25412" y="12409"/>
              <a:ext cx="907" cy="907"/>
              <a:chOff x="25500" y="11572"/>
              <a:chExt cx="907" cy="907"/>
            </a:xfrm>
          </p:grpSpPr>
          <p:sp>
            <p:nvSpPr>
              <p:cNvPr id="15" name="椭圆 14"/>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6" name="图片 15"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56" name="组合 55"/>
          <p:cNvGrpSpPr/>
          <p:nvPr/>
        </p:nvGrpSpPr>
        <p:grpSpPr>
          <a:xfrm rot="0">
            <a:off x="9695815" y="4794568"/>
            <a:ext cx="1439545" cy="692150"/>
            <a:chOff x="31276" y="12409"/>
            <a:chExt cx="4534" cy="2180"/>
          </a:xfrm>
        </p:grpSpPr>
        <p:sp>
          <p:nvSpPr>
            <p:cNvPr id="17" name="文本框 1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8" name="组合 17"/>
            <p:cNvGrpSpPr/>
            <p:nvPr/>
          </p:nvGrpSpPr>
          <p:grpSpPr>
            <a:xfrm rot="0">
              <a:off x="33090" y="12409"/>
              <a:ext cx="907" cy="907"/>
              <a:chOff x="33129" y="11647"/>
              <a:chExt cx="907" cy="907"/>
            </a:xfrm>
          </p:grpSpPr>
          <p:sp>
            <p:nvSpPr>
              <p:cNvPr id="19" name="椭圆 18"/>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24" name="图片 23"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30" name="文本框 29"/>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516120" y="4794568"/>
            <a:ext cx="1440180" cy="692150"/>
            <a:chOff x="15001" y="12047"/>
            <a:chExt cx="4536" cy="2180"/>
          </a:xfrm>
        </p:grpSpPr>
        <p:sp>
          <p:nvSpPr>
            <p:cNvPr id="31" name="文本框 30"/>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3" name="组合 32"/>
            <p:cNvGrpSpPr/>
            <p:nvPr/>
          </p:nvGrpSpPr>
          <p:grpSpPr>
            <a:xfrm>
              <a:off x="16816" y="12047"/>
              <a:ext cx="907" cy="907"/>
              <a:chOff x="16280" y="11640"/>
              <a:chExt cx="907" cy="907"/>
            </a:xfrm>
          </p:grpSpPr>
          <p:sp>
            <p:nvSpPr>
              <p:cNvPr id="34" name="椭圆 33"/>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36" name="图片 35"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2" name="图片 1"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4" name="文本框 3"/>
          <p:cNvSpPr txBox="1"/>
          <p:nvPr/>
        </p:nvSpPr>
        <p:spPr>
          <a:xfrm>
            <a:off x="8013065" y="1371600"/>
            <a:ext cx="3980815" cy="2976880"/>
          </a:xfrm>
          <a:prstGeom prst="rect">
            <a:avLst/>
          </a:prstGeom>
          <a:noFill/>
        </p:spPr>
        <p:txBody>
          <a:bodyPr wrap="square" rtlCol="0" anchor="t">
            <a:spAutoFit/>
          </a:bodyPr>
          <a:p>
            <a:pPr marL="13970" algn="l" rtl="0" eaLnBrk="0">
              <a:lnSpc>
                <a:spcPct val="95000"/>
              </a:lnSpc>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{{duty_summary}}</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1000" dirty="0">
              <a:latin typeface="黑体" panose="02010609060101010101" charset="-122"/>
              <a:ea typeface="黑体" panose="02010609060101010101" charset="-122"/>
              <a:cs typeface="黑体" panose="02010609060101010101" charset="-122"/>
            </a:endParaRPr>
          </a:p>
          <a:p>
            <a:pPr marL="191770" indent="0" algn="l" rtl="0" eaLnBrk="0" fontAlgn="auto">
              <a:lnSpc>
                <a:spcPct val="150000"/>
              </a:lnSpc>
              <a:spcBef>
                <a:spcPts val="0"/>
              </a:spcBef>
            </a:pPr>
            <a:endParaRPr lang="zh-CN" sz="7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15</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事故，实时攻击达到峰值</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2025年1月1日-1月1日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2025年1月24日-2月5日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月4日-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6</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2025年5月1日-5月5日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2025年5月31日-6月2日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文本框 7"/>
          <p:cNvSpPr txBox="1"/>
          <p:nvPr/>
        </p:nvSpPr>
        <p:spPr>
          <a:xfrm>
            <a:off x="5333365" y="1484630"/>
            <a:ext cx="1885315" cy="213995"/>
          </a:xfrm>
          <a:prstGeom prst="rect">
            <a:avLst/>
          </a:prstGeom>
          <a:noFill/>
        </p:spPr>
        <p:txBody>
          <a:bodyPr wrap="square" rtlCol="0" anchor="t">
            <a:spAutoFit/>
          </a:bodyPr>
          <a:p>
            <a:r>
              <a:rPr lang="zh-CN" altLang="en-US" sz="800"/>
              <a:t>{{P16_combo}}</a:t>
            </a:r>
            <a:endParaRPr lang="zh-CN" alt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58"/>
          <p:cNvSpPr/>
          <p:nvPr/>
        </p:nvSpPr>
        <p:spPr>
          <a:xfrm>
            <a:off x="647700" y="346710"/>
            <a:ext cx="4261485" cy="613410"/>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安全设备与平台成效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技术能力加持业务安全，确保安全</a:t>
            </a: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投入价值最大化</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1275398"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边界防火墙检出攻击</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1231900" y="1905635"/>
            <a:ext cx="16433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万次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275398"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AES</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检出端点安全风险</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文本框 19"/>
          <p:cNvSpPr txBox="1"/>
          <p:nvPr/>
        </p:nvSpPr>
        <p:spPr>
          <a:xfrm>
            <a:off x="1335405" y="2510155"/>
            <a:ext cx="133540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23" name="椭圆 22"/>
          <p:cNvSpPr/>
          <p:nvPr>
            <p:custDataLst>
              <p:tags r:id="rId1"/>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25" name="椭圆 24"/>
          <p:cNvSpPr/>
          <p:nvPr>
            <p:custDataLst>
              <p:tags r:id="rId2"/>
            </p:custDataLst>
          </p:nvPr>
        </p:nvSpPr>
        <p:spPr bwMode="auto">
          <a:xfrm>
            <a:off x="728028" y="229870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30" name="椭圆 29"/>
          <p:cNvSpPr/>
          <p:nvPr>
            <p:custDataLst>
              <p:tags r:id="rId3"/>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199" name="任意多边形 47"/>
          <p:cNvSpPr/>
          <p:nvPr>
            <p:custDataLst>
              <p:tags r:id="rId4"/>
            </p:custDataLst>
          </p:nvPr>
        </p:nvSpPr>
        <p:spPr>
          <a:xfrm rot="10800000">
            <a:off x="8055573" y="2678228"/>
            <a:ext cx="2448000" cy="666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0" name="任意多边形 44"/>
          <p:cNvSpPr/>
          <p:nvPr>
            <p:custDataLst>
              <p:tags r:id="rId5"/>
            </p:custDataLst>
          </p:nvPr>
        </p:nvSpPr>
        <p:spPr>
          <a:xfrm rot="10800000">
            <a:off x="7893573" y="3301048"/>
            <a:ext cx="2772000" cy="864235"/>
          </a:xfrm>
          <a:custGeom>
            <a:avLst/>
            <a:gdLst>
              <a:gd name="connsiteX0" fmla="*/ 9001018 w 18002036"/>
              <a:gd name="connsiteY0" fmla="*/ 3661446 h 3661446"/>
              <a:gd name="connsiteX1" fmla="*/ 0 w 18002036"/>
              <a:gd name="connsiteY1" fmla="*/ 1830723 h 3661446"/>
              <a:gd name="connsiteX2" fmla="*/ 9001018 w 18002036"/>
              <a:gd name="connsiteY2" fmla="*/ 0 h 3661446"/>
              <a:gd name="connsiteX3" fmla="*/ 18002036 w 18002036"/>
              <a:gd name="connsiteY3" fmla="*/ 1830723 h 3661446"/>
              <a:gd name="connsiteX4" fmla="*/ 9001018 w 18002036"/>
              <a:gd name="connsiteY4" fmla="*/ 3661446 h 3661446"/>
              <a:gd name="connsiteX5" fmla="*/ 8979248 w 18002036"/>
              <a:gd name="connsiteY5" fmla="*/ 3549038 h 3661446"/>
              <a:gd name="connsiteX6" fmla="*/ 17534640 w 18002036"/>
              <a:gd name="connsiteY6" fmla="*/ 1913054 h 3661446"/>
              <a:gd name="connsiteX7" fmla="*/ 8979248 w 18002036"/>
              <a:gd name="connsiteY7" fmla="*/ 277070 h 3661446"/>
              <a:gd name="connsiteX8" fmla="*/ 423856 w 18002036"/>
              <a:gd name="connsiteY8" fmla="*/ 1913054 h 3661446"/>
              <a:gd name="connsiteX9" fmla="*/ 8979248 w 18002036"/>
              <a:gd name="connsiteY9" fmla="*/ 3549038 h 366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36" h="3661446">
                <a:moveTo>
                  <a:pt x="9001018" y="3661446"/>
                </a:moveTo>
                <a:cubicBezTo>
                  <a:pt x="4029896" y="3661446"/>
                  <a:pt x="0" y="2841803"/>
                  <a:pt x="0" y="1830723"/>
                </a:cubicBezTo>
                <a:cubicBezTo>
                  <a:pt x="0" y="819643"/>
                  <a:pt x="4029896" y="0"/>
                  <a:pt x="9001018" y="0"/>
                </a:cubicBezTo>
                <a:cubicBezTo>
                  <a:pt x="13972142" y="0"/>
                  <a:pt x="18002036" y="819643"/>
                  <a:pt x="18002036" y="1830723"/>
                </a:cubicBezTo>
                <a:cubicBezTo>
                  <a:pt x="18002036" y="2841803"/>
                  <a:pt x="13972142" y="3661446"/>
                  <a:pt x="9001018" y="3661446"/>
                </a:cubicBezTo>
                <a:close/>
                <a:moveTo>
                  <a:pt x="8979248" y="3549038"/>
                </a:moveTo>
                <a:cubicBezTo>
                  <a:pt x="13704260" y="3549038"/>
                  <a:pt x="17534640" y="2816583"/>
                  <a:pt x="17534640" y="1913054"/>
                </a:cubicBezTo>
                <a:cubicBezTo>
                  <a:pt x="17534640" y="1009525"/>
                  <a:pt x="13704260" y="277070"/>
                  <a:pt x="8979248" y="277070"/>
                </a:cubicBezTo>
                <a:cubicBezTo>
                  <a:pt x="4254232" y="277070"/>
                  <a:pt x="423856" y="1009525"/>
                  <a:pt x="423856" y="1913054"/>
                </a:cubicBezTo>
                <a:cubicBezTo>
                  <a:pt x="423856" y="2816583"/>
                  <a:pt x="4254232" y="3549038"/>
                  <a:pt x="8979248" y="3549038"/>
                </a:cubicBezTo>
                <a:close/>
              </a:path>
            </a:pathLst>
          </a:cu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1" name="任意多边形 46"/>
          <p:cNvSpPr/>
          <p:nvPr>
            <p:custDataLst>
              <p:tags r:id="rId6"/>
            </p:custDataLst>
          </p:nvPr>
        </p:nvSpPr>
        <p:spPr>
          <a:xfrm rot="10800000">
            <a:off x="8280573" y="2795228"/>
            <a:ext cx="1998000" cy="432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02" name="图片 20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94340" y="2653983"/>
            <a:ext cx="1152000" cy="491122"/>
          </a:xfrm>
          <a:prstGeom prst="rect">
            <a:avLst/>
          </a:prstGeom>
        </p:spPr>
      </p:pic>
      <p:sp>
        <p:nvSpPr>
          <p:cNvPr id="203" name="椭圆 202"/>
          <p:cNvSpPr/>
          <p:nvPr/>
        </p:nvSpPr>
        <p:spPr>
          <a:xfrm>
            <a:off x="7029573" y="4106228"/>
            <a:ext cx="4500000" cy="1440000"/>
          </a:xfrm>
          <a:prstGeom prst="ellipse">
            <a:avLst/>
          </a:prstGeom>
          <a:noFill/>
          <a:ln w="76200" cap="flat" cmpd="sng" algn="ctr">
            <a:gradFill>
              <a:gsLst>
                <a:gs pos="0">
                  <a:srgbClr val="4472C4">
                    <a:lumMod val="5000"/>
                    <a:lumOff val="95000"/>
                    <a:alpha val="1000"/>
                  </a:srgbClr>
                </a:gs>
                <a:gs pos="78000">
                  <a:srgbClr val="4472C4">
                    <a:lumMod val="45000"/>
                    <a:lumOff val="55000"/>
                  </a:srgbClr>
                </a:gs>
                <a:gs pos="100000">
                  <a:srgbClr val="4472C4"/>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9" name="矩形 52"/>
          <p:cNvSpPr>
            <a:spLocks noChangeArrowheads="1"/>
          </p:cNvSpPr>
          <p:nvPr/>
        </p:nvSpPr>
        <p:spPr bwMode="auto">
          <a:xfrm>
            <a:off x="7578090" y="4895850"/>
            <a:ext cx="1396365"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10" name="矩形 52"/>
          <p:cNvSpPr>
            <a:spLocks noChangeArrowheads="1"/>
          </p:cNvSpPr>
          <p:nvPr/>
        </p:nvSpPr>
        <p:spPr bwMode="auto">
          <a:xfrm>
            <a:off x="8691722" y="5196205"/>
            <a:ext cx="139700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1" name="图片 2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94642" y="460692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12" name="矩形 52"/>
          <p:cNvSpPr>
            <a:spLocks noChangeArrowheads="1"/>
          </p:cNvSpPr>
          <p:nvPr/>
        </p:nvSpPr>
        <p:spPr bwMode="auto">
          <a:xfrm>
            <a:off x="9758998" y="5039678"/>
            <a:ext cx="1397000" cy="18383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chor="ctr" anchorCtr="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3" name="图片 2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1918" y="447103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grpSp>
        <p:nvGrpSpPr>
          <p:cNvPr id="214" name="组合 213"/>
          <p:cNvGrpSpPr/>
          <p:nvPr/>
        </p:nvGrpSpPr>
        <p:grpSpPr>
          <a:xfrm rot="1359959">
            <a:off x="8393859" y="4125766"/>
            <a:ext cx="90000" cy="234000"/>
            <a:chOff x="6043944" y="3770285"/>
            <a:chExt cx="126059" cy="1250361"/>
          </a:xfrm>
        </p:grpSpPr>
        <p:sp>
          <p:nvSpPr>
            <p:cNvPr id="215"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6"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7"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8"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9"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0"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1"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22" name="组合 221"/>
          <p:cNvGrpSpPr/>
          <p:nvPr/>
        </p:nvGrpSpPr>
        <p:grpSpPr>
          <a:xfrm rot="0">
            <a:off x="9332437" y="4208780"/>
            <a:ext cx="115570" cy="268605"/>
            <a:chOff x="6043944" y="3770285"/>
            <a:chExt cx="126059" cy="1250361"/>
          </a:xfrm>
        </p:grpSpPr>
        <p:sp>
          <p:nvSpPr>
            <p:cNvPr id="223"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4"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5"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6"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7"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8"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9"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0" name="组合 229"/>
          <p:cNvGrpSpPr/>
          <p:nvPr/>
        </p:nvGrpSpPr>
        <p:grpSpPr>
          <a:xfrm rot="20700000" flipH="1">
            <a:off x="10247745" y="4131029"/>
            <a:ext cx="90000" cy="234000"/>
            <a:chOff x="6043944" y="3770285"/>
            <a:chExt cx="126059" cy="1250361"/>
          </a:xfrm>
        </p:grpSpPr>
        <p:sp>
          <p:nvSpPr>
            <p:cNvPr id="231"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2"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3"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4"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5"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6"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7"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238" name="圆角矩形 237"/>
          <p:cNvSpPr/>
          <p:nvPr/>
        </p:nvSpPr>
        <p:spPr>
          <a:xfrm>
            <a:off x="8724222" y="4215448"/>
            <a:ext cx="1332000" cy="198000"/>
          </a:xfrm>
          <a:prstGeom prst="roundRect">
            <a:avLst/>
          </a:prstGeom>
          <a:solidFill>
            <a:srgbClr val="000000">
              <a:alpha val="0"/>
            </a:srgbClr>
          </a:solidFill>
          <a:ln w="12700" cap="flat" cmpd="sng" algn="ctr">
            <a:noFill/>
            <a:prstDash val="solid"/>
            <a:miter lim="800000"/>
          </a:ln>
          <a:effectLst/>
        </p:spPr>
        <p:txBody>
          <a:bodyPr wrap="square" lIns="108000" tIns="108000" rIns="108000" bIns="108000" rtlCol="0" anchor="ctr" anchorCtr="0">
            <a:noAutofit/>
          </a:bodyPr>
          <a:lstStyle/>
          <a:p>
            <a:pPr>
              <a:lnSpc>
                <a:spcPct val="150000"/>
              </a:lnSpc>
            </a:pPr>
            <a:r>
              <a:rPr kumimoji="1" lang="zh-CN" altLang="en-US" sz="900" b="1" kern="0" dirty="0">
                <a:solidFill>
                  <a:srgbClr val="003492"/>
                </a:solidFill>
                <a:latin typeface="微软雅黑" panose="020B0503020204020204" charset="-122"/>
                <a:ea typeface="微软雅黑" panose="020B0503020204020204" charset="-122"/>
              </a:rPr>
              <a:t>行为分析检测引擎</a:t>
            </a:r>
            <a:endParaRPr kumimoji="1" lang="zh-CN" altLang="en-US" sz="900" b="1" kern="0" dirty="0">
              <a:solidFill>
                <a:srgbClr val="003492"/>
              </a:solidFill>
              <a:latin typeface="微软雅黑" panose="020B0503020204020204" charset="-122"/>
              <a:ea typeface="微软雅黑" panose="020B0503020204020204" charset="-122"/>
            </a:endParaRPr>
          </a:p>
        </p:txBody>
      </p:sp>
      <p:pic>
        <p:nvPicPr>
          <p:cNvPr id="239" name="图片 238"/>
          <p:cNvPicPr>
            <a:picLocks noChangeAspect="1"/>
          </p:cNvPicPr>
          <p:nvPr/>
        </p:nvPicPr>
        <p:blipFill>
          <a:blip r:embed="rId9"/>
          <a:stretch>
            <a:fillRect/>
          </a:stretch>
        </p:blipFill>
        <p:spPr>
          <a:xfrm>
            <a:off x="9089390" y="4580255"/>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pic>
        <p:nvPicPr>
          <p:cNvPr id="240" name="图片 239"/>
          <p:cNvPicPr>
            <a:picLocks noChangeAspect="1"/>
          </p:cNvPicPr>
          <p:nvPr/>
        </p:nvPicPr>
        <p:blipFill>
          <a:blip r:embed="rId9"/>
          <a:stretch>
            <a:fillRect/>
          </a:stretch>
        </p:blipFill>
        <p:spPr>
          <a:xfrm>
            <a:off x="10177780" y="4427220"/>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41" name="矩形 52"/>
          <p:cNvSpPr>
            <a:spLocks noChangeArrowheads="1"/>
          </p:cNvSpPr>
          <p:nvPr/>
        </p:nvSpPr>
        <p:spPr bwMode="auto">
          <a:xfrm>
            <a:off x="8581073" y="3013393"/>
            <a:ext cx="1397000" cy="299085"/>
          </a:xfrm>
          <a:prstGeom prst="rect">
            <a:avLst/>
          </a:prstGeom>
          <a:extLst>
            <a:ext uri="{909E8E84-426E-40DD-AFC4-6F175D3DCCD1}">
              <a14:hiddenFill xmlns:a14="http://schemas.microsoft.com/office/drawing/2010/main">
                <a:solidFill>
                  <a:srgbClr val="FFFFFF"/>
                </a:solidFill>
              </a14:hiddenFill>
            </a:ext>
          </a:extLst>
        </p:spPr>
        <p:txBody>
          <a:bodyPr wrap="square">
            <a:spAutoFit/>
          </a:bodyPr>
          <a:lstStyle/>
          <a:p>
            <a:pPr lvl="0" algn="ctr">
              <a:lnSpc>
                <a:spcPct val="150000"/>
              </a:lnSpc>
              <a:spcBef>
                <a:spcPts val="0"/>
              </a:spcBef>
              <a:spcAft>
                <a:spcPts val="0"/>
              </a:spcAft>
              <a:buClrTx/>
              <a:buSzTx/>
              <a:buFontTx/>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下一代防火墙AF</a:t>
            </a:r>
            <a:endPar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42" name="PA-椭圆 227_1"/>
          <p:cNvSpPr/>
          <p:nvPr>
            <p:custDataLst>
              <p:tags r:id="rId10"/>
            </p:custDataLst>
          </p:nvPr>
        </p:nvSpPr>
        <p:spPr>
          <a:xfrm rot="10800000">
            <a:off x="7029573" y="1076643"/>
            <a:ext cx="4500000" cy="1439545"/>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43" name="任意多边形 168"/>
          <p:cNvSpPr/>
          <p:nvPr>
            <p:custDataLst>
              <p:tags r:id="rId11"/>
            </p:custDataLst>
          </p:nvPr>
        </p:nvSpPr>
        <p:spPr>
          <a:xfrm rot="10800000">
            <a:off x="8848090" y="2369503"/>
            <a:ext cx="321310" cy="514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solidFill>
            <a:sysClr val="window" lastClr="FFFFFF">
              <a:lumMod val="65000"/>
            </a:sysClr>
          </a:solidFill>
          <a:ln w="6350" cap="flat" cmpd="sng" algn="ctr">
            <a:gradFill>
              <a:gsLst>
                <a:gs pos="0">
                  <a:srgbClr val="00539F"/>
                </a:gs>
                <a:gs pos="100000">
                  <a:srgbClr val="00539F">
                    <a:alpha val="0"/>
                  </a:srgbClr>
                </a:gs>
              </a:gsLst>
              <a:lin ang="5400000" scaled="1"/>
            </a:gradFill>
            <a:prstDash val="solid"/>
            <a:miter lim="800000"/>
          </a:ln>
          <a:effectLst>
            <a:reflection stA="45000" endPos="0" dist="50800" dir="5400000" sy="-100000" algn="bl" rotWithShape="0"/>
            <a:softEdge rad="101600"/>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7696835" y="1208723"/>
            <a:ext cx="1105535" cy="448855"/>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10219208" y="1711008"/>
            <a:ext cx="917778" cy="437438"/>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8540750" y="1736408"/>
            <a:ext cx="719824" cy="482968"/>
            <a:chOff x="5374" y="3400"/>
            <a:chExt cx="1204" cy="1087"/>
          </a:xfrm>
        </p:grpSpPr>
        <p:pic>
          <p:nvPicPr>
            <p:cNvPr id="251" name="图片 250"/>
            <p:cNvPicPr>
              <a:picLocks noChangeAspect="1"/>
            </p:cNvPicPr>
            <p:nvPr/>
          </p:nvPicPr>
          <p:blipFill>
            <a:blip r:embed="rId12"/>
            <a:srcRect/>
            <a:stretch>
              <a:fillRect/>
            </a:stretch>
          </p:blipFill>
          <p:spPr>
            <a:xfrm>
              <a:off x="5594" y="3400"/>
              <a:ext cx="398" cy="506"/>
            </a:xfrm>
            <a:prstGeom prst="rect">
              <a:avLst/>
            </a:prstGeom>
          </p:spPr>
        </p:pic>
        <p:pic>
          <p:nvPicPr>
            <p:cNvPr id="252" name="图片 251"/>
            <p:cNvPicPr>
              <a:picLocks noChangeAspect="1"/>
            </p:cNvPicPr>
            <p:nvPr/>
          </p:nvPicPr>
          <p:blipFill>
            <a:blip r:embed="rId12"/>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10219055" y="1256347"/>
            <a:ext cx="839470" cy="431103"/>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8" y="3255"/>
              <a:ext cx="466" cy="466"/>
            </a:xfrm>
            <a:prstGeom prst="rect">
              <a:avLst/>
            </a:prstGeom>
          </p:spPr>
        </p:pic>
      </p:grpSp>
      <p:grpSp>
        <p:nvGrpSpPr>
          <p:cNvPr id="258" name="组合 257"/>
          <p:cNvGrpSpPr/>
          <p:nvPr/>
        </p:nvGrpSpPr>
        <p:grpSpPr>
          <a:xfrm rot="0">
            <a:off x="7454265" y="1677353"/>
            <a:ext cx="989727" cy="563294"/>
            <a:chOff x="1499" y="2594"/>
            <a:chExt cx="1624" cy="1116"/>
          </a:xfrm>
        </p:grpSpPr>
        <p:pic>
          <p:nvPicPr>
            <p:cNvPr id="259" name="图片 14" descr="350498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9600883" y="1690688"/>
            <a:ext cx="317500" cy="33337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9378315" y="2002473"/>
            <a:ext cx="762635" cy="213995"/>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8802370" y="1173163"/>
            <a:ext cx="1169670" cy="454660"/>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8873490" y="1265238"/>
            <a:ext cx="1050290" cy="32893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76" name="组合 275"/>
          <p:cNvGrpSpPr/>
          <p:nvPr/>
        </p:nvGrpSpPr>
        <p:grpSpPr>
          <a:xfrm>
            <a:off x="8206423" y="2131695"/>
            <a:ext cx="2324735" cy="924560"/>
            <a:chOff x="24796" y="7065"/>
            <a:chExt cx="7322" cy="2912"/>
          </a:xfrm>
        </p:grpSpPr>
        <p:sp>
          <p:nvSpPr>
            <p:cNvPr id="204" name="下箭头 143"/>
            <p:cNvSpPr/>
            <p:nvPr/>
          </p:nvSpPr>
          <p:spPr>
            <a:xfrm rot="10800000">
              <a:off x="28334" y="7741"/>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5" name="下箭头 145"/>
            <p:cNvSpPr/>
            <p:nvPr/>
          </p:nvSpPr>
          <p:spPr>
            <a:xfrm rot="10800000">
              <a:off x="27042" y="7729"/>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6" name="下箭头 146"/>
            <p:cNvSpPr/>
            <p:nvPr/>
          </p:nvSpPr>
          <p:spPr>
            <a:xfrm rot="10800000">
              <a:off x="29632" y="7729"/>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7" name="下箭头 57"/>
            <p:cNvSpPr/>
            <p:nvPr/>
          </p:nvSpPr>
          <p:spPr>
            <a:xfrm>
              <a:off x="29028" y="8147"/>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8" name="下箭头 58"/>
            <p:cNvSpPr/>
            <p:nvPr/>
          </p:nvSpPr>
          <p:spPr>
            <a:xfrm>
              <a:off x="27530" y="8181"/>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67" name="内容占位符 2"/>
            <p:cNvSpPr txBox="1"/>
            <p:nvPr/>
          </p:nvSpPr>
          <p:spPr>
            <a:xfrm>
              <a:off x="24796" y="7065"/>
              <a:ext cx="7322" cy="1108"/>
            </a:xfrm>
            <a:prstGeom prst="rect">
              <a:avLst/>
            </a:prstGeom>
          </p:spPr>
          <p:txBody>
            <a:bodyPr vert="horz" lIns="91422" tIns="45712" rIns="91422" bIns="45712" rtlCol="0">
              <a:noAutofit/>
            </a:bodyPr>
            <a:lstStyle>
              <a:defPPr>
                <a:defRPr lang="zh-CN"/>
              </a:defPPr>
              <a:lvl1pPr indent="0" algn="ctr" defTabSz="1733550">
                <a:lnSpc>
                  <a:spcPct val="100000"/>
                </a:lnSpc>
                <a:spcBef>
                  <a:spcPts val="1895"/>
                </a:spcBef>
                <a:buFont typeface="Arial" panose="020B0604020202020204" pitchFamily="34" charset="0"/>
                <a:buNone/>
                <a:defRPr sz="1400" b="1">
                  <a:solidFill>
                    <a:srgbClr val="314EA4"/>
                  </a:solidFill>
                  <a:latin typeface="微软雅黑" panose="020B0503020204020204" charset="-122"/>
                  <a:ea typeface="微软雅黑" panose="020B0503020204020204" charset="-122"/>
                </a:defRPr>
              </a:lvl1pPr>
              <a:lvl2pPr marL="1300480" indent="-433705" defTabSz="1733550">
                <a:lnSpc>
                  <a:spcPct val="90000"/>
                </a:lnSpc>
                <a:spcBef>
                  <a:spcPts val="950"/>
                </a:spcBef>
                <a:buFont typeface="Arial" panose="020B0604020202020204" pitchFamily="34" charset="0"/>
                <a:buChar char="•"/>
                <a:defRPr sz="4550"/>
              </a:lvl2pPr>
              <a:lvl3pPr marL="2167255" indent="-433705" defTabSz="1733550">
                <a:lnSpc>
                  <a:spcPct val="90000"/>
                </a:lnSpc>
                <a:spcBef>
                  <a:spcPts val="950"/>
                </a:spcBef>
                <a:buFont typeface="Arial" panose="020B0604020202020204" pitchFamily="34" charset="0"/>
                <a:buChar char="•"/>
                <a:defRPr sz="3790"/>
              </a:lvl3pPr>
              <a:lvl4pPr marL="3034030" indent="-433705" defTabSz="1733550">
                <a:lnSpc>
                  <a:spcPct val="90000"/>
                </a:lnSpc>
                <a:spcBef>
                  <a:spcPts val="950"/>
                </a:spcBef>
                <a:buFont typeface="Arial" panose="020B0604020202020204" pitchFamily="34" charset="0"/>
                <a:buChar char="•"/>
                <a:defRPr sz="3415"/>
              </a:lvl4pPr>
              <a:lvl5pPr marL="3900805" indent="-433705" defTabSz="1733550">
                <a:lnSpc>
                  <a:spcPct val="90000"/>
                </a:lnSpc>
                <a:spcBef>
                  <a:spcPts val="950"/>
                </a:spcBef>
                <a:buFont typeface="Arial" panose="020B0604020202020204" pitchFamily="34" charset="0"/>
                <a:buChar char="•"/>
                <a:defRPr sz="3415"/>
              </a:lvl5pPr>
              <a:lvl6pPr marL="4768215" indent="-433705" defTabSz="1733550">
                <a:lnSpc>
                  <a:spcPct val="90000"/>
                </a:lnSpc>
                <a:spcBef>
                  <a:spcPts val="950"/>
                </a:spcBef>
                <a:buFont typeface="Arial" panose="020B0604020202020204" pitchFamily="34" charset="0"/>
                <a:buChar char="•"/>
                <a:defRPr sz="3415"/>
              </a:lvl6pPr>
              <a:lvl7pPr marL="5634990" indent="-433705" defTabSz="1733550">
                <a:lnSpc>
                  <a:spcPct val="90000"/>
                </a:lnSpc>
                <a:spcBef>
                  <a:spcPts val="950"/>
                </a:spcBef>
                <a:buFont typeface="Arial" panose="020B0604020202020204" pitchFamily="34" charset="0"/>
                <a:buChar char="•"/>
                <a:defRPr sz="3415"/>
              </a:lvl7pPr>
              <a:lvl8pPr marL="6501765" indent="-433705" defTabSz="1733550">
                <a:lnSpc>
                  <a:spcPct val="90000"/>
                </a:lnSpc>
                <a:spcBef>
                  <a:spcPts val="950"/>
                </a:spcBef>
                <a:buFont typeface="Arial" panose="020B0604020202020204" pitchFamily="34" charset="0"/>
                <a:buChar char="•"/>
                <a:defRPr sz="3415"/>
              </a:lvl8pPr>
              <a:lvl9pPr marL="7368540" indent="-433705" defTabSz="1733550">
                <a:lnSpc>
                  <a:spcPct val="90000"/>
                </a:lnSpc>
                <a:spcBef>
                  <a:spcPts val="950"/>
                </a:spcBef>
                <a:buFont typeface="Arial" panose="020B0604020202020204" pitchFamily="34" charset="0"/>
                <a:buChar char="•"/>
                <a:defRPr sz="3415"/>
              </a:lvl9pPr>
            </a:lstStyle>
            <a:p>
              <a:pPr marL="0" marR="0" lvl="0" indent="0" algn="ctr" defTabSz="914400" eaLnBrk="1" fontAlgn="auto" latinLnBrk="0" hangingPunct="1">
                <a:lnSpc>
                  <a:spcPct val="150000"/>
                </a:lnSpc>
                <a:spcBef>
                  <a:spcPts val="1295"/>
                </a:spcBef>
                <a:spcAft>
                  <a:spcPts val="0"/>
                </a:spcAft>
                <a:buClrTx/>
                <a:buSzTx/>
                <a:buFont typeface="Arial" panose="020B0604020202020204" pitchFamily="34" charset="0"/>
                <a:buNone/>
                <a:defRPr/>
              </a:pPr>
              <a:r>
                <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rPr>
                <a:t>云端赋能与安全运营</a:t>
              </a:r>
              <a:endPar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endParaRPr>
            </a:p>
          </p:txBody>
        </p:sp>
      </p:grpSp>
      <p:pic>
        <p:nvPicPr>
          <p:cNvPr id="268" name="图片 267"/>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95573" y="3357245"/>
            <a:ext cx="1368000" cy="623071"/>
          </a:xfrm>
          <a:prstGeom prst="rect">
            <a:avLst/>
          </a:prstGeom>
        </p:spPr>
      </p:pic>
      <p:pic>
        <p:nvPicPr>
          <p:cNvPr id="269" name="图片 26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889240" y="4477385"/>
            <a:ext cx="704215" cy="492125"/>
          </a:xfrm>
          <a:prstGeom prst="rect">
            <a:avLst/>
          </a:prstGeom>
        </p:spPr>
      </p:pic>
      <p:pic>
        <p:nvPicPr>
          <p:cNvPr id="270" name="图片 269"/>
          <p:cNvPicPr>
            <a:picLocks noChangeAspect="1"/>
          </p:cNvPicPr>
          <p:nvPr/>
        </p:nvPicPr>
        <p:blipFill>
          <a:blip r:embed="rId9"/>
          <a:stretch>
            <a:fillRect/>
          </a:stretch>
        </p:blipFill>
        <p:spPr>
          <a:xfrm>
            <a:off x="8279130" y="4664710"/>
            <a:ext cx="151130" cy="16002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74" name="矩形 52"/>
          <p:cNvSpPr>
            <a:spLocks noChangeArrowheads="1"/>
          </p:cNvSpPr>
          <p:nvPr/>
        </p:nvSpPr>
        <p:spPr bwMode="auto">
          <a:xfrm>
            <a:off x="8374063" y="3836988"/>
            <a:ext cx="181102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潜伏威胁检测</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-STA</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75" name="文本框 274"/>
          <p:cNvSpPr txBox="1"/>
          <p:nvPr/>
        </p:nvSpPr>
        <p:spPr>
          <a:xfrm>
            <a:off x="734060" y="1175068"/>
            <a:ext cx="3878263"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fromWordArt="0" anchor="t" anchorCtr="0" forceAA="0" compatLnSpc="1">
            <a:spAutoFit/>
          </a:bodyPr>
          <a:p>
            <a:pPr lvl="0" algn="l"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云网端协同防御体系，安全工作效率显著提升</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nvSpPr>
        <p:spPr>
          <a:xfrm>
            <a:off x="1275398" y="2854325"/>
            <a:ext cx="1404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平台全网安全日志</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7" name="文本框 16"/>
          <p:cNvSpPr txBox="1"/>
          <p:nvPr/>
        </p:nvSpPr>
        <p:spPr>
          <a:xfrm>
            <a:off x="1335405" y="3100070"/>
            <a:ext cx="129984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8" name="文本框 277"/>
          <p:cNvSpPr txBox="1"/>
          <p:nvPr/>
        </p:nvSpPr>
        <p:spPr>
          <a:xfrm>
            <a:off x="1369695" y="3272790"/>
            <a:ext cx="1296000" cy="1835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1755071818846"/>
          <p:cNvPicPr>
            <a:picLocks noChangeAspect="1"/>
          </p:cNvPicPr>
          <p:nvPr/>
        </p:nvPicPr>
        <p:blipFill>
          <a:blip r:embed="rId19"/>
          <a:stretch>
            <a:fillRect/>
          </a:stretch>
        </p:blipFill>
        <p:spPr>
          <a:xfrm>
            <a:off x="630873" y="5719763"/>
            <a:ext cx="10940415" cy="801688"/>
          </a:xfrm>
          <a:prstGeom prst="rect">
            <a:avLst/>
          </a:prstGeom>
        </p:spPr>
      </p:pic>
      <p:sp>
        <p:nvSpPr>
          <p:cNvPr id="5" name="文本框 4"/>
          <p:cNvSpPr txBox="1"/>
          <p:nvPr/>
        </p:nvSpPr>
        <p:spPr>
          <a:xfrm>
            <a:off x="982663" y="5763260"/>
            <a:ext cx="201600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安全技术平台待提升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345"/>
            <a:ext cx="3177540" cy="689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443095" y="6056630"/>
            <a:ext cx="3621405" cy="5975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280400" y="6070600"/>
            <a:ext cx="3249295" cy="5842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647700" y="4977765"/>
            <a:ext cx="6139815" cy="614045"/>
          </a:xfrm>
          <a:prstGeom prst="rect">
            <a:avLst/>
          </a:prstGeom>
          <a:solidFill>
            <a:srgbClr val="EFF5FD">
              <a:alpha val="100000"/>
            </a:srgbClr>
          </a:solidFill>
          <a:ln w="0" cap="flat">
            <a:noFill/>
            <a:prstDash val="solid"/>
            <a:miter lim="0"/>
          </a:ln>
        </p:spPr>
        <p:txBody>
          <a:bodyPr vert="horz" wrap="square" lIns="0" tIns="0" rIns="0" bIns="0">
            <a:noAutofit/>
          </a:bodyPr>
          <a:lstStyle/>
          <a:p>
            <a:pPr lvl="0" algn="l" eaLnBrk="0">
              <a:lnSpc>
                <a:spcPct val="114000"/>
              </a:lnSpc>
            </a:pPr>
            <a:endParaRPr sz="500" dirty="0">
              <a:latin typeface="Arial" panose="020B0604020202020204"/>
              <a:ea typeface="Arial" panose="020B0604020202020204"/>
              <a:cs typeface="Arial" panose="020B0604020202020204"/>
              <a:sym typeface="+mn-ea"/>
            </a:endParaRPr>
          </a:p>
          <a:p>
            <a:pPr lvl="0" algn="l" eaLnBrk="0">
              <a:lnSpc>
                <a:spcPct val="114000"/>
              </a:lnSpc>
            </a:pPr>
            <a:endParaRPr sz="500" dirty="0">
              <a:latin typeface="Arial" panose="020B0604020202020204"/>
              <a:ea typeface="Arial" panose="020B0604020202020204"/>
              <a:cs typeface="Arial" panose="020B0604020202020204"/>
              <a:sym typeface="+mn-ea"/>
            </a:endParaRPr>
          </a:p>
        </p:txBody>
      </p:sp>
      <p:sp>
        <p:nvSpPr>
          <p:cNvPr id="6" name="文本框 5"/>
          <p:cNvSpPr txBox="1"/>
          <p:nvPr/>
        </p:nvSpPr>
        <p:spPr>
          <a:xfrm>
            <a:off x="1275715" y="4998085"/>
            <a:ext cx="5384165" cy="570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133350" algn="l" rtl="0" eaLnBrk="0">
              <a:lnSpc>
                <a:spcPct val="150000"/>
              </a:lnSpc>
              <a:spcBef>
                <a:spcPts val="5"/>
              </a:spcBef>
            </a:pP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安全设备不只是合规需求，更是提升运营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效率、减少人力成本的战</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略投资。通过平台化、自动化建设，</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有效降低了</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安全人力</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投入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提升安全响应效率约</a:t>
            </a:r>
            <a:r>
              <a:rPr lang="en-US"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,确保业务持续性不受安全事件影响。</a:t>
            </a:r>
            <a:endParaRPr kumimoji="0" lang="zh-CN" altLang="en-US" sz="10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28028" y="5039700"/>
            <a:ext cx="360000" cy="360000"/>
          </a:xfrm>
          <a:prstGeom prst="rect">
            <a:avLst/>
          </a:prstGeom>
        </p:spPr>
      </p:pic>
      <p:sp>
        <p:nvSpPr>
          <p:cNvPr id="7" name="文本框 6"/>
          <p:cNvSpPr txBox="1"/>
          <p:nvPr/>
        </p:nvSpPr>
        <p:spPr>
          <a:xfrm>
            <a:off x="3100705"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主机异常风险联动处置</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4990783" y="2240598"/>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服务器资产端点覆盖率</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3100705"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防火墙自动拦截率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文本框 10"/>
          <p:cNvSpPr txBox="1"/>
          <p:nvPr/>
        </p:nvSpPr>
        <p:spPr>
          <a:xfrm>
            <a:off x="4926013" y="164465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防火墙防护路径覆盖率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4926330" y="1905635"/>
            <a:ext cx="148653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00B05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文本框 14"/>
          <p:cNvSpPr txBox="1"/>
          <p:nvPr/>
        </p:nvSpPr>
        <p:spPr>
          <a:xfrm>
            <a:off x="4838700" y="2518410"/>
            <a:ext cx="171386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3089275" y="2858135"/>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聚合识别安全告警</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1" name="文本框 20"/>
          <p:cNvSpPr txBox="1"/>
          <p:nvPr/>
        </p:nvSpPr>
        <p:spPr>
          <a:xfrm>
            <a:off x="4958398" y="284734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智能研判识别安全事件</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2983865" y="3100070"/>
            <a:ext cx="165671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2" name="文本框 121"/>
          <p:cNvSpPr txBox="1"/>
          <p:nvPr/>
        </p:nvSpPr>
        <p:spPr>
          <a:xfrm>
            <a:off x="647700" y="3702368"/>
            <a:ext cx="6118543" cy="1015683"/>
          </a:xfrm>
          <a:prstGeom prst="rect">
            <a:avLst/>
          </a:prstGeom>
          <a:solidFill>
            <a:schemeClr val="accent5">
              <a:lumMod val="20000"/>
              <a:lumOff val="80000"/>
            </a:schemeClr>
          </a:solidFill>
        </p:spPr>
        <p:txBody>
          <a:bodyPr wrap="square" rtlCol="0" anchor="t">
            <a:noAutofit/>
          </a:bodyPr>
          <a:p>
            <a:pPr marL="133350" algn="l" rtl="0" eaLnBrk="0">
              <a:lnSpc>
                <a:spcPct val="150000"/>
              </a:lnSpc>
              <a:spcBef>
                <a:spcPts val="5"/>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安全组件运行状态智能监测</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AI</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安全平台，对连云的安全组件运行状态实现智能监控，及时识别设备运行异常、设备日志解析和同步异常、安全策略配置异常等风险</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总共检测到</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次安全组件网络连通性和</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次安全组件日志同步异常的风险告警以及</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次策略有效性告警，均及时预警和处置，保障</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了安全体系有效运行。</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925060" y="3100070"/>
            <a:ext cx="15417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3160554" y="3294063"/>
            <a:ext cx="1368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2</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5069840" y="3296285"/>
            <a:ext cx="1300480" cy="1581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文本框 31"/>
          <p:cNvSpPr txBox="1"/>
          <p:nvPr/>
        </p:nvSpPr>
        <p:spPr>
          <a:xfrm>
            <a:off x="4742815" y="2700655"/>
            <a:ext cx="1941195"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安装</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总量</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3" name="文本框 32"/>
          <p:cNvSpPr txBox="1"/>
          <p:nvPr/>
        </p:nvSpPr>
        <p:spPr>
          <a:xfrm>
            <a:off x="3243580" y="1902460"/>
            <a:ext cx="1049973"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altLang="zh-CN" sz="1400" b="1" spc="-30" dirty="0">
              <a:solidFill>
                <a:schemeClr val="accent6">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文本框 33"/>
          <p:cNvSpPr txBox="1"/>
          <p:nvPr/>
        </p:nvSpPr>
        <p:spPr>
          <a:xfrm>
            <a:off x="2803525" y="2510155"/>
            <a:ext cx="19989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5" name="文本框 34"/>
          <p:cNvSpPr txBox="1"/>
          <p:nvPr/>
        </p:nvSpPr>
        <p:spPr>
          <a:xfrm>
            <a:off x="3100388" y="2678113"/>
            <a:ext cx="1404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业务判白信任</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起</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6" name="图片 35" descr="盾牌"/>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4802" y="1777779"/>
            <a:ext cx="270000" cy="270000"/>
          </a:xfrm>
          <a:prstGeom prst="rect">
            <a:avLst/>
          </a:prstGeom>
        </p:spPr>
      </p:pic>
      <p:pic>
        <p:nvPicPr>
          <p:cNvPr id="37" name="图片 36" descr="电脑显示器主机"/>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9087" y="2379759"/>
            <a:ext cx="270000" cy="270000"/>
          </a:xfrm>
          <a:prstGeom prst="rect">
            <a:avLst/>
          </a:prstGeom>
        </p:spPr>
      </p:pic>
      <p:pic>
        <p:nvPicPr>
          <p:cNvPr id="38" name="图片 37" descr="网络安全"/>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15119" y="2987454"/>
            <a:ext cx="270000" cy="270000"/>
          </a:xfrm>
          <a:prstGeom prst="rect">
            <a:avLst/>
          </a:prstGeom>
        </p:spPr>
      </p:pic>
      <p:pic>
        <p:nvPicPr>
          <p:cNvPr id="40" name="图片 39" descr="深信服 + 智安全"/>
          <p:cNvPicPr>
            <a:picLocks noChangeAspect="1"/>
          </p:cNvPicPr>
          <p:nvPr/>
        </p:nvPicPr>
        <p:blipFill>
          <a:blip r:embed="rId28"/>
          <a:srcRect l="5232" t="26576" r="4938" b="29565"/>
          <a:stretch>
            <a:fillRect/>
          </a:stretch>
        </p:blipFill>
        <p:spPr>
          <a:xfrm>
            <a:off x="10017125" y="238760"/>
            <a:ext cx="1629867" cy="3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问题描述、根因分析、影响面评估、解决方案</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fontScale="90000"/>
          </a:bodyPr>
          <a:lstStyle/>
          <a:p>
            <a:r>
              <a:rPr lang="zh-CN" altLang="en-US">
                <a:solidFill>
                  <a:srgbClr val="4C61E7"/>
                </a:solidFill>
              </a:rPr>
              <a:t>关键问题与解决方案</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03</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6" name="table 726"/>
          <p:cNvGraphicFramePr>
            <a:graphicFrameLocks noGrp="1"/>
          </p:cNvGraphicFramePr>
          <p:nvPr>
            <p:custDataLst>
              <p:tags r:id="rId1"/>
            </p:custDataLst>
          </p:nvPr>
        </p:nvGraphicFramePr>
        <p:xfrm>
          <a:off x="647700" y="1197610"/>
          <a:ext cx="5037455" cy="2154555"/>
        </p:xfrm>
        <a:graphic>
          <a:graphicData uri="http://schemas.openxmlformats.org/drawingml/2006/table">
            <a:tbl>
              <a:tblPr>
                <a:solidFill>
                  <a:srgbClr val="FCF2F1"/>
                </a:solidFill>
              </a:tblPr>
              <a:tblGrid>
                <a:gridCol w="2543175"/>
                <a:gridCol w="2494280"/>
              </a:tblGrid>
              <a:tr h="2154555">
                <a:tc>
                  <a:txBody>
                    <a:bodyPr/>
                    <a:lstStyle/>
                    <a:p>
                      <a:pPr algn="l" rtl="0" eaLnBrk="0">
                        <a:lnSpc>
                          <a:spcPct val="6000"/>
                        </a:lnSpc>
                      </a:pPr>
                      <a:endParaRPr sz="1200" dirty="0">
                        <a:latin typeface="Arial" panose="020B0604020202020204"/>
                        <a:ea typeface="Arial" panose="020B0604020202020204"/>
                        <a:cs typeface="Arial" panose="020B0604020202020204"/>
                      </a:endParaRPr>
                    </a:p>
                    <a:p>
                      <a:pPr marL="24130" algn="l" rtl="0" eaLnBrk="0">
                        <a:lnSpc>
                          <a:spcPct val="150000"/>
                        </a:lnSpc>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业务系统安全漏洞与弱口令</a:t>
                      </a:r>
                      <a:endParaRPr sz="12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问题描述</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业务系统存在大量漏洞(456个)与弱口令</a:t>
                      </a: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(106个),修复周期长达3-6个月，形成</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持续性安全风险。</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60" dirty="0">
                          <a:solidFill>
                            <a:srgbClr val="000000">
                              <a:alpha val="100000"/>
                            </a:srgbClr>
                          </a:solidFill>
                          <a:latin typeface="黑体" panose="02010609060101010101" charset="-122"/>
                          <a:ea typeface="黑体" panose="02010609060101010101" charset="-122"/>
                          <a:cs typeface="黑体" panose="02010609060101010101" charset="-122"/>
                        </a:rPr>
                        <a:t>根因分析</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业务开发与部署流程缺</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乏安全验收环节，  </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rPr>
                        <a:t>运维人员安全意识不足，系统更新与业务</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运行存在冲突</a:t>
                      </a:r>
                      <a:r>
                        <a:rPr sz="600" kern="0" spc="-20" dirty="0">
                          <a:solidFill>
                            <a:srgbClr val="000000">
                              <a:alpha val="100000"/>
                            </a:srgbClr>
                          </a:solidFill>
                          <a:latin typeface="黑体" panose="02010609060101010101" charset="-122"/>
                          <a:ea typeface="黑体" panose="02010609060101010101" charset="-122"/>
                          <a:cs typeface="黑体" panose="02010609060101010101" charset="-122"/>
                        </a:rPr>
                        <a:t>。</a:t>
                      </a:r>
                      <a:endParaRPr sz="6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c>
                  <a:txBody>
                    <a:bodyPr/>
                    <a:lstStyle/>
                    <a:p>
                      <a:pPr algn="r" defTabSz="179705" rtl="0" eaLnBrk="0">
                        <a:lnSpc>
                          <a:spcPct val="131000"/>
                        </a:lnSpc>
                      </a:pPr>
                      <a:r>
                        <a:rPr sz="1200" kern="0" spc="-10" dirty="0">
                          <a:solidFill>
                            <a:srgbClr val="FF0000">
                              <a:alpha val="100000"/>
                            </a:srgbClr>
                          </a:solidFill>
                          <a:latin typeface="隶书" panose="02010509060101010101" charset="-122"/>
                          <a:ea typeface="隶书" panose="02010509060101010101" charset="-122"/>
                          <a:cs typeface="隶书" panose="02010509060101010101" charset="-122"/>
                        </a:rPr>
                        <a:t>优先级：高</a:t>
                      </a:r>
                      <a:endParaRPr sz="600" dirty="0">
                        <a:latin typeface="隶书" panose="02010509060101010101" charset="-122"/>
                        <a:ea typeface="隶书" panose="02010509060101010101" charset="-122"/>
                        <a:cs typeface="隶书" panose="020105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业务影响</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43180" indent="0" algn="l" rtl="0" eaLnBrk="0" fontAlgn="auto">
                        <a:lnSpc>
                          <a:spcPct val="11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·增加数据泄露风险</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，导致</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rPr>
                        <a:t>业务数据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泄露</a:t>
                      </a:r>
                      <a:endParaRPr sz="1000" dirty="0">
                        <a:latin typeface="黑体" panose="02010609060101010101" charset="-122"/>
                        <a:ea typeface="黑体" panose="02010609060101010101" charset="-122"/>
                        <a:cs typeface="黑体" panose="02010609060101010101" charset="-122"/>
                      </a:endParaRPr>
                    </a:p>
                    <a:p>
                      <a:pPr marL="53340" indent="-2540" algn="l" rtl="0" eaLnBrk="0" fontAlgn="auto">
                        <a:lnSpc>
                          <a:spcPct val="10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·系统被入侵概率</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rPr>
                        <a:t>大幅增加，潜在经济损失风险巨大；</a:t>
                      </a:r>
                      <a:endPar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解决方案</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00000"/>
                        </a:lnSpc>
                        <a:spcBef>
                          <a:spcPts val="600"/>
                        </a:spcBef>
                        <a:buClrTx/>
                        <a:buSzTx/>
                        <a:buFontTx/>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1、扩大7*24小时监测覆盖范围，对脆弱性利用行为快速发现，及时遏制，降低造成业务损失的风险</a:t>
                      </a:r>
                      <a:endParaRPr sz="1000" kern="0" spc="10" dirty="0">
                        <a:solidFill>
                          <a:srgbClr val="000000">
                            <a:alpha val="100000"/>
                          </a:srgbClr>
                        </a:solidFill>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r>
            </a:tbl>
          </a:graphicData>
        </a:graphic>
      </p:graphicFrame>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关键问题分析与解决方案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40" dirty="0">
                <a:solidFill>
                  <a:srgbClr val="000000">
                    <a:alpha val="100000"/>
                  </a:srgbClr>
                </a:solidFill>
                <a:latin typeface="黑体" panose="02010609060101010101" charset="-122"/>
                <a:ea typeface="黑体" panose="02010609060101010101" charset="-122"/>
                <a:cs typeface="黑体" panose="02010609060101010101" charset="-122"/>
                <a:sym typeface="+mn-ea"/>
              </a:rPr>
              <a:t>从业务价值分析安全挑战</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及后续安全</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a:t>
            </a:r>
            <a:r>
              <a:rPr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建议</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aphicFrame>
        <p:nvGraphicFramePr>
          <p:cNvPr id="2" name="table 726"/>
          <p:cNvGraphicFramePr>
            <a:graphicFrameLocks noGrp="1"/>
          </p:cNvGraphicFramePr>
          <p:nvPr>
            <p:custDataLst>
              <p:tags r:id="rId2"/>
            </p:custDataLst>
          </p:nvPr>
        </p:nvGraphicFramePr>
        <p:xfrm>
          <a:off x="6103620" y="1197610"/>
          <a:ext cx="5038090" cy="2154555"/>
        </p:xfrm>
        <a:graphic>
          <a:graphicData uri="http://schemas.openxmlformats.org/drawingml/2006/table">
            <a:tbl>
              <a:tblPr>
                <a:solidFill>
                  <a:srgbClr val="FCF2F1"/>
                </a:solidFill>
              </a:tblPr>
              <a:tblGrid>
                <a:gridCol w="2543810"/>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●业务资产互联网暴露过度</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问题描述</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23</a:t>
                      </a:r>
                      <a:r>
                        <a:rPr lang="zh-CN" altLang="en-US" sz="1000" dirty="0">
                          <a:latin typeface="黑体" panose="02010609060101010101" charset="-122"/>
                          <a:ea typeface="黑体" panose="02010609060101010101" charset="-122"/>
                          <a:cs typeface="黑体" panose="02010609060101010101" charset="-122"/>
                        </a:rPr>
                        <a:t>个业务资产对外存在互联网映射并且可</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被直接访问，其中包含</a:t>
                      </a:r>
                      <a:r>
                        <a:rPr lang="en-US" altLang="zh-CN" sz="1000" dirty="0">
                          <a:latin typeface="黑体" panose="02010609060101010101" charset="-122"/>
                          <a:ea typeface="黑体" panose="02010609060101010101" charset="-122"/>
                          <a:cs typeface="黑体" panose="02010609060101010101" charset="-122"/>
                        </a:rPr>
                        <a:t>19</a:t>
                      </a:r>
                      <a:r>
                        <a:rPr lang="zh-CN" altLang="en-US" sz="1000" dirty="0">
                          <a:latin typeface="黑体" panose="02010609060101010101" charset="-122"/>
                          <a:ea typeface="黑体" panose="02010609060101010101" charset="-122"/>
                          <a:cs typeface="黑体" panose="02010609060101010101" charset="-122"/>
                        </a:rPr>
                        <a:t>个高危端口和服</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务，成为攻击者首选目标。</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根因分析</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业务影响</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·攻击面扩大，被攻击概率</a:t>
                      </a:r>
                      <a:r>
                        <a:rPr lang="zh-CN" altLang="en-US" sz="1000" dirty="0">
                          <a:latin typeface="黑体" panose="02010609060101010101" charset="-122"/>
                          <a:ea typeface="黑体" panose="02010609060101010101" charset="-122"/>
                          <a:cs typeface="黑体" panose="02010609060101010101" charset="-122"/>
                        </a:rPr>
                        <a:t>大幅增加；</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·增加被监管通报风险，影响企业声誉；</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解决方案</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实施零信任访问架构，通过零信任/堡垒机规范远程访问，优化暴露面管理流程，对网络出口实施最小开放</a:t>
                      </a:r>
                      <a:r>
                        <a:rPr lang="zh-CN" altLang="en-US" sz="1000" dirty="0">
                          <a:latin typeface="黑体" panose="02010609060101010101" charset="-122"/>
                          <a:ea typeface="黑体" panose="02010609060101010101" charset="-122"/>
                          <a:cs typeface="黑体" panose="02010609060101010101" charset="-122"/>
                        </a:rPr>
                        <a:t>原则；</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持续监测互联网暴露面，及时发现潜在的暴露</a:t>
                      </a:r>
                      <a:r>
                        <a:rPr lang="zh-CN" altLang="en-US" sz="1000" dirty="0">
                          <a:latin typeface="黑体" panose="02010609060101010101" charset="-122"/>
                          <a:ea typeface="黑体" panose="02010609060101010101" charset="-122"/>
                          <a:cs typeface="黑体" panose="02010609060101010101" charset="-122"/>
                        </a:rPr>
                        <a:t>风险。</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r>
            </a:tbl>
          </a:graphicData>
        </a:graphic>
      </p:graphicFrame>
      <p:graphicFrame>
        <p:nvGraphicFramePr>
          <p:cNvPr id="3" name="table 726"/>
          <p:cNvGraphicFramePr>
            <a:graphicFrameLocks noGrp="1"/>
          </p:cNvGraphicFramePr>
          <p:nvPr>
            <p:custDataLst>
              <p:tags r:id="rId3"/>
            </p:custDataLst>
          </p:nvPr>
        </p:nvGraphicFramePr>
        <p:xfrm>
          <a:off x="64770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关键业务系统防护盲区</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a:t>
                      </a: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系统等</a:t>
                      </a:r>
                      <a:r>
                        <a:rPr lang="en-US" altLang="zh-CN" sz="1000" dirty="0">
                          <a:latin typeface="黑体" panose="02010609060101010101" charset="-122"/>
                          <a:ea typeface="黑体" panose="02010609060101010101" charset="-122"/>
                          <a:cs typeface="黑体" panose="02010609060101010101" charset="-122"/>
                        </a:rPr>
                        <a:t>X</a:t>
                      </a:r>
                      <a:r>
                        <a:rPr lang="zh-CN" altLang="en-US" sz="1000" dirty="0">
                          <a:latin typeface="黑体" panose="02010609060101010101" charset="-122"/>
                          <a:ea typeface="黑体" panose="02010609060101010101" charset="-122"/>
                          <a:cs typeface="黑体" panose="02010609060101010101" charset="-122"/>
                        </a:rPr>
                        <a:t>个核心业务系统未纳入</a:t>
                      </a:r>
                      <a:r>
                        <a:rPr lang="en-US" altLang="zh-CN" sz="1000" dirty="0">
                          <a:latin typeface="黑体" panose="02010609060101010101" charset="-122"/>
                          <a:ea typeface="黑体" panose="02010609060101010101" charset="-122"/>
                          <a:cs typeface="黑体" panose="02010609060101010101" charset="-122"/>
                        </a:rPr>
                        <a:t>7*24</a:t>
                      </a:r>
                      <a:r>
                        <a:rPr lang="zh-CN" altLang="en-US" sz="1000" dirty="0">
                          <a:latin typeface="黑体" panose="02010609060101010101" charset="-122"/>
                          <a:ea typeface="黑体" panose="02010609060101010101" charset="-122"/>
                          <a:cs typeface="黑体" panose="02010609060101010101" charset="-122"/>
                        </a:rPr>
                        <a:t>小时保障范围，缺乏实时监控与</a:t>
                      </a:r>
                      <a:r>
                        <a:rPr lang="zh-CN" altLang="en-US" sz="1000" dirty="0">
                          <a:latin typeface="黑体" panose="02010609060101010101" charset="-122"/>
                          <a:ea typeface="黑体" panose="02010609060101010101" charset="-122"/>
                          <a:cs typeface="黑体" panose="02010609060101010101" charset="-122"/>
                        </a:rPr>
                        <a:t>响应。</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系统缺少端点安全保护组件，无法应对钓鱼等高级威胁手段，发生异常时不能及时</a:t>
                      </a:r>
                      <a:r>
                        <a:rPr lang="zh-CN" altLang="en-US" sz="1000" dirty="0">
                          <a:latin typeface="黑体" panose="02010609060101010101" charset="-122"/>
                          <a:ea typeface="黑体" panose="02010609060101010101" charset="-122"/>
                          <a:cs typeface="黑体" panose="02010609060101010101" charset="-122"/>
                        </a:rPr>
                        <a:t>处置</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·业务核心系统存在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安全盲区，可能</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导致安全入侵无法主动发现，造成业务损失</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06000"/>
                        </a:lnSpc>
                        <a:spcBef>
                          <a:spcPts val="13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·员工和客户数据保</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护不足，</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增</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加</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合规风险</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1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响应滞后</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，响应时间延长</a:t>
                      </a:r>
                      <a:endParaRPr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lang="en-US" altLang="zh-CN" sz="1000" dirty="0">
                          <a:latin typeface="黑体" panose="02010609060101010101" charset="-122"/>
                          <a:ea typeface="黑体" panose="02010609060101010101" charset="-122"/>
                          <a:cs typeface="黑体" panose="02010609060101010101" charset="-122"/>
                          <a:sym typeface="+mn-ea"/>
                        </a:rPr>
                        <a:t>扩大安全运营覆盖范围，为关键业务系统部署专项防护，并建立业务资产自动发现与安全纳管机制。</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r>
            </a:tbl>
          </a:graphicData>
        </a:graphic>
      </p:graphicFrame>
      <p:graphicFrame>
        <p:nvGraphicFramePr>
          <p:cNvPr id="4" name="table 726"/>
          <p:cNvGraphicFramePr>
            <a:graphicFrameLocks noGrp="1"/>
          </p:cNvGraphicFramePr>
          <p:nvPr>
            <p:custDataLst>
              <p:tags r:id="rId4"/>
            </p:custDataLst>
          </p:nvPr>
        </p:nvGraphicFramePr>
        <p:xfrm>
          <a:off x="610362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200" b="1" kern="0" spc="20" dirty="0">
                          <a:solidFill>
                            <a:srgbClr val="000000">
                              <a:alpha val="100000"/>
                            </a:srgbClr>
                          </a:solidFill>
                          <a:latin typeface="黑体" panose="02010609060101010101" charset="-122"/>
                          <a:ea typeface="黑体" panose="02010609060101010101" charset="-122"/>
                          <a:cs typeface="黑体" panose="02010609060101010101" charset="-122"/>
                        </a:rPr>
                        <a:t>安全事件监测与处置流程效率低</a:t>
                      </a:r>
                      <a:endParaRPr lang="en-US" altLang="zh-CN"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事件监测主要依赖网络侧</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流量，缺乏终端</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侧监控，导致安全事件发</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现不全面，处置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效率低下</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终端防护部署不足，监测技术单一，自动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化响应流程缺失，导</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致大量人工处置工</a:t>
                      </a:r>
                      <a:r>
                        <a:rPr lang="zh-CN" altLang="en-US" sz="1000" dirty="0">
                          <a:latin typeface="黑体" panose="02010609060101010101" charset="-122"/>
                          <a:ea typeface="黑体" panose="02010609060101010101" charset="-122"/>
                          <a:cs typeface="黑体" panose="02010609060101010101" charset="-122"/>
                        </a:rPr>
                        <a:t>。</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c>
                  <a:txBody>
                    <a:bodyPr/>
                    <a:p>
                      <a:pPr algn="r" rtl="0" eaLnBrk="0">
                        <a:lnSpc>
                          <a:spcPct val="131000"/>
                        </a:lnSpc>
                      </a:pPr>
                      <a:r>
                        <a:rPr lang="en-US" sz="1200" kern="0" spc="-10" dirty="0">
                          <a:solidFill>
                            <a:srgbClr val="00B050">
                              <a:alpha val="100000"/>
                            </a:srgbClr>
                          </a:solidFill>
                          <a:latin typeface="隶书" panose="02010509060101010101" charset="-122"/>
                          <a:ea typeface="隶书" panose="02010509060101010101" charset="-122"/>
                          <a:cs typeface="隶书" panose="02010509060101010101" charset="-122"/>
                        </a:rPr>
                        <a:t> </a:t>
                      </a:r>
                      <a:r>
                        <a:rPr sz="1200" kern="0" spc="-10" dirty="0">
                          <a:solidFill>
                            <a:srgbClr val="00B050">
                              <a:alpha val="100000"/>
                            </a:srgbClr>
                          </a:solidFill>
                          <a:latin typeface="隶书" panose="02010509060101010101" charset="-122"/>
                          <a:ea typeface="隶书" panose="02010509060101010101" charset="-122"/>
                          <a:cs typeface="隶书" panose="02010509060101010101" charset="-122"/>
                        </a:rPr>
                        <a:t>优先级：</a:t>
                      </a:r>
                      <a:r>
                        <a:rPr lang="zh-CN" sz="1200" kern="0" spc="-10" dirty="0">
                          <a:solidFill>
                            <a:srgbClr val="00B050">
                              <a:alpha val="100000"/>
                            </a:srgbClr>
                          </a:solidFill>
                          <a:latin typeface="隶书" panose="02010509060101010101" charset="-122"/>
                          <a:ea typeface="隶书" panose="02010509060101010101" charset="-122"/>
                          <a:cs typeface="隶书" panose="02010509060101010101" charset="-122"/>
                        </a:rPr>
                        <a:t>低</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a:t>
                      </a:r>
                      <a:r>
                        <a:rPr lang="zh-CN" altLang="en-US" sz="1000" b="0" dirty="0">
                          <a:latin typeface="黑体" panose="02010609060101010101" charset="-122"/>
                          <a:ea typeface="黑体" panose="02010609060101010101" charset="-122"/>
                          <a:cs typeface="黑体" panose="02010609060101010101" charset="-122"/>
                        </a:rPr>
                        <a:t>安全事件平均处置时间近</a:t>
                      </a:r>
                      <a:r>
                        <a:rPr lang="en-US" altLang="zh-CN" sz="1000" b="0" dirty="0">
                          <a:latin typeface="黑体" panose="02010609060101010101" charset="-122"/>
                          <a:ea typeface="黑体" panose="02010609060101010101" charset="-122"/>
                          <a:cs typeface="黑体" panose="02010609060101010101" charset="-122"/>
                        </a:rPr>
                        <a:t>10</a:t>
                      </a:r>
                      <a:r>
                        <a:rPr lang="zh-CN" altLang="en-US" sz="1000" b="0" dirty="0">
                          <a:latin typeface="黑体" panose="02010609060101010101" charset="-122"/>
                          <a:ea typeface="黑体" panose="02010609060101010101" charset="-122"/>
                          <a:cs typeface="黑体" panose="02010609060101010101" charset="-122"/>
                        </a:rPr>
                        <a:t>小时，影响</a:t>
                      </a:r>
                      <a:r>
                        <a:rPr lang="zh-CN" altLang="en-US" sz="1000" b="0" dirty="0">
                          <a:latin typeface="黑体" panose="02010609060101010101" charset="-122"/>
                          <a:ea typeface="黑体" panose="02010609060101010101" charset="-122"/>
                          <a:cs typeface="黑体" panose="02010609060101010101" charset="-122"/>
                        </a:rPr>
                        <a:t>业务连续性</a:t>
                      </a:r>
                      <a:endParaRPr lang="zh-CN" altLang="en-US" sz="1000" b="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·IT </a:t>
                      </a:r>
                      <a:r>
                        <a:rPr lang="zh-CN" altLang="en-US" sz="1000" b="0" dirty="0">
                          <a:latin typeface="黑体" panose="02010609060101010101" charset="-122"/>
                          <a:ea typeface="黑体" panose="02010609060101010101" charset="-122"/>
                          <a:cs typeface="黑体" panose="02010609060101010101" charset="-122"/>
                        </a:rPr>
                        <a:t>运维团队处置负担重，人力成本</a:t>
                      </a:r>
                      <a:r>
                        <a:rPr lang="zh-CN" altLang="en-US" sz="1000" b="0" dirty="0">
                          <a:latin typeface="黑体" panose="02010609060101010101" charset="-122"/>
                          <a:ea typeface="黑体" panose="02010609060101010101" charset="-122"/>
                          <a:cs typeface="黑体" panose="02010609060101010101" charset="-122"/>
                        </a:rPr>
                        <a:t>增加</a:t>
                      </a:r>
                      <a:endParaRPr lang="zh-CN" altLang="en-US" sz="1000" b="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部署</a:t>
                      </a:r>
                      <a:r>
                        <a:rPr sz="1000" b="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EDR</a:t>
                      </a:r>
                      <a:r>
                        <a:rPr sz="1000" b="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解决方案，强化终端</a:t>
                      </a:r>
                      <a:r>
                        <a:rPr sz="1000" b="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监控能力，建立自动化响应流程，预计可提</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升处置效率</a:t>
                      </a:r>
                      <a:r>
                        <a:rPr lang="en-US"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70</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r>
            </a:tbl>
          </a:graphicData>
        </a:graphic>
      </p:graphicFrame>
      <p:pic>
        <p:nvPicPr>
          <p:cNvPr id="5" name="图片 4" descr="1755143421298"/>
          <p:cNvPicPr>
            <a:picLocks noChangeAspect="1"/>
          </p:cNvPicPr>
          <p:nvPr/>
        </p:nvPicPr>
        <p:blipFill>
          <a:blip r:embed="rId5"/>
          <a:stretch>
            <a:fillRect/>
          </a:stretch>
        </p:blipFill>
        <p:spPr>
          <a:xfrm>
            <a:off x="647700" y="5785485"/>
            <a:ext cx="10494010" cy="779145"/>
          </a:xfrm>
          <a:prstGeom prst="rect">
            <a:avLst/>
          </a:prstGeom>
        </p:spPr>
      </p:pic>
      <p:sp>
        <p:nvSpPr>
          <p:cNvPr id="8" name="文本框 7"/>
          <p:cNvSpPr txBox="1"/>
          <p:nvPr/>
        </p:nvSpPr>
        <p:spPr>
          <a:xfrm>
            <a:off x="860425" y="5889943"/>
            <a:ext cx="10148570" cy="570230"/>
          </a:xfrm>
          <a:prstGeom prst="rect">
            <a:avLst/>
          </a:prstGeom>
          <a:noFill/>
        </p:spPr>
        <p:txBody>
          <a:bodyPr wrap="square" rtlCol="0" anchor="t">
            <a:noAutofit/>
          </a:bodyPr>
          <a:p>
            <a:pPr indent="0" fontAlgn="auto">
              <a:spcBef>
                <a:spcPts val="600"/>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决策建议</a:t>
            </a:r>
            <a:endParaRPr lang="zh-CN" sz="1000" b="1"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indent="0" fontAlgn="auto">
              <a:spcBef>
                <a:spcPts val="600"/>
              </a:spcBef>
            </a:pP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结合企业经营现状和业务发展目标，建议系统性规划各园区网络架构的统一建设，逐渐实施</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IT</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系统智能化运营，跟专业的安全团队加强合作互信，高性价比的获得完善的安全运营</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 name="图片 8"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安全</a:t>
            </a:r>
            <a:r>
              <a:rPr lang="zh-CN" altLang="en-US" sz="1600"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工作重点</a:t>
            </a:r>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投入方向</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下</a:t>
            </a:r>
            <a:r>
              <a:rPr lang="zh-CN" altLang="en-US">
                <a:solidFill>
                  <a:srgbClr val="4C61E7"/>
                </a:solidFill>
              </a:rPr>
              <a:t>阶段工作规划</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04</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buClrTx/>
              <a:buSzTx/>
              <a:buFontTx/>
            </a:pPr>
            <a:r>
              <a:rPr lang="zh-CN" altLang="en-US" sz="1900" kern="0" dirty="0">
                <a:solidFill>
                  <a:srgbClr val="4C61E7"/>
                </a:solidFill>
                <a:latin typeface="黑体" panose="02010609060101010101" charset="-122"/>
                <a:ea typeface="黑体" panose="02010609060101010101" charset="-122"/>
                <a:cs typeface="黑体" panose="02010609060101010101" charset="-122"/>
              </a:rPr>
              <a:t>下阶段工作规划</a:t>
            </a:r>
            <a:endParaRPr lang="zh-CN" altLang="en-US" sz="1900" kern="0" dirty="0">
              <a:solidFill>
                <a:srgbClr val="4C61E7"/>
              </a:solidFill>
              <a:latin typeface="黑体" panose="02010609060101010101" charset="-122"/>
              <a:ea typeface="黑体" panose="02010609060101010101" charset="-122"/>
              <a:cs typeface="黑体" panose="02010609060101010101" charset="-122"/>
            </a:endParaRPr>
          </a:p>
          <a:p>
            <a:pPr marL="15875" algn="l" rtl="0" eaLnBrk="0">
              <a:lnSpc>
                <a:spcPct val="98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以业务需求为导向，</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提供精准安全</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工作投入建议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，实现安全与业务双赢</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 name="textbox 746"/>
          <p:cNvSpPr/>
          <p:nvPr/>
        </p:nvSpPr>
        <p:spPr>
          <a:xfrm>
            <a:off x="647700" y="1189990"/>
            <a:ext cx="3966845" cy="4925695"/>
          </a:xfrm>
          <a:prstGeom prst="rect">
            <a:avLst/>
          </a:prstGeom>
          <a:solidFill>
            <a:srgbClr val="EFF6FD">
              <a:alpha val="100000"/>
            </a:srgbClr>
          </a:solidFill>
          <a:ln w="0" cap="flat">
            <a:noFill/>
            <a:prstDash val="solid"/>
            <a:miter lim="0"/>
          </a:ln>
        </p:spPr>
        <p:txBody>
          <a:bodyPr vert="horz" wrap="square" lIns="0" tIns="0" rIns="0" bIns="0"/>
          <a:p>
            <a:pPr marL="127000" algn="l" rtl="0" eaLnBrk="0">
              <a:lnSpc>
                <a:spcPct val="100000"/>
              </a:lnSpc>
              <a:spcBef>
                <a:spcPts val="975"/>
              </a:spcBef>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4687570" y="1189990"/>
            <a:ext cx="6959600" cy="196088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4824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新增能力建设规划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3" name="textbox 748"/>
          <p:cNvSpPr/>
          <p:nvPr/>
        </p:nvSpPr>
        <p:spPr>
          <a:xfrm>
            <a:off x="4687570" y="4667250"/>
            <a:ext cx="6959600" cy="1448435"/>
          </a:xfrm>
          <a:prstGeom prst="rect">
            <a:avLst/>
          </a:prstGeom>
          <a:solidFill>
            <a:srgbClr val="F1F5FD">
              <a:alpha val="100000"/>
            </a:srgbClr>
          </a:solidFill>
          <a:ln w="0" cap="flat">
            <a:noFill/>
            <a:prstDash val="solid"/>
            <a:miter lim="0"/>
          </a:ln>
        </p:spPr>
        <p:txBody>
          <a:bodyPr vert="horz" wrap="square" lIns="0" tIns="0" rIns="0" bIns="0"/>
          <a:p>
            <a:pPr indent="457200" algn="l" rtl="0" eaLnBrk="0">
              <a:lnSpc>
                <a:spcPct val="111000"/>
              </a:lnSpc>
            </a:pPr>
            <a:endParaRPr sz="600" dirty="0">
              <a:latin typeface="黑体" panose="02010609060101010101" charset="-122"/>
              <a:ea typeface="黑体" panose="02010609060101010101" charset="-122"/>
              <a:cs typeface="黑体" panose="02010609060101010101" charset="-122"/>
            </a:endParaRPr>
          </a:p>
        </p:txBody>
      </p:sp>
      <p:sp>
        <p:nvSpPr>
          <p:cNvPr id="5" name="Text 2"/>
          <p:cNvSpPr/>
          <p:nvPr/>
        </p:nvSpPr>
        <p:spPr>
          <a:xfrm>
            <a:off x="760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重点工作时间</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计划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9" name="文本框 8"/>
          <p:cNvSpPr txBox="1"/>
          <p:nvPr/>
        </p:nvSpPr>
        <p:spPr>
          <a:xfrm>
            <a:off x="770890" y="1522730"/>
            <a:ext cx="3779520" cy="1030605"/>
          </a:xfrm>
          <a:prstGeom prst="rect">
            <a:avLst/>
          </a:prstGeom>
          <a:noFill/>
        </p:spPr>
        <p:txBody>
          <a:bodyPr wrap="square" rtlCol="0" anchor="t">
            <a:no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脆弱性管理：</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对服务资产</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漏洞</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复测</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分析新增漏洞情况，梳理高风险漏洞</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跟进修复情况，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制定未闭环漏洞风险削减措施</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监测弱口令情况，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重点关注</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外网高权限</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及</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管理员账号的弱口令进行跟进修复。</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1" name="文本框 10"/>
          <p:cNvSpPr txBox="1"/>
          <p:nvPr/>
        </p:nvSpPr>
        <p:spPr>
          <a:xfrm>
            <a:off x="760730" y="2626360"/>
            <a:ext cx="3779520" cy="87566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暴露面风险处置</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对新增的暴露面风险进行验证和确认，暴露面监测持续开展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每月开展一次暴露面威胁狩猎，即使发现潜在的安全漏洞</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对已发现的外网应用系统漏洞的防护方案和漏洞修复方案做跟进、验证效果</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2" name="文本框 11"/>
          <p:cNvSpPr txBox="1"/>
          <p:nvPr/>
        </p:nvSpPr>
        <p:spPr>
          <a:xfrm>
            <a:off x="760730" y="3575050"/>
            <a:ext cx="3778885" cy="124523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威胁&amp;</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事件</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管理：</a:t>
            </a:r>
            <a:endParaRPr lang="en-US" sz="10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持续监测互联网外部的网络攻击行为，对内外网威胁提供有效处置闭环方法或远程上机排查。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按需推送行业安全威胁情报，并检测单位内部资产命中威胁的情况，并反馈单位内部排查。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对安全组件</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每月执行</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 </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次策略检查，发现策略隐患</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并及时加固</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3" name="Text 2"/>
          <p:cNvSpPr/>
          <p:nvPr/>
        </p:nvSpPr>
        <p:spPr>
          <a:xfrm>
            <a:off x="4824730" y="466725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决策</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建议</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4687570" y="3213100"/>
            <a:ext cx="6959600" cy="138684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Text 2"/>
          <p:cNvSpPr/>
          <p:nvPr/>
        </p:nvSpPr>
        <p:spPr>
          <a:xfrm>
            <a:off x="4824730" y="321310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预期</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收益</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61365" y="4893310"/>
            <a:ext cx="3778885" cy="982345"/>
          </a:xfrm>
          <a:prstGeom prst="rect">
            <a:avLst/>
          </a:prstGeom>
          <a:noFill/>
        </p:spPr>
        <p:txBody>
          <a:bodyPr wrap="square" rtlCol="0" anchor="t">
            <a:noAutofit/>
          </a:bodyPr>
          <a:p>
            <a:pPr marL="0" algn="l">
              <a:lnSpc>
                <a:spcPct val="150000"/>
              </a:lnSpc>
              <a:buClrTx/>
              <a:buSzTx/>
              <a:buFontTx/>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安全响应能力提升</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设备版本升级，提高边界安全防护能力；</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增加服务器和端点</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 name="文本框 16"/>
          <p:cNvSpPr txBox="1"/>
          <p:nvPr/>
        </p:nvSpPr>
        <p:spPr>
          <a:xfrm>
            <a:off x="4824730" y="1584325"/>
            <a:ext cx="2214245" cy="600075"/>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端点安全保护能力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端点防护覆盖全部服务器资产和办公</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资产</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8" name="文本框 17"/>
          <p:cNvSpPr txBox="1"/>
          <p:nvPr/>
        </p:nvSpPr>
        <p:spPr>
          <a:xfrm>
            <a:off x="4824730" y="5067300"/>
            <a:ext cx="6096000" cy="1014730"/>
          </a:xfrm>
          <a:prstGeom prst="rect">
            <a:avLst/>
          </a:prstGeom>
          <a:noFill/>
        </p:spPr>
        <p:txBody>
          <a:bodyPr wrap="square" rtlCol="0" anchor="t">
            <a:spAutoFit/>
          </a:bodyPr>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优先落地互联网暴露面最小化原则，减少不必要的暴露面引入的入侵</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鉴于各园区安全运维能力薄弱，人力不足，可以优先</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考虑增加服务器和端点</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3</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、长期布局：综合多园区统一网络架构规划设计，进一步提高</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IT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投入的精准度和维护效率。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9" name="文本框 18"/>
          <p:cNvSpPr txBox="1"/>
          <p:nvPr/>
        </p:nvSpPr>
        <p:spPr>
          <a:xfrm>
            <a:off x="4824730" y="3545840"/>
            <a:ext cx="6524625" cy="783590"/>
          </a:xfrm>
          <a:prstGeom prst="rect">
            <a:avLst/>
          </a:prstGeom>
          <a:noFill/>
        </p:spPr>
        <p:txBody>
          <a:bodyPr wrap="square" rtlCol="0" anchor="t">
            <a:sp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收敛暴露面和完善脆弱性闭环机制后，可进一步降低互联网业务被入侵导致的数据泄露以及企业声誉受损的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增加端点安全能力，有效识别人员安全意识薄弱带来的钓鱼、高级威胁入侵等新型攻击手段，可有效避免勒索、网络诈骗等高危风险的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扩散</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0" name="文本框 19"/>
          <p:cNvSpPr txBox="1"/>
          <p:nvPr/>
        </p:nvSpPr>
        <p:spPr>
          <a:xfrm>
            <a:off x="4824730" y="2185035"/>
            <a:ext cx="2214245" cy="718820"/>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基础网络</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准入能力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针对园区弱电间等隐蔽设施实施网络端口准入策略，限制非认证终端接入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网络</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1" name="文本框 20"/>
          <p:cNvSpPr txBox="1"/>
          <p:nvPr/>
        </p:nvSpPr>
        <p:spPr>
          <a:xfrm>
            <a:off x="7567295" y="1522730"/>
            <a:ext cx="2214245" cy="600075"/>
          </a:xfrm>
          <a:prstGeom prst="rect">
            <a:avLst/>
          </a:prstGeom>
          <a:noFill/>
        </p:spPr>
        <p:txBody>
          <a:bodyPr wrap="square" rtlCol="0" anchor="t">
            <a:noAutofit/>
          </a:bodyPr>
          <a:p>
            <a:pPr marL="0" indent="0" algn="l">
              <a:lnSpc>
                <a:spcPct val="150000"/>
              </a:lnSpc>
              <a:buNone/>
            </a:pP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智能响应能力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根据企业业务特点，引入</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智能体，大幅提升安全运营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in title Main title"/>
          <p:cNvSpPr txBox="1"/>
          <p:nvPr>
            <p:custDataLst>
              <p:tags r:id="rId1"/>
            </p:custDataLst>
          </p:nvPr>
        </p:nvSpPr>
        <p:spPr>
          <a:xfrm>
            <a:off x="265418" y="194652"/>
            <a:ext cx="10123182" cy="381001"/>
          </a:xfrm>
          <a:prstGeom prst="rect">
            <a:avLst/>
          </a:prstGeom>
        </p:spPr>
        <p:txBody>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0" marR="0" lvl="0" indent="0" algn="l" defTabSz="825500" rtl="0" eaLnBrk="1" fontAlgn="auto" latinLnBrk="0" hangingPunct="1">
              <a:lnSpc>
                <a:spcPct val="100000"/>
              </a:lnSpc>
              <a:spcBef>
                <a:spcPts val="0"/>
              </a:spcBef>
              <a:spcAft>
                <a:spcPts val="0"/>
              </a:spcAft>
              <a:buClrTx/>
              <a:buSzTx/>
              <a:buFontTx/>
              <a:buNone/>
              <a:defRPr/>
            </a:pPr>
            <a:r>
              <a:rPr lang="zh-CN" altLang="en-US" sz="2400" noProof="0" dirty="0">
                <a:solidFill>
                  <a:srgbClr val="4C61E7"/>
                </a:solidFill>
                <a:uLnTx/>
                <a:latin typeface="Calibri" panose="020F0502020204030204" charset="0"/>
                <a:ea typeface="微软雅黑" panose="020B0503020204020204" charset="-122"/>
                <a:sym typeface="Calibri" panose="020F0502020204030204" charset="0"/>
              </a:rPr>
              <a:t>安全运营技术架构升级</a:t>
            </a:r>
            <a:endParaRPr lang="zh-CN" altLang="en-US" sz="2400" noProof="0" dirty="0">
              <a:solidFill>
                <a:srgbClr val="4C61E7"/>
              </a:solidFill>
              <a:uLnTx/>
              <a:latin typeface="Calibri" panose="020F0502020204030204" charset="0"/>
              <a:ea typeface="微软雅黑" panose="020B0503020204020204" charset="-122"/>
              <a:sym typeface="Calibri" panose="020F0502020204030204" charset="0"/>
            </a:endParaRPr>
          </a:p>
        </p:txBody>
      </p:sp>
      <p:grpSp>
        <p:nvGrpSpPr>
          <p:cNvPr id="559" name="组合 558"/>
          <p:cNvGrpSpPr/>
          <p:nvPr/>
        </p:nvGrpSpPr>
        <p:grpSpPr>
          <a:xfrm>
            <a:off x="1922463" y="2857183"/>
            <a:ext cx="2002155" cy="1808163"/>
            <a:chOff x="17126" y="6499"/>
            <a:chExt cx="6306" cy="5695"/>
          </a:xfrm>
        </p:grpSpPr>
        <p:sp>
          <p:nvSpPr>
            <p:cNvPr id="560" name="圆角矩形 264"/>
            <p:cNvSpPr/>
            <p:nvPr>
              <p:custDataLst>
                <p:tags r:id="rId2"/>
              </p:custDataLst>
            </p:nvPr>
          </p:nvSpPr>
          <p:spPr>
            <a:xfrm>
              <a:off x="17237" y="6857"/>
              <a:ext cx="6177" cy="5337"/>
            </a:xfrm>
            <a:prstGeom prst="roundRect">
              <a:avLst>
                <a:gd name="adj" fmla="val 4717"/>
              </a:avLst>
            </a:prstGeom>
            <a:solidFill>
              <a:schemeClr val="accent1">
                <a:lumMod val="20000"/>
                <a:lumOff val="80000"/>
              </a:schemeClr>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561" name="直接连接符 560"/>
            <p:cNvCxnSpPr/>
            <p:nvPr>
              <p:custDataLst>
                <p:tags r:id="rId3"/>
              </p:custDataLst>
            </p:nvPr>
          </p:nvCxnSpPr>
          <p:spPr>
            <a:xfrm rot="5400000">
              <a:off x="20965" y="8649"/>
              <a:ext cx="514" cy="5"/>
            </a:xfrm>
            <a:prstGeom prst="line">
              <a:avLst/>
            </a:prstGeom>
            <a:noFill/>
            <a:ln w="25400" cap="flat" cmpd="sng" algn="ctr">
              <a:solidFill>
                <a:srgbClr val="184199"/>
              </a:solidFill>
              <a:prstDash val="solid"/>
              <a:miter lim="800000"/>
            </a:ln>
            <a:effectLst/>
          </p:spPr>
        </p:cxnSp>
        <p:cxnSp>
          <p:nvCxnSpPr>
            <p:cNvPr id="562" name="直接连接符 561"/>
            <p:cNvCxnSpPr/>
            <p:nvPr>
              <p:custDataLst>
                <p:tags r:id="rId4"/>
              </p:custDataLst>
            </p:nvPr>
          </p:nvCxnSpPr>
          <p:spPr>
            <a:xfrm rot="16200000" flipH="1">
              <a:off x="18712" y="8747"/>
              <a:ext cx="706" cy="0"/>
            </a:xfrm>
            <a:prstGeom prst="line">
              <a:avLst/>
            </a:prstGeom>
            <a:noFill/>
            <a:ln w="25400" cap="flat" cmpd="sng" algn="ctr">
              <a:solidFill>
                <a:srgbClr val="184199"/>
              </a:solidFill>
              <a:prstDash val="solid"/>
              <a:miter lim="800000"/>
            </a:ln>
            <a:effectLst/>
          </p:spPr>
        </p:cxnSp>
        <p:grpSp>
          <p:nvGrpSpPr>
            <p:cNvPr id="563" name="组合 267"/>
            <p:cNvGrpSpPr/>
            <p:nvPr/>
          </p:nvGrpSpPr>
          <p:grpSpPr bwMode="auto">
            <a:xfrm rot="0">
              <a:off x="17718" y="9923"/>
              <a:ext cx="4724" cy="1458"/>
              <a:chOff x="6320702" y="3308854"/>
              <a:chExt cx="3316375" cy="917306"/>
            </a:xfrm>
          </p:grpSpPr>
          <p:pic>
            <p:nvPicPr>
              <p:cNvPr id="564" name="Picture 7" descr="C:\Users\Abject-3D\Desktop\VMWare Files\FINAL diagrams\Basic Virtualization\3D PNGs\DGRM_UpdateManager_OfflineVM_Q210_R1_Comm-(2)_6.png"/>
              <p:cNvPicPr>
                <a:picLocks noChangeAspect="1" noChangeArrowheads="1"/>
              </p:cNvPicPr>
              <p:nvPr>
                <p:custDataLst>
                  <p:tags r:id="rId5"/>
                </p:custDataLst>
              </p:nvPr>
            </p:nvPicPr>
            <p:blipFill>
              <a:blip r:embed="rId6" cstate="email"/>
              <a:srcRect/>
              <a:stretch>
                <a:fillRect/>
              </a:stretch>
            </p:blipFill>
            <p:spPr bwMode="auto">
              <a:xfrm>
                <a:off x="7226335" y="3548581"/>
                <a:ext cx="842013" cy="347144"/>
              </a:xfrm>
              <a:prstGeom prst="rect">
                <a:avLst/>
              </a:prstGeom>
              <a:noFill/>
              <a:ln w="9525">
                <a:noFill/>
                <a:miter lim="800000"/>
                <a:headEnd/>
                <a:tailEnd/>
              </a:ln>
            </p:spPr>
          </p:pic>
          <p:pic>
            <p:nvPicPr>
              <p:cNvPr id="565" name="Picture 7" descr="C:\Users\Abject-3D\Desktop\VMWare Files\FINAL diagrams\Basic Virtualization\3D PNGs\DGRM_UpdateManager_OfflineVM_Q210_R1_Comm-(2)_6.png"/>
              <p:cNvPicPr>
                <a:picLocks noChangeAspect="1" noChangeArrowheads="1"/>
              </p:cNvPicPr>
              <p:nvPr>
                <p:custDataLst>
                  <p:tags r:id="rId7"/>
                </p:custDataLst>
              </p:nvPr>
            </p:nvPicPr>
            <p:blipFill>
              <a:blip r:embed="rId8" cstate="email"/>
              <a:srcRect/>
              <a:stretch>
                <a:fillRect/>
              </a:stretch>
            </p:blipFill>
            <p:spPr bwMode="auto">
              <a:xfrm>
                <a:off x="6365550" y="3552935"/>
                <a:ext cx="853653" cy="340792"/>
              </a:xfrm>
              <a:prstGeom prst="rect">
                <a:avLst/>
              </a:prstGeom>
              <a:noFill/>
              <a:ln w="9525">
                <a:noFill/>
                <a:miter lim="800000"/>
                <a:headEnd/>
                <a:tailEnd/>
              </a:ln>
            </p:spPr>
          </p:pic>
          <p:sp>
            <p:nvSpPr>
              <p:cNvPr id="566" name="圆角矩形 3"/>
              <p:cNvSpPr>
                <a:spLocks noChangeArrowheads="1"/>
              </p:cNvSpPr>
              <p:nvPr>
                <p:custDataLst>
                  <p:tags r:id="rId9"/>
                </p:custDataLst>
              </p:nvPr>
            </p:nvSpPr>
            <p:spPr bwMode="auto">
              <a:xfrm>
                <a:off x="6320702" y="3858244"/>
                <a:ext cx="3305439" cy="367916"/>
              </a:xfrm>
              <a:prstGeom prst="roundRect">
                <a:avLst>
                  <a:gd name="adj" fmla="val 16667"/>
                </a:avLst>
              </a:prstGeom>
              <a:solidFill>
                <a:srgbClr val="5B9BD5">
                  <a:lumMod val="60000"/>
                  <a:lumOff val="40000"/>
                </a:srgbClr>
              </a:solidFill>
              <a:ln>
                <a:noFill/>
              </a:ln>
            </p:spPr>
            <p:txBody>
              <a:bodyPr/>
              <a:lstStyle>
                <a:lvl1pPr>
                  <a:lnSpc>
                    <a:spcPct val="90000"/>
                  </a:lnSpc>
                  <a:spcBef>
                    <a:spcPts val="1000"/>
                  </a:spcBef>
                  <a:buFont typeface="Arial" panose="020B0604020202020204" pitchFamily="34" charset="0"/>
                  <a:buChar char="•"/>
                  <a:defRPr kumimoji="1" sz="2800">
                    <a:solidFill>
                      <a:schemeClr val="tx1"/>
                    </a:solidFill>
                    <a:latin typeface="Impact" panose="020B0806030902050204" charset="0"/>
                    <a:ea typeface="微软雅黑" panose="020B0503020204020204" charset="-122"/>
                    <a:sym typeface="Impact" panose="020B0806030902050204" charset="0"/>
                  </a:defRPr>
                </a:lvl1pPr>
                <a:lvl2pPr marL="742950" indent="-285750">
                  <a:lnSpc>
                    <a:spcPct val="90000"/>
                  </a:lnSpc>
                  <a:spcBef>
                    <a:spcPts val="500"/>
                  </a:spcBef>
                  <a:buFont typeface="Arial" panose="020B0604020202020204" pitchFamily="34" charset="0"/>
                  <a:buChar char="•"/>
                  <a:defRPr kumimoji="1" sz="2400">
                    <a:solidFill>
                      <a:schemeClr val="tx1"/>
                    </a:solidFill>
                    <a:latin typeface="Impact" panose="020B0806030902050204" charset="0"/>
                    <a:ea typeface="微软雅黑" panose="020B0503020204020204" charset="-122"/>
                    <a:sym typeface="Impact" panose="020B0806030902050204" charset="0"/>
                  </a:defRPr>
                </a:lvl2pPr>
                <a:lvl3pPr marL="1143000" indent="-228600">
                  <a:lnSpc>
                    <a:spcPct val="90000"/>
                  </a:lnSpc>
                  <a:spcBef>
                    <a:spcPts val="500"/>
                  </a:spcBef>
                  <a:buFont typeface="Arial" panose="020B0604020202020204" pitchFamily="34" charset="0"/>
                  <a:buChar char="•"/>
                  <a:defRPr kumimoji="1" sz="2000">
                    <a:solidFill>
                      <a:schemeClr val="tx1"/>
                    </a:solidFill>
                    <a:latin typeface="Impact" panose="020B0806030902050204" charset="0"/>
                    <a:ea typeface="微软雅黑" panose="020B0503020204020204" charset="-122"/>
                    <a:sym typeface="Impact" panose="020B0806030902050204" charset="0"/>
                  </a:defRPr>
                </a:lvl3pPr>
                <a:lvl4pPr marL="16002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4pPr>
                <a:lvl5pPr marL="20574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1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sym typeface="Impact" panose="020B0806030902050204" charset="0"/>
                </a:endParaRPr>
              </a:p>
            </p:txBody>
          </p:sp>
          <p:pic>
            <p:nvPicPr>
              <p:cNvPr id="567" name="Picture 8" descr="ICON_Server_flat_Q408.png"/>
              <p:cNvPicPr>
                <a:picLocks noChangeAspect="1"/>
              </p:cNvPicPr>
              <p:nvPr>
                <p:custDataLst>
                  <p:tags r:id="rId10"/>
                </p:custDataLst>
              </p:nvPr>
            </p:nvPicPr>
            <p:blipFill>
              <a:blip r:embed="rId11" cstate="email"/>
              <a:srcRect/>
              <a:stretch>
                <a:fillRect/>
              </a:stretch>
            </p:blipFill>
            <p:spPr bwMode="auto">
              <a:xfrm>
                <a:off x="6484327" y="3889293"/>
                <a:ext cx="1304926" cy="312461"/>
              </a:xfrm>
              <a:prstGeom prst="rect">
                <a:avLst/>
              </a:prstGeom>
              <a:noFill/>
              <a:ln w="9525">
                <a:noFill/>
                <a:miter lim="800000"/>
                <a:headEnd/>
                <a:tailEnd/>
              </a:ln>
            </p:spPr>
          </p:pic>
          <p:pic>
            <p:nvPicPr>
              <p:cNvPr id="568" name="Picture 8" descr="ICON_Server_flat_Q408.png"/>
              <p:cNvPicPr>
                <a:picLocks noChangeAspect="1"/>
              </p:cNvPicPr>
              <p:nvPr>
                <p:custDataLst>
                  <p:tags r:id="rId12"/>
                </p:custDataLst>
              </p:nvPr>
            </p:nvPicPr>
            <p:blipFill>
              <a:blip r:embed="rId11" cstate="email"/>
              <a:srcRect/>
              <a:stretch>
                <a:fillRect/>
              </a:stretch>
            </p:blipFill>
            <p:spPr bwMode="auto">
              <a:xfrm>
                <a:off x="8149293" y="3884918"/>
                <a:ext cx="1304926" cy="312461"/>
              </a:xfrm>
              <a:prstGeom prst="rect">
                <a:avLst/>
              </a:prstGeom>
              <a:noFill/>
              <a:ln w="9525">
                <a:noFill/>
                <a:miter lim="800000"/>
                <a:headEnd/>
                <a:tailEnd/>
              </a:ln>
            </p:spPr>
          </p:pic>
          <p:pic>
            <p:nvPicPr>
              <p:cNvPr id="569" name="Picture 4"/>
              <p:cNvPicPr>
                <a:picLocks noChangeAspect="1" noChangeArrowheads="1"/>
              </p:cNvPicPr>
              <p:nvPr>
                <p:custDataLst>
                  <p:tags r:id="rId13"/>
                </p:custDataLst>
              </p:nvPr>
            </p:nvPicPr>
            <p:blipFill>
              <a:blip r:embed="rId14" cstate="email">
                <a:duotone>
                  <a:prstClr val="black"/>
                  <a:srgbClr val="4EBE53">
                    <a:tint val="45000"/>
                    <a:satMod val="400000"/>
                  </a:srgbClr>
                </a:duotone>
              </a:blip>
              <a:srcRect/>
              <a:stretch>
                <a:fillRect/>
              </a:stretch>
            </p:blipFill>
            <p:spPr bwMode="auto">
              <a:xfrm>
                <a:off x="6950419" y="3309872"/>
                <a:ext cx="493636" cy="352184"/>
              </a:xfrm>
              <a:prstGeom prst="rect">
                <a:avLst/>
              </a:prstGeom>
              <a:noFill/>
              <a:ln>
                <a:noFill/>
              </a:ln>
              <a:effectLst/>
            </p:spPr>
          </p:pic>
          <p:pic>
            <p:nvPicPr>
              <p:cNvPr id="570" name="Picture 4"/>
              <p:cNvPicPr>
                <a:picLocks noChangeAspect="1" noChangeArrowheads="1"/>
              </p:cNvPicPr>
              <p:nvPr>
                <p:custDataLst>
                  <p:tags r:id="rId15"/>
                </p:custDataLst>
              </p:nvPr>
            </p:nvPicPr>
            <p:blipFill>
              <a:blip r:embed="rId14" cstate="email">
                <a:duotone>
                  <a:prstClr val="black"/>
                  <a:srgbClr val="4EBE53">
                    <a:tint val="45000"/>
                    <a:satMod val="400000"/>
                  </a:srgbClr>
                </a:duotone>
              </a:blip>
              <a:srcRect/>
              <a:stretch>
                <a:fillRect/>
              </a:stretch>
            </p:blipFill>
            <p:spPr bwMode="auto">
              <a:xfrm>
                <a:off x="7543558" y="3318131"/>
                <a:ext cx="493636" cy="352184"/>
              </a:xfrm>
              <a:prstGeom prst="rect">
                <a:avLst/>
              </a:prstGeom>
              <a:noFill/>
              <a:ln>
                <a:noFill/>
              </a:ln>
              <a:effectLst/>
            </p:spPr>
          </p:pic>
          <p:pic>
            <p:nvPicPr>
              <p:cNvPr id="571" name="Picture 7" descr="C:\Users\Abject-3D\Desktop\VMWare Files\FINAL diagrams\Basic Virtualization\3D PNGs\DGRM_UpdateManager_OfflineVM_Q210_R1_Comm-(2)_6.png"/>
              <p:cNvPicPr>
                <a:picLocks noChangeAspect="1" noChangeArrowheads="1"/>
              </p:cNvPicPr>
              <p:nvPr>
                <p:custDataLst>
                  <p:tags r:id="rId16"/>
                </p:custDataLst>
              </p:nvPr>
            </p:nvPicPr>
            <p:blipFill>
              <a:blip r:embed="rId17" cstate="email"/>
              <a:srcRect/>
              <a:stretch>
                <a:fillRect/>
              </a:stretch>
            </p:blipFill>
            <p:spPr bwMode="auto">
              <a:xfrm>
                <a:off x="8776425" y="3545299"/>
                <a:ext cx="769784" cy="325706"/>
              </a:xfrm>
              <a:prstGeom prst="rect">
                <a:avLst/>
              </a:prstGeom>
              <a:noFill/>
              <a:ln w="9525">
                <a:noFill/>
                <a:miter lim="800000"/>
                <a:headEnd/>
                <a:tailEnd/>
              </a:ln>
            </p:spPr>
          </p:pic>
          <p:pic>
            <p:nvPicPr>
              <p:cNvPr id="572" name="Picture 7" descr="C:\Users\Abject-3D\Desktop\VMWare Files\FINAL diagrams\Basic Virtualization\3D PNGs\DGRM_UpdateManager_OfflineVM_Q210_R1_Comm-(2)_6.png"/>
              <p:cNvPicPr>
                <a:picLocks noChangeAspect="1" noChangeArrowheads="1"/>
              </p:cNvPicPr>
              <p:nvPr>
                <p:custDataLst>
                  <p:tags r:id="rId18"/>
                </p:custDataLst>
              </p:nvPr>
            </p:nvPicPr>
            <p:blipFill>
              <a:blip r:embed="rId19" cstate="email"/>
              <a:srcRect/>
              <a:stretch>
                <a:fillRect/>
              </a:stretch>
            </p:blipFill>
            <p:spPr bwMode="auto">
              <a:xfrm>
                <a:off x="8079804" y="3554677"/>
                <a:ext cx="887656" cy="303183"/>
              </a:xfrm>
              <a:prstGeom prst="rect">
                <a:avLst/>
              </a:prstGeom>
              <a:noFill/>
              <a:ln w="9525">
                <a:noFill/>
                <a:miter lim="800000"/>
                <a:headEnd/>
                <a:tailEnd/>
              </a:ln>
            </p:spPr>
          </p:pic>
          <p:pic>
            <p:nvPicPr>
              <p:cNvPr id="573" name="Picture 4"/>
              <p:cNvPicPr>
                <a:picLocks noChangeAspect="1" noChangeArrowheads="1"/>
              </p:cNvPicPr>
              <p:nvPr>
                <p:custDataLst>
                  <p:tags r:id="rId20"/>
                </p:custDataLst>
              </p:nvPr>
            </p:nvPicPr>
            <p:blipFill>
              <a:blip r:embed="rId14" cstate="email">
                <a:duotone>
                  <a:srgbClr val="FFC000">
                    <a:shade val="45000"/>
                    <a:satMod val="135000"/>
                  </a:srgbClr>
                  <a:prstClr val="white"/>
                </a:duotone>
              </a:blip>
              <a:srcRect/>
              <a:stretch>
                <a:fillRect/>
              </a:stretch>
            </p:blipFill>
            <p:spPr bwMode="auto">
              <a:xfrm>
                <a:off x="8618168" y="3318696"/>
                <a:ext cx="493636" cy="352184"/>
              </a:xfrm>
              <a:prstGeom prst="rect">
                <a:avLst/>
              </a:prstGeom>
              <a:noFill/>
              <a:ln>
                <a:noFill/>
              </a:ln>
              <a:effectLst/>
            </p:spPr>
          </p:pic>
          <p:pic>
            <p:nvPicPr>
              <p:cNvPr id="574" name="Picture 4"/>
              <p:cNvPicPr>
                <a:picLocks noChangeAspect="1" noChangeArrowheads="1"/>
              </p:cNvPicPr>
              <p:nvPr>
                <p:custDataLst>
                  <p:tags r:id="rId21"/>
                </p:custDataLst>
              </p:nvPr>
            </p:nvPicPr>
            <p:blipFill>
              <a:blip r:embed="rId14" cstate="email">
                <a:duotone>
                  <a:srgbClr val="FFC000">
                    <a:shade val="45000"/>
                    <a:satMod val="135000"/>
                  </a:srgbClr>
                  <a:prstClr val="white"/>
                </a:duotone>
              </a:blip>
              <a:srcRect/>
              <a:stretch>
                <a:fillRect/>
              </a:stretch>
            </p:blipFill>
            <p:spPr bwMode="auto">
              <a:xfrm>
                <a:off x="9143441" y="3318696"/>
                <a:ext cx="493636" cy="352184"/>
              </a:xfrm>
              <a:prstGeom prst="rect">
                <a:avLst/>
              </a:prstGeom>
              <a:noFill/>
              <a:ln>
                <a:noFill/>
              </a:ln>
              <a:effectLst/>
            </p:spPr>
          </p:pic>
          <p:pic>
            <p:nvPicPr>
              <p:cNvPr id="575" name="Picture 4"/>
              <p:cNvPicPr>
                <a:picLocks noChangeAspect="1" noChangeArrowheads="1"/>
              </p:cNvPicPr>
              <p:nvPr>
                <p:custDataLst>
                  <p:tags r:id="rId22"/>
                </p:custDataLst>
              </p:nvPr>
            </p:nvPicPr>
            <p:blipFill>
              <a:blip r:embed="rId14" cstate="email">
                <a:duotone>
                  <a:prstClr val="black"/>
                  <a:srgbClr val="4EBE53">
                    <a:tint val="45000"/>
                    <a:satMod val="400000"/>
                  </a:srgbClr>
                </a:duotone>
              </a:blip>
              <a:srcRect/>
              <a:stretch>
                <a:fillRect/>
              </a:stretch>
            </p:blipFill>
            <p:spPr bwMode="auto">
              <a:xfrm>
                <a:off x="6330978" y="3308854"/>
                <a:ext cx="493636" cy="352184"/>
              </a:xfrm>
              <a:prstGeom prst="rect">
                <a:avLst/>
              </a:prstGeom>
              <a:noFill/>
              <a:ln>
                <a:noFill/>
              </a:ln>
              <a:effectLst/>
            </p:spPr>
          </p:pic>
          <p:pic>
            <p:nvPicPr>
              <p:cNvPr id="576" name="Picture 4"/>
              <p:cNvPicPr>
                <a:picLocks noChangeAspect="1" noChangeArrowheads="1"/>
              </p:cNvPicPr>
              <p:nvPr>
                <p:custDataLst>
                  <p:tags r:id="rId23"/>
                </p:custDataLst>
              </p:nvPr>
            </p:nvPicPr>
            <p:blipFill>
              <a:blip r:embed="rId14" cstate="email">
                <a:duotone>
                  <a:srgbClr val="FFC000">
                    <a:shade val="45000"/>
                    <a:satMod val="135000"/>
                  </a:srgbClr>
                  <a:prstClr val="white"/>
                </a:duotone>
              </a:blip>
              <a:srcRect/>
              <a:stretch>
                <a:fillRect/>
              </a:stretch>
            </p:blipFill>
            <p:spPr bwMode="auto">
              <a:xfrm>
                <a:off x="8081860" y="3321898"/>
                <a:ext cx="493636" cy="352184"/>
              </a:xfrm>
              <a:prstGeom prst="rect">
                <a:avLst/>
              </a:prstGeom>
              <a:noFill/>
              <a:ln>
                <a:noFill/>
              </a:ln>
              <a:effectLst/>
            </p:spPr>
          </p:pic>
        </p:grpSp>
        <p:sp>
          <p:nvSpPr>
            <p:cNvPr id="577" name="矩形 285"/>
            <p:cNvSpPr>
              <a:spLocks noChangeArrowheads="1"/>
            </p:cNvSpPr>
            <p:nvPr>
              <p:custDataLst>
                <p:tags r:id="rId24"/>
              </p:custDataLst>
            </p:nvPr>
          </p:nvSpPr>
          <p:spPr bwMode="auto">
            <a:xfrm>
              <a:off x="17126" y="11604"/>
              <a:ext cx="1931" cy="506"/>
            </a:xfrm>
            <a:prstGeom prst="rect">
              <a:avLst/>
            </a:prstGeom>
            <a:noFill/>
            <a:ln w="9525">
              <a:noFill/>
              <a:miter lim="800000"/>
            </a:ln>
          </p:spPr>
          <p:txBody>
            <a:bodyPr wrap="square">
              <a:spAutoFit/>
            </a:bodyPr>
            <a:lstStyle/>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578" name="图片 291"/>
            <p:cNvPicPr>
              <a:picLocks noChangeAspect="1"/>
            </p:cNvPicPr>
            <p:nvPr>
              <p:custDataLst>
                <p:tags r:id="rId25"/>
              </p:custDataLst>
            </p:nvPr>
          </p:nvPicPr>
          <p:blipFill>
            <a:blip r:embed="rId26" cstate="email"/>
            <a:srcRect/>
            <a:stretch>
              <a:fillRect/>
            </a:stretch>
          </p:blipFill>
          <p:spPr bwMode="auto">
            <a:xfrm>
              <a:off x="17921" y="10347"/>
              <a:ext cx="307" cy="334"/>
            </a:xfrm>
            <a:prstGeom prst="rect">
              <a:avLst/>
            </a:prstGeom>
            <a:noFill/>
            <a:ln w="9525">
              <a:noFill/>
              <a:miter lim="800000"/>
              <a:headEnd/>
              <a:tailEnd/>
            </a:ln>
          </p:spPr>
        </p:pic>
        <p:pic>
          <p:nvPicPr>
            <p:cNvPr id="579" name="图片 292"/>
            <p:cNvPicPr>
              <a:picLocks noChangeAspect="1"/>
            </p:cNvPicPr>
            <p:nvPr>
              <p:custDataLst>
                <p:tags r:id="rId27"/>
              </p:custDataLst>
            </p:nvPr>
          </p:nvPicPr>
          <p:blipFill>
            <a:blip r:embed="rId26" cstate="email"/>
            <a:srcRect/>
            <a:stretch>
              <a:fillRect/>
            </a:stretch>
          </p:blipFill>
          <p:spPr bwMode="auto">
            <a:xfrm>
              <a:off x="18828" y="10347"/>
              <a:ext cx="309" cy="334"/>
            </a:xfrm>
            <a:prstGeom prst="rect">
              <a:avLst/>
            </a:prstGeom>
            <a:noFill/>
            <a:ln w="9525">
              <a:noFill/>
              <a:miter lim="800000"/>
              <a:headEnd/>
              <a:tailEnd/>
            </a:ln>
          </p:spPr>
        </p:pic>
        <p:pic>
          <p:nvPicPr>
            <p:cNvPr id="580" name="图片 293"/>
            <p:cNvPicPr>
              <a:picLocks noChangeAspect="1"/>
            </p:cNvPicPr>
            <p:nvPr>
              <p:custDataLst>
                <p:tags r:id="rId28"/>
              </p:custDataLst>
            </p:nvPr>
          </p:nvPicPr>
          <p:blipFill>
            <a:blip r:embed="rId26" cstate="email"/>
            <a:srcRect/>
            <a:stretch>
              <a:fillRect/>
            </a:stretch>
          </p:blipFill>
          <p:spPr bwMode="auto">
            <a:xfrm>
              <a:off x="19658" y="10356"/>
              <a:ext cx="312" cy="336"/>
            </a:xfrm>
            <a:prstGeom prst="rect">
              <a:avLst/>
            </a:prstGeom>
            <a:noFill/>
            <a:ln w="9525">
              <a:noFill/>
              <a:miter lim="800000"/>
              <a:headEnd/>
              <a:tailEnd/>
            </a:ln>
          </p:spPr>
        </p:pic>
        <p:pic>
          <p:nvPicPr>
            <p:cNvPr id="581" name="图片 294"/>
            <p:cNvPicPr>
              <a:picLocks noChangeAspect="1"/>
            </p:cNvPicPr>
            <p:nvPr>
              <p:custDataLst>
                <p:tags r:id="rId29"/>
              </p:custDataLst>
            </p:nvPr>
          </p:nvPicPr>
          <p:blipFill>
            <a:blip r:embed="rId26" cstate="email"/>
            <a:srcRect/>
            <a:stretch>
              <a:fillRect/>
            </a:stretch>
          </p:blipFill>
          <p:spPr bwMode="auto">
            <a:xfrm>
              <a:off x="20429" y="10356"/>
              <a:ext cx="307" cy="339"/>
            </a:xfrm>
            <a:prstGeom prst="rect">
              <a:avLst/>
            </a:prstGeom>
            <a:noFill/>
            <a:ln w="9525">
              <a:noFill/>
              <a:miter lim="800000"/>
              <a:headEnd/>
              <a:tailEnd/>
            </a:ln>
          </p:spPr>
        </p:pic>
        <p:pic>
          <p:nvPicPr>
            <p:cNvPr id="582" name="图片 295"/>
            <p:cNvPicPr>
              <a:picLocks noChangeAspect="1"/>
            </p:cNvPicPr>
            <p:nvPr>
              <p:custDataLst>
                <p:tags r:id="rId30"/>
              </p:custDataLst>
            </p:nvPr>
          </p:nvPicPr>
          <p:blipFill>
            <a:blip r:embed="rId26" cstate="email"/>
            <a:srcRect/>
            <a:stretch>
              <a:fillRect/>
            </a:stretch>
          </p:blipFill>
          <p:spPr bwMode="auto">
            <a:xfrm>
              <a:off x="21196" y="10356"/>
              <a:ext cx="309" cy="339"/>
            </a:xfrm>
            <a:prstGeom prst="rect">
              <a:avLst/>
            </a:prstGeom>
            <a:noFill/>
            <a:ln w="9525">
              <a:noFill/>
              <a:miter lim="800000"/>
              <a:headEnd/>
              <a:tailEnd/>
            </a:ln>
          </p:spPr>
        </p:pic>
        <p:pic>
          <p:nvPicPr>
            <p:cNvPr id="583" name="图片 296"/>
            <p:cNvPicPr>
              <a:picLocks noChangeAspect="1"/>
            </p:cNvPicPr>
            <p:nvPr>
              <p:custDataLst>
                <p:tags r:id="rId31"/>
              </p:custDataLst>
            </p:nvPr>
          </p:nvPicPr>
          <p:blipFill>
            <a:blip r:embed="rId26" cstate="email"/>
            <a:srcRect/>
            <a:stretch>
              <a:fillRect/>
            </a:stretch>
          </p:blipFill>
          <p:spPr bwMode="auto">
            <a:xfrm>
              <a:off x="21894" y="10356"/>
              <a:ext cx="312" cy="339"/>
            </a:xfrm>
            <a:prstGeom prst="rect">
              <a:avLst/>
            </a:prstGeom>
            <a:noFill/>
            <a:ln w="9525">
              <a:noFill/>
              <a:miter lim="800000"/>
              <a:headEnd/>
              <a:tailEnd/>
            </a:ln>
          </p:spPr>
        </p:pic>
        <p:cxnSp>
          <p:nvCxnSpPr>
            <p:cNvPr id="584" name="直接连接符 583"/>
            <p:cNvCxnSpPr/>
            <p:nvPr>
              <p:custDataLst>
                <p:tags r:id="rId32"/>
              </p:custDataLst>
            </p:nvPr>
          </p:nvCxnSpPr>
          <p:spPr>
            <a:xfrm>
              <a:off x="19435" y="8025"/>
              <a:ext cx="1363" cy="0"/>
            </a:xfrm>
            <a:prstGeom prst="line">
              <a:avLst/>
            </a:prstGeom>
            <a:noFill/>
            <a:ln w="12700" cap="flat" cmpd="sng" algn="ctr">
              <a:solidFill>
                <a:srgbClr val="184199"/>
              </a:solidFill>
              <a:prstDash val="dash"/>
              <a:miter lim="800000"/>
            </a:ln>
            <a:effectLst/>
          </p:spPr>
        </p:cxnSp>
        <p:cxnSp>
          <p:nvCxnSpPr>
            <p:cNvPr id="585" name="直接连接符 584"/>
            <p:cNvCxnSpPr/>
            <p:nvPr>
              <p:custDataLst>
                <p:tags r:id="rId33"/>
              </p:custDataLst>
            </p:nvPr>
          </p:nvCxnSpPr>
          <p:spPr>
            <a:xfrm>
              <a:off x="19435" y="9244"/>
              <a:ext cx="1363" cy="0"/>
            </a:xfrm>
            <a:prstGeom prst="line">
              <a:avLst/>
            </a:prstGeom>
            <a:noFill/>
            <a:ln w="12700" cap="flat" cmpd="sng" algn="ctr">
              <a:solidFill>
                <a:srgbClr val="184199"/>
              </a:solidFill>
              <a:prstDash val="dash"/>
              <a:miter lim="800000"/>
            </a:ln>
            <a:effectLst/>
          </p:spPr>
        </p:cxnSp>
        <p:pic>
          <p:nvPicPr>
            <p:cNvPr id="586" name="图片 323"/>
            <p:cNvPicPr>
              <a:picLocks noChangeAspect="1"/>
            </p:cNvPicPr>
            <p:nvPr>
              <p:custDataLst>
                <p:tags r:id="rId34"/>
              </p:custDataLst>
            </p:nvPr>
          </p:nvPicPr>
          <p:blipFill>
            <a:blip r:embed="rId35" cstate="email"/>
            <a:srcRect/>
            <a:stretch>
              <a:fillRect/>
            </a:stretch>
          </p:blipFill>
          <p:spPr bwMode="auto">
            <a:xfrm>
              <a:off x="18664" y="7586"/>
              <a:ext cx="834" cy="810"/>
            </a:xfrm>
            <a:prstGeom prst="rect">
              <a:avLst/>
            </a:prstGeom>
            <a:noFill/>
            <a:ln w="9525">
              <a:noFill/>
              <a:miter lim="800000"/>
              <a:headEnd/>
              <a:tailEnd/>
            </a:ln>
          </p:spPr>
        </p:pic>
        <p:pic>
          <p:nvPicPr>
            <p:cNvPr id="587" name="图片 324"/>
            <p:cNvPicPr>
              <a:picLocks noChangeAspect="1"/>
            </p:cNvPicPr>
            <p:nvPr>
              <p:custDataLst>
                <p:tags r:id="rId36"/>
              </p:custDataLst>
            </p:nvPr>
          </p:nvPicPr>
          <p:blipFill>
            <a:blip r:embed="rId35" cstate="email"/>
            <a:srcRect/>
            <a:stretch>
              <a:fillRect/>
            </a:stretch>
          </p:blipFill>
          <p:spPr bwMode="auto">
            <a:xfrm>
              <a:off x="20791" y="7586"/>
              <a:ext cx="834" cy="810"/>
            </a:xfrm>
            <a:prstGeom prst="rect">
              <a:avLst/>
            </a:prstGeom>
            <a:noFill/>
            <a:ln w="9525">
              <a:noFill/>
              <a:miter lim="800000"/>
              <a:headEnd/>
              <a:tailEnd/>
            </a:ln>
          </p:spPr>
        </p:pic>
        <p:pic>
          <p:nvPicPr>
            <p:cNvPr id="588" name="图片 343"/>
            <p:cNvPicPr>
              <a:picLocks noChangeAspect="1"/>
            </p:cNvPicPr>
            <p:nvPr>
              <p:custDataLst>
                <p:tags r:id="rId37"/>
              </p:custDataLst>
            </p:nvPr>
          </p:nvPicPr>
          <p:blipFill>
            <a:blip r:embed="rId38" cstate="email"/>
            <a:srcRect/>
            <a:stretch>
              <a:fillRect/>
            </a:stretch>
          </p:blipFill>
          <p:spPr bwMode="auto">
            <a:xfrm>
              <a:off x="18723" y="8822"/>
              <a:ext cx="748" cy="737"/>
            </a:xfrm>
            <a:prstGeom prst="rect">
              <a:avLst/>
            </a:prstGeom>
            <a:noFill/>
            <a:ln w="9525">
              <a:noFill/>
              <a:miter lim="800000"/>
              <a:headEnd/>
              <a:tailEnd/>
            </a:ln>
          </p:spPr>
        </p:pic>
        <p:pic>
          <p:nvPicPr>
            <p:cNvPr id="589" name="图片 344"/>
            <p:cNvPicPr>
              <a:picLocks noChangeAspect="1"/>
            </p:cNvPicPr>
            <p:nvPr>
              <p:custDataLst>
                <p:tags r:id="rId39"/>
              </p:custDataLst>
            </p:nvPr>
          </p:nvPicPr>
          <p:blipFill>
            <a:blip r:embed="rId38" cstate="email"/>
            <a:srcRect/>
            <a:stretch>
              <a:fillRect/>
            </a:stretch>
          </p:blipFill>
          <p:spPr bwMode="auto">
            <a:xfrm>
              <a:off x="20838" y="8822"/>
              <a:ext cx="748" cy="737"/>
            </a:xfrm>
            <a:prstGeom prst="rect">
              <a:avLst/>
            </a:prstGeom>
            <a:noFill/>
            <a:ln w="9525">
              <a:noFill/>
              <a:miter lim="800000"/>
              <a:headEnd/>
              <a:tailEnd/>
            </a:ln>
          </p:spPr>
        </p:pic>
        <p:grpSp>
          <p:nvGrpSpPr>
            <p:cNvPr id="590" name="组合 397"/>
            <p:cNvGrpSpPr/>
            <p:nvPr/>
          </p:nvGrpSpPr>
          <p:grpSpPr bwMode="auto">
            <a:xfrm rot="0">
              <a:off x="21586" y="8998"/>
              <a:ext cx="1846" cy="842"/>
              <a:chOff x="9789635" y="4889149"/>
              <a:chExt cx="752717" cy="338168"/>
            </a:xfrm>
          </p:grpSpPr>
          <p:sp>
            <p:nvSpPr>
              <p:cNvPr id="591" name="TextBox 79"/>
              <p:cNvSpPr txBox="1">
                <a:spLocks noChangeArrowheads="1"/>
              </p:cNvSpPr>
              <p:nvPr>
                <p:custDataLst>
                  <p:tags r:id="rId40"/>
                </p:custDataLst>
              </p:nvPr>
            </p:nvSpPr>
            <p:spPr bwMode="auto">
              <a:xfrm>
                <a:off x="9899227" y="5033747"/>
                <a:ext cx="643125" cy="193570"/>
              </a:xfrm>
              <a:prstGeom prst="rect">
                <a:avLst/>
              </a:prstGeom>
              <a:noFill/>
              <a:ln w="9525">
                <a:noFill/>
                <a:miter lim="800000"/>
              </a:ln>
            </p:spPr>
            <p:txBody>
              <a:bodyPr wrap="square">
                <a:spAutoFit/>
              </a:bodyPr>
              <a:lstStyle/>
              <a:p>
                <a:pPr marL="228600" marR="0" lvl="0" indent="-228600" defTabSz="914400" eaLnBrk="1" fontAlgn="auto" latinLnBrk="0" hangingPunct="1">
                  <a:lnSpc>
                    <a:spcPct val="90000"/>
                  </a:lnSpc>
                  <a:spcBef>
                    <a:spcPts val="1000"/>
                  </a:spcBef>
                  <a:spcAft>
                    <a:spcPts val="0"/>
                  </a:spcAft>
                  <a:buClrTx/>
                  <a:buSzTx/>
                  <a:buFontTx/>
                  <a:buNone/>
                  <a:defRPr/>
                </a:pPr>
                <a:r>
                  <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探针</a:t>
                </a:r>
                <a:r>
                  <a:rPr kumimoji="1" lang="en-US" altLang="zh-CN"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STA</a:t>
                </a:r>
                <a:endPar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endParaRPr>
              </a:p>
            </p:txBody>
          </p:sp>
          <p:pic>
            <p:nvPicPr>
              <p:cNvPr id="592" name="图片 399"/>
              <p:cNvPicPr>
                <a:picLocks noChangeAspect="1"/>
              </p:cNvPicPr>
              <p:nvPr>
                <p:custDataLst>
                  <p:tags r:id="rId41"/>
                </p:custDataLst>
              </p:nvPr>
            </p:nvPicPr>
            <p:blipFill>
              <a:blip r:embed="rId42" cstate="email"/>
              <a:srcRect/>
              <a:stretch>
                <a:fillRect/>
              </a:stretch>
            </p:blipFill>
            <p:spPr bwMode="auto">
              <a:xfrm>
                <a:off x="10006395" y="4889149"/>
                <a:ext cx="388999" cy="177146"/>
              </a:xfrm>
              <a:prstGeom prst="rect">
                <a:avLst/>
              </a:prstGeom>
              <a:noFill/>
              <a:ln w="9525">
                <a:noFill/>
                <a:miter lim="800000"/>
                <a:headEnd/>
                <a:tailEnd/>
              </a:ln>
            </p:spPr>
          </p:pic>
          <p:cxnSp>
            <p:nvCxnSpPr>
              <p:cNvPr id="593" name="直接连接符 592"/>
              <p:cNvCxnSpPr/>
              <p:nvPr>
                <p:custDataLst>
                  <p:tags r:id="rId43"/>
                </p:custDataLst>
              </p:nvPr>
            </p:nvCxnSpPr>
            <p:spPr>
              <a:xfrm>
                <a:off x="9789635" y="4990645"/>
                <a:ext cx="219145" cy="1586"/>
              </a:xfrm>
              <a:prstGeom prst="line">
                <a:avLst/>
              </a:prstGeom>
              <a:noFill/>
              <a:ln w="25400" cap="flat" cmpd="sng" algn="ctr">
                <a:solidFill>
                  <a:srgbClr val="184199"/>
                </a:solidFill>
                <a:prstDash val="solid"/>
                <a:miter lim="800000"/>
              </a:ln>
              <a:effectLst/>
            </p:spPr>
          </p:cxnSp>
        </p:grpSp>
        <p:sp>
          <p:nvSpPr>
            <p:cNvPr id="594" name="矩形 377"/>
            <p:cNvSpPr>
              <a:spLocks noChangeArrowheads="1"/>
            </p:cNvSpPr>
            <p:nvPr>
              <p:custDataLst>
                <p:tags r:id="rId44"/>
              </p:custDataLst>
            </p:nvPr>
          </p:nvSpPr>
          <p:spPr bwMode="auto">
            <a:xfrm>
              <a:off x="22112" y="10415"/>
              <a:ext cx="1161" cy="682"/>
            </a:xfrm>
            <a:prstGeom prst="rect">
              <a:avLst/>
            </a:prstGeom>
            <a:noFill/>
            <a:ln w="9525">
              <a:noFill/>
              <a:miter lim="800000"/>
            </a:ln>
          </p:spPr>
          <p:txBody>
            <a:bodyPr wrap="square">
              <a:noAutofit/>
            </a:bodyPr>
            <a:lstStyle/>
            <a:p>
              <a:pPr algn="ctr">
                <a:lnSpc>
                  <a:spcPct val="90000"/>
                </a:lnSpc>
                <a:spcBef>
                  <a:spcPts val="1000"/>
                </a:spcBef>
              </a:pPr>
              <a:r>
                <a:rPr kumimoji="1" lang="zh-CN" altLang="en-US" sz="450" b="1" dirty="0">
                  <a:solidFill>
                    <a:srgbClr val="C00000"/>
                  </a:solidFill>
                  <a:latin typeface="微软雅黑" panose="020B0503020204020204" charset="-122"/>
                  <a:ea typeface="微软雅黑" panose="020B0503020204020204" charset="-122"/>
                </a:rPr>
                <a:t>EDR</a:t>
              </a:r>
              <a:endParaRPr kumimoji="1" lang="zh-CN" altLang="en-US" sz="450" b="1" dirty="0">
                <a:solidFill>
                  <a:srgbClr val="C00000"/>
                </a:solidFill>
                <a:latin typeface="微软雅黑" panose="020B0503020204020204" charset="-122"/>
                <a:ea typeface="微软雅黑" panose="020B0503020204020204" charset="-122"/>
              </a:endParaRPr>
            </a:p>
          </p:txBody>
        </p:sp>
        <p:sp>
          <p:nvSpPr>
            <p:cNvPr id="595" name="任意形状 33"/>
            <p:cNvSpPr/>
            <p:nvPr>
              <p:custDataLst>
                <p:tags r:id="rId45"/>
              </p:custDataLst>
            </p:nvPr>
          </p:nvSpPr>
          <p:spPr>
            <a:xfrm>
              <a:off x="19488" y="6499"/>
              <a:ext cx="1610" cy="807"/>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6" name="矩形 242"/>
            <p:cNvSpPr>
              <a:spLocks noChangeArrowheads="1"/>
            </p:cNvSpPr>
            <p:nvPr>
              <p:custDataLst>
                <p:tags r:id="rId46"/>
              </p:custDataLst>
            </p:nvPr>
          </p:nvSpPr>
          <p:spPr bwMode="auto">
            <a:xfrm>
              <a:off x="19319" y="6755"/>
              <a:ext cx="1975" cy="506"/>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sp>
        <p:nvSpPr>
          <p:cNvPr id="597" name="任意多边形 47"/>
          <p:cNvSpPr/>
          <p:nvPr>
            <p:custDataLst>
              <p:tags r:id="rId47"/>
            </p:custDataLst>
          </p:nvPr>
        </p:nvSpPr>
        <p:spPr>
          <a:xfrm rot="10800000">
            <a:off x="1321118" y="3015933"/>
            <a:ext cx="3204845" cy="7753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8" name="任意多边形 46"/>
          <p:cNvSpPr/>
          <p:nvPr>
            <p:custDataLst>
              <p:tags r:id="rId48"/>
            </p:custDataLst>
          </p:nvPr>
        </p:nvSpPr>
        <p:spPr>
          <a:xfrm rot="10800000">
            <a:off x="1682750" y="3068638"/>
            <a:ext cx="2481580" cy="49403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9" name="下箭头 143"/>
          <p:cNvSpPr/>
          <p:nvPr/>
        </p:nvSpPr>
        <p:spPr>
          <a:xfrm rot="10800000">
            <a:off x="2893378" y="247618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0" name="下箭头 145"/>
          <p:cNvSpPr/>
          <p:nvPr/>
        </p:nvSpPr>
        <p:spPr>
          <a:xfrm rot="10800000">
            <a:off x="2483168" y="247237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1" name="下箭头 146"/>
          <p:cNvSpPr/>
          <p:nvPr/>
        </p:nvSpPr>
        <p:spPr>
          <a:xfrm rot="10800000">
            <a:off x="3305493" y="247237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2" name="下箭头 57"/>
          <p:cNvSpPr/>
          <p:nvPr/>
        </p:nvSpPr>
        <p:spPr>
          <a:xfrm>
            <a:off x="3113723" y="2605088"/>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3" name="下箭头 58"/>
          <p:cNvSpPr/>
          <p:nvPr/>
        </p:nvSpPr>
        <p:spPr>
          <a:xfrm>
            <a:off x="2638108" y="261588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0" name="下箭头 146"/>
          <p:cNvSpPr/>
          <p:nvPr/>
        </p:nvSpPr>
        <p:spPr>
          <a:xfrm rot="10800000">
            <a:off x="1264285" y="266806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1" name="下箭头 57"/>
          <p:cNvSpPr/>
          <p:nvPr/>
        </p:nvSpPr>
        <p:spPr>
          <a:xfrm>
            <a:off x="1072515" y="336454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2" name="下箭头 146"/>
          <p:cNvSpPr/>
          <p:nvPr/>
        </p:nvSpPr>
        <p:spPr>
          <a:xfrm rot="10800000">
            <a:off x="4645343" y="267123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3" name="下箭头 57"/>
          <p:cNvSpPr/>
          <p:nvPr/>
        </p:nvSpPr>
        <p:spPr>
          <a:xfrm>
            <a:off x="4453573" y="336772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971" name="矩形 970"/>
          <p:cNvSpPr/>
          <p:nvPr/>
        </p:nvSpPr>
        <p:spPr>
          <a:xfrm>
            <a:off x="5740400" y="1158875"/>
            <a:ext cx="335280" cy="2218690"/>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400" b="1">
                <a:latin typeface="微软雅黑" panose="020B0503020204020204" charset="-122"/>
                <a:ea typeface="微软雅黑" panose="020B0503020204020204" charset="-122"/>
              </a:rPr>
              <a:t>AI</a:t>
            </a:r>
            <a:endParaRPr lang="en-US" altLang="zh-CN" sz="1400" b="1">
              <a:latin typeface="微软雅黑" panose="020B0503020204020204" charset="-122"/>
              <a:ea typeface="微软雅黑" panose="020B0503020204020204" charset="-122"/>
            </a:endParaRPr>
          </a:p>
          <a:p>
            <a:pPr algn="ctr"/>
            <a:r>
              <a:rPr lang="zh-CN" altLang="en-US" sz="1400" b="1">
                <a:latin typeface="微软雅黑" panose="020B0503020204020204" charset="-122"/>
                <a:ea typeface="微软雅黑" panose="020B0503020204020204" charset="-122"/>
              </a:rPr>
              <a:t>安服技术创新</a:t>
            </a:r>
            <a:endParaRPr lang="zh-CN" altLang="en-US" sz="1400" b="1">
              <a:latin typeface="微软雅黑" panose="020B0503020204020204" charset="-122"/>
              <a:ea typeface="微软雅黑" panose="020B0503020204020204" charset="-122"/>
            </a:endParaRPr>
          </a:p>
        </p:txBody>
      </p:sp>
      <p:sp>
        <p:nvSpPr>
          <p:cNvPr id="972" name="矩形 971"/>
          <p:cNvSpPr/>
          <p:nvPr/>
        </p:nvSpPr>
        <p:spPr>
          <a:xfrm>
            <a:off x="5740400" y="3562985"/>
            <a:ext cx="335280" cy="2964815"/>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400" b="1">
                <a:latin typeface="微软雅黑" panose="020B0503020204020204" charset="-122"/>
                <a:ea typeface="微软雅黑" panose="020B0503020204020204" charset="-122"/>
              </a:rPr>
              <a:t>方案建议</a:t>
            </a:r>
            <a:r>
              <a:rPr lang="zh-CN" altLang="en-US" sz="1400" b="1">
                <a:latin typeface="微软雅黑" panose="020B0503020204020204" charset="-122"/>
                <a:ea typeface="微软雅黑" panose="020B0503020204020204" charset="-122"/>
              </a:rPr>
              <a:t>配置清单</a:t>
            </a:r>
            <a:endParaRPr lang="zh-CN" altLang="en-US" sz="1400" b="1">
              <a:latin typeface="微软雅黑" panose="020B0503020204020204" charset="-122"/>
              <a:ea typeface="微软雅黑" panose="020B0503020204020204" charset="-122"/>
            </a:endParaRPr>
          </a:p>
        </p:txBody>
      </p:sp>
      <p:sp>
        <p:nvSpPr>
          <p:cNvPr id="974" name="文本框 973"/>
          <p:cNvSpPr txBox="1"/>
          <p:nvPr/>
        </p:nvSpPr>
        <p:spPr>
          <a:xfrm>
            <a:off x="6165850" y="1138555"/>
            <a:ext cx="5612765" cy="273050"/>
          </a:xfrm>
          <a:prstGeom prst="rect">
            <a:avLst/>
          </a:prstGeom>
          <a:noFill/>
        </p:spPr>
        <p:txBody>
          <a:bodyPr wrap="square" rtlCol="0">
            <a:noAutofit/>
          </a:bodyPr>
          <a:lstStyle/>
          <a:p>
            <a:pPr algn="l"/>
            <a:r>
              <a:rPr lang="en-US" sz="1200">
                <a:solidFill>
                  <a:schemeClr val="accent1"/>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赋能支持威胁检测、分析研判、智能处置</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等全栈效率提升，带来更强运营</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能力</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976" name="图像" descr="图像"/>
          <p:cNvPicPr/>
          <p:nvPr>
            <p:custDataLst>
              <p:tags r:id="rId49"/>
            </p:custDataLst>
          </p:nvPr>
        </p:nvPicPr>
        <p:blipFill>
          <a:blip r:embed="rId50"/>
          <a:stretch>
            <a:fillRect/>
          </a:stretch>
        </p:blipFill>
        <p:spPr>
          <a:xfrm>
            <a:off x="6569710" y="1524635"/>
            <a:ext cx="360045" cy="360045"/>
          </a:xfrm>
          <a:prstGeom prst="rect">
            <a:avLst/>
          </a:prstGeom>
          <a:effectLst/>
        </p:spPr>
      </p:pic>
      <p:sp>
        <p:nvSpPr>
          <p:cNvPr id="977" name="文本框 976"/>
          <p:cNvSpPr txBox="1"/>
          <p:nvPr>
            <p:custDataLst>
              <p:tags r:id="rId51"/>
            </p:custDataLst>
          </p:nvPr>
        </p:nvSpPr>
        <p:spPr>
          <a:xfrm>
            <a:off x="6280785" y="184975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检测类大模型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79" name="图像" descr="图像"/>
          <p:cNvPicPr/>
          <p:nvPr>
            <p:custDataLst>
              <p:tags r:id="rId52"/>
            </p:custDataLst>
          </p:nvPr>
        </p:nvPicPr>
        <p:blipFill>
          <a:blip r:embed="rId50"/>
          <a:stretch>
            <a:fillRect/>
          </a:stretch>
        </p:blipFill>
        <p:spPr>
          <a:xfrm>
            <a:off x="6569075" y="2132330"/>
            <a:ext cx="360000" cy="360000"/>
          </a:xfrm>
          <a:prstGeom prst="rect">
            <a:avLst/>
          </a:prstGeom>
          <a:effectLst/>
        </p:spPr>
      </p:pic>
      <p:sp>
        <p:nvSpPr>
          <p:cNvPr id="980" name="文本框 979"/>
          <p:cNvSpPr txBox="1"/>
          <p:nvPr>
            <p:custDataLst>
              <p:tags r:id="rId53"/>
            </p:custDataLst>
          </p:nvPr>
        </p:nvSpPr>
        <p:spPr>
          <a:xfrm>
            <a:off x="6280150" y="246824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运营类大模型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82" name="图片 981"/>
          <p:cNvPicPr/>
          <p:nvPr/>
        </p:nvPicPr>
        <p:blipFill>
          <a:blip r:embed="rId54"/>
          <a:stretch>
            <a:fillRect/>
          </a:stretch>
        </p:blipFill>
        <p:spPr>
          <a:xfrm>
            <a:off x="6569075" y="2733040"/>
            <a:ext cx="360000" cy="360000"/>
          </a:xfrm>
          <a:prstGeom prst="rect">
            <a:avLst/>
          </a:prstGeom>
        </p:spPr>
      </p:pic>
      <p:sp>
        <p:nvSpPr>
          <p:cNvPr id="983" name="文本框 982"/>
          <p:cNvSpPr txBox="1"/>
          <p:nvPr>
            <p:custDataLst>
              <p:tags r:id="rId55"/>
            </p:custDataLst>
          </p:nvPr>
        </p:nvSpPr>
        <p:spPr>
          <a:xfrm>
            <a:off x="6202680" y="3128010"/>
            <a:ext cx="1180465"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en-US" altLang="zh-CN" sz="900" b="1">
                <a:solidFill>
                  <a:schemeClr val="tx1"/>
                </a:solidFill>
                <a:effectLst/>
                <a:latin typeface="微软雅黑" panose="020B0503020204020204" charset="-122"/>
                <a:ea typeface="微软雅黑" panose="020B0503020204020204" charset="-122"/>
                <a:sym typeface="+mn-ea"/>
              </a:rPr>
              <a:t>MSS</a:t>
            </a:r>
            <a:r>
              <a:rPr lang="zh-CN" altLang="en-US" sz="900" b="1">
                <a:solidFill>
                  <a:schemeClr val="tx1"/>
                </a:solidFill>
                <a:effectLst/>
                <a:latin typeface="微软雅黑" panose="020B0503020204020204" charset="-122"/>
                <a:ea typeface="微软雅黑" panose="020B0503020204020204" charset="-122"/>
                <a:sym typeface="+mn-ea"/>
              </a:rPr>
              <a:t>数字化助理</a:t>
            </a:r>
            <a:endParaRPr lang="zh-CN" altLang="en-US" sz="900" b="1">
              <a:solidFill>
                <a:schemeClr val="tx1"/>
              </a:solidFill>
              <a:effectLst/>
              <a:latin typeface="微软雅黑" panose="020B0503020204020204" charset="-122"/>
              <a:ea typeface="微软雅黑" panose="020B0503020204020204" charset="-122"/>
              <a:sym typeface="+mn-ea"/>
            </a:endParaRPr>
          </a:p>
        </p:txBody>
      </p:sp>
      <p:sp>
        <p:nvSpPr>
          <p:cNvPr id="984" name="文本框 983"/>
          <p:cNvSpPr txBox="1"/>
          <p:nvPr/>
        </p:nvSpPr>
        <p:spPr>
          <a:xfrm>
            <a:off x="7234555" y="1508760"/>
            <a:ext cx="3063875" cy="570865"/>
          </a:xfrm>
          <a:prstGeom prst="rect">
            <a:avLst/>
          </a:prstGeom>
          <a:noFill/>
        </p:spPr>
        <p:txBody>
          <a:bodyPr wrap="square" rtlCol="0" anchor="ctr" anchorCtr="0">
            <a:noAutofit/>
          </a:bodyPr>
          <a:lstStyle/>
          <a:p>
            <a:pPr algn="l"/>
            <a:r>
              <a:rPr lang="zh-CN" altLang="en-US" sz="1000" dirty="0">
                <a:latin typeface="微软雅黑" panose="020B0503020204020204" charset="-122"/>
                <a:ea typeface="微软雅黑" panose="020B0503020204020204" charset="-122"/>
                <a:sym typeface="+mn-ea"/>
              </a:rPr>
              <a:t>从全网日志中，精准识别各类</a:t>
            </a:r>
            <a:r>
              <a:rPr lang="zh-CN" altLang="en-US" sz="1000" b="1" dirty="0">
                <a:latin typeface="微软雅黑" panose="020B0503020204020204" charset="-122"/>
                <a:ea typeface="微软雅黑" panose="020B0503020204020204" charset="-122"/>
                <a:sym typeface="+mn-ea"/>
              </a:rPr>
              <a:t>常见/新型的勒索变种攻击、0DAY漏洞利用、webshell投递等攻击行为。</a:t>
            </a:r>
            <a:endParaRPr kumimoji="1" lang="zh-CN" altLang="en-US" sz="1000" b="1" dirty="0">
              <a:solidFill>
                <a:schemeClr val="tx1"/>
              </a:solidFill>
              <a:latin typeface="微软雅黑" panose="020B0503020204020204" charset="-122"/>
              <a:ea typeface="微软雅黑" panose="020B0503020204020204" charset="-122"/>
              <a:sym typeface="+mn-ea"/>
            </a:endParaRPr>
          </a:p>
        </p:txBody>
      </p:sp>
      <p:sp>
        <p:nvSpPr>
          <p:cNvPr id="985" name="文本框 984"/>
          <p:cNvSpPr txBox="1"/>
          <p:nvPr/>
        </p:nvSpPr>
        <p:spPr>
          <a:xfrm>
            <a:off x="7251065" y="2103120"/>
            <a:ext cx="3063875" cy="502920"/>
          </a:xfrm>
          <a:prstGeom prst="rect">
            <a:avLst/>
          </a:prstGeom>
          <a:noFill/>
        </p:spPr>
        <p:txBody>
          <a:bodyPr wrap="square" rtlCol="0" anchor="ctr" anchorCtr="0">
            <a:noAutofit/>
          </a:bodyPr>
          <a:lstStyle/>
          <a:p>
            <a:pPr algn="l"/>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安服技术创新，</a:t>
            </a:r>
            <a:r>
              <a:rPr kumimoji="1" lang="zh-CN" altLang="en-US" sz="1000" b="1">
                <a:solidFill>
                  <a:schemeClr val="tx1"/>
                </a:solidFill>
                <a:latin typeface="微软雅黑" panose="020B0503020204020204" charset="-122"/>
                <a:ea typeface="微软雅黑" panose="020B0503020204020204" charset="-122"/>
                <a:sym typeface="+mn-ea"/>
              </a:rPr>
              <a:t>全量告警逐条研判定性，各类强</a:t>
            </a:r>
            <a:r>
              <a:rPr kumimoji="1" lang="en-US" altLang="zh-CN" sz="1000" b="1">
                <a:solidFill>
                  <a:schemeClr val="tx1"/>
                </a:solidFill>
                <a:latin typeface="微软雅黑" panose="020B0503020204020204" charset="-122"/>
                <a:ea typeface="微软雅黑" panose="020B0503020204020204" charset="-122"/>
                <a:sym typeface="+mn-ea"/>
              </a:rPr>
              <a:t>/</a:t>
            </a:r>
            <a:r>
              <a:rPr kumimoji="1" lang="zh-CN" altLang="en-US" sz="1000" b="1">
                <a:solidFill>
                  <a:schemeClr val="tx1"/>
                </a:solidFill>
                <a:latin typeface="微软雅黑" panose="020B0503020204020204" charset="-122"/>
                <a:ea typeface="微软雅黑" panose="020B0503020204020204" charset="-122"/>
                <a:sym typeface="+mn-ea"/>
              </a:rPr>
              <a:t>弱威胁信号均需经过审核，威胁不漏过。</a:t>
            </a:r>
            <a:endParaRPr kumimoji="1" lang="zh-CN" altLang="en-US" sz="1000" b="1">
              <a:solidFill>
                <a:schemeClr val="tx1"/>
              </a:solidFill>
              <a:latin typeface="微软雅黑" panose="020B0503020204020204" charset="-122"/>
              <a:ea typeface="微软雅黑" panose="020B0503020204020204" charset="-122"/>
              <a:sym typeface="+mn-ea"/>
            </a:endParaRPr>
          </a:p>
        </p:txBody>
      </p:sp>
      <p:sp>
        <p:nvSpPr>
          <p:cNvPr id="986" name="文本框 985"/>
          <p:cNvSpPr txBox="1"/>
          <p:nvPr/>
        </p:nvSpPr>
        <p:spPr>
          <a:xfrm>
            <a:off x="7234555" y="2698115"/>
            <a:ext cx="3063875" cy="504190"/>
          </a:xfrm>
          <a:prstGeom prst="rect">
            <a:avLst/>
          </a:prstGeom>
          <a:noFill/>
        </p:spPr>
        <p:txBody>
          <a:bodyPr wrap="square" rtlCol="0" anchor="ctr" anchorCtr="0">
            <a:noAutofit/>
          </a:bodyPr>
          <a:lstStyle/>
          <a:p>
            <a:pPr lvl="0" algn="l">
              <a:buClrTx/>
              <a:buSzTx/>
              <a:buFontTx/>
            </a:pPr>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数字化助理，</a:t>
            </a:r>
            <a:r>
              <a:rPr kumimoji="1" lang="zh-CN" altLang="en-US" sz="1000" b="1">
                <a:solidFill>
                  <a:schemeClr val="tx1"/>
                </a:solidFill>
                <a:latin typeface="微软雅黑" panose="020B0503020204020204" charset="-122"/>
                <a:ea typeface="微软雅黑" panose="020B0503020204020204" charset="-122"/>
                <a:sym typeface="+mn-ea"/>
              </a:rPr>
              <a:t>提升各类疑难问题处理效率及质量</a:t>
            </a:r>
            <a:r>
              <a:rPr kumimoji="1" lang="zh-CN" altLang="en-US" sz="1000">
                <a:solidFill>
                  <a:schemeClr val="tx1"/>
                </a:solidFill>
                <a:latin typeface="微软雅黑" panose="020B0503020204020204" charset="-122"/>
                <a:ea typeface="微软雅黑" panose="020B0503020204020204" charset="-122"/>
                <a:sym typeface="+mn-ea"/>
              </a:rPr>
              <a:t>，降低问题响应时长，提升各类问题处置效率。</a:t>
            </a:r>
            <a:endParaRPr kumimoji="1" lang="zh-CN" altLang="en-US" sz="1000">
              <a:solidFill>
                <a:schemeClr val="tx1"/>
              </a:solidFill>
              <a:latin typeface="微软雅黑" panose="020B0503020204020204" charset="-122"/>
              <a:ea typeface="微软雅黑" panose="020B0503020204020204" charset="-122"/>
              <a:sym typeface="+mn-ea"/>
            </a:endParaRPr>
          </a:p>
        </p:txBody>
      </p:sp>
      <p:sp>
        <p:nvSpPr>
          <p:cNvPr id="987" name="矩形 986"/>
          <p:cNvSpPr/>
          <p:nvPr/>
        </p:nvSpPr>
        <p:spPr>
          <a:xfrm>
            <a:off x="6202680" y="1414145"/>
            <a:ext cx="5511800" cy="1943735"/>
          </a:xfrm>
          <a:prstGeom prst="rect">
            <a:avLst/>
          </a:prstGeom>
          <a:noFill/>
          <a:ln>
            <a:solidFill>
              <a:srgbClr val="4E984F"/>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3" name="图片 22" descr="深信服 + 智安全"/>
          <p:cNvPicPr>
            <a:picLocks noChangeAspect="1"/>
          </p:cNvPicPr>
          <p:nvPr/>
        </p:nvPicPr>
        <p:blipFill>
          <a:blip r:embed="rId56"/>
          <a:srcRect l="5232" t="26576" r="4938" b="29565"/>
          <a:stretch>
            <a:fillRect/>
          </a:stretch>
        </p:blipFill>
        <p:spPr>
          <a:xfrm>
            <a:off x="10017125" y="238760"/>
            <a:ext cx="1629867" cy="360000"/>
          </a:xfrm>
          <a:prstGeom prst="rect">
            <a:avLst/>
          </a:prstGeom>
        </p:spPr>
      </p:pic>
      <p:sp>
        <p:nvSpPr>
          <p:cNvPr id="24" name="文本框 23"/>
          <p:cNvSpPr txBox="1"/>
          <p:nvPr/>
        </p:nvSpPr>
        <p:spPr>
          <a:xfrm>
            <a:off x="10440035" y="1633220"/>
            <a:ext cx="1054735"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监测范围</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全</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5" name="文本框 24"/>
          <p:cNvSpPr txBox="1"/>
          <p:nvPr/>
        </p:nvSpPr>
        <p:spPr>
          <a:xfrm>
            <a:off x="10440035" y="219360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覆盖资产</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广</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6" name="文本框 25"/>
          <p:cNvSpPr txBox="1"/>
          <p:nvPr/>
        </p:nvSpPr>
        <p:spPr>
          <a:xfrm>
            <a:off x="10439400" y="278923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处置闭环</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快</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graphicFrame>
        <p:nvGraphicFramePr>
          <p:cNvPr id="27" name="表格 26"/>
          <p:cNvGraphicFramePr/>
          <p:nvPr>
            <p:custDataLst>
              <p:tags r:id="rId57"/>
            </p:custDataLst>
          </p:nvPr>
        </p:nvGraphicFramePr>
        <p:xfrm>
          <a:off x="6202680" y="3562985"/>
          <a:ext cx="5511800" cy="2964815"/>
        </p:xfrm>
        <a:graphic>
          <a:graphicData uri="http://schemas.openxmlformats.org/drawingml/2006/table">
            <a:tbl>
              <a:tblPr firstRow="1" bandRow="1"/>
              <a:tblGrid>
                <a:gridCol w="757555"/>
                <a:gridCol w="3792220"/>
                <a:gridCol w="962025"/>
              </a:tblGrid>
              <a:tr h="23685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配置项</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核心能力支持</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采购类型</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r>
              <a:tr h="788670">
                <a:tc>
                  <a:txBody>
                    <a:bodyPr/>
                    <a:lstStyle/>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SaaS XDR</a:t>
                      </a:r>
                      <a:endParaRPr lang="en-US" altLang="zh-CN" sz="1000" dirty="0">
                        <a:latin typeface="微软雅黑" panose="020B0503020204020204" charset="-122"/>
                        <a:ea typeface="微软雅黑" panose="020B0503020204020204" charset="-122"/>
                        <a:cs typeface="微软雅黑" panose="020B0503020204020204" charset="-122"/>
                      </a:endParaRPr>
                    </a:p>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a:t>
                      </a:r>
                      <a:r>
                        <a:rPr lang="zh-CN" altLang="en-US" sz="1000" dirty="0">
                          <a:latin typeface="微软雅黑" panose="020B0503020204020204" charset="-122"/>
                          <a:ea typeface="微软雅黑" panose="020B0503020204020204" charset="-122"/>
                          <a:cs typeface="微软雅黑" panose="020B0503020204020204" charset="-122"/>
                        </a:rPr>
                        <a:t>包含运营大模型）</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云化安全运营平台，聚合本地流量和主机日志汇总分析，实现完整入侵链条的可视化呈现，联动边界和终端组件实现</a:t>
                      </a:r>
                      <a:r>
                        <a:rPr lang="zh-CN" altLang="en-US" sz="1000" dirty="0">
                          <a:latin typeface="微软雅黑" panose="020B0503020204020204" charset="-122"/>
                          <a:ea typeface="微软雅黑" panose="020B0503020204020204" charset="-122"/>
                          <a:cs typeface="微软雅黑" panose="020B0503020204020204" charset="-122"/>
                        </a:rPr>
                        <a:t>智能处置；</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赋能全量告警（事件）</a:t>
                      </a:r>
                      <a:r>
                        <a:rPr lang="en-US" altLang="zh-CN" sz="1000" b="0" i="0" spc="0" dirty="0">
                          <a:solidFill>
                            <a:srgbClr val="000000"/>
                          </a:solidFill>
                          <a:effectLst/>
                          <a:latin typeface="微软雅黑" panose="020B0503020204020204" charset="-122"/>
                          <a:ea typeface="微软雅黑" panose="020B0503020204020204" charset="-122"/>
                        </a:rPr>
                        <a:t>AI</a:t>
                      </a:r>
                      <a:r>
                        <a:rPr lang="zh-CN" altLang="en-US" sz="1000" b="0" i="0" spc="0" dirty="0">
                          <a:solidFill>
                            <a:srgbClr val="000000"/>
                          </a:solidFill>
                          <a:effectLst/>
                          <a:latin typeface="微软雅黑" panose="020B0503020204020204" charset="-122"/>
                          <a:ea typeface="微软雅黑" panose="020B0503020204020204" charset="-122"/>
                        </a:rPr>
                        <a:t>智能研判分析、定性，辅助决策的智能响应、智能推荐处置预案，</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辅助运营助手辅助高效排查、统计及问答等。</a:t>
                      </a:r>
                      <a:endParaRPr lang="zh-CN" altLang="en-US" sz="1000" dirty="0">
                        <a:effectLst/>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buNone/>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安全托管服务</a:t>
                      </a:r>
                      <a:r>
                        <a:rPr lang="en-US" altLang="zh-CN" sz="1000" dirty="0">
                          <a:highlight>
                            <a:srgbClr val="FFFF00"/>
                          </a:highlight>
                          <a:latin typeface="微软雅黑" panose="020B0503020204020204" charset="-122"/>
                          <a:ea typeface="微软雅黑" panose="020B0503020204020204" charset="-122"/>
                          <a:cs typeface="微软雅黑" panose="020B0503020204020204" charset="-122"/>
                        </a:rPr>
                        <a:t>MSS*X</a:t>
                      </a:r>
                      <a:r>
                        <a:rPr lang="zh-CN" altLang="en-US" sz="1000" dirty="0">
                          <a:highlight>
                            <a:srgbClr val="FFFF00"/>
                          </a:highlight>
                          <a:latin typeface="微软雅黑" panose="020B0503020204020204" charset="-122"/>
                          <a:ea typeface="微软雅黑" panose="020B0503020204020204" charset="-122"/>
                          <a:cs typeface="微软雅黑" panose="020B0503020204020204" charset="-122"/>
                        </a:rPr>
                        <a:t>资产</a:t>
                      </a:r>
                      <a:endParaRPr lang="zh-CN" altLang="en-US" sz="1000" dirty="0">
                        <a:highlight>
                          <a:srgbClr val="FFFF00"/>
                        </a:highlight>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云端专家</a:t>
                      </a:r>
                      <a:r>
                        <a:rPr lang="en-US" altLang="zh-CN" sz="1000" dirty="0">
                          <a:latin typeface="微软雅黑" panose="020B0503020204020204" charset="-122"/>
                          <a:ea typeface="微软雅黑" panose="020B0503020204020204" charset="-122"/>
                          <a:cs typeface="微软雅黑" panose="020B0503020204020204" charset="-122"/>
                        </a:rPr>
                        <a:t>7*24H</a:t>
                      </a:r>
                      <a:r>
                        <a:rPr lang="zh-CN" altLang="en-US" sz="1000" dirty="0">
                          <a:latin typeface="微软雅黑" panose="020B0503020204020204" charset="-122"/>
                          <a:ea typeface="微软雅黑" panose="020B0503020204020204" charset="-122"/>
                          <a:cs typeface="微软雅黑" panose="020B0503020204020204" charset="-122"/>
                        </a:rPr>
                        <a:t>持续提供服务，实现安全事件</a:t>
                      </a:r>
                      <a:r>
                        <a:rPr lang="en-US" altLang="zh-CN" sz="1000" dirty="0">
                          <a:latin typeface="微软雅黑" panose="020B0503020204020204" charset="-122"/>
                          <a:ea typeface="微软雅黑" panose="020B0503020204020204" charset="-122"/>
                          <a:cs typeface="微软雅黑" panose="020B0503020204020204" charset="-122"/>
                        </a:rPr>
                        <a:t>100%</a:t>
                      </a:r>
                      <a:r>
                        <a:rPr lang="zh-CN" altLang="en-US" sz="1000" dirty="0">
                          <a:latin typeface="微软雅黑" panose="020B0503020204020204" charset="-122"/>
                          <a:ea typeface="微软雅黑" panose="020B0503020204020204" charset="-122"/>
                          <a:cs typeface="微软雅黑" panose="020B0503020204020204" charset="-122"/>
                        </a:rPr>
                        <a:t>闭环，为用户保障可承诺的检测与响应效果。</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加点</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1623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SaaS </a:t>
                      </a:r>
                      <a:r>
                        <a:rPr lang="en-US" altLang="zh-CN" sz="1000" dirty="0" err="1">
                          <a:latin typeface="微软雅黑" panose="020B0503020204020204" charset="-122"/>
                          <a:ea typeface="微软雅黑" panose="020B0503020204020204" charset="-122"/>
                        </a:rPr>
                        <a:t>aES</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端点威胁检测，端点安全问题联动处置，大幅提升安全事件响应</a:t>
                      </a:r>
                      <a:r>
                        <a:rPr lang="zh-CN" altLang="en-US" sz="1000" dirty="0">
                          <a:latin typeface="微软雅黑" panose="020B0503020204020204" charset="-122"/>
                          <a:ea typeface="微软雅黑" panose="020B0503020204020204" charset="-122"/>
                          <a:cs typeface="微软雅黑" panose="020B0503020204020204" charset="-122"/>
                        </a:rPr>
                        <a:t>和闭环</a:t>
                      </a:r>
                      <a:r>
                        <a:rPr lang="zh-CN" altLang="en-US" sz="1000" dirty="0">
                          <a:latin typeface="微软雅黑" panose="020B0503020204020204" charset="-122"/>
                          <a:ea typeface="微软雅黑" panose="020B0503020204020204" charset="-122"/>
                          <a:cs typeface="微软雅黑" panose="020B0503020204020204" charset="-122"/>
                        </a:rPr>
                        <a:t>效率。</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kern="1200" dirty="0">
                          <a:solidFill>
                            <a:schemeClr val="tx1"/>
                          </a:solidFill>
                          <a:latin typeface="微软雅黑" panose="020B0503020204020204" charset="-122"/>
                          <a:ea typeface="微软雅黑" panose="020B0503020204020204" charset="-122"/>
                        </a:rPr>
                        <a:t>续期</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加点</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4861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下一代防火墙</a:t>
                      </a:r>
                      <a:r>
                        <a:rPr lang="en-US" altLang="zh-CN" sz="1000" dirty="0">
                          <a:latin typeface="微软雅黑" panose="020B0503020204020204" charset="-122"/>
                          <a:ea typeface="微软雅黑" panose="020B0503020204020204" charset="-122"/>
                          <a:cs typeface="微软雅黑" panose="020B0503020204020204" charset="-122"/>
                        </a:rPr>
                        <a:t>AF</a:t>
                      </a:r>
                      <a:endParaRPr lang="en-US" altLang="zh-CN"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提供网络边界防御能力，实现南北向流量监测与</a:t>
                      </a:r>
                      <a:r>
                        <a:rPr lang="zh-CN" altLang="en-US" sz="1000" dirty="0">
                          <a:latin typeface="微软雅黑" panose="020B0503020204020204" charset="-122"/>
                          <a:ea typeface="微软雅黑" panose="020B0503020204020204" charset="-122"/>
                          <a:cs typeface="微软雅黑" panose="020B0503020204020204" charset="-122"/>
                        </a:rPr>
                        <a:t>防护，实现边界防护的安全托管。</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kern="1200" dirty="0">
                          <a:solidFill>
                            <a:schemeClr val="tx1"/>
                          </a:solidFill>
                          <a:latin typeface="微软雅黑" panose="020B0503020204020204" charset="-122"/>
                          <a:ea typeface="微软雅黑" panose="020B0503020204020204" charset="-122"/>
                        </a:rPr>
                        <a:t>按需选型，续保</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r>
              <a:tr h="3270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chemeClr val="tx1"/>
                          </a:solidFill>
                          <a:latin typeface="Microsoft YaHei UI" panose="020B0503020204020204" pitchFamily="34" charset="-122"/>
                          <a:ea typeface="Microsoft YaHei UI" panose="020B0503020204020204" pitchFamily="34" charset="-122"/>
                        </a:rPr>
                        <a:t>流量检测探针</a:t>
                      </a:r>
                      <a:r>
                        <a:rPr lang="en-US" altLang="zh-CN" sz="1000" dirty="0">
                          <a:solidFill>
                            <a:schemeClr val="tx1"/>
                          </a:solidFill>
                          <a:latin typeface="Microsoft YaHei UI" panose="020B0503020204020204" pitchFamily="34" charset="-122"/>
                          <a:ea typeface="Microsoft YaHei UI" panose="020B0503020204020204" pitchFamily="34" charset="-122"/>
                        </a:rPr>
                        <a:t>STA</a:t>
                      </a:r>
                      <a:endParaRPr lang="zh-CN" altLang="en-US" sz="1000" dirty="0">
                        <a:solidFill>
                          <a:schemeClr val="tx1"/>
                        </a:solidFill>
                        <a:latin typeface="Microsoft YaHei UI" panose="020B0503020204020204" pitchFamily="34" charset="-122"/>
                        <a:ea typeface="Microsoft YaHei UI" panose="020B0503020204020204" pitchFamily="3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潜伏威胁探针，用于网络流量采集和分析，采集从内到外，从外到内流量。</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0" indent="0" algn="ctr" defTabSz="914400" rtl="0" eaLnBrk="1" latinLnBrk="0" hangingPunct="1">
                        <a:buNone/>
                      </a:pPr>
                      <a:r>
                        <a:rPr lang="zh-CN" altLang="en-US" sz="1000" dirty="0">
                          <a:latin typeface="微软雅黑" panose="020B0503020204020204" charset="-122"/>
                          <a:ea typeface="微软雅黑" panose="020B0503020204020204" charset="-122"/>
                          <a:sym typeface="+mn-ea"/>
                        </a:rPr>
                        <a:t>按需选型，续保</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EASM</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持续监测互联网暴露面，以便收敛已知、未知的暴露面，持续监测暴露面潜在风险，</a:t>
                      </a:r>
                      <a:r>
                        <a:rPr lang="zh-CN" altLang="en-US" sz="1000" dirty="0">
                          <a:latin typeface="微软雅黑" panose="020B0503020204020204" charset="-122"/>
                          <a:ea typeface="微软雅黑" panose="020B0503020204020204" charset="-122"/>
                          <a:cs typeface="微软雅黑" panose="020B0503020204020204" charset="-122"/>
                          <a:sym typeface="+mn-ea"/>
                        </a:rPr>
                        <a:t>降低资产被外部攻击的可能性；</a:t>
                      </a:r>
                      <a:endParaRPr lang="zh-CN" altLang="en-US" sz="1000" dirty="0">
                        <a:latin typeface="微软雅黑" panose="020B0503020204020204" charset="-122"/>
                        <a:ea typeface="微软雅黑" panose="020B0503020204020204" charset="-122"/>
                        <a:cs typeface="微软雅黑" panose="020B0503020204020204" charset="-122"/>
                      </a:endParaRPr>
                    </a:p>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2.</a:t>
                      </a:r>
                      <a:r>
                        <a:rPr lang="zh-CN" altLang="en-US" sz="1000" dirty="0">
                          <a:latin typeface="微软雅黑" panose="020B0503020204020204" charset="-122"/>
                          <a:ea typeface="微软雅黑" panose="020B0503020204020204" charset="-122"/>
                          <a:cs typeface="微软雅黑" panose="020B0503020204020204" charset="-122"/>
                        </a:rPr>
                        <a:t>全网敏感信息排查，主动发现数据泄露</a:t>
                      </a:r>
                      <a:r>
                        <a:rPr lang="zh-CN" altLang="en-US" sz="1000" dirty="0">
                          <a:latin typeface="微软雅黑" panose="020B0503020204020204" charset="-122"/>
                          <a:ea typeface="微软雅黑" panose="020B0503020204020204" charset="-122"/>
                          <a:cs typeface="微软雅黑" panose="020B0503020204020204" charset="-122"/>
                        </a:rPr>
                        <a:t>情况。</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tx1"/>
                          </a:solidFill>
                          <a:latin typeface="微软雅黑" panose="020B0503020204020204" charset="-122"/>
                          <a:ea typeface="微软雅黑" panose="020B0503020204020204" charset="-122"/>
                          <a:cs typeface="+mn-cs"/>
                        </a:rPr>
                        <a:t>可选，按需</a:t>
                      </a:r>
                      <a:endParaRPr lang="zh-CN" altLang="en-US" sz="1000" kern="1200" dirty="0">
                        <a:solidFill>
                          <a:schemeClr val="tx1"/>
                        </a:solidFill>
                        <a:latin typeface="微软雅黑" panose="020B0503020204020204" charset="-122"/>
                        <a:ea typeface="微软雅黑" panose="020B050302020402020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36" name="组合 135"/>
          <p:cNvGrpSpPr/>
          <p:nvPr/>
        </p:nvGrpSpPr>
        <p:grpSpPr>
          <a:xfrm>
            <a:off x="719455" y="1218565"/>
            <a:ext cx="4499610" cy="1438910"/>
            <a:chOff x="726" y="1583"/>
            <a:chExt cx="7086" cy="2266"/>
          </a:xfrm>
        </p:grpSpPr>
        <p:sp>
          <p:nvSpPr>
            <p:cNvPr id="242" name="PA-椭圆 227_1"/>
            <p:cNvSpPr/>
            <p:nvPr>
              <p:custDataLst>
                <p:tags r:id="rId58"/>
              </p:custDataLst>
            </p:nvPr>
          </p:nvSpPr>
          <p:spPr>
            <a:xfrm rot="10800000">
              <a:off x="726" y="1583"/>
              <a:ext cx="7087" cy="2267"/>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1777" y="1791"/>
              <a:ext cx="1741" cy="707"/>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5749" y="2582"/>
              <a:ext cx="1445" cy="689"/>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3106" y="2622"/>
              <a:ext cx="1134" cy="761"/>
              <a:chOff x="5374" y="3400"/>
              <a:chExt cx="1204" cy="1087"/>
            </a:xfrm>
          </p:grpSpPr>
          <p:pic>
            <p:nvPicPr>
              <p:cNvPr id="251" name="图片 250"/>
              <p:cNvPicPr>
                <a:picLocks noChangeAspect="1"/>
              </p:cNvPicPr>
              <p:nvPr/>
            </p:nvPicPr>
            <p:blipFill>
              <a:blip r:embed="rId59"/>
              <a:srcRect/>
              <a:stretch>
                <a:fillRect/>
              </a:stretch>
            </p:blipFill>
            <p:spPr>
              <a:xfrm>
                <a:off x="5594" y="3400"/>
                <a:ext cx="398" cy="506"/>
              </a:xfrm>
              <a:prstGeom prst="rect">
                <a:avLst/>
              </a:prstGeom>
            </p:spPr>
          </p:pic>
          <p:pic>
            <p:nvPicPr>
              <p:cNvPr id="252" name="图片 251"/>
              <p:cNvPicPr>
                <a:picLocks noChangeAspect="1"/>
              </p:cNvPicPr>
              <p:nvPr/>
            </p:nvPicPr>
            <p:blipFill>
              <a:blip r:embed="rId59"/>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5749" y="1865"/>
              <a:ext cx="1322" cy="679"/>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698" y="3255"/>
                <a:ext cx="466" cy="466"/>
              </a:xfrm>
              <a:prstGeom prst="rect">
                <a:avLst/>
              </a:prstGeom>
            </p:spPr>
          </p:pic>
        </p:grpSp>
        <p:grpSp>
          <p:nvGrpSpPr>
            <p:cNvPr id="258" name="组合 257"/>
            <p:cNvGrpSpPr/>
            <p:nvPr/>
          </p:nvGrpSpPr>
          <p:grpSpPr>
            <a:xfrm rot="0">
              <a:off x="1395" y="2529"/>
              <a:ext cx="1559" cy="887"/>
              <a:chOff x="1499" y="2594"/>
              <a:chExt cx="1624" cy="1116"/>
            </a:xfrm>
          </p:grpSpPr>
          <p:pic>
            <p:nvPicPr>
              <p:cNvPr id="259" name="图片 14" descr="3504981"/>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4776" y="2550"/>
              <a:ext cx="500" cy="52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4425" y="3041"/>
              <a:ext cx="1201" cy="337"/>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3518" y="1735"/>
              <a:ext cx="1842" cy="716"/>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3630" y="1880"/>
              <a:ext cx="1654" cy="5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grpSp>
        <p:nvGrpSpPr>
          <p:cNvPr id="29" name="组合 28"/>
          <p:cNvGrpSpPr/>
          <p:nvPr/>
        </p:nvGrpSpPr>
        <p:grpSpPr>
          <a:xfrm>
            <a:off x="200660" y="4841240"/>
            <a:ext cx="1368425" cy="1695450"/>
            <a:chOff x="696" y="7623"/>
            <a:chExt cx="2155" cy="2670"/>
          </a:xfrm>
        </p:grpSpPr>
        <p:cxnSp>
          <p:nvCxnSpPr>
            <p:cNvPr id="635" name="直接连接符 634"/>
            <p:cNvCxnSpPr/>
            <p:nvPr>
              <p:custDataLst>
                <p:tags r:id="rId64"/>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636" name="直接连接符 635"/>
            <p:cNvCxnSpPr/>
            <p:nvPr>
              <p:custDataLst>
                <p:tags r:id="rId65"/>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637" name="直接连接符 636"/>
            <p:cNvCxnSpPr/>
            <p:nvPr>
              <p:custDataLst>
                <p:tags r:id="rId66"/>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638" name="直接连接符 637"/>
            <p:cNvCxnSpPr/>
            <p:nvPr>
              <p:custDataLst>
                <p:tags r:id="rId67"/>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639" name="图片 323"/>
            <p:cNvPicPr>
              <a:picLocks noChangeAspect="1"/>
            </p:cNvPicPr>
            <p:nvPr>
              <p:custDataLst>
                <p:tags r:id="rId68"/>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640" name="图片 343"/>
            <p:cNvPicPr>
              <a:picLocks noChangeAspect="1"/>
            </p:cNvPicPr>
            <p:nvPr>
              <p:custDataLst>
                <p:tags r:id="rId69"/>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641" name="圆角矩形 228"/>
            <p:cNvSpPr/>
            <p:nvPr>
              <p:custDataLst>
                <p:tags r:id="rId70"/>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42" name="直接连接符 641"/>
            <p:cNvCxnSpPr>
              <a:stCxn id="654" idx="2"/>
              <a:endCxn id="649" idx="0"/>
            </p:cNvCxnSpPr>
            <p:nvPr>
              <p:custDataLst>
                <p:tags r:id="rId71"/>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643" name="直接连接符 642"/>
            <p:cNvCxnSpPr>
              <a:stCxn id="655" idx="2"/>
              <a:endCxn id="650" idx="0"/>
            </p:cNvCxnSpPr>
            <p:nvPr>
              <p:custDataLst>
                <p:tags r:id="rId72"/>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644" name="组合 643"/>
            <p:cNvGrpSpPr/>
            <p:nvPr/>
          </p:nvGrpSpPr>
          <p:grpSpPr>
            <a:xfrm rot="0">
              <a:off x="1499" y="7623"/>
              <a:ext cx="863" cy="376"/>
              <a:chOff x="2467936" y="2358207"/>
              <a:chExt cx="669925" cy="310515"/>
            </a:xfrm>
          </p:grpSpPr>
          <p:sp>
            <p:nvSpPr>
              <p:cNvPr id="645" name="任意形状 33"/>
              <p:cNvSpPr/>
              <p:nvPr>
                <p:custDataLst>
                  <p:tags r:id="rId73"/>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6" name="矩形 242"/>
              <p:cNvSpPr>
                <a:spLocks noChangeArrowheads="1"/>
              </p:cNvSpPr>
              <p:nvPr>
                <p:custDataLst>
                  <p:tags r:id="rId74"/>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647" name="直接连接符 646"/>
            <p:cNvCxnSpPr/>
            <p:nvPr>
              <p:custDataLst>
                <p:tags r:id="rId75"/>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648" name="直接连接符 647"/>
            <p:cNvCxnSpPr/>
            <p:nvPr>
              <p:custDataLst>
                <p:tags r:id="rId76"/>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649" name="图片 335"/>
            <p:cNvPicPr>
              <a:picLocks noChangeAspect="1"/>
            </p:cNvPicPr>
            <p:nvPr>
              <p:custDataLst>
                <p:tags r:id="rId77"/>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650" name="图片 338"/>
            <p:cNvPicPr>
              <a:picLocks noChangeAspect="1"/>
            </p:cNvPicPr>
            <p:nvPr>
              <p:custDataLst>
                <p:tags r:id="rId7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652" name="图片 385"/>
            <p:cNvPicPr>
              <a:picLocks noChangeAspect="1"/>
            </p:cNvPicPr>
            <p:nvPr>
              <p:custDataLst>
                <p:tags r:id="rId8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653" name="直接连接符 652"/>
            <p:cNvCxnSpPr/>
            <p:nvPr>
              <p:custDataLst>
                <p:tags r:id="rId8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654" name="图片 330"/>
            <p:cNvPicPr>
              <a:picLocks noChangeAspect="1"/>
            </p:cNvPicPr>
            <p:nvPr>
              <p:custDataLst>
                <p:tags r:id="rId8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655" name="图片 331"/>
            <p:cNvPicPr>
              <a:picLocks noChangeAspect="1"/>
            </p:cNvPicPr>
            <p:nvPr>
              <p:custDataLst>
                <p:tags r:id="rId8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656" name="图片 655"/>
            <p:cNvPicPr>
              <a:picLocks noChangeAspect="1"/>
            </p:cNvPicPr>
            <p:nvPr/>
          </p:nvPicPr>
          <p:blipFill>
            <a:blip r:embed="rId85" cstate="screen"/>
            <a:stretch>
              <a:fillRect/>
            </a:stretch>
          </p:blipFill>
          <p:spPr>
            <a:xfrm>
              <a:off x="906" y="9552"/>
              <a:ext cx="284" cy="235"/>
            </a:xfrm>
            <a:prstGeom prst="rect">
              <a:avLst/>
            </a:prstGeom>
          </p:spPr>
        </p:pic>
        <p:pic>
          <p:nvPicPr>
            <p:cNvPr id="657" name="图片 656"/>
            <p:cNvPicPr>
              <a:picLocks noChangeAspect="1"/>
            </p:cNvPicPr>
            <p:nvPr/>
          </p:nvPicPr>
          <p:blipFill>
            <a:blip r:embed="rId85" cstate="screen"/>
            <a:stretch>
              <a:fillRect/>
            </a:stretch>
          </p:blipFill>
          <p:spPr>
            <a:xfrm>
              <a:off x="1291" y="9552"/>
              <a:ext cx="284" cy="235"/>
            </a:xfrm>
            <a:prstGeom prst="rect">
              <a:avLst/>
            </a:prstGeom>
          </p:spPr>
        </p:pic>
        <p:pic>
          <p:nvPicPr>
            <p:cNvPr id="658" name="Picture 8" descr="ICON_Server_flat_Q408.png"/>
            <p:cNvPicPr>
              <a:picLocks noChangeAspect="1"/>
            </p:cNvPicPr>
            <p:nvPr>
              <p:custDataLst>
                <p:tags r:id="rId8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659" name="Picture 4"/>
            <p:cNvPicPr>
              <a:picLocks noChangeAspect="1" noChangeArrowheads="1"/>
            </p:cNvPicPr>
            <p:nvPr>
              <p:custDataLst>
                <p:tags r:id="rId8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661" name="Picture 4"/>
            <p:cNvPicPr>
              <a:picLocks noChangeAspect="1" noChangeArrowheads="1"/>
            </p:cNvPicPr>
            <p:nvPr>
              <p:custDataLst>
                <p:tags r:id="rId8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662" name="图片 291"/>
            <p:cNvPicPr>
              <a:picLocks noChangeAspect="1"/>
            </p:cNvPicPr>
            <p:nvPr>
              <p:custDataLst>
                <p:tags r:id="rId8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63" name="图片 292"/>
            <p:cNvPicPr>
              <a:picLocks noChangeAspect="1"/>
            </p:cNvPicPr>
            <p:nvPr>
              <p:custDataLst>
                <p:tags r:id="rId9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65" name="矩形 285"/>
            <p:cNvSpPr>
              <a:spLocks noChangeArrowheads="1"/>
            </p:cNvSpPr>
            <p:nvPr>
              <p:custDataLst>
                <p:tags r:id="rId9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66" name="矩形 284"/>
            <p:cNvSpPr>
              <a:spLocks noChangeArrowheads="1"/>
            </p:cNvSpPr>
            <p:nvPr>
              <p:custDataLst>
                <p:tags r:id="rId9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67" name="图片 260"/>
            <p:cNvPicPr/>
            <p:nvPr>
              <p:custDataLst>
                <p:tags r:id="rId9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68" name="TextBox 79"/>
            <p:cNvSpPr txBox="1">
              <a:spLocks noChangeArrowheads="1"/>
            </p:cNvSpPr>
            <p:nvPr>
              <p:custDataLst>
                <p:tags r:id="rId95"/>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9" name="TextBox 79"/>
            <p:cNvSpPr txBox="1">
              <a:spLocks noChangeArrowheads="1"/>
            </p:cNvSpPr>
            <p:nvPr>
              <p:custDataLst>
                <p:tags r:id="rId96"/>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30" name="组合 29"/>
          <p:cNvGrpSpPr/>
          <p:nvPr/>
        </p:nvGrpSpPr>
        <p:grpSpPr>
          <a:xfrm>
            <a:off x="1548130" y="4841240"/>
            <a:ext cx="1368425" cy="1695450"/>
            <a:chOff x="696" y="7623"/>
            <a:chExt cx="2155" cy="2670"/>
          </a:xfrm>
        </p:grpSpPr>
        <p:cxnSp>
          <p:nvCxnSpPr>
            <p:cNvPr id="31" name="直接连接符 30"/>
            <p:cNvCxnSpPr/>
            <p:nvPr>
              <p:custDataLst>
                <p:tags r:id="rId97"/>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32" name="直接连接符 31"/>
            <p:cNvCxnSpPr/>
            <p:nvPr>
              <p:custDataLst>
                <p:tags r:id="rId98"/>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33" name="直接连接符 32"/>
            <p:cNvCxnSpPr/>
            <p:nvPr>
              <p:custDataLst>
                <p:tags r:id="rId99"/>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34" name="直接连接符 33"/>
            <p:cNvCxnSpPr/>
            <p:nvPr>
              <p:custDataLst>
                <p:tags r:id="rId100"/>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35" name="图片 323"/>
            <p:cNvPicPr>
              <a:picLocks noChangeAspect="1"/>
            </p:cNvPicPr>
            <p:nvPr>
              <p:custDataLst>
                <p:tags r:id="rId101"/>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36" name="图片 343"/>
            <p:cNvPicPr>
              <a:picLocks noChangeAspect="1"/>
            </p:cNvPicPr>
            <p:nvPr>
              <p:custDataLst>
                <p:tags r:id="rId102"/>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37" name="圆角矩形 228"/>
            <p:cNvSpPr/>
            <p:nvPr>
              <p:custDataLst>
                <p:tags r:id="rId103"/>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p:cNvCxnSpPr>
              <a:stCxn id="52" idx="2"/>
              <a:endCxn id="48" idx="0"/>
            </p:cNvCxnSpPr>
            <p:nvPr>
              <p:custDataLst>
                <p:tags r:id="rId104"/>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39" name="直接连接符 38"/>
            <p:cNvCxnSpPr>
              <a:stCxn id="53" idx="2"/>
              <a:endCxn id="49" idx="0"/>
            </p:cNvCxnSpPr>
            <p:nvPr>
              <p:custDataLst>
                <p:tags r:id="rId105"/>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41" name="组合 40"/>
            <p:cNvGrpSpPr/>
            <p:nvPr/>
          </p:nvGrpSpPr>
          <p:grpSpPr>
            <a:xfrm rot="0">
              <a:off x="1499" y="7623"/>
              <a:ext cx="863" cy="376"/>
              <a:chOff x="2467936" y="2358207"/>
              <a:chExt cx="669925" cy="310515"/>
            </a:xfrm>
          </p:grpSpPr>
          <p:sp>
            <p:nvSpPr>
              <p:cNvPr id="43" name="任意形状 33"/>
              <p:cNvSpPr/>
              <p:nvPr>
                <p:custDataLst>
                  <p:tags r:id="rId106"/>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矩形 242"/>
              <p:cNvSpPr>
                <a:spLocks noChangeArrowheads="1"/>
              </p:cNvSpPr>
              <p:nvPr>
                <p:custDataLst>
                  <p:tags r:id="rId107"/>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46" name="直接连接符 45"/>
            <p:cNvCxnSpPr/>
            <p:nvPr>
              <p:custDataLst>
                <p:tags r:id="rId108"/>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47" name="直接连接符 46"/>
            <p:cNvCxnSpPr/>
            <p:nvPr>
              <p:custDataLst>
                <p:tags r:id="rId109"/>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48" name="图片 335"/>
            <p:cNvPicPr>
              <a:picLocks noChangeAspect="1"/>
            </p:cNvPicPr>
            <p:nvPr>
              <p:custDataLst>
                <p:tags r:id="rId110"/>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49" name="图片 338"/>
            <p:cNvPicPr>
              <a:picLocks noChangeAspect="1"/>
            </p:cNvPicPr>
            <p:nvPr>
              <p:custDataLst>
                <p:tags r:id="rId111"/>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50" name="图片 385"/>
            <p:cNvPicPr>
              <a:picLocks noChangeAspect="1"/>
            </p:cNvPicPr>
            <p:nvPr>
              <p:custDataLst>
                <p:tags r:id="rId112"/>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51" name="直接连接符 50"/>
            <p:cNvCxnSpPr/>
            <p:nvPr>
              <p:custDataLst>
                <p:tags r:id="rId113"/>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52" name="图片 330"/>
            <p:cNvPicPr>
              <a:picLocks noChangeAspect="1"/>
            </p:cNvPicPr>
            <p:nvPr>
              <p:custDataLst>
                <p:tags r:id="rId114"/>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53" name="图片 331"/>
            <p:cNvPicPr>
              <a:picLocks noChangeAspect="1"/>
            </p:cNvPicPr>
            <p:nvPr>
              <p:custDataLst>
                <p:tags r:id="rId115"/>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54" name="图片 53"/>
            <p:cNvPicPr>
              <a:picLocks noChangeAspect="1"/>
            </p:cNvPicPr>
            <p:nvPr/>
          </p:nvPicPr>
          <p:blipFill>
            <a:blip r:embed="rId85" cstate="screen"/>
            <a:stretch>
              <a:fillRect/>
            </a:stretch>
          </p:blipFill>
          <p:spPr>
            <a:xfrm>
              <a:off x="906" y="9552"/>
              <a:ext cx="284" cy="235"/>
            </a:xfrm>
            <a:prstGeom prst="rect">
              <a:avLst/>
            </a:prstGeom>
          </p:spPr>
        </p:pic>
        <p:pic>
          <p:nvPicPr>
            <p:cNvPr id="55" name="图片 54"/>
            <p:cNvPicPr>
              <a:picLocks noChangeAspect="1"/>
            </p:cNvPicPr>
            <p:nvPr/>
          </p:nvPicPr>
          <p:blipFill>
            <a:blip r:embed="rId85" cstate="screen"/>
            <a:stretch>
              <a:fillRect/>
            </a:stretch>
          </p:blipFill>
          <p:spPr>
            <a:xfrm>
              <a:off x="1291" y="9552"/>
              <a:ext cx="284" cy="235"/>
            </a:xfrm>
            <a:prstGeom prst="rect">
              <a:avLst/>
            </a:prstGeom>
          </p:spPr>
        </p:pic>
        <p:pic>
          <p:nvPicPr>
            <p:cNvPr id="56" name="Picture 8" descr="ICON_Server_flat_Q408.png"/>
            <p:cNvPicPr>
              <a:picLocks noChangeAspect="1"/>
            </p:cNvPicPr>
            <p:nvPr>
              <p:custDataLst>
                <p:tags r:id="rId11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57" name="Picture 4"/>
            <p:cNvPicPr>
              <a:picLocks noChangeAspect="1" noChangeArrowheads="1"/>
            </p:cNvPicPr>
            <p:nvPr>
              <p:custDataLst>
                <p:tags r:id="rId11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58" name="Picture 4"/>
            <p:cNvPicPr>
              <a:picLocks noChangeAspect="1" noChangeArrowheads="1"/>
            </p:cNvPicPr>
            <p:nvPr>
              <p:custDataLst>
                <p:tags r:id="rId11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59" name="图片 291"/>
            <p:cNvPicPr>
              <a:picLocks noChangeAspect="1"/>
            </p:cNvPicPr>
            <p:nvPr>
              <p:custDataLst>
                <p:tags r:id="rId11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0" name="图片 292"/>
            <p:cNvPicPr>
              <a:picLocks noChangeAspect="1"/>
            </p:cNvPicPr>
            <p:nvPr>
              <p:custDataLst>
                <p:tags r:id="rId12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1" name="矩形 285"/>
            <p:cNvSpPr>
              <a:spLocks noChangeArrowheads="1"/>
            </p:cNvSpPr>
            <p:nvPr>
              <p:custDataLst>
                <p:tags r:id="rId12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2" name="矩形 284"/>
            <p:cNvSpPr>
              <a:spLocks noChangeArrowheads="1"/>
            </p:cNvSpPr>
            <p:nvPr>
              <p:custDataLst>
                <p:tags r:id="rId12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3" name="图片 260"/>
            <p:cNvPicPr/>
            <p:nvPr>
              <p:custDataLst>
                <p:tags r:id="rId12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4" name="TextBox 79"/>
            <p:cNvSpPr txBox="1">
              <a:spLocks noChangeArrowheads="1"/>
            </p:cNvSpPr>
            <p:nvPr>
              <p:custDataLst>
                <p:tags r:id="rId124"/>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5" name="TextBox 79"/>
            <p:cNvSpPr txBox="1">
              <a:spLocks noChangeArrowheads="1"/>
            </p:cNvSpPr>
            <p:nvPr>
              <p:custDataLst>
                <p:tags r:id="rId125"/>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 name="文本框 65"/>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68" name="组合 67"/>
          <p:cNvGrpSpPr/>
          <p:nvPr/>
        </p:nvGrpSpPr>
        <p:grpSpPr>
          <a:xfrm>
            <a:off x="2895600" y="4831715"/>
            <a:ext cx="1368425" cy="1695450"/>
            <a:chOff x="696" y="7623"/>
            <a:chExt cx="2155" cy="2670"/>
          </a:xfrm>
        </p:grpSpPr>
        <p:cxnSp>
          <p:nvCxnSpPr>
            <p:cNvPr id="69" name="直接连接符 68"/>
            <p:cNvCxnSpPr/>
            <p:nvPr>
              <p:custDataLst>
                <p:tags r:id="rId126"/>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70" name="直接连接符 69"/>
            <p:cNvCxnSpPr/>
            <p:nvPr>
              <p:custDataLst>
                <p:tags r:id="rId127"/>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71" name="直接连接符 70"/>
            <p:cNvCxnSpPr/>
            <p:nvPr>
              <p:custDataLst>
                <p:tags r:id="rId128"/>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72" name="直接连接符 71"/>
            <p:cNvCxnSpPr/>
            <p:nvPr>
              <p:custDataLst>
                <p:tags r:id="rId129"/>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73" name="图片 323"/>
            <p:cNvPicPr>
              <a:picLocks noChangeAspect="1"/>
            </p:cNvPicPr>
            <p:nvPr>
              <p:custDataLst>
                <p:tags r:id="rId130"/>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74" name="图片 343"/>
            <p:cNvPicPr>
              <a:picLocks noChangeAspect="1"/>
            </p:cNvPicPr>
            <p:nvPr>
              <p:custDataLst>
                <p:tags r:id="rId131"/>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75" name="圆角矩形 228"/>
            <p:cNvSpPr/>
            <p:nvPr>
              <p:custDataLst>
                <p:tags r:id="rId132"/>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6" name="直接连接符 75"/>
            <p:cNvCxnSpPr>
              <a:stCxn id="87" idx="2"/>
              <a:endCxn id="83" idx="0"/>
            </p:cNvCxnSpPr>
            <p:nvPr>
              <p:custDataLst>
                <p:tags r:id="rId133"/>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77" name="直接连接符 76"/>
            <p:cNvCxnSpPr>
              <a:stCxn id="88" idx="2"/>
              <a:endCxn id="84" idx="0"/>
            </p:cNvCxnSpPr>
            <p:nvPr>
              <p:custDataLst>
                <p:tags r:id="rId134"/>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78" name="组合 77"/>
            <p:cNvGrpSpPr/>
            <p:nvPr/>
          </p:nvGrpSpPr>
          <p:grpSpPr>
            <a:xfrm rot="0">
              <a:off x="1499" y="7623"/>
              <a:ext cx="863" cy="376"/>
              <a:chOff x="2467936" y="2358207"/>
              <a:chExt cx="669925" cy="310515"/>
            </a:xfrm>
          </p:grpSpPr>
          <p:sp>
            <p:nvSpPr>
              <p:cNvPr id="79" name="任意形状 33"/>
              <p:cNvSpPr/>
              <p:nvPr>
                <p:custDataLst>
                  <p:tags r:id="rId135"/>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0" name="矩形 242"/>
              <p:cNvSpPr>
                <a:spLocks noChangeArrowheads="1"/>
              </p:cNvSpPr>
              <p:nvPr>
                <p:custDataLst>
                  <p:tags r:id="rId136"/>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81" name="直接连接符 80"/>
            <p:cNvCxnSpPr/>
            <p:nvPr>
              <p:custDataLst>
                <p:tags r:id="rId137"/>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82" name="直接连接符 81"/>
            <p:cNvCxnSpPr/>
            <p:nvPr>
              <p:custDataLst>
                <p:tags r:id="rId138"/>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83" name="图片 335"/>
            <p:cNvPicPr>
              <a:picLocks noChangeAspect="1"/>
            </p:cNvPicPr>
            <p:nvPr>
              <p:custDataLst>
                <p:tags r:id="rId139"/>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84" name="图片 338"/>
            <p:cNvPicPr>
              <a:picLocks noChangeAspect="1"/>
            </p:cNvPicPr>
            <p:nvPr>
              <p:custDataLst>
                <p:tags r:id="rId140"/>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85" name="图片 385"/>
            <p:cNvPicPr>
              <a:picLocks noChangeAspect="1"/>
            </p:cNvPicPr>
            <p:nvPr>
              <p:custDataLst>
                <p:tags r:id="rId141"/>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86" name="直接连接符 85"/>
            <p:cNvCxnSpPr/>
            <p:nvPr>
              <p:custDataLst>
                <p:tags r:id="rId142"/>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87" name="图片 330"/>
            <p:cNvPicPr>
              <a:picLocks noChangeAspect="1"/>
            </p:cNvPicPr>
            <p:nvPr>
              <p:custDataLst>
                <p:tags r:id="rId143"/>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88" name="图片 331"/>
            <p:cNvPicPr>
              <a:picLocks noChangeAspect="1"/>
            </p:cNvPicPr>
            <p:nvPr>
              <p:custDataLst>
                <p:tags r:id="rId14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89" name="图片 88"/>
            <p:cNvPicPr>
              <a:picLocks noChangeAspect="1"/>
            </p:cNvPicPr>
            <p:nvPr/>
          </p:nvPicPr>
          <p:blipFill>
            <a:blip r:embed="rId85" cstate="screen"/>
            <a:stretch>
              <a:fillRect/>
            </a:stretch>
          </p:blipFill>
          <p:spPr>
            <a:xfrm>
              <a:off x="906" y="9552"/>
              <a:ext cx="284" cy="235"/>
            </a:xfrm>
            <a:prstGeom prst="rect">
              <a:avLst/>
            </a:prstGeom>
          </p:spPr>
        </p:pic>
        <p:pic>
          <p:nvPicPr>
            <p:cNvPr id="90" name="图片 89"/>
            <p:cNvPicPr>
              <a:picLocks noChangeAspect="1"/>
            </p:cNvPicPr>
            <p:nvPr/>
          </p:nvPicPr>
          <p:blipFill>
            <a:blip r:embed="rId85" cstate="screen"/>
            <a:stretch>
              <a:fillRect/>
            </a:stretch>
          </p:blipFill>
          <p:spPr>
            <a:xfrm>
              <a:off x="1291" y="9552"/>
              <a:ext cx="284" cy="235"/>
            </a:xfrm>
            <a:prstGeom prst="rect">
              <a:avLst/>
            </a:prstGeom>
          </p:spPr>
        </p:pic>
        <p:pic>
          <p:nvPicPr>
            <p:cNvPr id="91" name="Picture 8" descr="ICON_Server_flat_Q408.png"/>
            <p:cNvPicPr>
              <a:picLocks noChangeAspect="1"/>
            </p:cNvPicPr>
            <p:nvPr>
              <p:custDataLst>
                <p:tags r:id="rId145"/>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92" name="Picture 4"/>
            <p:cNvPicPr>
              <a:picLocks noChangeAspect="1" noChangeArrowheads="1"/>
            </p:cNvPicPr>
            <p:nvPr>
              <p:custDataLst>
                <p:tags r:id="rId146"/>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93" name="Picture 4"/>
            <p:cNvPicPr>
              <a:picLocks noChangeAspect="1" noChangeArrowheads="1"/>
            </p:cNvPicPr>
            <p:nvPr>
              <p:custDataLst>
                <p:tags r:id="rId147"/>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94" name="图片 291"/>
            <p:cNvPicPr>
              <a:picLocks noChangeAspect="1"/>
            </p:cNvPicPr>
            <p:nvPr>
              <p:custDataLst>
                <p:tags r:id="rId148"/>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95" name="图片 292"/>
            <p:cNvPicPr>
              <a:picLocks noChangeAspect="1"/>
            </p:cNvPicPr>
            <p:nvPr>
              <p:custDataLst>
                <p:tags r:id="rId149"/>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96" name="矩形 285"/>
            <p:cNvSpPr>
              <a:spLocks noChangeArrowheads="1"/>
            </p:cNvSpPr>
            <p:nvPr>
              <p:custDataLst>
                <p:tags r:id="rId150"/>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97" name="矩形 284"/>
            <p:cNvSpPr>
              <a:spLocks noChangeArrowheads="1"/>
            </p:cNvSpPr>
            <p:nvPr>
              <p:custDataLst>
                <p:tags r:id="rId151"/>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98" name="图片 260"/>
            <p:cNvPicPr/>
            <p:nvPr>
              <p:custDataLst>
                <p:tags r:id="rId152"/>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99" name="TextBox 79"/>
            <p:cNvSpPr txBox="1">
              <a:spLocks noChangeArrowheads="1"/>
            </p:cNvSpPr>
            <p:nvPr>
              <p:custDataLst>
                <p:tags r:id="rId153"/>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0" name="TextBox 79"/>
            <p:cNvSpPr txBox="1">
              <a:spLocks noChangeArrowheads="1"/>
            </p:cNvSpPr>
            <p:nvPr>
              <p:custDataLst>
                <p:tags r:id="rId154"/>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1" name="文本框 100"/>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102" name="组合 101"/>
          <p:cNvGrpSpPr/>
          <p:nvPr/>
        </p:nvGrpSpPr>
        <p:grpSpPr>
          <a:xfrm>
            <a:off x="4243070" y="4829810"/>
            <a:ext cx="1368425" cy="1695450"/>
            <a:chOff x="696" y="7623"/>
            <a:chExt cx="2155" cy="2670"/>
          </a:xfrm>
        </p:grpSpPr>
        <p:cxnSp>
          <p:nvCxnSpPr>
            <p:cNvPr id="103" name="直接连接符 102"/>
            <p:cNvCxnSpPr/>
            <p:nvPr>
              <p:custDataLst>
                <p:tags r:id="rId155"/>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104" name="直接连接符 103"/>
            <p:cNvCxnSpPr/>
            <p:nvPr>
              <p:custDataLst>
                <p:tags r:id="rId156"/>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105" name="直接连接符 104"/>
            <p:cNvCxnSpPr/>
            <p:nvPr>
              <p:custDataLst>
                <p:tags r:id="rId157"/>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106" name="直接连接符 105"/>
            <p:cNvCxnSpPr/>
            <p:nvPr>
              <p:custDataLst>
                <p:tags r:id="rId158"/>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107" name="图片 323"/>
            <p:cNvPicPr>
              <a:picLocks noChangeAspect="1"/>
            </p:cNvPicPr>
            <p:nvPr>
              <p:custDataLst>
                <p:tags r:id="rId159"/>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108" name="图片 343"/>
            <p:cNvPicPr>
              <a:picLocks noChangeAspect="1"/>
            </p:cNvPicPr>
            <p:nvPr>
              <p:custDataLst>
                <p:tags r:id="rId160"/>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109" name="圆角矩形 228"/>
            <p:cNvSpPr/>
            <p:nvPr>
              <p:custDataLst>
                <p:tags r:id="rId161"/>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10" name="直接连接符 109"/>
            <p:cNvCxnSpPr>
              <a:stCxn id="121" idx="2"/>
              <a:endCxn id="117" idx="0"/>
            </p:cNvCxnSpPr>
            <p:nvPr>
              <p:custDataLst>
                <p:tags r:id="rId162"/>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111" name="直接连接符 110"/>
            <p:cNvCxnSpPr>
              <a:stCxn id="122" idx="2"/>
              <a:endCxn id="118" idx="0"/>
            </p:cNvCxnSpPr>
            <p:nvPr>
              <p:custDataLst>
                <p:tags r:id="rId163"/>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112" name="组合 111"/>
            <p:cNvGrpSpPr/>
            <p:nvPr/>
          </p:nvGrpSpPr>
          <p:grpSpPr>
            <a:xfrm rot="0">
              <a:off x="1499" y="7623"/>
              <a:ext cx="863" cy="376"/>
              <a:chOff x="2467936" y="2358207"/>
              <a:chExt cx="669925" cy="310515"/>
            </a:xfrm>
          </p:grpSpPr>
          <p:sp>
            <p:nvSpPr>
              <p:cNvPr id="113" name="任意形状 33"/>
              <p:cNvSpPr/>
              <p:nvPr>
                <p:custDataLst>
                  <p:tags r:id="rId164"/>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4" name="矩形 242"/>
              <p:cNvSpPr>
                <a:spLocks noChangeArrowheads="1"/>
              </p:cNvSpPr>
              <p:nvPr>
                <p:custDataLst>
                  <p:tags r:id="rId165"/>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115" name="直接连接符 114"/>
            <p:cNvCxnSpPr/>
            <p:nvPr>
              <p:custDataLst>
                <p:tags r:id="rId166"/>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116" name="直接连接符 115"/>
            <p:cNvCxnSpPr/>
            <p:nvPr>
              <p:custDataLst>
                <p:tags r:id="rId167"/>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117" name="图片 335"/>
            <p:cNvPicPr>
              <a:picLocks noChangeAspect="1"/>
            </p:cNvPicPr>
            <p:nvPr>
              <p:custDataLst>
                <p:tags r:id="rId168"/>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118" name="图片 338"/>
            <p:cNvPicPr>
              <a:picLocks noChangeAspect="1"/>
            </p:cNvPicPr>
            <p:nvPr>
              <p:custDataLst>
                <p:tags r:id="rId16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119" name="图片 385"/>
            <p:cNvPicPr>
              <a:picLocks noChangeAspect="1"/>
            </p:cNvPicPr>
            <p:nvPr>
              <p:custDataLst>
                <p:tags r:id="rId17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120" name="直接连接符 119"/>
            <p:cNvCxnSpPr/>
            <p:nvPr>
              <p:custDataLst>
                <p:tags r:id="rId17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121" name="图片 330"/>
            <p:cNvPicPr>
              <a:picLocks noChangeAspect="1"/>
            </p:cNvPicPr>
            <p:nvPr>
              <p:custDataLst>
                <p:tags r:id="rId17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122" name="图片 331"/>
            <p:cNvPicPr>
              <a:picLocks noChangeAspect="1"/>
            </p:cNvPicPr>
            <p:nvPr>
              <p:custDataLst>
                <p:tags r:id="rId173"/>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123" name="图片 122"/>
            <p:cNvPicPr>
              <a:picLocks noChangeAspect="1"/>
            </p:cNvPicPr>
            <p:nvPr/>
          </p:nvPicPr>
          <p:blipFill>
            <a:blip r:embed="rId85" cstate="screen"/>
            <a:stretch>
              <a:fillRect/>
            </a:stretch>
          </p:blipFill>
          <p:spPr>
            <a:xfrm>
              <a:off x="906" y="9552"/>
              <a:ext cx="284" cy="235"/>
            </a:xfrm>
            <a:prstGeom prst="rect">
              <a:avLst/>
            </a:prstGeom>
          </p:spPr>
        </p:pic>
        <p:pic>
          <p:nvPicPr>
            <p:cNvPr id="124" name="图片 123"/>
            <p:cNvPicPr>
              <a:picLocks noChangeAspect="1"/>
            </p:cNvPicPr>
            <p:nvPr/>
          </p:nvPicPr>
          <p:blipFill>
            <a:blip r:embed="rId85" cstate="screen"/>
            <a:stretch>
              <a:fillRect/>
            </a:stretch>
          </p:blipFill>
          <p:spPr>
            <a:xfrm>
              <a:off x="1291" y="9552"/>
              <a:ext cx="284" cy="235"/>
            </a:xfrm>
            <a:prstGeom prst="rect">
              <a:avLst/>
            </a:prstGeom>
          </p:spPr>
        </p:pic>
        <p:pic>
          <p:nvPicPr>
            <p:cNvPr id="125" name="Picture 8" descr="ICON_Server_flat_Q408.png"/>
            <p:cNvPicPr>
              <a:picLocks noChangeAspect="1"/>
            </p:cNvPicPr>
            <p:nvPr>
              <p:custDataLst>
                <p:tags r:id="rId174"/>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126" name="Picture 4"/>
            <p:cNvPicPr>
              <a:picLocks noChangeAspect="1" noChangeArrowheads="1"/>
            </p:cNvPicPr>
            <p:nvPr>
              <p:custDataLst>
                <p:tags r:id="rId175"/>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127" name="Picture 4"/>
            <p:cNvPicPr>
              <a:picLocks noChangeAspect="1" noChangeArrowheads="1"/>
            </p:cNvPicPr>
            <p:nvPr>
              <p:custDataLst>
                <p:tags r:id="rId176"/>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128" name="图片 291"/>
            <p:cNvPicPr>
              <a:picLocks noChangeAspect="1"/>
            </p:cNvPicPr>
            <p:nvPr>
              <p:custDataLst>
                <p:tags r:id="rId177"/>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129" name="图片 292"/>
            <p:cNvPicPr>
              <a:picLocks noChangeAspect="1"/>
            </p:cNvPicPr>
            <p:nvPr>
              <p:custDataLst>
                <p:tags r:id="rId178"/>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130" name="矩形 285"/>
            <p:cNvSpPr>
              <a:spLocks noChangeArrowheads="1"/>
            </p:cNvSpPr>
            <p:nvPr>
              <p:custDataLst>
                <p:tags r:id="rId179"/>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131" name="矩形 284"/>
            <p:cNvSpPr>
              <a:spLocks noChangeArrowheads="1"/>
            </p:cNvSpPr>
            <p:nvPr>
              <p:custDataLst>
                <p:tags r:id="rId180"/>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132" name="图片 260"/>
            <p:cNvPicPr/>
            <p:nvPr>
              <p:custDataLst>
                <p:tags r:id="rId181"/>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133" name="TextBox 79"/>
            <p:cNvSpPr txBox="1">
              <a:spLocks noChangeArrowheads="1"/>
            </p:cNvSpPr>
            <p:nvPr>
              <p:custDataLst>
                <p:tags r:id="rId182"/>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4" name="TextBox 79"/>
            <p:cNvSpPr txBox="1">
              <a:spLocks noChangeArrowheads="1"/>
            </p:cNvSpPr>
            <p:nvPr>
              <p:custDataLst>
                <p:tags r:id="rId183"/>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5" name="文本框 134"/>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0"/>
              </a:spcBef>
            </a:pPr>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成果回顾、决策建议、未来展望</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总结与建议</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05</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b="1" kern="0" spc="130" dirty="0">
                <a:solidFill>
                  <a:srgbClr val="2050B0">
                    <a:alpha val="100000"/>
                  </a:srgbClr>
                </a:solidFill>
                <a:latin typeface="黑体" panose="02010609060101010101" charset="-122"/>
                <a:ea typeface="黑体" panose="02010609060101010101" charset="-122"/>
                <a:cs typeface="黑体" panose="02010609060101010101" charset="-122"/>
              </a:rPr>
              <a:t>总结与建议</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安全运营价值回顾与未来发展建议</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 name="任意多边形: 形状 10"/>
          <p:cNvSpPr/>
          <p:nvPr>
            <p:custDataLst>
              <p:tags r:id="rId1"/>
            </p:custDataLst>
          </p:nvPr>
        </p:nvSpPr>
        <p:spPr>
          <a:xfrm>
            <a:off x="825231"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31" name="任意多边形: 形状 30"/>
          <p:cNvSpPr/>
          <p:nvPr>
            <p:custDataLst>
              <p:tags r:id="rId2"/>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2" name="任意多边形: 形状 11"/>
          <p:cNvSpPr/>
          <p:nvPr>
            <p:custDataLst>
              <p:tags r:id="rId3"/>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22" name="文本框 21"/>
          <p:cNvSpPr txBox="1"/>
          <p:nvPr>
            <p:custDataLst>
              <p:tags r:id="rId4"/>
            </p:custDataLst>
          </p:nvPr>
        </p:nvSpPr>
        <p:spPr>
          <a:xfrm>
            <a:off x="1244600" y="2610485"/>
            <a:ext cx="1788160" cy="2261870"/>
          </a:xfrm>
          <a:prstGeom prst="rect">
            <a:avLst/>
          </a:prstGeom>
          <a:noFill/>
        </p:spPr>
        <p:txBody>
          <a:bodyPr wrap="square" lIns="0" tIns="0" rIns="0" bIns="0" rtlCol="0">
            <a:noAutofit/>
          </a:bodyPr>
          <a:p>
            <a:pPr marL="193675" indent="-171450" algn="l" defTabSz="179705" rtl="0" eaLnBrk="0" fontAlgn="auto">
              <a:lnSpc>
                <a:spcPct val="100000"/>
              </a:lnSpc>
              <a:spcBef>
                <a:spcPts val="300"/>
              </a:spcBef>
              <a:buFont typeface="Arial" panose="020B0604020202020204" pitchFamily="34" charset="0"/>
              <a:buChar char="•"/>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服务内资产零安全事故，业务连续性99.9</a:t>
            </a: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lang="zh-CN"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黑体" panose="02010609060101010101" charset="-122"/>
              <a:ea typeface="黑体" panose="02010609060101010101" charset="-122"/>
              <a:cs typeface="黑体" panose="02010609060101010101" charset="-122"/>
            </a:endParaRPr>
          </a:p>
          <a:p>
            <a:pPr marL="182880" indent="-171450" algn="l" defTabSz="179705" rtl="0" eaLnBrk="0" fontAlgn="auto">
              <a:lnSpc>
                <a:spcPct val="100000"/>
              </a:lnSpc>
              <a:spcBef>
                <a:spcPts val="300"/>
              </a:spcBef>
              <a:buFont typeface="Arial" panose="020B0604020202020204" pitchFamily="34" charset="0"/>
              <a:buChar char="•"/>
            </a:pPr>
            <a:r>
              <a:rPr sz="1200" kern="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阻断网络攻击151.81万次，减</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少66%被通报次数</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Arial" panose="020B0604020202020204"/>
              <a:ea typeface="Arial" panose="020B0604020202020204"/>
              <a:cs typeface="Arial" panose="020B0604020202020204"/>
            </a:endParaRPr>
          </a:p>
          <a:p>
            <a:pPr marL="193675" indent="-171450" algn="l" defTabSz="179705" rtl="0" eaLnBrk="0" fontAlgn="auto">
              <a:lnSpc>
                <a:spcPct val="100000"/>
              </a:lnSpc>
              <a:spcBef>
                <a:spcPts val="300"/>
              </a:spcBef>
              <a:buFont typeface="Arial" panose="020B0604020202020204" pitchFamily="34" charset="0"/>
              <a:buChar char="•"/>
            </a:pP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完成456个漏洞闭环管理，降低企业风险敞</a:t>
            </a: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口</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200" kern="0" spc="20" dirty="0">
              <a:ln>
                <a:noFill/>
                <a:prstDash val="sysDot"/>
              </a:ln>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custDataLst>
              <p:tags r:id="rId5"/>
            </p:custDataLst>
          </p:nvPr>
        </p:nvSpPr>
        <p:spPr>
          <a:xfrm>
            <a:off x="1414513" y="2077642"/>
            <a:ext cx="1495714" cy="352244"/>
          </a:xfrm>
          <a:prstGeom prst="rect">
            <a:avLst/>
          </a:prstGeom>
          <a:noFill/>
        </p:spPr>
        <p:txBody>
          <a:bodyPr wrap="square" lIns="0" tIns="0" rIns="0" bIns="0" rtlCol="0" anchor="ctr" anchorCtr="0">
            <a:noAutofit/>
          </a:bodyPr>
          <a:p>
            <a:pPr algn="ctr"/>
            <a:r>
              <a:rPr lang="zh-CN" altLang="en-US" sz="1400" b="1" dirty="0">
                <a:solidFill>
                  <a:schemeClr val="accent5"/>
                </a:solidFill>
              </a:rPr>
              <a:t>安全运营成果回顾</a:t>
            </a:r>
            <a:endParaRPr lang="zh-CN" altLang="en-US" sz="1400" b="1" dirty="0">
              <a:solidFill>
                <a:schemeClr val="accent5"/>
              </a:solidFill>
            </a:endParaRPr>
          </a:p>
        </p:txBody>
      </p:sp>
      <p:sp>
        <p:nvSpPr>
          <p:cNvPr id="9" name="任意多边形: 形状 8"/>
          <p:cNvSpPr/>
          <p:nvPr>
            <p:custDataLst>
              <p:tags r:id="rId6"/>
            </p:custDataLst>
          </p:nvPr>
        </p:nvSpPr>
        <p:spPr>
          <a:xfrm>
            <a:off x="3624647"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13" name="任意多边形: 形状 12"/>
          <p:cNvSpPr/>
          <p:nvPr>
            <p:custDataLst>
              <p:tags r:id="rId7"/>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0" name="任意多边形: 形状 9"/>
          <p:cNvSpPr/>
          <p:nvPr>
            <p:custDataLst>
              <p:tags r:id="rId8"/>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4" name="文本框 13"/>
          <p:cNvSpPr txBox="1"/>
          <p:nvPr>
            <p:custDataLst>
              <p:tags r:id="rId9"/>
            </p:custDataLst>
          </p:nvPr>
        </p:nvSpPr>
        <p:spPr>
          <a:xfrm>
            <a:off x="4050030" y="2610485"/>
            <a:ext cx="1783080" cy="1383030"/>
          </a:xfrm>
          <a:prstGeom prst="rect">
            <a:avLst/>
          </a:prstGeom>
          <a:noFill/>
        </p:spPr>
        <p:txBody>
          <a:bodyPr wrap="square" lIns="0" tIns="0" rIns="0" bIns="0" rtlCol="0">
            <a:noAutofit/>
          </a:bodyPr>
          <a:p>
            <a:pPr marL="13970" algn="l" eaLnBrk="0">
              <a:lnSpc>
                <a:spcPct val="95000"/>
              </a:lnSpc>
              <a:spcBef>
                <a:spcPts val="1400"/>
              </a:spcBef>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企业声誉和经营数据安全</a:t>
            </a:r>
            <a:endParaRPr sz="1200" dirty="0">
              <a:latin typeface="黑体" panose="02010609060101010101" charset="-122"/>
              <a:ea typeface="黑体" panose="02010609060101010101" charset="-122"/>
              <a:cs typeface="黑体" panose="02010609060101010101" charset="-122"/>
            </a:endParaRPr>
          </a:p>
          <a:p>
            <a:pPr marL="24765" algn="l" eaLnBrk="0">
              <a:lnSpc>
                <a:spcPct val="95000"/>
              </a:lnSpc>
              <a:spcBef>
                <a:spcPts val="1030"/>
              </a:spcBef>
            </a:pP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降低</a:t>
            </a:r>
            <a:r>
              <a:rPr sz="1200" kern="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运维人力成本,</a:t>
            </a:r>
            <a:r>
              <a:rPr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提升运维效率</a:t>
            </a:r>
            <a:endParaRPr sz="1200" dirty="0">
              <a:latin typeface="黑体" panose="02010609060101010101" charset="-122"/>
              <a:ea typeface="黑体" panose="02010609060101010101" charset="-122"/>
              <a:cs typeface="黑体" panose="02010609060101010101" charset="-122"/>
            </a:endParaRPr>
          </a:p>
          <a:p>
            <a:pPr algn="l" eaLnBrk="0">
              <a:lnSpc>
                <a:spcPct val="106000"/>
              </a:lnSpc>
            </a:pPr>
            <a:endParaRPr sz="800" dirty="0">
              <a:latin typeface="Arial" panose="020B0604020202020204"/>
              <a:ea typeface="Arial" panose="020B0604020202020204"/>
              <a:cs typeface="Arial" panose="020B0604020202020204"/>
            </a:endParaRPr>
          </a:p>
          <a:p>
            <a:pPr marL="13970" algn="l" eaLnBrk="0">
              <a:lnSpc>
                <a:spcPct val="92000"/>
              </a:lnSpc>
              <a:spcBef>
                <a:spcPts val="5"/>
              </a:spcBef>
            </a:pP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安全赋能数字化转型，提升客户信任与</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形象</a:t>
            </a:r>
            <a:endPar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custDataLst>
              <p:tags r:id="rId10"/>
            </p:custDataLst>
          </p:nvPr>
        </p:nvSpPr>
        <p:spPr>
          <a:xfrm>
            <a:off x="410219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对业务的支持与赋能</a:t>
            </a:r>
            <a:endParaRPr lang="zh-CN" altLang="en-US" sz="1400" b="1" dirty="0">
              <a:solidFill>
                <a:schemeClr val="accent6"/>
              </a:solidFill>
              <a:sym typeface="+mn-ea"/>
            </a:endParaRPr>
          </a:p>
        </p:txBody>
      </p:sp>
      <p:sp>
        <p:nvSpPr>
          <p:cNvPr id="55" name="任意多边形: 形状 54"/>
          <p:cNvSpPr/>
          <p:nvPr>
            <p:custDataLst>
              <p:tags r:id="rId11"/>
            </p:custDataLst>
          </p:nvPr>
        </p:nvSpPr>
        <p:spPr>
          <a:xfrm>
            <a:off x="6424062"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57" name="任意多边形: 形状 56"/>
          <p:cNvSpPr/>
          <p:nvPr>
            <p:custDataLst>
              <p:tags r:id="rId12"/>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6" name="任意多边形: 形状 55"/>
          <p:cNvSpPr/>
          <p:nvPr>
            <p:custDataLst>
              <p:tags r:id="rId13"/>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8" name="文本框 57"/>
          <p:cNvSpPr txBox="1"/>
          <p:nvPr>
            <p:custDataLst>
              <p:tags r:id="rId14"/>
            </p:custDataLst>
          </p:nvPr>
        </p:nvSpPr>
        <p:spPr>
          <a:xfrm>
            <a:off x="6850380" y="2609850"/>
            <a:ext cx="1736090" cy="2261870"/>
          </a:xfrm>
          <a:prstGeom prst="rect">
            <a:avLst/>
          </a:prstGeom>
          <a:noFill/>
        </p:spPr>
        <p:txBody>
          <a:bodyPr wrap="square" lIns="0" tIns="0" rIns="0" bIns="0" rtlCol="0">
            <a:noAutofit/>
          </a:bodyPr>
          <a:p>
            <a:pPr marL="22225" lvl="0" indent="0" algn="l" defTabSz="179705" eaLnBrk="0">
              <a:spcBef>
                <a:spcPts val="300"/>
              </a:spcBef>
              <a:buClrTx/>
              <a:buSzTx/>
              <a:buFont typeface="Arial" panose="020B0604020202020204" pitchFamily="34" charset="0"/>
              <a:buNone/>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基于本年度安全运营成果与经验，我们将进一步深化安全与业务融合</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提升安全运营自动化水平，助力企业实现数字化转型目标。未来一年，我们将重点关注业务弱点闭环、暴露面管控、</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实时威胁对抗，</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确保企业业务安全与持续发展。</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custDataLst>
              <p:tags r:id="rId15"/>
            </p:custDataLst>
          </p:nvPr>
        </p:nvSpPr>
        <p:spPr>
          <a:xfrm>
            <a:off x="692637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5"/>
                </a:solidFill>
                <a:sym typeface="+mn-ea"/>
              </a:rPr>
              <a:t>未来展望</a:t>
            </a:r>
            <a:endParaRPr lang="zh-CN" altLang="en-US" sz="1400" b="1" dirty="0">
              <a:solidFill>
                <a:schemeClr val="accent5"/>
              </a:solidFill>
              <a:sym typeface="+mn-ea"/>
            </a:endParaRPr>
          </a:p>
        </p:txBody>
      </p:sp>
      <p:sp>
        <p:nvSpPr>
          <p:cNvPr id="61" name="任意多边形: 形状 60"/>
          <p:cNvSpPr/>
          <p:nvPr>
            <p:custDataLst>
              <p:tags r:id="rId16"/>
            </p:custDataLst>
          </p:nvPr>
        </p:nvSpPr>
        <p:spPr>
          <a:xfrm>
            <a:off x="9224140"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63" name="任意多边形: 形状 62"/>
          <p:cNvSpPr/>
          <p:nvPr>
            <p:custDataLst>
              <p:tags r:id="rId17"/>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2" name="任意多边形: 形状 61"/>
          <p:cNvSpPr/>
          <p:nvPr>
            <p:custDataLst>
              <p:tags r:id="rId18"/>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4" name="文本框 63"/>
          <p:cNvSpPr txBox="1"/>
          <p:nvPr>
            <p:custDataLst>
              <p:tags r:id="rId19"/>
            </p:custDataLst>
          </p:nvPr>
        </p:nvSpPr>
        <p:spPr>
          <a:xfrm>
            <a:off x="9685020" y="2611120"/>
            <a:ext cx="1736725" cy="2142490"/>
          </a:xfrm>
          <a:prstGeom prst="rect">
            <a:avLst/>
          </a:prstGeom>
          <a:noFill/>
        </p:spPr>
        <p:txBody>
          <a:bodyPr wrap="square" lIns="0" tIns="0" rIns="0" bIns="0" rtlCol="0">
            <a:noAutofit/>
          </a:bodyPr>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管理机制完善</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建立安全与业务协同机制，统一安全基线标准，促进跨部门合作</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人才能力建设</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组建专业安全运营团队，开展定期安全意识培训与技能提升计划</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安全投资建议</a:t>
            </a: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5" name="文本框 64"/>
          <p:cNvSpPr txBox="1"/>
          <p:nvPr>
            <p:custDataLst>
              <p:tags r:id="rId20"/>
            </p:custDataLst>
          </p:nvPr>
        </p:nvSpPr>
        <p:spPr>
          <a:xfrm>
            <a:off x="9750556"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决策层行动建议</a:t>
            </a:r>
            <a:endParaRPr lang="zh-CN" altLang="en-US" sz="1400" b="1" dirty="0">
              <a:solidFill>
                <a:schemeClr val="accent6"/>
              </a:solidFill>
              <a:sym typeface="+mn-ea"/>
            </a:endParaRPr>
          </a:p>
        </p:txBody>
      </p:sp>
      <p:pic>
        <p:nvPicPr>
          <p:cNvPr id="7" name="图片 6" descr="深信服 + 智安全"/>
          <p:cNvPicPr>
            <a:picLocks noChangeAspect="1"/>
          </p:cNvPicPr>
          <p:nvPr/>
        </p:nvPicPr>
        <p:blipFill>
          <a:blip r:embed="rId21"/>
          <a:srcRect l="5232" t="26576" r="4938" b="29565"/>
          <a:stretch>
            <a:fillRect/>
          </a:stretch>
        </p:blipFill>
        <p:spPr>
          <a:xfrm>
            <a:off x="10017125" y="238760"/>
            <a:ext cx="1629867" cy="3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图片 2" descr="图片 2"/>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1879" name="文本框 8"/>
          <p:cNvSpPr txBox="1"/>
          <p:nvPr/>
        </p:nvSpPr>
        <p:spPr>
          <a:xfrm>
            <a:off x="7391052" y="2854804"/>
            <a:ext cx="3522283" cy="991870"/>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sp>
        <p:nvSpPr>
          <p:cNvPr id="1880" name="文本框 8"/>
          <p:cNvSpPr txBox="1"/>
          <p:nvPr/>
        </p:nvSpPr>
        <p:spPr>
          <a:xfrm>
            <a:off x="6916783" y="3956601"/>
            <a:ext cx="3730784" cy="240030"/>
          </a:xfrm>
          <a:prstGeom prst="rect">
            <a:avLst/>
          </a:prstGeom>
          <a:ln w="12700">
            <a:miter lim="400000"/>
          </a:ln>
        </p:spPr>
        <p:txBody>
          <a:bodyPr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t>让每个用户的数字化更简单、更安全!</a:t>
            </a:r>
          </a:p>
        </p:txBody>
      </p:sp>
      <p:pic>
        <p:nvPicPr>
          <p:cNvPr id="1882" name="图像" descr="图像"/>
          <p:cNvPicPr>
            <a:picLocks noChangeAspect="1"/>
          </p:cNvPicPr>
          <p:nvPr/>
        </p:nvPicPr>
        <p:blipFill>
          <a:blip r:embed="rId2" cstate="screen"/>
          <a:stretch>
            <a:fillRect/>
          </a:stretch>
        </p:blipFill>
        <p:spPr>
          <a:xfrm>
            <a:off x="9293011" y="2276951"/>
            <a:ext cx="1360209" cy="440446"/>
          </a:xfrm>
          <a:prstGeom prst="rect">
            <a:avLst/>
          </a:prstGeom>
          <a:ln w="12700">
            <a:miter lim="400000"/>
            <a:headEnd/>
            <a:tailEnd/>
          </a:ln>
        </p:spPr>
      </p:pic>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5.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DIAGRAM_VIRTUALLY_FRAME" val="{&quot;height&quot;:389.6,&quot;left&quot;:211.45,&quot;top&quot;:116.65,&quot;width&quot;:477.55}"/>
</p:tagLst>
</file>

<file path=ppt/tags/tag28.xml><?xml version="1.0" encoding="utf-8"?>
<p:tagLst xmlns:p="http://schemas.openxmlformats.org/presentationml/2006/main">
  <p:tag name="KSO_WM_DIAGRAM_VIRTUALLY_FRAME" val="{&quot;height&quot;:389.6,&quot;left&quot;:211.45,&quot;top&quot;:116.65,&quot;width&quot;:477.55}"/>
</p:tagLst>
</file>

<file path=ppt/tags/tag29.xml><?xml version="1.0" encoding="utf-8"?>
<p:tagLst xmlns:p="http://schemas.openxmlformats.org/presentationml/2006/main">
  <p:tag name="KSO_WM_DIAGRAM_VIRTUALLY_FRAME" val="{&quot;height&quot;:389.6,&quot;left&quot;:211.45,&quot;top&quot;:116.65,&quot;width&quot;:477.55}"/>
</p:tagLst>
</file>

<file path=ppt/tags/tag30.xml><?xml version="1.0" encoding="utf-8"?>
<p:tagLst xmlns:p="http://schemas.openxmlformats.org/presentationml/2006/main">
  <p:tag name="KSO_WM_DIAGRAM_VIRTUALLY_FRAME" val="{&quot;height&quot;:389.6,&quot;left&quot;:211.45,&quot;top&quot;:116.65,&quot;width&quot;:477.55}"/>
</p:tagLst>
</file>

<file path=ppt/tags/tag31.xml><?xml version="1.0" encoding="utf-8"?>
<p:tagLst xmlns:p="http://schemas.openxmlformats.org/presentationml/2006/main">
  <p:tag name="KSO_WM_DIAGRAM_VIRTUALLY_FRAME" val="{&quot;height&quot;:389.6,&quot;left&quot;:211.45,&quot;top&quot;:116.65,&quot;width&quot;:477.55}"/>
</p:tagLst>
</file>

<file path=ppt/tags/tag32.xml><?xml version="1.0" encoding="utf-8"?>
<p:tagLst xmlns:p="http://schemas.openxmlformats.org/presentationml/2006/main">
  <p:tag name="KSO_WM_DIAGRAM_VIRTUALLY_FRAME" val="{&quot;height&quot;:389.6,&quot;left&quot;:211.45,&quot;top&quot;:116.65,&quot;width&quot;:477.55}"/>
</p:tagLst>
</file>

<file path=ppt/tags/tag33.xml><?xml version="1.0" encoding="utf-8"?>
<p:tagLst xmlns:p="http://schemas.openxmlformats.org/presentationml/2006/main">
  <p:tag name="KSO_WM_DIAGRAM_VIRTUALLY_FRAME" val="{&quot;height&quot;:389.6,&quot;left&quot;:211.45,&quot;top&quot;:116.65,&quot;width&quot;:477.55}"/>
</p:tagLst>
</file>

<file path=ppt/tags/tag34.xml><?xml version="1.0" encoding="utf-8"?>
<p:tagLst xmlns:p="http://schemas.openxmlformats.org/presentationml/2006/main">
  <p:tag name="KSO_WM_DIAGRAM_VIRTUALLY_FRAME" val="{&quot;height&quot;:389.6,&quot;left&quot;:211.45,&quot;top&quot;:116.65,&quot;width&quot;:477.55}"/>
</p:tagLst>
</file>

<file path=ppt/tags/tag3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8.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0.xml><?xml version="1.0" encoding="utf-8"?>
<p:tagLst xmlns:p="http://schemas.openxmlformats.org/presentationml/2006/main">
  <p:tag name="KSO_WM_DIAGRAM_VIRTUALLY_FRAME" val="{&quot;height&quot;:389.6,&quot;left&quot;:211.45,&quot;top&quot;:116.65,&quot;width&quot;:477.55}"/>
</p:tagLst>
</file>

<file path=ppt/tags/tag41.xml><?xml version="1.0" encoding="utf-8"?>
<p:tagLst xmlns:p="http://schemas.openxmlformats.org/presentationml/2006/main">
  <p:tag name="KSO_WM_DIAGRAM_VIRTUALLY_FRAME" val="{&quot;height&quot;:389.6,&quot;left&quot;:211.45,&quot;top&quot;:116.65,&quot;width&quot;:477.55}"/>
</p:tagLst>
</file>

<file path=ppt/tags/tag4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4.xml><?xml version="1.0" encoding="utf-8"?>
<p:tagLst xmlns:p="http://schemas.openxmlformats.org/presentationml/2006/main">
  <p:tag name="KSO_WM_DIAGRAM_VIRTUALLY_FRAME" val="{&quot;height&quot;:389.6,&quot;left&quot;:211.45,&quot;top&quot;:116.65,&quot;width&quot;:477.55}"/>
</p:tagLst>
</file>

<file path=ppt/tags/tag4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VALUE" val="50"/>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1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2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VALUE" val="50"/>
  <p:tag name="KSO_WM_UNIT_PRESET_TEXT" val="单击此处添加文本，简明扼要地阐述您的观点。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0"/>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9"/>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3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7.xml><?xml version="1.0" encoding="utf-8"?>
<p:tagLst xmlns:p="http://schemas.openxmlformats.org/presentationml/2006/main">
  <p:tag name="KSO_WM_SLIDE_ITEM_CNT" val="3"/>
  <p:tag name="resource_record_key" val="{&quot;70&quot;:[3429242]}"/>
</p:tagLst>
</file>

<file path=ppt/tags/tag8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3.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2880_2*l_h_i*1_3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4.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5.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6.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880_2*l_h_i*1_2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7.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40492880_2*l_h_i*1_4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40492880_2*l_h_i*1_5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8.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9.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1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1.xml><?xml version="1.0" encoding="utf-8"?>
<p:tagLst xmlns:p="http://schemas.openxmlformats.org/presentationml/2006/main">
  <p:tag name="KSO_WM_DIAGRAM_VIRTUALLY_FRAME" val="{&quot;height&quot;:389.6,&quot;left&quot;:211.45,&quot;top&quot;:116.65,&quot;width&quot;:477.55}"/>
</p:tagLst>
</file>

<file path=ppt/tags/tag11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3.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6.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7.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8.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9.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0.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1.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2.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3.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4.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1*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2*l_h_f*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1_1"/>
  <p:tag name="KSO_WM_DIAGRAM_MAX_ITEMCNT" val="5"/>
  <p:tag name="KSO_WM_DIAGRAM_MIN_ITEMCNT" val="2"/>
  <p:tag name="KSO_WM_DIAGRAM_VIRTUALLY_FRAME" val="{&quot;height&quot;:376.25,&quot;left&quot;:62.65,&quot;top&quot;:111,&quot;width&quot;:224.2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DIAGRAM_VERSION" val="3"/>
  <p:tag name="KSO_WM_UNIT_PRESET_TEXT" val="单击添加正文"/>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9,10,9,10,9,10]}"/>
</p:tagLst>
</file>

<file path=ppt/tags/tag175.xml><?xml version="1.0" encoding="utf-8"?>
<p:tagLst xmlns:p="http://schemas.openxmlformats.org/presentationml/2006/main">
  <p:tag name="KSO_WM_DIAGRAM_VIRTUALLY_FRAME" val="{&quot;height&quot;:340.9,&quot;left&quot;:23.55,&quot;top&quot;:177,&quot;width&quot;:876}"/>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0949_1*n_h_i*1_1_5"/>
  <p:tag name="KSO_WM_TEMPLATE_CATEGORY" val="diagram"/>
  <p:tag name="KSO_WM_TEMPLATE_INDEX" val="20230949"/>
  <p:tag name="KSO_WM_UNIT_LAYERLEVEL" val="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gradient&quot;:[{&quot;brightness&quot;:0.4000000059604645,&quot;colorType&quot;:1,&quot;foreColorIndex&quot;:5,&quot;pos&quot;:0,&quot;transparency&quot;:0},{&quot;brightness&quot;:0.4000000059604645,&quot;colorType&quot;:1,&quot;foreColorIndex&quot;:5,&quot;pos&quot;:1,&quot;transparency&quot;:0.6000000238418579}],&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DIAGRAM_USE_COLOR_VALUE" val="{&quot;color_scheme&quot;:1,&quot;color_type&quot;:1,&quot;theme_color_indexes&quot;:[9,10,9,10,9,10]}"/>
</p:tagLst>
</file>

<file path=ppt/tags/tag177.xml><?xml version="1.0" encoding="utf-8"?>
<p:tagLst xmlns:p="http://schemas.openxmlformats.org/presentationml/2006/main">
  <p:tag name="MH" val="20160512072910"/>
  <p:tag name="MH_LIBRARY" val="GRAPHIC"/>
  <p:tag name="MH_TYPE" val="Other"/>
  <p:tag name="MH_ORDER" val="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4"/>
  <p:tag name="KSO_WM_UNIT_ID" val="diagram20230949_1*n_h_h_i*1_2_2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8.xml><?xml version="1.0" encoding="utf-8"?>
<p:tagLst xmlns:p="http://schemas.openxmlformats.org/presentationml/2006/main">
  <p:tag name="MH" val="20160512072910"/>
  <p:tag name="MH_LIBRARY" val="GRAPHIC"/>
  <p:tag name="MH_TYPE" val="Other"/>
  <p:tag name="MH_ORDER" val="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4"/>
  <p:tag name="KSO_WM_UNIT_ID" val="diagram20230949_1*n_h_h_i*1_2_1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9.xml><?xml version="1.0" encoding="utf-8"?>
<p:tagLst xmlns:p="http://schemas.openxmlformats.org/presentationml/2006/main">
  <p:tag name="MH" val="20160512072910"/>
  <p:tag name="MH_LIBRARY" val="GRAPHIC"/>
  <p:tag name="MH_TYPE" val="Other"/>
  <p:tag name="MH_ORDER" val="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4"/>
  <p:tag name="KSO_WM_UNIT_ID" val="diagram20230949_1*n_h_h_i*1_2_5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0.xml><?xml version="1.0" encoding="utf-8"?>
<p:tagLst xmlns:p="http://schemas.openxmlformats.org/presentationml/2006/main">
  <p:tag name="MH" val="20160512072910"/>
  <p:tag name="MH_LIBRARY" val="GRAPHIC"/>
  <p:tag name="MH_TYPE" val="Other"/>
  <p:tag name="MH_ORDER" val="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4"/>
  <p:tag name="KSO_WM_UNIT_ID" val="diagram20230949_1*n_h_h_i*1_2_4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1.xml><?xml version="1.0" encoding="utf-8"?>
<p:tagLst xmlns:p="http://schemas.openxmlformats.org/presentationml/2006/main">
  <p:tag name="MH" val="20160512072910"/>
  <p:tag name="MH_LIBRARY" val="GRAPHIC"/>
  <p:tag name="MH_TYPE" val="Other"/>
  <p:tag name="MH_ORDER" val="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4"/>
  <p:tag name="KSO_WM_UNIT_ID" val="diagram20230949_1*n_h_h_i*1_2_3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49_1*n_h_a*1_1_1"/>
  <p:tag name="KSO_WM_TEMPLATE_CATEGORY" val="diagram"/>
  <p:tag name="KSO_WM_TEMPLATE_INDEX" val="20230949"/>
  <p:tag name="KSO_WM_UNIT_LAYERLEVEL" val="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AISAS"/>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49_1*n_h_h_f*1_2_4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9_1*n_h_h_f*1_2_3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49_1*n_h_h_f*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9_1*n_h_h_f*1_2_2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9_1*n_h_h_f*1_2_1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9.xml><?xml version="1.0" encoding="utf-8"?>
<p:tagLst xmlns:p="http://schemas.openxmlformats.org/presentationml/2006/main">
  <p:tag name="KSO_WM_DIAGRAM_VIRTUALLY_FRAME" val="{&quot;height&quot;:340.9,&quot;left&quot;:23.55,&quot;top&quot;:177,&quot;width&quot;:876}"/>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3"/>
  <p:tag name="KSO_WM_UNIT_ID" val="diagram20230949_1*n_h_h_i*1_2_1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0949_1*n_h_h_i*1_2_1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0949_1*n_h_h_i*1_2_1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3.xml><?xml version="1.0" encoding="utf-8"?>
<p:tagLst xmlns:p="http://schemas.openxmlformats.org/presentationml/2006/main">
  <p:tag name="KSO_WM_DIAGRAM_VIRTUALLY_FRAME" val="{&quot;height&quot;:340.9,&quot;left&quot;:23.55,&quot;top&quot;:177,&quot;width&quot;:876}"/>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3"/>
  <p:tag name="KSO_WM_UNIT_ID" val="diagram20230949_1*n_h_h_i*1_2_5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2"/>
  <p:tag name="KSO_WM_UNIT_ID" val="diagram20230949_1*n_h_h_i*1_2_5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0949_1*n_h_h_i*1_2_5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7.xml><?xml version="1.0" encoding="utf-8"?>
<p:tagLst xmlns:p="http://schemas.openxmlformats.org/presentationml/2006/main">
  <p:tag name="KSO_WM_DIAGRAM_VIRTUALLY_FRAME" val="{&quot;height&quot;:340.9,&quot;left&quot;:23.55,&quot;top&quot;:177,&quot;width&quot;:876}"/>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3"/>
  <p:tag name="KSO_WM_UNIT_ID" val="diagram20230949_1*n_h_h_i*1_2_2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0949_1*n_h_h_i*1_2_2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0949_1*n_h_h_i*1_2_2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1.xml><?xml version="1.0" encoding="utf-8"?>
<p:tagLst xmlns:p="http://schemas.openxmlformats.org/presentationml/2006/main">
  <p:tag name="KSO_WM_DIAGRAM_VIRTUALLY_FRAME" val="{&quot;height&quot;:340.9,&quot;left&quot;:23.55,&quot;top&quot;:177,&quot;width&quot;:876}"/>
</p:tagLst>
</file>

<file path=ppt/tags/tag2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230949_1*n_h_h_i*1_2_3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0949_1*n_h_h_i*1_2_3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0949_1*n_h_h_i*1_2_3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5.xml><?xml version="1.0" encoding="utf-8"?>
<p:tagLst xmlns:p="http://schemas.openxmlformats.org/presentationml/2006/main">
  <p:tag name="KSO_WM_DIAGRAM_VIRTUALLY_FRAME" val="{&quot;height&quot;:340.9,&quot;left&quot;:23.55,&quot;top&quot;:177,&quot;width&quot;:876}"/>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3"/>
  <p:tag name="KSO_WM_UNIT_ID" val="diagram20230949_1*n_h_h_i*1_2_4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2"/>
  <p:tag name="KSO_WM_UNIT_ID" val="diagram20230949_1*n_h_h_i*1_2_4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0949_1*n_h_h_i*1_2_4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3.xml><?xml version="1.0" encoding="utf-8"?>
<p:tagLst xmlns:p="http://schemas.openxmlformats.org/presentationml/2006/main">
  <p:tag name="KSO_WM_SLIDE_ITEM_CNT" val="3"/>
  <p:tag name="resource_record_key" val="{&quot;10&quot;:[3505430,50036384],&quot;29&quot;:[50053024,50052948],&quot;70&quot;:[3405561,3319090,3312439]}"/>
</p:tagLst>
</file>

<file path=ppt/tags/tag214.xml><?xml version="1.0" encoding="utf-8"?>
<p:tagLst xmlns:p="http://schemas.openxmlformats.org/presentationml/2006/main">
  <p:tag name="KSO_WM_DIAGRAM_VIRTUALLY_FRAME" val="{&quot;height&quot;:389.6,&quot;left&quot;:211.45,&quot;top&quot;:116.65,&quot;width&quot;:477.55}"/>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1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20.xml><?xml version="1.0" encoding="utf-8"?>
<p:tagLst xmlns:p="http://schemas.openxmlformats.org/presentationml/2006/main">
  <p:tag name="KSO_WM_DIAGRAM_VIRTUALLY_FRAME" val="{&quot;height&quot;:156.26889153427965,&quot;left&quot;:79.175,&quot;top&quot;:135.73110236220472,&quot;width&quot;:215.02872924804697}"/>
</p:tagLst>
</file>

<file path=ppt/tags/tag2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3.xml><?xml version="1.0" encoding="utf-8"?>
<p:tagLst xmlns:p="http://schemas.openxmlformats.org/presentationml/2006/main">
  <p:tag name="KSO_WM_DIAGRAM_VIRTUALLY_FRAME" val="{&quot;height&quot;:156.26889153427965,&quot;left&quot;:79.175,&quot;top&quot;:135.73110236220472,&quot;width&quot;:215.02872924804697}"/>
</p:tagLst>
</file>

<file path=ppt/tags/tag22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6.xml><?xml version="1.0" encoding="utf-8"?>
<p:tagLst xmlns:p="http://schemas.openxmlformats.org/presentationml/2006/main">
  <p:tag name="KSO_WM_DIAGRAM_VIRTUALLY_FRAME" val="{&quot;height&quot;:156.26889153427965,&quot;left&quot;:79.175,&quot;top&quot;:135.73110236220472,&quot;width&quot;:215.02872924804697}"/>
</p:tagLst>
</file>

<file path=ppt/tags/tag22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9.xml><?xml version="1.0" encoding="utf-8"?>
<p:tagLst xmlns:p="http://schemas.openxmlformats.org/presentationml/2006/main">
  <p:tag name="KSO_WM_DIAGRAM_VIRTUALLY_FRAME" val="{&quot;height&quot;:156.26889153427965,&quot;left&quot;:79.175,&quot;top&quot;:135.73110236220472,&quot;width&quot;:215.02872924804697}"/>
</p:tagLst>
</file>

<file path=ppt/tags/tag23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3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1.xml><?xml version="1.0" encoding="utf-8"?>
<p:tagLst xmlns:p="http://schemas.openxmlformats.org/presentationml/2006/main">
  <p:tag name="KSO_WM_DIAGRAM_VIRTUALLY_FRAME" val="{&quot;height&quot;:443.51889153427965,&quot;left&quot;:59.7,&quot;top&quot;:137.43110236220474,&quot;width&quot;:492.053729248047}"/>
</p:tagLst>
</file>

<file path=ppt/tags/tag2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4.xml><?xml version="1.0" encoding="utf-8"?>
<p:tagLst xmlns:p="http://schemas.openxmlformats.org/presentationml/2006/main">
  <p:tag name="KSO_WM_DIAGRAM_VIRTUALLY_FRAME" val="{&quot;height&quot;:443.51889153427965,&quot;left&quot;:59.7,&quot;top&quot;:137.43110236220474,&quot;width&quot;:492.053729248047}"/>
</p:tagLst>
</file>

<file path=ppt/tags/tag2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7.xml><?xml version="1.0" encoding="utf-8"?>
<p:tagLst xmlns:p="http://schemas.openxmlformats.org/presentationml/2006/main">
  <p:tag name="KSO_WM_DIAGRAM_VIRTUALLY_FRAME" val="{&quot;height&quot;:443.51889153427965,&quot;left&quot;:59.7,&quot;top&quot;:137.43110236220474,&quot;width&quot;:492.053729248047}"/>
</p:tagLst>
</file>

<file path=ppt/tags/tag2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0.xml><?xml version="1.0" encoding="utf-8"?>
<p:tagLst xmlns:p="http://schemas.openxmlformats.org/presentationml/2006/main">
  <p:tag name="KSO_WM_DIAGRAM_VIRTUALLY_FRAME" val="{&quot;height&quot;:443.51889153427965,&quot;left&quot;:59.7,&quot;top&quot;:137.43110236220474,&quot;width&quot;:492.053729248047}"/>
</p:tagLst>
</file>

<file path=ppt/tags/tag25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2*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2*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2*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6_2*l_h_f*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2*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2*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6_2*l_h_a*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6_2*l_h_f*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90.xml><?xml version="1.0" encoding="utf-8"?>
<p:tagLst xmlns:p="http://schemas.openxmlformats.org/presentationml/2006/main">
  <p:tag name="PA" val="v4.3.1"/>
</p:tagLst>
</file>

<file path=ppt/tags/tag291.xml><?xml version="1.0" encoding="utf-8"?>
<p:tagLst xmlns:p="http://schemas.openxmlformats.org/presentationml/2006/main">
  <p:tag name="PA" val="v4.3.1"/>
</p:tagLst>
</file>

<file path=ppt/tags/tag292.xml><?xml version="1.0" encoding="utf-8"?>
<p:tagLst xmlns:p="http://schemas.openxmlformats.org/presentationml/2006/main">
  <p:tag name="PA" val="v4.3.1"/>
</p:tagLst>
</file>

<file path=ppt/tags/tag293.xml><?xml version="1.0" encoding="utf-8"?>
<p:tagLst xmlns:p="http://schemas.openxmlformats.org/presentationml/2006/main">
  <p:tag name="PA" val="v4.3.1"/>
</p:tagLst>
</file>

<file path=ppt/tags/tag294.xml><?xml version="1.0" encoding="utf-8"?>
<p:tagLst xmlns:p="http://schemas.openxmlformats.org/presentationml/2006/main">
  <p:tag name="PA" val="v4.3.1"/>
</p:tagLst>
</file>

<file path=ppt/tags/tag295.xml><?xml version="1.0" encoding="utf-8"?>
<p:tagLst xmlns:p="http://schemas.openxmlformats.org/presentationml/2006/main">
  <p:tag name="KSO_WM_DIAGRAM_VIRTUALLY_FRAME" val="{&quot;height&quot;:389.6,&quot;left&quot;:211.45,&quot;top&quot;:116.65,&quot;width&quot;:477.55}"/>
</p:tagLst>
</file>

<file path=ppt/tags/tag296.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9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9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99.xml><?xml version="1.0" encoding="utf-8"?>
<p:tagLst xmlns:p="http://schemas.openxmlformats.org/presentationml/2006/main">
  <p:tag name="TABLE_ENDDRAG_ORIGIN_RECT" val="396*169"/>
  <p:tag name="TABLE_ENDDRAG_RECT" val="51*94*396*169"/>
</p:tagLst>
</file>

<file path=ppt/tags/tag300.xml><?xml version="1.0" encoding="utf-8"?>
<p:tagLst xmlns:p="http://schemas.openxmlformats.org/presentationml/2006/main">
  <p:tag name="TABLE_ENDDRAG_ORIGIN_RECT" val="396*169"/>
  <p:tag name="TABLE_ENDDRAG_RECT" val="480*94*396*169"/>
</p:tagLst>
</file>

<file path=ppt/tags/tag301.xml><?xml version="1.0" encoding="utf-8"?>
<p:tagLst xmlns:p="http://schemas.openxmlformats.org/presentationml/2006/main">
  <p:tag name="TABLE_ENDDRAG_ORIGIN_RECT" val="396*169"/>
  <p:tag name="TABLE_ENDDRAG_RECT" val="51*273*396*169"/>
</p:tagLst>
</file>

<file path=ppt/tags/tag302.xml><?xml version="1.0" encoding="utf-8"?>
<p:tagLst xmlns:p="http://schemas.openxmlformats.org/presentationml/2006/main">
  <p:tag name="TABLE_ENDDRAG_ORIGIN_RECT" val="396*169"/>
  <p:tag name="TABLE_ENDDRAG_RECT" val="51*273*396*169"/>
</p:tagLst>
</file>

<file path=ppt/tags/tag303.xml><?xml version="1.0" encoding="utf-8"?>
<p:tagLst xmlns:p="http://schemas.openxmlformats.org/presentationml/2006/main">
  <p:tag name="KSO_WM_DIAGRAM_VIRTUALLY_FRAME" val="{&quot;height&quot;:389.6,&quot;left&quot;:211.45,&quot;top&quot;:116.65,&quot;width&quot;:477.55}"/>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30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0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PA" val="v4.3.1"/>
</p:tagLst>
</file>

<file path=ppt/tags/tag344.xml><?xml version="1.0" encoding="utf-8"?>
<p:tagLst xmlns:p="http://schemas.openxmlformats.org/presentationml/2006/main">
  <p:tag name="PA" val="v4.3.1"/>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TABLE_ENDDRAG_ORIGIN_RECT" val="427*233"/>
  <p:tag name="TABLE_ENDDRAG_RECT" val="488*280*427*233"/>
</p:tagLst>
</file>

<file path=ppt/tags/tag351.xml><?xml version="1.0" encoding="utf-8"?>
<p:tagLst xmlns:p="http://schemas.openxmlformats.org/presentationml/2006/main">
  <p:tag name="PA" val="v4.3.1"/>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DIAGRAM_VIRTUALLY_FRAME" val="{&quot;height&quot;:389.6,&quot;left&quot;:211.45,&quot;top&quot;:116.65,&quot;width&quot;:477.55}"/>
</p:tagLst>
</file>

<file path=ppt/tags/tag46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7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7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6951_3*l_h_i*1_1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1_3*l_h_i*1_1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1_3*l_h_i*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7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1_3*l_h_f*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7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1_3*l_h_a*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7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6951_3*l_h_i*1_2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1_3*l_h_i*1_2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1_3*l_h_i*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1_3*l_h_f*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8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1_3*l_h_a*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6951_3*l_h_i*1_3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1_3*l_h_i*1_3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1_3*l_h_i*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1_3*l_h_f*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8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1_3*l_h_a*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6951_3*l_h_i*1_4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1_3*l_h_i*1_4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1_3*l_h_i*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9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1_3*l_h_f*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9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6951_3*l_h_a*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92.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quot;13&quot;:[20025430],&quot;65&quot;:[20238577],&quot;70&quot;:[3330157,3312290,3333581,3312385]}"/>
  <p:tag name="commondata" val="eyJoZGlkIjoiNzBiN2QxNGQ4NjIwZWE5Mjc3ZDY1N2NlMGYwOTU3MD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10027</Words>
  <Application>WPS 演示</Application>
  <PresentationFormat/>
  <Paragraphs>1241</Paragraphs>
  <Slides>25</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25</vt:i4>
      </vt:variant>
    </vt:vector>
  </HeadingPairs>
  <TitlesOfParts>
    <vt:vector size="51" baseType="lpstr">
      <vt:lpstr>Arial</vt:lpstr>
      <vt:lpstr>宋体</vt:lpstr>
      <vt:lpstr>Wingdings</vt:lpstr>
      <vt:lpstr>Calibri</vt:lpstr>
      <vt:lpstr>微软雅黑</vt:lpstr>
      <vt:lpstr>Helvetica Neue</vt:lpstr>
      <vt:lpstr>黑体</vt:lpstr>
      <vt:lpstr>Source Han Sans CN Bold</vt:lpstr>
      <vt:lpstr>Source Han Sans CN</vt:lpstr>
      <vt:lpstr>DINPro Bold</vt:lpstr>
      <vt:lpstr>Source Han Sans CN Regular</vt:lpstr>
      <vt:lpstr>Calibri</vt:lpstr>
      <vt:lpstr>Arial</vt:lpstr>
      <vt:lpstr>Source Han Sans CN Medium</vt:lpstr>
      <vt:lpstr>Source Han Sans CN Normal</vt:lpstr>
      <vt:lpstr>Wingdings</vt:lpstr>
      <vt:lpstr>微软雅黑</vt:lpstr>
      <vt:lpstr>Times New Roman</vt:lpstr>
      <vt:lpstr>Arial Unicode MS</vt:lpstr>
      <vt:lpstr>等线</vt:lpstr>
      <vt:lpstr>隶书</vt:lpstr>
      <vt:lpstr>Impact</vt:lpstr>
      <vt:lpstr>Microsoft YaHei UI</vt:lpstr>
      <vt:lpstr>Myriad Pro</vt:lpstr>
      <vt:lpstr>Office theme</vt:lpstr>
      <vt:lpstr>简约星环线条职场办公</vt:lpstr>
      <vt:lpstr>PowerPoint 演示文稿</vt:lpstr>
      <vt:lpstr>PowerPoint 演示文稿</vt:lpstr>
      <vt:lpstr>项目背景回顾</vt:lpstr>
      <vt:lpstr>PowerPoint 演示文稿</vt:lpstr>
      <vt:lpstr>PowerPoint 演示文稿</vt:lpstr>
      <vt:lpstr>运营目标达成情况</vt:lpstr>
      <vt:lpstr>PowerPoint 演示文稿</vt:lpstr>
      <vt:lpstr>PowerPoint 演示文稿</vt:lpstr>
      <vt:lpstr>PowerPoint 演示文稿</vt:lpstr>
      <vt:lpstr>详细工作内容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关键问题与解决方案</vt:lpstr>
      <vt:lpstr>PowerPoint 演示文稿</vt:lpstr>
      <vt:lpstr>下阶段工作规划</vt:lpstr>
      <vt:lpstr>PowerPoint 演示文稿</vt:lpstr>
      <vt:lpstr>PowerPoint 演示文稿</vt:lpstr>
      <vt:lpstr>总结与建议</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145</cp:revision>
  <dcterms:created xsi:type="dcterms:W3CDTF">2026-02-06T08:36:00Z</dcterms:created>
  <dcterms:modified xsi:type="dcterms:W3CDTF">2026-03-10T08:24:40Z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2025-07-31T17:35:42Z</vt:filetime>
  </property>
  <property fmtid="{D5CDD505-2E9C-101B-9397-08002B2CF9AE}" pid="4" name="UsrData">
    <vt:lpwstr>687eeadea43bea0020547dd2wl</vt:lpwstr>
  </property>
  <property fmtid="{D5CDD505-2E9C-101B-9397-08002B2CF9AE}" pid="5" name="ICV">
    <vt:lpwstr>F68207EBAF53B43B88948068403FDFF7_43</vt:lpwstr>
  </property>
  <property fmtid="{D5CDD505-2E9C-101B-9397-08002B2CF9AE}" pid="6" name="KSOProductBuildVer">
    <vt:lpwstr>2052-12.1.0.25225</vt:lpwstr>
  </property>
</Properties>
</file>