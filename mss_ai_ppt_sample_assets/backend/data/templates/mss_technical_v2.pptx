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1365" cy="6858000" type="screen4x3"/>
  <p:notesSz cx="6858000" cy="9144000"/>
  <p:custDataLst>
    <p:tags r:id="rId1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gs" Target="tags/tag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themeOverride" Target="../theme/themeOverride1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2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4.xml.rels><?xml version="1.0" encoding="UTF-8" standalone="yes"?>
<Relationships xmlns="http://schemas.openxmlformats.org/package/2006/relationships"><Relationship Id="rId4" Type="http://schemas.microsoft.com/office/2011/relationships/chartColorStyle" Target="colors4.xml"/><Relationship Id="rId3" Type="http://schemas.microsoft.com/office/2011/relationships/chartStyle" Target="style4.xml"/><Relationship Id="rId2" Type="http://schemas.openxmlformats.org/officeDocument/2006/relationships/themeOverride" Target="../theme/themeOverride3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/Users/macos/Desktop/For%20Work/&#27969;&#31243;%26&#35013;&#22791;/&#23458;&#25143;&#27719;&#25253;/&#24456;&#22810;&#40060;/&#25253;&#21578;&#27169;&#26495;/&#24456;&#22810;&#40060;&#23433;&#20840;&#36816;&#33829;&#24037;&#20316;&#25253;&#21578;-2025080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14410134600158"/>
          <c:y val="0.197183098591549"/>
          <c:w val="0.909527579836368"/>
          <c:h val="0.64321382842509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"平均处置时间（分钟）"</c:f>
              <c:strCache>
                <c:ptCount val="1"/>
                <c:pt idx="0">
                  <c:v>平均处置时间（分钟）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'[很多鱼安全运营工作报告-20250801.xlsx]数据统计'!$F$46:$F$49</c:f>
              <c:strCache>
                <c:ptCount val="4"/>
                <c:pt idx="0">
                  <c:v>识别</c:v>
                </c:pt>
                <c:pt idx="1">
                  <c:v>响应</c:v>
                </c:pt>
                <c:pt idx="2">
                  <c:v>处置</c:v>
                </c:pt>
                <c:pt idx="3">
                  <c:v>闭环</c:v>
                </c:pt>
              </c:strCache>
            </c:strRef>
          </c:cat>
          <c:val>
            <c:numRef>
              <c:f>'[很多鱼安全运营工作报告-20250801.xlsx]数据统计'!$G$46:$G$49</c:f>
              <c:numCache>
                <c:formatCode>0.00_ </c:formatCode>
                <c:ptCount val="4"/>
                <c:pt idx="0">
                  <c:v>6.41666666666667</c:v>
                </c:pt>
                <c:pt idx="1">
                  <c:v>27.4</c:v>
                </c:pt>
                <c:pt idx="2">
                  <c:v>572.016666666667</c:v>
                </c:pt>
                <c:pt idx="3">
                  <c:v>625.383333333333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46"/>
        <c:overlap val="-28"/>
        <c:axId val="590885613"/>
        <c:axId val="82692506"/>
      </c:barChart>
      <c:catAx>
        <c:axId val="59088561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82692506"/>
        <c:crosses val="autoZero"/>
        <c:auto val="1"/>
        <c:lblAlgn val="ctr"/>
        <c:lblOffset val="100"/>
        <c:noMultiLvlLbl val="0"/>
      </c:catAx>
      <c:valAx>
        <c:axId val="82692506"/>
        <c:scaling>
          <c:orientation val="minMax"/>
        </c:scaling>
        <c:delete val="0"/>
        <c:axPos val="l"/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59088561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prstDash val="solid"/>
      <a:round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>
            <a:solidFill>
              <a:schemeClr val="accent1">
                <a:alpha val="85000"/>
              </a:schemeClr>
            </a:solidFill>
          </c:spPr>
          <c:explosion val="0"/>
          <c:dPt>
            <c:idx val="0"/>
            <c:bubble3D val="0"/>
            <c:spPr>
              <a:solidFill>
                <a:schemeClr val="accent1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>
                  <a:alpha val="8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'[很多鱼安全运营工作报告-20250801.xlsx]数据统计'!$C$65:$C$69</c:f>
              <c:strCache>
                <c:ptCount val="5"/>
                <c:pt idx="0">
                  <c:v>挖矿</c:v>
                </c:pt>
                <c:pt idx="1" c:formatCode="mmm\-yy">
                  <c:v>僵尸网络</c:v>
                </c:pt>
                <c:pt idx="2" c:formatCode="mmm\-yy">
                  <c:v>木马</c:v>
                </c:pt>
                <c:pt idx="3" c:formatCode="mmm\-yy">
                  <c:v>账号爆破</c:v>
                </c:pt>
                <c:pt idx="4" c:formatCode="mmm\-yy">
                  <c:v>代理工具</c:v>
                </c:pt>
              </c:strCache>
            </c:strRef>
          </c:cat>
          <c:val>
            <c:numRef>
              <c:f>'[很多鱼安全运营工作报告-20250801.xlsx]数据统计'!$D$65:$D$69</c:f>
              <c:numCache>
                <c:formatCode>General</c:formatCode>
                <c:ptCount val="5"/>
                <c:pt idx="0">
                  <c:v>76</c:v>
                </c:pt>
                <c:pt idx="1">
                  <c:v>39</c:v>
                </c:pt>
                <c:pt idx="2">
                  <c:v>31</c:v>
                </c:pt>
                <c:pt idx="3">
                  <c:v>26</c:v>
                </c:pt>
                <c:pt idx="4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3644622860765"/>
          <c:y val="0.22947485207100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>
          <a:solidFill>
            <a:schemeClr val="bg2">
              <a:lumMod val="10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>
                <a:solidFill>
                  <a:schemeClr val="bg1"/>
                </a:solidFill>
              </a:ln>
              <a:effectLst/>
            </c:spPr>
          </c:dPt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 forceAA="0"/>
              <a:lstStyle/>
              <a:p>
                <a:pPr>
                  <a:defRPr lang="zh-CN" sz="8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'[很多鱼安全运营工作报告-20250801.xlsx]数据统计'!$F$73:$F$77</c:f>
              <c:strCache>
                <c:ptCount val="5"/>
                <c:pt idx="0">
                  <c:v>服务器</c:v>
                </c:pt>
                <c:pt idx="1">
                  <c:v>终端</c:v>
                </c:pt>
                <c:pt idx="2">
                  <c:v>网络设备</c:v>
                </c:pt>
                <c:pt idx="3">
                  <c:v>安全设备</c:v>
                </c:pt>
                <c:pt idx="4">
                  <c:v>物联网设备</c:v>
                </c:pt>
              </c:strCache>
            </c:strRef>
          </c:cat>
          <c:val>
            <c:numRef>
              <c:f>'[很多鱼安全运营工作报告-20250801.xlsx]数据统计'!$G$73:$G$77</c:f>
              <c:numCache>
                <c:formatCode>General</c:formatCode>
                <c:ptCount val="5"/>
                <c:pt idx="0">
                  <c:v>125</c:v>
                </c:pt>
                <c:pt idx="1">
                  <c:v>31</c:v>
                </c:pt>
                <c:pt idx="2">
                  <c:v>12</c:v>
                </c:pt>
                <c:pt idx="3">
                  <c:v>23</c:v>
                </c:pt>
                <c:pt idx="4">
                  <c:v>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4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>
        <c:manualLayout>
          <c:xMode val="edge"/>
          <c:yMode val="edge"/>
          <c:x val="0.752842459804959"/>
          <c:y val="0.255978230895547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chemeClr val="bg2">
                  <a:lumMod val="10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chemeClr val="tx1">
              <a:lumMod val="75000"/>
              <a:lumOff val="25000"/>
            </a:schemeClr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doughnutChart>
        <c:varyColors val="1"/>
        <c:ser>
          <c:idx val="0"/>
          <c:order val="0"/>
          <c:spPr/>
          <c:explosion val="0"/>
          <c:dPt>
            <c:idx val="0"/>
            <c:bubble3D val="0"/>
            <c:spPr>
              <a:solidFill>
                <a:srgbClr val="70AD47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5B9BD5"/>
              </a:solidFill>
              <a:ln>
                <a:solidFill>
                  <a:srgbClr val="FFFFFF"/>
                </a:solidFill>
              </a:ln>
              <a:effectLst/>
            </c:spPr>
          </c:dPt>
          <c:dPt>
            <c:idx val="2"/>
            <c:bubble3D val="0"/>
            <c:spPr>
              <a:solidFill>
                <a:srgbClr val="FFC000"/>
              </a:solidFill>
              <a:ln>
                <a:solidFill>
                  <a:srgbClr val="FFFFFF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  <a:sym typeface="微软雅黑" panose="020B0503020204020204" charset="-122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rgbClr val="000000">
                          <a:lumMod val="35000"/>
                          <a:lumOff val="65000"/>
                        </a:srgb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'[很多鱼安全运营工作报告-20250801.xlsx]数据统计'!$C$88:$C$90</c:f>
              <c:strCache>
                <c:ptCount val="3"/>
                <c:pt idx="0">
                  <c:v>高危漏洞</c:v>
                </c:pt>
                <c:pt idx="1">
                  <c:v>中危漏洞</c:v>
                </c:pt>
                <c:pt idx="2">
                  <c:v>低危漏洞</c:v>
                </c:pt>
              </c:strCache>
            </c:strRef>
          </c:cat>
          <c:val>
            <c:numRef>
              <c:f>'[很多鱼安全运营工作报告-20250801.xlsx]数据统计'!$D$88:$D$90</c:f>
              <c:numCache>
                <c:formatCode>General</c:formatCode>
                <c:ptCount val="3"/>
                <c:pt idx="0">
                  <c:v>2537</c:v>
                </c:pt>
                <c:pt idx="1">
                  <c:v>3633</c:v>
                </c:pt>
                <c:pt idx="2">
                  <c:v>3284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 forceAA="0"/>
        <a:lstStyle/>
        <a:p>
          <a:pPr>
            <a:defRPr lang="zh-CN" sz="800" b="0" i="0" u="none" strike="noStrike" kern="1200" baseline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defRPr>
          </a:pPr>
        </a:p>
      </c:txPr>
    </c:legend>
    <c:plotVisOnly val="1"/>
    <c:dispBlanksAs val="gap"/>
    <c:showDLblsOverMax val="0"/>
  </c:chart>
  <c:spPr>
    <a:noFill/>
    <a:ln w="6350" cap="flat" cmpd="sng" algn="ctr">
      <a:noFill/>
      <a:round/>
    </a:ln>
    <a:effectLst/>
  </c:spPr>
  <c:txPr>
    <a:bodyPr/>
    <a:lstStyle/>
    <a:p>
      <a:pPr>
        <a:defRPr lang="zh-CN" sz="800">
          <a:solidFill>
            <a:srgbClr val="000000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  <a:sym typeface="微软雅黑" panose="020B0503020204020204" charset="-122"/>
        </a:defRPr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'[很多鱼安全运营工作报告-20250801.xlsx]数据统计'!$C$47</c:f>
              <c:strCache>
                <c:ptCount val="1"/>
                <c:pt idx="0">
                  <c:v>外部攻击数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'[很多鱼安全运营工作报告-20250801.xlsx]数据统计'!$D$47:$O$47</c:f>
              <c:numCache>
                <c:formatCode>0\.0,"万"</c:formatCode>
                <c:ptCount val="12"/>
                <c:pt idx="0">
                  <c:v>64198</c:v>
                </c:pt>
                <c:pt idx="1">
                  <c:v>35890</c:v>
                </c:pt>
                <c:pt idx="2">
                  <c:v>12478</c:v>
                </c:pt>
                <c:pt idx="3">
                  <c:v>5613</c:v>
                </c:pt>
                <c:pt idx="4">
                  <c:v>704</c:v>
                </c:pt>
                <c:pt idx="5">
                  <c:v>902</c:v>
                </c:pt>
                <c:pt idx="6">
                  <c:v>2412</c:v>
                </c:pt>
                <c:pt idx="7">
                  <c:v>1362</c:v>
                </c:pt>
                <c:pt idx="8">
                  <c:v>5696</c:v>
                </c:pt>
                <c:pt idx="9">
                  <c:v>9140</c:v>
                </c:pt>
                <c:pt idx="10">
                  <c:v>4126</c:v>
                </c:pt>
                <c:pt idx="11">
                  <c:v>4675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'[很多鱼安全运营工作报告-20250801.xlsx]数据统计'!$C$48</c:f>
              <c:strCache>
                <c:ptCount val="1"/>
                <c:pt idx="0">
                  <c:v>恶意外联数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'[很多鱼安全运营工作报告-20250801.xlsx]数据统计'!$D$46:$O$46</c:f>
              <c:numCache>
                <c:formatCode>mmm\-yy</c:formatCode>
                <c:ptCount val="12"/>
                <c:pt idx="0" c:formatCode="mmm\-yy">
                  <c:v>45505</c:v>
                </c:pt>
                <c:pt idx="1" c:formatCode="mmm\-yy">
                  <c:v>45536</c:v>
                </c:pt>
                <c:pt idx="2" c:formatCode="mmm\-yy">
                  <c:v>45566</c:v>
                </c:pt>
                <c:pt idx="3" c:formatCode="mmm\-yy">
                  <c:v>45597</c:v>
                </c:pt>
                <c:pt idx="4" c:formatCode="mmm\-yy">
                  <c:v>45627</c:v>
                </c:pt>
                <c:pt idx="5" c:formatCode="mmm\-yy">
                  <c:v>45658</c:v>
                </c:pt>
                <c:pt idx="6" c:formatCode="mmm\-yy">
                  <c:v>45689</c:v>
                </c:pt>
                <c:pt idx="7" c:formatCode="mmm\-yy">
                  <c:v>45717</c:v>
                </c:pt>
                <c:pt idx="8" c:formatCode="mmm\-yy">
                  <c:v>45748</c:v>
                </c:pt>
                <c:pt idx="9" c:formatCode="mmm\-yy">
                  <c:v>45778</c:v>
                </c:pt>
                <c:pt idx="10" c:formatCode="mmm\-yy">
                  <c:v>45809</c:v>
                </c:pt>
                <c:pt idx="11" c:formatCode="mmm\-yy">
                  <c:v>45839</c:v>
                </c:pt>
              </c:numCache>
            </c:numRef>
          </c:cat>
          <c:val>
            <c:numRef>
              <c:f>'[很多鱼安全运营工作报告-20250801.xlsx]数据统计'!$D$48:$O$48</c:f>
              <c:numCache>
                <c:formatCode>0\.0,"万"</c:formatCode>
                <c:ptCount val="12"/>
                <c:pt idx="0">
                  <c:v>770729</c:v>
                </c:pt>
                <c:pt idx="1">
                  <c:v>665038</c:v>
                </c:pt>
                <c:pt idx="2">
                  <c:v>1739364</c:v>
                </c:pt>
                <c:pt idx="3">
                  <c:v>616425</c:v>
                </c:pt>
                <c:pt idx="4">
                  <c:v>394727</c:v>
                </c:pt>
                <c:pt idx="5">
                  <c:v>333492</c:v>
                </c:pt>
                <c:pt idx="6">
                  <c:v>194377</c:v>
                </c:pt>
                <c:pt idx="7">
                  <c:v>82013</c:v>
                </c:pt>
                <c:pt idx="8">
                  <c:v>141130</c:v>
                </c:pt>
                <c:pt idx="9">
                  <c:v>197098</c:v>
                </c:pt>
                <c:pt idx="10">
                  <c:v>186542</c:v>
                </c:pt>
                <c:pt idx="11">
                  <c:v>240504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0"/>
        <c:smooth val="0"/>
        <c:axId val="829985891"/>
        <c:axId val="617127009"/>
      </c:lineChart>
      <c:dateAx>
        <c:axId val="8299858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17127009"/>
        <c:crosses val="autoZero"/>
        <c:auto val="1"/>
        <c:lblOffset val="100"/>
        <c:baseTimeUnit val="months"/>
      </c:dateAx>
      <c:valAx>
        <c:axId val="617127009"/>
        <c:scaling>
          <c:orientation val="minMax"/>
        </c:scaling>
        <c:delete val="1"/>
        <c:axPos val="l"/>
        <c:numFmt formatCode="0\.0,&quot;万&quot;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299858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zh-CN" sz="600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"日均攻击数"</c:f>
              <c:strCache>
                <c:ptCount val="1"/>
                <c:pt idx="0">
                  <c:v>日均攻击数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500" b="0" i="0" u="none" strike="noStrike" kern="1200" baseline="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'[很多鱼安全运营工作报告-20250801.xlsx]数据统计'!$D$89:$D$95</c:f>
              <c:numCache>
                <c:formatCode>General</c:formatCode>
                <c:ptCount val="7"/>
                <c:pt idx="0">
                  <c:v>9623</c:v>
                </c:pt>
                <c:pt idx="1">
                  <c:v>28655</c:v>
                </c:pt>
                <c:pt idx="2">
                  <c:v>3461</c:v>
                </c:pt>
                <c:pt idx="3">
                  <c:v>16440</c:v>
                </c:pt>
                <c:pt idx="4">
                  <c:v>2238</c:v>
                </c:pt>
                <c:pt idx="5">
                  <c:v>7218</c:v>
                </c:pt>
                <c:pt idx="6">
                  <c:v>5570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52361593"/>
        <c:axId val="478519395"/>
      </c:barChart>
      <c:lineChart>
        <c:grouping val="standard"/>
        <c:varyColors val="0"/>
        <c:ser>
          <c:idx val="1"/>
          <c:order val="1"/>
          <c:tx>
            <c:strRef>
              <c:f>"防御率"</c:f>
              <c:strCache>
                <c:ptCount val="1"/>
                <c:pt idx="0">
                  <c:v>防御率</c:v>
                </c:pt>
              </c:strCache>
            </c:strRef>
          </c:tx>
          <c:spPr>
            <a:ln w="28575" cap="rnd">
              <a:solidFill>
                <a:srgbClr val="00D860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'[很多鱼安全运营工作报告-20250801.xlsx]数据统计'!$C$89:$C$95</c:f>
              <c:strCache>
                <c:ptCount val="7"/>
                <c:pt idx="0">
                  <c:v>中秋（24/9/15-9/17）</c:v>
                </c:pt>
                <c:pt idx="1">
                  <c:v>国庆（24/10/1-10/7）</c:v>
                </c:pt>
                <c:pt idx="2">
                  <c:v>元旦（25/1/1）</c:v>
                </c:pt>
                <c:pt idx="3">
                  <c:v>春节（25/1/23-2/5）</c:v>
                </c:pt>
                <c:pt idx="4">
                  <c:v>清明（25/4/4-4/6）</c:v>
                </c:pt>
                <c:pt idx="5">
                  <c:v>五一（25/5/1-5/5）</c:v>
                </c:pt>
                <c:pt idx="6">
                  <c:v>端午（25/5/31-6/2）</c:v>
                </c:pt>
              </c:strCache>
            </c:strRef>
          </c:cat>
          <c:val>
            <c:numRef>
              <c:f>'[很多鱼安全运营工作报告-20250801.xlsx]数据统计'!$E$89:$E$95</c:f>
              <c:numCache>
                <c:formatCode>0%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725296953"/>
        <c:axId val="406196429"/>
      </c:lineChart>
      <c:catAx>
        <c:axId val="45236159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78519395"/>
        <c:crosses val="autoZero"/>
        <c:auto val="1"/>
        <c:lblAlgn val="ctr"/>
        <c:lblOffset val="100"/>
        <c:noMultiLvlLbl val="0"/>
      </c:catAx>
      <c:valAx>
        <c:axId val="478519395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52361593"/>
        <c:crosses val="autoZero"/>
        <c:crossBetween val="between"/>
      </c:valAx>
      <c:catAx>
        <c:axId val="725296953"/>
        <c:scaling>
          <c:orientation val="minMax"/>
        </c:scaling>
        <c:delete val="1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06196429"/>
        <c:crosses val="autoZero"/>
        <c:auto val="1"/>
        <c:lblAlgn val="ctr"/>
        <c:lblOffset val="100"/>
        <c:noMultiLvlLbl val="0"/>
      </c:catAx>
      <c:valAx>
        <c:axId val="406196429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2529695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500" b="0" i="0" u="none" strike="noStrike" kern="1200" baseline="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zh-CN" sz="500">
          <a:solidFill>
            <a:schemeClr val="bg2">
              <a:lumMod val="10000"/>
            </a:schemeClr>
          </a:solid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109">
  <cs:axisTitle>
    <cs:lnRef idx="0"/>
    <cs:fillRef idx="0"/>
    <cs:effectRef idx="0"/>
    <cs:fontRef idx="minor">
      <a:srgbClr val="000000">
        <a:lumMod val="65000"/>
        <a:lumOff val="35000"/>
      </a:srgbClr>
    </cs:fontRef>
    <cs:defRPr sz="1000" kern="1200"/>
  </cs:axisTitle>
  <cs:categoryAxis>
    <cs:lnRef idx="0"/>
    <cs:fillRef idx="0"/>
    <cs:effectRef idx="0"/>
    <cs:fontRef idx="minor">
      <a:srgbClr val="000000">
        <a:lumMod val="65000"/>
        <a:lumOff val="35000"/>
      </a:srgbClr>
    </cs:fontRef>
    <cs:spPr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chartArea>
  <cs:dataLabel>
    <cs:lnRef idx="0"/>
    <cs:fillRef idx="0"/>
    <cs:effectRef idx="0"/>
    <cs:fontRef idx="minor">
      <a:srgbClr val="000000">
        <a:lumMod val="75000"/>
        <a:lumOff val="25000"/>
      </a:srgbClr>
    </cs:fontRef>
    <cs:defRPr sz="1000" kern="1200"/>
  </cs:dataLabel>
  <cs:dataLabelCallout>
    <cs:lnRef idx="0"/>
    <cs:fillRef idx="0"/>
    <cs:effectRef idx="0"/>
    <cs:fontRef idx="minor">
      <a:srgbClr val="000000">
        <a:lumMod val="65000"/>
        <a:lumOff val="35000"/>
      </a:srgbClr>
    </cs:fontRef>
    <cs:spPr>
      <a:solidFill>
        <a:srgbClr val="FFFFFF"/>
      </a:solidFill>
      <a:ln>
        <a:solidFill>
          <a:srgbClr val="000000">
            <a:lumMod val="25000"/>
            <a:lumOff val="75000"/>
          </a:srgb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>
        <a:solidFill>
          <a:srgbClr val="FFFFFF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rgbClr val="000000"/>
    </cs:fontRef>
    <cs:spPr>
      <a:ln w="25400">
        <a:solidFill>
          <a:srgbClr val="FFFFFF"/>
        </a:solidFill>
      </a:ln>
    </cs:spPr>
  </cs:dataPoint3D>
  <cs:dataPointLine>
    <cs:lnRef idx="0">
      <cs:styleClr val="auto"/>
    </cs:lnRef>
    <cs:fillRef idx="0"/>
    <cs:effectRef idx="0"/>
    <cs:fontRef idx="minor">
      <a:srgbClr val="000000"/>
    </cs:fontRef>
    <cs:spPr>
      <a:ln w="28575" cap="rnd">
        <a:solidFill>
          <a:srgbClr val="FFFFFF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rgbClr val="000000"/>
    </cs:fontRef>
    <cs:spPr>
      <a:ln w="9525">
        <a:solidFill>
          <a:srgbClr val="FFFFFF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rgbClr val="000000"/>
    </cs:fontRef>
    <cs:spPr>
      <a:ln w="9525" cap="rnd">
        <a:solidFill>
          <a:srgbClr val="FFFFFF"/>
        </a:solidFill>
        <a:round/>
      </a:ln>
    </cs:spPr>
  </cs:dataPointWireframe>
  <cs:dataTable>
    <cs:lnRef idx="0"/>
    <cs:fillRef idx="0"/>
    <cs:effectRef idx="0"/>
    <cs:fontRef idx="minor">
      <a:srgbClr val="000000">
        <a:lumMod val="65000"/>
        <a:lumOff val="35000"/>
      </a:srgbClr>
    </cs:fontRef>
    <cs:spPr>
      <a:noFill/>
      <a:ln w="9525" cap="flat" cmpd="sng" algn="ctr">
        <a:solidFill>
          <a:srgbClr val="000000">
            <a:lumMod val="15000"/>
            <a:lumOff val="85000"/>
          </a:srgbClr>
        </a:solidFill>
        <a:round/>
      </a:ln>
    </cs:spPr>
    <cs:defRPr sz="900" kern="1200"/>
  </cs:dataTable>
  <cs:downBar>
    <cs:lnRef idx="0"/>
    <cs:fillRef idx="0"/>
    <cs:effectRef idx="0"/>
    <cs:fontRef idx="minor">
      <a:srgbClr val="000000"/>
    </cs:fontRef>
    <cs:spPr>
      <a:solidFill>
        <a:srgbClr val="000000">
          <a:lumMod val="75000"/>
          <a:lumOff val="25000"/>
        </a:srgbClr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downBar>
  <cs:drop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dropLine>
  <cs:errorBa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errorBar>
  <cs:floor>
    <cs:lnRef idx="0"/>
    <cs:fillRef idx="0"/>
    <cs:effectRef idx="0"/>
    <cs:fontRef idx="minor">
      <a:srgbClr val="000000"/>
    </cs:fontRef>
    <cs:spPr>
      <a:noFill/>
      <a:ln>
        <a:noFill/>
      </a:ln>
    </cs:spPr>
  </cs:floor>
  <cs:gridlineMajor>
    <cs:lnRef idx="0"/>
    <cs:fillRef idx="0"/>
    <cs:effectRef idx="0"/>
    <cs:fontRef idx="minor">
      <a:srgbClr val="000000"/>
    </cs:fontRef>
    <cs:spPr>
      <a:ln w="9525" cap="flat" cmpd="sng" algn="ctr">
        <a:solidFill>
          <a:srgbClr val="FFFFFF">
            <a:lumMod val="90200"/>
          </a:srgbClr>
        </a:solidFill>
        <a:round/>
      </a:ln>
    </cs:spPr>
  </cs:gridlineMajor>
  <cs:gridlineMinor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"/>
            <a:lumOff val="95000"/>
          </a:srgbClr>
        </a:solidFill>
        <a:round/>
      </a:ln>
    </cs:spPr>
  </cs:gridlineMinor>
  <cs:hiLo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50000"/>
            <a:lumOff val="50000"/>
          </a:srgbClr>
        </a:solidFill>
        <a:round/>
      </a:ln>
    </cs:spPr>
  </cs:hiLoLine>
  <cs:leader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leaderLine>
  <cs:legend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legend>
  <cs:plotArea mods="allowNoFillOverride allowNoLineOverride">
    <cs:lnRef idx="0"/>
    <cs:fillRef idx="0"/>
    <cs:effectRef idx="0"/>
    <cs:fontRef idx="minor">
      <a:srgbClr val="000000"/>
    </cs:fontRef>
  </cs:plotArea>
  <cs:plotArea3D mods="allowNoFillOverride allowNoLineOverride">
    <cs:lnRef idx="0"/>
    <cs:fillRef idx="0"/>
    <cs:effectRef idx="0"/>
    <cs:fontRef idx="minor">
      <a:srgbClr val="000000"/>
    </cs:fontRef>
  </cs:plotArea3D>
  <cs:series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seriesAxis>
  <cs:seriesLine>
    <cs:lnRef idx="0"/>
    <cs:fillRef idx="0"/>
    <cs:effectRef idx="0"/>
    <cs:fontRef idx="minor">
      <a:srgbClr val="000000"/>
    </cs:fontRef>
    <cs:spPr>
      <a:ln w="9525" cap="flat" cmpd="sng" algn="ctr">
        <a:solidFill>
          <a:srgbClr val="000000">
            <a:lumMod val="35000"/>
            <a:lumOff val="65000"/>
          </a:srgbClr>
        </a:solidFill>
        <a:round/>
      </a:ln>
    </cs:spPr>
  </cs:seriesLine>
  <cs:title>
    <cs:lnRef idx="0"/>
    <cs:fillRef idx="0"/>
    <cs:effectRef idx="0"/>
    <cs:fontRef idx="minor">
      <a:srgbClr val="000000">
        <a:lumMod val="75000"/>
        <a:lumOff val="25000"/>
      </a:srgbClr>
    </cs:fontRef>
    <cs:defRPr sz="1400" b="1" kern="1200" baseline="0"/>
  </cs:title>
  <cs:trendline>
    <cs:lnRef idx="0">
      <cs:styleClr val="auto"/>
    </cs:lnRef>
    <cs:fillRef idx="0"/>
    <cs:effectRef idx="0"/>
    <cs:fontRef idx="minor">
      <a:srgbClr val="000000"/>
    </cs:fontRef>
    <cs:spPr>
      <a:ln w="19050" cap="rnd">
        <a:solidFill>
          <a:srgbClr val="FFFFFF"/>
        </a:solidFill>
        <a:prstDash val="sysDot"/>
      </a:ln>
    </cs:spPr>
  </cs:trendline>
  <cs:trendlineLabel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trendlineLabel>
  <cs:upBar>
    <cs:lnRef idx="0"/>
    <cs:fillRef idx="0"/>
    <cs:effectRef idx="0"/>
    <cs:fontRef idx="minor">
      <a:srgbClr val="000000"/>
    </cs:fontRef>
    <cs:spPr>
      <a:solidFill>
        <a:srgbClr val="FFFFFF"/>
      </a:solidFill>
      <a:ln w="9525" cap="flat" cmpd="sng" algn="ctr">
        <a:solidFill>
          <a:srgbClr val="000000">
            <a:lumMod val="65000"/>
            <a:lumOff val="35000"/>
          </a:srgbClr>
        </a:solidFill>
        <a:round/>
      </a:ln>
    </cs:spPr>
  </cs:upBar>
  <cs:valueAxis>
    <cs:lnRef idx="0"/>
    <cs:fillRef idx="0"/>
    <cs:effectRef idx="0"/>
    <cs:fontRef idx="minor">
      <a:srgbClr val="000000">
        <a:lumMod val="65000"/>
        <a:lumOff val="35000"/>
      </a:srgbClr>
    </cs:fontRef>
    <cs:defRPr sz="900" kern="1200"/>
  </cs:valueAxis>
  <cs:wall>
    <cs:lnRef idx="0"/>
    <cs:fillRef idx="0"/>
    <cs:effectRef idx="0"/>
    <cs:fontRef idx="minor">
      <a:srgbClr val="000000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1002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28575" cap="rnd">
        <a:solidFill>
          <a:schemeClr val="phClr"/>
        </a:solidFill>
        <a:round/>
      </a:ln>
      <a:effectLst/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10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1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881360" cy="8686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3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{{REPORT_TITLE}}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6766560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{{CUSTOMER_LABEL}}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7375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{{PERIOD_LABEL}}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3095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{{VERSION_TAG}}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243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{{CONFIDENTIALITY_LABEL}}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53912"/>
            <a:ext cx="676656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{{GENERATED_AT_LABEL}}</a:t>
            </a:r>
          </a:p>
        </p:txBody>
      </p:sp>
      <p:graphicFrame>
        <p:nvGraphicFramePr>
          <p:cNvPr id="25" name="图表 24"/>
          <p:cNvGraphicFramePr/>
          <p:nvPr/>
        </p:nvGraphicFramePr>
        <p:xfrm>
          <a:off x="8156575" y="4389120"/>
          <a:ext cx="3390265" cy="22948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7867015" y="3959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P11_bar}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208145" y="56451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P12_pie}</a:t>
            </a:r>
            <a:r>
              <a:rPr lang="zh-CN" altLang="en-US">
                <a:sym typeface="+mn-ea"/>
              </a:rPr>
              <a:t>}</a:t>
            </a:r>
            <a:endParaRPr lang="zh-CN" altLang="en-US">
              <a:sym typeface="+mn-ea"/>
            </a:endParaRPr>
          </a:p>
        </p:txBody>
      </p:sp>
      <p:graphicFrame>
        <p:nvGraphicFramePr>
          <p:cNvPr id="14" name="图表 13" descr="7b0a202020202263686172745265734964223a20223230343736383734220a7d0a"/>
          <p:cNvGraphicFramePr/>
          <p:nvPr/>
        </p:nvGraphicFramePr>
        <p:xfrm>
          <a:off x="5151120" y="1000125"/>
          <a:ext cx="3005455" cy="171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10881360" cy="31089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{{KPI_DASHBOARD}}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{{ASSESSMENT_TITLE}}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881360" cy="1600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{{TECHNICAL_ASSESSMENT}}</a:t>
            </a:r>
          </a:p>
        </p:txBody>
      </p:sp>
      <p:graphicFrame>
        <p:nvGraphicFramePr>
          <p:cNvPr id="30" name="图表 29" descr="7b0a202020202263686172745265734964223a20223230323931393734220a7d0a"/>
          <p:cNvGraphicFramePr/>
          <p:nvPr/>
        </p:nvGraphicFramePr>
        <p:xfrm>
          <a:off x="1065530" y="1953260"/>
          <a:ext cx="2987993" cy="16862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777240" y="15405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</a:t>
            </a:r>
            <a:r>
              <a:rPr lang="en-US" altLang="zh-CN"/>
              <a:t>P13_pie</a:t>
            </a:r>
            <a:r>
              <a:rPr lang="zh-CN" altLang="en-US"/>
              <a:t>}}</a:t>
            </a:r>
            <a:endParaRPr lang="zh-CN" altLang="en-US"/>
          </a:p>
        </p:txBody>
      </p:sp>
      <p:graphicFrame>
        <p:nvGraphicFramePr>
          <p:cNvPr id="10" name="图表 9" descr="7b0a202020202263686172745265734964223a20223230323931393734220a7d0a"/>
          <p:cNvGraphicFramePr/>
          <p:nvPr/>
        </p:nvGraphicFramePr>
        <p:xfrm>
          <a:off x="6983095" y="2689543"/>
          <a:ext cx="3010535" cy="1836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6570345" y="229806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</a:t>
            </a:r>
            <a:r>
              <a:rPr lang="en-US" altLang="zh-CN"/>
              <a:t>P14_pie</a:t>
            </a:r>
            <a:r>
              <a:rPr lang="zh-CN" altLang="en-US"/>
              <a:t>}}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{{SEVERITY_TITLE}}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{{SEVERITY_BREAKDOWN}}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{{TOP_RULES_TITLE}}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166360" cy="1463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{{TOP_RULES_TABLE}}</a:t>
            </a:r>
          </a:p>
        </p:txBody>
      </p:sp>
      <p:sp>
        <p:nvSpPr>
          <p:cNvPr id="16" name="TextBox 5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{{SEVERITY_BREAKDOWN}}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1624330" y="3891915"/>
            <a:ext cx="11106150" cy="3486785"/>
            <a:chOff x="2042" y="13744"/>
            <a:chExt cx="34390" cy="3714"/>
          </a:xfrm>
        </p:grpSpPr>
        <p:sp>
          <p:nvSpPr>
            <p:cNvPr id="20" name="Shape 1"/>
            <p:cNvSpPr/>
            <p:nvPr/>
          </p:nvSpPr>
          <p:spPr>
            <a:xfrm>
              <a:off x="2042" y="13744"/>
              <a:ext cx="34390" cy="3714"/>
            </a:xfrm>
            <a:prstGeom prst="roundRect">
              <a:avLst>
                <a:gd name="adj" fmla="val 6757"/>
              </a:avLst>
            </a:prstGeom>
            <a:noFill/>
            <a:ln w="12700">
              <a:solidFill>
                <a:srgbClr val="CCE1F5"/>
              </a:solidFill>
              <a:prstDash val="solid"/>
            </a:ln>
          </p:spPr>
        </p:sp>
        <p:graphicFrame>
          <p:nvGraphicFramePr>
            <p:cNvPr id="29" name="图表 28"/>
            <p:cNvGraphicFramePr/>
            <p:nvPr/>
          </p:nvGraphicFramePr>
          <p:xfrm>
            <a:off x="2318" y="13879"/>
            <a:ext cx="33839" cy="33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</p:grpSp>
      <p:sp>
        <p:nvSpPr>
          <p:cNvPr id="21" name="文本框 20"/>
          <p:cNvSpPr txBox="1"/>
          <p:nvPr/>
        </p:nvSpPr>
        <p:spPr>
          <a:xfrm>
            <a:off x="312420" y="597344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ym typeface="+mn-ea"/>
              </a:rPr>
              <a:t>{{</a:t>
            </a:r>
            <a:r>
              <a:rPr lang="en-US" altLang="zh-CN">
                <a:sym typeface="+mn-ea"/>
              </a:rPr>
              <a:t>P15_line</a:t>
            </a:r>
            <a:r>
              <a:rPr lang="zh-CN" altLang="en-US">
                <a:sym typeface="+mn-ea"/>
              </a:rPr>
              <a:t>}}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{{TIMELINE_TITLE}}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21488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{{TIMELINE_NARRATIVE}}</a:t>
            </a:r>
          </a:p>
        </p:txBody>
      </p:sp>
      <p:graphicFrame>
        <p:nvGraphicFramePr>
          <p:cNvPr id="15" name="图表 14"/>
          <p:cNvGraphicFramePr/>
          <p:nvPr/>
        </p:nvGraphicFramePr>
        <p:xfrm>
          <a:off x="890270" y="3889375"/>
          <a:ext cx="3971608" cy="28178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1207135" y="33185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{{P16_combo}}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423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{{INCIDENT1_TITLE}}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{{INCIDENT_DETAIL_1}}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520440"/>
            <a:ext cx="11247120" cy="2423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{{INCIDENT2_TITLE}}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{{INCIDENT_DETAIL_2}}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微软雅黑" panose="020B0503020204020204" charset="-122"/>
              </a:defRPr>
            </a:pPr>
            <a:r>
              <a:t>{{ATTACK_PATTERN_SUMMARY}}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19659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{{VULN_DIST_TITLE}}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4173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{{VULN_DISTRIBUTION}}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063240"/>
            <a:ext cx="1124712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{{CVE_ANALYSIS_TITLE}}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10881360" cy="16002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{{CVE_TECHNICAL_ANALYSIS}}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349240"/>
            <a:ext cx="11247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{{PATCH_TITLE}}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881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{{EXPOSED_SERVICES_TITLE}}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5166360" cy="13716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{{EXPOSED_SERVICES_TABLE}}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{{EXPOSURE_ANALYSIS_TITLE}}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66360" cy="13716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{{EXTERNAL_EXPOSURE}}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{{SURFACE_TREND_TITLE}}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5166360" cy="30175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{{ATTACK_SURFACE_TREND}}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{{REMEDIATION_TITLE}}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74720"/>
            <a:ext cx="5166360" cy="30175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468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{{CLOUD_MISCONFIG_TITLE}}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{{CLOUD_MISCONFIG_DETAILS}}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{{IAM_TITLE}}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516636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{{IAM_RISK_ANALYSIS}}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70332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{{COMPLIANCE_TITLE}}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69080"/>
            <a:ext cx="5166360" cy="24231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240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{{TECH_REC_TITLE}}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6916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{{TECHNICAL_RECOMMENDATIONS}}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{{DETECTION_TITLE}}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166360" cy="2697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{{DETECTION_IMPROVEMENTS}}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429000"/>
            <a:ext cx="5166360" cy="3657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{{HARDENING_TITLE}}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94760"/>
            <a:ext cx="5166360" cy="269748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{{EVIDENCE_TITLE}}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5166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{{EVIDENCE_INDEX}}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{{FRESHNESS_TITLE}}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66360" cy="6858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{{DATA_FRESHNESS}}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11247120" cy="777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31089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{{DATA_SCOPE_TITLE}}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40280"/>
            <a:ext cx="7955279" cy="50292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{{DATA_SCOPE_NOTES}}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{{VULN_NOTES_TITLE}}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83280"/>
            <a:ext cx="5166360" cy="7772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{{VULN_NOTES}}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10896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{{EVIDENCE_NOTES_TITLE}}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83280"/>
            <a:ext cx="5166360" cy="7772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{{EVIDENCE_NOTES}}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{{ASSETS_TITLE}}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5166360" cy="594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{{ASSET_GROUPS_LIST}}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434840"/>
            <a:ext cx="5166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{{SERVICES_TITLE}}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709160"/>
            <a:ext cx="5166360" cy="59436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{{KEY_SERVICES_LIST}}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486400"/>
            <a:ext cx="112471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77840"/>
            <a:ext cx="10881360" cy="32004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{{TERMINOLOGY_TITLE}}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10881360" cy="914400"/>
          </a:xfrm>
          <a:prstGeom prst="rect">
            <a:avLst/>
          </a:prstGeom>
          <a:noFill/>
        </p:spPr>
        <p:txBody>
          <a:bodyPr wrap="square" lIns="101600" tIns="50800" rIns="1016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微软雅黑" panose="020B0503020204020204" charset="-122"/>
              </a:defRPr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NzBiN2QxNGQ4NjIwZWE5Mjc3ZDY1N2NlMGYwOTU3MDU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彩色5">
    <a:dk1>
      <a:srgbClr val="000000"/>
    </a:dk1>
    <a:lt1>
      <a:srgbClr val="FFFFFF"/>
    </a:lt1>
    <a:dk2>
      <a:srgbClr val="212745"/>
    </a:dk2>
    <a:lt2>
      <a:srgbClr val="B4DCFA"/>
    </a:lt2>
    <a:accent1>
      <a:srgbClr val="4E67C8"/>
    </a:accent1>
    <a:accent2>
      <a:srgbClr val="5ECCF3"/>
    </a:accent2>
    <a:accent3>
      <a:srgbClr val="A7EA52"/>
    </a:accent3>
    <a:accent4>
      <a:srgbClr val="5DCEAF"/>
    </a:accent4>
    <a:accent5>
      <a:srgbClr val="FF8021"/>
    </a:accent5>
    <a:accent6>
      <a:srgbClr val="F14124"/>
    </a:accent6>
    <a:hlink>
      <a:srgbClr val="56C7AA"/>
    </a:hlink>
    <a:folHlink>
      <a:srgbClr val="59A8D1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"/>
      <a:ea typeface=""/>
      <a:cs typeface=""/>
    </a:majorFont>
    <a:minorFont>
      <a:latin typeface="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satMod val="110000"/>
              <a:lum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satMod val="105000"/>
              <a:lum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shade val="94000"/>
            </a:schemeClr>
          </a:gs>
          <a:gs pos="50000">
            <a:schemeClr val="phClr">
              <a:lumMod val="110000"/>
              <a:satMod val="100000"/>
              <a:tint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1505</Words>
  <Application>WPS 演示</Application>
  <PresentationFormat>On-screen Show (4:3)</PresentationFormat>
  <Paragraphs>156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User</cp:lastModifiedBy>
  <cp:revision>14</cp:revision>
  <dcterms:created xsi:type="dcterms:W3CDTF">2013-01-27T09:14:00Z</dcterms:created>
  <dcterms:modified xsi:type="dcterms:W3CDTF">2026-01-27T11:40:18Z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8A093E51843841BCAA984D1F304BD387_12</vt:lpwstr>
  </property>
  <property fmtid="{D5CDD505-2E9C-101B-9397-08002B2CF9AE}" pid="3" name="KSOProductBuildVer">
    <vt:lpwstr>2052-12.1.0.16729</vt:lpwstr>
  </property>
</Properties>
</file>