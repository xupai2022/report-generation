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28800"/>
            <a:ext cx="1124712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881360" cy="8686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3400" b="1">
                <a:solidFill>
                  <a:srgbClr val="22C55E"/>
                </a:solidFill>
                <a:latin typeface="Microsoft YaHei"/>
              </a:defRPr>
            </a:pPr>
            <a:r>
              <a:t>{{REPORT_TITLE}}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4160520"/>
            <a:ext cx="7132320" cy="20574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6766560" cy="502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800" b="1">
                <a:solidFill>
                  <a:srgbClr val="E2E8F0"/>
                </a:solidFill>
                <a:latin typeface="Microsoft YaHei"/>
              </a:defRPr>
            </a:pPr>
            <a:r>
              <a:t>{{CUSTOMER_LABEL}}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73752"/>
            <a:ext cx="6766560" cy="4114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{{PERIOD_LABEL}}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30952"/>
            <a:ext cx="6766560" cy="4114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{{VERSION_TAG}}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42432"/>
            <a:ext cx="6766560" cy="4114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{{CONFIDENTIALITY_LABEL}}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153912"/>
            <a:ext cx="6766560" cy="4114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{{GENERATED_AT_LABEL}}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33375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10881360" cy="31089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{{KPI_DASHBOARD}}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4434840"/>
            <a:ext cx="1124712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2628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{{ASSESSMENT_TITLE}}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881360" cy="16002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{{TECHNICAL_ASSESSMENT}}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1234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{{SEVERITY_TITLE}}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6858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{{SEVERITY_BREAKDOWN}}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31720"/>
            <a:ext cx="5532120" cy="2011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{{TOP_RULES_TITLE}}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5166360" cy="1463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Microsoft YaHei"/>
              </a:defRPr>
            </a:pPr>
            <a:r>
              <a:t>{{TOP_RULES_TABLE}}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331720"/>
            <a:ext cx="5532120" cy="2011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42316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{{RULES_ANALYSIS_TITLE}}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5166360" cy="1463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{{TOP_RULES_ANALYSIS}}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480560"/>
            <a:ext cx="11247120" cy="2103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{{FP_TITLE}}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37760"/>
            <a:ext cx="10881360" cy="15544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{{FALSE_POSITIVE_INSIGHT}}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26974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{{TIMELINE_TITLE}}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21488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{{TIMELINE_NARRATIVE}}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794760"/>
            <a:ext cx="5532120" cy="2788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{{RESPONSE_TITLE}}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5166360" cy="22402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{{RESPONSE_METRICS}}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794760"/>
            <a:ext cx="5532120" cy="2788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88620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{{LESSONS_TITLE}}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251960"/>
            <a:ext cx="5166360" cy="22402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{{LESSONS_LEARNED}}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24231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{{INCIDENT1_TITLE}}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874519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{{INCIDENT_DETAIL_1}}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520440"/>
            <a:ext cx="11247120" cy="24231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1188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{{INCIDENT2_TITLE}}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10881360" cy="1874519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{{INCIDENT_DETAIL_2}}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355080"/>
            <a:ext cx="11247120" cy="4114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Microsoft YaHei"/>
              </a:defRPr>
            </a:pPr>
            <a:r>
              <a:t>{{ATTACK_PATTERN_SUMMARY}}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19659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{{VULN_DIST_TITLE}}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4173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{{VULN_DISTRIBUTION}}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063240"/>
            <a:ext cx="1124712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5468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{{CVE_ANALYSIS_TITLE}}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20440"/>
            <a:ext cx="10881360" cy="16002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{{CVE_TECHNICAL_ANALYSIS}}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5349240"/>
            <a:ext cx="11247120" cy="1234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4068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{{PATCH_TITLE}}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881360" cy="6858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{{PATCH_STATUS}}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553212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{{EXPOSED_SERVICES_TITLE}}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5166360" cy="13716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Microsoft YaHei"/>
              </a:defRPr>
            </a:pPr>
            <a:r>
              <a:t>{{EXPOSED_SERVICES_TABLE}}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960120"/>
            <a:ext cx="553212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05156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{{EXPOSURE_ANALYSIS_TITLE}}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5166360" cy="13716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{{EXTERNAL_EXPOSURE}}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17520"/>
            <a:ext cx="5532120" cy="35661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0896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{{SURFACE_TREND_TITLE}}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74720"/>
            <a:ext cx="5166360" cy="30175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{{ATTACK_SURFACE_TREND}}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017520"/>
            <a:ext cx="5532120" cy="35661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10896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{{REMEDIATION_TITLE}}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74720"/>
            <a:ext cx="5166360" cy="30175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{{EXPOSURE_REMEDIATION}}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24688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{{CLOUD_MISCONFIG_TITLE}}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874519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{{CLOUD_MISCONFIG_DETAILS}}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611880"/>
            <a:ext cx="5532120" cy="2971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70332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{{IAM_TITLE}}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69080"/>
            <a:ext cx="5166360" cy="24231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{{IAM_RISK_ANALYSIS}}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611880"/>
            <a:ext cx="5532120" cy="2971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70332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{{COMPLIANCE_TITLE}}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069080"/>
            <a:ext cx="5166360" cy="24231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{{CLOUD_COMPLIANCE}}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11247120" cy="22402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{{TECH_REC_TITLE}}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881360" cy="16916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{{TECHNICAL_RECOMMENDATIONS}}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337560"/>
            <a:ext cx="5532120" cy="324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{{DETECTION_TITLE}}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5166360" cy="26974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{{DETECTION_IMPROVEMENTS}}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337560"/>
            <a:ext cx="5532120" cy="324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429000"/>
            <a:ext cx="5166360" cy="3657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{{HARDENING_TITLE}}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794760"/>
            <a:ext cx="5166360" cy="269748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{{HARDENING_CHECKLIST}}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60120"/>
            <a:ext cx="5532120" cy="10972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51663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{{EVIDENCE_TITLE}}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5166360" cy="6858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Microsoft YaHei"/>
              </a:defRPr>
            </a:pPr>
            <a:r>
              <a:t>{{EVIDENCE_INDEX}}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960120"/>
            <a:ext cx="5532120" cy="10972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051560"/>
            <a:ext cx="51663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{{FRESHNESS_TITLE}}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66360" cy="6858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{{DATA_FRESHNESS}}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148840"/>
            <a:ext cx="11247120" cy="777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40280"/>
            <a:ext cx="31089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{{DATA_SCOPE_TITLE}}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240280"/>
            <a:ext cx="7955279" cy="50292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{{DATA_SCOPE_NOTES}}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017520"/>
            <a:ext cx="5532120" cy="1234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51663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{{VULN_NOTES_TITLE}}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83280"/>
            <a:ext cx="5166360" cy="7772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{{VULN_NOTES}}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017520"/>
            <a:ext cx="5532120" cy="1234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108960"/>
            <a:ext cx="51663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{{EVIDENCE_NOTES_TITLE}}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83280"/>
            <a:ext cx="5166360" cy="7772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{{EVIDENCE_NOTES}}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343400"/>
            <a:ext cx="5532120" cy="10515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34840"/>
            <a:ext cx="51663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{{ASSETS_TITLE}}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5166360" cy="5943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{{ASSET_GROUPS_LIST}}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343400"/>
            <a:ext cx="5532120" cy="105156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434840"/>
            <a:ext cx="51663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{{SERVICES_TITLE}}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709160"/>
            <a:ext cx="5166360" cy="59436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{{KEY_SERVICES_LIST}}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486400"/>
            <a:ext cx="11247120" cy="1325880"/>
          </a:xfrm>
          <a:prstGeom prst="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77840"/>
            <a:ext cx="10881360" cy="32004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{{TERMINOLOGY_TITLE}}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52160"/>
            <a:ext cx="10881360" cy="914400"/>
          </a:xfrm>
          <a:prstGeom prst="rect">
            <a:avLst/>
          </a:prstGeom>
          <a:noFill/>
        </p:spPr>
        <p:txBody>
          <a:bodyPr wrap="square" lIns="101600" rIns="101600" tIns="50800" bIns="508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Microsoft YaHei"/>
              </a:defRPr>
            </a:pPr>
            <a:r>
              <a:t>{{TERMINOLOGY_TECHNICAL}}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