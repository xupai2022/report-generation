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31520"/>
            <a:ext cx="3108960" cy="3108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5577840"/>
            <a:ext cx="2743200" cy="2743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58600" cy="5486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883664"/>
            <a:ext cx="11247120" cy="21488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828800"/>
            <a:ext cx="11247120" cy="21488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10881360" cy="8686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3400" b="1">
                <a:solidFill>
                  <a:srgbClr val="22C55E"/>
                </a:solidFill>
                <a:latin typeface="Microsoft YaHei"/>
              </a:defRPr>
            </a:pPr>
            <a:r>
              <a:t>{{REPORT_TITLE}}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4160520"/>
            <a:ext cx="7132320" cy="2057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15968"/>
            <a:ext cx="6766560" cy="50292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800" b="1">
                <a:solidFill>
                  <a:srgbClr val="E2E8F0"/>
                </a:solidFill>
                <a:latin typeface="Microsoft YaHei"/>
              </a:defRPr>
            </a:pPr>
            <a:r>
              <a:t>{{CUSTOMER_LABEL}}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73752"/>
            <a:ext cx="6766560" cy="411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0">
                <a:solidFill>
                  <a:srgbClr val="94A3B8"/>
                </a:solidFill>
                <a:latin typeface="Microsoft YaHei"/>
              </a:defRPr>
            </a:pPr>
            <a:r>
              <a:t>{{PERIOD_LABEL}}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30952"/>
            <a:ext cx="6766560" cy="411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{{VERSION_TAG}}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742432"/>
            <a:ext cx="6766560" cy="411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200" b="0">
                <a:solidFill>
                  <a:srgbClr val="94A3B8"/>
                </a:solidFill>
                <a:latin typeface="Microsoft YaHei"/>
              </a:defRPr>
            </a:pPr>
            <a:r>
              <a:t>{{CONFIDENTIALITY_LABEL}}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53912"/>
            <a:ext cx="6766560" cy="411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94A3B8"/>
                </a:solidFill>
                <a:latin typeface="Microsoft YaHei"/>
              </a:defRPr>
            </a:pPr>
            <a:r>
              <a:t>{{GENERATED_AT_LABEL}}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31520"/>
            <a:ext cx="3108960" cy="3108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5577840"/>
            <a:ext cx="2743200" cy="2743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58600" cy="5486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1014984"/>
            <a:ext cx="11247120" cy="33375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960120"/>
            <a:ext cx="11247120" cy="3337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078992"/>
            <a:ext cx="10881360" cy="31089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{{KPI_DASHBOARD}}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" y="4489703"/>
            <a:ext cx="11247120" cy="21488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4434840"/>
            <a:ext cx="11247120" cy="21488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2628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{{ASSESSMENT_TITLE}}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10881360" cy="160020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{{TECHNICAL_ASSESSMENT}}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31520"/>
            <a:ext cx="3108960" cy="3108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5577840"/>
            <a:ext cx="2743200" cy="2743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58600" cy="5486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1014984"/>
            <a:ext cx="11247120" cy="12344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960120"/>
            <a:ext cx="11247120" cy="12344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{{SEVERITY_TITLE}}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881360" cy="68580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{{SEVERITY_BREAKDOWN}}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" y="2386584"/>
            <a:ext cx="5532120" cy="20116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331720"/>
            <a:ext cx="553212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42316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{{TOP_RULES_TITLE}}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88920"/>
            <a:ext cx="5166360" cy="14630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Microsoft YaHei"/>
              </a:defRPr>
            </a:pPr>
            <a:r>
              <a:t>{{TOP_RULES_TABLE}}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2386584"/>
            <a:ext cx="5532120" cy="20116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2331720"/>
            <a:ext cx="553212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42316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{{RULES_ANALYSIS_TITLE}}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788920"/>
            <a:ext cx="5166360" cy="14630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{{TOP_RULES_ANALYSIS}}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" y="4535424"/>
            <a:ext cx="11247120" cy="21031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4360" y="4480560"/>
            <a:ext cx="11247120" cy="2103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7200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{{FP_TITLE}}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937760"/>
            <a:ext cx="10881360" cy="1554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{{FALSE_POSITIVE_INSIGHT}}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31520"/>
            <a:ext cx="3108960" cy="3108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5577840"/>
            <a:ext cx="2743200" cy="2743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58600" cy="5486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1014984"/>
            <a:ext cx="11247120" cy="26974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960120"/>
            <a:ext cx="11247120" cy="26974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{{TIMELINE_TITLE}}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881360" cy="21488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{{TIMELINE_NARRATIVE}}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" y="3849624"/>
            <a:ext cx="5532120" cy="27889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3794760"/>
            <a:ext cx="5532120" cy="2788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{{RESPONSE_TITLE}}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51960"/>
            <a:ext cx="5166360" cy="22402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{{RESPONSE_METRICS}}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3849624"/>
            <a:ext cx="5532120" cy="27889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3794760"/>
            <a:ext cx="5532120" cy="27889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88620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{{LESSONS_TITLE}}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251960"/>
            <a:ext cx="5166360" cy="22402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{{LESSONS_LEARNED}}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31520"/>
            <a:ext cx="3108960" cy="3108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5577840"/>
            <a:ext cx="2743200" cy="2743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58600" cy="5486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1014984"/>
            <a:ext cx="11247120" cy="24231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960120"/>
            <a:ext cx="11247120" cy="24231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{{INCIDENT1_TITLE}}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881360" cy="1874519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{{INCIDENT_DETAIL_1}}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" y="3575304"/>
            <a:ext cx="11247120" cy="24231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3520440"/>
            <a:ext cx="11247120" cy="24231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61188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{{INCIDENT2_TITLE}}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77639"/>
            <a:ext cx="10881360" cy="1874519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{{INCIDENT_DETAIL_2}}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355080"/>
            <a:ext cx="11247120" cy="411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Microsoft YaHei"/>
              </a:defRPr>
            </a:pPr>
            <a:r>
              <a:t>{{ATTACK_PATTERN_SUMMARY}}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31520"/>
            <a:ext cx="3108960" cy="3108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5577840"/>
            <a:ext cx="2743200" cy="2743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58600" cy="5486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1014984"/>
            <a:ext cx="11247120" cy="19659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960120"/>
            <a:ext cx="11247120" cy="19659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{{VULN_DIST_TITLE}}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881360" cy="141732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{{VULN_DISTRIBUTION}}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" y="3118104"/>
            <a:ext cx="11247120" cy="21488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3063240"/>
            <a:ext cx="11247120" cy="21488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5468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{{CVE_ANALYSIS_TITLE}}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10881360" cy="160020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{{CVE_TECHNICAL_ANALYSIS}}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" y="5404103"/>
            <a:ext cx="11247120" cy="12344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5349240"/>
            <a:ext cx="11247120" cy="12344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44068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{{PATCH_TITLE}}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06440"/>
            <a:ext cx="10881360" cy="68580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{{PATCH_STATUS}}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31520"/>
            <a:ext cx="3108960" cy="3108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5577840"/>
            <a:ext cx="2743200" cy="2743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58600" cy="5486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1014984"/>
            <a:ext cx="5532120" cy="19202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960120"/>
            <a:ext cx="5532120" cy="1920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05156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{{EXPOSED_SERVICES_TITLE}}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5166360" cy="137160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Microsoft YaHei"/>
              </a:defRPr>
            </a:pPr>
            <a:r>
              <a:t>{{EXPOSED_SERVICES_TABLE}}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1014984"/>
            <a:ext cx="5532120" cy="19202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960120"/>
            <a:ext cx="5532120" cy="1920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05156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{{EXPOSURE_ANALYSIS_TITLE}}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5166360" cy="137160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{{EXTERNAL_EXPOSURE}}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" y="3072384"/>
            <a:ext cx="5532120" cy="35661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017520"/>
            <a:ext cx="5532120" cy="35661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0896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{{SURFACE_TREND_TITLE}}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74720"/>
            <a:ext cx="5166360" cy="301752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100" b="0">
                <a:solidFill>
                  <a:srgbClr val="E2E8F0"/>
                </a:solidFill>
                <a:latin typeface="Microsoft YaHei"/>
              </a:defRPr>
            </a:pPr>
            <a:r>
              <a:t>{{ATTACK_SURFACE_TREND}}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64224" y="3072384"/>
            <a:ext cx="5532120" cy="35661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9360" y="3017520"/>
            <a:ext cx="5532120" cy="35661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10896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{{REMEDIATION_TITLE}}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474720"/>
            <a:ext cx="5166360" cy="301752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{{EXPOSURE_REMEDIATION}}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31520"/>
            <a:ext cx="3108960" cy="3108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5577840"/>
            <a:ext cx="2743200" cy="2743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58600" cy="5486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1014984"/>
            <a:ext cx="11247120" cy="2468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960120"/>
            <a:ext cx="11247120" cy="2468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{{CLOUD_MISCONFIG_TITLE}}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881360" cy="1874519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{{CLOUD_MISCONFIG_DETAILS}}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" y="3666744"/>
            <a:ext cx="5532120" cy="29718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3611880"/>
            <a:ext cx="5532120" cy="2971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0332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{{IAM_TITLE}}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069080"/>
            <a:ext cx="5166360" cy="24231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{{IAM_RISK_ANALYSIS}}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3666744"/>
            <a:ext cx="5532120" cy="29718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3611880"/>
            <a:ext cx="5532120" cy="2971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70332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{{COMPLIANCE_TITLE}}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69080"/>
            <a:ext cx="5166360" cy="24231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{{CLOUD_COMPLIANCE}}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31520"/>
            <a:ext cx="3108960" cy="3108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5577840"/>
            <a:ext cx="2743200" cy="2743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58600" cy="5486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1014984"/>
            <a:ext cx="11247120" cy="22402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960120"/>
            <a:ext cx="11247120" cy="22402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051560"/>
            <a:ext cx="10881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{{TECH_REC_TITLE}}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10881360" cy="16916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{{TECHNICAL_RECOMMENDATIONS}}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" y="3392424"/>
            <a:ext cx="5532120" cy="32461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3337560"/>
            <a:ext cx="5532120" cy="3246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2900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{{DETECTION_TITLE}}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94760"/>
            <a:ext cx="5166360" cy="2697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{{DETECTION_IMPROVEMENTS}}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3392424"/>
            <a:ext cx="5532120" cy="32461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3337560"/>
            <a:ext cx="5532120" cy="3246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429000"/>
            <a:ext cx="5166360" cy="3657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{{HARDENING_TITLE}}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794760"/>
            <a:ext cx="5166360" cy="269748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{{HARDENING_CHECKLIST}}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731520"/>
            <a:ext cx="3108960" cy="3108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5577840"/>
            <a:ext cx="2743200" cy="2743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1658600" cy="5486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1168"/>
            <a:ext cx="11247120" cy="621792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2800" b="1">
                <a:solidFill>
                  <a:srgbClr val="E2E8F0"/>
                </a:solidFill>
                <a:latin typeface="Microsoft YaHei"/>
              </a:defRPr>
            </a:pPr>
            <a:r>
              <a:t>{{SLIDE_TITLE}}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1014984"/>
            <a:ext cx="5532120" cy="10972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960120"/>
            <a:ext cx="5532120" cy="10972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051560"/>
            <a:ext cx="5166360" cy="3200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{{EVIDENCE_TITLE}}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325880"/>
            <a:ext cx="5166360" cy="68580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Microsoft YaHei"/>
              </a:defRPr>
            </a:pPr>
            <a:r>
              <a:t>{{EVIDENCE_INDEX}}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1014984"/>
            <a:ext cx="5532120" cy="10972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960120"/>
            <a:ext cx="5532120" cy="10972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051560"/>
            <a:ext cx="5166360" cy="3200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{{FRESHNESS_TITLE}}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325880"/>
            <a:ext cx="5166360" cy="68580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{{DATA_FRESHNESS}}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" y="2203704"/>
            <a:ext cx="11247120" cy="7772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2148840"/>
            <a:ext cx="11247120" cy="777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240280"/>
            <a:ext cx="3108960" cy="3200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{{DATA_SCOPE_TITLE}}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2240280"/>
            <a:ext cx="7955279" cy="50292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{{DATA_SCOPE_NOTES}}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" y="3072384"/>
            <a:ext cx="5532120" cy="12344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4360" y="3017520"/>
            <a:ext cx="5532120" cy="12344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108960"/>
            <a:ext cx="5166360" cy="3200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{{VULN_NOTES_TITLE}}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383280"/>
            <a:ext cx="5166360" cy="7772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{{VULN_NOTES}}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64224" y="3072384"/>
            <a:ext cx="5532120" cy="12344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09360" y="3017520"/>
            <a:ext cx="5532120" cy="12344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108960"/>
            <a:ext cx="5166360" cy="3200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{{EVIDENCE_NOTES_TITLE}}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383280"/>
            <a:ext cx="5166360" cy="7772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{{EVIDENCE_NOTES}}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" y="4398264"/>
            <a:ext cx="5532120" cy="10515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94360" y="4343400"/>
            <a:ext cx="5532120" cy="1051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434840"/>
            <a:ext cx="5166360" cy="3200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{{ASSETS_TITLE}}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709160"/>
            <a:ext cx="5166360" cy="5943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{{ASSET_GROUPS_LIST}}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4224" y="4398264"/>
            <a:ext cx="5532120" cy="10515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09360" y="4343400"/>
            <a:ext cx="5532120" cy="1051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4434840"/>
            <a:ext cx="5166360" cy="3200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{{SERVICES_TITLE}}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709160"/>
            <a:ext cx="5166360" cy="59436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000" b="0">
                <a:solidFill>
                  <a:srgbClr val="E2E8F0"/>
                </a:solidFill>
                <a:latin typeface="Microsoft YaHei"/>
              </a:defRPr>
            </a:pPr>
            <a:r>
              <a:t>{{KEY_SERVICES_LIST}}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9224" y="5541264"/>
            <a:ext cx="11247120" cy="1325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4360" y="5486400"/>
            <a:ext cx="11247120" cy="13258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577840"/>
            <a:ext cx="10881360" cy="32004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1200" b="1">
                <a:solidFill>
                  <a:srgbClr val="22C55E"/>
                </a:solidFill>
                <a:latin typeface="Microsoft YaHei"/>
              </a:defRPr>
            </a:pPr>
            <a:r>
              <a:t>{{TERMINOLOGY_TITLE}}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852160"/>
            <a:ext cx="10881360" cy="914400"/>
          </a:xfrm>
          <a:prstGeom prst="rect">
            <a:avLst/>
          </a:prstGeom>
          <a:noFill/>
        </p:spPr>
        <p:txBody>
          <a:bodyPr wrap="square" lIns="127000" rIns="127000" tIns="76200" bIns="76200">
            <a:spAutoFit/>
          </a:bodyPr>
          <a:lstStyle/>
          <a:p>
            <a:pPr>
              <a:defRPr sz="900" b="0">
                <a:solidFill>
                  <a:srgbClr val="E2E8F0"/>
                </a:solidFill>
                <a:latin typeface="Microsoft YaHei"/>
              </a:defRPr>
            </a:pPr>
            <a:r>
              <a:t>{{TERMINOLOGY_TECHNICAL}}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