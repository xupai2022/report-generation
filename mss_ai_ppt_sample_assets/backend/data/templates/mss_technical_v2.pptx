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6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1.xml"/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2.xml"/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3.xml"/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/Users/macos/Desktop/For%20Work/&#27969;&#31243;%26&#35013;&#22791;/&#23458;&#25143;&#27719;&#25253;/&#24456;&#22810;&#40060;/&#25253;&#21578;&#27169;&#26495;/&#24456;&#22810;&#40060;&#23433;&#20840;&#36816;&#33829;&#24037;&#20316;&#25253;&#21578;-20250801.xlsx" TargetMode="External"/></Relationships>
</file>

<file path=ppt/charts/_rels/chart7.xml.rels><?xml version="1.0" encoding="UTF-8" standalone="yes"?>
<Relationships xmlns="http://schemas.openxmlformats.org/package/2006/relationships"><Relationship Id="rId4" Type="http://schemas.microsoft.com/office/2011/relationships/chartColorStyle" Target="colors7.xml"/><Relationship Id="rId3" Type="http://schemas.microsoft.com/office/2011/relationships/chartStyle" Target="style7.xml"/><Relationship Id="rId2" Type="http://schemas.openxmlformats.org/officeDocument/2006/relationships/themeOverride" Target="../theme/themeOverride4.xml"/><Relationship Id="rId1" Type="http://schemas.openxmlformats.org/officeDocument/2006/relationships/oleObject" Target="/Users/macos/Library/Containers/com.tencent.WeWorkMac/Data/WeDrive/&#28145;&#20449;&#26381;&#31185;&#25216;&#32929;&#20221;&#26377;&#38480;&#20844;&#21496;/CSM%20&#35013;&#22791;&#24211;-2025/&#27719;&#25253;%26&#27807;&#36890;/&#20215;&#20540;%26&#26041;&#26696;&#27719;&#25253;/&#12304;&#20225;&#19994;&#12305;&#23433;&#20840;&#36816;&#33829;&#24037;&#20316;&#25253;&#21578;&#25903;&#25745;&#25968;&#25454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14410134600158"/>
          <c:y val="0.197183098591549"/>
          <c:w val="0.909527579836368"/>
          <c:h val="0.643213828425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"平均处置时间（分钟）"</c:f>
              <c:strCache>
                <c:ptCount val="1"/>
                <c:pt idx="0">
                  <c:v>平均处置时间（分钟）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'[很多鱼安全运营工作报告-20250801.xlsx]数据统计'!$F$46:$F$49</c:f>
              <c:strCache>
                <c:ptCount val="4"/>
                <c:pt idx="0">
                  <c:v>识别</c:v>
                </c:pt>
                <c:pt idx="1">
                  <c:v>响应</c:v>
                </c:pt>
                <c:pt idx="2">
                  <c:v>处置</c:v>
                </c:pt>
                <c:pt idx="3">
                  <c:v>闭环</c:v>
                </c:pt>
              </c:strCache>
            </c:strRef>
          </c:cat>
          <c:val>
            <c:numRef>
              <c:f>'[很多鱼安全运营工作报告-20250801.xlsx]数据统计'!$G$46:$G$49</c:f>
              <c:numCache>
                <c:formatCode>0.00_ </c:formatCode>
                <c:ptCount val="4"/>
                <c:pt idx="0">
                  <c:v>6.41666666666667</c:v>
                </c:pt>
                <c:pt idx="1">
                  <c:v>27.4</c:v>
                </c:pt>
                <c:pt idx="2">
                  <c:v>572.016666666667</c:v>
                </c:pt>
                <c:pt idx="3">
                  <c:v>625.383333333333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590885613"/>
        <c:axId val="82692506"/>
      </c:barChart>
      <c:catAx>
        <c:axId val="59088561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82692506"/>
        <c:crosses val="autoZero"/>
        <c:auto val="1"/>
        <c:lblAlgn val="ctr"/>
        <c:lblOffset val="100"/>
        <c:noMultiLvlLbl val="0"/>
      </c:catAx>
      <c:valAx>
        <c:axId val="82692506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59088561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924535c-5035-48aa-b10c-7f4ac2b42ca6}"/>
      </c:ext>
    </c:extLst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solidFill>
              <a:schemeClr val="accent1">
                <a:alpha val="85000"/>
              </a:schemeClr>
            </a:solidFill>
          </c:spPr>
          <c:explosion val="0"/>
          <c:dPt>
            <c:idx val="0"/>
            <c:bubble3D val="0"/>
            <c:spPr>
              <a:solidFill>
                <a:schemeClr val="accent1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>
                  <a:alpha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'[很多鱼安全运营工作报告-20250801.xlsx]数据统计'!$C$65:$C$69</c:f>
              <c:strCache>
                <c:ptCount val="5"/>
                <c:pt idx="0">
                  <c:v>挖矿</c:v>
                </c:pt>
                <c:pt idx="1" c:formatCode="mmm\-yy">
                  <c:v>僵尸网络</c:v>
                </c:pt>
                <c:pt idx="2" c:formatCode="mmm\-yy">
                  <c:v>木马</c:v>
                </c:pt>
                <c:pt idx="3" c:formatCode="mmm\-yy">
                  <c:v>账号爆破</c:v>
                </c:pt>
                <c:pt idx="4" c:formatCode="mmm\-yy">
                  <c:v>代理工具</c:v>
                </c:pt>
              </c:strCache>
            </c:strRef>
          </c:cat>
          <c:val>
            <c:numRef>
              <c:f>'[很多鱼安全运营工作报告-20250801.xlsx]数据统计'!$D$65:$D$69</c:f>
              <c:numCache>
                <c:formatCode>General</c:formatCode>
                <c:ptCount val="5"/>
                <c:pt idx="0">
                  <c:v>76</c:v>
                </c:pt>
                <c:pt idx="1">
                  <c:v>39</c:v>
                </c:pt>
                <c:pt idx="2">
                  <c:v>31</c:v>
                </c:pt>
                <c:pt idx="3">
                  <c:v>26</c:v>
                </c:pt>
                <c:pt idx="4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3644622860765"/>
          <c:y val="0.229474852071006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da09643-6e7c-4746-86fa-e7cc49812d02}"/>
      </c:ext>
    </c:extLst>
  </c:chart>
  <c:spPr>
    <a:noFill/>
    <a:ln w="6350" cap="flat" cmpd="sng" algn="ctr">
      <a:noFill/>
      <a:round/>
    </a:ln>
    <a:effectLst/>
  </c:spPr>
  <c:txPr>
    <a:bodyPr/>
    <a:lstStyle/>
    <a:p>
      <a:pPr>
        <a:defRPr lang="zh-CN">
          <a:solidFill>
            <a:schemeClr val="bg2">
              <a:lumMod val="10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8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'[很多鱼安全运营工作报告-20250801.xlsx]数据统计'!$F$73:$F$77</c:f>
              <c:strCache>
                <c:ptCount val="5"/>
                <c:pt idx="0">
                  <c:v>服务器</c:v>
                </c:pt>
                <c:pt idx="1">
                  <c:v>终端</c:v>
                </c:pt>
                <c:pt idx="2">
                  <c:v>网络设备</c:v>
                </c:pt>
                <c:pt idx="3">
                  <c:v>安全设备</c:v>
                </c:pt>
                <c:pt idx="4">
                  <c:v>物联网设备</c:v>
                </c:pt>
              </c:strCache>
            </c:strRef>
          </c:cat>
          <c:val>
            <c:numRef>
              <c:f>'[很多鱼安全运营工作报告-20250801.xlsx]数据统计'!$G$73:$G$77</c:f>
              <c:numCache>
                <c:formatCode>General</c:formatCode>
                <c:ptCount val="5"/>
                <c:pt idx="0">
                  <c:v>125</c:v>
                </c:pt>
                <c:pt idx="1">
                  <c:v>31</c:v>
                </c:pt>
                <c:pt idx="2">
                  <c:v>12</c:v>
                </c:pt>
                <c:pt idx="3">
                  <c:v>23</c:v>
                </c:pt>
                <c:pt idx="4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752842459804959"/>
          <c:y val="0.25597823089554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00b20a9-f6f3-4ea1-9350-0b694bb3d1da}"/>
      </c:ext>
    </c:extLst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/>
          <c:explosion val="0"/>
          <c:dPt>
            <c:idx val="0"/>
            <c:bubble3D val="0"/>
            <c:spPr>
              <a:solidFill>
                <a:srgbClr val="70AD47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5B9BD5"/>
              </a:solidFill>
              <a:ln>
                <a:solidFill>
                  <a:srgbClr val="FFFFFF"/>
                </a:solidFill>
              </a:ln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ln>
                <a:solidFill>
                  <a:srgbClr val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rgbClr val="000000">
                          <a:lumMod val="35000"/>
                          <a:lumOff val="65000"/>
                        </a:srgb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'[很多鱼安全运营工作报告-20250801.xlsx]数据统计'!$C$88:$C$90</c:f>
              <c:strCache>
                <c:ptCount val="3"/>
                <c:pt idx="0">
                  <c:v>高危漏洞</c:v>
                </c:pt>
                <c:pt idx="1">
                  <c:v>中危漏洞</c:v>
                </c:pt>
                <c:pt idx="2">
                  <c:v>低危漏洞</c:v>
                </c:pt>
              </c:strCache>
            </c:strRef>
          </c:cat>
          <c:val>
            <c:numRef>
              <c:f>'[很多鱼安全运营工作报告-20250801.xlsx]数据统计'!$D$88:$D$90</c:f>
              <c:numCache>
                <c:formatCode>General</c:formatCode>
                <c:ptCount val="3"/>
                <c:pt idx="0">
                  <c:v>2537</c:v>
                </c:pt>
                <c:pt idx="1">
                  <c:v>3633</c:v>
                </c:pt>
                <c:pt idx="2">
                  <c:v>3284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800" b="0" i="0" u="none" strike="noStrike" kern="1200" baseline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45ef081-2ca7-46a9-961d-eed65fe4a79a}"/>
      </c:ext>
    </c:extLst>
  </c:chart>
  <c:spPr>
    <a:noFill/>
    <a:ln w="6350" cap="flat" cmpd="sng" algn="ctr">
      <a:noFill/>
      <a:round/>
    </a:ln>
    <a:effectLst/>
  </c:spPr>
  <c:txPr>
    <a:bodyPr/>
    <a:lstStyle/>
    <a:p>
      <a:pPr>
        <a:defRPr lang="zh-CN" sz="800">
          <a:solidFill>
            <a:srgbClr val="000000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'[很多鱼安全运营工作报告-20250801.xlsx]数据统计'!$C$47</c:f>
              <c:strCache>
                <c:ptCount val="1"/>
                <c:pt idx="0">
                  <c:v>外部攻击数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'[很多鱼安全运营工作报告-20250801.xlsx]数据统计'!$D$46:$O$46</c:f>
              <c:numCache>
                <c:formatCode>mmm\-yy</c:formatCode>
                <c:ptCount val="12"/>
                <c:pt idx="0" c:formatCode="mmm\-yy">
                  <c:v>45505</c:v>
                </c:pt>
                <c:pt idx="1" c:formatCode="mmm\-yy">
                  <c:v>45536</c:v>
                </c:pt>
                <c:pt idx="2" c:formatCode="mmm\-yy">
                  <c:v>45566</c:v>
                </c:pt>
                <c:pt idx="3" c:formatCode="mmm\-yy">
                  <c:v>45597</c:v>
                </c:pt>
                <c:pt idx="4" c:formatCode="mmm\-yy">
                  <c:v>45627</c:v>
                </c:pt>
                <c:pt idx="5" c:formatCode="mmm\-yy">
                  <c:v>45658</c:v>
                </c:pt>
                <c:pt idx="6" c:formatCode="mmm\-yy">
                  <c:v>45689</c:v>
                </c:pt>
                <c:pt idx="7" c:formatCode="mmm\-yy">
                  <c:v>45717</c:v>
                </c:pt>
                <c:pt idx="8" c:formatCode="mmm\-yy">
                  <c:v>45748</c:v>
                </c:pt>
                <c:pt idx="9" c:formatCode="mmm\-yy">
                  <c:v>45778</c:v>
                </c:pt>
                <c:pt idx="10" c:formatCode="mmm\-yy">
                  <c:v>45809</c:v>
                </c:pt>
                <c:pt idx="11" c:formatCode="mmm\-yy">
                  <c:v>45839</c:v>
                </c:pt>
              </c:numCache>
            </c:numRef>
          </c:cat>
          <c:val>
            <c:numRef>
              <c:f>'[很多鱼安全运营工作报告-20250801.xlsx]数据统计'!$D$47:$O$47</c:f>
              <c:numCache>
                <c:formatCode>0\.0,"万"</c:formatCode>
                <c:ptCount val="12"/>
                <c:pt idx="0">
                  <c:v>64198</c:v>
                </c:pt>
                <c:pt idx="1">
                  <c:v>35890</c:v>
                </c:pt>
                <c:pt idx="2">
                  <c:v>12478</c:v>
                </c:pt>
                <c:pt idx="3">
                  <c:v>5613</c:v>
                </c:pt>
                <c:pt idx="4">
                  <c:v>704</c:v>
                </c:pt>
                <c:pt idx="5">
                  <c:v>902</c:v>
                </c:pt>
                <c:pt idx="6">
                  <c:v>2412</c:v>
                </c:pt>
                <c:pt idx="7">
                  <c:v>1362</c:v>
                </c:pt>
                <c:pt idx="8">
                  <c:v>5696</c:v>
                </c:pt>
                <c:pt idx="9">
                  <c:v>9140</c:v>
                </c:pt>
                <c:pt idx="10">
                  <c:v>4126</c:v>
                </c:pt>
                <c:pt idx="11">
                  <c:v>4675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'[很多鱼安全运营工作报告-20250801.xlsx]数据统计'!$C$48</c:f>
              <c:strCache>
                <c:ptCount val="1"/>
                <c:pt idx="0">
                  <c:v>恶意外联数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'[很多鱼安全运营工作报告-20250801.xlsx]数据统计'!$D$46:$O$46</c:f>
              <c:numCache>
                <c:formatCode>mmm\-yy</c:formatCode>
                <c:ptCount val="12"/>
                <c:pt idx="0" c:formatCode="mmm\-yy">
                  <c:v>45505</c:v>
                </c:pt>
                <c:pt idx="1" c:formatCode="mmm\-yy">
                  <c:v>45536</c:v>
                </c:pt>
                <c:pt idx="2" c:formatCode="mmm\-yy">
                  <c:v>45566</c:v>
                </c:pt>
                <c:pt idx="3" c:formatCode="mmm\-yy">
                  <c:v>45597</c:v>
                </c:pt>
                <c:pt idx="4" c:formatCode="mmm\-yy">
                  <c:v>45627</c:v>
                </c:pt>
                <c:pt idx="5" c:formatCode="mmm\-yy">
                  <c:v>45658</c:v>
                </c:pt>
                <c:pt idx="6" c:formatCode="mmm\-yy">
                  <c:v>45689</c:v>
                </c:pt>
                <c:pt idx="7" c:formatCode="mmm\-yy">
                  <c:v>45717</c:v>
                </c:pt>
                <c:pt idx="8" c:formatCode="mmm\-yy">
                  <c:v>45748</c:v>
                </c:pt>
                <c:pt idx="9" c:formatCode="mmm\-yy">
                  <c:v>45778</c:v>
                </c:pt>
                <c:pt idx="10" c:formatCode="mmm\-yy">
                  <c:v>45809</c:v>
                </c:pt>
                <c:pt idx="11" c:formatCode="mmm\-yy">
                  <c:v>45839</c:v>
                </c:pt>
              </c:numCache>
            </c:numRef>
          </c:cat>
          <c:val>
            <c:numRef>
              <c:f>'[很多鱼安全运营工作报告-20250801.xlsx]数据统计'!$D$48:$O$48</c:f>
              <c:numCache>
                <c:formatCode>0\.0,"万"</c:formatCode>
                <c:ptCount val="12"/>
                <c:pt idx="0">
                  <c:v>770729</c:v>
                </c:pt>
                <c:pt idx="1">
                  <c:v>665038</c:v>
                </c:pt>
                <c:pt idx="2">
                  <c:v>1739364</c:v>
                </c:pt>
                <c:pt idx="3">
                  <c:v>616425</c:v>
                </c:pt>
                <c:pt idx="4">
                  <c:v>394727</c:v>
                </c:pt>
                <c:pt idx="5">
                  <c:v>333492</c:v>
                </c:pt>
                <c:pt idx="6">
                  <c:v>194377</c:v>
                </c:pt>
                <c:pt idx="7">
                  <c:v>82013</c:v>
                </c:pt>
                <c:pt idx="8">
                  <c:v>141130</c:v>
                </c:pt>
                <c:pt idx="9">
                  <c:v>197098</c:v>
                </c:pt>
                <c:pt idx="10">
                  <c:v>186542</c:v>
                </c:pt>
                <c:pt idx="11">
                  <c:v>240504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829985891"/>
        <c:axId val="617127009"/>
      </c:lineChart>
      <c:dateAx>
        <c:axId val="8299858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7127009"/>
        <c:crosses val="autoZero"/>
        <c:auto val="1"/>
        <c:lblOffset val="100"/>
        <c:baseTimeUnit val="months"/>
      </c:dateAx>
      <c:valAx>
        <c:axId val="617127009"/>
        <c:scaling>
          <c:orientation val="minMax"/>
        </c:scaling>
        <c:delete val="1"/>
        <c:axPos val="l"/>
        <c:numFmt formatCode="0\.0,&quot;万&quot;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9858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2707ffa-3113-4d6c-ad35-176c9aaa721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6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"日均攻击数"</c:f>
              <c:strCache>
                <c:ptCount val="1"/>
                <c:pt idx="0">
                  <c:v>日均攻击数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500" b="0" i="0" u="none" strike="noStrike" kern="1200" baseline="0">
                    <a:solidFill>
                      <a:schemeClr val="bg2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'[很多鱼安全运营工作报告-20250801.xlsx]数据统计'!$C$89:$C$95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春节（25/1/23-2/5）</c:v>
                </c:pt>
                <c:pt idx="4">
                  <c:v>清明（25/4/4-4/6）</c:v>
                </c:pt>
                <c:pt idx="5">
                  <c:v>五一（25/5/1-5/5）</c:v>
                </c:pt>
                <c:pt idx="6">
                  <c:v>端午（25/5/31-6/2）</c:v>
                </c:pt>
              </c:strCache>
            </c:strRef>
          </c:cat>
          <c:val>
            <c:numRef>
              <c:f>'[很多鱼安全运营工作报告-20250801.xlsx]数据统计'!$D$89:$D$95</c:f>
              <c:numCache>
                <c:formatCode>General</c:formatCode>
                <c:ptCount val="7"/>
                <c:pt idx="0">
                  <c:v>9623</c:v>
                </c:pt>
                <c:pt idx="1">
                  <c:v>28655</c:v>
                </c:pt>
                <c:pt idx="2">
                  <c:v>3461</c:v>
                </c:pt>
                <c:pt idx="3">
                  <c:v>16440</c:v>
                </c:pt>
                <c:pt idx="4">
                  <c:v>2238</c:v>
                </c:pt>
                <c:pt idx="5">
                  <c:v>7218</c:v>
                </c:pt>
                <c:pt idx="6">
                  <c:v>5570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2361593"/>
        <c:axId val="478519395"/>
      </c:barChart>
      <c:lineChart>
        <c:grouping val="standard"/>
        <c:varyColors val="0"/>
        <c:ser>
          <c:idx val="1"/>
          <c:order val="1"/>
          <c:tx>
            <c:strRef>
              <c:f>"防御率"</c:f>
              <c:strCache>
                <c:ptCount val="1"/>
                <c:pt idx="0">
                  <c:v>防御率</c:v>
                </c:pt>
              </c:strCache>
            </c:strRef>
          </c:tx>
          <c:spPr>
            <a:ln w="28575" cap="rnd">
              <a:solidFill>
                <a:srgbClr val="00D86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'[很多鱼安全运营工作报告-20250801.xlsx]数据统计'!$C$89:$C$95</c:f>
              <c:strCache>
                <c:ptCount val="7"/>
                <c:pt idx="0">
                  <c:v>中秋（24/9/15-9/17）</c:v>
                </c:pt>
                <c:pt idx="1">
                  <c:v>国庆（24/10/1-10/7）</c:v>
                </c:pt>
                <c:pt idx="2">
                  <c:v>元旦（25/1/1）</c:v>
                </c:pt>
                <c:pt idx="3">
                  <c:v>春节（25/1/23-2/5）</c:v>
                </c:pt>
                <c:pt idx="4">
                  <c:v>清明（25/4/4-4/6）</c:v>
                </c:pt>
                <c:pt idx="5">
                  <c:v>五一（25/5/1-5/5）</c:v>
                </c:pt>
                <c:pt idx="6">
                  <c:v>端午（25/5/31-6/2）</c:v>
                </c:pt>
              </c:strCache>
            </c:strRef>
          </c:cat>
          <c:val>
            <c:numRef>
              <c:f>'[很多鱼安全运营工作报告-20250801.xlsx]数据统计'!$E$89:$E$95</c:f>
              <c:numCache>
                <c:formatCode>0%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25296953"/>
        <c:axId val="406196429"/>
      </c:lineChart>
      <c:catAx>
        <c:axId val="45236159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78519395"/>
        <c:crosses val="autoZero"/>
        <c:auto val="1"/>
        <c:lblAlgn val="ctr"/>
        <c:lblOffset val="100"/>
        <c:noMultiLvlLbl val="0"/>
      </c:catAx>
      <c:valAx>
        <c:axId val="4785193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52361593"/>
        <c:crosses val="autoZero"/>
        <c:crossBetween val="between"/>
      </c:valAx>
      <c:catAx>
        <c:axId val="72529695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06196429"/>
        <c:crosses val="autoZero"/>
        <c:auto val="1"/>
        <c:lblAlgn val="ctr"/>
        <c:lblOffset val="100"/>
        <c:noMultiLvlLbl val="0"/>
      </c:catAx>
      <c:valAx>
        <c:axId val="406196429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252969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500" b="0" i="0" u="none" strike="noStrike" kern="1200" baseline="0">
                <a:solidFill>
                  <a:schemeClr val="bg2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500" b="0" i="0" u="none" strike="noStrike" kern="1200" baseline="0">
              <a:solidFill>
                <a:schemeClr val="bg2">
                  <a:lumMod val="10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78609dc-bba7-48d6-bfc0-50933bde9a02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500">
          <a:solidFill>
            <a:schemeClr val="bg2">
              <a:lumMod val="10000"/>
            </a:schemeClr>
          </a:solidFill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[【企业】安全运营工作报告支撑数据.xlsx]数据统计!$L$84</c:f>
              <c:strCache>
                <c:ptCount val="1"/>
                <c:pt idx="0">
                  <c:v>平均响应时长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 forceAA="0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[【企业】安全运营工作报告支撑数据.xlsx]数据统计!$M$83:$U$83</c:f>
              <c:strCache>
                <c:ptCount val="9"/>
                <c:pt idx="0">
                  <c:v>2025-03</c:v>
                </c:pt>
                <c:pt idx="1" c:formatCode="yyyy/m/d">
                  <c:v>2025-04</c:v>
                </c:pt>
                <c:pt idx="2" c:formatCode="yyyy/m/d">
                  <c:v>2025-05</c:v>
                </c:pt>
                <c:pt idx="3" c:formatCode="yyyy/m/d">
                  <c:v>2025-06</c:v>
                </c:pt>
                <c:pt idx="4" c:formatCode="yyyy/m/d">
                  <c:v>2025-07</c:v>
                </c:pt>
                <c:pt idx="5" c:formatCode="yyyy/m/d">
                  <c:v>2025-08</c:v>
                </c:pt>
                <c:pt idx="6" c:formatCode="yyyy/m/d">
                  <c:v>2025-09</c:v>
                </c:pt>
                <c:pt idx="7" c:formatCode="yyyy/m/d">
                  <c:v>2025-10</c:v>
                </c:pt>
                <c:pt idx="8" c:formatCode="yyyy/m/d">
                  <c:v>2025-11</c:v>
                </c:pt>
              </c:strCache>
            </c:strRef>
          </c:cat>
          <c:val>
            <c:numRef>
              <c:f>[【企业】安全运营工作报告支撑数据.xlsx]数据统计!$M$84:$U$84</c:f>
              <c:numCache>
                <c:formatCode>0.00_ </c:formatCode>
                <c:ptCount val="9"/>
                <c:pt idx="0">
                  <c:v>26.6</c:v>
                </c:pt>
                <c:pt idx="1">
                  <c:v>15.25</c:v>
                </c:pt>
                <c:pt idx="2">
                  <c:v>0</c:v>
                </c:pt>
                <c:pt idx="3">
                  <c:v>18</c:v>
                </c:pt>
                <c:pt idx="4">
                  <c:v>10.6666666666667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926048702"/>
        <c:axId val="51301949"/>
      </c:lineChart>
      <c:catAx>
        <c:axId val="92604870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51301949"/>
        <c:crosses val="autoZero"/>
        <c:auto val="1"/>
        <c:lblAlgn val="ctr"/>
        <c:lblOffset val="100"/>
        <c:noMultiLvlLbl val="0"/>
      </c:catAx>
      <c:valAx>
        <c:axId val="51301949"/>
        <c:scaling>
          <c:orientation val="minMax"/>
        </c:scaling>
        <c:delete val="0"/>
        <c:axPos val="l"/>
        <c:numFmt formatCode="0.0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92604870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9774ebd-9780-46d4-b11a-b0d23499f9d2}"/>
      </c:ext>
    </c:extLst>
  </c:chart>
  <c:spPr>
    <a:noFill/>
    <a:ln w="9525" cap="flat" cmpd="sng" algn="ctr">
      <a:noFill/>
      <a:prstDash val="solid"/>
      <a:round/>
    </a:ln>
    <a:effectLst/>
  </c:spPr>
  <c:txPr>
    <a:bodyPr/>
    <a:lstStyle/>
    <a:p>
      <a:pPr>
        <a:defRPr lang="zh-CN" b="0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rgbClr val="000000">
        <a:lumMod val="65000"/>
        <a:lumOff val="35000"/>
      </a:srgbClr>
    </cs:fontRef>
    <cs:defRPr sz="1000" kern="1200"/>
  </cs:axisTitle>
  <cs:categoryAxis>
    <cs:lnRef idx="0"/>
    <cs:fillRef idx="0"/>
    <cs:effectRef idx="0"/>
    <cs:fontRef idx="minor">
      <a:srgbClr val="000000">
        <a:lumMod val="65000"/>
        <a:lumOff val="35000"/>
      </a:srgbClr>
    </cs:fontRef>
    <cs:spPr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chartArea>
  <cs:dataLabel>
    <cs:lnRef idx="0"/>
    <cs:fillRef idx="0"/>
    <cs:effectRef idx="0"/>
    <cs:fontRef idx="minor">
      <a:srgbClr val="000000">
        <a:lumMod val="75000"/>
        <a:lumOff val="25000"/>
      </a:srgbClr>
    </cs:fontRef>
    <cs:defRPr sz="1000" kern="1200"/>
  </cs:dataLabel>
  <cs:dataLabelCallout>
    <cs:lnRef idx="0"/>
    <cs:fillRef idx="0"/>
    <cs:effectRef idx="0"/>
    <cs:fontRef idx="minor">
      <a:srgbClr val="000000">
        <a:lumMod val="65000"/>
        <a:lumOff val="35000"/>
      </a:srgbClr>
    </cs:fontRef>
    <cs:spPr>
      <a:solidFill>
        <a:srgbClr val="FFFFFF"/>
      </a:solidFill>
      <a:ln>
        <a:solidFill>
          <a:srgbClr val="000000">
            <a:lumMod val="25000"/>
            <a:lumOff val="75000"/>
          </a:srgb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>
        <a:solidFill>
          <a:srgbClr val="FFFFFF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rgbClr val="000000"/>
    </cs:fontRef>
    <cs:spPr>
      <a:ln w="25400">
        <a:solidFill>
          <a:srgbClr val="FFFFFF"/>
        </a:solidFill>
      </a:ln>
    </cs:spPr>
  </cs:dataPoint3D>
  <cs:dataPointLine>
    <cs:lnRef idx="0">
      <cs:styleClr val="auto"/>
    </cs:lnRef>
    <cs:fillRef idx="0"/>
    <cs:effectRef idx="0"/>
    <cs:fontRef idx="minor">
      <a:srgbClr val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rgbClr val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rgbClr val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rgbClr val="000000">
        <a:lumMod val="65000"/>
        <a:lumOff val="35000"/>
      </a:srgbClr>
    </cs:fontRef>
    <cs:spPr>
      <a:noFill/>
      <a:ln w="9525" cap="flat" cmpd="sng" algn="ctr">
        <a:solidFill>
          <a:srgbClr val="000000">
            <a:lumMod val="15000"/>
            <a:lumOff val="85000"/>
          </a:srgbClr>
        </a:solidFill>
        <a:round/>
      </a:ln>
    </cs:spPr>
    <cs:defRPr sz="900" kern="1200"/>
  </cs:dataTable>
  <cs:downBar>
    <cs:lnRef idx="0"/>
    <cs:fillRef idx="0"/>
    <cs:effectRef idx="0"/>
    <cs:fontRef idx="minor">
      <a:srgbClr val="000000"/>
    </cs:fontRef>
    <cs:spPr>
      <a:solidFill>
        <a:srgbClr val="000000">
          <a:lumMod val="75000"/>
          <a:lumOff val="25000"/>
        </a:srgbClr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downBar>
  <cs:drop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dropLine>
  <cs:errorBa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errorBar>
  <cs:floor>
    <cs:lnRef idx="0"/>
    <cs:fillRef idx="0"/>
    <cs:effectRef idx="0"/>
    <cs:fontRef idx="minor">
      <a:srgbClr val="000000"/>
    </cs:fontRef>
    <cs:spPr>
      <a:noFill/>
      <a:ln>
        <a:noFill/>
      </a:ln>
    </cs:spPr>
  </cs:floor>
  <cs:gridlineMajor>
    <cs:lnRef idx="0"/>
    <cs:fillRef idx="0"/>
    <cs:effectRef idx="0"/>
    <cs:fontRef idx="minor">
      <a:srgbClr val="000000"/>
    </cs:fontRef>
    <cs:spPr>
      <a:ln w="9525" cap="flat" cmpd="sng" algn="ctr">
        <a:solidFill>
          <a:srgbClr val="FFFFFF">
            <a:lumMod val="90200"/>
          </a:srgbClr>
        </a:solidFill>
        <a:round/>
      </a:ln>
    </cs:spPr>
  </cs:gridlineMajor>
  <cs:gridlineMinor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"/>
            <a:lumOff val="95000"/>
          </a:srgbClr>
        </a:solidFill>
        <a:round/>
      </a:ln>
    </cs:spPr>
  </cs:gridlineMinor>
  <cs:hiLo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50000"/>
            <a:lumOff val="50000"/>
          </a:srgbClr>
        </a:solidFill>
        <a:round/>
      </a:ln>
    </cs:spPr>
  </cs:hiLoLine>
  <cs:leader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leaderLine>
  <cs:legend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legend>
  <cs:plotArea mods="allowNoFillOverride allowNoLineOverride">
    <cs:lnRef idx="0"/>
    <cs:fillRef idx="0"/>
    <cs:effectRef idx="0"/>
    <cs:fontRef idx="minor">
      <a:srgbClr val="000000"/>
    </cs:fontRef>
  </cs:plotArea>
  <cs:plotArea3D mods="allowNoFillOverride allowNoLineOverride">
    <cs:lnRef idx="0"/>
    <cs:fillRef idx="0"/>
    <cs:effectRef idx="0"/>
    <cs:fontRef idx="minor">
      <a:srgbClr val="000000"/>
    </cs:fontRef>
  </cs:plotArea3D>
  <cs:series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seriesAxis>
  <cs:seriesLine>
    <cs:lnRef idx="0"/>
    <cs:fillRef idx="0"/>
    <cs:effectRef idx="0"/>
    <cs:fontRef idx="minor">
      <a:srgbClr val="000000"/>
    </cs:fontRef>
    <cs:spPr>
      <a:ln w="9525" cap="flat" cmpd="sng" algn="ctr">
        <a:solidFill>
          <a:srgbClr val="000000">
            <a:lumMod val="35000"/>
            <a:lumOff val="65000"/>
          </a:srgbClr>
        </a:solidFill>
        <a:round/>
      </a:ln>
    </cs:spPr>
  </cs:seriesLine>
  <cs:title>
    <cs:lnRef idx="0"/>
    <cs:fillRef idx="0"/>
    <cs:effectRef idx="0"/>
    <cs:fontRef idx="minor">
      <a:srgbClr val="000000">
        <a:lumMod val="75000"/>
        <a:lumOff val="25000"/>
      </a:srgbClr>
    </cs:fontRef>
    <cs:defRPr sz="1400" b="1" kern="1200" baseline="0"/>
  </cs:title>
  <cs:trendline>
    <cs:lnRef idx="0">
      <cs:styleClr val="auto"/>
    </cs:lnRef>
    <cs:fillRef idx="0"/>
    <cs:effectRef idx="0"/>
    <cs:fontRef idx="minor">
      <a:srgbClr val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trendlineLabel>
  <cs:upBar>
    <cs:lnRef idx="0"/>
    <cs:fillRef idx="0"/>
    <cs:effectRef idx="0"/>
    <cs:fontRef idx="minor">
      <a:srgbClr val="000000"/>
    </cs:fontRef>
    <cs:spPr>
      <a:solidFill>
        <a:srgbClr val="FFFFFF"/>
      </a:solidFill>
      <a:ln w="9525" cap="flat" cmpd="sng" algn="ctr">
        <a:solidFill>
          <a:srgbClr val="000000">
            <a:lumMod val="65000"/>
            <a:lumOff val="35000"/>
          </a:srgbClr>
        </a:solidFill>
        <a:round/>
      </a:ln>
    </cs:spPr>
  </cs:upBar>
  <cs:valueAxis>
    <cs:lnRef idx="0"/>
    <cs:fillRef idx="0"/>
    <cs:effectRef idx="0"/>
    <cs:fontRef idx="minor">
      <a:srgbClr val="000000">
        <a:lumMod val="65000"/>
        <a:lumOff val="35000"/>
      </a:srgbClr>
    </cs:fontRef>
    <cs:defRPr sz="900" kern="1200"/>
  </cs:valueAxis>
  <cs:wall>
    <cs:lnRef idx="0"/>
    <cs:fillRef idx="0"/>
    <cs:effectRef idx="0"/>
    <cs:fontRef idx="minor">
      <a:srgbClr val="000000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2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881360" cy="8686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3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{{REPORT_TITLE}}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15968"/>
            <a:ext cx="676656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{{CUSTOMER_LABEL}}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{{PERIOD_LABEL}}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3095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{{VERSION_TAG}}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{{CONFIDENTIALITY_LABEL}}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153912"/>
            <a:ext cx="676656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{{GENERATED_AT_LABEL}}</a:t>
            </a:r>
          </a:p>
        </p:txBody>
      </p:sp>
      <p:graphicFrame>
        <p:nvGraphicFramePr>
          <p:cNvPr id="25" name="图表 24"/>
          <p:cNvGraphicFramePr/>
          <p:nvPr/>
        </p:nvGraphicFramePr>
        <p:xfrm>
          <a:off x="8156575" y="4389120"/>
          <a:ext cx="3390265" cy="2294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867015" y="3959225"/>
            <a:ext cx="1256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P11_bar}</a:t>
            </a: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208145" y="564515"/>
            <a:ext cx="12566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P11_pie}</a:t>
            </a:r>
            <a:r>
              <a:rPr lang="zh-CN" altLang="en-US">
                <a:sym typeface="+mn-ea"/>
              </a:rPr>
              <a:t>}</a:t>
            </a:r>
            <a:endParaRPr lang="zh-CN" altLang="en-US">
              <a:sym typeface="+mn-ea"/>
            </a:endParaRPr>
          </a:p>
        </p:txBody>
      </p:sp>
      <p:graphicFrame>
        <p:nvGraphicFramePr>
          <p:cNvPr id="14" name="图表 13" descr="7b0a202020202263686172745265734964223a20223230343736383734220a7d0a"/>
          <p:cNvGraphicFramePr/>
          <p:nvPr/>
        </p:nvGraphicFramePr>
        <p:xfrm>
          <a:off x="5151120" y="1000125"/>
          <a:ext cx="3005455" cy="171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8992"/>
            <a:ext cx="10881360" cy="3108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{{KPI_DASHBOARD}}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5262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{{ASSESSMENT_TITLE}}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{{TECHNICAL_ASSESSMENT}}</a:t>
            </a:r>
          </a:p>
        </p:txBody>
      </p:sp>
      <p:graphicFrame>
        <p:nvGraphicFramePr>
          <p:cNvPr id="30" name="图表 29" descr="7b0a202020202263686172745265734964223a20223230323931393734220a7d0a"/>
          <p:cNvGraphicFramePr/>
          <p:nvPr/>
        </p:nvGraphicFramePr>
        <p:xfrm>
          <a:off x="1065530" y="1953260"/>
          <a:ext cx="2987993" cy="1686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77240" y="1540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P13_pie</a:t>
            </a:r>
            <a:r>
              <a:rPr lang="zh-CN" altLang="en-US"/>
              <a:t>}}</a:t>
            </a:r>
            <a:endParaRPr lang="zh-CN" altLang="en-US"/>
          </a:p>
        </p:txBody>
      </p:sp>
      <p:graphicFrame>
        <p:nvGraphicFramePr>
          <p:cNvPr id="10" name="图表 9" descr="7b0a202020202263686172745265734964223a20223230323931393734220a7d0a"/>
          <p:cNvGraphicFramePr/>
          <p:nvPr/>
        </p:nvGraphicFramePr>
        <p:xfrm>
          <a:off x="6983095" y="2689543"/>
          <a:ext cx="3010535" cy="1836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570345" y="22980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</a:t>
            </a:r>
            <a:r>
              <a:rPr lang="en-US" altLang="zh-CN"/>
              <a:t>P14_pie</a:t>
            </a:r>
            <a:r>
              <a:rPr lang="zh-CN" altLang="en-US"/>
              <a:t>}}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{{SEVERITY_TITLE}}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{{SEVERITY_BREAKDOWN}}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{{TOP_RULES_TITLE}}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5166360" cy="1463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{{TOP_RULES_TABLE}}</a:t>
            </a:r>
          </a:p>
        </p:txBody>
      </p:sp>
      <p:sp>
        <p:nvSpPr>
          <p:cNvPr id="16" name="TextBox 5"/>
          <p:cNvSpPr txBox="1"/>
          <p:nvPr/>
        </p:nvSpPr>
        <p:spPr>
          <a:xfrm>
            <a:off x="777240" y="141732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{{SEVERITY_BREAKDOWN}}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624330" y="3891915"/>
            <a:ext cx="11106150" cy="3486785"/>
            <a:chOff x="2042" y="13744"/>
            <a:chExt cx="34390" cy="3714"/>
          </a:xfrm>
        </p:grpSpPr>
        <p:sp>
          <p:nvSpPr>
            <p:cNvPr id="20" name="Shape 1"/>
            <p:cNvSpPr/>
            <p:nvPr/>
          </p:nvSpPr>
          <p:spPr>
            <a:xfrm>
              <a:off x="2042" y="13744"/>
              <a:ext cx="34390" cy="3714"/>
            </a:xfrm>
            <a:prstGeom prst="roundRect">
              <a:avLst>
                <a:gd name="adj" fmla="val 6757"/>
              </a:avLst>
            </a:prstGeom>
            <a:noFill/>
            <a:ln w="12700">
              <a:solidFill>
                <a:srgbClr val="CCE1F5"/>
              </a:solidFill>
              <a:prstDash val="solid"/>
            </a:ln>
          </p:spPr>
        </p:sp>
        <p:graphicFrame>
          <p:nvGraphicFramePr>
            <p:cNvPr id="29" name="图表 28"/>
            <p:cNvGraphicFramePr/>
            <p:nvPr/>
          </p:nvGraphicFramePr>
          <p:xfrm>
            <a:off x="2318" y="13879"/>
            <a:ext cx="33839" cy="33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sp>
        <p:nvSpPr>
          <p:cNvPr id="21" name="文本框 20"/>
          <p:cNvSpPr txBox="1"/>
          <p:nvPr/>
        </p:nvSpPr>
        <p:spPr>
          <a:xfrm>
            <a:off x="312420" y="59734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</a:t>
            </a:r>
            <a:r>
              <a:rPr lang="en-US" altLang="zh-CN">
                <a:sym typeface="+mn-ea"/>
              </a:rPr>
              <a:t>P15_line</a:t>
            </a:r>
            <a:r>
              <a:rPr lang="zh-CN" altLang="en-US">
                <a:sym typeface="+mn-ea"/>
              </a:rPr>
              <a:t>}}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{{TIMELINE_TITLE}}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21488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{{TIMELINE_NARRATIVE}}</a:t>
            </a:r>
          </a:p>
        </p:txBody>
      </p:sp>
      <p:graphicFrame>
        <p:nvGraphicFramePr>
          <p:cNvPr id="15" name="图表 14"/>
          <p:cNvGraphicFramePr/>
          <p:nvPr/>
        </p:nvGraphicFramePr>
        <p:xfrm>
          <a:off x="890270" y="3889375"/>
          <a:ext cx="3971608" cy="2817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207135" y="33185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{{P16_combo}}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{{INCIDENT1_TITLE}}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{{INCIDENT_DETAIL_1}}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777240" y="36118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{{INCIDENT2_TITLE}}</a:t>
            </a: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777240" y="3977639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{{INCIDENT_DETAIL_2}}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55080"/>
            <a:ext cx="1124712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{{ATTACK_PATTERN_SUMMARY}}</a:t>
            </a:r>
          </a:p>
        </p:txBody>
      </p:sp>
      <p:sp>
        <p:nvSpPr>
          <p:cNvPr id="11" name="textbox 50"/>
          <p:cNvSpPr/>
          <p:nvPr/>
        </p:nvSpPr>
        <p:spPr>
          <a:xfrm>
            <a:off x="6888480" y="3974465"/>
            <a:ext cx="4751705" cy="23704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09000"/>
              </a:lnSpc>
            </a:pPr>
            <a:endParaRPr sz="2400" dirty="0">
              <a:highlight>
                <a:srgbClr val="FFFF00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710565" algn="l" rtl="0" eaLnBrk="0">
              <a:lnSpc>
                <a:spcPts val="1085"/>
              </a:lnSpc>
              <a:spcBef>
                <a:spcPts val="5"/>
              </a:spcBef>
            </a:pPr>
            <a:endParaRPr sz="900" kern="0" spc="130" dirty="0">
              <a:solidFill>
                <a:srgbClr val="307050">
                  <a:alpha val="100000"/>
                </a:srgbClr>
              </a:solidFill>
              <a:highlight>
                <a:srgbClr val="FFFF00"/>
              </a:highligh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33" name="图表 32" descr="7b0a202020202263686172745265734964223a20223230343731343133220a7d0a"/>
          <p:cNvGraphicFramePr/>
          <p:nvPr/>
        </p:nvGraphicFramePr>
        <p:xfrm>
          <a:off x="6888480" y="4445635"/>
          <a:ext cx="4751705" cy="194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5" name="íṥlïḍê"/>
          <p:cNvSpPr txBox="1"/>
          <p:nvPr>
            <p:custDataLst>
              <p:tags r:id="rId6"/>
            </p:custDataLst>
          </p:nvPr>
        </p:nvSpPr>
        <p:spPr>
          <a:xfrm>
            <a:off x="7019290" y="4057650"/>
            <a:ext cx="2396490" cy="24257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>
            <a:lvl1pPr marL="0" marR="0" indent="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0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1pPr>
            <a:lvl2pPr marL="0" marR="0" indent="457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2pPr>
            <a:lvl3pPr marL="0" marR="0" indent="914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3pPr>
            <a:lvl4pPr marL="0" marR="0" indent="1371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4pPr>
            <a:lvl5pPr marL="0" marR="0" indent="18288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5pPr>
            <a:lvl6pPr marL="0" marR="0" indent="22860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6pPr>
            <a:lvl7pPr marL="0" marR="0" indent="27432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7pPr>
            <a:lvl8pPr marL="0" marR="0" indent="32004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8pPr>
            <a:lvl9pPr marL="0" marR="0" indent="3657600" algn="l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500" b="1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 panose="02000503000000020004"/>
              </a:defRPr>
            </a:lvl9pPr>
          </a:lstStyle>
          <a:p>
            <a:pPr marL="28575" lvl="0" algn="l" defTabSz="2438400" eaLnBrk="0">
              <a:lnSpc>
                <a:spcPct val="98000"/>
              </a:lnSpc>
            </a:pPr>
            <a:r>
              <a:rPr lang="zh-CN" sz="1400" spc="30" dirty="0">
                <a:solidFill>
                  <a:srgbClr val="204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平均响应趋势（</a:t>
            </a:r>
            <a:r>
              <a:rPr lang="zh-CN" sz="1400" spc="30" dirty="0">
                <a:solidFill>
                  <a:srgbClr val="204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分钟）</a:t>
            </a:r>
            <a:endParaRPr lang="zh-CN" sz="1400" spc="30" dirty="0">
              <a:solidFill>
                <a:srgbClr val="20408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5365" y="3543935"/>
            <a:ext cx="12668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{{P1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_</a:t>
            </a:r>
            <a:r>
              <a:rPr lang="en-US" altLang="zh-CN">
                <a:sym typeface="+mn-ea"/>
              </a:rPr>
              <a:t>line</a:t>
            </a:r>
            <a:r>
              <a:rPr lang="zh-CN" altLang="en-US">
                <a:sym typeface="+mn-ea"/>
              </a:rPr>
              <a:t>}}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{{VULN_DIST_TITLE}}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4173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{{VULN_DISTRIBUTION}}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63240"/>
            <a:ext cx="11247120" cy="2148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{{CVE_ANALYSIS_TITLE}}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881360" cy="1600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{{CVE_TECHNICAL_ANALYSIS}}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49240"/>
            <a:ext cx="11247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{{PATCH_TITLE}}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06440"/>
            <a:ext cx="10881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{{PATCH_STATUS}}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{{EXPOSED_SERVICES_TITLE}}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{{EXPOSED_SERVICES_TABLE}}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{{EXPOSURE_ANALYSIS_TITLE}}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17320"/>
            <a:ext cx="516636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{{EXTERNAL_EXPOSURE}}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{{SURFACE_TREND_TITLE}}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{{ATTACK_SURFACE_TREND}}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553212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{{REMEDIATION_TITLE}}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5166360" cy="3017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{{EXPOSURE_REMEDIATION}}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468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{{CLOUD_MISCONFIG_TITLE}}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874519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{{CLOUD_MISCONFIG_DETAILS}}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{{IAM_TITLE}}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{{IAM_RISK_ANALYSIS}}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611880"/>
            <a:ext cx="553212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{{COMPLIANCE_TITLE}}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{{CLOUD_COMPLIANCE}}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112471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10881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{{TECH_REC_TITLE}}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16916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{{TECHNICAL_RECOMMENDATIONS}}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{{DETECTION_TITLE}}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{{DETECTION_IMPROVEMENTS}}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5321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4290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{{HARDENING_TITLE}}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5166360" cy="2697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{{HARDENING_CHECKLIST}}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1247120" cy="621792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800" b="1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{{SLIDE_TITLE}}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{{EVIDENCE_TITLE}}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{{EVIDENCE_INDEX}}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960120"/>
            <a:ext cx="55321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515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{{FRESHNESS_TITLE}}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16636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{{DATA_FRESHNESS}}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12471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31089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{{DATA_SCOPE_TITLE}}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7955279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{{DATA_SCOPE_NOTES}}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{{VULN_NOTES_TITLE}}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{{VULN_NOTES}}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017520"/>
            <a:ext cx="5532120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0896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{{EVIDENCE_NOTES_TITLE}}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5166360" cy="777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{{EVIDENCE_NOTES}}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{{ASSETS_TITLE}}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{{ASSET_GROUPS_LIST}}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53212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348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{{SERVICES_TITLE}}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16636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0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{{KEY_SERVICES_LIST}}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486400"/>
            <a:ext cx="112471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10881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1">
                <a:solidFill>
                  <a:srgbClr val="22C55E"/>
                </a:solidFill>
                <a:latin typeface="微软雅黑" panose="020B0503020204020204" charset="-122"/>
              </a:defRPr>
            </a:pPr>
            <a:r>
              <a:t>{{TERMINOLOGY_TITLE}}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881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900" b="0">
                <a:solidFill>
                  <a:srgbClr val="E2E8F0"/>
                </a:solidFill>
                <a:latin typeface="微软雅黑" panose="020B0503020204020204" charset="-122"/>
              </a:defRPr>
            </a:pPr>
            <a:r>
              <a:t>{{TERMINOLOGY_TECHNICAL}}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7.999842519685,&quot;left&quot;:61.2,&quot;top&quot;:82.8,&quot;width&quot;:856.8}"/>
</p:tagLst>
</file>

<file path=ppt/tags/tag2.xml><?xml version="1.0" encoding="utf-8"?>
<p:tagLst xmlns:p="http://schemas.openxmlformats.org/presentationml/2006/main">
  <p:tag name="KSO_WM_DIAGRAM_VIRTUALLY_FRAME" val="{&quot;height&quot;:377.999842519685,&quot;left&quot;:61.2,&quot;top&quot;:82.8,&quot;width&quot;:856.8}"/>
</p:tagLst>
</file>

<file path=ppt/tags/tag3.xml><?xml version="1.0" encoding="utf-8"?>
<p:tagLst xmlns:p="http://schemas.openxmlformats.org/presentationml/2006/main">
  <p:tag name="KSO_WM_DIAGRAM_VIRTUALLY_FRAME" val="{&quot;height&quot;:377.999842519685,&quot;left&quot;:61.2,&quot;top&quot;:82.8,&quot;width&quot;:856.8}"/>
</p:tagLst>
</file>

<file path=ppt/tags/tag4.xml><?xml version="1.0" encoding="utf-8"?>
<p:tagLst xmlns:p="http://schemas.openxmlformats.org/presentationml/2006/main">
  <p:tag name="KSO_WM_DIAGRAM_VIRTUALLY_FRAME" val="{&quot;height&quot;:377.999842519685,&quot;left&quot;:61.2,&quot;top&quot;:82.8,&quot;width&quot;:856.8}"/>
</p:tagLst>
</file>

<file path=ppt/tags/tag5.xml><?xml version="1.0" encoding="utf-8"?>
<p:tagLst xmlns:p="http://schemas.openxmlformats.org/presentationml/2006/main">
  <p:tag name="KSO_WM_DIAGRAM_VIRTUALLY_FRAME" val="{&quot;height&quot;:394.00007874015745,&quot;left&quot;:84.67007874015748,&quot;top&quot;:100.32062992125984,&quot;width&quot;:790.6598425196851}"/>
</p:tagLst>
</file>

<file path=ppt/tags/tag6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彩色5">
    <a:dk1>
      <a:srgbClr val="000000"/>
    </a:dk1>
    <a:lt1>
      <a:srgbClr val="FFFFFF"/>
    </a:lt1>
    <a:dk2>
      <a:srgbClr val="212745"/>
    </a:dk2>
    <a:lt2>
      <a:srgbClr val="B4DCFA"/>
    </a:lt2>
    <a:accent1>
      <a:srgbClr val="4E67C8"/>
    </a:accent1>
    <a:accent2>
      <a:srgbClr val="5ECCF3"/>
    </a:accent2>
    <a:accent3>
      <a:srgbClr val="A7EA52"/>
    </a:accent3>
    <a:accent4>
      <a:srgbClr val="5DCEAF"/>
    </a:accent4>
    <a:accent5>
      <a:srgbClr val="FF8021"/>
    </a:accent5>
    <a:accent6>
      <a:srgbClr val="F14124"/>
    </a:accent6>
    <a:hlink>
      <a:srgbClr val="56C7AA"/>
    </a:hlink>
    <a:folHlink>
      <a:srgbClr val="59A8D1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Office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"/>
      <a:ea typeface=""/>
      <a:cs typeface=""/>
    </a:majorFont>
    <a:minorFont>
      <a:latin typeface="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satMod val="110000"/>
              <a:lum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satMod val="105000"/>
              <a:lum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shade val="94000"/>
            </a:schemeClr>
          </a:gs>
          <a:gs pos="50000">
            <a:schemeClr val="phClr">
              <a:lumMod val="110000"/>
              <a:satMod val="100000"/>
              <a:tint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WPS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874CB"/>
    </a:accent1>
    <a:accent2>
      <a:srgbClr val="EE822F"/>
    </a:accent2>
    <a:accent3>
      <a:srgbClr val="F2BA02"/>
    </a:accent3>
    <a:accent4>
      <a:srgbClr val="75BD42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1528</Words>
  <Application>WPS 演示</Application>
  <PresentationFormat>On-screen Show (4:3)</PresentationFormat>
  <Paragraphs>162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Times New Roman</vt:lpstr>
      <vt:lpstr>黑体</vt:lpstr>
      <vt:lpstr>Helvetica Neue</vt:lpstr>
      <vt:lpstr>Calibri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π</cp:lastModifiedBy>
  <cp:revision>16</cp:revision>
  <dcterms:created xsi:type="dcterms:W3CDTF">2013-01-27T09:14:00Z</dcterms:created>
  <dcterms:modified xsi:type="dcterms:W3CDTF">2026-02-25T02:43:13Z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8A093E51843841BCAA984D1F304BD387_12</vt:lpwstr>
  </property>
  <property fmtid="{D5CDD505-2E9C-101B-9397-08002B2CF9AE}" pid="3" name="KSOProductBuildVer">
    <vt:lpwstr>2052-12.1.0.25225</vt:lpwstr>
  </property>
</Properties>
</file>