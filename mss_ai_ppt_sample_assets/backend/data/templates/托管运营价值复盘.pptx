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10.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olors1.xml" ContentType="application/vnd.ms-office.chartcolorstyle+xml"/>
  <Override PartName="/ppt/charts/colors10.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colors6.xml" ContentType="application/vnd.ms-office.chartcolorstyle+xml"/>
  <Override PartName="/ppt/charts/colors7.xml" ContentType="application/vnd.ms-office.chartcolorstyle+xml"/>
  <Override PartName="/ppt/charts/colors8.xml" ContentType="application/vnd.ms-office.chartcolorstyle+xml"/>
  <Override PartName="/ppt/charts/colors9.xml" ContentType="application/vnd.ms-office.chartcolorstyle+xml"/>
  <Override PartName="/ppt/charts/style1.xml" ContentType="application/vnd.ms-office.chartstyle+xml"/>
  <Override PartName="/ppt/charts/style10.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charts/style6.xml" ContentType="application/vnd.ms-office.chartstyle+xml"/>
  <Override PartName="/ppt/charts/style7.xml" ContentType="application/vnd.ms-office.chartstyle+xml"/>
  <Override PartName="/ppt/charts/style8.xml" ContentType="application/vnd.ms-office.chartstyle+xml"/>
  <Override PartName="/ppt/charts/style9.xml" ContentType="application/vnd.ms-office.chartstyle+xml"/>
  <Override PartName="/ppt/commentAuthors.xml" ContentType="application/vnd.openxmlformats-officedocument.presentationml.commentAuthors+xml"/>
  <Override PartName="/ppt/media/image10.svg" ContentType="image/svg+xml"/>
  <Override PartName="/ppt/media/image12.svg" ContentType="image/svg+xml"/>
  <Override PartName="/ppt/media/image14.svg" ContentType="image/svg+xml"/>
  <Override PartName="/ppt/media/image17.svg" ContentType="image/svg+xml"/>
  <Override PartName="/ppt/media/image19.svg" ContentType="image/svg+xml"/>
  <Override PartName="/ppt/media/image21.svg" ContentType="image/svg+xml"/>
  <Override PartName="/ppt/media/image23.svg" ContentType="image/svg+xml"/>
  <Override PartName="/ppt/media/image25.svg" ContentType="image/svg+xml"/>
  <Override PartName="/ppt/media/image27.svg" ContentType="image/svg+xml"/>
  <Override PartName="/ppt/media/image29.svg" ContentType="image/svg+xml"/>
  <Override PartName="/ppt/media/image31.svg" ContentType="image/svg+xml"/>
  <Override PartName="/ppt/media/image33.svg" ContentType="image/svg+xml"/>
  <Override PartName="/ppt/media/image35.svg" ContentType="image/svg+xml"/>
  <Override PartName="/ppt/media/image38.svg" ContentType="image/svg+xml"/>
  <Override PartName="/ppt/media/image40.svg" ContentType="image/svg+xml"/>
  <Override PartName="/ppt/media/image42.svg" ContentType="image/svg+xml"/>
  <Override PartName="/ppt/media/image44.svg" ContentType="image/svg+xml"/>
  <Override PartName="/ppt/media/image46.svg" ContentType="image/svg+xml"/>
  <Override PartName="/ppt/media/image48.svg" ContentType="image/svg+xml"/>
  <Override PartName="/ppt/media/image50.svg" ContentType="image/svg+xml"/>
  <Override PartName="/ppt/media/image52.svg" ContentType="image/svg+xml"/>
  <Override PartName="/ppt/media/image54.svg" ContentType="image/svg+xml"/>
  <Override PartName="/ppt/media/image5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7" r:id="rId3"/>
    <p:sldMasterId id="2147483663" r:id="rId4"/>
  </p:sldMasterIdLst>
  <p:notesMasterIdLst>
    <p:notesMasterId r:id="rId6"/>
  </p:notesMasterIdLst>
  <p:sldIdLst>
    <p:sldId id="391" r:id="rId5"/>
    <p:sldId id="433" r:id="rId7"/>
    <p:sldId id="393" r:id="rId8"/>
    <p:sldId id="394" r:id="rId9"/>
    <p:sldId id="428" r:id="rId10"/>
    <p:sldId id="396" r:id="rId11"/>
    <p:sldId id="434" r:id="rId12"/>
    <p:sldId id="436" r:id="rId13"/>
    <p:sldId id="437" r:id="rId14"/>
    <p:sldId id="438" r:id="rId15"/>
    <p:sldId id="439" r:id="rId16"/>
    <p:sldId id="440" r:id="rId17"/>
    <p:sldId id="441" r:id="rId18"/>
    <p:sldId id="404" r:id="rId19"/>
    <p:sldId id="405" r:id="rId20"/>
    <p:sldId id="406" r:id="rId21"/>
    <p:sldId id="408" r:id="rId22"/>
    <p:sldId id="421" r:id="rId23"/>
    <p:sldId id="409" r:id="rId24"/>
    <p:sldId id="411" r:id="rId25"/>
  </p:sldIdLst>
  <p:sldSz cx="12192000" cy="6858000"/>
  <p:notesSz cx="6858000" cy="9144000"/>
  <p:custDataLst>
    <p:tags r:id="rId3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王帆" initials="WF" lastIdx="1" clrIdx="0"/>
  <p:cmAuthor id="1" name="Microsoft Office User" initials="MOU" lastIdx="5" clrIdx="0"/>
  <p:cmAuthor id="2" name="wangpq" initials="w" lastIdx="1" clrIdx="1"/>
  <p:cmAuthor id="3" name="yerunguo" initials="yerunguo" lastIdx="1" clrIdx="2"/>
  <p:cmAuthor id="4" name="KPMG Cyber" initials="WA(" lastIdx="1" clrIdx="3"/>
  <p:cmAuthor id="5" name="Wang, Autumn" initials="WA(" lastIdx="2" clrIdx="4"/>
  <p:cmAuthor id="312" name="000823681" initials="0" lastIdx="1" clrIdx="311"/>
  <p:cmAuthor id="6" name="chenyang" initials="c" lastIdx="1" clrIdx="5"/>
  <p:cmAuthor id="7" name="98802" initials="9" lastIdx="5" clrIdx="6"/>
  <p:cmAuthor id="8" name="AndyLee" initials="A" lastIdx="5" clrIdx="8"/>
  <p:cmAuthor id="9" name="duan" initials="d" lastIdx="3" clrIdx="8"/>
  <p:cmAuthor id="10" name="wei.xin" initials="w" lastIdx="2" clrIdx="9"/>
  <p:cmAuthor id="11" name="未知用户2" initials="未知用户2" lastIdx="1" clrIdx="5"/>
  <p:cmAuthor id="12" name="未知用户3" initials="未知用户3" lastIdx="1" clrIdx="6"/>
  <p:cmAuthor id="381437688" name="谢学斌" initials="谢" lastIdx="0" clrIdx="0"/>
  <p:cmAuthor id="13" name="吕品" initials="吕品" lastIdx="1" clrIdx="11"/>
  <p:cmAuthor id="15" name="wulifang" initials="wlf" lastIdx="1" clrIdx="14"/>
  <p:cmAuthor id="16" name="彭润" initials="彭" lastIdx="1" clrIdx="15"/>
  <p:cmAuthor id="17" name="未知用户4" initials="未知用户4" lastIdx="1" clrIdx="7"/>
  <p:cmAuthor id="18" name="gt" initials="g" lastIdx="10" clrIdx="17"/>
  <p:cmAuthor id="19" name="未知用户5" initials="未知用户5" lastIdx="1" clrIdx="8"/>
  <p:cmAuthor id="20" name="Jie" initials="J" lastIdx="5" clrIdx="19"/>
  <p:cmAuthor id="21" name="SXF-Admin" initials="S" lastIdx="1" clrIdx="20"/>
  <p:cmAuthor id="22" name="蔡建楠" initials="caijianna" lastIdx="15" clrIdx="17"/>
  <p:cmAuthor id="338605058" name="J I N G " initials="J" lastIdx="1" clrIdx="217"/>
  <p:cmAuthor id="23" name="Sangfor" initials="S" lastIdx="3" clrIdx="22"/>
  <p:cmAuthor id="24" name="李蕾00009994" initials="李" lastIdx="6" clrIdx="17"/>
  <p:cmAuthor id="25" name="wyz" initials="w" lastIdx="1" clrIdx="24"/>
  <p:cmAuthor id="26" name="10270945" initials="1" lastIdx="2" clrIdx="25"/>
  <p:cmAuthor id="27" name="杨艳霞" initials="杨" lastIdx="34" clrIdx="1"/>
  <p:cmAuthor id="28" name="Hou Yingfeng" initials="H" lastIdx="10" clrIdx="23"/>
  <p:cmAuthor id="29" name="吴军" initials="吴" lastIdx="1" clrIdx="0"/>
  <p:cmAuthor id="30" name="sangfor" initials="s" lastIdx="1" clrIdx="29"/>
  <p:cmAuthor id="31" name="Author" initials="A" lastIdx="0" clrIdx="30"/>
  <p:cmAuthor id="287643681" name="殷格非" initials="殷" lastIdx="2" clrIdx="0"/>
  <p:cmAuthor id="32" name="李楠10047711" initials="李楠10047711" lastIdx="2" clrIdx="31"/>
  <p:cmAuthor id="287643682" name="z r" initials="zr" lastIdx="5" clrIdx="12"/>
  <p:cmAuthor id="33" name="610007" initials="6" lastIdx="0" clrIdx="32"/>
  <p:cmAuthor id="287643683" name="lc xue" initials="lx" lastIdx="1" clrIdx="22"/>
  <p:cmAuthor id="34" name="未知用户6" initials="未知用户6" lastIdx="1" clrIdx="9"/>
  <p:cmAuthor id="287643684" name="孟芳芳（借调）" initials="V" lastIdx="1" clrIdx="37"/>
  <p:cmAuthor id="35" name="XUWEI" initials="X" lastIdx="1" clrIdx="10"/>
  <p:cmAuthor id="287643685" name="zhuxiangyi" initials="z" lastIdx="1" clrIdx="38"/>
  <p:cmAuthor id="36" name="俊贤" initials="俊贤" lastIdx="2" clrIdx="21"/>
  <p:cmAuthor id="37" name="Hu. Jimmy" initials="HJ" lastIdx="2" clrIdx="23"/>
  <p:cmAuthor id="38" name="hzq" initials="h" lastIdx="1" clrIdx="37"/>
  <p:cmAuthor id="39" name="Hdd" initials="Hdd" lastIdx="1" clrIdx="38"/>
  <p:cmAuthor id="40" name="张立鑫" initials="张" lastIdx="1" clrIdx="23"/>
  <p:cmAuthor id="41" name="吴铭锐" initials="吴" lastIdx="2" clrIdx="0"/>
  <p:cmAuthor id="42" name="未知用户77" initials="未知用户77" lastIdx="1" clrIdx="0"/>
  <p:cmAuthor id="43" name="YuQing" initials="Y" lastIdx="9" clrIdx="0"/>
  <p:cmAuthor id="44" name="Youwen Sun" initials="Y" lastIdx="3" clrIdx="1"/>
  <p:cmAuthor id="45" name="番茄花园" initials="番" lastIdx="1" clrIdx="0"/>
  <p:cmAuthor id="46" name="meng_" initials="m" lastIdx="7" clrIdx="45"/>
  <p:cmAuthor id="47" name="未知" initials="未" lastIdx="1" clrIdx="0"/>
  <p:cmAuthor id="48" name="周满红" initials="周" lastIdx="24" clrIdx="0"/>
  <p:cmAuthor id="49" name="taojiang" initials="t" lastIdx="2" clrIdx="48"/>
  <p:cmAuthor id="50" name="未知用户8" initials="未" lastIdx="2" clrIdx="4"/>
  <p:cmAuthor id="51" name="未知用户9" initials="未" lastIdx="3" clrIdx="5"/>
  <p:cmAuthor id="191251535" name="沈霄雷" initials="沈" lastIdx="833089" clrIdx="0"/>
  <p:cmAuthor id="52" name="未知用户10" initials="未" lastIdx="9" clrIdx="0"/>
  <p:cmAuthor id="191251536" name="SF" initials="S" lastIdx="6" clrIdx="11"/>
  <p:cmAuthor id="53" name="未知用户11" initials="未" lastIdx="1" clrIdx="0"/>
  <p:cmAuthor id="191251537" name="sammi" initials="s" lastIdx="0" clrIdx="12"/>
  <p:cmAuthor id="54" name="刘思蜀" initials="刘" lastIdx="1" clrIdx="0"/>
  <p:cmAuthor id="191251538" name="zhangmh@httz.cc" initials="z" lastIdx="3" clrIdx="13"/>
  <p:cmAuthor id="55" name="未知用户20" initials="未" lastIdx="1" clrIdx="0"/>
  <p:cmAuthor id="191251539" name="wang" initials="wang" lastIdx="1" clrIdx="14"/>
  <p:cmAuthor id="56" name="未知用户19" initials="未" lastIdx="1" clrIdx="0"/>
  <p:cmAuthor id="57" name="未知用户21" initials="未" lastIdx="1" clrIdx="0"/>
  <p:cmAuthor id="210492765" name="施普希（菜菜）" initials="施" lastIdx="0" clrIdx="0"/>
  <p:cmAuthor id="191251541" name="sjzx" initials="s" lastIdx="1" clrIdx="25"/>
  <p:cmAuthor id="210492766" name="AGK" initials="AGK" lastIdx="4" clrIdx="7"/>
  <p:cmAuthor id="58" name="未知用户14" initials="未" lastIdx="1" clrIdx="0"/>
  <p:cmAuthor id="191251542" name="yang.yuan" initials="y" lastIdx="0" clrIdx="17"/>
  <p:cmAuthor id="210492767" name="书佳 王" initials="书王" lastIdx="3" clrIdx="287"/>
  <p:cmAuthor id="59" name="未知用户15" initials="未" lastIdx="1" clrIdx="0"/>
  <p:cmAuthor id="60" name="未知用户16" initials="未" lastIdx="4" clrIdx="0"/>
  <p:cmAuthor id="210492768" name="zhang" initials="z" lastIdx="2" clrIdx="35"/>
  <p:cmAuthor id="61" name="郝崇" initials="郝" lastIdx="4" clrIdx="1"/>
  <p:cmAuthor id="1483810881" name="WPS_1679281038" initials="W" lastIdx="1" clrIdx="2"/>
  <p:cmAuthor id="62" name="吴杰" initials="吴" lastIdx="1" clrIdx="0"/>
  <p:cmAuthor id="63" name="刘丽仙" initials="刘" lastIdx="4" clrIdx="33"/>
  <p:cmAuthor id="64" name="陶川" initials="陶" lastIdx="1" clrIdx="0"/>
  <p:cmAuthor id="65" name="未知用户44" initials="未知用户44" lastIdx="1" clrIdx="0"/>
  <p:cmAuthor id="66" name="andres.x.gomez" initials="a" lastIdx="4" clrIdx="0"/>
  <p:cmAuthor id="67" name="user" initials="u" lastIdx="502" clrIdx="0"/>
  <p:cmAuthor id="68" name="未知用户45" initials="未知用户45" lastIdx="1" clrIdx="0"/>
  <p:cmAuthor id="69" name="贾清山" initials="贾" lastIdx="1" clrIdx="0"/>
  <p:cmAuthor id="70" name="丁芙蓉" initials="丁" lastIdx="4" clrIdx="1"/>
  <p:cmAuthor id="71" name="gtmc" initials="g" lastIdx="0" clrIdx="0"/>
  <p:cmAuthor id="72" name="王小忠" initials="王" lastIdx="2" clrIdx="2"/>
  <p:cmAuthor id="73" name="未知用户7" initials="未" lastIdx="2" clrIdx="2"/>
  <p:cmAuthor id="74" name="张 彬" initials="张" lastIdx="1" clrIdx="34"/>
  <p:cmAuthor id="75" name="作者" initials="A" lastIdx="0" clrIdx="24"/>
  <p:cmAuthor id="76" name="立峰 陈" initials="立陈" lastIdx="1" clrIdx="35"/>
  <p:cmAuthor id="77" name="未知用户27" initials="未" lastIdx="1" clrIdx="0"/>
  <p:cmAuthor id="78" name="未知用户28" initials="未" lastIdx="1" clrIdx="0"/>
  <p:cmAuthor id="79" name="未知用户29" initials="未" lastIdx="1" clrIdx="0"/>
  <p:cmAuthor id="80" name="未知用户30" initials="未" lastIdx="4" clrIdx="0"/>
  <p:cmAuthor id="81" name="yangkun" initials="y" lastIdx="0" clrIdx="0"/>
  <p:cmAuthor id="82" name="Lenovo User" initials="L" lastIdx="1" clrIdx="0"/>
  <p:cmAuthor id="83" name="hys2" initials="h" lastIdx="1" clrIdx="0"/>
  <p:cmAuthor id="84" name="朱绍春" initials="朱" lastIdx="13" clrIdx="0"/>
  <p:cmAuthor id="85" name="邹洋" initials="邹" lastIdx="2" clrIdx="0"/>
  <p:cmAuthor id="86" name="孟祥超" initials="孟" lastIdx="2" clrIdx="1"/>
  <p:cmAuthor id="87" name="贡鑫" initials="贡" lastIdx="2" clrIdx="0"/>
  <p:cmAuthor id="88" name="administrator1" initials="a" lastIdx="16" clrIdx="2"/>
  <p:cmAuthor id="89" name="杜雪梅" initials="杜" lastIdx="1" clrIdx="0"/>
  <p:cmAuthor id="90" name="仝德志" initials="仝" lastIdx="1" clrIdx="0"/>
  <p:cmAuthor id="91" name="马静" initials="马" lastIdx="0" clrIdx="0"/>
  <p:cmAuthor id="92" name="Qingyunli" initials="Q" lastIdx="24" clrIdx="0"/>
  <p:cmAuthor id="1455558931" name="王军领" initials="王" lastIdx="1" clrIdx="31"/>
  <p:cmAuthor id="93" name="dell" initials="d" lastIdx="1" clrIdx="4"/>
  <p:cmAuthor id="94" name="叶得会" initials="叶" lastIdx="8" clrIdx="0"/>
  <p:cmAuthor id="95" name="未知用户39" initials="未" lastIdx="1" clrIdx="0"/>
  <p:cmAuthor id="96" name="未知用户17" initials="未" lastIdx="1" clrIdx="1"/>
  <p:cmAuthor id="97" name="未知用户18" initials="未" lastIdx="1" clrIdx="0"/>
  <p:cmAuthor id="98" name="liying" initials="l" lastIdx="11" clrIdx="0"/>
  <p:cmAuthor id="99" name="lp" initials="l" lastIdx="1" clrIdx="0"/>
  <p:cmAuthor id="100" name="马海燕" initials="马" lastIdx="1" clrIdx="18"/>
  <p:cmAuthor id="101" name="张钦" initials="张" lastIdx="4" clrIdx="4"/>
  <p:cmAuthor id="102" name="桓蕾" initials="桓" lastIdx="1" clrIdx="101"/>
  <p:cmAuthor id="103" name="lenovo" initials="l" lastIdx="2" clrIdx="45"/>
  <p:cmAuthor id="104" name="鲍华明" initials="鲍" lastIdx="1" clrIdx="0"/>
  <p:cmAuthor id="105" name="刘广艳" initials="刘" lastIdx="10" clrIdx="1"/>
  <p:cmAuthor id="106" name="邹积逊" initials="邹" lastIdx="1" clrIdx="0"/>
  <p:cmAuthor id="107" name="yangyanxia" initials="y" lastIdx="1" clrIdx="0"/>
  <p:cmAuthor id="108" name="刘春辉" initials="刘" lastIdx="4" clrIdx="28"/>
  <p:cmAuthor id="109" name="赵兰玉" initials="赵" lastIdx="1" clrIdx="0"/>
  <p:cmAuthor id="110" name="杜娇龙" initials="杜" lastIdx="2" clrIdx="1"/>
  <p:cmAuthor id="111" name="libin1204@163.com" initials="l" lastIdx="1" clrIdx="102"/>
  <p:cmAuthor id="112" name="未知用户67" initials="未知用户67" lastIdx="1" clrIdx="0"/>
  <p:cmAuthor id="113" name="未知用户73" initials="未" lastIdx="4" clrIdx="0"/>
  <p:cmAuthor id="404272449" name="青山" initials="青" lastIdx="1" clrIdx="37"/>
  <p:cmAuthor id="114" name="魏永生" initials="魏" lastIdx="4" clrIdx="17"/>
  <p:cmAuthor id="115" name="未知用户69" initials="未知用户69" lastIdx="9" clrIdx="0"/>
  <p:cmAuthor id="116" name="未知用户70" initials="未知用户70" lastIdx="3" clrIdx="6"/>
  <p:cmAuthor id="117" name="许弘扬" initials="许" lastIdx="1" clrIdx="0"/>
  <p:cmAuthor id="118" name="新萝卜家园" initials="新" lastIdx="0" clrIdx="0"/>
  <p:cmAuthor id="119" name="未知用户71" initials="未知用户71" lastIdx="1" clrIdx="11"/>
  <p:cmAuthor id="120" name="未知用户80" initials="未" lastIdx="4" clrIdx="1"/>
  <p:cmAuthor id="121" name="未知用户81" initials="未" lastIdx="1" clrIdx="0"/>
  <p:cmAuthor id="122" name="未知用户82" initials="未" lastIdx="1" clrIdx="1"/>
  <p:cmAuthor id="123" name="未知用户83" initials="未" lastIdx="1" clrIdx="0"/>
  <p:cmAuthor id="124" name="未知用户84" initials="未" lastIdx="1" clrIdx="0"/>
  <p:cmAuthor id="125" name="未知用户31" initials="未" lastIdx="23" clrIdx="0"/>
  <p:cmAuthor id="126" name="未知用户62" initials="未" lastIdx="33" clrIdx="0"/>
  <p:cmAuthor id="127" name="Lzy" initials="L" lastIdx="1" clrIdx="0"/>
  <p:cmAuthor id="128" name="陈尚文" initials="陈" lastIdx="1" clrIdx="1"/>
  <p:cmAuthor id="129" name="邢志林" initials="邢" lastIdx="1" clrIdx="0"/>
  <p:cmAuthor id="130" name="张 开阔" initials="张" lastIdx="1" clrIdx="104"/>
  <p:cmAuthor id="131" name="原鹏" initials="y" lastIdx="1" clrIdx="105"/>
  <p:cmAuthor id="132" name="王怀璋" initials="王" lastIdx="1" clrIdx="0"/>
  <p:cmAuthor id="133" name="YANQING BAO" initials="Y" lastIdx="3" clrIdx="0"/>
  <p:cmAuthor id="134" name="Tracy Chen" initials="T" lastIdx="1" clrIdx="0"/>
  <p:cmAuthor id="135" name="dongwc0205" initials="d" lastIdx="1" clrIdx="15"/>
  <p:cmAuthor id="136" name="yuancc04" initials="y" lastIdx="3" clrIdx="0"/>
  <p:cmAuthor id="137" name="Xinyi" initials="X" lastIdx="1" clrIdx="136"/>
  <p:cmAuthor id="138" name="shwyq2008@163.com" initials="s" lastIdx="1" clrIdx="34"/>
  <p:cmAuthor id="139" name="未知用户13" initials="未" lastIdx="11" clrIdx="0"/>
  <p:cmAuthor id="140" name="levy" initials="l" lastIdx="2" clrIdx="0"/>
  <p:cmAuthor id="142" name="User" initials="U" lastIdx="12" clrIdx="0"/>
  <p:cmAuthor id="143" name="毕军(0212009)" initials="毕" lastIdx="10" clrIdx="0"/>
  <p:cmAuthor id="2972517" name="韩佳楠" initials="韩" lastIdx="1488322" clrIdx="0"/>
  <p:cmAuthor id="144" name="dadi" initials="d" lastIdx="2" clrIdx="1"/>
  <p:cmAuthor id="145" name="未知用户43" initials="未" lastIdx="4" clrIdx="1"/>
  <p:cmAuthor id="146" name="zhuqy3" initials="z" lastIdx="1" clrIdx="0"/>
  <p:cmAuthor id="147" name="njlife" initials="n" lastIdx="2" clrIdx="0"/>
  <p:cmAuthor id="148" name="未知用户46" initials="未" lastIdx="1" clrIdx="0"/>
  <p:cmAuthor id="149" name="未知用户47" initials="未" lastIdx="1" clrIdx="3"/>
  <p:cmAuthor id="150" name="未知用户48" initials="未" lastIdx="2" clrIdx="0"/>
  <p:cmAuthor id="151" name="未知用户49" initials="未" lastIdx="1" clrIdx="0"/>
  <p:cmAuthor id="152" name="未知用户50" initials="未" lastIdx="5" clrIdx="2"/>
  <p:cmAuthor id="153" name="未知用户133" initials="未" lastIdx="21" clrIdx="4"/>
  <p:cmAuthor id="154" name="未知用户134" initials="未" lastIdx="1" clrIdx="1"/>
  <p:cmAuthor id="155" name="未知用户135" initials="未" lastIdx="1" clrIdx="0"/>
  <p:cmAuthor id="156" name="未知用户54" initials="未" lastIdx="18" clrIdx="0"/>
  <p:cmAuthor id="157" name="未知用户55" initials="未" lastIdx="2" clrIdx="0"/>
  <p:cmAuthor id="158" name="未知用户56" initials="未" lastIdx="1" clrIdx="22"/>
  <p:cmAuthor id="2000" name="Teresa" initials="authorId_31822446" lastIdx="1024853" clrIdx="0"/>
  <p:cmAuthor id="159" name="未知用户57" initials="未" lastIdx="24" clrIdx="0"/>
  <p:cmAuthor id="2001" name="骆倩怡_Znauj26B" initials="authorId_382814100" lastIdx="0" clrIdx="0"/>
  <p:cmAuthor id="160" name="未知用户58" initials="未" lastIdx="0" clrIdx="0"/>
  <p:cmAuthor id="2002" name="demolong wang" initials="dw" lastIdx="1" clrIdx="38"/>
  <p:cmAuthor id="161" name="未知用户136" initials="未" lastIdx="1" clrIdx="0"/>
  <p:cmAuthor id="2003" name="杜晶晶-投资者关系部_vM3mnymA" initials="authorId_1323951053" lastIdx="1649699480" clrIdx="0"/>
  <p:cmAuthor id="162" name="未知用户137" initials="未" lastIdx="1" clrIdx="0"/>
  <p:cmAuthor id="2004" name="沈思铭" initials="沈思铭" lastIdx="19" clrIdx="34"/>
  <p:cmAuthor id="163" name="未知用户146" initials="未" lastIdx="1" clrIdx="0"/>
  <p:cmAuthor id="164" name="未知用户138" initials="未" lastIdx="1" clrIdx="0"/>
  <p:cmAuthor id="165" name="未知用户139" initials="未" lastIdx="4" clrIdx="0"/>
  <p:cmAuthor id="166" name="未知用户140" initials="未" lastIdx="13" clrIdx="0"/>
  <p:cmAuthor id="691587970" name="小延魔法师" initials="小" lastIdx="1126286" clrIdx="0"/>
  <p:cmAuthor id="167" name="未知用户141" initials="未" lastIdx="2" clrIdx="0"/>
  <p:cmAuthor id="168" name="未知用户142" initials="未" lastIdx="2" clrIdx="1"/>
  <p:cmAuthor id="169" name="未知用户143" initials="未" lastIdx="16" clrIdx="2"/>
  <p:cmAuthor id="170" name="未知用户144" initials="未" lastIdx="0" clrIdx="0"/>
  <p:cmAuthor id="171" name="王志刚" initials="王" lastIdx="1" clrIdx="0"/>
  <p:cmAuthor id="172" name="徐光宇" initials="徐" lastIdx="1" clrIdx="0"/>
  <p:cmAuthor id="173" name="mac" initials="m" lastIdx="1" clrIdx="0"/>
  <p:cmAuthor id="174" name="Liu, Leo (MBSHR cs)" initials="L" lastIdx="2" clrIdx="0"/>
  <p:cmAuthor id="175" name="刘豹" initials="刘" lastIdx="0" clrIdx="0"/>
  <p:cmAuthor id="176" name="张艳芳" initials="张" lastIdx="3" clrIdx="0"/>
  <p:cmAuthor id="177" name="超乎想象" initials="超" lastIdx="1" clrIdx="176"/>
  <p:cmAuthor id="178" name="志斌 杜" initials="志" lastIdx="5" clrIdx="103"/>
  <p:cmAuthor id="180" name="未知用户88" initials="未" lastIdx="3" clrIdx="0"/>
  <p:cmAuthor id="8535702" name="曾蓓/贝贝" initials="曾" lastIdx="0" clrIdx="0"/>
  <p:cmAuthor id="181" name="未知用户89" initials="未" lastIdx="21" clrIdx="4"/>
  <p:cmAuthor id="182" name="未知用户90" initials="未" lastIdx="1" clrIdx="1"/>
  <p:cmAuthor id="183" name="未知用户91" initials="未" lastIdx="1" clrIdx="0"/>
  <p:cmAuthor id="184" name="未知用户92" initials="未" lastIdx="1" clrIdx="0"/>
  <p:cmAuthor id="185" name="未知用户93" initials="未" lastIdx="1" clrIdx="0"/>
  <p:cmAuthor id="186" name="未知用户94" initials="未" lastIdx="1" clrIdx="0"/>
  <p:cmAuthor id="187" name="未知用户95" initials="未" lastIdx="4" clrIdx="0"/>
  <p:cmAuthor id="188" name="未知用户96" initials="未" lastIdx="13" clrIdx="0"/>
  <p:cmAuthor id="189" name="未知用户97" initials="未" lastIdx="2" clrIdx="0"/>
  <p:cmAuthor id="190" name="未知用户98" initials="未" lastIdx="2" clrIdx="1"/>
  <p:cmAuthor id="191" name="未知用户99" initials="未" lastIdx="16" clrIdx="2"/>
  <p:cmAuthor id="192" name="未知用户100" initials="未" lastIdx="0" clrIdx="0"/>
  <p:cmAuthor id="193" name="未知用户101" initials="未" lastIdx="3" clrIdx="0"/>
  <p:cmAuthor id="194" name="Temp" initials="T" lastIdx="0" clrIdx="0"/>
  <p:cmAuthor id="195" name="未知用户72" initials="未" lastIdx="2" clrIdx="1"/>
  <p:cmAuthor id="196" name="雍中婧" initials="雍" lastIdx="26" clrIdx="0"/>
  <p:cmAuthor id="197" name="未知用户74" initials="未" lastIdx="0" clrIdx="0"/>
  <p:cmAuthor id="198" name="未知用户75" initials="未" lastIdx="3" clrIdx="0"/>
  <p:cmAuthor id="199" name="未知用户76" initials="未" lastIdx="21" clrIdx="4"/>
  <p:cmAuthor id="200" name="lin lin" initials="l" lastIdx="1" clrIdx="0"/>
  <p:cmAuthor id="201" name="未知用户78" initials="未" lastIdx="1" clrIdx="0"/>
  <p:cmAuthor id="202" name="未知用户79" initials="未" lastIdx="2" clrIdx="0"/>
  <p:cmAuthor id="203" name="未知用户12" initials="未知用户12" lastIdx="4" clrIdx="0"/>
  <p:cmAuthor id="204" name="李明强" initials="李" lastIdx="1" clrIdx="203"/>
  <p:cmAuthor id="205" name="wang_cf" initials="w" lastIdx="8" clrIdx="204"/>
  <p:cmAuthor id="206" name="itw_chenfy01" initials="i" lastIdx="1" clrIdx="205"/>
  <p:cmAuthor id="207" name="wangll132" initials="w" lastIdx="1" clrIdx="206"/>
  <p:cmAuthor id="208" name="未知用户85" initials="未" lastIdx="2" clrIdx="1"/>
  <p:cmAuthor id="209" name="未知用户86" initials="未" lastIdx="16" clrIdx="2"/>
  <p:cmAuthor id="210" name="李刚" initials="李" lastIdx="3" clrIdx="0"/>
  <p:cmAuthor id="211" name="侯 林" initials="侯" lastIdx="2" clrIdx="35"/>
  <p:cmAuthor id="212" name="徐仕超" initials="徐" lastIdx="1" clrIdx="3"/>
  <p:cmAuthor id="213" name="Pei" initials="P" lastIdx="0" clrIdx="1"/>
  <p:cmAuthor id="214" name="Ying Li" initials="Y" lastIdx="1" clrIdx="2"/>
  <p:cmAuthor id="394525608" name="仇怿俊" initials="仇" lastIdx="0" clrIdx="0"/>
  <p:cmAuthor id="215" name="lou cynthia" initials="l" lastIdx="1" clrIdx="0"/>
  <p:cmAuthor id="394525609" name="mei shuo" initials="mei shuo" lastIdx="1" clrIdx="24"/>
  <p:cmAuthor id="216" name="未知的使用者197" initials="未" lastIdx="8" clrIdx="0"/>
  <p:cmAuthor id="394525610" name="dengwanting" initials="d" lastIdx="1" clrIdx="50"/>
  <p:cmAuthor id="217" name="马红" initials="马" lastIdx="7" clrIdx="0"/>
  <p:cmAuthor id="394525611" name="mouse zz" initials="mz" lastIdx="1" clrIdx="54"/>
  <p:cmAuthor id="218" name="Shi Xiao" initials="SX" lastIdx="1" clrIdx="106"/>
  <p:cmAuthor id="219" name="卢 米薇" initials="卢" lastIdx="1" clrIdx="107"/>
  <p:cmAuthor id="220" name="未知的使用者165" initials="未" lastIdx="1" clrIdx="0"/>
  <p:cmAuthor id="221" name="未知的使用者158" initials="未" lastIdx="1" clrIdx="0"/>
  <p:cmAuthor id="49837067" name="刘浩" initials="刘" lastIdx="180431" clrIdx="0"/>
  <p:cmAuthor id="222" name="LJ" initials="L" lastIdx="1" clrIdx="221"/>
  <p:cmAuthor id="223" name="未知的使用者149" initials="未" lastIdx="10" clrIdx="0"/>
  <p:cmAuthor id="49837068" name="Vivian Liu" initials="VL" lastIdx="1" clrIdx="1"/>
  <p:cmAuthor id="224" name="未知的使用者150" initials="未" lastIdx="1" clrIdx="0"/>
  <p:cmAuthor id="49837069" name="he zhirui" initials="hz" lastIdx="1" clrIdx="82"/>
  <p:cmAuthor id="225" name="未知的使用者166" initials="未" lastIdx="8" clrIdx="0"/>
  <p:cmAuthor id="49837070" name="伟哥" initials="伟哥" lastIdx="1" clrIdx="138"/>
  <p:cmAuthor id="226" name="未知的使用者167" initials="未" lastIdx="0" clrIdx="1"/>
  <p:cmAuthor id="227" name="未知的使用者159" initials="未" lastIdx="1" clrIdx="1"/>
  <p:cmAuthor id="228" name="Chris Kou" initials="C" lastIdx="1" clrIdx="0"/>
  <p:cmAuthor id="229" name="未知的使用者168" initials="未" lastIdx="1" clrIdx="0"/>
  <p:cmAuthor id="230" name="未知的使用者169" initials="未" lastIdx="1" clrIdx="0"/>
  <p:cmAuthor id="231" name="未知的使用者117" initials="未" lastIdx="1" clrIdx="0"/>
  <p:cmAuthor id="232" name="樊佳佳" initials="樊" lastIdx="59" clrIdx="5"/>
  <p:cmAuthor id="233" name="未知的使用者119" initials="未" lastIdx="1" clrIdx="2"/>
  <p:cmAuthor id="234" name="云峰 贾" initials="云" lastIdx="2" clrIdx="0"/>
  <p:cmAuthor id="237" name="杨彦伟" initials="杨" lastIdx="3" clrIdx="0"/>
  <p:cmAuthor id="238" name="Azfar Mir" initials="A" lastIdx="130" clrIdx="0"/>
  <p:cmAuthor id="239" name="张金玉" initials="张" lastIdx="1" clrIdx="0"/>
  <p:cmAuthor id="475196944" name="姚琳" initials="姚" lastIdx="1133934" clrIdx="0"/>
  <p:cmAuthor id="240" name="周平" initials="周" lastIdx="0" clrIdx="0"/>
  <p:cmAuthor id="475196945" name="chen" initials="c" lastIdx="1" clrIdx="2"/>
  <p:cmAuthor id="241" name="董 人美" initials="董" lastIdx="4" clrIdx="108"/>
  <p:cmAuthor id="1411827" name="黄晓平" initials="黄" lastIdx="0" clrIdx="0"/>
  <p:cmAuthor id="475196946" name="王 成岩" initials="王" lastIdx="1" clrIdx="23"/>
  <p:cmAuthor id="242" name="顾 Filizia" initials="顾" lastIdx="3" clrIdx="222"/>
  <p:cmAuthor id="475196947" name="陶夏溦" initials="陶夏溦" lastIdx="1" clrIdx="46"/>
  <p:cmAuthor id="243" name="未知的使用者183" initials="未" lastIdx="2" clrIdx="0"/>
  <p:cmAuthor id="475196948" name="uo G" initials="uG" lastIdx="1" clrIdx="223"/>
  <p:cmAuthor id="244" name="未知的使用者184" initials="未" lastIdx="8" clrIdx="0"/>
  <p:cmAuthor id="245" name="未知的使用者185" initials="未" lastIdx="5" clrIdx="0"/>
  <p:cmAuthor id="246" name="未知的使用者186" initials="未" lastIdx="10" clrIdx="0"/>
  <p:cmAuthor id="247" name="未知的使用者187" initials="未" lastIdx="1" clrIdx="0"/>
  <p:cmAuthor id="248" name="未知的使用者201" initials="未" lastIdx="8" clrIdx="0"/>
  <p:cmAuthor id="249" name="未知的使用者202" initials="未" lastIdx="0" clrIdx="1"/>
  <p:cmAuthor id="250" name="未知的使用者171" initials="未" lastIdx="3" clrIdx="1"/>
  <p:cmAuthor id="251" name="未知的使用者195" initials="未" lastIdx="1" clrIdx="1"/>
  <p:cmAuthor id="252" name="未知的使用者173" initials="未" lastIdx="6" clrIdx="0"/>
  <p:cmAuthor id="253" name="未知的使用者196" initials="未" lastIdx="1" clrIdx="0"/>
  <p:cmAuthor id="254" name="未知的使用者175" initials="未" lastIdx="2" clrIdx="0"/>
  <p:cmAuthor id="203790539" name="k" initials="k" lastIdx="4" clrIdx="36"/>
  <p:cmAuthor id="255" name="未知的使用者203" initials="未" lastIdx="1" clrIdx="0"/>
  <p:cmAuthor id="256" name="未知的使用者204" initials="未" lastIdx="1" clrIdx="0"/>
  <p:cmAuthor id="257" name="未知的使用者41" initials="未" lastIdx="5" clrIdx="1"/>
  <p:cmAuthor id="258" name="未知的使用者42" initials="未" lastIdx="1" clrIdx="1"/>
  <p:cmAuthor id="259" name="Evonlin" initials="E" lastIdx="2" clrIdx="2"/>
  <p:cmAuthor id="260" name="未知的使用者39" initials="未" lastIdx="10" clrIdx="0"/>
  <p:cmAuthor id="261" name="未知的使用者38" initials="未" lastIdx="1" clrIdx="0"/>
  <p:cmAuthor id="262" name="未知用户37" initials="未" lastIdx="8" clrIdx="0"/>
  <p:cmAuthor id="263" name="未知用户38" initials="未" lastIdx="8" clrIdx="0"/>
  <p:cmAuthor id="265" name="Admin" initials="A" lastIdx="1" clrIdx="2"/>
  <p:cmAuthor id="626391093" name="KQ" initials="K" lastIdx="1" clrIdx="214"/>
  <p:cmAuthor id="266" name="未知的使用者64" initials="未" lastIdx="8" clrIdx="0"/>
  <p:cmAuthor id="267" name="未知的使用者65" initials="未" lastIdx="1" clrIdx="0"/>
  <p:cmAuthor id="268" name="未知的使用者66" initials="未" lastIdx="1" clrIdx="0"/>
  <p:cmAuthor id="269" name="未知的使用者57" initials="未" lastIdx="1" clrIdx="0"/>
  <p:cmAuthor id="271" name="未知用户36" initials="未" lastIdx="1" clrIdx="0"/>
  <p:cmAuthor id="277" name="未知用户32" initials="未" lastIdx="1" clrIdx="0"/>
  <p:cmAuthor id="278" name="未知用户33" initials="未" lastIdx="1" clrIdx="0"/>
  <p:cmAuthor id="279" name="未知用户34" initials="未" lastIdx="2" clrIdx="0"/>
  <p:cmAuthor id="280" name="huang gerrard" initials="h" lastIdx="1" clrIdx="0"/>
  <p:cmAuthor id="281" name="xuanyuanxuanyi dad" initials="xd" lastIdx="1" clrIdx="50"/>
  <p:cmAuthor id="282" name="kingdee" initials="k" lastIdx="5" clrIdx="51"/>
  <p:cmAuthor id="284" name="LLM" initials="L" lastIdx="2" clrIdx="283"/>
  <p:cmAuthor id="285" name="hongmudan" initials="h" lastIdx="2" clrIdx="284"/>
  <p:cmAuthor id="287" name="kongtao" initials="k" lastIdx="8" clrIdx="286"/>
  <p:cmAuthor id="708433798" name="jialuo" initials="j" lastIdx="0" clrIdx="0"/>
  <p:cmAuthor id="708433799" name="清泺 戴" initials="清戴" lastIdx="25" clrIdx="36"/>
  <p:cmAuthor id="353158055" name="韩雨" initials="韩" lastIdx="0" clrIdx="0"/>
  <p:cmAuthor id="302" name="kfzx-lind" initials="k" lastIdx="1" clrIdx="301"/>
  <p:cmAuthor id="1034815950" name="刘威" initials="刘" lastIdx="2" clrIdx="1"/>
  <p:cmAuthor id="326" name="Lee, Arthur" initials="LA" lastIdx="0" clrIdx="325"/>
  <p:cmAuthor id="327" name="朱 宇轩" initials="朱" lastIdx="0" clrIdx="326"/>
  <p:cmAuthor id="328" name="先生 桑" initials="先" lastIdx="0" clrIdx="327"/>
  <p:cmAuthor id="329" name="吕 德" initials="吕" lastIdx="0" clrIdx="328"/>
  <p:cmAuthor id="330" name="李 武发" initials="李" lastIdx="0" clrIdx="329"/>
  <p:cmAuthor id="331" name="Administrator" initials="A" lastIdx="0" clrIdx="330"/>
  <p:cmAuthor id="332" name="xiaotaiyang" initials="x" lastIdx="0" clrIdx="331"/>
  <p:cmAuthor id="333" name="kangqingchun" initials="k" lastIdx="0" clrIdx="332"/>
  <p:cmAuthor id="334" name="幸全" initials="幸全" lastIdx="0" clrIdx="333"/>
  <p:cmAuthor id="335" name="琰 晞" initials="琰" lastIdx="0" clrIdx="334"/>
  <p:cmAuthor id="336" name="未知用户1" initials="未知用户1" lastIdx="0" clrIdx="335"/>
  <p:cmAuthor id="337" name="慕安 王" initials="慕王" lastIdx="0" clrIdx="336"/>
  <p:cmAuthor id="338" name="Dongbin" initials="S" lastIdx="0" clrIdx="337"/>
  <p:cmAuthor id="339" name="范作霖" initials="范" lastIdx="0" clrIdx="338"/>
  <p:cmAuthor id="340" name="叶 锦龙" initials="叶" lastIdx="0" clrIdx="339"/>
  <p:cmAuthor id="341" name="林夕" initials="林夕" lastIdx="0" clrIdx="340"/>
  <p:cmAuthor id="342" name="tommy tang" initials="tt" lastIdx="0" clrIdx="341"/>
  <p:cmAuthor id="343" name="丁大鹏" initials="ddp" lastIdx="0" clrIdx="342"/>
  <p:cmAuthor id="344" name="yeziapp" initials="y" lastIdx="0" clrIdx="343"/>
  <p:cmAuthor id="345" name="韦 体东" initials="韦" lastIdx="0" clrIdx="344"/>
  <p:cmAuthor id="346" name="WPS" initials="W" lastIdx="0" clrIdx="345"/>
  <p:cmAuthor id="347" name="Qiao" initials="authorId_196572682" lastIdx="0" clrIdx="346"/>
  <p:cmAuthor id="348" name="未知用户348" initials="未" lastIdx="0" clrIdx="347"/>
  <p:cmAuthor id="349" name="未知用户148" initials="未" lastIdx="0" clrIdx="348"/>
  <p:cmAuthor id="350" name="未知用户195" initials="未" lastIdx="0" clrIdx="349"/>
  <p:cmAuthor id="351" name="未知用户207" initials="未" lastIdx="0" clrIdx="350"/>
  <p:cmAuthor id="352" name="未知用户208" initials="未" lastIdx="0" clrIdx="351"/>
  <p:cmAuthor id="353" name="未知用户198" initials="未" lastIdx="0" clrIdx="352"/>
  <p:cmAuthor id="354" name="未知用户209" initials="未" lastIdx="0" clrIdx="353"/>
  <p:cmAuthor id="355" name="未知用户289" initials="未" lastIdx="0" clrIdx="354"/>
  <p:cmAuthor id="356" name="未知用户206" initials="未" lastIdx="0" clrIdx="355"/>
  <p:cmAuthor id="357" name="未知的使用者207" initials="未" lastIdx="0" clrIdx="356"/>
  <p:cmAuthor id="358" name="未知的使用者208" initials="未" lastIdx="0" clrIdx="357"/>
  <p:cmAuthor id="359" name="未知的使用者188" initials="未" lastIdx="0" clrIdx="358"/>
  <p:cmAuthor id="360" name="未知的使用者189" initials="未" lastIdx="0" clrIdx="359"/>
  <p:cmAuthor id="361" name="未知的使用者190" initials="未" lastIdx="0" clrIdx="360"/>
  <p:cmAuthor id="362" name="未知的使用者191" initials="未" lastIdx="0" clrIdx="361"/>
  <p:cmAuthor id="363" name="未知的使用者192" initials="未" lastIdx="0" clrIdx="362"/>
  <p:cmAuthor id="364" name="未知的使用者193" initials="未" lastIdx="0" clrIdx="363"/>
  <p:cmAuthor id="365" name="未知的使用者209" initials="未" lastIdx="0" clrIdx="364"/>
  <p:cmAuthor id="366" name="未知用户118" initials="未" lastIdx="0" clrIdx="365"/>
  <p:cmAuthor id="367" name="未知用户147" initials="未" lastIdx="0" clrIdx="366"/>
  <p:cmAuthor id="368" name="未知的使用者96" initials="未" lastIdx="0" clrIdx="367"/>
  <p:cmAuthor id="369" name="未知用户255" initials="未" lastIdx="0" clrIdx="368"/>
  <p:cmAuthor id="370" name="未知的使用者153" initials="未" lastIdx="0" clrIdx="369"/>
  <p:cmAuthor id="371" name="未知的使用者154" initials="未" lastIdx="0" clrIdx="370"/>
  <p:cmAuthor id="372" name="未知的使用者156" initials="未" lastIdx="0" clrIdx="371"/>
  <p:cmAuthor id="373" name="未知的使用者157" initials="未" lastIdx="0" clrIdx="372"/>
  <p:cmAuthor id="374" name="未知用户246" initials="未" lastIdx="0" clrIdx="373"/>
  <p:cmAuthor id="375" name="未知的使用者129" initials="未" lastIdx="0" clrIdx="374"/>
  <p:cmAuthor id="376" name="未知用户257" initials="未" lastIdx="0" clrIdx="375"/>
  <p:cmAuthor id="377" name="未知的使用者164" initials="未" lastIdx="0" clrIdx="376"/>
  <p:cmAuthor id="378" name="未知的使用者172" initials="未" lastIdx="0" clrIdx="377"/>
  <p:cmAuthor id="379" name="未知的使用者174" initials="未" lastIdx="0" clrIdx="378"/>
  <p:cmAuthor id="380" name="未知用户261" initials="未" lastIdx="0" clrIdx="379"/>
  <p:cmAuthor id="381" name="未知的使用者247" initials="未" lastIdx="0" clrIdx="380"/>
  <p:cmAuthor id="382" name="未知的使用者249" initials="未" lastIdx="0" clrIdx="381"/>
  <p:cmAuthor id="383" name="未知的使用者250" initials="未" lastIdx="0" clrIdx="382"/>
  <p:cmAuthor id="384" name="未知的使用者251" initials="未" lastIdx="0" clrIdx="383"/>
  <p:cmAuthor id="385" name="未知的使用者246" initials="未" lastIdx="0" clrIdx="384"/>
  <p:cmAuthor id="386" name="未知的使用者252" initials="未" lastIdx="0" clrIdx="385"/>
  <p:cmAuthor id="387" name="未知的使用者253" initials="未" lastIdx="0" clrIdx="386"/>
  <p:cmAuthor id="388" name="未知的使用者254" initials="未" lastIdx="0" clrIdx="387"/>
  <p:cmAuthor id="389" name="未知的使用者255" initials="未" lastIdx="0" clrIdx="388"/>
  <p:cmAuthor id="390" name="未知用户268" initials="未" lastIdx="0" clrIdx="389"/>
  <p:cmAuthor id="391" name="群智集" initials="群" lastIdx="0" clrIdx="390"/>
  <p:cmAuthor id="392" name="未知用户269" initials="未" lastIdx="0" clrIdx="391"/>
  <p:cmAuthor id="393" name="未知的使用者270" initials="未" lastIdx="0" clrIdx="392"/>
  <p:cmAuthor id="394" name="郏 鹏" initials="郏" lastIdx="0" clrIdx="393"/>
  <p:cmAuthor id="395" name="未知用户250" initials="未" lastIdx="0" clrIdx="394"/>
  <p:cmAuthor id="396" name="郏鹏" initials="郏" lastIdx="0" clrIdx="395"/>
  <p:cmAuthor id="397" name="未知用户272" initials="未" lastIdx="0" clrIdx="396"/>
  <p:cmAuthor id="398" name="石晓利" initials="石" lastIdx="0" clrIdx="397"/>
  <p:cmAuthor id="399" name="未知的使用者256" initials="未" lastIdx="0" clrIdx="398"/>
  <p:cmAuthor id="400" name="罗志军" initials="罗" lastIdx="0" clrIdx="399"/>
  <p:cmAuthor id="401" name="夜尽迟渊_UrQfrmQZ" initials="夜" lastIdx="0" clrIdx="400"/>
  <p:cmAuthor id="402" name="lvz" initials="l" lastIdx="0" clrIdx="401"/>
  <p:cmAuthor id="403" name="未知的使用者200" initials="未" lastIdx="0" clrIdx="402"/>
  <p:cmAuthor id="404" name="CMCC" initials="C" lastIdx="0" clrIdx="403"/>
  <p:cmAuthor id="405" name="王丰_aE3uARfm" initials="王" lastIdx="0" clrIdx="404"/>
  <p:cmAuthor id="406" name="Tianchi Yao" initials="TY" lastIdx="0" clrIdx="405"/>
  <p:cmAuthor id="407" name="未知的使用者257" initials="未" lastIdx="0" clrIdx="406"/>
  <p:cmAuthor id="408" name="方少_UbQfrimU" initials="方" lastIdx="0" clrIdx="407"/>
  <p:cmAuthor id="409" name="贾云雁" initials="贾" lastIdx="0" clrIdx="408"/>
  <p:cmAuthor id="410" name="叶盛_Q3A3IfEf" initials="叶" lastIdx="0" clrIdx="409"/>
  <p:cmAuthor id="411" name="Harley._bEJrUJ7r" initials="H" lastIdx="0" clrIdx="410"/>
  <p:cmAuthor id="412" name="罗平_VB7vJb2E" initials="罗" lastIdx="0" clrIdx="411"/>
  <p:cmAuthor id="413" name="未知的使用者240" initials="未" lastIdx="0" clrIdx="412"/>
  <p:cmAuthor id="414" name="xixi_nUjqe22E" initials="x" lastIdx="0" clrIdx="413"/>
  <p:cmAuthor id="415" name="未知的使用者241" initials="未" lastIdx="0" clrIdx="414"/>
  <p:cmAuthor id="416" name="安安_zm6nYnYZ" initials="安" lastIdx="0" clrIdx="415"/>
  <p:cmAuthor id="417" name="未知的使用者242" initials="未" lastIdx="0" clrIdx="416"/>
  <p:cmAuthor id="418" name="未知的使用者243" initials="未" lastIdx="0" clrIdx="417"/>
  <p:cmAuthor id="419" name="未知的使用者258" initials="未" lastIdx="0" clrIdx="418"/>
  <p:cmAuthor id="420" name="周君_MfIffYra" initials="周" lastIdx="0" clrIdx="419"/>
  <p:cmAuthor id="421" name="未知的使用者259" initials="未" lastIdx="0" clrIdx="420"/>
  <p:cmAuthor id="422" name="未知的使用者260" initials="未" lastIdx="0" clrIdx="421"/>
  <p:cmAuthor id="423" name="未知的使用者261" initials="未" lastIdx="0" clrIdx="422"/>
  <p:cmAuthor id="424" name="未知的使用者262" initials="未" lastIdx="0" clrIdx="423"/>
  <p:cmAuthor id="425" name="未知的使用者263" initials="未" lastIdx="0" clrIdx="424"/>
  <p:cmAuthor id="426" name="未知的使用者264" initials="未" lastIdx="0" clrIdx="425"/>
  <p:cmAuthor id="427" name="未知的使用者265" initials="未" lastIdx="0" clrIdx="426"/>
  <p:cmAuthor id="428" name="未知的使用者266" initials="未" lastIdx="0" clrIdx="427"/>
  <p:cmAuthor id="429" name="未知的使用者267" initials="未" lastIdx="0" clrIdx="428"/>
  <p:cmAuthor id="430" name="未知的使用者268" initials="未" lastIdx="0" clrIdx="429"/>
  <p:cmAuthor id="431" name="未知的使用者269" initials="未" lastIdx="0" clrIdx="430"/>
  <p:cmAuthor id="432" name="刘晖" initials="刘" lastIdx="0" clrIdx="431"/>
  <p:cmAuthor id="433" name="lillian" initials="l" lastIdx="0" clrIdx="432"/>
  <p:cmAuthor id="434" name="未知用户197" initials="未" lastIdx="0" clrIdx="433"/>
  <p:cmAuthor id="435" name="admin7" initials="a" lastIdx="0" clrIdx="434"/>
  <p:cmAuthor id="436" name="dd" initials="d" lastIdx="0" clrIdx="435"/>
  <p:cmAuthor id="437" name="未知用户240" initials="未" lastIdx="0" clrIdx="436"/>
  <p:cmAuthor id="438" name="未知的使用者67" initials="未" lastIdx="0" clrIdx="437"/>
  <p:cmAuthor id="439" name="未知的使用者46" initials="未" lastIdx="0" clrIdx="438"/>
  <p:cmAuthor id="440" name="未知用户106" initials="未" lastIdx="0" clrIdx="439"/>
  <p:cmAuthor id="441" name="未知的使用者8" initials="未" lastIdx="0" clrIdx="440"/>
  <p:cmAuthor id="442" name="不明使用者56" initials="不" lastIdx="0" clrIdx="441"/>
  <p:cmAuthor id="443" name="P00035_jeremy" initials="P" lastIdx="0" clrIdx="442"/>
  <p:cmAuthor id="444" name="Unknown User7" initials="U" lastIdx="0" clrIdx="443"/>
  <p:cmAuthor id="445" name="muzi wei" initials="m" lastIdx="0" clrIdx="444"/>
  <p:cmAuthor id="446" name="不明使用者21" initials="不" lastIdx="0" clrIdx="445"/>
  <p:cmAuthor id="447" name="goulei" initials="g" lastIdx="0" clrIdx="446"/>
  <p:cmAuthor id="448" name="未知用户109" initials="未" lastIdx="0" clrIdx="447"/>
  <p:cmAuthor id="449" name="thomas" initials="t" lastIdx="0" clrIdx="448"/>
  <p:cmAuthor id="450" name="未知的使用者3" initials="未" lastIdx="0" clrIdx="449"/>
  <p:cmAuthor id="451" name="Unknown User65" initials="U" lastIdx="0" clrIdx="450"/>
  <p:cmAuthor id="452" name="Unknown User67" initials="U" lastIdx="0" clrIdx="451"/>
  <p:cmAuthor id="453" name="未知用户61" initials="未" lastIdx="0" clrIdx="452"/>
  <p:cmAuthor id="454" name="張秀娟" initials="張" lastIdx="0" clrIdx="453"/>
  <p:cmAuthor id="455" name="Jason Wang" initials="J" lastIdx="0" clrIdx="454"/>
  <p:cmAuthor id="456" name="不明使用者18" initials="不" lastIdx="0" clrIdx="455"/>
  <p:cmAuthor id="457" name="未知的使用者72" initials="未" lastIdx="0" clrIdx="456"/>
  <p:cmAuthor id="458" name="未知的使用者48" initials="未" lastIdx="0" clrIdx="457"/>
  <p:cmAuthor id="459" name="Damon" initials="D" lastIdx="0" clrIdx="458"/>
  <p:cmAuthor id="460" name="未知用户60" initials="未" lastIdx="0" clrIdx="459"/>
  <p:cmAuthor id="461" name="Shawna Strickland" initials="S" lastIdx="0" clrIdx="460"/>
  <p:cmAuthor id="462" name="未知的使用者36" initials="未" lastIdx="0" clrIdx="461"/>
  <p:cmAuthor id="463" name="Daniel Wuu" initials="D" lastIdx="0" clrIdx="462"/>
  <p:cmAuthor id="464" name="未知的使用者14" initials="未" lastIdx="0" clrIdx="463"/>
  <p:cmAuthor id="465" name="Ashley Eberenz" initials="A" lastIdx="0" clrIdx="464"/>
  <p:cmAuthor id="466" name="不明使用者19" initials="不" lastIdx="0" clrIdx="465"/>
  <p:cmAuthor id="467" name="未知的使用者74" initials="未" lastIdx="0" clrIdx="466"/>
  <p:cmAuthor id="468" name="未知的使用者23" initials="未" lastIdx="0" clrIdx="467"/>
  <p:cmAuthor id="469" name="未知的使用者1" initials="未" lastIdx="0" clrIdx="468"/>
  <p:cmAuthor id="470" name="116304" initials="1" lastIdx="0" clrIdx="469"/>
  <p:cmAuthor id="471" name="R affer" initials="R" lastIdx="0" clrIdx="470"/>
  <p:cmAuthor id="472" name="qihua-DCMS" initials="q" lastIdx="0" clrIdx="471"/>
  <p:cmAuthor id="473" name="未知的使用者95" initials="未" lastIdx="0" clrIdx="472"/>
  <p:cmAuthor id="474" name="未知的使用者32" initials="未" lastIdx="0" clrIdx="473"/>
  <p:cmAuthor id="475" name="未知的使用者49" initials="未" lastIdx="0" clrIdx="474"/>
  <p:cmAuthor id="476" name="Unknown User26" initials="U" lastIdx="0" clrIdx="475"/>
  <p:cmAuthor id="477" name="yuexuejun" initials="y" lastIdx="0" clrIdx="476"/>
  <p:cmAuthor id="478" name="未知的使用者71" initials="未" lastIdx="0" clrIdx="477"/>
  <p:cmAuthor id="479" name="未知的使用者105" initials="未" lastIdx="0" clrIdx="478"/>
  <p:cmAuthor id="480" name="Unknown User70" initials="U" lastIdx="0" clrIdx="479"/>
  <p:cmAuthor id="481" name="clinchen" initials="c" lastIdx="0" clrIdx="480"/>
  <p:cmAuthor id="482" name="未知用户23" initials="未" lastIdx="0" clrIdx="481"/>
  <p:cmAuthor id="483" name="hanjuncompany" initials="h" lastIdx="0" clrIdx="482"/>
  <p:cmAuthor id="484" name="kathy chen" initials="k" lastIdx="0" clrIdx="483"/>
  <p:cmAuthor id="485" name="未知的使用者63" initials="未" lastIdx="0" clrIdx="484"/>
  <p:cmAuthor id="486" name="毕邺" initials="党委办公室" lastIdx="0" clrIdx="485"/>
  <p:cmAuthor id="487" name="未知的使用者47" initials="未" lastIdx="0" clrIdx="486"/>
  <p:cmAuthor id="488" name="未知的使用者60" initials="未" lastIdx="0" clrIdx="487"/>
  <p:cmAuthor id="489" name="未知的使用者59" initials="未" lastIdx="0" clrIdx="488"/>
  <p:cmAuthor id="490" name="未知的使用者54" initials="未" lastIdx="0" clrIdx="489"/>
  <p:cmAuthor id="491" name="未知的使用者106" initials="未" lastIdx="0" clrIdx="490"/>
  <p:cmAuthor id="492" name="未知的使用者107" initials="未" lastIdx="0" clrIdx="491"/>
  <p:cmAuthor id="493" name="未知的使用者108" initials="未" lastIdx="0" clrIdx="492"/>
  <p:cmAuthor id="494" name="未知的使用者86" initials="未" lastIdx="0" clrIdx="493"/>
  <p:cmAuthor id="495" name="未知的使用者116" initials="未" lastIdx="0" clrIdx="494"/>
  <p:cmAuthor id="496" name="未知的使用者44" initials="未" lastIdx="0" clrIdx="495"/>
  <p:cmAuthor id="497" name="未知的使用者37" initials="未" lastIdx="0" clrIdx="496"/>
  <p:cmAuthor id="498" name="未知的使用者126" initials="未" lastIdx="0" clrIdx="497"/>
  <p:cmAuthor id="499" name="未知的使用者127" initials="未" lastIdx="0" clrIdx="498"/>
  <p:cmAuthor id="500" name="未知的使用者128" initials="未" lastIdx="0" clrIdx="499"/>
  <p:cmAuthor id="501" name="未知的使用者124" initials="未" lastIdx="0" clrIdx="500"/>
  <p:cmAuthor id="502" name="未知的使用者125" initials="未" lastIdx="0" clrIdx="501"/>
  <p:cmAuthor id="503" name="Sara Chen" initials="S" lastIdx="0" clrIdx="502"/>
  <p:cmAuthor id="504" name="未知用户170" initials="未" lastIdx="0" clrIdx="503"/>
  <p:cmAuthor id="505" name="未知用户171" initials="未" lastIdx="0" clrIdx="504"/>
  <p:cmAuthor id="506" name="未知用户172" initials="未" lastIdx="0" clrIdx="505"/>
  <p:cmAuthor id="507" name="未知用户173" initials="未" lastIdx="0" clrIdx="506"/>
  <p:cmAuthor id="508" name="未知用户149" initials="未" lastIdx="0" clrIdx="507"/>
  <p:cmAuthor id="509" name="未知用户150" initials="未" lastIdx="0" clrIdx="508"/>
  <p:cmAuthor id="510" name="未知用户151" initials="未" lastIdx="0" clrIdx="509"/>
  <p:cmAuthor id="511" name="未知用户152" initials="未" lastIdx="0" clrIdx="510"/>
  <p:cmAuthor id="512" name="未知用户153" initials="未" lastIdx="0" clrIdx="511"/>
  <p:cmAuthor id="513" name="未知用户154" initials="未" lastIdx="0" clrIdx="512"/>
  <p:cmAuthor id="514" name="未知用户155" initials="未" lastIdx="0" clrIdx="513"/>
  <p:cmAuthor id="515" name="未知用户41" initials="未" lastIdx="0" clrIdx="514"/>
  <p:cmAuthor id="516" name="未知用户156" initials="未" lastIdx="0" clrIdx="515"/>
  <p:cmAuthor id="517" name="未知用户64" initials="未" lastIdx="0" clrIdx="516"/>
  <p:cmAuthor id="518" name="未知用户65" initials="未" lastIdx="0" clrIdx="517"/>
  <p:cmAuthor id="519" name="未知用户68" initials="未" lastIdx="0" clrIdx="518"/>
  <p:cmAuthor id="520" name="wangxiaoxuan@ha.cmcc" initials="w" lastIdx="0" clrIdx="519"/>
  <p:cmAuthor id="521" name="罗 罗" initials="罗" lastIdx="0" clrIdx="520"/>
  <p:cmAuthor id="522" name="86157" initials="8" lastIdx="0" clrIdx="521"/>
  <p:cmAuthor id="523" name="未知用户52" initials="未" lastIdx="0" clrIdx="522"/>
  <p:cmAuthor id="524" name="MA15" initials="M" lastIdx="0" clrIdx="523"/>
  <p:cmAuthor id="525" name="未知用户53" initials="未" lastIdx="0" clrIdx="524"/>
  <p:cmAuthor id="526" name="未知用户40" initials="未" lastIdx="0" clrIdx="525"/>
  <p:cmAuthor id="527" name="Mr.Wu" initials="M" lastIdx="0" clrIdx="526"/>
  <p:cmAuthor id="528" name="张静_Anua7Nne" initials="authorId_935319063" lastIdx="0" clrIdx="527"/>
  <p:cmAuthor id="529" name="未知用户26" initials="未" lastIdx="0" clrIdx="528"/>
  <p:cmAuthor id="530" name="tonghailan" initials="t" lastIdx="0" clrIdx="529"/>
  <p:cmAuthor id="531" name="未知用户42" initials="未" lastIdx="0" clrIdx="530"/>
  <p:cmAuthor id="532" name="未知的使用者109" initials="未" lastIdx="0" clrIdx="531"/>
  <p:cmAuthor id="533" name="未知的使用者122" initials="未" lastIdx="0" clrIdx="532"/>
  <p:cmAuthor id="534" name="未知的使用者123" initials="未" lastIdx="0" clrIdx="533"/>
  <p:cmAuthor id="535" name="Harry xu" initials="H" lastIdx="0" clrIdx="534"/>
  <p:cmAuthor id="536" name="未知用户35" initials="未" lastIdx="0" clrIdx="535"/>
  <p:cmAuthor id="537" name="未知用户111" initials="未" lastIdx="0" clrIdx="536"/>
  <p:cmAuthor id="538" name="alpha" initials="a" lastIdx="0" clrIdx="537"/>
  <p:cmAuthor id="539" name="Unknown User22" initials="U" lastIdx="0" clrIdx="538"/>
  <p:cmAuthor id="540" name="Unknown User23" initials="U" lastIdx="0" clrIdx="539"/>
  <p:cmAuthor id="541" name="未知的使用者75" initials="未" lastIdx="0" clrIdx="540"/>
  <p:cmAuthor id="542" name="未知的使用者77" initials="未" lastIdx="0" clrIdx="541"/>
  <p:cmAuthor id="543" name="未知的使用者78" initials="未" lastIdx="0" clrIdx="542"/>
  <p:cmAuthor id="544" name="程云静_Y3Azuy2A" initials="程" lastIdx="0" clrIdx="543"/>
  <p:cmAuthor id="545" name="未知的使用者80" initials="未" lastIdx="0" clrIdx="544"/>
  <p:cmAuthor id="546" name="方绍波|fangshaobo" initials="方" lastIdx="0" clrIdx="545"/>
  <p:cmAuthor id="547" name="未知的使用者82" initials="未" lastIdx="0" clrIdx="546"/>
  <p:cmAuthor id="548" name="15719214165@163.com" initials="1" lastIdx="0" clrIdx="547"/>
  <p:cmAuthor id="549" name="未知的使用者83" initials="未" lastIdx="0" clrIdx="548"/>
  <p:cmAuthor id="550" name="张 曦" initials="张" lastIdx="0" clrIdx="549"/>
  <p:cmAuthor id="551" name="未知的使用者84" initials="未" lastIdx="0" clrIdx="550"/>
  <p:cmAuthor id="552" name="zhangxiaodong@ha.cmcc" initials="z" lastIdx="0" clrIdx="551"/>
  <p:cmAuthor id="553" name="未知的使用者87" initials="未" lastIdx="0" clrIdx="552"/>
  <p:cmAuthor id="554" name="未知的使用者90" initials="未" lastIdx="0" clrIdx="553"/>
  <p:cmAuthor id="555" name="未知的使用者91" initials="未" lastIdx="0" clrIdx="554"/>
  <p:cmAuthor id="556" name="CHRISYU" initials="C" lastIdx="0" clrIdx="555"/>
  <p:cmAuthor id="557" name="胡益铭" initials="胡" lastIdx="0" clrIdx="556"/>
  <p:cmAuthor id="558" name="张璐" initials="张" lastIdx="0" clrIdx="557"/>
  <p:cmAuthor id="559" name="未知的使用者102" initials="未" lastIdx="0" clrIdx="558"/>
  <p:cmAuthor id="560" name="未知的使用者61" initials="未" lastIdx="0" clrIdx="559"/>
  <p:cmAuthor id="561" name="未知用户178" initials="未" lastIdx="0" clrIdx="560"/>
  <p:cmAuthor id="562" name="未知用户186" initials="未" lastIdx="0" clrIdx="561"/>
  <p:cmAuthor id="563" name="未知的使用者182" initials="未" lastIdx="0" clrIdx="562"/>
  <p:cmAuthor id="564" name="未知的使用者161" initials="未" lastIdx="0" clrIdx="563"/>
  <p:cmAuthor id="565" name="未知的使用者151" initials="未" lastIdx="0" clrIdx="564"/>
  <p:cmAuthor id="566" name="未知的使用者162" initials="未" lastIdx="0" clrIdx="565"/>
  <p:cmAuthor id="567" name="未知的使用者152" initials="未" lastIdx="0" clrIdx="566"/>
  <p:cmAuthor id="568" name="未知的使用者176" initials="未" lastIdx="0" clrIdx="567"/>
  <p:cmAuthor id="569" name="未知的使用者178" initials="未" lastIdx="0" clrIdx="568"/>
  <p:cmAuthor id="570" name="未知的使用者179" initials="未" lastIdx="0" clrIdx="569"/>
  <p:cmAuthor id="571" name="未知的使用者180" initials="未" lastIdx="0" clrIdx="570"/>
  <p:cmAuthor id="572" name="未知的使用者181" initials="未" lastIdx="0" clrIdx="571"/>
  <p:cmAuthor id="573" name="未知的使用者170" initials="未" lastIdx="0" clrIdx="572"/>
  <p:cmAuthor id="574" name="未知的使用者141" initials="未" lastIdx="0" clrIdx="573"/>
  <p:cmAuthor id="575" name="未知的使用者142" initials="未" lastIdx="0" clrIdx="574"/>
  <p:cmAuthor id="576" name="未知的使用者143" initials="未" lastIdx="0" clrIdx="575"/>
  <p:cmAuthor id="577" name="未知的使用者144" initials="未" lastIdx="0" clrIdx="576"/>
  <p:cmAuthor id="578" name="未知的使用者145" initials="未" lastIdx="0" clrIdx="577"/>
  <p:cmAuthor id="579" name="未知的使用者146" initials="未" lastIdx="0" clrIdx="578"/>
  <p:cmAuthor id="580" name="未知的使用者147" initials="未" lastIdx="0" clrIdx="579"/>
  <p:cmAuthor id="581" name="未知的使用者148" initials="未" lastIdx="0" clrIdx="580"/>
  <p:cmAuthor id="582" name="未知用户130" initials="未" lastIdx="0" clrIdx="581"/>
  <p:cmAuthor id="583" name="未知用户131" initials="未" lastIdx="0" clrIdx="582"/>
  <p:cmAuthor id="584" name="未知用户132" initials="未" lastIdx="0" clrIdx="583"/>
  <p:cmAuthor id="585" name="俊呈 賴" initials="俊" lastIdx="0" clrIdx="584"/>
  <p:cmAuthor id="586" name="Yoyo Wu" initials="Y" lastIdx="0" clrIdx="585"/>
  <p:cmAuthor id="587" name="超" initials="超" lastIdx="0" clrIdx="586"/>
  <p:cmAuthor id="588" name="zhangbin" initials="z" lastIdx="0" clrIdx="587"/>
  <p:cmAuthor id="589" name="haha" initials="h" lastIdx="0" clrIdx="588"/>
  <p:cmAuthor id="590" name="Arno.Du(杜明星)" initials="A" lastIdx="0" clrIdx="589"/>
  <p:cmAuthor id="591" name="未知用户174" initials="未" lastIdx="0" clrIdx="590"/>
  <p:cmAuthor id="592" name="Unknown User27" initials="U" lastIdx="0" clrIdx="591"/>
  <p:cmAuthor id="593" name="未知的使用者221" initials="未" lastIdx="0" clrIdx="592"/>
  <p:cmAuthor id="594" name="未知的使用者222" initials="未" lastIdx="0" clrIdx="593"/>
  <p:cmAuthor id="595" name="未知的使用者223" initials="未" lastIdx="0" clrIdx="594"/>
  <p:cmAuthor id="596" name="未知的使用者224" initials="未" lastIdx="0" clrIdx="595"/>
  <p:cmAuthor id="597" name="未知的使用者225" initials="未" lastIdx="0" clrIdx="596"/>
  <p:cmAuthor id="598" name="未知的使用者226" initials="未" lastIdx="0" clrIdx="597"/>
  <p:cmAuthor id="599" name="未知的使用者227" initials="未" lastIdx="0" clrIdx="598"/>
  <p:cmAuthor id="600" name="未知的使用者217" initials="未" lastIdx="0" clrIdx="599"/>
  <p:cmAuthor id="601" name="未知的使用者218" initials="未" lastIdx="0" clrIdx="600"/>
  <p:cmAuthor id="602" name="未知的使用者219" initials="未" lastIdx="0" clrIdx="601"/>
  <p:cmAuthor id="603" name="未知的使用者220" initials="未" lastIdx="0" clrIdx="602"/>
  <p:cmAuthor id="604" name="未知的使用者228" initials="未" lastIdx="0" clrIdx="603"/>
  <p:cmAuthor id="605" name="未知的使用者229" initials="未" lastIdx="0" clrIdx="604"/>
  <p:cmAuthor id="606" name="未知的使用者230" initials="未" lastIdx="0" clrIdx="605"/>
  <p:cmAuthor id="607" name="未知的使用者231" initials="未" lastIdx="0" clrIdx="606"/>
  <p:cmAuthor id="608" name="未知的使用者232" initials="未" lastIdx="0" clrIdx="607"/>
  <p:cmAuthor id="609" name="未知的使用者233" initials="未" lastIdx="0" clrIdx="608"/>
  <p:cmAuthor id="610" name="未知的使用者234" initials="未" lastIdx="0" clrIdx="609"/>
  <p:cmAuthor id="611" name="未知的使用者130" initials="未" lastIdx="0" clrIdx="610"/>
  <p:cmAuthor id="612" name="未知的使用者131" initials="未" lastIdx="0" clrIdx="611"/>
  <p:cmAuthor id="613" name="未知的使用者132" initials="未" lastIdx="0" clrIdx="612"/>
  <p:cmAuthor id="614" name="未知的使用者235" initials="未" lastIdx="0" clrIdx="613"/>
  <p:cmAuthor id="615" name="未知的使用者236" initials="未" lastIdx="0" clrIdx="614"/>
  <p:cmAuthor id="616" name="未知的使用者237" initials="未" lastIdx="0" clrIdx="615"/>
  <p:cmAuthor id="617" name="未知的使用者238" initials="未" lastIdx="0" clrIdx="616"/>
  <p:cmAuthor id="618" name="未知的使用者239" initials="未" lastIdx="0" clrIdx="617"/>
  <p:cmAuthor id="619" name="未知的使用者136" initials="未" lastIdx="0" clrIdx="618"/>
  <p:cmAuthor id="620" name="未知的使用者134" initials="未" lastIdx="0" clrIdx="619"/>
  <p:cmAuthor id="621" name="未知的使用者206" initials="未" lastIdx="0" clrIdx="620"/>
  <p:cmAuthor id="622" name="Kent" initials="K" lastIdx="0" clrIdx="621"/>
  <p:cmAuthor id="623" name="梅芬 吳" initials="梅" lastIdx="0" clrIdx="622"/>
  <p:cmAuthor id="624" name="王嘉偉" initials="王" lastIdx="0" clrIdx="623"/>
  <p:cmAuthor id="625" name="未知的使用者210" initials="未" lastIdx="0" clrIdx="624"/>
  <p:cmAuthor id="626" name="未知的使用者211" initials="未" lastIdx="0" clrIdx="625"/>
  <p:cmAuthor id="627" name="未知的使用者212" initials="未" lastIdx="0" clrIdx="626"/>
  <p:cmAuthor id="628" name="未知的使用者213" initials="未" lastIdx="0" clrIdx="627"/>
  <p:cmAuthor id="629" name="未知的使用者214" initials="未" lastIdx="0" clrIdx="628"/>
  <p:cmAuthor id="630" name="未知的使用者215" initials="未" lastIdx="0" clrIdx="629"/>
  <p:cmAuthor id="631" name="未知的使用者216" initials="未" lastIdx="0" clrIdx="630"/>
  <p:cmAuthor id="632" name="王丽君" initials="王" lastIdx="0" clrIdx="631"/>
  <p:cmAuthor id="633" name="Xia Ting" initials="X" lastIdx="0" clrIdx="632"/>
  <p:cmAuthor id="634" name="未知用户163" initials="未" lastIdx="0" clrIdx="633"/>
  <p:cmAuthor id="635" name="未知用户164" initials="未" lastIdx="0" clrIdx="634"/>
  <p:cmAuthor id="636" name="未知用户191" initials="未" lastIdx="0" clrIdx="635"/>
  <p:cmAuthor id="637" name="未知用户167" initials="未" lastIdx="0" clrIdx="636"/>
  <p:cmAuthor id="638" name="未知的使用者163" initials="未" lastIdx="0" clrIdx="637"/>
  <p:cmAuthor id="639" name="未知的使用者88" initials="未" lastIdx="0" clrIdx="638"/>
  <p:cmAuthor id="640" name="jerrychou" initials="j" lastIdx="0" clrIdx="639"/>
  <p:cmAuthor id="641" name="不明使用者12" initials="不" lastIdx="0" clrIdx="640"/>
  <p:cmAuthor id="642" name="不明使用者1" initials="不" lastIdx="0" clrIdx="641"/>
  <p:cmAuthor id="643" name="未知的使用者160" initials="未" lastIdx="0" clrIdx="642"/>
  <p:cmAuthor id="644" name="不明使用者7" initials="不" lastIdx="0" clrIdx="643"/>
  <p:cmAuthor id="645" name="未知用户120" initials="未" lastIdx="0" clrIdx="644"/>
  <p:cmAuthor id="646" name="未知用户122" initials="未" lastIdx="0" clrIdx="645"/>
  <p:cmAuthor id="647" name="不明使用者11" initials="不" lastIdx="0" clrIdx="646"/>
  <p:cmAuthor id="648" name="Unknown User24" initials="U" lastIdx="0" clrIdx="647"/>
  <p:cmAuthor id="649" name="未知用户145" initials="未" lastIdx="0" clrIdx="648"/>
  <p:cmAuthor id="650" name="未知用户119" initials="未" lastIdx="0" clrIdx="649"/>
  <p:cmAuthor id="651" name="丁生" initials="丁" lastIdx="0" clrIdx="650"/>
  <p:cmAuthor id="652" name="谢海英" initials="谢海英" lastIdx="0" clrIdx="651"/>
  <p:cmAuthor id="653" name="燕儿" initials="燕" lastIdx="0" clrIdx="652"/>
  <p:cmAuthor id="654" name="梁明珠" initials="梁明珠" lastIdx="0" clrIdx="653"/>
  <p:cmAuthor id="655" name="武智璇" initials="武" lastIdx="0" clrIdx="654"/>
  <p:cmAuthor id="656" name="liang ma" initials="l" lastIdx="0" clrIdx="655"/>
  <p:cmAuthor id="657" name="jinyaoguo" initials="j" lastIdx="0" clrIdx="656"/>
  <p:cmAuthor id="658" name="郭 里芬" initials="郭" lastIdx="0" clrIdx="657"/>
  <p:cmAuthor id="659" name="qsl" initials="q" lastIdx="0" clrIdx="658"/>
  <p:cmAuthor id="660" name="chw" initials="c" lastIdx="0" clrIdx="659"/>
  <p:cmAuthor id="661" name="张亚磊" initials="张" lastIdx="0" clrIdx="660"/>
  <p:cmAuthor id="662" name="刘小猛" initials="刘" lastIdx="0" clrIdx="661"/>
  <p:cmAuthor id="663" name="李博轩" initials="李" lastIdx="0" clrIdx="662"/>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4C61E7"/>
    <a:srgbClr val="204090"/>
    <a:srgbClr val="DAE3F3"/>
    <a:srgbClr val="F0F9F4"/>
    <a:srgbClr val="403080"/>
    <a:srgbClr val="FCFCFB"/>
    <a:srgbClr val="00C2C7"/>
    <a:srgbClr val="EAEEF1"/>
    <a:srgbClr val="0098D5"/>
    <a:srgbClr val="67BE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A111915-BE36-4E01-A7E5-04B1672EAD32}" styleName="浅色样式 2 - 强调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0126E9F6-41A6-44B7-8387-491034A24550}" styleName="表样式 1 25">
    <a:wholeTbl>
      <a:tcTxStyle>
        <a:fontRef idx="none">
          <a:srgbClr val="000000"/>
        </a:fontRef>
      </a:tcTxStyle>
      <a:tcStyle>
        <a:tcBdr>
          <a:left>
            <a:ln w="9525" cmpd="sng">
              <a:solidFill>
                <a:srgbClr val="4A62C7"/>
              </a:solidFill>
              <a:prstDash val="solid"/>
            </a:ln>
          </a:left>
          <a:right>
            <a:ln w="9525" cmpd="sng">
              <a:solidFill>
                <a:srgbClr val="4A62C7"/>
              </a:solidFill>
              <a:prstDash val="solid"/>
            </a:ln>
          </a:right>
          <a:top>
            <a:ln w="9525" cmpd="sng">
              <a:solidFill>
                <a:srgbClr val="4A62C7"/>
              </a:solidFill>
              <a:prstDash val="solid"/>
            </a:ln>
          </a:top>
          <a:bottom>
            <a:ln w="9525" cmpd="sng">
              <a:solidFill>
                <a:srgbClr val="4A62C7"/>
              </a:solidFill>
              <a:prstDash val="solid"/>
            </a:ln>
          </a:bottom>
          <a:insideH>
            <a:ln w="9525" cmpd="sng">
              <a:solidFill>
                <a:srgbClr val="4A62C7">
                  <a:lumMod val="40000"/>
                  <a:lumOff val="60000"/>
                </a:srgbClr>
              </a:solidFill>
              <a:prstDash val="solid"/>
            </a:ln>
          </a:insideH>
          <a:insideV>
            <a:ln w="9525" cmpd="sng">
              <a:solidFill>
                <a:srgbClr val="4A62C7">
                  <a:lumMod val="40000"/>
                  <a:lumOff val="60000"/>
                </a:srgbClr>
              </a:solidFill>
              <a:prstDash val="solid"/>
            </a:ln>
          </a:insideV>
        </a:tcBdr>
        <a:fill>
          <a:solidFill>
            <a:srgbClr val="FFFFFF"/>
          </a:solidFill>
        </a:fill>
      </a:tcStyle>
    </a:wholeTbl>
    <a:band2H>
      <a:tcStyle>
        <a:tcBdr/>
        <a:fill>
          <a:solidFill>
            <a:srgbClr val="4A62C7">
              <a:lumMod val="10000"/>
              <a:lumOff val="90000"/>
            </a:srgbClr>
          </a:solidFill>
        </a:fill>
      </a:tcStyle>
    </a:band2H>
    <a:band1V>
      <a:tcStyle>
        <a:tcBdr>
          <a:left>
            <a:ln w="9525" cmpd="sng">
              <a:solidFill>
                <a:srgbClr val="4A62C7"/>
              </a:solidFill>
              <a:prstDash val="solid"/>
            </a:ln>
          </a:left>
          <a:right>
            <a:ln w="9525" cmpd="sng">
              <a:solidFill>
                <a:srgbClr val="4A62C7"/>
              </a:solidFill>
              <a:prstDash val="solid"/>
            </a:ln>
          </a:right>
          <a:top>
            <a:ln w="9525" cmpd="sng">
              <a:solidFill>
                <a:srgbClr val="4A62C7"/>
              </a:solidFill>
              <a:prstDash val="solid"/>
            </a:ln>
          </a:top>
          <a:bottom>
            <a:ln w="9525" cmpd="sng">
              <a:solidFill>
                <a:srgbClr val="4A62C7"/>
              </a:solidFill>
              <a:prstDash val="solid"/>
            </a:ln>
          </a:bottom>
          <a:insideH>
            <a:ln w="9525" cmpd="sng">
              <a:solidFill>
                <a:srgbClr val="4A62C7">
                  <a:lumMod val="40000"/>
                  <a:lumOff val="60000"/>
                </a:srgbClr>
              </a:solidFill>
              <a:prstDash val="solid"/>
            </a:ln>
          </a:insideH>
          <a:insideV>
            <a:ln w="9525" cmpd="sng">
              <a:solidFill>
                <a:srgbClr val="4A62C7">
                  <a:lumMod val="40000"/>
                  <a:lumOff val="60000"/>
                </a:srgbClr>
              </a:solidFill>
              <a:prstDash val="solid"/>
            </a:ln>
          </a:insideV>
        </a:tcBdr>
        <a:fill>
          <a:solidFill>
            <a:srgbClr val="4A62C7">
              <a:lumMod val="10000"/>
              <a:lumOff val="90000"/>
            </a:srgbClr>
          </a:solidFill>
        </a:fill>
      </a:tcStyle>
    </a:band1V>
    <a:band2V>
      <a:tcStyle>
        <a:tcBdr>
          <a:left>
            <a:ln w="9525" cmpd="sng">
              <a:solidFill>
                <a:srgbClr val="4A62C7">
                  <a:lumMod val="40000"/>
                  <a:lumOff val="60000"/>
                </a:srgbClr>
              </a:solidFill>
              <a:prstDash val="solid"/>
            </a:ln>
          </a:left>
          <a:right>
            <a:ln w="9525" cmpd="sng">
              <a:solidFill>
                <a:srgbClr val="4A62C7">
                  <a:lumMod val="40000"/>
                  <a:lumOff val="60000"/>
                </a:srgbClr>
              </a:solidFill>
              <a:prstDash val="solid"/>
            </a:ln>
          </a:right>
          <a:top>
            <a:ln w="9525" cmpd="sng">
              <a:solidFill>
                <a:srgbClr val="4A62C7"/>
              </a:solidFill>
              <a:prstDash val="solid"/>
            </a:ln>
          </a:top>
          <a:bottom>
            <a:ln w="9525" cmpd="sng">
              <a:solidFill>
                <a:srgbClr val="4A62C7"/>
              </a:solidFill>
              <a:prstDash val="solid"/>
            </a:ln>
          </a:bottom>
          <a:insideH>
            <a:ln w="9525" cmpd="sng">
              <a:solidFill>
                <a:srgbClr val="4A62C7">
                  <a:lumMod val="40000"/>
                  <a:lumOff val="60000"/>
                </a:srgbClr>
              </a:solidFill>
              <a:prstDash val="solid"/>
            </a:ln>
          </a:insideH>
          <a:insideV>
            <a:ln>
              <a:noFill/>
            </a:ln>
          </a:insideV>
        </a:tcBdr>
      </a:tcStyle>
    </a:band2V>
    <a:lastCol>
      <a:tcTxStyle b="on">
        <a:fontRef idx="none">
          <a:srgbClr val="FFFFFF"/>
        </a:fontRef>
      </a:tcTxStyle>
      <a:tcStyle>
        <a:tcBdr>
          <a:left>
            <a:ln w="9525" cmpd="sng">
              <a:solidFill>
                <a:srgbClr val="4A62C7"/>
              </a:solidFill>
              <a:prstDash val="solid"/>
            </a:ln>
          </a:left>
          <a:right>
            <a:ln w="9525" cmpd="sng">
              <a:solidFill>
                <a:srgbClr val="4A62C7"/>
              </a:solidFill>
              <a:prstDash val="solid"/>
            </a:ln>
          </a:right>
          <a:top>
            <a:ln w="9525" cmpd="sng">
              <a:solidFill>
                <a:srgbClr val="4A62C7"/>
              </a:solidFill>
              <a:prstDash val="solid"/>
            </a:ln>
          </a:top>
          <a:bottom>
            <a:ln w="9525" cmpd="sng">
              <a:solidFill>
                <a:srgbClr val="4A62C7"/>
              </a:solidFill>
              <a:prstDash val="solid"/>
            </a:ln>
          </a:bottom>
          <a:insideH>
            <a:ln w="9525" cmpd="sng">
              <a:solidFill>
                <a:srgbClr val="4A62C7">
                  <a:lumMod val="40000"/>
                  <a:lumOff val="60000"/>
                </a:srgbClr>
              </a:solidFill>
              <a:prstDash val="solid"/>
            </a:ln>
          </a:insideH>
          <a:insideV>
            <a:ln>
              <a:noFill/>
            </a:ln>
          </a:insideV>
        </a:tcBdr>
        <a:fill>
          <a:solidFill>
            <a:srgbClr val="4A62C7"/>
          </a:solidFill>
        </a:fill>
      </a:tcStyle>
    </a:lastCol>
    <a:firstCol>
      <a:tcTxStyle b="on">
        <a:fontRef idx="none">
          <a:schemeClr val="tx1"/>
        </a:fontRef>
      </a:tcTxStyle>
      <a:tcStyle>
        <a:tcBdr>
          <a:left>
            <a:ln w="9525" cmpd="sng">
              <a:solidFill>
                <a:srgbClr val="4A62C7"/>
              </a:solidFill>
              <a:prstDash val="solid"/>
            </a:ln>
          </a:left>
          <a:right>
            <a:ln w="9525" cmpd="sng">
              <a:solidFill>
                <a:srgbClr val="4A62C7">
                  <a:lumMod val="40000"/>
                  <a:lumOff val="60000"/>
                </a:srgbClr>
              </a:solidFill>
              <a:prstDash val="solid"/>
            </a:ln>
          </a:right>
          <a:top>
            <a:ln w="9525" cmpd="sng">
              <a:solidFill>
                <a:srgbClr val="4A62C7"/>
              </a:solidFill>
              <a:prstDash val="solid"/>
            </a:ln>
          </a:top>
          <a:bottom>
            <a:ln w="9525" cmpd="sng">
              <a:solidFill>
                <a:srgbClr val="4A62C7"/>
              </a:solidFill>
              <a:prstDash val="solid"/>
            </a:ln>
          </a:bottom>
          <a:insideH>
            <a:ln w="9525" cmpd="sng">
              <a:solidFill>
                <a:srgbClr val="4A62C7">
                  <a:lumMod val="40000"/>
                  <a:lumOff val="60000"/>
                </a:srgbClr>
              </a:solidFill>
              <a:prstDash val="solid"/>
            </a:ln>
          </a:insideH>
          <a:insideV>
            <a:ln>
              <a:noFill/>
            </a:ln>
          </a:insideV>
        </a:tcBdr>
        <a:fill>
          <a:solidFill>
            <a:srgbClr val="4A62C7">
              <a:lumMod val="20000"/>
              <a:lumOff val="80000"/>
            </a:srgbClr>
          </a:solidFill>
        </a:fill>
      </a:tcStyle>
    </a:firstCol>
    <a:lastRow>
      <a:tcTxStyle b="on">
        <a:fontRef idx="none">
          <a:srgbClr val="4A62C7"/>
        </a:fontRef>
      </a:tcTxStyle>
      <a:tcStyle>
        <a:tcBdr>
          <a:left>
            <a:ln w="9525" cmpd="sng">
              <a:solidFill>
                <a:srgbClr val="4A62C7"/>
              </a:solidFill>
              <a:prstDash val="solid"/>
            </a:ln>
          </a:left>
          <a:right>
            <a:ln w="9525" cmpd="sng">
              <a:solidFill>
                <a:srgbClr val="4A62C7"/>
              </a:solidFill>
              <a:prstDash val="solid"/>
            </a:ln>
          </a:right>
          <a:top>
            <a:ln w="9525" cmpd="sng">
              <a:solidFill>
                <a:srgbClr val="4A62C7"/>
              </a:solidFill>
              <a:prstDash val="solid"/>
            </a:ln>
          </a:top>
          <a:bottom>
            <a:ln w="9525" cmpd="sng">
              <a:solidFill>
                <a:srgbClr val="4A62C7"/>
              </a:solidFill>
              <a:prstDash val="solid"/>
            </a:ln>
          </a:bottom>
          <a:insideH>
            <a:ln>
              <a:noFill/>
            </a:ln>
          </a:insideH>
          <a:insideV>
            <a:ln w="9525" cmpd="sng">
              <a:solidFill>
                <a:srgbClr val="4A62C7">
                  <a:lumMod val="40000"/>
                  <a:lumOff val="60000"/>
                </a:srgbClr>
              </a:solidFill>
              <a:prstDash val="solid"/>
            </a:ln>
          </a:insideV>
        </a:tcBdr>
      </a:tcStyle>
    </a:lastRow>
    <a:seCell>
      <a:tcStyle>
        <a:tcBdr>
          <a:left>
            <a:ln w="9525" cmpd="sng">
              <a:solidFill>
                <a:srgbClr val="4A62C7">
                  <a:lumMod val="40000"/>
                  <a:lumOff val="60000"/>
                </a:srgbClr>
              </a:solidFill>
              <a:prstDash val="solid"/>
            </a:ln>
          </a:left>
          <a:right>
            <a:ln w="9525" cmpd="sng">
              <a:solidFill>
                <a:srgbClr val="4A62C7"/>
              </a:solidFill>
              <a:prstDash val="solid"/>
            </a:ln>
          </a:right>
          <a:top>
            <a:ln w="9525" cmpd="sng">
              <a:solidFill>
                <a:srgbClr val="4A62C7"/>
              </a:solidFill>
              <a:prstDash val="solid"/>
            </a:ln>
          </a:top>
          <a:bottom>
            <a:ln w="9525" cmpd="sng">
              <a:solidFill>
                <a:srgbClr val="4A62C7"/>
              </a:solidFill>
              <a:prstDash val="solid"/>
            </a:ln>
          </a:bottom>
          <a:insideH>
            <a:ln>
              <a:noFill/>
            </a:ln>
          </a:insideH>
          <a:insideV>
            <a:ln>
              <a:noFill/>
            </a:ln>
          </a:insideV>
        </a:tcBdr>
        <a:fill>
          <a:solidFill>
            <a:srgbClr val="FFFFFF"/>
          </a:solidFill>
        </a:fill>
      </a:tcStyle>
    </a:seCell>
    <a:swCell>
      <a:tcTxStyle b="on">
        <a:fontRef idx="none">
          <a:srgbClr val="4A62C7"/>
        </a:fontRef>
      </a:tcTxStyle>
      <a:tcStyle>
        <a:tcBdr>
          <a:left>
            <a:ln w="9525" cmpd="sng">
              <a:solidFill>
                <a:srgbClr val="4A62C7"/>
              </a:solidFill>
              <a:prstDash val="solid"/>
            </a:ln>
          </a:left>
          <a:right>
            <a:ln w="9525" cmpd="sng">
              <a:solidFill>
                <a:srgbClr val="4A62C7">
                  <a:lumMod val="40000"/>
                  <a:lumOff val="60000"/>
                </a:srgbClr>
              </a:solidFill>
              <a:prstDash val="solid"/>
            </a:ln>
          </a:right>
          <a:top>
            <a:ln w="9525" cmpd="sng">
              <a:solidFill>
                <a:srgbClr val="4A62C7"/>
              </a:solidFill>
              <a:prstDash val="solid"/>
            </a:ln>
          </a:top>
          <a:bottom>
            <a:ln w="9525" cmpd="sng">
              <a:solidFill>
                <a:srgbClr val="4A62C7"/>
              </a:solidFill>
              <a:prstDash val="solid"/>
            </a:ln>
          </a:bottom>
          <a:insideH>
            <a:ln>
              <a:noFill/>
            </a:ln>
          </a:insideH>
          <a:insideV>
            <a:ln>
              <a:noFill/>
            </a:ln>
          </a:insideV>
        </a:tcBdr>
        <a:fill>
          <a:solidFill>
            <a:srgbClr val="FFFFFF"/>
          </a:solidFill>
        </a:fill>
      </a:tcStyle>
    </a:swCell>
    <a:firstRow>
      <a:tcTxStyle b="on">
        <a:fontRef idx="none">
          <a:srgbClr val="FFFFFF"/>
        </a:fontRef>
      </a:tcTxStyle>
      <a:tcStyle>
        <a:tcBdr>
          <a:left>
            <a:ln w="9525" cmpd="sng">
              <a:solidFill>
                <a:srgbClr val="4A62C7"/>
              </a:solidFill>
              <a:prstDash val="solid"/>
            </a:ln>
          </a:left>
          <a:right>
            <a:ln w="9525" cmpd="sng">
              <a:solidFill>
                <a:srgbClr val="4A62C7"/>
              </a:solidFill>
              <a:prstDash val="solid"/>
            </a:ln>
          </a:right>
          <a:top>
            <a:ln w="9525" cmpd="sng">
              <a:solidFill>
                <a:srgbClr val="4A62C7"/>
              </a:solidFill>
              <a:prstDash val="solid"/>
            </a:ln>
          </a:top>
          <a:bottom>
            <a:ln w="9525" cmpd="sng">
              <a:solidFill>
                <a:srgbClr val="4A62C7"/>
              </a:solidFill>
              <a:prstDash val="solid"/>
            </a:ln>
          </a:bottom>
          <a:insideH>
            <a:ln>
              <a:noFill/>
            </a:ln>
          </a:insideH>
          <a:insideV>
            <a:ln w="9525" cmpd="sng">
              <a:solidFill>
                <a:srgbClr val="4A62C7">
                  <a:lumMod val="40000"/>
                  <a:lumOff val="60000"/>
                </a:srgbClr>
              </a:solidFill>
              <a:prstDash val="solid"/>
            </a:ln>
          </a:insideV>
        </a:tcBdr>
        <a:fill>
          <a:solidFill>
            <a:srgbClr val="4A62C7"/>
          </a:solidFill>
        </a:fill>
      </a:tcStyle>
    </a:firstRow>
    <a:neCell>
      <a:tcStyle>
        <a:tcBdr>
          <a:left>
            <a:ln w="9525" cmpd="sng">
              <a:solidFill>
                <a:srgbClr val="4A62C7">
                  <a:lumMod val="40000"/>
                  <a:lumOff val="60000"/>
                </a:srgbClr>
              </a:solidFill>
              <a:prstDash val="solid"/>
            </a:ln>
          </a:left>
          <a:right>
            <a:ln w="9525" cmpd="sng">
              <a:solidFill>
                <a:srgbClr val="4A62C7"/>
              </a:solidFill>
              <a:prstDash val="solid"/>
            </a:ln>
          </a:right>
          <a:top>
            <a:ln w="9525" cmpd="sng">
              <a:solidFill>
                <a:srgbClr val="4A62C7"/>
              </a:solidFill>
              <a:prstDash val="solid"/>
            </a:ln>
          </a:top>
          <a:bottom>
            <a:ln w="9525" cmpd="sng">
              <a:solidFill>
                <a:srgbClr val="4A62C7">
                  <a:lumMod val="40000"/>
                  <a:lumOff val="60000"/>
                </a:srgbClr>
              </a:solidFill>
              <a:prstDash val="solid"/>
            </a:ln>
          </a:bottom>
          <a:insideH>
            <a:ln>
              <a:noFill/>
            </a:ln>
          </a:insideH>
          <a:insideV>
            <a:ln>
              <a:noFill/>
            </a:ln>
          </a:insideV>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4" d="100"/>
          <a:sy n="114" d="100"/>
        </p:scale>
        <p:origin x="41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slide" Target="slides/slide2.xml"/><Relationship Id="rId6" Type="http://schemas.openxmlformats.org/officeDocument/2006/relationships/notesMaster" Target="notesMasters/notesMaster1.xml"/><Relationship Id="rId5" Type="http://schemas.openxmlformats.org/officeDocument/2006/relationships/slide" Target="slides/slide1.xml"/><Relationship Id="rId4" Type="http://schemas.openxmlformats.org/officeDocument/2006/relationships/slideMaster" Target="slideMasters/slideMaster3.xml"/><Relationship Id="rId30" Type="http://schemas.openxmlformats.org/officeDocument/2006/relationships/tags" Target="tags/tag210.xml"/><Relationship Id="rId3" Type="http://schemas.openxmlformats.org/officeDocument/2006/relationships/slideMaster" Target="slideMasters/slideMaster2.xml"/><Relationship Id="rId29" Type="http://schemas.openxmlformats.org/officeDocument/2006/relationships/commentAuthors" Target="commentAuthors.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4" Type="http://schemas.microsoft.com/office/2011/relationships/chartColorStyle" Target="colors1.xml"/><Relationship Id="rId3" Type="http://schemas.microsoft.com/office/2011/relationships/chartStyle" Target="style1.xml"/><Relationship Id="rId2" Type="http://schemas.openxmlformats.org/officeDocument/2006/relationships/themeOverride" Target="../theme/themeOverride1.xml"/><Relationship Id="rId1" Type="http://schemas.openxmlformats.org/officeDocument/2006/relationships/oleObject" Target="/Users/macos/Desktop/For%20Work/&#27969;&#31243;%26&#35013;&#22791;/&#23458;&#25143;&#27719;&#25253;/&#24456;&#22810;&#40060;/&#25253;&#21578;&#27169;&#26495;/&#24456;&#22810;&#40060;&#23433;&#20840;&#36816;&#33829;&#24037;&#20316;&#25253;&#21578;-20250801.xlsx" TargetMode="External"/></Relationships>
</file>

<file path=ppt/charts/_rels/chart2.xml.rels><?xml version="1.0" encoding="UTF-8" standalone="yes"?>
<Relationships xmlns="http://schemas.openxmlformats.org/package/2006/relationships"><Relationship Id="rId3" Type="http://schemas.microsoft.com/office/2011/relationships/chartColorStyle" Target="colors2.xml"/><Relationship Id="rId2" Type="http://schemas.microsoft.com/office/2011/relationships/chartStyle" Target="style2.xml"/><Relationship Id="rId1" Type="http://schemas.openxmlformats.org/officeDocument/2006/relationships/oleObject" Target="/Users/macos/Library/Containers/com.tencent.WeWorkMac/Data/WeDrive/&#28145;&#20449;&#26381;&#31185;&#25216;&#32929;&#20221;&#26377;&#38480;&#20844;&#21496;/CSM%20&#35013;&#22791;&#24211;-2025/&#27719;&#25253;%26&#27807;&#36890;/&#20215;&#20540;%26&#26041;&#26696;&#27719;&#25253;/&#12304;&#20225;&#19994;&#12305;&#23433;&#20840;&#36816;&#33829;&#24037;&#20316;&#25253;&#21578;&#25903;&#25745;&#25968;&#25454;.xlsx" TargetMode="External"/></Relationships>
</file>

<file path=ppt/charts/_rels/chart3.xml.rels><?xml version="1.0" encoding="UTF-8" standalone="yes"?>
<Relationships xmlns="http://schemas.openxmlformats.org/package/2006/relationships"><Relationship Id="rId4" Type="http://schemas.microsoft.com/office/2011/relationships/chartColorStyle" Target="colors3.xml"/><Relationship Id="rId3" Type="http://schemas.microsoft.com/office/2011/relationships/chartStyle" Target="style3.xml"/><Relationship Id="rId2" Type="http://schemas.openxmlformats.org/officeDocument/2006/relationships/themeOverride" Target="../theme/themeOverride2.xml"/><Relationship Id="rId1" Type="http://schemas.openxmlformats.org/officeDocument/2006/relationships/oleObject" Target="/Users/macos/Library/Containers/com.tencent.WeWorkMac/Data/WeDrive/&#28145;&#20449;&#26381;&#31185;&#25216;&#32929;&#20221;&#26377;&#38480;&#20844;&#21496;/CSM%20&#35013;&#22791;&#24211;-2025/&#27719;&#25253;%26&#27807;&#36890;/&#20215;&#20540;%26&#26041;&#26696;&#27719;&#25253;/&#12304;&#20225;&#19994;&#12305;&#23433;&#20840;&#36816;&#33829;&#24037;&#20316;&#25253;&#21578;&#25903;&#25745;&#25968;&#25454;.xlsx" TargetMode="External"/></Relationships>
</file>

<file path=ppt/charts/_rels/chart4.xml.rels><?xml version="1.0" encoding="UTF-8" standalone="yes"?>
<Relationships xmlns="http://schemas.openxmlformats.org/package/2006/relationships"><Relationship Id="rId3" Type="http://schemas.microsoft.com/office/2011/relationships/chartColorStyle" Target="colors4.xml"/><Relationship Id="rId2" Type="http://schemas.microsoft.com/office/2011/relationships/chartStyle" Target="style4.xml"/><Relationship Id="rId1" Type="http://schemas.openxmlformats.org/officeDocument/2006/relationships/oleObject" Target="/Users/macos/Desktop/For%20Work/&#27969;&#31243;%26&#35013;&#22791;/&#23458;&#25143;&#27719;&#25253;/&#24456;&#22810;&#40060;/&#25253;&#21578;&#27169;&#26495;/&#24456;&#22810;&#40060;&#23433;&#20840;&#36816;&#33829;&#24037;&#20316;&#25253;&#21578;-20250801.xlsx" TargetMode="External"/></Relationships>
</file>

<file path=ppt/charts/_rels/chart5.xml.rels><?xml version="1.0" encoding="UTF-8" standalone="yes"?>
<Relationships xmlns="http://schemas.openxmlformats.org/package/2006/relationships"><Relationship Id="rId3" Type="http://schemas.microsoft.com/office/2011/relationships/chartColorStyle" Target="colors5.xml"/><Relationship Id="rId2" Type="http://schemas.microsoft.com/office/2011/relationships/chartStyle" Target="style5.xml"/><Relationship Id="rId1" Type="http://schemas.openxmlformats.org/officeDocument/2006/relationships/oleObject" Target="/Users/macos/Desktop/For%20Work/&#27969;&#31243;%26&#35013;&#22791;/&#23458;&#25143;&#27719;&#25253;/&#24456;&#22810;&#40060;/&#25253;&#21578;&#27169;&#26495;/&#24456;&#22810;&#40060;&#23433;&#20840;&#36816;&#33829;&#24037;&#20316;&#25253;&#21578;-20250801.xlsx" TargetMode="External"/></Relationships>
</file>

<file path=ppt/charts/_rels/chart6.xml.rels><?xml version="1.0" encoding="UTF-8" standalone="yes"?>
<Relationships xmlns="http://schemas.openxmlformats.org/package/2006/relationships"><Relationship Id="rId3" Type="http://schemas.microsoft.com/office/2011/relationships/chartColorStyle" Target="colors6.xml"/><Relationship Id="rId2" Type="http://schemas.microsoft.com/office/2011/relationships/chartStyle" Target="style6.xml"/><Relationship Id="rId1" Type="http://schemas.openxmlformats.org/officeDocument/2006/relationships/oleObject" Target="/Users/macos/Desktop/For%20Work/&#27969;&#31243;%26&#35013;&#22791;/&#23458;&#25143;&#27719;&#25253;/&#24456;&#22810;&#40060;/20250731/&#22806;&#37096;&#25915;&#20987;&#25968;&#25454;&#30475;&#26495;.xlsx" TargetMode="External"/></Relationships>
</file>

<file path=ppt/charts/_rels/chart7.xml.rels><?xml version="1.0" encoding="UTF-8" standalone="yes"?>
<Relationships xmlns="http://schemas.openxmlformats.org/package/2006/relationships"><Relationship Id="rId3" Type="http://schemas.microsoft.com/office/2011/relationships/chartColorStyle" Target="colors7.xml"/><Relationship Id="rId2" Type="http://schemas.microsoft.com/office/2011/relationships/chartStyle" Target="style7.xml"/><Relationship Id="rId1" Type="http://schemas.openxmlformats.org/officeDocument/2006/relationships/oleObject" Target="/Users/macos/Desktop/For%20Work/&#27969;&#31243;%26&#35013;&#22791;/&#23458;&#25143;&#27719;&#25253;/&#24456;&#22810;&#40060;/20250731/&#22806;&#37096;&#25915;&#20987;&#25968;&#25454;&#30475;&#26495;.xlsx" TargetMode="External"/></Relationships>
</file>

<file path=ppt/charts/_rels/chart8.xml.rels><?xml version="1.0" encoding="UTF-8" standalone="yes"?>
<Relationships xmlns="http://schemas.openxmlformats.org/package/2006/relationships"><Relationship Id="rId4" Type="http://schemas.microsoft.com/office/2011/relationships/chartColorStyle" Target="colors8.xml"/><Relationship Id="rId3" Type="http://schemas.microsoft.com/office/2011/relationships/chartStyle" Target="style8.xml"/><Relationship Id="rId2" Type="http://schemas.openxmlformats.org/officeDocument/2006/relationships/themeOverride" Target="../theme/themeOverride3.xml"/><Relationship Id="rId1" Type="http://schemas.openxmlformats.org/officeDocument/2006/relationships/oleObject" Target="/Users/macos/Desktop/For%20Work/&#27969;&#31243;%26&#35013;&#22791;/&#23458;&#25143;&#27719;&#25253;/&#24456;&#22810;&#40060;/&#25253;&#21578;&#27169;&#26495;/&#24456;&#22810;&#40060;&#23433;&#20840;&#36816;&#33829;&#24037;&#20316;&#25253;&#21578;-20250801.xlsx" TargetMode="External"/></Relationships>
</file>

<file path=ppt/charts/_rels/chart9.xml.rels><?xml version="1.0" encoding="UTF-8" standalone="yes"?>
<Relationships xmlns="http://schemas.openxmlformats.org/package/2006/relationships"><Relationship Id="rId3" Type="http://schemas.microsoft.com/office/2011/relationships/chartColorStyle" Target="colors9.xml"/><Relationship Id="rId2" Type="http://schemas.microsoft.com/office/2011/relationships/chartStyle" Target="style9.xml"/><Relationship Id="rId1" Type="http://schemas.openxmlformats.org/officeDocument/2006/relationships/oleObject" Target="/Users/zenghl/Library/Containers/com.tencent.WeWorkMac/Data/WeDrive/&#28145;&#20449;&#26381;&#31185;&#25216;&#32929;&#20221;&#26377;&#38480;&#20844;&#21496;/CSM%20&#35013;&#22791;&#24211;/buyer%20&#20215;&#20540;&#29702;&#35299;&#19982;&#21576;&#29616;/&#20215;&#20540;%26&#26041;&#26696;&#27719;&#25253;/AI&#25253;&#21578;&#25903;&#25745;&#25968;&#25454;&#27169;&#26495;&#65288;%20&#20445;&#23384;&#26412;&#22320;&#20462;&#25913;&#25991;&#20214;&#21517;&#31216;&#21518;&#20877;&#32534;&#36753;&#65292;&#19981;&#35201;&#22312;&#24494;&#30424;&#30452;&#25509;&#32534;&#36753;&#65289;.xlsx" TargetMode="External"/></Relationships>
</file>

<file path=ppt/charts/_rels/chart10.xml.rels><?xml version="1.0" encoding="UTF-8" standalone="yes"?>
<Relationships xmlns="http://schemas.openxmlformats.org/package/2006/relationships"><Relationship Id="rId3" Type="http://schemas.microsoft.com/office/2011/relationships/chartColorStyle" Target="colors10.xml"/><Relationship Id="rId2" Type="http://schemas.microsoft.com/office/2011/relationships/chartStyle" Target="style10.xml"/><Relationship Id="rId1" Type="http://schemas.openxmlformats.org/officeDocument/2006/relationships/oleObject" Target="/Users/macos/Desktop/For%20Work/&#27969;&#31243;%26&#35013;&#22791;/&#23458;&#25143;&#27719;&#25253;/&#24456;&#22810;&#40060;/&#25253;&#21578;&#27169;&#26495;/&#24456;&#22810;&#40060;&#23433;&#20840;&#36816;&#33829;&#24037;&#20316;&#25253;&#21578;-20250801.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doughnutChart>
        <c:varyColors val="1"/>
        <c:ser>
          <c:idx val="0"/>
          <c:order val="0"/>
          <c:spPr>
            <a:solidFill>
              <a:schemeClr val="accent1">
                <a:alpha val="85000"/>
              </a:schemeClr>
            </a:solidFill>
          </c:spPr>
          <c:explosion val="0"/>
          <c:dPt>
            <c:idx val="0"/>
            <c:bubble3D val="0"/>
            <c:spPr>
              <a:solidFill>
                <a:schemeClr val="accent1">
                  <a:alpha val="85000"/>
                </a:schemeClr>
              </a:solidFill>
              <a:ln w="19050">
                <a:solidFill>
                  <a:schemeClr val="lt1"/>
                </a:solidFill>
              </a:ln>
              <a:effectLst/>
            </c:spPr>
          </c:dPt>
          <c:dPt>
            <c:idx val="1"/>
            <c:bubble3D val="0"/>
            <c:spPr>
              <a:solidFill>
                <a:schemeClr val="accent2">
                  <a:alpha val="85000"/>
                </a:schemeClr>
              </a:solidFill>
              <a:ln w="19050">
                <a:solidFill>
                  <a:schemeClr val="lt1"/>
                </a:solidFill>
              </a:ln>
              <a:effectLst/>
            </c:spPr>
          </c:dPt>
          <c:dPt>
            <c:idx val="2"/>
            <c:bubble3D val="0"/>
            <c:spPr>
              <a:solidFill>
                <a:schemeClr val="accent3">
                  <a:alpha val="85000"/>
                </a:schemeClr>
              </a:solidFill>
              <a:ln w="19050">
                <a:solidFill>
                  <a:schemeClr val="lt1"/>
                </a:solidFill>
              </a:ln>
              <a:effectLst/>
            </c:spPr>
          </c:dPt>
          <c:dPt>
            <c:idx val="3"/>
            <c:bubble3D val="0"/>
            <c:spPr>
              <a:solidFill>
                <a:schemeClr val="accent4">
                  <a:alpha val="85000"/>
                </a:schemeClr>
              </a:solidFill>
              <a:ln w="19050">
                <a:solidFill>
                  <a:schemeClr val="lt1"/>
                </a:solidFill>
              </a:ln>
              <a:effectLst/>
            </c:spPr>
          </c:dPt>
          <c:dPt>
            <c:idx val="4"/>
            <c:bubble3D val="0"/>
            <c:spPr>
              <a:solidFill>
                <a:schemeClr val="accent5">
                  <a:alpha val="85000"/>
                </a:schemeClr>
              </a:solidFill>
              <a:ln w="19050">
                <a:solidFill>
                  <a:schemeClr val="lt1"/>
                </a:solidFill>
              </a:ln>
              <a:effectLst/>
            </c:spPr>
          </c:dPt>
          <c:dLbls>
            <c:numFmt formatCode="General" sourceLinked="1"/>
            <c:spPr>
              <a:noFill/>
              <a:ln>
                <a:noFill/>
              </a:ln>
              <a:effectLst/>
            </c:spPr>
            <c:txPr>
              <a:bodyPr rot="0" spcFirstLastPara="0" vertOverflow="ellipsis" vert="horz" wrap="square" lIns="38100" tIns="19050" rIns="38100" bIns="19050" anchor="ctr" anchorCtr="1" forceAA="0">
                <a:spAutoFit/>
              </a:bodyPr>
              <a:lstStyle/>
              <a:p>
                <a:pPr>
                  <a:defRPr lang="zh-CN" sz="900" b="0" i="0" u="none" strike="noStrike" kern="1200" baseline="0">
                    <a:solidFill>
                      <a:schemeClr val="bg2">
                        <a:lumMod val="1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showLegendKey val="0"/>
            <c:showVal val="0"/>
            <c:showCatName val="0"/>
            <c:showSerName val="0"/>
            <c:showPercent val="1"/>
            <c:showBubbleSize val="0"/>
            <c:separator>
</c:separator>
            <c:showLeaderLines val="0"/>
            <c:extLst>
              <c:ext xmlns:c15="http://schemas.microsoft.com/office/drawing/2012/chart" uri="{CE6537A1-D6FC-4f65-9D91-7224C49458BB}">
                <c15:layout/>
                <c15:showLeaderLines val="0"/>
                <c15:leaderLines>
                  <c:spPr>
                    <a:ln w="9525" cap="flat" cmpd="sng" algn="ctr">
                      <a:solidFill>
                        <a:schemeClr val="tx1">
                          <a:lumMod val="35000"/>
                          <a:lumOff val="65000"/>
                        </a:schemeClr>
                      </a:solidFill>
                      <a:round/>
                    </a:ln>
                    <a:effectLst/>
                  </c:spPr>
                </c15:leaderLines>
              </c:ext>
            </c:extLst>
          </c:dLbls>
          <c:cat>
            <c:strRef>
              <c:f>'[很多鱼安全运营工作报告-20250801.xlsx]数据统计'!$C$65:$C$69</c:f>
              <c:strCache>
                <c:ptCount val="5"/>
                <c:pt idx="0">
                  <c:v>挖矿</c:v>
                </c:pt>
                <c:pt idx="1" c:formatCode="mmm\-yy">
                  <c:v>僵尸网络</c:v>
                </c:pt>
                <c:pt idx="2" c:formatCode="mmm\-yy">
                  <c:v>木马</c:v>
                </c:pt>
                <c:pt idx="3" c:formatCode="mmm\-yy">
                  <c:v>账号爆破</c:v>
                </c:pt>
                <c:pt idx="4" c:formatCode="mmm\-yy">
                  <c:v>代理工具</c:v>
                </c:pt>
              </c:strCache>
            </c:strRef>
          </c:cat>
          <c:val>
            <c:numRef>
              <c:f>'[很多鱼安全运营工作报告-20250801.xlsx]数据统计'!$D$65:$D$69</c:f>
              <c:numCache>
                <c:formatCode>General</c:formatCode>
                <c:ptCount val="5"/>
                <c:pt idx="0">
                  <c:v>76</c:v>
                </c:pt>
                <c:pt idx="1">
                  <c:v>39</c:v>
                </c:pt>
                <c:pt idx="2">
                  <c:v>31</c:v>
                </c:pt>
                <c:pt idx="3">
                  <c:v>26</c:v>
                </c:pt>
                <c:pt idx="4">
                  <c:v>11</c:v>
                </c:pt>
              </c:numCache>
            </c:numRef>
          </c:val>
        </c:ser>
        <c:dLbls>
          <c:showLegendKey val="0"/>
          <c:showVal val="1"/>
          <c:showCatName val="0"/>
          <c:showSerName val="0"/>
          <c:showPercent val="0"/>
          <c:showBubbleSize val="0"/>
          <c:showLeaderLines val="0"/>
        </c:dLbls>
        <c:firstSliceAng val="0"/>
        <c:holeSize val="50"/>
      </c:doughnutChart>
      <c:spPr>
        <a:noFill/>
        <a:ln>
          <a:noFill/>
        </a:ln>
        <a:effectLst/>
      </c:spPr>
    </c:plotArea>
    <c:legend>
      <c:legendPos val="r"/>
      <c:legendEntry>
        <c:idx val="0"/>
        <c:txPr>
          <a:bodyPr rot="0" spcFirstLastPara="0" vertOverflow="ellipsis" vert="horz" wrap="square" anchor="ctr" anchorCtr="1"/>
          <a:lstStyle/>
          <a:p>
            <a:pPr>
              <a:defRPr lang="zh-CN" sz="900" b="0" i="0" u="none" strike="noStrike" kern="1200" baseline="0">
                <a:solidFill>
                  <a:schemeClr val="bg2">
                    <a:lumMod val="1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legendEntry>
      <c:legendEntry>
        <c:idx val="1"/>
        <c:txPr>
          <a:bodyPr rot="0" spcFirstLastPara="0" vertOverflow="ellipsis" vert="horz" wrap="square" anchor="ctr" anchorCtr="1"/>
          <a:lstStyle/>
          <a:p>
            <a:pPr>
              <a:defRPr lang="zh-CN" sz="900" b="0" i="0" u="none" strike="noStrike" kern="1200" baseline="0">
                <a:solidFill>
                  <a:schemeClr val="bg2">
                    <a:lumMod val="1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legendEntry>
      <c:legendEntry>
        <c:idx val="2"/>
        <c:txPr>
          <a:bodyPr rot="0" spcFirstLastPara="0" vertOverflow="ellipsis" vert="horz" wrap="square" anchor="ctr" anchorCtr="1"/>
          <a:lstStyle/>
          <a:p>
            <a:pPr>
              <a:defRPr lang="zh-CN" sz="900" b="0" i="0" u="none" strike="noStrike" kern="1200" baseline="0">
                <a:solidFill>
                  <a:schemeClr val="bg2">
                    <a:lumMod val="1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legendEntry>
      <c:legendEntry>
        <c:idx val="3"/>
        <c:txPr>
          <a:bodyPr rot="0" spcFirstLastPara="0" vertOverflow="ellipsis" vert="horz" wrap="square" anchor="ctr" anchorCtr="1"/>
          <a:lstStyle/>
          <a:p>
            <a:pPr>
              <a:defRPr lang="zh-CN" sz="900" b="0" i="0" u="none" strike="noStrike" kern="1200" baseline="0">
                <a:solidFill>
                  <a:schemeClr val="bg2">
                    <a:lumMod val="1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legendEntry>
      <c:legendEntry>
        <c:idx val="4"/>
        <c:txPr>
          <a:bodyPr rot="0" spcFirstLastPara="0" vertOverflow="ellipsis" vert="horz" wrap="square" anchor="ctr" anchorCtr="1"/>
          <a:lstStyle/>
          <a:p>
            <a:pPr>
              <a:defRPr lang="zh-CN" sz="900" b="0" i="0" u="none" strike="noStrike" kern="1200" baseline="0">
                <a:solidFill>
                  <a:schemeClr val="bg2">
                    <a:lumMod val="1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legendEntry>
      <c:layout>
        <c:manualLayout>
          <c:xMode val="edge"/>
          <c:yMode val="edge"/>
          <c:x val="0.753644622860765"/>
          <c:y val="0.229474852071006"/>
        </c:manualLayout>
      </c:layout>
      <c:overlay val="0"/>
      <c:spPr>
        <a:noFill/>
        <a:ln>
          <a:noFill/>
        </a:ln>
        <a:effectLst/>
      </c:spPr>
      <c:txPr>
        <a:bodyPr rot="0" spcFirstLastPara="0" vertOverflow="ellipsis" vert="horz" wrap="square" anchor="ctr" anchorCtr="1"/>
        <a:lstStyle/>
        <a:p>
          <a:pPr>
            <a:defRPr lang="zh-CN" sz="900" b="0" i="0" u="none" strike="noStrike" kern="1200" baseline="0">
              <a:solidFill>
                <a:schemeClr val="bg2">
                  <a:lumMod val="1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legend>
    <c:plotVisOnly val="1"/>
    <c:dispBlanksAs val="gap"/>
    <c:showDLblsOverMax val="0"/>
    <c:extLst>
      <c:ext uri="{0b15fc19-7d7d-44ad-8c2d-2c3a37ce22c3}">
        <chartProps xmlns="https://web.wps.cn/et/2018/main" chartId="{cf5dbc7a-5cc6-4b26-af76-042b7a275857}"/>
      </c:ext>
    </c:extLst>
  </c:chart>
  <c:spPr>
    <a:noFill/>
    <a:ln w="6350" cap="flat" cmpd="sng" algn="ctr">
      <a:noFill/>
      <a:round/>
    </a:ln>
    <a:effectLst/>
  </c:spPr>
  <c:txPr>
    <a:bodyPr/>
    <a:lstStyle/>
    <a:p>
      <a:pPr>
        <a:defRPr lang="zh-CN">
          <a:solidFill>
            <a:schemeClr val="bg2">
              <a:lumMod val="1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0614410134600158"/>
          <c:y val="0.197183098591549"/>
          <c:w val="0.909527579836368"/>
          <c:h val="0.643213828425096"/>
        </c:manualLayout>
      </c:layout>
      <c:barChart>
        <c:barDir val="col"/>
        <c:grouping val="clustered"/>
        <c:varyColors val="0"/>
        <c:ser>
          <c:idx val="0"/>
          <c:order val="0"/>
          <c:tx>
            <c:strRef>
              <c:f>"平均处置时间（分钟）"</c:f>
              <c:strCache>
                <c:ptCount val="1"/>
                <c:pt idx="0">
                  <c:v>平均处置时间（分钟）</c:v>
                </c:pt>
              </c:strCache>
            </c:strRef>
          </c:tx>
          <c:spPr>
            <a:solidFill>
              <a:schemeClr val="accent1"/>
            </a:solidFill>
            <a:ln>
              <a:noFill/>
            </a:ln>
            <a:effectLst/>
          </c:spPr>
          <c:invertIfNegative val="0"/>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75000"/>
                        <a:lumOff val="25000"/>
                      </a:schemeClr>
                    </a:solidFill>
                    <a:latin typeface="黑体-简" panose="02000000000000000000" charset="-122"/>
                    <a:ea typeface="黑体-简" panose="02000000000000000000" charset="-122"/>
                    <a:cs typeface="黑体-简" panose="02000000000000000000" charset="-122"/>
                    <a:sym typeface="黑体-简" panose="02000000000000000000" charset="-122"/>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[【企业】安全运营工作报告支撑数据.xlsx]数据统计!$F$5:$F$8</c:f>
              <c:strCache>
                <c:ptCount val="4"/>
                <c:pt idx="0">
                  <c:v>识别</c:v>
                </c:pt>
                <c:pt idx="1">
                  <c:v>响应</c:v>
                </c:pt>
                <c:pt idx="2">
                  <c:v>处置</c:v>
                </c:pt>
                <c:pt idx="3">
                  <c:v>闭环</c:v>
                </c:pt>
              </c:strCache>
            </c:strRef>
          </c:cat>
          <c:val>
            <c:numRef>
              <c:f>[【企业】安全运营工作报告支撑数据.xlsx]数据统计!$G$5:$G$8</c:f>
              <c:numCache>
                <c:formatCode>0.00_ </c:formatCode>
                <c:ptCount val="4"/>
                <c:pt idx="0">
                  <c:v>6.41666666666667</c:v>
                </c:pt>
                <c:pt idx="1">
                  <c:v>25.4666666666667</c:v>
                </c:pt>
                <c:pt idx="2">
                  <c:v>572.016666666667</c:v>
                </c:pt>
                <c:pt idx="3">
                  <c:v>625.383333333333</c:v>
                </c:pt>
              </c:numCache>
            </c:numRef>
          </c:val>
        </c:ser>
        <c:dLbls>
          <c:showLegendKey val="0"/>
          <c:showVal val="1"/>
          <c:showCatName val="0"/>
          <c:showSerName val="0"/>
          <c:showPercent val="0"/>
          <c:showBubbleSize val="0"/>
        </c:dLbls>
        <c:gapWidth val="246"/>
        <c:overlap val="-28"/>
        <c:axId val="590885613"/>
        <c:axId val="82692506"/>
      </c:barChart>
      <c:catAx>
        <c:axId val="590885613"/>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黑体-简" panose="02000000000000000000" charset="-122"/>
                <a:ea typeface="黑体-简" panose="02000000000000000000" charset="-122"/>
                <a:cs typeface="黑体-简" panose="02000000000000000000" charset="-122"/>
                <a:sym typeface="黑体-简" panose="02000000000000000000" charset="-122"/>
              </a:defRPr>
            </a:pPr>
          </a:p>
        </c:txPr>
        <c:crossAx val="82692506"/>
        <c:crosses val="autoZero"/>
        <c:auto val="1"/>
        <c:lblAlgn val="ctr"/>
        <c:lblOffset val="100"/>
        <c:noMultiLvlLbl val="0"/>
      </c:catAx>
      <c:valAx>
        <c:axId val="82692506"/>
        <c:scaling>
          <c:orientation val="minMax"/>
        </c:scaling>
        <c:delete val="0"/>
        <c:axPos val="l"/>
        <c:numFmt formatCode="0.00_ " sourceLinked="1"/>
        <c:majorTickMark val="none"/>
        <c:minorTickMark val="none"/>
        <c:tickLblPos val="nextTo"/>
        <c:spPr>
          <a:noFill/>
          <a:ln>
            <a:noFill/>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黑体-简" panose="02000000000000000000" charset="-122"/>
                <a:ea typeface="黑体-简" panose="02000000000000000000" charset="-122"/>
                <a:cs typeface="黑体-简" panose="02000000000000000000" charset="-122"/>
                <a:sym typeface="黑体-简" panose="02000000000000000000" charset="-122"/>
              </a:defRPr>
            </a:pPr>
          </a:p>
        </c:txPr>
        <c:crossAx val="590885613"/>
        <c:crosses val="autoZero"/>
        <c:crossBetween val="between"/>
      </c:valAx>
      <c:spPr>
        <a:noFill/>
        <a:ln>
          <a:noFill/>
        </a:ln>
        <a:effectLst/>
      </c:spPr>
    </c:plotArea>
    <c:plotVisOnly val="1"/>
    <c:dispBlanksAs val="gap"/>
    <c:showDLblsOverMax val="0"/>
    <c:extLst>
      <c:ext uri="{0b15fc19-7d7d-44ad-8c2d-2c3a37ce22c3}">
        <chartProps xmlns="https://web.wps.cn/et/2018/main" chartId="{cef48926-0801-4678-bbba-55d6b9c9ec19}"/>
      </c:ext>
    </c:extLst>
  </c:chart>
  <c:spPr>
    <a:noFill/>
    <a:ln w="9525" cap="flat" cmpd="sng" algn="ctr">
      <a:noFill/>
      <a:prstDash val="solid"/>
      <a:round/>
    </a:ln>
    <a:effectLst/>
  </c:spPr>
  <c:txPr>
    <a:bodyPr/>
    <a:lstStyle/>
    <a:p>
      <a:pPr>
        <a:defRPr lang="zh-CN">
          <a:latin typeface="黑体-简" panose="02000000000000000000" charset="-122"/>
          <a:ea typeface="黑体-简" panose="02000000000000000000" charset="-122"/>
          <a:cs typeface="黑体-简" panose="02000000000000000000" charset="-122"/>
          <a:sym typeface="黑体-简" panose="02000000000000000000" charset="-122"/>
        </a:defRPr>
      </a:p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lineChart>
        <c:grouping val="standard"/>
        <c:varyColors val="0"/>
        <c:ser>
          <c:idx val="0"/>
          <c:order val="0"/>
          <c:tx>
            <c:strRef>
              <c:f>[【企业】安全运营工作报告支撑数据.xlsx]数据统计!$L$84</c:f>
              <c:strCache>
                <c:ptCount val="1"/>
                <c:pt idx="0">
                  <c:v>平均响应时长</c:v>
                </c:pt>
              </c:strCache>
            </c:strRef>
          </c:tx>
          <c:spPr>
            <a:ln w="28575" cap="rnd">
              <a:solidFill>
                <a:schemeClr val="accent1"/>
              </a:solidFill>
              <a:round/>
            </a:ln>
            <a:effectLst/>
          </c:spPr>
          <c:marker>
            <c:symbol val="none"/>
          </c:marker>
          <c:dLbls>
            <c:numFmt formatCode="General" sourceLinked="1"/>
            <c:spPr>
              <a:noFill/>
              <a:ln>
                <a:noFill/>
              </a:ln>
              <a:effectLst/>
            </c:spPr>
            <c:txPr>
              <a:bodyPr rot="0" spcFirstLastPara="0" vertOverflow="ellipsis" vert="horz" wrap="square" lIns="38100" tIns="19050" rIns="38100" bIns="19050" anchor="ctr" anchorCtr="1" forceAA="0"/>
              <a:lstStyle/>
              <a:p>
                <a:pPr>
                  <a:defRPr lang="zh-CN" sz="1000" b="0" i="0" u="none" strike="noStrike" kern="1200" baseline="0">
                    <a:solidFill>
                      <a:schemeClr val="tx1">
                        <a:lumMod val="75000"/>
                        <a:lumOff val="25000"/>
                      </a:schemeClr>
                    </a:solidFill>
                    <a:latin typeface="黑体-简" panose="02000000000000000000" charset="-122"/>
                    <a:ea typeface="黑体-简" panose="02000000000000000000" charset="-122"/>
                    <a:cs typeface="黑体-简" panose="02000000000000000000" charset="-122"/>
                    <a:sym typeface="黑体-简" panose="02000000000000000000" charset="-122"/>
                  </a:defRPr>
                </a:pPr>
              </a:p>
            </c:txPr>
            <c:dLblPos val="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[【企业】安全运营工作报告支撑数据.xlsx]数据统计!$M$83:$U$83</c:f>
              <c:strCache>
                <c:ptCount val="9"/>
                <c:pt idx="0">
                  <c:v>2025-03</c:v>
                </c:pt>
                <c:pt idx="1" c:formatCode="yyyy/m/d">
                  <c:v>2025-04</c:v>
                </c:pt>
                <c:pt idx="2" c:formatCode="yyyy/m/d">
                  <c:v>2025-05</c:v>
                </c:pt>
                <c:pt idx="3" c:formatCode="yyyy/m/d">
                  <c:v>2025-06</c:v>
                </c:pt>
                <c:pt idx="4" c:formatCode="yyyy/m/d">
                  <c:v>2025-07</c:v>
                </c:pt>
                <c:pt idx="5" c:formatCode="yyyy/m/d">
                  <c:v>2025-08</c:v>
                </c:pt>
                <c:pt idx="6" c:formatCode="yyyy/m/d">
                  <c:v>2025-09</c:v>
                </c:pt>
                <c:pt idx="7" c:formatCode="yyyy/m/d">
                  <c:v>2025-10</c:v>
                </c:pt>
                <c:pt idx="8" c:formatCode="yyyy/m/d">
                  <c:v>2025-11</c:v>
                </c:pt>
              </c:strCache>
            </c:strRef>
          </c:cat>
          <c:val>
            <c:numRef>
              <c:f>[【企业】安全运营工作报告支撑数据.xlsx]数据统计!$M$84:$U$84</c:f>
              <c:numCache>
                <c:formatCode>0.00_ </c:formatCode>
                <c:ptCount val="9"/>
                <c:pt idx="0">
                  <c:v>26.6</c:v>
                </c:pt>
                <c:pt idx="1">
                  <c:v>15.25</c:v>
                </c:pt>
                <c:pt idx="2">
                  <c:v>0</c:v>
                </c:pt>
                <c:pt idx="3">
                  <c:v>18</c:v>
                </c:pt>
                <c:pt idx="4">
                  <c:v>10.6666666666667</c:v>
                </c:pt>
                <c:pt idx="5">
                  <c:v>0</c:v>
                </c:pt>
                <c:pt idx="6">
                  <c:v>0</c:v>
                </c:pt>
                <c:pt idx="7">
                  <c:v>0</c:v>
                </c:pt>
                <c:pt idx="8">
                  <c:v>0</c:v>
                </c:pt>
              </c:numCache>
            </c:numRef>
          </c:val>
          <c:smooth val="0"/>
        </c:ser>
        <c:dLbls>
          <c:showLegendKey val="0"/>
          <c:showVal val="1"/>
          <c:showCatName val="0"/>
          <c:showSerName val="0"/>
          <c:showPercent val="0"/>
          <c:showBubbleSize val="0"/>
        </c:dLbls>
        <c:marker val="0"/>
        <c:smooth val="0"/>
        <c:axId val="926048702"/>
        <c:axId val="51301949"/>
      </c:lineChart>
      <c:catAx>
        <c:axId val="92604870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forceAA="0"/>
          <a:lstStyle/>
          <a:p>
            <a:pPr>
              <a:defRPr lang="zh-CN" sz="900" b="0" i="0" u="none" strike="noStrike" kern="1200" baseline="0">
                <a:solidFill>
                  <a:schemeClr val="tx1">
                    <a:lumMod val="65000"/>
                    <a:lumOff val="35000"/>
                  </a:schemeClr>
                </a:solidFill>
                <a:latin typeface="黑体-简" panose="02000000000000000000" charset="-122"/>
                <a:ea typeface="黑体-简" panose="02000000000000000000" charset="-122"/>
                <a:cs typeface="黑体-简" panose="02000000000000000000" charset="-122"/>
                <a:sym typeface="黑体-简" panose="02000000000000000000" charset="-122"/>
              </a:defRPr>
            </a:pPr>
          </a:p>
        </c:txPr>
        <c:crossAx val="51301949"/>
        <c:crosses val="autoZero"/>
        <c:auto val="1"/>
        <c:lblAlgn val="ctr"/>
        <c:lblOffset val="100"/>
        <c:noMultiLvlLbl val="0"/>
      </c:catAx>
      <c:valAx>
        <c:axId val="51301949"/>
        <c:scaling>
          <c:orientation val="minMax"/>
        </c:scaling>
        <c:delete val="0"/>
        <c:axPos val="l"/>
        <c:numFmt formatCode="0.00_ " sourceLinked="1"/>
        <c:majorTickMark val="none"/>
        <c:minorTickMark val="none"/>
        <c:tickLblPos val="nextTo"/>
        <c:spPr>
          <a:noFill/>
          <a:ln>
            <a:noFill/>
          </a:ln>
          <a:effectLst/>
        </c:spPr>
        <c:txPr>
          <a:bodyPr rot="-60000000" spcFirstLastPara="0" vertOverflow="ellipsis" vert="horz" wrap="square" anchor="ctr" anchorCtr="1" forceAA="0"/>
          <a:lstStyle/>
          <a:p>
            <a:pPr>
              <a:defRPr lang="zh-CN" sz="900" b="0" i="0" u="none" strike="noStrike" kern="1200" baseline="0">
                <a:solidFill>
                  <a:schemeClr val="tx1">
                    <a:lumMod val="65000"/>
                    <a:lumOff val="35000"/>
                  </a:schemeClr>
                </a:solidFill>
                <a:latin typeface="黑体-简" panose="02000000000000000000" charset="-122"/>
                <a:ea typeface="黑体-简" panose="02000000000000000000" charset="-122"/>
                <a:cs typeface="黑体-简" panose="02000000000000000000" charset="-122"/>
                <a:sym typeface="黑体-简" panose="02000000000000000000" charset="-122"/>
              </a:defRPr>
            </a:pPr>
          </a:p>
        </c:txPr>
        <c:crossAx val="926048702"/>
        <c:crosses val="autoZero"/>
        <c:crossBetween val="between"/>
      </c:valAx>
      <c:spPr>
        <a:noFill/>
        <a:ln>
          <a:noFill/>
        </a:ln>
        <a:effectLst/>
      </c:spPr>
    </c:plotArea>
    <c:plotVisOnly val="1"/>
    <c:dispBlanksAs val="gap"/>
    <c:showDLblsOverMax val="0"/>
    <c:extLst>
      <c:ext uri="{0b15fc19-7d7d-44ad-8c2d-2c3a37ce22c3}">
        <chartProps xmlns="https://web.wps.cn/et/2018/main" chartId="{7964f97f-5aff-427a-b710-d3e8487abdf3}"/>
      </c:ext>
    </c:extLst>
  </c:chart>
  <c:spPr>
    <a:noFill/>
    <a:ln w="9525" cap="flat" cmpd="sng" algn="ctr">
      <a:noFill/>
      <a:prstDash val="solid"/>
      <a:round/>
    </a:ln>
    <a:effectLst/>
  </c:spPr>
  <c:txPr>
    <a:bodyPr/>
    <a:lstStyle/>
    <a:p>
      <a:pPr>
        <a:defRPr lang="zh-CN" b="0">
          <a:latin typeface="黑体-简" panose="02000000000000000000" charset="-122"/>
          <a:ea typeface="黑体-简" panose="02000000000000000000" charset="-122"/>
          <a:cs typeface="黑体-简" panose="02000000000000000000" charset="-122"/>
          <a:sym typeface="黑体-简" panose="02000000000000000000" charset="-122"/>
        </a:defRPr>
      </a:p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'[很多鱼安全运营工作报告-20250801.xlsx]数据统计'!$C$47</c:f>
              <c:strCache>
                <c:ptCount val="1"/>
                <c:pt idx="0">
                  <c:v>外部攻击数</c:v>
                </c:pt>
              </c:strCache>
            </c:strRef>
          </c:tx>
          <c:spPr>
            <a:ln w="28575" cap="rnd">
              <a:solidFill>
                <a:schemeClr val="accent6"/>
              </a:solidFill>
              <a:round/>
            </a:ln>
            <a:effectLst/>
          </c:spPr>
          <c:marker>
            <c:symbol val="none"/>
          </c:marker>
          <c:dLbls>
            <c:spPr>
              <a:noFill/>
              <a:ln>
                <a:noFill/>
              </a:ln>
              <a:effectLst/>
            </c:spPr>
            <c:txPr>
              <a:bodyPr rot="0" spcFirstLastPara="0" vertOverflow="ellipsis" vert="horz" wrap="square" lIns="38100" tIns="19050" rIns="38100" bIns="19050" anchor="ctr" anchorCtr="1"/>
              <a:lstStyle/>
              <a:p>
                <a:pPr>
                  <a:defRPr lang="zh-CN" sz="600" b="0" i="0" u="none" strike="noStrike" kern="1200" baseline="0">
                    <a:solidFill>
                      <a:schemeClr val="tx1">
                        <a:lumMod val="75000"/>
                        <a:lumOff val="25000"/>
                      </a:schemeClr>
                    </a:solidFill>
                    <a:latin typeface="+mn-lt"/>
                    <a:ea typeface="+mn-ea"/>
                    <a:cs typeface="+mn-cs"/>
                  </a:defRPr>
                </a:pPr>
              </a:p>
            </c:txPr>
            <c:dLblPos val="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'[很多鱼安全运营工作报告-20250801.xlsx]数据统计'!$D$46:$O$46</c:f>
              <c:numCache>
                <c:formatCode>mmm\-yy</c:formatCode>
                <c:ptCount val="12"/>
                <c:pt idx="0" c:formatCode="mmm\-yy">
                  <c:v>45505</c:v>
                </c:pt>
                <c:pt idx="1" c:formatCode="mmm\-yy">
                  <c:v>45536</c:v>
                </c:pt>
                <c:pt idx="2" c:formatCode="mmm\-yy">
                  <c:v>45566</c:v>
                </c:pt>
                <c:pt idx="3" c:formatCode="mmm\-yy">
                  <c:v>45597</c:v>
                </c:pt>
                <c:pt idx="4" c:formatCode="mmm\-yy">
                  <c:v>45627</c:v>
                </c:pt>
                <c:pt idx="5" c:formatCode="mmm\-yy">
                  <c:v>45658</c:v>
                </c:pt>
                <c:pt idx="6" c:formatCode="mmm\-yy">
                  <c:v>45689</c:v>
                </c:pt>
                <c:pt idx="7" c:formatCode="mmm\-yy">
                  <c:v>45717</c:v>
                </c:pt>
                <c:pt idx="8" c:formatCode="mmm\-yy">
                  <c:v>45748</c:v>
                </c:pt>
                <c:pt idx="9" c:formatCode="mmm\-yy">
                  <c:v>45778</c:v>
                </c:pt>
                <c:pt idx="10" c:formatCode="mmm\-yy">
                  <c:v>45809</c:v>
                </c:pt>
                <c:pt idx="11" c:formatCode="mmm\-yy">
                  <c:v>45839</c:v>
                </c:pt>
              </c:numCache>
            </c:numRef>
          </c:cat>
          <c:val>
            <c:numRef>
              <c:f>'[很多鱼安全运营工作报告-20250801.xlsx]数据统计'!$D$47:$O$47</c:f>
              <c:numCache>
                <c:formatCode>0\.0,"万"</c:formatCode>
                <c:ptCount val="12"/>
                <c:pt idx="0">
                  <c:v>64198</c:v>
                </c:pt>
                <c:pt idx="1">
                  <c:v>35890</c:v>
                </c:pt>
                <c:pt idx="2">
                  <c:v>12478</c:v>
                </c:pt>
                <c:pt idx="3">
                  <c:v>5613</c:v>
                </c:pt>
                <c:pt idx="4">
                  <c:v>704</c:v>
                </c:pt>
                <c:pt idx="5">
                  <c:v>902</c:v>
                </c:pt>
                <c:pt idx="6">
                  <c:v>2412</c:v>
                </c:pt>
                <c:pt idx="7">
                  <c:v>1362</c:v>
                </c:pt>
                <c:pt idx="8">
                  <c:v>5696</c:v>
                </c:pt>
                <c:pt idx="9">
                  <c:v>9140</c:v>
                </c:pt>
                <c:pt idx="10">
                  <c:v>4126</c:v>
                </c:pt>
                <c:pt idx="11">
                  <c:v>4675</c:v>
                </c:pt>
              </c:numCache>
            </c:numRef>
          </c:val>
          <c:smooth val="0"/>
        </c:ser>
        <c:ser>
          <c:idx val="1"/>
          <c:order val="1"/>
          <c:tx>
            <c:strRef>
              <c:f>'[很多鱼安全运营工作报告-20250801.xlsx]数据统计'!$C$48</c:f>
              <c:strCache>
                <c:ptCount val="1"/>
                <c:pt idx="0">
                  <c:v>恶意外联数</c:v>
                </c:pt>
              </c:strCache>
            </c:strRef>
          </c:tx>
          <c:spPr>
            <a:ln w="28575" cap="rnd">
              <a:solidFill>
                <a:schemeClr val="accent5"/>
              </a:solidFill>
              <a:round/>
            </a:ln>
            <a:effectLst/>
          </c:spPr>
          <c:marker>
            <c:symbol val="none"/>
          </c:marker>
          <c:dLbls>
            <c:spPr>
              <a:noFill/>
              <a:ln>
                <a:noFill/>
              </a:ln>
              <a:effectLst/>
            </c:spPr>
            <c:txPr>
              <a:bodyPr rot="0" spcFirstLastPara="0" vertOverflow="ellipsis" vert="horz" wrap="square" lIns="38100" tIns="19050" rIns="38100" bIns="19050" anchor="ctr" anchorCtr="1"/>
              <a:lstStyle/>
              <a:p>
                <a:pPr>
                  <a:defRPr lang="zh-CN" sz="600" b="0" i="0" u="none" strike="noStrike" kern="1200" baseline="0">
                    <a:solidFill>
                      <a:schemeClr val="tx1">
                        <a:lumMod val="75000"/>
                        <a:lumOff val="25000"/>
                      </a:schemeClr>
                    </a:solidFill>
                    <a:latin typeface="+mn-lt"/>
                    <a:ea typeface="+mn-ea"/>
                    <a:cs typeface="+mn-cs"/>
                  </a:defRPr>
                </a:pPr>
              </a:p>
            </c:txPr>
            <c:dLblPos val="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'[很多鱼安全运营工作报告-20250801.xlsx]数据统计'!$D$46:$O$46</c:f>
              <c:numCache>
                <c:formatCode>mmm\-yy</c:formatCode>
                <c:ptCount val="12"/>
                <c:pt idx="0" c:formatCode="mmm\-yy">
                  <c:v>45505</c:v>
                </c:pt>
                <c:pt idx="1" c:formatCode="mmm\-yy">
                  <c:v>45536</c:v>
                </c:pt>
                <c:pt idx="2" c:formatCode="mmm\-yy">
                  <c:v>45566</c:v>
                </c:pt>
                <c:pt idx="3" c:formatCode="mmm\-yy">
                  <c:v>45597</c:v>
                </c:pt>
                <c:pt idx="4" c:formatCode="mmm\-yy">
                  <c:v>45627</c:v>
                </c:pt>
                <c:pt idx="5" c:formatCode="mmm\-yy">
                  <c:v>45658</c:v>
                </c:pt>
                <c:pt idx="6" c:formatCode="mmm\-yy">
                  <c:v>45689</c:v>
                </c:pt>
                <c:pt idx="7" c:formatCode="mmm\-yy">
                  <c:v>45717</c:v>
                </c:pt>
                <c:pt idx="8" c:formatCode="mmm\-yy">
                  <c:v>45748</c:v>
                </c:pt>
                <c:pt idx="9" c:formatCode="mmm\-yy">
                  <c:v>45778</c:v>
                </c:pt>
                <c:pt idx="10" c:formatCode="mmm\-yy">
                  <c:v>45809</c:v>
                </c:pt>
                <c:pt idx="11" c:formatCode="mmm\-yy">
                  <c:v>45839</c:v>
                </c:pt>
              </c:numCache>
            </c:numRef>
          </c:cat>
          <c:val>
            <c:numRef>
              <c:f>'[很多鱼安全运营工作报告-20250801.xlsx]数据统计'!$D$48:$O$48</c:f>
              <c:numCache>
                <c:formatCode>0\.0,"万"</c:formatCode>
                <c:ptCount val="12"/>
                <c:pt idx="0">
                  <c:v>770729</c:v>
                </c:pt>
                <c:pt idx="1">
                  <c:v>665038</c:v>
                </c:pt>
                <c:pt idx="2">
                  <c:v>1739364</c:v>
                </c:pt>
                <c:pt idx="3">
                  <c:v>616425</c:v>
                </c:pt>
                <c:pt idx="4">
                  <c:v>394727</c:v>
                </c:pt>
                <c:pt idx="5">
                  <c:v>333492</c:v>
                </c:pt>
                <c:pt idx="6">
                  <c:v>194377</c:v>
                </c:pt>
                <c:pt idx="7">
                  <c:v>82013</c:v>
                </c:pt>
                <c:pt idx="8">
                  <c:v>141130</c:v>
                </c:pt>
                <c:pt idx="9">
                  <c:v>197098</c:v>
                </c:pt>
                <c:pt idx="10">
                  <c:v>186542</c:v>
                </c:pt>
                <c:pt idx="11">
                  <c:v>240504</c:v>
                </c:pt>
              </c:numCache>
            </c:numRef>
          </c:val>
          <c:smooth val="0"/>
        </c:ser>
        <c:dLbls>
          <c:showLegendKey val="0"/>
          <c:showVal val="1"/>
          <c:showCatName val="0"/>
          <c:showSerName val="0"/>
          <c:showPercent val="0"/>
          <c:showBubbleSize val="0"/>
        </c:dLbls>
        <c:marker val="0"/>
        <c:smooth val="0"/>
        <c:axId val="829985891"/>
        <c:axId val="617127009"/>
      </c:lineChart>
      <c:dateAx>
        <c:axId val="829985891"/>
        <c:scaling>
          <c:orientation val="minMax"/>
        </c:scaling>
        <c:delete val="0"/>
        <c:axPos val="b"/>
        <c:majorTickMark val="out"/>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600" b="0" i="0" u="none" strike="noStrike" kern="1200" baseline="0">
                <a:solidFill>
                  <a:schemeClr val="tx1">
                    <a:lumMod val="65000"/>
                    <a:lumOff val="35000"/>
                  </a:schemeClr>
                </a:solidFill>
                <a:latin typeface="+mn-lt"/>
                <a:ea typeface="+mn-ea"/>
                <a:cs typeface="+mn-cs"/>
              </a:defRPr>
            </a:pPr>
          </a:p>
        </c:txPr>
        <c:crossAx val="617127009"/>
        <c:crosses val="autoZero"/>
        <c:auto val="1"/>
        <c:lblOffset val="100"/>
        <c:baseTimeUnit val="months"/>
      </c:dateAx>
      <c:valAx>
        <c:axId val="617127009"/>
        <c:scaling>
          <c:orientation val="minMax"/>
        </c:scaling>
        <c:delete val="1"/>
        <c:axPos val="l"/>
        <c:numFmt formatCode="0\.0,&quot;万&quot;" sourceLinked="1"/>
        <c:majorTickMark val="none"/>
        <c:minorTickMark val="none"/>
        <c:tickLblPos val="nextTo"/>
        <c:txPr>
          <a:bodyPr rot="-60000000" spcFirstLastPara="0" vertOverflow="ellipsis" vert="horz" wrap="square" anchor="ctr" anchorCtr="1"/>
          <a:lstStyle/>
          <a:p>
            <a:pPr>
              <a:defRPr lang="zh-CN" sz="600" b="0" i="0" u="none" strike="noStrike" kern="1200" baseline="0">
                <a:solidFill>
                  <a:schemeClr val="tx1">
                    <a:lumMod val="65000"/>
                    <a:lumOff val="35000"/>
                  </a:schemeClr>
                </a:solidFill>
                <a:latin typeface="+mn-lt"/>
                <a:ea typeface="+mn-ea"/>
                <a:cs typeface="+mn-cs"/>
              </a:defRPr>
            </a:pPr>
          </a:p>
        </c:txPr>
        <c:crossAx val="829985891"/>
        <c:crosses val="autoZero"/>
        <c:crossBetween val="between"/>
      </c:valAx>
      <c:spPr>
        <a:noFill/>
        <a:ln>
          <a:noFill/>
        </a:ln>
        <a:effectLst/>
      </c:spPr>
    </c:plotArea>
    <c:legend>
      <c:legendPos val="t"/>
      <c:legendEntry>
        <c:idx val="0"/>
        <c:txPr>
          <a:bodyPr rot="0" spcFirstLastPara="0" vertOverflow="ellipsis" vert="horz" wrap="square" anchor="ctr" anchorCtr="1"/>
          <a:lstStyle/>
          <a:p>
            <a:pPr>
              <a:defRPr lang="zh-CN" sz="600" b="0" i="0" u="none" strike="noStrike" kern="1200" baseline="0">
                <a:solidFill>
                  <a:schemeClr val="tx1"/>
                </a:solidFill>
                <a:latin typeface="+mn-lt"/>
                <a:ea typeface="+mn-ea"/>
                <a:cs typeface="+mn-cs"/>
              </a:defRPr>
            </a:pPr>
          </a:p>
        </c:txPr>
      </c:legendEntry>
      <c:legendEntry>
        <c:idx val="1"/>
        <c:txPr>
          <a:bodyPr rot="0" spcFirstLastPara="0" vertOverflow="ellipsis" vert="horz" wrap="square" anchor="ctr" anchorCtr="1"/>
          <a:lstStyle/>
          <a:p>
            <a:pPr>
              <a:defRPr lang="zh-CN" sz="600" b="0" i="0" u="none" strike="noStrike" kern="1200" baseline="0">
                <a:solidFill>
                  <a:schemeClr val="tx1"/>
                </a:solidFill>
                <a:latin typeface="+mn-lt"/>
                <a:ea typeface="+mn-ea"/>
                <a:cs typeface="+mn-cs"/>
              </a:defRPr>
            </a:pPr>
          </a:p>
        </c:txPr>
      </c:legendEntry>
      <c:layout/>
      <c:overlay val="0"/>
      <c:spPr>
        <a:noFill/>
        <a:ln>
          <a:noFill/>
        </a:ln>
        <a:effectLst/>
      </c:spPr>
      <c:txPr>
        <a:bodyPr rot="0" spcFirstLastPara="0" vertOverflow="ellipsis" vert="horz" wrap="square" anchor="ctr" anchorCtr="1"/>
        <a:lstStyle/>
        <a:p>
          <a:pPr>
            <a:defRPr lang="zh-CN" sz="600" b="0" i="0" u="none" strike="noStrike" kern="1200" baseline="0">
              <a:solidFill>
                <a:schemeClr val="tx1"/>
              </a:solidFill>
              <a:latin typeface="+mn-lt"/>
              <a:ea typeface="+mn-ea"/>
              <a:cs typeface="+mn-cs"/>
            </a:defRPr>
          </a:pPr>
        </a:p>
      </c:txPr>
    </c:legend>
    <c:plotVisOnly val="1"/>
    <c:dispBlanksAs val="gap"/>
    <c:showDLblsOverMax val="0"/>
    <c:extLst>
      <c:ext uri="{0b15fc19-7d7d-44ad-8c2d-2c3a37ce22c3}">
        <chartProps xmlns="https://web.wps.cn/et/2018/main" chartId="{78b0d5ea-8d43-42c5-be8f-fd925aecf35b}"/>
      </c:ext>
    </c:extLst>
  </c:chart>
  <c:spPr>
    <a:noFill/>
    <a:ln w="9525" cap="flat" cmpd="sng" algn="ctr">
      <a:noFill/>
      <a:round/>
    </a:ln>
    <a:effectLst/>
  </c:spPr>
  <c:txPr>
    <a:bodyPr/>
    <a:lstStyle/>
    <a:p>
      <a:pPr>
        <a:defRPr lang="zh-CN" sz="600"/>
      </a:p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'[很多鱼安全运营工作报告-20250801.xlsx]数据统计'!$I$76</c:f>
              <c:strCache>
                <c:ptCount val="1"/>
                <c:pt idx="0">
                  <c:v>被攻击次数</c:v>
                </c:pt>
              </c:strCache>
            </c:strRef>
          </c:tx>
          <c:spPr>
            <a:solidFill>
              <a:schemeClr val="accent1"/>
            </a:solidFill>
            <a:ln>
              <a:noFill/>
            </a:ln>
            <a:effectLst/>
          </c:spPr>
          <c:invertIfNegative val="0"/>
          <c:dLbls>
            <c:spPr>
              <a:noFill/>
              <a:ln>
                <a:noFill/>
              </a:ln>
              <a:effectLst/>
            </c:spPr>
            <c:txPr>
              <a:bodyPr rot="0" spcFirstLastPara="0" vertOverflow="ellipsis" vert="horz" wrap="square" lIns="38100" tIns="19050" rIns="38100" bIns="19050" anchor="ctr" anchorCtr="1"/>
              <a:lstStyle/>
              <a:p>
                <a:pPr>
                  <a:defRPr lang="zh-CN" sz="400" b="0" i="0" u="none" strike="noStrike" kern="1200" baseline="0">
                    <a:solidFill>
                      <a:schemeClr val="tx1">
                        <a:lumMod val="95000"/>
                        <a:lumOff val="5000"/>
                      </a:schemeClr>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'[很多鱼安全运营工作报告-20250801.xlsx]数据统计'!$H$77:$H$81</c:f>
              <c:strCache>
                <c:ptCount val="5"/>
                <c:pt idx="0">
                  <c:v>192.168.4.217
(武汉金贵应用服务器)</c:v>
                </c:pt>
                <c:pt idx="1">
                  <c:v>192.168.4.203
(应用服务器主)</c:v>
                </c:pt>
                <c:pt idx="2">
                  <c:v>172.16.5.31
(泛微oa系统-应用服务器)</c:v>
                </c:pt>
                <c:pt idx="3">
                  <c:v>172.16.1.4
(上海)</c:v>
                </c:pt>
                <c:pt idx="4">
                  <c:v>192.168.22.54
(应用服务器)</c:v>
                </c:pt>
              </c:strCache>
            </c:strRef>
          </c:cat>
          <c:val>
            <c:numRef>
              <c:f>'[很多鱼安全运营工作报告-20250801.xlsx]数据统计'!$I$77:$I$81</c:f>
              <c:numCache>
                <c:formatCode>General</c:formatCode>
                <c:ptCount val="5"/>
                <c:pt idx="0">
                  <c:v>6766</c:v>
                </c:pt>
                <c:pt idx="1">
                  <c:v>4958</c:v>
                </c:pt>
                <c:pt idx="2">
                  <c:v>4817</c:v>
                </c:pt>
                <c:pt idx="3">
                  <c:v>4143</c:v>
                </c:pt>
                <c:pt idx="4">
                  <c:v>2507</c:v>
                </c:pt>
              </c:numCache>
            </c:numRef>
          </c:val>
        </c:ser>
        <c:dLbls>
          <c:showLegendKey val="0"/>
          <c:showVal val="1"/>
          <c:showCatName val="0"/>
          <c:showSerName val="0"/>
          <c:showPercent val="0"/>
          <c:showBubbleSize val="0"/>
        </c:dLbls>
        <c:gapWidth val="150"/>
        <c:overlap val="-25"/>
        <c:axId val="170593429"/>
        <c:axId val="280355219"/>
      </c:barChart>
      <c:catAx>
        <c:axId val="170593429"/>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400" b="0" i="0" u="none" strike="noStrike" kern="1200" baseline="0">
                <a:solidFill>
                  <a:schemeClr val="tx1">
                    <a:lumMod val="95000"/>
                    <a:lumOff val="5000"/>
                  </a:schemeClr>
                </a:solidFill>
                <a:latin typeface="+mn-lt"/>
                <a:ea typeface="+mn-ea"/>
                <a:cs typeface="+mn-cs"/>
              </a:defRPr>
            </a:pPr>
          </a:p>
        </c:txPr>
        <c:crossAx val="280355219"/>
        <c:crosses val="autoZero"/>
        <c:auto val="1"/>
        <c:lblAlgn val="ctr"/>
        <c:lblOffset val="100"/>
        <c:noMultiLvlLbl val="0"/>
      </c:catAx>
      <c:valAx>
        <c:axId val="280355219"/>
        <c:scaling>
          <c:orientation val="minMax"/>
        </c:scaling>
        <c:delete val="1"/>
        <c:axPos val="l"/>
        <c:numFmt formatCode="General" sourceLinked="1"/>
        <c:majorTickMark val="none"/>
        <c:minorTickMark val="none"/>
        <c:tickLblPos val="nextTo"/>
        <c:txPr>
          <a:bodyPr rot="-60000000" spcFirstLastPara="0" vertOverflow="ellipsis" vert="horz" wrap="square" anchor="ctr" anchorCtr="1"/>
          <a:lstStyle/>
          <a:p>
            <a:pPr>
              <a:defRPr lang="zh-CN" sz="400" b="0" i="0" u="none" strike="noStrike" kern="1200" baseline="0">
                <a:solidFill>
                  <a:schemeClr val="tx1">
                    <a:lumMod val="95000"/>
                    <a:lumOff val="5000"/>
                  </a:schemeClr>
                </a:solidFill>
                <a:latin typeface="+mn-lt"/>
                <a:ea typeface="+mn-ea"/>
                <a:cs typeface="+mn-cs"/>
              </a:defRPr>
            </a:pPr>
          </a:p>
        </c:txPr>
        <c:crossAx val="170593429"/>
        <c:crosses val="autoZero"/>
        <c:crossBetween val="between"/>
      </c:valAx>
      <c:spPr>
        <a:noFill/>
        <a:ln>
          <a:noFill/>
        </a:ln>
        <a:effectLst/>
      </c:spPr>
    </c:plotArea>
    <c:legend>
      <c:legendPos val="t"/>
      <c:legendEntry>
        <c:idx val="0"/>
        <c:txPr>
          <a:bodyPr rot="0" spcFirstLastPara="0" vertOverflow="ellipsis" vert="horz" wrap="square" anchor="ctr" anchorCtr="1"/>
          <a:lstStyle/>
          <a:p>
            <a:pPr>
              <a:defRPr lang="zh-CN" sz="400" b="0" i="0" u="none" strike="noStrike" kern="1200" baseline="0">
                <a:solidFill>
                  <a:schemeClr val="tx1">
                    <a:lumMod val="95000"/>
                    <a:lumOff val="5000"/>
                  </a:schemeClr>
                </a:solidFill>
                <a:latin typeface="+mn-lt"/>
                <a:ea typeface="+mn-ea"/>
                <a:cs typeface="+mn-cs"/>
              </a:defRPr>
            </a:pPr>
          </a:p>
        </c:txPr>
      </c:legendEntry>
      <c:layout/>
      <c:overlay val="0"/>
      <c:spPr>
        <a:noFill/>
        <a:ln>
          <a:noFill/>
        </a:ln>
        <a:effectLst/>
      </c:spPr>
      <c:txPr>
        <a:bodyPr rot="0" spcFirstLastPara="0" vertOverflow="ellipsis" vert="horz" wrap="square" anchor="ctr" anchorCtr="1"/>
        <a:lstStyle/>
        <a:p>
          <a:pPr>
            <a:defRPr lang="zh-CN" sz="400" b="0" i="0" u="none" strike="noStrike" kern="1200" baseline="0">
              <a:solidFill>
                <a:schemeClr val="tx1">
                  <a:lumMod val="95000"/>
                  <a:lumOff val="5000"/>
                </a:schemeClr>
              </a:solidFill>
              <a:latin typeface="+mn-lt"/>
              <a:ea typeface="+mn-ea"/>
              <a:cs typeface="+mn-cs"/>
            </a:defRPr>
          </a:pPr>
        </a:p>
      </c:txPr>
    </c:legend>
    <c:plotVisOnly val="1"/>
    <c:dispBlanksAs val="gap"/>
    <c:showDLblsOverMax val="0"/>
    <c:extLst>
      <c:ext uri="{0b15fc19-7d7d-44ad-8c2d-2c3a37ce22c3}">
        <chartProps xmlns="https://web.wps.cn/et/2018/main" chartId="{b20ef17a-20b2-43cb-b57b-4673d0b096a1}"/>
      </c:ext>
    </c:extLst>
  </c:chart>
  <c:spPr>
    <a:noFill/>
    <a:ln w="9525" cap="flat" cmpd="sng" algn="ctr">
      <a:noFill/>
      <a:round/>
    </a:ln>
    <a:effectLst/>
  </c:spPr>
  <c:txPr>
    <a:bodyPr/>
    <a:lstStyle/>
    <a:p>
      <a:pPr>
        <a:defRPr lang="zh-CN" sz="400">
          <a:solidFill>
            <a:schemeClr val="tx1">
              <a:lumMod val="95000"/>
              <a:lumOff val="5000"/>
            </a:schemeClr>
          </a:solidFill>
        </a:defRPr>
      </a:pP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[外部攻击数据看板.xlsx]数据填充!$O$1</c:f>
              <c:strCache>
                <c:ptCount val="1"/>
                <c:pt idx="0">
                  <c:v>日志数量</c:v>
                </c:pt>
              </c:strCache>
            </c:strRef>
          </c:tx>
          <c:spPr>
            <a:sp3d contourW="12700"/>
          </c:spPr>
          <c:explosion val="0"/>
          <c:dPt>
            <c:idx val="0"/>
            <c:bubble3D val="0"/>
            <c:spPr>
              <a:solidFill>
                <a:schemeClr val="accent6"/>
              </a:solidFill>
              <a:ln>
                <a:noFill/>
              </a:ln>
              <a:effectLst/>
              <a:sp3d contourW="12700"/>
            </c:spPr>
          </c:dPt>
          <c:dPt>
            <c:idx val="1"/>
            <c:bubble3D val="0"/>
            <c:spPr>
              <a:solidFill>
                <a:schemeClr val="accent5"/>
              </a:solidFill>
              <a:ln>
                <a:noFill/>
              </a:ln>
              <a:effectLst>
                <a:outerShdw blurRad="254000" sx="102000" sy="102000" algn="ctr" rotWithShape="0">
                  <a:prstClr val="black">
                    <a:alpha val="20000"/>
                  </a:prstClr>
                </a:outerShdw>
              </a:effectLst>
              <a:sp3d contourW="12700"/>
            </c:spPr>
          </c:dPt>
          <c:dPt>
            <c:idx val="2"/>
            <c:bubble3D val="0"/>
            <c:spPr>
              <a:solidFill>
                <a:schemeClr val="accent4"/>
              </a:solidFill>
              <a:ln>
                <a:noFill/>
              </a:ln>
              <a:effectLst>
                <a:outerShdw blurRad="254000" sx="102000" sy="102000" algn="ctr" rotWithShape="0">
                  <a:prstClr val="black">
                    <a:alpha val="20000"/>
                  </a:prstClr>
                </a:outerShdw>
              </a:effectLst>
              <a:sp3d contourW="12700"/>
            </c:spPr>
          </c:dPt>
          <c:dPt>
            <c:idx val="3"/>
            <c:bubble3D val="0"/>
            <c:spPr>
              <a:solidFill>
                <a:schemeClr val="accent6">
                  <a:lumMod val="60000"/>
                </a:schemeClr>
              </a:solidFill>
              <a:ln>
                <a:noFill/>
              </a:ln>
              <a:effectLst>
                <a:outerShdw blurRad="254000" sx="102000" sy="102000" algn="ctr" rotWithShape="0">
                  <a:prstClr val="black">
                    <a:alpha val="20000"/>
                  </a:prstClr>
                </a:outerShdw>
              </a:effectLst>
              <a:sp3d contourW="12700"/>
            </c:spPr>
          </c:dPt>
          <c:dPt>
            <c:idx val="4"/>
            <c:bubble3D val="0"/>
            <c:spPr>
              <a:solidFill>
                <a:schemeClr val="accent5">
                  <a:lumMod val="60000"/>
                </a:schemeClr>
              </a:solidFill>
              <a:ln>
                <a:noFill/>
              </a:ln>
              <a:effectLst>
                <a:outerShdw blurRad="254000" sx="102000" sy="102000" algn="ctr" rotWithShape="0">
                  <a:prstClr val="black">
                    <a:alpha val="20000"/>
                  </a:prstClr>
                </a:outerShdw>
              </a:effectLst>
              <a:sp3d contourW="12700"/>
            </c:spPr>
          </c:dPt>
          <c:dLbls>
            <c:spPr>
              <a:noFill/>
              <a:ln>
                <a:noFill/>
              </a:ln>
              <a:effectLst/>
            </c:spPr>
            <c:txPr>
              <a:bodyPr rot="0" spcFirstLastPara="0" vertOverflow="ellipsis" vert="horz" wrap="square" lIns="38100" tIns="19050" rIns="38100" bIns="19050" anchor="ctr" anchorCtr="1"/>
              <a:lstStyle/>
              <a:p>
                <a:pPr>
                  <a:defRPr lang="zh-CN" sz="500" b="1" i="0" u="none" strike="noStrike" kern="1200" baseline="0">
                    <a:solidFill>
                      <a:schemeClr val="bg2">
                        <a:lumMod val="10000"/>
                      </a:schemeClr>
                    </a:solidFill>
                    <a:latin typeface="+mn-lt"/>
                    <a:ea typeface="+mn-ea"/>
                    <a:cs typeface="+mn-cs"/>
                  </a:defRPr>
                </a:pPr>
              </a:p>
            </c:txPr>
            <c:dLblPos val="bestFit"/>
            <c:showLegendKey val="0"/>
            <c:showVal val="0"/>
            <c:showCatName val="0"/>
            <c:showSerName val="0"/>
            <c:showPercent val="1"/>
            <c:showBubbleSize val="0"/>
            <c:showLeaderLines val="1"/>
            <c:extLst>
              <c:ext xmlns:c15="http://schemas.microsoft.com/office/drawing/2012/chart" uri="{CE6537A1-D6FC-4f65-9D91-7224C49458BB}">
                <c15:layout/>
                <c15:showLeaderLines val="1"/>
                <c15:leaderLines>
                  <c:spPr>
                    <a:ln w="9525">
                      <a:solidFill>
                        <a:schemeClr val="dk1">
                          <a:lumMod val="50000"/>
                          <a:lumOff val="50000"/>
                        </a:schemeClr>
                      </a:solidFill>
                    </a:ln>
                    <a:effectLst/>
                  </c:spPr>
                </c15:leaderLines>
              </c:ext>
            </c:extLst>
          </c:dLbls>
          <c:cat>
            <c:strRef>
              <c:f>外部攻击数据看板.xlsx!GSDd</c:f>
              <c:strCache>
                <c:ptCount val="5"/>
                <c:pt idx="0">
                  <c:v>俄罗斯 莫斯科</c:v>
                </c:pt>
                <c:pt idx="1">
                  <c:v>中国 上海市</c:v>
                </c:pt>
                <c:pt idx="2">
                  <c:v>中国 北京市</c:v>
                </c:pt>
                <c:pt idx="3">
                  <c:v>中国 江苏省</c:v>
                </c:pt>
                <c:pt idx="4">
                  <c:v>中国 四川省</c:v>
                </c:pt>
              </c:strCache>
            </c:strRef>
          </c:cat>
          <c:val>
            <c:numRef>
              <c:f>外部攻击数据看板.xlsx!GSDrzs2</c:f>
              <c:numCache>
                <c:formatCode>General</c:formatCode>
                <c:ptCount val="5"/>
                <c:pt idx="0">
                  <c:v>28234</c:v>
                </c:pt>
                <c:pt idx="1">
                  <c:v>10152</c:v>
                </c:pt>
                <c:pt idx="2">
                  <c:v>4883</c:v>
                </c:pt>
                <c:pt idx="3">
                  <c:v>2347</c:v>
                </c:pt>
                <c:pt idx="4">
                  <c:v>1588</c:v>
                </c:pt>
              </c:numCache>
            </c:numRef>
          </c:val>
        </c:ser>
        <c:dLbls>
          <c:showLegendKey val="0"/>
          <c:showVal val="1"/>
          <c:showCatName val="0"/>
          <c:showSerName val="0"/>
          <c:showPercent val="0"/>
          <c:showBubbleSize val="0"/>
          <c:showLeaderLines val="1"/>
        </c:dLbls>
        <c:firstSliceAng val="277"/>
      </c:pieChart>
      <c:spPr>
        <a:noFill/>
        <a:ln>
          <a:noFill/>
        </a:ln>
        <a:effectLst/>
      </c:spPr>
    </c:plotArea>
    <c:legend>
      <c:legendPos val="r"/>
      <c:legendEntry>
        <c:idx val="0"/>
        <c:txPr>
          <a:bodyPr rot="0" spcFirstLastPara="0" vertOverflow="ellipsis" vert="horz" wrap="square" anchor="ctr" anchorCtr="1"/>
          <a:lstStyle/>
          <a:p>
            <a:pPr>
              <a:defRPr lang="zh-CN" sz="500" b="0" i="0" u="none" strike="noStrike" kern="1200" baseline="0">
                <a:solidFill>
                  <a:schemeClr val="tx1">
                    <a:lumMod val="95000"/>
                    <a:lumOff val="5000"/>
                  </a:schemeClr>
                </a:solidFill>
                <a:latin typeface="+mn-lt"/>
                <a:ea typeface="+mn-ea"/>
                <a:cs typeface="+mn-cs"/>
              </a:defRPr>
            </a:pPr>
          </a:p>
        </c:txPr>
      </c:legendEntry>
      <c:legendEntry>
        <c:idx val="1"/>
        <c:txPr>
          <a:bodyPr rot="0" spcFirstLastPara="0" vertOverflow="ellipsis" vert="horz" wrap="square" anchor="ctr" anchorCtr="1"/>
          <a:lstStyle/>
          <a:p>
            <a:pPr>
              <a:defRPr lang="zh-CN" sz="500" b="0" i="0" u="none" strike="noStrike" kern="1200" baseline="0">
                <a:solidFill>
                  <a:schemeClr val="tx1">
                    <a:lumMod val="95000"/>
                    <a:lumOff val="5000"/>
                  </a:schemeClr>
                </a:solidFill>
                <a:latin typeface="+mn-lt"/>
                <a:ea typeface="+mn-ea"/>
                <a:cs typeface="+mn-cs"/>
              </a:defRPr>
            </a:pPr>
          </a:p>
        </c:txPr>
      </c:legendEntry>
      <c:legendEntry>
        <c:idx val="2"/>
        <c:txPr>
          <a:bodyPr rot="0" spcFirstLastPara="0" vertOverflow="ellipsis" vert="horz" wrap="square" anchor="ctr" anchorCtr="1"/>
          <a:lstStyle/>
          <a:p>
            <a:pPr>
              <a:defRPr lang="zh-CN" sz="500" b="0" i="0" u="none" strike="noStrike" kern="1200" baseline="0">
                <a:solidFill>
                  <a:schemeClr val="tx1">
                    <a:lumMod val="95000"/>
                    <a:lumOff val="5000"/>
                  </a:schemeClr>
                </a:solidFill>
                <a:latin typeface="+mn-lt"/>
                <a:ea typeface="+mn-ea"/>
                <a:cs typeface="+mn-cs"/>
              </a:defRPr>
            </a:pPr>
          </a:p>
        </c:txPr>
      </c:legendEntry>
      <c:legendEntry>
        <c:idx val="3"/>
        <c:txPr>
          <a:bodyPr rot="0" spcFirstLastPara="0" vertOverflow="ellipsis" vert="horz" wrap="square" anchor="ctr" anchorCtr="1"/>
          <a:lstStyle/>
          <a:p>
            <a:pPr>
              <a:defRPr lang="zh-CN" sz="500" b="0" i="0" u="none" strike="noStrike" kern="1200" baseline="0">
                <a:solidFill>
                  <a:schemeClr val="tx1">
                    <a:lumMod val="95000"/>
                    <a:lumOff val="5000"/>
                  </a:schemeClr>
                </a:solidFill>
                <a:latin typeface="+mn-lt"/>
                <a:ea typeface="+mn-ea"/>
                <a:cs typeface="+mn-cs"/>
              </a:defRPr>
            </a:pPr>
          </a:p>
        </c:txPr>
      </c:legendEntry>
      <c:legendEntry>
        <c:idx val="4"/>
        <c:txPr>
          <a:bodyPr rot="0" spcFirstLastPara="0" vertOverflow="ellipsis" vert="horz" wrap="square" anchor="ctr" anchorCtr="1"/>
          <a:lstStyle/>
          <a:p>
            <a:pPr>
              <a:defRPr lang="zh-CN" sz="500" b="0" i="0" u="none" strike="noStrike" kern="1200" baseline="0">
                <a:solidFill>
                  <a:schemeClr val="tx1">
                    <a:lumMod val="95000"/>
                    <a:lumOff val="5000"/>
                  </a:schemeClr>
                </a:solidFill>
                <a:latin typeface="+mn-lt"/>
                <a:ea typeface="+mn-ea"/>
                <a:cs typeface="+mn-cs"/>
              </a:defRPr>
            </a:pPr>
          </a:p>
        </c:txPr>
      </c:legendEntry>
      <c:layout>
        <c:manualLayout>
          <c:xMode val="edge"/>
          <c:yMode val="edge"/>
          <c:x val="0.6888720666162"/>
          <c:y val="0.311075355323143"/>
        </c:manualLayout>
      </c:layout>
      <c:overlay val="0"/>
      <c:spPr>
        <a:solidFill>
          <a:schemeClr val="bg1">
            <a:alpha val="40000"/>
          </a:schemeClr>
        </a:solidFill>
        <a:ln>
          <a:noFill/>
        </a:ln>
        <a:effectLst/>
      </c:spPr>
      <c:txPr>
        <a:bodyPr rot="0" spcFirstLastPara="0" vertOverflow="ellipsis" vert="horz" wrap="square" anchor="ctr" anchorCtr="1"/>
        <a:lstStyle/>
        <a:p>
          <a:pPr>
            <a:defRPr lang="zh-CN" sz="500" b="0" i="0" u="none" strike="noStrike" kern="1200" baseline="0">
              <a:solidFill>
                <a:schemeClr val="tx1">
                  <a:lumMod val="95000"/>
                  <a:lumOff val="5000"/>
                </a:schemeClr>
              </a:solidFill>
              <a:latin typeface="+mn-lt"/>
              <a:ea typeface="+mn-ea"/>
              <a:cs typeface="+mn-cs"/>
            </a:defRPr>
          </a:pPr>
        </a:p>
      </c:txPr>
    </c:legend>
    <c:plotVisOnly val="1"/>
    <c:dispBlanksAs val="gap"/>
    <c:showDLblsOverMax val="0"/>
    <c:extLst>
      <c:ext uri="{0b15fc19-7d7d-44ad-8c2d-2c3a37ce22c3}">
        <chartProps xmlns="https://web.wps.cn/et/2018/main" chartId="{163e47df-74a0-40e7-8857-6dbba7596d9c}"/>
      </c:ext>
    </c:extLst>
  </c:chart>
  <c:spPr>
    <a:noFill/>
    <a:ln w="9525" cap="flat" cmpd="sng" algn="ctr">
      <a:noFill/>
      <a:round/>
    </a:ln>
    <a:effectLst/>
  </c:spPr>
  <c:txPr>
    <a:bodyPr/>
    <a:lstStyle/>
    <a:p>
      <a:pPr>
        <a:defRPr lang="zh-CN" sz="500">
          <a:solidFill>
            <a:schemeClr val="bg2">
              <a:lumMod val="10000"/>
            </a:schemeClr>
          </a:solidFill>
        </a:defRPr>
      </a:pPr>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0797798927809734"/>
          <c:y val="0.130366847436346"/>
          <c:w val="0.558263056720128"/>
          <c:h val="0.739266305127308"/>
        </c:manualLayout>
      </c:layout>
      <c:pieChart>
        <c:varyColors val="1"/>
        <c:ser>
          <c:idx val="0"/>
          <c:order val="0"/>
          <c:tx>
            <c:strRef>
              <c:f>[外部攻击数据看板.xlsx]数据填充!$C$1</c:f>
              <c:strCache>
                <c:ptCount val="1"/>
                <c:pt idx="0">
                  <c:v>日志数量</c:v>
                </c:pt>
              </c:strCache>
            </c:strRef>
          </c:tx>
          <c:spPr>
            <a:sp3d contourW="12700"/>
          </c:spPr>
          <c:explosion val="0"/>
          <c:dPt>
            <c:idx val="0"/>
            <c:bubble3D val="0"/>
            <c:spPr>
              <a:solidFill>
                <a:schemeClr val="accent6"/>
              </a:solidFill>
              <a:ln>
                <a:noFill/>
              </a:ln>
              <a:effectLst/>
              <a:sp3d contourW="12700"/>
            </c:spPr>
          </c:dPt>
          <c:dPt>
            <c:idx val="1"/>
            <c:bubble3D val="0"/>
            <c:spPr>
              <a:solidFill>
                <a:schemeClr val="accent5"/>
              </a:solidFill>
              <a:ln>
                <a:noFill/>
              </a:ln>
              <a:effectLst>
                <a:outerShdw blurRad="254000" sx="102000" sy="102000" algn="ctr" rotWithShape="0">
                  <a:prstClr val="black">
                    <a:alpha val="20000"/>
                  </a:prstClr>
                </a:outerShdw>
              </a:effectLst>
              <a:sp3d contourW="12700"/>
            </c:spPr>
          </c:dPt>
          <c:dPt>
            <c:idx val="2"/>
            <c:bubble3D val="0"/>
            <c:spPr>
              <a:solidFill>
                <a:schemeClr val="accent4"/>
              </a:solidFill>
              <a:ln>
                <a:noFill/>
              </a:ln>
              <a:effectLst>
                <a:outerShdw blurRad="254000" sx="102000" sy="102000" algn="ctr" rotWithShape="0">
                  <a:prstClr val="black">
                    <a:alpha val="20000"/>
                  </a:prstClr>
                </a:outerShdw>
              </a:effectLst>
              <a:sp3d contourW="12700"/>
            </c:spPr>
          </c:dPt>
          <c:dPt>
            <c:idx val="3"/>
            <c:bubble3D val="0"/>
            <c:spPr>
              <a:solidFill>
                <a:schemeClr val="accent6">
                  <a:lumMod val="60000"/>
                </a:schemeClr>
              </a:solidFill>
              <a:ln>
                <a:noFill/>
              </a:ln>
              <a:effectLst>
                <a:outerShdw blurRad="254000" sx="102000" sy="102000" algn="ctr" rotWithShape="0">
                  <a:prstClr val="black">
                    <a:alpha val="20000"/>
                  </a:prstClr>
                </a:outerShdw>
              </a:effectLst>
              <a:sp3d contourW="12700"/>
            </c:spPr>
          </c:dPt>
          <c:dPt>
            <c:idx val="4"/>
            <c:bubble3D val="0"/>
            <c:spPr>
              <a:solidFill>
                <a:schemeClr val="accent5">
                  <a:lumMod val="60000"/>
                </a:schemeClr>
              </a:solidFill>
              <a:ln>
                <a:noFill/>
              </a:ln>
              <a:effectLst>
                <a:outerShdw blurRad="254000" sx="102000" sy="102000" algn="ctr" rotWithShape="0">
                  <a:prstClr val="black">
                    <a:alpha val="20000"/>
                  </a:prstClr>
                </a:outerShdw>
              </a:effectLst>
              <a:sp3d contourW="12700"/>
            </c:spPr>
          </c:dPt>
          <c:dLbls>
            <c:spPr>
              <a:noFill/>
              <a:ln>
                <a:noFill/>
              </a:ln>
              <a:effectLst/>
            </c:spPr>
            <c:txPr>
              <a:bodyPr rot="0" spcFirstLastPara="0" vertOverflow="ellipsis" vert="horz" wrap="square" lIns="38100" tIns="19050" rIns="38100" bIns="19050" anchor="ctr" anchorCtr="1"/>
              <a:lstStyle/>
              <a:p>
                <a:pPr>
                  <a:defRPr lang="zh-CN" sz="500" b="1" i="0" u="none" strike="noStrike" kern="1200" baseline="0">
                    <a:solidFill>
                      <a:schemeClr val="tx1">
                        <a:lumMod val="95000"/>
                        <a:lumOff val="5000"/>
                      </a:schemeClr>
                    </a:solidFill>
                    <a:latin typeface="+mn-lt"/>
                    <a:ea typeface="+mn-ea"/>
                    <a:cs typeface="+mn-cs"/>
                  </a:defRPr>
                </a:pPr>
              </a:p>
            </c:txPr>
            <c:dLblPos val="bestFit"/>
            <c:showLegendKey val="0"/>
            <c:showVal val="0"/>
            <c:showCatName val="0"/>
            <c:showSerName val="0"/>
            <c:showPercent val="1"/>
            <c:showBubbleSize val="0"/>
            <c:showLeaderLines val="1"/>
            <c:extLst>
              <c:ext xmlns:c15="http://schemas.microsoft.com/office/drawing/2012/chart" uri="{CE6537A1-D6FC-4f65-9D91-7224C49458BB}">
                <c15:layout/>
                <c15:showLeaderLines val="1"/>
                <c15:leaderLines>
                  <c:spPr>
                    <a:ln w="9525">
                      <a:solidFill>
                        <a:schemeClr val="dk1">
                          <a:lumMod val="50000"/>
                          <a:lumOff val="50000"/>
                        </a:schemeClr>
                      </a:solidFill>
                    </a:ln>
                    <a:effectLst/>
                  </c:spPr>
                </c15:leaderLines>
              </c:ext>
            </c:extLst>
          </c:dLbls>
          <c:cat>
            <c:strRef>
              <c:f>外部攻击数据看板.xlsx!WXLXX</c:f>
              <c:strCache>
                <c:ptCount val="5"/>
                <c:pt idx="0">
                  <c:v>弱口令</c:v>
                </c:pt>
                <c:pt idx="1">
                  <c:v>远控行为</c:v>
                </c:pt>
                <c:pt idx="2">
                  <c:v>端口转发</c:v>
                </c:pt>
                <c:pt idx="3">
                  <c:v>代码注入</c:v>
                </c:pt>
                <c:pt idx="4">
                  <c:v>账号爆破</c:v>
                </c:pt>
              </c:strCache>
            </c:strRef>
          </c:cat>
          <c:val>
            <c:numRef>
              <c:f>外部攻击数据看板.xlsx!WXLXXrzs</c:f>
              <c:numCache>
                <c:formatCode>General</c:formatCode>
                <c:ptCount val="5"/>
                <c:pt idx="0">
                  <c:v>27410</c:v>
                </c:pt>
                <c:pt idx="1">
                  <c:v>6138</c:v>
                </c:pt>
                <c:pt idx="2">
                  <c:v>5734</c:v>
                </c:pt>
                <c:pt idx="3">
                  <c:v>3751</c:v>
                </c:pt>
                <c:pt idx="4">
                  <c:v>2444</c:v>
                </c:pt>
              </c:numCache>
            </c:numRef>
          </c:val>
        </c:ser>
        <c:dLbls>
          <c:showLegendKey val="0"/>
          <c:showVal val="0"/>
          <c:showCatName val="0"/>
          <c:showSerName val="0"/>
          <c:showPercent val="1"/>
          <c:showBubbleSize val="0"/>
          <c:showLeaderLines val="1"/>
        </c:dLbls>
        <c:firstSliceAng val="277"/>
      </c:pieChart>
      <c:spPr>
        <a:noFill/>
        <a:ln>
          <a:noFill/>
        </a:ln>
        <a:effectLst/>
      </c:spPr>
    </c:plotArea>
    <c:legend>
      <c:legendPos val="r"/>
      <c:legendEntry>
        <c:idx val="0"/>
        <c:txPr>
          <a:bodyPr rot="0" spcFirstLastPara="0" vertOverflow="ellipsis" vert="horz" wrap="square" anchor="ctr" anchorCtr="1"/>
          <a:lstStyle/>
          <a:p>
            <a:pPr>
              <a:defRPr lang="zh-CN" sz="500" b="0" i="0" u="none" strike="noStrike" kern="1200" baseline="0">
                <a:solidFill>
                  <a:schemeClr val="tx1">
                    <a:lumMod val="95000"/>
                    <a:lumOff val="5000"/>
                  </a:schemeClr>
                </a:solidFill>
                <a:latin typeface="+mn-lt"/>
                <a:ea typeface="+mn-ea"/>
                <a:cs typeface="+mn-cs"/>
              </a:defRPr>
            </a:pPr>
          </a:p>
        </c:txPr>
      </c:legendEntry>
      <c:legendEntry>
        <c:idx val="1"/>
        <c:txPr>
          <a:bodyPr rot="0" spcFirstLastPara="0" vertOverflow="ellipsis" vert="horz" wrap="square" anchor="ctr" anchorCtr="1"/>
          <a:lstStyle/>
          <a:p>
            <a:pPr>
              <a:defRPr lang="zh-CN" sz="500" b="0" i="0" u="none" strike="noStrike" kern="1200" baseline="0">
                <a:solidFill>
                  <a:schemeClr val="tx1">
                    <a:lumMod val="95000"/>
                    <a:lumOff val="5000"/>
                  </a:schemeClr>
                </a:solidFill>
                <a:latin typeface="+mn-lt"/>
                <a:ea typeface="+mn-ea"/>
                <a:cs typeface="+mn-cs"/>
              </a:defRPr>
            </a:pPr>
          </a:p>
        </c:txPr>
      </c:legendEntry>
      <c:legendEntry>
        <c:idx val="2"/>
        <c:txPr>
          <a:bodyPr rot="0" spcFirstLastPara="0" vertOverflow="ellipsis" vert="horz" wrap="square" anchor="ctr" anchorCtr="1"/>
          <a:lstStyle/>
          <a:p>
            <a:pPr>
              <a:defRPr lang="zh-CN" sz="500" b="0" i="0" u="none" strike="noStrike" kern="1200" baseline="0">
                <a:solidFill>
                  <a:schemeClr val="tx1">
                    <a:lumMod val="95000"/>
                    <a:lumOff val="5000"/>
                  </a:schemeClr>
                </a:solidFill>
                <a:latin typeface="+mn-lt"/>
                <a:ea typeface="+mn-ea"/>
                <a:cs typeface="+mn-cs"/>
              </a:defRPr>
            </a:pPr>
          </a:p>
        </c:txPr>
      </c:legendEntry>
      <c:legendEntry>
        <c:idx val="3"/>
        <c:txPr>
          <a:bodyPr rot="0" spcFirstLastPara="0" vertOverflow="ellipsis" vert="horz" wrap="square" anchor="ctr" anchorCtr="1"/>
          <a:lstStyle/>
          <a:p>
            <a:pPr>
              <a:defRPr lang="zh-CN" sz="500" b="0" i="0" u="none" strike="noStrike" kern="1200" baseline="0">
                <a:solidFill>
                  <a:schemeClr val="tx1">
                    <a:lumMod val="95000"/>
                    <a:lumOff val="5000"/>
                  </a:schemeClr>
                </a:solidFill>
                <a:latin typeface="+mn-lt"/>
                <a:ea typeface="+mn-ea"/>
                <a:cs typeface="+mn-cs"/>
              </a:defRPr>
            </a:pPr>
          </a:p>
        </c:txPr>
      </c:legendEntry>
      <c:legendEntry>
        <c:idx val="4"/>
        <c:txPr>
          <a:bodyPr rot="0" spcFirstLastPara="0" vertOverflow="ellipsis" vert="horz" wrap="square" anchor="ctr" anchorCtr="1"/>
          <a:lstStyle/>
          <a:p>
            <a:pPr>
              <a:defRPr lang="zh-CN" sz="500" b="0" i="0" u="none" strike="noStrike" kern="1200" baseline="0">
                <a:solidFill>
                  <a:schemeClr val="tx1">
                    <a:lumMod val="95000"/>
                    <a:lumOff val="5000"/>
                  </a:schemeClr>
                </a:solidFill>
                <a:latin typeface="+mn-lt"/>
                <a:ea typeface="+mn-ea"/>
                <a:cs typeface="+mn-cs"/>
              </a:defRPr>
            </a:pPr>
          </a:p>
        </c:txPr>
      </c:legendEntry>
      <c:layout/>
      <c:overlay val="0"/>
      <c:spPr>
        <a:solidFill>
          <a:schemeClr val="bg1">
            <a:alpha val="40000"/>
          </a:schemeClr>
        </a:solidFill>
        <a:ln>
          <a:noFill/>
        </a:ln>
        <a:effectLst/>
      </c:spPr>
      <c:txPr>
        <a:bodyPr rot="0" spcFirstLastPara="0" vertOverflow="ellipsis" vert="horz" wrap="square" anchor="ctr" anchorCtr="1"/>
        <a:lstStyle/>
        <a:p>
          <a:pPr>
            <a:defRPr lang="zh-CN" sz="500" b="0" i="0" u="none" strike="noStrike" kern="1200" baseline="0">
              <a:solidFill>
                <a:schemeClr val="tx1">
                  <a:lumMod val="95000"/>
                  <a:lumOff val="5000"/>
                </a:schemeClr>
              </a:solidFill>
              <a:latin typeface="+mn-lt"/>
              <a:ea typeface="+mn-ea"/>
              <a:cs typeface="+mn-cs"/>
            </a:defRPr>
          </a:pPr>
        </a:p>
      </c:txPr>
    </c:legend>
    <c:plotVisOnly val="1"/>
    <c:dispBlanksAs val="gap"/>
    <c:showDLblsOverMax val="0"/>
    <c:extLst>
      <c:ext uri="{0b15fc19-7d7d-44ad-8c2d-2c3a37ce22c3}">
        <chartProps xmlns="https://web.wps.cn/et/2018/main" chartId="{b460e45c-db7b-49c4-bfeb-8b3e7b20519f}"/>
      </c:ext>
    </c:extLst>
  </c:chart>
  <c:spPr>
    <a:noFill/>
    <a:ln w="9525" cap="flat" cmpd="sng" algn="ctr">
      <a:noFill/>
      <a:round/>
    </a:ln>
    <a:effectLst/>
  </c:spPr>
  <c:txPr>
    <a:bodyPr/>
    <a:lstStyle/>
    <a:p>
      <a:pPr>
        <a:defRPr lang="zh-CN" sz="500">
          <a:solidFill>
            <a:schemeClr val="tx1">
              <a:lumMod val="95000"/>
              <a:lumOff val="5000"/>
            </a:schemeClr>
          </a:solidFill>
        </a:defRPr>
      </a:pPr>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doughnutChart>
        <c:varyColors val="1"/>
        <c:ser>
          <c:idx val="0"/>
          <c:order val="0"/>
          <c:spPr/>
          <c:explosion val="0"/>
          <c:dPt>
            <c:idx val="0"/>
            <c:bubble3D val="0"/>
            <c:spPr>
              <a:solidFill>
                <a:srgbClr val="70AD47"/>
              </a:solidFill>
              <a:ln>
                <a:solidFill>
                  <a:srgbClr val="FFFFFF"/>
                </a:solidFill>
              </a:ln>
              <a:effectLst/>
            </c:spPr>
          </c:dPt>
          <c:dPt>
            <c:idx val="1"/>
            <c:bubble3D val="0"/>
            <c:spPr>
              <a:solidFill>
                <a:srgbClr val="5B9BD5"/>
              </a:solidFill>
              <a:ln>
                <a:solidFill>
                  <a:srgbClr val="FFFFFF"/>
                </a:solidFill>
              </a:ln>
              <a:effectLst/>
            </c:spPr>
          </c:dPt>
          <c:dPt>
            <c:idx val="2"/>
            <c:bubble3D val="0"/>
            <c:spPr>
              <a:solidFill>
                <a:srgbClr val="FFC000"/>
              </a:solidFill>
              <a:ln>
                <a:solidFill>
                  <a:srgbClr val="FFFFFF"/>
                </a:solidFill>
              </a:ln>
              <a:effectLst/>
            </c:spPr>
          </c:dPt>
          <c:dLbls>
            <c:spPr>
              <a:noFill/>
              <a:ln>
                <a:noFill/>
              </a:ln>
              <a:effectLst/>
            </c:spPr>
            <c:txPr>
              <a:bodyPr rot="0" spcFirstLastPara="0" vertOverflow="ellipsis" vert="horz" wrap="square" lIns="38100" tIns="19050" rIns="38100" bIns="19050" anchor="ctr" anchorCtr="1"/>
              <a:lstStyle/>
              <a:p>
                <a:pPr>
                  <a:defRPr lang="zh-CN" sz="800" b="0" i="0" u="none" strike="noStrike" kern="1200" baseline="0">
                    <a:solidFill>
                      <a:srgbClr val="000000"/>
                    </a:solidFill>
                    <a:latin typeface="黑体-简" panose="02000000000000000000" charset="-122"/>
                    <a:ea typeface="黑体-简" panose="02000000000000000000" charset="-122"/>
                    <a:cs typeface="黑体-简" panose="02000000000000000000" charset="-122"/>
                    <a:sym typeface="黑体-简" panose="02000000000000000000" charset="-122"/>
                  </a:defRPr>
                </a:pPr>
              </a:p>
            </c:txPr>
            <c:showLegendKey val="0"/>
            <c:showVal val="1"/>
            <c:showCatName val="0"/>
            <c:showSerName val="0"/>
            <c:showPercent val="0"/>
            <c:showBubbleSize val="0"/>
            <c:showLeaderLines val="1"/>
            <c:extLst>
              <c:ext xmlns:c15="http://schemas.microsoft.com/office/drawing/2012/chart" uri="{CE6537A1-D6FC-4f65-9D91-7224C49458BB}">
                <c15:layout/>
                <c15:showLeaderLines val="1"/>
                <c15:leaderLines>
                  <c:spPr>
                    <a:ln w="9525" cap="flat" cmpd="sng" algn="ctr">
                      <a:solidFill>
                        <a:srgbClr val="000000">
                          <a:lumMod val="35000"/>
                          <a:lumOff val="65000"/>
                        </a:srgbClr>
                      </a:solidFill>
                      <a:round/>
                    </a:ln>
                    <a:effectLst/>
                  </c:spPr>
                </c15:leaderLines>
              </c:ext>
            </c:extLst>
          </c:dLbls>
          <c:cat>
            <c:strRef>
              <c:f>'[很多鱼安全运营工作报告-20250801.xlsx]数据统计'!$C$88:$C$90</c:f>
              <c:strCache>
                <c:ptCount val="3"/>
                <c:pt idx="0">
                  <c:v>高危漏洞</c:v>
                </c:pt>
                <c:pt idx="1">
                  <c:v>中危漏洞</c:v>
                </c:pt>
                <c:pt idx="2">
                  <c:v>低危漏洞</c:v>
                </c:pt>
              </c:strCache>
            </c:strRef>
          </c:cat>
          <c:val>
            <c:numRef>
              <c:f>'[很多鱼安全运营工作报告-20250801.xlsx]数据统计'!$D$88:$D$90</c:f>
              <c:numCache>
                <c:formatCode>General</c:formatCode>
                <c:ptCount val="3"/>
                <c:pt idx="0">
                  <c:v>2537</c:v>
                </c:pt>
                <c:pt idx="1">
                  <c:v>3633</c:v>
                </c:pt>
                <c:pt idx="2">
                  <c:v>3284</c:v>
                </c:pt>
              </c:numCache>
            </c:numRef>
          </c:val>
        </c:ser>
        <c:dLbls>
          <c:showLegendKey val="0"/>
          <c:showVal val="1"/>
          <c:showCatName val="0"/>
          <c:showSerName val="0"/>
          <c:showPercent val="0"/>
          <c:showBubbleSize val="0"/>
          <c:showLeaderLines val="1"/>
        </c:dLbls>
        <c:firstSliceAng val="0"/>
        <c:holeSize val="50"/>
      </c:doughnutChart>
      <c:spPr>
        <a:noFill/>
        <a:ln>
          <a:noFill/>
        </a:ln>
        <a:effectLst/>
      </c:spPr>
    </c:plotArea>
    <c:legend>
      <c:legendPos val="b"/>
      <c:legendEntry>
        <c:idx val="0"/>
        <c:txPr>
          <a:bodyPr rot="0" spcFirstLastPara="0" vertOverflow="ellipsis" vert="horz" wrap="square" anchor="ctr" anchorCtr="1"/>
          <a:lstStyle/>
          <a:p>
            <a:pPr>
              <a:defRPr lang="zh-CN" sz="800" b="0" i="0" u="none" strike="noStrike" kern="1200" baseline="0">
                <a:solidFill>
                  <a:srgbClr val="000000"/>
                </a:solidFill>
                <a:latin typeface="黑体-简" panose="02000000000000000000" charset="-122"/>
                <a:ea typeface="黑体-简" panose="02000000000000000000" charset="-122"/>
                <a:cs typeface="黑体-简" panose="02000000000000000000" charset="-122"/>
                <a:sym typeface="黑体-简" panose="02000000000000000000" charset="-122"/>
              </a:defRPr>
            </a:pPr>
          </a:p>
        </c:txPr>
      </c:legendEntry>
      <c:legendEntry>
        <c:idx val="1"/>
        <c:txPr>
          <a:bodyPr rot="0" spcFirstLastPara="0" vertOverflow="ellipsis" vert="horz" wrap="square" anchor="ctr" anchorCtr="1"/>
          <a:lstStyle/>
          <a:p>
            <a:pPr>
              <a:defRPr lang="zh-CN" sz="800" b="0" i="0" u="none" strike="noStrike" kern="1200" baseline="0">
                <a:solidFill>
                  <a:srgbClr val="000000"/>
                </a:solidFill>
                <a:latin typeface="黑体-简" panose="02000000000000000000" charset="-122"/>
                <a:ea typeface="黑体-简" panose="02000000000000000000" charset="-122"/>
                <a:cs typeface="黑体-简" panose="02000000000000000000" charset="-122"/>
                <a:sym typeface="黑体-简" panose="02000000000000000000" charset="-122"/>
              </a:defRPr>
            </a:pPr>
          </a:p>
        </c:txPr>
      </c:legendEntry>
      <c:legendEntry>
        <c:idx val="2"/>
        <c:txPr>
          <a:bodyPr rot="0" spcFirstLastPara="0" vertOverflow="ellipsis" vert="horz" wrap="square" anchor="ctr" anchorCtr="1"/>
          <a:lstStyle/>
          <a:p>
            <a:pPr>
              <a:defRPr lang="zh-CN" sz="800" b="0" i="0" u="none" strike="noStrike" kern="1200" baseline="0">
                <a:solidFill>
                  <a:srgbClr val="000000"/>
                </a:solidFill>
                <a:latin typeface="黑体-简" panose="02000000000000000000" charset="-122"/>
                <a:ea typeface="黑体-简" panose="02000000000000000000" charset="-122"/>
                <a:cs typeface="黑体-简" panose="02000000000000000000" charset="-122"/>
                <a:sym typeface="黑体-简" panose="02000000000000000000" charset="-122"/>
              </a:defRPr>
            </a:pPr>
          </a:p>
        </c:txPr>
      </c:legendEntry>
      <c:layout/>
      <c:overlay val="0"/>
      <c:spPr>
        <a:noFill/>
        <a:ln>
          <a:noFill/>
        </a:ln>
        <a:effectLst/>
      </c:spPr>
      <c:txPr>
        <a:bodyPr rot="0" spcFirstLastPara="0" vertOverflow="ellipsis" vert="horz" wrap="square" anchor="ctr" anchorCtr="1" forceAA="0"/>
        <a:lstStyle/>
        <a:p>
          <a:pPr>
            <a:defRPr lang="zh-CN" sz="800" b="0" i="0" u="none" strike="noStrike" kern="1200" baseline="0">
              <a:solidFill>
                <a:srgbClr val="000000"/>
              </a:solidFill>
              <a:latin typeface="黑体-简" panose="02000000000000000000" charset="-122"/>
              <a:ea typeface="黑体-简" panose="02000000000000000000" charset="-122"/>
              <a:cs typeface="黑体-简" panose="02000000000000000000" charset="-122"/>
              <a:sym typeface="黑体-简" panose="02000000000000000000" charset="-122"/>
            </a:defRPr>
          </a:pPr>
        </a:p>
      </c:txPr>
    </c:legend>
    <c:plotVisOnly val="1"/>
    <c:dispBlanksAs val="gap"/>
    <c:showDLblsOverMax val="0"/>
    <c:extLst>
      <c:ext uri="{0b15fc19-7d7d-44ad-8c2d-2c3a37ce22c3}">
        <chartProps xmlns="https://web.wps.cn/et/2018/main" chartId="{9b4eb4ca-8447-4d31-b2b3-4ab8ba42068e}"/>
      </c:ext>
    </c:extLst>
  </c:chart>
  <c:spPr>
    <a:solidFill>
      <a:srgbClr val="4472C4">
        <a:lumMod val="20000"/>
        <a:lumOff val="80000"/>
      </a:srgbClr>
    </a:solidFill>
    <a:ln w="6350" cap="flat" cmpd="sng" algn="ctr">
      <a:noFill/>
      <a:round/>
    </a:ln>
    <a:effectLst/>
  </c:spPr>
  <c:txPr>
    <a:bodyPr/>
    <a:lstStyle/>
    <a:p>
      <a:pPr>
        <a:defRPr lang="zh-CN" sz="800">
          <a:solidFill>
            <a:srgbClr val="000000"/>
          </a:solidFill>
          <a:latin typeface="黑体-简" panose="02000000000000000000" charset="-122"/>
          <a:ea typeface="黑体-简" panose="02000000000000000000" charset="-122"/>
          <a:cs typeface="黑体-简" panose="02000000000000000000" charset="-122"/>
          <a:sym typeface="黑体-简" panose="02000000000000000000" charset="-122"/>
        </a:defRPr>
      </a:pPr>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'[AI报告支撑数据模板（ 保存本地修改文件名称后再编辑，不要在微盘直接编辑）.xlsx]数据统计'!$B$78</c:f>
              <c:strCache>
                <c:ptCount val="1"/>
                <c:pt idx="0">
                  <c:v>剩余漏洞数量</c:v>
                </c:pt>
              </c:strCache>
            </c:strRef>
          </c:tx>
          <c:spPr>
            <a:ln w="28575" cap="rnd">
              <a:solidFill>
                <a:schemeClr val="accent1"/>
              </a:solidFill>
              <a:round/>
            </a:ln>
            <a:effectLst/>
          </c:spPr>
          <c:marker>
            <c:symbol val="none"/>
          </c:marker>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75000"/>
                        <a:lumOff val="25000"/>
                      </a:schemeClr>
                    </a:solidFill>
                    <a:latin typeface="黑体-简" panose="02000000000000000000" charset="-122"/>
                    <a:ea typeface="黑体-简" panose="02000000000000000000" charset="-122"/>
                    <a:cs typeface="黑体-简" panose="02000000000000000000" charset="-122"/>
                    <a:sym typeface="黑体-简" panose="02000000000000000000" charset="-122"/>
                  </a:defRPr>
                </a:pPr>
              </a:p>
            </c:txPr>
            <c:dLblPos val="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'[AI报告支撑数据模板（ 保存本地修改文件名称后再编辑，不要在微盘直接编辑）.xlsx]数据统计'!$C$77:$N$77</c:f>
              <c:strCache>
                <c:ptCount val="12"/>
                <c:pt idx="0">
                  <c:v>2025-08</c:v>
                </c:pt>
                <c:pt idx="1" c:formatCode="yyyy/m/d">
                  <c:v>2025-09</c:v>
                </c:pt>
                <c:pt idx="2" c:formatCode="yyyy/m/d">
                  <c:v>2025-10</c:v>
                </c:pt>
                <c:pt idx="3" c:formatCode="yyyy/m/d">
                  <c:v>2025-11</c:v>
                </c:pt>
                <c:pt idx="4" c:formatCode="yyyy/m/d">
                  <c:v>2025-12</c:v>
                </c:pt>
                <c:pt idx="5" c:formatCode="yyyy/m/d">
                  <c:v>2026-01</c:v>
                </c:pt>
                <c:pt idx="6" c:formatCode="yyyy/m/d">
                  <c:v>2026-02</c:v>
                </c:pt>
                <c:pt idx="7" c:formatCode="yyyy/m/d">
                  <c:v>2026-03</c:v>
                </c:pt>
                <c:pt idx="8" c:formatCode="yyyy/m/d">
                  <c:v>2026-04</c:v>
                </c:pt>
                <c:pt idx="9" c:formatCode="yyyy/m/d">
                  <c:v>2026-05</c:v>
                </c:pt>
                <c:pt idx="10" c:formatCode="yyyy/m/d">
                  <c:v>2026-06</c:v>
                </c:pt>
                <c:pt idx="11" c:formatCode="yyyy/m/d">
                  <c:v>2026-07</c:v>
                </c:pt>
              </c:strCache>
            </c:strRef>
          </c:cat>
          <c:val>
            <c:numRef>
              <c:f>'[AI报告支撑数据模板（ 保存本地修改文件名称后再编辑，不要在微盘直接编辑）.xlsx]数据统计'!$C$78:$N$78</c:f>
              <c:numCache>
                <c:formatCode>General</c:formatCode>
                <c:ptCount val="12"/>
                <c:pt idx="0">
                  <c:v>0</c:v>
                </c:pt>
                <c:pt idx="1">
                  <c:v>0</c:v>
                </c:pt>
                <c:pt idx="2">
                  <c:v>0</c:v>
                </c:pt>
                <c:pt idx="3">
                  <c:v>0</c:v>
                </c:pt>
                <c:pt idx="4">
                  <c:v>8</c:v>
                </c:pt>
                <c:pt idx="5">
                  <c:v>0</c:v>
                </c:pt>
                <c:pt idx="6">
                  <c:v>0</c:v>
                </c:pt>
                <c:pt idx="7">
                  <c:v>0</c:v>
                </c:pt>
                <c:pt idx="8">
                  <c:v>0</c:v>
                </c:pt>
                <c:pt idx="9">
                  <c:v>0</c:v>
                </c:pt>
                <c:pt idx="10">
                  <c:v>0</c:v>
                </c:pt>
                <c:pt idx="11">
                  <c:v>0</c:v>
                </c:pt>
              </c:numCache>
            </c:numRef>
          </c:val>
          <c:smooth val="0"/>
        </c:ser>
        <c:ser>
          <c:idx val="1"/>
          <c:order val="1"/>
          <c:tx>
            <c:strRef>
              <c:f>'[AI报告支撑数据模板（ 保存本地修改文件名称后再编辑，不要在微盘直接编辑）.xlsx]数据统计'!$B$79</c:f>
              <c:strCache>
                <c:ptCount val="1"/>
                <c:pt idx="0">
                  <c:v>已闭环漏洞数</c:v>
                </c:pt>
              </c:strCache>
            </c:strRef>
          </c:tx>
          <c:spPr>
            <a:ln w="28575" cap="rnd">
              <a:solidFill>
                <a:schemeClr val="accent2"/>
              </a:solidFill>
              <a:round/>
            </a:ln>
            <a:effectLst/>
          </c:spPr>
          <c:marker>
            <c:symbol val="none"/>
          </c:marker>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75000"/>
                        <a:lumOff val="25000"/>
                      </a:schemeClr>
                    </a:solidFill>
                    <a:latin typeface="黑体-简" panose="02000000000000000000" charset="-122"/>
                    <a:ea typeface="黑体-简" panose="02000000000000000000" charset="-122"/>
                    <a:cs typeface="黑体-简" panose="02000000000000000000" charset="-122"/>
                    <a:sym typeface="黑体-简" panose="02000000000000000000" charset="-122"/>
                  </a:defRPr>
                </a:pPr>
              </a:p>
            </c:txPr>
            <c:dLblPos val="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'[AI报告支撑数据模板（ 保存本地修改文件名称后再编辑，不要在微盘直接编辑）.xlsx]数据统计'!$C$77:$N$77</c:f>
              <c:strCache>
                <c:ptCount val="12"/>
                <c:pt idx="0">
                  <c:v>2025-08</c:v>
                </c:pt>
                <c:pt idx="1" c:formatCode="yyyy/m/d">
                  <c:v>2025-09</c:v>
                </c:pt>
                <c:pt idx="2" c:formatCode="yyyy/m/d">
                  <c:v>2025-10</c:v>
                </c:pt>
                <c:pt idx="3" c:formatCode="yyyy/m/d">
                  <c:v>2025-11</c:v>
                </c:pt>
                <c:pt idx="4" c:formatCode="yyyy/m/d">
                  <c:v>2025-12</c:v>
                </c:pt>
                <c:pt idx="5" c:formatCode="yyyy/m/d">
                  <c:v>2026-01</c:v>
                </c:pt>
                <c:pt idx="6" c:formatCode="yyyy/m/d">
                  <c:v>2026-02</c:v>
                </c:pt>
                <c:pt idx="7" c:formatCode="yyyy/m/d">
                  <c:v>2026-03</c:v>
                </c:pt>
                <c:pt idx="8" c:formatCode="yyyy/m/d">
                  <c:v>2026-04</c:v>
                </c:pt>
                <c:pt idx="9" c:formatCode="yyyy/m/d">
                  <c:v>2026-05</c:v>
                </c:pt>
                <c:pt idx="10" c:formatCode="yyyy/m/d">
                  <c:v>2026-06</c:v>
                </c:pt>
                <c:pt idx="11" c:formatCode="yyyy/m/d">
                  <c:v>2026-07</c:v>
                </c:pt>
              </c:strCache>
            </c:strRef>
          </c:cat>
          <c:val>
            <c:numRef>
              <c:f>'[AI报告支撑数据模板（ 保存本地修改文件名称后再编辑，不要在微盘直接编辑）.xlsx]数据统计'!$C$79:$N$79</c:f>
              <c:numCache>
                <c:formatCode>General</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smooth val="0"/>
        </c:ser>
        <c:dLbls>
          <c:showLegendKey val="0"/>
          <c:showVal val="1"/>
          <c:showCatName val="0"/>
          <c:showSerName val="0"/>
          <c:showPercent val="0"/>
          <c:showBubbleSize val="0"/>
        </c:dLbls>
        <c:marker val="0"/>
        <c:smooth val="0"/>
        <c:axId val="829985891"/>
        <c:axId val="617127009"/>
      </c:lineChart>
      <c:dateAx>
        <c:axId val="829985891"/>
        <c:scaling>
          <c:orientation val="minMax"/>
        </c:scaling>
        <c:delete val="0"/>
        <c:axPos val="b"/>
        <c:majorTickMark val="out"/>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forceAA="0"/>
          <a:lstStyle/>
          <a:p>
            <a:pPr>
              <a:defRPr lang="zh-CN" sz="900" b="0" i="0" u="none" strike="noStrike" kern="1200" baseline="0">
                <a:solidFill>
                  <a:schemeClr val="tx1">
                    <a:lumMod val="65000"/>
                    <a:lumOff val="35000"/>
                  </a:schemeClr>
                </a:solidFill>
                <a:latin typeface="黑体-简" panose="02000000000000000000" charset="-122"/>
                <a:ea typeface="黑体-简" panose="02000000000000000000" charset="-122"/>
                <a:cs typeface="黑体-简" panose="02000000000000000000" charset="-122"/>
                <a:sym typeface="黑体-简" panose="02000000000000000000" charset="-122"/>
              </a:defRPr>
            </a:pPr>
          </a:p>
        </c:txPr>
        <c:crossAx val="617127009"/>
        <c:crosses val="autoZero"/>
        <c:auto val="1"/>
        <c:lblAlgn val="ctr"/>
        <c:lblOffset val="100"/>
        <c:baseTimeUnit val="days"/>
      </c:dateAx>
      <c:valAx>
        <c:axId val="617127009"/>
        <c:scaling>
          <c:orientation val="minMax"/>
        </c:scaling>
        <c:delete val="1"/>
        <c:axPos val="l"/>
        <c:numFmt formatCode="General" sourceLinked="1"/>
        <c:majorTickMark val="none"/>
        <c:minorTickMark val="none"/>
        <c:tickLblPos val="nextTo"/>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黑体-简" panose="02000000000000000000" charset="-122"/>
                <a:ea typeface="黑体-简" panose="02000000000000000000" charset="-122"/>
                <a:cs typeface="黑体-简" panose="02000000000000000000" charset="-122"/>
                <a:sym typeface="黑体-简" panose="02000000000000000000" charset="-122"/>
              </a:defRPr>
            </a:pPr>
          </a:p>
        </c:txPr>
        <c:crossAx val="829985891"/>
        <c:crosses val="autoZero"/>
        <c:crossBetween val="between"/>
      </c:valAx>
      <c:spPr>
        <a:noFill/>
        <a:ln>
          <a:noFill/>
        </a:ln>
        <a:effectLst/>
      </c:spPr>
    </c:plotArea>
    <c:legend>
      <c:legendPos val="t"/>
      <c:legendEntry>
        <c:idx val="0"/>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黑体-简" panose="02000000000000000000" charset="-122"/>
                <a:ea typeface="黑体-简" panose="02000000000000000000" charset="-122"/>
                <a:cs typeface="黑体-简" panose="02000000000000000000" charset="-122"/>
                <a:sym typeface="黑体-简" panose="02000000000000000000" charset="-122"/>
              </a:defRPr>
            </a:pPr>
          </a:p>
        </c:txPr>
      </c:legendEntry>
      <c:legendEntry>
        <c:idx val="1"/>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黑体-简" panose="02000000000000000000" charset="-122"/>
                <a:ea typeface="黑体-简" panose="02000000000000000000" charset="-122"/>
                <a:cs typeface="黑体-简" panose="02000000000000000000" charset="-122"/>
                <a:sym typeface="黑体-简" panose="02000000000000000000" charset="-122"/>
              </a:defRPr>
            </a:pPr>
          </a:p>
        </c:txPr>
      </c:legendEntry>
      <c:layout/>
      <c:overlay val="0"/>
      <c:spPr>
        <a:noFill/>
        <a:ln>
          <a:noFill/>
        </a:ln>
        <a:effectLst/>
      </c:spPr>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黑体-简" panose="02000000000000000000" charset="-122"/>
              <a:ea typeface="黑体-简" panose="02000000000000000000" charset="-122"/>
              <a:cs typeface="黑体-简" panose="02000000000000000000" charset="-122"/>
              <a:sym typeface="黑体-简" panose="02000000000000000000" charset="-122"/>
            </a:defRPr>
          </a:pPr>
        </a:p>
      </c:txPr>
    </c:legend>
    <c:plotVisOnly val="1"/>
    <c:dispBlanksAs val="gap"/>
    <c:showDLblsOverMax val="0"/>
    <c:extLst>
      <c:ext uri="{0b15fc19-7d7d-44ad-8c2d-2c3a37ce22c3}">
        <chartProps xmlns="https://web.wps.cn/et/2018/main" chartId="{102df013-bc02-4b13-9b33-920f674e959c}"/>
      </c:ext>
    </c:extLst>
  </c:chart>
  <c:spPr>
    <a:solidFill>
      <a:schemeClr val="accent6">
        <a:lumMod val="20000"/>
        <a:lumOff val="80000"/>
      </a:schemeClr>
    </a:solidFill>
    <a:ln w="9525" cap="flat" cmpd="sng" algn="ctr">
      <a:noFill/>
      <a:round/>
    </a:ln>
    <a:effectLst/>
  </c:spPr>
  <c:txPr>
    <a:bodyPr/>
    <a:lstStyle/>
    <a:p>
      <a:pPr>
        <a:defRPr lang="zh-CN">
          <a:latin typeface="黑体-简" panose="02000000000000000000" charset="-122"/>
          <a:ea typeface="黑体-简" panose="02000000000000000000" charset="-122"/>
          <a:cs typeface="黑体-简" panose="02000000000000000000" charset="-122"/>
          <a:sym typeface="黑体-简" panose="02000000000000000000" charset="-122"/>
        </a:defRPr>
      </a:pPr>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"日均攻击数"</c:f>
              <c:strCache>
                <c:ptCount val="1"/>
                <c:pt idx="0">
                  <c:v>日均攻击数</c:v>
                </c:pt>
              </c:strCache>
            </c:strRef>
          </c:tx>
          <c:spPr>
            <a:solidFill>
              <a:schemeClr val="accent1"/>
            </a:solidFill>
            <a:ln>
              <a:noFill/>
            </a:ln>
            <a:effectLst/>
          </c:spPr>
          <c:invertIfNegative val="0"/>
          <c:dLbls>
            <c:spPr>
              <a:noFill/>
              <a:ln>
                <a:noFill/>
              </a:ln>
              <a:effectLst/>
            </c:spPr>
            <c:txPr>
              <a:bodyPr rot="0" spcFirstLastPara="0" vertOverflow="ellipsis" vert="horz" wrap="square" lIns="38100" tIns="19050" rIns="38100" bIns="19050" anchor="ctr" anchorCtr="1"/>
              <a:lstStyle/>
              <a:p>
                <a:pPr>
                  <a:defRPr lang="zh-CN" sz="500" b="0" i="0" u="none" strike="noStrike" kern="1200" baseline="0">
                    <a:solidFill>
                      <a:schemeClr val="bg2">
                        <a:lumMod val="10000"/>
                      </a:schemeClr>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'[很多鱼安全运营工作报告-20250801.xlsx]数据统计'!$C$89:$C$95</c:f>
              <c:strCache>
                <c:ptCount val="7"/>
                <c:pt idx="0">
                  <c:v>中秋（24/9/15-9/17）</c:v>
                </c:pt>
                <c:pt idx="1">
                  <c:v>国庆（24/10/1-10/7）</c:v>
                </c:pt>
                <c:pt idx="2">
                  <c:v>元旦（25/1/1）</c:v>
                </c:pt>
                <c:pt idx="3">
                  <c:v>春节（25/1/23-2/5）</c:v>
                </c:pt>
                <c:pt idx="4">
                  <c:v>清明（25/4/4-4/6）</c:v>
                </c:pt>
                <c:pt idx="5">
                  <c:v>五一（25/5/1-5/5）</c:v>
                </c:pt>
                <c:pt idx="6">
                  <c:v>端午（25/5/31-6/2）</c:v>
                </c:pt>
              </c:strCache>
            </c:strRef>
          </c:cat>
          <c:val>
            <c:numRef>
              <c:f>'[很多鱼安全运营工作报告-20250801.xlsx]数据统计'!$D$89:$D$95</c:f>
              <c:numCache>
                <c:formatCode>General</c:formatCode>
                <c:ptCount val="7"/>
                <c:pt idx="0">
                  <c:v>9623</c:v>
                </c:pt>
                <c:pt idx="1">
                  <c:v>28655</c:v>
                </c:pt>
                <c:pt idx="2">
                  <c:v>3461</c:v>
                </c:pt>
                <c:pt idx="3">
                  <c:v>16440</c:v>
                </c:pt>
                <c:pt idx="4">
                  <c:v>2238</c:v>
                </c:pt>
                <c:pt idx="5">
                  <c:v>7218</c:v>
                </c:pt>
                <c:pt idx="6">
                  <c:v>5570</c:v>
                </c:pt>
              </c:numCache>
            </c:numRef>
          </c:val>
        </c:ser>
        <c:dLbls>
          <c:showLegendKey val="0"/>
          <c:showVal val="0"/>
          <c:showCatName val="0"/>
          <c:showSerName val="0"/>
          <c:showPercent val="0"/>
          <c:showBubbleSize val="0"/>
        </c:dLbls>
        <c:gapWidth val="219"/>
        <c:overlap val="-27"/>
        <c:axId val="452361593"/>
        <c:axId val="478519395"/>
      </c:barChart>
      <c:lineChart>
        <c:grouping val="standard"/>
        <c:varyColors val="0"/>
        <c:ser>
          <c:idx val="1"/>
          <c:order val="1"/>
          <c:tx>
            <c:strRef>
              <c:f>"防御率"</c:f>
              <c:strCache>
                <c:ptCount val="1"/>
                <c:pt idx="0">
                  <c:v>防御率</c:v>
                </c:pt>
              </c:strCache>
            </c:strRef>
          </c:tx>
          <c:spPr>
            <a:ln w="28575" cap="rnd">
              <a:solidFill>
                <a:srgbClr val="00D860"/>
              </a:solidFill>
              <a:round/>
            </a:ln>
            <a:effectLst/>
          </c:spPr>
          <c:marker>
            <c:symbol val="none"/>
          </c:marker>
          <c:dLbls>
            <c:delete val="1"/>
          </c:dLbls>
          <c:cat>
            <c:strRef>
              <c:f>'[很多鱼安全运营工作报告-20250801.xlsx]数据统计'!$C$89:$C$95</c:f>
              <c:strCache>
                <c:ptCount val="7"/>
                <c:pt idx="0">
                  <c:v>中秋（24/9/15-9/17）</c:v>
                </c:pt>
                <c:pt idx="1">
                  <c:v>国庆（24/10/1-10/7）</c:v>
                </c:pt>
                <c:pt idx="2">
                  <c:v>元旦（25/1/1）</c:v>
                </c:pt>
                <c:pt idx="3">
                  <c:v>春节（25/1/23-2/5）</c:v>
                </c:pt>
                <c:pt idx="4">
                  <c:v>清明（25/4/4-4/6）</c:v>
                </c:pt>
                <c:pt idx="5">
                  <c:v>五一（25/5/1-5/5）</c:v>
                </c:pt>
                <c:pt idx="6">
                  <c:v>端午（25/5/31-6/2）</c:v>
                </c:pt>
              </c:strCache>
            </c:strRef>
          </c:cat>
          <c:val>
            <c:numRef>
              <c:f>'[很多鱼安全运营工作报告-20250801.xlsx]数据统计'!$E$89:$E$95</c:f>
              <c:numCache>
                <c:formatCode>0%</c:formatCode>
                <c:ptCount val="7"/>
                <c:pt idx="0">
                  <c:v>1</c:v>
                </c:pt>
                <c:pt idx="1">
                  <c:v>1</c:v>
                </c:pt>
                <c:pt idx="2">
                  <c:v>1</c:v>
                </c:pt>
                <c:pt idx="3">
                  <c:v>1</c:v>
                </c:pt>
                <c:pt idx="4">
                  <c:v>1</c:v>
                </c:pt>
                <c:pt idx="5">
                  <c:v>1</c:v>
                </c:pt>
                <c:pt idx="6">
                  <c:v>1</c:v>
                </c:pt>
              </c:numCache>
            </c:numRef>
          </c:val>
          <c:smooth val="0"/>
        </c:ser>
        <c:dLbls>
          <c:showLegendKey val="0"/>
          <c:showVal val="0"/>
          <c:showCatName val="0"/>
          <c:showSerName val="0"/>
          <c:showPercent val="0"/>
          <c:showBubbleSize val="0"/>
        </c:dLbls>
        <c:marker val="0"/>
        <c:smooth val="0"/>
        <c:axId val="725296953"/>
        <c:axId val="406196429"/>
      </c:lineChart>
      <c:catAx>
        <c:axId val="452361593"/>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500" b="0" i="0" u="none" strike="noStrike" kern="1200" baseline="0">
                <a:solidFill>
                  <a:schemeClr val="bg2">
                    <a:lumMod val="10000"/>
                  </a:schemeClr>
                </a:solidFill>
                <a:latin typeface="+mn-lt"/>
                <a:ea typeface="+mn-ea"/>
                <a:cs typeface="+mn-cs"/>
              </a:defRPr>
            </a:pPr>
          </a:p>
        </c:txPr>
        <c:crossAx val="478519395"/>
        <c:crosses val="autoZero"/>
        <c:auto val="1"/>
        <c:lblAlgn val="ctr"/>
        <c:lblOffset val="100"/>
        <c:noMultiLvlLbl val="0"/>
      </c:catAx>
      <c:valAx>
        <c:axId val="478519395"/>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0" vertOverflow="ellipsis" vert="horz" wrap="square" anchor="ctr" anchorCtr="1"/>
          <a:lstStyle/>
          <a:p>
            <a:pPr>
              <a:defRPr lang="zh-CN" sz="500" b="0" i="0" u="none" strike="noStrike" kern="1200" baseline="0">
                <a:solidFill>
                  <a:schemeClr val="bg2">
                    <a:lumMod val="10000"/>
                  </a:schemeClr>
                </a:solidFill>
                <a:latin typeface="+mn-lt"/>
                <a:ea typeface="+mn-ea"/>
                <a:cs typeface="+mn-cs"/>
              </a:defRPr>
            </a:pPr>
          </a:p>
        </c:txPr>
        <c:crossAx val="452361593"/>
        <c:crosses val="autoZero"/>
        <c:crossBetween val="between"/>
      </c:valAx>
      <c:catAx>
        <c:axId val="725296953"/>
        <c:scaling>
          <c:orientation val="minMax"/>
        </c:scaling>
        <c:delete val="1"/>
        <c:axPos val="b"/>
        <c:majorTickMark val="out"/>
        <c:minorTickMark val="none"/>
        <c:tickLblPos val="nextTo"/>
        <c:txPr>
          <a:bodyPr rot="-60000000" spcFirstLastPara="0" vertOverflow="ellipsis" vert="horz" wrap="square" anchor="ctr" anchorCtr="1"/>
          <a:lstStyle/>
          <a:p>
            <a:pPr>
              <a:defRPr lang="zh-CN" sz="500" b="0" i="0" u="none" strike="noStrike" kern="1200" baseline="0">
                <a:solidFill>
                  <a:schemeClr val="bg2">
                    <a:lumMod val="10000"/>
                  </a:schemeClr>
                </a:solidFill>
                <a:latin typeface="+mn-lt"/>
                <a:ea typeface="+mn-ea"/>
                <a:cs typeface="+mn-cs"/>
              </a:defRPr>
            </a:pPr>
          </a:p>
        </c:txPr>
        <c:crossAx val="406196429"/>
        <c:crosses val="autoZero"/>
        <c:auto val="1"/>
        <c:lblAlgn val="ctr"/>
        <c:lblOffset val="100"/>
        <c:noMultiLvlLbl val="0"/>
      </c:catAx>
      <c:valAx>
        <c:axId val="406196429"/>
        <c:scaling>
          <c:orientation val="minMax"/>
        </c:scaling>
        <c:delete val="0"/>
        <c:axPos val="r"/>
        <c:numFmt formatCode="0%" sourceLinked="1"/>
        <c:majorTickMark val="out"/>
        <c:minorTickMark val="none"/>
        <c:tickLblPos val="nextTo"/>
        <c:spPr>
          <a:noFill/>
          <a:ln>
            <a:noFill/>
          </a:ln>
          <a:effectLst/>
        </c:spPr>
        <c:txPr>
          <a:bodyPr rot="-60000000" spcFirstLastPara="0" vertOverflow="ellipsis" vert="horz" wrap="square" anchor="ctr" anchorCtr="1"/>
          <a:lstStyle/>
          <a:p>
            <a:pPr>
              <a:defRPr lang="zh-CN" sz="500" b="0" i="0" u="none" strike="noStrike" kern="1200" baseline="0">
                <a:solidFill>
                  <a:schemeClr val="bg2">
                    <a:lumMod val="10000"/>
                  </a:schemeClr>
                </a:solidFill>
                <a:latin typeface="+mn-lt"/>
                <a:ea typeface="+mn-ea"/>
                <a:cs typeface="+mn-cs"/>
              </a:defRPr>
            </a:pPr>
          </a:p>
        </c:txPr>
        <c:crossAx val="725296953"/>
        <c:crosses val="max"/>
        <c:crossBetween val="between"/>
      </c:valAx>
      <c:spPr>
        <a:noFill/>
        <a:ln>
          <a:noFill/>
        </a:ln>
        <a:effectLst/>
      </c:spPr>
    </c:plotArea>
    <c:legend>
      <c:legendPos val="b"/>
      <c:legendEntry>
        <c:idx val="0"/>
        <c:txPr>
          <a:bodyPr rot="0" spcFirstLastPara="0" vertOverflow="ellipsis" vert="horz" wrap="square" anchor="ctr" anchorCtr="1"/>
          <a:lstStyle/>
          <a:p>
            <a:pPr>
              <a:defRPr lang="zh-CN" sz="500" b="0" i="0" u="none" strike="noStrike" kern="1200" baseline="0">
                <a:solidFill>
                  <a:schemeClr val="bg2">
                    <a:lumMod val="10000"/>
                  </a:schemeClr>
                </a:solidFill>
                <a:latin typeface="+mn-lt"/>
                <a:ea typeface="+mn-ea"/>
                <a:cs typeface="+mn-cs"/>
              </a:defRPr>
            </a:pPr>
          </a:p>
        </c:txPr>
      </c:legendEntry>
      <c:legendEntry>
        <c:idx val="1"/>
        <c:txPr>
          <a:bodyPr rot="0" spcFirstLastPara="0" vertOverflow="ellipsis" vert="horz" wrap="square" anchor="ctr" anchorCtr="1"/>
          <a:lstStyle/>
          <a:p>
            <a:pPr>
              <a:defRPr lang="zh-CN" sz="500" b="0" i="0" u="none" strike="noStrike" kern="1200" baseline="0">
                <a:solidFill>
                  <a:schemeClr val="bg2">
                    <a:lumMod val="10000"/>
                  </a:schemeClr>
                </a:solidFill>
                <a:latin typeface="+mn-lt"/>
                <a:ea typeface="+mn-ea"/>
                <a:cs typeface="+mn-cs"/>
              </a:defRPr>
            </a:pPr>
          </a:p>
        </c:txPr>
      </c:legendEntry>
      <c:layout/>
      <c:overlay val="0"/>
      <c:spPr>
        <a:noFill/>
        <a:ln>
          <a:noFill/>
        </a:ln>
        <a:effectLst/>
      </c:spPr>
      <c:txPr>
        <a:bodyPr rot="0" spcFirstLastPara="0" vertOverflow="ellipsis" vert="horz" wrap="square" anchor="ctr" anchorCtr="1"/>
        <a:lstStyle/>
        <a:p>
          <a:pPr>
            <a:defRPr lang="zh-CN" sz="500" b="0" i="0" u="none" strike="noStrike" kern="1200" baseline="0">
              <a:solidFill>
                <a:schemeClr val="bg2">
                  <a:lumMod val="10000"/>
                </a:schemeClr>
              </a:solidFill>
              <a:latin typeface="+mn-lt"/>
              <a:ea typeface="+mn-ea"/>
              <a:cs typeface="+mn-cs"/>
            </a:defRPr>
          </a:pPr>
        </a:p>
      </c:txPr>
    </c:legend>
    <c:plotVisOnly val="1"/>
    <c:dispBlanksAs val="gap"/>
    <c:showDLblsOverMax val="0"/>
    <c:extLst>
      <c:ext uri="{0b15fc19-7d7d-44ad-8c2d-2c3a37ce22c3}">
        <chartProps xmlns="https://web.wps.cn/et/2018/main" chartId="{2026f24e-bb0f-4c4d-9956-999e3625512c}"/>
      </c:ext>
    </c:extLst>
  </c:chart>
  <c:spPr>
    <a:noFill/>
    <a:ln w="9525" cap="flat" cmpd="sng" algn="ctr">
      <a:noFill/>
      <a:round/>
    </a:ln>
    <a:effectLst/>
  </c:spPr>
  <c:txPr>
    <a:bodyPr/>
    <a:lstStyle/>
    <a:p>
      <a:pPr>
        <a:defRPr lang="zh-CN" sz="500">
          <a:solidFill>
            <a:schemeClr val="bg2">
              <a:lumMod val="10000"/>
            </a:schemeClr>
          </a:solidFill>
        </a:defRPr>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100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noFill/>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10028">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0">
      <cs:styleClr val="auto"/>
    </cs:fillRef>
    <cs:effectRef idx="0"/>
    <cs:fontRef idx="minor">
      <a:schemeClr val="dk1"/>
    </cs:fontRef>
    <cs:spPr>
      <a:ln w="28575" cap="rnd">
        <a:solidFill>
          <a:schemeClr val="phClr"/>
        </a:solidFill>
        <a:round/>
      </a:ln>
      <a:effectLst/>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10028">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0">
      <cs:styleClr val="auto"/>
    </cs:fillRef>
    <cs:effectRef idx="0"/>
    <cs:fontRef idx="minor">
      <a:schemeClr val="dk1"/>
    </cs:fontRef>
    <cs:spPr>
      <a:ln w="28575" cap="rnd">
        <a:solidFill>
          <a:schemeClr val="phClr"/>
        </a:solidFill>
        <a:round/>
      </a:ln>
      <a:effectLst/>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100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noFill/>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7.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8.xml><?xml version="1.0" encoding="utf-8"?>
<cs:chartStyle xmlns:cs="http://schemas.microsoft.com/office/drawing/2012/chartStyle" xmlns:a="http://schemas.openxmlformats.org/drawingml/2006/main" id="10109">
  <cs:axisTitle>
    <cs:lnRef idx="0"/>
    <cs:fillRef idx="0"/>
    <cs:effectRef idx="0"/>
    <cs:fontRef idx="minor">
      <a:srgbClr val="000000">
        <a:lumMod val="65000"/>
        <a:lumOff val="35000"/>
      </a:srgbClr>
    </cs:fontRef>
    <cs:defRPr sz="1000" kern="1200"/>
  </cs:axisTitle>
  <cs:categoryAxis>
    <cs:lnRef idx="0"/>
    <cs:fillRef idx="0"/>
    <cs:effectRef idx="0"/>
    <cs:fontRef idx="minor">
      <a:srgbClr val="000000">
        <a:lumMod val="65000"/>
        <a:lumOff val="35000"/>
      </a:srgbClr>
    </cs:fontRef>
    <cs:spPr>
      <a:ln w="9525" cap="flat" cmpd="sng" algn="ctr">
        <a:solidFill>
          <a:srgbClr val="000000">
            <a:lumMod val="15000"/>
            <a:lumOff val="85000"/>
          </a:srgbClr>
        </a:solidFill>
        <a:round/>
      </a:ln>
    </cs:spPr>
    <cs:defRPr sz="900" kern="1200"/>
  </cs:categoryAxis>
  <cs:chartArea mods="allowNoFillOverride allowNoLineOverride">
    <cs:lnRef idx="0"/>
    <cs:fillRef idx="0"/>
    <cs:effectRef idx="0"/>
    <cs:fontRef idx="minor">
      <a:srgbClr val="000000"/>
    </cs:fontRef>
    <cs:spPr>
      <a:solidFill>
        <a:srgbClr val="FFFFFF"/>
      </a:solidFill>
      <a:ln w="9525" cap="flat" cmpd="sng" algn="ctr">
        <a:solidFill>
          <a:srgbClr val="000000">
            <a:lumMod val="15000"/>
            <a:lumOff val="85000"/>
          </a:srgbClr>
        </a:solidFill>
        <a:round/>
      </a:ln>
    </cs:spPr>
    <cs:defRPr sz="900" kern="1200"/>
  </cs:chartArea>
  <cs:dataLabel>
    <cs:lnRef idx="0"/>
    <cs:fillRef idx="0"/>
    <cs:effectRef idx="0"/>
    <cs:fontRef idx="minor">
      <a:srgbClr val="000000">
        <a:lumMod val="75000"/>
        <a:lumOff val="25000"/>
      </a:srgbClr>
    </cs:fontRef>
    <cs:defRPr sz="1000" kern="1200"/>
  </cs:dataLabel>
  <cs:dataLabelCallout>
    <cs:lnRef idx="0"/>
    <cs:fillRef idx="0"/>
    <cs:effectRef idx="0"/>
    <cs:fontRef idx="minor">
      <a:srgbClr val="000000">
        <a:lumMod val="65000"/>
        <a:lumOff val="35000"/>
      </a:srgbClr>
    </cs:fontRef>
    <cs:spPr>
      <a:solidFill>
        <a:srgbClr val="FFFFFF"/>
      </a:solidFill>
      <a:ln>
        <a:solidFill>
          <a:srgbClr val="000000">
            <a:lumMod val="25000"/>
            <a:lumOff val="75000"/>
          </a:srgb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rgbClr val="000000"/>
    </cs:fontRef>
    <cs:spPr>
      <a:ln>
        <a:solidFill>
          <a:srgbClr val="FFFFFF"/>
        </a:solidFill>
      </a:ln>
      <a:effectLst/>
    </cs:spPr>
  </cs:dataPoint>
  <cs:dataPoint3D>
    <cs:lnRef idx="0"/>
    <cs:fillRef idx="1">
      <cs:styleClr val="auto"/>
    </cs:fillRef>
    <cs:effectRef idx="0"/>
    <cs:fontRef idx="minor">
      <a:srgbClr val="000000"/>
    </cs:fontRef>
    <cs:spPr>
      <a:ln w="25400">
        <a:solidFill>
          <a:srgbClr val="FFFFFF"/>
        </a:solidFill>
      </a:ln>
    </cs:spPr>
  </cs:dataPoint3D>
  <cs:dataPointLine>
    <cs:lnRef idx="0">
      <cs:styleClr val="auto"/>
    </cs:lnRef>
    <cs:fillRef idx="0"/>
    <cs:effectRef idx="0"/>
    <cs:fontRef idx="minor">
      <a:srgbClr val="000000"/>
    </cs:fontRef>
    <cs:spPr>
      <a:ln w="28575" cap="rnd">
        <a:solidFill>
          <a:srgbClr val="FFFFFF"/>
        </a:solidFill>
        <a:round/>
      </a:ln>
    </cs:spPr>
  </cs:dataPointLine>
  <cs:dataPointMarker>
    <cs:lnRef idx="0">
      <cs:styleClr val="auto"/>
    </cs:lnRef>
    <cs:fillRef idx="1">
      <cs:styleClr val="auto"/>
    </cs:fillRef>
    <cs:effectRef idx="0"/>
    <cs:fontRef idx="minor">
      <a:srgbClr val="000000"/>
    </cs:fontRef>
    <cs:spPr>
      <a:ln w="9525">
        <a:solidFill>
          <a:srgbClr val="FFFFFF"/>
        </a:solidFill>
      </a:ln>
    </cs:spPr>
  </cs:dataPointMarker>
  <cs:dataPointMarkerLayout symbol="circle" size="5"/>
  <cs:dataPointWireframe>
    <cs:lnRef idx="0">
      <cs:styleClr val="auto"/>
    </cs:lnRef>
    <cs:fillRef idx="0"/>
    <cs:effectRef idx="0"/>
    <cs:fontRef idx="minor">
      <a:srgbClr val="000000"/>
    </cs:fontRef>
    <cs:spPr>
      <a:ln w="9525" cap="rnd">
        <a:solidFill>
          <a:srgbClr val="FFFFFF"/>
        </a:solidFill>
        <a:round/>
      </a:ln>
    </cs:spPr>
  </cs:dataPointWireframe>
  <cs:dataTable>
    <cs:lnRef idx="0"/>
    <cs:fillRef idx="0"/>
    <cs:effectRef idx="0"/>
    <cs:fontRef idx="minor">
      <a:srgbClr val="000000">
        <a:lumMod val="65000"/>
        <a:lumOff val="35000"/>
      </a:srgbClr>
    </cs:fontRef>
    <cs:spPr>
      <a:noFill/>
      <a:ln w="9525" cap="flat" cmpd="sng" algn="ctr">
        <a:solidFill>
          <a:srgbClr val="000000">
            <a:lumMod val="15000"/>
            <a:lumOff val="85000"/>
          </a:srgbClr>
        </a:solidFill>
        <a:round/>
      </a:ln>
    </cs:spPr>
    <cs:defRPr sz="900" kern="1200"/>
  </cs:dataTable>
  <cs:downBar>
    <cs:lnRef idx="0"/>
    <cs:fillRef idx="0"/>
    <cs:effectRef idx="0"/>
    <cs:fontRef idx="minor">
      <a:srgbClr val="000000"/>
    </cs:fontRef>
    <cs:spPr>
      <a:solidFill>
        <a:srgbClr val="000000">
          <a:lumMod val="75000"/>
          <a:lumOff val="25000"/>
        </a:srgbClr>
      </a:solidFill>
      <a:ln w="9525" cap="flat" cmpd="sng" algn="ctr">
        <a:solidFill>
          <a:srgbClr val="000000">
            <a:lumMod val="65000"/>
            <a:lumOff val="35000"/>
          </a:srgbClr>
        </a:solidFill>
        <a:round/>
      </a:ln>
    </cs:spPr>
  </cs:downBar>
  <cs:dropLine>
    <cs:lnRef idx="0"/>
    <cs:fillRef idx="0"/>
    <cs:effectRef idx="0"/>
    <cs:fontRef idx="minor">
      <a:srgbClr val="000000"/>
    </cs:fontRef>
    <cs:spPr>
      <a:ln w="9525" cap="flat" cmpd="sng" algn="ctr">
        <a:solidFill>
          <a:srgbClr val="000000">
            <a:lumMod val="35000"/>
            <a:lumOff val="65000"/>
          </a:srgbClr>
        </a:solidFill>
        <a:round/>
      </a:ln>
    </cs:spPr>
  </cs:dropLine>
  <cs:errorBar>
    <cs:lnRef idx="0"/>
    <cs:fillRef idx="0"/>
    <cs:effectRef idx="0"/>
    <cs:fontRef idx="minor">
      <a:srgbClr val="000000"/>
    </cs:fontRef>
    <cs:spPr>
      <a:ln w="9525" cap="flat" cmpd="sng" algn="ctr">
        <a:solidFill>
          <a:srgbClr val="000000">
            <a:lumMod val="65000"/>
            <a:lumOff val="35000"/>
          </a:srgbClr>
        </a:solidFill>
        <a:round/>
      </a:ln>
    </cs:spPr>
  </cs:errorBar>
  <cs:floor>
    <cs:lnRef idx="0"/>
    <cs:fillRef idx="0"/>
    <cs:effectRef idx="0"/>
    <cs:fontRef idx="minor">
      <a:srgbClr val="000000"/>
    </cs:fontRef>
    <cs:spPr>
      <a:noFill/>
      <a:ln>
        <a:noFill/>
      </a:ln>
    </cs:spPr>
  </cs:floor>
  <cs:gridlineMajor>
    <cs:lnRef idx="0"/>
    <cs:fillRef idx="0"/>
    <cs:effectRef idx="0"/>
    <cs:fontRef idx="minor">
      <a:srgbClr val="000000"/>
    </cs:fontRef>
    <cs:spPr>
      <a:ln w="9525" cap="flat" cmpd="sng" algn="ctr">
        <a:solidFill>
          <a:srgbClr val="FFFFFF">
            <a:lumMod val="90200"/>
          </a:srgbClr>
        </a:solidFill>
        <a:round/>
      </a:ln>
    </cs:spPr>
  </cs:gridlineMajor>
  <cs:gridlineMinor>
    <cs:lnRef idx="0"/>
    <cs:fillRef idx="0"/>
    <cs:effectRef idx="0"/>
    <cs:fontRef idx="minor">
      <a:srgbClr val="000000"/>
    </cs:fontRef>
    <cs:spPr>
      <a:ln w="9525" cap="flat" cmpd="sng" algn="ctr">
        <a:solidFill>
          <a:srgbClr val="000000">
            <a:lumMod val="5000"/>
            <a:lumOff val="95000"/>
          </a:srgbClr>
        </a:solidFill>
        <a:round/>
      </a:ln>
    </cs:spPr>
  </cs:gridlineMinor>
  <cs:hiLoLine>
    <cs:lnRef idx="0"/>
    <cs:fillRef idx="0"/>
    <cs:effectRef idx="0"/>
    <cs:fontRef idx="minor">
      <a:srgbClr val="000000"/>
    </cs:fontRef>
    <cs:spPr>
      <a:ln w="9525" cap="flat" cmpd="sng" algn="ctr">
        <a:solidFill>
          <a:srgbClr val="000000">
            <a:lumMod val="50000"/>
            <a:lumOff val="50000"/>
          </a:srgbClr>
        </a:solidFill>
        <a:round/>
      </a:ln>
    </cs:spPr>
  </cs:hiLoLine>
  <cs:leaderLine>
    <cs:lnRef idx="0"/>
    <cs:fillRef idx="0"/>
    <cs:effectRef idx="0"/>
    <cs:fontRef idx="minor">
      <a:srgbClr val="000000"/>
    </cs:fontRef>
    <cs:spPr>
      <a:ln w="9525" cap="flat" cmpd="sng" algn="ctr">
        <a:solidFill>
          <a:srgbClr val="000000">
            <a:lumMod val="35000"/>
            <a:lumOff val="65000"/>
          </a:srgbClr>
        </a:solidFill>
        <a:round/>
      </a:ln>
    </cs:spPr>
  </cs:leaderLine>
  <cs:legend>
    <cs:lnRef idx="0"/>
    <cs:fillRef idx="0"/>
    <cs:effectRef idx="0"/>
    <cs:fontRef idx="minor">
      <a:srgbClr val="000000">
        <a:lumMod val="65000"/>
        <a:lumOff val="35000"/>
      </a:srgbClr>
    </cs:fontRef>
    <cs:defRPr sz="900" kern="1200"/>
  </cs:legend>
  <cs:plotArea mods="allowNoFillOverride allowNoLineOverride">
    <cs:lnRef idx="0"/>
    <cs:fillRef idx="0"/>
    <cs:effectRef idx="0"/>
    <cs:fontRef idx="minor">
      <a:srgbClr val="000000"/>
    </cs:fontRef>
  </cs:plotArea>
  <cs:plotArea3D mods="allowNoFillOverride allowNoLineOverride">
    <cs:lnRef idx="0"/>
    <cs:fillRef idx="0"/>
    <cs:effectRef idx="0"/>
    <cs:fontRef idx="minor">
      <a:srgbClr val="000000"/>
    </cs:fontRef>
  </cs:plotArea3D>
  <cs:seriesAxis>
    <cs:lnRef idx="0"/>
    <cs:fillRef idx="0"/>
    <cs:effectRef idx="0"/>
    <cs:fontRef idx="minor">
      <a:srgbClr val="000000">
        <a:lumMod val="65000"/>
        <a:lumOff val="35000"/>
      </a:srgbClr>
    </cs:fontRef>
    <cs:defRPr sz="900" kern="1200"/>
  </cs:seriesAxis>
  <cs:seriesLine>
    <cs:lnRef idx="0"/>
    <cs:fillRef idx="0"/>
    <cs:effectRef idx="0"/>
    <cs:fontRef idx="minor">
      <a:srgbClr val="000000"/>
    </cs:fontRef>
    <cs:spPr>
      <a:ln w="9525" cap="flat" cmpd="sng" algn="ctr">
        <a:solidFill>
          <a:srgbClr val="000000">
            <a:lumMod val="35000"/>
            <a:lumOff val="65000"/>
          </a:srgbClr>
        </a:solidFill>
        <a:round/>
      </a:ln>
    </cs:spPr>
  </cs:seriesLine>
  <cs:title>
    <cs:lnRef idx="0"/>
    <cs:fillRef idx="0"/>
    <cs:effectRef idx="0"/>
    <cs:fontRef idx="minor">
      <a:srgbClr val="000000">
        <a:lumMod val="75000"/>
        <a:lumOff val="25000"/>
      </a:srgbClr>
    </cs:fontRef>
    <cs:defRPr sz="1400" b="1" kern="1200" baseline="0"/>
  </cs:title>
  <cs:trendline>
    <cs:lnRef idx="0">
      <cs:styleClr val="auto"/>
    </cs:lnRef>
    <cs:fillRef idx="0"/>
    <cs:effectRef idx="0"/>
    <cs:fontRef idx="minor">
      <a:srgbClr val="000000"/>
    </cs:fontRef>
    <cs:spPr>
      <a:ln w="19050" cap="rnd">
        <a:solidFill>
          <a:srgbClr val="FFFFFF"/>
        </a:solidFill>
        <a:prstDash val="sysDot"/>
      </a:ln>
    </cs:spPr>
  </cs:trendline>
  <cs:trendlineLabel>
    <cs:lnRef idx="0"/>
    <cs:fillRef idx="0"/>
    <cs:effectRef idx="0"/>
    <cs:fontRef idx="minor">
      <a:srgbClr val="000000">
        <a:lumMod val="65000"/>
        <a:lumOff val="35000"/>
      </a:srgbClr>
    </cs:fontRef>
    <cs:defRPr sz="900" kern="1200"/>
  </cs:trendlineLabel>
  <cs:upBar>
    <cs:lnRef idx="0"/>
    <cs:fillRef idx="0"/>
    <cs:effectRef idx="0"/>
    <cs:fontRef idx="minor">
      <a:srgbClr val="000000"/>
    </cs:fontRef>
    <cs:spPr>
      <a:solidFill>
        <a:srgbClr val="FFFFFF"/>
      </a:solidFill>
      <a:ln w="9525" cap="flat" cmpd="sng" algn="ctr">
        <a:solidFill>
          <a:srgbClr val="000000">
            <a:lumMod val="65000"/>
            <a:lumOff val="35000"/>
          </a:srgbClr>
        </a:solidFill>
        <a:round/>
      </a:ln>
    </cs:spPr>
  </cs:upBar>
  <cs:valueAxis>
    <cs:lnRef idx="0"/>
    <cs:fillRef idx="0"/>
    <cs:effectRef idx="0"/>
    <cs:fontRef idx="minor">
      <a:srgbClr val="000000">
        <a:lumMod val="65000"/>
        <a:lumOff val="35000"/>
      </a:srgbClr>
    </cs:fontRef>
    <cs:defRPr sz="900" kern="1200"/>
  </cs:valueAxis>
  <cs:wall>
    <cs:lnRef idx="0"/>
    <cs:fillRef idx="0"/>
    <cs:effectRef idx="0"/>
    <cs:fontRef idx="minor">
      <a:srgbClr val="000000"/>
    </cs:fontRef>
    <cs:spPr>
      <a:noFill/>
      <a:ln>
        <a:noFill/>
      </a:ln>
    </cs:spPr>
  </cs:wall>
</cs:chartStyle>
</file>

<file path=ppt/charts/style9.xml><?xml version="1.0" encoding="utf-8"?>
<cs:chartStyle xmlns:cs="http://schemas.microsoft.com/office/drawing/2012/chartStyle" xmlns:a="http://schemas.openxmlformats.org/drawingml/2006/main" id="10028">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0">
      <cs:styleClr val="auto"/>
    </cs:fillRef>
    <cs:effectRef idx="0"/>
    <cs:fontRef idx="minor">
      <a:schemeClr val="dk1"/>
    </cs:fontRef>
    <cs:spPr>
      <a:ln w="28575" cap="rnd">
        <a:solidFill>
          <a:schemeClr val="phClr"/>
        </a:solidFill>
        <a:round/>
      </a:ln>
      <a:effectLst/>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10298">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noFill/>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en-US"/>
              <a:t>刚刚我们了解了项目启动会的基本信息，接下来至关重要的就是回顾项目背景与目标。同步项目信息、对齐运营目标是整个项目顺利推进的基础，只有对背景和目标清晰把握，才能让后续工作有的放矢。那具体的项目背景是怎样的，目标又如何达成呢，让我们一同深入探究。</a:t>
            </a:r>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到底工作成果的变化是重点从哪个内容带来的，要明确出来；苦劳也要有，深信服比其他人为什么能做得更好？印象深刻的点，另甲方印象深刻的具体事件，可以</a:t>
            </a:r>
            <a:r>
              <a:rPr lang="zh-CN" altLang="en-US"/>
              <a:t>补充</a:t>
            </a:r>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5" Type="http://schemas.openxmlformats.org/officeDocument/2006/relationships/tags" Target="../tags/tag7.xml"/><Relationship Id="rId4" Type="http://schemas.openxmlformats.org/officeDocument/2006/relationships/tags" Target="../tags/tag6.xml"/><Relationship Id="rId3" Type="http://schemas.openxmlformats.org/officeDocument/2006/relationships/tags" Target="../tags/tag5.xml"/><Relationship Id="rId2" Type="http://schemas.openxmlformats.org/officeDocument/2006/relationships/tags" Target="../tags/tag4.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9" Type="http://schemas.openxmlformats.org/officeDocument/2006/relationships/tags" Target="../tags/tag15.xml"/><Relationship Id="rId8" Type="http://schemas.openxmlformats.org/officeDocument/2006/relationships/tags" Target="../tags/tag14.xml"/><Relationship Id="rId7" Type="http://schemas.openxmlformats.org/officeDocument/2006/relationships/tags" Target="../tags/tag13.xml"/><Relationship Id="rId6" Type="http://schemas.openxmlformats.org/officeDocument/2006/relationships/tags" Target="../tags/tag12.xml"/><Relationship Id="rId5" Type="http://schemas.openxmlformats.org/officeDocument/2006/relationships/tags" Target="../tags/tag11.xml"/><Relationship Id="rId4" Type="http://schemas.openxmlformats.org/officeDocument/2006/relationships/tags" Target="../tags/tag10.xml"/><Relationship Id="rId3" Type="http://schemas.openxmlformats.org/officeDocument/2006/relationships/tags" Target="../tags/tag9.xml"/><Relationship Id="rId2" Type="http://schemas.openxmlformats.org/officeDocument/2006/relationships/tags" Target="../tags/tag8.xml"/><Relationship Id="rId11" Type="http://schemas.openxmlformats.org/officeDocument/2006/relationships/tags" Target="../tags/tag17.xml"/><Relationship Id="rId10" Type="http://schemas.openxmlformats.org/officeDocument/2006/relationships/tags" Target="../tags/tag16.xml"/><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4" Type="http://schemas.openxmlformats.org/officeDocument/2006/relationships/tags" Target="../tags/tag20.xml"/><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9" Type="http://schemas.openxmlformats.org/officeDocument/2006/relationships/tags" Target="../tags/tag34.xml"/><Relationship Id="rId8" Type="http://schemas.openxmlformats.org/officeDocument/2006/relationships/tags" Target="../tags/tag33.xml"/><Relationship Id="rId7" Type="http://schemas.openxmlformats.org/officeDocument/2006/relationships/tags" Target="../tags/tag32.xml"/><Relationship Id="rId6" Type="http://schemas.openxmlformats.org/officeDocument/2006/relationships/tags" Target="../tags/tag31.xml"/><Relationship Id="rId5" Type="http://schemas.openxmlformats.org/officeDocument/2006/relationships/tags" Target="../tags/tag30.xml"/><Relationship Id="rId4" Type="http://schemas.openxmlformats.org/officeDocument/2006/relationships/tags" Target="../tags/tag29.xml"/><Relationship Id="rId3" Type="http://schemas.openxmlformats.org/officeDocument/2006/relationships/tags" Target="../tags/tag28.xml"/><Relationship Id="rId2" Type="http://schemas.openxmlformats.org/officeDocument/2006/relationships/tags" Target="../tags/tag27.xml"/><Relationship Id="rId13" Type="http://schemas.openxmlformats.org/officeDocument/2006/relationships/tags" Target="../tags/tag38.xml"/><Relationship Id="rId12" Type="http://schemas.openxmlformats.org/officeDocument/2006/relationships/tags" Target="../tags/tag37.xml"/><Relationship Id="rId11" Type="http://schemas.openxmlformats.org/officeDocument/2006/relationships/tags" Target="../tags/tag36.xml"/><Relationship Id="rId10" Type="http://schemas.openxmlformats.org/officeDocument/2006/relationships/tags" Target="../tags/tag35.xml"/><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8_自定义版式">
    <p:spTree>
      <p:nvGrpSpPr>
        <p:cNvPr id="1" name=""/>
        <p:cNvGrpSpPr/>
        <p:nvPr/>
      </p:nvGrpSpPr>
      <p:grpSpPr>
        <a:xfrm>
          <a:off x="0" y="0"/>
          <a:ext cx="0" cy="0"/>
          <a:chOff x="0" y="0"/>
          <a:chExt cx="0" cy="0"/>
        </a:xfrm>
      </p:grpSpPr>
      <p:sp>
        <p:nvSpPr>
          <p:cNvPr id="9" name="文本框 8"/>
          <p:cNvSpPr txBox="1">
            <a:spLocks noChangeArrowheads="1"/>
          </p:cNvSpPr>
          <p:nvPr userDrawn="1"/>
        </p:nvSpPr>
        <p:spPr bwMode="auto">
          <a:xfrm>
            <a:off x="7356763" y="2854805"/>
            <a:ext cx="3590862" cy="2008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nSpc>
                <a:spcPct val="100000"/>
              </a:lnSpc>
              <a:spcBef>
                <a:spcPct val="0"/>
              </a:spcBef>
              <a:buNone/>
            </a:pPr>
            <a:r>
              <a:rPr lang="zh-CN" altLang="en-US" sz="6000" b="1" spc="600">
                <a:solidFill>
                  <a:schemeClr val="bg1"/>
                </a:solidFill>
                <a:latin typeface="微软雅黑" panose="020B0503020204020204" charset="-122"/>
                <a:ea typeface="微软雅黑" panose="020B0503020204020204" charset="-122"/>
              </a:rPr>
              <a:t>谢谢聆听</a:t>
            </a:r>
            <a:endParaRPr lang="en-US" altLang="zh-CN" sz="6000" b="1" spc="600" dirty="0">
              <a:solidFill>
                <a:schemeClr val="bg1"/>
              </a:solidFill>
              <a:latin typeface="微软雅黑" panose="020B0503020204020204" charset="-122"/>
              <a:ea typeface="微软雅黑" panose="020B0503020204020204" charset="-122"/>
            </a:endParaRPr>
          </a:p>
          <a:p>
            <a:pPr eaLnBrk="1" hangingPunct="1">
              <a:lnSpc>
                <a:spcPct val="100000"/>
              </a:lnSpc>
              <a:spcBef>
                <a:spcPct val="0"/>
              </a:spcBef>
              <a:buFontTx/>
              <a:buNone/>
            </a:pPr>
            <a:endParaRPr lang="en-US" altLang="zh-CN" sz="6600" b="1" spc="600" dirty="0">
              <a:solidFill>
                <a:srgbClr val="66BC29"/>
              </a:solidFill>
              <a:latin typeface="微软雅黑" panose="020B0503020204020204" charset="-122"/>
              <a:ea typeface="微软雅黑" panose="020B0503020204020204" charset="-122"/>
            </a:endParaRPr>
          </a:p>
        </p:txBody>
      </p:sp>
      <p:sp>
        <p:nvSpPr>
          <p:cNvPr id="10" name="文本框 8"/>
          <p:cNvSpPr txBox="1">
            <a:spLocks noChangeArrowheads="1"/>
          </p:cNvSpPr>
          <p:nvPr userDrawn="1"/>
        </p:nvSpPr>
        <p:spPr bwMode="auto">
          <a:xfrm>
            <a:off x="6322065" y="3880143"/>
            <a:ext cx="4507677"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dist">
              <a:lnSpc>
                <a:spcPct val="100000"/>
              </a:lnSpc>
              <a:spcBef>
                <a:spcPct val="0"/>
              </a:spcBef>
              <a:buNone/>
            </a:pPr>
            <a:r>
              <a:rPr lang="zh-CN" altLang="en-US" sz="1800" b="1" i="0" kern="1200" dirty="0">
                <a:solidFill>
                  <a:schemeClr val="bg1"/>
                </a:solidFill>
                <a:effectLst/>
                <a:latin typeface="+mj-ea"/>
                <a:ea typeface="+mj-ea"/>
                <a:cs typeface="+mn-cs"/>
              </a:rPr>
              <a:t>让每个用户的数字化更简单、更安全</a:t>
            </a:r>
            <a:r>
              <a:rPr lang="en-US" altLang="zh-CN" sz="1800" b="1" i="0" kern="1200" dirty="0">
                <a:solidFill>
                  <a:schemeClr val="bg1"/>
                </a:solidFill>
                <a:effectLst/>
                <a:latin typeface="+mj-ea"/>
                <a:ea typeface="+mj-ea"/>
                <a:cs typeface="+mn-cs"/>
              </a:rPr>
              <a:t>!</a:t>
            </a:r>
            <a:endParaRPr lang="en-US" altLang="zh-CN" sz="2000" b="1" spc="600" dirty="0">
              <a:solidFill>
                <a:schemeClr val="bg1"/>
              </a:solidFill>
              <a:latin typeface="+mj-ea"/>
              <a:ea typeface="+mj-ea"/>
            </a:endParaRPr>
          </a:p>
        </p:txBody>
      </p:sp>
      <p:pic>
        <p:nvPicPr>
          <p:cNvPr id="26" name="图片 2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608156" y="268011"/>
            <a:ext cx="2351905" cy="341209"/>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4"/>
            <a:ext cx="9144000" cy="2387600"/>
          </a:xfrm>
        </p:spPr>
        <p:txBody>
          <a:bodyPr anchor="b"/>
          <a:lstStyle>
            <a:lvl1pPr algn="ctr">
              <a:defRPr sz="635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540"/>
            </a:lvl1pPr>
            <a:lvl2pPr marL="483870" indent="0" algn="ctr">
              <a:buNone/>
              <a:defRPr sz="2120"/>
            </a:lvl2pPr>
            <a:lvl3pPr marL="967740" indent="0" algn="ctr">
              <a:buNone/>
              <a:defRPr sz="1905"/>
            </a:lvl3pPr>
            <a:lvl4pPr marL="1451610" indent="0" algn="ctr">
              <a:buNone/>
              <a:defRPr sz="1695"/>
            </a:lvl4pPr>
            <a:lvl5pPr marL="1935480" indent="0" algn="ctr">
              <a:buNone/>
              <a:defRPr sz="1695"/>
            </a:lvl5pPr>
            <a:lvl6pPr marL="2419350" indent="0" algn="ctr">
              <a:buNone/>
              <a:defRPr sz="1695"/>
            </a:lvl6pPr>
            <a:lvl7pPr marL="2903220" indent="0" algn="ctr">
              <a:buNone/>
              <a:defRPr sz="1695"/>
            </a:lvl7pPr>
            <a:lvl8pPr marL="3387090" indent="0" algn="ctr">
              <a:buNone/>
              <a:defRPr sz="1695"/>
            </a:lvl8pPr>
            <a:lvl9pPr marL="3870960" indent="0" algn="ctr">
              <a:buNone/>
              <a:defRPr sz="1695"/>
            </a:lvl9pPr>
          </a:lstStyle>
          <a:p>
            <a:r>
              <a:rPr lang="zh-CN" altLang="en-US"/>
              <a:t>单击以编辑母版副标题样式</a:t>
            </a:r>
            <a:endParaRPr lang="zh-CN" altLang="en-US"/>
          </a:p>
        </p:txBody>
      </p:sp>
      <p:sp>
        <p:nvSpPr>
          <p:cNvPr id="4" name="日期占位符 3"/>
          <p:cNvSpPr>
            <a:spLocks noGrp="1"/>
          </p:cNvSpPr>
          <p:nvPr>
            <p:ph type="dt" sz="half" idx="10"/>
          </p:nvPr>
        </p:nvSpPr>
        <p:spPr>
          <a:xfrm>
            <a:off x="838200" y="6356352"/>
            <a:ext cx="2743200" cy="365125"/>
          </a:xfrm>
        </p:spPr>
        <p:txBody>
          <a:bodyPr/>
          <a:lstStyle/>
          <a:p>
            <a:fld id="{6651D2DA-4D49-4791-B475-FB8E6506C035}" type="datetimeFigureOut">
              <a:rPr lang="zh-CN" altLang="en-US" smtClean="0"/>
            </a:fld>
            <a:endParaRPr lang="zh-CN" altLang="en-US"/>
          </a:p>
        </p:txBody>
      </p:sp>
      <p:sp>
        <p:nvSpPr>
          <p:cNvPr id="5" name="页脚占位符 4"/>
          <p:cNvSpPr>
            <a:spLocks noGrp="1"/>
          </p:cNvSpPr>
          <p:nvPr>
            <p:ph type="ftr" sz="quarter" idx="11"/>
          </p:nvPr>
        </p:nvSpPr>
        <p:spPr>
          <a:xfrm>
            <a:off x="4038601" y="6356352"/>
            <a:ext cx="4114801" cy="365125"/>
          </a:xfrm>
        </p:spPr>
        <p:txBody>
          <a:bodyPr/>
          <a:lstStyle/>
          <a:p>
            <a:endParaRPr lang="zh-CN" altLang="en-US"/>
          </a:p>
        </p:txBody>
      </p:sp>
      <p:sp>
        <p:nvSpPr>
          <p:cNvPr id="6" name="灯片编号占位符 5"/>
          <p:cNvSpPr>
            <a:spLocks noGrp="1"/>
          </p:cNvSpPr>
          <p:nvPr>
            <p:ph type="sldNum" sz="quarter" idx="12"/>
          </p:nvPr>
        </p:nvSpPr>
        <p:spPr>
          <a:xfrm>
            <a:off x="8610601" y="6356352"/>
            <a:ext cx="2743200" cy="365125"/>
          </a:xfrm>
        </p:spPr>
        <p:txBody>
          <a:bodyPr/>
          <a:lstStyle/>
          <a:p>
            <a:fld id="{1CFB67B4-4181-46E4-B4F3-B0465E53CD48}"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showMasterSp="0">
  <p:cSld name="纯白">
    <p:spTree>
      <p:nvGrpSpPr>
        <p:cNvPr id="1" name=""/>
        <p:cNvGrpSpPr/>
        <p:nvPr/>
      </p:nvGrpSpPr>
      <p:grpSpPr>
        <a:xfrm>
          <a:off x="0" y="0"/>
          <a:ext cx="0" cy="0"/>
          <a:chOff x="0" y="0"/>
          <a:chExt cx="0" cy="0"/>
        </a:xfrm>
      </p:grpSpPr>
      <p:sp>
        <p:nvSpPr>
          <p:cNvPr id="4" name="幻灯片编号"/>
          <p:cNvSpPr txBox="1"/>
          <p:nvPr userDrawn="1"/>
        </p:nvSpPr>
        <p:spPr>
          <a:xfrm>
            <a:off x="11916226" y="6538569"/>
            <a:ext cx="114300" cy="189230"/>
          </a:xfrm>
          <a:prstGeom prst="rect">
            <a:avLst/>
          </a:prstGeom>
          <a:ln w="12700">
            <a:miter lim="400000"/>
          </a:ln>
        </p:spPr>
        <p:txBody>
          <a:bodyPr wrap="none" lIns="25400" tIns="25400" rIns="25400" bIns="25400" anchor="b">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Helvetica Neue" panose="02000503000000020004"/>
              </a:defRPr>
            </a:lvl1pPr>
            <a:lvl2pPr marL="0" marR="0" indent="4572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2pPr>
            <a:lvl3pPr marL="0" marR="0" indent="9144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3pPr>
            <a:lvl4pPr marL="0" marR="0" indent="13716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4pPr>
            <a:lvl5pPr marL="0" marR="0" indent="18288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5pPr>
            <a:lvl6pPr marL="0" marR="0" indent="22860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6pPr>
            <a:lvl7pPr marL="0" marR="0" indent="27432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7pPr>
            <a:lvl8pPr marL="0" marR="0" indent="32004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8pPr>
            <a:lvl9pPr marL="0" marR="0" indent="36576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9pPr>
          </a:lstStyle>
          <a:p>
            <a:fld id="{86CB4B4D-7CA3-9044-876B-883B54F8677D}" type="slidenum">
              <a:rPr lang="en-US" altLang="zh-CN" sz="900" smtClean="0"/>
            </a:fld>
            <a:endParaRPr lang="en-US" altLang="zh-CN" sz="900" dirty="0"/>
          </a:p>
        </p:txBody>
      </p:sp>
      <p:pic>
        <p:nvPicPr>
          <p:cNvPr id="2" name="图片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76404" y="107143"/>
            <a:ext cx="1389099" cy="364572"/>
          </a:xfrm>
          <a:prstGeom prst="rect">
            <a:avLst/>
          </a:prstGeom>
        </p:spPr>
      </p:pic>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a:xfrm>
            <a:off x="1555610" y="7905710"/>
            <a:ext cx="2700000" cy="316800"/>
          </a:xfrm>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a:xfrm>
            <a:off x="5059610" y="7905710"/>
            <a:ext cx="3960000" cy="316800"/>
          </a:xfrm>
        </p:spPr>
        <p:txBody>
          <a:bodyPr/>
          <a:lstStyle/>
          <a:p>
            <a:endParaRPr lang="zh-CN" altLang="en-US"/>
          </a:p>
        </p:txBody>
      </p:sp>
      <p:sp>
        <p:nvSpPr>
          <p:cNvPr id="4" name="灯片编号占位符 3"/>
          <p:cNvSpPr>
            <a:spLocks noGrp="1"/>
          </p:cNvSpPr>
          <p:nvPr>
            <p:ph type="sldNum" sz="quarter" idx="12"/>
            <p:custDataLst>
              <p:tags r:id="rId4"/>
            </p:custDataLst>
          </p:nvPr>
        </p:nvSpPr>
        <p:spPr>
          <a:xfrm>
            <a:off x="9821210" y="790571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97230" y="360000"/>
            <a:ext cx="10800000" cy="720000"/>
          </a:xfrm>
        </p:spPr>
        <p:txBody>
          <a:bodyPr wrap="square">
            <a:normAutofit/>
          </a:body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3"/>
            </p:custDataLst>
          </p:nvPr>
        </p:nvSpPr>
        <p:spPr>
          <a:xfrm>
            <a:off x="695960" y="6356350"/>
            <a:ext cx="2743200" cy="365125"/>
          </a:xfrm>
        </p:spPr>
        <p:txBody>
          <a:bodyPr wrap="square">
            <a:normAutofit/>
          </a:bodyPr>
          <a:lstStyle/>
          <a:p>
            <a:fld id="{5592522B-0F24-4480-B9DD-A9474A6880D6}"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custDataLst>
              <p:tags r:id="rId5"/>
            </p:custDataLst>
          </p:nvPr>
        </p:nvSpPr>
        <p:spPr>
          <a:xfrm>
            <a:off x="8753983" y="6356350"/>
            <a:ext cx="2743200" cy="365125"/>
          </a:xfrm>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showMasterSp="0" userDrawn="1">
  <p:cSld name="节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38925" y="2439035"/>
            <a:ext cx="4622800" cy="1866900"/>
          </a:xfrm>
        </p:spPr>
        <p:txBody>
          <a:bodyPr wrap="square" anchor="ctr" anchorCtr="0">
            <a:normAutofit/>
          </a:bodyPr>
          <a:lstStyle>
            <a:lvl1pPr algn="l">
              <a:defRPr sz="5400"/>
            </a:lvl1pPr>
          </a:lstStyle>
          <a:p>
            <a:r>
              <a:rPr dirty="0"/>
              <a:t>单击此处编辑母版标题样式</a:t>
            </a:r>
            <a:endParaRPr dirty="0"/>
          </a:p>
        </p:txBody>
      </p:sp>
      <p:sp>
        <p:nvSpPr>
          <p:cNvPr id="8" name="节编号 3"/>
          <p:cNvSpPr>
            <a:spLocks noGrp="1"/>
          </p:cNvSpPr>
          <p:nvPr>
            <p:ph type="body" sz="quarter" idx="13" hasCustomPrompt="1"/>
            <p:custDataLst>
              <p:tags r:id="rId3"/>
            </p:custDataLst>
          </p:nvPr>
        </p:nvSpPr>
        <p:spPr>
          <a:xfrm>
            <a:off x="1726565" y="2343785"/>
            <a:ext cx="3096895" cy="2061210"/>
          </a:xfrm>
        </p:spPr>
        <p:txBody>
          <a:bodyPr wrap="none" anchor="ctr" anchorCtr="0">
            <a:normAutofit/>
          </a:bodyPr>
          <a:lstStyle>
            <a:lvl1pPr marL="0" indent="0" algn="ctr">
              <a:buNone/>
              <a:defRPr sz="11500" b="1">
                <a:gradFill>
                  <a:gsLst>
                    <a:gs pos="0">
                      <a:schemeClr val="accent1">
                        <a:lumMod val="60000"/>
                        <a:lumOff val="40000"/>
                      </a:schemeClr>
                    </a:gs>
                    <a:gs pos="100000">
                      <a:schemeClr val="accent1"/>
                    </a:gs>
                  </a:gsLst>
                  <a:lin ang="3600000" scaled="0"/>
                </a:gradFill>
              </a:defRPr>
            </a:lvl1pPr>
          </a:lstStyle>
          <a:p>
            <a:pPr lvl="0"/>
            <a:r>
              <a:rPr lang="zh-CN" altLang="en-US" dirty="0"/>
              <a:t>编号</a:t>
            </a:r>
            <a:endParaRPr lang="zh-CN" altLang="en-US" dirty="0"/>
          </a:p>
        </p:txBody>
      </p:sp>
      <p:sp>
        <p:nvSpPr>
          <p:cNvPr id="4" name="日期占位符 4"/>
          <p:cNvSpPr>
            <a:spLocks noGrp="1"/>
          </p:cNvSpPr>
          <p:nvPr>
            <p:ph type="dt" sz="half" idx="10"/>
            <p:custDataLst>
              <p:tags r:id="rId4"/>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5"/>
          <p:cNvSpPr>
            <a:spLocks noGrp="1"/>
          </p:cNvSpPr>
          <p:nvPr>
            <p:ph type="ftr" sz="quarter" idx="11"/>
            <p:custDataLst>
              <p:tags r:id="rId5"/>
            </p:custDataLst>
          </p:nvPr>
        </p:nvSpPr>
        <p:spPr/>
        <p:txBody>
          <a:bodyPr/>
          <a:lstStyle/>
          <a:p>
            <a:endParaRPr lang="zh-CN" altLang="en-US"/>
          </a:p>
        </p:txBody>
      </p:sp>
      <p:sp>
        <p:nvSpPr>
          <p:cNvPr id="6" name="灯片编号占位符 6"/>
          <p:cNvSpPr>
            <a:spLocks noGrp="1"/>
          </p:cNvSpPr>
          <p:nvPr>
            <p:ph type="sldNum" sz="quarter" idx="12"/>
            <p:custDataLst>
              <p:tags r:id="rId6"/>
            </p:custDataLst>
          </p:nvPr>
        </p:nvSpPr>
        <p:spPr/>
        <p:txBody>
          <a:bodyPr wrap="square">
            <a:normAutofit/>
          </a:bodyPr>
          <a:lstStyle/>
          <a:p>
            <a:fld id="{BE5F26B5-172A-4DC2-B0B7-181CFC56B87C}" type="slidenum">
              <a:rPr lang="zh-CN" altLang="en-US" smtClean="0"/>
            </a:fld>
            <a:endParaRPr lang="zh-CN" altLang="en-US"/>
          </a:p>
        </p:txBody>
      </p:sp>
      <p:sp>
        <p:nvSpPr>
          <p:cNvPr id="9" name="弧形 8"/>
          <p:cNvSpPr>
            <a:spLocks noChangeAspect="1"/>
          </p:cNvSpPr>
          <p:nvPr userDrawn="1">
            <p:custDataLst>
              <p:tags r:id="rId7"/>
            </p:custDataLst>
          </p:nvPr>
        </p:nvSpPr>
        <p:spPr>
          <a:xfrm rot="16200000">
            <a:off x="971196" y="1125001"/>
            <a:ext cx="4608000" cy="4608000"/>
          </a:xfrm>
          <a:prstGeom prst="arc">
            <a:avLst>
              <a:gd name="adj1" fmla="val 6911636"/>
              <a:gd name="adj2" fmla="val 13883405"/>
            </a:avLst>
          </a:prstGeom>
          <a:noFill/>
          <a:ln>
            <a:gradFill flip="none" rotWithShape="1">
              <a:gsLst>
                <a:gs pos="0">
                  <a:schemeClr val="accent1">
                    <a:lumMod val="70000"/>
                    <a:lumOff val="30000"/>
                    <a:alpha val="60000"/>
                  </a:schemeClr>
                </a:gs>
                <a:gs pos="100000">
                  <a:schemeClr val="accent1">
                    <a:lumMod val="70000"/>
                    <a:lumOff val="30000"/>
                    <a:alpha val="20000"/>
                  </a:schemeClr>
                </a:gs>
              </a:gsLst>
              <a:lin ang="12000000" scaled="0"/>
              <a:tileRect/>
            </a:gra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useBgFill="1">
        <p:nvSpPr>
          <p:cNvPr id="10" name="椭圆 9"/>
          <p:cNvSpPr>
            <a:spLocks noChangeAspect="1"/>
          </p:cNvSpPr>
          <p:nvPr userDrawn="1">
            <p:custDataLst>
              <p:tags r:id="rId8"/>
            </p:custDataLst>
          </p:nvPr>
        </p:nvSpPr>
        <p:spPr>
          <a:xfrm rot="16200000">
            <a:off x="3995627" y="5533172"/>
            <a:ext cx="144000" cy="144000"/>
          </a:xfrm>
          <a:prstGeom prst="ellipse">
            <a:avLst/>
          </a:prstGeom>
          <a:ln w="19050">
            <a:solidFill>
              <a:schemeClr val="accent1">
                <a:lumMod val="40000"/>
                <a:lumOff val="60000"/>
                <a:alpha val="6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1" name="椭圆 10"/>
          <p:cNvSpPr>
            <a:spLocks noChangeAspect="1"/>
          </p:cNvSpPr>
          <p:nvPr userDrawn="1">
            <p:custDataLst>
              <p:tags r:id="rId9"/>
            </p:custDataLst>
          </p:nvPr>
        </p:nvSpPr>
        <p:spPr>
          <a:xfrm rot="16200000">
            <a:off x="1295196" y="1449001"/>
            <a:ext cx="3960000" cy="3960000"/>
          </a:xfrm>
          <a:prstGeom prst="ellipse">
            <a:avLst/>
          </a:prstGeom>
          <a:noFill/>
          <a:ln w="19050">
            <a:solidFill>
              <a:schemeClr val="accent1">
                <a:lumMod val="40000"/>
                <a:lumOff val="60000"/>
                <a:alpha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弧形 11"/>
          <p:cNvSpPr>
            <a:spLocks noChangeAspect="1"/>
          </p:cNvSpPr>
          <p:nvPr userDrawn="1">
            <p:custDataLst>
              <p:tags r:id="rId10"/>
            </p:custDataLst>
          </p:nvPr>
        </p:nvSpPr>
        <p:spPr>
          <a:xfrm rot="16200000">
            <a:off x="683196" y="837001"/>
            <a:ext cx="5184000" cy="5184000"/>
          </a:xfrm>
          <a:prstGeom prst="arc">
            <a:avLst>
              <a:gd name="adj1" fmla="val 11844446"/>
              <a:gd name="adj2" fmla="val 2553147"/>
            </a:avLst>
          </a:prstGeom>
          <a:noFill/>
          <a:ln>
            <a:gradFill flip="none" rotWithShape="1">
              <a:gsLst>
                <a:gs pos="0">
                  <a:schemeClr val="accent1">
                    <a:lumMod val="70000"/>
                    <a:lumOff val="30000"/>
                    <a:alpha val="70000"/>
                  </a:schemeClr>
                </a:gs>
                <a:gs pos="100000">
                  <a:schemeClr val="accent1">
                    <a:lumMod val="70000"/>
                    <a:lumOff val="30000"/>
                    <a:alpha val="20000"/>
                  </a:schemeClr>
                </a:gs>
              </a:gsLst>
              <a:lin ang="12000000" scaled="0"/>
              <a:tileRect/>
            </a:gra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useBgFill="1">
        <p:nvSpPr>
          <p:cNvPr id="13" name="椭圆 12"/>
          <p:cNvSpPr>
            <a:spLocks noChangeAspect="1"/>
          </p:cNvSpPr>
          <p:nvPr userDrawn="1">
            <p:custDataLst>
              <p:tags r:id="rId11"/>
            </p:custDataLst>
          </p:nvPr>
        </p:nvSpPr>
        <p:spPr>
          <a:xfrm rot="16200000">
            <a:off x="1355848" y="1544326"/>
            <a:ext cx="144000" cy="144000"/>
          </a:xfrm>
          <a:prstGeom prst="ellipse">
            <a:avLst/>
          </a:prstGeom>
          <a:ln w="19050">
            <a:solidFill>
              <a:schemeClr val="accent1">
                <a:lumMod val="40000"/>
                <a:lumOff val="60000"/>
                <a:alpha val="6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x" preserve="1" showMasterSp="0">
  <p:cSld name="纯白">
    <p:spTree>
      <p:nvGrpSpPr>
        <p:cNvPr id="1" name=""/>
        <p:cNvGrpSpPr/>
        <p:nvPr/>
      </p:nvGrpSpPr>
      <p:grpSpPr>
        <a:xfrm>
          <a:off x="0" y="0"/>
          <a:ext cx="0" cy="0"/>
          <a:chOff x="0" y="0"/>
          <a:chExt cx="0" cy="0"/>
        </a:xfrm>
      </p:grpSpPr>
      <p:sp>
        <p:nvSpPr>
          <p:cNvPr id="4" name="幻灯片编号"/>
          <p:cNvSpPr txBox="1"/>
          <p:nvPr userDrawn="1"/>
        </p:nvSpPr>
        <p:spPr>
          <a:xfrm>
            <a:off x="11916226" y="6538569"/>
            <a:ext cx="114300" cy="189230"/>
          </a:xfrm>
          <a:prstGeom prst="rect">
            <a:avLst/>
          </a:prstGeom>
          <a:ln w="12700">
            <a:miter lim="400000"/>
          </a:ln>
        </p:spPr>
        <p:txBody>
          <a:bodyPr wrap="none" lIns="25400" tIns="25400" rIns="25400" bIns="25400" anchor="b">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Helvetica Neue" panose="02000503000000020004"/>
              </a:defRPr>
            </a:lvl1pPr>
            <a:lvl2pPr marL="0" marR="0" indent="4572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2pPr>
            <a:lvl3pPr marL="0" marR="0" indent="9144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3pPr>
            <a:lvl4pPr marL="0" marR="0" indent="13716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4pPr>
            <a:lvl5pPr marL="0" marR="0" indent="18288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5pPr>
            <a:lvl6pPr marL="0" marR="0" indent="22860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6pPr>
            <a:lvl7pPr marL="0" marR="0" indent="27432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7pPr>
            <a:lvl8pPr marL="0" marR="0" indent="32004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8pPr>
            <a:lvl9pPr marL="0" marR="0" indent="36576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9pPr>
          </a:lstStyle>
          <a:p>
            <a:fld id="{86CB4B4D-7CA3-9044-876B-883B54F8677D}" type="slidenum">
              <a:rPr lang="en-US" altLang="zh-CN" sz="900" smtClean="0"/>
            </a:fld>
            <a:endParaRPr lang="en-US" altLang="zh-CN" sz="900" dirty="0"/>
          </a:p>
        </p:txBody>
      </p:sp>
      <p:pic>
        <p:nvPicPr>
          <p:cNvPr id="2" name="图片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76404" y="107143"/>
            <a:ext cx="1389099" cy="364572"/>
          </a:xfrm>
          <a:prstGeom prst="rect">
            <a:avLst/>
          </a:prstGeom>
        </p:spPr>
      </p:pic>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a:xfrm>
            <a:off x="1555610" y="7905710"/>
            <a:ext cx="2700000" cy="316800"/>
          </a:xfrm>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a:xfrm>
            <a:off x="5059610" y="7905710"/>
            <a:ext cx="3960000" cy="316800"/>
          </a:xfrm>
        </p:spPr>
        <p:txBody>
          <a:bodyPr/>
          <a:lstStyle/>
          <a:p>
            <a:endParaRPr lang="zh-CN" altLang="en-US"/>
          </a:p>
        </p:txBody>
      </p:sp>
      <p:sp>
        <p:nvSpPr>
          <p:cNvPr id="4" name="灯片编号占位符 3"/>
          <p:cNvSpPr>
            <a:spLocks noGrp="1"/>
          </p:cNvSpPr>
          <p:nvPr>
            <p:ph type="sldNum" sz="quarter" idx="12"/>
            <p:custDataLst>
              <p:tags r:id="rId4"/>
            </p:custDataLst>
          </p:nvPr>
        </p:nvSpPr>
        <p:spPr>
          <a:xfrm>
            <a:off x="9821210" y="790571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showMasterSp="0" userDrawn="1">
  <p:cSld name="末尾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229304" y="1656000"/>
            <a:ext cx="4866696" cy="1800000"/>
          </a:xfrm>
        </p:spPr>
        <p:txBody>
          <a:bodyPr wrap="square" anchor="b">
            <a:normAutofit/>
          </a:bodyPr>
          <a:lstStyle>
            <a:lvl1pPr algn="l">
              <a:lnSpc>
                <a:spcPct val="100000"/>
              </a:lnSpc>
              <a:defRPr sz="6000"/>
            </a:lvl1pPr>
          </a:lstStyle>
          <a:p>
            <a:r>
              <a:rPr lang="zh-CN" altLang="en-US" dirty="0"/>
              <a:t>编辑标题</a:t>
            </a:r>
            <a:endParaRPr lang="zh-CN" altLang="en-US" dirty="0"/>
          </a:p>
        </p:txBody>
      </p:sp>
      <p:sp>
        <p:nvSpPr>
          <p:cNvPr id="3" name="副标题 2"/>
          <p:cNvSpPr>
            <a:spLocks noGrp="1"/>
          </p:cNvSpPr>
          <p:nvPr>
            <p:ph type="subTitle" idx="1" hasCustomPrompt="1"/>
            <p:custDataLst>
              <p:tags r:id="rId3"/>
            </p:custDataLst>
          </p:nvPr>
        </p:nvSpPr>
        <p:spPr>
          <a:xfrm>
            <a:off x="1229302" y="3600000"/>
            <a:ext cx="4866697" cy="972000"/>
          </a:xfrm>
        </p:spPr>
        <p:txBody>
          <a:bodyPr wrap="square">
            <a:normAutofit/>
          </a:bodyPr>
          <a:lstStyle>
            <a:lvl1pPr marL="0" indent="0" algn="l">
              <a:lnSpc>
                <a:spcPct val="100000"/>
              </a:lnSpc>
              <a:buNone/>
              <a:defRPr sz="4600" b="1">
                <a:solidFill>
                  <a:schemeClr val="tx1">
                    <a:alpha val="7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编辑副标题</a:t>
            </a:r>
            <a:endParaRPr lang="zh-CN" altLang="en-US" dirty="0"/>
          </a:p>
        </p:txBody>
      </p:sp>
      <p:sp>
        <p:nvSpPr>
          <p:cNvPr id="4" name="日期占位符 3"/>
          <p:cNvSpPr>
            <a:spLocks noGrp="1"/>
          </p:cNvSpPr>
          <p:nvPr>
            <p:ph type="dt" sz="half" idx="10"/>
            <p:custDataLst>
              <p:tags r:id="rId4"/>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a:xfrm>
            <a:off x="8610600" y="6356350"/>
            <a:ext cx="2743200" cy="365125"/>
          </a:xfrm>
        </p:spPr>
        <p:txBody>
          <a:bodyPr wrap="square">
            <a:normAutofit/>
          </a:bodyPr>
          <a:lstStyle/>
          <a:p>
            <a:fld id="{BE5F26B5-172A-4DC2-B0B7-181CFC56B87C}" type="slidenum">
              <a:rPr lang="zh-CN" altLang="en-US" smtClean="0"/>
            </a:fld>
            <a:endParaRPr lang="zh-CN" altLang="en-US"/>
          </a:p>
        </p:txBody>
      </p:sp>
      <p:sp>
        <p:nvSpPr>
          <p:cNvPr id="10" name="公司名占位符 6"/>
          <p:cNvSpPr>
            <a:spLocks noGrp="1"/>
          </p:cNvSpPr>
          <p:nvPr>
            <p:ph type="body" sz="quarter" idx="13" hasCustomPrompt="1"/>
            <p:custDataLst>
              <p:tags r:id="rId7"/>
            </p:custDataLst>
          </p:nvPr>
        </p:nvSpPr>
        <p:spPr>
          <a:xfrm>
            <a:off x="1229360" y="504190"/>
            <a:ext cx="4868545" cy="504190"/>
          </a:xfrm>
        </p:spPr>
        <p:txBody>
          <a:bodyPr wrap="square" anchor="ctr">
            <a:normAutofit/>
          </a:bodyPr>
          <a:lstStyle>
            <a:lvl1pPr marL="0" indent="0">
              <a:lnSpc>
                <a:spcPct val="100000"/>
              </a:lnSpc>
              <a:buNone/>
              <a:defRPr sz="1600"/>
            </a:lvl1pPr>
          </a:lstStyle>
          <a:p>
            <a:pPr lvl="0"/>
            <a:r>
              <a:rPr lang="zh-CN" altLang="en-US" dirty="0"/>
              <a:t>公司</a:t>
            </a:r>
            <a:endParaRPr lang="zh-CN" altLang="en-US" dirty="0"/>
          </a:p>
        </p:txBody>
      </p:sp>
      <p:sp>
        <p:nvSpPr>
          <p:cNvPr id="24" name="署名占位符 10"/>
          <p:cNvSpPr>
            <a:spLocks noGrp="1"/>
          </p:cNvSpPr>
          <p:nvPr>
            <p:ph type="body" sz="quarter" idx="17" hasCustomPrompt="1"/>
            <p:custDataLst>
              <p:tags r:id="rId8"/>
            </p:custDataLst>
          </p:nvPr>
        </p:nvSpPr>
        <p:spPr>
          <a:xfrm>
            <a:off x="1229360" y="4902835"/>
            <a:ext cx="2880000" cy="576000"/>
          </a:xfrm>
          <a:prstGeom prst="roundRect">
            <a:avLst>
              <a:gd name="adj" fmla="val 50000"/>
            </a:avLst>
          </a:prstGeom>
          <a:gradFill>
            <a:gsLst>
              <a:gs pos="0">
                <a:schemeClr val="accent1">
                  <a:lumMod val="60000"/>
                  <a:lumOff val="40000"/>
                </a:schemeClr>
              </a:gs>
              <a:gs pos="100000">
                <a:schemeClr val="accent1"/>
              </a:gs>
            </a:gsLst>
            <a:lin ang="2700000" scaled="0"/>
          </a:gradFill>
        </p:spPr>
        <p:txBody>
          <a:bodyPr vert="horz" wrap="square" lIns="0" tIns="0" rIns="0" bIns="0" rtlCol="0" anchor="ctr">
            <a:normAutofit/>
          </a:bodyPr>
          <a:lstStyle>
            <a:lvl1pPr marL="0" marR="0" lvl="0" indent="0" algn="ctr" defTabSz="914400" rtl="0" eaLnBrk="1" fontAlgn="auto" latinLnBrk="0" hangingPunct="1">
              <a:lnSpc>
                <a:spcPct val="100000"/>
              </a:lnSpc>
              <a:spcBef>
                <a:spcPts val="1000"/>
              </a:spcBef>
              <a:buClrTx/>
              <a:buSzTx/>
              <a:buFont typeface="Arial" panose="020B0604020202020204" pitchFamily="34" charset="0"/>
              <a:buNone/>
              <a:defRPr kumimoji="0" lang="zh-CN" altLang="en-US" sz="2200" b="1" i="0" u="none" strike="noStrike" kern="1200" cap="none" spc="0" normalizeH="0" baseline="0" noProof="1" dirty="0">
                <a:solidFill>
                  <a:srgbClr val="FFFFFF"/>
                </a:solidFill>
                <a:latin typeface="+mn-lt"/>
                <a:ea typeface="+mn-ea"/>
                <a:cs typeface="+mn-cs"/>
              </a:defRPr>
            </a:lvl1pPr>
          </a:lstStyle>
          <a:p>
            <a:pPr lvl="0"/>
            <a:r>
              <a:rPr>
                <a:sym typeface="+mn-ea"/>
              </a:rPr>
              <a:t>署名</a:t>
            </a:r>
            <a:endParaRPr>
              <a:sym typeface="+mn-ea"/>
            </a:endParaRPr>
          </a:p>
        </p:txBody>
      </p:sp>
      <p:sp>
        <p:nvSpPr>
          <p:cNvPr id="12" name="弧形 11"/>
          <p:cNvSpPr>
            <a:spLocks noChangeAspect="1"/>
          </p:cNvSpPr>
          <p:nvPr userDrawn="1">
            <p:custDataLst>
              <p:tags r:id="rId9"/>
            </p:custDataLst>
          </p:nvPr>
        </p:nvSpPr>
        <p:spPr>
          <a:xfrm rot="16200000">
            <a:off x="6948696" y="1197000"/>
            <a:ext cx="4464000" cy="4464000"/>
          </a:xfrm>
          <a:prstGeom prst="arc">
            <a:avLst>
              <a:gd name="adj1" fmla="val 6911636"/>
              <a:gd name="adj2" fmla="val 13883405"/>
            </a:avLst>
          </a:prstGeom>
          <a:noFill/>
          <a:ln>
            <a:gradFill flip="none" rotWithShape="1">
              <a:gsLst>
                <a:gs pos="0">
                  <a:schemeClr val="accent1">
                    <a:lumMod val="70000"/>
                    <a:lumOff val="30000"/>
                    <a:alpha val="60000"/>
                  </a:schemeClr>
                </a:gs>
                <a:gs pos="100000">
                  <a:schemeClr val="accent1">
                    <a:lumMod val="70000"/>
                    <a:lumOff val="30000"/>
                    <a:alpha val="20000"/>
                  </a:schemeClr>
                </a:gs>
              </a:gsLst>
              <a:lin ang="12000000" scaled="0"/>
              <a:tileRect/>
            </a:gra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useBgFill="1">
        <p:nvSpPr>
          <p:cNvPr id="13" name="椭圆 12"/>
          <p:cNvSpPr>
            <a:spLocks noChangeAspect="1"/>
          </p:cNvSpPr>
          <p:nvPr userDrawn="1">
            <p:custDataLst>
              <p:tags r:id="rId10"/>
            </p:custDataLst>
          </p:nvPr>
        </p:nvSpPr>
        <p:spPr>
          <a:xfrm rot="16200000">
            <a:off x="9901127" y="5447746"/>
            <a:ext cx="144000" cy="144000"/>
          </a:xfrm>
          <a:prstGeom prst="ellipse">
            <a:avLst/>
          </a:prstGeom>
          <a:ln w="19050">
            <a:solidFill>
              <a:schemeClr val="accent1">
                <a:lumMod val="40000"/>
                <a:lumOff val="60000"/>
                <a:alpha val="6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5" name="椭圆 14"/>
          <p:cNvSpPr>
            <a:spLocks noChangeAspect="1"/>
          </p:cNvSpPr>
          <p:nvPr userDrawn="1">
            <p:custDataLst>
              <p:tags r:id="rId11"/>
            </p:custDataLst>
          </p:nvPr>
        </p:nvSpPr>
        <p:spPr>
          <a:xfrm rot="16200000">
            <a:off x="7398696" y="1647000"/>
            <a:ext cx="3564000" cy="3564000"/>
          </a:xfrm>
          <a:prstGeom prst="ellipse">
            <a:avLst/>
          </a:prstGeom>
          <a:noFill/>
          <a:ln w="19050">
            <a:solidFill>
              <a:schemeClr val="accent1">
                <a:lumMod val="40000"/>
                <a:lumOff val="60000"/>
                <a:alpha val="7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弧形 15"/>
          <p:cNvSpPr>
            <a:spLocks noChangeAspect="1"/>
          </p:cNvSpPr>
          <p:nvPr userDrawn="1">
            <p:custDataLst>
              <p:tags r:id="rId12"/>
            </p:custDataLst>
          </p:nvPr>
        </p:nvSpPr>
        <p:spPr>
          <a:xfrm rot="16200000">
            <a:off x="6588696" y="837000"/>
            <a:ext cx="5184000" cy="5184000"/>
          </a:xfrm>
          <a:prstGeom prst="arc">
            <a:avLst>
              <a:gd name="adj1" fmla="val 11844446"/>
              <a:gd name="adj2" fmla="val 2553147"/>
            </a:avLst>
          </a:prstGeom>
          <a:noFill/>
          <a:ln>
            <a:gradFill flip="none" rotWithShape="1">
              <a:gsLst>
                <a:gs pos="0">
                  <a:schemeClr val="accent1">
                    <a:lumMod val="70000"/>
                    <a:lumOff val="30000"/>
                    <a:alpha val="70000"/>
                  </a:schemeClr>
                </a:gs>
                <a:gs pos="100000">
                  <a:schemeClr val="accent1">
                    <a:lumMod val="70000"/>
                    <a:lumOff val="30000"/>
                    <a:alpha val="20000"/>
                  </a:schemeClr>
                </a:gs>
              </a:gsLst>
              <a:lin ang="12000000" scaled="0"/>
              <a:tileRect/>
            </a:gra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useBgFill="1">
        <p:nvSpPr>
          <p:cNvPr id="17" name="椭圆 16"/>
          <p:cNvSpPr>
            <a:spLocks noChangeAspect="1"/>
          </p:cNvSpPr>
          <p:nvPr userDrawn="1">
            <p:custDataLst>
              <p:tags r:id="rId13"/>
            </p:custDataLst>
          </p:nvPr>
        </p:nvSpPr>
        <p:spPr>
          <a:xfrm rot="16200000">
            <a:off x="7261348" y="1544325"/>
            <a:ext cx="144000" cy="144000"/>
          </a:xfrm>
          <a:prstGeom prst="ellipse">
            <a:avLst/>
          </a:prstGeom>
          <a:ln w="19050">
            <a:solidFill>
              <a:schemeClr val="accent1">
                <a:lumMod val="40000"/>
                <a:lumOff val="60000"/>
                <a:alpha val="6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tags" Target="../tags/tag24.xml"/><Relationship Id="rId8" Type="http://schemas.openxmlformats.org/officeDocument/2006/relationships/tags" Target="../tags/tag23.xml"/><Relationship Id="rId7" Type="http://schemas.openxmlformats.org/officeDocument/2006/relationships/tags" Target="../tags/tag22.xml"/><Relationship Id="rId6" Type="http://schemas.openxmlformats.org/officeDocument/2006/relationships/tags" Target="../tags/tag21.xml"/><Relationship Id="rId5" Type="http://schemas.openxmlformats.org/officeDocument/2006/relationships/slideLayout" Target="../slideLayouts/slideLayout13.xml"/><Relationship Id="rId4" Type="http://schemas.openxmlformats.org/officeDocument/2006/relationships/slideLayout" Target="../slideLayouts/slideLayout12.xml"/><Relationship Id="rId3" Type="http://schemas.openxmlformats.org/officeDocument/2006/relationships/slideLayout" Target="../slideLayouts/slideLayout11.xml"/><Relationship Id="rId2" Type="http://schemas.openxmlformats.org/officeDocument/2006/relationships/slideLayout" Target="../slideLayouts/slideLayout10.xml"/><Relationship Id="rId12" Type="http://schemas.openxmlformats.org/officeDocument/2006/relationships/theme" Target="../theme/theme2.xml"/><Relationship Id="rId11" Type="http://schemas.openxmlformats.org/officeDocument/2006/relationships/tags" Target="../tags/tag26.xml"/><Relationship Id="rId10" Type="http://schemas.openxmlformats.org/officeDocument/2006/relationships/tags" Target="../tags/tag25.xml"/><Relationship Id="rId1"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7" Type="http://schemas.openxmlformats.org/officeDocument/2006/relationships/tags" Target="../tags/tag44.xml"/><Relationship Id="rId6" Type="http://schemas.openxmlformats.org/officeDocument/2006/relationships/tags" Target="../tags/tag43.xml"/><Relationship Id="rId5" Type="http://schemas.openxmlformats.org/officeDocument/2006/relationships/tags" Target="../tags/tag42.xml"/><Relationship Id="rId4" Type="http://schemas.openxmlformats.org/officeDocument/2006/relationships/tags" Target="../tags/tag41.xml"/><Relationship Id="rId3" Type="http://schemas.openxmlformats.org/officeDocument/2006/relationships/tags" Target="../tags/tag40.xml"/><Relationship Id="rId2" Type="http://schemas.openxmlformats.org/officeDocument/2006/relationships/tags" Target="../tags/tag39.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6"/>
            </p:custDataLst>
          </p:nvPr>
        </p:nvSpPr>
        <p:spPr>
          <a:xfrm>
            <a:off x="695960" y="360000"/>
            <a:ext cx="10800000" cy="720000"/>
          </a:xfrm>
          <a:prstGeom prst="rect">
            <a:avLst/>
          </a:prstGeom>
        </p:spPr>
        <p:txBody>
          <a:bodyPr vert="horz" wrap="square" lIns="0" tIns="0" rIns="0" bIns="0" rtlCol="0" anchor="b">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7"/>
            </p:custDataLst>
          </p:nvPr>
        </p:nvSpPr>
        <p:spPr>
          <a:xfrm>
            <a:off x="695960" y="1301749"/>
            <a:ext cx="10800000" cy="4873625"/>
          </a:xfrm>
          <a:prstGeom prst="rect">
            <a:avLst/>
          </a:prstGeom>
        </p:spPr>
        <p:txBody>
          <a:bodyPr vert="horz" wrap="square" lIns="0" tIns="0" rIns="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3"/>
          <p:cNvSpPr>
            <a:spLocks noGrp="1"/>
          </p:cNvSpPr>
          <p:nvPr>
            <p:ph type="dt" sz="half" idx="2"/>
            <p:custDataLst>
              <p:tags r:id="rId8"/>
            </p:custDataLst>
          </p:nvPr>
        </p:nvSpPr>
        <p:spPr>
          <a:xfrm>
            <a:off x="69596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defRPr>
            </a:lvl1pPr>
          </a:lstStyle>
          <a:p>
            <a:fld id="{5592522B-0F24-4480-B9DD-A9474A6880D6}" type="datetimeFigureOut">
              <a:rPr lang="zh-CN" altLang="en-US" smtClean="0"/>
            </a:fld>
            <a:endParaRPr lang="zh-CN" altLang="en-US"/>
          </a:p>
        </p:txBody>
      </p:sp>
      <p:sp>
        <p:nvSpPr>
          <p:cNvPr id="5" name="页脚占位符 4"/>
          <p:cNvSpPr>
            <a:spLocks noGrp="1"/>
          </p:cNvSpPr>
          <p:nvPr>
            <p:ph type="ftr" sz="quarter" idx="3"/>
            <p:custDataLst>
              <p:tags r:id="rId9"/>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0"/>
            </p:custDataLst>
          </p:nvPr>
        </p:nvSpPr>
        <p:spPr>
          <a:xfrm>
            <a:off x="8753983"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defRPr>
            </a:lvl1pPr>
          </a:lstStyle>
          <a:p>
            <a:fld id="{BE5F26B5-172A-4DC2-B0B7-181CFC56B87C}" type="slidenum">
              <a:rPr lang="zh-CN" altLang="en-US" smtClean="0"/>
            </a:fld>
            <a:endParaRPr lang="zh-CN" altLang="en-US"/>
          </a:p>
        </p:txBody>
      </p:sp>
      <p:sp>
        <p:nvSpPr>
          <p:cNvPr id="7" name="KSO_TEMPLATE" hidden="1"/>
          <p:cNvSpPr/>
          <p:nvPr userDrawn="1">
            <p:custDataLst>
              <p:tags r:id="rId11"/>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Lst>
  <p:txStyles>
    <p:titleStyle>
      <a:lvl1pPr algn="l" defTabSz="914400" rtl="0" eaLnBrk="1" latinLnBrk="0" hangingPunct="1">
        <a:lnSpc>
          <a:spcPct val="100000"/>
        </a:lnSpc>
        <a:spcBef>
          <a:spcPct val="0"/>
        </a:spcBef>
        <a:buNone/>
        <a:defRPr sz="3200" b="1" kern="1200">
          <a:solidFill>
            <a:schemeClr val="tx1"/>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2"/>
            </p:custDataLst>
          </p:nvPr>
        </p:nvSpPr>
        <p:spPr>
          <a:xfrm>
            <a:off x="695960" y="360000"/>
            <a:ext cx="10800000" cy="720000"/>
          </a:xfrm>
          <a:prstGeom prst="rect">
            <a:avLst/>
          </a:prstGeom>
        </p:spPr>
        <p:txBody>
          <a:bodyPr vert="horz" wrap="square" lIns="0" tIns="0" rIns="0" bIns="0" rtlCol="0" anchor="b">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3"/>
            </p:custDataLst>
          </p:nvPr>
        </p:nvSpPr>
        <p:spPr>
          <a:xfrm>
            <a:off x="695960" y="1301749"/>
            <a:ext cx="10800000" cy="4873625"/>
          </a:xfrm>
          <a:prstGeom prst="rect">
            <a:avLst/>
          </a:prstGeom>
        </p:spPr>
        <p:txBody>
          <a:bodyPr vert="horz" wrap="square" lIns="0" tIns="0" rIns="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3"/>
          <p:cNvSpPr>
            <a:spLocks noGrp="1"/>
          </p:cNvSpPr>
          <p:nvPr>
            <p:ph type="dt" sz="half" idx="2"/>
            <p:custDataLst>
              <p:tags r:id="rId4"/>
            </p:custDataLst>
          </p:nvPr>
        </p:nvSpPr>
        <p:spPr>
          <a:xfrm>
            <a:off x="69596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defRPr>
            </a:lvl1pPr>
          </a:lstStyle>
          <a:p>
            <a:fld id="{5592522B-0F24-4480-B9DD-A9474A6880D6}" type="datetimeFigureOut">
              <a:rPr lang="zh-CN" altLang="en-US" smtClean="0"/>
            </a:fld>
            <a:endParaRPr lang="zh-CN" altLang="en-US"/>
          </a:p>
        </p:txBody>
      </p:sp>
      <p:sp>
        <p:nvSpPr>
          <p:cNvPr id="5" name="页脚占位符 4"/>
          <p:cNvSpPr>
            <a:spLocks noGrp="1"/>
          </p:cNvSpPr>
          <p:nvPr>
            <p:ph type="ftr" sz="quarter" idx="3"/>
            <p:custDataLst>
              <p:tags r:id="rId5"/>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6"/>
            </p:custDataLst>
          </p:nvPr>
        </p:nvSpPr>
        <p:spPr>
          <a:xfrm>
            <a:off x="8753983"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defRPr>
            </a:lvl1pPr>
          </a:lstStyle>
          <a:p>
            <a:fld id="{BE5F26B5-172A-4DC2-B0B7-181CFC56B87C}" type="slidenum">
              <a:rPr lang="zh-CN" altLang="en-US" smtClean="0"/>
            </a:fld>
            <a:endParaRPr lang="zh-CN" altLang="en-US"/>
          </a:p>
        </p:txBody>
      </p:sp>
      <p:sp>
        <p:nvSpPr>
          <p:cNvPr id="8" name="KSO_TEMPLATE" hidden="1"/>
          <p:cNvSpPr/>
          <p:nvPr userDrawn="1">
            <p:custDataLst>
              <p:tags r:id="rId7"/>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 bg1="lt1" tx1="dk1" bg2="lt2" tx2="dk2" accent1="accent1" accent2="accent2" accent3="accent3" accent4="accent4" accent5="accent5" accent6="accent6" hlink="hlink" folHlink="folHlink"/>
  <p:sldLayoutIdLst>
    <p:sldLayoutId id="2147483664" r:id="rId1"/>
  </p:sldLayoutIdLst>
  <p:txStyles>
    <p:titleStyle>
      <a:lvl1pPr algn="l" defTabSz="914400" rtl="0" eaLnBrk="1" latinLnBrk="0" hangingPunct="1">
        <a:lnSpc>
          <a:spcPct val="100000"/>
        </a:lnSpc>
        <a:spcBef>
          <a:spcPct val="0"/>
        </a:spcBef>
        <a:buNone/>
        <a:defRPr sz="3200" b="1" kern="1200">
          <a:solidFill>
            <a:schemeClr val="tx1"/>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1.xml"/><Relationship Id="rId4" Type="http://schemas.openxmlformats.org/officeDocument/2006/relationships/image" Target="../media/image4.png"/><Relationship Id="rId3" Type="http://schemas.openxmlformats.org/officeDocument/2006/relationships/tags" Target="../tags/tag46.xml"/><Relationship Id="rId2" Type="http://schemas.openxmlformats.org/officeDocument/2006/relationships/tags" Target="../tags/tag45.xml"/><Relationship Id="rId1" Type="http://schemas.openxmlformats.org/officeDocument/2006/relationships/image" Target="../media/image3.png"/></Relationships>
</file>

<file path=ppt/slides/_rels/slide2.xml.rels><?xml version="1.0" encoding="UTF-8" standalone="yes"?>
<Relationships xmlns="http://schemas.openxmlformats.org/package/2006/relationships"><Relationship Id="rId9" Type="http://schemas.openxmlformats.org/officeDocument/2006/relationships/tags" Target="../tags/tag52.xml"/><Relationship Id="rId8" Type="http://schemas.openxmlformats.org/officeDocument/2006/relationships/tags" Target="../tags/tag51.xml"/><Relationship Id="rId7" Type="http://schemas.openxmlformats.org/officeDocument/2006/relationships/tags" Target="../tags/tag50.xml"/><Relationship Id="rId6" Type="http://schemas.openxmlformats.org/officeDocument/2006/relationships/tags" Target="../tags/tag49.xml"/><Relationship Id="rId5" Type="http://schemas.openxmlformats.org/officeDocument/2006/relationships/tags" Target="../tags/tag48.xml"/><Relationship Id="rId4" Type="http://schemas.openxmlformats.org/officeDocument/2006/relationships/tags" Target="../tags/tag47.xml"/><Relationship Id="rId3" Type="http://schemas.openxmlformats.org/officeDocument/2006/relationships/image" Target="../media/image7.png"/><Relationship Id="rId22" Type="http://schemas.openxmlformats.org/officeDocument/2006/relationships/notesSlide" Target="../notesSlides/notesSlide2.xml"/><Relationship Id="rId21" Type="http://schemas.openxmlformats.org/officeDocument/2006/relationships/slideLayout" Target="../slideLayouts/slideLayout6.xml"/><Relationship Id="rId20" Type="http://schemas.openxmlformats.org/officeDocument/2006/relationships/tags" Target="../tags/tag63.xml"/><Relationship Id="rId2" Type="http://schemas.openxmlformats.org/officeDocument/2006/relationships/image" Target="../media/image6.png"/><Relationship Id="rId19" Type="http://schemas.openxmlformats.org/officeDocument/2006/relationships/tags" Target="../tags/tag62.xml"/><Relationship Id="rId18" Type="http://schemas.openxmlformats.org/officeDocument/2006/relationships/tags" Target="../tags/tag61.xml"/><Relationship Id="rId17" Type="http://schemas.openxmlformats.org/officeDocument/2006/relationships/tags" Target="../tags/tag60.xml"/><Relationship Id="rId16" Type="http://schemas.openxmlformats.org/officeDocument/2006/relationships/tags" Target="../tags/tag59.xml"/><Relationship Id="rId15" Type="http://schemas.openxmlformats.org/officeDocument/2006/relationships/tags" Target="../tags/tag58.xml"/><Relationship Id="rId14" Type="http://schemas.openxmlformats.org/officeDocument/2006/relationships/tags" Target="../tags/tag57.xml"/><Relationship Id="rId13" Type="http://schemas.openxmlformats.org/officeDocument/2006/relationships/tags" Target="../tags/tag56.xml"/><Relationship Id="rId12" Type="http://schemas.openxmlformats.org/officeDocument/2006/relationships/tags" Target="../tags/tag55.xml"/><Relationship Id="rId11" Type="http://schemas.openxmlformats.org/officeDocument/2006/relationships/tags" Target="../tags/tag54.xml"/><Relationship Id="rId10" Type="http://schemas.openxmlformats.org/officeDocument/2006/relationships/tags" Target="../tags/tag53.xml"/><Relationship Id="rId1" Type="http://schemas.openxmlformats.org/officeDocument/2006/relationships/image" Target="../media/image5.png"/></Relationships>
</file>

<file path=ppt/slides/_rels/slide3.xml.rels><?xml version="1.0" encoding="UTF-8" standalone="yes"?>
<Relationships xmlns="http://schemas.openxmlformats.org/package/2006/relationships"><Relationship Id="rId6" Type="http://schemas.openxmlformats.org/officeDocument/2006/relationships/slideLayout" Target="../slideLayouts/slideLayout9.xml"/><Relationship Id="rId5" Type="http://schemas.openxmlformats.org/officeDocument/2006/relationships/tags" Target="../tags/tag67.xml"/><Relationship Id="rId4" Type="http://schemas.openxmlformats.org/officeDocument/2006/relationships/image" Target="../media/image6.png"/><Relationship Id="rId3" Type="http://schemas.openxmlformats.org/officeDocument/2006/relationships/tags" Target="../tags/tag66.xml"/><Relationship Id="rId2" Type="http://schemas.openxmlformats.org/officeDocument/2006/relationships/tags" Target="../tags/tag65.xml"/><Relationship Id="rId1" Type="http://schemas.openxmlformats.org/officeDocument/2006/relationships/tags" Target="../tags/tag64.xml"/></Relationships>
</file>

<file path=ppt/slides/_rels/slide4.xml.rels><?xml version="1.0" encoding="UTF-8" standalone="yes"?>
<Relationships xmlns="http://schemas.openxmlformats.org/package/2006/relationships"><Relationship Id="rId9" Type="http://schemas.openxmlformats.org/officeDocument/2006/relationships/image" Target="../media/image9.png"/><Relationship Id="rId8" Type="http://schemas.openxmlformats.org/officeDocument/2006/relationships/tags" Target="../tags/tag73.xml"/><Relationship Id="rId7" Type="http://schemas.openxmlformats.org/officeDocument/2006/relationships/tags" Target="../tags/tag72.xml"/><Relationship Id="rId6" Type="http://schemas.openxmlformats.org/officeDocument/2006/relationships/tags" Target="../tags/tag71.xml"/><Relationship Id="rId5" Type="http://schemas.openxmlformats.org/officeDocument/2006/relationships/tags" Target="../tags/tag70.xml"/><Relationship Id="rId4" Type="http://schemas.openxmlformats.org/officeDocument/2006/relationships/image" Target="../media/image8.png"/><Relationship Id="rId3" Type="http://schemas.openxmlformats.org/officeDocument/2006/relationships/image" Target="../media/image6.png"/><Relationship Id="rId29" Type="http://schemas.openxmlformats.org/officeDocument/2006/relationships/notesSlide" Target="../notesSlides/notesSlide3.xml"/><Relationship Id="rId28" Type="http://schemas.openxmlformats.org/officeDocument/2006/relationships/slideLayout" Target="../slideLayouts/slideLayout1.xml"/><Relationship Id="rId27" Type="http://schemas.openxmlformats.org/officeDocument/2006/relationships/tags" Target="../tags/tag86.xml"/><Relationship Id="rId26" Type="http://schemas.openxmlformats.org/officeDocument/2006/relationships/tags" Target="../tags/tag85.xml"/><Relationship Id="rId25" Type="http://schemas.openxmlformats.org/officeDocument/2006/relationships/tags" Target="../tags/tag84.xml"/><Relationship Id="rId24" Type="http://schemas.openxmlformats.org/officeDocument/2006/relationships/tags" Target="../tags/tag83.xml"/><Relationship Id="rId23" Type="http://schemas.openxmlformats.org/officeDocument/2006/relationships/image" Target="../media/image14.svg"/><Relationship Id="rId22" Type="http://schemas.openxmlformats.org/officeDocument/2006/relationships/image" Target="../media/image13.png"/><Relationship Id="rId21" Type="http://schemas.openxmlformats.org/officeDocument/2006/relationships/tags" Target="../tags/tag82.xml"/><Relationship Id="rId20" Type="http://schemas.openxmlformats.org/officeDocument/2006/relationships/tags" Target="../tags/tag81.xml"/><Relationship Id="rId2" Type="http://schemas.openxmlformats.org/officeDocument/2006/relationships/tags" Target="../tags/tag69.xml"/><Relationship Id="rId19" Type="http://schemas.openxmlformats.org/officeDocument/2006/relationships/tags" Target="../tags/tag80.xml"/><Relationship Id="rId18" Type="http://schemas.openxmlformats.org/officeDocument/2006/relationships/tags" Target="../tags/tag79.xml"/><Relationship Id="rId17" Type="http://schemas.openxmlformats.org/officeDocument/2006/relationships/image" Target="../media/image12.svg"/><Relationship Id="rId16" Type="http://schemas.openxmlformats.org/officeDocument/2006/relationships/image" Target="../media/image11.png"/><Relationship Id="rId15" Type="http://schemas.openxmlformats.org/officeDocument/2006/relationships/tags" Target="../tags/tag78.xml"/><Relationship Id="rId14" Type="http://schemas.openxmlformats.org/officeDocument/2006/relationships/tags" Target="../tags/tag77.xml"/><Relationship Id="rId13" Type="http://schemas.openxmlformats.org/officeDocument/2006/relationships/tags" Target="../tags/tag76.xml"/><Relationship Id="rId12" Type="http://schemas.openxmlformats.org/officeDocument/2006/relationships/tags" Target="../tags/tag75.xml"/><Relationship Id="rId11" Type="http://schemas.openxmlformats.org/officeDocument/2006/relationships/tags" Target="../tags/tag74.xml"/><Relationship Id="rId10" Type="http://schemas.openxmlformats.org/officeDocument/2006/relationships/image" Target="../media/image10.svg"/><Relationship Id="rId1" Type="http://schemas.openxmlformats.org/officeDocument/2006/relationships/tags" Target="../tags/tag68.xml"/></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3.xml"/><Relationship Id="rId2" Type="http://schemas.openxmlformats.org/officeDocument/2006/relationships/tags" Target="../tags/tag88.xml"/><Relationship Id="rId1" Type="http://schemas.openxmlformats.org/officeDocument/2006/relationships/tags" Target="../tags/tag87.xml"/></Relationships>
</file>

<file path=ppt/slides/_rels/slide6.xml.rels><?xml version="1.0" encoding="UTF-8" standalone="yes"?>
<Relationships xmlns="http://schemas.openxmlformats.org/package/2006/relationships"><Relationship Id="rId6" Type="http://schemas.openxmlformats.org/officeDocument/2006/relationships/slideLayout" Target="../slideLayouts/slideLayout9.xml"/><Relationship Id="rId5" Type="http://schemas.openxmlformats.org/officeDocument/2006/relationships/tags" Target="../tags/tag92.xml"/><Relationship Id="rId4" Type="http://schemas.openxmlformats.org/officeDocument/2006/relationships/image" Target="../media/image6.png"/><Relationship Id="rId3" Type="http://schemas.openxmlformats.org/officeDocument/2006/relationships/tags" Target="../tags/tag91.xml"/><Relationship Id="rId2" Type="http://schemas.openxmlformats.org/officeDocument/2006/relationships/tags" Target="../tags/tag90.xml"/><Relationship Id="rId1" Type="http://schemas.openxmlformats.org/officeDocument/2006/relationships/tags" Target="../tags/tag89.xml"/></Relationships>
</file>

<file path=ppt/slides/_rels/slide7.xml.rels><?xml version="1.0" encoding="UTF-8" standalone="yes"?>
<Relationships xmlns="http://schemas.openxmlformats.org/package/2006/relationships"><Relationship Id="rId9" Type="http://schemas.openxmlformats.org/officeDocument/2006/relationships/tags" Target="../tags/tag99.xml"/><Relationship Id="rId8" Type="http://schemas.openxmlformats.org/officeDocument/2006/relationships/tags" Target="../tags/tag98.xml"/><Relationship Id="rId7" Type="http://schemas.openxmlformats.org/officeDocument/2006/relationships/tags" Target="../tags/tag97.xml"/><Relationship Id="rId6" Type="http://schemas.openxmlformats.org/officeDocument/2006/relationships/tags" Target="../tags/tag96.xml"/><Relationship Id="rId5" Type="http://schemas.openxmlformats.org/officeDocument/2006/relationships/tags" Target="../tags/tag95.xml"/><Relationship Id="rId4" Type="http://schemas.openxmlformats.org/officeDocument/2006/relationships/image" Target="../media/image15.png"/><Relationship Id="rId3" Type="http://schemas.openxmlformats.org/officeDocument/2006/relationships/image" Target="../media/image6.png"/><Relationship Id="rId26" Type="http://schemas.openxmlformats.org/officeDocument/2006/relationships/notesSlide" Target="../notesSlides/notesSlide5.xml"/><Relationship Id="rId25" Type="http://schemas.openxmlformats.org/officeDocument/2006/relationships/slideLayout" Target="../slideLayouts/slideLayout1.xml"/><Relationship Id="rId24" Type="http://schemas.openxmlformats.org/officeDocument/2006/relationships/tags" Target="../tags/tag110.xml"/><Relationship Id="rId23" Type="http://schemas.openxmlformats.org/officeDocument/2006/relationships/image" Target="../media/image19.svg"/><Relationship Id="rId22" Type="http://schemas.openxmlformats.org/officeDocument/2006/relationships/image" Target="../media/image18.png"/><Relationship Id="rId21" Type="http://schemas.openxmlformats.org/officeDocument/2006/relationships/tags" Target="../tags/tag109.xml"/><Relationship Id="rId20" Type="http://schemas.openxmlformats.org/officeDocument/2006/relationships/tags" Target="../tags/tag108.xml"/><Relationship Id="rId2" Type="http://schemas.openxmlformats.org/officeDocument/2006/relationships/tags" Target="../tags/tag94.xml"/><Relationship Id="rId19" Type="http://schemas.openxmlformats.org/officeDocument/2006/relationships/image" Target="../media/image17.svg"/><Relationship Id="rId18" Type="http://schemas.openxmlformats.org/officeDocument/2006/relationships/image" Target="../media/image16.png"/><Relationship Id="rId17" Type="http://schemas.openxmlformats.org/officeDocument/2006/relationships/tags" Target="../tags/tag107.xml"/><Relationship Id="rId16" Type="http://schemas.openxmlformats.org/officeDocument/2006/relationships/tags" Target="../tags/tag106.xml"/><Relationship Id="rId15" Type="http://schemas.openxmlformats.org/officeDocument/2006/relationships/tags" Target="../tags/tag105.xml"/><Relationship Id="rId14" Type="http://schemas.openxmlformats.org/officeDocument/2006/relationships/tags" Target="../tags/tag104.xml"/><Relationship Id="rId13" Type="http://schemas.openxmlformats.org/officeDocument/2006/relationships/tags" Target="../tags/tag103.xml"/><Relationship Id="rId12" Type="http://schemas.openxmlformats.org/officeDocument/2006/relationships/tags" Target="../tags/tag102.xml"/><Relationship Id="rId11" Type="http://schemas.openxmlformats.org/officeDocument/2006/relationships/tags" Target="../tags/tag101.xml"/><Relationship Id="rId10" Type="http://schemas.openxmlformats.org/officeDocument/2006/relationships/tags" Target="../tags/tag100.xml"/><Relationship Id="rId1" Type="http://schemas.openxmlformats.org/officeDocument/2006/relationships/tags" Target="../tags/tag93.xml"/></Relationships>
</file>

<file path=ppt/slides/_rels/slide8.xml.rels><?xml version="1.0" encoding="UTF-8" standalone="yes"?>
<Relationships xmlns="http://schemas.openxmlformats.org/package/2006/relationships"><Relationship Id="rId9" Type="http://schemas.openxmlformats.org/officeDocument/2006/relationships/image" Target="../media/image22.png"/><Relationship Id="rId8" Type="http://schemas.openxmlformats.org/officeDocument/2006/relationships/image" Target="../media/image21.svg"/><Relationship Id="rId7" Type="http://schemas.openxmlformats.org/officeDocument/2006/relationships/image" Target="../media/image20.png"/><Relationship Id="rId6" Type="http://schemas.openxmlformats.org/officeDocument/2006/relationships/image" Target="../media/image6.png"/><Relationship Id="rId5" Type="http://schemas.openxmlformats.org/officeDocument/2006/relationships/tags" Target="../tags/tag112.xml"/><Relationship Id="rId4" Type="http://schemas.openxmlformats.org/officeDocument/2006/relationships/tags" Target="../tags/tag111.xml"/><Relationship Id="rId3" Type="http://schemas.openxmlformats.org/officeDocument/2006/relationships/chart" Target="../charts/chart3.xml"/><Relationship Id="rId28" Type="http://schemas.openxmlformats.org/officeDocument/2006/relationships/slideLayout" Target="../slideLayouts/slideLayout1.xml"/><Relationship Id="rId27" Type="http://schemas.openxmlformats.org/officeDocument/2006/relationships/tags" Target="../tags/tag125.xml"/><Relationship Id="rId26" Type="http://schemas.openxmlformats.org/officeDocument/2006/relationships/tags" Target="../tags/tag124.xml"/><Relationship Id="rId25" Type="http://schemas.openxmlformats.org/officeDocument/2006/relationships/tags" Target="../tags/tag123.xml"/><Relationship Id="rId24" Type="http://schemas.openxmlformats.org/officeDocument/2006/relationships/tags" Target="../tags/tag122.xml"/><Relationship Id="rId23" Type="http://schemas.openxmlformats.org/officeDocument/2006/relationships/tags" Target="../tags/tag121.xml"/><Relationship Id="rId22" Type="http://schemas.openxmlformats.org/officeDocument/2006/relationships/tags" Target="../tags/tag120.xml"/><Relationship Id="rId21" Type="http://schemas.openxmlformats.org/officeDocument/2006/relationships/tags" Target="../tags/tag119.xml"/><Relationship Id="rId20" Type="http://schemas.openxmlformats.org/officeDocument/2006/relationships/tags" Target="../tags/tag118.xml"/><Relationship Id="rId2" Type="http://schemas.openxmlformats.org/officeDocument/2006/relationships/chart" Target="../charts/chart2.xml"/><Relationship Id="rId19" Type="http://schemas.openxmlformats.org/officeDocument/2006/relationships/tags" Target="../tags/tag117.xml"/><Relationship Id="rId18" Type="http://schemas.openxmlformats.org/officeDocument/2006/relationships/tags" Target="../tags/tag116.xml"/><Relationship Id="rId17" Type="http://schemas.openxmlformats.org/officeDocument/2006/relationships/tags" Target="../tags/tag115.xml"/><Relationship Id="rId16" Type="http://schemas.openxmlformats.org/officeDocument/2006/relationships/tags" Target="../tags/tag114.xml"/><Relationship Id="rId15" Type="http://schemas.openxmlformats.org/officeDocument/2006/relationships/tags" Target="../tags/tag113.xml"/><Relationship Id="rId14" Type="http://schemas.openxmlformats.org/officeDocument/2006/relationships/image" Target="../media/image27.svg"/><Relationship Id="rId13" Type="http://schemas.openxmlformats.org/officeDocument/2006/relationships/image" Target="../media/image26.png"/><Relationship Id="rId12" Type="http://schemas.openxmlformats.org/officeDocument/2006/relationships/image" Target="../media/image25.svg"/><Relationship Id="rId11" Type="http://schemas.openxmlformats.org/officeDocument/2006/relationships/image" Target="../media/image24.png"/><Relationship Id="rId10" Type="http://schemas.openxmlformats.org/officeDocument/2006/relationships/image" Target="../media/image23.svg"/><Relationship Id="rId1" Type="http://schemas.openxmlformats.org/officeDocument/2006/relationships/chart" Target="../charts/chart1.xml"/></Relationships>
</file>

<file path=ppt/slides/_rels/slide9.xml.rels><?xml version="1.0" encoding="UTF-8" standalone="yes"?>
<Relationships xmlns="http://schemas.openxmlformats.org/package/2006/relationships"><Relationship Id="rId9" Type="http://schemas.openxmlformats.org/officeDocument/2006/relationships/image" Target="../media/image8.png"/><Relationship Id="rId8" Type="http://schemas.openxmlformats.org/officeDocument/2006/relationships/tags" Target="../tags/tag129.xml"/><Relationship Id="rId7" Type="http://schemas.openxmlformats.org/officeDocument/2006/relationships/tags" Target="../tags/tag128.xml"/><Relationship Id="rId6" Type="http://schemas.openxmlformats.org/officeDocument/2006/relationships/tags" Target="../tags/tag127.xml"/><Relationship Id="rId5" Type="http://schemas.openxmlformats.org/officeDocument/2006/relationships/tags" Target="../tags/tag126.xml"/><Relationship Id="rId4" Type="http://schemas.openxmlformats.org/officeDocument/2006/relationships/chart" Target="../charts/chart7.xml"/><Relationship Id="rId3" Type="http://schemas.openxmlformats.org/officeDocument/2006/relationships/chart" Target="../charts/chart6.xml"/><Relationship Id="rId2" Type="http://schemas.openxmlformats.org/officeDocument/2006/relationships/chart" Target="../charts/chart5.xml"/><Relationship Id="rId11" Type="http://schemas.openxmlformats.org/officeDocument/2006/relationships/slideLayout" Target="../slideLayouts/slideLayout1.xml"/><Relationship Id="rId10" Type="http://schemas.openxmlformats.org/officeDocument/2006/relationships/image" Target="../media/image6.png"/><Relationship Id="rId1" Type="http://schemas.openxmlformats.org/officeDocument/2006/relationships/chart" Target="../charts/chart4.xml"/></Relationships>
</file>

<file path=ppt/slides/_rels/slide10.xml.rels><?xml version="1.0" encoding="UTF-8" standalone="yes"?>
<Relationships xmlns="http://schemas.openxmlformats.org/package/2006/relationships"><Relationship Id="rId9" Type="http://schemas.openxmlformats.org/officeDocument/2006/relationships/tags" Target="../tags/tag136.xml"/><Relationship Id="rId8" Type="http://schemas.openxmlformats.org/officeDocument/2006/relationships/tags" Target="../tags/tag135.xml"/><Relationship Id="rId7" Type="http://schemas.openxmlformats.org/officeDocument/2006/relationships/tags" Target="../tags/tag134.xml"/><Relationship Id="rId6" Type="http://schemas.openxmlformats.org/officeDocument/2006/relationships/tags" Target="../tags/tag133.xml"/><Relationship Id="rId5" Type="http://schemas.openxmlformats.org/officeDocument/2006/relationships/tags" Target="../tags/tag132.xml"/><Relationship Id="rId4" Type="http://schemas.openxmlformats.org/officeDocument/2006/relationships/tags" Target="../tags/tag131.xml"/><Relationship Id="rId3" Type="http://schemas.openxmlformats.org/officeDocument/2006/relationships/tags" Target="../tags/tag130.xml"/><Relationship Id="rId24" Type="http://schemas.openxmlformats.org/officeDocument/2006/relationships/slideLayout" Target="../slideLayouts/slideLayout1.xml"/><Relationship Id="rId23" Type="http://schemas.openxmlformats.org/officeDocument/2006/relationships/image" Target="../media/image35.svg"/><Relationship Id="rId22" Type="http://schemas.openxmlformats.org/officeDocument/2006/relationships/image" Target="../media/image34.png"/><Relationship Id="rId21" Type="http://schemas.openxmlformats.org/officeDocument/2006/relationships/image" Target="../media/image33.svg"/><Relationship Id="rId20" Type="http://schemas.openxmlformats.org/officeDocument/2006/relationships/image" Target="../media/image32.png"/><Relationship Id="rId2" Type="http://schemas.openxmlformats.org/officeDocument/2006/relationships/chart" Target="../charts/chart9.xml"/><Relationship Id="rId19" Type="http://schemas.openxmlformats.org/officeDocument/2006/relationships/image" Target="../media/image31.svg"/><Relationship Id="rId18" Type="http://schemas.openxmlformats.org/officeDocument/2006/relationships/image" Target="../media/image30.png"/><Relationship Id="rId17" Type="http://schemas.openxmlformats.org/officeDocument/2006/relationships/image" Target="../media/image29.svg"/><Relationship Id="rId16" Type="http://schemas.openxmlformats.org/officeDocument/2006/relationships/image" Target="../media/image28.png"/><Relationship Id="rId15" Type="http://schemas.openxmlformats.org/officeDocument/2006/relationships/image" Target="../media/image6.png"/><Relationship Id="rId14" Type="http://schemas.openxmlformats.org/officeDocument/2006/relationships/tags" Target="../tags/tag141.xml"/><Relationship Id="rId13" Type="http://schemas.openxmlformats.org/officeDocument/2006/relationships/tags" Target="../tags/tag140.xml"/><Relationship Id="rId12" Type="http://schemas.openxmlformats.org/officeDocument/2006/relationships/tags" Target="../tags/tag139.xml"/><Relationship Id="rId11" Type="http://schemas.openxmlformats.org/officeDocument/2006/relationships/tags" Target="../tags/tag138.xml"/><Relationship Id="rId10" Type="http://schemas.openxmlformats.org/officeDocument/2006/relationships/tags" Target="../tags/tag137.xml"/><Relationship Id="rId1" Type="http://schemas.openxmlformats.org/officeDocument/2006/relationships/chart" Target="../charts/chart8.xml"/></Relationships>
</file>

<file path=ppt/slides/_rels/slide11.xml.rels><?xml version="1.0" encoding="UTF-8" standalone="yes"?>
<Relationships xmlns="http://schemas.openxmlformats.org/package/2006/relationships"><Relationship Id="rId9" Type="http://schemas.openxmlformats.org/officeDocument/2006/relationships/tags" Target="../tags/tag148.xml"/><Relationship Id="rId8" Type="http://schemas.openxmlformats.org/officeDocument/2006/relationships/tags" Target="../tags/tag147.xml"/><Relationship Id="rId7" Type="http://schemas.openxmlformats.org/officeDocument/2006/relationships/tags" Target="../tags/tag146.xml"/><Relationship Id="rId6" Type="http://schemas.openxmlformats.org/officeDocument/2006/relationships/tags" Target="../tags/tag145.xml"/><Relationship Id="rId5" Type="http://schemas.openxmlformats.org/officeDocument/2006/relationships/image" Target="../media/image36.png"/><Relationship Id="rId4" Type="http://schemas.openxmlformats.org/officeDocument/2006/relationships/tags" Target="../tags/tag144.xml"/><Relationship Id="rId3" Type="http://schemas.openxmlformats.org/officeDocument/2006/relationships/image" Target="../media/image6.png"/><Relationship Id="rId26" Type="http://schemas.openxmlformats.org/officeDocument/2006/relationships/notesSlide" Target="../notesSlides/notesSlide6.xml"/><Relationship Id="rId25" Type="http://schemas.openxmlformats.org/officeDocument/2006/relationships/slideLayout" Target="../slideLayouts/slideLayout1.xml"/><Relationship Id="rId24" Type="http://schemas.openxmlformats.org/officeDocument/2006/relationships/tags" Target="../tags/tag163.xml"/><Relationship Id="rId23" Type="http://schemas.openxmlformats.org/officeDocument/2006/relationships/tags" Target="../tags/tag162.xml"/><Relationship Id="rId22" Type="http://schemas.openxmlformats.org/officeDocument/2006/relationships/tags" Target="../tags/tag161.xml"/><Relationship Id="rId21" Type="http://schemas.openxmlformats.org/officeDocument/2006/relationships/tags" Target="../tags/tag160.xml"/><Relationship Id="rId20" Type="http://schemas.openxmlformats.org/officeDocument/2006/relationships/tags" Target="../tags/tag159.xml"/><Relationship Id="rId2" Type="http://schemas.openxmlformats.org/officeDocument/2006/relationships/tags" Target="../tags/tag143.xml"/><Relationship Id="rId19" Type="http://schemas.openxmlformats.org/officeDocument/2006/relationships/tags" Target="../tags/tag158.xml"/><Relationship Id="rId18" Type="http://schemas.openxmlformats.org/officeDocument/2006/relationships/tags" Target="../tags/tag157.xml"/><Relationship Id="rId17" Type="http://schemas.openxmlformats.org/officeDocument/2006/relationships/tags" Target="../tags/tag156.xml"/><Relationship Id="rId16" Type="http://schemas.openxmlformats.org/officeDocument/2006/relationships/tags" Target="../tags/tag155.xml"/><Relationship Id="rId15" Type="http://schemas.openxmlformats.org/officeDocument/2006/relationships/tags" Target="../tags/tag154.xml"/><Relationship Id="rId14" Type="http://schemas.openxmlformats.org/officeDocument/2006/relationships/tags" Target="../tags/tag153.xml"/><Relationship Id="rId13" Type="http://schemas.openxmlformats.org/officeDocument/2006/relationships/tags" Target="../tags/tag152.xml"/><Relationship Id="rId12" Type="http://schemas.openxmlformats.org/officeDocument/2006/relationships/tags" Target="../tags/tag151.xml"/><Relationship Id="rId11" Type="http://schemas.openxmlformats.org/officeDocument/2006/relationships/tags" Target="../tags/tag150.xml"/><Relationship Id="rId10" Type="http://schemas.openxmlformats.org/officeDocument/2006/relationships/tags" Target="../tags/tag149.xml"/><Relationship Id="rId1" Type="http://schemas.openxmlformats.org/officeDocument/2006/relationships/tags" Target="../tags/tag142.xml"/></Relationships>
</file>

<file path=ppt/slides/_rels/slide12.xml.rels><?xml version="1.0" encoding="UTF-8" standalone="yes"?>
<Relationships xmlns="http://schemas.openxmlformats.org/package/2006/relationships"><Relationship Id="rId9" Type="http://schemas.openxmlformats.org/officeDocument/2006/relationships/image" Target="../media/image41.png"/><Relationship Id="rId8" Type="http://schemas.openxmlformats.org/officeDocument/2006/relationships/image" Target="../media/image40.svg"/><Relationship Id="rId7" Type="http://schemas.openxmlformats.org/officeDocument/2006/relationships/image" Target="../media/image39.png"/><Relationship Id="rId6" Type="http://schemas.openxmlformats.org/officeDocument/2006/relationships/tags" Target="../tags/tag166.xml"/><Relationship Id="rId5" Type="http://schemas.openxmlformats.org/officeDocument/2006/relationships/image" Target="../media/image38.svg"/><Relationship Id="rId4" Type="http://schemas.openxmlformats.org/officeDocument/2006/relationships/image" Target="../media/image37.png"/><Relationship Id="rId3" Type="http://schemas.openxmlformats.org/officeDocument/2006/relationships/tags" Target="../tags/tag165.xml"/><Relationship Id="rId24" Type="http://schemas.openxmlformats.org/officeDocument/2006/relationships/slideLayout" Target="../slideLayouts/slideLayout1.xml"/><Relationship Id="rId23" Type="http://schemas.openxmlformats.org/officeDocument/2006/relationships/image" Target="../media/image6.png"/><Relationship Id="rId22" Type="http://schemas.openxmlformats.org/officeDocument/2006/relationships/image" Target="../media/image50.svg"/><Relationship Id="rId21" Type="http://schemas.openxmlformats.org/officeDocument/2006/relationships/image" Target="../media/image49.png"/><Relationship Id="rId20" Type="http://schemas.openxmlformats.org/officeDocument/2006/relationships/tags" Target="../tags/tag169.xml"/><Relationship Id="rId2" Type="http://schemas.openxmlformats.org/officeDocument/2006/relationships/tags" Target="../tags/tag164.xml"/><Relationship Id="rId19" Type="http://schemas.openxmlformats.org/officeDocument/2006/relationships/image" Target="../media/image48.svg"/><Relationship Id="rId18" Type="http://schemas.openxmlformats.org/officeDocument/2006/relationships/image" Target="../media/image47.png"/><Relationship Id="rId17" Type="http://schemas.openxmlformats.org/officeDocument/2006/relationships/image" Target="../media/image46.svg"/><Relationship Id="rId16" Type="http://schemas.openxmlformats.org/officeDocument/2006/relationships/image" Target="../media/image45.png"/><Relationship Id="rId15" Type="http://schemas.openxmlformats.org/officeDocument/2006/relationships/tags" Target="../tags/tag168.xml"/><Relationship Id="rId14" Type="http://schemas.openxmlformats.org/officeDocument/2006/relationships/image" Target="../media/image44.svg"/><Relationship Id="rId13" Type="http://schemas.openxmlformats.org/officeDocument/2006/relationships/image" Target="../media/image43.png"/><Relationship Id="rId12" Type="http://schemas.openxmlformats.org/officeDocument/2006/relationships/tags" Target="../tags/tag167.xml"/><Relationship Id="rId11" Type="http://schemas.openxmlformats.org/officeDocument/2006/relationships/image" Target="../media/image8.png"/><Relationship Id="rId10" Type="http://schemas.openxmlformats.org/officeDocument/2006/relationships/image" Target="../media/image42.svg"/><Relationship Id="rId1" Type="http://schemas.openxmlformats.org/officeDocument/2006/relationships/chart" Target="../charts/chart10.xml"/></Relationships>
</file>

<file path=ppt/slides/_rels/slide13.xml.rels><?xml version="1.0" encoding="UTF-8" standalone="yes"?>
<Relationships xmlns="http://schemas.openxmlformats.org/package/2006/relationships"><Relationship Id="rId9" Type="http://schemas.openxmlformats.org/officeDocument/2006/relationships/image" Target="../media/image53.png"/><Relationship Id="rId8" Type="http://schemas.openxmlformats.org/officeDocument/2006/relationships/tags" Target="../tags/tag174.xml"/><Relationship Id="rId7" Type="http://schemas.openxmlformats.org/officeDocument/2006/relationships/image" Target="../media/image52.svg"/><Relationship Id="rId6" Type="http://schemas.openxmlformats.org/officeDocument/2006/relationships/image" Target="../media/image51.png"/><Relationship Id="rId5" Type="http://schemas.openxmlformats.org/officeDocument/2006/relationships/tags" Target="../tags/tag173.xml"/><Relationship Id="rId4" Type="http://schemas.openxmlformats.org/officeDocument/2006/relationships/tags" Target="../tags/tag172.xml"/><Relationship Id="rId3" Type="http://schemas.openxmlformats.org/officeDocument/2006/relationships/image" Target="../media/image6.png"/><Relationship Id="rId22" Type="http://schemas.openxmlformats.org/officeDocument/2006/relationships/notesSlide" Target="../notesSlides/notesSlide7.xml"/><Relationship Id="rId21" Type="http://schemas.openxmlformats.org/officeDocument/2006/relationships/slideLayout" Target="../slideLayouts/slideLayout1.xml"/><Relationship Id="rId20" Type="http://schemas.openxmlformats.org/officeDocument/2006/relationships/tags" Target="../tags/tag182.xml"/><Relationship Id="rId2" Type="http://schemas.openxmlformats.org/officeDocument/2006/relationships/tags" Target="../tags/tag171.xml"/><Relationship Id="rId19" Type="http://schemas.openxmlformats.org/officeDocument/2006/relationships/image" Target="../media/image56.svg"/><Relationship Id="rId18" Type="http://schemas.openxmlformats.org/officeDocument/2006/relationships/image" Target="../media/image55.png"/><Relationship Id="rId17" Type="http://schemas.openxmlformats.org/officeDocument/2006/relationships/tags" Target="../tags/tag181.xml"/><Relationship Id="rId16" Type="http://schemas.openxmlformats.org/officeDocument/2006/relationships/tags" Target="../tags/tag180.xml"/><Relationship Id="rId15" Type="http://schemas.openxmlformats.org/officeDocument/2006/relationships/tags" Target="../tags/tag179.xml"/><Relationship Id="rId14" Type="http://schemas.openxmlformats.org/officeDocument/2006/relationships/tags" Target="../tags/tag178.xml"/><Relationship Id="rId13" Type="http://schemas.openxmlformats.org/officeDocument/2006/relationships/tags" Target="../tags/tag177.xml"/><Relationship Id="rId12" Type="http://schemas.openxmlformats.org/officeDocument/2006/relationships/tags" Target="../tags/tag176.xml"/><Relationship Id="rId11" Type="http://schemas.openxmlformats.org/officeDocument/2006/relationships/tags" Target="../tags/tag175.xml"/><Relationship Id="rId10" Type="http://schemas.openxmlformats.org/officeDocument/2006/relationships/image" Target="../media/image54.svg"/><Relationship Id="rId1" Type="http://schemas.openxmlformats.org/officeDocument/2006/relationships/tags" Target="../tags/tag170.xml"/></Relationships>
</file>

<file path=ppt/slides/_rels/slide14.xml.rels><?xml version="1.0" encoding="UTF-8" standalone="yes"?>
<Relationships xmlns="http://schemas.openxmlformats.org/package/2006/relationships"><Relationship Id="rId6" Type="http://schemas.openxmlformats.org/officeDocument/2006/relationships/slideLayout" Target="../slideLayouts/slideLayout9.xml"/><Relationship Id="rId5" Type="http://schemas.openxmlformats.org/officeDocument/2006/relationships/tags" Target="../tags/tag186.xml"/><Relationship Id="rId4" Type="http://schemas.openxmlformats.org/officeDocument/2006/relationships/image" Target="../media/image6.png"/><Relationship Id="rId3" Type="http://schemas.openxmlformats.org/officeDocument/2006/relationships/tags" Target="../tags/tag185.xml"/><Relationship Id="rId2" Type="http://schemas.openxmlformats.org/officeDocument/2006/relationships/tags" Target="../tags/tag184.xml"/><Relationship Id="rId1" Type="http://schemas.openxmlformats.org/officeDocument/2006/relationships/tags" Target="../tags/tag183.xml"/></Relationships>
</file>

<file path=ppt/slides/_rels/slide15.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12.xml"/><Relationship Id="rId4" Type="http://schemas.openxmlformats.org/officeDocument/2006/relationships/tags" Target="../tags/tag189.xml"/><Relationship Id="rId3" Type="http://schemas.openxmlformats.org/officeDocument/2006/relationships/tags" Target="../tags/tag188.xml"/><Relationship Id="rId2" Type="http://schemas.openxmlformats.org/officeDocument/2006/relationships/tags" Target="../tags/tag187.xml"/><Relationship Id="rId1" Type="http://schemas.openxmlformats.org/officeDocument/2006/relationships/image" Target="../media/image6.png"/></Relationships>
</file>

<file path=ppt/slides/_rels/slide16.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12.xml"/><Relationship Id="rId4" Type="http://schemas.openxmlformats.org/officeDocument/2006/relationships/tags" Target="../tags/tag192.xml"/><Relationship Id="rId3" Type="http://schemas.openxmlformats.org/officeDocument/2006/relationships/tags" Target="../tags/tag191.xml"/><Relationship Id="rId2" Type="http://schemas.openxmlformats.org/officeDocument/2006/relationships/tags" Target="../tags/tag190.xml"/><Relationship Id="rId1" Type="http://schemas.openxmlformats.org/officeDocument/2006/relationships/image" Target="../media/image6.png"/></Relationships>
</file>

<file path=ppt/slides/_rels/slide17.xml.rels><?xml version="1.0" encoding="UTF-8" standalone="yes"?>
<Relationships xmlns="http://schemas.openxmlformats.org/package/2006/relationships"><Relationship Id="rId6" Type="http://schemas.openxmlformats.org/officeDocument/2006/relationships/slideLayout" Target="../slideLayouts/slideLayout9.xml"/><Relationship Id="rId5" Type="http://schemas.openxmlformats.org/officeDocument/2006/relationships/tags" Target="../tags/tag196.xml"/><Relationship Id="rId4" Type="http://schemas.openxmlformats.org/officeDocument/2006/relationships/image" Target="../media/image6.png"/><Relationship Id="rId3" Type="http://schemas.openxmlformats.org/officeDocument/2006/relationships/tags" Target="../tags/tag195.xml"/><Relationship Id="rId2" Type="http://schemas.openxmlformats.org/officeDocument/2006/relationships/tags" Target="../tags/tag194.xml"/><Relationship Id="rId1" Type="http://schemas.openxmlformats.org/officeDocument/2006/relationships/tags" Target="../tags/tag193.xml"/></Relationships>
</file>

<file path=ppt/slides/_rels/slide18.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3.xml"/><Relationship Id="rId3" Type="http://schemas.openxmlformats.org/officeDocument/2006/relationships/tags" Target="../tags/tag198.xml"/><Relationship Id="rId2" Type="http://schemas.openxmlformats.org/officeDocument/2006/relationships/tags" Target="../tags/tag197.xml"/><Relationship Id="rId1" Type="http://schemas.openxmlformats.org/officeDocument/2006/relationships/image" Target="../media/image6.png"/></Relationships>
</file>

<file path=ppt/slides/_rels/slide19.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202.xml"/><Relationship Id="rId5" Type="http://schemas.openxmlformats.org/officeDocument/2006/relationships/tags" Target="../tags/tag201.xml"/><Relationship Id="rId4" Type="http://schemas.openxmlformats.org/officeDocument/2006/relationships/tags" Target="../tags/tag200.xml"/><Relationship Id="rId3" Type="http://schemas.openxmlformats.org/officeDocument/2006/relationships/tags" Target="../tags/tag199.xml"/><Relationship Id="rId2" Type="http://schemas.openxmlformats.org/officeDocument/2006/relationships/image" Target="../media/image57.png"/><Relationship Id="rId1" Type="http://schemas.openxmlformats.org/officeDocument/2006/relationships/image" Target="../media/image6.png"/></Relationships>
</file>

<file path=ppt/slides/_rels/slide20.xml.rels><?xml version="1.0" encoding="UTF-8" standalone="yes"?>
<Relationships xmlns="http://schemas.openxmlformats.org/package/2006/relationships"><Relationship Id="rId9" Type="http://schemas.openxmlformats.org/officeDocument/2006/relationships/image" Target="../media/image59.jpeg"/><Relationship Id="rId8" Type="http://schemas.openxmlformats.org/officeDocument/2006/relationships/tags" Target="../tags/tag208.xml"/><Relationship Id="rId7" Type="http://schemas.openxmlformats.org/officeDocument/2006/relationships/image" Target="../media/image58.png"/><Relationship Id="rId6" Type="http://schemas.openxmlformats.org/officeDocument/2006/relationships/tags" Target="../tags/tag207.xml"/><Relationship Id="rId5" Type="http://schemas.openxmlformats.org/officeDocument/2006/relationships/tags" Target="../tags/tag206.xml"/><Relationship Id="rId4" Type="http://schemas.openxmlformats.org/officeDocument/2006/relationships/tags" Target="../tags/tag205.xml"/><Relationship Id="rId3" Type="http://schemas.openxmlformats.org/officeDocument/2006/relationships/tags" Target="../tags/tag204.xml"/><Relationship Id="rId2" Type="http://schemas.openxmlformats.org/officeDocument/2006/relationships/tags" Target="../tags/tag203.xml"/><Relationship Id="rId11" Type="http://schemas.openxmlformats.org/officeDocument/2006/relationships/slideLayout" Target="../slideLayouts/slideLayout14.xml"/><Relationship Id="rId10" Type="http://schemas.openxmlformats.org/officeDocument/2006/relationships/tags" Target="../tags/tag209.xml"/><Relationship Id="rId1"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a:xfrm>
          <a:off x="0" y="0"/>
          <a:ext cx="0" cy="0"/>
          <a:chOff x="0" y="0"/>
          <a:chExt cx="0" cy="0"/>
        </a:xfrm>
      </p:grpSpPr>
      <p:sp>
        <p:nvSpPr>
          <p:cNvPr id="11" name="文本框 8"/>
          <p:cNvSpPr txBox="1">
            <a:spLocks noChangeArrowheads="1"/>
          </p:cNvSpPr>
          <p:nvPr/>
        </p:nvSpPr>
        <p:spPr bwMode="auto">
          <a:xfrm>
            <a:off x="5744845" y="3801110"/>
            <a:ext cx="5744210" cy="345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r">
              <a:lnSpc>
                <a:spcPct val="100000"/>
              </a:lnSpc>
              <a:spcBef>
                <a:spcPct val="0"/>
              </a:spcBef>
              <a:buNone/>
            </a:pPr>
            <a:r>
              <a:rPr lang="zh-CN" altLang="en-US" sz="1800" dirty="0">
                <a:solidFill>
                  <a:srgbClr val="216EE3"/>
                </a:solidFill>
                <a:latin typeface="Arial" panose="020B0604020202020204" pitchFamily="34" charset="0"/>
                <a:ea typeface="黑体-简" panose="02000000000000000000" charset="-122"/>
                <a:cs typeface="微软雅黑" panose="020B0503020204020204" charset="-122"/>
                <a:sym typeface="+mn-ea"/>
              </a:rPr>
              <a:t>保护业务</a:t>
            </a:r>
            <a:r>
              <a:rPr lang="en-US" altLang="zh-CN" sz="1800" dirty="0">
                <a:solidFill>
                  <a:srgbClr val="216EE3"/>
                </a:solidFill>
                <a:latin typeface="Arial" panose="020B0604020202020204" pitchFamily="34" charset="0"/>
                <a:ea typeface="黑体-简" panose="02000000000000000000" charset="-122"/>
                <a:cs typeface="微软雅黑" panose="020B0503020204020204" charset="-122"/>
                <a:sym typeface="+mn-ea"/>
              </a:rPr>
              <a:t> ·</a:t>
            </a:r>
            <a:r>
              <a:rPr lang="zh-CN" altLang="en-US" sz="1800" dirty="0">
                <a:solidFill>
                  <a:srgbClr val="216EE3"/>
                </a:solidFill>
                <a:latin typeface="Arial" panose="020B0604020202020204" pitchFamily="34" charset="0"/>
                <a:ea typeface="黑体-简" panose="02000000000000000000" charset="-122"/>
                <a:cs typeface="微软雅黑" panose="020B0503020204020204" charset="-122"/>
                <a:sym typeface="+mn-ea"/>
              </a:rPr>
              <a:t>通报应对</a:t>
            </a:r>
            <a:r>
              <a:rPr lang="en-US" altLang="zh-CN" sz="1800" dirty="0">
                <a:solidFill>
                  <a:srgbClr val="216EE3"/>
                </a:solidFill>
                <a:latin typeface="Arial" panose="020B0604020202020204" pitchFamily="34" charset="0"/>
                <a:ea typeface="黑体-简" panose="02000000000000000000" charset="-122"/>
                <a:cs typeface="微软雅黑" panose="020B0503020204020204" charset="-122"/>
                <a:sym typeface="+mn-ea"/>
              </a:rPr>
              <a:t>· </a:t>
            </a:r>
            <a:r>
              <a:rPr lang="zh-CN" altLang="en-US" sz="1800" dirty="0">
                <a:solidFill>
                  <a:srgbClr val="216EE3"/>
                </a:solidFill>
                <a:latin typeface="Arial" panose="020B0604020202020204" pitchFamily="34" charset="0"/>
                <a:ea typeface="黑体-简" panose="02000000000000000000" charset="-122"/>
                <a:cs typeface="微软雅黑" panose="020B0503020204020204" charset="-122"/>
                <a:sym typeface="+mn-ea"/>
              </a:rPr>
              <a:t>安全价值量化</a:t>
            </a:r>
            <a:r>
              <a:rPr lang="en-US" altLang="zh-CN" sz="1800" dirty="0">
                <a:solidFill>
                  <a:srgbClr val="216EE3"/>
                </a:solidFill>
                <a:latin typeface="Arial" panose="020B0604020202020204" pitchFamily="34" charset="0"/>
                <a:ea typeface="黑体-简" panose="02000000000000000000" charset="-122"/>
                <a:cs typeface="微软雅黑" panose="020B0503020204020204" charset="-122"/>
                <a:sym typeface="+mn-ea"/>
              </a:rPr>
              <a:t> </a:t>
            </a:r>
            <a:endParaRPr lang="zh-CN" altLang="en-US" sz="1800" dirty="0">
              <a:solidFill>
                <a:srgbClr val="216EE3"/>
              </a:solidFill>
              <a:latin typeface="Arial" panose="020B0604020202020204" pitchFamily="34" charset="0"/>
              <a:ea typeface="黑体-简" panose="02000000000000000000" charset="-122"/>
              <a:cs typeface="微软雅黑" panose="020B0503020204020204" charset="-122"/>
              <a:sym typeface="+mn-ea"/>
            </a:endParaRPr>
          </a:p>
        </p:txBody>
      </p:sp>
      <p:grpSp>
        <p:nvGrpSpPr>
          <p:cNvPr id="7" name="组合 6"/>
          <p:cNvGrpSpPr/>
          <p:nvPr/>
        </p:nvGrpSpPr>
        <p:grpSpPr>
          <a:xfrm>
            <a:off x="5271770" y="2325370"/>
            <a:ext cx="6217285" cy="1490980"/>
            <a:chOff x="8301" y="2872"/>
            <a:chExt cx="9791" cy="2348"/>
          </a:xfrm>
        </p:grpSpPr>
        <p:sp>
          <p:nvSpPr>
            <p:cNvPr id="5" name="文本框 8"/>
            <p:cNvSpPr txBox="1"/>
            <p:nvPr>
              <p:custDataLst>
                <p:tags r:id="rId2"/>
              </p:custDataLst>
            </p:nvPr>
          </p:nvSpPr>
          <p:spPr>
            <a:xfrm>
              <a:off x="8301" y="3755"/>
              <a:ext cx="9791" cy="1465"/>
            </a:xfrm>
            <a:prstGeom prst="rect">
              <a:avLst/>
            </a:prstGeom>
            <a:ln w="12700">
              <a:miter lim="400000"/>
            </a:ln>
          </p:spPr>
          <p:txBody>
            <a:bodyPr wrap="square" lIns="34290" tIns="34290" rIns="34290" bIns="34290">
              <a:spAutoFit/>
            </a:bodyPr>
            <a:lstStyle>
              <a:lvl1pPr>
                <a:defRPr sz="32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pPr algn="r"/>
              <a:r>
                <a:rPr lang="en-US" altLang="zh-CN" sz="2800" dirty="0" smtClean="0">
                  <a:gradFill>
                    <a:gsLst>
                      <a:gs pos="50000">
                        <a:schemeClr val="tx1"/>
                      </a:gs>
                      <a:gs pos="0">
                        <a:schemeClr val="tx1">
                          <a:lumMod val="25000"/>
                          <a:lumOff val="75000"/>
                        </a:schemeClr>
                      </a:gs>
                      <a:gs pos="100000">
                        <a:schemeClr val="tx1">
                          <a:lumMod val="85000"/>
                        </a:schemeClr>
                      </a:gs>
                    </a:gsLst>
                    <a:lin ang="5400000" scaled="1"/>
                  </a:gradFill>
                  <a:latin typeface="Arial" panose="020B0604020202020204" pitchFamily="34" charset="0"/>
                  <a:ea typeface="黑体-简" panose="02000000000000000000" charset="-122"/>
                </a:rPr>
                <a:t>2025</a:t>
              </a:r>
              <a:r>
                <a:rPr lang="zh-CN" altLang="en-US" sz="2800" dirty="0" smtClean="0">
                  <a:gradFill>
                    <a:gsLst>
                      <a:gs pos="50000">
                        <a:schemeClr val="tx1"/>
                      </a:gs>
                      <a:gs pos="0">
                        <a:schemeClr val="tx1">
                          <a:lumMod val="25000"/>
                          <a:lumOff val="75000"/>
                        </a:schemeClr>
                      </a:gs>
                      <a:gs pos="100000">
                        <a:schemeClr val="tx1">
                          <a:lumMod val="85000"/>
                        </a:schemeClr>
                      </a:gs>
                    </a:gsLst>
                    <a:lin ang="5400000" scaled="1"/>
                  </a:gradFill>
                  <a:latin typeface="Arial" panose="020B0604020202020204" pitchFamily="34" charset="0"/>
                  <a:ea typeface="黑体-简" panose="02000000000000000000" charset="-122"/>
                </a:rPr>
                <a:t>年网络安全工作复盘暨</a:t>
              </a:r>
              <a:r>
                <a:rPr lang="en-US" altLang="zh-CN" sz="2800" dirty="0" smtClean="0">
                  <a:gradFill>
                    <a:gsLst>
                      <a:gs pos="50000">
                        <a:schemeClr val="tx1"/>
                      </a:gs>
                      <a:gs pos="0">
                        <a:schemeClr val="tx1">
                          <a:lumMod val="25000"/>
                          <a:lumOff val="75000"/>
                        </a:schemeClr>
                      </a:gs>
                      <a:gs pos="100000">
                        <a:schemeClr val="tx1">
                          <a:lumMod val="85000"/>
                        </a:schemeClr>
                      </a:gs>
                    </a:gsLst>
                    <a:lin ang="5400000" scaled="1"/>
                  </a:gradFill>
                  <a:latin typeface="Arial" panose="020B0604020202020204" pitchFamily="34" charset="0"/>
                  <a:ea typeface="黑体-简" panose="02000000000000000000" charset="-122"/>
                </a:rPr>
                <a:t>2026</a:t>
              </a:r>
              <a:r>
                <a:rPr lang="zh-CN" altLang="en-US" sz="2800" dirty="0" smtClean="0">
                  <a:gradFill>
                    <a:gsLst>
                      <a:gs pos="50000">
                        <a:schemeClr val="tx1"/>
                      </a:gs>
                      <a:gs pos="0">
                        <a:schemeClr val="tx1">
                          <a:lumMod val="25000"/>
                          <a:lumOff val="75000"/>
                        </a:schemeClr>
                      </a:gs>
                      <a:gs pos="100000">
                        <a:schemeClr val="tx1">
                          <a:lumMod val="85000"/>
                        </a:schemeClr>
                      </a:gs>
                    </a:gsLst>
                    <a:lin ang="5400000" scaled="1"/>
                  </a:gradFill>
                  <a:latin typeface="Arial" panose="020B0604020202020204" pitchFamily="34" charset="0"/>
                  <a:ea typeface="黑体-简" panose="02000000000000000000" charset="-122"/>
                </a:rPr>
                <a:t>展望</a:t>
              </a:r>
              <a:endParaRPr lang="zh-CN" altLang="en-US" sz="2800" dirty="0" smtClean="0">
                <a:gradFill>
                  <a:gsLst>
                    <a:gs pos="50000">
                      <a:schemeClr val="tx1"/>
                    </a:gs>
                    <a:gs pos="0">
                      <a:schemeClr val="tx1">
                        <a:lumMod val="25000"/>
                        <a:lumOff val="75000"/>
                      </a:schemeClr>
                    </a:gs>
                    <a:gs pos="100000">
                      <a:schemeClr val="tx1">
                        <a:lumMod val="85000"/>
                      </a:schemeClr>
                    </a:gs>
                  </a:gsLst>
                  <a:lin ang="5400000" scaled="1"/>
                </a:gradFill>
                <a:latin typeface="Arial" panose="020B0604020202020204" pitchFamily="34" charset="0"/>
                <a:ea typeface="黑体-简" panose="02000000000000000000" charset="-122"/>
              </a:endParaRPr>
            </a:p>
          </p:txBody>
        </p:sp>
        <p:sp>
          <p:nvSpPr>
            <p:cNvPr id="4" name="文本框 8"/>
            <p:cNvSpPr txBox="1"/>
            <p:nvPr>
              <p:custDataLst>
                <p:tags r:id="rId3"/>
              </p:custDataLst>
            </p:nvPr>
          </p:nvSpPr>
          <p:spPr>
            <a:xfrm>
              <a:off x="8695" y="2872"/>
              <a:ext cx="9397" cy="883"/>
            </a:xfrm>
            <a:prstGeom prst="rect">
              <a:avLst/>
            </a:prstGeom>
            <a:ln w="12700">
              <a:miter lim="400000"/>
            </a:ln>
          </p:spPr>
          <p:txBody>
            <a:bodyPr wrap="square" lIns="34290" tIns="34290" rIns="34290" bIns="34290">
              <a:spAutoFit/>
            </a:bodyPr>
            <a:lstStyle>
              <a:lvl1pPr>
                <a:defRPr sz="32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pPr algn="r"/>
              <a:r>
                <a:rPr lang="en-US" altLang="zh-CN" dirty="0" smtClean="0">
                  <a:gradFill>
                    <a:gsLst>
                      <a:gs pos="50000">
                        <a:schemeClr val="tx1"/>
                      </a:gs>
                      <a:gs pos="0">
                        <a:schemeClr val="tx1">
                          <a:lumMod val="25000"/>
                          <a:lumOff val="75000"/>
                        </a:schemeClr>
                      </a:gs>
                      <a:gs pos="100000">
                        <a:schemeClr val="tx1">
                          <a:lumMod val="85000"/>
                        </a:schemeClr>
                      </a:gs>
                    </a:gsLst>
                    <a:lin ang="5400000" scaled="1"/>
                  </a:gradFill>
                  <a:latin typeface="Arial Black" panose="020B0A04020102020204" pitchFamily="34" charset="0"/>
                  <a:sym typeface="+mn-ea"/>
                </a:rPr>
                <a:t>{{company}}</a:t>
              </a:r>
              <a:r>
                <a:rPr lang="en-US" altLang="zh-CN" dirty="0" smtClean="0">
                  <a:gradFill>
                    <a:gsLst>
                      <a:gs pos="50000">
                        <a:schemeClr val="tx1"/>
                      </a:gs>
                      <a:gs pos="0">
                        <a:schemeClr val="tx1">
                          <a:lumMod val="25000"/>
                          <a:lumOff val="75000"/>
                        </a:schemeClr>
                      </a:gs>
                      <a:gs pos="100000">
                        <a:schemeClr val="tx1">
                          <a:lumMod val="85000"/>
                        </a:schemeClr>
                      </a:gs>
                    </a:gsLst>
                    <a:lin ang="5400000" scaled="1"/>
                  </a:gradFill>
                  <a:latin typeface="Arial Black" panose="020B0A04020102020204" pitchFamily="34" charset="0"/>
                  <a:ea typeface="微软雅黑" panose="020B0503020204020204" charset="-122"/>
                </a:rPr>
                <a:t>&amp;</a:t>
              </a:r>
              <a:r>
                <a:rPr lang="zh-CN" altLang="en-US" dirty="0" smtClean="0">
                  <a:gradFill>
                    <a:gsLst>
                      <a:gs pos="50000">
                        <a:schemeClr val="tx1"/>
                      </a:gs>
                      <a:gs pos="0">
                        <a:schemeClr val="tx1">
                          <a:lumMod val="25000"/>
                          <a:lumOff val="75000"/>
                        </a:schemeClr>
                      </a:gs>
                      <a:gs pos="100000">
                        <a:schemeClr val="tx1">
                          <a:lumMod val="85000"/>
                        </a:schemeClr>
                      </a:gs>
                    </a:gsLst>
                    <a:lin ang="5400000" scaled="1"/>
                  </a:gradFill>
                  <a:latin typeface="Arial Black" panose="020B0A04020102020204" pitchFamily="34" charset="0"/>
                  <a:ea typeface="微软雅黑" panose="020B0503020204020204" charset="-122"/>
                </a:rPr>
                <a:t>深信服科技</a:t>
              </a:r>
              <a:endParaRPr lang="zh-CN" altLang="en-US" dirty="0" smtClean="0">
                <a:gradFill>
                  <a:gsLst>
                    <a:gs pos="50000">
                      <a:schemeClr val="tx1"/>
                    </a:gs>
                    <a:gs pos="0">
                      <a:schemeClr val="tx1">
                        <a:lumMod val="25000"/>
                        <a:lumOff val="75000"/>
                      </a:schemeClr>
                    </a:gs>
                    <a:gs pos="100000">
                      <a:schemeClr val="tx1">
                        <a:lumMod val="85000"/>
                      </a:schemeClr>
                    </a:gs>
                  </a:gsLst>
                  <a:lin ang="5400000" scaled="1"/>
                </a:gradFill>
                <a:latin typeface="Arial Black" panose="020B0A04020102020204" pitchFamily="34" charset="0"/>
                <a:ea typeface="微软雅黑" panose="020B0503020204020204" charset="-122"/>
              </a:endParaRPr>
            </a:p>
          </p:txBody>
        </p:sp>
      </p:grpSp>
      <p:sp>
        <p:nvSpPr>
          <p:cNvPr id="6" name="文本框 8"/>
          <p:cNvSpPr txBox="1">
            <a:spLocks noChangeArrowheads="1"/>
          </p:cNvSpPr>
          <p:nvPr/>
        </p:nvSpPr>
        <p:spPr bwMode="auto">
          <a:xfrm>
            <a:off x="6732905" y="4562475"/>
            <a:ext cx="4755515"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r">
              <a:lnSpc>
                <a:spcPct val="100000"/>
              </a:lnSpc>
              <a:spcBef>
                <a:spcPct val="0"/>
              </a:spcBef>
              <a:buNone/>
            </a:pPr>
            <a:r>
              <a:rPr lang="zh-CN" altLang="en-US" sz="1800" dirty="0">
                <a:solidFill>
                  <a:srgbClr val="515151"/>
                </a:solidFill>
                <a:latin typeface="Arial" panose="020B0604020202020204" pitchFamily="34" charset="0"/>
                <a:ea typeface="黑体-简" panose="02000000000000000000" charset="-122"/>
                <a:cs typeface="微软雅黑" panose="020B0503020204020204" charset="-122"/>
                <a:sym typeface="+mn-ea"/>
              </a:rPr>
              <a:t>运营周期</a:t>
            </a:r>
            <a:r>
              <a:rPr lang="en-US" altLang="zh-CN" sz="1800" dirty="0">
                <a:solidFill>
                  <a:srgbClr val="515151"/>
                </a:solidFill>
                <a:latin typeface="Arial" panose="020B0604020202020204" pitchFamily="34" charset="0"/>
                <a:ea typeface="黑体-简" panose="02000000000000000000" charset="-122"/>
                <a:cs typeface="微软雅黑" panose="020B0503020204020204" charset="-122"/>
                <a:sym typeface="+mn-ea"/>
              </a:rPr>
              <a:t>：</a:t>
            </a:r>
            <a:r>
              <a:rPr lang="en-US" altLang="zh-CN" sz="1800" dirty="0">
                <a:solidFill>
                  <a:srgbClr val="515151"/>
                </a:solidFill>
                <a:latin typeface="微软雅黑" panose="020B0503020204020204" charset="-122"/>
                <a:ea typeface="微软雅黑" panose="020B0503020204020204" charset="-122"/>
                <a:cs typeface="微软雅黑" panose="020B0503020204020204" charset="-122"/>
                <a:sym typeface="+mn-ea"/>
              </a:rPr>
              <a:t>{{period_start}} </a:t>
            </a:r>
            <a:r>
              <a:rPr lang="en-US" altLang="zh-CN" sz="1800" b="1" dirty="0">
                <a:solidFill>
                  <a:srgbClr val="515151"/>
                </a:solidFill>
                <a:latin typeface="微软雅黑" panose="020B0503020204020204" charset="-122"/>
                <a:ea typeface="微软雅黑" panose="020B0503020204020204" charset="-122"/>
                <a:cs typeface="微软雅黑" panose="020B0503020204020204" charset="-122"/>
                <a:sym typeface="+mn-ea"/>
              </a:rPr>
              <a:t>~ </a:t>
            </a:r>
            <a:r>
              <a:rPr lang="en-US" altLang="zh-CN" sz="1800" dirty="0">
                <a:solidFill>
                  <a:srgbClr val="515151"/>
                </a:solidFill>
                <a:latin typeface="微软雅黑" panose="020B0503020204020204" charset="-122"/>
                <a:ea typeface="微软雅黑" panose="020B0503020204020204" charset="-122"/>
                <a:cs typeface="微软雅黑" panose="020B0503020204020204" charset="-122"/>
                <a:sym typeface="+mn-ea"/>
              </a:rPr>
              <a:t>{{period_end}}</a:t>
            </a:r>
            <a:endParaRPr lang="en-US" altLang="zh-CN" sz="1800" dirty="0">
              <a:solidFill>
                <a:srgbClr val="515151"/>
              </a:solidFill>
              <a:latin typeface="微软雅黑" panose="020B0503020204020204" charset="-122"/>
              <a:ea typeface="微软雅黑" panose="020B0503020204020204" charset="-122"/>
              <a:cs typeface="微软雅黑" panose="020B0503020204020204" charset="-122"/>
              <a:sym typeface="+mn-ea"/>
            </a:endParaRPr>
          </a:p>
          <a:p>
            <a:pPr algn="r">
              <a:lnSpc>
                <a:spcPct val="100000"/>
              </a:lnSpc>
              <a:spcBef>
                <a:spcPct val="0"/>
              </a:spcBef>
              <a:buNone/>
            </a:pPr>
            <a:endParaRPr lang="en-US" altLang="zh-CN" sz="1800" dirty="0">
              <a:solidFill>
                <a:srgbClr val="515151"/>
              </a:solidFill>
              <a:latin typeface="微软雅黑" panose="020B0503020204020204" charset="-122"/>
              <a:ea typeface="微软雅黑" panose="020B0503020204020204" charset="-122"/>
              <a:cs typeface="微软雅黑" panose="020B0503020204020204" charset="-122"/>
              <a:sym typeface="+mn-ea"/>
            </a:endParaRPr>
          </a:p>
        </p:txBody>
      </p:sp>
      <p:pic>
        <p:nvPicPr>
          <p:cNvPr id="8" name="图片 7" descr="LOGO-深信服&amp;智安全@4x"/>
          <p:cNvPicPr>
            <a:picLocks noChangeAspect="1"/>
          </p:cNvPicPr>
          <p:nvPr/>
        </p:nvPicPr>
        <p:blipFill>
          <a:blip r:embed="rId4"/>
          <a:stretch>
            <a:fillRect/>
          </a:stretch>
        </p:blipFill>
        <p:spPr>
          <a:xfrm>
            <a:off x="643255" y="5992495"/>
            <a:ext cx="3002280" cy="424180"/>
          </a:xfrm>
          <a:prstGeom prst="rect">
            <a:avLst/>
          </a:prstGeom>
        </p:spPr>
      </p:pic>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56" name="textbox 18"/>
          <p:cNvSpPr/>
          <p:nvPr/>
        </p:nvSpPr>
        <p:spPr>
          <a:xfrm>
            <a:off x="0" y="676910"/>
            <a:ext cx="5527675" cy="1368000"/>
          </a:xfrm>
          <a:prstGeom prst="rect">
            <a:avLst/>
          </a:prstGeom>
          <a:noFill/>
          <a:ln w="0" cap="flat">
            <a:noFill/>
            <a:prstDash val="solid"/>
            <a:miter lim="0"/>
          </a:ln>
        </p:spPr>
        <p:txBody>
          <a:bodyPr vert="horz" wrap="square" lIns="0" tIns="0" rIns="0" bIns="0" anchor="ctr" anchorCtr="0"/>
          <a:p>
            <a:pPr algn="l" rtl="0" eaLnBrk="0">
              <a:lnSpc>
                <a:spcPct val="96000"/>
              </a:lnSpc>
            </a:pPr>
            <a:r>
              <a:rPr lang="en-US" altLang="zh-CN" sz="8800" b="1" kern="0" spc="60" dirty="0">
                <a:ln>
                  <a:gradFill>
                    <a:gsLst>
                      <a:gs pos="0">
                        <a:srgbClr val="FFFFFF"/>
                      </a:gs>
                      <a:gs pos="100000">
                        <a:srgbClr val="FFFFFF">
                          <a:alpha val="36000"/>
                        </a:srgbClr>
                      </a:gs>
                    </a:gsLst>
                    <a:lin ang="5400000" scaled="1"/>
                  </a:gradFill>
                </a:ln>
                <a:noFill/>
                <a:latin typeface="微软雅黑" panose="020B0503020204020204" charset="-122"/>
                <a:ea typeface="微软雅黑" panose="020B0503020204020204" charset="-122"/>
                <a:cs typeface="黑体" panose="02010609060101010101" charset="-122"/>
              </a:rPr>
              <a:t>contents</a:t>
            </a:r>
            <a:endParaRPr lang="en-US" altLang="zh-CN" sz="8800" b="1" kern="0" spc="60" dirty="0">
              <a:ln>
                <a:gradFill>
                  <a:gsLst>
                    <a:gs pos="0">
                      <a:srgbClr val="FFFFFF"/>
                    </a:gs>
                    <a:gs pos="100000">
                      <a:srgbClr val="FFFFFF">
                        <a:alpha val="36000"/>
                      </a:srgbClr>
                    </a:gs>
                  </a:gsLst>
                  <a:lin ang="5400000" scaled="1"/>
                </a:gradFill>
              </a:ln>
              <a:noFill/>
              <a:latin typeface="微软雅黑" panose="020B0503020204020204" charset="-122"/>
              <a:ea typeface="微软雅黑" panose="020B0503020204020204" charset="-122"/>
              <a:cs typeface="黑体" panose="02010609060101010101" charset="-122"/>
            </a:endParaRPr>
          </a:p>
        </p:txBody>
      </p:sp>
      <p:sp>
        <p:nvSpPr>
          <p:cNvPr id="23" name="textbox 18"/>
          <p:cNvSpPr/>
          <p:nvPr/>
        </p:nvSpPr>
        <p:spPr>
          <a:xfrm>
            <a:off x="2851150" y="1457325"/>
            <a:ext cx="2094865" cy="918845"/>
          </a:xfrm>
          <a:prstGeom prst="rect">
            <a:avLst/>
          </a:prstGeom>
          <a:noFill/>
          <a:ln w="0" cap="flat">
            <a:noFill/>
            <a:prstDash val="solid"/>
            <a:miter lim="0"/>
          </a:ln>
        </p:spPr>
        <p:txBody>
          <a:bodyPr vert="horz" wrap="square" lIns="0" tIns="0" rIns="0" bIns="0" anchor="ctr" anchorCtr="0"/>
          <a:p>
            <a:pPr algn="l" rtl="0" eaLnBrk="0">
              <a:lnSpc>
                <a:spcPct val="96000"/>
              </a:lnSpc>
            </a:pPr>
            <a:r>
              <a:rPr sz="6600" b="1" kern="0" spc="60" dirty="0">
                <a:solidFill>
                  <a:srgbClr val="0C51C2"/>
                </a:solidFill>
                <a:latin typeface="微软雅黑" panose="020B0503020204020204" charset="-122"/>
                <a:ea typeface="微软雅黑" panose="020B0503020204020204" charset="-122"/>
                <a:cs typeface="黑体" panose="02010609060101010101" charset="-122"/>
              </a:rPr>
              <a:t>目</a:t>
            </a:r>
            <a:r>
              <a:rPr lang="en-US" sz="6600" b="1" kern="0" spc="60" dirty="0">
                <a:solidFill>
                  <a:srgbClr val="0C51C2"/>
                </a:solidFill>
                <a:latin typeface="微软雅黑" panose="020B0503020204020204" charset="-122"/>
                <a:ea typeface="微软雅黑" panose="020B0503020204020204" charset="-122"/>
                <a:cs typeface="黑体" panose="02010609060101010101" charset="-122"/>
              </a:rPr>
              <a:t> </a:t>
            </a:r>
            <a:r>
              <a:rPr sz="6600" b="1" kern="0" spc="60" dirty="0">
                <a:solidFill>
                  <a:srgbClr val="0C51C2"/>
                </a:solidFill>
                <a:latin typeface="微软雅黑" panose="020B0503020204020204" charset="-122"/>
                <a:ea typeface="微软雅黑" panose="020B0503020204020204" charset="-122"/>
                <a:cs typeface="黑体" panose="02010609060101010101" charset="-122"/>
              </a:rPr>
              <a:t>录</a:t>
            </a:r>
            <a:endParaRPr sz="6600" b="1" kern="0" spc="60" dirty="0">
              <a:solidFill>
                <a:srgbClr val="0C51C2"/>
              </a:solidFill>
              <a:latin typeface="微软雅黑" panose="020B0503020204020204" charset="-122"/>
              <a:ea typeface="微软雅黑" panose="020B0503020204020204" charset="-122"/>
              <a:cs typeface="黑体" panose="02010609060101010101" charset="-122"/>
            </a:endParaRPr>
          </a:p>
        </p:txBody>
      </p:sp>
      <p:pic>
        <p:nvPicPr>
          <p:cNvPr id="68" name="图片 67" descr="深信服 + 智安全"/>
          <p:cNvPicPr>
            <a:picLocks noChangeAspect="1"/>
          </p:cNvPicPr>
          <p:nvPr/>
        </p:nvPicPr>
        <p:blipFill>
          <a:blip r:embed="rId2"/>
          <a:srcRect l="5232" t="26576" r="4938" b="29565"/>
          <a:stretch>
            <a:fillRect/>
          </a:stretch>
        </p:blipFill>
        <p:spPr>
          <a:xfrm>
            <a:off x="10330815" y="273073"/>
            <a:ext cx="1629867" cy="360000"/>
          </a:xfrm>
          <a:prstGeom prst="rect">
            <a:avLst/>
          </a:prstGeom>
        </p:spPr>
      </p:pic>
      <p:pic>
        <p:nvPicPr>
          <p:cNvPr id="62" name="图片 61" descr="病毒检测@4x"/>
          <p:cNvPicPr>
            <a:picLocks noChangeAspect="1"/>
          </p:cNvPicPr>
          <p:nvPr/>
        </p:nvPicPr>
        <p:blipFill>
          <a:blip r:embed="rId3">
            <a:alphaModFix amt="84000"/>
          </a:blip>
          <a:srcRect l="-4651" t="-6497" r="18828" b="21030"/>
          <a:stretch>
            <a:fillRect/>
          </a:stretch>
        </p:blipFill>
        <p:spPr>
          <a:xfrm flipH="1">
            <a:off x="0" y="2709545"/>
            <a:ext cx="8221980" cy="4148455"/>
          </a:xfrm>
          <a:prstGeom prst="rect">
            <a:avLst/>
          </a:prstGeom>
        </p:spPr>
      </p:pic>
      <p:grpSp>
        <p:nvGrpSpPr>
          <p:cNvPr id="24" name="组合 23"/>
          <p:cNvGrpSpPr/>
          <p:nvPr>
            <p:custDataLst>
              <p:tags r:id="rId4"/>
            </p:custDataLst>
          </p:nvPr>
        </p:nvGrpSpPr>
        <p:grpSpPr>
          <a:xfrm rot="0">
            <a:off x="7091045" y="1797320"/>
            <a:ext cx="3239770" cy="468000"/>
            <a:chOff x="10673" y="2666"/>
            <a:chExt cx="5102" cy="874"/>
          </a:xfrm>
        </p:grpSpPr>
        <p:sp>
          <p:nvSpPr>
            <p:cNvPr id="25" name="文本框 24"/>
            <p:cNvSpPr txBox="1"/>
            <p:nvPr>
              <p:custDataLst>
                <p:tags r:id="rId5"/>
              </p:custDataLst>
            </p:nvPr>
          </p:nvSpPr>
          <p:spPr>
            <a:xfrm>
              <a:off x="10673" y="2666"/>
              <a:ext cx="4692" cy="484"/>
            </a:xfrm>
            <a:prstGeom prst="rect">
              <a:avLst/>
            </a:prstGeom>
            <a:noFill/>
            <a:ln w="0">
              <a:noFill/>
            </a:ln>
          </p:spPr>
          <p:txBody>
            <a:bodyPr wrap="square" lIns="0" tIns="0" rIns="0" bIns="0" anchor="t">
              <a:noAutofit/>
            </a:bodyPr>
            <a:p>
              <a:pPr algn="l"/>
              <a:r>
                <a:rPr lang="zh-CN" altLang="en-US" b="1" kern="0">
                  <a:uFillTx/>
                  <a:latin typeface="Arial" panose="020B0604020202020204" pitchFamily="34" charset="0"/>
                  <a:ea typeface="黑体-简" panose="02000000000000000000" charset="-122"/>
                  <a:cs typeface="微软雅黑" panose="020B0503020204020204" charset="-122"/>
                  <a:sym typeface="+mn-ea"/>
                </a:rPr>
                <a:t>目标与协作机制回顾</a:t>
              </a:r>
              <a:endParaRPr lang="zh-CN" altLang="en-US" b="1" u="none" strike="noStrike" kern="0">
                <a:solidFill>
                  <a:schemeClr val="tx1"/>
                </a:solidFill>
                <a:uFillTx/>
                <a:latin typeface="Arial" panose="020B0604020202020204" pitchFamily="34" charset="0"/>
                <a:ea typeface="黑体-简" panose="02000000000000000000" charset="-122"/>
                <a:cs typeface="微软雅黑" panose="020B0503020204020204" charset="-122"/>
                <a:sym typeface="+mn-ea"/>
              </a:endParaRPr>
            </a:p>
          </p:txBody>
        </p:sp>
        <p:sp>
          <p:nvSpPr>
            <p:cNvPr id="26" name="文本框 25"/>
            <p:cNvSpPr txBox="1"/>
            <p:nvPr>
              <p:custDataLst>
                <p:tags r:id="rId6"/>
              </p:custDataLst>
            </p:nvPr>
          </p:nvSpPr>
          <p:spPr>
            <a:xfrm>
              <a:off x="10673" y="3200"/>
              <a:ext cx="5102" cy="340"/>
            </a:xfrm>
            <a:prstGeom prst="rect">
              <a:avLst/>
            </a:prstGeom>
            <a:noFill/>
            <a:ln w="0">
              <a:noFill/>
            </a:ln>
          </p:spPr>
          <p:txBody>
            <a:bodyPr wrap="square" lIns="0" tIns="0" rIns="0" bIns="0" anchor="ctr" anchorCtr="0">
              <a:noAutofit/>
            </a:bodyPr>
            <a:p>
              <a:pPr marL="20955" algn="l" rtl="0" eaLnBrk="0">
                <a:lnSpc>
                  <a:spcPct val="89000"/>
                </a:lnSpc>
                <a:spcBef>
                  <a:spcPts val="85"/>
                </a:spcBef>
              </a:pPr>
              <a:r>
                <a:rPr lang="zh-CN" altLang="en-US" sz="1200" kern="0" spc="60" dirty="0">
                  <a:solidFill>
                    <a:schemeClr val="tx1">
                      <a:lumMod val="65000"/>
                      <a:lumOff val="35000"/>
                    </a:schemeClr>
                  </a:solidFill>
                  <a:latin typeface="Arial" panose="020B0604020202020204" pitchFamily="34" charset="0"/>
                  <a:ea typeface="黑体-简" panose="02000000000000000000" charset="-122"/>
                  <a:cs typeface="黑体" panose="02010609060101010101" charset="-122"/>
                  <a:sym typeface="+mn-ea"/>
                </a:rPr>
                <a:t>回顾预期目标与协作机制</a:t>
              </a:r>
              <a:endParaRPr lang="zh-CN" altLang="en-US" sz="1200" kern="0" spc="60" dirty="0">
                <a:solidFill>
                  <a:schemeClr val="tx1">
                    <a:lumMod val="65000"/>
                    <a:lumOff val="35000"/>
                  </a:schemeClr>
                </a:solidFill>
                <a:latin typeface="Arial" panose="020B0604020202020204" pitchFamily="34" charset="0"/>
                <a:ea typeface="黑体-简" panose="02000000000000000000" charset="-122"/>
                <a:cs typeface="黑体" panose="02010609060101010101" charset="-122"/>
                <a:sym typeface="+mn-ea"/>
              </a:endParaRPr>
            </a:p>
          </p:txBody>
        </p:sp>
      </p:grpSp>
      <p:grpSp>
        <p:nvGrpSpPr>
          <p:cNvPr id="29" name="组合 28"/>
          <p:cNvGrpSpPr/>
          <p:nvPr>
            <p:custDataLst>
              <p:tags r:id="rId7"/>
            </p:custDataLst>
          </p:nvPr>
        </p:nvGrpSpPr>
        <p:grpSpPr>
          <a:xfrm>
            <a:off x="7091045" y="2729772"/>
            <a:ext cx="3239770" cy="468000"/>
            <a:chOff x="11278" y="3926"/>
            <a:chExt cx="5102" cy="859"/>
          </a:xfrm>
        </p:grpSpPr>
        <p:sp>
          <p:nvSpPr>
            <p:cNvPr id="30" name="文本框 29"/>
            <p:cNvSpPr txBox="1"/>
            <p:nvPr>
              <p:custDataLst>
                <p:tags r:id="rId8"/>
              </p:custDataLst>
            </p:nvPr>
          </p:nvSpPr>
          <p:spPr>
            <a:xfrm>
              <a:off x="11278" y="3926"/>
              <a:ext cx="4692" cy="484"/>
            </a:xfrm>
            <a:prstGeom prst="rect">
              <a:avLst/>
            </a:prstGeom>
            <a:noFill/>
            <a:ln w="0">
              <a:noFill/>
            </a:ln>
          </p:spPr>
          <p:txBody>
            <a:bodyPr wrap="square" lIns="0" tIns="0" rIns="0" bIns="0" anchor="t">
              <a:noAutofit/>
            </a:bodyPr>
            <a:p>
              <a:pPr algn="l"/>
              <a:r>
                <a:rPr lang="zh-CN" altLang="en-US" b="1" kern="0">
                  <a:uFillTx/>
                  <a:latin typeface="Arial" panose="020B0604020202020204" pitchFamily="34" charset="0"/>
                  <a:ea typeface="黑体-简" panose="02000000000000000000" charset="-122"/>
                  <a:cs typeface="微软雅黑" panose="020B0503020204020204" charset="-122"/>
                  <a:sym typeface="+mn-ea"/>
                </a:rPr>
                <a:t>共同的工作成果总结</a:t>
              </a:r>
              <a:endParaRPr lang="en-US" altLang="zh-CN" b="1" u="none" strike="noStrike" kern="0">
                <a:solidFill>
                  <a:schemeClr val="tx1"/>
                </a:solidFill>
                <a:uFillTx/>
                <a:latin typeface="Arial" panose="020B0604020202020204" pitchFamily="34" charset="0"/>
                <a:ea typeface="黑体-简" panose="02000000000000000000" charset="-122"/>
                <a:cs typeface="微软雅黑" panose="020B0503020204020204" charset="-122"/>
                <a:sym typeface="+mn-ea"/>
              </a:endParaRPr>
            </a:p>
          </p:txBody>
        </p:sp>
        <p:sp>
          <p:nvSpPr>
            <p:cNvPr id="35" name="文本框 34"/>
            <p:cNvSpPr txBox="1"/>
            <p:nvPr>
              <p:custDataLst>
                <p:tags r:id="rId9"/>
              </p:custDataLst>
            </p:nvPr>
          </p:nvSpPr>
          <p:spPr>
            <a:xfrm>
              <a:off x="11278" y="4445"/>
              <a:ext cx="5102" cy="340"/>
            </a:xfrm>
            <a:prstGeom prst="rect">
              <a:avLst/>
            </a:prstGeom>
            <a:noFill/>
            <a:ln w="0">
              <a:noFill/>
            </a:ln>
          </p:spPr>
          <p:txBody>
            <a:bodyPr wrap="square" lIns="0" tIns="0" rIns="0" bIns="0" anchor="ctr" anchorCtr="0">
              <a:noAutofit/>
            </a:bodyPr>
            <a:p>
              <a:pPr marL="12700" algn="l" rtl="0" eaLnBrk="0">
                <a:lnSpc>
                  <a:spcPct val="100000"/>
                </a:lnSpc>
                <a:spcBef>
                  <a:spcPts val="5"/>
                </a:spcBef>
              </a:pPr>
              <a:r>
                <a:rPr lang="zh-CN" altLang="en-US" sz="1200" kern="0" spc="70" dirty="0">
                  <a:solidFill>
                    <a:schemeClr val="tx1">
                      <a:lumMod val="65000"/>
                      <a:lumOff val="35000"/>
                    </a:schemeClr>
                  </a:solidFill>
                  <a:latin typeface="Arial" panose="020B0604020202020204" pitchFamily="34" charset="0"/>
                  <a:ea typeface="黑体-简" panose="02000000000000000000" charset="-122"/>
                  <a:cs typeface="黑体" panose="02010609060101010101" charset="-122"/>
                  <a:sym typeface="+mn-ea"/>
                </a:rPr>
                <a:t>保护业务安全、提升安全水位线</a:t>
              </a:r>
              <a:endParaRPr lang="zh-CN" altLang="en-US" sz="1200" kern="0" spc="70" dirty="0">
                <a:solidFill>
                  <a:schemeClr val="tx1">
                    <a:lumMod val="65000"/>
                    <a:lumOff val="35000"/>
                  </a:schemeClr>
                </a:solidFill>
                <a:latin typeface="Arial" panose="020B0604020202020204" pitchFamily="34" charset="0"/>
                <a:ea typeface="黑体-简" panose="02000000000000000000" charset="-122"/>
                <a:cs typeface="黑体" panose="02010609060101010101" charset="-122"/>
                <a:sym typeface="+mn-ea"/>
              </a:endParaRPr>
            </a:p>
          </p:txBody>
        </p:sp>
      </p:grpSp>
      <p:grpSp>
        <p:nvGrpSpPr>
          <p:cNvPr id="36" name="组合 35"/>
          <p:cNvGrpSpPr/>
          <p:nvPr>
            <p:custDataLst>
              <p:tags r:id="rId10"/>
            </p:custDataLst>
          </p:nvPr>
        </p:nvGrpSpPr>
        <p:grpSpPr>
          <a:xfrm rot="0">
            <a:off x="7091045" y="3661952"/>
            <a:ext cx="3239770" cy="468000"/>
            <a:chOff x="11278" y="3926"/>
            <a:chExt cx="5102" cy="859"/>
          </a:xfrm>
        </p:grpSpPr>
        <p:sp>
          <p:nvSpPr>
            <p:cNvPr id="37" name="文本框 36"/>
            <p:cNvSpPr txBox="1"/>
            <p:nvPr>
              <p:custDataLst>
                <p:tags r:id="rId11"/>
              </p:custDataLst>
            </p:nvPr>
          </p:nvSpPr>
          <p:spPr>
            <a:xfrm>
              <a:off x="11278" y="3926"/>
              <a:ext cx="4692" cy="484"/>
            </a:xfrm>
            <a:prstGeom prst="rect">
              <a:avLst/>
            </a:prstGeom>
            <a:noFill/>
            <a:ln w="0">
              <a:noFill/>
            </a:ln>
          </p:spPr>
          <p:txBody>
            <a:bodyPr wrap="square" lIns="0" tIns="0" rIns="0" bIns="0" anchor="t">
              <a:noAutofit/>
            </a:bodyPr>
            <a:p>
              <a:pPr lvl="0" algn="l">
                <a:buClrTx/>
                <a:buSzTx/>
                <a:buFontTx/>
              </a:pPr>
              <a:r>
                <a:rPr lang="zh-CN" altLang="en-US" b="1" u="none" strike="noStrike" kern="0">
                  <a:solidFill>
                    <a:schemeClr val="tx1"/>
                  </a:solidFill>
                  <a:uFillTx/>
                  <a:latin typeface="Arial" panose="020B0604020202020204" pitchFamily="34" charset="0"/>
                  <a:ea typeface="黑体-简" panose="02000000000000000000" charset="-122"/>
                  <a:cs typeface="微软雅黑" panose="020B0503020204020204" charset="-122"/>
                  <a:sym typeface="+mn-ea"/>
                </a:rPr>
                <a:t>共同挑战与应对思路</a:t>
              </a:r>
              <a:endParaRPr lang="zh-CN" altLang="en-US" b="1" u="none" strike="noStrike" kern="0">
                <a:solidFill>
                  <a:schemeClr val="tx1"/>
                </a:solidFill>
                <a:uFillTx/>
                <a:latin typeface="Arial" panose="020B0604020202020204" pitchFamily="34" charset="0"/>
                <a:ea typeface="黑体-简" panose="02000000000000000000" charset="-122"/>
                <a:cs typeface="微软雅黑" panose="020B0503020204020204" charset="-122"/>
                <a:sym typeface="+mn-ea"/>
              </a:endParaRPr>
            </a:p>
          </p:txBody>
        </p:sp>
        <p:sp>
          <p:nvSpPr>
            <p:cNvPr id="38" name="文本框 37"/>
            <p:cNvSpPr txBox="1"/>
            <p:nvPr>
              <p:custDataLst>
                <p:tags r:id="rId12"/>
              </p:custDataLst>
            </p:nvPr>
          </p:nvSpPr>
          <p:spPr>
            <a:xfrm>
              <a:off x="11278" y="4445"/>
              <a:ext cx="5102" cy="340"/>
            </a:xfrm>
            <a:prstGeom prst="rect">
              <a:avLst/>
            </a:prstGeom>
            <a:noFill/>
            <a:ln w="0">
              <a:noFill/>
            </a:ln>
          </p:spPr>
          <p:txBody>
            <a:bodyPr wrap="square" lIns="0" tIns="0" rIns="0" bIns="0" anchor="ctr" anchorCtr="0">
              <a:noAutofit/>
            </a:bodyPr>
            <a:p>
              <a:pPr algn="l"/>
              <a:r>
                <a:rPr lang="zh-CN" sz="1200" kern="0" spc="60" dirty="0">
                  <a:solidFill>
                    <a:schemeClr val="tx1">
                      <a:lumMod val="65000"/>
                      <a:lumOff val="35000"/>
                    </a:schemeClr>
                  </a:solidFill>
                  <a:latin typeface="Arial" panose="020B0604020202020204" pitchFamily="34" charset="0"/>
                  <a:ea typeface="黑体-简" panose="02000000000000000000" charset="-122"/>
                  <a:cs typeface="黑体" panose="02010609060101010101" charset="-122"/>
                  <a:sym typeface="+mn-ea"/>
                </a:rPr>
                <a:t>关键问题与应对思路</a:t>
              </a:r>
              <a:endParaRPr lang="zh-CN" sz="1200" kern="0" spc="60" dirty="0">
                <a:solidFill>
                  <a:schemeClr val="tx1">
                    <a:lumMod val="65000"/>
                    <a:lumOff val="35000"/>
                  </a:schemeClr>
                </a:solidFill>
                <a:latin typeface="Arial" panose="020B0604020202020204" pitchFamily="34" charset="0"/>
                <a:ea typeface="黑体-简" panose="02000000000000000000" charset="-122"/>
                <a:cs typeface="黑体" panose="02010609060101010101" charset="-122"/>
                <a:sym typeface="+mn-ea"/>
              </a:endParaRPr>
            </a:p>
          </p:txBody>
        </p:sp>
      </p:grpSp>
      <p:grpSp>
        <p:nvGrpSpPr>
          <p:cNvPr id="39" name="组合 38"/>
          <p:cNvGrpSpPr/>
          <p:nvPr>
            <p:custDataLst>
              <p:tags r:id="rId13"/>
            </p:custDataLst>
          </p:nvPr>
        </p:nvGrpSpPr>
        <p:grpSpPr>
          <a:xfrm rot="0">
            <a:off x="7091045" y="4594132"/>
            <a:ext cx="3239770" cy="468000"/>
            <a:chOff x="11278" y="3926"/>
            <a:chExt cx="5102" cy="859"/>
          </a:xfrm>
        </p:grpSpPr>
        <p:sp>
          <p:nvSpPr>
            <p:cNvPr id="40" name="文本框 39"/>
            <p:cNvSpPr txBox="1"/>
            <p:nvPr>
              <p:custDataLst>
                <p:tags r:id="rId14"/>
              </p:custDataLst>
            </p:nvPr>
          </p:nvSpPr>
          <p:spPr>
            <a:xfrm>
              <a:off x="11278" y="3926"/>
              <a:ext cx="4692" cy="484"/>
            </a:xfrm>
            <a:prstGeom prst="rect">
              <a:avLst/>
            </a:prstGeom>
            <a:noFill/>
            <a:ln w="0">
              <a:noFill/>
            </a:ln>
          </p:spPr>
          <p:txBody>
            <a:bodyPr wrap="square" lIns="0" tIns="0" rIns="0" bIns="0" anchor="t">
              <a:noAutofit/>
            </a:bodyPr>
            <a:p>
              <a:pPr lvl="0" algn="l">
                <a:buClrTx/>
                <a:buSzTx/>
                <a:buFontTx/>
              </a:pPr>
              <a:r>
                <a:rPr lang="zh-CN" altLang="en-US" b="1" kern="0">
                  <a:uFillTx/>
                  <a:latin typeface="Arial" panose="020B0604020202020204" pitchFamily="34" charset="0"/>
                  <a:ea typeface="黑体-简" panose="02000000000000000000" charset="-122"/>
                  <a:cs typeface="微软雅黑" panose="020B0503020204020204" charset="-122"/>
                  <a:sym typeface="+mn-ea"/>
                </a:rPr>
                <a:t>下阶段目标与协作计划</a:t>
              </a:r>
              <a:endParaRPr lang="zh-CN" altLang="en-US" b="1" u="none" strike="noStrike" kern="0">
                <a:solidFill>
                  <a:schemeClr val="tx1"/>
                </a:solidFill>
                <a:uFillTx/>
                <a:latin typeface="Arial" panose="020B0604020202020204" pitchFamily="34" charset="0"/>
                <a:ea typeface="黑体-简" panose="02000000000000000000" charset="-122"/>
                <a:cs typeface="微软雅黑" panose="020B0503020204020204" charset="-122"/>
                <a:sym typeface="+mn-ea"/>
              </a:endParaRPr>
            </a:p>
          </p:txBody>
        </p:sp>
        <p:sp>
          <p:nvSpPr>
            <p:cNvPr id="42" name="文本框 41"/>
            <p:cNvSpPr txBox="1"/>
            <p:nvPr>
              <p:custDataLst>
                <p:tags r:id="rId15"/>
              </p:custDataLst>
            </p:nvPr>
          </p:nvSpPr>
          <p:spPr>
            <a:xfrm>
              <a:off x="11278" y="4445"/>
              <a:ext cx="5102" cy="340"/>
            </a:xfrm>
            <a:prstGeom prst="rect">
              <a:avLst/>
            </a:prstGeom>
            <a:noFill/>
            <a:ln w="0">
              <a:noFill/>
            </a:ln>
          </p:spPr>
          <p:txBody>
            <a:bodyPr wrap="square" lIns="0" tIns="0" rIns="0" bIns="0" anchor="ctr" anchorCtr="0">
              <a:noAutofit/>
            </a:bodyPr>
            <a:p>
              <a:pPr marL="12700" algn="l" rtl="0" eaLnBrk="0">
                <a:lnSpc>
                  <a:spcPct val="100000"/>
                </a:lnSpc>
                <a:spcBef>
                  <a:spcPts val="0"/>
                </a:spcBef>
              </a:pPr>
              <a:r>
                <a:rPr lang="zh-CN" sz="1200" kern="0" spc="60" dirty="0">
                  <a:solidFill>
                    <a:schemeClr val="tx1">
                      <a:lumMod val="65000"/>
                      <a:lumOff val="35000"/>
                    </a:schemeClr>
                  </a:solidFill>
                  <a:latin typeface="Arial" panose="020B0604020202020204" pitchFamily="34" charset="0"/>
                  <a:ea typeface="黑体-简" panose="02000000000000000000" charset="-122"/>
                  <a:cs typeface="黑体" panose="02010609060101010101" charset="-122"/>
                  <a:sym typeface="+mn-ea"/>
                </a:rPr>
                <a:t>共同的目标与协作计划刷新</a:t>
              </a:r>
              <a:endParaRPr lang="zh-CN" sz="1200" kern="0" spc="60" dirty="0">
                <a:solidFill>
                  <a:schemeClr val="tx1">
                    <a:lumMod val="65000"/>
                    <a:lumOff val="35000"/>
                  </a:schemeClr>
                </a:solidFill>
                <a:latin typeface="Arial" panose="020B0604020202020204" pitchFamily="34" charset="0"/>
                <a:ea typeface="黑体-简" panose="02000000000000000000" charset="-122"/>
                <a:cs typeface="黑体" panose="02010609060101010101" charset="-122"/>
                <a:sym typeface="+mn-ea"/>
              </a:endParaRPr>
            </a:p>
          </p:txBody>
        </p:sp>
      </p:grpSp>
      <p:sp>
        <p:nvSpPr>
          <p:cNvPr id="43" name="节编号"/>
          <p:cNvSpPr>
            <a:spLocks noGrp="1"/>
          </p:cNvSpPr>
          <p:nvPr>
            <p:custDataLst>
              <p:tags r:id="rId16"/>
            </p:custDataLst>
          </p:nvPr>
        </p:nvSpPr>
        <p:spPr>
          <a:xfrm>
            <a:off x="6029960" y="1671320"/>
            <a:ext cx="1008000" cy="720000"/>
          </a:xfrm>
          <a:prstGeom prst="rect">
            <a:avLst/>
          </a:prstGeom>
        </p:spPr>
        <p:txBody>
          <a:bodyPr vert="horz" wrap="none" lIns="0" tIns="0" rIns="0" bIns="0" rtlCol="0" anchor="ctr" anchorCtr="0">
            <a:normAutofit/>
          </a:bodyPr>
          <a:lstStyle>
            <a:lvl1pPr marL="0" indent="0" algn="ctr" defTabSz="914400" rtl="0" eaLnBrk="1" latinLnBrk="0" hangingPunct="1">
              <a:lnSpc>
                <a:spcPct val="130000"/>
              </a:lnSpc>
              <a:spcBef>
                <a:spcPts val="1000"/>
              </a:spcBef>
              <a:buFont typeface="Arial" panose="020B0604020202020204" pitchFamily="34" charset="0"/>
              <a:buNone/>
              <a:defRPr sz="11500" b="1" kern="1200">
                <a:gradFill>
                  <a:gsLst>
                    <a:gs pos="0">
                      <a:schemeClr val="accent1">
                        <a:lumMod val="60000"/>
                        <a:lumOff val="40000"/>
                      </a:schemeClr>
                    </a:gs>
                    <a:gs pos="100000">
                      <a:schemeClr val="accent1"/>
                    </a:gs>
                  </a:gsLst>
                  <a:lin ang="3600000" scaled="0"/>
                </a:gra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US" altLang="en-US" sz="3600">
                <a:solidFill>
                  <a:srgbClr val="0C51C2"/>
                </a:solidFill>
                <a:latin typeface="Arial" panose="020B0604020202020204" pitchFamily="34" charset="0"/>
                <a:ea typeface="黑体-简" panose="02000000000000000000" charset="-122"/>
                <a:cs typeface="DINPro Bold" panose="02000503030000020004" charset="0"/>
              </a:rPr>
              <a:t>01</a:t>
            </a:r>
            <a:endParaRPr lang="en-US" altLang="en-US" sz="3600">
              <a:solidFill>
                <a:srgbClr val="0C51C2"/>
              </a:solidFill>
              <a:latin typeface="Arial" panose="020B0604020202020204" pitchFamily="34" charset="0"/>
              <a:ea typeface="黑体-简" panose="02000000000000000000" charset="-122"/>
              <a:cs typeface="DINPro Bold" panose="02000503030000020004" charset="0"/>
            </a:endParaRPr>
          </a:p>
        </p:txBody>
      </p:sp>
      <p:sp>
        <p:nvSpPr>
          <p:cNvPr id="45" name="节编号"/>
          <p:cNvSpPr>
            <a:spLocks noGrp="1"/>
          </p:cNvSpPr>
          <p:nvPr>
            <p:custDataLst>
              <p:tags r:id="rId17"/>
            </p:custDataLst>
          </p:nvPr>
        </p:nvSpPr>
        <p:spPr>
          <a:xfrm>
            <a:off x="6029960" y="2604045"/>
            <a:ext cx="1008000" cy="719455"/>
          </a:xfrm>
          <a:prstGeom prst="rect">
            <a:avLst/>
          </a:prstGeom>
        </p:spPr>
        <p:txBody>
          <a:bodyPr vert="horz" wrap="none" lIns="0" tIns="0" rIns="0" bIns="0" rtlCol="0" anchor="ctr" anchorCtr="0">
            <a:normAutofit/>
          </a:bodyPr>
          <a:lstStyle>
            <a:lvl1pPr marL="0" indent="0" algn="ctr" defTabSz="914400" rtl="0" eaLnBrk="1" latinLnBrk="0" hangingPunct="1">
              <a:lnSpc>
                <a:spcPct val="130000"/>
              </a:lnSpc>
              <a:spcBef>
                <a:spcPts val="1000"/>
              </a:spcBef>
              <a:buFont typeface="Arial" panose="020B0604020202020204" pitchFamily="34" charset="0"/>
              <a:buNone/>
              <a:defRPr sz="11500" b="1" kern="1200">
                <a:gradFill>
                  <a:gsLst>
                    <a:gs pos="0">
                      <a:schemeClr val="accent1">
                        <a:lumMod val="60000"/>
                        <a:lumOff val="40000"/>
                      </a:schemeClr>
                    </a:gs>
                    <a:gs pos="100000">
                      <a:schemeClr val="accent1"/>
                    </a:gs>
                  </a:gsLst>
                  <a:lin ang="3600000" scaled="0"/>
                </a:gra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US" altLang="en-US" sz="3600">
                <a:solidFill>
                  <a:srgbClr val="0C51C2"/>
                </a:solidFill>
                <a:latin typeface="Arial" panose="020B0604020202020204" pitchFamily="34" charset="0"/>
                <a:ea typeface="微软雅黑" panose="020B0503020204020204" charset="-122"/>
                <a:cs typeface="Arial" panose="020B0604020202020204" pitchFamily="34" charset="0"/>
              </a:rPr>
              <a:t>02</a:t>
            </a:r>
            <a:endParaRPr lang="en-US" altLang="en-US" sz="3600">
              <a:solidFill>
                <a:srgbClr val="0C51C2"/>
              </a:solidFill>
              <a:latin typeface="Arial" panose="020B0604020202020204" pitchFamily="34" charset="0"/>
              <a:ea typeface="微软雅黑" panose="020B0503020204020204" charset="-122"/>
              <a:cs typeface="Arial" panose="020B0604020202020204" pitchFamily="34" charset="0"/>
            </a:endParaRPr>
          </a:p>
        </p:txBody>
      </p:sp>
      <p:sp>
        <p:nvSpPr>
          <p:cNvPr id="46" name="节编号"/>
          <p:cNvSpPr>
            <a:spLocks noGrp="1"/>
          </p:cNvSpPr>
          <p:nvPr>
            <p:custDataLst>
              <p:tags r:id="rId18"/>
            </p:custDataLst>
          </p:nvPr>
        </p:nvSpPr>
        <p:spPr>
          <a:xfrm>
            <a:off x="6029960" y="3536225"/>
            <a:ext cx="1008000" cy="719455"/>
          </a:xfrm>
          <a:prstGeom prst="rect">
            <a:avLst/>
          </a:prstGeom>
        </p:spPr>
        <p:txBody>
          <a:bodyPr vert="horz" wrap="none" lIns="0" tIns="0" rIns="0" bIns="0" rtlCol="0" anchor="ctr" anchorCtr="0">
            <a:normAutofit/>
          </a:bodyPr>
          <a:lstStyle>
            <a:lvl1pPr marL="0" indent="0" algn="ctr" defTabSz="914400" rtl="0" eaLnBrk="1" latinLnBrk="0" hangingPunct="1">
              <a:lnSpc>
                <a:spcPct val="130000"/>
              </a:lnSpc>
              <a:spcBef>
                <a:spcPts val="1000"/>
              </a:spcBef>
              <a:buFont typeface="Arial" panose="020B0604020202020204" pitchFamily="34" charset="0"/>
              <a:buNone/>
              <a:defRPr sz="11500" b="1" kern="1200">
                <a:gradFill>
                  <a:gsLst>
                    <a:gs pos="0">
                      <a:schemeClr val="accent1">
                        <a:lumMod val="60000"/>
                        <a:lumOff val="40000"/>
                      </a:schemeClr>
                    </a:gs>
                    <a:gs pos="100000">
                      <a:schemeClr val="accent1"/>
                    </a:gs>
                  </a:gsLst>
                  <a:lin ang="3600000" scaled="0"/>
                </a:gra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US" altLang="en-US" sz="3600">
                <a:solidFill>
                  <a:srgbClr val="0C51C2"/>
                </a:solidFill>
                <a:latin typeface="Arial" panose="020B0604020202020204" pitchFamily="34" charset="0"/>
                <a:ea typeface="微软雅黑" panose="020B0503020204020204" charset="-122"/>
                <a:cs typeface="Arial" panose="020B0604020202020204" pitchFamily="34" charset="0"/>
              </a:rPr>
              <a:t>03</a:t>
            </a:r>
            <a:endParaRPr lang="en-US" altLang="en-US" sz="3600">
              <a:solidFill>
                <a:srgbClr val="0C51C2"/>
              </a:solidFill>
              <a:latin typeface="Arial" panose="020B0604020202020204" pitchFamily="34" charset="0"/>
              <a:ea typeface="微软雅黑" panose="020B0503020204020204" charset="-122"/>
              <a:cs typeface="Arial" panose="020B0604020202020204" pitchFamily="34" charset="0"/>
            </a:endParaRPr>
          </a:p>
        </p:txBody>
      </p:sp>
      <p:sp>
        <p:nvSpPr>
          <p:cNvPr id="47" name="节编号"/>
          <p:cNvSpPr>
            <a:spLocks noGrp="1"/>
          </p:cNvSpPr>
          <p:nvPr>
            <p:custDataLst>
              <p:tags r:id="rId19"/>
            </p:custDataLst>
          </p:nvPr>
        </p:nvSpPr>
        <p:spPr>
          <a:xfrm>
            <a:off x="6029960" y="4468405"/>
            <a:ext cx="1008000" cy="719455"/>
          </a:xfrm>
          <a:prstGeom prst="rect">
            <a:avLst/>
          </a:prstGeom>
        </p:spPr>
        <p:txBody>
          <a:bodyPr vert="horz" wrap="none" lIns="0" tIns="0" rIns="0" bIns="0" rtlCol="0" anchor="ctr" anchorCtr="0">
            <a:normAutofit/>
          </a:bodyPr>
          <a:lstStyle>
            <a:lvl1pPr marL="0" indent="0" algn="ctr" defTabSz="914400" rtl="0" eaLnBrk="1" latinLnBrk="0" hangingPunct="1">
              <a:lnSpc>
                <a:spcPct val="130000"/>
              </a:lnSpc>
              <a:spcBef>
                <a:spcPts val="1000"/>
              </a:spcBef>
              <a:buFont typeface="Arial" panose="020B0604020202020204" pitchFamily="34" charset="0"/>
              <a:buNone/>
              <a:defRPr sz="11500" b="1" kern="1200">
                <a:gradFill>
                  <a:gsLst>
                    <a:gs pos="0">
                      <a:schemeClr val="accent1">
                        <a:lumMod val="60000"/>
                        <a:lumOff val="40000"/>
                      </a:schemeClr>
                    </a:gs>
                    <a:gs pos="100000">
                      <a:schemeClr val="accent1"/>
                    </a:gs>
                  </a:gsLst>
                  <a:lin ang="3600000" scaled="0"/>
                </a:gra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US" altLang="en-US" sz="3600">
                <a:solidFill>
                  <a:srgbClr val="0C51C2"/>
                </a:solidFill>
                <a:latin typeface="Arial" panose="020B0604020202020204" pitchFamily="34" charset="0"/>
                <a:ea typeface="微软雅黑" panose="020B0503020204020204" charset="-122"/>
                <a:cs typeface="Arial" panose="020B0604020202020204" pitchFamily="34" charset="0"/>
              </a:rPr>
              <a:t>04</a:t>
            </a:r>
            <a:endParaRPr lang="en-US" altLang="en-US" sz="3600">
              <a:solidFill>
                <a:srgbClr val="0C51C2"/>
              </a:solidFill>
              <a:latin typeface="Arial" panose="020B0604020202020204" pitchFamily="34" charset="0"/>
              <a:ea typeface="微软雅黑" panose="020B0503020204020204" charset="-122"/>
              <a:cs typeface="Arial" panose="020B0604020202020204" pitchFamily="34" charset="0"/>
            </a:endParaRPr>
          </a:p>
        </p:txBody>
      </p:sp>
    </p:spTree>
    <p:custDataLst>
      <p:tags r:id="rId20"/>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文本框 43"/>
          <p:cNvSpPr txBox="1"/>
          <p:nvPr>
            <p:custDataLst>
              <p:tags r:id="rId1"/>
            </p:custDataLst>
          </p:nvPr>
        </p:nvSpPr>
        <p:spPr>
          <a:xfrm>
            <a:off x="6092825" y="3663315"/>
            <a:ext cx="4703445" cy="424815"/>
          </a:xfrm>
          <a:prstGeom prst="rect">
            <a:avLst/>
          </a:prstGeom>
          <a:noFill/>
          <a:ln w="0">
            <a:noFill/>
          </a:ln>
        </p:spPr>
        <p:txBody>
          <a:bodyPr wrap="square" lIns="0" tIns="0" rIns="0" bIns="0" anchor="ctr" anchorCtr="0">
            <a:noAutofit/>
          </a:bodyPr>
          <a:p>
            <a:pPr marL="12700" algn="l" rtl="0" eaLnBrk="0">
              <a:lnSpc>
                <a:spcPct val="100000"/>
              </a:lnSpc>
              <a:spcBef>
                <a:spcPts val="5"/>
              </a:spcBef>
            </a:pPr>
            <a:r>
              <a:rPr lang="zh-CN" altLang="en-US" sz="1400" b="0" u="none" strike="noStrike" kern="0" spc="60" dirty="0">
                <a:solidFill>
                  <a:schemeClr val="dk1"/>
                </a:solidFill>
                <a:effectLst/>
                <a:uFillTx/>
                <a:latin typeface="Arial Black" panose="020B0A04020102020204" pitchFamily="34" charset="0"/>
                <a:ea typeface="微软雅黑" panose="020B0503020204020204" charset="-122"/>
                <a:cs typeface="黑体" panose="02010609060101010101" charset="-122"/>
                <a:sym typeface="+mn-ea"/>
              </a:rPr>
              <a:t>回顾预期目标与协作</a:t>
            </a:r>
            <a:r>
              <a:rPr lang="zh-CN" altLang="en-US" sz="1400" b="0" u="none" strike="noStrike" kern="0" spc="60" dirty="0">
                <a:solidFill>
                  <a:schemeClr val="dk1"/>
                </a:solidFill>
                <a:effectLst/>
                <a:uFillTx/>
                <a:latin typeface="Arial Black" panose="020B0A04020102020204" pitchFamily="34" charset="0"/>
                <a:ea typeface="微软雅黑" panose="020B0503020204020204" charset="-122"/>
                <a:cs typeface="黑体" panose="02010609060101010101" charset="-122"/>
                <a:sym typeface="+mn-ea"/>
              </a:rPr>
              <a:t>机制</a:t>
            </a:r>
            <a:endParaRPr lang="zh-CN" altLang="en-US" sz="1400" b="0" u="none" strike="noStrike" kern="0" spc="60" dirty="0">
              <a:solidFill>
                <a:schemeClr val="dk1"/>
              </a:solidFill>
              <a:effectLst/>
              <a:uFillTx/>
              <a:latin typeface="Arial Black" panose="020B0A04020102020204" pitchFamily="34" charset="0"/>
              <a:ea typeface="微软雅黑" panose="020B0503020204020204" charset="-122"/>
              <a:cs typeface="黑体" panose="02010609060101010101" charset="-122"/>
              <a:sym typeface="+mn-ea"/>
            </a:endParaRPr>
          </a:p>
        </p:txBody>
      </p:sp>
      <p:sp>
        <p:nvSpPr>
          <p:cNvPr id="4" name="标题"/>
          <p:cNvSpPr>
            <a:spLocks noGrp="1"/>
          </p:cNvSpPr>
          <p:nvPr>
            <p:ph type="title"/>
            <p:custDataLst>
              <p:tags r:id="rId2"/>
            </p:custDataLst>
          </p:nvPr>
        </p:nvSpPr>
        <p:spPr>
          <a:xfrm>
            <a:off x="6092825" y="2439035"/>
            <a:ext cx="4622800" cy="1224000"/>
          </a:xfrm>
        </p:spPr>
        <p:txBody>
          <a:bodyPr>
            <a:noAutofit/>
          </a:bodyPr>
          <a:lstStyle/>
          <a:p>
            <a:r>
              <a:rPr lang="zh-CN" altLang="en-US" sz="3200">
                <a:solidFill>
                  <a:srgbClr val="4C61E7"/>
                </a:solidFill>
                <a:latin typeface="Arial Black" panose="020B0A04020102020204" pitchFamily="34" charset="0"/>
                <a:ea typeface="微软雅黑" panose="020B0503020204020204" charset="-122"/>
              </a:rPr>
              <a:t>目标与协作</a:t>
            </a:r>
            <a:r>
              <a:rPr lang="zh-CN" altLang="en-US" sz="3200">
                <a:solidFill>
                  <a:srgbClr val="4C61E7"/>
                </a:solidFill>
                <a:latin typeface="Arial Black" panose="020B0A04020102020204" pitchFamily="34" charset="0"/>
                <a:ea typeface="微软雅黑" panose="020B0503020204020204" charset="-122"/>
              </a:rPr>
              <a:t>机制回顾</a:t>
            </a:r>
            <a:endParaRPr lang="zh-CN" altLang="en-US" sz="3200">
              <a:solidFill>
                <a:srgbClr val="4C61E7"/>
              </a:solidFill>
              <a:latin typeface="Arial Black" panose="020B0A04020102020204" pitchFamily="34" charset="0"/>
              <a:ea typeface="微软雅黑" panose="020B0503020204020204" charset="-122"/>
            </a:endParaRPr>
          </a:p>
        </p:txBody>
      </p:sp>
      <p:sp>
        <p:nvSpPr>
          <p:cNvPr id="6" name="节编号"/>
          <p:cNvSpPr>
            <a:spLocks noGrp="1"/>
          </p:cNvSpPr>
          <p:nvPr>
            <p:ph type="body" sz="quarter" idx="13"/>
            <p:custDataLst>
              <p:tags r:id="rId3"/>
            </p:custDataLst>
          </p:nvPr>
        </p:nvSpPr>
        <p:spPr/>
        <p:txBody>
          <a:bodyPr>
            <a:normAutofit lnSpcReduction="20000"/>
          </a:bodyPr>
          <a:lstStyle/>
          <a:p>
            <a:r>
              <a:rPr lang="en-US" altLang="en-US">
                <a:solidFill>
                  <a:srgbClr val="4C61E7"/>
                </a:solidFill>
                <a:latin typeface="Arial" panose="020B0604020202020204" pitchFamily="34" charset="0"/>
                <a:ea typeface="黑体-简" panose="02000000000000000000" charset="-122"/>
              </a:rPr>
              <a:t>01</a:t>
            </a:r>
            <a:endParaRPr lang="en-US" altLang="en-US">
              <a:solidFill>
                <a:srgbClr val="4C61E7"/>
              </a:solidFill>
              <a:latin typeface="Arial" panose="020B0604020202020204" pitchFamily="34" charset="0"/>
              <a:ea typeface="黑体-简" panose="02000000000000000000" charset="-122"/>
            </a:endParaRPr>
          </a:p>
        </p:txBody>
      </p:sp>
      <p:pic>
        <p:nvPicPr>
          <p:cNvPr id="7" name="图片 6" descr="深信服 + 智安全"/>
          <p:cNvPicPr>
            <a:picLocks noChangeAspect="1"/>
          </p:cNvPicPr>
          <p:nvPr/>
        </p:nvPicPr>
        <p:blipFill>
          <a:blip r:embed="rId4"/>
          <a:srcRect l="5232" t="26576" r="4938" b="29565"/>
          <a:stretch>
            <a:fillRect/>
          </a:stretch>
        </p:blipFill>
        <p:spPr>
          <a:xfrm>
            <a:off x="10017125" y="238760"/>
            <a:ext cx="1629867" cy="360000"/>
          </a:xfrm>
          <a:prstGeom prst="rect">
            <a:avLst/>
          </a:prstGeom>
        </p:spPr>
      </p:pic>
    </p:spTree>
    <p:custDataLst>
      <p:tags r:id="rId5"/>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p:cNvGrpSpPr/>
          <p:nvPr/>
        </p:nvGrpSpPr>
        <p:grpSpPr>
          <a:xfrm>
            <a:off x="224790" y="289878"/>
            <a:ext cx="4279900" cy="327025"/>
            <a:chOff x="533" y="646"/>
            <a:chExt cx="6740" cy="515"/>
          </a:xfrm>
        </p:grpSpPr>
        <p:grpSp>
          <p:nvGrpSpPr>
            <p:cNvPr id="13" name="组合 12"/>
            <p:cNvGrpSpPr/>
            <p:nvPr/>
          </p:nvGrpSpPr>
          <p:grpSpPr>
            <a:xfrm rot="0">
              <a:off x="533" y="672"/>
              <a:ext cx="582" cy="420"/>
              <a:chOff x="533" y="672"/>
              <a:chExt cx="582" cy="420"/>
            </a:xfrm>
          </p:grpSpPr>
          <p:sp>
            <p:nvSpPr>
              <p:cNvPr id="14" name="燕尾形 86"/>
              <p:cNvSpPr/>
              <p:nvPr>
                <p:custDataLst>
                  <p:tags r:id="rId1"/>
                </p:custDataLst>
              </p:nvPr>
            </p:nvSpPr>
            <p:spPr>
              <a:xfrm>
                <a:off x="533" y="672"/>
                <a:ext cx="326" cy="421"/>
              </a:xfrm>
              <a:prstGeom prst="chevron">
                <a:avLst>
                  <a:gd name="adj" fmla="val 50000"/>
                </a:avLst>
              </a:prstGeom>
              <a:gradFill>
                <a:gsLst>
                  <a:gs pos="0">
                    <a:srgbClr val="006CD9">
                      <a:alpha val="100000"/>
                    </a:srgbClr>
                  </a:gs>
                  <a:gs pos="100000">
                    <a:srgbClr val="006CD9">
                      <a:alpha val="75000"/>
                    </a:srgbClr>
                  </a:gs>
                </a:gsLst>
                <a:lin ang="54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sp>
            <p:nvSpPr>
              <p:cNvPr id="16" name="燕尾形 103"/>
              <p:cNvSpPr/>
              <p:nvPr>
                <p:custDataLst>
                  <p:tags r:id="rId2"/>
                </p:custDataLst>
              </p:nvPr>
            </p:nvSpPr>
            <p:spPr>
              <a:xfrm>
                <a:off x="789" y="672"/>
                <a:ext cx="326" cy="421"/>
              </a:xfrm>
              <a:prstGeom prst="chevron">
                <a:avLst>
                  <a:gd name="adj" fmla="val 50000"/>
                </a:avLst>
              </a:prstGeom>
              <a:gradFill>
                <a:gsLst>
                  <a:gs pos="0">
                    <a:srgbClr val="70AD47">
                      <a:alpha val="88000"/>
                    </a:srgbClr>
                  </a:gs>
                  <a:gs pos="100000">
                    <a:schemeClr val="accent6">
                      <a:lumMod val="85000"/>
                      <a:alpha val="63000"/>
                    </a:schemeClr>
                  </a:gs>
                </a:gsLst>
                <a:lin ang="162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grpSp>
        <p:sp>
          <p:nvSpPr>
            <p:cNvPr id="3" name="textbox 158"/>
            <p:cNvSpPr/>
            <p:nvPr/>
          </p:nvSpPr>
          <p:spPr>
            <a:xfrm>
              <a:off x="1345" y="646"/>
              <a:ext cx="5928" cy="515"/>
            </a:xfrm>
            <a:prstGeom prst="rect">
              <a:avLst/>
            </a:prstGeom>
            <a:noFill/>
            <a:ln w="0" cap="flat">
              <a:noFill/>
              <a:prstDash val="solid"/>
              <a:miter lim="0"/>
            </a:ln>
          </p:spPr>
          <p:txBody>
            <a:bodyPr vert="horz" wrap="square" lIns="0" tIns="0" rIns="0" bIns="0"/>
            <a:p>
              <a:pPr algn="l" rtl="0" eaLnBrk="0">
                <a:lnSpc>
                  <a:spcPct val="78000"/>
                </a:lnSpc>
              </a:pPr>
              <a:endParaRPr sz="100" dirty="0">
                <a:solidFill>
                  <a:schemeClr val="tx1">
                    <a:lumMod val="85000"/>
                    <a:lumOff val="15000"/>
                  </a:schemeClr>
                </a:solidFill>
                <a:latin typeface="Arial Black" panose="020B0A04020102020204" pitchFamily="34" charset="0"/>
                <a:ea typeface="微软雅黑" panose="020B0503020204020204" charset="-122"/>
                <a:cs typeface="Arial" panose="020B0604020202020204"/>
              </a:endParaRPr>
            </a:p>
            <a:p>
              <a:pPr algn="l" rtl="0" eaLnBrk="0">
                <a:lnSpc>
                  <a:spcPct val="101000"/>
                </a:lnSpc>
              </a:pPr>
              <a:r>
                <a:rPr lang="zh-CN" altLang="en-US"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rPr>
                <a:t>我们共同的目标回顾</a:t>
              </a:r>
              <a:endParaRPr lang="zh-CN" altLang="en-US"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endParaRPr>
            </a:p>
          </p:txBody>
        </p:sp>
      </p:grpSp>
      <p:pic>
        <p:nvPicPr>
          <p:cNvPr id="5" name="图片 4" descr="深信服 + 智安全"/>
          <p:cNvPicPr>
            <a:picLocks noChangeAspect="1"/>
          </p:cNvPicPr>
          <p:nvPr/>
        </p:nvPicPr>
        <p:blipFill>
          <a:blip r:embed="rId3"/>
          <a:srcRect l="5232" t="26576" r="4938" b="29565"/>
          <a:stretch>
            <a:fillRect/>
          </a:stretch>
        </p:blipFill>
        <p:spPr>
          <a:xfrm>
            <a:off x="10330815" y="273073"/>
            <a:ext cx="1629867" cy="360000"/>
          </a:xfrm>
          <a:prstGeom prst="rect">
            <a:avLst/>
          </a:prstGeom>
        </p:spPr>
      </p:pic>
      <p:pic>
        <p:nvPicPr>
          <p:cNvPr id="705" name="图片 704" descr="1755071818846"/>
          <p:cNvPicPr/>
          <p:nvPr/>
        </p:nvPicPr>
        <p:blipFill>
          <a:blip r:embed="rId4"/>
          <a:stretch>
            <a:fillRect/>
          </a:stretch>
        </p:blipFill>
        <p:spPr>
          <a:xfrm>
            <a:off x="669608" y="6019800"/>
            <a:ext cx="10800000" cy="502285"/>
          </a:xfrm>
          <a:prstGeom prst="rect">
            <a:avLst/>
          </a:prstGeom>
        </p:spPr>
      </p:pic>
      <p:sp>
        <p:nvSpPr>
          <p:cNvPr id="706" name="文本框 705"/>
          <p:cNvSpPr txBox="1"/>
          <p:nvPr/>
        </p:nvSpPr>
        <p:spPr>
          <a:xfrm>
            <a:off x="859155" y="6052185"/>
            <a:ext cx="10457180" cy="43370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ctr" anchorCtr="0" forceAA="0">
            <a:noAutofit/>
          </a:bodyPr>
          <a:p>
            <a:pPr marL="0" marR="0" indent="0" algn="l" defTabSz="2438400" rtl="0" fontAlgn="auto" latinLnBrk="0" hangingPunct="0">
              <a:lnSpc>
                <a:spcPct val="130000"/>
              </a:lnSpc>
              <a:spcBef>
                <a:spcPts val="0"/>
              </a:spcBef>
              <a:spcAft>
                <a:spcPts val="0"/>
              </a:spcAft>
              <a:buClrTx/>
              <a:buSzTx/>
              <a:buFontTx/>
              <a:buNone/>
            </a:pPr>
            <a:r>
              <a:rPr lang="zh-CN" sz="100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相互的信任和高效的协作是达成这一工作目标的坚实基础，每一次恶意外联拦截和清除主机风险、每一个被修复的漏洞和弱口令，都离不开</a:t>
            </a:r>
            <a:r>
              <a:rPr lang="en-US" sz="1000" dirty="0">
                <a:solidFill>
                  <a:srgbClr val="4C61E7"/>
                </a:solidFill>
                <a:latin typeface="Arial" panose="020B0604020202020204" pitchFamily="34" charset="0"/>
                <a:ea typeface="黑体-简" panose="02000000000000000000" charset="-122"/>
                <a:cs typeface="Calibri" panose="020F0502020204030204" pitchFamily="34" charset="-120"/>
                <a:sym typeface="+mn-ea"/>
              </a:rPr>
              <a:t>{{company}}</a:t>
            </a:r>
            <a:r>
              <a:rPr lang="zh-CN" sz="1000" dirty="0">
                <a:solidFill>
                  <a:schemeClr val="tx1">
                    <a:alpha val="100000"/>
                  </a:schemeClr>
                </a:solidFill>
                <a:latin typeface="Arial" panose="020B0604020202020204" pitchFamily="34" charset="0"/>
                <a:ea typeface="黑体-简" panose="02000000000000000000" charset="-122"/>
                <a:cs typeface="黑体" panose="02010609060101010101" charset="-122"/>
                <a:sym typeface="+mn-ea"/>
              </a:rPr>
              <a:t>同仁</a:t>
            </a:r>
            <a:r>
              <a:rPr lang="zh-CN" sz="100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的信任与支持，工作目标的</a:t>
            </a:r>
            <a:r>
              <a:rPr lang="zh-CN" sz="100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达成是我们共同的努力成果</a:t>
            </a:r>
            <a:endParaRPr lang="zh-CN" sz="100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endParaRPr>
          </a:p>
        </p:txBody>
      </p:sp>
      <p:sp>
        <p:nvSpPr>
          <p:cNvPr id="15" name="正文"/>
          <p:cNvSpPr txBox="1"/>
          <p:nvPr>
            <p:custDataLst>
              <p:tags r:id="rId5"/>
            </p:custDataLst>
          </p:nvPr>
        </p:nvSpPr>
        <p:spPr>
          <a:xfrm>
            <a:off x="8653475" y="3302211"/>
            <a:ext cx="2086316" cy="315268"/>
          </a:xfrm>
          <a:prstGeom prst="rect">
            <a:avLst/>
          </a:prstGeom>
          <a:noFill/>
        </p:spPr>
        <p:txBody>
          <a:bodyPr wrap="square" lIns="0" tIns="0" rIns="0" bIns="0" rtlCol="0" anchor="b" anchorCtr="0">
            <a:noAutofit/>
          </a:bodyPr>
          <a:p>
            <a:pPr indent="0" algn="ctr" fontAlgn="auto">
              <a:lnSpc>
                <a:spcPct val="130000"/>
              </a:lnSpc>
            </a:pPr>
            <a:r>
              <a:rPr lang="zh-CN" altLang="en-US" sz="1500" b="1" spc="150" dirty="0">
                <a:solidFill>
                  <a:schemeClr val="accent5"/>
                </a:solidFill>
                <a:latin typeface="Arial" panose="020B0604020202020204" pitchFamily="34" charset="0"/>
                <a:ea typeface="黑体-简" panose="02000000000000000000" charset="-122"/>
                <a:cs typeface="微软雅黑" panose="020B0503020204020204" charset="-122"/>
              </a:rPr>
              <a:t>节假日</a:t>
            </a:r>
            <a:r>
              <a:rPr lang="zh-CN" altLang="en-US" sz="1500" b="1" spc="150" dirty="0">
                <a:solidFill>
                  <a:schemeClr val="accent5"/>
                </a:solidFill>
                <a:latin typeface="Arial" panose="020B0604020202020204" pitchFamily="34" charset="0"/>
                <a:ea typeface="黑体-简" panose="02000000000000000000" charset="-122"/>
                <a:cs typeface="微软雅黑" panose="020B0503020204020204" charset="-122"/>
              </a:rPr>
              <a:t>重点保障</a:t>
            </a:r>
            <a:endParaRPr lang="zh-CN" altLang="en-US" sz="1500" b="1" spc="150" dirty="0">
              <a:solidFill>
                <a:schemeClr val="accent5"/>
              </a:solidFill>
              <a:latin typeface="Arial" panose="020B0604020202020204" pitchFamily="34" charset="0"/>
              <a:ea typeface="黑体-简" panose="02000000000000000000" charset="-122"/>
              <a:cs typeface="微软雅黑" panose="020B0503020204020204" charset="-122"/>
            </a:endParaRPr>
          </a:p>
        </p:txBody>
      </p:sp>
      <p:sp>
        <p:nvSpPr>
          <p:cNvPr id="23" name="正文"/>
          <p:cNvSpPr txBox="1"/>
          <p:nvPr>
            <p:custDataLst>
              <p:tags r:id="rId6"/>
            </p:custDataLst>
          </p:nvPr>
        </p:nvSpPr>
        <p:spPr>
          <a:xfrm>
            <a:off x="8202930" y="3942080"/>
            <a:ext cx="2988310" cy="1734820"/>
          </a:xfrm>
          <a:prstGeom prst="rect">
            <a:avLst/>
          </a:prstGeom>
          <a:noFill/>
        </p:spPr>
        <p:txBody>
          <a:bodyPr wrap="square" lIns="0" tIns="0" rIns="0" bIns="0" rtlCol="0" anchor="t" anchorCtr="0">
            <a:noAutofit/>
          </a:bodyPr>
          <a:p>
            <a:pPr lvl="0" algn="l">
              <a:lnSpc>
                <a:spcPct val="130000"/>
              </a:lnSpc>
              <a:buClrTx/>
              <a:buSzTx/>
              <a:buFont typeface="Wingdings" panose="05000000000000000000" charset="0"/>
            </a:pPr>
            <a:r>
              <a:rPr lang="zh-CN" altLang="en-US" sz="1200" b="1" kern="0" dirty="0">
                <a:ln>
                  <a:noFill/>
                  <a:prstDash val="sysDot"/>
                </a:ln>
                <a:solidFill>
                  <a:schemeClr val="tx1">
                    <a:lumMod val="85000"/>
                    <a:lumOff val="15000"/>
                  </a:schemeClr>
                </a:solidFill>
                <a:uFillTx/>
                <a:latin typeface="Heiti SC Medium" panose="02000000000000000000" charset="-122"/>
                <a:ea typeface="Heiti SC Medium" panose="02000000000000000000" charset="-122"/>
                <a:cs typeface="微软雅黑" panose="020B0503020204020204" charset="-122"/>
                <a:sym typeface="+mn-ea"/>
              </a:rPr>
              <a:t>提升节假日重点防守保障能力，缓解单位重要节假日的</a:t>
            </a:r>
            <a:r>
              <a:rPr lang="zh-CN" altLang="en-US" sz="1200" b="1" kern="0" dirty="0">
                <a:ln>
                  <a:noFill/>
                  <a:prstDash val="sysDot"/>
                </a:ln>
                <a:solidFill>
                  <a:schemeClr val="tx1">
                    <a:lumMod val="85000"/>
                    <a:lumOff val="15000"/>
                  </a:schemeClr>
                </a:solidFill>
                <a:uFillTx/>
                <a:latin typeface="Heiti SC Medium" panose="02000000000000000000" charset="-122"/>
                <a:ea typeface="Heiti SC Medium" panose="02000000000000000000" charset="-122"/>
                <a:cs typeface="微软雅黑" panose="020B0503020204020204" charset="-122"/>
                <a:sym typeface="+mn-ea"/>
              </a:rPr>
              <a:t>网络安全保障</a:t>
            </a:r>
            <a:r>
              <a:rPr lang="zh-CN" altLang="en-US" sz="1200" b="1" kern="0" dirty="0">
                <a:ln>
                  <a:noFill/>
                  <a:prstDash val="sysDot"/>
                </a:ln>
                <a:solidFill>
                  <a:schemeClr val="tx1">
                    <a:lumMod val="85000"/>
                    <a:lumOff val="15000"/>
                  </a:schemeClr>
                </a:solidFill>
                <a:uFillTx/>
                <a:latin typeface="Heiti SC Medium" panose="02000000000000000000" charset="-122"/>
                <a:ea typeface="Heiti SC Medium" panose="02000000000000000000" charset="-122"/>
                <a:cs typeface="微软雅黑" panose="020B0503020204020204" charset="-122"/>
                <a:sym typeface="+mn-ea"/>
              </a:rPr>
              <a:t>压力</a:t>
            </a:r>
            <a:endParaRPr lang="zh-CN" altLang="en-US" sz="1200" b="1" kern="0" dirty="0">
              <a:ln>
                <a:noFill/>
                <a:prstDash val="sysDot"/>
              </a:ln>
              <a:solidFill>
                <a:schemeClr val="tx1">
                  <a:lumMod val="85000"/>
                  <a:lumOff val="15000"/>
                </a:schemeClr>
              </a:solidFill>
              <a:uFillTx/>
              <a:latin typeface="Heiti SC Medium" panose="02000000000000000000" charset="-122"/>
              <a:ea typeface="Heiti SC Medium" panose="02000000000000000000" charset="-122"/>
              <a:cs typeface="微软雅黑" panose="020B0503020204020204" charset="-122"/>
              <a:sym typeface="+mn-ea"/>
            </a:endParaRPr>
          </a:p>
          <a:p>
            <a:pPr lvl="0" algn="l">
              <a:lnSpc>
                <a:spcPct val="130000"/>
              </a:lnSpc>
              <a:buClrTx/>
              <a:buSzTx/>
              <a:buFont typeface="Wingdings" panose="05000000000000000000" charset="0"/>
            </a:pPr>
            <a:endParaRPr lang="zh-CN" altLang="en-US" sz="1200" b="1" kern="0" dirty="0">
              <a:ln>
                <a:noFill/>
                <a:prstDash val="sysDot"/>
              </a:ln>
              <a:solidFill>
                <a:schemeClr val="tx1">
                  <a:lumMod val="85000"/>
                  <a:lumOff val="15000"/>
                </a:schemeClr>
              </a:solidFill>
              <a:uFillTx/>
              <a:latin typeface="Heiti SC Medium" panose="02000000000000000000" charset="-122"/>
              <a:ea typeface="Heiti SC Medium" panose="02000000000000000000" charset="-122"/>
              <a:cs typeface="微软雅黑" panose="020B0503020204020204" charset="-122"/>
              <a:sym typeface="+mn-ea"/>
            </a:endParaRPr>
          </a:p>
          <a:p>
            <a:pPr algn="l">
              <a:lnSpc>
                <a:spcPct val="120000"/>
              </a:lnSpc>
              <a:buClrTx/>
              <a:buSzTx/>
              <a:buFontTx/>
              <a:buNone/>
            </a:pPr>
            <a:r>
              <a:rPr lang="en-US" altLang="zh-CN" sz="1200" b="1" dirty="0">
                <a:latin typeface="Heiti SC Light" panose="02000000000000000000" charset="-122"/>
                <a:ea typeface="Heiti SC Light" panose="02000000000000000000" charset="-122"/>
                <a:cs typeface="Heiti SC Light" panose="02000000000000000000" charset="-122"/>
                <a:sym typeface="+mn-ea"/>
              </a:rPr>
              <a:t>1</a:t>
            </a:r>
            <a:r>
              <a:rPr lang="zh-CN" altLang="en-US" sz="1200" b="1" dirty="0">
                <a:latin typeface="Heiti SC Light" panose="02000000000000000000" charset="-122"/>
                <a:ea typeface="Heiti SC Light" panose="02000000000000000000" charset="-122"/>
                <a:cs typeface="Heiti SC Light" panose="02000000000000000000" charset="-122"/>
                <a:sym typeface="+mn-ea"/>
              </a:rPr>
              <a:t>、威胁快速发现</a:t>
            </a:r>
            <a:r>
              <a:rPr lang="zh-CN" altLang="en-US" sz="1200" dirty="0">
                <a:latin typeface="Heiti SC Light" panose="02000000000000000000" charset="-122"/>
                <a:ea typeface="Heiti SC Light" panose="02000000000000000000" charset="-122"/>
                <a:cs typeface="Heiti SC Light" panose="02000000000000000000" charset="-122"/>
                <a:sym typeface="+mn-ea"/>
              </a:rPr>
              <a:t>：保护范围内的核心资产的有效攻击事件</a:t>
            </a:r>
            <a:r>
              <a:rPr lang="en-US" altLang="zh-CN" sz="1200" dirty="0">
                <a:latin typeface="Heiti SC Light" panose="02000000000000000000" charset="-122"/>
                <a:ea typeface="Heiti SC Light" panose="02000000000000000000" charset="-122"/>
                <a:cs typeface="Heiti SC Light" panose="02000000000000000000" charset="-122"/>
                <a:sym typeface="+mn-ea"/>
              </a:rPr>
              <a:t>30</a:t>
            </a:r>
            <a:r>
              <a:rPr lang="zh-CN" altLang="en-US" sz="1200" dirty="0">
                <a:latin typeface="Heiti SC Light" panose="02000000000000000000" charset="-122"/>
                <a:ea typeface="Heiti SC Light" panose="02000000000000000000" charset="-122"/>
                <a:cs typeface="Heiti SC Light" panose="02000000000000000000" charset="-122"/>
                <a:sym typeface="+mn-ea"/>
              </a:rPr>
              <a:t>分钟内通告；</a:t>
            </a:r>
            <a:endParaRPr lang="zh-CN" altLang="en-US" sz="1200" b="0" dirty="0">
              <a:latin typeface="Heiti SC Light" panose="02000000000000000000" charset="-122"/>
              <a:ea typeface="Heiti SC Light" panose="02000000000000000000" charset="-122"/>
              <a:cs typeface="Heiti SC Light" panose="02000000000000000000" charset="-122"/>
            </a:endParaRPr>
          </a:p>
          <a:p>
            <a:pPr algn="l">
              <a:lnSpc>
                <a:spcPct val="120000"/>
              </a:lnSpc>
              <a:buClrTx/>
              <a:buSzTx/>
              <a:buFontTx/>
              <a:buNone/>
            </a:pPr>
            <a:r>
              <a:rPr lang="en-US" altLang="zh-CN" sz="1200" b="1" dirty="0">
                <a:latin typeface="Heiti SC Light" panose="02000000000000000000" charset="-122"/>
                <a:ea typeface="Heiti SC Light" panose="02000000000000000000" charset="-122"/>
                <a:cs typeface="Heiti SC Light" panose="02000000000000000000" charset="-122"/>
                <a:sym typeface="+mn-ea"/>
              </a:rPr>
              <a:t>2</a:t>
            </a:r>
            <a:r>
              <a:rPr lang="zh-CN" altLang="en-US" sz="1200" b="1" dirty="0">
                <a:latin typeface="Heiti SC Light" panose="02000000000000000000" charset="-122"/>
                <a:ea typeface="Heiti SC Light" panose="02000000000000000000" charset="-122"/>
                <a:cs typeface="Heiti SC Light" panose="02000000000000000000" charset="-122"/>
                <a:sym typeface="+mn-ea"/>
              </a:rPr>
              <a:t>、有效处置闭环</a:t>
            </a:r>
            <a:r>
              <a:rPr lang="zh-CN" altLang="en-US" sz="1200" dirty="0">
                <a:latin typeface="Heiti SC Light" panose="02000000000000000000" charset="-122"/>
                <a:ea typeface="Heiti SC Light" panose="02000000000000000000" charset="-122"/>
                <a:cs typeface="Heiti SC Light" panose="02000000000000000000" charset="-122"/>
                <a:sym typeface="+mn-ea"/>
              </a:rPr>
              <a:t>：研判为有效攻击的事件</a:t>
            </a:r>
            <a:r>
              <a:rPr lang="en-US" altLang="zh-CN" sz="1200" dirty="0">
                <a:latin typeface="Heiti SC Light" panose="02000000000000000000" charset="-122"/>
                <a:ea typeface="Heiti SC Light" panose="02000000000000000000" charset="-122"/>
                <a:cs typeface="Heiti SC Light" panose="02000000000000000000" charset="-122"/>
                <a:sym typeface="+mn-ea"/>
              </a:rPr>
              <a:t>100%</a:t>
            </a:r>
            <a:r>
              <a:rPr lang="zh-CN" altLang="en-US" sz="1200" dirty="0">
                <a:latin typeface="Heiti SC Light" panose="02000000000000000000" charset="-122"/>
                <a:ea typeface="Heiti SC Light" panose="02000000000000000000" charset="-122"/>
                <a:cs typeface="Heiti SC Light" panose="02000000000000000000" charset="-122"/>
                <a:sym typeface="+mn-ea"/>
              </a:rPr>
              <a:t>闭环</a:t>
            </a:r>
            <a:endParaRPr lang="zh-CN" altLang="en-US" sz="1200" dirty="0">
              <a:latin typeface="Heiti SC Light" panose="02000000000000000000" charset="-122"/>
              <a:ea typeface="Heiti SC Light" panose="02000000000000000000" charset="-122"/>
              <a:cs typeface="Heiti SC Light" panose="02000000000000000000" charset="-122"/>
              <a:sym typeface="+mn-ea"/>
            </a:endParaRPr>
          </a:p>
          <a:p>
            <a:pPr lvl="0" algn="l">
              <a:lnSpc>
                <a:spcPct val="130000"/>
              </a:lnSpc>
              <a:buClrTx/>
              <a:buSzTx/>
              <a:buFont typeface="Wingdings" panose="05000000000000000000" charset="0"/>
            </a:pPr>
            <a:endParaRPr lang="zh-CN" altLang="en-US" sz="1200" b="1" kern="0" dirty="0">
              <a:ln>
                <a:noFill/>
                <a:prstDash val="sysDot"/>
              </a:ln>
              <a:solidFill>
                <a:schemeClr val="tx1">
                  <a:lumMod val="85000"/>
                  <a:lumOff val="15000"/>
                </a:schemeClr>
              </a:solidFill>
              <a:uFillTx/>
              <a:latin typeface="Heiti SC Medium" panose="02000000000000000000" charset="-122"/>
              <a:ea typeface="Heiti SC Medium" panose="02000000000000000000" charset="-122"/>
              <a:cs typeface="微软雅黑" panose="020B0503020204020204" charset="-122"/>
              <a:sym typeface="+mn-ea"/>
            </a:endParaRPr>
          </a:p>
        </p:txBody>
      </p:sp>
      <p:sp>
        <p:nvSpPr>
          <p:cNvPr id="24" name="椭圆 23"/>
          <p:cNvSpPr/>
          <p:nvPr>
            <p:custDataLst>
              <p:tags r:id="rId7"/>
            </p:custDataLst>
          </p:nvPr>
        </p:nvSpPr>
        <p:spPr>
          <a:xfrm>
            <a:off x="9446456" y="2680628"/>
            <a:ext cx="500354" cy="500354"/>
          </a:xfrm>
          <a:prstGeom prst="ellipse">
            <a:avLst/>
          </a:prstGeom>
          <a:solidFill>
            <a:schemeClr val="accent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pic>
        <p:nvPicPr>
          <p:cNvPr id="25" name="3" descr="斗争"/>
          <p:cNvPicPr>
            <a:picLocks noChangeAspect="1"/>
          </p:cNvPicPr>
          <p:nvPr>
            <p:custDataLst>
              <p:tags r:id="rId8"/>
            </p:custDataLst>
          </p:nvPr>
        </p:nvPicPr>
        <p:blipFill>
          <a:blip r:embed="rId9">
            <a:extLst>
              <a:ext uri="{96DAC541-7B7A-43D3-8B79-37D633B846F1}">
                <asvg:svgBlip xmlns:asvg="http://schemas.microsoft.com/office/drawing/2016/SVG/main" r:embed="rId10"/>
              </a:ext>
            </a:extLst>
          </a:blip>
          <a:srcRect/>
          <a:stretch>
            <a:fillRect/>
          </a:stretch>
        </p:blipFill>
        <p:spPr>
          <a:xfrm>
            <a:off x="9561356" y="2787604"/>
            <a:ext cx="270553" cy="270553"/>
          </a:xfrm>
          <a:prstGeom prst="rect">
            <a:avLst/>
          </a:prstGeom>
        </p:spPr>
      </p:pic>
      <p:sp>
        <p:nvSpPr>
          <p:cNvPr id="26" name="矩形 25"/>
          <p:cNvSpPr/>
          <p:nvPr>
            <p:custDataLst>
              <p:tags r:id="rId11"/>
            </p:custDataLst>
          </p:nvPr>
        </p:nvSpPr>
        <p:spPr>
          <a:xfrm>
            <a:off x="4460308" y="2257742"/>
            <a:ext cx="3240000" cy="3823970"/>
          </a:xfrm>
          <a:prstGeom prst="rect">
            <a:avLst/>
          </a:prstGeom>
          <a:noFill/>
          <a:ln>
            <a:gradFill>
              <a:gsLst>
                <a:gs pos="100000">
                  <a:schemeClr val="accent6">
                    <a:lumMod val="5000"/>
                    <a:lumOff val="95000"/>
                    <a:alpha val="0"/>
                  </a:schemeClr>
                </a:gs>
                <a:gs pos="55000">
                  <a:schemeClr val="accent6">
                    <a:alpha val="25000"/>
                  </a:schemeClr>
                </a:gs>
              </a:gsLst>
              <a:lin ang="5400000" scaled="1"/>
            </a:gradFill>
          </a:ln>
          <a:effectLst>
            <a:outerShdw blurRad="114300" sx="101000" sy="101000" algn="ctr" rotWithShape="0">
              <a:schemeClr val="accent6">
                <a:alpha val="59000"/>
              </a:scheme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n>
                <a:noFill/>
              </a:ln>
              <a:solidFill>
                <a:schemeClr val="lt1"/>
              </a:solidFill>
              <a:sym typeface="+mn-ea"/>
            </a:endParaRPr>
          </a:p>
        </p:txBody>
      </p:sp>
      <p:sp>
        <p:nvSpPr>
          <p:cNvPr id="27" name="正文"/>
          <p:cNvSpPr txBox="1"/>
          <p:nvPr>
            <p:custDataLst>
              <p:tags r:id="rId12"/>
            </p:custDataLst>
          </p:nvPr>
        </p:nvSpPr>
        <p:spPr>
          <a:xfrm>
            <a:off x="5037150" y="3026951"/>
            <a:ext cx="2086316" cy="315268"/>
          </a:xfrm>
          <a:prstGeom prst="rect">
            <a:avLst/>
          </a:prstGeom>
          <a:noFill/>
        </p:spPr>
        <p:txBody>
          <a:bodyPr wrap="square" lIns="0" tIns="0" rIns="0" bIns="0" rtlCol="0" anchor="b" anchorCtr="0">
            <a:noAutofit/>
          </a:bodyPr>
          <a:p>
            <a:pPr indent="0" algn="ctr" fontAlgn="auto">
              <a:lnSpc>
                <a:spcPct val="130000"/>
              </a:lnSpc>
            </a:pPr>
            <a:r>
              <a:rPr lang="zh-CN" altLang="en-US" sz="1500" b="1" spc="150" dirty="0">
                <a:solidFill>
                  <a:schemeClr val="accent6"/>
                </a:solidFill>
                <a:latin typeface="Arial" panose="020B0604020202020204" pitchFamily="34" charset="0"/>
                <a:ea typeface="黑体-简" panose="02000000000000000000" charset="-122"/>
                <a:cs typeface="微软雅黑" panose="020B0503020204020204" charset="-122"/>
                <a:sym typeface="+mn-ea"/>
              </a:rPr>
              <a:t>核心业务安全保护</a:t>
            </a:r>
            <a:endParaRPr lang="zh-CN" altLang="en-US" sz="1500" b="1" spc="150" dirty="0">
              <a:solidFill>
                <a:schemeClr val="accent6"/>
              </a:solidFill>
              <a:latin typeface="Arial" panose="020B0604020202020204" pitchFamily="34" charset="0"/>
              <a:ea typeface="黑体-简" panose="02000000000000000000" charset="-122"/>
              <a:cs typeface="微软雅黑" panose="020B0503020204020204" charset="-122"/>
              <a:sym typeface="+mn-ea"/>
            </a:endParaRPr>
          </a:p>
        </p:txBody>
      </p:sp>
      <p:sp>
        <p:nvSpPr>
          <p:cNvPr id="28" name="正文"/>
          <p:cNvSpPr txBox="1"/>
          <p:nvPr>
            <p:custDataLst>
              <p:tags r:id="rId13"/>
            </p:custDataLst>
          </p:nvPr>
        </p:nvSpPr>
        <p:spPr>
          <a:xfrm>
            <a:off x="4585970" y="3667125"/>
            <a:ext cx="2988310" cy="2009775"/>
          </a:xfrm>
          <a:prstGeom prst="rect">
            <a:avLst/>
          </a:prstGeom>
          <a:noFill/>
        </p:spPr>
        <p:txBody>
          <a:bodyPr wrap="square" lIns="0" tIns="0" rIns="0" bIns="0" rtlCol="0" anchor="t" anchorCtr="0">
            <a:noAutofit/>
          </a:bodyPr>
          <a:p>
            <a:pPr indent="0" algn="l" fontAlgn="auto">
              <a:lnSpc>
                <a:spcPct val="130000"/>
              </a:lnSpc>
              <a:buFont typeface="Wingdings" panose="05000000000000000000" charset="0"/>
              <a:buNone/>
            </a:pPr>
            <a:r>
              <a:rPr lang="zh-CN" altLang="en-US" sz="1200" b="1" kern="0" dirty="0">
                <a:ln>
                  <a:noFill/>
                  <a:prstDash val="sysDot"/>
                </a:ln>
                <a:solidFill>
                  <a:schemeClr val="tx1">
                    <a:lumMod val="85000"/>
                    <a:lumOff val="15000"/>
                  </a:schemeClr>
                </a:solidFill>
                <a:uFillTx/>
                <a:latin typeface="Arial" panose="020B0604020202020204" pitchFamily="34" charset="0"/>
                <a:ea typeface="黑体-简" panose="02000000000000000000" charset="-122"/>
                <a:cs typeface="微软雅黑" panose="020B0503020204020204" charset="-122"/>
                <a:sym typeface="微软雅黑" panose="020B0503020204020204" charset="-122"/>
              </a:rPr>
              <a:t>保障核心业务系统0安全事故，有效规避业务损失</a:t>
            </a:r>
            <a:endParaRPr lang="zh-CN" altLang="en-US" sz="1200" b="1" kern="0" dirty="0">
              <a:ln>
                <a:noFill/>
                <a:prstDash val="sysDot"/>
              </a:ln>
              <a:solidFill>
                <a:schemeClr val="tx1">
                  <a:lumMod val="85000"/>
                  <a:lumOff val="15000"/>
                </a:schemeClr>
              </a:solidFill>
              <a:uFillTx/>
              <a:latin typeface="Arial" panose="020B0604020202020204" pitchFamily="34" charset="0"/>
              <a:ea typeface="黑体-简" panose="02000000000000000000" charset="-122"/>
              <a:cs typeface="微软雅黑" panose="020B0503020204020204" charset="-122"/>
              <a:sym typeface="微软雅黑" panose="020B0503020204020204" charset="-122"/>
            </a:endParaRPr>
          </a:p>
          <a:p>
            <a:pPr indent="0" algn="l" fontAlgn="auto">
              <a:lnSpc>
                <a:spcPct val="130000"/>
              </a:lnSpc>
              <a:buFont typeface="Wingdings" panose="05000000000000000000" charset="0"/>
              <a:buNone/>
            </a:pPr>
            <a:endParaRPr lang="zh-CN" altLang="en-US" sz="1200" b="1" kern="0" dirty="0">
              <a:ln>
                <a:noFill/>
                <a:prstDash val="sysDot"/>
              </a:ln>
              <a:solidFill>
                <a:schemeClr val="tx1">
                  <a:lumMod val="85000"/>
                  <a:lumOff val="15000"/>
                </a:schemeClr>
              </a:solidFill>
              <a:uFillTx/>
              <a:latin typeface="Arial" panose="020B0604020202020204" pitchFamily="34" charset="0"/>
              <a:ea typeface="黑体-简" panose="02000000000000000000" charset="-122"/>
              <a:cs typeface="微软雅黑" panose="020B0503020204020204" charset="-122"/>
              <a:sym typeface="微软雅黑" panose="020B0503020204020204" charset="-122"/>
            </a:endParaRPr>
          </a:p>
          <a:p>
            <a:pPr algn="l">
              <a:lnSpc>
                <a:spcPct val="120000"/>
              </a:lnSpc>
            </a:pPr>
            <a:r>
              <a:rPr lang="en-US" altLang="zh-CN" sz="1200" b="1" dirty="0">
                <a:latin typeface="Heiti SC Light" panose="02000000000000000000" charset="-122"/>
                <a:ea typeface="Heiti SC Light" panose="02000000000000000000" charset="-122"/>
                <a:cs typeface="Heiti SC Light" panose="02000000000000000000" charset="-122"/>
                <a:sym typeface="+mn-ea"/>
              </a:rPr>
              <a:t>1</a:t>
            </a:r>
            <a:r>
              <a:rPr lang="zh-CN" altLang="en-US" sz="1200" b="1" dirty="0">
                <a:latin typeface="Heiti SC Light" panose="02000000000000000000" charset="-122"/>
                <a:ea typeface="Heiti SC Light" panose="02000000000000000000" charset="-122"/>
                <a:cs typeface="Heiti SC Light" panose="02000000000000000000" charset="-122"/>
                <a:sym typeface="+mn-ea"/>
              </a:rPr>
              <a:t>、零重大事件：</a:t>
            </a:r>
            <a:r>
              <a:rPr lang="zh-CN" altLang="en-US" sz="1200" dirty="0">
                <a:latin typeface="Heiti SC Light" panose="02000000000000000000" charset="-122"/>
                <a:ea typeface="Heiti SC Light" panose="02000000000000000000" charset="-122"/>
                <a:cs typeface="Heiti SC Light" panose="02000000000000000000" charset="-122"/>
                <a:sym typeface="+mn-ea"/>
              </a:rPr>
              <a:t>核心业务（</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core_system_1</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 {{</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core_system_2</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 {{</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core_system_3</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zh-CN" altLang="en-US" sz="1200" dirty="0">
                <a:latin typeface="Heiti SC Light" panose="02000000000000000000" charset="-122"/>
                <a:ea typeface="Heiti SC Light" panose="02000000000000000000" charset="-122"/>
                <a:cs typeface="Heiti SC Light" panose="02000000000000000000" charset="-122"/>
                <a:sym typeface="+mn-ea"/>
              </a:rPr>
              <a:t>等）平稳运行，</a:t>
            </a:r>
            <a:r>
              <a:rPr lang="en-US" altLang="zh-CN" sz="1200" dirty="0">
                <a:latin typeface="Heiti SC Light" panose="02000000000000000000" charset="-122"/>
                <a:ea typeface="Heiti SC Light" panose="02000000000000000000" charset="-122"/>
                <a:cs typeface="Heiti SC Light" panose="02000000000000000000" charset="-122"/>
                <a:sym typeface="+mn-ea"/>
              </a:rPr>
              <a:t>0</a:t>
            </a:r>
            <a:r>
              <a:rPr lang="zh-CN" altLang="en-US" sz="1200" dirty="0">
                <a:latin typeface="Heiti SC Light" panose="02000000000000000000" charset="-122"/>
                <a:ea typeface="Heiti SC Light" panose="02000000000000000000" charset="-122"/>
                <a:cs typeface="Heiti SC Light" panose="02000000000000000000" charset="-122"/>
                <a:sym typeface="+mn-ea"/>
              </a:rPr>
              <a:t>重大事故；</a:t>
            </a:r>
            <a:endParaRPr lang="zh-CN" altLang="en-US" sz="1200" dirty="0">
              <a:latin typeface="Heiti SC Light" panose="02000000000000000000" charset="-122"/>
              <a:ea typeface="Heiti SC Light" panose="02000000000000000000" charset="-122"/>
              <a:cs typeface="Heiti SC Light" panose="02000000000000000000" charset="-122"/>
            </a:endParaRPr>
          </a:p>
          <a:p>
            <a:pPr algn="l">
              <a:lnSpc>
                <a:spcPct val="120000"/>
              </a:lnSpc>
            </a:pPr>
            <a:r>
              <a:rPr lang="en-US" altLang="zh-CN" sz="1200" b="1" dirty="0">
                <a:latin typeface="Heiti SC Light" panose="02000000000000000000" charset="-122"/>
                <a:ea typeface="Heiti SC Light" panose="02000000000000000000" charset="-122"/>
                <a:cs typeface="Heiti SC Light" panose="02000000000000000000" charset="-122"/>
                <a:sym typeface="+mn-ea"/>
              </a:rPr>
              <a:t>2</a:t>
            </a:r>
            <a:r>
              <a:rPr lang="zh-CN" altLang="en-US" sz="1200" b="1" dirty="0">
                <a:latin typeface="Heiti SC Light" panose="02000000000000000000" charset="-122"/>
                <a:ea typeface="Heiti SC Light" panose="02000000000000000000" charset="-122"/>
                <a:cs typeface="Heiti SC Light" panose="02000000000000000000" charset="-122"/>
                <a:sym typeface="+mn-ea"/>
              </a:rPr>
              <a:t>、风险有效收敛：</a:t>
            </a:r>
            <a:r>
              <a:rPr lang="zh-CN" altLang="en-US" sz="1200" dirty="0">
                <a:latin typeface="Heiti SC Light" panose="02000000000000000000" charset="-122"/>
                <a:ea typeface="Heiti SC Light" panose="02000000000000000000" charset="-122"/>
                <a:cs typeface="Heiti SC Light" panose="02000000000000000000" charset="-122"/>
                <a:sym typeface="+mn-ea"/>
              </a:rPr>
              <a:t>主动发现核心系统的重大风险并进行缓解，降低风险被利用带来的损失；</a:t>
            </a:r>
            <a:endParaRPr lang="zh-CN" altLang="en-US" sz="12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a:p>
            <a:pPr indent="0" algn="ctr" fontAlgn="auto">
              <a:lnSpc>
                <a:spcPct val="130000"/>
              </a:lnSpc>
              <a:buFont typeface="Wingdings" panose="05000000000000000000" charset="0"/>
              <a:buNone/>
            </a:pPr>
            <a:endParaRPr lang="zh-CN" altLang="en-US" sz="1200" kern="0" dirty="0">
              <a:ln>
                <a:noFill/>
                <a:prstDash val="sysDot"/>
              </a:ln>
              <a:solidFill>
                <a:schemeClr val="tx1">
                  <a:lumMod val="85000"/>
                  <a:lumOff val="15000"/>
                </a:schemeClr>
              </a:solidFill>
              <a:uFillTx/>
              <a:latin typeface="Arial" panose="020B0604020202020204" pitchFamily="34" charset="0"/>
              <a:ea typeface="黑体-简" panose="02000000000000000000" charset="-122"/>
              <a:cs typeface="微软雅黑" panose="020B0503020204020204" charset="-122"/>
              <a:sym typeface="微软雅黑" panose="020B0503020204020204" charset="-122"/>
            </a:endParaRPr>
          </a:p>
        </p:txBody>
      </p:sp>
      <p:sp>
        <p:nvSpPr>
          <p:cNvPr id="29" name="椭圆 28"/>
          <p:cNvSpPr/>
          <p:nvPr>
            <p:custDataLst>
              <p:tags r:id="rId14"/>
            </p:custDataLst>
          </p:nvPr>
        </p:nvSpPr>
        <p:spPr>
          <a:xfrm>
            <a:off x="5830131" y="2405368"/>
            <a:ext cx="500354" cy="500354"/>
          </a:xfrm>
          <a:prstGeom prst="ellipse">
            <a:avLst/>
          </a:prstGeom>
          <a:solidFill>
            <a:schemeClr val="accent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pic>
        <p:nvPicPr>
          <p:cNvPr id="30" name="2" descr="盾牌"/>
          <p:cNvPicPr>
            <a:picLocks noChangeAspect="1"/>
          </p:cNvPicPr>
          <p:nvPr>
            <p:custDataLst>
              <p:tags r:id="rId15"/>
            </p:custDataLst>
          </p:nvPr>
        </p:nvPicPr>
        <p:blipFill>
          <a:blip r:embed="rId16">
            <a:extLst>
              <a:ext uri="{96DAC541-7B7A-43D3-8B79-37D633B846F1}">
                <asvg:svgBlip xmlns:asvg="http://schemas.microsoft.com/office/drawing/2016/SVG/main" r:embed="rId17"/>
              </a:ext>
            </a:extLst>
          </a:blip>
          <a:srcRect/>
          <a:stretch>
            <a:fillRect/>
          </a:stretch>
        </p:blipFill>
        <p:spPr>
          <a:xfrm>
            <a:off x="5939937" y="2514042"/>
            <a:ext cx="280741" cy="280741"/>
          </a:xfrm>
          <a:prstGeom prst="rect">
            <a:avLst/>
          </a:prstGeom>
        </p:spPr>
      </p:pic>
      <p:sp>
        <p:nvSpPr>
          <p:cNvPr id="31" name="正文"/>
          <p:cNvSpPr txBox="1"/>
          <p:nvPr>
            <p:custDataLst>
              <p:tags r:id="rId18"/>
            </p:custDataLst>
          </p:nvPr>
        </p:nvSpPr>
        <p:spPr>
          <a:xfrm>
            <a:off x="1421185" y="3309196"/>
            <a:ext cx="2086316" cy="315268"/>
          </a:xfrm>
          <a:prstGeom prst="rect">
            <a:avLst/>
          </a:prstGeom>
          <a:noFill/>
        </p:spPr>
        <p:txBody>
          <a:bodyPr wrap="square" lIns="0" tIns="0" rIns="0" bIns="0" rtlCol="0" anchor="b" anchorCtr="0">
            <a:noAutofit/>
          </a:bodyPr>
          <a:p>
            <a:pPr indent="0" algn="ctr" fontAlgn="auto">
              <a:lnSpc>
                <a:spcPct val="130000"/>
              </a:lnSpc>
            </a:pPr>
            <a:r>
              <a:rPr lang="zh-CN" altLang="en-US" sz="1500" b="1" spc="150" dirty="0">
                <a:solidFill>
                  <a:schemeClr val="accent5"/>
                </a:solidFill>
                <a:latin typeface="Arial" panose="020B0604020202020204" pitchFamily="34" charset="0"/>
                <a:ea typeface="黑体-简" panose="02000000000000000000" charset="-122"/>
                <a:cs typeface="微软雅黑" panose="020B0503020204020204" charset="-122"/>
                <a:sym typeface="+mn-ea"/>
              </a:rPr>
              <a:t>安全考核与通报应对</a:t>
            </a:r>
            <a:endParaRPr lang="zh-CN" altLang="en-US" sz="1500" b="1" spc="150" dirty="0">
              <a:solidFill>
                <a:schemeClr val="accent5"/>
              </a:solidFill>
              <a:latin typeface="Arial" panose="020B0604020202020204" pitchFamily="34" charset="0"/>
              <a:ea typeface="黑体-简" panose="02000000000000000000" charset="-122"/>
              <a:cs typeface="微软雅黑" panose="020B0503020204020204" charset="-122"/>
              <a:sym typeface="+mn-ea"/>
            </a:endParaRPr>
          </a:p>
        </p:txBody>
      </p:sp>
      <p:sp>
        <p:nvSpPr>
          <p:cNvPr id="32" name="正文"/>
          <p:cNvSpPr txBox="1"/>
          <p:nvPr>
            <p:custDataLst>
              <p:tags r:id="rId19"/>
            </p:custDataLst>
          </p:nvPr>
        </p:nvSpPr>
        <p:spPr>
          <a:xfrm>
            <a:off x="984885" y="3949065"/>
            <a:ext cx="2988310" cy="1845945"/>
          </a:xfrm>
          <a:prstGeom prst="rect">
            <a:avLst/>
          </a:prstGeom>
          <a:noFill/>
        </p:spPr>
        <p:txBody>
          <a:bodyPr wrap="square" lIns="0" tIns="0" rIns="0" bIns="0" rtlCol="0" anchor="t" anchorCtr="0">
            <a:noAutofit/>
          </a:bodyPr>
          <a:p>
            <a:pPr lvl="0" indent="0" algn="l">
              <a:lnSpc>
                <a:spcPct val="130000"/>
              </a:lnSpc>
              <a:buClrTx/>
              <a:buSzTx/>
              <a:buFont typeface="Wingdings" panose="05000000000000000000" charset="0"/>
              <a:buNone/>
            </a:pPr>
            <a:r>
              <a:rPr lang="zh-CN" altLang="en-US" sz="1200" b="1" kern="0" dirty="0">
                <a:ln>
                  <a:noFill/>
                  <a:prstDash val="sysDot"/>
                </a:ln>
                <a:solidFill>
                  <a:schemeClr val="tx1">
                    <a:lumMod val="85000"/>
                    <a:lumOff val="15000"/>
                  </a:schemeClr>
                </a:solidFill>
                <a:uFillTx/>
                <a:latin typeface="Heiti SC Medium" panose="02000000000000000000" charset="-122"/>
                <a:ea typeface="Heiti SC Medium" panose="02000000000000000000" charset="-122"/>
                <a:cs typeface="微软雅黑" panose="020B0503020204020204" charset="-122"/>
                <a:sym typeface="+mn-ea"/>
              </a:rPr>
              <a:t>持续降低被通报风险，高效响应被通报问题</a:t>
            </a:r>
            <a:endParaRPr lang="zh-CN" altLang="en-US" sz="1200" b="1" kern="0" dirty="0">
              <a:ln>
                <a:noFill/>
                <a:prstDash val="sysDot"/>
              </a:ln>
              <a:solidFill>
                <a:schemeClr val="tx1">
                  <a:lumMod val="85000"/>
                  <a:lumOff val="15000"/>
                </a:schemeClr>
              </a:solidFill>
              <a:uFillTx/>
              <a:latin typeface="Heiti SC Medium" panose="02000000000000000000" charset="-122"/>
              <a:ea typeface="Heiti SC Medium" panose="02000000000000000000" charset="-122"/>
              <a:cs typeface="微软雅黑" panose="020B0503020204020204" charset="-122"/>
              <a:sym typeface="+mn-ea"/>
            </a:endParaRPr>
          </a:p>
          <a:p>
            <a:pPr lvl="0" indent="0" algn="l">
              <a:lnSpc>
                <a:spcPct val="130000"/>
              </a:lnSpc>
              <a:buClrTx/>
              <a:buSzTx/>
              <a:buFont typeface="Wingdings" panose="05000000000000000000" charset="0"/>
              <a:buNone/>
            </a:pPr>
            <a:endParaRPr lang="zh-CN" altLang="en-US" sz="1200" b="1" kern="0" dirty="0">
              <a:ln>
                <a:noFill/>
                <a:prstDash val="sysDot"/>
              </a:ln>
              <a:solidFill>
                <a:schemeClr val="tx1">
                  <a:lumMod val="85000"/>
                  <a:lumOff val="15000"/>
                </a:schemeClr>
              </a:solidFill>
              <a:uFillTx/>
              <a:latin typeface="Heiti SC Medium" panose="02000000000000000000" charset="-122"/>
              <a:ea typeface="Heiti SC Medium" panose="02000000000000000000" charset="-122"/>
              <a:cs typeface="微软雅黑" panose="020B0503020204020204" charset="-122"/>
              <a:sym typeface="+mn-ea"/>
            </a:endParaRPr>
          </a:p>
          <a:p>
            <a:pPr marL="0" indent="0" algn="l">
              <a:buNone/>
            </a:pPr>
            <a:r>
              <a:rPr lang="en-US" altLang="zh-CN" sz="1200" dirty="0">
                <a:latin typeface="Heiti SC Light" panose="02000000000000000000" charset="-122"/>
                <a:ea typeface="Heiti SC Light" panose="02000000000000000000" charset="-122"/>
                <a:cs typeface="Heiti SC Light" panose="02000000000000000000" charset="-122"/>
                <a:sym typeface="+mn-ea"/>
              </a:rPr>
              <a:t>1</a:t>
            </a:r>
            <a:r>
              <a:rPr lang="zh-CN" altLang="en-US" sz="1200" dirty="0">
                <a:latin typeface="Heiti SC Light" panose="02000000000000000000" charset="-122"/>
                <a:ea typeface="Heiti SC Light" panose="02000000000000000000" charset="-122"/>
                <a:cs typeface="Heiti SC Light" panose="02000000000000000000" charset="-122"/>
                <a:sym typeface="+mn-ea"/>
              </a:rPr>
              <a:t>、互联网资产两高一弱等潜在被通报风险能够主动发现并持续收敛；</a:t>
            </a:r>
            <a:endParaRPr lang="zh-CN" altLang="en-US" sz="12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a:p>
            <a:pPr marL="0" indent="0" algn="l">
              <a:buNone/>
            </a:pPr>
            <a:r>
              <a:rPr lang="en-US" altLang="zh-CN" sz="1200" dirty="0">
                <a:latin typeface="Heiti SC Light" panose="02000000000000000000" charset="-122"/>
                <a:ea typeface="Heiti SC Light" panose="02000000000000000000" charset="-122"/>
                <a:cs typeface="Heiti SC Light" panose="02000000000000000000" charset="-122"/>
                <a:sym typeface="+mn-ea"/>
              </a:rPr>
              <a:t>2</a:t>
            </a:r>
            <a:r>
              <a:rPr lang="zh-CN" altLang="en-US" sz="1200" dirty="0">
                <a:latin typeface="Heiti SC Light" panose="02000000000000000000" charset="-122"/>
                <a:ea typeface="Heiti SC Light" panose="02000000000000000000" charset="-122"/>
                <a:cs typeface="Heiti SC Light" panose="02000000000000000000" charset="-122"/>
                <a:sym typeface="+mn-ea"/>
              </a:rPr>
              <a:t>、恶意外联类问题构建自主发现能力，有效减少被监管通报的概率；</a:t>
            </a:r>
            <a:endParaRPr lang="zh-CN" altLang="en-US" sz="12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a:p>
            <a:pPr marL="0" indent="0" algn="l">
              <a:buNone/>
            </a:pPr>
            <a:r>
              <a:rPr lang="en-US" altLang="zh-CN" sz="1200" dirty="0">
                <a:latin typeface="Heiti SC Light" panose="02000000000000000000" charset="-122"/>
                <a:ea typeface="Heiti SC Light" panose="02000000000000000000" charset="-122"/>
                <a:cs typeface="Heiti SC Light" panose="02000000000000000000" charset="-122"/>
                <a:sym typeface="+mn-ea"/>
              </a:rPr>
              <a:t>3</a:t>
            </a:r>
            <a:r>
              <a:rPr lang="zh-CN" altLang="en-US" sz="1200" dirty="0">
                <a:latin typeface="Heiti SC Light" panose="02000000000000000000" charset="-122"/>
                <a:ea typeface="Heiti SC Light" panose="02000000000000000000" charset="-122"/>
                <a:cs typeface="Heiti SC Light" panose="02000000000000000000" charset="-122"/>
                <a:sym typeface="+mn-ea"/>
              </a:rPr>
              <a:t>、被通报问题的有效排查和响应回函不超过48</a:t>
            </a:r>
            <a:r>
              <a:rPr lang="en-US" altLang="zh-CN" sz="1200" dirty="0">
                <a:latin typeface="Heiti SC Light" panose="02000000000000000000" charset="-122"/>
                <a:ea typeface="Heiti SC Light" panose="02000000000000000000" charset="-122"/>
                <a:cs typeface="Heiti SC Light" panose="02000000000000000000" charset="-122"/>
                <a:sym typeface="+mn-ea"/>
              </a:rPr>
              <a:t>H。</a:t>
            </a:r>
            <a:endParaRPr lang="en-US" altLang="zh-CN" sz="12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a:p>
            <a:pPr lvl="0" indent="0" algn="ctr">
              <a:lnSpc>
                <a:spcPct val="130000"/>
              </a:lnSpc>
              <a:buClrTx/>
              <a:buSzTx/>
              <a:buFont typeface="Wingdings" panose="05000000000000000000" charset="0"/>
              <a:buNone/>
            </a:pPr>
            <a:endParaRPr lang="zh-CN" altLang="en-US" sz="1200" kern="0" dirty="0">
              <a:ln>
                <a:noFill/>
                <a:prstDash val="sysDot"/>
              </a:ln>
              <a:solidFill>
                <a:schemeClr val="tx1">
                  <a:lumMod val="85000"/>
                  <a:lumOff val="15000"/>
                </a:schemeClr>
              </a:solidFill>
              <a:uFillTx/>
              <a:latin typeface="Heiti SC Light" panose="02000000000000000000" charset="-122"/>
              <a:ea typeface="Heiti SC Light" panose="02000000000000000000" charset="-122"/>
              <a:cs typeface="Heiti SC Light" panose="02000000000000000000" charset="-122"/>
              <a:sym typeface="+mn-ea"/>
            </a:endParaRPr>
          </a:p>
        </p:txBody>
      </p:sp>
      <p:sp>
        <p:nvSpPr>
          <p:cNvPr id="33" name="椭圆 32"/>
          <p:cNvSpPr/>
          <p:nvPr>
            <p:custDataLst>
              <p:tags r:id="rId20"/>
            </p:custDataLst>
          </p:nvPr>
        </p:nvSpPr>
        <p:spPr>
          <a:xfrm>
            <a:off x="2214166" y="2696503"/>
            <a:ext cx="500354" cy="500354"/>
          </a:xfrm>
          <a:prstGeom prst="ellipse">
            <a:avLst/>
          </a:prstGeom>
          <a:solidFill>
            <a:schemeClr val="accent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pic>
        <p:nvPicPr>
          <p:cNvPr id="34" name="1" descr="审核"/>
          <p:cNvPicPr>
            <a:picLocks noChangeAspect="1"/>
          </p:cNvPicPr>
          <p:nvPr>
            <p:custDataLst>
              <p:tags r:id="rId21"/>
            </p:custDataLst>
          </p:nvPr>
        </p:nvPicPr>
        <p:blipFill>
          <a:blip r:embed="rId22">
            <a:extLst>
              <a:ext uri="{96DAC541-7B7A-43D3-8B79-37D633B846F1}">
                <asvg:svgBlip xmlns:asvg="http://schemas.microsoft.com/office/drawing/2016/SVG/main" r:embed="rId23"/>
              </a:ext>
            </a:extLst>
          </a:blip>
          <a:srcRect/>
          <a:stretch>
            <a:fillRect/>
          </a:stretch>
        </p:blipFill>
        <p:spPr>
          <a:xfrm>
            <a:off x="2327934" y="2802630"/>
            <a:ext cx="272817" cy="272817"/>
          </a:xfrm>
          <a:prstGeom prst="rect">
            <a:avLst/>
          </a:prstGeom>
        </p:spPr>
      </p:pic>
      <p:sp>
        <p:nvSpPr>
          <p:cNvPr id="35" name="矩形 34"/>
          <p:cNvSpPr/>
          <p:nvPr>
            <p:custDataLst>
              <p:tags r:id="rId24"/>
            </p:custDataLst>
          </p:nvPr>
        </p:nvSpPr>
        <p:spPr>
          <a:xfrm>
            <a:off x="8076633" y="2533003"/>
            <a:ext cx="3240000" cy="3560775"/>
          </a:xfrm>
          <a:prstGeom prst="rect">
            <a:avLst/>
          </a:prstGeom>
          <a:noFill/>
          <a:ln>
            <a:gradFill>
              <a:gsLst>
                <a:gs pos="100000">
                  <a:schemeClr val="accent5">
                    <a:lumMod val="5000"/>
                    <a:lumOff val="95000"/>
                    <a:alpha val="0"/>
                  </a:schemeClr>
                </a:gs>
                <a:gs pos="55000">
                  <a:schemeClr val="accent5">
                    <a:alpha val="25000"/>
                  </a:schemeClr>
                </a:gs>
              </a:gsLst>
              <a:lin ang="5400000" scaled="1"/>
            </a:gradFill>
          </a:ln>
          <a:effectLst>
            <a:outerShdw blurRad="114300" sx="101000" sy="101000" algn="ctr" rotWithShape="0">
              <a:schemeClr val="accent5">
                <a:alpha val="59000"/>
              </a:scheme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n>
                <a:noFill/>
              </a:ln>
              <a:solidFill>
                <a:schemeClr val="lt1"/>
              </a:solidFill>
              <a:sym typeface="+mn-ea"/>
            </a:endParaRPr>
          </a:p>
        </p:txBody>
      </p:sp>
      <p:sp>
        <p:nvSpPr>
          <p:cNvPr id="36" name="矩形 35"/>
          <p:cNvSpPr/>
          <p:nvPr>
            <p:custDataLst>
              <p:tags r:id="rId25"/>
            </p:custDataLst>
          </p:nvPr>
        </p:nvSpPr>
        <p:spPr>
          <a:xfrm>
            <a:off x="844343" y="2539988"/>
            <a:ext cx="3240000" cy="3560775"/>
          </a:xfrm>
          <a:prstGeom prst="rect">
            <a:avLst/>
          </a:prstGeom>
          <a:noFill/>
          <a:ln>
            <a:gradFill>
              <a:gsLst>
                <a:gs pos="100000">
                  <a:schemeClr val="accent5">
                    <a:lumMod val="5000"/>
                    <a:lumOff val="95000"/>
                    <a:alpha val="0"/>
                  </a:schemeClr>
                </a:gs>
                <a:gs pos="55000">
                  <a:schemeClr val="accent5">
                    <a:alpha val="25000"/>
                  </a:schemeClr>
                </a:gs>
              </a:gsLst>
              <a:lin ang="5400000" scaled="1"/>
            </a:gradFill>
          </a:ln>
          <a:effectLst>
            <a:outerShdw blurRad="114300" sx="101000" sy="101000" algn="ctr" rotWithShape="0">
              <a:schemeClr val="accent5">
                <a:alpha val="59000"/>
              </a:scheme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n>
                <a:noFill/>
              </a:ln>
              <a:solidFill>
                <a:schemeClr val="lt1"/>
              </a:solidFill>
              <a:sym typeface="+mn-ea"/>
            </a:endParaRPr>
          </a:p>
        </p:txBody>
      </p:sp>
      <p:sp>
        <p:nvSpPr>
          <p:cNvPr id="37" name="圆角矩形 36"/>
          <p:cNvSpPr/>
          <p:nvPr>
            <p:custDataLst>
              <p:tags r:id="rId26"/>
            </p:custDataLst>
          </p:nvPr>
        </p:nvSpPr>
        <p:spPr>
          <a:xfrm>
            <a:off x="669608" y="1215390"/>
            <a:ext cx="10800000" cy="865505"/>
          </a:xfrm>
          <a:prstGeom prst="roundRect">
            <a:avLst>
              <a:gd name="adj" fmla="val 11225"/>
            </a:avLst>
          </a:prstGeom>
          <a:solidFill>
            <a:schemeClr val="accent5">
              <a:lumMod val="40000"/>
              <a:lumOff val="60000"/>
            </a:schemeClr>
          </a:solidFill>
          <a:ln>
            <a:noFill/>
          </a:ln>
          <a:effectLst>
            <a:outerShdw blurRad="114300" dist="88900" dir="2700000" algn="tl" rotWithShape="0">
              <a:schemeClr val="accent5">
                <a:lumMod val="75000"/>
                <a:alpha val="15000"/>
              </a:scheme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lnSpc>
                <a:spcPct val="140000"/>
              </a:lnSpc>
              <a:buClrTx/>
              <a:buSzTx/>
              <a:buFontTx/>
            </a:pPr>
            <a:r>
              <a:rPr lang="zh-CN" altLang="en-US" sz="1400" b="1">
                <a:solidFill>
                  <a:schemeClr val="tx1"/>
                </a:solidFill>
                <a:uFillTx/>
                <a:latin typeface="Arial" panose="020B0604020202020204" pitchFamily="34" charset="0"/>
                <a:ea typeface="黑体-简" panose="02000000000000000000" charset="-122"/>
                <a:sym typeface="+mn-ea"/>
              </a:rPr>
              <a:t>在国家及行业网络安全安全实战效果要求越来越高，外部网络安全态势愈加严峻多变的时代背景下。为</a:t>
            </a:r>
            <a:r>
              <a:rPr lang="zh-CN" altLang="en-US" sz="1400" b="1">
                <a:solidFill>
                  <a:schemeClr val="tx1"/>
                </a:solidFill>
                <a:uFillTx/>
                <a:latin typeface="Arial" panose="020B0604020202020204" pitchFamily="34" charset="0"/>
                <a:ea typeface="黑体-简" panose="02000000000000000000" charset="-122"/>
                <a:sym typeface="+mn-ea"/>
              </a:rPr>
              <a:t>{{company}}</a:t>
            </a:r>
            <a:r>
              <a:rPr lang="zh-CN" altLang="en-US" sz="1400" b="1">
                <a:solidFill>
                  <a:schemeClr val="tx1"/>
                </a:solidFill>
                <a:uFillTx/>
                <a:latin typeface="Arial" panose="020B0604020202020204" pitchFamily="34" charset="0"/>
                <a:ea typeface="黑体-简" panose="02000000000000000000" charset="-122"/>
                <a:sym typeface="+mn-ea"/>
              </a:rPr>
              <a:t>共同构建起以保护核心业务系统安全稳定运行为中心的主动防御、持续监测、快速响应的全面安全运营体系，为</a:t>
            </a:r>
            <a:r>
              <a:rPr lang="zh-CN" altLang="en-US" sz="1400" b="1">
                <a:solidFill>
                  <a:schemeClr val="tx1"/>
                </a:solidFill>
                <a:uFillTx/>
                <a:latin typeface="Arial" panose="020B0604020202020204" pitchFamily="34" charset="0"/>
                <a:ea typeface="黑体-简" panose="02000000000000000000" charset="-122"/>
                <a:sym typeface="+mn-ea"/>
              </a:rPr>
              <a:t>为{{company}}</a:t>
            </a:r>
            <a:r>
              <a:rPr lang="zh-CN" altLang="en-US" sz="1400" b="1">
                <a:solidFill>
                  <a:schemeClr val="tx1"/>
                </a:solidFill>
                <a:uFillTx/>
                <a:latin typeface="Arial" panose="020B0604020202020204" pitchFamily="34" charset="0"/>
                <a:ea typeface="黑体-简" panose="02000000000000000000" charset="-122"/>
                <a:sym typeface="+mn-ea"/>
              </a:rPr>
              <a:t>的数字化转型保驾护航。</a:t>
            </a:r>
            <a:endParaRPr lang="zh-CN" altLang="en-US" sz="1400" b="1">
              <a:solidFill>
                <a:schemeClr val="tx1"/>
              </a:solidFill>
              <a:uFillTx/>
              <a:latin typeface="Arial" panose="020B0604020202020204" pitchFamily="34" charset="0"/>
              <a:ea typeface="黑体-简" panose="02000000000000000000" charset="-122"/>
              <a:sym typeface="+mn-ea"/>
            </a:endParaRPr>
          </a:p>
        </p:txBody>
      </p:sp>
    </p:spTree>
    <p:custDataLst>
      <p:tags r:id="rId27"/>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3"/>
          <p:cNvSpPr/>
          <p:nvPr/>
        </p:nvSpPr>
        <p:spPr>
          <a:xfrm>
            <a:off x="10363200" y="219456"/>
            <a:ext cx="1463040" cy="609600"/>
          </a:xfrm>
          <a:prstGeom prst="roundRect">
            <a:avLst>
              <a:gd name="adj" fmla="val 10000"/>
            </a:avLst>
          </a:prstGeom>
          <a:solidFill>
            <a:srgbClr val="FFFFFF">
              <a:alpha val="15000"/>
            </a:srgbClr>
          </a:solidFill>
        </p:spPr>
      </p:sp>
      <p:sp>
        <p:nvSpPr>
          <p:cNvPr id="6" name="Text 4"/>
          <p:cNvSpPr/>
          <p:nvPr/>
        </p:nvSpPr>
        <p:spPr>
          <a:xfrm>
            <a:off x="10363200" y="219456"/>
            <a:ext cx="1463040" cy="609600"/>
          </a:xfrm>
          <a:prstGeom prst="rect">
            <a:avLst/>
          </a:prstGeom>
          <a:noFill/>
        </p:spPr>
        <p:txBody>
          <a:bodyPr wrap="square" lIns="0" tIns="0" rIns="0" bIns="0" rtlCol="0" anchor="ctr"/>
          <a:lstStyle/>
          <a:p>
            <a:pPr marL="0" indent="0" algn="ctr">
              <a:buNone/>
            </a:pPr>
            <a:r>
              <a:rPr lang="en-US" sz="1335" dirty="0">
                <a:solidFill>
                  <a:srgbClr val="FFFFFF"/>
                </a:solidFill>
                <a:latin typeface="微软雅黑" panose="020B0503020204020204" charset="-122"/>
                <a:ea typeface="微软雅黑" panose="020B0503020204020204" charset="-122"/>
                <a:cs typeface="微软雅黑" panose="020B0503020204020204" pitchFamily="34" charset="-120"/>
              </a:rPr>
              <a:t>深信服</a:t>
            </a:r>
            <a:endParaRPr lang="en-US" sz="1335" dirty="0"/>
          </a:p>
        </p:txBody>
      </p:sp>
      <p:sp>
        <p:nvSpPr>
          <p:cNvPr id="88" name="Shape 86"/>
          <p:cNvSpPr/>
          <p:nvPr/>
        </p:nvSpPr>
        <p:spPr>
          <a:xfrm>
            <a:off x="0" y="6339840"/>
            <a:ext cx="12192000" cy="609600"/>
          </a:xfrm>
          <a:prstGeom prst="rect">
            <a:avLst/>
          </a:prstGeom>
          <a:solidFill>
            <a:srgbClr val="F8FAFC"/>
          </a:solidFill>
        </p:spPr>
      </p:sp>
      <p:sp>
        <p:nvSpPr>
          <p:cNvPr id="89" name="Text 87"/>
          <p:cNvSpPr/>
          <p:nvPr/>
        </p:nvSpPr>
        <p:spPr>
          <a:xfrm>
            <a:off x="365760" y="6363970"/>
            <a:ext cx="11638280" cy="267970"/>
          </a:xfrm>
          <a:prstGeom prst="rect">
            <a:avLst/>
          </a:prstGeom>
          <a:noFill/>
        </p:spPr>
        <p:txBody>
          <a:bodyPr wrap="square" lIns="0" tIns="0" rIns="0" bIns="0" rtlCol="0" anchor="ctr"/>
          <a:lstStyle/>
          <a:p>
            <a:pPr marL="0" indent="0">
              <a:buNone/>
            </a:pPr>
            <a:r>
              <a:rPr lang="en-US" sz="1065" b="1" dirty="0">
                <a:solidFill>
                  <a:srgbClr val="1A3A5C"/>
                </a:solidFill>
                <a:latin typeface="微软雅黑" panose="020B0503020204020204" charset="-122"/>
                <a:ea typeface="微软雅黑" panose="020B0503020204020204" charset="-122"/>
                <a:cs typeface="微软雅黑" panose="020B0503020204020204" pitchFamily="34" charset="-120"/>
              </a:rPr>
              <a:t>⚙ 分工逻辑：</a:t>
            </a:r>
            <a:r>
              <a:rPr lang="en-US" sz="1065" b="1" dirty="0">
                <a:solidFill>
                  <a:srgbClr val="2563EB"/>
                </a:solidFill>
                <a:latin typeface="微软雅黑" panose="020B0503020204020204" charset="-122"/>
                <a:ea typeface="微软雅黑" panose="020B0503020204020204" charset="-122"/>
                <a:cs typeface="微软雅黑" panose="020B0503020204020204" pitchFamily="34" charset="-120"/>
                <a:sym typeface="+mn-ea"/>
              </a:rPr>
              <a:t>深信服</a:t>
            </a:r>
            <a:r>
              <a:rPr lang="en-US" sz="1065" dirty="0">
                <a:solidFill>
                  <a:srgbClr val="64748B"/>
                </a:solidFill>
                <a:latin typeface="微软雅黑" panose="020B0503020204020204" charset="-122"/>
                <a:ea typeface="微软雅黑" panose="020B0503020204020204" charset="-122"/>
                <a:cs typeface="微软雅黑" panose="020B0503020204020204" pitchFamily="34" charset="-120"/>
                <a:sym typeface="+mn-ea"/>
              </a:rPr>
              <a:t>提供技术底座与7×24运营能力 · </a:t>
            </a:r>
            <a:r>
              <a:rPr lang="en-US" sz="1065" b="1" dirty="0">
                <a:solidFill>
                  <a:srgbClr val="D97706"/>
                </a:solidFill>
                <a:latin typeface="微软雅黑" panose="020B0503020204020204" charset="-122"/>
                <a:ea typeface="微软雅黑" panose="020B0503020204020204" charset="-122"/>
                <a:cs typeface="微软雅黑" panose="020B0503020204020204" pitchFamily="34" charset="-120"/>
                <a:sym typeface="+mn-ea"/>
              </a:rPr>
              <a:t>渠道</a:t>
            </a:r>
            <a:r>
              <a:rPr lang="en-US" sz="1065" dirty="0">
                <a:solidFill>
                  <a:srgbClr val="64748B"/>
                </a:solidFill>
                <a:latin typeface="微软雅黑" panose="020B0503020204020204" charset="-122"/>
                <a:ea typeface="微软雅黑" panose="020B0503020204020204" charset="-122"/>
                <a:cs typeface="微软雅黑" panose="020B0503020204020204" pitchFamily="34" charset="-120"/>
                <a:sym typeface="+mn-ea"/>
              </a:rPr>
              <a:t>负责本地化</a:t>
            </a:r>
            <a:r>
              <a:rPr lang="zh-CN" altLang="en-US" sz="1065" dirty="0">
                <a:solidFill>
                  <a:srgbClr val="64748B"/>
                </a:solidFill>
                <a:latin typeface="微软雅黑" panose="020B0503020204020204" charset="-122"/>
                <a:ea typeface="微软雅黑" panose="020B0503020204020204" charset="-122"/>
                <a:cs typeface="微软雅黑" panose="020B0503020204020204" pitchFamily="34" charset="-120"/>
                <a:sym typeface="+mn-ea"/>
              </a:rPr>
              <a:t>运维</a:t>
            </a:r>
            <a:r>
              <a:rPr lang="en-US" sz="1065" dirty="0">
                <a:solidFill>
                  <a:srgbClr val="64748B"/>
                </a:solidFill>
                <a:latin typeface="微软雅黑" panose="020B0503020204020204" charset="-122"/>
                <a:ea typeface="微软雅黑" panose="020B0503020204020204" charset="-122"/>
                <a:cs typeface="微软雅黑" panose="020B0503020204020204" pitchFamily="34" charset="-120"/>
                <a:sym typeface="+mn-ea"/>
              </a:rPr>
              <a:t>与现场支撑 · </a:t>
            </a:r>
            <a:r>
              <a:rPr lang="en-US" sz="1065" b="1" dirty="0">
                <a:solidFill>
                  <a:srgbClr val="059669"/>
                </a:solidFill>
                <a:latin typeface="微软雅黑" panose="020B0503020204020204" charset="-122"/>
                <a:ea typeface="微软雅黑" panose="020B0503020204020204" charset="-122"/>
                <a:cs typeface="微软雅黑" panose="020B0503020204020204" pitchFamily="34" charset="-120"/>
                <a:sym typeface="+mn-ea"/>
              </a:rPr>
              <a:t>客户</a:t>
            </a:r>
            <a:r>
              <a:rPr lang="en-US" sz="1065" dirty="0">
                <a:solidFill>
                  <a:srgbClr val="64748B"/>
                </a:solidFill>
                <a:latin typeface="微软雅黑" panose="020B0503020204020204" charset="-122"/>
                <a:ea typeface="微软雅黑" panose="020B0503020204020204" charset="-122"/>
                <a:cs typeface="微软雅黑" panose="020B0503020204020204" pitchFamily="34" charset="-120"/>
                <a:sym typeface="+mn-ea"/>
              </a:rPr>
              <a:t>承担决策确认</a:t>
            </a:r>
            <a:r>
              <a:rPr lang="zh-CN" altLang="en-US" sz="1065" dirty="0">
                <a:solidFill>
                  <a:srgbClr val="64748B"/>
                </a:solidFill>
                <a:latin typeface="微软雅黑" panose="020B0503020204020204" charset="-122"/>
                <a:ea typeface="微软雅黑" panose="020B0503020204020204" charset="-122"/>
                <a:cs typeface="微软雅黑" panose="020B0503020204020204" pitchFamily="34" charset="-120"/>
                <a:sym typeface="+mn-ea"/>
              </a:rPr>
              <a:t>与内部</a:t>
            </a:r>
            <a:r>
              <a:rPr lang="en-US" sz="1065" dirty="0">
                <a:solidFill>
                  <a:srgbClr val="64748B"/>
                </a:solidFill>
                <a:latin typeface="微软雅黑" panose="020B0503020204020204" charset="-122"/>
                <a:ea typeface="微软雅黑" panose="020B0503020204020204" charset="-122"/>
                <a:cs typeface="微软雅黑" panose="020B0503020204020204" pitchFamily="34" charset="-120"/>
                <a:sym typeface="+mn-ea"/>
              </a:rPr>
              <a:t>协调</a:t>
            </a:r>
            <a:endParaRPr lang="en-US" sz="1065" dirty="0"/>
          </a:p>
        </p:txBody>
      </p:sp>
      <p:sp>
        <p:nvSpPr>
          <p:cNvPr id="91" name="Text 89"/>
          <p:cNvSpPr/>
          <p:nvPr/>
        </p:nvSpPr>
        <p:spPr>
          <a:xfrm>
            <a:off x="365760" y="6656832"/>
            <a:ext cx="10972800" cy="243840"/>
          </a:xfrm>
          <a:prstGeom prst="rect">
            <a:avLst/>
          </a:prstGeom>
          <a:noFill/>
        </p:spPr>
        <p:txBody>
          <a:bodyPr wrap="square" lIns="0" tIns="0" rIns="0" bIns="0" rtlCol="0" anchor="ctr"/>
          <a:lstStyle/>
          <a:p>
            <a:pPr marL="0" indent="0">
              <a:buNone/>
            </a:pPr>
            <a:r>
              <a:rPr lang="en-US" sz="1065" dirty="0">
                <a:solidFill>
                  <a:srgbClr val="000000"/>
                </a:solidFill>
                <a:latin typeface="微软雅黑" panose="020B0503020204020204" charset="-122"/>
                <a:ea typeface="微软雅黑" panose="020B0503020204020204" charset="-122"/>
                <a:cs typeface="微软雅黑" panose="020B0503020204020204" pitchFamily="34" charset="-120"/>
              </a:rPr>
              <a:t>✅ </a:t>
            </a:r>
            <a:r>
              <a:rPr lang="en-US" sz="1065" dirty="0">
                <a:solidFill>
                  <a:srgbClr val="64748B"/>
                </a:solidFill>
                <a:latin typeface="微软雅黑" panose="020B0503020204020204" charset="-122"/>
                <a:ea typeface="微软雅黑" panose="020B0503020204020204" charset="-122"/>
                <a:cs typeface="微软雅黑" panose="020B0503020204020204" pitchFamily="34" charset="-120"/>
              </a:rPr>
              <a:t>职责无重叠、无盲区：技术能力（深信服）+ 现场交付（渠道）+ 资源决策（客户）形成完整闭环</a:t>
            </a:r>
            <a:endParaRPr lang="en-US" sz="1065" dirty="0"/>
          </a:p>
        </p:txBody>
      </p:sp>
      <p:grpSp>
        <p:nvGrpSpPr>
          <p:cNvPr id="9" name="组合 8"/>
          <p:cNvGrpSpPr/>
          <p:nvPr/>
        </p:nvGrpSpPr>
        <p:grpSpPr>
          <a:xfrm>
            <a:off x="224790" y="289878"/>
            <a:ext cx="4462780" cy="327025"/>
            <a:chOff x="533" y="646"/>
            <a:chExt cx="7028" cy="515"/>
          </a:xfrm>
        </p:grpSpPr>
        <p:grpSp>
          <p:nvGrpSpPr>
            <p:cNvPr id="10" name="组合 9"/>
            <p:cNvGrpSpPr/>
            <p:nvPr/>
          </p:nvGrpSpPr>
          <p:grpSpPr>
            <a:xfrm rot="0">
              <a:off x="533" y="672"/>
              <a:ext cx="582" cy="420"/>
              <a:chOff x="533" y="672"/>
              <a:chExt cx="582" cy="420"/>
            </a:xfrm>
          </p:grpSpPr>
          <p:sp>
            <p:nvSpPr>
              <p:cNvPr id="11" name="燕尾形 86"/>
              <p:cNvSpPr/>
              <p:nvPr>
                <p:custDataLst>
                  <p:tags r:id="rId1"/>
                </p:custDataLst>
              </p:nvPr>
            </p:nvSpPr>
            <p:spPr>
              <a:xfrm>
                <a:off x="533" y="672"/>
                <a:ext cx="326" cy="421"/>
              </a:xfrm>
              <a:prstGeom prst="chevron">
                <a:avLst>
                  <a:gd name="adj" fmla="val 50000"/>
                </a:avLst>
              </a:prstGeom>
              <a:gradFill>
                <a:gsLst>
                  <a:gs pos="0">
                    <a:srgbClr val="006CD9">
                      <a:alpha val="100000"/>
                    </a:srgbClr>
                  </a:gs>
                  <a:gs pos="100000">
                    <a:srgbClr val="006CD9">
                      <a:alpha val="75000"/>
                    </a:srgbClr>
                  </a:gs>
                </a:gsLst>
                <a:lin ang="54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sp>
            <p:nvSpPr>
              <p:cNvPr id="12" name="燕尾形 103"/>
              <p:cNvSpPr/>
              <p:nvPr>
                <p:custDataLst>
                  <p:tags r:id="rId2"/>
                </p:custDataLst>
              </p:nvPr>
            </p:nvSpPr>
            <p:spPr>
              <a:xfrm>
                <a:off x="789" y="672"/>
                <a:ext cx="326" cy="421"/>
              </a:xfrm>
              <a:prstGeom prst="chevron">
                <a:avLst>
                  <a:gd name="adj" fmla="val 50000"/>
                </a:avLst>
              </a:prstGeom>
              <a:gradFill>
                <a:gsLst>
                  <a:gs pos="0">
                    <a:srgbClr val="70AD47">
                      <a:alpha val="88000"/>
                    </a:srgbClr>
                  </a:gs>
                  <a:gs pos="100000">
                    <a:schemeClr val="accent6">
                      <a:lumMod val="85000"/>
                      <a:alpha val="63000"/>
                    </a:schemeClr>
                  </a:gs>
                </a:gsLst>
                <a:lin ang="162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grpSp>
        <p:sp>
          <p:nvSpPr>
            <p:cNvPr id="7" name="textbox 158"/>
            <p:cNvSpPr/>
            <p:nvPr/>
          </p:nvSpPr>
          <p:spPr>
            <a:xfrm>
              <a:off x="1345" y="646"/>
              <a:ext cx="6216" cy="515"/>
            </a:xfrm>
            <a:prstGeom prst="rect">
              <a:avLst/>
            </a:prstGeom>
            <a:noFill/>
            <a:ln w="0" cap="flat">
              <a:noFill/>
              <a:prstDash val="solid"/>
              <a:miter lim="0"/>
            </a:ln>
          </p:spPr>
          <p:txBody>
            <a:bodyPr vert="horz" wrap="square" lIns="0" tIns="0" rIns="0" bIns="0"/>
            <a:p>
              <a:pPr algn="l" rtl="0" eaLnBrk="0">
                <a:lnSpc>
                  <a:spcPct val="78000"/>
                </a:lnSpc>
              </a:pPr>
              <a:endParaRPr sz="100" dirty="0">
                <a:solidFill>
                  <a:schemeClr val="tx1">
                    <a:lumMod val="85000"/>
                    <a:lumOff val="15000"/>
                  </a:schemeClr>
                </a:solidFill>
                <a:latin typeface="Source Han Sans CN Medium" panose="020B0600000000000000" charset="-122"/>
                <a:ea typeface="Source Han Sans CN Medium" panose="020B0600000000000000" charset="-122"/>
                <a:cs typeface="Arial" panose="020B0604020202020204"/>
              </a:endParaRPr>
            </a:p>
            <a:p>
              <a:pPr algn="l" rtl="0" eaLnBrk="0">
                <a:lnSpc>
                  <a:spcPct val="101000"/>
                </a:lnSpc>
              </a:pPr>
              <a:r>
                <a:rPr lang="zh-CN" altLang="en-US" sz="1900" b="1" noProof="0" dirty="0">
                  <a:solidFill>
                    <a:schemeClr val="tx1">
                      <a:lumMod val="85000"/>
                      <a:lumOff val="15000"/>
                    </a:schemeClr>
                  </a:solidFill>
                  <a:uLnTx/>
                  <a:latin typeface="Source Han Sans CN Bold" panose="020B0600000000000000" charset="-122"/>
                  <a:ea typeface="Source Han Sans CN Bold" panose="020B0600000000000000" charset="-122"/>
                  <a:sym typeface="Calibri" panose="020F0502020204030204" charset="0"/>
                </a:rPr>
                <a:t>关键价值成果与分工协作</a:t>
              </a:r>
              <a:r>
                <a:rPr lang="zh-CN" altLang="en-US" sz="1900" b="1" noProof="0" dirty="0">
                  <a:solidFill>
                    <a:schemeClr val="tx1">
                      <a:lumMod val="85000"/>
                      <a:lumOff val="15000"/>
                    </a:schemeClr>
                  </a:solidFill>
                  <a:uLnTx/>
                  <a:latin typeface="Source Han Sans CN Bold" panose="020B0600000000000000" charset="-122"/>
                  <a:ea typeface="Source Han Sans CN Bold" panose="020B0600000000000000" charset="-122"/>
                  <a:sym typeface="Calibri" panose="020F0502020204030204" charset="0"/>
                </a:rPr>
                <a:t>机制</a:t>
              </a:r>
              <a:endParaRPr lang="zh-CN" altLang="en-US" sz="1900" b="1" noProof="0" dirty="0">
                <a:solidFill>
                  <a:schemeClr val="tx1">
                    <a:lumMod val="85000"/>
                    <a:lumOff val="15000"/>
                  </a:schemeClr>
                </a:solidFill>
                <a:uLnTx/>
                <a:latin typeface="Source Han Sans CN Bold" panose="020B0600000000000000" charset="-122"/>
                <a:ea typeface="Source Han Sans CN Bold" panose="020B0600000000000000" charset="-122"/>
                <a:sym typeface="Calibri" panose="020F0502020204030204" charset="0"/>
              </a:endParaRPr>
            </a:p>
          </p:txBody>
        </p:sp>
      </p:grpSp>
      <p:sp>
        <p:nvSpPr>
          <p:cNvPr id="95" name="Shape 11"/>
          <p:cNvSpPr/>
          <p:nvPr/>
        </p:nvSpPr>
        <p:spPr>
          <a:xfrm>
            <a:off x="304800" y="1102360"/>
            <a:ext cx="1404000" cy="548640"/>
          </a:xfrm>
          <a:prstGeom prst="rect">
            <a:avLst/>
          </a:prstGeom>
          <a:solidFill>
            <a:srgbClr val="1A3A5C"/>
          </a:solidFill>
        </p:spPr>
      </p:sp>
      <p:sp>
        <p:nvSpPr>
          <p:cNvPr id="96" name="Text 12"/>
          <p:cNvSpPr/>
          <p:nvPr/>
        </p:nvSpPr>
        <p:spPr>
          <a:xfrm>
            <a:off x="304800" y="1102360"/>
            <a:ext cx="1404000" cy="548640"/>
          </a:xfrm>
          <a:prstGeom prst="rect">
            <a:avLst/>
          </a:prstGeom>
          <a:noFill/>
        </p:spPr>
        <p:txBody>
          <a:bodyPr wrap="square" lIns="0" tIns="0" rIns="0" bIns="0" rtlCol="0" anchor="ctr"/>
          <a:lstStyle/>
          <a:p>
            <a:pPr marL="0" indent="0" algn="ctr">
              <a:buNone/>
            </a:pPr>
            <a:r>
              <a:rPr lang="zh-CN" alt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目标</a:t>
            </a:r>
            <a:r>
              <a:rPr lang="zh-CN" alt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项</a:t>
            </a:r>
            <a:endParaRPr lang="zh-CN" altLang="en-US" sz="1265" b="1" dirty="0">
              <a:solidFill>
                <a:srgbClr val="FFFFFF"/>
              </a:solidFill>
              <a:latin typeface="微软雅黑" panose="020B0503020204020204" charset="-122"/>
              <a:ea typeface="微软雅黑" panose="020B0503020204020204" charset="-122"/>
              <a:cs typeface="微软雅黑" panose="020B0503020204020204" pitchFamily="34" charset="-120"/>
            </a:endParaRPr>
          </a:p>
        </p:txBody>
      </p:sp>
      <p:sp>
        <p:nvSpPr>
          <p:cNvPr id="97" name="Shape 13"/>
          <p:cNvSpPr/>
          <p:nvPr/>
        </p:nvSpPr>
        <p:spPr>
          <a:xfrm>
            <a:off x="1706880" y="1102360"/>
            <a:ext cx="2682240" cy="548640"/>
          </a:xfrm>
          <a:prstGeom prst="rect">
            <a:avLst/>
          </a:prstGeom>
          <a:solidFill>
            <a:srgbClr val="1A3A5C"/>
          </a:solidFill>
        </p:spPr>
      </p:sp>
      <p:sp>
        <p:nvSpPr>
          <p:cNvPr id="98" name="Text 14"/>
          <p:cNvSpPr/>
          <p:nvPr/>
        </p:nvSpPr>
        <p:spPr>
          <a:xfrm>
            <a:off x="1706880" y="1102360"/>
            <a:ext cx="2682240" cy="548640"/>
          </a:xfrm>
          <a:prstGeom prst="rect">
            <a:avLst/>
          </a:prstGeom>
          <a:noFill/>
        </p:spPr>
        <p:txBody>
          <a:bodyPr wrap="square" lIns="0" tIns="0" rIns="0" bIns="0" rtlCol="0" anchor="ctr"/>
          <a:lstStyle/>
          <a:p>
            <a:pPr marL="0" indent="0" algn="ctr">
              <a:buNone/>
            </a:pPr>
            <a:r>
              <a:rPr 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关键</a:t>
            </a:r>
            <a:r>
              <a:rPr lang="zh-CN" alt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价值</a:t>
            </a:r>
            <a:r>
              <a:rPr lang="zh-CN" alt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成果</a:t>
            </a:r>
            <a:endParaRPr lang="zh-CN" altLang="en-US" sz="1265" b="1" dirty="0">
              <a:solidFill>
                <a:srgbClr val="FFFFFF"/>
              </a:solidFill>
              <a:latin typeface="微软雅黑" panose="020B0503020204020204" charset="-122"/>
              <a:ea typeface="微软雅黑" panose="020B0503020204020204" charset="-122"/>
              <a:cs typeface="微软雅黑" panose="020B0503020204020204" pitchFamily="34" charset="-120"/>
            </a:endParaRPr>
          </a:p>
        </p:txBody>
      </p:sp>
      <p:sp>
        <p:nvSpPr>
          <p:cNvPr id="99" name="Shape 15"/>
          <p:cNvSpPr/>
          <p:nvPr/>
        </p:nvSpPr>
        <p:spPr>
          <a:xfrm>
            <a:off x="4389120" y="1102360"/>
            <a:ext cx="3096000" cy="548640"/>
          </a:xfrm>
          <a:prstGeom prst="rect">
            <a:avLst/>
          </a:prstGeom>
          <a:solidFill>
            <a:srgbClr val="2563EB"/>
          </a:solidFill>
        </p:spPr>
      </p:sp>
      <p:sp>
        <p:nvSpPr>
          <p:cNvPr id="100" name="Text 16"/>
          <p:cNvSpPr/>
          <p:nvPr/>
        </p:nvSpPr>
        <p:spPr>
          <a:xfrm>
            <a:off x="4389120" y="1102360"/>
            <a:ext cx="2682240" cy="548640"/>
          </a:xfrm>
          <a:prstGeom prst="rect">
            <a:avLst/>
          </a:prstGeom>
          <a:noFill/>
        </p:spPr>
        <p:txBody>
          <a:bodyPr wrap="square" lIns="0" tIns="0" rIns="0" bIns="0" rtlCol="0" anchor="ctr"/>
          <a:lstStyle/>
          <a:p>
            <a:pPr marL="0" indent="0" algn="ctr">
              <a:buNone/>
            </a:pPr>
            <a:r>
              <a:rPr 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深信服做什么</a:t>
            </a:r>
            <a:endParaRPr lang="en-US" sz="1265" b="1" dirty="0">
              <a:solidFill>
                <a:srgbClr val="FFFFFF"/>
              </a:solidFill>
              <a:latin typeface="微软雅黑" panose="020B0503020204020204" charset="-122"/>
              <a:ea typeface="微软雅黑" panose="020B0503020204020204" charset="-122"/>
              <a:cs typeface="微软雅黑" panose="020B0503020204020204" pitchFamily="34" charset="-120"/>
            </a:endParaRPr>
          </a:p>
          <a:p>
            <a:pPr marL="0" indent="0" algn="ctr">
              <a:buNone/>
            </a:pPr>
            <a:r>
              <a:rPr lang="en-US" sz="1065" dirty="0">
                <a:solidFill>
                  <a:srgbClr val="FFFF00"/>
                </a:solidFill>
                <a:latin typeface="微软雅黑" panose="020B0503020204020204" charset="-122"/>
                <a:ea typeface="微软雅黑" panose="020B0503020204020204" charset="-122"/>
                <a:cs typeface="微软雅黑" panose="020B0503020204020204" pitchFamily="34" charset="-120"/>
                <a:sym typeface="+mn-ea"/>
              </a:rPr>
              <a:t>深信服（技术底座+运营服务）</a:t>
            </a:r>
            <a:endParaRPr lang="en-US" sz="1065" dirty="0">
              <a:solidFill>
                <a:srgbClr val="FFFF00"/>
              </a:solidFill>
              <a:latin typeface="微软雅黑" panose="020B0503020204020204" charset="-122"/>
              <a:ea typeface="微软雅黑" panose="020B0503020204020204" charset="-122"/>
              <a:cs typeface="微软雅黑" panose="020B0503020204020204" pitchFamily="34" charset="-120"/>
              <a:sym typeface="+mn-ea"/>
            </a:endParaRPr>
          </a:p>
        </p:txBody>
      </p:sp>
      <p:sp>
        <p:nvSpPr>
          <p:cNvPr id="101" name="Shape 17"/>
          <p:cNvSpPr/>
          <p:nvPr/>
        </p:nvSpPr>
        <p:spPr>
          <a:xfrm>
            <a:off x="7487920" y="1102360"/>
            <a:ext cx="2194560" cy="548640"/>
          </a:xfrm>
          <a:prstGeom prst="rect">
            <a:avLst/>
          </a:prstGeom>
          <a:solidFill>
            <a:srgbClr val="D97706"/>
          </a:solidFill>
        </p:spPr>
      </p:sp>
      <p:sp>
        <p:nvSpPr>
          <p:cNvPr id="102" name="Text 18"/>
          <p:cNvSpPr/>
          <p:nvPr/>
        </p:nvSpPr>
        <p:spPr>
          <a:xfrm>
            <a:off x="7487920" y="1102360"/>
            <a:ext cx="2194560" cy="548640"/>
          </a:xfrm>
          <a:prstGeom prst="rect">
            <a:avLst/>
          </a:prstGeom>
          <a:noFill/>
        </p:spPr>
        <p:txBody>
          <a:bodyPr wrap="square" lIns="0" tIns="0" rIns="0" bIns="0" rtlCol="0" anchor="ctr"/>
          <a:lstStyle/>
          <a:p>
            <a:pPr marL="0" indent="0" algn="ctr">
              <a:buNone/>
            </a:pPr>
            <a:r>
              <a:rPr lang="zh-CN" sz="1265" b="1" dirty="0">
                <a:solidFill>
                  <a:srgbClr val="2563EB"/>
                </a:solidFill>
                <a:latin typeface="微软雅黑" panose="020B0503020204020204" charset="-122"/>
                <a:ea typeface="微软雅黑" panose="020B0503020204020204" charset="-122"/>
                <a:cs typeface="微软雅黑" panose="020B0503020204020204" pitchFamily="34" charset="-120"/>
              </a:rPr>
              <a:t>「</a:t>
            </a:r>
            <a:r>
              <a:rPr lang="en-US" altLang="zh-CN" sz="1265" b="1" dirty="0">
                <a:solidFill>
                  <a:srgbClr val="2563EB"/>
                </a:solidFill>
                <a:latin typeface="微软雅黑" panose="020B0503020204020204" charset="-122"/>
                <a:ea typeface="微软雅黑" panose="020B0503020204020204" charset="-122"/>
                <a:cs typeface="微软雅黑" panose="020B0503020204020204" pitchFamily="34" charset="-120"/>
              </a:rPr>
              <a:t>XX</a:t>
            </a:r>
            <a:r>
              <a:rPr lang="zh-CN" altLang="en-US" sz="1265" b="1" dirty="0">
                <a:solidFill>
                  <a:srgbClr val="2563EB"/>
                </a:solidFill>
                <a:latin typeface="微软雅黑" panose="020B0503020204020204" charset="-122"/>
                <a:ea typeface="微软雅黑" panose="020B0503020204020204" charset="-122"/>
                <a:cs typeface="微软雅黑" panose="020B0503020204020204" pitchFamily="34" charset="-120"/>
              </a:rPr>
              <a:t>渠道</a:t>
            </a:r>
            <a:r>
              <a:rPr lang="zh-CN" sz="1265" b="1" dirty="0">
                <a:solidFill>
                  <a:srgbClr val="2563EB"/>
                </a:solidFill>
                <a:latin typeface="微软雅黑" panose="020B0503020204020204" charset="-122"/>
                <a:ea typeface="微软雅黑" panose="020B0503020204020204" charset="-122"/>
                <a:cs typeface="微软雅黑" panose="020B0503020204020204" pitchFamily="34" charset="-120"/>
              </a:rPr>
              <a:t>」</a:t>
            </a:r>
            <a:r>
              <a:rPr 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做什么</a:t>
            </a:r>
            <a:endParaRPr lang="en-US" sz="1265" b="1" dirty="0">
              <a:solidFill>
                <a:srgbClr val="FFFFFF"/>
              </a:solidFill>
              <a:latin typeface="微软雅黑" panose="020B0503020204020204" charset="-122"/>
              <a:ea typeface="微软雅黑" panose="020B0503020204020204" charset="-122"/>
              <a:cs typeface="微软雅黑" panose="020B0503020204020204" pitchFamily="34" charset="-120"/>
            </a:endParaRPr>
          </a:p>
          <a:p>
            <a:pPr marL="0" indent="0" algn="ctr">
              <a:buNone/>
            </a:pPr>
            <a:r>
              <a:rPr lang="en-US" sz="1065" dirty="0">
                <a:solidFill>
                  <a:srgbClr val="FFFF00"/>
                </a:solidFill>
                <a:latin typeface="微软雅黑" panose="020B0503020204020204" charset="-122"/>
                <a:ea typeface="微软雅黑" panose="020B0503020204020204" charset="-122"/>
                <a:cs typeface="微软雅黑" panose="020B0503020204020204" pitchFamily="34" charset="-120"/>
                <a:sym typeface="+mn-ea"/>
              </a:rPr>
              <a:t>现场支撑+本地化</a:t>
            </a:r>
            <a:r>
              <a:rPr lang="zh-CN" altLang="en-US" sz="1065" dirty="0">
                <a:solidFill>
                  <a:srgbClr val="FFFF00"/>
                </a:solidFill>
                <a:latin typeface="微软雅黑" panose="020B0503020204020204" charset="-122"/>
                <a:ea typeface="微软雅黑" panose="020B0503020204020204" charset="-122"/>
                <a:cs typeface="微软雅黑" panose="020B0503020204020204" pitchFamily="34" charset="-120"/>
                <a:sym typeface="+mn-ea"/>
              </a:rPr>
              <a:t>服务</a:t>
            </a:r>
            <a:endParaRPr lang="zh-CN" altLang="en-US" sz="1065" dirty="0">
              <a:solidFill>
                <a:srgbClr val="FFFF00"/>
              </a:solidFill>
              <a:latin typeface="微软雅黑" panose="020B0503020204020204" charset="-122"/>
              <a:ea typeface="微软雅黑" panose="020B0503020204020204" charset="-122"/>
              <a:cs typeface="微软雅黑" panose="020B0503020204020204" pitchFamily="34" charset="-120"/>
              <a:sym typeface="+mn-ea"/>
            </a:endParaRPr>
          </a:p>
        </p:txBody>
      </p:sp>
      <p:sp>
        <p:nvSpPr>
          <p:cNvPr id="103" name="Shape 19"/>
          <p:cNvSpPr/>
          <p:nvPr/>
        </p:nvSpPr>
        <p:spPr>
          <a:xfrm>
            <a:off x="9682480" y="1102360"/>
            <a:ext cx="2194560" cy="548640"/>
          </a:xfrm>
          <a:prstGeom prst="rect">
            <a:avLst/>
          </a:prstGeom>
          <a:solidFill>
            <a:srgbClr val="059669"/>
          </a:solidFill>
        </p:spPr>
      </p:sp>
      <p:sp>
        <p:nvSpPr>
          <p:cNvPr id="104" name="Text 20"/>
          <p:cNvSpPr/>
          <p:nvPr/>
        </p:nvSpPr>
        <p:spPr>
          <a:xfrm>
            <a:off x="9682480" y="1102360"/>
            <a:ext cx="2194560" cy="548640"/>
          </a:xfrm>
          <a:prstGeom prst="rect">
            <a:avLst/>
          </a:prstGeom>
          <a:noFill/>
        </p:spPr>
        <p:txBody>
          <a:bodyPr wrap="square" lIns="0" tIns="0" rIns="0" bIns="0" rtlCol="0" anchor="ctr"/>
          <a:lstStyle/>
          <a:p>
            <a:pPr marL="0" indent="0" algn="ctr">
              <a:buNone/>
            </a:pPr>
            <a:r>
              <a:rPr lang="en-US" altLang="zh-CN" sz="1265" b="1" dirty="0">
                <a:solidFill>
                  <a:srgbClr val="2563EB"/>
                </a:solidFill>
                <a:latin typeface="微软雅黑" panose="020B0503020204020204" charset="-122"/>
                <a:ea typeface="微软雅黑" panose="020B0503020204020204" charset="-122"/>
                <a:cs typeface="微软雅黑" panose="020B0503020204020204" pitchFamily="34" charset="-120"/>
                <a:sym typeface="+mn-ea"/>
              </a:rPr>
              <a:t>{{company}}</a:t>
            </a:r>
            <a:r>
              <a:rPr 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做什么</a:t>
            </a:r>
            <a:endParaRPr lang="en-US" sz="1265" b="1" dirty="0">
              <a:solidFill>
                <a:srgbClr val="FFFFFF"/>
              </a:solidFill>
              <a:latin typeface="微软雅黑" panose="020B0503020204020204" charset="-122"/>
              <a:ea typeface="微软雅黑" panose="020B0503020204020204" charset="-122"/>
              <a:cs typeface="微软雅黑" panose="020B0503020204020204" pitchFamily="34" charset="-120"/>
            </a:endParaRPr>
          </a:p>
          <a:p>
            <a:pPr marL="0" indent="0" algn="ctr">
              <a:buNone/>
            </a:pPr>
            <a:r>
              <a:rPr lang="en-US" sz="1065" dirty="0">
                <a:solidFill>
                  <a:srgbClr val="FFFF00"/>
                </a:solidFill>
                <a:latin typeface="微软雅黑" panose="020B0503020204020204" charset="-122"/>
                <a:ea typeface="微软雅黑" panose="020B0503020204020204" charset="-122"/>
                <a:cs typeface="微软雅黑" panose="020B0503020204020204" pitchFamily="34" charset="-120"/>
                <a:sym typeface="+mn-ea"/>
              </a:rPr>
              <a:t>资源协调+决策确认</a:t>
            </a:r>
            <a:endParaRPr lang="en-US" sz="1065" dirty="0">
              <a:solidFill>
                <a:srgbClr val="FFFF00"/>
              </a:solidFill>
              <a:latin typeface="微软雅黑" panose="020B0503020204020204" charset="-122"/>
              <a:ea typeface="微软雅黑" panose="020B0503020204020204" charset="-122"/>
              <a:cs typeface="微软雅黑" panose="020B0503020204020204" pitchFamily="34" charset="-120"/>
              <a:sym typeface="+mn-ea"/>
            </a:endParaRPr>
          </a:p>
        </p:txBody>
      </p:sp>
      <p:grpSp>
        <p:nvGrpSpPr>
          <p:cNvPr id="4" name="组合 3"/>
          <p:cNvGrpSpPr/>
          <p:nvPr/>
        </p:nvGrpSpPr>
        <p:grpSpPr>
          <a:xfrm>
            <a:off x="304800" y="1651000"/>
            <a:ext cx="11572240" cy="1440180"/>
            <a:chOff x="480" y="2600"/>
            <a:chExt cx="18224" cy="2268"/>
          </a:xfrm>
        </p:grpSpPr>
        <p:sp>
          <p:nvSpPr>
            <p:cNvPr id="105" name="Shape 21"/>
            <p:cNvSpPr/>
            <p:nvPr/>
          </p:nvSpPr>
          <p:spPr>
            <a:xfrm>
              <a:off x="480" y="2600"/>
              <a:ext cx="2211" cy="2268"/>
            </a:xfrm>
            <a:prstGeom prst="rect">
              <a:avLst/>
            </a:prstGeom>
            <a:solidFill>
              <a:srgbClr val="F8FAFC"/>
            </a:solidFill>
            <a:ln w="3810">
              <a:solidFill>
                <a:srgbClr val="E2E8F0"/>
              </a:solidFill>
              <a:prstDash val="solid"/>
            </a:ln>
          </p:spPr>
          <p:txBody>
            <a:bodyPr anchor="ctr" anchorCtr="0"/>
            <a:p>
              <a:pPr marL="0" indent="0">
                <a:buNone/>
              </a:pPr>
              <a:r>
                <a:rPr lang="en-US" sz="12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业务安全与连续性</a:t>
              </a:r>
              <a:endParaRPr lang="en-US" altLang="en-US" sz="12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p:txBody>
        </p:sp>
        <p:sp>
          <p:nvSpPr>
            <p:cNvPr id="106" name="Shape 23"/>
            <p:cNvSpPr/>
            <p:nvPr/>
          </p:nvSpPr>
          <p:spPr>
            <a:xfrm>
              <a:off x="2688" y="2600"/>
              <a:ext cx="4224" cy="2268"/>
            </a:xfrm>
            <a:prstGeom prst="rect">
              <a:avLst/>
            </a:prstGeom>
            <a:solidFill>
              <a:srgbClr val="F8FAFC"/>
            </a:solidFill>
            <a:ln w="3810">
              <a:solidFill>
                <a:srgbClr val="E2E8F0"/>
              </a:solidFill>
              <a:prstDash val="solid"/>
            </a:ln>
          </p:spPr>
          <p:txBody>
            <a:bodyPr anchor="ctr" anchorCtr="0"/>
            <a:p>
              <a:pPr algn="l">
                <a:lnSpc>
                  <a:spcPct val="120000"/>
                </a:lnSpc>
              </a:pPr>
              <a:r>
                <a:rPr lang="en-US" altLang="zh-CN" sz="1000" b="1" dirty="0">
                  <a:latin typeface="Heiti SC Light" panose="02000000000000000000" charset="-122"/>
                  <a:ea typeface="Heiti SC Light" panose="02000000000000000000" charset="-122"/>
                  <a:cs typeface="Heiti SC Light" panose="02000000000000000000" charset="-122"/>
                  <a:sym typeface="+mn-ea"/>
                </a:rPr>
                <a:t>1</a:t>
              </a:r>
              <a:r>
                <a:rPr lang="zh-CN" altLang="en-US" sz="1000" b="1" dirty="0">
                  <a:latin typeface="Heiti SC Light" panose="02000000000000000000" charset="-122"/>
                  <a:ea typeface="Heiti SC Light" panose="02000000000000000000" charset="-122"/>
                  <a:cs typeface="Heiti SC Light" panose="02000000000000000000" charset="-122"/>
                  <a:sym typeface="+mn-ea"/>
                </a:rPr>
                <a:t>、零重大事件：</a:t>
              </a:r>
              <a:r>
                <a:rPr lang="zh-CN" altLang="en-US" sz="1000" dirty="0">
                  <a:latin typeface="Heiti SC Light" panose="02000000000000000000" charset="-122"/>
                  <a:ea typeface="Heiti SC Light" panose="02000000000000000000" charset="-122"/>
                  <a:cs typeface="Heiti SC Light" panose="02000000000000000000" charset="-122"/>
                  <a:sym typeface="+mn-ea"/>
                </a:rPr>
                <a:t>核心业务（</a:t>
              </a:r>
              <a:r>
                <a:rPr lang="en-US" altLang="zh-CN" sz="1000" dirty="0">
                  <a:solidFill>
                    <a:srgbClr val="4C61E7"/>
                  </a:solidFill>
                  <a:latin typeface="Arial" panose="020B0604020202020204" pitchFamily="34" charset="0"/>
                  <a:ea typeface="黑体-简" panose="02000000000000000000" charset="-122"/>
                  <a:sym typeface="+mn-ea"/>
                </a:rPr>
                <a:t>{{core_system_1}}</a:t>
              </a:r>
              <a:r>
                <a:rPr lang="zh-CN" altLang="en-US" sz="1000" dirty="0">
                  <a:solidFill>
                    <a:srgbClr val="4C61E7"/>
                  </a:solidFill>
                  <a:latin typeface="Arial" panose="020B0604020202020204" pitchFamily="34" charset="0"/>
                  <a:ea typeface="黑体-简" panose="02000000000000000000" charset="-122"/>
                  <a:sym typeface="+mn-ea"/>
                </a:rPr>
                <a:t>、</a:t>
              </a:r>
              <a:r>
                <a:rPr lang="en-US" altLang="zh-CN" sz="1000" dirty="0">
                  <a:solidFill>
                    <a:srgbClr val="4C61E7"/>
                  </a:solidFill>
                  <a:latin typeface="Arial" panose="020B0604020202020204" pitchFamily="34" charset="0"/>
                  <a:ea typeface="黑体-简" panose="02000000000000000000" charset="-122"/>
                  <a:sym typeface="+mn-ea"/>
                </a:rPr>
                <a:t>{{core_system_2}}</a:t>
              </a:r>
              <a:r>
                <a:rPr lang="zh-CN" altLang="en-US" sz="1000" dirty="0">
                  <a:solidFill>
                    <a:srgbClr val="4C61E7"/>
                  </a:solidFill>
                  <a:latin typeface="Arial" panose="020B0604020202020204" pitchFamily="34" charset="0"/>
                  <a:ea typeface="黑体-简" panose="02000000000000000000" charset="-122"/>
                  <a:sym typeface="+mn-ea"/>
                </a:rPr>
                <a:t>、</a:t>
              </a:r>
              <a:r>
                <a:rPr lang="en-US" altLang="zh-CN" sz="1000" dirty="0">
                  <a:solidFill>
                    <a:srgbClr val="4C61E7"/>
                  </a:solidFill>
                  <a:latin typeface="Arial" panose="020B0604020202020204" pitchFamily="34" charset="0"/>
                  <a:ea typeface="黑体-简" panose="02000000000000000000" charset="-122"/>
                  <a:sym typeface="+mn-ea"/>
                </a:rPr>
                <a:t>{{core_system_3}}</a:t>
              </a:r>
              <a:r>
                <a:rPr lang="zh-CN" altLang="en-US" sz="1000" dirty="0">
                  <a:latin typeface="Heiti SC Light" panose="02000000000000000000" charset="-122"/>
                  <a:ea typeface="Heiti SC Light" panose="02000000000000000000" charset="-122"/>
                  <a:cs typeface="Heiti SC Light" panose="02000000000000000000" charset="-122"/>
                  <a:sym typeface="+mn-ea"/>
                </a:rPr>
                <a:t>等）平稳运行，</a:t>
              </a:r>
              <a:r>
                <a:rPr lang="en-US" altLang="zh-CN" sz="1000" dirty="0">
                  <a:latin typeface="Heiti SC Light" panose="02000000000000000000" charset="-122"/>
                  <a:ea typeface="Heiti SC Light" panose="02000000000000000000" charset="-122"/>
                  <a:cs typeface="Heiti SC Light" panose="02000000000000000000" charset="-122"/>
                  <a:sym typeface="+mn-ea"/>
                </a:rPr>
                <a:t>0</a:t>
              </a:r>
              <a:r>
                <a:rPr lang="zh-CN" altLang="en-US" sz="1000" dirty="0">
                  <a:latin typeface="Heiti SC Light" panose="02000000000000000000" charset="-122"/>
                  <a:ea typeface="Heiti SC Light" panose="02000000000000000000" charset="-122"/>
                  <a:cs typeface="Heiti SC Light" panose="02000000000000000000" charset="-122"/>
                  <a:sym typeface="+mn-ea"/>
                </a:rPr>
                <a:t>重大事故；</a:t>
              </a:r>
              <a:endParaRPr lang="zh-CN" altLang="en-US" sz="1000" dirty="0">
                <a:latin typeface="Heiti SC Light" panose="02000000000000000000" charset="-122"/>
                <a:ea typeface="Heiti SC Light" panose="02000000000000000000" charset="-122"/>
                <a:cs typeface="Heiti SC Light" panose="02000000000000000000" charset="-122"/>
              </a:endParaRPr>
            </a:p>
            <a:p>
              <a:pPr algn="l">
                <a:lnSpc>
                  <a:spcPct val="120000"/>
                </a:lnSpc>
              </a:pPr>
              <a:r>
                <a:rPr lang="en-US" altLang="zh-CN" sz="1000" b="1" dirty="0">
                  <a:latin typeface="Heiti SC Light" panose="02000000000000000000" charset="-122"/>
                  <a:ea typeface="Heiti SC Light" panose="02000000000000000000" charset="-122"/>
                  <a:cs typeface="Heiti SC Light" panose="02000000000000000000" charset="-122"/>
                  <a:sym typeface="+mn-ea"/>
                </a:rPr>
                <a:t>2</a:t>
              </a:r>
              <a:r>
                <a:rPr lang="zh-CN" altLang="en-US" sz="1000" b="1" dirty="0">
                  <a:latin typeface="Heiti SC Light" panose="02000000000000000000" charset="-122"/>
                  <a:ea typeface="Heiti SC Light" panose="02000000000000000000" charset="-122"/>
                  <a:cs typeface="Heiti SC Light" panose="02000000000000000000" charset="-122"/>
                  <a:sym typeface="+mn-ea"/>
                </a:rPr>
                <a:t>、风险有效收敛：</a:t>
              </a:r>
              <a:r>
                <a:rPr lang="zh-CN" altLang="en-US" sz="1000" dirty="0">
                  <a:latin typeface="Heiti SC Light" panose="02000000000000000000" charset="-122"/>
                  <a:ea typeface="Heiti SC Light" panose="02000000000000000000" charset="-122"/>
                  <a:cs typeface="Heiti SC Light" panose="02000000000000000000" charset="-122"/>
                  <a:sym typeface="+mn-ea"/>
                </a:rPr>
                <a:t>主动发现核心系统的重大风险并进行缓解，降低风险被利用带来的</a:t>
              </a:r>
              <a:r>
                <a:rPr lang="zh-CN" altLang="en-US" sz="1000" dirty="0">
                  <a:latin typeface="Heiti SC Light" panose="02000000000000000000" charset="-122"/>
                  <a:ea typeface="Heiti SC Light" panose="02000000000000000000" charset="-122"/>
                  <a:cs typeface="Heiti SC Light" panose="02000000000000000000" charset="-122"/>
                  <a:sym typeface="+mn-ea"/>
                </a:rPr>
                <a:t>损失；</a:t>
              </a:r>
              <a:endPar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p:txBody>
        </p:sp>
        <p:sp>
          <p:nvSpPr>
            <p:cNvPr id="107" name="Shape 25"/>
            <p:cNvSpPr/>
            <p:nvPr/>
          </p:nvSpPr>
          <p:spPr>
            <a:xfrm>
              <a:off x="6912" y="2600"/>
              <a:ext cx="4876" cy="2268"/>
            </a:xfrm>
            <a:prstGeom prst="rect">
              <a:avLst/>
            </a:prstGeom>
            <a:solidFill>
              <a:srgbClr val="F8FAFC"/>
            </a:solidFill>
            <a:ln w="3810">
              <a:solidFill>
                <a:srgbClr val="E2E8F0"/>
              </a:solidFill>
              <a:prstDash val="solid"/>
            </a:ln>
          </p:spPr>
          <p:txBody>
            <a:bodyPr anchor="ctr" anchorCtr="0"/>
            <a:p>
              <a:pPr marL="0" indent="0">
                <a:buNone/>
              </a:pP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1、7x24H</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威胁监测，对潜在攻击</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威胁和脆弱性利用</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风险准确预警、遏制攻击（联动</a:t>
              </a: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AF/AES）</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a:t>
              </a:r>
              <a:endPar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2、安全事件快速响应，针对入侵成功事件的应急处置与溯源分析并提供加固建议，跟进闭环；</a:t>
              </a:r>
              <a:endPar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3、对核心资产定期开展脆弱性扫描、漏洞优先级排序，为业务侧</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风险闭环提供技术</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支持</a:t>
              </a:r>
              <a:endPar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p:txBody>
        </p:sp>
        <p:sp>
          <p:nvSpPr>
            <p:cNvPr id="108" name="Shape 26"/>
            <p:cNvSpPr/>
            <p:nvPr/>
          </p:nvSpPr>
          <p:spPr>
            <a:xfrm>
              <a:off x="6912" y="2600"/>
              <a:ext cx="77" cy="2268"/>
            </a:xfrm>
            <a:prstGeom prst="rect">
              <a:avLst/>
            </a:prstGeom>
            <a:solidFill>
              <a:srgbClr val="2563EB">
                <a:alpha val="50000"/>
              </a:srgbClr>
            </a:solidFill>
          </p:spPr>
        </p:sp>
        <p:sp>
          <p:nvSpPr>
            <p:cNvPr id="109" name="Shape 28"/>
            <p:cNvSpPr/>
            <p:nvPr/>
          </p:nvSpPr>
          <p:spPr>
            <a:xfrm>
              <a:off x="11792" y="2600"/>
              <a:ext cx="3456" cy="2268"/>
            </a:xfrm>
            <a:prstGeom prst="rect">
              <a:avLst/>
            </a:prstGeom>
            <a:solidFill>
              <a:srgbClr val="F8FAFC"/>
            </a:solidFill>
            <a:ln w="3810">
              <a:solidFill>
                <a:srgbClr val="E2E8F0"/>
              </a:solidFill>
              <a:prstDash val="solid"/>
            </a:ln>
          </p:spPr>
          <p:txBody>
            <a:bodyPr anchor="ctr" anchorCtr="0"/>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1、现场与业务方的沟通</a:t>
              </a: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协调；</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2、执行网络及端点侧处置策略实施与协调，保障现场实施举措</a:t>
              </a: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落地</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3、收集并反馈业务方的需求与安全痛点，助力安全运营优化</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p:txBody>
        </p:sp>
        <p:sp>
          <p:nvSpPr>
            <p:cNvPr id="110" name="Shape 29"/>
            <p:cNvSpPr/>
            <p:nvPr/>
          </p:nvSpPr>
          <p:spPr>
            <a:xfrm>
              <a:off x="11792" y="2600"/>
              <a:ext cx="77" cy="2268"/>
            </a:xfrm>
            <a:prstGeom prst="rect">
              <a:avLst/>
            </a:prstGeom>
            <a:solidFill>
              <a:srgbClr val="D97706">
                <a:alpha val="50000"/>
              </a:srgbClr>
            </a:solidFill>
          </p:spPr>
        </p:sp>
        <p:sp>
          <p:nvSpPr>
            <p:cNvPr id="111" name="Shape 31"/>
            <p:cNvSpPr/>
            <p:nvPr/>
          </p:nvSpPr>
          <p:spPr>
            <a:xfrm>
              <a:off x="15248" y="2600"/>
              <a:ext cx="3456" cy="2268"/>
            </a:xfrm>
            <a:prstGeom prst="rect">
              <a:avLst/>
            </a:prstGeom>
            <a:solidFill>
              <a:srgbClr val="F8FAFC"/>
            </a:solidFill>
            <a:ln w="3810">
              <a:solidFill>
                <a:srgbClr val="E2E8F0"/>
              </a:solidFill>
              <a:prstDash val="solid"/>
            </a:ln>
          </p:spPr>
          <p:txBody>
            <a:bodyPr anchor="ctr" anchorCtr="0"/>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1、业务弱点整改加固的协调；</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2、安全事件的处置审核及授权，如需远程上机的帮忙协调远程环境；</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3、推动业务安全管理机制优化和落地</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p:txBody>
        </p:sp>
        <p:sp>
          <p:nvSpPr>
            <p:cNvPr id="112" name="Shape 32"/>
            <p:cNvSpPr/>
            <p:nvPr/>
          </p:nvSpPr>
          <p:spPr>
            <a:xfrm>
              <a:off x="15248" y="2600"/>
              <a:ext cx="77" cy="2268"/>
            </a:xfrm>
            <a:prstGeom prst="rect">
              <a:avLst/>
            </a:prstGeom>
            <a:solidFill>
              <a:srgbClr val="059669">
                <a:alpha val="50000"/>
              </a:srgbClr>
            </a:solidFill>
          </p:spPr>
        </p:sp>
      </p:grpSp>
      <p:grpSp>
        <p:nvGrpSpPr>
          <p:cNvPr id="3" name="组合 2"/>
          <p:cNvGrpSpPr/>
          <p:nvPr/>
        </p:nvGrpSpPr>
        <p:grpSpPr>
          <a:xfrm>
            <a:off x="304800" y="3096895"/>
            <a:ext cx="11572240" cy="1440815"/>
            <a:chOff x="480" y="4296"/>
            <a:chExt cx="18224" cy="2269"/>
          </a:xfrm>
        </p:grpSpPr>
        <p:sp>
          <p:nvSpPr>
            <p:cNvPr id="113" name="Shape 34"/>
            <p:cNvSpPr/>
            <p:nvPr/>
          </p:nvSpPr>
          <p:spPr>
            <a:xfrm>
              <a:off x="480" y="4296"/>
              <a:ext cx="2211" cy="2268"/>
            </a:xfrm>
            <a:prstGeom prst="rect">
              <a:avLst/>
            </a:prstGeom>
            <a:solidFill>
              <a:srgbClr val="FFFFFF"/>
            </a:solidFill>
            <a:ln w="3810">
              <a:solidFill>
                <a:srgbClr val="E2E8F0"/>
              </a:solidFill>
              <a:prstDash val="solid"/>
            </a:ln>
          </p:spPr>
          <p:txBody>
            <a:bodyPr anchor="ctr" anchorCtr="0"/>
            <a:p>
              <a:pPr marL="0" indent="0" algn="ctr">
                <a:buNone/>
              </a:pPr>
              <a:r>
                <a:rPr lang="en-US" sz="12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安全考核与通报应对</a:t>
              </a:r>
              <a:endParaRPr lang="en-US" altLang="en-US" sz="12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p:txBody>
        </p:sp>
        <p:sp>
          <p:nvSpPr>
            <p:cNvPr id="114" name="Shape 36"/>
            <p:cNvSpPr/>
            <p:nvPr/>
          </p:nvSpPr>
          <p:spPr>
            <a:xfrm>
              <a:off x="2688" y="4297"/>
              <a:ext cx="4224" cy="2268"/>
            </a:xfrm>
            <a:prstGeom prst="rect">
              <a:avLst/>
            </a:prstGeom>
            <a:solidFill>
              <a:srgbClr val="FFFFFF"/>
            </a:solidFill>
            <a:ln w="3810">
              <a:solidFill>
                <a:srgbClr val="E2E8F0"/>
              </a:solidFill>
              <a:prstDash val="solid"/>
            </a:ln>
          </p:spPr>
          <p:txBody>
            <a:bodyPr anchor="ctr" anchorCtr="0"/>
            <a:p>
              <a:pPr marL="0" indent="0" algn="l">
                <a:buNone/>
              </a:pPr>
              <a:r>
                <a:rPr lang="en-US" altLang="zh-CN" sz="1000" dirty="0">
                  <a:solidFill>
                    <a:schemeClr val="tx1"/>
                  </a:solidFill>
                  <a:latin typeface="Heiti SC Light" panose="02000000000000000000" charset="-122"/>
                  <a:ea typeface="Heiti SC Light" panose="02000000000000000000" charset="-122"/>
                  <a:cs typeface="Heiti SC Light" panose="02000000000000000000" charset="-122"/>
                  <a:sym typeface="+mn-ea"/>
                </a:rPr>
                <a:t>1</a:t>
              </a:r>
              <a:r>
                <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rPr>
                <a:t>、互联网资产两高一弱等潜在被通报风险能够主动发现并持续收敛；</a:t>
              </a:r>
              <a:endPar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a:p>
              <a:pPr marL="0" indent="0" algn="l">
                <a:buNone/>
              </a:pPr>
              <a:r>
                <a:rPr lang="en-US" altLang="zh-CN" sz="1000" dirty="0">
                  <a:solidFill>
                    <a:schemeClr val="tx1"/>
                  </a:solidFill>
                  <a:latin typeface="Heiti SC Light" panose="02000000000000000000" charset="-122"/>
                  <a:ea typeface="Heiti SC Light" panose="02000000000000000000" charset="-122"/>
                  <a:cs typeface="Heiti SC Light" panose="02000000000000000000" charset="-122"/>
                  <a:sym typeface="+mn-ea"/>
                </a:rPr>
                <a:t>2</a:t>
              </a:r>
              <a:r>
                <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rPr>
                <a:t>、恶意外联类问题构建自主发现能力，有效减少被监管通报的</a:t>
              </a:r>
              <a:r>
                <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rPr>
                <a:t>概率；</a:t>
              </a:r>
              <a:endPar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a:p>
              <a:pPr marL="0" indent="0" algn="l">
                <a:buNone/>
              </a:pPr>
              <a:r>
                <a:rPr lang="en-US" altLang="zh-CN" sz="1000" dirty="0">
                  <a:solidFill>
                    <a:schemeClr val="tx1"/>
                  </a:solidFill>
                  <a:latin typeface="Heiti SC Light" panose="02000000000000000000" charset="-122"/>
                  <a:ea typeface="Heiti SC Light" panose="02000000000000000000" charset="-122"/>
                  <a:cs typeface="Heiti SC Light" panose="02000000000000000000" charset="-122"/>
                  <a:sym typeface="+mn-ea"/>
                </a:rPr>
                <a:t>3</a:t>
              </a:r>
              <a:r>
                <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rPr>
                <a:t>、被通报问题的有效排查</a:t>
              </a:r>
              <a:r>
                <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rPr>
                <a:t>和响应回函不超过48</a:t>
              </a:r>
              <a:r>
                <a:rPr lang="en-US" altLang="zh-CN" sz="1000" dirty="0">
                  <a:solidFill>
                    <a:schemeClr val="tx1"/>
                  </a:solidFill>
                  <a:latin typeface="Heiti SC Light" panose="02000000000000000000" charset="-122"/>
                  <a:ea typeface="Heiti SC Light" panose="02000000000000000000" charset="-122"/>
                  <a:cs typeface="Heiti SC Light" panose="02000000000000000000" charset="-122"/>
                  <a:sym typeface="+mn-ea"/>
                </a:rPr>
                <a:t>H。</a:t>
              </a:r>
              <a:endParaRPr lang="en-US" altLang="zh-CN" sz="10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p:txBody>
        </p:sp>
        <p:sp>
          <p:nvSpPr>
            <p:cNvPr id="115" name="Shape 38"/>
            <p:cNvSpPr/>
            <p:nvPr/>
          </p:nvSpPr>
          <p:spPr>
            <a:xfrm>
              <a:off x="6912" y="4296"/>
              <a:ext cx="4876" cy="2268"/>
            </a:xfrm>
            <a:prstGeom prst="rect">
              <a:avLst/>
            </a:prstGeom>
            <a:solidFill>
              <a:schemeClr val="bg1"/>
            </a:solidFill>
            <a:ln w="3810">
              <a:solidFill>
                <a:srgbClr val="E2E8F0"/>
              </a:solidFill>
              <a:prstDash val="solid"/>
            </a:ln>
          </p:spPr>
          <p:txBody>
            <a:bodyPr anchor="ctr" anchorCtr="0">
              <a:noAutofit/>
            </a:bodyPr>
            <a:p>
              <a:pPr lvl="0" algn="l">
                <a:buClrTx/>
                <a:buSzTx/>
                <a:buFontTx/>
              </a:pP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1</a:t>
              </a: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a:t>
              </a: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7x24</a:t>
              </a: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H</a:t>
              </a: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实时监测发现恶意外联行为，准确预警和遏制（联动</a:t>
              </a: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AF/AES</a:t>
              </a: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a:t>
              </a:r>
              <a:endPar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a:p>
              <a:pPr lvl="0" algn="l">
                <a:buClrTx/>
                <a:buSzTx/>
                <a:buFontTx/>
              </a:pP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2</a:t>
              </a: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、定期开展两高一弱风险排查，漏洞优先级分析，协助防护方案优化和落地；</a:t>
              </a:r>
              <a:endPar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a:p>
              <a:pPr lvl="0" algn="l">
                <a:buClrTx/>
                <a:buSzTx/>
                <a:buFontTx/>
              </a:pP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3</a:t>
              </a: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、对被通报问题及时响应排查溯源，给出结论支持快速回函；</a:t>
              </a:r>
              <a:endPar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p:txBody>
        </p:sp>
        <p:sp>
          <p:nvSpPr>
            <p:cNvPr id="116" name="Shape 39"/>
            <p:cNvSpPr/>
            <p:nvPr/>
          </p:nvSpPr>
          <p:spPr>
            <a:xfrm>
              <a:off x="6912" y="4296"/>
              <a:ext cx="77" cy="2268"/>
            </a:xfrm>
            <a:prstGeom prst="rect">
              <a:avLst/>
            </a:prstGeom>
            <a:solidFill>
              <a:srgbClr val="2563EB">
                <a:alpha val="50000"/>
              </a:srgbClr>
            </a:solidFill>
          </p:spPr>
        </p:sp>
        <p:sp>
          <p:nvSpPr>
            <p:cNvPr id="117" name="Shape 41"/>
            <p:cNvSpPr/>
            <p:nvPr/>
          </p:nvSpPr>
          <p:spPr>
            <a:xfrm>
              <a:off x="11792" y="4296"/>
              <a:ext cx="3456" cy="2268"/>
            </a:xfrm>
            <a:prstGeom prst="rect">
              <a:avLst/>
            </a:prstGeom>
            <a:solidFill>
              <a:srgbClr val="FFFFFF"/>
            </a:solidFill>
            <a:ln w="3810">
              <a:solidFill>
                <a:srgbClr val="E2E8F0"/>
              </a:solidFill>
              <a:prstDash val="solid"/>
            </a:ln>
          </p:spPr>
          <p:txBody>
            <a:bodyPr anchor="ctr" anchorCtr="0"/>
            <a:p>
              <a:pPr marL="0" indent="0">
                <a:buNone/>
              </a:pPr>
              <a:r>
                <a:rPr lang="zh-CN" altLang="en-US" sz="1000" dirty="0">
                  <a:solidFill>
                    <a:srgbClr val="4C61E7"/>
                  </a:solidFill>
                  <a:latin typeface="Heiti SC Light" panose="02000000000000000000" charset="-122"/>
                  <a:ea typeface="Heiti SC Light" panose="02000000000000000000" charset="-122"/>
                  <a:cs typeface="微软雅黑" panose="020B0503020204020204" pitchFamily="34" charset="-120"/>
                  <a:sym typeface="+mn-ea"/>
                </a:rPr>
                <a:t>1、渗透测试发现互联网暴露面漏洞风险，协助业务方加固；</a:t>
              </a:r>
              <a:endParaRPr lang="zh-CN" altLang="en-US" sz="1000" dirty="0">
                <a:solidFill>
                  <a:srgbClr val="4C61E7"/>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2、协助定位恶意外联终端，提供主机侧处置；</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3、网络/业务运维的响应实施</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p:txBody>
        </p:sp>
        <p:sp>
          <p:nvSpPr>
            <p:cNvPr id="118" name="Shape 42"/>
            <p:cNvSpPr/>
            <p:nvPr/>
          </p:nvSpPr>
          <p:spPr>
            <a:xfrm>
              <a:off x="11792" y="4296"/>
              <a:ext cx="77" cy="2268"/>
            </a:xfrm>
            <a:prstGeom prst="rect">
              <a:avLst/>
            </a:prstGeom>
            <a:solidFill>
              <a:srgbClr val="D97706">
                <a:alpha val="50000"/>
              </a:srgbClr>
            </a:solidFill>
          </p:spPr>
        </p:sp>
        <p:sp>
          <p:nvSpPr>
            <p:cNvPr id="119" name="Shape 44"/>
            <p:cNvSpPr/>
            <p:nvPr/>
          </p:nvSpPr>
          <p:spPr>
            <a:xfrm>
              <a:off x="15248" y="4296"/>
              <a:ext cx="3456" cy="2268"/>
            </a:xfrm>
            <a:prstGeom prst="rect">
              <a:avLst/>
            </a:prstGeom>
            <a:solidFill>
              <a:srgbClr val="FFFFFF"/>
            </a:solidFill>
            <a:ln w="3810">
              <a:solidFill>
                <a:srgbClr val="E2E8F0"/>
              </a:solidFill>
              <a:prstDash val="solid"/>
            </a:ln>
          </p:spPr>
          <p:txBody>
            <a:bodyPr anchor="ctr" anchorCtr="0"/>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1、审批遏制操作的授权</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2、协助落实脆弱性问题的管理机制，协调业务侧修复加固</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3、接收通报问题，同步信息发起排查指令</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p:txBody>
        </p:sp>
        <p:sp>
          <p:nvSpPr>
            <p:cNvPr id="120" name="Shape 45"/>
            <p:cNvSpPr/>
            <p:nvPr/>
          </p:nvSpPr>
          <p:spPr>
            <a:xfrm>
              <a:off x="15248" y="4296"/>
              <a:ext cx="77" cy="2268"/>
            </a:xfrm>
            <a:prstGeom prst="rect">
              <a:avLst/>
            </a:prstGeom>
            <a:solidFill>
              <a:srgbClr val="059669">
                <a:alpha val="50000"/>
              </a:srgbClr>
            </a:solidFill>
          </p:spPr>
        </p:sp>
      </p:grpSp>
      <p:grpSp>
        <p:nvGrpSpPr>
          <p:cNvPr id="2" name="组合 1"/>
          <p:cNvGrpSpPr/>
          <p:nvPr/>
        </p:nvGrpSpPr>
        <p:grpSpPr>
          <a:xfrm>
            <a:off x="304800" y="4543425"/>
            <a:ext cx="11572240" cy="1445260"/>
            <a:chOff x="480" y="7310"/>
            <a:chExt cx="18224" cy="2276"/>
          </a:xfrm>
        </p:grpSpPr>
        <p:sp>
          <p:nvSpPr>
            <p:cNvPr id="121" name="Shape 47"/>
            <p:cNvSpPr/>
            <p:nvPr/>
          </p:nvSpPr>
          <p:spPr>
            <a:xfrm>
              <a:off x="480" y="7316"/>
              <a:ext cx="2211" cy="2268"/>
            </a:xfrm>
            <a:prstGeom prst="rect">
              <a:avLst/>
            </a:prstGeom>
            <a:solidFill>
              <a:srgbClr val="F8FAFC"/>
            </a:solidFill>
            <a:ln w="3810">
              <a:solidFill>
                <a:srgbClr val="E2E8F0"/>
              </a:solidFill>
              <a:prstDash val="solid"/>
            </a:ln>
          </p:spPr>
          <p:txBody>
            <a:bodyPr anchor="ctr" anchorCtr="0"/>
            <a:p>
              <a:pPr marL="0" indent="0" algn="ctr">
                <a:buNone/>
              </a:pPr>
              <a:r>
                <a:rPr lang="en-US" sz="1200" dirty="0">
                  <a:solidFill>
                    <a:srgbClr val="1E293B"/>
                  </a:solidFill>
                  <a:latin typeface="Heiti SC Light" panose="02000000000000000000" charset="-122"/>
                  <a:ea typeface="Heiti SC Light" panose="02000000000000000000" charset="-122"/>
                  <a:cs typeface="Heiti SC Light" panose="02000000000000000000" charset="-122"/>
                  <a:sym typeface="+mn-ea"/>
                </a:rPr>
                <a:t>重要时期</a:t>
              </a:r>
              <a:r>
                <a:rPr lang="zh-CN" altLang="en-US" sz="1200" dirty="0">
                  <a:solidFill>
                    <a:srgbClr val="1E293B"/>
                  </a:solidFill>
                  <a:latin typeface="Heiti SC Light" panose="02000000000000000000" charset="-122"/>
                  <a:ea typeface="Heiti SC Light" panose="02000000000000000000" charset="-122"/>
                  <a:cs typeface="Heiti SC Light" panose="02000000000000000000" charset="-122"/>
                  <a:sym typeface="+mn-ea"/>
                </a:rPr>
                <a:t>安全</a:t>
              </a:r>
              <a:r>
                <a:rPr lang="zh-CN" altLang="en-US" sz="1200" dirty="0">
                  <a:solidFill>
                    <a:srgbClr val="1E293B"/>
                  </a:solidFill>
                  <a:latin typeface="Heiti SC Light" panose="02000000000000000000" charset="-122"/>
                  <a:ea typeface="Heiti SC Light" panose="02000000000000000000" charset="-122"/>
                  <a:cs typeface="Heiti SC Light" panose="02000000000000000000" charset="-122"/>
                  <a:sym typeface="+mn-ea"/>
                </a:rPr>
                <a:t>保障</a:t>
              </a:r>
              <a:endParaRPr lang="zh-CN" altLang="en-US" sz="12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p:txBody>
        </p:sp>
        <p:sp>
          <p:nvSpPr>
            <p:cNvPr id="122" name="Shape 49"/>
            <p:cNvSpPr/>
            <p:nvPr/>
          </p:nvSpPr>
          <p:spPr>
            <a:xfrm>
              <a:off x="2688" y="7318"/>
              <a:ext cx="4224" cy="2268"/>
            </a:xfrm>
            <a:prstGeom prst="rect">
              <a:avLst/>
            </a:prstGeom>
            <a:solidFill>
              <a:srgbClr val="F8FAFC"/>
            </a:solidFill>
            <a:ln w="3810">
              <a:solidFill>
                <a:srgbClr val="E2E8F0"/>
              </a:solidFill>
              <a:prstDash val="solid"/>
            </a:ln>
          </p:spPr>
          <p:txBody>
            <a:bodyPr anchor="ctr" anchorCtr="0"/>
            <a:p>
              <a:pPr algn="l">
                <a:lnSpc>
                  <a:spcPct val="120000"/>
                </a:lnSpc>
                <a:buClrTx/>
                <a:buSzTx/>
                <a:buFontTx/>
                <a:buNone/>
              </a:pPr>
              <a:r>
                <a:rPr lang="en-US" altLang="zh-CN" sz="1000" b="1" dirty="0">
                  <a:latin typeface="Heiti SC Light" panose="02000000000000000000" charset="-122"/>
                  <a:ea typeface="Heiti SC Light" panose="02000000000000000000" charset="-122"/>
                  <a:cs typeface="Heiti SC Light" panose="02000000000000000000" charset="-122"/>
                  <a:sym typeface="+mn-ea"/>
                </a:rPr>
                <a:t>1</a:t>
              </a:r>
              <a:r>
                <a:rPr lang="zh-CN" altLang="en-US" sz="1000" b="1" dirty="0">
                  <a:latin typeface="Heiti SC Light" panose="02000000000000000000" charset="-122"/>
                  <a:ea typeface="Heiti SC Light" panose="02000000000000000000" charset="-122"/>
                  <a:cs typeface="Heiti SC Light" panose="02000000000000000000" charset="-122"/>
                  <a:sym typeface="+mn-ea"/>
                </a:rPr>
                <a:t>、威胁快速发现</a:t>
              </a:r>
              <a:r>
                <a:rPr lang="zh-CN" altLang="en-US" sz="1000" dirty="0">
                  <a:latin typeface="Heiti SC Light" panose="02000000000000000000" charset="-122"/>
                  <a:ea typeface="Heiti SC Light" panose="02000000000000000000" charset="-122"/>
                  <a:cs typeface="Heiti SC Light" panose="02000000000000000000" charset="-122"/>
                  <a:sym typeface="+mn-ea"/>
                </a:rPr>
                <a:t>：保护范围内的核心资产的有效攻击事件</a:t>
              </a:r>
              <a:r>
                <a:rPr lang="en-US" altLang="zh-CN" sz="1000" dirty="0">
                  <a:latin typeface="Heiti SC Light" panose="02000000000000000000" charset="-122"/>
                  <a:ea typeface="Heiti SC Light" panose="02000000000000000000" charset="-122"/>
                  <a:cs typeface="Heiti SC Light" panose="02000000000000000000" charset="-122"/>
                  <a:sym typeface="+mn-ea"/>
                </a:rPr>
                <a:t>30</a:t>
              </a:r>
              <a:r>
                <a:rPr lang="zh-CN" altLang="en-US" sz="1000" dirty="0">
                  <a:latin typeface="Heiti SC Light" panose="02000000000000000000" charset="-122"/>
                  <a:ea typeface="Heiti SC Light" panose="02000000000000000000" charset="-122"/>
                  <a:cs typeface="Heiti SC Light" panose="02000000000000000000" charset="-122"/>
                  <a:sym typeface="+mn-ea"/>
                </a:rPr>
                <a:t>分钟内</a:t>
              </a:r>
              <a:r>
                <a:rPr lang="zh-CN" altLang="en-US" sz="1000" dirty="0">
                  <a:latin typeface="Heiti SC Light" panose="02000000000000000000" charset="-122"/>
                  <a:ea typeface="Heiti SC Light" panose="02000000000000000000" charset="-122"/>
                  <a:cs typeface="Heiti SC Light" panose="02000000000000000000" charset="-122"/>
                  <a:sym typeface="+mn-ea"/>
                </a:rPr>
                <a:t>通告；</a:t>
              </a:r>
              <a:endParaRPr lang="zh-CN" altLang="en-US" sz="1000" b="0" dirty="0">
                <a:latin typeface="Heiti SC Light" panose="02000000000000000000" charset="-122"/>
                <a:ea typeface="Heiti SC Light" panose="02000000000000000000" charset="-122"/>
                <a:cs typeface="Heiti SC Light" panose="02000000000000000000" charset="-122"/>
              </a:endParaRPr>
            </a:p>
            <a:p>
              <a:pPr algn="l">
                <a:lnSpc>
                  <a:spcPct val="120000"/>
                </a:lnSpc>
                <a:buClrTx/>
                <a:buSzTx/>
                <a:buFontTx/>
                <a:buNone/>
              </a:pPr>
              <a:r>
                <a:rPr lang="en-US" altLang="zh-CN" sz="1000" b="1" dirty="0">
                  <a:latin typeface="Heiti SC Light" panose="02000000000000000000" charset="-122"/>
                  <a:ea typeface="Heiti SC Light" panose="02000000000000000000" charset="-122"/>
                  <a:cs typeface="Heiti SC Light" panose="02000000000000000000" charset="-122"/>
                  <a:sym typeface="+mn-ea"/>
                </a:rPr>
                <a:t>2</a:t>
              </a:r>
              <a:r>
                <a:rPr lang="zh-CN" altLang="en-US" sz="1000" b="1" dirty="0">
                  <a:latin typeface="Heiti SC Light" panose="02000000000000000000" charset="-122"/>
                  <a:ea typeface="Heiti SC Light" panose="02000000000000000000" charset="-122"/>
                  <a:cs typeface="Heiti SC Light" panose="02000000000000000000" charset="-122"/>
                  <a:sym typeface="+mn-ea"/>
                </a:rPr>
                <a:t>、有效处置闭环</a:t>
              </a:r>
              <a:r>
                <a:rPr lang="zh-CN" altLang="en-US" sz="1000" dirty="0">
                  <a:latin typeface="Heiti SC Light" panose="02000000000000000000" charset="-122"/>
                  <a:ea typeface="Heiti SC Light" panose="02000000000000000000" charset="-122"/>
                  <a:cs typeface="Heiti SC Light" panose="02000000000000000000" charset="-122"/>
                  <a:sym typeface="+mn-ea"/>
                </a:rPr>
                <a:t>：研判为有效攻击的事件</a:t>
              </a:r>
              <a:r>
                <a:rPr lang="en-US" altLang="zh-CN" sz="1000" dirty="0">
                  <a:latin typeface="Heiti SC Light" panose="02000000000000000000" charset="-122"/>
                  <a:ea typeface="Heiti SC Light" panose="02000000000000000000" charset="-122"/>
                  <a:cs typeface="Heiti SC Light" panose="02000000000000000000" charset="-122"/>
                  <a:sym typeface="+mn-ea"/>
                </a:rPr>
                <a:t>100%</a:t>
              </a:r>
              <a:r>
                <a:rPr lang="zh-CN" altLang="en-US" sz="1000" dirty="0">
                  <a:latin typeface="Heiti SC Light" panose="02000000000000000000" charset="-122"/>
                  <a:ea typeface="Heiti SC Light" panose="02000000000000000000" charset="-122"/>
                  <a:cs typeface="Heiti SC Light" panose="02000000000000000000" charset="-122"/>
                  <a:sym typeface="+mn-ea"/>
                </a:rPr>
                <a:t>闭环</a:t>
              </a:r>
              <a:endParaRPr lang="zh-CN" altLang="en-US" sz="1000" dirty="0">
                <a:latin typeface="Heiti SC Light" panose="02000000000000000000" charset="-122"/>
                <a:ea typeface="Heiti SC Light" panose="02000000000000000000" charset="-122"/>
                <a:cs typeface="Heiti SC Light" panose="02000000000000000000" charset="-122"/>
                <a:sym typeface="+mn-ea"/>
              </a:endParaRPr>
            </a:p>
          </p:txBody>
        </p:sp>
        <p:sp>
          <p:nvSpPr>
            <p:cNvPr id="123" name="Shape 51"/>
            <p:cNvSpPr/>
            <p:nvPr/>
          </p:nvSpPr>
          <p:spPr>
            <a:xfrm>
              <a:off x="6916" y="7310"/>
              <a:ext cx="4876" cy="2268"/>
            </a:xfrm>
            <a:prstGeom prst="rect">
              <a:avLst/>
            </a:prstGeom>
            <a:solidFill>
              <a:srgbClr val="F8FAFC"/>
            </a:solidFill>
            <a:ln w="3810">
              <a:solidFill>
                <a:srgbClr val="E2E8F0"/>
              </a:solidFill>
              <a:prstDash val="solid"/>
            </a:ln>
          </p:spPr>
          <p:txBody>
            <a:bodyPr anchor="ctr" anchorCtr="0"/>
            <a:p>
              <a:pPr marL="0" indent="0">
                <a:buNone/>
              </a:pP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1、重保前系统的梳理剩余风险，针对性加固支持；</a:t>
              </a:r>
              <a:endPar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a:p>
              <a:pPr marL="0" indent="0">
                <a:buNone/>
              </a:pP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2、7x24H</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实时监测威胁，准确预警和遏制有效攻击（联动</a:t>
              </a: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AF/AES）；</a:t>
              </a:r>
              <a:endPar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3、安全事件快速响应，针对入侵成功事件的应急处置与溯源分析并提供加固建议，跟进闭环；</a:t>
              </a:r>
              <a:endPar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p:txBody>
        </p:sp>
        <p:sp>
          <p:nvSpPr>
            <p:cNvPr id="124" name="Shape 52"/>
            <p:cNvSpPr/>
            <p:nvPr/>
          </p:nvSpPr>
          <p:spPr>
            <a:xfrm>
              <a:off x="6912" y="7317"/>
              <a:ext cx="77" cy="2268"/>
            </a:xfrm>
            <a:prstGeom prst="rect">
              <a:avLst/>
            </a:prstGeom>
            <a:solidFill>
              <a:srgbClr val="2563EB">
                <a:alpha val="50000"/>
              </a:srgbClr>
            </a:solidFill>
          </p:spPr>
        </p:sp>
        <p:sp>
          <p:nvSpPr>
            <p:cNvPr id="125" name="Shape 54"/>
            <p:cNvSpPr/>
            <p:nvPr/>
          </p:nvSpPr>
          <p:spPr>
            <a:xfrm>
              <a:off x="11792" y="7317"/>
              <a:ext cx="3456" cy="2268"/>
            </a:xfrm>
            <a:prstGeom prst="rect">
              <a:avLst/>
            </a:prstGeom>
            <a:solidFill>
              <a:srgbClr val="F8FAFC"/>
            </a:solidFill>
            <a:ln w="3810">
              <a:solidFill>
                <a:srgbClr val="E2E8F0"/>
              </a:solidFill>
              <a:prstDash val="solid"/>
            </a:ln>
          </p:spPr>
          <p:txBody>
            <a:bodyPr anchor="ctr" anchorCtr="0">
              <a:noAutofit/>
            </a:bodyPr>
            <a:p>
              <a:pPr lvl="0" algn="l">
                <a:buClrTx/>
                <a:buSzTx/>
                <a:buFontTx/>
              </a:pP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1</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现场值守与一线处置、联络与</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协调；</a:t>
              </a:r>
              <a:endPar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a:p>
              <a:pPr lvl="0" algn="l">
                <a:buClrTx/>
                <a:buSzTx/>
                <a:buFontTx/>
              </a:pP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2</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渗透测试发现互联网暴露面漏洞风险，前置加固；</a:t>
              </a:r>
              <a:endPar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p:txBody>
        </p:sp>
        <p:sp>
          <p:nvSpPr>
            <p:cNvPr id="126" name="Shape 55"/>
            <p:cNvSpPr/>
            <p:nvPr/>
          </p:nvSpPr>
          <p:spPr>
            <a:xfrm>
              <a:off x="11792" y="7317"/>
              <a:ext cx="77" cy="2268"/>
            </a:xfrm>
            <a:prstGeom prst="rect">
              <a:avLst/>
            </a:prstGeom>
            <a:solidFill>
              <a:srgbClr val="D97706">
                <a:alpha val="50000"/>
              </a:srgbClr>
            </a:solidFill>
          </p:spPr>
        </p:sp>
        <p:sp>
          <p:nvSpPr>
            <p:cNvPr id="127" name="Shape 57"/>
            <p:cNvSpPr/>
            <p:nvPr/>
          </p:nvSpPr>
          <p:spPr>
            <a:xfrm>
              <a:off x="15248" y="7317"/>
              <a:ext cx="3456" cy="2268"/>
            </a:xfrm>
            <a:prstGeom prst="rect">
              <a:avLst/>
            </a:prstGeom>
            <a:solidFill>
              <a:srgbClr val="F8FAFC"/>
            </a:solidFill>
            <a:ln w="3810">
              <a:solidFill>
                <a:srgbClr val="E2E8F0"/>
              </a:solidFill>
              <a:prstDash val="solid"/>
            </a:ln>
          </p:spPr>
          <p:txBody>
            <a:bodyPr anchor="ctr" anchorCtr="0"/>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1、重保前期单位内部动员、工作部署；</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2、内部员工安全意识宣贯和管理机制优化；</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3、各项操作的决策审批</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p:txBody>
        </p:sp>
        <p:sp>
          <p:nvSpPr>
            <p:cNvPr id="128" name="Shape 58"/>
            <p:cNvSpPr/>
            <p:nvPr/>
          </p:nvSpPr>
          <p:spPr>
            <a:xfrm>
              <a:off x="15248" y="7317"/>
              <a:ext cx="77" cy="2268"/>
            </a:xfrm>
            <a:prstGeom prst="rect">
              <a:avLst/>
            </a:prstGeom>
            <a:solidFill>
              <a:srgbClr val="059669">
                <a:alpha val="50000"/>
              </a:srgbClr>
            </a:solidFill>
          </p:spPr>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文本框 43"/>
          <p:cNvSpPr txBox="1"/>
          <p:nvPr>
            <p:custDataLst>
              <p:tags r:id="rId1"/>
            </p:custDataLst>
          </p:nvPr>
        </p:nvSpPr>
        <p:spPr>
          <a:xfrm>
            <a:off x="6092825" y="3663315"/>
            <a:ext cx="4703445" cy="424815"/>
          </a:xfrm>
          <a:prstGeom prst="rect">
            <a:avLst/>
          </a:prstGeom>
          <a:noFill/>
          <a:ln w="0">
            <a:noFill/>
          </a:ln>
        </p:spPr>
        <p:txBody>
          <a:bodyPr wrap="square" lIns="0" tIns="0" rIns="0" bIns="0" anchor="ctr" anchorCtr="0">
            <a:noAutofit/>
          </a:bodyPr>
          <a:p>
            <a:pPr marL="12700" algn="l" rtl="0" eaLnBrk="0">
              <a:lnSpc>
                <a:spcPct val="100000"/>
              </a:lnSpc>
              <a:spcBef>
                <a:spcPts val="5"/>
              </a:spcBef>
            </a:pPr>
            <a:r>
              <a:rPr lang="zh-CN" altLang="en-US" sz="1400" b="0" u="none" strike="noStrike" kern="0" spc="60" dirty="0">
                <a:solidFill>
                  <a:schemeClr val="dk1"/>
                </a:solidFill>
                <a:effectLst/>
                <a:uFillTx/>
                <a:latin typeface="Arial" panose="020B0604020202020204" pitchFamily="34" charset="0"/>
                <a:ea typeface="黑体-简" panose="02000000000000000000" charset="-122"/>
                <a:cs typeface="黑体" panose="02010609060101010101" charset="-122"/>
                <a:sym typeface="+mn-ea"/>
              </a:rPr>
              <a:t>保护业务安全、提升安全水位线</a:t>
            </a:r>
            <a:endParaRPr lang="zh-CN" altLang="en-US" sz="1400" b="0" u="none" strike="noStrike" kern="0" spc="60" dirty="0">
              <a:solidFill>
                <a:schemeClr val="dk1"/>
              </a:solidFill>
              <a:effectLst/>
              <a:uFillTx/>
              <a:latin typeface="Arial" panose="020B0604020202020204" pitchFamily="34" charset="0"/>
              <a:ea typeface="黑体-简" panose="02000000000000000000" charset="-122"/>
              <a:cs typeface="黑体" panose="02010609060101010101" charset="-122"/>
              <a:sym typeface="+mn-ea"/>
            </a:endParaRPr>
          </a:p>
        </p:txBody>
      </p:sp>
      <p:sp>
        <p:nvSpPr>
          <p:cNvPr id="4" name="标题"/>
          <p:cNvSpPr>
            <a:spLocks noGrp="1"/>
          </p:cNvSpPr>
          <p:nvPr>
            <p:ph type="title"/>
            <p:custDataLst>
              <p:tags r:id="rId2"/>
            </p:custDataLst>
          </p:nvPr>
        </p:nvSpPr>
        <p:spPr>
          <a:xfrm>
            <a:off x="6092825" y="2439035"/>
            <a:ext cx="4622800" cy="1224000"/>
          </a:xfrm>
        </p:spPr>
        <p:txBody>
          <a:bodyPr>
            <a:noAutofit/>
          </a:bodyPr>
          <a:lstStyle/>
          <a:p>
            <a:r>
              <a:rPr lang="zh-CN" altLang="en-US" sz="3200">
                <a:solidFill>
                  <a:srgbClr val="4C61E7"/>
                </a:solidFill>
                <a:latin typeface="Arial Black" panose="020B0A04020102020204" pitchFamily="34" charset="0"/>
                <a:ea typeface="微软雅黑" panose="020B0503020204020204" charset="-122"/>
              </a:rPr>
              <a:t>共同的工作成果</a:t>
            </a:r>
            <a:r>
              <a:rPr lang="zh-CN" altLang="en-US" sz="3200">
                <a:solidFill>
                  <a:srgbClr val="4C61E7"/>
                </a:solidFill>
                <a:latin typeface="Arial Black" panose="020B0A04020102020204" pitchFamily="34" charset="0"/>
                <a:ea typeface="微软雅黑" panose="020B0503020204020204" charset="-122"/>
              </a:rPr>
              <a:t>总结</a:t>
            </a:r>
            <a:endParaRPr lang="zh-CN" altLang="en-US" sz="3200">
              <a:solidFill>
                <a:srgbClr val="4C61E7"/>
              </a:solidFill>
              <a:latin typeface="Arial Black" panose="020B0A04020102020204" pitchFamily="34" charset="0"/>
              <a:ea typeface="微软雅黑" panose="020B0503020204020204" charset="-122"/>
            </a:endParaRPr>
          </a:p>
        </p:txBody>
      </p:sp>
      <p:sp>
        <p:nvSpPr>
          <p:cNvPr id="6" name="节编号"/>
          <p:cNvSpPr>
            <a:spLocks noGrp="1"/>
          </p:cNvSpPr>
          <p:nvPr>
            <p:ph type="body" sz="quarter" idx="13"/>
            <p:custDataLst>
              <p:tags r:id="rId3"/>
            </p:custDataLst>
          </p:nvPr>
        </p:nvSpPr>
        <p:spPr/>
        <p:txBody>
          <a:bodyPr>
            <a:normAutofit lnSpcReduction="20000"/>
          </a:bodyPr>
          <a:lstStyle/>
          <a:p>
            <a:r>
              <a:rPr lang="en-US" altLang="en-US">
                <a:solidFill>
                  <a:srgbClr val="4C61E7"/>
                </a:solidFill>
                <a:latin typeface="Arial" panose="020B0604020202020204" pitchFamily="34" charset="0"/>
                <a:ea typeface="黑体-简" panose="02000000000000000000" charset="-122"/>
              </a:rPr>
              <a:t>02</a:t>
            </a:r>
            <a:endParaRPr lang="en-US" altLang="en-US">
              <a:solidFill>
                <a:srgbClr val="4C61E7"/>
              </a:solidFill>
              <a:latin typeface="Arial" panose="020B0604020202020204" pitchFamily="34" charset="0"/>
              <a:ea typeface="黑体-简" panose="02000000000000000000" charset="-122"/>
            </a:endParaRPr>
          </a:p>
        </p:txBody>
      </p:sp>
      <p:pic>
        <p:nvPicPr>
          <p:cNvPr id="7" name="图片 6" descr="深信服 + 智安全"/>
          <p:cNvPicPr>
            <a:picLocks noChangeAspect="1"/>
          </p:cNvPicPr>
          <p:nvPr/>
        </p:nvPicPr>
        <p:blipFill>
          <a:blip r:embed="rId4"/>
          <a:srcRect l="5232" t="26576" r="4938" b="29565"/>
          <a:stretch>
            <a:fillRect/>
          </a:stretch>
        </p:blipFill>
        <p:spPr>
          <a:xfrm>
            <a:off x="10017125" y="238760"/>
            <a:ext cx="1629867" cy="360000"/>
          </a:xfrm>
          <a:prstGeom prst="rect">
            <a:avLst/>
          </a:prstGeom>
        </p:spPr>
      </p:pic>
    </p:spTree>
    <p:custDataLst>
      <p:tags r:id="rId5"/>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p:cNvGrpSpPr/>
          <p:nvPr/>
        </p:nvGrpSpPr>
        <p:grpSpPr>
          <a:xfrm>
            <a:off x="224790" y="289878"/>
            <a:ext cx="7886065" cy="327025"/>
            <a:chOff x="533" y="646"/>
            <a:chExt cx="12419" cy="515"/>
          </a:xfrm>
        </p:grpSpPr>
        <p:grpSp>
          <p:nvGrpSpPr>
            <p:cNvPr id="13" name="组合 12"/>
            <p:cNvGrpSpPr/>
            <p:nvPr/>
          </p:nvGrpSpPr>
          <p:grpSpPr>
            <a:xfrm rot="0">
              <a:off x="533" y="672"/>
              <a:ext cx="582" cy="420"/>
              <a:chOff x="533" y="672"/>
              <a:chExt cx="582" cy="420"/>
            </a:xfrm>
          </p:grpSpPr>
          <p:sp>
            <p:nvSpPr>
              <p:cNvPr id="14" name="燕尾形 86"/>
              <p:cNvSpPr/>
              <p:nvPr>
                <p:custDataLst>
                  <p:tags r:id="rId1"/>
                </p:custDataLst>
              </p:nvPr>
            </p:nvSpPr>
            <p:spPr>
              <a:xfrm>
                <a:off x="533" y="672"/>
                <a:ext cx="326" cy="421"/>
              </a:xfrm>
              <a:prstGeom prst="chevron">
                <a:avLst>
                  <a:gd name="adj" fmla="val 50000"/>
                </a:avLst>
              </a:prstGeom>
              <a:gradFill>
                <a:gsLst>
                  <a:gs pos="0">
                    <a:srgbClr val="006CD9">
                      <a:alpha val="100000"/>
                    </a:srgbClr>
                  </a:gs>
                  <a:gs pos="100000">
                    <a:srgbClr val="006CD9">
                      <a:alpha val="75000"/>
                    </a:srgbClr>
                  </a:gs>
                </a:gsLst>
                <a:lin ang="54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sp>
            <p:nvSpPr>
              <p:cNvPr id="16" name="燕尾形 103"/>
              <p:cNvSpPr/>
              <p:nvPr>
                <p:custDataLst>
                  <p:tags r:id="rId2"/>
                </p:custDataLst>
              </p:nvPr>
            </p:nvSpPr>
            <p:spPr>
              <a:xfrm>
                <a:off x="789" y="672"/>
                <a:ext cx="326" cy="421"/>
              </a:xfrm>
              <a:prstGeom prst="chevron">
                <a:avLst>
                  <a:gd name="adj" fmla="val 50000"/>
                </a:avLst>
              </a:prstGeom>
              <a:gradFill>
                <a:gsLst>
                  <a:gs pos="0">
                    <a:srgbClr val="70AD47">
                      <a:alpha val="88000"/>
                    </a:srgbClr>
                  </a:gs>
                  <a:gs pos="100000">
                    <a:schemeClr val="accent6">
                      <a:lumMod val="85000"/>
                      <a:alpha val="63000"/>
                    </a:schemeClr>
                  </a:gs>
                </a:gsLst>
                <a:lin ang="162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grpSp>
        <p:sp>
          <p:nvSpPr>
            <p:cNvPr id="3" name="textbox 158"/>
            <p:cNvSpPr/>
            <p:nvPr/>
          </p:nvSpPr>
          <p:spPr>
            <a:xfrm>
              <a:off x="1345" y="646"/>
              <a:ext cx="5928" cy="515"/>
            </a:xfrm>
            <a:prstGeom prst="rect">
              <a:avLst/>
            </a:prstGeom>
            <a:noFill/>
            <a:ln w="0" cap="flat">
              <a:noFill/>
              <a:prstDash val="solid"/>
              <a:miter lim="0"/>
            </a:ln>
          </p:spPr>
          <p:txBody>
            <a:bodyPr vert="horz" wrap="square" lIns="0" tIns="0" rIns="0" bIns="0"/>
            <a:p>
              <a:pPr algn="l" rtl="0" eaLnBrk="0">
                <a:lnSpc>
                  <a:spcPct val="78000"/>
                </a:lnSpc>
              </a:pPr>
              <a:endParaRPr sz="100" dirty="0">
                <a:solidFill>
                  <a:schemeClr val="tx1">
                    <a:lumMod val="85000"/>
                    <a:lumOff val="15000"/>
                  </a:schemeClr>
                </a:solidFill>
                <a:latin typeface="Arial Black" panose="020B0A04020102020204" pitchFamily="34" charset="0"/>
                <a:ea typeface="微软雅黑" panose="020B0503020204020204" charset="-122"/>
                <a:cs typeface="Arial" panose="020B0604020202020204"/>
              </a:endParaRPr>
            </a:p>
            <a:p>
              <a:pPr algn="l" rtl="0" eaLnBrk="0">
                <a:lnSpc>
                  <a:spcPct val="101000"/>
                </a:lnSpc>
              </a:pPr>
              <a:r>
                <a:rPr lang="en-US" sz="1900" b="1">
                  <a:solidFill>
                    <a:srgbClr val="262626"/>
                  </a:solidFill>
                  <a:latin typeface="Arial Black" panose="020B0A04020102020204" pitchFamily="34" charset="0"/>
                  <a:ea typeface="微软雅黑" panose="020B0503020204020204" charset="-122"/>
                  <a:cs typeface="微软雅黑" panose="020B0503020204020204" charset="-122"/>
                  <a:sym typeface="微软雅黑" panose="020B0503020204020204" charset="-122"/>
                </a:rPr>
                <a:t>保护业务，全年实现0安全事故</a:t>
              </a:r>
              <a:endParaRPr lang="en-US" sz="1900">
                <a:latin typeface="Arial Black" panose="020B0A04020102020204" pitchFamily="34" charset="0"/>
                <a:ea typeface="微软雅黑" panose="020B0503020204020204" charset="-122"/>
              </a:endParaRPr>
            </a:p>
            <a:p>
              <a:pPr algn="l" rtl="0" eaLnBrk="0">
                <a:lnSpc>
                  <a:spcPct val="101000"/>
                </a:lnSpc>
              </a:pPr>
              <a:endParaRPr lang="zh-CN" altLang="en-US"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endParaRPr>
            </a:p>
          </p:txBody>
        </p:sp>
        <p:sp>
          <p:nvSpPr>
            <p:cNvPr id="4" name="textbox 158"/>
            <p:cNvSpPr/>
            <p:nvPr/>
          </p:nvSpPr>
          <p:spPr>
            <a:xfrm>
              <a:off x="7272" y="715"/>
              <a:ext cx="5680" cy="422"/>
            </a:xfrm>
            <a:prstGeom prst="rect">
              <a:avLst/>
            </a:prstGeom>
            <a:noFill/>
            <a:ln w="0" cap="flat">
              <a:noFill/>
              <a:prstDash val="solid"/>
              <a:miter lim="0"/>
            </a:ln>
          </p:spPr>
          <p:txBody>
            <a:bodyPr vert="horz" wrap="square" lIns="0" tIns="0" rIns="0" bIns="0" anchor="t" anchorCtr="0"/>
            <a:p>
              <a:pPr algn="l" rtl="0" eaLnBrk="0">
                <a:lnSpc>
                  <a:spcPct val="100000"/>
                </a:lnSpc>
              </a:pPr>
              <a:r>
                <a:rPr lang="zh-CN" altLang="en-US" sz="1400" b="1" noProof="0" dirty="0">
                  <a:solidFill>
                    <a:srgbClr val="0B4CBB"/>
                  </a:solidFill>
                  <a:uLnTx/>
                  <a:latin typeface="微软雅黑" panose="020B0503020204020204" charset="-122"/>
                  <a:ea typeface="微软雅黑" panose="020B0503020204020204" charset="-122"/>
                  <a:cs typeface="微软雅黑" panose="020B0503020204020204" charset="-122"/>
                  <a:sym typeface="Calibri" panose="020F0502020204030204" charset="0"/>
                </a:rPr>
                <a:t>安全风险主动预防，</a:t>
              </a:r>
              <a:r>
                <a:rPr lang="en-US" altLang="zh-CN" sz="1400" b="1" noProof="0" dirty="0">
                  <a:solidFill>
                    <a:srgbClr val="0B4CBB"/>
                  </a:solidFill>
                  <a:uLnTx/>
                  <a:latin typeface="微软雅黑" panose="020B0503020204020204" charset="-122"/>
                  <a:ea typeface="微软雅黑" panose="020B0503020204020204" charset="-122"/>
                  <a:cs typeface="微软雅黑" panose="020B0503020204020204" charset="-122"/>
                  <a:sym typeface="Calibri" panose="020F0502020204030204" charset="0"/>
                </a:rPr>
                <a:t>7*24</a:t>
              </a:r>
              <a:r>
                <a:rPr lang="zh-CN" altLang="en-US" sz="1400" b="1" noProof="0" dirty="0">
                  <a:solidFill>
                    <a:srgbClr val="0B4CBB"/>
                  </a:solidFill>
                  <a:uLnTx/>
                  <a:latin typeface="微软雅黑" panose="020B0503020204020204" charset="-122"/>
                  <a:ea typeface="微软雅黑" panose="020B0503020204020204" charset="-122"/>
                  <a:cs typeface="微软雅黑" panose="020B0503020204020204" charset="-122"/>
                  <a:sym typeface="Calibri" panose="020F0502020204030204" charset="0"/>
                </a:rPr>
                <a:t>小时威胁</a:t>
              </a:r>
              <a:r>
                <a:rPr lang="zh-CN" altLang="en-US" sz="1400" b="1" noProof="0" dirty="0">
                  <a:solidFill>
                    <a:srgbClr val="0B4CBB"/>
                  </a:solidFill>
                  <a:uLnTx/>
                  <a:latin typeface="微软雅黑" panose="020B0503020204020204" charset="-122"/>
                  <a:ea typeface="微软雅黑" panose="020B0503020204020204" charset="-122"/>
                  <a:cs typeface="微软雅黑" panose="020B0503020204020204" charset="-122"/>
                  <a:sym typeface="Calibri" panose="020F0502020204030204" charset="0"/>
                </a:rPr>
                <a:t>对抗</a:t>
              </a:r>
              <a:endParaRPr lang="zh-CN" altLang="en-US" sz="1400" b="1" noProof="0" dirty="0">
                <a:solidFill>
                  <a:srgbClr val="0B4CBB"/>
                </a:solidFill>
                <a:uLnTx/>
                <a:latin typeface="微软雅黑" panose="020B0503020204020204" charset="-122"/>
                <a:ea typeface="微软雅黑" panose="020B0503020204020204" charset="-122"/>
                <a:cs typeface="微软雅黑" panose="020B0503020204020204" charset="-122"/>
                <a:sym typeface="Calibri" panose="020F0502020204030204" charset="0"/>
              </a:endParaRPr>
            </a:p>
          </p:txBody>
        </p:sp>
      </p:grpSp>
      <p:pic>
        <p:nvPicPr>
          <p:cNvPr id="5" name="图片 4" descr="深信服 + 智安全"/>
          <p:cNvPicPr>
            <a:picLocks noChangeAspect="1"/>
          </p:cNvPicPr>
          <p:nvPr/>
        </p:nvPicPr>
        <p:blipFill>
          <a:blip r:embed="rId3"/>
          <a:srcRect l="5232" t="26576" r="4938" b="29565"/>
          <a:stretch>
            <a:fillRect/>
          </a:stretch>
        </p:blipFill>
        <p:spPr>
          <a:xfrm>
            <a:off x="10330815" y="273073"/>
            <a:ext cx="1629867" cy="360000"/>
          </a:xfrm>
          <a:prstGeom prst="rect">
            <a:avLst/>
          </a:prstGeom>
        </p:spPr>
      </p:pic>
      <p:pic>
        <p:nvPicPr>
          <p:cNvPr id="112" name="图片 111" descr="组 3169@1x"/>
          <p:cNvPicPr>
            <a:picLocks noChangeAspect="1"/>
          </p:cNvPicPr>
          <p:nvPr/>
        </p:nvPicPr>
        <p:blipFill>
          <a:blip r:embed="rId4"/>
          <a:stretch>
            <a:fillRect/>
          </a:stretch>
        </p:blipFill>
        <p:spPr>
          <a:xfrm>
            <a:off x="1625283" y="6097905"/>
            <a:ext cx="8941435" cy="590550"/>
          </a:xfrm>
          <a:prstGeom prst="rect">
            <a:avLst/>
          </a:prstGeom>
        </p:spPr>
      </p:pic>
      <p:sp>
        <p:nvSpPr>
          <p:cNvPr id="113" name="椭圆 112"/>
          <p:cNvSpPr/>
          <p:nvPr>
            <p:custDataLst>
              <p:tags r:id="rId5"/>
            </p:custDataLst>
          </p:nvPr>
        </p:nvSpPr>
        <p:spPr>
          <a:xfrm>
            <a:off x="4946086" y="2809741"/>
            <a:ext cx="2280778" cy="2280778"/>
          </a:xfrm>
          <a:prstGeom prst="ellipse">
            <a:avLst/>
          </a:prstGeom>
          <a:solidFill>
            <a:schemeClr val="accent5">
              <a:lumMod val="40000"/>
              <a:lumOff val="60000"/>
            </a:schemeClr>
          </a:solidFill>
          <a:ln w="19050">
            <a:gradFill>
              <a:gsLst>
                <a:gs pos="100000">
                  <a:srgbClr val="FFFFFF">
                    <a:alpha val="0"/>
                  </a:srgbClr>
                </a:gs>
                <a:gs pos="0">
                  <a:srgbClr val="FFFFFF"/>
                </a:gs>
              </a:gsLst>
              <a:lin ang="16200000" scaled="1"/>
            </a:gradFill>
          </a:ln>
          <a:effectLst>
            <a:outerShdw blurRad="215900" dist="114300" dir="5400000" algn="t" rotWithShape="0">
              <a:schemeClr val="accent5">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algn="ctr">
              <a:spcBef>
                <a:spcPct val="0"/>
              </a:spcBef>
              <a:spcAft>
                <a:spcPct val="0"/>
              </a:spcAft>
            </a:pPr>
            <a:r>
              <a:rPr lang="zh-CN" altLang="en-US" b="1" dirty="0">
                <a:solidFill>
                  <a:schemeClr val="tx1"/>
                </a:solidFill>
                <a:latin typeface="Arial" panose="020B0604020202020204" pitchFamily="34" charset="0"/>
                <a:ea typeface="黑体-简" panose="02000000000000000000" charset="-122"/>
                <a:cs typeface="+mn-ea"/>
                <a:sym typeface="+mn-ea"/>
              </a:rPr>
              <a:t>保护对象</a:t>
            </a:r>
            <a:endParaRPr lang="zh-CN" altLang="en-US" b="1" dirty="0">
              <a:solidFill>
                <a:schemeClr val="tx1"/>
              </a:solidFill>
              <a:latin typeface="Arial" panose="020B0604020202020204" pitchFamily="34" charset="0"/>
              <a:ea typeface="黑体-简" panose="02000000000000000000" charset="-122"/>
              <a:cs typeface="+mn-ea"/>
              <a:sym typeface="+mn-ea"/>
            </a:endParaRPr>
          </a:p>
          <a:p>
            <a:pPr algn="ctr">
              <a:spcBef>
                <a:spcPct val="0"/>
              </a:spcBef>
              <a:spcAft>
                <a:spcPct val="0"/>
              </a:spcAft>
            </a:pPr>
            <a:r>
              <a:rPr lang="zh-CN" altLang="en-US" sz="1400" dirty="0">
                <a:solidFill>
                  <a:schemeClr val="tx1"/>
                </a:solidFill>
                <a:latin typeface="Arial" panose="020B0604020202020204" pitchFamily="34" charset="0"/>
                <a:ea typeface="黑体-简" panose="02000000000000000000" charset="-122"/>
                <a:cs typeface="Source Han Sans CN Normal" panose="020B0600000000000000" charset="-122"/>
                <a:sym typeface="+mn-ea"/>
              </a:rPr>
              <a:t>业务：</a:t>
            </a:r>
            <a:r>
              <a:rPr lang="en-US" altLang="zh-CN" sz="1400" dirty="0">
                <a:solidFill>
                  <a:srgbClr val="4C61E7"/>
                </a:solidFill>
                <a:latin typeface="Arial" panose="020B0604020202020204" pitchFamily="34" charset="0"/>
                <a:ea typeface="黑体-简" panose="02000000000000000000" charset="-122"/>
                <a:cs typeface="Source Han Sans CN Normal" panose="020B0600000000000000" charset="-122"/>
                <a:sym typeface="+mn-ea"/>
              </a:rPr>
              <a:t>{</a:t>
            </a:r>
            <a:r>
              <a:rPr lang="zh-CN" altLang="en-US" sz="1400" dirty="0">
                <a:solidFill>
                  <a:srgbClr val="4C61E7"/>
                </a:solidFill>
                <a:latin typeface="Arial" panose="020B0604020202020204" pitchFamily="34" charset="0"/>
                <a:ea typeface="黑体-简" panose="02000000000000000000" charset="-122"/>
                <a:cs typeface="Source Han Sans CN Normal" panose="020B0600000000000000" charset="-122"/>
                <a:sym typeface="+mn-ea"/>
              </a:rPr>
              <a:t>业务系统数量</a:t>
            </a:r>
            <a:r>
              <a:rPr lang="en-US" altLang="zh-CN" sz="1400" dirty="0">
                <a:solidFill>
                  <a:srgbClr val="4C61E7"/>
                </a:solidFill>
                <a:latin typeface="Arial" panose="020B0604020202020204" pitchFamily="34" charset="0"/>
                <a:ea typeface="黑体-简" panose="02000000000000000000" charset="-122"/>
                <a:cs typeface="Source Han Sans CN Normal" panose="020B0600000000000000" charset="-122"/>
                <a:sym typeface="+mn-ea"/>
              </a:rPr>
              <a:t>}</a:t>
            </a:r>
            <a:endParaRPr lang="en-US" altLang="zh-CN" sz="1400" dirty="0">
              <a:solidFill>
                <a:schemeClr val="tx1"/>
              </a:solidFill>
              <a:latin typeface="Arial" panose="020B0604020202020204" pitchFamily="34" charset="0"/>
              <a:ea typeface="黑体-简" panose="02000000000000000000" charset="-122"/>
              <a:cs typeface="Source Han Sans CN Normal" panose="020B0600000000000000" charset="-122"/>
              <a:sym typeface="+mn-ea"/>
            </a:endParaRPr>
          </a:p>
          <a:p>
            <a:pPr algn="ctr">
              <a:spcBef>
                <a:spcPct val="0"/>
              </a:spcBef>
              <a:spcAft>
                <a:spcPct val="0"/>
              </a:spcAft>
            </a:pPr>
            <a:r>
              <a:rPr lang="zh-CN" altLang="en-US" sz="1400" dirty="0">
                <a:solidFill>
                  <a:schemeClr val="tx1"/>
                </a:solidFill>
                <a:latin typeface="Arial" panose="020B0604020202020204" pitchFamily="34" charset="0"/>
                <a:ea typeface="黑体-简" panose="02000000000000000000" charset="-122"/>
                <a:cs typeface="Source Han Sans CN Normal" panose="020B0600000000000000" charset="-122"/>
                <a:sym typeface="+mn-ea"/>
              </a:rPr>
              <a:t>服务器：</a:t>
            </a:r>
            <a:r>
              <a:rPr lang="en-US" altLang="zh-CN" sz="1400" dirty="0">
                <a:solidFill>
                  <a:srgbClr val="4C61E7"/>
                </a:solidFill>
                <a:latin typeface="Arial" panose="020B0604020202020204" pitchFamily="34" charset="0"/>
                <a:ea typeface="黑体-简" panose="02000000000000000000" charset="-122"/>
                <a:cs typeface="Source Han Sans CN Normal" panose="020B0600000000000000" charset="-122"/>
                <a:sym typeface="+mn-ea"/>
              </a:rPr>
              <a:t>{</a:t>
            </a:r>
            <a:r>
              <a:rPr lang="zh-CN" altLang="en-US" sz="1400" dirty="0">
                <a:solidFill>
                  <a:srgbClr val="4C61E7"/>
                </a:solidFill>
                <a:latin typeface="Arial" panose="020B0604020202020204" pitchFamily="34" charset="0"/>
                <a:ea typeface="黑体-简" panose="02000000000000000000" charset="-122"/>
                <a:cs typeface="Source Han Sans CN Normal" panose="020B0600000000000000" charset="-122"/>
                <a:sym typeface="+mn-ea"/>
              </a:rPr>
              <a:t>服务器资产数量</a:t>
            </a:r>
            <a:r>
              <a:rPr lang="en-US" altLang="zh-CN" sz="1400" dirty="0">
                <a:solidFill>
                  <a:srgbClr val="4C61E7"/>
                </a:solidFill>
                <a:latin typeface="Arial" panose="020B0604020202020204" pitchFamily="34" charset="0"/>
                <a:ea typeface="黑体-简" panose="02000000000000000000" charset="-122"/>
                <a:cs typeface="Source Han Sans CN Normal" panose="020B0600000000000000" charset="-122"/>
                <a:sym typeface="+mn-ea"/>
              </a:rPr>
              <a:t>}</a:t>
            </a:r>
            <a:endParaRPr lang="en-US" altLang="zh-CN" sz="1400" dirty="0">
              <a:solidFill>
                <a:srgbClr val="4C61E7"/>
              </a:solidFill>
              <a:latin typeface="Arial" panose="020B0604020202020204" pitchFamily="34" charset="0"/>
              <a:ea typeface="黑体-简" panose="02000000000000000000" charset="-122"/>
              <a:cs typeface="Source Han Sans CN Normal" panose="020B0600000000000000" charset="-122"/>
              <a:sym typeface="+mn-ea"/>
            </a:endParaRPr>
          </a:p>
          <a:p>
            <a:pPr algn="ctr">
              <a:spcBef>
                <a:spcPct val="0"/>
              </a:spcBef>
              <a:spcAft>
                <a:spcPct val="0"/>
              </a:spcAft>
            </a:pPr>
            <a:r>
              <a:rPr lang="zh-CN" altLang="en-US" sz="1400" dirty="0">
                <a:solidFill>
                  <a:schemeClr val="tx1"/>
                </a:solidFill>
                <a:latin typeface="Arial" panose="020B0604020202020204" pitchFamily="34" charset="0"/>
                <a:ea typeface="黑体-简" panose="02000000000000000000" charset="-122"/>
                <a:cs typeface="Source Han Sans CN Normal" panose="020B0600000000000000" charset="-122"/>
                <a:sym typeface="+mn-ea"/>
              </a:rPr>
              <a:t>重要终端：</a:t>
            </a:r>
            <a:r>
              <a:rPr lang="en-US" sz="1400" dirty="0">
                <a:solidFill>
                  <a:srgbClr val="4C61E7"/>
                </a:solidFill>
                <a:latin typeface="Arial" panose="020B0604020202020204" pitchFamily="34" charset="0"/>
                <a:ea typeface="黑体-简" panose="02000000000000000000" charset="-122"/>
                <a:cs typeface="Source Han Sans CN Normal" panose="020B0600000000000000" charset="-122"/>
                <a:sym typeface="+mn-ea"/>
              </a:rPr>
              <a:t>{PC</a:t>
            </a:r>
            <a:r>
              <a:rPr lang="zh-CN" altLang="en-US" sz="1400" dirty="0">
                <a:solidFill>
                  <a:srgbClr val="4C61E7"/>
                </a:solidFill>
                <a:latin typeface="Arial" panose="020B0604020202020204" pitchFamily="34" charset="0"/>
                <a:ea typeface="黑体-简" panose="02000000000000000000" charset="-122"/>
                <a:cs typeface="Source Han Sans CN Normal" panose="020B0600000000000000" charset="-122"/>
                <a:sym typeface="+mn-ea"/>
              </a:rPr>
              <a:t>资产数量</a:t>
            </a:r>
            <a:r>
              <a:rPr lang="en-US" sz="1400" dirty="0">
                <a:solidFill>
                  <a:srgbClr val="4C61E7"/>
                </a:solidFill>
                <a:latin typeface="Arial" panose="020B0604020202020204" pitchFamily="34" charset="0"/>
                <a:ea typeface="黑体-简" panose="02000000000000000000" charset="-122"/>
                <a:cs typeface="Source Han Sans CN Normal" panose="020B0600000000000000" charset="-122"/>
                <a:sym typeface="+mn-ea"/>
              </a:rPr>
              <a:t>}</a:t>
            </a:r>
            <a:endParaRPr lang="en-US" altLang="en-US" sz="1400" b="1" dirty="0">
              <a:solidFill>
                <a:srgbClr val="4C61E7"/>
              </a:solidFill>
              <a:latin typeface="Arial" panose="020B0604020202020204" pitchFamily="34" charset="0"/>
              <a:ea typeface="黑体-简" panose="02000000000000000000" charset="-122"/>
              <a:cs typeface="Source Han Sans CN Normal" panose="020B0600000000000000" charset="-122"/>
              <a:sym typeface="+mn-ea"/>
            </a:endParaRPr>
          </a:p>
        </p:txBody>
      </p:sp>
      <p:sp>
        <p:nvSpPr>
          <p:cNvPr id="114" name="弧形 113"/>
          <p:cNvSpPr/>
          <p:nvPr>
            <p:custDataLst>
              <p:tags r:id="rId6"/>
            </p:custDataLst>
          </p:nvPr>
        </p:nvSpPr>
        <p:spPr>
          <a:xfrm rot="20460000">
            <a:off x="4764380" y="2660015"/>
            <a:ext cx="2645644" cy="2645644"/>
          </a:xfrm>
          <a:prstGeom prst="arc">
            <a:avLst>
              <a:gd name="adj1" fmla="val 13075779"/>
              <a:gd name="adj2" fmla="val 0"/>
            </a:avLst>
          </a:prstGeom>
          <a:ln>
            <a:gradFill>
              <a:gsLst>
                <a:gs pos="100000">
                  <a:schemeClr val="accent5">
                    <a:alpha val="5000"/>
                  </a:schemeClr>
                </a:gs>
                <a:gs pos="0">
                  <a:schemeClr val="accent5">
                    <a:alpha val="100000"/>
                  </a:schemeClr>
                </a:gs>
              </a:gsLst>
              <a:lin ang="0" scaled="1"/>
            </a:gradFill>
            <a:headEnd type="oval"/>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solidFill>
                <a:schemeClr val="tx1"/>
              </a:solidFill>
            </a:endParaRPr>
          </a:p>
        </p:txBody>
      </p:sp>
      <p:sp>
        <p:nvSpPr>
          <p:cNvPr id="115" name="弧形 114"/>
          <p:cNvSpPr/>
          <p:nvPr>
            <p:custDataLst>
              <p:tags r:id="rId7"/>
            </p:custDataLst>
          </p:nvPr>
        </p:nvSpPr>
        <p:spPr>
          <a:xfrm rot="9660000">
            <a:off x="4764380" y="2627308"/>
            <a:ext cx="2645644" cy="2645644"/>
          </a:xfrm>
          <a:prstGeom prst="arc">
            <a:avLst>
              <a:gd name="adj1" fmla="val 13075779"/>
              <a:gd name="adj2" fmla="val 0"/>
            </a:avLst>
          </a:prstGeom>
          <a:ln>
            <a:gradFill>
              <a:gsLst>
                <a:gs pos="100000">
                  <a:schemeClr val="accent5">
                    <a:alpha val="5000"/>
                  </a:schemeClr>
                </a:gs>
                <a:gs pos="0">
                  <a:schemeClr val="accent5">
                    <a:alpha val="100000"/>
                  </a:schemeClr>
                </a:gs>
              </a:gsLst>
              <a:lin ang="0" scaled="1"/>
            </a:gradFill>
            <a:headEnd type="oval"/>
          </a:ln>
        </p:spPr>
        <p:style>
          <a:lnRef idx="2">
            <a:schemeClr val="accent1"/>
          </a:lnRef>
          <a:fillRef idx="0">
            <a:srgbClr val="FFFFFF"/>
          </a:fillRef>
          <a:effectRef idx="0">
            <a:srgbClr val="FFFFFF"/>
          </a:effectRef>
          <a:fontRef idx="minor">
            <a:schemeClr val="tx1"/>
          </a:fontRef>
        </p:style>
        <p:txBody>
          <a:bodyPr vertOverflow="overflow" horzOverflow="overflow" vert="horz" wrap="square" tIns="0" numCol="1" spcCol="0" rtlCol="0" fromWordArt="0" anchor="ctr" anchorCtr="0" forceAA="0" compatLnSpc="1">
            <a:noAutofit/>
          </a:bodyPr>
          <a:lstStyle/>
          <a:p>
            <a:pPr lvl="0" algn="ctr">
              <a:buClrTx/>
              <a:buSzTx/>
              <a:buFontTx/>
            </a:pPr>
            <a:endParaRPr lang="zh-CN" altLang="en-US">
              <a:solidFill>
                <a:schemeClr val="tx1"/>
              </a:solidFill>
              <a:sym typeface="+mn-ea"/>
            </a:endParaRPr>
          </a:p>
        </p:txBody>
      </p:sp>
      <p:sp>
        <p:nvSpPr>
          <p:cNvPr id="116" name="椭圆 115"/>
          <p:cNvSpPr/>
          <p:nvPr>
            <p:custDataLst>
              <p:tags r:id="rId8"/>
            </p:custDataLst>
          </p:nvPr>
        </p:nvSpPr>
        <p:spPr>
          <a:xfrm>
            <a:off x="4617561" y="2480489"/>
            <a:ext cx="2939282" cy="2939282"/>
          </a:xfrm>
          <a:prstGeom prst="ellipse">
            <a:avLst/>
          </a:prstGeom>
          <a:noFill/>
          <a:ln w="44450">
            <a:gradFill>
              <a:gsLst>
                <a:gs pos="99000">
                  <a:schemeClr val="accent5">
                    <a:alpha val="21000"/>
                  </a:schemeClr>
                </a:gs>
                <a:gs pos="0">
                  <a:schemeClr val="accent5">
                    <a:alpha val="10000"/>
                  </a:schemeClr>
                </a:gs>
              </a:gsLst>
              <a:lin ang="16200000" scaled="1"/>
            </a:gradFill>
            <a:prstDash val="sysDot"/>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tIns="539750" numCol="1" spcCol="0" rtlCol="0" fromWordArt="0" anchor="ctr" anchorCtr="0" forceAA="0" compatLnSpc="1">
            <a:noAutofit/>
          </a:bodyPr>
          <a:lstStyle/>
          <a:p>
            <a:pPr lvl="0" algn="ctr">
              <a:buClrTx/>
              <a:buSzTx/>
              <a:buFontTx/>
            </a:pPr>
            <a:endParaRPr lang="zh-CN" altLang="en-US" sz="2000" b="1" spc="130" dirty="0">
              <a:solidFill>
                <a:schemeClr val="bg1"/>
              </a:solidFill>
              <a:uFillTx/>
              <a:latin typeface="+中文标题" charset="0"/>
              <a:ea typeface="+mj-ea"/>
              <a:cs typeface="+mj-ea"/>
              <a:sym typeface="+mn-ea"/>
            </a:endParaRPr>
          </a:p>
        </p:txBody>
      </p:sp>
      <p:sp>
        <p:nvSpPr>
          <p:cNvPr id="117" name="椭圆 116"/>
          <p:cNvSpPr/>
          <p:nvPr>
            <p:custDataLst>
              <p:tags r:id="rId9"/>
            </p:custDataLst>
          </p:nvPr>
        </p:nvSpPr>
        <p:spPr>
          <a:xfrm>
            <a:off x="4438035" y="2333671"/>
            <a:ext cx="3298334" cy="3298334"/>
          </a:xfrm>
          <a:prstGeom prst="ellipse">
            <a:avLst/>
          </a:prstGeom>
          <a:noFill/>
          <a:ln w="44450">
            <a:gradFill>
              <a:gsLst>
                <a:gs pos="100000">
                  <a:schemeClr val="accent5">
                    <a:alpha val="4000"/>
                  </a:schemeClr>
                </a:gs>
                <a:gs pos="0">
                  <a:schemeClr val="accent5">
                    <a:alpha val="7000"/>
                  </a:schemeClr>
                </a:gs>
              </a:gsLst>
              <a:lin ang="16200000" scaled="1"/>
            </a:gradFill>
            <a:prstDash val="sysDot"/>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tIns="575945" numCol="1" spcCol="0" rtlCol="0" fromWordArt="0" anchor="ctr" anchorCtr="0" forceAA="0" compatLnSpc="1">
            <a:noAutofit/>
          </a:bodyPr>
          <a:lstStyle/>
          <a:p>
            <a:pPr lvl="0" algn="ctr">
              <a:buClrTx/>
              <a:buSzTx/>
              <a:buFontTx/>
            </a:pPr>
            <a:endParaRPr lang="zh-CN" altLang="en-US" sz="2000" b="1" spc="130" dirty="0">
              <a:solidFill>
                <a:schemeClr val="bg1"/>
              </a:solidFill>
              <a:uFillTx/>
              <a:latin typeface="+中文标题" charset="0"/>
              <a:ea typeface="+mj-ea"/>
              <a:cs typeface="+mj-ea"/>
              <a:sym typeface="+mn-ea"/>
            </a:endParaRPr>
          </a:p>
        </p:txBody>
      </p:sp>
      <p:sp>
        <p:nvSpPr>
          <p:cNvPr id="118" name="图形 4"/>
          <p:cNvSpPr/>
          <p:nvPr>
            <p:custDataLst>
              <p:tags r:id="rId10"/>
            </p:custDataLst>
          </p:nvPr>
        </p:nvSpPr>
        <p:spPr>
          <a:xfrm>
            <a:off x="10098551" y="1515265"/>
            <a:ext cx="1081244" cy="4870639"/>
          </a:xfrm>
          <a:custGeom>
            <a:avLst/>
            <a:gdLst>
              <a:gd name="connsiteX0" fmla="*/ -259 w 944642"/>
              <a:gd name="connsiteY0" fmla="*/ 4255111 h 4255294"/>
              <a:gd name="connsiteX1" fmla="*/ 203548 w 944642"/>
              <a:gd name="connsiteY1" fmla="*/ 203623 h 4255294"/>
              <a:gd name="connsiteX2" fmla="*/ -259 w 944642"/>
              <a:gd name="connsiteY2" fmla="*/ -183 h 4255294"/>
            </a:gdLst>
            <a:ahLst/>
            <a:cxnLst>
              <a:cxn ang="0">
                <a:pos x="connsiteX0" y="connsiteY0"/>
              </a:cxn>
              <a:cxn ang="0">
                <a:pos x="connsiteX1" y="connsiteY1"/>
              </a:cxn>
              <a:cxn ang="0">
                <a:pos x="connsiteX2" y="connsiteY2"/>
              </a:cxn>
            </a:cxnLst>
            <a:rect l="l" t="t" r="r" b="b"/>
            <a:pathLst>
              <a:path w="944642" h="4255294">
                <a:moveTo>
                  <a:pt x="-259" y="4255111"/>
                </a:moveTo>
                <a:cubicBezTo>
                  <a:pt x="1174812" y="3192606"/>
                  <a:pt x="1266062" y="1378694"/>
                  <a:pt x="203548" y="203623"/>
                </a:cubicBezTo>
                <a:cubicBezTo>
                  <a:pt x="139073" y="132319"/>
                  <a:pt x="71055" y="64291"/>
                  <a:pt x="-259" y="-183"/>
                </a:cubicBezTo>
              </a:path>
            </a:pathLst>
          </a:custGeom>
          <a:noFill/>
          <a:ln w="15875" cap="flat">
            <a:gradFill>
              <a:gsLst>
                <a:gs pos="100000">
                  <a:schemeClr val="accent6">
                    <a:lumMod val="20000"/>
                    <a:lumOff val="80000"/>
                    <a:alpha val="0"/>
                  </a:schemeClr>
                </a:gs>
                <a:gs pos="0">
                  <a:schemeClr val="accent6">
                    <a:lumMod val="20000"/>
                    <a:lumOff val="80000"/>
                    <a:alpha val="0"/>
                  </a:schemeClr>
                </a:gs>
                <a:gs pos="70000">
                  <a:schemeClr val="accent6">
                    <a:lumMod val="60000"/>
                    <a:lumOff val="40000"/>
                    <a:alpha val="100000"/>
                  </a:schemeClr>
                </a:gs>
                <a:gs pos="30000">
                  <a:schemeClr val="accent6">
                    <a:lumMod val="60000"/>
                    <a:lumOff val="40000"/>
                    <a:alpha val="100000"/>
                  </a:schemeClr>
                </a:gs>
              </a:gsLst>
              <a:lin ang="16200000" scaled="1"/>
            </a:gradFill>
            <a:prstDash val="solid"/>
            <a:miter/>
          </a:ln>
          <a:extLst>
            <a:ext uri="{909E8E84-426E-40DD-AFC4-6F175D3DCCD1}">
              <a14:hiddenFill xmlns:a14="http://schemas.microsoft.com/office/drawing/2010/main">
                <a:solidFill>
                  <a:srgbClr val="FFFFFF"/>
                </a:solidFill>
              </a14:hiddenFill>
            </a:ext>
          </a:ex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olidFill>
                <a:schemeClr val="tx1"/>
              </a:solidFill>
              <a:sym typeface="+mn-ea"/>
            </a:endParaRPr>
          </a:p>
        </p:txBody>
      </p:sp>
      <p:sp>
        <p:nvSpPr>
          <p:cNvPr id="119" name="图形 4"/>
          <p:cNvSpPr/>
          <p:nvPr>
            <p:custDataLst>
              <p:tags r:id="rId11"/>
            </p:custDataLst>
          </p:nvPr>
        </p:nvSpPr>
        <p:spPr>
          <a:xfrm flipH="1">
            <a:off x="994410" y="1532890"/>
            <a:ext cx="1081405" cy="4853305"/>
          </a:xfrm>
          <a:custGeom>
            <a:avLst/>
            <a:gdLst>
              <a:gd name="connsiteX0" fmla="*/ -259 w 944642"/>
              <a:gd name="connsiteY0" fmla="*/ 4255111 h 4255294"/>
              <a:gd name="connsiteX1" fmla="*/ 203548 w 944642"/>
              <a:gd name="connsiteY1" fmla="*/ 203623 h 4255294"/>
              <a:gd name="connsiteX2" fmla="*/ -259 w 944642"/>
              <a:gd name="connsiteY2" fmla="*/ -183 h 4255294"/>
            </a:gdLst>
            <a:ahLst/>
            <a:cxnLst>
              <a:cxn ang="0">
                <a:pos x="connsiteX0" y="connsiteY0"/>
              </a:cxn>
              <a:cxn ang="0">
                <a:pos x="connsiteX1" y="connsiteY1"/>
              </a:cxn>
              <a:cxn ang="0">
                <a:pos x="connsiteX2" y="connsiteY2"/>
              </a:cxn>
            </a:cxnLst>
            <a:rect l="l" t="t" r="r" b="b"/>
            <a:pathLst>
              <a:path w="944642" h="4255294">
                <a:moveTo>
                  <a:pt x="-259" y="4255111"/>
                </a:moveTo>
                <a:cubicBezTo>
                  <a:pt x="1174812" y="3192606"/>
                  <a:pt x="1266062" y="1378694"/>
                  <a:pt x="203548" y="203623"/>
                </a:cubicBezTo>
                <a:cubicBezTo>
                  <a:pt x="139073" y="132319"/>
                  <a:pt x="71055" y="64291"/>
                  <a:pt x="-259" y="-183"/>
                </a:cubicBezTo>
              </a:path>
            </a:pathLst>
          </a:custGeom>
          <a:noFill/>
          <a:ln w="15875" cap="flat">
            <a:gradFill>
              <a:gsLst>
                <a:gs pos="100000">
                  <a:schemeClr val="accent6">
                    <a:lumMod val="20000"/>
                    <a:lumOff val="80000"/>
                    <a:alpha val="0"/>
                  </a:schemeClr>
                </a:gs>
                <a:gs pos="0">
                  <a:schemeClr val="accent6">
                    <a:lumMod val="20000"/>
                    <a:lumOff val="80000"/>
                    <a:alpha val="0"/>
                  </a:schemeClr>
                </a:gs>
                <a:gs pos="70000">
                  <a:schemeClr val="accent6">
                    <a:lumMod val="60000"/>
                    <a:lumOff val="40000"/>
                    <a:alpha val="100000"/>
                  </a:schemeClr>
                </a:gs>
                <a:gs pos="30000">
                  <a:schemeClr val="accent6">
                    <a:lumMod val="60000"/>
                    <a:lumOff val="40000"/>
                    <a:alpha val="100000"/>
                  </a:schemeClr>
                </a:gs>
              </a:gsLst>
              <a:lin ang="16200000" scaled="1"/>
            </a:gradFill>
            <a:prstDash val="solid"/>
            <a:miter/>
          </a:ln>
          <a:extLst>
            <a:ext uri="{909E8E84-426E-40DD-AFC4-6F175D3DCCD1}">
              <a14:hiddenFill xmlns:a14="http://schemas.microsoft.com/office/drawing/2010/main">
                <a:solidFill>
                  <a:srgbClr val="FFFFFF"/>
                </a:solidFill>
              </a14:hiddenFill>
            </a:ext>
          </a:ex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olidFill>
                <a:schemeClr val="tx1"/>
              </a:solidFill>
              <a:sym typeface="+mn-ea"/>
            </a:endParaRPr>
          </a:p>
        </p:txBody>
      </p:sp>
      <p:sp>
        <p:nvSpPr>
          <p:cNvPr id="120" name="椭圆 119"/>
          <p:cNvSpPr/>
          <p:nvPr>
            <p:custDataLst>
              <p:tags r:id="rId12"/>
            </p:custDataLst>
          </p:nvPr>
        </p:nvSpPr>
        <p:spPr>
          <a:xfrm>
            <a:off x="667992" y="3597620"/>
            <a:ext cx="697752" cy="697752"/>
          </a:xfrm>
          <a:prstGeom prst="ellipse">
            <a:avLst/>
          </a:prstGeom>
          <a:gradFill>
            <a:gsLst>
              <a:gs pos="0">
                <a:schemeClr val="accent5">
                  <a:alpha val="100000"/>
                </a:schemeClr>
              </a:gs>
              <a:gs pos="100000">
                <a:schemeClr val="accent5">
                  <a:lumMod val="80000"/>
                  <a:lumOff val="20000"/>
                  <a:alpha val="100000"/>
                </a:schemeClr>
              </a:gs>
            </a:gsLst>
            <a:lin ang="13500000"/>
          </a:gradFill>
          <a:ln w="12700">
            <a:gradFill>
              <a:gsLst>
                <a:gs pos="100000">
                  <a:schemeClr val="bg1">
                    <a:alpha val="0"/>
                  </a:schemeClr>
                </a:gs>
                <a:gs pos="0">
                  <a:schemeClr val="bg1"/>
                </a:gs>
              </a:gsLst>
              <a:lin ang="15960000" scaled="0"/>
            </a:gradFill>
          </a:ln>
          <a:effectLst>
            <a:outerShdw blurRad="215900" dist="114300" dir="5400000" algn="t" rotWithShape="0">
              <a:schemeClr val="accent5">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396240" rIns="71755" bIns="45720" numCol="1" spcCol="0" rtlCol="0" fromWordArt="0" anchor="ctr" anchorCtr="0" forceAA="0" compatLnSpc="1">
            <a:normAutofit fontScale="25000" lnSpcReduction="20000"/>
          </a:bodyPr>
          <a:lstStyle/>
          <a:p>
            <a:pPr lvl="0" algn="ctr">
              <a:buClrTx/>
              <a:buSzTx/>
              <a:buFontTx/>
            </a:pPr>
            <a:endParaRPr lang="zh-CN" altLang="en-US" b="1" spc="130" dirty="0">
              <a:solidFill>
                <a:schemeClr val="bg1"/>
              </a:solidFill>
              <a:uFillTx/>
              <a:latin typeface="+中文标题" charset="0"/>
              <a:ea typeface="+mj-ea"/>
              <a:cs typeface="+mj-ea"/>
              <a:sym typeface="+mn-ea"/>
            </a:endParaRPr>
          </a:p>
        </p:txBody>
      </p:sp>
      <p:sp>
        <p:nvSpPr>
          <p:cNvPr id="121" name="矩形 120"/>
          <p:cNvSpPr/>
          <p:nvPr>
            <p:custDataLst>
              <p:tags r:id="rId13"/>
            </p:custDataLst>
          </p:nvPr>
        </p:nvSpPr>
        <p:spPr>
          <a:xfrm>
            <a:off x="1463675" y="2333625"/>
            <a:ext cx="2555240" cy="329565"/>
          </a:xfrm>
          <a:prstGeom prst="rect">
            <a:avLst/>
          </a:prstGeom>
          <a:noFill/>
        </p:spPr>
        <p:txBody>
          <a:bodyPr wrap="square" lIns="0" tIns="0" rIns="0" bIns="0" rtlCol="0" anchor="b">
            <a:noAutofit/>
          </a:bodyPr>
          <a:lstStyle/>
          <a:p>
            <a:pPr>
              <a:spcBef>
                <a:spcPct val="0"/>
              </a:spcBef>
              <a:spcAft>
                <a:spcPct val="0"/>
              </a:spcAft>
            </a:pPr>
            <a:r>
              <a:rPr lang="zh-CN" altLang="en-US" b="1" dirty="0">
                <a:solidFill>
                  <a:schemeClr val="accent5"/>
                </a:solidFill>
                <a:latin typeface="Arial" panose="020B0604020202020204" pitchFamily="34" charset="0"/>
                <a:ea typeface="黑体-简" panose="02000000000000000000" charset="-122"/>
                <a:cs typeface="+mn-ea"/>
                <a:sym typeface="+mn-ea"/>
              </a:rPr>
              <a:t>风险主动预防</a:t>
            </a:r>
            <a:endParaRPr lang="zh-CN" altLang="en-US" b="1" dirty="0">
              <a:solidFill>
                <a:schemeClr val="accent5"/>
              </a:solidFill>
              <a:latin typeface="Arial" panose="020B0604020202020204" pitchFamily="34" charset="0"/>
              <a:ea typeface="黑体-简" panose="02000000000000000000" charset="-122"/>
              <a:cs typeface="+mn-ea"/>
              <a:sym typeface="+mn-ea"/>
            </a:endParaRPr>
          </a:p>
        </p:txBody>
      </p:sp>
      <p:sp>
        <p:nvSpPr>
          <p:cNvPr id="122" name="矩形 121"/>
          <p:cNvSpPr/>
          <p:nvPr>
            <p:custDataLst>
              <p:tags r:id="rId14"/>
            </p:custDataLst>
          </p:nvPr>
        </p:nvSpPr>
        <p:spPr>
          <a:xfrm>
            <a:off x="1463675" y="2797810"/>
            <a:ext cx="2807970" cy="3507105"/>
          </a:xfrm>
          <a:prstGeom prst="rect">
            <a:avLst/>
          </a:prstGeom>
          <a:noFill/>
        </p:spPr>
        <p:txBody>
          <a:bodyPr wrap="square" lIns="0" tIns="0" rIns="0" bIns="0" rtlCol="0" anchor="t" anchorCtr="0">
            <a:noAutofit/>
          </a:bodyPr>
          <a:lstStyle/>
          <a:p>
            <a:pPr>
              <a:lnSpc>
                <a:spcPct val="130000"/>
              </a:lnSpc>
              <a:spcBef>
                <a:spcPct val="0"/>
              </a:spcBef>
              <a:spcAft>
                <a:spcPct val="0"/>
              </a:spcAft>
            </a:pPr>
            <a:r>
              <a:rPr lang="zh-CN" altLang="en-US" sz="1200" b="1">
                <a:solidFill>
                  <a:schemeClr val="tx1"/>
                </a:solidFill>
                <a:latin typeface="Arial" panose="020B0604020202020204" pitchFamily="34" charset="0"/>
                <a:ea typeface="黑体-简" panose="02000000000000000000" charset="-122"/>
                <a:cs typeface="Songti SC" panose="02010800040101010101" charset="-122"/>
                <a:sym typeface="Noto Sans SC"/>
              </a:rPr>
              <a:t>主动</a:t>
            </a:r>
            <a:r>
              <a:rPr lang="en-US" sz="1200" b="1">
                <a:solidFill>
                  <a:schemeClr val="tx1"/>
                </a:solidFill>
                <a:latin typeface="Arial" panose="020B0604020202020204" pitchFamily="34" charset="0"/>
                <a:ea typeface="黑体-简" panose="02000000000000000000" charset="-122"/>
                <a:cs typeface="Songti SC" panose="02010800040101010101" charset="-122"/>
                <a:sym typeface="Noto Sans SC"/>
              </a:rPr>
              <a:t>风险识别：</a:t>
            </a:r>
            <a:r>
              <a:rPr 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提前</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发现</a:t>
            </a:r>
            <a:r>
              <a:rPr 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了</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vulnerability_count}</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个漏洞风险,</a:t>
            </a:r>
            <a:r>
              <a:rPr 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   其中</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core_system_1</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 {{</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system_1_vulnerability_count</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zh-CN" alt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个、</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core_system_2</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 {{</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system_2_vulnerability_count</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zh-CN" alt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个、</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core_system_3</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 {{</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system_3_vulnerability_count</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zh-CN" alt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个</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{{weak_password_count}</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个弱口令风险</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{{latest_vulnerability_intelligence_count}}</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个最新漏洞情报（受影响资产</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{{latest_vulnerability_affected_assets_count}}</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个）</a:t>
            </a:r>
            <a:endPar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endParaRPr>
          </a:p>
          <a:p>
            <a:pPr>
              <a:lnSpc>
                <a:spcPct val="130000"/>
              </a:lnSpc>
              <a:spcBef>
                <a:spcPct val="0"/>
              </a:spcBef>
              <a:spcAft>
                <a:spcPct val="0"/>
              </a:spcAft>
            </a:pPr>
            <a:endPar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endParaRPr>
          </a:p>
          <a:p>
            <a:pPr>
              <a:lnSpc>
                <a:spcPct val="130000"/>
              </a:lnSpc>
              <a:spcBef>
                <a:spcPct val="0"/>
              </a:spcBef>
              <a:spcAft>
                <a:spcPct val="0"/>
              </a:spcAft>
            </a:pPr>
            <a:r>
              <a:rPr lang="zh-CN" altLang="en-US" sz="1200" b="1">
                <a:solidFill>
                  <a:schemeClr val="tx1"/>
                </a:solidFill>
                <a:latin typeface="Arial" panose="020B0604020202020204" pitchFamily="34" charset="0"/>
                <a:ea typeface="黑体-简" panose="02000000000000000000" charset="-122"/>
                <a:cs typeface="Songti SC" panose="02010800040101010101" charset="-122"/>
                <a:sym typeface="Noto Sans SC"/>
              </a:rPr>
              <a:t>高效</a:t>
            </a:r>
            <a:r>
              <a:rPr lang="en-US" sz="1200" b="1">
                <a:solidFill>
                  <a:schemeClr val="tx1"/>
                </a:solidFill>
                <a:latin typeface="Arial" panose="020B0604020202020204" pitchFamily="34" charset="0"/>
                <a:ea typeface="黑体-简" panose="02000000000000000000" charset="-122"/>
                <a:cs typeface="Songti SC" panose="02010800040101010101" charset="-122"/>
                <a:sym typeface="Noto Sans SC"/>
              </a:rPr>
              <a:t>消除</a:t>
            </a:r>
            <a:r>
              <a:rPr lang="en-US" sz="1200" b="1">
                <a:latin typeface="Arial" panose="020B0604020202020204" pitchFamily="34" charset="0"/>
                <a:ea typeface="黑体-简" panose="02000000000000000000" charset="-122"/>
                <a:cs typeface="Songti SC" panose="02010800040101010101" charset="-122"/>
                <a:sym typeface="Noto Sans SC"/>
              </a:rPr>
              <a:t>隐患</a:t>
            </a:r>
            <a:r>
              <a:rPr lang="en-US" sz="1200" b="1">
                <a:solidFill>
                  <a:schemeClr val="tx1"/>
                </a:solidFill>
                <a:latin typeface="Arial" panose="020B0604020202020204" pitchFamily="34" charset="0"/>
                <a:ea typeface="黑体-简" panose="02000000000000000000" charset="-122"/>
                <a:cs typeface="Songti SC" panose="02010800040101010101" charset="-122"/>
                <a:sym typeface="Noto Sans SC"/>
              </a:rPr>
              <a:t>：</a:t>
            </a:r>
            <a:r>
              <a:rPr 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共</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闭环</a:t>
            </a:r>
            <a:r>
              <a:rPr 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风险</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closed_loop_risk_count}</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个 </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（包含</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{{latest_affected_vulnerability_count}}</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个最新漏洞）</a:t>
            </a:r>
            <a:r>
              <a:rPr 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，其中</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有效防护了</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{{protected_vulnerability_count}}</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个高危可利用漏洞，修复了</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{{fixed_vulnerability_count}}</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个漏洞风险</a:t>
            </a:r>
            <a:r>
              <a:rPr 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，规避了</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vulnerability_exploitation_attempt_count}</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次</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潜在</a:t>
            </a:r>
            <a:r>
              <a:rPr 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的安全事件，</a:t>
            </a:r>
            <a:r>
              <a:rPr lang="en-US" sz="1200">
                <a:solidFill>
                  <a:schemeClr val="tx1"/>
                </a:solidFill>
                <a:latin typeface="Arial" panose="020B0604020202020204" pitchFamily="34" charset="0"/>
                <a:ea typeface="黑体-简" panose="02000000000000000000" charset="-122"/>
                <a:cs typeface="Songti SC" panose="02010800040101010101" charset="-122"/>
                <a:sym typeface="Noto Sans SC"/>
              </a:rPr>
              <a:t>保障研发/生产/供应链核心</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a:rPr>
              <a:t>业务</a:t>
            </a:r>
            <a:r>
              <a:rPr lang="en-US" sz="1200">
                <a:solidFill>
                  <a:schemeClr val="tx1"/>
                </a:solidFill>
                <a:latin typeface="Arial" panose="020B0604020202020204" pitchFamily="34" charset="0"/>
                <a:ea typeface="黑体-简" panose="02000000000000000000" charset="-122"/>
                <a:cs typeface="Songti SC" panose="02010800040101010101" charset="-122"/>
                <a:sym typeface="Noto Sans SC"/>
              </a:rPr>
              <a:t>顺畅</a:t>
            </a:r>
            <a:r>
              <a:rPr 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endParaRPr lang="en-US" altLang="en-US" sz="1200" dirty="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endParaRPr>
          </a:p>
        </p:txBody>
      </p:sp>
      <p:sp>
        <p:nvSpPr>
          <p:cNvPr id="123" name="椭圆 122"/>
          <p:cNvSpPr/>
          <p:nvPr>
            <p:custDataLst>
              <p:tags r:id="rId15"/>
            </p:custDataLst>
          </p:nvPr>
        </p:nvSpPr>
        <p:spPr>
          <a:xfrm>
            <a:off x="10807206" y="3601254"/>
            <a:ext cx="697752" cy="697752"/>
          </a:xfrm>
          <a:prstGeom prst="ellipse">
            <a:avLst/>
          </a:prstGeom>
          <a:gradFill>
            <a:gsLst>
              <a:gs pos="0">
                <a:schemeClr val="accent6">
                  <a:alpha val="100000"/>
                </a:schemeClr>
              </a:gs>
              <a:gs pos="100000">
                <a:schemeClr val="accent6">
                  <a:lumMod val="80000"/>
                  <a:lumOff val="20000"/>
                  <a:alpha val="100000"/>
                </a:schemeClr>
              </a:gs>
            </a:gsLst>
            <a:lin ang="13500000"/>
          </a:gradFill>
          <a:ln w="12700">
            <a:gradFill>
              <a:gsLst>
                <a:gs pos="100000">
                  <a:schemeClr val="bg1">
                    <a:alpha val="0"/>
                  </a:schemeClr>
                </a:gs>
                <a:gs pos="0">
                  <a:schemeClr val="bg1"/>
                </a:gs>
              </a:gsLst>
              <a:lin ang="15960000" scaled="0"/>
            </a:gradFill>
          </a:ln>
          <a:effectLst>
            <a:outerShdw blurRad="215900" dist="114300" dir="5400000" algn="t" rotWithShape="0">
              <a:schemeClr val="accent6">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396240" rIns="71755" bIns="45720" numCol="1" spcCol="0" rtlCol="0" fromWordArt="0" anchor="ctr" anchorCtr="0" forceAA="0" compatLnSpc="1">
            <a:normAutofit fontScale="25000" lnSpcReduction="20000"/>
          </a:bodyPr>
          <a:lstStyle/>
          <a:p>
            <a:pPr lvl="0" algn="ctr">
              <a:buClrTx/>
              <a:buSzTx/>
              <a:buFontTx/>
            </a:pPr>
            <a:endParaRPr lang="zh-CN" altLang="en-US" b="1" spc="130" dirty="0">
              <a:solidFill>
                <a:schemeClr val="bg1"/>
              </a:solidFill>
              <a:uFillTx/>
              <a:latin typeface="+中文标题" charset="0"/>
              <a:ea typeface="+mj-ea"/>
              <a:cs typeface="+mj-ea"/>
              <a:sym typeface="+mn-ea"/>
            </a:endParaRPr>
          </a:p>
        </p:txBody>
      </p:sp>
      <p:sp>
        <p:nvSpPr>
          <p:cNvPr id="124" name="矩形 123"/>
          <p:cNvSpPr/>
          <p:nvPr>
            <p:custDataLst>
              <p:tags r:id="rId16"/>
            </p:custDataLst>
          </p:nvPr>
        </p:nvSpPr>
        <p:spPr>
          <a:xfrm>
            <a:off x="8114665" y="2333625"/>
            <a:ext cx="2576830" cy="329565"/>
          </a:xfrm>
          <a:prstGeom prst="rect">
            <a:avLst/>
          </a:prstGeom>
          <a:noFill/>
        </p:spPr>
        <p:txBody>
          <a:bodyPr wrap="square" lIns="0" tIns="0" rIns="0" bIns="0" rtlCol="0" anchor="b">
            <a:noAutofit/>
          </a:bodyPr>
          <a:lstStyle/>
          <a:p>
            <a:pPr algn="r">
              <a:spcBef>
                <a:spcPct val="0"/>
              </a:spcBef>
              <a:spcAft>
                <a:spcPct val="0"/>
              </a:spcAft>
            </a:pPr>
            <a:r>
              <a:rPr lang="en-US" altLang="zh-CN" b="1" dirty="0">
                <a:solidFill>
                  <a:schemeClr val="accent6"/>
                </a:solidFill>
                <a:latin typeface="Arial" panose="020B0604020202020204" pitchFamily="34" charset="0"/>
                <a:ea typeface="黑体-简" panose="02000000000000000000" charset="-122"/>
                <a:cs typeface="+mn-ea"/>
                <a:sym typeface="+mn-ea"/>
              </a:rPr>
              <a:t>7*24</a:t>
            </a:r>
            <a:r>
              <a:rPr lang="zh-CN" altLang="en-US" b="1" dirty="0">
                <a:solidFill>
                  <a:schemeClr val="accent6"/>
                </a:solidFill>
                <a:latin typeface="Arial" panose="020B0604020202020204" pitchFamily="34" charset="0"/>
                <a:ea typeface="黑体-简" panose="02000000000000000000" charset="-122"/>
                <a:cs typeface="+mn-ea"/>
                <a:sym typeface="+mn-ea"/>
              </a:rPr>
              <a:t>实时威胁对抗</a:t>
            </a:r>
            <a:endParaRPr lang="zh-CN" altLang="en-US" b="1" dirty="0">
              <a:solidFill>
                <a:schemeClr val="accent6"/>
              </a:solidFill>
              <a:latin typeface="Arial" panose="020B0604020202020204" pitchFamily="34" charset="0"/>
              <a:ea typeface="黑体-简" panose="02000000000000000000" charset="-122"/>
              <a:cs typeface="+mn-ea"/>
              <a:sym typeface="+mn-ea"/>
            </a:endParaRPr>
          </a:p>
        </p:txBody>
      </p:sp>
      <p:pic>
        <p:nvPicPr>
          <p:cNvPr id="125" name="图片 12" descr="盾牌"/>
          <p:cNvPicPr>
            <a:picLocks noChangeAspect="1"/>
          </p:cNvPicPr>
          <p:nvPr>
            <p:custDataLst>
              <p:tags r:id="rId17"/>
            </p:custDataLst>
          </p:nvPr>
        </p:nvPicPr>
        <p:blipFill>
          <a:blip r:embed="rId18">
            <a:extLst>
              <a:ext uri="{96DAC541-7B7A-43D3-8B79-37D633B846F1}">
                <asvg:svgBlip xmlns:asvg="http://schemas.microsoft.com/office/drawing/2016/SVG/main" r:embed="rId19"/>
              </a:ext>
            </a:extLst>
          </a:blip>
          <a:srcRect/>
          <a:stretch>
            <a:fillRect/>
          </a:stretch>
        </p:blipFill>
        <p:spPr>
          <a:xfrm>
            <a:off x="841744" y="3771331"/>
            <a:ext cx="329565" cy="329647"/>
          </a:xfrm>
          <a:prstGeom prst="rect">
            <a:avLst/>
          </a:prstGeom>
        </p:spPr>
      </p:pic>
      <p:sp>
        <p:nvSpPr>
          <p:cNvPr id="126" name="矩形 125"/>
          <p:cNvSpPr/>
          <p:nvPr>
            <p:custDataLst>
              <p:tags r:id="rId20"/>
            </p:custDataLst>
          </p:nvPr>
        </p:nvSpPr>
        <p:spPr>
          <a:xfrm>
            <a:off x="7883525" y="2809875"/>
            <a:ext cx="2807970" cy="2939415"/>
          </a:xfrm>
          <a:prstGeom prst="rect">
            <a:avLst/>
          </a:prstGeom>
          <a:noFill/>
        </p:spPr>
        <p:txBody>
          <a:bodyPr wrap="square" lIns="0" tIns="0" rIns="0" bIns="0" rtlCol="0" anchor="t" anchorCtr="0">
            <a:noAutofit/>
          </a:bodyPr>
          <a:lstStyle/>
          <a:p>
            <a:pPr algn="r">
              <a:lnSpc>
                <a:spcPct val="130000"/>
              </a:lnSpc>
              <a:spcBef>
                <a:spcPct val="0"/>
              </a:spcBef>
              <a:spcAft>
                <a:spcPct val="0"/>
              </a:spcAft>
            </a:pPr>
            <a:r>
              <a:rPr lang="zh-CN" altLang="en-US" sz="1200" b="1">
                <a:solidFill>
                  <a:schemeClr val="tx1"/>
                </a:solidFill>
                <a:latin typeface="Arial" panose="020B0604020202020204" pitchFamily="34" charset="0"/>
                <a:ea typeface="黑体-简" panose="02000000000000000000" charset="-122"/>
                <a:cs typeface="Songti SC" panose="02010800040101010101" charset="-122"/>
                <a:sym typeface="Noto Sans SC"/>
              </a:rPr>
              <a:t>安全策略调优：</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a:rPr>
              <a:t>对安全设备策略进行有效性监测与调优，发现和调优策略</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a:rPr>
              <a:t>{{policy_optimization_count}}</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a:rPr>
              <a:t>项；</a:t>
            </a:r>
            <a:endPar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a:endParaRPr>
          </a:p>
          <a:p>
            <a:pPr algn="r">
              <a:lnSpc>
                <a:spcPct val="130000"/>
              </a:lnSpc>
              <a:spcBef>
                <a:spcPct val="0"/>
              </a:spcBef>
              <a:spcAft>
                <a:spcPct val="0"/>
              </a:spcAft>
            </a:pPr>
            <a:r>
              <a:rPr lang="zh-CN" altLang="en-US" sz="1200" b="1">
                <a:solidFill>
                  <a:schemeClr val="tx1"/>
                </a:solidFill>
                <a:latin typeface="Arial" panose="020B0604020202020204" pitchFamily="34" charset="0"/>
                <a:ea typeface="黑体-简" panose="02000000000000000000" charset="-122"/>
                <a:cs typeface="Songti SC" panose="02010800040101010101" charset="-122"/>
                <a:sym typeface="Noto Sans SC"/>
              </a:rPr>
              <a:t>实时威胁对抗：</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a:rPr>
              <a:t>对威胁进行实时监测和快速遏制，有效</a:t>
            </a:r>
            <a:r>
              <a:rPr lang="en-US" sz="1200">
                <a:solidFill>
                  <a:schemeClr val="tx1"/>
                </a:solidFill>
                <a:latin typeface="Arial" panose="020B0604020202020204" pitchFamily="34" charset="0"/>
                <a:ea typeface="黑体-简" panose="02000000000000000000" charset="-122"/>
                <a:cs typeface="Songti SC" panose="02010800040101010101" charset="-122"/>
                <a:sym typeface="Noto Sans SC"/>
              </a:rPr>
              <a:t>拦截</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a:rPr>
              <a:t>external_threat_alert_count}}</a:t>
            </a:r>
            <a:r>
              <a:rPr lang="en-US" sz="1200">
                <a:solidFill>
                  <a:schemeClr val="tx1"/>
                </a:solidFill>
                <a:latin typeface="Arial" panose="020B0604020202020204" pitchFamily="34" charset="0"/>
                <a:ea typeface="黑体-简" panose="02000000000000000000" charset="-122"/>
                <a:cs typeface="Songti SC" panose="02010800040101010101" charset="-122"/>
                <a:sym typeface="Noto Sans SC"/>
              </a:rPr>
              <a:t>次攻击，</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a:rPr>
              <a:t>平均遏制时间</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a:rPr>
              <a:t>{{average_threat_containment_time}</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a:rPr>
              <a:t>}</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a:rPr>
              <a:t>分钟；</a:t>
            </a:r>
            <a:endPar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a:endParaRPr>
          </a:p>
          <a:p>
            <a:pPr algn="r">
              <a:lnSpc>
                <a:spcPct val="130000"/>
              </a:lnSpc>
              <a:spcBef>
                <a:spcPct val="0"/>
              </a:spcBef>
              <a:spcAft>
                <a:spcPct val="0"/>
              </a:spcAft>
            </a:pPr>
            <a:r>
              <a:rPr lang="zh-CN" altLang="en-US" sz="1200" b="1">
                <a:solidFill>
                  <a:schemeClr val="tx1"/>
                </a:solidFill>
                <a:latin typeface="Arial" panose="020B0604020202020204" pitchFamily="34" charset="0"/>
                <a:ea typeface="黑体-简" panose="02000000000000000000" charset="-122"/>
                <a:cs typeface="Songti SC" panose="02010800040101010101" charset="-122"/>
                <a:sym typeface="Noto Sans SC"/>
              </a:rPr>
              <a:t>事件快速处置：</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a:rPr>
              <a:t>对入侵成功事件快速应急响应，监测并及时发现和处置了</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a:rPr>
              <a:t>{{security_incident_count}}</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a:rPr>
              <a:t>起安全事件，避免了</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a:rPr>
              <a:t>{{security_incident_count}}</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a:rPr>
              <a:t>次业务损失；事件平均响应时间</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a:rPr>
              <a:t>{{average_incident_response_time}}</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a:rPr>
              <a:t>分钟，事件闭环率</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a:rPr>
              <a:t>{{incident_closure_rate}}</a:t>
            </a:r>
            <a:r>
              <a:rPr lang="zh-CN" altLang="en-US" sz="1200">
                <a:solidFill>
                  <a:srgbClr val="4C61E7"/>
                </a:solidFill>
                <a:latin typeface="Arial" panose="020B0604020202020204" pitchFamily="34" charset="0"/>
                <a:ea typeface="黑体-简" panose="02000000000000000000" charset="-122"/>
                <a:cs typeface="Songti SC" panose="02010800040101010101" charset="-122"/>
                <a:sym typeface="Noto Sans SC"/>
              </a:rPr>
              <a:t>。</a:t>
            </a:r>
            <a:endParaRPr lang="zh-CN" altLang="en-US" sz="1200">
              <a:solidFill>
                <a:srgbClr val="4C61E7"/>
              </a:solidFill>
              <a:latin typeface="Arial" panose="020B0604020202020204" pitchFamily="34" charset="0"/>
              <a:ea typeface="黑体-简" panose="02000000000000000000" charset="-122"/>
              <a:cs typeface="Songti SC" panose="02010800040101010101" charset="-122"/>
              <a:sym typeface="Noto Sans SC"/>
            </a:endParaRPr>
          </a:p>
        </p:txBody>
      </p:sp>
      <p:pic>
        <p:nvPicPr>
          <p:cNvPr id="127" name="图片 14" descr="闪电"/>
          <p:cNvPicPr>
            <a:picLocks noChangeAspect="1"/>
          </p:cNvPicPr>
          <p:nvPr>
            <p:custDataLst>
              <p:tags r:id="rId21"/>
            </p:custDataLst>
          </p:nvPr>
        </p:nvPicPr>
        <p:blipFill>
          <a:blip r:embed="rId22">
            <a:extLst>
              <a:ext uri="{96DAC541-7B7A-43D3-8B79-37D633B846F1}">
                <asvg:svgBlip xmlns:asvg="http://schemas.microsoft.com/office/drawing/2016/SVG/main" r:embed="rId23"/>
              </a:ext>
            </a:extLst>
          </a:blip>
          <a:srcRect/>
          <a:stretch>
            <a:fillRect/>
          </a:stretch>
        </p:blipFill>
        <p:spPr>
          <a:xfrm>
            <a:off x="10995495" y="3789502"/>
            <a:ext cx="329565" cy="329647"/>
          </a:xfrm>
          <a:prstGeom prst="rect">
            <a:avLst/>
          </a:prstGeom>
        </p:spPr>
      </p:pic>
      <p:sp>
        <p:nvSpPr>
          <p:cNvPr id="128" name="文本框 127"/>
          <p:cNvSpPr txBox="1"/>
          <p:nvPr/>
        </p:nvSpPr>
        <p:spPr>
          <a:xfrm>
            <a:off x="3827145" y="6097905"/>
            <a:ext cx="4707890" cy="291465"/>
          </a:xfrm>
          <a:prstGeom prst="rect">
            <a:avLst/>
          </a:prstGeom>
          <a:noFill/>
        </p:spPr>
        <p:txBody>
          <a:bodyPr wrap="square" rtlCol="0" anchor="t">
            <a:spAutoFit/>
          </a:bodyPr>
          <a:p>
            <a:pPr algn="ctr"/>
            <a:r>
              <a:rPr lang="en-US" sz="1300">
                <a:solidFill>
                  <a:srgbClr val="404040"/>
                </a:solidFill>
                <a:latin typeface="Noto Sans SC"/>
                <a:ea typeface="Noto Sans SC"/>
                <a:cs typeface="Noto Sans SC"/>
                <a:sym typeface="Noto Sans SC"/>
              </a:rPr>
              <a:t>核心IT系统(</a:t>
            </a:r>
            <a:r>
              <a:rPr lang="en-US" sz="1300">
                <a:solidFill>
                  <a:srgbClr val="4C61E7"/>
                </a:solidFill>
                <a:latin typeface="Noto Sans SC"/>
                <a:ea typeface="Noto Sans SC"/>
                <a:cs typeface="Noto Sans SC"/>
                <a:sym typeface="Noto Sans SC"/>
              </a:rPr>
              <a:t>{</a:t>
            </a:r>
            <a:r>
              <a:rPr lang="zh-CN" altLang="en-US" sz="1300">
                <a:solidFill>
                  <a:srgbClr val="4C61E7"/>
                </a:solidFill>
                <a:latin typeface="Noto Sans SC"/>
                <a:ea typeface="Noto Sans SC"/>
                <a:cs typeface="Noto Sans SC"/>
                <a:sym typeface="Noto Sans SC"/>
              </a:rPr>
              <a:t>核心系统简称</a:t>
            </a:r>
            <a:r>
              <a:rPr lang="en-US" sz="1300">
                <a:solidFill>
                  <a:srgbClr val="4C61E7"/>
                </a:solidFill>
                <a:latin typeface="Noto Sans SC"/>
                <a:ea typeface="Noto Sans SC"/>
                <a:cs typeface="Noto Sans SC"/>
                <a:sym typeface="Noto Sans SC"/>
              </a:rPr>
              <a:t>}</a:t>
            </a:r>
            <a:r>
              <a:rPr lang="en-US" sz="1300">
                <a:solidFill>
                  <a:srgbClr val="404040"/>
                </a:solidFill>
                <a:latin typeface="Noto Sans SC"/>
                <a:ea typeface="Noto Sans SC"/>
                <a:cs typeface="Noto Sans SC"/>
                <a:sym typeface="Noto Sans SC"/>
              </a:rPr>
              <a:t>等)覆盖</a:t>
            </a:r>
            <a:r>
              <a:rPr lang="zh-CN" altLang="en-US" sz="1300">
                <a:solidFill>
                  <a:srgbClr val="404040"/>
                </a:solidFill>
                <a:latin typeface="Noto Sans SC"/>
                <a:ea typeface="Noto Sans SC"/>
                <a:cs typeface="Noto Sans SC"/>
                <a:sym typeface="Noto Sans SC"/>
              </a:rPr>
              <a:t>率</a:t>
            </a:r>
            <a:r>
              <a:rPr lang="zh-CN" altLang="en-US" sz="1300">
                <a:solidFill>
                  <a:srgbClr val="4C61E7"/>
                </a:solidFill>
                <a:latin typeface="Noto Sans SC"/>
                <a:ea typeface="Noto Sans SC"/>
                <a:cs typeface="Noto Sans SC"/>
                <a:sym typeface="Noto Sans SC"/>
              </a:rPr>
              <a:t>{XX%}</a:t>
            </a:r>
            <a:endParaRPr lang="zh-CN" altLang="en-US" sz="1300">
              <a:solidFill>
                <a:srgbClr val="4C61E7"/>
              </a:solidFill>
              <a:latin typeface="Noto Sans SC"/>
              <a:ea typeface="Noto Sans SC"/>
              <a:cs typeface="Noto Sans SC"/>
              <a:sym typeface="Noto Sans SC"/>
            </a:endParaRPr>
          </a:p>
        </p:txBody>
      </p:sp>
      <p:grpSp>
        <p:nvGrpSpPr>
          <p:cNvPr id="7" name="组合 6"/>
          <p:cNvGrpSpPr/>
          <p:nvPr/>
        </p:nvGrpSpPr>
        <p:grpSpPr>
          <a:xfrm rot="0">
            <a:off x="852170" y="998855"/>
            <a:ext cx="10556240" cy="961390"/>
            <a:chOff x="3064668" y="1919288"/>
            <a:chExt cx="6057900" cy="3013143"/>
          </a:xfrm>
        </p:grpSpPr>
        <p:grpSp>
          <p:nvGrpSpPr>
            <p:cNvPr id="8" name="组合 7"/>
            <p:cNvGrpSpPr/>
            <p:nvPr/>
          </p:nvGrpSpPr>
          <p:grpSpPr>
            <a:xfrm>
              <a:off x="3064668" y="1919288"/>
              <a:ext cx="6057900" cy="476250"/>
              <a:chOff x="3064668" y="1919288"/>
              <a:chExt cx="6057900" cy="476250"/>
            </a:xfrm>
          </p:grpSpPr>
          <p:sp>
            <p:nvSpPr>
              <p:cNvPr id="10" name="任意多边形: 形状 9"/>
              <p:cNvSpPr/>
              <p:nvPr/>
            </p:nvSpPr>
            <p:spPr>
              <a:xfrm rot="5400000">
                <a:off x="3038475" y="2152650"/>
                <a:ext cx="476250" cy="9525"/>
              </a:xfrm>
              <a:custGeom>
                <a:avLst/>
                <a:gdLst>
                  <a:gd name="connsiteX0" fmla="*/ -24 w 476250"/>
                  <a:gd name="connsiteY0" fmla="*/ 26 h 9525"/>
                  <a:gd name="connsiteX1" fmla="*/ 476226 w 476250"/>
                  <a:gd name="connsiteY1" fmla="*/ 26 h 9525"/>
                </a:gdLst>
                <a:ahLst/>
                <a:cxnLst>
                  <a:cxn ang="0">
                    <a:pos x="connsiteX0" y="connsiteY0"/>
                  </a:cxn>
                  <a:cxn ang="0">
                    <a:pos x="connsiteX1" y="connsiteY1"/>
                  </a:cxn>
                </a:cxnLst>
                <a:rect l="l" t="t" r="r" b="b"/>
                <a:pathLst>
                  <a:path w="476250" h="9525">
                    <a:moveTo>
                      <a:pt x="-24" y="26"/>
                    </a:moveTo>
                    <a:lnTo>
                      <a:pt x="476226" y="26"/>
                    </a:lnTo>
                  </a:path>
                </a:pathLst>
              </a:custGeom>
              <a:ln w="19050" cap="flat">
                <a:solidFill>
                  <a:srgbClr val="3F8BE8"/>
                </a:solidFill>
                <a:prstDash val="solid"/>
                <a:miter/>
              </a:ln>
            </p:spPr>
            <p:txBody>
              <a:bodyPr rot="0" spcFirstLastPara="0" vert="horz" wrap="square" lIns="91440" tIns="45720" rIns="91440" bIns="45720" numCol="1" spcCol="0" rtlCol="0" fromWordArt="0" anchor="ctr" anchorCtr="0" forceAA="0" compatLnSpc="1">
                <a:noAutofit/>
              </a:bodyPr>
              <a:lstStyle/>
              <a:p>
                <a:endParaRPr lang="zh-CN" altLang="en-US"/>
              </a:p>
            </p:txBody>
          </p:sp>
          <p:sp>
            <p:nvSpPr>
              <p:cNvPr id="11" name="任意多边形: 形状 10"/>
              <p:cNvSpPr/>
              <p:nvPr/>
            </p:nvSpPr>
            <p:spPr>
              <a:xfrm rot="5400000">
                <a:off x="3146425" y="2152650"/>
                <a:ext cx="476250" cy="9525"/>
              </a:xfrm>
              <a:custGeom>
                <a:avLst/>
                <a:gdLst>
                  <a:gd name="connsiteX0" fmla="*/ -24 w 476250"/>
                  <a:gd name="connsiteY0" fmla="*/ 26 h 9525"/>
                  <a:gd name="connsiteX1" fmla="*/ 476226 w 476250"/>
                  <a:gd name="connsiteY1" fmla="*/ 26 h 9525"/>
                </a:gdLst>
                <a:ahLst/>
                <a:cxnLst>
                  <a:cxn ang="0">
                    <a:pos x="connsiteX0" y="connsiteY0"/>
                  </a:cxn>
                  <a:cxn ang="0">
                    <a:pos x="connsiteX1" y="connsiteY1"/>
                  </a:cxn>
                </a:cxnLst>
                <a:rect l="l" t="t" r="r" b="b"/>
                <a:pathLst>
                  <a:path w="476250" h="9525">
                    <a:moveTo>
                      <a:pt x="-24" y="26"/>
                    </a:moveTo>
                    <a:lnTo>
                      <a:pt x="476226" y="26"/>
                    </a:lnTo>
                  </a:path>
                </a:pathLst>
              </a:custGeom>
              <a:solidFill>
                <a:schemeClr val="accent6"/>
              </a:solidFill>
              <a:ln w="19050" cap="flat">
                <a:solidFill>
                  <a:schemeClr val="accent6"/>
                </a:solidFill>
                <a:prstDash val="solid"/>
                <a:miter/>
              </a:ln>
            </p:spPr>
            <p:txBody>
              <a:bodyPr rot="0" spcFirstLastPara="0" vert="horz" wrap="square" lIns="91440" tIns="45720" rIns="91440" bIns="45720" numCol="1" spcCol="0" rtlCol="0" fromWordArt="0" anchor="ctr" anchorCtr="0" forceAA="0" compatLnSpc="1">
                <a:noAutofit/>
              </a:bodyPr>
              <a:lstStyle/>
              <a:p>
                <a:endParaRPr lang="zh-CN" altLang="en-US"/>
              </a:p>
            </p:txBody>
          </p:sp>
          <p:sp>
            <p:nvSpPr>
              <p:cNvPr id="9" name="任意多边形: 形状 11"/>
              <p:cNvSpPr/>
              <p:nvPr/>
            </p:nvSpPr>
            <p:spPr>
              <a:xfrm flipV="1">
                <a:off x="3064668" y="2038668"/>
                <a:ext cx="6057900" cy="0"/>
              </a:xfrm>
              <a:custGeom>
                <a:avLst/>
                <a:gdLst>
                  <a:gd name="connsiteX0" fmla="*/ 0 w 5274310"/>
                  <a:gd name="connsiteY0" fmla="*/ 0 h 8255"/>
                  <a:gd name="connsiteX1" fmla="*/ 5274310 w 5274310"/>
                  <a:gd name="connsiteY1" fmla="*/ 0 h 8255"/>
                </a:gdLst>
                <a:ahLst/>
                <a:cxnLst>
                  <a:cxn ang="0">
                    <a:pos x="connsiteX0" y="connsiteY0"/>
                  </a:cxn>
                  <a:cxn ang="0">
                    <a:pos x="connsiteX1" y="connsiteY1"/>
                  </a:cxn>
                </a:cxnLst>
                <a:rect l="l" t="t" r="r" b="b"/>
                <a:pathLst>
                  <a:path w="5274310" h="8255">
                    <a:moveTo>
                      <a:pt x="0" y="0"/>
                    </a:moveTo>
                    <a:lnTo>
                      <a:pt x="5274310" y="0"/>
                    </a:lnTo>
                  </a:path>
                </a:pathLst>
              </a:custGeom>
            </p:spPr>
            <p:style>
              <a:lnRef idx="3">
                <a:schemeClr val="accent5"/>
              </a:lnRef>
              <a:fillRef idx="0">
                <a:srgbClr val="FFFFFF"/>
              </a:fillRef>
              <a:effectRef idx="0">
                <a:srgbClr val="FFFFFF"/>
              </a:effectRef>
              <a:fontRef idx="minor">
                <a:schemeClr val="tx1"/>
              </a:fontRef>
            </p:style>
            <p:txBody>
              <a:bodyPr rot="0" spcFirstLastPara="0" vert="horz" wrap="square" lIns="91440" tIns="45720" rIns="91440" bIns="45720" numCol="1" spcCol="0" rtlCol="0" fromWordArt="0" anchor="ctr" anchorCtr="0" forceAA="0" compatLnSpc="1">
                <a:noAutofit/>
              </a:bodyPr>
              <a:lstStyle/>
              <a:p>
                <a:endParaRPr lang="zh-CN" altLang="en-US"/>
              </a:p>
            </p:txBody>
          </p:sp>
        </p:grpSp>
        <p:grpSp>
          <p:nvGrpSpPr>
            <p:cNvPr id="15" name="组合 14"/>
            <p:cNvGrpSpPr/>
            <p:nvPr/>
          </p:nvGrpSpPr>
          <p:grpSpPr>
            <a:xfrm>
              <a:off x="3064668" y="4456181"/>
              <a:ext cx="6057900" cy="476250"/>
              <a:chOff x="3064668" y="4456181"/>
              <a:chExt cx="6057900" cy="476250"/>
            </a:xfrm>
          </p:grpSpPr>
          <p:sp>
            <p:nvSpPr>
              <p:cNvPr id="17" name="任意多边形: 形状 6"/>
              <p:cNvSpPr/>
              <p:nvPr/>
            </p:nvSpPr>
            <p:spPr>
              <a:xfrm rot="5400000">
                <a:off x="8651875" y="4689543"/>
                <a:ext cx="476250" cy="9525"/>
              </a:xfrm>
              <a:custGeom>
                <a:avLst/>
                <a:gdLst>
                  <a:gd name="connsiteX0" fmla="*/ -24 w 476250"/>
                  <a:gd name="connsiteY0" fmla="*/ 26 h 9525"/>
                  <a:gd name="connsiteX1" fmla="*/ 476226 w 476250"/>
                  <a:gd name="connsiteY1" fmla="*/ 26 h 9525"/>
                </a:gdLst>
                <a:ahLst/>
                <a:cxnLst>
                  <a:cxn ang="0">
                    <a:pos x="connsiteX0" y="connsiteY0"/>
                  </a:cxn>
                  <a:cxn ang="0">
                    <a:pos x="connsiteX1" y="connsiteY1"/>
                  </a:cxn>
                </a:cxnLst>
                <a:rect l="l" t="t" r="r" b="b"/>
                <a:pathLst>
                  <a:path w="476250" h="9525">
                    <a:moveTo>
                      <a:pt x="-24" y="26"/>
                    </a:moveTo>
                    <a:lnTo>
                      <a:pt x="476226" y="26"/>
                    </a:lnTo>
                  </a:path>
                </a:pathLst>
              </a:custGeom>
              <a:ln w="19050" cap="flat">
                <a:solidFill>
                  <a:srgbClr val="3F8BE8"/>
                </a:solidFill>
                <a:prstDash val="solid"/>
                <a:miter/>
              </a:ln>
            </p:spPr>
            <p:txBody>
              <a:bodyPr rot="0" spcFirstLastPara="0" vert="horz" wrap="square" lIns="91440" tIns="45720" rIns="91440" bIns="45720" numCol="1" spcCol="0" rtlCol="0" fromWordArt="0" anchor="ctr" anchorCtr="0" forceAA="0" compatLnSpc="1">
                <a:noAutofit/>
              </a:bodyPr>
              <a:lstStyle/>
              <a:p>
                <a:endParaRPr lang="zh-CN" altLang="en-US"/>
              </a:p>
            </p:txBody>
          </p:sp>
          <p:sp>
            <p:nvSpPr>
              <p:cNvPr id="18" name="任意多边形: 形状 7"/>
              <p:cNvSpPr/>
              <p:nvPr/>
            </p:nvSpPr>
            <p:spPr>
              <a:xfrm rot="5400000">
                <a:off x="8550275" y="4689543"/>
                <a:ext cx="476250" cy="9525"/>
              </a:xfrm>
              <a:custGeom>
                <a:avLst/>
                <a:gdLst>
                  <a:gd name="connsiteX0" fmla="*/ -24 w 476250"/>
                  <a:gd name="connsiteY0" fmla="*/ 26 h 9525"/>
                  <a:gd name="connsiteX1" fmla="*/ 476226 w 476250"/>
                  <a:gd name="connsiteY1" fmla="*/ 26 h 9525"/>
                </a:gdLst>
                <a:ahLst/>
                <a:cxnLst>
                  <a:cxn ang="0">
                    <a:pos x="connsiteX0" y="connsiteY0"/>
                  </a:cxn>
                  <a:cxn ang="0">
                    <a:pos x="connsiteX1" y="connsiteY1"/>
                  </a:cxn>
                </a:cxnLst>
                <a:rect l="l" t="t" r="r" b="b"/>
                <a:pathLst>
                  <a:path w="476250" h="9525">
                    <a:moveTo>
                      <a:pt x="-24" y="26"/>
                    </a:moveTo>
                    <a:lnTo>
                      <a:pt x="476226" y="26"/>
                    </a:lnTo>
                  </a:path>
                </a:pathLst>
              </a:custGeom>
              <a:solidFill>
                <a:schemeClr val="accent6"/>
              </a:solidFill>
              <a:ln w="19050" cap="flat">
                <a:solidFill>
                  <a:schemeClr val="accent6"/>
                </a:solidFill>
                <a:prstDash val="solid"/>
                <a:miter/>
              </a:ln>
            </p:spPr>
            <p:txBody>
              <a:bodyPr rot="0" spcFirstLastPara="0" vert="horz" wrap="square" lIns="91440" tIns="45720" rIns="91440" bIns="45720" numCol="1" spcCol="0" rtlCol="0" fromWordArt="0" anchor="ctr" anchorCtr="0" forceAA="0" compatLnSpc="1">
                <a:noAutofit/>
              </a:bodyPr>
              <a:lstStyle/>
              <a:p>
                <a:endParaRPr lang="zh-CN" altLang="en-US"/>
              </a:p>
            </p:txBody>
          </p:sp>
          <p:sp>
            <p:nvSpPr>
              <p:cNvPr id="19" name="任意多边形: 形状 8"/>
              <p:cNvSpPr/>
              <p:nvPr/>
            </p:nvSpPr>
            <p:spPr>
              <a:xfrm flipV="1">
                <a:off x="3064668" y="4694304"/>
                <a:ext cx="6057900" cy="0"/>
              </a:xfrm>
              <a:custGeom>
                <a:avLst/>
                <a:gdLst>
                  <a:gd name="connsiteX0" fmla="*/ 0 w 5274310"/>
                  <a:gd name="connsiteY0" fmla="*/ 0 h 8255"/>
                  <a:gd name="connsiteX1" fmla="*/ 5274310 w 5274310"/>
                  <a:gd name="connsiteY1" fmla="*/ 0 h 8255"/>
                </a:gdLst>
                <a:ahLst/>
                <a:cxnLst>
                  <a:cxn ang="0">
                    <a:pos x="connsiteX0" y="connsiteY0"/>
                  </a:cxn>
                  <a:cxn ang="0">
                    <a:pos x="connsiteX1" y="connsiteY1"/>
                  </a:cxn>
                </a:cxnLst>
                <a:rect l="l" t="t" r="r" b="b"/>
                <a:pathLst>
                  <a:path w="5274310" h="8255">
                    <a:moveTo>
                      <a:pt x="0" y="0"/>
                    </a:moveTo>
                    <a:lnTo>
                      <a:pt x="5274310" y="0"/>
                    </a:lnTo>
                  </a:path>
                </a:pathLst>
              </a:custGeom>
            </p:spPr>
            <p:style>
              <a:lnRef idx="2">
                <a:schemeClr val="accent6"/>
              </a:lnRef>
              <a:fillRef idx="0">
                <a:schemeClr val="accent6"/>
              </a:fillRef>
              <a:effectRef idx="1">
                <a:schemeClr val="accent6"/>
              </a:effectRef>
              <a:fontRef idx="minor">
                <a:schemeClr val="tx1"/>
              </a:fontRef>
            </p:style>
            <p:txBody>
              <a:bodyPr rot="0" spcFirstLastPara="0" vert="horz" wrap="square" lIns="91440" tIns="45720" rIns="91440" bIns="45720" numCol="1" spcCol="0" rtlCol="0" fromWordArt="0" anchor="ctr" anchorCtr="0" forceAA="0" compatLnSpc="1">
                <a:noAutofit/>
              </a:bodyPr>
              <a:lstStyle/>
              <a:p>
                <a:endParaRPr lang="zh-CN" altLang="en-US"/>
              </a:p>
            </p:txBody>
          </p:sp>
        </p:grpSp>
      </p:grpSp>
      <p:sp>
        <p:nvSpPr>
          <p:cNvPr id="2" name="文本框 1"/>
          <p:cNvSpPr txBox="1"/>
          <p:nvPr/>
        </p:nvSpPr>
        <p:spPr>
          <a:xfrm>
            <a:off x="1600835" y="1070610"/>
            <a:ext cx="9096376" cy="775970"/>
          </a:xfrm>
          <a:prstGeom prst="rect">
            <a:avLst/>
          </a:prstGeom>
          <a:noFill/>
        </p:spPr>
        <p:txBody>
          <a:bodyPr wrap="square" rtlCol="0" anchor="ctr"/>
          <a:lstStyle/>
          <a:p>
            <a:pPr algn="ctr">
              <a:lnSpc>
                <a:spcPct val="130000"/>
              </a:lnSpc>
            </a:pPr>
            <a:r>
              <a:rPr lang="zh-CN" altLang="en-US" sz="1200" dirty="0">
                <a:latin typeface="Arial" panose="020B0604020202020204" pitchFamily="34" charset="0"/>
                <a:ea typeface="黑体-简" panose="02000000000000000000" charset="-122"/>
              </a:rPr>
              <a:t>主动发现核心业务系统</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core_system_1</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zh-CN" alt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core_system_3</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zh-CN" alt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core_system_3</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zh-CN" altLang="en-US" sz="1200" dirty="0">
                <a:latin typeface="Arial" panose="020B0604020202020204" pitchFamily="34" charset="0"/>
                <a:ea typeface="黑体-简" panose="02000000000000000000" charset="-122"/>
              </a:rPr>
              <a:t>的</a:t>
            </a:r>
            <a:r>
              <a:rPr lang="en-US" altLang="zh-CN" sz="1200" dirty="0">
                <a:solidFill>
                  <a:srgbClr val="4C61E7"/>
                </a:solidFill>
                <a:latin typeface="Arial" panose="020B0604020202020204" pitchFamily="34" charset="0"/>
                <a:ea typeface="黑体-简" panose="02000000000000000000" charset="-122"/>
              </a:rPr>
              <a:t>{{risk_total}}</a:t>
            </a:r>
            <a:r>
              <a:rPr lang="zh-CN" altLang="en-US" sz="1200" dirty="0">
                <a:latin typeface="Arial" panose="020B0604020202020204" pitchFamily="34" charset="0"/>
                <a:ea typeface="黑体-简" panose="02000000000000000000" charset="-122"/>
              </a:rPr>
              <a:t>个安全风险，并协同闭环；</a:t>
            </a:r>
            <a:endParaRPr lang="zh-CN" altLang="en-US" sz="1200" dirty="0">
              <a:latin typeface="Arial" panose="020B0604020202020204" pitchFamily="34" charset="0"/>
              <a:ea typeface="黑体-简" panose="02000000000000000000" charset="-122"/>
            </a:endParaRPr>
          </a:p>
          <a:p>
            <a:pPr algn="ctr">
              <a:lnSpc>
                <a:spcPct val="130000"/>
              </a:lnSpc>
            </a:pPr>
            <a:r>
              <a:rPr lang="zh-CN" altLang="en-US" sz="1200" dirty="0">
                <a:latin typeface="Arial" panose="020B0604020202020204" pitchFamily="34" charset="0"/>
                <a:ea typeface="黑体-简" panose="02000000000000000000" charset="-122"/>
              </a:rPr>
              <a:t>快速识别并遏制了针对</a:t>
            </a:r>
            <a:r>
              <a:rPr lang="zh-CN" altLang="en-US" sz="1200" dirty="0">
                <a:latin typeface="Arial" panose="020B0604020202020204" pitchFamily="34" charset="0"/>
                <a:ea typeface="黑体-简" panose="02000000000000000000" charset="-122"/>
                <a:sym typeface="+mn-ea"/>
              </a:rPr>
              <a:t>核心业务系统</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core_system_1</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zh-CN" alt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core_system_3</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zh-CN" alt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core_system_3</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zh-CN" altLang="en-US" sz="1200" dirty="0">
                <a:latin typeface="Arial" panose="020B0604020202020204" pitchFamily="34" charset="0"/>
                <a:ea typeface="黑体-简" panose="02000000000000000000" charset="-122"/>
                <a:sym typeface="+mn-ea"/>
              </a:rPr>
              <a:t>的</a:t>
            </a:r>
            <a:r>
              <a:rPr lang="en-US" altLang="zh-CN" sz="1200" dirty="0">
                <a:solidFill>
                  <a:srgbClr val="4C61E7"/>
                </a:solidFill>
                <a:latin typeface="Arial" panose="020B0604020202020204" pitchFamily="34" charset="0"/>
                <a:ea typeface="黑体-简" panose="02000000000000000000" charset="-122"/>
                <a:sym typeface="+mn-ea"/>
              </a:rPr>
              <a:t>{{event_total}}</a:t>
            </a:r>
            <a:r>
              <a:rPr lang="zh-CN" altLang="en-US" sz="1200" dirty="0">
                <a:latin typeface="Arial" panose="020B0604020202020204" pitchFamily="34" charset="0"/>
                <a:ea typeface="黑体-简" panose="02000000000000000000" charset="-122"/>
                <a:sym typeface="+mn-ea"/>
              </a:rPr>
              <a:t>次安全威胁和事件，规避了</a:t>
            </a:r>
            <a:r>
              <a:rPr lang="en-US" altLang="zh-CN" sz="1200" dirty="0">
                <a:solidFill>
                  <a:srgbClr val="4C61E7"/>
                </a:solidFill>
                <a:latin typeface="Arial" panose="020B0604020202020204" pitchFamily="34" charset="0"/>
                <a:ea typeface="黑体-简" panose="02000000000000000000" charset="-122"/>
                <a:sym typeface="+mn-ea"/>
              </a:rPr>
              <a:t>{{event_total}}</a:t>
            </a:r>
            <a:r>
              <a:rPr lang="zh-CN" altLang="en-US" sz="1200" dirty="0">
                <a:latin typeface="Arial" panose="020B0604020202020204" pitchFamily="34" charset="0"/>
                <a:ea typeface="黑体-简" panose="02000000000000000000" charset="-122"/>
                <a:sym typeface="+mn-ea"/>
              </a:rPr>
              <a:t>次潜在业务损失；</a:t>
            </a:r>
            <a:r>
              <a:rPr lang="en-US" sz="1200">
                <a:latin typeface="Arial" panose="020B0604020202020204" pitchFamily="34" charset="0"/>
                <a:ea typeface="黑体-简" panose="02000000000000000000" charset="-122"/>
                <a:cs typeface="Songti SC" panose="02010800040101010101" charset="-122"/>
                <a:sym typeface="Noto Sans SC"/>
              </a:rPr>
              <a:t>保障研发/生产/</a:t>
            </a:r>
            <a:r>
              <a:rPr lang="zh-CN" altLang="en-US" sz="1200">
                <a:latin typeface="Arial" panose="020B0604020202020204" pitchFamily="34" charset="0"/>
                <a:ea typeface="黑体-简" panose="02000000000000000000" charset="-122"/>
                <a:cs typeface="Songti SC" panose="02010800040101010101" charset="-122"/>
                <a:sym typeface="Noto Sans SC"/>
              </a:rPr>
              <a:t>办公</a:t>
            </a:r>
            <a:r>
              <a:rPr lang="en-US" altLang="zh-CN" sz="1200">
                <a:latin typeface="Arial" panose="020B0604020202020204" pitchFamily="34" charset="0"/>
                <a:ea typeface="黑体-简" panose="02000000000000000000" charset="-122"/>
                <a:cs typeface="Songti SC" panose="02010800040101010101" charset="-122"/>
                <a:sym typeface="Noto Sans SC"/>
              </a:rPr>
              <a:t>/</a:t>
            </a:r>
            <a:r>
              <a:rPr lang="en-US" sz="1200">
                <a:latin typeface="Arial" panose="020B0604020202020204" pitchFamily="34" charset="0"/>
                <a:ea typeface="黑体-简" panose="02000000000000000000" charset="-122"/>
                <a:cs typeface="Songti SC" panose="02010800040101010101" charset="-122"/>
                <a:sym typeface="Noto Sans SC"/>
              </a:rPr>
              <a:t>供应链</a:t>
            </a:r>
            <a:r>
              <a:rPr lang="zh-CN" altLang="en-US" sz="1200">
                <a:latin typeface="Arial" panose="020B0604020202020204" pitchFamily="34" charset="0"/>
                <a:ea typeface="黑体-简" panose="02000000000000000000" charset="-122"/>
                <a:cs typeface="Songti SC" panose="02010800040101010101" charset="-122"/>
                <a:sym typeface="Noto Sans SC"/>
              </a:rPr>
              <a:t>等</a:t>
            </a:r>
            <a:r>
              <a:rPr lang="en-US" sz="1200">
                <a:latin typeface="Arial" panose="020B0604020202020204" pitchFamily="34" charset="0"/>
                <a:ea typeface="黑体-简" panose="02000000000000000000" charset="-122"/>
                <a:cs typeface="Songti SC" panose="02010800040101010101" charset="-122"/>
                <a:sym typeface="Noto Sans SC"/>
              </a:rPr>
              <a:t>核心</a:t>
            </a:r>
            <a:r>
              <a:rPr lang="zh-CN" altLang="en-US" sz="1200">
                <a:latin typeface="Arial" panose="020B0604020202020204" pitchFamily="34" charset="0"/>
                <a:ea typeface="黑体-简" panose="02000000000000000000" charset="-122"/>
                <a:cs typeface="Songti SC" panose="02010800040101010101" charset="-122"/>
                <a:sym typeface="Noto Sans SC"/>
              </a:rPr>
              <a:t>业务运行</a:t>
            </a:r>
            <a:r>
              <a:rPr lang="en-US" sz="1200">
                <a:latin typeface="Arial" panose="020B0604020202020204" pitchFamily="34" charset="0"/>
                <a:ea typeface="黑体-简" panose="02000000000000000000" charset="-122"/>
                <a:cs typeface="Songti SC" panose="02010800040101010101" charset="-122"/>
                <a:sym typeface="Noto Sans SC"/>
              </a:rPr>
              <a:t>顺畅</a:t>
            </a:r>
            <a:r>
              <a:rPr lang="zh-CN" altLang="en-US" sz="1200" dirty="0">
                <a:latin typeface="Arial" panose="020B0604020202020204" pitchFamily="34" charset="0"/>
                <a:ea typeface="黑体-简" panose="02000000000000000000" charset="-122"/>
              </a:rPr>
              <a:t>。</a:t>
            </a:r>
            <a:endParaRPr lang="zh-CN" altLang="en-US" sz="1200" dirty="0">
              <a:effectLst/>
              <a:latin typeface="Arial" panose="020B0604020202020204" pitchFamily="34" charset="0"/>
              <a:ea typeface="黑体-简" panose="02000000000000000000" charset="-122"/>
            </a:endParaRPr>
          </a:p>
        </p:txBody>
      </p:sp>
    </p:spTree>
    <p:custDataLst>
      <p:tags r:id="rId24"/>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50"/>
          <p:cNvSpPr/>
          <p:nvPr/>
        </p:nvSpPr>
        <p:spPr>
          <a:xfrm>
            <a:off x="6888480" y="3974465"/>
            <a:ext cx="4751705" cy="2370455"/>
          </a:xfrm>
          <a:prstGeom prst="rect">
            <a:avLst/>
          </a:prstGeom>
          <a:solidFill>
            <a:schemeClr val="accent4">
              <a:lumMod val="20000"/>
              <a:lumOff val="80000"/>
            </a:schemeClr>
          </a:solidFill>
          <a:ln w="0" cap="flat">
            <a:noFill/>
            <a:prstDash val="solid"/>
            <a:miter lim="0"/>
          </a:ln>
        </p:spPr>
        <p:txBody>
          <a:bodyPr vert="horz" wrap="square" lIns="0" tIns="0" rIns="0" bIns="0"/>
          <a:p>
            <a:pPr algn="l" rtl="0" eaLnBrk="0">
              <a:lnSpc>
                <a:spcPct val="109000"/>
              </a:lnSpc>
            </a:pPr>
            <a:endParaRPr sz="2400" dirty="0">
              <a:highlight>
                <a:srgbClr val="FFFF00"/>
              </a:highlight>
              <a:latin typeface="Times New Roman" panose="02020603050405020304"/>
              <a:ea typeface="Times New Roman" panose="02020603050405020304"/>
              <a:cs typeface="Times New Roman" panose="02020603050405020304"/>
            </a:endParaRPr>
          </a:p>
          <a:p>
            <a:pPr marL="710565" algn="l" rtl="0" eaLnBrk="0">
              <a:lnSpc>
                <a:spcPts val="1085"/>
              </a:lnSpc>
              <a:spcBef>
                <a:spcPts val="5"/>
              </a:spcBef>
            </a:pPr>
            <a:endParaRPr sz="900" kern="0" spc="130" dirty="0">
              <a:solidFill>
                <a:srgbClr val="307050">
                  <a:alpha val="100000"/>
                </a:srgbClr>
              </a:solidFill>
              <a:highlight>
                <a:srgbClr val="FFFF00"/>
              </a:highlight>
              <a:latin typeface="黑体" panose="02010609060101010101" charset="-122"/>
              <a:ea typeface="黑体" panose="02010609060101010101" charset="-122"/>
              <a:cs typeface="黑体" panose="02010609060101010101" charset="-122"/>
            </a:endParaRPr>
          </a:p>
        </p:txBody>
      </p:sp>
      <p:sp>
        <p:nvSpPr>
          <p:cNvPr id="83" name="textbox 50"/>
          <p:cNvSpPr/>
          <p:nvPr/>
        </p:nvSpPr>
        <p:spPr>
          <a:xfrm>
            <a:off x="875665" y="3982085"/>
            <a:ext cx="2744470" cy="2370455"/>
          </a:xfrm>
          <a:prstGeom prst="rect">
            <a:avLst/>
          </a:prstGeom>
          <a:solidFill>
            <a:schemeClr val="accent6">
              <a:lumMod val="20000"/>
              <a:lumOff val="80000"/>
            </a:schemeClr>
          </a:solidFill>
          <a:ln w="0" cap="flat">
            <a:noFill/>
            <a:prstDash val="solid"/>
            <a:miter lim="0"/>
          </a:ln>
        </p:spPr>
        <p:txBody>
          <a:bodyPr vert="horz" wrap="square" lIns="0" tIns="0" rIns="0" bIns="0"/>
          <a:p>
            <a:pPr algn="l" rtl="0" eaLnBrk="0">
              <a:lnSpc>
                <a:spcPct val="109000"/>
              </a:lnSpc>
            </a:pPr>
            <a:endParaRPr sz="2400" dirty="0">
              <a:highlight>
                <a:srgbClr val="FFFF00"/>
              </a:highlight>
              <a:latin typeface="Times New Roman" panose="02020603050405020304"/>
              <a:ea typeface="Times New Roman" panose="02020603050405020304"/>
              <a:cs typeface="Times New Roman" panose="02020603050405020304"/>
            </a:endParaRPr>
          </a:p>
          <a:p>
            <a:pPr marL="710565" algn="l" rtl="0" eaLnBrk="0">
              <a:lnSpc>
                <a:spcPts val="1085"/>
              </a:lnSpc>
              <a:spcBef>
                <a:spcPts val="5"/>
              </a:spcBef>
            </a:pPr>
            <a:endParaRPr sz="900" kern="0" spc="130" dirty="0">
              <a:solidFill>
                <a:srgbClr val="307050">
                  <a:alpha val="100000"/>
                </a:srgbClr>
              </a:solidFill>
              <a:highlight>
                <a:srgbClr val="FFFF00"/>
              </a:highlight>
              <a:latin typeface="黑体" panose="02010609060101010101" charset="-122"/>
              <a:ea typeface="黑体" panose="02010609060101010101" charset="-122"/>
              <a:cs typeface="黑体" panose="02010609060101010101" charset="-122"/>
            </a:endParaRPr>
          </a:p>
        </p:txBody>
      </p:sp>
      <p:sp>
        <p:nvSpPr>
          <p:cNvPr id="85" name="textbox 158"/>
          <p:cNvSpPr/>
          <p:nvPr/>
        </p:nvSpPr>
        <p:spPr>
          <a:xfrm>
            <a:off x="647740" y="367818"/>
            <a:ext cx="3639820" cy="600075"/>
          </a:xfrm>
          <a:prstGeom prst="rect">
            <a:avLst/>
          </a:prstGeom>
          <a:noFill/>
          <a:ln w="0" cap="flat">
            <a:noFill/>
            <a:prstDash val="solid"/>
            <a:miter lim="0"/>
          </a:ln>
        </p:spPr>
        <p:txBody>
          <a:bodyPr vert="horz" wrap="square" lIns="0" tIns="0" rIns="0" bIns="0"/>
          <a:p>
            <a:pPr algn="l" rtl="0" eaLnBrk="0">
              <a:lnSpc>
                <a:spcPct val="78000"/>
              </a:lnSpc>
            </a:pPr>
            <a:endParaRPr sz="100" dirty="0">
              <a:latin typeface="Arial" panose="020B0604020202020204"/>
              <a:ea typeface="Arial" panose="020B0604020202020204"/>
              <a:cs typeface="Arial" panose="020B0604020202020204"/>
            </a:endParaRPr>
          </a:p>
          <a:p>
            <a:pPr marL="15875" algn="l" rtl="0" eaLnBrk="0">
              <a:lnSpc>
                <a:spcPct val="98000"/>
              </a:lnSpc>
            </a:pPr>
            <a:r>
              <a:rPr lang="en-US" altLang="zh-CN" sz="1900" kern="0" noProof="0" dirty="0">
                <a:solidFill>
                  <a:srgbClr val="4C61E7"/>
                </a:solidFill>
                <a:uLnTx/>
                <a:latin typeface="Arial Black" panose="020B0A04020102020204" pitchFamily="34" charset="0"/>
                <a:ea typeface="微软雅黑" panose="020B0503020204020204" charset="-122"/>
                <a:sym typeface="+mn-ea"/>
              </a:rPr>
              <a:t>7*24H</a:t>
            </a:r>
            <a:r>
              <a:rPr lang="zh-CN" altLang="en-US" sz="1900" kern="0" noProof="0" dirty="0">
                <a:solidFill>
                  <a:srgbClr val="4C61E7"/>
                </a:solidFill>
                <a:uLnTx/>
                <a:latin typeface="Arial Black" panose="020B0A04020102020204" pitchFamily="34" charset="0"/>
                <a:ea typeface="微软雅黑" panose="020B0503020204020204" charset="-122"/>
                <a:sym typeface="+mn-ea"/>
              </a:rPr>
              <a:t>威胁对抗详情</a:t>
            </a:r>
            <a:r>
              <a:rPr lang="en-US" altLang="zh-CN" sz="1900" kern="0" noProof="0" dirty="0">
                <a:solidFill>
                  <a:srgbClr val="4C61E7"/>
                </a:solidFill>
                <a:uLnTx/>
                <a:latin typeface="Arial Black" panose="020B0A04020102020204" pitchFamily="34" charset="0"/>
                <a:ea typeface="微软雅黑" panose="020B0503020204020204" charset="-122"/>
                <a:sym typeface="+mn-ea"/>
              </a:rPr>
              <a:t>-1</a:t>
            </a:r>
            <a:endParaRPr sz="1900" dirty="0">
              <a:latin typeface="黑体" panose="02010609060101010101" charset="-122"/>
              <a:ea typeface="黑体" panose="02010609060101010101" charset="-122"/>
              <a:cs typeface="黑体" panose="02010609060101010101" charset="-122"/>
            </a:endParaRPr>
          </a:p>
          <a:p>
            <a:pPr algn="l" rtl="0" eaLnBrk="0">
              <a:lnSpc>
                <a:spcPct val="101000"/>
              </a:lnSpc>
            </a:pPr>
            <a:endParaRPr sz="800" dirty="0">
              <a:latin typeface="Arial" panose="020B0604020202020204"/>
              <a:ea typeface="Arial" panose="020B0604020202020204"/>
              <a:cs typeface="Arial" panose="020B0604020202020204"/>
            </a:endParaRPr>
          </a:p>
          <a:p>
            <a:pPr marL="12700" algn="l" rtl="0" eaLnBrk="0">
              <a:lnSpc>
                <a:spcPct val="92000"/>
              </a:lnSpc>
              <a:spcBef>
                <a:spcPts val="5"/>
              </a:spcBef>
            </a:pPr>
            <a:r>
              <a:rPr lang="zh-CN" altLang="en-US" sz="1000" dirty="0">
                <a:solidFill>
                  <a:sysClr val="windowText" lastClr="000000"/>
                </a:solidFill>
                <a:latin typeface="黑体" panose="02010609060101010101" charset="-122"/>
                <a:ea typeface="黑体" panose="02010609060101010101" charset="-122"/>
                <a:cs typeface="黑体" panose="02010609060101010101" charset="-122"/>
                <a:sym typeface="+mn-ea"/>
              </a:rPr>
              <a:t>主动管理，及时阻断，有效闭环，避免业务</a:t>
            </a:r>
            <a:r>
              <a:rPr lang="zh-CN" altLang="en-US" sz="1000" dirty="0">
                <a:solidFill>
                  <a:sysClr val="windowText" lastClr="000000"/>
                </a:solidFill>
                <a:latin typeface="黑体" panose="02010609060101010101" charset="-122"/>
                <a:ea typeface="黑体" panose="02010609060101010101" charset="-122"/>
                <a:cs typeface="黑体" panose="02010609060101010101" charset="-122"/>
                <a:sym typeface="+mn-ea"/>
              </a:rPr>
              <a:t>影响</a:t>
            </a:r>
            <a:endParaRPr lang="zh-CN" altLang="en-US" sz="1000" dirty="0">
              <a:solidFill>
                <a:sysClr val="windowText" lastClr="000000"/>
              </a:solidFill>
              <a:latin typeface="黑体" panose="02010609060101010101" charset="-122"/>
              <a:ea typeface="黑体" panose="02010609060101010101" charset="-122"/>
              <a:cs typeface="黑体" panose="02010609060101010101" charset="-122"/>
              <a:sym typeface="+mn-ea"/>
            </a:endParaRPr>
          </a:p>
        </p:txBody>
      </p:sp>
      <p:sp>
        <p:nvSpPr>
          <p:cNvPr id="86" name="textbox 50"/>
          <p:cNvSpPr/>
          <p:nvPr/>
        </p:nvSpPr>
        <p:spPr>
          <a:xfrm>
            <a:off x="3750945" y="3982085"/>
            <a:ext cx="3006725" cy="2370455"/>
          </a:xfrm>
          <a:prstGeom prst="rect">
            <a:avLst/>
          </a:prstGeom>
          <a:solidFill>
            <a:sysClr val="window" lastClr="FFFFFF">
              <a:lumMod val="95000"/>
            </a:sysClr>
          </a:solidFill>
          <a:ln w="0" cap="flat">
            <a:noFill/>
            <a:prstDash val="solid"/>
            <a:miter lim="0"/>
          </a:ln>
        </p:spPr>
        <p:txBody>
          <a:bodyPr vert="horz" wrap="square" lIns="0" tIns="0" rIns="0" bIns="0"/>
          <a:p>
            <a:pPr algn="l" rtl="0" eaLnBrk="0">
              <a:lnSpc>
                <a:spcPct val="109000"/>
              </a:lnSpc>
            </a:pPr>
            <a:endParaRPr sz="2400" dirty="0">
              <a:highlight>
                <a:srgbClr val="FFFF00"/>
              </a:highlight>
              <a:latin typeface="Times New Roman" panose="02020603050405020304"/>
              <a:ea typeface="Times New Roman" panose="02020603050405020304"/>
              <a:cs typeface="Times New Roman" panose="02020603050405020304"/>
            </a:endParaRPr>
          </a:p>
          <a:p>
            <a:pPr marL="710565" algn="l" rtl="0" eaLnBrk="0">
              <a:lnSpc>
                <a:spcPts val="1085"/>
              </a:lnSpc>
              <a:spcBef>
                <a:spcPts val="5"/>
              </a:spcBef>
            </a:pPr>
            <a:endParaRPr sz="900" kern="0" spc="130" dirty="0">
              <a:solidFill>
                <a:srgbClr val="307050">
                  <a:alpha val="100000"/>
                </a:srgbClr>
              </a:solidFill>
              <a:highlight>
                <a:srgbClr val="FFFF00"/>
              </a:highlight>
              <a:latin typeface="黑体" panose="02010609060101010101" charset="-122"/>
              <a:ea typeface="黑体" panose="02010609060101010101" charset="-122"/>
              <a:cs typeface="黑体" panose="02010609060101010101" charset="-122"/>
            </a:endParaRPr>
          </a:p>
        </p:txBody>
      </p:sp>
      <p:sp>
        <p:nvSpPr>
          <p:cNvPr id="87" name="íṥlïḍê"/>
          <p:cNvSpPr txBox="1"/>
          <p:nvPr>
            <p:custDataLst>
              <p:tags r:id="rId4"/>
            </p:custDataLst>
          </p:nvPr>
        </p:nvSpPr>
        <p:spPr>
          <a:xfrm>
            <a:off x="3881755" y="4065270"/>
            <a:ext cx="2336800" cy="242570"/>
          </a:xfrm>
          <a:prstGeom prst="rect">
            <a:avLst/>
          </a:prstGeom>
          <a:noFill/>
        </p:spPr>
        <p:txBody>
          <a:bodyPr wrap="square" rtlCol="0" anchor="t" anchorCtr="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marL="28575" lvl="0" algn="l" defTabSz="2438400" eaLnBrk="0">
              <a:lnSpc>
                <a:spcPct val="98000"/>
              </a:lnSpc>
            </a:pPr>
            <a:r>
              <a:rPr lang="zh-CN" sz="1400"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平均处置时效（</a:t>
            </a:r>
            <a:r>
              <a:rPr lang="zh-CN" sz="1400"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分钟）</a:t>
            </a:r>
            <a:endParaRPr lang="zh-CN" sz="1400" spc="3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p:txBody>
      </p:sp>
      <p:grpSp>
        <p:nvGrpSpPr>
          <p:cNvPr id="89" name="组合 88"/>
          <p:cNvGrpSpPr/>
          <p:nvPr/>
        </p:nvGrpSpPr>
        <p:grpSpPr>
          <a:xfrm>
            <a:off x="3627755" y="2326640"/>
            <a:ext cx="8012430" cy="1512570"/>
            <a:chOff x="12177" y="-373"/>
            <a:chExt cx="24479" cy="4764"/>
          </a:xfrm>
        </p:grpSpPr>
        <p:sp>
          <p:nvSpPr>
            <p:cNvPr id="91" name="textbox 40"/>
            <p:cNvSpPr/>
            <p:nvPr/>
          </p:nvSpPr>
          <p:spPr>
            <a:xfrm>
              <a:off x="12564" y="294"/>
              <a:ext cx="24092" cy="4010"/>
            </a:xfrm>
            <a:prstGeom prst="rect">
              <a:avLst/>
            </a:prstGeom>
            <a:solidFill>
              <a:srgbClr val="DAE3F3"/>
            </a:solid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algn="l" rtl="0" eaLnBrk="0">
                <a:lnSpc>
                  <a:spcPct val="119000"/>
                </a:lnSpc>
              </a:pPr>
              <a:endParaRPr sz="900" b="1" kern="0" spc="-40" dirty="0">
                <a:solidFill>
                  <a:srgbClr val="000000">
                    <a:alpha val="100000"/>
                  </a:srgbClr>
                </a:solidFill>
                <a:latin typeface="黑体" panose="02010609060101010101" charset="-122"/>
                <a:ea typeface="黑体" panose="02010609060101010101" charset="-122"/>
                <a:cs typeface="黑体" panose="02010609060101010101" charset="-122"/>
              </a:endParaRPr>
            </a:p>
            <a:p>
              <a:pPr algn="l" rtl="0" eaLnBrk="0">
                <a:lnSpc>
                  <a:spcPct val="108000"/>
                </a:lnSpc>
              </a:pPr>
              <a:endParaRPr sz="900" b="1" kern="0" spc="-40" dirty="0">
                <a:solidFill>
                  <a:srgbClr val="000000">
                    <a:alpha val="100000"/>
                  </a:srgbClr>
                </a:solidFill>
                <a:latin typeface="黑体" panose="02010609060101010101" charset="-122"/>
                <a:ea typeface="黑体" panose="02010609060101010101" charset="-122"/>
                <a:cs typeface="黑体" panose="02010609060101010101" charset="-122"/>
              </a:endParaRPr>
            </a:p>
            <a:p>
              <a:pPr algn="l" rtl="0" eaLnBrk="0">
                <a:lnSpc>
                  <a:spcPct val="108000"/>
                </a:lnSpc>
              </a:pPr>
              <a:endParaRPr sz="900" dirty="0">
                <a:latin typeface="黑体" panose="02010609060101010101" charset="-122"/>
                <a:ea typeface="黑体" panose="02010609060101010101" charset="-122"/>
                <a:cs typeface="黑体" panose="02010609060101010101" charset="-122"/>
              </a:endParaRPr>
            </a:p>
          </p:txBody>
        </p:sp>
        <p:sp>
          <p:nvSpPr>
            <p:cNvPr id="102" name="文本框 101"/>
            <p:cNvSpPr txBox="1"/>
            <p:nvPr/>
          </p:nvSpPr>
          <p:spPr>
            <a:xfrm>
              <a:off x="12749" y="207"/>
              <a:ext cx="7708" cy="4076"/>
            </a:xfrm>
            <a:prstGeom prst="rect">
              <a:avLst/>
            </a:prstGeom>
            <a:noFill/>
          </p:spPr>
          <p:txBody>
            <a:bodyPr wrap="square" rtlCol="0" anchor="t">
              <a:noAutofit/>
            </a:bodyPr>
            <a:p>
              <a:pPr algn="l" rtl="0" eaLnBrk="0">
                <a:lnSpc>
                  <a:spcPct val="155000"/>
                </a:lnSpc>
              </a:pPr>
              <a:r>
                <a:rPr sz="900" b="1"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业务持续性保障</a:t>
              </a:r>
              <a:endParaRPr sz="900" dirty="0">
                <a:latin typeface="黑体" panose="02010609060101010101" charset="-122"/>
                <a:ea typeface="黑体" panose="02010609060101010101" charset="-122"/>
                <a:cs typeface="黑体" panose="02010609060101010101" charset="-122"/>
              </a:endParaRPr>
            </a:p>
            <a:p>
              <a:pPr algn="just" rtl="0" eaLnBrk="0">
                <a:lnSpc>
                  <a:spcPct val="119000"/>
                </a:lnSpc>
                <a:spcBef>
                  <a:spcPts val="185"/>
                </a:spcBef>
                <a:buClrTx/>
                <a:buSzTx/>
                <a:buFontTx/>
              </a:pPr>
              <a:r>
                <a:rPr sz="80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lang="en-US" altLang="zh-CN" sz="80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business_continuity_assurance_conclusion</a:t>
              </a:r>
              <a:r>
                <a:rPr sz="80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endParaRPr sz="80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04" name="文本框 103"/>
            <p:cNvSpPr txBox="1"/>
            <p:nvPr/>
          </p:nvSpPr>
          <p:spPr>
            <a:xfrm>
              <a:off x="20551" y="353"/>
              <a:ext cx="7742" cy="4038"/>
            </a:xfrm>
            <a:prstGeom prst="rect">
              <a:avLst/>
            </a:prstGeom>
            <a:noFill/>
          </p:spPr>
          <p:txBody>
            <a:bodyPr wrap="square" rtlCol="0" anchor="t">
              <a:noAutofit/>
            </a:bodyPr>
            <a:p>
              <a:pPr algn="l" rtl="0" eaLnBrk="0">
                <a:lnSpc>
                  <a:spcPct val="119000"/>
                </a:lnSpc>
              </a:pPr>
              <a:r>
                <a:rPr lang="zh-CN" sz="900" b="1"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用户信赖度保障</a:t>
              </a:r>
              <a:endParaRPr sz="900" b="1" kern="0" spc="-40" dirty="0">
                <a:solidFill>
                  <a:srgbClr val="000000">
                    <a:alpha val="100000"/>
                  </a:srgbClr>
                </a:solidFill>
                <a:latin typeface="黑体" panose="02010609060101010101" charset="-122"/>
                <a:ea typeface="黑体" panose="02010609060101010101" charset="-122"/>
                <a:cs typeface="黑体" panose="02010609060101010101" charset="-122"/>
              </a:endParaRPr>
            </a:p>
            <a:p>
              <a:pPr algn="just" rtl="0" eaLnBrk="0">
                <a:lnSpc>
                  <a:spcPct val="119000"/>
                </a:lnSpc>
              </a:pPr>
              <a:r>
                <a:rPr sz="80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lang="en-US" altLang="zh-CN" sz="80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user_trust_assurance_conclusion</a:t>
              </a:r>
              <a:r>
                <a:rPr sz="80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endParaRPr sz="80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15" name="文本框 114"/>
            <p:cNvSpPr txBox="1"/>
            <p:nvPr/>
          </p:nvSpPr>
          <p:spPr>
            <a:xfrm>
              <a:off x="28496" y="428"/>
              <a:ext cx="7694" cy="2784"/>
            </a:xfrm>
            <a:prstGeom prst="rect">
              <a:avLst/>
            </a:prstGeom>
            <a:noFill/>
          </p:spPr>
          <p:txBody>
            <a:bodyPr wrap="square" rtlCol="0" anchor="t">
              <a:noAutofit/>
            </a:bodyPr>
            <a:p>
              <a:pPr algn="l" rtl="0" eaLnBrk="0">
                <a:lnSpc>
                  <a:spcPct val="108000"/>
                </a:lnSpc>
              </a:pPr>
              <a:r>
                <a:rPr sz="900" b="1"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运营风险与成本降低</a:t>
              </a:r>
              <a:endParaRPr sz="900" b="1" kern="0" spc="-40" dirty="0">
                <a:solidFill>
                  <a:srgbClr val="000000">
                    <a:alpha val="100000"/>
                  </a:srgbClr>
                </a:solidFill>
                <a:latin typeface="黑体" panose="02010609060101010101" charset="-122"/>
                <a:ea typeface="黑体" panose="02010609060101010101" charset="-122"/>
                <a:cs typeface="黑体" panose="02010609060101010101" charset="-122"/>
              </a:endParaRPr>
            </a:p>
            <a:p>
              <a:pPr algn="just" rtl="0" eaLnBrk="0">
                <a:lnSpc>
                  <a:spcPct val="108000"/>
                </a:lnSpc>
              </a:pPr>
              <a:r>
                <a:rPr lang="zh-CN" altLang="en-US" sz="800" spc="110" dirty="0">
                  <a:solidFill>
                    <a:srgbClr val="000000">
                      <a:alpha val="100000"/>
                    </a:srgbClr>
                  </a:solidFill>
                  <a:latin typeface="黑体" panose="02010609060101010101" charset="-122"/>
                  <a:ea typeface="黑体" panose="02010609060101010101" charset="-122"/>
                  <a:cs typeface="黑体" panose="02010609060101010101" charset="-122"/>
                  <a:sym typeface="+mn-ea"/>
                </a:rPr>
                <a:t>构建</a:t>
              </a:r>
              <a:r>
                <a:rPr lang="en-US" altLang="zh-CN" sz="800" spc="110" dirty="0">
                  <a:solidFill>
                    <a:srgbClr val="000000">
                      <a:alpha val="100000"/>
                    </a:srgbClr>
                  </a:solidFill>
                  <a:latin typeface="黑体" panose="02010609060101010101" charset="-122"/>
                  <a:ea typeface="黑体" panose="02010609060101010101" charset="-122"/>
                  <a:cs typeface="黑体" panose="02010609060101010101" charset="-122"/>
                  <a:sym typeface="+mn-ea"/>
                </a:rPr>
                <a:t> 7</a:t>
              </a:r>
              <a:r>
                <a:rPr lang="en-US" altLang="en-US" sz="800" spc="1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lang="en-US" altLang="zh-CN" sz="800" spc="110" dirty="0">
                  <a:solidFill>
                    <a:srgbClr val="000000">
                      <a:alpha val="100000"/>
                    </a:srgbClr>
                  </a:solidFill>
                  <a:latin typeface="黑体" panose="02010609060101010101" charset="-122"/>
                  <a:ea typeface="黑体" panose="02010609060101010101" charset="-122"/>
                  <a:cs typeface="黑体" panose="02010609060101010101" charset="-122"/>
                  <a:sym typeface="+mn-ea"/>
                </a:rPr>
                <a:t>24</a:t>
              </a:r>
              <a:r>
                <a:rPr lang="zh-CN" altLang="en-US" sz="800" spc="110" dirty="0">
                  <a:solidFill>
                    <a:srgbClr val="000000">
                      <a:alpha val="100000"/>
                    </a:srgbClr>
                  </a:solidFill>
                  <a:latin typeface="黑体" panose="02010609060101010101" charset="-122"/>
                  <a:ea typeface="黑体" panose="02010609060101010101" charset="-122"/>
                  <a:cs typeface="黑体" panose="02010609060101010101" charset="-122"/>
                  <a:sym typeface="+mn-ea"/>
                </a:rPr>
                <a:t>小时主动运营体系，实现持续监控与风险预警，及时发现并处理潜在问题，减少应急处置成本，避免业务中断损失；同时持续降低运营风险，有效支撑公司经营效率提升。</a:t>
              </a:r>
              <a:endParaRPr lang="zh-CN" altLang="en-US" sz="800" spc="1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16" name="íṥlïḍê"/>
            <p:cNvSpPr txBox="1"/>
            <p:nvPr>
              <p:custDataLst>
                <p:tags r:id="rId5"/>
              </p:custDataLst>
            </p:nvPr>
          </p:nvSpPr>
          <p:spPr>
            <a:xfrm>
              <a:off x="12177" y="-373"/>
              <a:ext cx="7359" cy="850"/>
            </a:xfrm>
            <a:prstGeom prst="rect">
              <a:avLst/>
            </a:prstGeom>
            <a:noFill/>
          </p:spPr>
          <p:txBody>
            <a:bodyPr wrap="square" rtlCol="0" anchor="t" anchorCtr="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marL="28575" lvl="0" algn="l" defTabSz="2438400" eaLnBrk="0">
                <a:lnSpc>
                  <a:spcPct val="98000"/>
                </a:lnSpc>
              </a:pPr>
              <a:r>
                <a:rPr lang="zh-CN" sz="1200"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关键结论</a:t>
              </a:r>
              <a:endParaRPr lang="zh-CN" sz="1200" spc="3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p:txBody>
        </p:sp>
      </p:grpSp>
      <p:pic>
        <p:nvPicPr>
          <p:cNvPr id="117" name="图片 116" descr="深信服 + 智安全"/>
          <p:cNvPicPr>
            <a:picLocks noChangeAspect="1"/>
          </p:cNvPicPr>
          <p:nvPr/>
        </p:nvPicPr>
        <p:blipFill>
          <a:blip r:embed="rId6"/>
          <a:srcRect l="5232" t="26576" r="4938" b="29565"/>
          <a:stretch>
            <a:fillRect/>
          </a:stretch>
        </p:blipFill>
        <p:spPr>
          <a:xfrm>
            <a:off x="10017125" y="246380"/>
            <a:ext cx="1629867" cy="360000"/>
          </a:xfrm>
          <a:prstGeom prst="rect">
            <a:avLst/>
          </a:prstGeom>
        </p:spPr>
      </p:pic>
      <p:grpSp>
        <p:nvGrpSpPr>
          <p:cNvPr id="134" name="组合 133"/>
          <p:cNvGrpSpPr/>
          <p:nvPr/>
        </p:nvGrpSpPr>
        <p:grpSpPr>
          <a:xfrm>
            <a:off x="3747770" y="1270000"/>
            <a:ext cx="1428433" cy="1080453"/>
            <a:chOff x="13504" y="5135"/>
            <a:chExt cx="4499" cy="3403"/>
          </a:xfrm>
        </p:grpSpPr>
        <p:sp>
          <p:nvSpPr>
            <p:cNvPr id="135" name="文本框 134"/>
            <p:cNvSpPr txBox="1"/>
            <p:nvPr/>
          </p:nvSpPr>
          <p:spPr>
            <a:xfrm>
              <a:off x="13504" y="6575"/>
              <a:ext cx="4499" cy="567"/>
            </a:xfrm>
            <a:prstGeom prst="rect">
              <a:avLst/>
            </a:prstGeom>
            <a:noFill/>
          </p:spPr>
          <p:txBody>
            <a:bodyPr wrap="square" rtlCol="0" anchor="ctr" anchorCtr="0">
              <a:noAutofit/>
            </a:bodyPr>
            <a:p>
              <a:pPr algn="ctr" rtl="0" eaLnBrk="0">
                <a:lnSpc>
                  <a:spcPct val="127000"/>
                </a:lnSpc>
              </a:pPr>
              <a:r>
                <a:rPr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安全事件</a:t>
              </a:r>
              <a:r>
                <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识别</a:t>
              </a:r>
              <a:endPar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37" name="文本框 136"/>
            <p:cNvSpPr txBox="1"/>
            <p:nvPr/>
          </p:nvSpPr>
          <p:spPr>
            <a:xfrm>
              <a:off x="13504" y="7971"/>
              <a:ext cx="4499" cy="567"/>
            </a:xfrm>
            <a:prstGeom prst="rect">
              <a:avLst/>
            </a:prstGeom>
            <a:noFill/>
          </p:spPr>
          <p:txBody>
            <a:bodyPr wrap="square" rtlCol="0" anchor="ctr" anchorCtr="0">
              <a:noAutofit/>
            </a:bodyPr>
            <a:p>
              <a:pPr algn="ctr" rtl="0" eaLnBrk="0">
                <a:lnSpc>
                  <a:spcPct val="127000"/>
                </a:lnSpc>
              </a:pPr>
              <a:r>
                <a:rPr lang="en-US" altLang="zh-CN" sz="900" kern="0" spc="120" dirty="0">
                  <a:solidFill>
                    <a:srgbClr val="66A840">
                      <a:alpha val="100000"/>
                    </a:srgbClr>
                  </a:solidFill>
                  <a:latin typeface="黑体" panose="02010609060101010101" charset="-122"/>
                  <a:ea typeface="黑体" panose="02010609060101010101" charset="-122"/>
                  <a:cs typeface="黑体" panose="02010609060101010101" charset="-122"/>
                  <a:sym typeface="+mn-ea"/>
                </a:rPr>
                <a:t>100%</a:t>
              </a:r>
              <a:r>
                <a:rPr lang="zh-CN" altLang="en-US" sz="900" kern="0" spc="120" dirty="0">
                  <a:solidFill>
                    <a:srgbClr val="66A840">
                      <a:alpha val="100000"/>
                    </a:srgbClr>
                  </a:solidFill>
                  <a:latin typeface="黑体" panose="02010609060101010101" charset="-122"/>
                  <a:ea typeface="黑体" panose="02010609060101010101" charset="-122"/>
                  <a:cs typeface="黑体" panose="02010609060101010101" charset="-122"/>
                  <a:sym typeface="+mn-ea"/>
                </a:rPr>
                <a:t>响应率</a:t>
              </a:r>
              <a:endParaRPr lang="zh-CN" altLang="en-US" sz="900" kern="0" spc="120" dirty="0">
                <a:solidFill>
                  <a:srgbClr val="66A840">
                    <a:alpha val="100000"/>
                  </a:srgbClr>
                </a:solidFill>
                <a:latin typeface="黑体" panose="02010609060101010101" charset="-122"/>
                <a:ea typeface="黑体" panose="02010609060101010101" charset="-122"/>
                <a:cs typeface="黑体" panose="02010609060101010101" charset="-122"/>
                <a:sym typeface="+mn-ea"/>
              </a:endParaRPr>
            </a:p>
          </p:txBody>
        </p:sp>
        <p:pic>
          <p:nvPicPr>
            <p:cNvPr id="138" name="图片 137" descr="警示"/>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5187" y="5135"/>
              <a:ext cx="1134" cy="1134"/>
            </a:xfrm>
            <a:prstGeom prst="rect">
              <a:avLst/>
            </a:prstGeom>
          </p:spPr>
        </p:pic>
      </p:grpSp>
      <p:grpSp>
        <p:nvGrpSpPr>
          <p:cNvPr id="139" name="组合 138"/>
          <p:cNvGrpSpPr/>
          <p:nvPr/>
        </p:nvGrpSpPr>
        <p:grpSpPr>
          <a:xfrm>
            <a:off x="5424805" y="1270000"/>
            <a:ext cx="2378075" cy="1058863"/>
            <a:chOff x="17104" y="5135"/>
            <a:chExt cx="7490" cy="3335"/>
          </a:xfrm>
        </p:grpSpPr>
        <p:pic>
          <p:nvPicPr>
            <p:cNvPr id="140" name="图片 139" descr="极速响应"/>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0219" y="5135"/>
              <a:ext cx="1134" cy="1134"/>
            </a:xfrm>
            <a:prstGeom prst="rect">
              <a:avLst/>
            </a:prstGeom>
          </p:spPr>
        </p:pic>
        <p:sp>
          <p:nvSpPr>
            <p:cNvPr id="141" name="文本框 140"/>
            <p:cNvSpPr txBox="1"/>
            <p:nvPr/>
          </p:nvSpPr>
          <p:spPr>
            <a:xfrm>
              <a:off x="18536" y="6575"/>
              <a:ext cx="4499" cy="567"/>
            </a:xfrm>
            <a:prstGeom prst="rect">
              <a:avLst/>
            </a:prstGeom>
            <a:noFill/>
          </p:spPr>
          <p:txBody>
            <a:bodyPr wrap="square" rtlCol="0" anchor="ctr" anchorCtr="0">
              <a:noAutofit/>
            </a:bodyPr>
            <a:p>
              <a:pPr algn="ctr" rtl="0" eaLnBrk="0">
                <a:lnSpc>
                  <a:spcPct val="127000"/>
                </a:lnSpc>
              </a:pPr>
              <a:r>
                <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平均响应时间</a:t>
              </a:r>
              <a:endPar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42" name="文本框 141"/>
            <p:cNvSpPr txBox="1"/>
            <p:nvPr/>
          </p:nvSpPr>
          <p:spPr>
            <a:xfrm>
              <a:off x="17104" y="7187"/>
              <a:ext cx="7490" cy="984"/>
            </a:xfrm>
            <a:prstGeom prst="rect">
              <a:avLst/>
            </a:prstGeom>
            <a:noFill/>
          </p:spPr>
          <p:txBody>
            <a:bodyPr wrap="square" rtlCol="0" anchor="ctr" anchorCtr="0">
              <a:noAutofit/>
            </a:bodyPr>
            <a:p>
              <a:pPr marL="0" algn="ctr" rtl="0" eaLnBrk="0">
                <a:lnSpc>
                  <a:spcPct val="76000"/>
                </a:lnSpc>
                <a:spcBef>
                  <a:spcPts val="520"/>
                </a:spcBef>
              </a:pPr>
              <a:r>
                <a:rPr lang="en-US" altLang="zh-CN" sz="2000" dirty="0">
                  <a:solidFill>
                    <a:srgbClr val="365FD9"/>
                  </a:solidFill>
                  <a:latin typeface="Arial" panose="020B0604020202020204" pitchFamily="34" charset="0"/>
                  <a:ea typeface="微软雅黑" panose="020B0503020204020204" charset="-122"/>
                  <a:cs typeface="Arial" panose="020B0604020202020204" pitchFamily="34" charset="0"/>
                  <a:sym typeface="+mn-ea"/>
                </a:rPr>
                <a:t>{{average_response_time}}</a:t>
              </a:r>
              <a:r>
                <a:rPr lang="en-US" sz="2000" dirty="0">
                  <a:solidFill>
                    <a:srgbClr val="365FD9"/>
                  </a:solidFill>
                  <a:latin typeface="Arial" panose="020B0604020202020204" pitchFamily="34" charset="0"/>
                  <a:ea typeface="微软雅黑" panose="020B0503020204020204" charset="-122"/>
                  <a:cs typeface="Arial" panose="020B0604020202020204" pitchFamily="34" charset="0"/>
                  <a:sym typeface="+mn-ea"/>
                </a:rPr>
                <a:t> </a:t>
              </a:r>
              <a:endParaRPr lang="zh-CN" altLang="en-US" sz="2000" b="1" kern="0" spc="-20" dirty="0">
                <a:solidFill>
                  <a:srgbClr val="2040C0">
                    <a:alpha val="100000"/>
                  </a:srgbClr>
                </a:solidFill>
                <a:latin typeface="Arial" panose="020B0604020202020204" pitchFamily="34" charset="0"/>
                <a:ea typeface="Times New Roman" panose="02020603050405020304"/>
                <a:cs typeface="Arial" panose="020B0604020202020204" pitchFamily="34" charset="0"/>
                <a:sym typeface="+mn-ea"/>
              </a:endParaRPr>
            </a:p>
          </p:txBody>
        </p:sp>
        <p:sp>
          <p:nvSpPr>
            <p:cNvPr id="143" name="文本框 142"/>
            <p:cNvSpPr txBox="1"/>
            <p:nvPr/>
          </p:nvSpPr>
          <p:spPr>
            <a:xfrm>
              <a:off x="18604" y="7903"/>
              <a:ext cx="4499" cy="567"/>
            </a:xfrm>
            <a:prstGeom prst="rect">
              <a:avLst/>
            </a:prstGeom>
            <a:noFill/>
          </p:spPr>
          <p:txBody>
            <a:bodyPr wrap="square" rtlCol="0" anchor="ctr" anchorCtr="0">
              <a:noAutofit/>
            </a:bodyPr>
            <a:p>
              <a:pPr algn="ctr" rtl="0" eaLnBrk="0">
                <a:lnSpc>
                  <a:spcPct val="127000"/>
                </a:lnSpc>
              </a:pPr>
              <a:r>
                <a:rPr lang="zh-CN" altLang="en-US" sz="900" kern="0" spc="120" dirty="0">
                  <a:solidFill>
                    <a:srgbClr val="66A840">
                      <a:alpha val="100000"/>
                    </a:srgbClr>
                  </a:solidFill>
                  <a:latin typeface="黑体" panose="02010609060101010101" charset="-122"/>
                  <a:ea typeface="黑体" panose="02010609060101010101" charset="-122"/>
                  <a:cs typeface="黑体" panose="02010609060101010101" charset="-122"/>
                  <a:sym typeface="+mn-ea"/>
                </a:rPr>
                <a:t>达到行业领先水平</a:t>
              </a:r>
              <a:endParaRPr lang="zh-CN" altLang="en-US" sz="900" kern="0" spc="120" dirty="0">
                <a:solidFill>
                  <a:srgbClr val="66A840">
                    <a:alpha val="100000"/>
                  </a:srgbClr>
                </a:solidFill>
                <a:latin typeface="黑体" panose="02010609060101010101" charset="-122"/>
                <a:ea typeface="黑体" panose="02010609060101010101" charset="-122"/>
                <a:cs typeface="黑体" panose="02010609060101010101" charset="-122"/>
                <a:sym typeface="+mn-ea"/>
              </a:endParaRPr>
            </a:p>
          </p:txBody>
        </p:sp>
      </p:grpSp>
      <p:grpSp>
        <p:nvGrpSpPr>
          <p:cNvPr id="144" name="组合 143"/>
          <p:cNvGrpSpPr/>
          <p:nvPr/>
        </p:nvGrpSpPr>
        <p:grpSpPr>
          <a:xfrm>
            <a:off x="7813040" y="1280795"/>
            <a:ext cx="1869440" cy="1021081"/>
            <a:chOff x="22605" y="5162"/>
            <a:chExt cx="5888" cy="3216"/>
          </a:xfrm>
        </p:grpSpPr>
        <p:sp>
          <p:nvSpPr>
            <p:cNvPr id="145" name="文本框 144"/>
            <p:cNvSpPr txBox="1"/>
            <p:nvPr/>
          </p:nvSpPr>
          <p:spPr>
            <a:xfrm>
              <a:off x="23235" y="6585"/>
              <a:ext cx="4499" cy="567"/>
            </a:xfrm>
            <a:prstGeom prst="rect">
              <a:avLst/>
            </a:prstGeom>
            <a:noFill/>
          </p:spPr>
          <p:txBody>
            <a:bodyPr wrap="square" rtlCol="0" anchor="ctr" anchorCtr="0">
              <a:noAutofit/>
            </a:bodyPr>
            <a:p>
              <a:pPr algn="ctr" rtl="0" eaLnBrk="0">
                <a:lnSpc>
                  <a:spcPct val="127000"/>
                </a:lnSpc>
              </a:pPr>
              <a:r>
                <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平均处置时间</a:t>
              </a:r>
              <a:endPar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46" name="文本框 145"/>
            <p:cNvSpPr txBox="1"/>
            <p:nvPr/>
          </p:nvSpPr>
          <p:spPr>
            <a:xfrm>
              <a:off x="22605" y="7178"/>
              <a:ext cx="5888" cy="984"/>
            </a:xfrm>
            <a:prstGeom prst="rect">
              <a:avLst/>
            </a:prstGeom>
            <a:noFill/>
          </p:spPr>
          <p:txBody>
            <a:bodyPr wrap="square" rtlCol="0" anchor="ctr" anchorCtr="0">
              <a:noAutofit/>
            </a:bodyPr>
            <a:p>
              <a:pPr marL="0" algn="ctr" rtl="0" eaLnBrk="0">
                <a:lnSpc>
                  <a:spcPct val="76000"/>
                </a:lnSpc>
                <a:spcBef>
                  <a:spcPts val="520"/>
                </a:spcBef>
              </a:pPr>
              <a:r>
                <a:rPr lang="en-US" altLang="zh-CN" sz="2000" dirty="0">
                  <a:solidFill>
                    <a:srgbClr val="365FD9"/>
                  </a:solidFill>
                  <a:latin typeface="Arial" panose="020B0604020202020204" pitchFamily="34" charset="0"/>
                  <a:ea typeface="微软雅黑" panose="020B0503020204020204" charset="-122"/>
                  <a:cs typeface="Arial" panose="020B0604020202020204" pitchFamily="34" charset="0"/>
                  <a:sym typeface="+mn-ea"/>
                </a:rPr>
                <a:t>{{average_resolution_</a:t>
              </a:r>
              <a:r>
                <a:rPr lang="en-US" altLang="zh-CN" sz="2000" dirty="0">
                  <a:solidFill>
                    <a:srgbClr val="365FD9"/>
                  </a:solidFill>
                  <a:latin typeface="Arial" panose="020B0604020202020204" pitchFamily="34" charset="0"/>
                  <a:ea typeface="微软雅黑" panose="020B0503020204020204" charset="-122"/>
                  <a:cs typeface="Arial" panose="020B0604020202020204" pitchFamily="34" charset="0"/>
                  <a:sym typeface="+mn-ea"/>
                </a:rPr>
                <a:t>duration}}</a:t>
              </a:r>
              <a:r>
                <a:rPr lang="en-US" sz="2000" dirty="0">
                  <a:solidFill>
                    <a:srgbClr val="365FD9"/>
                  </a:solidFill>
                  <a:latin typeface="Arial" panose="020B0604020202020204" pitchFamily="34" charset="0"/>
                  <a:ea typeface="微软雅黑" panose="020B0503020204020204" charset="-122"/>
                  <a:cs typeface="Arial" panose="020B0604020202020204" pitchFamily="34" charset="0"/>
                  <a:sym typeface="+mn-ea"/>
                </a:rPr>
                <a:t> </a:t>
              </a:r>
              <a:endParaRPr lang="zh-CN" altLang="en-US" sz="2000" b="1" kern="0" spc="-20" dirty="0">
                <a:solidFill>
                  <a:srgbClr val="2040C0">
                    <a:alpha val="100000"/>
                  </a:srgbClr>
                </a:solidFill>
                <a:latin typeface="Arial" panose="020B0604020202020204" pitchFamily="34" charset="0"/>
                <a:ea typeface="Times New Roman" panose="02020603050405020304"/>
                <a:cs typeface="Arial" panose="020B0604020202020204" pitchFamily="34" charset="0"/>
                <a:sym typeface="+mn-ea"/>
              </a:endParaRPr>
            </a:p>
          </p:txBody>
        </p:sp>
        <p:sp>
          <p:nvSpPr>
            <p:cNvPr id="147" name="文本框 146"/>
            <p:cNvSpPr txBox="1"/>
            <p:nvPr/>
          </p:nvSpPr>
          <p:spPr>
            <a:xfrm>
              <a:off x="23235" y="7811"/>
              <a:ext cx="4499" cy="567"/>
            </a:xfrm>
            <a:prstGeom prst="rect">
              <a:avLst/>
            </a:prstGeom>
            <a:noFill/>
          </p:spPr>
          <p:txBody>
            <a:bodyPr wrap="square" rtlCol="0" anchor="ctr" anchorCtr="0">
              <a:noAutofit/>
            </a:bodyPr>
            <a:p>
              <a:pPr algn="ctr" rtl="0" eaLnBrk="0">
                <a:lnSpc>
                  <a:spcPct val="127000"/>
                </a:lnSpc>
              </a:pPr>
              <a:r>
                <a:rPr lang="zh-CN" altLang="en-US" sz="900" kern="0" spc="120" dirty="0">
                  <a:solidFill>
                    <a:srgbClr val="00B0F0">
                      <a:alpha val="100000"/>
                    </a:srgbClr>
                  </a:solidFill>
                  <a:latin typeface="黑体" panose="02010609060101010101" charset="-122"/>
                  <a:ea typeface="黑体" panose="02010609060101010101" charset="-122"/>
                  <a:cs typeface="黑体" panose="02010609060101010101" charset="-122"/>
                  <a:sym typeface="+mn-ea"/>
                </a:rPr>
                <a:t>基本符合预期水平</a:t>
              </a:r>
              <a:endParaRPr lang="zh-CN" altLang="en-US" sz="900" kern="0" spc="120" dirty="0">
                <a:solidFill>
                  <a:srgbClr val="00B0F0">
                    <a:alpha val="100000"/>
                  </a:srgbClr>
                </a:solidFill>
                <a:latin typeface="黑体" panose="02010609060101010101" charset="-122"/>
                <a:ea typeface="黑体" panose="02010609060101010101" charset="-122"/>
                <a:cs typeface="黑体" panose="02010609060101010101" charset="-122"/>
                <a:sym typeface="+mn-ea"/>
              </a:endParaRPr>
            </a:p>
          </p:txBody>
        </p:sp>
        <p:pic>
          <p:nvPicPr>
            <p:cNvPr id="148" name="图片 147" descr="打印机"/>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4918" y="5162"/>
              <a:ext cx="1134" cy="1134"/>
            </a:xfrm>
            <a:prstGeom prst="rect">
              <a:avLst/>
            </a:prstGeom>
          </p:spPr>
        </p:pic>
      </p:grpSp>
      <p:grpSp>
        <p:nvGrpSpPr>
          <p:cNvPr id="149" name="组合 148"/>
          <p:cNvGrpSpPr/>
          <p:nvPr/>
        </p:nvGrpSpPr>
        <p:grpSpPr>
          <a:xfrm>
            <a:off x="9702405" y="1280795"/>
            <a:ext cx="2310913" cy="1048068"/>
            <a:chOff x="29119" y="5135"/>
            <a:chExt cx="7272" cy="3301"/>
          </a:xfrm>
        </p:grpSpPr>
        <p:pic>
          <p:nvPicPr>
            <p:cNvPr id="150" name="图片 149" descr="招标结束"/>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2200" y="5135"/>
              <a:ext cx="1134" cy="1134"/>
            </a:xfrm>
            <a:prstGeom prst="rect">
              <a:avLst/>
            </a:prstGeom>
          </p:spPr>
        </p:pic>
        <p:sp>
          <p:nvSpPr>
            <p:cNvPr id="151" name="文本框 150"/>
            <p:cNvSpPr txBox="1"/>
            <p:nvPr/>
          </p:nvSpPr>
          <p:spPr>
            <a:xfrm>
              <a:off x="30517" y="6575"/>
              <a:ext cx="4499" cy="567"/>
            </a:xfrm>
            <a:prstGeom prst="rect">
              <a:avLst/>
            </a:prstGeom>
            <a:noFill/>
          </p:spPr>
          <p:txBody>
            <a:bodyPr wrap="square" rtlCol="0" anchor="ctr" anchorCtr="0">
              <a:noAutofit/>
            </a:bodyPr>
            <a:p>
              <a:pPr algn="ctr" rtl="0" eaLnBrk="0">
                <a:lnSpc>
                  <a:spcPct val="127000"/>
                </a:lnSpc>
              </a:pPr>
              <a:r>
                <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事件闭环率</a:t>
              </a:r>
              <a:endPar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52" name="文本框 151"/>
            <p:cNvSpPr txBox="1"/>
            <p:nvPr/>
          </p:nvSpPr>
          <p:spPr>
            <a:xfrm>
              <a:off x="29119" y="7167"/>
              <a:ext cx="7272" cy="984"/>
            </a:xfrm>
            <a:prstGeom prst="rect">
              <a:avLst/>
            </a:prstGeom>
            <a:noFill/>
          </p:spPr>
          <p:txBody>
            <a:bodyPr wrap="square" rtlCol="0" anchor="ctr" anchorCtr="0">
              <a:noAutofit/>
            </a:bodyPr>
            <a:p>
              <a:pPr marL="0" algn="ctr" rtl="0" eaLnBrk="0">
                <a:lnSpc>
                  <a:spcPct val="76000"/>
                </a:lnSpc>
                <a:spcBef>
                  <a:spcPts val="520"/>
                </a:spcBef>
              </a:pPr>
              <a:r>
                <a:rPr lang="en-US" altLang="zh-CN" sz="2000" dirty="0">
                  <a:solidFill>
                    <a:srgbClr val="365FD9"/>
                  </a:solidFill>
                  <a:latin typeface="Arial" panose="020B0604020202020204" pitchFamily="34" charset="0"/>
                  <a:ea typeface="微软雅黑" panose="020B0503020204020204" charset="-122"/>
                  <a:cs typeface="Arial" panose="020B0604020202020204" pitchFamily="34" charset="0"/>
                  <a:sym typeface="+mn-ea"/>
                </a:rPr>
                <a:t>{{event_closed_loop_rate}}</a:t>
              </a:r>
              <a:r>
                <a:rPr lang="en-US" sz="2000" dirty="0">
                  <a:solidFill>
                    <a:srgbClr val="365FD9"/>
                  </a:solidFill>
                  <a:latin typeface="Arial" panose="020B0604020202020204" pitchFamily="34" charset="0"/>
                  <a:ea typeface="微软雅黑" panose="020B0503020204020204" charset="-122"/>
                  <a:cs typeface="Arial" panose="020B0604020202020204" pitchFamily="34" charset="0"/>
                  <a:sym typeface="+mn-ea"/>
                </a:rPr>
                <a:t> </a:t>
              </a:r>
              <a:endParaRPr lang="en-US" sz="2000" b="1" kern="0" spc="-20" dirty="0">
                <a:solidFill>
                  <a:srgbClr val="2040C0">
                    <a:alpha val="100000"/>
                  </a:srgbClr>
                </a:solidFill>
                <a:latin typeface="Arial" panose="020B0604020202020204" pitchFamily="34" charset="0"/>
                <a:ea typeface="Times New Roman" panose="02020603050405020304"/>
                <a:cs typeface="Arial" panose="020B0604020202020204" pitchFamily="34" charset="0"/>
                <a:sym typeface="+mn-ea"/>
              </a:endParaRPr>
            </a:p>
          </p:txBody>
        </p:sp>
        <p:sp>
          <p:nvSpPr>
            <p:cNvPr id="153" name="文本框 152"/>
            <p:cNvSpPr txBox="1"/>
            <p:nvPr/>
          </p:nvSpPr>
          <p:spPr>
            <a:xfrm>
              <a:off x="30517" y="7869"/>
              <a:ext cx="4499" cy="567"/>
            </a:xfrm>
            <a:prstGeom prst="rect">
              <a:avLst/>
            </a:prstGeom>
            <a:noFill/>
          </p:spPr>
          <p:txBody>
            <a:bodyPr wrap="square" rtlCol="0" anchor="ctr" anchorCtr="0">
              <a:noAutofit/>
            </a:bodyPr>
            <a:p>
              <a:pPr algn="ctr" rtl="0" eaLnBrk="0">
                <a:lnSpc>
                  <a:spcPct val="127000"/>
                </a:lnSpc>
              </a:pPr>
              <a:r>
                <a:rPr lang="en-US" altLang="zh-CN" sz="900" kern="0" spc="120" dirty="0">
                  <a:solidFill>
                    <a:srgbClr val="66A840">
                      <a:alpha val="100000"/>
                    </a:srgbClr>
                  </a:solidFill>
                  <a:latin typeface="黑体" panose="02010609060101010101" charset="-122"/>
                  <a:ea typeface="黑体" panose="02010609060101010101" charset="-122"/>
                  <a:cs typeface="黑体" panose="02010609060101010101" charset="-122"/>
                  <a:sym typeface="+mn-ea"/>
                </a:rPr>
                <a:t>0</a:t>
              </a:r>
              <a:r>
                <a:rPr lang="zh-CN" altLang="en-US" sz="900" kern="0" spc="120" dirty="0">
                  <a:solidFill>
                    <a:srgbClr val="66A840">
                      <a:alpha val="100000"/>
                    </a:srgbClr>
                  </a:solidFill>
                  <a:latin typeface="黑体" panose="02010609060101010101" charset="-122"/>
                  <a:ea typeface="黑体" panose="02010609060101010101" charset="-122"/>
                  <a:cs typeface="黑体" panose="02010609060101010101" charset="-122"/>
                  <a:sym typeface="+mn-ea"/>
                </a:rPr>
                <a:t>安全事故</a:t>
              </a:r>
              <a:endParaRPr lang="zh-CN" altLang="en-US" sz="900" kern="0" spc="120" dirty="0">
                <a:solidFill>
                  <a:srgbClr val="66A840">
                    <a:alpha val="100000"/>
                  </a:srgbClr>
                </a:solidFill>
                <a:latin typeface="黑体" panose="02010609060101010101" charset="-122"/>
                <a:ea typeface="黑体" panose="02010609060101010101" charset="-122"/>
                <a:cs typeface="黑体" panose="02010609060101010101" charset="-122"/>
                <a:sym typeface="+mn-ea"/>
              </a:endParaRPr>
            </a:p>
          </p:txBody>
        </p:sp>
      </p:grpSp>
      <p:graphicFrame>
        <p:nvGraphicFramePr>
          <p:cNvPr id="154" name="图表 153" descr="7b0a202020202263686172745265734964223a20223230343736383734220a7d0a"/>
          <p:cNvGraphicFramePr/>
          <p:nvPr/>
        </p:nvGraphicFramePr>
        <p:xfrm>
          <a:off x="941070" y="4453255"/>
          <a:ext cx="2476500" cy="1846580"/>
        </p:xfrm>
        <a:graphic>
          <a:graphicData uri="http://schemas.openxmlformats.org/drawingml/2006/chart">
            <c:chart xmlns:c="http://schemas.openxmlformats.org/drawingml/2006/chart" xmlns:r="http://schemas.openxmlformats.org/officeDocument/2006/relationships" r:id="rId1"/>
          </a:graphicData>
        </a:graphic>
      </p:graphicFrame>
      <p:sp>
        <p:nvSpPr>
          <p:cNvPr id="155" name="文本框 154"/>
          <p:cNvSpPr txBox="1"/>
          <p:nvPr/>
        </p:nvSpPr>
        <p:spPr>
          <a:xfrm>
            <a:off x="1062990" y="4016375"/>
            <a:ext cx="1800000" cy="288000"/>
          </a:xfrm>
          <a:prstGeom prst="rect">
            <a:avLst/>
          </a:prstGeom>
          <a:noFill/>
        </p:spPr>
        <p:txBody>
          <a:bodyPr rot="0" vert="horz" wrap="square" lIns="91440" tIns="45720" rIns="91440" bIns="45720" numCol="1" spcCol="0" rtlCol="0" anchor="t" anchorCtr="0" forceAA="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marL="12700" lvl="0" algn="l" defTabSz="2438400" eaLnBrk="0">
              <a:lnSpc>
                <a:spcPct val="98000"/>
              </a:lnSpc>
            </a:pPr>
            <a:r>
              <a:rPr sz="1400"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事件类型分布</a:t>
            </a:r>
            <a:endParaRPr sz="1400" spc="3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60" name="文本框 159"/>
          <p:cNvSpPr txBox="1"/>
          <p:nvPr/>
        </p:nvSpPr>
        <p:spPr>
          <a:xfrm>
            <a:off x="798830" y="4307840"/>
            <a:ext cx="1256665" cy="368300"/>
          </a:xfrm>
          <a:prstGeom prst="rect">
            <a:avLst/>
          </a:prstGeom>
          <a:noFill/>
        </p:spPr>
        <p:txBody>
          <a:bodyPr wrap="square" rtlCol="0" anchor="t">
            <a:spAutoFit/>
          </a:bodyPr>
          <a:p>
            <a:r>
              <a:rPr lang="zh-CN" altLang="en-US">
                <a:sym typeface="+mn-ea"/>
              </a:rPr>
              <a:t>{{</a:t>
            </a:r>
            <a:r>
              <a:rPr lang="en-US" altLang="zh-CN">
                <a:sym typeface="+mn-ea"/>
              </a:rPr>
              <a:t>P27_pie}</a:t>
            </a:r>
            <a:r>
              <a:rPr lang="zh-CN" altLang="en-US">
                <a:sym typeface="+mn-ea"/>
              </a:rPr>
              <a:t>}</a:t>
            </a:r>
            <a:endParaRPr lang="zh-CN" altLang="en-US">
              <a:sym typeface="+mn-ea"/>
            </a:endParaRPr>
          </a:p>
        </p:txBody>
      </p:sp>
      <p:graphicFrame>
        <p:nvGraphicFramePr>
          <p:cNvPr id="4" name="图表 3"/>
          <p:cNvGraphicFramePr/>
          <p:nvPr/>
        </p:nvGraphicFramePr>
        <p:xfrm>
          <a:off x="3782695" y="4467225"/>
          <a:ext cx="2948305" cy="184594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3" name="图表 32" descr="7b0a202020202263686172745265734964223a20223230343731343133220a7d0a"/>
          <p:cNvGraphicFramePr/>
          <p:nvPr/>
        </p:nvGraphicFramePr>
        <p:xfrm>
          <a:off x="6888480" y="4445635"/>
          <a:ext cx="4751705" cy="1940560"/>
        </p:xfrm>
        <a:graphic>
          <a:graphicData uri="http://schemas.openxmlformats.org/drawingml/2006/chart">
            <c:chart xmlns:c="http://schemas.openxmlformats.org/drawingml/2006/chart" xmlns:r="http://schemas.openxmlformats.org/officeDocument/2006/relationships" r:id="rId3"/>
          </a:graphicData>
        </a:graphic>
      </p:graphicFrame>
      <p:sp>
        <p:nvSpPr>
          <p:cNvPr id="35" name="íṥlïḍê"/>
          <p:cNvSpPr txBox="1"/>
          <p:nvPr>
            <p:custDataLst>
              <p:tags r:id="rId15"/>
            </p:custDataLst>
          </p:nvPr>
        </p:nvSpPr>
        <p:spPr>
          <a:xfrm>
            <a:off x="7019290" y="4057650"/>
            <a:ext cx="2396490" cy="242570"/>
          </a:xfrm>
          <a:prstGeom prst="rect">
            <a:avLst/>
          </a:prstGeom>
          <a:noFill/>
        </p:spPr>
        <p:txBody>
          <a:bodyPr wrap="square" rtlCol="0" anchor="t" anchorCtr="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marL="28575" lvl="0" algn="l" defTabSz="2438400" eaLnBrk="0">
              <a:lnSpc>
                <a:spcPct val="98000"/>
              </a:lnSpc>
            </a:pPr>
            <a:r>
              <a:rPr lang="zh-CN" sz="1400" spc="30" dirty="0">
                <a:solidFill>
                  <a:srgbClr val="204080">
                    <a:alpha val="100000"/>
                  </a:srgbClr>
                </a:solidFill>
                <a:latin typeface="Arial" panose="020B0604020202020204" pitchFamily="34" charset="0"/>
                <a:ea typeface="黑体-简" panose="02000000000000000000" charset="-122"/>
                <a:cs typeface="黑体" panose="02010609060101010101" charset="-122"/>
                <a:sym typeface="+mn-ea"/>
              </a:rPr>
              <a:t>平均响应趋势（分钟）</a:t>
            </a:r>
            <a:endParaRPr lang="zh-CN" sz="1400" spc="30" dirty="0">
              <a:solidFill>
                <a:srgbClr val="204080">
                  <a:alpha val="100000"/>
                </a:srgbClr>
              </a:solidFill>
              <a:latin typeface="Arial" panose="020B0604020202020204" pitchFamily="34" charset="0"/>
              <a:ea typeface="黑体-简" panose="02000000000000000000" charset="-122"/>
              <a:cs typeface="黑体" panose="02010609060101010101" charset="-122"/>
              <a:sym typeface="+mn-ea"/>
            </a:endParaRPr>
          </a:p>
        </p:txBody>
      </p:sp>
      <p:sp>
        <p:nvSpPr>
          <p:cNvPr id="7" name="textbox 48"/>
          <p:cNvSpPr/>
          <p:nvPr/>
        </p:nvSpPr>
        <p:spPr>
          <a:xfrm>
            <a:off x="875665" y="1275715"/>
            <a:ext cx="2745105" cy="2520315"/>
          </a:xfrm>
          <a:prstGeom prst="rect">
            <a:avLst/>
          </a:prstGeom>
          <a:solidFill>
            <a:srgbClr val="5B9BD5">
              <a:lumMod val="20000"/>
              <a:lumOff val="80000"/>
            </a:srgbClr>
          </a:solidFill>
          <a:ln w="0" cap="flat">
            <a:noFill/>
            <a:prstDash val="solid"/>
            <a:miter lim="0"/>
          </a:ln>
        </p:spPr>
        <p:txBody>
          <a:bodyPr vert="horz" wrap="square" lIns="0" tIns="0" rIns="0" bIns="0"/>
          <a:p>
            <a:pPr algn="l" rtl="0" eaLnBrk="0">
              <a:lnSpc>
                <a:spcPct val="182000"/>
              </a:lnSpc>
            </a:pPr>
            <a:endParaRPr sz="1000" dirty="0">
              <a:latin typeface="Arial" panose="020B0604020202020204"/>
              <a:ea typeface="Arial" panose="020B0604020202020204"/>
              <a:cs typeface="Arial" panose="020B0604020202020204"/>
            </a:endParaRPr>
          </a:p>
          <a:p>
            <a:pPr algn="l" rtl="0" eaLnBrk="0">
              <a:lnSpc>
                <a:spcPct val="101000"/>
              </a:lnSpc>
            </a:pPr>
            <a:endParaRPr sz="500" dirty="0">
              <a:latin typeface="Arial" panose="020B0604020202020204"/>
              <a:ea typeface="Arial" panose="020B0604020202020204"/>
              <a:cs typeface="Arial" panose="020B0604020202020204"/>
            </a:endParaRPr>
          </a:p>
          <a:p>
            <a:pPr marL="716915" algn="l" rtl="0" eaLnBrk="0">
              <a:lnSpc>
                <a:spcPct val="100000"/>
              </a:lnSpc>
              <a:spcBef>
                <a:spcPts val="5"/>
              </a:spcBef>
            </a:pPr>
            <a:endParaRPr sz="900" dirty="0">
              <a:latin typeface="黑体" panose="02010609060101010101" charset="-122"/>
              <a:ea typeface="黑体" panose="02010609060101010101" charset="-122"/>
              <a:cs typeface="黑体" panose="02010609060101010101" charset="-122"/>
            </a:endParaRPr>
          </a:p>
        </p:txBody>
      </p:sp>
      <p:sp>
        <p:nvSpPr>
          <p:cNvPr id="67" name="文本框 66"/>
          <p:cNvSpPr txBox="1"/>
          <p:nvPr/>
        </p:nvSpPr>
        <p:spPr>
          <a:xfrm>
            <a:off x="941070" y="1305560"/>
            <a:ext cx="1824355" cy="288290"/>
          </a:xfrm>
          <a:prstGeom prst="rect">
            <a:avLst/>
          </a:prstGeom>
          <a:noFill/>
        </p:spPr>
        <p:txBody>
          <a:bodyPr wrap="square" rtlCol="0" anchor="t" anchorCtr="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marL="28575" lvl="0" algn="l" defTabSz="2438400" eaLnBrk="0">
              <a:lnSpc>
                <a:spcPct val="98000"/>
              </a:lnSpc>
            </a:pPr>
            <a:r>
              <a:rPr sz="1400" spc="30" dirty="0">
                <a:solidFill>
                  <a:srgbClr val="204080">
                    <a:alpha val="100000"/>
                  </a:srgbClr>
                </a:solidFill>
                <a:latin typeface="Arial" panose="020B0604020202020204" pitchFamily="34" charset="0"/>
                <a:ea typeface="黑体-简" panose="02000000000000000000" charset="-122"/>
                <a:cs typeface="黑体" panose="02010609060101010101" charset="-122"/>
                <a:sym typeface="+mn-ea"/>
              </a:rPr>
              <a:t>多级安全响应流程</a:t>
            </a:r>
            <a:endParaRPr sz="1400" spc="30" dirty="0">
              <a:solidFill>
                <a:srgbClr val="204080">
                  <a:alpha val="100000"/>
                </a:srgbClr>
              </a:solidFill>
              <a:latin typeface="Arial" panose="020B0604020202020204" pitchFamily="34" charset="0"/>
              <a:ea typeface="黑体-简" panose="02000000000000000000" charset="-122"/>
              <a:cs typeface="黑体" panose="02010609060101010101" charset="-122"/>
              <a:sym typeface="+mn-ea"/>
            </a:endParaRPr>
          </a:p>
        </p:txBody>
      </p:sp>
      <p:grpSp>
        <p:nvGrpSpPr>
          <p:cNvPr id="68" name="组合 67"/>
          <p:cNvGrpSpPr/>
          <p:nvPr>
            <p:custDataLst>
              <p:tags r:id="rId16"/>
            </p:custDataLst>
          </p:nvPr>
        </p:nvGrpSpPr>
        <p:grpSpPr>
          <a:xfrm>
            <a:off x="959480" y="1726109"/>
            <a:ext cx="2561008" cy="403783"/>
            <a:chOff x="3275" y="5404"/>
            <a:chExt cx="8112" cy="1279"/>
          </a:xfrm>
        </p:grpSpPr>
        <p:sp>
          <p:nvSpPr>
            <p:cNvPr id="69" name="圆角矩形 14"/>
            <p:cNvSpPr/>
            <p:nvPr>
              <p:custDataLst>
                <p:tags r:id="rId17"/>
              </p:custDataLst>
            </p:nvPr>
          </p:nvSpPr>
          <p:spPr>
            <a:xfrm>
              <a:off x="3275" y="5498"/>
              <a:ext cx="8112" cy="1185"/>
            </a:xfrm>
            <a:prstGeom prst="roundRect">
              <a:avLst>
                <a:gd name="adj" fmla="val 15982"/>
              </a:avLst>
            </a:prstGeom>
            <a:solidFill>
              <a:srgbClr val="4472C4">
                <a:lumMod val="60000"/>
                <a:lumOff val="40000"/>
                <a:alpha val="12000"/>
              </a:srgbClr>
            </a:solidFill>
            <a:ln w="9525" cap="flat" cmpd="sng" algn="ctr">
              <a:gradFill>
                <a:gsLst>
                  <a:gs pos="100000">
                    <a:srgbClr val="4472C4">
                      <a:alpha val="15000"/>
                    </a:srgbClr>
                  </a:gs>
                  <a:gs pos="0">
                    <a:srgbClr val="4472C4">
                      <a:alpha val="60000"/>
                    </a:srgbClr>
                  </a:gs>
                </a:gsLst>
                <a:path path="circle">
                  <a:fillToRect l="50000" t="50000" r="50000" b="50000"/>
                </a:path>
                <a:tileRect/>
              </a:gradFill>
              <a:prstDash val="solid"/>
              <a:miter lim="800000"/>
            </a:ln>
            <a:effectLst>
              <a:outerShdw blurRad="444500" dist="38100" dir="2700000" algn="tl" rotWithShape="0">
                <a:prstClr val="black">
                  <a:alpha val="7000"/>
                </a:prstClr>
              </a:outerShdw>
            </a:effectLst>
          </p:spPr>
          <p:style>
            <a:lnRef idx="2">
              <a:srgbClr val="5B9BD5">
                <a:lumMod val="75000"/>
              </a:srgbClr>
            </a:lnRef>
            <a:fillRef idx="1">
              <a:srgbClr val="5B9BD5"/>
            </a:fillRef>
            <a:effectRef idx="0">
              <a:srgbClr val="FFFFFF"/>
            </a:effectRef>
            <a:fontRef idx="minor">
              <a:sysClr val="window" lastClr="FFFFFF"/>
            </a:fontRef>
          </p:style>
          <p:txBody>
            <a:bodyPr lIns="72072" tIns="0" rIns="72072" bIns="0" rtlCol="0" anchor="ctr"/>
            <a:p>
              <a:pPr marL="13970" algn="l" rtl="0" eaLnBrk="0">
                <a:lnSpc>
                  <a:spcPct val="100000"/>
                </a:lnSpc>
                <a:spcBef>
                  <a:spcPts val="215"/>
                </a:spcBef>
              </a:pPr>
              <a:r>
                <a:rPr sz="1000" b="1" spc="7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L1</a:t>
              </a:r>
              <a:r>
                <a:rPr lang="en-US" sz="1000" b="1" spc="7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 </a:t>
              </a:r>
              <a:r>
                <a:rPr sz="1000" b="1" spc="7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a:t>
              </a:r>
              <a:r>
                <a:rPr sz="1000" b="1" spc="10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 </a:t>
              </a:r>
              <a:r>
                <a:rPr sz="1000" b="1" spc="7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自动检测</a:t>
              </a:r>
              <a:endParaRPr sz="1000" b="1" dirty="0">
                <a:latin typeface="Arial" panose="020B0604020202020204" pitchFamily="34" charset="0"/>
                <a:ea typeface="黑体-简" panose="02000000000000000000" charset="-122"/>
                <a:cs typeface="宋体" panose="02010600030101010101" pitchFamily="2" charset="-122"/>
              </a:endParaRPr>
            </a:p>
            <a:p>
              <a:pPr marL="13970" algn="l" rtl="0" eaLnBrk="0">
                <a:lnSpc>
                  <a:spcPct val="100000"/>
                </a:lnSpc>
                <a:spcBef>
                  <a:spcPts val="110"/>
                </a:spcBef>
              </a:pPr>
              <a:r>
                <a:rPr sz="100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7*24小时智能检测，平均检出时间</a:t>
              </a:r>
              <a:r>
                <a:rPr lang="en-US" sz="100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 </a:t>
              </a:r>
              <a:r>
                <a:rPr sz="1000" dirty="0">
                  <a:solidFill>
                    <a:srgbClr val="2040A0">
                      <a:alpha val="100000"/>
                    </a:srgbClr>
                  </a:solidFill>
                  <a:latin typeface="Arial" panose="020B0604020202020204" pitchFamily="34" charset="0"/>
                  <a:ea typeface="黑体-简" panose="02000000000000000000" charset="-122"/>
                  <a:cs typeface="黑体" panose="02010609060101010101" charset="-122"/>
                  <a:sym typeface="+mn-ea"/>
                </a:rPr>
                <a:t>3分钟</a:t>
              </a:r>
              <a:endParaRPr lang="zh-CN" altLang="en-US" sz="1000" kern="0" dirty="0">
                <a:ln>
                  <a:noFill/>
                  <a:prstDash val="sysDot"/>
                </a:ln>
                <a:solidFill>
                  <a:srgbClr val="2040A0">
                    <a:alpha val="100000"/>
                  </a:srgbClr>
                </a:solidFill>
                <a:uFillTx/>
                <a:latin typeface="Arial" panose="020B0604020202020204" pitchFamily="34" charset="0"/>
                <a:ea typeface="黑体-简" panose="02000000000000000000" charset="-122"/>
                <a:cs typeface="黑体" panose="02010609060101010101" charset="-122"/>
                <a:sym typeface="+mn-ea"/>
              </a:endParaRPr>
            </a:p>
          </p:txBody>
        </p:sp>
        <p:sp>
          <p:nvSpPr>
            <p:cNvPr id="70" name="圆角矩形 69"/>
            <p:cNvSpPr/>
            <p:nvPr>
              <p:custDataLst>
                <p:tags r:id="rId18"/>
              </p:custDataLst>
            </p:nvPr>
          </p:nvSpPr>
          <p:spPr>
            <a:xfrm>
              <a:off x="3636" y="5404"/>
              <a:ext cx="1108" cy="137"/>
            </a:xfrm>
            <a:prstGeom prst="roundRect">
              <a:avLst>
                <a:gd name="adj" fmla="val 50000"/>
              </a:avLst>
            </a:prstGeom>
            <a:gradFill>
              <a:gsLst>
                <a:gs pos="100000">
                  <a:srgbClr val="4472C4">
                    <a:lumMod val="60000"/>
                    <a:lumOff val="40000"/>
                    <a:alpha val="71000"/>
                  </a:srgbClr>
                </a:gs>
                <a:gs pos="0">
                  <a:srgbClr val="4472C4">
                    <a:alpha val="100000"/>
                  </a:srgbClr>
                </a:gs>
              </a:gsLst>
              <a:lin ang="0"/>
            </a:gradFill>
            <a:ln w="12700" cap="flat" cmpd="sng" algn="ctr">
              <a:noFill/>
              <a:prstDash val="solid"/>
              <a:miter lim="800000"/>
            </a:ln>
            <a:effectLst>
              <a:outerShdw blurRad="50800" dist="38100" dir="2700000" algn="tl" rotWithShape="0">
                <a:srgbClr val="4472C4">
                  <a:lumMod val="75000"/>
                  <a:alpha val="20000"/>
                </a:srgbClr>
              </a:outerShdw>
            </a:effectLst>
          </p:spPr>
          <p:style>
            <a:lnRef idx="2">
              <a:srgbClr val="5B9BD5">
                <a:lumMod val="75000"/>
              </a:srgbClr>
            </a:lnRef>
            <a:fillRef idx="1">
              <a:srgbClr val="5B9BD5"/>
            </a:fillRef>
            <a:effectRef idx="0">
              <a:srgbClr val="FFFFFF"/>
            </a:effectRef>
            <a:fontRef idx="minor">
              <a:sysClr val="window" lastClr="FFFFFF"/>
            </a:fontRef>
          </p:style>
          <p:txBody>
            <a:bodyPr rtlCol="0" anchor="ctr"/>
            <a:p>
              <a:pPr algn="ctr"/>
              <a:endParaRPr lang="zh-CN" altLang="en-US" sz="1200">
                <a:solidFill>
                  <a:sysClr val="window" lastClr="FFFFFF"/>
                </a:solidFill>
              </a:endParaRPr>
            </a:p>
          </p:txBody>
        </p:sp>
      </p:grpSp>
      <p:grpSp>
        <p:nvGrpSpPr>
          <p:cNvPr id="71" name="组合 70"/>
          <p:cNvGrpSpPr/>
          <p:nvPr>
            <p:custDataLst>
              <p:tags r:id="rId19"/>
            </p:custDataLst>
          </p:nvPr>
        </p:nvGrpSpPr>
        <p:grpSpPr>
          <a:xfrm>
            <a:off x="958533" y="2248780"/>
            <a:ext cx="2561008" cy="408341"/>
            <a:chOff x="3275" y="7389"/>
            <a:chExt cx="8112" cy="1293"/>
          </a:xfrm>
        </p:grpSpPr>
        <p:sp>
          <p:nvSpPr>
            <p:cNvPr id="72" name="圆角矩形 14"/>
            <p:cNvSpPr/>
            <p:nvPr>
              <p:custDataLst>
                <p:tags r:id="rId20"/>
              </p:custDataLst>
            </p:nvPr>
          </p:nvSpPr>
          <p:spPr>
            <a:xfrm>
              <a:off x="3275" y="7497"/>
              <a:ext cx="8112" cy="1185"/>
            </a:xfrm>
            <a:prstGeom prst="roundRect">
              <a:avLst>
                <a:gd name="adj" fmla="val 15982"/>
              </a:avLst>
            </a:prstGeom>
            <a:solidFill>
              <a:srgbClr val="70AD47">
                <a:lumMod val="60000"/>
                <a:lumOff val="40000"/>
                <a:alpha val="12000"/>
              </a:srgbClr>
            </a:solidFill>
            <a:ln w="9525" cap="flat" cmpd="sng" algn="ctr">
              <a:gradFill>
                <a:gsLst>
                  <a:gs pos="100000">
                    <a:srgbClr val="70AD47">
                      <a:alpha val="15000"/>
                    </a:srgbClr>
                  </a:gs>
                  <a:gs pos="0">
                    <a:srgbClr val="70AD47">
                      <a:alpha val="60000"/>
                    </a:srgbClr>
                  </a:gs>
                </a:gsLst>
                <a:path path="circle">
                  <a:fillToRect l="50000" t="50000" r="50000" b="50000"/>
                </a:path>
                <a:tileRect/>
              </a:gradFill>
              <a:prstDash val="solid"/>
              <a:miter lim="800000"/>
            </a:ln>
            <a:effectLst>
              <a:outerShdw blurRad="444500" dist="38100" dir="2700000" algn="tl" rotWithShape="0">
                <a:prstClr val="black">
                  <a:alpha val="7000"/>
                </a:prstClr>
              </a:outerShdw>
            </a:effectLst>
          </p:spPr>
          <p:style>
            <a:lnRef idx="2">
              <a:srgbClr val="5B9BD5">
                <a:lumMod val="75000"/>
              </a:srgbClr>
            </a:lnRef>
            <a:fillRef idx="1">
              <a:srgbClr val="5B9BD5"/>
            </a:fillRef>
            <a:effectRef idx="0">
              <a:srgbClr val="FFFFFF"/>
            </a:effectRef>
            <a:fontRef idx="minor">
              <a:sysClr val="window" lastClr="FFFFFF"/>
            </a:fontRef>
          </p:style>
          <p:txBody>
            <a:bodyPr vertOverflow="overflow" horzOverflow="overflow" vert="horz" wrap="square" lIns="72072" tIns="0" rIns="72072" bIns="0" numCol="1" spcCol="0" rtlCol="0" fromWordArt="0" anchor="ctr" anchorCtr="0" forceAA="0" compatLnSpc="1">
              <a:noAutofit/>
            </a:bodyPr>
            <a:p>
              <a:pPr marL="24130" algn="l" rtl="0" eaLnBrk="0">
                <a:lnSpc>
                  <a:spcPct val="100000"/>
                </a:lnSpc>
                <a:spcBef>
                  <a:spcPts val="215"/>
                </a:spcBef>
              </a:pPr>
              <a:r>
                <a:rPr sz="1000" b="1" spc="8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L2</a:t>
              </a:r>
              <a:r>
                <a:rPr lang="en-US" sz="1000" b="1" spc="8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 </a:t>
              </a:r>
              <a:r>
                <a:rPr sz="1000" b="1" spc="8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a:t>
              </a:r>
              <a:r>
                <a:rPr sz="1000" b="1"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 </a:t>
              </a:r>
              <a:r>
                <a:rPr sz="1000" b="1" spc="8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专家分析</a:t>
              </a:r>
              <a:endParaRPr sz="1000" b="1" spc="8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endParaRPr>
            </a:p>
            <a:p>
              <a:pPr marL="24130" algn="l" rtl="0" eaLnBrk="0">
                <a:lnSpc>
                  <a:spcPct val="100000"/>
                </a:lnSpc>
                <a:spcBef>
                  <a:spcPts val="215"/>
                </a:spcBef>
              </a:pPr>
              <a:r>
                <a:rPr sz="1000" spc="1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专家研判分析，平</a:t>
              </a:r>
              <a:r>
                <a:rPr sz="100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均响应时间</a:t>
              </a:r>
              <a:r>
                <a:rPr lang="en-US" sz="100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 </a:t>
              </a:r>
              <a:r>
                <a:rPr sz="1000" dirty="0">
                  <a:solidFill>
                    <a:srgbClr val="2040A0">
                      <a:alpha val="100000"/>
                    </a:srgbClr>
                  </a:solidFill>
                  <a:latin typeface="Arial" panose="020B0604020202020204" pitchFamily="34" charset="0"/>
                  <a:ea typeface="黑体-简" panose="02000000000000000000" charset="-122"/>
                  <a:cs typeface="黑体" panose="02010609060101010101" charset="-122"/>
                  <a:sym typeface="+mn-ea"/>
                </a:rPr>
                <a:t>30分钟</a:t>
              </a:r>
              <a:endParaRPr lang="zh-CN" altLang="en-US" sz="1000" kern="0" dirty="0">
                <a:ln>
                  <a:noFill/>
                  <a:prstDash val="sysDot"/>
                </a:ln>
                <a:solidFill>
                  <a:srgbClr val="2040A0">
                    <a:alpha val="100000"/>
                  </a:srgbClr>
                </a:solidFill>
                <a:uFillTx/>
                <a:latin typeface="Arial" panose="020B0604020202020204" pitchFamily="34" charset="0"/>
                <a:ea typeface="黑体-简" panose="02000000000000000000" charset="-122"/>
                <a:cs typeface="黑体" panose="02010609060101010101" charset="-122"/>
                <a:sym typeface="+mn-ea"/>
              </a:endParaRPr>
            </a:p>
          </p:txBody>
        </p:sp>
        <p:sp>
          <p:nvSpPr>
            <p:cNvPr id="73" name="圆角矩形 72"/>
            <p:cNvSpPr/>
            <p:nvPr>
              <p:custDataLst>
                <p:tags r:id="rId21"/>
              </p:custDataLst>
            </p:nvPr>
          </p:nvSpPr>
          <p:spPr>
            <a:xfrm>
              <a:off x="3636" y="7389"/>
              <a:ext cx="1108" cy="137"/>
            </a:xfrm>
            <a:prstGeom prst="roundRect">
              <a:avLst>
                <a:gd name="adj" fmla="val 50000"/>
              </a:avLst>
            </a:prstGeom>
            <a:gradFill>
              <a:gsLst>
                <a:gs pos="100000">
                  <a:srgbClr val="70AD47">
                    <a:lumMod val="60000"/>
                    <a:lumOff val="40000"/>
                    <a:alpha val="71000"/>
                  </a:srgbClr>
                </a:gs>
                <a:gs pos="0">
                  <a:srgbClr val="70AD47">
                    <a:alpha val="100000"/>
                  </a:srgbClr>
                </a:gs>
              </a:gsLst>
              <a:lin ang="0"/>
            </a:gradFill>
            <a:ln w="12700" cap="flat" cmpd="sng" algn="ctr">
              <a:noFill/>
              <a:prstDash val="solid"/>
              <a:miter lim="800000"/>
            </a:ln>
            <a:effectLst>
              <a:outerShdw blurRad="50800" dist="38100" dir="2700000" algn="tl" rotWithShape="0">
                <a:srgbClr val="70AD47">
                  <a:lumMod val="75000"/>
                  <a:alpha val="20000"/>
                </a:srgbClr>
              </a:outerShdw>
            </a:effectLst>
          </p:spPr>
          <p:style>
            <a:lnRef idx="2">
              <a:srgbClr val="5B9BD5">
                <a:lumMod val="75000"/>
              </a:srgbClr>
            </a:lnRef>
            <a:fillRef idx="1">
              <a:srgbClr val="5B9BD5"/>
            </a:fillRef>
            <a:effectRef idx="0">
              <a:srgbClr val="FFFFFF"/>
            </a:effectRef>
            <a:fontRef idx="minor">
              <a:sysClr val="window" lastClr="FFFFFF"/>
            </a:fontRef>
          </p:style>
          <p:txBody>
            <a:bodyPr rtlCol="0" anchor="ctr"/>
            <a:p>
              <a:pPr algn="ctr"/>
              <a:endParaRPr lang="zh-CN" altLang="en-US" sz="1200">
                <a:solidFill>
                  <a:sysClr val="window" lastClr="FFFFFF"/>
                </a:solidFill>
              </a:endParaRPr>
            </a:p>
          </p:txBody>
        </p:sp>
      </p:grpSp>
      <p:grpSp>
        <p:nvGrpSpPr>
          <p:cNvPr id="74" name="组合 73"/>
          <p:cNvGrpSpPr/>
          <p:nvPr>
            <p:custDataLst>
              <p:tags r:id="rId22"/>
            </p:custDataLst>
          </p:nvPr>
        </p:nvGrpSpPr>
        <p:grpSpPr>
          <a:xfrm>
            <a:off x="959480" y="2776166"/>
            <a:ext cx="2561008" cy="402818"/>
            <a:chOff x="3275" y="9388"/>
            <a:chExt cx="8112" cy="1276"/>
          </a:xfrm>
        </p:grpSpPr>
        <p:sp>
          <p:nvSpPr>
            <p:cNvPr id="78" name="圆角矩形 14"/>
            <p:cNvSpPr/>
            <p:nvPr>
              <p:custDataLst>
                <p:tags r:id="rId23"/>
              </p:custDataLst>
            </p:nvPr>
          </p:nvSpPr>
          <p:spPr>
            <a:xfrm>
              <a:off x="3275" y="9479"/>
              <a:ext cx="8112" cy="1185"/>
            </a:xfrm>
            <a:prstGeom prst="roundRect">
              <a:avLst>
                <a:gd name="adj" fmla="val 15982"/>
              </a:avLst>
            </a:prstGeom>
            <a:solidFill>
              <a:srgbClr val="4472C4">
                <a:lumMod val="60000"/>
                <a:lumOff val="40000"/>
                <a:alpha val="12000"/>
              </a:srgbClr>
            </a:solidFill>
            <a:ln w="9525" cap="flat" cmpd="sng" algn="ctr">
              <a:gradFill>
                <a:gsLst>
                  <a:gs pos="100000">
                    <a:srgbClr val="4472C4">
                      <a:alpha val="15000"/>
                    </a:srgbClr>
                  </a:gs>
                  <a:gs pos="0">
                    <a:srgbClr val="4472C4">
                      <a:alpha val="60000"/>
                    </a:srgbClr>
                  </a:gs>
                </a:gsLst>
                <a:path path="circle">
                  <a:fillToRect l="50000" t="50000" r="50000" b="50000"/>
                </a:path>
                <a:tileRect/>
              </a:gradFill>
              <a:prstDash val="solid"/>
              <a:miter lim="800000"/>
            </a:ln>
            <a:effectLst>
              <a:outerShdw blurRad="444500" dist="38100" dir="2700000" algn="tl" rotWithShape="0">
                <a:prstClr val="black">
                  <a:alpha val="7000"/>
                </a:prstClr>
              </a:outerShdw>
            </a:effectLst>
          </p:spPr>
          <p:style>
            <a:lnRef idx="2">
              <a:srgbClr val="5B9BD5">
                <a:lumMod val="75000"/>
              </a:srgbClr>
            </a:lnRef>
            <a:fillRef idx="1">
              <a:srgbClr val="5B9BD5"/>
            </a:fillRef>
            <a:effectRef idx="0">
              <a:srgbClr val="FFFFFF"/>
            </a:effectRef>
            <a:fontRef idx="minor">
              <a:sysClr val="window" lastClr="FFFFFF"/>
            </a:fontRef>
          </p:style>
          <p:txBody>
            <a:bodyPr vertOverflow="overflow" horzOverflow="overflow" vert="horz" wrap="square" lIns="72072" tIns="0" rIns="72072" bIns="0" numCol="1" spcCol="0" rtlCol="0" fromWordArt="0" anchor="ctr" anchorCtr="0" forceAA="0" compatLnSpc="1">
              <a:noAutofit/>
            </a:bodyPr>
            <a:p>
              <a:pPr marL="0" algn="l" rtl="0" eaLnBrk="0">
                <a:lnSpc>
                  <a:spcPct val="150000"/>
                </a:lnSpc>
                <a:spcBef>
                  <a:spcPts val="215"/>
                </a:spcBef>
              </a:pPr>
              <a:r>
                <a:rPr sz="1000" b="1" spc="8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L3</a:t>
              </a:r>
              <a:r>
                <a:rPr lang="en-US" sz="1000" b="1" spc="8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 </a:t>
              </a:r>
              <a:r>
                <a:rPr sz="1000" b="1" spc="8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  应急处置</a:t>
              </a:r>
              <a:endParaRPr sz="1000" b="1" spc="8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endParaRPr>
            </a:p>
            <a:p>
              <a:pPr marL="0" algn="l" rtl="0" eaLnBrk="0">
                <a:lnSpc>
                  <a:spcPct val="100000"/>
                </a:lnSpc>
              </a:pPr>
              <a:r>
                <a:rPr sz="100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制定处置方案，平均处置时间</a:t>
              </a:r>
              <a:r>
                <a:rPr lang="en-US" sz="100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 </a:t>
              </a:r>
              <a:r>
                <a:rPr sz="1000" dirty="0">
                  <a:solidFill>
                    <a:srgbClr val="2040A0">
                      <a:alpha val="100000"/>
                    </a:srgbClr>
                  </a:solidFill>
                  <a:latin typeface="Arial" panose="020B0604020202020204" pitchFamily="34" charset="0"/>
                  <a:ea typeface="黑体-简" panose="02000000000000000000" charset="-122"/>
                  <a:cs typeface="黑体" panose="02010609060101010101" charset="-122"/>
                  <a:sym typeface="+mn-ea"/>
                </a:rPr>
                <a:t>2小时</a:t>
              </a:r>
              <a:endParaRPr lang="zh-CN" altLang="en-US" sz="100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endParaRPr>
            </a:p>
          </p:txBody>
        </p:sp>
        <p:sp>
          <p:nvSpPr>
            <p:cNvPr id="80" name="圆角矩形 79"/>
            <p:cNvSpPr/>
            <p:nvPr>
              <p:custDataLst>
                <p:tags r:id="rId24"/>
              </p:custDataLst>
            </p:nvPr>
          </p:nvSpPr>
          <p:spPr>
            <a:xfrm>
              <a:off x="3636" y="9388"/>
              <a:ext cx="1108" cy="137"/>
            </a:xfrm>
            <a:prstGeom prst="roundRect">
              <a:avLst>
                <a:gd name="adj" fmla="val 50000"/>
              </a:avLst>
            </a:prstGeom>
            <a:gradFill>
              <a:gsLst>
                <a:gs pos="100000">
                  <a:srgbClr val="4472C4">
                    <a:lumMod val="60000"/>
                    <a:lumOff val="40000"/>
                    <a:alpha val="71000"/>
                  </a:srgbClr>
                </a:gs>
                <a:gs pos="0">
                  <a:srgbClr val="4472C4">
                    <a:alpha val="100000"/>
                  </a:srgbClr>
                </a:gs>
              </a:gsLst>
              <a:lin ang="0"/>
            </a:gradFill>
            <a:ln w="12700" cap="flat" cmpd="sng" algn="ctr">
              <a:noFill/>
              <a:prstDash val="solid"/>
              <a:miter lim="800000"/>
            </a:ln>
            <a:effectLst>
              <a:outerShdw blurRad="50800" dist="38100" dir="2700000" algn="tl" rotWithShape="0">
                <a:srgbClr val="4472C4">
                  <a:lumMod val="75000"/>
                  <a:alpha val="20000"/>
                </a:srgbClr>
              </a:outerShdw>
            </a:effectLst>
          </p:spPr>
          <p:style>
            <a:lnRef idx="2">
              <a:srgbClr val="5B9BD5">
                <a:lumMod val="75000"/>
              </a:srgbClr>
            </a:lnRef>
            <a:fillRef idx="1">
              <a:srgbClr val="5B9BD5"/>
            </a:fillRef>
            <a:effectRef idx="0">
              <a:srgbClr val="FFFFFF"/>
            </a:effectRef>
            <a:fontRef idx="minor">
              <a:sysClr val="window" lastClr="FFFFFF"/>
            </a:fontRef>
          </p:style>
          <p:txBody>
            <a:bodyPr rtlCol="0" anchor="ctr"/>
            <a:p>
              <a:pPr algn="ctr"/>
              <a:endParaRPr lang="zh-CN" altLang="en-US" sz="1200">
                <a:solidFill>
                  <a:sysClr val="window" lastClr="FFFFFF"/>
                </a:solidFill>
              </a:endParaRPr>
            </a:p>
          </p:txBody>
        </p:sp>
      </p:grpSp>
      <p:grpSp>
        <p:nvGrpSpPr>
          <p:cNvPr id="82" name="组合 81"/>
          <p:cNvGrpSpPr/>
          <p:nvPr>
            <p:custDataLst>
              <p:tags r:id="rId25"/>
            </p:custDataLst>
          </p:nvPr>
        </p:nvGrpSpPr>
        <p:grpSpPr>
          <a:xfrm>
            <a:off x="958533" y="3297892"/>
            <a:ext cx="2561008" cy="378960"/>
            <a:chOff x="3275" y="11370"/>
            <a:chExt cx="8112" cy="1200"/>
          </a:xfrm>
        </p:grpSpPr>
        <p:sp>
          <p:nvSpPr>
            <p:cNvPr id="84" name="圆角矩形 14"/>
            <p:cNvSpPr/>
            <p:nvPr>
              <p:custDataLst>
                <p:tags r:id="rId26"/>
              </p:custDataLst>
            </p:nvPr>
          </p:nvSpPr>
          <p:spPr>
            <a:xfrm>
              <a:off x="3275" y="11442"/>
              <a:ext cx="8112" cy="1128"/>
            </a:xfrm>
            <a:prstGeom prst="roundRect">
              <a:avLst>
                <a:gd name="adj" fmla="val 15982"/>
              </a:avLst>
            </a:prstGeom>
            <a:solidFill>
              <a:srgbClr val="70AD47">
                <a:lumMod val="60000"/>
                <a:lumOff val="40000"/>
                <a:alpha val="12000"/>
              </a:srgbClr>
            </a:solidFill>
            <a:ln w="9525" cap="flat" cmpd="sng" algn="ctr">
              <a:gradFill>
                <a:gsLst>
                  <a:gs pos="100000">
                    <a:srgbClr val="70AD47">
                      <a:alpha val="15000"/>
                    </a:srgbClr>
                  </a:gs>
                  <a:gs pos="0">
                    <a:srgbClr val="70AD47">
                      <a:alpha val="60000"/>
                    </a:srgbClr>
                  </a:gs>
                </a:gsLst>
                <a:path path="circle">
                  <a:fillToRect l="50000" t="50000" r="50000" b="50000"/>
                </a:path>
                <a:tileRect/>
              </a:gradFill>
              <a:prstDash val="solid"/>
              <a:miter lim="800000"/>
            </a:ln>
            <a:effectLst>
              <a:outerShdw blurRad="444500" dist="38100" dir="2700000" algn="tl" rotWithShape="0">
                <a:prstClr val="black">
                  <a:alpha val="7000"/>
                </a:prstClr>
              </a:outerShdw>
            </a:effectLst>
          </p:spPr>
          <p:style>
            <a:lnRef idx="2">
              <a:srgbClr val="5B9BD5">
                <a:lumMod val="75000"/>
              </a:srgbClr>
            </a:lnRef>
            <a:fillRef idx="1">
              <a:srgbClr val="5B9BD5"/>
            </a:fillRef>
            <a:effectRef idx="0">
              <a:srgbClr val="FFFFFF"/>
            </a:effectRef>
            <a:fontRef idx="minor">
              <a:sysClr val="window" lastClr="FFFFFF"/>
            </a:fontRef>
          </p:style>
          <p:txBody>
            <a:bodyPr vertOverflow="overflow" horzOverflow="overflow" vert="horz" wrap="square" lIns="72072" tIns="0" rIns="72072" bIns="0" numCol="1" spcCol="0" rtlCol="0" fromWordArt="0" anchor="ctr" anchorCtr="0" forceAA="0" compatLnSpc="1">
              <a:noAutofit/>
            </a:bodyPr>
            <a:p>
              <a:pPr marL="15875" algn="l" rtl="0" eaLnBrk="0">
                <a:lnSpc>
                  <a:spcPct val="150000"/>
                </a:lnSpc>
                <a:spcBef>
                  <a:spcPts val="220"/>
                </a:spcBef>
              </a:pPr>
              <a:r>
                <a:rPr sz="1000" b="1" spc="5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L4</a:t>
              </a:r>
              <a:r>
                <a:rPr lang="en-US" sz="1000" b="1" spc="5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 </a:t>
              </a:r>
              <a:r>
                <a:rPr sz="1000" b="1" spc="5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  闭环验证</a:t>
              </a:r>
              <a:r>
                <a:rPr lang="en-US" sz="1000" b="1" spc="5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 </a:t>
              </a:r>
              <a:endParaRPr sz="1000" b="1" dirty="0">
                <a:latin typeface="Arial" panose="020B0604020202020204" pitchFamily="34" charset="0"/>
                <a:ea typeface="黑体-简" panose="02000000000000000000" charset="-122"/>
                <a:cs typeface="宋体" panose="02010600030101010101" pitchFamily="2" charset="-122"/>
              </a:endParaRPr>
            </a:p>
            <a:p>
              <a:pPr marL="15875" algn="l" rtl="0" eaLnBrk="0">
                <a:lnSpc>
                  <a:spcPct val="100000"/>
                </a:lnSpc>
                <a:spcBef>
                  <a:spcPts val="115"/>
                </a:spcBef>
              </a:pPr>
              <a:r>
                <a:rPr sz="100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处置效果验证，平均闭环时间</a:t>
              </a:r>
              <a:r>
                <a:rPr lang="en-US" sz="100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 </a:t>
              </a:r>
              <a:r>
                <a:rPr lang="en-US" sz="1000" dirty="0">
                  <a:solidFill>
                    <a:srgbClr val="2040A0">
                      <a:alpha val="100000"/>
                    </a:srgbClr>
                  </a:solidFill>
                  <a:latin typeface="Arial" panose="020B0604020202020204" pitchFamily="34" charset="0"/>
                  <a:ea typeface="黑体-简" panose="02000000000000000000" charset="-122"/>
                  <a:cs typeface="黑体" panose="02010609060101010101" charset="-122"/>
                  <a:sym typeface="+mn-ea"/>
                </a:rPr>
                <a:t>24</a:t>
              </a:r>
              <a:r>
                <a:rPr lang="zh-CN" sz="1000" dirty="0">
                  <a:solidFill>
                    <a:srgbClr val="2040A0">
                      <a:alpha val="100000"/>
                    </a:srgbClr>
                  </a:solidFill>
                  <a:latin typeface="Arial" panose="020B0604020202020204" pitchFamily="34" charset="0"/>
                  <a:ea typeface="黑体-简" panose="02000000000000000000" charset="-122"/>
                  <a:cs typeface="黑体" panose="02010609060101010101" charset="-122"/>
                  <a:sym typeface="+mn-ea"/>
                </a:rPr>
                <a:t>小时</a:t>
              </a:r>
              <a:endParaRPr lang="zh-CN" sz="1000" dirty="0">
                <a:solidFill>
                  <a:srgbClr val="2040A0">
                    <a:alpha val="100000"/>
                  </a:srgbClr>
                </a:solidFill>
                <a:latin typeface="Arial" panose="020B0604020202020204" pitchFamily="34" charset="0"/>
                <a:ea typeface="黑体-简" panose="02000000000000000000" charset="-122"/>
                <a:cs typeface="黑体" panose="02010609060101010101" charset="-122"/>
                <a:sym typeface="+mn-ea"/>
              </a:endParaRPr>
            </a:p>
          </p:txBody>
        </p:sp>
        <p:sp>
          <p:nvSpPr>
            <p:cNvPr id="88" name="圆角矩形 87"/>
            <p:cNvSpPr/>
            <p:nvPr>
              <p:custDataLst>
                <p:tags r:id="rId27"/>
              </p:custDataLst>
            </p:nvPr>
          </p:nvSpPr>
          <p:spPr>
            <a:xfrm>
              <a:off x="3636" y="11370"/>
              <a:ext cx="1108" cy="137"/>
            </a:xfrm>
            <a:prstGeom prst="roundRect">
              <a:avLst>
                <a:gd name="adj" fmla="val 50000"/>
              </a:avLst>
            </a:prstGeom>
            <a:gradFill>
              <a:gsLst>
                <a:gs pos="100000">
                  <a:srgbClr val="70AD47">
                    <a:lumMod val="60000"/>
                    <a:lumOff val="40000"/>
                    <a:alpha val="71000"/>
                  </a:srgbClr>
                </a:gs>
                <a:gs pos="0">
                  <a:srgbClr val="70AD47">
                    <a:alpha val="100000"/>
                  </a:srgbClr>
                </a:gs>
              </a:gsLst>
              <a:lin ang="0"/>
            </a:gradFill>
            <a:ln w="12700" cap="flat" cmpd="sng" algn="ctr">
              <a:noFill/>
              <a:prstDash val="solid"/>
              <a:miter lim="800000"/>
            </a:ln>
            <a:effectLst>
              <a:outerShdw blurRad="50800" dist="38100" dir="2700000" algn="tl" rotWithShape="0">
                <a:srgbClr val="70AD47">
                  <a:lumMod val="75000"/>
                  <a:alpha val="20000"/>
                </a:srgbClr>
              </a:outerShdw>
            </a:effectLst>
          </p:spPr>
          <p:style>
            <a:lnRef idx="2">
              <a:srgbClr val="5B9BD5">
                <a:lumMod val="75000"/>
              </a:srgbClr>
            </a:lnRef>
            <a:fillRef idx="1">
              <a:srgbClr val="5B9BD5"/>
            </a:fillRef>
            <a:effectRef idx="0">
              <a:srgbClr val="FFFFFF"/>
            </a:effectRef>
            <a:fontRef idx="minor">
              <a:sysClr val="window" lastClr="FFFFFF"/>
            </a:fontRef>
          </p:style>
          <p:txBody>
            <a:bodyPr rtlCol="0" anchor="ctr"/>
            <a:p>
              <a:pPr algn="ctr"/>
              <a:endParaRPr lang="zh-CN" altLang="en-US" sz="1200">
                <a:solidFill>
                  <a:sysClr val="window" lastClr="FFFFFF"/>
                </a:solidFill>
              </a:endParaRPr>
            </a:p>
          </p:txBody>
        </p:sp>
      </p:grpSp>
      <p:sp>
        <p:nvSpPr>
          <p:cNvPr id="8" name="文本框 7"/>
          <p:cNvSpPr txBox="1"/>
          <p:nvPr/>
        </p:nvSpPr>
        <p:spPr>
          <a:xfrm>
            <a:off x="3449955" y="1911985"/>
            <a:ext cx="2005965" cy="324485"/>
          </a:xfrm>
          <a:prstGeom prst="rect">
            <a:avLst/>
          </a:prstGeom>
          <a:noFill/>
        </p:spPr>
        <p:txBody>
          <a:bodyPr wrap="square" rtlCol="0" anchor="t">
            <a:spAutoFit/>
          </a:bodyPr>
          <a:p>
            <a:pPr marL="0" algn="ctr" rtl="0" eaLnBrk="0">
              <a:lnSpc>
                <a:spcPct val="76000"/>
              </a:lnSpc>
              <a:spcBef>
                <a:spcPts val="520"/>
              </a:spcBef>
            </a:pPr>
            <a:r>
              <a:rPr lang="en-US" sz="2000" dirty="0">
                <a:solidFill>
                  <a:srgbClr val="4C61E7"/>
                </a:solidFill>
                <a:latin typeface="Arial" panose="020B0604020202020204" pitchFamily="34" charset="0"/>
                <a:ea typeface="黑体-简" panose="02000000000000000000" charset="-122"/>
                <a:cs typeface="微软雅黑" panose="020B0503020204020204" pitchFamily="34" charset="-120"/>
                <a:sym typeface="+mn-ea"/>
              </a:rPr>
              <a:t>{{incident_total}}</a:t>
            </a:r>
            <a:endParaRPr lang="en-US" sz="2000" dirty="0">
              <a:solidFill>
                <a:srgbClr val="365FD9"/>
              </a:solidFill>
              <a:latin typeface="Arial" panose="020B0604020202020204" pitchFamily="34" charset="0"/>
              <a:ea typeface="黑体-简" panose="02000000000000000000" charset="-122"/>
              <a:cs typeface="微软雅黑" panose="020B0503020204020204" pitchFamily="34" charset="-120"/>
              <a:sym typeface="+mn-ea"/>
            </a:endParaRPr>
          </a:p>
        </p:txBody>
      </p:sp>
      <p:sp>
        <p:nvSpPr>
          <p:cNvPr id="159" name="文本框 158"/>
          <p:cNvSpPr txBox="1"/>
          <p:nvPr/>
        </p:nvSpPr>
        <p:spPr>
          <a:xfrm>
            <a:off x="4141470" y="4453255"/>
            <a:ext cx="1506855" cy="368300"/>
          </a:xfrm>
          <a:prstGeom prst="rect">
            <a:avLst/>
          </a:prstGeom>
          <a:noFill/>
        </p:spPr>
        <p:txBody>
          <a:bodyPr wrap="square" rtlCol="0" anchor="t">
            <a:spAutoFit/>
          </a:bodyPr>
          <a:p>
            <a:r>
              <a:rPr lang="zh-CN" altLang="en-US">
                <a:sym typeface="+mn-ea"/>
              </a:rPr>
              <a:t>{{</a:t>
            </a:r>
            <a:r>
              <a:rPr lang="en-US" altLang="zh-CN">
                <a:sym typeface="+mn-ea"/>
              </a:rPr>
              <a:t>P27_bar}</a:t>
            </a:r>
            <a:r>
              <a:rPr lang="zh-CN" altLang="en-US">
                <a:sym typeface="+mn-ea"/>
              </a:rPr>
              <a:t>}</a:t>
            </a:r>
            <a:endParaRPr lang="zh-CN" altLang="en-US">
              <a:sym typeface="+mn-ea"/>
            </a:endParaRPr>
          </a:p>
        </p:txBody>
      </p:sp>
      <p:sp>
        <p:nvSpPr>
          <p:cNvPr id="10" name="文本框 9"/>
          <p:cNvSpPr txBox="1"/>
          <p:nvPr/>
        </p:nvSpPr>
        <p:spPr>
          <a:xfrm>
            <a:off x="10146665" y="4821555"/>
            <a:ext cx="1506855" cy="368300"/>
          </a:xfrm>
          <a:prstGeom prst="rect">
            <a:avLst/>
          </a:prstGeom>
          <a:noFill/>
        </p:spPr>
        <p:txBody>
          <a:bodyPr wrap="square" rtlCol="0" anchor="t">
            <a:spAutoFit/>
          </a:bodyPr>
          <a:p>
            <a:r>
              <a:rPr lang="zh-CN" altLang="en-US">
                <a:sym typeface="+mn-ea"/>
              </a:rPr>
              <a:t>{{</a:t>
            </a:r>
            <a:r>
              <a:rPr lang="en-US" altLang="zh-CN">
                <a:sym typeface="+mn-ea"/>
              </a:rPr>
              <a:t>P27_line</a:t>
            </a:r>
            <a:r>
              <a:rPr lang="en-US" altLang="zh-CN">
                <a:sym typeface="+mn-ea"/>
              </a:rPr>
              <a:t>}</a:t>
            </a:r>
            <a:r>
              <a:rPr lang="zh-CN" altLang="en-US">
                <a:sym typeface="+mn-ea"/>
              </a:rPr>
              <a:t>}</a:t>
            </a:r>
            <a:endParaRPr lang="zh-CN" altLang="en-US">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44"/>
          <p:cNvSpPr/>
          <p:nvPr/>
        </p:nvSpPr>
        <p:spPr>
          <a:xfrm>
            <a:off x="7811770" y="1202055"/>
            <a:ext cx="3747135" cy="287020"/>
          </a:xfrm>
          <a:prstGeom prst="rect">
            <a:avLst/>
          </a:prstGeom>
          <a:noFill/>
          <a:ln w="0" cap="flat">
            <a:noFill/>
            <a:prstDash val="solid"/>
            <a:miter lim="0"/>
          </a:ln>
        </p:spPr>
        <p:txBody>
          <a:bodyPr vert="horz" wrap="square" lIns="0" tIns="0" rIns="0" bIns="0"/>
          <a:p>
            <a:pPr algn="l" rtl="0" eaLnBrk="0">
              <a:lnSpc>
                <a:spcPct val="83000"/>
              </a:lnSpc>
            </a:pPr>
            <a:endParaRPr sz="100" dirty="0">
              <a:latin typeface="Arial" panose="020B0604020202020204"/>
              <a:ea typeface="Arial" panose="020B0604020202020204"/>
              <a:cs typeface="Arial" panose="020B0604020202020204"/>
            </a:endParaRPr>
          </a:p>
          <a:p>
            <a:pPr marL="28575" algn="l" rtl="0" eaLnBrk="0">
              <a:lnSpc>
                <a:spcPct val="98000"/>
              </a:lnSpc>
            </a:pPr>
            <a:r>
              <a:rPr lang="en-US" altLang="zh-CN" sz="1200" b="1" kern="0" spc="30" dirty="0">
                <a:solidFill>
                  <a:srgbClr val="204080">
                    <a:alpha val="100000"/>
                  </a:srgbClr>
                </a:solidFill>
                <a:latin typeface="黑体" panose="02010609060101010101" charset="-122"/>
                <a:ea typeface="黑体" panose="02010609060101010101" charset="-122"/>
                <a:cs typeface="黑体" panose="02010609060101010101" charset="-122"/>
              </a:rPr>
              <a:t>威胁运营总结</a:t>
            </a:r>
            <a:endParaRPr sz="1000" kern="0" spc="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5" name="textbox 246"/>
          <p:cNvSpPr/>
          <p:nvPr/>
        </p:nvSpPr>
        <p:spPr>
          <a:xfrm>
            <a:off x="647700" y="1202055"/>
            <a:ext cx="3003550" cy="2772410"/>
          </a:xfrm>
          <a:prstGeom prst="rect">
            <a:avLst/>
          </a:prstGeom>
          <a:solidFill>
            <a:srgbClr val="F1F6FF">
              <a:alpha val="100000"/>
            </a:srgbClr>
          </a:solidFill>
          <a:ln w="0" cap="flat">
            <a:noFill/>
            <a:prstDash val="solid"/>
            <a:miter lim="0"/>
          </a:ln>
        </p:spPr>
        <p:txBody>
          <a:bodyPr vert="horz" wrap="square" lIns="0" tIns="0" rIns="0" bIns="0"/>
          <a:p>
            <a:pPr algn="l" rtl="0" eaLnBrk="0">
              <a:lnSpc>
                <a:spcPct val="130000"/>
              </a:lnSpc>
            </a:pPr>
            <a:endParaRPr sz="700" dirty="0">
              <a:latin typeface="黑体" panose="02010609060101010101" charset="-122"/>
              <a:ea typeface="黑体" panose="02010609060101010101" charset="-122"/>
              <a:cs typeface="黑体" panose="02010609060101010101" charset="-122"/>
            </a:endParaRPr>
          </a:p>
        </p:txBody>
      </p:sp>
      <p:sp>
        <p:nvSpPr>
          <p:cNvPr id="6" name="textbox 158"/>
          <p:cNvSpPr/>
          <p:nvPr/>
        </p:nvSpPr>
        <p:spPr>
          <a:xfrm>
            <a:off x="647700" y="360045"/>
            <a:ext cx="4261485" cy="600075"/>
          </a:xfrm>
          <a:prstGeom prst="rect">
            <a:avLst/>
          </a:prstGeom>
          <a:noFill/>
          <a:ln w="0" cap="flat">
            <a:noFill/>
            <a:prstDash val="solid"/>
            <a:miter lim="0"/>
          </a:ln>
        </p:spPr>
        <p:txBody>
          <a:bodyPr vert="horz" wrap="square" lIns="0" tIns="0" rIns="0" bIns="0"/>
          <a:p>
            <a:pPr algn="l" rtl="0" eaLnBrk="0">
              <a:lnSpc>
                <a:spcPct val="78000"/>
              </a:lnSpc>
            </a:pPr>
            <a:endParaRPr sz="100" dirty="0">
              <a:latin typeface="Arial" panose="020B0604020202020204"/>
              <a:ea typeface="Arial" panose="020B0604020202020204"/>
              <a:cs typeface="Arial" panose="020B0604020202020204"/>
            </a:endParaRPr>
          </a:p>
          <a:p>
            <a:pPr marL="15875" algn="l" rtl="0" eaLnBrk="0">
              <a:lnSpc>
                <a:spcPct val="98000"/>
              </a:lnSpc>
            </a:pPr>
            <a:r>
              <a:rPr lang="en-US" altLang="zh-CN" sz="1900" kern="0" noProof="0" dirty="0">
                <a:solidFill>
                  <a:srgbClr val="4C61E7"/>
                </a:solidFill>
                <a:uLnTx/>
                <a:latin typeface="Arial Black" panose="020B0A04020102020204" pitchFamily="34" charset="0"/>
                <a:ea typeface="微软雅黑" panose="020B0503020204020204" charset="-122"/>
                <a:sym typeface="+mn-ea"/>
              </a:rPr>
              <a:t>7*24H</a:t>
            </a:r>
            <a:r>
              <a:rPr lang="zh-CN" altLang="en-US" sz="1900" kern="0" noProof="0" dirty="0">
                <a:solidFill>
                  <a:srgbClr val="4C61E7"/>
                </a:solidFill>
                <a:uLnTx/>
                <a:latin typeface="Arial Black" panose="020B0A04020102020204" pitchFamily="34" charset="0"/>
                <a:ea typeface="微软雅黑" panose="020B0503020204020204" charset="-122"/>
                <a:sym typeface="+mn-ea"/>
              </a:rPr>
              <a:t>威胁对抗详情</a:t>
            </a:r>
            <a:r>
              <a:rPr lang="en-US" altLang="zh-CN" sz="1900" kern="0" noProof="0" dirty="0">
                <a:solidFill>
                  <a:srgbClr val="4C61E7"/>
                </a:solidFill>
                <a:uLnTx/>
                <a:latin typeface="Arial Black" panose="020B0A04020102020204" pitchFamily="34" charset="0"/>
                <a:ea typeface="微软雅黑" panose="020B0503020204020204" charset="-122"/>
                <a:sym typeface="+mn-ea"/>
              </a:rPr>
              <a:t>-2</a:t>
            </a:r>
            <a:endParaRPr sz="1900" dirty="0">
              <a:latin typeface="Arial Black" panose="020B0A04020102020204" pitchFamily="34" charset="0"/>
              <a:ea typeface="微软雅黑" panose="020B0503020204020204" charset="-122"/>
              <a:cs typeface="黑体" panose="02010609060101010101" charset="-122"/>
            </a:endParaRPr>
          </a:p>
          <a:p>
            <a:pPr marL="15875" algn="l" rtl="0" eaLnBrk="0">
              <a:lnSpc>
                <a:spcPct val="98000"/>
              </a:lnSpc>
            </a:pPr>
            <a:endParaRPr lang="zh-CN" altLang="en-US" sz="1000" kern="0" spc="40" dirty="0">
              <a:solidFill>
                <a:srgbClr val="000000">
                  <a:alpha val="100000"/>
                </a:srgbClr>
              </a:solidFill>
              <a:latin typeface="黑体" panose="02010609060101010101" charset="-122"/>
              <a:ea typeface="黑体" panose="02010609060101010101" charset="-122"/>
              <a:cs typeface="黑体" panose="02010609060101010101" charset="-122"/>
            </a:endParaRPr>
          </a:p>
        </p:txBody>
      </p:sp>
      <p:grpSp>
        <p:nvGrpSpPr>
          <p:cNvPr id="7" name="组合 6"/>
          <p:cNvGrpSpPr/>
          <p:nvPr/>
        </p:nvGrpSpPr>
        <p:grpSpPr>
          <a:xfrm>
            <a:off x="648335" y="4287520"/>
            <a:ext cx="10918825" cy="1179024"/>
            <a:chOff x="2042" y="13744"/>
            <a:chExt cx="34390" cy="3714"/>
          </a:xfrm>
        </p:grpSpPr>
        <p:sp>
          <p:nvSpPr>
            <p:cNvPr id="8" name="Shape 1"/>
            <p:cNvSpPr/>
            <p:nvPr/>
          </p:nvSpPr>
          <p:spPr>
            <a:xfrm>
              <a:off x="2042" y="13744"/>
              <a:ext cx="34390" cy="3714"/>
            </a:xfrm>
            <a:prstGeom prst="roundRect">
              <a:avLst>
                <a:gd name="adj" fmla="val 6757"/>
              </a:avLst>
            </a:prstGeom>
            <a:noFill/>
            <a:ln w="12700">
              <a:solidFill>
                <a:srgbClr val="CCE1F5"/>
              </a:solidFill>
              <a:prstDash val="solid"/>
            </a:ln>
          </p:spPr>
        </p:sp>
        <p:graphicFrame>
          <p:nvGraphicFramePr>
            <p:cNvPr id="24" name="图表 23"/>
            <p:cNvGraphicFramePr/>
            <p:nvPr/>
          </p:nvGraphicFramePr>
          <p:xfrm>
            <a:off x="2318" y="13879"/>
            <a:ext cx="33839" cy="3398"/>
          </p:xfrm>
          <a:graphic>
            <a:graphicData uri="http://schemas.openxmlformats.org/drawingml/2006/chart">
              <c:chart xmlns:c="http://schemas.openxmlformats.org/drawingml/2006/chart" xmlns:r="http://schemas.openxmlformats.org/officeDocument/2006/relationships" r:id="rId1"/>
            </a:graphicData>
          </a:graphic>
        </p:graphicFrame>
      </p:grpSp>
      <p:sp>
        <p:nvSpPr>
          <p:cNvPr id="30" name="文本框 29"/>
          <p:cNvSpPr txBox="1"/>
          <p:nvPr/>
        </p:nvSpPr>
        <p:spPr>
          <a:xfrm>
            <a:off x="575945" y="4050983"/>
            <a:ext cx="1140778" cy="235903"/>
          </a:xfrm>
          <a:prstGeom prst="rect">
            <a:avLst/>
          </a:prstGeom>
          <a:noFill/>
        </p:spPr>
        <p:txBody>
          <a:bodyPr wrap="square" rtlCol="0" anchor="ctr" anchorCtr="0">
            <a:noAutofit/>
          </a:bodyPr>
          <a:p>
            <a:pPr marL="12700" algn="l" rtl="0" eaLnBrk="0">
              <a:lnSpc>
                <a:spcPct val="96000"/>
              </a:lnSpc>
            </a:pPr>
            <a:r>
              <a:rPr 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威胁分布</a:t>
            </a:r>
            <a:r>
              <a:rPr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趋势</a:t>
            </a:r>
            <a:endParaRPr lang="zh-CN" altLang="en-US"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31" name="文本框 30"/>
          <p:cNvSpPr txBox="1"/>
          <p:nvPr/>
        </p:nvSpPr>
        <p:spPr>
          <a:xfrm>
            <a:off x="735965" y="1253490"/>
            <a:ext cx="2299970" cy="269875"/>
          </a:xfrm>
          <a:prstGeom prst="rect">
            <a:avLst/>
          </a:prstGeom>
          <a:noFill/>
        </p:spPr>
        <p:txBody>
          <a:bodyPr wrap="square" rtlCol="0" anchor="ctr" anchorCtr="0">
            <a:noAutofit/>
          </a:bodyPr>
          <a:p>
            <a:pPr marL="28575" algn="l" rtl="0" eaLnBrk="0">
              <a:lnSpc>
                <a:spcPct val="98000"/>
              </a:lnSpc>
              <a:spcBef>
                <a:spcPts val="0"/>
              </a:spcBef>
            </a:pPr>
            <a:r>
              <a:rPr lang="en-US" altLang="zh-CN" sz="1000" b="1"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7*24</a:t>
            </a:r>
            <a:r>
              <a:rPr lang="zh-CN" altLang="en-US" sz="1000" b="1"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小时威胁对抗</a:t>
            </a:r>
            <a:endParaRPr lang="zh-CN" altLang="en-US" sz="1000" b="1" spc="3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p:txBody>
      </p:sp>
      <p:sp>
        <p:nvSpPr>
          <p:cNvPr id="32" name="íṥlïḍê"/>
          <p:cNvSpPr txBox="1"/>
          <p:nvPr>
            <p:custDataLst>
              <p:tags r:id="rId5"/>
            </p:custDataLst>
          </p:nvPr>
        </p:nvSpPr>
        <p:spPr>
          <a:xfrm>
            <a:off x="982980" y="1506220"/>
            <a:ext cx="2746375" cy="269875"/>
          </a:xfrm>
          <a:prstGeom prst="rect">
            <a:avLst/>
          </a:prstGeom>
        </p:spPr>
        <p:txBody>
          <a:bodyPr wrap="square" rtlCol="0" anchor="ctr" anchorCtr="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lvl="0" algn="l" hangingPunct="1">
              <a:defRPr/>
            </a:pP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a:t>
            </a:r>
            <a:r>
              <a:rPr lang="en-US" altLang="zh-CN"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{external_attack_log_count_XDR}}</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rPr>
              <a:t>余条内外部攻击日志</a:t>
            </a:r>
            <a:endParaRPr lang="zh-CN" altLang="en-US"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33" name="文本框 32"/>
          <p:cNvSpPr txBox="1"/>
          <p:nvPr/>
        </p:nvSpPr>
        <p:spPr>
          <a:xfrm>
            <a:off x="982663" y="2565718"/>
            <a:ext cx="2380298" cy="235585"/>
          </a:xfrm>
          <a:prstGeom prst="rect">
            <a:avLst/>
          </a:prstGeom>
          <a:noFill/>
        </p:spPr>
        <p:txBody>
          <a:bodyPr wrap="square" rtlCol="0" anchor="t">
            <a:noAutofit/>
          </a:bodyPr>
          <a:p>
            <a:pPr marL="11430" lvl="0" algn="l" eaLnBrk="0">
              <a:spcBef>
                <a:spcPts val="5"/>
              </a:spcBef>
            </a:pPr>
            <a:r>
              <a:rPr lang="en-US" altLang="zh-CN" sz="1000" b="1"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{{security_device_policy_check_count}}</a:t>
            </a:r>
            <a:r>
              <a:rPr lang="en-US" sz="9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1000" spc="120" dirty="0">
                <a:solidFill>
                  <a:schemeClr val="tx1">
                    <a:alpha val="100000"/>
                  </a:schemeClr>
                </a:solidFill>
                <a:latin typeface="黑体" panose="02010609060101010101" charset="-122"/>
                <a:ea typeface="黑体" panose="02010609060101010101" charset="-122"/>
                <a:cs typeface="黑体" panose="02010609060101010101" charset="-122"/>
                <a:sym typeface="+mn-ea"/>
              </a:rPr>
              <a:t>次策略有效性检查</a:t>
            </a:r>
            <a:endParaRPr lang="zh-CN" altLang="en-US" sz="1000" spc="120" dirty="0">
              <a:solidFill>
                <a:schemeClr val="tx1">
                  <a:alpha val="100000"/>
                </a:schemeClr>
              </a:solidFill>
              <a:latin typeface="黑体" panose="02010609060101010101" charset="-122"/>
              <a:ea typeface="黑体" panose="02010609060101010101" charset="-122"/>
              <a:cs typeface="黑体" panose="02010609060101010101" charset="-122"/>
              <a:sym typeface="+mn-ea"/>
            </a:endParaRPr>
          </a:p>
        </p:txBody>
      </p:sp>
      <p:sp>
        <p:nvSpPr>
          <p:cNvPr id="34" name="íṥlïḍê"/>
          <p:cNvSpPr txBox="1"/>
          <p:nvPr>
            <p:custDataLst>
              <p:tags r:id="rId6"/>
            </p:custDataLst>
          </p:nvPr>
        </p:nvSpPr>
        <p:spPr>
          <a:xfrm>
            <a:off x="982980" y="1744980"/>
            <a:ext cx="3094990" cy="269875"/>
          </a:xfrm>
          <a:prstGeom prst="rect">
            <a:avLst/>
          </a:prstGeom>
        </p:spPr>
        <p:txBody>
          <a:bodyPr wrap="square" rtlCol="0" anchor="ctr" anchorCtr="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lvl="0" algn="l" hangingPunct="1">
              <a:defRPr/>
            </a:pP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{{real_time_threat_alert_count}}</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rPr>
              <a:t>条实时威胁告警</a:t>
            </a:r>
            <a:endParaRPr lang="zh-CN" altLang="en-US"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36" name="íṥlïḍê"/>
          <p:cNvSpPr txBox="1"/>
          <p:nvPr>
            <p:custDataLst>
              <p:tags r:id="rId7"/>
            </p:custDataLst>
          </p:nvPr>
        </p:nvSpPr>
        <p:spPr>
          <a:xfrm>
            <a:off x="982663" y="1998663"/>
            <a:ext cx="2495233" cy="269875"/>
          </a:xfrm>
          <a:prstGeom prst="rect">
            <a:avLst/>
          </a:prstGeom>
        </p:spPr>
        <p:txBody>
          <a:bodyPr wrap="square" rtlCol="0" anchor="ctr" anchorCtr="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lvl="0" algn="l" hangingPunct="1">
              <a:defRPr/>
            </a:pP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{{MSS_threat_ticket_count}}</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rPr>
              <a:t>条威胁工单及时处置，平均</a:t>
            </a:r>
            <a:r>
              <a:rPr lang="en-US" altLang="zh-CN"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rPr>
              <a:t>  </a:t>
            </a: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{{threat_ticket_average_response_time}}</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rPr>
              <a:t>分钟响应</a:t>
            </a:r>
            <a:endParaRPr lang="zh-CN" altLang="en-US"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37" name="文本框 36"/>
          <p:cNvSpPr txBox="1"/>
          <p:nvPr/>
        </p:nvSpPr>
        <p:spPr>
          <a:xfrm>
            <a:off x="735965" y="2332038"/>
            <a:ext cx="2299653" cy="241935"/>
          </a:xfrm>
          <a:prstGeom prst="rect">
            <a:avLst/>
          </a:prstGeom>
          <a:noFill/>
        </p:spPr>
        <p:txBody>
          <a:bodyPr wrap="square" rtlCol="0" anchor="t">
            <a:spAutoFit/>
          </a:bodyPr>
          <a:p>
            <a:pPr marL="28575" lvl="0" algn="l" eaLnBrk="0">
              <a:lnSpc>
                <a:spcPct val="98000"/>
              </a:lnSpc>
              <a:spcBef>
                <a:spcPts val="0"/>
              </a:spcBef>
              <a:buClrTx/>
              <a:buSzTx/>
              <a:buFontTx/>
            </a:pPr>
            <a:r>
              <a:rPr lang="en-US" altLang="zh-CN" sz="1000" b="1"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策略有效性监测与预防</a:t>
            </a:r>
            <a:endParaRPr lang="en-US" altLang="zh-CN" sz="1000" b="1" spc="3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p:txBody>
      </p:sp>
      <p:sp>
        <p:nvSpPr>
          <p:cNvPr id="38" name="文本框 37"/>
          <p:cNvSpPr txBox="1"/>
          <p:nvPr/>
        </p:nvSpPr>
        <p:spPr>
          <a:xfrm>
            <a:off x="982980" y="2782570"/>
            <a:ext cx="2494915" cy="235585"/>
          </a:xfrm>
          <a:prstGeom prst="rect">
            <a:avLst/>
          </a:prstGeom>
          <a:noFill/>
        </p:spPr>
        <p:txBody>
          <a:bodyPr wrap="square" rtlCol="0" anchor="t">
            <a:noAutofit/>
          </a:bodyPr>
          <a:p>
            <a:pPr marL="11430" lvl="0" algn="l" eaLnBrk="0">
              <a:spcBef>
                <a:spcPts val="5"/>
              </a:spcBef>
            </a:pPr>
            <a:r>
              <a:rPr lang="en-US" altLang="zh-CN" sz="1000" b="1"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{{optimized_policy_risk_count}}</a:t>
            </a:r>
            <a:r>
              <a:rPr lang="en-US" sz="9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1000" spc="120" dirty="0">
                <a:solidFill>
                  <a:schemeClr val="tx1">
                    <a:alpha val="100000"/>
                  </a:schemeClr>
                </a:solidFill>
                <a:latin typeface="黑体" panose="02010609060101010101" charset="-122"/>
                <a:ea typeface="黑体" panose="02010609060101010101" charset="-122"/>
                <a:cs typeface="黑体" panose="02010609060101010101" charset="-122"/>
                <a:sym typeface="+mn-ea"/>
              </a:rPr>
              <a:t>次策略隐患有效修复</a:t>
            </a:r>
            <a:endParaRPr lang="zh-CN" altLang="en-US" sz="1000" spc="120" dirty="0">
              <a:solidFill>
                <a:schemeClr val="tx1">
                  <a:alpha val="100000"/>
                </a:schemeClr>
              </a:solidFill>
              <a:latin typeface="黑体" panose="02010609060101010101" charset="-122"/>
              <a:ea typeface="黑体" panose="02010609060101010101" charset="-122"/>
              <a:cs typeface="黑体" panose="02010609060101010101" charset="-122"/>
              <a:sym typeface="+mn-ea"/>
            </a:endParaRPr>
          </a:p>
        </p:txBody>
      </p:sp>
      <p:sp>
        <p:nvSpPr>
          <p:cNvPr id="39" name="文本框 38"/>
          <p:cNvSpPr txBox="1"/>
          <p:nvPr/>
        </p:nvSpPr>
        <p:spPr>
          <a:xfrm>
            <a:off x="735965" y="3079433"/>
            <a:ext cx="2299653" cy="258763"/>
          </a:xfrm>
          <a:prstGeom prst="rect">
            <a:avLst/>
          </a:prstGeom>
          <a:noFill/>
        </p:spPr>
        <p:txBody>
          <a:bodyPr wrap="square" rtlCol="0" anchor="ctr" anchorCtr="0">
            <a:noAutofit/>
          </a:bodyPr>
          <a:p>
            <a:pPr marL="28575" lvl="0" algn="l" eaLnBrk="0">
              <a:lnSpc>
                <a:spcPct val="98000"/>
              </a:lnSpc>
            </a:pPr>
            <a:r>
              <a:rPr lang="en-US" altLang="zh-CN" sz="1000" b="1"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最新情报风险</a:t>
            </a:r>
            <a:r>
              <a:rPr lang="zh-CN" altLang="en-US" sz="1000" b="1"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排查</a:t>
            </a:r>
            <a:endParaRPr lang="zh-CN" altLang="en-US" sz="1000" b="1" spc="3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p:txBody>
      </p:sp>
      <p:sp>
        <p:nvSpPr>
          <p:cNvPr id="40" name="íṥlïḍê"/>
          <p:cNvSpPr txBox="1"/>
          <p:nvPr>
            <p:custDataLst>
              <p:tags r:id="rId8"/>
            </p:custDataLst>
          </p:nvPr>
        </p:nvSpPr>
        <p:spPr>
          <a:xfrm>
            <a:off x="982663" y="3335338"/>
            <a:ext cx="2495233" cy="269875"/>
          </a:xfrm>
          <a:prstGeom prst="rect">
            <a:avLst/>
          </a:prstGeom>
        </p:spPr>
        <p:txBody>
          <a:bodyPr wrap="square" rtlCol="0" anchor="ctr" anchorCtr="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lvl="0" algn="l" hangingPunct="1">
              <a:defRPr/>
            </a:pPr>
            <a:r>
              <a:rPr lang="en-US" altLang="zh-CN"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{{latest_threat_intelligence_count}}</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rPr>
              <a:t>条最新威胁情报</a:t>
            </a:r>
            <a:endParaRPr lang="zh-CN" altLang="en-US"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41" name="文本框 40"/>
          <p:cNvSpPr txBox="1"/>
          <p:nvPr/>
        </p:nvSpPr>
        <p:spPr>
          <a:xfrm>
            <a:off x="982663" y="3605848"/>
            <a:ext cx="2299335" cy="229870"/>
          </a:xfrm>
          <a:prstGeom prst="rect">
            <a:avLst/>
          </a:prstGeom>
        </p:spPr>
        <p:txBody>
          <a:bodyPr rot="0" vert="horz" wrap="square" lIns="91440" tIns="45720" rIns="91440" bIns="45720" numCol="1" spcCol="0" rtlCol="0" anchor="ctr" anchorCtr="0" forceAA="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lvl="0" algn="l">
              <a:defRPr/>
            </a:pP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{{latest_threat_impacted_asset_count}}</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en-US"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rPr>
              <a:t>个受影响资产快速修复，遏制风险</a:t>
            </a:r>
            <a:endParaRPr lang="en-US"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endParaRPr>
          </a:p>
        </p:txBody>
      </p:sp>
      <p:graphicFrame>
        <p:nvGraphicFramePr>
          <p:cNvPr id="42" name="图表 41"/>
          <p:cNvGraphicFramePr/>
          <p:nvPr/>
        </p:nvGraphicFramePr>
        <p:xfrm>
          <a:off x="3896360" y="2966720"/>
          <a:ext cx="3826510" cy="1021715"/>
        </p:xfrm>
        <a:graphic>
          <a:graphicData uri="http://schemas.openxmlformats.org/drawingml/2006/chart">
            <c:chart xmlns:c="http://schemas.openxmlformats.org/drawingml/2006/chart" xmlns:r="http://schemas.openxmlformats.org/officeDocument/2006/relationships" r:id="rId2"/>
          </a:graphicData>
        </a:graphic>
      </p:graphicFrame>
      <p:sp>
        <p:nvSpPr>
          <p:cNvPr id="43" name="文本框 42"/>
          <p:cNvSpPr txBox="1"/>
          <p:nvPr/>
        </p:nvSpPr>
        <p:spPr>
          <a:xfrm>
            <a:off x="3896360" y="2721610"/>
            <a:ext cx="2299970" cy="236220"/>
          </a:xfrm>
          <a:prstGeom prst="rect">
            <a:avLst/>
          </a:prstGeom>
          <a:noFill/>
        </p:spPr>
        <p:txBody>
          <a:bodyPr wrap="square" rtlCol="0" anchor="ctr" anchorCtr="0">
            <a:noAutofit/>
          </a:bodyPr>
          <a:p>
            <a:pPr marL="12700" algn="l" rtl="0" eaLnBrk="0">
              <a:lnSpc>
                <a:spcPct val="96000"/>
              </a:lnSpc>
            </a:pPr>
            <a:r>
              <a:rPr 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遭受攻击业务主机</a:t>
            </a:r>
            <a:r>
              <a:rPr lang="en-US" alt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TOP5</a:t>
            </a:r>
            <a:endParaRPr lang="en-US" alt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44" name="文本框 43"/>
          <p:cNvSpPr txBox="1"/>
          <p:nvPr/>
        </p:nvSpPr>
        <p:spPr>
          <a:xfrm>
            <a:off x="3896360" y="1223010"/>
            <a:ext cx="1677035" cy="215265"/>
          </a:xfrm>
          <a:prstGeom prst="rect">
            <a:avLst/>
          </a:prstGeom>
          <a:noFill/>
        </p:spPr>
        <p:txBody>
          <a:bodyPr wrap="square" rtlCol="0" anchor="ctr" anchorCtr="0">
            <a:noAutofit/>
          </a:bodyPr>
          <a:p>
            <a:pPr marL="12700" algn="l" rtl="0" eaLnBrk="0">
              <a:lnSpc>
                <a:spcPct val="96000"/>
              </a:lnSpc>
            </a:pPr>
            <a:r>
              <a:rPr 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攻击来源地域分布</a:t>
            </a:r>
            <a:r>
              <a:rPr lang="en-US" alt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TOP5</a:t>
            </a:r>
            <a:endParaRPr lang="en-US" alt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graphicFrame>
        <p:nvGraphicFramePr>
          <p:cNvPr id="45" name="图表 44"/>
          <p:cNvGraphicFramePr/>
          <p:nvPr/>
        </p:nvGraphicFramePr>
        <p:xfrm>
          <a:off x="3896360" y="1489075"/>
          <a:ext cx="1858645" cy="12166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6" name="图表 45"/>
          <p:cNvGraphicFramePr/>
          <p:nvPr/>
        </p:nvGraphicFramePr>
        <p:xfrm>
          <a:off x="6024245" y="1488440"/>
          <a:ext cx="1698625" cy="1220470"/>
        </p:xfrm>
        <a:graphic>
          <a:graphicData uri="http://schemas.openxmlformats.org/drawingml/2006/chart">
            <c:chart xmlns:c="http://schemas.openxmlformats.org/drawingml/2006/chart" xmlns:r="http://schemas.openxmlformats.org/officeDocument/2006/relationships" r:id="rId4"/>
          </a:graphicData>
        </a:graphic>
      </p:graphicFrame>
      <p:sp>
        <p:nvSpPr>
          <p:cNvPr id="47" name="文本框 46"/>
          <p:cNvSpPr txBox="1"/>
          <p:nvPr/>
        </p:nvSpPr>
        <p:spPr>
          <a:xfrm>
            <a:off x="6024130" y="1222693"/>
            <a:ext cx="1620000" cy="215265"/>
          </a:xfrm>
          <a:prstGeom prst="rect">
            <a:avLst/>
          </a:prstGeom>
          <a:noFill/>
        </p:spPr>
        <p:txBody>
          <a:bodyPr wrap="square" rtlCol="0" anchor="ctr" anchorCtr="0">
            <a:noAutofit/>
          </a:bodyPr>
          <a:p>
            <a:pPr marL="12700" algn="l" rtl="0" eaLnBrk="0">
              <a:lnSpc>
                <a:spcPct val="96000"/>
              </a:lnSpc>
            </a:pPr>
            <a:r>
              <a:rPr 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攻击类型分布</a:t>
            </a:r>
            <a:r>
              <a:rPr lang="en-US" alt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TOP5</a:t>
            </a:r>
            <a:endParaRPr lang="en-US" alt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pic>
        <p:nvPicPr>
          <p:cNvPr id="48" name="图片 47" descr="1755071818846"/>
          <p:cNvPicPr>
            <a:picLocks noChangeAspect="1"/>
          </p:cNvPicPr>
          <p:nvPr/>
        </p:nvPicPr>
        <p:blipFill>
          <a:blip r:embed="rId9"/>
          <a:stretch>
            <a:fillRect/>
          </a:stretch>
        </p:blipFill>
        <p:spPr>
          <a:xfrm>
            <a:off x="630873" y="5719763"/>
            <a:ext cx="10940415" cy="801688"/>
          </a:xfrm>
          <a:prstGeom prst="rect">
            <a:avLst/>
          </a:prstGeom>
        </p:spPr>
      </p:pic>
      <p:sp>
        <p:nvSpPr>
          <p:cNvPr id="49" name="文本框 48"/>
          <p:cNvSpPr txBox="1"/>
          <p:nvPr/>
        </p:nvSpPr>
        <p:spPr>
          <a:xfrm>
            <a:off x="594043" y="5504180"/>
            <a:ext cx="1503998" cy="235903"/>
          </a:xfrm>
          <a:prstGeom prst="rect">
            <a:avLst/>
          </a:prstGeom>
          <a:noFill/>
        </p:spPr>
        <p:txBody>
          <a:bodyPr wrap="square" rtlCol="0" anchor="ctr" anchorCtr="0">
            <a:noAutofit/>
          </a:bodyPr>
          <a:p>
            <a:pPr marL="12700" algn="l" rtl="0" eaLnBrk="0">
              <a:lnSpc>
                <a:spcPct val="96000"/>
              </a:lnSpc>
            </a:pPr>
            <a:r>
              <a:rPr 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威胁运营待提升</a:t>
            </a:r>
            <a:r>
              <a:rPr 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项</a:t>
            </a:r>
            <a:endParaRPr 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50" name="文本框 49"/>
          <p:cNvSpPr txBox="1"/>
          <p:nvPr/>
        </p:nvSpPr>
        <p:spPr>
          <a:xfrm>
            <a:off x="758190" y="5788025"/>
            <a:ext cx="3376930" cy="65405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anchorCtr="0" forceAA="0">
            <a:noAutofit/>
          </a:bodyPr>
          <a:p>
            <a:pPr marL="0" marR="0" indent="0" algn="just" defTabSz="2438400" rtl="0" fontAlgn="auto" latinLnBrk="0" hangingPunct="0">
              <a:lnSpc>
                <a:spcPct val="100000"/>
              </a:lnSpc>
              <a:spcBef>
                <a:spcPts val="0"/>
              </a:spcBef>
              <a:spcAft>
                <a:spcPts val="0"/>
              </a:spcAft>
              <a:buClrTx/>
              <a:buSzTx/>
              <a:buFontTx/>
              <a:buNone/>
            </a:pPr>
            <a:r>
              <a:rPr lang="en-US" altLang="zh-CN" sz="800" dirty="0">
                <a:solidFill>
                  <a:srgbClr val="000000">
                    <a:alpha val="100000"/>
                  </a:srgbClr>
                </a:solidFill>
                <a:latin typeface="黑体" panose="02010609060101010101" charset="-122"/>
                <a:ea typeface="黑体" panose="02010609060101010101" charset="-122"/>
                <a:cs typeface="黑体" panose="02010609060101010101" charset="-122"/>
                <a:sym typeface="+mn-ea"/>
              </a:rPr>
              <a:t>{{threat_improve1}}</a:t>
            </a:r>
            <a:endParaRPr lang="en-US" altLang="zh-CN" sz="80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51" name="文本框 50"/>
          <p:cNvSpPr txBox="1"/>
          <p:nvPr/>
        </p:nvSpPr>
        <p:spPr>
          <a:xfrm>
            <a:off x="4297680" y="5782310"/>
            <a:ext cx="3564890" cy="71310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anchorCtr="0" forceAA="0">
            <a:noAutofit/>
          </a:bodyPr>
          <a:p>
            <a:pPr marL="0" marR="0" indent="0" algn="just" defTabSz="2438400" rtl="0" fontAlgn="auto" latinLnBrk="0" hangingPunct="0">
              <a:lnSpc>
                <a:spcPct val="100000"/>
              </a:lnSpc>
              <a:spcBef>
                <a:spcPts val="0"/>
              </a:spcBef>
              <a:spcAft>
                <a:spcPts val="0"/>
              </a:spcAft>
              <a:buClrTx/>
              <a:buSzTx/>
              <a:buFontTx/>
              <a:buNone/>
            </a:pPr>
            <a:r>
              <a:rPr lang="en-US" altLang="zh-CN" sz="800" dirty="0">
                <a:solidFill>
                  <a:srgbClr val="000000">
                    <a:alpha val="100000"/>
                  </a:srgbClr>
                </a:solidFill>
                <a:latin typeface="黑体" panose="02010609060101010101" charset="-122"/>
                <a:ea typeface="黑体" panose="02010609060101010101" charset="-122"/>
                <a:cs typeface="黑体" panose="02010609060101010101" charset="-122"/>
                <a:sym typeface="+mn-ea"/>
              </a:rPr>
              <a:t>{{threat_improve2}}</a:t>
            </a:r>
            <a:endParaRPr lang="en-US" altLang="zh-CN" sz="80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52" name="文本框 51"/>
          <p:cNvSpPr txBox="1"/>
          <p:nvPr/>
        </p:nvSpPr>
        <p:spPr>
          <a:xfrm>
            <a:off x="8025765" y="5796280"/>
            <a:ext cx="3460750" cy="62357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anchorCtr="0" forceAA="0">
            <a:noAutofit/>
          </a:bodyPr>
          <a:p>
            <a:pPr marL="0" marR="0" indent="0" algn="just" defTabSz="2438400" rtl="0" fontAlgn="auto" latinLnBrk="0" hangingPunct="0">
              <a:lnSpc>
                <a:spcPct val="100000"/>
              </a:lnSpc>
              <a:spcBef>
                <a:spcPts val="0"/>
              </a:spcBef>
              <a:spcAft>
                <a:spcPts val="0"/>
              </a:spcAft>
              <a:buClrTx/>
              <a:buSzTx/>
              <a:buFontTx/>
              <a:buNone/>
            </a:pPr>
            <a:r>
              <a:rPr lang="en-US" altLang="zh-CN" sz="800" dirty="0">
                <a:solidFill>
                  <a:srgbClr val="000000">
                    <a:alpha val="100000"/>
                  </a:srgbClr>
                </a:solidFill>
                <a:latin typeface="黑体" panose="02010609060101010101" charset="-122"/>
                <a:ea typeface="黑体" panose="02010609060101010101" charset="-122"/>
                <a:cs typeface="黑体" panose="02010609060101010101" charset="-122"/>
                <a:sym typeface="+mn-ea"/>
              </a:rPr>
              <a:t>{{threat_improve3}}</a:t>
            </a:r>
            <a:endParaRPr lang="en-US" altLang="zh-CN" sz="80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pic>
        <p:nvPicPr>
          <p:cNvPr id="53" name="图片 52" descr="深信服 + 智安全"/>
          <p:cNvPicPr>
            <a:picLocks noChangeAspect="1"/>
          </p:cNvPicPr>
          <p:nvPr/>
        </p:nvPicPr>
        <p:blipFill>
          <a:blip r:embed="rId10"/>
          <a:srcRect l="5232" t="26576" r="4938" b="29565"/>
          <a:stretch>
            <a:fillRect/>
          </a:stretch>
        </p:blipFill>
        <p:spPr>
          <a:xfrm>
            <a:off x="10017125" y="238760"/>
            <a:ext cx="1629867" cy="360000"/>
          </a:xfrm>
          <a:prstGeom prst="rect">
            <a:avLst/>
          </a:prstGeom>
        </p:spPr>
      </p:pic>
      <p:sp>
        <p:nvSpPr>
          <p:cNvPr id="54" name="文本框 53"/>
          <p:cNvSpPr txBox="1"/>
          <p:nvPr/>
        </p:nvSpPr>
        <p:spPr>
          <a:xfrm>
            <a:off x="7740650" y="1530985"/>
            <a:ext cx="3817620" cy="2458085"/>
          </a:xfrm>
          <a:prstGeom prst="rect">
            <a:avLst/>
          </a:prstGeom>
          <a:noFill/>
        </p:spPr>
        <p:txBody>
          <a:bodyPr wrap="square" rtlCol="0" anchor="t">
            <a:noAutofit/>
          </a:bodyPr>
          <a:p>
            <a:pPr algn="just"/>
            <a:r>
              <a:rPr lang="en-US" altLang="zh-CN" sz="10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{{threat_summary}}</a:t>
            </a:r>
            <a:endParaRPr lang="en-US" altLang="zh-CN" sz="1000" spc="-5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55" name="文本框 54"/>
          <p:cNvSpPr txBox="1"/>
          <p:nvPr/>
        </p:nvSpPr>
        <p:spPr>
          <a:xfrm>
            <a:off x="8744585" y="4549775"/>
            <a:ext cx="1654810" cy="213995"/>
          </a:xfrm>
          <a:prstGeom prst="rect">
            <a:avLst/>
          </a:prstGeom>
          <a:noFill/>
        </p:spPr>
        <p:txBody>
          <a:bodyPr wrap="square" rtlCol="0" anchor="t">
            <a:spAutoFit/>
          </a:bodyPr>
          <a:p>
            <a:r>
              <a:rPr lang="zh-CN" altLang="en-US" sz="800">
                <a:sym typeface="+mn-ea"/>
              </a:rPr>
              <a:t>{{</a:t>
            </a:r>
            <a:r>
              <a:rPr lang="en-US" altLang="zh-CN" sz="800">
                <a:sym typeface="+mn-ea"/>
              </a:rPr>
              <a:t>P28_line</a:t>
            </a:r>
            <a:r>
              <a:rPr lang="zh-CN" altLang="en-US" sz="800">
                <a:sym typeface="+mn-ea"/>
              </a:rPr>
              <a:t>}}</a:t>
            </a:r>
            <a:endParaRPr lang="zh-CN" altLang="en-US" sz="800">
              <a:sym typeface="+mn-ea"/>
            </a:endParaRPr>
          </a:p>
        </p:txBody>
      </p:sp>
      <p:sp>
        <p:nvSpPr>
          <p:cNvPr id="56" name="文本框 55"/>
          <p:cNvSpPr txBox="1"/>
          <p:nvPr/>
        </p:nvSpPr>
        <p:spPr>
          <a:xfrm>
            <a:off x="4135120" y="1016635"/>
            <a:ext cx="853440" cy="213995"/>
          </a:xfrm>
          <a:prstGeom prst="rect">
            <a:avLst/>
          </a:prstGeom>
          <a:noFill/>
        </p:spPr>
        <p:txBody>
          <a:bodyPr wrap="square" rtlCol="0" anchor="t">
            <a:spAutoFit/>
          </a:bodyPr>
          <a:p>
            <a:r>
              <a:rPr lang="zh-CN" altLang="en-US" sz="800">
                <a:sym typeface="+mn-ea"/>
              </a:rPr>
              <a:t>{{</a:t>
            </a:r>
            <a:r>
              <a:rPr lang="en-US" altLang="zh-CN" sz="800">
                <a:sym typeface="+mn-ea"/>
              </a:rPr>
              <a:t>P28_pie_1</a:t>
            </a:r>
            <a:r>
              <a:rPr lang="zh-CN" altLang="en-US" sz="800">
                <a:sym typeface="+mn-ea"/>
              </a:rPr>
              <a:t>}}</a:t>
            </a:r>
            <a:endParaRPr lang="zh-CN" altLang="en-US" sz="800">
              <a:sym typeface="+mn-ea"/>
            </a:endParaRPr>
          </a:p>
        </p:txBody>
      </p:sp>
      <p:sp>
        <p:nvSpPr>
          <p:cNvPr id="57" name="文本框 56"/>
          <p:cNvSpPr txBox="1"/>
          <p:nvPr/>
        </p:nvSpPr>
        <p:spPr>
          <a:xfrm>
            <a:off x="6163310" y="982980"/>
            <a:ext cx="876935" cy="213995"/>
          </a:xfrm>
          <a:prstGeom prst="rect">
            <a:avLst/>
          </a:prstGeom>
          <a:noFill/>
        </p:spPr>
        <p:txBody>
          <a:bodyPr wrap="square" rtlCol="0" anchor="t">
            <a:spAutoFit/>
          </a:bodyPr>
          <a:p>
            <a:r>
              <a:rPr lang="zh-CN" altLang="en-US" sz="800">
                <a:sym typeface="+mn-ea"/>
              </a:rPr>
              <a:t>{{</a:t>
            </a:r>
            <a:r>
              <a:rPr lang="en-US" altLang="zh-CN" sz="800">
                <a:sym typeface="+mn-ea"/>
              </a:rPr>
              <a:t>P28_pie_2</a:t>
            </a:r>
            <a:r>
              <a:rPr lang="zh-CN" altLang="en-US" sz="800">
                <a:sym typeface="+mn-ea"/>
              </a:rPr>
              <a:t>}}</a:t>
            </a:r>
            <a:endParaRPr lang="zh-CN" altLang="en-US" sz="800">
              <a:sym typeface="+mn-ea"/>
            </a:endParaRPr>
          </a:p>
        </p:txBody>
      </p:sp>
      <p:sp>
        <p:nvSpPr>
          <p:cNvPr id="58" name="文本框 57"/>
          <p:cNvSpPr txBox="1"/>
          <p:nvPr/>
        </p:nvSpPr>
        <p:spPr>
          <a:xfrm>
            <a:off x="6767195" y="3022600"/>
            <a:ext cx="876935" cy="213995"/>
          </a:xfrm>
          <a:prstGeom prst="rect">
            <a:avLst/>
          </a:prstGeom>
          <a:noFill/>
        </p:spPr>
        <p:txBody>
          <a:bodyPr wrap="square" rtlCol="0" anchor="t">
            <a:spAutoFit/>
          </a:bodyPr>
          <a:p>
            <a:r>
              <a:rPr lang="zh-CN" altLang="en-US" sz="800">
                <a:sym typeface="+mn-ea"/>
              </a:rPr>
              <a:t>{{</a:t>
            </a:r>
            <a:r>
              <a:rPr lang="en-US" altLang="zh-CN" sz="800">
                <a:sym typeface="+mn-ea"/>
              </a:rPr>
              <a:t>P28_bar</a:t>
            </a:r>
            <a:r>
              <a:rPr lang="zh-CN" altLang="en-US" sz="800">
                <a:sym typeface="+mn-ea"/>
              </a:rPr>
              <a:t>}}</a:t>
            </a:r>
            <a:endParaRPr lang="zh-CN" altLang="en-US" sz="800">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textbox 48"/>
          <p:cNvSpPr/>
          <p:nvPr/>
        </p:nvSpPr>
        <p:spPr>
          <a:xfrm>
            <a:off x="647700" y="1275715"/>
            <a:ext cx="3006000" cy="2519998"/>
          </a:xfrm>
          <a:prstGeom prst="rect">
            <a:avLst/>
          </a:prstGeom>
          <a:solidFill>
            <a:srgbClr val="5B9BD5">
              <a:lumMod val="20000"/>
              <a:lumOff val="80000"/>
            </a:srgbClr>
          </a:solidFill>
          <a:ln w="0" cap="flat">
            <a:noFill/>
            <a:prstDash val="solid"/>
            <a:miter lim="0"/>
          </a:ln>
        </p:spPr>
        <p:txBody>
          <a:bodyPr vert="horz" wrap="square" lIns="0" tIns="0" rIns="0" bIns="0"/>
          <a:p>
            <a:pPr algn="l" rtl="0" eaLnBrk="0">
              <a:lnSpc>
                <a:spcPct val="182000"/>
              </a:lnSpc>
            </a:pPr>
            <a:endParaRPr sz="1000" dirty="0">
              <a:latin typeface="Arial" panose="020B0604020202020204"/>
              <a:ea typeface="Arial" panose="020B0604020202020204"/>
              <a:cs typeface="Arial" panose="020B0604020202020204"/>
            </a:endParaRPr>
          </a:p>
          <a:p>
            <a:pPr algn="l" rtl="0" eaLnBrk="0">
              <a:lnSpc>
                <a:spcPct val="101000"/>
              </a:lnSpc>
            </a:pPr>
            <a:endParaRPr sz="500" dirty="0">
              <a:latin typeface="Arial" panose="020B0604020202020204"/>
              <a:ea typeface="Arial" panose="020B0604020202020204"/>
              <a:cs typeface="Arial" panose="020B0604020202020204"/>
            </a:endParaRPr>
          </a:p>
          <a:p>
            <a:pPr marL="716915" algn="l" rtl="0" eaLnBrk="0">
              <a:lnSpc>
                <a:spcPct val="100000"/>
              </a:lnSpc>
              <a:spcBef>
                <a:spcPts val="5"/>
              </a:spcBef>
            </a:pPr>
            <a:endParaRPr sz="900" dirty="0">
              <a:latin typeface="黑体" panose="02010609060101010101" charset="-122"/>
              <a:ea typeface="黑体" panose="02010609060101010101" charset="-122"/>
              <a:cs typeface="黑体" panose="02010609060101010101" charset="-122"/>
            </a:endParaRPr>
          </a:p>
        </p:txBody>
      </p:sp>
      <p:sp>
        <p:nvSpPr>
          <p:cNvPr id="65" name="textbox 158"/>
          <p:cNvSpPr/>
          <p:nvPr/>
        </p:nvSpPr>
        <p:spPr>
          <a:xfrm>
            <a:off x="647740" y="360198"/>
            <a:ext cx="3639820" cy="600075"/>
          </a:xfrm>
          <a:prstGeom prst="rect">
            <a:avLst/>
          </a:prstGeom>
          <a:noFill/>
          <a:ln w="0" cap="flat">
            <a:noFill/>
            <a:prstDash val="solid"/>
            <a:miter lim="0"/>
          </a:ln>
        </p:spPr>
        <p:txBody>
          <a:bodyPr vert="horz" wrap="square" lIns="0" tIns="0" rIns="0" bIns="0"/>
          <a:p>
            <a:pPr algn="l" rtl="0" eaLnBrk="0">
              <a:lnSpc>
                <a:spcPct val="78000"/>
              </a:lnSpc>
            </a:pPr>
            <a:endParaRPr sz="100" dirty="0">
              <a:latin typeface="Arial" panose="020B0604020202020204" pitchFamily="34" charset="0"/>
              <a:ea typeface="黑体-简" panose="02000000000000000000" charset="-122"/>
              <a:cs typeface="Arial" panose="020B0604020202020204"/>
            </a:endParaRPr>
          </a:p>
          <a:p>
            <a:pPr algn="l" rtl="0" eaLnBrk="0">
              <a:lnSpc>
                <a:spcPct val="101000"/>
              </a:lnSpc>
            </a:pPr>
            <a:r>
              <a:rPr lang="zh-CN" altLang="en-US" sz="1900" dirty="0">
                <a:solidFill>
                  <a:srgbClr val="4C61E7"/>
                </a:solidFill>
                <a:latin typeface="Arial" panose="020B0604020202020204" pitchFamily="34" charset="0"/>
                <a:ea typeface="黑体-简" panose="02000000000000000000" charset="-122"/>
                <a:cs typeface="黑体" panose="02010609060101010101" charset="-122"/>
              </a:rPr>
              <a:t>风险预防工作详情</a:t>
            </a:r>
            <a:endParaRPr lang="zh-CN" altLang="en-US" sz="1900" dirty="0">
              <a:solidFill>
                <a:srgbClr val="4C61E7"/>
              </a:solidFill>
              <a:latin typeface="Arial" panose="020B0604020202020204" pitchFamily="34" charset="0"/>
              <a:ea typeface="黑体-简" panose="02000000000000000000" charset="-122"/>
              <a:cs typeface="黑体" panose="02010609060101010101" charset="-122"/>
            </a:endParaRPr>
          </a:p>
          <a:p>
            <a:pPr algn="l" rtl="0" eaLnBrk="0">
              <a:lnSpc>
                <a:spcPct val="101000"/>
              </a:lnSpc>
            </a:pPr>
            <a:endParaRPr sz="800" dirty="0">
              <a:latin typeface="Arial" panose="020B0604020202020204" pitchFamily="34" charset="0"/>
              <a:ea typeface="黑体-简" panose="02000000000000000000" charset="-122"/>
              <a:cs typeface="Arial" panose="020B0604020202020204"/>
            </a:endParaRPr>
          </a:p>
          <a:p>
            <a:pPr marL="12700" algn="l" rtl="0" eaLnBrk="0">
              <a:lnSpc>
                <a:spcPct val="92000"/>
              </a:lnSpc>
              <a:spcBef>
                <a:spcPts val="5"/>
              </a:spcBef>
            </a:pPr>
            <a:r>
              <a:rPr lang="zh-CN" altLang="en-US" sz="1000" dirty="0">
                <a:solidFill>
                  <a:sysClr val="windowText" lastClr="000000"/>
                </a:solidFill>
                <a:latin typeface="Arial" panose="020B0604020202020204" pitchFamily="34" charset="0"/>
                <a:ea typeface="黑体-简" panose="02000000000000000000" charset="-122"/>
                <a:cs typeface="黑体" panose="02010609060101010101" charset="-122"/>
                <a:sym typeface="+mn-ea"/>
              </a:rPr>
              <a:t>持续治理业务脆弱性，防范风险于未然</a:t>
            </a:r>
            <a:endParaRPr lang="zh-CN" altLang="en-US" sz="1000" dirty="0">
              <a:solidFill>
                <a:sysClr val="windowText" lastClr="000000"/>
              </a:solidFill>
              <a:latin typeface="Arial" panose="020B0604020202020204" pitchFamily="34" charset="0"/>
              <a:ea typeface="黑体-简" panose="02000000000000000000" charset="-122"/>
              <a:cs typeface="黑体" panose="02010609060101010101" charset="-122"/>
              <a:sym typeface="+mn-ea"/>
            </a:endParaRPr>
          </a:p>
        </p:txBody>
      </p:sp>
      <p:sp>
        <p:nvSpPr>
          <p:cNvPr id="67" name="文本框 66"/>
          <p:cNvSpPr txBox="1"/>
          <p:nvPr/>
        </p:nvSpPr>
        <p:spPr>
          <a:xfrm>
            <a:off x="758190" y="1305560"/>
            <a:ext cx="1824355" cy="288290"/>
          </a:xfrm>
          <a:prstGeom prst="rect">
            <a:avLst/>
          </a:prstGeom>
          <a:noFill/>
        </p:spPr>
        <p:txBody>
          <a:bodyPr wrap="square" rtlCol="0" anchor="t" anchorCtr="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marL="28575" lvl="0" algn="l" defTabSz="2438400" eaLnBrk="0">
              <a:lnSpc>
                <a:spcPct val="98000"/>
              </a:lnSpc>
            </a:pPr>
            <a:r>
              <a:rPr lang="zh-CN" sz="1400" spc="30" dirty="0">
                <a:solidFill>
                  <a:srgbClr val="204080">
                    <a:alpha val="100000"/>
                  </a:srgbClr>
                </a:solidFill>
                <a:latin typeface="Arial" panose="020B0604020202020204" pitchFamily="34" charset="0"/>
                <a:ea typeface="黑体-简" panose="02000000000000000000" charset="-122"/>
                <a:cs typeface="黑体" panose="02010609060101010101" charset="-122"/>
                <a:sym typeface="+mn-ea"/>
              </a:rPr>
              <a:t>漏洞优先级梳理</a:t>
            </a:r>
            <a:endParaRPr lang="zh-CN" sz="1400" spc="30" dirty="0">
              <a:solidFill>
                <a:srgbClr val="204080">
                  <a:alpha val="100000"/>
                </a:srgbClr>
              </a:solidFill>
              <a:latin typeface="Arial" panose="020B0604020202020204" pitchFamily="34" charset="0"/>
              <a:ea typeface="黑体-简" panose="02000000000000000000" charset="-122"/>
              <a:cs typeface="黑体" panose="02010609060101010101" charset="-122"/>
              <a:sym typeface="+mn-ea"/>
            </a:endParaRPr>
          </a:p>
        </p:txBody>
      </p:sp>
      <p:grpSp>
        <p:nvGrpSpPr>
          <p:cNvPr id="68" name="组合 67"/>
          <p:cNvGrpSpPr/>
          <p:nvPr>
            <p:custDataLst>
              <p:tags r:id="rId3"/>
            </p:custDataLst>
          </p:nvPr>
        </p:nvGrpSpPr>
        <p:grpSpPr>
          <a:xfrm>
            <a:off x="759127" y="1745375"/>
            <a:ext cx="2744509" cy="399474"/>
            <a:chOff x="3275" y="5404"/>
            <a:chExt cx="8787" cy="1279"/>
          </a:xfrm>
        </p:grpSpPr>
        <p:sp>
          <p:nvSpPr>
            <p:cNvPr id="69" name="圆角矩形 14"/>
            <p:cNvSpPr/>
            <p:nvPr>
              <p:custDataLst>
                <p:tags r:id="rId4"/>
              </p:custDataLst>
            </p:nvPr>
          </p:nvSpPr>
          <p:spPr>
            <a:xfrm>
              <a:off x="3275" y="5498"/>
              <a:ext cx="8787" cy="1185"/>
            </a:xfrm>
            <a:prstGeom prst="roundRect">
              <a:avLst>
                <a:gd name="adj" fmla="val 15982"/>
              </a:avLst>
            </a:prstGeom>
            <a:solidFill>
              <a:srgbClr val="4472C4">
                <a:lumMod val="60000"/>
                <a:lumOff val="40000"/>
                <a:alpha val="12000"/>
              </a:srgbClr>
            </a:solidFill>
            <a:ln w="9525" cap="flat" cmpd="sng" algn="ctr">
              <a:gradFill>
                <a:gsLst>
                  <a:gs pos="100000">
                    <a:srgbClr val="4472C4">
                      <a:alpha val="15000"/>
                    </a:srgbClr>
                  </a:gs>
                  <a:gs pos="0">
                    <a:srgbClr val="4472C4">
                      <a:alpha val="60000"/>
                    </a:srgbClr>
                  </a:gs>
                </a:gsLst>
                <a:path path="circle">
                  <a:fillToRect l="50000" t="50000" r="50000" b="50000"/>
                </a:path>
                <a:tileRect/>
              </a:gradFill>
              <a:prstDash val="solid"/>
              <a:miter lim="800000"/>
            </a:ln>
            <a:effectLst>
              <a:outerShdw blurRad="444500" dist="38100" dir="2700000" algn="tl" rotWithShape="0">
                <a:prstClr val="black">
                  <a:alpha val="7000"/>
                </a:prstClr>
              </a:outerShdw>
            </a:effectLst>
          </p:spPr>
          <p:style>
            <a:lnRef idx="2">
              <a:srgbClr val="5B9BD5">
                <a:lumMod val="75000"/>
              </a:srgbClr>
            </a:lnRef>
            <a:fillRef idx="1">
              <a:srgbClr val="5B9BD5"/>
            </a:fillRef>
            <a:effectRef idx="0">
              <a:srgbClr val="FFFFFF"/>
            </a:effectRef>
            <a:fontRef idx="minor">
              <a:sysClr val="window" lastClr="FFFFFF"/>
            </a:fontRef>
          </p:style>
          <p:txBody>
            <a:bodyPr lIns="72072" tIns="0" rIns="72072" bIns="0" rtlCol="0" anchor="ctr"/>
            <a:p>
              <a:pPr marL="238125" algn="l" rtl="0" eaLnBrk="0">
                <a:lnSpc>
                  <a:spcPct val="100000"/>
                </a:lnSpc>
                <a:spcBef>
                  <a:spcPts val="215"/>
                </a:spcBef>
              </a:pPr>
              <a:r>
                <a:rPr lang="zh-CN" altLang="en-US" sz="1000" kern="0" dirty="0">
                  <a:ln>
                    <a:noFill/>
                    <a:prstDash val="sysDot"/>
                  </a:ln>
                  <a:solidFill>
                    <a:srgbClr val="2040A0">
                      <a:alpha val="100000"/>
                    </a:srgbClr>
                  </a:solidFill>
                  <a:uFillTx/>
                  <a:latin typeface="Arial" panose="020B0604020202020204" pitchFamily="34" charset="0"/>
                  <a:ea typeface="黑体-简" panose="02000000000000000000" charset="-122"/>
                  <a:cs typeface="黑体" panose="02010609060101010101" charset="-122"/>
                  <a:sym typeface="+mn-ea"/>
                </a:rPr>
                <a:t>每季度扫描，优先级排序，提高管理效率</a:t>
              </a:r>
              <a:endParaRPr lang="zh-CN" altLang="en-US" sz="1000" kern="0" dirty="0">
                <a:ln>
                  <a:noFill/>
                  <a:prstDash val="sysDot"/>
                </a:ln>
                <a:solidFill>
                  <a:srgbClr val="2040A0">
                    <a:alpha val="100000"/>
                  </a:srgbClr>
                </a:solidFill>
                <a:uFillTx/>
                <a:latin typeface="Arial" panose="020B0604020202020204" pitchFamily="34" charset="0"/>
                <a:ea typeface="黑体-简" panose="02000000000000000000" charset="-122"/>
                <a:cs typeface="黑体" panose="02010609060101010101" charset="-122"/>
                <a:sym typeface="+mn-ea"/>
              </a:endParaRPr>
            </a:p>
          </p:txBody>
        </p:sp>
        <p:sp>
          <p:nvSpPr>
            <p:cNvPr id="70" name="圆角矩形 69"/>
            <p:cNvSpPr/>
            <p:nvPr>
              <p:custDataLst>
                <p:tags r:id="rId5"/>
              </p:custDataLst>
            </p:nvPr>
          </p:nvSpPr>
          <p:spPr>
            <a:xfrm>
              <a:off x="3636" y="5404"/>
              <a:ext cx="1108" cy="137"/>
            </a:xfrm>
            <a:prstGeom prst="roundRect">
              <a:avLst>
                <a:gd name="adj" fmla="val 50000"/>
              </a:avLst>
            </a:prstGeom>
            <a:gradFill>
              <a:gsLst>
                <a:gs pos="100000">
                  <a:srgbClr val="4472C4">
                    <a:lumMod val="60000"/>
                    <a:lumOff val="40000"/>
                    <a:alpha val="71000"/>
                  </a:srgbClr>
                </a:gs>
                <a:gs pos="0">
                  <a:srgbClr val="4472C4">
                    <a:alpha val="100000"/>
                  </a:srgbClr>
                </a:gs>
              </a:gsLst>
              <a:lin ang="0"/>
            </a:gradFill>
            <a:ln w="12700" cap="flat" cmpd="sng" algn="ctr">
              <a:noFill/>
              <a:prstDash val="solid"/>
              <a:miter lim="800000"/>
            </a:ln>
            <a:effectLst>
              <a:outerShdw blurRad="50800" dist="38100" dir="2700000" algn="tl" rotWithShape="0">
                <a:srgbClr val="4472C4">
                  <a:lumMod val="75000"/>
                  <a:alpha val="20000"/>
                </a:srgbClr>
              </a:outerShdw>
            </a:effectLst>
          </p:spPr>
          <p:style>
            <a:lnRef idx="2">
              <a:srgbClr val="5B9BD5">
                <a:lumMod val="75000"/>
              </a:srgbClr>
            </a:lnRef>
            <a:fillRef idx="1">
              <a:srgbClr val="5B9BD5"/>
            </a:fillRef>
            <a:effectRef idx="0">
              <a:srgbClr val="FFFFFF"/>
            </a:effectRef>
            <a:fontRef idx="minor">
              <a:sysClr val="window" lastClr="FFFFFF"/>
            </a:fontRef>
          </p:style>
          <p:txBody>
            <a:bodyPr rtlCol="0" anchor="ctr"/>
            <a:p>
              <a:pPr algn="ctr"/>
              <a:endParaRPr lang="zh-CN" altLang="en-US" sz="900">
                <a:solidFill>
                  <a:sysClr val="window" lastClr="FFFFFF"/>
                </a:solidFill>
              </a:endParaRPr>
            </a:p>
          </p:txBody>
        </p:sp>
      </p:grpSp>
      <p:grpSp>
        <p:nvGrpSpPr>
          <p:cNvPr id="71" name="组合 70"/>
          <p:cNvGrpSpPr/>
          <p:nvPr>
            <p:custDataLst>
              <p:tags r:id="rId6"/>
            </p:custDataLst>
          </p:nvPr>
        </p:nvGrpSpPr>
        <p:grpSpPr>
          <a:xfrm>
            <a:off x="758190" y="2262469"/>
            <a:ext cx="2744509" cy="403984"/>
            <a:chOff x="3275" y="7389"/>
            <a:chExt cx="8787" cy="1293"/>
          </a:xfrm>
        </p:grpSpPr>
        <p:sp>
          <p:nvSpPr>
            <p:cNvPr id="72" name="圆角矩形 14"/>
            <p:cNvSpPr/>
            <p:nvPr>
              <p:custDataLst>
                <p:tags r:id="rId7"/>
              </p:custDataLst>
            </p:nvPr>
          </p:nvSpPr>
          <p:spPr>
            <a:xfrm>
              <a:off x="3275" y="7497"/>
              <a:ext cx="8787" cy="1185"/>
            </a:xfrm>
            <a:prstGeom prst="roundRect">
              <a:avLst>
                <a:gd name="adj" fmla="val 15982"/>
              </a:avLst>
            </a:prstGeom>
            <a:solidFill>
              <a:srgbClr val="70AD47">
                <a:lumMod val="60000"/>
                <a:lumOff val="40000"/>
                <a:alpha val="12000"/>
              </a:srgbClr>
            </a:solidFill>
            <a:ln w="9525" cap="flat" cmpd="sng" algn="ctr">
              <a:gradFill>
                <a:gsLst>
                  <a:gs pos="100000">
                    <a:srgbClr val="70AD47">
                      <a:alpha val="15000"/>
                    </a:srgbClr>
                  </a:gs>
                  <a:gs pos="0">
                    <a:srgbClr val="70AD47">
                      <a:alpha val="60000"/>
                    </a:srgbClr>
                  </a:gs>
                </a:gsLst>
                <a:path path="circle">
                  <a:fillToRect l="50000" t="50000" r="50000" b="50000"/>
                </a:path>
                <a:tileRect/>
              </a:gradFill>
              <a:prstDash val="solid"/>
              <a:miter lim="800000"/>
            </a:ln>
            <a:effectLst>
              <a:outerShdw blurRad="444500" dist="38100" dir="2700000" algn="tl" rotWithShape="0">
                <a:prstClr val="black">
                  <a:alpha val="7000"/>
                </a:prstClr>
              </a:outerShdw>
            </a:effectLst>
          </p:spPr>
          <p:style>
            <a:lnRef idx="2">
              <a:srgbClr val="5B9BD5">
                <a:lumMod val="75000"/>
              </a:srgbClr>
            </a:lnRef>
            <a:fillRef idx="1">
              <a:srgbClr val="5B9BD5"/>
            </a:fillRef>
            <a:effectRef idx="0">
              <a:srgbClr val="FFFFFF"/>
            </a:effectRef>
            <a:fontRef idx="minor">
              <a:sysClr val="window" lastClr="FFFFFF"/>
            </a:fontRef>
          </p:style>
          <p:txBody>
            <a:bodyPr vertOverflow="overflow" horzOverflow="overflow" vert="horz" wrap="square" lIns="72072" tIns="0" rIns="72072" bIns="0" numCol="1" spcCol="0" rtlCol="0" fromWordArt="0" anchor="ctr" anchorCtr="0" forceAA="0" compatLnSpc="1">
              <a:noAutofit/>
            </a:bodyPr>
            <a:p>
              <a:pPr marL="230505" algn="l" rtl="0" eaLnBrk="0">
                <a:lnSpc>
                  <a:spcPct val="100000"/>
                </a:lnSpc>
                <a:spcBef>
                  <a:spcPts val="215"/>
                </a:spcBef>
              </a:pPr>
              <a:r>
                <a:rPr lang="zh-CN" sz="1000" b="1" spc="8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互联网资产漏洞优先防护，高效降低被利用风险</a:t>
              </a:r>
              <a:endParaRPr lang="zh-CN" sz="1000" b="1" spc="8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endParaRPr>
            </a:p>
          </p:txBody>
        </p:sp>
        <p:sp>
          <p:nvSpPr>
            <p:cNvPr id="73" name="圆角矩形 72"/>
            <p:cNvSpPr/>
            <p:nvPr>
              <p:custDataLst>
                <p:tags r:id="rId8"/>
              </p:custDataLst>
            </p:nvPr>
          </p:nvSpPr>
          <p:spPr>
            <a:xfrm>
              <a:off x="3636" y="7389"/>
              <a:ext cx="1108" cy="137"/>
            </a:xfrm>
            <a:prstGeom prst="roundRect">
              <a:avLst>
                <a:gd name="adj" fmla="val 50000"/>
              </a:avLst>
            </a:prstGeom>
            <a:gradFill>
              <a:gsLst>
                <a:gs pos="100000">
                  <a:srgbClr val="70AD47">
                    <a:lumMod val="60000"/>
                    <a:lumOff val="40000"/>
                    <a:alpha val="71000"/>
                  </a:srgbClr>
                </a:gs>
                <a:gs pos="0">
                  <a:srgbClr val="70AD47">
                    <a:alpha val="100000"/>
                  </a:srgbClr>
                </a:gs>
              </a:gsLst>
              <a:lin ang="0"/>
            </a:gradFill>
            <a:ln w="12700" cap="flat" cmpd="sng" algn="ctr">
              <a:noFill/>
              <a:prstDash val="solid"/>
              <a:miter lim="800000"/>
            </a:ln>
            <a:effectLst>
              <a:outerShdw blurRad="50800" dist="38100" dir="2700000" algn="tl" rotWithShape="0">
                <a:srgbClr val="70AD47">
                  <a:lumMod val="75000"/>
                  <a:alpha val="20000"/>
                </a:srgbClr>
              </a:outerShdw>
            </a:effectLst>
          </p:spPr>
          <p:style>
            <a:lnRef idx="2">
              <a:srgbClr val="5B9BD5">
                <a:lumMod val="75000"/>
              </a:srgbClr>
            </a:lnRef>
            <a:fillRef idx="1">
              <a:srgbClr val="5B9BD5"/>
            </a:fillRef>
            <a:effectRef idx="0">
              <a:srgbClr val="FFFFFF"/>
            </a:effectRef>
            <a:fontRef idx="minor">
              <a:sysClr val="window" lastClr="FFFFFF"/>
            </a:fontRef>
          </p:style>
          <p:txBody>
            <a:bodyPr rtlCol="0" anchor="ctr"/>
            <a:p>
              <a:pPr algn="ctr"/>
              <a:endParaRPr lang="zh-CN" altLang="en-US" sz="900">
                <a:solidFill>
                  <a:sysClr val="window" lastClr="FFFFFF"/>
                </a:solidFill>
              </a:endParaRPr>
            </a:p>
          </p:txBody>
        </p:sp>
      </p:grpSp>
      <p:grpSp>
        <p:nvGrpSpPr>
          <p:cNvPr id="74" name="组合 73"/>
          <p:cNvGrpSpPr/>
          <p:nvPr>
            <p:custDataLst>
              <p:tags r:id="rId9"/>
            </p:custDataLst>
          </p:nvPr>
        </p:nvGrpSpPr>
        <p:grpSpPr>
          <a:xfrm>
            <a:off x="759127" y="2784227"/>
            <a:ext cx="2744509" cy="398520"/>
            <a:chOff x="3275" y="9388"/>
            <a:chExt cx="8787" cy="1276"/>
          </a:xfrm>
        </p:grpSpPr>
        <p:sp>
          <p:nvSpPr>
            <p:cNvPr id="78" name="圆角矩形 14"/>
            <p:cNvSpPr/>
            <p:nvPr>
              <p:custDataLst>
                <p:tags r:id="rId10"/>
              </p:custDataLst>
            </p:nvPr>
          </p:nvSpPr>
          <p:spPr>
            <a:xfrm>
              <a:off x="3275" y="9479"/>
              <a:ext cx="8787" cy="1185"/>
            </a:xfrm>
            <a:prstGeom prst="roundRect">
              <a:avLst>
                <a:gd name="adj" fmla="val 15982"/>
              </a:avLst>
            </a:prstGeom>
            <a:solidFill>
              <a:srgbClr val="4472C4">
                <a:lumMod val="60000"/>
                <a:lumOff val="40000"/>
                <a:alpha val="12000"/>
              </a:srgbClr>
            </a:solidFill>
            <a:ln w="9525" cap="flat" cmpd="sng" algn="ctr">
              <a:gradFill>
                <a:gsLst>
                  <a:gs pos="100000">
                    <a:srgbClr val="4472C4">
                      <a:alpha val="15000"/>
                    </a:srgbClr>
                  </a:gs>
                  <a:gs pos="0">
                    <a:srgbClr val="4472C4">
                      <a:alpha val="60000"/>
                    </a:srgbClr>
                  </a:gs>
                </a:gsLst>
                <a:path path="circle">
                  <a:fillToRect l="50000" t="50000" r="50000" b="50000"/>
                </a:path>
                <a:tileRect/>
              </a:gradFill>
              <a:prstDash val="solid"/>
              <a:miter lim="800000"/>
            </a:ln>
            <a:effectLst>
              <a:outerShdw blurRad="444500" dist="38100" dir="2700000" algn="tl" rotWithShape="0">
                <a:prstClr val="black">
                  <a:alpha val="7000"/>
                </a:prstClr>
              </a:outerShdw>
            </a:effectLst>
          </p:spPr>
          <p:style>
            <a:lnRef idx="2">
              <a:srgbClr val="5B9BD5">
                <a:lumMod val="75000"/>
              </a:srgbClr>
            </a:lnRef>
            <a:fillRef idx="1">
              <a:srgbClr val="5B9BD5"/>
            </a:fillRef>
            <a:effectRef idx="0">
              <a:srgbClr val="FFFFFF"/>
            </a:effectRef>
            <a:fontRef idx="minor">
              <a:sysClr val="window" lastClr="FFFFFF"/>
            </a:fontRef>
          </p:style>
          <p:txBody>
            <a:bodyPr vertOverflow="overflow" horzOverflow="overflow" vert="horz" wrap="square" lIns="72072" tIns="0" rIns="72072" bIns="0" numCol="1" spcCol="0" rtlCol="0" fromWordArt="0" anchor="ctr" anchorCtr="0" forceAA="0" compatLnSpc="1">
              <a:noAutofit/>
            </a:bodyPr>
            <a:p>
              <a:pPr marL="238125" algn="l" rtl="0" eaLnBrk="0">
                <a:lnSpc>
                  <a:spcPct val="100000"/>
                </a:lnSpc>
                <a:spcBef>
                  <a:spcPts val="215"/>
                </a:spcBef>
              </a:pPr>
              <a:r>
                <a:rPr lang="zh-CN" sz="1000" b="1" spc="8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无法防护的可利用漏洞优先修复，精准定位修复对象</a:t>
              </a:r>
              <a:endParaRPr lang="zh-CN" sz="1000" b="1" spc="8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endParaRPr>
            </a:p>
          </p:txBody>
        </p:sp>
        <p:sp>
          <p:nvSpPr>
            <p:cNvPr id="80" name="圆角矩形 79"/>
            <p:cNvSpPr/>
            <p:nvPr>
              <p:custDataLst>
                <p:tags r:id="rId11"/>
              </p:custDataLst>
            </p:nvPr>
          </p:nvSpPr>
          <p:spPr>
            <a:xfrm>
              <a:off x="3636" y="9388"/>
              <a:ext cx="1108" cy="137"/>
            </a:xfrm>
            <a:prstGeom prst="roundRect">
              <a:avLst>
                <a:gd name="adj" fmla="val 50000"/>
              </a:avLst>
            </a:prstGeom>
            <a:gradFill>
              <a:gsLst>
                <a:gs pos="100000">
                  <a:srgbClr val="4472C4">
                    <a:lumMod val="60000"/>
                    <a:lumOff val="40000"/>
                    <a:alpha val="71000"/>
                  </a:srgbClr>
                </a:gs>
                <a:gs pos="0">
                  <a:srgbClr val="4472C4">
                    <a:alpha val="100000"/>
                  </a:srgbClr>
                </a:gs>
              </a:gsLst>
              <a:lin ang="0"/>
            </a:gradFill>
            <a:ln w="12700" cap="flat" cmpd="sng" algn="ctr">
              <a:noFill/>
              <a:prstDash val="solid"/>
              <a:miter lim="800000"/>
            </a:ln>
            <a:effectLst>
              <a:outerShdw blurRad="50800" dist="38100" dir="2700000" algn="tl" rotWithShape="0">
                <a:srgbClr val="4472C4">
                  <a:lumMod val="75000"/>
                  <a:alpha val="20000"/>
                </a:srgbClr>
              </a:outerShdw>
            </a:effectLst>
          </p:spPr>
          <p:style>
            <a:lnRef idx="2">
              <a:srgbClr val="5B9BD5">
                <a:lumMod val="75000"/>
              </a:srgbClr>
            </a:lnRef>
            <a:fillRef idx="1">
              <a:srgbClr val="5B9BD5"/>
            </a:fillRef>
            <a:effectRef idx="0">
              <a:srgbClr val="FFFFFF"/>
            </a:effectRef>
            <a:fontRef idx="minor">
              <a:sysClr val="window" lastClr="FFFFFF"/>
            </a:fontRef>
          </p:style>
          <p:txBody>
            <a:bodyPr rtlCol="0" anchor="ctr"/>
            <a:p>
              <a:pPr algn="ctr"/>
              <a:endParaRPr lang="zh-CN" altLang="en-US" sz="900">
                <a:solidFill>
                  <a:sysClr val="window" lastClr="FFFFFF"/>
                </a:solidFill>
              </a:endParaRPr>
            </a:p>
          </p:txBody>
        </p:sp>
      </p:grpSp>
      <p:grpSp>
        <p:nvGrpSpPr>
          <p:cNvPr id="82" name="组合 81"/>
          <p:cNvGrpSpPr/>
          <p:nvPr>
            <p:custDataLst>
              <p:tags r:id="rId12"/>
            </p:custDataLst>
          </p:nvPr>
        </p:nvGrpSpPr>
        <p:grpSpPr>
          <a:xfrm>
            <a:off x="758190" y="3300387"/>
            <a:ext cx="2744509" cy="374916"/>
            <a:chOff x="3275" y="11370"/>
            <a:chExt cx="8787" cy="1200"/>
          </a:xfrm>
        </p:grpSpPr>
        <p:sp>
          <p:nvSpPr>
            <p:cNvPr id="84" name="圆角矩形 14"/>
            <p:cNvSpPr/>
            <p:nvPr>
              <p:custDataLst>
                <p:tags r:id="rId13"/>
              </p:custDataLst>
            </p:nvPr>
          </p:nvSpPr>
          <p:spPr>
            <a:xfrm>
              <a:off x="3275" y="11442"/>
              <a:ext cx="8787" cy="1128"/>
            </a:xfrm>
            <a:prstGeom prst="roundRect">
              <a:avLst>
                <a:gd name="adj" fmla="val 15982"/>
              </a:avLst>
            </a:prstGeom>
            <a:solidFill>
              <a:srgbClr val="70AD47">
                <a:lumMod val="60000"/>
                <a:lumOff val="40000"/>
                <a:alpha val="12000"/>
              </a:srgbClr>
            </a:solidFill>
            <a:ln w="9525" cap="flat" cmpd="sng" algn="ctr">
              <a:gradFill>
                <a:gsLst>
                  <a:gs pos="100000">
                    <a:srgbClr val="70AD47">
                      <a:alpha val="15000"/>
                    </a:srgbClr>
                  </a:gs>
                  <a:gs pos="0">
                    <a:srgbClr val="70AD47">
                      <a:alpha val="60000"/>
                    </a:srgbClr>
                  </a:gs>
                </a:gsLst>
                <a:path path="circle">
                  <a:fillToRect l="50000" t="50000" r="50000" b="50000"/>
                </a:path>
                <a:tileRect/>
              </a:gradFill>
              <a:prstDash val="solid"/>
              <a:miter lim="800000"/>
            </a:ln>
            <a:effectLst>
              <a:outerShdw blurRad="444500" dist="38100" dir="2700000" algn="tl" rotWithShape="0">
                <a:prstClr val="black">
                  <a:alpha val="7000"/>
                </a:prstClr>
              </a:outerShdw>
            </a:effectLst>
          </p:spPr>
          <p:style>
            <a:lnRef idx="2">
              <a:srgbClr val="5B9BD5">
                <a:lumMod val="75000"/>
              </a:srgbClr>
            </a:lnRef>
            <a:fillRef idx="1">
              <a:srgbClr val="5B9BD5"/>
            </a:fillRef>
            <a:effectRef idx="0">
              <a:srgbClr val="FFFFFF"/>
            </a:effectRef>
            <a:fontRef idx="minor">
              <a:sysClr val="window" lastClr="FFFFFF"/>
            </a:fontRef>
          </p:style>
          <p:txBody>
            <a:bodyPr vertOverflow="overflow" horzOverflow="overflow" vert="horz" wrap="square" lIns="72072" tIns="0" rIns="72072" bIns="0" numCol="1" spcCol="0" rtlCol="0" fromWordArt="0" anchor="ctr" anchorCtr="0" forceAA="0" compatLnSpc="1">
              <a:noAutofit/>
            </a:bodyPr>
            <a:p>
              <a:pPr marL="231775" algn="l" rtl="0" eaLnBrk="0">
                <a:lnSpc>
                  <a:spcPct val="100000"/>
                </a:lnSpc>
                <a:spcBef>
                  <a:spcPts val="220"/>
                </a:spcBef>
              </a:pPr>
              <a:r>
                <a:rPr lang="zh-CN" sz="1000" b="1" spc="5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关联威胁监测，无法修复的漏洞一旦发生被利用可快速发现和遏制</a:t>
              </a:r>
              <a:endParaRPr lang="zh-CN" sz="1000" b="1" spc="5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endParaRPr>
            </a:p>
          </p:txBody>
        </p:sp>
        <p:sp>
          <p:nvSpPr>
            <p:cNvPr id="88" name="圆角矩形 87"/>
            <p:cNvSpPr/>
            <p:nvPr>
              <p:custDataLst>
                <p:tags r:id="rId14"/>
              </p:custDataLst>
            </p:nvPr>
          </p:nvSpPr>
          <p:spPr>
            <a:xfrm>
              <a:off x="3636" y="11370"/>
              <a:ext cx="1108" cy="137"/>
            </a:xfrm>
            <a:prstGeom prst="roundRect">
              <a:avLst>
                <a:gd name="adj" fmla="val 50000"/>
              </a:avLst>
            </a:prstGeom>
            <a:gradFill>
              <a:gsLst>
                <a:gs pos="100000">
                  <a:srgbClr val="70AD47">
                    <a:lumMod val="60000"/>
                    <a:lumOff val="40000"/>
                    <a:alpha val="71000"/>
                  </a:srgbClr>
                </a:gs>
                <a:gs pos="0">
                  <a:srgbClr val="70AD47">
                    <a:alpha val="100000"/>
                  </a:srgbClr>
                </a:gs>
              </a:gsLst>
              <a:lin ang="0"/>
            </a:gradFill>
            <a:ln w="12700" cap="flat" cmpd="sng" algn="ctr">
              <a:noFill/>
              <a:prstDash val="solid"/>
              <a:miter lim="800000"/>
            </a:ln>
            <a:effectLst>
              <a:outerShdw blurRad="50800" dist="38100" dir="2700000" algn="tl" rotWithShape="0">
                <a:srgbClr val="70AD47">
                  <a:lumMod val="75000"/>
                  <a:alpha val="20000"/>
                </a:srgbClr>
              </a:outerShdw>
            </a:effectLst>
          </p:spPr>
          <p:style>
            <a:lnRef idx="2">
              <a:srgbClr val="5B9BD5">
                <a:lumMod val="75000"/>
              </a:srgbClr>
            </a:lnRef>
            <a:fillRef idx="1">
              <a:srgbClr val="5B9BD5"/>
            </a:fillRef>
            <a:effectRef idx="0">
              <a:srgbClr val="FFFFFF"/>
            </a:effectRef>
            <a:fontRef idx="minor">
              <a:sysClr val="window" lastClr="FFFFFF"/>
            </a:fontRef>
          </p:style>
          <p:txBody>
            <a:bodyPr rtlCol="0" anchor="ctr"/>
            <a:p>
              <a:pPr algn="ctr"/>
              <a:endParaRPr lang="zh-CN" altLang="en-US" sz="900">
                <a:solidFill>
                  <a:sysClr val="window" lastClr="FFFFFF"/>
                </a:solidFill>
              </a:endParaRPr>
            </a:p>
          </p:txBody>
        </p:sp>
      </p:grpSp>
      <p:sp>
        <p:nvSpPr>
          <p:cNvPr id="115" name="文本框 114"/>
          <p:cNvSpPr txBox="1"/>
          <p:nvPr/>
        </p:nvSpPr>
        <p:spPr>
          <a:xfrm>
            <a:off x="648335" y="6067425"/>
            <a:ext cx="10999470" cy="617855"/>
          </a:xfrm>
          <a:prstGeom prst="rect">
            <a:avLst/>
          </a:prstGeom>
          <a:solidFill>
            <a:sysClr val="window" lastClr="FFFFFF">
              <a:lumMod val="95000"/>
            </a:sysClr>
          </a:solidFill>
        </p:spPr>
        <p:txBody>
          <a:bodyPr wrap="square" rtlCol="0">
            <a:noAutofit/>
          </a:bodyPr>
          <a:p>
            <a:endParaRPr lang="zh-CN" altLang="en-US" sz="2400"/>
          </a:p>
        </p:txBody>
      </p:sp>
      <p:sp>
        <p:nvSpPr>
          <p:cNvPr id="122" name="文本框 121"/>
          <p:cNvSpPr txBox="1"/>
          <p:nvPr/>
        </p:nvSpPr>
        <p:spPr>
          <a:xfrm>
            <a:off x="871855" y="6087745"/>
            <a:ext cx="10774680" cy="600075"/>
          </a:xfrm>
          <a:prstGeom prst="rect">
            <a:avLst/>
          </a:prstGeom>
          <a:noFill/>
        </p:spPr>
        <p:txBody>
          <a:bodyPr wrap="square" rtlCol="0" anchor="t">
            <a:noAutofit/>
          </a:bodyPr>
          <a:p>
            <a:pPr marL="133350" algn="l" rtl="0" eaLnBrk="0">
              <a:lnSpc>
                <a:spcPct val="150000"/>
              </a:lnSpc>
              <a:spcBef>
                <a:spcPts val="5"/>
              </a:spcBef>
            </a:pPr>
            <a:r>
              <a:rPr lang="zh-CN" sz="1000" spc="20" dirty="0">
                <a:solidFill>
                  <a:srgbClr val="204090">
                    <a:alpha val="100000"/>
                  </a:srgbClr>
                </a:solidFill>
                <a:latin typeface="黑体" panose="02010609060101010101" charset="-122"/>
                <a:ea typeface="黑体" panose="02010609060101010101" charset="-122"/>
                <a:cs typeface="黑体" panose="02010609060101010101" charset="-122"/>
                <a:sym typeface="+mn-ea"/>
              </a:rPr>
              <a:t>风险预防总结</a:t>
            </a:r>
            <a:r>
              <a:rPr sz="100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lang="zh-CN" altLang="en-US"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开展</a:t>
            </a: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{{vulnerability_scan_count}</a:t>
            </a: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漏洞扫描，提前发现并修复高风险漏洞，通过端、边分层防护，阻断潜在攻击路径，对未发生漏洞利用成功事件起到了先决的支撑</a:t>
            </a:r>
            <a:r>
              <a:rPr lang="zh-CN" altLang="en-US"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作用；</a:t>
            </a:r>
            <a:r>
              <a:rPr sz="100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通过</a:t>
            </a:r>
            <a:r>
              <a:rPr lang="zh-CN" sz="100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持续的漏洞闭环管理</a:t>
            </a:r>
            <a:r>
              <a:rPr sz="100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支撑合规自查，降低监管通报风</a:t>
            </a:r>
            <a:r>
              <a:rPr sz="1000" dirty="0">
                <a:solidFill>
                  <a:srgbClr val="000000">
                    <a:alpha val="100000"/>
                  </a:srgbClr>
                </a:solidFill>
                <a:latin typeface="黑体" panose="02010609060101010101" charset="-122"/>
                <a:ea typeface="黑体" panose="02010609060101010101" charset="-122"/>
                <a:cs typeface="黑体" panose="02010609060101010101" charset="-122"/>
                <a:sym typeface="+mn-ea"/>
              </a:rPr>
              <a:t>险，避免</a:t>
            </a:r>
            <a:r>
              <a:rPr lang="zh-CN" sz="1000" dirty="0">
                <a:solidFill>
                  <a:srgbClr val="000000">
                    <a:alpha val="100000"/>
                  </a:srgbClr>
                </a:solidFill>
                <a:latin typeface="黑体" panose="02010609060101010101" charset="-122"/>
                <a:ea typeface="黑体" panose="02010609060101010101" charset="-122"/>
                <a:cs typeface="黑体" panose="02010609060101010101" charset="-122"/>
                <a:sym typeface="+mn-ea"/>
              </a:rPr>
              <a:t>了企业</a:t>
            </a:r>
            <a:r>
              <a:rPr sz="1000" dirty="0">
                <a:solidFill>
                  <a:srgbClr val="000000">
                    <a:alpha val="100000"/>
                  </a:srgbClr>
                </a:solidFill>
                <a:latin typeface="黑体" panose="02010609060101010101" charset="-122"/>
                <a:ea typeface="黑体" panose="02010609060101010101" charset="-122"/>
                <a:cs typeface="黑体" panose="02010609060101010101" charset="-122"/>
                <a:sym typeface="+mn-ea"/>
              </a:rPr>
              <a:t>声誉受损</a:t>
            </a:r>
            <a:r>
              <a:rPr lang="zh-CN" sz="100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endPar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58" name="文本框 57"/>
          <p:cNvSpPr txBox="1"/>
          <p:nvPr/>
        </p:nvSpPr>
        <p:spPr>
          <a:xfrm>
            <a:off x="647700" y="3895090"/>
            <a:ext cx="1506220" cy="22225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algn="l" rtl="0" eaLnBrk="0">
              <a:lnSpc>
                <a:spcPct val="80000"/>
              </a:lnSpc>
            </a:pPr>
            <a:r>
              <a:rPr lang="zh-CN" sz="1400" b="1" spc="-60" dirty="0">
                <a:solidFill>
                  <a:srgbClr val="204090">
                    <a:alpha val="100000"/>
                  </a:srgbClr>
                </a:solidFill>
                <a:latin typeface="Arial" panose="020B0604020202020204" pitchFamily="34" charset="0"/>
                <a:ea typeface="黑体-简" panose="02000000000000000000" charset="-122"/>
                <a:cs typeface="黑体" panose="02010609060101010101" charset="-122"/>
                <a:sym typeface="+mn-ea"/>
              </a:rPr>
              <a:t>漏洞类型分布</a:t>
            </a:r>
            <a:endParaRPr kumimoji="0" lang="zh-CN" altLang="en-US" sz="1400" b="1" i="0" u="none" strike="noStrike" cap="none" spc="-60" normalizeH="0" baseline="0" dirty="0">
              <a:ln>
                <a:noFill/>
              </a:ln>
              <a:solidFill>
                <a:srgbClr val="204090">
                  <a:alpha val="100000"/>
                </a:srgbClr>
              </a:solidFill>
              <a:effectLst/>
              <a:uFillTx/>
              <a:latin typeface="Arial" panose="020B0604020202020204" pitchFamily="34" charset="0"/>
              <a:ea typeface="黑体-简" panose="02000000000000000000" charset="-122"/>
              <a:cs typeface="黑体" panose="02010609060101010101" charset="-122"/>
              <a:sym typeface="+mn-ea"/>
            </a:endParaRPr>
          </a:p>
        </p:txBody>
      </p:sp>
      <p:graphicFrame>
        <p:nvGraphicFramePr>
          <p:cNvPr id="5" name="图表 4" descr="7b0a202020202263686172745265734964223a20223230323931393734220a7d0a"/>
          <p:cNvGraphicFramePr/>
          <p:nvPr/>
        </p:nvGraphicFramePr>
        <p:xfrm>
          <a:off x="647700" y="4129723"/>
          <a:ext cx="3010535" cy="1836420"/>
        </p:xfrm>
        <a:graphic>
          <a:graphicData uri="http://schemas.openxmlformats.org/drawingml/2006/chart">
            <c:chart xmlns:c="http://schemas.openxmlformats.org/drawingml/2006/chart" xmlns:r="http://schemas.openxmlformats.org/officeDocument/2006/relationships" r:id="rId1"/>
          </a:graphicData>
        </a:graphic>
      </p:graphicFrame>
      <p:pic>
        <p:nvPicPr>
          <p:cNvPr id="2" name="图片 1" descr="深信服 + 智安全"/>
          <p:cNvPicPr>
            <a:picLocks noChangeAspect="1"/>
          </p:cNvPicPr>
          <p:nvPr/>
        </p:nvPicPr>
        <p:blipFill>
          <a:blip r:embed="rId15"/>
          <a:srcRect l="5232" t="26576" r="4938" b="29565"/>
          <a:stretch>
            <a:fillRect/>
          </a:stretch>
        </p:blipFill>
        <p:spPr>
          <a:xfrm>
            <a:off x="10017125" y="238760"/>
            <a:ext cx="1629867" cy="360000"/>
          </a:xfrm>
          <a:prstGeom prst="rect">
            <a:avLst/>
          </a:prstGeom>
        </p:spPr>
      </p:pic>
      <p:sp>
        <p:nvSpPr>
          <p:cNvPr id="10" name="文本框 9"/>
          <p:cNvSpPr txBox="1"/>
          <p:nvPr/>
        </p:nvSpPr>
        <p:spPr>
          <a:xfrm>
            <a:off x="3850640" y="2713355"/>
            <a:ext cx="7796530" cy="1087755"/>
          </a:xfrm>
          <a:prstGeom prst="rect">
            <a:avLst/>
          </a:prstGeom>
          <a:solidFill>
            <a:srgbClr val="EAEEF1"/>
          </a:solidFill>
        </p:spPr>
        <p:txBody>
          <a:bodyPr wrap="square" rtlCol="0" anchor="t">
            <a:noAutofit/>
          </a:bodyPr>
          <a:p>
            <a:pPr marL="11430" algn="l" rtl="0" eaLnBrk="0">
              <a:lnSpc>
                <a:spcPct val="99000"/>
              </a:lnSpc>
            </a:pPr>
            <a:endParaRPr lang="zh-CN" sz="90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51" name="Text 2"/>
          <p:cNvSpPr/>
          <p:nvPr/>
        </p:nvSpPr>
        <p:spPr>
          <a:xfrm>
            <a:off x="3948430" y="2794000"/>
            <a:ext cx="7519035" cy="949325"/>
          </a:xfrm>
          <a:prstGeom prst="rect">
            <a:avLst/>
          </a:prstGeom>
          <a:noFill/>
        </p:spPr>
        <p:txBody>
          <a:bodyPr wrap="square" lIns="0" tIns="0" rIns="0" bIns="0" rtlCol="0" anchor="t"/>
          <a:p>
            <a:pPr marL="101600" indent="-101600" algn="l">
              <a:lnSpc>
                <a:spcPct val="150000"/>
              </a:lnSpc>
              <a:buSzPct val="100000"/>
              <a:buChar char="•"/>
            </a:pPr>
            <a:r>
              <a:rPr lang="zh-CN" altLang="en-US" sz="1000" b="1" dirty="0">
                <a:solidFill>
                  <a:srgbClr val="14161A"/>
                </a:solidFill>
                <a:latin typeface="Arial" panose="020B0604020202020204" pitchFamily="34" charset="0"/>
                <a:ea typeface="黑体-简" panose="02000000000000000000" charset="-122"/>
                <a:cs typeface="微软雅黑" panose="020B0503020204020204" pitchFamily="34" charset="-120"/>
              </a:rPr>
              <a:t>暴露面风险：</a:t>
            </a: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rPr>
              <a:t>对</a:t>
            </a:r>
            <a:r>
              <a:rPr lang="zh-CN" altLang="en-US" sz="1000" dirty="0">
                <a:solidFill>
                  <a:schemeClr val="tx1"/>
                </a:solidFill>
                <a:latin typeface="Arial" panose="020B0604020202020204" pitchFamily="34" charset="0"/>
                <a:ea typeface="黑体-简" panose="02000000000000000000" charset="-122"/>
                <a:cs typeface="微软雅黑" panose="020B0503020204020204" pitchFamily="34" charset="-120"/>
                <a:sym typeface="+mn-ea"/>
              </a:rPr>
              <a:t>互联网</a:t>
            </a:r>
            <a:r>
              <a:rPr lang="zh-CN" altLang="en-US" sz="1000" dirty="0">
                <a:solidFill>
                  <a:schemeClr val="tx1"/>
                </a:solidFill>
                <a:latin typeface="Arial" panose="020B0604020202020204" pitchFamily="34" charset="0"/>
                <a:ea typeface="黑体-简" panose="02000000000000000000" charset="-122"/>
                <a:cs typeface="微软雅黑" panose="020B0503020204020204" pitchFamily="34" charset="-120"/>
              </a:rPr>
              <a:t>暴</a:t>
            </a: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rPr>
              <a:t>露面进行扫描，总共发现开放的互联网</a:t>
            </a:r>
            <a:r>
              <a:rPr lang="en-US" altLang="zh-CN" sz="1000" dirty="0">
                <a:solidFill>
                  <a:srgbClr val="14161A"/>
                </a:solidFill>
                <a:latin typeface="Arial" panose="020B0604020202020204" pitchFamily="34" charset="0"/>
                <a:ea typeface="黑体-简" panose="02000000000000000000" charset="-122"/>
                <a:cs typeface="微软雅黑" panose="020B0503020204020204" pitchFamily="34" charset="-120"/>
              </a:rPr>
              <a:t>IP</a:t>
            </a:r>
            <a:r>
              <a:rPr lang="en-US" altLang="zh-CN" sz="1000" dirty="0">
                <a:solidFill>
                  <a:srgbClr val="4C61E7"/>
                </a:solidFill>
                <a:latin typeface="Arial" panose="020B0604020202020204" pitchFamily="34" charset="0"/>
                <a:ea typeface="黑体-简" panose="02000000000000000000" charset="-122"/>
                <a:cs typeface="微软雅黑" panose="020B0503020204020204" pitchFamily="34" charset="-120"/>
              </a:rPr>
              <a:t>{{internet_ip_count}}</a:t>
            </a: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rPr>
              <a:t>个，可访问端口</a:t>
            </a:r>
            <a:r>
              <a:rPr lang="en-US" altLang="zh-CN" sz="1000" dirty="0">
                <a:solidFill>
                  <a:srgbClr val="14161A"/>
                </a:solidFill>
                <a:latin typeface="Arial" panose="020B0604020202020204" pitchFamily="34" charset="0"/>
                <a:ea typeface="黑体-简" panose="02000000000000000000" charset="-122"/>
                <a:cs typeface="微软雅黑" panose="020B0503020204020204" pitchFamily="34" charset="-120"/>
              </a:rPr>
              <a:t>{</a:t>
            </a:r>
            <a:r>
              <a:rPr lang="en-US" altLang="zh-CN" sz="1000" dirty="0">
                <a:solidFill>
                  <a:srgbClr val="4C61E7"/>
                </a:solidFill>
                <a:latin typeface="Arial" panose="020B0604020202020204" pitchFamily="34" charset="0"/>
                <a:ea typeface="黑体-简" panose="02000000000000000000" charset="-122"/>
                <a:cs typeface="微软雅黑" panose="020B0503020204020204" pitchFamily="34" charset="-120"/>
              </a:rPr>
              <a:t>{internet_port_count}}</a:t>
            </a: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rPr>
              <a:t>个；其中高危端口开放</a:t>
            </a:r>
            <a:r>
              <a:rPr lang="en-US" altLang="zh-CN" sz="1000" dirty="0">
                <a:solidFill>
                  <a:srgbClr val="4C61E7"/>
                </a:solidFill>
                <a:latin typeface="Arial" panose="020B0604020202020204" pitchFamily="34" charset="0"/>
                <a:ea typeface="黑体-简" panose="02000000000000000000" charset="-122"/>
                <a:cs typeface="微软雅黑" panose="020B0503020204020204" pitchFamily="34" charset="-120"/>
              </a:rPr>
              <a:t>{{exposed_risk_port_count}}</a:t>
            </a: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rPr>
              <a:t>个，高危可利用漏洞</a:t>
            </a:r>
            <a:r>
              <a:rPr lang="en-US" altLang="zh-CN" sz="1000" dirty="0">
                <a:solidFill>
                  <a:srgbClr val="4C61E7"/>
                </a:solidFill>
                <a:latin typeface="Arial" panose="020B0604020202020204" pitchFamily="34" charset="0"/>
                <a:ea typeface="黑体-简" panose="02000000000000000000" charset="-122"/>
                <a:cs typeface="微软雅黑" panose="020B0503020204020204" pitchFamily="34" charset="-120"/>
              </a:rPr>
              <a:t>{{external_network_asset_vulnerability_count}}</a:t>
            </a: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rPr>
              <a:t>个</a:t>
            </a: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a:t>
            </a:r>
            <a:endPar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sym typeface="+mn-ea"/>
            </a:endParaRPr>
          </a:p>
          <a:p>
            <a:pPr marL="101600" indent="-101600" algn="l">
              <a:lnSpc>
                <a:spcPct val="150000"/>
              </a:lnSpc>
              <a:buSzPct val="100000"/>
              <a:buChar char="•"/>
            </a:pPr>
            <a:r>
              <a:rPr lang="zh-CN" altLang="en-US" sz="1000" b="1"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内网漏洞风险梳理</a:t>
            </a: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：未对互联网映射的服务器网段识别到</a:t>
            </a:r>
            <a:r>
              <a:rPr lang="en-US" sz="1000" dirty="0">
                <a:solidFill>
                  <a:srgbClr val="365FD9"/>
                </a:solidFill>
                <a:latin typeface="Arial" panose="020B0604020202020204" pitchFamily="34" charset="0"/>
                <a:ea typeface="黑体-简" panose="02000000000000000000" charset="-122"/>
                <a:cs typeface="微软雅黑" panose="020B0503020204020204" pitchFamily="34" charset="-120"/>
                <a:sym typeface="+mn-ea"/>
              </a:rPr>
              <a:t> </a:t>
            </a:r>
            <a:r>
              <a:rPr lang="en-US" altLang="zh-CN" sz="1000" dirty="0">
                <a:solidFill>
                  <a:srgbClr val="4C61E7"/>
                </a:solidFill>
                <a:latin typeface="Arial" panose="020B0604020202020204" pitchFamily="34" charset="0"/>
                <a:ea typeface="黑体-简" panose="02000000000000000000" charset="-122"/>
                <a:cs typeface="微软雅黑" panose="020B0503020204020204" pitchFamily="34" charset="-120"/>
                <a:sym typeface="+mn-ea"/>
              </a:rPr>
              <a:t>{{server_asset_count}}</a:t>
            </a:r>
            <a:r>
              <a:rPr lang="en-US" sz="100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个</a:t>
            </a: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存活资产</a:t>
            </a:r>
            <a:r>
              <a:rPr lang="en-US" sz="100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a:t>
            </a: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对托管服务范围内的</a:t>
            </a:r>
            <a:r>
              <a:rPr lang="en-US" altLang="zh-CN" sz="1000" dirty="0">
                <a:solidFill>
                  <a:srgbClr val="4C61E7"/>
                </a:solidFill>
                <a:latin typeface="Arial" panose="020B0604020202020204" pitchFamily="34" charset="0"/>
                <a:ea typeface="黑体-简" panose="02000000000000000000" charset="-122"/>
                <a:cs typeface="微软雅黑" panose="020B0503020204020204" pitchFamily="34" charset="-120"/>
                <a:sym typeface="+mn-ea"/>
              </a:rPr>
              <a:t>{{mss_service_asset_count}}</a:t>
            </a: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个服务器识别到</a:t>
            </a:r>
            <a:r>
              <a:rPr lang="en-US" altLang="zh-CN" sz="1000" dirty="0">
                <a:solidFill>
                  <a:srgbClr val="4C61E7"/>
                </a:solidFill>
                <a:latin typeface="Arial" panose="020B0604020202020204" pitchFamily="34" charset="0"/>
                <a:ea typeface="黑体-简" panose="02000000000000000000" charset="-122"/>
                <a:cs typeface="微软雅黑" panose="020B0503020204020204" pitchFamily="34" charset="-120"/>
                <a:sym typeface="+mn-ea"/>
              </a:rPr>
              <a:t>{{total_vulnerability_count}}</a:t>
            </a: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个安全漏洞，累计已防护</a:t>
            </a:r>
            <a:r>
              <a:rPr lang="en-US" altLang="zh-CN" sz="1000" dirty="0">
                <a:solidFill>
                  <a:srgbClr val="4C61E7"/>
                </a:solidFill>
                <a:latin typeface="Arial" panose="020B0604020202020204" pitchFamily="34" charset="0"/>
                <a:ea typeface="黑体-简" panose="02000000000000000000" charset="-122"/>
                <a:cs typeface="微软雅黑" panose="020B0503020204020204" pitchFamily="34" charset="-120"/>
                <a:sym typeface="+mn-ea"/>
              </a:rPr>
              <a:t>{{protected_vulnerability_count}}</a:t>
            </a: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个安全漏洞，已修复</a:t>
            </a:r>
            <a:r>
              <a:rPr lang="en-US" altLang="zh-CN" sz="1000" dirty="0">
                <a:solidFill>
                  <a:srgbClr val="4C61E7"/>
                </a:solidFill>
                <a:latin typeface="Arial" panose="020B0604020202020204" pitchFamily="34" charset="0"/>
                <a:ea typeface="黑体-简" panose="02000000000000000000" charset="-122"/>
                <a:cs typeface="微软雅黑" panose="020B0503020204020204" pitchFamily="34" charset="-120"/>
                <a:sym typeface="+mn-ea"/>
              </a:rPr>
              <a:t>{{fixed_vulnerability_count}}</a:t>
            </a: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个安全漏洞；</a:t>
            </a:r>
            <a:endPar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endParaRPr>
          </a:p>
          <a:p>
            <a:pPr marL="101600" indent="-101600" algn="l">
              <a:lnSpc>
                <a:spcPct val="150000"/>
              </a:lnSpc>
              <a:buSzPct val="100000"/>
              <a:buChar char="•"/>
            </a:pPr>
            <a:endPar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endParaRPr>
          </a:p>
        </p:txBody>
      </p:sp>
      <p:sp>
        <p:nvSpPr>
          <p:cNvPr id="4" name="文本框 3"/>
          <p:cNvSpPr txBox="1"/>
          <p:nvPr/>
        </p:nvSpPr>
        <p:spPr>
          <a:xfrm>
            <a:off x="4023360" y="3896995"/>
            <a:ext cx="1506220" cy="22225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algn="l" rtl="0" eaLnBrk="0">
              <a:lnSpc>
                <a:spcPct val="80000"/>
              </a:lnSpc>
            </a:pPr>
            <a:r>
              <a:rPr lang="zh-CN" sz="1400" b="1" spc="-60" dirty="0">
                <a:solidFill>
                  <a:srgbClr val="204090">
                    <a:alpha val="100000"/>
                  </a:srgbClr>
                </a:solidFill>
                <a:latin typeface="Arial" panose="020B0604020202020204" pitchFamily="34" charset="0"/>
                <a:ea typeface="黑体-简" panose="02000000000000000000" charset="-122"/>
                <a:cs typeface="黑体" panose="02010609060101010101" charset="-122"/>
                <a:sym typeface="+mn-ea"/>
              </a:rPr>
              <a:t>漏洞风险趋势</a:t>
            </a:r>
            <a:endParaRPr lang="zh-CN" sz="1400" b="1" spc="-60" dirty="0">
              <a:solidFill>
                <a:srgbClr val="204090">
                  <a:alpha val="100000"/>
                </a:srgbClr>
              </a:solidFill>
              <a:latin typeface="Arial" panose="020B0604020202020204" pitchFamily="34" charset="0"/>
              <a:ea typeface="黑体-简" panose="02000000000000000000" charset="-122"/>
              <a:cs typeface="黑体" panose="02010609060101010101" charset="-122"/>
              <a:sym typeface="+mn-ea"/>
            </a:endParaRPr>
          </a:p>
        </p:txBody>
      </p:sp>
      <p:graphicFrame>
        <p:nvGraphicFramePr>
          <p:cNvPr id="9" name="图表 8"/>
          <p:cNvGraphicFramePr/>
          <p:nvPr/>
        </p:nvGraphicFramePr>
        <p:xfrm>
          <a:off x="3848735" y="4180205"/>
          <a:ext cx="7797165" cy="1779905"/>
        </p:xfrm>
        <a:graphic>
          <a:graphicData uri="http://schemas.openxmlformats.org/drawingml/2006/chart">
            <c:chart xmlns:c="http://schemas.openxmlformats.org/drawingml/2006/chart" xmlns:r="http://schemas.openxmlformats.org/officeDocument/2006/relationships" r:id="rId2"/>
          </a:graphicData>
        </a:graphic>
      </p:graphicFrame>
      <p:sp>
        <p:nvSpPr>
          <p:cNvPr id="15" name="文本框 14"/>
          <p:cNvSpPr txBox="1"/>
          <p:nvPr/>
        </p:nvSpPr>
        <p:spPr>
          <a:xfrm>
            <a:off x="701040" y="4262755"/>
            <a:ext cx="6096000" cy="368300"/>
          </a:xfrm>
          <a:prstGeom prst="rect">
            <a:avLst/>
          </a:prstGeom>
          <a:noFill/>
        </p:spPr>
        <p:txBody>
          <a:bodyPr wrap="square" rtlCol="0" anchor="t">
            <a:spAutoFit/>
          </a:bodyPr>
          <a:p>
            <a:r>
              <a:rPr lang="zh-CN" altLang="en-US">
                <a:sym typeface="+mn-ea"/>
              </a:rPr>
              <a:t>{{</a:t>
            </a:r>
            <a:r>
              <a:rPr lang="en-US" altLang="zh-CN">
                <a:sym typeface="+mn-ea"/>
              </a:rPr>
              <a:t>P29_pie</a:t>
            </a:r>
            <a:r>
              <a:rPr lang="zh-CN" altLang="en-US">
                <a:sym typeface="+mn-ea"/>
              </a:rPr>
              <a:t>}}</a:t>
            </a:r>
            <a:endParaRPr lang="zh-CN" altLang="en-US">
              <a:sym typeface="+mn-ea"/>
            </a:endParaRPr>
          </a:p>
        </p:txBody>
      </p:sp>
      <p:grpSp>
        <p:nvGrpSpPr>
          <p:cNvPr id="36" name="组合 35"/>
          <p:cNvGrpSpPr/>
          <p:nvPr/>
        </p:nvGrpSpPr>
        <p:grpSpPr>
          <a:xfrm>
            <a:off x="3930650" y="1732915"/>
            <a:ext cx="1896745" cy="688340"/>
            <a:chOff x="12788" y="6575"/>
            <a:chExt cx="5974" cy="2168"/>
          </a:xfrm>
        </p:grpSpPr>
        <p:sp>
          <p:nvSpPr>
            <p:cNvPr id="37" name="文本框 36"/>
            <p:cNvSpPr txBox="1"/>
            <p:nvPr/>
          </p:nvSpPr>
          <p:spPr>
            <a:xfrm>
              <a:off x="13504" y="6575"/>
              <a:ext cx="4499" cy="567"/>
            </a:xfrm>
            <a:prstGeom prst="rect">
              <a:avLst/>
            </a:prstGeom>
            <a:noFill/>
          </p:spPr>
          <p:txBody>
            <a:bodyPr wrap="square" rtlCol="0" anchor="ctr" anchorCtr="0">
              <a:noAutofit/>
            </a:bodyPr>
            <a:p>
              <a:pPr algn="ctr" rtl="0" eaLnBrk="0">
                <a:lnSpc>
                  <a:spcPct val="127000"/>
                </a:lnSpc>
              </a:pPr>
              <a:r>
                <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高危可利用漏洞</a:t>
              </a:r>
              <a:r>
                <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分析</a:t>
              </a:r>
              <a:endPar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38" name="文本框 37"/>
            <p:cNvSpPr txBox="1"/>
            <p:nvPr/>
          </p:nvSpPr>
          <p:spPr>
            <a:xfrm>
              <a:off x="12788" y="7483"/>
              <a:ext cx="5974" cy="984"/>
            </a:xfrm>
            <a:prstGeom prst="rect">
              <a:avLst/>
            </a:prstGeom>
            <a:noFill/>
          </p:spPr>
          <p:txBody>
            <a:bodyPr wrap="square" rtlCol="0" anchor="ctr" anchorCtr="0">
              <a:noAutofit/>
            </a:bodyPr>
            <a:p>
              <a:pPr marL="0" algn="ctr" rtl="0" eaLnBrk="0">
                <a:lnSpc>
                  <a:spcPct val="76000"/>
                </a:lnSpc>
                <a:spcBef>
                  <a:spcPts val="520"/>
                </a:spcBef>
              </a:pPr>
              <a:r>
                <a:rPr lang="en-US" altLang="zh-CN" sz="2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{{high_risk_exploitable_vulnerability_count}}</a:t>
              </a:r>
              <a:r>
                <a:rPr lang="en-US" sz="2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endParaRPr lang="en-US" sz="2000" b="1" kern="0" spc="-20" dirty="0">
                <a:solidFill>
                  <a:srgbClr val="2040C0">
                    <a:alpha val="100000"/>
                  </a:srgbClr>
                </a:solidFill>
                <a:latin typeface="Times New Roman" panose="02020603050405020304"/>
                <a:ea typeface="Times New Roman" panose="02020603050405020304"/>
                <a:cs typeface="Times New Roman" panose="02020603050405020304"/>
                <a:sym typeface="+mn-ea"/>
              </a:endParaRPr>
            </a:p>
          </p:txBody>
        </p:sp>
        <p:sp>
          <p:nvSpPr>
            <p:cNvPr id="39" name="文本框 38"/>
            <p:cNvSpPr txBox="1"/>
            <p:nvPr/>
          </p:nvSpPr>
          <p:spPr>
            <a:xfrm>
              <a:off x="13504" y="8175"/>
              <a:ext cx="4500" cy="568"/>
            </a:xfrm>
            <a:prstGeom prst="rect">
              <a:avLst/>
            </a:prstGeom>
            <a:noFill/>
          </p:spPr>
          <p:txBody>
            <a:bodyPr wrap="square" rtlCol="0" anchor="ctr" anchorCtr="0">
              <a:noAutofit/>
            </a:bodyPr>
            <a:p>
              <a:pPr algn="ctr" rtl="0" eaLnBrk="0">
                <a:lnSpc>
                  <a:spcPct val="127000"/>
                </a:lnSpc>
              </a:pPr>
              <a:r>
                <a:rPr lang="en-US" altLang="zh-CN" sz="700" kern="0" spc="120" dirty="0">
                  <a:solidFill>
                    <a:srgbClr val="00B050">
                      <a:alpha val="100000"/>
                    </a:srgbClr>
                  </a:solidFill>
                  <a:latin typeface="黑体" panose="02010609060101010101" charset="-122"/>
                  <a:ea typeface="黑体" panose="02010609060101010101" charset="-122"/>
                  <a:cs typeface="黑体" panose="02010609060101010101" charset="-122"/>
                  <a:sym typeface="+mn-ea"/>
                </a:rPr>
                <a:t>100%</a:t>
              </a:r>
              <a:r>
                <a:rPr lang="zh-CN" altLang="en-US" sz="700" kern="0" spc="120" dirty="0">
                  <a:solidFill>
                    <a:srgbClr val="00B050">
                      <a:alpha val="100000"/>
                    </a:srgbClr>
                  </a:solidFill>
                  <a:latin typeface="黑体" panose="02010609060101010101" charset="-122"/>
                  <a:ea typeface="黑体" panose="02010609060101010101" charset="-122"/>
                  <a:cs typeface="黑体" panose="02010609060101010101" charset="-122"/>
                  <a:sym typeface="+mn-ea"/>
                </a:rPr>
                <a:t>验证可利用性</a:t>
              </a:r>
              <a:endParaRPr lang="zh-CN" altLang="en-US" sz="700" kern="0" spc="120" dirty="0">
                <a:solidFill>
                  <a:srgbClr val="00B050">
                    <a:alpha val="100000"/>
                  </a:srgbClr>
                </a:solidFill>
                <a:latin typeface="黑体" panose="02010609060101010101" charset="-122"/>
                <a:ea typeface="黑体" panose="02010609060101010101" charset="-122"/>
                <a:cs typeface="黑体" panose="02010609060101010101" charset="-122"/>
                <a:sym typeface="+mn-ea"/>
              </a:endParaRPr>
            </a:p>
          </p:txBody>
        </p:sp>
      </p:grpSp>
      <p:grpSp>
        <p:nvGrpSpPr>
          <p:cNvPr id="40" name="组合 39"/>
          <p:cNvGrpSpPr/>
          <p:nvPr/>
        </p:nvGrpSpPr>
        <p:grpSpPr>
          <a:xfrm>
            <a:off x="5751830" y="1732915"/>
            <a:ext cx="2358390" cy="688340"/>
            <a:chOff x="17210" y="6575"/>
            <a:chExt cx="7428" cy="2168"/>
          </a:xfrm>
        </p:grpSpPr>
        <p:sp>
          <p:nvSpPr>
            <p:cNvPr id="41" name="文本框 40"/>
            <p:cNvSpPr txBox="1"/>
            <p:nvPr/>
          </p:nvSpPr>
          <p:spPr>
            <a:xfrm>
              <a:off x="18536" y="6575"/>
              <a:ext cx="4499" cy="567"/>
            </a:xfrm>
            <a:prstGeom prst="rect">
              <a:avLst/>
            </a:prstGeom>
            <a:noFill/>
          </p:spPr>
          <p:txBody>
            <a:bodyPr wrap="square" rtlCol="0" anchor="ctr" anchorCtr="0">
              <a:noAutofit/>
            </a:bodyPr>
            <a:p>
              <a:pPr algn="ctr" rtl="0" eaLnBrk="0">
                <a:lnSpc>
                  <a:spcPct val="127000"/>
                </a:lnSpc>
              </a:pPr>
              <a:r>
                <a:rPr lang="zh-CN" altLang="en-US"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外部风险收敛</a:t>
              </a:r>
              <a:endParaRPr lang="zh-CN" altLang="en-US"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42" name="文本框 41"/>
            <p:cNvSpPr txBox="1"/>
            <p:nvPr/>
          </p:nvSpPr>
          <p:spPr>
            <a:xfrm>
              <a:off x="17210" y="7483"/>
              <a:ext cx="7428" cy="984"/>
            </a:xfrm>
            <a:prstGeom prst="rect">
              <a:avLst/>
            </a:prstGeom>
            <a:noFill/>
          </p:spPr>
          <p:txBody>
            <a:bodyPr wrap="square" rtlCol="0" anchor="ctr" anchorCtr="0">
              <a:noAutofit/>
            </a:bodyPr>
            <a:p>
              <a:pPr marL="0" algn="ctr" rtl="0" eaLnBrk="0">
                <a:lnSpc>
                  <a:spcPct val="76000"/>
                </a:lnSpc>
                <a:spcBef>
                  <a:spcPts val="520"/>
                </a:spcBef>
              </a:pPr>
              <a:r>
                <a:rPr lang="en-US" altLang="zh-CN" sz="2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a:t>
              </a:r>
              <a:r>
                <a:rPr lang="en-US" altLang="zh-CN" sz="2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{closed_loop_external_asset_vulnerability_count}}</a:t>
              </a:r>
              <a:r>
                <a:rPr lang="en-US" sz="2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endParaRPr lang="en-US" sz="2000" b="1" kern="0" spc="-20" dirty="0">
                <a:solidFill>
                  <a:srgbClr val="2040C0">
                    <a:alpha val="100000"/>
                  </a:srgbClr>
                </a:solidFill>
                <a:latin typeface="Times New Roman" panose="02020603050405020304"/>
                <a:ea typeface="Times New Roman" panose="02020603050405020304"/>
                <a:cs typeface="Times New Roman" panose="02020603050405020304"/>
                <a:sym typeface="+mn-ea"/>
              </a:endParaRPr>
            </a:p>
          </p:txBody>
        </p:sp>
        <p:sp>
          <p:nvSpPr>
            <p:cNvPr id="43" name="文本框 42"/>
            <p:cNvSpPr txBox="1"/>
            <p:nvPr/>
          </p:nvSpPr>
          <p:spPr>
            <a:xfrm>
              <a:off x="18632" y="8175"/>
              <a:ext cx="4536" cy="568"/>
            </a:xfrm>
            <a:prstGeom prst="rect">
              <a:avLst/>
            </a:prstGeom>
            <a:noFill/>
          </p:spPr>
          <p:txBody>
            <a:bodyPr wrap="square" rtlCol="0" anchor="ctr" anchorCtr="0">
              <a:noAutofit/>
            </a:bodyPr>
            <a:p>
              <a:pPr algn="ctr" rtl="0" eaLnBrk="0">
                <a:lnSpc>
                  <a:spcPct val="127000"/>
                </a:lnSpc>
              </a:pPr>
              <a:r>
                <a:rPr lang="zh-CN" altLang="en-US" sz="700" kern="0" spc="120" dirty="0">
                  <a:solidFill>
                    <a:srgbClr val="00B050">
                      <a:alpha val="100000"/>
                    </a:srgbClr>
                  </a:solidFill>
                  <a:latin typeface="黑体" panose="02010609060101010101" charset="-122"/>
                  <a:ea typeface="黑体" panose="02010609060101010101" charset="-122"/>
                  <a:cs typeface="黑体" panose="02010609060101010101" charset="-122"/>
                  <a:sym typeface="+mn-ea"/>
                </a:rPr>
                <a:t>及时发现和收敛外部风险</a:t>
              </a:r>
              <a:endParaRPr lang="zh-CN" altLang="en-US" sz="700" kern="0" spc="120" dirty="0">
                <a:solidFill>
                  <a:srgbClr val="00B050">
                    <a:alpha val="100000"/>
                  </a:srgbClr>
                </a:solidFill>
                <a:latin typeface="黑体" panose="02010609060101010101" charset="-122"/>
                <a:ea typeface="黑体" panose="02010609060101010101" charset="-122"/>
                <a:cs typeface="黑体" panose="02010609060101010101" charset="-122"/>
                <a:sym typeface="+mn-ea"/>
              </a:endParaRPr>
            </a:p>
          </p:txBody>
        </p:sp>
      </p:grpSp>
      <p:grpSp>
        <p:nvGrpSpPr>
          <p:cNvPr id="44" name="组合 43"/>
          <p:cNvGrpSpPr/>
          <p:nvPr/>
        </p:nvGrpSpPr>
        <p:grpSpPr>
          <a:xfrm>
            <a:off x="7980680" y="1727518"/>
            <a:ext cx="1979296" cy="688023"/>
            <a:chOff x="22583" y="6585"/>
            <a:chExt cx="6234" cy="2167"/>
          </a:xfrm>
        </p:grpSpPr>
        <p:sp>
          <p:nvSpPr>
            <p:cNvPr id="45" name="文本框 44"/>
            <p:cNvSpPr txBox="1"/>
            <p:nvPr/>
          </p:nvSpPr>
          <p:spPr>
            <a:xfrm>
              <a:off x="23235" y="6585"/>
              <a:ext cx="4499" cy="567"/>
            </a:xfrm>
            <a:prstGeom prst="rect">
              <a:avLst/>
            </a:prstGeom>
            <a:noFill/>
          </p:spPr>
          <p:txBody>
            <a:bodyPr wrap="square" rtlCol="0" anchor="ctr" anchorCtr="0">
              <a:noAutofit/>
            </a:bodyPr>
            <a:p>
              <a:pPr algn="ctr" rtl="0" eaLnBrk="0">
                <a:lnSpc>
                  <a:spcPct val="127000"/>
                </a:lnSpc>
              </a:pPr>
              <a:r>
                <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管理员弱密码</a:t>
              </a:r>
              <a:endPar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46" name="文本框 45"/>
            <p:cNvSpPr txBox="1"/>
            <p:nvPr/>
          </p:nvSpPr>
          <p:spPr>
            <a:xfrm>
              <a:off x="22583" y="7493"/>
              <a:ext cx="6234" cy="984"/>
            </a:xfrm>
            <a:prstGeom prst="rect">
              <a:avLst/>
            </a:prstGeom>
            <a:noFill/>
          </p:spPr>
          <p:txBody>
            <a:bodyPr wrap="square" rtlCol="0" anchor="ctr" anchorCtr="0">
              <a:noAutofit/>
            </a:bodyPr>
            <a:p>
              <a:pPr marL="0" algn="ctr" rtl="0" eaLnBrk="0">
                <a:lnSpc>
                  <a:spcPct val="76000"/>
                </a:lnSpc>
                <a:spcBef>
                  <a:spcPts val="520"/>
                </a:spcBef>
              </a:pPr>
              <a:r>
                <a:rPr lang="en-US" altLang="zh-CN" sz="2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{{admin_weak_password_count}}</a:t>
              </a:r>
              <a:r>
                <a:rPr lang="en-US" sz="2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endParaRPr lang="en-US" sz="2000" b="1" kern="0" spc="-20" dirty="0">
                <a:solidFill>
                  <a:srgbClr val="2040C0">
                    <a:alpha val="100000"/>
                  </a:srgbClr>
                </a:solidFill>
                <a:latin typeface="Times New Roman" panose="02020603050405020304"/>
                <a:ea typeface="Times New Roman" panose="02020603050405020304"/>
                <a:cs typeface="Times New Roman" panose="02020603050405020304"/>
                <a:sym typeface="+mn-ea"/>
              </a:endParaRPr>
            </a:p>
          </p:txBody>
        </p:sp>
        <p:sp>
          <p:nvSpPr>
            <p:cNvPr id="47" name="文本框 46"/>
            <p:cNvSpPr txBox="1"/>
            <p:nvPr/>
          </p:nvSpPr>
          <p:spPr>
            <a:xfrm>
              <a:off x="23299" y="8185"/>
              <a:ext cx="4499" cy="567"/>
            </a:xfrm>
            <a:prstGeom prst="rect">
              <a:avLst/>
            </a:prstGeom>
            <a:noFill/>
          </p:spPr>
          <p:txBody>
            <a:bodyPr wrap="square" rtlCol="0" anchor="ctr" anchorCtr="0">
              <a:noAutofit/>
            </a:bodyPr>
            <a:p>
              <a:pPr algn="ctr" rtl="0" eaLnBrk="0">
                <a:lnSpc>
                  <a:spcPct val="127000"/>
                </a:lnSpc>
              </a:pPr>
              <a:r>
                <a:rPr lang="zh-CN" altLang="en-US" sz="700" kern="0" spc="120" dirty="0">
                  <a:solidFill>
                    <a:srgbClr val="00B050">
                      <a:alpha val="100000"/>
                    </a:srgbClr>
                  </a:solidFill>
                  <a:latin typeface="黑体" panose="02010609060101010101" charset="-122"/>
                  <a:ea typeface="黑体" panose="02010609060101010101" charset="-122"/>
                  <a:cs typeface="黑体" panose="02010609060101010101" charset="-122"/>
                  <a:sym typeface="+mn-ea"/>
                </a:rPr>
                <a:t>降低业务风险</a:t>
              </a:r>
              <a:endParaRPr lang="zh-CN" altLang="en-US" sz="700" kern="0" spc="120" dirty="0">
                <a:solidFill>
                  <a:srgbClr val="00B050">
                    <a:alpha val="100000"/>
                  </a:srgbClr>
                </a:solidFill>
                <a:latin typeface="黑体" panose="02010609060101010101" charset="-122"/>
                <a:ea typeface="黑体" panose="02010609060101010101" charset="-122"/>
                <a:cs typeface="黑体" panose="02010609060101010101" charset="-122"/>
                <a:sym typeface="+mn-ea"/>
              </a:endParaRPr>
            </a:p>
          </p:txBody>
        </p:sp>
      </p:grpSp>
      <p:grpSp>
        <p:nvGrpSpPr>
          <p:cNvPr id="48" name="组合 47"/>
          <p:cNvGrpSpPr/>
          <p:nvPr/>
        </p:nvGrpSpPr>
        <p:grpSpPr>
          <a:xfrm>
            <a:off x="9989820" y="1727835"/>
            <a:ext cx="1884680" cy="693420"/>
            <a:chOff x="29848" y="6559"/>
            <a:chExt cx="5957" cy="2183"/>
          </a:xfrm>
        </p:grpSpPr>
        <p:sp>
          <p:nvSpPr>
            <p:cNvPr id="49" name="文本框 48"/>
            <p:cNvSpPr txBox="1"/>
            <p:nvPr/>
          </p:nvSpPr>
          <p:spPr>
            <a:xfrm>
              <a:off x="30013" y="6559"/>
              <a:ext cx="5191" cy="584"/>
            </a:xfrm>
            <a:prstGeom prst="rect">
              <a:avLst/>
            </a:prstGeom>
            <a:noFill/>
          </p:spPr>
          <p:txBody>
            <a:bodyPr wrap="square" rtlCol="0" anchor="ctr" anchorCtr="0">
              <a:noAutofit/>
            </a:bodyPr>
            <a:p>
              <a:pPr algn="ctr" rtl="0" eaLnBrk="0">
                <a:lnSpc>
                  <a:spcPct val="127000"/>
                </a:lnSpc>
              </a:pPr>
              <a:r>
                <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高危可利用漏洞闭环率</a:t>
              </a:r>
              <a:endPar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50" name="文本框 49"/>
            <p:cNvSpPr txBox="1"/>
            <p:nvPr/>
          </p:nvSpPr>
          <p:spPr>
            <a:xfrm>
              <a:off x="29848" y="7473"/>
              <a:ext cx="5957" cy="984"/>
            </a:xfrm>
            <a:prstGeom prst="rect">
              <a:avLst/>
            </a:prstGeom>
            <a:noFill/>
          </p:spPr>
          <p:txBody>
            <a:bodyPr wrap="square" rtlCol="0" anchor="ctr" anchorCtr="0">
              <a:noAutofit/>
            </a:bodyPr>
            <a:p>
              <a:pPr marL="0" algn="ctr" rtl="0" eaLnBrk="0">
                <a:lnSpc>
                  <a:spcPct val="76000"/>
                </a:lnSpc>
                <a:spcBef>
                  <a:spcPts val="520"/>
                </a:spcBef>
              </a:pPr>
              <a:r>
                <a:rPr lang="en-US" altLang="zh-CN" sz="2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{{high_risk_exploitable_vulnerability_closure_rate}}</a:t>
              </a:r>
              <a:r>
                <a:rPr lang="en-US" sz="2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endParaRPr lang="en-US" sz="2000" b="1" kern="0" spc="-20" dirty="0">
                <a:solidFill>
                  <a:srgbClr val="2040C0">
                    <a:alpha val="100000"/>
                  </a:srgbClr>
                </a:solidFill>
                <a:latin typeface="Times New Roman" panose="02020603050405020304"/>
                <a:ea typeface="Times New Roman" panose="02020603050405020304"/>
                <a:cs typeface="Times New Roman" panose="02020603050405020304"/>
                <a:sym typeface="+mn-ea"/>
              </a:endParaRPr>
            </a:p>
          </p:txBody>
        </p:sp>
        <p:sp>
          <p:nvSpPr>
            <p:cNvPr id="52" name="文本框 51"/>
            <p:cNvSpPr txBox="1"/>
            <p:nvPr/>
          </p:nvSpPr>
          <p:spPr>
            <a:xfrm>
              <a:off x="30517" y="8175"/>
              <a:ext cx="4499" cy="567"/>
            </a:xfrm>
            <a:prstGeom prst="rect">
              <a:avLst/>
            </a:prstGeom>
            <a:noFill/>
          </p:spPr>
          <p:txBody>
            <a:bodyPr wrap="square" rtlCol="0" anchor="ctr" anchorCtr="0">
              <a:noAutofit/>
            </a:bodyPr>
            <a:p>
              <a:pPr algn="ctr" rtl="0" eaLnBrk="0">
                <a:lnSpc>
                  <a:spcPct val="127000"/>
                </a:lnSpc>
              </a:pPr>
              <a:r>
                <a:rPr lang="en-US" altLang="zh-CN" sz="700" kern="0" spc="120" dirty="0">
                  <a:solidFill>
                    <a:srgbClr val="00B050">
                      <a:alpha val="100000"/>
                    </a:srgbClr>
                  </a:solidFill>
                  <a:latin typeface="黑体" panose="02010609060101010101" charset="-122"/>
                  <a:ea typeface="黑体" panose="02010609060101010101" charset="-122"/>
                  <a:cs typeface="黑体" panose="02010609060101010101" charset="-122"/>
                  <a:sym typeface="+mn-ea"/>
                </a:rPr>
                <a:t>0</a:t>
              </a:r>
              <a:r>
                <a:rPr lang="zh-CN" altLang="en-US" sz="700" kern="0" spc="120" dirty="0">
                  <a:solidFill>
                    <a:srgbClr val="00B050">
                      <a:alpha val="100000"/>
                    </a:srgbClr>
                  </a:solidFill>
                  <a:latin typeface="黑体" panose="02010609060101010101" charset="-122"/>
                  <a:ea typeface="黑体" panose="02010609060101010101" charset="-122"/>
                  <a:cs typeface="黑体" panose="02010609060101010101" charset="-122"/>
                  <a:sym typeface="+mn-ea"/>
                </a:rPr>
                <a:t>漏洞利用成功事故</a:t>
              </a:r>
              <a:endParaRPr lang="zh-CN" altLang="en-US" sz="700" kern="0" spc="120" dirty="0">
                <a:solidFill>
                  <a:srgbClr val="00B050">
                    <a:alpha val="100000"/>
                  </a:srgbClr>
                </a:solidFill>
                <a:latin typeface="黑体" panose="02010609060101010101" charset="-122"/>
                <a:ea typeface="黑体" panose="02010609060101010101" charset="-122"/>
                <a:cs typeface="黑体" panose="02010609060101010101" charset="-122"/>
                <a:sym typeface="+mn-ea"/>
              </a:endParaRPr>
            </a:p>
          </p:txBody>
        </p:sp>
      </p:grpSp>
      <p:pic>
        <p:nvPicPr>
          <p:cNvPr id="53" name="图片 52" descr="APP漏扫"/>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4691698" y="1270318"/>
            <a:ext cx="360000" cy="360000"/>
          </a:xfrm>
          <a:prstGeom prst="rect">
            <a:avLst/>
          </a:prstGeom>
        </p:spPr>
      </p:pic>
      <p:pic>
        <p:nvPicPr>
          <p:cNvPr id="54" name="图片 53" descr="项目风险"/>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6706870" y="1270318"/>
            <a:ext cx="360000" cy="360000"/>
          </a:xfrm>
          <a:prstGeom prst="rect">
            <a:avLst/>
          </a:prstGeom>
        </p:spPr>
      </p:pic>
      <p:pic>
        <p:nvPicPr>
          <p:cNvPr id="55" name="图片 54" descr="项目风险"/>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8721725" y="1270318"/>
            <a:ext cx="360000" cy="360000"/>
          </a:xfrm>
          <a:prstGeom prst="rect">
            <a:avLst/>
          </a:prstGeom>
        </p:spPr>
      </p:pic>
      <p:pic>
        <p:nvPicPr>
          <p:cNvPr id="56" name="图片 55" descr="已办事项"/>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10737533" y="1270318"/>
            <a:ext cx="360000" cy="360000"/>
          </a:xfrm>
          <a:prstGeom prst="rect">
            <a:avLst/>
          </a:prstGeom>
        </p:spPr>
      </p:pic>
      <p:sp>
        <p:nvSpPr>
          <p:cNvPr id="57" name="文本框 56"/>
          <p:cNvSpPr txBox="1"/>
          <p:nvPr/>
        </p:nvSpPr>
        <p:spPr>
          <a:xfrm>
            <a:off x="7980680" y="4601210"/>
            <a:ext cx="6096000" cy="368300"/>
          </a:xfrm>
          <a:prstGeom prst="rect">
            <a:avLst/>
          </a:prstGeom>
          <a:noFill/>
        </p:spPr>
        <p:txBody>
          <a:bodyPr wrap="square" rtlCol="0" anchor="t">
            <a:spAutoFit/>
          </a:bodyPr>
          <a:p>
            <a:r>
              <a:rPr lang="zh-CN" altLang="en-US">
                <a:sym typeface="+mn-ea"/>
              </a:rPr>
              <a:t>{{</a:t>
            </a:r>
            <a:r>
              <a:rPr lang="en-US" altLang="zh-CN">
                <a:sym typeface="+mn-ea"/>
              </a:rPr>
              <a:t>P29_line</a:t>
            </a:r>
            <a:r>
              <a:rPr lang="zh-CN" altLang="en-US">
                <a:sym typeface="+mn-ea"/>
              </a:rPr>
              <a:t>}}</a:t>
            </a:r>
            <a:endParaRPr lang="zh-CN" altLang="en-US">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rot="0">
            <a:off x="224790" y="306705"/>
            <a:ext cx="369570" cy="266700"/>
            <a:chOff x="533" y="672"/>
            <a:chExt cx="582" cy="420"/>
          </a:xfrm>
        </p:grpSpPr>
        <p:sp>
          <p:nvSpPr>
            <p:cNvPr id="4" name="燕尾形 86"/>
            <p:cNvSpPr/>
            <p:nvPr>
              <p:custDataLst>
                <p:tags r:id="rId1"/>
              </p:custDataLst>
            </p:nvPr>
          </p:nvSpPr>
          <p:spPr>
            <a:xfrm>
              <a:off x="533" y="672"/>
              <a:ext cx="326" cy="421"/>
            </a:xfrm>
            <a:prstGeom prst="chevron">
              <a:avLst>
                <a:gd name="adj" fmla="val 50000"/>
              </a:avLst>
            </a:prstGeom>
            <a:gradFill>
              <a:gsLst>
                <a:gs pos="0">
                  <a:srgbClr val="006CD9">
                    <a:alpha val="100000"/>
                  </a:srgbClr>
                </a:gs>
                <a:gs pos="100000">
                  <a:srgbClr val="006CD9">
                    <a:alpha val="75000"/>
                  </a:srgbClr>
                </a:gs>
              </a:gsLst>
              <a:lin ang="54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FF0000"/>
                </a:solidFill>
              </a:endParaRPr>
            </a:p>
          </p:txBody>
        </p:sp>
        <p:sp>
          <p:nvSpPr>
            <p:cNvPr id="5" name="燕尾形 103"/>
            <p:cNvSpPr/>
            <p:nvPr>
              <p:custDataLst>
                <p:tags r:id="rId2"/>
              </p:custDataLst>
            </p:nvPr>
          </p:nvSpPr>
          <p:spPr>
            <a:xfrm>
              <a:off x="789" y="672"/>
              <a:ext cx="326" cy="421"/>
            </a:xfrm>
            <a:prstGeom prst="chevron">
              <a:avLst>
                <a:gd name="adj" fmla="val 50000"/>
              </a:avLst>
            </a:prstGeom>
            <a:gradFill>
              <a:gsLst>
                <a:gs pos="0">
                  <a:srgbClr val="70AD47">
                    <a:alpha val="88000"/>
                  </a:srgbClr>
                </a:gs>
                <a:gs pos="100000">
                  <a:schemeClr val="accent6">
                    <a:lumMod val="85000"/>
                    <a:alpha val="63000"/>
                  </a:schemeClr>
                </a:gs>
              </a:gsLst>
              <a:lin ang="162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FF0000"/>
                </a:solidFill>
              </a:endParaRPr>
            </a:p>
          </p:txBody>
        </p:sp>
      </p:grpSp>
      <p:sp>
        <p:nvSpPr>
          <p:cNvPr id="16" name="textbox 158"/>
          <p:cNvSpPr/>
          <p:nvPr/>
        </p:nvSpPr>
        <p:spPr>
          <a:xfrm>
            <a:off x="740410" y="347980"/>
            <a:ext cx="7640955" cy="343535"/>
          </a:xfrm>
          <a:prstGeom prst="rect">
            <a:avLst/>
          </a:prstGeom>
          <a:noFill/>
          <a:ln w="0" cap="flat">
            <a:noFill/>
            <a:prstDash val="solid"/>
            <a:miter lim="0"/>
          </a:ln>
        </p:spPr>
        <p:txBody>
          <a:bodyPr vert="horz" wrap="square" lIns="0" tIns="0" rIns="0" bIns="0"/>
          <a:p>
            <a:pPr algn="l" rtl="0" eaLnBrk="0">
              <a:lnSpc>
                <a:spcPct val="78000"/>
              </a:lnSpc>
            </a:pPr>
            <a:r>
              <a:rPr lang="zh-CN" altLang="en-US"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rPr>
              <a:t>核心</a:t>
            </a:r>
            <a:r>
              <a:rPr lang="zh-CN"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rPr>
              <a:t>工作目标</a:t>
            </a:r>
            <a:r>
              <a:rPr lang="en-US" altLang="zh-CN"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rPr>
              <a:t>2</a:t>
            </a:r>
            <a:r>
              <a:rPr lang="zh-CN" altLang="en-US"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rPr>
              <a:t>：重要时期</a:t>
            </a:r>
            <a:r>
              <a:rPr lang="en-US" altLang="zh-CN"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rPr>
              <a:t>0</a:t>
            </a:r>
            <a:r>
              <a:rPr lang="zh-CN" altLang="en-US"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rPr>
              <a:t>重大事件</a:t>
            </a:r>
            <a:endParaRPr lang="zh-CN" altLang="en-US"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endParaRPr>
          </a:p>
        </p:txBody>
      </p:sp>
      <p:pic>
        <p:nvPicPr>
          <p:cNvPr id="63" name="图片 62" descr="深信服 + 智安全"/>
          <p:cNvPicPr>
            <a:picLocks noChangeAspect="1"/>
          </p:cNvPicPr>
          <p:nvPr/>
        </p:nvPicPr>
        <p:blipFill>
          <a:blip r:embed="rId3"/>
          <a:srcRect l="5232" t="26576" r="4938" b="29565"/>
          <a:stretch>
            <a:fillRect/>
          </a:stretch>
        </p:blipFill>
        <p:spPr>
          <a:xfrm>
            <a:off x="10330815" y="273073"/>
            <a:ext cx="1629867" cy="360000"/>
          </a:xfrm>
          <a:prstGeom prst="rect">
            <a:avLst/>
          </a:prstGeom>
        </p:spPr>
      </p:pic>
      <p:grpSp>
        <p:nvGrpSpPr>
          <p:cNvPr id="125" name="组合 124"/>
          <p:cNvGrpSpPr/>
          <p:nvPr/>
        </p:nvGrpSpPr>
        <p:grpSpPr>
          <a:xfrm>
            <a:off x="852170" y="1021080"/>
            <a:ext cx="10556240" cy="1647190"/>
            <a:chOff x="1342" y="1608"/>
            <a:chExt cx="16624" cy="2594"/>
          </a:xfrm>
        </p:grpSpPr>
        <p:grpSp>
          <p:nvGrpSpPr>
            <p:cNvPr id="3" name="组合 2" descr="7b0a202020202274657874626f78223a20227b5c2269645c223a32303334383533362c5c227469645c223a5c225c227d220a7d0a"/>
            <p:cNvGrpSpPr/>
            <p:nvPr>
              <p:custDataLst>
                <p:tags r:id="rId4"/>
              </p:custDataLst>
            </p:nvPr>
          </p:nvGrpSpPr>
          <p:grpSpPr>
            <a:xfrm>
              <a:off x="1342" y="1608"/>
              <a:ext cx="16624" cy="2594"/>
              <a:chOff x="3067050" y="1761966"/>
              <a:chExt cx="6057900" cy="3684815"/>
            </a:xfrm>
          </p:grpSpPr>
          <p:grpSp>
            <p:nvGrpSpPr>
              <p:cNvPr id="7" name="组合 6"/>
              <p:cNvGrpSpPr/>
              <p:nvPr/>
            </p:nvGrpSpPr>
            <p:grpSpPr>
              <a:xfrm>
                <a:off x="3067050" y="1761966"/>
                <a:ext cx="6057900" cy="3684815"/>
                <a:chOff x="3064668" y="1247616"/>
                <a:chExt cx="6057900" cy="3684815"/>
              </a:xfrm>
            </p:grpSpPr>
            <p:grpSp>
              <p:nvGrpSpPr>
                <p:cNvPr id="8" name="组合 7"/>
                <p:cNvGrpSpPr/>
                <p:nvPr/>
              </p:nvGrpSpPr>
              <p:grpSpPr>
                <a:xfrm>
                  <a:off x="3064668" y="1247616"/>
                  <a:ext cx="6057900" cy="479210"/>
                  <a:chOff x="3064668" y="1247616"/>
                  <a:chExt cx="6057900" cy="479210"/>
                </a:xfrm>
              </p:grpSpPr>
              <p:sp>
                <p:nvSpPr>
                  <p:cNvPr id="39" name="任意多边形: 形状 9"/>
                  <p:cNvSpPr/>
                  <p:nvPr/>
                </p:nvSpPr>
                <p:spPr>
                  <a:xfrm rot="5400000">
                    <a:off x="3038475" y="1483938"/>
                    <a:ext cx="476250" cy="9525"/>
                  </a:xfrm>
                  <a:custGeom>
                    <a:avLst/>
                    <a:gdLst>
                      <a:gd name="connsiteX0" fmla="*/ -24 w 476250"/>
                      <a:gd name="connsiteY0" fmla="*/ 26 h 9525"/>
                      <a:gd name="connsiteX1" fmla="*/ 476226 w 476250"/>
                      <a:gd name="connsiteY1" fmla="*/ 26 h 9525"/>
                    </a:gdLst>
                    <a:ahLst/>
                    <a:cxnLst>
                      <a:cxn ang="0">
                        <a:pos x="connsiteX0" y="connsiteY0"/>
                      </a:cxn>
                      <a:cxn ang="0">
                        <a:pos x="connsiteX1" y="connsiteY1"/>
                      </a:cxn>
                    </a:cxnLst>
                    <a:rect l="l" t="t" r="r" b="b"/>
                    <a:pathLst>
                      <a:path w="476250" h="9525">
                        <a:moveTo>
                          <a:pt x="-24" y="26"/>
                        </a:moveTo>
                        <a:lnTo>
                          <a:pt x="476226" y="26"/>
                        </a:lnTo>
                      </a:path>
                    </a:pathLst>
                  </a:custGeom>
                  <a:ln w="19050" cap="flat">
                    <a:solidFill>
                      <a:srgbClr val="3F8BE8"/>
                    </a:solidFill>
                    <a:prstDash val="solid"/>
                    <a:miter/>
                  </a:ln>
                </p:spPr>
                <p:txBody>
                  <a:bodyPr rot="0" spcFirstLastPara="0" vert="horz" wrap="square" lIns="91440" tIns="45720" rIns="91440" bIns="45720" numCol="1" spcCol="0" rtlCol="0" fromWordArt="0" anchor="ctr" anchorCtr="0" forceAA="0" compatLnSpc="1">
                    <a:noAutofit/>
                  </a:bodyPr>
                  <a:lstStyle/>
                  <a:p>
                    <a:pPr defTabSz="914400">
                      <a:spcBef>
                        <a:spcPct val="0"/>
                      </a:spcBef>
                      <a:spcAft>
                        <a:spcPct val="0"/>
                      </a:spcAft>
                    </a:pPr>
                    <a:endParaRPr lang="zh-CN" altLang="en-US" sz="1800" kern="1200">
                      <a:solidFill>
                        <a:schemeClr val="tx1"/>
                      </a:solidFill>
                      <a:latin typeface="+mn-lt"/>
                      <a:ea typeface="+mn-ea"/>
                      <a:cs typeface="+mn-cs"/>
                      <a:sym typeface="+mn-ea"/>
                    </a:endParaRPr>
                  </a:p>
                </p:txBody>
              </p:sp>
              <p:sp>
                <p:nvSpPr>
                  <p:cNvPr id="40" name="任意多边形: 形状 10"/>
                  <p:cNvSpPr/>
                  <p:nvPr/>
                </p:nvSpPr>
                <p:spPr>
                  <a:xfrm rot="5400000">
                    <a:off x="3146425" y="1480978"/>
                    <a:ext cx="476250" cy="9525"/>
                  </a:xfrm>
                  <a:custGeom>
                    <a:avLst/>
                    <a:gdLst>
                      <a:gd name="connsiteX0" fmla="*/ -24 w 476250"/>
                      <a:gd name="connsiteY0" fmla="*/ 26 h 9525"/>
                      <a:gd name="connsiteX1" fmla="*/ 476226 w 476250"/>
                      <a:gd name="connsiteY1" fmla="*/ 26 h 9525"/>
                    </a:gdLst>
                    <a:ahLst/>
                    <a:cxnLst>
                      <a:cxn ang="0">
                        <a:pos x="connsiteX0" y="connsiteY0"/>
                      </a:cxn>
                      <a:cxn ang="0">
                        <a:pos x="connsiteX1" y="connsiteY1"/>
                      </a:cxn>
                    </a:cxnLst>
                    <a:rect l="l" t="t" r="r" b="b"/>
                    <a:pathLst>
                      <a:path w="476250" h="9525">
                        <a:moveTo>
                          <a:pt x="-24" y="26"/>
                        </a:moveTo>
                        <a:lnTo>
                          <a:pt x="476226" y="26"/>
                        </a:lnTo>
                      </a:path>
                    </a:pathLst>
                  </a:custGeom>
                  <a:solidFill>
                    <a:schemeClr val="accent6"/>
                  </a:solidFill>
                  <a:ln w="19050" cap="flat">
                    <a:solidFill>
                      <a:schemeClr val="accent6"/>
                    </a:solidFill>
                    <a:prstDash val="solid"/>
                    <a:miter/>
                  </a:ln>
                </p:spPr>
                <p:txBody>
                  <a:bodyPr rot="0" spcFirstLastPara="0" vert="horz" wrap="square" lIns="91440" tIns="45720" rIns="91440" bIns="45720" numCol="1" spcCol="0" rtlCol="0" fromWordArt="0" anchor="ctr" anchorCtr="0" forceAA="0" compatLnSpc="1">
                    <a:noAutofit/>
                  </a:bodyPr>
                  <a:lstStyle/>
                  <a:p>
                    <a:pPr defTabSz="914400">
                      <a:spcBef>
                        <a:spcPct val="0"/>
                      </a:spcBef>
                      <a:spcAft>
                        <a:spcPct val="0"/>
                      </a:spcAft>
                    </a:pPr>
                    <a:endParaRPr lang="zh-CN" altLang="en-US" sz="1800" kern="1200">
                      <a:solidFill>
                        <a:schemeClr val="tx1"/>
                      </a:solidFill>
                      <a:latin typeface="+mn-lt"/>
                      <a:ea typeface="+mn-ea"/>
                      <a:cs typeface="+mn-cs"/>
                      <a:sym typeface="+mn-ea"/>
                    </a:endParaRPr>
                  </a:p>
                </p:txBody>
              </p:sp>
              <p:sp>
                <p:nvSpPr>
                  <p:cNvPr id="41" name="任意多边形: 形状 11"/>
                  <p:cNvSpPr/>
                  <p:nvPr/>
                </p:nvSpPr>
                <p:spPr>
                  <a:xfrm flipV="1">
                    <a:off x="3064668" y="1425682"/>
                    <a:ext cx="6057900" cy="0"/>
                  </a:xfrm>
                  <a:custGeom>
                    <a:avLst/>
                    <a:gdLst>
                      <a:gd name="connsiteX0" fmla="*/ 0 w 5274310"/>
                      <a:gd name="connsiteY0" fmla="*/ 0 h 8255"/>
                      <a:gd name="connsiteX1" fmla="*/ 5274310 w 5274310"/>
                      <a:gd name="connsiteY1" fmla="*/ 0 h 8255"/>
                    </a:gdLst>
                    <a:ahLst/>
                    <a:cxnLst>
                      <a:cxn ang="0">
                        <a:pos x="connsiteX0" y="connsiteY0"/>
                      </a:cxn>
                      <a:cxn ang="0">
                        <a:pos x="connsiteX1" y="connsiteY1"/>
                      </a:cxn>
                    </a:cxnLst>
                    <a:rect l="l" t="t" r="r" b="b"/>
                    <a:pathLst>
                      <a:path w="5274310" h="8255">
                        <a:moveTo>
                          <a:pt x="0" y="0"/>
                        </a:moveTo>
                        <a:lnTo>
                          <a:pt x="5274310" y="0"/>
                        </a:lnTo>
                      </a:path>
                    </a:pathLst>
                  </a:custGeom>
                </p:spPr>
                <p:style>
                  <a:lnRef idx="3">
                    <a:schemeClr val="accent5"/>
                  </a:lnRef>
                  <a:fillRef idx="0">
                    <a:srgbClr val="FFFFFF"/>
                  </a:fillRef>
                  <a:effectRef idx="0">
                    <a:srgbClr val="FFFFFF"/>
                  </a:effectRef>
                  <a:fontRef idx="minor">
                    <a:schemeClr val="tx1"/>
                  </a:fontRef>
                </p:style>
                <p:txBody>
                  <a:bodyPr rot="0" spcFirstLastPara="0" vert="horz" wrap="square" lIns="91440" tIns="45720" rIns="91440" bIns="45720" numCol="1" spcCol="0" rtlCol="0" fromWordArt="0" anchor="ctr" anchorCtr="0" forceAA="0" compatLnSpc="1">
                    <a:noAutofit/>
                  </a:bodyPr>
                  <a:lstStyle/>
                  <a:p>
                    <a:pPr defTabSz="914400">
                      <a:spcBef>
                        <a:spcPct val="0"/>
                      </a:spcBef>
                      <a:spcAft>
                        <a:spcPct val="0"/>
                      </a:spcAft>
                    </a:pPr>
                    <a:endParaRPr lang="zh-CN" altLang="en-US" sz="1800" kern="1200">
                      <a:sym typeface="+mn-ea"/>
                    </a:endParaRPr>
                  </a:p>
                </p:txBody>
              </p:sp>
            </p:grpSp>
            <p:grpSp>
              <p:nvGrpSpPr>
                <p:cNvPr id="9" name="组合 8"/>
                <p:cNvGrpSpPr/>
                <p:nvPr/>
              </p:nvGrpSpPr>
              <p:grpSpPr>
                <a:xfrm>
                  <a:off x="3064668" y="4456181"/>
                  <a:ext cx="6057900" cy="476250"/>
                  <a:chOff x="3064668" y="4456181"/>
                  <a:chExt cx="6057900" cy="476250"/>
                </a:xfrm>
              </p:grpSpPr>
              <p:sp>
                <p:nvSpPr>
                  <p:cNvPr id="46" name="任意多边形: 形状 6"/>
                  <p:cNvSpPr/>
                  <p:nvPr/>
                </p:nvSpPr>
                <p:spPr>
                  <a:xfrm rot="5400000">
                    <a:off x="8651875" y="4689543"/>
                    <a:ext cx="476250" cy="9525"/>
                  </a:xfrm>
                  <a:custGeom>
                    <a:avLst/>
                    <a:gdLst>
                      <a:gd name="connsiteX0" fmla="*/ -24 w 476250"/>
                      <a:gd name="connsiteY0" fmla="*/ 26 h 9525"/>
                      <a:gd name="connsiteX1" fmla="*/ 476226 w 476250"/>
                      <a:gd name="connsiteY1" fmla="*/ 26 h 9525"/>
                    </a:gdLst>
                    <a:ahLst/>
                    <a:cxnLst>
                      <a:cxn ang="0">
                        <a:pos x="connsiteX0" y="connsiteY0"/>
                      </a:cxn>
                      <a:cxn ang="0">
                        <a:pos x="connsiteX1" y="connsiteY1"/>
                      </a:cxn>
                    </a:cxnLst>
                    <a:rect l="l" t="t" r="r" b="b"/>
                    <a:pathLst>
                      <a:path w="476250" h="9525">
                        <a:moveTo>
                          <a:pt x="-24" y="26"/>
                        </a:moveTo>
                        <a:lnTo>
                          <a:pt x="476226" y="26"/>
                        </a:lnTo>
                      </a:path>
                    </a:pathLst>
                  </a:custGeom>
                  <a:ln w="19050" cap="flat">
                    <a:solidFill>
                      <a:srgbClr val="3F8BE8"/>
                    </a:solidFill>
                    <a:prstDash val="solid"/>
                    <a:miter/>
                  </a:ln>
                </p:spPr>
                <p:txBody>
                  <a:bodyPr rot="0" spcFirstLastPara="0" vert="horz" wrap="square" lIns="91440" tIns="45720" rIns="91440" bIns="45720" numCol="1" spcCol="0" rtlCol="0" fromWordArt="0" anchor="ctr" anchorCtr="0" forceAA="0" compatLnSpc="1">
                    <a:noAutofit/>
                  </a:bodyPr>
                  <a:lstStyle/>
                  <a:p>
                    <a:pPr defTabSz="914400">
                      <a:spcBef>
                        <a:spcPct val="0"/>
                      </a:spcBef>
                      <a:spcAft>
                        <a:spcPct val="0"/>
                      </a:spcAft>
                    </a:pPr>
                    <a:endParaRPr lang="zh-CN" altLang="en-US" sz="1800" kern="1200">
                      <a:solidFill>
                        <a:schemeClr val="tx1"/>
                      </a:solidFill>
                      <a:latin typeface="+mn-lt"/>
                      <a:ea typeface="+mn-ea"/>
                      <a:cs typeface="+mn-cs"/>
                      <a:sym typeface="+mn-ea"/>
                    </a:endParaRPr>
                  </a:p>
                </p:txBody>
              </p:sp>
              <p:sp>
                <p:nvSpPr>
                  <p:cNvPr id="51" name="任意多边形: 形状 7"/>
                  <p:cNvSpPr/>
                  <p:nvPr/>
                </p:nvSpPr>
                <p:spPr>
                  <a:xfrm rot="5400000">
                    <a:off x="8550275" y="4689543"/>
                    <a:ext cx="476250" cy="9525"/>
                  </a:xfrm>
                  <a:custGeom>
                    <a:avLst/>
                    <a:gdLst>
                      <a:gd name="connsiteX0" fmla="*/ -24 w 476250"/>
                      <a:gd name="connsiteY0" fmla="*/ 26 h 9525"/>
                      <a:gd name="connsiteX1" fmla="*/ 476226 w 476250"/>
                      <a:gd name="connsiteY1" fmla="*/ 26 h 9525"/>
                    </a:gdLst>
                    <a:ahLst/>
                    <a:cxnLst>
                      <a:cxn ang="0">
                        <a:pos x="connsiteX0" y="connsiteY0"/>
                      </a:cxn>
                      <a:cxn ang="0">
                        <a:pos x="connsiteX1" y="connsiteY1"/>
                      </a:cxn>
                    </a:cxnLst>
                    <a:rect l="l" t="t" r="r" b="b"/>
                    <a:pathLst>
                      <a:path w="476250" h="9525">
                        <a:moveTo>
                          <a:pt x="-24" y="26"/>
                        </a:moveTo>
                        <a:lnTo>
                          <a:pt x="476226" y="26"/>
                        </a:lnTo>
                      </a:path>
                    </a:pathLst>
                  </a:custGeom>
                  <a:solidFill>
                    <a:schemeClr val="accent6"/>
                  </a:solidFill>
                  <a:ln w="19050" cap="flat">
                    <a:solidFill>
                      <a:schemeClr val="accent6"/>
                    </a:solidFill>
                    <a:prstDash val="solid"/>
                    <a:miter/>
                  </a:ln>
                </p:spPr>
                <p:txBody>
                  <a:bodyPr rot="0" spcFirstLastPara="0" vert="horz" wrap="square" lIns="91440" tIns="45720" rIns="91440" bIns="45720" numCol="1" spcCol="0" rtlCol="0" fromWordArt="0" anchor="ctr" anchorCtr="0" forceAA="0" compatLnSpc="1">
                    <a:noAutofit/>
                  </a:bodyPr>
                  <a:lstStyle/>
                  <a:p>
                    <a:pPr defTabSz="914400">
                      <a:spcBef>
                        <a:spcPct val="0"/>
                      </a:spcBef>
                      <a:spcAft>
                        <a:spcPct val="0"/>
                      </a:spcAft>
                    </a:pPr>
                    <a:endParaRPr lang="zh-CN" altLang="en-US" sz="1800" kern="1200">
                      <a:solidFill>
                        <a:schemeClr val="tx1"/>
                      </a:solidFill>
                      <a:latin typeface="+mn-lt"/>
                      <a:ea typeface="+mn-ea"/>
                      <a:cs typeface="+mn-cs"/>
                      <a:sym typeface="+mn-ea"/>
                    </a:endParaRPr>
                  </a:p>
                </p:txBody>
              </p:sp>
              <p:sp>
                <p:nvSpPr>
                  <p:cNvPr id="52" name="任意多边形: 形状 8"/>
                  <p:cNvSpPr/>
                  <p:nvPr/>
                </p:nvSpPr>
                <p:spPr>
                  <a:xfrm flipV="1">
                    <a:off x="3064668" y="4694304"/>
                    <a:ext cx="6057900" cy="0"/>
                  </a:xfrm>
                  <a:custGeom>
                    <a:avLst/>
                    <a:gdLst>
                      <a:gd name="connsiteX0" fmla="*/ 0 w 5274310"/>
                      <a:gd name="connsiteY0" fmla="*/ 0 h 8255"/>
                      <a:gd name="connsiteX1" fmla="*/ 5274310 w 5274310"/>
                      <a:gd name="connsiteY1" fmla="*/ 0 h 8255"/>
                    </a:gdLst>
                    <a:ahLst/>
                    <a:cxnLst>
                      <a:cxn ang="0">
                        <a:pos x="connsiteX0" y="connsiteY0"/>
                      </a:cxn>
                      <a:cxn ang="0">
                        <a:pos x="connsiteX1" y="connsiteY1"/>
                      </a:cxn>
                    </a:cxnLst>
                    <a:rect l="l" t="t" r="r" b="b"/>
                    <a:pathLst>
                      <a:path w="5274310" h="8255">
                        <a:moveTo>
                          <a:pt x="0" y="0"/>
                        </a:moveTo>
                        <a:lnTo>
                          <a:pt x="5274310" y="0"/>
                        </a:lnTo>
                      </a:path>
                    </a:pathLst>
                  </a:custGeom>
                </p:spPr>
                <p:style>
                  <a:lnRef idx="2">
                    <a:schemeClr val="accent6"/>
                  </a:lnRef>
                  <a:fillRef idx="0">
                    <a:schemeClr val="accent6"/>
                  </a:fillRef>
                  <a:effectRef idx="1">
                    <a:schemeClr val="accent6"/>
                  </a:effectRef>
                  <a:fontRef idx="minor">
                    <a:schemeClr val="tx1"/>
                  </a:fontRef>
                </p:style>
                <p:txBody>
                  <a:bodyPr rot="0" spcFirstLastPara="0" vert="horz" wrap="square" lIns="91440" tIns="45720" rIns="91440" bIns="45720" numCol="1" spcCol="0" rtlCol="0" fromWordArt="0" anchor="ctr" anchorCtr="0" forceAA="0" compatLnSpc="1">
                    <a:noAutofit/>
                  </a:bodyPr>
                  <a:lstStyle/>
                  <a:p>
                    <a:pPr defTabSz="914400">
                      <a:spcBef>
                        <a:spcPct val="0"/>
                      </a:spcBef>
                      <a:spcAft>
                        <a:spcPct val="0"/>
                      </a:spcAft>
                    </a:pPr>
                    <a:endParaRPr lang="zh-CN" altLang="en-US" sz="1800" kern="1200">
                      <a:sym typeface="+mn-ea"/>
                    </a:endParaRPr>
                  </a:p>
                </p:txBody>
              </p:sp>
            </p:grpSp>
          </p:grpSp>
          <p:sp>
            <p:nvSpPr>
              <p:cNvPr id="53" name="文本框 52"/>
              <p:cNvSpPr txBox="1"/>
              <p:nvPr/>
            </p:nvSpPr>
            <p:spPr>
              <a:xfrm>
                <a:off x="3121711" y="3194901"/>
                <a:ext cx="5948943" cy="1775247"/>
              </a:xfrm>
              <a:prstGeom prst="rect">
                <a:avLst/>
              </a:prstGeom>
              <a:noFill/>
            </p:spPr>
            <p:txBody>
              <a:bodyPr wrap="square" rtlCol="0" anchor="ctr"/>
              <a:lstStyle/>
              <a:p>
                <a:pPr indent="457200" algn="just">
                  <a:lnSpc>
                    <a:spcPct val="150000"/>
                  </a:lnSpc>
                </a:pPr>
                <a:r>
                  <a:rPr lang="zh-CN" sz="1400" kern="1200" dirty="0">
                    <a:solidFill>
                      <a:schemeClr val="tx1"/>
                    </a:solidFill>
                    <a:effectLst/>
                    <a:latin typeface="Arial" panose="020B0604020202020204" pitchFamily="34" charset="0"/>
                    <a:ea typeface="黑体-简" panose="02000000000000000000" charset="-122"/>
                    <a:cs typeface="+mn-cs"/>
                    <a:sym typeface="+mn-ea"/>
                  </a:rPr>
                  <a:t>在重要时期云端团队实时</a:t>
                </a:r>
                <a:r>
                  <a:rPr lang="en-US" altLang="zh-CN" sz="1400" kern="1200" dirty="0">
                    <a:solidFill>
                      <a:schemeClr val="tx1"/>
                    </a:solidFill>
                    <a:effectLst/>
                    <a:latin typeface="Arial" panose="020B0604020202020204" pitchFamily="34" charset="0"/>
                    <a:ea typeface="黑体-简" panose="02000000000000000000" charset="-122"/>
                    <a:cs typeface="+mn-cs"/>
                    <a:sym typeface="+mn-ea"/>
                  </a:rPr>
                  <a:t>7x24</a:t>
                </a:r>
                <a:r>
                  <a:rPr lang="zh-CN" altLang="en-US" sz="1400" kern="1200" dirty="0">
                    <a:solidFill>
                      <a:schemeClr val="tx1"/>
                    </a:solidFill>
                    <a:effectLst/>
                    <a:latin typeface="Arial" panose="020B0604020202020204" pitchFamily="34" charset="0"/>
                    <a:ea typeface="黑体-简" panose="02000000000000000000" charset="-122"/>
                    <a:cs typeface="+mn-cs"/>
                    <a:sym typeface="+mn-ea"/>
                  </a:rPr>
                  <a:t>小时对设备的安全日志进行实时分析研判，对安全威胁进行持续对抗，每日通报安全态势情况，顺利保障重要时期（</a:t>
                </a:r>
                <a:r>
                  <a:rPr lang="en-US" altLang="zh-CN" sz="1400" kern="1200" dirty="0">
                    <a:solidFill>
                      <a:srgbClr val="4C61E7"/>
                    </a:solidFill>
                    <a:effectLst/>
                    <a:latin typeface="Arial" panose="020B0604020202020204" pitchFamily="34" charset="0"/>
                    <a:ea typeface="黑体-简" panose="02000000000000000000" charset="-122"/>
                    <a:cs typeface="+mn-cs"/>
                    <a:sym typeface="+mn-ea"/>
                  </a:rPr>
                  <a:t>{{critical_protection_periods_text}}</a:t>
                </a:r>
                <a:r>
                  <a:rPr lang="zh-CN" altLang="en-US" sz="1400" kern="1200" dirty="0">
                    <a:solidFill>
                      <a:schemeClr val="tx1"/>
                    </a:solidFill>
                    <a:effectLst/>
                    <a:latin typeface="Arial" panose="020B0604020202020204" pitchFamily="34" charset="0"/>
                    <a:ea typeface="黑体-简" panose="02000000000000000000" charset="-122"/>
                    <a:cs typeface="+mn-cs"/>
                    <a:sym typeface="+mn-ea"/>
                  </a:rPr>
                  <a:t>）未出现重大安全事件或事故。</a:t>
                </a:r>
                <a:endParaRPr lang="zh-CN" altLang="en-US" sz="1400" kern="1200" dirty="0">
                  <a:solidFill>
                    <a:schemeClr val="tx1"/>
                  </a:solidFill>
                  <a:effectLst/>
                  <a:latin typeface="Arial" panose="020B0604020202020204" pitchFamily="34" charset="0"/>
                  <a:ea typeface="黑体-简" panose="02000000000000000000" charset="-122"/>
                  <a:cs typeface="+mn-cs"/>
                  <a:sym typeface="+mn-ea"/>
                </a:endParaRPr>
              </a:p>
            </p:txBody>
          </p:sp>
        </p:grpSp>
        <p:sp>
          <p:nvSpPr>
            <p:cNvPr id="69" name="文本框 68"/>
            <p:cNvSpPr txBox="1"/>
            <p:nvPr/>
          </p:nvSpPr>
          <p:spPr>
            <a:xfrm>
              <a:off x="1492" y="2037"/>
              <a:ext cx="9600" cy="580"/>
            </a:xfrm>
            <a:prstGeom prst="rect">
              <a:avLst/>
            </a:prstGeom>
            <a:noFill/>
          </p:spPr>
          <p:txBody>
            <a:bodyPr wrap="square" rtlCol="0" anchor="t">
              <a:spAutoFit/>
            </a:bodyPr>
            <a:p>
              <a:pPr marL="0" algn="l">
                <a:lnSpc>
                  <a:spcPct val="100000"/>
                </a:lnSpc>
                <a:buClrTx/>
                <a:buSzTx/>
                <a:buFontTx/>
                <a:buNone/>
              </a:pPr>
              <a:r>
                <a:rPr lang="zh-CN" altLang="en-US" sz="1800" b="1" dirty="0">
                  <a:gradFill>
                    <a:gsLst>
                      <a:gs pos="50000">
                        <a:schemeClr val="accent6"/>
                      </a:gs>
                      <a:gs pos="0">
                        <a:schemeClr val="accent6">
                          <a:lumMod val="25000"/>
                          <a:lumOff val="75000"/>
                        </a:schemeClr>
                      </a:gs>
                      <a:gs pos="100000">
                        <a:schemeClr val="accent6">
                          <a:lumMod val="85000"/>
                        </a:schemeClr>
                      </a:gs>
                    </a:gsLst>
                    <a:lin ang="5400000" scaled="1"/>
                  </a:gradFill>
                  <a:latin typeface="Arial" panose="020B0604020202020204" pitchFamily="34" charset="0"/>
                  <a:ea typeface="黑体-简" panose="02000000000000000000" charset="-122"/>
                  <a:cs typeface="微软雅黑" panose="020B0503020204020204" pitchFamily="34" charset="-120"/>
                  <a:sym typeface="+mn-ea"/>
                </a:rPr>
                <a:t>重保期间</a:t>
              </a:r>
              <a:r>
                <a:rPr lang="en-US" altLang="zh-CN" sz="1800" b="1" dirty="0">
                  <a:gradFill>
                    <a:gsLst>
                      <a:gs pos="50000">
                        <a:schemeClr val="accent6"/>
                      </a:gs>
                      <a:gs pos="0">
                        <a:schemeClr val="accent6">
                          <a:lumMod val="25000"/>
                          <a:lumOff val="75000"/>
                        </a:schemeClr>
                      </a:gs>
                      <a:gs pos="100000">
                        <a:schemeClr val="accent6">
                          <a:lumMod val="85000"/>
                        </a:schemeClr>
                      </a:gs>
                    </a:gsLst>
                    <a:lin ang="5400000" scaled="1"/>
                  </a:gradFill>
                  <a:latin typeface="Arial" panose="020B0604020202020204" pitchFamily="34" charset="0"/>
                  <a:ea typeface="黑体-简" panose="02000000000000000000" charset="-122"/>
                  <a:cs typeface="微软雅黑" panose="020B0503020204020204" pitchFamily="34" charset="-120"/>
                  <a:sym typeface="+mn-ea"/>
                </a:rPr>
                <a:t>未发生攻击成功事件，</a:t>
              </a:r>
              <a:r>
                <a:rPr lang="zh-CN" altLang="en-US" sz="1800" b="1" dirty="0">
                  <a:gradFill>
                    <a:gsLst>
                      <a:gs pos="50000">
                        <a:schemeClr val="accent6"/>
                      </a:gs>
                      <a:gs pos="0">
                        <a:schemeClr val="accent6">
                          <a:lumMod val="25000"/>
                          <a:lumOff val="75000"/>
                        </a:schemeClr>
                      </a:gs>
                      <a:gs pos="100000">
                        <a:schemeClr val="accent6">
                          <a:lumMod val="85000"/>
                        </a:schemeClr>
                      </a:gs>
                    </a:gsLst>
                    <a:lin ang="5400000" scaled="1"/>
                  </a:gradFill>
                  <a:latin typeface="Arial" panose="020B0604020202020204" pitchFamily="34" charset="0"/>
                  <a:ea typeface="黑体-简" panose="02000000000000000000" charset="-122"/>
                  <a:cs typeface="微软雅黑" panose="020B0503020204020204" pitchFamily="34" charset="-120"/>
                  <a:sym typeface="+mn-ea"/>
                </a:rPr>
                <a:t>安全威胁风险可控</a:t>
              </a:r>
              <a:endParaRPr lang="zh-CN" altLang="en-US" sz="1800" b="1" dirty="0">
                <a:gradFill>
                  <a:gsLst>
                    <a:gs pos="50000">
                      <a:schemeClr val="accent6"/>
                    </a:gs>
                    <a:gs pos="0">
                      <a:schemeClr val="accent6">
                        <a:lumMod val="25000"/>
                        <a:lumOff val="75000"/>
                      </a:schemeClr>
                    </a:gs>
                    <a:gs pos="100000">
                      <a:schemeClr val="accent6">
                        <a:lumMod val="85000"/>
                      </a:schemeClr>
                    </a:gs>
                  </a:gsLst>
                  <a:lin ang="5400000" scaled="1"/>
                </a:gradFill>
                <a:latin typeface="Arial" panose="020B0604020202020204" pitchFamily="34" charset="0"/>
                <a:ea typeface="黑体-简" panose="02000000000000000000" charset="-122"/>
                <a:cs typeface="微软雅黑" panose="020B0503020204020204" pitchFamily="34" charset="-120"/>
                <a:sym typeface="+mn-ea"/>
              </a:endParaRPr>
            </a:p>
          </p:txBody>
        </p:sp>
      </p:grpSp>
      <p:pic>
        <p:nvPicPr>
          <p:cNvPr id="124" name="图片 123"/>
          <p:cNvPicPr>
            <a:picLocks noChangeAspect="1"/>
          </p:cNvPicPr>
          <p:nvPr/>
        </p:nvPicPr>
        <p:blipFill>
          <a:blip r:embed="rId5"/>
          <a:stretch>
            <a:fillRect/>
          </a:stretch>
        </p:blipFill>
        <p:spPr>
          <a:xfrm>
            <a:off x="6339840" y="3027680"/>
            <a:ext cx="5069205" cy="2606675"/>
          </a:xfrm>
          <a:prstGeom prst="rect">
            <a:avLst/>
          </a:prstGeom>
        </p:spPr>
      </p:pic>
      <p:cxnSp>
        <p:nvCxnSpPr>
          <p:cNvPr id="49" name="直接箭头连接符 48"/>
          <p:cNvCxnSpPr/>
          <p:nvPr>
            <p:custDataLst>
              <p:tags r:id="rId6"/>
            </p:custDataLst>
          </p:nvPr>
        </p:nvCxnSpPr>
        <p:spPr>
          <a:xfrm>
            <a:off x="3528878" y="3280047"/>
            <a:ext cx="1979930" cy="0"/>
          </a:xfrm>
          <a:prstGeom prst="straightConnector1">
            <a:avLst/>
          </a:prstGeom>
          <a:ln w="15875">
            <a:gradFill>
              <a:gsLst>
                <a:gs pos="0">
                  <a:schemeClr val="accent5">
                    <a:lumMod val="20000"/>
                    <a:lumOff val="80000"/>
                    <a:alpha val="21000"/>
                  </a:schemeClr>
                </a:gs>
                <a:gs pos="94000">
                  <a:schemeClr val="accent5">
                    <a:alpha val="60000"/>
                  </a:schemeClr>
                </a:gs>
              </a:gsLst>
              <a:lin ang="10800000" scaled="1"/>
            </a:gradFill>
            <a:headEnd type="none" w="lg" len="med"/>
            <a:tailEnd type="none" w="lg" len="lg"/>
          </a:ln>
        </p:spPr>
        <p:style>
          <a:lnRef idx="2">
            <a:schemeClr val="accent1"/>
          </a:lnRef>
          <a:fillRef idx="0">
            <a:srgbClr val="FFFFFF"/>
          </a:fillRef>
          <a:effectRef idx="0">
            <a:srgbClr val="FFFFFF"/>
          </a:effectRef>
          <a:fontRef idx="minor">
            <a:schemeClr val="tx1"/>
          </a:fontRef>
        </p:style>
      </p:cxnSp>
      <p:cxnSp>
        <p:nvCxnSpPr>
          <p:cNvPr id="54" name="直接箭头连接符 53"/>
          <p:cNvCxnSpPr/>
          <p:nvPr>
            <p:custDataLst>
              <p:tags r:id="rId7"/>
            </p:custDataLst>
          </p:nvPr>
        </p:nvCxnSpPr>
        <p:spPr>
          <a:xfrm>
            <a:off x="3285002" y="3916952"/>
            <a:ext cx="2160905" cy="0"/>
          </a:xfrm>
          <a:prstGeom prst="straightConnector1">
            <a:avLst/>
          </a:prstGeom>
          <a:ln w="15875">
            <a:gradFill>
              <a:gsLst>
                <a:gs pos="0">
                  <a:schemeClr val="accent6">
                    <a:lumMod val="20000"/>
                    <a:lumOff val="80000"/>
                    <a:alpha val="21000"/>
                  </a:schemeClr>
                </a:gs>
                <a:gs pos="94000">
                  <a:schemeClr val="accent6">
                    <a:alpha val="60000"/>
                  </a:schemeClr>
                </a:gs>
              </a:gsLst>
              <a:lin ang="10800000" scaled="1"/>
            </a:gradFill>
            <a:headEnd type="none" w="lg" len="med"/>
            <a:tailEnd type="none" w="lg" len="lg"/>
          </a:ln>
        </p:spPr>
        <p:style>
          <a:lnRef idx="2">
            <a:schemeClr val="accent1"/>
          </a:lnRef>
          <a:fillRef idx="0">
            <a:srgbClr val="FFFFFF"/>
          </a:fillRef>
          <a:effectRef idx="0">
            <a:srgbClr val="FFFFFF"/>
          </a:effectRef>
          <a:fontRef idx="minor">
            <a:schemeClr val="tx1"/>
          </a:fontRef>
        </p:style>
      </p:cxnSp>
      <p:cxnSp>
        <p:nvCxnSpPr>
          <p:cNvPr id="55" name="直接箭头连接符 54"/>
          <p:cNvCxnSpPr/>
          <p:nvPr>
            <p:custDataLst>
              <p:tags r:id="rId8"/>
            </p:custDataLst>
          </p:nvPr>
        </p:nvCxnSpPr>
        <p:spPr>
          <a:xfrm>
            <a:off x="2769416" y="5190762"/>
            <a:ext cx="2896235" cy="0"/>
          </a:xfrm>
          <a:prstGeom prst="straightConnector1">
            <a:avLst/>
          </a:prstGeom>
          <a:ln w="15875">
            <a:gradFill>
              <a:gsLst>
                <a:gs pos="0">
                  <a:schemeClr val="accent6">
                    <a:lumMod val="20000"/>
                    <a:lumOff val="80000"/>
                    <a:alpha val="21000"/>
                  </a:schemeClr>
                </a:gs>
                <a:gs pos="94000">
                  <a:schemeClr val="accent6">
                    <a:alpha val="60000"/>
                  </a:schemeClr>
                </a:gs>
              </a:gsLst>
              <a:lin ang="10800000" scaled="1"/>
            </a:gradFill>
            <a:headEnd type="none" w="lg" len="med"/>
            <a:tailEnd type="none" w="lg" len="lg"/>
          </a:ln>
        </p:spPr>
        <p:style>
          <a:lnRef idx="2">
            <a:schemeClr val="accent1"/>
          </a:lnRef>
          <a:fillRef idx="0">
            <a:srgbClr val="FFFFFF"/>
          </a:fillRef>
          <a:effectRef idx="0">
            <a:srgbClr val="FFFFFF"/>
          </a:effectRef>
          <a:fontRef idx="minor">
            <a:schemeClr val="tx1"/>
          </a:fontRef>
        </p:style>
      </p:cxnSp>
      <p:cxnSp>
        <p:nvCxnSpPr>
          <p:cNvPr id="57" name="直接箭头连接符 56"/>
          <p:cNvCxnSpPr/>
          <p:nvPr>
            <p:custDataLst>
              <p:tags r:id="rId9"/>
            </p:custDataLst>
          </p:nvPr>
        </p:nvCxnSpPr>
        <p:spPr>
          <a:xfrm>
            <a:off x="3026768" y="4553857"/>
            <a:ext cx="2544445" cy="0"/>
          </a:xfrm>
          <a:prstGeom prst="straightConnector1">
            <a:avLst/>
          </a:prstGeom>
          <a:ln w="15875">
            <a:gradFill>
              <a:gsLst>
                <a:gs pos="0">
                  <a:schemeClr val="accent5">
                    <a:lumMod val="20000"/>
                    <a:lumOff val="80000"/>
                    <a:alpha val="21000"/>
                  </a:schemeClr>
                </a:gs>
                <a:gs pos="94000">
                  <a:schemeClr val="accent5">
                    <a:alpha val="60000"/>
                  </a:schemeClr>
                </a:gs>
              </a:gsLst>
              <a:lin ang="10800000" scaled="1"/>
            </a:gradFill>
            <a:headEnd type="none" w="lg" len="med"/>
            <a:tailEnd type="none" w="lg" len="lg"/>
          </a:ln>
        </p:spPr>
        <p:style>
          <a:lnRef idx="2">
            <a:schemeClr val="accent1"/>
          </a:lnRef>
          <a:fillRef idx="0">
            <a:srgbClr val="FFFFFF"/>
          </a:fillRef>
          <a:effectRef idx="0">
            <a:srgbClr val="FFFFFF"/>
          </a:effectRef>
          <a:fontRef idx="minor">
            <a:schemeClr val="tx1"/>
          </a:fontRef>
        </p:style>
      </p:cxnSp>
      <p:sp>
        <p:nvSpPr>
          <p:cNvPr id="62" name="梯形 61"/>
          <p:cNvSpPr/>
          <p:nvPr>
            <p:custDataLst>
              <p:tags r:id="rId10"/>
            </p:custDataLst>
          </p:nvPr>
        </p:nvSpPr>
        <p:spPr>
          <a:xfrm rot="10800000">
            <a:off x="953770" y="3176542"/>
            <a:ext cx="2669101" cy="2296710"/>
          </a:xfrm>
          <a:prstGeom prst="trapezoid">
            <a:avLst>
              <a:gd name="adj" fmla="val 44044"/>
            </a:avLst>
          </a:prstGeom>
          <a:gradFill>
            <a:gsLst>
              <a:gs pos="0">
                <a:schemeClr val="accent5">
                  <a:alpha val="0"/>
                </a:schemeClr>
              </a:gs>
              <a:gs pos="40000">
                <a:schemeClr val="accent5">
                  <a:alpha val="30000"/>
                </a:schemeClr>
              </a:gs>
              <a:gs pos="20000">
                <a:schemeClr val="accent5">
                  <a:alpha val="15000"/>
                </a:schemeClr>
              </a:gs>
              <a:gs pos="95000">
                <a:schemeClr val="accent5">
                  <a:alpha val="0"/>
                </a:schemeClr>
              </a:gs>
              <a:gs pos="60000">
                <a:schemeClr val="accent5">
                  <a:alpha val="20000"/>
                </a:scheme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olidFill>
                <a:schemeClr val="lt1"/>
              </a:solidFill>
              <a:sym typeface="+mn-ea"/>
            </a:endParaRPr>
          </a:p>
        </p:txBody>
      </p:sp>
      <p:sp>
        <p:nvSpPr>
          <p:cNvPr id="65" name="梯形 64"/>
          <p:cNvSpPr/>
          <p:nvPr>
            <p:custDataLst>
              <p:tags r:id="rId11"/>
            </p:custDataLst>
          </p:nvPr>
        </p:nvSpPr>
        <p:spPr>
          <a:xfrm rot="10800000">
            <a:off x="1047750" y="3176270"/>
            <a:ext cx="2480945" cy="2732405"/>
          </a:xfrm>
          <a:prstGeom prst="trapezoid">
            <a:avLst>
              <a:gd name="adj" fmla="val 44044"/>
            </a:avLst>
          </a:prstGeom>
          <a:gradFill>
            <a:gsLst>
              <a:gs pos="10000">
                <a:schemeClr val="accent5">
                  <a:alpha val="0"/>
                </a:schemeClr>
              </a:gs>
              <a:gs pos="40000">
                <a:schemeClr val="accent5">
                  <a:alpha val="20000"/>
                </a:schemeClr>
              </a:gs>
              <a:gs pos="20000">
                <a:schemeClr val="accent5">
                  <a:alpha val="15000"/>
                </a:schemeClr>
              </a:gs>
              <a:gs pos="85000">
                <a:schemeClr val="accent5">
                  <a:alpha val="0"/>
                </a:schemeClr>
              </a:gs>
              <a:gs pos="60000">
                <a:schemeClr val="accent5">
                  <a:alpha val="15000"/>
                </a:scheme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olidFill>
                <a:schemeClr val="lt1"/>
              </a:solidFill>
              <a:sym typeface="+mn-ea"/>
            </a:endParaRPr>
          </a:p>
        </p:txBody>
      </p:sp>
      <p:sp>
        <p:nvSpPr>
          <p:cNvPr id="67" name="椭圆 66"/>
          <p:cNvSpPr/>
          <p:nvPr>
            <p:custDataLst>
              <p:tags r:id="rId12"/>
            </p:custDataLst>
          </p:nvPr>
        </p:nvSpPr>
        <p:spPr>
          <a:xfrm>
            <a:off x="1807763" y="5148754"/>
            <a:ext cx="961413" cy="213360"/>
          </a:xfrm>
          <a:prstGeom prst="ellipse">
            <a:avLst/>
          </a:prstGeom>
          <a:noFill/>
          <a:ln w="19050" cap="rnd">
            <a:gradFill flip="none" rotWithShape="1">
              <a:gsLst>
                <a:gs pos="0">
                  <a:schemeClr val="accent5">
                    <a:alpha val="0"/>
                  </a:schemeClr>
                </a:gs>
                <a:gs pos="50000">
                  <a:schemeClr val="accent5">
                    <a:alpha val="10000"/>
                  </a:schemeClr>
                </a:gs>
                <a:gs pos="100000">
                  <a:schemeClr val="accent5">
                    <a:alpha val="50000"/>
                  </a:schemeClr>
                </a:gs>
              </a:gsLst>
              <a:lin ang="16200000" scaled="1"/>
              <a:tileRect/>
            </a:gradFill>
            <a:prstDash val="lgDash"/>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solidFill>
                <a:schemeClr val="tx1"/>
              </a:solidFill>
            </a:endParaRPr>
          </a:p>
        </p:txBody>
      </p:sp>
      <p:sp>
        <p:nvSpPr>
          <p:cNvPr id="70" name="椭圆 69"/>
          <p:cNvSpPr/>
          <p:nvPr>
            <p:custDataLst>
              <p:tags r:id="rId13"/>
            </p:custDataLst>
          </p:nvPr>
        </p:nvSpPr>
        <p:spPr>
          <a:xfrm>
            <a:off x="1613958" y="4644564"/>
            <a:ext cx="1349022" cy="278765"/>
          </a:xfrm>
          <a:prstGeom prst="ellipse">
            <a:avLst/>
          </a:prstGeom>
          <a:noFill/>
          <a:ln w="25400" cap="rnd">
            <a:gradFill flip="none" rotWithShape="1">
              <a:gsLst>
                <a:gs pos="0">
                  <a:schemeClr val="accent6">
                    <a:alpha val="0"/>
                  </a:schemeClr>
                </a:gs>
                <a:gs pos="50000">
                  <a:schemeClr val="accent6">
                    <a:alpha val="10000"/>
                  </a:schemeClr>
                </a:gs>
                <a:gs pos="100000">
                  <a:schemeClr val="accent6">
                    <a:alpha val="60000"/>
                  </a:schemeClr>
                </a:gs>
              </a:gsLst>
              <a:lin ang="16200000" scaled="1"/>
              <a:tileRect/>
            </a:gradFill>
            <a:prstDash val="lgDash"/>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solidFill>
                <a:schemeClr val="tx1"/>
              </a:solidFill>
            </a:endParaRPr>
          </a:p>
        </p:txBody>
      </p:sp>
      <p:sp>
        <p:nvSpPr>
          <p:cNvPr id="71" name="椭圆 70"/>
          <p:cNvSpPr/>
          <p:nvPr>
            <p:custDataLst>
              <p:tags r:id="rId14"/>
            </p:custDataLst>
          </p:nvPr>
        </p:nvSpPr>
        <p:spPr>
          <a:xfrm>
            <a:off x="1360028" y="4042584"/>
            <a:ext cx="1856883" cy="376555"/>
          </a:xfrm>
          <a:prstGeom prst="ellipse">
            <a:avLst/>
          </a:prstGeom>
          <a:noFill/>
          <a:ln w="31750" cap="rnd">
            <a:gradFill flip="none" rotWithShape="1">
              <a:gsLst>
                <a:gs pos="0">
                  <a:schemeClr val="accent5">
                    <a:alpha val="0"/>
                  </a:schemeClr>
                </a:gs>
                <a:gs pos="50000">
                  <a:schemeClr val="accent5">
                    <a:alpha val="20000"/>
                  </a:schemeClr>
                </a:gs>
                <a:gs pos="100000">
                  <a:schemeClr val="accent5">
                    <a:alpha val="80000"/>
                  </a:schemeClr>
                </a:gs>
              </a:gsLst>
              <a:lin ang="16200000" scaled="1"/>
              <a:tileRect/>
            </a:gradFill>
            <a:prstDash val="lgDash"/>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dirty="0">
              <a:solidFill>
                <a:schemeClr val="tx1"/>
              </a:solidFill>
            </a:endParaRPr>
          </a:p>
        </p:txBody>
      </p:sp>
      <p:sp>
        <p:nvSpPr>
          <p:cNvPr id="72" name="椭圆 71"/>
          <p:cNvSpPr/>
          <p:nvPr>
            <p:custDataLst>
              <p:tags r:id="rId15"/>
            </p:custDataLst>
          </p:nvPr>
        </p:nvSpPr>
        <p:spPr>
          <a:xfrm>
            <a:off x="1125046" y="3346896"/>
            <a:ext cx="2326847" cy="470263"/>
          </a:xfrm>
          <a:prstGeom prst="ellipse">
            <a:avLst/>
          </a:prstGeom>
          <a:noFill/>
          <a:ln w="38100" cap="rnd">
            <a:gradFill flip="none" rotWithShape="1">
              <a:gsLst>
                <a:gs pos="0">
                  <a:schemeClr val="accent6">
                    <a:alpha val="0"/>
                  </a:schemeClr>
                </a:gs>
                <a:gs pos="50000">
                  <a:schemeClr val="accent6">
                    <a:alpha val="20000"/>
                  </a:schemeClr>
                </a:gs>
                <a:gs pos="100000">
                  <a:schemeClr val="accent6">
                    <a:alpha val="100000"/>
                  </a:schemeClr>
                </a:gs>
              </a:gsLst>
              <a:lin ang="16200000" scaled="1"/>
              <a:tileRect/>
            </a:gradFill>
            <a:prstDash val="lgDash"/>
            <a:round/>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solidFill>
                <a:schemeClr val="tx1"/>
              </a:solidFill>
            </a:endParaRPr>
          </a:p>
        </p:txBody>
      </p:sp>
      <p:sp>
        <p:nvSpPr>
          <p:cNvPr id="73" name="矩形 72"/>
          <p:cNvSpPr/>
          <p:nvPr>
            <p:custDataLst>
              <p:tags r:id="rId16"/>
            </p:custDataLst>
          </p:nvPr>
        </p:nvSpPr>
        <p:spPr>
          <a:xfrm>
            <a:off x="1229924" y="3044190"/>
            <a:ext cx="2180590" cy="267335"/>
          </a:xfrm>
          <a:prstGeom prst="rect">
            <a:avLst/>
          </a:prstGeom>
          <a:noFill/>
        </p:spPr>
        <p:txBody>
          <a:bodyPr wrap="square" lIns="0" tIns="0" rIns="0" bIns="0" rtlCol="0" anchor="b" anchorCtr="0">
            <a:noAutofit/>
          </a:bodyPr>
          <a:p>
            <a:pPr algn="ctr">
              <a:spcBef>
                <a:spcPct val="0"/>
              </a:spcBef>
              <a:spcAft>
                <a:spcPct val="0"/>
              </a:spcAft>
            </a:pPr>
            <a:r>
              <a:rPr lang="zh-CN" altLang="en-US" sz="1400" b="1" spc="300" dirty="0">
                <a:solidFill>
                  <a:schemeClr val="accent5">
                    <a:alpha val="60000"/>
                  </a:schemeClr>
                </a:solidFill>
                <a:uFillTx/>
                <a:latin typeface="+中文正文" charset="0"/>
                <a:cs typeface="+mn-ea"/>
                <a:sym typeface="+mn-ea"/>
              </a:rPr>
              <a:t>{{critical_period_security_log_count}}</a:t>
            </a:r>
            <a:endParaRPr lang="zh-CN" altLang="en-US" sz="1400" b="1" spc="300" dirty="0">
              <a:solidFill>
                <a:schemeClr val="accent5">
                  <a:alpha val="60000"/>
                </a:schemeClr>
              </a:solidFill>
              <a:uFillTx/>
              <a:latin typeface="+中文正文" charset="0"/>
              <a:cs typeface="+mn-ea"/>
              <a:sym typeface="+mn-ea"/>
            </a:endParaRPr>
          </a:p>
        </p:txBody>
      </p:sp>
      <p:sp>
        <p:nvSpPr>
          <p:cNvPr id="74" name="矩形 73"/>
          <p:cNvSpPr/>
          <p:nvPr>
            <p:custDataLst>
              <p:tags r:id="rId17"/>
            </p:custDataLst>
          </p:nvPr>
        </p:nvSpPr>
        <p:spPr>
          <a:xfrm>
            <a:off x="1417955" y="3771265"/>
            <a:ext cx="1737360" cy="213360"/>
          </a:xfrm>
          <a:prstGeom prst="rect">
            <a:avLst/>
          </a:prstGeom>
          <a:noFill/>
        </p:spPr>
        <p:txBody>
          <a:bodyPr wrap="square" lIns="0" tIns="0" rIns="0" bIns="0" rtlCol="0" anchor="b" anchorCtr="0">
            <a:noAutofit/>
          </a:bodyPr>
          <a:p>
            <a:pPr algn="ctr">
              <a:spcBef>
                <a:spcPct val="0"/>
              </a:spcBef>
              <a:spcAft>
                <a:spcPct val="0"/>
              </a:spcAft>
            </a:pPr>
            <a:r>
              <a:rPr lang="zh-CN" altLang="en-US" sz="1400" b="1" spc="300" dirty="0">
                <a:solidFill>
                  <a:schemeClr val="accent6">
                    <a:alpha val="70000"/>
                  </a:schemeClr>
                </a:solidFill>
                <a:uFillTx/>
                <a:latin typeface="+中文正文" charset="0"/>
                <a:cs typeface="+mn-ea"/>
                <a:sym typeface="+mn-ea"/>
              </a:rPr>
              <a:t>{{critical_period_alert_count}}</a:t>
            </a:r>
            <a:endParaRPr lang="zh-CN" altLang="en-US" sz="1400" b="1" spc="300" dirty="0">
              <a:solidFill>
                <a:schemeClr val="accent6">
                  <a:alpha val="70000"/>
                </a:schemeClr>
              </a:solidFill>
              <a:uFillTx/>
              <a:latin typeface="+中文正文" charset="0"/>
              <a:cs typeface="+mn-ea"/>
              <a:sym typeface="+mn-ea"/>
            </a:endParaRPr>
          </a:p>
          <a:p>
            <a:pPr algn="ctr">
              <a:spcBef>
                <a:spcPct val="0"/>
              </a:spcBef>
              <a:spcAft>
                <a:spcPct val="0"/>
              </a:spcAft>
            </a:pPr>
            <a:endParaRPr lang="zh-CN" altLang="en-US" sz="1400" b="1" spc="300" dirty="0">
              <a:solidFill>
                <a:schemeClr val="accent6">
                  <a:alpha val="70000"/>
                </a:schemeClr>
              </a:solidFill>
              <a:uFillTx/>
              <a:latin typeface="+中文正文" charset="0"/>
              <a:cs typeface="+mn-ea"/>
              <a:sym typeface="+mn-ea"/>
            </a:endParaRPr>
          </a:p>
        </p:txBody>
      </p:sp>
      <p:sp>
        <p:nvSpPr>
          <p:cNvPr id="75" name="矩形 74"/>
          <p:cNvSpPr/>
          <p:nvPr>
            <p:custDataLst>
              <p:tags r:id="rId18"/>
            </p:custDataLst>
          </p:nvPr>
        </p:nvSpPr>
        <p:spPr>
          <a:xfrm>
            <a:off x="1583690" y="4395470"/>
            <a:ext cx="1379220" cy="403860"/>
          </a:xfrm>
          <a:prstGeom prst="rect">
            <a:avLst/>
          </a:prstGeom>
          <a:noFill/>
        </p:spPr>
        <p:txBody>
          <a:bodyPr wrap="square" lIns="0" tIns="0" rIns="0" bIns="0" rtlCol="0" anchor="b" anchorCtr="0">
            <a:noAutofit/>
          </a:bodyPr>
          <a:p>
            <a:pPr algn="ctr">
              <a:spcBef>
                <a:spcPct val="0"/>
              </a:spcBef>
              <a:spcAft>
                <a:spcPct val="0"/>
              </a:spcAft>
            </a:pPr>
            <a:r>
              <a:rPr lang="zh-CN" altLang="en-US" sz="1400" b="1" spc="300" dirty="0">
                <a:solidFill>
                  <a:schemeClr val="accent5">
                    <a:alpha val="70000"/>
                  </a:schemeClr>
                </a:solidFill>
                <a:uFillTx/>
                <a:latin typeface="+中文正文" charset="0"/>
                <a:cs typeface="+mn-ea"/>
                <a:sym typeface="+mn-ea"/>
              </a:rPr>
              <a:t>{{critical_period_incident_count}}</a:t>
            </a:r>
            <a:endParaRPr lang="zh-CN" altLang="en-US" sz="1400" b="1" spc="300" dirty="0">
              <a:solidFill>
                <a:schemeClr val="accent5">
                  <a:alpha val="70000"/>
                </a:schemeClr>
              </a:solidFill>
              <a:uFillTx/>
              <a:latin typeface="+中文正文" charset="0"/>
              <a:cs typeface="+mn-ea"/>
              <a:sym typeface="+mn-ea"/>
            </a:endParaRPr>
          </a:p>
          <a:p>
            <a:pPr algn="ctr">
              <a:spcBef>
                <a:spcPct val="0"/>
              </a:spcBef>
              <a:spcAft>
                <a:spcPct val="0"/>
              </a:spcAft>
            </a:pPr>
            <a:endParaRPr lang="zh-CN" altLang="en-US" sz="1400" b="1" spc="300" dirty="0">
              <a:solidFill>
                <a:schemeClr val="accent5">
                  <a:alpha val="70000"/>
                </a:schemeClr>
              </a:solidFill>
              <a:uFillTx/>
              <a:latin typeface="+中文正文" charset="0"/>
              <a:cs typeface="+mn-ea"/>
              <a:sym typeface="+mn-ea"/>
            </a:endParaRPr>
          </a:p>
        </p:txBody>
      </p:sp>
      <p:sp>
        <p:nvSpPr>
          <p:cNvPr id="76" name="矩形 75"/>
          <p:cNvSpPr/>
          <p:nvPr>
            <p:custDataLst>
              <p:tags r:id="rId19"/>
            </p:custDataLst>
          </p:nvPr>
        </p:nvSpPr>
        <p:spPr>
          <a:xfrm>
            <a:off x="1950720" y="5266690"/>
            <a:ext cx="675640" cy="212725"/>
          </a:xfrm>
          <a:prstGeom prst="rect">
            <a:avLst/>
          </a:prstGeom>
          <a:noFill/>
        </p:spPr>
        <p:txBody>
          <a:bodyPr wrap="square" lIns="0" tIns="0" rIns="0" bIns="0" rtlCol="0" anchor="b" anchorCtr="0">
            <a:noAutofit/>
          </a:bodyPr>
          <a:p>
            <a:pPr algn="ctr">
              <a:spcBef>
                <a:spcPct val="0"/>
              </a:spcBef>
              <a:spcAft>
                <a:spcPct val="0"/>
              </a:spcAft>
            </a:pPr>
            <a:r>
              <a:rPr lang="zh-CN" altLang="en-US" sz="1400" b="1" spc="300" dirty="0">
                <a:solidFill>
                  <a:schemeClr val="accent6">
                    <a:alpha val="80000"/>
                  </a:schemeClr>
                </a:solidFill>
                <a:uFillTx/>
                <a:latin typeface="+中文正文" charset="0"/>
                <a:cs typeface="+mn-ea"/>
                <a:sym typeface="+mn-ea"/>
              </a:rPr>
              <a:t>零</a:t>
            </a:r>
            <a:endParaRPr lang="zh-CN" altLang="en-US" sz="1400" b="1" spc="300" dirty="0">
              <a:solidFill>
                <a:schemeClr val="accent6">
                  <a:alpha val="80000"/>
                </a:schemeClr>
              </a:solidFill>
              <a:uFillTx/>
              <a:latin typeface="+中文正文" charset="0"/>
              <a:cs typeface="+mn-ea"/>
              <a:sym typeface="+mn-ea"/>
            </a:endParaRPr>
          </a:p>
        </p:txBody>
      </p:sp>
      <p:sp>
        <p:nvSpPr>
          <p:cNvPr id="77" name="矩形 76"/>
          <p:cNvSpPr/>
          <p:nvPr>
            <p:custDataLst>
              <p:tags r:id="rId20"/>
            </p:custDataLst>
          </p:nvPr>
        </p:nvSpPr>
        <p:spPr>
          <a:xfrm>
            <a:off x="3528695" y="3378200"/>
            <a:ext cx="2179955" cy="352425"/>
          </a:xfrm>
          <a:prstGeom prst="rect">
            <a:avLst/>
          </a:prstGeom>
          <a:noFill/>
          <a:ln>
            <a:noFill/>
          </a:ln>
        </p:spPr>
        <p:txBody>
          <a:bodyPr wrap="square" lIns="0" tIns="0" rIns="0" bIns="0" rtlCol="0" anchor="t" anchorCtr="0">
            <a:noAutofit/>
          </a:bodyPr>
          <a:p>
            <a:pPr algn="l">
              <a:lnSpc>
                <a:spcPct val="140000"/>
              </a:lnSpc>
              <a:spcBef>
                <a:spcPct val="0"/>
              </a:spcBef>
              <a:spcAft>
                <a:spcPct val="0"/>
              </a:spcAft>
            </a:pPr>
            <a:r>
              <a:rPr lang="zh-CN" altLang="en-US" sz="1600" kern="0" dirty="0">
                <a:ln>
                  <a:noFill/>
                  <a:prstDash val="sysDot"/>
                </a:ln>
                <a:solidFill>
                  <a:schemeClr val="tx1">
                    <a:lumMod val="85000"/>
                    <a:lumOff val="15000"/>
                  </a:schemeClr>
                </a:solidFill>
                <a:latin typeface="+mn-ea"/>
                <a:sym typeface="+mn-ea"/>
              </a:rPr>
              <a:t>安全日志数</a:t>
            </a:r>
            <a:endParaRPr lang="zh-CN" altLang="en-US" sz="1600" kern="0" dirty="0">
              <a:ln>
                <a:noFill/>
                <a:prstDash val="sysDot"/>
              </a:ln>
              <a:solidFill>
                <a:schemeClr val="tx1">
                  <a:lumMod val="85000"/>
                  <a:lumOff val="15000"/>
                </a:schemeClr>
              </a:solidFill>
              <a:latin typeface="+mn-ea"/>
              <a:sym typeface="+mn-ea"/>
            </a:endParaRPr>
          </a:p>
        </p:txBody>
      </p:sp>
      <p:sp>
        <p:nvSpPr>
          <p:cNvPr id="78" name="矩形 77"/>
          <p:cNvSpPr/>
          <p:nvPr>
            <p:custDataLst>
              <p:tags r:id="rId21"/>
            </p:custDataLst>
          </p:nvPr>
        </p:nvSpPr>
        <p:spPr>
          <a:xfrm>
            <a:off x="3284771" y="4039633"/>
            <a:ext cx="2180039" cy="281382"/>
          </a:xfrm>
          <a:prstGeom prst="rect">
            <a:avLst/>
          </a:prstGeom>
          <a:noFill/>
        </p:spPr>
        <p:txBody>
          <a:bodyPr wrap="square" lIns="0" tIns="0" rIns="0" bIns="0" rtlCol="0" anchor="t" anchorCtr="0">
            <a:noAutofit/>
          </a:bodyPr>
          <a:p>
            <a:pPr algn="l">
              <a:lnSpc>
                <a:spcPct val="140000"/>
              </a:lnSpc>
              <a:spcBef>
                <a:spcPct val="0"/>
              </a:spcBef>
              <a:spcAft>
                <a:spcPct val="0"/>
              </a:spcAft>
            </a:pPr>
            <a:r>
              <a:rPr lang="zh-CN" altLang="en-US" sz="1600" kern="0" dirty="0">
                <a:ln>
                  <a:noFill/>
                  <a:prstDash val="sysDot"/>
                </a:ln>
                <a:solidFill>
                  <a:schemeClr val="tx1">
                    <a:lumMod val="85000"/>
                    <a:lumOff val="15000"/>
                  </a:schemeClr>
                </a:solidFill>
                <a:latin typeface="+mn-ea"/>
                <a:sym typeface="+mn-ea"/>
              </a:rPr>
              <a:t>安全告警数</a:t>
            </a:r>
            <a:endParaRPr lang="zh-CN" altLang="en-US" sz="1600" kern="0" dirty="0">
              <a:ln>
                <a:noFill/>
                <a:prstDash val="sysDot"/>
              </a:ln>
              <a:solidFill>
                <a:schemeClr val="tx1">
                  <a:lumMod val="85000"/>
                  <a:lumOff val="15000"/>
                </a:schemeClr>
              </a:solidFill>
              <a:latin typeface="+mn-ea"/>
              <a:sym typeface="+mn-ea"/>
            </a:endParaRPr>
          </a:p>
        </p:txBody>
      </p:sp>
      <p:sp>
        <p:nvSpPr>
          <p:cNvPr id="79" name="矩形 78"/>
          <p:cNvSpPr/>
          <p:nvPr>
            <p:custDataLst>
              <p:tags r:id="rId22"/>
            </p:custDataLst>
          </p:nvPr>
        </p:nvSpPr>
        <p:spPr>
          <a:xfrm>
            <a:off x="3026961" y="4654049"/>
            <a:ext cx="2180039" cy="281382"/>
          </a:xfrm>
          <a:prstGeom prst="rect">
            <a:avLst/>
          </a:prstGeom>
          <a:noFill/>
        </p:spPr>
        <p:txBody>
          <a:bodyPr wrap="square" lIns="0" tIns="0" rIns="0" bIns="0" rtlCol="0" anchor="t" anchorCtr="0">
            <a:noAutofit/>
          </a:bodyPr>
          <a:p>
            <a:pPr algn="l">
              <a:lnSpc>
                <a:spcPct val="140000"/>
              </a:lnSpc>
              <a:spcBef>
                <a:spcPct val="0"/>
              </a:spcBef>
              <a:spcAft>
                <a:spcPct val="0"/>
              </a:spcAft>
            </a:pPr>
            <a:r>
              <a:rPr lang="zh-CN" altLang="en-US" sz="1600" kern="0" dirty="0">
                <a:ln>
                  <a:noFill/>
                  <a:prstDash val="sysDot"/>
                </a:ln>
                <a:solidFill>
                  <a:schemeClr val="tx1">
                    <a:lumMod val="85000"/>
                    <a:lumOff val="15000"/>
                  </a:schemeClr>
                </a:solidFill>
                <a:latin typeface="+mn-ea"/>
                <a:sym typeface="+mn-ea"/>
              </a:rPr>
              <a:t>威胁事件数</a:t>
            </a:r>
            <a:endParaRPr lang="zh-CN" altLang="en-US" sz="1600" kern="0" dirty="0">
              <a:ln>
                <a:noFill/>
                <a:prstDash val="sysDot"/>
              </a:ln>
              <a:solidFill>
                <a:schemeClr val="tx1">
                  <a:lumMod val="85000"/>
                  <a:lumOff val="15000"/>
                </a:schemeClr>
              </a:solidFill>
              <a:latin typeface="+mn-ea"/>
              <a:sym typeface="+mn-ea"/>
            </a:endParaRPr>
          </a:p>
        </p:txBody>
      </p:sp>
      <p:sp>
        <p:nvSpPr>
          <p:cNvPr id="80" name="矩形 79"/>
          <p:cNvSpPr/>
          <p:nvPr>
            <p:custDataLst>
              <p:tags r:id="rId23"/>
            </p:custDataLst>
          </p:nvPr>
        </p:nvSpPr>
        <p:spPr>
          <a:xfrm>
            <a:off x="2769151" y="5255747"/>
            <a:ext cx="2180039" cy="281382"/>
          </a:xfrm>
          <a:prstGeom prst="rect">
            <a:avLst/>
          </a:prstGeom>
          <a:noFill/>
        </p:spPr>
        <p:txBody>
          <a:bodyPr wrap="square" lIns="0" tIns="0" rIns="0" bIns="0" rtlCol="0" anchor="t" anchorCtr="0">
            <a:noAutofit/>
          </a:bodyPr>
          <a:p>
            <a:pPr algn="l">
              <a:lnSpc>
                <a:spcPct val="140000"/>
              </a:lnSpc>
              <a:spcBef>
                <a:spcPct val="0"/>
              </a:spcBef>
              <a:spcAft>
                <a:spcPct val="0"/>
              </a:spcAft>
            </a:pPr>
            <a:r>
              <a:rPr lang="zh-CN" altLang="en-US" sz="1600" kern="0" dirty="0">
                <a:ln>
                  <a:noFill/>
                  <a:prstDash val="sysDot"/>
                </a:ln>
                <a:solidFill>
                  <a:schemeClr val="tx1">
                    <a:lumMod val="85000"/>
                    <a:lumOff val="15000"/>
                  </a:schemeClr>
                </a:solidFill>
                <a:latin typeface="+mn-ea"/>
                <a:sym typeface="+mn-ea"/>
              </a:rPr>
              <a:t>重大事故</a:t>
            </a:r>
            <a:endParaRPr lang="zh-CN" altLang="en-US" sz="1600" kern="0" dirty="0">
              <a:ln>
                <a:noFill/>
                <a:prstDash val="sysDot"/>
              </a:ln>
              <a:solidFill>
                <a:schemeClr val="tx1">
                  <a:lumMod val="85000"/>
                  <a:lumOff val="15000"/>
                </a:schemeClr>
              </a:solidFill>
              <a:latin typeface="+mn-ea"/>
              <a:sym typeface="+mn-ea"/>
            </a:endParaRPr>
          </a:p>
        </p:txBody>
      </p:sp>
    </p:spTree>
    <p:custDataLst>
      <p:tags r:id="rId24"/>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0"/>
          <p:cNvSpPr/>
          <p:nvPr/>
        </p:nvSpPr>
        <p:spPr>
          <a:xfrm>
            <a:off x="647700" y="3670618"/>
            <a:ext cx="3005773" cy="1883093"/>
          </a:xfrm>
          <a:prstGeom prst="rect">
            <a:avLst/>
          </a:prstGeom>
          <a:solidFill>
            <a:schemeClr val="bg1">
              <a:lumMod val="95000"/>
            </a:schemeClr>
          </a:solidFill>
          <a:ln w="0" cap="flat">
            <a:noFill/>
            <a:prstDash val="solid"/>
            <a:miter lim="0"/>
          </a:ln>
        </p:spPr>
        <p:txBody>
          <a:bodyPr vert="horz" wrap="square" lIns="0" tIns="0" rIns="0" bIns="0"/>
          <a:p>
            <a:pPr algn="l" rtl="0" eaLnBrk="0">
              <a:lnSpc>
                <a:spcPct val="83000"/>
              </a:lnSpc>
            </a:pPr>
            <a:endParaRPr sz="100" dirty="0">
              <a:latin typeface="Arial" panose="020B0604020202020204"/>
              <a:ea typeface="Arial" panose="020B0604020202020204"/>
              <a:cs typeface="Arial" panose="020B0604020202020204"/>
            </a:endParaRPr>
          </a:p>
          <a:p>
            <a:pPr algn="l" rtl="0" eaLnBrk="0">
              <a:lnSpc>
                <a:spcPct val="119000"/>
              </a:lnSpc>
            </a:pPr>
            <a:endParaRPr sz="900" b="1" kern="0" spc="-40" dirty="0">
              <a:solidFill>
                <a:srgbClr val="000000">
                  <a:alpha val="100000"/>
                </a:srgbClr>
              </a:solidFill>
              <a:latin typeface="黑体" panose="02010609060101010101" charset="-122"/>
              <a:ea typeface="黑体" panose="02010609060101010101" charset="-122"/>
              <a:cs typeface="黑体" panose="02010609060101010101" charset="-122"/>
            </a:endParaRPr>
          </a:p>
          <a:p>
            <a:pPr algn="l" rtl="0" eaLnBrk="0">
              <a:lnSpc>
                <a:spcPct val="108000"/>
              </a:lnSpc>
            </a:pPr>
            <a:endParaRPr sz="900" b="1" kern="0" spc="-40" dirty="0">
              <a:solidFill>
                <a:srgbClr val="000000">
                  <a:alpha val="100000"/>
                </a:srgbClr>
              </a:solidFill>
              <a:latin typeface="黑体" panose="02010609060101010101" charset="-122"/>
              <a:ea typeface="黑体" panose="02010609060101010101" charset="-122"/>
              <a:cs typeface="黑体" panose="02010609060101010101" charset="-122"/>
            </a:endParaRPr>
          </a:p>
          <a:p>
            <a:pPr algn="l" rtl="0" eaLnBrk="0">
              <a:lnSpc>
                <a:spcPct val="108000"/>
              </a:lnSpc>
            </a:pPr>
            <a:endParaRPr sz="900" dirty="0">
              <a:latin typeface="黑体" panose="02010609060101010101" charset="-122"/>
              <a:ea typeface="黑体" panose="02010609060101010101" charset="-122"/>
              <a:cs typeface="黑体" panose="02010609060101010101" charset="-122"/>
            </a:endParaRPr>
          </a:p>
        </p:txBody>
      </p:sp>
      <p:sp>
        <p:nvSpPr>
          <p:cNvPr id="8" name="文本框 7"/>
          <p:cNvSpPr txBox="1"/>
          <p:nvPr/>
        </p:nvSpPr>
        <p:spPr>
          <a:xfrm>
            <a:off x="734060" y="3723323"/>
            <a:ext cx="2880000" cy="600075"/>
          </a:xfrm>
          <a:prstGeom prst="rect">
            <a:avLst/>
          </a:prstGeom>
          <a:noFill/>
        </p:spPr>
        <p:txBody>
          <a:bodyPr wrap="square" rtlCol="0" anchor="t">
            <a:noAutofit/>
          </a:bodyPr>
          <a:p>
            <a:pPr algn="l" rtl="0" eaLnBrk="0">
              <a:lnSpc>
                <a:spcPct val="155000"/>
              </a:lnSpc>
            </a:pPr>
            <a:r>
              <a:rPr lang="zh-CN" altLang="en-US" sz="1000" b="1"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完备的保障机制</a:t>
            </a:r>
            <a:endParaRPr sz="1000" dirty="0">
              <a:latin typeface="黑体" panose="02010609060101010101" charset="-122"/>
              <a:ea typeface="黑体" panose="02010609060101010101" charset="-122"/>
              <a:cs typeface="黑体" panose="02010609060101010101" charset="-122"/>
            </a:endParaRPr>
          </a:p>
          <a:p>
            <a:pPr marL="11430" algn="l" rtl="0" eaLnBrk="0">
              <a:lnSpc>
                <a:spcPct val="97000"/>
              </a:lnSpc>
              <a:spcBef>
                <a:spcPts val="185"/>
              </a:spcBef>
            </a:pPr>
            <a:r>
              <a:rPr lang="zh-CN" altLang="en-US" sz="80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结合业务运维，制定各类安全风险的分级分类响应标准和闭环流程；重要时期前进行潜在风险排查。</a:t>
            </a:r>
            <a:endParaRPr lang="zh-CN" altLang="en-US" sz="80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9" name="文本框 8"/>
          <p:cNvSpPr txBox="1"/>
          <p:nvPr/>
        </p:nvSpPr>
        <p:spPr>
          <a:xfrm>
            <a:off x="734060" y="4338320"/>
            <a:ext cx="2880000" cy="566420"/>
          </a:xfrm>
          <a:prstGeom prst="rect">
            <a:avLst/>
          </a:prstGeom>
          <a:noFill/>
        </p:spPr>
        <p:txBody>
          <a:bodyPr wrap="square" rtlCol="0" anchor="t">
            <a:spAutoFit/>
          </a:bodyPr>
          <a:p>
            <a:pPr algn="l" rtl="0" eaLnBrk="0">
              <a:lnSpc>
                <a:spcPct val="119000"/>
              </a:lnSpc>
            </a:pPr>
            <a:r>
              <a:rPr lang="zh-CN" sz="1000" b="1"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事件分级响应</a:t>
            </a:r>
            <a:r>
              <a:rPr lang="en-US" altLang="zh-CN" sz="1000" b="1"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 </a:t>
            </a:r>
            <a:endParaRPr lang="zh-CN" sz="1000" b="1" spc="-4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algn="l" rtl="0" eaLnBrk="0">
              <a:lnSpc>
                <a:spcPct val="119000"/>
              </a:lnSpc>
            </a:pPr>
            <a:r>
              <a:rPr lang="zh-CN" altLang="en-US" sz="800" spc="110" dirty="0">
                <a:solidFill>
                  <a:srgbClr val="000000">
                    <a:alpha val="100000"/>
                  </a:srgbClr>
                </a:solidFill>
                <a:latin typeface="黑体" panose="02010609060101010101" charset="-122"/>
                <a:ea typeface="黑体" panose="02010609060101010101" charset="-122"/>
                <a:cs typeface="黑体" panose="02010609060101010101" charset="-122"/>
                <a:sym typeface="+mn-ea"/>
              </a:rPr>
              <a:t>预先定义安全威胁和安全事件分级分类响应标准与执行规范</a:t>
            </a:r>
            <a:r>
              <a:rPr lang="zh-CN" sz="800" spc="1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endParaRPr lang="zh-CN" sz="800" spc="1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2" name="文本框 11"/>
          <p:cNvSpPr txBox="1"/>
          <p:nvPr/>
        </p:nvSpPr>
        <p:spPr>
          <a:xfrm>
            <a:off x="734060" y="4946650"/>
            <a:ext cx="2880000" cy="554990"/>
          </a:xfrm>
          <a:prstGeom prst="rect">
            <a:avLst/>
          </a:prstGeom>
          <a:noFill/>
        </p:spPr>
        <p:txBody>
          <a:bodyPr wrap="square" rtlCol="0" anchor="t">
            <a:noAutofit/>
          </a:bodyPr>
          <a:p>
            <a:pPr algn="l" rtl="0" eaLnBrk="0">
              <a:lnSpc>
                <a:spcPct val="108000"/>
              </a:lnSpc>
            </a:pPr>
            <a:r>
              <a:rPr lang="zh-CN" sz="1000" b="1" kern="0" spc="-40" dirty="0">
                <a:solidFill>
                  <a:srgbClr val="000000">
                    <a:alpha val="100000"/>
                  </a:srgbClr>
                </a:solidFill>
                <a:latin typeface="黑体" panose="02010609060101010101" charset="-122"/>
                <a:ea typeface="黑体" panose="02010609060101010101" charset="-122"/>
                <a:cs typeface="黑体" panose="02010609060101010101" charset="-122"/>
              </a:rPr>
              <a:t>工单在线可视，微信群</a:t>
            </a:r>
            <a:r>
              <a:rPr lang="en-US" altLang="zh-CN" sz="1000" b="1" kern="0" spc="-40" dirty="0">
                <a:solidFill>
                  <a:srgbClr val="000000">
                    <a:alpha val="100000"/>
                  </a:srgbClr>
                </a:solidFill>
                <a:latin typeface="黑体" panose="02010609060101010101" charset="-122"/>
                <a:ea typeface="黑体" panose="02010609060101010101" charset="-122"/>
                <a:cs typeface="黑体" panose="02010609060101010101" charset="-122"/>
              </a:rPr>
              <a:t>/</a:t>
            </a:r>
            <a:r>
              <a:rPr lang="zh-CN" altLang="en-US" sz="1000" b="1" kern="0" spc="-40" dirty="0">
                <a:solidFill>
                  <a:srgbClr val="000000">
                    <a:alpha val="100000"/>
                  </a:srgbClr>
                </a:solidFill>
                <a:latin typeface="黑体" panose="02010609060101010101" charset="-122"/>
                <a:ea typeface="黑体" panose="02010609060101010101" charset="-122"/>
                <a:cs typeface="黑体" panose="02010609060101010101" charset="-122"/>
              </a:rPr>
              <a:t>小程序多通道协同</a:t>
            </a:r>
            <a:endParaRPr sz="1000" b="1" kern="0" spc="-40" dirty="0">
              <a:solidFill>
                <a:srgbClr val="000000">
                  <a:alpha val="100000"/>
                </a:srgbClr>
              </a:solidFill>
              <a:latin typeface="黑体" panose="02010609060101010101" charset="-122"/>
              <a:ea typeface="黑体" panose="02010609060101010101" charset="-122"/>
              <a:cs typeface="黑体" panose="02010609060101010101" charset="-122"/>
            </a:endParaRPr>
          </a:p>
          <a:p>
            <a:pPr algn="l" rtl="0" eaLnBrk="0">
              <a:lnSpc>
                <a:spcPct val="108000"/>
              </a:lnSpc>
            </a:pPr>
            <a:r>
              <a:rPr lang="zh-CN" sz="800" spc="110" dirty="0">
                <a:solidFill>
                  <a:srgbClr val="000000">
                    <a:alpha val="100000"/>
                  </a:srgbClr>
                </a:solidFill>
                <a:latin typeface="黑体" panose="02010609060101010101" charset="-122"/>
                <a:ea typeface="黑体" panose="02010609060101010101" charset="-122"/>
                <a:cs typeface="黑体" panose="02010609060101010101" charset="-122"/>
                <a:sym typeface="+mn-ea"/>
              </a:rPr>
              <a:t>告警和事件通过在线工单和微信群实现协同响应，高效便捷，有效降低运维压力。</a:t>
            </a:r>
            <a:endParaRPr lang="zh-CN" sz="800" spc="1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25" name="textbox 48"/>
          <p:cNvSpPr/>
          <p:nvPr/>
        </p:nvSpPr>
        <p:spPr>
          <a:xfrm>
            <a:off x="647700" y="1196023"/>
            <a:ext cx="3006000" cy="2388870"/>
          </a:xfrm>
          <a:prstGeom prst="rect">
            <a:avLst/>
          </a:prstGeom>
          <a:solidFill>
            <a:srgbClr val="5B9BD5">
              <a:lumMod val="20000"/>
              <a:lumOff val="80000"/>
            </a:srgbClr>
          </a:solidFill>
          <a:ln w="0" cap="flat">
            <a:noFill/>
            <a:prstDash val="solid"/>
            <a:miter lim="0"/>
          </a:ln>
        </p:spPr>
        <p:txBody>
          <a:bodyPr vert="horz" wrap="square" lIns="0" tIns="0" rIns="0" bIns="0"/>
          <a:p>
            <a:pPr algn="l" rtl="0" eaLnBrk="0">
              <a:lnSpc>
                <a:spcPct val="182000"/>
              </a:lnSpc>
            </a:pPr>
            <a:endParaRPr sz="1000" dirty="0">
              <a:latin typeface="Arial" panose="020B0604020202020204"/>
              <a:ea typeface="Arial" panose="020B0604020202020204"/>
              <a:cs typeface="Arial" panose="020B0604020202020204"/>
            </a:endParaRPr>
          </a:p>
          <a:p>
            <a:pPr algn="l" rtl="0" eaLnBrk="0">
              <a:lnSpc>
                <a:spcPct val="101000"/>
              </a:lnSpc>
            </a:pPr>
            <a:endParaRPr sz="500" dirty="0">
              <a:latin typeface="Arial" panose="020B0604020202020204"/>
              <a:ea typeface="Arial" panose="020B0604020202020204"/>
              <a:cs typeface="Arial" panose="020B0604020202020204"/>
            </a:endParaRPr>
          </a:p>
          <a:p>
            <a:pPr marL="716915" algn="l" rtl="0" eaLnBrk="0">
              <a:lnSpc>
                <a:spcPct val="100000"/>
              </a:lnSpc>
              <a:spcBef>
                <a:spcPts val="5"/>
              </a:spcBef>
            </a:pPr>
            <a:endParaRPr sz="900" dirty="0">
              <a:latin typeface="黑体" panose="02010609060101010101" charset="-122"/>
              <a:ea typeface="黑体" panose="02010609060101010101" charset="-122"/>
              <a:cs typeface="黑体" panose="02010609060101010101" charset="-122"/>
            </a:endParaRPr>
          </a:p>
        </p:txBody>
      </p:sp>
      <p:grpSp>
        <p:nvGrpSpPr>
          <p:cNvPr id="26" name="组合 25"/>
          <p:cNvGrpSpPr/>
          <p:nvPr/>
        </p:nvGrpSpPr>
        <p:grpSpPr>
          <a:xfrm>
            <a:off x="1275398" y="1650365"/>
            <a:ext cx="2159635" cy="475615"/>
            <a:chOff x="4017" y="5198"/>
            <a:chExt cx="8006" cy="1498"/>
          </a:xfrm>
        </p:grpSpPr>
        <p:sp>
          <p:nvSpPr>
            <p:cNvPr id="39" name="文本框 38"/>
            <p:cNvSpPr txBox="1"/>
            <p:nvPr/>
          </p:nvSpPr>
          <p:spPr>
            <a:xfrm>
              <a:off x="4017" y="5198"/>
              <a:ext cx="8006" cy="624"/>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l" rtl="0" eaLnBrk="0">
                <a:lnSpc>
                  <a:spcPct val="96000"/>
                </a:lnSpc>
                <a:spcBef>
                  <a:spcPts val="1125"/>
                </a:spcBef>
              </a:pPr>
              <a:r>
                <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重要时期值守次数</a:t>
              </a:r>
              <a:endPar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41" name="文本框 40"/>
            <p:cNvSpPr txBox="1"/>
            <p:nvPr/>
          </p:nvSpPr>
          <p:spPr>
            <a:xfrm>
              <a:off x="4701" y="6002"/>
              <a:ext cx="6643" cy="694"/>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l" rtl="0" eaLnBrk="0">
                <a:lnSpc>
                  <a:spcPct val="79000"/>
                </a:lnSpc>
                <a:spcBef>
                  <a:spcPts val="310"/>
                </a:spcBef>
              </a:pPr>
              <a:r>
                <a:rPr lang="en-US" altLang="zh-CN" sz="1400" b="1"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{{duty_critical}}</a:t>
              </a:r>
              <a:r>
                <a:rPr lang="en-US"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rPr>
                <a:t>次</a:t>
              </a:r>
              <a:endParaRPr lang="zh-CN" altLang="en-US"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endParaRPr>
            </a:p>
          </p:txBody>
        </p:sp>
      </p:grpSp>
      <p:grpSp>
        <p:nvGrpSpPr>
          <p:cNvPr id="44" name="组合 43"/>
          <p:cNvGrpSpPr/>
          <p:nvPr/>
        </p:nvGrpSpPr>
        <p:grpSpPr>
          <a:xfrm>
            <a:off x="1275398" y="2854325"/>
            <a:ext cx="2159953" cy="487046"/>
            <a:chOff x="4017" y="8989"/>
            <a:chExt cx="8006" cy="1534"/>
          </a:xfrm>
        </p:grpSpPr>
        <p:sp>
          <p:nvSpPr>
            <p:cNvPr id="46" name="文本框 45"/>
            <p:cNvSpPr txBox="1"/>
            <p:nvPr/>
          </p:nvSpPr>
          <p:spPr>
            <a:xfrm>
              <a:off x="4017" y="8989"/>
              <a:ext cx="8006" cy="624"/>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l" rtl="0" eaLnBrk="0">
                <a:lnSpc>
                  <a:spcPct val="96000"/>
                </a:lnSpc>
                <a:spcBef>
                  <a:spcPts val="1125"/>
                </a:spcBef>
              </a:pPr>
              <a:r>
                <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业务可用性保障</a:t>
              </a:r>
              <a:endPar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47" name="文本框 46"/>
            <p:cNvSpPr txBox="1"/>
            <p:nvPr/>
          </p:nvSpPr>
          <p:spPr>
            <a:xfrm>
              <a:off x="4632" y="9829"/>
              <a:ext cx="7245" cy="694"/>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l" rtl="0" eaLnBrk="0">
                <a:lnSpc>
                  <a:spcPct val="79000"/>
                </a:lnSpc>
                <a:spcBef>
                  <a:spcPts val="310"/>
                </a:spcBef>
              </a:pPr>
              <a:r>
                <a:rPr lang="en-US" altLang="zh-CN" sz="1400" b="1"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{{availability_assure}}</a:t>
              </a:r>
              <a:endParaRPr lang="en-US" altLang="zh-CN"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endParaRPr>
            </a:p>
          </p:txBody>
        </p:sp>
      </p:grpSp>
      <p:grpSp>
        <p:nvGrpSpPr>
          <p:cNvPr id="48" name="组合 47"/>
          <p:cNvGrpSpPr/>
          <p:nvPr/>
        </p:nvGrpSpPr>
        <p:grpSpPr>
          <a:xfrm>
            <a:off x="1275398" y="2252345"/>
            <a:ext cx="2113996" cy="656591"/>
            <a:chOff x="4017" y="7030"/>
            <a:chExt cx="6911" cy="2068"/>
          </a:xfrm>
        </p:grpSpPr>
        <p:sp>
          <p:nvSpPr>
            <p:cNvPr id="50" name="文本框 49"/>
            <p:cNvSpPr txBox="1"/>
            <p:nvPr/>
          </p:nvSpPr>
          <p:spPr>
            <a:xfrm>
              <a:off x="4017" y="7030"/>
              <a:ext cx="6336" cy="624"/>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l" rtl="0" eaLnBrk="0">
                <a:lnSpc>
                  <a:spcPct val="96000"/>
                </a:lnSpc>
                <a:spcBef>
                  <a:spcPts val="1125"/>
                </a:spcBef>
              </a:pPr>
              <a:r>
                <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重要时期安全事件</a:t>
              </a:r>
              <a:endPar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51" name="文本框 50"/>
            <p:cNvSpPr txBox="1"/>
            <p:nvPr/>
          </p:nvSpPr>
          <p:spPr>
            <a:xfrm>
              <a:off x="4590" y="7868"/>
              <a:ext cx="6338" cy="123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l" rtl="0" eaLnBrk="0">
                <a:lnSpc>
                  <a:spcPct val="79000"/>
                </a:lnSpc>
                <a:spcBef>
                  <a:spcPts val="310"/>
                </a:spcBef>
              </a:pPr>
              <a:r>
                <a:rPr lang="en-US" altLang="zh-CN" sz="1400" b="1"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{{incident_critical}}</a:t>
              </a:r>
              <a:r>
                <a:rPr lang="en-US"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rPr>
                <a:t>起</a:t>
              </a:r>
              <a:endParaRPr lang="zh-CN" altLang="en-US" sz="800" b="1" spc="-30" dirty="0">
                <a:solidFill>
                  <a:schemeClr val="bg2">
                    <a:lumMod val="10000"/>
                    <a:alpha val="100000"/>
                  </a:schemeClr>
                </a:solidFill>
                <a:latin typeface="宋体" panose="02010600030101010101" pitchFamily="2" charset="-122"/>
                <a:ea typeface="宋体" panose="02010600030101010101" pitchFamily="2" charset="-122"/>
                <a:cs typeface="Times New Roman" panose="02020603050405020304"/>
                <a:sym typeface="+mn-ea"/>
              </a:endParaRPr>
            </a:p>
          </p:txBody>
        </p:sp>
      </p:grpSp>
      <p:sp>
        <p:nvSpPr>
          <p:cNvPr id="53" name="椭圆 52"/>
          <p:cNvSpPr/>
          <p:nvPr>
            <p:custDataLst>
              <p:tags r:id="rId2"/>
            </p:custDataLst>
          </p:nvPr>
        </p:nvSpPr>
        <p:spPr bwMode="auto">
          <a:xfrm>
            <a:off x="733743" y="1696720"/>
            <a:ext cx="432118" cy="432118"/>
          </a:xfrm>
          <a:prstGeom prst="ellipse">
            <a:avLst/>
          </a:prstGeom>
          <a:gradFill>
            <a:gsLst>
              <a:gs pos="0">
                <a:srgbClr val="5B9BD5">
                  <a:satMod val="110000"/>
                  <a:lumMod val="105000"/>
                  <a:tint val="67000"/>
                </a:srgbClr>
              </a:gs>
              <a:gs pos="50000">
                <a:srgbClr val="5B9BD5">
                  <a:lumMod val="105000"/>
                  <a:satMod val="103000"/>
                  <a:tint val="73000"/>
                </a:srgbClr>
              </a:gs>
              <a:gs pos="100000">
                <a:srgbClr val="5B9BD5">
                  <a:satMod val="105000"/>
                  <a:lumMod val="109000"/>
                  <a:tint val="81000"/>
                </a:srgbClr>
              </a:gs>
              <a:gs pos="0">
                <a:srgbClr val="ADE1F9"/>
              </a:gs>
              <a:gs pos="100000">
                <a:srgbClr val="FFF2EC"/>
              </a:gs>
            </a:gsLst>
            <a:lin ang="17400000" scaled="0"/>
          </a:gradFill>
          <a:ln w="6350" cap="flat" cmpd="sng" algn="ctr">
            <a:noFill/>
            <a:prstDash val="solid"/>
            <a:miter lim="800000"/>
          </a:ln>
          <a:effectLst/>
        </p:spPr>
        <p:style>
          <a:lnRef idx="1">
            <a:srgbClr val="5B9BD5"/>
          </a:lnRef>
          <a:fillRef idx="2">
            <a:srgbClr val="5B9BD5"/>
          </a:fillRef>
          <a:effectRef idx="1">
            <a:srgbClr val="5B9BD5"/>
          </a:effectRef>
          <a:fontRef idx="minor">
            <a:sysClr val="windowText" lastClr="000000"/>
          </a:fontRef>
        </p:style>
        <p:txBody>
          <a:bodyPr rtlCol="0" anchor="ctr">
            <a:normAutofit/>
          </a:bodyPr>
          <a:p>
            <a:pPr algn="ctr"/>
            <a:endParaRPr lang="zh-CN" altLang="en-US" sz="900">
              <a:solidFill>
                <a:sysClr val="windowText" lastClr="000000"/>
              </a:solidFill>
              <a:cs typeface="+mn-ea"/>
            </a:endParaRPr>
          </a:p>
        </p:txBody>
      </p:sp>
      <p:grpSp>
        <p:nvGrpSpPr>
          <p:cNvPr id="54" name="组合 53"/>
          <p:cNvGrpSpPr/>
          <p:nvPr/>
        </p:nvGrpSpPr>
        <p:grpSpPr>
          <a:xfrm>
            <a:off x="728028" y="2298700"/>
            <a:ext cx="431800" cy="431800"/>
            <a:chOff x="2293" y="7118"/>
            <a:chExt cx="1360" cy="1360"/>
          </a:xfrm>
        </p:grpSpPr>
        <p:sp>
          <p:nvSpPr>
            <p:cNvPr id="57" name="椭圆 56"/>
            <p:cNvSpPr/>
            <p:nvPr>
              <p:custDataLst>
                <p:tags r:id="rId3"/>
              </p:custDataLst>
            </p:nvPr>
          </p:nvSpPr>
          <p:spPr bwMode="auto">
            <a:xfrm>
              <a:off x="2293" y="7118"/>
              <a:ext cx="1361" cy="1361"/>
            </a:xfrm>
            <a:prstGeom prst="ellipse">
              <a:avLst/>
            </a:prstGeom>
            <a:gradFill>
              <a:gsLst>
                <a:gs pos="0">
                  <a:srgbClr val="5B9BD5">
                    <a:satMod val="110000"/>
                    <a:lumMod val="105000"/>
                    <a:tint val="67000"/>
                  </a:srgbClr>
                </a:gs>
                <a:gs pos="50000">
                  <a:srgbClr val="5B9BD5">
                    <a:lumMod val="105000"/>
                    <a:satMod val="103000"/>
                    <a:tint val="73000"/>
                  </a:srgbClr>
                </a:gs>
                <a:gs pos="100000">
                  <a:srgbClr val="5B9BD5">
                    <a:satMod val="105000"/>
                    <a:lumMod val="109000"/>
                    <a:tint val="81000"/>
                  </a:srgbClr>
                </a:gs>
                <a:gs pos="0">
                  <a:srgbClr val="ADE1F9"/>
                </a:gs>
                <a:gs pos="100000">
                  <a:srgbClr val="FFF2EC"/>
                </a:gs>
              </a:gsLst>
              <a:lin ang="17400000" scaled="0"/>
            </a:gradFill>
            <a:ln w="6350" cap="flat" cmpd="sng" algn="ctr">
              <a:noFill/>
              <a:prstDash val="solid"/>
              <a:miter lim="800000"/>
            </a:ln>
            <a:effectLst/>
          </p:spPr>
          <p:style>
            <a:lnRef idx="1">
              <a:srgbClr val="5B9BD5"/>
            </a:lnRef>
            <a:fillRef idx="2">
              <a:srgbClr val="5B9BD5"/>
            </a:fillRef>
            <a:effectRef idx="1">
              <a:srgbClr val="5B9BD5"/>
            </a:effectRef>
            <a:fontRef idx="minor">
              <a:sysClr val="windowText" lastClr="000000"/>
            </a:fontRef>
          </p:style>
          <p:txBody>
            <a:bodyPr rtlCol="0" anchor="ctr">
              <a:normAutofit/>
            </a:bodyPr>
            <a:p>
              <a:pPr algn="ctr"/>
              <a:endParaRPr lang="zh-CN" altLang="en-US" sz="900">
                <a:solidFill>
                  <a:sysClr val="windowText" lastClr="000000"/>
                </a:solidFill>
                <a:cs typeface="+mn-ea"/>
              </a:endParaRPr>
            </a:p>
          </p:txBody>
        </p:sp>
        <p:pic>
          <p:nvPicPr>
            <p:cNvPr id="58" name="图片 57" descr="道路危险标志"/>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548" y="7373"/>
              <a:ext cx="850" cy="850"/>
            </a:xfrm>
            <a:prstGeom prst="rect">
              <a:avLst/>
            </a:prstGeom>
          </p:spPr>
        </p:pic>
      </p:grpSp>
      <p:sp>
        <p:nvSpPr>
          <p:cNvPr id="61" name="椭圆 60"/>
          <p:cNvSpPr/>
          <p:nvPr>
            <p:custDataLst>
              <p:tags r:id="rId6"/>
            </p:custDataLst>
          </p:nvPr>
        </p:nvSpPr>
        <p:spPr bwMode="auto">
          <a:xfrm>
            <a:off x="734060" y="2906395"/>
            <a:ext cx="432118" cy="432118"/>
          </a:xfrm>
          <a:prstGeom prst="ellipse">
            <a:avLst/>
          </a:prstGeom>
          <a:gradFill>
            <a:gsLst>
              <a:gs pos="0">
                <a:srgbClr val="5B9BD5">
                  <a:satMod val="110000"/>
                  <a:lumMod val="105000"/>
                  <a:tint val="67000"/>
                </a:srgbClr>
              </a:gs>
              <a:gs pos="50000">
                <a:srgbClr val="5B9BD5">
                  <a:lumMod val="105000"/>
                  <a:satMod val="103000"/>
                  <a:tint val="73000"/>
                </a:srgbClr>
              </a:gs>
              <a:gs pos="100000">
                <a:srgbClr val="5B9BD5">
                  <a:satMod val="105000"/>
                  <a:lumMod val="109000"/>
                  <a:tint val="81000"/>
                </a:srgbClr>
              </a:gs>
              <a:gs pos="0">
                <a:srgbClr val="ADE1F9"/>
              </a:gs>
              <a:gs pos="100000">
                <a:srgbClr val="FFF2EC"/>
              </a:gs>
            </a:gsLst>
            <a:lin ang="17400000" scaled="0"/>
          </a:gradFill>
          <a:ln w="6350" cap="flat" cmpd="sng" algn="ctr">
            <a:noFill/>
            <a:prstDash val="solid"/>
            <a:miter lim="800000"/>
          </a:ln>
          <a:effectLst/>
        </p:spPr>
        <p:style>
          <a:lnRef idx="1">
            <a:srgbClr val="5B9BD5"/>
          </a:lnRef>
          <a:fillRef idx="2">
            <a:srgbClr val="5B9BD5"/>
          </a:fillRef>
          <a:effectRef idx="1">
            <a:srgbClr val="5B9BD5"/>
          </a:effectRef>
          <a:fontRef idx="minor">
            <a:sysClr val="windowText" lastClr="000000"/>
          </a:fontRef>
        </p:style>
        <p:txBody>
          <a:bodyPr rtlCol="0" anchor="ctr">
            <a:normAutofit/>
          </a:bodyPr>
          <a:p>
            <a:pPr algn="ctr"/>
            <a:endParaRPr lang="zh-CN" altLang="en-US" sz="900">
              <a:solidFill>
                <a:sysClr val="windowText" lastClr="000000"/>
              </a:solidFill>
              <a:cs typeface="+mn-ea"/>
            </a:endParaRPr>
          </a:p>
        </p:txBody>
      </p:sp>
      <p:sp>
        <p:nvSpPr>
          <p:cNvPr id="62" name="文本框 61"/>
          <p:cNvSpPr txBox="1"/>
          <p:nvPr/>
        </p:nvSpPr>
        <p:spPr>
          <a:xfrm>
            <a:off x="728028" y="1276985"/>
            <a:ext cx="1814195" cy="22225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algn="l" rtl="0" eaLnBrk="0">
              <a:lnSpc>
                <a:spcPct val="80000"/>
              </a:lnSpc>
            </a:pPr>
            <a:r>
              <a:rPr lang="zh-CN" sz="1400" b="1" spc="-60" dirty="0">
                <a:solidFill>
                  <a:srgbClr val="204090">
                    <a:alpha val="100000"/>
                  </a:srgbClr>
                </a:solidFill>
                <a:latin typeface="黑体" panose="02010609060101010101" charset="-122"/>
                <a:ea typeface="黑体" panose="02010609060101010101" charset="-122"/>
                <a:cs typeface="黑体" panose="02010609060101010101" charset="-122"/>
                <a:sym typeface="+mn-ea"/>
              </a:rPr>
              <a:t>重要时期值守保障</a:t>
            </a:r>
            <a:endParaRPr lang="zh-CN" sz="1400" b="1" spc="-60" dirty="0">
              <a:solidFill>
                <a:srgbClr val="204090">
                  <a:alpha val="100000"/>
                </a:srgbClr>
              </a:solidFill>
              <a:latin typeface="黑体" panose="02010609060101010101" charset="-122"/>
              <a:ea typeface="黑体" panose="02010609060101010101" charset="-122"/>
              <a:cs typeface="黑体" panose="02010609060101010101" charset="-122"/>
              <a:sym typeface="+mn-ea"/>
            </a:endParaRPr>
          </a:p>
        </p:txBody>
      </p:sp>
      <p:pic>
        <p:nvPicPr>
          <p:cNvPr id="63" name="图片 62" descr="重点"/>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14802" y="1777779"/>
            <a:ext cx="270000" cy="270000"/>
          </a:xfrm>
          <a:prstGeom prst="rect">
            <a:avLst/>
          </a:prstGeom>
        </p:spPr>
      </p:pic>
      <p:pic>
        <p:nvPicPr>
          <p:cNvPr id="64" name="图片 63" descr="无尽"/>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15119" y="2987454"/>
            <a:ext cx="270000" cy="270000"/>
          </a:xfrm>
          <a:prstGeom prst="rect">
            <a:avLst/>
          </a:prstGeom>
        </p:spPr>
      </p:pic>
      <p:graphicFrame>
        <p:nvGraphicFramePr>
          <p:cNvPr id="65" name="图表 64"/>
          <p:cNvGraphicFramePr/>
          <p:nvPr/>
        </p:nvGraphicFramePr>
        <p:xfrm>
          <a:off x="3942715" y="1484630"/>
          <a:ext cx="3971608" cy="2817813"/>
        </p:xfrm>
        <a:graphic>
          <a:graphicData uri="http://schemas.openxmlformats.org/drawingml/2006/chart">
            <c:chart xmlns:c="http://schemas.openxmlformats.org/drawingml/2006/chart" xmlns:r="http://schemas.openxmlformats.org/officeDocument/2006/relationships" r:id="rId1"/>
          </a:graphicData>
        </a:graphic>
      </p:graphicFrame>
      <p:sp>
        <p:nvSpPr>
          <p:cNvPr id="66" name="文本框 65"/>
          <p:cNvSpPr txBox="1"/>
          <p:nvPr/>
        </p:nvSpPr>
        <p:spPr>
          <a:xfrm>
            <a:off x="3945890" y="1196023"/>
            <a:ext cx="2010410" cy="235903"/>
          </a:xfrm>
          <a:prstGeom prst="rect">
            <a:avLst/>
          </a:prstGeom>
          <a:noFill/>
        </p:spPr>
        <p:txBody>
          <a:bodyPr wrap="square" rtlCol="0" anchor="ctr" anchorCtr="0">
            <a:noAutofit/>
          </a:bodyPr>
          <a:p>
            <a:pPr marL="12700" algn="l" rtl="0" eaLnBrk="0">
              <a:lnSpc>
                <a:spcPct val="96000"/>
              </a:lnSpc>
            </a:pPr>
            <a:r>
              <a:rPr 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重要时期安全态势对比</a:t>
            </a:r>
            <a:endParaRPr 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67" name="文本框 66"/>
          <p:cNvSpPr txBox="1"/>
          <p:nvPr/>
        </p:nvSpPr>
        <p:spPr>
          <a:xfrm>
            <a:off x="8211820" y="1196340"/>
            <a:ext cx="3359785" cy="23622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noAutofit/>
          </a:bodyPr>
          <a:p>
            <a:pPr marL="13970" algn="l" rtl="0" eaLnBrk="0">
              <a:lnSpc>
                <a:spcPct val="95000"/>
              </a:lnSpc>
            </a:pPr>
            <a:r>
              <a:rPr sz="1000" b="1" spc="130" dirty="0">
                <a:solidFill>
                  <a:srgbClr val="000000">
                    <a:alpha val="100000"/>
                  </a:srgbClr>
                </a:solidFill>
                <a:latin typeface="黑体" panose="02010609060101010101" charset="-122"/>
                <a:ea typeface="黑体" panose="02010609060101010101" charset="-122"/>
                <a:cs typeface="黑体" panose="02010609060101010101" charset="-122"/>
                <a:sym typeface="+mn-ea"/>
              </a:rPr>
              <a:t>重要时期值守</a:t>
            </a:r>
            <a:r>
              <a:rPr lang="zh-CN" sz="1000" b="1" spc="130" dirty="0">
                <a:solidFill>
                  <a:srgbClr val="000000">
                    <a:alpha val="100000"/>
                  </a:srgbClr>
                </a:solidFill>
                <a:latin typeface="黑体" panose="02010609060101010101" charset="-122"/>
                <a:ea typeface="黑体" panose="02010609060101010101" charset="-122"/>
                <a:cs typeface="黑体" panose="02010609060101010101" charset="-122"/>
                <a:sym typeface="+mn-ea"/>
              </a:rPr>
              <a:t>详情</a:t>
            </a:r>
            <a:endParaRPr kumimoji="0" lang="zh-CN" altLang="en-US" sz="800" b="0" i="0" u="none" strike="noStrike" cap="none" spc="50" normalizeH="0" baseline="0" dirty="0">
              <a:ln>
                <a:noFill/>
              </a:ln>
              <a:solidFill>
                <a:srgbClr val="000000">
                  <a:alpha val="100000"/>
                </a:srgbClr>
              </a:solidFill>
              <a:effectLst/>
              <a:uFillTx/>
              <a:latin typeface="黑体" panose="02010609060101010101" charset="-122"/>
              <a:ea typeface="黑体" panose="02010609060101010101" charset="-122"/>
              <a:cs typeface="黑体" panose="02010609060101010101" charset="-122"/>
              <a:sym typeface="+mn-ea"/>
            </a:endParaRPr>
          </a:p>
        </p:txBody>
      </p:sp>
      <p:pic>
        <p:nvPicPr>
          <p:cNvPr id="68" name="图片 67" descr="1755071818846"/>
          <p:cNvPicPr>
            <a:picLocks noChangeAspect="1"/>
          </p:cNvPicPr>
          <p:nvPr/>
        </p:nvPicPr>
        <p:blipFill>
          <a:blip r:embed="rId11"/>
          <a:stretch>
            <a:fillRect/>
          </a:stretch>
        </p:blipFill>
        <p:spPr>
          <a:xfrm>
            <a:off x="630873" y="5719763"/>
            <a:ext cx="10940415" cy="801688"/>
          </a:xfrm>
          <a:prstGeom prst="rect">
            <a:avLst/>
          </a:prstGeom>
        </p:spPr>
      </p:pic>
      <p:sp>
        <p:nvSpPr>
          <p:cNvPr id="69" name="文本框 68"/>
          <p:cNvSpPr txBox="1"/>
          <p:nvPr/>
        </p:nvSpPr>
        <p:spPr>
          <a:xfrm>
            <a:off x="815340" y="5792470"/>
            <a:ext cx="10667365" cy="65595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ctr" anchorCtr="0" forceAA="0">
            <a:noAutofit/>
          </a:bodyPr>
          <a:p>
            <a:pPr marL="0" marR="0" indent="0" algn="l" defTabSz="2438400" rtl="0" fontAlgn="auto" latinLnBrk="0" hangingPunct="0">
              <a:lnSpc>
                <a:spcPct val="100000"/>
              </a:lnSpc>
              <a:spcBef>
                <a:spcPts val="0"/>
              </a:spcBef>
              <a:spcAft>
                <a:spcPts val="0"/>
              </a:spcAft>
              <a:buClrTx/>
              <a:buSzTx/>
              <a:buFontTx/>
              <a:buNone/>
            </a:pPr>
            <a:r>
              <a:rPr lang="zh-CN" sz="9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关键时期的</a:t>
            </a:r>
            <a:r>
              <a:rPr sz="9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应急响应</a:t>
            </a:r>
            <a:r>
              <a:rPr sz="90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能力</a:t>
            </a:r>
            <a:r>
              <a:rPr lang="zh-CN" sz="90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是</a:t>
            </a:r>
            <a:r>
              <a:rPr sz="90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企业核心竞争力之一</a:t>
            </a:r>
            <a:r>
              <a:rPr lang="zh-CN" sz="90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sz="90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在重要节假日等业务高</a:t>
            </a:r>
            <a:r>
              <a:rPr sz="9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峰期，我们的值守和应急响应机制直接保</a:t>
            </a:r>
            <a:r>
              <a:rPr sz="90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障了</a:t>
            </a:r>
            <a:r>
              <a:rPr lang="zh-CN" sz="90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公司的</a:t>
            </a:r>
            <a:r>
              <a:rPr sz="90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营收实现，有效避免了因安全事件导致的业务中断和客户流失</a:t>
            </a:r>
            <a:r>
              <a:rPr lang="zh-CN" sz="90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endParaRPr kumimoji="0" lang="zh-CN" sz="900" b="0" i="0" u="none" strike="noStrike" cap="none" spc="40" normalizeH="0" baseline="0" dirty="0">
              <a:ln>
                <a:noFill/>
              </a:ln>
              <a:solidFill>
                <a:srgbClr val="000000">
                  <a:alpha val="100000"/>
                </a:srgbClr>
              </a:solidFill>
              <a:effectLst/>
              <a:uFillTx/>
              <a:latin typeface="黑体" panose="02010609060101010101" charset="-122"/>
              <a:ea typeface="黑体" panose="02010609060101010101" charset="-122"/>
              <a:cs typeface="黑体" panose="02010609060101010101" charset="-122"/>
              <a:sym typeface="+mn-ea"/>
            </a:endParaRPr>
          </a:p>
        </p:txBody>
      </p:sp>
      <p:sp>
        <p:nvSpPr>
          <p:cNvPr id="70" name="textbox 104"/>
          <p:cNvSpPr/>
          <p:nvPr/>
        </p:nvSpPr>
        <p:spPr>
          <a:xfrm>
            <a:off x="3942715" y="4420870"/>
            <a:ext cx="7628573" cy="1133158"/>
          </a:xfrm>
          <a:prstGeom prst="rect">
            <a:avLst/>
          </a:prstGeom>
          <a:solidFill>
            <a:schemeClr val="accent6">
              <a:lumMod val="20000"/>
              <a:lumOff val="80000"/>
            </a:schemeClr>
          </a:solidFill>
          <a:ln w="0" cap="flat">
            <a:noFill/>
            <a:prstDash val="solid"/>
            <a:miter lim="0"/>
          </a:ln>
        </p:spPr>
        <p:txBody>
          <a:bodyPr vert="horz" wrap="square" lIns="0" tIns="0" rIns="0" bIns="0"/>
          <a:p>
            <a:pPr algn="l" rtl="0" eaLnBrk="0">
              <a:lnSpc>
                <a:spcPct val="89000"/>
              </a:lnSpc>
            </a:pPr>
            <a:endParaRPr sz="100" dirty="0">
              <a:latin typeface="Arial" panose="020B0604020202020204"/>
              <a:ea typeface="Arial" panose="020B0604020202020204"/>
              <a:cs typeface="Arial" panose="020B0604020202020204"/>
            </a:endParaRPr>
          </a:p>
          <a:p>
            <a:pPr marL="12700" algn="l" rtl="0" eaLnBrk="0">
              <a:lnSpc>
                <a:spcPct val="95000"/>
              </a:lnSpc>
            </a:pPr>
            <a:endParaRPr sz="900" dirty="0">
              <a:latin typeface="黑体" panose="02010609060101010101" charset="-122"/>
              <a:ea typeface="黑体" panose="02010609060101010101" charset="-122"/>
              <a:cs typeface="黑体" panose="02010609060101010101" charset="-122"/>
            </a:endParaRPr>
          </a:p>
        </p:txBody>
      </p:sp>
      <p:grpSp>
        <p:nvGrpSpPr>
          <p:cNvPr id="71" name="组合 70"/>
          <p:cNvGrpSpPr/>
          <p:nvPr/>
        </p:nvGrpSpPr>
        <p:grpSpPr>
          <a:xfrm rot="0">
            <a:off x="7106285" y="4794568"/>
            <a:ext cx="1439545" cy="692150"/>
            <a:chOff x="23598" y="12409"/>
            <a:chExt cx="4534" cy="2180"/>
          </a:xfrm>
        </p:grpSpPr>
        <p:sp>
          <p:nvSpPr>
            <p:cNvPr id="72" name="文本框 71"/>
            <p:cNvSpPr txBox="1"/>
            <p:nvPr/>
          </p:nvSpPr>
          <p:spPr>
            <a:xfrm>
              <a:off x="23598" y="13455"/>
              <a:ext cx="4534" cy="1134"/>
            </a:xfrm>
            <a:prstGeom prst="rect">
              <a:avLst/>
            </a:prstGeom>
            <a:ln>
              <a:solidFill>
                <a:srgbClr val="92D050"/>
              </a:solidFill>
            </a:ln>
          </p:spPr>
          <p:style>
            <a:lnRef idx="3">
              <a:schemeClr val="accent3"/>
            </a:lnRef>
            <a:fillRef idx="0">
              <a:srgbClr val="FFFFFF"/>
            </a:fillRef>
            <a:effectRef idx="0">
              <a:srgbClr val="FFFFFF"/>
            </a:effectRef>
            <a:fontRef idx="minor">
              <a:schemeClr val="tx1"/>
            </a:fontRef>
          </p:style>
          <p:txBody>
            <a:bodyPr wrap="square" rtlCol="0" anchor="ctr" anchorCtr="0">
              <a:noAutofit/>
            </a:bodyPr>
            <a:p>
              <a:pPr lvl="0" algn="ctr" eaLnBrk="0"/>
              <a:r>
                <a:rPr lang="en-US" altLang="zh-CN" sz="1000" b="1" spc="-60" dirty="0">
                  <a:solidFill>
                    <a:srgbClr val="204090">
                      <a:alpha val="100000"/>
                    </a:srgbClr>
                  </a:solidFill>
                  <a:latin typeface="黑体" panose="02010609060101010101" charset="-122"/>
                  <a:ea typeface="黑体" panose="02010609060101010101" charset="-122"/>
                  <a:cs typeface="黑体" panose="02010609060101010101" charset="-122"/>
                  <a:sym typeface="+mn-ea"/>
                </a:rPr>
                <a:t>{{security_value2}}</a:t>
              </a:r>
              <a:endParaRPr lang="en-US" altLang="zh-CN" sz="1000" b="1" spc="-60" dirty="0">
                <a:solidFill>
                  <a:srgbClr val="204090">
                    <a:alpha val="100000"/>
                  </a:srgbClr>
                </a:solidFill>
                <a:latin typeface="黑体" panose="02010609060101010101" charset="-122"/>
                <a:ea typeface="黑体" panose="02010609060101010101" charset="-122"/>
                <a:cs typeface="黑体" panose="02010609060101010101" charset="-122"/>
                <a:sym typeface="+mn-ea"/>
              </a:endParaRPr>
            </a:p>
          </p:txBody>
        </p:sp>
        <p:grpSp>
          <p:nvGrpSpPr>
            <p:cNvPr id="73" name="组合 72"/>
            <p:cNvGrpSpPr/>
            <p:nvPr/>
          </p:nvGrpSpPr>
          <p:grpSpPr>
            <a:xfrm rot="0">
              <a:off x="25412" y="12409"/>
              <a:ext cx="907" cy="907"/>
              <a:chOff x="25500" y="11572"/>
              <a:chExt cx="907" cy="907"/>
            </a:xfrm>
          </p:grpSpPr>
          <p:sp>
            <p:nvSpPr>
              <p:cNvPr id="74" name="椭圆 73"/>
              <p:cNvSpPr/>
              <p:nvPr>
                <p:custDataLst>
                  <p:tags r:id="rId12"/>
                </p:custDataLst>
              </p:nvPr>
            </p:nvSpPr>
            <p:spPr bwMode="auto">
              <a:xfrm>
                <a:off x="25500" y="11572"/>
                <a:ext cx="907" cy="907"/>
              </a:xfrm>
              <a:prstGeom prst="ellipse">
                <a:avLst/>
              </a:prstGeom>
              <a:gradFill>
                <a:gsLst>
                  <a:gs pos="0">
                    <a:srgbClr val="5B9BD5">
                      <a:satMod val="110000"/>
                      <a:lumMod val="105000"/>
                      <a:tint val="67000"/>
                    </a:srgbClr>
                  </a:gs>
                  <a:gs pos="50000">
                    <a:srgbClr val="5B9BD5">
                      <a:lumMod val="105000"/>
                      <a:satMod val="103000"/>
                      <a:tint val="73000"/>
                    </a:srgbClr>
                  </a:gs>
                  <a:gs pos="100000">
                    <a:srgbClr val="5B9BD5">
                      <a:satMod val="105000"/>
                      <a:lumMod val="109000"/>
                      <a:tint val="81000"/>
                    </a:srgbClr>
                  </a:gs>
                  <a:gs pos="0">
                    <a:srgbClr val="ADE1F9"/>
                  </a:gs>
                  <a:gs pos="100000">
                    <a:srgbClr val="FFF2EC"/>
                  </a:gs>
                </a:gsLst>
                <a:lin ang="17400000" scaled="0"/>
              </a:gradFill>
              <a:ln w="6350" cap="flat" cmpd="sng" algn="ctr">
                <a:noFill/>
                <a:prstDash val="solid"/>
                <a:miter lim="800000"/>
              </a:ln>
              <a:effectLst/>
            </p:spPr>
            <p:style>
              <a:lnRef idx="1">
                <a:srgbClr val="5B9BD5"/>
              </a:lnRef>
              <a:fillRef idx="2">
                <a:srgbClr val="5B9BD5"/>
              </a:fillRef>
              <a:effectRef idx="1">
                <a:srgbClr val="5B9BD5"/>
              </a:effectRef>
              <a:fontRef idx="minor">
                <a:sysClr val="windowText" lastClr="000000"/>
              </a:fontRef>
            </p:style>
            <p:txBody>
              <a:bodyPr rtlCol="0" anchor="ctr">
                <a:normAutofit fontScale="80000"/>
              </a:bodyPr>
              <a:p>
                <a:pPr algn="ctr"/>
                <a:endParaRPr lang="zh-CN" altLang="en-US" sz="900">
                  <a:solidFill>
                    <a:sysClr val="windowText" lastClr="000000"/>
                  </a:solidFill>
                  <a:cs typeface="+mn-ea"/>
                </a:endParaRPr>
              </a:p>
            </p:txBody>
          </p:sp>
          <p:pic>
            <p:nvPicPr>
              <p:cNvPr id="75" name="图片 74" descr="闪电"/>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25670" y="11742"/>
                <a:ext cx="567" cy="567"/>
              </a:xfrm>
              <a:prstGeom prst="rect">
                <a:avLst/>
              </a:prstGeom>
            </p:spPr>
          </p:pic>
        </p:grpSp>
      </p:grpSp>
      <p:grpSp>
        <p:nvGrpSpPr>
          <p:cNvPr id="76" name="组合 75"/>
          <p:cNvGrpSpPr/>
          <p:nvPr/>
        </p:nvGrpSpPr>
        <p:grpSpPr>
          <a:xfrm rot="0">
            <a:off x="9695815" y="4794568"/>
            <a:ext cx="1439545" cy="692150"/>
            <a:chOff x="31276" y="12409"/>
            <a:chExt cx="4534" cy="2180"/>
          </a:xfrm>
        </p:grpSpPr>
        <p:sp>
          <p:nvSpPr>
            <p:cNvPr id="78" name="文本框 77"/>
            <p:cNvSpPr txBox="1"/>
            <p:nvPr/>
          </p:nvSpPr>
          <p:spPr>
            <a:xfrm>
              <a:off x="31276" y="13455"/>
              <a:ext cx="4534" cy="1134"/>
            </a:xfrm>
            <a:prstGeom prst="rect">
              <a:avLst/>
            </a:prstGeom>
            <a:ln>
              <a:solidFill>
                <a:srgbClr val="92D050"/>
              </a:solidFill>
            </a:ln>
          </p:spPr>
          <p:style>
            <a:lnRef idx="3">
              <a:schemeClr val="accent3"/>
            </a:lnRef>
            <a:fillRef idx="0">
              <a:srgbClr val="FFFFFF"/>
            </a:fillRef>
            <a:effectRef idx="0">
              <a:srgbClr val="FFFFFF"/>
            </a:effectRef>
            <a:fontRef idx="minor">
              <a:schemeClr val="tx1"/>
            </a:fontRef>
          </p:style>
          <p:txBody>
            <a:bodyPr wrap="square" rtlCol="0" anchor="ctr" anchorCtr="0">
              <a:noAutofit/>
            </a:bodyPr>
            <a:p>
              <a:pPr lvl="0" algn="ctr" eaLnBrk="0"/>
              <a:r>
                <a:rPr lang="en-US" altLang="zh-CN" sz="1000" b="1" spc="-60" dirty="0">
                  <a:solidFill>
                    <a:srgbClr val="204090">
                      <a:alpha val="100000"/>
                    </a:srgbClr>
                  </a:solidFill>
                  <a:latin typeface="黑体" panose="02010609060101010101" charset="-122"/>
                  <a:ea typeface="黑体" panose="02010609060101010101" charset="-122"/>
                  <a:cs typeface="黑体" panose="02010609060101010101" charset="-122"/>
                  <a:sym typeface="+mn-ea"/>
                </a:rPr>
                <a:t>{{security_value3}}</a:t>
              </a:r>
              <a:endParaRPr lang="en-US" altLang="zh-CN" sz="1000" b="1" spc="-60" dirty="0">
                <a:solidFill>
                  <a:srgbClr val="204090">
                    <a:alpha val="100000"/>
                  </a:srgbClr>
                </a:solidFill>
                <a:latin typeface="黑体" panose="02010609060101010101" charset="-122"/>
                <a:ea typeface="黑体" panose="02010609060101010101" charset="-122"/>
                <a:cs typeface="黑体" panose="02010609060101010101" charset="-122"/>
                <a:sym typeface="+mn-ea"/>
              </a:endParaRPr>
            </a:p>
          </p:txBody>
        </p:sp>
        <p:grpSp>
          <p:nvGrpSpPr>
            <p:cNvPr id="79" name="组合 78"/>
            <p:cNvGrpSpPr/>
            <p:nvPr/>
          </p:nvGrpSpPr>
          <p:grpSpPr>
            <a:xfrm rot="0">
              <a:off x="33090" y="12409"/>
              <a:ext cx="907" cy="907"/>
              <a:chOff x="33129" y="11647"/>
              <a:chExt cx="907" cy="907"/>
            </a:xfrm>
          </p:grpSpPr>
          <p:sp>
            <p:nvSpPr>
              <p:cNvPr id="80" name="椭圆 79"/>
              <p:cNvSpPr/>
              <p:nvPr>
                <p:custDataLst>
                  <p:tags r:id="rId15"/>
                </p:custDataLst>
              </p:nvPr>
            </p:nvSpPr>
            <p:spPr bwMode="auto">
              <a:xfrm>
                <a:off x="33129" y="11647"/>
                <a:ext cx="907" cy="907"/>
              </a:xfrm>
              <a:prstGeom prst="ellipse">
                <a:avLst/>
              </a:prstGeom>
              <a:gradFill>
                <a:gsLst>
                  <a:gs pos="0">
                    <a:srgbClr val="5B9BD5">
                      <a:satMod val="110000"/>
                      <a:lumMod val="105000"/>
                      <a:tint val="67000"/>
                    </a:srgbClr>
                  </a:gs>
                  <a:gs pos="50000">
                    <a:srgbClr val="5B9BD5">
                      <a:lumMod val="105000"/>
                      <a:satMod val="103000"/>
                      <a:tint val="73000"/>
                    </a:srgbClr>
                  </a:gs>
                  <a:gs pos="100000">
                    <a:srgbClr val="5B9BD5">
                      <a:satMod val="105000"/>
                      <a:lumMod val="109000"/>
                      <a:tint val="81000"/>
                    </a:srgbClr>
                  </a:gs>
                  <a:gs pos="0">
                    <a:srgbClr val="ADE1F9"/>
                  </a:gs>
                  <a:gs pos="100000">
                    <a:srgbClr val="FFF2EC"/>
                  </a:gs>
                </a:gsLst>
                <a:lin ang="17400000" scaled="0"/>
              </a:gradFill>
              <a:ln w="6350" cap="flat" cmpd="sng" algn="ctr">
                <a:noFill/>
                <a:prstDash val="solid"/>
                <a:miter lim="800000"/>
              </a:ln>
              <a:effectLst/>
            </p:spPr>
            <p:style>
              <a:lnRef idx="1">
                <a:srgbClr val="5B9BD5"/>
              </a:lnRef>
              <a:fillRef idx="2">
                <a:srgbClr val="5B9BD5"/>
              </a:fillRef>
              <a:effectRef idx="1">
                <a:srgbClr val="5B9BD5"/>
              </a:effectRef>
              <a:fontRef idx="minor">
                <a:sysClr val="windowText" lastClr="000000"/>
              </a:fontRef>
            </p:style>
            <p:txBody>
              <a:bodyPr rtlCol="0" anchor="ctr">
                <a:normAutofit fontScale="80000"/>
              </a:bodyPr>
              <a:p>
                <a:pPr algn="ctr"/>
                <a:endParaRPr lang="zh-CN" altLang="en-US" sz="900">
                  <a:solidFill>
                    <a:sysClr val="windowText" lastClr="000000"/>
                  </a:solidFill>
                  <a:cs typeface="+mn-ea"/>
                </a:endParaRPr>
              </a:p>
            </p:txBody>
          </p:sp>
          <p:pic>
            <p:nvPicPr>
              <p:cNvPr id="81" name="图片 80" descr="人力费用"/>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33299" y="11817"/>
                <a:ext cx="567" cy="567"/>
              </a:xfrm>
              <a:prstGeom prst="rect">
                <a:avLst/>
              </a:prstGeom>
            </p:spPr>
          </p:pic>
        </p:grpSp>
      </p:grpSp>
      <p:pic>
        <p:nvPicPr>
          <p:cNvPr id="82" name="图片 81" descr="折线图"/>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4134168" y="4495165"/>
            <a:ext cx="215900" cy="215900"/>
          </a:xfrm>
          <a:prstGeom prst="rect">
            <a:avLst/>
          </a:prstGeom>
        </p:spPr>
      </p:pic>
      <p:sp>
        <p:nvSpPr>
          <p:cNvPr id="83" name="文本框 82"/>
          <p:cNvSpPr txBox="1"/>
          <p:nvPr/>
        </p:nvSpPr>
        <p:spPr>
          <a:xfrm>
            <a:off x="4513898" y="4458970"/>
            <a:ext cx="2719705" cy="288290"/>
          </a:xfrm>
          <a:prstGeom prst="rect">
            <a:avLst/>
          </a:prstGeom>
          <a:noFill/>
        </p:spPr>
        <p:txBody>
          <a:bodyPr wrap="square" rtlCol="0" anchor="ctr" anchorCtr="0">
            <a:noAutofit/>
          </a:bodyPr>
          <a:p>
            <a:pPr marL="12700" algn="l" rtl="0" eaLnBrk="0">
              <a:lnSpc>
                <a:spcPct val="95000"/>
              </a:lnSpc>
            </a:pPr>
            <a:r>
              <a:rPr lang="zh-CN" sz="900" b="1" kern="0" spc="230" dirty="0">
                <a:solidFill>
                  <a:srgbClr val="000000">
                    <a:alpha val="100000"/>
                  </a:srgbClr>
                </a:solidFill>
                <a:latin typeface="黑体" panose="02010609060101010101" charset="-122"/>
                <a:ea typeface="黑体" panose="02010609060101010101" charset="-122"/>
                <a:cs typeface="黑体" panose="02010609060101010101" charset="-122"/>
                <a:sym typeface="+mn-ea"/>
              </a:rPr>
              <a:t>重要时期网络安全保障工作价值</a:t>
            </a:r>
            <a:endParaRPr lang="zh-CN" sz="900" b="1" kern="0" spc="23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grpSp>
        <p:nvGrpSpPr>
          <p:cNvPr id="84" name="组合 83"/>
          <p:cNvGrpSpPr/>
          <p:nvPr/>
        </p:nvGrpSpPr>
        <p:grpSpPr>
          <a:xfrm rot="0">
            <a:off x="4516120" y="4794568"/>
            <a:ext cx="1440180" cy="692150"/>
            <a:chOff x="15001" y="12047"/>
            <a:chExt cx="4536" cy="2180"/>
          </a:xfrm>
        </p:grpSpPr>
        <p:sp>
          <p:nvSpPr>
            <p:cNvPr id="85" name="文本框 84"/>
            <p:cNvSpPr txBox="1"/>
            <p:nvPr/>
          </p:nvSpPr>
          <p:spPr>
            <a:xfrm>
              <a:off x="15001" y="13093"/>
              <a:ext cx="4536" cy="1134"/>
            </a:xfrm>
            <a:prstGeom prst="rect">
              <a:avLst/>
            </a:prstGeom>
            <a:ln>
              <a:solidFill>
                <a:srgbClr val="92D050"/>
              </a:solidFill>
            </a:ln>
          </p:spPr>
          <p:style>
            <a:lnRef idx="3">
              <a:schemeClr val="accent3"/>
            </a:lnRef>
            <a:fillRef idx="0">
              <a:srgbClr val="FFFFFF"/>
            </a:fillRef>
            <a:effectRef idx="0">
              <a:srgbClr val="FFFFFF"/>
            </a:effectRef>
            <a:fontRef idx="minor">
              <a:schemeClr val="tx1"/>
            </a:fontRef>
          </p:style>
          <p:txBody>
            <a:bodyPr wrap="square" rtlCol="0" anchor="ctr" anchorCtr="0">
              <a:noAutofit/>
            </a:bodyPr>
            <a:p>
              <a:pPr algn="ctr" rtl="0" eaLnBrk="0">
                <a:lnSpc>
                  <a:spcPct val="100000"/>
                </a:lnSpc>
              </a:pPr>
              <a:r>
                <a:rPr lang="en-US" altLang="zh-CN" sz="1000" b="1" kern="0" spc="-60" dirty="0">
                  <a:solidFill>
                    <a:srgbClr val="204090">
                      <a:alpha val="100000"/>
                    </a:srgbClr>
                  </a:solidFill>
                  <a:latin typeface="黑体" panose="02010609060101010101" charset="-122"/>
                  <a:ea typeface="黑体" panose="02010609060101010101" charset="-122"/>
                  <a:cs typeface="黑体" panose="02010609060101010101" charset="-122"/>
                  <a:sym typeface="+mn-ea"/>
                </a:rPr>
                <a:t>{{security_value1}}</a:t>
              </a:r>
              <a:endParaRPr lang="en-US" altLang="zh-CN" sz="1000" b="1" kern="0" spc="-60" dirty="0">
                <a:solidFill>
                  <a:srgbClr val="204090">
                    <a:alpha val="100000"/>
                  </a:srgbClr>
                </a:solidFill>
                <a:latin typeface="黑体" panose="02010609060101010101" charset="-122"/>
                <a:ea typeface="黑体" panose="02010609060101010101" charset="-122"/>
                <a:cs typeface="黑体" panose="02010609060101010101" charset="-122"/>
                <a:sym typeface="+mn-ea"/>
              </a:endParaRPr>
            </a:p>
          </p:txBody>
        </p:sp>
        <p:grpSp>
          <p:nvGrpSpPr>
            <p:cNvPr id="86" name="组合 85"/>
            <p:cNvGrpSpPr/>
            <p:nvPr/>
          </p:nvGrpSpPr>
          <p:grpSpPr>
            <a:xfrm>
              <a:off x="16816" y="12047"/>
              <a:ext cx="907" cy="907"/>
              <a:chOff x="16280" y="11640"/>
              <a:chExt cx="907" cy="907"/>
            </a:xfrm>
          </p:grpSpPr>
          <p:sp>
            <p:nvSpPr>
              <p:cNvPr id="87" name="椭圆 86"/>
              <p:cNvSpPr/>
              <p:nvPr>
                <p:custDataLst>
                  <p:tags r:id="rId20"/>
                </p:custDataLst>
              </p:nvPr>
            </p:nvSpPr>
            <p:spPr bwMode="auto">
              <a:xfrm>
                <a:off x="16280" y="11640"/>
                <a:ext cx="907" cy="907"/>
              </a:xfrm>
              <a:prstGeom prst="ellipse">
                <a:avLst/>
              </a:prstGeom>
              <a:gradFill>
                <a:gsLst>
                  <a:gs pos="0">
                    <a:srgbClr val="5B9BD5">
                      <a:satMod val="110000"/>
                      <a:lumMod val="105000"/>
                      <a:tint val="67000"/>
                    </a:srgbClr>
                  </a:gs>
                  <a:gs pos="50000">
                    <a:srgbClr val="5B9BD5">
                      <a:lumMod val="105000"/>
                      <a:satMod val="103000"/>
                      <a:tint val="73000"/>
                    </a:srgbClr>
                  </a:gs>
                  <a:gs pos="100000">
                    <a:srgbClr val="5B9BD5">
                      <a:satMod val="105000"/>
                      <a:lumMod val="109000"/>
                      <a:tint val="81000"/>
                    </a:srgbClr>
                  </a:gs>
                  <a:gs pos="0">
                    <a:srgbClr val="ADE1F9"/>
                  </a:gs>
                  <a:gs pos="100000">
                    <a:srgbClr val="FFF2EC"/>
                  </a:gs>
                </a:gsLst>
                <a:lin ang="17400000" scaled="0"/>
              </a:gradFill>
              <a:ln w="6350" cap="flat" cmpd="sng" algn="ctr">
                <a:noFill/>
                <a:prstDash val="solid"/>
                <a:miter lim="800000"/>
              </a:ln>
              <a:effectLst/>
            </p:spPr>
            <p:style>
              <a:lnRef idx="1">
                <a:srgbClr val="5B9BD5"/>
              </a:lnRef>
              <a:fillRef idx="2">
                <a:srgbClr val="5B9BD5"/>
              </a:fillRef>
              <a:effectRef idx="1">
                <a:srgbClr val="5B9BD5"/>
              </a:effectRef>
              <a:fontRef idx="minor">
                <a:sysClr val="windowText" lastClr="000000"/>
              </a:fontRef>
            </p:style>
            <p:txBody>
              <a:bodyPr rtlCol="0" anchor="ctr">
                <a:normAutofit fontScale="80000"/>
              </a:bodyPr>
              <a:p>
                <a:pPr algn="ctr"/>
                <a:endParaRPr lang="zh-CN" altLang="en-US" sz="900">
                  <a:solidFill>
                    <a:sysClr val="windowText" lastClr="000000"/>
                  </a:solidFill>
                  <a:cs typeface="+mn-ea"/>
                </a:endParaRPr>
              </a:p>
            </p:txBody>
          </p:sp>
          <p:pic>
            <p:nvPicPr>
              <p:cNvPr id="88" name="图片 87" descr="放大镜"/>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16471" y="11817"/>
                <a:ext cx="567" cy="567"/>
              </a:xfrm>
              <a:prstGeom prst="rect">
                <a:avLst/>
              </a:prstGeom>
            </p:spPr>
          </p:pic>
        </p:grpSp>
      </p:grpSp>
      <p:pic>
        <p:nvPicPr>
          <p:cNvPr id="89" name="图片 88" descr="深信服 + 智安全"/>
          <p:cNvPicPr>
            <a:picLocks noChangeAspect="1"/>
          </p:cNvPicPr>
          <p:nvPr/>
        </p:nvPicPr>
        <p:blipFill>
          <a:blip r:embed="rId23"/>
          <a:srcRect l="5232" t="26576" r="4938" b="29565"/>
          <a:stretch>
            <a:fillRect/>
          </a:stretch>
        </p:blipFill>
        <p:spPr>
          <a:xfrm>
            <a:off x="10017125" y="238760"/>
            <a:ext cx="1629867" cy="360000"/>
          </a:xfrm>
          <a:prstGeom prst="rect">
            <a:avLst/>
          </a:prstGeom>
        </p:spPr>
      </p:pic>
      <p:sp>
        <p:nvSpPr>
          <p:cNvPr id="90" name="文本框 89"/>
          <p:cNvSpPr txBox="1"/>
          <p:nvPr/>
        </p:nvSpPr>
        <p:spPr>
          <a:xfrm>
            <a:off x="8013065" y="1371600"/>
            <a:ext cx="3558540" cy="2509520"/>
          </a:xfrm>
          <a:prstGeom prst="rect">
            <a:avLst/>
          </a:prstGeom>
          <a:noFill/>
        </p:spPr>
        <p:txBody>
          <a:bodyPr wrap="square" rtlCol="0" anchor="t">
            <a:spAutoFit/>
          </a:bodyPr>
          <a:p>
            <a:pPr marL="191770" indent="0" algn="l" rtl="0" eaLnBrk="0" fontAlgn="auto">
              <a:lnSpc>
                <a:spcPct val="150000"/>
              </a:lnSpc>
              <a:spcBef>
                <a:spcPts val="0"/>
              </a:spcBef>
            </a:pPr>
            <a:r>
              <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中秋节</a:t>
            </a:r>
            <a:r>
              <a:rPr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值守</a:t>
            </a:r>
            <a:r>
              <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保障</a:t>
            </a:r>
            <a:endPar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a:p>
            <a:pPr marL="191770" indent="0" algn="l" rtl="0" eaLnBrk="0" fontAlgn="auto">
              <a:lnSpc>
                <a:spcPct val="140000"/>
              </a:lnSpc>
              <a:spcBef>
                <a:spcPts val="0"/>
              </a:spcBef>
            </a:pP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lang="en-US" alt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mid_autumn_festival</a:t>
            </a: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endPar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a:p>
            <a:pPr marL="191770" indent="0" algn="l" rtl="0" eaLnBrk="0" fontAlgn="auto">
              <a:lnSpc>
                <a:spcPct val="140000"/>
              </a:lnSpc>
              <a:spcBef>
                <a:spcPts val="0"/>
              </a:spcBef>
            </a:pPr>
            <a:r>
              <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国庆</a:t>
            </a:r>
            <a:r>
              <a:rPr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值守</a:t>
            </a:r>
            <a:r>
              <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保障</a:t>
            </a:r>
            <a:endPar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a:p>
            <a:pPr marL="191770" indent="0" algn="l" rtl="0" eaLnBrk="0" fontAlgn="auto">
              <a:lnSpc>
                <a:spcPct val="140000"/>
              </a:lnSpc>
              <a:spcBef>
                <a:spcPts val="0"/>
              </a:spcBef>
            </a:pP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lang="en-US" alt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national_day</a:t>
            </a: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endParaRPr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a:p>
            <a:pPr marL="191770" indent="0" algn="l" defTabSz="2438400" rtl="0" eaLnBrk="0" fontAlgn="auto">
              <a:lnSpc>
                <a:spcPct val="140000"/>
              </a:lnSpc>
              <a:spcBef>
                <a:spcPts val="0"/>
              </a:spcBef>
            </a:pPr>
            <a:r>
              <a:rPr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元旦</a:t>
            </a:r>
            <a:r>
              <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节</a:t>
            </a:r>
            <a:r>
              <a:rPr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值守</a:t>
            </a:r>
            <a:r>
              <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保障</a:t>
            </a:r>
            <a:endParaRPr sz="800" b="1" spc="40" dirty="0">
              <a:solidFill>
                <a:srgbClr val="204080">
                  <a:alpha val="100000"/>
                </a:srgbClr>
              </a:solidFill>
              <a:latin typeface="黑体" panose="02010609060101010101" charset="-122"/>
              <a:ea typeface="黑体" panose="02010609060101010101" charset="-122"/>
              <a:cs typeface="黑体" panose="02010609060101010101" charset="-122"/>
            </a:endParaRPr>
          </a:p>
          <a:p>
            <a:pPr marL="191770" indent="0" algn="l" rtl="0" eaLnBrk="0" fontAlgn="auto">
              <a:lnSpc>
                <a:spcPct val="140000"/>
              </a:lnSpc>
              <a:spcBef>
                <a:spcPts val="0"/>
              </a:spcBef>
            </a:pP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lang="en-US" alt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new_years_day</a:t>
            </a: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endParaRPr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marL="191770" indent="0" algn="l" rtl="0" eaLnBrk="0" fontAlgn="auto">
              <a:lnSpc>
                <a:spcPct val="140000"/>
              </a:lnSpc>
              <a:spcBef>
                <a:spcPts val="0"/>
              </a:spcBef>
            </a:pPr>
            <a:r>
              <a:rPr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春节值守</a:t>
            </a:r>
            <a:r>
              <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保障</a:t>
            </a:r>
            <a:endParaRPr sz="800" dirty="0">
              <a:latin typeface="黑体" panose="02010609060101010101" charset="-122"/>
              <a:ea typeface="黑体" panose="02010609060101010101" charset="-122"/>
              <a:cs typeface="黑体" panose="02010609060101010101" charset="-122"/>
            </a:endParaRPr>
          </a:p>
          <a:p>
            <a:pPr marL="191770" indent="0" algn="l" rtl="0" eaLnBrk="0" fontAlgn="auto">
              <a:lnSpc>
                <a:spcPct val="140000"/>
              </a:lnSpc>
              <a:spcBef>
                <a:spcPts val="0"/>
              </a:spcBef>
            </a:pP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lang="en-US" alt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spring_festival</a:t>
            </a: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endParaRPr lang="zh-CN" altLang="en-US"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marL="191770" indent="0" algn="l" rtl="0" eaLnBrk="0" fontAlgn="auto">
              <a:lnSpc>
                <a:spcPct val="140000"/>
              </a:lnSpc>
              <a:spcBef>
                <a:spcPts val="0"/>
              </a:spcBef>
            </a:pPr>
            <a:r>
              <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清明节</a:t>
            </a:r>
            <a:r>
              <a:rPr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值守</a:t>
            </a:r>
            <a:r>
              <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保障</a:t>
            </a:r>
            <a:endParaRPr sz="800" dirty="0">
              <a:latin typeface="黑体" panose="02010609060101010101" charset="-122"/>
              <a:ea typeface="黑体" panose="02010609060101010101" charset="-122"/>
              <a:cs typeface="黑体" panose="02010609060101010101" charset="-122"/>
            </a:endParaRPr>
          </a:p>
          <a:p>
            <a:pPr marL="191770" indent="0" algn="l" rtl="0" eaLnBrk="0" fontAlgn="auto">
              <a:lnSpc>
                <a:spcPct val="140000"/>
              </a:lnSpc>
              <a:spcBef>
                <a:spcPts val="0"/>
              </a:spcBef>
            </a:pP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lang="en-US" alt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qingming_festival</a:t>
            </a: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endParaRPr sz="800" spc="-10" dirty="0">
              <a:solidFill>
                <a:srgbClr val="000000">
                  <a:alpha val="100000"/>
                </a:srgbClr>
              </a:solidFill>
              <a:latin typeface="黑体" panose="02010609060101010101" charset="-122"/>
              <a:ea typeface="黑体" panose="02010609060101010101" charset="-122"/>
              <a:cs typeface="黑体" panose="02010609060101010101" charset="-122"/>
            </a:endParaRPr>
          </a:p>
          <a:p>
            <a:pPr marL="191770" indent="0" algn="l" defTabSz="2438400" rtl="0" eaLnBrk="0" fontAlgn="auto">
              <a:lnSpc>
                <a:spcPct val="140000"/>
              </a:lnSpc>
              <a:spcBef>
                <a:spcPts val="0"/>
              </a:spcBef>
            </a:pPr>
            <a:r>
              <a:rPr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五一值守</a:t>
            </a:r>
            <a:r>
              <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保障</a:t>
            </a:r>
            <a:endParaRPr sz="800" b="1" spc="40" dirty="0">
              <a:solidFill>
                <a:srgbClr val="204080">
                  <a:alpha val="100000"/>
                </a:srgbClr>
              </a:solidFill>
              <a:latin typeface="黑体" panose="02010609060101010101" charset="-122"/>
              <a:ea typeface="黑体" panose="02010609060101010101" charset="-122"/>
              <a:cs typeface="黑体" panose="02010609060101010101" charset="-122"/>
            </a:endParaRPr>
          </a:p>
          <a:p>
            <a:pPr marL="191770" indent="0" algn="l" rtl="0" eaLnBrk="0" fontAlgn="auto">
              <a:lnSpc>
                <a:spcPct val="140000"/>
              </a:lnSpc>
              <a:spcBef>
                <a:spcPts val="0"/>
              </a:spcBef>
            </a:pP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lang="en-US" alt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labor_day</a:t>
            </a: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endParaRPr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marL="191770" indent="0" algn="l" rtl="0" eaLnBrk="0" fontAlgn="auto">
              <a:lnSpc>
                <a:spcPct val="140000"/>
              </a:lnSpc>
              <a:spcBef>
                <a:spcPts val="0"/>
              </a:spcBef>
            </a:pPr>
            <a:r>
              <a:rPr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端午节值守</a:t>
            </a:r>
            <a:r>
              <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保障</a:t>
            </a:r>
            <a:endParaRPr sz="800" b="1" spc="40" dirty="0">
              <a:solidFill>
                <a:srgbClr val="204080">
                  <a:alpha val="100000"/>
                </a:srgbClr>
              </a:solidFill>
              <a:latin typeface="黑体" panose="02010609060101010101" charset="-122"/>
              <a:ea typeface="黑体" panose="02010609060101010101" charset="-122"/>
              <a:cs typeface="黑体" panose="02010609060101010101" charset="-122"/>
            </a:endParaRPr>
          </a:p>
          <a:p>
            <a:pPr marL="191770" indent="0" algn="l" rtl="0" eaLnBrk="0" fontAlgn="auto">
              <a:lnSpc>
                <a:spcPct val="140000"/>
              </a:lnSpc>
              <a:spcBef>
                <a:spcPts val="0"/>
              </a:spcBef>
            </a:pP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lang="en-US" alt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dragon_boat_festival</a:t>
            </a: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endParaRPr lang="zh-CN" altLang="en-US"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91" name="文本框 90"/>
          <p:cNvSpPr txBox="1"/>
          <p:nvPr/>
        </p:nvSpPr>
        <p:spPr>
          <a:xfrm>
            <a:off x="5333365" y="1484630"/>
            <a:ext cx="1885315" cy="368300"/>
          </a:xfrm>
          <a:prstGeom prst="rect">
            <a:avLst/>
          </a:prstGeom>
          <a:noFill/>
        </p:spPr>
        <p:txBody>
          <a:bodyPr wrap="square" rtlCol="0" anchor="t">
            <a:spAutoFit/>
          </a:bodyPr>
          <a:p>
            <a:r>
              <a:rPr lang="zh-CN" altLang="en-US"/>
              <a:t>{{P</a:t>
            </a:r>
            <a:r>
              <a:rPr lang="en-US" altLang="zh-CN"/>
              <a:t>30</a:t>
            </a:r>
            <a:r>
              <a:rPr lang="zh-CN" altLang="en-US"/>
              <a:t>_combo}}</a:t>
            </a:r>
            <a:endParaRPr lang="zh-CN" altLang="en-US"/>
          </a:p>
        </p:txBody>
      </p:sp>
      <p:sp>
        <p:nvSpPr>
          <p:cNvPr id="158" name="textbox 158"/>
          <p:cNvSpPr/>
          <p:nvPr/>
        </p:nvSpPr>
        <p:spPr>
          <a:xfrm>
            <a:off x="631190" y="370840"/>
            <a:ext cx="5448300" cy="600075"/>
          </a:xfrm>
          <a:prstGeom prst="rect">
            <a:avLst/>
          </a:prstGeom>
          <a:noFill/>
          <a:ln w="0" cap="flat">
            <a:noFill/>
            <a:prstDash val="solid"/>
            <a:miter lim="0"/>
          </a:ln>
        </p:spPr>
        <p:txBody>
          <a:bodyPr vert="horz" wrap="square" lIns="0" tIns="0" rIns="0" bIns="0"/>
          <a:p>
            <a:pPr algn="l" rtl="0" eaLnBrk="0">
              <a:lnSpc>
                <a:spcPct val="78000"/>
              </a:lnSpc>
            </a:pPr>
            <a:endParaRPr sz="100" dirty="0">
              <a:latin typeface="Arial" panose="020B0604020202020204" pitchFamily="34" charset="0"/>
              <a:ea typeface="黑体-简" panose="02000000000000000000" charset="-122"/>
              <a:cs typeface="Arial" panose="020B0604020202020204"/>
            </a:endParaRPr>
          </a:p>
          <a:p>
            <a:pPr algn="l" rtl="0" eaLnBrk="0">
              <a:lnSpc>
                <a:spcPct val="101000"/>
              </a:lnSpc>
            </a:pPr>
            <a:r>
              <a:rPr lang="zh-CN" altLang="en-US" sz="1900" kern="0" dirty="0">
                <a:solidFill>
                  <a:srgbClr val="4C61E7"/>
                </a:solidFill>
                <a:latin typeface="Arial" panose="020B0604020202020204" pitchFamily="34" charset="0"/>
                <a:ea typeface="黑体-简" panose="02000000000000000000" charset="-122"/>
                <a:cs typeface="黑体" panose="02010609060101010101" charset="-122"/>
              </a:rPr>
              <a:t>节假日保障工作详情</a:t>
            </a:r>
            <a:endParaRPr sz="800" dirty="0">
              <a:latin typeface="Arial" panose="020B0604020202020204" pitchFamily="34" charset="0"/>
              <a:ea typeface="黑体-简" panose="02000000000000000000" charset="-122"/>
              <a:cs typeface="Arial" panose="020B0604020202020204"/>
            </a:endParaRPr>
          </a:p>
          <a:p>
            <a:pPr marL="12700" algn="l" rtl="0" eaLnBrk="0">
              <a:lnSpc>
                <a:spcPct val="92000"/>
              </a:lnSpc>
              <a:spcBef>
                <a:spcPts val="5"/>
              </a:spcBef>
            </a:pPr>
            <a:endParaRPr lang="zh-CN" altLang="en-US" sz="1000" kern="0" spc="40" dirty="0">
              <a:solidFill>
                <a:srgbClr val="000000">
                  <a:alpha val="100000"/>
                </a:srgbClr>
              </a:solidFill>
              <a:latin typeface="Arial" panose="020B0604020202020204" pitchFamily="34" charset="0"/>
              <a:ea typeface="黑体-简" panose="02000000000000000000" charset="-122"/>
              <a:cs typeface="黑体" panose="02010609060101010101" charset="-122"/>
            </a:endParaRPr>
          </a:p>
          <a:p>
            <a:pPr marL="12700" algn="l" rtl="0" eaLnBrk="0">
              <a:lnSpc>
                <a:spcPct val="92000"/>
              </a:lnSpc>
              <a:spcBef>
                <a:spcPts val="5"/>
              </a:spcBef>
            </a:pPr>
            <a:r>
              <a:rPr lang="zh-CN" altLang="en-US" sz="1000" kern="0" spc="40" dirty="0">
                <a:solidFill>
                  <a:srgbClr val="000000">
                    <a:alpha val="100000"/>
                  </a:srgbClr>
                </a:solidFill>
                <a:latin typeface="Arial" panose="020B0604020202020204" pitchFamily="34" charset="0"/>
                <a:ea typeface="黑体-简" panose="02000000000000000000" charset="-122"/>
                <a:cs typeface="黑体" panose="02010609060101010101" charset="-122"/>
              </a:rPr>
              <a:t>全天候应急响应机制与重要时期精细化保障，确保业务持续性与安全稳定</a:t>
            </a:r>
            <a:endParaRPr lang="zh-CN" altLang="en-US" sz="1000" kern="0" spc="40" dirty="0">
              <a:solidFill>
                <a:srgbClr val="000000">
                  <a:alpha val="100000"/>
                </a:srgbClr>
              </a:solidFill>
              <a:latin typeface="Arial" panose="020B0604020202020204" pitchFamily="34" charset="0"/>
              <a:ea typeface="黑体-简" panose="02000000000000000000" charset="-122"/>
              <a:cs typeface="黑体" panose="02010609060101010101"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p:cNvGrpSpPr/>
          <p:nvPr/>
        </p:nvGrpSpPr>
        <p:grpSpPr>
          <a:xfrm>
            <a:off x="224790" y="289878"/>
            <a:ext cx="4279900" cy="327025"/>
            <a:chOff x="533" y="646"/>
            <a:chExt cx="6740" cy="515"/>
          </a:xfrm>
        </p:grpSpPr>
        <p:grpSp>
          <p:nvGrpSpPr>
            <p:cNvPr id="13" name="组合 12"/>
            <p:cNvGrpSpPr/>
            <p:nvPr/>
          </p:nvGrpSpPr>
          <p:grpSpPr>
            <a:xfrm rot="0">
              <a:off x="533" y="672"/>
              <a:ext cx="582" cy="420"/>
              <a:chOff x="533" y="672"/>
              <a:chExt cx="582" cy="420"/>
            </a:xfrm>
          </p:grpSpPr>
          <p:sp>
            <p:nvSpPr>
              <p:cNvPr id="14" name="燕尾形 86"/>
              <p:cNvSpPr/>
              <p:nvPr>
                <p:custDataLst>
                  <p:tags r:id="rId1"/>
                </p:custDataLst>
              </p:nvPr>
            </p:nvSpPr>
            <p:spPr>
              <a:xfrm>
                <a:off x="533" y="672"/>
                <a:ext cx="326" cy="421"/>
              </a:xfrm>
              <a:prstGeom prst="chevron">
                <a:avLst>
                  <a:gd name="adj" fmla="val 50000"/>
                </a:avLst>
              </a:prstGeom>
              <a:gradFill>
                <a:gsLst>
                  <a:gs pos="0">
                    <a:srgbClr val="006CD9">
                      <a:alpha val="100000"/>
                    </a:srgbClr>
                  </a:gs>
                  <a:gs pos="100000">
                    <a:srgbClr val="006CD9">
                      <a:alpha val="75000"/>
                    </a:srgbClr>
                  </a:gs>
                </a:gsLst>
                <a:lin ang="54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sp>
            <p:nvSpPr>
              <p:cNvPr id="16" name="燕尾形 103"/>
              <p:cNvSpPr/>
              <p:nvPr>
                <p:custDataLst>
                  <p:tags r:id="rId2"/>
                </p:custDataLst>
              </p:nvPr>
            </p:nvSpPr>
            <p:spPr>
              <a:xfrm>
                <a:off x="789" y="672"/>
                <a:ext cx="326" cy="421"/>
              </a:xfrm>
              <a:prstGeom prst="chevron">
                <a:avLst>
                  <a:gd name="adj" fmla="val 50000"/>
                </a:avLst>
              </a:prstGeom>
              <a:gradFill>
                <a:gsLst>
                  <a:gs pos="0">
                    <a:srgbClr val="70AD47">
                      <a:alpha val="88000"/>
                    </a:srgbClr>
                  </a:gs>
                  <a:gs pos="100000">
                    <a:schemeClr val="accent6">
                      <a:lumMod val="85000"/>
                      <a:alpha val="63000"/>
                    </a:schemeClr>
                  </a:gs>
                </a:gsLst>
                <a:lin ang="162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grpSp>
        <p:sp>
          <p:nvSpPr>
            <p:cNvPr id="3" name="textbox 158"/>
            <p:cNvSpPr/>
            <p:nvPr/>
          </p:nvSpPr>
          <p:spPr>
            <a:xfrm>
              <a:off x="1345" y="646"/>
              <a:ext cx="5928" cy="515"/>
            </a:xfrm>
            <a:prstGeom prst="rect">
              <a:avLst/>
            </a:prstGeom>
            <a:noFill/>
            <a:ln w="0" cap="flat">
              <a:noFill/>
              <a:prstDash val="solid"/>
              <a:miter lim="0"/>
            </a:ln>
          </p:spPr>
          <p:txBody>
            <a:bodyPr vert="horz" wrap="square" lIns="0" tIns="0" rIns="0" bIns="0"/>
            <a:p>
              <a:pPr algn="l" rtl="0" eaLnBrk="0">
                <a:lnSpc>
                  <a:spcPct val="78000"/>
                </a:lnSpc>
              </a:pPr>
              <a:r>
                <a:rPr lang="zh-CN" altLang="en-US" sz="1900" b="1">
                  <a:solidFill>
                    <a:srgbClr val="262626"/>
                  </a:solidFill>
                  <a:latin typeface="Arial Black" panose="020B0A04020102020204" pitchFamily="34" charset="0"/>
                  <a:ea typeface="微软雅黑" panose="020B0503020204020204" charset="-122"/>
                  <a:cs typeface="Noto Sans SC"/>
                  <a:sym typeface="Noto Sans SC"/>
                </a:rPr>
                <a:t>降低被通报风险</a:t>
              </a:r>
              <a:endParaRPr lang="zh-CN" altLang="en-US" sz="1900" b="1">
                <a:solidFill>
                  <a:srgbClr val="262626"/>
                </a:solidFill>
                <a:latin typeface="Arial Black" panose="020B0A04020102020204" pitchFamily="34" charset="0"/>
                <a:ea typeface="微软雅黑" panose="020B0503020204020204" charset="-122"/>
                <a:cs typeface="Noto Sans SC"/>
                <a:sym typeface="Noto Sans SC"/>
              </a:endParaRPr>
            </a:p>
            <a:p>
              <a:pPr algn="l" rtl="0" eaLnBrk="0">
                <a:lnSpc>
                  <a:spcPct val="101000"/>
                </a:lnSpc>
              </a:pPr>
              <a:endParaRPr lang="zh-CN" altLang="en-US" sz="1900" b="1">
                <a:solidFill>
                  <a:srgbClr val="262626"/>
                </a:solidFill>
                <a:latin typeface="Arial Black" panose="020B0A04020102020204" pitchFamily="34" charset="0"/>
                <a:ea typeface="微软雅黑" panose="020B0503020204020204" charset="-122"/>
                <a:cs typeface="Noto Sans SC"/>
                <a:sym typeface="Noto Sans SC"/>
              </a:endParaRPr>
            </a:p>
          </p:txBody>
        </p:sp>
      </p:grpSp>
      <p:pic>
        <p:nvPicPr>
          <p:cNvPr id="5" name="图片 4" descr="深信服 + 智安全"/>
          <p:cNvPicPr>
            <a:picLocks noChangeAspect="1"/>
          </p:cNvPicPr>
          <p:nvPr/>
        </p:nvPicPr>
        <p:blipFill>
          <a:blip r:embed="rId3"/>
          <a:srcRect l="5232" t="26576" r="4938" b="29565"/>
          <a:stretch>
            <a:fillRect/>
          </a:stretch>
        </p:blipFill>
        <p:spPr>
          <a:xfrm>
            <a:off x="10330815" y="273073"/>
            <a:ext cx="1629867" cy="360000"/>
          </a:xfrm>
          <a:prstGeom prst="rect">
            <a:avLst/>
          </a:prstGeom>
        </p:spPr>
      </p:pic>
      <p:sp>
        <p:nvSpPr>
          <p:cNvPr id="693" name="圆角矩形 692"/>
          <p:cNvSpPr/>
          <p:nvPr>
            <p:custDataLst>
              <p:tags r:id="rId4"/>
            </p:custDataLst>
          </p:nvPr>
        </p:nvSpPr>
        <p:spPr>
          <a:xfrm>
            <a:off x="739775" y="1416050"/>
            <a:ext cx="10848340" cy="671830"/>
          </a:xfrm>
          <a:prstGeom prst="roundRect">
            <a:avLst/>
          </a:prstGeom>
          <a:solidFill>
            <a:schemeClr val="accent5">
              <a:lumMod val="40000"/>
              <a:lumOff val="60000"/>
            </a:schemeClr>
          </a:solidFill>
          <a:ln>
            <a:noFill/>
          </a:ln>
          <a:effectLst>
            <a:outerShdw blurRad="114300" dist="88900" dir="2700000" algn="tl" rotWithShape="0">
              <a:schemeClr val="accent5">
                <a:lumMod val="75000"/>
                <a:alpha val="15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lstStyle/>
          <a:p>
            <a:pPr algn="ctr">
              <a:lnSpc>
                <a:spcPct val="140000"/>
              </a:lnSpc>
            </a:pPr>
            <a:r>
              <a:rPr lang="zh-CN" altLang="en-US" sz="1400" b="1">
                <a:solidFill>
                  <a:schemeClr val="tx1"/>
                </a:solidFill>
                <a:uFillTx/>
                <a:latin typeface="Arial" panose="020B0604020202020204" pitchFamily="34" charset="0"/>
                <a:ea typeface="黑体-简" panose="02000000000000000000" charset="-122"/>
              </a:rPr>
              <a:t>安全通报从去年的</a:t>
            </a:r>
            <a:r>
              <a:rPr lang="en-US" altLang="zh-CN" sz="1400" b="1">
                <a:solidFill>
                  <a:srgbClr val="4C61E7"/>
                </a:solidFill>
                <a:uFillTx/>
                <a:latin typeface="Arial" panose="020B0604020202020204" pitchFamily="34" charset="0"/>
                <a:ea typeface="黑体-简" panose="02000000000000000000" charset="-122"/>
              </a:rPr>
              <a:t>{{previous_service_period_reported_count}}</a:t>
            </a:r>
            <a:r>
              <a:rPr lang="zh-CN" altLang="en-US" sz="1400" b="1">
                <a:solidFill>
                  <a:schemeClr val="tx1"/>
                </a:solidFill>
                <a:uFillTx/>
                <a:latin typeface="Arial" panose="020B0604020202020204" pitchFamily="34" charset="0"/>
                <a:ea typeface="黑体-简" panose="02000000000000000000" charset="-122"/>
                <a:sym typeface="+mn-ea"/>
              </a:rPr>
              <a:t>次</a:t>
            </a:r>
            <a:r>
              <a:rPr lang="zh-CN" altLang="en-US" sz="1400" b="1">
                <a:solidFill>
                  <a:schemeClr val="tx1"/>
                </a:solidFill>
                <a:uFillTx/>
                <a:latin typeface="Arial" panose="020B0604020202020204" pitchFamily="34" charset="0"/>
                <a:ea typeface="黑体-简" panose="02000000000000000000" charset="-122"/>
              </a:rPr>
              <a:t>降低为</a:t>
            </a:r>
            <a:r>
              <a:rPr lang="en-US" altLang="zh-CN" sz="1400" b="1">
                <a:solidFill>
                  <a:srgbClr val="4C61E7"/>
                </a:solidFill>
                <a:uFillTx/>
                <a:latin typeface="Arial" panose="020B0604020202020204" pitchFamily="34" charset="0"/>
                <a:ea typeface="黑体-简" panose="02000000000000000000" charset="-122"/>
                <a:sym typeface="+mn-ea"/>
              </a:rPr>
              <a:t>{{reported_count}}</a:t>
            </a:r>
            <a:r>
              <a:rPr lang="zh-CN" altLang="en-US" sz="1400" b="1">
                <a:solidFill>
                  <a:schemeClr val="tx1"/>
                </a:solidFill>
                <a:uFillTx/>
                <a:latin typeface="Arial" panose="020B0604020202020204" pitchFamily="34" charset="0"/>
                <a:ea typeface="黑体-简" panose="02000000000000000000" charset="-122"/>
              </a:rPr>
              <a:t>次。通过快速溯源与闭环整改，结合专业书面回函，彻底消除了被追责处罚的风险，保障了单位年度考核与评优不受安全问题影响。</a:t>
            </a:r>
            <a:endParaRPr lang="zh-CN" altLang="en-US" sz="1400" b="1">
              <a:solidFill>
                <a:schemeClr val="tx1"/>
              </a:solidFill>
              <a:uFillTx/>
              <a:latin typeface="Arial" panose="020B0604020202020204" pitchFamily="34" charset="0"/>
              <a:ea typeface="黑体-简" panose="02000000000000000000" charset="-122"/>
            </a:endParaRPr>
          </a:p>
        </p:txBody>
      </p:sp>
      <p:pic>
        <p:nvPicPr>
          <p:cNvPr id="696" name="图片 695" descr="盾牌"/>
          <p:cNvPicPr>
            <a:picLocks noChangeAspect="1"/>
          </p:cNvPicPr>
          <p:nvPr>
            <p:custDataLst>
              <p:tags r:id="rId5"/>
            </p:custDataLst>
          </p:nvPr>
        </p:nvPicPr>
        <p:blipFill>
          <a:blip r:embed="rId6">
            <a:extLst>
              <a:ext uri="{96DAC541-7B7A-43D3-8B79-37D633B846F1}">
                <asvg:svgBlip xmlns:asvg="http://schemas.microsoft.com/office/drawing/2016/SVG/main" r:embed="rId7"/>
              </a:ext>
            </a:extLst>
          </a:blip>
          <a:srcRect/>
          <a:stretch>
            <a:fillRect/>
          </a:stretch>
        </p:blipFill>
        <p:spPr>
          <a:xfrm>
            <a:off x="1971815" y="2577539"/>
            <a:ext cx="395605" cy="396194"/>
          </a:xfrm>
          <a:prstGeom prst="rect">
            <a:avLst/>
          </a:prstGeom>
          <a:effectLst>
            <a:outerShdw blurRad="127000" dist="63500" dir="5400000" algn="t" rotWithShape="0">
              <a:schemeClr val="accent5">
                <a:lumMod val="75000"/>
                <a:alpha val="10000"/>
              </a:schemeClr>
            </a:outerShdw>
          </a:effectLst>
        </p:spPr>
      </p:pic>
      <p:pic>
        <p:nvPicPr>
          <p:cNvPr id="697" name="图片 696" descr="维修"/>
          <p:cNvPicPr>
            <a:picLocks noChangeAspect="1"/>
          </p:cNvPicPr>
          <p:nvPr>
            <p:custDataLst>
              <p:tags r:id="rId8"/>
            </p:custDataLst>
          </p:nvPr>
        </p:nvPicPr>
        <p:blipFill>
          <a:blip r:embed="rId9">
            <a:extLst>
              <a:ext uri="{96DAC541-7B7A-43D3-8B79-37D633B846F1}">
                <asvg:svgBlip xmlns:asvg="http://schemas.microsoft.com/office/drawing/2016/SVG/main" r:embed="rId10"/>
              </a:ext>
            </a:extLst>
          </a:blip>
          <a:srcRect/>
          <a:stretch>
            <a:fillRect/>
          </a:stretch>
        </p:blipFill>
        <p:spPr>
          <a:xfrm>
            <a:off x="5939812" y="2595931"/>
            <a:ext cx="359368" cy="358775"/>
          </a:xfrm>
          <a:prstGeom prst="rect">
            <a:avLst/>
          </a:prstGeom>
          <a:effectLst>
            <a:outerShdw blurRad="127000" dist="63500" dir="5400000" algn="t" rotWithShape="0">
              <a:schemeClr val="accent6">
                <a:lumMod val="75000"/>
                <a:alpha val="10000"/>
              </a:schemeClr>
            </a:outerShdw>
          </a:effectLst>
        </p:spPr>
      </p:pic>
      <p:sp>
        <p:nvSpPr>
          <p:cNvPr id="698" name="圆角矩形 697"/>
          <p:cNvSpPr/>
          <p:nvPr>
            <p:custDataLst>
              <p:tags r:id="rId11"/>
            </p:custDataLst>
          </p:nvPr>
        </p:nvSpPr>
        <p:spPr>
          <a:xfrm>
            <a:off x="639445" y="3527425"/>
            <a:ext cx="3059430" cy="2667635"/>
          </a:xfrm>
          <a:prstGeom prst="roundRect">
            <a:avLst>
              <a:gd name="adj" fmla="val 7624"/>
            </a:avLst>
          </a:prstGeom>
          <a:solidFill>
            <a:schemeClr val="accent5">
              <a:lumMod val="40000"/>
              <a:lumOff val="60000"/>
              <a:alpha val="1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lIns="144145" rIns="144145" rtlCol="0" anchor="t" anchorCtr="0"/>
          <a:lstStyle/>
          <a:p>
            <a:pPr indent="0" algn="l" fontAlgn="auto">
              <a:lnSpc>
                <a:spcPct val="140000"/>
              </a:lnSpc>
            </a:pPr>
            <a:r>
              <a:rPr lang="en-US" altLang="zh-CN"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1</a:t>
            </a:r>
            <a:r>
              <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、提供外联恶意地址库及时更新；</a:t>
            </a:r>
            <a:endPar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endParaRPr>
          </a:p>
          <a:p>
            <a:pPr indent="0" algn="l" fontAlgn="auto">
              <a:lnSpc>
                <a:spcPct val="140000"/>
              </a:lnSpc>
            </a:pPr>
            <a:r>
              <a:rPr lang="en-US" altLang="zh-CN"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2</a:t>
            </a:r>
            <a:r>
              <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、保持边界和端点安全防护组件策略及时更新，保障恶意外联的检出和拦截有效性；</a:t>
            </a:r>
            <a:endPar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endParaRPr>
          </a:p>
          <a:p>
            <a:pPr indent="0" algn="l" fontAlgn="auto">
              <a:lnSpc>
                <a:spcPct val="140000"/>
              </a:lnSpc>
            </a:pPr>
            <a:r>
              <a:rPr lang="en-US" altLang="zh-CN"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3</a:t>
            </a:r>
            <a:r>
              <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a:t>
            </a:r>
            <a:r>
              <a:rPr lang="en-US" altLang="zh-CN"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7*24</a:t>
            </a:r>
            <a:r>
              <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小时全天候监测，精准识别并成功阻断</a:t>
            </a:r>
            <a:r>
              <a:rPr lang="en-US" altLang="zh-CN" sz="1200" kern="0" dirty="0">
                <a:ln>
                  <a:noFill/>
                  <a:prstDash val="sysDot"/>
                </a:ln>
                <a:solidFill>
                  <a:srgbClr val="4C61E7"/>
                </a:solidFill>
                <a:latin typeface="Arial" panose="020B0604020202020204" pitchFamily="34" charset="0"/>
                <a:ea typeface="黑体-简" panose="02000000000000000000" charset="-122"/>
                <a:sym typeface="+mn-ea"/>
              </a:rPr>
              <a:t>{{malicious_external_connection_count}}</a:t>
            </a:r>
            <a:r>
              <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次非法外联尝试，实现恶意外联通报</a:t>
            </a:r>
            <a:r>
              <a:rPr lang="en-US" altLang="zh-CN"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a:t>
            </a:r>
            <a:r>
              <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零发生</a:t>
            </a:r>
            <a:r>
              <a:rPr lang="en-US" altLang="zh-CN"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a:t>
            </a:r>
            <a:endPar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endParaRPr>
          </a:p>
        </p:txBody>
      </p:sp>
      <p:sp>
        <p:nvSpPr>
          <p:cNvPr id="699" name="圆角矩形 698"/>
          <p:cNvSpPr/>
          <p:nvPr>
            <p:custDataLst>
              <p:tags r:id="rId12"/>
            </p:custDataLst>
          </p:nvPr>
        </p:nvSpPr>
        <p:spPr>
          <a:xfrm>
            <a:off x="4599940" y="3527425"/>
            <a:ext cx="3059430" cy="2667635"/>
          </a:xfrm>
          <a:prstGeom prst="roundRect">
            <a:avLst>
              <a:gd name="adj" fmla="val 7624"/>
            </a:avLst>
          </a:prstGeom>
          <a:solidFill>
            <a:schemeClr val="accent6">
              <a:lumMod val="40000"/>
              <a:lumOff val="60000"/>
              <a:alpha val="1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144145" rIns="144145" numCol="1" spcCol="0" rtlCol="0" fromWordArt="0" anchor="t" anchorCtr="0" forceAA="0" compatLnSpc="1">
            <a:noAutofit/>
          </a:bodyPr>
          <a:lstStyle/>
          <a:p>
            <a:pPr lvl="0" algn="l">
              <a:lnSpc>
                <a:spcPct val="140000"/>
              </a:lnSpc>
              <a:buClrTx/>
              <a:buSzTx/>
              <a:buFontTx/>
            </a:pPr>
            <a:r>
              <a:rPr lang="en-US" altLang="zh-CN"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1</a:t>
            </a:r>
            <a:r>
              <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、总共执行</a:t>
            </a:r>
            <a:r>
              <a:rPr lang="en-US" altLang="zh-CN" sz="1200" kern="0" dirty="0">
                <a:ln>
                  <a:noFill/>
                  <a:prstDash val="sysDot"/>
                </a:ln>
                <a:solidFill>
                  <a:srgbClr val="4C61E7"/>
                </a:solidFill>
                <a:latin typeface="Arial" panose="020B0604020202020204" pitchFamily="34" charset="0"/>
                <a:ea typeface="黑体-简" panose="02000000000000000000" charset="-122"/>
                <a:sym typeface="+mn-ea"/>
              </a:rPr>
              <a:t>{{vulnerability_scan_count}}</a:t>
            </a:r>
            <a:r>
              <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次漏洞扫描与优先级分析，输出差异化加固建议；</a:t>
            </a:r>
            <a:endPar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endParaRPr>
          </a:p>
          <a:p>
            <a:pPr lvl="0" algn="l">
              <a:lnSpc>
                <a:spcPct val="140000"/>
              </a:lnSpc>
              <a:buClrTx/>
              <a:buSzTx/>
              <a:buFontTx/>
            </a:pPr>
            <a:r>
              <a:rPr lang="en-US" altLang="zh-CN"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2</a:t>
            </a:r>
            <a:r>
              <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、针对老旧系统，通过联动下一代防火墙的防护规则或者访问控制策略实现了有效保护；</a:t>
            </a:r>
            <a:endPar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endParaRPr>
          </a:p>
          <a:p>
            <a:pPr lvl="0" algn="l">
              <a:lnSpc>
                <a:spcPct val="140000"/>
              </a:lnSpc>
              <a:buClrTx/>
              <a:buSzTx/>
              <a:buFontTx/>
            </a:pPr>
            <a:r>
              <a:rPr lang="en-US" altLang="zh-CN"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3</a:t>
            </a:r>
            <a:r>
              <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、业务侧配合修复了</a:t>
            </a:r>
            <a:r>
              <a:rPr lang="en-US" altLang="zh-CN" sz="1200" kern="0" dirty="0">
                <a:ln>
                  <a:noFill/>
                  <a:prstDash val="sysDot"/>
                </a:ln>
                <a:solidFill>
                  <a:srgbClr val="4C61E7"/>
                </a:solidFill>
                <a:latin typeface="Arial" panose="020B0604020202020204" pitchFamily="34" charset="0"/>
                <a:ea typeface="黑体-简" panose="02000000000000000000" charset="-122"/>
                <a:sym typeface="+mn-ea"/>
              </a:rPr>
              <a:t>{{fixed_vulnerability_count}}</a:t>
            </a:r>
            <a:r>
              <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个漏洞，安全策略有效防护了</a:t>
            </a:r>
            <a:r>
              <a:rPr lang="en-US" altLang="zh-CN" sz="1200" kern="0" dirty="0">
                <a:ln>
                  <a:noFill/>
                  <a:prstDash val="sysDot"/>
                </a:ln>
                <a:solidFill>
                  <a:srgbClr val="4C61E7"/>
                </a:solidFill>
                <a:latin typeface="Arial" panose="020B0604020202020204" pitchFamily="34" charset="0"/>
                <a:ea typeface="黑体-简" panose="02000000000000000000" charset="-122"/>
                <a:sym typeface="+mn-ea"/>
              </a:rPr>
              <a:t>{{protected_vulnerability_count}}</a:t>
            </a:r>
            <a:r>
              <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个漏洞，大幅降低了漏洞被通报的风险。</a:t>
            </a:r>
            <a:endPar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endParaRPr>
          </a:p>
        </p:txBody>
      </p:sp>
      <p:sp>
        <p:nvSpPr>
          <p:cNvPr id="700" name="圆角矩形 699"/>
          <p:cNvSpPr/>
          <p:nvPr>
            <p:custDataLst>
              <p:tags r:id="rId13"/>
            </p:custDataLst>
          </p:nvPr>
        </p:nvSpPr>
        <p:spPr>
          <a:xfrm>
            <a:off x="8561070" y="3527425"/>
            <a:ext cx="3059430" cy="2667635"/>
          </a:xfrm>
          <a:prstGeom prst="roundRect">
            <a:avLst>
              <a:gd name="adj" fmla="val 7624"/>
            </a:avLst>
          </a:prstGeom>
          <a:solidFill>
            <a:schemeClr val="accent5">
              <a:lumMod val="40000"/>
              <a:lumOff val="60000"/>
              <a:alpha val="1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144145" rIns="144145" numCol="1" spcCol="0" rtlCol="0" fromWordArt="0" anchor="t" anchorCtr="0" forceAA="0" compatLnSpc="1">
            <a:noAutofit/>
          </a:bodyPr>
          <a:lstStyle/>
          <a:p>
            <a:pPr lvl="0" algn="l">
              <a:lnSpc>
                <a:spcPct val="140000"/>
              </a:lnSpc>
              <a:buClrTx/>
              <a:buSzTx/>
              <a:buFontTx/>
            </a:pPr>
            <a:r>
              <a:rPr lang="en-US" altLang="zh-CN"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1</a:t>
            </a:r>
            <a:r>
              <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、构建</a:t>
            </a:r>
            <a:r>
              <a:rPr lang="en-US" altLang="zh-CN"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a:t>
            </a:r>
            <a:r>
              <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接收</a:t>
            </a:r>
            <a:r>
              <a:rPr lang="en-US" altLang="zh-CN"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a:t>
            </a:r>
            <a:r>
              <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溯源</a:t>
            </a:r>
            <a:r>
              <a:rPr lang="en-US" altLang="zh-CN"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a:t>
            </a:r>
            <a:r>
              <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处置</a:t>
            </a:r>
            <a:r>
              <a:rPr lang="en-US" altLang="zh-CN"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a:t>
            </a:r>
            <a:r>
              <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回函</a:t>
            </a:r>
            <a:r>
              <a:rPr lang="en-US" altLang="zh-CN"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a:t>
            </a:r>
            <a:r>
              <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归档</a:t>
            </a:r>
            <a:r>
              <a:rPr lang="en-US" altLang="zh-CN"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a:t>
            </a:r>
            <a:r>
              <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的全链路标准作业程序（</a:t>
            </a:r>
            <a:r>
              <a:rPr lang="en-US" altLang="zh-CN"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SOP</a:t>
            </a:r>
            <a:r>
              <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），确保即便面对突发情况也能极速响应，完全满足监管回函时效与质量要求。</a:t>
            </a:r>
            <a:endPar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endParaRPr>
          </a:p>
          <a:p>
            <a:pPr lvl="0" algn="l">
              <a:lnSpc>
                <a:spcPct val="140000"/>
              </a:lnSpc>
              <a:buClrTx/>
              <a:buSzTx/>
              <a:buFontTx/>
            </a:pPr>
            <a:r>
              <a:rPr lang="en-US" altLang="zh-CN"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2</a:t>
            </a:r>
            <a:r>
              <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、通过双方通力配合，高质量的处理了</a:t>
            </a:r>
            <a:r>
              <a:rPr lang="en-US" altLang="zh-CN" sz="1200" kern="0" dirty="0">
                <a:ln>
                  <a:noFill/>
                  <a:prstDash val="sysDot"/>
                </a:ln>
                <a:solidFill>
                  <a:srgbClr val="4C61E7"/>
                </a:solidFill>
                <a:latin typeface="Arial" panose="020B0604020202020204" pitchFamily="34" charset="0"/>
                <a:ea typeface="黑体-简" panose="02000000000000000000" charset="-122"/>
                <a:sym typeface="+mn-ea"/>
              </a:rPr>
              <a:t>{{reported_count}}</a:t>
            </a:r>
            <a:r>
              <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次通报问题排查与回函</a:t>
            </a:r>
            <a:endPar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endParaRPr>
          </a:p>
        </p:txBody>
      </p:sp>
      <p:sp>
        <p:nvSpPr>
          <p:cNvPr id="701" name="文本框 700"/>
          <p:cNvSpPr txBox="1"/>
          <p:nvPr>
            <p:custDataLst>
              <p:tags r:id="rId14"/>
            </p:custDataLst>
          </p:nvPr>
        </p:nvSpPr>
        <p:spPr>
          <a:xfrm>
            <a:off x="611505" y="3056256"/>
            <a:ext cx="3055267" cy="388575"/>
          </a:xfrm>
          <a:prstGeom prst="rect">
            <a:avLst/>
          </a:prstGeom>
          <a:noFill/>
        </p:spPr>
        <p:txBody>
          <a:bodyPr wrap="square" lIns="0" tIns="0" rIns="0" bIns="0" rtlCol="0" anchor="ctr" anchorCtr="0">
            <a:noAutofit/>
          </a:bodyPr>
          <a:lstStyle/>
          <a:p>
            <a:pPr algn="ctr"/>
            <a:r>
              <a:rPr lang="zh-CN" altLang="en-US" sz="1200" b="1">
                <a:solidFill>
                  <a:schemeClr val="accent5">
                    <a:lumMod val="75000"/>
                  </a:schemeClr>
                </a:solidFill>
                <a:latin typeface="Arial Black" panose="020B0A04020102020204" pitchFamily="34" charset="0"/>
                <a:ea typeface="微软雅黑" panose="020B0503020204020204" charset="-122"/>
                <a:sym typeface="+mn-ea"/>
              </a:rPr>
              <a:t>非法外联行为识别与阻断</a:t>
            </a:r>
            <a:endParaRPr lang="zh-CN" altLang="en-US" sz="1200" b="1">
              <a:solidFill>
                <a:schemeClr val="accent5">
                  <a:lumMod val="75000"/>
                </a:schemeClr>
              </a:solidFill>
              <a:latin typeface="Arial Black" panose="020B0A04020102020204" pitchFamily="34" charset="0"/>
              <a:ea typeface="微软雅黑" panose="020B0503020204020204" charset="-122"/>
              <a:sym typeface="+mn-ea"/>
            </a:endParaRPr>
          </a:p>
        </p:txBody>
      </p:sp>
      <p:sp>
        <p:nvSpPr>
          <p:cNvPr id="702" name="文本框 701"/>
          <p:cNvSpPr txBox="1"/>
          <p:nvPr>
            <p:custDataLst>
              <p:tags r:id="rId15"/>
            </p:custDataLst>
          </p:nvPr>
        </p:nvSpPr>
        <p:spPr>
          <a:xfrm>
            <a:off x="4572177" y="3056256"/>
            <a:ext cx="3055267" cy="388575"/>
          </a:xfrm>
          <a:prstGeom prst="rect">
            <a:avLst/>
          </a:prstGeom>
          <a:noFill/>
        </p:spPr>
        <p:txBody>
          <a:bodyPr wrap="square" lIns="0" tIns="0" rIns="0" bIns="0" rtlCol="0" anchor="ctr" anchorCtr="0">
            <a:noAutofit/>
          </a:bodyPr>
          <a:lstStyle/>
          <a:p>
            <a:pPr algn="ctr"/>
            <a:r>
              <a:rPr lang="zh-CN" altLang="en-US" sz="1200" b="1">
                <a:solidFill>
                  <a:schemeClr val="accent6">
                    <a:lumMod val="75000"/>
                  </a:schemeClr>
                </a:solidFill>
                <a:latin typeface="Arial Black" panose="020B0A04020102020204" pitchFamily="34" charset="0"/>
                <a:ea typeface="微软雅黑" panose="020B0503020204020204" charset="-122"/>
                <a:sym typeface="+mn-ea"/>
              </a:rPr>
              <a:t>高危漏洞识别与修复</a:t>
            </a:r>
            <a:endParaRPr lang="zh-CN" altLang="en-US" sz="1200" b="1">
              <a:solidFill>
                <a:schemeClr val="accent6">
                  <a:lumMod val="75000"/>
                </a:schemeClr>
              </a:solidFill>
              <a:latin typeface="Arial Black" panose="020B0A04020102020204" pitchFamily="34" charset="0"/>
              <a:ea typeface="微软雅黑" panose="020B0503020204020204" charset="-122"/>
              <a:sym typeface="+mn-ea"/>
            </a:endParaRPr>
          </a:p>
        </p:txBody>
      </p:sp>
      <p:sp>
        <p:nvSpPr>
          <p:cNvPr id="703" name="文本框 702"/>
          <p:cNvSpPr txBox="1"/>
          <p:nvPr>
            <p:custDataLst>
              <p:tags r:id="rId16"/>
            </p:custDataLst>
          </p:nvPr>
        </p:nvSpPr>
        <p:spPr>
          <a:xfrm>
            <a:off x="8532849" y="3056256"/>
            <a:ext cx="3055267" cy="388575"/>
          </a:xfrm>
          <a:prstGeom prst="rect">
            <a:avLst/>
          </a:prstGeom>
          <a:noFill/>
        </p:spPr>
        <p:txBody>
          <a:bodyPr wrap="square" lIns="0" tIns="0" rIns="0" bIns="0" rtlCol="0" anchor="ctr" anchorCtr="0">
            <a:noAutofit/>
          </a:bodyPr>
          <a:lstStyle/>
          <a:p>
            <a:pPr algn="ctr"/>
            <a:r>
              <a:rPr lang="zh-CN" altLang="en-US" sz="1200" b="1">
                <a:solidFill>
                  <a:schemeClr val="accent5">
                    <a:lumMod val="75000"/>
                  </a:schemeClr>
                </a:solidFill>
                <a:latin typeface="Arial Black" panose="020B0A04020102020204" pitchFamily="34" charset="0"/>
                <a:ea typeface="微软雅黑" panose="020B0503020204020204" charset="-122"/>
                <a:sym typeface="+mn-ea"/>
              </a:rPr>
              <a:t>通报问题高效应对</a:t>
            </a:r>
            <a:endParaRPr lang="zh-CN" altLang="en-US" sz="1200" b="1">
              <a:solidFill>
                <a:schemeClr val="accent5">
                  <a:lumMod val="75000"/>
                </a:schemeClr>
              </a:solidFill>
              <a:latin typeface="Arial Black" panose="020B0A04020102020204" pitchFamily="34" charset="0"/>
              <a:ea typeface="微软雅黑" panose="020B0503020204020204" charset="-122"/>
              <a:sym typeface="+mn-ea"/>
            </a:endParaRPr>
          </a:p>
        </p:txBody>
      </p:sp>
      <p:pic>
        <p:nvPicPr>
          <p:cNvPr id="704" name="图片 703" descr="职业资格"/>
          <p:cNvPicPr>
            <a:picLocks noChangeAspect="1"/>
          </p:cNvPicPr>
          <p:nvPr>
            <p:custDataLst>
              <p:tags r:id="rId17"/>
            </p:custDataLst>
          </p:nvPr>
        </p:nvPicPr>
        <p:blipFill>
          <a:blip r:embed="rId18">
            <a:extLst>
              <a:ext uri="{96DAC541-7B7A-43D3-8B79-37D633B846F1}">
                <asvg:svgBlip xmlns:asvg="http://schemas.microsoft.com/office/drawing/2016/SVG/main" r:embed="rId19"/>
              </a:ext>
            </a:extLst>
          </a:blip>
          <a:srcRect/>
          <a:stretch>
            <a:fillRect/>
          </a:stretch>
        </p:blipFill>
        <p:spPr>
          <a:xfrm>
            <a:off x="9892865" y="2578151"/>
            <a:ext cx="395559" cy="394970"/>
          </a:xfrm>
          <a:prstGeom prst="rect">
            <a:avLst/>
          </a:prstGeom>
          <a:effectLst>
            <a:outerShdw blurRad="127000" dist="63500" dir="5400000" algn="t" rotWithShape="0">
              <a:schemeClr val="accent5">
                <a:lumMod val="75000"/>
                <a:alpha val="10000"/>
              </a:schemeClr>
            </a:outerShdw>
          </a:effectLst>
        </p:spPr>
      </p:pic>
    </p:spTree>
    <p:custDataLst>
      <p:tags r:id="rId20"/>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文本框 43"/>
          <p:cNvSpPr txBox="1"/>
          <p:nvPr>
            <p:custDataLst>
              <p:tags r:id="rId1"/>
            </p:custDataLst>
          </p:nvPr>
        </p:nvSpPr>
        <p:spPr>
          <a:xfrm>
            <a:off x="6092825" y="3663315"/>
            <a:ext cx="4703445" cy="424815"/>
          </a:xfrm>
          <a:prstGeom prst="rect">
            <a:avLst/>
          </a:prstGeom>
          <a:noFill/>
          <a:ln w="0">
            <a:noFill/>
          </a:ln>
        </p:spPr>
        <p:txBody>
          <a:bodyPr wrap="square" lIns="0" tIns="0" rIns="0" bIns="0" anchor="ctr" anchorCtr="0">
            <a:noAutofit/>
          </a:bodyPr>
          <a:p>
            <a:pPr algn="l"/>
            <a:r>
              <a:rPr lang="zh-CN" sz="1600" kern="0" spc="60" dirty="0">
                <a:solidFill>
                  <a:srgbClr val="000000">
                    <a:alpha val="100000"/>
                  </a:srgbClr>
                </a:solidFill>
                <a:latin typeface="Arial Black" panose="020B0A04020102020204" pitchFamily="34" charset="0"/>
                <a:ea typeface="微软雅黑" panose="020B0503020204020204" charset="-122"/>
                <a:cs typeface="黑体" panose="02010609060101010101" charset="-122"/>
                <a:sym typeface="+mn-ea"/>
              </a:rPr>
              <a:t>关键问题与应对思路</a:t>
            </a:r>
            <a:endParaRPr lang="zh-CN" sz="1600" kern="0" spc="60" dirty="0">
              <a:solidFill>
                <a:srgbClr val="000000">
                  <a:alpha val="100000"/>
                </a:srgbClr>
              </a:solidFill>
              <a:latin typeface="Arial Black" panose="020B0A04020102020204" pitchFamily="34" charset="0"/>
              <a:ea typeface="微软雅黑" panose="020B0503020204020204" charset="-122"/>
              <a:cs typeface="黑体" panose="02010609060101010101" charset="-122"/>
              <a:sym typeface="+mn-ea"/>
            </a:endParaRPr>
          </a:p>
        </p:txBody>
      </p:sp>
      <p:sp>
        <p:nvSpPr>
          <p:cNvPr id="4" name="标题"/>
          <p:cNvSpPr>
            <a:spLocks noGrp="1"/>
          </p:cNvSpPr>
          <p:nvPr>
            <p:ph type="title"/>
            <p:custDataLst>
              <p:tags r:id="rId2"/>
            </p:custDataLst>
          </p:nvPr>
        </p:nvSpPr>
        <p:spPr>
          <a:xfrm>
            <a:off x="6092825" y="2439035"/>
            <a:ext cx="5633720" cy="1224280"/>
          </a:xfrm>
        </p:spPr>
        <p:txBody>
          <a:bodyPr anchor="ctr" anchorCtr="0"/>
          <a:lstStyle/>
          <a:p>
            <a:r>
              <a:rPr lang="zh-CN" altLang="en-US" sz="3200">
                <a:solidFill>
                  <a:srgbClr val="4C61E7"/>
                </a:solidFill>
                <a:latin typeface="Arial Black" panose="020B0A04020102020204" pitchFamily="34" charset="0"/>
                <a:ea typeface="微软雅黑" panose="020B0503020204020204" charset="-122"/>
              </a:rPr>
              <a:t>共同的挑战与应对思路</a:t>
            </a:r>
            <a:r>
              <a:rPr lang="zh-CN" altLang="en-US" sz="3200">
                <a:solidFill>
                  <a:srgbClr val="4C61E7"/>
                </a:solidFill>
                <a:highlight>
                  <a:srgbClr val="FFFF00"/>
                </a:highlight>
                <a:latin typeface="Arial Black" panose="020B0A04020102020204" pitchFamily="34" charset="0"/>
                <a:ea typeface="微软雅黑" panose="020B0503020204020204" charset="-122"/>
              </a:rPr>
              <a:t>（</a:t>
            </a:r>
            <a:r>
              <a:rPr lang="zh-CN" altLang="en-US" sz="3200">
                <a:solidFill>
                  <a:srgbClr val="4C61E7"/>
                </a:solidFill>
                <a:highlight>
                  <a:srgbClr val="FFFF00"/>
                </a:highlight>
                <a:latin typeface="Arial Black" panose="020B0A04020102020204" pitchFamily="34" charset="0"/>
                <a:ea typeface="微软雅黑" panose="020B0503020204020204" charset="-122"/>
              </a:rPr>
              <a:t>可选）</a:t>
            </a:r>
            <a:endParaRPr lang="zh-CN" altLang="en-US" sz="3200">
              <a:solidFill>
                <a:srgbClr val="4C61E7"/>
              </a:solidFill>
              <a:highlight>
                <a:srgbClr val="FFFF00"/>
              </a:highlight>
              <a:latin typeface="Arial Black" panose="020B0A04020102020204" pitchFamily="34" charset="0"/>
              <a:ea typeface="微软雅黑" panose="020B0503020204020204" charset="-122"/>
            </a:endParaRPr>
          </a:p>
        </p:txBody>
      </p:sp>
      <p:sp>
        <p:nvSpPr>
          <p:cNvPr id="6" name="节编号"/>
          <p:cNvSpPr>
            <a:spLocks noGrp="1"/>
          </p:cNvSpPr>
          <p:nvPr>
            <p:ph type="body" sz="quarter" idx="13"/>
            <p:custDataLst>
              <p:tags r:id="rId3"/>
            </p:custDataLst>
          </p:nvPr>
        </p:nvSpPr>
        <p:spPr/>
        <p:txBody>
          <a:bodyPr>
            <a:normAutofit lnSpcReduction="20000"/>
          </a:bodyPr>
          <a:lstStyle/>
          <a:p>
            <a:r>
              <a:rPr lang="en-US" altLang="en-US">
                <a:solidFill>
                  <a:srgbClr val="4C61E7"/>
                </a:solidFill>
                <a:latin typeface="Arial" panose="020B0604020202020204" pitchFamily="34" charset="0"/>
                <a:ea typeface="黑体-简" panose="02000000000000000000" charset="-122"/>
              </a:rPr>
              <a:t>03</a:t>
            </a:r>
            <a:endParaRPr lang="en-US" altLang="en-US">
              <a:solidFill>
                <a:srgbClr val="4C61E7"/>
              </a:solidFill>
              <a:latin typeface="Arial" panose="020B0604020202020204" pitchFamily="34" charset="0"/>
              <a:ea typeface="黑体-简" panose="02000000000000000000" charset="-122"/>
            </a:endParaRPr>
          </a:p>
        </p:txBody>
      </p:sp>
      <p:pic>
        <p:nvPicPr>
          <p:cNvPr id="7" name="图片 6" descr="深信服 + 智安全"/>
          <p:cNvPicPr>
            <a:picLocks noChangeAspect="1"/>
          </p:cNvPicPr>
          <p:nvPr/>
        </p:nvPicPr>
        <p:blipFill>
          <a:blip r:embed="rId4"/>
          <a:srcRect l="5232" t="26576" r="4938" b="29565"/>
          <a:stretch>
            <a:fillRect/>
          </a:stretch>
        </p:blipFill>
        <p:spPr>
          <a:xfrm>
            <a:off x="10017125" y="238760"/>
            <a:ext cx="1629867" cy="360000"/>
          </a:xfrm>
          <a:prstGeom prst="rect">
            <a:avLst/>
          </a:prstGeom>
        </p:spPr>
      </p:pic>
    </p:spTree>
    <p:custDataLst>
      <p:tags r:id="rId5"/>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textbox 158"/>
          <p:cNvSpPr/>
          <p:nvPr/>
        </p:nvSpPr>
        <p:spPr>
          <a:xfrm>
            <a:off x="647700" y="360045"/>
            <a:ext cx="5448300" cy="600075"/>
          </a:xfrm>
          <a:prstGeom prst="rect">
            <a:avLst/>
          </a:prstGeom>
          <a:noFill/>
          <a:ln w="0" cap="flat">
            <a:noFill/>
            <a:prstDash val="solid"/>
            <a:miter lim="0"/>
          </a:ln>
        </p:spPr>
        <p:txBody>
          <a:bodyPr vert="horz" wrap="square" lIns="0" tIns="0" rIns="0" bIns="0"/>
          <a:p>
            <a:pPr algn="l" defTabSz="914400" rtl="0" eaLnBrk="0">
              <a:lnSpc>
                <a:spcPct val="78000"/>
              </a:lnSpc>
              <a:spcBef>
                <a:spcPct val="0"/>
              </a:spcBef>
              <a:spcAft>
                <a:spcPct val="0"/>
              </a:spcAft>
            </a:pPr>
            <a:endParaRPr sz="1900" kern="1200" dirty="0">
              <a:solidFill>
                <a:schemeClr val="tx1"/>
              </a:solidFill>
              <a:latin typeface="Arial" panose="020B0604020202020204" pitchFamily="34" charset="0"/>
              <a:ea typeface="黑体-简" panose="02000000000000000000" charset="-122"/>
              <a:cs typeface="黑体" panose="02010609060101010101" charset="-122"/>
              <a:sym typeface="+mn-ea"/>
            </a:endParaRPr>
          </a:p>
          <a:p>
            <a:pPr algn="l" defTabSz="914400" rtl="0" eaLnBrk="0">
              <a:lnSpc>
                <a:spcPct val="101000"/>
              </a:lnSpc>
              <a:spcBef>
                <a:spcPct val="0"/>
              </a:spcBef>
              <a:spcAft>
                <a:spcPct val="0"/>
              </a:spcAft>
            </a:pPr>
            <a:endParaRPr sz="800" kern="1200" dirty="0">
              <a:solidFill>
                <a:schemeClr val="tx1"/>
              </a:solidFill>
              <a:latin typeface="Arial" panose="020B0604020202020204" pitchFamily="34" charset="0"/>
              <a:ea typeface="黑体-简" panose="02000000000000000000" charset="-122"/>
              <a:cs typeface="Arial" panose="020B0604020202020204"/>
              <a:sym typeface="+mn-ea"/>
            </a:endParaRPr>
          </a:p>
          <a:p>
            <a:pPr marL="12700" algn="l" defTabSz="914400" rtl="0" eaLnBrk="0">
              <a:lnSpc>
                <a:spcPct val="92000"/>
              </a:lnSpc>
              <a:spcBef>
                <a:spcPts val="5"/>
              </a:spcBef>
              <a:spcAft>
                <a:spcPct val="0"/>
              </a:spcAft>
            </a:pPr>
            <a:r>
              <a:rPr sz="1000" kern="0" spc="14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从业务价值分析安全挑战</a:t>
            </a:r>
            <a:r>
              <a:rPr lang="zh-CN" sz="1000" kern="0" spc="13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及后续安全工作投入</a:t>
            </a:r>
            <a:r>
              <a:rPr sz="1000" kern="0" spc="13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建议</a:t>
            </a:r>
            <a:endParaRPr lang="zh-CN" altLang="en-US" sz="1000" kern="0" spc="4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endParaRPr>
          </a:p>
        </p:txBody>
      </p:sp>
      <p:pic>
        <p:nvPicPr>
          <p:cNvPr id="9" name="图片 8" descr="深信服 + 智安全"/>
          <p:cNvPicPr>
            <a:picLocks noChangeAspect="1"/>
          </p:cNvPicPr>
          <p:nvPr/>
        </p:nvPicPr>
        <p:blipFill>
          <a:blip r:embed="rId1"/>
          <a:srcRect l="5232" t="26576" r="4938" b="29565"/>
          <a:stretch>
            <a:fillRect/>
          </a:stretch>
        </p:blipFill>
        <p:spPr>
          <a:xfrm>
            <a:off x="10017125" y="238760"/>
            <a:ext cx="1629867" cy="360000"/>
          </a:xfrm>
          <a:prstGeom prst="rect">
            <a:avLst/>
          </a:prstGeom>
        </p:spPr>
      </p:pic>
      <p:grpSp>
        <p:nvGrpSpPr>
          <p:cNvPr id="6" name="组合 5"/>
          <p:cNvGrpSpPr/>
          <p:nvPr/>
        </p:nvGrpSpPr>
        <p:grpSpPr>
          <a:xfrm rot="0">
            <a:off x="224790" y="306705"/>
            <a:ext cx="369570" cy="266700"/>
            <a:chOff x="533" y="672"/>
            <a:chExt cx="582" cy="420"/>
          </a:xfrm>
        </p:grpSpPr>
        <p:sp>
          <p:nvSpPr>
            <p:cNvPr id="7" name="燕尾形 86"/>
            <p:cNvSpPr/>
            <p:nvPr>
              <p:custDataLst>
                <p:tags r:id="rId2"/>
              </p:custDataLst>
            </p:nvPr>
          </p:nvSpPr>
          <p:spPr>
            <a:xfrm>
              <a:off x="533" y="672"/>
              <a:ext cx="326" cy="421"/>
            </a:xfrm>
            <a:prstGeom prst="chevron">
              <a:avLst>
                <a:gd name="adj" fmla="val 50000"/>
              </a:avLst>
            </a:prstGeom>
            <a:gradFill>
              <a:gsLst>
                <a:gs pos="0">
                  <a:srgbClr val="006CD9">
                    <a:alpha val="100000"/>
                  </a:srgbClr>
                </a:gs>
                <a:gs pos="100000">
                  <a:srgbClr val="006CD9">
                    <a:alpha val="75000"/>
                  </a:srgbClr>
                </a:gs>
              </a:gsLst>
              <a:lin ang="54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sp>
          <p:nvSpPr>
            <p:cNvPr id="10" name="燕尾形 103"/>
            <p:cNvSpPr/>
            <p:nvPr>
              <p:custDataLst>
                <p:tags r:id="rId3"/>
              </p:custDataLst>
            </p:nvPr>
          </p:nvSpPr>
          <p:spPr>
            <a:xfrm>
              <a:off x="789" y="672"/>
              <a:ext cx="326" cy="421"/>
            </a:xfrm>
            <a:prstGeom prst="chevron">
              <a:avLst>
                <a:gd name="adj" fmla="val 50000"/>
              </a:avLst>
            </a:prstGeom>
            <a:gradFill>
              <a:gsLst>
                <a:gs pos="0">
                  <a:srgbClr val="70AD47">
                    <a:alpha val="88000"/>
                  </a:srgbClr>
                </a:gs>
                <a:gs pos="100000">
                  <a:schemeClr val="accent6">
                    <a:lumMod val="85000"/>
                    <a:alpha val="63000"/>
                  </a:schemeClr>
                </a:gs>
              </a:gsLst>
              <a:lin ang="162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grpSp>
      <p:sp>
        <p:nvSpPr>
          <p:cNvPr id="11" name="textbox 158"/>
          <p:cNvSpPr/>
          <p:nvPr/>
        </p:nvSpPr>
        <p:spPr>
          <a:xfrm>
            <a:off x="740410" y="347980"/>
            <a:ext cx="5708015" cy="327025"/>
          </a:xfrm>
          <a:prstGeom prst="rect">
            <a:avLst/>
          </a:prstGeom>
          <a:noFill/>
          <a:ln w="0" cap="flat">
            <a:noFill/>
            <a:prstDash val="solid"/>
            <a:miter lim="0"/>
          </a:ln>
        </p:spPr>
        <p:txBody>
          <a:bodyPr vert="horz" wrap="square" lIns="0" tIns="0" rIns="0" bIns="0"/>
          <a:p>
            <a:pPr algn="l" rtl="0" eaLnBrk="0">
              <a:lnSpc>
                <a:spcPct val="78000"/>
              </a:lnSpc>
            </a:pPr>
            <a:r>
              <a:rPr lang="zh-CN" altLang="en-US"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rPr>
              <a:t>关键问题分析与解决方案</a:t>
            </a:r>
            <a:endParaRPr lang="zh-CN" altLang="en-US"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endParaRPr>
          </a:p>
        </p:txBody>
      </p:sp>
      <p:graphicFrame>
        <p:nvGraphicFramePr>
          <p:cNvPr id="16" name="Table 15"/>
          <p:cNvGraphicFramePr>
            <a:graphicFrameLocks noGrp="1"/>
          </p:cNvGraphicFramePr>
          <p:nvPr>
            <p:custDataLst>
              <p:tags r:id="rId4"/>
            </p:custDataLst>
          </p:nvPr>
        </p:nvGraphicFramePr>
        <p:xfrm>
          <a:off x="527050" y="1086485"/>
          <a:ext cx="11205845" cy="5049520"/>
        </p:xfrm>
        <a:graphic>
          <a:graphicData uri="http://schemas.openxmlformats.org/drawingml/2006/table">
            <a:tbl>
              <a:tblPr firstRow="1" firstCol="1" bandRow="1">
                <a:tableStyleId>{5A111915-BE36-4E01-A7E5-04B1672EAD32}</a:tableStyleId>
              </a:tblPr>
              <a:tblGrid>
                <a:gridCol w="822960"/>
                <a:gridCol w="885825"/>
                <a:gridCol w="510540"/>
                <a:gridCol w="2082165"/>
                <a:gridCol w="1869440"/>
                <a:gridCol w="3914140"/>
                <a:gridCol w="1120775"/>
              </a:tblGrid>
              <a:tr h="656590">
                <a:tc>
                  <a:txBody>
                    <a:bodyPr/>
                    <a:p>
                      <a:pPr algn="ctr">
                        <a:buNone/>
                      </a:pPr>
                      <a:r>
                        <a:rPr lang="zh-CN" altLang="en-US" sz="1200" dirty="0">
                          <a:latin typeface="Arial" panose="020B0604020202020204" pitchFamily="34" charset="0"/>
                          <a:ea typeface="黑体-简" panose="02000000000000000000" charset="-122"/>
                        </a:rPr>
                        <a:t>目标影响</a:t>
                      </a:r>
                      <a:endParaRPr lang="zh-CN" altLang="en-US" sz="1200" dirty="0">
                        <a:latin typeface="Arial" panose="020B0604020202020204" pitchFamily="34" charset="0"/>
                        <a:ea typeface="黑体-简" panose="02000000000000000000"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solidFill>
                      <a:srgbClr val="365FD9"/>
                    </a:solidFill>
                  </a:tcPr>
                </a:tc>
                <a:tc>
                  <a:txBody>
                    <a:bodyPr/>
                    <a:p>
                      <a:pPr algn="ctr">
                        <a:buNone/>
                      </a:pPr>
                      <a:r>
                        <a:rPr lang="zh-CN" altLang="en-US" sz="1200" dirty="0">
                          <a:latin typeface="Arial" panose="020B0604020202020204" pitchFamily="34" charset="0"/>
                          <a:ea typeface="黑体-简" panose="02000000000000000000" charset="-122"/>
                        </a:rPr>
                        <a:t>安全隐患</a:t>
                      </a:r>
                      <a:endParaRPr lang="zh-CN" altLang="en-US" sz="1200" dirty="0">
                        <a:latin typeface="Arial" panose="020B0604020202020204" pitchFamily="34" charset="0"/>
                        <a:ea typeface="黑体-简" panose="02000000000000000000"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solidFill>
                      <a:srgbClr val="365FD9"/>
                    </a:solidFill>
                  </a:tcPr>
                </a:tc>
                <a:tc>
                  <a:txBody>
                    <a:bodyPr/>
                    <a:p>
                      <a:pPr algn="ctr">
                        <a:buNone/>
                      </a:pPr>
                      <a:r>
                        <a:rPr lang="zh-CN" sz="1200" dirty="0">
                          <a:latin typeface="Arial" panose="020B0604020202020204" pitchFamily="34" charset="0"/>
                          <a:ea typeface="黑体-简" panose="02000000000000000000" charset="-122"/>
                        </a:rPr>
                        <a:t>优先级</a:t>
                      </a:r>
                      <a:endParaRPr lang="zh-CN" sz="1200" dirty="0">
                        <a:latin typeface="Arial" panose="020B0604020202020204" pitchFamily="34" charset="0"/>
                        <a:ea typeface="黑体-简" panose="02000000000000000000"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solidFill>
                      <a:srgbClr val="365FD9"/>
                    </a:solidFill>
                  </a:tcPr>
                </a:tc>
                <a:tc>
                  <a:txBody>
                    <a:bodyPr/>
                    <a:p>
                      <a:pPr algn="ctr">
                        <a:buNone/>
                      </a:pPr>
                      <a:r>
                        <a:rPr lang="zh-CN" altLang="en-US" sz="1200" dirty="0">
                          <a:latin typeface="Arial" panose="020B0604020202020204" pitchFamily="34" charset="0"/>
                          <a:ea typeface="黑体-简" panose="02000000000000000000" charset="-122"/>
                        </a:rPr>
                        <a:t>问题描述</a:t>
                      </a:r>
                      <a:endParaRPr lang="zh-CN" altLang="en-US" sz="1200" dirty="0">
                        <a:latin typeface="Arial" panose="020B0604020202020204" pitchFamily="34" charset="0"/>
                        <a:ea typeface="黑体-简" panose="02000000000000000000"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solidFill>
                      <a:srgbClr val="365FD9"/>
                    </a:solidFill>
                  </a:tcPr>
                </a:tc>
                <a:tc>
                  <a:txBody>
                    <a:bodyPr/>
                    <a:p>
                      <a:pPr algn="ctr">
                        <a:buNone/>
                      </a:pPr>
                      <a:r>
                        <a:rPr lang="zh-CN" altLang="en-US" sz="1200" dirty="0">
                          <a:latin typeface="Arial" panose="020B0604020202020204" pitchFamily="34" charset="0"/>
                          <a:ea typeface="黑体-简" panose="02000000000000000000" charset="-122"/>
                        </a:rPr>
                        <a:t>风险影响</a:t>
                      </a:r>
                      <a:endParaRPr lang="zh-CN" altLang="en-US" sz="1200" dirty="0">
                        <a:latin typeface="Arial" panose="020B0604020202020204" pitchFamily="34" charset="0"/>
                        <a:ea typeface="黑体-简" panose="02000000000000000000"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solidFill>
                      <a:srgbClr val="365FD9"/>
                    </a:solidFill>
                  </a:tcPr>
                </a:tc>
                <a:tc>
                  <a:txBody>
                    <a:bodyPr/>
                    <a:p>
                      <a:pPr algn="ctr">
                        <a:buNone/>
                      </a:pPr>
                      <a:r>
                        <a:rPr lang="zh-CN" altLang="en-US" sz="1200" dirty="0">
                          <a:latin typeface="Arial" panose="020B0604020202020204" pitchFamily="34" charset="0"/>
                          <a:ea typeface="黑体-简" panose="02000000000000000000" charset="-122"/>
                        </a:rPr>
                        <a:t>安全加固建议</a:t>
                      </a:r>
                      <a:endParaRPr lang="zh-CN" altLang="en-US" sz="1200" dirty="0">
                        <a:latin typeface="Arial" panose="020B0604020202020204" pitchFamily="34" charset="0"/>
                        <a:ea typeface="黑体-简" panose="02000000000000000000"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solidFill>
                      <a:srgbClr val="365FD9"/>
                    </a:solidFill>
                  </a:tcPr>
                </a:tc>
                <a:tc>
                  <a:txBody>
                    <a:bodyPr/>
                    <a:p>
                      <a:pPr algn="ctr">
                        <a:buNone/>
                      </a:pPr>
                      <a:r>
                        <a:rPr lang="zh-CN" altLang="en-US" sz="1200" dirty="0">
                          <a:latin typeface="Arial" panose="020B0604020202020204" pitchFamily="34" charset="0"/>
                          <a:ea typeface="黑体-简" panose="02000000000000000000" charset="-122"/>
                        </a:rPr>
                        <a:t>现有进展</a:t>
                      </a:r>
                      <a:endParaRPr lang="zh-CN" altLang="en-US" sz="1200" dirty="0">
                        <a:latin typeface="Arial" panose="020B0604020202020204" pitchFamily="34" charset="0"/>
                        <a:ea typeface="黑体-简" panose="02000000000000000000"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solidFill>
                      <a:srgbClr val="365FD9"/>
                    </a:solidFill>
                  </a:tcPr>
                </a:tc>
              </a:tr>
              <a:tr h="4392930">
                <a:tc>
                  <a:txBody>
                    <a:bodyPr/>
                    <a:p>
                      <a:pPr algn="ctr" fontAlgn="auto">
                        <a:lnSpc>
                          <a:spcPct val="150000"/>
                        </a:lnSpc>
                        <a:spcBef>
                          <a:spcPts val="0"/>
                        </a:spcBef>
                        <a:buNone/>
                      </a:pPr>
                      <a:r>
                        <a:rPr lang="zh-CN" altLang="en-US" sz="1200" b="1" dirty="0">
                          <a:latin typeface="Arial" panose="020B0604020202020204" pitchFamily="34" charset="0"/>
                          <a:ea typeface="黑体-简" panose="02000000000000000000" charset="-122"/>
                          <a:cs typeface="黑体" panose="02010609060101010101" charset="-122"/>
                          <a:sym typeface="+mn-ea"/>
                        </a:rPr>
                        <a:t>业务保护</a:t>
                      </a:r>
                      <a:endParaRPr lang="zh-CN" altLang="en-US" sz="1200" b="1" dirty="0">
                        <a:latin typeface="Arial" panose="020B0604020202020204" pitchFamily="34" charset="0"/>
                        <a:ea typeface="黑体-简" panose="02000000000000000000" charset="-122"/>
                        <a:cs typeface="黑体" panose="02010609060101010101" charset="-122"/>
                        <a:sym typeface="+mn-ea"/>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tcPr>
                </a:tc>
                <a:tc>
                  <a:txBody>
                    <a:bodyPr/>
                    <a:p>
                      <a:pPr algn="ctr" fontAlgn="auto">
                        <a:lnSpc>
                          <a:spcPct val="150000"/>
                        </a:lnSpc>
                        <a:spcBef>
                          <a:spcPts val="0"/>
                        </a:spcBef>
                        <a:buNone/>
                      </a:pPr>
                      <a:endParaRPr lang="zh-CN" altLang="en-US" sz="1200" b="1" dirty="0">
                        <a:latin typeface="Arial" panose="020B0604020202020204" pitchFamily="34" charset="0"/>
                        <a:ea typeface="黑体-简" panose="02000000000000000000" charset="-122"/>
                        <a:cs typeface="黑体" panose="02010609060101010101" charset="-122"/>
                        <a:sym typeface="+mn-ea"/>
                      </a:endParaRPr>
                    </a:p>
                    <a:p>
                      <a:pPr algn="ctr" fontAlgn="auto">
                        <a:lnSpc>
                          <a:spcPct val="150000"/>
                        </a:lnSpc>
                        <a:spcBef>
                          <a:spcPts val="0"/>
                        </a:spcBef>
                        <a:buNone/>
                      </a:pPr>
                      <a:r>
                        <a:rPr lang="zh-CN" altLang="en-US" sz="1200" b="1" dirty="0">
                          <a:latin typeface="Arial" panose="020B0604020202020204" pitchFamily="34" charset="0"/>
                          <a:ea typeface="黑体-简" panose="02000000000000000000" charset="-122"/>
                          <a:cs typeface="黑体" panose="02010609060101010101" charset="-122"/>
                          <a:sym typeface="+mn-ea"/>
                        </a:rPr>
                        <a:t>安全监测防护不足</a:t>
                      </a:r>
                      <a:endParaRPr lang="zh-CN" altLang="en-US" sz="1200" b="1" dirty="0">
                        <a:latin typeface="Arial" panose="020B0604020202020204" pitchFamily="34" charset="0"/>
                        <a:ea typeface="黑体-简" panose="02000000000000000000" charset="-122"/>
                        <a:cs typeface="黑体" panose="02010609060101010101" charset="-122"/>
                        <a:sym typeface="+mn-ea"/>
                      </a:endParaRPr>
                    </a:p>
                    <a:p>
                      <a:pPr algn="ctr" fontAlgn="auto">
                        <a:lnSpc>
                          <a:spcPct val="150000"/>
                        </a:lnSpc>
                        <a:spcBef>
                          <a:spcPts val="0"/>
                        </a:spcBef>
                        <a:buNone/>
                      </a:pPr>
                      <a:endParaRPr lang="zh-CN" altLang="en-US" sz="1200" b="1" dirty="0">
                        <a:latin typeface="Arial" panose="020B0604020202020204" pitchFamily="34" charset="0"/>
                        <a:ea typeface="黑体-简" panose="02000000000000000000" charset="-122"/>
                        <a:cs typeface="黑体" panose="02010609060101010101" charset="-122"/>
                        <a:sym typeface="+mn-ea"/>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tcPr>
                </a:tc>
                <a:tc>
                  <a:txBody>
                    <a:bodyPr/>
                    <a:p>
                      <a:pPr algn="ctr" fontAlgn="auto">
                        <a:lnSpc>
                          <a:spcPct val="150000"/>
                        </a:lnSpc>
                        <a:spcBef>
                          <a:spcPts val="0"/>
                        </a:spcBef>
                        <a:buNone/>
                      </a:pPr>
                      <a:r>
                        <a:rPr lang="zh-CN" altLang="en-US" sz="1200" b="1" dirty="0">
                          <a:solidFill>
                            <a:srgbClr val="FF0000"/>
                          </a:solidFill>
                          <a:latin typeface="Arial" panose="020B0604020202020204" pitchFamily="34" charset="0"/>
                          <a:ea typeface="黑体-简" panose="02000000000000000000" charset="-122"/>
                          <a:cs typeface="黑体" panose="02010609060101010101" charset="-122"/>
                          <a:sym typeface="+mn-ea"/>
                        </a:rPr>
                        <a:t>重要</a:t>
                      </a:r>
                      <a:endParaRPr lang="zh-CN" altLang="en-US" sz="1200" b="1" dirty="0">
                        <a:solidFill>
                          <a:srgbClr val="FF0000"/>
                        </a:solidFill>
                        <a:latin typeface="Arial" panose="020B0604020202020204" pitchFamily="34" charset="0"/>
                        <a:ea typeface="黑体-简" panose="02000000000000000000" charset="-122"/>
                        <a:cs typeface="黑体" panose="02010609060101010101" charset="-122"/>
                        <a:sym typeface="+mn-ea"/>
                      </a:endParaRPr>
                    </a:p>
                    <a:p>
                      <a:pPr algn="ctr" fontAlgn="auto">
                        <a:lnSpc>
                          <a:spcPct val="150000"/>
                        </a:lnSpc>
                        <a:spcBef>
                          <a:spcPts val="0"/>
                        </a:spcBef>
                        <a:buNone/>
                      </a:pPr>
                      <a:r>
                        <a:rPr lang="zh-CN" altLang="en-US" sz="1200" b="1" dirty="0">
                          <a:solidFill>
                            <a:srgbClr val="FF0000"/>
                          </a:solidFill>
                          <a:latin typeface="Arial" panose="020B0604020202020204" pitchFamily="34" charset="0"/>
                          <a:ea typeface="黑体-简" panose="02000000000000000000" charset="-122"/>
                          <a:cs typeface="黑体" panose="02010609060101010101" charset="-122"/>
                          <a:sym typeface="+mn-ea"/>
                        </a:rPr>
                        <a:t>紧急</a:t>
                      </a:r>
                      <a:endParaRPr lang="zh-CN" altLang="en-US" sz="1200" b="1" dirty="0">
                        <a:solidFill>
                          <a:srgbClr val="FF0000"/>
                        </a:solidFill>
                        <a:latin typeface="Arial" panose="020B0604020202020204" pitchFamily="34" charset="0"/>
                        <a:ea typeface="黑体-简" panose="02000000000000000000" charset="-122"/>
                        <a:cs typeface="黑体" panose="02010609060101010101" charset="-122"/>
                        <a:sym typeface="+mn-ea"/>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tcPr>
                </a:tc>
                <a:tc>
                  <a:txBody>
                    <a:bodyPr/>
                    <a:p>
                      <a:pPr algn="just" rtl="0" fontAlgn="auto">
                        <a:lnSpc>
                          <a:spcPct val="150000"/>
                        </a:lnSpc>
                        <a:spcBef>
                          <a:spcPts val="0"/>
                        </a:spcBef>
                        <a:buClrTx/>
                        <a:buSzTx/>
                        <a:buFont typeface="Arial" panose="020B0604020202020204" pitchFamily="34" charset="0"/>
                        <a:buNone/>
                      </a:pPr>
                      <a:r>
                        <a:rPr lang="en-US" altLang="zh-CN" sz="1200" dirty="0">
                          <a:latin typeface="Arial" panose="020B0604020202020204" pitchFamily="34" charset="0"/>
                          <a:ea typeface="黑体-简" panose="02000000000000000000" charset="-122"/>
                          <a:cs typeface="微软雅黑" panose="020B0503020204020204" charset="-122"/>
                        </a:rPr>
                        <a:t>1</a:t>
                      </a:r>
                      <a:r>
                        <a:rPr lang="zh-CN" altLang="en-US" sz="1200" dirty="0">
                          <a:latin typeface="Arial" panose="020B0604020202020204" pitchFamily="34" charset="0"/>
                          <a:ea typeface="黑体-简" panose="02000000000000000000" charset="-122"/>
                          <a:cs typeface="微软雅黑" panose="020B0503020204020204" charset="-122"/>
                        </a:rPr>
                        <a:t>、</a:t>
                      </a:r>
                      <a:r>
                        <a:rPr lang="en-US" altLang="zh-CN" sz="1200" dirty="0">
                          <a:latin typeface="Arial" panose="020B0604020202020204" pitchFamily="34" charset="0"/>
                          <a:ea typeface="黑体-简" panose="02000000000000000000" charset="-122"/>
                          <a:cs typeface="微软雅黑" panose="020B0503020204020204" charset="-122"/>
                        </a:rPr>
                        <a:t>部分业务服务器EDR未安装覆盖（现网</a:t>
                      </a:r>
                      <a:r>
                        <a:rPr lang="en-US" altLang="zh-CN" sz="1200" dirty="0">
                          <a:solidFill>
                            <a:srgbClr val="4C61E7"/>
                          </a:solidFill>
                          <a:latin typeface="Arial" panose="020B0604020202020204" pitchFamily="34" charset="0"/>
                          <a:ea typeface="黑体-简" panose="02000000000000000000" charset="-122"/>
                          <a:cs typeface="微软雅黑" panose="020B0503020204020204" charset="-122"/>
                        </a:rPr>
                        <a:t>X.X.X.X</a:t>
                      </a:r>
                      <a:r>
                        <a:rPr lang="en-US" altLang="zh-CN" sz="1200" dirty="0">
                          <a:latin typeface="Arial" panose="020B0604020202020204" pitchFamily="34" charset="0"/>
                          <a:ea typeface="黑体-简" panose="02000000000000000000" charset="-122"/>
                          <a:cs typeface="微软雅黑" panose="020B0503020204020204" charset="-122"/>
                        </a:rPr>
                        <a:t>服务器网段仍有</a:t>
                      </a:r>
                      <a:r>
                        <a:rPr lang="en-US" altLang="zh-CN" sz="1200" dirty="0">
                          <a:solidFill>
                            <a:srgbClr val="4C61E7"/>
                          </a:solidFill>
                          <a:latin typeface="Arial" panose="020B0604020202020204" pitchFamily="34" charset="0"/>
                          <a:ea typeface="黑体-简" panose="02000000000000000000" charset="-122"/>
                          <a:cs typeface="微软雅黑" panose="020B0503020204020204" charset="-122"/>
                        </a:rPr>
                        <a:t>XX</a:t>
                      </a:r>
                      <a:r>
                        <a:rPr lang="en-US" altLang="zh-CN" sz="1200" dirty="0">
                          <a:latin typeface="Arial" panose="020B0604020202020204" pitchFamily="34" charset="0"/>
                          <a:ea typeface="黑体-简" panose="02000000000000000000" charset="-122"/>
                          <a:cs typeface="微软雅黑" panose="020B0503020204020204" charset="-122"/>
                        </a:rPr>
                        <a:t>台活跃主机未覆盖EDR）</a:t>
                      </a:r>
                      <a:endParaRPr lang="en-US" altLang="zh-CN" sz="1200" dirty="0">
                        <a:latin typeface="Arial" panose="020B0604020202020204" pitchFamily="34" charset="0"/>
                        <a:ea typeface="黑体-简" panose="02000000000000000000" charset="-122"/>
                        <a:cs typeface="微软雅黑" panose="020B0503020204020204" charset="-122"/>
                      </a:endParaRPr>
                    </a:p>
                    <a:p>
                      <a:pPr algn="just" rtl="0" fontAlgn="auto">
                        <a:lnSpc>
                          <a:spcPct val="150000"/>
                        </a:lnSpc>
                        <a:spcBef>
                          <a:spcPts val="0"/>
                        </a:spcBef>
                        <a:buClrTx/>
                        <a:buSzTx/>
                        <a:buFont typeface="Arial" panose="020B0604020202020204" pitchFamily="34" charset="0"/>
                        <a:buNone/>
                      </a:pPr>
                      <a:endParaRPr lang="en-US" altLang="zh-CN" sz="1200" dirty="0">
                        <a:latin typeface="Arial" panose="020B0604020202020204" pitchFamily="34" charset="0"/>
                        <a:ea typeface="黑体-简" panose="02000000000000000000" charset="-122"/>
                        <a:cs typeface="微软雅黑" panose="020B0503020204020204" charset="-122"/>
                      </a:endParaRPr>
                    </a:p>
                    <a:p>
                      <a:pPr algn="just" rtl="0" fontAlgn="auto">
                        <a:lnSpc>
                          <a:spcPct val="150000"/>
                        </a:lnSpc>
                        <a:spcBef>
                          <a:spcPts val="0"/>
                        </a:spcBef>
                        <a:buClrTx/>
                        <a:buSzTx/>
                        <a:buFont typeface="Arial" panose="020B0604020202020204" pitchFamily="34" charset="0"/>
                        <a:buNone/>
                      </a:pPr>
                      <a:r>
                        <a:rPr lang="en-US" altLang="zh-CN" sz="1200" dirty="0">
                          <a:latin typeface="Arial" panose="020B0604020202020204" pitchFamily="34" charset="0"/>
                          <a:ea typeface="黑体-简" panose="02000000000000000000" charset="-122"/>
                          <a:cs typeface="微软雅黑" panose="020B0503020204020204" charset="-122"/>
                        </a:rPr>
                        <a:t>2</a:t>
                      </a:r>
                      <a:r>
                        <a:rPr lang="zh-CN" altLang="en-US" sz="1200" dirty="0">
                          <a:latin typeface="Arial" panose="020B0604020202020204" pitchFamily="34" charset="0"/>
                          <a:ea typeface="黑体-简" panose="02000000000000000000" charset="-122"/>
                          <a:cs typeface="微软雅黑" panose="020B0503020204020204" charset="-122"/>
                        </a:rPr>
                        <a:t>、</a:t>
                      </a:r>
                      <a:r>
                        <a:rPr lang="zh-CN" sz="1200" dirty="0">
                          <a:latin typeface="Arial" panose="020B0604020202020204" pitchFamily="34" charset="0"/>
                          <a:ea typeface="黑体-简" panose="02000000000000000000" charset="-122"/>
                          <a:cs typeface="微软雅黑" panose="020B0503020204020204" charset="-122"/>
                        </a:rPr>
                        <a:t>出口防火墙存在较多的</a:t>
                      </a:r>
                      <a:r>
                        <a:rPr lang="en-US" altLang="zh-CN" sz="1200" dirty="0">
                          <a:latin typeface="Arial" panose="020B0604020202020204" pitchFamily="34" charset="0"/>
                          <a:ea typeface="黑体-简" panose="02000000000000000000" charset="-122"/>
                          <a:cs typeface="微软雅黑" panose="020B0503020204020204" charset="-122"/>
                        </a:rPr>
                        <a:t>IP</a:t>
                      </a:r>
                      <a:r>
                        <a:rPr lang="zh-CN" altLang="en-US" sz="1200" dirty="0">
                          <a:latin typeface="Arial" panose="020B0604020202020204" pitchFamily="34" charset="0"/>
                          <a:ea typeface="黑体-简" panose="02000000000000000000" charset="-122"/>
                          <a:cs typeface="微软雅黑" panose="020B0503020204020204" charset="-122"/>
                        </a:rPr>
                        <a:t>或者域名白名单</a:t>
                      </a:r>
                      <a:endParaRPr lang="zh-CN" altLang="en-US" sz="1200" dirty="0">
                        <a:latin typeface="Arial" panose="020B0604020202020204" pitchFamily="34" charset="0"/>
                        <a:ea typeface="黑体-简" panose="02000000000000000000" charset="-122"/>
                        <a:cs typeface="微软雅黑" panose="020B0503020204020204" charset="-122"/>
                      </a:endParaRPr>
                    </a:p>
                    <a:p>
                      <a:pPr algn="just" rtl="0" fontAlgn="auto">
                        <a:lnSpc>
                          <a:spcPct val="150000"/>
                        </a:lnSpc>
                        <a:spcBef>
                          <a:spcPts val="0"/>
                        </a:spcBef>
                        <a:buClrTx/>
                        <a:buSzTx/>
                        <a:buFont typeface="Arial" panose="020B0604020202020204" pitchFamily="34" charset="0"/>
                        <a:buNone/>
                      </a:pPr>
                      <a:endParaRPr lang="zh-CN" altLang="en-US" sz="1200" dirty="0">
                        <a:latin typeface="Arial" panose="020B0604020202020204" pitchFamily="34" charset="0"/>
                        <a:ea typeface="黑体-简" panose="02000000000000000000" charset="-122"/>
                        <a:cs typeface="微软雅黑" panose="020B0503020204020204" charset="-122"/>
                      </a:endParaRPr>
                    </a:p>
                    <a:p>
                      <a:pPr algn="just" rtl="0" fontAlgn="auto">
                        <a:lnSpc>
                          <a:spcPct val="150000"/>
                        </a:lnSpc>
                        <a:spcBef>
                          <a:spcPts val="0"/>
                        </a:spcBef>
                        <a:buClrTx/>
                        <a:buSzTx/>
                        <a:buFont typeface="Arial" panose="020B0604020202020204" pitchFamily="34" charset="0"/>
                        <a:buNone/>
                      </a:pPr>
                      <a:r>
                        <a:rPr lang="en-US" altLang="zh-CN" sz="1200" dirty="0">
                          <a:latin typeface="Arial" panose="020B0604020202020204" pitchFamily="34" charset="0"/>
                          <a:ea typeface="黑体-简" panose="02000000000000000000" charset="-122"/>
                          <a:cs typeface="微软雅黑" panose="020B0503020204020204" charset="-122"/>
                        </a:rPr>
                        <a:t>3</a:t>
                      </a:r>
                      <a:r>
                        <a:rPr lang="zh-CN" altLang="en-US" sz="1200" dirty="0">
                          <a:latin typeface="Arial" panose="020B0604020202020204" pitchFamily="34" charset="0"/>
                          <a:ea typeface="黑体-简" panose="02000000000000000000" charset="-122"/>
                          <a:cs typeface="微软雅黑" panose="020B0503020204020204" charset="-122"/>
                        </a:rPr>
                        <a:t>、</a:t>
                      </a:r>
                      <a:r>
                        <a:rPr lang="en-US" altLang="zh-CN" sz="1200" dirty="0">
                          <a:solidFill>
                            <a:srgbClr val="4C61E7"/>
                          </a:solidFill>
                          <a:latin typeface="Arial" panose="020B0604020202020204" pitchFamily="34" charset="0"/>
                          <a:ea typeface="黑体-简" panose="02000000000000000000" charset="-122"/>
                          <a:cs typeface="微软雅黑" panose="020B0503020204020204" charset="-122"/>
                        </a:rPr>
                        <a:t>XXX</a:t>
                      </a:r>
                      <a:r>
                        <a:rPr lang="zh-CN" altLang="en-US" sz="1200" dirty="0">
                          <a:solidFill>
                            <a:srgbClr val="4C61E7"/>
                          </a:solidFill>
                          <a:latin typeface="Arial" panose="020B0604020202020204" pitchFamily="34" charset="0"/>
                          <a:ea typeface="黑体-简" panose="02000000000000000000" charset="-122"/>
                          <a:cs typeface="微软雅黑" panose="020B0503020204020204" charset="-122"/>
                        </a:rPr>
                        <a:t>系统</a:t>
                      </a:r>
                      <a:r>
                        <a:rPr lang="zh-CN" altLang="en-US" sz="1200" dirty="0">
                          <a:latin typeface="Arial" panose="020B0604020202020204" pitchFamily="34" charset="0"/>
                          <a:ea typeface="黑体-简" panose="02000000000000000000" charset="-122"/>
                          <a:cs typeface="微软雅黑" panose="020B0503020204020204" charset="-122"/>
                        </a:rPr>
                        <a:t>采用加密传输</a:t>
                      </a:r>
                      <a:endParaRPr lang="zh-CN" altLang="en-US" sz="1200" dirty="0">
                        <a:latin typeface="Arial" panose="020B0604020202020204" pitchFamily="34" charset="0"/>
                        <a:ea typeface="黑体-简" panose="02000000000000000000" charset="-122"/>
                        <a:cs typeface="微软雅黑" panose="020B0503020204020204"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tcPr>
                </a:tc>
                <a:tc>
                  <a:txBody>
                    <a:bodyPr/>
                    <a:p>
                      <a:pPr marL="25400" indent="0" algn="just" rtl="0" eaLnBrk="0">
                        <a:lnSpc>
                          <a:spcPct val="106000"/>
                        </a:lnSpc>
                        <a:spcBef>
                          <a:spcPts val="130"/>
                        </a:spcBef>
                        <a:buFont typeface="Arial" panose="020B0604020202020204" pitchFamily="34" charset="0"/>
                        <a:buNone/>
                      </a:pPr>
                      <a: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sym typeface="+mn-ea"/>
                        </a:rPr>
                        <a:t>主机防护缺失，业务主机一旦遭受安全攻击，对应的业务可能产生中断、数据泄露。</a:t>
                      </a:r>
                      <a:endPar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sym typeface="+mn-ea"/>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tcPr>
                </a:tc>
                <a:tc>
                  <a:txBody>
                    <a:bodyPr/>
                    <a:p>
                      <a:pPr algn="just" fontAlgn="auto">
                        <a:lnSpc>
                          <a:spcPct val="150000"/>
                        </a:lnSpc>
                        <a:spcBef>
                          <a:spcPts val="0"/>
                        </a:spcBef>
                        <a:buNone/>
                      </a:pPr>
                      <a:endParaRPr lang="en-US" altLang="zh-CN" sz="1200" b="0" dirty="0">
                        <a:latin typeface="Arial" panose="020B0604020202020204" pitchFamily="34" charset="0"/>
                        <a:ea typeface="黑体-简" panose="02000000000000000000" charset="-122"/>
                        <a:cs typeface="黑体" panose="02010609060101010101" charset="-122"/>
                      </a:endParaRPr>
                    </a:p>
                    <a:p>
                      <a:pPr algn="just" fontAlgn="auto">
                        <a:lnSpc>
                          <a:spcPct val="150000"/>
                        </a:lnSpc>
                        <a:spcBef>
                          <a:spcPts val="0"/>
                        </a:spcBef>
                        <a:buNone/>
                      </a:pPr>
                      <a:r>
                        <a:rPr lang="en-US" altLang="zh-CN" sz="1200" b="1" dirty="0">
                          <a:latin typeface="Arial" panose="020B0604020202020204" pitchFamily="34" charset="0"/>
                          <a:ea typeface="黑体-简" panose="02000000000000000000" charset="-122"/>
                          <a:cs typeface="黑体" panose="02010609060101010101" charset="-122"/>
                          <a:sym typeface="+mn-ea"/>
                        </a:rPr>
                        <a:t>1</a:t>
                      </a:r>
                      <a:r>
                        <a:rPr lang="zh-CN" altLang="en-US" sz="1200" b="1" dirty="0">
                          <a:latin typeface="Arial" panose="020B0604020202020204" pitchFamily="34" charset="0"/>
                          <a:ea typeface="黑体-简" panose="02000000000000000000" charset="-122"/>
                          <a:cs typeface="黑体" panose="02010609060101010101" charset="-122"/>
                          <a:sym typeface="+mn-ea"/>
                        </a:rPr>
                        <a:t>、短期直接可落地方案（对齐落地）</a:t>
                      </a:r>
                      <a:endParaRPr lang="en-US" altLang="zh-CN" sz="1200" b="0" dirty="0">
                        <a:latin typeface="Arial" panose="020B0604020202020204" pitchFamily="34" charset="0"/>
                        <a:ea typeface="黑体-简" panose="02000000000000000000" charset="-122"/>
                        <a:cs typeface="黑体" panose="02010609060101010101" charset="-122"/>
                      </a:endParaRPr>
                    </a:p>
                    <a:p>
                      <a:pPr algn="just" fontAlgn="auto">
                        <a:lnSpc>
                          <a:spcPct val="150000"/>
                        </a:lnSpc>
                        <a:spcBef>
                          <a:spcPts val="0"/>
                        </a:spcBef>
                        <a:buNone/>
                      </a:pPr>
                      <a:r>
                        <a:rPr lang="en-US" altLang="zh-CN" sz="1200" dirty="0">
                          <a:latin typeface="Arial" panose="020B0604020202020204" pitchFamily="34" charset="0"/>
                          <a:ea typeface="黑体-简" panose="02000000000000000000" charset="-122"/>
                          <a:cs typeface="黑体" panose="02010609060101010101" charset="-122"/>
                          <a:sym typeface="+mn-ea"/>
                        </a:rPr>
                        <a:t>1</a:t>
                      </a:r>
                      <a:r>
                        <a:rPr lang="zh-CN" altLang="en-US" sz="1200" dirty="0">
                          <a:latin typeface="Arial" panose="020B0604020202020204" pitchFamily="34" charset="0"/>
                          <a:ea typeface="黑体-简" panose="02000000000000000000" charset="-122"/>
                          <a:cs typeface="黑体" panose="02010609060101010101" charset="-122"/>
                          <a:sym typeface="+mn-ea"/>
                        </a:rPr>
                        <a:t>）梳理提供现有覆盖</a:t>
                      </a:r>
                      <a:r>
                        <a:rPr lang="en-US" altLang="zh-CN" sz="1200" dirty="0">
                          <a:latin typeface="Arial" panose="020B0604020202020204" pitchFamily="34" charset="0"/>
                          <a:ea typeface="黑体-简" panose="02000000000000000000" charset="-122"/>
                          <a:cs typeface="黑体" panose="02010609060101010101" charset="-122"/>
                          <a:sym typeface="+mn-ea"/>
                        </a:rPr>
                        <a:t>EDR</a:t>
                      </a:r>
                      <a:r>
                        <a:rPr lang="zh-CN" altLang="en-US" sz="1200" dirty="0">
                          <a:latin typeface="Arial" panose="020B0604020202020204" pitchFamily="34" charset="0"/>
                          <a:ea typeface="黑体-简" panose="02000000000000000000" charset="-122"/>
                          <a:cs typeface="黑体" panose="02010609060101010101" charset="-122"/>
                          <a:sym typeface="+mn-ea"/>
                        </a:rPr>
                        <a:t>的主机清单，梳理现有服务器网段未安装覆盖</a:t>
                      </a:r>
                      <a:r>
                        <a:rPr lang="en-US" altLang="zh-CN" sz="1200" dirty="0">
                          <a:latin typeface="Arial" panose="020B0604020202020204" pitchFamily="34" charset="0"/>
                          <a:ea typeface="黑体-简" panose="02000000000000000000" charset="-122"/>
                          <a:cs typeface="黑体" panose="02010609060101010101" charset="-122"/>
                          <a:sym typeface="+mn-ea"/>
                        </a:rPr>
                        <a:t>EDR</a:t>
                      </a:r>
                      <a:r>
                        <a:rPr lang="zh-CN" altLang="en-US" sz="1200" dirty="0">
                          <a:latin typeface="Arial" panose="020B0604020202020204" pitchFamily="34" charset="0"/>
                          <a:ea typeface="黑体-简" panose="02000000000000000000" charset="-122"/>
                          <a:cs typeface="黑体" panose="02010609060101010101" charset="-122"/>
                          <a:sym typeface="+mn-ea"/>
                        </a:rPr>
                        <a:t>的清单</a:t>
                      </a:r>
                      <a:r>
                        <a:rPr lang="en-US" altLang="zh-CN" sz="1200" dirty="0">
                          <a:latin typeface="Arial" panose="020B0604020202020204" pitchFamily="34" charset="0"/>
                          <a:ea typeface="黑体-简" panose="02000000000000000000" charset="-122"/>
                          <a:cs typeface="黑体" panose="02010609060101010101" charset="-122"/>
                          <a:sym typeface="+mn-ea"/>
                        </a:rPr>
                        <a:t>——</a:t>
                      </a:r>
                      <a:r>
                        <a:rPr lang="zh-CN" altLang="en-US" sz="1200" dirty="0">
                          <a:latin typeface="Arial" panose="020B0604020202020204" pitchFamily="34" charset="0"/>
                          <a:ea typeface="黑体-简" panose="02000000000000000000" charset="-122"/>
                          <a:cs typeface="黑体" panose="02010609060101010101" charset="-122"/>
                          <a:sym typeface="+mn-ea"/>
                        </a:rPr>
                        <a:t>深信服</a:t>
                      </a:r>
                      <a:endParaRPr lang="zh-CN" altLang="en-US" sz="1200" b="0" dirty="0">
                        <a:latin typeface="Arial" panose="020B0604020202020204" pitchFamily="34" charset="0"/>
                        <a:ea typeface="黑体-简" panose="02000000000000000000" charset="-122"/>
                        <a:cs typeface="黑体" panose="02010609060101010101" charset="-122"/>
                      </a:endParaRPr>
                    </a:p>
                    <a:p>
                      <a:pPr algn="just" fontAlgn="auto">
                        <a:lnSpc>
                          <a:spcPct val="150000"/>
                        </a:lnSpc>
                        <a:spcBef>
                          <a:spcPts val="0"/>
                        </a:spcBef>
                        <a:buNone/>
                      </a:pPr>
                      <a:r>
                        <a:rPr lang="en-US" altLang="zh-CN" sz="1200" dirty="0">
                          <a:latin typeface="Arial" panose="020B0604020202020204" pitchFamily="34" charset="0"/>
                          <a:ea typeface="黑体-简" panose="02000000000000000000" charset="-122"/>
                          <a:cs typeface="黑体" panose="02010609060101010101" charset="-122"/>
                          <a:sym typeface="+mn-ea"/>
                        </a:rPr>
                        <a:t>2</a:t>
                      </a:r>
                      <a:r>
                        <a:rPr lang="zh-CN" altLang="en-US" sz="1200" dirty="0">
                          <a:latin typeface="Arial" panose="020B0604020202020204" pitchFamily="34" charset="0"/>
                          <a:ea typeface="黑体-简" panose="02000000000000000000" charset="-122"/>
                          <a:cs typeface="黑体" panose="02010609060101010101" charset="-122"/>
                          <a:sym typeface="+mn-ea"/>
                        </a:rPr>
                        <a:t>）核对推动覆盖业务服务器</a:t>
                      </a:r>
                      <a:r>
                        <a:rPr lang="en-US" altLang="zh-CN" sz="1200" dirty="0">
                          <a:latin typeface="Arial" panose="020B0604020202020204" pitchFamily="34" charset="0"/>
                          <a:ea typeface="黑体-简" panose="02000000000000000000" charset="-122"/>
                          <a:cs typeface="黑体" panose="02010609060101010101" charset="-122"/>
                          <a:sym typeface="+mn-ea"/>
                        </a:rPr>
                        <a:t>EDR</a:t>
                      </a:r>
                      <a:r>
                        <a:rPr lang="zh-CN" altLang="en-US" sz="1200" dirty="0">
                          <a:latin typeface="Arial" panose="020B0604020202020204" pitchFamily="34" charset="0"/>
                          <a:ea typeface="黑体-简" panose="02000000000000000000" charset="-122"/>
                          <a:cs typeface="黑体" panose="02010609060101010101" charset="-122"/>
                          <a:sym typeface="+mn-ea"/>
                        </a:rPr>
                        <a:t>覆盖安装落地。</a:t>
                      </a:r>
                      <a:r>
                        <a:rPr lang="en-US" altLang="zh-CN" sz="1200" b="0" dirty="0">
                          <a:latin typeface="Arial" panose="020B0604020202020204" pitchFamily="34" charset="0"/>
                          <a:ea typeface="黑体-简" panose="02000000000000000000" charset="-122"/>
                          <a:cs typeface="黑体" panose="02010609060101010101" charset="-122"/>
                        </a:rPr>
                        <a:t>——</a:t>
                      </a:r>
                      <a:r>
                        <a:rPr lang="zh-CN" altLang="en-US" sz="1200" b="0" dirty="0">
                          <a:solidFill>
                            <a:srgbClr val="4C61E7"/>
                          </a:solidFill>
                          <a:latin typeface="Arial" panose="020B0604020202020204" pitchFamily="34" charset="0"/>
                          <a:ea typeface="黑体-简" panose="02000000000000000000" charset="-122"/>
                          <a:cs typeface="黑体" panose="02010609060101010101" charset="-122"/>
                        </a:rPr>
                        <a:t>客户单位</a:t>
                      </a:r>
                      <a:endParaRPr lang="zh-CN" altLang="en-US" sz="1200" b="0" dirty="0">
                        <a:latin typeface="Arial" panose="020B0604020202020204" pitchFamily="34" charset="0"/>
                        <a:ea typeface="黑体-简" panose="02000000000000000000" charset="-122"/>
                        <a:cs typeface="黑体" panose="02010609060101010101" charset="-122"/>
                      </a:endParaRPr>
                    </a:p>
                    <a:p>
                      <a:pPr algn="just" fontAlgn="auto">
                        <a:lnSpc>
                          <a:spcPct val="150000"/>
                        </a:lnSpc>
                        <a:spcBef>
                          <a:spcPts val="0"/>
                        </a:spcBef>
                        <a:buNone/>
                      </a:pPr>
                      <a:r>
                        <a:rPr lang="en-US" altLang="zh-CN" sz="1200" b="0" dirty="0">
                          <a:latin typeface="Arial" panose="020B0604020202020204" pitchFamily="34" charset="0"/>
                          <a:ea typeface="黑体-简" panose="02000000000000000000" charset="-122"/>
                          <a:cs typeface="黑体" panose="02010609060101010101" charset="-122"/>
                        </a:rPr>
                        <a:t>3</a:t>
                      </a:r>
                      <a:r>
                        <a:rPr lang="zh-CN" altLang="en-US" sz="1200" b="0" dirty="0">
                          <a:latin typeface="Arial" panose="020B0604020202020204" pitchFamily="34" charset="0"/>
                          <a:ea typeface="黑体-简" panose="02000000000000000000" charset="-122"/>
                          <a:cs typeface="黑体" panose="02010609060101010101" charset="-122"/>
                        </a:rPr>
                        <a:t>）建议二次核对确认白名单清单，动态确认及调整，无需放置的及时去除</a:t>
                      </a:r>
                      <a:r>
                        <a:rPr lang="en-US" altLang="zh-CN" sz="1200" b="0" dirty="0">
                          <a:latin typeface="Arial" panose="020B0604020202020204" pitchFamily="34" charset="0"/>
                          <a:ea typeface="黑体-简" panose="02000000000000000000" charset="-122"/>
                          <a:cs typeface="黑体" panose="02010609060101010101" charset="-122"/>
                        </a:rPr>
                        <a:t>——</a:t>
                      </a:r>
                      <a:r>
                        <a:rPr lang="zh-CN" altLang="en-US" sz="1200" dirty="0">
                          <a:latin typeface="Arial" panose="020B0604020202020204" pitchFamily="34" charset="0"/>
                          <a:ea typeface="黑体-简" panose="02000000000000000000" charset="-122"/>
                          <a:cs typeface="黑体" panose="02010609060101010101" charset="-122"/>
                          <a:sym typeface="+mn-ea"/>
                        </a:rPr>
                        <a:t>客户单位</a:t>
                      </a:r>
                      <a:endParaRPr lang="zh-CN" altLang="en-US" sz="1200" b="0" dirty="0">
                        <a:latin typeface="Arial" panose="020B0604020202020204" pitchFamily="34" charset="0"/>
                        <a:ea typeface="黑体-简" panose="02000000000000000000" charset="-122"/>
                        <a:cs typeface="黑体" panose="02010609060101010101" charset="-122"/>
                      </a:endParaRPr>
                    </a:p>
                    <a:p>
                      <a:pPr algn="just" fontAlgn="auto">
                        <a:lnSpc>
                          <a:spcPct val="150000"/>
                        </a:lnSpc>
                        <a:spcBef>
                          <a:spcPts val="0"/>
                        </a:spcBef>
                        <a:buNone/>
                      </a:pPr>
                      <a:endParaRPr lang="zh-CN" altLang="en-US" sz="1200" b="0" dirty="0">
                        <a:latin typeface="Arial" panose="020B0604020202020204" pitchFamily="34" charset="0"/>
                        <a:ea typeface="黑体-简" panose="02000000000000000000" charset="-122"/>
                        <a:cs typeface="黑体" panose="02010609060101010101" charset="-122"/>
                      </a:endParaRPr>
                    </a:p>
                    <a:p>
                      <a:pPr algn="just" fontAlgn="auto">
                        <a:lnSpc>
                          <a:spcPct val="150000"/>
                        </a:lnSpc>
                        <a:spcBef>
                          <a:spcPts val="0"/>
                        </a:spcBef>
                        <a:buNone/>
                      </a:pPr>
                      <a:r>
                        <a:rPr lang="en-US" altLang="zh-CN" sz="1200" b="1" dirty="0">
                          <a:latin typeface="Arial" panose="020B0604020202020204" pitchFamily="34" charset="0"/>
                          <a:ea typeface="黑体-简" panose="02000000000000000000" charset="-122"/>
                          <a:cs typeface="黑体" panose="02010609060101010101" charset="-122"/>
                          <a:sym typeface="+mn-ea"/>
                        </a:rPr>
                        <a:t>2</a:t>
                      </a:r>
                      <a:r>
                        <a:rPr lang="zh-CN" altLang="en-US" sz="1200" b="1" dirty="0">
                          <a:latin typeface="Arial" panose="020B0604020202020204" pitchFamily="34" charset="0"/>
                          <a:ea typeface="黑体-简" panose="02000000000000000000" charset="-122"/>
                          <a:cs typeface="黑体" panose="02010609060101010101" charset="-122"/>
                          <a:sym typeface="+mn-ea"/>
                        </a:rPr>
                        <a:t>、长期需要补充方案（待决策）</a:t>
                      </a:r>
                      <a:endParaRPr lang="zh-CN" altLang="en-US" sz="1200" b="1" dirty="0">
                        <a:latin typeface="Arial" panose="020B0604020202020204" pitchFamily="34" charset="0"/>
                        <a:ea typeface="黑体-简" panose="02000000000000000000" charset="-122"/>
                        <a:cs typeface="黑体" panose="02010609060101010101" charset="-122"/>
                      </a:endParaRPr>
                    </a:p>
                    <a:p>
                      <a:pPr algn="just" fontAlgn="auto">
                        <a:lnSpc>
                          <a:spcPct val="150000"/>
                        </a:lnSpc>
                        <a:spcBef>
                          <a:spcPts val="0"/>
                        </a:spcBef>
                        <a:buNone/>
                      </a:pPr>
                      <a:r>
                        <a:rPr lang="en-US" altLang="zh-CN" sz="1200" dirty="0">
                          <a:latin typeface="Arial" panose="020B0604020202020204" pitchFamily="34" charset="0"/>
                          <a:ea typeface="黑体-简" panose="02000000000000000000" charset="-122"/>
                          <a:cs typeface="黑体" panose="02010609060101010101" charset="-122"/>
                          <a:sym typeface="+mn-ea"/>
                        </a:rPr>
                        <a:t>/</a:t>
                      </a:r>
                      <a:endParaRPr lang="zh-CN" altLang="en-US" sz="1200" b="0" dirty="0">
                        <a:latin typeface="Arial" panose="020B0604020202020204" pitchFamily="34" charset="0"/>
                        <a:ea typeface="黑体-简" panose="02000000000000000000" charset="-122"/>
                        <a:cs typeface="黑体" panose="02010609060101010101" charset="-122"/>
                      </a:endParaRPr>
                    </a:p>
                    <a:p>
                      <a:pPr algn="just" fontAlgn="auto">
                        <a:lnSpc>
                          <a:spcPct val="150000"/>
                        </a:lnSpc>
                        <a:spcBef>
                          <a:spcPts val="0"/>
                        </a:spcBef>
                        <a:buNone/>
                      </a:pPr>
                      <a:endParaRPr lang="zh-CN" altLang="en-US" sz="1200" b="0" dirty="0">
                        <a:latin typeface="Arial" panose="020B0604020202020204" pitchFamily="34" charset="0"/>
                        <a:ea typeface="黑体-简" panose="02000000000000000000" charset="-122"/>
                        <a:cs typeface="黑体" panose="02010609060101010101" charset="-122"/>
                      </a:endParaRPr>
                    </a:p>
                    <a:p>
                      <a:pPr algn="just" fontAlgn="auto">
                        <a:lnSpc>
                          <a:spcPct val="150000"/>
                        </a:lnSpc>
                        <a:spcBef>
                          <a:spcPts val="0"/>
                        </a:spcBef>
                        <a:buNone/>
                      </a:pPr>
                      <a:endParaRPr lang="en-US" altLang="zh-CN" sz="1200" b="0" dirty="0">
                        <a:latin typeface="Arial" panose="020B0604020202020204" pitchFamily="34" charset="0"/>
                        <a:ea typeface="黑体-简" panose="02000000000000000000" charset="-122"/>
                        <a:cs typeface="黑体" panose="02010609060101010101"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tcPr>
                </a:tc>
                <a:tc>
                  <a:txBody>
                    <a:bodyPr/>
                    <a:p>
                      <a:pPr algn="just" fontAlgn="auto">
                        <a:lnSpc>
                          <a:spcPct val="150000"/>
                        </a:lnSpc>
                        <a:spcBef>
                          <a:spcPts val="0"/>
                        </a:spcBef>
                        <a:buNone/>
                      </a:pPr>
                      <a:r>
                        <a:rPr lang="zh-CN" altLang="en-US" sz="1200" b="0" dirty="0">
                          <a:latin typeface="Arial" panose="020B0604020202020204" pitchFamily="34" charset="0"/>
                          <a:ea typeface="黑体-简" panose="02000000000000000000" charset="-122"/>
                          <a:cs typeface="黑体" panose="02010609060101010101" charset="-122"/>
                        </a:rPr>
                        <a:t>已梳理待覆盖清单进行二次确认。</a:t>
                      </a:r>
                      <a:endParaRPr lang="zh-CN" altLang="en-US" sz="1200" b="0" dirty="0">
                        <a:latin typeface="Arial" panose="020B0604020202020204" pitchFamily="34" charset="0"/>
                        <a:ea typeface="黑体-简" panose="02000000000000000000" charset="-122"/>
                        <a:cs typeface="黑体" panose="02010609060101010101"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textbox 158"/>
          <p:cNvSpPr/>
          <p:nvPr/>
        </p:nvSpPr>
        <p:spPr>
          <a:xfrm>
            <a:off x="647700" y="360045"/>
            <a:ext cx="5448300" cy="600075"/>
          </a:xfrm>
          <a:prstGeom prst="rect">
            <a:avLst/>
          </a:prstGeom>
          <a:noFill/>
          <a:ln w="0" cap="flat">
            <a:noFill/>
            <a:prstDash val="solid"/>
            <a:miter lim="0"/>
          </a:ln>
        </p:spPr>
        <p:txBody>
          <a:bodyPr vert="horz" wrap="square" lIns="0" tIns="0" rIns="0" bIns="0"/>
          <a:p>
            <a:pPr algn="l" defTabSz="914400" rtl="0" eaLnBrk="0">
              <a:lnSpc>
                <a:spcPct val="78000"/>
              </a:lnSpc>
              <a:spcBef>
                <a:spcPct val="0"/>
              </a:spcBef>
              <a:spcAft>
                <a:spcPct val="0"/>
              </a:spcAft>
            </a:pPr>
            <a:endParaRPr sz="1900" kern="1200" dirty="0">
              <a:solidFill>
                <a:schemeClr val="tx1"/>
              </a:solidFill>
              <a:latin typeface="Arial" panose="020B0604020202020204" pitchFamily="34" charset="0"/>
              <a:ea typeface="黑体-简" panose="02000000000000000000" charset="-122"/>
              <a:cs typeface="黑体" panose="02010609060101010101" charset="-122"/>
              <a:sym typeface="+mn-ea"/>
            </a:endParaRPr>
          </a:p>
          <a:p>
            <a:pPr algn="l" defTabSz="914400" rtl="0" eaLnBrk="0">
              <a:lnSpc>
                <a:spcPct val="101000"/>
              </a:lnSpc>
              <a:spcBef>
                <a:spcPct val="0"/>
              </a:spcBef>
              <a:spcAft>
                <a:spcPct val="0"/>
              </a:spcAft>
            </a:pPr>
            <a:endParaRPr sz="800" kern="1200" dirty="0">
              <a:solidFill>
                <a:schemeClr val="tx1"/>
              </a:solidFill>
              <a:latin typeface="Arial" panose="020B0604020202020204" pitchFamily="34" charset="0"/>
              <a:ea typeface="黑体-简" panose="02000000000000000000" charset="-122"/>
              <a:cs typeface="Arial" panose="020B0604020202020204"/>
              <a:sym typeface="+mn-ea"/>
            </a:endParaRPr>
          </a:p>
          <a:p>
            <a:pPr marL="12700" algn="l" defTabSz="914400" rtl="0" eaLnBrk="0">
              <a:lnSpc>
                <a:spcPct val="92000"/>
              </a:lnSpc>
              <a:spcBef>
                <a:spcPts val="5"/>
              </a:spcBef>
              <a:spcAft>
                <a:spcPct val="0"/>
              </a:spcAft>
            </a:pPr>
            <a:r>
              <a:rPr sz="1000" kern="0" spc="14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从业务价值分析安全挑战</a:t>
            </a:r>
            <a:r>
              <a:rPr lang="zh-CN" sz="1000" kern="0" spc="13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及后续安全工作投入</a:t>
            </a:r>
            <a:r>
              <a:rPr sz="1000" kern="0" spc="13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建议</a:t>
            </a:r>
            <a:endParaRPr lang="zh-CN" altLang="en-US" sz="1000" kern="0" spc="4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endParaRPr>
          </a:p>
        </p:txBody>
      </p:sp>
      <p:pic>
        <p:nvPicPr>
          <p:cNvPr id="9" name="图片 8" descr="深信服 + 智安全"/>
          <p:cNvPicPr>
            <a:picLocks noChangeAspect="1"/>
          </p:cNvPicPr>
          <p:nvPr/>
        </p:nvPicPr>
        <p:blipFill>
          <a:blip r:embed="rId1"/>
          <a:srcRect l="5232" t="26576" r="4938" b="29565"/>
          <a:stretch>
            <a:fillRect/>
          </a:stretch>
        </p:blipFill>
        <p:spPr>
          <a:xfrm>
            <a:off x="10017125" y="238760"/>
            <a:ext cx="1629867" cy="360000"/>
          </a:xfrm>
          <a:prstGeom prst="rect">
            <a:avLst/>
          </a:prstGeom>
        </p:spPr>
      </p:pic>
      <p:grpSp>
        <p:nvGrpSpPr>
          <p:cNvPr id="6" name="组合 5"/>
          <p:cNvGrpSpPr/>
          <p:nvPr/>
        </p:nvGrpSpPr>
        <p:grpSpPr>
          <a:xfrm rot="0">
            <a:off x="224790" y="306705"/>
            <a:ext cx="369570" cy="266700"/>
            <a:chOff x="533" y="672"/>
            <a:chExt cx="582" cy="420"/>
          </a:xfrm>
        </p:grpSpPr>
        <p:sp>
          <p:nvSpPr>
            <p:cNvPr id="7" name="燕尾形 86"/>
            <p:cNvSpPr/>
            <p:nvPr>
              <p:custDataLst>
                <p:tags r:id="rId2"/>
              </p:custDataLst>
            </p:nvPr>
          </p:nvSpPr>
          <p:spPr>
            <a:xfrm>
              <a:off x="533" y="672"/>
              <a:ext cx="326" cy="421"/>
            </a:xfrm>
            <a:prstGeom prst="chevron">
              <a:avLst>
                <a:gd name="adj" fmla="val 50000"/>
              </a:avLst>
            </a:prstGeom>
            <a:gradFill>
              <a:gsLst>
                <a:gs pos="0">
                  <a:srgbClr val="006CD9">
                    <a:alpha val="100000"/>
                  </a:srgbClr>
                </a:gs>
                <a:gs pos="100000">
                  <a:srgbClr val="006CD9">
                    <a:alpha val="75000"/>
                  </a:srgbClr>
                </a:gs>
              </a:gsLst>
              <a:lin ang="54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sp>
          <p:nvSpPr>
            <p:cNvPr id="10" name="燕尾形 103"/>
            <p:cNvSpPr/>
            <p:nvPr>
              <p:custDataLst>
                <p:tags r:id="rId3"/>
              </p:custDataLst>
            </p:nvPr>
          </p:nvSpPr>
          <p:spPr>
            <a:xfrm>
              <a:off x="789" y="672"/>
              <a:ext cx="326" cy="421"/>
            </a:xfrm>
            <a:prstGeom prst="chevron">
              <a:avLst>
                <a:gd name="adj" fmla="val 50000"/>
              </a:avLst>
            </a:prstGeom>
            <a:gradFill>
              <a:gsLst>
                <a:gs pos="0">
                  <a:srgbClr val="70AD47">
                    <a:alpha val="88000"/>
                  </a:srgbClr>
                </a:gs>
                <a:gs pos="100000">
                  <a:schemeClr val="accent6">
                    <a:lumMod val="85000"/>
                    <a:alpha val="63000"/>
                  </a:schemeClr>
                </a:gs>
              </a:gsLst>
              <a:lin ang="162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grpSp>
      <p:sp>
        <p:nvSpPr>
          <p:cNvPr id="11" name="textbox 158"/>
          <p:cNvSpPr/>
          <p:nvPr/>
        </p:nvSpPr>
        <p:spPr>
          <a:xfrm>
            <a:off x="740410" y="347980"/>
            <a:ext cx="5708015" cy="327025"/>
          </a:xfrm>
          <a:prstGeom prst="rect">
            <a:avLst/>
          </a:prstGeom>
          <a:noFill/>
          <a:ln w="0" cap="flat">
            <a:noFill/>
            <a:prstDash val="solid"/>
            <a:miter lim="0"/>
          </a:ln>
        </p:spPr>
        <p:txBody>
          <a:bodyPr vert="horz" wrap="square" lIns="0" tIns="0" rIns="0" bIns="0"/>
          <a:p>
            <a:pPr algn="l" rtl="0" eaLnBrk="0">
              <a:lnSpc>
                <a:spcPct val="78000"/>
              </a:lnSpc>
            </a:pPr>
            <a:r>
              <a:rPr lang="zh-CN" altLang="en-US"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rPr>
              <a:t>关键问题分析与解决方案</a:t>
            </a:r>
            <a:endParaRPr lang="zh-CN" altLang="en-US"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endParaRPr>
          </a:p>
        </p:txBody>
      </p:sp>
      <p:graphicFrame>
        <p:nvGraphicFramePr>
          <p:cNvPr id="16" name="Table 15"/>
          <p:cNvGraphicFramePr>
            <a:graphicFrameLocks noGrp="1"/>
          </p:cNvGraphicFramePr>
          <p:nvPr>
            <p:custDataLst>
              <p:tags r:id="rId4"/>
            </p:custDataLst>
          </p:nvPr>
        </p:nvGraphicFramePr>
        <p:xfrm>
          <a:off x="527050" y="1086485"/>
          <a:ext cx="11205845" cy="5049520"/>
        </p:xfrm>
        <a:graphic>
          <a:graphicData uri="http://schemas.openxmlformats.org/drawingml/2006/table">
            <a:tbl>
              <a:tblPr firstRow="1" firstCol="1" bandRow="1">
                <a:tableStyleId>{5A111915-BE36-4E01-A7E5-04B1672EAD32}</a:tableStyleId>
              </a:tblPr>
              <a:tblGrid>
                <a:gridCol w="833120"/>
                <a:gridCol w="834390"/>
                <a:gridCol w="551815"/>
                <a:gridCol w="2082165"/>
                <a:gridCol w="1869440"/>
                <a:gridCol w="3876040"/>
                <a:gridCol w="1158875"/>
              </a:tblGrid>
              <a:tr h="656590">
                <a:tc>
                  <a:txBody>
                    <a:bodyPr/>
                    <a:p>
                      <a:pPr algn="ctr">
                        <a:buNone/>
                      </a:pPr>
                      <a:r>
                        <a:rPr lang="zh-CN" altLang="en-US" sz="1200" dirty="0">
                          <a:latin typeface="Arial" panose="020B0604020202020204" pitchFamily="34" charset="0"/>
                          <a:ea typeface="黑体-简" panose="02000000000000000000" charset="-122"/>
                        </a:rPr>
                        <a:t>目标影响</a:t>
                      </a:r>
                      <a:endParaRPr lang="zh-CN" altLang="en-US" sz="1200" dirty="0">
                        <a:latin typeface="Arial" panose="020B0604020202020204" pitchFamily="34" charset="0"/>
                        <a:ea typeface="黑体-简" panose="02000000000000000000"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solidFill>
                      <a:srgbClr val="365FD9"/>
                    </a:solidFill>
                  </a:tcPr>
                </a:tc>
                <a:tc>
                  <a:txBody>
                    <a:bodyPr/>
                    <a:p>
                      <a:pPr algn="ctr">
                        <a:buNone/>
                      </a:pPr>
                      <a:r>
                        <a:rPr lang="zh-CN" altLang="en-US" sz="1200" dirty="0">
                          <a:latin typeface="Arial" panose="020B0604020202020204" pitchFamily="34" charset="0"/>
                          <a:ea typeface="黑体-简" panose="02000000000000000000" charset="-122"/>
                        </a:rPr>
                        <a:t>安全隐患</a:t>
                      </a:r>
                      <a:endParaRPr lang="zh-CN" altLang="en-US" sz="1200" dirty="0">
                        <a:latin typeface="Arial" panose="020B0604020202020204" pitchFamily="34" charset="0"/>
                        <a:ea typeface="黑体-简" panose="02000000000000000000"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solidFill>
                      <a:srgbClr val="365FD9"/>
                    </a:solidFill>
                  </a:tcPr>
                </a:tc>
                <a:tc>
                  <a:txBody>
                    <a:bodyPr/>
                    <a:p>
                      <a:pPr algn="ctr">
                        <a:buNone/>
                      </a:pPr>
                      <a:r>
                        <a:rPr lang="zh-CN" sz="1200" dirty="0">
                          <a:latin typeface="Arial" panose="020B0604020202020204" pitchFamily="34" charset="0"/>
                          <a:ea typeface="黑体-简" panose="02000000000000000000" charset="-122"/>
                        </a:rPr>
                        <a:t>优先级</a:t>
                      </a:r>
                      <a:endParaRPr lang="zh-CN" sz="1200" dirty="0">
                        <a:latin typeface="Arial" panose="020B0604020202020204" pitchFamily="34" charset="0"/>
                        <a:ea typeface="黑体-简" panose="02000000000000000000"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solidFill>
                      <a:srgbClr val="365FD9"/>
                    </a:solidFill>
                  </a:tcPr>
                </a:tc>
                <a:tc>
                  <a:txBody>
                    <a:bodyPr/>
                    <a:p>
                      <a:pPr algn="ctr">
                        <a:buNone/>
                      </a:pPr>
                      <a:r>
                        <a:rPr lang="zh-CN" altLang="en-US" sz="1200" dirty="0">
                          <a:latin typeface="Arial" panose="020B0604020202020204" pitchFamily="34" charset="0"/>
                          <a:ea typeface="黑体-简" panose="02000000000000000000" charset="-122"/>
                        </a:rPr>
                        <a:t>问题描述</a:t>
                      </a:r>
                      <a:endParaRPr lang="zh-CN" altLang="en-US" sz="1200" dirty="0">
                        <a:latin typeface="Arial" panose="020B0604020202020204" pitchFamily="34" charset="0"/>
                        <a:ea typeface="黑体-简" panose="02000000000000000000"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solidFill>
                      <a:srgbClr val="365FD9"/>
                    </a:solidFill>
                  </a:tcPr>
                </a:tc>
                <a:tc>
                  <a:txBody>
                    <a:bodyPr/>
                    <a:p>
                      <a:pPr algn="ctr">
                        <a:buNone/>
                      </a:pPr>
                      <a:r>
                        <a:rPr lang="zh-CN" altLang="en-US" sz="1200" dirty="0">
                          <a:latin typeface="Arial" panose="020B0604020202020204" pitchFamily="34" charset="0"/>
                          <a:ea typeface="黑体-简" panose="02000000000000000000" charset="-122"/>
                        </a:rPr>
                        <a:t>风险影响</a:t>
                      </a:r>
                      <a:endParaRPr lang="zh-CN" altLang="en-US" sz="1200" dirty="0">
                        <a:latin typeface="Arial" panose="020B0604020202020204" pitchFamily="34" charset="0"/>
                        <a:ea typeface="黑体-简" panose="02000000000000000000"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solidFill>
                      <a:srgbClr val="365FD9"/>
                    </a:solidFill>
                  </a:tcPr>
                </a:tc>
                <a:tc>
                  <a:txBody>
                    <a:bodyPr/>
                    <a:p>
                      <a:pPr algn="ctr">
                        <a:buNone/>
                      </a:pPr>
                      <a:r>
                        <a:rPr lang="zh-CN" altLang="en-US" sz="1200" dirty="0">
                          <a:latin typeface="Arial" panose="020B0604020202020204" pitchFamily="34" charset="0"/>
                          <a:ea typeface="黑体-简" panose="02000000000000000000" charset="-122"/>
                        </a:rPr>
                        <a:t>安全加固建议</a:t>
                      </a:r>
                      <a:endParaRPr lang="zh-CN" altLang="en-US" sz="1200" dirty="0">
                        <a:latin typeface="Arial" panose="020B0604020202020204" pitchFamily="34" charset="0"/>
                        <a:ea typeface="黑体-简" panose="02000000000000000000"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solidFill>
                      <a:srgbClr val="365FD9"/>
                    </a:solidFill>
                  </a:tcPr>
                </a:tc>
                <a:tc>
                  <a:txBody>
                    <a:bodyPr/>
                    <a:p>
                      <a:pPr algn="ctr">
                        <a:buNone/>
                      </a:pPr>
                      <a:r>
                        <a:rPr lang="zh-CN" altLang="en-US" sz="1200" dirty="0">
                          <a:latin typeface="Arial" panose="020B0604020202020204" pitchFamily="34" charset="0"/>
                          <a:ea typeface="黑体-简" panose="02000000000000000000" charset="-122"/>
                        </a:rPr>
                        <a:t>现有进展</a:t>
                      </a:r>
                      <a:endParaRPr lang="zh-CN" altLang="en-US" sz="1200" dirty="0">
                        <a:latin typeface="Arial" panose="020B0604020202020204" pitchFamily="34" charset="0"/>
                        <a:ea typeface="黑体-简" panose="02000000000000000000"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solidFill>
                      <a:srgbClr val="365FD9"/>
                    </a:solidFill>
                  </a:tcPr>
                </a:tc>
              </a:tr>
              <a:tr h="4392930">
                <a:tc>
                  <a:txBody>
                    <a:bodyPr/>
                    <a:p>
                      <a:pPr algn="ctr" fontAlgn="auto">
                        <a:lnSpc>
                          <a:spcPct val="150000"/>
                        </a:lnSpc>
                        <a:spcBef>
                          <a:spcPts val="0"/>
                        </a:spcBef>
                        <a:buNone/>
                      </a:pPr>
                      <a:r>
                        <a:rPr lang="zh-CN" altLang="en-US" sz="1200" b="1" dirty="0">
                          <a:latin typeface="Arial" panose="020B0604020202020204" pitchFamily="34" charset="0"/>
                          <a:ea typeface="黑体-简" panose="02000000000000000000" charset="-122"/>
                          <a:cs typeface="黑体" panose="02010609060101010101" charset="-122"/>
                          <a:sym typeface="+mn-ea"/>
                        </a:rPr>
                        <a:t>业务保护</a:t>
                      </a:r>
                      <a:endParaRPr lang="zh-CN" altLang="en-US" sz="1200" b="1" dirty="0">
                        <a:latin typeface="Arial" panose="020B0604020202020204" pitchFamily="34" charset="0"/>
                        <a:ea typeface="黑体-简" panose="02000000000000000000" charset="-122"/>
                        <a:cs typeface="黑体" panose="02010609060101010101" charset="-122"/>
                        <a:sym typeface="+mn-ea"/>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tcPr>
                </a:tc>
                <a:tc>
                  <a:txBody>
                    <a:bodyPr/>
                    <a:p>
                      <a:pPr algn="ctr" fontAlgn="auto">
                        <a:lnSpc>
                          <a:spcPct val="150000"/>
                        </a:lnSpc>
                        <a:spcBef>
                          <a:spcPts val="0"/>
                        </a:spcBef>
                        <a:buNone/>
                      </a:pPr>
                      <a:r>
                        <a:rPr lang="zh-CN" altLang="en-US" sz="1200" b="1" dirty="0">
                          <a:latin typeface="Arial" panose="020B0604020202020204" pitchFamily="34" charset="0"/>
                          <a:ea typeface="黑体-简" panose="02000000000000000000" charset="-122"/>
                          <a:cs typeface="黑体" panose="02010609060101010101" charset="-122"/>
                          <a:sym typeface="+mn-ea"/>
                        </a:rPr>
                        <a:t>钓鱼和社工病毒威胁感染概率大，人员安全意识待提升</a:t>
                      </a:r>
                      <a:endParaRPr lang="zh-CN" altLang="en-US" sz="1200" b="1" dirty="0">
                        <a:latin typeface="Arial" panose="020B0604020202020204" pitchFamily="34" charset="0"/>
                        <a:ea typeface="黑体-简" panose="02000000000000000000" charset="-122"/>
                        <a:cs typeface="黑体" panose="02010609060101010101" charset="-122"/>
                        <a:sym typeface="+mn-ea"/>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tcPr>
                </a:tc>
                <a:tc>
                  <a:txBody>
                    <a:bodyPr/>
                    <a:p>
                      <a:pPr algn="ctr" fontAlgn="auto">
                        <a:lnSpc>
                          <a:spcPct val="150000"/>
                        </a:lnSpc>
                        <a:spcBef>
                          <a:spcPts val="0"/>
                        </a:spcBef>
                        <a:buNone/>
                      </a:pPr>
                      <a:r>
                        <a:rPr lang="zh-CN" altLang="en-US" sz="1200" b="1" dirty="0">
                          <a:solidFill>
                            <a:srgbClr val="FF0000"/>
                          </a:solidFill>
                          <a:latin typeface="Arial" panose="020B0604020202020204" pitchFamily="34" charset="0"/>
                          <a:ea typeface="黑体-简" panose="02000000000000000000" charset="-122"/>
                          <a:cs typeface="黑体" panose="02010609060101010101" charset="-122"/>
                          <a:sym typeface="+mn-ea"/>
                        </a:rPr>
                        <a:t>重要</a:t>
                      </a:r>
                      <a:endParaRPr lang="zh-CN" altLang="en-US" sz="1200" b="1" dirty="0">
                        <a:solidFill>
                          <a:srgbClr val="FF0000"/>
                        </a:solidFill>
                        <a:latin typeface="Arial" panose="020B0604020202020204" pitchFamily="34" charset="0"/>
                        <a:ea typeface="黑体-简" panose="02000000000000000000" charset="-122"/>
                        <a:cs typeface="黑体" panose="02010609060101010101" charset="-122"/>
                        <a:sym typeface="+mn-ea"/>
                      </a:endParaRPr>
                    </a:p>
                    <a:p>
                      <a:pPr algn="ctr" fontAlgn="auto">
                        <a:lnSpc>
                          <a:spcPct val="150000"/>
                        </a:lnSpc>
                        <a:spcBef>
                          <a:spcPts val="0"/>
                        </a:spcBef>
                        <a:buNone/>
                      </a:pPr>
                      <a:r>
                        <a:rPr lang="zh-CN" altLang="en-US" sz="1200" b="1" dirty="0">
                          <a:solidFill>
                            <a:srgbClr val="FF0000"/>
                          </a:solidFill>
                          <a:latin typeface="Arial" panose="020B0604020202020204" pitchFamily="34" charset="0"/>
                          <a:ea typeface="黑体-简" panose="02000000000000000000" charset="-122"/>
                          <a:cs typeface="黑体" panose="02010609060101010101" charset="-122"/>
                          <a:sym typeface="+mn-ea"/>
                        </a:rPr>
                        <a:t>紧急</a:t>
                      </a:r>
                      <a:endParaRPr lang="zh-CN" altLang="en-US" sz="1200" b="1" dirty="0">
                        <a:solidFill>
                          <a:srgbClr val="FF0000"/>
                        </a:solidFill>
                        <a:latin typeface="Arial" panose="020B0604020202020204" pitchFamily="34" charset="0"/>
                        <a:ea typeface="黑体-简" panose="02000000000000000000" charset="-122"/>
                        <a:cs typeface="黑体" panose="02010609060101010101" charset="-122"/>
                        <a:sym typeface="+mn-ea"/>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tcPr>
                </a:tc>
                <a:tc>
                  <a:txBody>
                    <a:bodyPr/>
                    <a:p>
                      <a:pPr marL="90805" indent="0" algn="l" rtl="0" eaLnBrk="0" fontAlgn="auto">
                        <a:lnSpc>
                          <a:spcPct val="100000"/>
                        </a:lnSpc>
                        <a:spcBef>
                          <a:spcPts val="600"/>
                        </a:spcBef>
                      </a:pPr>
                      <a:r>
                        <a:rPr lang="zh-CN" altLang="en-US" sz="1200" dirty="0">
                          <a:latin typeface="Arial" panose="020B0604020202020204" pitchFamily="34" charset="0"/>
                          <a:ea typeface="黑体-简" panose="02000000000000000000" charset="-122"/>
                          <a:cs typeface="黑体" panose="02010609060101010101" charset="-122"/>
                          <a:sym typeface="+mn-ea"/>
                        </a:rPr>
                        <a:t>当季度单位内部存在僵木蠕、钓鱼的威胁事件较为高发（达到</a:t>
                      </a:r>
                      <a:r>
                        <a:rPr lang="en-US" altLang="zh-CN" sz="1200" dirty="0">
                          <a:solidFill>
                            <a:srgbClr val="4C61E7"/>
                          </a:solidFill>
                          <a:latin typeface="Arial" panose="020B0604020202020204" pitchFamily="34" charset="0"/>
                          <a:ea typeface="黑体-简" panose="02000000000000000000" charset="-122"/>
                          <a:cs typeface="黑体" panose="02010609060101010101" charset="-122"/>
                          <a:sym typeface="+mn-ea"/>
                        </a:rPr>
                        <a:t>XXX</a:t>
                      </a:r>
                      <a:r>
                        <a:rPr lang="zh-CN" altLang="en-US" sz="1200" dirty="0">
                          <a:latin typeface="Arial" panose="020B0604020202020204" pitchFamily="34" charset="0"/>
                          <a:ea typeface="黑体-简" panose="02000000000000000000" charset="-122"/>
                          <a:cs typeface="黑体" panose="02010609060101010101" charset="-122"/>
                          <a:sym typeface="+mn-ea"/>
                        </a:rPr>
                        <a:t>起，钓鱼存在</a:t>
                      </a:r>
                      <a:r>
                        <a:rPr lang="en-US" altLang="zh-CN" sz="1200" dirty="0">
                          <a:solidFill>
                            <a:srgbClr val="4C61E7"/>
                          </a:solidFill>
                          <a:latin typeface="Arial" panose="020B0604020202020204" pitchFamily="34" charset="0"/>
                          <a:ea typeface="黑体-简" panose="02000000000000000000" charset="-122"/>
                          <a:cs typeface="黑体" panose="02010609060101010101" charset="-122"/>
                          <a:sym typeface="+mn-ea"/>
                        </a:rPr>
                        <a:t>XXX</a:t>
                      </a:r>
                      <a:r>
                        <a:rPr lang="zh-CN" altLang="en-US" sz="1200" dirty="0">
                          <a:latin typeface="Arial" panose="020B0604020202020204" pitchFamily="34" charset="0"/>
                          <a:ea typeface="黑体-简" panose="02000000000000000000" charset="-122"/>
                          <a:cs typeface="黑体" panose="02010609060101010101" charset="-122"/>
                          <a:sym typeface="+mn-ea"/>
                        </a:rPr>
                        <a:t>起【</a:t>
                      </a:r>
                      <a:r>
                        <a:rPr lang="en-US" altLang="zh-CN" sz="1200" dirty="0">
                          <a:solidFill>
                            <a:srgbClr val="4C61E7"/>
                          </a:solidFill>
                          <a:latin typeface="Arial" panose="020B0604020202020204" pitchFamily="34" charset="0"/>
                          <a:ea typeface="黑体-简" panose="02000000000000000000" charset="-122"/>
                          <a:cs typeface="黑体" panose="02010609060101010101" charset="-122"/>
                          <a:sym typeface="+mn-ea"/>
                        </a:rPr>
                        <a:t>XXX</a:t>
                      </a:r>
                      <a:r>
                        <a:rPr lang="zh-CN" altLang="en-US" sz="1200" dirty="0">
                          <a:solidFill>
                            <a:srgbClr val="4C61E7"/>
                          </a:solidFill>
                          <a:latin typeface="Arial" panose="020B0604020202020204" pitchFamily="34" charset="0"/>
                          <a:ea typeface="黑体-简" panose="02000000000000000000" charset="-122"/>
                          <a:cs typeface="黑体" panose="02010609060101010101" charset="-122"/>
                          <a:sym typeface="+mn-ea"/>
                        </a:rPr>
                        <a:t>起是银狐病毒</a:t>
                      </a:r>
                      <a:r>
                        <a:rPr lang="zh-CN" altLang="en-US" sz="1200" dirty="0">
                          <a:latin typeface="Arial" panose="020B0604020202020204" pitchFamily="34" charset="0"/>
                          <a:ea typeface="黑体-简" panose="02000000000000000000" charset="-122"/>
                          <a:cs typeface="黑体" panose="02010609060101010101" charset="-122"/>
                          <a:sym typeface="+mn-ea"/>
                        </a:rPr>
                        <a:t>】），终端感染银狐病毒钓鱼类风险较大，可能持续导致员工的财务损失。</a:t>
                      </a:r>
                      <a:endParaRPr lang="en-US" altLang="zh-CN" sz="1200" dirty="0">
                        <a:latin typeface="Arial" panose="020B0604020202020204" pitchFamily="34" charset="0"/>
                        <a:ea typeface="黑体-简" panose="02000000000000000000" charset="-122"/>
                        <a:cs typeface="微软雅黑" panose="020B0503020204020204"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tcPr>
                </a:tc>
                <a:tc>
                  <a:txBody>
                    <a:bodyPr/>
                    <a:p>
                      <a:pPr marL="25400" indent="0" algn="just" rtl="0" eaLnBrk="0">
                        <a:lnSpc>
                          <a:spcPct val="106000"/>
                        </a:lnSpc>
                        <a:spcBef>
                          <a:spcPts val="130"/>
                        </a:spcBef>
                        <a:buFont typeface="Arial" panose="020B0604020202020204" pitchFamily="34" charset="0"/>
                        <a:buNone/>
                      </a:pPr>
                      <a:r>
                        <a:rPr lang="en-US" altLang="zh-CN"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sym typeface="+mn-ea"/>
                        </a:rPr>
                        <a:t>PC</a:t>
                      </a:r>
                      <a: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sym typeface="+mn-ea"/>
                        </a:rPr>
                        <a:t>终端遭受银狐或者钓鱼攻击，个人员工产生财产损失，主机失陷进而存在横向攻击</a:t>
                      </a:r>
                      <a:r>
                        <a:rPr lang="en-US" altLang="zh-CN"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sym typeface="+mn-ea"/>
                        </a:rPr>
                        <a:t>Pacs</a:t>
                      </a:r>
                      <a: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sym typeface="+mn-ea"/>
                        </a:rPr>
                        <a:t>、</a:t>
                      </a:r>
                      <a:r>
                        <a:rPr lang="en-US" altLang="zh-CN"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sym typeface="+mn-ea"/>
                        </a:rPr>
                        <a:t>ERAS</a:t>
                      </a:r>
                      <a: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sym typeface="+mn-ea"/>
                        </a:rPr>
                        <a:t>核心业务服务器的风险。</a:t>
                      </a:r>
                      <a:endPar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sym typeface="+mn-ea"/>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tcPr>
                </a:tc>
                <a:tc>
                  <a:txBody>
                    <a:bodyPr/>
                    <a:p>
                      <a:pPr algn="just" fontAlgn="auto">
                        <a:lnSpc>
                          <a:spcPct val="150000"/>
                        </a:lnSpc>
                        <a:spcBef>
                          <a:spcPts val="0"/>
                        </a:spcBef>
                        <a:buNone/>
                      </a:pPr>
                      <a:r>
                        <a:rPr lang="en-US" altLang="zh-CN" sz="1200" b="1" dirty="0">
                          <a:latin typeface="Arial" panose="020B0604020202020204" pitchFamily="34" charset="0"/>
                          <a:ea typeface="黑体-简" panose="02000000000000000000" charset="-122"/>
                          <a:cs typeface="黑体" panose="02010609060101010101" charset="-122"/>
                          <a:sym typeface="+mn-ea"/>
                        </a:rPr>
                        <a:t>1</a:t>
                      </a:r>
                      <a:r>
                        <a:rPr lang="zh-CN" altLang="en-US" sz="1200" b="1" dirty="0">
                          <a:latin typeface="Arial" panose="020B0604020202020204" pitchFamily="34" charset="0"/>
                          <a:ea typeface="黑体-简" panose="02000000000000000000" charset="-122"/>
                          <a:cs typeface="黑体" panose="02010609060101010101" charset="-122"/>
                          <a:sym typeface="+mn-ea"/>
                        </a:rPr>
                        <a:t>、短期直接可落地方案（对齐落地）</a:t>
                      </a:r>
                      <a:endParaRPr lang="en-US" altLang="zh-CN" sz="1200" b="0" dirty="0">
                        <a:latin typeface="Arial" panose="020B0604020202020204" pitchFamily="34" charset="0"/>
                        <a:ea typeface="黑体-简" panose="02000000000000000000" charset="-122"/>
                        <a:cs typeface="黑体" panose="02010609060101010101" charset="-122"/>
                      </a:endParaRPr>
                    </a:p>
                    <a:p>
                      <a:pPr algn="just" fontAlgn="auto">
                        <a:lnSpc>
                          <a:spcPct val="150000"/>
                        </a:lnSpc>
                        <a:spcBef>
                          <a:spcPts val="0"/>
                        </a:spcBef>
                        <a:buNone/>
                      </a:pPr>
                      <a:r>
                        <a:rPr lang="en-US" altLang="zh-CN" sz="1200" dirty="0">
                          <a:latin typeface="Arial" panose="020B0604020202020204" pitchFamily="34" charset="0"/>
                          <a:ea typeface="黑体-简" panose="02000000000000000000" charset="-122"/>
                          <a:cs typeface="黑体" panose="02010609060101010101" charset="-122"/>
                          <a:sym typeface="+mn-ea"/>
                        </a:rPr>
                        <a:t>1</a:t>
                      </a:r>
                      <a:r>
                        <a:rPr lang="zh-CN" altLang="en-US" sz="1200" dirty="0">
                          <a:latin typeface="Arial" panose="020B0604020202020204" pitchFamily="34" charset="0"/>
                          <a:ea typeface="黑体-简" panose="02000000000000000000" charset="-122"/>
                          <a:cs typeface="黑体" panose="02010609060101010101" charset="-122"/>
                          <a:sym typeface="+mn-ea"/>
                        </a:rPr>
                        <a:t>）完善主机定位方案，提供资产清单，通过导入资产清单到</a:t>
                      </a:r>
                      <a:r>
                        <a:rPr lang="en-US" altLang="zh-CN" sz="1200" dirty="0">
                          <a:latin typeface="Arial" panose="020B0604020202020204" pitchFamily="34" charset="0"/>
                          <a:ea typeface="黑体-简" panose="02000000000000000000" charset="-122"/>
                          <a:cs typeface="黑体" panose="02010609060101010101" charset="-122"/>
                          <a:sym typeface="+mn-ea"/>
                        </a:rPr>
                        <a:t>MSS</a:t>
                      </a:r>
                      <a:r>
                        <a:rPr lang="zh-CN" altLang="en-US" sz="1200" dirty="0">
                          <a:latin typeface="Arial" panose="020B0604020202020204" pitchFamily="34" charset="0"/>
                          <a:ea typeface="黑体-简" panose="02000000000000000000" charset="-122"/>
                          <a:cs typeface="黑体" panose="02010609060101010101" charset="-122"/>
                          <a:sym typeface="+mn-ea"/>
                        </a:rPr>
                        <a:t>平台，事件通告可直接定位到资产归属责任人</a:t>
                      </a:r>
                      <a:r>
                        <a:rPr lang="en-US" altLang="zh-CN" sz="1200" dirty="0">
                          <a:latin typeface="Arial" panose="020B0604020202020204" pitchFamily="34" charset="0"/>
                          <a:ea typeface="黑体-简" panose="02000000000000000000" charset="-122"/>
                          <a:cs typeface="黑体" panose="02010609060101010101" charset="-122"/>
                          <a:sym typeface="+mn-ea"/>
                        </a:rPr>
                        <a:t>——</a:t>
                      </a:r>
                      <a:r>
                        <a:rPr lang="zh-CN" altLang="en-US" sz="1200" dirty="0">
                          <a:solidFill>
                            <a:srgbClr val="4C61E7"/>
                          </a:solidFill>
                          <a:latin typeface="Arial" panose="020B0604020202020204" pitchFamily="34" charset="0"/>
                          <a:ea typeface="黑体-简" panose="02000000000000000000" charset="-122"/>
                          <a:cs typeface="黑体" panose="02010609060101010101" charset="-122"/>
                          <a:sym typeface="+mn-ea"/>
                        </a:rPr>
                        <a:t>客户单位</a:t>
                      </a:r>
                      <a:r>
                        <a:rPr lang="en-US" altLang="zh-CN" sz="1200" dirty="0">
                          <a:latin typeface="Arial" panose="020B0604020202020204" pitchFamily="34" charset="0"/>
                          <a:ea typeface="黑体-简" panose="02000000000000000000" charset="-122"/>
                          <a:cs typeface="黑体" panose="02010609060101010101" charset="-122"/>
                          <a:sym typeface="+mn-ea"/>
                        </a:rPr>
                        <a:t>&amp;</a:t>
                      </a:r>
                      <a:r>
                        <a:rPr lang="zh-CN" altLang="en-US" sz="1200" dirty="0">
                          <a:latin typeface="Arial" panose="020B0604020202020204" pitchFamily="34" charset="0"/>
                          <a:ea typeface="黑体-简" panose="02000000000000000000" charset="-122"/>
                          <a:cs typeface="黑体" panose="02010609060101010101" charset="-122"/>
                          <a:sym typeface="+mn-ea"/>
                        </a:rPr>
                        <a:t>深信服（已完成）</a:t>
                      </a:r>
                      <a:endParaRPr lang="zh-CN" altLang="en-US" sz="1200" b="0" dirty="0">
                        <a:latin typeface="Arial" panose="020B0604020202020204" pitchFamily="34" charset="0"/>
                        <a:ea typeface="黑体-简" panose="02000000000000000000" charset="-122"/>
                        <a:cs typeface="黑体" panose="02010609060101010101" charset="-122"/>
                      </a:endParaRPr>
                    </a:p>
                    <a:p>
                      <a:pPr algn="just" fontAlgn="auto">
                        <a:lnSpc>
                          <a:spcPct val="150000"/>
                        </a:lnSpc>
                        <a:spcBef>
                          <a:spcPts val="0"/>
                        </a:spcBef>
                        <a:buNone/>
                      </a:pPr>
                      <a:r>
                        <a:rPr lang="en-US" altLang="zh-CN" sz="1200" dirty="0">
                          <a:latin typeface="Arial" panose="020B0604020202020204" pitchFamily="34" charset="0"/>
                          <a:ea typeface="黑体-简" panose="02000000000000000000" charset="-122"/>
                          <a:cs typeface="黑体" panose="02010609060101010101" charset="-122"/>
                          <a:sym typeface="+mn-ea"/>
                        </a:rPr>
                        <a:t>2</a:t>
                      </a:r>
                      <a:r>
                        <a:rPr lang="zh-CN" altLang="en-US" sz="1200" dirty="0">
                          <a:latin typeface="Arial" panose="020B0604020202020204" pitchFamily="34" charset="0"/>
                          <a:ea typeface="黑体-简" panose="02000000000000000000" charset="-122"/>
                          <a:cs typeface="黑体" panose="02010609060101010101" charset="-122"/>
                          <a:sym typeface="+mn-ea"/>
                        </a:rPr>
                        <a:t>）核对推动</a:t>
                      </a:r>
                      <a:r>
                        <a:rPr lang="en-US" altLang="zh-CN" sz="1200" dirty="0">
                          <a:latin typeface="Arial" panose="020B0604020202020204" pitchFamily="34" charset="0"/>
                          <a:ea typeface="黑体-简" panose="02000000000000000000" charset="-122"/>
                          <a:cs typeface="黑体" panose="02010609060101010101" charset="-122"/>
                          <a:sym typeface="+mn-ea"/>
                        </a:rPr>
                        <a:t>PC</a:t>
                      </a:r>
                      <a:r>
                        <a:rPr lang="zh-CN" altLang="en-US" sz="1200" dirty="0">
                          <a:latin typeface="Arial" panose="020B0604020202020204" pitchFamily="34" charset="0"/>
                          <a:ea typeface="黑体-简" panose="02000000000000000000" charset="-122"/>
                          <a:cs typeface="黑体" panose="02010609060101010101" charset="-122"/>
                          <a:sym typeface="+mn-ea"/>
                        </a:rPr>
                        <a:t>主机安装</a:t>
                      </a:r>
                      <a:r>
                        <a:rPr lang="en-US" altLang="zh-CN" sz="1200" dirty="0">
                          <a:latin typeface="Arial" panose="020B0604020202020204" pitchFamily="34" charset="0"/>
                          <a:ea typeface="黑体-简" panose="02000000000000000000" charset="-122"/>
                          <a:cs typeface="黑体" panose="02010609060101010101" charset="-122"/>
                          <a:sym typeface="+mn-ea"/>
                        </a:rPr>
                        <a:t>EDR</a:t>
                      </a:r>
                      <a:r>
                        <a:rPr lang="zh-CN" altLang="en-US" sz="1200" dirty="0">
                          <a:latin typeface="Arial" panose="020B0604020202020204" pitchFamily="34" charset="0"/>
                          <a:ea typeface="黑体-简" panose="02000000000000000000" charset="-122"/>
                          <a:cs typeface="黑体" panose="02010609060101010101" charset="-122"/>
                          <a:sym typeface="+mn-ea"/>
                        </a:rPr>
                        <a:t>及覆盖安装及定期查杀机制落地。</a:t>
                      </a:r>
                      <a:r>
                        <a:rPr lang="en-US" altLang="zh-CN" sz="1200" dirty="0">
                          <a:latin typeface="Arial" panose="020B0604020202020204" pitchFamily="34" charset="0"/>
                          <a:ea typeface="黑体-简" panose="02000000000000000000" charset="-122"/>
                          <a:cs typeface="黑体" panose="02010609060101010101" charset="-122"/>
                          <a:sym typeface="+mn-ea"/>
                        </a:rPr>
                        <a:t>——</a:t>
                      </a:r>
                      <a:r>
                        <a:rPr lang="zh-CN" altLang="en-US" sz="1200" dirty="0">
                          <a:solidFill>
                            <a:srgbClr val="4C61E7"/>
                          </a:solidFill>
                          <a:latin typeface="Arial" panose="020B0604020202020204" pitchFamily="34" charset="0"/>
                          <a:ea typeface="黑体-简" panose="02000000000000000000" charset="-122"/>
                          <a:cs typeface="黑体" panose="02010609060101010101" charset="-122"/>
                          <a:sym typeface="+mn-ea"/>
                        </a:rPr>
                        <a:t>客户单位</a:t>
                      </a:r>
                      <a:endParaRPr lang="zh-CN" altLang="en-US" sz="1200" b="0" dirty="0">
                        <a:latin typeface="Arial" panose="020B0604020202020204" pitchFamily="34" charset="0"/>
                        <a:ea typeface="黑体-简" panose="02000000000000000000" charset="-122"/>
                        <a:cs typeface="黑体" panose="02010609060101010101" charset="-122"/>
                      </a:endParaRPr>
                    </a:p>
                    <a:p>
                      <a:pPr algn="just" fontAlgn="auto">
                        <a:lnSpc>
                          <a:spcPct val="150000"/>
                        </a:lnSpc>
                        <a:spcBef>
                          <a:spcPts val="0"/>
                        </a:spcBef>
                        <a:buNone/>
                      </a:pPr>
                      <a:endParaRPr lang="zh-CN" altLang="en-US" sz="1200" b="0" dirty="0">
                        <a:latin typeface="Arial" panose="020B0604020202020204" pitchFamily="34" charset="0"/>
                        <a:ea typeface="黑体-简" panose="02000000000000000000" charset="-122"/>
                        <a:cs typeface="黑体" panose="02010609060101010101" charset="-122"/>
                      </a:endParaRPr>
                    </a:p>
                    <a:p>
                      <a:pPr algn="just" fontAlgn="auto">
                        <a:lnSpc>
                          <a:spcPct val="150000"/>
                        </a:lnSpc>
                        <a:spcBef>
                          <a:spcPts val="0"/>
                        </a:spcBef>
                        <a:buNone/>
                      </a:pPr>
                      <a:r>
                        <a:rPr lang="en-US" altLang="zh-CN" sz="1200" b="1" dirty="0">
                          <a:latin typeface="Arial" panose="020B0604020202020204" pitchFamily="34" charset="0"/>
                          <a:ea typeface="黑体-简" panose="02000000000000000000" charset="-122"/>
                          <a:cs typeface="黑体" panose="02010609060101010101" charset="-122"/>
                          <a:sym typeface="+mn-ea"/>
                        </a:rPr>
                        <a:t>2</a:t>
                      </a:r>
                      <a:r>
                        <a:rPr lang="zh-CN" altLang="en-US" sz="1200" b="1" dirty="0">
                          <a:latin typeface="Arial" panose="020B0604020202020204" pitchFamily="34" charset="0"/>
                          <a:ea typeface="黑体-简" panose="02000000000000000000" charset="-122"/>
                          <a:cs typeface="黑体" panose="02010609060101010101" charset="-122"/>
                          <a:sym typeface="+mn-ea"/>
                        </a:rPr>
                        <a:t>、长期需要补充方案（待决策）</a:t>
                      </a:r>
                      <a:endParaRPr lang="zh-CN" altLang="en-US" sz="1200" b="1" dirty="0">
                        <a:latin typeface="Arial" panose="020B0604020202020204" pitchFamily="34" charset="0"/>
                        <a:ea typeface="黑体-简" panose="02000000000000000000" charset="-122"/>
                        <a:cs typeface="黑体" panose="02010609060101010101" charset="-122"/>
                      </a:endParaRPr>
                    </a:p>
                    <a:p>
                      <a:pPr algn="just" fontAlgn="auto">
                        <a:lnSpc>
                          <a:spcPct val="150000"/>
                        </a:lnSpc>
                        <a:spcBef>
                          <a:spcPts val="0"/>
                        </a:spcBef>
                        <a:buNone/>
                      </a:pPr>
                      <a:r>
                        <a:rPr lang="en-US" altLang="zh-CN" sz="1200" b="0" dirty="0">
                          <a:latin typeface="Arial" panose="020B0604020202020204" pitchFamily="34" charset="0"/>
                          <a:ea typeface="黑体-简" panose="02000000000000000000" charset="-122"/>
                          <a:cs typeface="黑体" panose="02010609060101010101" charset="-122"/>
                        </a:rPr>
                        <a:t>1</a:t>
                      </a:r>
                      <a:r>
                        <a:rPr lang="zh-CN" altLang="en-US" sz="1200" b="0" dirty="0">
                          <a:latin typeface="Arial" panose="020B0604020202020204" pitchFamily="34" charset="0"/>
                          <a:ea typeface="黑体-简" panose="02000000000000000000" charset="-122"/>
                          <a:cs typeface="黑体" panose="02010609060101010101" charset="-122"/>
                        </a:rPr>
                        <a:t>）增加钓鱼演练，模拟实战提升人员安全意识</a:t>
                      </a:r>
                      <a:endParaRPr lang="zh-CN" altLang="en-US" sz="1200" b="0" dirty="0">
                        <a:latin typeface="Arial" panose="020B0604020202020204" pitchFamily="34" charset="0"/>
                        <a:ea typeface="黑体-简" panose="02000000000000000000" charset="-122"/>
                        <a:cs typeface="黑体" panose="02010609060101010101" charset="-122"/>
                      </a:endParaRPr>
                    </a:p>
                    <a:p>
                      <a:pPr algn="just" fontAlgn="auto">
                        <a:lnSpc>
                          <a:spcPct val="150000"/>
                        </a:lnSpc>
                        <a:spcBef>
                          <a:spcPts val="0"/>
                        </a:spcBef>
                        <a:buNone/>
                      </a:pPr>
                      <a:r>
                        <a:rPr lang="en-US" altLang="zh-CN" sz="1200" b="0" dirty="0">
                          <a:latin typeface="Arial" panose="020B0604020202020204" pitchFamily="34" charset="0"/>
                          <a:ea typeface="黑体-简" panose="02000000000000000000" charset="-122"/>
                          <a:cs typeface="黑体" panose="02010609060101010101" charset="-122"/>
                        </a:rPr>
                        <a:t>2</a:t>
                      </a:r>
                      <a:r>
                        <a:rPr lang="zh-CN" altLang="en-US" sz="1200" b="0" dirty="0">
                          <a:latin typeface="Arial" panose="020B0604020202020204" pitchFamily="34" charset="0"/>
                          <a:ea typeface="黑体-简" panose="02000000000000000000" charset="-122"/>
                          <a:cs typeface="黑体" panose="02010609060101010101" charset="-122"/>
                        </a:rPr>
                        <a:t>）每年开展增加安全意识培训，提升用户安全意识</a:t>
                      </a:r>
                      <a:endParaRPr lang="en-US" altLang="zh-CN" sz="1200" b="0" dirty="0">
                        <a:latin typeface="Arial" panose="020B0604020202020204" pitchFamily="34" charset="0"/>
                        <a:ea typeface="黑体-简" panose="02000000000000000000" charset="-122"/>
                        <a:cs typeface="黑体" panose="02010609060101010101"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tcPr>
                </a:tc>
                <a:tc>
                  <a:txBody>
                    <a:bodyPr/>
                    <a:p>
                      <a:pPr algn="just" fontAlgn="auto">
                        <a:lnSpc>
                          <a:spcPct val="150000"/>
                        </a:lnSpc>
                        <a:spcBef>
                          <a:spcPts val="0"/>
                        </a:spcBef>
                        <a:buNone/>
                      </a:pPr>
                      <a:r>
                        <a:rPr lang="zh-CN" altLang="en-US" sz="1200" b="0" dirty="0">
                          <a:latin typeface="Arial" panose="020B0604020202020204" pitchFamily="34" charset="0"/>
                          <a:ea typeface="黑体-简" panose="02000000000000000000" charset="-122"/>
                          <a:cs typeface="黑体" panose="02010609060101010101" charset="-122"/>
                        </a:rPr>
                        <a:t>资产定位方案目前已初步落地。</a:t>
                      </a:r>
                      <a:endParaRPr lang="zh-CN" altLang="en-US" sz="1200" b="0" dirty="0">
                        <a:latin typeface="Arial" panose="020B0604020202020204" pitchFamily="34" charset="0"/>
                        <a:ea typeface="黑体-简" panose="02000000000000000000" charset="-122"/>
                        <a:cs typeface="黑体" panose="02010609060101010101"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文本框 43"/>
          <p:cNvSpPr txBox="1"/>
          <p:nvPr>
            <p:custDataLst>
              <p:tags r:id="rId1"/>
            </p:custDataLst>
          </p:nvPr>
        </p:nvSpPr>
        <p:spPr>
          <a:xfrm>
            <a:off x="6092825" y="3663315"/>
            <a:ext cx="4703445" cy="424815"/>
          </a:xfrm>
          <a:prstGeom prst="rect">
            <a:avLst/>
          </a:prstGeom>
          <a:noFill/>
          <a:ln w="0">
            <a:noFill/>
          </a:ln>
        </p:spPr>
        <p:txBody>
          <a:bodyPr wrap="square" lIns="0" tIns="0" rIns="0" bIns="0" anchor="ctr" anchorCtr="0">
            <a:noAutofit/>
          </a:bodyPr>
          <a:p>
            <a:pPr algn="l"/>
            <a:r>
              <a:rPr lang="zh-CN" altLang="en-US" sz="1600" b="0" u="none" strike="noStrike" kern="0" spc="60" dirty="0">
                <a:solidFill>
                  <a:schemeClr val="dk1"/>
                </a:solidFill>
                <a:effectLst/>
                <a:uFillTx/>
                <a:latin typeface="Arial Black" panose="020B0A04020102020204" pitchFamily="34" charset="0"/>
                <a:ea typeface="微软雅黑" panose="020B0503020204020204" charset="-122"/>
                <a:cs typeface="黑体" panose="02010609060101010101" charset="-122"/>
                <a:sym typeface="+mn-ea"/>
              </a:rPr>
              <a:t>共同的目标与行动计划</a:t>
            </a:r>
            <a:r>
              <a:rPr lang="zh-CN" altLang="en-US" sz="1600" b="0" u="none" strike="noStrike" kern="0" spc="60" dirty="0">
                <a:solidFill>
                  <a:schemeClr val="dk1"/>
                </a:solidFill>
                <a:effectLst/>
                <a:uFillTx/>
                <a:latin typeface="Arial Black" panose="020B0A04020102020204" pitchFamily="34" charset="0"/>
                <a:ea typeface="微软雅黑" panose="020B0503020204020204" charset="-122"/>
                <a:cs typeface="黑体" panose="02010609060101010101" charset="-122"/>
                <a:sym typeface="+mn-ea"/>
              </a:rPr>
              <a:t>刷新</a:t>
            </a:r>
            <a:endParaRPr lang="zh-CN" altLang="en-US" sz="1600" b="0" u="none" strike="noStrike" kern="0" spc="60" dirty="0">
              <a:solidFill>
                <a:schemeClr val="dk1"/>
              </a:solidFill>
              <a:effectLst/>
              <a:uFillTx/>
              <a:latin typeface="Arial Black" panose="020B0A04020102020204" pitchFamily="34" charset="0"/>
              <a:ea typeface="微软雅黑" panose="020B0503020204020204" charset="-122"/>
              <a:cs typeface="黑体" panose="02010609060101010101" charset="-122"/>
              <a:sym typeface="+mn-ea"/>
            </a:endParaRPr>
          </a:p>
        </p:txBody>
      </p:sp>
      <p:sp>
        <p:nvSpPr>
          <p:cNvPr id="4" name="标题"/>
          <p:cNvSpPr>
            <a:spLocks noGrp="1"/>
          </p:cNvSpPr>
          <p:nvPr>
            <p:ph type="title"/>
            <p:custDataLst>
              <p:tags r:id="rId2"/>
            </p:custDataLst>
          </p:nvPr>
        </p:nvSpPr>
        <p:spPr>
          <a:xfrm>
            <a:off x="6092825" y="2439035"/>
            <a:ext cx="5633720" cy="1224280"/>
          </a:xfrm>
        </p:spPr>
        <p:txBody>
          <a:bodyPr anchor="ctr" anchorCtr="0">
            <a:normAutofit/>
          </a:bodyPr>
          <a:lstStyle/>
          <a:p>
            <a:r>
              <a:rPr lang="zh-CN" altLang="en-US" sz="3200">
                <a:solidFill>
                  <a:srgbClr val="4C61E7"/>
                </a:solidFill>
                <a:latin typeface="Arial Black" panose="020B0A04020102020204" pitchFamily="34" charset="0"/>
                <a:ea typeface="微软雅黑" panose="020B0503020204020204" charset="-122"/>
              </a:rPr>
              <a:t>下阶段目标与协作计划</a:t>
            </a:r>
            <a:endParaRPr lang="zh-CN" altLang="en-US" sz="3200">
              <a:solidFill>
                <a:srgbClr val="4C61E7"/>
              </a:solidFill>
              <a:latin typeface="Arial Black" panose="020B0A04020102020204" pitchFamily="34" charset="0"/>
              <a:ea typeface="微软雅黑" panose="020B0503020204020204" charset="-122"/>
            </a:endParaRPr>
          </a:p>
        </p:txBody>
      </p:sp>
      <p:sp>
        <p:nvSpPr>
          <p:cNvPr id="6" name="节编号"/>
          <p:cNvSpPr>
            <a:spLocks noGrp="1"/>
          </p:cNvSpPr>
          <p:nvPr>
            <p:ph type="body" sz="quarter" idx="13"/>
            <p:custDataLst>
              <p:tags r:id="rId3"/>
            </p:custDataLst>
          </p:nvPr>
        </p:nvSpPr>
        <p:spPr/>
        <p:txBody>
          <a:bodyPr>
            <a:normAutofit lnSpcReduction="20000"/>
          </a:bodyPr>
          <a:lstStyle/>
          <a:p>
            <a:r>
              <a:rPr lang="en-US" altLang="en-US">
                <a:solidFill>
                  <a:srgbClr val="4C61E7"/>
                </a:solidFill>
                <a:latin typeface="Arial" panose="020B0604020202020204" pitchFamily="34" charset="0"/>
                <a:ea typeface="黑体-简" panose="02000000000000000000" charset="-122"/>
              </a:rPr>
              <a:t>04</a:t>
            </a:r>
            <a:endParaRPr lang="en-US" altLang="en-US">
              <a:solidFill>
                <a:srgbClr val="4C61E7"/>
              </a:solidFill>
              <a:latin typeface="Arial" panose="020B0604020202020204" pitchFamily="34" charset="0"/>
              <a:ea typeface="黑体-简" panose="02000000000000000000" charset="-122"/>
            </a:endParaRPr>
          </a:p>
        </p:txBody>
      </p:sp>
      <p:pic>
        <p:nvPicPr>
          <p:cNvPr id="7" name="图片 6" descr="深信服 + 智安全"/>
          <p:cNvPicPr>
            <a:picLocks noChangeAspect="1"/>
          </p:cNvPicPr>
          <p:nvPr/>
        </p:nvPicPr>
        <p:blipFill>
          <a:blip r:embed="rId4"/>
          <a:srcRect l="5232" t="26576" r="4938" b="29565"/>
          <a:stretch>
            <a:fillRect/>
          </a:stretch>
        </p:blipFill>
        <p:spPr>
          <a:xfrm>
            <a:off x="10017125" y="238760"/>
            <a:ext cx="1629867" cy="360000"/>
          </a:xfrm>
          <a:prstGeom prst="rect">
            <a:avLst/>
          </a:prstGeom>
        </p:spPr>
      </p:pic>
    </p:spTree>
    <p:custDataLst>
      <p:tags r:id="rId5"/>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3"/>
          <p:cNvSpPr/>
          <p:nvPr/>
        </p:nvSpPr>
        <p:spPr>
          <a:xfrm>
            <a:off x="10363200" y="219456"/>
            <a:ext cx="1463040" cy="609600"/>
          </a:xfrm>
          <a:prstGeom prst="roundRect">
            <a:avLst>
              <a:gd name="adj" fmla="val 10000"/>
            </a:avLst>
          </a:prstGeom>
          <a:solidFill>
            <a:srgbClr val="FFFFFF">
              <a:alpha val="15000"/>
            </a:srgbClr>
          </a:solidFill>
        </p:spPr>
      </p:sp>
      <p:sp>
        <p:nvSpPr>
          <p:cNvPr id="6" name="Text 4"/>
          <p:cNvSpPr/>
          <p:nvPr/>
        </p:nvSpPr>
        <p:spPr>
          <a:xfrm>
            <a:off x="10363200" y="219456"/>
            <a:ext cx="1463040" cy="609600"/>
          </a:xfrm>
          <a:prstGeom prst="rect">
            <a:avLst/>
          </a:prstGeom>
          <a:noFill/>
        </p:spPr>
        <p:txBody>
          <a:bodyPr wrap="square" lIns="0" tIns="0" rIns="0" bIns="0" rtlCol="0" anchor="ctr"/>
          <a:lstStyle/>
          <a:p>
            <a:pPr marL="0" indent="0" algn="ctr">
              <a:buNone/>
            </a:pPr>
            <a:r>
              <a:rPr lang="en-US" sz="1335" dirty="0">
                <a:solidFill>
                  <a:srgbClr val="FFFFFF"/>
                </a:solidFill>
                <a:latin typeface="微软雅黑" panose="020B0503020204020204" charset="-122"/>
                <a:ea typeface="微软雅黑" panose="020B0503020204020204" charset="-122"/>
                <a:cs typeface="微软雅黑" panose="020B0503020204020204" pitchFamily="34" charset="-120"/>
              </a:rPr>
              <a:t>深信服</a:t>
            </a:r>
            <a:endParaRPr lang="en-US" sz="1335" dirty="0"/>
          </a:p>
        </p:txBody>
      </p:sp>
      <p:pic>
        <p:nvPicPr>
          <p:cNvPr id="26" name="图片 25" descr="深信服 + 智安全"/>
          <p:cNvPicPr>
            <a:picLocks noChangeAspect="1"/>
          </p:cNvPicPr>
          <p:nvPr/>
        </p:nvPicPr>
        <p:blipFill>
          <a:blip r:embed="rId1"/>
          <a:srcRect l="5232" t="26576" r="4938" b="29565"/>
          <a:stretch>
            <a:fillRect/>
          </a:stretch>
        </p:blipFill>
        <p:spPr>
          <a:xfrm>
            <a:off x="10330815" y="273073"/>
            <a:ext cx="1629867" cy="360000"/>
          </a:xfrm>
          <a:prstGeom prst="rect">
            <a:avLst/>
          </a:prstGeom>
        </p:spPr>
      </p:pic>
      <p:sp>
        <p:nvSpPr>
          <p:cNvPr id="95" name="Shape 11"/>
          <p:cNvSpPr/>
          <p:nvPr/>
        </p:nvSpPr>
        <p:spPr>
          <a:xfrm>
            <a:off x="304800" y="1102360"/>
            <a:ext cx="1404000" cy="548640"/>
          </a:xfrm>
          <a:prstGeom prst="rect">
            <a:avLst/>
          </a:prstGeom>
          <a:solidFill>
            <a:srgbClr val="1A3A5C"/>
          </a:solidFill>
        </p:spPr>
      </p:sp>
      <p:sp>
        <p:nvSpPr>
          <p:cNvPr id="96" name="Text 12"/>
          <p:cNvSpPr/>
          <p:nvPr/>
        </p:nvSpPr>
        <p:spPr>
          <a:xfrm>
            <a:off x="304800" y="1102360"/>
            <a:ext cx="1404000" cy="548640"/>
          </a:xfrm>
          <a:prstGeom prst="rect">
            <a:avLst/>
          </a:prstGeom>
          <a:noFill/>
        </p:spPr>
        <p:txBody>
          <a:bodyPr wrap="square" lIns="0" tIns="0" rIns="0" bIns="0" rtlCol="0" anchor="ctr"/>
          <a:lstStyle/>
          <a:p>
            <a:pPr marL="0" indent="0" algn="ctr">
              <a:buNone/>
            </a:pPr>
            <a:r>
              <a:rPr lang="zh-CN" alt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目标</a:t>
            </a:r>
            <a:r>
              <a:rPr lang="zh-CN" alt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项</a:t>
            </a:r>
            <a:endParaRPr lang="zh-CN" altLang="en-US" sz="1265" b="1" dirty="0">
              <a:solidFill>
                <a:srgbClr val="FFFFFF"/>
              </a:solidFill>
              <a:latin typeface="微软雅黑" panose="020B0503020204020204" charset="-122"/>
              <a:ea typeface="微软雅黑" panose="020B0503020204020204" charset="-122"/>
              <a:cs typeface="微软雅黑" panose="020B0503020204020204" pitchFamily="34" charset="-120"/>
            </a:endParaRPr>
          </a:p>
        </p:txBody>
      </p:sp>
      <p:sp>
        <p:nvSpPr>
          <p:cNvPr id="97" name="Shape 13"/>
          <p:cNvSpPr/>
          <p:nvPr/>
        </p:nvSpPr>
        <p:spPr>
          <a:xfrm>
            <a:off x="1706880" y="1102360"/>
            <a:ext cx="2682240" cy="548640"/>
          </a:xfrm>
          <a:prstGeom prst="rect">
            <a:avLst/>
          </a:prstGeom>
          <a:solidFill>
            <a:srgbClr val="1A3A5C"/>
          </a:solidFill>
        </p:spPr>
      </p:sp>
      <p:sp>
        <p:nvSpPr>
          <p:cNvPr id="98" name="Text 14"/>
          <p:cNvSpPr/>
          <p:nvPr/>
        </p:nvSpPr>
        <p:spPr>
          <a:xfrm>
            <a:off x="1706880" y="1102360"/>
            <a:ext cx="2682240" cy="548640"/>
          </a:xfrm>
          <a:prstGeom prst="rect">
            <a:avLst/>
          </a:prstGeom>
          <a:noFill/>
        </p:spPr>
        <p:txBody>
          <a:bodyPr wrap="square" lIns="0" tIns="0" rIns="0" bIns="0" rtlCol="0" anchor="ctr"/>
          <a:lstStyle/>
          <a:p>
            <a:pPr marL="0" indent="0" algn="ctr">
              <a:buNone/>
            </a:pPr>
            <a:r>
              <a:rPr 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关键</a:t>
            </a:r>
            <a:r>
              <a:rPr lang="zh-CN" alt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价值成果</a:t>
            </a:r>
            <a:r>
              <a:rPr lang="zh-CN" alt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预期</a:t>
            </a:r>
            <a:endParaRPr lang="zh-CN" altLang="en-US" sz="1265" b="1" dirty="0">
              <a:solidFill>
                <a:srgbClr val="FFFFFF"/>
              </a:solidFill>
              <a:latin typeface="微软雅黑" panose="020B0503020204020204" charset="-122"/>
              <a:ea typeface="微软雅黑" panose="020B0503020204020204" charset="-122"/>
              <a:cs typeface="微软雅黑" panose="020B0503020204020204" pitchFamily="34" charset="-120"/>
            </a:endParaRPr>
          </a:p>
        </p:txBody>
      </p:sp>
      <p:sp>
        <p:nvSpPr>
          <p:cNvPr id="99" name="Shape 15"/>
          <p:cNvSpPr/>
          <p:nvPr/>
        </p:nvSpPr>
        <p:spPr>
          <a:xfrm>
            <a:off x="4389120" y="1102360"/>
            <a:ext cx="3096000" cy="548640"/>
          </a:xfrm>
          <a:prstGeom prst="rect">
            <a:avLst/>
          </a:prstGeom>
          <a:solidFill>
            <a:srgbClr val="2563EB"/>
          </a:solidFill>
        </p:spPr>
      </p:sp>
      <p:sp>
        <p:nvSpPr>
          <p:cNvPr id="100" name="Text 16"/>
          <p:cNvSpPr/>
          <p:nvPr/>
        </p:nvSpPr>
        <p:spPr>
          <a:xfrm>
            <a:off x="4389120" y="1102360"/>
            <a:ext cx="2682240" cy="548640"/>
          </a:xfrm>
          <a:prstGeom prst="rect">
            <a:avLst/>
          </a:prstGeom>
          <a:noFill/>
        </p:spPr>
        <p:txBody>
          <a:bodyPr wrap="square" lIns="0" tIns="0" rIns="0" bIns="0" rtlCol="0" anchor="ctr"/>
          <a:lstStyle/>
          <a:p>
            <a:pPr marL="0" indent="0" algn="ctr">
              <a:buNone/>
            </a:pPr>
            <a:r>
              <a:rPr 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深信服做什么</a:t>
            </a:r>
            <a:endParaRPr lang="en-US" sz="1265" b="1" dirty="0">
              <a:solidFill>
                <a:srgbClr val="FFFFFF"/>
              </a:solidFill>
              <a:latin typeface="微软雅黑" panose="020B0503020204020204" charset="-122"/>
              <a:ea typeface="微软雅黑" panose="020B0503020204020204" charset="-122"/>
              <a:cs typeface="微软雅黑" panose="020B0503020204020204" pitchFamily="34" charset="-120"/>
            </a:endParaRPr>
          </a:p>
          <a:p>
            <a:pPr marL="0" indent="0" algn="ctr">
              <a:buNone/>
            </a:pPr>
            <a:r>
              <a:rPr lang="en-US" sz="1065" dirty="0">
                <a:solidFill>
                  <a:srgbClr val="FFFF00"/>
                </a:solidFill>
                <a:latin typeface="微软雅黑" panose="020B0503020204020204" charset="-122"/>
                <a:ea typeface="微软雅黑" panose="020B0503020204020204" charset="-122"/>
                <a:cs typeface="微软雅黑" panose="020B0503020204020204" pitchFamily="34" charset="-120"/>
                <a:sym typeface="+mn-ea"/>
              </a:rPr>
              <a:t>深信服（技术底座+运营服务）</a:t>
            </a:r>
            <a:endParaRPr lang="en-US" sz="1065" dirty="0">
              <a:solidFill>
                <a:srgbClr val="FFFF00"/>
              </a:solidFill>
              <a:latin typeface="微软雅黑" panose="020B0503020204020204" charset="-122"/>
              <a:ea typeface="微软雅黑" panose="020B0503020204020204" charset="-122"/>
              <a:cs typeface="微软雅黑" panose="020B0503020204020204" pitchFamily="34" charset="-120"/>
              <a:sym typeface="+mn-ea"/>
            </a:endParaRPr>
          </a:p>
        </p:txBody>
      </p:sp>
      <p:sp>
        <p:nvSpPr>
          <p:cNvPr id="101" name="Shape 17"/>
          <p:cNvSpPr/>
          <p:nvPr/>
        </p:nvSpPr>
        <p:spPr>
          <a:xfrm>
            <a:off x="7487920" y="1102360"/>
            <a:ext cx="2194560" cy="548640"/>
          </a:xfrm>
          <a:prstGeom prst="rect">
            <a:avLst/>
          </a:prstGeom>
          <a:solidFill>
            <a:srgbClr val="D97706"/>
          </a:solidFill>
        </p:spPr>
      </p:sp>
      <p:sp>
        <p:nvSpPr>
          <p:cNvPr id="102" name="Text 18"/>
          <p:cNvSpPr/>
          <p:nvPr/>
        </p:nvSpPr>
        <p:spPr>
          <a:xfrm>
            <a:off x="7487920" y="1102360"/>
            <a:ext cx="2194560" cy="548640"/>
          </a:xfrm>
          <a:prstGeom prst="rect">
            <a:avLst/>
          </a:prstGeom>
          <a:noFill/>
        </p:spPr>
        <p:txBody>
          <a:bodyPr wrap="square" lIns="0" tIns="0" rIns="0" bIns="0" rtlCol="0" anchor="ctr"/>
          <a:lstStyle/>
          <a:p>
            <a:pPr marL="0" indent="0" algn="ctr">
              <a:buNone/>
            </a:pPr>
            <a:r>
              <a:rPr lang="zh-CN" sz="1265" b="1" dirty="0">
                <a:solidFill>
                  <a:srgbClr val="2563EB"/>
                </a:solidFill>
                <a:latin typeface="微软雅黑" panose="020B0503020204020204" charset="-122"/>
                <a:ea typeface="微软雅黑" panose="020B0503020204020204" charset="-122"/>
                <a:cs typeface="微软雅黑" panose="020B0503020204020204" pitchFamily="34" charset="-120"/>
              </a:rPr>
              <a:t>「</a:t>
            </a:r>
            <a:r>
              <a:rPr lang="en-US" altLang="zh-CN" sz="1265" b="1" dirty="0">
                <a:solidFill>
                  <a:srgbClr val="2563EB"/>
                </a:solidFill>
                <a:latin typeface="微软雅黑" panose="020B0503020204020204" charset="-122"/>
                <a:ea typeface="微软雅黑" panose="020B0503020204020204" charset="-122"/>
                <a:cs typeface="微软雅黑" panose="020B0503020204020204" pitchFamily="34" charset="-120"/>
              </a:rPr>
              <a:t>XX</a:t>
            </a:r>
            <a:r>
              <a:rPr lang="zh-CN" altLang="en-US" sz="1265" b="1" dirty="0">
                <a:solidFill>
                  <a:srgbClr val="2563EB"/>
                </a:solidFill>
                <a:latin typeface="微软雅黑" panose="020B0503020204020204" charset="-122"/>
                <a:ea typeface="微软雅黑" panose="020B0503020204020204" charset="-122"/>
                <a:cs typeface="微软雅黑" panose="020B0503020204020204" pitchFamily="34" charset="-120"/>
              </a:rPr>
              <a:t>渠道</a:t>
            </a:r>
            <a:r>
              <a:rPr lang="zh-CN" sz="1265" b="1" dirty="0">
                <a:solidFill>
                  <a:srgbClr val="2563EB"/>
                </a:solidFill>
                <a:latin typeface="微软雅黑" panose="020B0503020204020204" charset="-122"/>
                <a:ea typeface="微软雅黑" panose="020B0503020204020204" charset="-122"/>
                <a:cs typeface="微软雅黑" panose="020B0503020204020204" pitchFamily="34" charset="-120"/>
              </a:rPr>
              <a:t>」</a:t>
            </a:r>
            <a:r>
              <a:rPr 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做什么</a:t>
            </a:r>
            <a:endParaRPr lang="en-US" sz="1265" b="1" dirty="0">
              <a:solidFill>
                <a:srgbClr val="FFFFFF"/>
              </a:solidFill>
              <a:latin typeface="微软雅黑" panose="020B0503020204020204" charset="-122"/>
              <a:ea typeface="微软雅黑" panose="020B0503020204020204" charset="-122"/>
              <a:cs typeface="微软雅黑" panose="020B0503020204020204" pitchFamily="34" charset="-120"/>
            </a:endParaRPr>
          </a:p>
          <a:p>
            <a:pPr marL="0" indent="0" algn="ctr">
              <a:buNone/>
            </a:pPr>
            <a:r>
              <a:rPr lang="en-US" sz="1065" dirty="0">
                <a:solidFill>
                  <a:srgbClr val="FFFF00"/>
                </a:solidFill>
                <a:latin typeface="微软雅黑" panose="020B0503020204020204" charset="-122"/>
                <a:ea typeface="微软雅黑" panose="020B0503020204020204" charset="-122"/>
                <a:cs typeface="微软雅黑" panose="020B0503020204020204" pitchFamily="34" charset="-120"/>
                <a:sym typeface="+mn-ea"/>
              </a:rPr>
              <a:t>现场支撑+本地化</a:t>
            </a:r>
            <a:r>
              <a:rPr lang="zh-CN" altLang="en-US" sz="1065" dirty="0">
                <a:solidFill>
                  <a:srgbClr val="FFFF00"/>
                </a:solidFill>
                <a:latin typeface="微软雅黑" panose="020B0503020204020204" charset="-122"/>
                <a:ea typeface="微软雅黑" panose="020B0503020204020204" charset="-122"/>
                <a:cs typeface="微软雅黑" panose="020B0503020204020204" pitchFamily="34" charset="-120"/>
                <a:sym typeface="+mn-ea"/>
              </a:rPr>
              <a:t>服务</a:t>
            </a:r>
            <a:endParaRPr lang="zh-CN" altLang="en-US" sz="1065" dirty="0">
              <a:solidFill>
                <a:srgbClr val="FFFF00"/>
              </a:solidFill>
              <a:latin typeface="微软雅黑" panose="020B0503020204020204" charset="-122"/>
              <a:ea typeface="微软雅黑" panose="020B0503020204020204" charset="-122"/>
              <a:cs typeface="微软雅黑" panose="020B0503020204020204" pitchFamily="34" charset="-120"/>
              <a:sym typeface="+mn-ea"/>
            </a:endParaRPr>
          </a:p>
        </p:txBody>
      </p:sp>
      <p:sp>
        <p:nvSpPr>
          <p:cNvPr id="103" name="Shape 19"/>
          <p:cNvSpPr/>
          <p:nvPr/>
        </p:nvSpPr>
        <p:spPr>
          <a:xfrm>
            <a:off x="9682480" y="1102360"/>
            <a:ext cx="2194560" cy="548640"/>
          </a:xfrm>
          <a:prstGeom prst="rect">
            <a:avLst/>
          </a:prstGeom>
          <a:solidFill>
            <a:srgbClr val="059669"/>
          </a:solidFill>
        </p:spPr>
      </p:sp>
      <p:sp>
        <p:nvSpPr>
          <p:cNvPr id="104" name="Text 20"/>
          <p:cNvSpPr/>
          <p:nvPr/>
        </p:nvSpPr>
        <p:spPr>
          <a:xfrm>
            <a:off x="9682480" y="1102360"/>
            <a:ext cx="2194560" cy="548640"/>
          </a:xfrm>
          <a:prstGeom prst="rect">
            <a:avLst/>
          </a:prstGeom>
          <a:noFill/>
        </p:spPr>
        <p:txBody>
          <a:bodyPr wrap="square" lIns="0" tIns="0" rIns="0" bIns="0" rtlCol="0" anchor="ctr"/>
          <a:lstStyle/>
          <a:p>
            <a:pPr marL="0" indent="0" algn="ctr">
              <a:buNone/>
            </a:pPr>
            <a:r>
              <a:rPr lang="en-US" sz="1265">
                <a:solidFill>
                  <a:srgbClr val="4C61E7"/>
                </a:solidFill>
                <a:latin typeface="Arial" panose="020B0604020202020204" pitchFamily="34" charset="0"/>
                <a:ea typeface="黑体-简" panose="02000000000000000000" charset="-122"/>
                <a:cs typeface="Noto Sans SC"/>
                <a:sym typeface="Noto Sans SC"/>
              </a:rPr>
              <a:t>{{company</a:t>
            </a:r>
            <a:r>
              <a:rPr lang="en-US" altLang="zh-CN" sz="1265">
                <a:solidFill>
                  <a:srgbClr val="4C61E7"/>
                </a:solidFill>
                <a:latin typeface="Arial" panose="020B0604020202020204" pitchFamily="34" charset="0"/>
                <a:ea typeface="黑体-简" panose="02000000000000000000" charset="-122"/>
                <a:cs typeface="Noto Sans SC"/>
                <a:sym typeface="Noto Sans SC"/>
              </a:rPr>
              <a:t>}</a:t>
            </a:r>
            <a:r>
              <a:rPr lang="en-US" sz="1265">
                <a:solidFill>
                  <a:srgbClr val="4C61E7"/>
                </a:solidFill>
                <a:latin typeface="Arial" panose="020B0604020202020204" pitchFamily="34" charset="0"/>
                <a:ea typeface="黑体-简" panose="02000000000000000000" charset="-122"/>
                <a:cs typeface="Noto Sans SC"/>
                <a:sym typeface="Noto Sans SC"/>
              </a:rPr>
              <a:t>}</a:t>
            </a:r>
            <a:r>
              <a:rPr 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做什么</a:t>
            </a:r>
            <a:endParaRPr lang="en-US" sz="1265" b="1" dirty="0">
              <a:solidFill>
                <a:srgbClr val="FFFFFF"/>
              </a:solidFill>
              <a:latin typeface="微软雅黑" panose="020B0503020204020204" charset="-122"/>
              <a:ea typeface="微软雅黑" panose="020B0503020204020204" charset="-122"/>
              <a:cs typeface="微软雅黑" panose="020B0503020204020204" pitchFamily="34" charset="-120"/>
            </a:endParaRPr>
          </a:p>
          <a:p>
            <a:pPr marL="0" indent="0" algn="ctr">
              <a:buNone/>
            </a:pPr>
            <a:r>
              <a:rPr lang="en-US" sz="1065" dirty="0">
                <a:solidFill>
                  <a:srgbClr val="FFFF00"/>
                </a:solidFill>
                <a:latin typeface="微软雅黑" panose="020B0503020204020204" charset="-122"/>
                <a:ea typeface="微软雅黑" panose="020B0503020204020204" charset="-122"/>
                <a:cs typeface="微软雅黑" panose="020B0503020204020204" pitchFamily="34" charset="-120"/>
                <a:sym typeface="+mn-ea"/>
              </a:rPr>
              <a:t>资源协调+决策确认</a:t>
            </a:r>
            <a:endParaRPr lang="en-US" sz="1065" dirty="0">
              <a:solidFill>
                <a:srgbClr val="FFFF00"/>
              </a:solidFill>
              <a:latin typeface="微软雅黑" panose="020B0503020204020204" charset="-122"/>
              <a:ea typeface="微软雅黑" panose="020B0503020204020204" charset="-122"/>
              <a:cs typeface="微软雅黑" panose="020B0503020204020204" pitchFamily="34" charset="-120"/>
              <a:sym typeface="+mn-ea"/>
            </a:endParaRPr>
          </a:p>
        </p:txBody>
      </p:sp>
      <p:grpSp>
        <p:nvGrpSpPr>
          <p:cNvPr id="7" name="组合 6"/>
          <p:cNvGrpSpPr/>
          <p:nvPr/>
        </p:nvGrpSpPr>
        <p:grpSpPr>
          <a:xfrm>
            <a:off x="304800" y="1651000"/>
            <a:ext cx="11572240" cy="1440180"/>
            <a:chOff x="480" y="2600"/>
            <a:chExt cx="18224" cy="2268"/>
          </a:xfrm>
        </p:grpSpPr>
        <p:sp>
          <p:nvSpPr>
            <p:cNvPr id="105" name="Shape 21"/>
            <p:cNvSpPr/>
            <p:nvPr/>
          </p:nvSpPr>
          <p:spPr>
            <a:xfrm>
              <a:off x="480" y="2600"/>
              <a:ext cx="2211" cy="2268"/>
            </a:xfrm>
            <a:prstGeom prst="rect">
              <a:avLst/>
            </a:prstGeom>
            <a:solidFill>
              <a:srgbClr val="F8FAFC"/>
            </a:solidFill>
            <a:ln w="3810">
              <a:solidFill>
                <a:srgbClr val="E2E8F0"/>
              </a:solidFill>
              <a:prstDash val="solid"/>
            </a:ln>
          </p:spPr>
          <p:txBody>
            <a:bodyPr anchor="ctr" anchorCtr="0"/>
            <a:p>
              <a:pPr marL="0" indent="0">
                <a:buNone/>
              </a:pPr>
              <a:r>
                <a:rPr lang="en-US" sz="12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业务安全与连续性</a:t>
              </a:r>
              <a:endParaRPr lang="en-US" altLang="en-US" sz="12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p:txBody>
        </p:sp>
        <p:sp>
          <p:nvSpPr>
            <p:cNvPr id="106" name="Shape 23"/>
            <p:cNvSpPr/>
            <p:nvPr/>
          </p:nvSpPr>
          <p:spPr>
            <a:xfrm>
              <a:off x="2688" y="2600"/>
              <a:ext cx="4224" cy="2268"/>
            </a:xfrm>
            <a:prstGeom prst="rect">
              <a:avLst/>
            </a:prstGeom>
            <a:solidFill>
              <a:srgbClr val="F8FAFC"/>
            </a:solidFill>
            <a:ln w="3810">
              <a:solidFill>
                <a:srgbClr val="E2E8F0"/>
              </a:solidFill>
              <a:prstDash val="solid"/>
            </a:ln>
          </p:spPr>
          <p:txBody>
            <a:bodyPr anchor="ctr" anchorCtr="0"/>
            <a:p>
              <a:pPr algn="l">
                <a:lnSpc>
                  <a:spcPct val="120000"/>
                </a:lnSpc>
              </a:pPr>
              <a:r>
                <a:rPr lang="en-US" altLang="zh-CN" sz="1000" b="1" dirty="0">
                  <a:latin typeface="Heiti SC Light" panose="02000000000000000000" charset="-122"/>
                  <a:ea typeface="Heiti SC Light" panose="02000000000000000000" charset="-122"/>
                  <a:cs typeface="Heiti SC Light" panose="02000000000000000000" charset="-122"/>
                  <a:sym typeface="+mn-ea"/>
                </a:rPr>
                <a:t>1</a:t>
              </a:r>
              <a:r>
                <a:rPr lang="zh-CN" altLang="en-US" sz="1000" b="1" dirty="0">
                  <a:latin typeface="Heiti SC Light" panose="02000000000000000000" charset="-122"/>
                  <a:ea typeface="Heiti SC Light" panose="02000000000000000000" charset="-122"/>
                  <a:cs typeface="Heiti SC Light" panose="02000000000000000000" charset="-122"/>
                  <a:sym typeface="+mn-ea"/>
                </a:rPr>
                <a:t>、</a:t>
              </a:r>
              <a:endParaRPr lang="zh-CN" altLang="en-US" sz="1000" b="1" dirty="0">
                <a:latin typeface="Heiti SC Light" panose="02000000000000000000" charset="-122"/>
                <a:ea typeface="Heiti SC Light" panose="02000000000000000000" charset="-122"/>
                <a:cs typeface="Heiti SC Light" panose="02000000000000000000" charset="-122"/>
                <a:sym typeface="+mn-ea"/>
              </a:endParaRPr>
            </a:p>
            <a:p>
              <a:pPr algn="l">
                <a:lnSpc>
                  <a:spcPct val="120000"/>
                </a:lnSpc>
              </a:pPr>
              <a:r>
                <a:rPr lang="en-US" altLang="zh-CN" sz="1000" b="1" dirty="0">
                  <a:latin typeface="Heiti SC Light" panose="02000000000000000000" charset="-122"/>
                  <a:ea typeface="Heiti SC Light" panose="02000000000000000000" charset="-122"/>
                  <a:cs typeface="Heiti SC Light" panose="02000000000000000000" charset="-122"/>
                  <a:sym typeface="+mn-ea"/>
                </a:rPr>
                <a:t>2</a:t>
              </a:r>
              <a:r>
                <a:rPr lang="zh-CN" altLang="en-US" sz="1000" b="1" dirty="0">
                  <a:latin typeface="Heiti SC Light" panose="02000000000000000000" charset="-122"/>
                  <a:ea typeface="Heiti SC Light" panose="02000000000000000000" charset="-122"/>
                  <a:cs typeface="Heiti SC Light" panose="02000000000000000000" charset="-122"/>
                  <a:sym typeface="+mn-ea"/>
                </a:rPr>
                <a:t>、</a:t>
              </a:r>
              <a:endPar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p:txBody>
        </p:sp>
        <p:sp>
          <p:nvSpPr>
            <p:cNvPr id="107" name="Shape 25"/>
            <p:cNvSpPr/>
            <p:nvPr/>
          </p:nvSpPr>
          <p:spPr>
            <a:xfrm>
              <a:off x="6912" y="2600"/>
              <a:ext cx="4876" cy="2268"/>
            </a:xfrm>
            <a:prstGeom prst="rect">
              <a:avLst/>
            </a:prstGeom>
            <a:solidFill>
              <a:srgbClr val="F8FAFC"/>
            </a:solidFill>
            <a:ln w="3810">
              <a:solidFill>
                <a:srgbClr val="E2E8F0"/>
              </a:solidFill>
              <a:prstDash val="solid"/>
            </a:ln>
          </p:spPr>
          <p:txBody>
            <a:bodyPr anchor="ctr" anchorCtr="0"/>
            <a:p>
              <a:pPr marL="0" indent="0">
                <a:buNone/>
              </a:pP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1、</a:t>
              </a:r>
              <a:endPar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2、</a:t>
              </a:r>
              <a:endPar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p:txBody>
        </p:sp>
        <p:sp>
          <p:nvSpPr>
            <p:cNvPr id="108" name="Shape 26"/>
            <p:cNvSpPr/>
            <p:nvPr/>
          </p:nvSpPr>
          <p:spPr>
            <a:xfrm>
              <a:off x="6912" y="2600"/>
              <a:ext cx="77" cy="2268"/>
            </a:xfrm>
            <a:prstGeom prst="rect">
              <a:avLst/>
            </a:prstGeom>
            <a:solidFill>
              <a:srgbClr val="2563EB">
                <a:alpha val="50000"/>
              </a:srgbClr>
            </a:solidFill>
          </p:spPr>
        </p:sp>
        <p:sp>
          <p:nvSpPr>
            <p:cNvPr id="109" name="Shape 28"/>
            <p:cNvSpPr/>
            <p:nvPr/>
          </p:nvSpPr>
          <p:spPr>
            <a:xfrm>
              <a:off x="11792" y="2600"/>
              <a:ext cx="3456" cy="2268"/>
            </a:xfrm>
            <a:prstGeom prst="rect">
              <a:avLst/>
            </a:prstGeom>
            <a:solidFill>
              <a:srgbClr val="F8FAFC"/>
            </a:solidFill>
            <a:ln w="3810">
              <a:solidFill>
                <a:srgbClr val="E2E8F0"/>
              </a:solidFill>
              <a:prstDash val="solid"/>
            </a:ln>
          </p:spPr>
          <p:txBody>
            <a:bodyPr anchor="ctr" anchorCtr="0"/>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1、</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en-US" altLang="zh-CN"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2</a:t>
              </a: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p:txBody>
        </p:sp>
        <p:sp>
          <p:nvSpPr>
            <p:cNvPr id="110" name="Shape 29"/>
            <p:cNvSpPr/>
            <p:nvPr/>
          </p:nvSpPr>
          <p:spPr>
            <a:xfrm>
              <a:off x="11792" y="2600"/>
              <a:ext cx="77" cy="2268"/>
            </a:xfrm>
            <a:prstGeom prst="rect">
              <a:avLst/>
            </a:prstGeom>
            <a:solidFill>
              <a:srgbClr val="D97706">
                <a:alpha val="50000"/>
              </a:srgbClr>
            </a:solidFill>
          </p:spPr>
        </p:sp>
        <p:sp>
          <p:nvSpPr>
            <p:cNvPr id="111" name="Shape 31"/>
            <p:cNvSpPr/>
            <p:nvPr/>
          </p:nvSpPr>
          <p:spPr>
            <a:xfrm>
              <a:off x="15248" y="2600"/>
              <a:ext cx="3456" cy="2268"/>
            </a:xfrm>
            <a:prstGeom prst="rect">
              <a:avLst/>
            </a:prstGeom>
            <a:solidFill>
              <a:srgbClr val="F8FAFC"/>
            </a:solidFill>
            <a:ln w="3810">
              <a:solidFill>
                <a:srgbClr val="E2E8F0"/>
              </a:solidFill>
              <a:prstDash val="solid"/>
            </a:ln>
          </p:spPr>
          <p:txBody>
            <a:bodyPr anchor="ctr" anchorCtr="0"/>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1、</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en-US" altLang="zh-CN"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2</a:t>
              </a: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p:txBody>
        </p:sp>
        <p:sp>
          <p:nvSpPr>
            <p:cNvPr id="112" name="Shape 32"/>
            <p:cNvSpPr/>
            <p:nvPr/>
          </p:nvSpPr>
          <p:spPr>
            <a:xfrm>
              <a:off x="15248" y="2600"/>
              <a:ext cx="77" cy="2268"/>
            </a:xfrm>
            <a:prstGeom prst="rect">
              <a:avLst/>
            </a:prstGeom>
            <a:solidFill>
              <a:srgbClr val="059669">
                <a:alpha val="50000"/>
              </a:srgbClr>
            </a:solidFill>
          </p:spPr>
        </p:sp>
      </p:grpSp>
      <p:grpSp>
        <p:nvGrpSpPr>
          <p:cNvPr id="9" name="组合 8"/>
          <p:cNvGrpSpPr/>
          <p:nvPr/>
        </p:nvGrpSpPr>
        <p:grpSpPr>
          <a:xfrm>
            <a:off x="304800" y="3096895"/>
            <a:ext cx="11572240" cy="1440815"/>
            <a:chOff x="480" y="4296"/>
            <a:chExt cx="18224" cy="2269"/>
          </a:xfrm>
        </p:grpSpPr>
        <p:sp>
          <p:nvSpPr>
            <p:cNvPr id="113" name="Shape 34"/>
            <p:cNvSpPr/>
            <p:nvPr/>
          </p:nvSpPr>
          <p:spPr>
            <a:xfrm>
              <a:off x="480" y="4296"/>
              <a:ext cx="2211" cy="2268"/>
            </a:xfrm>
            <a:prstGeom prst="rect">
              <a:avLst/>
            </a:prstGeom>
            <a:solidFill>
              <a:srgbClr val="FFFFFF"/>
            </a:solidFill>
            <a:ln w="3810">
              <a:solidFill>
                <a:srgbClr val="E2E8F0"/>
              </a:solidFill>
              <a:prstDash val="solid"/>
            </a:ln>
          </p:spPr>
          <p:txBody>
            <a:bodyPr anchor="ctr" anchorCtr="0"/>
            <a:p>
              <a:pPr marL="0" indent="0" algn="ctr">
                <a:buNone/>
              </a:pPr>
              <a:r>
                <a:rPr lang="en-US" sz="12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安全考核与通报应对</a:t>
              </a:r>
              <a:endParaRPr lang="en-US" altLang="en-US" sz="12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p:txBody>
        </p:sp>
        <p:sp>
          <p:nvSpPr>
            <p:cNvPr id="114" name="Shape 36"/>
            <p:cNvSpPr/>
            <p:nvPr/>
          </p:nvSpPr>
          <p:spPr>
            <a:xfrm>
              <a:off x="2688" y="4297"/>
              <a:ext cx="4224" cy="2268"/>
            </a:xfrm>
            <a:prstGeom prst="rect">
              <a:avLst/>
            </a:prstGeom>
            <a:solidFill>
              <a:srgbClr val="FFFFFF"/>
            </a:solidFill>
            <a:ln w="3810">
              <a:solidFill>
                <a:srgbClr val="E2E8F0"/>
              </a:solidFill>
              <a:prstDash val="solid"/>
            </a:ln>
          </p:spPr>
          <p:txBody>
            <a:bodyPr anchor="ctr" anchorCtr="0"/>
            <a:p>
              <a:pPr marL="0" indent="0" algn="l">
                <a:buNone/>
              </a:pPr>
              <a:r>
                <a:rPr lang="en-US" altLang="zh-CN" sz="1000" dirty="0">
                  <a:solidFill>
                    <a:schemeClr val="tx1"/>
                  </a:solidFill>
                  <a:latin typeface="Heiti SC Light" panose="02000000000000000000" charset="-122"/>
                  <a:ea typeface="Heiti SC Light" panose="02000000000000000000" charset="-122"/>
                  <a:cs typeface="Heiti SC Light" panose="02000000000000000000" charset="-122"/>
                  <a:sym typeface="+mn-ea"/>
                </a:rPr>
                <a:t>1</a:t>
              </a:r>
              <a:r>
                <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rPr>
                <a:t>、</a:t>
              </a:r>
              <a:endPar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a:p>
              <a:pPr marL="0" indent="0" algn="l">
                <a:buNone/>
              </a:pPr>
              <a:r>
                <a:rPr lang="en-US" altLang="zh-CN" sz="1000" dirty="0">
                  <a:solidFill>
                    <a:schemeClr val="tx1"/>
                  </a:solidFill>
                  <a:latin typeface="Heiti SC Light" panose="02000000000000000000" charset="-122"/>
                  <a:ea typeface="Heiti SC Light" panose="02000000000000000000" charset="-122"/>
                  <a:cs typeface="Heiti SC Light" panose="02000000000000000000" charset="-122"/>
                  <a:sym typeface="+mn-ea"/>
                </a:rPr>
                <a:t>2</a:t>
              </a:r>
              <a:r>
                <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rPr>
                <a:t>、</a:t>
              </a:r>
              <a:endPar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a:p>
              <a:pPr marL="0" indent="0" algn="l">
                <a:buNone/>
              </a:pPr>
              <a:r>
                <a:rPr lang="en-US" altLang="zh-CN" sz="1000" dirty="0">
                  <a:solidFill>
                    <a:schemeClr val="tx1"/>
                  </a:solidFill>
                  <a:latin typeface="Heiti SC Light" panose="02000000000000000000" charset="-122"/>
                  <a:ea typeface="Heiti SC Light" panose="02000000000000000000" charset="-122"/>
                  <a:cs typeface="Heiti SC Light" panose="02000000000000000000" charset="-122"/>
                  <a:sym typeface="+mn-ea"/>
                </a:rPr>
                <a:t>3</a:t>
              </a:r>
              <a:r>
                <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rPr>
                <a:t>、</a:t>
              </a:r>
              <a:endParaRPr lang="en-US" altLang="zh-CN" sz="10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p:txBody>
        </p:sp>
        <p:sp>
          <p:nvSpPr>
            <p:cNvPr id="115" name="Shape 38"/>
            <p:cNvSpPr/>
            <p:nvPr/>
          </p:nvSpPr>
          <p:spPr>
            <a:xfrm>
              <a:off x="6912" y="4296"/>
              <a:ext cx="4876" cy="2268"/>
            </a:xfrm>
            <a:prstGeom prst="rect">
              <a:avLst/>
            </a:prstGeom>
            <a:solidFill>
              <a:schemeClr val="bg1"/>
            </a:solidFill>
            <a:ln w="3810">
              <a:solidFill>
                <a:srgbClr val="E2E8F0"/>
              </a:solidFill>
              <a:prstDash val="solid"/>
            </a:ln>
          </p:spPr>
          <p:txBody>
            <a:bodyPr anchor="ctr" anchorCtr="0">
              <a:noAutofit/>
            </a:bodyPr>
            <a:p>
              <a:pPr lvl="0" algn="l">
                <a:buClrTx/>
                <a:buSzTx/>
                <a:buFontTx/>
              </a:pP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1、</a:t>
              </a:r>
              <a:endPar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a:p>
              <a:pPr lvl="0" algn="l">
                <a:buClrTx/>
                <a:buSzTx/>
                <a:buFontTx/>
              </a:pP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2</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a:t>
              </a:r>
              <a:endPar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p:txBody>
        </p:sp>
        <p:sp>
          <p:nvSpPr>
            <p:cNvPr id="116" name="Shape 39"/>
            <p:cNvSpPr/>
            <p:nvPr/>
          </p:nvSpPr>
          <p:spPr>
            <a:xfrm>
              <a:off x="6912" y="4296"/>
              <a:ext cx="77" cy="2268"/>
            </a:xfrm>
            <a:prstGeom prst="rect">
              <a:avLst/>
            </a:prstGeom>
            <a:solidFill>
              <a:srgbClr val="2563EB">
                <a:alpha val="50000"/>
              </a:srgbClr>
            </a:solidFill>
          </p:spPr>
        </p:sp>
        <p:sp>
          <p:nvSpPr>
            <p:cNvPr id="117" name="Shape 41"/>
            <p:cNvSpPr/>
            <p:nvPr/>
          </p:nvSpPr>
          <p:spPr>
            <a:xfrm>
              <a:off x="11792" y="4296"/>
              <a:ext cx="3456" cy="2268"/>
            </a:xfrm>
            <a:prstGeom prst="rect">
              <a:avLst/>
            </a:prstGeom>
            <a:solidFill>
              <a:srgbClr val="FFFFFF"/>
            </a:solidFill>
            <a:ln w="3810">
              <a:solidFill>
                <a:srgbClr val="E2E8F0"/>
              </a:solidFill>
              <a:prstDash val="solid"/>
            </a:ln>
          </p:spPr>
          <p:txBody>
            <a:bodyPr anchor="ctr" anchorCtr="0"/>
            <a:p>
              <a:pPr marL="0" indent="0">
                <a:buNone/>
              </a:pPr>
              <a:r>
                <a:rPr lang="zh-CN" altLang="en-US" sz="1000" dirty="0">
                  <a:solidFill>
                    <a:srgbClr val="4C61E7"/>
                  </a:solidFill>
                  <a:latin typeface="Heiti SC Light" panose="02000000000000000000" charset="-122"/>
                  <a:ea typeface="Heiti SC Light" panose="02000000000000000000" charset="-122"/>
                  <a:cs typeface="微软雅黑" panose="020B0503020204020204" pitchFamily="34" charset="-120"/>
                  <a:sym typeface="+mn-ea"/>
                </a:rPr>
                <a:t>1、</a:t>
              </a:r>
              <a:endParaRPr lang="zh-CN" altLang="en-US" sz="1000" dirty="0">
                <a:solidFill>
                  <a:srgbClr val="4C61E7"/>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en-US" altLang="zh-CN"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2</a:t>
              </a: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p:txBody>
        </p:sp>
        <p:sp>
          <p:nvSpPr>
            <p:cNvPr id="118" name="Shape 42"/>
            <p:cNvSpPr/>
            <p:nvPr/>
          </p:nvSpPr>
          <p:spPr>
            <a:xfrm>
              <a:off x="11792" y="4296"/>
              <a:ext cx="77" cy="2268"/>
            </a:xfrm>
            <a:prstGeom prst="rect">
              <a:avLst/>
            </a:prstGeom>
            <a:solidFill>
              <a:srgbClr val="D97706">
                <a:alpha val="50000"/>
              </a:srgbClr>
            </a:solidFill>
          </p:spPr>
        </p:sp>
        <p:sp>
          <p:nvSpPr>
            <p:cNvPr id="119" name="Shape 44"/>
            <p:cNvSpPr/>
            <p:nvPr/>
          </p:nvSpPr>
          <p:spPr>
            <a:xfrm>
              <a:off x="15248" y="4296"/>
              <a:ext cx="3456" cy="2268"/>
            </a:xfrm>
            <a:prstGeom prst="rect">
              <a:avLst/>
            </a:prstGeom>
            <a:solidFill>
              <a:srgbClr val="FFFFFF"/>
            </a:solidFill>
            <a:ln w="3810">
              <a:solidFill>
                <a:srgbClr val="E2E8F0"/>
              </a:solidFill>
              <a:prstDash val="solid"/>
            </a:ln>
          </p:spPr>
          <p:txBody>
            <a:bodyPr anchor="ctr" anchorCtr="0"/>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1、</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en-US" altLang="zh-CN"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2</a:t>
              </a: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p:txBody>
        </p:sp>
        <p:sp>
          <p:nvSpPr>
            <p:cNvPr id="120" name="Shape 45"/>
            <p:cNvSpPr/>
            <p:nvPr/>
          </p:nvSpPr>
          <p:spPr>
            <a:xfrm>
              <a:off x="15248" y="4296"/>
              <a:ext cx="77" cy="2268"/>
            </a:xfrm>
            <a:prstGeom prst="rect">
              <a:avLst/>
            </a:prstGeom>
            <a:solidFill>
              <a:srgbClr val="059669">
                <a:alpha val="50000"/>
              </a:srgbClr>
            </a:solidFill>
          </p:spPr>
        </p:sp>
      </p:grpSp>
      <p:grpSp>
        <p:nvGrpSpPr>
          <p:cNvPr id="10" name="组合 9"/>
          <p:cNvGrpSpPr/>
          <p:nvPr/>
        </p:nvGrpSpPr>
        <p:grpSpPr>
          <a:xfrm>
            <a:off x="304800" y="4543425"/>
            <a:ext cx="11572240" cy="1445260"/>
            <a:chOff x="480" y="7310"/>
            <a:chExt cx="18224" cy="2276"/>
          </a:xfrm>
        </p:grpSpPr>
        <p:sp>
          <p:nvSpPr>
            <p:cNvPr id="121" name="Shape 47"/>
            <p:cNvSpPr/>
            <p:nvPr/>
          </p:nvSpPr>
          <p:spPr>
            <a:xfrm>
              <a:off x="480" y="7316"/>
              <a:ext cx="2211" cy="2268"/>
            </a:xfrm>
            <a:prstGeom prst="rect">
              <a:avLst/>
            </a:prstGeom>
            <a:solidFill>
              <a:srgbClr val="F8FAFC"/>
            </a:solidFill>
            <a:ln w="3810">
              <a:solidFill>
                <a:srgbClr val="E2E8F0"/>
              </a:solidFill>
              <a:prstDash val="solid"/>
            </a:ln>
          </p:spPr>
          <p:txBody>
            <a:bodyPr anchor="ctr" anchorCtr="0"/>
            <a:p>
              <a:pPr marL="0" indent="0" algn="ctr">
                <a:buNone/>
              </a:pPr>
              <a:r>
                <a:rPr lang="en-US" sz="1200" dirty="0">
                  <a:solidFill>
                    <a:srgbClr val="1E293B"/>
                  </a:solidFill>
                  <a:latin typeface="Heiti SC Light" panose="02000000000000000000" charset="-122"/>
                  <a:ea typeface="Heiti SC Light" panose="02000000000000000000" charset="-122"/>
                  <a:cs typeface="Heiti SC Light" panose="02000000000000000000" charset="-122"/>
                  <a:sym typeface="+mn-ea"/>
                </a:rPr>
                <a:t>重要时期</a:t>
              </a:r>
              <a:r>
                <a:rPr lang="zh-CN" altLang="en-US" sz="1200" dirty="0">
                  <a:solidFill>
                    <a:srgbClr val="1E293B"/>
                  </a:solidFill>
                  <a:latin typeface="Heiti SC Light" panose="02000000000000000000" charset="-122"/>
                  <a:ea typeface="Heiti SC Light" panose="02000000000000000000" charset="-122"/>
                  <a:cs typeface="Heiti SC Light" panose="02000000000000000000" charset="-122"/>
                  <a:sym typeface="+mn-ea"/>
                </a:rPr>
                <a:t>安全</a:t>
              </a:r>
              <a:r>
                <a:rPr lang="zh-CN" altLang="en-US" sz="1200" dirty="0">
                  <a:solidFill>
                    <a:srgbClr val="1E293B"/>
                  </a:solidFill>
                  <a:latin typeface="Heiti SC Light" panose="02000000000000000000" charset="-122"/>
                  <a:ea typeface="Heiti SC Light" panose="02000000000000000000" charset="-122"/>
                  <a:cs typeface="Heiti SC Light" panose="02000000000000000000" charset="-122"/>
                  <a:sym typeface="+mn-ea"/>
                </a:rPr>
                <a:t>保障</a:t>
              </a:r>
              <a:endParaRPr lang="zh-CN" altLang="en-US" sz="12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p:txBody>
        </p:sp>
        <p:sp>
          <p:nvSpPr>
            <p:cNvPr id="122" name="Shape 49"/>
            <p:cNvSpPr/>
            <p:nvPr/>
          </p:nvSpPr>
          <p:spPr>
            <a:xfrm>
              <a:off x="2688" y="7318"/>
              <a:ext cx="4224" cy="2268"/>
            </a:xfrm>
            <a:prstGeom prst="rect">
              <a:avLst/>
            </a:prstGeom>
            <a:solidFill>
              <a:srgbClr val="F8FAFC"/>
            </a:solidFill>
            <a:ln w="3810">
              <a:solidFill>
                <a:srgbClr val="E2E8F0"/>
              </a:solidFill>
              <a:prstDash val="solid"/>
            </a:ln>
          </p:spPr>
          <p:txBody>
            <a:bodyPr anchor="ctr" anchorCtr="0"/>
            <a:p>
              <a:pPr algn="l">
                <a:lnSpc>
                  <a:spcPct val="120000"/>
                </a:lnSpc>
                <a:buClrTx/>
                <a:buSzTx/>
                <a:buFontTx/>
                <a:buNone/>
              </a:pPr>
              <a:r>
                <a:rPr lang="en-US" altLang="zh-CN" sz="1000" b="1" dirty="0">
                  <a:latin typeface="Heiti SC Light" panose="02000000000000000000" charset="-122"/>
                  <a:ea typeface="Heiti SC Light" panose="02000000000000000000" charset="-122"/>
                  <a:cs typeface="Heiti SC Light" panose="02000000000000000000" charset="-122"/>
                  <a:sym typeface="+mn-ea"/>
                </a:rPr>
                <a:t>1</a:t>
              </a:r>
              <a:r>
                <a:rPr lang="zh-CN" altLang="en-US" sz="1000" b="1" dirty="0">
                  <a:latin typeface="Heiti SC Light" panose="02000000000000000000" charset="-122"/>
                  <a:ea typeface="Heiti SC Light" panose="02000000000000000000" charset="-122"/>
                  <a:cs typeface="Heiti SC Light" panose="02000000000000000000" charset="-122"/>
                  <a:sym typeface="+mn-ea"/>
                </a:rPr>
                <a:t>、</a:t>
              </a:r>
              <a:endParaRPr lang="zh-CN" altLang="en-US" sz="1000" b="1" dirty="0">
                <a:latin typeface="Heiti SC Light" panose="02000000000000000000" charset="-122"/>
                <a:ea typeface="Heiti SC Light" panose="02000000000000000000" charset="-122"/>
                <a:cs typeface="Heiti SC Light" panose="02000000000000000000" charset="-122"/>
                <a:sym typeface="+mn-ea"/>
              </a:endParaRPr>
            </a:p>
            <a:p>
              <a:pPr algn="l">
                <a:lnSpc>
                  <a:spcPct val="120000"/>
                </a:lnSpc>
                <a:buClrTx/>
                <a:buSzTx/>
                <a:buFontTx/>
                <a:buNone/>
              </a:pPr>
              <a:r>
                <a:rPr lang="en-US" altLang="zh-CN" sz="1000" b="1" dirty="0">
                  <a:latin typeface="Heiti SC Light" panose="02000000000000000000" charset="-122"/>
                  <a:ea typeface="Heiti SC Light" panose="02000000000000000000" charset="-122"/>
                  <a:cs typeface="Heiti SC Light" panose="02000000000000000000" charset="-122"/>
                  <a:sym typeface="+mn-ea"/>
                </a:rPr>
                <a:t>2</a:t>
              </a:r>
              <a:r>
                <a:rPr lang="zh-CN" altLang="en-US" sz="1000" b="1" dirty="0">
                  <a:latin typeface="Heiti SC Light" panose="02000000000000000000" charset="-122"/>
                  <a:ea typeface="Heiti SC Light" panose="02000000000000000000" charset="-122"/>
                  <a:cs typeface="Heiti SC Light" panose="02000000000000000000" charset="-122"/>
                  <a:sym typeface="+mn-ea"/>
                </a:rPr>
                <a:t>、</a:t>
              </a:r>
              <a:endParaRPr lang="zh-CN" altLang="en-US" sz="1000" dirty="0">
                <a:latin typeface="Heiti SC Light" panose="02000000000000000000" charset="-122"/>
                <a:ea typeface="Heiti SC Light" panose="02000000000000000000" charset="-122"/>
                <a:cs typeface="Heiti SC Light" panose="02000000000000000000" charset="-122"/>
                <a:sym typeface="+mn-ea"/>
              </a:endParaRPr>
            </a:p>
          </p:txBody>
        </p:sp>
        <p:sp>
          <p:nvSpPr>
            <p:cNvPr id="123" name="Shape 51"/>
            <p:cNvSpPr/>
            <p:nvPr/>
          </p:nvSpPr>
          <p:spPr>
            <a:xfrm>
              <a:off x="6916" y="7310"/>
              <a:ext cx="4876" cy="2268"/>
            </a:xfrm>
            <a:prstGeom prst="rect">
              <a:avLst/>
            </a:prstGeom>
            <a:solidFill>
              <a:srgbClr val="F8FAFC"/>
            </a:solidFill>
            <a:ln w="3810">
              <a:solidFill>
                <a:srgbClr val="E2E8F0"/>
              </a:solidFill>
              <a:prstDash val="solid"/>
            </a:ln>
          </p:spPr>
          <p:txBody>
            <a:bodyPr anchor="ctr" anchorCtr="0"/>
            <a:p>
              <a:pPr marL="0" indent="0">
                <a:buNone/>
              </a:pP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1、</a:t>
              </a:r>
              <a:endPar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a:p>
              <a:pPr marL="0" indent="0">
                <a:buNone/>
              </a:pP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2</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a:t>
              </a:r>
              <a:endPar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p:txBody>
        </p:sp>
        <p:sp>
          <p:nvSpPr>
            <p:cNvPr id="124" name="Shape 52"/>
            <p:cNvSpPr/>
            <p:nvPr/>
          </p:nvSpPr>
          <p:spPr>
            <a:xfrm>
              <a:off x="6912" y="7317"/>
              <a:ext cx="77" cy="2268"/>
            </a:xfrm>
            <a:prstGeom prst="rect">
              <a:avLst/>
            </a:prstGeom>
            <a:solidFill>
              <a:srgbClr val="2563EB">
                <a:alpha val="50000"/>
              </a:srgbClr>
            </a:solidFill>
          </p:spPr>
        </p:sp>
        <p:sp>
          <p:nvSpPr>
            <p:cNvPr id="125" name="Shape 54"/>
            <p:cNvSpPr/>
            <p:nvPr/>
          </p:nvSpPr>
          <p:spPr>
            <a:xfrm>
              <a:off x="11792" y="7317"/>
              <a:ext cx="3456" cy="2268"/>
            </a:xfrm>
            <a:prstGeom prst="rect">
              <a:avLst/>
            </a:prstGeom>
            <a:solidFill>
              <a:srgbClr val="F8FAFC"/>
            </a:solidFill>
            <a:ln w="3810">
              <a:solidFill>
                <a:srgbClr val="E2E8F0"/>
              </a:solidFill>
              <a:prstDash val="solid"/>
            </a:ln>
          </p:spPr>
          <p:txBody>
            <a:bodyPr anchor="ctr" anchorCtr="0">
              <a:noAutofit/>
            </a:bodyPr>
            <a:p>
              <a:pPr lvl="0" algn="l">
                <a:buClrTx/>
                <a:buSzTx/>
                <a:buFontTx/>
              </a:pP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1</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a:t>
              </a:r>
              <a:endPar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a:p>
              <a:pPr lvl="0" algn="l">
                <a:buClrTx/>
                <a:buSzTx/>
                <a:buFontTx/>
              </a:pP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2</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a:t>
              </a:r>
              <a:endPar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p:txBody>
        </p:sp>
        <p:sp>
          <p:nvSpPr>
            <p:cNvPr id="126" name="Shape 55"/>
            <p:cNvSpPr/>
            <p:nvPr/>
          </p:nvSpPr>
          <p:spPr>
            <a:xfrm>
              <a:off x="11792" y="7317"/>
              <a:ext cx="77" cy="2268"/>
            </a:xfrm>
            <a:prstGeom prst="rect">
              <a:avLst/>
            </a:prstGeom>
            <a:solidFill>
              <a:srgbClr val="D97706">
                <a:alpha val="50000"/>
              </a:srgbClr>
            </a:solidFill>
          </p:spPr>
        </p:sp>
        <p:sp>
          <p:nvSpPr>
            <p:cNvPr id="127" name="Shape 57"/>
            <p:cNvSpPr/>
            <p:nvPr/>
          </p:nvSpPr>
          <p:spPr>
            <a:xfrm>
              <a:off x="15248" y="7317"/>
              <a:ext cx="3456" cy="2268"/>
            </a:xfrm>
            <a:prstGeom prst="rect">
              <a:avLst/>
            </a:prstGeom>
            <a:solidFill>
              <a:srgbClr val="F8FAFC"/>
            </a:solidFill>
            <a:ln w="3810">
              <a:solidFill>
                <a:srgbClr val="E2E8F0"/>
              </a:solidFill>
              <a:prstDash val="solid"/>
            </a:ln>
          </p:spPr>
          <p:txBody>
            <a:bodyPr anchor="ctr" anchorCtr="0"/>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1、</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en-US" altLang="zh-CN"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2</a:t>
              </a: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p:txBody>
        </p:sp>
        <p:sp>
          <p:nvSpPr>
            <p:cNvPr id="128" name="Shape 58"/>
            <p:cNvSpPr/>
            <p:nvPr/>
          </p:nvSpPr>
          <p:spPr>
            <a:xfrm>
              <a:off x="15248" y="7317"/>
              <a:ext cx="77" cy="2268"/>
            </a:xfrm>
            <a:prstGeom prst="rect">
              <a:avLst/>
            </a:prstGeom>
            <a:solidFill>
              <a:srgbClr val="059669">
                <a:alpha val="50000"/>
              </a:srgbClr>
            </a:solidFill>
          </p:spPr>
        </p:sp>
      </p:grpSp>
      <p:sp>
        <p:nvSpPr>
          <p:cNvPr id="11" name="Text Box 27"/>
          <p:cNvSpPr txBox="1">
            <a:spLocks noChangeArrowheads="1"/>
          </p:cNvSpPr>
          <p:nvPr/>
        </p:nvSpPr>
        <p:spPr bwMode="auto">
          <a:xfrm>
            <a:off x="2050415" y="1839595"/>
            <a:ext cx="1995170" cy="3987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zh-CN" altLang="en-US" sz="1000" dirty="0">
                <a:solidFill>
                  <a:schemeClr val="tx1"/>
                </a:solidFill>
                <a:highlight>
                  <a:srgbClr val="FFFF00"/>
                </a:highlight>
                <a:latin typeface="Heiti SC Light" panose="02000000000000000000" charset="-122"/>
                <a:ea typeface="Heiti SC Light" panose="02000000000000000000" charset="-122"/>
              </a:rPr>
              <a:t>根据客户讨论对齐的结论刷新预期成果和协作计划</a:t>
            </a:r>
            <a:endParaRPr lang="zh-CN" altLang="en-US" sz="1000" dirty="0">
              <a:solidFill>
                <a:schemeClr val="tx1"/>
              </a:solidFill>
              <a:highlight>
                <a:srgbClr val="FFFF00"/>
              </a:highlight>
              <a:latin typeface="Heiti SC Light" panose="02000000000000000000" charset="-122"/>
              <a:ea typeface="Heiti SC Light" panose="02000000000000000000" charset="-122"/>
            </a:endParaRPr>
          </a:p>
        </p:txBody>
      </p:sp>
      <p:grpSp>
        <p:nvGrpSpPr>
          <p:cNvPr id="12" name="组合 11"/>
          <p:cNvGrpSpPr/>
          <p:nvPr/>
        </p:nvGrpSpPr>
        <p:grpSpPr>
          <a:xfrm>
            <a:off x="224790" y="289878"/>
            <a:ext cx="4462780" cy="327025"/>
            <a:chOff x="533" y="646"/>
            <a:chExt cx="7028" cy="515"/>
          </a:xfrm>
        </p:grpSpPr>
        <p:grpSp>
          <p:nvGrpSpPr>
            <p:cNvPr id="13" name="组合 12"/>
            <p:cNvGrpSpPr/>
            <p:nvPr/>
          </p:nvGrpSpPr>
          <p:grpSpPr>
            <a:xfrm rot="0">
              <a:off x="533" y="672"/>
              <a:ext cx="582" cy="420"/>
              <a:chOff x="533" y="672"/>
              <a:chExt cx="582" cy="420"/>
            </a:xfrm>
          </p:grpSpPr>
          <p:sp>
            <p:nvSpPr>
              <p:cNvPr id="14" name="燕尾形 86"/>
              <p:cNvSpPr/>
              <p:nvPr>
                <p:custDataLst>
                  <p:tags r:id="rId2"/>
                </p:custDataLst>
              </p:nvPr>
            </p:nvSpPr>
            <p:spPr>
              <a:xfrm>
                <a:off x="533" y="672"/>
                <a:ext cx="326" cy="421"/>
              </a:xfrm>
              <a:prstGeom prst="chevron">
                <a:avLst>
                  <a:gd name="adj" fmla="val 50000"/>
                </a:avLst>
              </a:prstGeom>
              <a:gradFill>
                <a:gsLst>
                  <a:gs pos="0">
                    <a:srgbClr val="006CD9">
                      <a:alpha val="100000"/>
                    </a:srgbClr>
                  </a:gs>
                  <a:gs pos="100000">
                    <a:srgbClr val="006CD9">
                      <a:alpha val="75000"/>
                    </a:srgbClr>
                  </a:gs>
                </a:gsLst>
                <a:lin ang="54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sp>
            <p:nvSpPr>
              <p:cNvPr id="15" name="燕尾形 103"/>
              <p:cNvSpPr/>
              <p:nvPr>
                <p:custDataLst>
                  <p:tags r:id="rId3"/>
                </p:custDataLst>
              </p:nvPr>
            </p:nvSpPr>
            <p:spPr>
              <a:xfrm>
                <a:off x="789" y="672"/>
                <a:ext cx="326" cy="421"/>
              </a:xfrm>
              <a:prstGeom prst="chevron">
                <a:avLst>
                  <a:gd name="adj" fmla="val 50000"/>
                </a:avLst>
              </a:prstGeom>
              <a:gradFill>
                <a:gsLst>
                  <a:gs pos="0">
                    <a:srgbClr val="70AD47">
                      <a:alpha val="88000"/>
                    </a:srgbClr>
                  </a:gs>
                  <a:gs pos="100000">
                    <a:schemeClr val="accent6">
                      <a:lumMod val="85000"/>
                      <a:alpha val="63000"/>
                    </a:schemeClr>
                  </a:gs>
                </a:gsLst>
                <a:lin ang="162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grpSp>
        <p:sp>
          <p:nvSpPr>
            <p:cNvPr id="16" name="textbox 158"/>
            <p:cNvSpPr/>
            <p:nvPr/>
          </p:nvSpPr>
          <p:spPr>
            <a:xfrm>
              <a:off x="1345" y="646"/>
              <a:ext cx="6216" cy="515"/>
            </a:xfrm>
            <a:prstGeom prst="rect">
              <a:avLst/>
            </a:prstGeom>
            <a:noFill/>
            <a:ln w="0" cap="flat">
              <a:noFill/>
              <a:prstDash val="solid"/>
              <a:miter lim="0"/>
            </a:ln>
          </p:spPr>
          <p:txBody>
            <a:bodyPr vert="horz" wrap="square" lIns="0" tIns="0" rIns="0" bIns="0"/>
            <a:p>
              <a:pPr algn="l" rtl="0" eaLnBrk="0">
                <a:lnSpc>
                  <a:spcPct val="78000"/>
                </a:lnSpc>
              </a:pPr>
              <a:endParaRPr sz="100" dirty="0">
                <a:solidFill>
                  <a:schemeClr val="tx1">
                    <a:lumMod val="85000"/>
                    <a:lumOff val="15000"/>
                  </a:schemeClr>
                </a:solidFill>
                <a:latin typeface="Source Han Sans CN Medium" panose="020B0600000000000000" charset="-122"/>
                <a:ea typeface="Source Han Sans CN Medium" panose="020B0600000000000000" charset="-122"/>
                <a:cs typeface="Arial" panose="020B0604020202020204"/>
              </a:endParaRPr>
            </a:p>
            <a:p>
              <a:pPr algn="l" rtl="0" eaLnBrk="0">
                <a:lnSpc>
                  <a:spcPct val="101000"/>
                </a:lnSpc>
              </a:pPr>
              <a:r>
                <a:rPr lang="zh-CN" altLang="en-US" sz="1900" b="1" noProof="0" dirty="0">
                  <a:solidFill>
                    <a:schemeClr val="tx1">
                      <a:lumMod val="85000"/>
                      <a:lumOff val="15000"/>
                    </a:schemeClr>
                  </a:solidFill>
                  <a:uLnTx/>
                  <a:latin typeface="Source Han Sans CN Bold" panose="020B0600000000000000" charset="-122"/>
                  <a:ea typeface="Source Han Sans CN Bold" panose="020B0600000000000000" charset="-122"/>
                  <a:sym typeface="Calibri" panose="020F0502020204030204" charset="0"/>
                </a:rPr>
                <a:t>关键价值成果与分工协作机制</a:t>
              </a:r>
              <a:r>
                <a:rPr lang="zh-CN" altLang="en-US" sz="1900" b="1" noProof="0" dirty="0">
                  <a:solidFill>
                    <a:schemeClr val="tx1">
                      <a:lumMod val="85000"/>
                      <a:lumOff val="15000"/>
                    </a:schemeClr>
                  </a:solidFill>
                  <a:uLnTx/>
                  <a:latin typeface="Source Han Sans CN Bold" panose="020B0600000000000000" charset="-122"/>
                  <a:ea typeface="Source Han Sans CN Bold" panose="020B0600000000000000" charset="-122"/>
                  <a:sym typeface="Calibri" panose="020F0502020204030204" charset="0"/>
                </a:rPr>
                <a:t>刷新</a:t>
              </a:r>
              <a:endParaRPr lang="zh-CN" altLang="en-US" sz="1900" b="1" noProof="0" dirty="0">
                <a:solidFill>
                  <a:schemeClr val="tx1">
                    <a:lumMod val="85000"/>
                    <a:lumOff val="15000"/>
                  </a:schemeClr>
                </a:solidFill>
                <a:uLnTx/>
                <a:latin typeface="Source Han Sans CN Bold" panose="020B0600000000000000" charset="-122"/>
                <a:ea typeface="Source Han Sans CN Bold" panose="020B0600000000000000" charset="-122"/>
                <a:sym typeface="Calibri" panose="020F0502020204030204" charset="0"/>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descr="深信服 + 智安全"/>
          <p:cNvPicPr>
            <a:picLocks noChangeAspect="1"/>
          </p:cNvPicPr>
          <p:nvPr/>
        </p:nvPicPr>
        <p:blipFill>
          <a:blip r:embed="rId1"/>
          <a:srcRect l="5232" t="26576" r="4938" b="29565"/>
          <a:stretch>
            <a:fillRect/>
          </a:stretch>
        </p:blipFill>
        <p:spPr>
          <a:xfrm>
            <a:off x="10017125" y="238760"/>
            <a:ext cx="1629867" cy="360000"/>
          </a:xfrm>
          <a:prstGeom prst="rect">
            <a:avLst/>
          </a:prstGeom>
        </p:spPr>
      </p:pic>
      <p:pic>
        <p:nvPicPr>
          <p:cNvPr id="26" name="图片 25" descr="1755143421298"/>
          <p:cNvPicPr>
            <a:picLocks noChangeAspect="1"/>
          </p:cNvPicPr>
          <p:nvPr/>
        </p:nvPicPr>
        <p:blipFill>
          <a:blip r:embed="rId2"/>
          <a:stretch>
            <a:fillRect/>
          </a:stretch>
        </p:blipFill>
        <p:spPr>
          <a:xfrm>
            <a:off x="647700" y="5785485"/>
            <a:ext cx="10998835" cy="779145"/>
          </a:xfrm>
          <a:prstGeom prst="rect">
            <a:avLst/>
          </a:prstGeom>
        </p:spPr>
      </p:pic>
      <p:sp>
        <p:nvSpPr>
          <p:cNvPr id="27" name="文本框 26"/>
          <p:cNvSpPr txBox="1"/>
          <p:nvPr/>
        </p:nvSpPr>
        <p:spPr>
          <a:xfrm>
            <a:off x="860425" y="5890260"/>
            <a:ext cx="10523855" cy="570230"/>
          </a:xfrm>
          <a:prstGeom prst="rect">
            <a:avLst/>
          </a:prstGeom>
          <a:noFill/>
        </p:spPr>
        <p:txBody>
          <a:bodyPr wrap="square" rtlCol="0" anchor="t">
            <a:noAutofit/>
          </a:bodyPr>
          <a:p>
            <a:pPr indent="0" algn="l">
              <a:lnSpc>
                <a:spcPct val="117000"/>
              </a:lnSpc>
            </a:pPr>
            <a:r>
              <a:rPr lang="en-US" sz="1200" b="1">
                <a:solidFill>
                  <a:srgbClr val="0052CC"/>
                </a:solidFill>
                <a:latin typeface="Arial" panose="020B0604020202020204" pitchFamily="34" charset="0"/>
                <a:ea typeface="黑体-简" panose="02000000000000000000" charset="-122"/>
                <a:cs typeface="Noto Sans SC"/>
                <a:sym typeface="Noto Sans SC"/>
              </a:rPr>
              <a:t>我们的承诺：</a:t>
            </a:r>
            <a:r>
              <a:rPr lang="zh-CN" altLang="en-US" sz="1200" b="1">
                <a:solidFill>
                  <a:srgbClr val="0052CC"/>
                </a:solidFill>
                <a:latin typeface="Arial" panose="020B0604020202020204" pitchFamily="34" charset="0"/>
                <a:ea typeface="黑体-简" panose="02000000000000000000" charset="-122"/>
                <a:cs typeface="Noto Sans SC"/>
                <a:sym typeface="Noto Sans SC"/>
              </a:rPr>
              <a:t>数智化</a:t>
            </a:r>
            <a:r>
              <a:rPr lang="en-US" sz="1200" b="1">
                <a:solidFill>
                  <a:srgbClr val="0052CC"/>
                </a:solidFill>
                <a:latin typeface="Arial" panose="020B0604020202020204" pitchFamily="34" charset="0"/>
                <a:ea typeface="黑体-简" panose="02000000000000000000" charset="-122"/>
                <a:cs typeface="Noto Sans SC"/>
                <a:sym typeface="Noto Sans SC"/>
              </a:rPr>
              <a:t>转型的坚实后盾</a:t>
            </a:r>
            <a:endParaRPr lang="en-US" sz="1200" b="1" i="0" u="none" strike="noStrike">
              <a:solidFill>
                <a:srgbClr val="0052CC"/>
              </a:solidFill>
              <a:latin typeface="Arial" panose="020B0604020202020204" pitchFamily="34" charset="0"/>
              <a:ea typeface="黑体-简" panose="02000000000000000000" charset="-122"/>
              <a:cs typeface="Noto Sans SC"/>
              <a:sym typeface="Noto Sans SC"/>
            </a:endParaRPr>
          </a:p>
          <a:p>
            <a:pPr indent="0" algn="l">
              <a:lnSpc>
                <a:spcPct val="117000"/>
              </a:lnSpc>
            </a:pPr>
            <a:r>
              <a:rPr lang="en-US" sz="1200">
                <a:solidFill>
                  <a:srgbClr val="404040"/>
                </a:solidFill>
                <a:latin typeface="Arial" panose="020B0604020202020204" pitchFamily="34" charset="0"/>
                <a:ea typeface="黑体-简" panose="02000000000000000000" charset="-122"/>
                <a:cs typeface="Noto Sans SC"/>
                <a:sym typeface="Noto Sans SC"/>
              </a:rPr>
              <a:t>安全运营中心将继续以专业能力、创新技术和高度责任感，作为公司数字转型的坚实后盾，为</a:t>
            </a:r>
            <a:r>
              <a:rPr lang="en-US" sz="1200">
                <a:solidFill>
                  <a:srgbClr val="4C61E7"/>
                </a:solidFill>
                <a:latin typeface="Arial" panose="020B0604020202020204" pitchFamily="34" charset="0"/>
                <a:ea typeface="黑体-简" panose="02000000000000000000" charset="-122"/>
                <a:cs typeface="Noto Sans SC"/>
                <a:sym typeface="Noto Sans SC"/>
              </a:rPr>
              <a:t>{{company</a:t>
            </a:r>
            <a:r>
              <a:rPr lang="en-US" altLang="zh-CN" sz="1200">
                <a:solidFill>
                  <a:srgbClr val="4C61E7"/>
                </a:solidFill>
                <a:latin typeface="Arial" panose="020B0604020202020204" pitchFamily="34" charset="0"/>
                <a:ea typeface="黑体-简" panose="02000000000000000000" charset="-122"/>
                <a:cs typeface="Noto Sans SC"/>
                <a:sym typeface="Noto Sans SC"/>
              </a:rPr>
              <a:t>}</a:t>
            </a:r>
            <a:r>
              <a:rPr lang="en-US" sz="1200">
                <a:solidFill>
                  <a:srgbClr val="4C61E7"/>
                </a:solidFill>
                <a:latin typeface="Arial" panose="020B0604020202020204" pitchFamily="34" charset="0"/>
                <a:ea typeface="黑体-简" panose="02000000000000000000" charset="-122"/>
                <a:cs typeface="Noto Sans SC"/>
                <a:sym typeface="Noto Sans SC"/>
              </a:rPr>
              <a:t>}</a:t>
            </a:r>
            <a:r>
              <a:rPr lang="en-US" sz="1200">
                <a:solidFill>
                  <a:srgbClr val="404040"/>
                </a:solidFill>
                <a:latin typeface="Arial" panose="020B0604020202020204" pitchFamily="34" charset="0"/>
                <a:ea typeface="黑体-简" panose="02000000000000000000" charset="-122"/>
                <a:cs typeface="Noto Sans SC"/>
                <a:sym typeface="Noto Sans SC"/>
              </a:rPr>
              <a:t>的未来稳健发展保驾护航。</a:t>
            </a:r>
            <a:endParaRPr lang="en-US" altLang="en-US" sz="1200" spc="90" dirty="0">
              <a:solidFill>
                <a:srgbClr val="404040"/>
              </a:solidFill>
              <a:latin typeface="Arial" panose="020B0604020202020204" pitchFamily="34" charset="0"/>
              <a:ea typeface="黑体-简" panose="02000000000000000000" charset="-122"/>
              <a:cs typeface="Noto Sans SC"/>
              <a:sym typeface="Noto Sans SC"/>
            </a:endParaRPr>
          </a:p>
        </p:txBody>
      </p:sp>
      <p:sp>
        <p:nvSpPr>
          <p:cNvPr id="17" name="textbox 746"/>
          <p:cNvSpPr/>
          <p:nvPr/>
        </p:nvSpPr>
        <p:spPr>
          <a:xfrm>
            <a:off x="647700" y="915670"/>
            <a:ext cx="5943600" cy="4700270"/>
          </a:xfrm>
          <a:prstGeom prst="rect">
            <a:avLst/>
          </a:prstGeom>
          <a:solidFill>
            <a:srgbClr val="EFF6FD">
              <a:alpha val="100000"/>
            </a:srgbClr>
          </a:solidFill>
          <a:ln w="0" cap="flat">
            <a:noFill/>
            <a:prstDash val="solid"/>
            <a:miter lim="0"/>
          </a:ln>
        </p:spPr>
        <p:txBody>
          <a:bodyPr vert="horz" wrap="square" lIns="0" tIns="0" rIns="0" bIns="0"/>
          <a:p>
            <a:pPr marL="127000" algn="l" defTabSz="914400" rtl="0" eaLnBrk="0">
              <a:lnSpc>
                <a:spcPct val="100000"/>
              </a:lnSpc>
              <a:spcBef>
                <a:spcPts val="975"/>
              </a:spcBef>
              <a:spcAft>
                <a:spcPct val="0"/>
              </a:spcAft>
            </a:pPr>
            <a:endParaRPr sz="1200" kern="0" spc="10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8" name="Text 2"/>
          <p:cNvSpPr/>
          <p:nvPr/>
        </p:nvSpPr>
        <p:spPr>
          <a:xfrm>
            <a:off x="760730" y="915670"/>
            <a:ext cx="1271270" cy="332740"/>
          </a:xfrm>
          <a:prstGeom prst="rect">
            <a:avLst/>
          </a:prstGeom>
          <a:noFill/>
        </p:spPr>
        <p:txBody>
          <a:bodyPr wrap="square" lIns="0" tIns="0" rIns="0" bIns="0" rtlCol="0" anchor="ctr" anchorCtr="0"/>
          <a:p>
            <a:pPr algn="l" defTabSz="914400" eaLnBrk="0">
              <a:lnSpc>
                <a:spcPct val="150000"/>
              </a:lnSpc>
              <a:spcBef>
                <a:spcPct val="0"/>
              </a:spcBef>
              <a:spcAft>
                <a:spcPct val="0"/>
              </a:spcAft>
              <a:buClrTx/>
              <a:buSzTx/>
              <a:buFontTx/>
            </a:pPr>
            <a:r>
              <a:rPr lang="zh-CN" sz="1200" b="1" kern="0" dirty="0">
                <a:solidFill>
                  <a:srgbClr val="304080">
                    <a:alpha val="100000"/>
                  </a:srgbClr>
                </a:solidFill>
                <a:latin typeface="Arial" panose="020B0604020202020204" pitchFamily="34" charset="0"/>
                <a:ea typeface="黑体-简" panose="02000000000000000000" charset="-122"/>
                <a:cs typeface="黑体" panose="02010609060101010101" charset="-122"/>
                <a:sym typeface="+mn-ea"/>
              </a:rPr>
              <a:t>关键事项</a:t>
            </a:r>
            <a:endParaRPr lang="zh-CN" sz="1200" b="1" kern="0" dirty="0">
              <a:solidFill>
                <a:srgbClr val="304080">
                  <a:alpha val="100000"/>
                </a:srgbClr>
              </a:solidFill>
              <a:latin typeface="Arial" panose="020B0604020202020204" pitchFamily="34" charset="0"/>
              <a:ea typeface="黑体-简" panose="02000000000000000000" charset="-122"/>
              <a:cs typeface="黑体" panose="02010609060101010101" charset="-122"/>
              <a:sym typeface="+mn-ea"/>
            </a:endParaRPr>
          </a:p>
        </p:txBody>
      </p:sp>
      <p:sp>
        <p:nvSpPr>
          <p:cNvPr id="19" name="文本框 18"/>
          <p:cNvSpPr txBox="1"/>
          <p:nvPr/>
        </p:nvSpPr>
        <p:spPr>
          <a:xfrm>
            <a:off x="6692900" y="915670"/>
            <a:ext cx="4954270" cy="4700270"/>
          </a:xfrm>
          <a:prstGeom prst="rect">
            <a:avLst/>
          </a:prstGeom>
          <a:solidFill>
            <a:schemeClr val="accent6">
              <a:lumMod val="20000"/>
              <a:lumOff val="80000"/>
            </a:schemeClr>
          </a:solidFill>
        </p:spPr>
        <p:txBody>
          <a:bodyPr wrap="square" rtlCol="0" anchor="t">
            <a:noAutofit/>
          </a:bodyPr>
          <a:p>
            <a:pPr marL="11430" algn="l" defTabSz="914400" rtl="0" eaLnBrk="0">
              <a:lnSpc>
                <a:spcPct val="99000"/>
              </a:lnSpc>
              <a:spcBef>
                <a:spcPct val="0"/>
              </a:spcBef>
              <a:spcAft>
                <a:spcPct val="0"/>
              </a:spcAft>
            </a:pPr>
            <a:endParaRPr lang="zh-CN" sz="90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20" name="Text 2"/>
          <p:cNvSpPr/>
          <p:nvPr/>
        </p:nvSpPr>
        <p:spPr>
          <a:xfrm>
            <a:off x="6820535" y="915670"/>
            <a:ext cx="1910715" cy="332740"/>
          </a:xfrm>
          <a:prstGeom prst="rect">
            <a:avLst/>
          </a:prstGeom>
          <a:noFill/>
        </p:spPr>
        <p:txBody>
          <a:bodyPr wrap="square" lIns="0" tIns="0" rIns="0" bIns="0" rtlCol="0" anchor="ctr" anchorCtr="0"/>
          <a:p>
            <a:pPr algn="l" defTabSz="914400" eaLnBrk="0">
              <a:lnSpc>
                <a:spcPct val="150000"/>
              </a:lnSpc>
              <a:spcBef>
                <a:spcPct val="0"/>
              </a:spcBef>
              <a:spcAft>
                <a:spcPct val="0"/>
              </a:spcAft>
              <a:buClrTx/>
              <a:buSzTx/>
              <a:buFontTx/>
            </a:pPr>
            <a:r>
              <a:rPr lang="zh-CN" sz="1200" b="1" kern="0" dirty="0">
                <a:solidFill>
                  <a:srgbClr val="304080">
                    <a:alpha val="100000"/>
                  </a:srgbClr>
                </a:solidFill>
                <a:latin typeface="Arial" panose="020B0604020202020204" pitchFamily="34" charset="0"/>
                <a:ea typeface="黑体-简" panose="02000000000000000000" charset="-122"/>
                <a:cs typeface="黑体" panose="02010609060101010101" charset="-122"/>
                <a:sym typeface="+mn-ea"/>
              </a:rPr>
              <a:t>需要客户方协作事项</a:t>
            </a:r>
            <a:endParaRPr lang="zh-CN" sz="1200" b="1" kern="0" dirty="0">
              <a:solidFill>
                <a:srgbClr val="304080">
                  <a:alpha val="100000"/>
                </a:srgbClr>
              </a:solidFill>
              <a:latin typeface="Arial" panose="020B0604020202020204" pitchFamily="34" charset="0"/>
              <a:ea typeface="黑体-简" panose="02000000000000000000" charset="-122"/>
              <a:cs typeface="黑体" panose="02010609060101010101" charset="-122"/>
              <a:sym typeface="+mn-ea"/>
            </a:endParaRPr>
          </a:p>
        </p:txBody>
      </p:sp>
      <p:graphicFrame>
        <p:nvGraphicFramePr>
          <p:cNvPr id="21" name="表格 20"/>
          <p:cNvGraphicFramePr/>
          <p:nvPr>
            <p:custDataLst>
              <p:tags r:id="rId3"/>
            </p:custDataLst>
          </p:nvPr>
        </p:nvGraphicFramePr>
        <p:xfrm>
          <a:off x="770890" y="1248410"/>
          <a:ext cx="5690870" cy="4218940"/>
        </p:xfrm>
        <a:graphic>
          <a:graphicData uri="http://schemas.openxmlformats.org/drawingml/2006/table">
            <a:tbl>
              <a:tblPr firstRow="1" lastCol="1" bandCol="1">
                <a:tableStyleId>{0126E9F6-41A6-44B7-8387-491034A24550}</a:tableStyleId>
              </a:tblPr>
              <a:tblGrid>
                <a:gridCol w="995680"/>
                <a:gridCol w="645795"/>
                <a:gridCol w="4049395"/>
              </a:tblGrid>
              <a:tr h="243840">
                <a:tc>
                  <a:txBody>
                    <a:bodyPr/>
                    <a:p>
                      <a:pPr algn="ctr">
                        <a:buNone/>
                      </a:pPr>
                      <a:r>
                        <a:rPr lang="zh-CN" altLang="en-US" sz="1000">
                          <a:latin typeface="Arial" panose="020B0604020202020204" pitchFamily="34" charset="0"/>
                          <a:ea typeface="黑体-简" panose="02000000000000000000" charset="-122"/>
                        </a:rPr>
                        <a:t>事项</a:t>
                      </a:r>
                      <a:endParaRPr lang="zh-CN" altLang="en-US" sz="1000">
                        <a:latin typeface="Arial" panose="020B0604020202020204" pitchFamily="34" charset="0"/>
                        <a:ea typeface="黑体-简" panose="02000000000000000000" charset="-122"/>
                      </a:endParaRPr>
                    </a:p>
                  </a:txBody>
                  <a:tcPr anchor="ctr" anchorCtr="0">
                    <a:lnL w="12700" cmpd="sng">
                      <a:solidFill>
                        <a:schemeClr val="accent5">
                          <a:lumMod val="40000"/>
                          <a:lumOff val="60000"/>
                        </a:schemeClr>
                      </a:solidFill>
                      <a:prstDash val="solid"/>
                    </a:lnL>
                    <a:lnR w="12700" cmpd="sng">
                      <a:solidFill>
                        <a:schemeClr val="accent5">
                          <a:lumMod val="40000"/>
                          <a:lumOff val="60000"/>
                        </a:schemeClr>
                      </a:solidFill>
                      <a:prstDash val="solid"/>
                    </a:lnR>
                    <a:lnT w="12700" cmpd="sng">
                      <a:solidFill>
                        <a:schemeClr val="accent5">
                          <a:lumMod val="40000"/>
                          <a:lumOff val="60000"/>
                        </a:schemeClr>
                      </a:solidFill>
                      <a:prstDash val="solid"/>
                    </a:lnT>
                    <a:lnB w="12700">
                      <a:solidFill>
                        <a:schemeClr val="accent5">
                          <a:lumMod val="40000"/>
                          <a:lumOff val="60000"/>
                        </a:schemeClr>
                      </a:solidFill>
                      <a:prstDash val="solid"/>
                    </a:lnB>
                    <a:gradFill>
                      <a:gsLst>
                        <a:gs pos="50000">
                          <a:schemeClr val="accent5"/>
                        </a:gs>
                        <a:gs pos="0">
                          <a:schemeClr val="accent5">
                            <a:lumMod val="25000"/>
                            <a:lumOff val="75000"/>
                          </a:schemeClr>
                        </a:gs>
                        <a:gs pos="100000">
                          <a:schemeClr val="accent5">
                            <a:lumMod val="85000"/>
                          </a:schemeClr>
                        </a:gs>
                      </a:gsLst>
                      <a:lin ang="5400000" scaled="1"/>
                    </a:gradFill>
                  </a:tcPr>
                </a:tc>
                <a:tc>
                  <a:txBody>
                    <a:bodyPr/>
                    <a:p>
                      <a:pPr algn="ctr">
                        <a:buNone/>
                      </a:pPr>
                      <a:r>
                        <a:rPr lang="zh-CN" altLang="en-US" sz="1000">
                          <a:latin typeface="Arial" panose="020B0604020202020204" pitchFamily="34" charset="0"/>
                          <a:ea typeface="黑体-简" panose="02000000000000000000" charset="-122"/>
                        </a:rPr>
                        <a:t>计划完成时间</a:t>
                      </a:r>
                      <a:endParaRPr lang="zh-CN" altLang="en-US" sz="1000">
                        <a:latin typeface="Arial" panose="020B0604020202020204" pitchFamily="34" charset="0"/>
                        <a:ea typeface="黑体-简" panose="02000000000000000000" charset="-122"/>
                      </a:endParaRPr>
                    </a:p>
                  </a:txBody>
                  <a:tcPr anchor="ctr" anchorCtr="0">
                    <a:lnL w="12700" cmpd="sng">
                      <a:solidFill>
                        <a:schemeClr val="accent5">
                          <a:lumMod val="40000"/>
                          <a:lumOff val="60000"/>
                        </a:schemeClr>
                      </a:solidFill>
                      <a:prstDash val="solid"/>
                    </a:lnL>
                    <a:lnR w="12700" cmpd="sng">
                      <a:solidFill>
                        <a:schemeClr val="accent5">
                          <a:lumMod val="40000"/>
                          <a:lumOff val="60000"/>
                        </a:schemeClr>
                      </a:solidFill>
                      <a:prstDash val="solid"/>
                    </a:lnR>
                    <a:lnT w="12700" cmpd="sng">
                      <a:solidFill>
                        <a:schemeClr val="accent5">
                          <a:lumMod val="40000"/>
                          <a:lumOff val="60000"/>
                        </a:schemeClr>
                      </a:solidFill>
                      <a:prstDash val="solid"/>
                    </a:lnT>
                    <a:lnB w="12700">
                      <a:solidFill>
                        <a:schemeClr val="accent5">
                          <a:lumMod val="40000"/>
                          <a:lumOff val="60000"/>
                        </a:schemeClr>
                      </a:solidFill>
                      <a:prstDash val="solid"/>
                    </a:lnB>
                    <a:gradFill>
                      <a:gsLst>
                        <a:gs pos="50000">
                          <a:schemeClr val="accent5"/>
                        </a:gs>
                        <a:gs pos="0">
                          <a:schemeClr val="accent5">
                            <a:lumMod val="25000"/>
                            <a:lumOff val="75000"/>
                          </a:schemeClr>
                        </a:gs>
                        <a:gs pos="100000">
                          <a:schemeClr val="accent5">
                            <a:lumMod val="85000"/>
                          </a:schemeClr>
                        </a:gs>
                      </a:gsLst>
                      <a:lin ang="5400000" scaled="1"/>
                    </a:gradFill>
                  </a:tcPr>
                </a:tc>
                <a:tc>
                  <a:txBody>
                    <a:bodyPr/>
                    <a:p>
                      <a:pPr algn="ctr">
                        <a:buNone/>
                      </a:pPr>
                      <a:r>
                        <a:rPr lang="zh-CN" altLang="en-US" sz="1000">
                          <a:solidFill>
                            <a:srgbClr val="FFFF00"/>
                          </a:solidFill>
                          <a:latin typeface="Arial" panose="020B0604020202020204" pitchFamily="34" charset="0"/>
                          <a:ea typeface="黑体-简" panose="02000000000000000000" charset="-122"/>
                        </a:rPr>
                        <a:t>下一步工作计划</a:t>
                      </a:r>
                      <a:endParaRPr lang="zh-CN" altLang="en-US" sz="1000">
                        <a:solidFill>
                          <a:srgbClr val="FFFF00"/>
                        </a:solidFill>
                        <a:latin typeface="Arial" panose="020B0604020202020204" pitchFamily="34" charset="0"/>
                        <a:ea typeface="黑体-简" panose="02000000000000000000" charset="-122"/>
                      </a:endParaRPr>
                    </a:p>
                  </a:txBody>
                  <a:tcPr anchor="ctr" anchorCtr="0">
                    <a:lnL w="12700" cmpd="sng">
                      <a:solidFill>
                        <a:schemeClr val="accent5">
                          <a:lumMod val="40000"/>
                          <a:lumOff val="60000"/>
                        </a:schemeClr>
                      </a:solidFill>
                      <a:prstDash val="solid"/>
                    </a:lnL>
                    <a:lnR w="12700" cmpd="sng">
                      <a:solidFill>
                        <a:schemeClr val="accent5">
                          <a:lumMod val="40000"/>
                          <a:lumOff val="60000"/>
                        </a:schemeClr>
                      </a:solidFill>
                      <a:prstDash val="solid"/>
                    </a:lnR>
                    <a:lnT w="12700" cmpd="sng">
                      <a:solidFill>
                        <a:schemeClr val="accent5">
                          <a:lumMod val="40000"/>
                          <a:lumOff val="60000"/>
                        </a:schemeClr>
                      </a:solidFill>
                      <a:prstDash val="solid"/>
                    </a:lnT>
                    <a:lnB w="12700" cmpd="sng">
                      <a:solidFill>
                        <a:schemeClr val="accent5">
                          <a:lumMod val="40000"/>
                          <a:lumOff val="60000"/>
                        </a:schemeClr>
                      </a:solidFill>
                      <a:prstDash val="solid"/>
                    </a:lnB>
                    <a:gradFill>
                      <a:gsLst>
                        <a:gs pos="50000">
                          <a:schemeClr val="accent5"/>
                        </a:gs>
                        <a:gs pos="0">
                          <a:schemeClr val="accent5">
                            <a:lumMod val="25000"/>
                            <a:lumOff val="75000"/>
                          </a:schemeClr>
                        </a:gs>
                        <a:gs pos="100000">
                          <a:schemeClr val="accent5">
                            <a:lumMod val="85000"/>
                          </a:schemeClr>
                        </a:gs>
                      </a:gsLst>
                      <a:lin ang="5400000" scaled="1"/>
                    </a:gradFill>
                  </a:tcPr>
                </a:tc>
              </a:tr>
              <a:tr h="548640">
                <a:tc>
                  <a:txBody>
                    <a:bodyPr/>
                    <a:p>
                      <a:pPr algn="ctr">
                        <a:buNone/>
                      </a:pPr>
                      <a:r>
                        <a:rPr lang="zh-CN" altLang="en-US" sz="1000">
                          <a:latin typeface="Arial" panose="020B0604020202020204" pitchFamily="34" charset="0"/>
                          <a:ea typeface="黑体-简" panose="02000000000000000000" charset="-122"/>
                        </a:rPr>
                        <a:t>暴露面扫描</a:t>
                      </a:r>
                      <a:endParaRPr lang="zh-CN" altLang="en-US" sz="1000">
                        <a:latin typeface="Arial" panose="020B0604020202020204" pitchFamily="34" charset="0"/>
                        <a:ea typeface="黑体-简" panose="02000000000000000000" charset="-122"/>
                      </a:endParaRPr>
                    </a:p>
                  </a:txBody>
                  <a:tcPr anchor="ctr" anchorCtr="0">
                    <a:lnL w="12700">
                      <a:solidFill>
                        <a:schemeClr val="accent5">
                          <a:lumMod val="40000"/>
                          <a:lumOff val="60000"/>
                        </a:schemeClr>
                      </a:solidFill>
                      <a:prstDash val="solid"/>
                    </a:lnL>
                    <a:lnR w="12700">
                      <a:solidFill>
                        <a:schemeClr val="accent5">
                          <a:lumMod val="40000"/>
                          <a:lumOff val="60000"/>
                        </a:schemeClr>
                      </a:solidFill>
                      <a:prstDash val="solid"/>
                    </a:lnR>
                    <a:lnT w="12700">
                      <a:solidFill>
                        <a:schemeClr val="accent5">
                          <a:lumMod val="40000"/>
                          <a:lumOff val="60000"/>
                        </a:schemeClr>
                      </a:solidFill>
                      <a:prstDash val="solid"/>
                    </a:lnT>
                    <a:lnB w="12700">
                      <a:solidFill>
                        <a:schemeClr val="accent5">
                          <a:lumMod val="40000"/>
                          <a:lumOff val="60000"/>
                        </a:schemeClr>
                      </a:solidFill>
                      <a:prstDash val="solid"/>
                    </a:lnB>
                    <a:lnTlToBr>
                      <a:noFill/>
                    </a:lnTlToBr>
                    <a:lnBlToTr>
                      <a:noFill/>
                    </a:lnBlToTr>
                    <a:solidFill>
                      <a:schemeClr val="accent5">
                        <a:lumMod val="20000"/>
                        <a:lumOff val="80000"/>
                      </a:schemeClr>
                    </a:solidFill>
                  </a:tcPr>
                </a:tc>
                <a:tc>
                  <a:txBody>
                    <a:bodyPr/>
                    <a:p>
                      <a:pPr algn="ctr">
                        <a:buNone/>
                      </a:pPr>
                      <a:r>
                        <a:rPr lang="en-US" altLang="zh-CN" sz="1000">
                          <a:latin typeface="Arial" panose="020B0604020202020204" pitchFamily="34" charset="0"/>
                          <a:ea typeface="黑体-简" panose="02000000000000000000" charset="-122"/>
                        </a:rPr>
                        <a:t>0430</a:t>
                      </a:r>
                      <a:endParaRPr lang="en-US" altLang="zh-CN" sz="1000">
                        <a:latin typeface="Arial" panose="020B0604020202020204" pitchFamily="34" charset="0"/>
                        <a:ea typeface="黑体-简" panose="02000000000000000000" charset="-122"/>
                      </a:endParaRPr>
                    </a:p>
                  </a:txBody>
                  <a:tcPr anchor="ctr" anchorCtr="0">
                    <a:lnL w="12700">
                      <a:solidFill>
                        <a:schemeClr val="accent5">
                          <a:lumMod val="40000"/>
                          <a:lumOff val="60000"/>
                        </a:schemeClr>
                      </a:solidFill>
                      <a:prstDash val="solid"/>
                    </a:lnL>
                    <a:lnR w="12700">
                      <a:solidFill>
                        <a:schemeClr val="accent5">
                          <a:lumMod val="40000"/>
                          <a:lumOff val="60000"/>
                        </a:schemeClr>
                      </a:solidFill>
                      <a:prstDash val="solid"/>
                    </a:lnR>
                    <a:lnT w="12700">
                      <a:solidFill>
                        <a:schemeClr val="accent5">
                          <a:lumMod val="40000"/>
                          <a:lumOff val="60000"/>
                        </a:schemeClr>
                      </a:solidFill>
                      <a:prstDash val="solid"/>
                    </a:lnT>
                    <a:lnB w="12700">
                      <a:solidFill>
                        <a:schemeClr val="accent5">
                          <a:lumMod val="40000"/>
                          <a:lumOff val="60000"/>
                        </a:schemeClr>
                      </a:solidFill>
                      <a:prstDash val="solid"/>
                    </a:lnB>
                    <a:lnTlToBr>
                      <a:noFill/>
                    </a:lnTlToBr>
                    <a:lnBlToTr>
                      <a:noFill/>
                    </a:lnBlToTr>
                    <a:solidFill>
                      <a:schemeClr val="tx2">
                        <a:lumMod val="20000"/>
                        <a:lumOff val="80000"/>
                      </a:schemeClr>
                    </a:solidFill>
                  </a:tcPr>
                </a:tc>
                <a:tc>
                  <a:txBody>
                    <a:bodyPr/>
                    <a:p>
                      <a:pPr marL="101600" indent="-101600" algn="l" defTabSz="914400">
                        <a:lnSpc>
                          <a:spcPct val="150000"/>
                        </a:lnSpc>
                        <a:spcBef>
                          <a:spcPct val="0"/>
                        </a:spcBef>
                        <a:spcAft>
                          <a:spcPct val="0"/>
                        </a:spcAft>
                        <a:buSzPct val="100000"/>
                        <a:buFont typeface="+mj-lt"/>
                        <a:buAutoNum type="arabicPeriod"/>
                      </a:pP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对最新的暴露面风险进行验证和确认，暴露面监测持续开展</a:t>
                      </a:r>
                      <a:r>
                        <a:rPr lang="en-US" sz="100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a:t>
                      </a:r>
                      <a:endParaRPr lang="en-US" altLang="zh-CN" sz="1000">
                        <a:latin typeface="Arial" panose="020B0604020202020204" pitchFamily="34" charset="0"/>
                        <a:ea typeface="黑体-简" panose="02000000000000000000" charset="-122"/>
                      </a:endParaRPr>
                    </a:p>
                  </a:txBody>
                  <a:tcPr anchor="ctr" anchorCtr="0">
                    <a:lnL w="12700">
                      <a:solidFill>
                        <a:schemeClr val="accent5">
                          <a:lumMod val="40000"/>
                          <a:lumOff val="60000"/>
                        </a:schemeClr>
                      </a:solidFill>
                      <a:prstDash val="solid"/>
                    </a:lnL>
                    <a:lnR w="12700" cmpd="sng">
                      <a:solidFill>
                        <a:schemeClr val="accent5">
                          <a:lumMod val="40000"/>
                          <a:lumOff val="60000"/>
                        </a:schemeClr>
                      </a:solidFill>
                      <a:prstDash val="solid"/>
                    </a:lnR>
                    <a:lnT w="12700" cmpd="sng">
                      <a:solidFill>
                        <a:schemeClr val="accent5">
                          <a:lumMod val="40000"/>
                          <a:lumOff val="60000"/>
                        </a:schemeClr>
                      </a:solidFill>
                      <a:prstDash val="solid"/>
                    </a:lnT>
                    <a:lnB w="12700" cmpd="sng">
                      <a:solidFill>
                        <a:schemeClr val="accent5">
                          <a:lumMod val="40000"/>
                          <a:lumOff val="60000"/>
                        </a:schemeClr>
                      </a:solidFill>
                      <a:prstDash val="solid"/>
                    </a:lnB>
                    <a:solidFill>
                      <a:schemeClr val="accent3">
                        <a:lumMod val="20000"/>
                        <a:lumOff val="80000"/>
                      </a:schemeClr>
                    </a:solidFill>
                  </a:tcPr>
                </a:tc>
              </a:tr>
              <a:tr h="954405">
                <a:tc>
                  <a:txBody>
                    <a:bodyPr/>
                    <a:p>
                      <a:pPr algn="ctr">
                        <a:buNone/>
                      </a:pPr>
                      <a:r>
                        <a:rPr lang="zh-CN" altLang="en-US" sz="1000">
                          <a:latin typeface="Arial" panose="020B0604020202020204" pitchFamily="34" charset="0"/>
                          <a:ea typeface="黑体-简" panose="02000000000000000000" charset="-122"/>
                          <a:sym typeface="+mn-ea"/>
                        </a:rPr>
                        <a:t>勒索风险排查及</a:t>
                      </a:r>
                      <a:endParaRPr lang="zh-CN" altLang="en-US" sz="1000">
                        <a:latin typeface="Arial" panose="020B0604020202020204" pitchFamily="34" charset="0"/>
                        <a:ea typeface="黑体-简" panose="02000000000000000000" charset="-122"/>
                        <a:sym typeface="+mn-ea"/>
                      </a:endParaRPr>
                    </a:p>
                    <a:p>
                      <a:pPr algn="ctr">
                        <a:buNone/>
                      </a:pPr>
                      <a:r>
                        <a:rPr lang="zh-CN" altLang="en-US" sz="1000">
                          <a:latin typeface="Arial" panose="020B0604020202020204" pitchFamily="34" charset="0"/>
                          <a:ea typeface="黑体-简" panose="02000000000000000000" charset="-122"/>
                          <a:sym typeface="+mn-ea"/>
                        </a:rPr>
                        <a:t>脆弱性梳理</a:t>
                      </a:r>
                      <a:endParaRPr lang="zh-CN" altLang="en-US" sz="1000">
                        <a:latin typeface="Arial" panose="020B0604020202020204" pitchFamily="34" charset="0"/>
                        <a:ea typeface="黑体-简" panose="02000000000000000000" charset="-122"/>
                      </a:endParaRPr>
                    </a:p>
                  </a:txBody>
                  <a:tcPr anchor="ctr" anchorCtr="0">
                    <a:lnL w="12700">
                      <a:solidFill>
                        <a:schemeClr val="accent5">
                          <a:lumMod val="40000"/>
                          <a:lumOff val="60000"/>
                        </a:schemeClr>
                      </a:solidFill>
                      <a:prstDash val="solid"/>
                    </a:lnL>
                    <a:lnR w="12700">
                      <a:solidFill>
                        <a:schemeClr val="accent5">
                          <a:lumMod val="40000"/>
                          <a:lumOff val="60000"/>
                        </a:schemeClr>
                      </a:solidFill>
                      <a:prstDash val="solid"/>
                    </a:lnR>
                    <a:lnT w="12700">
                      <a:solidFill>
                        <a:schemeClr val="accent5">
                          <a:lumMod val="40000"/>
                          <a:lumOff val="60000"/>
                        </a:schemeClr>
                      </a:solidFill>
                      <a:prstDash val="solid"/>
                    </a:lnT>
                    <a:lnB w="12700">
                      <a:solidFill>
                        <a:schemeClr val="accent5">
                          <a:lumMod val="40000"/>
                          <a:lumOff val="60000"/>
                        </a:schemeClr>
                      </a:solidFill>
                      <a:prstDash val="solid"/>
                    </a:lnB>
                    <a:lnTlToBr>
                      <a:noFill/>
                    </a:lnTlToBr>
                    <a:lnBlToTr>
                      <a:noFill/>
                    </a:lnBlToTr>
                    <a:solidFill>
                      <a:schemeClr val="accent5">
                        <a:lumMod val="20000"/>
                        <a:lumOff val="80000"/>
                      </a:schemeClr>
                    </a:solidFill>
                  </a:tcPr>
                </a:tc>
                <a:tc>
                  <a:txBody>
                    <a:bodyPr/>
                    <a:p>
                      <a:pPr algn="ctr">
                        <a:buNone/>
                      </a:pPr>
                      <a:r>
                        <a:rPr lang="en-US" altLang="zh-CN" sz="1000">
                          <a:latin typeface="Arial" panose="020B0604020202020204" pitchFamily="34" charset="0"/>
                          <a:ea typeface="黑体-简" panose="02000000000000000000" charset="-122"/>
                        </a:rPr>
                        <a:t>0515</a:t>
                      </a:r>
                      <a:endParaRPr lang="en-US" altLang="zh-CN" sz="1000">
                        <a:latin typeface="Arial" panose="020B0604020202020204" pitchFamily="34" charset="0"/>
                        <a:ea typeface="黑体-简" panose="02000000000000000000" charset="-122"/>
                      </a:endParaRPr>
                    </a:p>
                  </a:txBody>
                  <a:tcPr anchor="ctr" anchorCtr="0">
                    <a:lnL w="12700">
                      <a:solidFill>
                        <a:schemeClr val="accent5">
                          <a:lumMod val="40000"/>
                          <a:lumOff val="60000"/>
                        </a:schemeClr>
                      </a:solidFill>
                      <a:prstDash val="solid"/>
                    </a:lnL>
                    <a:lnR w="12700">
                      <a:solidFill>
                        <a:schemeClr val="accent5">
                          <a:lumMod val="40000"/>
                          <a:lumOff val="60000"/>
                        </a:schemeClr>
                      </a:solidFill>
                      <a:prstDash val="solid"/>
                    </a:lnR>
                    <a:lnT w="12700">
                      <a:solidFill>
                        <a:schemeClr val="accent5">
                          <a:lumMod val="40000"/>
                          <a:lumOff val="60000"/>
                        </a:schemeClr>
                      </a:solidFill>
                      <a:prstDash val="solid"/>
                    </a:lnT>
                    <a:lnB w="12700">
                      <a:solidFill>
                        <a:schemeClr val="accent5">
                          <a:lumMod val="40000"/>
                          <a:lumOff val="60000"/>
                        </a:schemeClr>
                      </a:solidFill>
                      <a:prstDash val="solid"/>
                    </a:lnB>
                    <a:lnTlToBr>
                      <a:noFill/>
                    </a:lnTlToBr>
                    <a:lnBlToTr>
                      <a:noFill/>
                    </a:lnBlToTr>
                    <a:solidFill>
                      <a:schemeClr val="tx2">
                        <a:lumMod val="20000"/>
                        <a:lumOff val="80000"/>
                      </a:schemeClr>
                    </a:solidFill>
                  </a:tcPr>
                </a:tc>
                <a:tc>
                  <a:txBody>
                    <a:bodyPr/>
                    <a:p>
                      <a:pPr marL="101600" indent="-101600" algn="l">
                        <a:lnSpc>
                          <a:spcPct val="150000"/>
                        </a:lnSpc>
                        <a:buClrTx/>
                        <a:buSzTx/>
                        <a:buFont typeface="+mj-lt"/>
                        <a:buAutoNum type="arabicPeriod"/>
                      </a:pPr>
                      <a:r>
                        <a:rPr lang="en-US" sz="1000" dirty="0">
                          <a:solidFill>
                            <a:srgbClr val="14161A"/>
                          </a:solidFill>
                          <a:latin typeface="Arial" panose="020B0604020202020204" pitchFamily="34" charset="0"/>
                          <a:ea typeface="黑体-简" panose="02000000000000000000" charset="-122"/>
                          <a:cs typeface="微软雅黑" panose="020B0503020204020204" pitchFamily="34" charset="-120"/>
                        </a:rPr>
                        <a:t>对服务资产开展</a:t>
                      </a: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rPr>
                        <a:t>勒索风险排查</a:t>
                      </a:r>
                      <a:r>
                        <a:rPr lang="en-US" sz="1000" dirty="0">
                          <a:solidFill>
                            <a:srgbClr val="14161A"/>
                          </a:solidFill>
                          <a:latin typeface="Arial" panose="020B0604020202020204" pitchFamily="34" charset="0"/>
                          <a:ea typeface="黑体-简" panose="02000000000000000000" charset="-122"/>
                          <a:cs typeface="微软雅黑" panose="020B0503020204020204" pitchFamily="34" charset="-120"/>
                        </a:rPr>
                        <a:t>，分析</a:t>
                      </a: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rPr>
                        <a:t>勒索风险</a:t>
                      </a:r>
                      <a:r>
                        <a:rPr lang="en-US" sz="1000" dirty="0">
                          <a:solidFill>
                            <a:srgbClr val="14161A"/>
                          </a:solidFill>
                          <a:latin typeface="Arial" panose="020B0604020202020204" pitchFamily="34" charset="0"/>
                          <a:ea typeface="黑体-简" panose="02000000000000000000" charset="-122"/>
                          <a:cs typeface="微软雅黑" panose="020B0503020204020204" pitchFamily="34" charset="-120"/>
                        </a:rPr>
                        <a:t>情况</a:t>
                      </a: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rPr>
                        <a:t>推动处置。</a:t>
                      </a:r>
                      <a:endParaRPr lang="en-US" sz="1000" dirty="0">
                        <a:solidFill>
                          <a:srgbClr val="14161A"/>
                        </a:solidFill>
                        <a:latin typeface="Arial" panose="020B0604020202020204" pitchFamily="34" charset="0"/>
                        <a:ea typeface="黑体-简" panose="02000000000000000000" charset="-122"/>
                        <a:cs typeface="微软雅黑" panose="020B0503020204020204" pitchFamily="34" charset="-120"/>
                      </a:endParaRPr>
                    </a:p>
                    <a:p>
                      <a:pPr marL="101600" indent="-101600" algn="l">
                        <a:lnSpc>
                          <a:spcPct val="150000"/>
                        </a:lnSpc>
                        <a:buClrTx/>
                        <a:buSzTx/>
                        <a:buFont typeface="+mj-lt"/>
                        <a:buAutoNum type="arabicPeriod"/>
                      </a:pPr>
                      <a:r>
                        <a:rPr lang="zh-CN" altLang="en-US" sz="1000" dirty="0">
                          <a:solidFill>
                            <a:srgbClr val="FF0000"/>
                          </a:solidFill>
                          <a:latin typeface="Arial" panose="020B0604020202020204" pitchFamily="34" charset="0"/>
                          <a:ea typeface="黑体-简" panose="02000000000000000000" charset="-122"/>
                          <a:cs typeface="微软雅黑" panose="020B0503020204020204" pitchFamily="34" charset="-120"/>
                        </a:rPr>
                        <a:t>完善</a:t>
                      </a:r>
                      <a:r>
                        <a:rPr lang="en-US" sz="1000" dirty="0">
                          <a:solidFill>
                            <a:srgbClr val="FF0000"/>
                          </a:solidFill>
                          <a:latin typeface="Arial" panose="020B0604020202020204" pitchFamily="34" charset="0"/>
                          <a:ea typeface="黑体-简" panose="02000000000000000000" charset="-122"/>
                          <a:cs typeface="微软雅黑" panose="020B0503020204020204" pitchFamily="34" charset="-120"/>
                        </a:rPr>
                        <a:t>漏洞</a:t>
                      </a:r>
                      <a:r>
                        <a:rPr lang="zh-CN" altLang="en-US" sz="1000" dirty="0">
                          <a:solidFill>
                            <a:srgbClr val="FF0000"/>
                          </a:solidFill>
                          <a:latin typeface="Arial" panose="020B0604020202020204" pitchFamily="34" charset="0"/>
                          <a:ea typeface="黑体-简" panose="02000000000000000000" charset="-122"/>
                          <a:cs typeface="微软雅黑" panose="020B0503020204020204" pitchFamily="34" charset="-120"/>
                        </a:rPr>
                        <a:t>修复优先级清单</a:t>
                      </a:r>
                      <a:r>
                        <a:rPr lang="en-US" sz="1000" dirty="0">
                          <a:solidFill>
                            <a:srgbClr val="FF0000"/>
                          </a:solidFill>
                          <a:latin typeface="Arial" panose="020B0604020202020204" pitchFamily="34" charset="0"/>
                          <a:ea typeface="黑体-简" panose="02000000000000000000" charset="-122"/>
                          <a:cs typeface="微软雅黑" panose="020B0503020204020204" pitchFamily="34" charset="-120"/>
                        </a:rPr>
                        <a:t>，制定未闭环漏洞</a:t>
                      </a:r>
                      <a:r>
                        <a:rPr lang="zh-CN" altLang="en-US" sz="1000" dirty="0">
                          <a:solidFill>
                            <a:srgbClr val="FF0000"/>
                          </a:solidFill>
                          <a:latin typeface="Arial" panose="020B0604020202020204" pitchFamily="34" charset="0"/>
                          <a:ea typeface="黑体-简" panose="02000000000000000000" charset="-122"/>
                          <a:cs typeface="微软雅黑" panose="020B0503020204020204" pitchFamily="34" charset="-120"/>
                        </a:rPr>
                        <a:t>的消减建议计划。</a:t>
                      </a:r>
                      <a:endParaRPr lang="en-US" sz="1000" dirty="0">
                        <a:solidFill>
                          <a:srgbClr val="FF0000"/>
                        </a:solidFill>
                        <a:latin typeface="Arial" panose="020B0604020202020204" pitchFamily="34" charset="0"/>
                        <a:ea typeface="黑体-简" panose="02000000000000000000" charset="-122"/>
                        <a:cs typeface="微软雅黑" panose="020B0503020204020204" pitchFamily="34" charset="-120"/>
                      </a:endParaRPr>
                    </a:p>
                    <a:p>
                      <a:pPr marL="101600" indent="-101600" algn="l">
                        <a:lnSpc>
                          <a:spcPct val="150000"/>
                        </a:lnSpc>
                        <a:buClrTx/>
                        <a:buSzTx/>
                        <a:buFont typeface="+mj-lt"/>
                        <a:buAutoNum type="arabicPeriod"/>
                      </a:pPr>
                      <a:r>
                        <a:rPr lang="en-US" sz="1000" dirty="0">
                          <a:solidFill>
                            <a:srgbClr val="14161A"/>
                          </a:solidFill>
                          <a:latin typeface="Arial" panose="020B0604020202020204" pitchFamily="34" charset="0"/>
                          <a:ea typeface="黑体-简" panose="02000000000000000000" charset="-122"/>
                          <a:cs typeface="微软雅黑" panose="020B0503020204020204" pitchFamily="34" charset="-120"/>
                        </a:rPr>
                        <a:t>持续监测弱口令情况，重点关注外网高权限及管理员账号的弱口令进行跟进修复。</a:t>
                      </a:r>
                      <a:endParaRPr lang="en-US" sz="1000" dirty="0">
                        <a:solidFill>
                          <a:srgbClr val="14161A"/>
                        </a:solidFill>
                        <a:latin typeface="Arial" panose="020B0604020202020204" pitchFamily="34" charset="0"/>
                        <a:ea typeface="黑体-简" panose="02000000000000000000" charset="-122"/>
                        <a:cs typeface="微软雅黑" panose="020B0503020204020204" pitchFamily="34" charset="-120"/>
                      </a:endParaRPr>
                    </a:p>
                  </a:txBody>
                  <a:tcPr anchor="ctr" anchorCtr="0">
                    <a:lnL w="12700">
                      <a:solidFill>
                        <a:schemeClr val="accent5">
                          <a:lumMod val="40000"/>
                          <a:lumOff val="60000"/>
                        </a:schemeClr>
                      </a:solidFill>
                      <a:prstDash val="solid"/>
                    </a:lnL>
                    <a:lnR w="12700" cmpd="sng">
                      <a:solidFill>
                        <a:schemeClr val="accent5">
                          <a:lumMod val="40000"/>
                          <a:lumOff val="60000"/>
                        </a:schemeClr>
                      </a:solidFill>
                      <a:prstDash val="solid"/>
                    </a:lnR>
                    <a:lnT w="12700" cmpd="sng">
                      <a:solidFill>
                        <a:schemeClr val="accent5">
                          <a:lumMod val="40000"/>
                          <a:lumOff val="60000"/>
                        </a:schemeClr>
                      </a:solidFill>
                      <a:prstDash val="solid"/>
                    </a:lnT>
                    <a:lnB w="12700" cmpd="sng">
                      <a:solidFill>
                        <a:schemeClr val="accent5">
                          <a:lumMod val="40000"/>
                          <a:lumOff val="60000"/>
                        </a:schemeClr>
                      </a:solidFill>
                      <a:prstDash val="solid"/>
                    </a:lnB>
                    <a:solidFill>
                      <a:schemeClr val="accent3">
                        <a:lumMod val="20000"/>
                        <a:lumOff val="80000"/>
                      </a:schemeClr>
                    </a:solidFill>
                  </a:tcPr>
                </a:tc>
              </a:tr>
              <a:tr h="1294765">
                <a:tc>
                  <a:txBody>
                    <a:bodyPr/>
                    <a:p>
                      <a:pPr algn="ctr">
                        <a:buClrTx/>
                        <a:buSzTx/>
                        <a:buFontTx/>
                        <a:buNone/>
                      </a:pPr>
                      <a:r>
                        <a:rPr lang="zh-CN" altLang="en-US" sz="1000">
                          <a:latin typeface="Arial" panose="020B0604020202020204" pitchFamily="34" charset="0"/>
                          <a:ea typeface="黑体-简" panose="02000000000000000000" charset="-122"/>
                          <a:sym typeface="+mn-ea"/>
                        </a:rPr>
                        <a:t>安全响应能力提升</a:t>
                      </a:r>
                      <a:endParaRPr lang="zh-CN" altLang="en-US" sz="1000">
                        <a:latin typeface="Arial" panose="020B0604020202020204" pitchFamily="34" charset="0"/>
                        <a:ea typeface="黑体-简" panose="02000000000000000000" charset="-122"/>
                        <a:sym typeface="+mn-ea"/>
                      </a:endParaRPr>
                    </a:p>
                  </a:txBody>
                  <a:tcPr anchor="ctr" anchorCtr="0">
                    <a:lnL w="12700">
                      <a:solidFill>
                        <a:schemeClr val="accent5">
                          <a:lumMod val="40000"/>
                          <a:lumOff val="60000"/>
                        </a:schemeClr>
                      </a:solidFill>
                      <a:prstDash val="solid"/>
                    </a:lnL>
                    <a:lnR w="12700">
                      <a:solidFill>
                        <a:schemeClr val="accent5">
                          <a:lumMod val="40000"/>
                          <a:lumOff val="60000"/>
                        </a:schemeClr>
                      </a:solidFill>
                      <a:prstDash val="solid"/>
                    </a:lnR>
                    <a:lnT w="12700">
                      <a:solidFill>
                        <a:schemeClr val="accent5">
                          <a:lumMod val="40000"/>
                          <a:lumOff val="60000"/>
                        </a:schemeClr>
                      </a:solidFill>
                      <a:prstDash val="solid"/>
                    </a:lnT>
                    <a:lnB w="12700">
                      <a:solidFill>
                        <a:schemeClr val="accent5">
                          <a:lumMod val="40000"/>
                          <a:lumOff val="60000"/>
                        </a:schemeClr>
                      </a:solidFill>
                      <a:prstDash val="solid"/>
                    </a:lnB>
                    <a:lnTlToBr>
                      <a:noFill/>
                    </a:lnTlToBr>
                    <a:lnBlToTr>
                      <a:noFill/>
                    </a:lnBlToTr>
                    <a:solidFill>
                      <a:schemeClr val="accent5">
                        <a:lumMod val="20000"/>
                        <a:lumOff val="80000"/>
                      </a:schemeClr>
                    </a:solidFill>
                  </a:tcPr>
                </a:tc>
                <a:tc>
                  <a:txBody>
                    <a:bodyPr/>
                    <a:p>
                      <a:pPr algn="ctr">
                        <a:buNone/>
                      </a:pPr>
                      <a:r>
                        <a:rPr lang="en-US" altLang="zh-CN" sz="1000">
                          <a:latin typeface="Arial" panose="020B0604020202020204" pitchFamily="34" charset="0"/>
                          <a:ea typeface="黑体-简" panose="02000000000000000000" charset="-122"/>
                        </a:rPr>
                        <a:t>0522</a:t>
                      </a:r>
                      <a:endParaRPr lang="en-US" altLang="zh-CN" sz="1000">
                        <a:latin typeface="Arial" panose="020B0604020202020204" pitchFamily="34" charset="0"/>
                        <a:ea typeface="黑体-简" panose="02000000000000000000" charset="-122"/>
                      </a:endParaRPr>
                    </a:p>
                  </a:txBody>
                  <a:tcPr anchor="ctr" anchorCtr="0">
                    <a:lnL w="12700">
                      <a:solidFill>
                        <a:schemeClr val="accent5">
                          <a:lumMod val="40000"/>
                          <a:lumOff val="60000"/>
                        </a:schemeClr>
                      </a:solidFill>
                      <a:prstDash val="solid"/>
                    </a:lnL>
                    <a:lnR w="12700">
                      <a:solidFill>
                        <a:schemeClr val="accent5">
                          <a:lumMod val="40000"/>
                          <a:lumOff val="60000"/>
                        </a:schemeClr>
                      </a:solidFill>
                      <a:prstDash val="solid"/>
                    </a:lnR>
                    <a:lnT w="12700">
                      <a:solidFill>
                        <a:schemeClr val="accent5">
                          <a:lumMod val="40000"/>
                          <a:lumOff val="60000"/>
                        </a:schemeClr>
                      </a:solidFill>
                      <a:prstDash val="solid"/>
                    </a:lnT>
                    <a:lnB w="12700">
                      <a:solidFill>
                        <a:schemeClr val="accent5">
                          <a:lumMod val="40000"/>
                          <a:lumOff val="60000"/>
                        </a:schemeClr>
                      </a:solidFill>
                      <a:prstDash val="solid"/>
                    </a:lnB>
                    <a:lnTlToBr>
                      <a:noFill/>
                    </a:lnTlToBr>
                    <a:lnBlToTr>
                      <a:noFill/>
                    </a:lnBlToTr>
                    <a:solidFill>
                      <a:schemeClr val="tx2">
                        <a:lumMod val="20000"/>
                        <a:lumOff val="80000"/>
                      </a:schemeClr>
                    </a:solidFill>
                  </a:tcPr>
                </a:tc>
                <a:tc>
                  <a:txBody>
                    <a:bodyPr/>
                    <a:p>
                      <a:pPr marL="0" indent="0" algn="l" defTabSz="914400">
                        <a:lnSpc>
                          <a:spcPct val="150000"/>
                        </a:lnSpc>
                        <a:spcBef>
                          <a:spcPct val="0"/>
                        </a:spcBef>
                        <a:spcAft>
                          <a:spcPct val="0"/>
                        </a:spcAft>
                        <a:buNone/>
                      </a:pPr>
                      <a:r>
                        <a:rPr lang="en-US" altLang="zh-CN" sz="1000" dirty="0">
                          <a:solidFill>
                            <a:srgbClr val="FF0000"/>
                          </a:solidFill>
                          <a:latin typeface="Arial" panose="020B0604020202020204" pitchFamily="34" charset="0"/>
                          <a:ea typeface="黑体-简" panose="02000000000000000000" charset="-122"/>
                          <a:cs typeface="微软雅黑" panose="020B0503020204020204" pitchFamily="34" charset="-120"/>
                          <a:sym typeface="+mn-ea"/>
                        </a:rPr>
                        <a:t>1.</a:t>
                      </a:r>
                      <a:r>
                        <a:rPr lang="zh-CN" altLang="en-US" sz="1000" dirty="0">
                          <a:solidFill>
                            <a:srgbClr val="FF0000"/>
                          </a:solidFill>
                          <a:latin typeface="Arial" panose="020B0604020202020204" pitchFamily="34" charset="0"/>
                          <a:ea typeface="黑体-简" panose="02000000000000000000" charset="-122"/>
                          <a:cs typeface="微软雅黑" panose="020B0503020204020204" pitchFamily="34" charset="-120"/>
                          <a:sym typeface="+mn-ea"/>
                        </a:rPr>
                        <a:t>提供当前服务器主机</a:t>
                      </a:r>
                      <a:r>
                        <a:rPr lang="en-US" altLang="zh-CN" sz="1000" dirty="0">
                          <a:solidFill>
                            <a:srgbClr val="FF0000"/>
                          </a:solidFill>
                          <a:latin typeface="Arial" panose="020B0604020202020204" pitchFamily="34" charset="0"/>
                          <a:ea typeface="黑体-简" panose="02000000000000000000" charset="-122"/>
                          <a:cs typeface="微软雅黑" panose="020B0503020204020204" pitchFamily="34" charset="-120"/>
                          <a:sym typeface="+mn-ea"/>
                        </a:rPr>
                        <a:t>EDR</a:t>
                      </a:r>
                      <a:r>
                        <a:rPr lang="zh-CN" altLang="en-US" sz="1000" dirty="0">
                          <a:solidFill>
                            <a:srgbClr val="FF0000"/>
                          </a:solidFill>
                          <a:latin typeface="Arial" panose="020B0604020202020204" pitchFamily="34" charset="0"/>
                          <a:ea typeface="黑体-简" panose="02000000000000000000" charset="-122"/>
                          <a:cs typeface="微软雅黑" panose="020B0503020204020204" pitchFamily="34" charset="-120"/>
                          <a:sym typeface="+mn-ea"/>
                        </a:rPr>
                        <a:t>覆盖的主机及检测到同网段未覆盖的主机清单；</a:t>
                      </a:r>
                      <a:endParaRPr lang="zh-CN" altLang="en-US" sz="1000" dirty="0">
                        <a:solidFill>
                          <a:srgbClr val="FF0000"/>
                        </a:solidFill>
                        <a:latin typeface="Arial" panose="020B0604020202020204" pitchFamily="34" charset="0"/>
                        <a:ea typeface="黑体-简" panose="02000000000000000000" charset="-122"/>
                        <a:cs typeface="微软雅黑" panose="020B0503020204020204" pitchFamily="34" charset="-120"/>
                        <a:sym typeface="+mn-ea"/>
                      </a:endParaRPr>
                    </a:p>
                    <a:p>
                      <a:pPr marL="0" indent="0" algn="l" defTabSz="914400">
                        <a:lnSpc>
                          <a:spcPct val="150000"/>
                        </a:lnSpc>
                        <a:spcBef>
                          <a:spcPct val="0"/>
                        </a:spcBef>
                        <a:spcAft>
                          <a:spcPct val="0"/>
                        </a:spcAft>
                        <a:buNone/>
                      </a:pPr>
                      <a:r>
                        <a:rPr lang="en-US" altLang="zh-CN" sz="100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2</a:t>
                      </a: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、协助推动服务器</a:t>
                      </a:r>
                      <a:r>
                        <a:rPr lang="en-US" altLang="zh-CN" sz="100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EDR</a:t>
                      </a: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覆盖，提升主机安全问题响应处置效率。</a:t>
                      </a:r>
                      <a:endPar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sym typeface="+mn-ea"/>
                      </a:endParaRPr>
                    </a:p>
                    <a:p>
                      <a:pPr marL="0" algn="l" defTabSz="914400">
                        <a:lnSpc>
                          <a:spcPct val="150000"/>
                        </a:lnSpc>
                        <a:buClrTx/>
                        <a:buSzTx/>
                        <a:buFontTx/>
                        <a:buNone/>
                      </a:pP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rPr>
                        <a:t>3、开展安全组件策略巡检及跟进调优。</a:t>
                      </a:r>
                      <a:endPar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endParaRPr>
                    </a:p>
                  </a:txBody>
                  <a:tcPr anchor="ctr" anchorCtr="0">
                    <a:lnL w="12700">
                      <a:solidFill>
                        <a:schemeClr val="accent5">
                          <a:lumMod val="40000"/>
                          <a:lumOff val="60000"/>
                        </a:schemeClr>
                      </a:solidFill>
                      <a:prstDash val="solid"/>
                    </a:lnL>
                    <a:lnR w="12700" cmpd="sng">
                      <a:solidFill>
                        <a:schemeClr val="accent5">
                          <a:lumMod val="40000"/>
                          <a:lumOff val="60000"/>
                        </a:schemeClr>
                      </a:solidFill>
                      <a:prstDash val="solid"/>
                    </a:lnR>
                    <a:lnT w="12700" cmpd="sng">
                      <a:solidFill>
                        <a:schemeClr val="accent5">
                          <a:lumMod val="40000"/>
                          <a:lumOff val="60000"/>
                        </a:schemeClr>
                      </a:solidFill>
                      <a:prstDash val="solid"/>
                    </a:lnT>
                    <a:lnB w="12700" cmpd="sng">
                      <a:solidFill>
                        <a:schemeClr val="accent5">
                          <a:lumMod val="40000"/>
                          <a:lumOff val="60000"/>
                        </a:schemeClr>
                      </a:solidFill>
                      <a:prstDash val="solid"/>
                    </a:lnB>
                    <a:solidFill>
                      <a:schemeClr val="accent3">
                        <a:lumMod val="20000"/>
                        <a:lumOff val="80000"/>
                      </a:schemeClr>
                    </a:solidFill>
                  </a:tcPr>
                </a:tc>
              </a:tr>
              <a:tr h="973455">
                <a:tc>
                  <a:txBody>
                    <a:bodyPr/>
                    <a:p>
                      <a:pPr algn="ctr">
                        <a:buNone/>
                      </a:pPr>
                      <a:r>
                        <a:rPr lang="zh-CN" altLang="en-US" sz="1000">
                          <a:latin typeface="Arial" panose="020B0604020202020204" pitchFamily="34" charset="0"/>
                          <a:ea typeface="黑体-简" panose="02000000000000000000" charset="-122"/>
                        </a:rPr>
                        <a:t>安全运营机验证对齐</a:t>
                      </a:r>
                      <a:endParaRPr lang="zh-CN" altLang="en-US" sz="1000">
                        <a:latin typeface="Arial" panose="020B0604020202020204" pitchFamily="34" charset="0"/>
                        <a:ea typeface="黑体-简" panose="02000000000000000000" charset="-122"/>
                      </a:endParaRPr>
                    </a:p>
                  </a:txBody>
                  <a:tcPr anchor="ctr" anchorCtr="0">
                    <a:lnL w="12700">
                      <a:solidFill>
                        <a:schemeClr val="accent5">
                          <a:lumMod val="40000"/>
                          <a:lumOff val="60000"/>
                        </a:schemeClr>
                      </a:solidFill>
                      <a:prstDash val="solid"/>
                    </a:lnL>
                    <a:lnR w="12700">
                      <a:solidFill>
                        <a:schemeClr val="accent5">
                          <a:lumMod val="40000"/>
                          <a:lumOff val="60000"/>
                        </a:schemeClr>
                      </a:solidFill>
                      <a:prstDash val="solid"/>
                    </a:lnR>
                    <a:lnT w="12700">
                      <a:solidFill>
                        <a:schemeClr val="accent5">
                          <a:lumMod val="40000"/>
                          <a:lumOff val="60000"/>
                        </a:schemeClr>
                      </a:solidFill>
                      <a:prstDash val="solid"/>
                    </a:lnT>
                    <a:lnB w="12700">
                      <a:solidFill>
                        <a:schemeClr val="accent5">
                          <a:lumMod val="40000"/>
                          <a:lumOff val="60000"/>
                        </a:schemeClr>
                      </a:solidFill>
                      <a:prstDash val="solid"/>
                    </a:lnB>
                    <a:lnTlToBr>
                      <a:noFill/>
                    </a:lnTlToBr>
                    <a:lnBlToTr>
                      <a:noFill/>
                    </a:lnBlToTr>
                    <a:solidFill>
                      <a:schemeClr val="accent5">
                        <a:lumMod val="20000"/>
                        <a:lumOff val="80000"/>
                      </a:schemeClr>
                    </a:solidFill>
                  </a:tcPr>
                </a:tc>
                <a:tc>
                  <a:txBody>
                    <a:bodyPr/>
                    <a:p>
                      <a:pPr algn="ctr">
                        <a:buNone/>
                      </a:pPr>
                      <a:r>
                        <a:rPr lang="en-US" altLang="zh-CN" sz="1000">
                          <a:latin typeface="Arial" panose="020B0604020202020204" pitchFamily="34" charset="0"/>
                          <a:ea typeface="黑体-简" panose="02000000000000000000" charset="-122"/>
                        </a:rPr>
                        <a:t>530</a:t>
                      </a:r>
                      <a:endParaRPr lang="en-US" altLang="zh-CN" sz="1000">
                        <a:latin typeface="Arial" panose="020B0604020202020204" pitchFamily="34" charset="0"/>
                        <a:ea typeface="黑体-简" panose="02000000000000000000" charset="-122"/>
                      </a:endParaRPr>
                    </a:p>
                  </a:txBody>
                  <a:tcPr anchor="ctr" anchorCtr="0">
                    <a:lnL w="12700">
                      <a:solidFill>
                        <a:schemeClr val="accent5">
                          <a:lumMod val="40000"/>
                          <a:lumOff val="60000"/>
                        </a:schemeClr>
                      </a:solidFill>
                      <a:prstDash val="solid"/>
                    </a:lnL>
                    <a:lnR w="12700">
                      <a:solidFill>
                        <a:schemeClr val="accent5">
                          <a:lumMod val="40000"/>
                          <a:lumOff val="60000"/>
                        </a:schemeClr>
                      </a:solidFill>
                      <a:prstDash val="solid"/>
                    </a:lnR>
                    <a:lnT w="12700">
                      <a:solidFill>
                        <a:schemeClr val="accent5">
                          <a:lumMod val="40000"/>
                          <a:lumOff val="60000"/>
                        </a:schemeClr>
                      </a:solidFill>
                      <a:prstDash val="solid"/>
                    </a:lnT>
                    <a:lnB w="12700">
                      <a:solidFill>
                        <a:schemeClr val="accent5">
                          <a:lumMod val="40000"/>
                          <a:lumOff val="60000"/>
                        </a:schemeClr>
                      </a:solidFill>
                      <a:prstDash val="solid"/>
                    </a:lnB>
                    <a:lnTlToBr>
                      <a:noFill/>
                    </a:lnTlToBr>
                    <a:lnBlToTr>
                      <a:noFill/>
                    </a:lnBlToTr>
                    <a:solidFill>
                      <a:schemeClr val="tx2">
                        <a:lumMod val="20000"/>
                        <a:lumOff val="80000"/>
                      </a:schemeClr>
                    </a:solidFill>
                  </a:tcPr>
                </a:tc>
                <a:tc>
                  <a:txBody>
                    <a:bodyPr/>
                    <a:p>
                      <a:pPr algn="l">
                        <a:lnSpc>
                          <a:spcPct val="150000"/>
                        </a:lnSpc>
                        <a:buClrTx/>
                        <a:buSzTx/>
                        <a:buFontTx/>
                        <a:buNone/>
                      </a:pP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rPr>
                        <a:t>基于前期的协同优化项试点跑通情况进行复盘总结，对齐下一步运营迭代计划。</a:t>
                      </a:r>
                      <a:endPar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endParaRPr>
                    </a:p>
                  </a:txBody>
                  <a:tcPr anchor="ctr" anchorCtr="0">
                    <a:lnL w="12700">
                      <a:solidFill>
                        <a:schemeClr val="accent5">
                          <a:lumMod val="40000"/>
                          <a:lumOff val="60000"/>
                        </a:schemeClr>
                      </a:solidFill>
                      <a:prstDash val="solid"/>
                    </a:lnL>
                    <a:lnR w="12700" cmpd="sng">
                      <a:solidFill>
                        <a:schemeClr val="accent5">
                          <a:lumMod val="40000"/>
                          <a:lumOff val="60000"/>
                        </a:schemeClr>
                      </a:solidFill>
                      <a:prstDash val="solid"/>
                    </a:lnR>
                    <a:lnT w="12700" cmpd="sng">
                      <a:solidFill>
                        <a:schemeClr val="accent5">
                          <a:lumMod val="40000"/>
                          <a:lumOff val="60000"/>
                        </a:schemeClr>
                      </a:solidFill>
                      <a:prstDash val="solid"/>
                    </a:lnT>
                    <a:lnB w="12700" cmpd="sng">
                      <a:solidFill>
                        <a:schemeClr val="accent5">
                          <a:lumMod val="40000"/>
                          <a:lumOff val="60000"/>
                        </a:schemeClr>
                      </a:solidFill>
                      <a:prstDash val="solid"/>
                    </a:lnB>
                    <a:solidFill>
                      <a:schemeClr val="accent3">
                        <a:lumMod val="20000"/>
                        <a:lumOff val="80000"/>
                      </a:schemeClr>
                    </a:solidFill>
                  </a:tcPr>
                </a:tc>
              </a:tr>
            </a:tbl>
          </a:graphicData>
        </a:graphic>
      </p:graphicFrame>
      <p:graphicFrame>
        <p:nvGraphicFramePr>
          <p:cNvPr id="22" name="表格 21"/>
          <p:cNvGraphicFramePr/>
          <p:nvPr>
            <p:custDataLst>
              <p:tags r:id="rId4"/>
            </p:custDataLst>
          </p:nvPr>
        </p:nvGraphicFramePr>
        <p:xfrm>
          <a:off x="6820535" y="1249045"/>
          <a:ext cx="4748530" cy="4218305"/>
        </p:xfrm>
        <a:graphic>
          <a:graphicData uri="http://schemas.openxmlformats.org/drawingml/2006/table">
            <a:tbl>
              <a:tblPr firstRow="1" lastCol="1" bandCol="1">
                <a:tableStyleId>{0126E9F6-41A6-44B7-8387-491034A24550}</a:tableStyleId>
              </a:tblPr>
              <a:tblGrid>
                <a:gridCol w="1614805"/>
                <a:gridCol w="904240"/>
                <a:gridCol w="2229485"/>
              </a:tblGrid>
              <a:tr h="346710">
                <a:tc>
                  <a:txBody>
                    <a:bodyPr/>
                    <a:p>
                      <a:pPr algn="ctr">
                        <a:buNone/>
                      </a:pPr>
                      <a:r>
                        <a:rPr lang="zh-CN" altLang="en-US" sz="1000">
                          <a:latin typeface="Arial" panose="020B0604020202020204" pitchFamily="34" charset="0"/>
                          <a:ea typeface="黑体-简" panose="02000000000000000000" charset="-122"/>
                        </a:rPr>
                        <a:t>事项</a:t>
                      </a:r>
                      <a:endParaRPr lang="zh-CN" altLang="en-US" sz="1000">
                        <a:latin typeface="Arial" panose="020B0604020202020204" pitchFamily="34" charset="0"/>
                        <a:ea typeface="黑体-简" panose="02000000000000000000" charset="-122"/>
                      </a:endParaRPr>
                    </a:p>
                  </a:txBody>
                  <a:tcPr anchor="ctr" anchorCtr="0">
                    <a:lnL w="12700" cmpd="sng">
                      <a:solidFill>
                        <a:schemeClr val="accent6">
                          <a:lumMod val="60000"/>
                          <a:lumOff val="40000"/>
                        </a:schemeClr>
                      </a:solidFill>
                      <a:prstDash val="solid"/>
                    </a:lnL>
                    <a:lnR w="12700" cmpd="sng">
                      <a:solidFill>
                        <a:schemeClr val="accent6">
                          <a:lumMod val="60000"/>
                          <a:lumOff val="40000"/>
                        </a:schemeClr>
                      </a:solidFill>
                      <a:prstDash val="solid"/>
                    </a:lnR>
                    <a:lnT w="12700" cmpd="sng">
                      <a:solidFill>
                        <a:schemeClr val="accent6">
                          <a:lumMod val="60000"/>
                          <a:lumOff val="40000"/>
                        </a:schemeClr>
                      </a:solidFill>
                      <a:prstDash val="solid"/>
                    </a:lnT>
                    <a:lnB w="12700">
                      <a:solidFill>
                        <a:schemeClr val="accent6">
                          <a:lumMod val="60000"/>
                          <a:lumOff val="40000"/>
                        </a:schemeClr>
                      </a:solidFill>
                      <a:prstDash val="solid"/>
                    </a:lnB>
                    <a:gradFill>
                      <a:gsLst>
                        <a:gs pos="50000">
                          <a:schemeClr val="accent6"/>
                        </a:gs>
                        <a:gs pos="0">
                          <a:schemeClr val="accent6">
                            <a:lumMod val="25000"/>
                            <a:lumOff val="75000"/>
                          </a:schemeClr>
                        </a:gs>
                        <a:gs pos="100000">
                          <a:schemeClr val="accent6">
                            <a:lumMod val="85000"/>
                          </a:schemeClr>
                        </a:gs>
                      </a:gsLst>
                      <a:lin ang="5400000" scaled="1"/>
                    </a:gradFill>
                  </a:tcPr>
                </a:tc>
                <a:tc>
                  <a:txBody>
                    <a:bodyPr/>
                    <a:p>
                      <a:pPr algn="ctr">
                        <a:buNone/>
                      </a:pPr>
                      <a:r>
                        <a:rPr lang="zh-CN" altLang="en-US" sz="1000">
                          <a:latin typeface="Arial" panose="020B0604020202020204" pitchFamily="34" charset="0"/>
                          <a:ea typeface="黑体-简" panose="02000000000000000000" charset="-122"/>
                        </a:rPr>
                        <a:t>计划时间</a:t>
                      </a:r>
                      <a:endParaRPr lang="zh-CN" altLang="en-US" sz="1000">
                        <a:latin typeface="Arial" panose="020B0604020202020204" pitchFamily="34" charset="0"/>
                        <a:ea typeface="黑体-简" panose="02000000000000000000" charset="-122"/>
                      </a:endParaRPr>
                    </a:p>
                  </a:txBody>
                  <a:tcPr anchor="ctr" anchorCtr="0">
                    <a:lnL w="12700" cmpd="sng">
                      <a:solidFill>
                        <a:schemeClr val="accent6">
                          <a:lumMod val="60000"/>
                          <a:lumOff val="40000"/>
                        </a:schemeClr>
                      </a:solidFill>
                      <a:prstDash val="solid"/>
                    </a:lnL>
                    <a:lnR w="12700" cmpd="sng">
                      <a:solidFill>
                        <a:schemeClr val="accent6">
                          <a:lumMod val="60000"/>
                          <a:lumOff val="40000"/>
                        </a:schemeClr>
                      </a:solidFill>
                      <a:prstDash val="solid"/>
                    </a:lnR>
                    <a:lnT w="12700" cmpd="sng">
                      <a:solidFill>
                        <a:schemeClr val="accent6">
                          <a:lumMod val="60000"/>
                          <a:lumOff val="40000"/>
                        </a:schemeClr>
                      </a:solidFill>
                      <a:prstDash val="solid"/>
                    </a:lnT>
                    <a:lnB w="12700">
                      <a:solidFill>
                        <a:schemeClr val="accent6">
                          <a:lumMod val="60000"/>
                          <a:lumOff val="40000"/>
                        </a:schemeClr>
                      </a:solidFill>
                      <a:prstDash val="solid"/>
                    </a:lnB>
                    <a:gradFill>
                      <a:gsLst>
                        <a:gs pos="50000">
                          <a:schemeClr val="accent6"/>
                        </a:gs>
                        <a:gs pos="0">
                          <a:schemeClr val="accent6">
                            <a:lumMod val="25000"/>
                            <a:lumOff val="75000"/>
                          </a:schemeClr>
                        </a:gs>
                        <a:gs pos="100000">
                          <a:schemeClr val="accent6">
                            <a:lumMod val="85000"/>
                          </a:schemeClr>
                        </a:gs>
                      </a:gsLst>
                      <a:lin ang="5400000" scaled="1"/>
                    </a:gradFill>
                  </a:tcPr>
                </a:tc>
                <a:tc>
                  <a:txBody>
                    <a:bodyPr/>
                    <a:p>
                      <a:pPr algn="ctr">
                        <a:buNone/>
                      </a:pPr>
                      <a:r>
                        <a:rPr lang="zh-CN" altLang="en-US" sz="1000">
                          <a:solidFill>
                            <a:srgbClr val="FFFF00"/>
                          </a:solidFill>
                          <a:latin typeface="Arial" panose="020B0604020202020204" pitchFamily="34" charset="0"/>
                          <a:ea typeface="黑体-简" panose="02000000000000000000" charset="-122"/>
                        </a:rPr>
                        <a:t>下一次沟通计划</a:t>
                      </a:r>
                      <a:endParaRPr lang="zh-CN" altLang="en-US" sz="1000">
                        <a:solidFill>
                          <a:srgbClr val="FFFF00"/>
                        </a:solidFill>
                        <a:latin typeface="Arial" panose="020B0604020202020204" pitchFamily="34" charset="0"/>
                        <a:ea typeface="黑体-简" panose="02000000000000000000" charset="-122"/>
                      </a:endParaRPr>
                    </a:p>
                  </a:txBody>
                  <a:tcPr anchor="ctr" anchorCtr="0">
                    <a:lnL w="12700" cmpd="sng">
                      <a:solidFill>
                        <a:schemeClr val="accent6">
                          <a:lumMod val="60000"/>
                          <a:lumOff val="40000"/>
                        </a:schemeClr>
                      </a:solidFill>
                      <a:prstDash val="solid"/>
                    </a:lnL>
                    <a:lnR w="12700" cmpd="sng">
                      <a:solidFill>
                        <a:schemeClr val="accent6">
                          <a:lumMod val="60000"/>
                          <a:lumOff val="40000"/>
                        </a:schemeClr>
                      </a:solidFill>
                      <a:prstDash val="solid"/>
                    </a:lnR>
                    <a:lnT w="12700" cmpd="sng">
                      <a:solidFill>
                        <a:schemeClr val="accent6">
                          <a:lumMod val="60000"/>
                          <a:lumOff val="40000"/>
                        </a:schemeClr>
                      </a:solidFill>
                      <a:prstDash val="solid"/>
                    </a:lnT>
                    <a:lnB w="12700" cmpd="sng">
                      <a:solidFill>
                        <a:schemeClr val="accent6">
                          <a:lumMod val="60000"/>
                          <a:lumOff val="40000"/>
                        </a:schemeClr>
                      </a:solidFill>
                      <a:prstDash val="solid"/>
                    </a:lnB>
                    <a:gradFill>
                      <a:gsLst>
                        <a:gs pos="50000">
                          <a:schemeClr val="accent6"/>
                        </a:gs>
                        <a:gs pos="0">
                          <a:schemeClr val="accent6">
                            <a:lumMod val="25000"/>
                            <a:lumOff val="75000"/>
                          </a:schemeClr>
                        </a:gs>
                        <a:gs pos="100000">
                          <a:schemeClr val="accent6">
                            <a:lumMod val="85000"/>
                          </a:schemeClr>
                        </a:gs>
                      </a:gsLst>
                      <a:lin ang="5400000" scaled="1"/>
                    </a:gradFill>
                  </a:tcPr>
                </a:tc>
              </a:tr>
              <a:tr h="961390">
                <a:tc>
                  <a:txBody>
                    <a:bodyPr/>
                    <a:p>
                      <a:pPr algn="ctr">
                        <a:buNone/>
                      </a:pPr>
                      <a:r>
                        <a:rPr lang="zh-CN" altLang="en-US" sz="1000">
                          <a:latin typeface="Arial" panose="020B0604020202020204" pitchFamily="34" charset="0"/>
                          <a:ea typeface="黑体-简" panose="02000000000000000000" charset="-122"/>
                        </a:rPr>
                        <a:t>确认最新的所有互联网出口</a:t>
                      </a:r>
                      <a:r>
                        <a:rPr lang="en-US" altLang="zh-CN" sz="1000">
                          <a:latin typeface="Arial" panose="020B0604020202020204" pitchFamily="34" charset="0"/>
                          <a:ea typeface="黑体-简" panose="02000000000000000000" charset="-122"/>
                        </a:rPr>
                        <a:t>IP</a:t>
                      </a:r>
                      <a:r>
                        <a:rPr lang="zh-CN" altLang="en-US" sz="1000">
                          <a:latin typeface="Arial" panose="020B0604020202020204" pitchFamily="34" charset="0"/>
                          <a:ea typeface="黑体-简" panose="02000000000000000000" charset="-122"/>
                        </a:rPr>
                        <a:t>和根域名</a:t>
                      </a:r>
                      <a:endParaRPr lang="zh-CN" altLang="en-US" sz="1000">
                        <a:latin typeface="Arial" panose="020B0604020202020204" pitchFamily="34" charset="0"/>
                        <a:ea typeface="黑体-简" panose="02000000000000000000" charset="-122"/>
                      </a:endParaRPr>
                    </a:p>
                  </a:txBody>
                  <a:tcPr anchor="ctr" anchorCtr="0">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lnTlToBr>
                      <a:noFill/>
                    </a:lnTlToBr>
                    <a:lnBlToTr>
                      <a:noFill/>
                    </a:lnBlToTr>
                    <a:solidFill>
                      <a:schemeClr val="accent6">
                        <a:lumMod val="40000"/>
                        <a:lumOff val="60000"/>
                      </a:schemeClr>
                    </a:solidFill>
                  </a:tcPr>
                </a:tc>
                <a:tc>
                  <a:txBody>
                    <a:bodyPr/>
                    <a:p>
                      <a:pPr algn="ctr">
                        <a:buNone/>
                      </a:pPr>
                      <a:r>
                        <a:rPr lang="en-US" altLang="zh-CN" sz="1000">
                          <a:latin typeface="Arial" panose="020B0604020202020204" pitchFamily="34" charset="0"/>
                          <a:ea typeface="黑体-简" panose="02000000000000000000" charset="-122"/>
                        </a:rPr>
                        <a:t>0428</a:t>
                      </a:r>
                      <a:endParaRPr lang="en-US" altLang="zh-CN" sz="1000">
                        <a:latin typeface="Arial" panose="020B0604020202020204" pitchFamily="34" charset="0"/>
                        <a:ea typeface="黑体-简" panose="02000000000000000000" charset="-122"/>
                      </a:endParaRPr>
                    </a:p>
                  </a:txBody>
                  <a:tcPr anchor="ctr" anchorCtr="0">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lnTlToBr>
                      <a:noFill/>
                    </a:lnTlToBr>
                    <a:lnBlToTr>
                      <a:noFill/>
                    </a:lnBlToTr>
                    <a:solidFill>
                      <a:schemeClr val="accent6">
                        <a:lumMod val="20000"/>
                        <a:lumOff val="80000"/>
                      </a:schemeClr>
                    </a:solidFill>
                  </a:tcPr>
                </a:tc>
                <a:tc>
                  <a:txBody>
                    <a:bodyPr/>
                    <a:p>
                      <a:pPr algn="ctr">
                        <a:buNone/>
                      </a:pPr>
                      <a:r>
                        <a:rPr lang="zh-CN" altLang="en-US" sz="1000" b="0">
                          <a:solidFill>
                            <a:srgbClr val="000000"/>
                          </a:solidFill>
                          <a:latin typeface="Arial" panose="020B0604020202020204" pitchFamily="34" charset="0"/>
                          <a:ea typeface="黑体-简" panose="02000000000000000000" charset="-122"/>
                        </a:rPr>
                        <a:t>0</a:t>
                      </a:r>
                      <a:r>
                        <a:rPr lang="en-US" altLang="zh-CN" sz="1000" b="0">
                          <a:solidFill>
                            <a:srgbClr val="000000"/>
                          </a:solidFill>
                          <a:latin typeface="Arial" panose="020B0604020202020204" pitchFamily="34" charset="0"/>
                          <a:ea typeface="黑体-简" panose="02000000000000000000" charset="-122"/>
                        </a:rPr>
                        <a:t>508</a:t>
                      </a:r>
                      <a:r>
                        <a:rPr lang="zh-CN" altLang="en-US" sz="1000" b="0">
                          <a:solidFill>
                            <a:srgbClr val="000000"/>
                          </a:solidFill>
                          <a:latin typeface="Arial" panose="020B0604020202020204" pitchFamily="34" charset="0"/>
                          <a:ea typeface="黑体-简" panose="02000000000000000000" charset="-122"/>
                        </a:rPr>
                        <a:t>：对暴露面梳理结果进行沟通对齐</a:t>
                      </a:r>
                      <a:endParaRPr lang="zh-CN" altLang="en-US" sz="1000">
                        <a:latin typeface="Arial" panose="020B0604020202020204" pitchFamily="34" charset="0"/>
                        <a:ea typeface="黑体-简" panose="02000000000000000000" charset="-122"/>
                      </a:endParaRPr>
                    </a:p>
                  </a:txBody>
                  <a:tcPr anchor="ctr" anchorCtr="0">
                    <a:lnL w="12700">
                      <a:solidFill>
                        <a:schemeClr val="accent6">
                          <a:lumMod val="60000"/>
                          <a:lumOff val="40000"/>
                        </a:schemeClr>
                      </a:solidFill>
                      <a:prstDash val="solid"/>
                    </a:lnL>
                    <a:lnR w="12700" cmpd="sng">
                      <a:solidFill>
                        <a:schemeClr val="accent6">
                          <a:lumMod val="60000"/>
                          <a:lumOff val="40000"/>
                        </a:schemeClr>
                      </a:solidFill>
                      <a:prstDash val="solid"/>
                    </a:lnR>
                    <a:lnT w="12700" cmpd="sng">
                      <a:solidFill>
                        <a:schemeClr val="accent6">
                          <a:lumMod val="60000"/>
                          <a:lumOff val="40000"/>
                        </a:schemeClr>
                      </a:solidFill>
                      <a:prstDash val="solid"/>
                    </a:lnT>
                    <a:lnB w="12700" cmpd="sng">
                      <a:solidFill>
                        <a:schemeClr val="accent6">
                          <a:lumMod val="60000"/>
                          <a:lumOff val="40000"/>
                        </a:schemeClr>
                      </a:solidFill>
                      <a:prstDash val="solid"/>
                    </a:lnB>
                    <a:solidFill>
                      <a:schemeClr val="accent3">
                        <a:lumMod val="20000"/>
                        <a:lumOff val="80000"/>
                      </a:schemeClr>
                    </a:solidFill>
                  </a:tcPr>
                </a:tc>
              </a:tr>
              <a:tr h="918210">
                <a:tc>
                  <a:txBody>
                    <a:bodyPr/>
                    <a:p>
                      <a:pPr algn="ctr">
                        <a:buNone/>
                      </a:pPr>
                      <a:r>
                        <a:rPr lang="en-US" altLang="zh-CN" sz="1000">
                          <a:latin typeface="Arial" panose="020B0604020202020204" pitchFamily="34" charset="0"/>
                          <a:ea typeface="黑体-简" panose="02000000000000000000" charset="-122"/>
                        </a:rPr>
                        <a:t>1</a:t>
                      </a:r>
                      <a:r>
                        <a:rPr lang="zh-CN" altLang="en-US" sz="1000">
                          <a:latin typeface="Arial" panose="020B0604020202020204" pitchFamily="34" charset="0"/>
                          <a:ea typeface="黑体-简" panose="02000000000000000000" charset="-122"/>
                        </a:rPr>
                        <a:t>、配合反馈脆弱性修复情况进展</a:t>
                      </a:r>
                      <a:endParaRPr lang="zh-CN" altLang="en-US" sz="1000">
                        <a:latin typeface="Arial" panose="020B0604020202020204" pitchFamily="34" charset="0"/>
                        <a:ea typeface="黑体-简" panose="02000000000000000000" charset="-122"/>
                      </a:endParaRPr>
                    </a:p>
                    <a:p>
                      <a:pPr algn="ctr">
                        <a:buNone/>
                      </a:pPr>
                      <a:endParaRPr lang="zh-CN" altLang="en-US" sz="1000">
                        <a:latin typeface="Arial" panose="020B0604020202020204" pitchFamily="34" charset="0"/>
                        <a:ea typeface="黑体-简" panose="02000000000000000000" charset="-122"/>
                      </a:endParaRPr>
                    </a:p>
                    <a:p>
                      <a:pPr algn="ctr">
                        <a:buNone/>
                      </a:pPr>
                      <a:r>
                        <a:rPr lang="en-US" altLang="zh-CN" sz="1000">
                          <a:latin typeface="Arial" panose="020B0604020202020204" pitchFamily="34" charset="0"/>
                          <a:ea typeface="黑体-简" panose="02000000000000000000" charset="-122"/>
                        </a:rPr>
                        <a:t>2</a:t>
                      </a:r>
                      <a:r>
                        <a:rPr lang="zh-CN" altLang="en-US" sz="1000">
                          <a:latin typeface="Arial" panose="020B0604020202020204" pitchFamily="34" charset="0"/>
                          <a:ea typeface="黑体-简" panose="02000000000000000000" charset="-122"/>
                        </a:rPr>
                        <a:t>、对齐修复落地计划</a:t>
                      </a:r>
                      <a:endParaRPr lang="zh-CN" altLang="en-US" sz="1000">
                        <a:latin typeface="Arial" panose="020B0604020202020204" pitchFamily="34" charset="0"/>
                        <a:ea typeface="黑体-简" panose="02000000000000000000" charset="-122"/>
                      </a:endParaRPr>
                    </a:p>
                  </a:txBody>
                  <a:tcPr anchor="ctr" anchorCtr="0">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lnTlToBr>
                      <a:noFill/>
                    </a:lnTlToBr>
                    <a:lnBlToTr>
                      <a:noFill/>
                    </a:lnBlToTr>
                    <a:solidFill>
                      <a:schemeClr val="accent6">
                        <a:lumMod val="40000"/>
                        <a:lumOff val="60000"/>
                      </a:schemeClr>
                    </a:solidFill>
                  </a:tcPr>
                </a:tc>
                <a:tc>
                  <a:txBody>
                    <a:bodyPr/>
                    <a:p>
                      <a:pPr algn="ctr">
                        <a:buNone/>
                      </a:pPr>
                      <a:r>
                        <a:rPr lang="zh-CN" altLang="en-US" sz="1000">
                          <a:latin typeface="Arial" panose="020B0604020202020204" pitchFamily="34" charset="0"/>
                          <a:ea typeface="黑体-简" panose="02000000000000000000" charset="-122"/>
                        </a:rPr>
                        <a:t>0</a:t>
                      </a:r>
                      <a:r>
                        <a:rPr lang="en-US" altLang="zh-CN" sz="1000">
                          <a:latin typeface="Arial" panose="020B0604020202020204" pitchFamily="34" charset="0"/>
                          <a:ea typeface="黑体-简" panose="02000000000000000000" charset="-122"/>
                        </a:rPr>
                        <a:t>508</a:t>
                      </a:r>
                      <a:endParaRPr lang="en-US" altLang="zh-CN" sz="1000">
                        <a:latin typeface="Arial" panose="020B0604020202020204" pitchFamily="34" charset="0"/>
                        <a:ea typeface="黑体-简" panose="02000000000000000000" charset="-122"/>
                      </a:endParaRPr>
                    </a:p>
                  </a:txBody>
                  <a:tcPr anchor="ctr" anchorCtr="0">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lnTlToBr>
                      <a:noFill/>
                    </a:lnTlToBr>
                    <a:lnBlToTr>
                      <a:noFill/>
                    </a:lnBlToTr>
                    <a:solidFill>
                      <a:schemeClr val="accent6">
                        <a:lumMod val="20000"/>
                        <a:lumOff val="80000"/>
                      </a:schemeClr>
                    </a:solidFill>
                  </a:tcPr>
                </a:tc>
                <a:tc>
                  <a:txBody>
                    <a:bodyPr/>
                    <a:p>
                      <a:pPr algn="ctr">
                        <a:buNone/>
                      </a:pPr>
                      <a:r>
                        <a:rPr lang="zh-CN" altLang="en-US" sz="1000" b="0">
                          <a:solidFill>
                            <a:srgbClr val="000000"/>
                          </a:solidFill>
                          <a:latin typeface="Arial" panose="020B0604020202020204" pitchFamily="34" charset="0"/>
                          <a:ea typeface="黑体-简" panose="02000000000000000000" charset="-122"/>
                        </a:rPr>
                        <a:t>0</a:t>
                      </a:r>
                      <a:r>
                        <a:rPr lang="en-US" altLang="zh-CN" sz="1000" b="0">
                          <a:solidFill>
                            <a:srgbClr val="000000"/>
                          </a:solidFill>
                          <a:latin typeface="Arial" panose="020B0604020202020204" pitchFamily="34" charset="0"/>
                          <a:ea typeface="黑体-简" panose="02000000000000000000" charset="-122"/>
                        </a:rPr>
                        <a:t>522</a:t>
                      </a:r>
                      <a:r>
                        <a:rPr lang="zh-CN" altLang="en-US" sz="1000" b="0">
                          <a:solidFill>
                            <a:srgbClr val="000000"/>
                          </a:solidFill>
                          <a:latin typeface="Arial" panose="020B0604020202020204" pitchFamily="34" charset="0"/>
                          <a:ea typeface="黑体-简" panose="02000000000000000000" charset="-122"/>
                        </a:rPr>
                        <a:t>：对漏洞扫描结果进行沟通，确认修复方案。 </a:t>
                      </a:r>
                      <a:endParaRPr lang="zh-CN" altLang="en-US" sz="1000" b="0">
                        <a:solidFill>
                          <a:srgbClr val="000000"/>
                        </a:solidFill>
                        <a:latin typeface="Arial" panose="020B0604020202020204" pitchFamily="34" charset="0"/>
                        <a:ea typeface="黑体-简" panose="02000000000000000000" charset="-122"/>
                      </a:endParaRPr>
                    </a:p>
                  </a:txBody>
                  <a:tcPr anchor="ctr" anchorCtr="0">
                    <a:lnL w="12700">
                      <a:solidFill>
                        <a:schemeClr val="accent6">
                          <a:lumMod val="60000"/>
                          <a:lumOff val="40000"/>
                        </a:schemeClr>
                      </a:solidFill>
                      <a:prstDash val="solid"/>
                    </a:lnL>
                    <a:lnR w="12700" cmpd="sng">
                      <a:solidFill>
                        <a:schemeClr val="accent6">
                          <a:lumMod val="60000"/>
                          <a:lumOff val="40000"/>
                        </a:schemeClr>
                      </a:solidFill>
                      <a:prstDash val="solid"/>
                    </a:lnR>
                    <a:lnT w="12700" cmpd="sng">
                      <a:solidFill>
                        <a:schemeClr val="accent6">
                          <a:lumMod val="60000"/>
                          <a:lumOff val="40000"/>
                        </a:schemeClr>
                      </a:solidFill>
                      <a:prstDash val="solid"/>
                    </a:lnT>
                    <a:lnB w="12700" cmpd="sng">
                      <a:solidFill>
                        <a:schemeClr val="accent6">
                          <a:lumMod val="60000"/>
                          <a:lumOff val="40000"/>
                        </a:schemeClr>
                      </a:solidFill>
                      <a:prstDash val="solid"/>
                    </a:lnB>
                    <a:solidFill>
                      <a:schemeClr val="accent3">
                        <a:lumMod val="20000"/>
                        <a:lumOff val="80000"/>
                      </a:schemeClr>
                    </a:solidFill>
                  </a:tcPr>
                </a:tc>
              </a:tr>
              <a:tr h="995680">
                <a:tc>
                  <a:txBody>
                    <a:bodyPr/>
                    <a:p>
                      <a:pPr algn="ctr">
                        <a:buNone/>
                      </a:pPr>
                      <a:r>
                        <a:rPr lang="en-US" altLang="zh-CN" sz="1000">
                          <a:latin typeface="Arial" panose="020B0604020202020204" pitchFamily="34" charset="0"/>
                          <a:ea typeface="黑体-简" panose="02000000000000000000" charset="-122"/>
                        </a:rPr>
                        <a:t>1</a:t>
                      </a:r>
                      <a:r>
                        <a:rPr lang="zh-CN" altLang="en-US" sz="1000">
                          <a:latin typeface="Arial" panose="020B0604020202020204" pitchFamily="34" charset="0"/>
                          <a:ea typeface="黑体-简" panose="02000000000000000000" charset="-122"/>
                        </a:rPr>
                        <a:t>、策略调优确认及授权</a:t>
                      </a:r>
                      <a:endParaRPr lang="zh-CN" altLang="en-US" sz="1000">
                        <a:latin typeface="Arial" panose="020B0604020202020204" pitchFamily="34" charset="0"/>
                        <a:ea typeface="黑体-简" panose="02000000000000000000" charset="-122"/>
                      </a:endParaRPr>
                    </a:p>
                  </a:txBody>
                  <a:tcPr anchor="ctr" anchorCtr="0">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lnTlToBr>
                      <a:noFill/>
                    </a:lnTlToBr>
                    <a:lnBlToTr>
                      <a:noFill/>
                    </a:lnBlToTr>
                    <a:solidFill>
                      <a:schemeClr val="accent6">
                        <a:lumMod val="40000"/>
                        <a:lumOff val="60000"/>
                      </a:schemeClr>
                    </a:solidFill>
                  </a:tcPr>
                </a:tc>
                <a:tc>
                  <a:txBody>
                    <a:bodyPr/>
                    <a:p>
                      <a:pPr algn="ctr">
                        <a:buNone/>
                      </a:pPr>
                      <a:r>
                        <a:rPr lang="en-US" altLang="zh-CN" sz="1000">
                          <a:latin typeface="Arial" panose="020B0604020202020204" pitchFamily="34" charset="0"/>
                          <a:ea typeface="黑体-简" panose="02000000000000000000" charset="-122"/>
                        </a:rPr>
                        <a:t>0515</a:t>
                      </a:r>
                      <a:endParaRPr lang="en-US" altLang="zh-CN" sz="1000">
                        <a:latin typeface="Arial" panose="020B0604020202020204" pitchFamily="34" charset="0"/>
                        <a:ea typeface="黑体-简" panose="02000000000000000000" charset="-122"/>
                      </a:endParaRPr>
                    </a:p>
                  </a:txBody>
                  <a:tcPr anchor="ctr" anchorCtr="0">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lnTlToBr>
                      <a:noFill/>
                    </a:lnTlToBr>
                    <a:lnBlToTr>
                      <a:noFill/>
                    </a:lnBlToTr>
                    <a:solidFill>
                      <a:schemeClr val="accent6">
                        <a:lumMod val="20000"/>
                        <a:lumOff val="80000"/>
                      </a:schemeClr>
                    </a:solidFill>
                  </a:tcPr>
                </a:tc>
                <a:tc>
                  <a:txBody>
                    <a:bodyPr/>
                    <a:p>
                      <a:pPr algn="l">
                        <a:buClrTx/>
                        <a:buSzTx/>
                        <a:buFontTx/>
                        <a:buNone/>
                      </a:pPr>
                      <a:r>
                        <a:rPr lang="zh-CN" altLang="en-US" sz="1000" b="0">
                          <a:solidFill>
                            <a:srgbClr val="000000"/>
                          </a:solidFill>
                          <a:latin typeface="Arial" panose="020B0604020202020204" pitchFamily="34" charset="0"/>
                          <a:ea typeface="黑体-简" panose="02000000000000000000" charset="-122"/>
                        </a:rPr>
                        <a:t>0522：对齐调优情况及结果</a:t>
                      </a:r>
                      <a:endParaRPr lang="zh-CN" altLang="en-US" sz="1000" b="0">
                        <a:solidFill>
                          <a:srgbClr val="000000"/>
                        </a:solidFill>
                        <a:latin typeface="Arial" panose="020B0604020202020204" pitchFamily="34" charset="0"/>
                        <a:ea typeface="黑体-简" panose="02000000000000000000" charset="-122"/>
                      </a:endParaRPr>
                    </a:p>
                  </a:txBody>
                  <a:tcPr anchor="ctr" anchorCtr="0">
                    <a:lnL w="12700">
                      <a:solidFill>
                        <a:schemeClr val="accent6">
                          <a:lumMod val="60000"/>
                          <a:lumOff val="40000"/>
                        </a:schemeClr>
                      </a:solidFill>
                      <a:prstDash val="solid"/>
                    </a:lnL>
                    <a:lnR w="12700" cmpd="sng">
                      <a:solidFill>
                        <a:schemeClr val="accent6">
                          <a:lumMod val="60000"/>
                          <a:lumOff val="40000"/>
                        </a:schemeClr>
                      </a:solidFill>
                      <a:prstDash val="solid"/>
                    </a:lnR>
                    <a:lnT w="12700" cmpd="sng">
                      <a:solidFill>
                        <a:schemeClr val="accent6">
                          <a:lumMod val="60000"/>
                          <a:lumOff val="40000"/>
                        </a:schemeClr>
                      </a:solidFill>
                      <a:prstDash val="solid"/>
                    </a:lnT>
                    <a:lnB w="12700" cmpd="sng">
                      <a:solidFill>
                        <a:schemeClr val="accent6">
                          <a:lumMod val="60000"/>
                          <a:lumOff val="40000"/>
                        </a:schemeClr>
                      </a:solidFill>
                      <a:prstDash val="solid"/>
                    </a:lnB>
                    <a:solidFill>
                      <a:schemeClr val="accent3">
                        <a:lumMod val="20000"/>
                        <a:lumOff val="80000"/>
                      </a:schemeClr>
                    </a:solidFill>
                  </a:tcPr>
                </a:tc>
              </a:tr>
              <a:tr h="996315">
                <a:tc>
                  <a:txBody>
                    <a:bodyPr/>
                    <a:p>
                      <a:pPr algn="ctr">
                        <a:buNone/>
                      </a:pPr>
                      <a:r>
                        <a:rPr lang="zh-CN" altLang="en-US" sz="1000">
                          <a:latin typeface="Arial" panose="020B0604020202020204" pitchFamily="34" charset="0"/>
                          <a:ea typeface="黑体-简" panose="02000000000000000000" charset="-122"/>
                        </a:rPr>
                        <a:t>推进主机</a:t>
                      </a:r>
                      <a:r>
                        <a:rPr lang="en-US" altLang="zh-CN" sz="1000">
                          <a:latin typeface="Arial" panose="020B0604020202020204" pitchFamily="34" charset="0"/>
                          <a:ea typeface="黑体-简" panose="02000000000000000000" charset="-122"/>
                        </a:rPr>
                        <a:t>EDR</a:t>
                      </a:r>
                      <a:r>
                        <a:rPr lang="zh-CN" altLang="en-US" sz="1000">
                          <a:latin typeface="Arial" panose="020B0604020202020204" pitchFamily="34" charset="0"/>
                          <a:ea typeface="黑体-简" panose="02000000000000000000" charset="-122"/>
                        </a:rPr>
                        <a:t>的覆盖</a:t>
                      </a:r>
                      <a:endParaRPr lang="zh-CN" altLang="en-US" sz="1000">
                        <a:latin typeface="Arial" panose="020B0604020202020204" pitchFamily="34" charset="0"/>
                        <a:ea typeface="黑体-简" panose="02000000000000000000" charset="-122"/>
                      </a:endParaRPr>
                    </a:p>
                  </a:txBody>
                  <a:tcPr anchor="ctr" anchorCtr="0">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lnTlToBr>
                      <a:noFill/>
                    </a:lnTlToBr>
                    <a:lnBlToTr>
                      <a:noFill/>
                    </a:lnBlToTr>
                    <a:solidFill>
                      <a:schemeClr val="accent6">
                        <a:lumMod val="40000"/>
                        <a:lumOff val="60000"/>
                      </a:schemeClr>
                    </a:solidFill>
                  </a:tcPr>
                </a:tc>
                <a:tc>
                  <a:txBody>
                    <a:bodyPr/>
                    <a:p>
                      <a:pPr algn="ctr">
                        <a:buNone/>
                      </a:pPr>
                      <a:r>
                        <a:rPr lang="en-US" altLang="zh-CN" sz="1000">
                          <a:latin typeface="Arial" panose="020B0604020202020204" pitchFamily="34" charset="0"/>
                          <a:ea typeface="黑体-简" panose="02000000000000000000" charset="-122"/>
                        </a:rPr>
                        <a:t>0530</a:t>
                      </a:r>
                      <a:endParaRPr lang="en-US" altLang="zh-CN" sz="1000">
                        <a:latin typeface="Arial" panose="020B0604020202020204" pitchFamily="34" charset="0"/>
                        <a:ea typeface="黑体-简" panose="02000000000000000000" charset="-122"/>
                      </a:endParaRPr>
                    </a:p>
                  </a:txBody>
                  <a:tcPr anchor="ctr" anchorCtr="0">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lnTlToBr>
                      <a:noFill/>
                    </a:lnTlToBr>
                    <a:lnBlToTr>
                      <a:noFill/>
                    </a:lnBlToTr>
                    <a:solidFill>
                      <a:schemeClr val="accent6">
                        <a:lumMod val="20000"/>
                        <a:lumOff val="80000"/>
                      </a:schemeClr>
                    </a:solidFill>
                  </a:tcPr>
                </a:tc>
                <a:tc>
                  <a:txBody>
                    <a:bodyPr/>
                    <a:p>
                      <a:pPr algn="l">
                        <a:buNone/>
                      </a:pPr>
                      <a:r>
                        <a:rPr lang="zh-CN" altLang="en-US" sz="1000" b="0">
                          <a:solidFill>
                            <a:srgbClr val="000000"/>
                          </a:solidFill>
                          <a:latin typeface="Arial" panose="020B0604020202020204" pitchFamily="34" charset="0"/>
                          <a:ea typeface="黑体-简" panose="02000000000000000000" charset="-122"/>
                        </a:rPr>
                        <a:t>0</a:t>
                      </a:r>
                      <a:r>
                        <a:rPr lang="en-US" altLang="zh-CN" sz="1000" b="0">
                          <a:solidFill>
                            <a:srgbClr val="000000"/>
                          </a:solidFill>
                          <a:latin typeface="Arial" panose="020B0604020202020204" pitchFamily="34" charset="0"/>
                          <a:ea typeface="黑体-简" panose="02000000000000000000" charset="-122"/>
                        </a:rPr>
                        <a:t>605</a:t>
                      </a:r>
                      <a:r>
                        <a:rPr lang="zh-CN" altLang="en-US" sz="1000" b="0">
                          <a:solidFill>
                            <a:srgbClr val="000000"/>
                          </a:solidFill>
                          <a:latin typeface="Arial" panose="020B0604020202020204" pitchFamily="34" charset="0"/>
                          <a:ea typeface="黑体-简" panose="02000000000000000000" charset="-122"/>
                        </a:rPr>
                        <a:t>：对齐覆盖情况。</a:t>
                      </a:r>
                      <a:endParaRPr lang="zh-CN" altLang="en-US" sz="1000">
                        <a:latin typeface="Arial" panose="020B0604020202020204" pitchFamily="34" charset="0"/>
                        <a:ea typeface="黑体-简" panose="02000000000000000000" charset="-122"/>
                      </a:endParaRPr>
                    </a:p>
                  </a:txBody>
                  <a:tcPr anchor="ctr" anchorCtr="0">
                    <a:lnL w="12700">
                      <a:solidFill>
                        <a:schemeClr val="accent6">
                          <a:lumMod val="60000"/>
                          <a:lumOff val="40000"/>
                        </a:schemeClr>
                      </a:solidFill>
                      <a:prstDash val="solid"/>
                    </a:lnL>
                    <a:lnR w="12700" cmpd="sng">
                      <a:solidFill>
                        <a:schemeClr val="accent6">
                          <a:lumMod val="60000"/>
                          <a:lumOff val="40000"/>
                        </a:schemeClr>
                      </a:solidFill>
                      <a:prstDash val="solid"/>
                    </a:lnR>
                    <a:lnT w="12700" cmpd="sng">
                      <a:solidFill>
                        <a:schemeClr val="accent6">
                          <a:lumMod val="60000"/>
                          <a:lumOff val="40000"/>
                        </a:schemeClr>
                      </a:solidFill>
                      <a:prstDash val="solid"/>
                    </a:lnT>
                    <a:lnB w="12700" cmpd="sng">
                      <a:solidFill>
                        <a:schemeClr val="accent6">
                          <a:lumMod val="60000"/>
                          <a:lumOff val="40000"/>
                        </a:schemeClr>
                      </a:solidFill>
                      <a:prstDash val="solid"/>
                    </a:lnB>
                    <a:solidFill>
                      <a:schemeClr val="accent3">
                        <a:lumMod val="20000"/>
                        <a:lumOff val="80000"/>
                      </a:schemeClr>
                    </a:solidFill>
                  </a:tcPr>
                </a:tc>
              </a:tr>
            </a:tbl>
          </a:graphicData>
        </a:graphic>
      </p:graphicFrame>
      <p:grpSp>
        <p:nvGrpSpPr>
          <p:cNvPr id="2" name="组合 1"/>
          <p:cNvGrpSpPr/>
          <p:nvPr/>
        </p:nvGrpSpPr>
        <p:grpSpPr>
          <a:xfrm>
            <a:off x="224790" y="289878"/>
            <a:ext cx="6011545" cy="327025"/>
            <a:chOff x="533" y="646"/>
            <a:chExt cx="9467" cy="515"/>
          </a:xfrm>
        </p:grpSpPr>
        <p:grpSp>
          <p:nvGrpSpPr>
            <p:cNvPr id="3" name="组合 2"/>
            <p:cNvGrpSpPr/>
            <p:nvPr/>
          </p:nvGrpSpPr>
          <p:grpSpPr>
            <a:xfrm rot="0">
              <a:off x="533" y="672"/>
              <a:ext cx="582" cy="420"/>
              <a:chOff x="533" y="672"/>
              <a:chExt cx="582" cy="420"/>
            </a:xfrm>
          </p:grpSpPr>
          <p:sp>
            <p:nvSpPr>
              <p:cNvPr id="4" name="燕尾形 86"/>
              <p:cNvSpPr/>
              <p:nvPr>
                <p:custDataLst>
                  <p:tags r:id="rId5"/>
                </p:custDataLst>
              </p:nvPr>
            </p:nvSpPr>
            <p:spPr>
              <a:xfrm>
                <a:off x="533" y="672"/>
                <a:ext cx="326" cy="421"/>
              </a:xfrm>
              <a:prstGeom prst="chevron">
                <a:avLst>
                  <a:gd name="adj" fmla="val 50000"/>
                </a:avLst>
              </a:prstGeom>
              <a:gradFill>
                <a:gsLst>
                  <a:gs pos="0">
                    <a:srgbClr val="006CD9">
                      <a:alpha val="100000"/>
                    </a:srgbClr>
                  </a:gs>
                  <a:gs pos="100000">
                    <a:srgbClr val="006CD9">
                      <a:alpha val="75000"/>
                    </a:srgbClr>
                  </a:gs>
                </a:gsLst>
                <a:lin ang="54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sp>
            <p:nvSpPr>
              <p:cNvPr id="8" name="燕尾形 103"/>
              <p:cNvSpPr/>
              <p:nvPr>
                <p:custDataLst>
                  <p:tags r:id="rId6"/>
                </p:custDataLst>
              </p:nvPr>
            </p:nvSpPr>
            <p:spPr>
              <a:xfrm>
                <a:off x="789" y="672"/>
                <a:ext cx="326" cy="421"/>
              </a:xfrm>
              <a:prstGeom prst="chevron">
                <a:avLst>
                  <a:gd name="adj" fmla="val 50000"/>
                </a:avLst>
              </a:prstGeom>
              <a:gradFill>
                <a:gsLst>
                  <a:gs pos="0">
                    <a:srgbClr val="70AD47">
                      <a:alpha val="88000"/>
                    </a:srgbClr>
                  </a:gs>
                  <a:gs pos="100000">
                    <a:schemeClr val="accent6">
                      <a:lumMod val="85000"/>
                      <a:alpha val="63000"/>
                    </a:schemeClr>
                  </a:gs>
                </a:gsLst>
                <a:lin ang="162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grpSp>
        <p:sp>
          <p:nvSpPr>
            <p:cNvPr id="24" name="textbox 158"/>
            <p:cNvSpPr/>
            <p:nvPr/>
          </p:nvSpPr>
          <p:spPr>
            <a:xfrm>
              <a:off x="1345" y="646"/>
              <a:ext cx="8655" cy="515"/>
            </a:xfrm>
            <a:prstGeom prst="rect">
              <a:avLst/>
            </a:prstGeom>
            <a:noFill/>
            <a:ln w="0" cap="flat">
              <a:noFill/>
              <a:prstDash val="solid"/>
              <a:miter lim="0"/>
            </a:ln>
          </p:spPr>
          <p:txBody>
            <a:bodyPr vert="horz" wrap="square" lIns="0" tIns="0" rIns="0" bIns="0"/>
            <a:p>
              <a:pPr algn="l" rtl="0" eaLnBrk="0">
                <a:lnSpc>
                  <a:spcPct val="78000"/>
                </a:lnSpc>
              </a:pPr>
              <a:endParaRPr sz="100" dirty="0">
                <a:solidFill>
                  <a:schemeClr val="tx1">
                    <a:lumMod val="85000"/>
                    <a:lumOff val="15000"/>
                  </a:schemeClr>
                </a:solidFill>
                <a:latin typeface="Arial Black" panose="020B0A04020102020204" pitchFamily="34" charset="0"/>
                <a:ea typeface="微软雅黑" panose="020B0503020204020204" charset="-122"/>
                <a:cs typeface="Arial" panose="020B0604020202020204"/>
              </a:endParaRPr>
            </a:p>
            <a:p>
              <a:pPr algn="l" rtl="0" eaLnBrk="0">
                <a:lnSpc>
                  <a:spcPct val="101000"/>
                </a:lnSpc>
              </a:pPr>
              <a:r>
                <a:rPr lang="zh-CN" altLang="en-US"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rPr>
                <a:t>下一阶段行动</a:t>
              </a:r>
              <a:r>
                <a:rPr lang="zh-CN" altLang="en-US"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rPr>
                <a:t>计划</a:t>
              </a:r>
              <a:endParaRPr lang="zh-CN" altLang="en-US"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 name="图片 62" descr="深信服 + 智安全"/>
          <p:cNvPicPr>
            <a:picLocks noChangeAspect="1"/>
          </p:cNvPicPr>
          <p:nvPr/>
        </p:nvPicPr>
        <p:blipFill>
          <a:blip r:embed="rId1"/>
          <a:srcRect l="5232" t="26576" r="4938" b="29565"/>
          <a:stretch>
            <a:fillRect/>
          </a:stretch>
        </p:blipFill>
        <p:spPr>
          <a:xfrm>
            <a:off x="10330815" y="273073"/>
            <a:ext cx="1629867" cy="360000"/>
          </a:xfrm>
          <a:prstGeom prst="rect">
            <a:avLst/>
          </a:prstGeom>
        </p:spPr>
      </p:pic>
      <p:sp>
        <p:nvSpPr>
          <p:cNvPr id="1880" name="文本框 8"/>
          <p:cNvSpPr txBox="1"/>
          <p:nvPr/>
        </p:nvSpPr>
        <p:spPr>
          <a:xfrm>
            <a:off x="1229360" y="3956685"/>
            <a:ext cx="5427345" cy="240030"/>
          </a:xfrm>
          <a:prstGeom prst="rect">
            <a:avLst/>
          </a:prstGeom>
          <a:ln w="12700">
            <a:miter lim="400000"/>
          </a:ln>
        </p:spPr>
        <p:txBody>
          <a:bodyPr wrap="square" lIns="34290" tIns="34290" rIns="34290" bIns="34290">
            <a:spAutoFit/>
          </a:bodyPr>
          <a:lstStyle>
            <a:lvl1pPr algn="just">
              <a:lnSpc>
                <a:spcPct val="80000"/>
              </a:lnSpc>
              <a:spcBef>
                <a:spcPts val="1000"/>
              </a:spcBef>
              <a:defRPr sz="14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pPr algn="l"/>
            <a:r>
              <a:rPr lang="zh-CN" altLang="en-US">
                <a:solidFill>
                  <a:schemeClr val="tx1"/>
                </a:solidFill>
                <a:latin typeface="Arial" panose="020B0604020202020204" pitchFamily="34" charset="0"/>
                <a:ea typeface="黑体-简" panose="02000000000000000000" charset="-122"/>
              </a:rPr>
              <a:t>感谢这份双向奔赴的信任，期待我们继续并肩，共同创造价值</a:t>
            </a:r>
            <a:endParaRPr lang="zh-CN" altLang="en-US">
              <a:solidFill>
                <a:schemeClr val="tx1"/>
              </a:solidFill>
              <a:latin typeface="Arial" panose="020B0604020202020204" pitchFamily="34" charset="0"/>
              <a:ea typeface="黑体-简" panose="02000000000000000000" charset="-122"/>
            </a:endParaRPr>
          </a:p>
        </p:txBody>
      </p:sp>
      <p:sp>
        <p:nvSpPr>
          <p:cNvPr id="4" name="标题"/>
          <p:cNvSpPr>
            <a:spLocks noGrp="1"/>
          </p:cNvSpPr>
          <p:nvPr>
            <p:ph type="ctrTitle"/>
            <p:custDataLst>
              <p:tags r:id="rId2"/>
            </p:custDataLst>
          </p:nvPr>
        </p:nvSpPr>
        <p:spPr>
          <a:xfrm>
            <a:off x="1240155" y="2310765"/>
            <a:ext cx="5552440" cy="1230630"/>
          </a:xfrm>
        </p:spPr>
        <p:txBody>
          <a:bodyPr vert="horz" wrap="square" lIns="0" tIns="0" rIns="0" bIns="0" rtlCol="0" anchor="ctr" anchorCtr="0">
            <a:normAutofit fontScale="90000"/>
          </a:bodyPr>
          <a:lstStyle/>
          <a:p>
            <a:pPr lvl="0" algn="l">
              <a:buClrTx/>
              <a:buSzTx/>
              <a:buFontTx/>
            </a:pPr>
            <a:r>
              <a:rPr lang="zh-CN" altLang="en-US" sz="4800">
                <a:solidFill>
                  <a:srgbClr val="4C61E7"/>
                </a:solidFill>
                <a:latin typeface="Arial Black" panose="020B0A04020102020204" pitchFamily="34" charset="0"/>
                <a:ea typeface="微软雅黑" panose="020B0503020204020204" charset="-122"/>
                <a:sym typeface="+mn-ea"/>
              </a:rPr>
              <a:t>客户成功  </a:t>
            </a:r>
            <a:br>
              <a:rPr lang="zh-CN" altLang="en-US" sz="4800">
                <a:solidFill>
                  <a:srgbClr val="4C61E7"/>
                </a:solidFill>
                <a:latin typeface="Arial Black" panose="020B0A04020102020204" pitchFamily="34" charset="0"/>
                <a:ea typeface="微软雅黑" panose="020B0503020204020204" charset="-122"/>
                <a:sym typeface="+mn-ea"/>
              </a:rPr>
            </a:br>
            <a:r>
              <a:rPr lang="zh-CN" altLang="en-US" sz="4800">
                <a:solidFill>
                  <a:srgbClr val="4C61E7"/>
                </a:solidFill>
                <a:latin typeface="Arial Black" panose="020B0A04020102020204" pitchFamily="34" charset="0"/>
                <a:ea typeface="微软雅黑" panose="020B0503020204020204" charset="-122"/>
                <a:sym typeface="+mn-ea"/>
              </a:rPr>
              <a:t>才是深信服的成功</a:t>
            </a:r>
            <a:endParaRPr lang="zh-CN" altLang="en-US" sz="4800">
              <a:solidFill>
                <a:srgbClr val="4C61E7"/>
              </a:solidFill>
              <a:latin typeface="Arial Black" panose="020B0A04020102020204" pitchFamily="34" charset="0"/>
              <a:ea typeface="微软雅黑" panose="020B0503020204020204" charset="-122"/>
              <a:sym typeface="+mn-ea"/>
            </a:endParaRPr>
          </a:p>
        </p:txBody>
      </p:sp>
      <p:grpSp>
        <p:nvGrpSpPr>
          <p:cNvPr id="247" name="组合 246"/>
          <p:cNvGrpSpPr/>
          <p:nvPr>
            <p:custDataLst>
              <p:tags r:id="rId3"/>
            </p:custDataLst>
          </p:nvPr>
        </p:nvGrpSpPr>
        <p:grpSpPr>
          <a:xfrm rot="0">
            <a:off x="8006715" y="2411730"/>
            <a:ext cx="2171700" cy="2050415"/>
            <a:chOff x="2318" y="2339"/>
            <a:chExt cx="14664" cy="14559"/>
          </a:xfrm>
        </p:grpSpPr>
        <p:sp>
          <p:nvSpPr>
            <p:cNvPr id="248" name="任意多边形 247"/>
            <p:cNvSpPr/>
            <p:nvPr>
              <p:custDataLst>
                <p:tags r:id="rId4"/>
              </p:custDataLst>
            </p:nvPr>
          </p:nvSpPr>
          <p:spPr>
            <a:xfrm>
              <a:off x="6476" y="14814"/>
              <a:ext cx="10506" cy="1920"/>
            </a:xfrm>
            <a:custGeom>
              <a:avLst/>
              <a:gdLst>
                <a:gd name="connisteX0" fmla="*/ 0 w 3017520"/>
                <a:gd name="connsiteY0" fmla="*/ 533400 h 571500"/>
                <a:gd name="connisteX1" fmla="*/ 289560 w 3017520"/>
                <a:gd name="connsiteY1" fmla="*/ 571500 h 571500"/>
                <a:gd name="connisteX2" fmla="*/ 3017520 w 3017520"/>
                <a:gd name="connsiteY2" fmla="*/ 281940 h 571500"/>
                <a:gd name="connisteX3" fmla="*/ 2811780 w 3017520"/>
                <a:gd name="connsiteY3" fmla="*/ 0 h 571500"/>
                <a:gd name="connisteX4" fmla="*/ 0 w 3017520"/>
                <a:gd name="connsiteY4" fmla="*/ 533400 h 571500"/>
              </a:gdLst>
              <a:ahLst/>
              <a:cxnLst>
                <a:cxn ang="0">
                  <a:pos x="connisteX0" y="connsiteY0"/>
                </a:cxn>
                <a:cxn ang="0">
                  <a:pos x="connisteX1" y="connsiteY1"/>
                </a:cxn>
                <a:cxn ang="0">
                  <a:pos x="connisteX2" y="connsiteY2"/>
                </a:cxn>
                <a:cxn ang="0">
                  <a:pos x="connisteX3" y="connsiteY3"/>
                </a:cxn>
                <a:cxn ang="0">
                  <a:pos x="connisteX4" y="connsiteY4"/>
                </a:cxn>
              </a:cxnLst>
              <a:rect l="l" t="t" r="r" b="b"/>
              <a:pathLst>
                <a:path w="3017520" h="571500">
                  <a:moveTo>
                    <a:pt x="0" y="533400"/>
                  </a:moveTo>
                  <a:lnTo>
                    <a:pt x="289560" y="571500"/>
                  </a:lnTo>
                  <a:lnTo>
                    <a:pt x="3017520" y="281940"/>
                  </a:lnTo>
                  <a:lnTo>
                    <a:pt x="2811780" y="0"/>
                  </a:lnTo>
                  <a:lnTo>
                    <a:pt x="0" y="533400"/>
                  </a:lnTo>
                  <a:close/>
                </a:path>
              </a:pathLst>
            </a:custGeom>
            <a:gradFill>
              <a:gsLst>
                <a:gs pos="10000">
                  <a:srgbClr val="CBCBCB">
                    <a:alpha val="0"/>
                  </a:srgbClr>
                </a:gs>
                <a:gs pos="51000">
                  <a:srgbClr val="676767"/>
                </a:gs>
                <a:gs pos="96000">
                  <a:srgbClr val="CBCBCB">
                    <a:alpha val="0"/>
                  </a:srgbClr>
                </a:gs>
              </a:gsLst>
              <a:path path="circle">
                <a:fillToRect t="100000" r="100000"/>
              </a:path>
              <a:tileRect l="-100000" b="-10000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49" name="椭圆 248"/>
            <p:cNvSpPr/>
            <p:nvPr>
              <p:custDataLst>
                <p:tags r:id="rId5"/>
              </p:custDataLst>
            </p:nvPr>
          </p:nvSpPr>
          <p:spPr>
            <a:xfrm>
              <a:off x="2318" y="15242"/>
              <a:ext cx="7523" cy="1656"/>
            </a:xfrm>
            <a:prstGeom prst="ellipse">
              <a:avLst/>
            </a:prstGeom>
            <a:gradFill>
              <a:gsLst>
                <a:gs pos="7000">
                  <a:srgbClr val="FFFFFF">
                    <a:alpha val="0"/>
                  </a:srgbClr>
                </a:gs>
                <a:gs pos="71000">
                  <a:srgbClr val="404040"/>
                </a:gs>
              </a:gsLst>
              <a:lin ang="18900000" scaled="0"/>
            </a:gradFill>
            <a:ln>
              <a:noFill/>
            </a:ln>
            <a:effectLst>
              <a:softEdge rad="63500"/>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250" name="图片 249" descr="44"/>
            <p:cNvPicPr>
              <a:picLocks noChangeAspect="1"/>
            </p:cNvPicPr>
            <p:nvPr>
              <p:custDataLst>
                <p:tags r:id="rId6"/>
              </p:custDataLst>
            </p:nvPr>
          </p:nvPicPr>
          <p:blipFill>
            <a:blip r:embed="rId7"/>
            <a:stretch>
              <a:fillRect/>
            </a:stretch>
          </p:blipFill>
          <p:spPr>
            <a:xfrm>
              <a:off x="5002" y="2339"/>
              <a:ext cx="11794" cy="14284"/>
            </a:xfrm>
            <a:prstGeom prst="rect">
              <a:avLst/>
            </a:prstGeom>
          </p:spPr>
        </p:pic>
        <p:pic>
          <p:nvPicPr>
            <p:cNvPr id="251" name="图片 250" descr="E:/设计图片素材/mads-schmidt-rasmussen-cdsjnp2hrXs-unsplash.jpgmads-schmidt-rasmussen-cdsjnp2hrXs-unsplash"/>
            <p:cNvPicPr>
              <a:picLocks noChangeAspect="1"/>
            </p:cNvPicPr>
            <p:nvPr>
              <p:custDataLst>
                <p:tags r:id="rId8"/>
              </p:custDataLst>
            </p:nvPr>
          </p:nvPicPr>
          <p:blipFill>
            <a:blip r:embed="rId9"/>
            <a:srcRect l="20806" t="-3" r="20806" b="-3"/>
            <a:stretch>
              <a:fillRect/>
            </a:stretch>
          </p:blipFill>
          <p:spPr>
            <a:xfrm>
              <a:off x="7550" y="4027"/>
              <a:ext cx="8086" cy="9283"/>
            </a:xfrm>
            <a:custGeom>
              <a:avLst/>
              <a:gdLst/>
              <a:ahLst/>
              <a:cxnLst>
                <a:cxn ang="3">
                  <a:pos x="hc" y="t"/>
                </a:cxn>
                <a:cxn ang="cd2">
                  <a:pos x="l" y="vc"/>
                </a:cxn>
                <a:cxn ang="cd4">
                  <a:pos x="hc" y="b"/>
                </a:cxn>
                <a:cxn ang="0">
                  <a:pos x="r" y="vc"/>
                </a:cxn>
              </a:cxnLst>
              <a:rect l="l" t="t" r="r" b="b"/>
              <a:pathLst>
                <a:path w="4014" h="4608">
                  <a:moveTo>
                    <a:pt x="3354" y="0"/>
                  </a:moveTo>
                  <a:lnTo>
                    <a:pt x="4014" y="4242"/>
                  </a:lnTo>
                  <a:lnTo>
                    <a:pt x="606" y="4608"/>
                  </a:lnTo>
                  <a:lnTo>
                    <a:pt x="0" y="36"/>
                  </a:lnTo>
                  <a:lnTo>
                    <a:pt x="3354" y="0"/>
                  </a:lnTo>
                  <a:close/>
                </a:path>
              </a:pathLst>
            </a:custGeom>
            <a:effectLst>
              <a:innerShdw blurRad="114300">
                <a:prstClr val="black">
                  <a:alpha val="33000"/>
                </a:prstClr>
              </a:innerShdw>
            </a:effectLst>
          </p:spPr>
        </p:pic>
      </p:grpSp>
    </p:spTree>
    <p:custDataLst>
      <p:tags r:id="rId10"/>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8.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4*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14"/>
</p:tagLst>
</file>

<file path=ppt/tags/tag9.xml><?xml version="1.0" encoding="utf-8"?>
<p:tagLst xmlns:p="http://schemas.openxmlformats.org/presentationml/2006/main">
  <p:tag name="KSO_WM_UNIT_TYPE" val="e"/>
  <p:tag name="KSO_WM_UNIT_INDEX" val="1"/>
  <p:tag name="KSO_WM_BEAUTIFY_FLAG" val="#wm#"/>
  <p:tag name="KSO_WM_TAG_VERSION" val="3.0"/>
  <p:tag name="KSO_WM_UNIT_PRESET_TEXT" val="编号"/>
  <p:tag name="KSO_WM_UNIT_ID" val="_4*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VALUE" val="2"/>
</p:tagLst>
</file>

<file path=ppt/tags/tag10.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3.xml><?xml version="1.0" encoding="utf-8"?>
<p:tagLst xmlns:p="http://schemas.openxmlformats.org/presentationml/2006/main">
  <p:tag name="KSO_WM_UNIT_TYPE" val="i"/>
  <p:tag name="KSO_WM_UNIT_INDEX" val="2"/>
  <p:tag name="KSO_WM_BEAUTIFY_FLAG" val="#wm#"/>
  <p:tag name="KSO_WM_TAG_VERSION" val="3.0"/>
  <p:tag name="KSO_WM_UNIT_ID" val="_4*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4.xml><?xml version="1.0" encoding="utf-8"?>
<p:tagLst xmlns:p="http://schemas.openxmlformats.org/presentationml/2006/main">
  <p:tag name="KSO_WM_UNIT_TYPE" val="i"/>
  <p:tag name="KSO_WM_UNIT_INDEX" val="5"/>
  <p:tag name="KSO_WM_BEAUTIFY_FLAG" val="#wm#"/>
  <p:tag name="KSO_WM_TAG_VERSION" val="3.0"/>
  <p:tag name="KSO_WM_UNIT_ID" val="_4*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5.xml><?xml version="1.0" encoding="utf-8"?>
<p:tagLst xmlns:p="http://schemas.openxmlformats.org/presentationml/2006/main">
  <p:tag name="KSO_WM_UNIT_TYPE" val="i"/>
  <p:tag name="KSO_WM_UNIT_INDEX" val="3"/>
  <p:tag name="KSO_WM_BEAUTIFY_FLAG" val="#wm#"/>
  <p:tag name="KSO_WM_TAG_VERSION" val="3.0"/>
  <p:tag name="KSO_WM_UNIT_ID" val="_4*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6.xml><?xml version="1.0" encoding="utf-8"?>
<p:tagLst xmlns:p="http://schemas.openxmlformats.org/presentationml/2006/main">
  <p:tag name="KSO_WM_UNIT_TYPE" val="i"/>
  <p:tag name="KSO_WM_UNIT_INDEX" val="1"/>
  <p:tag name="KSO_WM_BEAUTIFY_FLAG" val="#wm#"/>
  <p:tag name="KSO_WM_TAG_VERSION" val="3.0"/>
  <p:tag name="KSO_WM_UNIT_ID" val="_4*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7.xml><?xml version="1.0" encoding="utf-8"?>
<p:tagLst xmlns:p="http://schemas.openxmlformats.org/presentationml/2006/main">
  <p:tag name="KSO_WM_UNIT_TYPE" val="i"/>
  <p:tag name="KSO_WM_UNIT_INDEX" val="4"/>
  <p:tag name="KSO_WM_BEAUTIFY_FLAG" val="#wm#"/>
  <p:tag name="KSO_WM_TAG_VERSION" val="3.0"/>
  <p:tag name="KSO_WM_UNIT_ID" val="_4*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21.xml><?xml version="1.0" encoding="utf-8"?>
<p:tagLst xmlns:p="http://schemas.openxmlformats.org/presentationml/2006/main">
  <p:tag name="KSO_WM_UNIT_TYPE" val="a"/>
  <p:tag name="KSO_WM_UNIT_INDEX" val="1"/>
  <p:tag name="KSO_WM_BEAUTIFY_FLAG" val="#wm#"/>
  <p:tag name="KSO_WM_TAG_VERSION" val="1.0"/>
  <p:tag name="KSO_WM_UNIT_PRESET_TEXT" val="单击此处编辑母版标题样式"/>
  <p:tag name="KSO_WM_UNIT_ID" val="_0*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TEMPLATE_CATEGORY" val="custom"/>
  <p:tag name="KSO_WM_TEMPLATE_INDEX" val="20238577"/>
</p:tagLst>
</file>

<file path=ppt/tags/tag22.xml><?xml version="1.0" encoding="utf-8"?>
<p:tagLst xmlns:p="http://schemas.openxmlformats.org/presentationml/2006/main">
  <p:tag name="KSO_WM_UNIT_TYPE" val="f"/>
  <p:tag name="KSO_WM_UNIT_SUBTYPE" val="a"/>
  <p:tag name="KSO_WM_UNIT_INDEX" val="1"/>
  <p:tag name="KSO_WM_BEAUTIFY_FLAG" val="#wm#"/>
  <p:tag name="KSO_WM_TAG_VERSION" val="1.0"/>
  <p:tag name="KSO_WM_UNIT_PRESET_TEXT" val="单击此处编辑母版文本样式&#10;第二级&#10;第三级&#10;第四级&#10;第五级"/>
  <p:tag name="KSO_WM_UNIT_ID" val="_0*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CATEGORY" val="custom"/>
  <p:tag name="KSO_WM_TEMPLATE_INDEX" val="20238577"/>
</p:tagLst>
</file>

<file path=ppt/tags/tag23.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4.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5.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6.xml><?xml version="1.0" encoding="utf-8"?>
<p:tagLst xmlns:p="http://schemas.openxmlformats.org/presentationml/2006/main">
  <p:tag name="KSO_WM_TEMPLATE_SUBCATEGORY" val="29"/>
  <p:tag name="KSO_WM_TEMPLATE_COLOR_TYPE" val="0"/>
  <p:tag name="KSO_WM_TAG_VERSION" val="3.0"/>
  <p:tag name="KSO_WM_TEMPLATE_THUMBS_INDEX" val="1、9"/>
  <p:tag name="KSO_WM_BEAUTIFY_FLAG" val="#wm#"/>
  <p:tag name="KSO_WM_TEMPLATE_INDEX" val="20238577"/>
  <p:tag name="KSO_WM_TEMPLATE_CATEGORY" val="custom"/>
  <p:tag name="KSO_WM_TEMPLATE_MASTER_TYPE" val="0"/>
</p:tagLst>
</file>

<file path=ppt/tags/tag27.xml><?xml version="1.0" encoding="utf-8"?>
<p:tagLst xmlns:p="http://schemas.openxmlformats.org/presentationml/2006/main">
  <p:tag name="KSO_WM_UNIT_TYPE" val="a"/>
  <p:tag name="KSO_WM_UNIT_INDEX" val="1"/>
  <p:tag name="KSO_WM_BEAUTIFY_FLAG" val="#wm#"/>
  <p:tag name="KSO_WM_TAG_VERSION" val="3.0"/>
  <p:tag name="KSO_WM_UNIT_PRESET_TEXT" val="编辑标题"/>
  <p:tag name="KSO_WM_UNIT_ID" val="_11*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12"/>
</p:tagLst>
</file>

<file path=ppt/tags/tag28.xml><?xml version="1.0" encoding="utf-8"?>
<p:tagLst xmlns:p="http://schemas.openxmlformats.org/presentationml/2006/main">
  <p:tag name="KSO_WM_UNIT_TYPE" val="b"/>
  <p:tag name="KSO_WM_UNIT_INDEX" val="1"/>
  <p:tag name="KSO_WM_BEAUTIFY_FLAG" val="#wm#"/>
  <p:tag name="KSO_WM_TAG_VERSION" val="3.0"/>
  <p:tag name="KSO_WM_UNIT_PRESET_TEXT" val="编辑副标题"/>
  <p:tag name="KSO_WM_UNIT_ID" val="_11*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8"/>
</p:tagLst>
</file>

<file path=ppt/tags/tag29.xml><?xml version="1.0" encoding="utf-8"?>
<p:tagLst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0.xml><?xml version="1.0" encoding="utf-8"?>
<p:tagLst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1.xml><?xml version="1.0" encoding="utf-8"?>
<p:tagLst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2.xml><?xml version="1.0" encoding="utf-8"?>
<p:tagLst xmlns:p="http://schemas.openxmlformats.org/presentationml/2006/main">
  <p:tag name="KSO_WM_UNIT_TYPE" val="f"/>
  <p:tag name="KSO_WM_UNIT_SUBTYPE" val="g"/>
  <p:tag name="KSO_WM_UNIT_INDEX" val="2"/>
  <p:tag name="KSO_WM_BEAUTIFY_FLAG" val="#wm#"/>
  <p:tag name="KSO_WM_TAG_VERSION" val="3.0"/>
  <p:tag name="KSO_WM_UNIT_PRESET_TEXT" val="公司"/>
  <p:tag name="KSO_WM_UNIT_ID" val="_11*f*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VALUE" val="23"/>
</p:tagLst>
</file>

<file path=ppt/tags/tag33.xml><?xml version="1.0" encoding="utf-8"?>
<p:tagLst xmlns:p="http://schemas.openxmlformats.org/presentationml/2006/main">
  <p:tag name="KSO_WM_UNIT_TYPE" val="f"/>
  <p:tag name="KSO_WM_UNIT_SUBTYPE" val="b"/>
  <p:tag name="KSO_WM_UNIT_INDEX" val="1"/>
  <p:tag name="KSO_WM_BEAUTIFY_FLAG" val="#wm#"/>
  <p:tag name="KSO_WM_TAG_VERSION" val="3.0"/>
  <p:tag name="KSO_WM_UNIT_PRESET_TEXT" val="署名"/>
  <p:tag name="KSO_WM_UNIT_ID" val="_11*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VALUE" val="20"/>
</p:tagLst>
</file>

<file path=ppt/tags/tag34.xml><?xml version="1.0" encoding="utf-8"?>
<p:tagLst xmlns:p="http://schemas.openxmlformats.org/presentationml/2006/main">
  <p:tag name="KSO_WM_UNIT_TYPE" val="i"/>
  <p:tag name="KSO_WM_UNIT_INDEX" val="2"/>
  <p:tag name="KSO_WM_BEAUTIFY_FLAG" val="#wm#"/>
  <p:tag name="KSO_WM_TAG_VERSION" val="3.0"/>
  <p:tag name="KSO_WM_UNIT_ID" val="_11*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5.xml><?xml version="1.0" encoding="utf-8"?>
<p:tagLst xmlns:p="http://schemas.openxmlformats.org/presentationml/2006/main">
  <p:tag name="KSO_WM_UNIT_TYPE" val="i"/>
  <p:tag name="KSO_WM_UNIT_INDEX" val="6"/>
  <p:tag name="KSO_WM_BEAUTIFY_FLAG" val="#wm#"/>
  <p:tag name="KSO_WM_TAG_VERSION" val="3.0"/>
  <p:tag name="KSO_WM_UNIT_ID" val="_11*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6.xml><?xml version="1.0" encoding="utf-8"?>
<p:tagLst xmlns:p="http://schemas.openxmlformats.org/presentationml/2006/main">
  <p:tag name="KSO_WM_UNIT_TYPE" val="i"/>
  <p:tag name="KSO_WM_UNIT_INDEX" val="4"/>
  <p:tag name="KSO_WM_BEAUTIFY_FLAG" val="#wm#"/>
  <p:tag name="KSO_WM_TAG_VERSION" val="3.0"/>
  <p:tag name="KSO_WM_UNIT_ID" val="_11*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7.xml><?xml version="1.0" encoding="utf-8"?>
<p:tagLst xmlns:p="http://schemas.openxmlformats.org/presentationml/2006/main">
  <p:tag name="KSO_WM_UNIT_TYPE" val="i"/>
  <p:tag name="KSO_WM_UNIT_INDEX" val="1"/>
  <p:tag name="KSO_WM_BEAUTIFY_FLAG" val="#wm#"/>
  <p:tag name="KSO_WM_TAG_VERSION" val="3.0"/>
  <p:tag name="KSO_WM_UNIT_ID" val="_11*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8.xml><?xml version="1.0" encoding="utf-8"?>
<p:tagLst xmlns:p="http://schemas.openxmlformats.org/presentationml/2006/main">
  <p:tag name="KSO_WM_UNIT_TYPE" val="i"/>
  <p:tag name="KSO_WM_UNIT_INDEX" val="3"/>
  <p:tag name="KSO_WM_BEAUTIFY_FLAG" val="#wm#"/>
  <p:tag name="KSO_WM_TAG_VERSION" val="3.0"/>
  <p:tag name="KSO_WM_UNIT_ID" val="_11*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9.xml><?xml version="1.0" encoding="utf-8"?>
<p:tagLst xmlns:p="http://schemas.openxmlformats.org/presentationml/2006/main">
  <p:tag name="KSO_WM_UNIT_TYPE" val="a"/>
  <p:tag name="KSO_WM_UNIT_INDEX" val="1"/>
  <p:tag name="KSO_WM_BEAUTIFY_FLAG" val="#wm#"/>
  <p:tag name="KSO_WM_TAG_VERSION" val="1.0"/>
  <p:tag name="KSO_WM_UNIT_PRESET_TEXT" val="单击此处编辑母版标题样式"/>
  <p:tag name="KSO_WM_UNIT_ID" val="_0*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TEMPLATE_CATEGORY" val="custom"/>
  <p:tag name="KSO_WM_TEMPLATE_INDEX" val="20238577"/>
</p:tagLst>
</file>

<file path=ppt/tags/tag40.xml><?xml version="1.0" encoding="utf-8"?>
<p:tagLst xmlns:p="http://schemas.openxmlformats.org/presentationml/2006/main">
  <p:tag name="KSO_WM_UNIT_TYPE" val="f"/>
  <p:tag name="KSO_WM_UNIT_SUBTYPE" val="a"/>
  <p:tag name="KSO_WM_UNIT_INDEX" val="1"/>
  <p:tag name="KSO_WM_BEAUTIFY_FLAG" val="#wm#"/>
  <p:tag name="KSO_WM_TAG_VERSION" val="1.0"/>
  <p:tag name="KSO_WM_UNIT_PRESET_TEXT" val="单击此处编辑母版文本样式&#10;第二级&#10;第三级&#10;第四级&#10;第五级"/>
  <p:tag name="KSO_WM_UNIT_ID" val="_0*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CATEGORY" val="custom"/>
  <p:tag name="KSO_WM_TEMPLATE_INDEX" val="20238577"/>
</p:tagLst>
</file>

<file path=ppt/tags/tag41.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2.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3.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4.xml><?xml version="1.0" encoding="utf-8"?>
<p:tagLst xmlns:p="http://schemas.openxmlformats.org/presentationml/2006/main">
  <p:tag name="KSO_WM_TEMPLATE_SUBCATEGORY" val="29"/>
  <p:tag name="KSO_WM_TEMPLATE_COLOR_TYPE" val="0"/>
  <p:tag name="KSO_WM_TAG_VERSION" val="3.0"/>
  <p:tag name="KSO_WM_TEMPLATE_THUMBS_INDEX" val="1、9"/>
  <p:tag name="KSO_WM_BEAUTIFY_FLAG" val="#wm#"/>
  <p:tag name="KSO_WM_TEMPLATE_INDEX" val="20238577"/>
  <p:tag name="KSO_WM_TEMPLATE_CATEGORY" val="custom"/>
  <p:tag name="KSO_WM_TEMPLATE_MASTER_TYPE" val="0"/>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DIAGRAM_VIRTUALLY_FRAME" val="{&quot;height&quot;:275.27181102362204,&quot;left&quot;:558.35,&quot;top&quot;:123.32125984251968,&quot;width&quot;:255.1}"/>
</p:tagLst>
</file>

<file path=ppt/tags/tag48.xml><?xml version="1.0" encoding="utf-8"?>
<p:tagLst xmlns:p="http://schemas.openxmlformats.org/presentationml/2006/main">
  <p:tag name="KSO_WM_DIAGRAM_VIRTUALLY_FRAME" val="{&quot;height&quot;:275.27181102362204,&quot;left&quot;:558.35,&quot;top&quot;:123.32125984251968,&quot;width&quot;:255.1}"/>
</p:tagLst>
</file>

<file path=ppt/tags/tag49.xml><?xml version="1.0" encoding="utf-8"?>
<p:tagLst xmlns:p="http://schemas.openxmlformats.org/presentationml/2006/main">
  <p:tag name="KSO_WM_DIAGRAM_VIRTUALLY_FRAME" val="{&quot;height&quot;:275.27181102362204,&quot;left&quot;:558.35,&quot;top&quot;:123.32125984251968,&quot;width&quot;:255.1}"/>
</p:tagLst>
</file>

<file path=ppt/tags/tag50.xml><?xml version="1.0" encoding="utf-8"?>
<p:tagLst xmlns:p="http://schemas.openxmlformats.org/presentationml/2006/main">
  <p:tag name="KSO_WM_DIAGRAM_VIRTUALLY_FRAME" val="{&quot;height&quot;:275.27181102362204,&quot;left&quot;:558.35,&quot;top&quot;:123.32125984251968,&quot;width&quot;:255.1}"/>
</p:tagLst>
</file>

<file path=ppt/tags/tag51.xml><?xml version="1.0" encoding="utf-8"?>
<p:tagLst xmlns:p="http://schemas.openxmlformats.org/presentationml/2006/main">
  <p:tag name="KSO_WM_DIAGRAM_VIRTUALLY_FRAME" val="{&quot;height&quot;:275.27181102362204,&quot;left&quot;:558.35,&quot;top&quot;:123.32125984251968,&quot;width&quot;:255.1}"/>
</p:tagLst>
</file>

<file path=ppt/tags/tag52.xml><?xml version="1.0" encoding="utf-8"?>
<p:tagLst xmlns:p="http://schemas.openxmlformats.org/presentationml/2006/main">
  <p:tag name="KSO_WM_DIAGRAM_VIRTUALLY_FRAME" val="{&quot;height&quot;:275.27181102362204,&quot;left&quot;:558.35,&quot;top&quot;:123.32125984251968,&quot;width&quot;:255.1}"/>
</p:tagLst>
</file>

<file path=ppt/tags/tag53.xml><?xml version="1.0" encoding="utf-8"?>
<p:tagLst xmlns:p="http://schemas.openxmlformats.org/presentationml/2006/main">
  <p:tag name="KSO_WM_DIAGRAM_VIRTUALLY_FRAME" val="{&quot;height&quot;:275.27181102362204,&quot;left&quot;:558.35,&quot;top&quot;:123.32125984251968,&quot;width&quot;:255.1}"/>
</p:tagLst>
</file>

<file path=ppt/tags/tag54.xml><?xml version="1.0" encoding="utf-8"?>
<p:tagLst xmlns:p="http://schemas.openxmlformats.org/presentationml/2006/main">
  <p:tag name="KSO_WM_DIAGRAM_VIRTUALLY_FRAME" val="{&quot;height&quot;:275.27181102362204,&quot;left&quot;:558.35,&quot;top&quot;:123.32125984251968,&quot;width&quot;:255.1}"/>
</p:tagLst>
</file>

<file path=ppt/tags/tag55.xml><?xml version="1.0" encoding="utf-8"?>
<p:tagLst xmlns:p="http://schemas.openxmlformats.org/presentationml/2006/main">
  <p:tag name="KSO_WM_DIAGRAM_VIRTUALLY_FRAME" val="{&quot;height&quot;:275.27181102362204,&quot;left&quot;:558.35,&quot;top&quot;:123.32125984251968,&quot;width&quot;:255.1}"/>
</p:tagLst>
</file>

<file path=ppt/tags/tag56.xml><?xml version="1.0" encoding="utf-8"?>
<p:tagLst xmlns:p="http://schemas.openxmlformats.org/presentationml/2006/main">
  <p:tag name="KSO_WM_DIAGRAM_VIRTUALLY_FRAME" val="{&quot;height&quot;:275.27181102362204,&quot;left&quot;:558.35,&quot;top&quot;:123.32125984251968,&quot;width&quot;:255.1}"/>
</p:tagLst>
</file>

<file path=ppt/tags/tag57.xml><?xml version="1.0" encoding="utf-8"?>
<p:tagLst xmlns:p="http://schemas.openxmlformats.org/presentationml/2006/main">
  <p:tag name="KSO_WM_DIAGRAM_VIRTUALLY_FRAME" val="{&quot;height&quot;:275.27181102362204,&quot;left&quot;:558.35,&quot;top&quot;:123.32125984251968,&quot;width&quot;:255.1}"/>
</p:tagLst>
</file>

<file path=ppt/tags/tag58.xml><?xml version="1.0" encoding="utf-8"?>
<p:tagLst xmlns:p="http://schemas.openxmlformats.org/presentationml/2006/main">
  <p:tag name="KSO_WM_DIAGRAM_VIRTUALLY_FRAME" val="{&quot;height&quot;:275.27181102362204,&quot;left&quot;:558.35,&quot;top&quot;:123.32125984251968,&quot;width&quot;:255.1}"/>
</p:tagLst>
</file>

<file path=ppt/tags/tag59.xml><?xml version="1.0" encoding="utf-8"?>
<p:tagLst xmlns:p="http://schemas.openxmlformats.org/presentationml/2006/main">
  <p:tag name="KSO_WM_UNIT_TYPE" val="e"/>
  <p:tag name="KSO_WM_UNIT_INDEX" val="1"/>
  <p:tag name="KSO_WM_BEAUTIFY_FLAG" val="#wm#"/>
  <p:tag name="KSO_WM_TAG_VERSION" val="3.0"/>
  <p:tag name="KSO_WM_UNIT_ID" val="custom20238577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VALUE" val="2"/>
</p:tagLst>
</file>

<file path=ppt/tags/tag60.xml><?xml version="1.0" encoding="utf-8"?>
<p:tagLst xmlns:p="http://schemas.openxmlformats.org/presentationml/2006/main">
  <p:tag name="KSO_WM_UNIT_TYPE" val="e"/>
  <p:tag name="KSO_WM_UNIT_INDEX" val="1"/>
  <p:tag name="KSO_WM_BEAUTIFY_FLAG" val="#wm#"/>
  <p:tag name="KSO_WM_TAG_VERSION" val="3.0"/>
  <p:tag name="KSO_WM_UNIT_ID" val="custom20238577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VALUE" val="2"/>
</p:tagLst>
</file>

<file path=ppt/tags/tag61.xml><?xml version="1.0" encoding="utf-8"?>
<p:tagLst xmlns:p="http://schemas.openxmlformats.org/presentationml/2006/main">
  <p:tag name="KSO_WM_UNIT_TYPE" val="e"/>
  <p:tag name="KSO_WM_UNIT_INDEX" val="1"/>
  <p:tag name="KSO_WM_BEAUTIFY_FLAG" val="#wm#"/>
  <p:tag name="KSO_WM_TAG_VERSION" val="3.0"/>
  <p:tag name="KSO_WM_UNIT_ID" val="custom20238577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VALUE" val="2"/>
</p:tagLst>
</file>

<file path=ppt/tags/tag62.xml><?xml version="1.0" encoding="utf-8"?>
<p:tagLst xmlns:p="http://schemas.openxmlformats.org/presentationml/2006/main">
  <p:tag name="KSO_WM_UNIT_TYPE" val="e"/>
  <p:tag name="KSO_WM_UNIT_INDEX" val="1"/>
  <p:tag name="KSO_WM_BEAUTIFY_FLAG" val="#wm#"/>
  <p:tag name="KSO_WM_TAG_VERSION" val="3.0"/>
  <p:tag name="KSO_WM_UNIT_ID" val="custom20238577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VALUE" val="2"/>
</p:tagLst>
</file>

<file path=ppt/tags/tag63.xml><?xml version="1.0" encoding="utf-8"?>
<p:tagLst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8577"/>
  <p:tag name="KSO_WM_TEMPLATE_CATEGORY" val="custom"/>
  <p:tag name="KSO_WM_SLIDE_INDEX" val="7"/>
  <p:tag name="KSO_WM_SLIDE_ID" val="custom20238577_7"/>
  <p:tag name="KSO_WM_TEMPLATE_MASTER_TYPE" val="0"/>
  <p:tag name="KSO_WM_SLIDE_LAYOUT" val="a_e"/>
  <p:tag name="KSO_WM_SLIDE_LAYOUT_CNT" val="1_1"/>
</p:tagLst>
</file>

<file path=ppt/tags/tag64.xml><?xml version="1.0" encoding="utf-8"?>
<p:tagLst xmlns:p="http://schemas.openxmlformats.org/presentationml/2006/main">
  <p:tag name="KSO_WM_DIAGRAM_VIRTUALLY_FRAME" val="{&quot;height&quot;:389.6,&quot;left&quot;:211.45,&quot;top&quot;:116.65,&quot;width&quot;:477.55}"/>
</p:tagLst>
</file>

<file path=ppt/tags/tag65.xml><?xml version="1.0" encoding="utf-8"?>
<p:tagLst xmlns:p="http://schemas.openxmlformats.org/presentationml/2006/main">
  <p:tag name="KSO_WM_UNIT_TYPE" val="a"/>
  <p:tag name="KSO_WM_UNIT_INDEX" val="1"/>
  <p:tag name="KSO_WM_BEAUTIFY_FLAG" val="#wm#"/>
  <p:tag name="KSO_WM_TAG_VERSION" val="3.0"/>
  <p:tag name="KSO_WM_UNIT_ID" val="custom20238577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ISCONTENTSTITLE" val="0"/>
  <p:tag name="KSO_WM_UNIT_VALUE" val="14"/>
  <p:tag name="KSO_WM_UNIT_TEXT_TYPE" val="1"/>
  <p:tag name="KSO_WM_UNIT_PRESET_TEXT" val="单击此处添加&#10;章节标题"/>
</p:tagLst>
</file>

<file path=ppt/tags/tag66.xml><?xml version="1.0" encoding="utf-8"?>
<p:tagLst xmlns:p="http://schemas.openxmlformats.org/presentationml/2006/main">
  <p:tag name="KSO_WM_UNIT_TYPE" val="e"/>
  <p:tag name="KSO_WM_UNIT_INDEX" val="1"/>
  <p:tag name="KSO_WM_BEAUTIFY_FLAG" val="#wm#"/>
  <p:tag name="KSO_WM_TAG_VERSION" val="3.0"/>
  <p:tag name="KSO_WM_UNIT_ID" val="custom20238577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VALUE" val="2"/>
</p:tagLst>
</file>

<file path=ppt/tags/tag67.xml><?xml version="1.0" encoding="utf-8"?>
<p:tagLst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8577"/>
  <p:tag name="KSO_WM_TEMPLATE_CATEGORY" val="custom"/>
  <p:tag name="KSO_WM_SLIDE_INDEX" val="7"/>
  <p:tag name="KSO_WM_SLIDE_ID" val="custom20238577_7"/>
  <p:tag name="KSO_WM_TEMPLATE_MASTER_TYPE" val="0"/>
  <p:tag name="KSO_WM_SLIDE_LAYOUT" val="a_e"/>
  <p:tag name="KSO_WM_SLIDE_LAYOUT_CNT" val="1_1"/>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l_h_a"/>
  <p:tag name="KSO_WM_UNIT_INDEX" val="1_3_1"/>
  <p:tag name="KSO_WM_UNIT_ID" val="diagram40494663_1*l_h_a*1_3_1"/>
  <p:tag name="KSO_WM_TEMPLATE_CATEGORY" val="diagram"/>
  <p:tag name="KSO_WM_TEMPLATE_INDEX" val="40494663"/>
  <p:tag name="KSO_WM_UNIT_LAYERLEVEL" val="1_1_1"/>
  <p:tag name="KSO_WM_TAG_VERSION" val="3.0"/>
  <p:tag name="KSO_WM_UNIT_ISCONTENTSTITLE" val="0"/>
  <p:tag name="KSO_WM_UNIT_ISNUMDGMTITLE" val="0"/>
  <p:tag name="KSO_WM_DIAGRAM_GROUP_CODE" val="l1-1"/>
  <p:tag name="KSO_WM_UNIT_VALUE" val="12"/>
  <p:tag name="KSO_WM_DIAGRAM_VERSION" val="3"/>
  <p:tag name="KSO_WM_DIAGRAM_COLOR_TRICK" val="1"/>
  <p:tag name="KSO_WM_DIAGRAM_COLOR_TEXT_CAN_REMOVE" val="n"/>
  <p:tag name="KSO_WM_UNIT_PRESET_TEXT" val="加项标题"/>
  <p:tag name="KSO_WM_UNIT_TEXT_FILL_FORE_SCHEMECOLOR_INDEX" val="1"/>
  <p:tag name="KSO_WM_UNIT_TEXT_FILL_TYPE" val="1"/>
  <p:tag name="KSO_WM_UNIT_TEXT_TYPE" val="1"/>
  <p:tag name="KSO_WM_DIAGRAM_VIRTUALLY_FRAME" val="{&quot;height&quot;:302.6000787401575,&quot;left&quot;:62.69999389648437,&quot;top&quot;:177.77496062992125,&quot;width&quot;:828.5734586265119}"/>
  <p:tag name="KSO_WM_DIAGRAM_MAX_ITEMCNT" val="5"/>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71.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3_1"/>
  <p:tag name="KSO_WM_UNIT_ID" val="diagram40494663_1*l_h_f*1_3_1"/>
  <p:tag name="KSO_WM_TEMPLATE_CATEGORY" val="diagram"/>
  <p:tag name="KSO_WM_TEMPLATE_INDEX" val="40494663"/>
  <p:tag name="KSO_WM_UNIT_LAYERLEVEL" val="1_1_1"/>
  <p:tag name="KSO_WM_TAG_VERSION" val="3.0"/>
  <p:tag name="KSO_WM_UNIT_TEXT_LAYER_COUNT" val="1"/>
  <p:tag name="KSO_WM_DIAGRAM_GROUP_CODE" val="l1-1"/>
  <p:tag name="KSO_WM_DIAGRAM_VERSION" val="3"/>
  <p:tag name="KSO_WM_DIAGRAM_COLOR_TRICK" val="1"/>
  <p:tag name="KSO_WM_DIAGRAM_COLOR_TEXT_CAN_REMOVE" val="n"/>
  <p:tag name="KSO_WM_UNIT_PRESET_TEXT" val="单击此处添加文本内容，简明阐述观点。单击此处添加文本具体内容，简明扼要地阐述观点。单击此处添加文本内容，简明阐述观点。"/>
  <p:tag name="KSO_WM_UNIT_TEXT_FILL_FORE_SCHEMECOLOR_INDEX" val="1"/>
  <p:tag name="KSO_WM_UNIT_TEXT_FILL_TYPE" val="1"/>
  <p:tag name="KSO_WM_UNIT_TEXT_TYPE" val="1"/>
  <p:tag name="KSO_WM_DIAGRAM_VIRTUALLY_FRAME" val="{&quot;height&quot;:302.6000787401575,&quot;left&quot;:62.69999389648437,&quot;top&quot;:177.77496062992125,&quot;width&quot;:828.5734586265119}"/>
  <p:tag name="KSO_WM_DIAGRAM_MAX_ITEMCNT" val="5"/>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40494663_1*l_h_i*1_3_1"/>
  <p:tag name="KSO_WM_TEMPLATE_CATEGORY" val="diagram"/>
  <p:tag name="KSO_WM_TEMPLATE_INDEX" val="40494663"/>
  <p:tag name="KSO_WM_UNIT_LAYERLEVEL" val="1_1_1"/>
  <p:tag name="KSO_WM_TAG_VERSION" val="3.0"/>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
  <p:tag name="KSO_WM_DIAGRAM_VIRTUALLY_FRAME" val="{&quot;height&quot;:302.6000787401575,&quot;left&quot;:62.69999389648437,&quot;top&quot;:177.77496062992125,&quot;width&quot;:828.5734586265119}"/>
  <p:tag name="KSO_WM_DIAGRAM_MAX_ITEMCNT" val="5"/>
  <p:tag name="KSO_WM_DIAGRAM_MIN_ITEMCNT" val="3"/>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73.xml><?xml version="1.0" encoding="utf-8"?>
<p:tagLst xmlns:p="http://schemas.openxmlformats.org/presentationml/2006/main">
  <p:tag name="KSO_WM_UNIT_VALUE" val="84*84"/>
  <p:tag name="KSO_WM_UNIT_HIGHLIGHT" val="0"/>
  <p:tag name="KSO_WM_UNIT_COMPATIBLE" val="0"/>
  <p:tag name="KSO_WM_UNIT_DIAGRAM_ISNUMVISUAL" val="0"/>
  <p:tag name="KSO_WM_UNIT_DIAGRAM_ISREFERUNIT" val="0"/>
  <p:tag name="KSO_WM_DIAGRAM_GROUP_CODE" val="l1-1"/>
  <p:tag name="KSO_WM_UNIT_TYPE" val="l_h_x"/>
  <p:tag name="KSO_WM_UNIT_INDEX" val="1_3_1"/>
  <p:tag name="KSO_WM_UNIT_ID" val="diagram40494663_1*l_h_x*1_3_1"/>
  <p:tag name="KSO_WM_TEMPLATE_CATEGORY" val="diagram"/>
  <p:tag name="KSO_WM_TEMPLATE_INDEX" val="40494663"/>
  <p:tag name="KSO_WM_UNIT_LAYERLEVEL" val="1_1_1"/>
  <p:tag name="KSO_WM_TAG_VERSION" val="3.0"/>
  <p:tag name="KSO_WM_DIAGRAM_VERSION" val="3"/>
  <p:tag name="KSO_WM_DIAGRAM_COLOR_TRICK" val="1"/>
  <p:tag name="KSO_WM_DIAGRAM_COLOR_TEXT_CAN_REMOVE" val="n"/>
  <p:tag name="KSO_WM_DIAGRAM_VIRTUALLY_FRAME" val="{&quot;height&quot;:302.6000787401575,&quot;left&quot;:62.69999389648437,&quot;top&quot;:177.77496062992125,&quot;width&quot;:828.5734586265119}"/>
  <p:tag name="KSO_WM_DIAGRAM_MAX_ITEMCNT" val="5"/>
  <p:tag name="KSO_WM_DIAGRAM_MIN_ITEMCNT" val="3"/>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9,10,9,10,9,10]}"/>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40494663_1*l_h_i*1_2_2"/>
  <p:tag name="KSO_WM_TEMPLATE_CATEGORY" val="diagram"/>
  <p:tag name="KSO_WM_TEMPLATE_INDEX" val="40494663"/>
  <p:tag name="KSO_WM_UNIT_LAYERLEVEL" val="1_1_1"/>
  <p:tag name="KSO_WM_TAG_VERSION" val="3.0"/>
  <p:tag name="KSO_WM_DIAGRAM_VERSION" val="3"/>
  <p:tag name="KSO_WM_DIAGRAM_COLOR_TRICK" val="1"/>
  <p:tag name="KSO_WM_DIAGRAM_COLOR_TEXT_CAN_REMOVE" val="n"/>
  <p:tag name="KSO_WM_DIAGRAM_VIRTUALLY_FRAME" val="{&quot;height&quot;:302.6000787401575,&quot;left&quot;:62.69999389648437,&quot;top&quot;:177.77496062992125,&quot;width&quot;:828.5734586265119}"/>
  <p:tag name="KSO_WM_DIAGRAM_MAX_ITEMCNT" val="5"/>
  <p:tag name="KSO_WM_DIAGRAM_MIN_ITEMCNT" val="3"/>
  <p:tag name="KSO_WM_DIAGRAM_COLOR_MATCH_VALUE" val="{&quot;shape&quot;:{&quot;fill&quot;:{&quot;type&quot;:0},&quot;glow&quot;:{&quot;colorType&quot;:0},&quot;line&quot;:{&quot;gradient&quot;:[{&quot;brightness&quot;:0.949999988079071,&quot;colorType&quot;:1,&quot;foreColorIndex&quot;:5,&quot;pos&quot;:1,&quot;transparency&quot;:1},{&quot;brightness&quot;:0,&quot;colorType&quot;:1,&quot;foreColorIndex&quot;:5,&quot;pos&quot;:0.550000011920929,&quot;transparency&quot;:0.75}],&quot;type&quot;:2},&quot;shadow&quot;:{&quot;brightness&quot;:0,&quot;colorType&quot;:1,&quot;foreColorIndex&quot;:5,&quot;transparency&quot;:0.4099999964237213},&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75.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l_h_a"/>
  <p:tag name="KSO_WM_UNIT_INDEX" val="1_2_1"/>
  <p:tag name="KSO_WM_UNIT_ID" val="diagram40494663_1*l_h_a*1_2_1"/>
  <p:tag name="KSO_WM_TEMPLATE_CATEGORY" val="diagram"/>
  <p:tag name="KSO_WM_TEMPLATE_INDEX" val="40494663"/>
  <p:tag name="KSO_WM_UNIT_LAYERLEVEL" val="1_1_1"/>
  <p:tag name="KSO_WM_TAG_VERSION" val="3.0"/>
  <p:tag name="KSO_WM_UNIT_ISCONTENTSTITLE" val="0"/>
  <p:tag name="KSO_WM_UNIT_ISNUMDGMTITLE" val="0"/>
  <p:tag name="KSO_WM_DIAGRAM_GROUP_CODE" val="l1-1"/>
  <p:tag name="KSO_WM_UNIT_VALUE" val="12"/>
  <p:tag name="KSO_WM_DIAGRAM_VERSION" val="3"/>
  <p:tag name="KSO_WM_DIAGRAM_COLOR_TRICK" val="1"/>
  <p:tag name="KSO_WM_DIAGRAM_COLOR_TEXT_CAN_REMOVE" val="n"/>
  <p:tag name="KSO_WM_UNIT_PRESET_TEXT" val="加项标题"/>
  <p:tag name="KSO_WM_UNIT_TEXT_FILL_FORE_SCHEMECOLOR_INDEX" val="1"/>
  <p:tag name="KSO_WM_UNIT_TEXT_FILL_TYPE" val="1"/>
  <p:tag name="KSO_WM_UNIT_TEXT_TYPE" val="1"/>
  <p:tag name="KSO_WM_DIAGRAM_VIRTUALLY_FRAME" val="{&quot;height&quot;:302.6000787401575,&quot;left&quot;:62.69999389648437,&quot;top&quot;:177.77496062992125,&quot;width&quot;:828.5734586265119}"/>
  <p:tag name="KSO_WM_DIAGRAM_MAX_ITEMCNT" val="5"/>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76.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40494663_1*l_h_f*1_2_1"/>
  <p:tag name="KSO_WM_TEMPLATE_CATEGORY" val="diagram"/>
  <p:tag name="KSO_WM_TEMPLATE_INDEX" val="40494663"/>
  <p:tag name="KSO_WM_UNIT_LAYERLEVEL" val="1_1_1"/>
  <p:tag name="KSO_WM_TAG_VERSION" val="3.0"/>
  <p:tag name="KSO_WM_UNIT_TEXT_LAYER_COUNT" val="1"/>
  <p:tag name="KSO_WM_DIAGRAM_GROUP_CODE" val="l1-1"/>
  <p:tag name="KSO_WM_DIAGRAM_VERSION" val="3"/>
  <p:tag name="KSO_WM_DIAGRAM_COLOR_TRICK" val="1"/>
  <p:tag name="KSO_WM_DIAGRAM_COLOR_TEXT_CAN_REMOVE" val="n"/>
  <p:tag name="KSO_WM_UNIT_PRESET_TEXT" val="单击此处添加文本内容，简明阐述观点。单击此处添加文本内容，简明扼要地阐述您的观点。单击此处添加文本内容，简明扼要地阐述观点。单击此处添加文本内容。"/>
  <p:tag name="KSO_WM_UNIT_TEXT_FILL_FORE_SCHEMECOLOR_INDEX" val="1"/>
  <p:tag name="KSO_WM_UNIT_TEXT_FILL_TYPE" val="1"/>
  <p:tag name="KSO_WM_UNIT_TEXT_TYPE" val="1"/>
  <p:tag name="KSO_WM_DIAGRAM_VIRTUALLY_FRAME" val="{&quot;height&quot;:302.6000787401575,&quot;left&quot;:62.69999389648437,&quot;top&quot;:177.77496062992125,&quot;width&quot;:828.5734586265119}"/>
  <p:tag name="KSO_WM_DIAGRAM_MAX_ITEMCNT" val="5"/>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40494663_1*l_h_i*1_2_1"/>
  <p:tag name="KSO_WM_TEMPLATE_CATEGORY" val="diagram"/>
  <p:tag name="KSO_WM_TEMPLATE_INDEX" val="40494663"/>
  <p:tag name="KSO_WM_UNIT_LAYERLEVEL" val="1_1_1"/>
  <p:tag name="KSO_WM_TAG_VERSION" val="3.0"/>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
  <p:tag name="KSO_WM_DIAGRAM_VIRTUALLY_FRAME" val="{&quot;height&quot;:302.6000787401575,&quot;left&quot;:62.69999389648437,&quot;top&quot;:177.77496062992125,&quot;width&quot;:828.5734586265119}"/>
  <p:tag name="KSO_WM_DIAGRAM_MAX_ITEMCNT" val="5"/>
  <p:tag name="KSO_WM_DIAGRAM_MIN_ITEMCNT" val="3"/>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78.xml><?xml version="1.0" encoding="utf-8"?>
<p:tagLst xmlns:p="http://schemas.openxmlformats.org/presentationml/2006/main">
  <p:tag name="KSO_WM_UNIT_VALUE" val="96*87"/>
  <p:tag name="KSO_WM_UNIT_HIGHLIGHT" val="0"/>
  <p:tag name="KSO_WM_UNIT_COMPATIBLE" val="0"/>
  <p:tag name="KSO_WM_UNIT_DIAGRAM_ISNUMVISUAL" val="0"/>
  <p:tag name="KSO_WM_UNIT_DIAGRAM_ISREFERUNIT" val="0"/>
  <p:tag name="KSO_WM_DIAGRAM_GROUP_CODE" val="l1-1"/>
  <p:tag name="KSO_WM_UNIT_TYPE" val="l_h_x"/>
  <p:tag name="KSO_WM_UNIT_INDEX" val="1_2_1"/>
  <p:tag name="KSO_WM_UNIT_ID" val="diagram40494663_1*l_h_x*1_2_1"/>
  <p:tag name="KSO_WM_TEMPLATE_CATEGORY" val="diagram"/>
  <p:tag name="KSO_WM_TEMPLATE_INDEX" val="40494663"/>
  <p:tag name="KSO_WM_UNIT_LAYERLEVEL" val="1_1_1"/>
  <p:tag name="KSO_WM_TAG_VERSION" val="3.0"/>
  <p:tag name="KSO_WM_DIAGRAM_VERSION" val="3"/>
  <p:tag name="KSO_WM_DIAGRAM_COLOR_TRICK" val="1"/>
  <p:tag name="KSO_WM_DIAGRAM_COLOR_TEXT_CAN_REMOVE" val="n"/>
  <p:tag name="KSO_WM_DIAGRAM_VIRTUALLY_FRAME" val="{&quot;height&quot;:302.6000787401575,&quot;left&quot;:62.69999389648437,&quot;top&quot;:177.77496062992125,&quot;width&quot;:828.5734586265119}"/>
  <p:tag name="KSO_WM_DIAGRAM_MAX_ITEMCNT" val="5"/>
  <p:tag name="KSO_WM_DIAGRAM_MIN_ITEMCNT" val="3"/>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9,10,9,10,9,10]}"/>
</p:tagLst>
</file>

<file path=ppt/tags/tag79.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l_h_a"/>
  <p:tag name="KSO_WM_UNIT_INDEX" val="1_1_1"/>
  <p:tag name="KSO_WM_UNIT_ID" val="diagram40494663_1*l_h_a*1_1_1"/>
  <p:tag name="KSO_WM_TEMPLATE_CATEGORY" val="diagram"/>
  <p:tag name="KSO_WM_TEMPLATE_INDEX" val="40494663"/>
  <p:tag name="KSO_WM_UNIT_LAYERLEVEL" val="1_1_1"/>
  <p:tag name="KSO_WM_TAG_VERSION" val="3.0"/>
  <p:tag name="KSO_WM_UNIT_ISCONTENTSTITLE" val="0"/>
  <p:tag name="KSO_WM_UNIT_ISNUMDGMTITLE" val="0"/>
  <p:tag name="KSO_WM_DIAGRAM_GROUP_CODE" val="l1-1"/>
  <p:tag name="KSO_WM_UNIT_VALUE" val="12"/>
  <p:tag name="KSO_WM_DIAGRAM_VERSION" val="3"/>
  <p:tag name="KSO_WM_DIAGRAM_COLOR_TRICK" val="1"/>
  <p:tag name="KSO_WM_DIAGRAM_COLOR_TEXT_CAN_REMOVE" val="n"/>
  <p:tag name="KSO_WM_UNIT_PRESET_TEXT" val="加项标题"/>
  <p:tag name="KSO_WM_UNIT_TEXT_FILL_FORE_SCHEMECOLOR_INDEX" val="1"/>
  <p:tag name="KSO_WM_UNIT_TEXT_FILL_TYPE" val="1"/>
  <p:tag name="KSO_WM_UNIT_TEXT_TYPE" val="1"/>
  <p:tag name="KSO_WM_DIAGRAM_VIRTUALLY_FRAME" val="{&quot;height&quot;:302.6000787401575,&quot;left&quot;:62.69999389648437,&quot;top&quot;:177.77496062992125,&quot;width&quot;:828.5734586265119}"/>
  <p:tag name="KSO_WM_DIAGRAM_MAX_ITEMCNT" val="5"/>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80.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40494663_1*l_h_f*1_1_1"/>
  <p:tag name="KSO_WM_TEMPLATE_CATEGORY" val="diagram"/>
  <p:tag name="KSO_WM_TEMPLATE_INDEX" val="40494663"/>
  <p:tag name="KSO_WM_UNIT_LAYERLEVEL" val="1_1_1"/>
  <p:tag name="KSO_WM_TAG_VERSION" val="3.0"/>
  <p:tag name="KSO_WM_UNIT_TEXT_LAYER_COUNT" val="1"/>
  <p:tag name="KSO_WM_DIAGRAM_GROUP_CODE" val="l1-1"/>
  <p:tag name="KSO_WM_DIAGRAM_VERSION" val="3"/>
  <p:tag name="KSO_WM_DIAGRAM_COLOR_TRICK" val="1"/>
  <p:tag name="KSO_WM_DIAGRAM_COLOR_TEXT_CAN_REMOVE" val="n"/>
  <p:tag name="KSO_WM_UNIT_PRESET_TEXT" val="单击此处添加文本内容，简明阐述观点。单击此处添加文本具体内容，简明扼要地阐述观点。单击此处添加文本内容，简明阐述观点。"/>
  <p:tag name="KSO_WM_UNIT_TEXT_FILL_FORE_SCHEMECOLOR_INDEX" val="1"/>
  <p:tag name="KSO_WM_UNIT_TEXT_FILL_TYPE" val="1"/>
  <p:tag name="KSO_WM_UNIT_TEXT_TYPE" val="1"/>
  <p:tag name="KSO_WM_DIAGRAM_VIRTUALLY_FRAME" val="{&quot;height&quot;:302.6000787401575,&quot;left&quot;:62.69999389648437,&quot;top&quot;:177.77496062992125,&quot;width&quot;:828.5734586265119}"/>
  <p:tag name="KSO_WM_DIAGRAM_MAX_ITEMCNT" val="5"/>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40494663_1*l_h_i*1_1_1"/>
  <p:tag name="KSO_WM_TEMPLATE_CATEGORY" val="diagram"/>
  <p:tag name="KSO_WM_TEMPLATE_INDEX" val="40494663"/>
  <p:tag name="KSO_WM_UNIT_LAYERLEVEL" val="1_1_1"/>
  <p:tag name="KSO_WM_TAG_VERSION" val="3.0"/>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
  <p:tag name="KSO_WM_DIAGRAM_VIRTUALLY_FRAME" val="{&quot;height&quot;:302.6000787401575,&quot;left&quot;:62.69999389648437,&quot;top&quot;:177.77496062992125,&quot;width&quot;:828.5734586265119}"/>
  <p:tag name="KSO_WM_DIAGRAM_MAX_ITEMCNT" val="5"/>
  <p:tag name="KSO_WM_DIAGRAM_MIN_ITEMCNT" val="3"/>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82.xml><?xml version="1.0" encoding="utf-8"?>
<p:tagLst xmlns:p="http://schemas.openxmlformats.org/presentationml/2006/main">
  <p:tag name="KSO_WM_UNIT_VALUE" val="85*85"/>
  <p:tag name="KSO_WM_UNIT_HIGHLIGHT" val="0"/>
  <p:tag name="KSO_WM_UNIT_COMPATIBLE" val="0"/>
  <p:tag name="KSO_WM_UNIT_DIAGRAM_ISNUMVISUAL" val="0"/>
  <p:tag name="KSO_WM_UNIT_DIAGRAM_ISREFERUNIT" val="0"/>
  <p:tag name="KSO_WM_DIAGRAM_GROUP_CODE" val="l1-1"/>
  <p:tag name="KSO_WM_UNIT_TYPE" val="l_h_x"/>
  <p:tag name="KSO_WM_UNIT_INDEX" val="1_1_1"/>
  <p:tag name="KSO_WM_UNIT_ID" val="diagram40494663_1*l_h_x*1_1_1"/>
  <p:tag name="KSO_WM_TEMPLATE_CATEGORY" val="diagram"/>
  <p:tag name="KSO_WM_TEMPLATE_INDEX" val="40494663"/>
  <p:tag name="KSO_WM_UNIT_LAYERLEVEL" val="1_1_1"/>
  <p:tag name="KSO_WM_TAG_VERSION" val="3.0"/>
  <p:tag name="KSO_WM_DIAGRAM_VERSION" val="3"/>
  <p:tag name="KSO_WM_DIAGRAM_COLOR_TRICK" val="1"/>
  <p:tag name="KSO_WM_DIAGRAM_COLOR_TEXT_CAN_REMOVE" val="n"/>
  <p:tag name="KSO_WM_DIAGRAM_VIRTUALLY_FRAME" val="{&quot;height&quot;:302.6000787401575,&quot;left&quot;:62.69999389648437,&quot;top&quot;:177.77496062992125,&quot;width&quot;:828.5734586265119}"/>
  <p:tag name="KSO_WM_DIAGRAM_MAX_ITEMCNT" val="5"/>
  <p:tag name="KSO_WM_DIAGRAM_MIN_ITEMCNT" val="3"/>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9,10,9,10,9,10]}"/>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diagram40494663_1*l_h_i*1_3_2"/>
  <p:tag name="KSO_WM_TEMPLATE_CATEGORY" val="diagram"/>
  <p:tag name="KSO_WM_TEMPLATE_INDEX" val="40494663"/>
  <p:tag name="KSO_WM_UNIT_LAYERLEVEL" val="1_1_1"/>
  <p:tag name="KSO_WM_TAG_VERSION" val="3.0"/>
  <p:tag name="KSO_WM_DIAGRAM_VERSION" val="3"/>
  <p:tag name="KSO_WM_DIAGRAM_COLOR_TRICK" val="1"/>
  <p:tag name="KSO_WM_DIAGRAM_COLOR_TEXT_CAN_REMOVE" val="n"/>
  <p:tag name="KSO_WM_DIAGRAM_VIRTUALLY_FRAME" val="{&quot;height&quot;:302.6000787401575,&quot;left&quot;:62.69999389648437,&quot;top&quot;:177.77496062992125,&quot;width&quot;:828.5734586265119}"/>
  <p:tag name="KSO_WM_DIAGRAM_MAX_ITEMCNT" val="5"/>
  <p:tag name="KSO_WM_DIAGRAM_MIN_ITEMCNT" val="3"/>
  <p:tag name="KSO_WM_DIAGRAM_COLOR_MATCH_VALUE" val="{&quot;shape&quot;:{&quot;fill&quot;:{&quot;type&quot;:0},&quot;glow&quot;:{&quot;colorType&quot;:0},&quot;line&quot;:{&quot;gradient&quot;:[{&quot;brightness&quot;:0.949999988079071,&quot;colorType&quot;:1,&quot;foreColorIndex&quot;:5,&quot;pos&quot;:1,&quot;transparency&quot;:1},{&quot;brightness&quot;:0,&quot;colorType&quot;:1,&quot;foreColorIndex&quot;:5,&quot;pos&quot;:0.550000011920929,&quot;transparency&quot;:0.75}],&quot;type&quot;:2},&quot;shadow&quot;:{&quot;brightness&quot;:0,&quot;colorType&quot;:1,&quot;foreColorIndex&quot;:5,&quot;transparency&quot;:0.4099999964237213},&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40494663_1*l_h_i*1_1_2"/>
  <p:tag name="KSO_WM_TEMPLATE_CATEGORY" val="diagram"/>
  <p:tag name="KSO_WM_TEMPLATE_INDEX" val="40494663"/>
  <p:tag name="KSO_WM_UNIT_LAYERLEVEL" val="1_1_1"/>
  <p:tag name="KSO_WM_TAG_VERSION" val="3.0"/>
  <p:tag name="KSO_WM_DIAGRAM_VERSION" val="3"/>
  <p:tag name="KSO_WM_DIAGRAM_COLOR_TRICK" val="1"/>
  <p:tag name="KSO_WM_DIAGRAM_COLOR_TEXT_CAN_REMOVE" val="n"/>
  <p:tag name="KSO_WM_DIAGRAM_VIRTUALLY_FRAME" val="{&quot;height&quot;:302.6000787401575,&quot;left&quot;:62.69999389648437,&quot;top&quot;:177.77496062992125,&quot;width&quot;:828.5734586265119}"/>
  <p:tag name="KSO_WM_DIAGRAM_MAX_ITEMCNT" val="5"/>
  <p:tag name="KSO_WM_DIAGRAM_MIN_ITEMCNT" val="3"/>
  <p:tag name="KSO_WM_DIAGRAM_COLOR_MATCH_VALUE" val="{&quot;shape&quot;:{&quot;fill&quot;:{&quot;type&quot;:0},&quot;glow&quot;:{&quot;colorType&quot;:0},&quot;line&quot;:{&quot;gradient&quot;:[{&quot;brightness&quot;:0.949999988079071,&quot;colorType&quot;:1,&quot;foreColorIndex&quot;:5,&quot;pos&quot;:1,&quot;transparency&quot;:1},{&quot;brightness&quot;:0,&quot;colorType&quot;:1,&quot;foreColorIndex&quot;:5,&quot;pos&quot;:0.550000011920929,&quot;transparency&quot;:0.75}],&quot;type&quot;:2},&quot;shadow&quot;:{&quot;brightness&quot;:0,&quot;colorType&quot;:1,&quot;foreColorIndex&quot;:5,&quot;transparency&quot;:0.4099999964237213},&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68_2*n_h_a*1_1_1"/>
  <p:tag name="KSO_WM_TEMPLATE_CATEGORY" val="diagram"/>
  <p:tag name="KSO_WM_TEMPLATE_INDEX" val="40493068"/>
  <p:tag name="KSO_WM_UNIT_LAYERLEVEL" val="1_1_1"/>
  <p:tag name="KSO_WM_TAG_VERSION" val="3.0"/>
  <p:tag name="KSO_WM_UNIT_ISCONTENTSTITLE" val="0"/>
  <p:tag name="KSO_WM_UNIT_ISNUMDGMTITLE" val="0"/>
  <p:tag name="KSO_WM_UNIT_NOCLEAR" val="0"/>
  <p:tag name="KSO_WM_DIAGRAM_GROUP_CODE" val="n1-1"/>
  <p:tag name="KSO_WM_UNIT_TYPE" val="n_h_a"/>
  <p:tag name="KSO_WM_UNIT_INDEX" val="1_1_1"/>
  <p:tag name="KSO_WM_UNIT_FILL_TYPE" val="3"/>
  <p:tag name="KSO_WM_UNIT_PRESET_TEXT" val="添加标题内容"/>
  <p:tag name="KSO_WM_UNIT_TEXT_TYPE" val="1"/>
  <p:tag name="KSO_WM_DIAGRAM_VERSION" val="3"/>
  <p:tag name="KSO_WM_DIAGRAM_COLOR_TRICK" val="1"/>
  <p:tag name="KSO_WM_DIAGRAM_COLOR_TEXT_CAN_REMOVE" val="n"/>
  <p:tag name="KSO_WM_DIAGRAM_MAX_ITEMCNT" val="6"/>
  <p:tag name="KSO_WM_DIAGRAM_MIN_ITEMCNT" val="2"/>
  <p:tag name="KSO_WM_DIAGRAM_VIRTUALLY_FRAME" val="{&quot;height&quot;:316.9499938964844,&quot;left&quot;:46.8,&quot;top&quot;:95.05000305175781,&quot;width&quot;:866.85}"/>
  <p:tag name="KSO_WM_DIAGRAM_COLOR_MATCH_VALUE" val="{&quot;shape&quot;:{&quot;fill&quot;:{&quot;gradient&quot;:[{&quot;brightness&quot;:0.4000000059604645,&quot;colorType&quot;:1,&quot;foreColorIndex&quot;:5,&quot;pos&quot;:0,&quot;transparency&quot;:0.20000000298023224},{&quot;brightness&quot;:0,&quot;colorType&quot;:1,&quot;foreColorIndex&quot;:5,&quot;pos&quot;:0.8899999856948853,&quot;transparency&quot;:0}],&quot;type&quot;:3},&quot;glow&quot;:{&quot;colorType&quot;:0},&quot;line&quot;:{&quot;type&quot;:0},&quot;shadow&quot;:{&quot;brightness&quot;:-0.25,&quot;colorType&quot;:1,&quot;foreColorIndex&quot;:5,&quot;transparency&quot;:0.85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86.xml><?xml version="1.0" encoding="utf-8"?>
<p:tagLst xmlns:p="http://schemas.openxmlformats.org/presentationml/2006/main">
  <p:tag name="KSO_WM_SLIDE_ITEM_CNT" val="3"/>
  <p:tag name="resource_record_key" val="{&quot;10&quot;:[3505430,50036384,50034089,4590447],&quot;29&quot;:[50053024,50052948],&quot;70&quot;:[3405561,3319090,3312439,3312479,3429185]}"/>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DIAGRAM_VIRTUALLY_FRAME" val="{&quot;height&quot;:389.6,&quot;left&quot;:211.45,&quot;top&quot;:116.65,&quot;width&quot;:477.55}"/>
</p:tagLst>
</file>

<file path=ppt/tags/tag90.xml><?xml version="1.0" encoding="utf-8"?>
<p:tagLst xmlns:p="http://schemas.openxmlformats.org/presentationml/2006/main">
  <p:tag name="KSO_WM_UNIT_TYPE" val="a"/>
  <p:tag name="KSO_WM_UNIT_INDEX" val="1"/>
  <p:tag name="KSO_WM_BEAUTIFY_FLAG" val="#wm#"/>
  <p:tag name="KSO_WM_TAG_VERSION" val="3.0"/>
  <p:tag name="KSO_WM_UNIT_ID" val="custom20238577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ISCONTENTSTITLE" val="0"/>
  <p:tag name="KSO_WM_UNIT_VALUE" val="14"/>
  <p:tag name="KSO_WM_UNIT_TEXT_TYPE" val="1"/>
  <p:tag name="KSO_WM_UNIT_PRESET_TEXT" val="单击此处添加&#10;章节标题"/>
</p:tagLst>
</file>

<file path=ppt/tags/tag91.xml><?xml version="1.0" encoding="utf-8"?>
<p:tagLst xmlns:p="http://schemas.openxmlformats.org/presentationml/2006/main">
  <p:tag name="KSO_WM_UNIT_TYPE" val="e"/>
  <p:tag name="KSO_WM_UNIT_INDEX" val="1"/>
  <p:tag name="KSO_WM_BEAUTIFY_FLAG" val="#wm#"/>
  <p:tag name="KSO_WM_TAG_VERSION" val="3.0"/>
  <p:tag name="KSO_WM_UNIT_ID" val="custom20238577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VALUE" val="2"/>
</p:tagLst>
</file>

<file path=ppt/tags/tag92.xml><?xml version="1.0" encoding="utf-8"?>
<p:tagLst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8577"/>
  <p:tag name="KSO_WM_TEMPLATE_CATEGORY" val="custom"/>
  <p:tag name="KSO_WM_SLIDE_INDEX" val="7"/>
  <p:tag name="KSO_WM_SLIDE_ID" val="custom20238577_7"/>
  <p:tag name="KSO_WM_TEMPLATE_MASTER_TYPE" val="0"/>
  <p:tag name="KSO_WM_SLIDE_LAYOUT" val="a_e"/>
  <p:tag name="KSO_WM_SLIDE_LAYOUT_CNT" val="1_1"/>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a"/>
  <p:tag name="KSO_WM_UNIT_INDEX" val="1_1_1"/>
  <p:tag name="KSO_WM_UNIT_ID" val="diagram20231092_1*n_h_a*1_1_1"/>
  <p:tag name="KSO_WM_TEMPLATE_CATEGORY" val="diagram"/>
  <p:tag name="KSO_WM_TEMPLATE_INDEX" val="20231092"/>
  <p:tag name="KSO_WM_UNIT_LAYERLEVEL" val="1_1_1"/>
  <p:tag name="KSO_WM_TAG_VERSION" val="3.0"/>
  <p:tag name="KSO_WM_UNIT_ISCONTENTSTITLE" val="0"/>
  <p:tag name="KSO_WM_UNIT_ISNUMDGMTITLE" val="0"/>
  <p:tag name="KSO_WM_UNIT_NOCLEAR" val="0"/>
  <p:tag name="KSO_WM_UNIT_VALUE" val="40"/>
  <p:tag name="KSO_WM_DIAGRAM_VERSION" val="3"/>
  <p:tag name="KSO_WM_DIAGRAM_COLOR_TRICK" val="1"/>
  <p:tag name="KSO_WM_DIAGRAM_COLOR_TEXT_CAN_REMOVE" val="n"/>
  <p:tag name="KSO_WM_DIAGRAM_MAX_ITEMCNT" val="6"/>
  <p:tag name="KSO_WM_DIAGRAM_MIN_ITEMCNT" val="2"/>
  <p:tag name="KSO_WM_DIAGRAM_VIRTUALLY_FRAME" val="{&quot;height&quot;:383.57212598425195,&quot;left&quot;:48.8792202782819,&quot;top&quot;:119.31220472440945,&quot;width&quot;:860.7416381835938}"/>
  <p:tag name="KSO_WM_DIAGRAM_COLOR_MATCH_VALUE" val="{&quot;shape&quot;:{&quot;fill&quot;:{&quot;gradient&quot;:[{&quot;brightness&quot;:0,&quot;colorType&quot;:1,&quot;foreColorIndex&quot;:5,&quot;pos&quot;:0,&quot;transparency&quot;:0},{&quot;brightness&quot;:0.20000000298023224,&quot;colorType&quot;:1,&quot;foreColorIndex&quot;:5,&quot;pos&quot;:1,&quot;transparency&quot;:0}],&quot;type&quot;:3},&quot;glow&quot;:{&quot;colorType&quot;:0},&quot;line&quot;:{&quot;gradient&quot;:[{&quot;brightness&quot;:0,&quot;colorType&quot;:2,&quot;pos&quot;:1,&quot;rgb&quot;:&quot;#ffffff&quot;,&quot;transparency&quot;:1},{&quot;brightness&quot;:0,&quot;colorType&quot;:2,&quot;pos&quot;:0,&quot;rgb&quot;:&quot;#ffffff&quot;,&quot;transparency&quot;:0}],&quot;type&quot;:2},&quot;shadow&quot;:{&quot;brightness&quot;:0,&quot;colorType&quot;:1,&quot;foreColorIndex&quot;:5,&quot;transparency&quot;:0.60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BEAUTIFY_FLAG" val="#wm#"/>
  <p:tag name="KSO_WM_UNIT_PRESET_TEXT" val="单击此处&#10;添加标题"/>
  <p:tag name="KSO_WM_UNIT_FILL_TYPE" val="3"/>
  <p:tag name="KSO_WM_DIAGRAM_USE_COLOR_VALUE" val="{&quot;color_scheme&quot;:1,&quot;color_type&quot;:1,&quot;theme_color_indexes&quot;:[9,10,9,10,9,10]}"/>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i"/>
  <p:tag name="KSO_WM_UNIT_INDEX" val="1_1_2"/>
  <p:tag name="KSO_WM_UNIT_ID" val="diagram20231092_1*n_h_i*1_1_2"/>
  <p:tag name="KSO_WM_TEMPLATE_CATEGORY" val="diagram"/>
  <p:tag name="KSO_WM_TEMPLATE_INDEX" val="20231092"/>
  <p:tag name="KSO_WM_UNIT_LAYERLEVEL" val="1_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383.57212598425195,&quot;left&quot;:48.8792202782819,&quot;top&quot;:119.31220472440945,&quot;width&quot;:860.7416381835938}"/>
  <p:tag name="KSO_WM_DIAGRAM_COLOR_MATCH_VALUE" val="{&quot;shape&quot;:{&quot;fill&quot;:{&quot;type&quot;:0},&quot;glow&quot;:{&quot;colorType&quot;:0},&quot;line&quot;:{&quot;gradient&quot;:[{&quot;brightness&quot;:0,&quot;colorType&quot;:1,&quot;foreColorIndex&quot;:5,&quot;pos&quot;:1,&quot;transparency&quot;:0.949999988079071},{&quot;brightness&quot;:0,&quot;colorType&quot;:1,&quot;foreColorIndex&quot;:5,&quot;pos&quot;:0,&quot;transparency&quot;:0}],&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USE_COLOR_VALUE" val="{&quot;color_scheme&quot;:1,&quot;color_type&quot;:1,&quot;theme_color_indexes&quot;:[9,10,9,10,9,10]}"/>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i"/>
  <p:tag name="KSO_WM_UNIT_INDEX" val="1_1_1"/>
  <p:tag name="KSO_WM_UNIT_ID" val="diagram20231092_1*n_h_i*1_1_1"/>
  <p:tag name="KSO_WM_TEMPLATE_CATEGORY" val="diagram"/>
  <p:tag name="KSO_WM_TEMPLATE_INDEX" val="20231092"/>
  <p:tag name="KSO_WM_UNIT_LAYERLEVEL" val="1_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383.57212598425195,&quot;left&quot;:48.8792202782819,&quot;top&quot;:119.31220472440945,&quot;width&quot;:860.7416381835938}"/>
  <p:tag name="KSO_WM_DIAGRAM_COLOR_MATCH_VALUE" val="{&quot;shape&quot;:{&quot;fill&quot;:{&quot;type&quot;:0},&quot;glow&quot;:{&quot;colorType&quot;:0},&quot;line&quot;:{&quot;gradient&quot;:[{&quot;brightness&quot;:0,&quot;colorType&quot;:1,&quot;foreColorIndex&quot;:5,&quot;pos&quot;:1,&quot;transparency&quot;:0.949999988079071},{&quot;brightness&quot;:0,&quot;colorType&quot;:1,&quot;foreColorIndex&quot;:5,&quot;pos&quot;:0,&quot;transparency&quot;:0}],&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USE_COLOR_VALUE" val="{&quot;color_scheme&quot;:1,&quot;color_type&quot;:1,&quot;theme_color_indexes&quot;:[9,10,9,10,9,10]}"/>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i"/>
  <p:tag name="KSO_WM_UNIT_INDEX" val="1_1_3"/>
  <p:tag name="KSO_WM_UNIT_ID" val="diagram20231092_1*n_h_i*1_1_3"/>
  <p:tag name="KSO_WM_TEMPLATE_CATEGORY" val="diagram"/>
  <p:tag name="KSO_WM_TEMPLATE_INDEX" val="20231092"/>
  <p:tag name="KSO_WM_UNIT_LAYERLEVEL" val="1_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383.57212598425195,&quot;left&quot;:48.8792202782819,&quot;top&quot;:119.31220472440945,&quot;width&quot;:860.7416381835938}"/>
  <p:tag name="KSO_WM_DIAGRAM_COLOR_MATCH_VALUE" val="{&quot;shape&quot;:{&quot;fill&quot;:{&quot;type&quot;:0},&quot;glow&quot;:{&quot;colorType&quot;:0},&quot;line&quot;:{&quot;gradient&quot;:[{&quot;brightness&quot;:0,&quot;colorType&quot;:1,&quot;foreColorIndex&quot;:5,&quot;pos&quot;:0.9900000095367432,&quot;transparency&quot;:0.7900000214576721},{&quot;brightness&quot;:0,&quot;colorType&quot;:1,&quot;foreColorIndex&quot;:5,&quot;pos&quot;:0,&quot;transparency&quot;:0.8999999761581421}],&quot;type&quot;:2},&quot;shadow&quot;:{&quot;colorType&quot;:0},&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USE_COLOR_VALUE" val="{&quot;color_scheme&quot;:1,&quot;color_type&quot;:1,&quot;theme_color_indexes&quot;:[9,10,9,10,9,10]}"/>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i"/>
  <p:tag name="KSO_WM_UNIT_INDEX" val="1_1_4"/>
  <p:tag name="KSO_WM_UNIT_ID" val="diagram20231092_1*n_h_i*1_1_4"/>
  <p:tag name="KSO_WM_TEMPLATE_CATEGORY" val="diagram"/>
  <p:tag name="KSO_WM_TEMPLATE_INDEX" val="20231092"/>
  <p:tag name="KSO_WM_UNIT_LAYERLEVEL" val="1_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383.57212598425195,&quot;left&quot;:48.8792202782819,&quot;top&quot;:119.31220472440945,&quot;width&quot;:860.7416381835938}"/>
  <p:tag name="KSO_WM_DIAGRAM_COLOR_MATCH_VALUE" val="{&quot;shape&quot;:{&quot;fill&quot;:{&quot;type&quot;:0},&quot;glow&quot;:{&quot;colorType&quot;:0},&quot;line&quot;:{&quot;gradient&quot;:[{&quot;brightness&quot;:0,&quot;colorType&quot;:1,&quot;foreColorIndex&quot;:5,&quot;pos&quot;:1,&quot;transparency&quot;:0.9599999785423279},{&quot;brightness&quot;:0,&quot;colorType&quot;:1,&quot;foreColorIndex&quot;:5,&quot;pos&quot;:0,&quot;transparency&quot;:0.9300000071525574}],&quot;type&quot;:2},&quot;shadow&quot;:{&quot;colorType&quot;:0},&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USE_COLOR_VALUE" val="{&quot;color_scheme&quot;:1,&quot;color_type&quot;:1,&quot;theme_color_indexes&quot;:[9,10,9,10,9,10]}"/>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i"/>
  <p:tag name="KSO_WM_UNIT_INDEX" val="1_2_2"/>
  <p:tag name="KSO_WM_UNIT_ID" val="diagram20231092_1*n_h_i*1_2_2"/>
  <p:tag name="KSO_WM_TEMPLATE_CATEGORY" val="diagram"/>
  <p:tag name="KSO_WM_TEMPLATE_INDEX" val="20231092"/>
  <p:tag name="KSO_WM_UNIT_LAYERLEVEL" val="1_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383.57212598425195,&quot;left&quot;:48.8792202782819,&quot;top&quot;:119.31220472440945,&quot;width&quot;:860.7416381835938}"/>
  <p:tag name="KSO_WM_DIAGRAM_COLOR_MATCH_VALUE" val="{&quot;shape&quot;:{&quot;fill&quot;:{&quot;type&quot;:0},&quot;glow&quot;:{&quot;colorType&quot;:0},&quot;line&quot;:{&quot;gradient&quot;:[{&quot;brightness&quot;:0.800000011920929,&quot;colorType&quot;:1,&quot;foreColorIndex&quot;:5,&quot;pos&quot;:1,&quot;transparency&quot;:1},{&quot;brightness&quot;:0.800000011920929,&quot;colorType&quot;:1,&quot;foreColorIndex&quot;:5,&quot;pos&quot;:0,&quot;transparency&quot;:1},{&quot;brightness&quot;:0.4000000059604645,&quot;colorType&quot;:1,&quot;foreColorIndex&quot;:5,&quot;pos&quot;:0.699999988079071,&quot;transparency&quot;:0},{&quot;brightness&quot;:0.4000000059604645,&quot;colorType&quot;:1,&quot;foreColorIndex&quot;:5,&quot;pos&quot;:0.30000001192092896,&quot;transparency&quot;:0}],&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USE_COLOR_VALUE" val="{&quot;color_scheme&quot;:1,&quot;color_type&quot;:1,&quot;theme_color_indexes&quot;:[9,10,9,10,9,10]}"/>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i"/>
  <p:tag name="KSO_WM_UNIT_INDEX" val="1_2_1"/>
  <p:tag name="KSO_WM_UNIT_ID" val="diagram20231092_1*n_h_i*1_2_1"/>
  <p:tag name="KSO_WM_TEMPLATE_CATEGORY" val="diagram"/>
  <p:tag name="KSO_WM_TEMPLATE_INDEX" val="20231092"/>
  <p:tag name="KSO_WM_UNIT_LAYERLEVEL" val="1_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383.57212598425195,&quot;left&quot;:48.8792202782819,&quot;top&quot;:119.31220472440945,&quot;width&quot;:860.7416381835938}"/>
  <p:tag name="KSO_WM_DIAGRAM_COLOR_MATCH_VALUE" val="{&quot;shape&quot;:{&quot;fill&quot;:{&quot;type&quot;:0},&quot;glow&quot;:{&quot;colorType&quot;:0},&quot;line&quot;:{&quot;gradient&quot;:[{&quot;brightness&quot;:0.800000011920929,&quot;colorType&quot;:1,&quot;foreColorIndex&quot;:5,&quot;pos&quot;:1,&quot;transparency&quot;:1},{&quot;brightness&quot;:0.800000011920929,&quot;colorType&quot;:1,&quot;foreColorIndex&quot;:5,&quot;pos&quot;:0,&quot;transparency&quot;:1},{&quot;brightness&quot;:0.4000000059604645,&quot;colorType&quot;:1,&quot;foreColorIndex&quot;:5,&quot;pos&quot;:0.699999988079071,&quot;transparency&quot;:0},{&quot;brightness&quot;:0.4000000059604645,&quot;colorType&quot;:1,&quot;foreColorIndex&quot;:5,&quot;pos&quot;:0.30000001192092896,&quot;transparency&quot;:0}],&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USE_COLOR_VALUE" val="{&quot;color_scheme&quot;:1,&quot;color_type&quot;:1,&quot;theme_color_indexes&quot;:[9,10,9,10,9,10]}"/>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1_1"/>
  <p:tag name="KSO_WM_UNIT_ID" val="diagram20231092_1*n_h_h_i*1_2_1_1"/>
  <p:tag name="KSO_WM_TEMPLATE_CATEGORY" val="diagram"/>
  <p:tag name="KSO_WM_TEMPLATE_INDEX" val="20231092"/>
  <p:tag name="KSO_WM_UNIT_LAYERLEVEL" val="1_1_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383.57212598425195,&quot;left&quot;:48.8792202782819,&quot;top&quot;:119.31220472440945,&quot;width&quot;:860.7416381835938}"/>
  <p:tag name="KSO_WM_DIAGRAM_COLOR_MATCH_VALUE" val="{&quot;shape&quot;:{&quot;fill&quot;:{&quot;gradient&quot;:[{&quot;brightness&quot;:0,&quot;colorType&quot;:1,&quot;foreColorIndex&quot;:5,&quot;pos&quot;:0,&quot;transparency&quot;:0},{&quot;brightness&quot;:0.20000000298023224,&quot;colorType&quot;:1,&quot;foreColorIndex&quot;:5,&quot;pos&quot;:1,&quot;transparency&quot;:0}],&quot;type&quot;:3},&quot;glow&quot;:{&quot;colorType&quot;:0},&quot;line&quot;:{&quot;gradient&quot;:[{&quot;brightness&quot;:0,&quot;colorType&quot;:1,&quot;foreColorIndex&quot;:14,&quot;pos&quot;:1,&quot;transparency&quot;:1},{&quot;brightness&quot;:0,&quot;colorType&quot;:1,&quot;foreColorIndex&quot;:14,&quot;pos&quot;:0,&quot;transparency&quot;:0}],&quot;type&quot;:2},&quot;shadow&quot;:{&quot;brightness&quot;:0,&quot;colorType&quot;:1,&quot;foreColorIndex&quot;:5,&quot;transparency&quot;:0.699999988079071},&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9,10,9,10,9,10]}"/>
</p:tagLst>
</file>

<file path=ppt/tags/tag103.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h_a"/>
  <p:tag name="KSO_WM_UNIT_INDEX" val="1_2_1_1"/>
  <p:tag name="KSO_WM_UNIT_ID" val="diagram20231092_1*n_h_h_a*1_2_1_1"/>
  <p:tag name="KSO_WM_TEMPLATE_CATEGORY" val="diagram"/>
  <p:tag name="KSO_WM_TEMPLATE_INDEX" val="20231092"/>
  <p:tag name="KSO_WM_UNIT_LAYERLEVEL" val="1_1_1_1"/>
  <p:tag name="KSO_WM_TAG_VERSION" val="3.0"/>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383.57212598425195,&quot;left&quot;:48.8792202782819,&quot;top&quot;:119.31220472440945,&quot;width&quot;:860.741638183593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添加项标题"/>
  <p:tag name="KSO_WM_UNIT_TEXT_FILL_FORE_SCHEMECOLOR_INDEX" val="1"/>
  <p:tag name="KSO_WM_UNIT_TEXT_FILL_TYPE" val="1"/>
  <p:tag name="KSO_WM_DIAGRAM_USE_COLOR_VALUE" val="{&quot;color_scheme&quot;:1,&quot;color_type&quot;:1,&quot;theme_color_indexes&quot;:[9,10,9,10,9,10]}"/>
</p:tagLst>
</file>

<file path=ppt/tags/tag10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1_1"/>
  <p:tag name="KSO_WM_UNIT_ID" val="diagram20231092_1*n_h_h_f*1_2_1_1"/>
  <p:tag name="KSO_WM_TEMPLATE_CATEGORY" val="diagram"/>
  <p:tag name="KSO_WM_TEMPLATE_INDEX" val="20231092"/>
  <p:tag name="KSO_WM_UNIT_LAYERLEVEL" val="1_1_1_1"/>
  <p:tag name="KSO_WM_TAG_VERSION" val="3.0"/>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383.57212598425195,&quot;left&quot;:48.8792202782819,&quot;top&quot;:119.31220472440945,&quot;width&quot;:860.741638183593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输入你的智能图&#10;形项正文内容"/>
  <p:tag name="KSO_WM_UNIT_TEXT_FILL_FORE_SCHEMECOLOR_INDEX" val="1"/>
  <p:tag name="KSO_WM_UNIT_TEXT_FILL_TYPE" val="1"/>
  <p:tag name="KSO_WM_DIAGRAM_USE_COLOR_VALUE" val="{&quot;color_scheme&quot;:1,&quot;color_type&quot;:1,&quot;theme_color_indexes&quot;:[9,10,9,10,9,10]}"/>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2_1"/>
  <p:tag name="KSO_WM_UNIT_ID" val="diagram20231092_1*n_h_h_i*1_2_2_1"/>
  <p:tag name="KSO_WM_TEMPLATE_CATEGORY" val="diagram"/>
  <p:tag name="KSO_WM_TEMPLATE_INDEX" val="20231092"/>
  <p:tag name="KSO_WM_UNIT_LAYERLEVEL" val="1_1_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383.57212598425195,&quot;left&quot;:48.8792202782819,&quot;top&quot;:119.31220472440945,&quot;width&quot;:860.7416381835938}"/>
  <p:tag name="KSO_WM_DIAGRAM_COLOR_MATCH_VALUE" val="{&quot;shape&quot;:{&quot;fill&quot;:{&quot;gradient&quot;:[{&quot;brightness&quot;:0,&quot;colorType&quot;:1,&quot;foreColorIndex&quot;:5,&quot;pos&quot;:0,&quot;transparency&quot;:0},{&quot;brightness&quot;:0.20000000298023224,&quot;colorType&quot;:1,&quot;foreColorIndex&quot;:5,&quot;pos&quot;:1,&quot;transparency&quot;:0}],&quot;type&quot;:3},&quot;glow&quot;:{&quot;colorType&quot;:0},&quot;line&quot;:{&quot;gradient&quot;:[{&quot;brightness&quot;:0,&quot;colorType&quot;:1,&quot;foreColorIndex&quot;:14,&quot;pos&quot;:1,&quot;transparency&quot;:1},{&quot;brightness&quot;:0,&quot;colorType&quot;:1,&quot;foreColorIndex&quot;:14,&quot;pos&quot;:0,&quot;transparency&quot;:0}],&quot;type&quot;:2},&quot;shadow&quot;:{&quot;brightness&quot;:0,&quot;colorType&quot;:1,&quot;foreColorIndex&quot;:5,&quot;transparency&quot;:0.699999988079071},&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9,10,9,10,9,10]}"/>
</p:tagLst>
</file>

<file path=ppt/tags/tag106.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h_a"/>
  <p:tag name="KSO_WM_UNIT_INDEX" val="1_2_2_1"/>
  <p:tag name="KSO_WM_UNIT_ID" val="diagram20231092_1*n_h_h_a*1_2_2_1"/>
  <p:tag name="KSO_WM_TEMPLATE_CATEGORY" val="diagram"/>
  <p:tag name="KSO_WM_TEMPLATE_INDEX" val="20231092"/>
  <p:tag name="KSO_WM_UNIT_LAYERLEVEL" val="1_1_1_1"/>
  <p:tag name="KSO_WM_TAG_VERSION" val="3.0"/>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383.57212598425195,&quot;left&quot;:48.8792202782819,&quot;top&quot;:119.31220472440945,&quot;width&quot;:860.741638183593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添加项标题"/>
  <p:tag name="KSO_WM_UNIT_TEXT_FILL_FORE_SCHEMECOLOR_INDEX" val="1"/>
  <p:tag name="KSO_WM_UNIT_TEXT_FILL_TYPE" val="1"/>
  <p:tag name="KSO_WM_DIAGRAM_USE_COLOR_VALUE" val="{&quot;color_scheme&quot;:1,&quot;color_type&quot;:1,&quot;theme_color_indexes&quot;:[9,10,9,10,9,10]}"/>
</p:tagLst>
</file>

<file path=ppt/tags/tag107.xml><?xml version="1.0" encoding="utf-8"?>
<p:tagLst xmlns:p="http://schemas.openxmlformats.org/presentationml/2006/main">
  <p:tag name="KSO_WM_DIAGRAM_VERSION" val="3"/>
  <p:tag name="KSO_WM_DIAGRAM_COLOR_TRICK" val="1"/>
  <p:tag name="KSO_WM_DIAGRAM_COLOR_TEXT_CAN_REMOVE" val="n"/>
  <p:tag name="KSO_WM_UNIT_VALUE" val="77*77"/>
  <p:tag name="KSO_WM_UNIT_HIGHLIGHT" val="0"/>
  <p:tag name="KSO_WM_UNIT_COMPATIBLE" val="0"/>
  <p:tag name="KSO_WM_UNIT_DIAGRAM_ISNUMVISUAL" val="0"/>
  <p:tag name="KSO_WM_UNIT_DIAGRAM_ISREFERUNIT" val="0"/>
  <p:tag name="KSO_WM_DIAGRAM_GROUP_CODE" val="n1-1"/>
  <p:tag name="KSO_WM_UNIT_TYPE" val="n_h_h_x"/>
  <p:tag name="KSO_WM_UNIT_INDEX" val="1_2_1_1"/>
  <p:tag name="KSO_WM_UNIT_ID" val="diagram20231092_1*n_h_h_x*1_2_1_1"/>
  <p:tag name="KSO_WM_TEMPLATE_CATEGORY" val="diagram"/>
  <p:tag name="KSO_WM_TEMPLATE_INDEX" val="20231092"/>
  <p:tag name="KSO_WM_UNIT_LAYERLEVEL" val="1_1_1_1"/>
  <p:tag name="KSO_WM_TAG_VERSION" val="3.0"/>
  <p:tag name="KSO_WM_DIAGRAM_MAX_ITEMCNT" val="6"/>
  <p:tag name="KSO_WM_DIAGRAM_MIN_ITEMCNT" val="2"/>
  <p:tag name="KSO_WM_DIAGRAM_VIRTUALLY_FRAME" val="{&quot;height&quot;:383.57212598425195,&quot;left&quot;:48.8792202782819,&quot;top&quot;:119.31220472440945,&quot;width&quot;:860.7416381835938}"/>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FILL_TYPE" val="1"/>
  <p:tag name="KSO_WM_UNIT_FILL_FORE_SCHEMECOLOR_INDEX" val="14"/>
  <p:tag name="KSO_WM_UNIT_FILL_FORE_SCHEMECOLOR_INDEX_BRIGHTNESS" val="0"/>
  <p:tag name="MH_SHAPE_GUID" val="23"/>
  <p:tag name="KSO_WM_DIAGRAM_USE_COLOR_VALUE" val="{&quot;color_scheme&quot;:1,&quot;color_type&quot;:1,&quot;theme_color_indexes&quot;:[9,10,9,10,9,10]}"/>
</p:tagLst>
</file>

<file path=ppt/tags/tag108.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2_1"/>
  <p:tag name="KSO_WM_UNIT_ID" val="diagram20231092_1*n_h_h_f*1_2_2_1"/>
  <p:tag name="KSO_WM_TEMPLATE_CATEGORY" val="diagram"/>
  <p:tag name="KSO_WM_TEMPLATE_INDEX" val="20231092"/>
  <p:tag name="KSO_WM_UNIT_LAYERLEVEL" val="1_1_1_1"/>
  <p:tag name="KSO_WM_TAG_VERSION" val="3.0"/>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383.57212598425195,&quot;left&quot;:48.8792202782819,&quot;top&quot;:119.31220472440945,&quot;width&quot;:860.741638183593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输入你的智能图&#10;形项正文"/>
  <p:tag name="KSO_WM_UNIT_TEXT_FILL_FORE_SCHEMECOLOR_INDEX" val="1"/>
  <p:tag name="KSO_WM_UNIT_TEXT_FILL_TYPE" val="1"/>
  <p:tag name="KSO_WM_DIAGRAM_USE_COLOR_VALUE" val="{&quot;color_scheme&quot;:1,&quot;color_type&quot;:1,&quot;theme_color_indexes&quot;:[9,10,9,10,9,10]}"/>
</p:tagLst>
</file>

<file path=ppt/tags/tag109.xml><?xml version="1.0" encoding="utf-8"?>
<p:tagLst xmlns:p="http://schemas.openxmlformats.org/presentationml/2006/main">
  <p:tag name="KSO_WM_DIAGRAM_VERSION" val="3"/>
  <p:tag name="KSO_WM_DIAGRAM_COLOR_TRICK" val="1"/>
  <p:tag name="KSO_WM_DIAGRAM_COLOR_TEXT_CAN_REMOVE" val="n"/>
  <p:tag name="KSO_WM_UNIT_VALUE" val="78*70"/>
  <p:tag name="KSO_WM_UNIT_HIGHLIGHT" val="0"/>
  <p:tag name="KSO_WM_UNIT_COMPATIBLE" val="0"/>
  <p:tag name="KSO_WM_UNIT_DIAGRAM_ISNUMVISUAL" val="0"/>
  <p:tag name="KSO_WM_UNIT_DIAGRAM_ISREFERUNIT" val="0"/>
  <p:tag name="KSO_WM_DIAGRAM_GROUP_CODE" val="n1-1"/>
  <p:tag name="KSO_WM_UNIT_TYPE" val="n_h_h_x"/>
  <p:tag name="KSO_WM_UNIT_INDEX" val="1_2_2_1"/>
  <p:tag name="KSO_WM_UNIT_ID" val="diagram20231092_1*n_h_h_x*1_2_2_1"/>
  <p:tag name="KSO_WM_TEMPLATE_CATEGORY" val="diagram"/>
  <p:tag name="KSO_WM_TEMPLATE_INDEX" val="20231092"/>
  <p:tag name="KSO_WM_UNIT_LAYERLEVEL" val="1_1_1_1"/>
  <p:tag name="KSO_WM_TAG_VERSION" val="3.0"/>
  <p:tag name="KSO_WM_DIAGRAM_MAX_ITEMCNT" val="6"/>
  <p:tag name="KSO_WM_DIAGRAM_MIN_ITEMCNT" val="2"/>
  <p:tag name="KSO_WM_DIAGRAM_VIRTUALLY_FRAME" val="{&quot;height&quot;:383.57212598425195,&quot;left&quot;:48.8792202782819,&quot;top&quot;:119.31220472440945,&quot;width&quot;:860.7416381835938}"/>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FILL_TYPE" val="1"/>
  <p:tag name="KSO_WM_UNIT_FILL_FORE_SCHEMECOLOR_INDEX" val="14"/>
  <p:tag name="KSO_WM_UNIT_FILL_FORE_SCHEMECOLOR_INDEX_BRIGHTNESS" val="0"/>
  <p:tag name="MH_SHAPE_GUID" val="27"/>
  <p:tag name="KSO_WM_DIAGRAM_USE_COLOR_VALUE" val="{&quot;color_scheme&quot;:1,&quot;color_type&quot;:1,&quot;theme_color_indexes&quot;:[9,10,9,10,9,10]}"/>
</p:tagLst>
</file>

<file path=ppt/tags/tag110.xml><?xml version="1.0" encoding="utf-8"?>
<p:tagLst xmlns:p="http://schemas.openxmlformats.org/presentationml/2006/main">
  <p:tag name="KSO_WM_SLIDE_ITEM_CNT" val="3"/>
  <p:tag name="resource_record_key" val="{&quot;10&quot;:[3505430,50036384],&quot;29&quot;:[50053024,50052948],&quot;70&quot;:[3405561,3319090,3312439]}"/>
</p:tagLst>
</file>

<file path=ppt/tags/tag111.xml><?xml version="1.0" encoding="utf-8"?>
<p:tagLst xmlns:p="http://schemas.openxmlformats.org/presentationml/2006/main">
  <p:tag name="KSO_WM_DIAGRAM_VIRTUALLY_FRAME" val="{&quot;height&quot;:394.00007874015745,&quot;left&quot;:84.67007874015748,&quot;top&quot;:100.32062992125984,&quot;width&quot;:790.6598425196851}"/>
</p:tagLst>
</file>

<file path=ppt/tags/tag112.xml><?xml version="1.0" encoding="utf-8"?>
<p:tagLst xmlns:p="http://schemas.openxmlformats.org/presentationml/2006/main">
  <p:tag name="KSO_WM_DIAGRAM_VIRTUALLY_FRAME" val="{&quot;height&quot;:394.00007874015745,&quot;left&quot;:84.67007874015748,&quot;top&quot;:100.32062992125984,&quot;width&quot;:790.6598425196851}"/>
</p:tagLst>
</file>

<file path=ppt/tags/tag113.xml><?xml version="1.0" encoding="utf-8"?>
<p:tagLst xmlns:p="http://schemas.openxmlformats.org/presentationml/2006/main">
  <p:tag name="KSO_WM_DIAGRAM_VIRTUALLY_FRAME" val="{&quot;height&quot;:394.00007874015745,&quot;left&quot;:84.67007874015748,&quot;top&quot;:100.32062992125984,&quot;width&quot;:790.6598425196851}"/>
</p:tagLst>
</file>

<file path=ppt/tags/tag114.xml><?xml version="1.0" encoding="utf-8"?>
<p:tagLst xmlns:p="http://schemas.openxmlformats.org/presentationml/2006/main">
  <p:tag name="KSO_WM_DIAGRAM_VIRTUALLY_FRAME" val="{&quot;height&quot;:156.26889153427965,&quot;left&quot;:75.475,&quot;top&quot;:135.73110236220472,&quot;width&quot;:201.72872924804696}"/>
</p:tagLst>
</file>

<file path=ppt/tags/tag115.xml><?xml version="1.0" encoding="utf-8"?>
<p:tagLst xmlns:p="http://schemas.openxmlformats.org/presentationml/2006/main">
  <p:tag name="KSO_WM_UNIT_SUBTYPE" val="a"/>
  <p:tag name="KSO_WM_UNIT_NOCLEAR" val="0"/>
  <p:tag name="KSO_WM_UNIT_VALUE" val="192"/>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5146_3*l_h_f*1_1_1"/>
  <p:tag name="KSO_WM_TEMPLATE_CATEGORY" val="diagram"/>
  <p:tag name="KSO_WM_TEMPLATE_INDEX" val="20235146"/>
  <p:tag name="KSO_WM_UNIT_LAYERLEVEL" val="1_1_1"/>
  <p:tag name="KSO_WM_TAG_VERSION" val="3.0"/>
  <p:tag name="KSO_WM_DIAGRAM_MAX_ITEMCNT" val="4"/>
  <p:tag name="KSO_WM_DIAGRAM_MIN_ITEMCNT" val="2"/>
  <p:tag name="KSO_WM_DIAGRAM_VIRTUALLY_FRAME" val="{&quot;height&quot;:156.26889153427965,&quot;left&quot;:75.475,&quot;top&quot;:135.73110236220472,&quot;width&quot;:201.72872924804696}"/>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DIAGRAM_USE_COLOR_VALUE" val="{&quot;color_scheme&quot;:1,&quot;color_type&quot;:1,&quot;theme_color_indexes&quot;:[9,10,9,10,9,10]}"/>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46_3*l_h_i*1_1_1"/>
  <p:tag name="KSO_WM_TEMPLATE_CATEGORY" val="diagram"/>
  <p:tag name="KSO_WM_TEMPLATE_INDEX" val="20235146"/>
  <p:tag name="KSO_WM_UNIT_LAYERLEVEL" val="1_1_1"/>
  <p:tag name="KSO_WM_TAG_VERSION" val="3.0"/>
  <p:tag name="KSO_WM_BEAUTIFY_FLAG" val="#wm#"/>
  <p:tag name="KSO_WM_UNIT_TYPE" val="l_h_i"/>
  <p:tag name="KSO_WM_UNIT_INDEX" val="1_1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156.26889153427965,&quot;left&quot;:75.475,&quot;top&quot;:135.73110236220472,&quot;width&quot;:201.72872924804696}"/>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17.xml><?xml version="1.0" encoding="utf-8"?>
<p:tagLst xmlns:p="http://schemas.openxmlformats.org/presentationml/2006/main">
  <p:tag name="KSO_WM_DIAGRAM_VIRTUALLY_FRAME" val="{&quot;height&quot;:156.26889153427965,&quot;left&quot;:75.475,&quot;top&quot;:135.73110236220472,&quot;width&quot;:201.72872924804696}"/>
</p:tagLst>
</file>

<file path=ppt/tags/tag118.xml><?xml version="1.0" encoding="utf-8"?>
<p:tagLst xmlns:p="http://schemas.openxmlformats.org/presentationml/2006/main">
  <p:tag name="KSO_WM_UNIT_SUBTYPE" val="a"/>
  <p:tag name="KSO_WM_UNIT_NOCLEAR" val="0"/>
  <p:tag name="KSO_WM_UNIT_VALUE" val="192"/>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5146_3*l_h_f*1_2_1"/>
  <p:tag name="KSO_WM_TEMPLATE_CATEGORY" val="diagram"/>
  <p:tag name="KSO_WM_TEMPLATE_INDEX" val="20235146"/>
  <p:tag name="KSO_WM_UNIT_LAYERLEVEL" val="1_1_1"/>
  <p:tag name="KSO_WM_TAG_VERSION" val="3.0"/>
  <p:tag name="KSO_WM_DIAGRAM_MAX_ITEMCNT" val="4"/>
  <p:tag name="KSO_WM_DIAGRAM_MIN_ITEMCNT" val="2"/>
  <p:tag name="KSO_WM_DIAGRAM_VIRTUALLY_FRAME" val="{&quot;height&quot;:156.26889153427965,&quot;left&quot;:75.475,&quot;top&quot;:135.73110236220472,&quot;width&quot;:201.72872924804696}"/>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DIAGRAM_USE_COLOR_VALUE" val="{&quot;color_scheme&quot;:1,&quot;color_type&quot;:1,&quot;theme_color_indexes&quot;:[9,10,9,10,9,10]}"/>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46_3*l_h_i*1_2_1"/>
  <p:tag name="KSO_WM_TEMPLATE_CATEGORY" val="diagram"/>
  <p:tag name="KSO_WM_TEMPLATE_INDEX" val="20235146"/>
  <p:tag name="KSO_WM_UNIT_LAYERLEVEL" val="1_1_1"/>
  <p:tag name="KSO_WM_TAG_VERSION" val="3.0"/>
  <p:tag name="KSO_WM_BEAUTIFY_FLAG" val="#wm#"/>
  <p:tag name="KSO_WM_UNIT_TYPE" val="l_h_i"/>
  <p:tag name="KSO_WM_UNIT_INDEX" val="1_2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156.26889153427965,&quot;left&quot;:75.475,&quot;top&quot;:135.73110236220472,&quot;width&quot;:201.72872924804696}"/>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20.xml><?xml version="1.0" encoding="utf-8"?>
<p:tagLst xmlns:p="http://schemas.openxmlformats.org/presentationml/2006/main">
  <p:tag name="KSO_WM_DIAGRAM_VIRTUALLY_FRAME" val="{&quot;height&quot;:156.26889153427965,&quot;left&quot;:75.475,&quot;top&quot;:135.73110236220472,&quot;width&quot;:201.72872924804696}"/>
</p:tagLst>
</file>

<file path=ppt/tags/tag121.xml><?xml version="1.0" encoding="utf-8"?>
<p:tagLst xmlns:p="http://schemas.openxmlformats.org/presentationml/2006/main">
  <p:tag name="KSO_WM_UNIT_SUBTYPE" val="a"/>
  <p:tag name="KSO_WM_UNIT_NOCLEAR" val="0"/>
  <p:tag name="KSO_WM_UNIT_VALUE" val="192"/>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5146_3*l_h_f*1_3_1"/>
  <p:tag name="KSO_WM_TEMPLATE_CATEGORY" val="diagram"/>
  <p:tag name="KSO_WM_TEMPLATE_INDEX" val="20235146"/>
  <p:tag name="KSO_WM_UNIT_LAYERLEVEL" val="1_1_1"/>
  <p:tag name="KSO_WM_TAG_VERSION" val="3.0"/>
  <p:tag name="KSO_WM_DIAGRAM_MAX_ITEMCNT" val="4"/>
  <p:tag name="KSO_WM_DIAGRAM_MIN_ITEMCNT" val="2"/>
  <p:tag name="KSO_WM_DIAGRAM_VIRTUALLY_FRAME" val="{&quot;height&quot;:156.26889153427965,&quot;left&quot;:75.475,&quot;top&quot;:135.73110236220472,&quot;width&quot;:201.72872924804696}"/>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DIAGRAM_USE_COLOR_VALUE" val="{&quot;color_scheme&quot;:1,&quot;color_type&quot;:1,&quot;theme_color_indexes&quot;:[9,10,9,10,9,10]}"/>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46_3*l_h_i*1_3_1"/>
  <p:tag name="KSO_WM_TEMPLATE_CATEGORY" val="diagram"/>
  <p:tag name="KSO_WM_TEMPLATE_INDEX" val="20235146"/>
  <p:tag name="KSO_WM_UNIT_LAYERLEVEL" val="1_1_1"/>
  <p:tag name="KSO_WM_TAG_VERSION" val="3.0"/>
  <p:tag name="KSO_WM_BEAUTIFY_FLAG" val="#wm#"/>
  <p:tag name="KSO_WM_UNIT_TYPE" val="l_h_i"/>
  <p:tag name="KSO_WM_UNIT_INDEX" val="1_3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156.26889153427965,&quot;left&quot;:75.475,&quot;top&quot;:135.73110236220472,&quot;width&quot;:201.72872924804696}"/>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23.xml><?xml version="1.0" encoding="utf-8"?>
<p:tagLst xmlns:p="http://schemas.openxmlformats.org/presentationml/2006/main">
  <p:tag name="KSO_WM_DIAGRAM_VIRTUALLY_FRAME" val="{&quot;height&quot;:156.26889153427965,&quot;left&quot;:75.475,&quot;top&quot;:135.73110236220472,&quot;width&quot;:201.72872924804696}"/>
</p:tagLst>
</file>

<file path=ppt/tags/tag124.xml><?xml version="1.0" encoding="utf-8"?>
<p:tagLst xmlns:p="http://schemas.openxmlformats.org/presentationml/2006/main">
  <p:tag name="KSO_WM_UNIT_SUBTYPE" val="a"/>
  <p:tag name="KSO_WM_UNIT_NOCLEAR" val="0"/>
  <p:tag name="KSO_WM_UNIT_VALUE" val="192"/>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20235146_3*l_h_f*1_4_1"/>
  <p:tag name="KSO_WM_TEMPLATE_CATEGORY" val="diagram"/>
  <p:tag name="KSO_WM_TEMPLATE_INDEX" val="20235146"/>
  <p:tag name="KSO_WM_UNIT_LAYERLEVEL" val="1_1_1"/>
  <p:tag name="KSO_WM_TAG_VERSION" val="3.0"/>
  <p:tag name="KSO_WM_DIAGRAM_MAX_ITEMCNT" val="4"/>
  <p:tag name="KSO_WM_DIAGRAM_MIN_ITEMCNT" val="2"/>
  <p:tag name="KSO_WM_DIAGRAM_VIRTUALLY_FRAME" val="{&quot;height&quot;:156.26889153427965,&quot;left&quot;:75.475,&quot;top&quot;:135.73110236220472,&quot;width&quot;:201.72872924804696}"/>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DIAGRAM_USE_COLOR_VALUE" val="{&quot;color_scheme&quot;:1,&quot;color_type&quot;:1,&quot;theme_color_indexes&quot;:[9,10,9,10,9,10]}"/>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46_3*l_h_i*1_4_1"/>
  <p:tag name="KSO_WM_TEMPLATE_CATEGORY" val="diagram"/>
  <p:tag name="KSO_WM_TEMPLATE_INDEX" val="20235146"/>
  <p:tag name="KSO_WM_UNIT_LAYERLEVEL" val="1_1_1"/>
  <p:tag name="KSO_WM_TAG_VERSION" val="3.0"/>
  <p:tag name="KSO_WM_BEAUTIFY_FLAG" val="#wm#"/>
  <p:tag name="KSO_WM_UNIT_TYPE" val="l_h_i"/>
  <p:tag name="KSO_WM_UNIT_INDEX" val="1_4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156.26889153427965,&quot;left&quot;:75.475,&quot;top&quot;:135.73110236220472,&quot;width&quot;:201.72872924804696}"/>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26.xml><?xml version="1.0" encoding="utf-8"?>
<p:tagLst xmlns:p="http://schemas.openxmlformats.org/presentationml/2006/main">
  <p:tag name="KSO_WM_DIAGRAM_VIRTUALLY_FRAME" val="{&quot;height&quot;:394.00007874015745,&quot;left&quot;:84.67007874015748,&quot;top&quot;:100.32062992125984,&quot;width&quot;:790.6598425196851}"/>
</p:tagLst>
</file>

<file path=ppt/tags/tag127.xml><?xml version="1.0" encoding="utf-8"?>
<p:tagLst xmlns:p="http://schemas.openxmlformats.org/presentationml/2006/main">
  <p:tag name="KSO_WM_DIAGRAM_VIRTUALLY_FRAME" val="{&quot;height&quot;:394.00007874015745,&quot;left&quot;:84.67007874015748,&quot;top&quot;:100.32062992125984,&quot;width&quot;:790.6598425196851}"/>
</p:tagLst>
</file>

<file path=ppt/tags/tag128.xml><?xml version="1.0" encoding="utf-8"?>
<p:tagLst xmlns:p="http://schemas.openxmlformats.org/presentationml/2006/main">
  <p:tag name="KSO_WM_DIAGRAM_VIRTUALLY_FRAME" val="{&quot;height&quot;:394.00007874015745,&quot;left&quot;:84.67007874015748,&quot;top&quot;:100.32062992125984,&quot;width&quot;:790.6598425196851}"/>
</p:tagLst>
</file>

<file path=ppt/tags/tag129.xml><?xml version="1.0" encoding="utf-8"?>
<p:tagLst xmlns:p="http://schemas.openxmlformats.org/presentationml/2006/main">
  <p:tag name="KSO_WM_DIAGRAM_VIRTUALLY_FRAME" val="{&quot;height&quot;:394.00007874015745,&quot;left&quot;:84.67007874015748,&quot;top&quot;:100.32062992125984,&quot;width&quot;:790.6598425196851}"/>
</p:tagLst>
</file>

<file path=ppt/tags/tag130.xml><?xml version="1.0" encoding="utf-8"?>
<p:tagLst xmlns:p="http://schemas.openxmlformats.org/presentationml/2006/main">
  <p:tag name="KSO_WM_DIAGRAM_VIRTUALLY_FRAME" val="{&quot;height&quot;:443.51889153427965,&quot;left&quot;:59.7,&quot;top&quot;:137.43110236220474,&quot;width&quot;:492.053729248047}"/>
</p:tagLst>
</file>

<file path=ppt/tags/tag131.xml><?xml version="1.0" encoding="utf-8"?>
<p:tagLst xmlns:p="http://schemas.openxmlformats.org/presentationml/2006/main">
  <p:tag name="KSO_WM_UNIT_SUBTYPE" val="a"/>
  <p:tag name="KSO_WM_UNIT_NOCLEAR" val="0"/>
  <p:tag name="KSO_WM_UNIT_VALUE" val="192"/>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5146_3*l_h_f*1_1_1"/>
  <p:tag name="KSO_WM_TEMPLATE_CATEGORY" val="diagram"/>
  <p:tag name="KSO_WM_TEMPLATE_INDEX" val="20235146"/>
  <p:tag name="KSO_WM_UNIT_LAYERLEVEL" val="1_1_1"/>
  <p:tag name="KSO_WM_TAG_VERSION" val="3.0"/>
  <p:tag name="KSO_WM_DIAGRAM_MAX_ITEMCNT" val="4"/>
  <p:tag name="KSO_WM_DIAGRAM_MIN_ITEMCNT" val="2"/>
  <p:tag name="KSO_WM_DIAGRAM_VIRTUALLY_FRAME" val="{&quot;height&quot;:443.51889153427965,&quot;left&quot;:59.7,&quot;top&quot;:137.43110236220474,&quot;width&quot;:492.053729248047}"/>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DIAGRAM_USE_COLOR_VALUE" val="{&quot;color_scheme&quot;:1,&quot;color_type&quot;:1,&quot;theme_color_indexes&quot;:[9,10,9,10,9,10]}"/>
</p:tagLst>
</file>

<file path=ppt/tags/tag13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46_3*l_h_i*1_1_1"/>
  <p:tag name="KSO_WM_TEMPLATE_CATEGORY" val="diagram"/>
  <p:tag name="KSO_WM_TEMPLATE_INDEX" val="20235146"/>
  <p:tag name="KSO_WM_UNIT_LAYERLEVEL" val="1_1_1"/>
  <p:tag name="KSO_WM_TAG_VERSION" val="3.0"/>
  <p:tag name="KSO_WM_BEAUTIFY_FLAG" val="#wm#"/>
  <p:tag name="KSO_WM_UNIT_TYPE" val="l_h_i"/>
  <p:tag name="KSO_WM_UNIT_INDEX" val="1_1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443.51889153427965,&quot;left&quot;:59.7,&quot;top&quot;:137.43110236220474,&quot;width&quot;:492.053729248047}"/>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33.xml><?xml version="1.0" encoding="utf-8"?>
<p:tagLst xmlns:p="http://schemas.openxmlformats.org/presentationml/2006/main">
  <p:tag name="KSO_WM_DIAGRAM_VIRTUALLY_FRAME" val="{&quot;height&quot;:443.51889153427965,&quot;left&quot;:59.7,&quot;top&quot;:137.43110236220474,&quot;width&quot;:492.053729248047}"/>
</p:tagLst>
</file>

<file path=ppt/tags/tag134.xml><?xml version="1.0" encoding="utf-8"?>
<p:tagLst xmlns:p="http://schemas.openxmlformats.org/presentationml/2006/main">
  <p:tag name="KSO_WM_UNIT_SUBTYPE" val="a"/>
  <p:tag name="KSO_WM_UNIT_NOCLEAR" val="0"/>
  <p:tag name="KSO_WM_UNIT_VALUE" val="192"/>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5146_3*l_h_f*1_2_1"/>
  <p:tag name="KSO_WM_TEMPLATE_CATEGORY" val="diagram"/>
  <p:tag name="KSO_WM_TEMPLATE_INDEX" val="20235146"/>
  <p:tag name="KSO_WM_UNIT_LAYERLEVEL" val="1_1_1"/>
  <p:tag name="KSO_WM_TAG_VERSION" val="3.0"/>
  <p:tag name="KSO_WM_DIAGRAM_MAX_ITEMCNT" val="4"/>
  <p:tag name="KSO_WM_DIAGRAM_MIN_ITEMCNT" val="2"/>
  <p:tag name="KSO_WM_DIAGRAM_VIRTUALLY_FRAME" val="{&quot;height&quot;:443.51889153427965,&quot;left&quot;:59.7,&quot;top&quot;:137.43110236220474,&quot;width&quot;:492.053729248047}"/>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DIAGRAM_USE_COLOR_VALUE" val="{&quot;color_scheme&quot;:1,&quot;color_type&quot;:1,&quot;theme_color_indexes&quot;:[9,10,9,10,9,10]}"/>
</p:tagLst>
</file>

<file path=ppt/tags/tag13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46_3*l_h_i*1_2_1"/>
  <p:tag name="KSO_WM_TEMPLATE_CATEGORY" val="diagram"/>
  <p:tag name="KSO_WM_TEMPLATE_INDEX" val="20235146"/>
  <p:tag name="KSO_WM_UNIT_LAYERLEVEL" val="1_1_1"/>
  <p:tag name="KSO_WM_TAG_VERSION" val="3.0"/>
  <p:tag name="KSO_WM_BEAUTIFY_FLAG" val="#wm#"/>
  <p:tag name="KSO_WM_UNIT_TYPE" val="l_h_i"/>
  <p:tag name="KSO_WM_UNIT_INDEX" val="1_2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443.51889153427965,&quot;left&quot;:59.7,&quot;top&quot;:137.43110236220474,&quot;width&quot;:492.053729248047}"/>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36.xml><?xml version="1.0" encoding="utf-8"?>
<p:tagLst xmlns:p="http://schemas.openxmlformats.org/presentationml/2006/main">
  <p:tag name="KSO_WM_DIAGRAM_VIRTUALLY_FRAME" val="{&quot;height&quot;:443.51889153427965,&quot;left&quot;:59.7,&quot;top&quot;:137.43110236220474,&quot;width&quot;:492.053729248047}"/>
</p:tagLst>
</file>

<file path=ppt/tags/tag137.xml><?xml version="1.0" encoding="utf-8"?>
<p:tagLst xmlns:p="http://schemas.openxmlformats.org/presentationml/2006/main">
  <p:tag name="KSO_WM_UNIT_SUBTYPE" val="a"/>
  <p:tag name="KSO_WM_UNIT_NOCLEAR" val="0"/>
  <p:tag name="KSO_WM_UNIT_VALUE" val="192"/>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5146_3*l_h_f*1_3_1"/>
  <p:tag name="KSO_WM_TEMPLATE_CATEGORY" val="diagram"/>
  <p:tag name="KSO_WM_TEMPLATE_INDEX" val="20235146"/>
  <p:tag name="KSO_WM_UNIT_LAYERLEVEL" val="1_1_1"/>
  <p:tag name="KSO_WM_TAG_VERSION" val="3.0"/>
  <p:tag name="KSO_WM_DIAGRAM_MAX_ITEMCNT" val="4"/>
  <p:tag name="KSO_WM_DIAGRAM_MIN_ITEMCNT" val="2"/>
  <p:tag name="KSO_WM_DIAGRAM_VIRTUALLY_FRAME" val="{&quot;height&quot;:443.51889153427965,&quot;left&quot;:59.7,&quot;top&quot;:137.43110236220474,&quot;width&quot;:492.053729248047}"/>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DIAGRAM_USE_COLOR_VALUE" val="{&quot;color_scheme&quot;:1,&quot;color_type&quot;:1,&quot;theme_color_indexes&quot;:[9,10,9,10,9,10]}"/>
</p:tagLst>
</file>

<file path=ppt/tags/tag13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46_3*l_h_i*1_3_1"/>
  <p:tag name="KSO_WM_TEMPLATE_CATEGORY" val="diagram"/>
  <p:tag name="KSO_WM_TEMPLATE_INDEX" val="20235146"/>
  <p:tag name="KSO_WM_UNIT_LAYERLEVEL" val="1_1_1"/>
  <p:tag name="KSO_WM_TAG_VERSION" val="3.0"/>
  <p:tag name="KSO_WM_BEAUTIFY_FLAG" val="#wm#"/>
  <p:tag name="KSO_WM_UNIT_TYPE" val="l_h_i"/>
  <p:tag name="KSO_WM_UNIT_INDEX" val="1_3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443.51889153427965,&quot;left&quot;:59.7,&quot;top&quot;:137.43110236220474,&quot;width&quot;:492.053729248047}"/>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39.xml><?xml version="1.0" encoding="utf-8"?>
<p:tagLst xmlns:p="http://schemas.openxmlformats.org/presentationml/2006/main">
  <p:tag name="KSO_WM_DIAGRAM_VIRTUALLY_FRAME" val="{&quot;height&quot;:443.51889153427965,&quot;left&quot;:59.7,&quot;top&quot;:137.43110236220474,&quot;width&quot;:492.053729248047}"/>
</p:tagLst>
</file>

<file path=ppt/tags/tag140.xml><?xml version="1.0" encoding="utf-8"?>
<p:tagLst xmlns:p="http://schemas.openxmlformats.org/presentationml/2006/main">
  <p:tag name="KSO_WM_UNIT_SUBTYPE" val="a"/>
  <p:tag name="KSO_WM_UNIT_NOCLEAR" val="0"/>
  <p:tag name="KSO_WM_UNIT_VALUE" val="192"/>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20235146_3*l_h_f*1_4_1"/>
  <p:tag name="KSO_WM_TEMPLATE_CATEGORY" val="diagram"/>
  <p:tag name="KSO_WM_TEMPLATE_INDEX" val="20235146"/>
  <p:tag name="KSO_WM_UNIT_LAYERLEVEL" val="1_1_1"/>
  <p:tag name="KSO_WM_TAG_VERSION" val="3.0"/>
  <p:tag name="KSO_WM_DIAGRAM_MAX_ITEMCNT" val="4"/>
  <p:tag name="KSO_WM_DIAGRAM_MIN_ITEMCNT" val="2"/>
  <p:tag name="KSO_WM_DIAGRAM_VIRTUALLY_FRAME" val="{&quot;height&quot;:443.51889153427965,&quot;left&quot;:59.7,&quot;top&quot;:137.43110236220474,&quot;width&quot;:492.053729248047}"/>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DIAGRAM_USE_COLOR_VALUE" val="{&quot;color_scheme&quot;:1,&quot;color_type&quot;:1,&quot;theme_color_indexes&quot;:[9,10,9,10,9,10]}"/>
</p:tagLst>
</file>

<file path=ppt/tags/tag14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46_3*l_h_i*1_4_1"/>
  <p:tag name="KSO_WM_TEMPLATE_CATEGORY" val="diagram"/>
  <p:tag name="KSO_WM_TEMPLATE_INDEX" val="20235146"/>
  <p:tag name="KSO_WM_UNIT_LAYERLEVEL" val="1_1_1"/>
  <p:tag name="KSO_WM_TAG_VERSION" val="3.0"/>
  <p:tag name="KSO_WM_BEAUTIFY_FLAG" val="#wm#"/>
  <p:tag name="KSO_WM_UNIT_TYPE" val="l_h_i"/>
  <p:tag name="KSO_WM_UNIT_INDEX" val="1_4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443.51889153427965,&quot;left&quot;:59.7,&quot;top&quot;:137.43110236220474,&quot;width&quot;:492.053729248047}"/>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42.xml><?xml version="1.0" encoding="utf-8"?>
<p:tagLst xmlns:p="http://schemas.openxmlformats.org/presentationml/2006/main">
  <p:tag name="KSO_WM_BEAUTIFY_FLAG" val=""/>
</p:tagLst>
</file>

<file path=ppt/tags/tag143.xml><?xml version="1.0" encoding="utf-8"?>
<p:tagLst xmlns:p="http://schemas.openxmlformats.org/presentationml/2006/main">
  <p:tag name="KSO_WM_BEAUTIFY_FLAG" val=""/>
</p:tagLst>
</file>

<file path=ppt/tags/tag144.xml><?xml version="1.0" encoding="utf-8"?>
<p:tagLst xmlns:p="http://schemas.openxmlformats.org/presentationml/2006/main">
  <p:tag name="KSO_DOCER_RESOURCE_TRACE_INFO" val="{&quot;id&quot;:&quot;&quot;,&quot;origin&quot;:0,&quot;type&quot;:&quot;textbox&quot;,&quot;user&quot;:&quot;451439288&quot;}"/>
</p:tagLst>
</file>

<file path=ppt/tags/tag145.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o1-1"/>
  <p:tag name="KSO_WM_UNIT_TYPE" val="o_h_i"/>
  <p:tag name="KSO_WM_UNIT_INDEX" val="1_1_1"/>
  <p:tag name="KSO_WM_UNIT_ID" val="diagram20234922_3*o_h_i*1_1_1"/>
  <p:tag name="KSO_WM_TEMPLATE_CATEGORY" val="diagram"/>
  <p:tag name="KSO_WM_TEMPLATE_INDEX" val="20234922"/>
  <p:tag name="KSO_WM_UNIT_LAYERLEVEL" val="1_1_1"/>
  <p:tag name="KSO_WM_TAG_VERSION" val="3.0"/>
  <p:tag name="KSO_WM_DIAGRAM_MAX_ITEMCNT" val="5"/>
  <p:tag name="KSO_WM_DIAGRAM_MIN_ITEMCNT" val="2"/>
  <p:tag name="KSO_WM_DIAGRAM_VIRTUALLY_FRAME" val="{&quot;height&quot;:239.6596062992126,&quot;left&quot;:75.09999999999994,&quot;top&quot;:225.5903937007874,&quot;width&quot;:426.72055118110245}"/>
  <p:tag name="KSO_WM_DIAGRAM_COLOR_MATCH_VALUE" val="{&quot;shape&quot;:{&quot;fill&quot;:{&quot;type&quot;:0},&quot;glow&quot;:{&quot;colorType&quot;:0},&quot;line&quot;:{&quot;gradient&quot;:[{&quot;brightness&quot;:0.800000011920929,&quot;colorType&quot;:1,&quot;foreColorIndex&quot;:5,&quot;pos&quot;:0,&quot;transparency&quot;:0.7900000214576721},{&quot;brightness&quot;:0,&quot;colorType&quot;:1,&quot;foreColorIndex&quot;:5,&quot;pos&quot;:0.9399999976158142,&quot;transparency&quot;:0.4000000059604645}],&quot;type&quot;:2},&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9,10,9,10,9,10]}"/>
</p:tagLst>
</file>

<file path=ppt/tags/tag146.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o1-1"/>
  <p:tag name="KSO_WM_UNIT_TYPE" val="o_h_i"/>
  <p:tag name="KSO_WM_UNIT_INDEX" val="1_2_1"/>
  <p:tag name="KSO_WM_UNIT_ID" val="diagram20234922_3*o_h_i*1_2_1"/>
  <p:tag name="KSO_WM_TEMPLATE_CATEGORY" val="diagram"/>
  <p:tag name="KSO_WM_TEMPLATE_INDEX" val="20234922"/>
  <p:tag name="KSO_WM_UNIT_LAYERLEVEL" val="1_1_1"/>
  <p:tag name="KSO_WM_TAG_VERSION" val="3.0"/>
  <p:tag name="KSO_WM_DIAGRAM_MAX_ITEMCNT" val="5"/>
  <p:tag name="KSO_WM_DIAGRAM_MIN_ITEMCNT" val="2"/>
  <p:tag name="KSO_WM_DIAGRAM_VIRTUALLY_FRAME" val="{&quot;height&quot;:239.6596062992126,&quot;left&quot;:75.09999999999994,&quot;top&quot;:225.5903937007874,&quot;width&quot;:426.72055118110245}"/>
  <p:tag name="KSO_WM_DIAGRAM_COLOR_MATCH_VALUE" val="{&quot;shape&quot;:{&quot;fill&quot;:{&quot;type&quot;:0},&quot;glow&quot;:{&quot;colorType&quot;:0},&quot;line&quot;:{&quot;gradient&quot;:[{&quot;brightness&quot;:0.800000011920929,&quot;colorType&quot;:1,&quot;foreColorIndex&quot;:5,&quot;pos&quot;:0,&quot;transparency&quot;:0.7900000214576721},{&quot;brightness&quot;:0,&quot;colorType&quot;:1,&quot;foreColorIndex&quot;:5,&quot;pos&quot;:0.9399999976158142,&quot;transparency&quot;:0.4000000059604645}],&quot;type&quot;:2},&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9,10,9,10,9,10]}"/>
</p:tagLst>
</file>

<file path=ppt/tags/tag147.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o1-1"/>
  <p:tag name="KSO_WM_UNIT_TYPE" val="o_h_i"/>
  <p:tag name="KSO_WM_UNIT_INDEX" val="1_4_1"/>
  <p:tag name="KSO_WM_UNIT_ID" val="diagram20234922_3*o_h_i*1_4_1"/>
  <p:tag name="KSO_WM_TEMPLATE_CATEGORY" val="diagram"/>
  <p:tag name="KSO_WM_TEMPLATE_INDEX" val="20234922"/>
  <p:tag name="KSO_WM_UNIT_LAYERLEVEL" val="1_1_1"/>
  <p:tag name="KSO_WM_TAG_VERSION" val="3.0"/>
  <p:tag name="KSO_WM_DIAGRAM_MAX_ITEMCNT" val="5"/>
  <p:tag name="KSO_WM_DIAGRAM_MIN_ITEMCNT" val="2"/>
  <p:tag name="KSO_WM_DIAGRAM_VIRTUALLY_FRAME" val="{&quot;height&quot;:239.6596062992126,&quot;left&quot;:75.09999999999994,&quot;top&quot;:225.5903937007874,&quot;width&quot;:426.72055118110245}"/>
  <p:tag name="KSO_WM_DIAGRAM_COLOR_MATCH_VALUE" val="{&quot;shape&quot;:{&quot;fill&quot;:{&quot;type&quot;:0},&quot;glow&quot;:{&quot;colorType&quot;:0},&quot;line&quot;:{&quot;gradient&quot;:[{&quot;brightness&quot;:0.800000011920929,&quot;colorType&quot;:1,&quot;foreColorIndex&quot;:5,&quot;pos&quot;:0,&quot;transparency&quot;:0.7900000214576721},{&quot;brightness&quot;:0,&quot;colorType&quot;:1,&quot;foreColorIndex&quot;:5,&quot;pos&quot;:0.9399999976158142,&quot;transparency&quot;:0.4000000059604645}],&quot;type&quot;:2},&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9,10,9,10,9,10]}"/>
</p:tagLst>
</file>

<file path=ppt/tags/tag148.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o1-1"/>
  <p:tag name="KSO_WM_UNIT_TYPE" val="o_h_i"/>
  <p:tag name="KSO_WM_UNIT_INDEX" val="1_3_1"/>
  <p:tag name="KSO_WM_UNIT_ID" val="diagram20234922_3*o_h_i*1_3_1"/>
  <p:tag name="KSO_WM_TEMPLATE_CATEGORY" val="diagram"/>
  <p:tag name="KSO_WM_TEMPLATE_INDEX" val="20234922"/>
  <p:tag name="KSO_WM_UNIT_LAYERLEVEL" val="1_1_1"/>
  <p:tag name="KSO_WM_TAG_VERSION" val="3.0"/>
  <p:tag name="KSO_WM_DIAGRAM_MAX_ITEMCNT" val="5"/>
  <p:tag name="KSO_WM_DIAGRAM_MIN_ITEMCNT" val="2"/>
  <p:tag name="KSO_WM_DIAGRAM_VIRTUALLY_FRAME" val="{&quot;height&quot;:239.6596062992126,&quot;left&quot;:75.09999999999994,&quot;top&quot;:225.5903937007874,&quot;width&quot;:426.72055118110245}"/>
  <p:tag name="KSO_WM_DIAGRAM_COLOR_MATCH_VALUE" val="{&quot;shape&quot;:{&quot;fill&quot;:{&quot;type&quot;:0},&quot;glow&quot;:{&quot;colorType&quot;:0},&quot;line&quot;:{&quot;gradient&quot;:[{&quot;brightness&quot;:0.800000011920929,&quot;colorType&quot;:1,&quot;foreColorIndex&quot;:5,&quot;pos&quot;:0,&quot;transparency&quot;:0.7900000214576721},{&quot;brightness&quot;:0,&quot;colorType&quot;:1,&quot;foreColorIndex&quot;:5,&quot;pos&quot;:0.9399999976158142,&quot;transparency&quot;:0.4000000059604645}],&quot;type&quot;:2},&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9,10,9,10,9,10]}"/>
</p:tagLst>
</file>

<file path=ppt/tags/tag149.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o1-1"/>
  <p:tag name="KSO_WM_UNIT_TYPE" val="o_i"/>
  <p:tag name="KSO_WM_UNIT_INDEX" val="1_1"/>
  <p:tag name="KSO_WM_UNIT_ID" val="diagram20234922_3*o_i*1_1"/>
  <p:tag name="KSO_WM_TEMPLATE_CATEGORY" val="diagram"/>
  <p:tag name="KSO_WM_TEMPLATE_INDEX" val="20234922"/>
  <p:tag name="KSO_WM_UNIT_LAYERLEVEL" val="1_1"/>
  <p:tag name="KSO_WM_TAG_VERSION" val="3.0"/>
  <p:tag name="KSO_WM_UNIT_FILL_TYPE" val="3"/>
  <p:tag name="KSO_WM_DIAGRAM_MAX_ITEMCNT" val="5"/>
  <p:tag name="KSO_WM_DIAGRAM_MIN_ITEMCNT" val="2"/>
  <p:tag name="KSO_WM_DIAGRAM_VIRTUALLY_FRAME" val="{&quot;height&quot;:239.6596062992126,&quot;left&quot;:75.09999999999994,&quot;top&quot;:225.5903937007874,&quot;width&quot;:426.72055118110245}"/>
  <p:tag name="KSO_WM_DIAGRAM_COLOR_MATCH_VALUE" val="{&quot;shape&quot;:{&quot;fill&quot;:{&quot;gradient&quot;:[{&quot;brightness&quot;:0,&quot;colorType&quot;:1,&quot;foreColorIndex&quot;:5,&quot;pos&quot;:0,&quot;transparency&quot;:1},{&quot;brightness&quot;:0,&quot;colorType&quot;:1,&quot;foreColorIndex&quot;:5,&quot;pos&quot;:0.4000000059604645,&quot;transparency&quot;:0.699999988079071},{&quot;brightness&quot;:0,&quot;colorType&quot;:1,&quot;foreColorIndex&quot;:5,&quot;pos&quot;:0.20000000298023224,&quot;transparency&quot;:0.8500000238418579},{&quot;brightness&quot;:0,&quot;colorType&quot;:1,&quot;foreColorIndex&quot;:5,&quot;pos&quot;:0.949999988079071,&quot;transparency&quot;:1},{&quot;brightness&quot;:0,&quot;colorType&quot;:1,&quot;foreColorIndex&quot;:5,&quot;pos&quot;:0.6000000238418579,&quot;transparency&quot;:0.800000011920929}],&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50.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o1-1"/>
  <p:tag name="KSO_WM_UNIT_TYPE" val="o_i"/>
  <p:tag name="KSO_WM_UNIT_INDEX" val="1_2"/>
  <p:tag name="KSO_WM_UNIT_ID" val="diagram20234922_3*o_i*1_2"/>
  <p:tag name="KSO_WM_TEMPLATE_CATEGORY" val="diagram"/>
  <p:tag name="KSO_WM_TEMPLATE_INDEX" val="20234922"/>
  <p:tag name="KSO_WM_UNIT_LAYERLEVEL" val="1_1"/>
  <p:tag name="KSO_WM_TAG_VERSION" val="3.0"/>
  <p:tag name="KSO_WM_UNIT_FILL_TYPE" val="3"/>
  <p:tag name="KSO_WM_DIAGRAM_MAX_ITEMCNT" val="5"/>
  <p:tag name="KSO_WM_DIAGRAM_MIN_ITEMCNT" val="2"/>
  <p:tag name="KSO_WM_DIAGRAM_VIRTUALLY_FRAME" val="{&quot;height&quot;:239.6596062992126,&quot;left&quot;:75.09999999999994,&quot;top&quot;:225.5903937007874,&quot;width&quot;:426.72055118110245}"/>
  <p:tag name="KSO_WM_DIAGRAM_COLOR_MATCH_VALUE" val="{&quot;shape&quot;:{&quot;fill&quot;:{&quot;gradient&quot;:[{&quot;brightness&quot;:0,&quot;colorType&quot;:1,&quot;foreColorIndex&quot;:5,&quot;pos&quot;:0.10000000149011612,&quot;transparency&quot;:1},{&quot;brightness&quot;:0,&quot;colorType&quot;:1,&quot;foreColorIndex&quot;:5,&quot;pos&quot;:0.4000000059604645,&quot;transparency&quot;:0.800000011920929},{&quot;brightness&quot;:0,&quot;colorType&quot;:1,&quot;foreColorIndex&quot;:5,&quot;pos&quot;:0.20000000298023224,&quot;transparency&quot;:0.8500000238418579},{&quot;brightness&quot;:0,&quot;colorType&quot;:1,&quot;foreColorIndex&quot;:5,&quot;pos&quot;:0.8500000238418579,&quot;transparency&quot;:1},{&quot;brightness&quot;:0,&quot;colorType&quot;:1,&quot;foreColorIndex&quot;:5,&quot;pos&quot;:0.6000000238418579,&quot;transparency&quot;:0.8500000238418579}],&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51.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o1-1"/>
  <p:tag name="KSO_WM_UNIT_TYPE" val="o_h_i"/>
  <p:tag name="KSO_WM_UNIT_INDEX" val="1_1_2"/>
  <p:tag name="KSO_WM_UNIT_ID" val="diagram20234922_3*o_h_i*1_1_2"/>
  <p:tag name="KSO_WM_TEMPLATE_CATEGORY" val="diagram"/>
  <p:tag name="KSO_WM_TEMPLATE_INDEX" val="20234922"/>
  <p:tag name="KSO_WM_UNIT_LAYERLEVEL" val="1_1_1"/>
  <p:tag name="KSO_WM_TAG_VERSION" val="3.0"/>
  <p:tag name="KSO_WM_DIAGRAM_MAX_ITEMCNT" val="5"/>
  <p:tag name="KSO_WM_DIAGRAM_MIN_ITEMCNT" val="2"/>
  <p:tag name="KSO_WM_DIAGRAM_VIRTUALLY_FRAME" val="{&quot;height&quot;:239.6596062992126,&quot;left&quot;:75.09999999999994,&quot;top&quot;:225.5903937007874,&quot;width&quot;:426.72055118110245}"/>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0.5,&quot;transparency&quot;:0.8999999761581421},{&quot;brightness&quot;:0,&quot;colorType&quot;:1,&quot;foreColorIndex&quot;:5,&quot;pos&quot;:1,&quot;transparency&quot;:0.5}],&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52.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o1-1"/>
  <p:tag name="KSO_WM_UNIT_TYPE" val="o_h_i"/>
  <p:tag name="KSO_WM_UNIT_INDEX" val="1_2_2"/>
  <p:tag name="KSO_WM_UNIT_ID" val="diagram20234922_3*o_h_i*1_2_2"/>
  <p:tag name="KSO_WM_TEMPLATE_CATEGORY" val="diagram"/>
  <p:tag name="KSO_WM_TEMPLATE_INDEX" val="20234922"/>
  <p:tag name="KSO_WM_UNIT_LAYERLEVEL" val="1_1_1"/>
  <p:tag name="KSO_WM_TAG_VERSION" val="3.0"/>
  <p:tag name="KSO_WM_DIAGRAM_MAX_ITEMCNT" val="5"/>
  <p:tag name="KSO_WM_DIAGRAM_MIN_ITEMCNT" val="2"/>
  <p:tag name="KSO_WM_DIAGRAM_VIRTUALLY_FRAME" val="{&quot;height&quot;:239.6596062992126,&quot;left&quot;:75.09999999999994,&quot;top&quot;:225.5903937007874,&quot;width&quot;:426.72055118110245}"/>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0.5,&quot;transparency&quot;:0.8999999761581421},{&quot;brightness&quot;:0,&quot;colorType&quot;:1,&quot;foreColorIndex&quot;:5,&quot;pos&quot;:1,&quot;transparency&quot;:0.4000000059604645}],&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53.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o1-1"/>
  <p:tag name="KSO_WM_UNIT_TYPE" val="o_h_i"/>
  <p:tag name="KSO_WM_UNIT_INDEX" val="1_3_2"/>
  <p:tag name="KSO_WM_UNIT_ID" val="diagram20234922_3*o_h_i*1_3_2"/>
  <p:tag name="KSO_WM_TEMPLATE_CATEGORY" val="diagram"/>
  <p:tag name="KSO_WM_TEMPLATE_INDEX" val="20234922"/>
  <p:tag name="KSO_WM_UNIT_LAYERLEVEL" val="1_1_1"/>
  <p:tag name="KSO_WM_TAG_VERSION" val="3.0"/>
  <p:tag name="KSO_WM_DIAGRAM_MAX_ITEMCNT" val="5"/>
  <p:tag name="KSO_WM_DIAGRAM_MIN_ITEMCNT" val="2"/>
  <p:tag name="KSO_WM_DIAGRAM_VIRTUALLY_FRAME" val="{&quot;height&quot;:239.6596062992126,&quot;left&quot;:75.09999999999994,&quot;top&quot;:225.5903937007874,&quot;width&quot;:426.72055118110245}"/>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0.5,&quot;transparency&quot;:0.800000011920929},{&quot;brightness&quot;:0,&quot;colorType&quot;:1,&quot;foreColorIndex&quot;:5,&quot;pos&quot;:1,&quot;transparency&quot;:0.20000000298023224}],&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54.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o1-1"/>
  <p:tag name="KSO_WM_UNIT_TYPE" val="o_h_i"/>
  <p:tag name="KSO_WM_UNIT_INDEX" val="1_4_2"/>
  <p:tag name="KSO_WM_UNIT_ID" val="diagram20234922_3*o_h_i*1_4_2"/>
  <p:tag name="KSO_WM_TEMPLATE_CATEGORY" val="diagram"/>
  <p:tag name="KSO_WM_TEMPLATE_INDEX" val="20234922"/>
  <p:tag name="KSO_WM_UNIT_LAYERLEVEL" val="1_1_1"/>
  <p:tag name="KSO_WM_TAG_VERSION" val="3.0"/>
  <p:tag name="KSO_WM_DIAGRAM_MAX_ITEMCNT" val="5"/>
  <p:tag name="KSO_WM_DIAGRAM_MIN_ITEMCNT" val="2"/>
  <p:tag name="KSO_WM_DIAGRAM_VIRTUALLY_FRAME" val="{&quot;height&quot;:239.6596062992126,&quot;left&quot;:75.09999999999994,&quot;top&quot;:225.5903937007874,&quot;width&quot;:426.72055118110245}"/>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0.5,&quot;transparency&quot;:0.800000011920929},{&quot;brightness&quot;:0,&quot;colorType&quot;:1,&quot;foreColorIndex&quot;:5,&quot;pos&quot;:1,&quot;transparency&quot;:0}],&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55.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o1-1"/>
  <p:tag name="KSO_WM_UNIT_TYPE" val="o_h_a"/>
  <p:tag name="KSO_WM_UNIT_INDEX" val="1_1_1"/>
  <p:tag name="KSO_WM_UNIT_ID" val="diagram20234922_3*o_h_a*1_1_1"/>
  <p:tag name="KSO_WM_TEMPLATE_CATEGORY" val="diagram"/>
  <p:tag name="KSO_WM_TEMPLATE_INDEX" val="20234922"/>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2"/>
  <p:tag name="KSO_WM_DIAGRAM_VIRTUALLY_FRAME" val="{&quot;height&quot;:239.6596062992126,&quot;left&quot;:75.09999999999994,&quot;top&quot;:225.5903937007874,&quot;width&quot;:426.7205511811024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4000000059604645},&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 name="KSO_WM_UNIT_TEXT_FILL_FORE_SCHEMECOLOR_INDEX" val="1"/>
  <p:tag name="KSO_WM_UNIT_TEXT_FILL_TYPE" val="1"/>
  <p:tag name="KSO_WM_UNIT_PRESET_TEXT" val="添加标题"/>
  <p:tag name="KSO_WM_UNIT_TEXT_TYPE" val="1"/>
  <p:tag name="KSO_WM_DIAGRAM_USE_COLOR_VALUE" val="{&quot;color_scheme&quot;:1,&quot;color_type&quot;:1,&quot;theme_color_indexes&quot;:[9,10,9,10,9,10]}"/>
</p:tagLst>
</file>

<file path=ppt/tags/tag156.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o1-1"/>
  <p:tag name="KSO_WM_UNIT_TYPE" val="o_h_a"/>
  <p:tag name="KSO_WM_UNIT_INDEX" val="1_2_1"/>
  <p:tag name="KSO_WM_UNIT_ID" val="diagram20234922_3*o_h_a*1_2_1"/>
  <p:tag name="KSO_WM_TEMPLATE_CATEGORY" val="diagram"/>
  <p:tag name="KSO_WM_TEMPLATE_INDEX" val="20234922"/>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2"/>
  <p:tag name="KSO_WM_DIAGRAM_VIRTUALLY_FRAME" val="{&quot;height&quot;:239.6596062992126,&quot;left&quot;:75.09999999999994,&quot;top&quot;:225.5903937007874,&quot;width&quot;:426.7205511811024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30000001192092896},&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 name="KSO_WM_UNIT_TEXT_FILL_FORE_SCHEMECOLOR_INDEX" val="1"/>
  <p:tag name="KSO_WM_UNIT_TEXT_FILL_TYPE" val="1"/>
  <p:tag name="KSO_WM_UNIT_PRESET_TEXT" val="添加标题"/>
  <p:tag name="KSO_WM_UNIT_TEXT_TYPE" val="1"/>
  <p:tag name="KSO_WM_DIAGRAM_USE_COLOR_VALUE" val="{&quot;color_scheme&quot;:1,&quot;color_type&quot;:1,&quot;theme_color_indexes&quot;:[9,10,9,10,9,10]}"/>
</p:tagLst>
</file>

<file path=ppt/tags/tag157.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o1-1"/>
  <p:tag name="KSO_WM_UNIT_TYPE" val="o_h_a"/>
  <p:tag name="KSO_WM_UNIT_INDEX" val="1_3_1"/>
  <p:tag name="KSO_WM_UNIT_ID" val="diagram20234922_3*o_h_a*1_3_1"/>
  <p:tag name="KSO_WM_TEMPLATE_CATEGORY" val="diagram"/>
  <p:tag name="KSO_WM_TEMPLATE_INDEX" val="20234922"/>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2"/>
  <p:tag name="KSO_WM_DIAGRAM_VIRTUALLY_FRAME" val="{&quot;height&quot;:239.6596062992126,&quot;left&quot;:75.09999999999994,&quot;top&quot;:225.5903937007874,&quot;width&quot;:426.7205511811024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30000001192092896},&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 name="KSO_WM_UNIT_TEXT_FILL_FORE_SCHEMECOLOR_INDEX" val="1"/>
  <p:tag name="KSO_WM_UNIT_TEXT_FILL_TYPE" val="1"/>
  <p:tag name="KSO_WM_UNIT_PRESET_TEXT" val="添加标题"/>
  <p:tag name="KSO_WM_UNIT_TEXT_TYPE" val="1"/>
  <p:tag name="KSO_WM_DIAGRAM_USE_COLOR_VALUE" val="{&quot;color_scheme&quot;:1,&quot;color_type&quot;:1,&quot;theme_color_indexes&quot;:[9,10,9,10,9,10]}"/>
</p:tagLst>
</file>

<file path=ppt/tags/tag158.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o1-1"/>
  <p:tag name="KSO_WM_UNIT_TYPE" val="o_h_a"/>
  <p:tag name="KSO_WM_UNIT_INDEX" val="1_4_1"/>
  <p:tag name="KSO_WM_UNIT_ID" val="diagram20234922_3*o_h_a*1_4_1"/>
  <p:tag name="KSO_WM_TEMPLATE_CATEGORY" val="diagram"/>
  <p:tag name="KSO_WM_TEMPLATE_INDEX" val="20234922"/>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2"/>
  <p:tag name="KSO_WM_DIAGRAM_VIRTUALLY_FRAME" val="{&quot;height&quot;:239.6596062992126,&quot;left&quot;:75.09999999999994,&quot;top&quot;:225.5903937007874,&quot;width&quot;:426.7205511811024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20000000298023224},&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 name="KSO_WM_UNIT_TEXT_FILL_FORE_SCHEMECOLOR_INDEX" val="1"/>
  <p:tag name="KSO_WM_UNIT_TEXT_FILL_TYPE" val="1"/>
  <p:tag name="KSO_WM_UNIT_PRESET_TEXT" val="添加标题"/>
  <p:tag name="KSO_WM_UNIT_TEXT_TYPE" val="1"/>
  <p:tag name="KSO_WM_DIAGRAM_USE_COLOR_VALUE" val="{&quot;color_scheme&quot;:1,&quot;color_type&quot;:1,&quot;theme_color_indexes&quot;:[9,10,9,10,9,10]}"/>
</p:tagLst>
</file>

<file path=ppt/tags/tag159.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o1-1"/>
  <p:tag name="KSO_WM_UNIT_TYPE" val="o_h_f"/>
  <p:tag name="KSO_WM_UNIT_INDEX" val="1_1_1"/>
  <p:tag name="KSO_WM_UNIT_ID" val="diagram20234922_3*o_h_f*1_1_1"/>
  <p:tag name="KSO_WM_TEMPLATE_CATEGORY" val="diagram"/>
  <p:tag name="KSO_WM_TEMPLATE_INDEX" val="20234922"/>
  <p:tag name="KSO_WM_UNIT_LAYERLEVEL" val="1_1_1"/>
  <p:tag name="KSO_WM_TAG_VERSION" val="3.0"/>
  <p:tag name="KSO_WM_UNIT_VALUE" val="24"/>
  <p:tag name="KSO_WM_DIAGRAM_VERSION" val="3"/>
  <p:tag name="KSO_WM_DIAGRAM_COLOR_TRICK" val="1"/>
  <p:tag name="KSO_WM_DIAGRAM_COLOR_TEXT_CAN_REMOVE" val="n"/>
  <p:tag name="KSO_WM_DIAGRAM_MAX_ITEMCNT" val="5"/>
  <p:tag name="KSO_WM_DIAGRAM_MIN_ITEMCNT" val="2"/>
  <p:tag name="KSO_WM_DIAGRAM_VIRTUALLY_FRAME" val="{&quot;height&quot;:239.6596062992126,&quot;left&quot;:75.09999999999994,&quot;top&quot;:225.5903937007874,&quot;width&quot;:426.7205511811024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 name="KSO_WM_UNIT_TEXT_FILL_FORE_SCHEMECOLOR_INDEX" val="1"/>
  <p:tag name="KSO_WM_UNIT_TEXT_FILL_TYPE" val="1"/>
  <p:tag name="KSO_WM_UNIT_PRESET_TEXT" val="单击此处添加文本，简明扼要地阐述您的观点。"/>
  <p:tag name="KSO_WM_UNIT_TEXT_TYPE" val="1"/>
  <p:tag name="KSO_WM_DIAGRAM_USE_COLOR_VALUE" val="{&quot;color_scheme&quot;:1,&quot;color_type&quot;:1,&quot;theme_color_indexes&quot;:[9,10,9,10,9,10]}"/>
</p:tagLst>
</file>

<file path=ppt/tags/tag160.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o1-1"/>
  <p:tag name="KSO_WM_UNIT_TYPE" val="o_h_f"/>
  <p:tag name="KSO_WM_UNIT_INDEX" val="1_2_1"/>
  <p:tag name="KSO_WM_UNIT_ID" val="diagram20234922_3*o_h_f*1_2_1"/>
  <p:tag name="KSO_WM_TEMPLATE_CATEGORY" val="diagram"/>
  <p:tag name="KSO_WM_TEMPLATE_INDEX" val="20234922"/>
  <p:tag name="KSO_WM_UNIT_LAYERLEVEL" val="1_1_1"/>
  <p:tag name="KSO_WM_TAG_VERSION" val="3.0"/>
  <p:tag name="KSO_WM_UNIT_VALUE" val="24"/>
  <p:tag name="KSO_WM_DIAGRAM_VERSION" val="3"/>
  <p:tag name="KSO_WM_DIAGRAM_COLOR_TRICK" val="1"/>
  <p:tag name="KSO_WM_DIAGRAM_COLOR_TEXT_CAN_REMOVE" val="n"/>
  <p:tag name="KSO_WM_DIAGRAM_MAX_ITEMCNT" val="5"/>
  <p:tag name="KSO_WM_DIAGRAM_MIN_ITEMCNT" val="2"/>
  <p:tag name="KSO_WM_DIAGRAM_VIRTUALLY_FRAME" val="{&quot;height&quot;:239.6596062992126,&quot;left&quot;:75.09999999999994,&quot;top&quot;:225.5903937007874,&quot;width&quot;:426.7205511811024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 name="KSO_WM_UNIT_TEXT_FILL_FORE_SCHEMECOLOR_INDEX" val="1"/>
  <p:tag name="KSO_WM_UNIT_TEXT_FILL_TYPE" val="1"/>
  <p:tag name="KSO_WM_UNIT_PRESET_TEXT" val="单击此处添加文本，简明扼要地阐述您的观点。"/>
  <p:tag name="KSO_WM_UNIT_TEXT_TYPE" val="1"/>
  <p:tag name="KSO_WM_DIAGRAM_USE_COLOR_VALUE" val="{&quot;color_scheme&quot;:1,&quot;color_type&quot;:1,&quot;theme_color_indexes&quot;:[9,10,9,10,9,10]}"/>
</p:tagLst>
</file>

<file path=ppt/tags/tag161.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o1-1"/>
  <p:tag name="KSO_WM_UNIT_TYPE" val="o_h_f"/>
  <p:tag name="KSO_WM_UNIT_INDEX" val="1_3_1"/>
  <p:tag name="KSO_WM_UNIT_ID" val="diagram20234922_3*o_h_f*1_3_1"/>
  <p:tag name="KSO_WM_TEMPLATE_CATEGORY" val="diagram"/>
  <p:tag name="KSO_WM_TEMPLATE_INDEX" val="20234922"/>
  <p:tag name="KSO_WM_UNIT_LAYERLEVEL" val="1_1_1"/>
  <p:tag name="KSO_WM_TAG_VERSION" val="3.0"/>
  <p:tag name="KSO_WM_UNIT_VALUE" val="24"/>
  <p:tag name="KSO_WM_DIAGRAM_VERSION" val="3"/>
  <p:tag name="KSO_WM_DIAGRAM_COLOR_TRICK" val="1"/>
  <p:tag name="KSO_WM_DIAGRAM_COLOR_TEXT_CAN_REMOVE" val="n"/>
  <p:tag name="KSO_WM_DIAGRAM_MAX_ITEMCNT" val="5"/>
  <p:tag name="KSO_WM_DIAGRAM_MIN_ITEMCNT" val="2"/>
  <p:tag name="KSO_WM_DIAGRAM_VIRTUALLY_FRAME" val="{&quot;height&quot;:239.6596062992126,&quot;left&quot;:75.09999999999994,&quot;top&quot;:225.5903937007874,&quot;width&quot;:426.7205511811024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 name="KSO_WM_UNIT_TEXT_FILL_FORE_SCHEMECOLOR_INDEX" val="1"/>
  <p:tag name="KSO_WM_UNIT_TEXT_FILL_TYPE" val="1"/>
  <p:tag name="KSO_WM_UNIT_PRESET_TEXT" val="单击此处添加文本，简明扼要地阐述您的观点。"/>
  <p:tag name="KSO_WM_UNIT_TEXT_TYPE" val="1"/>
  <p:tag name="KSO_WM_DIAGRAM_USE_COLOR_VALUE" val="{&quot;color_scheme&quot;:1,&quot;color_type&quot;:1,&quot;theme_color_indexes&quot;:[9,10,9,10,9,10]}"/>
</p:tagLst>
</file>

<file path=ppt/tags/tag162.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o1-1"/>
  <p:tag name="KSO_WM_UNIT_TYPE" val="o_h_f"/>
  <p:tag name="KSO_WM_UNIT_INDEX" val="1_4_1"/>
  <p:tag name="KSO_WM_UNIT_ID" val="diagram20234922_3*o_h_f*1_4_1"/>
  <p:tag name="KSO_WM_TEMPLATE_CATEGORY" val="diagram"/>
  <p:tag name="KSO_WM_TEMPLATE_INDEX" val="20234922"/>
  <p:tag name="KSO_WM_UNIT_LAYERLEVEL" val="1_1_1"/>
  <p:tag name="KSO_WM_TAG_VERSION" val="3.0"/>
  <p:tag name="KSO_WM_UNIT_VALUE" val="24"/>
  <p:tag name="KSO_WM_DIAGRAM_VERSION" val="3"/>
  <p:tag name="KSO_WM_DIAGRAM_COLOR_TRICK" val="1"/>
  <p:tag name="KSO_WM_DIAGRAM_COLOR_TEXT_CAN_REMOVE" val="n"/>
  <p:tag name="KSO_WM_DIAGRAM_MAX_ITEMCNT" val="5"/>
  <p:tag name="KSO_WM_DIAGRAM_MIN_ITEMCNT" val="2"/>
  <p:tag name="KSO_WM_DIAGRAM_VIRTUALLY_FRAME" val="{&quot;height&quot;:239.6596062992126,&quot;left&quot;:75.09999999999994,&quot;top&quot;:225.5903937007874,&quot;width&quot;:426.7205511811024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 name="KSO_WM_UNIT_TEXT_FILL_FORE_SCHEMECOLOR_INDEX" val="1"/>
  <p:tag name="KSO_WM_UNIT_TEXT_FILL_TYPE" val="1"/>
  <p:tag name="KSO_WM_UNIT_PRESET_TEXT" val="单击此处添加文本，简明扼要地阐述您的观点。"/>
  <p:tag name="KSO_WM_UNIT_TEXT_TYPE" val="1"/>
  <p:tag name="KSO_WM_DIAGRAM_USE_COLOR_VALUE" val="{&quot;color_scheme&quot;:1,&quot;color_type&quot;:1,&quot;theme_color_indexes&quot;:[9,10,9,10,9,10]}"/>
</p:tagLst>
</file>

<file path=ppt/tags/tag163.xml><?xml version="1.0" encoding="utf-8"?>
<p:tagLst xmlns:p="http://schemas.openxmlformats.org/presentationml/2006/main">
  <p:tag name="KSO_WM_SLIDE_ITEM_CNT" val="3"/>
  <p:tag name="resource_record_key" val="{&quot;70&quot;:[3429242]}"/>
</p:tagLst>
</file>

<file path=ppt/tags/tag1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q_h_i"/>
  <p:tag name="KSO_WM_UNIT_INDEX" val="1_1_1"/>
  <p:tag name="KSO_WM_UNIT_ID" val="diagram20231660_4*q_h_i*1_1_1"/>
  <p:tag name="KSO_WM_TEMPLATE_CATEGORY" val="diagram"/>
  <p:tag name="KSO_WM_TEMPLATE_INDEX" val="20231660"/>
  <p:tag name="KSO_WM_UNIT_LAYERLEVEL" val="1_1_1"/>
  <p:tag name="KSO_WM_TAG_VERSION" val="3.0"/>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709.1152755905512,&quot;left&quot;:49.94999999999999,&quot;top&quot;:209.63472440944878,&quot;width&quot;:1776.1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9,10,9,10,9,10]}"/>
</p:tagLst>
</file>

<file path=ppt/tags/tag1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q_h_i"/>
  <p:tag name="KSO_WM_UNIT_INDEX" val="1_1_1"/>
  <p:tag name="KSO_WM_UNIT_ID" val="diagram20231660_4*q_h_i*1_1_1"/>
  <p:tag name="KSO_WM_TEMPLATE_CATEGORY" val="diagram"/>
  <p:tag name="KSO_WM_TEMPLATE_INDEX" val="20231660"/>
  <p:tag name="KSO_WM_UNIT_LAYERLEVEL" val="1_1_1"/>
  <p:tag name="KSO_WM_TAG_VERSION" val="3.0"/>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709.1152755905512,&quot;left&quot;:49.94999999999999,&quot;top&quot;:209.63472440944878,&quot;width&quot;:1776.1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9,10,9,10,9,10]}"/>
</p:tagLst>
</file>

<file path=ppt/tags/tag1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q_h_i"/>
  <p:tag name="KSO_WM_UNIT_INDEX" val="1_1_1"/>
  <p:tag name="KSO_WM_UNIT_ID" val="diagram20231660_4*q_h_i*1_1_1"/>
  <p:tag name="KSO_WM_TEMPLATE_CATEGORY" val="diagram"/>
  <p:tag name="KSO_WM_TEMPLATE_INDEX" val="20231660"/>
  <p:tag name="KSO_WM_UNIT_LAYERLEVEL" val="1_1_1"/>
  <p:tag name="KSO_WM_TAG_VERSION" val="3.0"/>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709.1152755905512,&quot;left&quot;:49.94999999999999,&quot;top&quot;:209.63472440944878,&quot;width&quot;:1776.1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9,10,9,10,9,10]}"/>
</p:tagLst>
</file>

<file path=ppt/tags/tag1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q_h_i"/>
  <p:tag name="KSO_WM_UNIT_INDEX" val="1_1_1"/>
  <p:tag name="KSO_WM_UNIT_ID" val="diagram20231660_4*q_h_i*1_1_1"/>
  <p:tag name="KSO_WM_TEMPLATE_CATEGORY" val="diagram"/>
  <p:tag name="KSO_WM_TEMPLATE_INDEX" val="20231660"/>
  <p:tag name="KSO_WM_UNIT_LAYERLEVEL" val="1_1_1"/>
  <p:tag name="KSO_WM_TAG_VERSION" val="3.0"/>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709.1152755905512,&quot;left&quot;:49.94999999999999,&quot;top&quot;:209.63472440944878,&quot;width&quot;:1776.1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9,10,9,10,9,10]}"/>
</p:tagLst>
</file>

<file path=ppt/tags/tag1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q_h_i"/>
  <p:tag name="KSO_WM_UNIT_INDEX" val="1_1_1"/>
  <p:tag name="KSO_WM_UNIT_ID" val="diagram20231660_4*q_h_i*1_1_1"/>
  <p:tag name="KSO_WM_TEMPLATE_CATEGORY" val="diagram"/>
  <p:tag name="KSO_WM_TEMPLATE_INDEX" val="20231660"/>
  <p:tag name="KSO_WM_UNIT_LAYERLEVEL" val="1_1_1"/>
  <p:tag name="KSO_WM_TAG_VERSION" val="3.0"/>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709.1152755905512,&quot;left&quot;:49.94999999999999,&quot;top&quot;:209.63472440944878,&quot;width&quot;:1776.1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9,10,9,10,9,10]}"/>
</p:tagLst>
</file>

<file path=ppt/tags/tag1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q_h_i"/>
  <p:tag name="KSO_WM_UNIT_INDEX" val="1_1_1"/>
  <p:tag name="KSO_WM_UNIT_ID" val="diagram20231660_4*q_h_i*1_1_1"/>
  <p:tag name="KSO_WM_TEMPLATE_CATEGORY" val="diagram"/>
  <p:tag name="KSO_WM_TEMPLATE_INDEX" val="20231660"/>
  <p:tag name="KSO_WM_UNIT_LAYERLEVEL" val="1_1_1"/>
  <p:tag name="KSO_WM_TAG_VERSION" val="3.0"/>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709.1152755905512,&quot;left&quot;:49.94999999999999,&quot;top&quot;:209.63472440944878,&quot;width&quot;:1776.1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9,10,9,10,9,10]}"/>
</p:tagLst>
</file>

<file path=ppt/tags/tag170.xml><?xml version="1.0" encoding="utf-8"?>
<p:tagLst xmlns:p="http://schemas.openxmlformats.org/presentationml/2006/main">
  <p:tag name="KSO_WM_BEAUTIFY_FLAG" val=""/>
</p:tagLst>
</file>

<file path=ppt/tags/tag171.xml><?xml version="1.0" encoding="utf-8"?>
<p:tagLst xmlns:p="http://schemas.openxmlformats.org/presentationml/2006/main">
  <p:tag name="KSO_WM_BEAUTIFY_FLAG" val=""/>
</p:tagLst>
</file>

<file path=ppt/tags/tag1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68_2*n_h_a*1_1_1"/>
  <p:tag name="KSO_WM_TEMPLATE_CATEGORY" val="diagram"/>
  <p:tag name="KSO_WM_TEMPLATE_INDEX" val="40493068"/>
  <p:tag name="KSO_WM_UNIT_LAYERLEVEL" val="1_1_1"/>
  <p:tag name="KSO_WM_TAG_VERSION" val="3.0"/>
  <p:tag name="KSO_WM_BEAUTIFY_FLAG" val="#wm#"/>
  <p:tag name="KSO_WM_UNIT_ISCONTENTSTITLE" val="0"/>
  <p:tag name="KSO_WM_UNIT_ISNUMDGMTITLE" val="0"/>
  <p:tag name="KSO_WM_UNIT_NOCLEAR" val="0"/>
  <p:tag name="KSO_WM_DIAGRAM_GROUP_CODE" val="n1-1"/>
  <p:tag name="KSO_WM_UNIT_TYPE" val="n_h_a"/>
  <p:tag name="KSO_WM_UNIT_INDEX" val="1_1_1"/>
  <p:tag name="KSO_WM_UNIT_FILL_TYPE" val="3"/>
  <p:tag name="KSO_WM_UNIT_PRESET_TEXT" val="添加标题内容"/>
  <p:tag name="KSO_WM_UNIT_TEXT_TYPE" val="1"/>
  <p:tag name="KSO_WM_DIAGRAM_VERSION" val="3"/>
  <p:tag name="KSO_WM_DIAGRAM_COLOR_TRICK" val="1"/>
  <p:tag name="KSO_WM_DIAGRAM_COLOR_TEXT_CAN_REMOVE" val="n"/>
  <p:tag name="KSO_WM_DIAGRAM_MAX_ITEMCNT" val="6"/>
  <p:tag name="KSO_WM_DIAGRAM_MIN_ITEMCNT" val="2"/>
  <p:tag name="KSO_WM_DIAGRAM_VIRTUALLY_FRAME" val="{&quot;height&quot;:383.8999938964844,&quot;left&quot;:48.15,&quot;top&quot;:111.4000030517578,&quot;width&quot;:866.85}"/>
  <p:tag name="KSO_WM_DIAGRAM_COLOR_MATCH_VALUE" val="{&quot;shape&quot;:{&quot;fill&quot;:{&quot;gradient&quot;:[{&quot;brightness&quot;:0.4000000059604645,&quot;colorType&quot;:1,&quot;foreColorIndex&quot;:5,&quot;pos&quot;:0,&quot;transparency&quot;:0.20000000298023224},{&quot;brightness&quot;:0,&quot;colorType&quot;:1,&quot;foreColorIndex&quot;:5,&quot;pos&quot;:0.8899999856948853,&quot;transparency&quot;:0}],&quot;type&quot;:3},&quot;glow&quot;:{&quot;colorType&quot;:0},&quot;line&quot;:{&quot;type&quot;:0},&quot;shadow&quot;:{&quot;brightness&quot;:-0.25,&quot;colorType&quot;:1,&quot;foreColorIndex&quot;:5,&quot;transparency&quot;:0.85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68_2*n_h_h_x*1_2_1_1"/>
  <p:tag name="KSO_WM_TEMPLATE_CATEGORY" val="diagram"/>
  <p:tag name="KSO_WM_TEMPLATE_INDEX" val="40493068"/>
  <p:tag name="KSO_WM_UNIT_LAYERLEVEL" val="1_1_1_1"/>
  <p:tag name="KSO_WM_TAG_VERSION" val="3.0"/>
  <p:tag name="KSO_WM_BEAUTIFY_FLAG" val="#wm#"/>
  <p:tag name="KSO_WM_UNIT_VALUE" val="110*110"/>
  <p:tag name="KSO_WM_DIAGRAM_GROUP_CODE" val="n1-1"/>
  <p:tag name="KSO_WM_UNIT_TYPE" val="n_h_h_x"/>
  <p:tag name="KSO_WM_UNIT_INDEX" val="1_2_1_1"/>
  <p:tag name="KSO_WM_DIAGRAM_VERSION" val="3"/>
  <p:tag name="KSO_WM_DIAGRAM_COLOR_TRICK" val="1"/>
  <p:tag name="KSO_WM_DIAGRAM_COLOR_TEXT_CAN_REMOVE" val="n"/>
  <p:tag name="KSO_WM_DIAGRAM_MAX_ITEMCNT" val="6"/>
  <p:tag name="KSO_WM_DIAGRAM_MIN_ITEMCNT" val="2"/>
  <p:tag name="KSO_WM_DIAGRAM_VIRTUALLY_FRAME" val="{&quot;height&quot;:383.8999938964844,&quot;left&quot;:48.15,&quot;top&quot;:111.4000030517578,&quot;width&quot;:866.85}"/>
  <p:tag name="KSO_WM_DIAGRAM_COLOR_MATCH_VALUE" val="{&quot;shape&quot;:{&quot;fill&quot;:{&quot;gradient&quot;:[{&quot;brightness&quot;:0.4000000059604645,&quot;colorType&quot;:1,&quot;foreColorIndex&quot;:5,&quot;pos&quot;:0,&quot;transparency&quot;:0},{&quot;brightness&quot;:0,&quot;colorType&quot;:1,&quot;foreColorIndex&quot;:5,&quot;pos&quot;:0.9300000071525574,&quot;transparency&quot;:0}],&quot;type&quot;:3},&quot;glow&quot;:{&quot;colorType&quot;:0},&quot;line&quot;:{&quot;type&quot;:0},&quot;shadow&quot;:{&quot;brightness&quot;:-0.25,&quot;colorType&quot;:1,&quot;foreColorIndex&quot;:5,&quot;transparency&quot;:0.8999999761581421},&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9,10,9,10,9,10]}"/>
</p:tagLst>
</file>

<file path=ppt/tags/tag1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68_2*n_h_h_x*1_2_2_1"/>
  <p:tag name="KSO_WM_TEMPLATE_CATEGORY" val="diagram"/>
  <p:tag name="KSO_WM_TEMPLATE_INDEX" val="40493068"/>
  <p:tag name="KSO_WM_UNIT_LAYERLEVEL" val="1_1_1_1"/>
  <p:tag name="KSO_WM_TAG_VERSION" val="3.0"/>
  <p:tag name="KSO_WM_BEAUTIFY_FLAG" val="#wm#"/>
  <p:tag name="KSO_WM_UNIT_VALUE" val="100*100"/>
  <p:tag name="KSO_WM_DIAGRAM_GROUP_CODE" val="n1-1"/>
  <p:tag name="KSO_WM_UNIT_TYPE" val="n_h_h_x"/>
  <p:tag name="KSO_WM_UNIT_INDEX" val="1_2_2_1"/>
  <p:tag name="KSO_WM_DIAGRAM_VERSION" val="3"/>
  <p:tag name="KSO_WM_DIAGRAM_COLOR_TRICK" val="1"/>
  <p:tag name="KSO_WM_DIAGRAM_COLOR_TEXT_CAN_REMOVE" val="n"/>
  <p:tag name="KSO_WM_DIAGRAM_MAX_ITEMCNT" val="6"/>
  <p:tag name="KSO_WM_DIAGRAM_MIN_ITEMCNT" val="2"/>
  <p:tag name="KSO_WM_DIAGRAM_VIRTUALLY_FRAME" val="{&quot;height&quot;:383.8999938964844,&quot;left&quot;:48.15,&quot;top&quot;:111.4000030517578,&quot;width&quot;:866.85}"/>
  <p:tag name="KSO_WM_DIAGRAM_COLOR_MATCH_VALUE" val="{&quot;shape&quot;:{&quot;fill&quot;:{&quot;gradient&quot;:[{&quot;brightness&quot;:0.4000000059604645,&quot;colorType&quot;:1,&quot;foreColorIndex&quot;:5,&quot;pos&quot;:0,&quot;transparency&quot;:0},{&quot;brightness&quot;:0,&quot;colorType&quot;:1,&quot;foreColorIndex&quot;:5,&quot;pos&quot;:0.9300000071525574,&quot;transparency&quot;:0}],&quot;type&quot;:3},&quot;glow&quot;:{&quot;colorType&quot;:0},&quot;line&quot;:{&quot;type&quot;:0},&quot;shadow&quot;:{&quot;brightness&quot;:-0.25,&quot;colorType&quot;:1,&quot;foreColorIndex&quot;:5,&quot;transparency&quot;:0.8999999761581421},&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9,10,9,10,9,10]}"/>
</p:tagLst>
</file>

<file path=ppt/tags/tag1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68_2*n_h_h_f*1_2_1_1"/>
  <p:tag name="KSO_WM_TEMPLATE_CATEGORY" val="diagram"/>
  <p:tag name="KSO_WM_TEMPLATE_INDEX" val="40493068"/>
  <p:tag name="KSO_WM_UNIT_LAYERLEVEL" val="1_1_1_1"/>
  <p:tag name="KSO_WM_TAG_VERSION" val="3.0"/>
  <p:tag name="KSO_WM_BEAUTIFY_FLAG" val="#wm#"/>
  <p:tag name="KSO_WM_UNIT_SUBTYPE" val="a"/>
  <p:tag name="KSO_WM_UNIT_TEXT_LAYER_COUNT" val="1"/>
  <p:tag name="KSO_WM_UNIT_NOCLEAR" val="0"/>
  <p:tag name="KSO_WM_DIAGRAM_GROUP_CODE" val="n1-1"/>
  <p:tag name="KSO_WM_UNIT_TYPE" val="n_h_h_f"/>
  <p:tag name="KSO_WM_UNIT_INDEX" val="1_2_1_1"/>
  <p:tag name="KSO_WM_UNIT_FILL_TYPE" val="1"/>
  <p:tag name="KSO_WM_UNIT_FILL_FORE_SCHEMECOLOR_INDEX" val="5"/>
  <p:tag name="KSO_WM_UNIT_FILL_FORE_SCHEMECOLOR_INDEX_BRIGHTNESS" val="0.6"/>
  <p:tag name="KSO_WM_UNIT_TEXT_FILL_FORE_SCHEMECOLOR_INDEX" val="1"/>
  <p:tag name="KSO_WM_UNIT_TEXT_FILL_TYPE" val="1"/>
  <p:tag name="KSO_WM_UNIT_PRESET_TEXT" val="单击此处添加文本，简明扼要地阐述您的观点。根据需要可酌情增减文字"/>
  <p:tag name="KSO_WM_UNIT_TEXT_TYPE" val="1"/>
  <p:tag name="KSO_WM_DIAGRAM_VERSION" val="3"/>
  <p:tag name="KSO_WM_DIAGRAM_COLOR_TRICK" val="1"/>
  <p:tag name="KSO_WM_DIAGRAM_COLOR_TEXT_CAN_REMOVE" val="n"/>
  <p:tag name="KSO_WM_DIAGRAM_MAX_ITEMCNT" val="6"/>
  <p:tag name="KSO_WM_DIAGRAM_MIN_ITEMCNT" val="2"/>
  <p:tag name="KSO_WM_DIAGRAM_VIRTUALLY_FRAME" val="{&quot;height&quot;:383.8999938964844,&quot;left&quot;:48.15,&quot;top&quot;:111.4000030517578,&quot;width&quot;:866.85}"/>
  <p:tag name="KSO_WM_DIAGRAM_COLOR_MATCH_VALUE" val="{&quot;shape&quot;:{&quot;fill&quot;:{&quot;solid&quot;:{&quot;brightness&quot;:0.6000000238418579,&quot;colorType&quot;:1,&quot;foreColorIndex&quot;:5,&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68_2*n_h_h_f*1_2_2_1"/>
  <p:tag name="KSO_WM_TEMPLATE_CATEGORY" val="diagram"/>
  <p:tag name="KSO_WM_TEMPLATE_INDEX" val="40493068"/>
  <p:tag name="KSO_WM_UNIT_LAYERLEVEL" val="1_1_1_1"/>
  <p:tag name="KSO_WM_TAG_VERSION" val="3.0"/>
  <p:tag name="KSO_WM_BEAUTIFY_FLAG" val="#wm#"/>
  <p:tag name="KSO_WM_UNIT_SUBTYPE" val="a"/>
  <p:tag name="KSO_WM_UNIT_TEXT_LAYER_COUNT" val="1"/>
  <p:tag name="KSO_WM_UNIT_NOCLEAR" val="0"/>
  <p:tag name="KSO_WM_UNIT_VALUE" val="65"/>
  <p:tag name="KSO_WM_DIAGRAM_GROUP_CODE" val="n1-1"/>
  <p:tag name="KSO_WM_UNIT_TYPE" val="n_h_h_f"/>
  <p:tag name="KSO_WM_UNIT_INDEX" val="1_2_2_1"/>
  <p:tag name="KSO_WM_UNIT_FILL_TYPE" val="1"/>
  <p:tag name="KSO_WM_UNIT_FILL_FORE_SCHEMECOLOR_INDEX" val="5"/>
  <p:tag name="KSO_WM_UNIT_FILL_FORE_SCHEMECOLOR_INDEX_BRIGHTNESS" val="0.6"/>
  <p:tag name="KSO_WM_UNIT_TEXT_FILL_FORE_SCHEMECOLOR_INDEX" val="1"/>
  <p:tag name="KSO_WM_UNIT_TEXT_FILL_TYPE" val="1"/>
  <p:tag name="KSO_WM_UNIT_PRESET_TEXT" val="简明扼要地阐述您的观点。根据需要可酌情增减文字，以便观者准确地理解您传达的思想"/>
  <p:tag name="KSO_WM_UNIT_TEXT_TYPE" val="1"/>
  <p:tag name="KSO_WM_DIAGRAM_VERSION" val="3"/>
  <p:tag name="KSO_WM_DIAGRAM_COLOR_TRICK" val="1"/>
  <p:tag name="KSO_WM_DIAGRAM_COLOR_TEXT_CAN_REMOVE" val="n"/>
  <p:tag name="KSO_WM_DIAGRAM_MAX_ITEMCNT" val="6"/>
  <p:tag name="KSO_WM_DIAGRAM_MIN_ITEMCNT" val="2"/>
  <p:tag name="KSO_WM_DIAGRAM_VIRTUALLY_FRAME" val="{&quot;height&quot;:383.8999938964844,&quot;left&quot;:48.15,&quot;top&quot;:111.4000030517578,&quot;width&quot;:866.85}"/>
  <p:tag name="KSO_WM_DIAGRAM_COLOR_MATCH_VALUE" val="{&quot;shape&quot;:{&quot;fill&quot;:{&quot;solid&quot;:{&quot;brightness&quot;:0.6000000238418579,&quot;colorType&quot;:1,&quot;foreColorIndex&quot;:5,&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68_2*n_h_h_f*1_2_3_1"/>
  <p:tag name="KSO_WM_TEMPLATE_CATEGORY" val="diagram"/>
  <p:tag name="KSO_WM_TEMPLATE_INDEX" val="40493068"/>
  <p:tag name="KSO_WM_UNIT_LAYERLEVEL" val="1_1_1_1"/>
  <p:tag name="KSO_WM_TAG_VERSION" val="3.0"/>
  <p:tag name="KSO_WM_BEAUTIFY_FLAG" val="#wm#"/>
  <p:tag name="KSO_WM_UNIT_SUBTYPE" val="a"/>
  <p:tag name="KSO_WM_UNIT_TEXT_LAYER_COUNT" val="1"/>
  <p:tag name="KSO_WM_UNIT_NOCLEAR" val="0"/>
  <p:tag name="KSO_WM_DIAGRAM_GROUP_CODE" val="n1-1"/>
  <p:tag name="KSO_WM_UNIT_TYPE" val="n_h_h_f"/>
  <p:tag name="KSO_WM_UNIT_INDEX" val="1_2_3_1"/>
  <p:tag name="KSO_WM_UNIT_FILL_TYPE" val="1"/>
  <p:tag name="KSO_WM_UNIT_FILL_FORE_SCHEMECOLOR_INDEX" val="5"/>
  <p:tag name="KSO_WM_UNIT_FILL_FORE_SCHEMECOLOR_INDEX_BRIGHTNESS" val="0.6"/>
  <p:tag name="KSO_WM_UNIT_TEXT_FILL_FORE_SCHEMECOLOR_INDEX" val="1"/>
  <p:tag name="KSO_WM_UNIT_TEXT_FILL_TYPE" val="1"/>
  <p:tag name="KSO_WM_UNIT_PRESET_TEXT" val="单击此处添加文本，简明扼要地阐述您的观点。根据需要可酌情增减文字"/>
  <p:tag name="KSO_WM_UNIT_VALUE" val="65"/>
  <p:tag name="KSO_WM_UNIT_TEXT_TYPE" val="1"/>
  <p:tag name="KSO_WM_DIAGRAM_VERSION" val="3"/>
  <p:tag name="KSO_WM_DIAGRAM_COLOR_TRICK" val="1"/>
  <p:tag name="KSO_WM_DIAGRAM_COLOR_TEXT_CAN_REMOVE" val="n"/>
  <p:tag name="KSO_WM_DIAGRAM_MAX_ITEMCNT" val="6"/>
  <p:tag name="KSO_WM_DIAGRAM_MIN_ITEMCNT" val="2"/>
  <p:tag name="KSO_WM_DIAGRAM_VIRTUALLY_FRAME" val="{&quot;height&quot;:383.8999938964844,&quot;left&quot;:48.15,&quot;top&quot;:111.4000030517578,&quot;width&quot;:866.85}"/>
  <p:tag name="KSO_WM_DIAGRAM_COLOR_MATCH_VALUE" val="{&quot;shape&quot;:{&quot;fill&quot;:{&quot;solid&quot;:{&quot;brightness&quot;:0.6000000238418579,&quot;colorType&quot;:1,&quot;foreColorIndex&quot;:5,&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68_2*n_h_h_a*1_2_1_1"/>
  <p:tag name="KSO_WM_TEMPLATE_CATEGORY" val="diagram"/>
  <p:tag name="KSO_WM_TEMPLATE_INDEX" val="40493068"/>
  <p:tag name="KSO_WM_UNIT_LAYERLEVEL" val="1_1_1_1"/>
  <p:tag name="KSO_WM_TAG_VERSION" val="3.0"/>
  <p:tag name="KSO_WM_BEAUTIFY_FLAG" val="#wm#"/>
  <p:tag name="KSO_WM_UNIT_ISCONTENTSTITLE" val="0"/>
  <p:tag name="KSO_WM_UNIT_ISNUMDGMTITLE" val="0"/>
  <p:tag name="KSO_WM_UNIT_NOCLEAR" val="0"/>
  <p:tag name="KSO_WM_DIAGRAM_GROUP_CODE" val="n1-1"/>
  <p:tag name="KSO_WM_UNIT_TYPE" val="n_h_h_a"/>
  <p:tag name="KSO_WM_UNIT_INDEX" val="1_2_1_1"/>
  <p:tag name="KSO_WM_UNIT_TEXT_FILL_FORE_SCHEMECOLOR_INDEX" val="3"/>
  <p:tag name="KSO_WM_UNIT_TEXT_FILL_TYPE" val="3"/>
  <p:tag name="KSO_WM_UNIT_PRESET_TEXT" val="添加标题"/>
  <p:tag name="KSO_WM_UNIT_TEXT_TYPE" val="1"/>
  <p:tag name="KSO_WM_DIAGRAM_VERSION" val="3"/>
  <p:tag name="KSO_WM_DIAGRAM_COLOR_TRICK" val="1"/>
  <p:tag name="KSO_WM_DIAGRAM_COLOR_TEXT_CAN_REMOVE" val="n"/>
  <p:tag name="KSO_WM_DIAGRAM_MAX_ITEMCNT" val="6"/>
  <p:tag name="KSO_WM_DIAGRAM_MIN_ITEMCNT" val="2"/>
  <p:tag name="KSO_WM_DIAGRAM_VIRTUALLY_FRAME" val="{&quot;height&quot;:383.8999938964844,&quot;left&quot;:48.15,&quot;top&quot;:111.4000030517578,&quot;width&quot;:866.8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10999999940395355,&quot;transparency&quot;:0},{&quot;brightness&quot;:0.4000000059604645,&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68_2*n_h_h_a*1_2_2_1"/>
  <p:tag name="KSO_WM_TEMPLATE_CATEGORY" val="diagram"/>
  <p:tag name="KSO_WM_TEMPLATE_INDEX" val="40493068"/>
  <p:tag name="KSO_WM_UNIT_LAYERLEVEL" val="1_1_1_1"/>
  <p:tag name="KSO_WM_TAG_VERSION" val="3.0"/>
  <p:tag name="KSO_WM_BEAUTIFY_FLAG" val="#wm#"/>
  <p:tag name="KSO_WM_UNIT_ISCONTENTSTITLE" val="0"/>
  <p:tag name="KSO_WM_UNIT_ISNUMDGMTITLE" val="0"/>
  <p:tag name="KSO_WM_UNIT_NOCLEAR" val="0"/>
  <p:tag name="KSO_WM_DIAGRAM_GROUP_CODE" val="n1-1"/>
  <p:tag name="KSO_WM_UNIT_TYPE" val="n_h_h_a"/>
  <p:tag name="KSO_WM_UNIT_INDEX" val="1_2_2_1"/>
  <p:tag name="KSO_WM_UNIT_TEXT_FILL_FORE_SCHEMECOLOR_INDEX" val="3"/>
  <p:tag name="KSO_WM_UNIT_TEXT_FILL_TYPE" val="3"/>
  <p:tag name="KSO_WM_UNIT_PRESET_TEXT" val="添加标题"/>
  <p:tag name="KSO_WM_UNIT_TEXT_TYPE" val="1"/>
  <p:tag name="KSO_WM_DIAGRAM_VERSION" val="3"/>
  <p:tag name="KSO_WM_DIAGRAM_COLOR_TRICK" val="1"/>
  <p:tag name="KSO_WM_DIAGRAM_COLOR_TEXT_CAN_REMOVE" val="n"/>
  <p:tag name="KSO_WM_DIAGRAM_MAX_ITEMCNT" val="6"/>
  <p:tag name="KSO_WM_DIAGRAM_MIN_ITEMCNT" val="2"/>
  <p:tag name="KSO_WM_DIAGRAM_VIRTUALLY_FRAME" val="{&quot;height&quot;:383.8999938964844,&quot;left&quot;:48.15,&quot;top&quot;:111.4000030517578,&quot;width&quot;:866.8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10999999940395355,&quot;transparency&quot;:0},{&quot;brightness&quot;:0.4000000059604645,&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68_2*n_h_h_a*1_2_3_1"/>
  <p:tag name="KSO_WM_TEMPLATE_CATEGORY" val="diagram"/>
  <p:tag name="KSO_WM_TEMPLATE_INDEX" val="40493068"/>
  <p:tag name="KSO_WM_UNIT_LAYERLEVEL" val="1_1_1_1"/>
  <p:tag name="KSO_WM_TAG_VERSION" val="3.0"/>
  <p:tag name="KSO_WM_BEAUTIFY_FLAG" val="#wm#"/>
  <p:tag name="KSO_WM_UNIT_ISCONTENTSTITLE" val="0"/>
  <p:tag name="KSO_WM_UNIT_ISNUMDGMTITLE" val="0"/>
  <p:tag name="KSO_WM_UNIT_NOCLEAR" val="0"/>
  <p:tag name="KSO_WM_DIAGRAM_GROUP_CODE" val="n1-1"/>
  <p:tag name="KSO_WM_UNIT_TYPE" val="n_h_h_a"/>
  <p:tag name="KSO_WM_UNIT_INDEX" val="1_2_3_1"/>
  <p:tag name="KSO_WM_UNIT_TEXT_FILL_FORE_SCHEMECOLOR_INDEX" val="3"/>
  <p:tag name="KSO_WM_UNIT_TEXT_FILL_TYPE" val="3"/>
  <p:tag name="KSO_WM_UNIT_PRESET_TEXT" val="添加标题"/>
  <p:tag name="KSO_WM_UNIT_VALUE" val="13"/>
  <p:tag name="KSO_WM_UNIT_TEXT_TYPE" val="1"/>
  <p:tag name="KSO_WM_DIAGRAM_VERSION" val="3"/>
  <p:tag name="KSO_WM_DIAGRAM_COLOR_TRICK" val="1"/>
  <p:tag name="KSO_WM_DIAGRAM_COLOR_TEXT_CAN_REMOVE" val="n"/>
  <p:tag name="KSO_WM_DIAGRAM_MAX_ITEMCNT" val="6"/>
  <p:tag name="KSO_WM_DIAGRAM_MIN_ITEMCNT" val="2"/>
  <p:tag name="KSO_WM_DIAGRAM_VIRTUALLY_FRAME" val="{&quot;height&quot;:383.8999938964844,&quot;left&quot;:48.15,&quot;top&quot;:111.4000030517578,&quot;width&quot;:866.8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10999999940395355,&quot;transparency&quot;:0},{&quot;brightness&quot;:0.4000000059604645,&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68_2*n_h_h_x*1_2_3_1"/>
  <p:tag name="KSO_WM_TEMPLATE_CATEGORY" val="diagram"/>
  <p:tag name="KSO_WM_TEMPLATE_INDEX" val="40493068"/>
  <p:tag name="KSO_WM_UNIT_LAYERLEVEL" val="1_1_1_1"/>
  <p:tag name="KSO_WM_TAG_VERSION" val="3.0"/>
  <p:tag name="KSO_WM_BEAUTIFY_FLAG" val="#wm#"/>
  <p:tag name="KSO_WM_UNIT_VALUE" val="110*110"/>
  <p:tag name="KSO_WM_DIAGRAM_GROUP_CODE" val="n1-1"/>
  <p:tag name="KSO_WM_UNIT_TYPE" val="n_h_h_x"/>
  <p:tag name="KSO_WM_UNIT_INDEX" val="1_2_3_1"/>
  <p:tag name="KSO_WM_DIAGRAM_VERSION" val="3"/>
  <p:tag name="KSO_WM_DIAGRAM_COLOR_TRICK" val="1"/>
  <p:tag name="KSO_WM_DIAGRAM_COLOR_TEXT_CAN_REMOVE" val="n"/>
  <p:tag name="KSO_WM_DIAGRAM_MAX_ITEMCNT" val="6"/>
  <p:tag name="KSO_WM_DIAGRAM_MIN_ITEMCNT" val="2"/>
  <p:tag name="KSO_WM_DIAGRAM_VIRTUALLY_FRAME" val="{&quot;height&quot;:383.8999938964844,&quot;left&quot;:48.15,&quot;top&quot;:111.4000030517578,&quot;width&quot;:866.85}"/>
  <p:tag name="KSO_WM_DIAGRAM_COLOR_MATCH_VALUE" val="{&quot;shape&quot;:{&quot;fill&quot;:{&quot;gradient&quot;:[{&quot;brightness&quot;:0.4000000059604645,&quot;colorType&quot;:1,&quot;foreColorIndex&quot;:5,&quot;pos&quot;:0,&quot;transparency&quot;:0},{&quot;brightness&quot;:0,&quot;colorType&quot;:1,&quot;foreColorIndex&quot;:5,&quot;pos&quot;:0.9300000071525574,&quot;transparency&quot;:0}],&quot;type&quot;:3},&quot;glow&quot;:{&quot;colorType&quot;:0},&quot;line&quot;:{&quot;type&quot;:0},&quot;shadow&quot;:{&quot;brightness&quot;:-0.25,&quot;colorType&quot;:1,&quot;foreColorIndex&quot;:5,&quot;transparency&quot;:0.8999999761581421},&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9,10,9,10,9,10]}"/>
</p:tagLst>
</file>

<file path=ppt/tags/tag182.xml><?xml version="1.0" encoding="utf-8"?>
<p:tagLst xmlns:p="http://schemas.openxmlformats.org/presentationml/2006/main">
  <p:tag name="KSO_WM_SLIDE_ITEM_CNT" val="3"/>
  <p:tag name="resource_record_key" val="{&quot;10&quot;:[3505430,50036384,3504219,4526305],&quot;29&quot;:[50053024,50052948],&quot;70&quot;:[3405561,3319090,3312439,3318441,3431215]}"/>
</p:tagLst>
</file>

<file path=ppt/tags/tag183.xml><?xml version="1.0" encoding="utf-8"?>
<p:tagLst xmlns:p="http://schemas.openxmlformats.org/presentationml/2006/main">
  <p:tag name="KSO_WM_DIAGRAM_VIRTUALLY_FRAME" val="{&quot;height&quot;:389.6,&quot;left&quot;:211.45,&quot;top&quot;:116.65,&quot;width&quot;:477.55}"/>
</p:tagLst>
</file>

<file path=ppt/tags/tag184.xml><?xml version="1.0" encoding="utf-8"?>
<p:tagLst xmlns:p="http://schemas.openxmlformats.org/presentationml/2006/main">
  <p:tag name="KSO_WM_UNIT_TYPE" val="a"/>
  <p:tag name="KSO_WM_UNIT_INDEX" val="1"/>
  <p:tag name="KSO_WM_BEAUTIFY_FLAG" val="#wm#"/>
  <p:tag name="KSO_WM_TAG_VERSION" val="3.0"/>
  <p:tag name="KSO_WM_UNIT_ID" val="custom20238577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ISCONTENTSTITLE" val="0"/>
  <p:tag name="KSO_WM_UNIT_VALUE" val="14"/>
  <p:tag name="KSO_WM_UNIT_TEXT_TYPE" val="1"/>
  <p:tag name="KSO_WM_UNIT_PRESET_TEXT" val="单击此处添加&#10;章节标题"/>
</p:tagLst>
</file>

<file path=ppt/tags/tag185.xml><?xml version="1.0" encoding="utf-8"?>
<p:tagLst xmlns:p="http://schemas.openxmlformats.org/presentationml/2006/main">
  <p:tag name="KSO_WM_UNIT_TYPE" val="e"/>
  <p:tag name="KSO_WM_UNIT_INDEX" val="1"/>
  <p:tag name="KSO_WM_BEAUTIFY_FLAG" val="#wm#"/>
  <p:tag name="KSO_WM_TAG_VERSION" val="3.0"/>
  <p:tag name="KSO_WM_UNIT_ID" val="custom20238577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VALUE" val="2"/>
</p:tagLst>
</file>

<file path=ppt/tags/tag186.xml><?xml version="1.0" encoding="utf-8"?>
<p:tagLst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8577"/>
  <p:tag name="KSO_WM_TEMPLATE_CATEGORY" val="custom"/>
  <p:tag name="KSO_WM_SLIDE_INDEX" val="7"/>
  <p:tag name="KSO_WM_SLIDE_ID" val="custom20238577_7"/>
  <p:tag name="KSO_WM_TEMPLATE_MASTER_TYPE" val="0"/>
  <p:tag name="KSO_WM_SLIDE_LAYOUT" val="a_e"/>
  <p:tag name="KSO_WM_SLIDE_LAYOUT_CNT" val="1_1"/>
</p:tagLst>
</file>

<file path=ppt/tags/tag187.xml><?xml version="1.0" encoding="utf-8"?>
<p:tagLst xmlns:p="http://schemas.openxmlformats.org/presentationml/2006/main">
  <p:tag name="KSO_WM_BEAUTIFY_FLAG" val=""/>
</p:tagLst>
</file>

<file path=ppt/tags/tag188.xml><?xml version="1.0" encoding="utf-8"?>
<p:tagLst xmlns:p="http://schemas.openxmlformats.org/presentationml/2006/main">
  <p:tag name="KSO_WM_BEAUTIFY_FLAG" val=""/>
</p:tagLst>
</file>

<file path=ppt/tags/tag189.xml><?xml version="1.0" encoding="utf-8"?>
<p:tagLst xmlns:p="http://schemas.openxmlformats.org/presentationml/2006/main">
  <p:tag name="KSO_WM_UNIT_TABLE_BEAUTIFY" val="smartTable{db8c9949-f22c-4529-841c-7a18b0dfa572}"/>
  <p:tag name="TABLE_ENDDRAG_ORIGIN_RECT" val="882*397"/>
  <p:tag name="TABLE_ENDDRAG_RECT" val="41*85*882*397"/>
</p:tagLst>
</file>

<file path=ppt/tags/tag190.xml><?xml version="1.0" encoding="utf-8"?>
<p:tagLst xmlns:p="http://schemas.openxmlformats.org/presentationml/2006/main">
  <p:tag name="KSO_WM_BEAUTIFY_FLAG" val=""/>
</p:tagLst>
</file>

<file path=ppt/tags/tag191.xml><?xml version="1.0" encoding="utf-8"?>
<p:tagLst xmlns:p="http://schemas.openxmlformats.org/presentationml/2006/main">
  <p:tag name="KSO_WM_BEAUTIFY_FLAG" val=""/>
</p:tagLst>
</file>

<file path=ppt/tags/tag192.xml><?xml version="1.0" encoding="utf-8"?>
<p:tagLst xmlns:p="http://schemas.openxmlformats.org/presentationml/2006/main">
  <p:tag name="KSO_WM_UNIT_TABLE_BEAUTIFY" val="smartTable{33f5d7a5-d55f-4ded-8da5-f8d8bf39a09a}"/>
  <p:tag name="TABLE_ENDDRAG_ORIGIN_RECT" val="882*397"/>
  <p:tag name="TABLE_ENDDRAG_RECT" val="41*85*882*397"/>
</p:tagLst>
</file>

<file path=ppt/tags/tag193.xml><?xml version="1.0" encoding="utf-8"?>
<p:tagLst xmlns:p="http://schemas.openxmlformats.org/presentationml/2006/main">
  <p:tag name="KSO_WM_DIAGRAM_VIRTUALLY_FRAME" val="{&quot;height&quot;:389.6,&quot;left&quot;:211.45,&quot;top&quot;:116.65,&quot;width&quot;:477.55}"/>
</p:tagLst>
</file>

<file path=ppt/tags/tag194.xml><?xml version="1.0" encoding="utf-8"?>
<p:tagLst xmlns:p="http://schemas.openxmlformats.org/presentationml/2006/main">
  <p:tag name="KSO_WM_UNIT_TYPE" val="a"/>
  <p:tag name="KSO_WM_UNIT_INDEX" val="1"/>
  <p:tag name="KSO_WM_BEAUTIFY_FLAG" val="#wm#"/>
  <p:tag name="KSO_WM_TAG_VERSION" val="3.0"/>
  <p:tag name="KSO_WM_UNIT_ID" val="custom20238577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ISCONTENTSTITLE" val="0"/>
  <p:tag name="KSO_WM_UNIT_VALUE" val="14"/>
  <p:tag name="KSO_WM_UNIT_TEXT_TYPE" val="1"/>
  <p:tag name="KSO_WM_UNIT_PRESET_TEXT" val="单击此处添加&#10;章节标题"/>
</p:tagLst>
</file>

<file path=ppt/tags/tag195.xml><?xml version="1.0" encoding="utf-8"?>
<p:tagLst xmlns:p="http://schemas.openxmlformats.org/presentationml/2006/main">
  <p:tag name="KSO_WM_UNIT_TYPE" val="e"/>
  <p:tag name="KSO_WM_UNIT_INDEX" val="1"/>
  <p:tag name="KSO_WM_BEAUTIFY_FLAG" val="#wm#"/>
  <p:tag name="KSO_WM_TAG_VERSION" val="3.0"/>
  <p:tag name="KSO_WM_UNIT_ID" val="custom20238577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VALUE" val="2"/>
</p:tagLst>
</file>

<file path=ppt/tags/tag196.xml><?xml version="1.0" encoding="utf-8"?>
<p:tagLst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8577"/>
  <p:tag name="KSO_WM_TEMPLATE_CATEGORY" val="custom"/>
  <p:tag name="KSO_WM_SLIDE_INDEX" val="7"/>
  <p:tag name="KSO_WM_SLIDE_ID" val="custom20238577_7"/>
  <p:tag name="KSO_WM_TEMPLATE_MASTER_TYPE" val="0"/>
  <p:tag name="KSO_WM_SLIDE_LAYOUT" val="a_e"/>
  <p:tag name="KSO_WM_SLIDE_LAYOUT_CNT" val="1_1"/>
</p:tagLst>
</file>

<file path=ppt/tags/tag197.xml><?xml version="1.0" encoding="utf-8"?>
<p:tagLst xmlns:p="http://schemas.openxmlformats.org/presentationml/2006/main">
  <p:tag name="KSO_WM_BEAUTIFY_FLAG" val=""/>
</p:tagLst>
</file>

<file path=ppt/tags/tag198.xml><?xml version="1.0" encoding="utf-8"?>
<p:tagLst xmlns:p="http://schemas.openxmlformats.org/presentationml/2006/main">
  <p:tag name="KSO_WM_BEAUTIFY_FLAG" val=""/>
</p:tagLst>
</file>

<file path=ppt/tags/tag199.xml><?xml version="1.0" encoding="utf-8"?>
<p:tagLst xmlns:p="http://schemas.openxmlformats.org/presentationml/2006/main">
  <p:tag name="TABLE_ENDDRAG_ORIGIN_RECT" val="448*343"/>
  <p:tag name="TABLE_ENDDRAG_RECT" val="60*98*448*343"/>
</p:tagLst>
</file>

<file path=ppt/tags/tag200.xml><?xml version="1.0" encoding="utf-8"?>
<p:tagLst xmlns:p="http://schemas.openxmlformats.org/presentationml/2006/main">
  <p:tag name="TABLE_ENDDRAG_ORIGIN_RECT" val="354*332"/>
  <p:tag name="TABLE_ENDDRAG_RECT" val="537*98*354*332"/>
</p:tagLst>
</file>

<file path=ppt/tags/tag201.xml><?xml version="1.0" encoding="utf-8"?>
<p:tagLst xmlns:p="http://schemas.openxmlformats.org/presentationml/2006/main">
  <p:tag name="KSO_WM_BEAUTIFY_FLAG" val=""/>
</p:tagLst>
</file>

<file path=ppt/tags/tag202.xml><?xml version="1.0" encoding="utf-8"?>
<p:tagLst xmlns:p="http://schemas.openxmlformats.org/presentationml/2006/main">
  <p:tag name="KSO_WM_BEAUTIFY_FLAG" val=""/>
</p:tagLst>
</file>

<file path=ppt/tags/tag203.xml><?xml version="1.0" encoding="utf-8"?>
<p:tagLst xmlns:p="http://schemas.openxmlformats.org/presentationml/2006/main">
  <p:tag name="KSO_WM_UNIT_TYPE" val="a"/>
  <p:tag name="KSO_WM_UNIT_INDEX" val="1"/>
  <p:tag name="KSO_WM_BEAUTIFY_FLAG" val="#wm#"/>
  <p:tag name="KSO_WM_TAG_VERSION" val="3.0"/>
  <p:tag name="KSO_WM_UNIT_ID" val="custom20238577_9*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ISCONTENTSTITLE" val="0"/>
</p:tagLst>
</file>

<file path=ppt/tags/tag204.xml><?xml version="1.0" encoding="utf-8"?>
<p:tagLst xmlns:p="http://schemas.openxmlformats.org/presentationml/2006/main">
  <p:tag name="KSO_WM_UNIT_PIC_EFFECT" val="1"/>
</p:tagLst>
</file>

<file path=ppt/tags/tag205.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1"/>
  <p:tag name="KSO_WM_UNIT_ID" val="custom20238488_1*i*1"/>
  <p:tag name="KSO_WM_TEMPLATE_CATEGORY" val="custom"/>
  <p:tag name="KSO_WM_TEMPLATE_INDEX" val="20238488"/>
  <p:tag name="KSO_WM_UNIT_LAYERLEVEL" val="1"/>
  <p:tag name="KSO_WM_TAG_VERSION" val="1.0"/>
  <p:tag name="KSO_WM_UNIT_PIC_EFFECT" val="1"/>
</p:tagLst>
</file>

<file path=ppt/tags/tag206.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2"/>
  <p:tag name="KSO_WM_UNIT_ID" val="custom20238488_1*i*2"/>
  <p:tag name="KSO_WM_TEMPLATE_CATEGORY" val="custom"/>
  <p:tag name="KSO_WM_TEMPLATE_INDEX" val="20238488"/>
  <p:tag name="KSO_WM_UNIT_LAYERLEVEL" val="1"/>
  <p:tag name="KSO_WM_TAG_VERSION" val="1.0"/>
  <p:tag name="KSO_WM_UNIT_PIC_EFFECT" val="1"/>
</p:tagLst>
</file>

<file path=ppt/tags/tag207.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3"/>
  <p:tag name="KSO_WM_UNIT_ID" val="custom20238488_1*i*3"/>
  <p:tag name="KSO_WM_TEMPLATE_CATEGORY" val="custom"/>
  <p:tag name="KSO_WM_TEMPLATE_INDEX" val="20238488"/>
  <p:tag name="KSO_WM_UNIT_LAYERLEVEL" val="1"/>
  <p:tag name="KSO_WM_TAG_VERSION" val="1.0"/>
  <p:tag name="KSO_WM_UNIT_PIC_EFFECT" val="1"/>
</p:tagLst>
</file>

<file path=ppt/tags/tag208.xml><?xml version="1.0" encoding="utf-8"?>
<p:tagLst xmlns:p="http://schemas.openxmlformats.org/presentationml/2006/main">
  <p:tag name="KSO_WM_BEAUTIFY_FLAG" val="#wm#"/>
  <p:tag name="KSO_WM_UNIT_VALUE" val="1636*1425"/>
  <p:tag name="KSO_WM_UNIT_HIGHLIGHT" val="0"/>
  <p:tag name="KSO_WM_UNIT_COMPATIBLE" val="0"/>
  <p:tag name="KSO_WM_UNIT_DIAGRAM_ISNUMVISUAL" val="0"/>
  <p:tag name="KSO_WM_UNIT_DIAGRAM_ISREFERUNIT" val="0"/>
  <p:tag name="KSO_WM_UNIT_TYPE" val="d"/>
  <p:tag name="KSO_WM_UNIT_INDEX" val="1"/>
  <p:tag name="KSO_WM_UNIT_ID" val="custom20238488_1*d*1"/>
  <p:tag name="KSO_WM_TEMPLATE_CATEGORY" val="custom"/>
  <p:tag name="KSO_WM_TEMPLATE_INDEX" val="20238488"/>
  <p:tag name="KSO_WM_UNIT_LAYERLEVEL" val="1"/>
  <p:tag name="KSO_WM_TAG_VERSION" val="1.0"/>
  <p:tag name="KSO_WM_UNIT_PIC_EFFECT" val="1"/>
</p:tagLst>
</file>

<file path=ppt/tags/tag209.xml><?xml version="1.0" encoding="utf-8"?>
<p:tagLst xmlns:p="http://schemas.openxmlformats.org/presentationml/2006/main">
  <p:tag name="KSO_WM_SLIDE_TYPE" val="endPage"/>
  <p:tag name="KSO_WM_TEMPLATE_SUBCATEGORY" val="29"/>
  <p:tag name="KSO_WM_TEMPLATE_COLOR_TYPE" val="0"/>
  <p:tag name="KSO_WM_TAG_VERSION" val="3.0"/>
  <p:tag name="KSO_WM_SLIDE_SUBTYPE" val="pureTxt"/>
  <p:tag name="KSO_WM_SLIDE_ITEM_CNT" val="0"/>
  <p:tag name="KSO_WM_BEAUTIFY_FLAG" val="#wm#"/>
  <p:tag name="KSO_WM_TEMPLATE_INDEX" val="20238577"/>
  <p:tag name="KSO_WM_TEMPLATE_CATEGORY" val="custom"/>
  <p:tag name="KSO_WM_SLIDE_INDEX" val="9"/>
  <p:tag name="KSO_WM_SLIDE_ID" val="custom20238577_9"/>
  <p:tag name="KSO_WM_TEMPLATE_MASTER_TYPE" val="0"/>
  <p:tag name="KSO_WM_SLIDE_LAYOUT" val="a_b_f_x"/>
  <p:tag name="KSO_WM_SLIDE_LAYOUT_CNT" val="1_1_2_1"/>
</p:tagLst>
</file>

<file path=ppt/tags/tag210.xml><?xml version="1.0" encoding="utf-8"?>
<p:tagLst xmlns:p="http://schemas.openxmlformats.org/presentationml/2006/main">
  <p:tag name="resource_record_key" val="{&quot;10&quot;:[21571666,21547652,20253287,3481656,50035314,21552069,21576169,4588957,21550782,4522474,50021858,3634889,21570670,50024265,50041117,21572500,21581987,50042277,50043352,17421794,3659203,21566645,3639535,4521268,19995253,3504219,4526305,50034089,4590447],&quot;13&quot;:[20025430],&quot;29&quot;:[50052445,50000144],&quot;65&quot;:[20238577],&quot;70&quot;:[3330157,3312290,3333581,3312385,3314426,3318441,3431215,3332761,3318307,3333613,3312479,3429185,3333487,3332892]}"/>
</p:tagLst>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
        <a:ea typeface=""/>
        <a:cs typeface=""/>
      </a:majorFont>
      <a:minorFont>
        <a:latin typeface=""/>
        <a:ea typeface=""/>
        <a:cs typeface=""/>
      </a:minorFont>
    </a:fontScheme>
    <a:fmtScheme name="Office">
      <a:fillStyleLst>
        <a:solidFill>
          <a:schemeClr val="phClr"/>
        </a:solidFill>
        <a:gradFill rotWithShape="1">
          <a:gsLst>
            <a:gs pos="0">
              <a:schemeClr val="phClr">
                <a:satMod val="110000"/>
                <a:lumMod val="105000"/>
                <a:tint val="67000"/>
              </a:schemeClr>
            </a:gs>
            <a:gs pos="50000">
              <a:schemeClr val="phClr">
                <a:lumMod val="105000"/>
                <a:satMod val="103000"/>
                <a:tint val="73000"/>
              </a:schemeClr>
            </a:gs>
            <a:gs pos="100000">
              <a:schemeClr val="phClr">
                <a:satMod val="105000"/>
                <a:lumMod val="109000"/>
                <a:tint val="81000"/>
              </a:schemeClr>
            </a:gs>
          </a:gsLst>
          <a:lin ang="5400000" scaled="0"/>
        </a:gradFill>
        <a:gradFill rotWithShape="1">
          <a:gsLst>
            <a:gs pos="0">
              <a:schemeClr val="phClr">
                <a:satMod val="103000"/>
                <a:lumMod val="102000"/>
                <a:shade val="94000"/>
              </a:schemeClr>
            </a:gs>
            <a:gs pos="50000">
              <a:schemeClr val="phClr">
                <a:lumMod val="110000"/>
                <a:satMod val="100000"/>
                <a:tint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简约星环线条职场办公">
  <a:themeElements>
    <a:clrScheme name="">
      <a:dk1>
        <a:srgbClr val="000000"/>
      </a:dk1>
      <a:lt1>
        <a:srgbClr val="FFFFFF"/>
      </a:lt1>
      <a:dk2>
        <a:srgbClr val="262626"/>
      </a:dk2>
      <a:lt2>
        <a:srgbClr val="E5F8FF"/>
      </a:lt2>
      <a:accent1>
        <a:srgbClr val="6364FF"/>
      </a:accent1>
      <a:accent2>
        <a:srgbClr val="00E701"/>
      </a:accent2>
      <a:accent3>
        <a:srgbClr val="FFCF37"/>
      </a:accent3>
      <a:accent4>
        <a:srgbClr val="E45458"/>
      </a:accent4>
      <a:accent5>
        <a:srgbClr val="21C384"/>
      </a:accent5>
      <a:accent6>
        <a:srgbClr val="00A5F2"/>
      </a:accent6>
      <a:hlink>
        <a:srgbClr val="0026E5"/>
      </a:hlink>
      <a:folHlink>
        <a:srgbClr val="7E1FAD"/>
      </a:folHlink>
    </a:clrScheme>
    <a:fontScheme name="主题字体">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简约星环线条职场办公">
  <a:themeElements>
    <a:clrScheme name="">
      <a:dk1>
        <a:srgbClr val="000000"/>
      </a:dk1>
      <a:lt1>
        <a:srgbClr val="FFFFFF"/>
      </a:lt1>
      <a:dk2>
        <a:srgbClr val="262626"/>
      </a:dk2>
      <a:lt2>
        <a:srgbClr val="E5F8FF"/>
      </a:lt2>
      <a:accent1>
        <a:srgbClr val="6364FF"/>
      </a:accent1>
      <a:accent2>
        <a:srgbClr val="00E701"/>
      </a:accent2>
      <a:accent3>
        <a:srgbClr val="FFCF37"/>
      </a:accent3>
      <a:accent4>
        <a:srgbClr val="E45458"/>
      </a:accent4>
      <a:accent5>
        <a:srgbClr val="21C384"/>
      </a:accent5>
      <a:accent6>
        <a:srgbClr val="00A5F2"/>
      </a:accent6>
      <a:hlink>
        <a:srgbClr val="0026E5"/>
      </a:hlink>
      <a:folHlink>
        <a:srgbClr val="7E1FAD"/>
      </a:folHlink>
    </a:clrScheme>
    <a:fontScheme name="主题字体">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彩色5">
    <a:dk1>
      <a:srgbClr val="000000"/>
    </a:dk1>
    <a:lt1>
      <a:srgbClr val="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
      <a:ea typeface=""/>
      <a:cs typeface=""/>
    </a:majorFont>
    <a:minorFont>
      <a:latin typeface=""/>
      <a:ea typeface=""/>
      <a:cs typeface=""/>
    </a:minorFont>
  </a:fontScheme>
  <a:fmtScheme name="Office">
    <a:fillStyleLst>
      <a:solidFill>
        <a:schemeClr val="phClr"/>
      </a:solidFill>
      <a:gradFill rotWithShape="1">
        <a:gsLst>
          <a:gs pos="0">
            <a:schemeClr val="phClr">
              <a:satMod val="110000"/>
              <a:lumMod val="105000"/>
              <a:tint val="67000"/>
            </a:schemeClr>
          </a:gs>
          <a:gs pos="50000">
            <a:schemeClr val="phClr">
              <a:lumMod val="105000"/>
              <a:satMod val="103000"/>
              <a:tint val="73000"/>
            </a:schemeClr>
          </a:gs>
          <a:gs pos="100000">
            <a:schemeClr val="phClr">
              <a:satMod val="105000"/>
              <a:lumMod val="109000"/>
              <a:tint val="81000"/>
            </a:schemeClr>
          </a:gs>
        </a:gsLst>
        <a:lin ang="5400000" scaled="0"/>
      </a:gradFill>
      <a:gradFill rotWithShape="1">
        <a:gsLst>
          <a:gs pos="0">
            <a:schemeClr val="phClr">
              <a:satMod val="103000"/>
              <a:lumMod val="102000"/>
              <a:shade val="94000"/>
            </a:schemeClr>
          </a:gs>
          <a:gs pos="50000">
            <a:schemeClr val="phClr">
              <a:lumMod val="110000"/>
              <a:satMod val="100000"/>
              <a:tint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otalTime>0</TotalTime>
  <Words>8518</Words>
  <Application>WPS 演示</Application>
  <PresentationFormat/>
  <Paragraphs>717</Paragraphs>
  <Slides>20</Slides>
  <Notes>0</Notes>
  <HiddenSlides>0</HiddenSlides>
  <MMClips>0</MMClips>
  <ScaleCrop>false</ScaleCrop>
  <HeadingPairs>
    <vt:vector size="6" baseType="variant">
      <vt:variant>
        <vt:lpstr>已用的字体</vt:lpstr>
      </vt:variant>
      <vt:variant>
        <vt:i4>45</vt:i4>
      </vt:variant>
      <vt:variant>
        <vt:lpstr>主题</vt:lpstr>
      </vt:variant>
      <vt:variant>
        <vt:i4>3</vt:i4>
      </vt:variant>
      <vt:variant>
        <vt:lpstr>幻灯片标题</vt:lpstr>
      </vt:variant>
      <vt:variant>
        <vt:i4>20</vt:i4>
      </vt:variant>
    </vt:vector>
  </HeadingPairs>
  <TitlesOfParts>
    <vt:vector size="68" baseType="lpstr">
      <vt:lpstr>Arial</vt:lpstr>
      <vt:lpstr>宋体</vt:lpstr>
      <vt:lpstr>Wingdings</vt:lpstr>
      <vt:lpstr>Calibri</vt:lpstr>
      <vt:lpstr>微软雅黑</vt:lpstr>
      <vt:lpstr>Helvetica Neue</vt:lpstr>
      <vt:lpstr>黑体-简</vt:lpstr>
      <vt:lpstr>黑体</vt:lpstr>
      <vt:lpstr>Arial Black</vt:lpstr>
      <vt:lpstr>DINPro Bold</vt:lpstr>
      <vt:lpstr>Calibri</vt:lpstr>
      <vt:lpstr>Arial</vt:lpstr>
      <vt:lpstr>Calibri</vt:lpstr>
      <vt:lpstr>Wingdings</vt:lpstr>
      <vt:lpstr>Heiti SC Medium</vt:lpstr>
      <vt:lpstr>Heiti SC Light</vt:lpstr>
      <vt:lpstr>Songti SC</vt:lpstr>
      <vt:lpstr>Noto Sans SC</vt:lpstr>
      <vt:lpstr>微软雅黑</vt:lpstr>
      <vt:lpstr>Source Han Sans CN Medium</vt:lpstr>
      <vt:lpstr>Source Han Sans CN Bold</vt:lpstr>
      <vt:lpstr>Source Han Sans CN Normal</vt:lpstr>
      <vt:lpstr>+中文标题</vt:lpstr>
      <vt:lpstr>Noto Sans SC</vt:lpstr>
      <vt:lpstr>Times New Roman</vt:lpstr>
      <vt:lpstr>Arial Unicode MS</vt:lpstr>
      <vt:lpstr>Noto Sans</vt:lpstr>
      <vt:lpstr>Heiti SC Light</vt:lpstr>
      <vt:lpstr>Heiti SC Medium</vt:lpstr>
      <vt:lpstr>Helvetica Neue</vt:lpstr>
      <vt:lpstr>Noto Sans SC</vt:lpstr>
      <vt:lpstr>Songti SC</vt:lpstr>
      <vt:lpstr>Source Han Sans CN Bold</vt:lpstr>
      <vt:lpstr>Source Han Sans CN Medium</vt:lpstr>
      <vt:lpstr>Source Han Sans CN Normal</vt:lpstr>
      <vt:lpstr>Times New Roman</vt:lpstr>
      <vt:lpstr>黑体-简</vt:lpstr>
      <vt:lpstr>Helvetica LT Pro</vt:lpstr>
      <vt:lpstr>方正坦黑体 简</vt:lpstr>
      <vt:lpstr>DIN Pro</vt:lpstr>
      <vt:lpstr>Mona Medium</vt:lpstr>
      <vt:lpstr>Windsor Std Light</vt:lpstr>
      <vt:lpstr>Saturday Sans Regular</vt:lpstr>
      <vt:lpstr>Wonder Sans Bold</vt:lpstr>
      <vt:lpstr>+中文正文</vt:lpstr>
      <vt:lpstr>Office theme</vt:lpstr>
      <vt:lpstr>简约星环线条职场办公</vt:lpstr>
      <vt:lpstr>1_简约星环线条职场办公</vt:lpstr>
      <vt:lpstr>PowerPoint 演示文稿</vt:lpstr>
      <vt:lpstr>PowerPoint 演示文稿</vt:lpstr>
      <vt:lpstr>目标与协作机制回顾</vt:lpstr>
      <vt:lpstr>PowerPoint 演示文稿</vt:lpstr>
      <vt:lpstr>PowerPoint 演示文稿</vt:lpstr>
      <vt:lpstr>共同的工作成果总结</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共同的挑战与应对思路（可选）</vt:lpstr>
      <vt:lpstr>PowerPoint 演示文稿</vt:lpstr>
      <vt:lpstr>PowerPoint 演示文稿</vt:lpstr>
      <vt:lpstr>下阶段目标与协作计划</vt:lpstr>
      <vt:lpstr>PowerPoint 演示文稿</vt:lpstr>
      <vt:lpstr>PowerPoint 演示文稿</vt:lpstr>
      <vt:lpstr>客户成功   才是深信服的成功</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π</cp:lastModifiedBy>
  <cp:revision>137</cp:revision>
  <dcterms:created xsi:type="dcterms:W3CDTF">2026-06-11T13:14:00Z</dcterms:created>
  <dcterms:modified xsi:type="dcterms:W3CDTF">2026-06-16T04:19:55Z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O">
    <vt:lpwstr>wqlLaW5nc29mdCBQREYgdG8gV1BTIDExMEI</vt:lpwstr>
  </property>
  <property fmtid="{D5CDD505-2E9C-101B-9397-08002B2CF9AE}" pid="3" name="Created">
    <vt:filetime>2025-08-03T01:35:42Z</vt:filetime>
  </property>
  <property fmtid="{D5CDD505-2E9C-101B-9397-08002B2CF9AE}" pid="4" name="UsrData">
    <vt:lpwstr>687eeadea43bea0020547dd2wl</vt:lpwstr>
  </property>
  <property fmtid="{D5CDD505-2E9C-101B-9397-08002B2CF9AE}" pid="5" name="ICV">
    <vt:lpwstr>BD31DE5C0B9A2C0FC0B22A6A6FCFB03E_43</vt:lpwstr>
  </property>
  <property fmtid="{D5CDD505-2E9C-101B-9397-08002B2CF9AE}" pid="6" name="KSOProductBuildVer">
    <vt:lpwstr>2052-12.1.0.26895</vt:lpwstr>
  </property>
</Properties>
</file>