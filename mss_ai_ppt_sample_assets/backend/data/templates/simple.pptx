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media/image10.svg" ContentType="image/svg+xml"/>
  <Override PartName="/ppt/media/image12.svg" ContentType="image/svg+xml"/>
  <Override PartName="/ppt/media/image14.svg" ContentType="image/svg+xml"/>
  <Override PartName="/ppt/media/image16.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63" r:id="rId4"/>
  </p:sldMasterIdLst>
  <p:notesMasterIdLst>
    <p:notesMasterId r:id="rId6"/>
  </p:notesMasterIdLst>
  <p:sldIdLst>
    <p:sldId id="391" r:id="rId5"/>
    <p:sldId id="433" r:id="rId7"/>
    <p:sldId id="393" r:id="rId8"/>
    <p:sldId id="394" r:id="rId9"/>
    <p:sldId id="428" r:id="rId10"/>
    <p:sldId id="442" r:id="rId11"/>
    <p:sldId id="396" r:id="rId12"/>
    <p:sldId id="443" r:id="rId13"/>
    <p:sldId id="436" r:id="rId14"/>
    <p:sldId id="437" r:id="rId15"/>
    <p:sldId id="438" r:id="rId16"/>
    <p:sldId id="444" r:id="rId17"/>
    <p:sldId id="440" r:id="rId18"/>
    <p:sldId id="441" r:id="rId19"/>
    <p:sldId id="404" r:id="rId20"/>
    <p:sldId id="405" r:id="rId21"/>
    <p:sldId id="406" r:id="rId22"/>
    <p:sldId id="408" r:id="rId23"/>
    <p:sldId id="421" r:id="rId24"/>
    <p:sldId id="445" r:id="rId25"/>
    <p:sldId id="409" r:id="rId26"/>
    <p:sldId id="446" r:id="rId27"/>
  </p:sldIdLst>
  <p:sldSz cx="12192000" cy="6858000"/>
  <p:notesSz cx="6858000" cy="9144000"/>
  <p:custDataLst>
    <p:tags r:id="rId3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 id="346" name="WPS" initials="W" lastIdx="0" clrIdx="345"/>
  <p:cmAuthor id="347" name="Qiao" initials="authorId_196572682" lastIdx="0" clrIdx="346"/>
  <p:cmAuthor id="348" name="未知用户348" initials="未" lastIdx="0" clrIdx="347"/>
  <p:cmAuthor id="349" name="未知用户148" initials="未" lastIdx="0" clrIdx="348"/>
  <p:cmAuthor id="350" name="未知用户195" initials="未" lastIdx="0" clrIdx="349"/>
  <p:cmAuthor id="351" name="未知用户207" initials="未" lastIdx="0" clrIdx="350"/>
  <p:cmAuthor id="352" name="未知用户208" initials="未" lastIdx="0" clrIdx="351"/>
  <p:cmAuthor id="353" name="未知用户198" initials="未" lastIdx="0" clrIdx="352"/>
  <p:cmAuthor id="354" name="未知用户209" initials="未" lastIdx="0" clrIdx="353"/>
  <p:cmAuthor id="355" name="未知用户289" initials="未" lastIdx="0" clrIdx="354"/>
  <p:cmAuthor id="356" name="未知用户206" initials="未" lastIdx="0" clrIdx="355"/>
  <p:cmAuthor id="357" name="未知的使用者207" initials="未" lastIdx="0" clrIdx="356"/>
  <p:cmAuthor id="358" name="未知的使用者208" initials="未" lastIdx="0" clrIdx="357"/>
  <p:cmAuthor id="359" name="未知的使用者188" initials="未" lastIdx="0" clrIdx="358"/>
  <p:cmAuthor id="360" name="未知的使用者189" initials="未" lastIdx="0" clrIdx="359"/>
  <p:cmAuthor id="361" name="未知的使用者190" initials="未" lastIdx="0" clrIdx="360"/>
  <p:cmAuthor id="362" name="未知的使用者191" initials="未" lastIdx="0" clrIdx="361"/>
  <p:cmAuthor id="363" name="未知的使用者192" initials="未" lastIdx="0" clrIdx="362"/>
  <p:cmAuthor id="364" name="未知的使用者193" initials="未" lastIdx="0" clrIdx="363"/>
  <p:cmAuthor id="365" name="未知的使用者209" initials="未" lastIdx="0" clrIdx="364"/>
  <p:cmAuthor id="366" name="未知用户118" initials="未" lastIdx="0" clrIdx="365"/>
  <p:cmAuthor id="367" name="未知用户147" initials="未" lastIdx="0" clrIdx="366"/>
  <p:cmAuthor id="368" name="未知的使用者96" initials="未" lastIdx="0" clrIdx="367"/>
  <p:cmAuthor id="369" name="未知用户255" initials="未" lastIdx="0" clrIdx="368"/>
  <p:cmAuthor id="370" name="未知的使用者153" initials="未" lastIdx="0" clrIdx="369"/>
  <p:cmAuthor id="371" name="未知的使用者154" initials="未" lastIdx="0" clrIdx="370"/>
  <p:cmAuthor id="372" name="未知的使用者156" initials="未" lastIdx="0" clrIdx="371"/>
  <p:cmAuthor id="373" name="未知的使用者157" initials="未" lastIdx="0" clrIdx="372"/>
  <p:cmAuthor id="374" name="未知用户246" initials="未" lastIdx="0" clrIdx="373"/>
  <p:cmAuthor id="375" name="未知的使用者129" initials="未" lastIdx="0" clrIdx="374"/>
  <p:cmAuthor id="376" name="未知用户257" initials="未" lastIdx="0" clrIdx="375"/>
  <p:cmAuthor id="377" name="未知的使用者164" initials="未" lastIdx="0" clrIdx="376"/>
  <p:cmAuthor id="378" name="未知的使用者172" initials="未" lastIdx="0" clrIdx="377"/>
  <p:cmAuthor id="379" name="未知的使用者174" initials="未" lastIdx="0" clrIdx="378"/>
  <p:cmAuthor id="380" name="未知用户261" initials="未" lastIdx="0" clrIdx="379"/>
  <p:cmAuthor id="381" name="未知的使用者247" initials="未" lastIdx="0" clrIdx="380"/>
  <p:cmAuthor id="382" name="未知的使用者249" initials="未" lastIdx="0" clrIdx="381"/>
  <p:cmAuthor id="383" name="未知的使用者250" initials="未" lastIdx="0" clrIdx="382"/>
  <p:cmAuthor id="384" name="未知的使用者251" initials="未" lastIdx="0" clrIdx="383"/>
  <p:cmAuthor id="385" name="未知的使用者246" initials="未" lastIdx="0" clrIdx="384"/>
  <p:cmAuthor id="386" name="未知的使用者252" initials="未" lastIdx="0" clrIdx="385"/>
  <p:cmAuthor id="387" name="未知的使用者253" initials="未" lastIdx="0" clrIdx="386"/>
  <p:cmAuthor id="388" name="未知的使用者254" initials="未" lastIdx="0" clrIdx="387"/>
  <p:cmAuthor id="389" name="未知的使用者255" initials="未" lastIdx="0" clrIdx="388"/>
  <p:cmAuthor id="390" name="未知用户268" initials="未" lastIdx="0" clrIdx="389"/>
  <p:cmAuthor id="391" name="群智集" initials="群" lastIdx="0" clrIdx="390"/>
  <p:cmAuthor id="392" name="未知用户269" initials="未" lastIdx="0" clrIdx="391"/>
  <p:cmAuthor id="393" name="未知的使用者270" initials="未" lastIdx="0" clrIdx="392"/>
  <p:cmAuthor id="394" name="郏 鹏" initials="郏" lastIdx="0" clrIdx="393"/>
  <p:cmAuthor id="395" name="未知用户250" initials="未" lastIdx="0" clrIdx="394"/>
  <p:cmAuthor id="396" name="郏鹏" initials="郏" lastIdx="0" clrIdx="395"/>
  <p:cmAuthor id="397" name="未知用户272" initials="未" lastIdx="0" clrIdx="396"/>
  <p:cmAuthor id="398" name="石晓利" initials="石" lastIdx="0" clrIdx="397"/>
  <p:cmAuthor id="399" name="未知的使用者256" initials="未" lastIdx="0" clrIdx="398"/>
  <p:cmAuthor id="400" name="罗志军" initials="罗" lastIdx="0" clrIdx="399"/>
  <p:cmAuthor id="401" name="夜尽迟渊_UrQfrmQZ" initials="夜" lastIdx="0" clrIdx="400"/>
  <p:cmAuthor id="402" name="lvz" initials="l" lastIdx="0" clrIdx="401"/>
  <p:cmAuthor id="403" name="未知的使用者200" initials="未" lastIdx="0" clrIdx="402"/>
  <p:cmAuthor id="404" name="CMCC" initials="C" lastIdx="0" clrIdx="403"/>
  <p:cmAuthor id="405" name="王丰_aE3uARfm" initials="王" lastIdx="0" clrIdx="404"/>
  <p:cmAuthor id="406" name="Tianchi Yao" initials="TY" lastIdx="0" clrIdx="405"/>
  <p:cmAuthor id="407" name="未知的使用者257" initials="未" lastIdx="0" clrIdx="406"/>
  <p:cmAuthor id="408" name="方少_UbQfrimU" initials="方" lastIdx="0" clrIdx="407"/>
  <p:cmAuthor id="409" name="贾云雁" initials="贾" lastIdx="0" clrIdx="408"/>
  <p:cmAuthor id="410" name="叶盛_Q3A3IfEf" initials="叶" lastIdx="0" clrIdx="409"/>
  <p:cmAuthor id="411" name="Harley._bEJrUJ7r" initials="H" lastIdx="0" clrIdx="410"/>
  <p:cmAuthor id="412" name="罗平_VB7vJb2E" initials="罗" lastIdx="0" clrIdx="411"/>
  <p:cmAuthor id="413" name="未知的使用者240" initials="未" lastIdx="0" clrIdx="412"/>
  <p:cmAuthor id="414" name="xixi_nUjqe22E" initials="x" lastIdx="0" clrIdx="413"/>
  <p:cmAuthor id="415" name="未知的使用者241" initials="未" lastIdx="0" clrIdx="414"/>
  <p:cmAuthor id="416" name="安安_zm6nYnYZ" initials="安" lastIdx="0" clrIdx="415"/>
  <p:cmAuthor id="417" name="未知的使用者242" initials="未" lastIdx="0" clrIdx="416"/>
  <p:cmAuthor id="418" name="未知的使用者243" initials="未" lastIdx="0" clrIdx="417"/>
  <p:cmAuthor id="419" name="未知的使用者258" initials="未" lastIdx="0" clrIdx="418"/>
  <p:cmAuthor id="420" name="周君_MfIffYra" initials="周" lastIdx="0" clrIdx="419"/>
  <p:cmAuthor id="421" name="未知的使用者259" initials="未" lastIdx="0" clrIdx="420"/>
  <p:cmAuthor id="422" name="未知的使用者260" initials="未" lastIdx="0" clrIdx="421"/>
  <p:cmAuthor id="423" name="未知的使用者261" initials="未" lastIdx="0" clrIdx="422"/>
  <p:cmAuthor id="424" name="未知的使用者262" initials="未" lastIdx="0" clrIdx="423"/>
  <p:cmAuthor id="425" name="未知的使用者263" initials="未" lastIdx="0" clrIdx="424"/>
  <p:cmAuthor id="426" name="未知的使用者264" initials="未" lastIdx="0" clrIdx="425"/>
  <p:cmAuthor id="427" name="未知的使用者265" initials="未" lastIdx="0" clrIdx="426"/>
  <p:cmAuthor id="428" name="未知的使用者266" initials="未" lastIdx="0" clrIdx="427"/>
  <p:cmAuthor id="429" name="未知的使用者267" initials="未" lastIdx="0" clrIdx="428"/>
  <p:cmAuthor id="430" name="未知的使用者268" initials="未" lastIdx="0" clrIdx="429"/>
  <p:cmAuthor id="431" name="未知的使用者269" initials="未" lastIdx="0" clrIdx="430"/>
  <p:cmAuthor id="432" name="刘晖" initials="刘" lastIdx="0" clrIdx="431"/>
  <p:cmAuthor id="433" name="lillian" initials="l" lastIdx="0" clrIdx="432"/>
  <p:cmAuthor id="434" name="未知用户197" initials="未" lastIdx="0" clrIdx="433"/>
  <p:cmAuthor id="435" name="admin7" initials="a" lastIdx="0" clrIdx="434"/>
  <p:cmAuthor id="436" name="dd" initials="d" lastIdx="0" clrIdx="435"/>
  <p:cmAuthor id="437" name="未知用户240" initials="未" lastIdx="0" clrIdx="436"/>
  <p:cmAuthor id="438" name="未知的使用者67" initials="未" lastIdx="0" clrIdx="437"/>
  <p:cmAuthor id="439" name="未知的使用者46" initials="未" lastIdx="0" clrIdx="438"/>
  <p:cmAuthor id="440" name="未知用户106" initials="未" lastIdx="0" clrIdx="439"/>
  <p:cmAuthor id="441" name="未知的使用者8" initials="未" lastIdx="0" clrIdx="440"/>
  <p:cmAuthor id="442" name="不明使用者56" initials="不" lastIdx="0" clrIdx="441"/>
  <p:cmAuthor id="443" name="P00035_jeremy" initials="P" lastIdx="0" clrIdx="442"/>
  <p:cmAuthor id="444" name="Unknown User7" initials="U" lastIdx="0" clrIdx="443"/>
  <p:cmAuthor id="445" name="muzi wei" initials="m" lastIdx="0" clrIdx="444"/>
  <p:cmAuthor id="446" name="不明使用者21" initials="不" lastIdx="0" clrIdx="445"/>
  <p:cmAuthor id="447" name="goulei" initials="g" lastIdx="0" clrIdx="446"/>
  <p:cmAuthor id="448" name="未知用户109" initials="未" lastIdx="0" clrIdx="447"/>
  <p:cmAuthor id="449" name="thomas" initials="t" lastIdx="0" clrIdx="448"/>
  <p:cmAuthor id="450" name="未知的使用者3" initials="未" lastIdx="0" clrIdx="449"/>
  <p:cmAuthor id="451" name="Unknown User65" initials="U" lastIdx="0" clrIdx="450"/>
  <p:cmAuthor id="452" name="Unknown User67" initials="U" lastIdx="0" clrIdx="451"/>
  <p:cmAuthor id="453" name="未知用户61" initials="未" lastIdx="0" clrIdx="452"/>
  <p:cmAuthor id="454" name="張秀娟" initials="張" lastIdx="0" clrIdx="453"/>
  <p:cmAuthor id="455" name="Jason Wang" initials="J" lastIdx="0" clrIdx="454"/>
  <p:cmAuthor id="456" name="不明使用者18" initials="不" lastIdx="0" clrIdx="455"/>
  <p:cmAuthor id="457" name="未知的使用者72" initials="未" lastIdx="0" clrIdx="456"/>
  <p:cmAuthor id="458" name="未知的使用者48" initials="未" lastIdx="0" clrIdx="457"/>
  <p:cmAuthor id="459" name="Damon" initials="D" lastIdx="0" clrIdx="458"/>
  <p:cmAuthor id="460" name="未知用户60" initials="未" lastIdx="0" clrIdx="459"/>
  <p:cmAuthor id="461" name="Shawna Strickland" initials="S" lastIdx="0" clrIdx="460"/>
  <p:cmAuthor id="462" name="未知的使用者36" initials="未" lastIdx="0" clrIdx="461"/>
  <p:cmAuthor id="463" name="Daniel Wuu" initials="D" lastIdx="0" clrIdx="462"/>
  <p:cmAuthor id="464" name="未知的使用者14" initials="未" lastIdx="0" clrIdx="463"/>
  <p:cmAuthor id="465" name="Ashley Eberenz" initials="A" lastIdx="0" clrIdx="464"/>
  <p:cmAuthor id="466" name="不明使用者19" initials="不" lastIdx="0" clrIdx="465"/>
  <p:cmAuthor id="467" name="未知的使用者74" initials="未" lastIdx="0" clrIdx="466"/>
  <p:cmAuthor id="468" name="未知的使用者23" initials="未" lastIdx="0" clrIdx="467"/>
  <p:cmAuthor id="469" name="未知的使用者1" initials="未" lastIdx="0" clrIdx="468"/>
  <p:cmAuthor id="470" name="116304" initials="1" lastIdx="0" clrIdx="469"/>
  <p:cmAuthor id="471" name="R affer" initials="R" lastIdx="0" clrIdx="470"/>
  <p:cmAuthor id="472" name="qihua-DCMS" initials="q" lastIdx="0" clrIdx="471"/>
  <p:cmAuthor id="473" name="未知的使用者95" initials="未" lastIdx="0" clrIdx="472"/>
  <p:cmAuthor id="474" name="未知的使用者32" initials="未" lastIdx="0" clrIdx="473"/>
  <p:cmAuthor id="475" name="未知的使用者49" initials="未" lastIdx="0" clrIdx="474"/>
  <p:cmAuthor id="476" name="Unknown User26" initials="U" lastIdx="0" clrIdx="475"/>
  <p:cmAuthor id="477" name="yuexuejun" initials="y" lastIdx="0" clrIdx="476"/>
  <p:cmAuthor id="478" name="未知的使用者71" initials="未" lastIdx="0" clrIdx="477"/>
  <p:cmAuthor id="479" name="未知的使用者105" initials="未" lastIdx="0" clrIdx="478"/>
  <p:cmAuthor id="480" name="Unknown User70" initials="U" lastIdx="0" clrIdx="479"/>
  <p:cmAuthor id="481" name="clinchen" initials="c" lastIdx="0" clrIdx="480"/>
  <p:cmAuthor id="482" name="未知用户23" initials="未" lastIdx="0" clrIdx="481"/>
  <p:cmAuthor id="483" name="hanjuncompany" initials="h" lastIdx="0" clrIdx="482"/>
  <p:cmAuthor id="484" name="kathy chen" initials="k" lastIdx="0" clrIdx="483"/>
  <p:cmAuthor id="485" name="未知的使用者63" initials="未" lastIdx="0" clrIdx="484"/>
  <p:cmAuthor id="486" name="毕邺" initials="党委办公室" lastIdx="0" clrIdx="485"/>
  <p:cmAuthor id="487" name="未知的使用者47" initials="未" lastIdx="0" clrIdx="486"/>
  <p:cmAuthor id="488" name="未知的使用者60" initials="未" lastIdx="0" clrIdx="487"/>
  <p:cmAuthor id="489" name="未知的使用者59" initials="未" lastIdx="0" clrIdx="488"/>
  <p:cmAuthor id="490" name="未知的使用者54" initials="未" lastIdx="0" clrIdx="489"/>
  <p:cmAuthor id="491" name="未知的使用者106" initials="未" lastIdx="0" clrIdx="490"/>
  <p:cmAuthor id="492" name="未知的使用者107" initials="未" lastIdx="0" clrIdx="491"/>
  <p:cmAuthor id="493" name="未知的使用者108" initials="未" lastIdx="0" clrIdx="492"/>
  <p:cmAuthor id="494" name="未知的使用者86" initials="未" lastIdx="0" clrIdx="493"/>
  <p:cmAuthor id="495" name="未知的使用者116" initials="未" lastIdx="0" clrIdx="494"/>
  <p:cmAuthor id="496" name="未知的使用者44" initials="未" lastIdx="0" clrIdx="495"/>
  <p:cmAuthor id="497" name="未知的使用者37" initials="未" lastIdx="0" clrIdx="496"/>
  <p:cmAuthor id="498" name="未知的使用者126" initials="未" lastIdx="0" clrIdx="497"/>
  <p:cmAuthor id="499" name="未知的使用者127" initials="未" lastIdx="0" clrIdx="498"/>
  <p:cmAuthor id="500" name="未知的使用者128" initials="未" lastIdx="0" clrIdx="499"/>
  <p:cmAuthor id="501" name="未知的使用者124" initials="未" lastIdx="0" clrIdx="500"/>
  <p:cmAuthor id="502" name="未知的使用者125" initials="未" lastIdx="0" clrIdx="501"/>
  <p:cmAuthor id="503" name="Sara Chen" initials="S" lastIdx="0" clrIdx="502"/>
  <p:cmAuthor id="504" name="未知用户170" initials="未" lastIdx="0" clrIdx="503"/>
  <p:cmAuthor id="505" name="未知用户171" initials="未" lastIdx="0" clrIdx="504"/>
  <p:cmAuthor id="506" name="未知用户172" initials="未" lastIdx="0" clrIdx="505"/>
  <p:cmAuthor id="507" name="未知用户173" initials="未" lastIdx="0" clrIdx="506"/>
  <p:cmAuthor id="508" name="未知用户149" initials="未" lastIdx="0" clrIdx="507"/>
  <p:cmAuthor id="509" name="未知用户150" initials="未" lastIdx="0" clrIdx="508"/>
  <p:cmAuthor id="510" name="未知用户151" initials="未" lastIdx="0" clrIdx="509"/>
  <p:cmAuthor id="511" name="未知用户152" initials="未" lastIdx="0" clrIdx="510"/>
  <p:cmAuthor id="512" name="未知用户153" initials="未" lastIdx="0" clrIdx="511"/>
  <p:cmAuthor id="513" name="未知用户154" initials="未" lastIdx="0" clrIdx="512"/>
  <p:cmAuthor id="514" name="未知用户155" initials="未" lastIdx="0" clrIdx="513"/>
  <p:cmAuthor id="515" name="未知用户41" initials="未" lastIdx="0" clrIdx="514"/>
  <p:cmAuthor id="516" name="未知用户156" initials="未" lastIdx="0" clrIdx="515"/>
  <p:cmAuthor id="517" name="未知用户64" initials="未" lastIdx="0" clrIdx="516"/>
  <p:cmAuthor id="518" name="未知用户65" initials="未" lastIdx="0" clrIdx="517"/>
  <p:cmAuthor id="519" name="未知用户68" initials="未" lastIdx="0" clrIdx="518"/>
  <p:cmAuthor id="520" name="wangxiaoxuan@ha.cmcc" initials="w" lastIdx="0" clrIdx="519"/>
  <p:cmAuthor id="521" name="罗 罗" initials="罗" lastIdx="0" clrIdx="520"/>
  <p:cmAuthor id="522" name="86157" initials="8" lastIdx="0" clrIdx="521"/>
  <p:cmAuthor id="523" name="未知用户52" initials="未" lastIdx="0" clrIdx="522"/>
  <p:cmAuthor id="524" name="MA15" initials="M" lastIdx="0" clrIdx="523"/>
  <p:cmAuthor id="525" name="未知用户53" initials="未" lastIdx="0" clrIdx="524"/>
  <p:cmAuthor id="526" name="未知用户40" initials="未" lastIdx="0" clrIdx="525"/>
  <p:cmAuthor id="527" name="Mr.Wu" initials="M" lastIdx="0" clrIdx="526"/>
  <p:cmAuthor id="528" name="张静_Anua7Nne" initials="authorId_935319063" lastIdx="0" clrIdx="527"/>
  <p:cmAuthor id="529" name="未知用户26" initials="未" lastIdx="0" clrIdx="528"/>
  <p:cmAuthor id="530" name="tonghailan" initials="t" lastIdx="0" clrIdx="529"/>
  <p:cmAuthor id="531" name="未知用户42" initials="未" lastIdx="0" clrIdx="530"/>
  <p:cmAuthor id="532" name="未知的使用者109" initials="未" lastIdx="0" clrIdx="531"/>
  <p:cmAuthor id="533" name="未知的使用者122" initials="未" lastIdx="0" clrIdx="532"/>
  <p:cmAuthor id="534" name="未知的使用者123" initials="未" lastIdx="0" clrIdx="533"/>
  <p:cmAuthor id="535" name="Harry xu" initials="H" lastIdx="0" clrIdx="534"/>
  <p:cmAuthor id="536" name="未知用户35" initials="未" lastIdx="0" clrIdx="535"/>
  <p:cmAuthor id="537" name="未知用户111" initials="未" lastIdx="0" clrIdx="536"/>
  <p:cmAuthor id="538" name="alpha" initials="a" lastIdx="0" clrIdx="537"/>
  <p:cmAuthor id="539" name="Unknown User22" initials="U" lastIdx="0" clrIdx="538"/>
  <p:cmAuthor id="540" name="Unknown User23" initials="U" lastIdx="0" clrIdx="539"/>
  <p:cmAuthor id="541" name="未知的使用者75" initials="未" lastIdx="0" clrIdx="540"/>
  <p:cmAuthor id="542" name="未知的使用者77" initials="未" lastIdx="0" clrIdx="541"/>
  <p:cmAuthor id="543" name="未知的使用者78" initials="未" lastIdx="0" clrIdx="542"/>
  <p:cmAuthor id="544" name="程云静_Y3Azuy2A" initials="程" lastIdx="0" clrIdx="543"/>
  <p:cmAuthor id="545" name="未知的使用者80" initials="未" lastIdx="0" clrIdx="544"/>
  <p:cmAuthor id="546" name="方绍波|fangshaobo" initials="方" lastIdx="0" clrIdx="545"/>
  <p:cmAuthor id="547" name="未知的使用者82" initials="未" lastIdx="0" clrIdx="546"/>
  <p:cmAuthor id="548" name="15719214165@163.com" initials="1" lastIdx="0" clrIdx="547"/>
  <p:cmAuthor id="549" name="未知的使用者83" initials="未" lastIdx="0" clrIdx="548"/>
  <p:cmAuthor id="550" name="张 曦" initials="张" lastIdx="0" clrIdx="549"/>
  <p:cmAuthor id="551" name="未知的使用者84" initials="未" lastIdx="0" clrIdx="550"/>
  <p:cmAuthor id="552" name="zhangxiaodong@ha.cmcc" initials="z" lastIdx="0" clrIdx="551"/>
  <p:cmAuthor id="553" name="未知的使用者87" initials="未" lastIdx="0" clrIdx="552"/>
  <p:cmAuthor id="554" name="未知的使用者90" initials="未" lastIdx="0" clrIdx="553"/>
  <p:cmAuthor id="555" name="未知的使用者91" initials="未" lastIdx="0" clrIdx="554"/>
  <p:cmAuthor id="556" name="CHRISYU" initials="C" lastIdx="0" clrIdx="555"/>
  <p:cmAuthor id="557" name="胡益铭" initials="胡" lastIdx="0" clrIdx="556"/>
  <p:cmAuthor id="558" name="张璐" initials="张" lastIdx="0" clrIdx="557"/>
  <p:cmAuthor id="559" name="未知的使用者102" initials="未" lastIdx="0" clrIdx="558"/>
  <p:cmAuthor id="560" name="未知的使用者61" initials="未" lastIdx="0" clrIdx="559"/>
  <p:cmAuthor id="561" name="未知用户178" initials="未" lastIdx="0" clrIdx="560"/>
  <p:cmAuthor id="562" name="未知用户186" initials="未" lastIdx="0" clrIdx="561"/>
  <p:cmAuthor id="563" name="未知的使用者182" initials="未" lastIdx="0" clrIdx="562"/>
  <p:cmAuthor id="564" name="未知的使用者161" initials="未" lastIdx="0" clrIdx="563"/>
  <p:cmAuthor id="565" name="未知的使用者151" initials="未" lastIdx="0" clrIdx="564"/>
  <p:cmAuthor id="566" name="未知的使用者162" initials="未" lastIdx="0" clrIdx="565"/>
  <p:cmAuthor id="567" name="未知的使用者152" initials="未" lastIdx="0" clrIdx="566"/>
  <p:cmAuthor id="568" name="未知的使用者176" initials="未" lastIdx="0" clrIdx="567"/>
  <p:cmAuthor id="569" name="未知的使用者178" initials="未" lastIdx="0" clrIdx="568"/>
  <p:cmAuthor id="570" name="未知的使用者179" initials="未" lastIdx="0" clrIdx="569"/>
  <p:cmAuthor id="571" name="未知的使用者180" initials="未" lastIdx="0" clrIdx="570"/>
  <p:cmAuthor id="572" name="未知的使用者181" initials="未" lastIdx="0" clrIdx="571"/>
  <p:cmAuthor id="573" name="未知的使用者170" initials="未" lastIdx="0" clrIdx="572"/>
  <p:cmAuthor id="574" name="未知的使用者141" initials="未" lastIdx="0" clrIdx="573"/>
  <p:cmAuthor id="575" name="未知的使用者142" initials="未" lastIdx="0" clrIdx="574"/>
  <p:cmAuthor id="576" name="未知的使用者143" initials="未" lastIdx="0" clrIdx="575"/>
  <p:cmAuthor id="577" name="未知的使用者144" initials="未" lastIdx="0" clrIdx="576"/>
  <p:cmAuthor id="578" name="未知的使用者145" initials="未" lastIdx="0" clrIdx="577"/>
  <p:cmAuthor id="579" name="未知的使用者146" initials="未" lastIdx="0" clrIdx="578"/>
  <p:cmAuthor id="580" name="未知的使用者147" initials="未" lastIdx="0" clrIdx="579"/>
  <p:cmAuthor id="581" name="未知的使用者148" initials="未" lastIdx="0" clrIdx="580"/>
  <p:cmAuthor id="582" name="未知用户130" initials="未" lastIdx="0" clrIdx="581"/>
  <p:cmAuthor id="583" name="未知用户131" initials="未" lastIdx="0" clrIdx="582"/>
  <p:cmAuthor id="584" name="未知用户132" initials="未" lastIdx="0" clrIdx="583"/>
  <p:cmAuthor id="585" name="俊呈 賴" initials="俊" lastIdx="0" clrIdx="584"/>
  <p:cmAuthor id="586" name="Yoyo Wu" initials="Y" lastIdx="0" clrIdx="585"/>
  <p:cmAuthor id="587" name="超" initials="超" lastIdx="0" clrIdx="586"/>
  <p:cmAuthor id="588" name="zhangbin" initials="z" lastIdx="0" clrIdx="587"/>
  <p:cmAuthor id="589" name="haha" initials="h" lastIdx="0" clrIdx="588"/>
  <p:cmAuthor id="590" name="Arno.Du(杜明星)" initials="A" lastIdx="0" clrIdx="589"/>
  <p:cmAuthor id="591" name="未知用户174" initials="未" lastIdx="0" clrIdx="590"/>
  <p:cmAuthor id="592" name="Unknown User27" initials="U" lastIdx="0" clrIdx="591"/>
  <p:cmAuthor id="593" name="未知的使用者221" initials="未" lastIdx="0" clrIdx="592"/>
  <p:cmAuthor id="594" name="未知的使用者222" initials="未" lastIdx="0" clrIdx="593"/>
  <p:cmAuthor id="595" name="未知的使用者223" initials="未" lastIdx="0" clrIdx="594"/>
  <p:cmAuthor id="596" name="未知的使用者224" initials="未" lastIdx="0" clrIdx="595"/>
  <p:cmAuthor id="597" name="未知的使用者225" initials="未" lastIdx="0" clrIdx="596"/>
  <p:cmAuthor id="598" name="未知的使用者226" initials="未" lastIdx="0" clrIdx="597"/>
  <p:cmAuthor id="599" name="未知的使用者227" initials="未" lastIdx="0" clrIdx="598"/>
  <p:cmAuthor id="600" name="未知的使用者217" initials="未" lastIdx="0" clrIdx="599"/>
  <p:cmAuthor id="601" name="未知的使用者218" initials="未" lastIdx="0" clrIdx="600"/>
  <p:cmAuthor id="602" name="未知的使用者219" initials="未" lastIdx="0" clrIdx="601"/>
  <p:cmAuthor id="603" name="未知的使用者220" initials="未" lastIdx="0" clrIdx="602"/>
  <p:cmAuthor id="604" name="未知的使用者228" initials="未" lastIdx="0" clrIdx="603"/>
  <p:cmAuthor id="605" name="未知的使用者229" initials="未" lastIdx="0" clrIdx="604"/>
  <p:cmAuthor id="606" name="未知的使用者230" initials="未" lastIdx="0" clrIdx="605"/>
  <p:cmAuthor id="607" name="未知的使用者231" initials="未" lastIdx="0" clrIdx="606"/>
  <p:cmAuthor id="608" name="未知的使用者232" initials="未" lastIdx="0" clrIdx="607"/>
  <p:cmAuthor id="609" name="未知的使用者233" initials="未" lastIdx="0" clrIdx="608"/>
  <p:cmAuthor id="610" name="未知的使用者234" initials="未" lastIdx="0" clrIdx="609"/>
  <p:cmAuthor id="611" name="未知的使用者130" initials="未" lastIdx="0" clrIdx="610"/>
  <p:cmAuthor id="612" name="未知的使用者131" initials="未" lastIdx="0" clrIdx="611"/>
  <p:cmAuthor id="613" name="未知的使用者132" initials="未" lastIdx="0" clrIdx="612"/>
  <p:cmAuthor id="614" name="未知的使用者235" initials="未" lastIdx="0" clrIdx="613"/>
  <p:cmAuthor id="615" name="未知的使用者236" initials="未" lastIdx="0" clrIdx="614"/>
  <p:cmAuthor id="616" name="未知的使用者237" initials="未" lastIdx="0" clrIdx="615"/>
  <p:cmAuthor id="617" name="未知的使用者238" initials="未" lastIdx="0" clrIdx="616"/>
  <p:cmAuthor id="618" name="未知的使用者239" initials="未" lastIdx="0" clrIdx="617"/>
  <p:cmAuthor id="619" name="未知的使用者136" initials="未" lastIdx="0" clrIdx="618"/>
  <p:cmAuthor id="620" name="未知的使用者134" initials="未" lastIdx="0" clrIdx="619"/>
  <p:cmAuthor id="621" name="未知的使用者206" initials="未" lastIdx="0" clrIdx="620"/>
  <p:cmAuthor id="622" name="Kent" initials="K" lastIdx="0" clrIdx="621"/>
  <p:cmAuthor id="623" name="梅芬 吳" initials="梅" lastIdx="0" clrIdx="622"/>
  <p:cmAuthor id="624" name="王嘉偉" initials="王" lastIdx="0" clrIdx="623"/>
  <p:cmAuthor id="625" name="未知的使用者210" initials="未" lastIdx="0" clrIdx="624"/>
  <p:cmAuthor id="626" name="未知的使用者211" initials="未" lastIdx="0" clrIdx="625"/>
  <p:cmAuthor id="627" name="未知的使用者212" initials="未" lastIdx="0" clrIdx="626"/>
  <p:cmAuthor id="628" name="未知的使用者213" initials="未" lastIdx="0" clrIdx="627"/>
  <p:cmAuthor id="629" name="未知的使用者214" initials="未" lastIdx="0" clrIdx="628"/>
  <p:cmAuthor id="630" name="未知的使用者215" initials="未" lastIdx="0" clrIdx="629"/>
  <p:cmAuthor id="631" name="未知的使用者216" initials="未" lastIdx="0" clrIdx="630"/>
  <p:cmAuthor id="632" name="王丽君" initials="王" lastIdx="0" clrIdx="631"/>
  <p:cmAuthor id="633" name="Xia Ting" initials="X" lastIdx="0" clrIdx="632"/>
  <p:cmAuthor id="634" name="未知用户163" initials="未" lastIdx="0" clrIdx="633"/>
  <p:cmAuthor id="635" name="未知用户164" initials="未" lastIdx="0" clrIdx="634"/>
  <p:cmAuthor id="636" name="未知用户191" initials="未" lastIdx="0" clrIdx="635"/>
  <p:cmAuthor id="637" name="未知用户167" initials="未" lastIdx="0" clrIdx="636"/>
  <p:cmAuthor id="638" name="未知的使用者163" initials="未" lastIdx="0" clrIdx="637"/>
  <p:cmAuthor id="639" name="未知的使用者88" initials="未" lastIdx="0" clrIdx="638"/>
  <p:cmAuthor id="640" name="jerrychou" initials="j" lastIdx="0" clrIdx="639"/>
  <p:cmAuthor id="641" name="不明使用者12" initials="不" lastIdx="0" clrIdx="640"/>
  <p:cmAuthor id="642" name="不明使用者1" initials="不" lastIdx="0" clrIdx="641"/>
  <p:cmAuthor id="643" name="未知的使用者160" initials="未" lastIdx="0" clrIdx="642"/>
  <p:cmAuthor id="644" name="不明使用者7" initials="不" lastIdx="0" clrIdx="643"/>
  <p:cmAuthor id="645" name="未知用户120" initials="未" lastIdx="0" clrIdx="644"/>
  <p:cmAuthor id="646" name="未知用户122" initials="未" lastIdx="0" clrIdx="645"/>
  <p:cmAuthor id="647" name="不明使用者11" initials="不" lastIdx="0" clrIdx="646"/>
  <p:cmAuthor id="648" name="Unknown User24" initials="U" lastIdx="0" clrIdx="647"/>
  <p:cmAuthor id="649" name="未知用户145" initials="未" lastIdx="0" clrIdx="648"/>
  <p:cmAuthor id="650" name="未知用户119" initials="未" lastIdx="0" clrIdx="649"/>
  <p:cmAuthor id="651" name="丁生" initials="丁" lastIdx="0" clrIdx="650"/>
  <p:cmAuthor id="652" name="谢海英" initials="谢海英" lastIdx="0" clrIdx="651"/>
  <p:cmAuthor id="653" name="燕儿" initials="燕" lastIdx="0" clrIdx="652"/>
  <p:cmAuthor id="654" name="梁明珠" initials="梁明珠" lastIdx="0" clrIdx="653"/>
  <p:cmAuthor id="655" name="武智璇" initials="武" lastIdx="0" clrIdx="654"/>
  <p:cmAuthor id="656" name="liang ma" initials="l" lastIdx="0" clrIdx="655"/>
  <p:cmAuthor id="657" name="jinyaoguo" initials="j" lastIdx="0" clrIdx="656"/>
  <p:cmAuthor id="658" name="郭 里芬" initials="郭" lastIdx="0" clrIdx="657"/>
  <p:cmAuthor id="659" name="qsl" initials="q" lastIdx="0" clrIdx="658"/>
  <p:cmAuthor id="660" name="chw" initials="c" lastIdx="0" clrIdx="659"/>
  <p:cmAuthor id="661" name="张亚磊" initials="张" lastIdx="0" clrIdx="660"/>
  <p:cmAuthor id="662" name="刘小猛" initials="刘" lastIdx="0" clrIdx="661"/>
  <p:cmAuthor id="663" name="李博轩" initials="李" lastIdx="0" clrIdx="662"/>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126E9F6-41A6-44B7-8387-491034A24550}" styleName="表样式 1 25">
    <a:wholeTbl>
      <a:tcTxStyle>
        <a:fontRef idx="none">
          <a:srgbClr val="000000"/>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FFFFFF"/>
          </a:solidFill>
        </a:fill>
      </a:tcStyle>
    </a:wholeTbl>
    <a:band2H>
      <a:tcStyle>
        <a:tcBdr/>
        <a:fill>
          <a:solidFill>
            <a:srgbClr val="4A62C7">
              <a:lumMod val="10000"/>
              <a:lumOff val="90000"/>
            </a:srgbClr>
          </a:solidFill>
        </a:fill>
      </a:tcStyle>
    </a:band2H>
    <a:band1V>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4A62C7">
              <a:lumMod val="10000"/>
              <a:lumOff val="90000"/>
            </a:srgbClr>
          </a:solidFill>
        </a:fill>
      </a:tcStyle>
    </a:band1V>
    <a:band2V>
      <a:tcStyle>
        <a:tcBdr>
          <a:left>
            <a:ln w="9525" cmpd="sng">
              <a:solidFill>
                <a:srgbClr val="4A62C7">
                  <a:lumMod val="40000"/>
                  <a:lumOff val="60000"/>
                </a:srgbClr>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tcStyle>
    </a:band2V>
    <a:lastCol>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solidFill>
        </a:fill>
      </a:tcStyle>
    </a:lastCol>
    <a:firstCol>
      <a:tcTxStyle b="on">
        <a:fontRef idx="none">
          <a:schemeClr val="tx1"/>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lumMod val="20000"/>
              <a:lumOff val="80000"/>
            </a:srgbClr>
          </a:solidFill>
        </a:fill>
      </a:tcStyle>
    </a:firstCol>
    <a:lastRow>
      <a:tcTxStyle b="on">
        <a:fontRef idx="none">
          <a:srgbClr val="4A62C7"/>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tcStyle>
    </a:lastRow>
    <a:s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eCell>
    <a:swCell>
      <a:tcTxStyle b="on">
        <a:fontRef idx="none">
          <a:srgbClr val="4A62C7"/>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wCell>
    <a:firstRow>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fill>
          <a:solidFill>
            <a:srgbClr val="4A62C7"/>
          </a:solidFill>
        </a:fill>
      </a:tcStyle>
    </a:firstRow>
    <a:n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lumMod val="40000"/>
                  <a:lumOff val="60000"/>
                </a:srgbClr>
              </a:solidFill>
              <a:prstDash val="solid"/>
            </a:ln>
          </a:bottom>
          <a:insideH>
            <a:ln>
              <a:noFill/>
            </a:ln>
          </a:insideH>
          <a:insideV>
            <a:ln>
              <a:noFill/>
            </a:ln>
          </a:insideV>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 Type="http://schemas.openxmlformats.org/officeDocument/2006/relationships/slideMaster" Target="slideMasters/slideMaster3.xml"/><Relationship Id="rId32" Type="http://schemas.openxmlformats.org/officeDocument/2006/relationships/tags" Target="tags/tag230.xml"/><Relationship Id="rId31" Type="http://schemas.openxmlformats.org/officeDocument/2006/relationships/commentAuthors" Target="commentAuthors.xml"/><Relationship Id="rId30" Type="http://schemas.openxmlformats.org/officeDocument/2006/relationships/tableStyles" Target="tableStyles.xml"/><Relationship Id="rId3" Type="http://schemas.openxmlformats.org/officeDocument/2006/relationships/slideMaster" Target="slideMasters/slideMaster2.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4" Type="http://schemas.microsoft.com/office/2011/relationships/chartColorStyle" Target="colors1.xml"/><Relationship Id="rId3" Type="http://schemas.microsoft.com/office/2011/relationships/chartStyle" Target="style1.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2.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3" Type="http://schemas.microsoft.com/office/2011/relationships/chartColorStyle" Target="colors4.xml"/><Relationship Id="rId2" Type="http://schemas.microsoft.com/office/2011/relationships/chartStyle" Target="styl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8.xml.rels><?xml version="1.0" encoding="UTF-8" standalone="yes"?>
<Relationships xmlns="http://schemas.openxmlformats.org/package/2006/relationships"><Relationship Id="rId4" Type="http://schemas.microsoft.com/office/2011/relationships/chartColorStyle" Target="colors8.xml"/><Relationship Id="rId3" Type="http://schemas.microsoft.com/office/2011/relationships/chartStyle" Target="style8.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zenghl/Library/Containers/com.tencent.WeWorkMac/Data/WeDrive/&#28145;&#20449;&#26381;&#31185;&#25216;&#32929;&#20221;&#26377;&#38480;&#20844;&#21496;/CSM%20&#35013;&#22791;&#24211;/buyer%20&#20215;&#20540;&#29702;&#35299;&#19982;&#21576;&#29616;/&#20215;&#20540;%26&#26041;&#26696;&#27719;&#25253;/AI&#25253;&#21578;&#25903;&#25745;&#25968;&#25454;&#27169;&#26495;&#65288;%20&#20445;&#23384;&#26412;&#22320;&#20462;&#25913;&#25991;&#20214;&#21517;&#31216;&#21518;&#20877;&#32534;&#36753;&#65292;&#19981;&#35201;&#22312;&#24494;&#30424;&#30452;&#25509;&#32534;&#36753;&#65289;.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cef48926-0801-4678-bbba-55d6b9c9ec19}"/>
      </c:ext>
    </c:extLst>
  </c:chart>
  <c:spPr>
    <a:noFill/>
    <a:ln w="9525" cap="flat" cmpd="sng" algn="ctr">
      <a:noFill/>
      <a:prstDash val="solid"/>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7964f97f-5aff-427a-b710-d3e8487abdf3}"/>
      </c:ext>
    </c:extLst>
  </c:chart>
  <c:spPr>
    <a:noFill/>
    <a:ln w="9525" cap="flat" cmpd="sng" algn="ctr">
      <a:noFill/>
      <a:prstDash val="solid"/>
      <a:round/>
    </a:ln>
    <a:effectLst/>
  </c:spPr>
  <c:txPr>
    <a:bodyPr/>
    <a:lstStyle/>
    <a:p>
      <a:pPr>
        <a:defRPr lang="zh-CN" b="0">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9b4eb4ca-8447-4d31-b2b3-4ab8ba42068e}"/>
      </c:ext>
    </c:extLst>
  </c:chart>
  <c:spPr>
    <a:solidFill>
      <a:srgbClr val="4472C4">
        <a:lumMod val="20000"/>
        <a:lumOff val="80000"/>
      </a:srgbClr>
    </a:solidFill>
    <a:ln w="6350" cap="flat" cmpd="sng" algn="ctr">
      <a:noFill/>
      <a:round/>
    </a:ln>
    <a:effectLst/>
  </c:spPr>
  <c:txPr>
    <a:bodyPr/>
    <a:lstStyle/>
    <a:p>
      <a:pPr>
        <a:defRPr lang="zh-CN" sz="80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'[AI报告支撑数据模板（ 保存本地修改文件名称后再编辑，不要在微盘直接编辑）.xlsx]数据统计'!$B$78</c:f>
              <c:strCache>
                <c:ptCount val="1"/>
                <c:pt idx="0">
                  <c:v>剩余漏洞数量</c:v>
                </c:pt>
              </c:strCache>
            </c:strRef>
          </c:tx>
          <c:spPr>
            <a:ln w="28575" cap="rnd">
              <a:solidFill>
                <a:schemeClr val="accent1"/>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保存本地修改文件名称后再编辑，不要在微盘直接编辑）.xlsx]数据统计'!$C$78:$N$78</c:f>
              <c:numCache>
                <c:formatCode>General</c:formatCode>
                <c:ptCount val="12"/>
                <c:pt idx="0">
                  <c:v>0</c:v>
                </c:pt>
                <c:pt idx="1">
                  <c:v>0</c:v>
                </c:pt>
                <c:pt idx="2">
                  <c:v>0</c:v>
                </c:pt>
                <c:pt idx="3">
                  <c:v>0</c:v>
                </c:pt>
                <c:pt idx="4">
                  <c:v>8</c:v>
                </c:pt>
                <c:pt idx="5">
                  <c:v>0</c:v>
                </c:pt>
                <c:pt idx="6">
                  <c:v>0</c:v>
                </c:pt>
                <c:pt idx="7">
                  <c:v>0</c:v>
                </c:pt>
                <c:pt idx="8">
                  <c:v>0</c:v>
                </c:pt>
                <c:pt idx="9">
                  <c:v>0</c:v>
                </c:pt>
                <c:pt idx="10">
                  <c:v>0</c:v>
                </c:pt>
                <c:pt idx="11">
                  <c:v>0</c:v>
                </c:pt>
              </c:numCache>
            </c:numRef>
          </c:val>
          <c:smooth val="0"/>
        </c:ser>
        <c:ser>
          <c:idx val="1"/>
          <c:order val="1"/>
          <c:tx>
            <c:strRef>
              <c:f>'[AI报告支撑数据模板（ 保存本地修改文件名称后再编辑，不要在微盘直接编辑）.xlsx]数据统计'!$B$79</c:f>
              <c:strCache>
                <c:ptCount val="1"/>
                <c:pt idx="0">
                  <c:v>已闭环漏洞数</c:v>
                </c:pt>
              </c:strCache>
            </c:strRef>
          </c:tx>
          <c:spPr>
            <a:ln w="28575" cap="rnd">
              <a:solidFill>
                <a:schemeClr val="accent2"/>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保存本地修改文件名称后再编辑，不要在微盘直接编辑）.xlsx]数据统计'!$C$79:$N$79</c:f>
              <c:numCache>
                <c:formatCode>General</c:formatCode>
                <c:ptCount val="12"/>
                <c:pt idx="0">
                  <c:v>0</c:v>
                </c:pt>
                <c:pt idx="1">
                  <c:v>0</c:v>
                </c:pt>
                <c:pt idx="2">
                  <c:v>0</c:v>
                </c:pt>
                <c:pt idx="3">
                  <c:v>0</c:v>
                </c:pt>
                <c:pt idx="4">
                  <c:v>0</c:v>
                </c:pt>
                <c:pt idx="5">
                  <c:v>0</c:v>
                </c:pt>
                <c:pt idx="6">
                  <c:v>0</c:v>
                </c:pt>
                <c:pt idx="7">
                  <c:v>0</c:v>
                </c:pt>
                <c:pt idx="8">
                  <c:v>0</c:v>
                </c:pt>
                <c:pt idx="9">
                  <c:v>0</c:v>
                </c:pt>
                <c:pt idx="10">
                  <c:v>0</c:v>
                </c:pt>
                <c:pt idx="11">
                  <c:v>0</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617127009"/>
        <c:crosses val="autoZero"/>
        <c:auto val="1"/>
        <c:lblAlgn val="ctr"/>
        <c:lblOffset val="100"/>
        <c:baseTimeUnit val="days"/>
      </c:dateAx>
      <c:valAx>
        <c:axId val="61712700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102df013-bc02-4b13-9b33-920f674e959c}"/>
      </c:ext>
    </c:extLst>
  </c:chart>
  <c:spPr>
    <a:solidFill>
      <a:schemeClr val="accent6">
        <a:lumMod val="20000"/>
        <a:lumOff val="80000"/>
      </a:schemeClr>
    </a:solidFill>
    <a:ln w="9525" cap="flat" cmpd="sng" algn="ctr">
      <a:noFill/>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9.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到底工作成果的变化是重点从哪个内容带来的，要明确出来；苦劳也要有，深信服比其他人为什么能做得更好？印象深刻的点，另甲方印象深刻的具体事件，可以</a:t>
            </a:r>
            <a:r>
              <a:rPr lang="zh-CN" altLang="en-US"/>
              <a:t>补充</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tags" Target="../tags/tag8.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4" Type="http://schemas.openxmlformats.org/officeDocument/2006/relationships/tags" Target="../tags/tag29.xml"/><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9" Type="http://schemas.openxmlformats.org/officeDocument/2006/relationships/tags" Target="../tags/tag41.xml"/><Relationship Id="rId8" Type="http://schemas.openxmlformats.org/officeDocument/2006/relationships/tags" Target="../tags/tag40.xml"/><Relationship Id="rId7" Type="http://schemas.openxmlformats.org/officeDocument/2006/relationships/tags" Target="../tags/tag39.xml"/><Relationship Id="rId6" Type="http://schemas.openxmlformats.org/officeDocument/2006/relationships/tags" Target="../tags/tag38.xml"/><Relationship Id="rId5" Type="http://schemas.openxmlformats.org/officeDocument/2006/relationships/tags" Target="../tags/tag37.xml"/><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3" Type="http://schemas.openxmlformats.org/officeDocument/2006/relationships/tags" Target="../tags/tag45.xml"/><Relationship Id="rId12" Type="http://schemas.openxmlformats.org/officeDocument/2006/relationships/tags" Target="../tags/tag44.xml"/><Relationship Id="rId11" Type="http://schemas.openxmlformats.org/officeDocument/2006/relationships/tags" Target="../tags/tag43.xml"/><Relationship Id="rId10" Type="http://schemas.openxmlformats.org/officeDocument/2006/relationships/tags" Target="../tags/tag42.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97230" y="360000"/>
            <a:ext cx="10800000" cy="720000"/>
          </a:xfrm>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695960" y="6356350"/>
            <a:ext cx="2743200" cy="365125"/>
          </a:xfrm>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753983" y="6356350"/>
            <a:ext cx="2743200" cy="365125"/>
          </a:xfrm>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97230" y="360000"/>
            <a:ext cx="10800000" cy="720000"/>
          </a:xfrm>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695960" y="6356350"/>
            <a:ext cx="2743200" cy="365125"/>
          </a:xfrm>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753983" y="6356350"/>
            <a:ext cx="2743200" cy="365125"/>
          </a:xfrm>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229304" y="1656000"/>
            <a:ext cx="4866696" cy="1800000"/>
          </a:xfrm>
        </p:spPr>
        <p:txBody>
          <a:bodyPr wrap="square" anchor="b">
            <a:normAutofit/>
          </a:bodyPr>
          <a:lstStyle>
            <a:lvl1pPr algn="l">
              <a:lnSpc>
                <a:spcPct val="100000"/>
              </a:lnSpc>
              <a:defRPr sz="6000"/>
            </a:lvl1pPr>
          </a:lstStyle>
          <a:p>
            <a:r>
              <a:rPr lang="zh-CN" altLang="en-US" dirty="0"/>
              <a:t>编辑标题</a:t>
            </a:r>
            <a:endParaRPr lang="zh-CN" altLang="en-US" dirty="0"/>
          </a:p>
        </p:txBody>
      </p:sp>
      <p:sp>
        <p:nvSpPr>
          <p:cNvPr id="3" name="副标题 2"/>
          <p:cNvSpPr>
            <a:spLocks noGrp="1"/>
          </p:cNvSpPr>
          <p:nvPr>
            <p:ph type="subTitle" idx="1" hasCustomPrompt="1"/>
            <p:custDataLst>
              <p:tags r:id="rId3"/>
            </p:custDataLst>
          </p:nvPr>
        </p:nvSpPr>
        <p:spPr>
          <a:xfrm>
            <a:off x="1229302" y="3600000"/>
            <a:ext cx="4866697" cy="972000"/>
          </a:xfrm>
        </p:spPr>
        <p:txBody>
          <a:bodyPr wrap="square">
            <a:normAutofit/>
          </a:bodyPr>
          <a:lstStyle>
            <a:lvl1pPr marL="0" indent="0" algn="l">
              <a:lnSpc>
                <a:spcPct val="100000"/>
              </a:lnSpc>
              <a:buNone/>
              <a:defRPr sz="4600" b="1">
                <a:solidFill>
                  <a:schemeClr val="tx1">
                    <a:alpha val="7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编辑副标题</a:t>
            </a:r>
            <a:endParaRPr lang="zh-CN" altLang="en-US" dirty="0"/>
          </a:p>
        </p:txBody>
      </p:sp>
      <p:sp>
        <p:nvSpPr>
          <p:cNvPr id="4" name="日期占位符 3"/>
          <p:cNvSpPr>
            <a:spLocks noGrp="1"/>
          </p:cNvSpPr>
          <p:nvPr>
            <p:ph type="dt" sz="half" idx="10"/>
            <p:custDataLst>
              <p:tags r:id="rId4"/>
            </p:custDataLst>
          </p:nvPr>
        </p:nvSpPr>
        <p:spPr>
          <a:xfrm>
            <a:off x="695960" y="6356350"/>
            <a:ext cx="2743200" cy="365125"/>
          </a:xfrm>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038600" y="6356350"/>
            <a:ext cx="4114800" cy="365125"/>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0" name="公司名占位符 6"/>
          <p:cNvSpPr>
            <a:spLocks noGrp="1"/>
          </p:cNvSpPr>
          <p:nvPr>
            <p:ph type="body" sz="quarter" idx="13" hasCustomPrompt="1"/>
            <p:custDataLst>
              <p:tags r:id="rId7"/>
            </p:custDataLst>
          </p:nvPr>
        </p:nvSpPr>
        <p:spPr>
          <a:xfrm>
            <a:off x="1229360" y="504190"/>
            <a:ext cx="4868545" cy="504190"/>
          </a:xfrm>
        </p:spPr>
        <p:txBody>
          <a:bodyPr wrap="square" anchor="ctr">
            <a:normAutofit/>
          </a:bodyPr>
          <a:lstStyle>
            <a:lvl1pPr marL="0" indent="0">
              <a:lnSpc>
                <a:spcPct val="100000"/>
              </a:lnSpc>
              <a:buNone/>
              <a:defRPr sz="1600"/>
            </a:lvl1pPr>
          </a:lstStyle>
          <a:p>
            <a:pPr lvl="0"/>
            <a:r>
              <a:rPr lang="zh-CN" altLang="en-US" dirty="0"/>
              <a:t>公司</a:t>
            </a:r>
            <a:endParaRPr lang="zh-CN" altLang="en-US" dirty="0"/>
          </a:p>
        </p:txBody>
      </p:sp>
      <p:sp>
        <p:nvSpPr>
          <p:cNvPr id="24" name="署名占位符 10"/>
          <p:cNvSpPr>
            <a:spLocks noGrp="1"/>
          </p:cNvSpPr>
          <p:nvPr>
            <p:ph type="body" sz="quarter" idx="17" hasCustomPrompt="1"/>
            <p:custDataLst>
              <p:tags r:id="rId8"/>
            </p:custDataLst>
          </p:nvPr>
        </p:nvSpPr>
        <p:spPr>
          <a:xfrm>
            <a:off x="1229360" y="4902835"/>
            <a:ext cx="2880000" cy="576000"/>
          </a:xfrm>
          <a:prstGeom prst="roundRect">
            <a:avLst>
              <a:gd name="adj" fmla="val 50000"/>
            </a:avLst>
          </a:prstGeom>
          <a:gradFill>
            <a:gsLst>
              <a:gs pos="0">
                <a:schemeClr val="accent1">
                  <a:lumMod val="60000"/>
                  <a:lumOff val="40000"/>
                </a:schemeClr>
              </a:gs>
              <a:gs pos="100000">
                <a:schemeClr val="accent1"/>
              </a:gs>
            </a:gsLst>
            <a:lin ang="2700000" scaled="0"/>
          </a:gradFill>
        </p:spPr>
        <p:txBody>
          <a:bodyPr vert="horz" wrap="square" lIns="0" tIns="0" rIns="0" bIns="0" rtlCol="0" anchor="ctr">
            <a:normAutofit/>
          </a:bodyPr>
          <a:lstStyle>
            <a:lvl1pPr marL="0" marR="0" lvl="0" indent="0" algn="ctr" defTabSz="914400" rtl="0" eaLnBrk="1" fontAlgn="auto" latinLnBrk="0" hangingPunct="1">
              <a:lnSpc>
                <a:spcPct val="100000"/>
              </a:lnSpc>
              <a:spcBef>
                <a:spcPts val="1000"/>
              </a:spcBef>
              <a:buClrTx/>
              <a:buSzTx/>
              <a:buFont typeface="Arial" panose="020B0604020202020204" pitchFamily="34" charset="0"/>
              <a:buNone/>
              <a:defRPr kumimoji="0" lang="zh-CN" altLang="en-US" sz="2200" b="1" i="0" u="none" strike="noStrike" kern="1200" cap="none" spc="0" normalizeH="0" baseline="0" noProof="1" dirty="0">
                <a:solidFill>
                  <a:srgbClr val="FFFFFF"/>
                </a:solidFill>
                <a:latin typeface="+mn-lt"/>
                <a:ea typeface="+mn-ea"/>
                <a:cs typeface="+mn-cs"/>
              </a:defRPr>
            </a:lvl1pPr>
          </a:lstStyle>
          <a:p>
            <a:pPr lvl="0"/>
            <a:r>
              <a:rPr>
                <a:sym typeface="+mn-ea"/>
              </a:rPr>
              <a:t>署名</a:t>
            </a:r>
            <a:endParaRPr>
              <a:sym typeface="+mn-ea"/>
            </a:endParaRPr>
          </a:p>
        </p:txBody>
      </p:sp>
      <p:sp>
        <p:nvSpPr>
          <p:cNvPr id="12" name="弧形 11"/>
          <p:cNvSpPr>
            <a:spLocks noChangeAspect="1"/>
          </p:cNvSpPr>
          <p:nvPr userDrawn="1">
            <p:custDataLst>
              <p:tags r:id="rId9"/>
            </p:custDataLst>
          </p:nvPr>
        </p:nvSpPr>
        <p:spPr>
          <a:xfrm rot="16200000">
            <a:off x="6948696" y="1197000"/>
            <a:ext cx="4464000" cy="4464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0"/>
            </p:custDataLst>
          </p:nvPr>
        </p:nvSpPr>
        <p:spPr>
          <a:xfrm rot="16200000">
            <a:off x="9901127" y="544774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5" name="椭圆 14"/>
          <p:cNvSpPr>
            <a:spLocks noChangeAspect="1"/>
          </p:cNvSpPr>
          <p:nvPr userDrawn="1">
            <p:custDataLst>
              <p:tags r:id="rId11"/>
            </p:custDataLst>
          </p:nvPr>
        </p:nvSpPr>
        <p:spPr>
          <a:xfrm rot="16200000">
            <a:off x="7398696" y="1647000"/>
            <a:ext cx="3564000" cy="3564000"/>
          </a:xfrm>
          <a:prstGeom prst="ellipse">
            <a:avLst/>
          </a:prstGeom>
          <a:noFill/>
          <a:ln w="19050">
            <a:solidFill>
              <a:schemeClr val="accent1">
                <a:lumMod val="40000"/>
                <a:lumOff val="60000"/>
                <a:alpha val="7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弧形 15"/>
          <p:cNvSpPr>
            <a:spLocks noChangeAspect="1"/>
          </p:cNvSpPr>
          <p:nvPr userDrawn="1">
            <p:custDataLst>
              <p:tags r:id="rId12"/>
            </p:custDataLst>
          </p:nvPr>
        </p:nvSpPr>
        <p:spPr>
          <a:xfrm rot="16200000">
            <a:off x="6588696" y="837000"/>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7" name="椭圆 16"/>
          <p:cNvSpPr>
            <a:spLocks noChangeAspect="1"/>
          </p:cNvSpPr>
          <p:nvPr userDrawn="1">
            <p:custDataLst>
              <p:tags r:id="rId13"/>
            </p:custDataLst>
          </p:nvPr>
        </p:nvSpPr>
        <p:spPr>
          <a:xfrm rot="16200000">
            <a:off x="7261348" y="1544325"/>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theme" Target="../theme/theme1.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4.xml"/><Relationship Id="rId8" Type="http://schemas.openxmlformats.org/officeDocument/2006/relationships/tags" Target="../tags/tag23.xml"/><Relationship Id="rId7" Type="http://schemas.openxmlformats.org/officeDocument/2006/relationships/tags" Target="../tags/tag22.xml"/><Relationship Id="rId6" Type="http://schemas.openxmlformats.org/officeDocument/2006/relationships/tags" Target="../tags/tag21.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2" Type="http://schemas.openxmlformats.org/officeDocument/2006/relationships/theme" Target="../theme/theme2.xml"/><Relationship Id="rId11" Type="http://schemas.openxmlformats.org/officeDocument/2006/relationships/tags" Target="../tags/tag26.xml"/><Relationship Id="rId10" Type="http://schemas.openxmlformats.org/officeDocument/2006/relationships/tags" Target="../tags/tag25.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22.xml"/><Relationship Id="rId8" Type="http://schemas.openxmlformats.org/officeDocument/2006/relationships/slideLayout" Target="../slideLayouts/slideLayout21.xml"/><Relationship Id="rId7" Type="http://schemas.openxmlformats.org/officeDocument/2006/relationships/slideLayout" Target="../slideLayouts/slideLayout20.xml"/><Relationship Id="rId6" Type="http://schemas.openxmlformats.org/officeDocument/2006/relationships/slideLayout" Target="../slideLayouts/slideLayout19.xml"/><Relationship Id="rId5" Type="http://schemas.openxmlformats.org/officeDocument/2006/relationships/slideLayout" Target="../slideLayouts/slideLayout18.xml"/><Relationship Id="rId4" Type="http://schemas.openxmlformats.org/officeDocument/2006/relationships/slideLayout" Target="../slideLayouts/slideLayout17.xml"/><Relationship Id="rId3" Type="http://schemas.openxmlformats.org/officeDocument/2006/relationships/slideLayout" Target="../slideLayouts/slideLayout16.xml"/><Relationship Id="rId2" Type="http://schemas.openxmlformats.org/officeDocument/2006/relationships/slideLayout" Target="../slideLayouts/slideLayout15.xml"/><Relationship Id="rId10" Type="http://schemas.openxmlformats.org/officeDocument/2006/relationships/theme" Target="../theme/theme3.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6"/>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7"/>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8"/>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9"/>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0"/>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11"/>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 Type="http://schemas.openxmlformats.org/officeDocument/2006/relationships/tags" Target="../tags/tag49.xml"/><Relationship Id="rId4" Type="http://schemas.openxmlformats.org/officeDocument/2006/relationships/tags" Target="../tags/tag48.xml"/><Relationship Id="rId3" Type="http://schemas.openxmlformats.org/officeDocument/2006/relationships/image" Target="../media/image7.png"/><Relationship Id="rId22" Type="http://schemas.openxmlformats.org/officeDocument/2006/relationships/notesSlide" Target="../notesSlides/notesSlide2.xml"/><Relationship Id="rId21" Type="http://schemas.openxmlformats.org/officeDocument/2006/relationships/slideLayout" Target="../slideLayouts/slideLayout6.xml"/><Relationship Id="rId20" Type="http://schemas.openxmlformats.org/officeDocument/2006/relationships/tags" Target="../tags/tag64.xml"/><Relationship Id="rId2" Type="http://schemas.openxmlformats.org/officeDocument/2006/relationships/image" Target="../media/image6.png"/><Relationship Id="rId19" Type="http://schemas.openxmlformats.org/officeDocument/2006/relationships/tags" Target="../tags/tag63.xml"/><Relationship Id="rId18" Type="http://schemas.openxmlformats.org/officeDocument/2006/relationships/tags" Target="../tags/tag62.xml"/><Relationship Id="rId17" Type="http://schemas.openxmlformats.org/officeDocument/2006/relationships/tags" Target="../tags/tag61.xml"/><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68.xml"/><Relationship Id="rId4" Type="http://schemas.openxmlformats.org/officeDocument/2006/relationships/image" Target="../media/image6.png"/><Relationship Id="rId3" Type="http://schemas.openxmlformats.org/officeDocument/2006/relationships/tags" Target="../tags/tag67.xml"/><Relationship Id="rId2" Type="http://schemas.openxmlformats.org/officeDocument/2006/relationships/tags" Target="../tags/tag66.xml"/><Relationship Id="rId1" Type="http://schemas.openxmlformats.org/officeDocument/2006/relationships/tags" Target="../tags/tag65.xml"/></Relationships>
</file>

<file path=ppt/slides/_rels/slide4.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tags" Target="../tags/tag74.xml"/><Relationship Id="rId7" Type="http://schemas.openxmlformats.org/officeDocument/2006/relationships/tags" Target="../tags/tag73.xml"/><Relationship Id="rId6" Type="http://schemas.openxmlformats.org/officeDocument/2006/relationships/tags" Target="../tags/tag72.xml"/><Relationship Id="rId5" Type="http://schemas.openxmlformats.org/officeDocument/2006/relationships/tags" Target="../tags/tag71.xml"/><Relationship Id="rId4" Type="http://schemas.openxmlformats.org/officeDocument/2006/relationships/image" Target="../media/image8.png"/><Relationship Id="rId3" Type="http://schemas.openxmlformats.org/officeDocument/2006/relationships/image" Target="../media/image6.png"/><Relationship Id="rId29" Type="http://schemas.openxmlformats.org/officeDocument/2006/relationships/notesSlide" Target="../notesSlides/notesSlide3.xml"/><Relationship Id="rId28" Type="http://schemas.openxmlformats.org/officeDocument/2006/relationships/slideLayout" Target="../slideLayouts/slideLayout1.xml"/><Relationship Id="rId27" Type="http://schemas.openxmlformats.org/officeDocument/2006/relationships/tags" Target="../tags/tag87.xml"/><Relationship Id="rId26" Type="http://schemas.openxmlformats.org/officeDocument/2006/relationships/tags" Target="../tags/tag86.xml"/><Relationship Id="rId25" Type="http://schemas.openxmlformats.org/officeDocument/2006/relationships/tags" Target="../tags/tag85.xml"/><Relationship Id="rId24" Type="http://schemas.openxmlformats.org/officeDocument/2006/relationships/tags" Target="../tags/tag84.xml"/><Relationship Id="rId23" Type="http://schemas.openxmlformats.org/officeDocument/2006/relationships/image" Target="../media/image14.svg"/><Relationship Id="rId22" Type="http://schemas.openxmlformats.org/officeDocument/2006/relationships/image" Target="../media/image13.png"/><Relationship Id="rId21" Type="http://schemas.openxmlformats.org/officeDocument/2006/relationships/tags" Target="../tags/tag83.xml"/><Relationship Id="rId20" Type="http://schemas.openxmlformats.org/officeDocument/2006/relationships/tags" Target="../tags/tag82.xml"/><Relationship Id="rId2" Type="http://schemas.openxmlformats.org/officeDocument/2006/relationships/tags" Target="../tags/tag70.xml"/><Relationship Id="rId19" Type="http://schemas.openxmlformats.org/officeDocument/2006/relationships/tags" Target="../tags/tag81.xml"/><Relationship Id="rId18" Type="http://schemas.openxmlformats.org/officeDocument/2006/relationships/tags" Target="../tags/tag80.xml"/><Relationship Id="rId17" Type="http://schemas.openxmlformats.org/officeDocument/2006/relationships/image" Target="../media/image12.svg"/><Relationship Id="rId16" Type="http://schemas.openxmlformats.org/officeDocument/2006/relationships/image" Target="../media/image11.png"/><Relationship Id="rId15" Type="http://schemas.openxmlformats.org/officeDocument/2006/relationships/tags" Target="../tags/tag79.xml"/><Relationship Id="rId14" Type="http://schemas.openxmlformats.org/officeDocument/2006/relationships/tags" Target="../tags/tag78.xml"/><Relationship Id="rId13" Type="http://schemas.openxmlformats.org/officeDocument/2006/relationships/tags" Target="../tags/tag77.xml"/><Relationship Id="rId12" Type="http://schemas.openxmlformats.org/officeDocument/2006/relationships/tags" Target="../tags/tag76.xml"/><Relationship Id="rId11" Type="http://schemas.openxmlformats.org/officeDocument/2006/relationships/tags" Target="../tags/tag75.xml"/><Relationship Id="rId10" Type="http://schemas.openxmlformats.org/officeDocument/2006/relationships/image" Target="../media/image10.svg"/><Relationship Id="rId1" Type="http://schemas.openxmlformats.org/officeDocument/2006/relationships/tags" Target="../tags/tag69.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3.xml"/><Relationship Id="rId2" Type="http://schemas.openxmlformats.org/officeDocument/2006/relationships/tags" Target="../tags/tag89.xml"/><Relationship Id="rId1" Type="http://schemas.openxmlformats.org/officeDocument/2006/relationships/tags" Target="../tags/tag88.xml"/></Relationships>
</file>

<file path=ppt/slides/_rels/slide6.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0" Type="http://schemas.openxmlformats.org/officeDocument/2006/relationships/notesSlide" Target="../notesSlides/notesSlide5.xml"/><Relationship Id="rId2" Type="http://schemas.openxmlformats.org/officeDocument/2006/relationships/tags" Target="../tags/tag91.xml"/><Relationship Id="rId19" Type="http://schemas.openxmlformats.org/officeDocument/2006/relationships/slideLayout" Target="../slideLayouts/slideLayout3.xml"/><Relationship Id="rId18" Type="http://schemas.openxmlformats.org/officeDocument/2006/relationships/tags" Target="../tags/tag107.xml"/><Relationship Id="rId17" Type="http://schemas.openxmlformats.org/officeDocument/2006/relationships/tags" Target="../tags/tag106.xml"/><Relationship Id="rId16" Type="http://schemas.openxmlformats.org/officeDocument/2006/relationships/tags" Target="../tags/tag105.xml"/><Relationship Id="rId15" Type="http://schemas.openxmlformats.org/officeDocument/2006/relationships/tags" Target="../tags/tag104.xml"/><Relationship Id="rId14" Type="http://schemas.openxmlformats.org/officeDocument/2006/relationships/tags" Target="../tags/tag103.xml"/><Relationship Id="rId13" Type="http://schemas.openxmlformats.org/officeDocument/2006/relationships/tags" Target="../tags/tag102.xml"/><Relationship Id="rId12" Type="http://schemas.openxmlformats.org/officeDocument/2006/relationships/tags" Target="../tags/tag101.xml"/><Relationship Id="rId11" Type="http://schemas.openxmlformats.org/officeDocument/2006/relationships/tags" Target="../tags/tag100.xml"/><Relationship Id="rId10" Type="http://schemas.openxmlformats.org/officeDocument/2006/relationships/tags" Target="../tags/tag99.xml"/><Relationship Id="rId1" Type="http://schemas.openxmlformats.org/officeDocument/2006/relationships/tags" Target="../tags/tag90.xml"/></Relationships>
</file>

<file path=ppt/slides/_rels/slide7.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111.xml"/><Relationship Id="rId4" Type="http://schemas.openxmlformats.org/officeDocument/2006/relationships/image" Target="../media/image6.png"/><Relationship Id="rId3" Type="http://schemas.openxmlformats.org/officeDocument/2006/relationships/tags" Target="../tags/tag110.xml"/><Relationship Id="rId2" Type="http://schemas.openxmlformats.org/officeDocument/2006/relationships/tags" Target="../tags/tag109.xml"/><Relationship Id="rId1" Type="http://schemas.openxmlformats.org/officeDocument/2006/relationships/tags" Target="../tags/tag108.xml"/></Relationships>
</file>

<file path=ppt/slides/_rels/slide8.xml.rels><?xml version="1.0" encoding="UTF-8" standalone="yes"?>
<Relationships xmlns="http://schemas.openxmlformats.org/package/2006/relationships"><Relationship Id="rId9" Type="http://schemas.openxmlformats.org/officeDocument/2006/relationships/tags" Target="../tags/tag116.xml"/><Relationship Id="rId8" Type="http://schemas.openxmlformats.org/officeDocument/2006/relationships/tags" Target="../tags/tag115.xml"/><Relationship Id="rId7" Type="http://schemas.openxmlformats.org/officeDocument/2006/relationships/tags" Target="../tags/tag114.xml"/><Relationship Id="rId6" Type="http://schemas.openxmlformats.org/officeDocument/2006/relationships/image" Target="../media/image17.png"/><Relationship Id="rId5" Type="http://schemas.openxmlformats.org/officeDocument/2006/relationships/image" Target="../media/image6.png"/><Relationship Id="rId4" Type="http://schemas.openxmlformats.org/officeDocument/2006/relationships/tags" Target="../tags/tag113.xml"/><Relationship Id="rId3" Type="http://schemas.openxmlformats.org/officeDocument/2006/relationships/tags" Target="../tags/tag112.xml"/><Relationship Id="rId2" Type="http://schemas.openxmlformats.org/officeDocument/2006/relationships/image" Target="../media/image16.svg"/><Relationship Id="rId13" Type="http://schemas.openxmlformats.org/officeDocument/2006/relationships/notesSlide" Target="../notesSlides/notesSlide6.xml"/><Relationship Id="rId12" Type="http://schemas.openxmlformats.org/officeDocument/2006/relationships/slideLayout" Target="../slideLayouts/slideLayout12.xml"/><Relationship Id="rId11" Type="http://schemas.openxmlformats.org/officeDocument/2006/relationships/tags" Target="../tags/tag118.xml"/><Relationship Id="rId10" Type="http://schemas.openxmlformats.org/officeDocument/2006/relationships/tags" Target="../tags/tag117.xml"/><Relationship Id="rId1" Type="http://schemas.openxmlformats.org/officeDocument/2006/relationships/image" Target="../media/image15.png"/></Relationships>
</file>

<file path=ppt/slides/_rels/slide9.xml.rels><?xml version="1.0" encoding="UTF-8" standalone="yes"?>
<Relationships xmlns="http://schemas.openxmlformats.org/package/2006/relationships"><Relationship Id="rId9" Type="http://schemas.openxmlformats.org/officeDocument/2006/relationships/image" Target="../media/image20.png"/><Relationship Id="rId8" Type="http://schemas.openxmlformats.org/officeDocument/2006/relationships/image" Target="../media/image19.svg"/><Relationship Id="rId7" Type="http://schemas.openxmlformats.org/officeDocument/2006/relationships/image" Target="../media/image18.png"/><Relationship Id="rId6" Type="http://schemas.openxmlformats.org/officeDocument/2006/relationships/image" Target="../media/image6.png"/><Relationship Id="rId5" Type="http://schemas.openxmlformats.org/officeDocument/2006/relationships/tags" Target="../tags/tag120.xml"/><Relationship Id="rId4" Type="http://schemas.openxmlformats.org/officeDocument/2006/relationships/tags" Target="../tags/tag119.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133.xml"/><Relationship Id="rId26" Type="http://schemas.openxmlformats.org/officeDocument/2006/relationships/tags" Target="../tags/tag132.xml"/><Relationship Id="rId25" Type="http://schemas.openxmlformats.org/officeDocument/2006/relationships/tags" Target="../tags/tag131.xml"/><Relationship Id="rId24" Type="http://schemas.openxmlformats.org/officeDocument/2006/relationships/tags" Target="../tags/tag130.xml"/><Relationship Id="rId23" Type="http://schemas.openxmlformats.org/officeDocument/2006/relationships/tags" Target="../tags/tag129.xml"/><Relationship Id="rId22" Type="http://schemas.openxmlformats.org/officeDocument/2006/relationships/tags" Target="../tags/tag128.xml"/><Relationship Id="rId21" Type="http://schemas.openxmlformats.org/officeDocument/2006/relationships/tags" Target="../tags/tag127.xml"/><Relationship Id="rId20" Type="http://schemas.openxmlformats.org/officeDocument/2006/relationships/tags" Target="../tags/tag126.xml"/><Relationship Id="rId2" Type="http://schemas.openxmlformats.org/officeDocument/2006/relationships/chart" Target="../charts/chart2.xml"/><Relationship Id="rId19" Type="http://schemas.openxmlformats.org/officeDocument/2006/relationships/tags" Target="../tags/tag125.xml"/><Relationship Id="rId18" Type="http://schemas.openxmlformats.org/officeDocument/2006/relationships/tags" Target="../tags/tag124.xml"/><Relationship Id="rId17" Type="http://schemas.openxmlformats.org/officeDocument/2006/relationships/tags" Target="../tags/tag123.xml"/><Relationship Id="rId16" Type="http://schemas.openxmlformats.org/officeDocument/2006/relationships/tags" Target="../tags/tag122.xml"/><Relationship Id="rId15" Type="http://schemas.openxmlformats.org/officeDocument/2006/relationships/tags" Target="../tags/tag121.xml"/><Relationship Id="rId14" Type="http://schemas.openxmlformats.org/officeDocument/2006/relationships/image" Target="../media/image25.svg"/><Relationship Id="rId13" Type="http://schemas.openxmlformats.org/officeDocument/2006/relationships/image" Target="../media/image24.png"/><Relationship Id="rId12" Type="http://schemas.openxmlformats.org/officeDocument/2006/relationships/image" Target="../media/image23.svg"/><Relationship Id="rId11" Type="http://schemas.openxmlformats.org/officeDocument/2006/relationships/image" Target="../media/image22.png"/><Relationship Id="rId10" Type="http://schemas.openxmlformats.org/officeDocument/2006/relationships/image" Target="../media/image21.svg"/><Relationship Id="rId1" Type="http://schemas.openxmlformats.org/officeDocument/2006/relationships/chart" Target="../charts/chart1.xml"/></Relationships>
</file>

<file path=ppt/slides/_rels/slide10.xml.rels><?xml version="1.0" encoding="UTF-8" standalone="yes"?>
<Relationships xmlns="http://schemas.openxmlformats.org/package/2006/relationships"><Relationship Id="rId9" Type="http://schemas.openxmlformats.org/officeDocument/2006/relationships/image" Target="../media/image8.png"/><Relationship Id="rId8" Type="http://schemas.openxmlformats.org/officeDocument/2006/relationships/tags" Target="../tags/tag137.xml"/><Relationship Id="rId7" Type="http://schemas.openxmlformats.org/officeDocument/2006/relationships/tags" Target="../tags/tag136.xml"/><Relationship Id="rId6" Type="http://schemas.openxmlformats.org/officeDocument/2006/relationships/tags" Target="../tags/tag135.xml"/><Relationship Id="rId5" Type="http://schemas.openxmlformats.org/officeDocument/2006/relationships/tags" Target="../tags/tag134.xml"/><Relationship Id="rId4" Type="http://schemas.openxmlformats.org/officeDocument/2006/relationships/chart" Target="../charts/chart7.xml"/><Relationship Id="rId3" Type="http://schemas.openxmlformats.org/officeDocument/2006/relationships/chart" Target="../charts/chart6.xml"/><Relationship Id="rId2" Type="http://schemas.openxmlformats.org/officeDocument/2006/relationships/chart" Target="../charts/chart5.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4.xml"/></Relationships>
</file>

<file path=ppt/slides/_rels/slide11.xml.rels><?xml version="1.0" encoding="UTF-8" standalone="yes"?>
<Relationships xmlns="http://schemas.openxmlformats.org/package/2006/relationships"><Relationship Id="rId9" Type="http://schemas.openxmlformats.org/officeDocument/2006/relationships/tags" Target="../tags/tag144.xml"/><Relationship Id="rId8" Type="http://schemas.openxmlformats.org/officeDocument/2006/relationships/tags" Target="../tags/tag143.xml"/><Relationship Id="rId7" Type="http://schemas.openxmlformats.org/officeDocument/2006/relationships/tags" Target="../tags/tag142.xml"/><Relationship Id="rId6" Type="http://schemas.openxmlformats.org/officeDocument/2006/relationships/tags" Target="../tags/tag141.xml"/><Relationship Id="rId5" Type="http://schemas.openxmlformats.org/officeDocument/2006/relationships/tags" Target="../tags/tag140.xml"/><Relationship Id="rId4" Type="http://schemas.openxmlformats.org/officeDocument/2006/relationships/tags" Target="../tags/tag139.xml"/><Relationship Id="rId3" Type="http://schemas.openxmlformats.org/officeDocument/2006/relationships/tags" Target="../tags/tag138.xml"/><Relationship Id="rId24" Type="http://schemas.openxmlformats.org/officeDocument/2006/relationships/slideLayout" Target="../slideLayouts/slideLayout1.xml"/><Relationship Id="rId23" Type="http://schemas.openxmlformats.org/officeDocument/2006/relationships/image" Target="../media/image33.svg"/><Relationship Id="rId22" Type="http://schemas.openxmlformats.org/officeDocument/2006/relationships/image" Target="../media/image32.png"/><Relationship Id="rId21" Type="http://schemas.openxmlformats.org/officeDocument/2006/relationships/image" Target="../media/image31.svg"/><Relationship Id="rId20" Type="http://schemas.openxmlformats.org/officeDocument/2006/relationships/image" Target="../media/image30.png"/><Relationship Id="rId2" Type="http://schemas.openxmlformats.org/officeDocument/2006/relationships/chart" Target="../charts/chart9.xml"/><Relationship Id="rId19" Type="http://schemas.openxmlformats.org/officeDocument/2006/relationships/image" Target="../media/image29.svg"/><Relationship Id="rId18" Type="http://schemas.openxmlformats.org/officeDocument/2006/relationships/image" Target="../media/image28.png"/><Relationship Id="rId17" Type="http://schemas.openxmlformats.org/officeDocument/2006/relationships/image" Target="../media/image27.svg"/><Relationship Id="rId16" Type="http://schemas.openxmlformats.org/officeDocument/2006/relationships/image" Target="../media/image26.png"/><Relationship Id="rId15" Type="http://schemas.openxmlformats.org/officeDocument/2006/relationships/image" Target="../media/image6.png"/><Relationship Id="rId14" Type="http://schemas.openxmlformats.org/officeDocument/2006/relationships/tags" Target="../tags/tag149.xml"/><Relationship Id="rId13" Type="http://schemas.openxmlformats.org/officeDocument/2006/relationships/tags" Target="../tags/tag148.xml"/><Relationship Id="rId12" Type="http://schemas.openxmlformats.org/officeDocument/2006/relationships/tags" Target="../tags/tag147.xml"/><Relationship Id="rId11" Type="http://schemas.openxmlformats.org/officeDocument/2006/relationships/tags" Target="../tags/tag146.xml"/><Relationship Id="rId10" Type="http://schemas.openxmlformats.org/officeDocument/2006/relationships/tags" Target="../tags/tag145.xml"/><Relationship Id="rId1" Type="http://schemas.openxmlformats.org/officeDocument/2006/relationships/chart" Target="../charts/chart8.xml"/></Relationships>
</file>

<file path=ppt/slides/_rels/slide12.xml.rels><?xml version="1.0" encoding="UTF-8" standalone="yes"?>
<Relationships xmlns="http://schemas.openxmlformats.org/package/2006/relationships"><Relationship Id="rId9" Type="http://schemas.openxmlformats.org/officeDocument/2006/relationships/tags" Target="../tags/tag156.xml"/><Relationship Id="rId8" Type="http://schemas.openxmlformats.org/officeDocument/2006/relationships/tags" Target="../tags/tag155.xml"/><Relationship Id="rId7" Type="http://schemas.openxmlformats.org/officeDocument/2006/relationships/tags" Target="../tags/tag154.xml"/><Relationship Id="rId6" Type="http://schemas.openxmlformats.org/officeDocument/2006/relationships/tags" Target="../tags/tag153.xml"/><Relationship Id="rId5" Type="http://schemas.openxmlformats.org/officeDocument/2006/relationships/image" Target="../media/image34.png"/><Relationship Id="rId4" Type="http://schemas.openxmlformats.org/officeDocument/2006/relationships/tags" Target="../tags/tag152.xml"/><Relationship Id="rId3" Type="http://schemas.openxmlformats.org/officeDocument/2006/relationships/image" Target="../media/image6.png"/><Relationship Id="rId25" Type="http://schemas.openxmlformats.org/officeDocument/2006/relationships/notesSlide" Target="../notesSlides/notesSlide7.xml"/><Relationship Id="rId24" Type="http://schemas.openxmlformats.org/officeDocument/2006/relationships/slideLayout" Target="../slideLayouts/slideLayout1.xml"/><Relationship Id="rId23" Type="http://schemas.openxmlformats.org/officeDocument/2006/relationships/tags" Target="../tags/tag170.xml"/><Relationship Id="rId22" Type="http://schemas.openxmlformats.org/officeDocument/2006/relationships/tags" Target="../tags/tag169.xml"/><Relationship Id="rId21" Type="http://schemas.openxmlformats.org/officeDocument/2006/relationships/tags" Target="../tags/tag168.xml"/><Relationship Id="rId20" Type="http://schemas.openxmlformats.org/officeDocument/2006/relationships/tags" Target="../tags/tag167.xml"/><Relationship Id="rId2" Type="http://schemas.openxmlformats.org/officeDocument/2006/relationships/tags" Target="../tags/tag151.xml"/><Relationship Id="rId19" Type="http://schemas.openxmlformats.org/officeDocument/2006/relationships/tags" Target="../tags/tag166.xml"/><Relationship Id="rId18" Type="http://schemas.openxmlformats.org/officeDocument/2006/relationships/tags" Target="../tags/tag165.xml"/><Relationship Id="rId17" Type="http://schemas.openxmlformats.org/officeDocument/2006/relationships/tags" Target="../tags/tag164.xml"/><Relationship Id="rId16" Type="http://schemas.openxmlformats.org/officeDocument/2006/relationships/tags" Target="../tags/tag163.xml"/><Relationship Id="rId15" Type="http://schemas.openxmlformats.org/officeDocument/2006/relationships/tags" Target="../tags/tag162.xml"/><Relationship Id="rId14" Type="http://schemas.openxmlformats.org/officeDocument/2006/relationships/tags" Target="../tags/tag161.xml"/><Relationship Id="rId13" Type="http://schemas.openxmlformats.org/officeDocument/2006/relationships/tags" Target="../tags/tag160.xml"/><Relationship Id="rId12" Type="http://schemas.openxmlformats.org/officeDocument/2006/relationships/tags" Target="../tags/tag159.xml"/><Relationship Id="rId11" Type="http://schemas.openxmlformats.org/officeDocument/2006/relationships/tags" Target="../tags/tag158.xml"/><Relationship Id="rId10" Type="http://schemas.openxmlformats.org/officeDocument/2006/relationships/tags" Target="../tags/tag157.xml"/><Relationship Id="rId1" Type="http://schemas.openxmlformats.org/officeDocument/2006/relationships/tags" Target="../tags/tag150.xml"/></Relationships>
</file>

<file path=ppt/slides/_rels/slide13.xml.rels><?xml version="1.0" encoding="UTF-8" standalone="yes"?>
<Relationships xmlns="http://schemas.openxmlformats.org/package/2006/relationships"><Relationship Id="rId9" Type="http://schemas.openxmlformats.org/officeDocument/2006/relationships/image" Target="../media/image39.png"/><Relationship Id="rId8" Type="http://schemas.openxmlformats.org/officeDocument/2006/relationships/image" Target="../media/image38.svg"/><Relationship Id="rId7" Type="http://schemas.openxmlformats.org/officeDocument/2006/relationships/image" Target="../media/image37.png"/><Relationship Id="rId6" Type="http://schemas.openxmlformats.org/officeDocument/2006/relationships/tags" Target="../tags/tag173.xml"/><Relationship Id="rId5" Type="http://schemas.openxmlformats.org/officeDocument/2006/relationships/image" Target="../media/image36.svg"/><Relationship Id="rId4" Type="http://schemas.openxmlformats.org/officeDocument/2006/relationships/image" Target="../media/image35.png"/><Relationship Id="rId3" Type="http://schemas.openxmlformats.org/officeDocument/2006/relationships/tags" Target="../tags/tag17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8.svg"/><Relationship Id="rId21" Type="http://schemas.openxmlformats.org/officeDocument/2006/relationships/image" Target="../media/image47.png"/><Relationship Id="rId20" Type="http://schemas.openxmlformats.org/officeDocument/2006/relationships/tags" Target="../tags/tag176.xml"/><Relationship Id="rId2" Type="http://schemas.openxmlformats.org/officeDocument/2006/relationships/tags" Target="../tags/tag171.xml"/><Relationship Id="rId19" Type="http://schemas.openxmlformats.org/officeDocument/2006/relationships/image" Target="../media/image46.svg"/><Relationship Id="rId18" Type="http://schemas.openxmlformats.org/officeDocument/2006/relationships/image" Target="../media/image45.png"/><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175.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tags" Target="../tags/tag174.xml"/><Relationship Id="rId11" Type="http://schemas.openxmlformats.org/officeDocument/2006/relationships/image" Target="../media/image8.png"/><Relationship Id="rId10" Type="http://schemas.openxmlformats.org/officeDocument/2006/relationships/image" Target="../media/image40.svg"/><Relationship Id="rId1" Type="http://schemas.openxmlformats.org/officeDocument/2006/relationships/chart" Target="../charts/chart10.xml"/></Relationships>
</file>

<file path=ppt/slides/_rels/slide14.xml.rels><?xml version="1.0" encoding="UTF-8" standalone="yes"?>
<Relationships xmlns="http://schemas.openxmlformats.org/package/2006/relationships"><Relationship Id="rId9" Type="http://schemas.openxmlformats.org/officeDocument/2006/relationships/image" Target="../media/image51.png"/><Relationship Id="rId8" Type="http://schemas.openxmlformats.org/officeDocument/2006/relationships/tags" Target="../tags/tag181.xml"/><Relationship Id="rId7" Type="http://schemas.openxmlformats.org/officeDocument/2006/relationships/image" Target="../media/image50.svg"/><Relationship Id="rId6" Type="http://schemas.openxmlformats.org/officeDocument/2006/relationships/image" Target="../media/image49.png"/><Relationship Id="rId5" Type="http://schemas.openxmlformats.org/officeDocument/2006/relationships/tags" Target="../tags/tag180.xml"/><Relationship Id="rId4" Type="http://schemas.openxmlformats.org/officeDocument/2006/relationships/tags" Target="../tags/tag179.xml"/><Relationship Id="rId3" Type="http://schemas.openxmlformats.org/officeDocument/2006/relationships/image" Target="../media/image6.png"/><Relationship Id="rId22" Type="http://schemas.openxmlformats.org/officeDocument/2006/relationships/notesSlide" Target="../notesSlides/notesSlide8.xml"/><Relationship Id="rId21" Type="http://schemas.openxmlformats.org/officeDocument/2006/relationships/slideLayout" Target="../slideLayouts/slideLayout1.xml"/><Relationship Id="rId20" Type="http://schemas.openxmlformats.org/officeDocument/2006/relationships/tags" Target="../tags/tag189.xml"/><Relationship Id="rId2" Type="http://schemas.openxmlformats.org/officeDocument/2006/relationships/tags" Target="../tags/tag178.xml"/><Relationship Id="rId19" Type="http://schemas.openxmlformats.org/officeDocument/2006/relationships/image" Target="../media/image54.svg"/><Relationship Id="rId18" Type="http://schemas.openxmlformats.org/officeDocument/2006/relationships/image" Target="../media/image53.png"/><Relationship Id="rId17" Type="http://schemas.openxmlformats.org/officeDocument/2006/relationships/tags" Target="../tags/tag188.xml"/><Relationship Id="rId16" Type="http://schemas.openxmlformats.org/officeDocument/2006/relationships/tags" Target="../tags/tag187.xml"/><Relationship Id="rId15" Type="http://schemas.openxmlformats.org/officeDocument/2006/relationships/tags" Target="../tags/tag186.xml"/><Relationship Id="rId14" Type="http://schemas.openxmlformats.org/officeDocument/2006/relationships/tags" Target="../tags/tag185.xml"/><Relationship Id="rId13" Type="http://schemas.openxmlformats.org/officeDocument/2006/relationships/tags" Target="../tags/tag184.xml"/><Relationship Id="rId12" Type="http://schemas.openxmlformats.org/officeDocument/2006/relationships/tags" Target="../tags/tag183.xml"/><Relationship Id="rId11" Type="http://schemas.openxmlformats.org/officeDocument/2006/relationships/tags" Target="../tags/tag182.xml"/><Relationship Id="rId10" Type="http://schemas.openxmlformats.org/officeDocument/2006/relationships/image" Target="../media/image52.svg"/><Relationship Id="rId1" Type="http://schemas.openxmlformats.org/officeDocument/2006/relationships/tags" Target="../tags/tag177.xml"/></Relationships>
</file>

<file path=ppt/slides/_rels/slide15.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193.xml"/><Relationship Id="rId4" Type="http://schemas.openxmlformats.org/officeDocument/2006/relationships/image" Target="../media/image6.png"/><Relationship Id="rId3" Type="http://schemas.openxmlformats.org/officeDocument/2006/relationships/tags" Target="../tags/tag192.xml"/><Relationship Id="rId2" Type="http://schemas.openxmlformats.org/officeDocument/2006/relationships/tags" Target="../tags/tag191.xml"/><Relationship Id="rId1" Type="http://schemas.openxmlformats.org/officeDocument/2006/relationships/tags" Target="../tags/tag190.xml"/></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12.xml"/><Relationship Id="rId4" Type="http://schemas.openxmlformats.org/officeDocument/2006/relationships/tags" Target="../tags/tag196.xml"/><Relationship Id="rId3" Type="http://schemas.openxmlformats.org/officeDocument/2006/relationships/tags" Target="../tags/tag195.xml"/><Relationship Id="rId2" Type="http://schemas.openxmlformats.org/officeDocument/2006/relationships/tags" Target="../tags/tag194.xml"/><Relationship Id="rId1" Type="http://schemas.openxmlformats.org/officeDocument/2006/relationships/image" Target="../media/image6.png"/></Relationships>
</file>

<file path=ppt/slides/_rels/slide17.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2.xml"/><Relationship Id="rId4" Type="http://schemas.openxmlformats.org/officeDocument/2006/relationships/tags" Target="../tags/tag199.xml"/><Relationship Id="rId3" Type="http://schemas.openxmlformats.org/officeDocument/2006/relationships/tags" Target="../tags/tag198.xml"/><Relationship Id="rId2" Type="http://schemas.openxmlformats.org/officeDocument/2006/relationships/tags" Target="../tags/tag197.xml"/><Relationship Id="rId1" Type="http://schemas.openxmlformats.org/officeDocument/2006/relationships/image" Target="../media/image6.png"/></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03.xml"/><Relationship Id="rId4" Type="http://schemas.openxmlformats.org/officeDocument/2006/relationships/image" Target="../media/image6.png"/><Relationship Id="rId3" Type="http://schemas.openxmlformats.org/officeDocument/2006/relationships/tags" Target="../tags/tag202.xml"/><Relationship Id="rId2" Type="http://schemas.openxmlformats.org/officeDocument/2006/relationships/tags" Target="../tags/tag201.xml"/><Relationship Id="rId1" Type="http://schemas.openxmlformats.org/officeDocument/2006/relationships/tags" Target="../tags/tag200.xml"/></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3.xml"/><Relationship Id="rId3" Type="http://schemas.openxmlformats.org/officeDocument/2006/relationships/tags" Target="../tags/tag205.xml"/><Relationship Id="rId2" Type="http://schemas.openxmlformats.org/officeDocument/2006/relationships/tags" Target="../tags/tag204.xml"/><Relationship Id="rId1" Type="http://schemas.openxmlformats.org/officeDocument/2006/relationships/image" Target="../media/image6.png"/></Relationships>
</file>

<file path=ppt/slides/_rels/slide20.xml.rels><?xml version="1.0" encoding="UTF-8" standalone="yes"?>
<Relationships xmlns="http://schemas.openxmlformats.org/package/2006/relationships"><Relationship Id="rId9" Type="http://schemas.openxmlformats.org/officeDocument/2006/relationships/tags" Target="../tags/tag214.xml"/><Relationship Id="rId8" Type="http://schemas.openxmlformats.org/officeDocument/2006/relationships/tags" Target="../tags/tag213.xml"/><Relationship Id="rId7" Type="http://schemas.openxmlformats.org/officeDocument/2006/relationships/tags" Target="../tags/tag212.xml"/><Relationship Id="rId6" Type="http://schemas.openxmlformats.org/officeDocument/2006/relationships/tags" Target="../tags/tag211.xml"/><Relationship Id="rId5" Type="http://schemas.openxmlformats.org/officeDocument/2006/relationships/tags" Target="../tags/tag210.xml"/><Relationship Id="rId4" Type="http://schemas.openxmlformats.org/officeDocument/2006/relationships/tags" Target="../tags/tag209.xml"/><Relationship Id="rId3" Type="http://schemas.openxmlformats.org/officeDocument/2006/relationships/tags" Target="../tags/tag208.xml"/><Relationship Id="rId20" Type="http://schemas.openxmlformats.org/officeDocument/2006/relationships/notesSlide" Target="../notesSlides/notesSlide12.xml"/><Relationship Id="rId2" Type="http://schemas.openxmlformats.org/officeDocument/2006/relationships/tags" Target="../tags/tag207.xml"/><Relationship Id="rId19" Type="http://schemas.openxmlformats.org/officeDocument/2006/relationships/slideLayout" Target="../slideLayouts/slideLayout3.xml"/><Relationship Id="rId18" Type="http://schemas.openxmlformats.org/officeDocument/2006/relationships/tags" Target="../tags/tag223.xml"/><Relationship Id="rId17" Type="http://schemas.openxmlformats.org/officeDocument/2006/relationships/tags" Target="../tags/tag222.xml"/><Relationship Id="rId16" Type="http://schemas.openxmlformats.org/officeDocument/2006/relationships/tags" Target="../tags/tag221.xml"/><Relationship Id="rId15" Type="http://schemas.openxmlformats.org/officeDocument/2006/relationships/tags" Target="../tags/tag220.xml"/><Relationship Id="rId14" Type="http://schemas.openxmlformats.org/officeDocument/2006/relationships/tags" Target="../tags/tag219.xml"/><Relationship Id="rId13" Type="http://schemas.openxmlformats.org/officeDocument/2006/relationships/tags" Target="../tags/tag218.xml"/><Relationship Id="rId12" Type="http://schemas.openxmlformats.org/officeDocument/2006/relationships/tags" Target="../tags/tag217.xml"/><Relationship Id="rId11" Type="http://schemas.openxmlformats.org/officeDocument/2006/relationships/tags" Target="../tags/tag216.xml"/><Relationship Id="rId10" Type="http://schemas.openxmlformats.org/officeDocument/2006/relationships/tags" Target="../tags/tag215.xml"/><Relationship Id="rId1" Type="http://schemas.openxmlformats.org/officeDocument/2006/relationships/tags" Target="../tags/tag206.xml"/></Relationships>
</file>

<file path=ppt/slides/_rels/slide21.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tags" Target="../tags/tag227.xml"/><Relationship Id="rId5" Type="http://schemas.openxmlformats.org/officeDocument/2006/relationships/tags" Target="../tags/tag226.xml"/><Relationship Id="rId4" Type="http://schemas.openxmlformats.org/officeDocument/2006/relationships/tags" Target="../tags/tag225.xml"/><Relationship Id="rId3" Type="http://schemas.openxmlformats.org/officeDocument/2006/relationships/tags" Target="../tags/tag224.xml"/><Relationship Id="rId2" Type="http://schemas.openxmlformats.org/officeDocument/2006/relationships/image" Target="../media/image55.png"/><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5" Type="http://schemas.openxmlformats.org/officeDocument/2006/relationships/slideLayout" Target="../slideLayouts/slideLayout22.xml"/><Relationship Id="rId4" Type="http://schemas.openxmlformats.org/officeDocument/2006/relationships/tags" Target="../tags/tag229.xml"/><Relationship Id="rId3" Type="http://schemas.openxmlformats.org/officeDocument/2006/relationships/image" Target="../media/image56.png"/><Relationship Id="rId2" Type="http://schemas.openxmlformats.org/officeDocument/2006/relationships/tags" Target="../tags/tag228.xml"/><Relationship Id="rId1"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5744845" y="3801110"/>
            <a:ext cx="5744210"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保护业务</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通报应对</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安全价值量化</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endPar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endParaRPr>
          </a:p>
        </p:txBody>
      </p:sp>
      <p:grpSp>
        <p:nvGrpSpPr>
          <p:cNvPr id="7" name="组合 6"/>
          <p:cNvGrpSpPr/>
          <p:nvPr/>
        </p:nvGrpSpPr>
        <p:grpSpPr>
          <a:xfrm>
            <a:off x="5271770" y="2325370"/>
            <a:ext cx="6217285" cy="1490980"/>
            <a:chOff x="8301" y="2872"/>
            <a:chExt cx="9791" cy="2348"/>
          </a:xfrm>
        </p:grpSpPr>
        <p:sp>
          <p:nvSpPr>
            <p:cNvPr id="5" name="文本框 8"/>
            <p:cNvSpPr txBox="1"/>
            <p:nvPr>
              <p:custDataLst>
                <p:tags r:id="rId2"/>
              </p:custDataLst>
            </p:nvPr>
          </p:nvSpPr>
          <p:spPr>
            <a:xfrm>
              <a:off x="8301" y="3755"/>
              <a:ext cx="9791" cy="1465"/>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2025</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年网络安全工作复盘暨</a:t>
              </a: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2026</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展望</a:t>
              </a:r>
              <a:endPar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endParaRPr>
            </a:p>
          </p:txBody>
        </p:sp>
        <p:sp>
          <p:nvSpPr>
            <p:cNvPr id="4" name="文本框 8"/>
            <p:cNvSpPr txBox="1"/>
            <p:nvPr>
              <p:custDataLst>
                <p:tags r:id="rId3"/>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sym typeface="+mn-ea"/>
                </a:rPr>
                <a:t>{{company}}</a:t>
              </a:r>
              <a:r>
                <a:rPr lang="en-US" altLang="zh-CN"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&amp;</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深信服科技</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Arial" panose="020B0604020202020204" pitchFamily="34" charset="0"/>
                <a:ea typeface="黑体-简" panose="02000000000000000000" charset="-122"/>
                <a:cs typeface="微软雅黑" panose="020B0503020204020204" charset="-122"/>
                <a:sym typeface="+mn-ea"/>
              </a:rPr>
              <a:t>运营周期</a:t>
            </a:r>
            <a:r>
              <a:rPr lang="en-US" altLang="zh-CN" sz="1800" dirty="0">
                <a:solidFill>
                  <a:srgbClr val="515151"/>
                </a:solidFill>
                <a:latin typeface="Arial" panose="020B0604020202020204" pitchFamily="34" charset="0"/>
                <a:ea typeface="黑体-简" panose="02000000000000000000"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4"/>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pic>
        <p:nvPicPr>
          <p:cNvPr id="68" name="图片 67" descr="深信服 + 智安全"/>
          <p:cNvPicPr>
            <a:picLocks noChangeAspect="1"/>
          </p:cNvPicPr>
          <p:nvPr/>
        </p:nvPicPr>
        <p:blipFill>
          <a:blip r:embed="rId2"/>
          <a:srcRect l="5232" t="26576" r="4938" b="29565"/>
          <a:stretch>
            <a:fillRect/>
          </a:stretch>
        </p:blipFill>
        <p:spPr>
          <a:xfrm>
            <a:off x="10330815" y="273073"/>
            <a:ext cx="1629867" cy="360000"/>
          </a:xfrm>
          <a:prstGeom prst="rect">
            <a:avLst/>
          </a:prstGeom>
        </p:spPr>
      </p:pic>
      <p:pic>
        <p:nvPicPr>
          <p:cNvPr id="62" name="图片 61" descr="病毒检测@4x"/>
          <p:cNvPicPr>
            <a:picLocks noChangeAspect="1"/>
          </p:cNvPicPr>
          <p:nvPr/>
        </p:nvPicPr>
        <p:blipFill>
          <a:blip r:embed="rId3">
            <a:alphaModFix amt="84000"/>
          </a:blip>
          <a:srcRect l="-4651" t="-6497" r="18828" b="21030"/>
          <a:stretch>
            <a:fillRect/>
          </a:stretch>
        </p:blipFill>
        <p:spPr>
          <a:xfrm flipH="1">
            <a:off x="0" y="2709545"/>
            <a:ext cx="8221980" cy="4148455"/>
          </a:xfrm>
          <a:prstGeom prst="rect">
            <a:avLst/>
          </a:prstGeom>
        </p:spPr>
      </p:pic>
      <p:grpSp>
        <p:nvGrpSpPr>
          <p:cNvPr id="24" name="组合 23"/>
          <p:cNvGrpSpPr/>
          <p:nvPr>
            <p:custDataLst>
              <p:tags r:id="rId4"/>
            </p:custDataLst>
          </p:nvPr>
        </p:nvGrpSpPr>
        <p:grpSpPr>
          <a:xfrm rot="0">
            <a:off x="7091045" y="1797320"/>
            <a:ext cx="3239770" cy="468000"/>
            <a:chOff x="10673" y="2666"/>
            <a:chExt cx="5102" cy="874"/>
          </a:xfrm>
        </p:grpSpPr>
        <p:sp>
          <p:nvSpPr>
            <p:cNvPr id="25" name="文本框 24"/>
            <p:cNvSpPr txBox="1"/>
            <p:nvPr>
              <p:custDataLst>
                <p:tags r:id="rId5"/>
              </p:custDataLst>
            </p:nvPr>
          </p:nvSpPr>
          <p:spPr>
            <a:xfrm>
              <a:off x="10673" y="266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目标与协作机制回顾</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26" name="文本框 25"/>
            <p:cNvSpPr txBox="1"/>
            <p:nvPr>
              <p:custDataLst>
                <p:tags r:id="rId6"/>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回顾预期目标与协作机制</a:t>
              </a:r>
              <a:endPar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29" name="组合 28"/>
          <p:cNvGrpSpPr/>
          <p:nvPr>
            <p:custDataLst>
              <p:tags r:id="rId7"/>
            </p:custDataLst>
          </p:nvPr>
        </p:nvGrpSpPr>
        <p:grpSpPr>
          <a:xfrm>
            <a:off x="7091045" y="2729772"/>
            <a:ext cx="3239770" cy="468000"/>
            <a:chOff x="11278" y="3926"/>
            <a:chExt cx="5102" cy="859"/>
          </a:xfrm>
        </p:grpSpPr>
        <p:sp>
          <p:nvSpPr>
            <p:cNvPr id="30" name="文本框 2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共同的工作成果总结</a:t>
              </a:r>
              <a:endParaRPr lang="en-US" altLang="zh-CN"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5" name="文本框 34"/>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6" name="组合 35"/>
          <p:cNvGrpSpPr/>
          <p:nvPr>
            <p:custDataLst>
              <p:tags r:id="rId10"/>
            </p:custDataLst>
          </p:nvPr>
        </p:nvGrpSpPr>
        <p:grpSpPr>
          <a:xfrm rot="0">
            <a:off x="7091045" y="3661952"/>
            <a:ext cx="3239770" cy="468000"/>
            <a:chOff x="11278" y="3926"/>
            <a:chExt cx="5102" cy="859"/>
          </a:xfrm>
        </p:grpSpPr>
        <p:sp>
          <p:nvSpPr>
            <p:cNvPr id="37" name="文本框 36"/>
            <p:cNvSpPr txBox="1"/>
            <p:nvPr>
              <p:custDataLst>
                <p:tags r:id="rId11"/>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共同挑战与应对思路</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8" name="文本框 37"/>
            <p:cNvSpPr txBox="1"/>
            <p:nvPr>
              <p:custDataLst>
                <p:tags r:id="rId12"/>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关键问题与应对思路</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9" name="组合 38"/>
          <p:cNvGrpSpPr/>
          <p:nvPr>
            <p:custDataLst>
              <p:tags r:id="rId13"/>
            </p:custDataLst>
          </p:nvPr>
        </p:nvGrpSpPr>
        <p:grpSpPr>
          <a:xfrm rot="0">
            <a:off x="7091045" y="4594132"/>
            <a:ext cx="3239770" cy="468000"/>
            <a:chOff x="11278" y="3926"/>
            <a:chExt cx="5102" cy="859"/>
          </a:xfrm>
        </p:grpSpPr>
        <p:sp>
          <p:nvSpPr>
            <p:cNvPr id="40" name="文本框 39"/>
            <p:cNvSpPr txBox="1"/>
            <p:nvPr>
              <p:custDataLst>
                <p:tags r:id="rId1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kern="0">
                  <a:uFillTx/>
                  <a:latin typeface="Arial" panose="020B0604020202020204" pitchFamily="34" charset="0"/>
                  <a:ea typeface="黑体-简" panose="02000000000000000000" charset="-122"/>
                  <a:cs typeface="微软雅黑" panose="020B0503020204020204" charset="-122"/>
                  <a:sym typeface="+mn-ea"/>
                </a:rPr>
                <a:t>下阶段目标与协作计划</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42" name="文本框 41"/>
            <p:cNvSpPr txBox="1"/>
            <p:nvPr>
              <p:custDataLst>
                <p:tags r:id="rId1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共同的目标与协作计划刷新</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sp>
        <p:nvSpPr>
          <p:cNvPr id="43" name="节编号"/>
          <p:cNvSpPr>
            <a:spLocks noGrp="1"/>
          </p:cNvSpPr>
          <p:nvPr>
            <p:custDataLst>
              <p:tags r:id="rId16"/>
            </p:custDataLst>
          </p:nvPr>
        </p:nvSpPr>
        <p:spPr>
          <a:xfrm>
            <a:off x="6029960" y="167132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黑体-简" panose="02000000000000000000" charset="-122"/>
                <a:cs typeface="DINPro Bold" panose="02000503030000020004" charset="0"/>
              </a:rPr>
              <a:t>01</a:t>
            </a:r>
            <a:endParaRPr lang="en-US" altLang="en-US" sz="3600">
              <a:solidFill>
                <a:srgbClr val="0C51C2"/>
              </a:solidFill>
              <a:latin typeface="Arial" panose="020B0604020202020204" pitchFamily="34" charset="0"/>
              <a:ea typeface="黑体-简" panose="02000000000000000000" charset="-122"/>
              <a:cs typeface="DINPro Bold" panose="02000503030000020004" charset="0"/>
            </a:endParaRPr>
          </a:p>
        </p:txBody>
      </p:sp>
      <p:sp>
        <p:nvSpPr>
          <p:cNvPr id="45" name="节编号"/>
          <p:cNvSpPr>
            <a:spLocks noGrp="1"/>
          </p:cNvSpPr>
          <p:nvPr>
            <p:custDataLst>
              <p:tags r:id="rId17"/>
            </p:custDataLst>
          </p:nvPr>
        </p:nvSpPr>
        <p:spPr>
          <a:xfrm>
            <a:off x="6029960" y="26040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6" name="节编号"/>
          <p:cNvSpPr>
            <a:spLocks noGrp="1"/>
          </p:cNvSpPr>
          <p:nvPr>
            <p:custDataLst>
              <p:tags r:id="rId18"/>
            </p:custDataLst>
          </p:nvPr>
        </p:nvSpPr>
        <p:spPr>
          <a:xfrm>
            <a:off x="6029960" y="353622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7" name="节编号"/>
          <p:cNvSpPr>
            <a:spLocks noGrp="1"/>
          </p:cNvSpPr>
          <p:nvPr>
            <p:custDataLst>
              <p:tags r:id="rId19"/>
            </p:custDataLst>
          </p:nvPr>
        </p:nvSpPr>
        <p:spPr>
          <a:xfrm>
            <a:off x="6029960" y="44684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Tree>
    <p:custDataLst>
      <p:tags r:id="rId20"/>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回顾预期目标与协作</a:t>
            </a:r>
            <a:r>
              <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机制</a:t>
            </a:r>
            <a:endPar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rPr>
              <a:t>目标与协作</a:t>
            </a:r>
            <a:r>
              <a:rPr lang="zh-CN" altLang="en-US" sz="3200">
                <a:solidFill>
                  <a:srgbClr val="4C61E7"/>
                </a:solidFill>
                <a:latin typeface="Arial Black" panose="020B0A04020102020204" pitchFamily="34" charset="0"/>
                <a:ea typeface="微软雅黑" panose="020B0503020204020204" charset="-122"/>
              </a:rPr>
              <a:t>机制回顾</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01</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我们共同的目标回顾</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pic>
        <p:nvPicPr>
          <p:cNvPr id="705" name="图片 704" descr="1755071818846"/>
          <p:cNvPicPr/>
          <p:nvPr/>
        </p:nvPicPr>
        <p:blipFill>
          <a:blip r:embed="rId4"/>
          <a:stretch>
            <a:fillRect/>
          </a:stretch>
        </p:blipFill>
        <p:spPr>
          <a:xfrm>
            <a:off x="669608" y="6019800"/>
            <a:ext cx="10800000" cy="502285"/>
          </a:xfrm>
          <a:prstGeom prst="rect">
            <a:avLst/>
          </a:prstGeom>
        </p:spPr>
      </p:pic>
      <p:sp>
        <p:nvSpPr>
          <p:cNvPr id="706" name="文本框 705"/>
          <p:cNvSpPr txBox="1"/>
          <p:nvPr/>
        </p:nvSpPr>
        <p:spPr>
          <a:xfrm>
            <a:off x="859155" y="6052185"/>
            <a:ext cx="10457180" cy="4337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30000"/>
              </a:lnSpc>
              <a:spcBef>
                <a:spcPts val="0"/>
              </a:spcBef>
              <a:spcAft>
                <a:spcPts val="0"/>
              </a:spcAft>
              <a:buClrTx/>
              <a:buSzTx/>
              <a:buFontTx/>
              <a:buNone/>
            </a:pP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相互的信任和高效的协作是达成这一工作目标的坚实基础，每一次恶意外联拦截和清除主机风险、每一个被修复的漏洞和弱口令，都离不开</a:t>
            </a:r>
            <a:r>
              <a:rPr lang="en-US" sz="10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zh-CN" sz="1000" dirty="0">
                <a:solidFill>
                  <a:schemeClr val="tx1">
                    <a:alpha val="100000"/>
                  </a:schemeClr>
                </a:solidFill>
                <a:latin typeface="Arial" panose="020B0604020202020204" pitchFamily="34" charset="0"/>
                <a:ea typeface="黑体-简" panose="02000000000000000000" charset="-122"/>
                <a:cs typeface="黑体" panose="02010609060101010101" charset="-122"/>
                <a:sym typeface="+mn-ea"/>
              </a:rPr>
              <a:t>同仁</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的信任与支持，工作目标的</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达成是我们共同的努力成果</a:t>
            </a:r>
            <a:endPar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5" name="正文"/>
          <p:cNvSpPr txBox="1"/>
          <p:nvPr>
            <p:custDataLst>
              <p:tags r:id="rId5"/>
            </p:custDataLst>
          </p:nvPr>
        </p:nvSpPr>
        <p:spPr>
          <a:xfrm>
            <a:off x="8653475" y="330221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rPr>
              <a:t>节假日</a:t>
            </a: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rPr>
              <a:t>重点保障</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endParaRPr>
          </a:p>
        </p:txBody>
      </p:sp>
      <p:sp>
        <p:nvSpPr>
          <p:cNvPr id="23" name="正文"/>
          <p:cNvSpPr txBox="1"/>
          <p:nvPr>
            <p:custDataLst>
              <p:tags r:id="rId6"/>
            </p:custDataLst>
          </p:nvPr>
        </p:nvSpPr>
        <p:spPr>
          <a:xfrm>
            <a:off x="8202930" y="3942080"/>
            <a:ext cx="2988310" cy="1734820"/>
          </a:xfrm>
          <a:prstGeom prst="rect">
            <a:avLst/>
          </a:prstGeom>
          <a:noFill/>
        </p:spPr>
        <p:txBody>
          <a:bodyPr wrap="square" lIns="0" tIns="0" rIns="0" bIns="0" rtlCol="0" anchor="t" anchorCtr="0">
            <a:noAutofit/>
          </a:bodyPr>
          <a:p>
            <a:pPr lvl="0" algn="l">
              <a:lnSpc>
                <a:spcPct val="130000"/>
              </a:lnSpc>
              <a:buClrTx/>
              <a:buSzTx/>
              <a:buFont typeface="Wingdings" panose="05000000000000000000" charset="0"/>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提升节假日重点防守保障能力，缓解单位重要节假日的</a:t>
            </a: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网络安全保障</a:t>
            </a: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压力</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2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200" dirty="0">
                <a:latin typeface="Heiti SC Light" panose="02000000000000000000" charset="-122"/>
                <a:ea typeface="Heiti SC Light" panose="02000000000000000000" charset="-122"/>
                <a:cs typeface="Heiti SC Light" panose="02000000000000000000" charset="-122"/>
                <a:sym typeface="+mn-ea"/>
              </a:rPr>
              <a:t>30</a:t>
            </a:r>
            <a:r>
              <a:rPr lang="zh-CN" altLang="en-US" sz="1200" dirty="0">
                <a:latin typeface="Heiti SC Light" panose="02000000000000000000" charset="-122"/>
                <a:ea typeface="Heiti SC Light" panose="02000000000000000000" charset="-122"/>
                <a:cs typeface="Heiti SC Light" panose="02000000000000000000" charset="-122"/>
                <a:sym typeface="+mn-ea"/>
              </a:rPr>
              <a:t>分钟内通告；</a:t>
            </a:r>
            <a:endParaRPr lang="zh-CN" altLang="en-US" sz="12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2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200" dirty="0">
                <a:latin typeface="Heiti SC Light" panose="02000000000000000000" charset="-122"/>
                <a:ea typeface="Heiti SC Light" panose="02000000000000000000" charset="-122"/>
                <a:cs typeface="Heiti SC Light" panose="02000000000000000000" charset="-122"/>
                <a:sym typeface="+mn-ea"/>
              </a:rPr>
              <a:t>100%</a:t>
            </a:r>
            <a:r>
              <a:rPr lang="zh-CN" altLang="en-US" sz="12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200" dirty="0">
              <a:latin typeface="Heiti SC Light" panose="02000000000000000000" charset="-122"/>
              <a:ea typeface="Heiti SC Light" panose="02000000000000000000" charset="-122"/>
              <a:cs typeface="Heiti SC Light" panose="02000000000000000000"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p:txBody>
      </p:sp>
      <p:sp>
        <p:nvSpPr>
          <p:cNvPr id="24" name="椭圆 23"/>
          <p:cNvSpPr/>
          <p:nvPr>
            <p:custDataLst>
              <p:tags r:id="rId7"/>
            </p:custDataLst>
          </p:nvPr>
        </p:nvSpPr>
        <p:spPr>
          <a:xfrm>
            <a:off x="9446456" y="2680628"/>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25" name="3" descr="斗争"/>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rcRect/>
          <a:stretch>
            <a:fillRect/>
          </a:stretch>
        </p:blipFill>
        <p:spPr>
          <a:xfrm>
            <a:off x="9561356" y="2787604"/>
            <a:ext cx="270553" cy="270553"/>
          </a:xfrm>
          <a:prstGeom prst="rect">
            <a:avLst/>
          </a:prstGeom>
        </p:spPr>
      </p:pic>
      <p:sp>
        <p:nvSpPr>
          <p:cNvPr id="26" name="矩形 25"/>
          <p:cNvSpPr/>
          <p:nvPr>
            <p:custDataLst>
              <p:tags r:id="rId11"/>
            </p:custDataLst>
          </p:nvPr>
        </p:nvSpPr>
        <p:spPr>
          <a:xfrm>
            <a:off x="4460308" y="2257742"/>
            <a:ext cx="3240000" cy="3823970"/>
          </a:xfrm>
          <a:prstGeom prst="rect">
            <a:avLst/>
          </a:prstGeom>
          <a:noFill/>
          <a:ln>
            <a:gradFill>
              <a:gsLst>
                <a:gs pos="100000">
                  <a:schemeClr val="accent6">
                    <a:lumMod val="5000"/>
                    <a:lumOff val="95000"/>
                    <a:alpha val="0"/>
                  </a:schemeClr>
                </a:gs>
                <a:gs pos="55000">
                  <a:schemeClr val="accent6">
                    <a:alpha val="25000"/>
                  </a:schemeClr>
                </a:gs>
              </a:gsLst>
              <a:lin ang="5400000" scaled="1"/>
            </a:gradFill>
          </a:ln>
          <a:effectLst>
            <a:outerShdw blurRad="114300" sx="101000" sy="101000" algn="ctr" rotWithShape="0">
              <a:schemeClr val="accent6">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27" name="正文"/>
          <p:cNvSpPr txBox="1"/>
          <p:nvPr>
            <p:custDataLst>
              <p:tags r:id="rId12"/>
            </p:custDataLst>
          </p:nvPr>
        </p:nvSpPr>
        <p:spPr>
          <a:xfrm>
            <a:off x="5037150" y="302695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rPr>
              <a:t>核心业务安全保护</a:t>
            </a:r>
            <a:endPar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endParaRPr>
          </a:p>
        </p:txBody>
      </p:sp>
      <p:sp>
        <p:nvSpPr>
          <p:cNvPr id="28" name="正文"/>
          <p:cNvSpPr txBox="1"/>
          <p:nvPr>
            <p:custDataLst>
              <p:tags r:id="rId13"/>
            </p:custDataLst>
          </p:nvPr>
        </p:nvSpPr>
        <p:spPr>
          <a:xfrm>
            <a:off x="4585970" y="3667125"/>
            <a:ext cx="2988310" cy="2009775"/>
          </a:xfrm>
          <a:prstGeom prst="rect">
            <a:avLst/>
          </a:prstGeom>
          <a:noFill/>
        </p:spPr>
        <p:txBody>
          <a:bodyPr wrap="square" lIns="0" tIns="0" rIns="0" bIns="0" rtlCol="0" anchor="t" anchorCtr="0">
            <a:noAutofit/>
          </a:bodyPr>
          <a:p>
            <a:pPr indent="0" algn="l" fontAlgn="auto">
              <a:lnSpc>
                <a:spcPct val="130000"/>
              </a:lnSpc>
              <a:buFont typeface="Wingdings" panose="05000000000000000000" charset="0"/>
              <a:buNone/>
            </a:pPr>
            <a:r>
              <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保障核心业务系统0安全事故，有效规避业务损失</a:t>
            </a: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indent="0" algn="l" fontAlgn="auto">
              <a:lnSpc>
                <a:spcPct val="130000"/>
              </a:lnSpc>
              <a:buFont typeface="Wingdings" panose="05000000000000000000" charset="0"/>
              <a:buNone/>
            </a:pP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200" dirty="0">
                <a:latin typeface="Heiti SC Light" panose="02000000000000000000" charset="-122"/>
                <a:ea typeface="Heiti SC Light" panose="02000000000000000000" charset="-122"/>
                <a:cs typeface="Heiti SC Light" panose="02000000000000000000" charset="-122"/>
                <a:sym typeface="+mn-ea"/>
              </a:rPr>
              <a:t>核心业务（</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200" dirty="0">
                <a:latin typeface="Heiti SC Light" panose="02000000000000000000" charset="-122"/>
                <a:ea typeface="Heiti SC Light" panose="02000000000000000000" charset="-122"/>
                <a:cs typeface="Heiti SC Light" panose="02000000000000000000" charset="-122"/>
                <a:sym typeface="+mn-ea"/>
              </a:rPr>
              <a:t>0</a:t>
            </a:r>
            <a:r>
              <a:rPr lang="zh-CN" altLang="en-US" sz="12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2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2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主动发现核心系统的重大风险并进行缓解，降低风险被利用带来的损失；</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indent="0" algn="ctr" fontAlgn="auto">
              <a:lnSpc>
                <a:spcPct val="130000"/>
              </a:lnSpc>
              <a:buFont typeface="Wingdings" panose="05000000000000000000" charset="0"/>
              <a:buNone/>
            </a:pP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p:txBody>
      </p:sp>
      <p:sp>
        <p:nvSpPr>
          <p:cNvPr id="29" name="椭圆 28"/>
          <p:cNvSpPr/>
          <p:nvPr>
            <p:custDataLst>
              <p:tags r:id="rId14"/>
            </p:custDataLst>
          </p:nvPr>
        </p:nvSpPr>
        <p:spPr>
          <a:xfrm>
            <a:off x="5830131" y="2405368"/>
            <a:ext cx="500354" cy="500354"/>
          </a:xfrm>
          <a:prstGeom prst="ellipse">
            <a:avLst/>
          </a:prstGeom>
          <a:solidFill>
            <a:schemeClr val="accent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30" name="2" descr="盾牌"/>
          <p:cNvPicPr>
            <a:picLocks noChangeAspect="1"/>
          </p:cNvPicPr>
          <p:nvPr>
            <p:custDataLst>
              <p:tags r:id="rId15"/>
            </p:custDataLst>
          </p:nvPr>
        </p:nvPicPr>
        <p:blipFill>
          <a:blip r:embed="rId16">
            <a:extLst>
              <a:ext uri="{96DAC541-7B7A-43D3-8B79-37D633B846F1}">
                <asvg:svgBlip xmlns:asvg="http://schemas.microsoft.com/office/drawing/2016/SVG/main" r:embed="rId17"/>
              </a:ext>
            </a:extLst>
          </a:blip>
          <a:srcRect/>
          <a:stretch>
            <a:fillRect/>
          </a:stretch>
        </p:blipFill>
        <p:spPr>
          <a:xfrm>
            <a:off x="5939937" y="2514042"/>
            <a:ext cx="280741" cy="280741"/>
          </a:xfrm>
          <a:prstGeom prst="rect">
            <a:avLst/>
          </a:prstGeom>
        </p:spPr>
      </p:pic>
      <p:sp>
        <p:nvSpPr>
          <p:cNvPr id="31" name="正文"/>
          <p:cNvSpPr txBox="1"/>
          <p:nvPr>
            <p:custDataLst>
              <p:tags r:id="rId18"/>
            </p:custDataLst>
          </p:nvPr>
        </p:nvSpPr>
        <p:spPr>
          <a:xfrm>
            <a:off x="1421185" y="3309196"/>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安全考核与通报应对</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endParaRPr>
          </a:p>
        </p:txBody>
      </p:sp>
      <p:sp>
        <p:nvSpPr>
          <p:cNvPr id="32" name="正文"/>
          <p:cNvSpPr txBox="1"/>
          <p:nvPr>
            <p:custDataLst>
              <p:tags r:id="rId19"/>
            </p:custDataLst>
          </p:nvPr>
        </p:nvSpPr>
        <p:spPr>
          <a:xfrm>
            <a:off x="984885" y="3949065"/>
            <a:ext cx="2988310" cy="1845945"/>
          </a:xfrm>
          <a:prstGeom prst="rect">
            <a:avLst/>
          </a:prstGeom>
          <a:noFill/>
        </p:spPr>
        <p:txBody>
          <a:bodyPr wrap="square" lIns="0" tIns="0" rIns="0" bIns="0" rtlCol="0" anchor="t" anchorCtr="0">
            <a:noAutofit/>
          </a:bodyPr>
          <a:p>
            <a:pPr lvl="0" indent="0" algn="l">
              <a:lnSpc>
                <a:spcPct val="130000"/>
              </a:lnSpc>
              <a:buClrTx/>
              <a:buSzTx/>
              <a:buFont typeface="Wingdings" panose="05000000000000000000" charset="0"/>
              <a:buNone/>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持续降低被通报风险，高效响应被通报问题</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indent="0" algn="l">
              <a:lnSpc>
                <a:spcPct val="130000"/>
              </a:lnSpc>
              <a:buClrTx/>
              <a:buSzTx/>
              <a:buFont typeface="Wingdings" panose="05000000000000000000" charset="0"/>
              <a:buNone/>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1</a:t>
            </a:r>
            <a:r>
              <a:rPr lang="zh-CN" altLang="en-US" sz="1200" dirty="0">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2</a:t>
            </a:r>
            <a:r>
              <a:rPr lang="zh-CN" altLang="en-US" sz="1200" dirty="0">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、恶意外联类问题构建自主发现能力，有效减少被监管通报的概率；</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3</a:t>
            </a:r>
            <a:r>
              <a:rPr lang="zh-CN" altLang="en-US" sz="1200" dirty="0">
                <a:latin typeface="Heiti SC Light" panose="02000000000000000000" charset="-122"/>
                <a:ea typeface="Heiti SC Light" panose="02000000000000000000" charset="-122"/>
                <a:cs typeface="Heiti SC Light" panose="02000000000000000000" charset="-122"/>
                <a:sym typeface="+mn-ea"/>
              </a:rPr>
              <a:t>、被通报问题的有效排查和响应回函不超过48</a:t>
            </a:r>
            <a:r>
              <a:rPr lang="en-US" altLang="zh-CN" sz="1200" dirty="0">
                <a:latin typeface="Heiti SC Light" panose="02000000000000000000" charset="-122"/>
                <a:ea typeface="Heiti SC Light" panose="02000000000000000000" charset="-122"/>
                <a:cs typeface="Heiti SC Light" panose="02000000000000000000" charset="-122"/>
                <a:sym typeface="+mn-ea"/>
              </a:rPr>
              <a:t>H。</a:t>
            </a:r>
            <a:endPar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lvl="0" indent="0" algn="ctr">
              <a:lnSpc>
                <a:spcPct val="130000"/>
              </a:lnSpc>
              <a:buClrTx/>
              <a:buSzTx/>
              <a:buFont typeface="Wingdings" panose="05000000000000000000" charset="0"/>
              <a:buNone/>
            </a:pPr>
            <a:endParaRPr lang="zh-CN" altLang="en-US" sz="1200" kern="0" dirty="0">
              <a:ln>
                <a:noFill/>
                <a:prstDash val="sysDot"/>
              </a:ln>
              <a:solidFill>
                <a:schemeClr val="tx1">
                  <a:lumMod val="85000"/>
                  <a:lumOff val="15000"/>
                </a:schemeClr>
              </a:solidFill>
              <a:uFillTx/>
              <a:latin typeface="Heiti SC Light" panose="02000000000000000000" charset="-122"/>
              <a:ea typeface="Heiti SC Light" panose="02000000000000000000" charset="-122"/>
              <a:cs typeface="Heiti SC Light" panose="02000000000000000000" charset="-122"/>
              <a:sym typeface="+mn-ea"/>
            </a:endParaRPr>
          </a:p>
        </p:txBody>
      </p:sp>
      <p:sp>
        <p:nvSpPr>
          <p:cNvPr id="33" name="椭圆 32"/>
          <p:cNvSpPr/>
          <p:nvPr>
            <p:custDataLst>
              <p:tags r:id="rId20"/>
            </p:custDataLst>
          </p:nvPr>
        </p:nvSpPr>
        <p:spPr>
          <a:xfrm>
            <a:off x="2214166" y="2696503"/>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34" name="1" descr="审核"/>
          <p:cNvPicPr>
            <a:picLocks noChangeAspect="1"/>
          </p:cNvPicPr>
          <p:nvPr>
            <p:custDataLst>
              <p:tags r:id="rId21"/>
            </p:custDataLst>
          </p:nvPr>
        </p:nvPicPr>
        <p:blipFill>
          <a:blip r:embed="rId22">
            <a:extLst>
              <a:ext uri="{96DAC541-7B7A-43D3-8B79-37D633B846F1}">
                <asvg:svgBlip xmlns:asvg="http://schemas.microsoft.com/office/drawing/2016/SVG/main" r:embed="rId23"/>
              </a:ext>
            </a:extLst>
          </a:blip>
          <a:srcRect/>
          <a:stretch>
            <a:fillRect/>
          </a:stretch>
        </p:blipFill>
        <p:spPr>
          <a:xfrm>
            <a:off x="2327934" y="2802630"/>
            <a:ext cx="272817" cy="272817"/>
          </a:xfrm>
          <a:prstGeom prst="rect">
            <a:avLst/>
          </a:prstGeom>
        </p:spPr>
      </p:pic>
      <p:sp>
        <p:nvSpPr>
          <p:cNvPr id="35" name="矩形 34"/>
          <p:cNvSpPr/>
          <p:nvPr>
            <p:custDataLst>
              <p:tags r:id="rId24"/>
            </p:custDataLst>
          </p:nvPr>
        </p:nvSpPr>
        <p:spPr>
          <a:xfrm>
            <a:off x="8076633" y="2533003"/>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36" name="矩形 35"/>
          <p:cNvSpPr/>
          <p:nvPr>
            <p:custDataLst>
              <p:tags r:id="rId25"/>
            </p:custDataLst>
          </p:nvPr>
        </p:nvSpPr>
        <p:spPr>
          <a:xfrm>
            <a:off x="844343" y="2539988"/>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37" name="圆角矩形 36"/>
          <p:cNvSpPr/>
          <p:nvPr>
            <p:custDataLst>
              <p:tags r:id="rId26"/>
            </p:custDataLst>
          </p:nvPr>
        </p:nvSpPr>
        <p:spPr>
          <a:xfrm>
            <a:off x="669608" y="1215390"/>
            <a:ext cx="10800000" cy="865505"/>
          </a:xfrm>
          <a:prstGeom prst="roundRect">
            <a:avLst>
              <a:gd name="adj" fmla="val 11225"/>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lstStyle/>
          <a:p>
            <a:pPr lvl="0" algn="ctr">
              <a:lnSpc>
                <a:spcPct val="140000"/>
              </a:lnSpc>
              <a:buClrTx/>
              <a:buSzTx/>
              <a:buFontTx/>
            </a:pPr>
            <a:r>
              <a:rPr lang="zh-CN" altLang="en-US" sz="1400" b="1">
                <a:solidFill>
                  <a:schemeClr val="tx1"/>
                </a:solidFill>
                <a:uFillTx/>
                <a:latin typeface="Arial" panose="020B0604020202020204" pitchFamily="34" charset="0"/>
                <a:ea typeface="黑体-简" panose="02000000000000000000" charset="-122"/>
                <a:sym typeface="+mn-ea"/>
              </a:rPr>
              <a:t>在国家及行业网络安全安全实战效果要求越来越高，外部网络安全态势愈加严峻多变的时代背景下。为</a:t>
            </a:r>
            <a:r>
              <a:rPr lang="zh-CN" altLang="en-US" sz="1400" b="1">
                <a:solidFill>
                  <a:schemeClr val="tx1"/>
                </a:solidFill>
                <a:uFillTx/>
                <a:latin typeface="Arial" panose="020B0604020202020204" pitchFamily="34" charset="0"/>
                <a:ea typeface="黑体-简" panose="02000000000000000000" charset="-122"/>
                <a:sym typeface="+mn-ea"/>
              </a:rPr>
              <a:t>{{company}}</a:t>
            </a:r>
            <a:r>
              <a:rPr lang="zh-CN" altLang="en-US" sz="1400" b="1">
                <a:solidFill>
                  <a:schemeClr val="tx1"/>
                </a:solidFill>
                <a:uFillTx/>
                <a:latin typeface="Arial" panose="020B0604020202020204" pitchFamily="34" charset="0"/>
                <a:ea typeface="黑体-简" panose="02000000000000000000" charset="-122"/>
                <a:sym typeface="+mn-ea"/>
              </a:rPr>
              <a:t>共同构建起以保护核心业务系统安全稳定运行为中心的主动防御、持续监测、快速响应的全面安全运营体系，为</a:t>
            </a:r>
            <a:r>
              <a:rPr lang="zh-CN" altLang="en-US" sz="1400" b="1">
                <a:solidFill>
                  <a:schemeClr val="tx1"/>
                </a:solidFill>
                <a:uFillTx/>
                <a:latin typeface="Arial" panose="020B0604020202020204" pitchFamily="34" charset="0"/>
                <a:ea typeface="黑体-简" panose="02000000000000000000" charset="-122"/>
                <a:sym typeface="+mn-ea"/>
              </a:rPr>
              <a:t>为{{company}}</a:t>
            </a:r>
            <a:r>
              <a:rPr lang="zh-CN" altLang="en-US" sz="1400" b="1">
                <a:solidFill>
                  <a:schemeClr val="tx1"/>
                </a:solidFill>
                <a:uFillTx/>
                <a:latin typeface="Arial" panose="020B0604020202020204" pitchFamily="34" charset="0"/>
                <a:ea typeface="黑体-简" panose="02000000000000000000" charset="-122"/>
                <a:sym typeface="+mn-ea"/>
              </a:rPr>
              <a:t>的数字化转型保驾护航。</a:t>
            </a:r>
            <a:endParaRPr lang="zh-CN" altLang="en-US" sz="1400" b="1">
              <a:solidFill>
                <a:schemeClr val="tx1"/>
              </a:solidFill>
              <a:uFillTx/>
              <a:latin typeface="Arial" panose="020B0604020202020204" pitchFamily="34" charset="0"/>
              <a:ea typeface="黑体-简" panose="02000000000000000000" charset="-122"/>
              <a:sym typeface="+mn-ea"/>
            </a:endParaRPr>
          </a:p>
        </p:txBody>
      </p:sp>
    </p:spTree>
    <p:custDataLst>
      <p:tags r:id="rId27"/>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sp>
        <p:nvSpPr>
          <p:cNvPr id="88" name="Shape 86"/>
          <p:cNvSpPr/>
          <p:nvPr/>
        </p:nvSpPr>
        <p:spPr>
          <a:xfrm>
            <a:off x="0" y="6339840"/>
            <a:ext cx="12192000" cy="609600"/>
          </a:xfrm>
          <a:prstGeom prst="rect">
            <a:avLst/>
          </a:prstGeom>
          <a:solidFill>
            <a:srgbClr val="F8FAFC"/>
          </a:solidFill>
        </p:spPr>
      </p:sp>
      <p:sp>
        <p:nvSpPr>
          <p:cNvPr id="89" name="Text 87"/>
          <p:cNvSpPr/>
          <p:nvPr/>
        </p:nvSpPr>
        <p:spPr>
          <a:xfrm>
            <a:off x="365760" y="6363970"/>
            <a:ext cx="11638280" cy="267970"/>
          </a:xfrm>
          <a:prstGeom prst="rect">
            <a:avLst/>
          </a:prstGeom>
          <a:noFill/>
        </p:spPr>
        <p:txBody>
          <a:bodyPr wrap="square" lIns="0" tIns="0" rIns="0" bIns="0" rtlCol="0" anchor="ctr"/>
          <a:lstStyle/>
          <a:p>
            <a:pPr marL="0" indent="0">
              <a:buNone/>
            </a:pPr>
            <a:r>
              <a:rPr lang="en-US" sz="1065" b="1" dirty="0">
                <a:solidFill>
                  <a:srgbClr val="1A3A5C"/>
                </a:solidFill>
                <a:latin typeface="微软雅黑" panose="020B0503020204020204" charset="-122"/>
                <a:ea typeface="微软雅黑" panose="020B0503020204020204" charset="-122"/>
                <a:cs typeface="微软雅黑" panose="020B0503020204020204" pitchFamily="34" charset="-120"/>
              </a:rPr>
              <a:t>⚙ 分工逻辑：</a:t>
            </a:r>
            <a:r>
              <a:rPr lang="en-US" sz="10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深信服</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提供技术底座与7×24运营能力 · </a:t>
            </a:r>
            <a:r>
              <a:rPr lang="en-US" sz="1065" b="1" dirty="0">
                <a:solidFill>
                  <a:srgbClr val="D97706"/>
                </a:solidFill>
                <a:latin typeface="微软雅黑" panose="020B0503020204020204" charset="-122"/>
                <a:ea typeface="微软雅黑" panose="020B0503020204020204" charset="-122"/>
                <a:cs typeface="微软雅黑" panose="020B0503020204020204" pitchFamily="34" charset="-120"/>
                <a:sym typeface="+mn-ea"/>
              </a:rPr>
              <a:t>渠道</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负责本地化</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运维</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与现场支撑 · </a:t>
            </a:r>
            <a:r>
              <a:rPr lang="en-US" sz="1065" b="1" dirty="0">
                <a:solidFill>
                  <a:srgbClr val="059669"/>
                </a:solidFill>
                <a:latin typeface="微软雅黑" panose="020B0503020204020204" charset="-122"/>
                <a:ea typeface="微软雅黑" panose="020B0503020204020204" charset="-122"/>
                <a:cs typeface="微软雅黑" panose="020B0503020204020204" pitchFamily="34" charset="-120"/>
                <a:sym typeface="+mn-ea"/>
              </a:rPr>
              <a:t>客户</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承担决策确认</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与内部</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协调</a:t>
            </a:r>
            <a:endParaRPr lang="en-US" sz="1065" dirty="0"/>
          </a:p>
        </p:txBody>
      </p:sp>
      <p:sp>
        <p:nvSpPr>
          <p:cNvPr id="91" name="Text 89"/>
          <p:cNvSpPr/>
          <p:nvPr/>
        </p:nvSpPr>
        <p:spPr>
          <a:xfrm>
            <a:off x="365760" y="6656832"/>
            <a:ext cx="10972800" cy="243840"/>
          </a:xfrm>
          <a:prstGeom prst="rect">
            <a:avLst/>
          </a:prstGeom>
          <a:noFill/>
        </p:spPr>
        <p:txBody>
          <a:bodyPr wrap="square" lIns="0" tIns="0" rIns="0" bIns="0" rtlCol="0" anchor="ctr"/>
          <a:lstStyle/>
          <a:p>
            <a:pPr marL="0" indent="0">
              <a:buNone/>
            </a:pP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职责无重叠、无盲区：技术能力（深信服）+ 现场交付（渠道）+ 资源决策（客户）形成完整闭环</a:t>
            </a:r>
            <a:endParaRPr lang="en-US" sz="1065" dirty="0"/>
          </a:p>
        </p:txBody>
      </p:sp>
      <p:grpSp>
        <p:nvGrpSpPr>
          <p:cNvPr id="9" name="组合 8"/>
          <p:cNvGrpSpPr/>
          <p:nvPr/>
        </p:nvGrpSpPr>
        <p:grpSpPr>
          <a:xfrm>
            <a:off x="224790" y="289878"/>
            <a:ext cx="4462780" cy="327025"/>
            <a:chOff x="533" y="646"/>
            <a:chExt cx="7028" cy="515"/>
          </a:xfrm>
        </p:grpSpPr>
        <p:grpSp>
          <p:nvGrpSpPr>
            <p:cNvPr id="10" name="组合 9"/>
            <p:cNvGrpSpPr/>
            <p:nvPr/>
          </p:nvGrpSpPr>
          <p:grpSpPr>
            <a:xfrm rot="0">
              <a:off x="533" y="672"/>
              <a:ext cx="582" cy="420"/>
              <a:chOff x="533" y="672"/>
              <a:chExt cx="582" cy="420"/>
            </a:xfrm>
          </p:grpSpPr>
          <p:sp>
            <p:nvSpPr>
              <p:cNvPr id="11"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2"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7"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机制</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成果</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{{company}}</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4" name="组合 3"/>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000" dirty="0">
                  <a:latin typeface="Heiti SC Light" panose="02000000000000000000" charset="-122"/>
                  <a:ea typeface="Heiti SC Light" panose="02000000000000000000" charset="-122"/>
                  <a:cs typeface="Heiti SC Light" panose="02000000000000000000" charset="-122"/>
                  <a:sym typeface="+mn-ea"/>
                </a:rPr>
                <a:t>核心业务（</a:t>
              </a:r>
              <a:r>
                <a:rPr lang="en-US" altLang="zh-CN" sz="1000" dirty="0">
                  <a:solidFill>
                    <a:srgbClr val="4C61E7"/>
                  </a:solidFill>
                  <a:latin typeface="Arial" panose="020B0604020202020204" pitchFamily="34" charset="0"/>
                  <a:ea typeface="黑体-简" panose="02000000000000000000" charset="-122"/>
                  <a:sym typeface="+mn-ea"/>
                </a:rPr>
                <a:t>{{core_system_1}}</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{{core_system_2}}</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{{core_system_3}}</a:t>
              </a:r>
              <a:r>
                <a:rPr lang="zh-CN" altLang="en-US" sz="10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000" dirty="0">
                  <a:latin typeface="Heiti SC Light" panose="02000000000000000000" charset="-122"/>
                  <a:ea typeface="Heiti SC Light" panose="02000000000000000000" charset="-122"/>
                  <a:cs typeface="Heiti SC Light" panose="02000000000000000000" charset="-122"/>
                  <a:sym typeface="+mn-ea"/>
                </a:rPr>
                <a:t>0</a:t>
              </a:r>
              <a:r>
                <a:rPr lang="zh-CN" altLang="en-US" sz="10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0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0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a:t>
              </a:r>
              <a:r>
                <a:rPr lang="zh-CN" altLang="en-US" sz="1000" dirty="0">
                  <a:latin typeface="Heiti SC Light" panose="02000000000000000000" charset="-122"/>
                  <a:ea typeface="Heiti SC Light" panose="02000000000000000000" charset="-122"/>
                  <a:cs typeface="Heiti SC Light" panose="02000000000000000000" charset="-122"/>
                  <a:sym typeface="+mn-ea"/>
                </a:rPr>
                <a:t>损失；</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威胁监测，对潜在攻击</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威胁和脆弱性利用</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风险准确预警、遏制攻击（联动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3、对核心资产定期开展脆弱性扫描、漏洞优先级排序，为业务侧</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风险闭环提供技术</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1、现场与业务方的沟通</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2、执行网络及端点侧处置策略实施与协调，保障现场实施举措</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3、收集并反馈业务方的需求与安全痛点，助力安全运营优化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1、业务弱点整改加固的协调；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2、安全事件的处置审核及授权，如需远程上机的帮忙协调远程环境；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3、推动业务安全管理机制优化和落地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3" name="组合 2"/>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概率；</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、被通报问题的有效排查</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和响应回函不超过48</a:t>
              </a: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H。</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7x24</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H</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实时监测发现恶意外联行为，准确预警和遏制（联动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、定期开展两高一弱风险排查，漏洞优先级分析，协助防护方案优化和落地；</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、对被通报问题及时响应排查溯源，给出结论支持快速回函；</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1、渗透测试发现互联网暴露面漏洞风险，协助业务方加固；</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2、协助定位恶意外联终端，提供主机侧处置；</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3、网络/业务运维的响应实施</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1、审批遏制操作的授权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2、协助落实脆弱性问题的管理机制，协调业务侧修复加固</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3、接收通报问题，同步信息发起排查指令</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2" name="组合 1"/>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0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000" dirty="0">
                  <a:latin typeface="Heiti SC Light" panose="02000000000000000000" charset="-122"/>
                  <a:ea typeface="Heiti SC Light" panose="02000000000000000000" charset="-122"/>
                  <a:cs typeface="Heiti SC Light" panose="02000000000000000000" charset="-122"/>
                  <a:sym typeface="+mn-ea"/>
                </a:rPr>
                <a:t>30</a:t>
              </a:r>
              <a:r>
                <a:rPr lang="zh-CN" altLang="en-US" sz="1000" dirty="0">
                  <a:latin typeface="Heiti SC Light" panose="02000000000000000000" charset="-122"/>
                  <a:ea typeface="Heiti SC Light" panose="02000000000000000000" charset="-122"/>
                  <a:cs typeface="Heiti SC Light" panose="02000000000000000000" charset="-122"/>
                  <a:sym typeface="+mn-ea"/>
                </a:rPr>
                <a:t>分钟内</a:t>
              </a:r>
              <a:r>
                <a:rPr lang="zh-CN" altLang="en-US" sz="1000" dirty="0">
                  <a:latin typeface="Heiti SC Light" panose="02000000000000000000" charset="-122"/>
                  <a:ea typeface="Heiti SC Light" panose="02000000000000000000" charset="-122"/>
                  <a:cs typeface="Heiti SC Light" panose="02000000000000000000" charset="-122"/>
                  <a:sym typeface="+mn-ea"/>
                </a:rPr>
                <a:t>通告；</a:t>
              </a:r>
              <a:endParaRPr lang="zh-CN" altLang="en-US" sz="10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0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000" dirty="0">
                  <a:latin typeface="Heiti SC Light" panose="02000000000000000000" charset="-122"/>
                  <a:ea typeface="Heiti SC Light" panose="02000000000000000000" charset="-122"/>
                  <a:cs typeface="Heiti SC Light" panose="02000000000000000000" charset="-122"/>
                  <a:sym typeface="+mn-ea"/>
                </a:rPr>
                <a:t>100%</a:t>
              </a:r>
              <a:r>
                <a:rPr lang="zh-CN" altLang="en-US" sz="10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1、重保前系统的梳理剩余风险，针对性加固支持；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实时监测威胁，准确预警和遏制有效攻击（联动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现场值守与一线处置、联络与</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协调；</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渗透测试发现互联网暴露面漏洞风险，前置加固；</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1、重保前期单位内部动员、工作部署；</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2、内部员工安全意识宣贯和管理机制优化；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3、各项操作的决策审批</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sp>
        <p:nvSpPr>
          <p:cNvPr id="88" name="Shape 86"/>
          <p:cNvSpPr/>
          <p:nvPr/>
        </p:nvSpPr>
        <p:spPr>
          <a:xfrm>
            <a:off x="0" y="6339840"/>
            <a:ext cx="12192000" cy="609600"/>
          </a:xfrm>
          <a:prstGeom prst="rect">
            <a:avLst/>
          </a:prstGeom>
          <a:solidFill>
            <a:srgbClr val="F8FAFC"/>
          </a:solidFill>
        </p:spPr>
      </p:sp>
      <p:sp>
        <p:nvSpPr>
          <p:cNvPr id="89" name="Text 87"/>
          <p:cNvSpPr/>
          <p:nvPr/>
        </p:nvSpPr>
        <p:spPr>
          <a:xfrm>
            <a:off x="365760" y="6363970"/>
            <a:ext cx="11638280" cy="267970"/>
          </a:xfrm>
          <a:prstGeom prst="rect">
            <a:avLst/>
          </a:prstGeom>
          <a:noFill/>
        </p:spPr>
        <p:txBody>
          <a:bodyPr wrap="square" lIns="0" tIns="0" rIns="0" bIns="0" rtlCol="0" anchor="ctr"/>
          <a:lstStyle/>
          <a:p>
            <a:pPr marL="0" indent="0">
              <a:buNone/>
            </a:pPr>
            <a:r>
              <a:rPr lang="en-US" sz="1065" b="1" dirty="0">
                <a:solidFill>
                  <a:srgbClr val="1A3A5C"/>
                </a:solidFill>
                <a:latin typeface="微软雅黑" panose="020B0503020204020204" charset="-122"/>
                <a:ea typeface="微软雅黑" panose="020B0503020204020204" charset="-122"/>
                <a:cs typeface="微软雅黑" panose="020B0503020204020204" pitchFamily="34" charset="-120"/>
              </a:rPr>
              <a:t>⚙ 分工逻辑：</a:t>
            </a:r>
            <a:r>
              <a:rPr lang="en-US" sz="10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深信服</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提供技术底座与7×24运营能力 · </a:t>
            </a:r>
            <a:r>
              <a:rPr lang="en-US" sz="1065" b="1" dirty="0">
                <a:solidFill>
                  <a:srgbClr val="059669"/>
                </a:solidFill>
                <a:latin typeface="微软雅黑" panose="020B0503020204020204" charset="-122"/>
                <a:ea typeface="微软雅黑" panose="020B0503020204020204" charset="-122"/>
                <a:cs typeface="微软雅黑" panose="020B0503020204020204" pitchFamily="34" charset="-120"/>
                <a:sym typeface="+mn-ea"/>
              </a:rPr>
              <a:t>客户</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负责</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决策确认</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与现场处置</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协调</a:t>
            </a:r>
            <a:endParaRPr lang="en-US" sz="1065" dirty="0"/>
          </a:p>
        </p:txBody>
      </p:sp>
      <p:sp>
        <p:nvSpPr>
          <p:cNvPr id="91" name="Text 89"/>
          <p:cNvSpPr/>
          <p:nvPr/>
        </p:nvSpPr>
        <p:spPr>
          <a:xfrm>
            <a:off x="365760" y="6656832"/>
            <a:ext cx="10972800" cy="243840"/>
          </a:xfrm>
          <a:prstGeom prst="rect">
            <a:avLst/>
          </a:prstGeom>
          <a:noFill/>
        </p:spPr>
        <p:txBody>
          <a:bodyPr wrap="square" lIns="0" tIns="0" rIns="0" bIns="0" rtlCol="0" anchor="ctr"/>
          <a:lstStyle/>
          <a:p>
            <a:pPr marL="0" indent="0">
              <a:buNone/>
            </a:pP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职责无重叠、无盲区：技术能力（深信服）+ 资源决策</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rPr>
              <a:t>与线下处置协调</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（客户）形成完整闭环</a:t>
            </a:r>
            <a:endParaRPr lang="en-US" sz="1065" dirty="0"/>
          </a:p>
        </p:txBody>
      </p:sp>
      <p:grpSp>
        <p:nvGrpSpPr>
          <p:cNvPr id="9" name="组合 8"/>
          <p:cNvGrpSpPr/>
          <p:nvPr/>
        </p:nvGrpSpPr>
        <p:grpSpPr>
          <a:xfrm>
            <a:off x="224790" y="289878"/>
            <a:ext cx="5351145" cy="327025"/>
            <a:chOff x="533" y="646"/>
            <a:chExt cx="8427" cy="515"/>
          </a:xfrm>
        </p:grpSpPr>
        <p:grpSp>
          <p:nvGrpSpPr>
            <p:cNvPr id="10" name="组合 9"/>
            <p:cNvGrpSpPr/>
            <p:nvPr/>
          </p:nvGrpSpPr>
          <p:grpSpPr>
            <a:xfrm rot="0">
              <a:off x="533" y="672"/>
              <a:ext cx="582" cy="420"/>
              <a:chOff x="533" y="672"/>
              <a:chExt cx="582" cy="420"/>
            </a:xfrm>
          </p:grpSpPr>
          <p:sp>
            <p:nvSpPr>
              <p:cNvPr id="11"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2"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7" name="textbox 158"/>
            <p:cNvSpPr/>
            <p:nvPr/>
          </p:nvSpPr>
          <p:spPr>
            <a:xfrm>
              <a:off x="1345" y="646"/>
              <a:ext cx="761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关键价值成果与分工协作机制</a:t>
              </a:r>
              <a:r>
                <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rPr>
                <a:t>（无渠道</a:t>
              </a:r>
              <a:r>
                <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rPr>
                <a:t>版）</a:t>
              </a:r>
              <a:endPar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endParaRPr>
            </a:p>
          </p:txBody>
        </p:sp>
      </p:grpSp>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成果</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custDataLst>
              <p:tags r:id="rId3"/>
            </p:custDataLst>
          </p:nvPr>
        </p:nvSpPr>
        <p:spPr>
          <a:xfrm>
            <a:off x="4389120" y="1102360"/>
            <a:ext cx="4321175" cy="548640"/>
          </a:xfrm>
          <a:prstGeom prst="rect">
            <a:avLst/>
          </a:prstGeom>
          <a:solidFill>
            <a:srgbClr val="2563EB"/>
          </a:solidFill>
        </p:spPr>
      </p:sp>
      <p:sp>
        <p:nvSpPr>
          <p:cNvPr id="100" name="Text 16"/>
          <p:cNvSpPr/>
          <p:nvPr>
            <p:custDataLst>
              <p:tags r:id="rId4"/>
            </p:custDataLst>
          </p:nvPr>
        </p:nvSpPr>
        <p:spPr>
          <a:xfrm>
            <a:off x="4389120" y="1102360"/>
            <a:ext cx="4322445"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custDataLst>
              <p:tags r:id="rId5"/>
            </p:custDataLst>
          </p:nvPr>
        </p:nvSpPr>
        <p:spPr>
          <a:xfrm>
            <a:off x="8710930" y="1102360"/>
            <a:ext cx="3166110" cy="548640"/>
          </a:xfrm>
          <a:prstGeom prst="rect">
            <a:avLst/>
          </a:prstGeom>
          <a:solidFill>
            <a:srgbClr val="059669"/>
          </a:solidFill>
        </p:spPr>
      </p:sp>
      <p:sp>
        <p:nvSpPr>
          <p:cNvPr id="104" name="Text 20"/>
          <p:cNvSpPr/>
          <p:nvPr>
            <p:custDataLst>
              <p:tags r:id="rId6"/>
            </p:custDataLst>
          </p:nvPr>
        </p:nvSpPr>
        <p:spPr>
          <a:xfrm>
            <a:off x="8749665" y="1102360"/>
            <a:ext cx="3127375" cy="548640"/>
          </a:xfrm>
          <a:prstGeom prst="rect">
            <a:avLst/>
          </a:prstGeom>
          <a:noFill/>
        </p:spPr>
        <p:txBody>
          <a:bodyPr wrap="square" lIns="0" tIns="0" rIns="0" bIns="0" rtlCol="0" anchor="ctr"/>
          <a:lstStyle/>
          <a:p>
            <a:pPr marL="0" indent="0" algn="ctr">
              <a:buNone/>
            </a:pP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{{company}}</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5" name="Shape 21"/>
          <p:cNvSpPr/>
          <p:nvPr/>
        </p:nvSpPr>
        <p:spPr>
          <a:xfrm>
            <a:off x="304800" y="1651000"/>
            <a:ext cx="1403985" cy="1440180"/>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1706880" y="1651000"/>
            <a:ext cx="2682240" cy="1440180"/>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000" dirty="0">
                <a:latin typeface="Heiti SC Light" panose="02000000000000000000" charset="-122"/>
                <a:ea typeface="Heiti SC Light" panose="02000000000000000000" charset="-122"/>
                <a:cs typeface="Heiti SC Light" panose="02000000000000000000" charset="-122"/>
                <a:sym typeface="+mn-ea"/>
              </a:rPr>
              <a:t>核心业务（</a:t>
            </a:r>
            <a:r>
              <a:rPr lang="en-US" altLang="zh-CN" sz="1000" dirty="0">
                <a:solidFill>
                  <a:srgbClr val="4C61E7"/>
                </a:solidFill>
                <a:latin typeface="Arial" panose="020B0604020202020204" pitchFamily="34" charset="0"/>
                <a:ea typeface="黑体-简" panose="02000000000000000000" charset="-122"/>
                <a:sym typeface="+mn-ea"/>
              </a:rPr>
              <a:t>{{core_system_1}}</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{{core_system_2}}</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{{core_system_3}}</a:t>
            </a:r>
            <a:r>
              <a:rPr lang="zh-CN" altLang="en-US" sz="10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000" dirty="0">
                <a:latin typeface="Heiti SC Light" panose="02000000000000000000" charset="-122"/>
                <a:ea typeface="Heiti SC Light" panose="02000000000000000000" charset="-122"/>
                <a:cs typeface="Heiti SC Light" panose="02000000000000000000" charset="-122"/>
                <a:sym typeface="+mn-ea"/>
              </a:rPr>
              <a:t>0</a:t>
            </a:r>
            <a:r>
              <a:rPr lang="zh-CN" altLang="en-US" sz="10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0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0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a:t>
            </a:r>
            <a:r>
              <a:rPr lang="zh-CN" altLang="en-US" sz="1000" dirty="0">
                <a:latin typeface="Heiti SC Light" panose="02000000000000000000" charset="-122"/>
                <a:ea typeface="Heiti SC Light" panose="02000000000000000000" charset="-122"/>
                <a:cs typeface="Heiti SC Light" panose="02000000000000000000" charset="-122"/>
                <a:sym typeface="+mn-ea"/>
              </a:rPr>
              <a:t>损失；</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custDataLst>
              <p:tags r:id="rId7"/>
            </p:custDataLst>
          </p:nvPr>
        </p:nvSpPr>
        <p:spPr>
          <a:xfrm>
            <a:off x="4389120" y="1651000"/>
            <a:ext cx="4309745" cy="1440180"/>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威胁监测，对潜在攻击</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威胁和脆弱性利用</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风险准确预警、遏制攻击（联动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3、对核心资产定期开展脆弱性扫描、漏洞优先级排序，为业务侧</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风险闭环提供技术</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custDataLst>
              <p:tags r:id="rId8"/>
            </p:custDataLst>
          </p:nvPr>
        </p:nvSpPr>
        <p:spPr>
          <a:xfrm>
            <a:off x="4389120" y="1651000"/>
            <a:ext cx="48895" cy="1440180"/>
          </a:xfrm>
          <a:prstGeom prst="rect">
            <a:avLst/>
          </a:prstGeom>
          <a:solidFill>
            <a:srgbClr val="2563EB">
              <a:alpha val="50000"/>
            </a:srgbClr>
          </a:solidFill>
        </p:spPr>
      </p:sp>
      <p:sp>
        <p:nvSpPr>
          <p:cNvPr id="111" name="Shape 31"/>
          <p:cNvSpPr/>
          <p:nvPr>
            <p:custDataLst>
              <p:tags r:id="rId9"/>
            </p:custDataLst>
          </p:nvPr>
        </p:nvSpPr>
        <p:spPr>
          <a:xfrm>
            <a:off x="8742045" y="1651000"/>
            <a:ext cx="3134995" cy="1440180"/>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1、业务弱点整改加固的协调；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2、安全事件的处置审核及授权，需要现场处置的事件和本地网络</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侧设备策略操作的</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执行，如需远程上机的帮忙协调远程环境；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3、推动业务安全管理机制优化和落地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custDataLst>
              <p:tags r:id="rId10"/>
            </p:custDataLst>
          </p:nvPr>
        </p:nvSpPr>
        <p:spPr>
          <a:xfrm>
            <a:off x="8700135" y="1647190"/>
            <a:ext cx="48895" cy="1440180"/>
          </a:xfrm>
          <a:prstGeom prst="rect">
            <a:avLst/>
          </a:prstGeom>
          <a:solidFill>
            <a:srgbClr val="059669">
              <a:alpha val="50000"/>
            </a:srgbClr>
          </a:solidFill>
        </p:spPr>
      </p:sp>
      <p:sp>
        <p:nvSpPr>
          <p:cNvPr id="113" name="Shape 34"/>
          <p:cNvSpPr/>
          <p:nvPr/>
        </p:nvSpPr>
        <p:spPr>
          <a:xfrm>
            <a:off x="304800" y="3096895"/>
            <a:ext cx="1403985" cy="1440180"/>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1706880" y="3097530"/>
            <a:ext cx="2682240" cy="1440180"/>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概率；</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、被通报问题的有效排查</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和响应回函不超过48</a:t>
            </a: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H。</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custDataLst>
              <p:tags r:id="rId11"/>
            </p:custDataLst>
          </p:nvPr>
        </p:nvSpPr>
        <p:spPr>
          <a:xfrm>
            <a:off x="4389120" y="3096895"/>
            <a:ext cx="4309745" cy="1440180"/>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7x24</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H</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实时监测发现恶意外联行为，准确预警和遏制（联动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、定期开展两高一弱风险排查，漏洞优先级分析，协助防护方案优化和落地；</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、对被通报问题及时响应排查溯源，给出结论支持快速回函；</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custDataLst>
              <p:tags r:id="rId12"/>
            </p:custDataLst>
          </p:nvPr>
        </p:nvSpPr>
        <p:spPr>
          <a:xfrm>
            <a:off x="4389120" y="3096895"/>
            <a:ext cx="48895" cy="1440180"/>
          </a:xfrm>
          <a:prstGeom prst="rect">
            <a:avLst/>
          </a:prstGeom>
          <a:solidFill>
            <a:srgbClr val="2563EB">
              <a:alpha val="50000"/>
            </a:srgbClr>
          </a:solidFill>
        </p:spPr>
      </p:sp>
      <p:sp>
        <p:nvSpPr>
          <p:cNvPr id="119" name="Shape 44"/>
          <p:cNvSpPr/>
          <p:nvPr>
            <p:custDataLst>
              <p:tags r:id="rId13"/>
            </p:custDataLst>
          </p:nvPr>
        </p:nvSpPr>
        <p:spPr>
          <a:xfrm>
            <a:off x="8711565" y="3096895"/>
            <a:ext cx="3165475" cy="1440180"/>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1、审批遏制操作的授权，</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需要现场处置的恶意外联事件的响应执行</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以及本地网络侧设备策略操作的执行；</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2、协助落实脆弱性问题的管理机制，协调业务侧修复加固；</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3、接收通报问题，同步信息发起排查指令</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custDataLst>
              <p:tags r:id="rId14"/>
            </p:custDataLst>
          </p:nvPr>
        </p:nvSpPr>
        <p:spPr>
          <a:xfrm>
            <a:off x="8700135" y="3096895"/>
            <a:ext cx="48895" cy="1440180"/>
          </a:xfrm>
          <a:prstGeom prst="rect">
            <a:avLst/>
          </a:prstGeom>
          <a:solidFill>
            <a:srgbClr val="059669">
              <a:alpha val="50000"/>
            </a:srgbClr>
          </a:solidFill>
        </p:spPr>
      </p:sp>
      <p:sp>
        <p:nvSpPr>
          <p:cNvPr id="121" name="Shape 47"/>
          <p:cNvSpPr/>
          <p:nvPr/>
        </p:nvSpPr>
        <p:spPr>
          <a:xfrm>
            <a:off x="304800" y="4547235"/>
            <a:ext cx="1403985" cy="1440180"/>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1706880" y="4548505"/>
            <a:ext cx="2682240" cy="1440180"/>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0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000" dirty="0">
                <a:latin typeface="Heiti SC Light" panose="02000000000000000000" charset="-122"/>
                <a:ea typeface="Heiti SC Light" panose="02000000000000000000" charset="-122"/>
                <a:cs typeface="Heiti SC Light" panose="02000000000000000000" charset="-122"/>
                <a:sym typeface="+mn-ea"/>
              </a:rPr>
              <a:t>30</a:t>
            </a:r>
            <a:r>
              <a:rPr lang="zh-CN" altLang="en-US" sz="1000" dirty="0">
                <a:latin typeface="Heiti SC Light" panose="02000000000000000000" charset="-122"/>
                <a:ea typeface="Heiti SC Light" panose="02000000000000000000" charset="-122"/>
                <a:cs typeface="Heiti SC Light" panose="02000000000000000000" charset="-122"/>
                <a:sym typeface="+mn-ea"/>
              </a:rPr>
              <a:t>分钟内</a:t>
            </a:r>
            <a:r>
              <a:rPr lang="zh-CN" altLang="en-US" sz="1000" dirty="0">
                <a:latin typeface="Heiti SC Light" panose="02000000000000000000" charset="-122"/>
                <a:ea typeface="Heiti SC Light" panose="02000000000000000000" charset="-122"/>
                <a:cs typeface="Heiti SC Light" panose="02000000000000000000" charset="-122"/>
                <a:sym typeface="+mn-ea"/>
              </a:rPr>
              <a:t>通告；</a:t>
            </a:r>
            <a:endParaRPr lang="zh-CN" altLang="en-US" sz="10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0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000" dirty="0">
                <a:latin typeface="Heiti SC Light" panose="02000000000000000000" charset="-122"/>
                <a:ea typeface="Heiti SC Light" panose="02000000000000000000" charset="-122"/>
                <a:cs typeface="Heiti SC Light" panose="02000000000000000000" charset="-122"/>
                <a:sym typeface="+mn-ea"/>
              </a:rPr>
              <a:t>100%</a:t>
            </a:r>
            <a:r>
              <a:rPr lang="zh-CN" altLang="en-US" sz="10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custDataLst>
              <p:tags r:id="rId15"/>
            </p:custDataLst>
          </p:nvPr>
        </p:nvSpPr>
        <p:spPr>
          <a:xfrm>
            <a:off x="4391660" y="4547870"/>
            <a:ext cx="4307205" cy="1440180"/>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1、重保前系统的梳理剩余风险，针对性加固支持；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实时监测威胁，准确预警和遏制有效攻击（联动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custDataLst>
              <p:tags r:id="rId16"/>
            </p:custDataLst>
          </p:nvPr>
        </p:nvSpPr>
        <p:spPr>
          <a:xfrm>
            <a:off x="4389120" y="4547870"/>
            <a:ext cx="48895" cy="1440180"/>
          </a:xfrm>
          <a:prstGeom prst="rect">
            <a:avLst/>
          </a:prstGeom>
          <a:solidFill>
            <a:srgbClr val="2563EB">
              <a:alpha val="50000"/>
            </a:srgbClr>
          </a:solidFill>
        </p:spPr>
      </p:sp>
      <p:sp>
        <p:nvSpPr>
          <p:cNvPr id="127" name="Shape 57"/>
          <p:cNvSpPr/>
          <p:nvPr>
            <p:custDataLst>
              <p:tags r:id="rId17"/>
            </p:custDataLst>
          </p:nvPr>
        </p:nvSpPr>
        <p:spPr>
          <a:xfrm>
            <a:off x="8741410" y="4547870"/>
            <a:ext cx="3135630" cy="1440180"/>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1、重保前期单位内部动员、工作部署；</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2、内部员工安全意识宣贯和管理机制优化；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3、各项操作的决策审批</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custDataLst>
              <p:tags r:id="rId18"/>
            </p:custDataLst>
          </p:nvPr>
        </p:nvSpPr>
        <p:spPr>
          <a:xfrm>
            <a:off x="8700135" y="4547870"/>
            <a:ext cx="48895" cy="1440180"/>
          </a:xfrm>
          <a:prstGeom prst="rect">
            <a:avLst/>
          </a:prstGeom>
          <a:solidFill>
            <a:srgbClr val="059669">
              <a:alpha val="50000"/>
            </a:srgbClr>
          </a:solidFill>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rPr>
              <a:t>共同的工作成果</a:t>
            </a:r>
            <a:r>
              <a:rPr lang="zh-CN" altLang="en-US" sz="3200">
                <a:solidFill>
                  <a:srgbClr val="4C61E7"/>
                </a:solidFill>
                <a:latin typeface="Arial Black" panose="020B0A04020102020204" pitchFamily="34" charset="0"/>
                <a:ea typeface="微软雅黑" panose="020B0503020204020204" charset="-122"/>
              </a:rPr>
              <a:t>总结</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02</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图片 24" descr="shield-symmetric-blue-green"/>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4631055" y="2298700"/>
            <a:ext cx="2959735" cy="3256280"/>
          </a:xfrm>
          <a:prstGeom prst="rect">
            <a:avLst/>
          </a:prstGeom>
        </p:spPr>
      </p:pic>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3"/>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4"/>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保护业务，全年实现0安全事故</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安全风险主动预防，</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小时威胁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5"/>
          <a:srcRect l="5232" t="26576" r="4938" b="29565"/>
          <a:stretch>
            <a:fillRect/>
          </a:stretch>
        </p:blipFill>
        <p:spPr>
          <a:xfrm>
            <a:off x="10330815" y="273073"/>
            <a:ext cx="1629867" cy="360000"/>
          </a:xfrm>
          <a:prstGeom prst="rect">
            <a:avLst/>
          </a:prstGeom>
        </p:spPr>
      </p:pic>
      <p:pic>
        <p:nvPicPr>
          <p:cNvPr id="112" name="图片 111" descr="组 3169@1x"/>
          <p:cNvPicPr>
            <a:picLocks noChangeAspect="1"/>
          </p:cNvPicPr>
          <p:nvPr/>
        </p:nvPicPr>
        <p:blipFill>
          <a:blip r:embed="rId6"/>
          <a:stretch>
            <a:fillRect/>
          </a:stretch>
        </p:blipFill>
        <p:spPr>
          <a:xfrm>
            <a:off x="1625283" y="6097905"/>
            <a:ext cx="8941435" cy="590550"/>
          </a:xfrm>
          <a:prstGeom prst="rect">
            <a:avLst/>
          </a:prstGeom>
        </p:spPr>
      </p:pic>
      <p:sp>
        <p:nvSpPr>
          <p:cNvPr id="128" name="文本框 127"/>
          <p:cNvSpPr txBox="1"/>
          <p:nvPr/>
        </p:nvSpPr>
        <p:spPr>
          <a:xfrm>
            <a:off x="3827145" y="6097905"/>
            <a:ext cx="4707890" cy="491490"/>
          </a:xfrm>
          <a:prstGeom prst="rect">
            <a:avLst/>
          </a:prstGeom>
          <a:noFill/>
        </p:spPr>
        <p:txBody>
          <a:bodyPr wrap="square" rtlCol="0" anchor="t">
            <a:spAutoFit/>
          </a:bodyPr>
          <a:p>
            <a:pPr algn="ctr"/>
            <a:r>
              <a:rPr lang="en-US" sz="1300">
                <a:solidFill>
                  <a:srgbClr val="404040"/>
                </a:solidFill>
                <a:latin typeface="Noto Sans SC"/>
                <a:ea typeface="Noto Sans SC"/>
                <a:cs typeface="Noto Sans SC"/>
                <a:sym typeface="Noto Sans SC"/>
              </a:rPr>
              <a:t>核心IT系统</a:t>
            </a:r>
            <a:r>
              <a:rPr lang="en-US" sz="13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3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3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3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3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3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3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3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3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3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3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300">
                <a:solidFill>
                  <a:srgbClr val="404040"/>
                </a:solidFill>
                <a:latin typeface="Noto Sans SC"/>
                <a:ea typeface="Noto Sans SC"/>
                <a:cs typeface="Noto Sans SC"/>
                <a:sym typeface="Noto Sans SC"/>
              </a:rPr>
              <a:t>等)覆盖</a:t>
            </a:r>
            <a:r>
              <a:rPr lang="zh-CN" altLang="en-US" sz="1300">
                <a:solidFill>
                  <a:srgbClr val="404040"/>
                </a:solidFill>
                <a:latin typeface="Noto Sans SC"/>
                <a:ea typeface="Noto Sans SC"/>
                <a:cs typeface="Noto Sans SC"/>
                <a:sym typeface="Noto Sans SC"/>
              </a:rPr>
              <a:t>率</a:t>
            </a:r>
            <a:r>
              <a:rPr lang="zh-CN" altLang="en-US" sz="1300">
                <a:solidFill>
                  <a:srgbClr val="4C61E7"/>
                </a:solidFill>
                <a:latin typeface="Noto Sans SC"/>
                <a:ea typeface="Noto Sans SC"/>
                <a:cs typeface="Noto Sans SC"/>
                <a:sym typeface="Noto Sans SC"/>
              </a:rPr>
              <a:t>{XX%}</a:t>
            </a:r>
            <a:endParaRPr lang="zh-CN" altLang="en-US" sz="1300">
              <a:solidFill>
                <a:srgbClr val="4C61E7"/>
              </a:solidFill>
              <a:latin typeface="Noto Sans SC"/>
              <a:ea typeface="Noto Sans SC"/>
              <a:cs typeface="Noto Sans SC"/>
              <a:sym typeface="Noto Sans SC"/>
            </a:endParaRPr>
          </a:p>
        </p:txBody>
      </p:sp>
      <p:sp>
        <p:nvSpPr>
          <p:cNvPr id="2" name="文本框 1"/>
          <p:cNvSpPr txBox="1"/>
          <p:nvPr/>
        </p:nvSpPr>
        <p:spPr>
          <a:xfrm>
            <a:off x="863918" y="874395"/>
            <a:ext cx="10464165" cy="774065"/>
          </a:xfrm>
          <a:prstGeom prst="rect">
            <a:avLst/>
          </a:prstGeom>
          <a:noFill/>
        </p:spPr>
        <p:txBody>
          <a:bodyPr wrap="square" rtlCol="0" anchor="ctr"/>
          <a:lstStyle/>
          <a:p>
            <a:pPr algn="l">
              <a:lnSpc>
                <a:spcPct val="130000"/>
              </a:lnSpc>
            </a:pPr>
            <a:r>
              <a:rPr lang="zh-CN" altLang="en-US" sz="1200" dirty="0">
                <a:latin typeface="Arial" panose="020B0604020202020204" pitchFamily="34" charset="0"/>
                <a:ea typeface="黑体-简" panose="02000000000000000000" charset="-122"/>
              </a:rPr>
              <a:t>主动发现</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solidFill>
                  <a:schemeClr val="tx1"/>
                </a:solidFill>
                <a:latin typeface="Arial" panose="020B0604020202020204" pitchFamily="34" charset="0"/>
                <a:ea typeface="黑体-简" panose="02000000000000000000" charset="-122"/>
              </a:rPr>
              <a:t>等</a:t>
            </a:r>
            <a:r>
              <a:rPr lang="zh-CN" altLang="en-US" sz="1200" dirty="0">
                <a:latin typeface="Arial" panose="020B0604020202020204" pitchFamily="34" charset="0"/>
                <a:ea typeface="黑体-简" panose="02000000000000000000" charset="-122"/>
                <a:sym typeface="+mn-ea"/>
              </a:rPr>
              <a:t>核心业务系统</a:t>
            </a:r>
            <a:r>
              <a:rPr lang="zh-CN" altLang="en-US" sz="1200" dirty="0">
                <a:latin typeface="Arial" panose="020B0604020202020204" pitchFamily="34" charset="0"/>
                <a:ea typeface="黑体-简" panose="02000000000000000000" charset="-122"/>
              </a:rPr>
              <a:t>的</a:t>
            </a:r>
            <a:r>
              <a:rPr lang="en-US" altLang="zh-CN" sz="1200" dirty="0">
                <a:solidFill>
                  <a:srgbClr val="4C61E7"/>
                </a:solidFill>
                <a:latin typeface="Arial" panose="020B0604020202020204" pitchFamily="34" charset="0"/>
                <a:ea typeface="黑体-简" panose="02000000000000000000" charset="-122"/>
              </a:rPr>
              <a:t>{{core_system_risk_total}}</a:t>
            </a:r>
            <a:r>
              <a:rPr lang="zh-CN" altLang="en-US" sz="1200" dirty="0">
                <a:latin typeface="Arial" panose="020B0604020202020204" pitchFamily="34" charset="0"/>
                <a:ea typeface="黑体-简" panose="02000000000000000000" charset="-122"/>
              </a:rPr>
              <a:t>个安全风险，并协同闭环了</a:t>
            </a:r>
            <a:r>
              <a:rPr lang="en-US" altLang="zh-CN" sz="1200" dirty="0">
                <a:solidFill>
                  <a:srgbClr val="4C61E7"/>
                </a:solidFill>
                <a:latin typeface="Arial" panose="020B0604020202020204" pitchFamily="34" charset="0"/>
                <a:ea typeface="黑体-简" panose="02000000000000000000" charset="-122"/>
                <a:sym typeface="+mn-ea"/>
              </a:rPr>
              <a:t>{{core_system_closed_risk_count}}</a:t>
            </a:r>
            <a:r>
              <a:rPr lang="zh-CN" altLang="en-US" sz="1200" dirty="0">
                <a:latin typeface="Arial" panose="020B0604020202020204" pitchFamily="34" charset="0"/>
                <a:ea typeface="黑体-简" panose="02000000000000000000" charset="-122"/>
              </a:rPr>
              <a:t>个</a:t>
            </a:r>
            <a:r>
              <a:rPr lang="zh-CN" altLang="en-US" sz="1200" dirty="0">
                <a:latin typeface="Arial" panose="020B0604020202020204" pitchFamily="34" charset="0"/>
                <a:ea typeface="黑体-简" panose="02000000000000000000" charset="-122"/>
              </a:rPr>
              <a:t>风险；</a:t>
            </a:r>
            <a:endParaRPr lang="zh-CN" altLang="en-US" sz="1200" dirty="0">
              <a:latin typeface="Arial" panose="020B0604020202020204" pitchFamily="34" charset="0"/>
              <a:ea typeface="黑体-简" panose="02000000000000000000" charset="-122"/>
            </a:endParaRPr>
          </a:p>
          <a:p>
            <a:pPr algn="l">
              <a:lnSpc>
                <a:spcPct val="130000"/>
              </a:lnSpc>
            </a:pPr>
            <a:r>
              <a:rPr lang="zh-CN" altLang="en-US" sz="1200" dirty="0">
                <a:latin typeface="Arial" panose="020B0604020202020204" pitchFamily="34" charset="0"/>
                <a:ea typeface="黑体-简" panose="02000000000000000000" charset="-122"/>
              </a:rPr>
              <a:t>快速识别并遏制了针对</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solidFill>
                  <a:schemeClr val="tx1"/>
                </a:solidFill>
                <a:latin typeface="Arial" panose="020B0604020202020204" pitchFamily="34" charset="0"/>
                <a:ea typeface="黑体-简" panose="02000000000000000000" charset="-122"/>
                <a:sym typeface="+mn-ea"/>
              </a:rPr>
              <a:t>等</a:t>
            </a:r>
            <a:r>
              <a:rPr lang="zh-CN" altLang="en-US" sz="1200" dirty="0">
                <a:latin typeface="Arial" panose="020B0604020202020204" pitchFamily="34" charset="0"/>
                <a:ea typeface="黑体-简" panose="02000000000000000000" charset="-122"/>
                <a:sym typeface="+mn-ea"/>
              </a:rPr>
              <a:t>核心业务系统的</a:t>
            </a:r>
            <a:r>
              <a:rPr lang="en-US" altLang="zh-CN" sz="1200" dirty="0">
                <a:solidFill>
                  <a:srgbClr val="4C61E7"/>
                </a:solidFill>
                <a:latin typeface="Arial" panose="020B0604020202020204" pitchFamily="34" charset="0"/>
                <a:ea typeface="黑体-简" panose="02000000000000000000" charset="-122"/>
                <a:sym typeface="+mn-ea"/>
              </a:rPr>
              <a:t>{{core_system_threat_incident_total}}</a:t>
            </a:r>
            <a:r>
              <a:rPr lang="zh-CN" altLang="en-US" sz="1200" dirty="0">
                <a:latin typeface="Arial" panose="020B0604020202020204" pitchFamily="34" charset="0"/>
                <a:ea typeface="黑体-简" panose="02000000000000000000" charset="-122"/>
                <a:sym typeface="+mn-ea"/>
              </a:rPr>
              <a:t>次安全威胁和事件，规避了</a:t>
            </a:r>
            <a:r>
              <a:rPr lang="en-US" altLang="zh-CN" sz="1200" dirty="0">
                <a:solidFill>
                  <a:srgbClr val="4C61E7"/>
                </a:solidFill>
                <a:latin typeface="Arial" panose="020B0604020202020204" pitchFamily="34" charset="0"/>
                <a:ea typeface="黑体-简" panose="02000000000000000000" charset="-122"/>
                <a:sym typeface="+mn-ea"/>
              </a:rPr>
              <a:t>{{core_system_threat_incident_total}}</a:t>
            </a:r>
            <a:r>
              <a:rPr lang="zh-CN" altLang="en-US" sz="1200" dirty="0">
                <a:latin typeface="Arial" panose="020B0604020202020204" pitchFamily="34" charset="0"/>
                <a:ea typeface="黑体-简" panose="02000000000000000000" charset="-122"/>
                <a:sym typeface="+mn-ea"/>
              </a:rPr>
              <a:t>次潜在业务中断损失；整体上有效</a:t>
            </a:r>
            <a:r>
              <a:rPr lang="en-US" sz="1200">
                <a:latin typeface="Arial" panose="020B0604020202020204" pitchFamily="34" charset="0"/>
                <a:ea typeface="黑体-简" panose="02000000000000000000" charset="-122"/>
                <a:cs typeface="Songti SC" panose="02010800040101010101" charset="-122"/>
                <a:sym typeface="Noto Sans SC"/>
              </a:rPr>
              <a:t>保障</a:t>
            </a:r>
            <a:r>
              <a:rPr lang="zh-CN" altLang="en-US" sz="1200">
                <a:latin typeface="Arial" panose="020B0604020202020204" pitchFamily="34" charset="0"/>
                <a:ea typeface="黑体-简" panose="02000000000000000000" charset="-122"/>
                <a:cs typeface="Songti SC" panose="02010800040101010101" charset="-122"/>
                <a:sym typeface="Noto Sans SC"/>
              </a:rPr>
              <a:t>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研发/生产/</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办公</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供应链</a:t>
            </a:r>
            <a:r>
              <a:rPr lang="zh-CN" altLang="en-US" sz="1200">
                <a:latin typeface="Arial" panose="020B0604020202020204" pitchFamily="34" charset="0"/>
                <a:ea typeface="黑体-简" panose="02000000000000000000" charset="-122"/>
                <a:cs typeface="Songti SC" panose="02010800040101010101" charset="-122"/>
                <a:sym typeface="Noto Sans SC"/>
              </a:rPr>
              <a:t>等</a:t>
            </a:r>
            <a:r>
              <a:rPr lang="en-US" sz="1200">
                <a:latin typeface="Arial" panose="020B0604020202020204" pitchFamily="34" charset="0"/>
                <a:ea typeface="黑体-简" panose="02000000000000000000" charset="-122"/>
                <a:cs typeface="Songti SC" panose="02010800040101010101" charset="-122"/>
                <a:sym typeface="Noto Sans SC"/>
              </a:rPr>
              <a:t>核心</a:t>
            </a:r>
            <a:r>
              <a:rPr lang="zh-CN" altLang="en-US" sz="1200">
                <a:latin typeface="Arial" panose="020B0604020202020204" pitchFamily="34" charset="0"/>
                <a:ea typeface="黑体-简" panose="02000000000000000000" charset="-122"/>
                <a:cs typeface="Songti SC" panose="02010800040101010101" charset="-122"/>
                <a:sym typeface="Noto Sans SC"/>
              </a:rPr>
              <a:t>业务运行</a:t>
            </a:r>
            <a:r>
              <a:rPr lang="en-US" sz="1200">
                <a:latin typeface="Arial" panose="020B0604020202020204" pitchFamily="34" charset="0"/>
                <a:ea typeface="黑体-简" panose="02000000000000000000" charset="-122"/>
                <a:cs typeface="Songti SC" panose="02010800040101010101" charset="-122"/>
                <a:sym typeface="Noto Sans SC"/>
              </a:rPr>
              <a:t>顺畅</a:t>
            </a:r>
            <a:r>
              <a:rPr lang="zh-CN" altLang="en-US" sz="1200" dirty="0">
                <a:latin typeface="Arial" panose="020B0604020202020204" pitchFamily="34" charset="0"/>
                <a:ea typeface="黑体-简" panose="02000000000000000000" charset="-122"/>
              </a:rPr>
              <a:t>。</a:t>
            </a:r>
            <a:endParaRPr lang="zh-CN" altLang="en-US" sz="1200" dirty="0">
              <a:effectLst/>
              <a:latin typeface="Arial" panose="020B0604020202020204" pitchFamily="34" charset="0"/>
              <a:ea typeface="黑体-简" panose="02000000000000000000" charset="-122"/>
            </a:endParaRPr>
          </a:p>
        </p:txBody>
      </p:sp>
      <p:sp>
        <p:nvSpPr>
          <p:cNvPr id="21" name="Shape 7"/>
          <p:cNvSpPr/>
          <p:nvPr/>
        </p:nvSpPr>
        <p:spPr>
          <a:xfrm>
            <a:off x="792480" y="1809115"/>
            <a:ext cx="10607040" cy="0"/>
          </a:xfrm>
          <a:prstGeom prst="line">
            <a:avLst/>
          </a:prstGeom>
          <a:noFill/>
          <a:ln w="12700">
            <a:solidFill>
              <a:srgbClr val="E2E8F0"/>
            </a:solidFill>
            <a:prstDash val="solid"/>
          </a:ln>
        </p:spPr>
      </p:sp>
      <p:sp>
        <p:nvSpPr>
          <p:cNvPr id="22" name="Shape 8"/>
          <p:cNvSpPr/>
          <p:nvPr/>
        </p:nvSpPr>
        <p:spPr>
          <a:xfrm>
            <a:off x="793115" y="2068830"/>
            <a:ext cx="3708000" cy="3740785"/>
          </a:xfrm>
          <a:prstGeom prst="rect">
            <a:avLst/>
          </a:prstGeom>
          <a:solidFill>
            <a:srgbClr val="FFFFFF"/>
          </a:solidFill>
          <a:ln w="12700">
            <a:solidFill>
              <a:srgbClr val="DBEAFE"/>
            </a:solidFill>
            <a:prstDash val="solid"/>
          </a:ln>
          <a:effectLst>
            <a:outerShdw blurRad="50800" dist="12700" dir="8100000" algn="bl" rotWithShape="0">
              <a:srgbClr val="2563EB">
                <a:alpha val="8000"/>
              </a:srgbClr>
            </a:outerShdw>
          </a:effectLst>
        </p:spPr>
      </p:sp>
      <p:sp>
        <p:nvSpPr>
          <p:cNvPr id="23" name="Shape 9"/>
          <p:cNvSpPr/>
          <p:nvPr/>
        </p:nvSpPr>
        <p:spPr>
          <a:xfrm>
            <a:off x="793115" y="2077720"/>
            <a:ext cx="3708000" cy="36000"/>
          </a:xfrm>
          <a:prstGeom prst="rect">
            <a:avLst/>
          </a:prstGeom>
          <a:solidFill>
            <a:srgbClr val="2563EB"/>
          </a:solidFill>
        </p:spPr>
      </p:sp>
      <p:sp>
        <p:nvSpPr>
          <p:cNvPr id="122" name="矩形 121"/>
          <p:cNvSpPr/>
          <p:nvPr>
            <p:custDataLst>
              <p:tags r:id="rId7"/>
            </p:custDataLst>
          </p:nvPr>
        </p:nvSpPr>
        <p:spPr>
          <a:xfrm>
            <a:off x="854710" y="2628265"/>
            <a:ext cx="3606800" cy="3996690"/>
          </a:xfrm>
          <a:prstGeom prst="rect">
            <a:avLst/>
          </a:prstGeom>
          <a:noFill/>
        </p:spPr>
        <p:txBody>
          <a:bodyPr wrap="square" lIns="0" tIns="0" rIns="0" bIns="0" rtlCol="0" anchor="t" anchorCtr="0">
            <a:noAutofit/>
          </a:bodyPr>
          <a:lstStyle/>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主动</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风险识别：</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提前</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发现</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{security_risk_total}</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脆弱性</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风险</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；其中</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{{high_risk_exploitable_vuln_count}}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个高风险漏洞，</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{{admin_weak_pwd_num}</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高风险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弱口令</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{{latest_vuln_asset_count}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个最新漏洞风险</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资产；</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system1_risk_count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system2_risk_count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system3_risk_count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风险</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高效</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消除</a:t>
            </a:r>
            <a:r>
              <a:rPr lang="en-US" sz="1200" b="1">
                <a:latin typeface="Arial" panose="020B0604020202020204" pitchFamily="34" charset="0"/>
                <a:ea typeface="黑体-简" panose="02000000000000000000" charset="-122"/>
                <a:cs typeface="Songti SC" panose="02010800040101010101" charset="-122"/>
                <a:sym typeface="Noto Sans SC"/>
              </a:rPr>
              <a:t>隐患</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共</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闭环</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{closed_risk_total}</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，包含已防护</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{{protected_vuln_count}}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个高风险漏洞，已修复</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{{fixed_vuln_count}}</a:t>
            </a:r>
            <a:r>
              <a:rPr lang="zh-CN" altLang="en-US" sz="1200">
                <a:latin typeface="Arial" panose="020B0604020202020204" pitchFamily="34" charset="0"/>
                <a:ea typeface="黑体-简" panose="02000000000000000000" charset="-122"/>
                <a:cs typeface="Songti SC" panose="02010800040101010101" charset="-122"/>
                <a:sym typeface="Noto Sans SC" panose="020B0200000000000000" charset="-122"/>
              </a:rPr>
              <a:t>个高风险漏洞，已整改</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disposed_weak_pwd_num</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个高风险弱口令风险，已加固</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affected_latest_vuln_count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闭环了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{{system1_closed_risk_count}}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闭环了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{{system2_closed_risk_count}}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闭环了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{{system3_closed_risk_count}}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个风险</a:t>
            </a:r>
            <a:endParaRPr lang="en-US" altLang="en-US" sz="1200" dirty="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p:txBody>
      </p:sp>
      <p:sp>
        <p:nvSpPr>
          <p:cNvPr id="121" name="矩形 120"/>
          <p:cNvSpPr/>
          <p:nvPr>
            <p:custDataLst>
              <p:tags r:id="rId8"/>
            </p:custDataLst>
          </p:nvPr>
        </p:nvSpPr>
        <p:spPr>
          <a:xfrm>
            <a:off x="793115" y="2222500"/>
            <a:ext cx="3707765" cy="288290"/>
          </a:xfrm>
          <a:prstGeom prst="rect">
            <a:avLst/>
          </a:prstGeom>
          <a:noFill/>
        </p:spPr>
        <p:txBody>
          <a:bodyPr wrap="square" lIns="0" tIns="0" rIns="0" bIns="0" rtlCol="0" anchor="b">
            <a:noAutofit/>
          </a:bodyPr>
          <a:lstStyle/>
          <a:p>
            <a:pPr algn="ctr">
              <a:spcBef>
                <a:spcPct val="0"/>
              </a:spcBef>
              <a:spcAft>
                <a:spcPct val="0"/>
              </a:spcAft>
            </a:pPr>
            <a:r>
              <a:rPr lang="zh-CN" altLang="en-US" sz="2000" b="1" dirty="0">
                <a:solidFill>
                  <a:srgbClr val="2563EB"/>
                </a:solidFill>
                <a:latin typeface="Arial" panose="020B0604020202020204" pitchFamily="34" charset="0"/>
                <a:ea typeface="黑体-简" panose="02000000000000000000" charset="-122"/>
                <a:cs typeface="+mn-ea"/>
                <a:sym typeface="+mn-ea"/>
              </a:rPr>
              <a:t>风险主动预防</a:t>
            </a:r>
            <a:endParaRPr lang="zh-CN" altLang="en-US" sz="2000" b="1" dirty="0">
              <a:solidFill>
                <a:srgbClr val="2563EB"/>
              </a:solidFill>
              <a:latin typeface="Arial" panose="020B0604020202020204" pitchFamily="34" charset="0"/>
              <a:ea typeface="黑体-简" panose="02000000000000000000" charset="-122"/>
              <a:cs typeface="+mn-ea"/>
              <a:sym typeface="+mn-ea"/>
            </a:endParaRPr>
          </a:p>
        </p:txBody>
      </p:sp>
      <p:sp>
        <p:nvSpPr>
          <p:cNvPr id="6" name="Shape 8"/>
          <p:cNvSpPr/>
          <p:nvPr/>
        </p:nvSpPr>
        <p:spPr>
          <a:xfrm>
            <a:off x="7677785" y="2073275"/>
            <a:ext cx="3708000" cy="3740785"/>
          </a:xfrm>
          <a:prstGeom prst="rect">
            <a:avLst/>
          </a:prstGeom>
          <a:solidFill>
            <a:srgbClr val="FFFFFF"/>
          </a:solidFill>
          <a:ln w="12700">
            <a:solidFill>
              <a:schemeClr val="accent6">
                <a:lumMod val="20000"/>
                <a:lumOff val="80000"/>
              </a:schemeClr>
            </a:solidFill>
            <a:prstDash val="solid"/>
          </a:ln>
          <a:effectLst>
            <a:outerShdw blurRad="50800" dist="12700" dir="8100000" algn="bl" rotWithShape="0">
              <a:srgbClr val="2563EB">
                <a:alpha val="8000"/>
              </a:srgbClr>
            </a:outerShdw>
          </a:effectLst>
        </p:spPr>
      </p:sp>
      <p:sp>
        <p:nvSpPr>
          <p:cNvPr id="7" name="Shape 9"/>
          <p:cNvSpPr/>
          <p:nvPr/>
        </p:nvSpPr>
        <p:spPr>
          <a:xfrm>
            <a:off x="7677785" y="2082165"/>
            <a:ext cx="3708000" cy="36000"/>
          </a:xfrm>
          <a:prstGeom prst="rect">
            <a:avLst/>
          </a:prstGeom>
          <a:solidFill>
            <a:schemeClr val="accent6"/>
          </a:solidFill>
          <a:ln>
            <a:solidFill>
              <a:schemeClr val="accent6"/>
            </a:solidFill>
          </a:ln>
        </p:spPr>
      </p:sp>
      <p:sp>
        <p:nvSpPr>
          <p:cNvPr id="124" name="矩形 123"/>
          <p:cNvSpPr/>
          <p:nvPr>
            <p:custDataLst>
              <p:tags r:id="rId9"/>
            </p:custDataLst>
          </p:nvPr>
        </p:nvSpPr>
        <p:spPr>
          <a:xfrm>
            <a:off x="7689215" y="2171700"/>
            <a:ext cx="3693795" cy="359410"/>
          </a:xfrm>
          <a:prstGeom prst="rect">
            <a:avLst/>
          </a:prstGeom>
          <a:noFill/>
        </p:spPr>
        <p:txBody>
          <a:bodyPr wrap="square" lIns="0" tIns="0" rIns="0" bIns="0" rtlCol="0" anchor="b">
            <a:noAutofit/>
          </a:bodyPr>
          <a:lstStyle/>
          <a:p>
            <a:pPr algn="ctr">
              <a:spcBef>
                <a:spcPct val="0"/>
              </a:spcBef>
              <a:spcAft>
                <a:spcPct val="0"/>
              </a:spcAft>
            </a:pPr>
            <a:r>
              <a:rPr lang="en-US" altLang="zh-CN" sz="2000" b="1" dirty="0">
                <a:solidFill>
                  <a:srgbClr val="70AD47"/>
                </a:solidFill>
                <a:latin typeface="Heiti SC Medium" panose="02000000000000000000" charset="-122"/>
                <a:ea typeface="Heiti SC Medium" panose="02000000000000000000" charset="-122"/>
                <a:cs typeface="Heiti SC Medium" panose="02000000000000000000" charset="-122"/>
                <a:sym typeface="+mn-ea"/>
              </a:rPr>
              <a:t>7*24H</a:t>
            </a:r>
            <a:r>
              <a:rPr lang="zh-CN" altLang="en-US" sz="2000" b="1" dirty="0">
                <a:solidFill>
                  <a:srgbClr val="70AD47"/>
                </a:solidFill>
                <a:latin typeface="Heiti SC Medium" panose="02000000000000000000" charset="-122"/>
                <a:ea typeface="Heiti SC Medium" panose="02000000000000000000" charset="-122"/>
                <a:cs typeface="Heiti SC Medium" panose="02000000000000000000" charset="-122"/>
                <a:sym typeface="+mn-ea"/>
              </a:rPr>
              <a:t>威胁</a:t>
            </a:r>
            <a:r>
              <a:rPr lang="zh-CN" altLang="en-US" sz="2000" b="1" dirty="0">
                <a:solidFill>
                  <a:srgbClr val="70AD47"/>
                </a:solidFill>
                <a:latin typeface="Heiti SC Medium" panose="02000000000000000000" charset="-122"/>
                <a:ea typeface="Heiti SC Medium" panose="02000000000000000000" charset="-122"/>
                <a:cs typeface="Heiti SC Medium" panose="02000000000000000000" charset="-122"/>
                <a:sym typeface="+mn-ea"/>
              </a:rPr>
              <a:t>实时</a:t>
            </a:r>
            <a:r>
              <a:rPr lang="zh-CN" altLang="en-US" sz="2000" b="1" dirty="0">
                <a:solidFill>
                  <a:srgbClr val="70AD47"/>
                </a:solidFill>
                <a:latin typeface="Heiti SC Medium" panose="02000000000000000000" charset="-122"/>
                <a:ea typeface="Heiti SC Medium" panose="02000000000000000000" charset="-122"/>
                <a:cs typeface="Heiti SC Medium" panose="02000000000000000000" charset="-122"/>
                <a:sym typeface="+mn-ea"/>
              </a:rPr>
              <a:t>对抗</a:t>
            </a:r>
            <a:endParaRPr lang="zh-CN" altLang="en-US" sz="2000" b="1" dirty="0">
              <a:solidFill>
                <a:srgbClr val="70AD47"/>
              </a:solidFill>
              <a:latin typeface="Heiti SC Medium" panose="02000000000000000000" charset="-122"/>
              <a:ea typeface="Heiti SC Medium" panose="02000000000000000000" charset="-122"/>
              <a:cs typeface="Heiti SC Medium" panose="02000000000000000000" charset="-122"/>
              <a:sym typeface="+mn-ea"/>
            </a:endParaRPr>
          </a:p>
        </p:txBody>
      </p:sp>
      <p:sp>
        <p:nvSpPr>
          <p:cNvPr id="126" name="矩形 125"/>
          <p:cNvSpPr/>
          <p:nvPr>
            <p:custDataLst>
              <p:tags r:id="rId10"/>
            </p:custDataLst>
          </p:nvPr>
        </p:nvSpPr>
        <p:spPr>
          <a:xfrm>
            <a:off x="7738745" y="2628265"/>
            <a:ext cx="3606800" cy="3147695"/>
          </a:xfrm>
          <a:prstGeom prst="rect">
            <a:avLst/>
          </a:prstGeom>
          <a:noFill/>
        </p:spPr>
        <p:txBody>
          <a:bodyPr wrap="square" lIns="0" tIns="0" rIns="0" bIns="0" rtlCol="0" anchor="t" anchorCtr="0">
            <a:noAutofit/>
          </a:bodyPr>
          <a:lstStyle/>
          <a:p>
            <a:pPr algn="l">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安全策略调优：</a:t>
            </a:r>
            <a:r>
              <a:rPr lang="zh-CN" altLang="en-US" sz="1200">
                <a:solidFill>
                  <a:schemeClr val="tx1"/>
                </a:solidFill>
                <a:latin typeface="Heiti SC Light" panose="02000000000000000000" charset="-122"/>
                <a:ea typeface="Heiti SC Light" panose="02000000000000000000" charset="-122"/>
                <a:cs typeface="Songti SC" panose="02010800040101010101" charset="-122"/>
                <a:sym typeface="Noto Sans SC"/>
              </a:rPr>
              <a:t>主动监测策略有效性，发现并调优</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{{security_policy_optimize_num}</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项异常</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策略；</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l">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实时威胁对抗：</a:t>
            </a:r>
            <a:r>
              <a:rPr lang="en-US" sz="1200">
                <a:solidFill>
                  <a:schemeClr val="tx1"/>
                </a:solidFill>
                <a:latin typeface="Arial" panose="020B0604020202020204" pitchFamily="34" charset="0"/>
                <a:ea typeface="黑体-简" panose="02000000000000000000" charset="-122"/>
                <a:cs typeface="Arial" panose="020B0604020202020204" pitchFamily="34" charset="0"/>
                <a:sym typeface="Noto Sans SC"/>
              </a:rPr>
              <a:t>7*24H</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监测并发现</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{threat_alert_total}}</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威胁告警</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其中</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{{core_system1_threat_alert_distribution}}</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次威胁、</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{{core_system2_threat_alert_distribution}}</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次威胁、</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{{core_system3_threat_alert_distribution}}</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次威胁</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latin typeface="Arial" panose="020B0604020202020204" pitchFamily="34" charset="0"/>
                <a:ea typeface="黑体-简" panose="02000000000000000000" charset="-122"/>
                <a:cs typeface="Songti SC" panose="02010800040101010101" charset="-122"/>
                <a:sym typeface="Noto Sans SC"/>
              </a:rPr>
              <a:t>避免了黑客进一步入侵，</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平均遏制时间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{{threat_average_containment_time}</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l">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事件快速处置：</a:t>
            </a:r>
            <a:r>
              <a:rPr lang="en-US" sz="1200">
                <a:latin typeface="Arial" panose="020B0604020202020204" pitchFamily="34" charset="0"/>
                <a:ea typeface="黑体-简" panose="02000000000000000000" charset="-122"/>
                <a:cs typeface="Arial" panose="020B0604020202020204" pitchFamily="34" charset="0"/>
                <a:sym typeface="Noto Sans SC"/>
              </a:rPr>
              <a:t>7*24H</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主动发现并及时处置了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{{incident_total}}</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起安全事件，</a:t>
            </a:r>
            <a:r>
              <a:rPr lang="zh-CN" altLang="en-US" sz="1200">
                <a:latin typeface="Arial" panose="020B0604020202020204" pitchFamily="34" charset="0"/>
                <a:ea typeface="黑体-简" panose="02000000000000000000" charset="-122"/>
                <a:cs typeface="Songti SC" panose="02010800040101010101" charset="-122"/>
                <a:sym typeface="Noto Sans SC"/>
              </a:rPr>
              <a:t>避免了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{{incident_total}}</a:t>
            </a:r>
            <a:r>
              <a:rPr lang="zh-CN" altLang="en-US" sz="1200">
                <a:latin typeface="Arial" panose="020B0604020202020204" pitchFamily="34" charset="0"/>
                <a:ea typeface="黑体-简" panose="02000000000000000000" charset="-122"/>
                <a:cs typeface="Songti SC" panose="02010800040101010101" charset="-122"/>
                <a:sym typeface="Noto Sans SC"/>
              </a:rPr>
              <a:t>次业务损失；</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其中</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solidFill>
                  <a:schemeClr val="tx1"/>
                </a:solidFill>
                <a:latin typeface="Arial" panose="020B0604020202020204" pitchFamily="34" charset="0"/>
                <a:ea typeface="黑体-简" panose="02000000000000000000" charset="-122"/>
                <a:sym typeface="+mn-ea"/>
              </a:rPr>
              <a:t>等核心系统的事件</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{{core_system_incident_count}}</a:t>
            </a:r>
            <a:r>
              <a:rPr lang="zh-CN" altLang="en-US" sz="1200" dirty="0">
                <a:solidFill>
                  <a:schemeClr val="tx1"/>
                </a:solidFill>
                <a:latin typeface="Arial" panose="020B0604020202020204" pitchFamily="34" charset="0"/>
                <a:ea typeface="黑体-简" panose="02000000000000000000" charset="-122"/>
                <a:sym typeface="+mn-ea"/>
              </a:rPr>
              <a:t>次</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；事件平均响应时间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{{incident_avg_response_time}</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endPar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endParaRPr>
          </a:p>
        </p:txBody>
      </p:sp>
      <p:sp>
        <p:nvSpPr>
          <p:cNvPr id="10" name="文本框 9"/>
          <p:cNvSpPr txBox="1"/>
          <p:nvPr/>
        </p:nvSpPr>
        <p:spPr>
          <a:xfrm>
            <a:off x="5546725" y="2876550"/>
            <a:ext cx="1146175" cy="368300"/>
          </a:xfrm>
          <a:prstGeom prst="rect">
            <a:avLst/>
          </a:prstGeom>
          <a:noFill/>
        </p:spPr>
        <p:txBody>
          <a:bodyPr wrap="square" rtlCol="0" anchor="t">
            <a:spAutoFit/>
          </a:bodyPr>
          <a:p>
            <a:pPr algn="ctr"/>
            <a:r>
              <a:rPr lang="zh-CN" altLang="en-US" b="1" dirty="0">
                <a:latin typeface="Arial" panose="020B0604020202020204" pitchFamily="34" charset="0"/>
                <a:ea typeface="黑体-简" panose="02000000000000000000" charset="-122"/>
                <a:cs typeface="+mn-ea"/>
                <a:sym typeface="+mn-ea"/>
              </a:rPr>
              <a:t>保护对象</a:t>
            </a:r>
            <a:endParaRPr lang="zh-CN" altLang="en-US" b="1" dirty="0">
              <a:latin typeface="Arial" panose="020B0604020202020204" pitchFamily="34" charset="0"/>
              <a:ea typeface="黑体-简" panose="02000000000000000000" charset="-122"/>
              <a:cs typeface="+mn-ea"/>
              <a:sym typeface="+mn-ea"/>
            </a:endParaRPr>
          </a:p>
        </p:txBody>
      </p:sp>
      <p:sp>
        <p:nvSpPr>
          <p:cNvPr id="15" name="文本框 14"/>
          <p:cNvSpPr txBox="1"/>
          <p:nvPr/>
        </p:nvSpPr>
        <p:spPr>
          <a:xfrm>
            <a:off x="5279390" y="3341370"/>
            <a:ext cx="900000" cy="360000"/>
          </a:xfrm>
          <a:prstGeom prst="rect">
            <a:avLst/>
          </a:prstGeom>
          <a:noFill/>
        </p:spPr>
        <p:txBody>
          <a:bodyPr wrap="square" rtlCol="0" anchor="ctr" anchorCtr="0">
            <a:noAutofit/>
          </a:bodyPr>
          <a:p>
            <a:pPr algn="dist"/>
            <a:r>
              <a:rPr lang="zh-CN" altLang="en-US" sz="1400" dirty="0">
                <a:latin typeface="Arial" panose="020B0604020202020204" pitchFamily="34" charset="0"/>
                <a:ea typeface="黑体-简" panose="02000000000000000000" charset="-122"/>
                <a:cs typeface="Source Han Sans CN Normal" panose="020B0600000000000000" charset="-122"/>
                <a:sym typeface="+mn-ea"/>
              </a:rPr>
              <a:t>业务</a:t>
            </a:r>
            <a:r>
              <a:rPr lang="zh-CN" altLang="en-US" sz="1400" dirty="0">
                <a:latin typeface="Arial" panose="020B0604020202020204" pitchFamily="34" charset="0"/>
                <a:ea typeface="黑体-简" panose="02000000000000000000" charset="-122"/>
                <a:cs typeface="Source Han Sans CN Normal" panose="020B0600000000000000" charset="-122"/>
                <a:sym typeface="+mn-ea"/>
              </a:rPr>
              <a:t>系统</a:t>
            </a:r>
            <a:endParaRPr lang="zh-CN" altLang="en-US" sz="1400" dirty="0">
              <a:latin typeface="Arial" panose="020B0604020202020204" pitchFamily="34" charset="0"/>
              <a:ea typeface="黑体-简" panose="02000000000000000000" charset="-122"/>
              <a:cs typeface="Source Han Sans CN Normal" panose="020B0600000000000000" charset="-122"/>
              <a:sym typeface="+mn-ea"/>
            </a:endParaRPr>
          </a:p>
        </p:txBody>
      </p:sp>
      <p:sp>
        <p:nvSpPr>
          <p:cNvPr id="17" name="文本框 16"/>
          <p:cNvSpPr txBox="1"/>
          <p:nvPr/>
        </p:nvSpPr>
        <p:spPr>
          <a:xfrm>
            <a:off x="5279390" y="3786482"/>
            <a:ext cx="900000" cy="359410"/>
          </a:xfrm>
          <a:prstGeom prst="rect">
            <a:avLst/>
          </a:prstGeom>
          <a:noFill/>
        </p:spPr>
        <p:txBody>
          <a:bodyPr wrap="square" rtlCol="0" anchor="ctr" anchorCtr="0">
            <a:noAutofit/>
          </a:bodyPr>
          <a:p>
            <a:pPr algn="dist"/>
            <a:r>
              <a:rPr lang="zh-CN" altLang="en-US" sz="1400" dirty="0">
                <a:latin typeface="Arial" panose="020B0604020202020204" pitchFamily="34" charset="0"/>
                <a:ea typeface="黑体-简" panose="02000000000000000000" charset="-122"/>
                <a:cs typeface="Source Han Sans CN Normal" panose="020B0600000000000000" charset="-122"/>
                <a:sym typeface="+mn-ea"/>
              </a:rPr>
              <a:t>服务器</a:t>
            </a:r>
            <a:endParaRPr lang="zh-CN" altLang="en-US" sz="1400" dirty="0">
              <a:latin typeface="Arial" panose="020B0604020202020204" pitchFamily="34" charset="0"/>
              <a:ea typeface="黑体-简" panose="02000000000000000000" charset="-122"/>
              <a:cs typeface="Source Han Sans CN Normal" panose="020B0600000000000000" charset="-122"/>
              <a:sym typeface="+mn-ea"/>
            </a:endParaRPr>
          </a:p>
        </p:txBody>
      </p:sp>
      <p:sp>
        <p:nvSpPr>
          <p:cNvPr id="18" name="文本框 17"/>
          <p:cNvSpPr txBox="1"/>
          <p:nvPr/>
        </p:nvSpPr>
        <p:spPr>
          <a:xfrm>
            <a:off x="5279390" y="4255090"/>
            <a:ext cx="900000" cy="359410"/>
          </a:xfrm>
          <a:prstGeom prst="rect">
            <a:avLst/>
          </a:prstGeom>
          <a:noFill/>
        </p:spPr>
        <p:txBody>
          <a:bodyPr wrap="square" rtlCol="0" anchor="ctr" anchorCtr="0">
            <a:noAutofit/>
          </a:bodyPr>
          <a:p>
            <a:pPr algn="dist"/>
            <a:r>
              <a:rPr lang="zh-CN" altLang="en-US" sz="1400" dirty="0">
                <a:latin typeface="Arial" panose="020B0604020202020204" pitchFamily="34" charset="0"/>
                <a:ea typeface="黑体-简" panose="02000000000000000000" charset="-122"/>
                <a:cs typeface="Source Han Sans CN Normal" panose="020B0600000000000000" charset="-122"/>
                <a:sym typeface="+mn-ea"/>
              </a:rPr>
              <a:t>重要</a:t>
            </a:r>
            <a:r>
              <a:rPr lang="zh-CN" altLang="en-US" sz="1400" dirty="0">
                <a:latin typeface="Arial" panose="020B0604020202020204" pitchFamily="34" charset="0"/>
                <a:ea typeface="黑体-简" panose="02000000000000000000" charset="-122"/>
                <a:cs typeface="Source Han Sans CN Normal" panose="020B0600000000000000" charset="-122"/>
                <a:sym typeface="+mn-ea"/>
              </a:rPr>
              <a:t>终端</a:t>
            </a:r>
            <a:endParaRPr lang="zh-CN" altLang="en-US" sz="1400" dirty="0">
              <a:latin typeface="Arial" panose="020B0604020202020204" pitchFamily="34" charset="0"/>
              <a:ea typeface="黑体-简" panose="02000000000000000000" charset="-122"/>
              <a:cs typeface="Source Han Sans CN Normal" panose="020B0600000000000000" charset="-122"/>
              <a:sym typeface="+mn-ea"/>
            </a:endParaRPr>
          </a:p>
        </p:txBody>
      </p:sp>
      <p:sp>
        <p:nvSpPr>
          <p:cNvPr id="19" name="文本框 18"/>
          <p:cNvSpPr txBox="1"/>
          <p:nvPr/>
        </p:nvSpPr>
        <p:spPr>
          <a:xfrm>
            <a:off x="6198235" y="3368017"/>
            <a:ext cx="1584000" cy="521970"/>
          </a:xfrm>
          <a:prstGeom prst="rect">
            <a:avLst/>
          </a:prstGeom>
          <a:noFill/>
        </p:spPr>
        <p:txBody>
          <a:bodyPr wrap="square" rtlCol="0" anchor="t">
            <a:spAutoFit/>
          </a:bodyPr>
          <a:p>
            <a:pPr algn="l">
              <a:spcBef>
                <a:spcPct val="0"/>
              </a:spcBef>
              <a:spcAft>
                <a:spcPct val="0"/>
              </a:spcAft>
            </a:pP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{{business_system_count}</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p:txBody>
      </p:sp>
      <p:sp>
        <p:nvSpPr>
          <p:cNvPr id="20" name="文本框 19"/>
          <p:cNvSpPr txBox="1"/>
          <p:nvPr/>
        </p:nvSpPr>
        <p:spPr>
          <a:xfrm>
            <a:off x="6198235" y="3812835"/>
            <a:ext cx="1584000" cy="521970"/>
          </a:xfrm>
          <a:prstGeom prst="rect">
            <a:avLst/>
          </a:prstGeom>
          <a:noFill/>
        </p:spPr>
        <p:txBody>
          <a:bodyPr wrap="square" rtlCol="0" anchor="t">
            <a:spAutoFit/>
          </a:bodyPr>
          <a:p>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{{server_asset_count}</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p:txBody>
      </p:sp>
      <p:sp>
        <p:nvSpPr>
          <p:cNvPr id="24" name="文本框 23"/>
          <p:cNvSpPr txBox="1"/>
          <p:nvPr/>
        </p:nvSpPr>
        <p:spPr>
          <a:xfrm>
            <a:off x="6198235" y="4281442"/>
            <a:ext cx="1584000" cy="521970"/>
          </a:xfrm>
          <a:prstGeom prst="rect">
            <a:avLst/>
          </a:prstGeom>
          <a:noFill/>
        </p:spPr>
        <p:txBody>
          <a:bodyPr wrap="square" rtlCol="0" anchor="t">
            <a:spAutoFit/>
          </a:bodyPr>
          <a:p>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pc_asset_count</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p:txBody>
      </p:sp>
    </p:spTree>
    <p:custDataLst>
      <p:tags r:id="rId11"/>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3" name="textbox 50"/>
          <p:cNvSpPr/>
          <p:nvPr/>
        </p:nvSpPr>
        <p:spPr>
          <a:xfrm>
            <a:off x="875665" y="398208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5" name="textbox 158"/>
          <p:cNvSpPr/>
          <p:nvPr/>
        </p:nvSpPr>
        <p:spPr>
          <a:xfrm>
            <a:off x="647740" y="36781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en-US" altLang="zh-CN" sz="1900" kern="0" noProof="0" dirty="0">
                <a:solidFill>
                  <a:srgbClr val="4C61E7"/>
                </a:solidFill>
                <a:uLnTx/>
                <a:latin typeface="Arial Black" panose="020B0A04020102020204" pitchFamily="34" charset="0"/>
                <a:ea typeface="微软雅黑" panose="020B0503020204020204" charset="-122"/>
                <a:sym typeface="+mn-ea"/>
              </a:rPr>
              <a:t>7*24H</a:t>
            </a:r>
            <a:r>
              <a:rPr lang="zh-CN" altLang="en-US" sz="1900" kern="0" noProof="0" dirty="0">
                <a:solidFill>
                  <a:srgbClr val="4C61E7"/>
                </a:solidFill>
                <a:uLnTx/>
                <a:latin typeface="Arial Black" panose="020B0A04020102020204" pitchFamily="34" charset="0"/>
                <a:ea typeface="微软雅黑" panose="020B0503020204020204" charset="-122"/>
                <a:sym typeface="+mn-ea"/>
              </a:rPr>
              <a:t>威胁对抗详情</a:t>
            </a:r>
            <a:r>
              <a:rPr lang="en-US" altLang="zh-CN" sz="1900" kern="0" noProof="0" dirty="0">
                <a:solidFill>
                  <a:srgbClr val="4C61E7"/>
                </a:solidFill>
                <a:uLnTx/>
                <a:latin typeface="Arial Black" panose="020B0A04020102020204" pitchFamily="34" charset="0"/>
                <a:ea typeface="微软雅黑" panose="020B0503020204020204" charset="-122"/>
                <a:sym typeface="+mn-ea"/>
              </a:rPr>
              <a:t>-1</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86" name="textbox 50"/>
          <p:cNvSpPr/>
          <p:nvPr/>
        </p:nvSpPr>
        <p:spPr>
          <a:xfrm>
            <a:off x="3750945" y="398208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7" name="íṥlïḍê"/>
          <p:cNvSpPr txBox="1"/>
          <p:nvPr>
            <p:custDataLst>
              <p:tags r:id="rId4"/>
            </p:custDataLst>
          </p:nvPr>
        </p:nvSpPr>
        <p:spPr>
          <a:xfrm>
            <a:off x="3881755" y="406527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9" name="组合 88"/>
          <p:cNvGrpSpPr/>
          <p:nvPr/>
        </p:nvGrpSpPr>
        <p:grpSpPr>
          <a:xfrm>
            <a:off x="3627755" y="2326640"/>
            <a:ext cx="8012430" cy="1512570"/>
            <a:chOff x="12177" y="-373"/>
            <a:chExt cx="24479" cy="4764"/>
          </a:xfrm>
        </p:grpSpPr>
        <p:sp>
          <p:nvSpPr>
            <p:cNvPr id="91"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102" name="文本框 101"/>
            <p:cNvSpPr txBox="1"/>
            <p:nvPr/>
          </p:nvSpPr>
          <p:spPr>
            <a:xfrm>
              <a:off x="12749" y="207"/>
              <a:ext cx="7708" cy="407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just" rtl="0" eaLnBrk="0">
                <a:lnSpc>
                  <a:spcPct val="119000"/>
                </a:lnSpc>
                <a:spcBef>
                  <a:spcPts val="185"/>
                </a:spcBef>
                <a:buClrTx/>
                <a:buSzTx/>
                <a:buFontTx/>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文本框 103"/>
            <p:cNvSpPr txBox="1"/>
            <p:nvPr/>
          </p:nvSpPr>
          <p:spPr>
            <a:xfrm>
              <a:off x="20551" y="353"/>
              <a:ext cx="7742" cy="403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19000"/>
                </a:lnSpc>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28496" y="428"/>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08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构建</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 7</a:t>
              </a:r>
              <a:r>
                <a:rPr lang="en-US"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24</a:t>
              </a: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小时主动运营体系，实现持续监控与风险预警，及时发现并处理潜在问题，减少应急处置成本，避免业务中断损失；同时持续降低运营风险，有效支撑公司经营效率提升。</a:t>
              </a:r>
              <a:endPar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6" name="íṥlïḍê"/>
            <p:cNvSpPr txBox="1"/>
            <p:nvPr>
              <p:custDataLst>
                <p:tags r:id="rId5"/>
              </p:custDataLst>
            </p:nvPr>
          </p:nvSpPr>
          <p:spPr>
            <a:xfrm>
              <a:off x="12177" y="-373"/>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117" name="图片 116" descr="深信服 + 智安全"/>
          <p:cNvPicPr>
            <a:picLocks noChangeAspect="1"/>
          </p:cNvPicPr>
          <p:nvPr/>
        </p:nvPicPr>
        <p:blipFill>
          <a:blip r:embed="rId6"/>
          <a:srcRect l="5232" t="26576" r="4938" b="29565"/>
          <a:stretch>
            <a:fillRect/>
          </a:stretch>
        </p:blipFill>
        <p:spPr>
          <a:xfrm>
            <a:off x="10017125" y="246380"/>
            <a:ext cx="1629867" cy="360000"/>
          </a:xfrm>
          <a:prstGeom prst="rect">
            <a:avLst/>
          </a:prstGeom>
        </p:spPr>
      </p:pic>
      <p:grpSp>
        <p:nvGrpSpPr>
          <p:cNvPr id="134" name="组合 133"/>
          <p:cNvGrpSpPr/>
          <p:nvPr/>
        </p:nvGrpSpPr>
        <p:grpSpPr>
          <a:xfrm>
            <a:off x="3747770" y="1270000"/>
            <a:ext cx="1428433" cy="1080453"/>
            <a:chOff x="13504" y="5135"/>
            <a:chExt cx="4499" cy="3403"/>
          </a:xfrm>
        </p:grpSpPr>
        <p:sp>
          <p:nvSpPr>
            <p:cNvPr id="135" name="文本框 134"/>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7" name="文本框 136"/>
            <p:cNvSpPr txBox="1"/>
            <p:nvPr/>
          </p:nvSpPr>
          <p:spPr>
            <a:xfrm>
              <a:off x="13504" y="7971"/>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38" name="图片 137" descr="警示"/>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5187" y="5135"/>
              <a:ext cx="1134" cy="1134"/>
            </a:xfrm>
            <a:prstGeom prst="rect">
              <a:avLst/>
            </a:prstGeom>
          </p:spPr>
        </p:pic>
      </p:grpSp>
      <p:grpSp>
        <p:nvGrpSpPr>
          <p:cNvPr id="139" name="组合 138"/>
          <p:cNvGrpSpPr/>
          <p:nvPr/>
        </p:nvGrpSpPr>
        <p:grpSpPr>
          <a:xfrm>
            <a:off x="5424805" y="1270000"/>
            <a:ext cx="2378075" cy="1058863"/>
            <a:chOff x="17104" y="5135"/>
            <a:chExt cx="7490" cy="3335"/>
          </a:xfrm>
        </p:grpSpPr>
        <p:pic>
          <p:nvPicPr>
            <p:cNvPr id="140" name="图片 139" descr="极速响应"/>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0219" y="5135"/>
              <a:ext cx="1134" cy="1134"/>
            </a:xfrm>
            <a:prstGeom prst="rect">
              <a:avLst/>
            </a:prstGeom>
          </p:spPr>
        </p:pic>
        <p:sp>
          <p:nvSpPr>
            <p:cNvPr id="141" name="文本框 1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2" name="文本框 141"/>
            <p:cNvSpPr txBox="1"/>
            <p:nvPr/>
          </p:nvSpPr>
          <p:spPr>
            <a:xfrm>
              <a:off x="17104" y="7187"/>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{{average_response_time}}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3" name="文本框 142"/>
            <p:cNvSpPr txBox="1"/>
            <p:nvPr/>
          </p:nvSpPr>
          <p:spPr>
            <a:xfrm>
              <a:off x="18604" y="7903"/>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44" name="组合 143"/>
          <p:cNvGrpSpPr/>
          <p:nvPr/>
        </p:nvGrpSpPr>
        <p:grpSpPr>
          <a:xfrm>
            <a:off x="7813040" y="1280795"/>
            <a:ext cx="1869440" cy="1021081"/>
            <a:chOff x="22605" y="5162"/>
            <a:chExt cx="5888" cy="3216"/>
          </a:xfrm>
        </p:grpSpPr>
        <p:sp>
          <p:nvSpPr>
            <p:cNvPr id="145" name="文本框 1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6" name="文本框 145"/>
            <p:cNvSpPr txBox="1"/>
            <p:nvPr/>
          </p:nvSpPr>
          <p:spPr>
            <a:xfrm>
              <a:off x="22605" y="7178"/>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{{average_resolution_</a:t>
              </a: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duration}}</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7" name="文本框 146"/>
            <p:cNvSpPr txBox="1"/>
            <p:nvPr/>
          </p:nvSpPr>
          <p:spPr>
            <a:xfrm>
              <a:off x="23235" y="7811"/>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48" name="图片 147" descr="打印机"/>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4918" y="5162"/>
              <a:ext cx="1134" cy="1134"/>
            </a:xfrm>
            <a:prstGeom prst="rect">
              <a:avLst/>
            </a:prstGeom>
          </p:spPr>
        </p:pic>
      </p:grpSp>
      <p:grpSp>
        <p:nvGrpSpPr>
          <p:cNvPr id="149" name="组合 148"/>
          <p:cNvGrpSpPr/>
          <p:nvPr/>
        </p:nvGrpSpPr>
        <p:grpSpPr>
          <a:xfrm>
            <a:off x="9702405" y="1280795"/>
            <a:ext cx="2310913" cy="1048068"/>
            <a:chOff x="29119" y="5135"/>
            <a:chExt cx="7272" cy="3301"/>
          </a:xfrm>
        </p:grpSpPr>
        <p:pic>
          <p:nvPicPr>
            <p:cNvPr id="150" name="图片 149" descr="招标结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2200" y="5135"/>
              <a:ext cx="1134" cy="1134"/>
            </a:xfrm>
            <a:prstGeom prst="rect">
              <a:avLst/>
            </a:prstGeom>
          </p:spPr>
        </p:pic>
        <p:sp>
          <p:nvSpPr>
            <p:cNvPr id="151" name="文本框 150"/>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2" name="文本框 151"/>
            <p:cNvSpPr txBox="1"/>
            <p:nvPr/>
          </p:nvSpPr>
          <p:spPr>
            <a:xfrm>
              <a:off x="29119" y="7167"/>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{{event_closed_loop_rate}}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53" name="文本框 152"/>
            <p:cNvSpPr txBox="1"/>
            <p:nvPr/>
          </p:nvSpPr>
          <p:spPr>
            <a:xfrm>
              <a:off x="30517" y="7869"/>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154" name="图表 153" descr="7b0a202020202263686172745265734964223a20223230343736383734220a7d0a"/>
          <p:cNvGraphicFramePr/>
          <p:nvPr/>
        </p:nvGraphicFramePr>
        <p:xfrm>
          <a:off x="941070" y="4453255"/>
          <a:ext cx="2476500" cy="1846580"/>
        </p:xfrm>
        <a:graphic>
          <a:graphicData uri="http://schemas.openxmlformats.org/drawingml/2006/chart">
            <c:chart xmlns:c="http://schemas.openxmlformats.org/drawingml/2006/chart" xmlns:r="http://schemas.openxmlformats.org/officeDocument/2006/relationships" r:id="rId1"/>
          </a:graphicData>
        </a:graphic>
      </p:graphicFrame>
      <p:sp>
        <p:nvSpPr>
          <p:cNvPr id="155" name="文本框 154"/>
          <p:cNvSpPr txBox="1"/>
          <p:nvPr/>
        </p:nvSpPr>
        <p:spPr>
          <a:xfrm>
            <a:off x="1062990" y="401637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0" name="文本框 159"/>
          <p:cNvSpPr txBox="1"/>
          <p:nvPr/>
        </p:nvSpPr>
        <p:spPr>
          <a:xfrm>
            <a:off x="798830" y="4307840"/>
            <a:ext cx="1256665" cy="368300"/>
          </a:xfrm>
          <a:prstGeom prst="rect">
            <a:avLst/>
          </a:prstGeom>
          <a:noFill/>
        </p:spPr>
        <p:txBody>
          <a:bodyPr wrap="square" rtlCol="0" anchor="t">
            <a:spAutoFit/>
          </a:bodyPr>
          <a:p>
            <a:r>
              <a:rPr lang="zh-CN" altLang="en-US">
                <a:sym typeface="+mn-ea"/>
              </a:rPr>
              <a:t>{{</a:t>
            </a:r>
            <a:r>
              <a:rPr lang="en-US" altLang="zh-CN">
                <a:sym typeface="+mn-ea"/>
              </a:rPr>
              <a:t>P27_pie}</a:t>
            </a:r>
            <a:r>
              <a:rPr lang="zh-CN" altLang="en-US">
                <a:sym typeface="+mn-ea"/>
              </a:rPr>
              <a:t>}</a:t>
            </a:r>
            <a:endParaRPr lang="zh-CN" altLang="en-US">
              <a:sym typeface="+mn-ea"/>
            </a:endParaRPr>
          </a:p>
        </p:txBody>
      </p:sp>
      <p:graphicFrame>
        <p:nvGraphicFramePr>
          <p:cNvPr id="4" name="图表 3"/>
          <p:cNvGraphicFramePr/>
          <p:nvPr/>
        </p:nvGraphicFramePr>
        <p:xfrm>
          <a:off x="3782695" y="4467225"/>
          <a:ext cx="2948305" cy="184594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15"/>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平均响应趋势（分钟）</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7" name="textbox 48"/>
          <p:cNvSpPr/>
          <p:nvPr/>
        </p:nvSpPr>
        <p:spPr>
          <a:xfrm>
            <a:off x="875665" y="1275715"/>
            <a:ext cx="2745105" cy="2520315"/>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94107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多级安全响应流程</a:t>
            </a:r>
            <a:endPar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16"/>
            </p:custDataLst>
          </p:nvPr>
        </p:nvGrpSpPr>
        <p:grpSpPr>
          <a:xfrm>
            <a:off x="959480" y="1726109"/>
            <a:ext cx="2561008" cy="403783"/>
            <a:chOff x="3275" y="5404"/>
            <a:chExt cx="8112" cy="1279"/>
          </a:xfrm>
        </p:grpSpPr>
        <p:sp>
          <p:nvSpPr>
            <p:cNvPr id="69" name="圆角矩形 14"/>
            <p:cNvSpPr/>
            <p:nvPr>
              <p:custDataLst>
                <p:tags r:id="rId17"/>
              </p:custDataLst>
            </p:nvPr>
          </p:nvSpPr>
          <p:spPr>
            <a:xfrm>
              <a:off x="3275" y="5498"/>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L1</a:t>
              </a:r>
              <a:r>
                <a:rPr lang="en-US"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spc="10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自动检测</a:t>
              </a:r>
              <a:endParaRPr sz="1000" b="1" dirty="0">
                <a:latin typeface="Arial" panose="020B0604020202020204" pitchFamily="34" charset="0"/>
                <a:ea typeface="黑体-简" panose="02000000000000000000"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7*24小时智能检测，平均检出时间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18"/>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9"/>
            </p:custDataLst>
          </p:nvPr>
        </p:nvGrpSpPr>
        <p:grpSpPr>
          <a:xfrm>
            <a:off x="958533" y="2248780"/>
            <a:ext cx="2561008" cy="408341"/>
            <a:chOff x="3275" y="7389"/>
            <a:chExt cx="8112" cy="1293"/>
          </a:xfrm>
        </p:grpSpPr>
        <p:sp>
          <p:nvSpPr>
            <p:cNvPr id="72" name="圆角矩形 14"/>
            <p:cNvSpPr/>
            <p:nvPr>
              <p:custDataLst>
                <p:tags r:id="rId20"/>
              </p:custDataLst>
            </p:nvPr>
          </p:nvSpPr>
          <p:spPr>
            <a:xfrm>
              <a:off x="3275" y="7497"/>
              <a:ext cx="8112"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L2</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专家分析</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专家研判分析，平</a:t>
              </a: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均响应时间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3" name="圆角矩形 72"/>
            <p:cNvSpPr/>
            <p:nvPr>
              <p:custDataLst>
                <p:tags r:id="rId21"/>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22"/>
            </p:custDataLst>
          </p:nvPr>
        </p:nvGrpSpPr>
        <p:grpSpPr>
          <a:xfrm>
            <a:off x="959480" y="2776166"/>
            <a:ext cx="2561008" cy="402818"/>
            <a:chOff x="3275" y="9388"/>
            <a:chExt cx="8112" cy="1276"/>
          </a:xfrm>
        </p:grpSpPr>
        <p:sp>
          <p:nvSpPr>
            <p:cNvPr id="78" name="圆角矩形 14"/>
            <p:cNvSpPr/>
            <p:nvPr>
              <p:custDataLst>
                <p:tags r:id="rId23"/>
              </p:custDataLst>
            </p:nvPr>
          </p:nvSpPr>
          <p:spPr>
            <a:xfrm>
              <a:off x="3275" y="9479"/>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L3</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应急处置</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制定处置方案，平均处置时间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2小时</a:t>
              </a:r>
              <a:endParaRPr lang="zh-CN" alt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0" name="圆角矩形 79"/>
            <p:cNvSpPr/>
            <p:nvPr>
              <p:custDataLst>
                <p:tags r:id="rId24"/>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25"/>
            </p:custDataLst>
          </p:nvPr>
        </p:nvGrpSpPr>
        <p:grpSpPr>
          <a:xfrm>
            <a:off x="958533" y="3297892"/>
            <a:ext cx="2561008" cy="378960"/>
            <a:chOff x="3275" y="11370"/>
            <a:chExt cx="8112" cy="1200"/>
          </a:xfrm>
        </p:grpSpPr>
        <p:sp>
          <p:nvSpPr>
            <p:cNvPr id="84" name="圆角矩形 14"/>
            <p:cNvSpPr/>
            <p:nvPr>
              <p:custDataLst>
                <p:tags r:id="rId26"/>
              </p:custDataLst>
            </p:nvPr>
          </p:nvSpPr>
          <p:spPr>
            <a:xfrm>
              <a:off x="3275" y="11442"/>
              <a:ext cx="8112"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L4</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闭环验证</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endParaRPr sz="1000" b="1" dirty="0">
                <a:latin typeface="Arial" panose="020B0604020202020204" pitchFamily="34" charset="0"/>
                <a:ea typeface="黑体-简" panose="02000000000000000000"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处置效果验证，平均闭环时间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lang="en-US"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24</a:t>
              </a:r>
              <a:r>
                <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小时</a:t>
              </a:r>
              <a:endPar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8" name="圆角矩形 87"/>
            <p:cNvSpPr/>
            <p:nvPr>
              <p:custDataLst>
                <p:tags r:id="rId27"/>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sp>
        <p:nvSpPr>
          <p:cNvPr id="8" name="文本框 7"/>
          <p:cNvSpPr txBox="1"/>
          <p:nvPr/>
        </p:nvSpPr>
        <p:spPr>
          <a:xfrm>
            <a:off x="3449955" y="1911985"/>
            <a:ext cx="2005965" cy="324485"/>
          </a:xfrm>
          <a:prstGeom prst="rect">
            <a:avLst/>
          </a:prstGeom>
          <a:noFill/>
        </p:spPr>
        <p:txBody>
          <a:bodyPr wrap="square" rtlCol="0" anchor="t">
            <a:spAutoFit/>
          </a:bodyPr>
          <a:p>
            <a:pPr marL="0" algn="ctr" rtl="0" eaLnBrk="0">
              <a:lnSpc>
                <a:spcPct val="76000"/>
              </a:lnSpc>
              <a:spcBef>
                <a:spcPts val="520"/>
              </a:spcBef>
            </a:pPr>
            <a:r>
              <a:rPr lang="en-US" sz="2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{{incident_total}}</a:t>
            </a:r>
            <a:endParaRPr lang="en-US" sz="2000" dirty="0">
              <a:solidFill>
                <a:srgbClr val="365FD9"/>
              </a:solidFill>
              <a:latin typeface="Arial" panose="020B0604020202020204" pitchFamily="34" charset="0"/>
              <a:ea typeface="黑体-简" panose="02000000000000000000" charset="-122"/>
              <a:cs typeface="微软雅黑" panose="020B0503020204020204" pitchFamily="34" charset="-120"/>
              <a:sym typeface="+mn-ea"/>
            </a:endParaRPr>
          </a:p>
        </p:txBody>
      </p:sp>
      <p:sp>
        <p:nvSpPr>
          <p:cNvPr id="159" name="文本框 158"/>
          <p:cNvSpPr txBox="1"/>
          <p:nvPr/>
        </p:nvSpPr>
        <p:spPr>
          <a:xfrm>
            <a:off x="4141470" y="4453255"/>
            <a:ext cx="1506855" cy="368300"/>
          </a:xfrm>
          <a:prstGeom prst="rect">
            <a:avLst/>
          </a:prstGeom>
          <a:noFill/>
        </p:spPr>
        <p:txBody>
          <a:bodyPr wrap="square" rtlCol="0" anchor="t">
            <a:spAutoFit/>
          </a:bodyPr>
          <a:p>
            <a:r>
              <a:rPr lang="zh-CN" altLang="en-US">
                <a:sym typeface="+mn-ea"/>
              </a:rPr>
              <a:t>{{</a:t>
            </a:r>
            <a:r>
              <a:rPr lang="en-US" altLang="zh-CN">
                <a:sym typeface="+mn-ea"/>
              </a:rPr>
              <a:t>P27_bar}</a:t>
            </a:r>
            <a:r>
              <a:rPr lang="zh-CN" altLang="en-US">
                <a:sym typeface="+mn-ea"/>
              </a:rPr>
              <a:t>}</a:t>
            </a:r>
            <a:endParaRPr lang="zh-CN" altLang="en-US">
              <a:sym typeface="+mn-ea"/>
            </a:endParaRPr>
          </a:p>
        </p:txBody>
      </p:sp>
      <p:sp>
        <p:nvSpPr>
          <p:cNvPr id="10" name="文本框 9"/>
          <p:cNvSpPr txBox="1"/>
          <p:nvPr/>
        </p:nvSpPr>
        <p:spPr>
          <a:xfrm>
            <a:off x="10146665" y="4821555"/>
            <a:ext cx="1506855" cy="368300"/>
          </a:xfrm>
          <a:prstGeom prst="rect">
            <a:avLst/>
          </a:prstGeom>
          <a:noFill/>
        </p:spPr>
        <p:txBody>
          <a:bodyPr wrap="square" rtlCol="0" anchor="t">
            <a:spAutoFit/>
          </a:bodyPr>
          <a:p>
            <a:r>
              <a:rPr lang="zh-CN" altLang="en-US">
                <a:sym typeface="+mn-ea"/>
              </a:rPr>
              <a:t>{{</a:t>
            </a:r>
            <a:r>
              <a:rPr lang="en-US" altLang="zh-CN">
                <a:sym typeface="+mn-ea"/>
              </a:rPr>
              <a:t>P27_line</a:t>
            </a:r>
            <a:r>
              <a:rPr lang="en-US" altLang="zh-CN">
                <a:sym typeface="+mn-ea"/>
              </a:rPr>
              <a:t>}</a:t>
            </a:r>
            <a:r>
              <a:rPr lang="zh-CN" altLang="en-US">
                <a:sym typeface="+mn-ea"/>
              </a:rPr>
              <a:t>}</a:t>
            </a:r>
            <a:endParaRPr lang="zh-CN" altLang="en-US">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6"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en-US" altLang="zh-CN" sz="1900" kern="0" noProof="0" dirty="0">
                <a:solidFill>
                  <a:srgbClr val="4C61E7"/>
                </a:solidFill>
                <a:uLnTx/>
                <a:latin typeface="Arial Black" panose="020B0A04020102020204" pitchFamily="34" charset="0"/>
                <a:ea typeface="微软雅黑" panose="020B0503020204020204" charset="-122"/>
                <a:sym typeface="+mn-ea"/>
              </a:rPr>
              <a:t>7*24H</a:t>
            </a:r>
            <a:r>
              <a:rPr lang="zh-CN" altLang="en-US" sz="1900" kern="0" noProof="0" dirty="0">
                <a:solidFill>
                  <a:srgbClr val="4C61E7"/>
                </a:solidFill>
                <a:uLnTx/>
                <a:latin typeface="Arial Black" panose="020B0A04020102020204" pitchFamily="34" charset="0"/>
                <a:ea typeface="微软雅黑" panose="020B0503020204020204" charset="-122"/>
                <a:sym typeface="+mn-ea"/>
              </a:rPr>
              <a:t>威胁对抗详情</a:t>
            </a:r>
            <a:r>
              <a:rPr lang="en-US" altLang="zh-CN" sz="1900" kern="0" noProof="0" dirty="0">
                <a:solidFill>
                  <a:srgbClr val="4C61E7"/>
                </a:solidFill>
                <a:uLnTx/>
                <a:latin typeface="Arial Black" panose="020B0A04020102020204" pitchFamily="34" charset="0"/>
                <a:ea typeface="微软雅黑" panose="020B0503020204020204" charset="-122"/>
                <a:sym typeface="+mn-ea"/>
              </a:rPr>
              <a:t>-2</a:t>
            </a:r>
            <a:endParaRPr sz="1900" dirty="0">
              <a:latin typeface="Arial Black" panose="020B0A04020102020204" pitchFamily="34" charset="0"/>
              <a:ea typeface="微软雅黑" panose="020B0503020204020204" charset="-122"/>
              <a:cs typeface="黑体" panose="02010609060101010101" charset="-122"/>
            </a:endParaRPr>
          </a:p>
          <a:p>
            <a:pPr marL="15875" algn="l" rtl="0" eaLnBrk="0">
              <a:lnSpc>
                <a:spcPct val="98000"/>
              </a:lnSpc>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7" name="组合 6"/>
          <p:cNvGrpSpPr/>
          <p:nvPr/>
        </p:nvGrpSpPr>
        <p:grpSpPr>
          <a:xfrm>
            <a:off x="648335" y="4287520"/>
            <a:ext cx="10918825" cy="1179024"/>
            <a:chOff x="2042" y="13744"/>
            <a:chExt cx="34390" cy="3714"/>
          </a:xfrm>
        </p:grpSpPr>
        <p:sp>
          <p:nvSpPr>
            <p:cNvPr id="8"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4" name="图表 23"/>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30" name="文本框 29"/>
          <p:cNvSpPr txBox="1"/>
          <p:nvPr/>
        </p:nvSpPr>
        <p:spPr>
          <a:xfrm>
            <a:off x="57594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3" name="文本框 32"/>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4" name="íṥlïḍê"/>
          <p:cNvSpPr txBox="1"/>
          <p:nvPr>
            <p:custDataLst>
              <p:tags r:id="rId6"/>
            </p:custDataLst>
          </p:nvPr>
        </p:nvSpPr>
        <p:spPr>
          <a:xfrm>
            <a:off x="982980" y="174498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6"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7" name="文本框 36"/>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9" name="文本框 38"/>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0"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41" name="文本框 40"/>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42" name="图表 41"/>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43" name="文本框 42"/>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4" name="文本框 43"/>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45" name="图表 44"/>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6" name="图表 45"/>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47" name="文本框 46"/>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48" name="图片 47" descr="1755071818846"/>
          <p:cNvPicPr>
            <a:picLocks noChangeAspect="1"/>
          </p:cNvPicPr>
          <p:nvPr/>
        </p:nvPicPr>
        <p:blipFill>
          <a:blip r:embed="rId9"/>
          <a:stretch>
            <a:fillRect/>
          </a:stretch>
        </p:blipFill>
        <p:spPr>
          <a:xfrm>
            <a:off x="630873" y="5719763"/>
            <a:ext cx="10940415" cy="801688"/>
          </a:xfrm>
          <a:prstGeom prst="rect">
            <a:avLst/>
          </a:prstGeom>
        </p:spPr>
      </p:pic>
      <p:sp>
        <p:nvSpPr>
          <p:cNvPr id="49" name="文本框 48"/>
          <p:cNvSpPr txBox="1"/>
          <p:nvPr/>
        </p:nvSpPr>
        <p:spPr>
          <a:xfrm>
            <a:off x="594043" y="550418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758190" y="5788025"/>
            <a:ext cx="3376930"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297680" y="5782310"/>
            <a:ext cx="3564890"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2" name="文本框 51"/>
          <p:cNvSpPr txBox="1"/>
          <p:nvPr/>
        </p:nvSpPr>
        <p:spPr>
          <a:xfrm>
            <a:off x="8025765" y="5796280"/>
            <a:ext cx="346075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3" name="图片 52"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54" name="文本框 53"/>
          <p:cNvSpPr txBox="1"/>
          <p:nvPr/>
        </p:nvSpPr>
        <p:spPr>
          <a:xfrm>
            <a:off x="7740650" y="1530985"/>
            <a:ext cx="3817620" cy="2458085"/>
          </a:xfrm>
          <a:prstGeom prst="rect">
            <a:avLst/>
          </a:prstGeom>
          <a:noFill/>
        </p:spPr>
        <p:txBody>
          <a:bodyPr wrap="square" rtlCol="0" anchor="t">
            <a:noAutofit/>
          </a:bodyPr>
          <a:p>
            <a:pPr algn="just"/>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5" name="文本框 54"/>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P28_line</a:t>
            </a:r>
            <a:r>
              <a:rPr lang="zh-CN" altLang="en-US" sz="800">
                <a:sym typeface="+mn-ea"/>
              </a:rPr>
              <a:t>}}</a:t>
            </a:r>
            <a:endParaRPr lang="zh-CN" altLang="en-US" sz="800">
              <a:sym typeface="+mn-ea"/>
            </a:endParaRPr>
          </a:p>
        </p:txBody>
      </p:sp>
      <p:sp>
        <p:nvSpPr>
          <p:cNvPr id="56" name="文本框 55"/>
          <p:cNvSpPr txBox="1"/>
          <p:nvPr/>
        </p:nvSpPr>
        <p:spPr>
          <a:xfrm>
            <a:off x="4135120" y="1016635"/>
            <a:ext cx="853440" cy="213995"/>
          </a:xfrm>
          <a:prstGeom prst="rect">
            <a:avLst/>
          </a:prstGeom>
          <a:noFill/>
        </p:spPr>
        <p:txBody>
          <a:bodyPr wrap="square" rtlCol="0" anchor="t">
            <a:spAutoFit/>
          </a:bodyPr>
          <a:p>
            <a:r>
              <a:rPr lang="zh-CN" altLang="en-US" sz="800">
                <a:sym typeface="+mn-ea"/>
              </a:rPr>
              <a:t>{{</a:t>
            </a:r>
            <a:r>
              <a:rPr lang="en-US" altLang="zh-CN" sz="800">
                <a:sym typeface="+mn-ea"/>
              </a:rPr>
              <a:t>P28_pie_1</a:t>
            </a:r>
            <a:r>
              <a:rPr lang="zh-CN" altLang="en-US" sz="800">
                <a:sym typeface="+mn-ea"/>
              </a:rPr>
              <a:t>}}</a:t>
            </a:r>
            <a:endParaRPr lang="zh-CN" altLang="en-US" sz="800">
              <a:sym typeface="+mn-ea"/>
            </a:endParaRPr>
          </a:p>
        </p:txBody>
      </p:sp>
      <p:sp>
        <p:nvSpPr>
          <p:cNvPr id="57" name="文本框 56"/>
          <p:cNvSpPr txBox="1"/>
          <p:nvPr/>
        </p:nvSpPr>
        <p:spPr>
          <a:xfrm>
            <a:off x="6163310" y="982980"/>
            <a:ext cx="876935" cy="213995"/>
          </a:xfrm>
          <a:prstGeom prst="rect">
            <a:avLst/>
          </a:prstGeom>
          <a:noFill/>
        </p:spPr>
        <p:txBody>
          <a:bodyPr wrap="square" rtlCol="0" anchor="t">
            <a:spAutoFit/>
          </a:bodyPr>
          <a:p>
            <a:r>
              <a:rPr lang="zh-CN" altLang="en-US" sz="800">
                <a:sym typeface="+mn-ea"/>
              </a:rPr>
              <a:t>{{</a:t>
            </a:r>
            <a:r>
              <a:rPr lang="en-US" altLang="zh-CN" sz="800">
                <a:sym typeface="+mn-ea"/>
              </a:rPr>
              <a:t>P28_pie_2</a:t>
            </a:r>
            <a:r>
              <a:rPr lang="zh-CN" altLang="en-US" sz="800">
                <a:sym typeface="+mn-ea"/>
              </a:rPr>
              <a:t>}}</a:t>
            </a:r>
            <a:endParaRPr lang="zh-CN" altLang="en-US" sz="800">
              <a:sym typeface="+mn-ea"/>
            </a:endParaRPr>
          </a:p>
        </p:txBody>
      </p:sp>
      <p:sp>
        <p:nvSpPr>
          <p:cNvPr id="58" name="文本框 57"/>
          <p:cNvSpPr txBox="1"/>
          <p:nvPr/>
        </p:nvSpPr>
        <p:spPr>
          <a:xfrm>
            <a:off x="6767195" y="3022600"/>
            <a:ext cx="876935" cy="213995"/>
          </a:xfrm>
          <a:prstGeom prst="rect">
            <a:avLst/>
          </a:prstGeom>
          <a:noFill/>
        </p:spPr>
        <p:txBody>
          <a:bodyPr wrap="square" rtlCol="0" anchor="t">
            <a:spAutoFit/>
          </a:bodyPr>
          <a:p>
            <a:r>
              <a:rPr lang="zh-CN" altLang="en-US" sz="800">
                <a:sym typeface="+mn-ea"/>
              </a:rPr>
              <a:t>{{</a:t>
            </a:r>
            <a:r>
              <a:rPr lang="en-US" altLang="zh-CN" sz="800">
                <a:sym typeface="+mn-ea"/>
              </a:rPr>
              <a:t>P28_bar</a:t>
            </a:r>
            <a:r>
              <a:rPr lang="zh-CN" altLang="en-US" sz="800">
                <a:sym typeface="+mn-ea"/>
              </a:rPr>
              <a:t>}}</a:t>
            </a:r>
            <a:endParaRPr lang="zh-CN" altLang="en-US" sz="800">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pitchFamily="34" charset="0"/>
              <a:ea typeface="黑体-简" panose="02000000000000000000" charset="-122"/>
              <a:cs typeface="Arial" panose="020B0604020202020204"/>
            </a:endParaRPr>
          </a:p>
          <a:p>
            <a:pPr algn="l" rtl="0" eaLnBrk="0">
              <a:lnSpc>
                <a:spcPct val="101000"/>
              </a:lnSpc>
            </a:pPr>
            <a:r>
              <a:rPr lang="zh-CN" altLang="en-US" sz="1900" dirty="0">
                <a:solidFill>
                  <a:srgbClr val="4C61E7"/>
                </a:solidFill>
                <a:latin typeface="Arial" panose="020B0604020202020204" pitchFamily="34" charset="0"/>
                <a:ea typeface="黑体-简" panose="02000000000000000000" charset="-122"/>
                <a:cs typeface="黑体" panose="02010609060101010101" charset="-122"/>
              </a:rPr>
              <a:t>风险预防工作详情</a:t>
            </a:r>
            <a:endParaRPr lang="zh-CN" altLang="en-US" sz="1900" dirty="0">
              <a:solidFill>
                <a:srgbClr val="4C61E7"/>
              </a:solidFill>
              <a:latin typeface="Arial" panose="020B0604020202020204" pitchFamily="34" charset="0"/>
              <a:ea typeface="黑体-简" panose="02000000000000000000" charset="-122"/>
              <a:cs typeface="黑体" panose="02010609060101010101" charset="-122"/>
            </a:endParaRPr>
          </a:p>
          <a:p>
            <a:pPr algn="l" rtl="0" eaLnBrk="0">
              <a:lnSpc>
                <a:spcPct val="101000"/>
              </a:lnSpc>
            </a:pPr>
            <a:endParaRPr sz="800" dirty="0">
              <a:latin typeface="Arial" panose="020B0604020202020204" pitchFamily="34" charset="0"/>
              <a:ea typeface="黑体-简" panose="02000000000000000000" charset="-122"/>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rPr>
              <a:t>持续治理业务脆弱性，防范风险于未然</a:t>
            </a:r>
            <a:endPar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漏洞优先级梳理</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3"/>
            </p:custDataLst>
          </p:nvPr>
        </p:nvGrpSpPr>
        <p:grpSpPr>
          <a:xfrm>
            <a:off x="759127" y="1745375"/>
            <a:ext cx="2744509" cy="399474"/>
            <a:chOff x="3275" y="5404"/>
            <a:chExt cx="8787" cy="1279"/>
          </a:xfrm>
        </p:grpSpPr>
        <p:sp>
          <p:nvSpPr>
            <p:cNvPr id="69" name="圆角矩形 14"/>
            <p:cNvSpPr/>
            <p:nvPr>
              <p:custDataLst>
                <p:tags r:id="rId4"/>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5"/>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6"/>
            </p:custDataLst>
          </p:nvPr>
        </p:nvGrpSpPr>
        <p:grpSpPr>
          <a:xfrm>
            <a:off x="758190" y="2262469"/>
            <a:ext cx="2744509" cy="403984"/>
            <a:chOff x="3275" y="7389"/>
            <a:chExt cx="8787" cy="1293"/>
          </a:xfrm>
        </p:grpSpPr>
        <p:sp>
          <p:nvSpPr>
            <p:cNvPr id="72" name="圆角矩形 14"/>
            <p:cNvSpPr/>
            <p:nvPr>
              <p:custDataLst>
                <p:tags r:id="rId7"/>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73" name="圆角矩形 72"/>
            <p:cNvSpPr/>
            <p:nvPr>
              <p:custDataLst>
                <p:tags r:id="rId8"/>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9"/>
            </p:custDataLst>
          </p:nvPr>
        </p:nvGrpSpPr>
        <p:grpSpPr>
          <a:xfrm>
            <a:off x="759127" y="2784227"/>
            <a:ext cx="2744509" cy="398520"/>
            <a:chOff x="3275" y="9388"/>
            <a:chExt cx="8787" cy="1276"/>
          </a:xfrm>
        </p:grpSpPr>
        <p:sp>
          <p:nvSpPr>
            <p:cNvPr id="78" name="圆角矩形 14"/>
            <p:cNvSpPr/>
            <p:nvPr>
              <p:custDataLst>
                <p:tags r:id="rId10"/>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0" name="圆角矩形 79"/>
            <p:cNvSpPr/>
            <p:nvPr>
              <p:custDataLst>
                <p:tags r:id="rId11"/>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2"/>
            </p:custDataLst>
          </p:nvPr>
        </p:nvGrpSpPr>
        <p:grpSpPr>
          <a:xfrm>
            <a:off x="758190" y="3300387"/>
            <a:ext cx="2744509" cy="374916"/>
            <a:chOff x="3275" y="11370"/>
            <a:chExt cx="8787" cy="1200"/>
          </a:xfrm>
        </p:grpSpPr>
        <p:sp>
          <p:nvSpPr>
            <p:cNvPr id="84" name="圆角矩形 14"/>
            <p:cNvSpPr/>
            <p:nvPr>
              <p:custDataLst>
                <p:tags r:id="rId13"/>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关联威胁监测，无法修复的漏洞一旦发生被利用可快速发现和遏制</a:t>
              </a:r>
              <a:endPar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8" name="圆角矩形 87"/>
            <p:cNvSpPr/>
            <p:nvPr>
              <p:custDataLst>
                <p:tags r:id="rId14"/>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115" name="文本框 114"/>
          <p:cNvSpPr txBox="1"/>
          <p:nvPr/>
        </p:nvSpPr>
        <p:spPr>
          <a:xfrm>
            <a:off x="648335" y="6067425"/>
            <a:ext cx="10999470" cy="617855"/>
          </a:xfrm>
          <a:prstGeom prst="rect">
            <a:avLst/>
          </a:prstGeom>
          <a:solidFill>
            <a:sysClr val="window" lastClr="FFFFFF">
              <a:lumMod val="95000"/>
            </a:sysClr>
          </a:solidFill>
        </p:spPr>
        <p:txBody>
          <a:bodyPr wrap="square" rtlCol="0">
            <a:noAutofit/>
          </a:bodyPr>
          <a:p>
            <a:endParaRPr lang="zh-CN" altLang="en-US" sz="2400"/>
          </a:p>
        </p:txBody>
      </p:sp>
      <p:sp>
        <p:nvSpPr>
          <p:cNvPr id="122" name="文本框 121"/>
          <p:cNvSpPr txBox="1"/>
          <p:nvPr/>
        </p:nvSpPr>
        <p:spPr>
          <a:xfrm>
            <a:off x="871855" y="6087745"/>
            <a:ext cx="10774680" cy="60007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风险预防总结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开展</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{{vulnerability_scan_count}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漏洞扫描，提前发现并修复高风险漏洞，通过端、边分层防护，阻断潜在攻击路径，对未发生漏洞利用成功事件起到了先决的支撑</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作用；</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zh-CN"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持续的漏洞闭环管理</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支撑合规自查，降低监管通报风</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险，避免</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了企业</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声誉受损</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Arial" panose="020B0604020202020204" pitchFamily="34" charset="0"/>
              <a:ea typeface="黑体-简" panose="02000000000000000000"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2" name="图片 1" descr="深信服 + 智安全"/>
          <p:cNvPicPr>
            <a:picLocks noChangeAspect="1"/>
          </p:cNvPicPr>
          <p:nvPr/>
        </p:nvPicPr>
        <p:blipFill>
          <a:blip r:embed="rId15"/>
          <a:srcRect l="5232" t="26576" r="4938" b="29565"/>
          <a:stretch>
            <a:fillRect/>
          </a:stretch>
        </p:blipFill>
        <p:spPr>
          <a:xfrm>
            <a:off x="10017125" y="238760"/>
            <a:ext cx="1629867" cy="360000"/>
          </a:xfrm>
          <a:prstGeom prst="rect">
            <a:avLst/>
          </a:prstGeom>
        </p:spPr>
      </p:pic>
      <p:sp>
        <p:nvSpPr>
          <p:cNvPr id="10" name="文本框 9"/>
          <p:cNvSpPr txBox="1"/>
          <p:nvPr/>
        </p:nvSpPr>
        <p:spPr>
          <a:xfrm>
            <a:off x="3850640" y="2713355"/>
            <a:ext cx="7796530" cy="1087755"/>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3948430" y="2794000"/>
            <a:ext cx="7519035" cy="949325"/>
          </a:xfrm>
          <a:prstGeom prst="rect">
            <a:avLst/>
          </a:prstGeom>
          <a:noFill/>
        </p:spPr>
        <p:txBody>
          <a:bodyPr wrap="square" lIns="0" tIns="0" rIns="0" bIns="0" rtlCol="0" anchor="t"/>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rPr>
              <a:t>暴露面风险：</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sym typeface="+mn-ea"/>
              </a:rPr>
              <a:t>互联网</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rPr>
              <a:t>暴</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露面进行扫描，总共发现开放的互联网</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IP</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{{internet_ip_count}}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个，可访问端口</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个；其中高危端口开放</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{{exposed_risk_port_count}}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个，高危可利用漏洞</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{{external_network_asset_vulnerability_count}}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内网漏洞风险梳理</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：未对互联网映射的服务器网段识别到</a:t>
            </a:r>
            <a:r>
              <a:rPr lang="en-US" sz="10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{{server_asset_count}}</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存活资产</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对托管服务范围内的</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{{mss_service_asset_count}}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个服务器识别到</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{{total_vulnerability_count}}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个安全漏洞，累计已防护</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{{protected_vulnerability_count}}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个安全漏洞，已修复</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{{fixed_vulnerability_count}}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SzPct val="100000"/>
              <a:buChar char="•"/>
            </a:pP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p:txBody>
      </p:sp>
      <p:sp>
        <p:nvSpPr>
          <p:cNvPr id="4" name="文本框 3"/>
          <p:cNvSpPr txBox="1"/>
          <p:nvPr/>
        </p:nvSpPr>
        <p:spPr>
          <a:xfrm>
            <a:off x="4023360" y="3896995"/>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漏洞风险趋势</a:t>
            </a:r>
            <a:endPar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9" name="图表 8"/>
          <p:cNvGraphicFramePr/>
          <p:nvPr/>
        </p:nvGraphicFramePr>
        <p:xfrm>
          <a:off x="3848735" y="4180205"/>
          <a:ext cx="7797165" cy="1779905"/>
        </p:xfrm>
        <a:graphic>
          <a:graphicData uri="http://schemas.openxmlformats.org/drawingml/2006/chart">
            <c:chart xmlns:c="http://schemas.openxmlformats.org/drawingml/2006/chart" xmlns:r="http://schemas.openxmlformats.org/officeDocument/2006/relationships" r:id="rId2"/>
          </a:graphicData>
        </a:graphic>
      </p:graphicFrame>
      <p:sp>
        <p:nvSpPr>
          <p:cNvPr id="15" name="文本框 14"/>
          <p:cNvSpPr txBox="1"/>
          <p:nvPr/>
        </p:nvSpPr>
        <p:spPr>
          <a:xfrm>
            <a:off x="701040" y="4262755"/>
            <a:ext cx="6096000" cy="368300"/>
          </a:xfrm>
          <a:prstGeom prst="rect">
            <a:avLst/>
          </a:prstGeom>
          <a:noFill/>
        </p:spPr>
        <p:txBody>
          <a:bodyPr wrap="square" rtlCol="0" anchor="t">
            <a:spAutoFit/>
          </a:bodyPr>
          <a:p>
            <a:r>
              <a:rPr lang="zh-CN" altLang="en-US">
                <a:sym typeface="+mn-ea"/>
              </a:rPr>
              <a:t>{{</a:t>
            </a:r>
            <a:r>
              <a:rPr lang="en-US" altLang="zh-CN">
                <a:sym typeface="+mn-ea"/>
              </a:rPr>
              <a:t>P29_pie</a:t>
            </a:r>
            <a:r>
              <a:rPr lang="zh-CN" altLang="en-US">
                <a:sym typeface="+mn-ea"/>
              </a:rPr>
              <a:t>}}</a:t>
            </a:r>
            <a:endParaRPr lang="zh-CN" altLang="en-US">
              <a:sym typeface="+mn-ea"/>
            </a:endParaRPr>
          </a:p>
        </p:txBody>
      </p:sp>
      <p:grpSp>
        <p:nvGrpSpPr>
          <p:cNvPr id="36" name="组合 35"/>
          <p:cNvGrpSpPr/>
          <p:nvPr/>
        </p:nvGrpSpPr>
        <p:grpSpPr>
          <a:xfrm>
            <a:off x="3930650" y="1732915"/>
            <a:ext cx="1896745" cy="688340"/>
            <a:chOff x="12788" y="6575"/>
            <a:chExt cx="5974" cy="2168"/>
          </a:xfrm>
        </p:grpSpPr>
        <p:sp>
          <p:nvSpPr>
            <p:cNvPr id="37" name="文本框 36"/>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39" name="文本框 38"/>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0" name="组合 39"/>
          <p:cNvGrpSpPr/>
          <p:nvPr/>
        </p:nvGrpSpPr>
        <p:grpSpPr>
          <a:xfrm>
            <a:off x="5751830" y="1732915"/>
            <a:ext cx="2358390" cy="688340"/>
            <a:chOff x="17210" y="6575"/>
            <a:chExt cx="7428" cy="2168"/>
          </a:xfrm>
        </p:grpSpPr>
        <p:sp>
          <p:nvSpPr>
            <p:cNvPr id="41" name="文本框 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2" name="文本框 41"/>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3" name="文本框 42"/>
            <p:cNvSpPr txBox="1"/>
            <p:nvPr/>
          </p:nvSpPr>
          <p:spPr>
            <a:xfrm>
              <a:off x="18632"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4" name="组合 43"/>
          <p:cNvGrpSpPr/>
          <p:nvPr/>
        </p:nvGrpSpPr>
        <p:grpSpPr>
          <a:xfrm>
            <a:off x="7980680" y="1727518"/>
            <a:ext cx="1979296" cy="688023"/>
            <a:chOff x="22583" y="6585"/>
            <a:chExt cx="6234" cy="2167"/>
          </a:xfrm>
        </p:grpSpPr>
        <p:sp>
          <p:nvSpPr>
            <p:cNvPr id="45" name="文本框 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6" name="文本框 45"/>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7" name="文本框 46"/>
            <p:cNvSpPr txBox="1"/>
            <p:nvPr/>
          </p:nvSpPr>
          <p:spPr>
            <a:xfrm>
              <a:off x="23299"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8" name="组合 47"/>
          <p:cNvGrpSpPr/>
          <p:nvPr/>
        </p:nvGrpSpPr>
        <p:grpSpPr>
          <a:xfrm>
            <a:off x="9989820" y="1727835"/>
            <a:ext cx="1884680" cy="693420"/>
            <a:chOff x="29848" y="6559"/>
            <a:chExt cx="5957" cy="2183"/>
          </a:xfrm>
        </p:grpSpPr>
        <p:sp>
          <p:nvSpPr>
            <p:cNvPr id="49" name="文本框 48"/>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29848"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52" name="文本框 51"/>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53" name="图片 52" descr="APP漏扫"/>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4691698" y="1270318"/>
            <a:ext cx="360000" cy="360000"/>
          </a:xfrm>
          <a:prstGeom prst="rect">
            <a:avLst/>
          </a:prstGeom>
        </p:spPr>
      </p:pic>
      <p:pic>
        <p:nvPicPr>
          <p:cNvPr id="54" name="图片 53" descr="项目风险"/>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706870" y="1270318"/>
            <a:ext cx="360000" cy="360000"/>
          </a:xfrm>
          <a:prstGeom prst="rect">
            <a:avLst/>
          </a:prstGeom>
        </p:spPr>
      </p:pic>
      <p:pic>
        <p:nvPicPr>
          <p:cNvPr id="55" name="图片 54" descr="项目风险"/>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721725" y="1270318"/>
            <a:ext cx="360000" cy="360000"/>
          </a:xfrm>
          <a:prstGeom prst="rect">
            <a:avLst/>
          </a:prstGeom>
        </p:spPr>
      </p:pic>
      <p:pic>
        <p:nvPicPr>
          <p:cNvPr id="56" name="图片 55" descr="已办事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0737533" y="1270318"/>
            <a:ext cx="360000" cy="360000"/>
          </a:xfrm>
          <a:prstGeom prst="rect">
            <a:avLst/>
          </a:prstGeom>
        </p:spPr>
      </p:pic>
      <p:sp>
        <p:nvSpPr>
          <p:cNvPr id="57" name="文本框 56"/>
          <p:cNvSpPr txBox="1"/>
          <p:nvPr/>
        </p:nvSpPr>
        <p:spPr>
          <a:xfrm>
            <a:off x="7980680" y="4601210"/>
            <a:ext cx="6096000" cy="368300"/>
          </a:xfrm>
          <a:prstGeom prst="rect">
            <a:avLst/>
          </a:prstGeom>
          <a:noFill/>
        </p:spPr>
        <p:txBody>
          <a:bodyPr wrap="square" rtlCol="0" anchor="t">
            <a:spAutoFit/>
          </a:bodyPr>
          <a:p>
            <a:r>
              <a:rPr lang="zh-CN" altLang="en-US">
                <a:sym typeface="+mn-ea"/>
              </a:rPr>
              <a:t>{{</a:t>
            </a:r>
            <a:r>
              <a:rPr lang="en-US" altLang="zh-CN">
                <a:sym typeface="+mn-ea"/>
              </a:rPr>
              <a:t>P29_line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rot="0">
            <a:off x="224790" y="306705"/>
            <a:ext cx="369570" cy="26670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5"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16"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核心</a:t>
            </a:r>
            <a:r>
              <a:rPr 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工作目标</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2</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：重要时期</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0</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重大事件</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pic>
        <p:nvPicPr>
          <p:cNvPr id="63" name="图片 62"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grpSp>
        <p:nvGrpSpPr>
          <p:cNvPr id="125" name="组合 124"/>
          <p:cNvGrpSpPr/>
          <p:nvPr/>
        </p:nvGrpSpPr>
        <p:grpSpPr>
          <a:xfrm>
            <a:off x="852170" y="1021080"/>
            <a:ext cx="10556240" cy="1647190"/>
            <a:chOff x="1342" y="1608"/>
            <a:chExt cx="16624" cy="2594"/>
          </a:xfrm>
        </p:grpSpPr>
        <p:grpSp>
          <p:nvGrpSpPr>
            <p:cNvPr id="3" name="组合 2" descr="7b0a202020202274657874626f78223a20227b5c2269645c223a32303334383533362c5c227469645c223a5c225c227d220a7d0a"/>
            <p:cNvGrpSpPr/>
            <p:nvPr>
              <p:custDataLst>
                <p:tags r:id="rId4"/>
              </p:custDataLst>
            </p:nvPr>
          </p:nvGrpSpPr>
          <p:grpSpPr>
            <a:xfrm>
              <a:off x="1342" y="1608"/>
              <a:ext cx="16624" cy="2594"/>
              <a:chOff x="3067050" y="1761966"/>
              <a:chExt cx="6057900" cy="3684815"/>
            </a:xfrm>
          </p:grpSpPr>
          <p:grpSp>
            <p:nvGrpSpPr>
              <p:cNvPr id="7" name="组合 6"/>
              <p:cNvGrpSpPr/>
              <p:nvPr/>
            </p:nvGrpSpPr>
            <p:grpSpPr>
              <a:xfrm>
                <a:off x="3067050" y="1761966"/>
                <a:ext cx="6057900" cy="3684815"/>
                <a:chOff x="3064668" y="1247616"/>
                <a:chExt cx="6057900" cy="3684815"/>
              </a:xfrm>
            </p:grpSpPr>
            <p:grpSp>
              <p:nvGrpSpPr>
                <p:cNvPr id="8" name="组合 7"/>
                <p:cNvGrpSpPr/>
                <p:nvPr/>
              </p:nvGrpSpPr>
              <p:grpSpPr>
                <a:xfrm>
                  <a:off x="3064668" y="1247616"/>
                  <a:ext cx="6057900" cy="479210"/>
                  <a:chOff x="3064668" y="1247616"/>
                  <a:chExt cx="6057900" cy="479210"/>
                </a:xfrm>
              </p:grpSpPr>
              <p:sp>
                <p:nvSpPr>
                  <p:cNvPr id="39" name="任意多边形: 形状 9"/>
                  <p:cNvSpPr/>
                  <p:nvPr/>
                </p:nvSpPr>
                <p:spPr>
                  <a:xfrm rot="5400000">
                    <a:off x="3038475" y="148393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0" name="任意多边形: 形状 10"/>
                  <p:cNvSpPr/>
                  <p:nvPr/>
                </p:nvSpPr>
                <p:spPr>
                  <a:xfrm rot="5400000">
                    <a:off x="3146425" y="148097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1" name="任意多边形: 形状 11"/>
                  <p:cNvSpPr/>
                  <p:nvPr/>
                </p:nvSpPr>
                <p:spPr>
                  <a:xfrm flipV="1">
                    <a:off x="3064668" y="1425682"/>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nvGrpSpPr>
                <p:cNvPr id="9" name="组合 8"/>
                <p:cNvGrpSpPr/>
                <p:nvPr/>
              </p:nvGrpSpPr>
              <p:grpSpPr>
                <a:xfrm>
                  <a:off x="3064668" y="4456181"/>
                  <a:ext cx="6057900" cy="476250"/>
                  <a:chOff x="3064668" y="4456181"/>
                  <a:chExt cx="6057900" cy="476250"/>
                </a:xfrm>
              </p:grpSpPr>
              <p:sp>
                <p:nvSpPr>
                  <p:cNvPr id="46"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1"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2"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sp>
            <p:nvSpPr>
              <p:cNvPr id="53" name="文本框 52"/>
              <p:cNvSpPr txBox="1"/>
              <p:nvPr/>
            </p:nvSpPr>
            <p:spPr>
              <a:xfrm>
                <a:off x="3121711" y="3194901"/>
                <a:ext cx="5948943" cy="1775247"/>
              </a:xfrm>
              <a:prstGeom prst="rect">
                <a:avLst/>
              </a:prstGeom>
              <a:noFill/>
            </p:spPr>
            <p:txBody>
              <a:bodyPr wrap="square" rtlCol="0" anchor="ctr"/>
              <a:lstStyle/>
              <a:p>
                <a:pPr indent="457200" algn="just">
                  <a:lnSpc>
                    <a:spcPct val="150000"/>
                  </a:lnSpc>
                </a:pPr>
                <a:r>
                  <a:rPr lang="zh-CN" sz="1400" kern="1200" dirty="0">
                    <a:solidFill>
                      <a:schemeClr val="tx1"/>
                    </a:solidFill>
                    <a:effectLst/>
                    <a:latin typeface="Arial" panose="020B0604020202020204" pitchFamily="34" charset="0"/>
                    <a:ea typeface="黑体-简" panose="02000000000000000000" charset="-122"/>
                    <a:cs typeface="+mn-cs"/>
                    <a:sym typeface="+mn-ea"/>
                  </a:rPr>
                  <a:t>在重要时期云端团队实时</a:t>
                </a:r>
                <a:r>
                  <a:rPr lang="en-US" altLang="zh-CN" sz="1400" kern="1200" dirty="0">
                    <a:solidFill>
                      <a:schemeClr val="tx1"/>
                    </a:solidFill>
                    <a:effectLst/>
                    <a:latin typeface="Arial" panose="020B0604020202020204" pitchFamily="34" charset="0"/>
                    <a:ea typeface="黑体-简" panose="02000000000000000000" charset="-122"/>
                    <a:cs typeface="+mn-cs"/>
                    <a:sym typeface="+mn-ea"/>
                  </a:rPr>
                  <a:t>7x24</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小时对设备的安全日志进行实时分析研判，对安全威胁进行持续对抗，每日通报安全态势情况，顺利保障重要时期（</a:t>
                </a:r>
                <a:r>
                  <a:rPr lang="en-US" altLang="zh-CN" sz="1400" kern="1200" dirty="0">
                    <a:solidFill>
                      <a:srgbClr val="4C61E7"/>
                    </a:solidFill>
                    <a:effectLst/>
                    <a:latin typeface="Arial" panose="020B0604020202020204" pitchFamily="34" charset="0"/>
                    <a:ea typeface="黑体-简" panose="02000000000000000000" charset="-122"/>
                    <a:cs typeface="+mn-cs"/>
                    <a:sym typeface="+mn-ea"/>
                  </a:rPr>
                  <a:t>{{critical_protection_periods_text}}</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）未出现重大安全事件或事故。</a:t>
                </a:r>
                <a:endParaRPr lang="zh-CN" altLang="en-US" sz="1400" kern="1200" dirty="0">
                  <a:solidFill>
                    <a:schemeClr val="tx1"/>
                  </a:solidFill>
                  <a:effectLst/>
                  <a:latin typeface="Arial" panose="020B0604020202020204" pitchFamily="34" charset="0"/>
                  <a:ea typeface="黑体-简" panose="02000000000000000000" charset="-122"/>
                  <a:cs typeface="+mn-cs"/>
                  <a:sym typeface="+mn-ea"/>
                </a:endParaRPr>
              </a:p>
            </p:txBody>
          </p:sp>
        </p:grpSp>
        <p:sp>
          <p:nvSpPr>
            <p:cNvPr id="69" name="文本框 68"/>
            <p:cNvSpPr txBox="1"/>
            <p:nvPr/>
          </p:nvSpPr>
          <p:spPr>
            <a:xfrm>
              <a:off x="1492" y="2037"/>
              <a:ext cx="9600" cy="580"/>
            </a:xfrm>
            <a:prstGeom prst="rect">
              <a:avLst/>
            </a:prstGeom>
            <a:noFill/>
          </p:spPr>
          <p:txBody>
            <a:bodyPr wrap="square" rtlCol="0" anchor="t">
              <a:spAutoFit/>
            </a:bodyPr>
            <a:p>
              <a:pPr marL="0" algn="l">
                <a:lnSpc>
                  <a:spcPct val="100000"/>
                </a:lnSpc>
                <a:buClrTx/>
                <a:buSzTx/>
                <a:buFontTx/>
                <a:buNone/>
              </a:pP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重保期间</a:t>
              </a:r>
              <a:r>
                <a:rPr lang="en-US" altLang="zh-CN"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未发生攻击成功事件，</a:t>
              </a: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安全威胁风险可控</a:t>
              </a:r>
              <a:endPar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endParaRPr>
            </a:p>
          </p:txBody>
        </p:sp>
      </p:grpSp>
      <p:pic>
        <p:nvPicPr>
          <p:cNvPr id="124" name="图片 123"/>
          <p:cNvPicPr>
            <a:picLocks noChangeAspect="1"/>
          </p:cNvPicPr>
          <p:nvPr/>
        </p:nvPicPr>
        <p:blipFill>
          <a:blip r:embed="rId5"/>
          <a:stretch>
            <a:fillRect/>
          </a:stretch>
        </p:blipFill>
        <p:spPr>
          <a:xfrm>
            <a:off x="6339840" y="3027680"/>
            <a:ext cx="5069205" cy="2606675"/>
          </a:xfrm>
          <a:prstGeom prst="rect">
            <a:avLst/>
          </a:prstGeom>
        </p:spPr>
      </p:pic>
      <p:sp>
        <p:nvSpPr>
          <p:cNvPr id="1844" name="wps右边框"/>
          <p:cNvSpPr/>
          <p:nvPr>
            <p:custDataLst>
              <p:tags r:id="rId6"/>
            </p:custDataLst>
          </p:nvPr>
        </p:nvSpPr>
        <p:spPr>
          <a:xfrm>
            <a:off x="2974975" y="3169920"/>
            <a:ext cx="2568575" cy="575945"/>
          </a:xfrm>
          <a:custGeom>
            <a:avLst/>
            <a:gdLst>
              <a:gd name="connsiteX0" fmla="*/ 0 w 914400"/>
              <a:gd name="connsiteY0" fmla="*/ 0 h 612648"/>
              <a:gd name="connsiteX1" fmla="*/ 914400 w 914400"/>
              <a:gd name="connsiteY1" fmla="*/ 0 h 612648"/>
              <a:gd name="connsiteX2" fmla="*/ 914400 w 914400"/>
              <a:gd name="connsiteY2" fmla="*/ 612648 h 612648"/>
              <a:gd name="connsiteX3" fmla="*/ 0 w 914400"/>
              <a:gd name="connsiteY3" fmla="*/ 612648 h 612648"/>
              <a:gd name="connsiteX4" fmla="*/ 0 w 914400"/>
              <a:gd name="connsiteY4" fmla="*/ 0 h 612648"/>
              <a:gd name="connsiteX0-1" fmla="*/ 2377 w 914400"/>
              <a:gd name="connsiteY0-2" fmla="*/ 7713 h 612648"/>
              <a:gd name="connsiteX1-3" fmla="*/ 916302 w 914400"/>
              <a:gd name="connsiteY1-4" fmla="*/ 1048 h 612648"/>
              <a:gd name="connsiteX0-5" fmla="*/ 0 w 916302"/>
              <a:gd name="connsiteY0-6" fmla="*/ 0 h 612648"/>
              <a:gd name="connsiteX1-7" fmla="*/ 914400 w 916302"/>
              <a:gd name="connsiteY1-8" fmla="*/ 0 h 612648"/>
              <a:gd name="connsiteX2-9" fmla="*/ 914400 w 916302"/>
              <a:gd name="connsiteY2-10" fmla="*/ 612648 h 612648"/>
              <a:gd name="connsiteX3-11" fmla="*/ 457200 w 916302"/>
              <a:gd name="connsiteY3-12" fmla="*/ 612624 h 612648"/>
              <a:gd name="connsiteX4-13" fmla="*/ 0 w 916302"/>
              <a:gd name="connsiteY4-14" fmla="*/ 612648 h 612648"/>
              <a:gd name="connsiteX5" fmla="*/ 0 w 916302"/>
              <a:gd name="connsiteY5" fmla="*/ 0 h 612648"/>
              <a:gd name="connsiteX0-15" fmla="*/ 2377 w 916302"/>
              <a:gd name="connsiteY0-16" fmla="*/ 7713 h 612648"/>
              <a:gd name="connsiteX1-17" fmla="*/ 916302 w 916302"/>
              <a:gd name="connsiteY1-18" fmla="*/ 1048 h 612648"/>
              <a:gd name="connsiteX0-19" fmla="*/ 0 w 914400"/>
              <a:gd name="connsiteY0-20" fmla="*/ 0 h 612648"/>
              <a:gd name="connsiteX1-21" fmla="*/ 914400 w 914400"/>
              <a:gd name="connsiteY1-22" fmla="*/ 0 h 612648"/>
              <a:gd name="connsiteX2-23" fmla="*/ 914400 w 914400"/>
              <a:gd name="connsiteY2-24" fmla="*/ 612648 h 612648"/>
              <a:gd name="connsiteX3-25" fmla="*/ 0 w 914400"/>
              <a:gd name="connsiteY3-26" fmla="*/ 612648 h 612648"/>
              <a:gd name="connsiteX4-27" fmla="*/ 0 w 914400"/>
              <a:gd name="connsiteY4-28" fmla="*/ 0 h 612648"/>
              <a:gd name="connsiteX0-29" fmla="*/ 914400 w 914400"/>
              <a:gd name="connsiteY0-30" fmla="*/ 0 h 612648"/>
              <a:gd name="connsiteX1-31" fmla="*/ 914400 w 914400"/>
              <a:gd name="connsiteY1-32" fmla="*/ 612648 h 612648"/>
            </a:gdLst>
            <a:ahLst/>
            <a:cxnLst>
              <a:cxn ang="0">
                <a:pos x="connsiteX0-1" y="connsiteY0-2"/>
              </a:cxn>
              <a:cxn ang="0">
                <a:pos x="connsiteX1-3" y="connsiteY1-4"/>
              </a:cxn>
            </a:cxnLst>
            <a:rect l="l" t="t" r="r" b="b"/>
            <a:pathLst>
              <a:path w="914400" h="612648" stroke="0" extrusionOk="0">
                <a:moveTo>
                  <a:pt x="0" y="0"/>
                </a:moveTo>
                <a:lnTo>
                  <a:pt x="914400" y="0"/>
                </a:lnTo>
                <a:lnTo>
                  <a:pt x="914400" y="612648"/>
                </a:lnTo>
                <a:lnTo>
                  <a:pt x="0" y="612648"/>
                </a:lnTo>
                <a:lnTo>
                  <a:pt x="0" y="0"/>
                </a:lnTo>
                <a:close/>
              </a:path>
              <a:path w="914400" h="612648" fill="none" extrusionOk="0">
                <a:moveTo>
                  <a:pt x="914400" y="0"/>
                </a:moveTo>
                <a:lnTo>
                  <a:pt x="914400" y="612648"/>
                </a:lnTo>
              </a:path>
            </a:pathLst>
          </a:custGeom>
          <a:gradFill>
            <a:gsLst>
              <a:gs pos="0">
                <a:schemeClr val="accent5">
                  <a:lumMod val="20000"/>
                  <a:lumOff val="80000"/>
                  <a:alpha val="8000"/>
                </a:schemeClr>
              </a:gs>
              <a:gs pos="13000">
                <a:schemeClr val="accent5">
                  <a:lumMod val="20000"/>
                  <a:lumOff val="80000"/>
                  <a:alpha val="25000"/>
                </a:schemeClr>
              </a:gs>
              <a:gs pos="100000">
                <a:schemeClr val="accent5">
                  <a:lumMod val="20000"/>
                  <a:lumOff val="80000"/>
                  <a:alpha val="69000"/>
                </a:schemeClr>
              </a:gs>
            </a:gsLst>
            <a:lin ang="0" scaled="0"/>
          </a:grad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rIns="215900" numCol="1" spcCol="0" rtlCol="0" fromWordArt="0" anchor="ctr" anchorCtr="0" forceAA="0" compatLnSpc="1">
            <a:noAutofit/>
          </a:bodyPr>
          <a:lstStyle/>
          <a:p>
            <a:pPr lvl="0" algn="r">
              <a:buClrTx/>
              <a:buSzTx/>
              <a:buFontTx/>
            </a:pPr>
            <a:r>
              <a:rPr lang="zh-CN" altLang="en-US" sz="2000" kern="0" dirty="0">
                <a:ln>
                  <a:noFill/>
                  <a:prstDash val="sysDot"/>
                </a:ln>
                <a:solidFill>
                  <a:schemeClr val="tx1">
                    <a:lumMod val="85000"/>
                    <a:lumOff val="15000"/>
                  </a:schemeClr>
                </a:solidFill>
                <a:latin typeface="+mn-ea"/>
                <a:sym typeface="+mn-ea"/>
              </a:rPr>
              <a:t>安全日志数</a:t>
            </a:r>
            <a:endParaRPr lang="zh-CN" altLang="en-US" sz="2000" kern="0" dirty="0">
              <a:ln>
                <a:noFill/>
                <a:prstDash val="sysDot"/>
              </a:ln>
              <a:solidFill>
                <a:schemeClr val="tx1">
                  <a:lumMod val="85000"/>
                  <a:lumOff val="15000"/>
                </a:schemeClr>
              </a:solidFill>
              <a:latin typeface="+mn-ea"/>
              <a:sym typeface="+mn-ea"/>
            </a:endParaRPr>
          </a:p>
        </p:txBody>
      </p:sp>
      <p:sp>
        <p:nvSpPr>
          <p:cNvPr id="1845" name="wps右边框"/>
          <p:cNvSpPr/>
          <p:nvPr>
            <p:custDataLst>
              <p:tags r:id="rId7"/>
            </p:custDataLst>
          </p:nvPr>
        </p:nvSpPr>
        <p:spPr>
          <a:xfrm>
            <a:off x="2799715" y="3900805"/>
            <a:ext cx="2744470" cy="575945"/>
          </a:xfrm>
          <a:custGeom>
            <a:avLst/>
            <a:gdLst>
              <a:gd name="connsiteX0" fmla="*/ 0 w 914400"/>
              <a:gd name="connsiteY0" fmla="*/ 0 h 612648"/>
              <a:gd name="connsiteX1" fmla="*/ 914400 w 914400"/>
              <a:gd name="connsiteY1" fmla="*/ 0 h 612648"/>
              <a:gd name="connsiteX2" fmla="*/ 914400 w 914400"/>
              <a:gd name="connsiteY2" fmla="*/ 612648 h 612648"/>
              <a:gd name="connsiteX3" fmla="*/ 0 w 914400"/>
              <a:gd name="connsiteY3" fmla="*/ 612648 h 612648"/>
              <a:gd name="connsiteX4" fmla="*/ 0 w 914400"/>
              <a:gd name="connsiteY4" fmla="*/ 0 h 612648"/>
              <a:gd name="connsiteX0-1" fmla="*/ 2377 w 914400"/>
              <a:gd name="connsiteY0-2" fmla="*/ 7713 h 612648"/>
              <a:gd name="connsiteX1-3" fmla="*/ 916302 w 914400"/>
              <a:gd name="connsiteY1-4" fmla="*/ 1048 h 612648"/>
              <a:gd name="connsiteX0-5" fmla="*/ 0 w 916302"/>
              <a:gd name="connsiteY0-6" fmla="*/ 0 h 612648"/>
              <a:gd name="connsiteX1-7" fmla="*/ 914400 w 916302"/>
              <a:gd name="connsiteY1-8" fmla="*/ 0 h 612648"/>
              <a:gd name="connsiteX2-9" fmla="*/ 914400 w 916302"/>
              <a:gd name="connsiteY2-10" fmla="*/ 612648 h 612648"/>
              <a:gd name="connsiteX3-11" fmla="*/ 457200 w 916302"/>
              <a:gd name="connsiteY3-12" fmla="*/ 612624 h 612648"/>
              <a:gd name="connsiteX4-13" fmla="*/ 0 w 916302"/>
              <a:gd name="connsiteY4-14" fmla="*/ 612648 h 612648"/>
              <a:gd name="connsiteX5" fmla="*/ 0 w 916302"/>
              <a:gd name="connsiteY5" fmla="*/ 0 h 612648"/>
              <a:gd name="connsiteX0-15" fmla="*/ 2377 w 916302"/>
              <a:gd name="connsiteY0-16" fmla="*/ 7713 h 612648"/>
              <a:gd name="connsiteX1-17" fmla="*/ 916302 w 916302"/>
              <a:gd name="connsiteY1-18" fmla="*/ 1048 h 612648"/>
              <a:gd name="connsiteX0-19" fmla="*/ 0 w 914400"/>
              <a:gd name="connsiteY0-20" fmla="*/ 0 h 612648"/>
              <a:gd name="connsiteX1-21" fmla="*/ 914400 w 914400"/>
              <a:gd name="connsiteY1-22" fmla="*/ 0 h 612648"/>
              <a:gd name="connsiteX2-23" fmla="*/ 914400 w 914400"/>
              <a:gd name="connsiteY2-24" fmla="*/ 612648 h 612648"/>
              <a:gd name="connsiteX3-25" fmla="*/ 0 w 914400"/>
              <a:gd name="connsiteY3-26" fmla="*/ 612648 h 612648"/>
              <a:gd name="connsiteX4-27" fmla="*/ 0 w 914400"/>
              <a:gd name="connsiteY4-28" fmla="*/ 0 h 612648"/>
              <a:gd name="connsiteX0-29" fmla="*/ 914400 w 914400"/>
              <a:gd name="connsiteY0-30" fmla="*/ 0 h 612648"/>
              <a:gd name="connsiteX1-31" fmla="*/ 914400 w 914400"/>
              <a:gd name="connsiteY1-32" fmla="*/ 612648 h 612648"/>
            </a:gdLst>
            <a:ahLst/>
            <a:cxnLst>
              <a:cxn ang="0">
                <a:pos x="connsiteX0-1" y="connsiteY0-2"/>
              </a:cxn>
              <a:cxn ang="0">
                <a:pos x="connsiteX1-3" y="connsiteY1-4"/>
              </a:cxn>
            </a:cxnLst>
            <a:rect l="l" t="t" r="r" b="b"/>
            <a:pathLst>
              <a:path w="914400" h="612648" stroke="0" extrusionOk="0">
                <a:moveTo>
                  <a:pt x="0" y="0"/>
                </a:moveTo>
                <a:lnTo>
                  <a:pt x="914400" y="0"/>
                </a:lnTo>
                <a:lnTo>
                  <a:pt x="914400" y="612648"/>
                </a:lnTo>
                <a:lnTo>
                  <a:pt x="0" y="612648"/>
                </a:lnTo>
                <a:lnTo>
                  <a:pt x="0" y="0"/>
                </a:lnTo>
                <a:close/>
              </a:path>
              <a:path w="914400" h="612648" fill="none" extrusionOk="0">
                <a:moveTo>
                  <a:pt x="914400" y="0"/>
                </a:moveTo>
                <a:lnTo>
                  <a:pt x="914400" y="612648"/>
                </a:lnTo>
              </a:path>
            </a:pathLst>
          </a:custGeom>
          <a:gradFill>
            <a:gsLst>
              <a:gs pos="0">
                <a:schemeClr val="accent6">
                  <a:lumMod val="20000"/>
                  <a:lumOff val="80000"/>
                  <a:alpha val="8000"/>
                </a:schemeClr>
              </a:gs>
              <a:gs pos="13000">
                <a:schemeClr val="accent6">
                  <a:lumMod val="20000"/>
                  <a:lumOff val="80000"/>
                  <a:alpha val="25000"/>
                </a:schemeClr>
              </a:gs>
              <a:gs pos="100000">
                <a:schemeClr val="accent6">
                  <a:lumMod val="20000"/>
                  <a:lumOff val="80000"/>
                  <a:alpha val="69000"/>
                </a:schemeClr>
              </a:gs>
            </a:gsLst>
            <a:lin ang="0" scaled="0"/>
          </a:gra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rIns="215900" numCol="1" spcCol="0" rtlCol="0" fromWordArt="0" anchor="ctr" anchorCtr="0" forceAA="0" compatLnSpc="1">
            <a:noAutofit/>
          </a:bodyPr>
          <a:lstStyle/>
          <a:p>
            <a:pPr lvl="0" algn="r">
              <a:buClrTx/>
              <a:buSzTx/>
              <a:buFontTx/>
            </a:pPr>
            <a:r>
              <a:rPr lang="zh-CN" altLang="en-US" sz="2000" kern="0" dirty="0">
                <a:ln>
                  <a:noFill/>
                  <a:prstDash val="sysDot"/>
                </a:ln>
                <a:solidFill>
                  <a:schemeClr val="tx1">
                    <a:lumMod val="85000"/>
                    <a:lumOff val="15000"/>
                  </a:schemeClr>
                </a:solidFill>
                <a:latin typeface="+mn-ea"/>
                <a:sym typeface="+mn-ea"/>
              </a:rPr>
              <a:t>安全告警数</a:t>
            </a:r>
            <a:endParaRPr lang="zh-CN" altLang="en-US" sz="2000" kern="0" dirty="0">
              <a:ln>
                <a:noFill/>
                <a:prstDash val="sysDot"/>
              </a:ln>
              <a:solidFill>
                <a:schemeClr val="tx1">
                  <a:lumMod val="85000"/>
                  <a:lumOff val="15000"/>
                </a:schemeClr>
              </a:solidFill>
              <a:latin typeface="+mn-ea"/>
              <a:sym typeface="+mn-ea"/>
            </a:endParaRPr>
          </a:p>
        </p:txBody>
      </p:sp>
      <p:sp>
        <p:nvSpPr>
          <p:cNvPr id="1846" name="wps右边框"/>
          <p:cNvSpPr/>
          <p:nvPr>
            <p:custDataLst>
              <p:tags r:id="rId8"/>
            </p:custDataLst>
          </p:nvPr>
        </p:nvSpPr>
        <p:spPr>
          <a:xfrm>
            <a:off x="2423160" y="4631690"/>
            <a:ext cx="3121025" cy="575945"/>
          </a:xfrm>
          <a:custGeom>
            <a:avLst/>
            <a:gdLst>
              <a:gd name="connsiteX0" fmla="*/ 0 w 914400"/>
              <a:gd name="connsiteY0" fmla="*/ 0 h 612648"/>
              <a:gd name="connsiteX1" fmla="*/ 914400 w 914400"/>
              <a:gd name="connsiteY1" fmla="*/ 0 h 612648"/>
              <a:gd name="connsiteX2" fmla="*/ 914400 w 914400"/>
              <a:gd name="connsiteY2" fmla="*/ 612648 h 612648"/>
              <a:gd name="connsiteX3" fmla="*/ 0 w 914400"/>
              <a:gd name="connsiteY3" fmla="*/ 612648 h 612648"/>
              <a:gd name="connsiteX4" fmla="*/ 0 w 914400"/>
              <a:gd name="connsiteY4" fmla="*/ 0 h 612648"/>
              <a:gd name="connsiteX0-1" fmla="*/ 2377 w 914400"/>
              <a:gd name="connsiteY0-2" fmla="*/ 7713 h 612648"/>
              <a:gd name="connsiteX1-3" fmla="*/ 916302 w 914400"/>
              <a:gd name="connsiteY1-4" fmla="*/ 1048 h 612648"/>
              <a:gd name="connsiteX0-5" fmla="*/ 0 w 916302"/>
              <a:gd name="connsiteY0-6" fmla="*/ 0 h 612648"/>
              <a:gd name="connsiteX1-7" fmla="*/ 914400 w 916302"/>
              <a:gd name="connsiteY1-8" fmla="*/ 0 h 612648"/>
              <a:gd name="connsiteX2-9" fmla="*/ 914400 w 916302"/>
              <a:gd name="connsiteY2-10" fmla="*/ 612648 h 612648"/>
              <a:gd name="connsiteX3-11" fmla="*/ 457200 w 916302"/>
              <a:gd name="connsiteY3-12" fmla="*/ 612624 h 612648"/>
              <a:gd name="connsiteX4-13" fmla="*/ 0 w 916302"/>
              <a:gd name="connsiteY4-14" fmla="*/ 612648 h 612648"/>
              <a:gd name="connsiteX5" fmla="*/ 0 w 916302"/>
              <a:gd name="connsiteY5" fmla="*/ 0 h 612648"/>
              <a:gd name="connsiteX0-15" fmla="*/ 2377 w 916302"/>
              <a:gd name="connsiteY0-16" fmla="*/ 7713 h 612648"/>
              <a:gd name="connsiteX1-17" fmla="*/ 916302 w 916302"/>
              <a:gd name="connsiteY1-18" fmla="*/ 1048 h 612648"/>
              <a:gd name="connsiteX0-19" fmla="*/ 0 w 914400"/>
              <a:gd name="connsiteY0-20" fmla="*/ 0 h 612648"/>
              <a:gd name="connsiteX1-21" fmla="*/ 914400 w 914400"/>
              <a:gd name="connsiteY1-22" fmla="*/ 0 h 612648"/>
              <a:gd name="connsiteX2-23" fmla="*/ 914400 w 914400"/>
              <a:gd name="connsiteY2-24" fmla="*/ 612648 h 612648"/>
              <a:gd name="connsiteX3-25" fmla="*/ 0 w 914400"/>
              <a:gd name="connsiteY3-26" fmla="*/ 612648 h 612648"/>
              <a:gd name="connsiteX4-27" fmla="*/ 0 w 914400"/>
              <a:gd name="connsiteY4-28" fmla="*/ 0 h 612648"/>
              <a:gd name="connsiteX0-29" fmla="*/ 914400 w 914400"/>
              <a:gd name="connsiteY0-30" fmla="*/ 0 h 612648"/>
              <a:gd name="connsiteX1-31" fmla="*/ 914400 w 914400"/>
              <a:gd name="connsiteY1-32" fmla="*/ 612648 h 612648"/>
            </a:gdLst>
            <a:ahLst/>
            <a:cxnLst>
              <a:cxn ang="0">
                <a:pos x="connsiteX0-1" y="connsiteY0-2"/>
              </a:cxn>
              <a:cxn ang="0">
                <a:pos x="connsiteX1-3" y="connsiteY1-4"/>
              </a:cxn>
            </a:cxnLst>
            <a:rect l="l" t="t" r="r" b="b"/>
            <a:pathLst>
              <a:path w="914400" h="612648" stroke="0" extrusionOk="0">
                <a:moveTo>
                  <a:pt x="0" y="0"/>
                </a:moveTo>
                <a:lnTo>
                  <a:pt x="914400" y="0"/>
                </a:lnTo>
                <a:lnTo>
                  <a:pt x="914400" y="612648"/>
                </a:lnTo>
                <a:lnTo>
                  <a:pt x="0" y="612648"/>
                </a:lnTo>
                <a:lnTo>
                  <a:pt x="0" y="0"/>
                </a:lnTo>
                <a:close/>
              </a:path>
              <a:path w="914400" h="612648" fill="none" extrusionOk="0">
                <a:moveTo>
                  <a:pt x="914400" y="0"/>
                </a:moveTo>
                <a:lnTo>
                  <a:pt x="914400" y="612648"/>
                </a:lnTo>
              </a:path>
            </a:pathLst>
          </a:custGeom>
          <a:gradFill>
            <a:gsLst>
              <a:gs pos="0">
                <a:schemeClr val="accent5">
                  <a:lumMod val="20000"/>
                  <a:lumOff val="80000"/>
                  <a:alpha val="8000"/>
                </a:schemeClr>
              </a:gs>
              <a:gs pos="13000">
                <a:schemeClr val="accent5">
                  <a:lumMod val="20000"/>
                  <a:lumOff val="80000"/>
                  <a:alpha val="25000"/>
                </a:schemeClr>
              </a:gs>
              <a:gs pos="100000">
                <a:schemeClr val="accent5">
                  <a:lumMod val="20000"/>
                  <a:lumOff val="80000"/>
                  <a:alpha val="69000"/>
                </a:schemeClr>
              </a:gs>
            </a:gsLst>
            <a:lin ang="0" scaled="0"/>
          </a:grad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rIns="215900" numCol="1" spcCol="0" rtlCol="0" fromWordArt="0" anchor="ctr" anchorCtr="0" forceAA="0" compatLnSpc="1">
            <a:noAutofit/>
          </a:bodyPr>
          <a:lstStyle/>
          <a:p>
            <a:pPr lvl="0" algn="r">
              <a:buClrTx/>
              <a:buSzTx/>
              <a:buFontTx/>
            </a:pPr>
            <a:r>
              <a:rPr lang="zh-CN" altLang="en-US" sz="2000" kern="0" dirty="0">
                <a:ln>
                  <a:noFill/>
                  <a:prstDash val="sysDot"/>
                </a:ln>
                <a:solidFill>
                  <a:schemeClr val="tx1">
                    <a:lumMod val="85000"/>
                    <a:lumOff val="15000"/>
                  </a:schemeClr>
                </a:solidFill>
                <a:latin typeface="+mn-ea"/>
                <a:sym typeface="+mn-ea"/>
              </a:rPr>
              <a:t>威胁事件数</a:t>
            </a:r>
            <a:endParaRPr lang="zh-CN" altLang="en-US" sz="2000" kern="0" dirty="0">
              <a:ln>
                <a:noFill/>
                <a:prstDash val="sysDot"/>
              </a:ln>
              <a:solidFill>
                <a:schemeClr val="tx1">
                  <a:lumMod val="85000"/>
                  <a:lumOff val="15000"/>
                </a:schemeClr>
              </a:solidFill>
              <a:latin typeface="+mn-ea"/>
              <a:sym typeface="+mn-ea"/>
            </a:endParaRPr>
          </a:p>
        </p:txBody>
      </p:sp>
      <p:sp>
        <p:nvSpPr>
          <p:cNvPr id="1847" name="wps右边框"/>
          <p:cNvSpPr/>
          <p:nvPr>
            <p:custDataLst>
              <p:tags r:id="rId9"/>
            </p:custDataLst>
          </p:nvPr>
        </p:nvSpPr>
        <p:spPr>
          <a:xfrm>
            <a:off x="2518410" y="5362575"/>
            <a:ext cx="3025140" cy="575945"/>
          </a:xfrm>
          <a:custGeom>
            <a:avLst/>
            <a:gdLst>
              <a:gd name="connsiteX0" fmla="*/ 0 w 914400"/>
              <a:gd name="connsiteY0" fmla="*/ 0 h 612648"/>
              <a:gd name="connsiteX1" fmla="*/ 914400 w 914400"/>
              <a:gd name="connsiteY1" fmla="*/ 0 h 612648"/>
              <a:gd name="connsiteX2" fmla="*/ 914400 w 914400"/>
              <a:gd name="connsiteY2" fmla="*/ 612648 h 612648"/>
              <a:gd name="connsiteX3" fmla="*/ 0 w 914400"/>
              <a:gd name="connsiteY3" fmla="*/ 612648 h 612648"/>
              <a:gd name="connsiteX4" fmla="*/ 0 w 914400"/>
              <a:gd name="connsiteY4" fmla="*/ 0 h 612648"/>
              <a:gd name="connsiteX0-1" fmla="*/ 2377 w 914400"/>
              <a:gd name="connsiteY0-2" fmla="*/ 7713 h 612648"/>
              <a:gd name="connsiteX1-3" fmla="*/ 916302 w 914400"/>
              <a:gd name="connsiteY1-4" fmla="*/ 1048 h 612648"/>
              <a:gd name="connsiteX0-5" fmla="*/ 0 w 916302"/>
              <a:gd name="connsiteY0-6" fmla="*/ 0 h 612648"/>
              <a:gd name="connsiteX1-7" fmla="*/ 914400 w 916302"/>
              <a:gd name="connsiteY1-8" fmla="*/ 0 h 612648"/>
              <a:gd name="connsiteX2-9" fmla="*/ 914400 w 916302"/>
              <a:gd name="connsiteY2-10" fmla="*/ 612648 h 612648"/>
              <a:gd name="connsiteX3-11" fmla="*/ 457200 w 916302"/>
              <a:gd name="connsiteY3-12" fmla="*/ 612624 h 612648"/>
              <a:gd name="connsiteX4-13" fmla="*/ 0 w 916302"/>
              <a:gd name="connsiteY4-14" fmla="*/ 612648 h 612648"/>
              <a:gd name="connsiteX5" fmla="*/ 0 w 916302"/>
              <a:gd name="connsiteY5" fmla="*/ 0 h 612648"/>
              <a:gd name="connsiteX0-15" fmla="*/ 2377 w 916302"/>
              <a:gd name="connsiteY0-16" fmla="*/ 7713 h 612648"/>
              <a:gd name="connsiteX1-17" fmla="*/ 916302 w 916302"/>
              <a:gd name="connsiteY1-18" fmla="*/ 1048 h 612648"/>
              <a:gd name="connsiteX0-19" fmla="*/ 0 w 914400"/>
              <a:gd name="connsiteY0-20" fmla="*/ 0 h 612648"/>
              <a:gd name="connsiteX1-21" fmla="*/ 914400 w 914400"/>
              <a:gd name="connsiteY1-22" fmla="*/ 0 h 612648"/>
              <a:gd name="connsiteX2-23" fmla="*/ 914400 w 914400"/>
              <a:gd name="connsiteY2-24" fmla="*/ 612648 h 612648"/>
              <a:gd name="connsiteX3-25" fmla="*/ 0 w 914400"/>
              <a:gd name="connsiteY3-26" fmla="*/ 612648 h 612648"/>
              <a:gd name="connsiteX4-27" fmla="*/ 0 w 914400"/>
              <a:gd name="connsiteY4-28" fmla="*/ 0 h 612648"/>
              <a:gd name="connsiteX0-29" fmla="*/ 914400 w 914400"/>
              <a:gd name="connsiteY0-30" fmla="*/ 0 h 612648"/>
              <a:gd name="connsiteX1-31" fmla="*/ 914400 w 914400"/>
              <a:gd name="connsiteY1-32" fmla="*/ 612648 h 612648"/>
            </a:gdLst>
            <a:ahLst/>
            <a:cxnLst>
              <a:cxn ang="0">
                <a:pos x="connsiteX0-1" y="connsiteY0-2"/>
              </a:cxn>
              <a:cxn ang="0">
                <a:pos x="connsiteX1-3" y="connsiteY1-4"/>
              </a:cxn>
            </a:cxnLst>
            <a:rect l="l" t="t" r="r" b="b"/>
            <a:pathLst>
              <a:path w="914400" h="612648" stroke="0" extrusionOk="0">
                <a:moveTo>
                  <a:pt x="0" y="0"/>
                </a:moveTo>
                <a:lnTo>
                  <a:pt x="914400" y="0"/>
                </a:lnTo>
                <a:lnTo>
                  <a:pt x="914400" y="612648"/>
                </a:lnTo>
                <a:lnTo>
                  <a:pt x="0" y="612648"/>
                </a:lnTo>
                <a:lnTo>
                  <a:pt x="0" y="0"/>
                </a:lnTo>
                <a:close/>
              </a:path>
              <a:path w="914400" h="612648" fill="none" extrusionOk="0">
                <a:moveTo>
                  <a:pt x="914400" y="0"/>
                </a:moveTo>
                <a:lnTo>
                  <a:pt x="914400" y="612648"/>
                </a:lnTo>
              </a:path>
            </a:pathLst>
          </a:custGeom>
          <a:gradFill>
            <a:gsLst>
              <a:gs pos="0">
                <a:schemeClr val="accent6">
                  <a:lumMod val="20000"/>
                  <a:lumOff val="80000"/>
                  <a:alpha val="8000"/>
                </a:schemeClr>
              </a:gs>
              <a:gs pos="13000">
                <a:schemeClr val="accent6">
                  <a:lumMod val="20000"/>
                  <a:lumOff val="80000"/>
                  <a:alpha val="25000"/>
                </a:schemeClr>
              </a:gs>
              <a:gs pos="100000">
                <a:schemeClr val="accent6">
                  <a:lumMod val="20000"/>
                  <a:lumOff val="80000"/>
                  <a:alpha val="69000"/>
                </a:schemeClr>
              </a:gs>
            </a:gsLst>
            <a:lin ang="0" scaled="0"/>
          </a:gra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rIns="215900" numCol="1" spcCol="0" rtlCol="0" fromWordArt="0" anchor="ctr" anchorCtr="0" forceAA="0" compatLnSpc="1">
            <a:noAutofit/>
          </a:bodyPr>
          <a:lstStyle/>
          <a:p>
            <a:pPr algn="r"/>
            <a:r>
              <a:rPr lang="zh-CN" altLang="en-US" sz="2000" kern="0" dirty="0">
                <a:ln>
                  <a:noFill/>
                  <a:prstDash val="sysDot"/>
                </a:ln>
                <a:solidFill>
                  <a:schemeClr val="tx1">
                    <a:lumMod val="85000"/>
                    <a:lumOff val="15000"/>
                  </a:schemeClr>
                </a:solidFill>
                <a:latin typeface="+mn-ea"/>
                <a:sym typeface="+mn-ea"/>
              </a:rPr>
              <a:t>重大事故数</a:t>
            </a:r>
            <a:endParaRPr lang="zh-CN" altLang="en-US" sz="2000" kern="0" dirty="0">
              <a:ln>
                <a:noFill/>
                <a:prstDash val="sysDot"/>
              </a:ln>
              <a:solidFill>
                <a:schemeClr val="tx1">
                  <a:lumMod val="85000"/>
                  <a:lumOff val="15000"/>
                </a:schemeClr>
              </a:solidFill>
              <a:latin typeface="+mn-ea"/>
              <a:sym typeface="+mn-ea"/>
            </a:endParaRPr>
          </a:p>
        </p:txBody>
      </p:sp>
      <p:sp>
        <p:nvSpPr>
          <p:cNvPr id="1848" name="任意多边形 1847"/>
          <p:cNvSpPr/>
          <p:nvPr>
            <p:custDataLst>
              <p:tags r:id="rId10"/>
            </p:custDataLst>
          </p:nvPr>
        </p:nvSpPr>
        <p:spPr>
          <a:xfrm flipV="1">
            <a:off x="1821180" y="5387975"/>
            <a:ext cx="838200" cy="535305"/>
          </a:xfrm>
          <a:custGeom>
            <a:avLst/>
            <a:gdLst>
              <a:gd name="connsiteX0" fmla="*/ 0 w 6535"/>
              <a:gd name="connsiteY0" fmla="*/ 1841 h 1841"/>
              <a:gd name="connsiteX1" fmla="*/ 667 w 6535"/>
              <a:gd name="connsiteY1" fmla="*/ 401 h 1841"/>
              <a:gd name="connsiteX2" fmla="*/ 5868 w 6535"/>
              <a:gd name="connsiteY2" fmla="*/ 401 h 1841"/>
              <a:gd name="connsiteX3" fmla="*/ 6535 w 6535"/>
              <a:gd name="connsiteY3" fmla="*/ 1841 h 1841"/>
              <a:gd name="connsiteX4" fmla="*/ 0 w 6535"/>
              <a:gd name="connsiteY4" fmla="*/ 1841 h 18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35" h="1841">
                <a:moveTo>
                  <a:pt x="0" y="1841"/>
                </a:moveTo>
                <a:lnTo>
                  <a:pt x="667" y="401"/>
                </a:lnTo>
                <a:cubicBezTo>
                  <a:pt x="1985" y="-290"/>
                  <a:pt x="5427" y="48"/>
                  <a:pt x="5868" y="401"/>
                </a:cubicBezTo>
                <a:lnTo>
                  <a:pt x="6535" y="1841"/>
                </a:lnTo>
                <a:lnTo>
                  <a:pt x="0" y="1841"/>
                </a:lnTo>
                <a:close/>
              </a:path>
            </a:pathLst>
          </a:custGeom>
          <a:gradFill>
            <a:gsLst>
              <a:gs pos="0">
                <a:schemeClr val="accent6">
                  <a:lumMod val="20000"/>
                  <a:lumOff val="80000"/>
                  <a:alpha val="100000"/>
                </a:schemeClr>
              </a:gs>
              <a:gs pos="63000">
                <a:schemeClr val="accent6">
                  <a:alpha val="100000"/>
                </a:schemeClr>
              </a:gs>
            </a:gsLst>
            <a:lin ang="8100000" scaled="0"/>
          </a:gradFill>
          <a:ln>
            <a:noFill/>
          </a:ln>
          <a:effectLst>
            <a:outerShdw blurRad="38100" dist="19050" dir="5400000" algn="t" rotWithShape="0">
              <a:schemeClr val="accent6">
                <a:lumMod val="75000"/>
                <a:alpha val="25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tIns="323850" bIns="10795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en-US" altLang="zh-CN" sz="2800" b="1" spc="300">
              <a:solidFill>
                <a:schemeClr val="bg1"/>
              </a:solidFill>
              <a:effectLst>
                <a:innerShdw blurRad="63500" dist="50800" dir="18900000">
                  <a:schemeClr val="accent6">
                    <a:lumMod val="50000"/>
                    <a:alpha val="25000"/>
                  </a:schemeClr>
                </a:innerShdw>
              </a:effectLst>
              <a:uFillTx/>
              <a:sym typeface="+mn-ea"/>
            </a:endParaRPr>
          </a:p>
        </p:txBody>
      </p:sp>
      <p:sp>
        <p:nvSpPr>
          <p:cNvPr id="1849" name="椭圆 1848"/>
          <p:cNvSpPr/>
          <p:nvPr>
            <p:custDataLst>
              <p:tags r:id="rId11"/>
            </p:custDataLst>
          </p:nvPr>
        </p:nvSpPr>
        <p:spPr>
          <a:xfrm>
            <a:off x="1821090" y="5274002"/>
            <a:ext cx="840171" cy="195580"/>
          </a:xfrm>
          <a:prstGeom prst="ellipse">
            <a:avLst/>
          </a:prstGeom>
          <a:gradFill>
            <a:gsLst>
              <a:gs pos="62000">
                <a:schemeClr val="accent6">
                  <a:lumMod val="75000"/>
                  <a:alpha val="100000"/>
                </a:schemeClr>
              </a:gs>
              <a:gs pos="100000">
                <a:schemeClr val="accent6">
                  <a:lumMod val="60000"/>
                  <a:lumOff val="40000"/>
                  <a:alpha val="100000"/>
                </a:schemeClr>
              </a:gs>
            </a:gsLst>
            <a:lin ang="198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tIns="4572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olidFill>
                <a:schemeClr val="lt1"/>
              </a:solidFill>
              <a:sym typeface="+mn-ea"/>
            </a:endParaRPr>
          </a:p>
        </p:txBody>
      </p:sp>
      <p:sp>
        <p:nvSpPr>
          <p:cNvPr id="1850" name="任意多边形 1849"/>
          <p:cNvSpPr/>
          <p:nvPr>
            <p:custDataLst>
              <p:tags r:id="rId12"/>
            </p:custDataLst>
          </p:nvPr>
        </p:nvSpPr>
        <p:spPr>
          <a:xfrm flipV="1">
            <a:off x="1610360" y="4711065"/>
            <a:ext cx="1261110" cy="633095"/>
          </a:xfrm>
          <a:custGeom>
            <a:avLst/>
            <a:gdLst>
              <a:gd name="connsiteX0" fmla="*/ 0 w 6535"/>
              <a:gd name="connsiteY0" fmla="*/ 1841 h 1841"/>
              <a:gd name="connsiteX1" fmla="*/ 667 w 6535"/>
              <a:gd name="connsiteY1" fmla="*/ 401 h 1841"/>
              <a:gd name="connsiteX2" fmla="*/ 5868 w 6535"/>
              <a:gd name="connsiteY2" fmla="*/ 401 h 1841"/>
              <a:gd name="connsiteX3" fmla="*/ 6535 w 6535"/>
              <a:gd name="connsiteY3" fmla="*/ 1841 h 1841"/>
              <a:gd name="connsiteX4" fmla="*/ 0 w 6535"/>
              <a:gd name="connsiteY4" fmla="*/ 1841 h 18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35" h="1841">
                <a:moveTo>
                  <a:pt x="0" y="1841"/>
                </a:moveTo>
                <a:lnTo>
                  <a:pt x="667" y="401"/>
                </a:lnTo>
                <a:cubicBezTo>
                  <a:pt x="1985" y="-290"/>
                  <a:pt x="5427" y="48"/>
                  <a:pt x="5868" y="401"/>
                </a:cubicBezTo>
                <a:lnTo>
                  <a:pt x="6535" y="1841"/>
                </a:lnTo>
                <a:lnTo>
                  <a:pt x="0" y="1841"/>
                </a:lnTo>
                <a:close/>
              </a:path>
            </a:pathLst>
          </a:custGeom>
          <a:gradFill>
            <a:gsLst>
              <a:gs pos="0">
                <a:schemeClr val="accent5">
                  <a:lumMod val="20000"/>
                  <a:lumOff val="80000"/>
                  <a:alpha val="100000"/>
                </a:schemeClr>
              </a:gs>
              <a:gs pos="63000">
                <a:schemeClr val="accent5">
                  <a:alpha val="100000"/>
                </a:schemeClr>
              </a:gs>
            </a:gsLst>
            <a:lin ang="8100000" scaled="0"/>
          </a:gradFill>
          <a:ln>
            <a:noFill/>
          </a:ln>
          <a:effectLst>
            <a:outerShdw blurRad="38100" dist="19050" dir="5400000" algn="t" rotWithShape="0">
              <a:schemeClr val="accent5">
                <a:lumMod val="75000"/>
                <a:alpha val="25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tIns="323850" bIns="10795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en-US" altLang="zh-CN" sz="2800" b="1" spc="300">
              <a:solidFill>
                <a:schemeClr val="bg1"/>
              </a:solidFill>
              <a:effectLst>
                <a:innerShdw blurRad="63500" dist="50800" dir="18900000">
                  <a:schemeClr val="accent5">
                    <a:lumMod val="50000"/>
                    <a:alpha val="25000"/>
                  </a:schemeClr>
                </a:innerShdw>
              </a:effectLst>
              <a:uFillTx/>
              <a:sym typeface="+mn-ea"/>
            </a:endParaRPr>
          </a:p>
        </p:txBody>
      </p:sp>
      <p:sp>
        <p:nvSpPr>
          <p:cNvPr id="1851" name="椭圆 1850"/>
          <p:cNvSpPr/>
          <p:nvPr>
            <p:custDataLst>
              <p:tags r:id="rId13"/>
            </p:custDataLst>
          </p:nvPr>
        </p:nvSpPr>
        <p:spPr>
          <a:xfrm>
            <a:off x="1609315" y="4584392"/>
            <a:ext cx="1263337" cy="288290"/>
          </a:xfrm>
          <a:prstGeom prst="ellipse">
            <a:avLst/>
          </a:prstGeom>
          <a:gradFill>
            <a:gsLst>
              <a:gs pos="62000">
                <a:schemeClr val="accent5">
                  <a:lumMod val="75000"/>
                  <a:alpha val="100000"/>
                </a:schemeClr>
              </a:gs>
              <a:gs pos="100000">
                <a:schemeClr val="accent5">
                  <a:lumMod val="60000"/>
                  <a:lumOff val="40000"/>
                  <a:alpha val="100000"/>
                </a:schemeClr>
              </a:gs>
            </a:gsLst>
            <a:lin ang="198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tIns="4572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olidFill>
                <a:schemeClr val="lt1"/>
              </a:solidFill>
              <a:sym typeface="+mn-ea"/>
            </a:endParaRPr>
          </a:p>
        </p:txBody>
      </p:sp>
      <p:sp>
        <p:nvSpPr>
          <p:cNvPr id="1852" name="任意多边形 1851"/>
          <p:cNvSpPr/>
          <p:nvPr>
            <p:custDataLst>
              <p:tags r:id="rId14"/>
            </p:custDataLst>
          </p:nvPr>
        </p:nvSpPr>
        <p:spPr>
          <a:xfrm flipV="1">
            <a:off x="1321435" y="3994150"/>
            <a:ext cx="1838325" cy="708660"/>
          </a:xfrm>
          <a:custGeom>
            <a:avLst/>
            <a:gdLst>
              <a:gd name="connsiteX0" fmla="*/ 0 w 6535"/>
              <a:gd name="connsiteY0" fmla="*/ 1841 h 1841"/>
              <a:gd name="connsiteX1" fmla="*/ 667 w 6535"/>
              <a:gd name="connsiteY1" fmla="*/ 401 h 1841"/>
              <a:gd name="connsiteX2" fmla="*/ 5868 w 6535"/>
              <a:gd name="connsiteY2" fmla="*/ 401 h 1841"/>
              <a:gd name="connsiteX3" fmla="*/ 6535 w 6535"/>
              <a:gd name="connsiteY3" fmla="*/ 1841 h 1841"/>
              <a:gd name="connsiteX4" fmla="*/ 0 w 6535"/>
              <a:gd name="connsiteY4" fmla="*/ 1841 h 18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35" h="1841">
                <a:moveTo>
                  <a:pt x="0" y="1841"/>
                </a:moveTo>
                <a:lnTo>
                  <a:pt x="667" y="401"/>
                </a:lnTo>
                <a:cubicBezTo>
                  <a:pt x="1985" y="-290"/>
                  <a:pt x="5427" y="48"/>
                  <a:pt x="5868" y="401"/>
                </a:cubicBezTo>
                <a:lnTo>
                  <a:pt x="6535" y="1841"/>
                </a:lnTo>
                <a:lnTo>
                  <a:pt x="0" y="1841"/>
                </a:lnTo>
                <a:close/>
              </a:path>
            </a:pathLst>
          </a:custGeom>
          <a:gradFill>
            <a:gsLst>
              <a:gs pos="0">
                <a:schemeClr val="accent6">
                  <a:lumMod val="20000"/>
                  <a:lumOff val="80000"/>
                  <a:alpha val="100000"/>
                </a:schemeClr>
              </a:gs>
              <a:gs pos="63000">
                <a:schemeClr val="accent6">
                  <a:alpha val="100000"/>
                </a:schemeClr>
              </a:gs>
            </a:gsLst>
            <a:lin ang="8100000" scaled="0"/>
          </a:gradFill>
          <a:ln>
            <a:noFill/>
          </a:ln>
          <a:effectLst>
            <a:outerShdw blurRad="38100" dist="19050" dir="5400000" algn="t" rotWithShape="0">
              <a:schemeClr val="accent6">
                <a:lumMod val="75000"/>
                <a:alpha val="25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tIns="323850" bIns="10795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en-US" altLang="zh-CN" sz="2800" b="1" spc="300">
              <a:solidFill>
                <a:schemeClr val="bg1"/>
              </a:solidFill>
              <a:effectLst>
                <a:innerShdw blurRad="63500" dist="50800" dir="18900000">
                  <a:schemeClr val="accent6">
                    <a:lumMod val="50000"/>
                    <a:alpha val="25000"/>
                  </a:schemeClr>
                </a:innerShdw>
              </a:effectLst>
              <a:uFillTx/>
              <a:sym typeface="+mn-ea"/>
            </a:endParaRPr>
          </a:p>
        </p:txBody>
      </p:sp>
      <p:sp>
        <p:nvSpPr>
          <p:cNvPr id="1853" name="椭圆 1852"/>
          <p:cNvSpPr/>
          <p:nvPr>
            <p:custDataLst>
              <p:tags r:id="rId15"/>
            </p:custDataLst>
          </p:nvPr>
        </p:nvSpPr>
        <p:spPr>
          <a:xfrm>
            <a:off x="1321300" y="3830647"/>
            <a:ext cx="1840521" cy="378460"/>
          </a:xfrm>
          <a:prstGeom prst="ellipse">
            <a:avLst/>
          </a:prstGeom>
          <a:gradFill>
            <a:gsLst>
              <a:gs pos="62000">
                <a:schemeClr val="accent6">
                  <a:lumMod val="75000"/>
                  <a:alpha val="100000"/>
                </a:schemeClr>
              </a:gs>
              <a:gs pos="100000">
                <a:schemeClr val="accent6">
                  <a:lumMod val="60000"/>
                  <a:lumOff val="40000"/>
                  <a:alpha val="100000"/>
                </a:schemeClr>
              </a:gs>
            </a:gsLst>
            <a:lin ang="198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tIns="4572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olidFill>
                <a:schemeClr val="lt1"/>
              </a:solidFill>
              <a:sym typeface="+mn-ea"/>
            </a:endParaRPr>
          </a:p>
        </p:txBody>
      </p:sp>
      <p:sp>
        <p:nvSpPr>
          <p:cNvPr id="1854" name="任意多边形 1853"/>
          <p:cNvSpPr/>
          <p:nvPr>
            <p:custDataLst>
              <p:tags r:id="rId16"/>
            </p:custDataLst>
          </p:nvPr>
        </p:nvSpPr>
        <p:spPr>
          <a:xfrm flipV="1">
            <a:off x="986155" y="3170555"/>
            <a:ext cx="2510790" cy="862965"/>
          </a:xfrm>
          <a:custGeom>
            <a:avLst/>
            <a:gdLst>
              <a:gd name="connsiteX0" fmla="*/ 0 w 6535"/>
              <a:gd name="connsiteY0" fmla="*/ 1841 h 1841"/>
              <a:gd name="connsiteX1" fmla="*/ 667 w 6535"/>
              <a:gd name="connsiteY1" fmla="*/ 401 h 1841"/>
              <a:gd name="connsiteX2" fmla="*/ 5868 w 6535"/>
              <a:gd name="connsiteY2" fmla="*/ 401 h 1841"/>
              <a:gd name="connsiteX3" fmla="*/ 6535 w 6535"/>
              <a:gd name="connsiteY3" fmla="*/ 1841 h 1841"/>
              <a:gd name="connsiteX4" fmla="*/ 0 w 6535"/>
              <a:gd name="connsiteY4" fmla="*/ 1841 h 18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35" h="1841">
                <a:moveTo>
                  <a:pt x="0" y="1841"/>
                </a:moveTo>
                <a:lnTo>
                  <a:pt x="667" y="401"/>
                </a:lnTo>
                <a:cubicBezTo>
                  <a:pt x="1985" y="-290"/>
                  <a:pt x="5427" y="48"/>
                  <a:pt x="5868" y="401"/>
                </a:cubicBezTo>
                <a:lnTo>
                  <a:pt x="6535" y="1841"/>
                </a:lnTo>
                <a:lnTo>
                  <a:pt x="0" y="1841"/>
                </a:lnTo>
                <a:close/>
              </a:path>
            </a:pathLst>
          </a:custGeom>
          <a:gradFill>
            <a:gsLst>
              <a:gs pos="0">
                <a:schemeClr val="accent5">
                  <a:lumMod val="20000"/>
                  <a:lumOff val="80000"/>
                  <a:alpha val="100000"/>
                </a:schemeClr>
              </a:gs>
              <a:gs pos="63000">
                <a:schemeClr val="accent5">
                  <a:alpha val="100000"/>
                </a:schemeClr>
              </a:gs>
            </a:gsLst>
            <a:lin ang="8100000" scaled="0"/>
          </a:gradFill>
          <a:ln>
            <a:noFill/>
          </a:ln>
          <a:effectLst>
            <a:outerShdw blurRad="38100" dist="19050" dir="5400000" algn="t" rotWithShape="0">
              <a:schemeClr val="accent5">
                <a:lumMod val="75000"/>
                <a:alpha val="25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tIns="323850" bIns="10795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en-US" altLang="zh-CN" sz="2800" b="1" spc="300">
              <a:solidFill>
                <a:schemeClr val="bg1"/>
              </a:solidFill>
              <a:effectLst>
                <a:innerShdw blurRad="63500" dist="50800" dir="18900000">
                  <a:schemeClr val="accent5">
                    <a:lumMod val="50000"/>
                    <a:alpha val="25000"/>
                  </a:schemeClr>
                </a:innerShdw>
              </a:effectLst>
              <a:uFillTx/>
              <a:sym typeface="+mn-ea"/>
            </a:endParaRPr>
          </a:p>
        </p:txBody>
      </p:sp>
      <p:sp>
        <p:nvSpPr>
          <p:cNvPr id="1855" name="椭圆 1854"/>
          <p:cNvSpPr/>
          <p:nvPr>
            <p:custDataLst>
              <p:tags r:id="rId17"/>
            </p:custDataLst>
          </p:nvPr>
        </p:nvSpPr>
        <p:spPr>
          <a:xfrm>
            <a:off x="983615" y="2905666"/>
            <a:ext cx="2515892" cy="486698"/>
          </a:xfrm>
          <a:prstGeom prst="ellipse">
            <a:avLst/>
          </a:prstGeom>
          <a:gradFill>
            <a:gsLst>
              <a:gs pos="0">
                <a:schemeClr val="accent5">
                  <a:lumMod val="20000"/>
                  <a:lumOff val="80000"/>
                  <a:alpha val="100000"/>
                </a:schemeClr>
              </a:gs>
              <a:gs pos="100000">
                <a:schemeClr val="accent5">
                  <a:lumMod val="40000"/>
                  <a:lumOff val="60000"/>
                  <a:alpha val="100000"/>
                </a:schemeClr>
              </a:gs>
            </a:gsLst>
            <a:lin ang="54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1856" name="椭圆 1855"/>
          <p:cNvSpPr/>
          <p:nvPr>
            <p:custDataLst>
              <p:tags r:id="rId18"/>
            </p:custDataLst>
          </p:nvPr>
        </p:nvSpPr>
        <p:spPr>
          <a:xfrm>
            <a:off x="1500299" y="2960579"/>
            <a:ext cx="1442383" cy="333450"/>
          </a:xfrm>
          <a:prstGeom prst="ellipse">
            <a:avLst/>
          </a:prstGeom>
          <a:gradFill>
            <a:gsLst>
              <a:gs pos="0">
                <a:schemeClr val="accent5">
                  <a:lumMod val="20000"/>
                  <a:lumOff val="80000"/>
                  <a:alpha val="100000"/>
                </a:schemeClr>
              </a:gs>
              <a:gs pos="100000">
                <a:schemeClr val="accent5">
                  <a:lumMod val="40000"/>
                  <a:lumOff val="60000"/>
                  <a:alpha val="100000"/>
                </a:schemeClr>
              </a:gs>
            </a:gsLst>
            <a:lin ang="16140000" scaled="0"/>
          </a:gradFill>
          <a:ln>
            <a:noFill/>
          </a:ln>
          <a:effectLst>
            <a:innerShdw blurRad="292100" dist="152400" dir="13500000">
              <a:schemeClr val="accent5">
                <a:lumMod val="50000"/>
                <a:alpha val="18000"/>
              </a:schemeClr>
            </a:inn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olidFill>
                <a:schemeClr val="lt1"/>
              </a:solidFill>
              <a:sym typeface="+mn-ea"/>
            </a:endParaRPr>
          </a:p>
        </p:txBody>
      </p:sp>
      <p:sp>
        <p:nvSpPr>
          <p:cNvPr id="1858" name="矩形 1857"/>
          <p:cNvSpPr/>
          <p:nvPr>
            <p:custDataLst>
              <p:tags r:id="rId19"/>
            </p:custDataLst>
          </p:nvPr>
        </p:nvSpPr>
        <p:spPr>
          <a:xfrm>
            <a:off x="-222885" y="3267710"/>
            <a:ext cx="4988560" cy="589915"/>
          </a:xfrm>
          <a:prstGeom prst="rect">
            <a:avLst/>
          </a:prstGeom>
          <a:noFill/>
        </p:spPr>
        <p:txBody>
          <a:bodyPr wrap="square" lIns="0" tIns="0" rIns="0" bIns="0" rtlCol="0" anchor="b" anchorCtr="0">
            <a:noAutofit/>
          </a:bodyPr>
          <a:p>
            <a:pPr algn="ctr">
              <a:spcBef>
                <a:spcPct val="0"/>
              </a:spcBef>
              <a:spcAft>
                <a:spcPct val="0"/>
              </a:spcAft>
            </a:pPr>
            <a:r>
              <a:rPr lang="zh-CN" altLang="en-US" b="1" spc="300" dirty="0">
                <a:solidFill>
                  <a:schemeClr val="bg1">
                    <a:alpha val="60000"/>
                  </a:schemeClr>
                </a:solidFill>
                <a:uFillTx/>
                <a:latin typeface="+中文正文" charset="0"/>
                <a:cs typeface="+mn-ea"/>
                <a:sym typeface="+mn-ea"/>
              </a:rPr>
              <a:t>{{critical_period_security_log_count}}</a:t>
            </a:r>
            <a:endParaRPr lang="en-US" altLang="zh-CN" b="1" spc="300" dirty="0">
              <a:solidFill>
                <a:schemeClr val="bg1">
                  <a:alpha val="60000"/>
                </a:schemeClr>
              </a:solidFill>
              <a:uFillTx/>
              <a:latin typeface="+中文正文" charset="0"/>
              <a:cs typeface="+mn-ea"/>
              <a:sym typeface="+mn-ea"/>
            </a:endParaRPr>
          </a:p>
        </p:txBody>
      </p:sp>
      <p:sp>
        <p:nvSpPr>
          <p:cNvPr id="1859" name="矩形 1858"/>
          <p:cNvSpPr/>
          <p:nvPr>
            <p:custDataLst>
              <p:tags r:id="rId20"/>
            </p:custDataLst>
          </p:nvPr>
        </p:nvSpPr>
        <p:spPr>
          <a:xfrm>
            <a:off x="-658495" y="4079240"/>
            <a:ext cx="5753735" cy="535305"/>
          </a:xfrm>
          <a:prstGeom prst="rect">
            <a:avLst/>
          </a:prstGeom>
          <a:noFill/>
        </p:spPr>
        <p:txBody>
          <a:bodyPr wrap="square" lIns="0" tIns="0" rIns="0" bIns="0" rtlCol="0" anchor="b" anchorCtr="0">
            <a:noAutofit/>
          </a:bodyPr>
          <a:p>
            <a:pPr algn="ctr">
              <a:spcBef>
                <a:spcPct val="0"/>
              </a:spcBef>
              <a:spcAft>
                <a:spcPct val="0"/>
              </a:spcAft>
            </a:pPr>
            <a:r>
              <a:rPr lang="zh-CN" altLang="en-US" b="1" spc="300" dirty="0">
                <a:solidFill>
                  <a:schemeClr val="bg1">
                    <a:alpha val="70000"/>
                  </a:schemeClr>
                </a:solidFill>
                <a:uFillTx/>
                <a:latin typeface="+中文正文" charset="0"/>
                <a:cs typeface="+mn-ea"/>
                <a:sym typeface="+mn-ea"/>
              </a:rPr>
              <a:t>{{critical_period_alert_count}}</a:t>
            </a:r>
            <a:endParaRPr lang="en-US" altLang="zh-CN" b="1" spc="300" dirty="0">
              <a:solidFill>
                <a:schemeClr val="bg1">
                  <a:alpha val="70000"/>
                </a:schemeClr>
              </a:solidFill>
              <a:uFillTx/>
              <a:latin typeface="+中文正文" charset="0"/>
              <a:cs typeface="+mn-ea"/>
              <a:sym typeface="+mn-ea"/>
            </a:endParaRPr>
          </a:p>
        </p:txBody>
      </p:sp>
      <p:sp>
        <p:nvSpPr>
          <p:cNvPr id="1860" name="矩形 1859"/>
          <p:cNvSpPr/>
          <p:nvPr>
            <p:custDataLst>
              <p:tags r:id="rId21"/>
            </p:custDataLst>
          </p:nvPr>
        </p:nvSpPr>
        <p:spPr>
          <a:xfrm>
            <a:off x="198755" y="4709795"/>
            <a:ext cx="4131310" cy="535305"/>
          </a:xfrm>
          <a:prstGeom prst="rect">
            <a:avLst/>
          </a:prstGeom>
          <a:noFill/>
        </p:spPr>
        <p:txBody>
          <a:bodyPr wrap="square" lIns="0" tIns="0" rIns="0" bIns="0" rtlCol="0" anchor="b" anchorCtr="0">
            <a:noAutofit/>
          </a:bodyPr>
          <a:p>
            <a:pPr algn="ctr">
              <a:spcBef>
                <a:spcPct val="0"/>
              </a:spcBef>
              <a:spcAft>
                <a:spcPct val="0"/>
              </a:spcAft>
            </a:pPr>
            <a:r>
              <a:rPr lang="zh-CN" altLang="en-US" b="1" spc="300" dirty="0">
                <a:solidFill>
                  <a:schemeClr val="bg1">
                    <a:alpha val="70000"/>
                  </a:schemeClr>
                </a:solidFill>
                <a:uFillTx/>
                <a:latin typeface="+中文正文" charset="0"/>
                <a:cs typeface="+mn-ea"/>
                <a:sym typeface="+mn-ea"/>
              </a:rPr>
              <a:t>{{critical_period_incident_count}}</a:t>
            </a:r>
            <a:endParaRPr lang="zh-CN" altLang="en-US" b="1" spc="300" dirty="0">
              <a:solidFill>
                <a:schemeClr val="bg1">
                  <a:alpha val="70000"/>
                </a:schemeClr>
              </a:solidFill>
              <a:uFillTx/>
              <a:latin typeface="+中文正文" charset="0"/>
              <a:cs typeface="+mn-ea"/>
              <a:sym typeface="+mn-ea"/>
            </a:endParaRPr>
          </a:p>
        </p:txBody>
      </p:sp>
      <p:sp>
        <p:nvSpPr>
          <p:cNvPr id="1861" name="矩形 1860"/>
          <p:cNvSpPr/>
          <p:nvPr>
            <p:custDataLst>
              <p:tags r:id="rId22"/>
            </p:custDataLst>
          </p:nvPr>
        </p:nvSpPr>
        <p:spPr>
          <a:xfrm>
            <a:off x="1877060" y="5499100"/>
            <a:ext cx="659765" cy="378460"/>
          </a:xfrm>
          <a:prstGeom prst="rect">
            <a:avLst/>
          </a:prstGeom>
          <a:noFill/>
        </p:spPr>
        <p:txBody>
          <a:bodyPr wrap="square" lIns="0" tIns="0" rIns="0" bIns="0" rtlCol="0" anchor="ctr" anchorCtr="0">
            <a:noAutofit/>
          </a:bodyPr>
          <a:p>
            <a:pPr algn="ctr">
              <a:spcBef>
                <a:spcPct val="0"/>
              </a:spcBef>
              <a:spcAft>
                <a:spcPct val="0"/>
              </a:spcAft>
            </a:pPr>
            <a:r>
              <a:rPr lang="zh-CN" altLang="en-US" b="1" spc="300" dirty="0">
                <a:solidFill>
                  <a:schemeClr val="bg1">
                    <a:alpha val="60000"/>
                  </a:schemeClr>
                </a:solidFill>
                <a:uFillTx/>
                <a:latin typeface="+中文正文" charset="0"/>
                <a:cs typeface="+mn-ea"/>
                <a:sym typeface="+mn-ea"/>
              </a:rPr>
              <a:t>零</a:t>
            </a:r>
            <a:endParaRPr lang="zh-CN" altLang="en-US" b="1" spc="300" dirty="0">
              <a:solidFill>
                <a:schemeClr val="bg1">
                  <a:alpha val="60000"/>
                </a:schemeClr>
              </a:solidFill>
              <a:uFillTx/>
              <a:latin typeface="+中文正文" charset="0"/>
              <a:cs typeface="+mn-ea"/>
              <a:sym typeface="+mn-ea"/>
            </a:endParaRPr>
          </a:p>
        </p:txBody>
      </p:sp>
    </p:spTree>
    <p:custDataLst>
      <p:tags r:id="rId23"/>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8" name="文本框 7"/>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5"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26" name="组合 25"/>
          <p:cNvGrpSpPr/>
          <p:nvPr/>
        </p:nvGrpSpPr>
        <p:grpSpPr>
          <a:xfrm>
            <a:off x="1275398" y="1650365"/>
            <a:ext cx="2159635" cy="475615"/>
            <a:chOff x="4017" y="5198"/>
            <a:chExt cx="8006" cy="1498"/>
          </a:xfrm>
        </p:grpSpPr>
        <p:sp>
          <p:nvSpPr>
            <p:cNvPr id="39" name="文本框 38"/>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1" name="文本框 40"/>
            <p:cNvSpPr txBox="1"/>
            <p:nvPr/>
          </p:nvSpPr>
          <p:spPr>
            <a:xfrm>
              <a:off x="470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4" name="组合 43"/>
          <p:cNvGrpSpPr/>
          <p:nvPr/>
        </p:nvGrpSpPr>
        <p:grpSpPr>
          <a:xfrm>
            <a:off x="1275398" y="2854325"/>
            <a:ext cx="2159953" cy="487046"/>
            <a:chOff x="4017" y="8989"/>
            <a:chExt cx="8006" cy="1534"/>
          </a:xfrm>
        </p:grpSpPr>
        <p:sp>
          <p:nvSpPr>
            <p:cNvPr id="46" name="文本框 45"/>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7" name="文本框 46"/>
            <p:cNvSpPr txBox="1"/>
            <p:nvPr/>
          </p:nvSpPr>
          <p:spPr>
            <a:xfrm>
              <a:off x="4632"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8" name="组合 47"/>
          <p:cNvGrpSpPr/>
          <p:nvPr/>
        </p:nvGrpSpPr>
        <p:grpSpPr>
          <a:xfrm>
            <a:off x="1275398" y="2252345"/>
            <a:ext cx="2113996" cy="656591"/>
            <a:chOff x="4017" y="7030"/>
            <a:chExt cx="6911" cy="2068"/>
          </a:xfrm>
        </p:grpSpPr>
        <p:sp>
          <p:nvSpPr>
            <p:cNvPr id="50" name="文本框 49"/>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590"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53" name="椭圆 52"/>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54" name="组合 53"/>
          <p:cNvGrpSpPr/>
          <p:nvPr/>
        </p:nvGrpSpPr>
        <p:grpSpPr>
          <a:xfrm>
            <a:off x="728028" y="2298700"/>
            <a:ext cx="431800" cy="431800"/>
            <a:chOff x="2293" y="7118"/>
            <a:chExt cx="1360" cy="1360"/>
          </a:xfrm>
        </p:grpSpPr>
        <p:sp>
          <p:nvSpPr>
            <p:cNvPr id="57" name="椭圆 56"/>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58" name="图片 57"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61" name="椭圆 60"/>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62" name="文本框 61"/>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63" name="图片 62"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4" name="图片 63"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65" name="图表 64"/>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66" name="文本框 65"/>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68" name="图片 67"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69" name="文本框 68"/>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70"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71" name="组合 70"/>
          <p:cNvGrpSpPr/>
          <p:nvPr/>
        </p:nvGrpSpPr>
        <p:grpSpPr>
          <a:xfrm rot="0">
            <a:off x="7106285" y="4794568"/>
            <a:ext cx="1439545" cy="692150"/>
            <a:chOff x="23598" y="12409"/>
            <a:chExt cx="4534" cy="2180"/>
          </a:xfrm>
        </p:grpSpPr>
        <p:sp>
          <p:nvSpPr>
            <p:cNvPr id="72" name="文本框 71"/>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3" name="组合 72"/>
            <p:cNvGrpSpPr/>
            <p:nvPr/>
          </p:nvGrpSpPr>
          <p:grpSpPr>
            <a:xfrm rot="0">
              <a:off x="25412" y="12409"/>
              <a:ext cx="907" cy="907"/>
              <a:chOff x="25500" y="11572"/>
              <a:chExt cx="907" cy="907"/>
            </a:xfrm>
          </p:grpSpPr>
          <p:sp>
            <p:nvSpPr>
              <p:cNvPr id="74" name="椭圆 73"/>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75" name="图片 74"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76" name="组合 75"/>
          <p:cNvGrpSpPr/>
          <p:nvPr/>
        </p:nvGrpSpPr>
        <p:grpSpPr>
          <a:xfrm rot="0">
            <a:off x="9695815" y="4794568"/>
            <a:ext cx="1439545" cy="692150"/>
            <a:chOff x="31276" y="12409"/>
            <a:chExt cx="4534" cy="2180"/>
          </a:xfrm>
        </p:grpSpPr>
        <p:sp>
          <p:nvSpPr>
            <p:cNvPr id="78" name="文本框 77"/>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9" name="组合 78"/>
            <p:cNvGrpSpPr/>
            <p:nvPr/>
          </p:nvGrpSpPr>
          <p:grpSpPr>
            <a:xfrm rot="0">
              <a:off x="33090" y="12409"/>
              <a:ext cx="907" cy="907"/>
              <a:chOff x="33129" y="11647"/>
              <a:chExt cx="907" cy="907"/>
            </a:xfrm>
          </p:grpSpPr>
          <p:sp>
            <p:nvSpPr>
              <p:cNvPr id="80" name="椭圆 79"/>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1" name="图片 80"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82" name="图片 81"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83" name="文本框 82"/>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4" name="组合 83"/>
          <p:cNvGrpSpPr/>
          <p:nvPr/>
        </p:nvGrpSpPr>
        <p:grpSpPr>
          <a:xfrm rot="0">
            <a:off x="4516120" y="4794568"/>
            <a:ext cx="1440180" cy="692150"/>
            <a:chOff x="15001" y="12047"/>
            <a:chExt cx="4536" cy="2180"/>
          </a:xfrm>
        </p:grpSpPr>
        <p:sp>
          <p:nvSpPr>
            <p:cNvPr id="85" name="文本框 84"/>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6" name="组合 85"/>
            <p:cNvGrpSpPr/>
            <p:nvPr/>
          </p:nvGrpSpPr>
          <p:grpSpPr>
            <a:xfrm>
              <a:off x="16816" y="12047"/>
              <a:ext cx="907" cy="907"/>
              <a:chOff x="16280" y="11640"/>
              <a:chExt cx="907" cy="907"/>
            </a:xfrm>
          </p:grpSpPr>
          <p:sp>
            <p:nvSpPr>
              <p:cNvPr id="87" name="椭圆 86"/>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8" name="图片 87"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89" name="图片 88"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90" name="文本框 89"/>
          <p:cNvSpPr txBox="1"/>
          <p:nvPr/>
        </p:nvSpPr>
        <p:spPr>
          <a:xfrm>
            <a:off x="8013065" y="1371600"/>
            <a:ext cx="3558540" cy="2509520"/>
          </a:xfrm>
          <a:prstGeom prst="rect">
            <a:avLst/>
          </a:prstGeom>
          <a:noFill/>
        </p:spPr>
        <p:txBody>
          <a:bodyPr wrap="square" rtlCol="0" anchor="t">
            <a:spAutoFit/>
          </a:bodyPr>
          <a:p>
            <a:pPr marL="191770" indent="0" algn="l" rtl="0" eaLnBrk="0" fontAlgn="auto">
              <a:lnSpc>
                <a:spcPct val="15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mid_autumn_festival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national_day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new_years_day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spring_festival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qingming_festival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labor_day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dragon_boat_festival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1" name="文本框 90"/>
          <p:cNvSpPr txBox="1"/>
          <p:nvPr/>
        </p:nvSpPr>
        <p:spPr>
          <a:xfrm>
            <a:off x="5333365" y="1484630"/>
            <a:ext cx="1885315" cy="368300"/>
          </a:xfrm>
          <a:prstGeom prst="rect">
            <a:avLst/>
          </a:prstGeom>
          <a:noFill/>
        </p:spPr>
        <p:txBody>
          <a:bodyPr wrap="square" rtlCol="0" anchor="t">
            <a:spAutoFit/>
          </a:bodyPr>
          <a:p>
            <a:r>
              <a:rPr lang="zh-CN" altLang="en-US"/>
              <a:t>{{P</a:t>
            </a:r>
            <a:r>
              <a:rPr lang="en-US" altLang="zh-CN"/>
              <a:t>30</a:t>
            </a:r>
            <a:r>
              <a:rPr lang="zh-CN" altLang="en-US"/>
              <a:t>_combo}}</a:t>
            </a:r>
            <a:endParaRPr lang="zh-CN" altLang="en-US"/>
          </a:p>
        </p:txBody>
      </p:sp>
      <p:sp>
        <p:nvSpPr>
          <p:cNvPr id="158" name="textbox 158"/>
          <p:cNvSpPr/>
          <p:nvPr/>
        </p:nvSpPr>
        <p:spPr>
          <a:xfrm>
            <a:off x="631190" y="370840"/>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pitchFamily="34" charset="0"/>
              <a:ea typeface="黑体-简" panose="02000000000000000000" charset="-122"/>
              <a:cs typeface="Arial" panose="020B0604020202020204"/>
            </a:endParaRPr>
          </a:p>
          <a:p>
            <a:pPr algn="l" rtl="0" eaLnBrk="0">
              <a:lnSpc>
                <a:spcPct val="101000"/>
              </a:lnSpc>
            </a:pPr>
            <a:r>
              <a:rPr lang="zh-CN" altLang="en-US" sz="1900" kern="0" dirty="0">
                <a:solidFill>
                  <a:srgbClr val="4C61E7"/>
                </a:solidFill>
                <a:latin typeface="Arial" panose="020B0604020202020204" pitchFamily="34" charset="0"/>
                <a:ea typeface="黑体-简" panose="02000000000000000000" charset="-122"/>
                <a:cs typeface="黑体" panose="02010609060101010101" charset="-122"/>
              </a:rPr>
              <a:t>节假日保障工作详情</a:t>
            </a:r>
            <a:endParaRPr sz="800" dirty="0">
              <a:latin typeface="Arial" panose="020B0604020202020204" pitchFamily="34" charset="0"/>
              <a:ea typeface="黑体-简" panose="02000000000000000000" charset="-122"/>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降低被通报风险</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a:p>
              <a:pPr algn="l" rtl="0" eaLnBrk="0">
                <a:lnSpc>
                  <a:spcPct val="101000"/>
                </a:lnSpc>
              </a:pP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93" name="圆角矩形 692"/>
          <p:cNvSpPr/>
          <p:nvPr>
            <p:custDataLst>
              <p:tags r:id="rId4"/>
            </p:custDataLst>
          </p:nvPr>
        </p:nvSpPr>
        <p:spPr>
          <a:xfrm>
            <a:off x="739775" y="1416050"/>
            <a:ext cx="10848340" cy="671830"/>
          </a:xfrm>
          <a:prstGeom prst="roundRect">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algn="ctr">
              <a:lnSpc>
                <a:spcPct val="140000"/>
              </a:lnSpc>
            </a:pPr>
            <a:r>
              <a:rPr lang="zh-CN" altLang="en-US" sz="1400" b="1">
                <a:solidFill>
                  <a:schemeClr val="tx1"/>
                </a:solidFill>
                <a:uFillTx/>
                <a:latin typeface="Arial" panose="020B0604020202020204" pitchFamily="34" charset="0"/>
                <a:ea typeface="黑体-简" panose="02000000000000000000" charset="-122"/>
              </a:rPr>
              <a:t>安全通报从去年的</a:t>
            </a:r>
            <a:r>
              <a:rPr lang="en-US" altLang="zh-CN" sz="1400" b="1">
                <a:solidFill>
                  <a:srgbClr val="4C61E7"/>
                </a:solidFill>
                <a:uFillTx/>
                <a:latin typeface="Arial" panose="020B0604020202020204" pitchFamily="34" charset="0"/>
                <a:ea typeface="黑体-简" panose="02000000000000000000" charset="-122"/>
              </a:rPr>
              <a:t>{{previous_service_period_reported_count}}</a:t>
            </a:r>
            <a:r>
              <a:rPr lang="zh-CN" altLang="en-US" sz="1400" b="1">
                <a:solidFill>
                  <a:schemeClr val="tx1"/>
                </a:solidFill>
                <a:uFillTx/>
                <a:latin typeface="Arial" panose="020B0604020202020204" pitchFamily="34" charset="0"/>
                <a:ea typeface="黑体-简" panose="02000000000000000000" charset="-122"/>
                <a:sym typeface="+mn-ea"/>
              </a:rPr>
              <a:t>次</a:t>
            </a:r>
            <a:r>
              <a:rPr lang="zh-CN" altLang="en-US" sz="1400" b="1">
                <a:solidFill>
                  <a:schemeClr val="tx1"/>
                </a:solidFill>
                <a:uFillTx/>
                <a:latin typeface="Arial" panose="020B0604020202020204" pitchFamily="34" charset="0"/>
                <a:ea typeface="黑体-简" panose="02000000000000000000" charset="-122"/>
              </a:rPr>
              <a:t>降低为</a:t>
            </a:r>
            <a:r>
              <a:rPr lang="en-US" altLang="zh-CN" sz="1400" b="1">
                <a:solidFill>
                  <a:srgbClr val="4C61E7"/>
                </a:solidFill>
                <a:uFillTx/>
                <a:latin typeface="Arial" panose="020B0604020202020204" pitchFamily="34" charset="0"/>
                <a:ea typeface="黑体-简" panose="02000000000000000000" charset="-122"/>
                <a:sym typeface="+mn-ea"/>
              </a:rPr>
              <a:t>{{reported_count}}</a:t>
            </a:r>
            <a:r>
              <a:rPr lang="zh-CN" altLang="en-US" sz="1400" b="1">
                <a:solidFill>
                  <a:schemeClr val="tx1"/>
                </a:solidFill>
                <a:uFillTx/>
                <a:latin typeface="Arial" panose="020B0604020202020204" pitchFamily="34" charset="0"/>
                <a:ea typeface="黑体-简" panose="02000000000000000000" charset="-122"/>
              </a:rPr>
              <a:t>次。通过快速溯源与闭环整改，结合专业书面回函，彻底消除了被追责处罚的风险，保障了单位年度考核与评优不受安全问题影响。</a:t>
            </a:r>
            <a:endParaRPr lang="zh-CN" altLang="en-US" sz="1400" b="1">
              <a:solidFill>
                <a:schemeClr val="tx1"/>
              </a:solidFill>
              <a:uFillTx/>
              <a:latin typeface="Arial" panose="020B0604020202020204" pitchFamily="34" charset="0"/>
              <a:ea typeface="黑体-简" panose="02000000000000000000" charset="-122"/>
            </a:endParaRPr>
          </a:p>
        </p:txBody>
      </p:sp>
      <p:pic>
        <p:nvPicPr>
          <p:cNvPr id="696" name="图片 695" descr="盾牌"/>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rcRect/>
          <a:stretch>
            <a:fillRect/>
          </a:stretch>
        </p:blipFill>
        <p:spPr>
          <a:xfrm>
            <a:off x="1971815" y="2577539"/>
            <a:ext cx="395605" cy="396194"/>
          </a:xfrm>
          <a:prstGeom prst="rect">
            <a:avLst/>
          </a:prstGeom>
          <a:effectLst>
            <a:outerShdw blurRad="127000" dist="63500" dir="5400000" algn="t" rotWithShape="0">
              <a:schemeClr val="accent5">
                <a:lumMod val="75000"/>
                <a:alpha val="10000"/>
              </a:schemeClr>
            </a:outerShdw>
          </a:effectLst>
        </p:spPr>
      </p:pic>
      <p:pic>
        <p:nvPicPr>
          <p:cNvPr id="697" name="图片 696" descr="维修"/>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rcRect/>
          <a:stretch>
            <a:fillRect/>
          </a:stretch>
        </p:blipFill>
        <p:spPr>
          <a:xfrm>
            <a:off x="5939812" y="2595931"/>
            <a:ext cx="359368" cy="358775"/>
          </a:xfrm>
          <a:prstGeom prst="rect">
            <a:avLst/>
          </a:prstGeom>
          <a:effectLst>
            <a:outerShdw blurRad="127000" dist="63500" dir="5400000" algn="t" rotWithShape="0">
              <a:schemeClr val="accent6">
                <a:lumMod val="75000"/>
                <a:alpha val="10000"/>
              </a:schemeClr>
            </a:outerShdw>
          </a:effectLst>
        </p:spPr>
      </p:pic>
      <p:sp>
        <p:nvSpPr>
          <p:cNvPr id="698" name="圆角矩形 697"/>
          <p:cNvSpPr/>
          <p:nvPr>
            <p:custDataLst>
              <p:tags r:id="rId11"/>
            </p:custDataLst>
          </p:nvPr>
        </p:nvSpPr>
        <p:spPr>
          <a:xfrm>
            <a:off x="639445"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144145" rIns="144145" rtlCol="0" anchor="t" anchorCtr="0"/>
          <a:lstStyle/>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、提供外联恶意地址库及时更新；</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、保持边界和端点安全防护组件策略及时更新，保障恶意外联的检出和拦截有效性；</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7*24</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小时全天候监测，精准识别并成功阻断</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{{malicious_external_connection_count}}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次非法外联尝试，实现恶意外联通报</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零发生</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699" name="圆角矩形 698"/>
          <p:cNvSpPr/>
          <p:nvPr>
            <p:custDataLst>
              <p:tags r:id="rId12"/>
            </p:custDataLst>
          </p:nvPr>
        </p:nvSpPr>
        <p:spPr>
          <a:xfrm>
            <a:off x="4599940" y="3527425"/>
            <a:ext cx="3059430" cy="2667635"/>
          </a:xfrm>
          <a:prstGeom prst="roundRect">
            <a:avLst>
              <a:gd name="adj" fmla="val 7624"/>
            </a:avLst>
          </a:prstGeom>
          <a:solidFill>
            <a:schemeClr val="accent6">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、总共执行</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{{vulnerability_scan_count}}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次漏洞扫描与优先级分析，输出差异化加固建议；</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、针对老旧系统，通过联动下一代防火墙的防护规则或者访问控制策略实现了有效保护；</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、业务侧配合修复了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{{fixed_vulnerability_count}}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个漏洞，安全策略有效防护了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{{protected_vulnerability_count}}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个漏洞，大幅降低了漏洞被通报的风险。</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0" name="圆角矩形 699"/>
          <p:cNvSpPr/>
          <p:nvPr>
            <p:custDataLst>
              <p:tags r:id="rId13"/>
            </p:custDataLst>
          </p:nvPr>
        </p:nvSpPr>
        <p:spPr>
          <a:xfrm>
            <a:off x="8561070"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、构建</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接收</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溯源</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处置</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回函</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归档</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的全链路标准作业程序（</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SOP</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），确保即便面对突发情况也能极速响应，完全满足监管回函时效与质量要求。</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、通过双方通力配合，高质量的处理了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{{reported_count}}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次通报问题排查与回函</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1" name="文本框 700"/>
          <p:cNvSpPr txBox="1"/>
          <p:nvPr>
            <p:custDataLst>
              <p:tags r:id="rId14"/>
            </p:custDataLst>
          </p:nvPr>
        </p:nvSpPr>
        <p:spPr>
          <a:xfrm>
            <a:off x="611505"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非法外联行为识别与阻断</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sp>
        <p:nvSpPr>
          <p:cNvPr id="702" name="文本框 701"/>
          <p:cNvSpPr txBox="1"/>
          <p:nvPr>
            <p:custDataLst>
              <p:tags r:id="rId15"/>
            </p:custDataLst>
          </p:nvPr>
        </p:nvSpPr>
        <p:spPr>
          <a:xfrm>
            <a:off x="4572177"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6">
                    <a:lumMod val="75000"/>
                  </a:schemeClr>
                </a:solidFill>
                <a:latin typeface="Arial Black" panose="020B0A04020102020204" pitchFamily="34" charset="0"/>
                <a:ea typeface="微软雅黑" panose="020B0503020204020204" charset="-122"/>
                <a:sym typeface="+mn-ea"/>
              </a:rPr>
              <a:t>高危漏洞识别与修复</a:t>
            </a:r>
            <a:endParaRPr lang="zh-CN" altLang="en-US" sz="1200" b="1">
              <a:solidFill>
                <a:schemeClr val="accent6">
                  <a:lumMod val="75000"/>
                </a:schemeClr>
              </a:solidFill>
              <a:latin typeface="Arial Black" panose="020B0A04020102020204" pitchFamily="34" charset="0"/>
              <a:ea typeface="微软雅黑" panose="020B0503020204020204" charset="-122"/>
              <a:sym typeface="+mn-ea"/>
            </a:endParaRPr>
          </a:p>
        </p:txBody>
      </p:sp>
      <p:sp>
        <p:nvSpPr>
          <p:cNvPr id="703" name="文本框 702"/>
          <p:cNvSpPr txBox="1"/>
          <p:nvPr>
            <p:custDataLst>
              <p:tags r:id="rId16"/>
            </p:custDataLst>
          </p:nvPr>
        </p:nvSpPr>
        <p:spPr>
          <a:xfrm>
            <a:off x="8532849"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通报问题高效应对</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pic>
        <p:nvPicPr>
          <p:cNvPr id="704" name="图片 703" descr="职业资格"/>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9892865" y="2578151"/>
            <a:ext cx="395559" cy="394970"/>
          </a:xfrm>
          <a:prstGeom prst="rect">
            <a:avLst/>
          </a:prstGeom>
          <a:effectLst>
            <a:outerShdw blurRad="127000" dist="63500" dir="5400000" algn="t" rotWithShape="0">
              <a:schemeClr val="accent5">
                <a:lumMod val="75000"/>
                <a:alpha val="10000"/>
              </a:schemeClr>
            </a:outerShdw>
          </a:effectLst>
        </p:spPr>
      </p:pic>
    </p:spTree>
    <p:custDataLst>
      <p:tags r:id="rId20"/>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rPr>
              <a:t>关键问题与应对思路</a:t>
            </a:r>
            <a:endPar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lstStyle/>
          <a:p>
            <a:r>
              <a:rPr lang="zh-CN" altLang="en-US" sz="3200">
                <a:solidFill>
                  <a:srgbClr val="4C61E7"/>
                </a:solidFill>
                <a:latin typeface="Arial Black" panose="020B0A04020102020204" pitchFamily="34" charset="0"/>
                <a:ea typeface="微软雅黑" panose="020B0503020204020204" charset="-122"/>
              </a:rPr>
              <a:t>共同的挑战与应对思路</a:t>
            </a:r>
            <a:r>
              <a:rPr lang="zh-CN" altLang="en-US" sz="3200">
                <a:solidFill>
                  <a:srgbClr val="4C61E7"/>
                </a:solidFill>
                <a:highlight>
                  <a:srgbClr val="FFFF00"/>
                </a:highlight>
                <a:latin typeface="Arial Black" panose="020B0A04020102020204" pitchFamily="34" charset="0"/>
                <a:ea typeface="微软雅黑" panose="020B0503020204020204" charset="-122"/>
              </a:rPr>
              <a:t>（</a:t>
            </a:r>
            <a:r>
              <a:rPr lang="zh-CN" altLang="en-US" sz="3200">
                <a:solidFill>
                  <a:srgbClr val="4C61E7"/>
                </a:solidFill>
                <a:highlight>
                  <a:srgbClr val="FFFF00"/>
                </a:highlight>
                <a:latin typeface="Arial Black" panose="020B0A04020102020204" pitchFamily="34" charset="0"/>
                <a:ea typeface="微软雅黑" panose="020B0503020204020204" charset="-122"/>
              </a:rPr>
              <a:t>可选）</a:t>
            </a:r>
            <a:endParaRPr lang="zh-CN" altLang="en-US" sz="3200">
              <a:solidFill>
                <a:srgbClr val="4C61E7"/>
              </a:solidFill>
              <a:highlight>
                <a:srgbClr val="FFFF00"/>
              </a:highlight>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03</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22960"/>
                <a:gridCol w="885825"/>
                <a:gridCol w="510540"/>
                <a:gridCol w="2082165"/>
                <a:gridCol w="1869440"/>
                <a:gridCol w="3914140"/>
                <a:gridCol w="11207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安全监测防护不足</a:t>
                      </a: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1</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latin typeface="Arial" panose="020B0604020202020204" pitchFamily="34" charset="0"/>
                          <a:ea typeface="黑体-简" panose="02000000000000000000" charset="-122"/>
                          <a:cs typeface="微软雅黑" panose="020B0503020204020204" charset="-122"/>
                        </a:rPr>
                        <a:t>部分业务服务器EDR未安装覆盖（现网</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X.X.X.X</a:t>
                      </a:r>
                      <a:r>
                        <a:rPr lang="en-US" altLang="zh-CN" sz="1200" dirty="0">
                          <a:latin typeface="Arial" panose="020B0604020202020204" pitchFamily="34" charset="0"/>
                          <a:ea typeface="黑体-简" panose="02000000000000000000" charset="-122"/>
                          <a:cs typeface="微软雅黑" panose="020B0503020204020204" charset="-122"/>
                        </a:rPr>
                        <a:t>服务器网段仍有</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a:t>
                      </a:r>
                      <a:r>
                        <a:rPr lang="en-US" altLang="zh-CN" sz="1200" dirty="0">
                          <a:latin typeface="Arial" panose="020B0604020202020204" pitchFamily="34" charset="0"/>
                          <a:ea typeface="黑体-简" panose="02000000000000000000" charset="-122"/>
                          <a:cs typeface="微软雅黑" panose="020B0503020204020204" charset="-122"/>
                        </a:rPr>
                        <a:t>台活跃主机未覆盖EDR）</a:t>
                      </a: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2</a:t>
                      </a:r>
                      <a:r>
                        <a:rPr lang="zh-CN" altLang="en-US" sz="1200" dirty="0">
                          <a:latin typeface="Arial" panose="020B0604020202020204" pitchFamily="34" charset="0"/>
                          <a:ea typeface="黑体-简" panose="02000000000000000000" charset="-122"/>
                          <a:cs typeface="微软雅黑" panose="020B0503020204020204" charset="-122"/>
                        </a:rPr>
                        <a:t>、</a:t>
                      </a:r>
                      <a:r>
                        <a:rPr lang="zh-CN" sz="1200" dirty="0">
                          <a:latin typeface="Arial" panose="020B0604020202020204" pitchFamily="34" charset="0"/>
                          <a:ea typeface="黑体-简" panose="02000000000000000000" charset="-122"/>
                          <a:cs typeface="微软雅黑" panose="020B0503020204020204" charset="-122"/>
                        </a:rPr>
                        <a:t>出口防火墙存在较多的</a:t>
                      </a:r>
                      <a:r>
                        <a:rPr lang="en-US" altLang="zh-CN" sz="1200" dirty="0">
                          <a:latin typeface="Arial" panose="020B0604020202020204" pitchFamily="34" charset="0"/>
                          <a:ea typeface="黑体-简" panose="02000000000000000000" charset="-122"/>
                          <a:cs typeface="微软雅黑" panose="020B0503020204020204" charset="-122"/>
                        </a:rPr>
                        <a:t>IP</a:t>
                      </a:r>
                      <a:r>
                        <a:rPr lang="zh-CN" altLang="en-US" sz="1200" dirty="0">
                          <a:latin typeface="Arial" panose="020B0604020202020204" pitchFamily="34" charset="0"/>
                          <a:ea typeface="黑体-简" panose="02000000000000000000" charset="-122"/>
                          <a:cs typeface="微软雅黑" panose="020B0503020204020204" charset="-122"/>
                        </a:rPr>
                        <a:t>或者域名白名单</a:t>
                      </a: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3</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a:t>
                      </a:r>
                      <a:r>
                        <a:rPr lang="zh-CN" altLang="en-US" sz="1200" dirty="0">
                          <a:solidFill>
                            <a:srgbClr val="4C61E7"/>
                          </a:solidFill>
                          <a:latin typeface="Arial" panose="020B0604020202020204" pitchFamily="34" charset="0"/>
                          <a:ea typeface="黑体-简" panose="02000000000000000000" charset="-122"/>
                          <a:cs typeface="微软雅黑" panose="020B0503020204020204" charset="-122"/>
                        </a:rPr>
                        <a:t>系统</a:t>
                      </a:r>
                      <a:r>
                        <a:rPr lang="zh-CN" altLang="en-US" sz="1200" dirty="0">
                          <a:latin typeface="Arial" panose="020B0604020202020204" pitchFamily="34" charset="0"/>
                          <a:ea typeface="黑体-简" panose="02000000000000000000" charset="-122"/>
                          <a:cs typeface="微软雅黑" panose="020B0503020204020204" charset="-122"/>
                        </a:rPr>
                        <a:t>采用加密传输</a:t>
                      </a:r>
                      <a:endParaRPr lang="zh-CN" altLang="en-US"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主机防护缺失，业务主机一旦遭受安全攻击，对应的业务可能产生中断、数据泄露。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）梳理提供现有覆盖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的主机清单，梳理现有服务器网段未安装覆盖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）核对推动覆盖业务服务器</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覆盖安装落地。</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b="0" dirty="0">
                          <a:solidFill>
                            <a:srgbClr val="4C61E7"/>
                          </a:solidFill>
                          <a:latin typeface="Arial" panose="020B0604020202020204" pitchFamily="34" charset="0"/>
                          <a:ea typeface="黑体-简" panose="02000000000000000000" charset="-122"/>
                          <a:cs typeface="黑体" panose="02010609060101010101" charset="-122"/>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3</a:t>
                      </a:r>
                      <a:r>
                        <a:rPr lang="zh-CN" altLang="en-US" sz="1200" b="0" dirty="0">
                          <a:latin typeface="Arial" panose="020B0604020202020204" pitchFamily="34" charset="0"/>
                          <a:ea typeface="黑体-简" panose="02000000000000000000" charset="-122"/>
                          <a:cs typeface="黑体" panose="02010609060101010101" charset="-122"/>
                        </a:rPr>
                        <a:t>）建议二次核对确认白名单清单，动态确认及调整，无需放置的及时去除</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dirty="0">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已梳理待覆盖清单进行二次确认。</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834390"/>
                <a:gridCol w="551815"/>
                <a:gridCol w="2082165"/>
                <a:gridCol w="1869440"/>
                <a:gridCol w="3876040"/>
                <a:gridCol w="11588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钓鱼和社工病毒威胁感染概率大，人员安全意识待提升</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90805" indent="0" algn="l" rtl="0" eaLnBrk="0" fontAlgn="auto">
                        <a:lnSpc>
                          <a:spcPct val="100000"/>
                        </a:lnSpc>
                        <a:spcBef>
                          <a:spcPts val="600"/>
                        </a:spcBef>
                      </a:pPr>
                      <a:r>
                        <a:rPr lang="zh-CN" altLang="en-US" sz="1200" dirty="0">
                          <a:latin typeface="Arial" panose="020B0604020202020204" pitchFamily="34" charset="0"/>
                          <a:ea typeface="黑体-简" panose="02000000000000000000" charset="-122"/>
                          <a:cs typeface="黑体" panose="02010609060101010101" charset="-122"/>
                          <a:sym typeface="+mn-ea"/>
                        </a:rPr>
                        <a:t>当季度单位内部存在僵木蠕、钓鱼的威胁事件较为高发（达到</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起，钓鱼存在</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起是银狐病毒</a:t>
                      </a:r>
                      <a:r>
                        <a:rPr lang="zh-CN" altLang="en-US" sz="1200" dirty="0">
                          <a:latin typeface="Arial" panose="020B0604020202020204" pitchFamily="34" charset="0"/>
                          <a:ea typeface="黑体-简" panose="02000000000000000000" charset="-122"/>
                          <a:cs typeface="黑体" panose="02010609060101010101" charset="-122"/>
                          <a:sym typeface="+mn-ea"/>
                        </a:rPr>
                        <a:t>】），终端感染银狐病毒钓鱼类风险较大，可能持续导致员工的财务损失。</a:t>
                      </a:r>
                      <a:endParaRPr lang="en-US" altLang="zh-CN"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PC</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终端遭受银狐或者钓鱼攻击，个人员工产生财产损失，主机失陷进而存在横向攻击</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Pacs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ERAS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核心业务服务器的风险。</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）完善主机定位方案，提供资产清单，通过导入资产清单到</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平台，事件通告可直接定位到资产归属责任人</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深信服（已完成）</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a:t>
                      </a:r>
                      <a:r>
                        <a:rPr lang="en-US" altLang="zh-CN" sz="1200" dirty="0">
                          <a:latin typeface="Arial" panose="020B0604020202020204" pitchFamily="34" charset="0"/>
                          <a:ea typeface="黑体-简" panose="02000000000000000000" charset="-122"/>
                          <a:cs typeface="黑体" panose="02010609060101010101" charset="-122"/>
                          <a:sym typeface="+mn-ea"/>
                        </a:rPr>
                        <a:t>PC</a:t>
                      </a:r>
                      <a:r>
                        <a:rPr lang="zh-CN" altLang="en-US" sz="1200" dirty="0">
                          <a:latin typeface="Arial" panose="020B0604020202020204" pitchFamily="34" charset="0"/>
                          <a:ea typeface="黑体-简" panose="02000000000000000000" charset="-122"/>
                          <a:cs typeface="黑体" panose="02010609060101010101" charset="-122"/>
                          <a:sym typeface="+mn-ea"/>
                        </a:rPr>
                        <a:t>主机安装</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及覆盖安装及定期查杀机制落地。</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1</a:t>
                      </a:r>
                      <a:r>
                        <a:rPr lang="zh-CN" altLang="en-US" sz="1200" b="0" dirty="0">
                          <a:latin typeface="Arial" panose="020B0604020202020204" pitchFamily="34" charset="0"/>
                          <a:ea typeface="黑体-简" panose="02000000000000000000" charset="-122"/>
                          <a:cs typeface="黑体" panose="02010609060101010101" charset="-122"/>
                        </a:rPr>
                        <a:t>）增加钓鱼演练，模拟实战提升人员安全意识</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2</a:t>
                      </a:r>
                      <a:r>
                        <a:rPr lang="zh-CN" altLang="en-US" sz="1200" b="0" dirty="0">
                          <a:latin typeface="Arial" panose="020B0604020202020204" pitchFamily="34" charset="0"/>
                          <a:ea typeface="黑体-简" panose="02000000000000000000" charset="-122"/>
                          <a:cs typeface="黑体" panose="02010609060101010101" charset="-122"/>
                        </a:rPr>
                        <a:t>）每年开展增加安全意识培训，提升用户安全意识</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资产定位方案目前已初步落地。</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共同的目标与行动计划</a:t>
            </a:r>
            <a:r>
              <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刷新</a:t>
            </a:r>
            <a:endPar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sz="3200">
                <a:solidFill>
                  <a:srgbClr val="4C61E7"/>
                </a:solidFill>
                <a:latin typeface="Arial Black" panose="020B0A04020102020204" pitchFamily="34" charset="0"/>
                <a:ea typeface="微软雅黑" panose="020B0503020204020204" charset="-122"/>
              </a:rPr>
              <a:t>下阶段目标与协作计划</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04</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pic>
        <p:nvPicPr>
          <p:cNvPr id="26" name="图片 25"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价值成果</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预期</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sz="1265">
                <a:solidFill>
                  <a:srgbClr val="4C61E7"/>
                </a:solidFill>
                <a:latin typeface="Arial" panose="020B0604020202020204" pitchFamily="34" charset="0"/>
                <a:ea typeface="黑体-简" panose="02000000000000000000" charset="-122"/>
                <a:cs typeface="Noto Sans SC"/>
                <a:sym typeface="Noto Sans SC"/>
              </a:rPr>
              <a:t>{{company</a:t>
            </a:r>
            <a:r>
              <a:rPr lang="en-US" altLang="zh-CN" sz="1265">
                <a:solidFill>
                  <a:srgbClr val="4C61E7"/>
                </a:solidFill>
                <a:latin typeface="Arial" panose="020B0604020202020204" pitchFamily="34" charset="0"/>
                <a:ea typeface="黑体-简" panose="02000000000000000000" charset="-122"/>
                <a:cs typeface="Noto Sans SC"/>
                <a:sym typeface="Noto Sans SC"/>
              </a:rPr>
              <a:t>}</a:t>
            </a:r>
            <a:r>
              <a:rPr lang="en-US" sz="1265">
                <a:solidFill>
                  <a:srgbClr val="4C61E7"/>
                </a:solidFill>
                <a:latin typeface="Arial" panose="020B0604020202020204" pitchFamily="34" charset="0"/>
                <a:ea typeface="黑体-简" panose="02000000000000000000" charset="-122"/>
                <a:cs typeface="Noto Sans SC"/>
                <a:sym typeface="Noto Sans SC"/>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7" name="组合 6"/>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9" name="组合 8"/>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10" name="组合 9"/>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
        <p:nvSpPr>
          <p:cNvPr id="11" name="Text Box 27"/>
          <p:cNvSpPr txBox="1">
            <a:spLocks noChangeArrowheads="1"/>
          </p:cNvSpPr>
          <p:nvPr/>
        </p:nvSpPr>
        <p:spPr bwMode="auto">
          <a:xfrm>
            <a:off x="2050415" y="1839595"/>
            <a:ext cx="1995170" cy="398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00" dirty="0">
                <a:solidFill>
                  <a:schemeClr val="tx1"/>
                </a:solidFill>
                <a:highlight>
                  <a:srgbClr val="FFFF00"/>
                </a:highlight>
                <a:latin typeface="Heiti SC Light" panose="02000000000000000000" charset="-122"/>
                <a:ea typeface="Heiti SC Light" panose="02000000000000000000" charset="-122"/>
              </a:rPr>
              <a:t>根据客户讨论对齐的结论刷新预期成果和协作计划</a:t>
            </a:r>
            <a:endParaRPr lang="zh-CN" altLang="en-US" sz="1000" dirty="0">
              <a:solidFill>
                <a:schemeClr val="tx1"/>
              </a:solidFill>
              <a:highlight>
                <a:srgbClr val="FFFF00"/>
              </a:highlight>
              <a:latin typeface="Heiti SC Light" panose="02000000000000000000" charset="-122"/>
              <a:ea typeface="Heiti SC Light" panose="02000000000000000000" charset="-122"/>
            </a:endParaRPr>
          </a:p>
        </p:txBody>
      </p:sp>
      <p:grpSp>
        <p:nvGrpSpPr>
          <p:cNvPr id="12" name="组合 11"/>
          <p:cNvGrpSpPr/>
          <p:nvPr/>
        </p:nvGrpSpPr>
        <p:grpSpPr>
          <a:xfrm>
            <a:off x="224790" y="289878"/>
            <a:ext cx="4462780" cy="327025"/>
            <a:chOff x="533" y="646"/>
            <a:chExt cx="7028"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关键价值成果与分工协作机制</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刷新</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grpSp>
        <p:nvGrpSpPr>
          <p:cNvPr id="9" name="组合 8"/>
          <p:cNvGrpSpPr/>
          <p:nvPr/>
        </p:nvGrpSpPr>
        <p:grpSpPr>
          <a:xfrm>
            <a:off x="224790" y="289878"/>
            <a:ext cx="5351145" cy="327025"/>
            <a:chOff x="533" y="646"/>
            <a:chExt cx="8427" cy="515"/>
          </a:xfrm>
        </p:grpSpPr>
        <p:grpSp>
          <p:nvGrpSpPr>
            <p:cNvPr id="10" name="组合 9"/>
            <p:cNvGrpSpPr/>
            <p:nvPr/>
          </p:nvGrpSpPr>
          <p:grpSpPr>
            <a:xfrm rot="0">
              <a:off x="533" y="672"/>
              <a:ext cx="582" cy="420"/>
              <a:chOff x="533" y="672"/>
              <a:chExt cx="582" cy="420"/>
            </a:xfrm>
          </p:grpSpPr>
          <p:sp>
            <p:nvSpPr>
              <p:cNvPr id="11"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2"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7" name="textbox 158"/>
            <p:cNvSpPr/>
            <p:nvPr/>
          </p:nvSpPr>
          <p:spPr>
            <a:xfrm>
              <a:off x="1345" y="646"/>
              <a:ext cx="761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关键价值成果与分工协作机制刷新</a:t>
              </a:r>
              <a:endPar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endParaRPr>
            </a:p>
          </p:txBody>
        </p:sp>
      </p:grpSp>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成果</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custDataLst>
              <p:tags r:id="rId3"/>
            </p:custDataLst>
          </p:nvPr>
        </p:nvSpPr>
        <p:spPr>
          <a:xfrm>
            <a:off x="4389120" y="1102360"/>
            <a:ext cx="4321175" cy="548640"/>
          </a:xfrm>
          <a:prstGeom prst="rect">
            <a:avLst/>
          </a:prstGeom>
          <a:solidFill>
            <a:srgbClr val="2563EB"/>
          </a:solidFill>
        </p:spPr>
      </p:sp>
      <p:sp>
        <p:nvSpPr>
          <p:cNvPr id="100" name="Text 16"/>
          <p:cNvSpPr/>
          <p:nvPr>
            <p:custDataLst>
              <p:tags r:id="rId4"/>
            </p:custDataLst>
          </p:nvPr>
        </p:nvSpPr>
        <p:spPr>
          <a:xfrm>
            <a:off x="4389120" y="1102360"/>
            <a:ext cx="4322445"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custDataLst>
              <p:tags r:id="rId5"/>
            </p:custDataLst>
          </p:nvPr>
        </p:nvSpPr>
        <p:spPr>
          <a:xfrm>
            <a:off x="8710930" y="1102360"/>
            <a:ext cx="3166110" cy="548640"/>
          </a:xfrm>
          <a:prstGeom prst="rect">
            <a:avLst/>
          </a:prstGeom>
          <a:solidFill>
            <a:srgbClr val="059669"/>
          </a:solidFill>
        </p:spPr>
      </p:sp>
      <p:sp>
        <p:nvSpPr>
          <p:cNvPr id="104" name="Text 20"/>
          <p:cNvSpPr/>
          <p:nvPr>
            <p:custDataLst>
              <p:tags r:id="rId6"/>
            </p:custDataLst>
          </p:nvPr>
        </p:nvSpPr>
        <p:spPr>
          <a:xfrm>
            <a:off x="8749665" y="1102360"/>
            <a:ext cx="3127375" cy="548640"/>
          </a:xfrm>
          <a:prstGeom prst="rect">
            <a:avLst/>
          </a:prstGeom>
          <a:noFill/>
        </p:spPr>
        <p:txBody>
          <a:bodyPr wrap="square" lIns="0" tIns="0" rIns="0" bIns="0" rtlCol="0" anchor="ctr"/>
          <a:lstStyle/>
          <a:p>
            <a:pPr marL="0" indent="0" algn="ctr">
              <a:buNone/>
            </a:pPr>
            <a:r>
              <a:rPr lang="en-US" sz="1265">
                <a:solidFill>
                  <a:srgbClr val="4C61E7"/>
                </a:solidFill>
                <a:latin typeface="Arial" panose="020B0604020202020204" pitchFamily="34" charset="0"/>
                <a:ea typeface="黑体-简" panose="02000000000000000000" charset="-122"/>
                <a:cs typeface="Noto Sans SC"/>
                <a:sym typeface="Noto Sans SC"/>
              </a:rPr>
              <a:t>{{company</a:t>
            </a:r>
            <a:r>
              <a:rPr lang="en-US" altLang="zh-CN" sz="1265">
                <a:solidFill>
                  <a:srgbClr val="4C61E7"/>
                </a:solidFill>
                <a:latin typeface="Arial" panose="020B0604020202020204" pitchFamily="34" charset="0"/>
                <a:ea typeface="黑体-简" panose="02000000000000000000" charset="-122"/>
                <a:cs typeface="Noto Sans SC"/>
                <a:sym typeface="Noto Sans SC"/>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5" name="Shape 21"/>
          <p:cNvSpPr/>
          <p:nvPr/>
        </p:nvSpPr>
        <p:spPr>
          <a:xfrm>
            <a:off x="304800" y="1651000"/>
            <a:ext cx="1403985" cy="1440180"/>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1706880" y="1651000"/>
            <a:ext cx="2682240" cy="1440180"/>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000" dirty="0">
                <a:latin typeface="Heiti SC Light" panose="02000000000000000000" charset="-122"/>
                <a:ea typeface="Heiti SC Light" panose="02000000000000000000" charset="-122"/>
                <a:cs typeface="Heiti SC Light" panose="02000000000000000000" charset="-122"/>
                <a:sym typeface="+mn-ea"/>
              </a:rPr>
              <a:t>核心业务（</a:t>
            </a:r>
            <a:r>
              <a:rPr lang="zh-CN" altLang="en-US" sz="1000"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en-US" altLang="zh-CN" sz="1000" dirty="0">
                <a:solidFill>
                  <a:srgbClr val="4C61E7"/>
                </a:solidFill>
                <a:latin typeface="Heiti SC Light" panose="02000000000000000000" charset="-122"/>
                <a:ea typeface="Heiti SC Light" panose="02000000000000000000" charset="-122"/>
                <a:cs typeface="Heiti SC Light" panose="02000000000000000000" charset="-122"/>
                <a:sym typeface="+mn-ea"/>
              </a:rPr>
              <a:t>TOP3</a:t>
            </a:r>
            <a:r>
              <a:rPr lang="zh-CN" altLang="en-US" sz="1000" dirty="0">
                <a:solidFill>
                  <a:srgbClr val="4C61E7"/>
                </a:solidFill>
                <a:latin typeface="Heiti SC Light" panose="02000000000000000000" charset="-122"/>
                <a:ea typeface="Heiti SC Light" panose="02000000000000000000" charset="-122"/>
                <a:cs typeface="Heiti SC Light" panose="02000000000000000000" charset="-122"/>
                <a:sym typeface="+mn-ea"/>
              </a:rPr>
              <a:t>核心应用系统</a:t>
            </a:r>
            <a:r>
              <a:rPr lang="zh-CN" altLang="en-US" sz="1000"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000" dirty="0">
                <a:latin typeface="Heiti SC Light" panose="02000000000000000000" charset="-122"/>
                <a:ea typeface="Heiti SC Light" panose="02000000000000000000" charset="-122"/>
                <a:cs typeface="Heiti SC Light" panose="02000000000000000000" charset="-122"/>
                <a:sym typeface="+mn-ea"/>
              </a:rPr>
              <a:t>0</a:t>
            </a:r>
            <a:r>
              <a:rPr lang="zh-CN" altLang="en-US" sz="10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0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0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a:t>
            </a:r>
            <a:r>
              <a:rPr lang="zh-CN" altLang="en-US" sz="1000" dirty="0">
                <a:latin typeface="Heiti SC Light" panose="02000000000000000000" charset="-122"/>
                <a:ea typeface="Heiti SC Light" panose="02000000000000000000" charset="-122"/>
                <a:cs typeface="Heiti SC Light" panose="02000000000000000000" charset="-122"/>
                <a:sym typeface="+mn-ea"/>
              </a:rPr>
              <a:t>损失；</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custDataLst>
              <p:tags r:id="rId7"/>
            </p:custDataLst>
          </p:nvPr>
        </p:nvSpPr>
        <p:spPr>
          <a:xfrm>
            <a:off x="4389120" y="1651000"/>
            <a:ext cx="4309745" cy="1440180"/>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custDataLst>
              <p:tags r:id="rId8"/>
            </p:custDataLst>
          </p:nvPr>
        </p:nvSpPr>
        <p:spPr>
          <a:xfrm>
            <a:off x="4389120" y="1651000"/>
            <a:ext cx="48895" cy="1440180"/>
          </a:xfrm>
          <a:prstGeom prst="rect">
            <a:avLst/>
          </a:prstGeom>
          <a:solidFill>
            <a:srgbClr val="2563EB">
              <a:alpha val="50000"/>
            </a:srgbClr>
          </a:solidFill>
        </p:spPr>
      </p:sp>
      <p:sp>
        <p:nvSpPr>
          <p:cNvPr id="111" name="Shape 31"/>
          <p:cNvSpPr/>
          <p:nvPr>
            <p:custDataLst>
              <p:tags r:id="rId9"/>
            </p:custDataLst>
          </p:nvPr>
        </p:nvSpPr>
        <p:spPr>
          <a:xfrm>
            <a:off x="8742045" y="1651000"/>
            <a:ext cx="3134995" cy="1440180"/>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custDataLst>
              <p:tags r:id="rId10"/>
            </p:custDataLst>
          </p:nvPr>
        </p:nvSpPr>
        <p:spPr>
          <a:xfrm>
            <a:off x="8700135" y="1647190"/>
            <a:ext cx="48895" cy="1440180"/>
          </a:xfrm>
          <a:prstGeom prst="rect">
            <a:avLst/>
          </a:prstGeom>
          <a:solidFill>
            <a:srgbClr val="059669">
              <a:alpha val="50000"/>
            </a:srgbClr>
          </a:solidFill>
        </p:spPr>
      </p:sp>
      <p:sp>
        <p:nvSpPr>
          <p:cNvPr id="113" name="Shape 34"/>
          <p:cNvSpPr/>
          <p:nvPr/>
        </p:nvSpPr>
        <p:spPr>
          <a:xfrm>
            <a:off x="304800" y="3096895"/>
            <a:ext cx="1403985" cy="1440180"/>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1706880" y="3097530"/>
            <a:ext cx="2682240" cy="1440180"/>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概率；</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、被通报问题的有效排查</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和响应回函不超过48</a:t>
            </a: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H。</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custDataLst>
              <p:tags r:id="rId11"/>
            </p:custDataLst>
          </p:nvPr>
        </p:nvSpPr>
        <p:spPr>
          <a:xfrm>
            <a:off x="4389120" y="3096895"/>
            <a:ext cx="4309745" cy="1440180"/>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custDataLst>
              <p:tags r:id="rId12"/>
            </p:custDataLst>
          </p:nvPr>
        </p:nvSpPr>
        <p:spPr>
          <a:xfrm>
            <a:off x="4389120" y="3096895"/>
            <a:ext cx="48895" cy="1440180"/>
          </a:xfrm>
          <a:prstGeom prst="rect">
            <a:avLst/>
          </a:prstGeom>
          <a:solidFill>
            <a:srgbClr val="2563EB">
              <a:alpha val="50000"/>
            </a:srgbClr>
          </a:solidFill>
        </p:spPr>
      </p:sp>
      <p:sp>
        <p:nvSpPr>
          <p:cNvPr id="119" name="Shape 44"/>
          <p:cNvSpPr/>
          <p:nvPr>
            <p:custDataLst>
              <p:tags r:id="rId13"/>
            </p:custDataLst>
          </p:nvPr>
        </p:nvSpPr>
        <p:spPr>
          <a:xfrm>
            <a:off x="8711565" y="3096895"/>
            <a:ext cx="3165475" cy="1440180"/>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custDataLst>
              <p:tags r:id="rId14"/>
            </p:custDataLst>
          </p:nvPr>
        </p:nvSpPr>
        <p:spPr>
          <a:xfrm>
            <a:off x="8700135" y="3096895"/>
            <a:ext cx="48895" cy="1440180"/>
          </a:xfrm>
          <a:prstGeom prst="rect">
            <a:avLst/>
          </a:prstGeom>
          <a:solidFill>
            <a:srgbClr val="059669">
              <a:alpha val="50000"/>
            </a:srgbClr>
          </a:solidFill>
        </p:spPr>
      </p:sp>
      <p:sp>
        <p:nvSpPr>
          <p:cNvPr id="121" name="Shape 47"/>
          <p:cNvSpPr/>
          <p:nvPr/>
        </p:nvSpPr>
        <p:spPr>
          <a:xfrm>
            <a:off x="304800" y="4547235"/>
            <a:ext cx="1403985" cy="1440180"/>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1706880" y="4548505"/>
            <a:ext cx="2682240" cy="1440180"/>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0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000" dirty="0">
                <a:latin typeface="Heiti SC Light" panose="02000000000000000000" charset="-122"/>
                <a:ea typeface="Heiti SC Light" panose="02000000000000000000" charset="-122"/>
                <a:cs typeface="Heiti SC Light" panose="02000000000000000000" charset="-122"/>
                <a:sym typeface="+mn-ea"/>
              </a:rPr>
              <a:t>30</a:t>
            </a:r>
            <a:r>
              <a:rPr lang="zh-CN" altLang="en-US" sz="1000" dirty="0">
                <a:latin typeface="Heiti SC Light" panose="02000000000000000000" charset="-122"/>
                <a:ea typeface="Heiti SC Light" panose="02000000000000000000" charset="-122"/>
                <a:cs typeface="Heiti SC Light" panose="02000000000000000000" charset="-122"/>
                <a:sym typeface="+mn-ea"/>
              </a:rPr>
              <a:t>分钟内</a:t>
            </a:r>
            <a:r>
              <a:rPr lang="zh-CN" altLang="en-US" sz="1000" dirty="0">
                <a:latin typeface="Heiti SC Light" panose="02000000000000000000" charset="-122"/>
                <a:ea typeface="Heiti SC Light" panose="02000000000000000000" charset="-122"/>
                <a:cs typeface="Heiti SC Light" panose="02000000000000000000" charset="-122"/>
                <a:sym typeface="+mn-ea"/>
              </a:rPr>
              <a:t>通告；</a:t>
            </a:r>
            <a:endParaRPr lang="zh-CN" altLang="en-US" sz="10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0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000" dirty="0">
                <a:latin typeface="Heiti SC Light" panose="02000000000000000000" charset="-122"/>
                <a:ea typeface="Heiti SC Light" panose="02000000000000000000" charset="-122"/>
                <a:cs typeface="Heiti SC Light" panose="02000000000000000000" charset="-122"/>
                <a:sym typeface="+mn-ea"/>
              </a:rPr>
              <a:t>100%</a:t>
            </a:r>
            <a:r>
              <a:rPr lang="zh-CN" altLang="en-US" sz="10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custDataLst>
              <p:tags r:id="rId15"/>
            </p:custDataLst>
          </p:nvPr>
        </p:nvSpPr>
        <p:spPr>
          <a:xfrm>
            <a:off x="4391660" y="4547870"/>
            <a:ext cx="4307205" cy="1440180"/>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custDataLst>
              <p:tags r:id="rId16"/>
            </p:custDataLst>
          </p:nvPr>
        </p:nvSpPr>
        <p:spPr>
          <a:xfrm>
            <a:off x="4389120" y="4547870"/>
            <a:ext cx="48895" cy="1440180"/>
          </a:xfrm>
          <a:prstGeom prst="rect">
            <a:avLst/>
          </a:prstGeom>
          <a:solidFill>
            <a:srgbClr val="2563EB">
              <a:alpha val="50000"/>
            </a:srgbClr>
          </a:solidFill>
        </p:spPr>
      </p:sp>
      <p:sp>
        <p:nvSpPr>
          <p:cNvPr id="127" name="Shape 57"/>
          <p:cNvSpPr/>
          <p:nvPr>
            <p:custDataLst>
              <p:tags r:id="rId17"/>
            </p:custDataLst>
          </p:nvPr>
        </p:nvSpPr>
        <p:spPr>
          <a:xfrm>
            <a:off x="8741410" y="4547870"/>
            <a:ext cx="3135630" cy="1440180"/>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custDataLst>
              <p:tags r:id="rId18"/>
            </p:custDataLst>
          </p:nvPr>
        </p:nvSpPr>
        <p:spPr>
          <a:xfrm>
            <a:off x="8700135" y="4547870"/>
            <a:ext cx="48895" cy="1440180"/>
          </a:xfrm>
          <a:prstGeom prst="rect">
            <a:avLst/>
          </a:prstGeom>
          <a:solidFill>
            <a:srgbClr val="059669">
              <a:alpha val="50000"/>
            </a:srgbClr>
          </a:solidFill>
        </p:spPr>
      </p:sp>
      <p:sp>
        <p:nvSpPr>
          <p:cNvPr id="2" name="文本框 1"/>
          <p:cNvSpPr txBox="1"/>
          <p:nvPr/>
        </p:nvSpPr>
        <p:spPr>
          <a:xfrm>
            <a:off x="4893310" y="233680"/>
            <a:ext cx="1652905" cy="383540"/>
          </a:xfrm>
          <a:prstGeom prst="rect">
            <a:avLst/>
          </a:prstGeom>
          <a:noFill/>
        </p:spPr>
        <p:txBody>
          <a:bodyPr wrap="square" rtlCol="0" anchor="t">
            <a:spAutoFit/>
          </a:bodyPr>
          <a:p>
            <a:r>
              <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rPr>
              <a:t>（无渠道版）</a:t>
            </a:r>
            <a:endPar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endParaRPr>
          </a:p>
        </p:txBody>
      </p:sp>
      <p:sp>
        <p:nvSpPr>
          <p:cNvPr id="4" name="Text Box 27"/>
          <p:cNvSpPr txBox="1">
            <a:spLocks noChangeArrowheads="1"/>
          </p:cNvSpPr>
          <p:nvPr/>
        </p:nvSpPr>
        <p:spPr bwMode="auto">
          <a:xfrm>
            <a:off x="2160905" y="1440815"/>
            <a:ext cx="1995170" cy="398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00" dirty="0">
                <a:solidFill>
                  <a:schemeClr val="tx1"/>
                </a:solidFill>
                <a:highlight>
                  <a:srgbClr val="FFFF00"/>
                </a:highlight>
                <a:latin typeface="Heiti SC Light" panose="02000000000000000000" charset="-122"/>
                <a:ea typeface="Heiti SC Light" panose="02000000000000000000" charset="-122"/>
              </a:rPr>
              <a:t>根据客户讨论对齐的结论刷新预期成果和协作计划</a:t>
            </a:r>
            <a:endParaRPr lang="zh-CN" altLang="en-US" sz="1000" dirty="0">
              <a:solidFill>
                <a:schemeClr val="tx1"/>
              </a:solidFill>
              <a:highlight>
                <a:srgbClr val="FFFF00"/>
              </a:highlight>
              <a:latin typeface="Heiti SC Light" panose="02000000000000000000" charset="-122"/>
              <a:ea typeface="Heiti SC Light" panose="02000000000000000000"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pic>
        <p:nvPicPr>
          <p:cNvPr id="26" name="图片 25" descr="1755143421298"/>
          <p:cNvPicPr>
            <a:picLocks noChangeAspect="1"/>
          </p:cNvPicPr>
          <p:nvPr/>
        </p:nvPicPr>
        <p:blipFill>
          <a:blip r:embed="rId2"/>
          <a:stretch>
            <a:fillRect/>
          </a:stretch>
        </p:blipFill>
        <p:spPr>
          <a:xfrm>
            <a:off x="647700" y="5785485"/>
            <a:ext cx="10998835" cy="779145"/>
          </a:xfrm>
          <a:prstGeom prst="rect">
            <a:avLst/>
          </a:prstGeom>
        </p:spPr>
      </p:pic>
      <p:sp>
        <p:nvSpPr>
          <p:cNvPr id="27" name="文本框 26"/>
          <p:cNvSpPr txBox="1"/>
          <p:nvPr/>
        </p:nvSpPr>
        <p:spPr>
          <a:xfrm>
            <a:off x="860425" y="5890260"/>
            <a:ext cx="10523855" cy="570230"/>
          </a:xfrm>
          <a:prstGeom prst="rect">
            <a:avLst/>
          </a:prstGeom>
          <a:noFill/>
        </p:spPr>
        <p:txBody>
          <a:bodyPr wrap="square" rtlCol="0" anchor="t">
            <a:noAutofit/>
          </a:bodyPr>
          <a:p>
            <a:pPr indent="0" algn="l">
              <a:lnSpc>
                <a:spcPct val="117000"/>
              </a:lnSpc>
            </a:pPr>
            <a:r>
              <a:rPr lang="en-US" sz="1200" b="1">
                <a:solidFill>
                  <a:srgbClr val="0052CC"/>
                </a:solidFill>
                <a:latin typeface="Arial" panose="020B0604020202020204" pitchFamily="34" charset="0"/>
                <a:ea typeface="黑体-简" panose="02000000000000000000" charset="-122"/>
                <a:cs typeface="Noto Sans SC"/>
                <a:sym typeface="Noto Sans SC"/>
              </a:rPr>
              <a:t>我们的承诺：</a:t>
            </a:r>
            <a:r>
              <a:rPr lang="zh-CN" altLang="en-US" sz="1200" b="1">
                <a:solidFill>
                  <a:srgbClr val="0052CC"/>
                </a:solidFill>
                <a:latin typeface="Arial" panose="020B0604020202020204" pitchFamily="34" charset="0"/>
                <a:ea typeface="黑体-简" panose="02000000000000000000" charset="-122"/>
                <a:cs typeface="Noto Sans SC"/>
                <a:sym typeface="Noto Sans SC"/>
              </a:rPr>
              <a:t>数智化</a:t>
            </a:r>
            <a:r>
              <a:rPr lang="en-US" sz="1200" b="1">
                <a:solidFill>
                  <a:srgbClr val="0052CC"/>
                </a:solidFill>
                <a:latin typeface="Arial" panose="020B0604020202020204" pitchFamily="34" charset="0"/>
                <a:ea typeface="黑体-简" panose="02000000000000000000" charset="-122"/>
                <a:cs typeface="Noto Sans SC"/>
                <a:sym typeface="Noto Sans SC"/>
              </a:rPr>
              <a:t>转型的坚实后盾</a:t>
            </a:r>
            <a:endParaRPr lang="en-US" sz="1200" b="1" i="0" u="none" strike="noStrike">
              <a:solidFill>
                <a:srgbClr val="0052CC"/>
              </a:solidFill>
              <a:latin typeface="Arial" panose="020B0604020202020204" pitchFamily="34" charset="0"/>
              <a:ea typeface="黑体-简" panose="02000000000000000000" charset="-122"/>
              <a:cs typeface="Noto Sans SC"/>
              <a:sym typeface="Noto Sans SC"/>
            </a:endParaRPr>
          </a:p>
          <a:p>
            <a:pPr indent="0" algn="l">
              <a:lnSpc>
                <a:spcPct val="117000"/>
              </a:lnSpc>
            </a:pPr>
            <a:r>
              <a:rPr lang="en-US" sz="1200">
                <a:solidFill>
                  <a:srgbClr val="404040"/>
                </a:solidFill>
                <a:latin typeface="Arial" panose="020B0604020202020204" pitchFamily="34" charset="0"/>
                <a:ea typeface="黑体-简" panose="02000000000000000000" charset="-122"/>
                <a:cs typeface="Noto Sans SC"/>
                <a:sym typeface="Noto Sans SC"/>
              </a:rPr>
              <a:t>安全运营中心将继续以专业能力、创新技术和高度责任感，作为公司数字转型的坚实后盾，为</a:t>
            </a:r>
            <a:r>
              <a:rPr lang="en-US" sz="1200">
                <a:solidFill>
                  <a:srgbClr val="4C61E7"/>
                </a:solidFill>
                <a:latin typeface="Arial" panose="020B0604020202020204" pitchFamily="34" charset="0"/>
                <a:ea typeface="黑体-简" panose="02000000000000000000" charset="-122"/>
                <a:cs typeface="Noto Sans SC"/>
                <a:sym typeface="Noto Sans SC"/>
              </a:rPr>
              <a:t>{{company</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04040"/>
                </a:solidFill>
                <a:latin typeface="Arial" panose="020B0604020202020204" pitchFamily="34" charset="0"/>
                <a:ea typeface="黑体-简" panose="02000000000000000000" charset="-122"/>
                <a:cs typeface="Noto Sans SC"/>
                <a:sym typeface="Noto Sans SC"/>
              </a:rPr>
              <a:t>的未来稳健发展保驾护航。</a:t>
            </a:r>
            <a:endParaRPr lang="en-US" altLang="en-US" sz="1200" spc="90" dirty="0">
              <a:solidFill>
                <a:srgbClr val="404040"/>
              </a:solidFill>
              <a:latin typeface="Arial" panose="020B0604020202020204" pitchFamily="34" charset="0"/>
              <a:ea typeface="黑体-简" panose="02000000000000000000" charset="-122"/>
              <a:cs typeface="Noto Sans SC"/>
              <a:sym typeface="Noto Sans SC"/>
            </a:endParaRPr>
          </a:p>
        </p:txBody>
      </p:sp>
      <p:sp>
        <p:nvSpPr>
          <p:cNvPr id="17" name="textbox 746"/>
          <p:cNvSpPr/>
          <p:nvPr/>
        </p:nvSpPr>
        <p:spPr>
          <a:xfrm>
            <a:off x="647700" y="915670"/>
            <a:ext cx="5943600" cy="4700270"/>
          </a:xfrm>
          <a:prstGeom prst="rect">
            <a:avLst/>
          </a:prstGeom>
          <a:solidFill>
            <a:srgbClr val="EFF6FD">
              <a:alpha val="100000"/>
            </a:srgbClr>
          </a:solidFill>
          <a:ln w="0" cap="flat">
            <a:noFill/>
            <a:prstDash val="solid"/>
            <a:miter lim="0"/>
          </a:ln>
        </p:spPr>
        <p:txBody>
          <a:bodyPr vert="horz" wrap="square" lIns="0" tIns="0" rIns="0" bIns="0"/>
          <a:p>
            <a:pPr marL="127000" algn="l" defTabSz="914400" rtl="0" eaLnBrk="0">
              <a:lnSpc>
                <a:spcPct val="100000"/>
              </a:lnSpc>
              <a:spcBef>
                <a:spcPts val="975"/>
              </a:spcBef>
              <a:spcAft>
                <a:spcPct val="0"/>
              </a:spcAft>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Text 2"/>
          <p:cNvSpPr/>
          <p:nvPr/>
        </p:nvSpPr>
        <p:spPr>
          <a:xfrm>
            <a:off x="760730" y="915670"/>
            <a:ext cx="1271270"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关键事项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9" name="文本框 18"/>
          <p:cNvSpPr txBox="1"/>
          <p:nvPr/>
        </p:nvSpPr>
        <p:spPr>
          <a:xfrm>
            <a:off x="6692900" y="915670"/>
            <a:ext cx="4954270" cy="4700270"/>
          </a:xfrm>
          <a:prstGeom prst="rect">
            <a:avLst/>
          </a:prstGeom>
          <a:solidFill>
            <a:schemeClr val="accent6">
              <a:lumMod val="20000"/>
              <a:lumOff val="80000"/>
            </a:schemeClr>
          </a:solidFill>
        </p:spPr>
        <p:txBody>
          <a:bodyPr wrap="square" rtlCol="0" anchor="t">
            <a:noAutofit/>
          </a:bodyPr>
          <a:p>
            <a:pPr marL="11430" algn="l" defTabSz="914400" rtl="0" eaLnBrk="0">
              <a:lnSpc>
                <a:spcPct val="99000"/>
              </a:lnSpc>
              <a:spcBef>
                <a:spcPct val="0"/>
              </a:spcBef>
              <a:spcAft>
                <a:spcPct val="0"/>
              </a:spcAft>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Text 2"/>
          <p:cNvSpPr/>
          <p:nvPr/>
        </p:nvSpPr>
        <p:spPr>
          <a:xfrm>
            <a:off x="6820535" y="915670"/>
            <a:ext cx="1910715"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需要客户方协作事项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21" name="表格 20"/>
          <p:cNvGraphicFramePr/>
          <p:nvPr>
            <p:custDataLst>
              <p:tags r:id="rId3"/>
            </p:custDataLst>
          </p:nvPr>
        </p:nvGraphicFramePr>
        <p:xfrm>
          <a:off x="770890" y="1248410"/>
          <a:ext cx="5690870" cy="4218940"/>
        </p:xfrm>
        <a:graphic>
          <a:graphicData uri="http://schemas.openxmlformats.org/drawingml/2006/table">
            <a:tbl>
              <a:tblPr firstRow="1" lastCol="1" bandCol="1">
                <a:tableStyleId>{0126E9F6-41A6-44B7-8387-491034A24550}</a:tableStyleId>
              </a:tblPr>
              <a:tblGrid>
                <a:gridCol w="995680"/>
                <a:gridCol w="645795"/>
                <a:gridCol w="4049395"/>
              </a:tblGrid>
              <a:tr h="24384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计划完成时间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下一步工作计划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548640">
                <a:tc>
                  <a:txBody>
                    <a:bodyPr/>
                    <a:p>
                      <a:pPr algn="ctr">
                        <a:buNone/>
                      </a:pPr>
                      <a:r>
                        <a:rPr lang="zh-CN" altLang="en-US" sz="1000">
                          <a:latin typeface="Arial" panose="020B0604020202020204" pitchFamily="34" charset="0"/>
                          <a:ea typeface="黑体-简" panose="02000000000000000000" charset="-122"/>
                        </a:rPr>
                        <a:t>暴露面扫描</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0430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defTabSz="914400">
                        <a:lnSpc>
                          <a:spcPct val="150000"/>
                        </a:lnSpc>
                        <a:spcBef>
                          <a:spcPct val="0"/>
                        </a:spcBef>
                        <a:spcAft>
                          <a:spcPct val="0"/>
                        </a:spcAft>
                        <a:buSzPct val="100000"/>
                        <a:buFont typeface="+mj-lt"/>
                        <a:buAutoNum type="arabicPeriod"/>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对最新的暴露面风险进行验证和确认，暴露面监测持续开展</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54405">
                <a:tc>
                  <a:txBody>
                    <a:bodyPr/>
                    <a:p>
                      <a:pPr algn="ctr">
                        <a:buNone/>
                      </a:pPr>
                      <a:r>
                        <a:rPr lang="zh-CN" altLang="en-US" sz="1000">
                          <a:latin typeface="Arial" panose="020B0604020202020204" pitchFamily="34" charset="0"/>
                          <a:ea typeface="黑体-简" panose="02000000000000000000" charset="-122"/>
                          <a:sym typeface="+mn-ea"/>
                        </a:rPr>
                        <a:t>勒索风险排查及</a:t>
                      </a:r>
                      <a:endParaRPr lang="zh-CN" altLang="en-US" sz="1000">
                        <a:latin typeface="Arial" panose="020B0604020202020204" pitchFamily="34" charset="0"/>
                        <a:ea typeface="黑体-简" panose="02000000000000000000" charset="-122"/>
                        <a:sym typeface="+mn-ea"/>
                      </a:endParaRPr>
                    </a:p>
                    <a:p>
                      <a:pPr algn="ctr">
                        <a:buNone/>
                      </a:pPr>
                      <a:r>
                        <a:rPr lang="zh-CN" altLang="en-US" sz="1000">
                          <a:latin typeface="Arial" panose="020B0604020202020204" pitchFamily="34" charset="0"/>
                          <a:ea typeface="黑体-简" panose="02000000000000000000" charset="-122"/>
                          <a:sym typeface="+mn-ea"/>
                        </a:rPr>
                        <a:t>脆弱性梳理</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对服务资产开展</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勒索风险排查</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，分析</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情况</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推动处置。</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完善</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修复优先级清单</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，制定未闭环漏洞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的消减建议计划。</a:t>
                      </a:r>
                      <a:endParaRPr lang="en-US" sz="1000" dirty="0">
                        <a:solidFill>
                          <a:srgbClr val="FF0000"/>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持续监测弱口令情况，重点关注外网高权限及管理员账号的弱口令进行跟进修复。</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1294765">
                <a:tc>
                  <a:txBody>
                    <a:bodyPr/>
                    <a:p>
                      <a:pPr algn="ctr">
                        <a:buClrTx/>
                        <a:buSzTx/>
                        <a:buFontTx/>
                        <a:buNone/>
                      </a:pPr>
                      <a:r>
                        <a:rPr lang="zh-CN" altLang="en-US" sz="1000">
                          <a:latin typeface="Arial" panose="020B0604020202020204" pitchFamily="34" charset="0"/>
                          <a:ea typeface="黑体-简" panose="02000000000000000000" charset="-122"/>
                          <a:sym typeface="+mn-ea"/>
                        </a:rPr>
                        <a:t>安全响应能力提升</a:t>
                      </a:r>
                      <a:endParaRPr lang="zh-CN" altLang="en-US" sz="1000">
                        <a:latin typeface="Arial" panose="020B0604020202020204" pitchFamily="34" charset="0"/>
                        <a:ea typeface="黑体-简"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0522</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0" indent="0" algn="l" defTabSz="914400">
                        <a:lnSpc>
                          <a:spcPct val="150000"/>
                        </a:lnSpc>
                        <a:spcBef>
                          <a:spcPct val="0"/>
                        </a:spcBef>
                        <a:spcAft>
                          <a:spcPct val="0"/>
                        </a:spcAft>
                        <a:buNone/>
                      </a:pP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1.</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提供当前服务器主机</a:t>
                      </a: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覆盖的主机及检测到同网段未覆盖的主机清单；</a:t>
                      </a:r>
                      <a:endPar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endParaRPr>
                    </a:p>
                    <a:p>
                      <a:pPr marL="0" indent="0" algn="l" defTabSz="914400">
                        <a:lnSpc>
                          <a:spcPct val="150000"/>
                        </a:lnSpc>
                        <a:spcBef>
                          <a:spcPct val="0"/>
                        </a:spcBef>
                        <a:spcAft>
                          <a:spcPct val="0"/>
                        </a:spcAft>
                        <a:buNone/>
                      </a:pP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、协助推动服务器</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覆盖，提升主机安全问题响应处置效率。</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0" algn="l" defTabSz="914400">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3、开展安全组件策略巡检及跟进调优。</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73455">
                <a:tc>
                  <a:txBody>
                    <a:bodyPr/>
                    <a:p>
                      <a:pPr algn="ctr">
                        <a:buNone/>
                      </a:pPr>
                      <a:r>
                        <a:rPr lang="zh-CN" altLang="en-US" sz="1000">
                          <a:latin typeface="Arial" panose="020B0604020202020204" pitchFamily="34" charset="0"/>
                          <a:ea typeface="黑体-简" panose="02000000000000000000" charset="-122"/>
                        </a:rPr>
                        <a:t>安全运营机验证对齐</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530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algn="l">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基于前期的协同优化项试点跑通情况进行复盘总结，对齐下一步运营迭代计划。</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bl>
          </a:graphicData>
        </a:graphic>
      </p:graphicFrame>
      <p:graphicFrame>
        <p:nvGraphicFramePr>
          <p:cNvPr id="22" name="表格 21"/>
          <p:cNvGraphicFramePr/>
          <p:nvPr>
            <p:custDataLst>
              <p:tags r:id="rId4"/>
            </p:custDataLst>
          </p:nvPr>
        </p:nvGraphicFramePr>
        <p:xfrm>
          <a:off x="6820535" y="1249045"/>
          <a:ext cx="4748530" cy="4218305"/>
        </p:xfrm>
        <a:graphic>
          <a:graphicData uri="http://schemas.openxmlformats.org/drawingml/2006/table">
            <a:tbl>
              <a:tblPr firstRow="1" lastCol="1" bandCol="1">
                <a:tableStyleId>{0126E9F6-41A6-44B7-8387-491034A24550}</a:tableStyleId>
              </a:tblPr>
              <a:tblGrid>
                <a:gridCol w="1614805"/>
                <a:gridCol w="904240"/>
                <a:gridCol w="2229485"/>
              </a:tblGrid>
              <a:tr h="34671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下一次沟通计划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961390">
                <a:tc>
                  <a:txBody>
                    <a:bodyPr/>
                    <a:p>
                      <a:pPr algn="ctr">
                        <a:buNone/>
                      </a:pPr>
                      <a:r>
                        <a:rPr lang="zh-CN" altLang="en-US" sz="1000">
                          <a:latin typeface="Arial" panose="020B0604020202020204" pitchFamily="34" charset="0"/>
                          <a:ea typeface="黑体-简" panose="02000000000000000000" charset="-122"/>
                        </a:rPr>
                        <a:t>确认最新的所有互联网出口</a:t>
                      </a:r>
                      <a:r>
                        <a:rPr lang="en-US" altLang="zh-CN" sz="1000">
                          <a:latin typeface="Arial" panose="020B0604020202020204" pitchFamily="34" charset="0"/>
                          <a:ea typeface="黑体-简" panose="02000000000000000000" charset="-122"/>
                        </a:rPr>
                        <a:t>IP</a:t>
                      </a:r>
                      <a:r>
                        <a:rPr lang="zh-CN" altLang="en-US" sz="1000">
                          <a:latin typeface="Arial" panose="020B0604020202020204" pitchFamily="34" charset="0"/>
                          <a:ea typeface="黑体-简" panose="02000000000000000000" charset="-122"/>
                        </a:rPr>
                        <a:t>和根域名</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0428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508</a:t>
                      </a:r>
                      <a:r>
                        <a:rPr lang="zh-CN" altLang="en-US" sz="1000" b="0">
                          <a:solidFill>
                            <a:srgbClr val="000000"/>
                          </a:solidFill>
                          <a:latin typeface="Arial" panose="020B0604020202020204" pitchFamily="34" charset="0"/>
                          <a:ea typeface="黑体-简" panose="02000000000000000000" charset="-122"/>
                        </a:rPr>
                        <a:t>：对暴露面梳理结果进行沟通对齐</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1821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、配合反馈脆弱性修复情况进展</a:t>
                      </a:r>
                      <a:endParaRPr lang="zh-CN" altLang="en-US" sz="1000">
                        <a:latin typeface="Arial" panose="020B0604020202020204" pitchFamily="34" charset="0"/>
                        <a:ea typeface="黑体-简" panose="02000000000000000000" charset="-122"/>
                      </a:endParaRPr>
                    </a:p>
                    <a:p>
                      <a:pPr algn="ctr">
                        <a:buNone/>
                      </a:pPr>
                      <a:endParaRPr lang="zh-CN" altLang="en-US" sz="1000">
                        <a:latin typeface="Arial" panose="020B0604020202020204" pitchFamily="34" charset="0"/>
                        <a:ea typeface="黑体-简" panose="02000000000000000000" charset="-122"/>
                      </a:endParaRPr>
                    </a:p>
                    <a:p>
                      <a:pPr algn="ctr">
                        <a:buNone/>
                      </a:pPr>
                      <a:r>
                        <a:rPr lang="en-US" altLang="zh-CN" sz="1000">
                          <a:latin typeface="Arial" panose="020B0604020202020204" pitchFamily="34" charset="0"/>
                          <a:ea typeface="黑体-简" panose="02000000000000000000" charset="-122"/>
                        </a:rPr>
                        <a:t>2</a:t>
                      </a:r>
                      <a:r>
                        <a:rPr lang="zh-CN" altLang="en-US" sz="1000">
                          <a:latin typeface="Arial" panose="020B0604020202020204" pitchFamily="34" charset="0"/>
                          <a:ea typeface="黑体-简" panose="02000000000000000000" charset="-122"/>
                        </a:rPr>
                        <a:t>、对齐修复落地计划</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zh-CN" altLang="en-US" sz="1000">
                          <a:latin typeface="Arial" panose="020B0604020202020204" pitchFamily="34" charset="0"/>
                          <a:ea typeface="黑体-简" panose="02000000000000000000" charset="-122"/>
                        </a:rPr>
                        <a:t>0</a:t>
                      </a:r>
                      <a:r>
                        <a:rPr lang="en-US" altLang="zh-CN" sz="1000">
                          <a:latin typeface="Arial" panose="020B0604020202020204" pitchFamily="34" charset="0"/>
                          <a:ea typeface="黑体-简" panose="02000000000000000000" charset="-122"/>
                        </a:rPr>
                        <a:t>508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522</a:t>
                      </a:r>
                      <a:r>
                        <a:rPr lang="zh-CN" altLang="en-US" sz="1000" b="0">
                          <a:solidFill>
                            <a:srgbClr val="000000"/>
                          </a:solidFill>
                          <a:latin typeface="Arial" panose="020B0604020202020204" pitchFamily="34" charset="0"/>
                          <a:ea typeface="黑体-简" panose="02000000000000000000" charset="-122"/>
                        </a:rPr>
                        <a:t>：对漏洞扫描结果进行沟通，确认修复方案。 </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568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、策略调优确认及授权</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ClrTx/>
                        <a:buSzTx/>
                        <a:buFontTx/>
                        <a:buNone/>
                      </a:pPr>
                      <a:r>
                        <a:rPr lang="zh-CN" altLang="en-US" sz="1000" b="0">
                          <a:solidFill>
                            <a:srgbClr val="000000"/>
                          </a:solidFill>
                          <a:latin typeface="Arial" panose="020B0604020202020204" pitchFamily="34" charset="0"/>
                          <a:ea typeface="黑体-简" panose="02000000000000000000" charset="-122"/>
                        </a:rPr>
                        <a:t>0522：对齐调优情况及结果</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6315">
                <a:tc>
                  <a:txBody>
                    <a:bodyPr/>
                    <a:p>
                      <a:pPr algn="ctr">
                        <a:buNone/>
                      </a:pPr>
                      <a:r>
                        <a:rPr lang="zh-CN" altLang="en-US" sz="1000">
                          <a:latin typeface="Arial" panose="020B0604020202020204" pitchFamily="34" charset="0"/>
                          <a:ea typeface="黑体-简" panose="02000000000000000000" charset="-122"/>
                        </a:rPr>
                        <a:t>推进主机</a:t>
                      </a:r>
                      <a:r>
                        <a:rPr lang="en-US" altLang="zh-CN" sz="1000">
                          <a:latin typeface="Arial" panose="020B0604020202020204" pitchFamily="34" charset="0"/>
                          <a:ea typeface="黑体-简" panose="02000000000000000000" charset="-122"/>
                        </a:rPr>
                        <a:t>EDR</a:t>
                      </a:r>
                      <a:r>
                        <a:rPr lang="zh-CN" altLang="en-US" sz="1000">
                          <a:latin typeface="Arial" panose="020B0604020202020204" pitchFamily="34" charset="0"/>
                          <a:ea typeface="黑体-简" panose="02000000000000000000" charset="-122"/>
                        </a:rPr>
                        <a:t>的覆盖</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0530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605</a:t>
                      </a:r>
                      <a:r>
                        <a:rPr lang="zh-CN" altLang="en-US" sz="1000" b="0">
                          <a:solidFill>
                            <a:srgbClr val="000000"/>
                          </a:solidFill>
                          <a:latin typeface="Arial" panose="020B0604020202020204" pitchFamily="34" charset="0"/>
                          <a:ea typeface="黑体-简" panose="02000000000000000000" charset="-122"/>
                        </a:rPr>
                        <a:t>：对齐覆盖情况。</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bl>
          </a:graphicData>
        </a:graphic>
      </p:graphicFrame>
      <p:grpSp>
        <p:nvGrpSpPr>
          <p:cNvPr id="2" name="组合 1"/>
          <p:cNvGrpSpPr/>
          <p:nvPr/>
        </p:nvGrpSpPr>
        <p:grpSpPr>
          <a:xfrm>
            <a:off x="224790" y="289878"/>
            <a:ext cx="6011545" cy="327025"/>
            <a:chOff x="533" y="646"/>
            <a:chExt cx="9467" cy="515"/>
          </a:xfrm>
        </p:grpSpPr>
        <p:grpSp>
          <p:nvGrpSpPr>
            <p:cNvPr id="3" name="组合 2"/>
            <p:cNvGrpSpPr/>
            <p:nvPr/>
          </p:nvGrpSpPr>
          <p:grpSpPr>
            <a:xfrm rot="0">
              <a:off x="533" y="672"/>
              <a:ext cx="582" cy="420"/>
              <a:chOff x="533" y="672"/>
              <a:chExt cx="582" cy="420"/>
            </a:xfrm>
          </p:grpSpPr>
          <p:sp>
            <p:nvSpPr>
              <p:cNvPr id="4"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8"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4"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下一阶段行动</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计划</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图片 62"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1880" name="文本框 8"/>
          <p:cNvSpPr txBox="1"/>
          <p:nvPr/>
        </p:nvSpPr>
        <p:spPr>
          <a:xfrm>
            <a:off x="1229360" y="3792220"/>
            <a:ext cx="5427345" cy="240030"/>
          </a:xfrm>
          <a:prstGeom prst="rect">
            <a:avLst/>
          </a:prstGeom>
          <a:ln w="12700">
            <a:miter lim="400000"/>
          </a:ln>
        </p:spPr>
        <p:txBody>
          <a:bodyPr wrap="square"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l"/>
            <a:r>
              <a:rPr lang="zh-CN" altLang="en-US">
                <a:solidFill>
                  <a:schemeClr val="tx1"/>
                </a:solidFill>
                <a:latin typeface="Arial" panose="020B0604020202020204" pitchFamily="34" charset="0"/>
                <a:ea typeface="黑体-简" panose="02000000000000000000" charset="-122"/>
              </a:rPr>
              <a:t>感谢这份双向奔赴的信任，期待我们继续并肩，共同创造价值</a:t>
            </a:r>
            <a:endParaRPr lang="zh-CN" altLang="en-US">
              <a:solidFill>
                <a:schemeClr val="tx1"/>
              </a:solidFill>
              <a:latin typeface="Arial" panose="020B0604020202020204" pitchFamily="34" charset="0"/>
              <a:ea typeface="黑体-简" panose="02000000000000000000" charset="-122"/>
            </a:endParaRPr>
          </a:p>
        </p:txBody>
      </p:sp>
      <p:sp>
        <p:nvSpPr>
          <p:cNvPr id="4" name="标题"/>
          <p:cNvSpPr>
            <a:spLocks noGrp="1"/>
          </p:cNvSpPr>
          <p:nvPr>
            <p:ph type="ctrTitle"/>
            <p:custDataLst>
              <p:tags r:id="rId2"/>
            </p:custDataLst>
          </p:nvPr>
        </p:nvSpPr>
        <p:spPr>
          <a:xfrm>
            <a:off x="1240155" y="2310765"/>
            <a:ext cx="5552440" cy="1230630"/>
          </a:xfrm>
        </p:spPr>
        <p:txBody>
          <a:bodyPr vert="horz" wrap="square" lIns="0" tIns="0" rIns="0" bIns="0" rtlCol="0" anchor="ctr" anchorCtr="0">
            <a:normAutofit fontScale="90000"/>
          </a:bodyPr>
          <a:lstStyle/>
          <a:p>
            <a:pPr lvl="0" algn="l">
              <a:buClrTx/>
              <a:buSzTx/>
              <a:buFontTx/>
            </a:pPr>
            <a:r>
              <a:rPr lang="zh-CN" altLang="en-US" sz="4800">
                <a:solidFill>
                  <a:srgbClr val="4C61E7"/>
                </a:solidFill>
                <a:latin typeface="Arial Black" panose="020B0A04020102020204" pitchFamily="34" charset="0"/>
                <a:ea typeface="微软雅黑" panose="020B0503020204020204" charset="-122"/>
                <a:sym typeface="+mn-ea"/>
              </a:rPr>
              <a:t>客户成功  </a:t>
            </a:r>
            <a:br>
              <a:rPr lang="zh-CN" altLang="en-US" sz="4800">
                <a:solidFill>
                  <a:srgbClr val="4C61E7"/>
                </a:solidFill>
                <a:latin typeface="Arial Black" panose="020B0A04020102020204" pitchFamily="34" charset="0"/>
                <a:ea typeface="微软雅黑" panose="020B0503020204020204" charset="-122"/>
                <a:sym typeface="+mn-ea"/>
              </a:rPr>
            </a:br>
            <a:r>
              <a:rPr lang="zh-CN" altLang="en-US" sz="4800">
                <a:solidFill>
                  <a:srgbClr val="4C61E7"/>
                </a:solidFill>
                <a:latin typeface="Arial Black" panose="020B0A04020102020204" pitchFamily="34" charset="0"/>
                <a:ea typeface="微软雅黑" panose="020B0503020204020204" charset="-122"/>
                <a:sym typeface="+mn-ea"/>
              </a:rPr>
              <a:t>才是深信服的成功</a:t>
            </a:r>
            <a:endParaRPr lang="zh-CN" altLang="en-US" sz="4800">
              <a:solidFill>
                <a:srgbClr val="4C61E7"/>
              </a:solidFill>
              <a:latin typeface="Arial Black" panose="020B0A04020102020204" pitchFamily="34" charset="0"/>
              <a:ea typeface="微软雅黑" panose="020B0503020204020204" charset="-122"/>
              <a:sym typeface="+mn-ea"/>
            </a:endParaRPr>
          </a:p>
        </p:txBody>
      </p:sp>
      <p:pic>
        <p:nvPicPr>
          <p:cNvPr id="2" name="图片 1" descr="httpsca.rrx.cnvjosjs2isPcJoin=1"/>
          <p:cNvPicPr>
            <a:picLocks noChangeAspect="1"/>
          </p:cNvPicPr>
          <p:nvPr/>
        </p:nvPicPr>
        <p:blipFill>
          <a:blip r:embed="rId3"/>
          <a:srcRect b="15257"/>
          <a:stretch>
            <a:fillRect/>
          </a:stretch>
        </p:blipFill>
        <p:spPr>
          <a:xfrm>
            <a:off x="8020685" y="2310765"/>
            <a:ext cx="2310130" cy="2200910"/>
          </a:xfrm>
          <a:prstGeom prst="rect">
            <a:avLst/>
          </a:prstGeom>
        </p:spPr>
      </p:pic>
      <p:sp>
        <p:nvSpPr>
          <p:cNvPr id="3" name="文本框 8"/>
          <p:cNvSpPr txBox="1"/>
          <p:nvPr/>
        </p:nvSpPr>
        <p:spPr>
          <a:xfrm>
            <a:off x="1229360" y="4511675"/>
            <a:ext cx="5427345" cy="240030"/>
          </a:xfrm>
          <a:prstGeom prst="rect">
            <a:avLst/>
          </a:prstGeom>
          <a:ln w="12700">
            <a:miter lim="400000"/>
          </a:ln>
        </p:spPr>
        <p:txBody>
          <a:bodyPr wrap="square"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l"/>
            <a:r>
              <a:rPr lang="zh-CN" altLang="en-US">
                <a:solidFill>
                  <a:schemeClr val="tx1"/>
                </a:solidFill>
                <a:latin typeface="Arial" panose="020B0604020202020204" pitchFamily="34" charset="0"/>
                <a:ea typeface="黑体-简" panose="02000000000000000000" charset="-122"/>
              </a:rPr>
              <a:t>您的建议是我们前进的助力，您有任何想法都可以扫码进行</a:t>
            </a:r>
            <a:r>
              <a:rPr lang="zh-CN" altLang="en-US">
                <a:solidFill>
                  <a:schemeClr val="tx1"/>
                </a:solidFill>
                <a:latin typeface="Arial" panose="020B0604020202020204" pitchFamily="34" charset="0"/>
                <a:ea typeface="黑体-简" panose="02000000000000000000" charset="-122"/>
              </a:rPr>
              <a:t>反馈</a:t>
            </a:r>
            <a:endParaRPr lang="zh-CN" altLang="en-US">
              <a:solidFill>
                <a:schemeClr val="tx1"/>
              </a:solidFill>
              <a:latin typeface="Arial" panose="020B0604020202020204" pitchFamily="34" charset="0"/>
              <a:ea typeface="黑体-简" panose="02000000000000000000" charset="-122"/>
            </a:endParaRPr>
          </a:p>
        </p:txBody>
      </p:sp>
    </p:spTree>
    <p:custDataLst>
      <p:tags r:id="rId4"/>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9.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10.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5.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6.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7.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1.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22.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2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4.xml><?xml version="1.0" encoding="utf-8"?>
<p:tagLst xmlns:p="http://schemas.openxmlformats.org/presentationml/2006/main">
  <p:tag name="KSO_WM_UNIT_TYPE" val="a"/>
  <p:tag name="KSO_WM_UNIT_INDEX" val="1"/>
  <p:tag name="KSO_WM_BEAUTIFY_FLAG" val="#wm#"/>
  <p:tag name="KSO_WM_TAG_VERSION" val="3.0"/>
  <p:tag name="KSO_WM_UNIT_PRESET_TEXT" val="编辑标题"/>
  <p:tag name="KSO_WM_UNIT_ID" val="_1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2"/>
</p:tagLst>
</file>

<file path=ppt/tags/tag35.xml><?xml version="1.0" encoding="utf-8"?>
<p:tagLst xmlns:p="http://schemas.openxmlformats.org/presentationml/2006/main">
  <p:tag name="KSO_WM_UNIT_TYPE" val="b"/>
  <p:tag name="KSO_WM_UNIT_INDEX" val="1"/>
  <p:tag name="KSO_WM_BEAUTIFY_FLAG" val="#wm#"/>
  <p:tag name="KSO_WM_TAG_VERSION" val="3.0"/>
  <p:tag name="KSO_WM_UNIT_PRESET_TEXT" val="编辑副标题"/>
  <p:tag name="KSO_WM_UNIT_ID" val="_11*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8"/>
</p:tagLst>
</file>

<file path=ppt/tags/tag36.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7.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8.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9.xml><?xml version="1.0" encoding="utf-8"?>
<p:tagLst xmlns:p="http://schemas.openxmlformats.org/presentationml/2006/main">
  <p:tag name="KSO_WM_UNIT_TYPE" val="f"/>
  <p:tag name="KSO_WM_UNIT_SUBTYPE" val="g"/>
  <p:tag name="KSO_WM_UNIT_INDEX" val="2"/>
  <p:tag name="KSO_WM_BEAUTIFY_FLAG" val="#wm#"/>
  <p:tag name="KSO_WM_TAG_VERSION" val="3.0"/>
  <p:tag name="KSO_WM_UNIT_PRESET_TEXT" val="公司"/>
  <p:tag name="KSO_WM_UNIT_ID" val="_11*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3"/>
</p:tagLst>
</file>

<file path=ppt/tags/tag40.xml><?xml version="1.0" encoding="utf-8"?>
<p:tagLst xmlns:p="http://schemas.openxmlformats.org/presentationml/2006/main">
  <p:tag name="KSO_WM_UNIT_TYPE" val="f"/>
  <p:tag name="KSO_WM_UNIT_SUBTYPE" val="b"/>
  <p:tag name="KSO_WM_UNIT_INDEX" val="1"/>
  <p:tag name="KSO_WM_BEAUTIFY_FLAG" val="#wm#"/>
  <p:tag name="KSO_WM_TAG_VERSION" val="3.0"/>
  <p:tag name="KSO_WM_UNIT_PRESET_TEXT" val="署名"/>
  <p:tag name="KSO_WM_UNIT_ID" val="_1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0"/>
</p:tagLst>
</file>

<file path=ppt/tags/tag41.xml><?xml version="1.0" encoding="utf-8"?>
<p:tagLst xmlns:p="http://schemas.openxmlformats.org/presentationml/2006/main">
  <p:tag name="KSO_WM_UNIT_TYPE" val="i"/>
  <p:tag name="KSO_WM_UNIT_INDEX" val="2"/>
  <p:tag name="KSO_WM_BEAUTIFY_FLAG" val="#wm#"/>
  <p:tag name="KSO_WM_TAG_VERSION" val="3.0"/>
  <p:tag name="KSO_WM_UNIT_ID" val="_11*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2.xml><?xml version="1.0" encoding="utf-8"?>
<p:tagLst xmlns:p="http://schemas.openxmlformats.org/presentationml/2006/main">
  <p:tag name="KSO_WM_UNIT_TYPE" val="i"/>
  <p:tag name="KSO_WM_UNIT_INDEX" val="6"/>
  <p:tag name="KSO_WM_BEAUTIFY_FLAG" val="#wm#"/>
  <p:tag name="KSO_WM_TAG_VERSION" val="3.0"/>
  <p:tag name="KSO_WM_UNIT_ID" val="_11*i*6"/>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3.xml><?xml version="1.0" encoding="utf-8"?>
<p:tagLst xmlns:p="http://schemas.openxmlformats.org/presentationml/2006/main">
  <p:tag name="KSO_WM_UNIT_TYPE" val="i"/>
  <p:tag name="KSO_WM_UNIT_INDEX" val="4"/>
  <p:tag name="KSO_WM_BEAUTIFY_FLAG" val="#wm#"/>
  <p:tag name="KSO_WM_TAG_VERSION" val="3.0"/>
  <p:tag name="KSO_WM_UNIT_ID" val="_11*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4.xml><?xml version="1.0" encoding="utf-8"?>
<p:tagLst xmlns:p="http://schemas.openxmlformats.org/presentationml/2006/main">
  <p:tag name="KSO_WM_UNIT_TYPE" val="i"/>
  <p:tag name="KSO_WM_UNIT_INDEX" val="1"/>
  <p:tag name="KSO_WM_BEAUTIFY_FLAG" val="#wm#"/>
  <p:tag name="KSO_WM_TAG_VERSION" val="3.0"/>
  <p:tag name="KSO_WM_UNIT_ID" val="_11*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5.xml><?xml version="1.0" encoding="utf-8"?>
<p:tagLst xmlns:p="http://schemas.openxmlformats.org/presentationml/2006/main">
  <p:tag name="KSO_WM_UNIT_TYPE" val="i"/>
  <p:tag name="KSO_WM_UNIT_INDEX" val="3"/>
  <p:tag name="KSO_WM_BEAUTIFY_FLAG" val="#wm#"/>
  <p:tag name="KSO_WM_TAG_VERSION" val="3.0"/>
  <p:tag name="KSO_WM_UNIT_ID" val="_11*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DIAGRAM_VIRTUALLY_FRAME" val="{&quot;height&quot;:275.27181102362204,&quot;left&quot;:558.35,&quot;top&quot;:123.32125984251968,&quot;width&quot;:255.1}"/>
</p:tagLst>
</file>

<file path=ppt/tags/tag49.xml><?xml version="1.0" encoding="utf-8"?>
<p:tagLst xmlns:p="http://schemas.openxmlformats.org/presentationml/2006/main">
  <p:tag name="KSO_WM_DIAGRAM_VIRTUALLY_FRAME" val="{&quot;height&quot;:275.27181102362204,&quot;left&quot;:558.35,&quot;top&quot;:123.32125984251968,&quot;width&quot;:255.1}"/>
</p:tagLst>
</file>

<file path=ppt/tags/tag50.xml><?xml version="1.0" encoding="utf-8"?>
<p:tagLst xmlns:p="http://schemas.openxmlformats.org/presentationml/2006/main">
  <p:tag name="KSO_WM_DIAGRAM_VIRTUALLY_FRAME" val="{&quot;height&quot;:275.27181102362204,&quot;left&quot;:558.35,&quot;top&quot;:123.32125984251968,&quot;width&quot;:255.1}"/>
</p:tagLst>
</file>

<file path=ppt/tags/tag51.xml><?xml version="1.0" encoding="utf-8"?>
<p:tagLst xmlns:p="http://schemas.openxmlformats.org/presentationml/2006/main">
  <p:tag name="KSO_WM_DIAGRAM_VIRTUALLY_FRAME" val="{&quot;height&quot;:275.27181102362204,&quot;left&quot;:558.35,&quot;top&quot;:123.32125984251968,&quot;width&quot;:255.1}"/>
</p:tagLst>
</file>

<file path=ppt/tags/tag52.xml><?xml version="1.0" encoding="utf-8"?>
<p:tagLst xmlns:p="http://schemas.openxmlformats.org/presentationml/2006/main">
  <p:tag name="KSO_WM_DIAGRAM_VIRTUALLY_FRAME" val="{&quot;height&quot;:275.27181102362204,&quot;left&quot;:558.35,&quot;top&quot;:123.32125984251968,&quot;width&quot;:255.1}"/>
</p:tagLst>
</file>

<file path=ppt/tags/tag53.xml><?xml version="1.0" encoding="utf-8"?>
<p:tagLst xmlns:p="http://schemas.openxmlformats.org/presentationml/2006/main">
  <p:tag name="KSO_WM_DIAGRAM_VIRTUALLY_FRAME" val="{&quot;height&quot;:275.27181102362204,&quot;left&quot;:558.35,&quot;top&quot;:123.32125984251968,&quot;width&quot;:255.1}"/>
</p:tagLst>
</file>

<file path=ppt/tags/tag54.xml><?xml version="1.0" encoding="utf-8"?>
<p:tagLst xmlns:p="http://schemas.openxmlformats.org/presentationml/2006/main">
  <p:tag name="KSO_WM_DIAGRAM_VIRTUALLY_FRAME" val="{&quot;height&quot;:275.27181102362204,&quot;left&quot;:558.35,&quot;top&quot;:123.32125984251968,&quot;width&quot;:255.1}"/>
</p:tagLst>
</file>

<file path=ppt/tags/tag55.xml><?xml version="1.0" encoding="utf-8"?>
<p:tagLst xmlns:p="http://schemas.openxmlformats.org/presentationml/2006/main">
  <p:tag name="KSO_WM_DIAGRAM_VIRTUALLY_FRAME" val="{&quot;height&quot;:275.27181102362204,&quot;left&quot;:558.35,&quot;top&quot;:123.32125984251968,&quot;width&quot;:255.1}"/>
</p:tagLst>
</file>

<file path=ppt/tags/tag56.xml><?xml version="1.0" encoding="utf-8"?>
<p:tagLst xmlns:p="http://schemas.openxmlformats.org/presentationml/2006/main">
  <p:tag name="KSO_WM_DIAGRAM_VIRTUALLY_FRAME" val="{&quot;height&quot;:275.27181102362204,&quot;left&quot;:558.35,&quot;top&quot;:123.32125984251968,&quot;width&quot;:255.1}"/>
</p:tagLst>
</file>

<file path=ppt/tags/tag57.xml><?xml version="1.0" encoding="utf-8"?>
<p:tagLst xmlns:p="http://schemas.openxmlformats.org/presentationml/2006/main">
  <p:tag name="KSO_WM_DIAGRAM_VIRTUALLY_FRAME" val="{&quot;height&quot;:275.27181102362204,&quot;left&quot;:558.35,&quot;top&quot;:123.32125984251968,&quot;width&quot;:255.1}"/>
</p:tagLst>
</file>

<file path=ppt/tags/tag58.xml><?xml version="1.0" encoding="utf-8"?>
<p:tagLst xmlns:p="http://schemas.openxmlformats.org/presentationml/2006/main">
  <p:tag name="KSO_WM_DIAGRAM_VIRTUALLY_FRAME" val="{&quot;height&quot;:275.27181102362204,&quot;left&quot;:558.35,&quot;top&quot;:123.32125984251968,&quot;width&quot;:255.1}"/>
</p:tagLst>
</file>

<file path=ppt/tags/tag59.xml><?xml version="1.0" encoding="utf-8"?>
<p:tagLst xmlns:p="http://schemas.openxmlformats.org/presentationml/2006/main">
  <p:tag name="KSO_WM_DIAGRAM_VIRTUALLY_FRAME" val="{&quot;height&quot;:275.27181102362204,&quot;left&quot;:558.35,&quot;top&quot;:123.32125984251968,&quot;width&quot;:255.1}"/>
</p:tagLst>
</file>

<file path=ppt/tags/tag6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3.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4.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5.xml><?xml version="1.0" encoding="utf-8"?>
<p:tagLst xmlns:p="http://schemas.openxmlformats.org/presentationml/2006/main">
  <p:tag name="KSO_WM_DIAGRAM_VIRTUALLY_FRAME" val="{&quot;height&quot;:389.6,&quot;left&quot;:211.45,&quot;top&quot;:116.65,&quot;width&quot;:477.55}"/>
</p:tagLst>
</file>

<file path=ppt/tags/tag6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6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9.xml><?xml version="1.0" encoding="utf-8"?>
<p:tagLst xmlns:p="http://schemas.openxmlformats.org/presentationml/2006/main">
  <p:tag name="KSO_WM_BEAUTIFY_FLAG" val=""/>
</p:tagLst>
</file>

<file path=ppt/tags/tag70.xml><?xml version="1.0" encoding="utf-8"?>
<p:tagLst xmlns:p="http://schemas.openxmlformats.org/presentationml/2006/main">
  <p:tag name="KSO_WM_BEAUTIFY_FLAG" val=""/>
</p:tagLst>
</file>

<file path=ppt/tags/tag7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3_1"/>
  <p:tag name="KSO_WM_UNIT_ID" val="diagram40494663_1*l_h_a*1_3_1"/>
  <p:tag name="KSO_WM_TEMPLATE_CATEGORY" val="diagram"/>
  <p:tag name="KSO_WM_TEMPLATE_INDEX" val="40494663"/>
  <p:tag name="KSO_WM_UNIT_LAYERLEVEL" val="1_1_1"/>
  <p:tag name="KSO_WM_TAG_VERSION" val="3.0"/>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40494663_1*l_h_f*1_3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4663_1*l_h_i*1_3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VALUE" val="84*84"/>
  <p:tag name="KSO_WM_UNIT_HIGHLIGHT" val="0"/>
  <p:tag name="KSO_WM_UNIT_COMPATIBLE" val="0"/>
  <p:tag name="KSO_WM_UNIT_DIAGRAM_ISNUMVISUAL" val="0"/>
  <p:tag name="KSO_WM_UNIT_DIAGRAM_ISREFERUNIT" val="0"/>
  <p:tag name="KSO_WM_DIAGRAM_GROUP_CODE" val="l1-1"/>
  <p:tag name="KSO_WM_UNIT_TYPE" val="l_h_x"/>
  <p:tag name="KSO_WM_UNIT_INDEX" val="1_3_1"/>
  <p:tag name="KSO_WM_UNIT_ID" val="diagram40494663_1*l_h_x*1_3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40494663_1*l_h_i*1_2_2"/>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2_1"/>
  <p:tag name="KSO_WM_UNIT_ID" val="diagram40494663_1*l_h_a*1_2_1"/>
  <p:tag name="KSO_WM_TEMPLATE_CATEGORY" val="diagram"/>
  <p:tag name="KSO_WM_TEMPLATE_INDEX" val="40494663"/>
  <p:tag name="KSO_WM_UNIT_LAYERLEVEL" val="1_1_1"/>
  <p:tag name="KSO_WM_TAG_VERSION" val="3.0"/>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40494663_1*l_h_f*1_2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内容，简明扼要地阐述您的观点。单击此处添加文本内容，简明扼要地阐述观点。单击此处添加文本内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4663_1*l_h_i*1_2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VALUE" val="96*87"/>
  <p:tag name="KSO_WM_UNIT_HIGHLIGHT" val="0"/>
  <p:tag name="KSO_WM_UNIT_COMPATIBLE" val="0"/>
  <p:tag name="KSO_WM_UNIT_DIAGRAM_ISNUMVISUAL" val="0"/>
  <p:tag name="KSO_WM_UNIT_DIAGRAM_ISREFERUNIT" val="0"/>
  <p:tag name="KSO_WM_DIAGRAM_GROUP_CODE" val="l1-1"/>
  <p:tag name="KSO_WM_UNIT_TYPE" val="l_h_x"/>
  <p:tag name="KSO_WM_UNIT_INDEX" val="1_2_1"/>
  <p:tag name="KSO_WM_UNIT_ID" val="diagram40494663_1*l_h_x*1_2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1_1"/>
  <p:tag name="KSO_WM_UNIT_ID" val="diagram40494663_1*l_h_a*1_1_1"/>
  <p:tag name="KSO_WM_TEMPLATE_CATEGORY" val="diagram"/>
  <p:tag name="KSO_WM_TEMPLATE_INDEX" val="40494663"/>
  <p:tag name="KSO_WM_UNIT_LAYERLEVEL" val="1_1_1"/>
  <p:tag name="KSO_WM_TAG_VERSION" val="3.0"/>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1.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40494663_1*l_h_f*1_1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4663_1*l_h_i*1_1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3.xml><?xml version="1.0" encoding="utf-8"?>
<p:tagLst xmlns:p="http://schemas.openxmlformats.org/presentationml/2006/main">
  <p:tag name="KSO_WM_UNIT_VALUE" val="85*85"/>
  <p:tag name="KSO_WM_UNIT_HIGHLIGHT" val="0"/>
  <p:tag name="KSO_WM_UNIT_COMPATIBLE" val="0"/>
  <p:tag name="KSO_WM_UNIT_DIAGRAM_ISNUMVISUAL" val="0"/>
  <p:tag name="KSO_WM_UNIT_DIAGRAM_ISREFERUNIT" val="0"/>
  <p:tag name="KSO_WM_DIAGRAM_GROUP_CODE" val="l1-1"/>
  <p:tag name="KSO_WM_UNIT_TYPE" val="l_h_x"/>
  <p:tag name="KSO_WM_UNIT_INDEX" val="1_1_1"/>
  <p:tag name="KSO_WM_UNIT_ID" val="diagram40494663_1*l_h_x*1_1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40494663_1*l_h_i*1_3_2"/>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40494663_1*l_h_i*1_1_2"/>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16.9499938964844,&quot;left&quot;:46.8,&quot;top&quot;:95.05000305175781,&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10&quot;:[3505430,50036384,50034089,4590447],&quot;29&quot;:[50053024,50052948],&quot;70&quot;:[3405561,3319090,3312439,3312479,3429185]}"/>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BEAUTIFY_FLAG" val=""/>
</p:tagLst>
</file>

<file path=ppt/tags/tag90.xml><?xml version="1.0" encoding="utf-8"?>
<p:tagLst xmlns:p="http://schemas.openxmlformats.org/presentationml/2006/main">
  <p:tag name="KSO_WM_BEAUTIFY_FLAG" val=""/>
</p:tagLst>
</file>

<file path=ppt/tags/tag91.xml><?xml version="1.0" encoding="utf-8"?>
<p:tagLst xmlns:p="http://schemas.openxmlformats.org/presentationml/2006/main">
  <p:tag name="KSO_WM_BEAUTIFY_FLAG" val=""/>
</p:tagLst>
</file>

<file path=ppt/tags/tag92.xml><?xml version="1.0" encoding="utf-8"?>
<p:tagLst xmlns:p="http://schemas.openxmlformats.org/presentationml/2006/main">
  <p:tag name="KSO_WM_DIAGRAM_VIRTUALLY_FRAME" val="{&quot;height&quot;:384.75,&quot;left&quot;:24,&quot;top&quot;:86.8,&quot;width&quot;:911.2}"/>
</p:tagLst>
</file>

<file path=ppt/tags/tag93.xml><?xml version="1.0" encoding="utf-8"?>
<p:tagLst xmlns:p="http://schemas.openxmlformats.org/presentationml/2006/main">
  <p:tag name="KSO_WM_DIAGRAM_VIRTUALLY_FRAME" val="{&quot;height&quot;:384.75,&quot;left&quot;:24,&quot;top&quot;:86.8,&quot;width&quot;:911.2}"/>
</p:tagLst>
</file>

<file path=ppt/tags/tag94.xml><?xml version="1.0" encoding="utf-8"?>
<p:tagLst xmlns:p="http://schemas.openxmlformats.org/presentationml/2006/main">
  <p:tag name="KSO_WM_DIAGRAM_VIRTUALLY_FRAME" val="{&quot;height&quot;:384.75,&quot;left&quot;:24,&quot;top&quot;:86.8,&quot;width&quot;:911.2}"/>
</p:tagLst>
</file>

<file path=ppt/tags/tag95.xml><?xml version="1.0" encoding="utf-8"?>
<p:tagLst xmlns:p="http://schemas.openxmlformats.org/presentationml/2006/main">
  <p:tag name="KSO_WM_DIAGRAM_VIRTUALLY_FRAME" val="{&quot;height&quot;:384.75,&quot;left&quot;:24,&quot;top&quot;:86.8,&quot;width&quot;:911.2}"/>
</p:tagLst>
</file>

<file path=ppt/tags/tag96.xml><?xml version="1.0" encoding="utf-8"?>
<p:tagLst xmlns:p="http://schemas.openxmlformats.org/presentationml/2006/main">
  <p:tag name="KSO_WM_DIAGRAM_VIRTUALLY_FRAME" val="{&quot;height&quot;:384.75,&quot;left&quot;:24,&quot;top&quot;:86.8,&quot;width&quot;:911.2}"/>
</p:tagLst>
</file>

<file path=ppt/tags/tag97.xml><?xml version="1.0" encoding="utf-8"?>
<p:tagLst xmlns:p="http://schemas.openxmlformats.org/presentationml/2006/main">
  <p:tag name="KSO_WM_DIAGRAM_VIRTUALLY_FRAME" val="{&quot;height&quot;:384.75,&quot;left&quot;:24,&quot;top&quot;:86.8,&quot;width&quot;:911.2}"/>
</p:tagLst>
</file>

<file path=ppt/tags/tag98.xml><?xml version="1.0" encoding="utf-8"?>
<p:tagLst xmlns:p="http://schemas.openxmlformats.org/presentationml/2006/main">
  <p:tag name="KSO_WM_DIAGRAM_VIRTUALLY_FRAME" val="{&quot;height&quot;:384.75,&quot;left&quot;:24,&quot;top&quot;:86.8,&quot;width&quot;:911.2}"/>
</p:tagLst>
</file>

<file path=ppt/tags/tag99.xml><?xml version="1.0" encoding="utf-8"?>
<p:tagLst xmlns:p="http://schemas.openxmlformats.org/presentationml/2006/main">
  <p:tag name="KSO_WM_DIAGRAM_VIRTUALLY_FRAME" val="{&quot;height&quot;:384.75,&quot;left&quot;:24,&quot;top&quot;:86.8,&quot;width&quot;:911.2}"/>
</p:tagLst>
</file>

<file path=ppt/tags/tag100.xml><?xml version="1.0" encoding="utf-8"?>
<p:tagLst xmlns:p="http://schemas.openxmlformats.org/presentationml/2006/main">
  <p:tag name="KSO_WM_DIAGRAM_VIRTUALLY_FRAME" val="{&quot;height&quot;:384.75,&quot;left&quot;:24,&quot;top&quot;:86.8,&quot;width&quot;:911.2}"/>
</p:tagLst>
</file>

<file path=ppt/tags/tag101.xml><?xml version="1.0" encoding="utf-8"?>
<p:tagLst xmlns:p="http://schemas.openxmlformats.org/presentationml/2006/main">
  <p:tag name="KSO_WM_DIAGRAM_VIRTUALLY_FRAME" val="{&quot;height&quot;:384.75,&quot;left&quot;:24,&quot;top&quot;:86.8,&quot;width&quot;:911.2}"/>
</p:tagLst>
</file>

<file path=ppt/tags/tag102.xml><?xml version="1.0" encoding="utf-8"?>
<p:tagLst xmlns:p="http://schemas.openxmlformats.org/presentationml/2006/main">
  <p:tag name="KSO_WM_DIAGRAM_VIRTUALLY_FRAME" val="{&quot;height&quot;:384.75,&quot;left&quot;:24,&quot;top&quot;:86.8,&quot;width&quot;:911.2}"/>
</p:tagLst>
</file>

<file path=ppt/tags/tag103.xml><?xml version="1.0" encoding="utf-8"?>
<p:tagLst xmlns:p="http://schemas.openxmlformats.org/presentationml/2006/main">
  <p:tag name="KSO_WM_DIAGRAM_VIRTUALLY_FRAME" val="{&quot;height&quot;:384.75,&quot;left&quot;:24,&quot;top&quot;:86.8,&quot;width&quot;:911.2}"/>
</p:tagLst>
</file>

<file path=ppt/tags/tag104.xml><?xml version="1.0" encoding="utf-8"?>
<p:tagLst xmlns:p="http://schemas.openxmlformats.org/presentationml/2006/main">
  <p:tag name="KSO_WM_DIAGRAM_VIRTUALLY_FRAME" val="{&quot;height&quot;:384.75,&quot;left&quot;:24,&quot;top&quot;:86.8,&quot;width&quot;:911.2}"/>
</p:tagLst>
</file>

<file path=ppt/tags/tag105.xml><?xml version="1.0" encoding="utf-8"?>
<p:tagLst xmlns:p="http://schemas.openxmlformats.org/presentationml/2006/main">
  <p:tag name="KSO_WM_DIAGRAM_VIRTUALLY_FRAME" val="{&quot;height&quot;:384.75,&quot;left&quot;:24,&quot;top&quot;:86.8,&quot;width&quot;:911.2}"/>
</p:tagLst>
</file>

<file path=ppt/tags/tag106.xml><?xml version="1.0" encoding="utf-8"?>
<p:tagLst xmlns:p="http://schemas.openxmlformats.org/presentationml/2006/main">
  <p:tag name="KSO_WM_DIAGRAM_VIRTUALLY_FRAME" val="{&quot;height&quot;:384.75,&quot;left&quot;:24,&quot;top&quot;:86.8,&quot;width&quot;:911.2}"/>
</p:tagLst>
</file>

<file path=ppt/tags/tag107.xml><?xml version="1.0" encoding="utf-8"?>
<p:tagLst xmlns:p="http://schemas.openxmlformats.org/presentationml/2006/main">
  <p:tag name="KSO_WM_DIAGRAM_VIRTUALLY_FRAME" val="{&quot;height&quot;:384.75,&quot;left&quot;:24,&quot;top&quot;:86.8,&quot;width&quot;:911.2}"/>
</p:tagLst>
</file>

<file path=ppt/tags/tag108.xml><?xml version="1.0" encoding="utf-8"?>
<p:tagLst xmlns:p="http://schemas.openxmlformats.org/presentationml/2006/main">
  <p:tag name="KSO_WM_DIAGRAM_VIRTUALLY_FRAME" val="{&quot;height&quot;:389.6,&quot;left&quot;:211.45,&quot;top&quot;:116.65,&quot;width&quot;:477.55}"/>
</p:tagLst>
</file>

<file path=ppt/tags/tag10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KSO_WM_BEAUTIFY_FLAG" val=""/>
</p:tagLst>
</file>

<file path=ppt/tags/tag11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1092_1*n_h_h_f*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91.22212598425193,&quot;left&quot;:48.8792202782819,&quot;top&quot;:130.46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PRESET_TEXT" val="单击此处输入你的智能图&#10;形项正文内容"/>
  <p:tag name="KSO_WM_UNIT_TEXT_FILL_FORE_SCHEMECOLOR_INDEX" val="1"/>
  <p:tag name="KSO_WM_UNIT_TEXT_FILL_TYPE" val="1"/>
  <p:tag name="KSO_WM_DIAGRAM_USE_COLOR_VALUE" val="{&quot;color_scheme&quot;:1,&quot;color_type&quot;:1,&quot;theme_color_indexes&quot;:[9,10,9,10,9,10]}"/>
</p:tagLst>
</file>

<file path=ppt/tags/tag11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1_1"/>
  <p:tag name="KSO_WM_UNIT_ID" val="diagram20231092_1*n_h_h_a*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91.22212598425193,&quot;left&quot;:48.8792202782819,&quot;top&quot;:130.46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1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2_1"/>
  <p:tag name="KSO_WM_UNIT_ID" val="diagram20231092_1*n_h_h_a*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91.22212598425193,&quot;left&quot;:48.8792202782819,&quot;top&quot;:130.46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1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1092_1*n_h_h_f*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91.22212598425193,&quot;left&quot;:48.8792202782819,&quot;top&quot;:130.46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PRESET_TEXT" val="单击此处输入你的智能图&#10;形项正文"/>
  <p:tag name="KSO_WM_UNIT_TEXT_FILL_FORE_SCHEMECOLOR_INDEX" val="1"/>
  <p:tag name="KSO_WM_UNIT_TEXT_FILL_TYPE" val="1"/>
  <p:tag name="KSO_WM_DIAGRAM_USE_COLOR_VALUE" val="{&quot;color_scheme&quot;:1,&quot;color_type&quot;:1,&quot;theme_color_indexes&quot;:[9,10,9,10,9,10]}"/>
</p:tagLst>
</file>

<file path=ppt/tags/tag118.xml><?xml version="1.0" encoding="utf-8"?>
<p:tagLst xmlns:p="http://schemas.openxmlformats.org/presentationml/2006/main">
  <p:tag name="KSO_WM_SLIDE_ITEM_CNT" val="3"/>
  <p:tag name="resource_record_key" val="{&quot;10&quot;:[3505430,50036384,50034089,50021210,50042277,21579435,21573058,21572379,50047114],&quot;29&quot;:[50053024,50052948],&quot;70&quot;:[3405561,3319090,3312439]}"/>
</p:tagLst>
</file>

<file path=ppt/tags/tag1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2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21.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22.xml><?xml version="1.0" encoding="utf-8"?>
<p:tagLst xmlns:p="http://schemas.openxmlformats.org/presentationml/2006/main">
  <p:tag name="KSO_WM_DIAGRAM_VIRTUALLY_FRAME" val="{&quot;height&quot;:156.26889153427965,&quot;left&quot;:75.475,&quot;top&quot;:135.73110236220472,&quot;width&quot;:201.72872924804696}"/>
</p:tagLst>
</file>

<file path=ppt/tags/tag123.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5.xml><?xml version="1.0" encoding="utf-8"?>
<p:tagLst xmlns:p="http://schemas.openxmlformats.org/presentationml/2006/main">
  <p:tag name="KSO_WM_DIAGRAM_VIRTUALLY_FRAME" val="{&quot;height&quot;:156.26889153427965,&quot;left&quot;:75.475,&quot;top&quot;:135.73110236220472,&quot;width&quot;:201.72872924804696}"/>
</p:tagLst>
</file>

<file path=ppt/tags/tag126.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8.xml><?xml version="1.0" encoding="utf-8"?>
<p:tagLst xmlns:p="http://schemas.openxmlformats.org/presentationml/2006/main">
  <p:tag name="KSO_WM_DIAGRAM_VIRTUALLY_FRAME" val="{&quot;height&quot;:156.26889153427965,&quot;left&quot;:75.475,&quot;top&quot;:135.73110236220472,&quot;width&quot;:201.72872924804696}"/>
</p:tagLst>
</file>

<file path=ppt/tags/tag12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1.xml><?xml version="1.0" encoding="utf-8"?>
<p:tagLst xmlns:p="http://schemas.openxmlformats.org/presentationml/2006/main">
  <p:tag name="KSO_WM_DIAGRAM_VIRTUALLY_FRAME" val="{&quot;height&quot;:156.26889153427965,&quot;left&quot;:75.475,&quot;top&quot;:135.73110236220472,&quot;width&quot;:201.72872924804696}"/>
</p:tagLst>
</file>

<file path=ppt/tags/tag13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3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35.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36.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3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38.xml><?xml version="1.0" encoding="utf-8"?>
<p:tagLst xmlns:p="http://schemas.openxmlformats.org/presentationml/2006/main">
  <p:tag name="KSO_WM_DIAGRAM_VIRTUALLY_FRAME" val="{&quot;height&quot;:443.51889153427965,&quot;left&quot;:59.7,&quot;top&quot;:137.43110236220474,&quot;width&quot;:492.053729248047}"/>
</p:tagLst>
</file>

<file path=ppt/tags/tag13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4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1.xml><?xml version="1.0" encoding="utf-8"?>
<p:tagLst xmlns:p="http://schemas.openxmlformats.org/presentationml/2006/main">
  <p:tag name="KSO_WM_DIAGRAM_VIRTUALLY_FRAME" val="{&quot;height&quot;:443.51889153427965,&quot;left&quot;:59.7,&quot;top&quot;:137.43110236220474,&quot;width&quot;:492.053729248047}"/>
</p:tagLst>
</file>

<file path=ppt/tags/tag1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4.xml><?xml version="1.0" encoding="utf-8"?>
<p:tagLst xmlns:p="http://schemas.openxmlformats.org/presentationml/2006/main">
  <p:tag name="KSO_WM_DIAGRAM_VIRTUALLY_FRAME" val="{&quot;height&quot;:443.51889153427965,&quot;left&quot;:59.7,&quot;top&quot;:137.43110236220474,&quot;width&quot;:492.053729248047}"/>
</p:tagLst>
</file>

<file path=ppt/tags/tag1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7.xml><?xml version="1.0" encoding="utf-8"?>
<p:tagLst xmlns:p="http://schemas.openxmlformats.org/presentationml/2006/main">
  <p:tag name="KSO_WM_DIAGRAM_VIRTUALLY_FRAME" val="{&quot;height&quot;:443.51889153427965,&quot;left&quot;:59.7,&quot;top&quot;:137.43110236220474,&quot;width&quot;:492.053729248047}"/>
</p:tagLst>
</file>

<file path=ppt/tags/tag1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0.xml><?xml version="1.0" encoding="utf-8"?>
<p:tagLst xmlns:p="http://schemas.openxmlformats.org/presentationml/2006/main">
  <p:tag name="KSO_WM_BEAUTIFY_FLAG" val=""/>
</p:tagLst>
</file>

<file path=ppt/tags/tag151.xml><?xml version="1.0" encoding="utf-8"?>
<p:tagLst xmlns:p="http://schemas.openxmlformats.org/presentationml/2006/main">
  <p:tag name="KSO_WM_BEAUTIFY_FLAG" val=""/>
</p:tagLst>
</file>

<file path=ppt/tags/tag152.xml><?xml version="1.0" encoding="utf-8"?>
<p:tagLst xmlns:p="http://schemas.openxmlformats.org/presentationml/2006/main">
  <p:tag name="KSO_DOCER_RESOURCE_TRACE_INFO" val="{&quot;id&quot;:&quot;&quot;,&quot;origin&quot;:0,&quot;type&quot;:&quot;textbox&quot;,&quot;user&quot;:&quot;451439288&quot;}"/>
</p:tagLst>
</file>

<file path=ppt/tags/tag153.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UNIT_TYPE" val="o_h_f"/>
  <p:tag name="KSO_WM_UNIT_INDEX" val="1_1_1"/>
  <p:tag name="KSO_WM_UNIT_ID" val="diagram20234924_3*o_h_f*1_1_1"/>
  <p:tag name="KSO_WM_TEMPLATE_CATEGORY" val="diagram"/>
  <p:tag name="KSO_WM_TEMPLATE_INDEX" val="20234924"/>
  <p:tag name="KSO_WM_UNIT_LAYERLEVEL" val="1_1_1"/>
  <p:tag name="KSO_WM_TAG_VERSION" val="3.0"/>
  <p:tag name="KSO_WM_UNIT_FROM" val="WPS"/>
  <p:tag name="KSO_WM_DIAGRAM_VERSION" val="3"/>
  <p:tag name="KSO_WM_DIAGRAM_COLOR_TRICK" val="1"/>
  <p:tag name="KSO_WM_DIAGRAM_COLOR_TEXT_CAN_REMOVE" val="n"/>
  <p:tag name="KSO_WM_DIAGRAM_GROUP_CODE" val="o1-1"/>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800000011920929,&quot;colorType&quot;:1,&quot;foreColorIndex&quot;:5,&quot;pos&quot;:0,&quot;transparency&quot;:0.9200000166893005},{&quot;brightness&quot;:0.800000011920929,&quot;colorType&quot;:1,&quot;foreColorIndex&quot;:5,&quot;pos&quot;:0.12999999523162842,&quot;transparency&quot;:0.75},{&quot;brightness&quot;:0.800000011920929,&quot;colorType&quot;:1,&quot;foreColorIndex&quot;:5,&quot;pos&quot;:1,&quot;transparency&quot;:0.3100000023841858}],&quot;type&quot;:3},&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81"/>
  <p:tag name="KSO_WM_UNIT_PRESET_TEXT" val="单击此处添加文本内容，简明扼要地阐述观点"/>
  <p:tag name="KSO_WM_UNIT_FILL_TYPE" val="3"/>
  <p:tag name="KSO_WM_UNIT_LINE_FORE_SCHEMECOLOR_INDEX" val="5"/>
  <p:tag name="KSO_WM_UNIT_TEXT_FILL_FORE_SCHEMECOLOR_INDEX" val="1"/>
  <p:tag name="KSO_WM_UNIT_TEXT_FILL_TYPE" val="1"/>
  <p:tag name="KSO_WM_UNIT_TEXT_TYPE" val="1"/>
  <p:tag name="KSO_WM_DIAGRAM_USE_COLOR_VALUE" val="{&quot;color_scheme&quot;:1,&quot;color_type&quot;:1,&quot;theme_color_indexes&quot;:[9,10,9,10,9,10]}"/>
</p:tagLst>
</file>

<file path=ppt/tags/tag154.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UNIT_TYPE" val="o_h_f"/>
  <p:tag name="KSO_WM_UNIT_INDEX" val="1_2_1"/>
  <p:tag name="KSO_WM_UNIT_ID" val="diagram20234924_3*o_h_f*1_2_1"/>
  <p:tag name="KSO_WM_TEMPLATE_CATEGORY" val="diagram"/>
  <p:tag name="KSO_WM_TEMPLATE_INDEX" val="20234924"/>
  <p:tag name="KSO_WM_UNIT_LAYERLEVEL" val="1_1_1"/>
  <p:tag name="KSO_WM_TAG_VERSION" val="3.0"/>
  <p:tag name="KSO_WM_UNIT_FROM" val="WPS"/>
  <p:tag name="KSO_WM_DIAGRAM_VERSION" val="3"/>
  <p:tag name="KSO_WM_DIAGRAM_COLOR_TRICK" val="1"/>
  <p:tag name="KSO_WM_DIAGRAM_COLOR_TEXT_CAN_REMOVE" val="n"/>
  <p:tag name="KSO_WM_DIAGRAM_GROUP_CODE" val="o1-1"/>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800000011920929,&quot;colorType&quot;:1,&quot;foreColorIndex&quot;:5,&quot;pos&quot;:0,&quot;transparency&quot;:0.9200000166893005},{&quot;brightness&quot;:0.800000011920929,&quot;colorType&quot;:1,&quot;foreColorIndex&quot;:5,&quot;pos&quot;:0.12999999523162842,&quot;transparency&quot;:0.75},{&quot;brightness&quot;:0.800000011920929,&quot;colorType&quot;:1,&quot;foreColorIndex&quot;:5,&quot;pos&quot;:1,&quot;transparency&quot;:0.3100000023841858}],&quot;type&quot;:3},&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单击此处添加文本内容，简明扼要地阐述观点"/>
  <p:tag name="KSO_WM_UNIT_FILL_TYPE" val="3"/>
  <p:tag name="KSO_WM_UNIT_LINE_FORE_SCHEMECOLOR_INDEX" val="5"/>
  <p:tag name="KSO_WM_UNIT_TEXT_FILL_FORE_SCHEMECOLOR_INDEX" val="1"/>
  <p:tag name="KSO_WM_UNIT_TEXT_FILL_TYPE" val="1"/>
  <p:tag name="KSO_WM_UNIT_TEXT_TYPE" val="1"/>
  <p:tag name="KSO_WM_DIAGRAM_USE_COLOR_VALUE" val="{&quot;color_scheme&quot;:1,&quot;color_type&quot;:1,&quot;theme_color_indexes&quot;:[9,10,9,10,9,10]}"/>
</p:tagLst>
</file>

<file path=ppt/tags/tag155.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UNIT_TYPE" val="o_h_f"/>
  <p:tag name="KSO_WM_UNIT_INDEX" val="1_3_1"/>
  <p:tag name="KSO_WM_UNIT_ID" val="diagram20234924_3*o_h_f*1_3_1"/>
  <p:tag name="KSO_WM_TEMPLATE_CATEGORY" val="diagram"/>
  <p:tag name="KSO_WM_TEMPLATE_INDEX" val="20234924"/>
  <p:tag name="KSO_WM_UNIT_LAYERLEVEL" val="1_1_1"/>
  <p:tag name="KSO_WM_TAG_VERSION" val="3.0"/>
  <p:tag name="KSO_WM_UNIT_FROM" val="WPS"/>
  <p:tag name="KSO_WM_DIAGRAM_VERSION" val="3"/>
  <p:tag name="KSO_WM_DIAGRAM_COLOR_TRICK" val="1"/>
  <p:tag name="KSO_WM_DIAGRAM_COLOR_TEXT_CAN_REMOVE" val="n"/>
  <p:tag name="KSO_WM_DIAGRAM_GROUP_CODE" val="o1-1"/>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800000011920929,&quot;colorType&quot;:1,&quot;foreColorIndex&quot;:5,&quot;pos&quot;:0,&quot;transparency&quot;:0.9200000166893005},{&quot;brightness&quot;:0.800000011920929,&quot;colorType&quot;:1,&quot;foreColorIndex&quot;:5,&quot;pos&quot;:0.12999999523162842,&quot;transparency&quot;:0.75},{&quot;brightness&quot;:0.800000011920929,&quot;colorType&quot;:1,&quot;foreColorIndex&quot;:5,&quot;pos&quot;:1,&quot;transparency&quot;:0.3100000023841858}],&quot;type&quot;:3},&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单击此处添加文本内容，简明扼要地阐述观点"/>
  <p:tag name="KSO_WM_UNIT_FILL_TYPE" val="3"/>
  <p:tag name="KSO_WM_UNIT_LINE_FORE_SCHEMECOLOR_INDEX" val="5"/>
  <p:tag name="KSO_WM_UNIT_TEXT_FILL_FORE_SCHEMECOLOR_INDEX" val="1"/>
  <p:tag name="KSO_WM_UNIT_TEXT_FILL_TYPE" val="1"/>
  <p:tag name="KSO_WM_UNIT_TEXT_TYPE" val="1"/>
  <p:tag name="KSO_WM_DIAGRAM_USE_COLOR_VALUE" val="{&quot;color_scheme&quot;:1,&quot;color_type&quot;:1,&quot;theme_color_indexes&quot;:[9,10,9,10,9,10]}"/>
</p:tagLst>
</file>

<file path=ppt/tags/tag156.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UNIT_TYPE" val="o_h_f"/>
  <p:tag name="KSO_WM_UNIT_INDEX" val="1_4_1"/>
  <p:tag name="KSO_WM_UNIT_ID" val="diagram20234924_3*o_h_f*1_4_1"/>
  <p:tag name="KSO_WM_TEMPLATE_CATEGORY" val="diagram"/>
  <p:tag name="KSO_WM_TEMPLATE_INDEX" val="20234924"/>
  <p:tag name="KSO_WM_UNIT_LAYERLEVEL" val="1_1_1"/>
  <p:tag name="KSO_WM_TAG_VERSION" val="3.0"/>
  <p:tag name="KSO_WM_UNIT_FROM" val="WPS"/>
  <p:tag name="KSO_WM_DIAGRAM_VERSION" val="3"/>
  <p:tag name="KSO_WM_DIAGRAM_COLOR_TRICK" val="1"/>
  <p:tag name="KSO_WM_DIAGRAM_COLOR_TEXT_CAN_REMOVE" val="n"/>
  <p:tag name="KSO_WM_DIAGRAM_GROUP_CODE" val="o1-1"/>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800000011920929,&quot;colorType&quot;:1,&quot;foreColorIndex&quot;:5,&quot;pos&quot;:0,&quot;transparency&quot;:0.9200000166893005},{&quot;brightness&quot;:0.800000011920929,&quot;colorType&quot;:1,&quot;foreColorIndex&quot;:5,&quot;pos&quot;:0.12999999523162842,&quot;transparency&quot;:0.75},{&quot;brightness&quot;:0.800000011920929,&quot;colorType&quot;:1,&quot;foreColorIndex&quot;:5,&quot;pos&quot;:1,&quot;transparency&quot;:0.3100000023841858}],&quot;type&quot;:3},&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单击此处添加文本内容，简明扼要地阐述观点"/>
  <p:tag name="KSO_WM_UNIT_FILL_TYPE" val="3"/>
  <p:tag name="KSO_WM_UNIT_LINE_FORE_SCHEMECOLOR_INDEX" val="5"/>
  <p:tag name="KSO_WM_UNIT_TEXT_FILL_FORE_SCHEMECOLOR_INDEX" val="1"/>
  <p:tag name="KSO_WM_UNIT_TEXT_FILL_TYPE" val="1"/>
  <p:tag name="KSO_WM_UNIT_TEXT_TYPE" val="1"/>
  <p:tag name="KSO_WM_DIAGRAM_USE_COLOR_VALUE" val="{&quot;color_scheme&quot;:1,&quot;color_type&quot;:1,&quot;theme_color_indexes&quot;:[9,10,9,10,9,10]}"/>
</p:tagLst>
</file>

<file path=ppt/tags/tag15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4_2"/>
  <p:tag name="KSO_WM_UNIT_ID" val="diagram20234924_3*o_h_i*1_4_2"/>
  <p:tag name="KSO_WM_TEMPLATE_CATEGORY" val="diagram"/>
  <p:tag name="KSO_WM_TEMPLATE_INDEX" val="20234924"/>
  <p:tag name="KSO_WM_UNIT_LAYERLEVEL" val="1_1_1"/>
  <p:tag name="KSO_WM_TAG_VERSION" val="3.0"/>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800000011920929,&quot;colorType&quot;:1,&quot;foreColorIndex&quot;:5,&quot;pos&quot;:0,&quot;transparency&quot;:0},{&quot;brightness&quot;:0,&quot;colorType&quot;:1,&quot;foreColorIndex&quot;:5,&quot;pos&quot;:0.6299999952316284,&quot;transparency&quot;:0}],&quot;type&quot;:3},&quot;glow&quot;:{&quot;colorType&quot;:0},&quot;line&quot;:{&quot;type&quot;:0},&quot;shadow&quot;:{&quot;brightness&quot;:-0.25,&quot;colorType&quot;:1,&quot;foreColorIndex&quot;:5,&quot;transparency&quot;:0.75},&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brightness&quot;:-0.5,&quot;colorType&quot;:1,&quot;foreColorIndex&quot;:5,&quot;transparency&quot;:0.75},&quot;threeD&quot;:{&quot;curvedSurface&quot;:{&quot;brightness&quot;:0,&quot;colorType&quot;:2,&quot;rgb&quot;:&quot;#000000&quot;},&quot;depth&quot;:{&quot;colorType&quot;:0}}}}"/>
  <p:tag name="KSO_WM_UNIT_FILL_TYPE" val="3"/>
  <p:tag name="KSO_WM_DIAGRAM_USE_COLOR_VALUE" val="{&quot;color_scheme&quot;:1,&quot;color_type&quot;:1,&quot;theme_color_indexes&quot;:[9,10,9,10,9,10]}"/>
</p:tagLst>
</file>

<file path=ppt/tags/tag15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4_1"/>
  <p:tag name="KSO_WM_UNIT_ID" val="diagram20234924_3*o_h_i*1_4_1"/>
  <p:tag name="KSO_WM_TEMPLATE_CATEGORY" val="diagram"/>
  <p:tag name="KSO_WM_TEMPLATE_INDEX" val="20234924"/>
  <p:tag name="KSO_WM_UNIT_LAYERLEVEL" val="1_1_1"/>
  <p:tag name="KSO_WM_TAG_VERSION" val="3.0"/>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25,&quot;colorType&quot;:1,&quot;foreColorIndex&quot;:5,&quot;pos&quot;:0.6200000047683716,&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3"/>
  <p:tag name="KSO_WM_DIAGRAM_USE_COLOR_VALUE" val="{&quot;color_scheme&quot;:1,&quot;color_type&quot;:1,&quot;theme_color_indexes&quot;:[9,10,9,10,9,10]}"/>
</p:tagLst>
</file>

<file path=ppt/tags/tag15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3_2"/>
  <p:tag name="KSO_WM_UNIT_ID" val="diagram20234924_3*o_h_i*1_3_2"/>
  <p:tag name="KSO_WM_TEMPLATE_CATEGORY" val="diagram"/>
  <p:tag name="KSO_WM_TEMPLATE_INDEX" val="20234924"/>
  <p:tag name="KSO_WM_UNIT_LAYERLEVEL" val="1_1_1"/>
  <p:tag name="KSO_WM_TAG_VERSION" val="3.0"/>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800000011920929,&quot;colorType&quot;:1,&quot;foreColorIndex&quot;:5,&quot;pos&quot;:0,&quot;transparency&quot;:0},{&quot;brightness&quot;:0,&quot;colorType&quot;:1,&quot;foreColorIndex&quot;:5,&quot;pos&quot;:0.6299999952316284,&quot;transparency&quot;:0}],&quot;type&quot;:3},&quot;glow&quot;:{&quot;colorType&quot;:0},&quot;line&quot;:{&quot;type&quot;:0},&quot;shadow&quot;:{&quot;brightness&quot;:-0.25,&quot;colorType&quot;:1,&quot;foreColorIndex&quot;:5,&quot;transparency&quot;:0.75},&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brightness&quot;:-0.5,&quot;colorType&quot;:1,&quot;foreColorIndex&quot;:5,&quot;transparency&quot;:0.75},&quot;threeD&quot;:{&quot;curvedSurface&quot;:{&quot;brightness&quot;:0,&quot;colorType&quot;:2,&quot;rgb&quot;:&quot;#000000&quot;},&quot;depth&quot;:{&quot;colorType&quot;:0}}}}"/>
  <p:tag name="KSO_WM_UNIT_FILL_TYPE" val="3"/>
  <p:tag name="KSO_WM_DIAGRAM_USE_COLOR_VALUE" val="{&quot;color_scheme&quot;:1,&quot;color_type&quot;:1,&quot;theme_color_indexes&quot;:[9,10,9,10,9,10]}"/>
</p:tagLst>
</file>

<file path=ppt/tags/tag16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3_1"/>
  <p:tag name="KSO_WM_UNIT_ID" val="diagram20234924_3*o_h_i*1_3_1"/>
  <p:tag name="KSO_WM_TEMPLATE_CATEGORY" val="diagram"/>
  <p:tag name="KSO_WM_TEMPLATE_INDEX" val="20234924"/>
  <p:tag name="KSO_WM_UNIT_LAYERLEVEL" val="1_1_1"/>
  <p:tag name="KSO_WM_TAG_VERSION" val="3.0"/>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25,&quot;colorType&quot;:1,&quot;foreColorIndex&quot;:5,&quot;pos&quot;:0.6200000047683716,&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3"/>
  <p:tag name="KSO_WM_DIAGRAM_USE_COLOR_VALUE" val="{&quot;color_scheme&quot;:1,&quot;color_type&quot;:1,&quot;theme_color_indexes&quot;:[9,10,9,10,9,10]}"/>
</p:tagLst>
</file>

<file path=ppt/tags/tag16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2_2"/>
  <p:tag name="KSO_WM_UNIT_ID" val="diagram20234924_3*o_h_i*1_2_2"/>
  <p:tag name="KSO_WM_TEMPLATE_CATEGORY" val="diagram"/>
  <p:tag name="KSO_WM_TEMPLATE_INDEX" val="20234924"/>
  <p:tag name="KSO_WM_UNIT_LAYERLEVEL" val="1_1_1"/>
  <p:tag name="KSO_WM_TAG_VERSION" val="3.0"/>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800000011920929,&quot;colorType&quot;:1,&quot;foreColorIndex&quot;:5,&quot;pos&quot;:0,&quot;transparency&quot;:0},{&quot;brightness&quot;:0,&quot;colorType&quot;:1,&quot;foreColorIndex&quot;:5,&quot;pos&quot;:0.6299999952316284,&quot;transparency&quot;:0}],&quot;type&quot;:3},&quot;glow&quot;:{&quot;colorType&quot;:0},&quot;line&quot;:{&quot;type&quot;:0},&quot;shadow&quot;:{&quot;brightness&quot;:-0.25,&quot;colorType&quot;:1,&quot;foreColorIndex&quot;:5,&quot;transparency&quot;:0.75},&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brightness&quot;:-0.5,&quot;colorType&quot;:1,&quot;foreColorIndex&quot;:5,&quot;transparency&quot;:0.75},&quot;threeD&quot;:{&quot;curvedSurface&quot;:{&quot;brightness&quot;:0,&quot;colorType&quot;:2,&quot;rgb&quot;:&quot;#000000&quot;},&quot;depth&quot;:{&quot;colorType&quot;:0}}}}"/>
  <p:tag name="KSO_WM_UNIT_FILL_TYPE" val="3"/>
  <p:tag name="KSO_WM_DIAGRAM_USE_COLOR_VALUE" val="{&quot;color_scheme&quot;:1,&quot;color_type&quot;:1,&quot;theme_color_indexes&quot;:[9,10,9,10,9,10]}"/>
</p:tagLst>
</file>

<file path=ppt/tags/tag16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2_1"/>
  <p:tag name="KSO_WM_UNIT_ID" val="diagram20234924_3*o_h_i*1_2_1"/>
  <p:tag name="KSO_WM_TEMPLATE_CATEGORY" val="diagram"/>
  <p:tag name="KSO_WM_TEMPLATE_INDEX" val="20234924"/>
  <p:tag name="KSO_WM_UNIT_LAYERLEVEL" val="1_1_1"/>
  <p:tag name="KSO_WM_TAG_VERSION" val="3.0"/>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25,&quot;colorType&quot;:1,&quot;foreColorIndex&quot;:5,&quot;pos&quot;:0.6200000047683716,&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3"/>
  <p:tag name="KSO_WM_DIAGRAM_USE_COLOR_VALUE" val="{&quot;color_scheme&quot;:1,&quot;color_type&quot;:1,&quot;theme_color_indexes&quot;:[9,10,9,10,9,10]}"/>
</p:tagLst>
</file>

<file path=ppt/tags/tag16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1_2"/>
  <p:tag name="KSO_WM_UNIT_ID" val="diagram20234924_3*o_h_i*1_1_2"/>
  <p:tag name="KSO_WM_TEMPLATE_CATEGORY" val="diagram"/>
  <p:tag name="KSO_WM_TEMPLATE_INDEX" val="20234924"/>
  <p:tag name="KSO_WM_UNIT_LAYERLEVEL" val="1_1_1"/>
  <p:tag name="KSO_WM_TAG_VERSION" val="3.0"/>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800000011920929,&quot;colorType&quot;:1,&quot;foreColorIndex&quot;:5,&quot;pos&quot;:0,&quot;transparency&quot;:0},{&quot;brightness&quot;:0,&quot;colorType&quot;:1,&quot;foreColorIndex&quot;:5,&quot;pos&quot;:0.6299999952316284,&quot;transparency&quot;:0}],&quot;type&quot;:3},&quot;glow&quot;:{&quot;colorType&quot;:0},&quot;line&quot;:{&quot;type&quot;:0},&quot;shadow&quot;:{&quot;brightness&quot;:-0.25,&quot;colorType&quot;:1,&quot;foreColorIndex&quot;:5,&quot;transparency&quot;:0.75},&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brightness&quot;:-0.5,&quot;colorType&quot;:1,&quot;foreColorIndex&quot;:5,&quot;transparency&quot;:0.75},&quot;threeD&quot;:{&quot;curvedSurface&quot;:{&quot;brightness&quot;:0,&quot;colorType&quot;:2,&quot;rgb&quot;:&quot;#000000&quot;},&quot;depth&quot;:{&quot;colorType&quot;:0}}}}"/>
  <p:tag name="KSO_WM_UNIT_FILL_TYPE" val="3"/>
  <p:tag name="KSO_WM_DIAGRAM_USE_COLOR_VALUE" val="{&quot;color_scheme&quot;:1,&quot;color_type&quot;:1,&quot;theme_color_indexes&quot;:[9,10,9,10,9,10]}"/>
</p:tagLst>
</file>

<file path=ppt/tags/tag16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1_1"/>
  <p:tag name="KSO_WM_UNIT_ID" val="diagram20234924_3*o_h_i*1_1_1"/>
  <p:tag name="KSO_WM_TEMPLATE_CATEGORY" val="diagram"/>
  <p:tag name="KSO_WM_TEMPLATE_INDEX" val="20234924"/>
  <p:tag name="KSO_WM_UNIT_LAYERLEVEL" val="1_1_1"/>
  <p:tag name="KSO_WM_TAG_VERSION" val="3.0"/>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800000011920929,&quot;colorType&quot;:1,&quot;foreColorIndex&quot;:5,&quot;pos&quot;:0,&quot;transparency&quot;:0},{&quot;brightness&quot;:0.6000000238418579,&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3"/>
  <p:tag name="KSO_WM_DIAGRAM_USE_COLOR_VALUE" val="{&quot;color_scheme&quot;:1,&quot;color_type&quot;:1,&quot;theme_color_indexes&quot;:[9,10,9,10,9,10]}"/>
</p:tagLst>
</file>

<file path=ppt/tags/tag16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1_3"/>
  <p:tag name="KSO_WM_UNIT_ID" val="diagram20234924_3*o_h_i*1_1_3"/>
  <p:tag name="KSO_WM_TEMPLATE_CATEGORY" val="diagram"/>
  <p:tag name="KSO_WM_TEMPLATE_INDEX" val="20234924"/>
  <p:tag name="KSO_WM_UNIT_LAYERLEVEL" val="1_1_1"/>
  <p:tag name="KSO_WM_TAG_VERSION" val="3.0"/>
  <p:tag name="KSO_WM_DIAGRAM_MAX_ITEMCNT" val="5"/>
  <p:tag name="KSO_WM_DIAGRAM_MIN_ITEMCNT" val="2"/>
  <p:tag name="KSO_WM_DIAGRAM_VIRTUALLY_FRAME" val="{&quot;height&quot;:245.3810307076132,&quot;left&quot;:77.44998779296874,&quot;top&quot;:227.84258989785553,&quot;width&quot;:367.9000244140625}"/>
  <p:tag name="KSO_WM_DIAGRAM_COLOR_MATCH_VALUE" val="{&quot;shape&quot;:{&quot;fill&quot;:{&quot;gradient&quot;:[{&quot;brightness&quot;:0.800000011920929,&quot;colorType&quot;:1,&quot;foreColorIndex&quot;:5,&quot;pos&quot;:0,&quot;transparency&quot;:0},{&quot;brightness&quot;:0.6000000238418579,&quot;colorType&quot;:1,&quot;foreColorIndex&quot;:5,&quot;pos&quot;:1,&quot;transparency&quot;:0}],&quot;type&quot;:3},&quot;glow&quot;:{&quot;colorType&quot;:0},&quot;line&quot;:{&quot;type&quot;:0},&quot;shadow&quot;:{&quot;brightness&quot;:-0.5,&quot;colorType&quot;:1,&quot;foreColorIndex&quot;:6,&quot;transparency&quot;:0.8199999928474426},&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3"/>
  <p:tag name="KSO_WM_DIAGRAM_USE_COLOR_VALUE" val="{&quot;color_scheme&quot;:1,&quot;color_type&quot;:1,&quot;theme_color_indexes&quot;:[9,10,9,10,9,10]}"/>
</p:tagLst>
</file>

<file path=ppt/tags/tag166.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1_1"/>
  <p:tag name="KSO_WM_UNIT_ID" val="diagram20234922_3*o_h_a*1_1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4000000059604645},&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67.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1_1"/>
  <p:tag name="KSO_WM_UNIT_ID" val="diagram20234922_3*o_h_a*1_1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4000000059604645},&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68.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1_1"/>
  <p:tag name="KSO_WM_UNIT_ID" val="diagram20234922_3*o_h_a*1_1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4000000059604645},&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69.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1_1"/>
  <p:tag name="KSO_WM_UNIT_ID" val="diagram20234922_3*o_h_a*1_1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4000000059604645},&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70.xml><?xml version="1.0" encoding="utf-8"?>
<p:tagLst xmlns:p="http://schemas.openxmlformats.org/presentationml/2006/main">
  <p:tag name="KSO_WM_SLIDE_ITEM_CNT" val="3"/>
  <p:tag name="resource_record_key" val="{&quot;70&quot;:[3429242]}"/>
</p:tagLst>
</file>

<file path=ppt/tags/tag1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77.xml><?xml version="1.0" encoding="utf-8"?>
<p:tagLst xmlns:p="http://schemas.openxmlformats.org/presentationml/2006/main">
  <p:tag name="KSO_WM_BEAUTIFY_FLAG" val=""/>
</p:tagLst>
</file>

<file path=ppt/tags/tag178.xml><?xml version="1.0" encoding="utf-8"?>
<p:tagLst xmlns:p="http://schemas.openxmlformats.org/presentationml/2006/main">
  <p:tag name="KSO_WM_BEAUTIFY_FLAG" val=""/>
</p:tagLst>
</file>

<file path=ppt/tags/tag1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BEAUTIFY_FLAG" val="#wm#"/>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1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1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2_1"/>
  <p:tag name="KSO_WM_TEMPLATE_CATEGORY" val="diagram"/>
  <p:tag name="KSO_WM_TEMPLATE_INDEX" val="40493068"/>
  <p:tag name="KSO_WM_UNIT_LAYERLEVEL" val="1_1_1_1"/>
  <p:tag name="KSO_WM_TAG_VERSION" val="3.0"/>
  <p:tag name="KSO_WM_BEAUTIFY_FLAG" val="#wm#"/>
  <p:tag name="KSO_WM_UNIT_VALUE" val="100*100"/>
  <p:tag name="KSO_WM_DIAGRAM_GROUP_CODE" val="n1-1"/>
  <p:tag name="KSO_WM_UNIT_TYPE" val="n_h_h_x"/>
  <p:tag name="KSO_WM_UNIT_INDEX" val="1_2_2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1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1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2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UNIT_VALUE" val="65"/>
  <p:tag name="KSO_WM_DIAGRAM_GROUP_CODE" val="n1-1"/>
  <p:tag name="KSO_WM_UNIT_TYPE" val="n_h_h_f"/>
  <p:tag name="KSO_WM_UNIT_INDEX" val="1_2_2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简明扼要地阐述您的观点。根据需要可酌情增减文字，以便观者准确地理解您传达的思想"/>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3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3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VALUE" val="65"/>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1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1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2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2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3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3_1"/>
  <p:tag name="KSO_WM_UNIT_TEXT_FILL_FORE_SCHEMECOLOR_INDEX" val="3"/>
  <p:tag name="KSO_WM_UNIT_TEXT_FILL_TYPE" val="3"/>
  <p:tag name="KSO_WM_UNIT_PRESET_TEXT" val="添加标题"/>
  <p:tag name="KSO_WM_UNIT_VALUE" val="13"/>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3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3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89.xml><?xml version="1.0" encoding="utf-8"?>
<p:tagLst xmlns:p="http://schemas.openxmlformats.org/presentationml/2006/main">
  <p:tag name="KSO_WM_SLIDE_ITEM_CNT" val="3"/>
  <p:tag name="resource_record_key" val="{&quot;10&quot;:[3505430,50036384,3504219,4526305],&quot;29&quot;:[50053024,50052948],&quot;70&quot;:[3405561,3319090,3312439,3318441,3431215]}"/>
</p:tagLst>
</file>

<file path=ppt/tags/tag190.xml><?xml version="1.0" encoding="utf-8"?>
<p:tagLst xmlns:p="http://schemas.openxmlformats.org/presentationml/2006/main">
  <p:tag name="KSO_WM_DIAGRAM_VIRTUALLY_FRAME" val="{&quot;height&quot;:389.6,&quot;left&quot;:211.45,&quot;top&quot;:116.65,&quot;width&quot;:477.55}"/>
</p:tagLst>
</file>

<file path=ppt/tags/tag191.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9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9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94.xml><?xml version="1.0" encoding="utf-8"?>
<p:tagLst xmlns:p="http://schemas.openxmlformats.org/presentationml/2006/main">
  <p:tag name="KSO_WM_BEAUTIFY_FLAG" val=""/>
</p:tagLst>
</file>

<file path=ppt/tags/tag195.xml><?xml version="1.0" encoding="utf-8"?>
<p:tagLst xmlns:p="http://schemas.openxmlformats.org/presentationml/2006/main">
  <p:tag name="KSO_WM_BEAUTIFY_FLAG" val=""/>
</p:tagLst>
</file>

<file path=ppt/tags/tag196.xml><?xml version="1.0" encoding="utf-8"?>
<p:tagLst xmlns:p="http://schemas.openxmlformats.org/presentationml/2006/main">
  <p:tag name="KSO_WM_UNIT_TABLE_BEAUTIFY" val="smartTable{db8c9949-f22c-4529-841c-7a18b0dfa572}"/>
  <p:tag name="TABLE_ENDDRAG_ORIGIN_RECT" val="882*397"/>
  <p:tag name="TABLE_ENDDRAG_RECT" val="41*85*882*397"/>
</p:tagLst>
</file>

<file path=ppt/tags/tag197.xml><?xml version="1.0" encoding="utf-8"?>
<p:tagLst xmlns:p="http://schemas.openxmlformats.org/presentationml/2006/main">
  <p:tag name="KSO_WM_BEAUTIFY_FLAG" val=""/>
</p:tagLst>
</file>

<file path=ppt/tags/tag198.xml><?xml version="1.0" encoding="utf-8"?>
<p:tagLst xmlns:p="http://schemas.openxmlformats.org/presentationml/2006/main">
  <p:tag name="KSO_WM_BEAUTIFY_FLAG" val=""/>
</p:tagLst>
</file>

<file path=ppt/tags/tag199.xml><?xml version="1.0" encoding="utf-8"?>
<p:tagLst xmlns:p="http://schemas.openxmlformats.org/presentationml/2006/main">
  <p:tag name="KSO_WM_UNIT_TABLE_BEAUTIFY" val="smartTable{33f5d7a5-d55f-4ded-8da5-f8d8bf39a09a}"/>
  <p:tag name="TABLE_ENDDRAG_ORIGIN_RECT" val="882*397"/>
  <p:tag name="TABLE_ENDDRAG_RECT" val="41*85*882*397"/>
</p:tagLst>
</file>

<file path=ppt/tags/tag200.xml><?xml version="1.0" encoding="utf-8"?>
<p:tagLst xmlns:p="http://schemas.openxmlformats.org/presentationml/2006/main">
  <p:tag name="KSO_WM_DIAGRAM_VIRTUALLY_FRAME" val="{&quot;height&quot;:389.6,&quot;left&quot;:211.45,&quot;top&quot;:116.65,&quot;width&quot;:477.55}"/>
</p:tagLst>
</file>

<file path=ppt/tags/tag201.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0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0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04.xml><?xml version="1.0" encoding="utf-8"?>
<p:tagLst xmlns:p="http://schemas.openxmlformats.org/presentationml/2006/main">
  <p:tag name="KSO_WM_BEAUTIFY_FLAG" val=""/>
</p:tagLst>
</file>

<file path=ppt/tags/tag205.xml><?xml version="1.0" encoding="utf-8"?>
<p:tagLst xmlns:p="http://schemas.openxmlformats.org/presentationml/2006/main">
  <p:tag name="KSO_WM_BEAUTIFY_FLAG" val=""/>
</p:tagLst>
</file>

<file path=ppt/tags/tag206.xml><?xml version="1.0" encoding="utf-8"?>
<p:tagLst xmlns:p="http://schemas.openxmlformats.org/presentationml/2006/main">
  <p:tag name="KSO_WM_BEAUTIFY_FLAG" val=""/>
</p:tagLst>
</file>

<file path=ppt/tags/tag207.xml><?xml version="1.0" encoding="utf-8"?>
<p:tagLst xmlns:p="http://schemas.openxmlformats.org/presentationml/2006/main">
  <p:tag name="KSO_WM_BEAUTIFY_FLAG" val=""/>
</p:tagLst>
</file>

<file path=ppt/tags/tag208.xml><?xml version="1.0" encoding="utf-8"?>
<p:tagLst xmlns:p="http://schemas.openxmlformats.org/presentationml/2006/main">
  <p:tag name="KSO_WM_DIAGRAM_VIRTUALLY_FRAME" val="{&quot;height&quot;:384.75,&quot;left&quot;:24,&quot;top&quot;:86.8,&quot;width&quot;:911.2}"/>
</p:tagLst>
</file>

<file path=ppt/tags/tag209.xml><?xml version="1.0" encoding="utf-8"?>
<p:tagLst xmlns:p="http://schemas.openxmlformats.org/presentationml/2006/main">
  <p:tag name="KSO_WM_DIAGRAM_VIRTUALLY_FRAME" val="{&quot;height&quot;:384.75,&quot;left&quot;:24,&quot;top&quot;:86.8,&quot;width&quot;:911.2}"/>
</p:tagLst>
</file>

<file path=ppt/tags/tag210.xml><?xml version="1.0" encoding="utf-8"?>
<p:tagLst xmlns:p="http://schemas.openxmlformats.org/presentationml/2006/main">
  <p:tag name="KSO_WM_DIAGRAM_VIRTUALLY_FRAME" val="{&quot;height&quot;:384.75,&quot;left&quot;:24,&quot;top&quot;:86.8,&quot;width&quot;:911.2}"/>
</p:tagLst>
</file>

<file path=ppt/tags/tag211.xml><?xml version="1.0" encoding="utf-8"?>
<p:tagLst xmlns:p="http://schemas.openxmlformats.org/presentationml/2006/main">
  <p:tag name="KSO_WM_DIAGRAM_VIRTUALLY_FRAME" val="{&quot;height&quot;:384.75,&quot;left&quot;:24,&quot;top&quot;:86.8,&quot;width&quot;:911.2}"/>
</p:tagLst>
</file>

<file path=ppt/tags/tag212.xml><?xml version="1.0" encoding="utf-8"?>
<p:tagLst xmlns:p="http://schemas.openxmlformats.org/presentationml/2006/main">
  <p:tag name="KSO_WM_DIAGRAM_VIRTUALLY_FRAME" val="{&quot;height&quot;:384.75,&quot;left&quot;:24,&quot;top&quot;:86.8,&quot;width&quot;:911.2}"/>
</p:tagLst>
</file>

<file path=ppt/tags/tag213.xml><?xml version="1.0" encoding="utf-8"?>
<p:tagLst xmlns:p="http://schemas.openxmlformats.org/presentationml/2006/main">
  <p:tag name="KSO_WM_DIAGRAM_VIRTUALLY_FRAME" val="{&quot;height&quot;:384.75,&quot;left&quot;:24,&quot;top&quot;:86.8,&quot;width&quot;:911.2}"/>
</p:tagLst>
</file>

<file path=ppt/tags/tag214.xml><?xml version="1.0" encoding="utf-8"?>
<p:tagLst xmlns:p="http://schemas.openxmlformats.org/presentationml/2006/main">
  <p:tag name="KSO_WM_DIAGRAM_VIRTUALLY_FRAME" val="{&quot;height&quot;:384.75,&quot;left&quot;:24,&quot;top&quot;:86.8,&quot;width&quot;:911.2}"/>
</p:tagLst>
</file>

<file path=ppt/tags/tag215.xml><?xml version="1.0" encoding="utf-8"?>
<p:tagLst xmlns:p="http://schemas.openxmlformats.org/presentationml/2006/main">
  <p:tag name="KSO_WM_DIAGRAM_VIRTUALLY_FRAME" val="{&quot;height&quot;:384.75,&quot;left&quot;:24,&quot;top&quot;:86.8,&quot;width&quot;:911.2}"/>
</p:tagLst>
</file>

<file path=ppt/tags/tag216.xml><?xml version="1.0" encoding="utf-8"?>
<p:tagLst xmlns:p="http://schemas.openxmlformats.org/presentationml/2006/main">
  <p:tag name="KSO_WM_DIAGRAM_VIRTUALLY_FRAME" val="{&quot;height&quot;:384.75,&quot;left&quot;:24,&quot;top&quot;:86.8,&quot;width&quot;:911.2}"/>
</p:tagLst>
</file>

<file path=ppt/tags/tag217.xml><?xml version="1.0" encoding="utf-8"?>
<p:tagLst xmlns:p="http://schemas.openxmlformats.org/presentationml/2006/main">
  <p:tag name="KSO_WM_DIAGRAM_VIRTUALLY_FRAME" val="{&quot;height&quot;:384.75,&quot;left&quot;:24,&quot;top&quot;:86.8,&quot;width&quot;:911.2}"/>
</p:tagLst>
</file>

<file path=ppt/tags/tag218.xml><?xml version="1.0" encoding="utf-8"?>
<p:tagLst xmlns:p="http://schemas.openxmlformats.org/presentationml/2006/main">
  <p:tag name="KSO_WM_DIAGRAM_VIRTUALLY_FRAME" val="{&quot;height&quot;:384.75,&quot;left&quot;:24,&quot;top&quot;:86.8,&quot;width&quot;:911.2}"/>
</p:tagLst>
</file>

<file path=ppt/tags/tag219.xml><?xml version="1.0" encoding="utf-8"?>
<p:tagLst xmlns:p="http://schemas.openxmlformats.org/presentationml/2006/main">
  <p:tag name="KSO_WM_DIAGRAM_VIRTUALLY_FRAME" val="{&quot;height&quot;:384.75,&quot;left&quot;:24,&quot;top&quot;:86.8,&quot;width&quot;:911.2}"/>
</p:tagLst>
</file>

<file path=ppt/tags/tag220.xml><?xml version="1.0" encoding="utf-8"?>
<p:tagLst xmlns:p="http://schemas.openxmlformats.org/presentationml/2006/main">
  <p:tag name="KSO_WM_DIAGRAM_VIRTUALLY_FRAME" val="{&quot;height&quot;:384.75,&quot;left&quot;:24,&quot;top&quot;:86.8,&quot;width&quot;:911.2}"/>
</p:tagLst>
</file>

<file path=ppt/tags/tag221.xml><?xml version="1.0" encoding="utf-8"?>
<p:tagLst xmlns:p="http://schemas.openxmlformats.org/presentationml/2006/main">
  <p:tag name="KSO_WM_DIAGRAM_VIRTUALLY_FRAME" val="{&quot;height&quot;:384.75,&quot;left&quot;:24,&quot;top&quot;:86.8,&quot;width&quot;:911.2}"/>
</p:tagLst>
</file>

<file path=ppt/tags/tag222.xml><?xml version="1.0" encoding="utf-8"?>
<p:tagLst xmlns:p="http://schemas.openxmlformats.org/presentationml/2006/main">
  <p:tag name="KSO_WM_DIAGRAM_VIRTUALLY_FRAME" val="{&quot;height&quot;:384.75,&quot;left&quot;:24,&quot;top&quot;:86.8,&quot;width&quot;:911.2}"/>
</p:tagLst>
</file>

<file path=ppt/tags/tag223.xml><?xml version="1.0" encoding="utf-8"?>
<p:tagLst xmlns:p="http://schemas.openxmlformats.org/presentationml/2006/main">
  <p:tag name="KSO_WM_DIAGRAM_VIRTUALLY_FRAME" val="{&quot;height&quot;:384.75,&quot;left&quot;:24,&quot;top&quot;:86.8,&quot;width&quot;:911.2}"/>
</p:tagLst>
</file>

<file path=ppt/tags/tag224.xml><?xml version="1.0" encoding="utf-8"?>
<p:tagLst xmlns:p="http://schemas.openxmlformats.org/presentationml/2006/main">
  <p:tag name="TABLE_ENDDRAG_ORIGIN_RECT" val="448*343"/>
  <p:tag name="TABLE_ENDDRAG_RECT" val="60*98*448*343"/>
</p:tagLst>
</file>

<file path=ppt/tags/tag225.xml><?xml version="1.0" encoding="utf-8"?>
<p:tagLst xmlns:p="http://schemas.openxmlformats.org/presentationml/2006/main">
  <p:tag name="TABLE_ENDDRAG_ORIGIN_RECT" val="354*332"/>
  <p:tag name="TABLE_ENDDRAG_RECT" val="537*98*354*332"/>
</p:tagLst>
</file>

<file path=ppt/tags/tag226.xml><?xml version="1.0" encoding="utf-8"?>
<p:tagLst xmlns:p="http://schemas.openxmlformats.org/presentationml/2006/main">
  <p:tag name="KSO_WM_BEAUTIFY_FLAG" val=""/>
</p:tagLst>
</file>

<file path=ppt/tags/tag227.xml><?xml version="1.0" encoding="utf-8"?>
<p:tagLst xmlns:p="http://schemas.openxmlformats.org/presentationml/2006/main">
  <p:tag name="KSO_WM_BEAUTIFY_FLAG" val=""/>
</p:tagLst>
</file>

<file path=ppt/tags/tag228.xml><?xml version="1.0" encoding="utf-8"?>
<p:tagLst xmlns:p="http://schemas.openxmlformats.org/presentationml/2006/main">
  <p:tag name="KSO_WM_UNIT_TYPE" val="a"/>
  <p:tag name="KSO_WM_UNIT_INDEX" val="1"/>
  <p:tag name="KSO_WM_BEAUTIFY_FLAG" val="#wm#"/>
  <p:tag name="KSO_WM_TAG_VERSION" val="3.0"/>
  <p:tag name="KSO_WM_UNIT_ID" val="custom20238577_9*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Lst>
</file>

<file path=ppt/tags/tag229.xml><?xml version="1.0" encoding="utf-8"?>
<p:tagLst xmlns:p="http://schemas.openxmlformats.org/presentationml/2006/main">
  <p:tag name="KSO_WM_SLIDE_TYPE" val="endPag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9"/>
  <p:tag name="KSO_WM_SLIDE_ID" val="custom20238577_9"/>
  <p:tag name="KSO_WM_TEMPLATE_MASTER_TYPE" val="0"/>
  <p:tag name="KSO_WM_SLIDE_LAYOUT" val="a_b_f_x"/>
  <p:tag name="KSO_WM_SLIDE_LAYOUT_CNT" val="1_1_2_1"/>
</p:tagLst>
</file>

<file path=ppt/tags/tag230.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19995253,3504219,4526305,50034089,4590447],&quot;13&quot;:[20025430],&quot;29&quot;:[50052445,50000144],&quot;65&quot;:[20238577],&quot;70&quot;:[3330157,3312290,3333581,3312385,3314426,3318441,3431215,3332761,3318307,3333613,3312479,3429185,3333487,3332892]}"/>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10380</Words>
  <Application>WPS 演示</Application>
  <PresentationFormat/>
  <Paragraphs>843</Paragraphs>
  <Slides>22</Slides>
  <Notes>0</Notes>
  <HiddenSlides>0</HiddenSlides>
  <MMClips>0</MMClips>
  <ScaleCrop>false</ScaleCrop>
  <HeadingPairs>
    <vt:vector size="6" baseType="variant">
      <vt:variant>
        <vt:lpstr>已用的字体</vt:lpstr>
      </vt:variant>
      <vt:variant>
        <vt:i4>45</vt:i4>
      </vt:variant>
      <vt:variant>
        <vt:lpstr>主题</vt:lpstr>
      </vt:variant>
      <vt:variant>
        <vt:i4>3</vt:i4>
      </vt:variant>
      <vt:variant>
        <vt:lpstr>幻灯片标题</vt:lpstr>
      </vt:variant>
      <vt:variant>
        <vt:i4>22</vt:i4>
      </vt:variant>
    </vt:vector>
  </HeadingPairs>
  <TitlesOfParts>
    <vt:vector size="70" baseType="lpstr">
      <vt:lpstr>Arial</vt:lpstr>
      <vt:lpstr>宋体</vt:lpstr>
      <vt:lpstr>Wingdings</vt:lpstr>
      <vt:lpstr>Calibri</vt:lpstr>
      <vt:lpstr>微软雅黑</vt:lpstr>
      <vt:lpstr>Helvetica Neue</vt:lpstr>
      <vt:lpstr>黑体-简</vt:lpstr>
      <vt:lpstr>黑体</vt:lpstr>
      <vt:lpstr>Arial Black</vt:lpstr>
      <vt:lpstr>DINPro Bold</vt:lpstr>
      <vt:lpstr>Calibri</vt:lpstr>
      <vt:lpstr>Arial</vt:lpstr>
      <vt:lpstr>Calibri</vt:lpstr>
      <vt:lpstr>Wingdings</vt:lpstr>
      <vt:lpstr>Heiti SC Medium</vt:lpstr>
      <vt:lpstr>Heiti SC Light</vt:lpstr>
      <vt:lpstr>Songti SC</vt:lpstr>
      <vt:lpstr>Noto Sans SC</vt:lpstr>
      <vt:lpstr>微软雅黑</vt:lpstr>
      <vt:lpstr>Source Han Sans CN Medium</vt:lpstr>
      <vt:lpstr>Source Han Sans CN Bold</vt:lpstr>
      <vt:lpstr>Source Han Sans CN Normal</vt:lpstr>
      <vt:lpstr>+中文标题</vt:lpstr>
      <vt:lpstr>Noto Sans SC</vt:lpstr>
      <vt:lpstr>Times New Roman</vt:lpstr>
      <vt:lpstr>Arial Unicode MS</vt:lpstr>
      <vt:lpstr>Noto Sans</vt:lpstr>
      <vt:lpstr>Heiti SC Light</vt:lpstr>
      <vt:lpstr>Heiti SC Medium</vt:lpstr>
      <vt:lpstr>Helvetica Neue</vt:lpstr>
      <vt:lpstr>Noto Sans SC</vt:lpstr>
      <vt:lpstr>Songti SC</vt:lpstr>
      <vt:lpstr>Source Han Sans CN Bold</vt:lpstr>
      <vt:lpstr>Source Han Sans CN Medium</vt:lpstr>
      <vt:lpstr>Source Han Sans CN Normal</vt:lpstr>
      <vt:lpstr>Times New Roman</vt:lpstr>
      <vt:lpstr>黑体-简</vt:lpstr>
      <vt:lpstr>+中文正文</vt:lpstr>
      <vt:lpstr>Helvetica LT Pro</vt:lpstr>
      <vt:lpstr>方正宝黑体 简</vt:lpstr>
      <vt:lpstr>Kata Bold</vt:lpstr>
      <vt:lpstr>Mona Medium</vt:lpstr>
      <vt:lpstr>Windsor Std Light</vt:lpstr>
      <vt:lpstr>Saturday Sans Regular</vt:lpstr>
      <vt:lpstr>Wonder Sans Bold</vt:lpstr>
      <vt:lpstr>Office theme</vt:lpstr>
      <vt:lpstr>简约星环线条职场办公</vt:lpstr>
      <vt:lpstr>1_Office theme</vt:lpstr>
      <vt:lpstr>PowerPoint 演示文稿</vt:lpstr>
      <vt:lpstr>PowerPoint 演示文稿</vt:lpstr>
      <vt:lpstr>目标与协作机制回顾</vt:lpstr>
      <vt:lpstr>PowerPoint 演示文稿</vt:lpstr>
      <vt:lpstr>PowerPoint 演示文稿</vt:lpstr>
      <vt:lpstr>PowerPoint 演示文稿</vt:lpstr>
      <vt:lpstr>共同的工作成果总结</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共同的挑战与应对思路（可选）</vt:lpstr>
      <vt:lpstr>PowerPoint 演示文稿</vt:lpstr>
      <vt:lpstr>PowerPoint 演示文稿</vt:lpstr>
      <vt:lpstr>下阶段目标与协作计划</vt:lpstr>
      <vt:lpstr>PowerPoint 演示文稿</vt:lpstr>
      <vt:lpstr>PowerPoint 演示文稿</vt:lpstr>
      <vt:lpstr>PowerPoint 演示文稿</vt:lpstr>
      <vt:lpstr>客户成功   才是深信服的成功</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143</cp:revision>
  <dcterms:created xsi:type="dcterms:W3CDTF">2026-06-11T13:14:00Z</dcterms:created>
  <dcterms:modified xsi:type="dcterms:W3CDTF">2026-07-08T10:31:23Z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2025-08-04T09:35:42Z</vt:filetime>
  </property>
  <property fmtid="{D5CDD505-2E9C-101B-9397-08002B2CF9AE}" pid="4" name="UsrData">
    <vt:lpwstr>687eeadea43bea0020547dd2wl</vt:lpwstr>
  </property>
  <property fmtid="{D5CDD505-2E9C-101B-9397-08002B2CF9AE}" pid="5" name="ICV">
    <vt:lpwstr>BD31DE5C0B9A2C0FC0B22A6A6FCFB03E_43</vt:lpwstr>
  </property>
  <property fmtid="{D5CDD505-2E9C-101B-9397-08002B2CF9AE}" pid="6" name="KSOProductBuildVer">
    <vt:lpwstr>2052-12.1.0.26895</vt:lpwstr>
  </property>
</Properties>
</file>