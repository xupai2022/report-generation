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2"/>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帆" initials="WF" lastIdx="0" clrIdx="0"/>
  <p:cmAuthor id="2" name="幸全" initials="幸全" lastIdx="0" clrIdx="1"/>
  <p:cmAuthor id="3" name="Administrator" initials="A" lastIdx="0" clrIdx="2"/>
  <p:cmAuthor id="4" name="朱 宇轩" initials="朱" lastIdx="0" clrIdx="3"/>
  <p:cmAuthor id="5" name="先生 桑" initials="先" lastIdx="0" clrIdx="4"/>
  <p:cmAuthor id="6" name="吕 德" initials="吕" lastIdx="0" clrIdx="5"/>
  <p:cmAuthor id="7" name="李 武发" initials="李" lastIdx="0" clrIdx="6"/>
  <p:cmAuthor id="8" name="琰 晞" initials="琰" lastIdx="0" clrIdx="7"/>
  <p:cmAuthor id="9" name="xiaotaiyang" initials="x" lastIdx="0" clrIdx="8"/>
  <p:cmAuthor id="10" name="SXF-Admin" initials="S" lastIdx="0" clrIdx="9"/>
  <p:cmAuthor id="11" name="未知用户1" initials="未知用户1" lastIdx="0" clrIdx="10"/>
  <p:cmAuthor id="12" name="未知用户2" initials="未知用户2" lastIdx="0" clrIdx="11"/>
  <p:cmAuthor id="13" name="未知用户3" initials="未知用户3" lastIdx="0" clrIdx="12"/>
  <p:cmAuthor id="14" name="吕品" initials="吕品" lastIdx="0" clrIdx="13"/>
  <p:cmAuthor id="15" name="wulifang" initials="wlf" lastIdx="0" clrIdx="14"/>
  <p:cmAuthor id="16" name="彭润" initials="彭" lastIdx="0" clrIdx="15"/>
  <p:cmAuthor id="17" name="未知用户4" initials="未知用户4" lastIdx="0" clrIdx="16"/>
  <p:cmAuthor id="18" name="gt" initials="g" lastIdx="0" clrIdx="17"/>
  <p:cmAuthor id="19" name="未知用户5" initials="未知用户5" lastIdx="0" clrIdx="18"/>
  <p:cmAuthor id="20" name="Jie" initials="J" lastIdx="0" clrIdx="19"/>
  <p:cmAuthor id="21" name="蔡建楠" initials="caijianna" lastIdx="0" clrIdx="20"/>
  <p:cmAuthor id="22" name="Sangfor" initials="S" lastIdx="0" clrIdx="21"/>
  <p:cmAuthor id="23" name="李蕾00009994" initials="李" lastIdx="0" clrIdx="22"/>
  <p:cmAuthor id="24" name="wyz" initials="w" lastIdx="0" clrIdx="23"/>
  <p:cmAuthor id="25" name="10270945" initials="1" lastIdx="0" clrIdx="24"/>
  <p:cmAuthor id="26" name="Hou Yingfeng" initials="H" lastIdx="0" clrIdx="25"/>
  <p:cmAuthor id="27" name="王小忠" initials="王" lastIdx="0" clrIdx="26"/>
  <p:cmAuthor id="28" name="未知用户7" initials="未" lastIdx="0" clrIdx="27"/>
  <p:cmAuthor id="29" name="Author" initials="A" lastIdx="0" clrIdx="28"/>
  <p:cmAuthor id="30" name="张 彬" initials="张" lastIdx="0" clrIdx="29"/>
  <p:cmAuthor id="31" name="作者" initials="A" lastIdx="0" clrIdx="30"/>
  <p:cmAuthor id="32" name="李楠10047711" initials="李楠10047711" lastIdx="0" clrIdx="31"/>
  <p:cmAuthor id="33" name="610007" initials="6" lastIdx="0" clrIdx="32"/>
  <p:cmAuthor id="34" name="未知用户6" initials="未知用户6" lastIdx="0" clrIdx="33"/>
  <p:cmAuthor id="35" name="XUWEI" initials="X" lastIdx="0" clrIdx="34"/>
  <p:cmAuthor id="36" name="俊贤" initials="俊贤" lastIdx="0" clrIdx="35"/>
  <p:cmAuthor id="37" name="kangqingchun" initials="k" lastIdx="0" clrIdx="36"/>
  <p:cmAuthor id="38" name="sangfor" initials="s" lastIdx="0" clrIdx="37"/>
  <p:cmAuthor id="475196944" name="姚琳" initials="姚" lastIdx="1133934" clrIdx="0"/>
  <p:cmAuthor id="475196945" name="chen" initials="c" lastIdx="1" clrIdx="2"/>
  <p:cmAuthor id="475196946" name="王 成岩" initials="王" lastIdx="1" clrIdx="23"/>
  <p:cmAuthor id="228" name="Chris Kou" initials="C" lastIdx="1" clrIdx="0"/>
  <p:cmAuthor id="232" name="樊佳佳" initials="樊" lastIdx="59" clrIdx="5"/>
  <p:cmAuthor id="234" name="云峰 贾" initials="云" lastIdx="2" clrIdx="0"/>
  <p:cmAuthor id="237" name="杨彦伟" initials="杨" lastIdx="3" clrIdx="0"/>
  <p:cmAuthor id="238" name="Azfar Mir" initials="A" lastIdx="130" clrIdx="0"/>
  <p:cmAuthor id="239" name="张金玉" initials="张" lastIdx="1" clrIdx="0"/>
  <p:cmAuthor id="240" name="周平" initials="周" lastIdx="0" clrIdx="0"/>
  <p:cmAuthor id="241" name="董 人美" initials="董" lastIdx="4" clrIdx="108"/>
  <p:cmAuthor id="242" name="顾 Filizia" initials="顾" lastIdx="3" clrIdx="222"/>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50" name="未知用户8" initials="未" lastIdx="2" clrIdx="4"/>
  <p:cmAuthor id="51" name="未知用户9" initials="未" lastIdx="3" clrIdx="5"/>
  <p:cmAuthor id="52" name="未知用户10" initials="未" lastIdx="9" clrIdx="0"/>
  <p:cmAuthor id="53" name="未知用户11" initials="未" lastIdx="1" clrIdx="0"/>
  <p:cmAuthor id="55" name="未知用户20" initials="未" lastIdx="1" clrIdx="0"/>
  <p:cmAuthor id="56" name="未知用户19" initials="未" lastIdx="1" clrIdx="0"/>
  <p:cmAuthor id="57" name="未知用户21" initials="未" lastIdx="1" clrIdx="0"/>
  <p:cmAuthor id="58" name="未知用户14" initials="未" lastIdx="1" clrIdx="0"/>
  <p:cmAuthor id="59" name="未知用户15" initials="未" lastIdx="1" clrIdx="0"/>
  <p:cmAuthor id="60" name="未知用户16" initials="未" lastIdx="4" clrIdx="0"/>
  <p:cmAuthor id="61" name="郝崇" initials="郝" lastIdx="4" clrIdx="1"/>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93" name="dell" initials="d" lastIdx="1" clrIdx="4"/>
  <p:cmAuthor id="94" name="叶得会" initials="叶" lastIdx="8" clrIdx="0"/>
  <p:cmAuthor id="96" name="未知用户17" initials="未" lastIdx="1" clrIdx="1"/>
  <p:cmAuthor id="97" name="未知用户18" initials="未" lastIdx="1" clrIdx="0"/>
  <p:cmAuthor id="98" name="liying" initials="l" lastIdx="1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8" name="shwyq2008@163.com" initials="s" lastIdx="1" clrIdx="34"/>
  <p:cmAuthor id="143" name="毕军(0212009)" initials="毕" lastIdx="10" clrIdx="0"/>
  <p:cmAuthor id="144" name="dadi" initials="d" lastIdx="2" clrIdx="1"/>
  <p:cmAuthor id="145" name="未知用户43" initials="未" lastIdx="4" clrIdx="1"/>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159" name="未知用户57" initials="未" lastIdx="24" clrIdx="0"/>
  <p:cmAuthor id="160" name="未知用户58" initials="未" lastIdx="0" clrIdx="0"/>
  <p:cmAuthor id="161" name="未知用户136" initials="未" lastIdx="1" clrIdx="0"/>
  <p:cmAuthor id="162" name="未知用户137" initials="未" lastIdx="1" clrIdx="0"/>
  <p:cmAuthor id="163" name="未知用户146" initials="未" lastIdx="1" clrIdx="0"/>
  <p:cmAuthor id="164" name="未知用户138" initials="未" lastIdx="1" clrIdx="0"/>
  <p:cmAuthor id="165" name="未知用户139" initials="未" lastIdx="4" clrIdx="0"/>
  <p:cmAuthor id="166" name="未知用户140" initials="未" lastIdx="13"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8" name="志斌 杜" initials="志" lastIdx="5" clrIdx="103"/>
  <p:cmAuthor id="180" name="未知用户88" initials="未" lastIdx="3"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5" name="未知用户72" initials="未" lastIdx="2" clrIdx="1"/>
  <p:cmAuthor id="197" name="未知用户74" initials="未" lastIdx="0" clrIdx="0"/>
  <p:cmAuthor id="198" name="未知用户75" initials="未" lastIdx="3" clrIdx="0"/>
  <p:cmAuthor id="199" name="未知用户76" initials="未" lastIdx="21" clrIdx="4"/>
  <p:cmAuthor id="201" name="未知用户78" initials="未" lastIdx="1" clrIdx="0"/>
  <p:cmAuthor id="202" name="未知用户79" initials="未" lastIdx="2" clrIdx="0"/>
  <p:cmAuthor id="203" name="未知用户12" initials="未知用户12" lastIdx="4" clrIdx="0"/>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215" name="lou cynthia" initials="l" lastIdx="1" clrIdx="0"/>
  <p:cmAuthor id="2000" name="Teresa" initials="authorId_31822446" lastIdx="1024853" clrIdx="0"/>
  <p:cmAuthor id="217" name="马红" initials="马" lastIdx="7" clrIdx="0"/>
  <p:cmAuthor id="2001" name="骆倩怡_Znauj26B" initials="authorId_382814100" lastIdx="0" clrIdx="0"/>
  <p:cmAuthor id="218" name="Shi Xiao" initials="SX" lastIdx="1" clrIdx="106"/>
  <p:cmAuthor id="219" name="卢 米薇" initials="卢" lastIdx="1" clrIdx="107"/>
  <p:cmAuthor id="222" name="LJ" initials="L" lastIdx="1" clrIdx="221"/>
  <p:cmAuthor id="475196947" name="Icey Z" initials="IZ" lastIdx="6" clrIdx="223"/>
  <p:cmAuthor id="142" name="User" initials="U" lastIdx="12" clrIdx="0"/>
  <p:cmAuthor id="8535702" name="曾蓓/贝贝" initials="曾" lastIdx="0" clrIdx="0"/>
  <p:cmAuthor id="210492765" name="施普希（菜菜）" initials="施" lastIdx="0" clrIdx="0"/>
  <p:cmAuthor id="210492766" name="AGK" initials="AGK" lastIdx="4" clrIdx="7"/>
  <p:cmAuthor id="210492768" name="zhang" initials="z" lastIdx="2" clrIdx="35"/>
  <p:cmAuthor id="2002" name="demolong wang" initials="dw" lastIdx="1" clrIdx="38"/>
  <p:cmAuthor id="289242671" name="寂落" initials="寂" lastIdx="1" clrIdx="0"/>
  <p:cmAuthor id="49" name="taojiang" initials="t" lastIdx="2" clrIdx="48"/>
  <p:cmAuthor id="475196948" name="uo G" initials="uG" lastIdx="1" clrIdx="223"/>
  <p:cmAuthor id="708433798" name="jialuo" initials="j" lastIdx="0" clrIdx="0"/>
  <p:cmAuthor id="338605058" name="J I N G " initials="J" lastIdx="1" clrIdx="217"/>
  <p:cmAuthor id="381437688" name="谢学斌" initials="谢" lastIdx="0" clrIdx="0"/>
  <p:cmAuthor id="626391093" name="KQ" initials="K" lastIdx="1" clrIdx="214"/>
  <p:cmAuthor id="1483810881" name="WPS_1679281038" initials="W" lastIdx="1" clrIdx="2"/>
  <p:cmAuthor id="1034815950" name="刘威" initials="刘" lastIdx="2" clrIdx="1"/>
  <p:cmAuthor id="312" name="000823681" initials="0" lastIdx="1" clrIdx="311"/>
  <p:cmAuthor id="287643681" name="殷格非" initials="殷" lastIdx="2" clrIdx="0"/>
  <p:cmAuthor id="287643682" name="z r" initials="zr" lastIdx="5" clrIdx="12"/>
  <p:cmAuthor id="287643683" name="lc xue" initials="lx" lastIdx="1" clrIdx="22"/>
  <p:cmAuthor id="287643684" name="孟芳芳（借调）" initials="V" lastIdx="1" clrIdx="37"/>
  <p:cmAuthor id="287643685" name="zhuxiangyi" initials="z" lastIdx="1" clrIdx="38"/>
  <p:cmAuthor id="191251535" name="沈霄雷" initials="沈" lastIdx="833089" clrIdx="0"/>
  <p:cmAuthor id="191251536" name="SF" initials="S" lastIdx="6" clrIdx="11"/>
  <p:cmAuthor id="191251537" name="sammi" initials="s" lastIdx="0" clrIdx="12"/>
  <p:cmAuthor id="54" name="刘思蜀" initials="刘" lastIdx="1" clrIdx="0"/>
  <p:cmAuthor id="191251538" name="zhangmh@httz.cc" initials="z" lastIdx="3" clrIdx="13"/>
  <p:cmAuthor id="191251539" name="wang" initials="wang" lastIdx="1" clrIdx="14"/>
  <p:cmAuthor id="191251541" name="sjzx" initials="s" lastIdx="1" clrIdx="25"/>
  <p:cmAuthor id="191251542" name="yang.yuan" initials="y" lastIdx="0" clrIdx="17"/>
  <p:cmAuthor id="210492767" name="书佳 王" initials="书王" lastIdx="3" clrIdx="287"/>
  <p:cmAuthor id="95" name="未知用户39" initials="未" lastIdx="1" clrIdx="0"/>
  <p:cmAuthor id="99" name="lp" initials="l" lastIdx="1" clrIdx="0"/>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9" name="未知用户13" initials="未" lastIdx="11" clrIdx="0"/>
  <p:cmAuthor id="140" name="levy" initials="l" lastIdx="2" clrIdx="0"/>
  <p:cmAuthor id="2972517" name="韩佳楠" initials="韩" lastIdx="1488322" clrIdx="0"/>
  <p:cmAuthor id="146" name="zhuqy3" initials="z" lastIdx="1" clrIdx="0"/>
  <p:cmAuthor id="147" name="njlife" initials="n" lastIdx="2" clrIdx="0"/>
  <p:cmAuthor id="2003" name="杜晶晶-投资者关系部_vM3mnymA" initials="authorId_1323951053" lastIdx="1649699480" clrIdx="0"/>
  <p:cmAuthor id="2004" name="沈思铭" initials="沈思铭" lastIdx="19" clrIdx="34"/>
  <p:cmAuthor id="691587970" name="小延魔法师" initials="小" lastIdx="1126286" clrIdx="0"/>
  <p:cmAuthor id="177" name="超乎想象" initials="超" lastIdx="1" clrIdx="176"/>
  <p:cmAuthor id="194" name="Temp" initials="T" lastIdx="0" clrIdx="0"/>
  <p:cmAuthor id="196" name="雍中婧" initials="雍" lastIdx="26" clrIdx="0"/>
  <p:cmAuthor id="200" name="lin lin" initials="l" lastIdx="1" clrIdx="0"/>
  <p:cmAuthor id="204" name="李明强" initials="李" lastIdx="1" clrIdx="203"/>
  <p:cmAuthor id="205" name="wang_cf" initials="w" lastIdx="8" clrIdx="204"/>
  <p:cmAuthor id="206" name="itw_chenfy01" initials="i" lastIdx="1" clrIdx="205"/>
  <p:cmAuthor id="207" name="wangll132" initials="w" lastIdx="1" clrIdx="206"/>
  <p:cmAuthor id="394525608" name="仇怿俊" initials="仇" lastIdx="0" clrIdx="0"/>
  <p:cmAuthor id="394525609" name="mei shuo" initials="mei shuo" lastIdx="1" clrIdx="24"/>
  <p:cmAuthor id="216" name="未知的使用者197" initials="未" lastIdx="8" clrIdx="0"/>
  <p:cmAuthor id="394525610" name="dengwanting" initials="d" lastIdx="1" clrIdx="50"/>
  <p:cmAuthor id="394525611" name="mouse zz" initials="mz" lastIdx="1" clrIdx="54"/>
  <p:cmAuthor id="220" name="未知的使用者165" initials="未" lastIdx="1" clrIdx="0"/>
  <p:cmAuthor id="221" name="未知的使用者158" initials="未" lastIdx="1" clrIdx="0"/>
  <p:cmAuthor id="49837067" name="刘浩" initials="刘" lastIdx="180431" clrIdx="0"/>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9" name="未知的使用者168" initials="未" lastIdx="1" clrIdx="0"/>
  <p:cmAuthor id="230" name="未知的使用者169" initials="未" lastIdx="1" clrIdx="0"/>
  <p:cmAuthor id="231" name="未知的使用者117" initials="未" lastIdx="1" clrIdx="0"/>
  <p:cmAuthor id="233" name="未知的使用者119" initials="未" lastIdx="1" clrIdx="2"/>
  <p:cmAuthor id="1411827" name="黄晓平" initials="黄" lastIdx="0"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9" name="清泺 戴" initials="清戴" lastIdx="25" clrIdx="36"/>
  <p:cmAuthor id="353158055" name="韩雨" initials="韩" lastIdx="0" clrIdx="0"/>
  <p:cmAuthor id="302" name="kfzx-lind" initials="k" lastIdx="1" clrIdx="301"/>
  <p:cmAuthor id="75" name="nj13033171616@163.com" initials="n" lastIdx="1" clrIdx="35"/>
  <p:cmAuthor id="487760003" name="燕儿" initials="燕" lastIdx="9" clrIdx="216"/>
  <p:cmAuthor id="141" name="未知的使用者121" initials="未" lastIdx="1" clrIdx="0"/>
  <p:cmAuthor id="235" name="未知的使用者105" initials="" lastIdx="1" clrIdx="0"/>
  <p:cmAuthor id="270" name="未知用户152" initials="" lastIdx="8" clrIdx="0"/>
  <p:cmAuthor id="272" name="未知用户154" initials="" lastIdx="1" clrIdx="0"/>
  <p:cmAuthor id="273" name="未知用户155" initials="" lastIdx="1" clrIdx="0"/>
  <p:cmAuthor id="274" name="未知用户41" initials="" lastIdx="8" clrIdx="0"/>
  <p:cmAuthor id="289" name="MA15" initials="" lastIdx="1" clrIdx="0"/>
  <p:cmAuthor id="294" name="未知用户40" initials="" lastIdx="5" clrIdx="1"/>
  <p:cmAuthor id="303" name="未知用户42" initials="" lastIdx="1" clrIdx="0"/>
  <p:cmAuthor id="307" name="蔚勇军" initials="蔚" lastIdx="2" clrIdx="0"/>
  <p:cmAuthor id="309" name="王军" initials="王" lastIdx="1" clrIdx="128"/>
  <p:cmAuthor id="320" name="谢海英" initials="谢海英" lastIdx="1" clrIdx="247"/>
  <p:cmAuthor id="298" name="yuanzheng" initials="y" lastIdx="3" clrIdx="297"/>
  <p:cmAuthor id="301" name="wanwen" initials="w" lastIdx="1" clrIdx="0"/>
  <p:cmAuthor id="304" name="梁明珠" initials="梁明珠" lastIdx="0" clrIdx="246"/>
  <p:cmAuthor id="203790539" name="k" initials="k" lastIdx="4" clrIdx="36"/>
  <p:cmAuthor id="404272449" name="青山" initials="青" lastIdx="1" clrIdx="37"/>
  <p:cmAuthor id="1455558931" name="王军领" initials="王" lastIdx="1" clrIdx="31"/>
  <p:cmAuthor id="558" name="未知用户348" initials="未" lastIdx="10" clrIdx="0"/>
  <p:cmAuthor id="559" name="未知用户148" initials="未" lastIdx="1" clrIdx="0"/>
  <p:cmAuthor id="560" name="未知用户195" initials="未" lastIdx="1" clrIdx="0"/>
  <p:cmAuthor id="561" name="未知用户207" initials="未" lastIdx="3" clrIdx="1"/>
  <p:cmAuthor id="562" name="未知用户208" initials="未" lastIdx="1" clrIdx="0"/>
  <p:cmAuthor id="563" name="未知用户198" initials="未" lastIdx="1" clrIdx="0"/>
  <p:cmAuthor id="564" name="未知用户209" initials="未" lastIdx="1" clrIdx="0"/>
  <p:cmAuthor id="565" name="未知用户289" initials="未" lastIdx="1" clrIdx="0"/>
  <p:cmAuthor id="566" name="未知用户206" initials="未" lastIdx="6" clrIdx="0"/>
  <p:cmAuthor id="568" name="未知的使用者207" initials="未" lastIdx="1" clrIdx="0"/>
  <p:cmAuthor id="569" name="未知的使用者208" initials="未" lastIdx="1" clrIdx="0"/>
  <p:cmAuthor id="570" name="未知的使用者188" initials="未" lastIdx="1" clrIdx="0"/>
  <p:cmAuthor id="571" name="未知的使用者189" initials="未" lastIdx="2" clrIdx="0"/>
  <p:cmAuthor id="572" name="未知的使用者190" initials="未" lastIdx="1" clrIdx="1"/>
  <p:cmAuthor id="573" name="未知的使用者191" initials="未" lastIdx="1" clrIdx="0"/>
  <p:cmAuthor id="574" name="未知的使用者192" initials="未" lastIdx="1" clrIdx="0"/>
  <p:cmAuthor id="575" name="未知的使用者193" initials="未" lastIdx="2" clrIdx="0"/>
  <p:cmAuthor id="576" name="未知的使用者209" initials="未" lastIdx="8" clrIdx="0"/>
  <p:cmAuthor id="579" name="未知用户118" initials="未" lastIdx="1" clrIdx="0"/>
  <p:cmAuthor id="580" name="未知用户147" initials="未" lastIdx="0" clrIdx="1"/>
  <p:cmAuthor id="581" name="未知的使用者96" initials="未" lastIdx="1" clrIdx="0"/>
  <p:cmAuthor id="583" name="未知用户255" initials="未" lastIdx="1" clrIdx="1"/>
  <p:cmAuthor id="584" name="未知的使用者153" initials="未" lastIdx="1" clrIdx="0"/>
  <p:cmAuthor id="585" name="未知的使用者154" initials="未" lastIdx="1" clrIdx="0"/>
  <p:cmAuthor id="586" name="未知的使用者156" initials="未" lastIdx="1" clrIdx="0"/>
  <p:cmAuthor id="587" name="未知的使用者157" initials="未" lastIdx="1" clrIdx="0"/>
  <p:cmAuthor id="588" name="未知用户246" initials="未" lastIdx="1" clrIdx="0"/>
  <p:cmAuthor id="589" name="未知的使用者129" initials="未" lastIdx="1" clrIdx="0"/>
  <p:cmAuthor id="591" name="未知用户257" initials="未" lastIdx="1" clrIdx="0"/>
  <p:cmAuthor id="592" name="未知的使用者164" initials="未" lastIdx="8" clrIdx="0"/>
  <p:cmAuthor id="593" name="未知的使用者172" initials="未" lastIdx="1" clrIdx="0"/>
  <p:cmAuthor id="594" name="未知的使用者174" initials="未" lastIdx="1" clrIdx="0"/>
  <p:cmAuthor id="595" name="未知用户261" initials="未" lastIdx="1" clrIdx="0"/>
  <p:cmAuthor id="596" name="未知的使用者247" initials="未" lastIdx="6" clrIdx="0"/>
  <p:cmAuthor id="597" name="未知的使用者249" initials="未" lastIdx="43" clrIdx="1"/>
  <p:cmAuthor id="598" name="未知的使用者250" initials="未" lastIdx="1" clrIdx="0"/>
  <p:cmAuthor id="599" name="未知的使用者251" initials="未" lastIdx="1" clrIdx="0"/>
  <p:cmAuthor id="600" name="未知的使用者246" initials="未" lastIdx="1" clrIdx="1"/>
  <p:cmAuthor id="601" name="未知的使用者252" initials="未" lastIdx="1" clrIdx="0"/>
  <p:cmAuthor id="602" name="未知的使用者253" initials="未" lastIdx="1" clrIdx="0"/>
  <p:cmAuthor id="603" name="未知的使用者254" initials="未" lastIdx="1" clrIdx="0"/>
  <p:cmAuthor id="604" name="未知的使用者255" initials="未" lastIdx="1" clrIdx="0"/>
  <p:cmAuthor id="605" name="未知用户268" initials="未" lastIdx="1" clrIdx="0"/>
  <p:cmAuthor id="606" name="群智集" initials="群" lastIdx="0" clrIdx="0"/>
  <p:cmAuthor id="607" name="未知用户269" initials="未" lastIdx="2" clrIdx="0"/>
  <p:cmAuthor id="608" name="未知的使用者270" initials="未" lastIdx="1" clrIdx="0"/>
  <p:cmAuthor id="609" name="郏 鹏" initials="郏" lastIdx="1" clrIdx="16"/>
  <p:cmAuthor id="610" name="未知用户250" initials="未" lastIdx="0" clrIdx="0"/>
  <p:cmAuthor id="611" name="郏鹏" initials="郏" lastIdx="1" clrIdx="17"/>
  <p:cmAuthor id="612" name="未知用户272" initials="未" lastIdx="10" clrIdx="0"/>
  <p:cmAuthor id="613" name="石晓利" initials="石" lastIdx="1" clrIdx="13"/>
  <p:cmAuthor id="614" name="未知的使用者256" initials="未" lastIdx="1" clrIdx="0"/>
  <p:cmAuthor id="616" name="罗志军" initials="罗" lastIdx="1" clrIdx="38"/>
  <p:cmAuthor id="617" name="夜尽迟渊_UrQfrmQZ" initials="夜" lastIdx="0" clrIdx="0"/>
  <p:cmAuthor id="618" name="未知的使用者200" initials="未" lastIdx="1" clrIdx="0"/>
  <p:cmAuthor id="619" name="王丰_aE3uARfm" initials="王" lastIdx="0" clrIdx="0"/>
  <p:cmAuthor id="620" name="未知的使用者257" initials="未" lastIdx="1" clrIdx="0"/>
  <p:cmAuthor id="621" name="方少_UbQfrimU" initials="方" lastIdx="0" clrIdx="0"/>
  <p:cmAuthor id="623" name="叶盛_Q3A3IfEf" initials="叶" lastIdx="0" clrIdx="0"/>
  <p:cmAuthor id="624" name="Harley._bEJrUJ7r" initials="H" lastIdx="0" clrIdx="0"/>
  <p:cmAuthor id="625" name="罗平_VB7vJb2E" initials="罗" lastIdx="0" clrIdx="0"/>
  <p:cmAuthor id="626" name="未知的使用者240" initials="未" lastIdx="1" clrIdx="0"/>
  <p:cmAuthor id="627" name="xixi_nUjqe22E" initials="x" lastIdx="0" clrIdx="0"/>
  <p:cmAuthor id="628" name="未知的使用者241" initials="未" lastIdx="1" clrIdx="0"/>
  <p:cmAuthor id="629" name="安安_zm6nYnYZ" initials="安" lastIdx="0" clrIdx="0"/>
  <p:cmAuthor id="630" name="未知的使用者242" initials="未" lastIdx="2" clrIdx="0"/>
  <p:cmAuthor id="631" name="未知的使用者243" initials="未" lastIdx="1" clrIdx="0"/>
  <p:cmAuthor id="632" name="未知的使用者258" initials="未" lastIdx="8" clrIdx="0"/>
  <p:cmAuthor id="633" name="周君_MfIffYra" initials="周" lastIdx="0" clrIdx="0"/>
  <p:cmAuthor id="634" name="未知的使用者259" initials="未" lastIdx="1" clrIdx="0"/>
  <p:cmAuthor id="635" name="未知的使用者260" initials="未" lastIdx="1" clrIdx="0"/>
  <p:cmAuthor id="636" name="未知的使用者261" initials="未" lastIdx="11" clrIdx="0"/>
  <p:cmAuthor id="637" name="未知的使用者262" initials="未" lastIdx="7" clrIdx="1"/>
  <p:cmAuthor id="638" name="未知的使用者263" initials="未" lastIdx="1" clrIdx="2"/>
  <p:cmAuthor id="639" name="未知的使用者264" initials="未" lastIdx="1" clrIdx="0"/>
  <p:cmAuthor id="640" name="未知的使用者265" initials="未" lastIdx="1" clrIdx="0"/>
  <p:cmAuthor id="641" name="未知的使用者266" initials="未" lastIdx="1" clrIdx="1"/>
  <p:cmAuthor id="642" name="未知的使用者267" initials="未" lastIdx="1" clrIdx="0"/>
  <p:cmAuthor id="643" name="未知的使用者268" initials="未" lastIdx="2" clrIdx="0"/>
  <p:cmAuthor id="644" name="未知的使用者269" initials="未" lastIdx="7" clrIdx="1"/>
  <p:cmAuthor id="645" name="刘晖" initials="刘" lastIdx="1" clrIdx="0"/>
  <p:cmAuthor id="646" name="lillian" initials="l" lastIdx="1" clrIdx="0"/>
  <p:cmAuthor id="647" name="未知用户197" initials="未" lastIdx="1" clrIdx="0"/>
  <p:cmAuthor id="654" name="admin7" initials="a" lastIdx="1" clrIdx="50"/>
  <p:cmAuthor id="655" name="dd" initials="d" lastIdx="1" clrIdx="52"/>
  <p:cmAuthor id="236" name="未知的使用者46" initials="未" lastIdx="1" clrIdx="1"/>
  <p:cmAuthor id="264" name="未知用户106" initials="未" lastIdx="1" clrIdx="0"/>
  <p:cmAuthor id="275" name="Unknown User7" initials="U" lastIdx="1" clrIdx="0"/>
  <p:cmAuthor id="276" name="muzi wei" initials="m" lastIdx="1" clrIdx="0"/>
  <p:cmAuthor id="283" name="不明使用者21" initials="不" lastIdx="1" clrIdx="0"/>
  <p:cmAuthor id="286" name="未知用户109" initials="未" lastIdx="1" clrIdx="1"/>
  <p:cmAuthor id="288" name="thomas" initials="t" lastIdx="1" clrIdx="49"/>
  <p:cmAuthor id="291" name="Unknown User65" initials="U" lastIdx="1" clrIdx="0"/>
  <p:cmAuthor id="293" name="Unknown User67" initials="U" lastIdx="1" clrIdx="0"/>
  <p:cmAuthor id="295" name="未知用户61" initials="未" lastIdx="8" clrIdx="0"/>
  <p:cmAuthor id="296" name="張秀娟" initials="張" lastIdx="1" clrIdx="2"/>
  <p:cmAuthor id="297" name="Jason Wang" initials="J" lastIdx="1" clrIdx="0"/>
  <p:cmAuthor id="300" name="未知的使用者72" initials="未" lastIdx="1" clrIdx="0"/>
  <p:cmAuthor id="305" name="Shawna Strickland" initials="S" lastIdx="2" clrIdx="0"/>
  <p:cmAuthor id="306" name="未知的使用者36" initials="未" lastIdx="3" clrIdx="1"/>
  <p:cmAuthor id="310" name="Ashley Eberenz" initials="A" lastIdx="7" clrIdx="1"/>
  <p:cmAuthor id="311" name="不明使用者19" initials="不" lastIdx="1" clrIdx="0"/>
  <p:cmAuthor id="313" name="未知的使用者74" initials="未" lastIdx="1" clrIdx="0"/>
  <p:cmAuthor id="314" name="未知的使用者23" initials="未" lastIdx="1" clrIdx="0"/>
  <p:cmAuthor id="315" name="未知的使用者1" initials="未" lastIdx="8" clrIdx="0"/>
  <p:cmAuthor id="316" name="116304" initials="1" lastIdx="1" clrIdx="1"/>
  <p:cmAuthor id="318" name="R affer" initials="R" lastIdx="1" clrIdx="0"/>
  <p:cmAuthor id="319" name="qihua-DCMS" initials="q" lastIdx="0" clrIdx="0"/>
  <p:cmAuthor id="321" name="未知的使用者95" initials="未" lastIdx="1" clrIdx="0"/>
  <p:cmAuthor id="322" name="未知的使用者32" initials="未" lastIdx="1" clrIdx="0"/>
  <p:cmAuthor id="323" name="未知的使用者49" initials="未" lastIdx="1" clrIdx="0"/>
  <p:cmAuthor id="324" name="Unknown User26" initials="U" lastIdx="1" clrIdx="1"/>
  <p:cmAuthor id="325" name="yuexuejun" initials="y" lastIdx="3" clrIdx="0"/>
  <p:cmAuthor id="326" name="未知的使用者71" initials="未" lastIdx="1" clrIdx="1"/>
  <p:cmAuthor id="328" name="Unknown User70" initials="U" lastIdx="1" clrIdx="0"/>
  <p:cmAuthor id="329" name="clinchen" initials="c" lastIdx="0" clrIdx="1"/>
  <p:cmAuthor id="330" name="未知用户23" initials="未" lastIdx="1" clrIdx="0"/>
  <p:cmAuthor id="331" name="hanjuncompany" initials="h" lastIdx="1" clrIdx="0"/>
  <p:cmAuthor id="332" name="kathy chen" initials="k" lastIdx="3" clrIdx="0"/>
  <p:cmAuthor id="333" name="未知的使用者63" initials="未" lastIdx="1" clrIdx="0"/>
  <p:cmAuthor id="335" name="未知的使用者47" initials="未" lastIdx="1" clrIdx="0"/>
  <p:cmAuthor id="336" name="未知的使用者60" initials="未" lastIdx="8" clrIdx="0"/>
  <p:cmAuthor id="337" name="未知的使用者59" initials="未" lastIdx="1" clrIdx="0"/>
  <p:cmAuthor id="338" name="未知的使用者54" initials="未" lastIdx="1" clrIdx="0"/>
  <p:cmAuthor id="341" name="未知的使用者106" initials="未" lastIdx="3" clrIdx="1"/>
  <p:cmAuthor id="342" name="未知的使用者107" initials="未" lastIdx="1" clrIdx="1"/>
  <p:cmAuthor id="343" name="未知的使用者108" initials="未" lastIdx="1" clrIdx="0"/>
  <p:cmAuthor id="344" name="未知的使用者86" initials="未" lastIdx="1" clrIdx="0"/>
  <p:cmAuthor id="345" name="未知的使用者116" initials="未" lastIdx="1" clrIdx="1"/>
  <p:cmAuthor id="346" name="未知的使用者44" initials="未" lastIdx="1" clrIdx="0"/>
  <p:cmAuthor id="347" name="未知的使用者37" initials="未" lastIdx="1" clrIdx="0"/>
  <p:cmAuthor id="348" name="未知的使用者126" initials="未" lastIdx="1" clrIdx="0"/>
  <p:cmAuthor id="349" name="未知的使用者127" initials="未" lastIdx="3" clrIdx="1"/>
  <p:cmAuthor id="350" name="未知的使用者128" initials="未" lastIdx="1" clrIdx="1"/>
  <p:cmAuthor id="351" name="未知的使用者124" initials="未" lastIdx="1" clrIdx="0"/>
  <p:cmAuthor id="352" name="未知的使用者125" initials="未" lastIdx="1" clrIdx="0"/>
  <p:cmAuthor id="353" name="Sara Chen" initials="S" lastIdx="1" clrIdx="0"/>
  <p:cmAuthor id="355" name="未知用户170" initials="未" lastIdx="1" clrIdx="0"/>
  <p:cmAuthor id="356" name="未知用户171" initials="未" lastIdx="5" clrIdx="1"/>
  <p:cmAuthor id="357" name="未知用户172" initials="未" lastIdx="1" clrIdx="1"/>
  <p:cmAuthor id="358" name="未知用户173" initials="未" lastIdx="1" clrIdx="0"/>
  <p:cmAuthor id="359" name="未知用户149" initials="未" lastIdx="1" clrIdx="0"/>
  <p:cmAuthor id="360" name="未知用户150" initials="未" lastIdx="1" clrIdx="0"/>
  <p:cmAuthor id="361" name="未知用户151" initials="未" lastIdx="2" clrIdx="0"/>
  <p:cmAuthor id="363" name="未知用户153" initials="未" lastIdx="8" clrIdx="0"/>
  <p:cmAuthor id="369" name="未知用户156" initials="未" lastIdx="10" clrIdx="0"/>
  <p:cmAuthor id="370" name="未知用户64" initials="未" lastIdx="1" clrIdx="0"/>
  <p:cmAuthor id="371" name="未知用户65" initials="未" lastIdx="1" clrIdx="0"/>
  <p:cmAuthor id="372" name="未知用户68" initials="未" lastIdx="1" clrIdx="0"/>
  <p:cmAuthor id="373" name="wangxiaoxuan@ha.cmcc" initials="w" lastIdx="1" clrIdx="34"/>
  <p:cmAuthor id="375" name="罗 罗" initials="罗" lastIdx="1" clrIdx="37"/>
  <p:cmAuthor id="378" name="86157" initials="8" lastIdx="1" clrIdx="39"/>
  <p:cmAuthor id="383" name="未知用户52" initials="未" lastIdx="1" clrIdx="0"/>
  <p:cmAuthor id="385" name="未知用户53" initials="未" lastIdx="10" clrIdx="0"/>
  <p:cmAuthor id="393" name="未知用户26" initials="未" lastIdx="1" clrIdx="0"/>
  <p:cmAuthor id="394" name="tonghailan" initials="t" lastIdx="1126972" clrIdx="1"/>
  <p:cmAuthor id="400" name="未知的使用者109" initials="未" lastIdx="5" clrIdx="1"/>
  <p:cmAuthor id="401" name="未知的使用者122" initials="未" lastIdx="1" clrIdx="0"/>
  <p:cmAuthor id="402" name="未知的使用者123" initials="未" lastIdx="8" clrIdx="0"/>
  <p:cmAuthor id="413" name="Harry xu" initials="H" lastIdx="1" clrIdx="0"/>
  <p:cmAuthor id="414" name="未知用户35" initials="未" lastIdx="1" clrIdx="0"/>
  <p:cmAuthor id="415" name="未知用户111" initials="未" lastIdx="1" clrIdx="1"/>
  <p:cmAuthor id="416" name="alpha" initials="a" lastIdx="1" clrIdx="0"/>
  <p:cmAuthor id="418" name="Unknown User22" initials="U" lastIdx="1" clrIdx="0"/>
  <p:cmAuthor id="419" name="Unknown User23" initials="U" lastIdx="1" clrIdx="0"/>
  <p:cmAuthor id="420" name="未知的使用者75" initials="未" lastIdx="1" clrIdx="0"/>
  <p:cmAuthor id="421" name="未知的使用者77" initials="未" lastIdx="1" clrIdx="0"/>
  <p:cmAuthor id="422" name="未知的使用者78" initials="未" lastIdx="5" clrIdx="1"/>
  <p:cmAuthor id="423" name="程云静_Y3Azuy2A" initials="程" lastIdx="0" clrIdx="0"/>
  <p:cmAuthor id="424" name="未知的使用者80" initials="未" lastIdx="0" clrIdx="0"/>
  <p:cmAuthor id="425" name="方绍波|fangshaobo" initials="方" lastIdx="1" clrIdx="37"/>
  <p:cmAuthor id="426" name="未知的使用者82" initials="未" lastIdx="1" clrIdx="0"/>
  <p:cmAuthor id="427" name="15719214165@163.com" initials="1" lastIdx="1" clrIdx="39"/>
  <p:cmAuthor id="428" name="未知的使用者83" initials="未" lastIdx="1" clrIdx="0"/>
  <p:cmAuthor id="429" name="张 曦" initials="张" lastIdx="1" clrIdx="40"/>
  <p:cmAuthor id="430" name="未知的使用者84" initials="未" lastIdx="1" clrIdx="1"/>
  <p:cmAuthor id="431" name="zhangxiaodong@ha.cmcc" initials="z" lastIdx="1" clrIdx="333"/>
  <p:cmAuthor id="432" name="未知的使用者87" initials="未" lastIdx="1" clrIdx="0"/>
  <p:cmAuthor id="433" name="未知的使用者90" initials="未" lastIdx="8" clrIdx="0"/>
  <p:cmAuthor id="434" name="未知的使用者91" initials="未" lastIdx="1" clrIdx="0"/>
  <p:cmAuthor id="435" name="CHRISYU" initials="C" lastIdx="1" clrIdx="0"/>
  <p:cmAuthor id="436" name="胡益铭" initials="胡" lastIdx="1" clrIdx="339"/>
  <p:cmAuthor id="437" name="张璐" initials="张" lastIdx="1" clrIdx="341"/>
  <p:cmAuthor id="438" name="未知的使用者102" initials="未" lastIdx="5" clrIdx="1"/>
  <p:cmAuthor id="439" name="未知的使用者61" initials="未" lastIdx="1" clrIdx="0"/>
  <p:cmAuthor id="440" name="未知用户178" initials="未" lastIdx="1" clrIdx="0"/>
  <p:cmAuthor id="441" name="未知用户186" initials="未" lastIdx="1" clrIdx="0"/>
  <p:cmAuthor id="444" name="未知的使用者182" initials="未" lastIdx="1" clrIdx="1"/>
  <p:cmAuthor id="446" name="未知的使用者161" initials="未" lastIdx="1" clrIdx="0"/>
  <p:cmAuthor id="447" name="未知的使用者151" initials="未" lastIdx="1" clrIdx="0"/>
  <p:cmAuthor id="448" name="未知的使用者162" initials="未" lastIdx="1" clrIdx="0"/>
  <p:cmAuthor id="449" name="未知的使用者152" initials="未" lastIdx="1" clrIdx="0"/>
  <p:cmAuthor id="454" name="未知的使用者176" initials="未" lastIdx="1" clrIdx="0"/>
  <p:cmAuthor id="456" name="未知的使用者178" initials="未" lastIdx="1" clrIdx="0"/>
  <p:cmAuthor id="457" name="未知的使用者179" initials="未" lastIdx="1" clrIdx="0"/>
  <p:cmAuthor id="458" name="未知的使用者180" initials="未" lastIdx="2" clrIdx="0"/>
  <p:cmAuthor id="459" name="未知的使用者181" initials="未" lastIdx="7" clrIdx="1"/>
  <p:cmAuthor id="460" name="未知的使用者170" initials="未" lastIdx="43" clrIdx="1"/>
  <p:cmAuthor id="461" name="未知的使用者141" initials="未" lastIdx="8" clrIdx="0"/>
  <p:cmAuthor id="462" name="未知的使用者142" initials="未" lastIdx="1" clrIdx="0"/>
  <p:cmAuthor id="463" name="未知的使用者143" initials="未" lastIdx="1" clrIdx="0"/>
  <p:cmAuthor id="464" name="未知的使用者144" initials="未" lastIdx="1" clrIdx="0"/>
  <p:cmAuthor id="465" name="未知的使用者145" initials="未" lastIdx="1" clrIdx="0"/>
  <p:cmAuthor id="466" name="未知的使用者146" initials="未" lastIdx="1" clrIdx="0"/>
  <p:cmAuthor id="467" name="未知的使用者147" initials="未" lastIdx="1" clrIdx="0"/>
  <p:cmAuthor id="468" name="未知的使用者148" initials="未" lastIdx="8" clrIdx="0"/>
  <p:cmAuthor id="471" name="未知用户130" initials="未" lastIdx="1" clrIdx="1"/>
  <p:cmAuthor id="472" name="未知用户131" initials="未" lastIdx="1" clrIdx="2"/>
  <p:cmAuthor id="473" name="未知用户132" initials="未" lastIdx="1" clrIdx="0"/>
  <p:cmAuthor id="478" name="俊呈 賴" initials="俊" lastIdx="1" clrIdx="87"/>
  <p:cmAuthor id="481" name="Yoyo Wu" initials="Y" lastIdx="2" clrIdx="0"/>
  <p:cmAuthor id="482" name="超" initials="超" lastIdx="1" clrIdx="38"/>
  <p:cmAuthor id="483" name="zhangbin" initials="z" lastIdx="6" clrIdx="0"/>
  <p:cmAuthor id="484" name="haha" initials="h" lastIdx="2" clrIdx="44"/>
  <p:cmAuthor id="485" name="Arno.Du(杜明星)" initials="A" lastIdx="0" clrIdx="0"/>
  <p:cmAuthor id="486" name="未知用户174" initials="未" lastIdx="1" clrIdx="0"/>
  <p:cmAuthor id="487" name="Unknown User27" initials="U" lastIdx="1" clrIdx="0"/>
  <p:cmAuthor id="488" name="未知的使用者221" initials="未" lastIdx="1" clrIdx="0"/>
  <p:cmAuthor id="489" name="未知的使用者222" initials="未" lastIdx="5" clrIdx="1"/>
  <p:cmAuthor id="490" name="未知的使用者223" initials="未" lastIdx="1" clrIdx="1"/>
  <p:cmAuthor id="491" name="未知的使用者224" initials="未" lastIdx="1" clrIdx="0"/>
  <p:cmAuthor id="492" name="未知的使用者225" initials="未" lastIdx="1" clrIdx="0"/>
  <p:cmAuthor id="493" name="未知的使用者226" initials="未" lastIdx="1" clrIdx="0"/>
  <p:cmAuthor id="494" name="未知的使用者227" initials="未" lastIdx="1" clrIdx="0"/>
  <p:cmAuthor id="495" name="未知的使用者217" initials="未" lastIdx="1" clrIdx="1"/>
  <p:cmAuthor id="496" name="未知的使用者218" initials="未" lastIdx="1" clrIdx="2"/>
  <p:cmAuthor id="497" name="未知的使用者219" initials="未" lastIdx="8" clrIdx="0"/>
  <p:cmAuthor id="498" name="未知的使用者220" initials="未" lastIdx="1" clrIdx="0"/>
  <p:cmAuthor id="499" name="未知的使用者228" initials="未" lastIdx="1" clrIdx="0"/>
  <p:cmAuthor id="500" name="未知的使用者229" initials="未" lastIdx="8" clrIdx="0"/>
  <p:cmAuthor id="501" name="未知的使用者230" initials="未" lastIdx="1" clrIdx="0"/>
  <p:cmAuthor id="502" name="未知的使用者231" initials="未" lastIdx="1" clrIdx="0"/>
  <p:cmAuthor id="503" name="未知的使用者232" initials="未" lastIdx="8" clrIdx="0"/>
  <p:cmAuthor id="504" name="未知的使用者233" initials="未" lastIdx="1" clrIdx="0"/>
  <p:cmAuthor id="505" name="未知的使用者234" initials="未" lastIdx="1" clrIdx="0"/>
  <p:cmAuthor id="506" name="未知的使用者130" initials="未" lastIdx="3" clrIdx="0"/>
  <p:cmAuthor id="507" name="未知的使用者131" initials="未" lastIdx="1" clrIdx="0"/>
  <p:cmAuthor id="508" name="未知的使用者132" initials="未" lastIdx="1" clrIdx="0"/>
  <p:cmAuthor id="510" name="未知的使用者235" initials="未" lastIdx="1" clrIdx="0"/>
  <p:cmAuthor id="511" name="未知的使用者236" initials="未" lastIdx="1" clrIdx="0"/>
  <p:cmAuthor id="512" name="未知的使用者237" initials="未" lastIdx="2" clrIdx="0"/>
  <p:cmAuthor id="513" name="未知的使用者238" initials="未" lastIdx="7" clrIdx="1"/>
  <p:cmAuthor id="514" name="未知的使用者239" initials="未" lastIdx="43" clrIdx="1"/>
  <p:cmAuthor id="515" name="未知的使用者136" initials="未" lastIdx="1" clrIdx="0"/>
  <p:cmAuthor id="516" name="未知的使用者134" initials="未" lastIdx="0" clrIdx="0"/>
  <p:cmAuthor id="517" name="未知的使用者206" initials="未" lastIdx="1" clrIdx="0"/>
  <p:cmAuthor id="518" name="Kent" initials="K" lastIdx="2" clrIdx="0"/>
  <p:cmAuthor id="519" name="梅芬 吳" initials="梅" lastIdx="1" clrIdx="85"/>
  <p:cmAuthor id="520" name="王嘉偉" initials="王" lastIdx="2" clrIdx="0"/>
  <p:cmAuthor id="521" name="未知的使用者210" initials="未" lastIdx="0" clrIdx="0"/>
  <p:cmAuthor id="522" name="未知的使用者211" initials="未" lastIdx="1" clrIdx="0"/>
  <p:cmAuthor id="523" name="未知的使用者212" initials="未" lastIdx="1" clrIdx="0"/>
  <p:cmAuthor id="524" name="未知的使用者213" initials="未" lastIdx="1" clrIdx="0"/>
  <p:cmAuthor id="525" name="未知的使用者214" initials="未" lastIdx="1" clrIdx="1"/>
  <p:cmAuthor id="526" name="未知的使用者215" initials="未" lastIdx="1" clrIdx="0"/>
  <p:cmAuthor id="527" name="未知的使用者216" initials="未" lastIdx="1" clrIdx="0"/>
  <p:cmAuthor id="528" name="王丽君" initials="王" lastIdx="4" clrIdx="0"/>
  <p:cmAuthor id="529" name="Xia Ting" initials="X" lastIdx="1" clrIdx="0"/>
  <p:cmAuthor id="530" name="未知用户163" initials="未" lastIdx="8" clrIdx="0"/>
  <p:cmAuthor id="531" name="未知用户164" initials="未" lastIdx="1" clrIdx="0"/>
  <p:cmAuthor id="533" name="未知用户191" initials="未" lastIdx="1" clrIdx="0"/>
  <p:cmAuthor id="534" name="未知用户167" initials="未" lastIdx="1" clrIdx="0"/>
  <p:cmAuthor id="535" name="未知的使用者163" initials="未" lastIdx="1" clrIdx="0"/>
  <p:cmAuthor id="536" name="未知的使用者88" initials="未" lastIdx="1" clrIdx="1"/>
  <p:cmAuthor id="539" name="jerrychou" initials="j" lastIdx="1" clrIdx="4"/>
  <p:cmAuthor id="540" name="不明使用者12" initials="不" lastIdx="3" clrIdx="1"/>
  <p:cmAuthor id="541" name="不明使用者1" initials="不" lastIdx="0" clrIdx="0"/>
  <p:cmAuthor id="545" name="未知的使用者160" initials="未" lastIdx="1" clrIdx="0"/>
  <p:cmAuthor id="547" name="不明使用者7" initials="不" lastIdx="7" clrIdx="1"/>
  <p:cmAuthor id="548" name="未知用户120" initials="未" lastIdx="1" clrIdx="0"/>
  <p:cmAuthor id="549" name="未知用户122" initials="未" lastIdx="1" clrIdx="0"/>
  <p:cmAuthor id="551" name="不明使用者11" initials="不" lastIdx="1" clrIdx="0"/>
  <p:cmAuthor id="552" name="Unknown User24" initials="U" lastIdx="1" clrIdx="0"/>
  <p:cmAuthor id="554" name="未知用户145" initials="未" lastIdx="2" clrIdx="0"/>
  <p:cmAuthor id="555" name="未知用户119" initials="未" lastIdx="1" clrIdx="1"/>
  <p:cmAuthor id="691587971" name="lvz" initials="l" lastIdx="1" clrIdx="61"/>
  <p:cmAuthor id="691587972" name="CMCC" initials="C" lastIdx="2" clrIdx="56"/>
  <p:cmAuthor id="691587973" name="Tianchi Yao" initials="TY" lastIdx="31" clrIdx="72"/>
  <p:cmAuthor id="691587976" name="贾云雁" initials="贾" lastIdx="2" clrIdx="330"/>
  <p:cmAuthor id="394525612" name="goulei" initials="g" lastIdx="2" clrIdx="41"/>
  <p:cmAuthor id="230071379" name="Damon" initials="D" lastIdx="1" clrIdx="696"/>
  <p:cmAuthor id="2005" name="毕邺" initials="党委办公室" lastIdx="2" clrIdx="37"/>
  <p:cmAuthor id="1411828" name="Mr.Wu" initials="M" lastIdx="2" clrIdx="41"/>
  <p:cmAuthor id="1411829" name="张静_Anua7Nne" initials="authorId_935319063" lastIdx="0" clrIdx="0"/>
  <p:cmAuthor id="296061434" name="刘桢儿" initials="刘" lastIdx="1" clrIdx="43"/>
  <p:cmAuthor id="824724324" name="小二上酒" initials="小" lastIdx="1" clrIdx="20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A42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457700" cy="917576"/>
          </a:xfrm>
          <a:prstGeom prst="rect">
            <a:avLst/>
          </a:prstGeom>
        </p:spPr>
        <p:txBody>
          <a:bodyPr vert="horz" lIns="91440" tIns="45720" rIns="91440" bIns="45720" rtlCol="0"/>
          <a:lstStyle>
            <a:lvl1pPr algn="l">
              <a:defRPr sz="1800"/>
            </a:lvl1pPr>
          </a:lstStyle>
          <a:p>
            <a:endParaRPr lang="zh-CN" altLang="en-US"/>
          </a:p>
        </p:txBody>
      </p:sp>
      <p:sp>
        <p:nvSpPr>
          <p:cNvPr id="3" name="日期占位符 2"/>
          <p:cNvSpPr>
            <a:spLocks noGrp="1"/>
          </p:cNvSpPr>
          <p:nvPr>
            <p:ph type="dt" sz="quarter" idx="1"/>
          </p:nvPr>
        </p:nvSpPr>
        <p:spPr>
          <a:xfrm>
            <a:off x="5826920" y="0"/>
            <a:ext cx="4457700" cy="917576"/>
          </a:xfrm>
          <a:prstGeom prst="rect">
            <a:avLst/>
          </a:prstGeom>
        </p:spPr>
        <p:txBody>
          <a:bodyPr vert="horz" lIns="91440" tIns="45720" rIns="91440" bIns="45720" rtlCol="0"/>
          <a:lstStyle>
            <a:lvl1pPr algn="r">
              <a:defRPr sz="18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7370426"/>
            <a:ext cx="4457700" cy="917574"/>
          </a:xfrm>
          <a:prstGeom prst="rect">
            <a:avLst/>
          </a:prstGeom>
        </p:spPr>
        <p:txBody>
          <a:bodyPr vert="horz" lIns="91440" tIns="45720" rIns="91440" bIns="45720" rtlCol="0" anchor="b"/>
          <a:lstStyle>
            <a:lvl1pPr algn="l">
              <a:defRPr sz="1800"/>
            </a:lvl1pPr>
          </a:lstStyle>
          <a:p>
            <a:endParaRPr lang="zh-CN" altLang="en-US"/>
          </a:p>
        </p:txBody>
      </p:sp>
      <p:sp>
        <p:nvSpPr>
          <p:cNvPr id="5" name="灯片编号占位符 4"/>
          <p:cNvSpPr>
            <a:spLocks noGrp="1"/>
          </p:cNvSpPr>
          <p:nvPr>
            <p:ph type="sldNum" sz="quarter" idx="3"/>
          </p:nvPr>
        </p:nvSpPr>
        <p:spPr>
          <a:xfrm>
            <a:off x="5826920" y="17370426"/>
            <a:ext cx="4457700" cy="917574"/>
          </a:xfrm>
          <a:prstGeom prst="rect">
            <a:avLst/>
          </a:prstGeom>
        </p:spPr>
        <p:txBody>
          <a:bodyPr vert="horz" lIns="91440" tIns="45720" rIns="91440" bIns="45720" rtlCol="0" anchor="b"/>
          <a:lstStyle>
            <a:lvl1pPr algn="r">
              <a:defRPr sz="18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tlog">
    <p:bg>
      <p:bgPr>
        <a:solidFill>
          <a:srgbClr val="FFFFFF"/>
        </a:solidFill>
        <a:effectLst/>
      </p:bgPr>
    </p:bg>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ducate/educate_transparent.jpg"/>
          <p:cNvPicPr>
            <a:picLocks noChangeAspect="1"/>
          </p:cNvPicPr>
          <p:nvPr/>
        </p:nvPicPr>
        <p:blipFill>
          <a:blip r:embed="rId2"/>
          <a:stretch>
            <a:fillRect/>
          </a:stretch>
        </p:blipFill>
        <p:spPr>
          <a:xfrm>
            <a:off x="0" y="0"/>
            <a:ext cx="18288000" cy="10287000"/>
          </a:xfrm>
          <a:prstGeom prst="rect">
            <a:avLst/>
          </a:prstGeom>
        </p:spPr>
      </p:pic>
      <p:pic>
        <p:nvPicPr>
          <p:cNvPr id="3" name="Image 1" descr="/opt/sangfor/app/report-generation/soar/apps/report_generation/front/threat-management-report/static/images/industry-quarterly-report/educate/educate_logo.png"/>
          <p:cNvPicPr>
            <a:picLocks noChangeAspect="1"/>
          </p:cNvPicPr>
          <p:nvPr/>
        </p:nvPicPr>
        <p:blipFill>
          <a:blip r:embed="rId3"/>
          <a:stretch>
            <a:fillRect/>
          </a:stretch>
        </p:blipFill>
        <p:spPr>
          <a:xfrm>
            <a:off x="713232" y="754380"/>
            <a:ext cx="466344" cy="466344"/>
          </a:xfrm>
          <a:prstGeom prst="rect">
            <a:avLst/>
          </a:prstGeom>
        </p:spPr>
      </p:pic>
      <p:sp>
        <p:nvSpPr>
          <p:cNvPr id="4" name="Text 0"/>
          <p:cNvSpPr/>
          <p:nvPr/>
        </p:nvSpPr>
        <p:spPr>
          <a:xfrm>
            <a:off x="1344168" y="822960"/>
            <a:ext cx="2606040" cy="329184"/>
          </a:xfrm>
          <a:prstGeom prst="rect">
            <a:avLst/>
          </a:prstGeom>
          <a:noFill/>
        </p:spPr>
        <p:txBody>
          <a:bodyPr wrap="square" lIns="0" tIns="0" rIns="0" bIns="0" rtlCol="0" anchor="ctr"/>
          <a:lstStyle/>
          <a:p>
            <a:pPr marL="0" indent="0">
              <a:buNone/>
            </a:pPr>
            <a:r>
              <a:rPr lang="en-US" sz="2100" dirty="0">
                <a:solidFill>
                  <a:srgbClr val="7DC4E7"/>
                </a:solidFill>
                <a:latin typeface="微软雅黑" pitchFamily="34" charset="0"/>
                <a:ea typeface="微软雅黑" charset="-122"/>
                <a:cs typeface="微软雅黑" panose="020B0503020204020204" pitchFamily="34" charset="-120"/>
              </a:rPr>
              <a:t>安全运营季度报告</a:t>
            </a:r>
            <a:endParaRPr lang="en-US" sz="2100" dirty="0"/>
          </a:p>
        </p:txBody>
      </p:sp>
      <p:pic>
        <p:nvPicPr>
          <p:cNvPr id="5" name="Image 2" descr="/opt/sangfor/app/report-generation/soar/apps/report_generation/front/threat-management-report/static/images/industry-quarterly-report/common/sangfor_security_service.png"/>
          <p:cNvPicPr>
            <a:picLocks noChangeAspect="1"/>
          </p:cNvPicPr>
          <p:nvPr/>
        </p:nvPicPr>
        <p:blipFill>
          <a:blip r:embed="rId4"/>
          <a:stretch>
            <a:fillRect/>
          </a:stretch>
        </p:blipFill>
        <p:spPr>
          <a:xfrm>
            <a:off x="7927848" y="8970264"/>
            <a:ext cx="2414016" cy="5486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ontCover">
    <p:bg>
      <p:bgPr>
        <a:solidFill>
          <a:srgbClr val="FFFFFF"/>
        </a:solidFill>
        <a:effectLst/>
      </p:bgPr>
    </p:bg>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medical/medical.png"/>
          <p:cNvPicPr>
            <a:picLocks noChangeAspect="1"/>
          </p:cNvPicPr>
          <p:nvPr/>
        </p:nvPicPr>
        <p:blipFill>
          <a:blip r:embed="rId2"/>
          <a:stretch>
            <a:fillRect/>
          </a:stretch>
        </p:blipFill>
        <p:spPr>
          <a:xfrm>
            <a:off x="0" y="0"/>
            <a:ext cx="18288000" cy="10287000"/>
          </a:xfrm>
          <a:prstGeom prst="rect">
            <a:avLst/>
          </a:prstGeom>
        </p:spPr>
      </p:pic>
      <p:pic>
        <p:nvPicPr>
          <p:cNvPr id="3" name="Image 1" descr="/opt/sangfor/app/report-generation/soar/apps/report_generation/front/threat-management-report/static/images/industry-quarterly-report/common/sangfor_slogan_new.png"/>
          <p:cNvPicPr>
            <a:picLocks noChangeAspect="1"/>
          </p:cNvPicPr>
          <p:nvPr/>
        </p:nvPicPr>
        <p:blipFill>
          <a:blip r:embed="rId3"/>
          <a:stretch>
            <a:fillRect/>
          </a:stretch>
        </p:blipFill>
        <p:spPr>
          <a:xfrm>
            <a:off x="729000" y="8915400"/>
            <a:ext cx="3195828" cy="599400"/>
          </a:xfrm>
          <a:prstGeom prst="rect">
            <a:avLst/>
          </a:prstGeom>
        </p:spPr>
      </p:pic>
      <p:pic>
        <p:nvPicPr>
          <p:cNvPr id="4" name="Image 2" descr="preencoded.png"/>
          <p:cNvPicPr>
            <a:picLocks noChangeAspect="1"/>
          </p:cNvPicPr>
          <p:nvPr/>
        </p:nvPicPr>
        <p:blipFill>
          <a:blip r:embed="rId4"/>
          <a:stretch>
            <a:fillRect/>
          </a:stretch>
        </p:blipFill>
        <p:spPr>
          <a:xfrm>
            <a:off x="16017395" y="754380"/>
            <a:ext cx="1552694" cy="5238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13.png"/><Relationship Id="rId7" Type="http://schemas.openxmlformats.org/officeDocument/2006/relationships/tags" Target="../tags/tag2.xml"/><Relationship Id="rId6" Type="http://schemas.openxmlformats.org/officeDocument/2006/relationships/image" Target="../media/image12.png"/><Relationship Id="rId5" Type="http://schemas.openxmlformats.org/officeDocument/2006/relationships/tags" Target="../tags/tag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2" Type="http://schemas.openxmlformats.org/officeDocument/2006/relationships/notesSlide" Target="../notesSlides/notesSlide3.xml"/><Relationship Id="rId11" Type="http://schemas.openxmlformats.org/officeDocument/2006/relationships/slideLayout" Target="../slideLayouts/slideLayout1.xml"/><Relationship Id="rId10" Type="http://schemas.openxmlformats.org/officeDocument/2006/relationships/image" Target="../media/image14.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2" Type="http://schemas.openxmlformats.org/officeDocument/2006/relationships/notesSlide" Target="../notesSlides/notesSlide4.xml"/><Relationship Id="rId21" Type="http://schemas.openxmlformats.org/officeDocument/2006/relationships/slideLayout" Target="../slideLayouts/slideLayout1.xml"/><Relationship Id="rId20" Type="http://schemas.openxmlformats.org/officeDocument/2006/relationships/image" Target="../media/image30.png"/><Relationship Id="rId2" Type="http://schemas.openxmlformats.org/officeDocument/2006/relationships/image" Target="../media/image16.png"/><Relationship Id="rId19" Type="http://schemas.openxmlformats.org/officeDocument/2006/relationships/tags" Target="../tags/tag6.xml"/><Relationship Id="rId18" Type="http://schemas.openxmlformats.org/officeDocument/2006/relationships/image" Target="../media/image29.png"/><Relationship Id="rId17" Type="http://schemas.openxmlformats.org/officeDocument/2006/relationships/tags" Target="../tags/tag5.xml"/><Relationship Id="rId16" Type="http://schemas.openxmlformats.org/officeDocument/2006/relationships/image" Target="../media/image28.png"/><Relationship Id="rId15" Type="http://schemas.openxmlformats.org/officeDocument/2006/relationships/tags" Target="../tags/tag4.xml"/><Relationship Id="rId14" Type="http://schemas.openxmlformats.org/officeDocument/2006/relationships/image" Target="../media/image27.png"/><Relationship Id="rId13" Type="http://schemas.openxmlformats.org/officeDocument/2006/relationships/image" Target="../media/image26.png"/><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image" Target="../media/image35.png"/><Relationship Id="rId7" Type="http://schemas.openxmlformats.org/officeDocument/2006/relationships/tags" Target="../tags/tag8.xml"/><Relationship Id="rId6" Type="http://schemas.openxmlformats.org/officeDocument/2006/relationships/image" Target="../media/image34.png"/><Relationship Id="rId5" Type="http://schemas.openxmlformats.org/officeDocument/2006/relationships/tags" Target="../tags/tag7.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5" Type="http://schemas.openxmlformats.org/officeDocument/2006/relationships/notesSlide" Target="../notesSlides/notesSlide5.xml"/><Relationship Id="rId14" Type="http://schemas.openxmlformats.org/officeDocument/2006/relationships/slideLayout" Target="../slideLayouts/slideLayout1.xml"/><Relationship Id="rId13" Type="http://schemas.openxmlformats.org/officeDocument/2006/relationships/image" Target="../media/image37.png"/><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image" Target="../media/image36.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7.png"/><Relationship Id="rId2" Type="http://schemas.openxmlformats.org/officeDocument/2006/relationships/image" Target="../media/image47.png"/><Relationship Id="rId1" Type="http://schemas.openxmlformats.org/officeDocument/2006/relationships/image" Target="../media/image46.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53.png"/><Relationship Id="rId2" Type="http://schemas.openxmlformats.org/officeDocument/2006/relationships/image" Target="../media/image10.png"/><Relationship Id="rId1" Type="http://schemas.openxmlformats.org/officeDocument/2006/relationships/image" Target="../media/image52.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2.png"/></Relationships>
</file>

<file path=ppt/slides/_rels/slide14.xml.rels><?xml version="1.0" encoding="UTF-8" standalone="yes"?>
<Relationships xmlns="http://schemas.openxmlformats.org/package/2006/relationships"><Relationship Id="rId9" Type="http://schemas.openxmlformats.org/officeDocument/2006/relationships/image" Target="../media/image71.png"/><Relationship Id="rId8" Type="http://schemas.openxmlformats.org/officeDocument/2006/relationships/image" Target="../media/image70.png"/><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2" Type="http://schemas.openxmlformats.org/officeDocument/2006/relationships/notesSlide" Target="../notesSlides/notesSlide14.xml"/><Relationship Id="rId11" Type="http://schemas.openxmlformats.org/officeDocument/2006/relationships/slideLayout" Target="../slideLayouts/slideLayout1.xml"/><Relationship Id="rId10" Type="http://schemas.openxmlformats.org/officeDocument/2006/relationships/image" Target="../media/image72.png"/><Relationship Id="rId1" Type="http://schemas.openxmlformats.org/officeDocument/2006/relationships/image" Target="../media/image63.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10.png"/><Relationship Id="rId1" Type="http://schemas.openxmlformats.org/officeDocument/2006/relationships/image" Target="../media/image73.png"/></Relationships>
</file>

<file path=ppt/slides/_rels/slide16.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3" Type="http://schemas.openxmlformats.org/officeDocument/2006/relationships/notesSlide" Target="../notesSlides/notesSlide16.xml"/><Relationship Id="rId12" Type="http://schemas.openxmlformats.org/officeDocument/2006/relationships/slideLayout" Target="../slideLayouts/slideLayout1.xml"/><Relationship Id="rId11" Type="http://schemas.openxmlformats.org/officeDocument/2006/relationships/tags" Target="../tags/tag12.xml"/><Relationship Id="rId10" Type="http://schemas.openxmlformats.org/officeDocument/2006/relationships/image" Target="../media/image86.png"/><Relationship Id="rId1" Type="http://schemas.openxmlformats.org/officeDocument/2006/relationships/image" Target="../media/image77.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88.png"/><Relationship Id="rId10" Type="http://schemas.openxmlformats.org/officeDocument/2006/relationships/notesSlide" Target="../notesSlides/notesSlide17.xml"/><Relationship Id="rId1" Type="http://schemas.openxmlformats.org/officeDocument/2006/relationships/image" Target="../media/image8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9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7359650" y="3178810"/>
            <a:ext cx="3835400" cy="876935"/>
          </a:xfrm>
          <a:prstGeom prst="rect">
            <a:avLst/>
          </a:prstGeom>
          <a:noFill/>
        </p:spPr>
        <p:txBody>
          <a:bodyPr wrap="square" lIns="0" tIns="0" rIns="0" bIns="0" rtlCol="0" anchor="ctr"/>
          <a:lstStyle/>
          <a:p>
            <a:pPr marL="0" indent="0" algn="ctr">
              <a:buNone/>
            </a:pPr>
            <a:r>
              <a:rPr lang="en-US" sz="4800" b="1" dirty="0">
                <a:solidFill>
                  <a:srgbClr val="0A4275"/>
                </a:solidFill>
                <a:latin typeface="Noto Sans SC" pitchFamily="34" charset="0"/>
                <a:ea typeface="Noto Sans SC" pitchFamily="34" charset="-122"/>
                <a:cs typeface="Noto Sans SC" pitchFamily="34" charset="-120"/>
              </a:rPr>
              <a:t>扬州东方医院</a:t>
            </a:r>
            <a:endParaRPr lang="en-US" sz="4800" dirty="0"/>
          </a:p>
        </p:txBody>
      </p:sp>
      <p:sp>
        <p:nvSpPr>
          <p:cNvPr id="5" name="Text 3"/>
          <p:cNvSpPr txBox="1"/>
          <p:nvPr/>
        </p:nvSpPr>
        <p:spPr>
          <a:xfrm>
            <a:off x="7772400" y="4248302"/>
            <a:ext cx="3010205" cy="495605"/>
          </a:xfrm>
          <a:prstGeom prst="rect">
            <a:avLst/>
          </a:prstGeom>
          <a:noFill/>
        </p:spPr>
        <p:txBody>
          <a:bodyPr wrap="square" lIns="0" tIns="0" rIns="0" bIns="0" rtlCol="0" anchor="ctr"/>
          <a:lstStyle/>
          <a:p>
            <a:pPr marL="0" indent="0" algn="ctr">
              <a:buNone/>
            </a:pPr>
            <a:r>
              <a:rPr lang="en-US" sz="2700" dirty="0">
                <a:solidFill>
                  <a:srgbClr val="0A4275"/>
                </a:solidFill>
                <a:latin typeface="Noto Sans SC" pitchFamily="34" charset="0"/>
                <a:ea typeface="Noto Sans SC" pitchFamily="34" charset="-122"/>
                <a:cs typeface="Noto Sans SC" pitchFamily="34" charset="-120"/>
              </a:rPr>
              <a:t>安全运营全年报告</a:t>
            </a:r>
            <a:endParaRPr lang="en-US" sz="2700" dirty="0"/>
          </a:p>
        </p:txBody>
      </p:sp>
      <p:sp>
        <p:nvSpPr>
          <p:cNvPr id="6" name="Shape 4"/>
          <p:cNvSpPr/>
          <p:nvPr/>
        </p:nvSpPr>
        <p:spPr>
          <a:xfrm>
            <a:off x="8534095" y="5057546"/>
            <a:ext cx="1218895" cy="38405"/>
          </a:xfrm>
          <a:prstGeom prst="rect">
            <a:avLst/>
          </a:prstGeom>
          <a:solidFill>
            <a:srgbClr val="0A4275"/>
          </a:solidFill>
        </p:spPr>
      </p:sp>
      <p:sp>
        <p:nvSpPr>
          <p:cNvPr id="7" name="Text 5"/>
          <p:cNvSpPr txBox="1"/>
          <p:nvPr/>
        </p:nvSpPr>
        <p:spPr>
          <a:xfrm>
            <a:off x="6387084" y="6125845"/>
            <a:ext cx="5715000" cy="381305"/>
          </a:xfrm>
          <a:prstGeom prst="rect">
            <a:avLst/>
          </a:prstGeom>
          <a:noFill/>
        </p:spPr>
        <p:txBody>
          <a:bodyPr wrap="square" lIns="0" tIns="0" rIns="0" bIns="0" rtlCol="0" anchor="ctr"/>
          <a:lstStyle/>
          <a:p>
            <a:pPr marL="0" indent="0" algn="ctr">
              <a:buNone/>
            </a:pPr>
            <a:r>
              <a:rPr lang="en-US" sz="2100" dirty="0">
                <a:solidFill>
                  <a:srgbClr val="333333"/>
                </a:solidFill>
                <a:latin typeface="Noto Sans SC" pitchFamily="34" charset="0"/>
                <a:ea typeface="Noto Sans SC" pitchFamily="34" charset="-122"/>
                <a:cs typeface="Noto Sans SC" pitchFamily="34" charset="-120"/>
              </a:rPr>
              <a:t>运营时间：2024年10月13日 - 2025年10月13日</a:t>
            </a:r>
            <a:endParaRPr lang="en-US" sz="2100" dirty="0"/>
          </a:p>
        </p:txBody>
      </p:sp>
      <p:sp>
        <p:nvSpPr>
          <p:cNvPr id="8" name="Text 6"/>
          <p:cNvSpPr txBox="1"/>
          <p:nvPr/>
        </p:nvSpPr>
        <p:spPr>
          <a:xfrm>
            <a:off x="7658100" y="7536561"/>
            <a:ext cx="3143707" cy="333756"/>
          </a:xfrm>
          <a:prstGeom prst="rect">
            <a:avLst/>
          </a:prstGeom>
          <a:noFill/>
        </p:spPr>
        <p:txBody>
          <a:bodyPr wrap="square" lIns="0" tIns="0" rIns="0" bIns="0" rtlCol="0" anchor="ctr"/>
          <a:lstStyle/>
          <a:p>
            <a:pPr marL="0" indent="0" algn="ctr">
              <a:buNone/>
            </a:pPr>
            <a:r>
              <a:rPr lang="en-US" sz="1800" dirty="0">
                <a:solidFill>
                  <a:srgbClr val="555555"/>
                </a:solidFill>
                <a:latin typeface="Noto Sans SC" pitchFamily="34" charset="0"/>
                <a:ea typeface="Noto Sans SC" pitchFamily="34" charset="-122"/>
                <a:cs typeface="Noto Sans SC" pitchFamily="34" charset="-120"/>
              </a:rPr>
              <a:t>汇报单位：安全托管服务团队</a:t>
            </a:r>
            <a:endParaRPr lang="en-US" sz="1800" dirty="0"/>
          </a:p>
        </p:txBody>
      </p:sp>
      <p:sp>
        <p:nvSpPr>
          <p:cNvPr id="9" name="Text 7"/>
          <p:cNvSpPr txBox="1"/>
          <p:nvPr/>
        </p:nvSpPr>
        <p:spPr>
          <a:xfrm>
            <a:off x="7722108" y="7955356"/>
            <a:ext cx="3020263" cy="333756"/>
          </a:xfrm>
          <a:prstGeom prst="rect">
            <a:avLst/>
          </a:prstGeom>
          <a:noFill/>
        </p:spPr>
        <p:txBody>
          <a:bodyPr wrap="square" lIns="0" tIns="0" rIns="0" bIns="0" rtlCol="0" anchor="ctr"/>
          <a:lstStyle/>
          <a:p>
            <a:pPr marL="0" indent="0" algn="ctr">
              <a:buNone/>
            </a:pPr>
            <a:r>
              <a:rPr lang="en-US" sz="1800" dirty="0">
                <a:solidFill>
                  <a:srgbClr val="555555"/>
                </a:solidFill>
                <a:latin typeface="Noto Sans SC" pitchFamily="34" charset="0"/>
                <a:ea typeface="Noto Sans SC" pitchFamily="34" charset="-122"/>
                <a:cs typeface="Noto Sans SC" pitchFamily="34" charset="-120"/>
              </a:rPr>
              <a:t>汇报日期：2025年09月24日</a:t>
            </a:r>
            <a:endParaRPr lang="en-US" sz="1800" dirty="0"/>
          </a:p>
        </p:txBody>
      </p:sp>
      <p:pic>
        <p:nvPicPr>
          <p:cNvPr id="10" name="Image 0" descr="preencoded.png"/>
          <p:cNvPicPr>
            <a:picLocks noChangeAspect="1"/>
          </p:cNvPicPr>
          <p:nvPr/>
        </p:nvPicPr>
        <p:blipFill>
          <a:blip r:embed="rId1"/>
          <a:srcRect/>
          <a:stretch>
            <a:fillRect/>
          </a:stretch>
        </p:blipFill>
        <p:spPr>
          <a:xfrm>
            <a:off x="15268651" y="9182405"/>
            <a:ext cx="342900" cy="342900"/>
          </a:xfrm>
          <a:prstGeom prst="rect">
            <a:avLst/>
          </a:prstGeom>
        </p:spPr>
      </p:pic>
      <p:sp>
        <p:nvSpPr>
          <p:cNvPr id="11" name="Text 8"/>
          <p:cNvSpPr txBox="1"/>
          <p:nvPr/>
        </p:nvSpPr>
        <p:spPr>
          <a:xfrm>
            <a:off x="15725851" y="9210751"/>
            <a:ext cx="1943100" cy="277063"/>
          </a:xfrm>
          <a:prstGeom prst="rect">
            <a:avLst/>
          </a:prstGeom>
          <a:noFill/>
        </p:spPr>
        <p:txBody>
          <a:bodyPr wrap="square" lIns="0" tIns="0" rIns="0" bIns="0" rtlCol="0" anchor="ctr"/>
          <a:lstStyle/>
          <a:p>
            <a:pPr marL="0" indent="0" algn="l">
              <a:buNone/>
            </a:pPr>
            <a:r>
              <a:rPr lang="en-US" sz="1500" dirty="0">
                <a:solidFill>
                  <a:srgbClr val="0A4275"/>
                </a:solidFill>
                <a:latin typeface="Noto Sans SC" pitchFamily="34" charset="0"/>
                <a:ea typeface="Noto Sans SC" pitchFamily="34" charset="-122"/>
                <a:cs typeface="Noto Sans SC" pitchFamily="34" charset="-120"/>
              </a:rPr>
              <a:t>专业安全 · 值得信赖</a:t>
            </a:r>
            <a:endParaRPr lang="en-US" sz="1500" dirty="0"/>
          </a:p>
        </p:txBody>
      </p:sp>
      <p:sp>
        <p:nvSpPr>
          <p:cNvPr id="12" name="Text 9"/>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8610905" y="1057046"/>
            <a:ext cx="1467612" cy="771754"/>
          </a:xfrm>
          <a:prstGeom prst="rect">
            <a:avLst/>
          </a:prstGeom>
          <a:noFill/>
        </p:spPr>
        <p:txBody>
          <a:bodyPr wrap="square" lIns="0" tIns="0" rIns="0" bIns="0" rtlCol="0" anchor="ctr"/>
          <a:lstStyle/>
          <a:p>
            <a:pPr marL="0" indent="0" algn="ctr">
              <a:buNone/>
            </a:pPr>
            <a:r>
              <a:rPr lang="en-US" sz="4200" b="1" dirty="0">
                <a:solidFill>
                  <a:srgbClr val="0A4275"/>
                </a:solidFill>
                <a:latin typeface="Noto Sans SC" pitchFamily="34" charset="0"/>
                <a:ea typeface="Noto Sans SC" pitchFamily="34" charset="-122"/>
                <a:cs typeface="Noto Sans SC" pitchFamily="34" charset="-120"/>
              </a:rPr>
              <a:t>目录</a:t>
            </a:r>
            <a:endParaRPr lang="en-US" sz="4200" dirty="0"/>
          </a:p>
        </p:txBody>
      </p:sp>
      <p:sp>
        <p:nvSpPr>
          <p:cNvPr id="5" name="Shape 3"/>
          <p:cNvSpPr/>
          <p:nvPr/>
        </p:nvSpPr>
        <p:spPr>
          <a:xfrm>
            <a:off x="8534095" y="2076602"/>
            <a:ext cx="1218895" cy="38405"/>
          </a:xfrm>
          <a:prstGeom prst="rect">
            <a:avLst/>
          </a:prstGeom>
          <a:solidFill>
            <a:srgbClr val="0A4275"/>
          </a:solidFill>
        </p:spPr>
      </p:sp>
      <p:sp>
        <p:nvSpPr>
          <p:cNvPr id="6" name="Shape 4"/>
          <p:cNvSpPr/>
          <p:nvPr/>
        </p:nvSpPr>
        <p:spPr>
          <a:xfrm>
            <a:off x="4876495" y="2876702"/>
            <a:ext cx="571500" cy="571500"/>
          </a:xfrm>
          <a:prstGeom prst="ellipse">
            <a:avLst/>
          </a:prstGeom>
          <a:solidFill>
            <a:srgbClr val="0A4275"/>
          </a:solidFill>
        </p:spPr>
      </p:sp>
      <p:sp>
        <p:nvSpPr>
          <p:cNvPr id="7" name="Shape 5"/>
          <p:cNvSpPr/>
          <p:nvPr/>
        </p:nvSpPr>
        <p:spPr>
          <a:xfrm>
            <a:off x="4876495" y="3829507"/>
            <a:ext cx="571500" cy="571500"/>
          </a:xfrm>
          <a:prstGeom prst="ellipse">
            <a:avLst/>
          </a:prstGeom>
          <a:solidFill>
            <a:srgbClr val="0A4275"/>
          </a:solidFill>
        </p:spPr>
      </p:sp>
      <p:sp>
        <p:nvSpPr>
          <p:cNvPr id="8" name="Shape 6"/>
          <p:cNvSpPr/>
          <p:nvPr/>
        </p:nvSpPr>
        <p:spPr>
          <a:xfrm>
            <a:off x="4876495" y="4781398"/>
            <a:ext cx="571500" cy="571500"/>
          </a:xfrm>
          <a:prstGeom prst="ellipse">
            <a:avLst/>
          </a:prstGeom>
          <a:solidFill>
            <a:srgbClr val="0A4275"/>
          </a:solidFill>
        </p:spPr>
      </p:sp>
      <p:sp>
        <p:nvSpPr>
          <p:cNvPr id="9" name="Shape 7"/>
          <p:cNvSpPr/>
          <p:nvPr/>
        </p:nvSpPr>
        <p:spPr>
          <a:xfrm>
            <a:off x="4876495" y="5734202"/>
            <a:ext cx="571500" cy="571500"/>
          </a:xfrm>
          <a:prstGeom prst="ellipse">
            <a:avLst/>
          </a:prstGeom>
          <a:solidFill>
            <a:srgbClr val="0A4275"/>
          </a:solidFill>
        </p:spPr>
      </p:sp>
      <p:sp>
        <p:nvSpPr>
          <p:cNvPr id="10" name="Text 8"/>
          <p:cNvSpPr txBox="1"/>
          <p:nvPr/>
        </p:nvSpPr>
        <p:spPr>
          <a:xfrm>
            <a:off x="5086807" y="2962656"/>
            <a:ext cx="352958" cy="400507"/>
          </a:xfrm>
          <a:prstGeom prst="rect">
            <a:avLst/>
          </a:prstGeom>
          <a:noFill/>
        </p:spPr>
        <p:txBody>
          <a:bodyPr wrap="square" lIns="0" tIns="0" rIns="0" bIns="0" rtlCol="0" anchor="ctr"/>
          <a:lstStyle/>
          <a:p>
            <a:pPr marL="0" indent="0" algn="l">
              <a:buNone/>
            </a:pPr>
            <a:r>
              <a:rPr lang="en-US" sz="2100" dirty="0">
                <a:solidFill>
                  <a:srgbClr val="FFFFFF"/>
                </a:solidFill>
                <a:latin typeface="Noto Sans SC" pitchFamily="34" charset="0"/>
                <a:ea typeface="Noto Sans SC" pitchFamily="34" charset="-122"/>
                <a:cs typeface="Noto Sans SC" pitchFamily="34" charset="-120"/>
              </a:rPr>
              <a:t>1</a:t>
            </a:r>
            <a:endParaRPr lang="en-US" sz="2100" dirty="0"/>
          </a:p>
        </p:txBody>
      </p:sp>
      <p:sp>
        <p:nvSpPr>
          <p:cNvPr id="11" name="Text 9"/>
          <p:cNvSpPr txBox="1"/>
          <p:nvPr/>
        </p:nvSpPr>
        <p:spPr>
          <a:xfrm>
            <a:off x="5086807" y="3914546"/>
            <a:ext cx="352958" cy="400507"/>
          </a:xfrm>
          <a:prstGeom prst="rect">
            <a:avLst/>
          </a:prstGeom>
          <a:noFill/>
        </p:spPr>
        <p:txBody>
          <a:bodyPr wrap="square" lIns="0" tIns="0" rIns="0" bIns="0" rtlCol="0" anchor="ctr"/>
          <a:lstStyle/>
          <a:p>
            <a:pPr marL="0" indent="0" algn="l">
              <a:buNone/>
            </a:pPr>
            <a:r>
              <a:rPr lang="en-US" sz="2100" dirty="0">
                <a:solidFill>
                  <a:srgbClr val="FFFFFF"/>
                </a:solidFill>
                <a:latin typeface="Noto Sans SC" pitchFamily="34" charset="0"/>
                <a:ea typeface="Noto Sans SC" pitchFamily="34" charset="-122"/>
                <a:cs typeface="Noto Sans SC" pitchFamily="34" charset="-120"/>
              </a:rPr>
              <a:t>2</a:t>
            </a:r>
            <a:endParaRPr lang="en-US" sz="2100" dirty="0"/>
          </a:p>
        </p:txBody>
      </p:sp>
      <p:sp>
        <p:nvSpPr>
          <p:cNvPr id="12" name="Text 10"/>
          <p:cNvSpPr txBox="1"/>
          <p:nvPr/>
        </p:nvSpPr>
        <p:spPr>
          <a:xfrm>
            <a:off x="5086807" y="4867351"/>
            <a:ext cx="352958" cy="400507"/>
          </a:xfrm>
          <a:prstGeom prst="rect">
            <a:avLst/>
          </a:prstGeom>
          <a:noFill/>
        </p:spPr>
        <p:txBody>
          <a:bodyPr wrap="square" lIns="0" tIns="0" rIns="0" bIns="0" rtlCol="0" anchor="ctr"/>
          <a:lstStyle/>
          <a:p>
            <a:pPr marL="0" indent="0" algn="l">
              <a:buNone/>
            </a:pPr>
            <a:r>
              <a:rPr lang="en-US" sz="2100" dirty="0">
                <a:solidFill>
                  <a:srgbClr val="FFFFFF"/>
                </a:solidFill>
                <a:latin typeface="Noto Sans SC" pitchFamily="34" charset="0"/>
                <a:ea typeface="Noto Sans SC" pitchFamily="34" charset="-122"/>
                <a:cs typeface="Noto Sans SC" pitchFamily="34" charset="-120"/>
              </a:rPr>
              <a:t>3</a:t>
            </a:r>
            <a:endParaRPr lang="en-US" sz="2100" dirty="0"/>
          </a:p>
        </p:txBody>
      </p:sp>
      <p:sp>
        <p:nvSpPr>
          <p:cNvPr id="13" name="Text 11"/>
          <p:cNvSpPr txBox="1"/>
          <p:nvPr/>
        </p:nvSpPr>
        <p:spPr>
          <a:xfrm>
            <a:off x="5086807" y="5820156"/>
            <a:ext cx="352958" cy="400507"/>
          </a:xfrm>
          <a:prstGeom prst="rect">
            <a:avLst/>
          </a:prstGeom>
          <a:noFill/>
        </p:spPr>
        <p:txBody>
          <a:bodyPr wrap="square" lIns="0" tIns="0" rIns="0" bIns="0" rtlCol="0" anchor="ctr"/>
          <a:lstStyle/>
          <a:p>
            <a:pPr marL="0" indent="0" algn="l">
              <a:buNone/>
            </a:pPr>
            <a:r>
              <a:rPr lang="en-US" sz="2100" dirty="0">
                <a:solidFill>
                  <a:srgbClr val="FFFFFF"/>
                </a:solidFill>
                <a:latin typeface="Noto Sans SC" pitchFamily="34" charset="0"/>
                <a:ea typeface="Noto Sans SC" pitchFamily="34" charset="-122"/>
                <a:cs typeface="Noto Sans SC" pitchFamily="34" charset="-120"/>
              </a:rPr>
              <a:t>4</a:t>
            </a:r>
            <a:endParaRPr lang="en-US" sz="2100" dirty="0"/>
          </a:p>
        </p:txBody>
      </p:sp>
      <p:sp>
        <p:nvSpPr>
          <p:cNvPr id="14" name="Text 12"/>
          <p:cNvSpPr txBox="1"/>
          <p:nvPr/>
        </p:nvSpPr>
        <p:spPr>
          <a:xfrm>
            <a:off x="5734202" y="2943454"/>
            <a:ext cx="3286354" cy="438912"/>
          </a:xfrm>
          <a:prstGeom prst="rect">
            <a:avLst/>
          </a:prstGeom>
          <a:noFill/>
        </p:spPr>
        <p:txBody>
          <a:bodyPr wrap="square" lIns="0" tIns="0" rIns="0" bIns="0" rtlCol="0" anchor="ctr"/>
          <a:lstStyle/>
          <a:p>
            <a:pPr marL="0" indent="0" algn="l">
              <a:buNone/>
            </a:pPr>
            <a:r>
              <a:rPr lang="en-US" sz="2400" dirty="0">
                <a:solidFill>
                  <a:srgbClr val="333333"/>
                </a:solidFill>
                <a:latin typeface="Noto Sans SC" pitchFamily="34" charset="0"/>
                <a:ea typeface="Noto Sans SC" pitchFamily="34" charset="-122"/>
                <a:cs typeface="Noto Sans SC" pitchFamily="34" charset="-120"/>
              </a:rPr>
              <a:t>安全运营目标达成情况</a:t>
            </a:r>
            <a:endParaRPr lang="en-US" sz="2400" dirty="0"/>
          </a:p>
        </p:txBody>
      </p:sp>
      <p:sp>
        <p:nvSpPr>
          <p:cNvPr id="15" name="Text 13"/>
          <p:cNvSpPr txBox="1"/>
          <p:nvPr/>
        </p:nvSpPr>
        <p:spPr>
          <a:xfrm>
            <a:off x="5734202" y="3895344"/>
            <a:ext cx="2677363" cy="438912"/>
          </a:xfrm>
          <a:prstGeom prst="rect">
            <a:avLst/>
          </a:prstGeom>
          <a:noFill/>
        </p:spPr>
        <p:txBody>
          <a:bodyPr wrap="square" lIns="0" tIns="0" rIns="0" bIns="0" rtlCol="0" anchor="ctr"/>
          <a:lstStyle/>
          <a:p>
            <a:pPr marL="0" indent="0" algn="l">
              <a:buNone/>
            </a:pPr>
            <a:r>
              <a:rPr lang="en-US" sz="2400" dirty="0">
                <a:solidFill>
                  <a:srgbClr val="333333"/>
                </a:solidFill>
                <a:latin typeface="Noto Sans SC" pitchFamily="34" charset="0"/>
                <a:ea typeface="Noto Sans SC" pitchFamily="34" charset="-122"/>
                <a:cs typeface="Noto Sans SC" pitchFamily="34" charset="-120"/>
              </a:rPr>
              <a:t>安全运营工作详情</a:t>
            </a:r>
            <a:endParaRPr lang="en-US" sz="2400" dirty="0"/>
          </a:p>
        </p:txBody>
      </p:sp>
      <p:sp>
        <p:nvSpPr>
          <p:cNvPr id="16" name="Text 14"/>
          <p:cNvSpPr txBox="1"/>
          <p:nvPr/>
        </p:nvSpPr>
        <p:spPr>
          <a:xfrm>
            <a:off x="5734202" y="4848149"/>
            <a:ext cx="2677363" cy="438912"/>
          </a:xfrm>
          <a:prstGeom prst="rect">
            <a:avLst/>
          </a:prstGeom>
          <a:noFill/>
        </p:spPr>
        <p:txBody>
          <a:bodyPr wrap="square" lIns="0" tIns="0" rIns="0" bIns="0" rtlCol="0" anchor="ctr"/>
          <a:lstStyle/>
          <a:p>
            <a:pPr marL="0" indent="0" algn="l">
              <a:buNone/>
            </a:pPr>
            <a:r>
              <a:rPr lang="en-US" sz="2400" dirty="0">
                <a:solidFill>
                  <a:srgbClr val="333333"/>
                </a:solidFill>
                <a:latin typeface="Noto Sans SC" pitchFamily="34" charset="0"/>
                <a:ea typeface="Noto Sans SC" pitchFamily="34" charset="-122"/>
                <a:cs typeface="Noto Sans SC" pitchFamily="34" charset="-120"/>
              </a:rPr>
              <a:t>关键问题分析研讨</a:t>
            </a:r>
            <a:endParaRPr lang="en-US" sz="2400" dirty="0"/>
          </a:p>
        </p:txBody>
      </p:sp>
      <p:sp>
        <p:nvSpPr>
          <p:cNvPr id="17" name="Text 15"/>
          <p:cNvSpPr txBox="1"/>
          <p:nvPr/>
        </p:nvSpPr>
        <p:spPr>
          <a:xfrm>
            <a:off x="5734202" y="5800954"/>
            <a:ext cx="3286354" cy="438912"/>
          </a:xfrm>
          <a:prstGeom prst="rect">
            <a:avLst/>
          </a:prstGeom>
          <a:noFill/>
        </p:spPr>
        <p:txBody>
          <a:bodyPr wrap="square" lIns="0" tIns="0" rIns="0" bIns="0" rtlCol="0" anchor="ctr"/>
          <a:lstStyle/>
          <a:p>
            <a:pPr marL="0" indent="0" algn="l">
              <a:buNone/>
            </a:pPr>
            <a:r>
              <a:rPr lang="en-US" sz="2400" dirty="0">
                <a:solidFill>
                  <a:srgbClr val="333333"/>
                </a:solidFill>
                <a:latin typeface="Noto Sans SC" pitchFamily="34" charset="0"/>
                <a:ea typeface="Noto Sans SC" pitchFamily="34" charset="-122"/>
                <a:cs typeface="Noto Sans SC" pitchFamily="34" charset="-120"/>
              </a:rPr>
              <a:t>下半年工作目标及计划</a:t>
            </a:r>
            <a:endParaRPr lang="en-US" sz="2400" dirty="0"/>
          </a:p>
        </p:txBody>
      </p:sp>
      <p:pic>
        <p:nvPicPr>
          <p:cNvPr id="18" name="Image 0" descr="preencoded.png"/>
          <p:cNvPicPr>
            <a:picLocks noChangeAspect="1"/>
          </p:cNvPicPr>
          <p:nvPr/>
        </p:nvPicPr>
        <p:blipFill>
          <a:blip r:embed="rId1"/>
          <a:srcRect/>
          <a:stretch>
            <a:fillRect/>
          </a:stretch>
        </p:blipFill>
        <p:spPr>
          <a:xfrm>
            <a:off x="14506956" y="8419795"/>
            <a:ext cx="342900" cy="342900"/>
          </a:xfrm>
          <a:prstGeom prst="rect">
            <a:avLst/>
          </a:prstGeom>
        </p:spPr>
      </p:pic>
      <p:sp>
        <p:nvSpPr>
          <p:cNvPr id="19" name="Text 16"/>
          <p:cNvSpPr txBox="1"/>
          <p:nvPr/>
        </p:nvSpPr>
        <p:spPr>
          <a:xfrm>
            <a:off x="14964156" y="8449056"/>
            <a:ext cx="1943100" cy="277063"/>
          </a:xfrm>
          <a:prstGeom prst="rect">
            <a:avLst/>
          </a:prstGeom>
          <a:noFill/>
        </p:spPr>
        <p:txBody>
          <a:bodyPr wrap="square" lIns="0" tIns="0" rIns="0" bIns="0" rtlCol="0" anchor="ctr"/>
          <a:lstStyle/>
          <a:p>
            <a:pPr marL="0" indent="0" algn="l">
              <a:buNone/>
            </a:pPr>
            <a:r>
              <a:rPr lang="en-US" sz="1500" dirty="0">
                <a:solidFill>
                  <a:srgbClr val="0A4275"/>
                </a:solidFill>
                <a:latin typeface="Noto Sans SC" pitchFamily="34" charset="0"/>
                <a:ea typeface="Noto Sans SC" pitchFamily="34" charset="-122"/>
                <a:cs typeface="Noto Sans SC" pitchFamily="34" charset="-120"/>
              </a:rPr>
              <a:t>安全护航 · 专业保障</a:t>
            </a:r>
            <a:endParaRPr lang="en-US" sz="1500" dirty="0"/>
          </a:p>
        </p:txBody>
      </p:sp>
      <p:sp>
        <p:nvSpPr>
          <p:cNvPr id="20" name="Text 17"/>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76656"/>
            <a:ext cx="4924958"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安全运营目标达成情况</a:t>
            </a:r>
            <a:endParaRPr lang="en-US" sz="3600" dirty="0"/>
          </a:p>
        </p:txBody>
      </p:sp>
      <p:sp>
        <p:nvSpPr>
          <p:cNvPr id="5" name="Shape 3"/>
          <p:cNvSpPr/>
          <p:nvPr/>
        </p:nvSpPr>
        <p:spPr>
          <a:xfrm>
            <a:off x="761695" y="1505102"/>
            <a:ext cx="914400" cy="38405"/>
          </a:xfrm>
          <a:prstGeom prst="rect">
            <a:avLst/>
          </a:prstGeom>
          <a:solidFill>
            <a:srgbClr val="0A4275"/>
          </a:solidFill>
        </p:spPr>
      </p:sp>
      <p:sp>
        <p:nvSpPr>
          <p:cNvPr id="6" name="Shape 4"/>
          <p:cNvSpPr/>
          <p:nvPr/>
        </p:nvSpPr>
        <p:spPr>
          <a:xfrm>
            <a:off x="761695" y="2000707"/>
            <a:ext cx="16763695" cy="2247595"/>
          </a:xfrm>
          <a:prstGeom prst="roundRect">
            <a:avLst>
              <a:gd name="adj" fmla="val 2758"/>
            </a:avLst>
          </a:prstGeom>
          <a:solidFill>
            <a:srgbClr val="0A4275">
              <a:alpha val="6000"/>
            </a:srgbClr>
          </a:solidFill>
        </p:spPr>
      </p:sp>
      <p:sp>
        <p:nvSpPr>
          <p:cNvPr id="7" name="Shape 5"/>
          <p:cNvSpPr/>
          <p:nvPr/>
        </p:nvSpPr>
        <p:spPr>
          <a:xfrm>
            <a:off x="761695" y="2000707"/>
            <a:ext cx="57607" cy="2247595"/>
          </a:xfrm>
          <a:prstGeom prst="rect">
            <a:avLst/>
          </a:prstGeom>
          <a:solidFill>
            <a:srgbClr val="0A4275"/>
          </a:solidFill>
        </p:spPr>
      </p:sp>
      <p:pic>
        <p:nvPicPr>
          <p:cNvPr id="8" name="Image 0" descr="preencoded.png"/>
          <p:cNvPicPr>
            <a:picLocks noChangeAspect="1"/>
          </p:cNvPicPr>
          <p:nvPr/>
        </p:nvPicPr>
        <p:blipFill>
          <a:blip r:embed="rId1"/>
          <a:srcRect/>
          <a:stretch>
            <a:fillRect/>
          </a:stretch>
        </p:blipFill>
        <p:spPr>
          <a:xfrm>
            <a:off x="1086307" y="2309774"/>
            <a:ext cx="286207" cy="286207"/>
          </a:xfrm>
          <a:prstGeom prst="rect">
            <a:avLst/>
          </a:prstGeom>
        </p:spPr>
      </p:pic>
      <p:sp>
        <p:nvSpPr>
          <p:cNvPr id="9" name="Shape 6"/>
          <p:cNvSpPr/>
          <p:nvPr/>
        </p:nvSpPr>
        <p:spPr>
          <a:xfrm>
            <a:off x="818845" y="4564837"/>
            <a:ext cx="16763695" cy="2314346"/>
          </a:xfrm>
          <a:prstGeom prst="roundRect">
            <a:avLst>
              <a:gd name="adj" fmla="val 2601"/>
            </a:avLst>
          </a:prstGeom>
          <a:solidFill>
            <a:srgbClr val="0A4275">
              <a:alpha val="6000"/>
            </a:srgbClr>
          </a:solidFill>
        </p:spPr>
      </p:sp>
      <p:sp>
        <p:nvSpPr>
          <p:cNvPr id="10" name="Shape 7"/>
          <p:cNvSpPr/>
          <p:nvPr/>
        </p:nvSpPr>
        <p:spPr>
          <a:xfrm>
            <a:off x="761695" y="4629607"/>
            <a:ext cx="57607" cy="2314346"/>
          </a:xfrm>
          <a:prstGeom prst="rect">
            <a:avLst/>
          </a:prstGeom>
          <a:solidFill>
            <a:srgbClr val="0A4275"/>
          </a:solidFill>
        </p:spPr>
      </p:sp>
      <p:sp>
        <p:nvSpPr>
          <p:cNvPr id="11" name="Shape 8"/>
          <p:cNvSpPr/>
          <p:nvPr/>
        </p:nvSpPr>
        <p:spPr>
          <a:xfrm>
            <a:off x="761695" y="7319772"/>
            <a:ext cx="16763695" cy="2247595"/>
          </a:xfrm>
          <a:prstGeom prst="roundRect">
            <a:avLst>
              <a:gd name="adj" fmla="val 2758"/>
            </a:avLst>
          </a:prstGeom>
          <a:solidFill>
            <a:srgbClr val="0A4275">
              <a:alpha val="6000"/>
            </a:srgbClr>
          </a:solidFill>
        </p:spPr>
      </p:sp>
      <p:sp>
        <p:nvSpPr>
          <p:cNvPr id="12" name="Shape 9"/>
          <p:cNvSpPr/>
          <p:nvPr/>
        </p:nvSpPr>
        <p:spPr>
          <a:xfrm>
            <a:off x="761695" y="7319772"/>
            <a:ext cx="57607" cy="2247595"/>
          </a:xfrm>
          <a:prstGeom prst="rect">
            <a:avLst/>
          </a:prstGeom>
          <a:solidFill>
            <a:srgbClr val="0A4275"/>
          </a:solidFill>
        </p:spPr>
      </p:sp>
      <p:sp>
        <p:nvSpPr>
          <p:cNvPr id="13" name="Text 10"/>
          <p:cNvSpPr txBox="1"/>
          <p:nvPr/>
        </p:nvSpPr>
        <p:spPr>
          <a:xfrm>
            <a:off x="1514246" y="2266798"/>
            <a:ext cx="1185977"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业务保护</a:t>
            </a:r>
            <a:endParaRPr lang="en-US" sz="1900" dirty="0"/>
          </a:p>
        </p:txBody>
      </p:sp>
      <p:sp>
        <p:nvSpPr>
          <p:cNvPr id="14" name="Text 11"/>
          <p:cNvSpPr txBox="1"/>
          <p:nvPr/>
        </p:nvSpPr>
        <p:spPr>
          <a:xfrm>
            <a:off x="1514246" y="4895698"/>
            <a:ext cx="1185977"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通报应对</a:t>
            </a:r>
            <a:endParaRPr lang="en-US" sz="1900" dirty="0"/>
          </a:p>
        </p:txBody>
      </p:sp>
      <p:sp>
        <p:nvSpPr>
          <p:cNvPr id="15" name="Text 12"/>
          <p:cNvSpPr txBox="1"/>
          <p:nvPr/>
        </p:nvSpPr>
        <p:spPr>
          <a:xfrm>
            <a:off x="1476756" y="7586777"/>
            <a:ext cx="2177186"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其他安全运营目标</a:t>
            </a:r>
            <a:endParaRPr lang="en-US" sz="1900" dirty="0"/>
          </a:p>
        </p:txBody>
      </p:sp>
      <p:sp>
        <p:nvSpPr>
          <p:cNvPr id="16" name="Text 13"/>
          <p:cNvSpPr txBox="1"/>
          <p:nvPr/>
        </p:nvSpPr>
        <p:spPr>
          <a:xfrm>
            <a:off x="1086485" y="2800985"/>
            <a:ext cx="12097385" cy="88519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医院部分核心系统需要7*24小时对外提供服务，一旦业务中断容易造成医院和患者的投诉。全年核心系统监控防护覆盖率达100%，无因安全问题造成的业务中断事件。</a:t>
            </a:r>
            <a:endParaRPr lang="en-US" sz="1500" dirty="0"/>
          </a:p>
        </p:txBody>
      </p:sp>
      <p:sp>
        <p:nvSpPr>
          <p:cNvPr id="17" name="Text 14"/>
          <p:cNvSpPr txBox="1"/>
          <p:nvPr/>
        </p:nvSpPr>
        <p:spPr>
          <a:xfrm>
            <a:off x="1086307" y="5429707"/>
            <a:ext cx="12173407" cy="581558"/>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有效防范系统遭受勒索病毒加密，避免系统无法运转、患者数据泄露等问题被上级单位通报，保障了医院声誉。全年共处理安全事件94起，闭环率达到100%。</a:t>
            </a:r>
            <a:endParaRPr lang="en-US" sz="1500" dirty="0"/>
          </a:p>
        </p:txBody>
      </p:sp>
      <p:sp>
        <p:nvSpPr>
          <p:cNvPr id="18" name="Text 15"/>
          <p:cNvSpPr txBox="1"/>
          <p:nvPr/>
        </p:nvSpPr>
        <p:spPr>
          <a:xfrm>
            <a:off x="1086485" y="8119745"/>
            <a:ext cx="12201525" cy="93091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成功完成节假日、攻防演习等重要时期的重保任务，共开展6次重要时期安全值守。确保安全事件100%及时有效处置，平均响应时间仅10分钟，大大低于行业平均水平。</a:t>
            </a:r>
            <a:endParaRPr lang="en-US" sz="1500" dirty="0"/>
          </a:p>
        </p:txBody>
      </p:sp>
      <p:pic>
        <p:nvPicPr>
          <p:cNvPr id="19" name="Image 1" descr="preencoded.png"/>
          <p:cNvPicPr>
            <a:picLocks noChangeAspect="1"/>
          </p:cNvPicPr>
          <p:nvPr/>
        </p:nvPicPr>
        <p:blipFill>
          <a:blip r:embed="rId2"/>
          <a:srcRect/>
          <a:stretch>
            <a:fillRect/>
          </a:stretch>
        </p:blipFill>
        <p:spPr>
          <a:xfrm>
            <a:off x="14380769" y="2266798"/>
            <a:ext cx="1714500" cy="1714500"/>
          </a:xfrm>
          <a:prstGeom prst="rect">
            <a:avLst/>
          </a:prstGeom>
        </p:spPr>
      </p:pic>
      <p:sp>
        <p:nvSpPr>
          <p:cNvPr id="20" name="Text 16"/>
          <p:cNvSpPr txBox="1"/>
          <p:nvPr/>
        </p:nvSpPr>
        <p:spPr>
          <a:xfrm>
            <a:off x="15099665" y="3954780"/>
            <a:ext cx="995680" cy="287020"/>
          </a:xfrm>
          <a:prstGeom prst="rect">
            <a:avLst/>
          </a:prstGeom>
          <a:noFill/>
        </p:spPr>
        <p:txBody>
          <a:bodyPr wrap="square" lIns="0" tIns="0" rIns="0" bIns="0" rtlCol="0" anchor="ctr"/>
          <a:lstStyle/>
          <a:p>
            <a:pPr marL="0" indent="0" algn="l">
              <a:buNone/>
            </a:pPr>
            <a:r>
              <a:rPr lang="en-US" sz="2200" b="1" dirty="0">
                <a:solidFill>
                  <a:srgbClr val="0A4275"/>
                </a:solidFill>
                <a:latin typeface="Noto Sans SC" pitchFamily="34" charset="0"/>
                <a:ea typeface="Noto Sans SC" pitchFamily="34" charset="-122"/>
                <a:cs typeface="Noto Sans SC" pitchFamily="34" charset="-120"/>
              </a:rPr>
              <a:t>100%</a:t>
            </a:r>
            <a:endParaRPr lang="en-US" sz="2200" dirty="0"/>
          </a:p>
        </p:txBody>
      </p:sp>
      <p:sp>
        <p:nvSpPr>
          <p:cNvPr id="21" name="Text 17"/>
          <p:cNvSpPr txBox="1"/>
          <p:nvPr/>
        </p:nvSpPr>
        <p:spPr>
          <a:xfrm>
            <a:off x="14103350" y="3949700"/>
            <a:ext cx="996315" cy="281940"/>
          </a:xfrm>
          <a:prstGeom prst="rect">
            <a:avLst/>
          </a:prstGeom>
          <a:noFill/>
        </p:spPr>
        <p:txBody>
          <a:bodyPr wrap="square" lIns="0" tIns="0" rIns="0" bIns="0" rtlCol="0" anchor="ctr"/>
          <a:lstStyle/>
          <a:p>
            <a:pPr marL="0" indent="0" algn="l">
              <a:buNone/>
            </a:pPr>
            <a:r>
              <a:rPr lang="en-US" sz="1400" dirty="0">
                <a:solidFill>
                  <a:srgbClr val="666666"/>
                </a:solidFill>
                <a:latin typeface="Noto Sans SC" pitchFamily="34" charset="0"/>
                <a:ea typeface="Noto Sans SC" pitchFamily="34" charset="-122"/>
                <a:cs typeface="Noto Sans SC" pitchFamily="34" charset="-120"/>
              </a:rPr>
              <a:t>防护覆盖率</a:t>
            </a:r>
            <a:endParaRPr lang="en-US" sz="1400" dirty="0">
              <a:solidFill>
                <a:srgbClr val="666666"/>
              </a:solidFill>
              <a:latin typeface="Noto Sans SC" pitchFamily="34" charset="0"/>
              <a:ea typeface="Noto Sans SC" pitchFamily="34" charset="-122"/>
              <a:cs typeface="Noto Sans SC" pitchFamily="34" charset="-120"/>
            </a:endParaRPr>
          </a:p>
        </p:txBody>
      </p:sp>
      <p:pic>
        <p:nvPicPr>
          <p:cNvPr id="22" name="Image 2" descr="preencoded.png"/>
          <p:cNvPicPr>
            <a:picLocks noChangeAspect="1"/>
          </p:cNvPicPr>
          <p:nvPr/>
        </p:nvPicPr>
        <p:blipFill>
          <a:blip r:embed="rId3"/>
          <a:srcRect/>
          <a:stretch>
            <a:fillRect/>
          </a:stretch>
        </p:blipFill>
        <p:spPr>
          <a:xfrm>
            <a:off x="1086307" y="4938674"/>
            <a:ext cx="286207" cy="286207"/>
          </a:xfrm>
          <a:prstGeom prst="rect">
            <a:avLst/>
          </a:prstGeom>
        </p:spPr>
      </p:pic>
      <p:sp>
        <p:nvSpPr>
          <p:cNvPr id="23" name="Text 18"/>
          <p:cNvSpPr txBox="1"/>
          <p:nvPr/>
        </p:nvSpPr>
        <p:spPr>
          <a:xfrm>
            <a:off x="15211425" y="9274175"/>
            <a:ext cx="843280" cy="287655"/>
          </a:xfrm>
          <a:prstGeom prst="rect">
            <a:avLst/>
          </a:prstGeom>
          <a:noFill/>
        </p:spPr>
        <p:txBody>
          <a:bodyPr wrap="square" lIns="0" tIns="0" rIns="0" bIns="0" rtlCol="0" anchor="ctr"/>
          <a:lstStyle/>
          <a:p>
            <a:pPr marL="0" indent="0" algn="l">
              <a:buNone/>
            </a:pPr>
            <a:r>
              <a:rPr lang="en-US" sz="2200" b="1" dirty="0">
                <a:solidFill>
                  <a:srgbClr val="0A4275"/>
                </a:solidFill>
                <a:latin typeface="Noto Sans SC" pitchFamily="34" charset="0"/>
                <a:ea typeface="Noto Sans SC" pitchFamily="34" charset="-122"/>
                <a:cs typeface="Noto Sans SC" pitchFamily="34" charset="-120"/>
              </a:rPr>
              <a:t>10分</a:t>
            </a:r>
            <a:endParaRPr lang="en-US" sz="2200" dirty="0"/>
          </a:p>
        </p:txBody>
      </p:sp>
      <p:sp>
        <p:nvSpPr>
          <p:cNvPr id="24" name="Text 19"/>
          <p:cNvSpPr txBox="1"/>
          <p:nvPr/>
        </p:nvSpPr>
        <p:spPr>
          <a:xfrm>
            <a:off x="14047470" y="9279890"/>
            <a:ext cx="1183005" cy="281940"/>
          </a:xfrm>
          <a:prstGeom prst="rect">
            <a:avLst/>
          </a:prstGeom>
          <a:noFill/>
        </p:spPr>
        <p:txBody>
          <a:bodyPr wrap="square" lIns="0" tIns="0" rIns="0" bIns="0" rtlCol="0" anchor="ctr"/>
          <a:lstStyle/>
          <a:p>
            <a:pPr marL="0" indent="0" algn="l">
              <a:buNone/>
            </a:pPr>
            <a:r>
              <a:rPr lang="en-US" sz="1400" dirty="0">
                <a:solidFill>
                  <a:srgbClr val="666666"/>
                </a:solidFill>
                <a:latin typeface="Noto Sans SC" pitchFamily="34" charset="0"/>
                <a:ea typeface="Noto Sans SC" pitchFamily="34" charset="-122"/>
                <a:cs typeface="Noto Sans SC" pitchFamily="34" charset="-120"/>
              </a:rPr>
              <a:t>平均响应时间</a:t>
            </a:r>
            <a:endParaRPr lang="en-US" sz="1400" dirty="0">
              <a:solidFill>
                <a:srgbClr val="666666"/>
              </a:solidFill>
              <a:latin typeface="Noto Sans SC" pitchFamily="34" charset="0"/>
              <a:ea typeface="Noto Sans SC" pitchFamily="34" charset="-122"/>
              <a:cs typeface="Noto Sans SC" pitchFamily="34" charset="-120"/>
            </a:endParaRPr>
          </a:p>
        </p:txBody>
      </p:sp>
      <p:sp>
        <p:nvSpPr>
          <p:cNvPr id="25" name="Shape 20"/>
          <p:cNvSpPr/>
          <p:nvPr/>
        </p:nvSpPr>
        <p:spPr>
          <a:xfrm>
            <a:off x="1086307" y="6172200"/>
            <a:ext cx="12135002" cy="209398"/>
          </a:xfrm>
          <a:prstGeom prst="roundRect">
            <a:avLst>
              <a:gd name="adj" fmla="val 198491"/>
            </a:avLst>
          </a:prstGeom>
          <a:solidFill>
            <a:srgbClr val="E9ECEF"/>
          </a:solidFill>
        </p:spPr>
      </p:sp>
      <p:sp>
        <p:nvSpPr>
          <p:cNvPr id="26" name="Shape 21"/>
          <p:cNvSpPr/>
          <p:nvPr/>
        </p:nvSpPr>
        <p:spPr>
          <a:xfrm>
            <a:off x="1086307" y="6172200"/>
            <a:ext cx="12135002" cy="209398"/>
          </a:xfrm>
          <a:prstGeom prst="roundRect">
            <a:avLst>
              <a:gd name="adj" fmla="val 198491"/>
            </a:avLst>
          </a:prstGeom>
          <a:solidFill>
            <a:srgbClr val="0A4275"/>
          </a:solidFill>
        </p:spPr>
      </p:sp>
      <p:sp>
        <p:nvSpPr>
          <p:cNvPr id="27" name="Text 22"/>
          <p:cNvSpPr txBox="1"/>
          <p:nvPr/>
        </p:nvSpPr>
        <p:spPr>
          <a:xfrm>
            <a:off x="6699885" y="6163310"/>
            <a:ext cx="1364615" cy="219710"/>
          </a:xfrm>
          <a:prstGeom prst="rect">
            <a:avLst/>
          </a:prstGeom>
          <a:noFill/>
        </p:spPr>
        <p:txBody>
          <a:bodyPr wrap="square" lIns="0" tIns="0" rIns="0" bIns="0" rtlCol="0" anchor="ctr"/>
          <a:lstStyle/>
          <a:p>
            <a:pPr marL="0" indent="0" algn="ctr">
              <a:buNone/>
            </a:pPr>
            <a:r>
              <a:rPr lang="en-US" sz="1400" b="1" dirty="0">
                <a:solidFill>
                  <a:srgbClr val="FFFFFF"/>
                </a:solidFill>
                <a:latin typeface="Noto Sans SC" pitchFamily="34" charset="0"/>
                <a:ea typeface="Noto Sans SC" pitchFamily="34" charset="-122"/>
                <a:cs typeface="Noto Sans SC" pitchFamily="34" charset="-120"/>
              </a:rPr>
              <a:t>闭环率 100%</a:t>
            </a:r>
            <a:endParaRPr lang="en-US" sz="1400" b="1" dirty="0">
              <a:solidFill>
                <a:srgbClr val="FFFFFF"/>
              </a:solidFill>
              <a:latin typeface="Noto Sans SC" pitchFamily="34" charset="0"/>
              <a:ea typeface="Noto Sans SC" pitchFamily="34" charset="-122"/>
              <a:cs typeface="Noto Sans SC" pitchFamily="34" charset="-120"/>
            </a:endParaRPr>
          </a:p>
        </p:txBody>
      </p:sp>
      <p:sp>
        <p:nvSpPr>
          <p:cNvPr id="28" name="Shape 23"/>
          <p:cNvSpPr/>
          <p:nvPr/>
        </p:nvSpPr>
        <p:spPr>
          <a:xfrm>
            <a:off x="1086307" y="6494069"/>
            <a:ext cx="142646" cy="142646"/>
          </a:xfrm>
          <a:prstGeom prst="ellipse">
            <a:avLst/>
          </a:prstGeom>
          <a:solidFill>
            <a:srgbClr val="0A4275"/>
          </a:solidFill>
        </p:spPr>
      </p:sp>
      <p:sp>
        <p:nvSpPr>
          <p:cNvPr id="29" name="Shape 24"/>
          <p:cNvSpPr/>
          <p:nvPr/>
        </p:nvSpPr>
        <p:spPr>
          <a:xfrm>
            <a:off x="6689750" y="6494069"/>
            <a:ext cx="142646" cy="142646"/>
          </a:xfrm>
          <a:prstGeom prst="ellipse">
            <a:avLst/>
          </a:prstGeom>
          <a:solidFill>
            <a:srgbClr val="0A4275"/>
          </a:solidFill>
        </p:spPr>
      </p:sp>
      <p:sp>
        <p:nvSpPr>
          <p:cNvPr id="30" name="Shape 25"/>
          <p:cNvSpPr/>
          <p:nvPr/>
        </p:nvSpPr>
        <p:spPr>
          <a:xfrm>
            <a:off x="12293194" y="6494069"/>
            <a:ext cx="142646" cy="142646"/>
          </a:xfrm>
          <a:prstGeom prst="ellipse">
            <a:avLst/>
          </a:prstGeom>
          <a:solidFill>
            <a:srgbClr val="0A4275"/>
          </a:solidFill>
        </p:spPr>
      </p:sp>
      <p:sp>
        <p:nvSpPr>
          <p:cNvPr id="31" name="Text 26"/>
          <p:cNvSpPr txBox="1"/>
          <p:nvPr/>
        </p:nvSpPr>
        <p:spPr>
          <a:xfrm>
            <a:off x="1285646" y="6458407"/>
            <a:ext cx="917143" cy="200254"/>
          </a:xfrm>
          <a:prstGeom prst="rect">
            <a:avLst/>
          </a:prstGeom>
          <a:noFill/>
        </p:spPr>
        <p:txBody>
          <a:bodyPr wrap="square" lIns="0" tIns="0" rIns="0" bIns="0" rtlCol="0" anchor="ctr"/>
          <a:lstStyle/>
          <a:p>
            <a:pPr marL="0" indent="0" algn="l">
              <a:buNone/>
            </a:pPr>
            <a:r>
              <a:rPr lang="en-US" sz="1200" dirty="0">
                <a:solidFill>
                  <a:srgbClr val="555555"/>
                </a:solidFill>
                <a:latin typeface="Noto Sans SC" pitchFamily="34" charset="0"/>
                <a:ea typeface="Noto Sans SC" pitchFamily="34" charset="-122"/>
                <a:cs typeface="Noto Sans SC" pitchFamily="34" charset="-120"/>
              </a:rPr>
              <a:t>总事件: 94起</a:t>
            </a:r>
            <a:endParaRPr lang="en-US" sz="1200" dirty="0">
              <a:solidFill>
                <a:srgbClr val="555555"/>
              </a:solidFill>
              <a:latin typeface="Noto Sans SC" pitchFamily="34" charset="0"/>
              <a:ea typeface="Noto Sans SC" pitchFamily="34" charset="-122"/>
              <a:cs typeface="Noto Sans SC" pitchFamily="34" charset="-120"/>
            </a:endParaRPr>
          </a:p>
        </p:txBody>
      </p:sp>
      <p:sp>
        <p:nvSpPr>
          <p:cNvPr id="32" name="Text 27"/>
          <p:cNvSpPr txBox="1"/>
          <p:nvPr/>
        </p:nvSpPr>
        <p:spPr>
          <a:xfrm>
            <a:off x="6890004" y="6458407"/>
            <a:ext cx="917143" cy="200254"/>
          </a:xfrm>
          <a:prstGeom prst="rect">
            <a:avLst/>
          </a:prstGeom>
          <a:noFill/>
        </p:spPr>
        <p:txBody>
          <a:bodyPr wrap="square" lIns="0" tIns="0" rIns="0" bIns="0" rtlCol="0" anchor="ctr"/>
          <a:lstStyle/>
          <a:p>
            <a:pPr marL="0" indent="0" algn="l">
              <a:buNone/>
            </a:pPr>
            <a:r>
              <a:rPr lang="en-US" sz="1200" dirty="0">
                <a:solidFill>
                  <a:srgbClr val="555555"/>
                </a:solidFill>
                <a:latin typeface="Noto Sans SC" pitchFamily="34" charset="0"/>
                <a:ea typeface="Noto Sans SC" pitchFamily="34" charset="-122"/>
                <a:cs typeface="Noto Sans SC" pitchFamily="34" charset="-120"/>
              </a:rPr>
              <a:t>已闭环: 94起</a:t>
            </a:r>
            <a:endParaRPr lang="en-US" sz="1200" dirty="0">
              <a:solidFill>
                <a:srgbClr val="555555"/>
              </a:solidFill>
              <a:latin typeface="Noto Sans SC" pitchFamily="34" charset="0"/>
              <a:ea typeface="Noto Sans SC" pitchFamily="34" charset="-122"/>
              <a:cs typeface="Noto Sans SC" pitchFamily="34" charset="-120"/>
            </a:endParaRPr>
          </a:p>
        </p:txBody>
      </p:sp>
      <p:sp>
        <p:nvSpPr>
          <p:cNvPr id="33" name="Text 28"/>
          <p:cNvSpPr txBox="1"/>
          <p:nvPr/>
        </p:nvSpPr>
        <p:spPr>
          <a:xfrm>
            <a:off x="12493447" y="6458407"/>
            <a:ext cx="831190" cy="200254"/>
          </a:xfrm>
          <a:prstGeom prst="rect">
            <a:avLst/>
          </a:prstGeom>
          <a:noFill/>
        </p:spPr>
        <p:txBody>
          <a:bodyPr wrap="square" lIns="0" tIns="0" rIns="0" bIns="0" rtlCol="0" anchor="ctr"/>
          <a:lstStyle/>
          <a:p>
            <a:pPr marL="0" indent="0" algn="l">
              <a:buNone/>
            </a:pPr>
            <a:r>
              <a:rPr lang="en-US" sz="1200" dirty="0">
                <a:solidFill>
                  <a:srgbClr val="555555"/>
                </a:solidFill>
                <a:latin typeface="Noto Sans SC" pitchFamily="34" charset="0"/>
                <a:ea typeface="Noto Sans SC" pitchFamily="34" charset="-122"/>
                <a:cs typeface="Noto Sans SC" pitchFamily="34" charset="-120"/>
              </a:rPr>
              <a:t>未闭环: 0起</a:t>
            </a:r>
            <a:endParaRPr lang="en-US" sz="1200" dirty="0">
              <a:solidFill>
                <a:srgbClr val="555555"/>
              </a:solidFill>
              <a:latin typeface="Noto Sans SC" pitchFamily="34" charset="0"/>
              <a:ea typeface="Noto Sans SC" pitchFamily="34" charset="-122"/>
              <a:cs typeface="Noto Sans SC" pitchFamily="34" charset="-120"/>
            </a:endParaRPr>
          </a:p>
        </p:txBody>
      </p:sp>
      <p:pic>
        <p:nvPicPr>
          <p:cNvPr id="35" name="Image 4" descr="preencoded.png"/>
          <p:cNvPicPr>
            <a:picLocks noChangeAspect="1"/>
          </p:cNvPicPr>
          <p:nvPr/>
        </p:nvPicPr>
        <p:blipFill>
          <a:blip r:embed="rId4"/>
          <a:srcRect t="-530" b="-530"/>
          <a:stretch>
            <a:fillRect/>
          </a:stretch>
        </p:blipFill>
        <p:spPr>
          <a:xfrm>
            <a:off x="1086307" y="7629754"/>
            <a:ext cx="247802" cy="286207"/>
          </a:xfrm>
          <a:prstGeom prst="rect">
            <a:avLst/>
          </a:prstGeom>
        </p:spPr>
      </p:pic>
      <p:sp>
        <p:nvSpPr>
          <p:cNvPr id="37" name="Text 29"/>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3</a:t>
            </a:r>
            <a:endParaRPr lang="en-US" sz="1000" dirty="0"/>
          </a:p>
        </p:txBody>
      </p:sp>
      <p:pic>
        <p:nvPicPr>
          <p:cNvPr id="38" name="图片 37"/>
          <p:cNvPicPr>
            <a:picLocks noChangeAspect="1"/>
          </p:cNvPicPr>
          <p:nvPr>
            <p:custDataLst>
              <p:tags r:id="rId5"/>
            </p:custDataLst>
          </p:nvPr>
        </p:nvPicPr>
        <p:blipFill>
          <a:blip r:embed="rId6"/>
          <a:stretch>
            <a:fillRect/>
          </a:stretch>
        </p:blipFill>
        <p:spPr>
          <a:xfrm>
            <a:off x="14103350" y="2100580"/>
            <a:ext cx="1714500" cy="1714500"/>
          </a:xfrm>
          <a:prstGeom prst="rect">
            <a:avLst/>
          </a:prstGeom>
        </p:spPr>
      </p:pic>
      <p:pic>
        <p:nvPicPr>
          <p:cNvPr id="39" name="图片 38"/>
          <p:cNvPicPr>
            <a:picLocks noChangeAspect="1"/>
          </p:cNvPicPr>
          <p:nvPr>
            <p:custDataLst>
              <p:tags r:id="rId7"/>
            </p:custDataLst>
          </p:nvPr>
        </p:nvPicPr>
        <p:blipFill>
          <a:blip r:embed="rId8"/>
          <a:stretch>
            <a:fillRect/>
          </a:stretch>
        </p:blipFill>
        <p:spPr>
          <a:xfrm>
            <a:off x="13946505" y="4828540"/>
            <a:ext cx="2006600" cy="2006600"/>
          </a:xfrm>
          <a:prstGeom prst="rect">
            <a:avLst/>
          </a:prstGeom>
        </p:spPr>
      </p:pic>
      <p:pic>
        <p:nvPicPr>
          <p:cNvPr id="40" name="图片 39"/>
          <p:cNvPicPr>
            <a:picLocks noChangeAspect="1"/>
          </p:cNvPicPr>
          <p:nvPr>
            <p:custDataLst>
              <p:tags r:id="rId9"/>
            </p:custDataLst>
          </p:nvPr>
        </p:nvPicPr>
        <p:blipFill>
          <a:blip r:embed="rId10"/>
          <a:stretch>
            <a:fillRect/>
          </a:stretch>
        </p:blipFill>
        <p:spPr>
          <a:xfrm>
            <a:off x="14103350" y="7347585"/>
            <a:ext cx="1714500" cy="1714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599846"/>
            <a:ext cx="4010558"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安全运营工作总览</a:t>
            </a:r>
            <a:endParaRPr lang="en-US" sz="3600" dirty="0"/>
          </a:p>
        </p:txBody>
      </p:sp>
      <p:sp>
        <p:nvSpPr>
          <p:cNvPr id="5" name="Shape 3"/>
          <p:cNvSpPr/>
          <p:nvPr/>
        </p:nvSpPr>
        <p:spPr>
          <a:xfrm>
            <a:off x="761695" y="1429207"/>
            <a:ext cx="914400" cy="38405"/>
          </a:xfrm>
          <a:prstGeom prst="rect">
            <a:avLst/>
          </a:prstGeom>
          <a:solidFill>
            <a:srgbClr val="0A4275"/>
          </a:solidFill>
        </p:spPr>
      </p:sp>
      <p:sp>
        <p:nvSpPr>
          <p:cNvPr id="6" name="Shape 4"/>
          <p:cNvSpPr/>
          <p:nvPr/>
        </p:nvSpPr>
        <p:spPr>
          <a:xfrm>
            <a:off x="1166774" y="1772107"/>
            <a:ext cx="523951" cy="523951"/>
          </a:xfrm>
          <a:prstGeom prst="ellipse">
            <a:avLst/>
          </a:prstGeom>
          <a:solidFill>
            <a:srgbClr val="0A4275"/>
          </a:solidFill>
        </p:spPr>
      </p:sp>
      <p:pic>
        <p:nvPicPr>
          <p:cNvPr id="7" name="Image 0" descr="preencoded.png"/>
          <p:cNvPicPr>
            <a:picLocks noChangeAspect="1"/>
          </p:cNvPicPr>
          <p:nvPr/>
        </p:nvPicPr>
        <p:blipFill>
          <a:blip r:embed="rId1"/>
          <a:srcRect/>
          <a:stretch>
            <a:fillRect/>
          </a:stretch>
        </p:blipFill>
        <p:spPr>
          <a:xfrm>
            <a:off x="1324051" y="1928470"/>
            <a:ext cx="209398" cy="209398"/>
          </a:xfrm>
          <a:prstGeom prst="rect">
            <a:avLst/>
          </a:prstGeom>
        </p:spPr>
      </p:pic>
      <p:sp>
        <p:nvSpPr>
          <p:cNvPr id="8" name="Shape 5"/>
          <p:cNvSpPr/>
          <p:nvPr/>
        </p:nvSpPr>
        <p:spPr>
          <a:xfrm>
            <a:off x="5024628" y="1772107"/>
            <a:ext cx="523951" cy="523951"/>
          </a:xfrm>
          <a:prstGeom prst="ellipse">
            <a:avLst/>
          </a:prstGeom>
          <a:solidFill>
            <a:srgbClr val="0A4275"/>
          </a:solidFill>
        </p:spPr>
      </p:sp>
      <p:sp>
        <p:nvSpPr>
          <p:cNvPr id="9" name="Shape 6"/>
          <p:cNvSpPr/>
          <p:nvPr/>
        </p:nvSpPr>
        <p:spPr>
          <a:xfrm>
            <a:off x="12739421" y="1772107"/>
            <a:ext cx="523951" cy="523951"/>
          </a:xfrm>
          <a:prstGeom prst="ellipse">
            <a:avLst/>
          </a:prstGeom>
          <a:solidFill>
            <a:srgbClr val="0A4275"/>
          </a:solidFill>
        </p:spPr>
      </p:sp>
      <p:sp>
        <p:nvSpPr>
          <p:cNvPr id="10" name="Text 7"/>
          <p:cNvSpPr txBox="1"/>
          <p:nvPr/>
        </p:nvSpPr>
        <p:spPr>
          <a:xfrm>
            <a:off x="895198" y="2352751"/>
            <a:ext cx="1191463" cy="228600"/>
          </a:xfrm>
          <a:prstGeom prst="rect">
            <a:avLst/>
          </a:prstGeom>
          <a:noFill/>
        </p:spPr>
        <p:txBody>
          <a:bodyPr wrap="square" lIns="0" tIns="0" rIns="0" bIns="0" rtlCol="0" anchor="ctr"/>
          <a:lstStyle/>
          <a:p>
            <a:pPr marL="0" indent="0" algn="ctr">
              <a:buNone/>
            </a:pPr>
            <a:r>
              <a:rPr lang="en-US" sz="1200" dirty="0">
                <a:solidFill>
                  <a:srgbClr val="0A4275"/>
                </a:solidFill>
                <a:latin typeface="Noto Sans SC" pitchFamily="34" charset="0"/>
                <a:ea typeface="Noto Sans SC" pitchFamily="34" charset="-122"/>
                <a:cs typeface="Noto Sans SC" pitchFamily="34" charset="-120"/>
              </a:rPr>
              <a:t>资产识别与监控</a:t>
            </a:r>
            <a:endParaRPr lang="en-US" sz="1200" dirty="0"/>
          </a:p>
        </p:txBody>
      </p:sp>
      <p:pic>
        <p:nvPicPr>
          <p:cNvPr id="11" name="Image 1" descr="preencoded.png"/>
          <p:cNvPicPr>
            <a:picLocks noChangeAspect="1"/>
          </p:cNvPicPr>
          <p:nvPr/>
        </p:nvPicPr>
        <p:blipFill>
          <a:blip r:embed="rId2"/>
          <a:srcRect/>
          <a:stretch>
            <a:fillRect/>
          </a:stretch>
        </p:blipFill>
        <p:spPr>
          <a:xfrm>
            <a:off x="5181905" y="1928470"/>
            <a:ext cx="209398" cy="209398"/>
          </a:xfrm>
          <a:prstGeom prst="rect">
            <a:avLst/>
          </a:prstGeom>
        </p:spPr>
      </p:pic>
      <p:sp>
        <p:nvSpPr>
          <p:cNvPr id="12" name="Shape 8"/>
          <p:cNvSpPr/>
          <p:nvPr/>
        </p:nvSpPr>
        <p:spPr>
          <a:xfrm>
            <a:off x="8882482" y="1772107"/>
            <a:ext cx="523951" cy="523951"/>
          </a:xfrm>
          <a:prstGeom prst="ellipse">
            <a:avLst/>
          </a:prstGeom>
          <a:solidFill>
            <a:srgbClr val="0A4275"/>
          </a:solidFill>
        </p:spPr>
      </p:sp>
      <p:sp>
        <p:nvSpPr>
          <p:cNvPr id="13" name="Shape 9"/>
          <p:cNvSpPr/>
          <p:nvPr/>
        </p:nvSpPr>
        <p:spPr>
          <a:xfrm>
            <a:off x="16597274" y="1772107"/>
            <a:ext cx="523951" cy="523951"/>
          </a:xfrm>
          <a:prstGeom prst="ellipse">
            <a:avLst/>
          </a:prstGeom>
          <a:solidFill>
            <a:srgbClr val="0A4275"/>
          </a:solidFill>
        </p:spPr>
      </p:sp>
      <p:sp>
        <p:nvSpPr>
          <p:cNvPr id="14" name="Text 10"/>
          <p:cNvSpPr txBox="1"/>
          <p:nvPr/>
        </p:nvSpPr>
        <p:spPr>
          <a:xfrm>
            <a:off x="4981651" y="2352751"/>
            <a:ext cx="734263" cy="228600"/>
          </a:xfrm>
          <a:prstGeom prst="rect">
            <a:avLst/>
          </a:prstGeom>
          <a:noFill/>
        </p:spPr>
        <p:txBody>
          <a:bodyPr wrap="square" lIns="0" tIns="0" rIns="0" bIns="0" rtlCol="0" anchor="ctr"/>
          <a:lstStyle/>
          <a:p>
            <a:pPr marL="0" indent="0" algn="ctr">
              <a:buNone/>
            </a:pPr>
            <a:r>
              <a:rPr lang="en-US" sz="1200" dirty="0">
                <a:solidFill>
                  <a:srgbClr val="0A4275"/>
                </a:solidFill>
                <a:latin typeface="Noto Sans SC" pitchFamily="34" charset="0"/>
                <a:ea typeface="Noto Sans SC" pitchFamily="34" charset="-122"/>
                <a:cs typeface="Noto Sans SC" pitchFamily="34" charset="-120"/>
              </a:rPr>
              <a:t>漏洞发现</a:t>
            </a:r>
            <a:endParaRPr lang="en-US" sz="1200" dirty="0"/>
          </a:p>
        </p:txBody>
      </p:sp>
      <p:pic>
        <p:nvPicPr>
          <p:cNvPr id="15" name="Image 2" descr="preencoded.png"/>
          <p:cNvPicPr>
            <a:picLocks noChangeAspect="1"/>
          </p:cNvPicPr>
          <p:nvPr/>
        </p:nvPicPr>
        <p:blipFill>
          <a:blip r:embed="rId3"/>
          <a:srcRect/>
          <a:stretch>
            <a:fillRect/>
          </a:stretch>
        </p:blipFill>
        <p:spPr>
          <a:xfrm>
            <a:off x="9038844" y="1928470"/>
            <a:ext cx="209398" cy="209398"/>
          </a:xfrm>
          <a:prstGeom prst="rect">
            <a:avLst/>
          </a:prstGeom>
        </p:spPr>
      </p:pic>
      <p:sp>
        <p:nvSpPr>
          <p:cNvPr id="16" name="Text 11"/>
          <p:cNvSpPr txBox="1"/>
          <p:nvPr/>
        </p:nvSpPr>
        <p:spPr>
          <a:xfrm>
            <a:off x="8839505" y="2352751"/>
            <a:ext cx="734263" cy="228600"/>
          </a:xfrm>
          <a:prstGeom prst="rect">
            <a:avLst/>
          </a:prstGeom>
          <a:noFill/>
        </p:spPr>
        <p:txBody>
          <a:bodyPr wrap="square" lIns="0" tIns="0" rIns="0" bIns="0" rtlCol="0" anchor="ctr"/>
          <a:lstStyle/>
          <a:p>
            <a:pPr marL="0" indent="0" algn="ctr">
              <a:buNone/>
            </a:pPr>
            <a:r>
              <a:rPr lang="en-US" sz="1200" dirty="0">
                <a:solidFill>
                  <a:srgbClr val="0A4275"/>
                </a:solidFill>
                <a:latin typeface="Noto Sans SC" pitchFamily="34" charset="0"/>
                <a:ea typeface="Noto Sans SC" pitchFamily="34" charset="-122"/>
                <a:cs typeface="Noto Sans SC" pitchFamily="34" charset="-120"/>
              </a:rPr>
              <a:t>威胁防护</a:t>
            </a:r>
            <a:endParaRPr lang="en-US" sz="1200" dirty="0"/>
          </a:p>
        </p:txBody>
      </p:sp>
      <p:pic>
        <p:nvPicPr>
          <p:cNvPr id="17" name="Image 3" descr="preencoded.png"/>
          <p:cNvPicPr>
            <a:picLocks noChangeAspect="1"/>
          </p:cNvPicPr>
          <p:nvPr/>
        </p:nvPicPr>
        <p:blipFill>
          <a:blip r:embed="rId4"/>
          <a:srcRect t="-600" b="-600"/>
          <a:stretch>
            <a:fillRect/>
          </a:stretch>
        </p:blipFill>
        <p:spPr>
          <a:xfrm>
            <a:off x="12911328" y="1928470"/>
            <a:ext cx="181051" cy="209398"/>
          </a:xfrm>
          <a:prstGeom prst="rect">
            <a:avLst/>
          </a:prstGeom>
        </p:spPr>
      </p:pic>
      <p:sp>
        <p:nvSpPr>
          <p:cNvPr id="18" name="Text 12"/>
          <p:cNvSpPr txBox="1"/>
          <p:nvPr/>
        </p:nvSpPr>
        <p:spPr>
          <a:xfrm>
            <a:off x="12696444" y="2352751"/>
            <a:ext cx="734263" cy="228600"/>
          </a:xfrm>
          <a:prstGeom prst="rect">
            <a:avLst/>
          </a:prstGeom>
          <a:noFill/>
        </p:spPr>
        <p:txBody>
          <a:bodyPr wrap="square" lIns="0" tIns="0" rIns="0" bIns="0" rtlCol="0" anchor="ctr"/>
          <a:lstStyle/>
          <a:p>
            <a:pPr marL="0" indent="0" algn="ctr">
              <a:buNone/>
            </a:pPr>
            <a:r>
              <a:rPr lang="en-US" sz="1200" dirty="0">
                <a:solidFill>
                  <a:srgbClr val="0A4275"/>
                </a:solidFill>
                <a:latin typeface="Noto Sans SC" pitchFamily="34" charset="0"/>
                <a:ea typeface="Noto Sans SC" pitchFamily="34" charset="-122"/>
                <a:cs typeface="Noto Sans SC" pitchFamily="34" charset="-120"/>
              </a:rPr>
              <a:t>告警响应</a:t>
            </a:r>
            <a:endParaRPr lang="en-US" sz="1200" dirty="0"/>
          </a:p>
        </p:txBody>
      </p:sp>
      <p:pic>
        <p:nvPicPr>
          <p:cNvPr id="19" name="Image 4" descr="preencoded.png"/>
          <p:cNvPicPr>
            <a:picLocks noChangeAspect="1"/>
          </p:cNvPicPr>
          <p:nvPr/>
        </p:nvPicPr>
        <p:blipFill>
          <a:blip r:embed="rId5"/>
          <a:srcRect/>
          <a:stretch>
            <a:fillRect/>
          </a:stretch>
        </p:blipFill>
        <p:spPr>
          <a:xfrm>
            <a:off x="16754551" y="1928470"/>
            <a:ext cx="209398" cy="209398"/>
          </a:xfrm>
          <a:prstGeom prst="rect">
            <a:avLst/>
          </a:prstGeom>
        </p:spPr>
      </p:pic>
      <p:sp>
        <p:nvSpPr>
          <p:cNvPr id="20" name="Text 13"/>
          <p:cNvSpPr txBox="1"/>
          <p:nvPr/>
        </p:nvSpPr>
        <p:spPr>
          <a:xfrm>
            <a:off x="16554298" y="2352751"/>
            <a:ext cx="734263" cy="228600"/>
          </a:xfrm>
          <a:prstGeom prst="rect">
            <a:avLst/>
          </a:prstGeom>
          <a:noFill/>
        </p:spPr>
        <p:txBody>
          <a:bodyPr wrap="square" lIns="0" tIns="0" rIns="0" bIns="0" rtlCol="0" anchor="ctr"/>
          <a:lstStyle/>
          <a:p>
            <a:pPr marL="0" indent="0" algn="ctr">
              <a:buNone/>
            </a:pPr>
            <a:r>
              <a:rPr lang="en-US" sz="1200" dirty="0">
                <a:solidFill>
                  <a:srgbClr val="0A4275"/>
                </a:solidFill>
                <a:latin typeface="Noto Sans SC" pitchFamily="34" charset="0"/>
                <a:ea typeface="Noto Sans SC" pitchFamily="34" charset="-122"/>
                <a:cs typeface="Noto Sans SC" pitchFamily="34" charset="-120"/>
              </a:rPr>
              <a:t>处置闭环</a:t>
            </a:r>
            <a:endParaRPr lang="en-US" sz="1200" dirty="0"/>
          </a:p>
        </p:txBody>
      </p:sp>
      <p:sp>
        <p:nvSpPr>
          <p:cNvPr id="21" name="Shape 14"/>
          <p:cNvSpPr/>
          <p:nvPr/>
        </p:nvSpPr>
        <p:spPr>
          <a:xfrm>
            <a:off x="761695" y="2771546"/>
            <a:ext cx="16763695" cy="2219249"/>
          </a:xfrm>
          <a:prstGeom prst="roundRect">
            <a:avLst>
              <a:gd name="adj" fmla="val 2829"/>
            </a:avLst>
          </a:prstGeom>
          <a:solidFill>
            <a:srgbClr val="0A4275">
              <a:alpha val="6000"/>
            </a:srgbClr>
          </a:solidFill>
        </p:spPr>
      </p:sp>
      <p:sp>
        <p:nvSpPr>
          <p:cNvPr id="22" name="Shape 15"/>
          <p:cNvSpPr/>
          <p:nvPr/>
        </p:nvSpPr>
        <p:spPr>
          <a:xfrm>
            <a:off x="761695" y="2771546"/>
            <a:ext cx="57607" cy="2219249"/>
          </a:xfrm>
          <a:prstGeom prst="rect">
            <a:avLst/>
          </a:prstGeom>
          <a:solidFill>
            <a:srgbClr val="0A4275"/>
          </a:solidFill>
        </p:spPr>
      </p:sp>
      <p:pic>
        <p:nvPicPr>
          <p:cNvPr id="23" name="Image 5" descr="preencoded.png"/>
          <p:cNvPicPr>
            <a:picLocks noChangeAspect="1"/>
          </p:cNvPicPr>
          <p:nvPr/>
        </p:nvPicPr>
        <p:blipFill>
          <a:blip r:embed="rId6"/>
          <a:srcRect/>
          <a:stretch>
            <a:fillRect/>
          </a:stretch>
        </p:blipFill>
        <p:spPr>
          <a:xfrm>
            <a:off x="1028700" y="3023921"/>
            <a:ext cx="286207" cy="286207"/>
          </a:xfrm>
          <a:prstGeom prst="rect">
            <a:avLst/>
          </a:prstGeom>
        </p:spPr>
      </p:pic>
      <p:sp>
        <p:nvSpPr>
          <p:cNvPr id="24" name="Text 16"/>
          <p:cNvSpPr txBox="1"/>
          <p:nvPr/>
        </p:nvSpPr>
        <p:spPr>
          <a:xfrm>
            <a:off x="1457554" y="2980944"/>
            <a:ext cx="2177186"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一、安全风险预防</a:t>
            </a:r>
            <a:endParaRPr lang="en-US" sz="1900" dirty="0"/>
          </a:p>
        </p:txBody>
      </p:sp>
      <p:pic>
        <p:nvPicPr>
          <p:cNvPr id="25" name="Image 6" descr="preencoded.png"/>
          <p:cNvPicPr>
            <a:picLocks noChangeAspect="1"/>
          </p:cNvPicPr>
          <p:nvPr/>
        </p:nvPicPr>
        <p:blipFill>
          <a:blip r:embed="rId7"/>
          <a:srcRect/>
          <a:stretch>
            <a:fillRect/>
          </a:stretch>
        </p:blipFill>
        <p:spPr>
          <a:xfrm>
            <a:off x="1028700" y="3524098"/>
            <a:ext cx="190195" cy="190195"/>
          </a:xfrm>
          <a:prstGeom prst="rect">
            <a:avLst/>
          </a:prstGeom>
        </p:spPr>
      </p:pic>
      <p:sp>
        <p:nvSpPr>
          <p:cNvPr id="26" name="Text 17"/>
          <p:cNvSpPr txBox="1"/>
          <p:nvPr/>
        </p:nvSpPr>
        <p:spPr>
          <a:xfrm>
            <a:off x="1314907" y="3486607"/>
            <a:ext cx="1286561" cy="277063"/>
          </a:xfrm>
          <a:prstGeom prst="rect">
            <a:avLst/>
          </a:prstGeom>
          <a:noFill/>
        </p:spPr>
        <p:txBody>
          <a:bodyPr wrap="square" lIns="0" tIns="0" rIns="0" bIns="0" rtlCol="0" anchor="ctr"/>
          <a:lstStyle/>
          <a:p>
            <a:pPr marL="0" indent="0" algn="l">
              <a:buNone/>
            </a:pPr>
            <a:r>
              <a:rPr lang="en-US" sz="1500" b="1" dirty="0">
                <a:solidFill>
                  <a:srgbClr val="333333"/>
                </a:solidFill>
                <a:latin typeface="Noto Sans SC" pitchFamily="34" charset="0"/>
                <a:ea typeface="Noto Sans SC" pitchFamily="34" charset="-122"/>
                <a:cs typeface="Noto Sans SC" pitchFamily="34" charset="-120"/>
              </a:rPr>
              <a:t>脆弱性管理：</a:t>
            </a:r>
            <a:endParaRPr lang="en-US" sz="1500" dirty="0"/>
          </a:p>
        </p:txBody>
      </p:sp>
      <p:sp>
        <p:nvSpPr>
          <p:cNvPr id="27" name="Text 18"/>
          <p:cNvSpPr txBox="1"/>
          <p:nvPr/>
        </p:nvSpPr>
        <p:spPr>
          <a:xfrm>
            <a:off x="2457907" y="3486607"/>
            <a:ext cx="8001000" cy="277063"/>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全年对服务内资产进行3次全面漏洞扫描，发现并管理453个漏洞，主动闭环高危可利用漏洞。</a:t>
            </a:r>
            <a:endParaRPr lang="en-US" sz="1500" dirty="0"/>
          </a:p>
        </p:txBody>
      </p:sp>
      <p:pic>
        <p:nvPicPr>
          <p:cNvPr id="28" name="Image 7" descr="preencoded.png"/>
          <p:cNvPicPr>
            <a:picLocks noChangeAspect="1"/>
          </p:cNvPicPr>
          <p:nvPr/>
        </p:nvPicPr>
        <p:blipFill>
          <a:blip r:embed="rId8"/>
          <a:srcRect l="-1282" r="-1282"/>
          <a:stretch>
            <a:fillRect/>
          </a:stretch>
        </p:blipFill>
        <p:spPr>
          <a:xfrm>
            <a:off x="1028700" y="3886200"/>
            <a:ext cx="219456" cy="190195"/>
          </a:xfrm>
          <a:prstGeom prst="rect">
            <a:avLst/>
          </a:prstGeom>
        </p:spPr>
      </p:pic>
      <p:sp>
        <p:nvSpPr>
          <p:cNvPr id="29" name="Shape 19"/>
          <p:cNvSpPr/>
          <p:nvPr/>
        </p:nvSpPr>
        <p:spPr>
          <a:xfrm>
            <a:off x="761695" y="5181905"/>
            <a:ext cx="16763695" cy="2219249"/>
          </a:xfrm>
          <a:prstGeom prst="roundRect">
            <a:avLst>
              <a:gd name="adj" fmla="val 2829"/>
            </a:avLst>
          </a:prstGeom>
          <a:solidFill>
            <a:srgbClr val="0A4275">
              <a:alpha val="6000"/>
            </a:srgbClr>
          </a:solidFill>
        </p:spPr>
      </p:sp>
      <p:sp>
        <p:nvSpPr>
          <p:cNvPr id="30" name="Shape 20"/>
          <p:cNvSpPr/>
          <p:nvPr/>
        </p:nvSpPr>
        <p:spPr>
          <a:xfrm>
            <a:off x="761695" y="5181905"/>
            <a:ext cx="57607" cy="2219249"/>
          </a:xfrm>
          <a:prstGeom prst="rect">
            <a:avLst/>
          </a:prstGeom>
          <a:solidFill>
            <a:srgbClr val="0A4275"/>
          </a:solidFill>
        </p:spPr>
      </p:sp>
      <p:sp>
        <p:nvSpPr>
          <p:cNvPr id="31" name="Shape 21"/>
          <p:cNvSpPr/>
          <p:nvPr/>
        </p:nvSpPr>
        <p:spPr>
          <a:xfrm>
            <a:off x="761695" y="7591349"/>
            <a:ext cx="16763695" cy="2219249"/>
          </a:xfrm>
          <a:prstGeom prst="roundRect">
            <a:avLst>
              <a:gd name="adj" fmla="val 2829"/>
            </a:avLst>
          </a:prstGeom>
          <a:solidFill>
            <a:srgbClr val="0A4275">
              <a:alpha val="6000"/>
            </a:srgbClr>
          </a:solidFill>
        </p:spPr>
      </p:sp>
      <p:sp>
        <p:nvSpPr>
          <p:cNvPr id="32" name="Shape 22"/>
          <p:cNvSpPr/>
          <p:nvPr/>
        </p:nvSpPr>
        <p:spPr>
          <a:xfrm>
            <a:off x="761695" y="7591349"/>
            <a:ext cx="57607" cy="2219249"/>
          </a:xfrm>
          <a:prstGeom prst="rect">
            <a:avLst/>
          </a:prstGeom>
          <a:solidFill>
            <a:srgbClr val="0A4275"/>
          </a:solidFill>
        </p:spPr>
      </p:sp>
      <p:sp>
        <p:nvSpPr>
          <p:cNvPr id="33" name="Text 23"/>
          <p:cNvSpPr txBox="1"/>
          <p:nvPr/>
        </p:nvSpPr>
        <p:spPr>
          <a:xfrm>
            <a:off x="1457554" y="5391302"/>
            <a:ext cx="2729484"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二、7*24小时监测响应</a:t>
            </a:r>
            <a:endParaRPr lang="en-US" sz="1900" dirty="0"/>
          </a:p>
        </p:txBody>
      </p:sp>
      <p:sp>
        <p:nvSpPr>
          <p:cNvPr id="34" name="Text 24"/>
          <p:cNvSpPr txBox="1"/>
          <p:nvPr/>
        </p:nvSpPr>
        <p:spPr>
          <a:xfrm>
            <a:off x="1457554" y="7800746"/>
            <a:ext cx="2177186"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三、安全问题闭环</a:t>
            </a:r>
            <a:endParaRPr lang="en-US" sz="1900" dirty="0"/>
          </a:p>
        </p:txBody>
      </p:sp>
      <p:sp>
        <p:nvSpPr>
          <p:cNvPr id="35" name="Text 25"/>
          <p:cNvSpPr txBox="1"/>
          <p:nvPr/>
        </p:nvSpPr>
        <p:spPr>
          <a:xfrm>
            <a:off x="1343254" y="3847795"/>
            <a:ext cx="1095451" cy="277063"/>
          </a:xfrm>
          <a:prstGeom prst="rect">
            <a:avLst/>
          </a:prstGeom>
          <a:noFill/>
        </p:spPr>
        <p:txBody>
          <a:bodyPr wrap="square" lIns="0" tIns="0" rIns="0" bIns="0" rtlCol="0" anchor="ctr"/>
          <a:lstStyle/>
          <a:p>
            <a:pPr marL="0" indent="0" algn="l">
              <a:buNone/>
            </a:pPr>
            <a:r>
              <a:rPr lang="en-US" sz="1500" b="1" dirty="0">
                <a:solidFill>
                  <a:srgbClr val="333333"/>
                </a:solidFill>
                <a:latin typeface="Noto Sans SC" pitchFamily="34" charset="0"/>
                <a:ea typeface="Noto Sans SC" pitchFamily="34" charset="-122"/>
                <a:cs typeface="Noto Sans SC" pitchFamily="34" charset="-120"/>
              </a:rPr>
              <a:t>威胁情报：</a:t>
            </a:r>
            <a:endParaRPr lang="en-US" sz="1500" dirty="0"/>
          </a:p>
        </p:txBody>
      </p:sp>
      <p:sp>
        <p:nvSpPr>
          <p:cNvPr id="36" name="Text 26"/>
          <p:cNvSpPr txBox="1"/>
          <p:nvPr/>
        </p:nvSpPr>
        <p:spPr>
          <a:xfrm>
            <a:off x="1314907" y="5896051"/>
            <a:ext cx="1666951" cy="277063"/>
          </a:xfrm>
          <a:prstGeom prst="rect">
            <a:avLst/>
          </a:prstGeom>
          <a:noFill/>
        </p:spPr>
        <p:txBody>
          <a:bodyPr wrap="square" lIns="0" tIns="0" rIns="0" bIns="0" rtlCol="0" anchor="ctr"/>
          <a:lstStyle/>
          <a:p>
            <a:pPr marL="0" indent="0" algn="l">
              <a:buNone/>
            </a:pPr>
            <a:r>
              <a:rPr lang="en-US" sz="1500" b="1" dirty="0">
                <a:solidFill>
                  <a:srgbClr val="333333"/>
                </a:solidFill>
                <a:latin typeface="Noto Sans SC" pitchFamily="34" charset="0"/>
                <a:ea typeface="Noto Sans SC" pitchFamily="34" charset="-122"/>
                <a:cs typeface="Noto Sans SC" pitchFamily="34" charset="-120"/>
              </a:rPr>
              <a:t>实时监测与响应：</a:t>
            </a:r>
            <a:endParaRPr lang="en-US" sz="1500" dirty="0"/>
          </a:p>
        </p:txBody>
      </p:sp>
      <p:sp>
        <p:nvSpPr>
          <p:cNvPr id="37" name="Text 27"/>
          <p:cNvSpPr txBox="1"/>
          <p:nvPr/>
        </p:nvSpPr>
        <p:spPr>
          <a:xfrm>
            <a:off x="1362456" y="6258154"/>
            <a:ext cx="2315261" cy="277063"/>
          </a:xfrm>
          <a:prstGeom prst="rect">
            <a:avLst/>
          </a:prstGeom>
          <a:noFill/>
        </p:spPr>
        <p:txBody>
          <a:bodyPr wrap="square" lIns="0" tIns="0" rIns="0" bIns="0" rtlCol="0" anchor="ctr"/>
          <a:lstStyle/>
          <a:p>
            <a:pPr marL="0" indent="0" algn="l">
              <a:buNone/>
            </a:pPr>
            <a:r>
              <a:rPr lang="en-US" sz="1500" b="1" dirty="0">
                <a:solidFill>
                  <a:srgbClr val="333333"/>
                </a:solidFill>
                <a:latin typeface="Noto Sans SC" pitchFamily="34" charset="0"/>
                <a:ea typeface="Noto Sans SC" pitchFamily="34" charset="-122"/>
                <a:cs typeface="Noto Sans SC" pitchFamily="34" charset="-120"/>
              </a:rPr>
              <a:t>非工作时间/节假日值守：</a:t>
            </a:r>
            <a:endParaRPr lang="en-US" sz="1500" dirty="0"/>
          </a:p>
        </p:txBody>
      </p:sp>
      <p:sp>
        <p:nvSpPr>
          <p:cNvPr id="38" name="Text 28"/>
          <p:cNvSpPr txBox="1"/>
          <p:nvPr/>
        </p:nvSpPr>
        <p:spPr>
          <a:xfrm>
            <a:off x="1314907" y="8305495"/>
            <a:ext cx="2048256" cy="277063"/>
          </a:xfrm>
          <a:prstGeom prst="rect">
            <a:avLst/>
          </a:prstGeom>
          <a:noFill/>
        </p:spPr>
        <p:txBody>
          <a:bodyPr wrap="square" lIns="0" tIns="0" rIns="0" bIns="0" rtlCol="0" anchor="ctr"/>
          <a:lstStyle/>
          <a:p>
            <a:pPr marL="0" indent="0" algn="l">
              <a:buNone/>
            </a:pPr>
            <a:r>
              <a:rPr lang="en-US" sz="1500" b="1" dirty="0">
                <a:solidFill>
                  <a:srgbClr val="333333"/>
                </a:solidFill>
                <a:latin typeface="Noto Sans SC" pitchFamily="34" charset="0"/>
                <a:ea typeface="Noto Sans SC" pitchFamily="34" charset="-122"/>
                <a:cs typeface="Noto Sans SC" pitchFamily="34" charset="-120"/>
              </a:rPr>
              <a:t>安全问题跟进与闭环：</a:t>
            </a:r>
            <a:endParaRPr lang="en-US" sz="1500" dirty="0"/>
          </a:p>
        </p:txBody>
      </p:sp>
      <p:sp>
        <p:nvSpPr>
          <p:cNvPr id="39" name="Text 29"/>
          <p:cNvSpPr txBox="1"/>
          <p:nvPr/>
        </p:nvSpPr>
        <p:spPr>
          <a:xfrm>
            <a:off x="2295144" y="3847795"/>
            <a:ext cx="7029907" cy="277063"/>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推送67次行业安全威胁情报，实时关注新型威胁和零日漏洞，提前部署防护策略。</a:t>
            </a:r>
            <a:endParaRPr lang="en-US" sz="1500" dirty="0"/>
          </a:p>
        </p:txBody>
      </p:sp>
      <p:sp>
        <p:nvSpPr>
          <p:cNvPr id="40" name="Text 30"/>
          <p:cNvSpPr txBox="1"/>
          <p:nvPr/>
        </p:nvSpPr>
        <p:spPr>
          <a:xfrm>
            <a:off x="3531413" y="6258154"/>
            <a:ext cx="6163056" cy="277063"/>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全年共进行6次重要节假日安全值守，确保医院核心业务系统稳定运行。</a:t>
            </a:r>
            <a:endParaRPr lang="en-US" sz="1500" dirty="0"/>
          </a:p>
        </p:txBody>
      </p:sp>
      <p:sp>
        <p:nvSpPr>
          <p:cNvPr id="41" name="Text 31"/>
          <p:cNvSpPr txBox="1"/>
          <p:nvPr/>
        </p:nvSpPr>
        <p:spPr>
          <a:xfrm>
            <a:off x="1315085" y="8582660"/>
            <a:ext cx="9620250" cy="819785"/>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全年处理94起安全事件，闭环率达100%，平均响应时间10分钟。通过EDR轻补丁、防火墙策略优化等多种方式闭环漏洞风险，保障医院业务系统安全运行。</a:t>
            </a:r>
            <a:endParaRPr lang="en-US" sz="1500" dirty="0"/>
          </a:p>
        </p:txBody>
      </p:sp>
      <p:sp>
        <p:nvSpPr>
          <p:cNvPr id="42" name="Text 32"/>
          <p:cNvSpPr txBox="1"/>
          <p:nvPr/>
        </p:nvSpPr>
        <p:spPr>
          <a:xfrm>
            <a:off x="13373100" y="2980944"/>
            <a:ext cx="1500530" cy="247802"/>
          </a:xfrm>
          <a:prstGeom prst="rect">
            <a:avLst/>
          </a:prstGeom>
          <a:noFill/>
        </p:spPr>
        <p:txBody>
          <a:bodyPr wrap="square" lIns="0" tIns="0" rIns="0" bIns="0" rtlCol="0" anchor="ctr"/>
          <a:lstStyle/>
          <a:p>
            <a:pPr marL="0" indent="0" algn="ctr">
              <a:buNone/>
            </a:pPr>
            <a:r>
              <a:rPr lang="en-US" sz="1300" dirty="0">
                <a:solidFill>
                  <a:srgbClr val="0A4275"/>
                </a:solidFill>
                <a:latin typeface="Noto Sans SC" pitchFamily="34" charset="0"/>
                <a:ea typeface="Noto Sans SC" pitchFamily="34" charset="-122"/>
                <a:cs typeface="Noto Sans SC" pitchFamily="34" charset="-120"/>
              </a:rPr>
              <a:t>漏洞风险等级分布</a:t>
            </a:r>
            <a:endParaRPr lang="en-US" sz="1300" dirty="0"/>
          </a:p>
        </p:txBody>
      </p:sp>
      <p:pic>
        <p:nvPicPr>
          <p:cNvPr id="43" name="Image 8" descr="preencoded.png"/>
          <p:cNvPicPr>
            <a:picLocks noChangeAspect="1"/>
          </p:cNvPicPr>
          <p:nvPr/>
        </p:nvPicPr>
        <p:blipFill>
          <a:blip r:embed="rId9"/>
          <a:srcRect t="-10" b="-10"/>
          <a:stretch>
            <a:fillRect/>
          </a:stretch>
        </p:blipFill>
        <p:spPr>
          <a:xfrm>
            <a:off x="10801807" y="3258007"/>
            <a:ext cx="6515100" cy="1524305"/>
          </a:xfrm>
          <a:prstGeom prst="rect">
            <a:avLst/>
          </a:prstGeom>
        </p:spPr>
      </p:pic>
      <p:pic>
        <p:nvPicPr>
          <p:cNvPr id="44" name="Image 9" descr="preencoded.png"/>
          <p:cNvPicPr>
            <a:picLocks noChangeAspect="1"/>
          </p:cNvPicPr>
          <p:nvPr/>
        </p:nvPicPr>
        <p:blipFill>
          <a:blip r:embed="rId10"/>
          <a:srcRect/>
          <a:stretch>
            <a:fillRect/>
          </a:stretch>
        </p:blipFill>
        <p:spPr>
          <a:xfrm>
            <a:off x="1028700" y="5434279"/>
            <a:ext cx="286207" cy="286207"/>
          </a:xfrm>
          <a:prstGeom prst="rect">
            <a:avLst/>
          </a:prstGeom>
        </p:spPr>
      </p:pic>
      <p:pic>
        <p:nvPicPr>
          <p:cNvPr id="45" name="Image 10" descr="preencoded.png"/>
          <p:cNvPicPr>
            <a:picLocks noChangeAspect="1"/>
          </p:cNvPicPr>
          <p:nvPr/>
        </p:nvPicPr>
        <p:blipFill>
          <a:blip r:embed="rId11"/>
          <a:srcRect/>
          <a:stretch>
            <a:fillRect/>
          </a:stretch>
        </p:blipFill>
        <p:spPr>
          <a:xfrm>
            <a:off x="1028700" y="5934456"/>
            <a:ext cx="190195" cy="190195"/>
          </a:xfrm>
          <a:prstGeom prst="rect">
            <a:avLst/>
          </a:prstGeom>
        </p:spPr>
      </p:pic>
      <p:sp>
        <p:nvSpPr>
          <p:cNvPr id="46" name="Text 33"/>
          <p:cNvSpPr txBox="1"/>
          <p:nvPr/>
        </p:nvSpPr>
        <p:spPr>
          <a:xfrm>
            <a:off x="2838298" y="5896051"/>
            <a:ext cx="7696505" cy="277063"/>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全天候监控网络流量与系统安全，实时拦截外部攻击1.17万次，平均每月捕获攻击903次。</a:t>
            </a:r>
            <a:endParaRPr lang="en-US" sz="1500" dirty="0"/>
          </a:p>
        </p:txBody>
      </p:sp>
      <p:pic>
        <p:nvPicPr>
          <p:cNvPr id="47" name="Image 11" descr="preencoded.png"/>
          <p:cNvPicPr>
            <a:picLocks noChangeAspect="1"/>
          </p:cNvPicPr>
          <p:nvPr/>
        </p:nvPicPr>
        <p:blipFill>
          <a:blip r:embed="rId12"/>
          <a:srcRect/>
          <a:stretch>
            <a:fillRect/>
          </a:stretch>
        </p:blipFill>
        <p:spPr>
          <a:xfrm>
            <a:off x="1028700" y="6295644"/>
            <a:ext cx="237744" cy="190195"/>
          </a:xfrm>
          <a:prstGeom prst="rect">
            <a:avLst/>
          </a:prstGeom>
        </p:spPr>
      </p:pic>
      <p:sp>
        <p:nvSpPr>
          <p:cNvPr id="48" name="Text 34"/>
          <p:cNvSpPr txBox="1"/>
          <p:nvPr/>
        </p:nvSpPr>
        <p:spPr>
          <a:xfrm>
            <a:off x="13373100" y="5391302"/>
            <a:ext cx="1500530" cy="247802"/>
          </a:xfrm>
          <a:prstGeom prst="rect">
            <a:avLst/>
          </a:prstGeom>
          <a:noFill/>
        </p:spPr>
        <p:txBody>
          <a:bodyPr wrap="square" lIns="0" tIns="0" rIns="0" bIns="0" rtlCol="0" anchor="ctr"/>
          <a:lstStyle/>
          <a:p>
            <a:pPr marL="0" indent="0" algn="ctr">
              <a:buNone/>
            </a:pPr>
            <a:r>
              <a:rPr lang="en-US" sz="1300" dirty="0">
                <a:solidFill>
                  <a:srgbClr val="0A4275"/>
                </a:solidFill>
                <a:latin typeface="Noto Sans SC" pitchFamily="34" charset="0"/>
                <a:ea typeface="Noto Sans SC" pitchFamily="34" charset="-122"/>
                <a:cs typeface="Noto Sans SC" pitchFamily="34" charset="-120"/>
              </a:rPr>
              <a:t>月度攻击监测趋势</a:t>
            </a:r>
            <a:endParaRPr lang="en-US" sz="1300" dirty="0"/>
          </a:p>
        </p:txBody>
      </p:sp>
      <p:pic>
        <p:nvPicPr>
          <p:cNvPr id="50" name="Image 13" descr="preencoded.png"/>
          <p:cNvPicPr>
            <a:picLocks noChangeAspect="1"/>
          </p:cNvPicPr>
          <p:nvPr/>
        </p:nvPicPr>
        <p:blipFill>
          <a:blip r:embed="rId13"/>
          <a:srcRect/>
          <a:stretch>
            <a:fillRect/>
          </a:stretch>
        </p:blipFill>
        <p:spPr>
          <a:xfrm>
            <a:off x="1028700" y="7843723"/>
            <a:ext cx="286207" cy="286207"/>
          </a:xfrm>
          <a:prstGeom prst="rect">
            <a:avLst/>
          </a:prstGeom>
        </p:spPr>
      </p:pic>
      <p:pic>
        <p:nvPicPr>
          <p:cNvPr id="51" name="Image 14" descr="preencoded.png"/>
          <p:cNvPicPr>
            <a:picLocks noChangeAspect="1"/>
          </p:cNvPicPr>
          <p:nvPr/>
        </p:nvPicPr>
        <p:blipFill>
          <a:blip r:embed="rId14"/>
          <a:srcRect/>
          <a:stretch>
            <a:fillRect/>
          </a:stretch>
        </p:blipFill>
        <p:spPr>
          <a:xfrm>
            <a:off x="1028700" y="8343900"/>
            <a:ext cx="190195" cy="190195"/>
          </a:xfrm>
          <a:prstGeom prst="rect">
            <a:avLst/>
          </a:prstGeom>
        </p:spPr>
      </p:pic>
      <p:sp>
        <p:nvSpPr>
          <p:cNvPr id="52" name="Text 35"/>
          <p:cNvSpPr txBox="1"/>
          <p:nvPr/>
        </p:nvSpPr>
        <p:spPr>
          <a:xfrm>
            <a:off x="13116154" y="7800746"/>
            <a:ext cx="2015338" cy="247802"/>
          </a:xfrm>
          <a:prstGeom prst="rect">
            <a:avLst/>
          </a:prstGeom>
          <a:noFill/>
        </p:spPr>
        <p:txBody>
          <a:bodyPr wrap="square" lIns="0" tIns="0" rIns="0" bIns="0" rtlCol="0" anchor="ctr"/>
          <a:lstStyle/>
          <a:p>
            <a:pPr marL="0" indent="0" algn="ctr">
              <a:buNone/>
            </a:pPr>
            <a:r>
              <a:rPr lang="en-US" sz="1300" dirty="0">
                <a:solidFill>
                  <a:srgbClr val="0A4275"/>
                </a:solidFill>
                <a:latin typeface="Noto Sans SC" pitchFamily="34" charset="0"/>
                <a:ea typeface="Noto Sans SC" pitchFamily="34" charset="-122"/>
                <a:cs typeface="Noto Sans SC" pitchFamily="34" charset="-120"/>
              </a:rPr>
              <a:t>安全事件类型与处理效率</a:t>
            </a:r>
            <a:endParaRPr lang="en-US" sz="1300" dirty="0"/>
          </a:p>
        </p:txBody>
      </p:sp>
      <p:sp>
        <p:nvSpPr>
          <p:cNvPr id="54" name="Text 36"/>
          <p:cNvSpPr txBox="1"/>
          <p:nvPr/>
        </p:nvSpPr>
        <p:spPr>
          <a:xfrm>
            <a:off x="17727473" y="9810598"/>
            <a:ext cx="200254" cy="228600"/>
          </a:xfrm>
          <a:prstGeom prst="rect">
            <a:avLst/>
          </a:prstGeom>
          <a:noFill/>
        </p:spPr>
        <p:txBody>
          <a:bodyPr wrap="square" lIns="0" tIns="0" rIns="0" bIns="0" rtlCol="0" anchor="ctr"/>
          <a:lstStyle/>
          <a:p>
            <a:pPr marL="0" indent="0" algn="l">
              <a:buNone/>
            </a:pPr>
            <a:r>
              <a:rPr lang="en-US" sz="1200" dirty="0">
                <a:solidFill>
                  <a:srgbClr val="666666"/>
                </a:solidFill>
                <a:latin typeface="Noto Sans SC" pitchFamily="34" charset="0"/>
                <a:ea typeface="Noto Sans SC" pitchFamily="34" charset="-122"/>
                <a:cs typeface="Noto Sans SC" pitchFamily="34" charset="-120"/>
              </a:rPr>
              <a:t>4</a:t>
            </a:r>
            <a:endParaRPr lang="en-US" sz="1200" dirty="0"/>
          </a:p>
        </p:txBody>
      </p:sp>
      <p:sp>
        <p:nvSpPr>
          <p:cNvPr id="55" name="Shape 37"/>
          <p:cNvSpPr/>
          <p:nvPr/>
        </p:nvSpPr>
        <p:spPr>
          <a:xfrm>
            <a:off x="1429207" y="2029054"/>
            <a:ext cx="15430500" cy="38405"/>
          </a:xfrm>
          <a:prstGeom prst="rect">
            <a:avLst/>
          </a:prstGeom>
          <a:solidFill>
            <a:srgbClr val="0A4275">
              <a:alpha val="30000"/>
            </a:srgbClr>
          </a:solidFill>
        </p:spPr>
      </p:sp>
      <p:pic>
        <p:nvPicPr>
          <p:cNvPr id="56" name="图片 55"/>
          <p:cNvPicPr>
            <a:picLocks noChangeAspect="1"/>
          </p:cNvPicPr>
          <p:nvPr>
            <p:custDataLst>
              <p:tags r:id="rId15"/>
            </p:custDataLst>
          </p:nvPr>
        </p:nvPicPr>
        <p:blipFill>
          <a:blip r:embed="rId16"/>
          <a:stretch>
            <a:fillRect/>
          </a:stretch>
        </p:blipFill>
        <p:spPr>
          <a:xfrm>
            <a:off x="10770870" y="3352800"/>
            <a:ext cx="6517640" cy="1524635"/>
          </a:xfrm>
          <a:prstGeom prst="rect">
            <a:avLst/>
          </a:prstGeom>
        </p:spPr>
      </p:pic>
      <p:pic>
        <p:nvPicPr>
          <p:cNvPr id="57" name="图片 56"/>
          <p:cNvPicPr>
            <a:picLocks noChangeAspect="1"/>
          </p:cNvPicPr>
          <p:nvPr>
            <p:custDataLst>
              <p:tags r:id="rId17"/>
            </p:custDataLst>
          </p:nvPr>
        </p:nvPicPr>
        <p:blipFill>
          <a:blip r:embed="rId18"/>
          <a:stretch>
            <a:fillRect/>
          </a:stretch>
        </p:blipFill>
        <p:spPr>
          <a:xfrm>
            <a:off x="10880725" y="5763260"/>
            <a:ext cx="6436360" cy="1505585"/>
          </a:xfrm>
          <a:prstGeom prst="rect">
            <a:avLst/>
          </a:prstGeom>
        </p:spPr>
      </p:pic>
      <p:pic>
        <p:nvPicPr>
          <p:cNvPr id="58" name="图片 57"/>
          <p:cNvPicPr>
            <a:picLocks noChangeAspect="1"/>
          </p:cNvPicPr>
          <p:nvPr>
            <p:custDataLst>
              <p:tags r:id="rId19"/>
            </p:custDataLst>
          </p:nvPr>
        </p:nvPicPr>
        <p:blipFill>
          <a:blip r:embed="rId20"/>
          <a:stretch>
            <a:fillRect/>
          </a:stretch>
        </p:blipFill>
        <p:spPr>
          <a:xfrm>
            <a:off x="10801985" y="8129905"/>
            <a:ext cx="6517640" cy="15246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599846"/>
            <a:ext cx="4924958"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安全运营目标达成数据</a:t>
            </a:r>
            <a:endParaRPr lang="en-US" sz="3600" dirty="0"/>
          </a:p>
        </p:txBody>
      </p:sp>
      <p:sp>
        <p:nvSpPr>
          <p:cNvPr id="5" name="Shape 3"/>
          <p:cNvSpPr/>
          <p:nvPr/>
        </p:nvSpPr>
        <p:spPr>
          <a:xfrm>
            <a:off x="761695" y="1390802"/>
            <a:ext cx="914400" cy="38405"/>
          </a:xfrm>
          <a:prstGeom prst="rect">
            <a:avLst/>
          </a:prstGeom>
          <a:solidFill>
            <a:srgbClr val="0A4275"/>
          </a:solidFill>
        </p:spPr>
      </p:sp>
      <p:sp>
        <p:nvSpPr>
          <p:cNvPr id="6" name="Shape 4"/>
          <p:cNvSpPr/>
          <p:nvPr/>
        </p:nvSpPr>
        <p:spPr>
          <a:xfrm>
            <a:off x="761695" y="1733702"/>
            <a:ext cx="16763695" cy="1943100"/>
          </a:xfrm>
          <a:prstGeom prst="roundRect">
            <a:avLst>
              <a:gd name="adj" fmla="val 3691"/>
            </a:avLst>
          </a:prstGeom>
          <a:solidFill>
            <a:srgbClr val="0A4275">
              <a:alpha val="6000"/>
            </a:srgbClr>
          </a:solidFill>
        </p:spPr>
      </p:sp>
      <p:sp>
        <p:nvSpPr>
          <p:cNvPr id="7" name="Shape 5"/>
          <p:cNvSpPr/>
          <p:nvPr/>
        </p:nvSpPr>
        <p:spPr>
          <a:xfrm>
            <a:off x="761695" y="6638544"/>
            <a:ext cx="16763695" cy="2790749"/>
          </a:xfrm>
          <a:prstGeom prst="roundRect">
            <a:avLst>
              <a:gd name="adj" fmla="val 1789"/>
            </a:avLst>
          </a:prstGeom>
          <a:solidFill>
            <a:srgbClr val="0A4275">
              <a:alpha val="6000"/>
            </a:srgbClr>
          </a:solidFill>
        </p:spPr>
      </p:sp>
      <p:sp>
        <p:nvSpPr>
          <p:cNvPr id="8" name="Shape 6"/>
          <p:cNvSpPr/>
          <p:nvPr/>
        </p:nvSpPr>
        <p:spPr>
          <a:xfrm>
            <a:off x="972007" y="1943100"/>
            <a:ext cx="714146" cy="714146"/>
          </a:xfrm>
          <a:prstGeom prst="ellipse">
            <a:avLst/>
          </a:prstGeom>
          <a:solidFill>
            <a:srgbClr val="0A4275">
              <a:alpha val="10000"/>
            </a:srgbClr>
          </a:solidFill>
        </p:spPr>
      </p:sp>
      <p:pic>
        <p:nvPicPr>
          <p:cNvPr id="9" name="Image 0" descr="preencoded.png"/>
          <p:cNvPicPr>
            <a:picLocks noChangeAspect="1"/>
          </p:cNvPicPr>
          <p:nvPr/>
        </p:nvPicPr>
        <p:blipFill>
          <a:blip r:embed="rId1"/>
          <a:srcRect/>
          <a:stretch>
            <a:fillRect/>
          </a:stretch>
        </p:blipFill>
        <p:spPr>
          <a:xfrm>
            <a:off x="1157630" y="2128723"/>
            <a:ext cx="342900" cy="342900"/>
          </a:xfrm>
          <a:prstGeom prst="rect">
            <a:avLst/>
          </a:prstGeom>
        </p:spPr>
      </p:pic>
      <p:sp>
        <p:nvSpPr>
          <p:cNvPr id="10" name="Shape 7"/>
          <p:cNvSpPr/>
          <p:nvPr/>
        </p:nvSpPr>
        <p:spPr>
          <a:xfrm>
            <a:off x="761695" y="3905402"/>
            <a:ext cx="16763695" cy="2505456"/>
          </a:xfrm>
          <a:prstGeom prst="roundRect">
            <a:avLst>
              <a:gd name="adj" fmla="val 2220"/>
            </a:avLst>
          </a:prstGeom>
          <a:solidFill>
            <a:srgbClr val="0A4275">
              <a:alpha val="6000"/>
            </a:srgbClr>
          </a:solidFill>
        </p:spPr>
      </p:sp>
      <p:sp>
        <p:nvSpPr>
          <p:cNvPr id="11" name="Shape 8"/>
          <p:cNvSpPr/>
          <p:nvPr/>
        </p:nvSpPr>
        <p:spPr>
          <a:xfrm>
            <a:off x="972007" y="4114800"/>
            <a:ext cx="714146" cy="714146"/>
          </a:xfrm>
          <a:prstGeom prst="ellipse">
            <a:avLst/>
          </a:prstGeom>
          <a:solidFill>
            <a:srgbClr val="0A4275">
              <a:alpha val="10000"/>
            </a:srgbClr>
          </a:solidFill>
        </p:spPr>
      </p:sp>
      <p:sp>
        <p:nvSpPr>
          <p:cNvPr id="12" name="Shape 9"/>
          <p:cNvSpPr/>
          <p:nvPr/>
        </p:nvSpPr>
        <p:spPr>
          <a:xfrm>
            <a:off x="972007" y="6848856"/>
            <a:ext cx="714146" cy="714146"/>
          </a:xfrm>
          <a:prstGeom prst="ellipse">
            <a:avLst/>
          </a:prstGeom>
          <a:solidFill>
            <a:srgbClr val="0A4275">
              <a:alpha val="10000"/>
            </a:srgbClr>
          </a:solidFill>
        </p:spPr>
      </p:sp>
      <p:sp>
        <p:nvSpPr>
          <p:cNvPr id="13" name="Text 10"/>
          <p:cNvSpPr txBox="1"/>
          <p:nvPr/>
        </p:nvSpPr>
        <p:spPr>
          <a:xfrm>
            <a:off x="1923898" y="1952244"/>
            <a:ext cx="1929384" cy="352958"/>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网络与业务防护</a:t>
            </a:r>
            <a:endParaRPr lang="en-US" sz="1900" dirty="0"/>
          </a:p>
        </p:txBody>
      </p:sp>
      <p:sp>
        <p:nvSpPr>
          <p:cNvPr id="14" name="Text 11"/>
          <p:cNvSpPr txBox="1"/>
          <p:nvPr/>
        </p:nvSpPr>
        <p:spPr>
          <a:xfrm>
            <a:off x="1923898" y="4123944"/>
            <a:ext cx="1185977" cy="352958"/>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通报应对</a:t>
            </a:r>
            <a:endParaRPr lang="en-US" sz="1900" dirty="0"/>
          </a:p>
        </p:txBody>
      </p:sp>
      <p:sp>
        <p:nvSpPr>
          <p:cNvPr id="15" name="Text 12"/>
          <p:cNvSpPr txBox="1"/>
          <p:nvPr/>
        </p:nvSpPr>
        <p:spPr>
          <a:xfrm>
            <a:off x="1923898" y="6858000"/>
            <a:ext cx="1185977" cy="352958"/>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重保目标</a:t>
            </a:r>
            <a:endParaRPr lang="en-US" sz="1900" dirty="0"/>
          </a:p>
        </p:txBody>
      </p:sp>
      <p:sp>
        <p:nvSpPr>
          <p:cNvPr id="16" name="Text 13"/>
          <p:cNvSpPr txBox="1"/>
          <p:nvPr/>
        </p:nvSpPr>
        <p:spPr>
          <a:xfrm>
            <a:off x="1868018" y="2372512"/>
            <a:ext cx="933602"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100%</a:t>
            </a:r>
            <a:endParaRPr lang="en-US" sz="2100" dirty="0"/>
          </a:p>
        </p:txBody>
      </p:sp>
      <p:sp>
        <p:nvSpPr>
          <p:cNvPr id="17" name="Text 14"/>
          <p:cNvSpPr txBox="1"/>
          <p:nvPr/>
        </p:nvSpPr>
        <p:spPr>
          <a:xfrm>
            <a:off x="4941367" y="2391562"/>
            <a:ext cx="523951"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10</a:t>
            </a:r>
            <a:endParaRPr lang="en-US" sz="2100" dirty="0"/>
          </a:p>
        </p:txBody>
      </p:sp>
      <p:sp>
        <p:nvSpPr>
          <p:cNvPr id="18" name="Text 15"/>
          <p:cNvSpPr txBox="1"/>
          <p:nvPr/>
        </p:nvSpPr>
        <p:spPr>
          <a:xfrm>
            <a:off x="8729523" y="2405532"/>
            <a:ext cx="362102"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0</a:t>
            </a:r>
            <a:endParaRPr lang="en-US" sz="2100" dirty="0"/>
          </a:p>
        </p:txBody>
      </p:sp>
      <p:sp>
        <p:nvSpPr>
          <p:cNvPr id="19" name="Text 16"/>
          <p:cNvSpPr txBox="1"/>
          <p:nvPr/>
        </p:nvSpPr>
        <p:spPr>
          <a:xfrm>
            <a:off x="1923898" y="4591202"/>
            <a:ext cx="523951"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94</a:t>
            </a:r>
            <a:endParaRPr lang="en-US" sz="2100" dirty="0"/>
          </a:p>
        </p:txBody>
      </p:sp>
      <p:sp>
        <p:nvSpPr>
          <p:cNvPr id="20" name="Text 17"/>
          <p:cNvSpPr txBox="1"/>
          <p:nvPr/>
        </p:nvSpPr>
        <p:spPr>
          <a:xfrm>
            <a:off x="5949544" y="4591202"/>
            <a:ext cx="933602"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100%</a:t>
            </a:r>
            <a:endParaRPr lang="en-US" sz="2100" dirty="0"/>
          </a:p>
        </p:txBody>
      </p:sp>
      <p:sp>
        <p:nvSpPr>
          <p:cNvPr id="21" name="Text 18"/>
          <p:cNvSpPr txBox="1"/>
          <p:nvPr/>
        </p:nvSpPr>
        <p:spPr>
          <a:xfrm>
            <a:off x="6774332" y="4591202"/>
            <a:ext cx="523951"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10</a:t>
            </a:r>
            <a:endParaRPr lang="en-US" sz="2100" dirty="0"/>
          </a:p>
        </p:txBody>
      </p:sp>
      <p:sp>
        <p:nvSpPr>
          <p:cNvPr id="22" name="Text 19"/>
          <p:cNvSpPr txBox="1"/>
          <p:nvPr/>
        </p:nvSpPr>
        <p:spPr>
          <a:xfrm>
            <a:off x="1923898" y="7324344"/>
            <a:ext cx="362102"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6</a:t>
            </a:r>
            <a:endParaRPr lang="en-US" sz="2100" dirty="0"/>
          </a:p>
        </p:txBody>
      </p:sp>
      <p:sp>
        <p:nvSpPr>
          <p:cNvPr id="23" name="Text 20"/>
          <p:cNvSpPr txBox="1"/>
          <p:nvPr/>
        </p:nvSpPr>
        <p:spPr>
          <a:xfrm>
            <a:off x="6591402" y="7324344"/>
            <a:ext cx="933602"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100%</a:t>
            </a:r>
            <a:endParaRPr lang="en-US" sz="2100" dirty="0"/>
          </a:p>
        </p:txBody>
      </p:sp>
      <p:sp>
        <p:nvSpPr>
          <p:cNvPr id="24" name="Text 21"/>
          <p:cNvSpPr txBox="1"/>
          <p:nvPr/>
        </p:nvSpPr>
        <p:spPr>
          <a:xfrm>
            <a:off x="9592310" y="7324725"/>
            <a:ext cx="454660" cy="381000"/>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0</a:t>
            </a:r>
            <a:endParaRPr lang="en-US" sz="2100" dirty="0"/>
          </a:p>
        </p:txBody>
      </p:sp>
      <p:sp>
        <p:nvSpPr>
          <p:cNvPr id="25" name="Text 22"/>
          <p:cNvSpPr txBox="1"/>
          <p:nvPr/>
        </p:nvSpPr>
        <p:spPr>
          <a:xfrm>
            <a:off x="2605405" y="2419350"/>
            <a:ext cx="2255520" cy="30607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核心业务系统防护覆盖率</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6" name="Text 23"/>
          <p:cNvSpPr txBox="1"/>
          <p:nvPr/>
        </p:nvSpPr>
        <p:spPr>
          <a:xfrm>
            <a:off x="5222240" y="2405380"/>
            <a:ext cx="3477895" cy="32702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个服务内资产全部纳入防火墙防护范围</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7" name="Text 24"/>
          <p:cNvSpPr txBox="1"/>
          <p:nvPr/>
        </p:nvSpPr>
        <p:spPr>
          <a:xfrm>
            <a:off x="8923020" y="2405380"/>
            <a:ext cx="3381375" cy="33464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因安全问题导致的业务中断事件</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8" name="Text 25"/>
          <p:cNvSpPr txBox="1"/>
          <p:nvPr/>
        </p:nvSpPr>
        <p:spPr>
          <a:xfrm>
            <a:off x="2376170" y="4635500"/>
            <a:ext cx="3667125" cy="29527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起安全事件均已完成闭环处理，闭环率</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9" name="Text 26"/>
          <p:cNvSpPr txBox="1"/>
          <p:nvPr/>
        </p:nvSpPr>
        <p:spPr>
          <a:xfrm>
            <a:off x="7099935" y="4663440"/>
            <a:ext cx="4333875" cy="25781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分钟平均响应时间，显著低于行业平均水平</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30" name="Text 27"/>
          <p:cNvSpPr txBox="1"/>
          <p:nvPr/>
        </p:nvSpPr>
        <p:spPr>
          <a:xfrm>
            <a:off x="2177186" y="7368388"/>
            <a:ext cx="4334256"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次重要时期安全值守（国庆节、春节、劳动节等）</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31" name="Text 28"/>
          <p:cNvSpPr txBox="1"/>
          <p:nvPr/>
        </p:nvSpPr>
        <p:spPr>
          <a:xfrm>
            <a:off x="7297801" y="7372833"/>
            <a:ext cx="2238451"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重大安全事件响应及时率</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32" name="Text 29"/>
          <p:cNvSpPr txBox="1"/>
          <p:nvPr/>
        </p:nvSpPr>
        <p:spPr>
          <a:xfrm>
            <a:off x="9799320" y="7266940"/>
            <a:ext cx="4126865" cy="48069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重大节假日安全事故，保障业务系统平稳运行</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33" name="Text 30"/>
          <p:cNvSpPr txBox="1"/>
          <p:nvPr/>
        </p:nvSpPr>
        <p:spPr>
          <a:xfrm>
            <a:off x="1975104" y="2924251"/>
            <a:ext cx="728777" cy="305410"/>
          </a:xfrm>
          <a:prstGeom prst="rect">
            <a:avLst/>
          </a:prstGeom>
          <a:noFill/>
        </p:spPr>
        <p:txBody>
          <a:bodyPr wrap="square" lIns="0" tIns="0" rIns="0" bIns="0" rtlCol="0" anchor="ctr"/>
          <a:lstStyle/>
          <a:p>
            <a:pPr marL="0" indent="0" algn="ctr">
              <a:buNone/>
            </a:pPr>
            <a:r>
              <a:rPr lang="en-US" sz="1600" b="1" dirty="0">
                <a:solidFill>
                  <a:srgbClr val="0A4275"/>
                </a:solidFill>
                <a:latin typeface="Noto Sans SC" pitchFamily="34" charset="0"/>
                <a:ea typeface="Noto Sans SC" pitchFamily="34" charset="-122"/>
                <a:cs typeface="Noto Sans SC" pitchFamily="34" charset="-120"/>
              </a:rPr>
              <a:t>100%</a:t>
            </a:r>
            <a:endParaRPr lang="en-US" sz="1600" dirty="0"/>
          </a:p>
        </p:txBody>
      </p:sp>
      <p:sp>
        <p:nvSpPr>
          <p:cNvPr id="34" name="Text 31"/>
          <p:cNvSpPr txBox="1"/>
          <p:nvPr/>
        </p:nvSpPr>
        <p:spPr>
          <a:xfrm>
            <a:off x="6900062" y="2924251"/>
            <a:ext cx="605333" cy="305410"/>
          </a:xfrm>
          <a:prstGeom prst="rect">
            <a:avLst/>
          </a:prstGeom>
          <a:noFill/>
        </p:spPr>
        <p:txBody>
          <a:bodyPr wrap="square" lIns="0" tIns="0" rIns="0" bIns="0" rtlCol="0" anchor="ctr"/>
          <a:lstStyle/>
          <a:p>
            <a:pPr marL="0" indent="0" algn="ctr">
              <a:buNone/>
            </a:pPr>
            <a:r>
              <a:rPr lang="en-US" sz="1600" b="1" dirty="0">
                <a:solidFill>
                  <a:srgbClr val="0A4275"/>
                </a:solidFill>
                <a:latin typeface="Noto Sans SC" pitchFamily="34" charset="0"/>
                <a:ea typeface="Noto Sans SC" pitchFamily="34" charset="-122"/>
                <a:cs typeface="Noto Sans SC" pitchFamily="34" charset="-120"/>
              </a:rPr>
              <a:t>80%</a:t>
            </a:r>
            <a:endParaRPr lang="en-US" sz="1600" dirty="0"/>
          </a:p>
        </p:txBody>
      </p:sp>
      <p:sp>
        <p:nvSpPr>
          <p:cNvPr id="35" name="Text 32"/>
          <p:cNvSpPr txBox="1"/>
          <p:nvPr/>
        </p:nvSpPr>
        <p:spPr>
          <a:xfrm>
            <a:off x="11696090" y="2924251"/>
            <a:ext cx="605333" cy="305410"/>
          </a:xfrm>
          <a:prstGeom prst="rect">
            <a:avLst/>
          </a:prstGeom>
          <a:noFill/>
        </p:spPr>
        <p:txBody>
          <a:bodyPr wrap="square" lIns="0" tIns="0" rIns="0" bIns="0" rtlCol="0" anchor="ctr"/>
          <a:lstStyle/>
          <a:p>
            <a:pPr marL="0" indent="0" algn="ctr">
              <a:buNone/>
            </a:pPr>
            <a:r>
              <a:rPr lang="en-US" sz="1600" b="1" dirty="0">
                <a:solidFill>
                  <a:srgbClr val="0A4275"/>
                </a:solidFill>
                <a:latin typeface="Noto Sans SC" pitchFamily="34" charset="0"/>
                <a:ea typeface="Noto Sans SC" pitchFamily="34" charset="-122"/>
                <a:cs typeface="Noto Sans SC" pitchFamily="34" charset="-120"/>
              </a:rPr>
              <a:t>6/10</a:t>
            </a:r>
            <a:endParaRPr lang="en-US" sz="1600" dirty="0"/>
          </a:p>
        </p:txBody>
      </p:sp>
      <p:sp>
        <p:nvSpPr>
          <p:cNvPr id="36" name="Text 33"/>
          <p:cNvSpPr txBox="1"/>
          <p:nvPr/>
        </p:nvSpPr>
        <p:spPr>
          <a:xfrm>
            <a:off x="1859280" y="3229610"/>
            <a:ext cx="914400" cy="210185"/>
          </a:xfrm>
          <a:prstGeom prst="rect">
            <a:avLst/>
          </a:prstGeom>
          <a:noFill/>
        </p:spPr>
        <p:txBody>
          <a:bodyPr wrap="square" lIns="0" tIns="0" rIns="0" bIns="0" rtlCol="0" anchor="ctr"/>
          <a:lstStyle/>
          <a:p>
            <a:pPr marL="0" indent="0" algn="ctr">
              <a:buNone/>
            </a:pPr>
            <a:r>
              <a:rPr lang="en-US" sz="1400" dirty="0">
                <a:solidFill>
                  <a:srgbClr val="555555"/>
                </a:solidFill>
                <a:latin typeface="Noto Sans SC" pitchFamily="34" charset="0"/>
                <a:ea typeface="Noto Sans SC" pitchFamily="34" charset="-122"/>
                <a:cs typeface="Noto Sans SC" pitchFamily="34" charset="-120"/>
              </a:rPr>
              <a:t>防火墙防护</a:t>
            </a:r>
            <a:endParaRPr lang="en-US" sz="1400" dirty="0">
              <a:solidFill>
                <a:srgbClr val="555555"/>
              </a:solidFill>
              <a:latin typeface="Noto Sans SC" pitchFamily="34" charset="0"/>
              <a:ea typeface="Noto Sans SC" pitchFamily="34" charset="-122"/>
              <a:cs typeface="Noto Sans SC" pitchFamily="34" charset="-120"/>
            </a:endParaRPr>
          </a:p>
        </p:txBody>
      </p:sp>
      <p:sp>
        <p:nvSpPr>
          <p:cNvPr id="37" name="Text 34"/>
          <p:cNvSpPr txBox="1"/>
          <p:nvPr/>
        </p:nvSpPr>
        <p:spPr>
          <a:xfrm>
            <a:off x="6757035" y="3229610"/>
            <a:ext cx="904240" cy="210185"/>
          </a:xfrm>
          <a:prstGeom prst="rect">
            <a:avLst/>
          </a:prstGeom>
          <a:noFill/>
        </p:spPr>
        <p:txBody>
          <a:bodyPr wrap="square" lIns="0" tIns="0" rIns="0" bIns="0" rtlCol="0" anchor="ctr"/>
          <a:lstStyle/>
          <a:p>
            <a:pPr marL="0" indent="0" algn="ctr">
              <a:buNone/>
            </a:pPr>
            <a:r>
              <a:rPr lang="en-US" sz="1400" dirty="0">
                <a:solidFill>
                  <a:srgbClr val="555555"/>
                </a:solidFill>
                <a:latin typeface="Noto Sans SC" pitchFamily="34" charset="0"/>
                <a:ea typeface="Noto Sans SC" pitchFamily="34" charset="-122"/>
                <a:cs typeface="Noto Sans SC" pitchFamily="34" charset="-120"/>
              </a:rPr>
              <a:t>EDR覆盖率</a:t>
            </a:r>
            <a:endParaRPr lang="en-US" sz="1400" dirty="0">
              <a:solidFill>
                <a:srgbClr val="555555"/>
              </a:solidFill>
              <a:latin typeface="Noto Sans SC" pitchFamily="34" charset="0"/>
              <a:ea typeface="Noto Sans SC" pitchFamily="34" charset="-122"/>
              <a:cs typeface="Noto Sans SC" pitchFamily="34" charset="-120"/>
            </a:endParaRPr>
          </a:p>
        </p:txBody>
      </p:sp>
      <p:sp>
        <p:nvSpPr>
          <p:cNvPr id="38" name="Text 35"/>
          <p:cNvSpPr txBox="1"/>
          <p:nvPr/>
        </p:nvSpPr>
        <p:spPr>
          <a:xfrm>
            <a:off x="11640185" y="3229610"/>
            <a:ext cx="755650" cy="210185"/>
          </a:xfrm>
          <a:prstGeom prst="rect">
            <a:avLst/>
          </a:prstGeom>
          <a:noFill/>
        </p:spPr>
        <p:txBody>
          <a:bodyPr wrap="square" lIns="0" tIns="0" rIns="0" bIns="0" rtlCol="0" anchor="ctr"/>
          <a:lstStyle/>
          <a:p>
            <a:pPr marL="0" indent="0" algn="ctr">
              <a:buNone/>
            </a:pPr>
            <a:r>
              <a:rPr lang="en-US" sz="1400" dirty="0">
                <a:solidFill>
                  <a:srgbClr val="555555"/>
                </a:solidFill>
                <a:latin typeface="Noto Sans SC" pitchFamily="34" charset="0"/>
                <a:ea typeface="Noto Sans SC" pitchFamily="34" charset="-122"/>
                <a:cs typeface="Noto Sans SC" pitchFamily="34" charset="-120"/>
              </a:rPr>
              <a:t>在线主机</a:t>
            </a:r>
            <a:endParaRPr lang="en-US" sz="1400" dirty="0">
              <a:solidFill>
                <a:srgbClr val="555555"/>
              </a:solidFill>
              <a:latin typeface="Noto Sans SC" pitchFamily="34" charset="0"/>
              <a:ea typeface="Noto Sans SC" pitchFamily="34" charset="-122"/>
              <a:cs typeface="Noto Sans SC" pitchFamily="34" charset="-120"/>
            </a:endParaRPr>
          </a:p>
        </p:txBody>
      </p:sp>
      <p:sp>
        <p:nvSpPr>
          <p:cNvPr id="40" name="Text 36"/>
          <p:cNvSpPr txBox="1"/>
          <p:nvPr/>
        </p:nvSpPr>
        <p:spPr>
          <a:xfrm>
            <a:off x="15373985" y="3382010"/>
            <a:ext cx="872490" cy="276225"/>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100%</a:t>
            </a:r>
            <a:endParaRPr lang="en-US" sz="1900" dirty="0"/>
          </a:p>
        </p:txBody>
      </p:sp>
      <p:sp>
        <p:nvSpPr>
          <p:cNvPr id="41" name="Text 37"/>
          <p:cNvSpPr txBox="1"/>
          <p:nvPr/>
        </p:nvSpPr>
        <p:spPr>
          <a:xfrm>
            <a:off x="15373985" y="9187815"/>
            <a:ext cx="872490" cy="305435"/>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100%</a:t>
            </a:r>
            <a:endParaRPr lang="en-US" sz="1900" dirty="0"/>
          </a:p>
        </p:txBody>
      </p:sp>
      <p:sp>
        <p:nvSpPr>
          <p:cNvPr id="42" name="Text 38"/>
          <p:cNvSpPr txBox="1"/>
          <p:nvPr/>
        </p:nvSpPr>
        <p:spPr>
          <a:xfrm>
            <a:off x="14300200" y="3444240"/>
            <a:ext cx="1073785" cy="191135"/>
          </a:xfrm>
          <a:prstGeom prst="rect">
            <a:avLst/>
          </a:prstGeom>
          <a:noFill/>
        </p:spPr>
        <p:txBody>
          <a:bodyPr wrap="square" lIns="0" tIns="0" rIns="0" bIns="0" rtlCol="0" anchor="ctr"/>
          <a:lstStyle/>
          <a:p>
            <a:pPr marL="0" indent="0" algn="l">
              <a:buNone/>
            </a:pPr>
            <a:r>
              <a:rPr lang="en-US" sz="1400" dirty="0">
                <a:solidFill>
                  <a:srgbClr val="666666"/>
                </a:solidFill>
                <a:latin typeface="Noto Sans SC" pitchFamily="34" charset="0"/>
                <a:ea typeface="Noto Sans SC" pitchFamily="34" charset="-122"/>
                <a:cs typeface="Noto Sans SC" pitchFamily="34" charset="-120"/>
              </a:rPr>
              <a:t>防护覆盖率</a:t>
            </a:r>
            <a:endParaRPr lang="en-US" sz="1400" dirty="0">
              <a:solidFill>
                <a:srgbClr val="666666"/>
              </a:solidFill>
              <a:latin typeface="Noto Sans SC" pitchFamily="34" charset="0"/>
              <a:ea typeface="Noto Sans SC" pitchFamily="34" charset="-122"/>
              <a:cs typeface="Noto Sans SC" pitchFamily="34" charset="-120"/>
            </a:endParaRPr>
          </a:p>
        </p:txBody>
      </p:sp>
      <p:pic>
        <p:nvPicPr>
          <p:cNvPr id="43" name="Image 2" descr="preencoded.png"/>
          <p:cNvPicPr>
            <a:picLocks noChangeAspect="1"/>
          </p:cNvPicPr>
          <p:nvPr/>
        </p:nvPicPr>
        <p:blipFill>
          <a:blip r:embed="rId2"/>
          <a:srcRect/>
          <a:stretch>
            <a:fillRect/>
          </a:stretch>
        </p:blipFill>
        <p:spPr>
          <a:xfrm>
            <a:off x="1157630" y="4300423"/>
            <a:ext cx="342900" cy="342900"/>
          </a:xfrm>
          <a:prstGeom prst="rect">
            <a:avLst/>
          </a:prstGeom>
        </p:spPr>
      </p:pic>
      <p:sp>
        <p:nvSpPr>
          <p:cNvPr id="44" name="Text 39"/>
          <p:cNvSpPr txBox="1"/>
          <p:nvPr/>
        </p:nvSpPr>
        <p:spPr>
          <a:xfrm>
            <a:off x="14300200" y="9256395"/>
            <a:ext cx="1073785" cy="191135"/>
          </a:xfrm>
          <a:prstGeom prst="rect">
            <a:avLst/>
          </a:prstGeom>
          <a:noFill/>
        </p:spPr>
        <p:txBody>
          <a:bodyPr wrap="square" lIns="0" tIns="0" rIns="0" bIns="0" rtlCol="0" anchor="ctr"/>
          <a:lstStyle/>
          <a:p>
            <a:pPr marL="0" indent="0" algn="l">
              <a:buNone/>
            </a:pPr>
            <a:r>
              <a:rPr lang="en-US" sz="1400" dirty="0">
                <a:solidFill>
                  <a:srgbClr val="666666"/>
                </a:solidFill>
                <a:latin typeface="Noto Sans SC" pitchFamily="34" charset="0"/>
                <a:ea typeface="Noto Sans SC" pitchFamily="34" charset="-122"/>
                <a:cs typeface="Noto Sans SC" pitchFamily="34" charset="-120"/>
              </a:rPr>
              <a:t>响应及时率</a:t>
            </a:r>
            <a:endParaRPr lang="en-US" sz="1400" dirty="0">
              <a:solidFill>
                <a:srgbClr val="666666"/>
              </a:solidFill>
              <a:latin typeface="Noto Sans SC" pitchFamily="34" charset="0"/>
              <a:ea typeface="Noto Sans SC" pitchFamily="34" charset="-122"/>
              <a:cs typeface="Noto Sans SC" pitchFamily="34" charset="-120"/>
            </a:endParaRPr>
          </a:p>
        </p:txBody>
      </p:sp>
      <p:pic>
        <p:nvPicPr>
          <p:cNvPr id="45" name="Image 3" descr="preencoded.png"/>
          <p:cNvPicPr>
            <a:picLocks noChangeAspect="1"/>
          </p:cNvPicPr>
          <p:nvPr/>
        </p:nvPicPr>
        <p:blipFill>
          <a:blip r:embed="rId3"/>
          <a:srcRect/>
          <a:stretch>
            <a:fillRect/>
          </a:stretch>
        </p:blipFill>
        <p:spPr>
          <a:xfrm>
            <a:off x="1923898" y="5057546"/>
            <a:ext cx="2286000" cy="1143000"/>
          </a:xfrm>
          <a:prstGeom prst="rect">
            <a:avLst/>
          </a:prstGeom>
        </p:spPr>
      </p:pic>
      <p:sp>
        <p:nvSpPr>
          <p:cNvPr id="46" name="Text 40"/>
          <p:cNvSpPr txBox="1"/>
          <p:nvPr/>
        </p:nvSpPr>
        <p:spPr>
          <a:xfrm>
            <a:off x="2304415" y="6160135"/>
            <a:ext cx="1929765" cy="276225"/>
          </a:xfrm>
          <a:prstGeom prst="rect">
            <a:avLst/>
          </a:prstGeom>
          <a:noFill/>
        </p:spPr>
        <p:txBody>
          <a:bodyPr wrap="square" lIns="0" tIns="0" rIns="0" bIns="0" rtlCol="0" anchor="ctr"/>
          <a:lstStyle/>
          <a:p>
            <a:pPr marL="0" indent="0" algn="ctr">
              <a:buNone/>
            </a:pPr>
            <a:r>
              <a:rPr lang="en-US" sz="1400" dirty="0">
                <a:solidFill>
                  <a:srgbClr val="555555"/>
                </a:solidFill>
                <a:latin typeface="Noto Sans SC" pitchFamily="34" charset="0"/>
                <a:ea typeface="Noto Sans SC" pitchFamily="34" charset="-122"/>
                <a:cs typeface="Noto Sans SC" pitchFamily="34" charset="-120"/>
              </a:rPr>
              <a:t>安全事件响应时间(分钟)</a:t>
            </a:r>
            <a:endParaRPr lang="en-US" sz="1400" dirty="0">
              <a:solidFill>
                <a:srgbClr val="555555"/>
              </a:solidFill>
              <a:latin typeface="Noto Sans SC" pitchFamily="34" charset="0"/>
              <a:ea typeface="Noto Sans SC" pitchFamily="34" charset="-122"/>
              <a:cs typeface="Noto Sans SC" pitchFamily="34" charset="-120"/>
            </a:endParaRPr>
          </a:p>
        </p:txBody>
      </p:sp>
      <p:pic>
        <p:nvPicPr>
          <p:cNvPr id="48" name="Image 5" descr="preencoded.png"/>
          <p:cNvPicPr>
            <a:picLocks noChangeAspect="1"/>
          </p:cNvPicPr>
          <p:nvPr/>
        </p:nvPicPr>
        <p:blipFill>
          <a:blip r:embed="rId4"/>
          <a:srcRect l="-743" r="-743"/>
          <a:stretch>
            <a:fillRect/>
          </a:stretch>
        </p:blipFill>
        <p:spPr>
          <a:xfrm>
            <a:off x="1175918" y="7034479"/>
            <a:ext cx="304495" cy="342900"/>
          </a:xfrm>
          <a:prstGeom prst="rect">
            <a:avLst/>
          </a:prstGeom>
        </p:spPr>
      </p:pic>
      <p:sp>
        <p:nvSpPr>
          <p:cNvPr id="49" name="Text 41"/>
          <p:cNvSpPr txBox="1"/>
          <p:nvPr/>
        </p:nvSpPr>
        <p:spPr>
          <a:xfrm>
            <a:off x="2495550" y="9249410"/>
            <a:ext cx="1644650" cy="191135"/>
          </a:xfrm>
          <a:prstGeom prst="rect">
            <a:avLst/>
          </a:prstGeom>
          <a:noFill/>
        </p:spPr>
        <p:txBody>
          <a:bodyPr wrap="square" lIns="0" tIns="0" rIns="0" bIns="0" rtlCol="0" anchor="ctr"/>
          <a:lstStyle/>
          <a:p>
            <a:pPr marL="0" indent="0" algn="ctr">
              <a:buNone/>
            </a:pPr>
            <a:r>
              <a:rPr lang="en-US" sz="1400" dirty="0">
                <a:solidFill>
                  <a:srgbClr val="555555"/>
                </a:solidFill>
                <a:latin typeface="Noto Sans SC" pitchFamily="34" charset="0"/>
                <a:ea typeface="Noto Sans SC" pitchFamily="34" charset="-122"/>
                <a:cs typeface="Noto Sans SC" pitchFamily="34" charset="-120"/>
              </a:rPr>
              <a:t>重要时期值守分布</a:t>
            </a:r>
            <a:endParaRPr lang="en-US" sz="1400" dirty="0">
              <a:solidFill>
                <a:srgbClr val="555555"/>
              </a:solidFill>
              <a:latin typeface="Noto Sans SC" pitchFamily="34" charset="0"/>
              <a:ea typeface="Noto Sans SC" pitchFamily="34" charset="-122"/>
              <a:cs typeface="Noto Sans SC" pitchFamily="34" charset="-120"/>
            </a:endParaRPr>
          </a:p>
        </p:txBody>
      </p:sp>
      <p:pic>
        <p:nvPicPr>
          <p:cNvPr id="50" name="Image 6" descr="preencoded.png"/>
          <p:cNvPicPr>
            <a:picLocks noChangeAspect="1"/>
          </p:cNvPicPr>
          <p:nvPr/>
        </p:nvPicPr>
        <p:blipFill>
          <a:blip r:embed="rId3"/>
          <a:srcRect/>
          <a:stretch>
            <a:fillRect/>
          </a:stretch>
        </p:blipFill>
        <p:spPr>
          <a:xfrm>
            <a:off x="1923898" y="8076895"/>
            <a:ext cx="2286000" cy="1143000"/>
          </a:xfrm>
          <a:prstGeom prst="rect">
            <a:avLst/>
          </a:prstGeom>
        </p:spPr>
      </p:pic>
      <p:sp>
        <p:nvSpPr>
          <p:cNvPr id="52" name="Text 42"/>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5</a:t>
            </a:r>
            <a:endParaRPr lang="en-US" sz="1000" dirty="0"/>
          </a:p>
        </p:txBody>
      </p:sp>
      <p:pic>
        <p:nvPicPr>
          <p:cNvPr id="54" name="图片 53"/>
          <p:cNvPicPr>
            <a:picLocks noChangeAspect="1"/>
          </p:cNvPicPr>
          <p:nvPr>
            <p:custDataLst>
              <p:tags r:id="rId5"/>
            </p:custDataLst>
          </p:nvPr>
        </p:nvPicPr>
        <p:blipFill>
          <a:blip r:embed="rId6"/>
          <a:stretch>
            <a:fillRect/>
          </a:stretch>
        </p:blipFill>
        <p:spPr>
          <a:xfrm>
            <a:off x="2063115" y="4972685"/>
            <a:ext cx="2444115" cy="1222375"/>
          </a:xfrm>
          <a:prstGeom prst="rect">
            <a:avLst/>
          </a:prstGeom>
        </p:spPr>
      </p:pic>
      <p:pic>
        <p:nvPicPr>
          <p:cNvPr id="55" name="图片 54"/>
          <p:cNvPicPr>
            <a:picLocks noChangeAspect="1"/>
          </p:cNvPicPr>
          <p:nvPr>
            <p:custDataLst>
              <p:tags r:id="rId7"/>
            </p:custDataLst>
          </p:nvPr>
        </p:nvPicPr>
        <p:blipFill>
          <a:blip r:embed="rId8"/>
          <a:stretch>
            <a:fillRect/>
          </a:stretch>
        </p:blipFill>
        <p:spPr>
          <a:xfrm>
            <a:off x="2063115" y="7804785"/>
            <a:ext cx="2765425" cy="1383030"/>
          </a:xfrm>
          <a:prstGeom prst="rect">
            <a:avLst/>
          </a:prstGeom>
        </p:spPr>
      </p:pic>
      <p:pic>
        <p:nvPicPr>
          <p:cNvPr id="56" name="图片 55"/>
          <p:cNvPicPr>
            <a:picLocks noChangeAspect="1"/>
          </p:cNvPicPr>
          <p:nvPr>
            <p:custDataLst>
              <p:tags r:id="rId9"/>
            </p:custDataLst>
          </p:nvPr>
        </p:nvPicPr>
        <p:blipFill>
          <a:blip r:embed="rId10"/>
          <a:stretch>
            <a:fillRect/>
          </a:stretch>
        </p:blipFill>
        <p:spPr>
          <a:xfrm>
            <a:off x="14062075" y="7266940"/>
            <a:ext cx="2185035" cy="1748155"/>
          </a:xfrm>
          <a:prstGeom prst="rect">
            <a:avLst/>
          </a:prstGeom>
        </p:spPr>
      </p:pic>
      <p:pic>
        <p:nvPicPr>
          <p:cNvPr id="57" name="图片 56"/>
          <p:cNvPicPr>
            <a:picLocks noChangeAspect="1"/>
          </p:cNvPicPr>
          <p:nvPr>
            <p:custDataLst>
              <p:tags r:id="rId11"/>
            </p:custDataLst>
          </p:nvPr>
        </p:nvPicPr>
        <p:blipFill>
          <a:blip r:embed="rId10"/>
          <a:stretch>
            <a:fillRect/>
          </a:stretch>
        </p:blipFill>
        <p:spPr>
          <a:xfrm>
            <a:off x="14062075" y="1733550"/>
            <a:ext cx="2044700" cy="1636395"/>
          </a:xfrm>
          <a:prstGeom prst="rect">
            <a:avLst/>
          </a:prstGeom>
        </p:spPr>
      </p:pic>
      <p:pic>
        <p:nvPicPr>
          <p:cNvPr id="58" name="图片 57"/>
          <p:cNvPicPr>
            <a:picLocks noChangeAspect="1"/>
          </p:cNvPicPr>
          <p:nvPr>
            <p:custDataLst>
              <p:tags r:id="rId12"/>
            </p:custDataLst>
          </p:nvPr>
        </p:nvPicPr>
        <p:blipFill>
          <a:blip r:embed="rId13"/>
          <a:stretch>
            <a:fillRect/>
          </a:stretch>
        </p:blipFill>
        <p:spPr>
          <a:xfrm>
            <a:off x="13926185" y="4300220"/>
            <a:ext cx="2429510" cy="19437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09905"/>
            <a:ext cx="2324405" cy="495605"/>
          </a:xfrm>
          <a:prstGeom prst="rect">
            <a:avLst/>
          </a:prstGeom>
          <a:noFill/>
        </p:spPr>
        <p:txBody>
          <a:bodyPr wrap="square" lIns="0" tIns="0" rIns="0" bIns="0" rtlCol="0" anchor="ctr"/>
          <a:lstStyle/>
          <a:p>
            <a:pPr marL="0" indent="0" algn="l">
              <a:buNone/>
            </a:pPr>
            <a:r>
              <a:rPr lang="en-US" sz="2700" b="1" dirty="0">
                <a:solidFill>
                  <a:srgbClr val="0A4275"/>
                </a:solidFill>
                <a:latin typeface="Noto Sans SC" pitchFamily="34" charset="0"/>
                <a:ea typeface="Noto Sans SC" pitchFamily="34" charset="-122"/>
                <a:cs typeface="Noto Sans SC" pitchFamily="34" charset="-120"/>
              </a:rPr>
              <a:t>资产管理综述</a:t>
            </a:r>
            <a:endParaRPr lang="en-US" sz="2700" dirty="0"/>
          </a:p>
        </p:txBody>
      </p:sp>
      <p:sp>
        <p:nvSpPr>
          <p:cNvPr id="5" name="Shape 3"/>
          <p:cNvSpPr/>
          <p:nvPr/>
        </p:nvSpPr>
        <p:spPr>
          <a:xfrm>
            <a:off x="761695" y="1200607"/>
            <a:ext cx="914400" cy="38405"/>
          </a:xfrm>
          <a:prstGeom prst="rect">
            <a:avLst/>
          </a:prstGeom>
          <a:solidFill>
            <a:srgbClr val="0A4275"/>
          </a:solidFill>
        </p:spPr>
      </p:sp>
      <p:sp>
        <p:nvSpPr>
          <p:cNvPr id="6" name="Shape 4"/>
          <p:cNvSpPr/>
          <p:nvPr/>
        </p:nvSpPr>
        <p:spPr>
          <a:xfrm>
            <a:off x="761695" y="1695298"/>
            <a:ext cx="5391302" cy="1571854"/>
          </a:xfrm>
          <a:prstGeom prst="roundRect">
            <a:avLst>
              <a:gd name="adj" fmla="val 5641"/>
            </a:avLst>
          </a:prstGeom>
          <a:solidFill>
            <a:srgbClr val="0A4275">
              <a:alpha val="6000"/>
            </a:srgbClr>
          </a:solidFill>
        </p:spPr>
      </p:sp>
      <p:pic>
        <p:nvPicPr>
          <p:cNvPr id="7" name="Image 0" descr="preencoded.png"/>
          <p:cNvPicPr>
            <a:picLocks noChangeAspect="1"/>
          </p:cNvPicPr>
          <p:nvPr/>
        </p:nvPicPr>
        <p:blipFill>
          <a:blip r:embed="rId1"/>
          <a:srcRect/>
          <a:stretch>
            <a:fillRect/>
          </a:stretch>
        </p:blipFill>
        <p:spPr>
          <a:xfrm>
            <a:off x="5479999" y="1933956"/>
            <a:ext cx="381305" cy="381305"/>
          </a:xfrm>
          <a:prstGeom prst="rect">
            <a:avLst/>
          </a:prstGeom>
        </p:spPr>
      </p:pic>
      <p:sp>
        <p:nvSpPr>
          <p:cNvPr id="8" name="Shape 5"/>
          <p:cNvSpPr/>
          <p:nvPr/>
        </p:nvSpPr>
        <p:spPr>
          <a:xfrm>
            <a:off x="6452006" y="1695298"/>
            <a:ext cx="5391302" cy="1571854"/>
          </a:xfrm>
          <a:prstGeom prst="roundRect">
            <a:avLst>
              <a:gd name="adj" fmla="val 5641"/>
            </a:avLst>
          </a:prstGeom>
          <a:solidFill>
            <a:srgbClr val="0A4275">
              <a:alpha val="6000"/>
            </a:srgbClr>
          </a:solidFill>
        </p:spPr>
      </p:sp>
      <p:sp>
        <p:nvSpPr>
          <p:cNvPr id="9" name="Text 6"/>
          <p:cNvSpPr txBox="1"/>
          <p:nvPr/>
        </p:nvSpPr>
        <p:spPr>
          <a:xfrm>
            <a:off x="1000354" y="1943100"/>
            <a:ext cx="886054"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10</a:t>
            </a:r>
            <a:endParaRPr lang="en-US" sz="3600" dirty="0"/>
          </a:p>
        </p:txBody>
      </p:sp>
      <p:sp>
        <p:nvSpPr>
          <p:cNvPr id="10" name="Text 7"/>
          <p:cNvSpPr txBox="1"/>
          <p:nvPr/>
        </p:nvSpPr>
        <p:spPr>
          <a:xfrm>
            <a:off x="6689750" y="1943100"/>
            <a:ext cx="886054"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98</a:t>
            </a:r>
            <a:endParaRPr lang="en-US" sz="3600" dirty="0"/>
          </a:p>
        </p:txBody>
      </p:sp>
      <p:sp>
        <p:nvSpPr>
          <p:cNvPr id="11" name="Text 8"/>
          <p:cNvSpPr txBox="1"/>
          <p:nvPr/>
        </p:nvSpPr>
        <p:spPr>
          <a:xfrm>
            <a:off x="1000125" y="2714625"/>
            <a:ext cx="1811655" cy="305435"/>
          </a:xfrm>
          <a:prstGeom prst="rect">
            <a:avLst/>
          </a:prstGeom>
          <a:noFill/>
        </p:spPr>
        <p:txBody>
          <a:bodyPr wrap="square" lIns="0" tIns="0" rIns="0" bIns="0" rtlCol="0" anchor="ctr"/>
          <a:lstStyle/>
          <a:p>
            <a:pPr marL="0" indent="0" algn="l">
              <a:buNone/>
            </a:pPr>
            <a:r>
              <a:rPr lang="en-US" dirty="0">
                <a:solidFill>
                  <a:srgbClr val="333333"/>
                </a:solidFill>
                <a:latin typeface="Noto Sans SC" pitchFamily="34" charset="0"/>
                <a:ea typeface="Noto Sans SC" pitchFamily="34" charset="-122"/>
                <a:cs typeface="Noto Sans SC" pitchFamily="34" charset="-120"/>
              </a:rPr>
              <a:t>服务内核心资产</a:t>
            </a:r>
            <a:endParaRPr lang="en-US" dirty="0">
              <a:solidFill>
                <a:srgbClr val="333333"/>
              </a:solidFill>
              <a:latin typeface="Noto Sans SC" pitchFamily="34" charset="0"/>
              <a:ea typeface="Noto Sans SC" pitchFamily="34" charset="-122"/>
              <a:cs typeface="Noto Sans SC" pitchFamily="34" charset="-120"/>
            </a:endParaRPr>
          </a:p>
        </p:txBody>
      </p:sp>
      <p:pic>
        <p:nvPicPr>
          <p:cNvPr id="12" name="Image 1" descr="preencoded.png"/>
          <p:cNvPicPr>
            <a:picLocks noChangeAspect="1"/>
          </p:cNvPicPr>
          <p:nvPr/>
        </p:nvPicPr>
        <p:blipFill>
          <a:blip r:embed="rId2"/>
          <a:srcRect t="-24" b="-24"/>
          <a:stretch>
            <a:fillRect/>
          </a:stretch>
        </p:blipFill>
        <p:spPr>
          <a:xfrm>
            <a:off x="11074298" y="1933956"/>
            <a:ext cx="476402" cy="381305"/>
          </a:xfrm>
          <a:prstGeom prst="rect">
            <a:avLst/>
          </a:prstGeom>
        </p:spPr>
      </p:pic>
      <p:sp>
        <p:nvSpPr>
          <p:cNvPr id="13" name="Shape 9"/>
          <p:cNvSpPr/>
          <p:nvPr/>
        </p:nvSpPr>
        <p:spPr>
          <a:xfrm>
            <a:off x="12141403" y="1695298"/>
            <a:ext cx="5391302" cy="1571854"/>
          </a:xfrm>
          <a:prstGeom prst="roundRect">
            <a:avLst>
              <a:gd name="adj" fmla="val 5641"/>
            </a:avLst>
          </a:prstGeom>
          <a:solidFill>
            <a:srgbClr val="0A4275">
              <a:alpha val="6000"/>
            </a:srgbClr>
          </a:solidFill>
        </p:spPr>
      </p:sp>
      <p:sp>
        <p:nvSpPr>
          <p:cNvPr id="14" name="Text 10"/>
          <p:cNvSpPr txBox="1"/>
          <p:nvPr/>
        </p:nvSpPr>
        <p:spPr>
          <a:xfrm>
            <a:off x="6689725" y="2714625"/>
            <a:ext cx="2645410" cy="305435"/>
          </a:xfrm>
          <a:prstGeom prst="rect">
            <a:avLst/>
          </a:prstGeom>
          <a:noFill/>
        </p:spPr>
        <p:txBody>
          <a:bodyPr wrap="square" lIns="0" tIns="0" rIns="0" bIns="0" rtlCol="0" anchor="ctr"/>
          <a:lstStyle/>
          <a:p>
            <a:pPr marL="0" indent="0" algn="l">
              <a:buNone/>
            </a:pPr>
            <a:r>
              <a:rPr lang="en-US" dirty="0">
                <a:solidFill>
                  <a:srgbClr val="333333"/>
                </a:solidFill>
                <a:latin typeface="Noto Sans SC" pitchFamily="34" charset="0"/>
                <a:ea typeface="Noto Sans SC" pitchFamily="34" charset="-122"/>
                <a:cs typeface="Noto Sans SC" pitchFamily="34" charset="-120"/>
              </a:rPr>
              <a:t>MSSP平台已录入IP资产</a:t>
            </a:r>
            <a:endParaRPr lang="en-US" dirty="0">
              <a:solidFill>
                <a:srgbClr val="333333"/>
              </a:solidFill>
              <a:latin typeface="Noto Sans SC" pitchFamily="34" charset="0"/>
              <a:ea typeface="Noto Sans SC" pitchFamily="34" charset="-122"/>
              <a:cs typeface="Noto Sans SC" pitchFamily="34" charset="-120"/>
            </a:endParaRPr>
          </a:p>
        </p:txBody>
      </p:sp>
      <p:pic>
        <p:nvPicPr>
          <p:cNvPr id="15" name="Image 2" descr="preencoded.png"/>
          <p:cNvPicPr>
            <a:picLocks noChangeAspect="1"/>
          </p:cNvPicPr>
          <p:nvPr/>
        </p:nvPicPr>
        <p:blipFill>
          <a:blip r:embed="rId3"/>
          <a:srcRect t="-24" b="-24"/>
          <a:stretch>
            <a:fillRect/>
          </a:stretch>
        </p:blipFill>
        <p:spPr>
          <a:xfrm>
            <a:off x="16763695" y="1933956"/>
            <a:ext cx="476402" cy="381305"/>
          </a:xfrm>
          <a:prstGeom prst="rect">
            <a:avLst/>
          </a:prstGeom>
        </p:spPr>
      </p:pic>
      <p:sp>
        <p:nvSpPr>
          <p:cNvPr id="16" name="Text 11"/>
          <p:cNvSpPr txBox="1"/>
          <p:nvPr/>
        </p:nvSpPr>
        <p:spPr>
          <a:xfrm>
            <a:off x="12379147" y="1943100"/>
            <a:ext cx="886054"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10</a:t>
            </a:r>
            <a:endParaRPr lang="en-US" sz="3600" dirty="0"/>
          </a:p>
        </p:txBody>
      </p:sp>
      <p:sp>
        <p:nvSpPr>
          <p:cNvPr id="17" name="Text 12"/>
          <p:cNvSpPr txBox="1"/>
          <p:nvPr/>
        </p:nvSpPr>
        <p:spPr>
          <a:xfrm>
            <a:off x="12379325" y="2714625"/>
            <a:ext cx="1579880" cy="305435"/>
          </a:xfrm>
          <a:prstGeom prst="rect">
            <a:avLst/>
          </a:prstGeom>
          <a:noFill/>
        </p:spPr>
        <p:txBody>
          <a:bodyPr wrap="square" lIns="0" tIns="0" rIns="0" bIns="0" rtlCol="0" anchor="ctr"/>
          <a:lstStyle/>
          <a:p>
            <a:pPr marL="0" indent="0" algn="l">
              <a:buNone/>
            </a:pPr>
            <a:r>
              <a:rPr lang="en-US" dirty="0">
                <a:solidFill>
                  <a:srgbClr val="333333"/>
                </a:solidFill>
                <a:latin typeface="Noto Sans SC" pitchFamily="34" charset="0"/>
                <a:ea typeface="Noto Sans SC" pitchFamily="34" charset="-122"/>
                <a:cs typeface="Noto Sans SC" pitchFamily="34" charset="-120"/>
              </a:rPr>
              <a:t>业务系统数量</a:t>
            </a:r>
            <a:endParaRPr lang="en-US" dirty="0">
              <a:solidFill>
                <a:srgbClr val="333333"/>
              </a:solidFill>
              <a:latin typeface="Noto Sans SC" pitchFamily="34" charset="0"/>
              <a:ea typeface="Noto Sans SC" pitchFamily="34" charset="-122"/>
              <a:cs typeface="Noto Sans SC" pitchFamily="34" charset="-120"/>
            </a:endParaRPr>
          </a:p>
        </p:txBody>
      </p:sp>
      <p:sp>
        <p:nvSpPr>
          <p:cNvPr id="18" name="Shape 13"/>
          <p:cNvSpPr/>
          <p:nvPr/>
        </p:nvSpPr>
        <p:spPr>
          <a:xfrm>
            <a:off x="761695" y="3838651"/>
            <a:ext cx="8229600" cy="1742846"/>
          </a:xfrm>
          <a:prstGeom prst="roundRect">
            <a:avLst>
              <a:gd name="adj" fmla="val 3440"/>
            </a:avLst>
          </a:prstGeom>
          <a:solidFill>
            <a:srgbClr val="0A4275">
              <a:alpha val="6000"/>
            </a:srgbClr>
          </a:solidFill>
        </p:spPr>
      </p:sp>
      <p:sp>
        <p:nvSpPr>
          <p:cNvPr id="19" name="Shape 14"/>
          <p:cNvSpPr/>
          <p:nvPr/>
        </p:nvSpPr>
        <p:spPr>
          <a:xfrm>
            <a:off x="761695" y="3838651"/>
            <a:ext cx="38405" cy="1742846"/>
          </a:xfrm>
          <a:prstGeom prst="rect">
            <a:avLst/>
          </a:prstGeom>
          <a:solidFill>
            <a:srgbClr val="0A4275"/>
          </a:solidFill>
        </p:spPr>
      </p:sp>
      <p:pic>
        <p:nvPicPr>
          <p:cNvPr id="20" name="Image 3" descr="preencoded.png"/>
          <p:cNvPicPr>
            <a:picLocks noChangeAspect="1"/>
          </p:cNvPicPr>
          <p:nvPr/>
        </p:nvPicPr>
        <p:blipFill>
          <a:blip r:embed="rId4"/>
          <a:srcRect t="-44" b="-44"/>
          <a:stretch>
            <a:fillRect/>
          </a:stretch>
        </p:blipFill>
        <p:spPr>
          <a:xfrm>
            <a:off x="990295" y="4095598"/>
            <a:ext cx="256946" cy="228600"/>
          </a:xfrm>
          <a:prstGeom prst="rect">
            <a:avLst/>
          </a:prstGeom>
        </p:spPr>
      </p:pic>
      <p:sp>
        <p:nvSpPr>
          <p:cNvPr id="21" name="Shape 15"/>
          <p:cNvSpPr/>
          <p:nvPr/>
        </p:nvSpPr>
        <p:spPr>
          <a:xfrm>
            <a:off x="9296705" y="3838651"/>
            <a:ext cx="8229600" cy="1742846"/>
          </a:xfrm>
          <a:prstGeom prst="roundRect">
            <a:avLst>
              <a:gd name="adj" fmla="val 3440"/>
            </a:avLst>
          </a:prstGeom>
          <a:solidFill>
            <a:srgbClr val="0A4275">
              <a:alpha val="6000"/>
            </a:srgbClr>
          </a:solidFill>
        </p:spPr>
      </p:sp>
      <p:sp>
        <p:nvSpPr>
          <p:cNvPr id="22" name="Shape 16"/>
          <p:cNvSpPr/>
          <p:nvPr/>
        </p:nvSpPr>
        <p:spPr>
          <a:xfrm>
            <a:off x="9296705" y="3838651"/>
            <a:ext cx="38405" cy="1742846"/>
          </a:xfrm>
          <a:prstGeom prst="rect">
            <a:avLst/>
          </a:prstGeom>
          <a:solidFill>
            <a:srgbClr val="0A4275"/>
          </a:solidFill>
        </p:spPr>
      </p:sp>
      <p:sp>
        <p:nvSpPr>
          <p:cNvPr id="23" name="Text 17"/>
          <p:cNvSpPr txBox="1"/>
          <p:nvPr/>
        </p:nvSpPr>
        <p:spPr>
          <a:xfrm>
            <a:off x="1362456" y="4028846"/>
            <a:ext cx="1543507"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核心业务系统</a:t>
            </a:r>
            <a:endParaRPr lang="en-US" sz="1800" dirty="0"/>
          </a:p>
        </p:txBody>
      </p:sp>
      <p:sp>
        <p:nvSpPr>
          <p:cNvPr id="24" name="Text 18"/>
          <p:cNvSpPr txBox="1"/>
          <p:nvPr/>
        </p:nvSpPr>
        <p:spPr>
          <a:xfrm>
            <a:off x="9868205" y="4028846"/>
            <a:ext cx="2000707"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安全设备接入状态</a:t>
            </a:r>
            <a:endParaRPr lang="en-US" sz="1800" dirty="0"/>
          </a:p>
        </p:txBody>
      </p:sp>
      <p:sp>
        <p:nvSpPr>
          <p:cNvPr id="25" name="Text 19"/>
          <p:cNvSpPr txBox="1"/>
          <p:nvPr/>
        </p:nvSpPr>
        <p:spPr>
          <a:xfrm>
            <a:off x="990600" y="4515485"/>
            <a:ext cx="7766685" cy="77978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包括HIS系统、EMR电子病历、预约挂号、PACS影像系统、医保云服务器、银行自助、CRM服务等重要医疗业务系统。</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26" name="Image 4" descr="preencoded.png"/>
          <p:cNvPicPr>
            <a:picLocks noChangeAspect="1"/>
          </p:cNvPicPr>
          <p:nvPr/>
        </p:nvPicPr>
        <p:blipFill>
          <a:blip r:embed="rId5"/>
          <a:srcRect/>
          <a:stretch>
            <a:fillRect/>
          </a:stretch>
        </p:blipFill>
        <p:spPr>
          <a:xfrm>
            <a:off x="9525305" y="4095598"/>
            <a:ext cx="228600" cy="228600"/>
          </a:xfrm>
          <a:prstGeom prst="rect">
            <a:avLst/>
          </a:prstGeom>
        </p:spPr>
      </p:pic>
      <p:sp>
        <p:nvSpPr>
          <p:cNvPr id="27" name="Text 20"/>
          <p:cNvSpPr txBox="1"/>
          <p:nvPr/>
        </p:nvSpPr>
        <p:spPr>
          <a:xfrm>
            <a:off x="9525305" y="4515307"/>
            <a:ext cx="3001061"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已接入安全运营中心的在线设备：</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8" name="Shape 21"/>
          <p:cNvSpPr/>
          <p:nvPr/>
        </p:nvSpPr>
        <p:spPr>
          <a:xfrm>
            <a:off x="9525305" y="4914900"/>
            <a:ext cx="1019556" cy="381305"/>
          </a:xfrm>
          <a:prstGeom prst="roundRect">
            <a:avLst>
              <a:gd name="adj" fmla="val 119904"/>
            </a:avLst>
          </a:prstGeom>
          <a:solidFill>
            <a:srgbClr val="0A4275"/>
          </a:solidFill>
        </p:spPr>
      </p:sp>
      <p:pic>
        <p:nvPicPr>
          <p:cNvPr id="29" name="Image 5" descr="preencoded.png"/>
          <p:cNvPicPr>
            <a:picLocks noChangeAspect="1"/>
          </p:cNvPicPr>
          <p:nvPr/>
        </p:nvPicPr>
        <p:blipFill>
          <a:blip r:embed="rId6"/>
          <a:srcRect/>
          <a:stretch>
            <a:fillRect/>
          </a:stretch>
        </p:blipFill>
        <p:spPr>
          <a:xfrm>
            <a:off x="9639605" y="5014570"/>
            <a:ext cx="190195" cy="190195"/>
          </a:xfrm>
          <a:prstGeom prst="rect">
            <a:avLst/>
          </a:prstGeom>
        </p:spPr>
      </p:pic>
      <p:sp>
        <p:nvSpPr>
          <p:cNvPr id="30" name="Shape 22"/>
          <p:cNvSpPr/>
          <p:nvPr/>
        </p:nvSpPr>
        <p:spPr>
          <a:xfrm>
            <a:off x="10635386" y="4914900"/>
            <a:ext cx="914400" cy="381305"/>
          </a:xfrm>
          <a:prstGeom prst="roundRect">
            <a:avLst>
              <a:gd name="adj" fmla="val 119904"/>
            </a:avLst>
          </a:prstGeom>
          <a:solidFill>
            <a:srgbClr val="0A4275"/>
          </a:solidFill>
        </p:spPr>
      </p:sp>
      <p:sp>
        <p:nvSpPr>
          <p:cNvPr id="31" name="Shape 23"/>
          <p:cNvSpPr/>
          <p:nvPr/>
        </p:nvSpPr>
        <p:spPr>
          <a:xfrm>
            <a:off x="11641226" y="4914900"/>
            <a:ext cx="1057046" cy="381305"/>
          </a:xfrm>
          <a:prstGeom prst="roundRect">
            <a:avLst>
              <a:gd name="adj" fmla="val 119904"/>
            </a:avLst>
          </a:prstGeom>
          <a:solidFill>
            <a:srgbClr val="0A4275"/>
          </a:solidFill>
        </p:spPr>
      </p:sp>
      <p:sp>
        <p:nvSpPr>
          <p:cNvPr id="32" name="Text 24"/>
          <p:cNvSpPr txBox="1"/>
          <p:nvPr/>
        </p:nvSpPr>
        <p:spPr>
          <a:xfrm>
            <a:off x="9905695" y="4962449"/>
            <a:ext cx="667512" cy="277063"/>
          </a:xfrm>
          <a:prstGeom prst="rect">
            <a:avLst/>
          </a:prstGeom>
          <a:noFill/>
        </p:spPr>
        <p:txBody>
          <a:bodyPr wrap="square" lIns="0" tIns="0" rIns="0" bIns="0" rtlCol="0" anchor="ctr"/>
          <a:lstStyle/>
          <a:p>
            <a:pPr marL="0" indent="0" algn="l">
              <a:buNone/>
            </a:pPr>
            <a:r>
              <a:rPr lang="en-US" sz="1500" dirty="0">
                <a:solidFill>
                  <a:srgbClr val="FFFFFF"/>
                </a:solidFill>
                <a:latin typeface="Noto Sans SC" pitchFamily="34" charset="0"/>
                <a:ea typeface="Noto Sans SC" pitchFamily="34" charset="-122"/>
                <a:cs typeface="Noto Sans SC" pitchFamily="34" charset="-120"/>
              </a:rPr>
              <a:t>TSS*1</a:t>
            </a:r>
            <a:endParaRPr lang="en-US" sz="1500" dirty="0"/>
          </a:p>
        </p:txBody>
      </p:sp>
      <p:pic>
        <p:nvPicPr>
          <p:cNvPr id="33" name="Image 6" descr="preencoded.png"/>
          <p:cNvPicPr>
            <a:picLocks noChangeAspect="1"/>
          </p:cNvPicPr>
          <p:nvPr/>
        </p:nvPicPr>
        <p:blipFill>
          <a:blip r:embed="rId6"/>
          <a:srcRect/>
          <a:stretch>
            <a:fillRect/>
          </a:stretch>
        </p:blipFill>
        <p:spPr>
          <a:xfrm>
            <a:off x="10749686" y="5014570"/>
            <a:ext cx="190195" cy="190195"/>
          </a:xfrm>
          <a:prstGeom prst="rect">
            <a:avLst/>
          </a:prstGeom>
        </p:spPr>
      </p:pic>
      <p:sp>
        <p:nvSpPr>
          <p:cNvPr id="34" name="Text 25"/>
          <p:cNvSpPr txBox="1"/>
          <p:nvPr/>
        </p:nvSpPr>
        <p:spPr>
          <a:xfrm>
            <a:off x="11015777" y="4962449"/>
            <a:ext cx="562356" cy="277063"/>
          </a:xfrm>
          <a:prstGeom prst="rect">
            <a:avLst/>
          </a:prstGeom>
          <a:noFill/>
        </p:spPr>
        <p:txBody>
          <a:bodyPr wrap="square" lIns="0" tIns="0" rIns="0" bIns="0" rtlCol="0" anchor="ctr"/>
          <a:lstStyle/>
          <a:p>
            <a:pPr marL="0" indent="0" algn="l">
              <a:buNone/>
            </a:pPr>
            <a:r>
              <a:rPr lang="en-US" sz="1500" dirty="0">
                <a:solidFill>
                  <a:srgbClr val="FFFFFF"/>
                </a:solidFill>
                <a:latin typeface="Noto Sans SC" pitchFamily="34" charset="0"/>
                <a:ea typeface="Noto Sans SC" pitchFamily="34" charset="-122"/>
                <a:cs typeface="Noto Sans SC" pitchFamily="34" charset="-120"/>
              </a:rPr>
              <a:t>AF*2</a:t>
            </a:r>
            <a:endParaRPr lang="en-US" sz="1500" dirty="0"/>
          </a:p>
        </p:txBody>
      </p:sp>
      <p:pic>
        <p:nvPicPr>
          <p:cNvPr id="35" name="Image 7" descr="preencoded.png"/>
          <p:cNvPicPr>
            <a:picLocks noChangeAspect="1"/>
          </p:cNvPicPr>
          <p:nvPr/>
        </p:nvPicPr>
        <p:blipFill>
          <a:blip r:embed="rId6"/>
          <a:srcRect/>
          <a:stretch>
            <a:fillRect/>
          </a:stretch>
        </p:blipFill>
        <p:spPr>
          <a:xfrm>
            <a:off x="11755526" y="5014570"/>
            <a:ext cx="190195" cy="190195"/>
          </a:xfrm>
          <a:prstGeom prst="rect">
            <a:avLst/>
          </a:prstGeom>
        </p:spPr>
      </p:pic>
      <p:sp>
        <p:nvSpPr>
          <p:cNvPr id="36" name="Text 26"/>
          <p:cNvSpPr txBox="1"/>
          <p:nvPr/>
        </p:nvSpPr>
        <p:spPr>
          <a:xfrm>
            <a:off x="12022531" y="4962449"/>
            <a:ext cx="705002" cy="277063"/>
          </a:xfrm>
          <a:prstGeom prst="rect">
            <a:avLst/>
          </a:prstGeom>
          <a:noFill/>
        </p:spPr>
        <p:txBody>
          <a:bodyPr wrap="square" lIns="0" tIns="0" rIns="0" bIns="0" rtlCol="0" anchor="ctr"/>
          <a:lstStyle/>
          <a:p>
            <a:pPr marL="0" indent="0" algn="l">
              <a:buNone/>
            </a:pPr>
            <a:r>
              <a:rPr lang="en-US" sz="1500" dirty="0">
                <a:solidFill>
                  <a:srgbClr val="FFFFFF"/>
                </a:solidFill>
                <a:latin typeface="Noto Sans SC" pitchFamily="34" charset="0"/>
                <a:ea typeface="Noto Sans SC" pitchFamily="34" charset="-122"/>
                <a:cs typeface="Noto Sans SC" pitchFamily="34" charset="-120"/>
              </a:rPr>
              <a:t>EDR*1</a:t>
            </a:r>
            <a:endParaRPr lang="en-US" sz="1500" dirty="0"/>
          </a:p>
        </p:txBody>
      </p:sp>
      <p:sp>
        <p:nvSpPr>
          <p:cNvPr id="37" name="Shape 27"/>
          <p:cNvSpPr/>
          <p:nvPr/>
        </p:nvSpPr>
        <p:spPr>
          <a:xfrm>
            <a:off x="761695" y="6057900"/>
            <a:ext cx="16763695" cy="1952244"/>
          </a:xfrm>
          <a:prstGeom prst="roundRect">
            <a:avLst>
              <a:gd name="adj" fmla="val 2742"/>
            </a:avLst>
          </a:prstGeom>
          <a:solidFill>
            <a:srgbClr val="0A4275">
              <a:alpha val="6000"/>
            </a:srgbClr>
          </a:solidFill>
        </p:spPr>
      </p:sp>
      <p:sp>
        <p:nvSpPr>
          <p:cNvPr id="38" name="Shape 28"/>
          <p:cNvSpPr/>
          <p:nvPr/>
        </p:nvSpPr>
        <p:spPr>
          <a:xfrm>
            <a:off x="761695" y="6057900"/>
            <a:ext cx="38405" cy="1952244"/>
          </a:xfrm>
          <a:prstGeom prst="rect">
            <a:avLst/>
          </a:prstGeom>
          <a:solidFill>
            <a:srgbClr val="0A4275"/>
          </a:solidFill>
        </p:spPr>
      </p:sp>
      <p:pic>
        <p:nvPicPr>
          <p:cNvPr id="39" name="Image 8" descr="preencoded.png"/>
          <p:cNvPicPr>
            <a:picLocks noChangeAspect="1"/>
          </p:cNvPicPr>
          <p:nvPr/>
        </p:nvPicPr>
        <p:blipFill>
          <a:blip r:embed="rId7"/>
          <a:srcRect/>
          <a:stretch>
            <a:fillRect/>
          </a:stretch>
        </p:blipFill>
        <p:spPr>
          <a:xfrm>
            <a:off x="990295" y="6314846"/>
            <a:ext cx="228600" cy="228600"/>
          </a:xfrm>
          <a:prstGeom prst="rect">
            <a:avLst/>
          </a:prstGeom>
        </p:spPr>
      </p:pic>
      <p:sp>
        <p:nvSpPr>
          <p:cNvPr id="40" name="Text 29"/>
          <p:cNvSpPr txBox="1"/>
          <p:nvPr/>
        </p:nvSpPr>
        <p:spPr>
          <a:xfrm>
            <a:off x="1333195" y="6248095"/>
            <a:ext cx="1543507"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资产状况提示</a:t>
            </a:r>
            <a:endParaRPr lang="en-US" sz="1800" dirty="0"/>
          </a:p>
        </p:txBody>
      </p:sp>
      <p:sp>
        <p:nvSpPr>
          <p:cNvPr id="41" name="Text 30"/>
          <p:cNvSpPr txBox="1"/>
          <p:nvPr/>
        </p:nvSpPr>
        <p:spPr>
          <a:xfrm>
            <a:off x="990600" y="6734810"/>
            <a:ext cx="612521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 所有服务内资产均在防火墙的防护范围内，整体资产状态稳定</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42" name="Text 31"/>
          <p:cNvSpPr txBox="1"/>
          <p:nvPr/>
        </p:nvSpPr>
        <p:spPr>
          <a:xfrm>
            <a:off x="990600" y="7134225"/>
            <a:ext cx="5069205"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 服务内资产仍有</a:t>
            </a:r>
            <a:r>
              <a:rPr lang="en-US" sz="1600" b="1" dirty="0">
                <a:solidFill>
                  <a:srgbClr val="FF0000"/>
                </a:solidFill>
                <a:latin typeface="Noto Sans SC" pitchFamily="34" charset="0"/>
                <a:ea typeface="Noto Sans SC" pitchFamily="34" charset="-122"/>
                <a:cs typeface="Noto Sans SC" pitchFamily="34" charset="-120"/>
              </a:rPr>
              <a:t>2个未安装EDR，2个处于离线状态</a:t>
            </a:r>
            <a:endParaRPr lang="en-US" sz="1600" b="1" dirty="0">
              <a:solidFill>
                <a:srgbClr val="FF0000"/>
              </a:solidFill>
              <a:latin typeface="Noto Sans SC" pitchFamily="34" charset="0"/>
              <a:ea typeface="Noto Sans SC" pitchFamily="34" charset="-122"/>
              <a:cs typeface="Noto Sans SC" pitchFamily="34" charset="-120"/>
            </a:endParaRPr>
          </a:p>
        </p:txBody>
      </p:sp>
      <p:sp>
        <p:nvSpPr>
          <p:cNvPr id="43" name="Text 32"/>
          <p:cNvSpPr txBox="1"/>
          <p:nvPr/>
        </p:nvSpPr>
        <p:spPr>
          <a:xfrm>
            <a:off x="990600" y="7534910"/>
            <a:ext cx="470027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 服务时间：2024年10月13日-2025年10月13日</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44" name="Text 33"/>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09905"/>
            <a:ext cx="3010205" cy="495605"/>
          </a:xfrm>
          <a:prstGeom prst="rect">
            <a:avLst/>
          </a:prstGeom>
          <a:noFill/>
        </p:spPr>
        <p:txBody>
          <a:bodyPr wrap="square" lIns="0" tIns="0" rIns="0" bIns="0" rtlCol="0" anchor="ctr"/>
          <a:lstStyle/>
          <a:p>
            <a:pPr marL="0" indent="0" algn="l">
              <a:buNone/>
            </a:pPr>
            <a:r>
              <a:rPr lang="en-US" sz="2700" b="1" dirty="0">
                <a:solidFill>
                  <a:srgbClr val="0A4275"/>
                </a:solidFill>
                <a:latin typeface="Noto Sans SC" pitchFamily="34" charset="0"/>
                <a:ea typeface="Noto Sans SC" pitchFamily="34" charset="-122"/>
                <a:cs typeface="Noto Sans SC" pitchFamily="34" charset="-120"/>
              </a:rPr>
              <a:t>资产管理风险分析</a:t>
            </a:r>
            <a:endParaRPr lang="en-US" sz="2700" dirty="0"/>
          </a:p>
        </p:txBody>
      </p:sp>
      <p:sp>
        <p:nvSpPr>
          <p:cNvPr id="5" name="Shape 3"/>
          <p:cNvSpPr/>
          <p:nvPr/>
        </p:nvSpPr>
        <p:spPr>
          <a:xfrm>
            <a:off x="761695" y="1200607"/>
            <a:ext cx="914400" cy="38405"/>
          </a:xfrm>
          <a:prstGeom prst="rect">
            <a:avLst/>
          </a:prstGeom>
          <a:solidFill>
            <a:srgbClr val="0A4275"/>
          </a:solidFill>
        </p:spPr>
      </p:sp>
      <p:sp>
        <p:nvSpPr>
          <p:cNvPr id="6" name="Text 4"/>
          <p:cNvSpPr txBox="1"/>
          <p:nvPr/>
        </p:nvSpPr>
        <p:spPr>
          <a:xfrm>
            <a:off x="762000" y="1466850"/>
            <a:ext cx="6015990" cy="27686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防护状态视角：当前录入资产中全部已经在防火墙的防护范围内</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 name="Text 5"/>
          <p:cNvSpPr txBox="1"/>
          <p:nvPr/>
        </p:nvSpPr>
        <p:spPr>
          <a:xfrm>
            <a:off x="762000" y="1905000"/>
            <a:ext cx="6957695" cy="27686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主机防护视角：服务内的资产目前仍有 2 个未安装EDR，2个处于离线状态</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 name="Shape 6"/>
          <p:cNvSpPr/>
          <p:nvPr/>
        </p:nvSpPr>
        <p:spPr>
          <a:xfrm>
            <a:off x="761695" y="2523744"/>
            <a:ext cx="771754" cy="543154"/>
          </a:xfrm>
          <a:prstGeom prst="rect">
            <a:avLst/>
          </a:prstGeom>
          <a:solidFill>
            <a:srgbClr val="0A4275"/>
          </a:solidFill>
        </p:spPr>
      </p:sp>
      <p:sp>
        <p:nvSpPr>
          <p:cNvPr id="9" name="Shape 7"/>
          <p:cNvSpPr/>
          <p:nvPr/>
        </p:nvSpPr>
        <p:spPr>
          <a:xfrm>
            <a:off x="1529791" y="2523744"/>
            <a:ext cx="3886200" cy="543154"/>
          </a:xfrm>
          <a:prstGeom prst="rect">
            <a:avLst/>
          </a:prstGeom>
          <a:solidFill>
            <a:srgbClr val="0A4275"/>
          </a:solidFill>
        </p:spPr>
      </p:sp>
      <p:sp>
        <p:nvSpPr>
          <p:cNvPr id="10" name="Shape 8"/>
          <p:cNvSpPr/>
          <p:nvPr/>
        </p:nvSpPr>
        <p:spPr>
          <a:xfrm>
            <a:off x="5415991" y="2523744"/>
            <a:ext cx="1676095" cy="543154"/>
          </a:xfrm>
          <a:prstGeom prst="rect">
            <a:avLst/>
          </a:prstGeom>
          <a:solidFill>
            <a:srgbClr val="0A4275"/>
          </a:solidFill>
        </p:spPr>
      </p:sp>
      <p:sp>
        <p:nvSpPr>
          <p:cNvPr id="11" name="Shape 9"/>
          <p:cNvSpPr/>
          <p:nvPr/>
        </p:nvSpPr>
        <p:spPr>
          <a:xfrm>
            <a:off x="7086600" y="2523744"/>
            <a:ext cx="1895551" cy="543154"/>
          </a:xfrm>
          <a:prstGeom prst="rect">
            <a:avLst/>
          </a:prstGeom>
          <a:solidFill>
            <a:srgbClr val="0A4275"/>
          </a:solidFill>
        </p:spPr>
      </p:sp>
      <p:sp>
        <p:nvSpPr>
          <p:cNvPr id="12" name="Shape 10"/>
          <p:cNvSpPr/>
          <p:nvPr/>
        </p:nvSpPr>
        <p:spPr>
          <a:xfrm>
            <a:off x="9311335" y="2523744"/>
            <a:ext cx="780898" cy="543154"/>
          </a:xfrm>
          <a:prstGeom prst="rect">
            <a:avLst/>
          </a:prstGeom>
          <a:solidFill>
            <a:srgbClr val="0A4275"/>
          </a:solidFill>
        </p:spPr>
      </p:sp>
      <p:sp>
        <p:nvSpPr>
          <p:cNvPr id="13" name="Shape 11"/>
          <p:cNvSpPr/>
          <p:nvPr/>
        </p:nvSpPr>
        <p:spPr>
          <a:xfrm>
            <a:off x="10084003" y="2523744"/>
            <a:ext cx="3866998" cy="543154"/>
          </a:xfrm>
          <a:prstGeom prst="rect">
            <a:avLst/>
          </a:prstGeom>
          <a:solidFill>
            <a:srgbClr val="0A4275"/>
          </a:solidFill>
        </p:spPr>
      </p:sp>
      <p:sp>
        <p:nvSpPr>
          <p:cNvPr id="14" name="Shape 12"/>
          <p:cNvSpPr/>
          <p:nvPr/>
        </p:nvSpPr>
        <p:spPr>
          <a:xfrm>
            <a:off x="13945514" y="2523744"/>
            <a:ext cx="1686154" cy="543154"/>
          </a:xfrm>
          <a:prstGeom prst="rect">
            <a:avLst/>
          </a:prstGeom>
          <a:solidFill>
            <a:srgbClr val="0A4275"/>
          </a:solidFill>
        </p:spPr>
      </p:sp>
      <p:sp>
        <p:nvSpPr>
          <p:cNvPr id="15" name="Shape 13"/>
          <p:cNvSpPr/>
          <p:nvPr/>
        </p:nvSpPr>
        <p:spPr>
          <a:xfrm>
            <a:off x="15625267" y="2523744"/>
            <a:ext cx="1904695" cy="543154"/>
          </a:xfrm>
          <a:prstGeom prst="rect">
            <a:avLst/>
          </a:prstGeom>
          <a:solidFill>
            <a:srgbClr val="0A4275"/>
          </a:solidFill>
        </p:spPr>
      </p:sp>
      <p:sp>
        <p:nvSpPr>
          <p:cNvPr id="16" name="Text 14"/>
          <p:cNvSpPr txBox="1"/>
          <p:nvPr/>
        </p:nvSpPr>
        <p:spPr>
          <a:xfrm>
            <a:off x="936346" y="2638044"/>
            <a:ext cx="586130"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序号</a:t>
            </a:r>
            <a:endParaRPr lang="en-US" sz="1600" dirty="0"/>
          </a:p>
        </p:txBody>
      </p:sp>
      <p:sp>
        <p:nvSpPr>
          <p:cNvPr id="17" name="Text 15"/>
          <p:cNvSpPr txBox="1"/>
          <p:nvPr/>
        </p:nvSpPr>
        <p:spPr>
          <a:xfrm>
            <a:off x="2742286" y="2638044"/>
            <a:ext cx="1624889"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IP（业务名称）</a:t>
            </a:r>
            <a:endParaRPr lang="en-US" sz="1600" dirty="0"/>
          </a:p>
        </p:txBody>
      </p:sp>
      <p:sp>
        <p:nvSpPr>
          <p:cNvPr id="18" name="Text 16"/>
          <p:cNvSpPr txBox="1"/>
          <p:nvPr/>
        </p:nvSpPr>
        <p:spPr>
          <a:xfrm>
            <a:off x="5705856" y="2638044"/>
            <a:ext cx="1252728"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AF防护状态</a:t>
            </a:r>
            <a:endParaRPr lang="en-US" sz="1600" dirty="0"/>
          </a:p>
        </p:txBody>
      </p:sp>
      <p:sp>
        <p:nvSpPr>
          <p:cNvPr id="19" name="Text 17"/>
          <p:cNvSpPr txBox="1"/>
          <p:nvPr/>
        </p:nvSpPr>
        <p:spPr>
          <a:xfrm>
            <a:off x="7403897" y="2638044"/>
            <a:ext cx="1414577"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EDR安装情况</a:t>
            </a:r>
            <a:endParaRPr lang="en-US" sz="1600" dirty="0"/>
          </a:p>
        </p:txBody>
      </p:sp>
      <p:sp>
        <p:nvSpPr>
          <p:cNvPr id="20" name="Text 18"/>
          <p:cNvSpPr txBox="1"/>
          <p:nvPr/>
        </p:nvSpPr>
        <p:spPr>
          <a:xfrm>
            <a:off x="9487814" y="2638044"/>
            <a:ext cx="586130"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序号</a:t>
            </a:r>
            <a:endParaRPr lang="en-US" sz="1600" dirty="0"/>
          </a:p>
        </p:txBody>
      </p:sp>
      <p:sp>
        <p:nvSpPr>
          <p:cNvPr id="21" name="Text 19"/>
          <p:cNvSpPr txBox="1"/>
          <p:nvPr/>
        </p:nvSpPr>
        <p:spPr>
          <a:xfrm>
            <a:off x="11283696" y="2638044"/>
            <a:ext cx="1624889"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IP（业务名称）</a:t>
            </a:r>
            <a:endParaRPr lang="en-US" sz="1600" dirty="0"/>
          </a:p>
        </p:txBody>
      </p:sp>
      <p:sp>
        <p:nvSpPr>
          <p:cNvPr id="22" name="Text 20"/>
          <p:cNvSpPr txBox="1"/>
          <p:nvPr/>
        </p:nvSpPr>
        <p:spPr>
          <a:xfrm>
            <a:off x="14239951" y="2638044"/>
            <a:ext cx="1252728"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AF防护状态</a:t>
            </a:r>
            <a:endParaRPr lang="en-US" sz="1600" dirty="0"/>
          </a:p>
        </p:txBody>
      </p:sp>
      <p:sp>
        <p:nvSpPr>
          <p:cNvPr id="23" name="Text 21"/>
          <p:cNvSpPr txBox="1"/>
          <p:nvPr/>
        </p:nvSpPr>
        <p:spPr>
          <a:xfrm>
            <a:off x="15948965" y="2638044"/>
            <a:ext cx="1414577" cy="305410"/>
          </a:xfrm>
          <a:prstGeom prst="rect">
            <a:avLst/>
          </a:prstGeom>
          <a:noFill/>
        </p:spPr>
        <p:txBody>
          <a:bodyPr wrap="square" lIns="0" tIns="0" rIns="0" bIns="0" rtlCol="0" anchor="ctr"/>
          <a:lstStyle/>
          <a:p>
            <a:pPr marL="0" indent="0" algn="ctr">
              <a:buNone/>
            </a:pPr>
            <a:r>
              <a:rPr lang="en-US" sz="1600" b="1" dirty="0">
                <a:solidFill>
                  <a:srgbClr val="FFFFFF"/>
                </a:solidFill>
                <a:latin typeface="Noto Sans SC" pitchFamily="34" charset="0"/>
                <a:ea typeface="Noto Sans SC" pitchFamily="34" charset="-122"/>
                <a:cs typeface="Noto Sans SC" pitchFamily="34" charset="-120"/>
              </a:rPr>
              <a:t>EDR安装情况</a:t>
            </a:r>
            <a:endParaRPr lang="en-US" sz="1600" dirty="0"/>
          </a:p>
        </p:txBody>
      </p:sp>
      <p:sp>
        <p:nvSpPr>
          <p:cNvPr id="24" name="Shape 22"/>
          <p:cNvSpPr/>
          <p:nvPr/>
        </p:nvSpPr>
        <p:spPr>
          <a:xfrm>
            <a:off x="761695" y="3552444"/>
            <a:ext cx="8220456" cy="485546"/>
          </a:xfrm>
          <a:prstGeom prst="rect">
            <a:avLst/>
          </a:prstGeom>
          <a:solidFill>
            <a:srgbClr val="0A4275">
              <a:alpha val="4000"/>
            </a:srgbClr>
          </a:solidFill>
        </p:spPr>
      </p:sp>
      <p:sp>
        <p:nvSpPr>
          <p:cNvPr id="25" name="Shape 23"/>
          <p:cNvSpPr/>
          <p:nvPr/>
        </p:nvSpPr>
        <p:spPr>
          <a:xfrm>
            <a:off x="761695" y="4524451"/>
            <a:ext cx="8220456" cy="485546"/>
          </a:xfrm>
          <a:prstGeom prst="rect">
            <a:avLst/>
          </a:prstGeom>
          <a:solidFill>
            <a:srgbClr val="0A4275">
              <a:alpha val="4000"/>
            </a:srgbClr>
          </a:solidFill>
        </p:spPr>
      </p:sp>
      <p:sp>
        <p:nvSpPr>
          <p:cNvPr id="26" name="Shape 24"/>
          <p:cNvSpPr/>
          <p:nvPr/>
        </p:nvSpPr>
        <p:spPr>
          <a:xfrm>
            <a:off x="9311335" y="3552444"/>
            <a:ext cx="8220456" cy="485546"/>
          </a:xfrm>
          <a:prstGeom prst="rect">
            <a:avLst/>
          </a:prstGeom>
          <a:solidFill>
            <a:srgbClr val="0A4275">
              <a:alpha val="4000"/>
            </a:srgbClr>
          </a:solidFill>
        </p:spPr>
      </p:sp>
      <p:sp>
        <p:nvSpPr>
          <p:cNvPr id="27" name="Shape 25"/>
          <p:cNvSpPr/>
          <p:nvPr/>
        </p:nvSpPr>
        <p:spPr>
          <a:xfrm>
            <a:off x="9311335" y="4524451"/>
            <a:ext cx="8220456" cy="485546"/>
          </a:xfrm>
          <a:prstGeom prst="rect">
            <a:avLst/>
          </a:prstGeom>
          <a:solidFill>
            <a:srgbClr val="0A4275">
              <a:alpha val="4000"/>
            </a:srgbClr>
          </a:solidFill>
        </p:spPr>
      </p:sp>
      <p:sp>
        <p:nvSpPr>
          <p:cNvPr id="28" name="Shape 26"/>
          <p:cNvSpPr/>
          <p:nvPr/>
        </p:nvSpPr>
        <p:spPr>
          <a:xfrm>
            <a:off x="761695" y="3543300"/>
            <a:ext cx="771754" cy="9144"/>
          </a:xfrm>
          <a:prstGeom prst="rect">
            <a:avLst/>
          </a:prstGeom>
          <a:solidFill>
            <a:srgbClr val="E2E8F0"/>
          </a:solidFill>
        </p:spPr>
      </p:sp>
      <p:sp>
        <p:nvSpPr>
          <p:cNvPr id="29" name="Shape 27"/>
          <p:cNvSpPr/>
          <p:nvPr/>
        </p:nvSpPr>
        <p:spPr>
          <a:xfrm>
            <a:off x="5415991" y="3543300"/>
            <a:ext cx="1676095" cy="9144"/>
          </a:xfrm>
          <a:prstGeom prst="rect">
            <a:avLst/>
          </a:prstGeom>
          <a:solidFill>
            <a:srgbClr val="E2E8F0"/>
          </a:solidFill>
        </p:spPr>
      </p:sp>
      <p:sp>
        <p:nvSpPr>
          <p:cNvPr id="30" name="Shape 28"/>
          <p:cNvSpPr/>
          <p:nvPr/>
        </p:nvSpPr>
        <p:spPr>
          <a:xfrm>
            <a:off x="7086600" y="3543300"/>
            <a:ext cx="1895551" cy="9144"/>
          </a:xfrm>
          <a:prstGeom prst="rect">
            <a:avLst/>
          </a:prstGeom>
          <a:solidFill>
            <a:srgbClr val="E2E8F0"/>
          </a:solidFill>
        </p:spPr>
      </p:sp>
      <p:sp>
        <p:nvSpPr>
          <p:cNvPr id="31" name="Shape 29"/>
          <p:cNvSpPr/>
          <p:nvPr/>
        </p:nvSpPr>
        <p:spPr>
          <a:xfrm>
            <a:off x="761695" y="4028846"/>
            <a:ext cx="771754" cy="9144"/>
          </a:xfrm>
          <a:prstGeom prst="rect">
            <a:avLst/>
          </a:prstGeom>
          <a:solidFill>
            <a:srgbClr val="E2E8F0"/>
          </a:solidFill>
        </p:spPr>
      </p:sp>
      <p:sp>
        <p:nvSpPr>
          <p:cNvPr id="32" name="Shape 30"/>
          <p:cNvSpPr/>
          <p:nvPr/>
        </p:nvSpPr>
        <p:spPr>
          <a:xfrm>
            <a:off x="5415991" y="4028846"/>
            <a:ext cx="1676095" cy="9144"/>
          </a:xfrm>
          <a:prstGeom prst="rect">
            <a:avLst/>
          </a:prstGeom>
          <a:solidFill>
            <a:srgbClr val="E2E8F0"/>
          </a:solidFill>
        </p:spPr>
      </p:sp>
      <p:sp>
        <p:nvSpPr>
          <p:cNvPr id="33" name="Shape 31"/>
          <p:cNvSpPr/>
          <p:nvPr/>
        </p:nvSpPr>
        <p:spPr>
          <a:xfrm>
            <a:off x="7086600" y="4028846"/>
            <a:ext cx="1895551" cy="9144"/>
          </a:xfrm>
          <a:prstGeom prst="rect">
            <a:avLst/>
          </a:prstGeom>
          <a:solidFill>
            <a:srgbClr val="E2E8F0"/>
          </a:solidFill>
        </p:spPr>
      </p:sp>
      <p:sp>
        <p:nvSpPr>
          <p:cNvPr id="34" name="Shape 32"/>
          <p:cNvSpPr/>
          <p:nvPr/>
        </p:nvSpPr>
        <p:spPr>
          <a:xfrm>
            <a:off x="761695" y="4515307"/>
            <a:ext cx="771754" cy="9144"/>
          </a:xfrm>
          <a:prstGeom prst="rect">
            <a:avLst/>
          </a:prstGeom>
          <a:solidFill>
            <a:srgbClr val="E2E8F0"/>
          </a:solidFill>
        </p:spPr>
      </p:sp>
      <p:sp>
        <p:nvSpPr>
          <p:cNvPr id="35" name="Shape 33"/>
          <p:cNvSpPr/>
          <p:nvPr/>
        </p:nvSpPr>
        <p:spPr>
          <a:xfrm>
            <a:off x="5415991" y="4515307"/>
            <a:ext cx="1676095" cy="9144"/>
          </a:xfrm>
          <a:prstGeom prst="rect">
            <a:avLst/>
          </a:prstGeom>
          <a:solidFill>
            <a:srgbClr val="E2E8F0"/>
          </a:solidFill>
        </p:spPr>
      </p:sp>
      <p:sp>
        <p:nvSpPr>
          <p:cNvPr id="36" name="Shape 34"/>
          <p:cNvSpPr/>
          <p:nvPr/>
        </p:nvSpPr>
        <p:spPr>
          <a:xfrm>
            <a:off x="7086600" y="4515307"/>
            <a:ext cx="1895551" cy="9144"/>
          </a:xfrm>
          <a:prstGeom prst="rect">
            <a:avLst/>
          </a:prstGeom>
          <a:solidFill>
            <a:srgbClr val="E2E8F0"/>
          </a:solidFill>
        </p:spPr>
      </p:sp>
      <p:sp>
        <p:nvSpPr>
          <p:cNvPr id="37" name="Shape 35"/>
          <p:cNvSpPr/>
          <p:nvPr/>
        </p:nvSpPr>
        <p:spPr>
          <a:xfrm>
            <a:off x="761695" y="5000854"/>
            <a:ext cx="771754" cy="9144"/>
          </a:xfrm>
          <a:prstGeom prst="rect">
            <a:avLst/>
          </a:prstGeom>
          <a:solidFill>
            <a:srgbClr val="E2E8F0"/>
          </a:solidFill>
        </p:spPr>
      </p:sp>
      <p:sp>
        <p:nvSpPr>
          <p:cNvPr id="38" name="Shape 36"/>
          <p:cNvSpPr/>
          <p:nvPr/>
        </p:nvSpPr>
        <p:spPr>
          <a:xfrm>
            <a:off x="5415991" y="5000854"/>
            <a:ext cx="1676095" cy="9144"/>
          </a:xfrm>
          <a:prstGeom prst="rect">
            <a:avLst/>
          </a:prstGeom>
          <a:solidFill>
            <a:srgbClr val="E2E8F0"/>
          </a:solidFill>
        </p:spPr>
      </p:sp>
      <p:sp>
        <p:nvSpPr>
          <p:cNvPr id="39" name="Shape 37"/>
          <p:cNvSpPr/>
          <p:nvPr/>
        </p:nvSpPr>
        <p:spPr>
          <a:xfrm>
            <a:off x="7086600" y="5000854"/>
            <a:ext cx="1895551" cy="9144"/>
          </a:xfrm>
          <a:prstGeom prst="rect">
            <a:avLst/>
          </a:prstGeom>
          <a:solidFill>
            <a:srgbClr val="E2E8F0"/>
          </a:solidFill>
        </p:spPr>
      </p:sp>
      <p:sp>
        <p:nvSpPr>
          <p:cNvPr id="40" name="Shape 38"/>
          <p:cNvSpPr/>
          <p:nvPr/>
        </p:nvSpPr>
        <p:spPr>
          <a:xfrm>
            <a:off x="761695" y="5486400"/>
            <a:ext cx="771754" cy="9144"/>
          </a:xfrm>
          <a:prstGeom prst="rect">
            <a:avLst/>
          </a:prstGeom>
          <a:solidFill>
            <a:srgbClr val="E2E8F0"/>
          </a:solidFill>
        </p:spPr>
      </p:sp>
      <p:sp>
        <p:nvSpPr>
          <p:cNvPr id="41" name="Shape 39"/>
          <p:cNvSpPr/>
          <p:nvPr/>
        </p:nvSpPr>
        <p:spPr>
          <a:xfrm>
            <a:off x="5415991" y="5486400"/>
            <a:ext cx="1676095" cy="9144"/>
          </a:xfrm>
          <a:prstGeom prst="rect">
            <a:avLst/>
          </a:prstGeom>
          <a:solidFill>
            <a:srgbClr val="E2E8F0"/>
          </a:solidFill>
        </p:spPr>
      </p:sp>
      <p:sp>
        <p:nvSpPr>
          <p:cNvPr id="42" name="Shape 40"/>
          <p:cNvSpPr/>
          <p:nvPr/>
        </p:nvSpPr>
        <p:spPr>
          <a:xfrm>
            <a:off x="7086600" y="5486400"/>
            <a:ext cx="1895551" cy="9144"/>
          </a:xfrm>
          <a:prstGeom prst="rect">
            <a:avLst/>
          </a:prstGeom>
          <a:solidFill>
            <a:srgbClr val="E2E8F0"/>
          </a:solidFill>
        </p:spPr>
      </p:sp>
      <p:sp>
        <p:nvSpPr>
          <p:cNvPr id="43" name="Shape 41"/>
          <p:cNvSpPr/>
          <p:nvPr/>
        </p:nvSpPr>
        <p:spPr>
          <a:xfrm>
            <a:off x="9311335" y="3543300"/>
            <a:ext cx="780898" cy="9144"/>
          </a:xfrm>
          <a:prstGeom prst="rect">
            <a:avLst/>
          </a:prstGeom>
          <a:solidFill>
            <a:srgbClr val="E2E8F0"/>
          </a:solidFill>
        </p:spPr>
      </p:sp>
      <p:sp>
        <p:nvSpPr>
          <p:cNvPr id="44" name="Shape 42"/>
          <p:cNvSpPr/>
          <p:nvPr/>
        </p:nvSpPr>
        <p:spPr>
          <a:xfrm>
            <a:off x="13945514" y="3543300"/>
            <a:ext cx="1686154" cy="9144"/>
          </a:xfrm>
          <a:prstGeom prst="rect">
            <a:avLst/>
          </a:prstGeom>
          <a:solidFill>
            <a:srgbClr val="E2E8F0"/>
          </a:solidFill>
        </p:spPr>
      </p:sp>
      <p:sp>
        <p:nvSpPr>
          <p:cNvPr id="45" name="Shape 43"/>
          <p:cNvSpPr/>
          <p:nvPr/>
        </p:nvSpPr>
        <p:spPr>
          <a:xfrm>
            <a:off x="15625267" y="3543300"/>
            <a:ext cx="1904695" cy="9144"/>
          </a:xfrm>
          <a:prstGeom prst="rect">
            <a:avLst/>
          </a:prstGeom>
          <a:solidFill>
            <a:srgbClr val="E2E8F0"/>
          </a:solidFill>
        </p:spPr>
      </p:sp>
      <p:sp>
        <p:nvSpPr>
          <p:cNvPr id="46" name="Shape 44"/>
          <p:cNvSpPr/>
          <p:nvPr/>
        </p:nvSpPr>
        <p:spPr>
          <a:xfrm>
            <a:off x="9311335" y="4028846"/>
            <a:ext cx="780898" cy="9144"/>
          </a:xfrm>
          <a:prstGeom prst="rect">
            <a:avLst/>
          </a:prstGeom>
          <a:solidFill>
            <a:srgbClr val="E2E8F0"/>
          </a:solidFill>
        </p:spPr>
      </p:sp>
      <p:sp>
        <p:nvSpPr>
          <p:cNvPr id="47" name="Shape 45"/>
          <p:cNvSpPr/>
          <p:nvPr/>
        </p:nvSpPr>
        <p:spPr>
          <a:xfrm>
            <a:off x="13945514" y="4028846"/>
            <a:ext cx="1686154" cy="9144"/>
          </a:xfrm>
          <a:prstGeom prst="rect">
            <a:avLst/>
          </a:prstGeom>
          <a:solidFill>
            <a:srgbClr val="E2E8F0"/>
          </a:solidFill>
        </p:spPr>
      </p:sp>
      <p:sp>
        <p:nvSpPr>
          <p:cNvPr id="48" name="Shape 46"/>
          <p:cNvSpPr/>
          <p:nvPr/>
        </p:nvSpPr>
        <p:spPr>
          <a:xfrm>
            <a:off x="15625267" y="4028846"/>
            <a:ext cx="1904695" cy="9144"/>
          </a:xfrm>
          <a:prstGeom prst="rect">
            <a:avLst/>
          </a:prstGeom>
          <a:solidFill>
            <a:srgbClr val="E2E8F0"/>
          </a:solidFill>
        </p:spPr>
      </p:sp>
      <p:sp>
        <p:nvSpPr>
          <p:cNvPr id="49" name="Shape 47"/>
          <p:cNvSpPr/>
          <p:nvPr/>
        </p:nvSpPr>
        <p:spPr>
          <a:xfrm>
            <a:off x="9311335" y="4515307"/>
            <a:ext cx="780898" cy="9144"/>
          </a:xfrm>
          <a:prstGeom prst="rect">
            <a:avLst/>
          </a:prstGeom>
          <a:solidFill>
            <a:srgbClr val="E2E8F0"/>
          </a:solidFill>
        </p:spPr>
      </p:sp>
      <p:sp>
        <p:nvSpPr>
          <p:cNvPr id="50" name="Shape 48"/>
          <p:cNvSpPr/>
          <p:nvPr/>
        </p:nvSpPr>
        <p:spPr>
          <a:xfrm>
            <a:off x="13945514" y="4515307"/>
            <a:ext cx="1686154" cy="9144"/>
          </a:xfrm>
          <a:prstGeom prst="rect">
            <a:avLst/>
          </a:prstGeom>
          <a:solidFill>
            <a:srgbClr val="E2E8F0"/>
          </a:solidFill>
        </p:spPr>
      </p:sp>
      <p:sp>
        <p:nvSpPr>
          <p:cNvPr id="51" name="Shape 49"/>
          <p:cNvSpPr/>
          <p:nvPr/>
        </p:nvSpPr>
        <p:spPr>
          <a:xfrm>
            <a:off x="15625267" y="4515307"/>
            <a:ext cx="1904695" cy="9144"/>
          </a:xfrm>
          <a:prstGeom prst="rect">
            <a:avLst/>
          </a:prstGeom>
          <a:solidFill>
            <a:srgbClr val="E2E8F0"/>
          </a:solidFill>
        </p:spPr>
      </p:sp>
      <p:sp>
        <p:nvSpPr>
          <p:cNvPr id="52" name="Shape 50"/>
          <p:cNvSpPr/>
          <p:nvPr/>
        </p:nvSpPr>
        <p:spPr>
          <a:xfrm>
            <a:off x="9311335" y="5000854"/>
            <a:ext cx="780898" cy="9144"/>
          </a:xfrm>
          <a:prstGeom prst="rect">
            <a:avLst/>
          </a:prstGeom>
          <a:solidFill>
            <a:srgbClr val="E2E8F0"/>
          </a:solidFill>
        </p:spPr>
      </p:sp>
      <p:sp>
        <p:nvSpPr>
          <p:cNvPr id="53" name="Shape 51"/>
          <p:cNvSpPr/>
          <p:nvPr/>
        </p:nvSpPr>
        <p:spPr>
          <a:xfrm>
            <a:off x="13945514" y="5000854"/>
            <a:ext cx="1686154" cy="9144"/>
          </a:xfrm>
          <a:prstGeom prst="rect">
            <a:avLst/>
          </a:prstGeom>
          <a:solidFill>
            <a:srgbClr val="E2E8F0"/>
          </a:solidFill>
        </p:spPr>
      </p:sp>
      <p:sp>
        <p:nvSpPr>
          <p:cNvPr id="54" name="Shape 52"/>
          <p:cNvSpPr/>
          <p:nvPr/>
        </p:nvSpPr>
        <p:spPr>
          <a:xfrm>
            <a:off x="15625267" y="5000854"/>
            <a:ext cx="1904695" cy="9144"/>
          </a:xfrm>
          <a:prstGeom prst="rect">
            <a:avLst/>
          </a:prstGeom>
          <a:solidFill>
            <a:srgbClr val="E2E8F0"/>
          </a:solidFill>
        </p:spPr>
      </p:sp>
      <p:sp>
        <p:nvSpPr>
          <p:cNvPr id="55" name="Shape 53"/>
          <p:cNvSpPr/>
          <p:nvPr/>
        </p:nvSpPr>
        <p:spPr>
          <a:xfrm>
            <a:off x="9311335" y="5486400"/>
            <a:ext cx="780898" cy="9144"/>
          </a:xfrm>
          <a:prstGeom prst="rect">
            <a:avLst/>
          </a:prstGeom>
          <a:solidFill>
            <a:srgbClr val="E2E8F0"/>
          </a:solidFill>
        </p:spPr>
      </p:sp>
      <p:sp>
        <p:nvSpPr>
          <p:cNvPr id="56" name="Shape 54"/>
          <p:cNvSpPr/>
          <p:nvPr/>
        </p:nvSpPr>
        <p:spPr>
          <a:xfrm>
            <a:off x="13945514" y="5486400"/>
            <a:ext cx="1686154" cy="9144"/>
          </a:xfrm>
          <a:prstGeom prst="rect">
            <a:avLst/>
          </a:prstGeom>
          <a:solidFill>
            <a:srgbClr val="E2E8F0"/>
          </a:solidFill>
        </p:spPr>
      </p:sp>
      <p:sp>
        <p:nvSpPr>
          <p:cNvPr id="57" name="Shape 55"/>
          <p:cNvSpPr/>
          <p:nvPr/>
        </p:nvSpPr>
        <p:spPr>
          <a:xfrm>
            <a:off x="15625267" y="5486400"/>
            <a:ext cx="1904695" cy="9144"/>
          </a:xfrm>
          <a:prstGeom prst="rect">
            <a:avLst/>
          </a:prstGeom>
          <a:solidFill>
            <a:srgbClr val="E2E8F0"/>
          </a:solidFill>
        </p:spPr>
      </p:sp>
      <p:sp>
        <p:nvSpPr>
          <p:cNvPr id="58" name="Text 56"/>
          <p:cNvSpPr txBox="1"/>
          <p:nvPr/>
        </p:nvSpPr>
        <p:spPr>
          <a:xfrm>
            <a:off x="1092708" y="3161995"/>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a:t>
            </a:r>
            <a:endParaRPr lang="en-US" sz="1500" dirty="0"/>
          </a:p>
        </p:txBody>
      </p:sp>
      <p:sp>
        <p:nvSpPr>
          <p:cNvPr id="59" name="Text 57"/>
          <p:cNvSpPr txBox="1"/>
          <p:nvPr/>
        </p:nvSpPr>
        <p:spPr>
          <a:xfrm>
            <a:off x="5965546" y="3161995"/>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60" name="Text 58"/>
          <p:cNvSpPr txBox="1"/>
          <p:nvPr/>
        </p:nvSpPr>
        <p:spPr>
          <a:xfrm>
            <a:off x="7745882" y="3161995"/>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已安装</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61" name="Text 59"/>
          <p:cNvSpPr txBox="1"/>
          <p:nvPr/>
        </p:nvSpPr>
        <p:spPr>
          <a:xfrm>
            <a:off x="1092708" y="3648456"/>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2</a:t>
            </a:r>
            <a:endParaRPr lang="en-US" sz="1500" dirty="0"/>
          </a:p>
        </p:txBody>
      </p:sp>
      <p:sp>
        <p:nvSpPr>
          <p:cNvPr id="62" name="Text 60"/>
          <p:cNvSpPr txBox="1"/>
          <p:nvPr/>
        </p:nvSpPr>
        <p:spPr>
          <a:xfrm>
            <a:off x="5965546" y="3648456"/>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63" name="Text 61"/>
          <p:cNvSpPr txBox="1"/>
          <p:nvPr/>
        </p:nvSpPr>
        <p:spPr>
          <a:xfrm>
            <a:off x="7745882" y="3648456"/>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已安装</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64" name="Text 62"/>
          <p:cNvSpPr txBox="1"/>
          <p:nvPr/>
        </p:nvSpPr>
        <p:spPr>
          <a:xfrm>
            <a:off x="1092708" y="4134002"/>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3</a:t>
            </a:r>
            <a:endParaRPr lang="en-US" sz="1500" dirty="0"/>
          </a:p>
        </p:txBody>
      </p:sp>
      <p:sp>
        <p:nvSpPr>
          <p:cNvPr id="65" name="Text 63"/>
          <p:cNvSpPr txBox="1"/>
          <p:nvPr/>
        </p:nvSpPr>
        <p:spPr>
          <a:xfrm>
            <a:off x="5965546" y="4134002"/>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66" name="Text 64"/>
          <p:cNvSpPr txBox="1"/>
          <p:nvPr/>
        </p:nvSpPr>
        <p:spPr>
          <a:xfrm>
            <a:off x="7745882" y="4134002"/>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已安装</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67" name="Text 65"/>
          <p:cNvSpPr txBox="1"/>
          <p:nvPr/>
        </p:nvSpPr>
        <p:spPr>
          <a:xfrm>
            <a:off x="1092708" y="4619549"/>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4</a:t>
            </a:r>
            <a:endParaRPr lang="en-US" sz="1500" dirty="0"/>
          </a:p>
        </p:txBody>
      </p:sp>
      <p:sp>
        <p:nvSpPr>
          <p:cNvPr id="68" name="Text 66"/>
          <p:cNvSpPr txBox="1"/>
          <p:nvPr/>
        </p:nvSpPr>
        <p:spPr>
          <a:xfrm>
            <a:off x="5965546" y="4619549"/>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69" name="Text 67"/>
          <p:cNvSpPr txBox="1"/>
          <p:nvPr/>
        </p:nvSpPr>
        <p:spPr>
          <a:xfrm>
            <a:off x="7745882" y="4619549"/>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已安装</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70" name="Text 68"/>
          <p:cNvSpPr txBox="1"/>
          <p:nvPr/>
        </p:nvSpPr>
        <p:spPr>
          <a:xfrm>
            <a:off x="1092708" y="5105095"/>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5</a:t>
            </a:r>
            <a:endParaRPr lang="en-US" sz="1500" dirty="0"/>
          </a:p>
        </p:txBody>
      </p:sp>
      <p:sp>
        <p:nvSpPr>
          <p:cNvPr id="71" name="Text 69"/>
          <p:cNvSpPr txBox="1"/>
          <p:nvPr/>
        </p:nvSpPr>
        <p:spPr>
          <a:xfrm>
            <a:off x="5965546" y="5105095"/>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72" name="Text 70"/>
          <p:cNvSpPr txBox="1"/>
          <p:nvPr/>
        </p:nvSpPr>
        <p:spPr>
          <a:xfrm>
            <a:off x="7840980" y="5105095"/>
            <a:ext cx="523951" cy="277063"/>
          </a:xfrm>
          <a:prstGeom prst="rect">
            <a:avLst/>
          </a:prstGeom>
          <a:noFill/>
        </p:spPr>
        <p:txBody>
          <a:bodyPr wrap="square" lIns="0" tIns="0" rIns="0" bIns="0" rtlCol="0" anchor="ctr"/>
          <a:lstStyle/>
          <a:p>
            <a:pPr marL="0" indent="0" algn="ctr">
              <a:buNone/>
            </a:pPr>
            <a:r>
              <a:rPr lang="en-US" sz="1500" b="1" dirty="0">
                <a:solidFill>
                  <a:schemeClr val="accent2"/>
                </a:solidFill>
                <a:latin typeface="Noto Sans SC" pitchFamily="34" charset="0"/>
                <a:ea typeface="Noto Sans SC" pitchFamily="34" charset="-122"/>
                <a:cs typeface="Noto Sans SC" pitchFamily="34" charset="-120"/>
              </a:rPr>
              <a:t>离线</a:t>
            </a:r>
            <a:endParaRPr lang="en-US" sz="1500" b="1" dirty="0">
              <a:solidFill>
                <a:schemeClr val="accent2"/>
              </a:solidFill>
              <a:latin typeface="Noto Sans SC" pitchFamily="34" charset="0"/>
              <a:ea typeface="Noto Sans SC" pitchFamily="34" charset="-122"/>
              <a:cs typeface="Noto Sans SC" pitchFamily="34" charset="-120"/>
            </a:endParaRPr>
          </a:p>
        </p:txBody>
      </p:sp>
      <p:sp>
        <p:nvSpPr>
          <p:cNvPr id="73" name="Text 71"/>
          <p:cNvSpPr txBox="1"/>
          <p:nvPr/>
        </p:nvSpPr>
        <p:spPr>
          <a:xfrm>
            <a:off x="9645091" y="3161995"/>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a:t>
            </a:r>
            <a:endParaRPr lang="en-US" sz="1500" dirty="0"/>
          </a:p>
        </p:txBody>
      </p:sp>
      <p:sp>
        <p:nvSpPr>
          <p:cNvPr id="74" name="Text 72"/>
          <p:cNvSpPr txBox="1"/>
          <p:nvPr/>
        </p:nvSpPr>
        <p:spPr>
          <a:xfrm>
            <a:off x="14499641" y="3161995"/>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75" name="Text 73"/>
          <p:cNvSpPr txBox="1"/>
          <p:nvPr/>
        </p:nvSpPr>
        <p:spPr>
          <a:xfrm>
            <a:off x="16290036" y="3161995"/>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已安装</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76" name="Text 74"/>
          <p:cNvSpPr txBox="1"/>
          <p:nvPr/>
        </p:nvSpPr>
        <p:spPr>
          <a:xfrm>
            <a:off x="9645091" y="3648456"/>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2</a:t>
            </a:r>
            <a:endParaRPr lang="en-US" sz="1500" dirty="0"/>
          </a:p>
        </p:txBody>
      </p:sp>
      <p:sp>
        <p:nvSpPr>
          <p:cNvPr id="77" name="Text 75"/>
          <p:cNvSpPr txBox="1"/>
          <p:nvPr/>
        </p:nvSpPr>
        <p:spPr>
          <a:xfrm>
            <a:off x="14499641" y="3648456"/>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78" name="Text 76"/>
          <p:cNvSpPr txBox="1"/>
          <p:nvPr/>
        </p:nvSpPr>
        <p:spPr>
          <a:xfrm>
            <a:off x="16290036" y="3648456"/>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已安装</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79" name="Text 77"/>
          <p:cNvSpPr txBox="1"/>
          <p:nvPr/>
        </p:nvSpPr>
        <p:spPr>
          <a:xfrm>
            <a:off x="9645091" y="4134002"/>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3</a:t>
            </a:r>
            <a:endParaRPr lang="en-US" sz="1500" dirty="0"/>
          </a:p>
        </p:txBody>
      </p:sp>
      <p:sp>
        <p:nvSpPr>
          <p:cNvPr id="80" name="Text 78"/>
          <p:cNvSpPr txBox="1"/>
          <p:nvPr/>
        </p:nvSpPr>
        <p:spPr>
          <a:xfrm>
            <a:off x="14499641" y="4134002"/>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81" name="Text 79"/>
          <p:cNvSpPr txBox="1"/>
          <p:nvPr/>
        </p:nvSpPr>
        <p:spPr>
          <a:xfrm>
            <a:off x="16385134" y="4134002"/>
            <a:ext cx="523951" cy="277063"/>
          </a:xfrm>
          <a:prstGeom prst="rect">
            <a:avLst/>
          </a:prstGeom>
          <a:noFill/>
        </p:spPr>
        <p:txBody>
          <a:bodyPr wrap="square" lIns="0" tIns="0" rIns="0" bIns="0" rtlCol="0" anchor="ctr"/>
          <a:lstStyle/>
          <a:p>
            <a:pPr marL="0" indent="0" algn="ctr">
              <a:buNone/>
            </a:pPr>
            <a:r>
              <a:rPr lang="en-US" sz="1500" b="1" dirty="0">
                <a:solidFill>
                  <a:schemeClr val="accent2"/>
                </a:solidFill>
                <a:latin typeface="Noto Sans SC" pitchFamily="34" charset="0"/>
                <a:ea typeface="Noto Sans SC" pitchFamily="34" charset="-122"/>
                <a:cs typeface="Noto Sans SC" pitchFamily="34" charset="-120"/>
              </a:rPr>
              <a:t>离线</a:t>
            </a:r>
            <a:endParaRPr lang="en-US" sz="1500" b="1" dirty="0">
              <a:solidFill>
                <a:schemeClr val="accent2"/>
              </a:solidFill>
              <a:latin typeface="Noto Sans SC" pitchFamily="34" charset="0"/>
              <a:ea typeface="Noto Sans SC" pitchFamily="34" charset="-122"/>
              <a:cs typeface="Noto Sans SC" pitchFamily="34" charset="-120"/>
            </a:endParaRPr>
          </a:p>
        </p:txBody>
      </p:sp>
      <p:sp>
        <p:nvSpPr>
          <p:cNvPr id="82" name="Text 80"/>
          <p:cNvSpPr txBox="1"/>
          <p:nvPr/>
        </p:nvSpPr>
        <p:spPr>
          <a:xfrm>
            <a:off x="9645091" y="4619549"/>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4</a:t>
            </a:r>
            <a:endParaRPr lang="en-US" sz="1500" dirty="0"/>
          </a:p>
        </p:txBody>
      </p:sp>
      <p:sp>
        <p:nvSpPr>
          <p:cNvPr id="83" name="Text 81"/>
          <p:cNvSpPr txBox="1"/>
          <p:nvPr/>
        </p:nvSpPr>
        <p:spPr>
          <a:xfrm>
            <a:off x="14499641" y="4619549"/>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84" name="Text 82"/>
          <p:cNvSpPr txBox="1"/>
          <p:nvPr/>
        </p:nvSpPr>
        <p:spPr>
          <a:xfrm>
            <a:off x="16290036" y="4619549"/>
            <a:ext cx="715061" cy="277063"/>
          </a:xfrm>
          <a:prstGeom prst="rect">
            <a:avLst/>
          </a:prstGeom>
          <a:noFill/>
        </p:spPr>
        <p:txBody>
          <a:bodyPr wrap="square" lIns="0" tIns="0" rIns="0" bIns="0" rtlCol="0" anchor="ctr"/>
          <a:lstStyle/>
          <a:p>
            <a:pPr marL="0" indent="0" algn="ctr">
              <a:buNone/>
            </a:pPr>
            <a:r>
              <a:rPr lang="en-US" sz="1500" b="1" dirty="0">
                <a:solidFill>
                  <a:srgbClr val="C00000"/>
                </a:solidFill>
                <a:latin typeface="Noto Sans SC" pitchFamily="34" charset="0"/>
                <a:ea typeface="Noto Sans SC" pitchFamily="34" charset="-122"/>
                <a:cs typeface="Noto Sans SC" pitchFamily="34" charset="-120"/>
              </a:rPr>
              <a:t>未安装</a:t>
            </a:r>
            <a:endParaRPr lang="en-US" sz="1500" b="1" dirty="0">
              <a:solidFill>
                <a:srgbClr val="C00000"/>
              </a:solidFill>
              <a:latin typeface="Noto Sans SC" pitchFamily="34" charset="0"/>
              <a:ea typeface="Noto Sans SC" pitchFamily="34" charset="-122"/>
              <a:cs typeface="Noto Sans SC" pitchFamily="34" charset="-120"/>
            </a:endParaRPr>
          </a:p>
        </p:txBody>
      </p:sp>
      <p:sp>
        <p:nvSpPr>
          <p:cNvPr id="85" name="Text 83"/>
          <p:cNvSpPr txBox="1"/>
          <p:nvPr/>
        </p:nvSpPr>
        <p:spPr>
          <a:xfrm>
            <a:off x="9645091" y="5105095"/>
            <a:ext cx="2578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5</a:t>
            </a:r>
            <a:endParaRPr lang="en-US" sz="1500" dirty="0"/>
          </a:p>
        </p:txBody>
      </p:sp>
      <p:sp>
        <p:nvSpPr>
          <p:cNvPr id="86" name="Text 84"/>
          <p:cNvSpPr txBox="1"/>
          <p:nvPr/>
        </p:nvSpPr>
        <p:spPr>
          <a:xfrm>
            <a:off x="14499641" y="5105095"/>
            <a:ext cx="715061" cy="277063"/>
          </a:xfrm>
          <a:prstGeom prst="rect">
            <a:avLst/>
          </a:prstGeom>
          <a:noFill/>
        </p:spPr>
        <p:txBody>
          <a:bodyPr wrap="square" lIns="0" tIns="0" rIns="0" bIns="0" rtlCol="0" anchor="ctr"/>
          <a:lstStyle/>
          <a:p>
            <a:pPr marL="0" indent="0" algn="ctr">
              <a:buNone/>
            </a:pPr>
            <a:r>
              <a:rPr lang="en-US" sz="1500" b="1" dirty="0">
                <a:solidFill>
                  <a:srgbClr val="00B050"/>
                </a:solidFill>
                <a:latin typeface="Noto Sans SC" pitchFamily="34" charset="0"/>
                <a:ea typeface="Noto Sans SC" pitchFamily="34" charset="-122"/>
                <a:cs typeface="Noto Sans SC" pitchFamily="34" charset="-120"/>
              </a:rPr>
              <a:t>已防护</a:t>
            </a:r>
            <a:endParaRPr lang="en-US" sz="1500" b="1" dirty="0">
              <a:solidFill>
                <a:srgbClr val="00B050"/>
              </a:solidFill>
              <a:latin typeface="Noto Sans SC" pitchFamily="34" charset="0"/>
              <a:ea typeface="Noto Sans SC" pitchFamily="34" charset="-122"/>
              <a:cs typeface="Noto Sans SC" pitchFamily="34" charset="-120"/>
            </a:endParaRPr>
          </a:p>
        </p:txBody>
      </p:sp>
      <p:sp>
        <p:nvSpPr>
          <p:cNvPr id="87" name="Text 85"/>
          <p:cNvSpPr txBox="1"/>
          <p:nvPr/>
        </p:nvSpPr>
        <p:spPr>
          <a:xfrm>
            <a:off x="16290036" y="5105095"/>
            <a:ext cx="715061" cy="277063"/>
          </a:xfrm>
          <a:prstGeom prst="rect">
            <a:avLst/>
          </a:prstGeom>
          <a:noFill/>
        </p:spPr>
        <p:txBody>
          <a:bodyPr wrap="square" lIns="0" tIns="0" rIns="0" bIns="0" rtlCol="0" anchor="ctr"/>
          <a:lstStyle/>
          <a:p>
            <a:pPr marL="0" indent="0" algn="ctr">
              <a:buNone/>
            </a:pPr>
            <a:r>
              <a:rPr lang="en-US" sz="1500" b="1" dirty="0">
                <a:solidFill>
                  <a:srgbClr val="C00000"/>
                </a:solidFill>
                <a:latin typeface="Noto Sans SC" pitchFamily="34" charset="0"/>
                <a:ea typeface="Noto Sans SC" pitchFamily="34" charset="-122"/>
                <a:cs typeface="Noto Sans SC" pitchFamily="34" charset="-120"/>
              </a:rPr>
              <a:t>未安装</a:t>
            </a:r>
            <a:endParaRPr lang="en-US" sz="1500" b="1" dirty="0">
              <a:solidFill>
                <a:srgbClr val="C00000"/>
              </a:solidFill>
              <a:latin typeface="Noto Sans SC" pitchFamily="34" charset="0"/>
              <a:ea typeface="Noto Sans SC" pitchFamily="34" charset="-122"/>
              <a:cs typeface="Noto Sans SC" pitchFamily="34" charset="-120"/>
            </a:endParaRPr>
          </a:p>
        </p:txBody>
      </p:sp>
      <p:sp>
        <p:nvSpPr>
          <p:cNvPr id="88" name="Shape 86"/>
          <p:cNvSpPr/>
          <p:nvPr/>
        </p:nvSpPr>
        <p:spPr>
          <a:xfrm>
            <a:off x="1529791" y="3543300"/>
            <a:ext cx="3886200" cy="9144"/>
          </a:xfrm>
          <a:prstGeom prst="rect">
            <a:avLst/>
          </a:prstGeom>
          <a:solidFill>
            <a:srgbClr val="E2E8F0"/>
          </a:solidFill>
        </p:spPr>
      </p:sp>
      <p:sp>
        <p:nvSpPr>
          <p:cNvPr id="89" name="Shape 87"/>
          <p:cNvSpPr/>
          <p:nvPr/>
        </p:nvSpPr>
        <p:spPr>
          <a:xfrm>
            <a:off x="1529791" y="4028846"/>
            <a:ext cx="3886200" cy="9144"/>
          </a:xfrm>
          <a:prstGeom prst="rect">
            <a:avLst/>
          </a:prstGeom>
          <a:solidFill>
            <a:srgbClr val="E2E8F0"/>
          </a:solidFill>
        </p:spPr>
      </p:sp>
      <p:sp>
        <p:nvSpPr>
          <p:cNvPr id="90" name="Shape 88"/>
          <p:cNvSpPr/>
          <p:nvPr/>
        </p:nvSpPr>
        <p:spPr>
          <a:xfrm>
            <a:off x="1529791" y="4515307"/>
            <a:ext cx="3886200" cy="9144"/>
          </a:xfrm>
          <a:prstGeom prst="rect">
            <a:avLst/>
          </a:prstGeom>
          <a:solidFill>
            <a:srgbClr val="E2E8F0"/>
          </a:solidFill>
        </p:spPr>
      </p:sp>
      <p:sp>
        <p:nvSpPr>
          <p:cNvPr id="91" name="Shape 89"/>
          <p:cNvSpPr/>
          <p:nvPr/>
        </p:nvSpPr>
        <p:spPr>
          <a:xfrm>
            <a:off x="1529791" y="5000854"/>
            <a:ext cx="3886200" cy="9144"/>
          </a:xfrm>
          <a:prstGeom prst="rect">
            <a:avLst/>
          </a:prstGeom>
          <a:solidFill>
            <a:srgbClr val="E2E8F0"/>
          </a:solidFill>
        </p:spPr>
      </p:sp>
      <p:sp>
        <p:nvSpPr>
          <p:cNvPr id="92" name="Shape 90"/>
          <p:cNvSpPr/>
          <p:nvPr/>
        </p:nvSpPr>
        <p:spPr>
          <a:xfrm>
            <a:off x="1529791" y="5486400"/>
            <a:ext cx="3886200" cy="9144"/>
          </a:xfrm>
          <a:prstGeom prst="rect">
            <a:avLst/>
          </a:prstGeom>
          <a:solidFill>
            <a:srgbClr val="E2E8F0"/>
          </a:solidFill>
        </p:spPr>
      </p:sp>
      <p:sp>
        <p:nvSpPr>
          <p:cNvPr id="93" name="Shape 91"/>
          <p:cNvSpPr/>
          <p:nvPr/>
        </p:nvSpPr>
        <p:spPr>
          <a:xfrm>
            <a:off x="10084003" y="3543300"/>
            <a:ext cx="3866998" cy="9144"/>
          </a:xfrm>
          <a:prstGeom prst="rect">
            <a:avLst/>
          </a:prstGeom>
          <a:solidFill>
            <a:srgbClr val="E2E8F0"/>
          </a:solidFill>
        </p:spPr>
      </p:sp>
      <p:sp>
        <p:nvSpPr>
          <p:cNvPr id="94" name="Shape 92"/>
          <p:cNvSpPr/>
          <p:nvPr/>
        </p:nvSpPr>
        <p:spPr>
          <a:xfrm>
            <a:off x="10084003" y="4028846"/>
            <a:ext cx="3866998" cy="9144"/>
          </a:xfrm>
          <a:prstGeom prst="rect">
            <a:avLst/>
          </a:prstGeom>
          <a:solidFill>
            <a:srgbClr val="E2E8F0"/>
          </a:solidFill>
        </p:spPr>
      </p:sp>
      <p:sp>
        <p:nvSpPr>
          <p:cNvPr id="95" name="Shape 93"/>
          <p:cNvSpPr/>
          <p:nvPr/>
        </p:nvSpPr>
        <p:spPr>
          <a:xfrm>
            <a:off x="10084003" y="4515307"/>
            <a:ext cx="3866998" cy="9144"/>
          </a:xfrm>
          <a:prstGeom prst="rect">
            <a:avLst/>
          </a:prstGeom>
          <a:solidFill>
            <a:srgbClr val="E2E8F0"/>
          </a:solidFill>
        </p:spPr>
      </p:sp>
      <p:sp>
        <p:nvSpPr>
          <p:cNvPr id="96" name="Shape 94"/>
          <p:cNvSpPr/>
          <p:nvPr/>
        </p:nvSpPr>
        <p:spPr>
          <a:xfrm>
            <a:off x="10084003" y="5000854"/>
            <a:ext cx="3866998" cy="9144"/>
          </a:xfrm>
          <a:prstGeom prst="rect">
            <a:avLst/>
          </a:prstGeom>
          <a:solidFill>
            <a:srgbClr val="E2E8F0"/>
          </a:solidFill>
        </p:spPr>
      </p:sp>
      <p:sp>
        <p:nvSpPr>
          <p:cNvPr id="97" name="Shape 95"/>
          <p:cNvSpPr/>
          <p:nvPr/>
        </p:nvSpPr>
        <p:spPr>
          <a:xfrm>
            <a:off x="10084003" y="5486400"/>
            <a:ext cx="3866998" cy="9144"/>
          </a:xfrm>
          <a:prstGeom prst="rect">
            <a:avLst/>
          </a:prstGeom>
          <a:solidFill>
            <a:srgbClr val="E2E8F0"/>
          </a:solidFill>
        </p:spPr>
      </p:sp>
      <p:sp>
        <p:nvSpPr>
          <p:cNvPr id="98" name="Text 96"/>
          <p:cNvSpPr txBox="1"/>
          <p:nvPr/>
        </p:nvSpPr>
        <p:spPr>
          <a:xfrm>
            <a:off x="2573122" y="3161995"/>
            <a:ext cx="1943100"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193.14.30.74（HIS）</a:t>
            </a:r>
            <a:endParaRPr lang="en-US" sz="1500" dirty="0"/>
          </a:p>
        </p:txBody>
      </p:sp>
      <p:sp>
        <p:nvSpPr>
          <p:cNvPr id="99" name="Text 97"/>
          <p:cNvSpPr txBox="1"/>
          <p:nvPr/>
        </p:nvSpPr>
        <p:spPr>
          <a:xfrm>
            <a:off x="2480767" y="3648456"/>
            <a:ext cx="2134210"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193.131.67.77（EMR）</a:t>
            </a:r>
            <a:endParaRPr lang="en-US" sz="1500" dirty="0"/>
          </a:p>
        </p:txBody>
      </p:sp>
      <p:sp>
        <p:nvSpPr>
          <p:cNvPr id="100" name="Text 98"/>
          <p:cNvSpPr txBox="1"/>
          <p:nvPr/>
        </p:nvSpPr>
        <p:spPr>
          <a:xfrm>
            <a:off x="2293315" y="4134002"/>
            <a:ext cx="2505456"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193.68.60.223（预约挂号）</a:t>
            </a:r>
            <a:endParaRPr lang="en-US" sz="1500" dirty="0"/>
          </a:p>
        </p:txBody>
      </p:sp>
      <p:sp>
        <p:nvSpPr>
          <p:cNvPr id="101" name="Text 99"/>
          <p:cNvSpPr txBox="1"/>
          <p:nvPr/>
        </p:nvSpPr>
        <p:spPr>
          <a:xfrm>
            <a:off x="2240280" y="4619549"/>
            <a:ext cx="2610612"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192.210.69.208（银行自助）</a:t>
            </a:r>
            <a:endParaRPr lang="en-US" sz="1500" dirty="0"/>
          </a:p>
        </p:txBody>
      </p:sp>
      <p:sp>
        <p:nvSpPr>
          <p:cNvPr id="102" name="Text 100"/>
          <p:cNvSpPr txBox="1"/>
          <p:nvPr/>
        </p:nvSpPr>
        <p:spPr>
          <a:xfrm>
            <a:off x="2103120" y="5105095"/>
            <a:ext cx="288676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193.39.47.199（医保云服务器）</a:t>
            </a:r>
            <a:endParaRPr lang="en-US" sz="1500" dirty="0"/>
          </a:p>
        </p:txBody>
      </p:sp>
      <p:sp>
        <p:nvSpPr>
          <p:cNvPr id="103" name="Text 101"/>
          <p:cNvSpPr txBox="1"/>
          <p:nvPr/>
        </p:nvSpPr>
        <p:spPr>
          <a:xfrm>
            <a:off x="10721340" y="3161995"/>
            <a:ext cx="2734056"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192.182.224.117（CRM服务）</a:t>
            </a:r>
            <a:endParaRPr lang="en-US" sz="1500" dirty="0"/>
          </a:p>
        </p:txBody>
      </p:sp>
      <p:sp>
        <p:nvSpPr>
          <p:cNvPr id="104" name="Text 102"/>
          <p:cNvSpPr txBox="1"/>
          <p:nvPr/>
        </p:nvSpPr>
        <p:spPr>
          <a:xfrm>
            <a:off x="10739628" y="3648456"/>
            <a:ext cx="2695651"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193.14.88.199（发票前置机）</a:t>
            </a:r>
            <a:endParaRPr lang="en-US" sz="1500" dirty="0"/>
          </a:p>
        </p:txBody>
      </p:sp>
      <p:sp>
        <p:nvSpPr>
          <p:cNvPr id="105" name="Text 103"/>
          <p:cNvSpPr txBox="1"/>
          <p:nvPr/>
        </p:nvSpPr>
        <p:spPr>
          <a:xfrm>
            <a:off x="10661904" y="4134002"/>
            <a:ext cx="2857500"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193.60.19.11（PACS影像上传）</a:t>
            </a:r>
            <a:endParaRPr lang="en-US" sz="1500" dirty="0"/>
          </a:p>
        </p:txBody>
      </p:sp>
      <p:sp>
        <p:nvSpPr>
          <p:cNvPr id="106" name="Text 104"/>
          <p:cNvSpPr txBox="1"/>
          <p:nvPr/>
        </p:nvSpPr>
        <p:spPr>
          <a:xfrm>
            <a:off x="10884103" y="4619549"/>
            <a:ext cx="2410358"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193.142.205.109（PACS）</a:t>
            </a:r>
            <a:endParaRPr lang="en-US" sz="1500" dirty="0"/>
          </a:p>
        </p:txBody>
      </p:sp>
      <p:sp>
        <p:nvSpPr>
          <p:cNvPr id="107" name="Text 105"/>
          <p:cNvSpPr txBox="1"/>
          <p:nvPr/>
        </p:nvSpPr>
        <p:spPr>
          <a:xfrm>
            <a:off x="10746943" y="5105095"/>
            <a:ext cx="2686507" cy="277063"/>
          </a:xfrm>
          <a:prstGeom prst="rect">
            <a:avLst/>
          </a:prstGeom>
          <a:noFill/>
        </p:spPr>
        <p:txBody>
          <a:bodyPr wrap="square" lIns="0" tIns="0" rIns="0" bIns="0" rtlCol="0" anchor="ctr"/>
          <a:lstStyle/>
          <a:p>
            <a:pPr marL="0" indent="0" algn="ctr">
              <a:buNone/>
            </a:pPr>
            <a:r>
              <a:rPr lang="en-US" sz="1500" dirty="0">
                <a:solidFill>
                  <a:srgbClr val="000000"/>
                </a:solidFill>
                <a:latin typeface="Noto Sans SC" pitchFamily="34" charset="0"/>
                <a:ea typeface="Noto Sans SC" pitchFamily="34" charset="-122"/>
                <a:cs typeface="Noto Sans SC" pitchFamily="34" charset="-120"/>
              </a:rPr>
              <a:t>192.255.65.230（PACS归档）</a:t>
            </a:r>
            <a:endParaRPr lang="en-US" sz="1500" dirty="0"/>
          </a:p>
        </p:txBody>
      </p:sp>
      <p:sp>
        <p:nvSpPr>
          <p:cNvPr id="108" name="Shape 106"/>
          <p:cNvSpPr/>
          <p:nvPr/>
        </p:nvSpPr>
        <p:spPr>
          <a:xfrm>
            <a:off x="761695" y="5829300"/>
            <a:ext cx="16763695" cy="1495044"/>
          </a:xfrm>
          <a:prstGeom prst="roundRect">
            <a:avLst>
              <a:gd name="adj" fmla="val 4675"/>
            </a:avLst>
          </a:prstGeom>
          <a:solidFill>
            <a:srgbClr val="0A4275">
              <a:alpha val="6000"/>
            </a:srgbClr>
          </a:solidFill>
        </p:spPr>
      </p:sp>
      <p:sp>
        <p:nvSpPr>
          <p:cNvPr id="109" name="Shape 107"/>
          <p:cNvSpPr/>
          <p:nvPr/>
        </p:nvSpPr>
        <p:spPr>
          <a:xfrm>
            <a:off x="761695" y="5829300"/>
            <a:ext cx="47549" cy="1495044"/>
          </a:xfrm>
          <a:prstGeom prst="rect">
            <a:avLst/>
          </a:prstGeom>
          <a:solidFill>
            <a:srgbClr val="0A4275"/>
          </a:solidFill>
        </p:spPr>
      </p:sp>
      <p:pic>
        <p:nvPicPr>
          <p:cNvPr id="110" name="Image 0" descr="preencoded.png"/>
          <p:cNvPicPr>
            <a:picLocks noChangeAspect="1"/>
          </p:cNvPicPr>
          <p:nvPr/>
        </p:nvPicPr>
        <p:blipFill>
          <a:blip r:embed="rId1"/>
          <a:srcRect l="-133" r="-133"/>
          <a:stretch>
            <a:fillRect/>
          </a:stretch>
        </p:blipFill>
        <p:spPr>
          <a:xfrm>
            <a:off x="1047902" y="6072530"/>
            <a:ext cx="171907" cy="228600"/>
          </a:xfrm>
          <a:prstGeom prst="rect">
            <a:avLst/>
          </a:prstGeom>
        </p:spPr>
      </p:pic>
      <p:sp>
        <p:nvSpPr>
          <p:cNvPr id="111" name="Text 108"/>
          <p:cNvSpPr txBox="1"/>
          <p:nvPr/>
        </p:nvSpPr>
        <p:spPr>
          <a:xfrm>
            <a:off x="1314907" y="6001207"/>
            <a:ext cx="3415284"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服务内未防护资产的整改建议</a:t>
            </a:r>
            <a:endParaRPr lang="en-US" sz="1900" dirty="0"/>
          </a:p>
        </p:txBody>
      </p:sp>
      <p:sp>
        <p:nvSpPr>
          <p:cNvPr id="112" name="Text 109"/>
          <p:cNvSpPr txBox="1"/>
          <p:nvPr/>
        </p:nvSpPr>
        <p:spPr>
          <a:xfrm>
            <a:off x="1047750" y="6486525"/>
            <a:ext cx="6674485"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 未安装终端安全的主机需要覆盖安装EDR，加强服务内资产终端安全</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13" name="Text 110"/>
          <p:cNvSpPr txBox="1"/>
          <p:nvPr/>
        </p:nvSpPr>
        <p:spPr>
          <a:xfrm>
            <a:off x="1047750" y="6877050"/>
            <a:ext cx="962533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 建议梳理资产的业务访问流向，在关键链路防火墙上将重要资产纳入防护对象成员中，降低安全风险</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14" name="Text 111"/>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76656"/>
            <a:ext cx="3553358"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脆弱性管理总览</a:t>
            </a:r>
            <a:endParaRPr lang="en-US" sz="3600" dirty="0"/>
          </a:p>
        </p:txBody>
      </p:sp>
      <p:sp>
        <p:nvSpPr>
          <p:cNvPr id="5" name="Shape 3"/>
          <p:cNvSpPr/>
          <p:nvPr/>
        </p:nvSpPr>
        <p:spPr>
          <a:xfrm>
            <a:off x="761695" y="1505102"/>
            <a:ext cx="914400" cy="38405"/>
          </a:xfrm>
          <a:prstGeom prst="rect">
            <a:avLst/>
          </a:prstGeom>
          <a:solidFill>
            <a:srgbClr val="0A4275"/>
          </a:solidFill>
        </p:spPr>
      </p:sp>
      <p:sp>
        <p:nvSpPr>
          <p:cNvPr id="6" name="Shape 4"/>
          <p:cNvSpPr/>
          <p:nvPr/>
        </p:nvSpPr>
        <p:spPr>
          <a:xfrm>
            <a:off x="761695" y="2000707"/>
            <a:ext cx="5438851" cy="2057400"/>
          </a:xfrm>
          <a:prstGeom prst="roundRect">
            <a:avLst>
              <a:gd name="adj" fmla="val 3292"/>
            </a:avLst>
          </a:prstGeom>
          <a:solidFill>
            <a:srgbClr val="0A4275">
              <a:alpha val="6000"/>
            </a:srgbClr>
          </a:solidFill>
        </p:spPr>
      </p:sp>
      <p:pic>
        <p:nvPicPr>
          <p:cNvPr id="7" name="Image 0" descr="preencoded.png"/>
          <p:cNvPicPr>
            <a:picLocks noChangeAspect="1"/>
          </p:cNvPicPr>
          <p:nvPr/>
        </p:nvPicPr>
        <p:blipFill>
          <a:blip r:embed="rId1"/>
          <a:srcRect/>
          <a:stretch>
            <a:fillRect/>
          </a:stretch>
        </p:blipFill>
        <p:spPr>
          <a:xfrm>
            <a:off x="3308299" y="2190902"/>
            <a:ext cx="342900" cy="342900"/>
          </a:xfrm>
          <a:prstGeom prst="rect">
            <a:avLst/>
          </a:prstGeom>
        </p:spPr>
      </p:pic>
      <p:sp>
        <p:nvSpPr>
          <p:cNvPr id="8" name="Shape 5"/>
          <p:cNvSpPr/>
          <p:nvPr/>
        </p:nvSpPr>
        <p:spPr>
          <a:xfrm>
            <a:off x="6426403" y="2000707"/>
            <a:ext cx="5438851" cy="2057400"/>
          </a:xfrm>
          <a:prstGeom prst="roundRect">
            <a:avLst>
              <a:gd name="adj" fmla="val 3292"/>
            </a:avLst>
          </a:prstGeom>
          <a:solidFill>
            <a:srgbClr val="0A4275">
              <a:alpha val="6000"/>
            </a:srgbClr>
          </a:solidFill>
        </p:spPr>
      </p:sp>
      <p:sp>
        <p:nvSpPr>
          <p:cNvPr id="9" name="Text 6"/>
          <p:cNvSpPr txBox="1"/>
          <p:nvPr/>
        </p:nvSpPr>
        <p:spPr>
          <a:xfrm>
            <a:off x="3055925" y="2695651"/>
            <a:ext cx="1257300" cy="771754"/>
          </a:xfrm>
          <a:prstGeom prst="rect">
            <a:avLst/>
          </a:prstGeom>
          <a:noFill/>
        </p:spPr>
        <p:txBody>
          <a:bodyPr wrap="square" lIns="0" tIns="0" rIns="0" bIns="0" rtlCol="0" anchor="ctr"/>
          <a:lstStyle/>
          <a:p>
            <a:pPr marL="0" indent="0" algn="l">
              <a:buNone/>
            </a:pPr>
            <a:r>
              <a:rPr lang="en-US" sz="4200" b="1" dirty="0">
                <a:solidFill>
                  <a:srgbClr val="0A4275"/>
                </a:solidFill>
                <a:latin typeface="Noto Sans SC" pitchFamily="34" charset="0"/>
                <a:ea typeface="Noto Sans SC" pitchFamily="34" charset="-122"/>
                <a:cs typeface="Noto Sans SC" pitchFamily="34" charset="-120"/>
              </a:rPr>
              <a:t>3次</a:t>
            </a:r>
            <a:endParaRPr lang="en-US" sz="4200" dirty="0"/>
          </a:p>
        </p:txBody>
      </p:sp>
      <p:sp>
        <p:nvSpPr>
          <p:cNvPr id="10" name="Text 7"/>
          <p:cNvSpPr txBox="1"/>
          <p:nvPr/>
        </p:nvSpPr>
        <p:spPr>
          <a:xfrm>
            <a:off x="8405165" y="2695651"/>
            <a:ext cx="1886407" cy="771754"/>
          </a:xfrm>
          <a:prstGeom prst="rect">
            <a:avLst/>
          </a:prstGeom>
          <a:noFill/>
        </p:spPr>
        <p:txBody>
          <a:bodyPr wrap="square" lIns="0" tIns="0" rIns="0" bIns="0" rtlCol="0" anchor="ctr"/>
          <a:lstStyle/>
          <a:p>
            <a:pPr marL="0" indent="0" algn="l">
              <a:buNone/>
            </a:pPr>
            <a:r>
              <a:rPr lang="en-US" sz="4200" b="1" dirty="0">
                <a:solidFill>
                  <a:srgbClr val="0A4275"/>
                </a:solidFill>
                <a:latin typeface="Noto Sans SC" pitchFamily="34" charset="0"/>
                <a:ea typeface="Noto Sans SC" pitchFamily="34" charset="-122"/>
                <a:cs typeface="Noto Sans SC" pitchFamily="34" charset="-120"/>
              </a:rPr>
              <a:t>453个</a:t>
            </a:r>
            <a:endParaRPr lang="en-US" sz="4200" dirty="0"/>
          </a:p>
        </p:txBody>
      </p:sp>
      <p:sp>
        <p:nvSpPr>
          <p:cNvPr id="11" name="Text 8"/>
          <p:cNvSpPr txBox="1"/>
          <p:nvPr/>
        </p:nvSpPr>
        <p:spPr>
          <a:xfrm>
            <a:off x="2908935" y="3581400"/>
            <a:ext cx="135509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全年漏洞扫描</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12" name="Image 1" descr="preencoded.png"/>
          <p:cNvPicPr>
            <a:picLocks noChangeAspect="1"/>
          </p:cNvPicPr>
          <p:nvPr/>
        </p:nvPicPr>
        <p:blipFill>
          <a:blip r:embed="rId2"/>
          <a:srcRect/>
          <a:stretch>
            <a:fillRect/>
          </a:stretch>
        </p:blipFill>
        <p:spPr>
          <a:xfrm>
            <a:off x="8972093" y="2190902"/>
            <a:ext cx="342900" cy="342900"/>
          </a:xfrm>
          <a:prstGeom prst="rect">
            <a:avLst/>
          </a:prstGeom>
        </p:spPr>
      </p:pic>
      <p:sp>
        <p:nvSpPr>
          <p:cNvPr id="13" name="Shape 9"/>
          <p:cNvSpPr/>
          <p:nvPr/>
        </p:nvSpPr>
        <p:spPr>
          <a:xfrm>
            <a:off x="12090197" y="2000707"/>
            <a:ext cx="5438851" cy="2057400"/>
          </a:xfrm>
          <a:prstGeom prst="roundRect">
            <a:avLst>
              <a:gd name="adj" fmla="val 3292"/>
            </a:avLst>
          </a:prstGeom>
          <a:solidFill>
            <a:srgbClr val="0A4275">
              <a:alpha val="6000"/>
            </a:srgbClr>
          </a:solidFill>
        </p:spPr>
      </p:sp>
      <p:sp>
        <p:nvSpPr>
          <p:cNvPr id="14" name="Text 10"/>
          <p:cNvSpPr txBox="1"/>
          <p:nvPr/>
        </p:nvSpPr>
        <p:spPr>
          <a:xfrm>
            <a:off x="8572500" y="3581400"/>
            <a:ext cx="135509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发现漏洞总数</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15" name="Image 2" descr="preencoded.png"/>
          <p:cNvPicPr>
            <a:picLocks noChangeAspect="1"/>
          </p:cNvPicPr>
          <p:nvPr/>
        </p:nvPicPr>
        <p:blipFill>
          <a:blip r:embed="rId3"/>
          <a:srcRect/>
          <a:stretch>
            <a:fillRect/>
          </a:stretch>
        </p:blipFill>
        <p:spPr>
          <a:xfrm>
            <a:off x="14636801" y="2190902"/>
            <a:ext cx="342900" cy="342900"/>
          </a:xfrm>
          <a:prstGeom prst="rect">
            <a:avLst/>
          </a:prstGeom>
        </p:spPr>
      </p:pic>
      <p:sp>
        <p:nvSpPr>
          <p:cNvPr id="16" name="Text 11"/>
          <p:cNvSpPr txBox="1"/>
          <p:nvPr/>
        </p:nvSpPr>
        <p:spPr>
          <a:xfrm>
            <a:off x="13834872" y="2695651"/>
            <a:ext cx="2352751" cy="771754"/>
          </a:xfrm>
          <a:prstGeom prst="rect">
            <a:avLst/>
          </a:prstGeom>
          <a:noFill/>
        </p:spPr>
        <p:txBody>
          <a:bodyPr wrap="square" lIns="0" tIns="0" rIns="0" bIns="0" rtlCol="0" anchor="ctr"/>
          <a:lstStyle/>
          <a:p>
            <a:pPr marL="0" indent="0" algn="l">
              <a:buNone/>
            </a:pPr>
            <a:r>
              <a:rPr lang="en-US" sz="4200" b="1" dirty="0">
                <a:solidFill>
                  <a:srgbClr val="0A4275"/>
                </a:solidFill>
                <a:latin typeface="Noto Sans SC" pitchFamily="34" charset="0"/>
                <a:ea typeface="Noto Sans SC" pitchFamily="34" charset="-122"/>
                <a:cs typeface="Noto Sans SC" pitchFamily="34" charset="-120"/>
              </a:rPr>
              <a:t>23.39%</a:t>
            </a:r>
            <a:endParaRPr lang="en-US" sz="4200" dirty="0"/>
          </a:p>
        </p:txBody>
      </p:sp>
      <p:sp>
        <p:nvSpPr>
          <p:cNvPr id="17" name="Text 12"/>
          <p:cNvSpPr txBox="1"/>
          <p:nvPr/>
        </p:nvSpPr>
        <p:spPr>
          <a:xfrm>
            <a:off x="14332585" y="3581400"/>
            <a:ext cx="1153795"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漏洞闭环率</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8" name="Shape 13"/>
          <p:cNvSpPr/>
          <p:nvPr/>
        </p:nvSpPr>
        <p:spPr>
          <a:xfrm>
            <a:off x="761695" y="4552798"/>
            <a:ext cx="8268005" cy="2229307"/>
          </a:xfrm>
          <a:prstGeom prst="roundRect">
            <a:avLst>
              <a:gd name="adj" fmla="val 2805"/>
            </a:avLst>
          </a:prstGeom>
          <a:solidFill>
            <a:srgbClr val="0A4275">
              <a:alpha val="6000"/>
            </a:srgbClr>
          </a:solidFill>
        </p:spPr>
      </p:sp>
      <p:sp>
        <p:nvSpPr>
          <p:cNvPr id="19" name="Text 14"/>
          <p:cNvSpPr txBox="1"/>
          <p:nvPr/>
        </p:nvSpPr>
        <p:spPr>
          <a:xfrm>
            <a:off x="952805" y="4724705"/>
            <a:ext cx="1543507"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漏洞风险分布</a:t>
            </a:r>
            <a:endParaRPr lang="en-US" sz="1800" dirty="0"/>
          </a:p>
        </p:txBody>
      </p:sp>
      <p:sp>
        <p:nvSpPr>
          <p:cNvPr id="20" name="Shape 15"/>
          <p:cNvSpPr/>
          <p:nvPr/>
        </p:nvSpPr>
        <p:spPr>
          <a:xfrm>
            <a:off x="952805" y="5201107"/>
            <a:ext cx="1429207" cy="457200"/>
          </a:xfrm>
          <a:prstGeom prst="roundRect">
            <a:avLst>
              <a:gd name="adj" fmla="val 83333"/>
            </a:avLst>
          </a:prstGeom>
          <a:solidFill>
            <a:srgbClr val="DC2626">
              <a:alpha val="10000"/>
            </a:srgbClr>
          </a:solidFill>
          <a:ln w="12700">
            <a:solidFill>
              <a:srgbClr val="DC2626">
                <a:alpha val="30000"/>
              </a:srgbClr>
            </a:solidFill>
            <a:prstDash val="solid"/>
          </a:ln>
        </p:spPr>
      </p:sp>
      <p:pic>
        <p:nvPicPr>
          <p:cNvPr id="21" name="Image 3" descr="preencoded.png"/>
          <p:cNvPicPr>
            <a:picLocks noChangeAspect="1"/>
          </p:cNvPicPr>
          <p:nvPr/>
        </p:nvPicPr>
        <p:blipFill>
          <a:blip r:embed="rId4"/>
          <a:srcRect/>
          <a:stretch>
            <a:fillRect/>
          </a:stretch>
        </p:blipFill>
        <p:spPr>
          <a:xfrm>
            <a:off x="1114654" y="5339182"/>
            <a:ext cx="190195" cy="190195"/>
          </a:xfrm>
          <a:prstGeom prst="rect">
            <a:avLst/>
          </a:prstGeom>
        </p:spPr>
      </p:pic>
      <p:sp>
        <p:nvSpPr>
          <p:cNvPr id="22" name="Shape 16"/>
          <p:cNvSpPr/>
          <p:nvPr/>
        </p:nvSpPr>
        <p:spPr>
          <a:xfrm>
            <a:off x="9258300" y="4552798"/>
            <a:ext cx="8268005" cy="2229307"/>
          </a:xfrm>
          <a:prstGeom prst="roundRect">
            <a:avLst>
              <a:gd name="adj" fmla="val 2805"/>
            </a:avLst>
          </a:prstGeom>
          <a:solidFill>
            <a:srgbClr val="0A4275">
              <a:alpha val="6000"/>
            </a:srgbClr>
          </a:solidFill>
        </p:spPr>
      </p:sp>
      <p:sp>
        <p:nvSpPr>
          <p:cNvPr id="23" name="Text 17"/>
          <p:cNvSpPr txBox="1"/>
          <p:nvPr/>
        </p:nvSpPr>
        <p:spPr>
          <a:xfrm>
            <a:off x="9448495" y="4724705"/>
            <a:ext cx="1543507"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漏洞闭环方式</a:t>
            </a:r>
            <a:endParaRPr lang="en-US" sz="1800" dirty="0"/>
          </a:p>
        </p:txBody>
      </p:sp>
      <p:sp>
        <p:nvSpPr>
          <p:cNvPr id="24" name="Text 18"/>
          <p:cNvSpPr txBox="1"/>
          <p:nvPr/>
        </p:nvSpPr>
        <p:spPr>
          <a:xfrm>
            <a:off x="1380744" y="5286146"/>
            <a:ext cx="981151" cy="277063"/>
          </a:xfrm>
          <a:prstGeom prst="rect">
            <a:avLst/>
          </a:prstGeom>
          <a:noFill/>
        </p:spPr>
        <p:txBody>
          <a:bodyPr wrap="square" lIns="0" tIns="0" rIns="0" bIns="0" rtlCol="0" anchor="ctr"/>
          <a:lstStyle/>
          <a:p>
            <a:pPr marL="0" indent="0" algn="l">
              <a:buNone/>
            </a:pPr>
            <a:r>
              <a:rPr lang="en-US" sz="1500" dirty="0">
                <a:solidFill>
                  <a:srgbClr val="DC2626"/>
                </a:solidFill>
                <a:latin typeface="Noto Sans SC" pitchFamily="34" charset="0"/>
                <a:ea typeface="Noto Sans SC" pitchFamily="34" charset="-122"/>
                <a:cs typeface="Noto Sans SC" pitchFamily="34" charset="-120"/>
              </a:rPr>
              <a:t>高危 29个</a:t>
            </a:r>
            <a:endParaRPr lang="en-US" sz="1500" dirty="0"/>
          </a:p>
        </p:txBody>
      </p:sp>
      <p:sp>
        <p:nvSpPr>
          <p:cNvPr id="25" name="Text 19"/>
          <p:cNvSpPr txBox="1"/>
          <p:nvPr/>
        </p:nvSpPr>
        <p:spPr>
          <a:xfrm>
            <a:off x="952500" y="5695950"/>
            <a:ext cx="2162810" cy="277495"/>
          </a:xfrm>
          <a:prstGeom prst="rect">
            <a:avLst/>
          </a:prstGeom>
          <a:noFill/>
        </p:spPr>
        <p:txBody>
          <a:bodyPr wrap="square" lIns="0" tIns="0" rIns="0" bIns="0" rtlCol="0" anchor="ctr"/>
          <a:lstStyle/>
          <a:p>
            <a:pPr marL="0" indent="0" algn="l">
              <a:buNone/>
            </a:pPr>
            <a:r>
              <a:rPr lang="en-US" sz="1400" dirty="0">
                <a:solidFill>
                  <a:srgbClr val="000000"/>
                </a:solidFill>
                <a:latin typeface="Noto Sans SC" pitchFamily="34" charset="0"/>
                <a:ea typeface="Noto Sans SC" pitchFamily="34" charset="-122"/>
                <a:cs typeface="Noto Sans SC" pitchFamily="34" charset="-120"/>
              </a:rPr>
              <a:t>（其中高可利用漏洞 6 个）</a:t>
            </a:r>
            <a:endParaRPr lang="en-US" sz="1400" dirty="0">
              <a:solidFill>
                <a:srgbClr val="000000"/>
              </a:solidFill>
              <a:latin typeface="Noto Sans SC" pitchFamily="34" charset="0"/>
              <a:ea typeface="Noto Sans SC" pitchFamily="34" charset="-122"/>
              <a:cs typeface="Noto Sans SC" pitchFamily="34" charset="-120"/>
            </a:endParaRPr>
          </a:p>
        </p:txBody>
      </p:sp>
      <p:sp>
        <p:nvSpPr>
          <p:cNvPr id="26" name="Shape 20"/>
          <p:cNvSpPr/>
          <p:nvPr/>
        </p:nvSpPr>
        <p:spPr>
          <a:xfrm>
            <a:off x="952805" y="6115507"/>
            <a:ext cx="1429207" cy="457200"/>
          </a:xfrm>
          <a:prstGeom prst="roundRect">
            <a:avLst>
              <a:gd name="adj" fmla="val 83333"/>
            </a:avLst>
          </a:prstGeom>
          <a:solidFill>
            <a:srgbClr val="F59E0B">
              <a:alpha val="10000"/>
            </a:srgbClr>
          </a:solidFill>
          <a:ln w="12700">
            <a:solidFill>
              <a:srgbClr val="F59E0B">
                <a:alpha val="30000"/>
              </a:srgbClr>
            </a:solidFill>
            <a:prstDash val="solid"/>
          </a:ln>
        </p:spPr>
      </p:sp>
      <p:pic>
        <p:nvPicPr>
          <p:cNvPr id="27" name="Image 4" descr="preencoded.png"/>
          <p:cNvPicPr>
            <a:picLocks noChangeAspect="1"/>
          </p:cNvPicPr>
          <p:nvPr/>
        </p:nvPicPr>
        <p:blipFill>
          <a:blip r:embed="rId5"/>
          <a:srcRect/>
          <a:stretch>
            <a:fillRect/>
          </a:stretch>
        </p:blipFill>
        <p:spPr>
          <a:xfrm>
            <a:off x="1114654" y="6253582"/>
            <a:ext cx="190195" cy="190195"/>
          </a:xfrm>
          <a:prstGeom prst="rect">
            <a:avLst/>
          </a:prstGeom>
        </p:spPr>
      </p:pic>
      <p:sp>
        <p:nvSpPr>
          <p:cNvPr id="28" name="Text 21"/>
          <p:cNvSpPr txBox="1"/>
          <p:nvPr/>
        </p:nvSpPr>
        <p:spPr>
          <a:xfrm>
            <a:off x="1380744" y="6200546"/>
            <a:ext cx="981151" cy="277063"/>
          </a:xfrm>
          <a:prstGeom prst="rect">
            <a:avLst/>
          </a:prstGeom>
          <a:noFill/>
        </p:spPr>
        <p:txBody>
          <a:bodyPr wrap="square" lIns="0" tIns="0" rIns="0" bIns="0" rtlCol="0" anchor="ctr"/>
          <a:lstStyle/>
          <a:p>
            <a:pPr marL="0" indent="0" algn="l">
              <a:buNone/>
            </a:pPr>
            <a:r>
              <a:rPr lang="en-US" sz="1500" dirty="0">
                <a:solidFill>
                  <a:srgbClr val="D97706"/>
                </a:solidFill>
                <a:latin typeface="Noto Sans SC" pitchFamily="34" charset="0"/>
                <a:ea typeface="Noto Sans SC" pitchFamily="34" charset="-122"/>
                <a:cs typeface="Noto Sans SC" pitchFamily="34" charset="-120"/>
              </a:rPr>
              <a:t>中危 46个</a:t>
            </a:r>
            <a:endParaRPr lang="en-US" sz="1500" dirty="0"/>
          </a:p>
        </p:txBody>
      </p:sp>
      <p:sp>
        <p:nvSpPr>
          <p:cNvPr id="29" name="Shape 22"/>
          <p:cNvSpPr/>
          <p:nvPr/>
        </p:nvSpPr>
        <p:spPr>
          <a:xfrm>
            <a:off x="2517343" y="6115507"/>
            <a:ext cx="1533449" cy="457200"/>
          </a:xfrm>
          <a:prstGeom prst="roundRect">
            <a:avLst>
              <a:gd name="adj" fmla="val 83333"/>
            </a:avLst>
          </a:prstGeom>
          <a:solidFill>
            <a:srgbClr val="3B82F6">
              <a:alpha val="10000"/>
            </a:srgbClr>
          </a:solidFill>
          <a:ln w="12700">
            <a:solidFill>
              <a:srgbClr val="3B82F6">
                <a:alpha val="30000"/>
              </a:srgbClr>
            </a:solidFill>
            <a:prstDash val="solid"/>
          </a:ln>
        </p:spPr>
      </p:sp>
      <p:pic>
        <p:nvPicPr>
          <p:cNvPr id="30" name="Image 5" descr="preencoded.png"/>
          <p:cNvPicPr>
            <a:picLocks noChangeAspect="1"/>
          </p:cNvPicPr>
          <p:nvPr/>
        </p:nvPicPr>
        <p:blipFill>
          <a:blip r:embed="rId6"/>
          <a:srcRect/>
          <a:stretch>
            <a:fillRect/>
          </a:stretch>
        </p:blipFill>
        <p:spPr>
          <a:xfrm>
            <a:off x="2679192" y="6253582"/>
            <a:ext cx="190195" cy="190195"/>
          </a:xfrm>
          <a:prstGeom prst="rect">
            <a:avLst/>
          </a:prstGeom>
        </p:spPr>
      </p:pic>
      <p:sp>
        <p:nvSpPr>
          <p:cNvPr id="31" name="Text 23"/>
          <p:cNvSpPr txBox="1"/>
          <p:nvPr/>
        </p:nvSpPr>
        <p:spPr>
          <a:xfrm>
            <a:off x="2946197" y="6200546"/>
            <a:ext cx="1086307" cy="277063"/>
          </a:xfrm>
          <a:prstGeom prst="rect">
            <a:avLst/>
          </a:prstGeom>
          <a:noFill/>
        </p:spPr>
        <p:txBody>
          <a:bodyPr wrap="square" lIns="0" tIns="0" rIns="0" bIns="0" rtlCol="0" anchor="ctr"/>
          <a:lstStyle/>
          <a:p>
            <a:pPr marL="0" indent="0" algn="l">
              <a:buNone/>
            </a:pPr>
            <a:r>
              <a:rPr lang="en-US" sz="1500" dirty="0">
                <a:solidFill>
                  <a:srgbClr val="3B82F6"/>
                </a:solidFill>
                <a:latin typeface="Noto Sans SC" pitchFamily="34" charset="0"/>
                <a:ea typeface="Noto Sans SC" pitchFamily="34" charset="-122"/>
                <a:cs typeface="Noto Sans SC" pitchFamily="34" charset="-120"/>
              </a:rPr>
              <a:t>低危 378个</a:t>
            </a:r>
            <a:endParaRPr lang="en-US" sz="1500" dirty="0"/>
          </a:p>
        </p:txBody>
      </p:sp>
      <p:sp>
        <p:nvSpPr>
          <p:cNvPr id="32" name="Shape 24"/>
          <p:cNvSpPr/>
          <p:nvPr/>
        </p:nvSpPr>
        <p:spPr>
          <a:xfrm>
            <a:off x="9448495" y="5257800"/>
            <a:ext cx="152705" cy="152705"/>
          </a:xfrm>
          <a:prstGeom prst="roundRect">
            <a:avLst>
              <a:gd name="adj" fmla="val 598802"/>
            </a:avLst>
          </a:prstGeom>
          <a:solidFill>
            <a:srgbClr val="0A4275"/>
          </a:solidFill>
        </p:spPr>
      </p:sp>
      <p:sp>
        <p:nvSpPr>
          <p:cNvPr id="33" name="Text 25"/>
          <p:cNvSpPr txBox="1"/>
          <p:nvPr/>
        </p:nvSpPr>
        <p:spPr>
          <a:xfrm>
            <a:off x="9715500" y="5191125"/>
            <a:ext cx="1896110" cy="27686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已闭环漏洞：106个</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34" name="Shape 26"/>
          <p:cNvSpPr/>
          <p:nvPr/>
        </p:nvSpPr>
        <p:spPr>
          <a:xfrm>
            <a:off x="9677095" y="5581498"/>
            <a:ext cx="19202" cy="1009498"/>
          </a:xfrm>
          <a:prstGeom prst="rect">
            <a:avLst/>
          </a:prstGeom>
          <a:solidFill>
            <a:srgbClr val="D1D5DB"/>
          </a:solidFill>
        </p:spPr>
      </p:sp>
      <p:sp>
        <p:nvSpPr>
          <p:cNvPr id="35" name="Shape 27"/>
          <p:cNvSpPr/>
          <p:nvPr/>
        </p:nvSpPr>
        <p:spPr>
          <a:xfrm>
            <a:off x="9849002" y="5667451"/>
            <a:ext cx="114300" cy="114300"/>
          </a:xfrm>
          <a:prstGeom prst="roundRect">
            <a:avLst>
              <a:gd name="adj" fmla="val 800000"/>
            </a:avLst>
          </a:prstGeom>
          <a:solidFill>
            <a:srgbClr val="059669"/>
          </a:solidFill>
        </p:spPr>
      </p:sp>
      <p:sp>
        <p:nvSpPr>
          <p:cNvPr id="36" name="Text 28"/>
          <p:cNvSpPr txBox="1"/>
          <p:nvPr/>
        </p:nvSpPr>
        <p:spPr>
          <a:xfrm>
            <a:off x="10077450" y="5581650"/>
            <a:ext cx="2679065" cy="27686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通过防护规则有效防护：3个</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37" name="Text 29"/>
          <p:cNvSpPr txBox="1"/>
          <p:nvPr/>
        </p:nvSpPr>
        <p:spPr>
          <a:xfrm>
            <a:off x="10077450" y="5943600"/>
            <a:ext cx="2498090" cy="27686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漏洞补丁更新闭环：103个</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38" name="Text 30"/>
          <p:cNvSpPr txBox="1"/>
          <p:nvPr/>
        </p:nvSpPr>
        <p:spPr>
          <a:xfrm>
            <a:off x="10077450" y="6305550"/>
            <a:ext cx="2277745" cy="27686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业务原因接受风险：0个</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39" name="Shape 31"/>
          <p:cNvSpPr/>
          <p:nvPr/>
        </p:nvSpPr>
        <p:spPr>
          <a:xfrm>
            <a:off x="9849002" y="6029554"/>
            <a:ext cx="114300" cy="114300"/>
          </a:xfrm>
          <a:prstGeom prst="roundRect">
            <a:avLst>
              <a:gd name="adj" fmla="val 800000"/>
            </a:avLst>
          </a:prstGeom>
          <a:solidFill>
            <a:srgbClr val="3B82F6"/>
          </a:solidFill>
        </p:spPr>
      </p:sp>
      <p:sp>
        <p:nvSpPr>
          <p:cNvPr id="40" name="Shape 32"/>
          <p:cNvSpPr/>
          <p:nvPr/>
        </p:nvSpPr>
        <p:spPr>
          <a:xfrm>
            <a:off x="9849002" y="6391656"/>
            <a:ext cx="114300" cy="114300"/>
          </a:xfrm>
          <a:prstGeom prst="roundRect">
            <a:avLst>
              <a:gd name="adj" fmla="val 800000"/>
            </a:avLst>
          </a:prstGeom>
          <a:solidFill>
            <a:srgbClr val="F59E0B"/>
          </a:solidFill>
        </p:spPr>
      </p:sp>
      <p:sp>
        <p:nvSpPr>
          <p:cNvPr id="41" name="Shape 33"/>
          <p:cNvSpPr/>
          <p:nvPr/>
        </p:nvSpPr>
        <p:spPr>
          <a:xfrm>
            <a:off x="761695" y="7276795"/>
            <a:ext cx="16763695" cy="1380744"/>
          </a:xfrm>
          <a:prstGeom prst="roundRect">
            <a:avLst>
              <a:gd name="adj" fmla="val 7308"/>
            </a:avLst>
          </a:prstGeom>
          <a:solidFill>
            <a:srgbClr val="0A4275"/>
          </a:solidFill>
        </p:spPr>
      </p:sp>
      <p:pic>
        <p:nvPicPr>
          <p:cNvPr id="42" name="Image 6" descr="preencoded.png"/>
          <p:cNvPicPr>
            <a:picLocks noChangeAspect="1"/>
          </p:cNvPicPr>
          <p:nvPr/>
        </p:nvPicPr>
        <p:blipFill>
          <a:blip r:embed="rId7"/>
          <a:srcRect/>
          <a:stretch>
            <a:fillRect/>
          </a:stretch>
        </p:blipFill>
        <p:spPr>
          <a:xfrm>
            <a:off x="1028700" y="7625182"/>
            <a:ext cx="267005" cy="267005"/>
          </a:xfrm>
          <a:prstGeom prst="rect">
            <a:avLst/>
          </a:prstGeom>
        </p:spPr>
      </p:pic>
      <p:sp>
        <p:nvSpPr>
          <p:cNvPr id="43" name="Text 34"/>
          <p:cNvSpPr txBox="1"/>
          <p:nvPr/>
        </p:nvSpPr>
        <p:spPr>
          <a:xfrm>
            <a:off x="1410005" y="7552944"/>
            <a:ext cx="1276502" cy="381305"/>
          </a:xfrm>
          <a:prstGeom prst="rect">
            <a:avLst/>
          </a:prstGeom>
          <a:noFill/>
        </p:spPr>
        <p:txBody>
          <a:bodyPr wrap="square" lIns="0" tIns="0" rIns="0" bIns="0" rtlCol="0" anchor="ctr"/>
          <a:lstStyle/>
          <a:p>
            <a:pPr marL="0" indent="0" algn="l">
              <a:buNone/>
            </a:pPr>
            <a:r>
              <a:rPr lang="en-US" sz="2100" b="1" dirty="0">
                <a:solidFill>
                  <a:srgbClr val="FFFFFF"/>
                </a:solidFill>
                <a:latin typeface="Noto Sans SC" pitchFamily="34" charset="0"/>
                <a:ea typeface="Noto Sans SC" pitchFamily="34" charset="-122"/>
                <a:cs typeface="Noto Sans SC" pitchFamily="34" charset="-120"/>
              </a:rPr>
              <a:t>服务价值</a:t>
            </a:r>
            <a:endParaRPr lang="en-US" sz="2100" dirty="0"/>
          </a:p>
        </p:txBody>
      </p:sp>
      <p:sp>
        <p:nvSpPr>
          <p:cNvPr id="44" name="Text 35"/>
          <p:cNvSpPr txBox="1"/>
          <p:nvPr/>
        </p:nvSpPr>
        <p:spPr>
          <a:xfrm>
            <a:off x="1028700" y="8096250"/>
            <a:ext cx="7375525" cy="276860"/>
          </a:xfrm>
          <a:prstGeom prst="rect">
            <a:avLst/>
          </a:prstGeom>
          <a:noFill/>
        </p:spPr>
        <p:txBody>
          <a:bodyPr wrap="square" lIns="0" tIns="0" rIns="0" bIns="0" rtlCol="0" anchor="ctr"/>
          <a:lstStyle/>
          <a:p>
            <a:pPr marL="0" indent="0" algn="l">
              <a:buNone/>
            </a:pPr>
            <a:r>
              <a:rPr lang="en-US" sz="1600" dirty="0">
                <a:solidFill>
                  <a:srgbClr val="FFFFFF"/>
                </a:solidFill>
                <a:latin typeface="Noto Sans SC" pitchFamily="34" charset="0"/>
                <a:ea typeface="Noto Sans SC" pitchFamily="34" charset="-122"/>
                <a:cs typeface="Noto Sans SC" pitchFamily="34" charset="-120"/>
              </a:rPr>
              <a:t>及时发现业务系统漏洞，及时修复可利用漏洞，有效降低服务资产被入侵的风险。</a:t>
            </a:r>
            <a:endParaRPr lang="en-US" sz="1600" dirty="0">
              <a:solidFill>
                <a:srgbClr val="FFFFFF"/>
              </a:solidFill>
              <a:latin typeface="Noto Sans SC" pitchFamily="34" charset="0"/>
              <a:ea typeface="Noto Sans SC" pitchFamily="34" charset="-122"/>
              <a:cs typeface="Noto Sans SC" pitchFamily="34" charset="-120"/>
            </a:endParaRPr>
          </a:p>
        </p:txBody>
      </p:sp>
      <p:sp>
        <p:nvSpPr>
          <p:cNvPr id="45" name="Text 36"/>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76656"/>
            <a:ext cx="5306263"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脆弱性管理 / 未闭环漏洞</a:t>
            </a:r>
            <a:endParaRPr lang="en-US" sz="3600" dirty="0"/>
          </a:p>
        </p:txBody>
      </p:sp>
      <p:sp>
        <p:nvSpPr>
          <p:cNvPr id="5" name="Shape 3"/>
          <p:cNvSpPr/>
          <p:nvPr/>
        </p:nvSpPr>
        <p:spPr>
          <a:xfrm>
            <a:off x="761695" y="1352398"/>
            <a:ext cx="761695" cy="38405"/>
          </a:xfrm>
          <a:prstGeom prst="rect">
            <a:avLst/>
          </a:prstGeom>
          <a:solidFill>
            <a:srgbClr val="0A4275"/>
          </a:solidFill>
        </p:spPr>
      </p:sp>
      <p:sp>
        <p:nvSpPr>
          <p:cNvPr id="6" name="Shape 4"/>
          <p:cNvSpPr/>
          <p:nvPr/>
        </p:nvSpPr>
        <p:spPr>
          <a:xfrm>
            <a:off x="761695" y="1619402"/>
            <a:ext cx="38405" cy="2257654"/>
          </a:xfrm>
          <a:prstGeom prst="rect">
            <a:avLst/>
          </a:prstGeom>
          <a:solidFill>
            <a:srgbClr val="0A4275"/>
          </a:solidFill>
        </p:spPr>
      </p:sp>
      <p:sp>
        <p:nvSpPr>
          <p:cNvPr id="7" name="Text 5"/>
          <p:cNvSpPr txBox="1"/>
          <p:nvPr/>
        </p:nvSpPr>
        <p:spPr>
          <a:xfrm>
            <a:off x="942746" y="1628546"/>
            <a:ext cx="3458261"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当前未闭环的漏洞共 347 个</a:t>
            </a:r>
            <a:endParaRPr lang="en-US" sz="2100" dirty="0"/>
          </a:p>
        </p:txBody>
      </p:sp>
      <p:sp>
        <p:nvSpPr>
          <p:cNvPr id="8" name="Shape 6"/>
          <p:cNvSpPr/>
          <p:nvPr/>
        </p:nvSpPr>
        <p:spPr>
          <a:xfrm>
            <a:off x="942746" y="2133295"/>
            <a:ext cx="5381244" cy="981151"/>
          </a:xfrm>
          <a:prstGeom prst="roundRect">
            <a:avLst>
              <a:gd name="adj" fmla="val 9048"/>
            </a:avLst>
          </a:prstGeom>
          <a:solidFill>
            <a:srgbClr val="0A4275">
              <a:alpha val="6000"/>
            </a:srgbClr>
          </a:solidFill>
        </p:spPr>
      </p:sp>
      <p:pic>
        <p:nvPicPr>
          <p:cNvPr id="9" name="Image 0" descr="preencoded.png"/>
          <p:cNvPicPr>
            <a:picLocks noChangeAspect="1"/>
          </p:cNvPicPr>
          <p:nvPr/>
        </p:nvPicPr>
        <p:blipFill>
          <a:blip r:embed="rId1"/>
          <a:srcRect/>
          <a:stretch>
            <a:fillRect/>
          </a:stretch>
        </p:blipFill>
        <p:spPr>
          <a:xfrm>
            <a:off x="1095451" y="2481682"/>
            <a:ext cx="286207" cy="286207"/>
          </a:xfrm>
          <a:prstGeom prst="rect">
            <a:avLst/>
          </a:prstGeom>
        </p:spPr>
      </p:pic>
      <p:sp>
        <p:nvSpPr>
          <p:cNvPr id="10" name="Shape 7"/>
          <p:cNvSpPr/>
          <p:nvPr/>
        </p:nvSpPr>
        <p:spPr>
          <a:xfrm>
            <a:off x="6547104" y="2133295"/>
            <a:ext cx="5381244" cy="981151"/>
          </a:xfrm>
          <a:prstGeom prst="roundRect">
            <a:avLst>
              <a:gd name="adj" fmla="val 9048"/>
            </a:avLst>
          </a:prstGeom>
          <a:solidFill>
            <a:srgbClr val="0A4275">
              <a:alpha val="6000"/>
            </a:srgbClr>
          </a:solidFill>
        </p:spPr>
      </p:sp>
      <p:sp>
        <p:nvSpPr>
          <p:cNvPr id="11" name="Shape 8"/>
          <p:cNvSpPr/>
          <p:nvPr/>
        </p:nvSpPr>
        <p:spPr>
          <a:xfrm>
            <a:off x="12150547" y="2133295"/>
            <a:ext cx="5381244" cy="981151"/>
          </a:xfrm>
          <a:prstGeom prst="roundRect">
            <a:avLst>
              <a:gd name="adj" fmla="val 9048"/>
            </a:avLst>
          </a:prstGeom>
          <a:solidFill>
            <a:srgbClr val="0A4275">
              <a:alpha val="6000"/>
            </a:srgbClr>
          </a:solidFill>
        </p:spPr>
      </p:sp>
      <p:sp>
        <p:nvSpPr>
          <p:cNvPr id="12" name="Text 9"/>
          <p:cNvSpPr txBox="1"/>
          <p:nvPr/>
        </p:nvSpPr>
        <p:spPr>
          <a:xfrm>
            <a:off x="1524305" y="2286000"/>
            <a:ext cx="905256" cy="277063"/>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高危漏洞</a:t>
            </a:r>
            <a:endParaRPr lang="en-US" sz="1500" dirty="0"/>
          </a:p>
        </p:txBody>
      </p:sp>
      <p:sp>
        <p:nvSpPr>
          <p:cNvPr id="13" name="Text 10"/>
          <p:cNvSpPr txBox="1"/>
          <p:nvPr/>
        </p:nvSpPr>
        <p:spPr>
          <a:xfrm>
            <a:off x="7127748" y="2286000"/>
            <a:ext cx="905256" cy="277063"/>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中危漏洞</a:t>
            </a:r>
            <a:endParaRPr lang="en-US" sz="1500" dirty="0"/>
          </a:p>
        </p:txBody>
      </p:sp>
      <p:sp>
        <p:nvSpPr>
          <p:cNvPr id="14" name="Text 11"/>
          <p:cNvSpPr txBox="1"/>
          <p:nvPr/>
        </p:nvSpPr>
        <p:spPr>
          <a:xfrm>
            <a:off x="12732106" y="2286000"/>
            <a:ext cx="905256" cy="277063"/>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低危漏洞</a:t>
            </a:r>
            <a:endParaRPr lang="en-US" sz="1500" dirty="0"/>
          </a:p>
        </p:txBody>
      </p:sp>
      <p:sp>
        <p:nvSpPr>
          <p:cNvPr id="15" name="Text 12"/>
          <p:cNvSpPr txBox="1"/>
          <p:nvPr/>
        </p:nvSpPr>
        <p:spPr>
          <a:xfrm>
            <a:off x="1524000" y="2620010"/>
            <a:ext cx="780415" cy="351155"/>
          </a:xfrm>
          <a:prstGeom prst="rect">
            <a:avLst/>
          </a:prstGeom>
          <a:noFill/>
        </p:spPr>
        <p:txBody>
          <a:bodyPr wrap="square" lIns="0" tIns="0" rIns="0" bIns="0" rtlCol="0" anchor="ctr"/>
          <a:lstStyle/>
          <a:p>
            <a:pPr marL="0" indent="0" algn="l">
              <a:buNone/>
            </a:pPr>
            <a:r>
              <a:rPr lang="en-US" sz="2000" b="1" dirty="0">
                <a:solidFill>
                  <a:srgbClr val="333333"/>
                </a:solidFill>
                <a:latin typeface="Noto Sans SC" pitchFamily="34" charset="0"/>
                <a:ea typeface="Noto Sans SC" pitchFamily="34" charset="-122"/>
                <a:cs typeface="Noto Sans SC" pitchFamily="34" charset="-120"/>
              </a:rPr>
              <a:t>21个</a:t>
            </a:r>
            <a:endParaRPr lang="en-US" sz="2000" b="1" dirty="0">
              <a:solidFill>
                <a:srgbClr val="333333"/>
              </a:solidFill>
              <a:latin typeface="Noto Sans SC" pitchFamily="34" charset="0"/>
              <a:ea typeface="Noto Sans SC" pitchFamily="34" charset="-122"/>
              <a:cs typeface="Noto Sans SC" pitchFamily="34" charset="-120"/>
            </a:endParaRPr>
          </a:p>
        </p:txBody>
      </p:sp>
      <p:sp>
        <p:nvSpPr>
          <p:cNvPr id="16" name="Text 13"/>
          <p:cNvSpPr txBox="1"/>
          <p:nvPr/>
        </p:nvSpPr>
        <p:spPr>
          <a:xfrm>
            <a:off x="7127875" y="2620010"/>
            <a:ext cx="780415" cy="351155"/>
          </a:xfrm>
          <a:prstGeom prst="rect">
            <a:avLst/>
          </a:prstGeom>
          <a:noFill/>
        </p:spPr>
        <p:txBody>
          <a:bodyPr wrap="square" lIns="0" tIns="0" rIns="0" bIns="0" rtlCol="0" anchor="ctr"/>
          <a:lstStyle/>
          <a:p>
            <a:pPr marL="0" indent="0" algn="l">
              <a:buNone/>
            </a:pPr>
            <a:r>
              <a:rPr lang="en-US" sz="2000" b="1" dirty="0">
                <a:solidFill>
                  <a:srgbClr val="333333"/>
                </a:solidFill>
                <a:latin typeface="Noto Sans SC" pitchFamily="34" charset="0"/>
                <a:ea typeface="Noto Sans SC" pitchFamily="34" charset="-122"/>
                <a:cs typeface="Noto Sans SC" pitchFamily="34" charset="-120"/>
              </a:rPr>
              <a:t>32个</a:t>
            </a:r>
            <a:endParaRPr lang="en-US" sz="2000" b="1" dirty="0">
              <a:solidFill>
                <a:srgbClr val="333333"/>
              </a:solidFill>
              <a:latin typeface="Noto Sans SC" pitchFamily="34" charset="0"/>
              <a:ea typeface="Noto Sans SC" pitchFamily="34" charset="-122"/>
              <a:cs typeface="Noto Sans SC" pitchFamily="34" charset="-120"/>
            </a:endParaRPr>
          </a:p>
        </p:txBody>
      </p:sp>
      <p:sp>
        <p:nvSpPr>
          <p:cNvPr id="17" name="Text 14"/>
          <p:cNvSpPr txBox="1"/>
          <p:nvPr/>
        </p:nvSpPr>
        <p:spPr>
          <a:xfrm>
            <a:off x="12732385" y="2620010"/>
            <a:ext cx="934085" cy="351155"/>
          </a:xfrm>
          <a:prstGeom prst="rect">
            <a:avLst/>
          </a:prstGeom>
          <a:noFill/>
        </p:spPr>
        <p:txBody>
          <a:bodyPr wrap="square" lIns="0" tIns="0" rIns="0" bIns="0" rtlCol="0" anchor="ctr"/>
          <a:lstStyle/>
          <a:p>
            <a:pPr marL="0" indent="0" algn="l">
              <a:buNone/>
            </a:pPr>
            <a:r>
              <a:rPr lang="en-US" sz="2000" b="1" dirty="0">
                <a:solidFill>
                  <a:srgbClr val="333333"/>
                </a:solidFill>
                <a:latin typeface="Noto Sans SC" pitchFamily="34" charset="0"/>
                <a:ea typeface="Noto Sans SC" pitchFamily="34" charset="-122"/>
                <a:cs typeface="Noto Sans SC" pitchFamily="34" charset="-120"/>
              </a:rPr>
              <a:t>294个</a:t>
            </a:r>
            <a:endParaRPr lang="en-US" sz="2000" b="1" dirty="0">
              <a:solidFill>
                <a:srgbClr val="333333"/>
              </a:solidFill>
              <a:latin typeface="Noto Sans SC" pitchFamily="34" charset="0"/>
              <a:ea typeface="Noto Sans SC" pitchFamily="34" charset="-122"/>
              <a:cs typeface="Noto Sans SC" pitchFamily="34" charset="-120"/>
            </a:endParaRPr>
          </a:p>
        </p:txBody>
      </p:sp>
      <p:sp>
        <p:nvSpPr>
          <p:cNvPr id="18" name="Text 15"/>
          <p:cNvSpPr txBox="1"/>
          <p:nvPr/>
        </p:nvSpPr>
        <p:spPr>
          <a:xfrm>
            <a:off x="2151380" y="2667000"/>
            <a:ext cx="1999615" cy="291465"/>
          </a:xfrm>
          <a:prstGeom prst="rect">
            <a:avLst/>
          </a:prstGeom>
          <a:noFill/>
        </p:spPr>
        <p:txBody>
          <a:bodyPr wrap="square" lIns="0" tIns="0" rIns="0" bIns="0" rtlCol="0" anchor="ctr"/>
          <a:lstStyle/>
          <a:p>
            <a:pPr marL="0" indent="0" algn="l">
              <a:buNone/>
            </a:pPr>
            <a:r>
              <a:rPr lang="en-US" sz="1600" b="1" dirty="0">
                <a:solidFill>
                  <a:srgbClr val="DC2626"/>
                </a:solidFill>
                <a:latin typeface="Noto Sans SC" pitchFamily="34" charset="0"/>
                <a:ea typeface="Noto Sans SC" pitchFamily="34" charset="-122"/>
                <a:cs typeface="Noto Sans SC" pitchFamily="34" charset="-120"/>
              </a:rPr>
              <a:t>(高可利用漏洞3个)</a:t>
            </a:r>
            <a:endParaRPr lang="en-US" sz="1600" b="1" dirty="0">
              <a:solidFill>
                <a:srgbClr val="DC2626"/>
              </a:solidFill>
              <a:latin typeface="Noto Sans SC" pitchFamily="34" charset="0"/>
              <a:ea typeface="Noto Sans SC" pitchFamily="34" charset="-122"/>
              <a:cs typeface="Noto Sans SC" pitchFamily="34" charset="-120"/>
            </a:endParaRPr>
          </a:p>
        </p:txBody>
      </p:sp>
      <p:pic>
        <p:nvPicPr>
          <p:cNvPr id="19" name="Image 1" descr="preencoded.png"/>
          <p:cNvPicPr>
            <a:picLocks noChangeAspect="1"/>
          </p:cNvPicPr>
          <p:nvPr/>
        </p:nvPicPr>
        <p:blipFill>
          <a:blip r:embed="rId2"/>
          <a:srcRect/>
          <a:stretch>
            <a:fillRect/>
          </a:stretch>
        </p:blipFill>
        <p:spPr>
          <a:xfrm>
            <a:off x="6698894" y="2481682"/>
            <a:ext cx="286207" cy="286207"/>
          </a:xfrm>
          <a:prstGeom prst="rect">
            <a:avLst/>
          </a:prstGeom>
        </p:spPr>
      </p:pic>
      <p:pic>
        <p:nvPicPr>
          <p:cNvPr id="20" name="Image 2" descr="preencoded.png"/>
          <p:cNvPicPr>
            <a:picLocks noChangeAspect="1"/>
          </p:cNvPicPr>
          <p:nvPr/>
        </p:nvPicPr>
        <p:blipFill>
          <a:blip r:embed="rId3"/>
          <a:srcRect/>
          <a:stretch>
            <a:fillRect/>
          </a:stretch>
        </p:blipFill>
        <p:spPr>
          <a:xfrm>
            <a:off x="12303252" y="2481682"/>
            <a:ext cx="286207" cy="286207"/>
          </a:xfrm>
          <a:prstGeom prst="rect">
            <a:avLst/>
          </a:prstGeom>
        </p:spPr>
      </p:pic>
      <p:sp>
        <p:nvSpPr>
          <p:cNvPr id="21" name="Text 16"/>
          <p:cNvSpPr txBox="1"/>
          <p:nvPr/>
        </p:nvSpPr>
        <p:spPr>
          <a:xfrm>
            <a:off x="1171575" y="3276600"/>
            <a:ext cx="3471545" cy="29146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仍有</a:t>
            </a:r>
            <a:r>
              <a:rPr lang="en-US" sz="1600" b="1" dirty="0">
                <a:solidFill>
                  <a:srgbClr val="0A4275"/>
                </a:solidFill>
                <a:latin typeface="Noto Sans SC" pitchFamily="34" charset="0"/>
                <a:ea typeface="Noto Sans SC" pitchFamily="34" charset="-122"/>
                <a:cs typeface="Noto Sans SC" pitchFamily="34" charset="-120"/>
              </a:rPr>
              <a:t> 8个资产</a:t>
            </a:r>
            <a:r>
              <a:rPr lang="en-US" sz="1600" dirty="0">
                <a:solidFill>
                  <a:srgbClr val="333333"/>
                </a:solidFill>
                <a:latin typeface="Noto Sans SC" pitchFamily="34" charset="0"/>
                <a:ea typeface="Noto Sans SC" pitchFamily="34" charset="-122"/>
                <a:cs typeface="Noto Sans SC" pitchFamily="34" charset="-120"/>
              </a:rPr>
              <a:t> 存在未闭环漏洞风险</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2" name="Text 17"/>
          <p:cNvSpPr txBox="1"/>
          <p:nvPr/>
        </p:nvSpPr>
        <p:spPr>
          <a:xfrm>
            <a:off x="1171575" y="3581400"/>
            <a:ext cx="9669145" cy="29146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存在未闭环漏洞最多的业务为 </a:t>
            </a:r>
            <a:r>
              <a:rPr lang="en-US" sz="1600" b="1" dirty="0">
                <a:solidFill>
                  <a:srgbClr val="0A4275"/>
                </a:solidFill>
                <a:latin typeface="Noto Sans SC" pitchFamily="34" charset="0"/>
                <a:ea typeface="Noto Sans SC" pitchFamily="34" charset="-122"/>
                <a:cs typeface="Noto Sans SC" pitchFamily="34" charset="-120"/>
              </a:rPr>
              <a:t>银行自助（192.210.69.208）</a:t>
            </a:r>
            <a:r>
              <a:rPr lang="en-US" sz="1600" dirty="0">
                <a:solidFill>
                  <a:srgbClr val="333333"/>
                </a:solidFill>
                <a:latin typeface="Noto Sans SC" pitchFamily="34" charset="0"/>
                <a:ea typeface="Noto Sans SC" pitchFamily="34" charset="-122"/>
                <a:cs typeface="Noto Sans SC" pitchFamily="34" charset="-120"/>
              </a:rPr>
              <a:t>，其中高危 3 个、中危 7 个、低危 87 个</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3" name="Text 18"/>
          <p:cNvSpPr txBox="1"/>
          <p:nvPr/>
        </p:nvSpPr>
        <p:spPr>
          <a:xfrm>
            <a:off x="761695" y="4076395"/>
            <a:ext cx="2076602" cy="381305"/>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未闭环漏洞举例</a:t>
            </a:r>
            <a:endParaRPr lang="en-US" sz="2100" dirty="0"/>
          </a:p>
        </p:txBody>
      </p:sp>
      <p:sp>
        <p:nvSpPr>
          <p:cNvPr id="24" name="Shape 19"/>
          <p:cNvSpPr/>
          <p:nvPr/>
        </p:nvSpPr>
        <p:spPr>
          <a:xfrm>
            <a:off x="761695" y="4610405"/>
            <a:ext cx="4190695" cy="448056"/>
          </a:xfrm>
          <a:prstGeom prst="rect">
            <a:avLst/>
          </a:prstGeom>
          <a:solidFill>
            <a:srgbClr val="0A4275"/>
          </a:solidFill>
        </p:spPr>
      </p:sp>
      <p:sp>
        <p:nvSpPr>
          <p:cNvPr id="25" name="Shape 20"/>
          <p:cNvSpPr/>
          <p:nvPr/>
        </p:nvSpPr>
        <p:spPr>
          <a:xfrm>
            <a:off x="761695" y="5049317"/>
            <a:ext cx="4190695" cy="9144"/>
          </a:xfrm>
          <a:prstGeom prst="rect">
            <a:avLst/>
          </a:prstGeom>
          <a:solidFill>
            <a:srgbClr val="EEEEEE"/>
          </a:solidFill>
        </p:spPr>
      </p:sp>
      <p:sp>
        <p:nvSpPr>
          <p:cNvPr id="26" name="Shape 21"/>
          <p:cNvSpPr/>
          <p:nvPr/>
        </p:nvSpPr>
        <p:spPr>
          <a:xfrm>
            <a:off x="4953305" y="4610405"/>
            <a:ext cx="1676095" cy="448056"/>
          </a:xfrm>
          <a:prstGeom prst="rect">
            <a:avLst/>
          </a:prstGeom>
          <a:solidFill>
            <a:srgbClr val="0A4275"/>
          </a:solidFill>
        </p:spPr>
      </p:sp>
      <p:sp>
        <p:nvSpPr>
          <p:cNvPr id="27" name="Shape 22"/>
          <p:cNvSpPr/>
          <p:nvPr/>
        </p:nvSpPr>
        <p:spPr>
          <a:xfrm>
            <a:off x="4953305" y="5049317"/>
            <a:ext cx="1676095" cy="9144"/>
          </a:xfrm>
          <a:prstGeom prst="rect">
            <a:avLst/>
          </a:prstGeom>
          <a:solidFill>
            <a:srgbClr val="EEEEEE"/>
          </a:solidFill>
        </p:spPr>
      </p:sp>
      <p:sp>
        <p:nvSpPr>
          <p:cNvPr id="28" name="Shape 23"/>
          <p:cNvSpPr/>
          <p:nvPr/>
        </p:nvSpPr>
        <p:spPr>
          <a:xfrm>
            <a:off x="6629400" y="4610405"/>
            <a:ext cx="1676095" cy="448056"/>
          </a:xfrm>
          <a:prstGeom prst="rect">
            <a:avLst/>
          </a:prstGeom>
          <a:solidFill>
            <a:srgbClr val="0A4275"/>
          </a:solidFill>
        </p:spPr>
      </p:sp>
      <p:sp>
        <p:nvSpPr>
          <p:cNvPr id="29" name="Shape 24"/>
          <p:cNvSpPr/>
          <p:nvPr/>
        </p:nvSpPr>
        <p:spPr>
          <a:xfrm>
            <a:off x="6629400" y="5049317"/>
            <a:ext cx="1676095" cy="9144"/>
          </a:xfrm>
          <a:prstGeom prst="rect">
            <a:avLst/>
          </a:prstGeom>
          <a:solidFill>
            <a:srgbClr val="EEEEEE"/>
          </a:solidFill>
        </p:spPr>
      </p:sp>
      <p:sp>
        <p:nvSpPr>
          <p:cNvPr id="30" name="Shape 25"/>
          <p:cNvSpPr/>
          <p:nvPr/>
        </p:nvSpPr>
        <p:spPr>
          <a:xfrm>
            <a:off x="8305495" y="4610405"/>
            <a:ext cx="2514600" cy="448056"/>
          </a:xfrm>
          <a:prstGeom prst="rect">
            <a:avLst/>
          </a:prstGeom>
          <a:solidFill>
            <a:srgbClr val="0A4275"/>
          </a:solidFill>
        </p:spPr>
      </p:sp>
      <p:sp>
        <p:nvSpPr>
          <p:cNvPr id="31" name="Shape 26"/>
          <p:cNvSpPr/>
          <p:nvPr/>
        </p:nvSpPr>
        <p:spPr>
          <a:xfrm>
            <a:off x="8305495" y="5049317"/>
            <a:ext cx="2514600" cy="9144"/>
          </a:xfrm>
          <a:prstGeom prst="rect">
            <a:avLst/>
          </a:prstGeom>
          <a:solidFill>
            <a:srgbClr val="EEEEEE"/>
          </a:solidFill>
        </p:spPr>
      </p:sp>
      <p:sp>
        <p:nvSpPr>
          <p:cNvPr id="32" name="Shape 27"/>
          <p:cNvSpPr/>
          <p:nvPr/>
        </p:nvSpPr>
        <p:spPr>
          <a:xfrm>
            <a:off x="10820095" y="4610405"/>
            <a:ext cx="6705295" cy="448056"/>
          </a:xfrm>
          <a:prstGeom prst="rect">
            <a:avLst/>
          </a:prstGeom>
          <a:solidFill>
            <a:srgbClr val="0A4275"/>
          </a:solidFill>
        </p:spPr>
      </p:sp>
      <p:sp>
        <p:nvSpPr>
          <p:cNvPr id="33" name="Shape 28"/>
          <p:cNvSpPr/>
          <p:nvPr/>
        </p:nvSpPr>
        <p:spPr>
          <a:xfrm>
            <a:off x="10820095" y="5049317"/>
            <a:ext cx="6705295" cy="9144"/>
          </a:xfrm>
          <a:prstGeom prst="rect">
            <a:avLst/>
          </a:prstGeom>
          <a:solidFill>
            <a:srgbClr val="EEEEEE"/>
          </a:solidFill>
        </p:spPr>
      </p:sp>
      <p:sp>
        <p:nvSpPr>
          <p:cNvPr id="34" name="Text 29"/>
          <p:cNvSpPr txBox="1"/>
          <p:nvPr/>
        </p:nvSpPr>
        <p:spPr>
          <a:xfrm>
            <a:off x="905510" y="4686300"/>
            <a:ext cx="1043940" cy="29146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漏洞名称</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35" name="Text 30"/>
          <p:cNvSpPr txBox="1"/>
          <p:nvPr/>
        </p:nvSpPr>
        <p:spPr>
          <a:xfrm>
            <a:off x="5095875" y="4686300"/>
            <a:ext cx="1043940" cy="29146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风险等级</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36" name="Text 31"/>
          <p:cNvSpPr txBox="1"/>
          <p:nvPr/>
        </p:nvSpPr>
        <p:spPr>
          <a:xfrm>
            <a:off x="6772275" y="4686300"/>
            <a:ext cx="1483995" cy="29146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覆盖资产数量</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37" name="Text 32"/>
          <p:cNvSpPr txBox="1"/>
          <p:nvPr/>
        </p:nvSpPr>
        <p:spPr>
          <a:xfrm>
            <a:off x="8449310" y="4686300"/>
            <a:ext cx="1922780" cy="29146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主要影响业务系统</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38" name="Text 33"/>
          <p:cNvSpPr txBox="1"/>
          <p:nvPr/>
        </p:nvSpPr>
        <p:spPr>
          <a:xfrm>
            <a:off x="10963910" y="4686300"/>
            <a:ext cx="2362835" cy="29146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对业务的主要影响描述</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39" name="Shape 34"/>
          <p:cNvSpPr/>
          <p:nvPr/>
        </p:nvSpPr>
        <p:spPr>
          <a:xfrm>
            <a:off x="761695" y="5781751"/>
            <a:ext cx="4190695" cy="9144"/>
          </a:xfrm>
          <a:prstGeom prst="rect">
            <a:avLst/>
          </a:prstGeom>
          <a:solidFill>
            <a:srgbClr val="EEEEEE"/>
          </a:solidFill>
        </p:spPr>
      </p:sp>
      <p:sp>
        <p:nvSpPr>
          <p:cNvPr id="40" name="Shape 35"/>
          <p:cNvSpPr/>
          <p:nvPr/>
        </p:nvSpPr>
        <p:spPr>
          <a:xfrm>
            <a:off x="4953305" y="5781751"/>
            <a:ext cx="1676095" cy="9144"/>
          </a:xfrm>
          <a:prstGeom prst="rect">
            <a:avLst/>
          </a:prstGeom>
          <a:solidFill>
            <a:srgbClr val="EEEEEE"/>
          </a:solidFill>
        </p:spPr>
      </p:sp>
      <p:sp>
        <p:nvSpPr>
          <p:cNvPr id="41" name="Shape 36"/>
          <p:cNvSpPr/>
          <p:nvPr/>
        </p:nvSpPr>
        <p:spPr>
          <a:xfrm>
            <a:off x="6629400" y="5781751"/>
            <a:ext cx="1676095" cy="9144"/>
          </a:xfrm>
          <a:prstGeom prst="rect">
            <a:avLst/>
          </a:prstGeom>
          <a:solidFill>
            <a:srgbClr val="EEEEEE"/>
          </a:solidFill>
        </p:spPr>
      </p:sp>
      <p:sp>
        <p:nvSpPr>
          <p:cNvPr id="42" name="Shape 37"/>
          <p:cNvSpPr/>
          <p:nvPr/>
        </p:nvSpPr>
        <p:spPr>
          <a:xfrm>
            <a:off x="8305495" y="5781751"/>
            <a:ext cx="2514600" cy="9144"/>
          </a:xfrm>
          <a:prstGeom prst="rect">
            <a:avLst/>
          </a:prstGeom>
          <a:solidFill>
            <a:srgbClr val="EEEEEE"/>
          </a:solidFill>
        </p:spPr>
      </p:sp>
      <p:sp>
        <p:nvSpPr>
          <p:cNvPr id="43" name="Shape 38"/>
          <p:cNvSpPr/>
          <p:nvPr/>
        </p:nvSpPr>
        <p:spPr>
          <a:xfrm>
            <a:off x="10820095" y="5781751"/>
            <a:ext cx="6705295" cy="9144"/>
          </a:xfrm>
          <a:prstGeom prst="rect">
            <a:avLst/>
          </a:prstGeom>
          <a:solidFill>
            <a:srgbClr val="EEEEEE"/>
          </a:solidFill>
        </p:spPr>
      </p:sp>
      <p:sp>
        <p:nvSpPr>
          <p:cNvPr id="44" name="Shape 39"/>
          <p:cNvSpPr/>
          <p:nvPr/>
        </p:nvSpPr>
        <p:spPr>
          <a:xfrm>
            <a:off x="761695" y="6515100"/>
            <a:ext cx="4190695" cy="9144"/>
          </a:xfrm>
          <a:prstGeom prst="rect">
            <a:avLst/>
          </a:prstGeom>
          <a:solidFill>
            <a:srgbClr val="EEEEEE"/>
          </a:solidFill>
        </p:spPr>
      </p:sp>
      <p:sp>
        <p:nvSpPr>
          <p:cNvPr id="45" name="Shape 40"/>
          <p:cNvSpPr/>
          <p:nvPr/>
        </p:nvSpPr>
        <p:spPr>
          <a:xfrm>
            <a:off x="4953305" y="6515100"/>
            <a:ext cx="1676095" cy="9144"/>
          </a:xfrm>
          <a:prstGeom prst="rect">
            <a:avLst/>
          </a:prstGeom>
          <a:solidFill>
            <a:srgbClr val="EEEEEE"/>
          </a:solidFill>
        </p:spPr>
      </p:sp>
      <p:sp>
        <p:nvSpPr>
          <p:cNvPr id="46" name="Shape 41"/>
          <p:cNvSpPr/>
          <p:nvPr/>
        </p:nvSpPr>
        <p:spPr>
          <a:xfrm>
            <a:off x="6629400" y="6515100"/>
            <a:ext cx="1676095" cy="9144"/>
          </a:xfrm>
          <a:prstGeom prst="rect">
            <a:avLst/>
          </a:prstGeom>
          <a:solidFill>
            <a:srgbClr val="EEEEEE"/>
          </a:solidFill>
        </p:spPr>
      </p:sp>
      <p:sp>
        <p:nvSpPr>
          <p:cNvPr id="47" name="Shape 42"/>
          <p:cNvSpPr/>
          <p:nvPr/>
        </p:nvSpPr>
        <p:spPr>
          <a:xfrm>
            <a:off x="8305495" y="6515100"/>
            <a:ext cx="2514600" cy="9144"/>
          </a:xfrm>
          <a:prstGeom prst="rect">
            <a:avLst/>
          </a:prstGeom>
          <a:solidFill>
            <a:srgbClr val="EEEEEE"/>
          </a:solidFill>
        </p:spPr>
      </p:sp>
      <p:sp>
        <p:nvSpPr>
          <p:cNvPr id="48" name="Shape 43"/>
          <p:cNvSpPr/>
          <p:nvPr/>
        </p:nvSpPr>
        <p:spPr>
          <a:xfrm>
            <a:off x="10820095" y="6515100"/>
            <a:ext cx="6705295" cy="9144"/>
          </a:xfrm>
          <a:prstGeom prst="rect">
            <a:avLst/>
          </a:prstGeom>
          <a:solidFill>
            <a:srgbClr val="EEEEEE"/>
          </a:solidFill>
        </p:spPr>
      </p:sp>
      <p:sp>
        <p:nvSpPr>
          <p:cNvPr id="49" name="Text 44"/>
          <p:cNvSpPr txBox="1"/>
          <p:nvPr/>
        </p:nvSpPr>
        <p:spPr>
          <a:xfrm>
            <a:off x="905510" y="5276850"/>
            <a:ext cx="4053205" cy="27622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IIS远程代码执行漏洞(CVE-2015-1635)</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50" name="Text 45"/>
          <p:cNvSpPr txBox="1"/>
          <p:nvPr/>
        </p:nvSpPr>
        <p:spPr>
          <a:xfrm>
            <a:off x="5095875" y="5276850"/>
            <a:ext cx="603885"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高危</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1" name="Text 46"/>
          <p:cNvSpPr txBox="1"/>
          <p:nvPr/>
        </p:nvSpPr>
        <p:spPr>
          <a:xfrm>
            <a:off x="6772275" y="5276850"/>
            <a:ext cx="297180"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2</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2" name="Text 47"/>
          <p:cNvSpPr txBox="1"/>
          <p:nvPr/>
        </p:nvSpPr>
        <p:spPr>
          <a:xfrm>
            <a:off x="8449310" y="5276850"/>
            <a:ext cx="692785"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PACS</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3" name="Text 48"/>
          <p:cNvSpPr txBox="1"/>
          <p:nvPr/>
        </p:nvSpPr>
        <p:spPr>
          <a:xfrm>
            <a:off x="10963910" y="5134610"/>
            <a:ext cx="6511925" cy="5918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影响windows 7, windows 8, windows server 2008, windows server 2012上的IIS服务器。</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4" name="Text 49"/>
          <p:cNvSpPr txBox="1"/>
          <p:nvPr/>
        </p:nvSpPr>
        <p:spPr>
          <a:xfrm>
            <a:off x="905510" y="5867400"/>
            <a:ext cx="3973195" cy="561340"/>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Microsoft RDP 远程代码执行(CVE-2019-0708)</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55" name="Text 50"/>
          <p:cNvSpPr txBox="1"/>
          <p:nvPr/>
        </p:nvSpPr>
        <p:spPr>
          <a:xfrm>
            <a:off x="5095875" y="6010275"/>
            <a:ext cx="603885"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高危</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6" name="Text 51"/>
          <p:cNvSpPr txBox="1"/>
          <p:nvPr/>
        </p:nvSpPr>
        <p:spPr>
          <a:xfrm>
            <a:off x="6772275" y="6010275"/>
            <a:ext cx="297180"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1</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7" name="Text 52"/>
          <p:cNvSpPr txBox="1"/>
          <p:nvPr/>
        </p:nvSpPr>
        <p:spPr>
          <a:xfrm>
            <a:off x="8449310" y="6010275"/>
            <a:ext cx="615950"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EMR</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8" name="Text 53"/>
          <p:cNvSpPr txBox="1"/>
          <p:nvPr/>
        </p:nvSpPr>
        <p:spPr>
          <a:xfrm>
            <a:off x="10963910" y="5867400"/>
            <a:ext cx="6530975" cy="5918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未经身份验证的远程攻击者可以通过一系列特制请求利用此漏洞来执行任意代码。</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59" name="Text 54"/>
          <p:cNvSpPr txBox="1"/>
          <p:nvPr/>
        </p:nvSpPr>
        <p:spPr>
          <a:xfrm>
            <a:off x="905510" y="6743700"/>
            <a:ext cx="4053840" cy="27622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支持SSL 64位块大小的密码套件（SWEET32）</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60" name="Text 55"/>
          <p:cNvSpPr txBox="1"/>
          <p:nvPr/>
        </p:nvSpPr>
        <p:spPr>
          <a:xfrm>
            <a:off x="5095875" y="6743700"/>
            <a:ext cx="603885"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高危</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1" name="Text 56"/>
          <p:cNvSpPr txBox="1"/>
          <p:nvPr/>
        </p:nvSpPr>
        <p:spPr>
          <a:xfrm>
            <a:off x="6772275" y="6743700"/>
            <a:ext cx="297180"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7</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2" name="Text 57"/>
          <p:cNvSpPr txBox="1"/>
          <p:nvPr/>
        </p:nvSpPr>
        <p:spPr>
          <a:xfrm>
            <a:off x="8449310" y="6743700"/>
            <a:ext cx="527050" cy="29146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HIS</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3" name="Text 58"/>
          <p:cNvSpPr txBox="1"/>
          <p:nvPr/>
        </p:nvSpPr>
        <p:spPr>
          <a:xfrm>
            <a:off x="10963910" y="6600825"/>
            <a:ext cx="6569710" cy="5918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具有足够资源的中间人攻击者可利用此漏洞,通过"birthday"攻击检测会在固定密码与已知纯文本之间泄露冲突,进而泄露密码文本。</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4" name="Text 59"/>
          <p:cNvSpPr txBox="1"/>
          <p:nvPr/>
        </p:nvSpPr>
        <p:spPr>
          <a:xfrm>
            <a:off x="17737531" y="9810598"/>
            <a:ext cx="17647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76656"/>
            <a:ext cx="4391863"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威胁管理 / 外部威胁</a:t>
            </a:r>
            <a:endParaRPr lang="en-US" sz="3600" dirty="0"/>
          </a:p>
        </p:txBody>
      </p:sp>
      <p:sp>
        <p:nvSpPr>
          <p:cNvPr id="5" name="Shape 3"/>
          <p:cNvSpPr/>
          <p:nvPr/>
        </p:nvSpPr>
        <p:spPr>
          <a:xfrm>
            <a:off x="761695" y="1505102"/>
            <a:ext cx="914400" cy="38405"/>
          </a:xfrm>
          <a:prstGeom prst="rect">
            <a:avLst/>
          </a:prstGeom>
          <a:solidFill>
            <a:srgbClr val="0A4275"/>
          </a:solidFill>
        </p:spPr>
      </p:sp>
      <p:sp>
        <p:nvSpPr>
          <p:cNvPr id="6" name="Shape 4"/>
          <p:cNvSpPr/>
          <p:nvPr/>
        </p:nvSpPr>
        <p:spPr>
          <a:xfrm>
            <a:off x="761695" y="1848002"/>
            <a:ext cx="16763695" cy="1923898"/>
          </a:xfrm>
          <a:prstGeom prst="roundRect">
            <a:avLst>
              <a:gd name="adj" fmla="val 3765"/>
            </a:avLst>
          </a:prstGeom>
          <a:solidFill>
            <a:srgbClr val="0A4275">
              <a:alpha val="6000"/>
            </a:srgbClr>
          </a:solidFill>
        </p:spPr>
      </p:sp>
      <p:sp>
        <p:nvSpPr>
          <p:cNvPr id="7" name="Shape 5"/>
          <p:cNvSpPr/>
          <p:nvPr/>
        </p:nvSpPr>
        <p:spPr>
          <a:xfrm>
            <a:off x="761695" y="1848002"/>
            <a:ext cx="57607" cy="1923898"/>
          </a:xfrm>
          <a:prstGeom prst="rect">
            <a:avLst/>
          </a:prstGeom>
          <a:solidFill>
            <a:srgbClr val="0A4275"/>
          </a:solidFill>
        </p:spPr>
      </p:sp>
      <p:pic>
        <p:nvPicPr>
          <p:cNvPr id="8" name="Image 0" descr="preencoded.png"/>
          <p:cNvPicPr>
            <a:picLocks noChangeAspect="1"/>
          </p:cNvPicPr>
          <p:nvPr/>
        </p:nvPicPr>
        <p:blipFill>
          <a:blip r:embed="rId1"/>
          <a:srcRect/>
          <a:stretch>
            <a:fillRect/>
          </a:stretch>
        </p:blipFill>
        <p:spPr>
          <a:xfrm>
            <a:off x="1028700" y="2115007"/>
            <a:ext cx="286207" cy="286207"/>
          </a:xfrm>
          <a:prstGeom prst="rect">
            <a:avLst/>
          </a:prstGeom>
        </p:spPr>
      </p:pic>
      <p:sp>
        <p:nvSpPr>
          <p:cNvPr id="9" name="Shape 6"/>
          <p:cNvSpPr/>
          <p:nvPr/>
        </p:nvSpPr>
        <p:spPr>
          <a:xfrm>
            <a:off x="761695" y="4076395"/>
            <a:ext cx="16763695" cy="2667305"/>
          </a:xfrm>
          <a:prstGeom prst="roundRect">
            <a:avLst>
              <a:gd name="adj" fmla="val 1959"/>
            </a:avLst>
          </a:prstGeom>
          <a:solidFill>
            <a:srgbClr val="0A4275">
              <a:alpha val="6000"/>
            </a:srgbClr>
          </a:solidFill>
        </p:spPr>
      </p:sp>
      <p:sp>
        <p:nvSpPr>
          <p:cNvPr id="10" name="Shape 7"/>
          <p:cNvSpPr/>
          <p:nvPr/>
        </p:nvSpPr>
        <p:spPr>
          <a:xfrm>
            <a:off x="761695" y="4076395"/>
            <a:ext cx="57607" cy="2667305"/>
          </a:xfrm>
          <a:prstGeom prst="rect">
            <a:avLst/>
          </a:prstGeom>
          <a:solidFill>
            <a:srgbClr val="0A4275"/>
          </a:solidFill>
        </p:spPr>
      </p:sp>
      <p:sp>
        <p:nvSpPr>
          <p:cNvPr id="11" name="Shape 8"/>
          <p:cNvSpPr/>
          <p:nvPr/>
        </p:nvSpPr>
        <p:spPr>
          <a:xfrm>
            <a:off x="761695" y="7048195"/>
            <a:ext cx="16763695" cy="2076602"/>
          </a:xfrm>
          <a:prstGeom prst="roundRect">
            <a:avLst>
              <a:gd name="adj" fmla="val 3232"/>
            </a:avLst>
          </a:prstGeom>
          <a:solidFill>
            <a:srgbClr val="0A4275">
              <a:alpha val="6000"/>
            </a:srgbClr>
          </a:solidFill>
        </p:spPr>
      </p:sp>
      <p:sp>
        <p:nvSpPr>
          <p:cNvPr id="12" name="Shape 9"/>
          <p:cNvSpPr/>
          <p:nvPr/>
        </p:nvSpPr>
        <p:spPr>
          <a:xfrm>
            <a:off x="761695" y="7048195"/>
            <a:ext cx="57607" cy="2076602"/>
          </a:xfrm>
          <a:prstGeom prst="rect">
            <a:avLst/>
          </a:prstGeom>
          <a:solidFill>
            <a:srgbClr val="0A4275"/>
          </a:solidFill>
        </p:spPr>
      </p:sp>
      <p:sp>
        <p:nvSpPr>
          <p:cNvPr id="13" name="Text 10"/>
          <p:cNvSpPr txBox="1"/>
          <p:nvPr/>
        </p:nvSpPr>
        <p:spPr>
          <a:xfrm>
            <a:off x="1457554" y="2057400"/>
            <a:ext cx="2610612" cy="400507"/>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全年攻击监测与防护</a:t>
            </a:r>
            <a:endParaRPr lang="en-US" sz="2100" dirty="0"/>
          </a:p>
        </p:txBody>
      </p:sp>
      <p:sp>
        <p:nvSpPr>
          <p:cNvPr id="14" name="Text 11"/>
          <p:cNvSpPr txBox="1"/>
          <p:nvPr/>
        </p:nvSpPr>
        <p:spPr>
          <a:xfrm>
            <a:off x="1495044" y="4286707"/>
            <a:ext cx="1810512" cy="400507"/>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攻击类型分布</a:t>
            </a:r>
            <a:endParaRPr lang="en-US" sz="2100" dirty="0"/>
          </a:p>
        </p:txBody>
      </p:sp>
      <p:sp>
        <p:nvSpPr>
          <p:cNvPr id="15" name="Text 12"/>
          <p:cNvSpPr txBox="1"/>
          <p:nvPr/>
        </p:nvSpPr>
        <p:spPr>
          <a:xfrm>
            <a:off x="1533449" y="7258507"/>
            <a:ext cx="2076602" cy="400507"/>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防护成效与价值</a:t>
            </a:r>
            <a:endParaRPr lang="en-US" sz="2100" dirty="0"/>
          </a:p>
        </p:txBody>
      </p:sp>
      <p:sp>
        <p:nvSpPr>
          <p:cNvPr id="16" name="Text 13"/>
          <p:cNvSpPr txBox="1"/>
          <p:nvPr/>
        </p:nvSpPr>
        <p:spPr>
          <a:xfrm>
            <a:off x="1028700" y="2714625"/>
            <a:ext cx="619252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全年运营中心通过服务组件日志分析，贵单位遭受外部攻击总次数达</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7" name="Text 14"/>
          <p:cNvSpPr txBox="1"/>
          <p:nvPr/>
        </p:nvSpPr>
        <p:spPr>
          <a:xfrm>
            <a:off x="8034020" y="2714625"/>
            <a:ext cx="256794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次，平均每月捕获网络攻击</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8" name="Text 15"/>
          <p:cNvSpPr txBox="1"/>
          <p:nvPr/>
        </p:nvSpPr>
        <p:spPr>
          <a:xfrm>
            <a:off x="11149965" y="2714625"/>
            <a:ext cx="55372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次。</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9" name="Text 16"/>
          <p:cNvSpPr txBox="1"/>
          <p:nvPr/>
        </p:nvSpPr>
        <p:spPr>
          <a:xfrm>
            <a:off x="1028700" y="4800600"/>
            <a:ext cx="3776345"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业务资产遭受攻击次数较多的攻击类型：</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0" name="Text 17"/>
          <p:cNvSpPr txBox="1"/>
          <p:nvPr/>
        </p:nvSpPr>
        <p:spPr>
          <a:xfrm>
            <a:off x="1028700" y="7915275"/>
            <a:ext cx="3171825"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运营中心已在互联网出口防火墙对</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1" name="Text 18"/>
          <p:cNvSpPr txBox="1"/>
          <p:nvPr/>
        </p:nvSpPr>
        <p:spPr>
          <a:xfrm>
            <a:off x="4716145" y="7915275"/>
            <a:ext cx="497332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个高威胁攻击源IP进行了封锁，未造成安全事件发生。</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2" name="Text 19"/>
          <p:cNvSpPr txBox="1"/>
          <p:nvPr/>
        </p:nvSpPr>
        <p:spPr>
          <a:xfrm>
            <a:off x="7154469" y="2637231"/>
            <a:ext cx="1181405" cy="438912"/>
          </a:xfrm>
          <a:prstGeom prst="rect">
            <a:avLst/>
          </a:prstGeom>
          <a:noFill/>
        </p:spPr>
        <p:txBody>
          <a:bodyPr wrap="square" lIns="0" tIns="0" rIns="0" bIns="0" rtlCol="0" anchor="ctr"/>
          <a:lstStyle/>
          <a:p>
            <a:pPr marL="0" indent="0" algn="l">
              <a:buNone/>
            </a:pPr>
            <a:r>
              <a:rPr lang="en-US" sz="2400" b="1" dirty="0">
                <a:solidFill>
                  <a:srgbClr val="0A4275"/>
                </a:solidFill>
                <a:latin typeface="Noto Sans SC" pitchFamily="34" charset="0"/>
                <a:ea typeface="Noto Sans SC" pitchFamily="34" charset="-122"/>
                <a:cs typeface="Noto Sans SC" pitchFamily="34" charset="-120"/>
              </a:rPr>
              <a:t>1.17万</a:t>
            </a:r>
            <a:endParaRPr lang="en-US" sz="2400" dirty="0"/>
          </a:p>
        </p:txBody>
      </p:sp>
      <p:sp>
        <p:nvSpPr>
          <p:cNvPr id="23" name="Text 20"/>
          <p:cNvSpPr txBox="1"/>
          <p:nvPr/>
        </p:nvSpPr>
        <p:spPr>
          <a:xfrm>
            <a:off x="10521137" y="2637231"/>
            <a:ext cx="771754" cy="438912"/>
          </a:xfrm>
          <a:prstGeom prst="rect">
            <a:avLst/>
          </a:prstGeom>
          <a:noFill/>
        </p:spPr>
        <p:txBody>
          <a:bodyPr wrap="square" lIns="0" tIns="0" rIns="0" bIns="0" rtlCol="0" anchor="ctr"/>
          <a:lstStyle/>
          <a:p>
            <a:pPr marL="0" indent="0" algn="l">
              <a:buNone/>
            </a:pPr>
            <a:r>
              <a:rPr lang="en-US" sz="2400" b="1" dirty="0">
                <a:solidFill>
                  <a:srgbClr val="0A4275"/>
                </a:solidFill>
                <a:latin typeface="Noto Sans SC" pitchFamily="34" charset="0"/>
                <a:ea typeface="Noto Sans SC" pitchFamily="34" charset="-122"/>
                <a:cs typeface="Noto Sans SC" pitchFamily="34" charset="-120"/>
              </a:rPr>
              <a:t>903</a:t>
            </a:r>
            <a:endParaRPr lang="en-US" sz="2400" dirty="0"/>
          </a:p>
        </p:txBody>
      </p:sp>
      <p:sp>
        <p:nvSpPr>
          <p:cNvPr id="24" name="Text 21"/>
          <p:cNvSpPr txBox="1"/>
          <p:nvPr/>
        </p:nvSpPr>
        <p:spPr>
          <a:xfrm>
            <a:off x="4143299" y="7837424"/>
            <a:ext cx="771754" cy="438912"/>
          </a:xfrm>
          <a:prstGeom prst="rect">
            <a:avLst/>
          </a:prstGeom>
          <a:noFill/>
        </p:spPr>
        <p:txBody>
          <a:bodyPr wrap="square" lIns="0" tIns="0" rIns="0" bIns="0" rtlCol="0" anchor="ctr"/>
          <a:lstStyle/>
          <a:p>
            <a:pPr marL="0" indent="0" algn="l">
              <a:buNone/>
            </a:pPr>
            <a:r>
              <a:rPr lang="en-US" sz="2400" b="1" dirty="0">
                <a:solidFill>
                  <a:srgbClr val="0A4275"/>
                </a:solidFill>
                <a:latin typeface="Noto Sans SC" pitchFamily="34" charset="0"/>
                <a:ea typeface="Noto Sans SC" pitchFamily="34" charset="-122"/>
                <a:cs typeface="Noto Sans SC" pitchFamily="34" charset="-120"/>
              </a:rPr>
              <a:t>217</a:t>
            </a:r>
            <a:endParaRPr lang="en-US" sz="2400" dirty="0"/>
          </a:p>
        </p:txBody>
      </p:sp>
      <p:sp>
        <p:nvSpPr>
          <p:cNvPr id="25" name="Text 22"/>
          <p:cNvSpPr txBox="1"/>
          <p:nvPr/>
        </p:nvSpPr>
        <p:spPr>
          <a:xfrm>
            <a:off x="1028700" y="3248025"/>
            <a:ext cx="8406765"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外部攻击次数较去年有所下降，服务期间监测到的攻击均有效拦截。全年共发现外部威胁事件</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6" name="Text 23"/>
          <p:cNvSpPr txBox="1"/>
          <p:nvPr/>
        </p:nvSpPr>
        <p:spPr>
          <a:xfrm>
            <a:off x="9838690" y="3248025"/>
            <a:ext cx="553720" cy="2768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起。</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7" name="Text 24"/>
          <p:cNvSpPr txBox="1"/>
          <p:nvPr/>
        </p:nvSpPr>
        <p:spPr>
          <a:xfrm>
            <a:off x="9403944" y="3156356"/>
            <a:ext cx="590702" cy="438912"/>
          </a:xfrm>
          <a:prstGeom prst="rect">
            <a:avLst/>
          </a:prstGeom>
          <a:noFill/>
        </p:spPr>
        <p:txBody>
          <a:bodyPr wrap="square" lIns="0" tIns="0" rIns="0" bIns="0" rtlCol="0" anchor="ctr"/>
          <a:lstStyle/>
          <a:p>
            <a:pPr marL="0" indent="0" algn="l">
              <a:buNone/>
            </a:pPr>
            <a:r>
              <a:rPr lang="en-US" sz="2400" b="1" dirty="0">
                <a:solidFill>
                  <a:srgbClr val="0A4275"/>
                </a:solidFill>
                <a:latin typeface="Noto Sans SC" pitchFamily="34" charset="0"/>
                <a:ea typeface="Noto Sans SC" pitchFamily="34" charset="-122"/>
                <a:cs typeface="Noto Sans SC" pitchFamily="34" charset="-120"/>
              </a:rPr>
              <a:t>88</a:t>
            </a:r>
            <a:endParaRPr lang="en-US" sz="2400" dirty="0"/>
          </a:p>
        </p:txBody>
      </p:sp>
      <p:pic>
        <p:nvPicPr>
          <p:cNvPr id="28" name="Image 1" descr="preencoded.png"/>
          <p:cNvPicPr>
            <a:picLocks noChangeAspect="1"/>
          </p:cNvPicPr>
          <p:nvPr/>
        </p:nvPicPr>
        <p:blipFill>
          <a:blip r:embed="rId2"/>
          <a:srcRect l="-266" r="-266"/>
          <a:stretch>
            <a:fillRect/>
          </a:stretch>
        </p:blipFill>
        <p:spPr>
          <a:xfrm>
            <a:off x="1028700" y="4343400"/>
            <a:ext cx="323698" cy="286207"/>
          </a:xfrm>
          <a:prstGeom prst="rect">
            <a:avLst/>
          </a:prstGeom>
        </p:spPr>
      </p:pic>
      <p:pic>
        <p:nvPicPr>
          <p:cNvPr id="29" name="Image 2" descr="preencoded.png"/>
          <p:cNvPicPr>
            <a:picLocks noChangeAspect="1"/>
          </p:cNvPicPr>
          <p:nvPr/>
        </p:nvPicPr>
        <p:blipFill>
          <a:blip r:embed="rId3"/>
          <a:srcRect l="36839" r="-6"/>
          <a:stretch>
            <a:fillRect/>
          </a:stretch>
        </p:blipFill>
        <p:spPr>
          <a:xfrm>
            <a:off x="5271770" y="4479925"/>
            <a:ext cx="12045315" cy="2118995"/>
          </a:xfrm>
          <a:prstGeom prst="rect">
            <a:avLst/>
          </a:prstGeom>
        </p:spPr>
      </p:pic>
      <p:pic>
        <p:nvPicPr>
          <p:cNvPr id="30" name="Image 3" descr="preencoded.png"/>
          <p:cNvPicPr>
            <a:picLocks noChangeAspect="1"/>
          </p:cNvPicPr>
          <p:nvPr/>
        </p:nvPicPr>
        <p:blipFill>
          <a:blip r:embed="rId4"/>
          <a:srcRect l="-607" r="-607"/>
          <a:stretch>
            <a:fillRect/>
          </a:stretch>
        </p:blipFill>
        <p:spPr>
          <a:xfrm>
            <a:off x="1028700" y="7315200"/>
            <a:ext cx="362102" cy="286207"/>
          </a:xfrm>
          <a:prstGeom prst="rect">
            <a:avLst/>
          </a:prstGeom>
        </p:spPr>
      </p:pic>
      <p:sp>
        <p:nvSpPr>
          <p:cNvPr id="31" name="Shape 25"/>
          <p:cNvSpPr/>
          <p:nvPr/>
        </p:nvSpPr>
        <p:spPr>
          <a:xfrm>
            <a:off x="1028700" y="8343900"/>
            <a:ext cx="16288207" cy="571500"/>
          </a:xfrm>
          <a:prstGeom prst="roundRect">
            <a:avLst>
              <a:gd name="adj" fmla="val 26667"/>
            </a:avLst>
          </a:prstGeom>
          <a:solidFill>
            <a:srgbClr val="0A4275">
              <a:alpha val="8000"/>
            </a:srgbClr>
          </a:solidFill>
        </p:spPr>
      </p:sp>
      <p:pic>
        <p:nvPicPr>
          <p:cNvPr id="32" name="Image 4" descr="preencoded.png"/>
          <p:cNvPicPr>
            <a:picLocks noChangeAspect="1"/>
          </p:cNvPicPr>
          <p:nvPr/>
        </p:nvPicPr>
        <p:blipFill>
          <a:blip r:embed="rId5"/>
          <a:srcRect l="-1282" r="-1282"/>
          <a:stretch>
            <a:fillRect/>
          </a:stretch>
        </p:blipFill>
        <p:spPr>
          <a:xfrm>
            <a:off x="1171346" y="8539582"/>
            <a:ext cx="219456" cy="190195"/>
          </a:xfrm>
          <a:prstGeom prst="rect">
            <a:avLst/>
          </a:prstGeom>
        </p:spPr>
      </p:pic>
      <p:sp>
        <p:nvSpPr>
          <p:cNvPr id="33" name="Text 26"/>
          <p:cNvSpPr txBox="1"/>
          <p:nvPr/>
        </p:nvSpPr>
        <p:spPr>
          <a:xfrm>
            <a:off x="1466698" y="8486546"/>
            <a:ext cx="7801661" cy="277063"/>
          </a:xfrm>
          <a:prstGeom prst="rect">
            <a:avLst/>
          </a:prstGeom>
          <a:noFill/>
        </p:spPr>
        <p:txBody>
          <a:bodyPr wrap="square" lIns="0" tIns="0" rIns="0" bIns="0" rtlCol="0" anchor="ctr"/>
          <a:lstStyle/>
          <a:p>
            <a:pPr marL="0" indent="0" algn="l">
              <a:buNone/>
            </a:pPr>
            <a:r>
              <a:rPr lang="en-US" sz="1500" dirty="0">
                <a:solidFill>
                  <a:srgbClr val="0A4275"/>
                </a:solidFill>
                <a:latin typeface="Noto Sans SC" pitchFamily="34" charset="0"/>
                <a:ea typeface="Noto Sans SC" pitchFamily="34" charset="-122"/>
                <a:cs typeface="Noto Sans SC" pitchFamily="34" charset="-120"/>
              </a:rPr>
              <a:t>服务价值：云端专家提供7*24小时持续监测，主动发现异常攻击行为，专业指导攻防对抗。</a:t>
            </a:r>
            <a:endParaRPr lang="en-US" sz="1500" dirty="0"/>
          </a:p>
        </p:txBody>
      </p:sp>
      <p:sp>
        <p:nvSpPr>
          <p:cNvPr id="34" name="Text 27"/>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599846"/>
            <a:ext cx="4644238" cy="581558"/>
          </a:xfrm>
          <a:prstGeom prst="rect">
            <a:avLst/>
          </a:prstGeom>
          <a:noFill/>
        </p:spPr>
        <p:txBody>
          <a:bodyPr wrap="square" lIns="0" tIns="0" rIns="0" bIns="0" rtlCol="0" anchor="ctr"/>
          <a:lstStyle/>
          <a:p>
            <a:pPr marL="0" indent="0" algn="l">
              <a:buNone/>
            </a:pPr>
            <a:r>
              <a:rPr lang="en-US" sz="3100" b="1" dirty="0">
                <a:solidFill>
                  <a:srgbClr val="0A4275"/>
                </a:solidFill>
                <a:latin typeface="Noto Sans SC" pitchFamily="34" charset="0"/>
                <a:ea typeface="Noto Sans SC" pitchFamily="34" charset="-122"/>
                <a:cs typeface="Noto Sans SC" pitchFamily="34" charset="-120"/>
              </a:rPr>
              <a:t>威胁管理 / 攻击溯源分析</a:t>
            </a:r>
            <a:endParaRPr lang="en-US" sz="3100" dirty="0"/>
          </a:p>
        </p:txBody>
      </p:sp>
      <p:sp>
        <p:nvSpPr>
          <p:cNvPr id="5" name="Shape 3"/>
          <p:cNvSpPr/>
          <p:nvPr/>
        </p:nvSpPr>
        <p:spPr>
          <a:xfrm>
            <a:off x="761695" y="1304849"/>
            <a:ext cx="914400" cy="38405"/>
          </a:xfrm>
          <a:prstGeom prst="rect">
            <a:avLst/>
          </a:prstGeom>
          <a:solidFill>
            <a:srgbClr val="0A4275"/>
          </a:solidFill>
        </p:spPr>
      </p:sp>
      <p:sp>
        <p:nvSpPr>
          <p:cNvPr id="6" name="Shape 4"/>
          <p:cNvSpPr/>
          <p:nvPr/>
        </p:nvSpPr>
        <p:spPr>
          <a:xfrm>
            <a:off x="761695" y="1571854"/>
            <a:ext cx="16763695" cy="3000146"/>
          </a:xfrm>
          <a:prstGeom prst="roundRect">
            <a:avLst>
              <a:gd name="adj" fmla="val 1548"/>
            </a:avLst>
          </a:prstGeom>
          <a:solidFill>
            <a:srgbClr val="0A4275">
              <a:alpha val="6000"/>
            </a:srgbClr>
          </a:solidFill>
        </p:spPr>
      </p:sp>
      <p:sp>
        <p:nvSpPr>
          <p:cNvPr id="7" name="Shape 5"/>
          <p:cNvSpPr/>
          <p:nvPr/>
        </p:nvSpPr>
        <p:spPr>
          <a:xfrm>
            <a:off x="761695" y="1571854"/>
            <a:ext cx="57607" cy="3000146"/>
          </a:xfrm>
          <a:prstGeom prst="rect">
            <a:avLst/>
          </a:prstGeom>
          <a:solidFill>
            <a:srgbClr val="0A4275"/>
          </a:solidFill>
        </p:spPr>
      </p:sp>
      <p:pic>
        <p:nvPicPr>
          <p:cNvPr id="8" name="Image 0" descr="preencoded.png"/>
          <p:cNvPicPr>
            <a:picLocks noChangeAspect="1"/>
          </p:cNvPicPr>
          <p:nvPr/>
        </p:nvPicPr>
        <p:blipFill>
          <a:blip r:embed="rId1"/>
          <a:srcRect/>
          <a:stretch>
            <a:fillRect/>
          </a:stretch>
        </p:blipFill>
        <p:spPr>
          <a:xfrm>
            <a:off x="972007" y="1781251"/>
            <a:ext cx="228600" cy="228600"/>
          </a:xfrm>
          <a:prstGeom prst="rect">
            <a:avLst/>
          </a:prstGeom>
        </p:spPr>
      </p:pic>
      <p:sp>
        <p:nvSpPr>
          <p:cNvPr id="9" name="Shape 6"/>
          <p:cNvSpPr/>
          <p:nvPr/>
        </p:nvSpPr>
        <p:spPr>
          <a:xfrm>
            <a:off x="761695" y="4762195"/>
            <a:ext cx="16763695" cy="3552444"/>
          </a:xfrm>
          <a:prstGeom prst="roundRect">
            <a:avLst>
              <a:gd name="adj" fmla="val 1104"/>
            </a:avLst>
          </a:prstGeom>
          <a:solidFill>
            <a:srgbClr val="0A4275">
              <a:alpha val="6000"/>
            </a:srgbClr>
          </a:solidFill>
        </p:spPr>
      </p:sp>
      <p:sp>
        <p:nvSpPr>
          <p:cNvPr id="10" name="Shape 7"/>
          <p:cNvSpPr/>
          <p:nvPr/>
        </p:nvSpPr>
        <p:spPr>
          <a:xfrm>
            <a:off x="761695" y="4762195"/>
            <a:ext cx="57607" cy="3552444"/>
          </a:xfrm>
          <a:prstGeom prst="rect">
            <a:avLst/>
          </a:prstGeom>
          <a:solidFill>
            <a:srgbClr val="0A4275"/>
          </a:solidFill>
        </p:spPr>
      </p:sp>
      <p:sp>
        <p:nvSpPr>
          <p:cNvPr id="11" name="Text 8"/>
          <p:cNvSpPr txBox="1"/>
          <p:nvPr/>
        </p:nvSpPr>
        <p:spPr>
          <a:xfrm>
            <a:off x="1295705" y="1723644"/>
            <a:ext cx="13149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攻击源分析</a:t>
            </a:r>
            <a:endParaRPr lang="en-US" sz="1800" dirty="0"/>
          </a:p>
        </p:txBody>
      </p:sp>
      <p:sp>
        <p:nvSpPr>
          <p:cNvPr id="12" name="Text 9"/>
          <p:cNvSpPr txBox="1"/>
          <p:nvPr/>
        </p:nvSpPr>
        <p:spPr>
          <a:xfrm>
            <a:off x="1352398" y="4914900"/>
            <a:ext cx="22293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被攻击业务系统分析</a:t>
            </a:r>
            <a:endParaRPr lang="en-US" sz="1800" dirty="0"/>
          </a:p>
        </p:txBody>
      </p:sp>
      <p:sp>
        <p:nvSpPr>
          <p:cNvPr id="13" name="Text 10"/>
          <p:cNvSpPr txBox="1"/>
          <p:nvPr/>
        </p:nvSpPr>
        <p:spPr>
          <a:xfrm>
            <a:off x="972007" y="2133295"/>
            <a:ext cx="2610612" cy="277063"/>
          </a:xfrm>
          <a:prstGeom prst="rect">
            <a:avLst/>
          </a:prstGeom>
          <a:noFill/>
        </p:spPr>
        <p:txBody>
          <a:bodyPr wrap="square" lIns="0" tIns="0" rIns="0" bIns="0" rtlCol="0" anchor="ctr"/>
          <a:lstStyle/>
          <a:p>
            <a:pPr marL="0" indent="0" algn="l">
              <a:buNone/>
            </a:pPr>
            <a:endParaRPr lang="en-US" sz="1500" dirty="0"/>
          </a:p>
        </p:txBody>
      </p:sp>
      <p:sp>
        <p:nvSpPr>
          <p:cNvPr id="14" name="Text 11"/>
          <p:cNvSpPr txBox="1"/>
          <p:nvPr/>
        </p:nvSpPr>
        <p:spPr>
          <a:xfrm>
            <a:off x="5765292" y="2133295"/>
            <a:ext cx="1476756" cy="277063"/>
          </a:xfrm>
          <a:prstGeom prst="rect">
            <a:avLst/>
          </a:prstGeom>
          <a:noFill/>
        </p:spPr>
        <p:txBody>
          <a:bodyPr wrap="square" lIns="0" tIns="0" rIns="0" bIns="0" rtlCol="0" anchor="ctr"/>
          <a:lstStyle/>
          <a:p>
            <a:pPr marL="0" indent="0" algn="l">
              <a:buNone/>
            </a:pPr>
            <a:endParaRPr lang="en-US" sz="1500" dirty="0"/>
          </a:p>
        </p:txBody>
      </p:sp>
      <p:sp>
        <p:nvSpPr>
          <p:cNvPr id="15" name="Text 12"/>
          <p:cNvSpPr txBox="1"/>
          <p:nvPr/>
        </p:nvSpPr>
        <p:spPr>
          <a:xfrm>
            <a:off x="7793431" y="2133295"/>
            <a:ext cx="2429561" cy="277063"/>
          </a:xfrm>
          <a:prstGeom prst="rect">
            <a:avLst/>
          </a:prstGeom>
          <a:noFill/>
        </p:spPr>
        <p:txBody>
          <a:bodyPr wrap="square" lIns="0" tIns="0" rIns="0" bIns="0" rtlCol="0" anchor="ctr"/>
          <a:lstStyle/>
          <a:p>
            <a:pPr marL="0" indent="0" algn="l">
              <a:buNone/>
            </a:pPr>
            <a:endParaRPr lang="en-US" sz="1500" dirty="0"/>
          </a:p>
        </p:txBody>
      </p:sp>
      <p:sp>
        <p:nvSpPr>
          <p:cNvPr id="16" name="Text 13"/>
          <p:cNvSpPr txBox="1"/>
          <p:nvPr/>
        </p:nvSpPr>
        <p:spPr>
          <a:xfrm>
            <a:off x="10494569" y="2133295"/>
            <a:ext cx="3191256" cy="277063"/>
          </a:xfrm>
          <a:prstGeom prst="rect">
            <a:avLst/>
          </a:prstGeom>
          <a:noFill/>
        </p:spPr>
        <p:txBody>
          <a:bodyPr wrap="square" lIns="0" tIns="0" rIns="0" bIns="0" rtlCol="0" anchor="ctr"/>
          <a:lstStyle/>
          <a:p>
            <a:pPr marL="0" indent="0" algn="l">
              <a:buNone/>
            </a:pPr>
            <a:endParaRPr lang="en-US" sz="1500" dirty="0"/>
          </a:p>
        </p:txBody>
      </p:sp>
      <p:sp>
        <p:nvSpPr>
          <p:cNvPr id="18" name="Text 15"/>
          <p:cNvSpPr txBox="1"/>
          <p:nvPr/>
        </p:nvSpPr>
        <p:spPr>
          <a:xfrm>
            <a:off x="972007" y="5324551"/>
            <a:ext cx="3562502"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全年遭受外部攻击次数最多的目的IP为：</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9" name="Text 16"/>
          <p:cNvSpPr txBox="1"/>
          <p:nvPr/>
        </p:nvSpPr>
        <p:spPr>
          <a:xfrm>
            <a:off x="7098665" y="5314950"/>
            <a:ext cx="8221980" cy="26733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，攻击类型包括系统命令注入、System漏洞攻击、网页木马等。暂未发现攻击成功事件。</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0" name="Text 17"/>
          <p:cNvSpPr txBox="1"/>
          <p:nvPr/>
        </p:nvSpPr>
        <p:spPr>
          <a:xfrm>
            <a:off x="3434486" y="2133295"/>
            <a:ext cx="2477110" cy="277063"/>
          </a:xfrm>
          <a:prstGeom prst="rect">
            <a:avLst/>
          </a:prstGeom>
          <a:noFill/>
        </p:spPr>
        <p:txBody>
          <a:bodyPr wrap="square" lIns="0" tIns="0" rIns="0" bIns="0" rtlCol="0" anchor="ctr"/>
          <a:lstStyle/>
          <a:p>
            <a:pPr marL="0" indent="0" algn="l">
              <a:buNone/>
            </a:pPr>
            <a:endParaRPr lang="en-US" sz="1500" dirty="0"/>
          </a:p>
        </p:txBody>
      </p:sp>
      <p:sp>
        <p:nvSpPr>
          <p:cNvPr id="21" name="Text 18"/>
          <p:cNvSpPr txBox="1"/>
          <p:nvPr/>
        </p:nvSpPr>
        <p:spPr>
          <a:xfrm>
            <a:off x="7098487" y="2133295"/>
            <a:ext cx="838505" cy="277063"/>
          </a:xfrm>
          <a:prstGeom prst="rect">
            <a:avLst/>
          </a:prstGeom>
          <a:noFill/>
        </p:spPr>
        <p:txBody>
          <a:bodyPr wrap="square" lIns="0" tIns="0" rIns="0" bIns="0" rtlCol="0" anchor="ctr"/>
          <a:lstStyle/>
          <a:p>
            <a:pPr marL="0" indent="0" algn="l">
              <a:buNone/>
            </a:pPr>
            <a:endParaRPr lang="en-US" sz="1500" dirty="0"/>
          </a:p>
        </p:txBody>
      </p:sp>
      <p:sp>
        <p:nvSpPr>
          <p:cNvPr id="22" name="Text 19"/>
          <p:cNvSpPr txBox="1"/>
          <p:nvPr/>
        </p:nvSpPr>
        <p:spPr>
          <a:xfrm>
            <a:off x="10079431" y="2133295"/>
            <a:ext cx="562356" cy="277063"/>
          </a:xfrm>
          <a:prstGeom prst="rect">
            <a:avLst/>
          </a:prstGeom>
          <a:noFill/>
        </p:spPr>
        <p:txBody>
          <a:bodyPr wrap="square" lIns="0" tIns="0" rIns="0" bIns="0" rtlCol="0" anchor="ctr"/>
          <a:lstStyle/>
          <a:p>
            <a:pPr marL="0" indent="0" algn="l">
              <a:buNone/>
            </a:pPr>
            <a:endParaRPr lang="en-US" sz="1500" dirty="0"/>
          </a:p>
        </p:txBody>
      </p:sp>
      <p:sp>
        <p:nvSpPr>
          <p:cNvPr id="23" name="Text 20"/>
          <p:cNvSpPr txBox="1"/>
          <p:nvPr/>
        </p:nvSpPr>
        <p:spPr>
          <a:xfrm>
            <a:off x="972185" y="2355215"/>
            <a:ext cx="16293465" cy="43561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sym typeface="+mn-ea"/>
              </a:rPr>
              <a:t>全年攻击次数最多的源IP为：</a:t>
            </a:r>
            <a:r>
              <a:rPr lang="en-US" sz="1600" b="1" dirty="0">
                <a:solidFill>
                  <a:srgbClr val="333333"/>
                </a:solidFill>
                <a:latin typeface="Noto Sans SC" pitchFamily="34" charset="0"/>
                <a:ea typeface="Noto Sans SC" pitchFamily="34" charset="-122"/>
                <a:cs typeface="Noto Sans SC" pitchFamily="34" charset="-120"/>
                <a:sym typeface="+mn-ea"/>
              </a:rPr>
              <a:t>48.31.226.255（3505次）</a:t>
            </a:r>
            <a:r>
              <a:rPr lang="en-US" sz="1600" dirty="0">
                <a:solidFill>
                  <a:srgbClr val="333333"/>
                </a:solidFill>
                <a:latin typeface="Noto Sans SC" pitchFamily="34" charset="0"/>
                <a:ea typeface="Noto Sans SC" pitchFamily="34" charset="-122"/>
                <a:cs typeface="Noto Sans SC" pitchFamily="34" charset="-120"/>
                <a:sym typeface="+mn-ea"/>
              </a:rPr>
              <a:t>，占总攻击次数</a:t>
            </a:r>
            <a:r>
              <a:rPr lang="en-US" sz="1600" b="1" dirty="0">
                <a:solidFill>
                  <a:srgbClr val="333333"/>
                </a:solidFill>
                <a:latin typeface="Noto Sans SC" pitchFamily="34" charset="0"/>
                <a:ea typeface="Noto Sans SC" pitchFamily="34" charset="-122"/>
                <a:cs typeface="Noto Sans SC" pitchFamily="34" charset="-120"/>
                <a:sym typeface="+mn-ea"/>
              </a:rPr>
              <a:t>29.83%</a:t>
            </a:r>
            <a:r>
              <a:rPr lang="en-US" sz="1600" dirty="0">
                <a:solidFill>
                  <a:srgbClr val="333333"/>
                </a:solidFill>
                <a:latin typeface="Noto Sans SC" pitchFamily="34" charset="0"/>
                <a:ea typeface="Noto Sans SC" pitchFamily="34" charset="-122"/>
                <a:cs typeface="Noto Sans SC" pitchFamily="34" charset="-120"/>
                <a:sym typeface="+mn-ea"/>
              </a:rPr>
              <a:t>；全年共发现外部威胁事件</a:t>
            </a:r>
            <a:r>
              <a:rPr lang="en-US" sz="1600" b="1" dirty="0">
                <a:solidFill>
                  <a:srgbClr val="333333"/>
                </a:solidFill>
                <a:latin typeface="Noto Sans SC" pitchFamily="34" charset="0"/>
                <a:ea typeface="Noto Sans SC" pitchFamily="34" charset="-122"/>
                <a:cs typeface="Noto Sans SC" pitchFamily="34" charset="-120"/>
                <a:sym typeface="+mn-ea"/>
              </a:rPr>
              <a:t>88起</a:t>
            </a:r>
            <a:r>
              <a:rPr lang="en-US" sz="1600" dirty="0">
                <a:solidFill>
                  <a:srgbClr val="333333"/>
                </a:solidFill>
                <a:latin typeface="Noto Sans SC" pitchFamily="34" charset="0"/>
                <a:ea typeface="Noto Sans SC" pitchFamily="34" charset="-122"/>
                <a:cs typeface="Noto Sans SC" pitchFamily="34" charset="-120"/>
                <a:sym typeface="+mn-ea"/>
              </a:rPr>
              <a:t>，运营中心已在互联网出口防火墙对</a:t>
            </a:r>
            <a:r>
              <a:rPr lang="en-US" sz="1600" b="1" dirty="0">
                <a:solidFill>
                  <a:srgbClr val="333333"/>
                </a:solidFill>
                <a:latin typeface="Noto Sans SC" pitchFamily="34" charset="0"/>
                <a:ea typeface="Noto Sans SC" pitchFamily="34" charset="-122"/>
                <a:cs typeface="Noto Sans SC" pitchFamily="34" charset="-120"/>
              </a:rPr>
              <a:t>217个</a:t>
            </a:r>
            <a:r>
              <a:rPr lang="en-US" sz="1600" dirty="0">
                <a:solidFill>
                  <a:srgbClr val="333333"/>
                </a:solidFill>
                <a:latin typeface="Noto Sans SC" pitchFamily="34" charset="0"/>
                <a:ea typeface="Noto Sans SC" pitchFamily="34" charset="-122"/>
                <a:cs typeface="Noto Sans SC" pitchFamily="34" charset="-120"/>
                <a:sym typeface="+mn-ea"/>
              </a:rPr>
              <a:t>高威胁攻击源IP进行了封锁，未造成安全事件发生。</a:t>
            </a:r>
            <a:endParaRPr lang="en-US" sz="1600" dirty="0"/>
          </a:p>
          <a:p>
            <a:pPr marL="0" indent="0" algn="l">
              <a:buNone/>
            </a:pPr>
            <a:endParaRPr lang="en-US" sz="1600" dirty="0"/>
          </a:p>
        </p:txBody>
      </p:sp>
      <p:sp>
        <p:nvSpPr>
          <p:cNvPr id="24" name="Text 21"/>
          <p:cNvSpPr txBox="1"/>
          <p:nvPr/>
        </p:nvSpPr>
        <p:spPr>
          <a:xfrm>
            <a:off x="4534332" y="5315026"/>
            <a:ext cx="2714854" cy="277063"/>
          </a:xfrm>
          <a:prstGeom prst="rect">
            <a:avLst/>
          </a:prstGeom>
          <a:noFill/>
        </p:spPr>
        <p:txBody>
          <a:bodyPr wrap="square" lIns="0" tIns="0" rIns="0" bIns="0" rtlCol="0" anchor="ctr"/>
          <a:lstStyle/>
          <a:p>
            <a:pPr marL="0" indent="0" algn="l">
              <a:buNone/>
            </a:pPr>
            <a:r>
              <a:rPr lang="en-US" sz="1600" b="1" dirty="0">
                <a:solidFill>
                  <a:srgbClr val="333333"/>
                </a:solidFill>
                <a:latin typeface="Noto Sans SC" pitchFamily="34" charset="0"/>
                <a:ea typeface="Noto Sans SC" pitchFamily="34" charset="-122"/>
                <a:cs typeface="Noto Sans SC" pitchFamily="34" charset="-120"/>
              </a:rPr>
              <a:t>193.15.168.239（未知业务）</a:t>
            </a:r>
            <a:endParaRPr lang="en-US" sz="1600" b="1" dirty="0">
              <a:solidFill>
                <a:srgbClr val="333333"/>
              </a:solidFill>
              <a:latin typeface="Noto Sans SC" pitchFamily="34" charset="0"/>
              <a:ea typeface="Noto Sans SC" pitchFamily="34" charset="-122"/>
              <a:cs typeface="Noto Sans SC" pitchFamily="34" charset="-120"/>
            </a:endParaRPr>
          </a:p>
        </p:txBody>
      </p:sp>
      <p:sp>
        <p:nvSpPr>
          <p:cNvPr id="25" name="Shape 22"/>
          <p:cNvSpPr/>
          <p:nvPr/>
        </p:nvSpPr>
        <p:spPr>
          <a:xfrm>
            <a:off x="972007" y="2790749"/>
            <a:ext cx="4324198" cy="381305"/>
          </a:xfrm>
          <a:prstGeom prst="rect">
            <a:avLst/>
          </a:prstGeom>
          <a:solidFill>
            <a:srgbClr val="0A4275"/>
          </a:solidFill>
        </p:spPr>
      </p:sp>
      <p:sp>
        <p:nvSpPr>
          <p:cNvPr id="26" name="Shape 23"/>
          <p:cNvSpPr/>
          <p:nvPr/>
        </p:nvSpPr>
        <p:spPr>
          <a:xfrm>
            <a:off x="972007" y="3162910"/>
            <a:ext cx="4324198" cy="9144"/>
          </a:xfrm>
          <a:prstGeom prst="rect">
            <a:avLst/>
          </a:prstGeom>
          <a:solidFill>
            <a:srgbClr val="EEEEEE"/>
          </a:solidFill>
        </p:spPr>
      </p:sp>
      <p:sp>
        <p:nvSpPr>
          <p:cNvPr id="27" name="Shape 24"/>
          <p:cNvSpPr/>
          <p:nvPr/>
        </p:nvSpPr>
        <p:spPr>
          <a:xfrm>
            <a:off x="5295290" y="2790749"/>
            <a:ext cx="2819095" cy="381305"/>
          </a:xfrm>
          <a:prstGeom prst="rect">
            <a:avLst/>
          </a:prstGeom>
          <a:solidFill>
            <a:srgbClr val="0A4275"/>
          </a:solidFill>
        </p:spPr>
      </p:sp>
      <p:sp>
        <p:nvSpPr>
          <p:cNvPr id="28" name="Shape 25"/>
          <p:cNvSpPr/>
          <p:nvPr/>
        </p:nvSpPr>
        <p:spPr>
          <a:xfrm>
            <a:off x="5295290" y="3162910"/>
            <a:ext cx="2819095" cy="9144"/>
          </a:xfrm>
          <a:prstGeom prst="rect">
            <a:avLst/>
          </a:prstGeom>
          <a:solidFill>
            <a:srgbClr val="EEEEEE"/>
          </a:solidFill>
        </p:spPr>
      </p:sp>
      <p:sp>
        <p:nvSpPr>
          <p:cNvPr id="29" name="Shape 26"/>
          <p:cNvSpPr/>
          <p:nvPr/>
        </p:nvSpPr>
        <p:spPr>
          <a:xfrm>
            <a:off x="8112557" y="2790749"/>
            <a:ext cx="2505456" cy="381305"/>
          </a:xfrm>
          <a:prstGeom prst="rect">
            <a:avLst/>
          </a:prstGeom>
          <a:solidFill>
            <a:srgbClr val="0A4275"/>
          </a:solidFill>
        </p:spPr>
      </p:sp>
      <p:sp>
        <p:nvSpPr>
          <p:cNvPr id="30" name="Shape 27"/>
          <p:cNvSpPr/>
          <p:nvPr/>
        </p:nvSpPr>
        <p:spPr>
          <a:xfrm>
            <a:off x="8112557" y="3162910"/>
            <a:ext cx="2505456" cy="9144"/>
          </a:xfrm>
          <a:prstGeom prst="rect">
            <a:avLst/>
          </a:prstGeom>
          <a:solidFill>
            <a:srgbClr val="EEEEEE"/>
          </a:solidFill>
        </p:spPr>
      </p:sp>
      <p:sp>
        <p:nvSpPr>
          <p:cNvPr id="31" name="Shape 28"/>
          <p:cNvSpPr/>
          <p:nvPr/>
        </p:nvSpPr>
        <p:spPr>
          <a:xfrm>
            <a:off x="10608869" y="2790749"/>
            <a:ext cx="3952951" cy="381305"/>
          </a:xfrm>
          <a:prstGeom prst="rect">
            <a:avLst/>
          </a:prstGeom>
          <a:solidFill>
            <a:srgbClr val="0A4275"/>
          </a:solidFill>
        </p:spPr>
      </p:sp>
      <p:sp>
        <p:nvSpPr>
          <p:cNvPr id="32" name="Shape 29"/>
          <p:cNvSpPr/>
          <p:nvPr/>
        </p:nvSpPr>
        <p:spPr>
          <a:xfrm>
            <a:off x="10608869" y="3162910"/>
            <a:ext cx="3952951" cy="9144"/>
          </a:xfrm>
          <a:prstGeom prst="rect">
            <a:avLst/>
          </a:prstGeom>
          <a:solidFill>
            <a:srgbClr val="EEEEEE"/>
          </a:solidFill>
        </p:spPr>
      </p:sp>
      <p:sp>
        <p:nvSpPr>
          <p:cNvPr id="33" name="Shape 30"/>
          <p:cNvSpPr/>
          <p:nvPr/>
        </p:nvSpPr>
        <p:spPr>
          <a:xfrm>
            <a:off x="14556334" y="2790749"/>
            <a:ext cx="2819095" cy="381305"/>
          </a:xfrm>
          <a:prstGeom prst="rect">
            <a:avLst/>
          </a:prstGeom>
          <a:solidFill>
            <a:srgbClr val="0A4275"/>
          </a:solidFill>
        </p:spPr>
      </p:sp>
      <p:sp>
        <p:nvSpPr>
          <p:cNvPr id="34" name="Shape 31"/>
          <p:cNvSpPr/>
          <p:nvPr/>
        </p:nvSpPr>
        <p:spPr>
          <a:xfrm>
            <a:off x="14556334" y="3162910"/>
            <a:ext cx="2819095" cy="9144"/>
          </a:xfrm>
          <a:prstGeom prst="rect">
            <a:avLst/>
          </a:prstGeom>
          <a:solidFill>
            <a:srgbClr val="EEEEEE"/>
          </a:solidFill>
        </p:spPr>
      </p:sp>
      <p:sp>
        <p:nvSpPr>
          <p:cNvPr id="35" name="Shape 32"/>
          <p:cNvSpPr/>
          <p:nvPr/>
        </p:nvSpPr>
        <p:spPr>
          <a:xfrm>
            <a:off x="972007" y="5715000"/>
            <a:ext cx="5381244" cy="381305"/>
          </a:xfrm>
          <a:prstGeom prst="rect">
            <a:avLst/>
          </a:prstGeom>
          <a:solidFill>
            <a:srgbClr val="0A4275"/>
          </a:solidFill>
        </p:spPr>
      </p:sp>
      <p:sp>
        <p:nvSpPr>
          <p:cNvPr id="36" name="Shape 33"/>
          <p:cNvSpPr/>
          <p:nvPr/>
        </p:nvSpPr>
        <p:spPr>
          <a:xfrm>
            <a:off x="972007" y="6087161"/>
            <a:ext cx="5381244" cy="9144"/>
          </a:xfrm>
          <a:prstGeom prst="rect">
            <a:avLst/>
          </a:prstGeom>
          <a:solidFill>
            <a:srgbClr val="EEEEEE"/>
          </a:solidFill>
        </p:spPr>
      </p:sp>
      <p:sp>
        <p:nvSpPr>
          <p:cNvPr id="37" name="Shape 34"/>
          <p:cNvSpPr/>
          <p:nvPr/>
        </p:nvSpPr>
        <p:spPr>
          <a:xfrm>
            <a:off x="6346850" y="5715000"/>
            <a:ext cx="3105302" cy="381305"/>
          </a:xfrm>
          <a:prstGeom prst="rect">
            <a:avLst/>
          </a:prstGeom>
          <a:solidFill>
            <a:srgbClr val="0A4275"/>
          </a:solidFill>
        </p:spPr>
      </p:sp>
      <p:sp>
        <p:nvSpPr>
          <p:cNvPr id="38" name="Shape 35"/>
          <p:cNvSpPr/>
          <p:nvPr/>
        </p:nvSpPr>
        <p:spPr>
          <a:xfrm>
            <a:off x="6346850" y="6087161"/>
            <a:ext cx="3105302" cy="9144"/>
          </a:xfrm>
          <a:prstGeom prst="rect">
            <a:avLst/>
          </a:prstGeom>
          <a:solidFill>
            <a:srgbClr val="EEEEEE"/>
          </a:solidFill>
        </p:spPr>
      </p:sp>
      <p:sp>
        <p:nvSpPr>
          <p:cNvPr id="39" name="Shape 36"/>
          <p:cNvSpPr/>
          <p:nvPr/>
        </p:nvSpPr>
        <p:spPr>
          <a:xfrm>
            <a:off x="9449410" y="5715000"/>
            <a:ext cx="3657600" cy="381305"/>
          </a:xfrm>
          <a:prstGeom prst="rect">
            <a:avLst/>
          </a:prstGeom>
          <a:solidFill>
            <a:srgbClr val="0A4275"/>
          </a:solidFill>
        </p:spPr>
      </p:sp>
      <p:sp>
        <p:nvSpPr>
          <p:cNvPr id="40" name="Shape 37"/>
          <p:cNvSpPr/>
          <p:nvPr/>
        </p:nvSpPr>
        <p:spPr>
          <a:xfrm>
            <a:off x="9449410" y="6087161"/>
            <a:ext cx="3657600" cy="9144"/>
          </a:xfrm>
          <a:prstGeom prst="rect">
            <a:avLst/>
          </a:prstGeom>
          <a:solidFill>
            <a:srgbClr val="EEEEEE"/>
          </a:solidFill>
        </p:spPr>
      </p:sp>
      <p:sp>
        <p:nvSpPr>
          <p:cNvPr id="41" name="Shape 38"/>
          <p:cNvSpPr/>
          <p:nvPr/>
        </p:nvSpPr>
        <p:spPr>
          <a:xfrm>
            <a:off x="13097866" y="5715000"/>
            <a:ext cx="4276649" cy="381305"/>
          </a:xfrm>
          <a:prstGeom prst="rect">
            <a:avLst/>
          </a:prstGeom>
          <a:solidFill>
            <a:srgbClr val="0A4275"/>
          </a:solidFill>
        </p:spPr>
      </p:sp>
      <p:sp>
        <p:nvSpPr>
          <p:cNvPr id="42" name="Shape 39"/>
          <p:cNvSpPr/>
          <p:nvPr/>
        </p:nvSpPr>
        <p:spPr>
          <a:xfrm>
            <a:off x="13097866" y="6087161"/>
            <a:ext cx="4276649" cy="9144"/>
          </a:xfrm>
          <a:prstGeom prst="rect">
            <a:avLst/>
          </a:prstGeom>
          <a:solidFill>
            <a:srgbClr val="EEEEEE"/>
          </a:solidFill>
        </p:spPr>
      </p:sp>
      <p:sp>
        <p:nvSpPr>
          <p:cNvPr id="43" name="Text 40"/>
          <p:cNvSpPr txBox="1"/>
          <p:nvPr/>
        </p:nvSpPr>
        <p:spPr>
          <a:xfrm>
            <a:off x="1066800" y="2848610"/>
            <a:ext cx="1477010"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攻击源IP</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44" name="Text 41"/>
          <p:cNvSpPr txBox="1"/>
          <p:nvPr/>
        </p:nvSpPr>
        <p:spPr>
          <a:xfrm>
            <a:off x="5390515" y="2848610"/>
            <a:ext cx="1477010"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攻击次数</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45" name="Text 42"/>
          <p:cNvSpPr txBox="1"/>
          <p:nvPr/>
        </p:nvSpPr>
        <p:spPr>
          <a:xfrm>
            <a:off x="8207375" y="2848610"/>
            <a:ext cx="855345"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占比</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46" name="Text 43"/>
          <p:cNvSpPr txBox="1"/>
          <p:nvPr/>
        </p:nvSpPr>
        <p:spPr>
          <a:xfrm>
            <a:off x="10704195" y="2848610"/>
            <a:ext cx="1477010"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攻击类型</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47" name="Text 44"/>
          <p:cNvSpPr txBox="1"/>
          <p:nvPr/>
        </p:nvSpPr>
        <p:spPr>
          <a:xfrm>
            <a:off x="14651355" y="2848610"/>
            <a:ext cx="1477010"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处置状态</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48" name="Text 45"/>
          <p:cNvSpPr txBox="1"/>
          <p:nvPr/>
        </p:nvSpPr>
        <p:spPr>
          <a:xfrm>
            <a:off x="1066800" y="5772785"/>
            <a:ext cx="1477010"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被攻击IP</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49" name="Text 46"/>
          <p:cNvSpPr txBox="1"/>
          <p:nvPr/>
        </p:nvSpPr>
        <p:spPr>
          <a:xfrm>
            <a:off x="6442710" y="5772785"/>
            <a:ext cx="1477010"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业务系统</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50" name="Text 47"/>
          <p:cNvSpPr txBox="1"/>
          <p:nvPr/>
        </p:nvSpPr>
        <p:spPr>
          <a:xfrm>
            <a:off x="9544685" y="5772785"/>
            <a:ext cx="1788795"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受攻击次数</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51" name="Text 48"/>
          <p:cNvSpPr txBox="1"/>
          <p:nvPr/>
        </p:nvSpPr>
        <p:spPr>
          <a:xfrm>
            <a:off x="13192760" y="5772785"/>
            <a:ext cx="2098040" cy="267335"/>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主要攻击类型</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52" name="Shape 49"/>
          <p:cNvSpPr/>
          <p:nvPr/>
        </p:nvSpPr>
        <p:spPr>
          <a:xfrm>
            <a:off x="972007" y="3544214"/>
            <a:ext cx="4324198" cy="9144"/>
          </a:xfrm>
          <a:prstGeom prst="rect">
            <a:avLst/>
          </a:prstGeom>
          <a:solidFill>
            <a:srgbClr val="EEEEEE"/>
          </a:solidFill>
        </p:spPr>
      </p:sp>
      <p:sp>
        <p:nvSpPr>
          <p:cNvPr id="53" name="Shape 50"/>
          <p:cNvSpPr/>
          <p:nvPr/>
        </p:nvSpPr>
        <p:spPr>
          <a:xfrm>
            <a:off x="5295290" y="3544214"/>
            <a:ext cx="2819095" cy="9144"/>
          </a:xfrm>
          <a:prstGeom prst="rect">
            <a:avLst/>
          </a:prstGeom>
          <a:solidFill>
            <a:srgbClr val="EEEEEE"/>
          </a:solidFill>
        </p:spPr>
      </p:sp>
      <p:sp>
        <p:nvSpPr>
          <p:cNvPr id="54" name="Shape 51"/>
          <p:cNvSpPr/>
          <p:nvPr/>
        </p:nvSpPr>
        <p:spPr>
          <a:xfrm>
            <a:off x="8112557" y="3544214"/>
            <a:ext cx="2505456" cy="9144"/>
          </a:xfrm>
          <a:prstGeom prst="rect">
            <a:avLst/>
          </a:prstGeom>
          <a:solidFill>
            <a:srgbClr val="EEEEEE"/>
          </a:solidFill>
        </p:spPr>
      </p:sp>
      <p:sp>
        <p:nvSpPr>
          <p:cNvPr id="55" name="Shape 52"/>
          <p:cNvSpPr/>
          <p:nvPr/>
        </p:nvSpPr>
        <p:spPr>
          <a:xfrm>
            <a:off x="10608869" y="3544214"/>
            <a:ext cx="3952951" cy="9144"/>
          </a:xfrm>
          <a:prstGeom prst="rect">
            <a:avLst/>
          </a:prstGeom>
          <a:solidFill>
            <a:srgbClr val="EEEEEE"/>
          </a:solidFill>
        </p:spPr>
      </p:sp>
      <p:sp>
        <p:nvSpPr>
          <p:cNvPr id="56" name="Shape 53"/>
          <p:cNvSpPr/>
          <p:nvPr/>
        </p:nvSpPr>
        <p:spPr>
          <a:xfrm>
            <a:off x="14556334" y="3544214"/>
            <a:ext cx="2819095" cy="9144"/>
          </a:xfrm>
          <a:prstGeom prst="rect">
            <a:avLst/>
          </a:prstGeom>
          <a:solidFill>
            <a:srgbClr val="EEEEEE"/>
          </a:solidFill>
        </p:spPr>
      </p:sp>
      <p:sp>
        <p:nvSpPr>
          <p:cNvPr id="57" name="Shape 54"/>
          <p:cNvSpPr/>
          <p:nvPr/>
        </p:nvSpPr>
        <p:spPr>
          <a:xfrm>
            <a:off x="972007" y="3924605"/>
            <a:ext cx="4324198" cy="9144"/>
          </a:xfrm>
          <a:prstGeom prst="rect">
            <a:avLst/>
          </a:prstGeom>
          <a:solidFill>
            <a:srgbClr val="EEEEEE"/>
          </a:solidFill>
        </p:spPr>
      </p:sp>
      <p:sp>
        <p:nvSpPr>
          <p:cNvPr id="58" name="Shape 55"/>
          <p:cNvSpPr/>
          <p:nvPr/>
        </p:nvSpPr>
        <p:spPr>
          <a:xfrm>
            <a:off x="5295290" y="3924605"/>
            <a:ext cx="2819095" cy="9144"/>
          </a:xfrm>
          <a:prstGeom prst="rect">
            <a:avLst/>
          </a:prstGeom>
          <a:solidFill>
            <a:srgbClr val="EEEEEE"/>
          </a:solidFill>
        </p:spPr>
      </p:sp>
      <p:sp>
        <p:nvSpPr>
          <p:cNvPr id="59" name="Shape 56"/>
          <p:cNvSpPr/>
          <p:nvPr/>
        </p:nvSpPr>
        <p:spPr>
          <a:xfrm>
            <a:off x="8112557" y="3924605"/>
            <a:ext cx="2505456" cy="9144"/>
          </a:xfrm>
          <a:prstGeom prst="rect">
            <a:avLst/>
          </a:prstGeom>
          <a:solidFill>
            <a:srgbClr val="EEEEEE"/>
          </a:solidFill>
        </p:spPr>
      </p:sp>
      <p:sp>
        <p:nvSpPr>
          <p:cNvPr id="60" name="Shape 57"/>
          <p:cNvSpPr/>
          <p:nvPr/>
        </p:nvSpPr>
        <p:spPr>
          <a:xfrm>
            <a:off x="10608869" y="3924605"/>
            <a:ext cx="3952951" cy="9144"/>
          </a:xfrm>
          <a:prstGeom prst="rect">
            <a:avLst/>
          </a:prstGeom>
          <a:solidFill>
            <a:srgbClr val="EEEEEE"/>
          </a:solidFill>
        </p:spPr>
      </p:sp>
      <p:sp>
        <p:nvSpPr>
          <p:cNvPr id="61" name="Shape 58"/>
          <p:cNvSpPr/>
          <p:nvPr/>
        </p:nvSpPr>
        <p:spPr>
          <a:xfrm>
            <a:off x="14556334" y="3924605"/>
            <a:ext cx="2819095" cy="9144"/>
          </a:xfrm>
          <a:prstGeom prst="rect">
            <a:avLst/>
          </a:prstGeom>
          <a:solidFill>
            <a:srgbClr val="EEEEEE"/>
          </a:solidFill>
        </p:spPr>
      </p:sp>
      <p:sp>
        <p:nvSpPr>
          <p:cNvPr id="62" name="Shape 59"/>
          <p:cNvSpPr/>
          <p:nvPr/>
        </p:nvSpPr>
        <p:spPr>
          <a:xfrm>
            <a:off x="972007" y="6468466"/>
            <a:ext cx="5381244" cy="9144"/>
          </a:xfrm>
          <a:prstGeom prst="rect">
            <a:avLst/>
          </a:prstGeom>
          <a:solidFill>
            <a:srgbClr val="EEEEEE"/>
          </a:solidFill>
        </p:spPr>
      </p:sp>
      <p:sp>
        <p:nvSpPr>
          <p:cNvPr id="63" name="Shape 60"/>
          <p:cNvSpPr/>
          <p:nvPr/>
        </p:nvSpPr>
        <p:spPr>
          <a:xfrm>
            <a:off x="6346850" y="6468466"/>
            <a:ext cx="3105302" cy="9144"/>
          </a:xfrm>
          <a:prstGeom prst="rect">
            <a:avLst/>
          </a:prstGeom>
          <a:solidFill>
            <a:srgbClr val="EEEEEE"/>
          </a:solidFill>
        </p:spPr>
      </p:sp>
      <p:sp>
        <p:nvSpPr>
          <p:cNvPr id="64" name="Shape 61"/>
          <p:cNvSpPr/>
          <p:nvPr/>
        </p:nvSpPr>
        <p:spPr>
          <a:xfrm>
            <a:off x="9449410" y="6468466"/>
            <a:ext cx="3657600" cy="9144"/>
          </a:xfrm>
          <a:prstGeom prst="rect">
            <a:avLst/>
          </a:prstGeom>
          <a:solidFill>
            <a:srgbClr val="EEEEEE"/>
          </a:solidFill>
        </p:spPr>
      </p:sp>
      <p:sp>
        <p:nvSpPr>
          <p:cNvPr id="65" name="Shape 62"/>
          <p:cNvSpPr/>
          <p:nvPr/>
        </p:nvSpPr>
        <p:spPr>
          <a:xfrm>
            <a:off x="13097866" y="6468466"/>
            <a:ext cx="4276649" cy="9144"/>
          </a:xfrm>
          <a:prstGeom prst="rect">
            <a:avLst/>
          </a:prstGeom>
          <a:solidFill>
            <a:srgbClr val="EEEEEE"/>
          </a:solidFill>
        </p:spPr>
      </p:sp>
      <p:sp>
        <p:nvSpPr>
          <p:cNvPr id="66" name="Shape 63"/>
          <p:cNvSpPr/>
          <p:nvPr/>
        </p:nvSpPr>
        <p:spPr>
          <a:xfrm>
            <a:off x="972007" y="6848856"/>
            <a:ext cx="5381244" cy="9144"/>
          </a:xfrm>
          <a:prstGeom prst="rect">
            <a:avLst/>
          </a:prstGeom>
          <a:solidFill>
            <a:srgbClr val="EEEEEE"/>
          </a:solidFill>
        </p:spPr>
      </p:sp>
      <p:sp>
        <p:nvSpPr>
          <p:cNvPr id="67" name="Shape 64"/>
          <p:cNvSpPr/>
          <p:nvPr/>
        </p:nvSpPr>
        <p:spPr>
          <a:xfrm>
            <a:off x="6346850" y="6848856"/>
            <a:ext cx="3105302" cy="9144"/>
          </a:xfrm>
          <a:prstGeom prst="rect">
            <a:avLst/>
          </a:prstGeom>
          <a:solidFill>
            <a:srgbClr val="EEEEEE"/>
          </a:solidFill>
        </p:spPr>
      </p:sp>
      <p:sp>
        <p:nvSpPr>
          <p:cNvPr id="68" name="Shape 65"/>
          <p:cNvSpPr/>
          <p:nvPr/>
        </p:nvSpPr>
        <p:spPr>
          <a:xfrm>
            <a:off x="9449410" y="6848856"/>
            <a:ext cx="3657600" cy="9144"/>
          </a:xfrm>
          <a:prstGeom prst="rect">
            <a:avLst/>
          </a:prstGeom>
          <a:solidFill>
            <a:srgbClr val="EEEEEE"/>
          </a:solidFill>
        </p:spPr>
      </p:sp>
      <p:sp>
        <p:nvSpPr>
          <p:cNvPr id="69" name="Text 66"/>
          <p:cNvSpPr txBox="1"/>
          <p:nvPr/>
        </p:nvSpPr>
        <p:spPr>
          <a:xfrm>
            <a:off x="1066800" y="3228975"/>
            <a:ext cx="2339975" cy="26733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48.31.226.255</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70" name="Text 67"/>
          <p:cNvSpPr txBox="1"/>
          <p:nvPr/>
        </p:nvSpPr>
        <p:spPr>
          <a:xfrm>
            <a:off x="5390515" y="3228975"/>
            <a:ext cx="123507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3505次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1" name="Text 68"/>
          <p:cNvSpPr txBox="1"/>
          <p:nvPr/>
        </p:nvSpPr>
        <p:spPr>
          <a:xfrm>
            <a:off x="8207375" y="3228975"/>
            <a:ext cx="130429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29.83%</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2" name="Text 69"/>
          <p:cNvSpPr txBox="1"/>
          <p:nvPr/>
        </p:nvSpPr>
        <p:spPr>
          <a:xfrm>
            <a:off x="10704195" y="3228975"/>
            <a:ext cx="211645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Web框架漏洞</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3" name="Text 70"/>
          <p:cNvSpPr txBox="1"/>
          <p:nvPr/>
        </p:nvSpPr>
        <p:spPr>
          <a:xfrm>
            <a:off x="14651355" y="3228975"/>
            <a:ext cx="116713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已封锁</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4" name="Text 71"/>
          <p:cNvSpPr txBox="1"/>
          <p:nvPr/>
        </p:nvSpPr>
        <p:spPr>
          <a:xfrm>
            <a:off x="1066800" y="3609975"/>
            <a:ext cx="2339975" cy="26733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52.117.85.122</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75" name="Text 72"/>
          <p:cNvSpPr txBox="1"/>
          <p:nvPr/>
        </p:nvSpPr>
        <p:spPr>
          <a:xfrm>
            <a:off x="5390515" y="3609975"/>
            <a:ext cx="123507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1286次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6" name="Text 73"/>
          <p:cNvSpPr txBox="1"/>
          <p:nvPr/>
        </p:nvSpPr>
        <p:spPr>
          <a:xfrm>
            <a:off x="8207375" y="3609975"/>
            <a:ext cx="130429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10.95%</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7" name="Text 74"/>
          <p:cNvSpPr txBox="1"/>
          <p:nvPr/>
        </p:nvSpPr>
        <p:spPr>
          <a:xfrm>
            <a:off x="10704195" y="3609975"/>
            <a:ext cx="211645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Web漏洞攻击</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8" name="Text 75"/>
          <p:cNvSpPr txBox="1"/>
          <p:nvPr/>
        </p:nvSpPr>
        <p:spPr>
          <a:xfrm>
            <a:off x="14651355" y="3609975"/>
            <a:ext cx="116713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已封锁</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9" name="Text 76"/>
          <p:cNvSpPr txBox="1"/>
          <p:nvPr/>
        </p:nvSpPr>
        <p:spPr>
          <a:xfrm>
            <a:off x="1066800" y="3991610"/>
            <a:ext cx="2150110" cy="26733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183.47.65.33</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80" name="Text 77"/>
          <p:cNvSpPr txBox="1"/>
          <p:nvPr/>
        </p:nvSpPr>
        <p:spPr>
          <a:xfrm>
            <a:off x="5390515" y="3991610"/>
            <a:ext cx="106235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926次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1" name="Text 78"/>
          <p:cNvSpPr txBox="1"/>
          <p:nvPr/>
        </p:nvSpPr>
        <p:spPr>
          <a:xfrm>
            <a:off x="8207375" y="3991610"/>
            <a:ext cx="113220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7.88%</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2" name="Text 79"/>
          <p:cNvSpPr txBox="1"/>
          <p:nvPr/>
        </p:nvSpPr>
        <p:spPr>
          <a:xfrm>
            <a:off x="10704195" y="3991610"/>
            <a:ext cx="209804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系统命令注入</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3" name="Text 80"/>
          <p:cNvSpPr txBox="1"/>
          <p:nvPr/>
        </p:nvSpPr>
        <p:spPr>
          <a:xfrm>
            <a:off x="14651355" y="3991610"/>
            <a:ext cx="116713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已封锁</a:t>
            </a:r>
            <a:endParaRPr lang="en-US" sz="1600" dirty="0">
              <a:solidFill>
                <a:srgbClr val="000000"/>
              </a:solidFill>
              <a:latin typeface="Noto Sans SC" pitchFamily="34" charset="0"/>
              <a:ea typeface="Noto Sans SC" pitchFamily="34" charset="-122"/>
              <a:cs typeface="Noto Sans SC" pitchFamily="34" charset="-120"/>
            </a:endParaRPr>
          </a:p>
        </p:txBody>
      </p:sp>
      <p:pic>
        <p:nvPicPr>
          <p:cNvPr id="84" name="Image 1" descr="preencoded.png"/>
          <p:cNvPicPr>
            <a:picLocks noChangeAspect="1"/>
          </p:cNvPicPr>
          <p:nvPr/>
        </p:nvPicPr>
        <p:blipFill>
          <a:blip r:embed="rId2"/>
          <a:srcRect l="-80" r="-80"/>
          <a:stretch>
            <a:fillRect/>
          </a:stretch>
        </p:blipFill>
        <p:spPr>
          <a:xfrm>
            <a:off x="972007" y="4972507"/>
            <a:ext cx="286207" cy="228600"/>
          </a:xfrm>
          <a:prstGeom prst="rect">
            <a:avLst/>
          </a:prstGeom>
        </p:spPr>
      </p:pic>
      <p:sp>
        <p:nvSpPr>
          <p:cNvPr id="85" name="Shape 81"/>
          <p:cNvSpPr/>
          <p:nvPr/>
        </p:nvSpPr>
        <p:spPr>
          <a:xfrm>
            <a:off x="13097866" y="6848856"/>
            <a:ext cx="4276649" cy="9144"/>
          </a:xfrm>
          <a:prstGeom prst="rect">
            <a:avLst/>
          </a:prstGeom>
          <a:solidFill>
            <a:srgbClr val="EEEEEE"/>
          </a:solidFill>
        </p:spPr>
      </p:sp>
      <p:sp>
        <p:nvSpPr>
          <p:cNvPr id="86" name="Text 82"/>
          <p:cNvSpPr txBox="1"/>
          <p:nvPr/>
        </p:nvSpPr>
        <p:spPr>
          <a:xfrm>
            <a:off x="1066800" y="6153150"/>
            <a:ext cx="2512695" cy="26733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193.15.168.239</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87" name="Text 83"/>
          <p:cNvSpPr txBox="1"/>
          <p:nvPr/>
        </p:nvSpPr>
        <p:spPr>
          <a:xfrm>
            <a:off x="6442710" y="6153150"/>
            <a:ext cx="147701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未知业务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8" name="Text 84"/>
          <p:cNvSpPr txBox="1"/>
          <p:nvPr/>
        </p:nvSpPr>
        <p:spPr>
          <a:xfrm>
            <a:off x="9544685" y="6153150"/>
            <a:ext cx="123507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4230次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9" name="Text 85"/>
          <p:cNvSpPr txBox="1"/>
          <p:nvPr/>
        </p:nvSpPr>
        <p:spPr>
          <a:xfrm>
            <a:off x="13192760" y="6153150"/>
            <a:ext cx="209804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系统命令注入</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0" name="Text 86"/>
          <p:cNvSpPr txBox="1"/>
          <p:nvPr/>
        </p:nvSpPr>
        <p:spPr>
          <a:xfrm>
            <a:off x="1066800" y="6534150"/>
            <a:ext cx="2703830" cy="26733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192.182.224.117</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91" name="Text 87"/>
          <p:cNvSpPr txBox="1"/>
          <p:nvPr/>
        </p:nvSpPr>
        <p:spPr>
          <a:xfrm>
            <a:off x="6442710" y="6534150"/>
            <a:ext cx="151130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CRM服务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2" name="Text 88"/>
          <p:cNvSpPr txBox="1"/>
          <p:nvPr/>
        </p:nvSpPr>
        <p:spPr>
          <a:xfrm>
            <a:off x="9544685" y="6534150"/>
            <a:ext cx="123507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3185次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3" name="Text 89"/>
          <p:cNvSpPr txBox="1"/>
          <p:nvPr/>
        </p:nvSpPr>
        <p:spPr>
          <a:xfrm>
            <a:off x="13192760" y="6534150"/>
            <a:ext cx="211645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Web框架漏洞</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4" name="Text 90"/>
          <p:cNvSpPr txBox="1"/>
          <p:nvPr/>
        </p:nvSpPr>
        <p:spPr>
          <a:xfrm>
            <a:off x="1066800" y="6915785"/>
            <a:ext cx="2703830" cy="267335"/>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192.206.155.184</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95" name="Text 91"/>
          <p:cNvSpPr txBox="1"/>
          <p:nvPr/>
        </p:nvSpPr>
        <p:spPr>
          <a:xfrm>
            <a:off x="6442710" y="6915785"/>
            <a:ext cx="149542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Web服务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6" name="Text 92"/>
          <p:cNvSpPr txBox="1"/>
          <p:nvPr/>
        </p:nvSpPr>
        <p:spPr>
          <a:xfrm>
            <a:off x="9544685" y="6915785"/>
            <a:ext cx="1235075"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2074次</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7" name="Text 93"/>
          <p:cNvSpPr txBox="1"/>
          <p:nvPr/>
        </p:nvSpPr>
        <p:spPr>
          <a:xfrm>
            <a:off x="13192760" y="6915785"/>
            <a:ext cx="1477010" cy="267335"/>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网页木马</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8" name="Shape 94"/>
          <p:cNvSpPr/>
          <p:nvPr/>
        </p:nvSpPr>
        <p:spPr>
          <a:xfrm>
            <a:off x="972007" y="7362749"/>
            <a:ext cx="16402507" cy="800100"/>
          </a:xfrm>
          <a:prstGeom prst="roundRect">
            <a:avLst>
              <a:gd name="adj" fmla="val 13605"/>
            </a:avLst>
          </a:prstGeom>
          <a:solidFill>
            <a:srgbClr val="FFEEBA">
              <a:alpha val="30000"/>
            </a:srgbClr>
          </a:solidFill>
        </p:spPr>
      </p:sp>
      <p:sp>
        <p:nvSpPr>
          <p:cNvPr id="99" name="Shape 95"/>
          <p:cNvSpPr/>
          <p:nvPr/>
        </p:nvSpPr>
        <p:spPr>
          <a:xfrm>
            <a:off x="972007" y="7362749"/>
            <a:ext cx="57607" cy="800100"/>
          </a:xfrm>
          <a:prstGeom prst="rect">
            <a:avLst/>
          </a:prstGeom>
          <a:solidFill>
            <a:srgbClr val="FFC107"/>
          </a:solidFill>
        </p:spPr>
      </p:sp>
      <p:pic>
        <p:nvPicPr>
          <p:cNvPr id="100" name="Image 2" descr="preencoded.png"/>
          <p:cNvPicPr>
            <a:picLocks noChangeAspect="1"/>
          </p:cNvPicPr>
          <p:nvPr/>
        </p:nvPicPr>
        <p:blipFill>
          <a:blip r:embed="rId3"/>
          <a:srcRect/>
          <a:stretch>
            <a:fillRect/>
          </a:stretch>
        </p:blipFill>
        <p:spPr>
          <a:xfrm>
            <a:off x="1162202" y="7543800"/>
            <a:ext cx="171907" cy="171907"/>
          </a:xfrm>
          <a:prstGeom prst="rect">
            <a:avLst/>
          </a:prstGeom>
        </p:spPr>
      </p:pic>
      <p:sp>
        <p:nvSpPr>
          <p:cNvPr id="101" name="Text 96"/>
          <p:cNvSpPr txBox="1"/>
          <p:nvPr/>
        </p:nvSpPr>
        <p:spPr>
          <a:xfrm>
            <a:off x="1410005" y="7496251"/>
            <a:ext cx="814730" cy="267005"/>
          </a:xfrm>
          <a:prstGeom prst="rect">
            <a:avLst/>
          </a:prstGeom>
          <a:noFill/>
        </p:spPr>
        <p:txBody>
          <a:bodyPr wrap="square" lIns="0" tIns="0" rIns="0" bIns="0" rtlCol="0" anchor="ctr"/>
          <a:lstStyle/>
          <a:p>
            <a:pPr marL="0" indent="0" algn="l">
              <a:buNone/>
            </a:pPr>
            <a:r>
              <a:rPr lang="en-US" sz="1400" b="1" dirty="0">
                <a:solidFill>
                  <a:srgbClr val="000000"/>
                </a:solidFill>
                <a:latin typeface="Noto Sans SC" pitchFamily="34" charset="0"/>
                <a:ea typeface="Noto Sans SC" pitchFamily="34" charset="-122"/>
                <a:cs typeface="Noto Sans SC" pitchFamily="34" charset="-120"/>
              </a:rPr>
              <a:t>安全建议</a:t>
            </a:r>
            <a:endParaRPr lang="en-US" sz="1400" b="1" dirty="0">
              <a:solidFill>
                <a:srgbClr val="000000"/>
              </a:solidFill>
              <a:latin typeface="Noto Sans SC" pitchFamily="34" charset="0"/>
              <a:ea typeface="Noto Sans SC" pitchFamily="34" charset="-122"/>
              <a:cs typeface="Noto Sans SC" pitchFamily="34" charset="-120"/>
            </a:endParaRPr>
          </a:p>
        </p:txBody>
      </p:sp>
      <p:sp>
        <p:nvSpPr>
          <p:cNvPr id="102" name="Text 97"/>
          <p:cNvSpPr txBox="1"/>
          <p:nvPr/>
        </p:nvSpPr>
        <p:spPr>
          <a:xfrm>
            <a:off x="1162050" y="7791450"/>
            <a:ext cx="13214350" cy="341630"/>
          </a:xfrm>
          <a:prstGeom prst="rect">
            <a:avLst/>
          </a:prstGeom>
          <a:noFill/>
        </p:spPr>
        <p:txBody>
          <a:bodyPr wrap="square" lIns="0" tIns="0" rIns="0" bIns="0" rtlCol="0" anchor="ctr"/>
          <a:lstStyle/>
          <a:p>
            <a:pPr marL="0" indent="0" algn="l">
              <a:buNone/>
            </a:pPr>
            <a:r>
              <a:rPr lang="en-US" sz="1500" dirty="0">
                <a:solidFill>
                  <a:srgbClr val="1F2937"/>
                </a:solidFill>
                <a:latin typeface="Noto Sans SC" pitchFamily="34" charset="0"/>
                <a:ea typeface="Noto Sans SC" pitchFamily="34" charset="-122"/>
                <a:cs typeface="Noto Sans SC" pitchFamily="34" charset="-120"/>
              </a:rPr>
              <a:t>建议加强对遭受攻击次数较高的IP（如：193.15.168.239、192.182.224.117、192.206.155.184等）的访问可用性监测，及时发现潜在风险。</a:t>
            </a:r>
            <a:endParaRPr lang="en-US" sz="1500" dirty="0">
              <a:solidFill>
                <a:srgbClr val="1F2937"/>
              </a:solidFill>
              <a:latin typeface="Noto Sans SC" pitchFamily="34" charset="0"/>
              <a:ea typeface="Noto Sans SC" pitchFamily="34" charset="-122"/>
              <a:cs typeface="Noto Sans SC" pitchFamily="34" charset="-120"/>
            </a:endParaRPr>
          </a:p>
        </p:txBody>
      </p:sp>
      <p:sp>
        <p:nvSpPr>
          <p:cNvPr id="103" name="Text 98"/>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381305"/>
            <a:ext cx="3296412" cy="495605"/>
          </a:xfrm>
          <a:prstGeom prst="rect">
            <a:avLst/>
          </a:prstGeom>
          <a:noFill/>
        </p:spPr>
        <p:txBody>
          <a:bodyPr wrap="square" lIns="0" tIns="0" rIns="0" bIns="0" rtlCol="0" anchor="ctr"/>
          <a:lstStyle/>
          <a:p>
            <a:pPr marL="0" indent="0" algn="l">
              <a:buNone/>
            </a:pPr>
            <a:r>
              <a:rPr lang="en-US" sz="2700" b="1" dirty="0">
                <a:solidFill>
                  <a:srgbClr val="0A4275"/>
                </a:solidFill>
                <a:latin typeface="Noto Sans SC" pitchFamily="34" charset="0"/>
                <a:ea typeface="Noto Sans SC" pitchFamily="34" charset="-122"/>
                <a:cs typeface="Noto Sans SC" pitchFamily="34" charset="-120"/>
              </a:rPr>
              <a:t>威胁管理 / 策略隐患</a:t>
            </a:r>
            <a:endParaRPr lang="en-US" sz="2700" dirty="0"/>
          </a:p>
        </p:txBody>
      </p:sp>
      <p:sp>
        <p:nvSpPr>
          <p:cNvPr id="5" name="Shape 3"/>
          <p:cNvSpPr/>
          <p:nvPr/>
        </p:nvSpPr>
        <p:spPr>
          <a:xfrm>
            <a:off x="761695" y="895198"/>
            <a:ext cx="914400" cy="38405"/>
          </a:xfrm>
          <a:prstGeom prst="rect">
            <a:avLst/>
          </a:prstGeom>
          <a:solidFill>
            <a:srgbClr val="0A4275"/>
          </a:solidFill>
        </p:spPr>
      </p:sp>
      <p:sp>
        <p:nvSpPr>
          <p:cNvPr id="6" name="Shape 4"/>
          <p:cNvSpPr/>
          <p:nvPr/>
        </p:nvSpPr>
        <p:spPr>
          <a:xfrm>
            <a:off x="761695" y="1047902"/>
            <a:ext cx="16763695" cy="724205"/>
          </a:xfrm>
          <a:prstGeom prst="roundRect">
            <a:avLst>
              <a:gd name="adj" fmla="val 26582"/>
            </a:avLst>
          </a:prstGeom>
          <a:solidFill>
            <a:srgbClr val="0A4275">
              <a:alpha val="6000"/>
            </a:srgbClr>
          </a:solidFill>
        </p:spPr>
      </p:sp>
      <p:sp>
        <p:nvSpPr>
          <p:cNvPr id="7" name="Shape 5"/>
          <p:cNvSpPr/>
          <p:nvPr/>
        </p:nvSpPr>
        <p:spPr>
          <a:xfrm>
            <a:off x="761695" y="1047902"/>
            <a:ext cx="57607" cy="724205"/>
          </a:xfrm>
          <a:prstGeom prst="rect">
            <a:avLst/>
          </a:prstGeom>
          <a:solidFill>
            <a:srgbClr val="0A4275"/>
          </a:solidFill>
        </p:spPr>
      </p:sp>
      <p:sp>
        <p:nvSpPr>
          <p:cNvPr id="8" name="Shape 6"/>
          <p:cNvSpPr/>
          <p:nvPr/>
        </p:nvSpPr>
        <p:spPr>
          <a:xfrm>
            <a:off x="761695" y="2006905"/>
            <a:ext cx="16763695" cy="418795"/>
          </a:xfrm>
          <a:prstGeom prst="roundRect">
            <a:avLst>
              <a:gd name="adj" fmla="val 79397"/>
            </a:avLst>
          </a:prstGeom>
          <a:solidFill>
            <a:srgbClr val="0A4275">
              <a:alpha val="6000"/>
            </a:srgbClr>
          </a:solidFill>
        </p:spPr>
      </p:sp>
      <p:sp>
        <p:nvSpPr>
          <p:cNvPr id="9" name="Shape 7"/>
          <p:cNvSpPr/>
          <p:nvPr/>
        </p:nvSpPr>
        <p:spPr>
          <a:xfrm>
            <a:off x="761695" y="2006905"/>
            <a:ext cx="57607" cy="418795"/>
          </a:xfrm>
          <a:prstGeom prst="rect">
            <a:avLst/>
          </a:prstGeom>
          <a:solidFill>
            <a:srgbClr val="0A4275"/>
          </a:solidFill>
        </p:spPr>
      </p:sp>
      <p:sp>
        <p:nvSpPr>
          <p:cNvPr id="10" name="Shape 8"/>
          <p:cNvSpPr/>
          <p:nvPr/>
        </p:nvSpPr>
        <p:spPr>
          <a:xfrm>
            <a:off x="761695" y="2669235"/>
            <a:ext cx="16763695" cy="418795"/>
          </a:xfrm>
          <a:prstGeom prst="roundRect">
            <a:avLst>
              <a:gd name="adj" fmla="val 79397"/>
            </a:avLst>
          </a:prstGeom>
          <a:solidFill>
            <a:srgbClr val="0A4275">
              <a:alpha val="6000"/>
            </a:srgbClr>
          </a:solidFill>
        </p:spPr>
      </p:sp>
      <p:sp>
        <p:nvSpPr>
          <p:cNvPr id="11" name="Shape 9"/>
          <p:cNvSpPr/>
          <p:nvPr/>
        </p:nvSpPr>
        <p:spPr>
          <a:xfrm>
            <a:off x="761695" y="2669235"/>
            <a:ext cx="57607" cy="418795"/>
          </a:xfrm>
          <a:prstGeom prst="rect">
            <a:avLst/>
          </a:prstGeom>
          <a:solidFill>
            <a:srgbClr val="0A4275"/>
          </a:solidFill>
        </p:spPr>
      </p:sp>
      <p:sp>
        <p:nvSpPr>
          <p:cNvPr id="12" name="Text 10"/>
          <p:cNvSpPr txBox="1"/>
          <p:nvPr/>
        </p:nvSpPr>
        <p:spPr>
          <a:xfrm>
            <a:off x="1009498" y="1133856"/>
            <a:ext cx="1666951" cy="277063"/>
          </a:xfrm>
          <a:prstGeom prst="rect">
            <a:avLst/>
          </a:prstGeom>
          <a:noFill/>
        </p:spPr>
        <p:txBody>
          <a:bodyPr wrap="square" lIns="0" tIns="0" rIns="0" bIns="0" rtlCol="0" anchor="ctr"/>
          <a:lstStyle/>
          <a:p>
            <a:pPr marL="0" indent="0" algn="l">
              <a:buNone/>
            </a:pPr>
            <a:r>
              <a:rPr lang="en-US" sz="1600" b="1" dirty="0">
                <a:solidFill>
                  <a:srgbClr val="0A4275"/>
                </a:solidFill>
                <a:latin typeface="Noto Sans SC" pitchFamily="34" charset="0"/>
                <a:ea typeface="Noto Sans SC" pitchFamily="34" charset="-122"/>
                <a:cs typeface="Noto Sans SC" pitchFamily="34" charset="-120"/>
              </a:rPr>
              <a:t>全年策略检查总结</a:t>
            </a:r>
            <a:endParaRPr lang="en-US" sz="1600" b="1" dirty="0">
              <a:solidFill>
                <a:srgbClr val="0A4275"/>
              </a:solidFill>
              <a:latin typeface="Noto Sans SC" pitchFamily="34" charset="0"/>
              <a:ea typeface="Noto Sans SC" pitchFamily="34" charset="-122"/>
              <a:cs typeface="Noto Sans SC" pitchFamily="34" charset="-120"/>
            </a:endParaRPr>
          </a:p>
        </p:txBody>
      </p:sp>
      <p:sp>
        <p:nvSpPr>
          <p:cNvPr id="13" name="Text 11"/>
          <p:cNvSpPr txBox="1"/>
          <p:nvPr/>
        </p:nvSpPr>
        <p:spPr>
          <a:xfrm>
            <a:off x="1009650" y="1419225"/>
            <a:ext cx="9534525" cy="30734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全年对接入安全组件共进行策略检查 6 次，及时发现并调优问题策略，最大程度发挥现有安全设备效果。</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14" name="Text 12"/>
          <p:cNvSpPr txBox="1"/>
          <p:nvPr/>
        </p:nvSpPr>
        <p:spPr>
          <a:xfrm>
            <a:off x="1009650" y="2736215"/>
            <a:ext cx="7487285" cy="30734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运营中心服务经理定期对安全组件进行策略检查和调优指导，持续防护安全威胁。</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15" name="Text 13"/>
          <p:cNvSpPr txBox="1"/>
          <p:nvPr/>
        </p:nvSpPr>
        <p:spPr>
          <a:xfrm>
            <a:off x="1009650" y="2101850"/>
            <a:ext cx="6876415" cy="25400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策略配置视角：当前策略配置正常，不存在调优项，平台组件在线状态正常</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16" name="Shape 14"/>
          <p:cNvSpPr/>
          <p:nvPr/>
        </p:nvSpPr>
        <p:spPr>
          <a:xfrm>
            <a:off x="761695" y="3821430"/>
            <a:ext cx="1343254" cy="342900"/>
          </a:xfrm>
          <a:prstGeom prst="rect">
            <a:avLst/>
          </a:prstGeom>
          <a:solidFill>
            <a:srgbClr val="0A4275"/>
          </a:solidFill>
        </p:spPr>
      </p:sp>
      <p:sp>
        <p:nvSpPr>
          <p:cNvPr id="17" name="Shape 15"/>
          <p:cNvSpPr/>
          <p:nvPr/>
        </p:nvSpPr>
        <p:spPr>
          <a:xfrm>
            <a:off x="2103120" y="3821430"/>
            <a:ext cx="1676095" cy="342900"/>
          </a:xfrm>
          <a:prstGeom prst="rect">
            <a:avLst/>
          </a:prstGeom>
          <a:solidFill>
            <a:srgbClr val="0A4275"/>
          </a:solidFill>
        </p:spPr>
      </p:sp>
      <p:sp>
        <p:nvSpPr>
          <p:cNvPr id="18" name="Shape 16"/>
          <p:cNvSpPr/>
          <p:nvPr/>
        </p:nvSpPr>
        <p:spPr>
          <a:xfrm>
            <a:off x="3779215" y="3821430"/>
            <a:ext cx="3019349" cy="342900"/>
          </a:xfrm>
          <a:prstGeom prst="rect">
            <a:avLst/>
          </a:prstGeom>
          <a:solidFill>
            <a:srgbClr val="0A4275"/>
          </a:solidFill>
        </p:spPr>
      </p:sp>
      <p:sp>
        <p:nvSpPr>
          <p:cNvPr id="19" name="Shape 17"/>
          <p:cNvSpPr/>
          <p:nvPr/>
        </p:nvSpPr>
        <p:spPr>
          <a:xfrm>
            <a:off x="6797040" y="3821430"/>
            <a:ext cx="1988185" cy="307975"/>
          </a:xfrm>
          <a:prstGeom prst="rect">
            <a:avLst/>
          </a:prstGeom>
          <a:solidFill>
            <a:srgbClr val="0A4275"/>
          </a:solidFill>
        </p:spPr>
      </p:sp>
      <p:sp>
        <p:nvSpPr>
          <p:cNvPr id="20" name="Shape 18"/>
          <p:cNvSpPr/>
          <p:nvPr/>
        </p:nvSpPr>
        <p:spPr>
          <a:xfrm>
            <a:off x="8305495" y="3821430"/>
            <a:ext cx="9229954" cy="342900"/>
          </a:xfrm>
          <a:prstGeom prst="rect">
            <a:avLst/>
          </a:prstGeom>
          <a:solidFill>
            <a:srgbClr val="0A4275"/>
          </a:solidFill>
        </p:spPr>
      </p:sp>
      <p:sp>
        <p:nvSpPr>
          <p:cNvPr id="21" name="Text 19"/>
          <p:cNvSpPr txBox="1"/>
          <p:nvPr/>
        </p:nvSpPr>
        <p:spPr>
          <a:xfrm>
            <a:off x="838200" y="3850005"/>
            <a:ext cx="1188720" cy="248920"/>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设备类型</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22" name="Text 20"/>
          <p:cNvSpPr txBox="1"/>
          <p:nvPr/>
        </p:nvSpPr>
        <p:spPr>
          <a:xfrm>
            <a:off x="2179320" y="3850005"/>
            <a:ext cx="687705" cy="248920"/>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版本</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23" name="Text 21"/>
          <p:cNvSpPr txBox="1"/>
          <p:nvPr/>
        </p:nvSpPr>
        <p:spPr>
          <a:xfrm>
            <a:off x="3855720" y="3850005"/>
            <a:ext cx="1437640" cy="248920"/>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策略检查项</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24" name="Text 22"/>
          <p:cNvSpPr txBox="1"/>
          <p:nvPr/>
        </p:nvSpPr>
        <p:spPr>
          <a:xfrm>
            <a:off x="6873545" y="3849776"/>
            <a:ext cx="523951" cy="277063"/>
          </a:xfrm>
          <a:prstGeom prst="rect">
            <a:avLst/>
          </a:prstGeom>
          <a:noFill/>
        </p:spPr>
        <p:txBody>
          <a:bodyPr wrap="square" lIns="0" tIns="0" rIns="0" bIns="0" rtlCol="0" anchor="ctr"/>
          <a:lstStyle/>
          <a:p>
            <a:pPr marL="0" indent="0" algn="l">
              <a:buNone/>
            </a:pPr>
            <a:r>
              <a:rPr lang="en-US" sz="1500" b="1" dirty="0">
                <a:solidFill>
                  <a:srgbClr val="FFFFFF"/>
                </a:solidFill>
                <a:latin typeface="Noto Sans SC" pitchFamily="34" charset="0"/>
                <a:ea typeface="Noto Sans SC" pitchFamily="34" charset="-122"/>
                <a:cs typeface="Noto Sans SC" pitchFamily="34" charset="-120"/>
              </a:rPr>
              <a:t>状态</a:t>
            </a:r>
            <a:endParaRPr lang="en-US" sz="1500" dirty="0"/>
          </a:p>
        </p:txBody>
      </p:sp>
      <p:sp>
        <p:nvSpPr>
          <p:cNvPr id="25" name="Text 23"/>
          <p:cNvSpPr txBox="1"/>
          <p:nvPr/>
        </p:nvSpPr>
        <p:spPr>
          <a:xfrm>
            <a:off x="8382000" y="3850005"/>
            <a:ext cx="687705" cy="248920"/>
          </a:xfrm>
          <a:prstGeom prst="rect">
            <a:avLst/>
          </a:prstGeom>
          <a:noFill/>
        </p:spPr>
        <p:txBody>
          <a:bodyPr wrap="square" lIns="0" tIns="0" rIns="0" bIns="0" rtlCol="0" anchor="ctr"/>
          <a:lstStyle/>
          <a:p>
            <a:pPr marL="0" indent="0" algn="l">
              <a:buNone/>
            </a:pPr>
            <a:r>
              <a:rPr lang="en-US" sz="1600" b="1" dirty="0">
                <a:solidFill>
                  <a:srgbClr val="FFFFFF"/>
                </a:solidFill>
                <a:latin typeface="Noto Sans SC" pitchFamily="34" charset="0"/>
                <a:ea typeface="Noto Sans SC" pitchFamily="34" charset="-122"/>
                <a:cs typeface="Noto Sans SC" pitchFamily="34" charset="-120"/>
              </a:rPr>
              <a:t>描述</a:t>
            </a:r>
            <a:endParaRPr lang="en-US" sz="1600" b="1" dirty="0">
              <a:solidFill>
                <a:srgbClr val="FFFFFF"/>
              </a:solidFill>
              <a:latin typeface="Noto Sans SC" pitchFamily="34" charset="0"/>
              <a:ea typeface="Noto Sans SC" pitchFamily="34" charset="-122"/>
              <a:cs typeface="Noto Sans SC" pitchFamily="34" charset="-120"/>
            </a:endParaRPr>
          </a:p>
        </p:txBody>
      </p:sp>
      <p:sp>
        <p:nvSpPr>
          <p:cNvPr id="26" name="Shape 24"/>
          <p:cNvSpPr/>
          <p:nvPr/>
        </p:nvSpPr>
        <p:spPr>
          <a:xfrm>
            <a:off x="761695" y="4498086"/>
            <a:ext cx="16763695" cy="333756"/>
          </a:xfrm>
          <a:prstGeom prst="rect">
            <a:avLst/>
          </a:prstGeom>
          <a:solidFill>
            <a:srgbClr val="0A4275">
              <a:alpha val="2000"/>
            </a:srgbClr>
          </a:solidFill>
        </p:spPr>
      </p:sp>
      <p:sp>
        <p:nvSpPr>
          <p:cNvPr id="27" name="Shape 25"/>
          <p:cNvSpPr/>
          <p:nvPr/>
        </p:nvSpPr>
        <p:spPr>
          <a:xfrm>
            <a:off x="761695" y="5164684"/>
            <a:ext cx="16763695" cy="333756"/>
          </a:xfrm>
          <a:prstGeom prst="rect">
            <a:avLst/>
          </a:prstGeom>
          <a:solidFill>
            <a:srgbClr val="0A4275">
              <a:alpha val="2000"/>
            </a:srgbClr>
          </a:solidFill>
        </p:spPr>
      </p:sp>
      <p:sp>
        <p:nvSpPr>
          <p:cNvPr id="28" name="Shape 26"/>
          <p:cNvSpPr/>
          <p:nvPr/>
        </p:nvSpPr>
        <p:spPr>
          <a:xfrm>
            <a:off x="761695" y="5831281"/>
            <a:ext cx="16763695" cy="333756"/>
          </a:xfrm>
          <a:prstGeom prst="rect">
            <a:avLst/>
          </a:prstGeom>
          <a:solidFill>
            <a:srgbClr val="0A4275">
              <a:alpha val="2000"/>
            </a:srgbClr>
          </a:solidFill>
        </p:spPr>
      </p:sp>
      <p:sp>
        <p:nvSpPr>
          <p:cNvPr id="29" name="Shape 27"/>
          <p:cNvSpPr/>
          <p:nvPr/>
        </p:nvSpPr>
        <p:spPr>
          <a:xfrm>
            <a:off x="761695" y="6497879"/>
            <a:ext cx="16763695" cy="333756"/>
          </a:xfrm>
          <a:prstGeom prst="rect">
            <a:avLst/>
          </a:prstGeom>
          <a:solidFill>
            <a:srgbClr val="0A4275">
              <a:alpha val="2000"/>
            </a:srgbClr>
          </a:solidFill>
        </p:spPr>
      </p:sp>
      <p:sp>
        <p:nvSpPr>
          <p:cNvPr id="30" name="Shape 28"/>
          <p:cNvSpPr/>
          <p:nvPr/>
        </p:nvSpPr>
        <p:spPr>
          <a:xfrm>
            <a:off x="761695" y="7164476"/>
            <a:ext cx="16763695" cy="333756"/>
          </a:xfrm>
          <a:prstGeom prst="rect">
            <a:avLst/>
          </a:prstGeom>
          <a:solidFill>
            <a:srgbClr val="0A4275">
              <a:alpha val="2000"/>
            </a:srgbClr>
          </a:solidFill>
        </p:spPr>
      </p:sp>
      <p:sp>
        <p:nvSpPr>
          <p:cNvPr id="31" name="Shape 29"/>
          <p:cNvSpPr/>
          <p:nvPr/>
        </p:nvSpPr>
        <p:spPr>
          <a:xfrm>
            <a:off x="761695" y="7831074"/>
            <a:ext cx="16763695" cy="333756"/>
          </a:xfrm>
          <a:prstGeom prst="rect">
            <a:avLst/>
          </a:prstGeom>
          <a:solidFill>
            <a:srgbClr val="0A4275">
              <a:alpha val="2000"/>
            </a:srgbClr>
          </a:solidFill>
        </p:spPr>
      </p:sp>
      <p:sp>
        <p:nvSpPr>
          <p:cNvPr id="32" name="Shape 30"/>
          <p:cNvSpPr/>
          <p:nvPr/>
        </p:nvSpPr>
        <p:spPr>
          <a:xfrm>
            <a:off x="761695" y="6155893"/>
            <a:ext cx="1343254" cy="9144"/>
          </a:xfrm>
          <a:prstGeom prst="rect">
            <a:avLst/>
          </a:prstGeom>
          <a:solidFill>
            <a:srgbClr val="EDF2F7"/>
          </a:solidFill>
        </p:spPr>
      </p:sp>
      <p:sp>
        <p:nvSpPr>
          <p:cNvPr id="33" name="Shape 31"/>
          <p:cNvSpPr/>
          <p:nvPr/>
        </p:nvSpPr>
        <p:spPr>
          <a:xfrm>
            <a:off x="2103120" y="6155893"/>
            <a:ext cx="1676095" cy="9144"/>
          </a:xfrm>
          <a:prstGeom prst="rect">
            <a:avLst/>
          </a:prstGeom>
          <a:solidFill>
            <a:srgbClr val="EDF2F7"/>
          </a:solidFill>
        </p:spPr>
      </p:sp>
      <p:sp>
        <p:nvSpPr>
          <p:cNvPr id="34" name="Shape 32"/>
          <p:cNvSpPr/>
          <p:nvPr/>
        </p:nvSpPr>
        <p:spPr>
          <a:xfrm>
            <a:off x="3779215" y="4488942"/>
            <a:ext cx="3019349" cy="9144"/>
          </a:xfrm>
          <a:prstGeom prst="rect">
            <a:avLst/>
          </a:prstGeom>
          <a:solidFill>
            <a:srgbClr val="EDF2F7"/>
          </a:solidFill>
        </p:spPr>
      </p:sp>
      <p:sp>
        <p:nvSpPr>
          <p:cNvPr id="35" name="Shape 33"/>
          <p:cNvSpPr/>
          <p:nvPr/>
        </p:nvSpPr>
        <p:spPr>
          <a:xfrm>
            <a:off x="8305495" y="4488942"/>
            <a:ext cx="9229954" cy="9144"/>
          </a:xfrm>
          <a:prstGeom prst="rect">
            <a:avLst/>
          </a:prstGeom>
          <a:solidFill>
            <a:srgbClr val="EDF2F7"/>
          </a:solidFill>
        </p:spPr>
      </p:sp>
      <p:sp>
        <p:nvSpPr>
          <p:cNvPr id="36" name="Shape 34"/>
          <p:cNvSpPr/>
          <p:nvPr/>
        </p:nvSpPr>
        <p:spPr>
          <a:xfrm>
            <a:off x="3779215" y="4822698"/>
            <a:ext cx="3019349" cy="9144"/>
          </a:xfrm>
          <a:prstGeom prst="rect">
            <a:avLst/>
          </a:prstGeom>
          <a:solidFill>
            <a:srgbClr val="EDF2F7"/>
          </a:solidFill>
        </p:spPr>
      </p:sp>
      <p:sp>
        <p:nvSpPr>
          <p:cNvPr id="37" name="Shape 35"/>
          <p:cNvSpPr/>
          <p:nvPr/>
        </p:nvSpPr>
        <p:spPr>
          <a:xfrm>
            <a:off x="8305495" y="4822698"/>
            <a:ext cx="9229954" cy="9144"/>
          </a:xfrm>
          <a:prstGeom prst="rect">
            <a:avLst/>
          </a:prstGeom>
          <a:solidFill>
            <a:srgbClr val="EDF2F7"/>
          </a:solidFill>
        </p:spPr>
      </p:sp>
      <p:sp>
        <p:nvSpPr>
          <p:cNvPr id="38" name="Shape 36"/>
          <p:cNvSpPr/>
          <p:nvPr/>
        </p:nvSpPr>
        <p:spPr>
          <a:xfrm>
            <a:off x="3779215" y="5155540"/>
            <a:ext cx="3019349" cy="9144"/>
          </a:xfrm>
          <a:prstGeom prst="rect">
            <a:avLst/>
          </a:prstGeom>
          <a:solidFill>
            <a:srgbClr val="EDF2F7"/>
          </a:solidFill>
        </p:spPr>
      </p:sp>
      <p:sp>
        <p:nvSpPr>
          <p:cNvPr id="39" name="Shape 37"/>
          <p:cNvSpPr/>
          <p:nvPr/>
        </p:nvSpPr>
        <p:spPr>
          <a:xfrm>
            <a:off x="8305495" y="5155540"/>
            <a:ext cx="9229954" cy="9144"/>
          </a:xfrm>
          <a:prstGeom prst="rect">
            <a:avLst/>
          </a:prstGeom>
          <a:solidFill>
            <a:srgbClr val="EDF2F7"/>
          </a:solidFill>
        </p:spPr>
      </p:sp>
      <p:sp>
        <p:nvSpPr>
          <p:cNvPr id="40" name="Shape 38"/>
          <p:cNvSpPr/>
          <p:nvPr/>
        </p:nvSpPr>
        <p:spPr>
          <a:xfrm>
            <a:off x="3779215" y="5489296"/>
            <a:ext cx="3019349" cy="9144"/>
          </a:xfrm>
          <a:prstGeom prst="rect">
            <a:avLst/>
          </a:prstGeom>
          <a:solidFill>
            <a:srgbClr val="EDF2F7"/>
          </a:solidFill>
        </p:spPr>
      </p:sp>
      <p:sp>
        <p:nvSpPr>
          <p:cNvPr id="41" name="Shape 39"/>
          <p:cNvSpPr/>
          <p:nvPr/>
        </p:nvSpPr>
        <p:spPr>
          <a:xfrm>
            <a:off x="8305495" y="5489296"/>
            <a:ext cx="9229954" cy="9144"/>
          </a:xfrm>
          <a:prstGeom prst="rect">
            <a:avLst/>
          </a:prstGeom>
          <a:solidFill>
            <a:srgbClr val="EDF2F7"/>
          </a:solidFill>
        </p:spPr>
      </p:sp>
      <p:sp>
        <p:nvSpPr>
          <p:cNvPr id="42" name="Shape 40"/>
          <p:cNvSpPr/>
          <p:nvPr/>
        </p:nvSpPr>
        <p:spPr>
          <a:xfrm>
            <a:off x="3779215" y="5822137"/>
            <a:ext cx="3019349" cy="9144"/>
          </a:xfrm>
          <a:prstGeom prst="rect">
            <a:avLst/>
          </a:prstGeom>
          <a:solidFill>
            <a:srgbClr val="EDF2F7"/>
          </a:solidFill>
        </p:spPr>
      </p:sp>
      <p:sp>
        <p:nvSpPr>
          <p:cNvPr id="43" name="Shape 41"/>
          <p:cNvSpPr/>
          <p:nvPr/>
        </p:nvSpPr>
        <p:spPr>
          <a:xfrm>
            <a:off x="8305495" y="5822137"/>
            <a:ext cx="9229954" cy="9144"/>
          </a:xfrm>
          <a:prstGeom prst="rect">
            <a:avLst/>
          </a:prstGeom>
          <a:solidFill>
            <a:srgbClr val="EDF2F7"/>
          </a:solidFill>
        </p:spPr>
      </p:sp>
      <p:sp>
        <p:nvSpPr>
          <p:cNvPr id="44" name="Shape 42"/>
          <p:cNvSpPr/>
          <p:nvPr/>
        </p:nvSpPr>
        <p:spPr>
          <a:xfrm>
            <a:off x="3779215" y="6155893"/>
            <a:ext cx="3019349" cy="9144"/>
          </a:xfrm>
          <a:prstGeom prst="rect">
            <a:avLst/>
          </a:prstGeom>
          <a:solidFill>
            <a:srgbClr val="EDF2F7"/>
          </a:solidFill>
        </p:spPr>
      </p:sp>
      <p:sp>
        <p:nvSpPr>
          <p:cNvPr id="45" name="Shape 43"/>
          <p:cNvSpPr/>
          <p:nvPr/>
        </p:nvSpPr>
        <p:spPr>
          <a:xfrm>
            <a:off x="8305495" y="6155893"/>
            <a:ext cx="9229954" cy="9144"/>
          </a:xfrm>
          <a:prstGeom prst="rect">
            <a:avLst/>
          </a:prstGeom>
          <a:solidFill>
            <a:srgbClr val="EDF2F7"/>
          </a:solidFill>
        </p:spPr>
      </p:sp>
      <p:sp>
        <p:nvSpPr>
          <p:cNvPr id="46" name="Shape 44"/>
          <p:cNvSpPr/>
          <p:nvPr/>
        </p:nvSpPr>
        <p:spPr>
          <a:xfrm>
            <a:off x="761695" y="8480298"/>
            <a:ext cx="1343254" cy="9144"/>
          </a:xfrm>
          <a:prstGeom prst="rect">
            <a:avLst/>
          </a:prstGeom>
          <a:solidFill>
            <a:srgbClr val="EDF2F7"/>
          </a:solidFill>
        </p:spPr>
      </p:sp>
      <p:sp>
        <p:nvSpPr>
          <p:cNvPr id="47" name="Shape 45"/>
          <p:cNvSpPr/>
          <p:nvPr/>
        </p:nvSpPr>
        <p:spPr>
          <a:xfrm>
            <a:off x="2103120" y="8480298"/>
            <a:ext cx="1676095" cy="9144"/>
          </a:xfrm>
          <a:prstGeom prst="rect">
            <a:avLst/>
          </a:prstGeom>
          <a:solidFill>
            <a:srgbClr val="EDF2F7"/>
          </a:solidFill>
        </p:spPr>
      </p:sp>
      <p:sp>
        <p:nvSpPr>
          <p:cNvPr id="48" name="Shape 46"/>
          <p:cNvSpPr/>
          <p:nvPr/>
        </p:nvSpPr>
        <p:spPr>
          <a:xfrm>
            <a:off x="3779215" y="6489649"/>
            <a:ext cx="3019349" cy="9144"/>
          </a:xfrm>
          <a:prstGeom prst="rect">
            <a:avLst/>
          </a:prstGeom>
          <a:solidFill>
            <a:srgbClr val="EDF2F7"/>
          </a:solidFill>
        </p:spPr>
      </p:sp>
      <p:sp>
        <p:nvSpPr>
          <p:cNvPr id="49" name="Shape 47"/>
          <p:cNvSpPr/>
          <p:nvPr/>
        </p:nvSpPr>
        <p:spPr>
          <a:xfrm>
            <a:off x="8305495" y="6489649"/>
            <a:ext cx="9229954" cy="9144"/>
          </a:xfrm>
          <a:prstGeom prst="rect">
            <a:avLst/>
          </a:prstGeom>
          <a:solidFill>
            <a:srgbClr val="EDF2F7"/>
          </a:solidFill>
        </p:spPr>
      </p:sp>
      <p:sp>
        <p:nvSpPr>
          <p:cNvPr id="50" name="Shape 48"/>
          <p:cNvSpPr/>
          <p:nvPr/>
        </p:nvSpPr>
        <p:spPr>
          <a:xfrm>
            <a:off x="3779215" y="6822491"/>
            <a:ext cx="3019349" cy="9144"/>
          </a:xfrm>
          <a:prstGeom prst="rect">
            <a:avLst/>
          </a:prstGeom>
          <a:solidFill>
            <a:srgbClr val="EDF2F7"/>
          </a:solidFill>
        </p:spPr>
      </p:sp>
      <p:sp>
        <p:nvSpPr>
          <p:cNvPr id="51" name="Shape 49"/>
          <p:cNvSpPr/>
          <p:nvPr/>
        </p:nvSpPr>
        <p:spPr>
          <a:xfrm>
            <a:off x="8305495" y="6822491"/>
            <a:ext cx="9229954" cy="9144"/>
          </a:xfrm>
          <a:prstGeom prst="rect">
            <a:avLst/>
          </a:prstGeom>
          <a:solidFill>
            <a:srgbClr val="EDF2F7"/>
          </a:solidFill>
        </p:spPr>
      </p:sp>
      <p:sp>
        <p:nvSpPr>
          <p:cNvPr id="52" name="Shape 50"/>
          <p:cNvSpPr/>
          <p:nvPr/>
        </p:nvSpPr>
        <p:spPr>
          <a:xfrm>
            <a:off x="3779215" y="7156247"/>
            <a:ext cx="3019349" cy="9144"/>
          </a:xfrm>
          <a:prstGeom prst="rect">
            <a:avLst/>
          </a:prstGeom>
          <a:solidFill>
            <a:srgbClr val="EDF2F7"/>
          </a:solidFill>
        </p:spPr>
      </p:sp>
      <p:sp>
        <p:nvSpPr>
          <p:cNvPr id="53" name="Shape 51"/>
          <p:cNvSpPr/>
          <p:nvPr/>
        </p:nvSpPr>
        <p:spPr>
          <a:xfrm>
            <a:off x="8305495" y="7156247"/>
            <a:ext cx="9229954" cy="9144"/>
          </a:xfrm>
          <a:prstGeom prst="rect">
            <a:avLst/>
          </a:prstGeom>
          <a:solidFill>
            <a:srgbClr val="EDF2F7"/>
          </a:solidFill>
        </p:spPr>
      </p:sp>
      <p:sp>
        <p:nvSpPr>
          <p:cNvPr id="54" name="Shape 52"/>
          <p:cNvSpPr/>
          <p:nvPr/>
        </p:nvSpPr>
        <p:spPr>
          <a:xfrm>
            <a:off x="3779215" y="7489088"/>
            <a:ext cx="3019349" cy="9144"/>
          </a:xfrm>
          <a:prstGeom prst="rect">
            <a:avLst/>
          </a:prstGeom>
          <a:solidFill>
            <a:srgbClr val="EDF2F7"/>
          </a:solidFill>
        </p:spPr>
      </p:sp>
      <p:sp>
        <p:nvSpPr>
          <p:cNvPr id="55" name="Shape 53"/>
          <p:cNvSpPr/>
          <p:nvPr/>
        </p:nvSpPr>
        <p:spPr>
          <a:xfrm>
            <a:off x="8305495" y="7489088"/>
            <a:ext cx="9229954" cy="9144"/>
          </a:xfrm>
          <a:prstGeom prst="rect">
            <a:avLst/>
          </a:prstGeom>
          <a:solidFill>
            <a:srgbClr val="EDF2F7"/>
          </a:solidFill>
        </p:spPr>
      </p:sp>
      <p:sp>
        <p:nvSpPr>
          <p:cNvPr id="56" name="Shape 54"/>
          <p:cNvSpPr/>
          <p:nvPr/>
        </p:nvSpPr>
        <p:spPr>
          <a:xfrm>
            <a:off x="3779215" y="7822844"/>
            <a:ext cx="3019349" cy="9144"/>
          </a:xfrm>
          <a:prstGeom prst="rect">
            <a:avLst/>
          </a:prstGeom>
          <a:solidFill>
            <a:srgbClr val="EDF2F7"/>
          </a:solidFill>
        </p:spPr>
      </p:sp>
      <p:sp>
        <p:nvSpPr>
          <p:cNvPr id="57" name="Shape 55"/>
          <p:cNvSpPr/>
          <p:nvPr/>
        </p:nvSpPr>
        <p:spPr>
          <a:xfrm>
            <a:off x="8305495" y="7822844"/>
            <a:ext cx="9229954" cy="9144"/>
          </a:xfrm>
          <a:prstGeom prst="rect">
            <a:avLst/>
          </a:prstGeom>
          <a:solidFill>
            <a:srgbClr val="EDF2F7"/>
          </a:solidFill>
        </p:spPr>
      </p:sp>
      <p:sp>
        <p:nvSpPr>
          <p:cNvPr id="58" name="Shape 56"/>
          <p:cNvSpPr/>
          <p:nvPr/>
        </p:nvSpPr>
        <p:spPr>
          <a:xfrm>
            <a:off x="3779215" y="8155686"/>
            <a:ext cx="3019349" cy="9144"/>
          </a:xfrm>
          <a:prstGeom prst="rect">
            <a:avLst/>
          </a:prstGeom>
          <a:solidFill>
            <a:srgbClr val="EDF2F7"/>
          </a:solidFill>
        </p:spPr>
      </p:sp>
      <p:sp>
        <p:nvSpPr>
          <p:cNvPr id="59" name="Shape 57"/>
          <p:cNvSpPr/>
          <p:nvPr/>
        </p:nvSpPr>
        <p:spPr>
          <a:xfrm>
            <a:off x="8305495" y="8155686"/>
            <a:ext cx="9229954" cy="9144"/>
          </a:xfrm>
          <a:prstGeom prst="rect">
            <a:avLst/>
          </a:prstGeom>
          <a:solidFill>
            <a:srgbClr val="EDF2F7"/>
          </a:solidFill>
        </p:spPr>
      </p:sp>
      <p:sp>
        <p:nvSpPr>
          <p:cNvPr id="60" name="Text 58"/>
          <p:cNvSpPr txBox="1"/>
          <p:nvPr/>
        </p:nvSpPr>
        <p:spPr>
          <a:xfrm>
            <a:off x="838200" y="5016500"/>
            <a:ext cx="67564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EDR</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1" name="Text 59"/>
          <p:cNvSpPr txBox="1"/>
          <p:nvPr/>
        </p:nvSpPr>
        <p:spPr>
          <a:xfrm>
            <a:off x="2179320" y="5016500"/>
            <a:ext cx="151384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6.0.2.12110</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2" name="Text 60"/>
          <p:cNvSpPr txBox="1"/>
          <p:nvPr/>
        </p:nvSpPr>
        <p:spPr>
          <a:xfrm>
            <a:off x="3855720" y="4183380"/>
            <a:ext cx="143764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序列号检查</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3" name="Text 61"/>
          <p:cNvSpPr txBox="1"/>
          <p:nvPr/>
        </p:nvSpPr>
        <p:spPr>
          <a:xfrm>
            <a:off x="8382000" y="4183380"/>
            <a:ext cx="394017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序列号过期会影响设备的防护功能</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4" name="Text 62"/>
          <p:cNvSpPr txBox="1"/>
          <p:nvPr/>
        </p:nvSpPr>
        <p:spPr>
          <a:xfrm>
            <a:off x="3855720" y="4516120"/>
            <a:ext cx="143764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规则库检查</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5" name="Text 63"/>
          <p:cNvSpPr txBox="1"/>
          <p:nvPr/>
        </p:nvSpPr>
        <p:spPr>
          <a:xfrm>
            <a:off x="8382000" y="4516120"/>
            <a:ext cx="594042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若不是最新规则库，建议及时更新，以保障防护能力</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6" name="Text 64"/>
          <p:cNvSpPr txBox="1"/>
          <p:nvPr/>
        </p:nvSpPr>
        <p:spPr>
          <a:xfrm>
            <a:off x="3855720" y="4850130"/>
            <a:ext cx="175133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Webshell检测</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7" name="Text 65"/>
          <p:cNvSpPr txBox="1"/>
          <p:nvPr/>
        </p:nvSpPr>
        <p:spPr>
          <a:xfrm>
            <a:off x="8382000" y="4850130"/>
            <a:ext cx="524065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实时监测主机并对webshell文件进行防护处置</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8" name="Text 66"/>
          <p:cNvSpPr txBox="1"/>
          <p:nvPr/>
        </p:nvSpPr>
        <p:spPr>
          <a:xfrm>
            <a:off x="3855720" y="5184140"/>
            <a:ext cx="168910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定时自动扫描</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69" name="Text 67"/>
          <p:cNvSpPr txBox="1"/>
          <p:nvPr/>
        </p:nvSpPr>
        <p:spPr>
          <a:xfrm>
            <a:off x="8382000" y="5184140"/>
            <a:ext cx="518985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定期检测主机，第一时间发现问题并进行处置</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0" name="Text 68"/>
          <p:cNvSpPr txBox="1"/>
          <p:nvPr/>
        </p:nvSpPr>
        <p:spPr>
          <a:xfrm>
            <a:off x="3855720" y="5516880"/>
            <a:ext cx="168910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文件实时防护</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1" name="Text 69"/>
          <p:cNvSpPr txBox="1"/>
          <p:nvPr/>
        </p:nvSpPr>
        <p:spPr>
          <a:xfrm>
            <a:off x="8382000" y="5516880"/>
            <a:ext cx="569087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监控文件读写执行，阻止病毒运行，保证终端安全</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2" name="Text 70"/>
          <p:cNvSpPr txBox="1"/>
          <p:nvPr/>
        </p:nvSpPr>
        <p:spPr>
          <a:xfrm>
            <a:off x="3855720" y="5850255"/>
            <a:ext cx="168910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暴力破解检测</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3" name="Text 71"/>
          <p:cNvSpPr txBox="1"/>
          <p:nvPr/>
        </p:nvSpPr>
        <p:spPr>
          <a:xfrm>
            <a:off x="8382000" y="5850255"/>
            <a:ext cx="442785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SSH、RDP、SMB登录异常监测与告警</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4" name="Text 72"/>
          <p:cNvSpPr txBox="1"/>
          <p:nvPr/>
        </p:nvSpPr>
        <p:spPr>
          <a:xfrm>
            <a:off x="838200" y="7179310"/>
            <a:ext cx="48831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AF</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5" name="Text 73"/>
          <p:cNvSpPr txBox="1"/>
          <p:nvPr/>
        </p:nvSpPr>
        <p:spPr>
          <a:xfrm>
            <a:off x="2179320" y="7036435"/>
            <a:ext cx="88836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8.0.45</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6" name="Text 74"/>
          <p:cNvSpPr txBox="1"/>
          <p:nvPr/>
        </p:nvSpPr>
        <p:spPr>
          <a:xfrm>
            <a:off x="2179320" y="7321550"/>
            <a:ext cx="88836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8.0.23</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7" name="Text 75"/>
          <p:cNvSpPr txBox="1"/>
          <p:nvPr/>
        </p:nvSpPr>
        <p:spPr>
          <a:xfrm>
            <a:off x="3855720" y="6183630"/>
            <a:ext cx="143764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序列号检查</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8" name="Text 76"/>
          <p:cNvSpPr txBox="1"/>
          <p:nvPr/>
        </p:nvSpPr>
        <p:spPr>
          <a:xfrm>
            <a:off x="8382000" y="6183630"/>
            <a:ext cx="394017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序列号过期会影响设备的防护功能</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79" name="Text 77"/>
          <p:cNvSpPr txBox="1"/>
          <p:nvPr/>
        </p:nvSpPr>
        <p:spPr>
          <a:xfrm>
            <a:off x="3855720" y="6517005"/>
            <a:ext cx="143764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规则库检查</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0" name="Text 78"/>
          <p:cNvSpPr txBox="1"/>
          <p:nvPr/>
        </p:nvSpPr>
        <p:spPr>
          <a:xfrm>
            <a:off x="8382000" y="6517005"/>
            <a:ext cx="594042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若不是最新规则库，建议及时更新，以保障防护能力</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1" name="Text 79"/>
          <p:cNvSpPr txBox="1"/>
          <p:nvPr/>
        </p:nvSpPr>
        <p:spPr>
          <a:xfrm>
            <a:off x="3855720" y="6851015"/>
            <a:ext cx="168910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日志上报功能</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2" name="Text 80"/>
          <p:cNvSpPr txBox="1"/>
          <p:nvPr/>
        </p:nvSpPr>
        <p:spPr>
          <a:xfrm>
            <a:off x="8382000" y="6851015"/>
            <a:ext cx="518985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日志上报云端可以及时发现网络中的安全隐患</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3" name="Text 81"/>
          <p:cNvSpPr txBox="1"/>
          <p:nvPr/>
        </p:nvSpPr>
        <p:spPr>
          <a:xfrm>
            <a:off x="3855720" y="7183755"/>
            <a:ext cx="147637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HTTPS解密</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4" name="Text 82"/>
          <p:cNvSpPr txBox="1"/>
          <p:nvPr/>
        </p:nvSpPr>
        <p:spPr>
          <a:xfrm>
            <a:off x="8382000" y="7183755"/>
            <a:ext cx="547814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HTTPS业务未配置会导致相关业务无法进行防护</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5" name="Text 83"/>
          <p:cNvSpPr txBox="1"/>
          <p:nvPr/>
        </p:nvSpPr>
        <p:spPr>
          <a:xfrm>
            <a:off x="3855720" y="7517130"/>
            <a:ext cx="168910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风险端口映射</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6" name="Text 84"/>
          <p:cNvSpPr txBox="1"/>
          <p:nvPr/>
        </p:nvSpPr>
        <p:spPr>
          <a:xfrm>
            <a:off x="8382000" y="7517130"/>
            <a:ext cx="469074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若存在端口映射，存在被暴破登陆的风险</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7" name="Text 85"/>
          <p:cNvSpPr txBox="1"/>
          <p:nvPr/>
        </p:nvSpPr>
        <p:spPr>
          <a:xfrm>
            <a:off x="3855720" y="7850505"/>
            <a:ext cx="1689100"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漏洞攻击防护</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8" name="Text 86"/>
          <p:cNvSpPr txBox="1"/>
          <p:nvPr/>
        </p:nvSpPr>
        <p:spPr>
          <a:xfrm>
            <a:off x="8382000" y="7850505"/>
            <a:ext cx="582866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已开启智能IPS防护，配置业务端口，有效保障安全</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89" name="Text 87"/>
          <p:cNvSpPr txBox="1"/>
          <p:nvPr/>
        </p:nvSpPr>
        <p:spPr>
          <a:xfrm>
            <a:off x="3855720" y="8183880"/>
            <a:ext cx="172656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WEB应用防护</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0" name="Text 88"/>
          <p:cNvSpPr txBox="1"/>
          <p:nvPr/>
        </p:nvSpPr>
        <p:spPr>
          <a:xfrm>
            <a:off x="8382000" y="8183880"/>
            <a:ext cx="5339715" cy="248920"/>
          </a:xfrm>
          <a:prstGeom prst="rect">
            <a:avLst/>
          </a:prstGeom>
          <a:noFill/>
        </p:spPr>
        <p:txBody>
          <a:bodyPr wrap="square" lIns="0" tIns="0" rIns="0" bIns="0" rtlCol="0" anchor="ctr"/>
          <a:lstStyle/>
          <a:p>
            <a:pPr marL="0" indent="0" algn="l">
              <a:buNone/>
            </a:pPr>
            <a:r>
              <a:rPr lang="en-US" sz="1600" dirty="0">
                <a:solidFill>
                  <a:srgbClr val="000000"/>
                </a:solidFill>
                <a:latin typeface="Noto Sans SC" pitchFamily="34" charset="0"/>
                <a:ea typeface="Noto Sans SC" pitchFamily="34" charset="-122"/>
                <a:cs typeface="Noto Sans SC" pitchFamily="34" charset="-120"/>
              </a:rPr>
              <a:t>已配置防护，并勾选自动识别HTTP端口并防护</a:t>
            </a:r>
            <a:endParaRPr lang="en-US" sz="1600" dirty="0">
              <a:solidFill>
                <a:srgbClr val="000000"/>
              </a:solidFill>
              <a:latin typeface="Noto Sans SC" pitchFamily="34" charset="0"/>
              <a:ea typeface="Noto Sans SC" pitchFamily="34" charset="-122"/>
              <a:cs typeface="Noto Sans SC" pitchFamily="34" charset="-120"/>
            </a:endParaRPr>
          </a:p>
        </p:txBody>
      </p:sp>
      <p:sp>
        <p:nvSpPr>
          <p:cNvPr id="91" name="Shape 89"/>
          <p:cNvSpPr/>
          <p:nvPr/>
        </p:nvSpPr>
        <p:spPr>
          <a:xfrm>
            <a:off x="6796735" y="4488942"/>
            <a:ext cx="1514246" cy="9144"/>
          </a:xfrm>
          <a:prstGeom prst="rect">
            <a:avLst/>
          </a:prstGeom>
          <a:solidFill>
            <a:srgbClr val="EDF2F7"/>
          </a:solidFill>
        </p:spPr>
      </p:sp>
      <p:sp>
        <p:nvSpPr>
          <p:cNvPr id="92" name="Shape 90"/>
          <p:cNvSpPr/>
          <p:nvPr/>
        </p:nvSpPr>
        <p:spPr>
          <a:xfrm>
            <a:off x="6796735" y="4822698"/>
            <a:ext cx="1514246" cy="9144"/>
          </a:xfrm>
          <a:prstGeom prst="rect">
            <a:avLst/>
          </a:prstGeom>
          <a:solidFill>
            <a:srgbClr val="EDF2F7"/>
          </a:solidFill>
        </p:spPr>
      </p:sp>
      <p:sp>
        <p:nvSpPr>
          <p:cNvPr id="93" name="Shape 91"/>
          <p:cNvSpPr/>
          <p:nvPr/>
        </p:nvSpPr>
        <p:spPr>
          <a:xfrm>
            <a:off x="6796735" y="6489649"/>
            <a:ext cx="1514246" cy="9144"/>
          </a:xfrm>
          <a:prstGeom prst="rect">
            <a:avLst/>
          </a:prstGeom>
          <a:solidFill>
            <a:srgbClr val="EDF2F7"/>
          </a:solidFill>
        </p:spPr>
      </p:sp>
      <p:sp>
        <p:nvSpPr>
          <p:cNvPr id="94" name="Shape 92"/>
          <p:cNvSpPr/>
          <p:nvPr/>
        </p:nvSpPr>
        <p:spPr>
          <a:xfrm>
            <a:off x="6796735" y="6822491"/>
            <a:ext cx="1514246" cy="9144"/>
          </a:xfrm>
          <a:prstGeom prst="rect">
            <a:avLst/>
          </a:prstGeom>
          <a:solidFill>
            <a:srgbClr val="EDF2F7"/>
          </a:solidFill>
        </p:spPr>
      </p:sp>
      <p:sp>
        <p:nvSpPr>
          <p:cNvPr id="95" name="Shape 93"/>
          <p:cNvSpPr/>
          <p:nvPr/>
        </p:nvSpPr>
        <p:spPr>
          <a:xfrm>
            <a:off x="6796735" y="7489088"/>
            <a:ext cx="1514246" cy="9144"/>
          </a:xfrm>
          <a:prstGeom prst="rect">
            <a:avLst/>
          </a:prstGeom>
          <a:solidFill>
            <a:srgbClr val="EDF2F7"/>
          </a:solidFill>
        </p:spPr>
      </p:sp>
      <p:sp>
        <p:nvSpPr>
          <p:cNvPr id="96" name="Shape 94"/>
          <p:cNvSpPr/>
          <p:nvPr/>
        </p:nvSpPr>
        <p:spPr>
          <a:xfrm>
            <a:off x="6796735" y="7822844"/>
            <a:ext cx="1514246" cy="9144"/>
          </a:xfrm>
          <a:prstGeom prst="rect">
            <a:avLst/>
          </a:prstGeom>
          <a:solidFill>
            <a:srgbClr val="EDF2F7"/>
          </a:solidFill>
        </p:spPr>
      </p:sp>
      <p:sp>
        <p:nvSpPr>
          <p:cNvPr id="97" name="Text 95"/>
          <p:cNvSpPr txBox="1"/>
          <p:nvPr/>
        </p:nvSpPr>
        <p:spPr>
          <a:xfrm>
            <a:off x="6873240" y="4183380"/>
            <a:ext cx="687705" cy="248920"/>
          </a:xfrm>
          <a:prstGeom prst="rect">
            <a:avLst/>
          </a:prstGeom>
          <a:noFill/>
        </p:spPr>
        <p:txBody>
          <a:bodyPr wrap="square" lIns="0" tIns="0" rIns="0" bIns="0" rtlCol="0" anchor="ctr"/>
          <a:lstStyle/>
          <a:p>
            <a:pPr marL="0" indent="0" algn="l">
              <a:buNone/>
            </a:pPr>
            <a:r>
              <a:rPr lang="en-US" sz="1600" b="1" dirty="0">
                <a:solidFill>
                  <a:srgbClr val="38A169"/>
                </a:solidFill>
                <a:latin typeface="Noto Sans SC" pitchFamily="34" charset="0"/>
                <a:ea typeface="Noto Sans SC" pitchFamily="34" charset="-122"/>
                <a:cs typeface="Noto Sans SC" pitchFamily="34" charset="-120"/>
              </a:rPr>
              <a:t>正常</a:t>
            </a:r>
            <a:endParaRPr lang="en-US" sz="1600" b="1" dirty="0">
              <a:solidFill>
                <a:srgbClr val="38A169"/>
              </a:solidFill>
              <a:latin typeface="Noto Sans SC" pitchFamily="34" charset="0"/>
              <a:ea typeface="Noto Sans SC" pitchFamily="34" charset="-122"/>
              <a:cs typeface="Noto Sans SC" pitchFamily="34" charset="-120"/>
            </a:endParaRPr>
          </a:p>
        </p:txBody>
      </p:sp>
      <p:sp>
        <p:nvSpPr>
          <p:cNvPr id="98" name="Text 96"/>
          <p:cNvSpPr txBox="1"/>
          <p:nvPr/>
        </p:nvSpPr>
        <p:spPr>
          <a:xfrm>
            <a:off x="6873240" y="4516120"/>
            <a:ext cx="938530" cy="248920"/>
          </a:xfrm>
          <a:prstGeom prst="rect">
            <a:avLst/>
          </a:prstGeom>
          <a:noFill/>
        </p:spPr>
        <p:txBody>
          <a:bodyPr wrap="square" lIns="0" tIns="0" rIns="0" bIns="0" rtlCol="0" anchor="ctr"/>
          <a:lstStyle/>
          <a:p>
            <a:pPr marL="0" indent="0" algn="l">
              <a:buNone/>
            </a:pPr>
            <a:r>
              <a:rPr lang="en-US" sz="1600" b="1" dirty="0">
                <a:solidFill>
                  <a:srgbClr val="38A169"/>
                </a:solidFill>
                <a:latin typeface="Noto Sans SC" pitchFamily="34" charset="0"/>
                <a:ea typeface="Noto Sans SC" pitchFamily="34" charset="-122"/>
                <a:cs typeface="Noto Sans SC" pitchFamily="34" charset="-120"/>
              </a:rPr>
              <a:t>已最新</a:t>
            </a:r>
            <a:endParaRPr lang="en-US" sz="1600" b="1" dirty="0">
              <a:solidFill>
                <a:srgbClr val="38A169"/>
              </a:solidFill>
              <a:latin typeface="Noto Sans SC" pitchFamily="34" charset="0"/>
              <a:ea typeface="Noto Sans SC" pitchFamily="34" charset="-122"/>
              <a:cs typeface="Noto Sans SC" pitchFamily="34" charset="-120"/>
            </a:endParaRPr>
          </a:p>
        </p:txBody>
      </p:sp>
      <p:sp>
        <p:nvSpPr>
          <p:cNvPr id="99" name="Text 97"/>
          <p:cNvSpPr txBox="1"/>
          <p:nvPr/>
        </p:nvSpPr>
        <p:spPr>
          <a:xfrm>
            <a:off x="6873240" y="6183630"/>
            <a:ext cx="687705" cy="248920"/>
          </a:xfrm>
          <a:prstGeom prst="rect">
            <a:avLst/>
          </a:prstGeom>
          <a:noFill/>
        </p:spPr>
        <p:txBody>
          <a:bodyPr wrap="square" lIns="0" tIns="0" rIns="0" bIns="0" rtlCol="0" anchor="ctr"/>
          <a:lstStyle/>
          <a:p>
            <a:pPr marL="0" indent="0" algn="l">
              <a:buNone/>
            </a:pPr>
            <a:r>
              <a:rPr lang="en-US" sz="1600" b="1" dirty="0">
                <a:solidFill>
                  <a:srgbClr val="38A169"/>
                </a:solidFill>
                <a:latin typeface="Noto Sans SC" pitchFamily="34" charset="0"/>
                <a:ea typeface="Noto Sans SC" pitchFamily="34" charset="-122"/>
                <a:cs typeface="Noto Sans SC" pitchFamily="34" charset="-120"/>
              </a:rPr>
              <a:t>正常</a:t>
            </a:r>
            <a:endParaRPr lang="en-US" sz="1600" b="1" dirty="0">
              <a:solidFill>
                <a:srgbClr val="38A169"/>
              </a:solidFill>
              <a:latin typeface="Noto Sans SC" pitchFamily="34" charset="0"/>
              <a:ea typeface="Noto Sans SC" pitchFamily="34" charset="-122"/>
              <a:cs typeface="Noto Sans SC" pitchFamily="34" charset="-120"/>
            </a:endParaRPr>
          </a:p>
        </p:txBody>
      </p:sp>
      <p:sp>
        <p:nvSpPr>
          <p:cNvPr id="100" name="Text 98"/>
          <p:cNvSpPr txBox="1"/>
          <p:nvPr/>
        </p:nvSpPr>
        <p:spPr>
          <a:xfrm>
            <a:off x="6873240" y="6517005"/>
            <a:ext cx="938530" cy="248920"/>
          </a:xfrm>
          <a:prstGeom prst="rect">
            <a:avLst/>
          </a:prstGeom>
          <a:noFill/>
        </p:spPr>
        <p:txBody>
          <a:bodyPr wrap="square" lIns="0" tIns="0" rIns="0" bIns="0" rtlCol="0" anchor="ctr"/>
          <a:lstStyle/>
          <a:p>
            <a:pPr marL="0" indent="0" algn="l">
              <a:buNone/>
            </a:pPr>
            <a:r>
              <a:rPr lang="en-US" sz="1600" b="1" dirty="0">
                <a:solidFill>
                  <a:srgbClr val="38A169"/>
                </a:solidFill>
                <a:latin typeface="Noto Sans SC" pitchFamily="34" charset="0"/>
                <a:ea typeface="Noto Sans SC" pitchFamily="34" charset="-122"/>
                <a:cs typeface="Noto Sans SC" pitchFamily="34" charset="-120"/>
              </a:rPr>
              <a:t>已最新</a:t>
            </a:r>
            <a:endParaRPr lang="en-US" sz="1600" b="1" dirty="0">
              <a:solidFill>
                <a:srgbClr val="38A169"/>
              </a:solidFill>
              <a:latin typeface="Noto Sans SC" pitchFamily="34" charset="0"/>
              <a:ea typeface="Noto Sans SC" pitchFamily="34" charset="-122"/>
              <a:cs typeface="Noto Sans SC" pitchFamily="34" charset="-120"/>
            </a:endParaRPr>
          </a:p>
        </p:txBody>
      </p:sp>
      <p:sp>
        <p:nvSpPr>
          <p:cNvPr id="101" name="Text 99"/>
          <p:cNvSpPr txBox="1"/>
          <p:nvPr/>
        </p:nvSpPr>
        <p:spPr>
          <a:xfrm>
            <a:off x="6873240" y="7183755"/>
            <a:ext cx="687705" cy="248920"/>
          </a:xfrm>
          <a:prstGeom prst="rect">
            <a:avLst/>
          </a:prstGeom>
          <a:noFill/>
        </p:spPr>
        <p:txBody>
          <a:bodyPr wrap="square" lIns="0" tIns="0" rIns="0" bIns="0" rtlCol="0" anchor="ctr"/>
          <a:lstStyle/>
          <a:p>
            <a:pPr marL="0" indent="0" algn="l">
              <a:buNone/>
            </a:pPr>
            <a:r>
              <a:rPr lang="en-US" sz="1600" b="1" dirty="0">
                <a:solidFill>
                  <a:srgbClr val="38A169"/>
                </a:solidFill>
                <a:latin typeface="Noto Sans SC" pitchFamily="34" charset="0"/>
                <a:ea typeface="Noto Sans SC" pitchFamily="34" charset="-122"/>
                <a:cs typeface="Noto Sans SC" pitchFamily="34" charset="-120"/>
              </a:rPr>
              <a:t>正常</a:t>
            </a:r>
            <a:endParaRPr lang="en-US" sz="1600" b="1" dirty="0">
              <a:solidFill>
                <a:srgbClr val="38A169"/>
              </a:solidFill>
              <a:latin typeface="Noto Sans SC" pitchFamily="34" charset="0"/>
              <a:ea typeface="Noto Sans SC" pitchFamily="34" charset="-122"/>
              <a:cs typeface="Noto Sans SC" pitchFamily="34" charset="-120"/>
            </a:endParaRPr>
          </a:p>
        </p:txBody>
      </p:sp>
      <p:sp>
        <p:nvSpPr>
          <p:cNvPr id="102" name="Text 100"/>
          <p:cNvSpPr txBox="1"/>
          <p:nvPr/>
        </p:nvSpPr>
        <p:spPr>
          <a:xfrm>
            <a:off x="6873240" y="7517130"/>
            <a:ext cx="938530" cy="248920"/>
          </a:xfrm>
          <a:prstGeom prst="rect">
            <a:avLst/>
          </a:prstGeom>
          <a:noFill/>
        </p:spPr>
        <p:txBody>
          <a:bodyPr wrap="square" lIns="0" tIns="0" rIns="0" bIns="0" rtlCol="0" anchor="ctr"/>
          <a:lstStyle/>
          <a:p>
            <a:pPr marL="0" indent="0" algn="l">
              <a:buNone/>
            </a:pPr>
            <a:r>
              <a:rPr lang="en-US" sz="1600" b="1" dirty="0">
                <a:solidFill>
                  <a:srgbClr val="38A169"/>
                </a:solidFill>
                <a:latin typeface="Noto Sans SC" pitchFamily="34" charset="0"/>
                <a:ea typeface="Noto Sans SC" pitchFamily="34" charset="-122"/>
                <a:cs typeface="Noto Sans SC" pitchFamily="34" charset="-120"/>
              </a:rPr>
              <a:t>不存在</a:t>
            </a:r>
            <a:endParaRPr lang="en-US" sz="1600" b="1" dirty="0">
              <a:solidFill>
                <a:srgbClr val="38A169"/>
              </a:solidFill>
              <a:latin typeface="Noto Sans SC" pitchFamily="34" charset="0"/>
              <a:ea typeface="Noto Sans SC" pitchFamily="34" charset="-122"/>
              <a:cs typeface="Noto Sans SC" pitchFamily="34" charset="-120"/>
            </a:endParaRPr>
          </a:p>
        </p:txBody>
      </p:sp>
      <p:sp>
        <p:nvSpPr>
          <p:cNvPr id="103" name="Shape 101"/>
          <p:cNvSpPr/>
          <p:nvPr/>
        </p:nvSpPr>
        <p:spPr>
          <a:xfrm>
            <a:off x="6796735" y="5155540"/>
            <a:ext cx="1514246" cy="9144"/>
          </a:xfrm>
          <a:prstGeom prst="rect">
            <a:avLst/>
          </a:prstGeom>
          <a:solidFill>
            <a:srgbClr val="EDF2F7"/>
          </a:solidFill>
        </p:spPr>
      </p:sp>
      <p:sp>
        <p:nvSpPr>
          <p:cNvPr id="104" name="Shape 102"/>
          <p:cNvSpPr/>
          <p:nvPr/>
        </p:nvSpPr>
        <p:spPr>
          <a:xfrm>
            <a:off x="6796735" y="5489296"/>
            <a:ext cx="1514246" cy="9144"/>
          </a:xfrm>
          <a:prstGeom prst="rect">
            <a:avLst/>
          </a:prstGeom>
          <a:solidFill>
            <a:srgbClr val="EDF2F7"/>
          </a:solidFill>
        </p:spPr>
      </p:sp>
      <p:sp>
        <p:nvSpPr>
          <p:cNvPr id="105" name="Shape 103"/>
          <p:cNvSpPr/>
          <p:nvPr/>
        </p:nvSpPr>
        <p:spPr>
          <a:xfrm>
            <a:off x="6796735" y="5822137"/>
            <a:ext cx="1514246" cy="9144"/>
          </a:xfrm>
          <a:prstGeom prst="rect">
            <a:avLst/>
          </a:prstGeom>
          <a:solidFill>
            <a:srgbClr val="EDF2F7"/>
          </a:solidFill>
        </p:spPr>
      </p:sp>
      <p:sp>
        <p:nvSpPr>
          <p:cNvPr id="106" name="Shape 104"/>
          <p:cNvSpPr/>
          <p:nvPr/>
        </p:nvSpPr>
        <p:spPr>
          <a:xfrm>
            <a:off x="6796735" y="6155893"/>
            <a:ext cx="1514246" cy="9144"/>
          </a:xfrm>
          <a:prstGeom prst="rect">
            <a:avLst/>
          </a:prstGeom>
          <a:solidFill>
            <a:srgbClr val="EDF2F7"/>
          </a:solidFill>
        </p:spPr>
      </p:sp>
      <p:sp>
        <p:nvSpPr>
          <p:cNvPr id="107" name="Shape 105"/>
          <p:cNvSpPr/>
          <p:nvPr/>
        </p:nvSpPr>
        <p:spPr>
          <a:xfrm>
            <a:off x="6796735" y="7156247"/>
            <a:ext cx="1514246" cy="9144"/>
          </a:xfrm>
          <a:prstGeom prst="rect">
            <a:avLst/>
          </a:prstGeom>
          <a:solidFill>
            <a:srgbClr val="EDF2F7"/>
          </a:solidFill>
        </p:spPr>
      </p:sp>
      <p:sp>
        <p:nvSpPr>
          <p:cNvPr id="108" name="Shape 106"/>
          <p:cNvSpPr/>
          <p:nvPr/>
        </p:nvSpPr>
        <p:spPr>
          <a:xfrm>
            <a:off x="6796735" y="8155686"/>
            <a:ext cx="1514246" cy="9144"/>
          </a:xfrm>
          <a:prstGeom prst="rect">
            <a:avLst/>
          </a:prstGeom>
          <a:solidFill>
            <a:srgbClr val="EDF2F7"/>
          </a:solidFill>
        </p:spPr>
      </p:sp>
      <p:sp>
        <p:nvSpPr>
          <p:cNvPr id="109" name="Text 107"/>
          <p:cNvSpPr txBox="1"/>
          <p:nvPr/>
        </p:nvSpPr>
        <p:spPr>
          <a:xfrm>
            <a:off x="6873240" y="4850130"/>
            <a:ext cx="938530" cy="248920"/>
          </a:xfrm>
          <a:prstGeom prst="rect">
            <a:avLst/>
          </a:prstGeom>
          <a:noFill/>
        </p:spPr>
        <p:txBody>
          <a:bodyPr wrap="square" lIns="0" tIns="0" rIns="0" bIns="0" rtlCol="0" anchor="ctr"/>
          <a:lstStyle/>
          <a:p>
            <a:pPr marL="0" indent="0" algn="l">
              <a:buNone/>
            </a:pPr>
            <a:r>
              <a:rPr lang="en-US" sz="1600" b="1" dirty="0">
                <a:solidFill>
                  <a:srgbClr val="3182CE"/>
                </a:solidFill>
                <a:latin typeface="Noto Sans SC" pitchFamily="34" charset="0"/>
                <a:ea typeface="Noto Sans SC" pitchFamily="34" charset="-122"/>
                <a:cs typeface="Noto Sans SC" pitchFamily="34" charset="-120"/>
              </a:rPr>
              <a:t>已开启</a:t>
            </a:r>
            <a:endParaRPr lang="en-US" sz="1600" b="1" dirty="0">
              <a:solidFill>
                <a:srgbClr val="3182CE"/>
              </a:solidFill>
              <a:latin typeface="Noto Sans SC" pitchFamily="34" charset="0"/>
              <a:ea typeface="Noto Sans SC" pitchFamily="34" charset="-122"/>
              <a:cs typeface="Noto Sans SC" pitchFamily="34" charset="-120"/>
            </a:endParaRPr>
          </a:p>
        </p:txBody>
      </p:sp>
      <p:sp>
        <p:nvSpPr>
          <p:cNvPr id="110" name="Text 108"/>
          <p:cNvSpPr txBox="1"/>
          <p:nvPr/>
        </p:nvSpPr>
        <p:spPr>
          <a:xfrm>
            <a:off x="6873240" y="5184140"/>
            <a:ext cx="938530" cy="248920"/>
          </a:xfrm>
          <a:prstGeom prst="rect">
            <a:avLst/>
          </a:prstGeom>
          <a:noFill/>
        </p:spPr>
        <p:txBody>
          <a:bodyPr wrap="square" lIns="0" tIns="0" rIns="0" bIns="0" rtlCol="0" anchor="ctr"/>
          <a:lstStyle/>
          <a:p>
            <a:pPr marL="0" indent="0" algn="l">
              <a:buNone/>
            </a:pPr>
            <a:r>
              <a:rPr lang="en-US" sz="1600" b="1" dirty="0">
                <a:solidFill>
                  <a:srgbClr val="3182CE"/>
                </a:solidFill>
                <a:latin typeface="Noto Sans SC" pitchFamily="34" charset="0"/>
                <a:ea typeface="Noto Sans SC" pitchFamily="34" charset="-122"/>
                <a:cs typeface="Noto Sans SC" pitchFamily="34" charset="-120"/>
              </a:rPr>
              <a:t>已开启</a:t>
            </a:r>
            <a:endParaRPr lang="en-US" sz="1600" b="1" dirty="0">
              <a:solidFill>
                <a:srgbClr val="3182CE"/>
              </a:solidFill>
              <a:latin typeface="Noto Sans SC" pitchFamily="34" charset="0"/>
              <a:ea typeface="Noto Sans SC" pitchFamily="34" charset="-122"/>
              <a:cs typeface="Noto Sans SC" pitchFamily="34" charset="-120"/>
            </a:endParaRPr>
          </a:p>
        </p:txBody>
      </p:sp>
      <p:sp>
        <p:nvSpPr>
          <p:cNvPr id="111" name="Text 109"/>
          <p:cNvSpPr txBox="1"/>
          <p:nvPr/>
        </p:nvSpPr>
        <p:spPr>
          <a:xfrm>
            <a:off x="6873240" y="5516880"/>
            <a:ext cx="938530" cy="248920"/>
          </a:xfrm>
          <a:prstGeom prst="rect">
            <a:avLst/>
          </a:prstGeom>
          <a:noFill/>
        </p:spPr>
        <p:txBody>
          <a:bodyPr wrap="square" lIns="0" tIns="0" rIns="0" bIns="0" rtlCol="0" anchor="ctr"/>
          <a:lstStyle/>
          <a:p>
            <a:pPr marL="0" indent="0" algn="l">
              <a:buNone/>
            </a:pPr>
            <a:r>
              <a:rPr lang="en-US" sz="1600" b="1" dirty="0">
                <a:solidFill>
                  <a:srgbClr val="3182CE"/>
                </a:solidFill>
                <a:latin typeface="Noto Sans SC" pitchFamily="34" charset="0"/>
                <a:ea typeface="Noto Sans SC" pitchFamily="34" charset="-122"/>
                <a:cs typeface="Noto Sans SC" pitchFamily="34" charset="-120"/>
              </a:rPr>
              <a:t>已开启</a:t>
            </a:r>
            <a:endParaRPr lang="en-US" sz="1600" b="1" dirty="0">
              <a:solidFill>
                <a:srgbClr val="3182CE"/>
              </a:solidFill>
              <a:latin typeface="Noto Sans SC" pitchFamily="34" charset="0"/>
              <a:ea typeface="Noto Sans SC" pitchFamily="34" charset="-122"/>
              <a:cs typeface="Noto Sans SC" pitchFamily="34" charset="-120"/>
            </a:endParaRPr>
          </a:p>
        </p:txBody>
      </p:sp>
      <p:sp>
        <p:nvSpPr>
          <p:cNvPr id="112" name="Text 110"/>
          <p:cNvSpPr txBox="1"/>
          <p:nvPr/>
        </p:nvSpPr>
        <p:spPr>
          <a:xfrm>
            <a:off x="6873240" y="5850255"/>
            <a:ext cx="938530" cy="248920"/>
          </a:xfrm>
          <a:prstGeom prst="rect">
            <a:avLst/>
          </a:prstGeom>
          <a:noFill/>
        </p:spPr>
        <p:txBody>
          <a:bodyPr wrap="square" lIns="0" tIns="0" rIns="0" bIns="0" rtlCol="0" anchor="ctr"/>
          <a:lstStyle/>
          <a:p>
            <a:pPr marL="0" indent="0" algn="l">
              <a:buNone/>
            </a:pPr>
            <a:r>
              <a:rPr lang="en-US" sz="1600" b="1" dirty="0">
                <a:solidFill>
                  <a:srgbClr val="3182CE"/>
                </a:solidFill>
                <a:latin typeface="Noto Sans SC" pitchFamily="34" charset="0"/>
                <a:ea typeface="Noto Sans SC" pitchFamily="34" charset="-122"/>
                <a:cs typeface="Noto Sans SC" pitchFamily="34" charset="-120"/>
              </a:rPr>
              <a:t>已开启</a:t>
            </a:r>
            <a:endParaRPr lang="en-US" sz="1600" b="1" dirty="0">
              <a:solidFill>
                <a:srgbClr val="3182CE"/>
              </a:solidFill>
              <a:latin typeface="Noto Sans SC" pitchFamily="34" charset="0"/>
              <a:ea typeface="Noto Sans SC" pitchFamily="34" charset="-122"/>
              <a:cs typeface="Noto Sans SC" pitchFamily="34" charset="-120"/>
            </a:endParaRPr>
          </a:p>
        </p:txBody>
      </p:sp>
      <p:sp>
        <p:nvSpPr>
          <p:cNvPr id="113" name="Text 111"/>
          <p:cNvSpPr txBox="1"/>
          <p:nvPr/>
        </p:nvSpPr>
        <p:spPr>
          <a:xfrm>
            <a:off x="6873240" y="6851015"/>
            <a:ext cx="938530" cy="248920"/>
          </a:xfrm>
          <a:prstGeom prst="rect">
            <a:avLst/>
          </a:prstGeom>
          <a:noFill/>
        </p:spPr>
        <p:txBody>
          <a:bodyPr wrap="square" lIns="0" tIns="0" rIns="0" bIns="0" rtlCol="0" anchor="ctr"/>
          <a:lstStyle/>
          <a:p>
            <a:pPr marL="0" indent="0" algn="l">
              <a:buNone/>
            </a:pPr>
            <a:r>
              <a:rPr lang="en-US" sz="1600" b="1" dirty="0">
                <a:solidFill>
                  <a:srgbClr val="3182CE"/>
                </a:solidFill>
                <a:latin typeface="Noto Sans SC" pitchFamily="34" charset="0"/>
                <a:ea typeface="Noto Sans SC" pitchFamily="34" charset="-122"/>
                <a:cs typeface="Noto Sans SC" pitchFamily="34" charset="-120"/>
              </a:rPr>
              <a:t>已开启</a:t>
            </a:r>
            <a:endParaRPr lang="en-US" sz="1600" b="1" dirty="0">
              <a:solidFill>
                <a:srgbClr val="3182CE"/>
              </a:solidFill>
              <a:latin typeface="Noto Sans SC" pitchFamily="34" charset="0"/>
              <a:ea typeface="Noto Sans SC" pitchFamily="34" charset="-122"/>
              <a:cs typeface="Noto Sans SC" pitchFamily="34" charset="-120"/>
            </a:endParaRPr>
          </a:p>
        </p:txBody>
      </p:sp>
      <p:sp>
        <p:nvSpPr>
          <p:cNvPr id="114" name="Text 112"/>
          <p:cNvSpPr txBox="1"/>
          <p:nvPr/>
        </p:nvSpPr>
        <p:spPr>
          <a:xfrm>
            <a:off x="6873240" y="7850505"/>
            <a:ext cx="938530" cy="248920"/>
          </a:xfrm>
          <a:prstGeom prst="rect">
            <a:avLst/>
          </a:prstGeom>
          <a:noFill/>
        </p:spPr>
        <p:txBody>
          <a:bodyPr wrap="square" lIns="0" tIns="0" rIns="0" bIns="0" rtlCol="0" anchor="ctr"/>
          <a:lstStyle/>
          <a:p>
            <a:pPr marL="0" indent="0" algn="l">
              <a:buNone/>
            </a:pPr>
            <a:r>
              <a:rPr lang="en-US" sz="1600" b="1" dirty="0">
                <a:solidFill>
                  <a:srgbClr val="3182CE"/>
                </a:solidFill>
                <a:latin typeface="Noto Sans SC" pitchFamily="34" charset="0"/>
                <a:ea typeface="Noto Sans SC" pitchFamily="34" charset="-122"/>
                <a:cs typeface="Noto Sans SC" pitchFamily="34" charset="-120"/>
              </a:rPr>
              <a:t>已配置</a:t>
            </a:r>
            <a:endParaRPr lang="en-US" sz="1600" b="1" dirty="0">
              <a:solidFill>
                <a:srgbClr val="3182CE"/>
              </a:solidFill>
              <a:latin typeface="Noto Sans SC" pitchFamily="34" charset="0"/>
              <a:ea typeface="Noto Sans SC" pitchFamily="34" charset="-122"/>
              <a:cs typeface="Noto Sans SC" pitchFamily="34" charset="-120"/>
            </a:endParaRPr>
          </a:p>
        </p:txBody>
      </p:sp>
      <p:sp>
        <p:nvSpPr>
          <p:cNvPr id="115" name="Text 113"/>
          <p:cNvSpPr txBox="1"/>
          <p:nvPr/>
        </p:nvSpPr>
        <p:spPr>
          <a:xfrm>
            <a:off x="6873240" y="8183880"/>
            <a:ext cx="938530" cy="248920"/>
          </a:xfrm>
          <a:prstGeom prst="rect">
            <a:avLst/>
          </a:prstGeom>
          <a:noFill/>
        </p:spPr>
        <p:txBody>
          <a:bodyPr wrap="square" lIns="0" tIns="0" rIns="0" bIns="0" rtlCol="0" anchor="ctr"/>
          <a:lstStyle/>
          <a:p>
            <a:pPr marL="0" indent="0" algn="l">
              <a:buNone/>
            </a:pPr>
            <a:r>
              <a:rPr lang="en-US" sz="1600" b="1" dirty="0">
                <a:solidFill>
                  <a:srgbClr val="3182CE"/>
                </a:solidFill>
                <a:latin typeface="Noto Sans SC" pitchFamily="34" charset="0"/>
                <a:ea typeface="Noto Sans SC" pitchFamily="34" charset="-122"/>
                <a:cs typeface="Noto Sans SC" pitchFamily="34" charset="-120"/>
              </a:rPr>
              <a:t>已配置</a:t>
            </a:r>
            <a:endParaRPr lang="en-US" sz="1600" b="1" dirty="0">
              <a:solidFill>
                <a:srgbClr val="3182CE"/>
              </a:solidFill>
              <a:latin typeface="Noto Sans SC" pitchFamily="34" charset="0"/>
              <a:ea typeface="Noto Sans SC" pitchFamily="34" charset="-122"/>
              <a:cs typeface="Noto Sans SC" pitchFamily="34" charset="-120"/>
            </a:endParaRPr>
          </a:p>
        </p:txBody>
      </p:sp>
      <p:sp>
        <p:nvSpPr>
          <p:cNvPr id="116" name="Text 114"/>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76656"/>
            <a:ext cx="5306263"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威胁管理 / 威胁情报推送</a:t>
            </a:r>
            <a:endParaRPr lang="en-US" sz="3600" dirty="0"/>
          </a:p>
        </p:txBody>
      </p:sp>
      <p:sp>
        <p:nvSpPr>
          <p:cNvPr id="5" name="Shape 3"/>
          <p:cNvSpPr/>
          <p:nvPr/>
        </p:nvSpPr>
        <p:spPr>
          <a:xfrm>
            <a:off x="761695" y="1505102"/>
            <a:ext cx="914400" cy="38405"/>
          </a:xfrm>
          <a:prstGeom prst="rect">
            <a:avLst/>
          </a:prstGeom>
          <a:solidFill>
            <a:srgbClr val="0A4275"/>
          </a:solidFill>
        </p:spPr>
      </p:sp>
      <p:sp>
        <p:nvSpPr>
          <p:cNvPr id="6" name="Shape 4"/>
          <p:cNvSpPr/>
          <p:nvPr/>
        </p:nvSpPr>
        <p:spPr>
          <a:xfrm>
            <a:off x="762000" y="2000885"/>
            <a:ext cx="16764000" cy="5702935"/>
          </a:xfrm>
          <a:prstGeom prst="roundRect">
            <a:avLst>
              <a:gd name="adj" fmla="val 547"/>
            </a:avLst>
          </a:prstGeom>
          <a:solidFill>
            <a:srgbClr val="0A4275">
              <a:alpha val="6000"/>
            </a:srgbClr>
          </a:solidFill>
        </p:spPr>
      </p:sp>
      <p:sp>
        <p:nvSpPr>
          <p:cNvPr id="7" name="Text 5"/>
          <p:cNvSpPr txBox="1"/>
          <p:nvPr/>
        </p:nvSpPr>
        <p:spPr>
          <a:xfrm>
            <a:off x="2840126" y="2581351"/>
            <a:ext cx="1038758" cy="771754"/>
          </a:xfrm>
          <a:prstGeom prst="rect">
            <a:avLst/>
          </a:prstGeom>
          <a:noFill/>
        </p:spPr>
        <p:txBody>
          <a:bodyPr wrap="square" lIns="0" tIns="0" rIns="0" bIns="0" rtlCol="0" anchor="ctr"/>
          <a:lstStyle/>
          <a:p>
            <a:pPr marL="0" indent="0" algn="ctr">
              <a:buNone/>
            </a:pPr>
            <a:r>
              <a:rPr lang="en-US" sz="4200" b="1" dirty="0">
                <a:solidFill>
                  <a:srgbClr val="0A4275"/>
                </a:solidFill>
                <a:latin typeface="Noto Sans SC" pitchFamily="34" charset="0"/>
                <a:ea typeface="Noto Sans SC" pitchFamily="34" charset="-122"/>
                <a:cs typeface="Noto Sans SC" pitchFamily="34" charset="-120"/>
              </a:rPr>
              <a:t>67</a:t>
            </a:r>
            <a:endParaRPr lang="en-US" sz="4200" dirty="0"/>
          </a:p>
        </p:txBody>
      </p:sp>
      <p:sp>
        <p:nvSpPr>
          <p:cNvPr id="8" name="Text 6"/>
          <p:cNvSpPr txBox="1"/>
          <p:nvPr/>
        </p:nvSpPr>
        <p:spPr>
          <a:xfrm>
            <a:off x="6959498" y="2581351"/>
            <a:ext cx="1038758" cy="771754"/>
          </a:xfrm>
          <a:prstGeom prst="rect">
            <a:avLst/>
          </a:prstGeom>
          <a:noFill/>
        </p:spPr>
        <p:txBody>
          <a:bodyPr wrap="square" lIns="0" tIns="0" rIns="0" bIns="0" rtlCol="0" anchor="ctr"/>
          <a:lstStyle/>
          <a:p>
            <a:pPr marL="0" indent="0" algn="ctr">
              <a:buNone/>
            </a:pPr>
            <a:r>
              <a:rPr lang="en-US" sz="4200" b="1" dirty="0">
                <a:solidFill>
                  <a:srgbClr val="0A4275"/>
                </a:solidFill>
                <a:latin typeface="Noto Sans SC" pitchFamily="34" charset="0"/>
                <a:ea typeface="Noto Sans SC" pitchFamily="34" charset="-122"/>
                <a:cs typeface="Noto Sans SC" pitchFamily="34" charset="-120"/>
              </a:rPr>
              <a:t>55</a:t>
            </a:r>
            <a:endParaRPr lang="en-US" sz="4200" dirty="0"/>
          </a:p>
        </p:txBody>
      </p:sp>
      <p:sp>
        <p:nvSpPr>
          <p:cNvPr id="9" name="Text 7"/>
          <p:cNvSpPr txBox="1"/>
          <p:nvPr/>
        </p:nvSpPr>
        <p:spPr>
          <a:xfrm>
            <a:off x="10888675" y="2581351"/>
            <a:ext cx="1038758" cy="771754"/>
          </a:xfrm>
          <a:prstGeom prst="rect">
            <a:avLst/>
          </a:prstGeom>
          <a:noFill/>
        </p:spPr>
        <p:txBody>
          <a:bodyPr wrap="square" lIns="0" tIns="0" rIns="0" bIns="0" rtlCol="0" anchor="ctr"/>
          <a:lstStyle/>
          <a:p>
            <a:pPr marL="0" indent="0" algn="ctr">
              <a:buNone/>
            </a:pPr>
            <a:r>
              <a:rPr lang="en-US" sz="4200" b="1" dirty="0">
                <a:solidFill>
                  <a:srgbClr val="0A4275"/>
                </a:solidFill>
                <a:latin typeface="Noto Sans SC" pitchFamily="34" charset="0"/>
                <a:ea typeface="Noto Sans SC" pitchFamily="34" charset="-122"/>
                <a:cs typeface="Noto Sans SC" pitchFamily="34" charset="-120"/>
              </a:rPr>
              <a:t>12</a:t>
            </a:r>
            <a:endParaRPr lang="en-US" sz="4200" dirty="0"/>
          </a:p>
        </p:txBody>
      </p:sp>
      <p:sp>
        <p:nvSpPr>
          <p:cNvPr id="10" name="Text 8"/>
          <p:cNvSpPr txBox="1"/>
          <p:nvPr/>
        </p:nvSpPr>
        <p:spPr>
          <a:xfrm>
            <a:off x="15070226" y="2581351"/>
            <a:ext cx="724205" cy="771754"/>
          </a:xfrm>
          <a:prstGeom prst="rect">
            <a:avLst/>
          </a:prstGeom>
          <a:noFill/>
        </p:spPr>
        <p:txBody>
          <a:bodyPr wrap="square" lIns="0" tIns="0" rIns="0" bIns="0" rtlCol="0" anchor="ctr"/>
          <a:lstStyle/>
          <a:p>
            <a:pPr marL="0" indent="0" algn="ctr">
              <a:buNone/>
            </a:pPr>
            <a:r>
              <a:rPr lang="en-US" sz="4200" b="1" dirty="0">
                <a:solidFill>
                  <a:srgbClr val="0A4275"/>
                </a:solidFill>
                <a:latin typeface="Noto Sans SC" pitchFamily="34" charset="0"/>
                <a:ea typeface="Noto Sans SC" pitchFamily="34" charset="-122"/>
                <a:cs typeface="Noto Sans SC" pitchFamily="34" charset="-120"/>
              </a:rPr>
              <a:t>9</a:t>
            </a:r>
            <a:endParaRPr lang="en-US" sz="4200" dirty="0"/>
          </a:p>
        </p:txBody>
      </p:sp>
      <p:sp>
        <p:nvSpPr>
          <p:cNvPr id="11" name="Text 9"/>
          <p:cNvSpPr txBox="1"/>
          <p:nvPr/>
        </p:nvSpPr>
        <p:spPr>
          <a:xfrm>
            <a:off x="2392985" y="3448202"/>
            <a:ext cx="1666951"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全年威胁情报推送</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2" name="Text 10"/>
          <p:cNvSpPr txBox="1"/>
          <p:nvPr/>
        </p:nvSpPr>
        <p:spPr>
          <a:xfrm>
            <a:off x="6703466" y="3448202"/>
            <a:ext cx="1286561"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紧急漏洞通报</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3" name="Text 11"/>
          <p:cNvSpPr txBox="1"/>
          <p:nvPr/>
        </p:nvSpPr>
        <p:spPr>
          <a:xfrm>
            <a:off x="10632643" y="3448202"/>
            <a:ext cx="1286561"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威胁狩猎通报</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4" name="Text 12"/>
          <p:cNvSpPr txBox="1"/>
          <p:nvPr/>
        </p:nvSpPr>
        <p:spPr>
          <a:xfrm>
            <a:off x="14560906" y="3448202"/>
            <a:ext cx="1476756"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可防护漏洞数量</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15" name="Image 0" descr="preencoded.png"/>
          <p:cNvPicPr>
            <a:picLocks noChangeAspect="1"/>
          </p:cNvPicPr>
          <p:nvPr/>
        </p:nvPicPr>
        <p:blipFill>
          <a:blip r:embed="rId1"/>
          <a:srcRect/>
          <a:stretch>
            <a:fillRect/>
          </a:stretch>
        </p:blipFill>
        <p:spPr>
          <a:xfrm>
            <a:off x="1000354" y="4127602"/>
            <a:ext cx="304495" cy="304495"/>
          </a:xfrm>
          <a:prstGeom prst="rect">
            <a:avLst/>
          </a:prstGeom>
        </p:spPr>
      </p:pic>
      <p:sp>
        <p:nvSpPr>
          <p:cNvPr id="16" name="Text 13"/>
          <p:cNvSpPr txBox="1"/>
          <p:nvPr/>
        </p:nvSpPr>
        <p:spPr>
          <a:xfrm>
            <a:off x="1447495" y="4067251"/>
            <a:ext cx="2343607" cy="428854"/>
          </a:xfrm>
          <a:prstGeom prst="rect">
            <a:avLst/>
          </a:prstGeom>
          <a:noFill/>
        </p:spPr>
        <p:txBody>
          <a:bodyPr wrap="square" lIns="0" tIns="0" rIns="0" bIns="0" rtlCol="0" anchor="ctr"/>
          <a:lstStyle/>
          <a:p>
            <a:pPr marL="0" indent="0" algn="l">
              <a:buNone/>
            </a:pPr>
            <a:r>
              <a:rPr lang="en-US" sz="2100" b="1" dirty="0">
                <a:solidFill>
                  <a:srgbClr val="0A4275"/>
                </a:solidFill>
                <a:latin typeface="Noto Sans SC" pitchFamily="34" charset="0"/>
                <a:ea typeface="Noto Sans SC" pitchFamily="34" charset="-122"/>
                <a:cs typeface="Noto Sans SC" pitchFamily="34" charset="-120"/>
              </a:rPr>
              <a:t>威胁情报推送概述</a:t>
            </a:r>
            <a:endParaRPr lang="en-US" sz="2100" dirty="0"/>
          </a:p>
        </p:txBody>
      </p:sp>
      <p:sp>
        <p:nvSpPr>
          <p:cNvPr id="17" name="Text 14"/>
          <p:cNvSpPr txBox="1"/>
          <p:nvPr/>
        </p:nvSpPr>
        <p:spPr>
          <a:xfrm>
            <a:off x="1000125" y="4674235"/>
            <a:ext cx="16050260" cy="74930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全年运营期间推送威胁情报67次（威胁通告来源于深信服威胁情报中心），其中包含55个紧急漏洞、12个威胁狩猎通告。深信服安全设备可直接防护9个紧急漏洞，有效阻断相关攻击向量。</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8" name="Text 15"/>
          <p:cNvSpPr txBox="1"/>
          <p:nvPr/>
        </p:nvSpPr>
        <p:spPr>
          <a:xfrm>
            <a:off x="1000125" y="5451475"/>
            <a:ext cx="16049625" cy="53403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针对检测到的威胁情报，安全运营中心均进行了实时分析与评估，及时将相关风险通报到医院IT安全部门，协助完成相应的排查与防护工作，确保了医院网络环境的安全稳定。</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9" name="Shape 16"/>
          <p:cNvSpPr/>
          <p:nvPr/>
        </p:nvSpPr>
        <p:spPr>
          <a:xfrm>
            <a:off x="1000354" y="6301257"/>
            <a:ext cx="16288207" cy="1143000"/>
          </a:xfrm>
          <a:prstGeom prst="roundRect">
            <a:avLst>
              <a:gd name="adj" fmla="val 6667"/>
            </a:avLst>
          </a:prstGeom>
          <a:solidFill>
            <a:srgbClr val="0A4275">
              <a:alpha val="10000"/>
            </a:srgbClr>
          </a:solidFill>
        </p:spPr>
      </p:sp>
      <p:sp>
        <p:nvSpPr>
          <p:cNvPr id="20" name="Text 17"/>
          <p:cNvSpPr txBox="1"/>
          <p:nvPr/>
        </p:nvSpPr>
        <p:spPr>
          <a:xfrm>
            <a:off x="1285646" y="6491453"/>
            <a:ext cx="1086307"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服务价值</a:t>
            </a:r>
            <a:endParaRPr lang="en-US" sz="1800" dirty="0"/>
          </a:p>
        </p:txBody>
      </p:sp>
      <p:sp>
        <p:nvSpPr>
          <p:cNvPr id="21" name="Text 18"/>
          <p:cNvSpPr txBox="1"/>
          <p:nvPr/>
        </p:nvSpPr>
        <p:spPr>
          <a:xfrm>
            <a:off x="1285646" y="6958711"/>
            <a:ext cx="15764256"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第一时间获取业内最新的安全威胁信息，安全专家提供专业的检测和应对方案，提高组织应对最新威胁的能力。深信服安全服务团队持续追踪通告漏洞，及时推送最新的进展和响应举措。</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2" name="Text 19"/>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562356"/>
            <a:ext cx="4391863"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事件管理 / 整体概况</a:t>
            </a:r>
            <a:endParaRPr lang="en-US" sz="3600" dirty="0"/>
          </a:p>
        </p:txBody>
      </p:sp>
      <p:sp>
        <p:nvSpPr>
          <p:cNvPr id="5" name="Shape 3"/>
          <p:cNvSpPr/>
          <p:nvPr/>
        </p:nvSpPr>
        <p:spPr>
          <a:xfrm>
            <a:off x="761695" y="1276502"/>
            <a:ext cx="914400" cy="38405"/>
          </a:xfrm>
          <a:prstGeom prst="rect">
            <a:avLst/>
          </a:prstGeom>
          <a:solidFill>
            <a:srgbClr val="0A4275"/>
          </a:solidFill>
        </p:spPr>
      </p:sp>
      <p:sp>
        <p:nvSpPr>
          <p:cNvPr id="6" name="Shape 4"/>
          <p:cNvSpPr/>
          <p:nvPr/>
        </p:nvSpPr>
        <p:spPr>
          <a:xfrm>
            <a:off x="761695" y="1619402"/>
            <a:ext cx="4019702" cy="1714500"/>
          </a:xfrm>
          <a:prstGeom prst="roundRect">
            <a:avLst>
              <a:gd name="adj" fmla="val 4741"/>
            </a:avLst>
          </a:prstGeom>
          <a:solidFill>
            <a:srgbClr val="0A4275">
              <a:alpha val="6000"/>
            </a:srgbClr>
          </a:solidFill>
        </p:spPr>
      </p:sp>
      <p:sp>
        <p:nvSpPr>
          <p:cNvPr id="7" name="Shape 5"/>
          <p:cNvSpPr/>
          <p:nvPr/>
        </p:nvSpPr>
        <p:spPr>
          <a:xfrm>
            <a:off x="5009998" y="1619402"/>
            <a:ext cx="4019702" cy="1714500"/>
          </a:xfrm>
          <a:prstGeom prst="roundRect">
            <a:avLst>
              <a:gd name="adj" fmla="val 4741"/>
            </a:avLst>
          </a:prstGeom>
          <a:solidFill>
            <a:srgbClr val="0A4275">
              <a:alpha val="6000"/>
            </a:srgbClr>
          </a:solidFill>
        </p:spPr>
      </p:sp>
      <p:sp>
        <p:nvSpPr>
          <p:cNvPr id="8" name="Shape 6"/>
          <p:cNvSpPr/>
          <p:nvPr/>
        </p:nvSpPr>
        <p:spPr>
          <a:xfrm>
            <a:off x="9258300" y="1619402"/>
            <a:ext cx="4019702" cy="1714500"/>
          </a:xfrm>
          <a:prstGeom prst="roundRect">
            <a:avLst>
              <a:gd name="adj" fmla="val 4741"/>
            </a:avLst>
          </a:prstGeom>
          <a:solidFill>
            <a:srgbClr val="0A4275">
              <a:alpha val="6000"/>
            </a:srgbClr>
          </a:solidFill>
        </p:spPr>
      </p:sp>
      <p:sp>
        <p:nvSpPr>
          <p:cNvPr id="9" name="Shape 7"/>
          <p:cNvSpPr/>
          <p:nvPr/>
        </p:nvSpPr>
        <p:spPr>
          <a:xfrm>
            <a:off x="13506602" y="1619402"/>
            <a:ext cx="4019702" cy="1714500"/>
          </a:xfrm>
          <a:prstGeom prst="roundRect">
            <a:avLst>
              <a:gd name="adj" fmla="val 4741"/>
            </a:avLst>
          </a:prstGeom>
          <a:solidFill>
            <a:srgbClr val="0A4275">
              <a:alpha val="6000"/>
            </a:srgbClr>
          </a:solidFill>
        </p:spPr>
      </p:sp>
      <p:sp>
        <p:nvSpPr>
          <p:cNvPr id="10" name="Text 8"/>
          <p:cNvSpPr txBox="1"/>
          <p:nvPr/>
        </p:nvSpPr>
        <p:spPr>
          <a:xfrm>
            <a:off x="2326081" y="2005279"/>
            <a:ext cx="776326" cy="581558"/>
          </a:xfrm>
          <a:prstGeom prst="rect">
            <a:avLst/>
          </a:prstGeom>
          <a:noFill/>
        </p:spPr>
        <p:txBody>
          <a:bodyPr wrap="square" lIns="0" tIns="0" rIns="0" bIns="0" rtlCol="0" anchor="ctr"/>
          <a:lstStyle/>
          <a:p>
            <a:pPr marL="0" indent="0" algn="ctr">
              <a:buNone/>
            </a:pPr>
            <a:r>
              <a:rPr lang="en-US" sz="3100" b="1" dirty="0">
                <a:solidFill>
                  <a:srgbClr val="0A4275"/>
                </a:solidFill>
                <a:latin typeface="Noto Sans SC" pitchFamily="34" charset="0"/>
                <a:ea typeface="Noto Sans SC" pitchFamily="34" charset="-122"/>
                <a:cs typeface="Noto Sans SC" pitchFamily="34" charset="-120"/>
              </a:rPr>
              <a:t>94</a:t>
            </a:r>
            <a:endParaRPr lang="en-US" sz="3100" dirty="0"/>
          </a:p>
        </p:txBody>
      </p:sp>
      <p:sp>
        <p:nvSpPr>
          <p:cNvPr id="11" name="Text 9"/>
          <p:cNvSpPr txBox="1"/>
          <p:nvPr/>
        </p:nvSpPr>
        <p:spPr>
          <a:xfrm>
            <a:off x="6361278" y="2005279"/>
            <a:ext cx="1396289" cy="581558"/>
          </a:xfrm>
          <a:prstGeom prst="rect">
            <a:avLst/>
          </a:prstGeom>
          <a:noFill/>
        </p:spPr>
        <p:txBody>
          <a:bodyPr wrap="square" lIns="0" tIns="0" rIns="0" bIns="0" rtlCol="0" anchor="ctr"/>
          <a:lstStyle/>
          <a:p>
            <a:pPr marL="0" indent="0" algn="ctr">
              <a:buNone/>
            </a:pPr>
            <a:r>
              <a:rPr lang="en-US" sz="3100" b="1" dirty="0">
                <a:solidFill>
                  <a:srgbClr val="0A4275"/>
                </a:solidFill>
                <a:latin typeface="Noto Sans SC" pitchFamily="34" charset="0"/>
                <a:ea typeface="Noto Sans SC" pitchFamily="34" charset="-122"/>
                <a:cs typeface="Noto Sans SC" pitchFamily="34" charset="-120"/>
              </a:rPr>
              <a:t>100%</a:t>
            </a:r>
            <a:endParaRPr lang="en-US" sz="3100" dirty="0"/>
          </a:p>
        </p:txBody>
      </p:sp>
      <p:sp>
        <p:nvSpPr>
          <p:cNvPr id="12" name="Text 10"/>
          <p:cNvSpPr txBox="1"/>
          <p:nvPr/>
        </p:nvSpPr>
        <p:spPr>
          <a:xfrm>
            <a:off x="10492029" y="2005279"/>
            <a:ext cx="1576426" cy="581558"/>
          </a:xfrm>
          <a:prstGeom prst="rect">
            <a:avLst/>
          </a:prstGeom>
          <a:noFill/>
        </p:spPr>
        <p:txBody>
          <a:bodyPr wrap="square" lIns="0" tIns="0" rIns="0" bIns="0" rtlCol="0" anchor="ctr"/>
          <a:lstStyle/>
          <a:p>
            <a:pPr marL="0" indent="0" algn="ctr">
              <a:buNone/>
            </a:pPr>
            <a:r>
              <a:rPr lang="en-US" sz="3100" b="1" dirty="0">
                <a:solidFill>
                  <a:srgbClr val="0A4275"/>
                </a:solidFill>
                <a:latin typeface="Noto Sans SC" pitchFamily="34" charset="0"/>
                <a:ea typeface="Noto Sans SC" pitchFamily="34" charset="-122"/>
                <a:cs typeface="Noto Sans SC" pitchFamily="34" charset="-120"/>
              </a:rPr>
              <a:t>10分钟</a:t>
            </a:r>
            <a:endParaRPr lang="en-US" sz="3100" dirty="0"/>
          </a:p>
        </p:txBody>
      </p:sp>
      <p:sp>
        <p:nvSpPr>
          <p:cNvPr id="13" name="Text 11"/>
          <p:cNvSpPr txBox="1"/>
          <p:nvPr/>
        </p:nvSpPr>
        <p:spPr>
          <a:xfrm>
            <a:off x="14843912" y="2005279"/>
            <a:ext cx="1396289" cy="581558"/>
          </a:xfrm>
          <a:prstGeom prst="rect">
            <a:avLst/>
          </a:prstGeom>
          <a:noFill/>
        </p:spPr>
        <p:txBody>
          <a:bodyPr wrap="square" lIns="0" tIns="0" rIns="0" bIns="0" rtlCol="0" anchor="ctr"/>
          <a:lstStyle/>
          <a:p>
            <a:pPr marL="0" indent="0" algn="ctr">
              <a:buNone/>
            </a:pPr>
            <a:r>
              <a:rPr lang="en-US" sz="3100" b="1" dirty="0">
                <a:solidFill>
                  <a:srgbClr val="0A4275"/>
                </a:solidFill>
                <a:latin typeface="Noto Sans SC" pitchFamily="34" charset="0"/>
                <a:ea typeface="Noto Sans SC" pitchFamily="34" charset="-122"/>
                <a:cs typeface="Noto Sans SC" pitchFamily="34" charset="-120"/>
              </a:rPr>
              <a:t>100%</a:t>
            </a:r>
            <a:endParaRPr lang="en-US" sz="3100" dirty="0"/>
          </a:p>
        </p:txBody>
      </p:sp>
      <p:sp>
        <p:nvSpPr>
          <p:cNvPr id="14" name="Text 12"/>
          <p:cNvSpPr txBox="1"/>
          <p:nvPr/>
        </p:nvSpPr>
        <p:spPr>
          <a:xfrm>
            <a:off x="2074316" y="2671877"/>
            <a:ext cx="1286561"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全年安全事件</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5" name="Text 13"/>
          <p:cNvSpPr txBox="1"/>
          <p:nvPr/>
        </p:nvSpPr>
        <p:spPr>
          <a:xfrm>
            <a:off x="6459626" y="2671877"/>
            <a:ext cx="1095451"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事件闭环率</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6" name="Text 14"/>
          <p:cNvSpPr txBox="1"/>
          <p:nvPr/>
        </p:nvSpPr>
        <p:spPr>
          <a:xfrm>
            <a:off x="10612831" y="2671877"/>
            <a:ext cx="1286561"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平均响应时间</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7" name="Text 15"/>
          <p:cNvSpPr txBox="1"/>
          <p:nvPr/>
        </p:nvSpPr>
        <p:spPr>
          <a:xfrm>
            <a:off x="14970201" y="2671877"/>
            <a:ext cx="1095451" cy="277063"/>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响应及时率</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8" name="Text 16"/>
          <p:cNvSpPr txBox="1"/>
          <p:nvPr/>
        </p:nvSpPr>
        <p:spPr>
          <a:xfrm>
            <a:off x="761695" y="3524098"/>
            <a:ext cx="1929384" cy="419710"/>
          </a:xfrm>
          <a:prstGeom prst="rect">
            <a:avLst/>
          </a:prstGeom>
          <a:noFill/>
        </p:spPr>
        <p:txBody>
          <a:bodyPr wrap="square" lIns="0" tIns="0" rIns="0" bIns="0" rtlCol="0" anchor="ctr"/>
          <a:lstStyle/>
          <a:p>
            <a:pPr marL="0" indent="0" algn="l">
              <a:buNone/>
            </a:pPr>
            <a:r>
              <a:rPr lang="en-US" sz="2200" b="1" dirty="0">
                <a:solidFill>
                  <a:srgbClr val="0A4275"/>
                </a:solidFill>
                <a:latin typeface="Noto Sans SC" pitchFamily="34" charset="0"/>
                <a:ea typeface="Noto Sans SC" pitchFamily="34" charset="-122"/>
                <a:cs typeface="Noto Sans SC" pitchFamily="34" charset="-120"/>
              </a:rPr>
              <a:t>事件分布情况</a:t>
            </a:r>
            <a:endParaRPr lang="en-US" sz="2200" dirty="0"/>
          </a:p>
        </p:txBody>
      </p:sp>
      <p:pic>
        <p:nvPicPr>
          <p:cNvPr id="19" name="Image 0" descr="preencoded.png"/>
          <p:cNvPicPr>
            <a:picLocks noChangeAspect="1"/>
          </p:cNvPicPr>
          <p:nvPr/>
        </p:nvPicPr>
        <p:blipFill>
          <a:blip r:embed="rId1"/>
          <a:srcRect l="-7123" r="-7123"/>
          <a:stretch>
            <a:fillRect/>
          </a:stretch>
        </p:blipFill>
        <p:spPr>
          <a:xfrm>
            <a:off x="761695" y="4105656"/>
            <a:ext cx="381305" cy="267005"/>
          </a:xfrm>
          <a:prstGeom prst="rect">
            <a:avLst/>
          </a:prstGeom>
        </p:spPr>
      </p:pic>
      <p:sp>
        <p:nvSpPr>
          <p:cNvPr id="20" name="Text 17"/>
          <p:cNvSpPr txBox="1"/>
          <p:nvPr/>
        </p:nvSpPr>
        <p:spPr>
          <a:xfrm>
            <a:off x="1314907" y="4095598"/>
            <a:ext cx="3381451"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服务内资产安全事件：88起（93.6%）</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21" name="Image 1" descr="preencoded.png"/>
          <p:cNvPicPr>
            <a:picLocks noChangeAspect="1"/>
          </p:cNvPicPr>
          <p:nvPr/>
        </p:nvPicPr>
        <p:blipFill>
          <a:blip r:embed="rId2"/>
          <a:srcRect l="-13470" r="-13470"/>
          <a:stretch>
            <a:fillRect/>
          </a:stretch>
        </p:blipFill>
        <p:spPr>
          <a:xfrm>
            <a:off x="761695" y="4562856"/>
            <a:ext cx="381305" cy="267005"/>
          </a:xfrm>
          <a:prstGeom prst="rect">
            <a:avLst/>
          </a:prstGeom>
        </p:spPr>
      </p:pic>
      <p:sp>
        <p:nvSpPr>
          <p:cNvPr id="22" name="Text 18"/>
          <p:cNvSpPr txBox="1"/>
          <p:nvPr/>
        </p:nvSpPr>
        <p:spPr>
          <a:xfrm>
            <a:off x="9296705" y="3524098"/>
            <a:ext cx="1929384" cy="419710"/>
          </a:xfrm>
          <a:prstGeom prst="rect">
            <a:avLst/>
          </a:prstGeom>
          <a:noFill/>
        </p:spPr>
        <p:txBody>
          <a:bodyPr wrap="square" lIns="0" tIns="0" rIns="0" bIns="0" rtlCol="0" anchor="ctr"/>
          <a:lstStyle/>
          <a:p>
            <a:pPr marL="0" indent="0" algn="l">
              <a:buNone/>
            </a:pPr>
            <a:r>
              <a:rPr lang="en-US" sz="2200" b="1" dirty="0">
                <a:solidFill>
                  <a:srgbClr val="0A4275"/>
                </a:solidFill>
                <a:latin typeface="Noto Sans SC" pitchFamily="34" charset="0"/>
                <a:ea typeface="Noto Sans SC" pitchFamily="34" charset="-122"/>
                <a:cs typeface="Noto Sans SC" pitchFamily="34" charset="-120"/>
              </a:rPr>
              <a:t>事件风险等级</a:t>
            </a:r>
            <a:endParaRPr lang="en-US" sz="2200" dirty="0"/>
          </a:p>
        </p:txBody>
      </p:sp>
      <p:sp>
        <p:nvSpPr>
          <p:cNvPr id="23" name="Text 19"/>
          <p:cNvSpPr txBox="1"/>
          <p:nvPr/>
        </p:nvSpPr>
        <p:spPr>
          <a:xfrm>
            <a:off x="1314907" y="4552798"/>
            <a:ext cx="3172054"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服务外资产安全事件：6起（6.4%）</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24" name="Image 2" descr="preencoded.png"/>
          <p:cNvPicPr>
            <a:picLocks noChangeAspect="1"/>
          </p:cNvPicPr>
          <p:nvPr/>
        </p:nvPicPr>
        <p:blipFill>
          <a:blip r:embed="rId3"/>
          <a:srcRect l="-21404" r="-21404"/>
          <a:stretch>
            <a:fillRect/>
          </a:stretch>
        </p:blipFill>
        <p:spPr>
          <a:xfrm>
            <a:off x="9296705" y="4105656"/>
            <a:ext cx="381305" cy="267005"/>
          </a:xfrm>
          <a:prstGeom prst="rect">
            <a:avLst/>
          </a:prstGeom>
        </p:spPr>
      </p:pic>
      <p:sp>
        <p:nvSpPr>
          <p:cNvPr id="25" name="Text 20"/>
          <p:cNvSpPr txBox="1"/>
          <p:nvPr/>
        </p:nvSpPr>
        <p:spPr>
          <a:xfrm>
            <a:off x="9849002" y="4095598"/>
            <a:ext cx="1400861"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严重事件：0起</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26" name="Image 3" descr="preencoded.png"/>
          <p:cNvPicPr>
            <a:picLocks noChangeAspect="1"/>
          </p:cNvPicPr>
          <p:nvPr/>
        </p:nvPicPr>
        <p:blipFill>
          <a:blip r:embed="rId4"/>
          <a:srcRect l="-21404" r="-21404"/>
          <a:stretch>
            <a:fillRect/>
          </a:stretch>
        </p:blipFill>
        <p:spPr>
          <a:xfrm>
            <a:off x="9296705" y="4562856"/>
            <a:ext cx="381305" cy="267005"/>
          </a:xfrm>
          <a:prstGeom prst="rect">
            <a:avLst/>
          </a:prstGeom>
        </p:spPr>
      </p:pic>
      <p:sp>
        <p:nvSpPr>
          <p:cNvPr id="27" name="Text 21"/>
          <p:cNvSpPr txBox="1"/>
          <p:nvPr/>
        </p:nvSpPr>
        <p:spPr>
          <a:xfrm>
            <a:off x="9849002" y="4552798"/>
            <a:ext cx="1400861"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高危事件：0起</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28" name="Image 4" descr="preencoded.png"/>
          <p:cNvPicPr>
            <a:picLocks noChangeAspect="1"/>
          </p:cNvPicPr>
          <p:nvPr/>
        </p:nvPicPr>
        <p:blipFill>
          <a:blip r:embed="rId5"/>
          <a:srcRect l="-21404" r="-21404"/>
          <a:stretch>
            <a:fillRect/>
          </a:stretch>
        </p:blipFill>
        <p:spPr>
          <a:xfrm>
            <a:off x="9296705" y="5020056"/>
            <a:ext cx="381305" cy="267005"/>
          </a:xfrm>
          <a:prstGeom prst="rect">
            <a:avLst/>
          </a:prstGeom>
        </p:spPr>
      </p:pic>
      <p:sp>
        <p:nvSpPr>
          <p:cNvPr id="29" name="Text 22"/>
          <p:cNvSpPr txBox="1"/>
          <p:nvPr/>
        </p:nvSpPr>
        <p:spPr>
          <a:xfrm>
            <a:off x="9849002" y="5009998"/>
            <a:ext cx="2563063" cy="277063"/>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中低危事件：94起（100%）</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30" name="Shape 23"/>
          <p:cNvSpPr/>
          <p:nvPr/>
        </p:nvSpPr>
        <p:spPr>
          <a:xfrm>
            <a:off x="761695" y="5619902"/>
            <a:ext cx="16763695" cy="2562149"/>
          </a:xfrm>
          <a:prstGeom prst="roundRect">
            <a:avLst>
              <a:gd name="adj" fmla="val 2123"/>
            </a:avLst>
          </a:prstGeom>
          <a:solidFill>
            <a:srgbClr val="DC3545">
              <a:alpha val="8000"/>
            </a:srgbClr>
          </a:solidFill>
        </p:spPr>
      </p:sp>
      <p:sp>
        <p:nvSpPr>
          <p:cNvPr id="31" name="Shape 24"/>
          <p:cNvSpPr/>
          <p:nvPr/>
        </p:nvSpPr>
        <p:spPr>
          <a:xfrm>
            <a:off x="761695" y="5619902"/>
            <a:ext cx="57607" cy="2562149"/>
          </a:xfrm>
          <a:prstGeom prst="rect">
            <a:avLst/>
          </a:prstGeom>
          <a:solidFill>
            <a:srgbClr val="DC3545"/>
          </a:solidFill>
        </p:spPr>
      </p:sp>
      <p:pic>
        <p:nvPicPr>
          <p:cNvPr id="32" name="Image 5" descr="preencoded.png"/>
          <p:cNvPicPr>
            <a:picLocks noChangeAspect="1"/>
          </p:cNvPicPr>
          <p:nvPr/>
        </p:nvPicPr>
        <p:blipFill>
          <a:blip r:embed="rId6"/>
          <a:srcRect/>
          <a:stretch>
            <a:fillRect/>
          </a:stretch>
        </p:blipFill>
        <p:spPr>
          <a:xfrm>
            <a:off x="1047902" y="5891479"/>
            <a:ext cx="286207" cy="286207"/>
          </a:xfrm>
          <a:prstGeom prst="rect">
            <a:avLst/>
          </a:prstGeom>
        </p:spPr>
      </p:pic>
      <p:sp>
        <p:nvSpPr>
          <p:cNvPr id="33" name="Text 25"/>
          <p:cNvSpPr txBox="1"/>
          <p:nvPr/>
        </p:nvSpPr>
        <p:spPr>
          <a:xfrm>
            <a:off x="1476756" y="5848502"/>
            <a:ext cx="2671877" cy="372161"/>
          </a:xfrm>
          <a:prstGeom prst="rect">
            <a:avLst/>
          </a:prstGeom>
          <a:noFill/>
        </p:spPr>
        <p:txBody>
          <a:bodyPr wrap="square" lIns="0" tIns="0" rIns="0" bIns="0" rtlCol="0" anchor="ctr"/>
          <a:lstStyle/>
          <a:p>
            <a:pPr marL="0" indent="0" algn="l">
              <a:buNone/>
            </a:pPr>
            <a:r>
              <a:rPr lang="en-US" sz="1900" b="1" dirty="0">
                <a:solidFill>
                  <a:srgbClr val="DC3545"/>
                </a:solidFill>
                <a:latin typeface="Noto Sans SC" pitchFamily="34" charset="0"/>
                <a:ea typeface="Noto Sans SC" pitchFamily="34" charset="-122"/>
                <a:cs typeface="Noto Sans SC" pitchFamily="34" charset="-120"/>
              </a:rPr>
              <a:t>医疗行业安全事件警示</a:t>
            </a:r>
            <a:endParaRPr lang="en-US" sz="1900" dirty="0"/>
          </a:p>
        </p:txBody>
      </p:sp>
      <p:sp>
        <p:nvSpPr>
          <p:cNvPr id="34" name="Text 26"/>
          <p:cNvSpPr txBox="1"/>
          <p:nvPr/>
        </p:nvSpPr>
        <p:spPr>
          <a:xfrm>
            <a:off x="1047750" y="6344285"/>
            <a:ext cx="8248650" cy="25971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近年来，医疗行业已成为网络攻击的重灾区，未及时处理安全事件可能导致灾难性后果：</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35" name="Image 6" descr="preencoded.png"/>
          <p:cNvPicPr>
            <a:picLocks noChangeAspect="1"/>
          </p:cNvPicPr>
          <p:nvPr/>
        </p:nvPicPr>
        <p:blipFill>
          <a:blip r:embed="rId7"/>
          <a:srcRect l="-3689" r="-3689"/>
          <a:stretch>
            <a:fillRect/>
          </a:stretch>
        </p:blipFill>
        <p:spPr>
          <a:xfrm>
            <a:off x="1047902" y="6963156"/>
            <a:ext cx="276149" cy="228600"/>
          </a:xfrm>
          <a:prstGeom prst="rect">
            <a:avLst/>
          </a:prstGeom>
        </p:spPr>
      </p:pic>
      <p:sp>
        <p:nvSpPr>
          <p:cNvPr id="36" name="Text 27"/>
          <p:cNvSpPr txBox="1"/>
          <p:nvPr/>
        </p:nvSpPr>
        <p:spPr>
          <a:xfrm>
            <a:off x="1466850" y="6791325"/>
            <a:ext cx="7442835" cy="5054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某三甲医院遭勒索攻击，导致手术系统瘫痪4天，120余台手术被迫延期，直接经济损失超500万</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37" name="Image 7" descr="preencoded.png"/>
          <p:cNvPicPr>
            <a:picLocks noChangeAspect="1"/>
          </p:cNvPicPr>
          <p:nvPr/>
        </p:nvPicPr>
        <p:blipFill>
          <a:blip r:embed="rId8"/>
          <a:srcRect l="-21543" r="-21543"/>
          <a:stretch>
            <a:fillRect/>
          </a:stretch>
        </p:blipFill>
        <p:spPr>
          <a:xfrm>
            <a:off x="1047902" y="7543800"/>
            <a:ext cx="286207" cy="228600"/>
          </a:xfrm>
          <a:prstGeom prst="rect">
            <a:avLst/>
          </a:prstGeom>
        </p:spPr>
      </p:pic>
      <p:sp>
        <p:nvSpPr>
          <p:cNvPr id="38" name="Text 28"/>
          <p:cNvSpPr txBox="1"/>
          <p:nvPr/>
        </p:nvSpPr>
        <p:spPr>
          <a:xfrm>
            <a:off x="1477010" y="7515225"/>
            <a:ext cx="7432675" cy="37147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2022年某医院患者数据泄露事件，超10万患者隐私信息被公开叫卖，引发群体诉讼</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39" name="Image 8" descr="preencoded.png"/>
          <p:cNvPicPr>
            <a:picLocks noChangeAspect="1"/>
          </p:cNvPicPr>
          <p:nvPr/>
        </p:nvPicPr>
        <p:blipFill>
          <a:blip r:embed="rId9"/>
          <a:srcRect l="-12600" r="-12600"/>
          <a:stretch>
            <a:fillRect/>
          </a:stretch>
        </p:blipFill>
        <p:spPr>
          <a:xfrm>
            <a:off x="9249156" y="6819595"/>
            <a:ext cx="286207" cy="228600"/>
          </a:xfrm>
          <a:prstGeom prst="rect">
            <a:avLst/>
          </a:prstGeom>
        </p:spPr>
      </p:pic>
      <p:sp>
        <p:nvSpPr>
          <p:cNvPr id="40" name="Text 29"/>
          <p:cNvSpPr txBox="1"/>
          <p:nvPr/>
        </p:nvSpPr>
        <p:spPr>
          <a:xfrm>
            <a:off x="9677400" y="6791325"/>
            <a:ext cx="7626350" cy="25971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国外医院生命支持系统被攻击，导致患者治疗中断，被判赔偿巨额医疗事故赔偿金</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41" name="Image 9" descr="preencoded.png"/>
          <p:cNvPicPr>
            <a:picLocks noChangeAspect="1"/>
          </p:cNvPicPr>
          <p:nvPr/>
        </p:nvPicPr>
        <p:blipFill>
          <a:blip r:embed="rId10"/>
          <a:srcRect l="-33467" r="-33467"/>
          <a:stretch>
            <a:fillRect/>
          </a:stretch>
        </p:blipFill>
        <p:spPr>
          <a:xfrm>
            <a:off x="9249156" y="7258507"/>
            <a:ext cx="286207" cy="228600"/>
          </a:xfrm>
          <a:prstGeom prst="rect">
            <a:avLst/>
          </a:prstGeom>
        </p:spPr>
      </p:pic>
      <p:sp>
        <p:nvSpPr>
          <p:cNvPr id="42" name="Text 30"/>
          <p:cNvSpPr txBox="1"/>
          <p:nvPr/>
        </p:nvSpPr>
        <p:spPr>
          <a:xfrm>
            <a:off x="9677400" y="7229475"/>
            <a:ext cx="7432675" cy="62293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某医院因网络攻击未及时处置，导致电子病历系统无法访问，被行业监管部门通报批评</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43" name="Shape 31"/>
          <p:cNvSpPr/>
          <p:nvPr/>
        </p:nvSpPr>
        <p:spPr>
          <a:xfrm>
            <a:off x="762000" y="8335010"/>
            <a:ext cx="16764000" cy="1475740"/>
          </a:xfrm>
          <a:prstGeom prst="roundRect">
            <a:avLst>
              <a:gd name="adj" fmla="val 8948"/>
            </a:avLst>
          </a:prstGeom>
          <a:solidFill>
            <a:srgbClr val="0A4275">
              <a:alpha val="6000"/>
            </a:srgbClr>
          </a:solidFill>
        </p:spPr>
      </p:sp>
      <p:sp>
        <p:nvSpPr>
          <p:cNvPr id="44" name="Shape 32"/>
          <p:cNvSpPr/>
          <p:nvPr/>
        </p:nvSpPr>
        <p:spPr>
          <a:xfrm>
            <a:off x="761695" y="8334756"/>
            <a:ext cx="57607" cy="1248156"/>
          </a:xfrm>
          <a:prstGeom prst="rect">
            <a:avLst/>
          </a:prstGeom>
          <a:solidFill>
            <a:srgbClr val="0A4275"/>
          </a:solidFill>
        </p:spPr>
      </p:sp>
      <p:sp>
        <p:nvSpPr>
          <p:cNvPr id="45" name="Text 33"/>
          <p:cNvSpPr txBox="1"/>
          <p:nvPr/>
        </p:nvSpPr>
        <p:spPr>
          <a:xfrm>
            <a:off x="1047902" y="8572500"/>
            <a:ext cx="1433779" cy="352958"/>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服务价值：</a:t>
            </a:r>
            <a:endParaRPr lang="en-US" sz="1900" dirty="0"/>
          </a:p>
        </p:txBody>
      </p:sp>
      <p:sp>
        <p:nvSpPr>
          <p:cNvPr id="46" name="Text 34"/>
          <p:cNvSpPr txBox="1"/>
          <p:nvPr/>
        </p:nvSpPr>
        <p:spPr>
          <a:xfrm>
            <a:off x="1047750" y="9058275"/>
            <a:ext cx="16204565" cy="50546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通过云地协同快速闭环安全事件，从模式上颠覆了救火式应急响应"慢"、损失"大"、处置"不闭环"的问题，保障医院核心业务连续性，避免患者数据泄露与经济损失，保护医院声誉不受损害。</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47" name="Text 35"/>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676656"/>
            <a:ext cx="4010558"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重要时期值守保障</a:t>
            </a:r>
            <a:endParaRPr lang="en-US" sz="3600" dirty="0"/>
          </a:p>
        </p:txBody>
      </p:sp>
      <p:sp>
        <p:nvSpPr>
          <p:cNvPr id="5" name="Shape 3"/>
          <p:cNvSpPr/>
          <p:nvPr/>
        </p:nvSpPr>
        <p:spPr>
          <a:xfrm>
            <a:off x="761695" y="1505102"/>
            <a:ext cx="914400" cy="38405"/>
          </a:xfrm>
          <a:prstGeom prst="rect">
            <a:avLst/>
          </a:prstGeom>
          <a:solidFill>
            <a:srgbClr val="0A4275"/>
          </a:solidFill>
        </p:spPr>
      </p:sp>
      <p:sp>
        <p:nvSpPr>
          <p:cNvPr id="6" name="Shape 4"/>
          <p:cNvSpPr/>
          <p:nvPr/>
        </p:nvSpPr>
        <p:spPr>
          <a:xfrm>
            <a:off x="762000" y="1847850"/>
            <a:ext cx="6834505" cy="3989070"/>
          </a:xfrm>
          <a:prstGeom prst="roundRect">
            <a:avLst>
              <a:gd name="adj" fmla="val 2076"/>
            </a:avLst>
          </a:prstGeom>
          <a:solidFill>
            <a:srgbClr val="0A4275">
              <a:alpha val="6000"/>
            </a:srgbClr>
          </a:solidFill>
        </p:spPr>
      </p:sp>
      <p:sp>
        <p:nvSpPr>
          <p:cNvPr id="7" name="Shape 5"/>
          <p:cNvSpPr/>
          <p:nvPr/>
        </p:nvSpPr>
        <p:spPr>
          <a:xfrm>
            <a:off x="762000" y="1847850"/>
            <a:ext cx="76200" cy="3989070"/>
          </a:xfrm>
          <a:prstGeom prst="rect">
            <a:avLst/>
          </a:prstGeom>
          <a:solidFill>
            <a:srgbClr val="0A4275"/>
          </a:solidFill>
        </p:spPr>
      </p:sp>
      <p:pic>
        <p:nvPicPr>
          <p:cNvPr id="8" name="Image 0" descr="preencoded.png"/>
          <p:cNvPicPr>
            <a:picLocks noChangeAspect="1"/>
          </p:cNvPicPr>
          <p:nvPr/>
        </p:nvPicPr>
        <p:blipFill>
          <a:blip r:embed="rId1"/>
          <a:srcRect t="-530" b="-530"/>
          <a:stretch>
            <a:fillRect/>
          </a:stretch>
        </p:blipFill>
        <p:spPr>
          <a:xfrm>
            <a:off x="1057046" y="2095805"/>
            <a:ext cx="247802" cy="286207"/>
          </a:xfrm>
          <a:prstGeom prst="rect">
            <a:avLst/>
          </a:prstGeom>
        </p:spPr>
      </p:pic>
      <p:sp>
        <p:nvSpPr>
          <p:cNvPr id="9" name="Shape 6"/>
          <p:cNvSpPr/>
          <p:nvPr/>
        </p:nvSpPr>
        <p:spPr>
          <a:xfrm>
            <a:off x="761060" y="6152820"/>
            <a:ext cx="16763695" cy="3105302"/>
          </a:xfrm>
          <a:prstGeom prst="roundRect">
            <a:avLst>
              <a:gd name="adj" fmla="val 1445"/>
            </a:avLst>
          </a:prstGeom>
          <a:solidFill>
            <a:srgbClr val="0A4275">
              <a:alpha val="6000"/>
            </a:srgbClr>
          </a:solidFill>
        </p:spPr>
      </p:sp>
      <p:sp>
        <p:nvSpPr>
          <p:cNvPr id="10" name="Shape 7"/>
          <p:cNvSpPr/>
          <p:nvPr/>
        </p:nvSpPr>
        <p:spPr>
          <a:xfrm>
            <a:off x="761060" y="6152820"/>
            <a:ext cx="57607" cy="3105302"/>
          </a:xfrm>
          <a:prstGeom prst="rect">
            <a:avLst/>
          </a:prstGeom>
          <a:solidFill>
            <a:srgbClr val="0A4275"/>
          </a:solidFill>
        </p:spPr>
      </p:sp>
      <p:sp>
        <p:nvSpPr>
          <p:cNvPr id="11" name="Text 8"/>
          <p:cNvSpPr txBox="1"/>
          <p:nvPr/>
        </p:nvSpPr>
        <p:spPr>
          <a:xfrm>
            <a:off x="1457554" y="2066544"/>
            <a:ext cx="2229307"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全年节假日值守工作</a:t>
            </a:r>
            <a:endParaRPr lang="en-US" sz="1800" dirty="0"/>
          </a:p>
        </p:txBody>
      </p:sp>
      <p:sp>
        <p:nvSpPr>
          <p:cNvPr id="12" name="Shape 9"/>
          <p:cNvSpPr/>
          <p:nvPr/>
        </p:nvSpPr>
        <p:spPr>
          <a:xfrm>
            <a:off x="1209751" y="2542946"/>
            <a:ext cx="1714500" cy="409651"/>
          </a:xfrm>
          <a:prstGeom prst="roundRect">
            <a:avLst>
              <a:gd name="adj" fmla="val 155731"/>
            </a:avLst>
          </a:prstGeom>
          <a:solidFill>
            <a:srgbClr val="0A4275"/>
          </a:solidFill>
        </p:spPr>
      </p:sp>
      <p:sp>
        <p:nvSpPr>
          <p:cNvPr id="13" name="Shape 10"/>
          <p:cNvSpPr/>
          <p:nvPr/>
        </p:nvSpPr>
        <p:spPr>
          <a:xfrm>
            <a:off x="1209751" y="3681984"/>
            <a:ext cx="1714500" cy="409651"/>
          </a:xfrm>
          <a:prstGeom prst="roundRect">
            <a:avLst>
              <a:gd name="adj" fmla="val 155731"/>
            </a:avLst>
          </a:prstGeom>
          <a:solidFill>
            <a:srgbClr val="0A4275"/>
          </a:solidFill>
        </p:spPr>
      </p:sp>
      <p:sp>
        <p:nvSpPr>
          <p:cNvPr id="14" name="Shape 11"/>
          <p:cNvSpPr/>
          <p:nvPr/>
        </p:nvSpPr>
        <p:spPr>
          <a:xfrm>
            <a:off x="1209751" y="4780026"/>
            <a:ext cx="1714500" cy="409651"/>
          </a:xfrm>
          <a:prstGeom prst="roundRect">
            <a:avLst>
              <a:gd name="adj" fmla="val 155731"/>
            </a:avLst>
          </a:prstGeom>
          <a:solidFill>
            <a:srgbClr val="0A4275"/>
          </a:solidFill>
        </p:spPr>
      </p:sp>
      <p:sp>
        <p:nvSpPr>
          <p:cNvPr id="15" name="Text 12"/>
          <p:cNvSpPr txBox="1"/>
          <p:nvPr/>
        </p:nvSpPr>
        <p:spPr>
          <a:xfrm>
            <a:off x="1399946" y="2619756"/>
            <a:ext cx="1462126" cy="247802"/>
          </a:xfrm>
          <a:prstGeom prst="rect">
            <a:avLst/>
          </a:prstGeom>
          <a:noFill/>
        </p:spPr>
        <p:txBody>
          <a:bodyPr wrap="square" lIns="0" tIns="0" rIns="0" bIns="0" rtlCol="0" anchor="ctr"/>
          <a:lstStyle/>
          <a:p>
            <a:pPr marL="0" indent="0" algn="ctr">
              <a:buNone/>
            </a:pPr>
            <a:r>
              <a:rPr lang="en-US" sz="1400" dirty="0">
                <a:solidFill>
                  <a:srgbClr val="FFFFFF"/>
                </a:solidFill>
                <a:latin typeface="Noto Sans SC" pitchFamily="34" charset="0"/>
                <a:ea typeface="Noto Sans SC" pitchFamily="34" charset="-122"/>
                <a:cs typeface="Noto Sans SC" pitchFamily="34" charset="-120"/>
              </a:rPr>
              <a:t>10月1日-10月7日</a:t>
            </a:r>
            <a:endParaRPr lang="en-US" sz="1400" dirty="0">
              <a:solidFill>
                <a:srgbClr val="FFFFFF"/>
              </a:solidFill>
              <a:latin typeface="Noto Sans SC" pitchFamily="34" charset="0"/>
              <a:ea typeface="Noto Sans SC" pitchFamily="34" charset="-122"/>
              <a:cs typeface="Noto Sans SC" pitchFamily="34" charset="-120"/>
            </a:endParaRPr>
          </a:p>
        </p:txBody>
      </p:sp>
      <p:sp>
        <p:nvSpPr>
          <p:cNvPr id="16" name="Text 13"/>
          <p:cNvSpPr txBox="1"/>
          <p:nvPr/>
        </p:nvSpPr>
        <p:spPr>
          <a:xfrm>
            <a:off x="1449324" y="3758794"/>
            <a:ext cx="1367028" cy="247802"/>
          </a:xfrm>
          <a:prstGeom prst="rect">
            <a:avLst/>
          </a:prstGeom>
          <a:noFill/>
        </p:spPr>
        <p:txBody>
          <a:bodyPr wrap="square" lIns="0" tIns="0" rIns="0" bIns="0" rtlCol="0" anchor="ctr"/>
          <a:lstStyle/>
          <a:p>
            <a:pPr marL="0" indent="0" algn="ctr">
              <a:buNone/>
            </a:pPr>
            <a:r>
              <a:rPr lang="en-US" sz="1400" dirty="0">
                <a:solidFill>
                  <a:srgbClr val="FFFFFF"/>
                </a:solidFill>
                <a:latin typeface="Noto Sans SC" pitchFamily="34" charset="0"/>
                <a:ea typeface="Noto Sans SC" pitchFamily="34" charset="-122"/>
                <a:cs typeface="Noto Sans SC" pitchFamily="34" charset="-120"/>
              </a:rPr>
              <a:t>1月23日-2月5日</a:t>
            </a:r>
            <a:endParaRPr lang="en-US" sz="1400" dirty="0">
              <a:solidFill>
                <a:srgbClr val="FFFFFF"/>
              </a:solidFill>
              <a:latin typeface="Noto Sans SC" pitchFamily="34" charset="0"/>
              <a:ea typeface="Noto Sans SC" pitchFamily="34" charset="-122"/>
              <a:cs typeface="Noto Sans SC" pitchFamily="34" charset="-120"/>
            </a:endParaRPr>
          </a:p>
        </p:txBody>
      </p:sp>
      <p:sp>
        <p:nvSpPr>
          <p:cNvPr id="17" name="Text 14"/>
          <p:cNvSpPr txBox="1"/>
          <p:nvPr/>
        </p:nvSpPr>
        <p:spPr>
          <a:xfrm>
            <a:off x="1497787" y="4855921"/>
            <a:ext cx="1271930" cy="247802"/>
          </a:xfrm>
          <a:prstGeom prst="rect">
            <a:avLst/>
          </a:prstGeom>
          <a:noFill/>
        </p:spPr>
        <p:txBody>
          <a:bodyPr wrap="square" lIns="0" tIns="0" rIns="0" bIns="0" rtlCol="0" anchor="ctr"/>
          <a:lstStyle/>
          <a:p>
            <a:pPr marL="0" indent="0" algn="ctr">
              <a:buNone/>
            </a:pPr>
            <a:r>
              <a:rPr lang="en-US" sz="1400" dirty="0">
                <a:solidFill>
                  <a:srgbClr val="FFFFFF"/>
                </a:solidFill>
                <a:latin typeface="Noto Sans SC" pitchFamily="34" charset="0"/>
                <a:ea typeface="Noto Sans SC" pitchFamily="34" charset="-122"/>
                <a:cs typeface="Noto Sans SC" pitchFamily="34" charset="-120"/>
              </a:rPr>
              <a:t>5月1日-5月5日</a:t>
            </a:r>
            <a:endParaRPr lang="en-US" sz="1400" dirty="0">
              <a:solidFill>
                <a:srgbClr val="FFFFFF"/>
              </a:solidFill>
              <a:latin typeface="Noto Sans SC" pitchFamily="34" charset="0"/>
              <a:ea typeface="Noto Sans SC" pitchFamily="34" charset="-122"/>
              <a:cs typeface="Noto Sans SC" pitchFamily="34" charset="-120"/>
            </a:endParaRPr>
          </a:p>
        </p:txBody>
      </p:sp>
      <p:sp>
        <p:nvSpPr>
          <p:cNvPr id="18" name="Text 15"/>
          <p:cNvSpPr txBox="1"/>
          <p:nvPr/>
        </p:nvSpPr>
        <p:spPr>
          <a:xfrm>
            <a:off x="3114675" y="2605405"/>
            <a:ext cx="4966970" cy="28638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国庆节值守，网络安全态势良好，未发现异常</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9" name="Text 16"/>
          <p:cNvSpPr txBox="1"/>
          <p:nvPr/>
        </p:nvSpPr>
        <p:spPr>
          <a:xfrm>
            <a:off x="3114675" y="3743960"/>
            <a:ext cx="4298315" cy="29718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春节值守，有效防护外部攻击，封堵高风险IP</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20" name="Text 17"/>
          <p:cNvSpPr txBox="1"/>
          <p:nvPr/>
        </p:nvSpPr>
        <p:spPr>
          <a:xfrm>
            <a:off x="3114675" y="4841240"/>
            <a:ext cx="4010660" cy="286385"/>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劳动节值守，确保业务系统平稳运营</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21" name="Image 1" descr="preencoded.png"/>
          <p:cNvPicPr>
            <a:picLocks noChangeAspect="1"/>
          </p:cNvPicPr>
          <p:nvPr/>
        </p:nvPicPr>
        <p:blipFill>
          <a:blip r:embed="rId2"/>
          <a:srcRect/>
          <a:stretch>
            <a:fillRect/>
          </a:stretch>
        </p:blipFill>
        <p:spPr>
          <a:xfrm>
            <a:off x="1056411" y="6400622"/>
            <a:ext cx="286207" cy="286207"/>
          </a:xfrm>
          <a:prstGeom prst="rect">
            <a:avLst/>
          </a:prstGeom>
        </p:spPr>
      </p:pic>
      <p:sp>
        <p:nvSpPr>
          <p:cNvPr id="22" name="Text 18"/>
          <p:cNvSpPr txBox="1"/>
          <p:nvPr/>
        </p:nvSpPr>
        <p:spPr>
          <a:xfrm>
            <a:off x="1494409" y="6371361"/>
            <a:ext cx="2514600" cy="333756"/>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7*24小时安全保障成果</a:t>
            </a:r>
            <a:endParaRPr lang="en-US" sz="1800" dirty="0"/>
          </a:p>
        </p:txBody>
      </p:sp>
      <p:sp>
        <p:nvSpPr>
          <p:cNvPr id="23" name="Shape 19"/>
          <p:cNvSpPr/>
          <p:nvPr/>
        </p:nvSpPr>
        <p:spPr>
          <a:xfrm>
            <a:off x="1056411" y="6923659"/>
            <a:ext cx="5257800" cy="1561795"/>
          </a:xfrm>
          <a:prstGeom prst="roundRect">
            <a:avLst>
              <a:gd name="adj" fmla="val 4284"/>
            </a:avLst>
          </a:prstGeom>
          <a:solidFill>
            <a:srgbClr val="FFFFFF"/>
          </a:solidFill>
          <a:effectLst>
            <a:outerShdw blurRad="114300" dist="38100" dir="5400000" algn="bl" rotWithShape="0">
              <a:srgbClr val="000000">
                <a:alpha val="5000"/>
              </a:srgbClr>
            </a:outerShdw>
          </a:effectLst>
        </p:spPr>
      </p:sp>
      <p:pic>
        <p:nvPicPr>
          <p:cNvPr id="24" name="Image 2" descr="preencoded.png"/>
          <p:cNvPicPr>
            <a:picLocks noChangeAspect="1"/>
          </p:cNvPicPr>
          <p:nvPr/>
        </p:nvPicPr>
        <p:blipFill>
          <a:blip r:embed="rId3"/>
          <a:srcRect l="-27" r="-27"/>
          <a:stretch>
            <a:fillRect/>
          </a:stretch>
        </p:blipFill>
        <p:spPr>
          <a:xfrm>
            <a:off x="3471342" y="7114769"/>
            <a:ext cx="428854" cy="342900"/>
          </a:xfrm>
          <a:prstGeom prst="rect">
            <a:avLst/>
          </a:prstGeom>
        </p:spPr>
      </p:pic>
      <p:sp>
        <p:nvSpPr>
          <p:cNvPr id="25" name="Shape 20"/>
          <p:cNvSpPr/>
          <p:nvPr/>
        </p:nvSpPr>
        <p:spPr>
          <a:xfrm>
            <a:off x="6542811" y="6923659"/>
            <a:ext cx="5257800" cy="1561795"/>
          </a:xfrm>
          <a:prstGeom prst="roundRect">
            <a:avLst>
              <a:gd name="adj" fmla="val 4284"/>
            </a:avLst>
          </a:prstGeom>
          <a:solidFill>
            <a:srgbClr val="FFFFFF"/>
          </a:solidFill>
          <a:effectLst>
            <a:outerShdw blurRad="114300" dist="38100" dir="5400000" algn="bl" rotWithShape="0">
              <a:srgbClr val="000000">
                <a:alpha val="5000"/>
              </a:srgbClr>
            </a:outerShdw>
          </a:effectLst>
        </p:spPr>
      </p:sp>
      <p:sp>
        <p:nvSpPr>
          <p:cNvPr id="26" name="Shape 21"/>
          <p:cNvSpPr/>
          <p:nvPr/>
        </p:nvSpPr>
        <p:spPr>
          <a:xfrm>
            <a:off x="12029211" y="6923659"/>
            <a:ext cx="5257800" cy="1561795"/>
          </a:xfrm>
          <a:prstGeom prst="roundRect">
            <a:avLst>
              <a:gd name="adj" fmla="val 4284"/>
            </a:avLst>
          </a:prstGeom>
          <a:solidFill>
            <a:srgbClr val="FFFFFF"/>
          </a:solidFill>
          <a:effectLst>
            <a:outerShdw blurRad="114300" dist="38100" dir="5400000" algn="bl" rotWithShape="0">
              <a:srgbClr val="000000">
                <a:alpha val="5000"/>
              </a:srgbClr>
            </a:outerShdw>
          </a:effectLst>
        </p:spPr>
      </p:sp>
      <p:sp>
        <p:nvSpPr>
          <p:cNvPr id="27" name="Text 22"/>
          <p:cNvSpPr txBox="1"/>
          <p:nvPr/>
        </p:nvSpPr>
        <p:spPr>
          <a:xfrm>
            <a:off x="3057119" y="7600315"/>
            <a:ext cx="1424635" cy="305410"/>
          </a:xfrm>
          <a:prstGeom prst="rect">
            <a:avLst/>
          </a:prstGeom>
          <a:noFill/>
        </p:spPr>
        <p:txBody>
          <a:bodyPr wrap="square" lIns="0" tIns="0" rIns="0" bIns="0" rtlCol="0" anchor="ctr"/>
          <a:lstStyle/>
          <a:p>
            <a:pPr marL="0" indent="0" algn="ctr">
              <a:buNone/>
            </a:pPr>
            <a:r>
              <a:rPr lang="en-US" sz="1600" b="1" dirty="0">
                <a:solidFill>
                  <a:srgbClr val="0A4275"/>
                </a:solidFill>
                <a:latin typeface="Noto Sans SC" pitchFamily="34" charset="0"/>
                <a:ea typeface="Noto Sans SC" pitchFamily="34" charset="-122"/>
                <a:cs typeface="Noto Sans SC" pitchFamily="34" charset="-120"/>
              </a:rPr>
              <a:t>夜间安全监测</a:t>
            </a:r>
            <a:endParaRPr lang="en-US" sz="1600" dirty="0"/>
          </a:p>
        </p:txBody>
      </p:sp>
      <p:sp>
        <p:nvSpPr>
          <p:cNvPr id="28" name="Text 23"/>
          <p:cNvSpPr txBox="1"/>
          <p:nvPr/>
        </p:nvSpPr>
        <p:spPr>
          <a:xfrm>
            <a:off x="8647760" y="7600315"/>
            <a:ext cx="1215238" cy="305410"/>
          </a:xfrm>
          <a:prstGeom prst="rect">
            <a:avLst/>
          </a:prstGeom>
          <a:noFill/>
        </p:spPr>
        <p:txBody>
          <a:bodyPr wrap="square" lIns="0" tIns="0" rIns="0" bIns="0" rtlCol="0" anchor="ctr"/>
          <a:lstStyle/>
          <a:p>
            <a:pPr marL="0" indent="0" algn="ctr">
              <a:buNone/>
            </a:pPr>
            <a:r>
              <a:rPr lang="en-US" sz="1600" b="1" dirty="0">
                <a:solidFill>
                  <a:srgbClr val="0A4275"/>
                </a:solidFill>
                <a:latin typeface="Noto Sans SC" pitchFamily="34" charset="0"/>
                <a:ea typeface="Noto Sans SC" pitchFamily="34" charset="-122"/>
                <a:cs typeface="Noto Sans SC" pitchFamily="34" charset="-120"/>
              </a:rPr>
              <a:t>全天候防护</a:t>
            </a:r>
            <a:endParaRPr lang="en-US" sz="1600" dirty="0"/>
          </a:p>
        </p:txBody>
      </p:sp>
      <p:sp>
        <p:nvSpPr>
          <p:cNvPr id="29" name="Text 24"/>
          <p:cNvSpPr txBox="1"/>
          <p:nvPr/>
        </p:nvSpPr>
        <p:spPr>
          <a:xfrm>
            <a:off x="1218565" y="8009890"/>
            <a:ext cx="4970780" cy="409575"/>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夜间事件响应及时，如23:37分WEB攻击事件成功拦截</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30" name="Image 3" descr="preencoded.png"/>
          <p:cNvPicPr>
            <a:picLocks noChangeAspect="1"/>
          </p:cNvPicPr>
          <p:nvPr/>
        </p:nvPicPr>
        <p:blipFill>
          <a:blip r:embed="rId4"/>
          <a:srcRect l="-743" r="-743"/>
          <a:stretch>
            <a:fillRect/>
          </a:stretch>
        </p:blipFill>
        <p:spPr>
          <a:xfrm>
            <a:off x="9019921" y="7114769"/>
            <a:ext cx="304495" cy="342900"/>
          </a:xfrm>
          <a:prstGeom prst="rect">
            <a:avLst/>
          </a:prstGeom>
        </p:spPr>
      </p:pic>
      <p:sp>
        <p:nvSpPr>
          <p:cNvPr id="31" name="Text 25"/>
          <p:cNvSpPr txBox="1"/>
          <p:nvPr/>
        </p:nvSpPr>
        <p:spPr>
          <a:xfrm>
            <a:off x="6929120" y="8024495"/>
            <a:ext cx="4486275" cy="296545"/>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全年无一例业务系统因安全问题导致服务中断</a:t>
            </a:r>
            <a:endParaRPr lang="en-US" sz="1600" dirty="0">
              <a:solidFill>
                <a:srgbClr val="333333"/>
              </a:solidFill>
              <a:latin typeface="Noto Sans SC" pitchFamily="34" charset="0"/>
              <a:ea typeface="Noto Sans SC" pitchFamily="34" charset="-122"/>
              <a:cs typeface="Noto Sans SC" pitchFamily="34" charset="-120"/>
            </a:endParaRPr>
          </a:p>
        </p:txBody>
      </p:sp>
      <p:pic>
        <p:nvPicPr>
          <p:cNvPr id="32" name="Image 4" descr="preencoded.png"/>
          <p:cNvPicPr>
            <a:picLocks noChangeAspect="1"/>
          </p:cNvPicPr>
          <p:nvPr/>
        </p:nvPicPr>
        <p:blipFill>
          <a:blip r:embed="rId5"/>
          <a:srcRect/>
          <a:stretch>
            <a:fillRect/>
          </a:stretch>
        </p:blipFill>
        <p:spPr>
          <a:xfrm>
            <a:off x="14487119" y="7114769"/>
            <a:ext cx="342900" cy="342900"/>
          </a:xfrm>
          <a:prstGeom prst="rect">
            <a:avLst/>
          </a:prstGeom>
        </p:spPr>
      </p:pic>
      <p:sp>
        <p:nvSpPr>
          <p:cNvPr id="33" name="Text 26"/>
          <p:cNvSpPr txBox="1"/>
          <p:nvPr/>
        </p:nvSpPr>
        <p:spPr>
          <a:xfrm>
            <a:off x="14029919" y="7600315"/>
            <a:ext cx="1424635" cy="305410"/>
          </a:xfrm>
          <a:prstGeom prst="rect">
            <a:avLst/>
          </a:prstGeom>
          <a:noFill/>
        </p:spPr>
        <p:txBody>
          <a:bodyPr wrap="square" lIns="0" tIns="0" rIns="0" bIns="0" rtlCol="0" anchor="ctr"/>
          <a:lstStyle/>
          <a:p>
            <a:pPr marL="0" indent="0" algn="ctr">
              <a:buNone/>
            </a:pPr>
            <a:r>
              <a:rPr lang="en-US" sz="1600" b="1" dirty="0">
                <a:solidFill>
                  <a:srgbClr val="0A4275"/>
                </a:solidFill>
                <a:latin typeface="Noto Sans SC" pitchFamily="34" charset="0"/>
                <a:ea typeface="Noto Sans SC" pitchFamily="34" charset="-122"/>
                <a:cs typeface="Noto Sans SC" pitchFamily="34" charset="-120"/>
              </a:rPr>
              <a:t>风险预警推送</a:t>
            </a:r>
            <a:endParaRPr lang="en-US" sz="1600" dirty="0"/>
          </a:p>
        </p:txBody>
      </p:sp>
      <p:sp>
        <p:nvSpPr>
          <p:cNvPr id="34" name="Text 27"/>
          <p:cNvSpPr txBox="1"/>
          <p:nvPr/>
        </p:nvSpPr>
        <p:spPr>
          <a:xfrm>
            <a:off x="12465685" y="7995920"/>
            <a:ext cx="4385310" cy="333375"/>
          </a:xfrm>
          <a:prstGeom prst="rect">
            <a:avLst/>
          </a:prstGeom>
          <a:noFill/>
        </p:spPr>
        <p:txBody>
          <a:bodyPr wrap="square" lIns="0" tIns="0" rIns="0" bIns="0" rtlCol="0" anchor="ctr"/>
          <a:lstStyle/>
          <a:p>
            <a:pPr marL="0" indent="0" algn="ctr">
              <a:buNone/>
            </a:pPr>
            <a:r>
              <a:rPr lang="en-US" sz="1600" dirty="0">
                <a:solidFill>
                  <a:srgbClr val="333333"/>
                </a:solidFill>
                <a:latin typeface="Noto Sans SC" pitchFamily="34" charset="0"/>
                <a:ea typeface="Noto Sans SC" pitchFamily="34" charset="-122"/>
                <a:cs typeface="Noto Sans SC" pitchFamily="34" charset="-120"/>
              </a:rPr>
              <a:t>每日安全态势分析报告，及时推送威胁情报</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35" name="Text 28"/>
          <p:cNvSpPr txBox="1"/>
          <p:nvPr/>
        </p:nvSpPr>
        <p:spPr>
          <a:xfrm>
            <a:off x="4490898" y="8695766"/>
            <a:ext cx="9535363" cy="333756"/>
          </a:xfrm>
          <a:prstGeom prst="rect">
            <a:avLst/>
          </a:prstGeom>
          <a:noFill/>
        </p:spPr>
        <p:txBody>
          <a:bodyPr wrap="square" lIns="0" tIns="0" rIns="0" bIns="0" rtlCol="0" anchor="ctr"/>
          <a:lstStyle/>
          <a:p>
            <a:pPr marL="0" indent="0" algn="ctr">
              <a:buNone/>
            </a:pPr>
            <a:r>
              <a:rPr lang="en-US" sz="1800" i="1" dirty="0">
                <a:solidFill>
                  <a:srgbClr val="4B5563"/>
                </a:solidFill>
                <a:latin typeface="Noto Sans SC" pitchFamily="34" charset="0"/>
                <a:ea typeface="Noto Sans SC" pitchFamily="34" charset="-122"/>
                <a:cs typeface="Noto Sans SC" pitchFamily="34" charset="-120"/>
              </a:rPr>
              <a:t>"通过每日监测和分析，保障每日整体网络安全情况，让贵单位省心又放心的度过每个节假日"</a:t>
            </a:r>
            <a:endParaRPr lang="en-US" sz="1800" dirty="0"/>
          </a:p>
        </p:txBody>
      </p:sp>
      <p:sp>
        <p:nvSpPr>
          <p:cNvPr id="36" name="Text 29"/>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p:spPr>
      </p:sp>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448056"/>
            <a:ext cx="4010558" cy="667512"/>
          </a:xfrm>
          <a:prstGeom prst="rect">
            <a:avLst/>
          </a:prstGeom>
          <a:noFill/>
        </p:spPr>
        <p:txBody>
          <a:bodyPr wrap="square" lIns="0" tIns="0" rIns="0" bIns="0" rtlCol="0" anchor="ctr"/>
          <a:lstStyle/>
          <a:p>
            <a:pPr marL="0" indent="0" algn="l">
              <a:buNone/>
            </a:pPr>
            <a:r>
              <a:rPr lang="en-US" sz="3600" b="1" dirty="0">
                <a:solidFill>
                  <a:srgbClr val="0A4275"/>
                </a:solidFill>
                <a:latin typeface="Noto Sans SC" pitchFamily="34" charset="0"/>
                <a:ea typeface="Noto Sans SC" pitchFamily="34" charset="-122"/>
                <a:cs typeface="Noto Sans SC" pitchFamily="34" charset="-120"/>
              </a:rPr>
              <a:t>关键问题分析研讨</a:t>
            </a:r>
            <a:endParaRPr lang="en-US" sz="3600" dirty="0"/>
          </a:p>
        </p:txBody>
      </p:sp>
      <p:sp>
        <p:nvSpPr>
          <p:cNvPr id="5" name="Shape 3"/>
          <p:cNvSpPr/>
          <p:nvPr/>
        </p:nvSpPr>
        <p:spPr>
          <a:xfrm>
            <a:off x="761695" y="1200607"/>
            <a:ext cx="914400" cy="38405"/>
          </a:xfrm>
          <a:prstGeom prst="rect">
            <a:avLst/>
          </a:prstGeom>
          <a:solidFill>
            <a:srgbClr val="0A4275"/>
          </a:solidFill>
        </p:spPr>
      </p:sp>
      <p:sp>
        <p:nvSpPr>
          <p:cNvPr id="6" name="Shape 4"/>
          <p:cNvSpPr/>
          <p:nvPr/>
        </p:nvSpPr>
        <p:spPr>
          <a:xfrm>
            <a:off x="761695" y="1390802"/>
            <a:ext cx="16763695" cy="3943807"/>
          </a:xfrm>
          <a:prstGeom prst="roundRect">
            <a:avLst>
              <a:gd name="adj" fmla="val 784"/>
            </a:avLst>
          </a:prstGeom>
          <a:solidFill>
            <a:srgbClr val="0A4275">
              <a:alpha val="6000"/>
            </a:srgbClr>
          </a:solidFill>
        </p:spPr>
      </p:sp>
      <p:sp>
        <p:nvSpPr>
          <p:cNvPr id="7" name="Shape 5"/>
          <p:cNvSpPr/>
          <p:nvPr/>
        </p:nvSpPr>
        <p:spPr>
          <a:xfrm>
            <a:off x="761695" y="1390802"/>
            <a:ext cx="57607" cy="3943807"/>
          </a:xfrm>
          <a:prstGeom prst="rect">
            <a:avLst/>
          </a:prstGeom>
          <a:solidFill>
            <a:srgbClr val="0A4275"/>
          </a:solidFill>
        </p:spPr>
      </p:sp>
      <p:pic>
        <p:nvPicPr>
          <p:cNvPr id="8" name="Image 0" descr="preencoded.png"/>
          <p:cNvPicPr>
            <a:picLocks noChangeAspect="1"/>
          </p:cNvPicPr>
          <p:nvPr/>
        </p:nvPicPr>
        <p:blipFill>
          <a:blip r:embed="rId1"/>
          <a:srcRect/>
          <a:stretch>
            <a:fillRect/>
          </a:stretch>
        </p:blipFill>
        <p:spPr>
          <a:xfrm>
            <a:off x="990295" y="1623974"/>
            <a:ext cx="247802" cy="247802"/>
          </a:xfrm>
          <a:prstGeom prst="rect">
            <a:avLst/>
          </a:prstGeom>
        </p:spPr>
      </p:pic>
      <p:sp>
        <p:nvSpPr>
          <p:cNvPr id="9" name="Text 6"/>
          <p:cNvSpPr txBox="1"/>
          <p:nvPr/>
        </p:nvSpPr>
        <p:spPr>
          <a:xfrm>
            <a:off x="1352398" y="1561795"/>
            <a:ext cx="7549286"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问题一：业务&amp;主机漏洞风险较多，主机老旧致使加固工作开展困难</a:t>
            </a:r>
            <a:endParaRPr lang="en-US" sz="1900" dirty="0"/>
          </a:p>
        </p:txBody>
      </p:sp>
      <p:pic>
        <p:nvPicPr>
          <p:cNvPr id="10" name="Image 1" descr="preencoded.png"/>
          <p:cNvPicPr>
            <a:picLocks noChangeAspect="1"/>
          </p:cNvPicPr>
          <p:nvPr/>
        </p:nvPicPr>
        <p:blipFill>
          <a:blip r:embed="rId2"/>
          <a:srcRect/>
          <a:stretch>
            <a:fillRect/>
          </a:stretch>
        </p:blipFill>
        <p:spPr>
          <a:xfrm>
            <a:off x="990295" y="2072030"/>
            <a:ext cx="190195" cy="190195"/>
          </a:xfrm>
          <a:prstGeom prst="rect">
            <a:avLst/>
          </a:prstGeom>
        </p:spPr>
      </p:pic>
      <p:sp>
        <p:nvSpPr>
          <p:cNvPr id="11" name="Text 7"/>
          <p:cNvSpPr txBox="1"/>
          <p:nvPr/>
        </p:nvSpPr>
        <p:spPr>
          <a:xfrm>
            <a:off x="1257300" y="2009851"/>
            <a:ext cx="1424635" cy="314554"/>
          </a:xfrm>
          <a:prstGeom prst="rect">
            <a:avLst/>
          </a:prstGeom>
          <a:noFill/>
        </p:spPr>
        <p:txBody>
          <a:bodyPr wrap="square" lIns="0" tIns="0" rIns="0" bIns="0" rtlCol="0" anchor="ctr"/>
          <a:lstStyle/>
          <a:p>
            <a:pPr marL="0" indent="0" algn="l">
              <a:buNone/>
            </a:pPr>
            <a:r>
              <a:rPr lang="en-US" sz="1600" b="1" dirty="0">
                <a:solidFill>
                  <a:srgbClr val="444444"/>
                </a:solidFill>
                <a:latin typeface="Noto Sans SC" pitchFamily="34" charset="0"/>
                <a:ea typeface="Noto Sans SC" pitchFamily="34" charset="-122"/>
                <a:cs typeface="Noto Sans SC" pitchFamily="34" charset="-120"/>
              </a:rPr>
              <a:t>现状及影响：</a:t>
            </a:r>
            <a:endParaRPr lang="en-US" sz="1600" dirty="0"/>
          </a:p>
        </p:txBody>
      </p:sp>
      <p:sp>
        <p:nvSpPr>
          <p:cNvPr id="12" name="Text 8"/>
          <p:cNvSpPr txBox="1"/>
          <p:nvPr/>
        </p:nvSpPr>
        <p:spPr>
          <a:xfrm>
            <a:off x="990600" y="2371725"/>
            <a:ext cx="8648065" cy="24765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业务系统漏洞扫描后存在大量漏洞需要修复，高危可利用漏洞6个，闭环率仅为23.39%。</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3" name="Shape 9"/>
          <p:cNvSpPr/>
          <p:nvPr/>
        </p:nvSpPr>
        <p:spPr>
          <a:xfrm>
            <a:off x="990600" y="2697480"/>
            <a:ext cx="16363950" cy="766445"/>
          </a:xfrm>
          <a:prstGeom prst="roundRect">
            <a:avLst>
              <a:gd name="adj" fmla="val 7011"/>
            </a:avLst>
          </a:prstGeom>
          <a:solidFill>
            <a:srgbClr val="DC3545">
              <a:alpha val="10000"/>
            </a:srgbClr>
          </a:solidFill>
        </p:spPr>
      </p:sp>
      <p:sp>
        <p:nvSpPr>
          <p:cNvPr id="14" name="Shape 10"/>
          <p:cNvSpPr/>
          <p:nvPr/>
        </p:nvSpPr>
        <p:spPr>
          <a:xfrm>
            <a:off x="990295" y="2735580"/>
            <a:ext cx="38405" cy="705002"/>
          </a:xfrm>
          <a:prstGeom prst="rect">
            <a:avLst/>
          </a:prstGeom>
          <a:solidFill>
            <a:srgbClr val="DC3545"/>
          </a:solidFill>
        </p:spPr>
      </p:sp>
      <p:pic>
        <p:nvPicPr>
          <p:cNvPr id="15" name="Image 2" descr="preencoded.png"/>
          <p:cNvPicPr>
            <a:picLocks noChangeAspect="1"/>
          </p:cNvPicPr>
          <p:nvPr/>
        </p:nvPicPr>
        <p:blipFill>
          <a:blip r:embed="rId3"/>
          <a:srcRect l="-1064" r="-1064"/>
          <a:stretch>
            <a:fillRect/>
          </a:stretch>
        </p:blipFill>
        <p:spPr>
          <a:xfrm>
            <a:off x="1143000" y="2835554"/>
            <a:ext cx="219456" cy="171907"/>
          </a:xfrm>
          <a:prstGeom prst="rect">
            <a:avLst/>
          </a:prstGeom>
        </p:spPr>
      </p:pic>
      <p:sp>
        <p:nvSpPr>
          <p:cNvPr id="16" name="Text 11"/>
          <p:cNvSpPr txBox="1"/>
          <p:nvPr/>
        </p:nvSpPr>
        <p:spPr>
          <a:xfrm>
            <a:off x="990600" y="6461760"/>
            <a:ext cx="14980920" cy="247650"/>
          </a:xfrm>
          <a:prstGeom prst="rect">
            <a:avLst/>
          </a:prstGeom>
          <a:noFill/>
        </p:spPr>
        <p:txBody>
          <a:bodyPr wrap="square" lIns="0" tIns="0" rIns="0" bIns="0" rtlCol="0" anchor="ctr"/>
          <a:lstStyle/>
          <a:p>
            <a:pPr marL="0" indent="0" algn="l">
              <a:buNone/>
            </a:pPr>
            <a:r>
              <a:rPr lang="en-US" sz="1600" dirty="0">
                <a:solidFill>
                  <a:srgbClr val="333333"/>
                </a:solidFill>
                <a:latin typeface="Noto Sans SC" pitchFamily="34" charset="0"/>
                <a:ea typeface="Noto Sans SC" pitchFamily="34" charset="-122"/>
                <a:cs typeface="Noto Sans SC" pitchFamily="34" charset="-120"/>
              </a:rPr>
              <a:t>针对业务内网无法有效进行监测，无法及时发现全网安全风险及脆弱性威胁。攻击次数最多的目的IP 193.15.168.239及其他高频被攻击资产缺乏有效监控。</a:t>
            </a:r>
            <a:endParaRPr lang="en-US" sz="1600" dirty="0">
              <a:solidFill>
                <a:srgbClr val="333333"/>
              </a:solidFill>
              <a:latin typeface="Noto Sans SC" pitchFamily="34" charset="0"/>
              <a:ea typeface="Noto Sans SC" pitchFamily="34" charset="-122"/>
              <a:cs typeface="Noto Sans SC" pitchFamily="34" charset="-120"/>
            </a:endParaRPr>
          </a:p>
        </p:txBody>
      </p:sp>
      <p:sp>
        <p:nvSpPr>
          <p:cNvPr id="17" name="Text 12"/>
          <p:cNvSpPr txBox="1"/>
          <p:nvPr/>
        </p:nvSpPr>
        <p:spPr>
          <a:xfrm>
            <a:off x="1429207" y="2792578"/>
            <a:ext cx="1157630" cy="257861"/>
          </a:xfrm>
          <a:prstGeom prst="rect">
            <a:avLst/>
          </a:prstGeom>
          <a:noFill/>
        </p:spPr>
        <p:txBody>
          <a:bodyPr wrap="square" lIns="0" tIns="0" rIns="0" bIns="0" rtlCol="0" anchor="ctr"/>
          <a:lstStyle/>
          <a:p>
            <a:pPr marL="0" indent="0" algn="l">
              <a:buNone/>
            </a:pPr>
            <a:r>
              <a:rPr lang="en-US" sz="1300" b="1" dirty="0">
                <a:solidFill>
                  <a:srgbClr val="DC3545"/>
                </a:solidFill>
                <a:latin typeface="Noto Sans SC" pitchFamily="34" charset="0"/>
                <a:ea typeface="Noto Sans SC" pitchFamily="34" charset="-122"/>
                <a:cs typeface="Noto Sans SC" pitchFamily="34" charset="-120"/>
              </a:rPr>
              <a:t>行业警示案例</a:t>
            </a:r>
            <a:endParaRPr lang="en-US" sz="1300" dirty="0"/>
          </a:p>
        </p:txBody>
      </p:sp>
      <p:sp>
        <p:nvSpPr>
          <p:cNvPr id="18" name="Text 13"/>
          <p:cNvSpPr txBox="1"/>
          <p:nvPr/>
        </p:nvSpPr>
        <p:spPr>
          <a:xfrm>
            <a:off x="1143000" y="3078480"/>
            <a:ext cx="16211550" cy="286385"/>
          </a:xfrm>
          <a:prstGeom prst="rect">
            <a:avLst/>
          </a:prstGeom>
          <a:noFill/>
        </p:spPr>
        <p:txBody>
          <a:bodyPr wrap="square" lIns="0" tIns="0" rIns="0" bIns="0" rtlCol="0" anchor="ctr"/>
          <a:lstStyle/>
          <a:p>
            <a:pPr marL="0" indent="0" algn="l">
              <a:buNone/>
            </a:pPr>
            <a:r>
              <a:rPr lang="en-US" sz="1400" dirty="0">
                <a:solidFill>
                  <a:srgbClr val="333333"/>
                </a:solidFill>
                <a:latin typeface="Noto Sans SC" pitchFamily="34" charset="0"/>
                <a:ea typeface="Noto Sans SC" pitchFamily="34" charset="-122"/>
                <a:cs typeface="Noto Sans SC" pitchFamily="34" charset="-120"/>
              </a:rPr>
              <a:t>2022年，某三甲医院由于未修复已知漏洞，遭受WannaCry勒索病毒攻击，导致HIS系统瘫痪48小时，近600台终端被加密，超过3000名患者就诊受阻，医院紧急手术被迫取消，直接经济损失超过450万元，并被监管部门通报批评。</a:t>
            </a:r>
            <a:endParaRPr lang="en-US" sz="1400" dirty="0">
              <a:solidFill>
                <a:srgbClr val="333333"/>
              </a:solidFill>
              <a:latin typeface="Noto Sans SC" pitchFamily="34" charset="0"/>
              <a:ea typeface="Noto Sans SC" pitchFamily="34" charset="-122"/>
              <a:cs typeface="Noto Sans SC" pitchFamily="34" charset="-120"/>
            </a:endParaRPr>
          </a:p>
        </p:txBody>
      </p:sp>
      <p:pic>
        <p:nvPicPr>
          <p:cNvPr id="19" name="Image 3" descr="preencoded.png"/>
          <p:cNvPicPr>
            <a:picLocks noChangeAspect="1"/>
          </p:cNvPicPr>
          <p:nvPr/>
        </p:nvPicPr>
        <p:blipFill>
          <a:blip r:embed="rId4"/>
          <a:srcRect/>
          <a:stretch>
            <a:fillRect/>
          </a:stretch>
        </p:blipFill>
        <p:spPr>
          <a:xfrm>
            <a:off x="990295" y="3536899"/>
            <a:ext cx="142646" cy="190195"/>
          </a:xfrm>
          <a:prstGeom prst="rect">
            <a:avLst/>
          </a:prstGeom>
        </p:spPr>
      </p:pic>
      <p:sp>
        <p:nvSpPr>
          <p:cNvPr id="20" name="Text 14"/>
          <p:cNvSpPr txBox="1"/>
          <p:nvPr/>
        </p:nvSpPr>
        <p:spPr>
          <a:xfrm>
            <a:off x="1419149" y="5651906"/>
            <a:ext cx="5396789" cy="372161"/>
          </a:xfrm>
          <a:prstGeom prst="rect">
            <a:avLst/>
          </a:prstGeom>
          <a:noFill/>
        </p:spPr>
        <p:txBody>
          <a:bodyPr wrap="square" lIns="0" tIns="0" rIns="0" bIns="0" rtlCol="0" anchor="ctr"/>
          <a:lstStyle/>
          <a:p>
            <a:pPr marL="0" indent="0" algn="l">
              <a:buNone/>
            </a:pPr>
            <a:r>
              <a:rPr lang="en-US" sz="1900" b="1" dirty="0">
                <a:solidFill>
                  <a:srgbClr val="0A4275"/>
                </a:solidFill>
                <a:latin typeface="Noto Sans SC" pitchFamily="34" charset="0"/>
                <a:ea typeface="Noto Sans SC" pitchFamily="34" charset="-122"/>
                <a:cs typeface="Noto Sans SC" pitchFamily="34" charset="-120"/>
              </a:rPr>
              <a:t>问题二：未部署态势感知设备，未镜像全网流量</a:t>
            </a:r>
            <a:endParaRPr lang="en-US" sz="1900" dirty="0"/>
          </a:p>
        </p:txBody>
      </p:sp>
      <p:sp>
        <p:nvSpPr>
          <p:cNvPr id="21" name="Text 15"/>
          <p:cNvSpPr txBox="1"/>
          <p:nvPr/>
        </p:nvSpPr>
        <p:spPr>
          <a:xfrm>
            <a:off x="1209751" y="3474720"/>
            <a:ext cx="1215238" cy="314554"/>
          </a:xfrm>
          <a:prstGeom prst="rect">
            <a:avLst/>
          </a:prstGeom>
          <a:noFill/>
        </p:spPr>
        <p:txBody>
          <a:bodyPr wrap="square" lIns="0" tIns="0" rIns="0" bIns="0" rtlCol="0" anchor="ctr"/>
          <a:lstStyle/>
          <a:p>
            <a:pPr marL="0" indent="0" algn="l">
              <a:buNone/>
            </a:pPr>
            <a:r>
              <a:rPr lang="en-US" sz="1600" b="1" dirty="0">
                <a:solidFill>
                  <a:srgbClr val="444444"/>
                </a:solidFill>
                <a:latin typeface="Noto Sans SC" pitchFamily="34" charset="0"/>
                <a:ea typeface="Noto Sans SC" pitchFamily="34" charset="-122"/>
                <a:cs typeface="Noto Sans SC" pitchFamily="34" charset="-120"/>
              </a:rPr>
              <a:t>解决建议：</a:t>
            </a:r>
            <a:endParaRPr lang="en-US" sz="1600" dirty="0"/>
          </a:p>
        </p:txBody>
      </p:sp>
      <p:sp>
        <p:nvSpPr>
          <p:cNvPr id="22" name="Shape 16"/>
          <p:cNvSpPr/>
          <p:nvPr/>
        </p:nvSpPr>
        <p:spPr>
          <a:xfrm>
            <a:off x="990295" y="3865169"/>
            <a:ext cx="5381244" cy="1295705"/>
          </a:xfrm>
          <a:prstGeom prst="roundRect">
            <a:avLst>
              <a:gd name="adj" fmla="val 4151"/>
            </a:avLst>
          </a:prstGeom>
          <a:solidFill>
            <a:srgbClr val="FFFFFF"/>
          </a:solidFill>
          <a:effectLst>
            <a:outerShdw blurRad="50800" dist="25400" dir="5400000" algn="bl" rotWithShape="0">
              <a:srgbClr val="000000">
                <a:alpha val="5000"/>
              </a:srgbClr>
            </a:outerShdw>
          </a:effectLst>
        </p:spPr>
      </p:sp>
      <p:sp>
        <p:nvSpPr>
          <p:cNvPr id="23" name="Shape 17"/>
          <p:cNvSpPr/>
          <p:nvPr/>
        </p:nvSpPr>
        <p:spPr>
          <a:xfrm>
            <a:off x="990295" y="3865169"/>
            <a:ext cx="5381244" cy="38405"/>
          </a:xfrm>
          <a:prstGeom prst="rect">
            <a:avLst/>
          </a:prstGeom>
          <a:solidFill>
            <a:srgbClr val="0A4275"/>
          </a:solidFill>
        </p:spPr>
      </p:sp>
      <p:pic>
        <p:nvPicPr>
          <p:cNvPr id="24" name="Image 4" descr="preencoded.png"/>
          <p:cNvPicPr>
            <a:picLocks noChangeAspect="1"/>
          </p:cNvPicPr>
          <p:nvPr/>
        </p:nvPicPr>
        <p:blipFill>
          <a:blip r:embed="rId5"/>
          <a:srcRect/>
          <a:stretch>
            <a:fillRect/>
          </a:stretch>
        </p:blipFill>
        <p:spPr>
          <a:xfrm>
            <a:off x="1086307" y="4055364"/>
            <a:ext cx="171907" cy="171907"/>
          </a:xfrm>
          <a:prstGeom prst="rect">
            <a:avLst/>
          </a:prstGeom>
        </p:spPr>
      </p:pic>
      <p:sp>
        <p:nvSpPr>
          <p:cNvPr id="26" name="Shape 19"/>
          <p:cNvSpPr/>
          <p:nvPr/>
        </p:nvSpPr>
        <p:spPr>
          <a:xfrm>
            <a:off x="761695" y="5480914"/>
            <a:ext cx="57607" cy="3705149"/>
          </a:xfrm>
          <a:prstGeom prst="rect">
            <a:avLst/>
          </a:prstGeom>
          <a:solidFill>
            <a:srgbClr val="0A4275"/>
          </a:solidFill>
        </p:spPr>
      </p:sp>
      <p:sp>
        <p:nvSpPr>
          <p:cNvPr id="27" name="Text 20"/>
          <p:cNvSpPr txBox="1"/>
          <p:nvPr/>
        </p:nvSpPr>
        <p:spPr>
          <a:xfrm>
            <a:off x="1257300" y="6099962"/>
            <a:ext cx="1424635" cy="314554"/>
          </a:xfrm>
          <a:prstGeom prst="rect">
            <a:avLst/>
          </a:prstGeom>
          <a:noFill/>
        </p:spPr>
        <p:txBody>
          <a:bodyPr wrap="square" lIns="0" tIns="0" rIns="0" bIns="0" rtlCol="0" anchor="ctr"/>
          <a:lstStyle/>
          <a:p>
            <a:pPr marL="0" indent="0" algn="l">
              <a:buNone/>
            </a:pPr>
            <a:r>
              <a:rPr lang="en-US" sz="1600" b="1" dirty="0">
                <a:solidFill>
                  <a:srgbClr val="444444"/>
                </a:solidFill>
                <a:latin typeface="Noto Sans SC" pitchFamily="34" charset="0"/>
                <a:ea typeface="Noto Sans SC" pitchFamily="34" charset="-122"/>
                <a:cs typeface="Noto Sans SC" pitchFamily="34" charset="-120"/>
              </a:rPr>
              <a:t>现状及影响：</a:t>
            </a:r>
            <a:endParaRPr lang="en-US" sz="1600" dirty="0"/>
          </a:p>
        </p:txBody>
      </p:sp>
      <p:sp>
        <p:nvSpPr>
          <p:cNvPr id="28" name="Shape 21"/>
          <p:cNvSpPr/>
          <p:nvPr/>
        </p:nvSpPr>
        <p:spPr>
          <a:xfrm>
            <a:off x="6483096" y="3865169"/>
            <a:ext cx="5381244" cy="1295705"/>
          </a:xfrm>
          <a:prstGeom prst="roundRect">
            <a:avLst>
              <a:gd name="adj" fmla="val 4151"/>
            </a:avLst>
          </a:prstGeom>
          <a:solidFill>
            <a:srgbClr val="FFFFFF"/>
          </a:solidFill>
          <a:effectLst>
            <a:outerShdw blurRad="50800" dist="25400" dir="5400000" algn="bl" rotWithShape="0">
              <a:srgbClr val="000000">
                <a:alpha val="5000"/>
              </a:srgbClr>
            </a:outerShdw>
          </a:effectLst>
        </p:spPr>
      </p:sp>
      <p:sp>
        <p:nvSpPr>
          <p:cNvPr id="29" name="Shape 22"/>
          <p:cNvSpPr/>
          <p:nvPr/>
        </p:nvSpPr>
        <p:spPr>
          <a:xfrm>
            <a:off x="6483096" y="3865169"/>
            <a:ext cx="5381244" cy="38405"/>
          </a:xfrm>
          <a:prstGeom prst="rect">
            <a:avLst/>
          </a:prstGeom>
          <a:solidFill>
            <a:srgbClr val="0A4275"/>
          </a:solidFill>
        </p:spPr>
      </p:sp>
      <p:sp>
        <p:nvSpPr>
          <p:cNvPr id="30" name="Shape 23"/>
          <p:cNvSpPr/>
          <p:nvPr/>
        </p:nvSpPr>
        <p:spPr>
          <a:xfrm>
            <a:off x="9229954" y="7955280"/>
            <a:ext cx="8124444" cy="1057046"/>
          </a:xfrm>
          <a:prstGeom prst="roundRect">
            <a:avLst>
              <a:gd name="adj" fmla="val 6235"/>
            </a:avLst>
          </a:prstGeom>
          <a:solidFill>
            <a:srgbClr val="FFFFFF"/>
          </a:solidFill>
          <a:effectLst>
            <a:outerShdw blurRad="50800" dist="25400" dir="5400000" algn="bl" rotWithShape="0">
              <a:srgbClr val="000000">
                <a:alpha val="5000"/>
              </a:srgbClr>
            </a:outerShdw>
          </a:effectLst>
        </p:spPr>
      </p:sp>
      <p:sp>
        <p:nvSpPr>
          <p:cNvPr id="31" name="Shape 24"/>
          <p:cNvSpPr/>
          <p:nvPr/>
        </p:nvSpPr>
        <p:spPr>
          <a:xfrm>
            <a:off x="9229954" y="7955280"/>
            <a:ext cx="8124444" cy="38405"/>
          </a:xfrm>
          <a:prstGeom prst="rect">
            <a:avLst/>
          </a:prstGeom>
          <a:solidFill>
            <a:srgbClr val="0A4275"/>
          </a:solidFill>
        </p:spPr>
      </p:sp>
      <p:sp>
        <p:nvSpPr>
          <p:cNvPr id="32" name="Text 25"/>
          <p:cNvSpPr txBox="1"/>
          <p:nvPr/>
        </p:nvSpPr>
        <p:spPr>
          <a:xfrm>
            <a:off x="1324051" y="3998671"/>
            <a:ext cx="2238451" cy="286207"/>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方案一：EDR轻补丁加固</a:t>
            </a:r>
            <a:endParaRPr lang="en-US" sz="1500" dirty="0"/>
          </a:p>
        </p:txBody>
      </p:sp>
      <p:sp>
        <p:nvSpPr>
          <p:cNvPr id="33" name="Text 26"/>
          <p:cNvSpPr txBox="1"/>
          <p:nvPr/>
        </p:nvSpPr>
        <p:spPr>
          <a:xfrm>
            <a:off x="6778447" y="3998671"/>
            <a:ext cx="2429561" cy="286207"/>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方案二：下一代防火墙防护</a:t>
            </a:r>
            <a:endParaRPr lang="en-US" sz="1500" dirty="0"/>
          </a:p>
        </p:txBody>
      </p:sp>
      <p:sp>
        <p:nvSpPr>
          <p:cNvPr id="34" name="Text 27"/>
          <p:cNvSpPr txBox="1"/>
          <p:nvPr/>
        </p:nvSpPr>
        <p:spPr>
          <a:xfrm>
            <a:off x="1086307" y="4331513"/>
            <a:ext cx="5196535" cy="734263"/>
          </a:xfrm>
          <a:prstGeom prst="rect">
            <a:avLst/>
          </a:prstGeom>
          <a:noFill/>
        </p:spPr>
        <p:txBody>
          <a:bodyPr wrap="square" lIns="0" tIns="0" rIns="0" bIns="0" rtlCol="0" anchor="ctr"/>
          <a:lstStyle/>
          <a:p>
            <a:pPr marL="0" indent="0" algn="l">
              <a:buNone/>
            </a:pPr>
            <a:r>
              <a:rPr lang="en-US" sz="1300" dirty="0">
                <a:solidFill>
                  <a:srgbClr val="333333"/>
                </a:solidFill>
                <a:latin typeface="Noto Sans SC" pitchFamily="34" charset="0"/>
                <a:ea typeface="Noto Sans SC" pitchFamily="34" charset="-122"/>
                <a:cs typeface="Noto Sans SC" pitchFamily="34" charset="-120"/>
              </a:rPr>
              <a:t>梳理可通过EDR轻补丁修复方案执行加固（已完成），在主机侧完成虚拟补丁防护加固措施，建议针对HIS等核心系统优先部署EDR，并设置自动化漏洞检测任务。</a:t>
            </a:r>
            <a:endParaRPr lang="en-US" sz="1300" dirty="0"/>
          </a:p>
        </p:txBody>
      </p:sp>
      <p:pic>
        <p:nvPicPr>
          <p:cNvPr id="35" name="Image 5" descr="preencoded.png"/>
          <p:cNvPicPr>
            <a:picLocks noChangeAspect="1"/>
          </p:cNvPicPr>
          <p:nvPr/>
        </p:nvPicPr>
        <p:blipFill>
          <a:blip r:embed="rId6"/>
          <a:srcRect l="-1773" r="-1773"/>
          <a:stretch>
            <a:fillRect/>
          </a:stretch>
        </p:blipFill>
        <p:spPr>
          <a:xfrm>
            <a:off x="6578194" y="4055364"/>
            <a:ext cx="133502" cy="171907"/>
          </a:xfrm>
          <a:prstGeom prst="rect">
            <a:avLst/>
          </a:prstGeom>
        </p:spPr>
      </p:pic>
      <p:sp>
        <p:nvSpPr>
          <p:cNvPr id="36" name="Shape 28"/>
          <p:cNvSpPr/>
          <p:nvPr/>
        </p:nvSpPr>
        <p:spPr>
          <a:xfrm>
            <a:off x="11975897" y="3865169"/>
            <a:ext cx="5381244" cy="1295705"/>
          </a:xfrm>
          <a:prstGeom prst="roundRect">
            <a:avLst>
              <a:gd name="adj" fmla="val 4151"/>
            </a:avLst>
          </a:prstGeom>
          <a:solidFill>
            <a:srgbClr val="FFFFFF"/>
          </a:solidFill>
          <a:effectLst>
            <a:outerShdw blurRad="50800" dist="25400" dir="5400000" algn="bl" rotWithShape="0">
              <a:srgbClr val="000000">
                <a:alpha val="5000"/>
              </a:srgbClr>
            </a:outerShdw>
          </a:effectLst>
        </p:spPr>
      </p:sp>
      <p:sp>
        <p:nvSpPr>
          <p:cNvPr id="37" name="Shape 29"/>
          <p:cNvSpPr/>
          <p:nvPr/>
        </p:nvSpPr>
        <p:spPr>
          <a:xfrm>
            <a:off x="11975897" y="3865169"/>
            <a:ext cx="5381244" cy="38405"/>
          </a:xfrm>
          <a:prstGeom prst="rect">
            <a:avLst/>
          </a:prstGeom>
          <a:solidFill>
            <a:srgbClr val="0A4275"/>
          </a:solidFill>
        </p:spPr>
      </p:sp>
      <p:sp>
        <p:nvSpPr>
          <p:cNvPr id="38" name="Text 30"/>
          <p:cNvSpPr txBox="1"/>
          <p:nvPr/>
        </p:nvSpPr>
        <p:spPr>
          <a:xfrm>
            <a:off x="6578194" y="4331513"/>
            <a:ext cx="5196535" cy="734263"/>
          </a:xfrm>
          <a:prstGeom prst="rect">
            <a:avLst/>
          </a:prstGeom>
          <a:noFill/>
        </p:spPr>
        <p:txBody>
          <a:bodyPr wrap="square" lIns="0" tIns="0" rIns="0" bIns="0" rtlCol="0" anchor="ctr"/>
          <a:lstStyle/>
          <a:p>
            <a:pPr marL="0" indent="0" algn="l">
              <a:buNone/>
            </a:pPr>
            <a:r>
              <a:rPr lang="en-US" sz="1300" dirty="0">
                <a:solidFill>
                  <a:srgbClr val="333333"/>
                </a:solidFill>
                <a:latin typeface="Noto Sans SC" pitchFamily="34" charset="0"/>
                <a:ea typeface="Noto Sans SC" pitchFamily="34" charset="-122"/>
                <a:cs typeface="Noto Sans SC" pitchFamily="34" charset="-120"/>
              </a:rPr>
              <a:t>使用深信服下一代防火墙（包含WAF和IPS模块）进行漏洞规则防护，配置IPS高级防护规则，确保防火墙规则库保持最新状态，提供边界防护层级。</a:t>
            </a:r>
            <a:endParaRPr lang="en-US" sz="1300" dirty="0"/>
          </a:p>
        </p:txBody>
      </p:sp>
      <p:pic>
        <p:nvPicPr>
          <p:cNvPr id="39" name="Image 6" descr="preencoded.png"/>
          <p:cNvPicPr>
            <a:picLocks noChangeAspect="1"/>
          </p:cNvPicPr>
          <p:nvPr/>
        </p:nvPicPr>
        <p:blipFill>
          <a:blip r:embed="rId7"/>
          <a:srcRect/>
          <a:stretch>
            <a:fillRect/>
          </a:stretch>
        </p:blipFill>
        <p:spPr>
          <a:xfrm>
            <a:off x="12070994" y="4055364"/>
            <a:ext cx="171907" cy="171907"/>
          </a:xfrm>
          <a:prstGeom prst="rect">
            <a:avLst/>
          </a:prstGeom>
        </p:spPr>
      </p:pic>
      <p:sp>
        <p:nvSpPr>
          <p:cNvPr id="40" name="Text 31"/>
          <p:cNvSpPr txBox="1"/>
          <p:nvPr/>
        </p:nvSpPr>
        <p:spPr>
          <a:xfrm>
            <a:off x="1209751" y="7564831"/>
            <a:ext cx="1215238" cy="314554"/>
          </a:xfrm>
          <a:prstGeom prst="rect">
            <a:avLst/>
          </a:prstGeom>
          <a:noFill/>
        </p:spPr>
        <p:txBody>
          <a:bodyPr wrap="square" lIns="0" tIns="0" rIns="0" bIns="0" rtlCol="0" anchor="ctr"/>
          <a:lstStyle/>
          <a:p>
            <a:pPr marL="0" indent="0" algn="l">
              <a:buNone/>
            </a:pPr>
            <a:r>
              <a:rPr lang="en-US" sz="1600" b="1" dirty="0">
                <a:solidFill>
                  <a:srgbClr val="444444"/>
                </a:solidFill>
                <a:latin typeface="Noto Sans SC" pitchFamily="34" charset="0"/>
                <a:ea typeface="Noto Sans SC" pitchFamily="34" charset="-122"/>
                <a:cs typeface="Noto Sans SC" pitchFamily="34" charset="-120"/>
              </a:rPr>
              <a:t>解决建议：</a:t>
            </a:r>
            <a:endParaRPr lang="en-US" sz="1600" dirty="0"/>
          </a:p>
        </p:txBody>
      </p:sp>
      <p:sp>
        <p:nvSpPr>
          <p:cNvPr id="41" name="Shape 32"/>
          <p:cNvSpPr/>
          <p:nvPr/>
        </p:nvSpPr>
        <p:spPr>
          <a:xfrm>
            <a:off x="990600" y="6787515"/>
            <a:ext cx="16363950" cy="734695"/>
          </a:xfrm>
          <a:prstGeom prst="roundRect">
            <a:avLst>
              <a:gd name="adj" fmla="val 7011"/>
            </a:avLst>
          </a:prstGeom>
          <a:solidFill>
            <a:srgbClr val="DC3545">
              <a:alpha val="10000"/>
            </a:srgbClr>
          </a:solidFill>
        </p:spPr>
      </p:sp>
      <p:sp>
        <p:nvSpPr>
          <p:cNvPr id="42" name="Shape 33"/>
          <p:cNvSpPr/>
          <p:nvPr/>
        </p:nvSpPr>
        <p:spPr>
          <a:xfrm>
            <a:off x="990295" y="6787591"/>
            <a:ext cx="38405" cy="705002"/>
          </a:xfrm>
          <a:prstGeom prst="rect">
            <a:avLst/>
          </a:prstGeom>
          <a:solidFill>
            <a:srgbClr val="DC3545"/>
          </a:solidFill>
        </p:spPr>
      </p:sp>
      <p:sp>
        <p:nvSpPr>
          <p:cNvPr id="43" name="Text 34"/>
          <p:cNvSpPr txBox="1"/>
          <p:nvPr/>
        </p:nvSpPr>
        <p:spPr>
          <a:xfrm>
            <a:off x="12309653" y="3998671"/>
            <a:ext cx="1666951" cy="286207"/>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方案三：补丁修复</a:t>
            </a:r>
            <a:endParaRPr lang="en-US" sz="1500" dirty="0"/>
          </a:p>
        </p:txBody>
      </p:sp>
      <p:sp>
        <p:nvSpPr>
          <p:cNvPr id="44" name="Text 35"/>
          <p:cNvSpPr txBox="1"/>
          <p:nvPr/>
        </p:nvSpPr>
        <p:spPr>
          <a:xfrm>
            <a:off x="12070994" y="4331513"/>
            <a:ext cx="5186477" cy="734263"/>
          </a:xfrm>
          <a:prstGeom prst="rect">
            <a:avLst/>
          </a:prstGeom>
          <a:noFill/>
        </p:spPr>
        <p:txBody>
          <a:bodyPr wrap="square" lIns="0" tIns="0" rIns="0" bIns="0" rtlCol="0" anchor="ctr"/>
          <a:lstStyle/>
          <a:p>
            <a:pPr marL="0" indent="0" algn="l">
              <a:buNone/>
            </a:pPr>
            <a:r>
              <a:rPr lang="en-US" sz="1300" dirty="0">
                <a:solidFill>
                  <a:srgbClr val="333333"/>
                </a:solidFill>
                <a:latin typeface="Noto Sans SC" pitchFamily="34" charset="0"/>
                <a:ea typeface="Noto Sans SC" pitchFamily="34" charset="-122"/>
                <a:cs typeface="Noto Sans SC" pitchFamily="34" charset="-120"/>
              </a:rPr>
              <a:t>建立紧急补丁修复通道，制定《重要系统补丁应急管理规范》，先在测试环境验证，再实施生产环境补丁，建立业务系统定期备份机制（建议频率：每日）。</a:t>
            </a:r>
            <a:endParaRPr lang="en-US" sz="1300" dirty="0"/>
          </a:p>
        </p:txBody>
      </p:sp>
      <p:pic>
        <p:nvPicPr>
          <p:cNvPr id="45" name="Image 7" descr="preencoded.png"/>
          <p:cNvPicPr>
            <a:picLocks noChangeAspect="1"/>
          </p:cNvPicPr>
          <p:nvPr/>
        </p:nvPicPr>
        <p:blipFill>
          <a:blip r:embed="rId8"/>
          <a:srcRect l="-775" r="-775"/>
          <a:stretch>
            <a:fillRect/>
          </a:stretch>
        </p:blipFill>
        <p:spPr>
          <a:xfrm>
            <a:off x="990295" y="5714086"/>
            <a:ext cx="314554" cy="247802"/>
          </a:xfrm>
          <a:prstGeom prst="rect">
            <a:avLst/>
          </a:prstGeom>
        </p:spPr>
      </p:pic>
      <p:pic>
        <p:nvPicPr>
          <p:cNvPr id="46" name="Image 8" descr="preencoded.png"/>
          <p:cNvPicPr>
            <a:picLocks noChangeAspect="1"/>
          </p:cNvPicPr>
          <p:nvPr/>
        </p:nvPicPr>
        <p:blipFill>
          <a:blip r:embed="rId2"/>
          <a:srcRect/>
          <a:stretch>
            <a:fillRect/>
          </a:stretch>
        </p:blipFill>
        <p:spPr>
          <a:xfrm>
            <a:off x="990295" y="6162142"/>
            <a:ext cx="190195" cy="190195"/>
          </a:xfrm>
          <a:prstGeom prst="rect">
            <a:avLst/>
          </a:prstGeom>
        </p:spPr>
      </p:pic>
      <p:pic>
        <p:nvPicPr>
          <p:cNvPr id="47" name="Image 9" descr="preencoded.png"/>
          <p:cNvPicPr>
            <a:picLocks noChangeAspect="1"/>
          </p:cNvPicPr>
          <p:nvPr/>
        </p:nvPicPr>
        <p:blipFill>
          <a:blip r:embed="rId3"/>
          <a:srcRect l="-1064" r="-1064"/>
          <a:stretch>
            <a:fillRect/>
          </a:stretch>
        </p:blipFill>
        <p:spPr>
          <a:xfrm>
            <a:off x="1143000" y="6925666"/>
            <a:ext cx="219456" cy="171907"/>
          </a:xfrm>
          <a:prstGeom prst="rect">
            <a:avLst/>
          </a:prstGeom>
        </p:spPr>
      </p:pic>
      <p:sp>
        <p:nvSpPr>
          <p:cNvPr id="48" name="Text 36"/>
          <p:cNvSpPr txBox="1"/>
          <p:nvPr/>
        </p:nvSpPr>
        <p:spPr>
          <a:xfrm>
            <a:off x="1429207" y="6882689"/>
            <a:ext cx="1157630" cy="257861"/>
          </a:xfrm>
          <a:prstGeom prst="rect">
            <a:avLst/>
          </a:prstGeom>
          <a:noFill/>
        </p:spPr>
        <p:txBody>
          <a:bodyPr wrap="square" lIns="0" tIns="0" rIns="0" bIns="0" rtlCol="0" anchor="ctr"/>
          <a:lstStyle/>
          <a:p>
            <a:pPr marL="0" indent="0" algn="l">
              <a:buNone/>
            </a:pPr>
            <a:r>
              <a:rPr lang="en-US" sz="1300" b="1" dirty="0">
                <a:solidFill>
                  <a:srgbClr val="DC3545"/>
                </a:solidFill>
                <a:latin typeface="Noto Sans SC" pitchFamily="34" charset="0"/>
                <a:ea typeface="Noto Sans SC" pitchFamily="34" charset="-122"/>
                <a:cs typeface="Noto Sans SC" pitchFamily="34" charset="-120"/>
              </a:rPr>
              <a:t>行业警示案例</a:t>
            </a:r>
            <a:endParaRPr lang="en-US" sz="1300" dirty="0"/>
          </a:p>
        </p:txBody>
      </p:sp>
      <p:sp>
        <p:nvSpPr>
          <p:cNvPr id="49" name="Text 37"/>
          <p:cNvSpPr txBox="1"/>
          <p:nvPr/>
        </p:nvSpPr>
        <p:spPr>
          <a:xfrm>
            <a:off x="1143000" y="7169150"/>
            <a:ext cx="16078835" cy="285750"/>
          </a:xfrm>
          <a:prstGeom prst="rect">
            <a:avLst/>
          </a:prstGeom>
          <a:noFill/>
        </p:spPr>
        <p:txBody>
          <a:bodyPr wrap="square" lIns="0" tIns="0" rIns="0" bIns="0" rtlCol="0" anchor="ctr"/>
          <a:lstStyle/>
          <a:p>
            <a:pPr marL="0" indent="0" algn="l">
              <a:buNone/>
            </a:pPr>
            <a:r>
              <a:rPr lang="en-US" sz="1400" dirty="0">
                <a:solidFill>
                  <a:srgbClr val="333333"/>
                </a:solidFill>
                <a:latin typeface="Noto Sans SC" pitchFamily="34" charset="0"/>
                <a:ea typeface="Noto Sans SC" pitchFamily="34" charset="-122"/>
                <a:cs typeface="Noto Sans SC" pitchFamily="34" charset="-120"/>
              </a:rPr>
              <a:t>2023年，国内某知名医疗集团因缺乏态势感知设备，遭受长达3个月的APT组织定向攻击，黑客潜伏在内网窃取患者敏感数据超过200GB，包含18万名患者个人隐私和病例资料，造成严重的数据泄露和品牌声誉损失，并面临高额赔偿诉讼。</a:t>
            </a:r>
            <a:endParaRPr lang="en-US" sz="1400" dirty="0">
              <a:solidFill>
                <a:srgbClr val="333333"/>
              </a:solidFill>
              <a:latin typeface="Noto Sans SC" pitchFamily="34" charset="0"/>
              <a:ea typeface="Noto Sans SC" pitchFamily="34" charset="-122"/>
              <a:cs typeface="Noto Sans SC" pitchFamily="34" charset="-120"/>
            </a:endParaRPr>
          </a:p>
        </p:txBody>
      </p:sp>
      <p:pic>
        <p:nvPicPr>
          <p:cNvPr id="50" name="Image 10" descr="preencoded.png"/>
          <p:cNvPicPr>
            <a:picLocks noChangeAspect="1"/>
          </p:cNvPicPr>
          <p:nvPr/>
        </p:nvPicPr>
        <p:blipFill>
          <a:blip r:embed="rId4"/>
          <a:srcRect/>
          <a:stretch>
            <a:fillRect/>
          </a:stretch>
        </p:blipFill>
        <p:spPr>
          <a:xfrm>
            <a:off x="990295" y="7627010"/>
            <a:ext cx="142646" cy="190195"/>
          </a:xfrm>
          <a:prstGeom prst="rect">
            <a:avLst/>
          </a:prstGeom>
        </p:spPr>
      </p:pic>
      <p:sp>
        <p:nvSpPr>
          <p:cNvPr id="51" name="Shape 38"/>
          <p:cNvSpPr/>
          <p:nvPr/>
        </p:nvSpPr>
        <p:spPr>
          <a:xfrm>
            <a:off x="990295" y="7955280"/>
            <a:ext cx="8124444" cy="1057046"/>
          </a:xfrm>
          <a:prstGeom prst="roundRect">
            <a:avLst>
              <a:gd name="adj" fmla="val 6235"/>
            </a:avLst>
          </a:prstGeom>
          <a:solidFill>
            <a:srgbClr val="FFFFFF"/>
          </a:solidFill>
          <a:effectLst>
            <a:outerShdw blurRad="50800" dist="25400" dir="5400000" algn="bl" rotWithShape="0">
              <a:srgbClr val="000000">
                <a:alpha val="5000"/>
              </a:srgbClr>
            </a:outerShdw>
          </a:effectLst>
        </p:spPr>
      </p:sp>
      <p:sp>
        <p:nvSpPr>
          <p:cNvPr id="52" name="Shape 39"/>
          <p:cNvSpPr/>
          <p:nvPr/>
        </p:nvSpPr>
        <p:spPr>
          <a:xfrm>
            <a:off x="990295" y="7955280"/>
            <a:ext cx="8124444" cy="38405"/>
          </a:xfrm>
          <a:prstGeom prst="rect">
            <a:avLst/>
          </a:prstGeom>
          <a:solidFill>
            <a:srgbClr val="0A4275"/>
          </a:solidFill>
        </p:spPr>
      </p:sp>
      <p:pic>
        <p:nvPicPr>
          <p:cNvPr id="53" name="Image 11" descr="preencoded.png"/>
          <p:cNvPicPr>
            <a:picLocks noChangeAspect="1"/>
          </p:cNvPicPr>
          <p:nvPr/>
        </p:nvPicPr>
        <p:blipFill>
          <a:blip r:embed="rId9"/>
          <a:srcRect t="-841" b="-841"/>
          <a:stretch>
            <a:fillRect/>
          </a:stretch>
        </p:blipFill>
        <p:spPr>
          <a:xfrm>
            <a:off x="1086307" y="8145475"/>
            <a:ext cx="190195" cy="171907"/>
          </a:xfrm>
          <a:prstGeom prst="rect">
            <a:avLst/>
          </a:prstGeom>
        </p:spPr>
      </p:pic>
      <p:sp>
        <p:nvSpPr>
          <p:cNvPr id="54" name="Text 40"/>
          <p:cNvSpPr txBox="1"/>
          <p:nvPr/>
        </p:nvSpPr>
        <p:spPr>
          <a:xfrm>
            <a:off x="1343254" y="8088782"/>
            <a:ext cx="2429561" cy="286207"/>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方案一：部署态势感知设备</a:t>
            </a:r>
            <a:endParaRPr lang="en-US" sz="1500" dirty="0"/>
          </a:p>
        </p:txBody>
      </p:sp>
      <p:sp>
        <p:nvSpPr>
          <p:cNvPr id="55" name="Text 41"/>
          <p:cNvSpPr txBox="1"/>
          <p:nvPr/>
        </p:nvSpPr>
        <p:spPr>
          <a:xfrm>
            <a:off x="9562795" y="8088782"/>
            <a:ext cx="2429561" cy="286207"/>
          </a:xfrm>
          <a:prstGeom prst="rect">
            <a:avLst/>
          </a:prstGeom>
          <a:noFill/>
        </p:spPr>
        <p:txBody>
          <a:bodyPr wrap="square" lIns="0" tIns="0" rIns="0" bIns="0" rtlCol="0" anchor="ctr"/>
          <a:lstStyle/>
          <a:p>
            <a:pPr marL="0" indent="0" algn="l">
              <a:buNone/>
            </a:pPr>
            <a:r>
              <a:rPr lang="en-US" sz="1500" b="1" dirty="0">
                <a:solidFill>
                  <a:srgbClr val="0A4275"/>
                </a:solidFill>
                <a:latin typeface="Noto Sans SC" pitchFamily="34" charset="0"/>
                <a:ea typeface="Noto Sans SC" pitchFamily="34" charset="-122"/>
                <a:cs typeface="Noto Sans SC" pitchFamily="34" charset="-120"/>
              </a:rPr>
              <a:t>方案二：建立安全运营中心</a:t>
            </a:r>
            <a:endParaRPr lang="en-US" sz="1500" dirty="0"/>
          </a:p>
        </p:txBody>
      </p:sp>
      <p:sp>
        <p:nvSpPr>
          <p:cNvPr id="56" name="Text 42"/>
          <p:cNvSpPr txBox="1"/>
          <p:nvPr/>
        </p:nvSpPr>
        <p:spPr>
          <a:xfrm>
            <a:off x="1086307" y="8421624"/>
            <a:ext cx="8015630" cy="495605"/>
          </a:xfrm>
          <a:prstGeom prst="rect">
            <a:avLst/>
          </a:prstGeom>
          <a:noFill/>
        </p:spPr>
        <p:txBody>
          <a:bodyPr wrap="square" lIns="0" tIns="0" rIns="0" bIns="0" rtlCol="0" anchor="ctr"/>
          <a:lstStyle/>
          <a:p>
            <a:pPr marL="0" indent="0" algn="l">
              <a:buNone/>
            </a:pPr>
            <a:r>
              <a:rPr lang="en-US" sz="1400" dirty="0">
                <a:solidFill>
                  <a:srgbClr val="333333"/>
                </a:solidFill>
                <a:latin typeface="Noto Sans SC" pitchFamily="34" charset="0"/>
                <a:ea typeface="Noto Sans SC" pitchFamily="34" charset="-122"/>
                <a:cs typeface="Noto Sans SC" pitchFamily="34" charset="-120"/>
              </a:rPr>
              <a:t>在核心交换节点部署态势感知设备，镜像内外网核心交换机流量，对全网流量进行深度检测，实现异常行为实时告警，尤其针对高频被攻击业务系统建立专项监控。</a:t>
            </a:r>
            <a:endParaRPr lang="en-US" sz="1400" dirty="0">
              <a:solidFill>
                <a:srgbClr val="333333"/>
              </a:solidFill>
              <a:latin typeface="Noto Sans SC" pitchFamily="34" charset="0"/>
              <a:ea typeface="Noto Sans SC" pitchFamily="34" charset="-122"/>
              <a:cs typeface="Noto Sans SC" pitchFamily="34" charset="-120"/>
            </a:endParaRPr>
          </a:p>
        </p:txBody>
      </p:sp>
      <p:pic>
        <p:nvPicPr>
          <p:cNvPr id="57" name="Image 12" descr="preencoded.png"/>
          <p:cNvPicPr>
            <a:picLocks noChangeAspect="1"/>
          </p:cNvPicPr>
          <p:nvPr/>
        </p:nvPicPr>
        <p:blipFill>
          <a:blip r:embed="rId10"/>
          <a:srcRect/>
          <a:stretch>
            <a:fillRect/>
          </a:stretch>
        </p:blipFill>
        <p:spPr>
          <a:xfrm>
            <a:off x="9325051" y="8145475"/>
            <a:ext cx="171907" cy="171907"/>
          </a:xfrm>
          <a:prstGeom prst="rect">
            <a:avLst/>
          </a:prstGeom>
        </p:spPr>
      </p:pic>
      <p:sp>
        <p:nvSpPr>
          <p:cNvPr id="58" name="Text 43"/>
          <p:cNvSpPr txBox="1"/>
          <p:nvPr/>
        </p:nvSpPr>
        <p:spPr>
          <a:xfrm>
            <a:off x="9325051" y="8421624"/>
            <a:ext cx="7901330" cy="495605"/>
          </a:xfrm>
          <a:prstGeom prst="rect">
            <a:avLst/>
          </a:prstGeom>
          <a:noFill/>
        </p:spPr>
        <p:txBody>
          <a:bodyPr wrap="square" lIns="0" tIns="0" rIns="0" bIns="0" rtlCol="0" anchor="ctr"/>
          <a:lstStyle/>
          <a:p>
            <a:pPr marL="0" indent="0" algn="l">
              <a:buNone/>
            </a:pPr>
            <a:r>
              <a:rPr lang="en-US" sz="1400" dirty="0">
                <a:solidFill>
                  <a:srgbClr val="333333"/>
                </a:solidFill>
                <a:latin typeface="Noto Sans SC" pitchFamily="34" charset="0"/>
                <a:ea typeface="Noto Sans SC" pitchFamily="34" charset="-122"/>
                <a:cs typeface="Noto Sans SC" pitchFamily="34" charset="-120"/>
              </a:rPr>
              <a:t>建议逐步建设医院安全运营中心(SOC)，整合现有安全设备数据，形成全网可视化监测平台，配置7×24小时安全监测机制，与应急处置团队联动响应。</a:t>
            </a:r>
            <a:endParaRPr lang="en-US" sz="1400" dirty="0">
              <a:solidFill>
                <a:srgbClr val="333333"/>
              </a:solidFill>
              <a:latin typeface="Noto Sans SC" pitchFamily="34" charset="0"/>
              <a:ea typeface="Noto Sans SC" pitchFamily="34" charset="-122"/>
              <a:cs typeface="Noto Sans SC" pitchFamily="34" charset="-120"/>
            </a:endParaRPr>
          </a:p>
        </p:txBody>
      </p:sp>
      <p:sp>
        <p:nvSpPr>
          <p:cNvPr id="59" name="Text 44"/>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16</a:t>
            </a:r>
            <a:endParaRPr lang="en-US" sz="1000" dirty="0"/>
          </a:p>
        </p:txBody>
      </p:sp>
      <p:sp>
        <p:nvSpPr>
          <p:cNvPr id="61" name="Shape 18"/>
          <p:cNvSpPr/>
          <p:nvPr>
            <p:custDataLst>
              <p:tags r:id="rId11"/>
            </p:custDataLst>
          </p:nvPr>
        </p:nvSpPr>
        <p:spPr>
          <a:xfrm>
            <a:off x="761695" y="5480914"/>
            <a:ext cx="16763695" cy="3705149"/>
          </a:xfrm>
          <a:prstGeom prst="roundRect">
            <a:avLst>
              <a:gd name="adj" fmla="val 888"/>
            </a:avLst>
          </a:prstGeom>
          <a:solidFill>
            <a:srgbClr val="0A4275">
              <a:alpha val="6000"/>
            </a:srgbClr>
          </a:solid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8288000" cy="95098"/>
          </a:xfrm>
          <a:prstGeom prst="rect">
            <a:avLst/>
          </a:prstGeom>
          <a:solidFill>
            <a:srgbClr val="0A4275"/>
          </a:solidFill>
        </p:spPr>
      </p:sp>
      <p:sp>
        <p:nvSpPr>
          <p:cNvPr id="4" name="Text 2"/>
          <p:cNvSpPr txBox="1"/>
          <p:nvPr/>
        </p:nvSpPr>
        <p:spPr>
          <a:xfrm>
            <a:off x="761695" y="523951"/>
            <a:ext cx="4272077" cy="629107"/>
          </a:xfrm>
          <a:prstGeom prst="rect">
            <a:avLst/>
          </a:prstGeom>
          <a:noFill/>
        </p:spPr>
        <p:txBody>
          <a:bodyPr wrap="square" lIns="0" tIns="0" rIns="0" bIns="0" rtlCol="0" anchor="ctr"/>
          <a:lstStyle/>
          <a:p>
            <a:pPr marL="0" indent="0" algn="l">
              <a:buNone/>
            </a:pPr>
            <a:r>
              <a:rPr lang="en-US" sz="3400" b="1" dirty="0">
                <a:solidFill>
                  <a:srgbClr val="0A4275"/>
                </a:solidFill>
                <a:latin typeface="Noto Sans SC" pitchFamily="34" charset="0"/>
                <a:ea typeface="Noto Sans SC" pitchFamily="34" charset="-122"/>
                <a:cs typeface="Noto Sans SC" pitchFamily="34" charset="-120"/>
              </a:rPr>
              <a:t>下半年安全运营计划</a:t>
            </a:r>
            <a:endParaRPr lang="en-US" sz="3400" dirty="0"/>
          </a:p>
        </p:txBody>
      </p:sp>
      <p:sp>
        <p:nvSpPr>
          <p:cNvPr id="5" name="Shape 3"/>
          <p:cNvSpPr/>
          <p:nvPr/>
        </p:nvSpPr>
        <p:spPr>
          <a:xfrm>
            <a:off x="761695" y="1248156"/>
            <a:ext cx="914400" cy="38405"/>
          </a:xfrm>
          <a:prstGeom prst="rect">
            <a:avLst/>
          </a:prstGeom>
          <a:solidFill>
            <a:srgbClr val="0A4275"/>
          </a:solidFill>
        </p:spPr>
      </p:sp>
      <p:sp>
        <p:nvSpPr>
          <p:cNvPr id="6" name="Shape 4"/>
          <p:cNvSpPr/>
          <p:nvPr/>
        </p:nvSpPr>
        <p:spPr>
          <a:xfrm>
            <a:off x="761695" y="1438351"/>
            <a:ext cx="8343900" cy="1285646"/>
          </a:xfrm>
          <a:prstGeom prst="roundRect">
            <a:avLst>
              <a:gd name="adj" fmla="val 6322"/>
            </a:avLst>
          </a:prstGeom>
          <a:solidFill>
            <a:srgbClr val="0A4275">
              <a:alpha val="6000"/>
            </a:srgbClr>
          </a:solidFill>
        </p:spPr>
      </p:sp>
      <p:sp>
        <p:nvSpPr>
          <p:cNvPr id="7" name="Shape 5"/>
          <p:cNvSpPr/>
          <p:nvPr/>
        </p:nvSpPr>
        <p:spPr>
          <a:xfrm>
            <a:off x="761695" y="1438351"/>
            <a:ext cx="47549" cy="1285646"/>
          </a:xfrm>
          <a:prstGeom prst="rect">
            <a:avLst/>
          </a:prstGeom>
          <a:solidFill>
            <a:srgbClr val="0A4275"/>
          </a:solidFill>
        </p:spPr>
      </p:sp>
      <p:pic>
        <p:nvPicPr>
          <p:cNvPr id="8" name="Image 0" descr="preencoded.png"/>
          <p:cNvPicPr>
            <a:picLocks noChangeAspect="1"/>
          </p:cNvPicPr>
          <p:nvPr/>
        </p:nvPicPr>
        <p:blipFill>
          <a:blip r:embed="rId1"/>
          <a:srcRect l="-775" r="-775"/>
          <a:stretch>
            <a:fillRect/>
          </a:stretch>
        </p:blipFill>
        <p:spPr>
          <a:xfrm>
            <a:off x="1000354" y="1580998"/>
            <a:ext cx="314554" cy="247802"/>
          </a:xfrm>
          <a:prstGeom prst="rect">
            <a:avLst/>
          </a:prstGeom>
        </p:spPr>
      </p:pic>
      <p:sp>
        <p:nvSpPr>
          <p:cNvPr id="9" name="Shape 6"/>
          <p:cNvSpPr/>
          <p:nvPr/>
        </p:nvSpPr>
        <p:spPr>
          <a:xfrm>
            <a:off x="9182405" y="1438351"/>
            <a:ext cx="8343900" cy="1285646"/>
          </a:xfrm>
          <a:prstGeom prst="roundRect">
            <a:avLst>
              <a:gd name="adj" fmla="val 6322"/>
            </a:avLst>
          </a:prstGeom>
          <a:solidFill>
            <a:srgbClr val="0A4275">
              <a:alpha val="6000"/>
            </a:srgbClr>
          </a:solidFill>
        </p:spPr>
      </p:sp>
      <p:sp>
        <p:nvSpPr>
          <p:cNvPr id="10" name="Shape 7"/>
          <p:cNvSpPr/>
          <p:nvPr/>
        </p:nvSpPr>
        <p:spPr>
          <a:xfrm>
            <a:off x="9182405" y="1438351"/>
            <a:ext cx="47549" cy="1285646"/>
          </a:xfrm>
          <a:prstGeom prst="rect">
            <a:avLst/>
          </a:prstGeom>
          <a:solidFill>
            <a:srgbClr val="0A4275"/>
          </a:solidFill>
        </p:spPr>
      </p:sp>
      <p:sp>
        <p:nvSpPr>
          <p:cNvPr id="11" name="Shape 8"/>
          <p:cNvSpPr/>
          <p:nvPr/>
        </p:nvSpPr>
        <p:spPr>
          <a:xfrm>
            <a:off x="761695" y="4381195"/>
            <a:ext cx="8343900" cy="1067105"/>
          </a:xfrm>
          <a:prstGeom prst="roundRect">
            <a:avLst>
              <a:gd name="adj" fmla="val 9181"/>
            </a:avLst>
          </a:prstGeom>
          <a:solidFill>
            <a:srgbClr val="0A4275">
              <a:alpha val="6000"/>
            </a:srgbClr>
          </a:solidFill>
        </p:spPr>
      </p:sp>
      <p:sp>
        <p:nvSpPr>
          <p:cNvPr id="12" name="Shape 9"/>
          <p:cNvSpPr/>
          <p:nvPr/>
        </p:nvSpPr>
        <p:spPr>
          <a:xfrm>
            <a:off x="761695" y="4381195"/>
            <a:ext cx="47549" cy="1067105"/>
          </a:xfrm>
          <a:prstGeom prst="rect">
            <a:avLst/>
          </a:prstGeom>
          <a:solidFill>
            <a:srgbClr val="0A4275"/>
          </a:solidFill>
        </p:spPr>
      </p:sp>
      <p:sp>
        <p:nvSpPr>
          <p:cNvPr id="13" name="Shape 10"/>
          <p:cNvSpPr/>
          <p:nvPr/>
        </p:nvSpPr>
        <p:spPr>
          <a:xfrm>
            <a:off x="9182405" y="4381195"/>
            <a:ext cx="8343900" cy="1067105"/>
          </a:xfrm>
          <a:prstGeom prst="roundRect">
            <a:avLst>
              <a:gd name="adj" fmla="val 9181"/>
            </a:avLst>
          </a:prstGeom>
          <a:solidFill>
            <a:srgbClr val="0A4275">
              <a:alpha val="6000"/>
            </a:srgbClr>
          </a:solidFill>
        </p:spPr>
      </p:sp>
      <p:sp>
        <p:nvSpPr>
          <p:cNvPr id="14" name="Shape 11"/>
          <p:cNvSpPr/>
          <p:nvPr/>
        </p:nvSpPr>
        <p:spPr>
          <a:xfrm>
            <a:off x="9182405" y="4381195"/>
            <a:ext cx="47549" cy="1067105"/>
          </a:xfrm>
          <a:prstGeom prst="rect">
            <a:avLst/>
          </a:prstGeom>
          <a:solidFill>
            <a:srgbClr val="0A4275"/>
          </a:solidFill>
        </p:spPr>
      </p:sp>
      <p:sp>
        <p:nvSpPr>
          <p:cNvPr id="15" name="Text 12"/>
          <p:cNvSpPr txBox="1"/>
          <p:nvPr/>
        </p:nvSpPr>
        <p:spPr>
          <a:xfrm>
            <a:off x="1429207" y="1533449"/>
            <a:ext cx="10863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资产管理</a:t>
            </a:r>
            <a:endParaRPr lang="en-US" sz="1800" dirty="0"/>
          </a:p>
        </p:txBody>
      </p:sp>
      <p:sp>
        <p:nvSpPr>
          <p:cNvPr id="16" name="Text 13"/>
          <p:cNvSpPr txBox="1"/>
          <p:nvPr/>
        </p:nvSpPr>
        <p:spPr>
          <a:xfrm>
            <a:off x="9782251" y="1533449"/>
            <a:ext cx="13149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脆弱性管理</a:t>
            </a:r>
            <a:endParaRPr lang="en-US" sz="1800" dirty="0"/>
          </a:p>
        </p:txBody>
      </p:sp>
      <p:sp>
        <p:nvSpPr>
          <p:cNvPr id="17" name="Text 14"/>
          <p:cNvSpPr txBox="1"/>
          <p:nvPr/>
        </p:nvSpPr>
        <p:spPr>
          <a:xfrm>
            <a:off x="1362456" y="4477207"/>
            <a:ext cx="10863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事件管理</a:t>
            </a:r>
            <a:endParaRPr lang="en-US" sz="1800" dirty="0"/>
          </a:p>
        </p:txBody>
      </p:sp>
      <p:sp>
        <p:nvSpPr>
          <p:cNvPr id="18" name="Text 15"/>
          <p:cNvSpPr txBox="1"/>
          <p:nvPr/>
        </p:nvSpPr>
        <p:spPr>
          <a:xfrm>
            <a:off x="1190549" y="1914754"/>
            <a:ext cx="6620256"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对全网资产进行持续的资产管理标准流程操作，跟进资产的新增、替换等工作</a:t>
            </a:r>
            <a:endParaRPr lang="en-US" sz="1500" dirty="0"/>
          </a:p>
        </p:txBody>
      </p:sp>
      <p:sp>
        <p:nvSpPr>
          <p:cNvPr id="19" name="Text 16"/>
          <p:cNvSpPr txBox="1"/>
          <p:nvPr/>
        </p:nvSpPr>
        <p:spPr>
          <a:xfrm>
            <a:off x="1190549" y="2162556"/>
            <a:ext cx="5477256"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持续开展互联网暴露面梳理，推动并协助客户缩小互联网暴露面</a:t>
            </a:r>
            <a:endParaRPr lang="en-US" sz="1500" dirty="0"/>
          </a:p>
        </p:txBody>
      </p:sp>
      <p:pic>
        <p:nvPicPr>
          <p:cNvPr id="20" name="Image 1" descr="preencoded.png"/>
          <p:cNvPicPr>
            <a:picLocks noChangeAspect="1"/>
          </p:cNvPicPr>
          <p:nvPr/>
        </p:nvPicPr>
        <p:blipFill>
          <a:blip r:embed="rId2"/>
          <a:srcRect/>
          <a:stretch>
            <a:fillRect/>
          </a:stretch>
        </p:blipFill>
        <p:spPr>
          <a:xfrm>
            <a:off x="9420149" y="1580998"/>
            <a:ext cx="247802" cy="247802"/>
          </a:xfrm>
          <a:prstGeom prst="rect">
            <a:avLst/>
          </a:prstGeom>
        </p:spPr>
      </p:pic>
      <p:sp>
        <p:nvSpPr>
          <p:cNvPr id="21" name="Text 17"/>
          <p:cNvSpPr txBox="1"/>
          <p:nvPr/>
        </p:nvSpPr>
        <p:spPr>
          <a:xfrm>
            <a:off x="9849002" y="4477207"/>
            <a:ext cx="10863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值守重保</a:t>
            </a:r>
            <a:endParaRPr lang="en-US" sz="1800" dirty="0"/>
          </a:p>
        </p:txBody>
      </p:sp>
      <p:sp>
        <p:nvSpPr>
          <p:cNvPr id="22" name="Text 18"/>
          <p:cNvSpPr txBox="1"/>
          <p:nvPr/>
        </p:nvSpPr>
        <p:spPr>
          <a:xfrm>
            <a:off x="9610344" y="1914754"/>
            <a:ext cx="7135063"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对服务内资产发起全量的漏洞扫描或复测，复测已防护&amp;修复漏洞，识别新增脆弱性</a:t>
            </a:r>
            <a:endParaRPr lang="en-US" sz="1500" dirty="0"/>
          </a:p>
        </p:txBody>
      </p:sp>
      <p:sp>
        <p:nvSpPr>
          <p:cNvPr id="23" name="Text 19"/>
          <p:cNvSpPr txBox="1"/>
          <p:nvPr/>
        </p:nvSpPr>
        <p:spPr>
          <a:xfrm>
            <a:off x="9610344" y="2162556"/>
            <a:ext cx="7868412" cy="438912"/>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对已发现的高危可利用漏洞，协助医院开展EDR轻补丁、防火墙规则防护、漏洞补丁修复等闭环工作</a:t>
            </a:r>
            <a:endParaRPr lang="en-US" sz="1500" dirty="0"/>
          </a:p>
        </p:txBody>
      </p:sp>
      <p:sp>
        <p:nvSpPr>
          <p:cNvPr id="24" name="Text 20"/>
          <p:cNvSpPr txBox="1"/>
          <p:nvPr/>
        </p:nvSpPr>
        <p:spPr>
          <a:xfrm>
            <a:off x="1190549" y="4857598"/>
            <a:ext cx="4144061"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持续跟进医院内安全事件的及时响应及闭环处置</a:t>
            </a:r>
            <a:endParaRPr lang="en-US" sz="1500" dirty="0"/>
          </a:p>
        </p:txBody>
      </p:sp>
      <p:sp>
        <p:nvSpPr>
          <p:cNvPr id="25" name="Text 21"/>
          <p:cNvSpPr txBox="1"/>
          <p:nvPr/>
        </p:nvSpPr>
        <p:spPr>
          <a:xfrm>
            <a:off x="1190549" y="5105400"/>
            <a:ext cx="4715561"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按需主动开展安全日志分析，提前发现潜在的安全风险</a:t>
            </a:r>
            <a:endParaRPr lang="en-US" sz="1500" dirty="0"/>
          </a:p>
        </p:txBody>
      </p:sp>
      <p:sp>
        <p:nvSpPr>
          <p:cNvPr id="26" name="Text 22"/>
          <p:cNvSpPr txBox="1"/>
          <p:nvPr/>
        </p:nvSpPr>
        <p:spPr>
          <a:xfrm>
            <a:off x="9610344" y="4857598"/>
            <a:ext cx="5667451"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完成重要节假日或攻防演练安全运营值守，保障医院整体网络安全</a:t>
            </a:r>
            <a:endParaRPr lang="en-US" sz="1500" dirty="0"/>
          </a:p>
        </p:txBody>
      </p:sp>
      <p:sp>
        <p:nvSpPr>
          <p:cNvPr id="27" name="Shape 23"/>
          <p:cNvSpPr/>
          <p:nvPr/>
        </p:nvSpPr>
        <p:spPr>
          <a:xfrm>
            <a:off x="761695" y="2889098"/>
            <a:ext cx="16763695" cy="1314907"/>
          </a:xfrm>
          <a:prstGeom prst="roundRect">
            <a:avLst>
              <a:gd name="adj" fmla="val 6047"/>
            </a:avLst>
          </a:prstGeom>
          <a:solidFill>
            <a:srgbClr val="0A4275">
              <a:alpha val="6000"/>
            </a:srgbClr>
          </a:solidFill>
        </p:spPr>
      </p:sp>
      <p:sp>
        <p:nvSpPr>
          <p:cNvPr id="28" name="Shape 24"/>
          <p:cNvSpPr/>
          <p:nvPr/>
        </p:nvSpPr>
        <p:spPr>
          <a:xfrm>
            <a:off x="761695" y="2889098"/>
            <a:ext cx="47549" cy="1314907"/>
          </a:xfrm>
          <a:prstGeom prst="rect">
            <a:avLst/>
          </a:prstGeom>
          <a:solidFill>
            <a:srgbClr val="0A4275"/>
          </a:solidFill>
        </p:spPr>
      </p:sp>
      <p:sp>
        <p:nvSpPr>
          <p:cNvPr id="29" name="Text 25"/>
          <p:cNvSpPr txBox="1"/>
          <p:nvPr/>
        </p:nvSpPr>
        <p:spPr>
          <a:xfrm>
            <a:off x="1114654" y="2984195"/>
            <a:ext cx="10863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威胁管理</a:t>
            </a:r>
            <a:endParaRPr lang="en-US" sz="1800" dirty="0"/>
          </a:p>
        </p:txBody>
      </p:sp>
      <p:sp>
        <p:nvSpPr>
          <p:cNvPr id="30" name="Text 26"/>
          <p:cNvSpPr txBox="1"/>
          <p:nvPr/>
        </p:nvSpPr>
        <p:spPr>
          <a:xfrm>
            <a:off x="1190549" y="3365500"/>
            <a:ext cx="7001561"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持续监测互联网外部的网络攻击行为，及时发现高危持续外部攻击，及时封堵阻断</a:t>
            </a:r>
            <a:endParaRPr lang="en-US" sz="1500" dirty="0"/>
          </a:p>
        </p:txBody>
      </p:sp>
      <p:sp>
        <p:nvSpPr>
          <p:cNvPr id="31" name="Text 27"/>
          <p:cNvSpPr txBox="1"/>
          <p:nvPr/>
        </p:nvSpPr>
        <p:spPr>
          <a:xfrm>
            <a:off x="1190549" y="3613302"/>
            <a:ext cx="7191756"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按需推送行业安全威胁情报，检测医院内部资产命中威胁情况，并反馈医院内部排查</a:t>
            </a:r>
            <a:endParaRPr lang="en-US" sz="1500" dirty="0"/>
          </a:p>
        </p:txBody>
      </p:sp>
      <p:sp>
        <p:nvSpPr>
          <p:cNvPr id="32" name="Text 28"/>
          <p:cNvSpPr txBox="1"/>
          <p:nvPr/>
        </p:nvSpPr>
        <p:spPr>
          <a:xfrm>
            <a:off x="1190549" y="3861105"/>
            <a:ext cx="6449263" cy="219456"/>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对安全组件开展策略检查，针对AF、EDR的检查项逐一排查，发现策略隐患</a:t>
            </a:r>
            <a:endParaRPr lang="en-US" sz="1500" dirty="0"/>
          </a:p>
        </p:txBody>
      </p:sp>
      <p:pic>
        <p:nvPicPr>
          <p:cNvPr id="33" name="Image 2" descr="preencoded.png"/>
          <p:cNvPicPr>
            <a:picLocks noChangeAspect="1"/>
          </p:cNvPicPr>
          <p:nvPr/>
        </p:nvPicPr>
        <p:blipFill>
          <a:blip r:embed="rId3"/>
          <a:srcRect/>
          <a:stretch>
            <a:fillRect/>
          </a:stretch>
        </p:blipFill>
        <p:spPr>
          <a:xfrm>
            <a:off x="1000354" y="4524756"/>
            <a:ext cx="247802" cy="247802"/>
          </a:xfrm>
          <a:prstGeom prst="rect">
            <a:avLst/>
          </a:prstGeom>
        </p:spPr>
      </p:pic>
      <p:pic>
        <p:nvPicPr>
          <p:cNvPr id="34" name="Image 3" descr="preencoded.png"/>
          <p:cNvPicPr>
            <a:picLocks noChangeAspect="1"/>
          </p:cNvPicPr>
          <p:nvPr/>
        </p:nvPicPr>
        <p:blipFill>
          <a:blip r:embed="rId4"/>
          <a:srcRect l="-775" r="-775"/>
          <a:stretch>
            <a:fillRect/>
          </a:stretch>
        </p:blipFill>
        <p:spPr>
          <a:xfrm>
            <a:off x="9420149" y="4524756"/>
            <a:ext cx="314554" cy="247802"/>
          </a:xfrm>
          <a:prstGeom prst="rect">
            <a:avLst/>
          </a:prstGeom>
        </p:spPr>
      </p:pic>
      <p:sp>
        <p:nvSpPr>
          <p:cNvPr id="35" name="Shape 29"/>
          <p:cNvSpPr/>
          <p:nvPr/>
        </p:nvSpPr>
        <p:spPr>
          <a:xfrm>
            <a:off x="761695" y="5588000"/>
            <a:ext cx="16763695" cy="1561795"/>
          </a:xfrm>
          <a:prstGeom prst="roundRect">
            <a:avLst>
              <a:gd name="adj" fmla="val 4284"/>
            </a:avLst>
          </a:prstGeom>
          <a:solidFill>
            <a:srgbClr val="0A4275">
              <a:alpha val="8000"/>
            </a:srgbClr>
          </a:solidFill>
        </p:spPr>
      </p:sp>
      <p:sp>
        <p:nvSpPr>
          <p:cNvPr id="36" name="Shape 30"/>
          <p:cNvSpPr/>
          <p:nvPr/>
        </p:nvSpPr>
        <p:spPr>
          <a:xfrm>
            <a:off x="761695" y="5588000"/>
            <a:ext cx="57607" cy="1561795"/>
          </a:xfrm>
          <a:prstGeom prst="rect">
            <a:avLst/>
          </a:prstGeom>
          <a:solidFill>
            <a:srgbClr val="0A4275"/>
          </a:solidFill>
        </p:spPr>
      </p:sp>
      <p:pic>
        <p:nvPicPr>
          <p:cNvPr id="37" name="Image 4" descr="preencoded.png"/>
          <p:cNvPicPr>
            <a:picLocks noChangeAspect="1"/>
          </p:cNvPicPr>
          <p:nvPr/>
        </p:nvPicPr>
        <p:blipFill>
          <a:blip r:embed="rId5"/>
          <a:srcRect l="-606" r="-606"/>
          <a:stretch>
            <a:fillRect/>
          </a:stretch>
        </p:blipFill>
        <p:spPr>
          <a:xfrm>
            <a:off x="1009498" y="5730646"/>
            <a:ext cx="219456" cy="247802"/>
          </a:xfrm>
          <a:prstGeom prst="rect">
            <a:avLst/>
          </a:prstGeom>
        </p:spPr>
      </p:pic>
      <p:sp>
        <p:nvSpPr>
          <p:cNvPr id="38" name="Shape 31"/>
          <p:cNvSpPr/>
          <p:nvPr/>
        </p:nvSpPr>
        <p:spPr>
          <a:xfrm>
            <a:off x="761695" y="7289800"/>
            <a:ext cx="16763695" cy="1561795"/>
          </a:xfrm>
          <a:prstGeom prst="roundRect">
            <a:avLst>
              <a:gd name="adj" fmla="val 4284"/>
            </a:avLst>
          </a:prstGeom>
          <a:solidFill>
            <a:srgbClr val="0A4275">
              <a:alpha val="8000"/>
            </a:srgbClr>
          </a:solidFill>
        </p:spPr>
      </p:sp>
      <p:sp>
        <p:nvSpPr>
          <p:cNvPr id="39" name="Shape 32"/>
          <p:cNvSpPr/>
          <p:nvPr/>
        </p:nvSpPr>
        <p:spPr>
          <a:xfrm>
            <a:off x="761695" y="7289800"/>
            <a:ext cx="57607" cy="1561795"/>
          </a:xfrm>
          <a:prstGeom prst="rect">
            <a:avLst/>
          </a:prstGeom>
          <a:solidFill>
            <a:srgbClr val="0A4275"/>
          </a:solidFill>
        </p:spPr>
      </p:sp>
      <p:sp>
        <p:nvSpPr>
          <p:cNvPr id="40" name="Text 33"/>
          <p:cNvSpPr txBox="1"/>
          <p:nvPr/>
        </p:nvSpPr>
        <p:spPr>
          <a:xfrm>
            <a:off x="1343254" y="5683098"/>
            <a:ext cx="20007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通报应对专项计划</a:t>
            </a:r>
            <a:endParaRPr lang="en-US" sz="1800" dirty="0"/>
          </a:p>
        </p:txBody>
      </p:sp>
      <p:sp>
        <p:nvSpPr>
          <p:cNvPr id="41" name="Text 34"/>
          <p:cNvSpPr txBox="1"/>
          <p:nvPr/>
        </p:nvSpPr>
        <p:spPr>
          <a:xfrm>
            <a:off x="1343254" y="7384898"/>
            <a:ext cx="2457907" cy="342900"/>
          </a:xfrm>
          <a:prstGeom prst="rect">
            <a:avLst/>
          </a:prstGeom>
          <a:noFill/>
        </p:spPr>
        <p:txBody>
          <a:bodyPr wrap="square" lIns="0" tIns="0" rIns="0" bIns="0" rtlCol="0" anchor="ctr"/>
          <a:lstStyle/>
          <a:p>
            <a:pPr marL="0" indent="0" algn="l">
              <a:buNone/>
            </a:pPr>
            <a:r>
              <a:rPr lang="en-US" sz="1800" b="1" dirty="0">
                <a:solidFill>
                  <a:srgbClr val="0A4275"/>
                </a:solidFill>
                <a:latin typeface="Noto Sans SC" pitchFamily="34" charset="0"/>
                <a:ea typeface="Noto Sans SC" pitchFamily="34" charset="-122"/>
                <a:cs typeface="Noto Sans SC" pitchFamily="34" charset="-120"/>
              </a:rPr>
              <a:t>重要时期保障专项计划</a:t>
            </a:r>
            <a:endParaRPr lang="en-US" sz="1800" dirty="0"/>
          </a:p>
        </p:txBody>
      </p:sp>
      <p:grpSp>
        <p:nvGrpSpPr>
          <p:cNvPr id="59" name="组合 58"/>
          <p:cNvGrpSpPr/>
          <p:nvPr/>
        </p:nvGrpSpPr>
        <p:grpSpPr>
          <a:xfrm>
            <a:off x="3724275" y="7402195"/>
            <a:ext cx="1065530" cy="273050"/>
            <a:chOff x="5865" y="11677"/>
            <a:chExt cx="1678" cy="430"/>
          </a:xfrm>
        </p:grpSpPr>
        <p:sp>
          <p:nvSpPr>
            <p:cNvPr id="43" name="Shape 36"/>
            <p:cNvSpPr/>
            <p:nvPr/>
          </p:nvSpPr>
          <p:spPr>
            <a:xfrm>
              <a:off x="5865" y="11677"/>
              <a:ext cx="1441" cy="430"/>
            </a:xfrm>
            <a:prstGeom prst="roundRect">
              <a:avLst>
                <a:gd name="adj" fmla="val 52722"/>
              </a:avLst>
            </a:prstGeom>
            <a:solidFill>
              <a:srgbClr val="C00000"/>
            </a:solidFill>
          </p:spPr>
        </p:sp>
        <p:sp>
          <p:nvSpPr>
            <p:cNvPr id="45" name="Text 38"/>
            <p:cNvSpPr txBox="1"/>
            <p:nvPr/>
          </p:nvSpPr>
          <p:spPr>
            <a:xfrm>
              <a:off x="6025" y="11722"/>
              <a:ext cx="1518" cy="323"/>
            </a:xfrm>
            <a:prstGeom prst="rect">
              <a:avLst/>
            </a:prstGeom>
            <a:noFill/>
          </p:spPr>
          <p:txBody>
            <a:bodyPr wrap="square" lIns="0" tIns="0" rIns="0" bIns="0" rtlCol="0" anchor="ctr"/>
            <a:lstStyle/>
            <a:p>
              <a:pPr marL="0" indent="0" algn="l">
                <a:buNone/>
              </a:pPr>
              <a:r>
                <a:rPr lang="en-US" sz="1400" dirty="0">
                  <a:solidFill>
                    <a:srgbClr val="FFFFFF"/>
                  </a:solidFill>
                  <a:latin typeface="Noto Sans SC" pitchFamily="34" charset="0"/>
                  <a:ea typeface="Noto Sans SC" pitchFamily="34" charset="-122"/>
                  <a:cs typeface="Noto Sans SC" pitchFamily="34" charset="-120"/>
                </a:rPr>
                <a:t>核心关注</a:t>
              </a:r>
              <a:endParaRPr lang="en-US" sz="1400" dirty="0">
                <a:solidFill>
                  <a:srgbClr val="FFFFFF"/>
                </a:solidFill>
                <a:latin typeface="Noto Sans SC" pitchFamily="34" charset="0"/>
                <a:ea typeface="Noto Sans SC" pitchFamily="34" charset="-122"/>
                <a:cs typeface="Noto Sans SC" pitchFamily="34" charset="-120"/>
              </a:endParaRPr>
            </a:p>
          </p:txBody>
        </p:sp>
      </p:grpSp>
      <p:sp>
        <p:nvSpPr>
          <p:cNvPr id="46" name="Text 39"/>
          <p:cNvSpPr txBox="1"/>
          <p:nvPr/>
        </p:nvSpPr>
        <p:spPr>
          <a:xfrm>
            <a:off x="1200785" y="6064250"/>
            <a:ext cx="7959725"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1</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建立医疗行业勒索病毒防护专项机制，实施全终端EDR覆盖计划及实时监控</a:t>
            </a:r>
            <a:endParaRPr lang="en-US" sz="1500" dirty="0"/>
          </a:p>
        </p:txBody>
      </p:sp>
      <p:sp>
        <p:nvSpPr>
          <p:cNvPr id="47" name="Text 40"/>
          <p:cNvSpPr txBox="1"/>
          <p:nvPr/>
        </p:nvSpPr>
        <p:spPr>
          <a:xfrm>
            <a:off x="1200785" y="6311900"/>
            <a:ext cx="7759065"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2</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制定紧急安全通报处置SOP，确保平均响应时间优于10分钟行业领先标准</a:t>
            </a:r>
            <a:endParaRPr lang="en-US" sz="1500" dirty="0"/>
          </a:p>
        </p:txBody>
      </p:sp>
      <p:sp>
        <p:nvSpPr>
          <p:cNvPr id="48" name="Text 41"/>
          <p:cNvSpPr txBox="1"/>
          <p:nvPr/>
        </p:nvSpPr>
        <p:spPr>
          <a:xfrm>
            <a:off x="1200785" y="6560185"/>
            <a:ext cx="8917305"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3</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每季度组织一次网络安全防范演练，重点针对勒索软件、患者数据泄露等高风险场景</a:t>
            </a:r>
            <a:endParaRPr lang="en-US" sz="1500" dirty="0"/>
          </a:p>
        </p:txBody>
      </p:sp>
      <p:sp>
        <p:nvSpPr>
          <p:cNvPr id="49" name="Text 42"/>
          <p:cNvSpPr txBox="1"/>
          <p:nvPr/>
        </p:nvSpPr>
        <p:spPr>
          <a:xfrm>
            <a:off x="1200785" y="6807200"/>
            <a:ext cx="8220075"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4</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引入主动防御能力评估，实施漏洞闭环督导机制，持续提高闭环率至目标35%</a:t>
            </a:r>
            <a:endParaRPr lang="en-US" sz="1500" dirty="0"/>
          </a:p>
        </p:txBody>
      </p:sp>
      <p:pic>
        <p:nvPicPr>
          <p:cNvPr id="50" name="Image 5" descr="preencoded.png"/>
          <p:cNvPicPr>
            <a:picLocks noChangeAspect="1"/>
          </p:cNvPicPr>
          <p:nvPr/>
        </p:nvPicPr>
        <p:blipFill>
          <a:blip r:embed="rId6"/>
          <a:srcRect l="-606" r="-606"/>
          <a:stretch>
            <a:fillRect/>
          </a:stretch>
        </p:blipFill>
        <p:spPr>
          <a:xfrm>
            <a:off x="1009498" y="7432446"/>
            <a:ext cx="219456" cy="247802"/>
          </a:xfrm>
          <a:prstGeom prst="rect">
            <a:avLst/>
          </a:prstGeom>
        </p:spPr>
      </p:pic>
      <p:sp>
        <p:nvSpPr>
          <p:cNvPr id="51" name="Text 43"/>
          <p:cNvSpPr txBox="1"/>
          <p:nvPr/>
        </p:nvSpPr>
        <p:spPr>
          <a:xfrm>
            <a:off x="1200785" y="7766050"/>
            <a:ext cx="9643745"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1</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针对国庆、春节、劳动节等重要节假日，制定专项保障方案，实施7×24小时三级响应机制</a:t>
            </a:r>
            <a:endParaRPr lang="en-US" sz="1500" dirty="0"/>
          </a:p>
        </p:txBody>
      </p:sp>
      <p:sp>
        <p:nvSpPr>
          <p:cNvPr id="52" name="Text 44"/>
          <p:cNvSpPr txBox="1"/>
          <p:nvPr/>
        </p:nvSpPr>
        <p:spPr>
          <a:xfrm>
            <a:off x="1200785" y="8013700"/>
            <a:ext cx="6616065"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2</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建立攻防演练期间的应急通道，确保全天候专家团队待命支持</a:t>
            </a:r>
            <a:endParaRPr lang="en-US" sz="1500" dirty="0"/>
          </a:p>
        </p:txBody>
      </p:sp>
      <p:sp>
        <p:nvSpPr>
          <p:cNvPr id="53" name="Text 45"/>
          <p:cNvSpPr txBox="1"/>
          <p:nvPr/>
        </p:nvSpPr>
        <p:spPr>
          <a:xfrm>
            <a:off x="1200785" y="8261985"/>
            <a:ext cx="7331710"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3</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针对重要时期开发特定的攻击模式检测规则，提前部署安全策略增强</a:t>
            </a:r>
            <a:endParaRPr lang="en-US" sz="1500" dirty="0"/>
          </a:p>
        </p:txBody>
      </p:sp>
      <p:sp>
        <p:nvSpPr>
          <p:cNvPr id="54" name="Text 46"/>
          <p:cNvSpPr txBox="1"/>
          <p:nvPr/>
        </p:nvSpPr>
        <p:spPr>
          <a:xfrm>
            <a:off x="1200785" y="8509000"/>
            <a:ext cx="7331710" cy="247650"/>
          </a:xfrm>
          <a:prstGeom prst="rect">
            <a:avLst/>
          </a:prstGeom>
          <a:noFill/>
        </p:spPr>
        <p:txBody>
          <a:bodyPr wrap="square" lIns="0" tIns="0" rIns="0" bIns="0" rtlCol="0" anchor="ctr"/>
          <a:lstStyle/>
          <a:p>
            <a:pPr marL="0" indent="0" algn="l">
              <a:buNone/>
            </a:pPr>
            <a:r>
              <a:rPr lang="en-US" sz="1500" dirty="0">
                <a:solidFill>
                  <a:srgbClr val="333333"/>
                </a:solidFill>
                <a:latin typeface="Noto Sans SC" pitchFamily="34" charset="0"/>
                <a:ea typeface="Noto Sans SC" pitchFamily="34" charset="-122"/>
                <a:cs typeface="Noto Sans SC" pitchFamily="34" charset="-120"/>
              </a:rPr>
              <a:t>4</a:t>
            </a:r>
            <a:r>
              <a:rPr lang="zh-CN" altLang="en-US" sz="1500" dirty="0">
                <a:solidFill>
                  <a:srgbClr val="333333"/>
                </a:solidFill>
                <a:latin typeface="Noto Sans SC" pitchFamily="34" charset="0"/>
                <a:ea typeface="Noto Sans SC" pitchFamily="34" charset="-122"/>
                <a:cs typeface="Noto Sans SC" pitchFamily="34" charset="-120"/>
              </a:rPr>
              <a:t>、</a:t>
            </a:r>
            <a:r>
              <a:rPr lang="en-US" sz="1500" dirty="0">
                <a:solidFill>
                  <a:srgbClr val="333333"/>
                </a:solidFill>
                <a:latin typeface="Noto Sans SC" pitchFamily="34" charset="0"/>
                <a:ea typeface="Noto Sans SC" pitchFamily="34" charset="-122"/>
                <a:cs typeface="Noto Sans SC" pitchFamily="34" charset="-120"/>
              </a:rPr>
              <a:t>每次重保结束后进行安全复盘，形成完善的经验沉淀和防护策略优化</a:t>
            </a:r>
            <a:endParaRPr lang="en-US" sz="1500" dirty="0"/>
          </a:p>
        </p:txBody>
      </p:sp>
      <p:sp>
        <p:nvSpPr>
          <p:cNvPr id="55" name="Text 47"/>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17</a:t>
            </a:r>
            <a:endParaRPr lang="en-US" sz="1000" dirty="0"/>
          </a:p>
        </p:txBody>
      </p:sp>
      <p:grpSp>
        <p:nvGrpSpPr>
          <p:cNvPr id="58" name="组合 57"/>
          <p:cNvGrpSpPr/>
          <p:nvPr/>
        </p:nvGrpSpPr>
        <p:grpSpPr>
          <a:xfrm>
            <a:off x="3293110" y="5695950"/>
            <a:ext cx="1065530" cy="273050"/>
            <a:chOff x="6065" y="11877"/>
            <a:chExt cx="1678" cy="430"/>
          </a:xfrm>
        </p:grpSpPr>
        <p:sp>
          <p:nvSpPr>
            <p:cNvPr id="56" name="Shape 36"/>
            <p:cNvSpPr/>
            <p:nvPr>
              <p:custDataLst>
                <p:tags r:id="rId7"/>
              </p:custDataLst>
            </p:nvPr>
          </p:nvSpPr>
          <p:spPr>
            <a:xfrm>
              <a:off x="6065" y="11877"/>
              <a:ext cx="1441" cy="430"/>
            </a:xfrm>
            <a:prstGeom prst="roundRect">
              <a:avLst>
                <a:gd name="adj" fmla="val 52722"/>
              </a:avLst>
            </a:prstGeom>
            <a:solidFill>
              <a:srgbClr val="C00000"/>
            </a:solidFill>
          </p:spPr>
        </p:sp>
        <p:sp>
          <p:nvSpPr>
            <p:cNvPr id="57" name="Text 38"/>
            <p:cNvSpPr txBox="1"/>
            <p:nvPr>
              <p:custDataLst>
                <p:tags r:id="rId8"/>
              </p:custDataLst>
            </p:nvPr>
          </p:nvSpPr>
          <p:spPr>
            <a:xfrm>
              <a:off x="6225" y="11922"/>
              <a:ext cx="1518" cy="323"/>
            </a:xfrm>
            <a:prstGeom prst="rect">
              <a:avLst/>
            </a:prstGeom>
            <a:noFill/>
          </p:spPr>
          <p:txBody>
            <a:bodyPr wrap="square" lIns="0" tIns="0" rIns="0" bIns="0" rtlCol="0" anchor="ctr"/>
            <a:p>
              <a:pPr marL="0" indent="0" algn="l">
                <a:buNone/>
              </a:pPr>
              <a:r>
                <a:rPr lang="en-US" sz="1400" dirty="0">
                  <a:solidFill>
                    <a:srgbClr val="FFFFFF"/>
                  </a:solidFill>
                  <a:latin typeface="Noto Sans SC" pitchFamily="34" charset="0"/>
                  <a:ea typeface="Noto Sans SC" pitchFamily="34" charset="-122"/>
                  <a:cs typeface="Noto Sans SC" pitchFamily="34" charset="-120"/>
                </a:rPr>
                <a:t>核心关注</a:t>
              </a:r>
              <a:endParaRPr lang="en-US" sz="1400" dirty="0">
                <a:solidFill>
                  <a:srgbClr val="FFFFFF"/>
                </a:solidFill>
                <a:latin typeface="Noto Sans SC" pitchFamily="34" charset="0"/>
                <a:ea typeface="Noto Sans SC" pitchFamily="34" charset="-122"/>
                <a:cs typeface="Noto Sans SC" pitchFamily="34" charset="-12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8510270" y="828421"/>
            <a:ext cx="1267358" cy="667512"/>
          </a:xfrm>
          <a:prstGeom prst="rect">
            <a:avLst/>
          </a:prstGeom>
          <a:noFill/>
        </p:spPr>
        <p:txBody>
          <a:bodyPr wrap="square" lIns="0" tIns="0" rIns="0" bIns="0" rtlCol="0" anchor="ctr"/>
          <a:lstStyle/>
          <a:p>
            <a:pPr marL="0" indent="0" algn="ctr">
              <a:buNone/>
            </a:pPr>
            <a:r>
              <a:rPr lang="en-US" sz="3600" b="1" dirty="0">
                <a:solidFill>
                  <a:srgbClr val="0A4275"/>
                </a:solidFill>
                <a:latin typeface="Noto Sans SC" pitchFamily="34" charset="0"/>
                <a:ea typeface="Noto Sans SC" pitchFamily="34" charset="-122"/>
                <a:cs typeface="Noto Sans SC" pitchFamily="34" charset="-120"/>
              </a:rPr>
              <a:t>致谢</a:t>
            </a:r>
            <a:endParaRPr lang="en-US" sz="3600" dirty="0"/>
          </a:p>
        </p:txBody>
      </p:sp>
      <p:sp>
        <p:nvSpPr>
          <p:cNvPr id="5" name="Shape 3"/>
          <p:cNvSpPr/>
          <p:nvPr/>
        </p:nvSpPr>
        <p:spPr>
          <a:xfrm>
            <a:off x="8686800" y="1733702"/>
            <a:ext cx="914400" cy="38405"/>
          </a:xfrm>
          <a:prstGeom prst="rect">
            <a:avLst/>
          </a:prstGeom>
          <a:solidFill>
            <a:srgbClr val="0A4275"/>
          </a:solidFill>
        </p:spPr>
      </p:sp>
      <p:sp>
        <p:nvSpPr>
          <p:cNvPr id="6" name="Shape 4"/>
          <p:cNvSpPr/>
          <p:nvPr/>
        </p:nvSpPr>
        <p:spPr>
          <a:xfrm>
            <a:off x="3517900" y="2140407"/>
            <a:ext cx="11430000" cy="4809744"/>
          </a:xfrm>
          <a:prstGeom prst="roundRect">
            <a:avLst>
              <a:gd name="adj" fmla="val 753"/>
            </a:avLst>
          </a:prstGeom>
          <a:solidFill>
            <a:srgbClr val="0A4275">
              <a:alpha val="4000"/>
            </a:srgbClr>
          </a:solidFill>
          <a:ln w="12700">
            <a:solidFill>
              <a:srgbClr val="0A4275">
                <a:alpha val="20000"/>
              </a:srgbClr>
            </a:solidFill>
            <a:prstDash val="solid"/>
          </a:ln>
          <a:effectLst>
            <a:outerShdw blurRad="292100" dist="101600" dir="5400000" algn="bl" rotWithShape="0">
              <a:srgbClr val="0A4275">
                <a:alpha val="5000"/>
              </a:srgbClr>
            </a:outerShdw>
          </a:effectLst>
        </p:spPr>
      </p:sp>
      <p:grpSp>
        <p:nvGrpSpPr>
          <p:cNvPr id="19" name="组合 18"/>
          <p:cNvGrpSpPr/>
          <p:nvPr/>
        </p:nvGrpSpPr>
        <p:grpSpPr>
          <a:xfrm>
            <a:off x="5977890" y="2734310"/>
            <a:ext cx="6332220" cy="2613660"/>
            <a:chOff x="9554" y="4306"/>
            <a:chExt cx="9972" cy="4116"/>
          </a:xfrm>
        </p:grpSpPr>
        <p:sp>
          <p:nvSpPr>
            <p:cNvPr id="7" name="Text 5"/>
            <p:cNvSpPr txBox="1"/>
            <p:nvPr/>
          </p:nvSpPr>
          <p:spPr>
            <a:xfrm>
              <a:off x="11804" y="4306"/>
              <a:ext cx="4770" cy="876"/>
            </a:xfrm>
            <a:prstGeom prst="rect">
              <a:avLst/>
            </a:prstGeom>
            <a:noFill/>
          </p:spPr>
          <p:txBody>
            <a:bodyPr wrap="square" lIns="0" tIns="0" rIns="0" bIns="0" rtlCol="0" anchor="ctr"/>
            <a:lstStyle/>
            <a:p>
              <a:pPr marL="0" indent="0" algn="ctr">
                <a:buNone/>
              </a:pPr>
              <a:r>
                <a:rPr lang="en-US" dirty="0">
                  <a:solidFill>
                    <a:srgbClr val="333333"/>
                  </a:solidFill>
                  <a:latin typeface="Noto Sans SC" pitchFamily="34" charset="0"/>
                  <a:ea typeface="Noto Sans SC" pitchFamily="34" charset="-122"/>
                  <a:cs typeface="Noto Sans SC" pitchFamily="34" charset="-120"/>
                </a:rPr>
                <a:t>尊敬的各位领导、各位同事：</a:t>
              </a:r>
              <a:endParaRPr lang="en-US" dirty="0">
                <a:solidFill>
                  <a:srgbClr val="333333"/>
                </a:solidFill>
                <a:latin typeface="Noto Sans SC" pitchFamily="34" charset="0"/>
                <a:ea typeface="Noto Sans SC" pitchFamily="34" charset="-122"/>
                <a:cs typeface="Noto Sans SC" pitchFamily="34" charset="-120"/>
              </a:endParaRPr>
            </a:p>
          </p:txBody>
        </p:sp>
        <p:sp>
          <p:nvSpPr>
            <p:cNvPr id="8" name="Text 6"/>
            <p:cNvSpPr txBox="1"/>
            <p:nvPr/>
          </p:nvSpPr>
          <p:spPr>
            <a:xfrm>
              <a:off x="9554" y="5386"/>
              <a:ext cx="9972" cy="876"/>
            </a:xfrm>
            <a:prstGeom prst="rect">
              <a:avLst/>
            </a:prstGeom>
            <a:noFill/>
          </p:spPr>
          <p:txBody>
            <a:bodyPr wrap="square" lIns="0" tIns="0" rIns="0" bIns="0" rtlCol="0" anchor="ctr"/>
            <a:lstStyle/>
            <a:p>
              <a:pPr marL="0" indent="0" algn="ctr">
                <a:buNone/>
              </a:pPr>
              <a:r>
                <a:rPr lang="en-US" dirty="0">
                  <a:solidFill>
                    <a:srgbClr val="333333"/>
                  </a:solidFill>
                  <a:latin typeface="Noto Sans SC" pitchFamily="34" charset="0"/>
                  <a:ea typeface="Noto Sans SC" pitchFamily="34" charset="-122"/>
                  <a:cs typeface="Noto Sans SC" pitchFamily="34" charset="-120"/>
                </a:rPr>
                <a:t>在过去一年的安全托管服务中，感谢您们的理解、支持与配合。</a:t>
              </a:r>
              <a:endParaRPr lang="en-US" dirty="0">
                <a:solidFill>
                  <a:srgbClr val="333333"/>
                </a:solidFill>
                <a:latin typeface="Noto Sans SC" pitchFamily="34" charset="0"/>
                <a:ea typeface="Noto Sans SC" pitchFamily="34" charset="-122"/>
                <a:cs typeface="Noto Sans SC" pitchFamily="34" charset="-120"/>
              </a:endParaRPr>
            </a:p>
          </p:txBody>
        </p:sp>
        <p:sp>
          <p:nvSpPr>
            <p:cNvPr id="9" name="Text 7"/>
            <p:cNvSpPr txBox="1"/>
            <p:nvPr/>
          </p:nvSpPr>
          <p:spPr>
            <a:xfrm>
              <a:off x="9837" y="5926"/>
              <a:ext cx="9331" cy="876"/>
            </a:xfrm>
            <a:prstGeom prst="rect">
              <a:avLst/>
            </a:prstGeom>
            <a:noFill/>
          </p:spPr>
          <p:txBody>
            <a:bodyPr wrap="square" lIns="0" tIns="0" rIns="0" bIns="0" rtlCol="0" anchor="ctr"/>
            <a:lstStyle/>
            <a:p>
              <a:pPr marL="0" indent="0" algn="ctr">
                <a:buNone/>
              </a:pPr>
              <a:r>
                <a:rPr lang="en-US" dirty="0">
                  <a:solidFill>
                    <a:srgbClr val="333333"/>
                  </a:solidFill>
                  <a:latin typeface="Noto Sans SC" pitchFamily="34" charset="0"/>
                  <a:ea typeface="Noto Sans SC" pitchFamily="34" charset="-122"/>
                  <a:cs typeface="Noto Sans SC" pitchFamily="34" charset="-120"/>
                </a:rPr>
                <a:t>我们携手共同应对了各类安全挑战，处置了94起安全事件，</a:t>
              </a:r>
              <a:endParaRPr lang="en-US" dirty="0">
                <a:solidFill>
                  <a:srgbClr val="333333"/>
                </a:solidFill>
                <a:latin typeface="Noto Sans SC" pitchFamily="34" charset="0"/>
                <a:ea typeface="Noto Sans SC" pitchFamily="34" charset="-122"/>
                <a:cs typeface="Noto Sans SC" pitchFamily="34" charset="-120"/>
              </a:endParaRPr>
            </a:p>
          </p:txBody>
        </p:sp>
        <p:sp>
          <p:nvSpPr>
            <p:cNvPr id="10" name="Text 8"/>
            <p:cNvSpPr txBox="1"/>
            <p:nvPr/>
          </p:nvSpPr>
          <p:spPr>
            <a:xfrm>
              <a:off x="10904" y="6466"/>
              <a:ext cx="6851" cy="876"/>
            </a:xfrm>
            <a:prstGeom prst="rect">
              <a:avLst/>
            </a:prstGeom>
            <a:noFill/>
          </p:spPr>
          <p:txBody>
            <a:bodyPr wrap="square" lIns="0" tIns="0" rIns="0" bIns="0" rtlCol="0" anchor="ctr"/>
            <a:lstStyle/>
            <a:p>
              <a:pPr marL="0" indent="0" algn="ctr">
                <a:buNone/>
              </a:pPr>
              <a:r>
                <a:rPr lang="en-US" dirty="0">
                  <a:solidFill>
                    <a:srgbClr val="333333"/>
                  </a:solidFill>
                  <a:latin typeface="Noto Sans SC" pitchFamily="34" charset="0"/>
                  <a:ea typeface="Noto Sans SC" pitchFamily="34" charset="-122"/>
                  <a:cs typeface="Noto Sans SC" pitchFamily="34" charset="-120"/>
                </a:rPr>
                <a:t>保障了医院核心业务系统的安全稳定运行。</a:t>
              </a:r>
              <a:endParaRPr lang="en-US" dirty="0">
                <a:solidFill>
                  <a:srgbClr val="333333"/>
                </a:solidFill>
                <a:latin typeface="Noto Sans SC" pitchFamily="34" charset="0"/>
                <a:ea typeface="Noto Sans SC" pitchFamily="34" charset="-122"/>
                <a:cs typeface="Noto Sans SC" pitchFamily="34" charset="-120"/>
              </a:endParaRPr>
            </a:p>
          </p:txBody>
        </p:sp>
        <p:sp>
          <p:nvSpPr>
            <p:cNvPr id="11" name="Text 9"/>
            <p:cNvSpPr txBox="1"/>
            <p:nvPr/>
          </p:nvSpPr>
          <p:spPr>
            <a:xfrm>
              <a:off x="9854" y="7546"/>
              <a:ext cx="9278" cy="876"/>
            </a:xfrm>
            <a:prstGeom prst="rect">
              <a:avLst/>
            </a:prstGeom>
            <a:noFill/>
          </p:spPr>
          <p:txBody>
            <a:bodyPr wrap="square" lIns="0" tIns="0" rIns="0" bIns="0" rtlCol="0" anchor="ctr"/>
            <a:lstStyle/>
            <a:p>
              <a:pPr marL="0" indent="0" algn="ctr">
                <a:buNone/>
              </a:pPr>
              <a:r>
                <a:rPr lang="en-US" dirty="0">
                  <a:solidFill>
                    <a:srgbClr val="333333"/>
                  </a:solidFill>
                  <a:latin typeface="Noto Sans SC" pitchFamily="34" charset="0"/>
                  <a:ea typeface="Noto Sans SC" pitchFamily="34" charset="-122"/>
                  <a:cs typeface="Noto Sans SC" pitchFamily="34" charset="-120"/>
                </a:rPr>
                <a:t>这一切成果的取得，离不开医院各部门的通力合作与信任。</a:t>
              </a:r>
              <a:endParaRPr lang="en-US" dirty="0">
                <a:solidFill>
                  <a:srgbClr val="333333"/>
                </a:solidFill>
                <a:latin typeface="Noto Sans SC" pitchFamily="34" charset="0"/>
                <a:ea typeface="Noto Sans SC" pitchFamily="34" charset="-122"/>
                <a:cs typeface="Noto Sans SC" pitchFamily="34" charset="-120"/>
              </a:endParaRPr>
            </a:p>
          </p:txBody>
        </p:sp>
      </p:grpSp>
      <p:sp>
        <p:nvSpPr>
          <p:cNvPr id="12" name="Text 10"/>
          <p:cNvSpPr txBox="1"/>
          <p:nvPr/>
        </p:nvSpPr>
        <p:spPr>
          <a:xfrm>
            <a:off x="5772607" y="5544007"/>
            <a:ext cx="3143707" cy="333756"/>
          </a:xfrm>
          <a:prstGeom prst="rect">
            <a:avLst/>
          </a:prstGeom>
          <a:noFill/>
        </p:spPr>
        <p:txBody>
          <a:bodyPr wrap="square" lIns="0" tIns="0" rIns="0" bIns="0" rtlCol="0" anchor="ctr"/>
          <a:lstStyle/>
          <a:p>
            <a:pPr marL="0" indent="0" algn="ctr">
              <a:buNone/>
            </a:pPr>
            <a:r>
              <a:rPr lang="en-US" sz="1800" b="1" dirty="0">
                <a:solidFill>
                  <a:srgbClr val="0A4275"/>
                </a:solidFill>
                <a:latin typeface="Noto Sans SC" pitchFamily="34" charset="0"/>
                <a:ea typeface="Noto Sans SC" pitchFamily="34" charset="-122"/>
                <a:cs typeface="Noto Sans SC" pitchFamily="34" charset="-120"/>
              </a:rPr>
              <a:t>扬州东方医院安全托管团队将继续</a:t>
            </a:r>
            <a:endParaRPr lang="en-US" sz="1800" dirty="0"/>
          </a:p>
        </p:txBody>
      </p:sp>
      <p:pic>
        <p:nvPicPr>
          <p:cNvPr id="13" name="Image 0" descr="preencoded.png"/>
          <p:cNvPicPr>
            <a:picLocks noChangeAspect="1"/>
          </p:cNvPicPr>
          <p:nvPr/>
        </p:nvPicPr>
        <p:blipFill>
          <a:blip r:embed="rId1"/>
          <a:srcRect/>
          <a:stretch>
            <a:fillRect/>
          </a:stretch>
        </p:blipFill>
        <p:spPr>
          <a:xfrm>
            <a:off x="8883802" y="5586374"/>
            <a:ext cx="247802" cy="247802"/>
          </a:xfrm>
          <a:prstGeom prst="rect">
            <a:avLst/>
          </a:prstGeom>
        </p:spPr>
      </p:pic>
      <p:sp>
        <p:nvSpPr>
          <p:cNvPr id="14" name="Text 11"/>
          <p:cNvSpPr txBox="1"/>
          <p:nvPr/>
        </p:nvSpPr>
        <p:spPr>
          <a:xfrm>
            <a:off x="9144000" y="5544007"/>
            <a:ext cx="1086307" cy="333756"/>
          </a:xfrm>
          <a:prstGeom prst="rect">
            <a:avLst/>
          </a:prstGeom>
          <a:noFill/>
        </p:spPr>
        <p:txBody>
          <a:bodyPr wrap="square" lIns="0" tIns="0" rIns="0" bIns="0" rtlCol="0" anchor="ctr"/>
          <a:lstStyle/>
          <a:p>
            <a:pPr marL="0" indent="0" algn="ctr">
              <a:buNone/>
            </a:pPr>
            <a:r>
              <a:rPr lang="en-US" sz="1800" b="1" dirty="0">
                <a:solidFill>
                  <a:srgbClr val="0A4275"/>
                </a:solidFill>
                <a:latin typeface="Noto Sans SC" pitchFamily="34" charset="0"/>
                <a:ea typeface="Noto Sans SC" pitchFamily="34" charset="-122"/>
                <a:cs typeface="Noto Sans SC" pitchFamily="34" charset="-120"/>
              </a:rPr>
              <a:t>携手共建</a:t>
            </a:r>
            <a:endParaRPr lang="en-US" sz="1800" dirty="0"/>
          </a:p>
        </p:txBody>
      </p:sp>
      <p:pic>
        <p:nvPicPr>
          <p:cNvPr id="15" name="Image 1" descr="preencoded.png"/>
          <p:cNvPicPr>
            <a:picLocks noChangeAspect="1"/>
          </p:cNvPicPr>
          <p:nvPr/>
        </p:nvPicPr>
        <p:blipFill>
          <a:blip r:embed="rId1"/>
          <a:srcRect/>
          <a:stretch>
            <a:fillRect/>
          </a:stretch>
        </p:blipFill>
        <p:spPr>
          <a:xfrm>
            <a:off x="10197795" y="5586374"/>
            <a:ext cx="247802" cy="247802"/>
          </a:xfrm>
          <a:prstGeom prst="rect">
            <a:avLst/>
          </a:prstGeom>
        </p:spPr>
      </p:pic>
      <p:sp>
        <p:nvSpPr>
          <p:cNvPr id="16" name="Text 12"/>
          <p:cNvSpPr txBox="1"/>
          <p:nvPr/>
        </p:nvSpPr>
        <p:spPr>
          <a:xfrm>
            <a:off x="10458907" y="5544007"/>
            <a:ext cx="2229307" cy="333756"/>
          </a:xfrm>
          <a:prstGeom prst="rect">
            <a:avLst/>
          </a:prstGeom>
          <a:noFill/>
        </p:spPr>
        <p:txBody>
          <a:bodyPr wrap="square" lIns="0" tIns="0" rIns="0" bIns="0" rtlCol="0" anchor="ctr"/>
          <a:lstStyle/>
          <a:p>
            <a:pPr marL="0" indent="0" algn="ctr">
              <a:buNone/>
            </a:pPr>
            <a:r>
              <a:rPr lang="en-US" sz="1800" b="1" dirty="0">
                <a:solidFill>
                  <a:srgbClr val="0A4275"/>
                </a:solidFill>
                <a:latin typeface="Noto Sans SC" pitchFamily="34" charset="0"/>
                <a:ea typeface="Noto Sans SC" pitchFamily="34" charset="-122"/>
                <a:cs typeface="Noto Sans SC" pitchFamily="34" charset="-120"/>
              </a:rPr>
              <a:t>网络安全防护体系！</a:t>
            </a:r>
            <a:endParaRPr lang="en-US" sz="1800" dirty="0"/>
          </a:p>
        </p:txBody>
      </p:sp>
      <p:sp>
        <p:nvSpPr>
          <p:cNvPr id="17" name="Text 13"/>
          <p:cNvSpPr txBox="1"/>
          <p:nvPr/>
        </p:nvSpPr>
        <p:spPr>
          <a:xfrm>
            <a:off x="12615977" y="6267298"/>
            <a:ext cx="1905610" cy="277063"/>
          </a:xfrm>
          <a:prstGeom prst="rect">
            <a:avLst/>
          </a:prstGeom>
          <a:noFill/>
        </p:spPr>
        <p:txBody>
          <a:bodyPr wrap="square" lIns="0" tIns="0" rIns="0" bIns="0" rtlCol="0" anchor="ctr"/>
          <a:lstStyle/>
          <a:p>
            <a:pPr marL="0" indent="0" algn="r">
              <a:buNone/>
            </a:pPr>
            <a:r>
              <a:rPr lang="en-US" sz="1500" b="1" i="1" dirty="0">
                <a:solidFill>
                  <a:srgbClr val="0A4275"/>
                </a:solidFill>
                <a:latin typeface="Noto Sans SC" pitchFamily="34" charset="0"/>
                <a:ea typeface="Noto Sans SC" pitchFamily="34" charset="-122"/>
                <a:cs typeface="Noto Sans SC" pitchFamily="34" charset="-120"/>
              </a:rPr>
              <a:t>— 安全运营服务团队</a:t>
            </a:r>
            <a:endParaRPr lang="en-US" sz="1500" dirty="0"/>
          </a:p>
        </p:txBody>
      </p:sp>
      <p:sp>
        <p:nvSpPr>
          <p:cNvPr id="18" name="Text 14"/>
          <p:cNvSpPr txBox="1"/>
          <p:nvPr/>
        </p:nvSpPr>
        <p:spPr>
          <a:xfrm>
            <a:off x="17663465" y="9810598"/>
            <a:ext cx="253289" cy="191110"/>
          </a:xfrm>
          <a:prstGeom prst="rect">
            <a:avLst/>
          </a:prstGeom>
          <a:noFill/>
        </p:spPr>
        <p:txBody>
          <a:bodyPr wrap="square" lIns="0" tIns="0" rIns="0" bIns="0" rtlCol="0" anchor="ctr"/>
          <a:lstStyle/>
          <a:p>
            <a:pPr marL="0" indent="0" algn="l">
              <a:buNone/>
            </a:pPr>
            <a:r>
              <a:rPr lang="en-US" sz="1000" dirty="0">
                <a:solidFill>
                  <a:srgbClr val="666666"/>
                </a:solidFill>
                <a:latin typeface="Noto Sans SC" pitchFamily="34" charset="0"/>
                <a:ea typeface="Noto Sans SC" pitchFamily="34" charset="-122"/>
                <a:cs typeface="Noto Sans SC" pitchFamily="34" charset="-120"/>
              </a:rPr>
              <a:t>18</a:t>
            </a:r>
            <a:endParaRPr lang="en-US" sz="10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6355</Words>
  <Application>WPS 演示</Application>
  <PresentationFormat>On-screen Show (16:9)</PresentationFormat>
  <Paragraphs>917</Paragraphs>
  <Slides>18</Slides>
  <Notes>18</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18</vt:i4>
      </vt:variant>
    </vt:vector>
  </HeadingPairs>
  <TitlesOfParts>
    <vt:vector size="40" baseType="lpstr">
      <vt:lpstr>Arial</vt:lpstr>
      <vt:lpstr>宋体</vt:lpstr>
      <vt:lpstr>Wingdings</vt:lpstr>
      <vt:lpstr>Noto Sans SC</vt:lpstr>
      <vt:lpstr>苹方-简</vt:lpstr>
      <vt:lpstr>Noto Sans SC</vt:lpstr>
      <vt:lpstr>Noto Sans SC</vt:lpstr>
      <vt:lpstr>Calibri</vt:lpstr>
      <vt:lpstr>Helvetica Neue</vt:lpstr>
      <vt:lpstr>微软雅黑</vt:lpstr>
      <vt:lpstr>汉仪旗黑</vt:lpstr>
      <vt:lpstr>宋体</vt:lpstr>
      <vt:lpstr>Arial Unicode MS</vt:lpstr>
      <vt:lpstr>等线</vt:lpstr>
      <vt:lpstr>汉仪中等线KW</vt:lpstr>
      <vt:lpstr>汉仪书宋二KW</vt:lpstr>
      <vt:lpstr>微软雅黑</vt:lpstr>
      <vt:lpstr>微软雅黑</vt:lpstr>
      <vt:lpstr>ui-sans-serif</vt:lpstr>
      <vt:lpstr>ui-sans-serif</vt:lpstr>
      <vt:lpstr>ui-sans-serif</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Generated by Gen-Spark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creator>Visual Extract to PPTX Converter</dc:creator>
  <dc:subject>PptxGenJS Presentation</dc:subject>
  <cp:lastModifiedBy>无人.</cp:lastModifiedBy>
  <cp:revision>2</cp:revision>
  <dcterms:created xsi:type="dcterms:W3CDTF">2025-09-24T07:19:02Z</dcterms:created>
  <dcterms:modified xsi:type="dcterms:W3CDTF">2025-09-24T07:19:02Z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60FFCC05FBFB3C99669BD3683ACD6F41_43</vt:lpwstr>
  </property>
  <property fmtid="{D5CDD505-2E9C-101B-9397-08002B2CF9AE}" pid="3" name="KSOProductBuildVer">
    <vt:lpwstr>2052-6.5.2.8766</vt:lpwstr>
  </property>
</Properties>
</file>